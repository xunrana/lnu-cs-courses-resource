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29" r:id="rId3"/>
    <p:sldId id="530" r:id="rId4"/>
    <p:sldId id="531" r:id="rId5"/>
    <p:sldId id="532" r:id="rId6"/>
    <p:sldId id="533" r:id="rId7"/>
    <p:sldId id="534" r:id="rId8"/>
    <p:sldId id="535" r:id="rId9"/>
    <p:sldId id="536" r:id="rId10"/>
    <p:sldId id="537" r:id="rId11"/>
    <p:sldId id="538" r:id="rId12"/>
    <p:sldId id="539" r:id="rId13"/>
  </p:sldIdLst>
  <p:sldSz cx="9144000" cy="6858000" type="screen4x3"/>
  <p:notesSz cx="6934200" cy="9398000"/>
  <p:defaultTextStyle>
    <a:defPPr>
      <a:defRPr lang="en-US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CCCCFF"/>
    <a:srgbClr val="CC99FF"/>
    <a:srgbClr val="DFC0FF"/>
    <a:srgbClr val="90DBFF"/>
    <a:srgbClr val="FF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807"/>
    <p:restoredTop sz="94645"/>
  </p:normalViewPr>
  <p:slideViewPr>
    <p:cSldViewPr showGuides="1">
      <p:cViewPr varScale="1">
        <p:scale>
          <a:sx n="91" d="100"/>
          <a:sy n="91" d="100"/>
        </p:scale>
        <p:origin x="-762" y="-90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页眉占位符 1331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 eaLnBrk="1" hangingPunct="1"/>
            <a:endParaRPr lang="zh-CN" altLang="en-US" sz="1200" b="0" dirty="0"/>
          </a:p>
        </p:txBody>
      </p:sp>
      <p:sp>
        <p:nvSpPr>
          <p:cNvPr id="13315" name="日期占位符 13314"/>
          <p:cNvSpPr>
            <a:spLocks noGrp="1"/>
          </p:cNvSpPr>
          <p:nvPr>
            <p:ph type="dt" sz="quarter" idx="1"/>
          </p:nvPr>
        </p:nvSpPr>
        <p:spPr>
          <a:xfrm>
            <a:off x="39624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 algn="r" eaLnBrk="1" hangingPunct="1"/>
            <a:endParaRPr lang="zh-CN" altLang="en-US" sz="1200" b="0" dirty="0"/>
          </a:p>
        </p:txBody>
      </p:sp>
      <p:sp>
        <p:nvSpPr>
          <p:cNvPr id="13316" name="页脚占位符 13315"/>
          <p:cNvSpPr>
            <a:spLocks noGrp="1"/>
          </p:cNvSpPr>
          <p:nvPr>
            <p:ph type="ftr" sz="quarter" idx="2"/>
          </p:nvPr>
        </p:nvSpPr>
        <p:spPr>
          <a:xfrm>
            <a:off x="0" y="89154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eaLnBrk="1" hangingPunct="1"/>
            <a:endParaRPr lang="zh-CN" altLang="en-US" sz="1200" b="0" dirty="0"/>
          </a:p>
        </p:txBody>
      </p:sp>
      <p:sp>
        <p:nvSpPr>
          <p:cNvPr id="13317" name="灯片编号占位符 13316"/>
          <p:cNvSpPr>
            <a:spLocks noGrp="1"/>
          </p:cNvSpPr>
          <p:nvPr>
            <p:ph type="sldNum" sz="quarter" idx="3"/>
          </p:nvPr>
        </p:nvSpPr>
        <p:spPr>
          <a:xfrm>
            <a:off x="3962400" y="89154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 eaLnBrk="1" hangingPunct="1"/>
            <a:endParaRPr lang="zh-CN" altLang="en-US" sz="1200" b="0" dirty="0"/>
          </a:p>
        </p:txBody>
      </p:sp>
      <p:sp>
        <p:nvSpPr>
          <p:cNvPr id="2051" name="幻灯片图像占位符 2050"/>
          <p:cNvSpPr/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文本占位符 2051"/>
          <p:cNvSpPr>
            <a:spLocks noGrp="1"/>
          </p:cNvSpPr>
          <p:nvPr>
            <p:ph type="body" sz="quarter" idx="3"/>
          </p:nvPr>
        </p:nvSpPr>
        <p:spPr>
          <a:xfrm>
            <a:off x="914400" y="4495800"/>
            <a:ext cx="5105400" cy="41910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3" name="日期占位符 2052"/>
          <p:cNvSpPr>
            <a:spLocks noGrp="1"/>
          </p:cNvSpPr>
          <p:nvPr>
            <p:ph type="dt" idx="1"/>
          </p:nvPr>
        </p:nvSpPr>
        <p:spPr>
          <a:xfrm>
            <a:off x="39624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/>
          <a:p>
            <a:pPr lvl="0" algn="r" eaLnBrk="1" hangingPunct="1"/>
            <a:endParaRPr lang="zh-CN" altLang="en-US" sz="1200" b="0" dirty="0"/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9154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eaLnBrk="1" hangingPunct="1"/>
            <a:endParaRPr lang="zh-CN" altLang="en-US" sz="1200" b="0" dirty="0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962400" y="89154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87" name="副标题 3086"/>
          <p:cNvSpPr>
            <a:spLocks noGrp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3088" name="日期占位符 3087"/>
          <p:cNvSpPr>
            <a:spLocks noGrp="1"/>
          </p:cNvSpPr>
          <p:nvPr>
            <p:ph type="dt" sz="quarter" idx="2"/>
          </p:nvPr>
        </p:nvSpPr>
        <p:spPr>
          <a:xfrm>
            <a:off x="76200" y="63230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p>
            <a:pPr eaLnBrk="1" hangingPunct="1"/>
            <a:endParaRPr lang="zh-CN" altLang="en-US" dirty="0"/>
          </a:p>
        </p:txBody>
      </p:sp>
      <p:sp>
        <p:nvSpPr>
          <p:cNvPr id="3089" name="页脚占位符 3088"/>
          <p:cNvSpPr>
            <a:spLocks noGrp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p>
            <a:pPr eaLnBrk="1" hangingPunct="1"/>
            <a:endParaRPr lang="zh-CN" altLang="en-US" dirty="0"/>
          </a:p>
        </p:txBody>
      </p:sp>
      <p:sp>
        <p:nvSpPr>
          <p:cNvPr id="3090" name="灯片编号占位符 3089"/>
          <p:cNvSpPr>
            <a:spLocks noGrp="1"/>
          </p:cNvSpPr>
          <p:nvPr>
            <p:ph type="sldNum" sz="quarter" idx="4"/>
          </p:nvPr>
        </p:nvSpPr>
        <p:spPr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p>
            <a:pPr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091" name="标题 3090"/>
          <p:cNvSpPr>
            <a:spLocks noGrp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lvl="0" algn="ctr">
              <a:defRPr kern="120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95" name="五角星 3094"/>
          <p:cNvSpPr/>
          <p:nvPr/>
        </p:nvSpPr>
        <p:spPr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lIns="92075" tIns="46038" rIns="92075" bIns="46038" anchor="ctr"/>
          <a:p>
            <a:pPr lvl="0" eaLnBrk="1" hangingPunct="1">
              <a:spcBef>
                <a:spcPct val="50000"/>
              </a:spcBef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6" name="五角星 3095"/>
          <p:cNvSpPr/>
          <p:nvPr/>
        </p:nvSpPr>
        <p:spPr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lIns="92075" tIns="46038" rIns="92075" bIns="46038" anchor="ctr"/>
          <a:p>
            <a:pPr lvl="0" eaLnBrk="1" hangingPunct="1">
              <a:spcBef>
                <a:spcPct val="50000"/>
              </a:spcBef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7" name="五角星 3096"/>
          <p:cNvSpPr/>
          <p:nvPr/>
        </p:nvSpPr>
        <p:spPr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lIns="92075" tIns="46038" rIns="92075" bIns="46038" anchor="ctr"/>
          <a:p>
            <a:pPr lvl="0" eaLnBrk="1" hangingPunct="1">
              <a:spcBef>
                <a:spcPct val="50000"/>
              </a:spcBef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8" name="五角星 3097"/>
          <p:cNvSpPr/>
          <p:nvPr/>
        </p:nvSpPr>
        <p:spPr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lIns="92075" tIns="46038" rIns="92075" bIns="46038" anchor="ctr"/>
          <a:p>
            <a:pPr lvl="0" eaLnBrk="1" hangingPunct="1">
              <a:spcBef>
                <a:spcPct val="50000"/>
              </a:spcBef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99" name="组合 3098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3100" name="五角星 3099"/>
            <p:cNvSpPr/>
            <p:nvPr/>
          </p:nvSpPr>
          <p:spPr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1" name="五角星 3100"/>
            <p:cNvSpPr/>
            <p:nvPr/>
          </p:nvSpPr>
          <p:spPr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2" name="五角星 3101"/>
            <p:cNvSpPr/>
            <p:nvPr/>
          </p:nvSpPr>
          <p:spPr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3" name="五角星 3102"/>
            <p:cNvSpPr/>
            <p:nvPr/>
          </p:nvSpPr>
          <p:spPr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4" name="五角星 3103"/>
            <p:cNvSpPr/>
            <p:nvPr/>
          </p:nvSpPr>
          <p:spPr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05" name="五角星 3104"/>
            <p:cNvSpPr/>
            <p:nvPr/>
          </p:nvSpPr>
          <p:spPr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06" name="五角星 3105"/>
          <p:cNvSpPr/>
          <p:nvPr/>
        </p:nvSpPr>
        <p:spPr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lIns="92075" tIns="46038" rIns="92075" bIns="46038" anchor="ctr"/>
          <a:p>
            <a:pPr lvl="0" eaLnBrk="1" hangingPunct="1">
              <a:spcBef>
                <a:spcPct val="50000"/>
              </a:spcBef>
            </a:pP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050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716657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33" name="文本占位符 1032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日期占位符 1033"/>
          <p:cNvSpPr>
            <a:spLocks noGrp="1"/>
          </p:cNvSpPr>
          <p:nvPr>
            <p:ph type="dt" sz="half" idx="2"/>
          </p:nvPr>
        </p:nvSpPr>
        <p:spPr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>
              <a:defRPr sz="1400" b="0"/>
            </a:lvl1pPr>
          </a:lstStyle>
          <a:p>
            <a:pPr lvl="0" eaLnBrk="1" hangingPunct="1"/>
            <a:endParaRPr lang="zh-CN" altLang="en-US" dirty="0"/>
          </a:p>
        </p:txBody>
      </p:sp>
      <p:sp>
        <p:nvSpPr>
          <p:cNvPr id="1035" name="页脚占位符 1034"/>
          <p:cNvSpPr>
            <a:spLocks noGrp="1"/>
          </p:cNvSpPr>
          <p:nvPr>
            <p:ph type="ftr" sz="quarter" idx="3"/>
          </p:nvPr>
        </p:nvSpPr>
        <p:spPr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ctr">
              <a:defRPr sz="1400" b="0"/>
            </a:lvl1pPr>
          </a:lstStyle>
          <a:p>
            <a:pPr lvl="0" eaLnBrk="1" hangingPunct="1"/>
            <a:endParaRPr lang="zh-CN" altLang="en-US" dirty="0"/>
          </a:p>
        </p:txBody>
      </p:sp>
      <p:sp>
        <p:nvSpPr>
          <p:cNvPr id="1036" name="灯片编号占位符 1035"/>
          <p:cNvSpPr>
            <a:spLocks noGrp="1"/>
          </p:cNvSpPr>
          <p:nvPr>
            <p:ph type="sldNum" sz="quarter" idx="4"/>
          </p:nvPr>
        </p:nvSpPr>
        <p:spPr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r">
              <a:defRPr sz="1400" b="0"/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040" name="标题 1039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44" name="组合 1043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五角星 1044"/>
            <p:cNvSpPr/>
            <p:nvPr/>
          </p:nvSpPr>
          <p:spPr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6" name="五角星 1045"/>
            <p:cNvSpPr/>
            <p:nvPr/>
          </p:nvSpPr>
          <p:spPr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7" name="五角星 1046"/>
            <p:cNvSpPr/>
            <p:nvPr/>
          </p:nvSpPr>
          <p:spPr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8" name="五角星 1047"/>
            <p:cNvSpPr/>
            <p:nvPr/>
          </p:nvSpPr>
          <p:spPr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9" name="五角星 1048"/>
            <p:cNvSpPr/>
            <p:nvPr/>
          </p:nvSpPr>
          <p:spPr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0" name="五角星 1049"/>
            <p:cNvSpPr/>
            <p:nvPr/>
          </p:nvSpPr>
          <p:spPr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p>
              <a:pPr lvl="0" eaLnBrk="1" hangingPunct="1"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51" name="组合 1050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矩形 1051"/>
            <p:cNvSpPr/>
            <p:nvPr/>
          </p:nvSpPr>
          <p:spPr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3" name="矩形 1052"/>
            <p:cNvSpPr/>
            <p:nvPr/>
          </p:nvSpPr>
          <p:spPr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/>
            <a:p>
              <a:pPr lvl="0" eaLnBrk="1" hangingPunct="1"/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4" name="任意多边形 1053">
            <a:hlinkClick r:id="" action="ppaction://hlinkshowjump?jump=previousslide"/>
          </p:cNvPr>
          <p:cNvSpPr/>
          <p:nvPr/>
        </p:nvSpPr>
        <p:spPr>
          <a:xfrm>
            <a:off x="781050" y="6416675"/>
            <a:ext cx="557213" cy="347663"/>
          </a:xfrm>
          <a:custGeom>
            <a:avLst/>
            <a:gdLst/>
            <a:ahLst/>
            <a:cxnLst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55" name="任意多边形 1054">
            <a:hlinkClick r:id="" action="ppaction://hlinkshowjump?jump=nextslide"/>
          </p:cNvPr>
          <p:cNvSpPr/>
          <p:nvPr/>
        </p:nvSpPr>
        <p:spPr>
          <a:xfrm>
            <a:off x="1447800" y="6416675"/>
            <a:ext cx="557213" cy="347663"/>
          </a:xfrm>
          <a:custGeom>
            <a:avLst/>
            <a:gdLst/>
            <a:ahLst/>
            <a:cxnLst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8" name="文本占位符 951297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8001000" cy="5029200"/>
          </a:xfrm>
          <a:ln/>
        </p:spPr>
        <p:txBody>
          <a:bodyPr lIns="92075" tIns="46038" rIns="92075" bIns="46038"/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1.设就绪队列中有10个进程，系统将时间片设为200</a:t>
            </a:r>
            <a:r>
              <a:rPr lang="en-US" altLang="zh-CN" sz="2400" b="0"/>
              <a:t>ms，CPU</a:t>
            </a:r>
            <a:r>
              <a:rPr lang="zh-CN" altLang="en-US" sz="2400" b="0" dirty="0"/>
              <a:t>进行进程切换要花10</a:t>
            </a:r>
            <a:r>
              <a:rPr lang="en-US" altLang="zh-CN" sz="2400" b="0"/>
              <a:t>ms，</a:t>
            </a:r>
            <a:r>
              <a:rPr lang="zh-CN" altLang="en-US" sz="2400" b="0" dirty="0"/>
              <a:t>试问系统开销所占的比率约为多少？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2.有3个进程</a:t>
            </a:r>
            <a:r>
              <a:rPr lang="en-US" altLang="zh-CN" sz="2400" b="0"/>
              <a:t>p1,p2</a:t>
            </a:r>
            <a:r>
              <a:rPr lang="zh-CN" altLang="en-US" sz="2400" b="0"/>
              <a:t>和</a:t>
            </a:r>
            <a:r>
              <a:rPr lang="en-US" altLang="zh-CN" sz="2400" b="0"/>
              <a:t>p3</a:t>
            </a:r>
            <a:r>
              <a:rPr lang="zh-CN" altLang="en-US" sz="2400" b="0" dirty="0"/>
              <a:t>并发执行，进程</a:t>
            </a:r>
            <a:r>
              <a:rPr lang="en-US" altLang="zh-CN" sz="2400" b="0"/>
              <a:t>p1</a:t>
            </a:r>
            <a:r>
              <a:rPr lang="zh-CN" altLang="en-US" sz="2400" b="0" dirty="0"/>
              <a:t>需使用资源</a:t>
            </a:r>
            <a:r>
              <a:rPr lang="en-US" altLang="zh-CN" sz="2400" b="0"/>
              <a:t>S3</a:t>
            </a:r>
            <a:r>
              <a:rPr lang="zh-CN" altLang="en-US" sz="2400" b="0"/>
              <a:t>和</a:t>
            </a:r>
            <a:r>
              <a:rPr lang="en-US" altLang="zh-CN" sz="2400" b="0"/>
              <a:t>S1,</a:t>
            </a:r>
            <a:r>
              <a:rPr lang="zh-CN" altLang="en-US" sz="2400" b="0" dirty="0"/>
              <a:t>进程</a:t>
            </a:r>
            <a:r>
              <a:rPr lang="en-US" altLang="zh-CN" sz="2400" b="0"/>
              <a:t>p2</a:t>
            </a:r>
            <a:r>
              <a:rPr lang="zh-CN" altLang="en-US" sz="2400" b="0" dirty="0"/>
              <a:t>需使用资源</a:t>
            </a:r>
            <a:r>
              <a:rPr lang="en-US" altLang="zh-CN" sz="2400" b="0"/>
              <a:t>S1</a:t>
            </a:r>
            <a:r>
              <a:rPr lang="zh-CN" altLang="en-US" sz="2400" b="0"/>
              <a:t>和</a:t>
            </a:r>
            <a:r>
              <a:rPr lang="en-US" altLang="zh-CN" sz="2400" b="0"/>
              <a:t>S2,</a:t>
            </a:r>
            <a:r>
              <a:rPr lang="zh-CN" altLang="en-US" sz="2400" b="0" dirty="0"/>
              <a:t>进程</a:t>
            </a:r>
            <a:r>
              <a:rPr lang="en-US" altLang="zh-CN" sz="2400" b="0"/>
              <a:t>p3</a:t>
            </a:r>
            <a:r>
              <a:rPr lang="zh-CN" altLang="en-US" sz="2400" b="0" dirty="0"/>
              <a:t>需使用资源</a:t>
            </a:r>
            <a:r>
              <a:rPr lang="en-US" altLang="zh-CN" sz="2400" b="0"/>
              <a:t>S2</a:t>
            </a:r>
            <a:r>
              <a:rPr lang="zh-CN" altLang="en-US" sz="2400" b="0"/>
              <a:t>和</a:t>
            </a:r>
            <a:r>
              <a:rPr lang="en-US" altLang="zh-CN" sz="2400" b="0"/>
              <a:t>S1，</a:t>
            </a:r>
            <a:r>
              <a:rPr lang="zh-CN" altLang="en-US" sz="2400" b="0" dirty="0"/>
              <a:t>请回答：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(1)若对资源分配不加限制，会发生什么情况？为什么？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(2)为保证进程执行到结束，应采用怎样分配策略？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3.若系统只有一个进程，它会卷入死锁吗？请说明理由。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0"/>
              <a:t>4.</a:t>
            </a:r>
            <a:r>
              <a:rPr lang="zh-CN" altLang="en-US" sz="2400" b="0" dirty="0"/>
              <a:t>某系统有</a:t>
            </a:r>
            <a:r>
              <a:rPr lang="en-US" altLang="zh-CN" sz="2400" b="0"/>
              <a:t>A，B，C，D</a:t>
            </a:r>
            <a:r>
              <a:rPr lang="zh-CN" altLang="en-US" sz="2400" b="0" dirty="0"/>
              <a:t>这四类资源供5个进程共享，进程对资源的需求和分配情况如下表所示。现在系统还剩余</a:t>
            </a:r>
            <a:r>
              <a:rPr lang="en-US" altLang="zh-CN" sz="2400" b="0"/>
              <a:t>A</a:t>
            </a:r>
            <a:r>
              <a:rPr lang="zh-CN" altLang="en-US" sz="2400" b="0" dirty="0"/>
              <a:t>类资源1个，</a:t>
            </a:r>
            <a:r>
              <a:rPr lang="en-US" altLang="zh-CN" sz="2400" b="0"/>
              <a:t>B</a:t>
            </a:r>
            <a:r>
              <a:rPr lang="zh-CN" altLang="en-US" sz="2400" b="0" dirty="0"/>
              <a:t>类资源5个，</a:t>
            </a:r>
            <a:r>
              <a:rPr lang="en-US" altLang="zh-CN" sz="2400" b="0"/>
              <a:t>C</a:t>
            </a:r>
            <a:r>
              <a:rPr lang="zh-CN" altLang="en-US" sz="2400" b="0" dirty="0"/>
              <a:t>类资源2个和</a:t>
            </a:r>
            <a:r>
              <a:rPr lang="en-US" altLang="zh-CN" sz="2400" b="0"/>
              <a:t>D</a:t>
            </a:r>
            <a:r>
              <a:rPr lang="zh-CN" altLang="en-US" sz="2400" b="0" dirty="0"/>
              <a:t>类资源0类，请按银行家算法回答下面问题：</a:t>
            </a:r>
            <a:endParaRPr lang="zh-CN" altLang="en-US" sz="2400" b="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0" dirty="0"/>
              <a:t> </a:t>
            </a:r>
            <a:endParaRPr lang="zh-CN" altLang="en-US" sz="2400" b="0" dirty="0"/>
          </a:p>
        </p:txBody>
      </p:sp>
      <p:sp>
        <p:nvSpPr>
          <p:cNvPr id="951299" name="标题 951298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ln/>
        </p:spPr>
        <p:txBody>
          <a:bodyPr lIns="92075" tIns="46038" rIns="92075" bIns="46038" anchor="b"/>
          <a:p>
            <a:r>
              <a:rPr lang="zh-CN" altLang="en-US" sz="3600" dirty="0"/>
              <a:t>补充习题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22" name="文本占位符 952321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8001000" cy="5029200"/>
          </a:xfrm>
          <a:ln/>
        </p:spPr>
        <p:txBody>
          <a:bodyPr lIns="92075" tIns="46038" rIns="92075" bIns="46038"/>
          <a:p>
            <a:pPr marL="0" indent="0">
              <a:buNone/>
            </a:pPr>
            <a:r>
              <a:rPr lang="zh-CN" altLang="en-US" b="0" dirty="0"/>
              <a:t> </a:t>
            </a:r>
            <a:endParaRPr lang="zh-CN" altLang="en-US" b="0" dirty="0"/>
          </a:p>
        </p:txBody>
      </p:sp>
      <p:sp>
        <p:nvSpPr>
          <p:cNvPr id="952323" name="标题 95232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ln/>
        </p:spPr>
        <p:txBody>
          <a:bodyPr lIns="92075" tIns="46038" rIns="92075" bIns="46038" anchor="b"/>
          <a:p>
            <a:r>
              <a:rPr lang="zh-CN" altLang="en-US" sz="3600" dirty="0"/>
              <a:t>补充习题</a:t>
            </a:r>
            <a:endParaRPr lang="zh-CN" altLang="en-US" sz="3600" dirty="0"/>
          </a:p>
        </p:txBody>
      </p:sp>
      <p:graphicFrame>
        <p:nvGraphicFramePr>
          <p:cNvPr id="952324" name="表格 952323"/>
          <p:cNvGraphicFramePr/>
          <p:nvPr/>
        </p:nvGraphicFramePr>
        <p:xfrm>
          <a:off x="685800" y="1828800"/>
          <a:ext cx="7391400" cy="3124200"/>
        </p:xfrm>
        <a:graphic>
          <a:graphicData uri="http://schemas.openxmlformats.org/drawingml/2006/table">
            <a:tbl>
              <a:tblPr/>
              <a:tblGrid>
                <a:gridCol w="1905000"/>
                <a:gridCol w="609600"/>
                <a:gridCol w="762000"/>
                <a:gridCol w="762000"/>
                <a:gridCol w="685800"/>
                <a:gridCol w="685800"/>
                <a:gridCol w="609600"/>
                <a:gridCol w="685800"/>
                <a:gridCol w="685800"/>
              </a:tblGrid>
              <a:tr h="457200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已占资源数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最大需求数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</a:tr>
              <a:tr h="455613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113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P1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P2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P3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P4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P5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7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2359" name="文本框 952358"/>
          <p:cNvSpPr txBox="1"/>
          <p:nvPr/>
        </p:nvSpPr>
        <p:spPr>
          <a:xfrm>
            <a:off x="746125" y="5070475"/>
            <a:ext cx="7254875" cy="11874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/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⑴现在系统是否处于安全状态？</a:t>
            </a: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⑵如果现在进程</a:t>
            </a: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P2</a:t>
            </a:r>
            <a:r>
              <a: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提出需求（0，4，2，0）个资源的请求，系统能否去满足它的请求？</a:t>
            </a:r>
            <a:endParaRPr lang="zh-CN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3346" name="文本占位符 953345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8001000" cy="5029200"/>
          </a:xfrm>
          <a:ln/>
        </p:spPr>
        <p:txBody>
          <a:bodyPr lIns="92075" tIns="46038" rIns="92075" bIns="46038"/>
          <a:p>
            <a:pPr marL="0" indent="0">
              <a:buNone/>
            </a:pPr>
            <a:r>
              <a:rPr lang="zh-CN" altLang="en-US" sz="2400" b="0" dirty="0"/>
              <a:t>5、现有同类资源12个供3个进程共享，假定进程所需资源和已占资源的情况如表所示。3个进程在执行中又都提出申请一个资源的请求，回答：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⑴如果先满足进程</a:t>
            </a:r>
            <a:r>
              <a:rPr lang="en-US" altLang="zh-CN" sz="2400" b="0"/>
              <a:t>A</a:t>
            </a:r>
            <a:r>
              <a:rPr lang="zh-CN" altLang="en-US" sz="2400" b="0" dirty="0"/>
              <a:t>的请求，系统会出现什么现象？给出解释。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⑵你认为应按怎样的次序分配资源才合适？为什么？</a:t>
            </a:r>
            <a:endParaRPr lang="zh-CN" altLang="en-US" sz="2400" b="0" dirty="0"/>
          </a:p>
          <a:p>
            <a:pPr marL="0" indent="0">
              <a:buNone/>
            </a:pPr>
            <a:endParaRPr lang="zh-CN" altLang="en-US" sz="2400" b="0" dirty="0"/>
          </a:p>
        </p:txBody>
      </p:sp>
      <p:sp>
        <p:nvSpPr>
          <p:cNvPr id="953347" name="标题 953346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ln/>
        </p:spPr>
        <p:txBody>
          <a:bodyPr lIns="92075" tIns="46038" rIns="92075" bIns="46038" anchor="b"/>
          <a:p>
            <a:r>
              <a:rPr lang="zh-CN" altLang="en-US" sz="3600" dirty="0"/>
              <a:t>补充习题</a:t>
            </a:r>
            <a:endParaRPr lang="zh-CN" altLang="en-US" sz="3600" dirty="0"/>
          </a:p>
        </p:txBody>
      </p:sp>
      <p:graphicFrame>
        <p:nvGraphicFramePr>
          <p:cNvPr id="953348" name="表格 953347"/>
          <p:cNvGraphicFramePr/>
          <p:nvPr/>
        </p:nvGraphicFramePr>
        <p:xfrm>
          <a:off x="685800" y="4114800"/>
          <a:ext cx="7848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3048000"/>
                <a:gridCol w="2971800"/>
              </a:tblGrid>
              <a:tr h="4572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已占资源数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最大需求数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16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8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370" name="标题 954369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补充习题</a:t>
            </a:r>
            <a:endParaRPr lang="zh-CN" altLang="en-US" sz="3600" dirty="0"/>
          </a:p>
        </p:txBody>
      </p:sp>
      <p:sp>
        <p:nvSpPr>
          <p:cNvPr id="954371" name="文本占位符 954370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  <a:ln/>
        </p:spPr>
        <p:txBody>
          <a:bodyPr lIns="92075" tIns="46038" rIns="92075" bIns="46038"/>
          <a:p>
            <a:pPr>
              <a:lnSpc>
                <a:spcPct val="90000"/>
              </a:lnSpc>
              <a:buNone/>
            </a:pPr>
            <a:r>
              <a:rPr lang="zh-CN" altLang="en-US" sz="2400" b="0" dirty="0"/>
              <a:t>8、</a:t>
            </a:r>
            <a:r>
              <a:rPr lang="zh-CN" altLang="en-US" sz="2400" b="0" dirty="0">
                <a:latin typeface="Times New Roman" panose="02020603050405020304" pitchFamily="18" charset="0"/>
              </a:rPr>
              <a:t>当前系统共有同类资源</a:t>
            </a:r>
            <a:r>
              <a:rPr lang="zh-CN" altLang="en-US" sz="2400" b="0" dirty="0">
                <a:latin typeface="Times New Roman" panose="02020603050405020304" pitchFamily="18" charset="0"/>
              </a:rPr>
              <a:t>10</a:t>
            </a:r>
            <a:r>
              <a:rPr lang="zh-CN" altLang="en-US" sz="2400" b="0" dirty="0">
                <a:latin typeface="Times New Roman" panose="02020603050405020304" pitchFamily="18" charset="0"/>
              </a:rPr>
              <a:t>个，进程</a:t>
            </a:r>
            <a:r>
              <a:rPr lang="en-US" altLang="zh-CN" sz="2400" b="0">
                <a:latin typeface="Times New Roman" panose="02020603050405020304" pitchFamily="18" charset="0"/>
              </a:rPr>
              <a:t>P</a:t>
            </a:r>
            <a:r>
              <a:rPr lang="en-US" altLang="zh-CN" sz="2400" b="0">
                <a:latin typeface="Times New Roman" panose="02020603050405020304" pitchFamily="18" charset="0"/>
              </a:rPr>
              <a:t>、</a:t>
            </a:r>
            <a:r>
              <a:rPr lang="en-US" altLang="zh-CN" sz="2400" b="0">
                <a:latin typeface="Times New Roman" panose="02020603050405020304" pitchFamily="18" charset="0"/>
              </a:rPr>
              <a:t>Q</a:t>
            </a:r>
            <a:r>
              <a:rPr lang="en-US" altLang="zh-CN" sz="2400" b="0">
                <a:latin typeface="Times New Roman" panose="02020603050405020304" pitchFamily="18" charset="0"/>
              </a:rPr>
              <a:t>、</a:t>
            </a:r>
            <a:r>
              <a:rPr lang="en-US" altLang="zh-CN" sz="2400" b="0">
                <a:latin typeface="Times New Roman" panose="02020603050405020304" pitchFamily="18" charset="0"/>
              </a:rPr>
              <a:t>R</a:t>
            </a:r>
            <a:r>
              <a:rPr lang="zh-CN" altLang="en-US" sz="2400" b="0" dirty="0">
                <a:latin typeface="Times New Roman" panose="02020603050405020304" pitchFamily="18" charset="0"/>
              </a:rPr>
              <a:t>所需资源总数分别为</a:t>
            </a:r>
            <a:r>
              <a:rPr lang="zh-CN" altLang="en-US" sz="2400" b="0" dirty="0">
                <a:latin typeface="Times New Roman" panose="02020603050405020304" pitchFamily="18" charset="0"/>
              </a:rPr>
              <a:t>8</a:t>
            </a:r>
            <a:r>
              <a:rPr lang="zh-CN" altLang="en-US" sz="2400" b="0" dirty="0">
                <a:latin typeface="Times New Roman" panose="02020603050405020304" pitchFamily="18" charset="0"/>
              </a:rPr>
              <a:t>，</a:t>
            </a:r>
            <a:r>
              <a:rPr lang="zh-CN" altLang="en-US" sz="2400" b="0" dirty="0">
                <a:latin typeface="Times New Roman" panose="02020603050405020304" pitchFamily="18" charset="0"/>
              </a:rPr>
              <a:t>4</a:t>
            </a:r>
            <a:r>
              <a:rPr lang="zh-CN" altLang="en-US" sz="2400" b="0" dirty="0">
                <a:latin typeface="Times New Roman" panose="02020603050405020304" pitchFamily="18" charset="0"/>
              </a:rPr>
              <a:t>，</a:t>
            </a:r>
            <a:r>
              <a:rPr lang="zh-CN" altLang="en-US" sz="2400" b="0" dirty="0">
                <a:latin typeface="Times New Roman" panose="02020603050405020304" pitchFamily="18" charset="0"/>
              </a:rPr>
              <a:t>9</a:t>
            </a:r>
            <a:r>
              <a:rPr lang="zh-CN" altLang="en-US" sz="2400" b="0" dirty="0">
                <a:latin typeface="Times New Roman" panose="02020603050405020304" pitchFamily="18" charset="0"/>
              </a:rPr>
              <a:t>。它们向系统申请资源的次序和数量如表所示，请回答：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（1）请你写出系统完成第</a:t>
            </a:r>
            <a:r>
              <a:rPr lang="zh-CN" altLang="en-US" sz="2400" b="0" dirty="0">
                <a:latin typeface="Times New Roman" panose="02020603050405020304" pitchFamily="18" charset="0"/>
              </a:rPr>
              <a:t>6</a:t>
            </a:r>
            <a:r>
              <a:rPr lang="zh-CN" altLang="en-US" sz="2400" b="0" dirty="0">
                <a:latin typeface="Times New Roman" panose="02020603050405020304" pitchFamily="18" charset="0"/>
              </a:rPr>
              <a:t>次分配后各进程的状态及所占资源量</a:t>
            </a:r>
            <a:r>
              <a:rPr lang="zh-CN" altLang="en-US" sz="2400" b="0" dirty="0">
                <a:latin typeface="Times New Roman" panose="02020603050405020304" pitchFamily="18" charset="0"/>
              </a:rPr>
              <a:t>.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（2）在以后各次的申请中，哪次的申请要求可先得到满足？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次序</a:t>
            </a:r>
            <a:r>
              <a:rPr lang="zh-CN" altLang="en-US" sz="2400" b="0" dirty="0">
                <a:latin typeface="Times New Roman" panose="02020603050405020304" pitchFamily="18" charset="0"/>
              </a:rPr>
              <a:t>   </a:t>
            </a:r>
            <a:r>
              <a:rPr lang="zh-CN" altLang="en-US" sz="2400" b="0" dirty="0">
                <a:latin typeface="Times New Roman" panose="02020603050405020304" pitchFamily="18" charset="0"/>
              </a:rPr>
              <a:t>进程</a:t>
            </a:r>
            <a:r>
              <a:rPr lang="zh-CN" altLang="en-US" sz="2400" b="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>
                <a:latin typeface="Times New Roman" panose="02020603050405020304" pitchFamily="18" charset="0"/>
              </a:rPr>
              <a:t>申请量</a:t>
            </a:r>
            <a:r>
              <a:rPr lang="zh-CN" altLang="en-US" sz="2400" b="0" dirty="0">
                <a:latin typeface="Times New Roman" panose="02020603050405020304" pitchFamily="18" charset="0"/>
              </a:rPr>
              <a:t>    </a:t>
            </a:r>
            <a:r>
              <a:rPr lang="zh-CN" altLang="en-US" sz="2400" b="0" dirty="0">
                <a:latin typeface="Times New Roman" panose="02020603050405020304" pitchFamily="18" charset="0"/>
              </a:rPr>
              <a:t>次序</a:t>
            </a:r>
            <a:r>
              <a:rPr lang="zh-CN" altLang="en-US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latin typeface="Times New Roman" panose="02020603050405020304" pitchFamily="18" charset="0"/>
              </a:rPr>
              <a:t>进程</a:t>
            </a:r>
            <a:r>
              <a:rPr lang="zh-CN" altLang="en-US" sz="2400" b="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>
                <a:latin typeface="Times New Roman" panose="02020603050405020304" pitchFamily="18" charset="0"/>
              </a:rPr>
              <a:t>申请量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 1            </a:t>
            </a:r>
            <a:r>
              <a:rPr lang="en-US" altLang="zh-CN" sz="2400" b="0">
                <a:latin typeface="Times New Roman" panose="02020603050405020304" pitchFamily="18" charset="0"/>
              </a:rPr>
              <a:t>R             2            6             Q              2</a:t>
            </a:r>
            <a:endParaRPr lang="en-US" altLang="zh-CN" sz="2400" b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 2            P             4             7             R              3</a:t>
            </a:r>
            <a:endParaRPr lang="en-US" altLang="zh-CN" sz="2400" b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 3            Q             2            8              P              2</a:t>
            </a:r>
            <a:endParaRPr lang="en-US" altLang="zh-CN" sz="2400" b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 4            P             2             9             R             3</a:t>
            </a:r>
            <a:endParaRPr lang="en-US" altLang="zh-CN" sz="2400" b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 5            R             1 </a:t>
            </a:r>
            <a:endParaRPr lang="en-US" altLang="zh-CN" sz="2400" b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endParaRPr lang="zh-CN" altLang="en-US" sz="2400"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5394" name="标题 955393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55395" name="文本占位符 955394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algn="just">
              <a:lnSpc>
                <a:spcPct val="90000"/>
              </a:lnSpc>
              <a:buNone/>
            </a:pPr>
            <a:r>
              <a:rPr lang="zh-CN" altLang="en-US" sz="2400" b="0" dirty="0"/>
              <a:t>1、10/（200+10）=4.8%</a:t>
            </a:r>
            <a:endParaRPr lang="zh-CN" altLang="en-US" sz="2400" b="0" dirty="0"/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/>
              <a:t>2、①若对资源分配不加限制，例如：</a:t>
            </a:r>
            <a:endParaRPr lang="zh-CN" altLang="en-US" sz="2400" b="0" dirty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Process p1           process p2       process p3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Begin                      begin               begin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  wait(s3);               wait(s1);             wait(s2);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  wait(s1);               wait(s2);             wait(s3);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     ……                     ……                  ……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 signal(s3);            signal(s1);          signal(s2);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 signal(s1);            signal(s2);          signal(s3);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0"/>
              <a:t>End                         end                    end</a:t>
            </a:r>
            <a:endParaRPr lang="en-US" altLang="zh-CN" sz="2400" b="0"/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0" dirty="0"/>
              <a:t>出现的问题：死锁。</a:t>
            </a:r>
            <a:endParaRPr lang="zh-CN" altLang="en-US" sz="24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6418" name="标题 956417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56419" name="文本占位符 956418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algn="just">
              <a:buNone/>
            </a:pPr>
            <a:r>
              <a:rPr lang="zh-CN" altLang="en-US" sz="2400" b="0" dirty="0"/>
              <a:t>2、②采用的分配策略：</a:t>
            </a:r>
            <a:endParaRPr lang="zh-CN" altLang="en-US" sz="2400" b="0" dirty="0"/>
          </a:p>
          <a:p>
            <a:pPr algn="just">
              <a:buNone/>
            </a:pPr>
            <a:r>
              <a:rPr lang="zh-CN" altLang="en-US" sz="2400" b="0" dirty="0"/>
              <a:t>（1）一个进程申请资源时，若它已经占有其他资源，必须首先放弃这个资源，才可以申请新的资源。</a:t>
            </a:r>
            <a:endParaRPr lang="zh-CN" altLang="en-US" sz="2400" b="0" dirty="0"/>
          </a:p>
          <a:p>
            <a:pPr algn="just">
              <a:buNone/>
            </a:pPr>
            <a:r>
              <a:rPr lang="zh-CN" altLang="en-US" sz="2400" b="0" dirty="0"/>
              <a:t>（2）静态资源分配：即进程在获得全部资源后才能继续执行，若只有一个资源不满足，系统不分配任何资源给该进程，使其进入等待状态。</a:t>
            </a:r>
            <a:endParaRPr lang="zh-CN" altLang="en-US" sz="2400" b="0" dirty="0"/>
          </a:p>
          <a:p>
            <a:pPr algn="just">
              <a:buNone/>
            </a:pPr>
            <a:r>
              <a:rPr lang="zh-CN" altLang="en-US" sz="2400" b="0" dirty="0"/>
              <a:t>（3）使资源按照序号递增的顺序申请资源，即</a:t>
            </a:r>
            <a:r>
              <a:rPr lang="en-US" altLang="zh-CN" sz="2400" b="0"/>
              <a:t>P1</a:t>
            </a:r>
            <a:r>
              <a:rPr lang="zh-CN" altLang="en-US" sz="2400" b="0" dirty="0"/>
              <a:t>进程申请顺序为：</a:t>
            </a:r>
            <a:r>
              <a:rPr lang="en-US" altLang="zh-CN" sz="2400" b="0"/>
              <a:t>S1，S3；P2</a:t>
            </a:r>
            <a:r>
              <a:rPr lang="zh-CN" altLang="en-US" sz="2400" b="0" dirty="0"/>
              <a:t>进程申请顺序为：</a:t>
            </a:r>
            <a:r>
              <a:rPr lang="en-US" altLang="zh-CN" sz="2400" b="0"/>
              <a:t>S1，S2；P3</a:t>
            </a:r>
            <a:r>
              <a:rPr lang="zh-CN" altLang="en-US" sz="2400" b="0" dirty="0"/>
              <a:t>进程的申请顺序为</a:t>
            </a:r>
            <a:r>
              <a:rPr lang="en-US" altLang="zh-CN" sz="2400" b="0"/>
              <a:t>S1，S2。</a:t>
            </a:r>
            <a:endParaRPr lang="en-US" altLang="zh-CN" sz="24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7442" name="标题 957441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57443" name="文本占位符 957442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marL="88900" indent="-88900" algn="just">
              <a:buNone/>
            </a:pPr>
            <a:r>
              <a:rPr lang="zh-CN" altLang="en-US" sz="2400" b="0" dirty="0"/>
              <a:t>2、采用反证法。假设只有一个进程时出现死锁，则死锁的四个必要条件，即：</a:t>
            </a:r>
            <a:endParaRPr lang="zh-CN" altLang="en-US" sz="2400" b="0" dirty="0"/>
          </a:p>
          <a:p>
            <a:pPr marL="88900" indent="-88900" algn="just">
              <a:buNone/>
            </a:pPr>
            <a:r>
              <a:rPr lang="en-US" altLang="zh-CN" sz="2400" b="0"/>
              <a:t>     </a:t>
            </a:r>
            <a:r>
              <a:rPr lang="zh-CN" altLang="en-US" sz="2400" b="0" dirty="0"/>
              <a:t>请求和保持</a:t>
            </a: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     互斥使用资源</a:t>
            </a: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     资源不可剥夺</a:t>
            </a: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     环路等待</a:t>
            </a: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 必定同时成立。但只有一个进程，不能形成环路，即环路等待必要条件不能成立，因此假设不成立。即不存在死锁。</a:t>
            </a:r>
            <a:endParaRPr lang="zh-CN" altLang="en-US" sz="24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8466" name="标题 958465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58467" name="文本占位符 958466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marL="88900" indent="-88900" algn="just">
              <a:buNone/>
            </a:pPr>
            <a:r>
              <a:rPr lang="zh-CN" altLang="en-US" sz="2400" b="0" dirty="0"/>
              <a:t>4、</a:t>
            </a: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分析：是否处于安全状态</a:t>
            </a: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</p:txBody>
      </p:sp>
      <p:graphicFrame>
        <p:nvGraphicFramePr>
          <p:cNvPr id="958468" name="表格 958467"/>
          <p:cNvGraphicFramePr/>
          <p:nvPr/>
        </p:nvGraphicFramePr>
        <p:xfrm>
          <a:off x="1066800" y="1905000"/>
          <a:ext cx="7239000" cy="3429000"/>
        </p:xfrm>
        <a:graphic>
          <a:graphicData uri="http://schemas.openxmlformats.org/drawingml/2006/table">
            <a:tbl>
              <a:tblPr/>
              <a:tblGrid>
                <a:gridCol w="685800"/>
                <a:gridCol w="457200"/>
                <a:gridCol w="381000"/>
                <a:gridCol w="457200"/>
                <a:gridCol w="457200"/>
                <a:gridCol w="457200"/>
                <a:gridCol w="457200"/>
                <a:gridCol w="381000"/>
                <a:gridCol w="4572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609600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allocation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max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need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Available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</a:tr>
              <a:tr h="533400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P1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P2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P3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P4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P5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7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7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1   5  2  0        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9490" name="标题 959489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59491" name="文本占位符 959490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marL="88900" indent="-88900" algn="just">
              <a:lnSpc>
                <a:spcPct val="90000"/>
              </a:lnSpc>
              <a:buNone/>
            </a:pPr>
            <a:r>
              <a:rPr lang="zh-CN" altLang="en-US" sz="2400" b="0" dirty="0"/>
              <a:t>若满足进程</a:t>
            </a:r>
            <a:r>
              <a:rPr lang="en-US" altLang="zh-CN" sz="2400" b="0"/>
              <a:t>P2</a:t>
            </a:r>
            <a:r>
              <a:rPr lang="zh-CN" altLang="en-US" sz="2400" b="0" dirty="0"/>
              <a:t>的申请，资源分配情况：</a:t>
            </a: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r>
              <a:rPr lang="zh-CN" altLang="en-US" sz="2400" b="0" dirty="0"/>
              <a:t>分析：是否处于安全状态</a:t>
            </a:r>
            <a:endParaRPr lang="zh-CN" altLang="en-US" sz="2400" b="0" dirty="0"/>
          </a:p>
          <a:p>
            <a:pPr marL="88900" indent="-88900" algn="just">
              <a:lnSpc>
                <a:spcPct val="90000"/>
              </a:lnSpc>
              <a:buNone/>
            </a:pPr>
            <a:endParaRPr lang="zh-CN" altLang="en-US" sz="2400" b="0" dirty="0"/>
          </a:p>
        </p:txBody>
      </p:sp>
      <p:graphicFrame>
        <p:nvGraphicFramePr>
          <p:cNvPr id="959492" name="表格 959491"/>
          <p:cNvGraphicFramePr/>
          <p:nvPr/>
        </p:nvGraphicFramePr>
        <p:xfrm>
          <a:off x="1066800" y="2286000"/>
          <a:ext cx="7239000" cy="3429000"/>
        </p:xfrm>
        <a:graphic>
          <a:graphicData uri="http://schemas.openxmlformats.org/drawingml/2006/table">
            <a:tbl>
              <a:tblPr/>
              <a:tblGrid>
                <a:gridCol w="685800"/>
                <a:gridCol w="457200"/>
                <a:gridCol w="381000"/>
                <a:gridCol w="457200"/>
                <a:gridCol w="457200"/>
                <a:gridCol w="457200"/>
                <a:gridCol w="457200"/>
                <a:gridCol w="381000"/>
                <a:gridCol w="4572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609600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allocation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max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need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Available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</a:tr>
              <a:tr h="533400"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P1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P2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P3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P4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P5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1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  <a:p>
                      <a:pPr marL="0" lvl="0" indent="0">
                        <a:buNone/>
                      </a:pPr>
                      <a:r>
                        <a:rPr lang="en-US" altLang="zh-CN" b="0"/>
                        <a:t>0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7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0" dirty="0"/>
                        <a:t>1   1  0  0        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0514" name="标题 960513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60515" name="文本占位符 960514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marL="88900" indent="-88900" algn="just">
              <a:buNone/>
            </a:pPr>
            <a:r>
              <a:rPr lang="zh-CN" altLang="en-US" b="0" dirty="0"/>
              <a:t>5、若先满足进程</a:t>
            </a:r>
            <a:r>
              <a:rPr lang="en-US" altLang="zh-CN" b="0"/>
              <a:t>a</a:t>
            </a:r>
            <a:r>
              <a:rPr lang="zh-CN" altLang="en-US" b="0" dirty="0"/>
              <a:t>的请求，资源分配情况如下：</a:t>
            </a: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endParaRPr lang="zh-CN" altLang="en-US" b="0" dirty="0"/>
          </a:p>
          <a:p>
            <a:pPr marL="88900" indent="-88900" algn="just">
              <a:buNone/>
            </a:pPr>
            <a:r>
              <a:rPr lang="zh-CN" altLang="en-US" b="0" dirty="0"/>
              <a:t>分析：存在的问题。</a:t>
            </a:r>
            <a:endParaRPr lang="zh-CN" altLang="en-US" b="0" dirty="0"/>
          </a:p>
        </p:txBody>
      </p:sp>
      <p:graphicFrame>
        <p:nvGraphicFramePr>
          <p:cNvPr id="960516" name="表格 960515"/>
          <p:cNvGraphicFramePr/>
          <p:nvPr/>
        </p:nvGraphicFramePr>
        <p:xfrm>
          <a:off x="838200" y="2590800"/>
          <a:ext cx="7620000" cy="1981200"/>
        </p:xfrm>
        <a:graphic>
          <a:graphicData uri="http://schemas.openxmlformats.org/drawingml/2006/table">
            <a:tbl>
              <a:tblPr/>
              <a:tblGrid>
                <a:gridCol w="990600"/>
                <a:gridCol w="1524000"/>
                <a:gridCol w="1524000"/>
                <a:gridCol w="1905000"/>
                <a:gridCol w="1676400"/>
              </a:tblGrid>
              <a:tr h="533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allocation</a:t>
                      </a:r>
                      <a:endParaRPr lang="zh-CN" altLang="en-US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Max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need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Available</a:t>
                      </a:r>
                      <a:endParaRPr lang="zh-CN" altLang="en-US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7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B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C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5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6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8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3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1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1538" name="标题 961537"/>
          <p:cNvSpPr>
            <a:spLocks noGrp="1"/>
          </p:cNvSpPr>
          <p:nvPr>
            <p:ph type="title"/>
          </p:nvPr>
        </p:nvSpPr>
        <p:spPr>
          <a:ln/>
        </p:spPr>
        <p:txBody>
          <a:bodyPr lIns="92075" tIns="46038" rIns="92075" bIns="46038" anchor="b"/>
          <a:p>
            <a:r>
              <a:rPr lang="zh-CN" altLang="en-US" sz="3600" dirty="0"/>
              <a:t>答案</a:t>
            </a:r>
            <a:endParaRPr lang="zh-CN" altLang="en-US" sz="3600" dirty="0"/>
          </a:p>
        </p:txBody>
      </p:sp>
      <p:sp>
        <p:nvSpPr>
          <p:cNvPr id="961539" name="文本占位符 961538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  <a:ln/>
        </p:spPr>
        <p:txBody>
          <a:bodyPr lIns="92075" tIns="46038" rIns="92075" bIns="46038"/>
          <a:p>
            <a:pPr marL="88900" indent="-88900" algn="just">
              <a:buNone/>
            </a:pPr>
            <a:r>
              <a:rPr lang="zh-CN" altLang="en-US" sz="2400" b="0" dirty="0"/>
              <a:t>第六次分配后，各进程所占资源情况及进程状态：</a:t>
            </a: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endParaRPr lang="zh-CN" altLang="en-US" sz="2400" b="0" dirty="0"/>
          </a:p>
          <a:p>
            <a:pPr marL="88900" indent="-88900" algn="just">
              <a:buNone/>
            </a:pPr>
            <a:r>
              <a:rPr lang="zh-CN" altLang="en-US" sz="2400" b="0" dirty="0"/>
              <a:t>在以后的各次的申请中，可先满足第八次申请。</a:t>
            </a:r>
            <a:endParaRPr lang="zh-CN" altLang="en-US" sz="2400" b="0" dirty="0"/>
          </a:p>
        </p:txBody>
      </p:sp>
      <p:graphicFrame>
        <p:nvGraphicFramePr>
          <p:cNvPr id="961540" name="表格 961539"/>
          <p:cNvGraphicFramePr/>
          <p:nvPr/>
        </p:nvGraphicFramePr>
        <p:xfrm>
          <a:off x="838200" y="2590800"/>
          <a:ext cx="7620000" cy="1981200"/>
        </p:xfrm>
        <a:graphic>
          <a:graphicData uri="http://schemas.openxmlformats.org/drawingml/2006/table">
            <a:tbl>
              <a:tblPr/>
              <a:tblGrid>
                <a:gridCol w="990600"/>
                <a:gridCol w="1524000"/>
                <a:gridCol w="1524000"/>
                <a:gridCol w="1905000"/>
                <a:gridCol w="1676400"/>
              </a:tblGrid>
              <a:tr h="533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进程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allocation</a:t>
                      </a:r>
                      <a:endParaRPr lang="zh-CN" altLang="en-US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need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状态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Available</a:t>
                      </a:r>
                      <a:endParaRPr lang="zh-CN" altLang="en-US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7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P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Q</a:t>
                      </a:r>
                      <a:endParaRPr lang="en-US" altLang="zh-CN" b="0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 b="0"/>
                        <a:t>R</a:t>
                      </a:r>
                      <a:endParaRPr lang="en-US" altLang="zh-CN" b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2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4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7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等待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运行</a:t>
                      </a:r>
                      <a:endParaRPr lang="zh-CN" altLang="en-US" b="0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等待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b="0" kern="1200"/>
                      </a:lvl2pPr>
                      <a:lvl3pPr marL="1143000" lvl="2" indent="-228600">
                        <a:buSzPct val="75000"/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buSzPct val="70000"/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0" dirty="0"/>
                        <a:t>0</a:t>
                      </a:r>
                      <a:endParaRPr lang="zh-CN" altLang="en-US" b="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个人主页 (标准)">
  <a:themeElements>
    <a:clrScheme name="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5"/>
      </a:accent3>
      <a:accent4>
        <a:srgbClr val="000000"/>
      </a:accent4>
      <a:accent5>
        <a:srgbClr val="AAAAAA"/>
      </a:accent5>
      <a:accent6>
        <a:srgbClr val="2D5B89"/>
      </a:accent6>
      <a:hlink>
        <a:srgbClr val="EBFFF5"/>
      </a:hlink>
      <a:folHlink>
        <a:srgbClr val="A73737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1E2E53"/>
        </a:lt1>
        <a:dk2>
          <a:srgbClr val="FFCC00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AAACB4"/>
        </a:accent3>
        <a:accent4>
          <a:srgbClr val="DCDCDC"/>
        </a:accent4>
        <a:accent5>
          <a:srgbClr val="FFCAAD"/>
        </a:accent5>
        <a:accent6>
          <a:srgbClr val="2D5B89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72A00"/>
        </a:accent4>
        <a:accent5>
          <a:srgbClr val="FFCAAA"/>
        </a:accent5>
        <a:accent6>
          <a:srgbClr val="B75B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B89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B89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B89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5"/>
        </a:accent3>
        <a:accent4>
          <a:srgbClr val="000000"/>
        </a:accent4>
        <a:accent5>
          <a:srgbClr val="AAAAAA"/>
        </a:accent5>
        <a:accent6>
          <a:srgbClr val="2D5B89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5"/>
        </a:accent3>
        <a:accent4>
          <a:srgbClr val="000000"/>
        </a:accent4>
        <a:accent5>
          <a:srgbClr val="AAAAAA"/>
        </a:accent5>
        <a:accent6>
          <a:srgbClr val="2D5B89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5"/>
        </a:accent3>
        <a:accent4>
          <a:srgbClr val="000000"/>
        </a:accent4>
        <a:accent5>
          <a:srgbClr val="AAAAAA"/>
        </a:accent5>
        <a:accent6>
          <a:srgbClr val="2D5B89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2633</Words>
  <Application>WPS 演示</Application>
  <PresentationFormat>在屏幕上显示</PresentationFormat>
  <Paragraphs>596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微软雅黑</vt:lpstr>
      <vt:lpstr>个人主页 (标准)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Administrator</cp:lastModifiedBy>
  <cp:revision>1080</cp:revision>
  <cp:lastPrinted>1995-12-08T18:33:06Z</cp:lastPrinted>
  <dcterms:created xsi:type="dcterms:W3CDTF">2000-10-31T09:27:53Z</dcterms:created>
  <dcterms:modified xsi:type="dcterms:W3CDTF">2016-12-26T12:57:14Z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