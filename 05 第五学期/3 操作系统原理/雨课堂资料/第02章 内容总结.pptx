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580" r:id="rId3"/>
    <p:sldId id="601" r:id="rId5"/>
    <p:sldId id="602" r:id="rId6"/>
    <p:sldId id="603" r:id="rId7"/>
    <p:sldId id="604" r:id="rId8"/>
    <p:sldId id="609" r:id="rId9"/>
    <p:sldId id="605" r:id="rId10"/>
    <p:sldId id="606" r:id="rId11"/>
    <p:sldId id="607" r:id="rId12"/>
    <p:sldId id="608" r:id="rId13"/>
  </p:sldIdLst>
  <p:sldSz cx="9144000" cy="6858000" type="screen4x3"/>
  <p:notesSz cx="6934200" cy="9398000"/>
  <p:custDataLst>
    <p:tags r:id="rId18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CC00"/>
    <a:srgbClr val="CC99FF"/>
    <a:srgbClr val="FFCCFF"/>
    <a:srgbClr val="DFC0FF"/>
    <a:srgbClr val="CCECFF"/>
    <a:srgbClr val="CCCC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44"/>
    <p:restoredTop sz="94755"/>
  </p:normalViewPr>
  <p:slideViewPr>
    <p:cSldViewPr showGuides="1">
      <p:cViewPr varScale="1">
        <p:scale>
          <a:sx n="77" d="100"/>
          <a:sy n="77" d="100"/>
        </p:scale>
        <p:origin x="1579" y="67"/>
      </p:cViewPr>
      <p:guideLst>
        <p:guide orient="horz" pos="2160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518346-1BEE-4C59-BEDC-7AAF978FBC95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05000"/>
            <a:ext cx="3810000" cy="4114800"/>
          </a:xfrm>
        </p:spPr>
        <p:txBody>
          <a:bodyPr vert="horz" wrap="square" lIns="92075" tIns="46038" rIns="92075" bIns="46038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404B7-803C-42B4-8442-717CD1C462B6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第二章 内容总结</a:t>
            </a:r>
            <a:endParaRPr lang="zh-CN" altLang="zh-CN" sz="3600" dirty="0"/>
          </a:p>
        </p:txBody>
      </p:sp>
      <p:sp>
        <p:nvSpPr>
          <p:cNvPr id="677891" name="Rectangle 3"/>
          <p:cNvSpPr>
            <a:spLocks noGrp="1"/>
          </p:cNvSpPr>
          <p:nvPr>
            <p:ph type="body" sz="half" idx="2"/>
          </p:nvPr>
        </p:nvSpPr>
        <p:spPr>
          <a:xfrm>
            <a:off x="611758" y="1556792"/>
            <a:ext cx="8064698" cy="4608512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、程序并发执行时的特征。</a:t>
            </a:r>
            <a:endParaRPr lang="en-US" altLang="zh-CN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、操作系统为何引入进程？为什么程序不能并发执行，而进程可以并发？</a:t>
            </a:r>
            <a:endParaRPr lang="en-US" altLang="zh-CN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、什么是进程？进程有哪些特征</a:t>
            </a:r>
            <a:endParaRPr lang="en-US" altLang="zh-CN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、进程和程序的区别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从进程的特征上进行比较</a:t>
            </a:r>
            <a:endParaRPr lang="en-US" altLang="zh-CN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、进程的三种基本状态，以及引起进程状态转换的事件</a:t>
            </a:r>
            <a:endParaRPr lang="en-US" altLang="zh-CN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PCB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的作用是什么？为什么说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PCB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是进程存在的唯一标识</a:t>
            </a:r>
            <a:endParaRPr lang="en-US" altLang="zh-CN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、什么是操作系统</a:t>
            </a:r>
            <a:r>
              <a:rPr lang="zh-CN" altLang="en-US" sz="2400" b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内核？为保护</a:t>
            </a:r>
            <a:r>
              <a:rPr lang="en-US" altLang="zh-CN" sz="2400" b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OS</a:t>
            </a:r>
            <a:r>
              <a:rPr lang="zh-CN" altLang="en-US" sz="2400" b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不被破坏，处理机的执行状态如何划分？</a:t>
            </a:r>
            <a:endParaRPr lang="en-US" altLang="zh-CN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、什么是原语？原语的特点，如何实现原子性特点？</a:t>
            </a:r>
            <a:endParaRPr lang="en-US" altLang="zh-CN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第二章 内容总结</a:t>
            </a:r>
            <a:endParaRPr lang="zh-CN" altLang="zh-CN" sz="3600" dirty="0"/>
          </a:p>
        </p:txBody>
      </p:sp>
      <p:sp>
        <p:nvSpPr>
          <p:cNvPr id="677891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557020"/>
            <a:ext cx="8064500" cy="4953635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9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、进程控制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创建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撤销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阻塞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唤醒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、进程同步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与时间有关的错误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临界资源、临界区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硬件同步机制：关中断、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TS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指令、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SWAP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指令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信号量机制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记录型信号量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右大括号 1"/>
          <p:cNvSpPr/>
          <p:nvPr/>
        </p:nvSpPr>
        <p:spPr>
          <a:xfrm>
            <a:off x="2339340" y="2277110"/>
            <a:ext cx="575945" cy="1511935"/>
          </a:xfrm>
          <a:prstGeom prst="rightBrac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28315" y="2421890"/>
            <a:ext cx="278130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引起的事件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主要任务</a:t>
            </a:r>
            <a:r>
              <a:rPr lang="en-US" altLang="zh-CN"/>
              <a:t>——</a:t>
            </a:r>
            <a:r>
              <a:rPr lang="zh-CN" altLang="en-US"/>
              <a:t>实验</a:t>
            </a:r>
            <a:r>
              <a:rPr lang="en-US" altLang="zh-CN"/>
              <a:t>1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第二章 内容总结</a:t>
            </a:r>
            <a:endParaRPr lang="zh-CN" altLang="zh-CN" sz="3600" dirty="0"/>
          </a:p>
        </p:txBody>
      </p:sp>
      <p:sp>
        <p:nvSpPr>
          <p:cNvPr id="677891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557020"/>
            <a:ext cx="8064500" cy="4953635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11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、记录型信号量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只能使用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wait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signal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原语进行操作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  <a:sym typeface="+mn-ea"/>
              </a:rPr>
              <a:t>记录型信号量的应用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：互斥、描述前趋图、生产者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消费者、哲学家进餐、读者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写者问题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12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、管程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管程的定义？管程的组成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管程机制与信号量机制的区别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记录型信号量和条件变量的区别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管程与进程的区别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使用管程实现生产者</a:t>
            </a: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消费者问题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第二章 内容总结</a:t>
            </a:r>
            <a:endParaRPr lang="zh-CN" altLang="zh-CN" sz="3600" dirty="0"/>
          </a:p>
        </p:txBody>
      </p:sp>
      <p:sp>
        <p:nvSpPr>
          <p:cNvPr id="677891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557020"/>
            <a:ext cx="8064500" cy="4953635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、进程通信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操作系统提供了哪几种高级通信形式？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以实例说明直接消息传递系统是如何实现的？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zh-CN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14</a:t>
            </a: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、线程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操作系统中为何引入线程？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引入线程后，进程与线程如何分工？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lvl="1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进程和线程的区别？</a:t>
            </a:r>
            <a:endParaRPr lang="zh-CN" altLang="en-US" sz="24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第二章 内容总结</a:t>
            </a:r>
            <a:endParaRPr lang="zh-CN" altLang="zh-CN" sz="3600" dirty="0"/>
          </a:p>
        </p:txBody>
      </p:sp>
      <p:sp>
        <p:nvSpPr>
          <p:cNvPr id="677891" name="Rectangle 3"/>
          <p:cNvSpPr>
            <a:spLocks noGrp="1"/>
          </p:cNvSpPr>
          <p:nvPr>
            <p:ph type="body" sz="half" idx="2"/>
            <p:custDataLst>
              <p:tags r:id="rId1"/>
            </p:custDataLst>
          </p:nvPr>
        </p:nvSpPr>
        <p:spPr>
          <a:xfrm>
            <a:off x="611505" y="1557020"/>
            <a:ext cx="8064500" cy="4953635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15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wait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signal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原语描述前趋图</a:t>
            </a:r>
            <a:endParaRPr lang="zh-CN" altLang="en-US" sz="22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sz="22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2276475"/>
            <a:ext cx="4034155" cy="3611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第二章 内容总结</a:t>
            </a:r>
            <a:endParaRPr lang="zh-CN" altLang="zh-CN" sz="3600" dirty="0"/>
          </a:p>
        </p:txBody>
      </p:sp>
      <p:sp>
        <p:nvSpPr>
          <p:cNvPr id="677891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557020"/>
            <a:ext cx="8064500" cy="4953635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wait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signal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原语实现进程同步</a:t>
            </a:r>
            <a:endParaRPr lang="zh-CN" altLang="en-US" sz="22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200" b="0" dirty="0" smtClean="0">
                <a:sym typeface="+mn-ea"/>
              </a:rPr>
              <a:t>有三个进程</a:t>
            </a:r>
            <a:r>
              <a:rPr lang="en-US" altLang="zh-CN" sz="2200" b="0" dirty="0" smtClean="0">
                <a:sym typeface="+mn-ea"/>
              </a:rPr>
              <a:t>R、W1、W2</a:t>
            </a:r>
            <a:r>
              <a:rPr lang="zh-CN" altLang="en-US" sz="2200" b="0" dirty="0" smtClean="0">
                <a:sym typeface="+mn-ea"/>
              </a:rPr>
              <a:t>共享一个缓冲器</a:t>
            </a:r>
            <a:r>
              <a:rPr lang="en-US" altLang="zh-CN" sz="2200" b="0" dirty="0" smtClean="0">
                <a:sym typeface="+mn-ea"/>
              </a:rPr>
              <a:t>B，B</a:t>
            </a:r>
            <a:r>
              <a:rPr lang="zh-CN" altLang="en-US" sz="2200" b="0" dirty="0" smtClean="0">
                <a:sym typeface="+mn-ea"/>
              </a:rPr>
              <a:t>中每次只能存放一个数。进程</a:t>
            </a:r>
            <a:r>
              <a:rPr lang="en-US" altLang="zh-CN" sz="2200" b="0" dirty="0" smtClean="0">
                <a:sym typeface="+mn-ea"/>
              </a:rPr>
              <a:t>R</a:t>
            </a:r>
            <a:r>
              <a:rPr lang="zh-CN" altLang="en-US" sz="2200" b="0" dirty="0" smtClean="0">
                <a:sym typeface="+mn-ea"/>
              </a:rPr>
              <a:t>每次启动输入设备读一个数且把它存放到缓冲器</a:t>
            </a:r>
            <a:r>
              <a:rPr lang="en-US" altLang="zh-CN" sz="2200" b="0" dirty="0" smtClean="0">
                <a:sym typeface="+mn-ea"/>
              </a:rPr>
              <a:t>B</a:t>
            </a:r>
            <a:r>
              <a:rPr lang="zh-CN" altLang="en-US" sz="2200" b="0" dirty="0" smtClean="0">
                <a:sym typeface="+mn-ea"/>
              </a:rPr>
              <a:t>中，若存放到缓冲器中的是奇数，则由</a:t>
            </a:r>
            <a:r>
              <a:rPr lang="en-US" altLang="zh-CN" sz="2200" b="0" dirty="0" smtClean="0">
                <a:sym typeface="+mn-ea"/>
              </a:rPr>
              <a:t>W1</a:t>
            </a:r>
            <a:r>
              <a:rPr lang="zh-CN" altLang="en-US" sz="2200" b="0" dirty="0" smtClean="0">
                <a:sym typeface="+mn-ea"/>
              </a:rPr>
              <a:t>将其取出打印；若存放到缓冲器中的是偶数，则由</a:t>
            </a:r>
            <a:r>
              <a:rPr lang="en-US" altLang="zh-CN" sz="2200" b="0" dirty="0" smtClean="0">
                <a:sym typeface="+mn-ea"/>
              </a:rPr>
              <a:t>W2</a:t>
            </a:r>
            <a:r>
              <a:rPr lang="zh-CN" altLang="en-US" sz="2200" b="0" dirty="0" smtClean="0">
                <a:sym typeface="+mn-ea"/>
              </a:rPr>
              <a:t>将其取出打印。要求用</a:t>
            </a:r>
            <a:r>
              <a:rPr lang="en-US" altLang="zh-CN" sz="2200" b="0" dirty="0" smtClean="0">
                <a:sym typeface="+mn-ea"/>
              </a:rPr>
              <a:t>PV</a:t>
            </a:r>
            <a:r>
              <a:rPr lang="zh-CN" altLang="en-US" sz="2200" b="0" dirty="0" smtClean="0">
                <a:sym typeface="+mn-ea"/>
              </a:rPr>
              <a:t>操作管理这三个并发进程，使它们能正确地同步工作。</a:t>
            </a:r>
            <a:endParaRPr lang="zh-CN" altLang="en-US" sz="2200" b="0" dirty="0" smtClean="0">
              <a:sym typeface="+mn-ea"/>
            </a:endParaRPr>
          </a:p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200" dirty="0">
                <a:solidFill>
                  <a:srgbClr val="000000"/>
                </a:solidFill>
                <a:sym typeface="+mn-ea"/>
              </a:rPr>
              <a:t>桌上有一空盘，允许存放一个水果。爸爸可向盘中放苹果，妈妈可向盘中放桔子。女儿专等吃盘中的苹果，儿子专等吃盘中的桔子。只要盘子空爸爸或妈妈可向盘中放一个水果。用</a:t>
            </a:r>
            <a:r>
              <a:rPr lang="en-US" altLang="zh-CN" sz="2200" dirty="0">
                <a:solidFill>
                  <a:srgbClr val="000000"/>
                </a:solidFill>
                <a:sym typeface="+mn-ea"/>
              </a:rPr>
              <a:t>PV</a:t>
            </a:r>
            <a:r>
              <a:rPr lang="zh-CN" altLang="en-US" sz="2200" dirty="0">
                <a:solidFill>
                  <a:srgbClr val="000000"/>
                </a:solidFill>
                <a:sym typeface="+mn-ea"/>
              </a:rPr>
              <a:t>操作进行管理使他们能正确地执行。</a:t>
            </a:r>
            <a:endParaRPr lang="zh-CN" altLang="en-US" sz="22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第二章 内容总结</a:t>
            </a:r>
            <a:endParaRPr lang="zh-CN" altLang="zh-CN" sz="3600" dirty="0"/>
          </a:p>
        </p:txBody>
      </p:sp>
      <p:sp>
        <p:nvSpPr>
          <p:cNvPr id="677891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557020"/>
            <a:ext cx="8064500" cy="4953635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200" dirty="0" smtClean="0">
                <a:sym typeface="+mn-ea"/>
              </a:rPr>
              <a:t>某公司由生产车间和销售车间组成，生产车间生产产品并将产品放入仓库；销售车间从仓库中取出产品进行销售。若仓库中能存放</a:t>
            </a:r>
            <a:r>
              <a:rPr lang="en-US" altLang="zh-CN" sz="2200" dirty="0" smtClean="0">
                <a:sym typeface="+mn-ea"/>
              </a:rPr>
              <a:t>100</a:t>
            </a:r>
            <a:r>
              <a:rPr lang="zh-CN" altLang="en-US" sz="2200" dirty="0" smtClean="0">
                <a:sym typeface="+mn-ea"/>
              </a:rPr>
              <a:t>个产品，并且只有一台运输车辆供生产部门和销售部门运送货物，车上只能放一个产品，请使用</a:t>
            </a:r>
            <a:r>
              <a:rPr lang="en-US" altLang="zh-CN" sz="2200" dirty="0" smtClean="0">
                <a:sym typeface="+mn-ea"/>
              </a:rPr>
              <a:t>wait</a:t>
            </a:r>
            <a:r>
              <a:rPr lang="zh-CN" altLang="en-US" sz="2200" dirty="0" smtClean="0">
                <a:sym typeface="+mn-ea"/>
              </a:rPr>
              <a:t>和</a:t>
            </a:r>
            <a:r>
              <a:rPr lang="en-US" altLang="zh-CN" sz="2200" dirty="0" smtClean="0">
                <a:sym typeface="+mn-ea"/>
              </a:rPr>
              <a:t>signal</a:t>
            </a:r>
            <a:r>
              <a:rPr lang="zh-CN" altLang="en-US" sz="2200" dirty="0" smtClean="0">
                <a:sym typeface="+mn-ea"/>
              </a:rPr>
              <a:t>原语描述上述过程。</a:t>
            </a:r>
            <a:r>
              <a:rPr lang="zh-CN" altLang="en-US" sz="2200" b="0" dirty="0" smtClean="0">
                <a:sym typeface="+mn-ea"/>
              </a:rPr>
              <a:t>。</a:t>
            </a:r>
            <a:endParaRPr lang="zh-CN" altLang="en-US" sz="2200" b="0" dirty="0" smtClean="0">
              <a:sym typeface="+mn-ea"/>
            </a:endParaRPr>
          </a:p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某工厂有两个生产车间和一个装配车间，两个生产车间分别生产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A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、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B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两种零件，装配车间的任务是将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A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、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B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组合到一起成为产品。两个车间每生产一个零件后，都要把它们送到装配车间的货架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F1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、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F2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上。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F1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存放零件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A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，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F2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存放零件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B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，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F1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和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F2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的容量均存放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10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个零件。装配工人每次从货架取一个零件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A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和一个零件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B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后组装成产品。请用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wait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、</a:t>
            </a:r>
            <a:r>
              <a:rPr lang="en-US" altLang="zh-CN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signal</a:t>
            </a:r>
            <a:r>
              <a:rPr lang="zh-CN" altLang="en-US"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操作进行正确管理。</a:t>
            </a:r>
            <a:endParaRPr lang="zh-CN" altLang="en-US" sz="2200" b="0" dirty="0">
              <a:solidFill>
                <a:schemeClr val="bg2"/>
              </a:solidFill>
              <a:latin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第二章 内容总结</a:t>
            </a:r>
            <a:endParaRPr lang="zh-CN" altLang="zh-CN" sz="3600" dirty="0"/>
          </a:p>
        </p:txBody>
      </p:sp>
      <p:sp>
        <p:nvSpPr>
          <p:cNvPr id="677891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557020"/>
            <a:ext cx="8064500" cy="4953635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）某小型超级市场，可容纳50人同时购物。入口处备有篮子，每个购物者从入口入内购物，在出口处结帐（出口和入口禁止多人同时通过）。</a:t>
            </a:r>
            <a:r>
              <a:rPr lang="zh-CN" altLang="en-US" sz="2200" dirty="0" smtClean="0">
                <a:sym typeface="+mn-ea"/>
              </a:rPr>
              <a:t>试用 wait(s)、signal(s)操作为同步机制写出它们并发执行时能正确工作的程序。</a:t>
            </a:r>
            <a:endParaRPr lang="zh-CN" altLang="en-US" sz="2200" b="0" dirty="0" smtClean="0">
              <a:sym typeface="+mn-ea"/>
            </a:endParaRPr>
          </a:p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）</a:t>
            </a:r>
            <a:r>
              <a:rPr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有n(n&gt;=3)名哲学家围坐在一张圆桌边，每名哲学家要进行就餐和思考。在圆桌中心有m(m&gt;1)个碗，每两名哲学家之间有一根筷子，即n个筷子。每名哲学家必须取到一个碗和两侧的筷子后，才能就餐，就餐完毕，将碗和筷子放回原处，继续思考。</a:t>
            </a:r>
            <a:endParaRPr sz="2200" dirty="0" smtClean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为使尽可能多的哲学家同时进餐，且防止出现死锁现象，请使用信号量的PV操作描述上述过程中的同步与互斥。</a:t>
            </a:r>
            <a:endParaRPr sz="2200" dirty="0" smtClean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  <a:p>
            <a:pPr marL="0" lvl="0" indent="0" algn="just" defTabSz="62547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sz="2200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提示：分m&lt;n和m&gt;=n两种情况考虑。若m&lt;n 则系统并发度为m，若m&gt;=n则系统并发度控制为n-1。</a:t>
            </a:r>
            <a:endParaRPr sz="2200" dirty="0" smtClean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第二章 内容总结</a:t>
            </a:r>
            <a:endParaRPr lang="zh-CN" altLang="zh-CN" sz="3600" dirty="0"/>
          </a:p>
        </p:txBody>
      </p:sp>
      <p:sp>
        <p:nvSpPr>
          <p:cNvPr id="677891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557020"/>
            <a:ext cx="8064500" cy="4953635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indent="0" algn="just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吸烟者问题：假设一个系统有</a:t>
            </a:r>
            <a:r>
              <a:rPr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3</a:t>
            </a:r>
            <a:r>
              <a:rPr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个抽烟者进程和一个供应者进程。</a:t>
            </a:r>
            <a:endParaRPr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微软雅黑" panose="020B0503020204020204" charset="-122"/>
            </a:endParaRPr>
          </a:p>
          <a:p>
            <a:pPr marL="727075" lvl="1" indent="-269875" algn="just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每个抽烟者进程不停地卷烟并抽掉它，但要卷起并抽掉一只烟，抽烟者需要三种材料：烟草、纸、胶水。</a:t>
            </a:r>
            <a:endParaRPr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微软雅黑" panose="020B0503020204020204" charset="-122"/>
            </a:endParaRPr>
          </a:p>
          <a:p>
            <a:pPr marL="727075" lvl="1" indent="-269875" algn="just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三个抽烟者中，第一个有烟草，第二个有纸，第三个有胶水。</a:t>
            </a:r>
            <a:endParaRPr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微软雅黑" panose="020B0503020204020204" charset="-122"/>
            </a:endParaRPr>
          </a:p>
          <a:p>
            <a:pPr marL="727075" lvl="1" indent="-269875" algn="just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供应者进程无限地供应三种原料，供应者每次随机将两种材料放到桌子上，并通知缺这两种材料的抽烟者。</a:t>
            </a:r>
            <a:endParaRPr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微软雅黑" panose="020B0503020204020204" charset="-122"/>
            </a:endParaRPr>
          </a:p>
          <a:p>
            <a:pPr marL="727075" lvl="1" indent="-269875" algn="just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相应抽烟者取走供应的材料后卷烟并抽掉，并通知供应商已完成，供应商再次随机供应两种原材料。</a:t>
            </a:r>
            <a:endParaRPr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微软雅黑" panose="020B0503020204020204" charset="-122"/>
            </a:endParaRPr>
          </a:p>
          <a:p>
            <a:pPr marL="727075" lvl="1" indent="-269875" algn="just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请使用</a:t>
            </a:r>
            <a:r>
              <a:rPr lang="en-US" altLang="zh-CN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PV</a:t>
            </a:r>
            <a:r>
              <a:rPr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操作实现上述同步。</a:t>
            </a:r>
            <a:endParaRPr lang="en-US" altLang="zh-CN" sz="220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微软雅黑" panose="020B0503020204020204" charset="-122"/>
            </a:endParaRPr>
          </a:p>
          <a:p>
            <a:pPr algn="just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提示：</a:t>
            </a:r>
            <a:r>
              <a:rPr lang="zh-CN" alt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微软雅黑" panose="020B0503020204020204" charset="-122"/>
              </a:rPr>
              <a:t>供应者进程根据随机数投放原料、发出通知。</a:t>
            </a:r>
            <a:endParaRPr sz="2200" dirty="0" smtClean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 vert="horz" wrap="square" lIns="92075" tIns="46038" rIns="92075" bIns="46038" anchor="b" anchorCtr="0"/>
          <a:lstStyle/>
          <a:p>
            <a:pPr eaLnBrk="1" hangingPunct="1"/>
            <a:r>
              <a:rPr lang="zh-CN" altLang="en-US" sz="3600" dirty="0"/>
              <a:t>第二章 内容总结</a:t>
            </a:r>
            <a:endParaRPr lang="zh-CN" altLang="zh-CN" sz="3600" dirty="0"/>
          </a:p>
        </p:txBody>
      </p:sp>
      <p:sp>
        <p:nvSpPr>
          <p:cNvPr id="677891" name="Rectangle 3"/>
          <p:cNvSpPr>
            <a:spLocks noGrp="1"/>
          </p:cNvSpPr>
          <p:nvPr>
            <p:ph type="body" sz="half" idx="2"/>
          </p:nvPr>
        </p:nvSpPr>
        <p:spPr>
          <a:xfrm>
            <a:off x="611505" y="1557020"/>
            <a:ext cx="8064500" cy="4953635"/>
          </a:xfrm>
          <a:solidFill>
            <a:schemeClr val="bg1"/>
          </a:solidFill>
        </p:spPr>
        <p:txBody>
          <a:bodyPr vert="horz" wrap="square" lIns="92075" tIns="46038" rIns="92075" bIns="46038" anchor="t" anchorCtr="0"/>
          <a:lstStyle/>
          <a:p>
            <a:pPr marL="0" indent="0" algn="just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None/>
            </a:pP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200" b="0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对于</a:t>
            </a:r>
            <a:r>
              <a:rPr lang="zh-CN" altLang="en-US" sz="2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读者</a:t>
            </a:r>
            <a:r>
              <a:rPr lang="en-US" altLang="zh-CN" sz="2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—</a:t>
            </a:r>
            <a:r>
              <a:rPr lang="zh-CN" altLang="en-US" sz="2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写</a:t>
            </a:r>
            <a:r>
              <a:rPr lang="zh-CN" alt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者问题（读者优先）算法修改，实现只允许</a:t>
            </a:r>
            <a:r>
              <a:rPr lang="en-US" altLang="zh-CN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个读者</a:t>
            </a:r>
            <a:r>
              <a:rPr lang="zh-CN" altLang="en-US" sz="2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同时读文件</a:t>
            </a:r>
            <a:r>
              <a:rPr lang="en-US" altLang="zh-CN" sz="2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F</a:t>
            </a:r>
            <a:r>
              <a:rPr lang="zh-CN" altLang="en-US" sz="22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。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试用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wait(s)、signal(s)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操作为同步机制写出它们并发执行时能正确工作的程序。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spcBef>
                <a:spcPct val="30000"/>
              </a:spcBef>
              <a:buClr>
                <a:schemeClr val="tx1"/>
              </a:buClr>
              <a:buNone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200" dirty="0" smtClean="0">
                <a:sym typeface="+mn-ea"/>
              </a:rPr>
              <a:t>有两组读进程共享文件</a:t>
            </a:r>
            <a:r>
              <a:rPr lang="en-US" altLang="zh-CN" sz="2200" dirty="0" smtClean="0">
                <a:sym typeface="+mn-ea"/>
              </a:rPr>
              <a:t>F，</a:t>
            </a:r>
            <a:r>
              <a:rPr lang="zh-CN" altLang="en-US" sz="2200" dirty="0" smtClean="0">
                <a:sym typeface="+mn-ea"/>
              </a:rPr>
              <a:t>现规定：同一组的读进程可以同时读共享文件</a:t>
            </a:r>
            <a:r>
              <a:rPr lang="en-US" altLang="zh-CN" sz="2200" dirty="0" smtClean="0">
                <a:sym typeface="+mn-ea"/>
              </a:rPr>
              <a:t>F，</a:t>
            </a:r>
            <a:r>
              <a:rPr lang="zh-CN" altLang="en-US" sz="2200" dirty="0" smtClean="0">
                <a:sym typeface="+mn-ea"/>
              </a:rPr>
              <a:t>不同组的进程互斥访问共享文件</a:t>
            </a:r>
            <a:r>
              <a:rPr lang="en-US" altLang="zh-CN" sz="2200" dirty="0" smtClean="0">
                <a:sym typeface="+mn-ea"/>
              </a:rPr>
              <a:t>F。</a:t>
            </a:r>
            <a:r>
              <a:rPr lang="zh-CN" altLang="en-US" sz="2200" dirty="0">
                <a:sym typeface="+mn-ea"/>
              </a:rPr>
              <a:t>试用 </a:t>
            </a:r>
            <a:r>
              <a:rPr lang="en-US" altLang="zh-CN" sz="2200" dirty="0">
                <a:sym typeface="+mn-ea"/>
              </a:rPr>
              <a:t>wait(s)</a:t>
            </a:r>
            <a:r>
              <a:rPr lang="zh-CN" altLang="en-US" sz="2200" dirty="0">
                <a:sym typeface="+mn-ea"/>
              </a:rPr>
              <a:t>、</a:t>
            </a:r>
            <a:r>
              <a:rPr lang="en-US" altLang="zh-CN" sz="2200" dirty="0">
                <a:sym typeface="+mn-ea"/>
              </a:rPr>
              <a:t>signal(s)</a:t>
            </a:r>
            <a:r>
              <a:rPr lang="zh-CN" altLang="en-US" sz="2200" dirty="0">
                <a:sym typeface="+mn-ea"/>
              </a:rPr>
              <a:t>操作为同步机制写出它们并发执行时能正确工作的程序。</a:t>
            </a:r>
            <a:endParaRPr lang="zh-CN" altLang="en-US" sz="2200" dirty="0">
              <a:sym typeface="+mn-ea"/>
            </a:endParaRPr>
          </a:p>
          <a:p>
            <a:pPr marL="0" indent="0" algn="just">
              <a:spcBef>
                <a:spcPct val="30000"/>
              </a:spcBef>
              <a:buClr>
                <a:schemeClr val="tx1"/>
              </a:buClr>
              <a:buNone/>
            </a:pPr>
            <a:r>
              <a:rPr lang="zh-CN" altLang="en-US" sz="2200" dirty="0">
                <a:sym typeface="+mn-ea"/>
              </a:rPr>
              <a:t>（</a:t>
            </a:r>
            <a:r>
              <a:rPr lang="en-US" altLang="zh-CN" sz="2200" dirty="0">
                <a:sym typeface="+mn-ea"/>
              </a:rPr>
              <a:t>10</a:t>
            </a:r>
            <a:r>
              <a:rPr lang="zh-CN" altLang="en-US" sz="2200" dirty="0">
                <a:sym typeface="+mn-ea"/>
              </a:rPr>
              <a:t>）根据对写者优先的分析，试用 wait(s)、signal(s)操作为同步机制写出实现写者优先的进程描述。</a:t>
            </a:r>
            <a:endParaRPr lang="zh-CN" altLang="en-US" sz="2200" dirty="0">
              <a:sym typeface="+mn-ea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</a:pPr>
            <a:endParaRPr lang="zh-CN" altLang="en-US" sz="22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2200" dirty="0" smtClean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7801,&quot;width&quot;:12700}"/>
</p:tagLst>
</file>

<file path=ppt/tags/tag2.xml><?xml version="1.0" encoding="utf-8"?>
<p:tagLst xmlns:p="http://schemas.openxmlformats.org/presentationml/2006/main">
  <p:tag name="COMMONDATA" val="eyJoZGlkIjoiYzJlZWY4MzUzZWZhM2MzY2E5NzViMGM0MzA5ZjhkOGUifQ=="/>
</p:tagLst>
</file>

<file path=ppt/theme/theme1.xml><?xml version="1.0" encoding="utf-8"?>
<a:theme xmlns:a="http://schemas.openxmlformats.org/drawingml/2006/main" name="个人主页 (标准)">
  <a:themeElements>
    <a:clrScheme name="">
      <a:dk1>
        <a:srgbClr val="000000"/>
      </a:dk1>
      <a:lt1>
        <a:srgbClr val="EBFFF5"/>
      </a:lt1>
      <a:dk2>
        <a:srgbClr val="0000FF"/>
      </a:dk2>
      <a:lt2>
        <a:srgbClr val="000000"/>
      </a:lt2>
      <a:accent1>
        <a:srgbClr val="000000"/>
      </a:accent1>
      <a:accent2>
        <a:srgbClr val="336699"/>
      </a:accent2>
      <a:accent3>
        <a:srgbClr val="F3FFF9"/>
      </a:accent3>
      <a:accent4>
        <a:srgbClr val="000000"/>
      </a:accent4>
      <a:accent5>
        <a:srgbClr val="AAAAAA"/>
      </a:accent5>
      <a:accent6>
        <a:srgbClr val="2D5C8A"/>
      </a:accent6>
      <a:hlink>
        <a:srgbClr val="E2FEEB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FF9933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5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6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DDDD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1972</Words>
  <Application>WPS 演示</Application>
  <PresentationFormat>全屏显示(4:3)</PresentationFormat>
  <Paragraphs>91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微软雅黑</vt:lpstr>
      <vt:lpstr>Arial Unicode MS</vt:lpstr>
      <vt:lpstr>个人主页 (标准)</vt:lpstr>
      <vt:lpstr>第二章 内容总结</vt:lpstr>
      <vt:lpstr>第二章 内容总结</vt:lpstr>
      <vt:lpstr>第二章 内容总结</vt:lpstr>
      <vt:lpstr>第二章 内容总结</vt:lpstr>
      <vt:lpstr>第二章 内容总结</vt:lpstr>
      <vt:lpstr>第二章 内容总结</vt:lpstr>
      <vt:lpstr>第二章 内容总结</vt:lpstr>
      <vt:lpstr>第二章 内容总结</vt:lpstr>
      <vt:lpstr>第二章 内容总结</vt:lpstr>
      <vt:lpstr>第二章 内容总结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Alice</cp:lastModifiedBy>
  <cp:revision>1298</cp:revision>
  <cp:lastPrinted>1995-12-08T18:33:00Z</cp:lastPrinted>
  <dcterms:created xsi:type="dcterms:W3CDTF">2000-10-31T09:27:00Z</dcterms:created>
  <dcterms:modified xsi:type="dcterms:W3CDTF">2022-09-12T06:37:24Z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23D6D8B536A74E0FB79E49D51790280C</vt:lpwstr>
  </property>
  <property fmtid="{D5CDD505-2E9C-101B-9397-08002B2CF9AE}" pid="3" name="KSOProductBuildVer">
    <vt:lpwstr>2052-11.1.0.12358</vt:lpwstr>
  </property>
</Properties>
</file>