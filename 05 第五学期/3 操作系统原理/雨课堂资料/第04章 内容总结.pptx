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18"/>
  </p:notesMasterIdLst>
  <p:handoutMasterIdLst>
    <p:handoutMasterId r:id="rId19"/>
  </p:handoutMasterIdLst>
  <p:sldIdLst>
    <p:sldId id="874" r:id="rId4"/>
    <p:sldId id="1051" r:id="rId5"/>
    <p:sldId id="1052" r:id="rId6"/>
    <p:sldId id="1053" r:id="rId7"/>
    <p:sldId id="1054" r:id="rId8"/>
    <p:sldId id="1055" r:id="rId9"/>
    <p:sldId id="1056" r:id="rId10"/>
    <p:sldId id="1057" r:id="rId11"/>
    <p:sldId id="1058" r:id="rId12"/>
    <p:sldId id="1060" r:id="rId13"/>
    <p:sldId id="1059" r:id="rId14"/>
    <p:sldId id="1061" r:id="rId15"/>
    <p:sldId id="1062" r:id="rId16"/>
    <p:sldId id="1063" r:id="rId17"/>
  </p:sldIdLst>
  <p:sldSz cx="9144000" cy="6858000" type="screen4x3"/>
  <p:notesSz cx="6934200" cy="9398000"/>
  <p:custDataLst>
    <p:tags r:id="rId2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CCFF"/>
    <a:srgbClr val="CCECFF"/>
    <a:srgbClr val="D804DF"/>
    <a:srgbClr val="FF0000"/>
    <a:srgbClr val="DFC0FF"/>
    <a:srgbClr val="FFCCFF"/>
    <a:srgbClr val="FFCC00"/>
    <a:srgbClr val="000099"/>
    <a:srgbClr val="CC99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86" autoAdjust="0"/>
    <p:restoredTop sz="81031" autoAdjust="0"/>
  </p:normalViewPr>
  <p:slideViewPr>
    <p:cSldViewPr>
      <p:cViewPr varScale="1">
        <p:scale>
          <a:sx n="66" d="100"/>
          <a:sy n="66" d="100"/>
        </p:scale>
        <p:origin x="1757" y="53"/>
      </p:cViewPr>
      <p:guideLst>
        <p:guide orient="horz" pos="211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6" d="100"/>
          <a:sy n="36" d="100"/>
        </p:scale>
        <p:origin x="-1104" y="-58"/>
      </p:cViewPr>
      <p:guideLst>
        <p:guide orient="horz" pos="2904"/>
        <p:guide pos="2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0FB40E95-1EAE-4B5A-9F3B-FE7BAC654466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 b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3011" name="Rectangle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079500" y="685800"/>
            <a:ext cx="4775200" cy="3581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/>
            </a:lvl1pPr>
          </a:lstStyle>
          <a:p>
            <a:pPr>
              <a:defRPr/>
            </a:pPr>
            <a:fld id="{A803F06C-7E6E-4A48-829E-91FD3C6225A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5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6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7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>
              <a:solidFill>
                <a:srgbClr val="000000"/>
              </a:solidFill>
            </a:endParaRPr>
          </a:p>
        </p:txBody>
      </p:sp>
      <p:grpSp>
        <p:nvGrpSpPr>
          <p:cNvPr id="8" name="Group 27"/>
          <p:cNvGrpSpPr/>
          <p:nvPr/>
        </p:nvGrpSpPr>
        <p:grpSpPr bwMode="auto"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9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1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2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3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4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</p:grpSp>
      <p:sp>
        <p:nvSpPr>
          <p:cNvPr id="15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quarter" idx="10"/>
          </p:nvPr>
        </p:nvSpPr>
        <p:spPr>
          <a:xfrm>
            <a:off x="76200" y="6323013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005D87B-FCB5-4E49-8F3E-049400506735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BC792-FA95-4140-8521-C460FC99F71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488DC-BA75-48E7-95AA-5BD68E2CE0AD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700213"/>
            <a:ext cx="3810000" cy="44656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00213"/>
            <a:ext cx="3810000" cy="44656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2CDD3-CD15-4ACF-97D3-33286165A1DF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7A8026-C3E1-44BC-90FA-91B0CB0BA6A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1DF45-650C-4791-8724-9D081E977778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C3970-EF7C-4065-A544-2B42996D11F6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8EE60-2480-4FE7-B475-0C451312D315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EE9AAC-1921-4A5B-B886-95FC41E4A84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DC0F4-FCFC-44A4-9F5E-44C07F8E10E3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9372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9372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275B7-5908-4EF6-85D0-B28B6BF32CE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700213"/>
            <a:ext cx="3810000" cy="44656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00213"/>
            <a:ext cx="3810000" cy="44656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7A9C7-A7B3-444D-B9BC-2FA7A2BCC78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5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6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7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>
              <a:solidFill>
                <a:srgbClr val="000000"/>
              </a:solidFill>
            </a:endParaRPr>
          </a:p>
        </p:txBody>
      </p:sp>
      <p:grpSp>
        <p:nvGrpSpPr>
          <p:cNvPr id="8" name="Group 27"/>
          <p:cNvGrpSpPr/>
          <p:nvPr/>
        </p:nvGrpSpPr>
        <p:grpSpPr bwMode="auto"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9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1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2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3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4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</p:grpSp>
      <p:sp>
        <p:nvSpPr>
          <p:cNvPr id="15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</a:ln>
          <a:effectLst/>
        </p:spPr>
        <p:txBody>
          <a:bodyPr wrap="none" lIns="92075" tIns="46038" rIns="92075" bIns="46038" anchor="ctr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quarter" idx="10"/>
          </p:nvPr>
        </p:nvSpPr>
        <p:spPr>
          <a:xfrm>
            <a:off x="76200" y="63230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81888-7991-45CB-A54B-C3B4F954B7A1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2A146-5768-457C-9833-FD2837740B4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C45D6-9693-448C-9729-2BD46E5EBFA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700213"/>
            <a:ext cx="3810000" cy="44656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00213"/>
            <a:ext cx="3810000" cy="44656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45B06-5A2C-4D3B-8199-C3F049CE135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BC73F-51F2-47F0-9B02-39DC81DDCB2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27DCA-576E-4B97-9EC9-577E865B1BEA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C1956-EE5E-4ABF-9F5C-EA3A911EF71F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081CB-388C-4CDE-950E-F5CA2432FD1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6A840-9E9B-4CFB-803F-8B203201639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FBBF4-42CD-410E-B778-0FF302A9A5B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9372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9372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D6551-5D01-4C5F-A3E5-62BE8E3AF4DF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700213"/>
            <a:ext cx="3810000" cy="44656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00213"/>
            <a:ext cx="3810000" cy="44656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3DBF4-4DCE-4A52-860F-6679C45AD99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00213"/>
            <a:ext cx="7772400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defRPr kumimoji="1" sz="1400" smtClean="0">
                <a:ea typeface="宋体" panose="02010600030101010101" pitchFamily="2" charset="-122"/>
              </a:defRPr>
            </a:lvl1pPr>
          </a:lstStyle>
          <a:p>
            <a:pPr eaLnBrk="1" hangingPunct="1"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kumimoji="1" sz="1400" smtClean="0">
                <a:ea typeface="宋体" panose="02010600030101010101" pitchFamily="2" charset="-122"/>
              </a:defRPr>
            </a:lvl1pPr>
          </a:lstStyle>
          <a:p>
            <a:pPr algn="ctr" eaLnBrk="1" hangingPunct="1"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kumimoji="1" sz="1400" smtClean="0">
                <a:ea typeface="宋体" panose="02010600030101010101" pitchFamily="2" charset="-122"/>
              </a:defRPr>
            </a:lvl1pPr>
          </a:lstStyle>
          <a:p>
            <a:pPr eaLnBrk="1" hangingPunct="1">
              <a:defRPr/>
            </a:pPr>
            <a:fld id="{E6F06AD5-6C7E-49E9-8D33-067E08C23F95}" type="slidenum">
              <a:rPr lang="zh-CN" altLang="en-US" b="0">
                <a:solidFill>
                  <a:srgbClr val="000000"/>
                </a:solidFill>
              </a:rPr>
            </a:fld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3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grpSp>
        <p:nvGrpSpPr>
          <p:cNvPr id="1031" name="Group 20"/>
          <p:cNvGrpSpPr/>
          <p:nvPr/>
        </p:nvGrpSpPr>
        <p:grpSpPr bwMode="auto"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</p:grpSp>
      <p:grpSp>
        <p:nvGrpSpPr>
          <p:cNvPr id="1032" name="Group 27"/>
          <p:cNvGrpSpPr/>
          <p:nvPr/>
        </p:nvGrpSpPr>
        <p:grpSpPr bwMode="auto">
          <a:xfrm>
            <a:off x="395288" y="1196975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/>
            <a:ahLst/>
            <a:cxnLst>
              <a:cxn ang="0">
                <a:pos x="350" y="1"/>
              </a:cxn>
              <a:cxn ang="0">
                <a:pos x="101" y="0"/>
              </a:cxn>
              <a:cxn ang="0">
                <a:pos x="81" y="2"/>
              </a:cxn>
              <a:cxn ang="0">
                <a:pos x="67" y="6"/>
              </a:cxn>
              <a:cxn ang="0">
                <a:pos x="51" y="15"/>
              </a:cxn>
              <a:cxn ang="0">
                <a:pos x="38" y="25"/>
              </a:cxn>
              <a:cxn ang="0">
                <a:pos x="28" y="35"/>
              </a:cxn>
              <a:cxn ang="0">
                <a:pos x="19" y="48"/>
              </a:cxn>
              <a:cxn ang="0">
                <a:pos x="12" y="59"/>
              </a:cxn>
              <a:cxn ang="0">
                <a:pos x="6" y="73"/>
              </a:cxn>
              <a:cxn ang="0">
                <a:pos x="1" y="89"/>
              </a:cxn>
              <a:cxn ang="0">
                <a:pos x="1" y="99"/>
              </a:cxn>
              <a:cxn ang="0">
                <a:pos x="0" y="119"/>
              </a:cxn>
              <a:cxn ang="0">
                <a:pos x="2" y="136"/>
              </a:cxn>
              <a:cxn ang="0">
                <a:pos x="9" y="150"/>
              </a:cxn>
              <a:cxn ang="0">
                <a:pos x="15" y="164"/>
              </a:cxn>
              <a:cxn ang="0">
                <a:pos x="24" y="176"/>
              </a:cxn>
              <a:cxn ang="0">
                <a:pos x="33" y="189"/>
              </a:cxn>
              <a:cxn ang="0">
                <a:pos x="46" y="198"/>
              </a:cxn>
              <a:cxn ang="0">
                <a:pos x="59" y="207"/>
              </a:cxn>
              <a:cxn ang="0">
                <a:pos x="72" y="212"/>
              </a:cxn>
              <a:cxn ang="0">
                <a:pos x="90" y="218"/>
              </a:cxn>
              <a:cxn ang="0">
                <a:pos x="350" y="218"/>
              </a:cxn>
              <a:cxn ang="0">
                <a:pos x="350" y="1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1" hangingPunct="1">
              <a:defRPr/>
            </a:pPr>
            <a:endParaRPr kumimoji="0"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49" y="0"/>
              </a:cxn>
              <a:cxn ang="0">
                <a:pos x="268" y="3"/>
              </a:cxn>
              <a:cxn ang="0">
                <a:pos x="283" y="6"/>
              </a:cxn>
              <a:cxn ang="0">
                <a:pos x="298" y="16"/>
              </a:cxn>
              <a:cxn ang="0">
                <a:pos x="311" y="26"/>
              </a:cxn>
              <a:cxn ang="0">
                <a:pos x="321" y="35"/>
              </a:cxn>
              <a:cxn ang="0">
                <a:pos x="331" y="48"/>
              </a:cxn>
              <a:cxn ang="0">
                <a:pos x="337" y="60"/>
              </a:cxn>
              <a:cxn ang="0">
                <a:pos x="344" y="74"/>
              </a:cxn>
              <a:cxn ang="0">
                <a:pos x="349" y="90"/>
              </a:cxn>
              <a:cxn ang="0">
                <a:pos x="349" y="100"/>
              </a:cxn>
              <a:cxn ang="0">
                <a:pos x="350" y="119"/>
              </a:cxn>
              <a:cxn ang="0">
                <a:pos x="347" y="136"/>
              </a:cxn>
              <a:cxn ang="0">
                <a:pos x="341" y="151"/>
              </a:cxn>
              <a:cxn ang="0">
                <a:pos x="334" y="165"/>
              </a:cxn>
              <a:cxn ang="0">
                <a:pos x="325" y="176"/>
              </a:cxn>
              <a:cxn ang="0">
                <a:pos x="316" y="189"/>
              </a:cxn>
              <a:cxn ang="0">
                <a:pos x="303" y="199"/>
              </a:cxn>
              <a:cxn ang="0">
                <a:pos x="290" y="208"/>
              </a:cxn>
              <a:cxn ang="0">
                <a:pos x="277" y="213"/>
              </a:cxn>
              <a:cxn ang="0">
                <a:pos x="259" y="218"/>
              </a:cxn>
              <a:cxn ang="0">
                <a:pos x="0" y="218"/>
              </a:cxn>
              <a:cxn ang="0">
                <a:pos x="0" y="1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1" hangingPunct="1">
              <a:defRPr/>
            </a:pPr>
            <a:endParaRPr kumimoji="0" lang="zh-CN" altLang="en-US" sz="2400" b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q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{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00213"/>
            <a:ext cx="7772400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defRPr kumimoji="1" sz="1400">
                <a:ea typeface="宋体" panose="02010600030101010101" pitchFamily="2" charset="-122"/>
              </a:defRPr>
            </a:lvl1pPr>
          </a:lstStyle>
          <a:p>
            <a:pPr eaLnBrk="1" hangingPunct="1"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kumimoji="1" sz="1400">
                <a:ea typeface="宋体" panose="02010600030101010101" pitchFamily="2" charset="-122"/>
              </a:defRPr>
            </a:lvl1pPr>
          </a:lstStyle>
          <a:p>
            <a:pPr algn="ctr" eaLnBrk="1" hangingPunct="1"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kumimoji="1" sz="1400">
                <a:ea typeface="宋体" panose="02010600030101010101" pitchFamily="2" charset="-122"/>
              </a:defRPr>
            </a:lvl1pPr>
          </a:lstStyle>
          <a:p>
            <a:pPr eaLnBrk="1" hangingPunct="1">
              <a:defRPr/>
            </a:pPr>
            <a:fld id="{B6711635-D208-4A57-9DDF-40C9D712F46C}" type="slidenum">
              <a:rPr lang="zh-CN" altLang="en-US" b="0">
                <a:solidFill>
                  <a:srgbClr val="000000"/>
                </a:solidFill>
              </a:rPr>
            </a:fld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3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grpSp>
        <p:nvGrpSpPr>
          <p:cNvPr id="1031" name="Group 20"/>
          <p:cNvGrpSpPr/>
          <p:nvPr/>
        </p:nvGrpSpPr>
        <p:grpSpPr bwMode="auto"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 wrap="none" lIns="92075" tIns="46038" rIns="92075" bIns="46038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</p:grpSp>
      <p:grpSp>
        <p:nvGrpSpPr>
          <p:cNvPr id="1032" name="Group 27"/>
          <p:cNvGrpSpPr/>
          <p:nvPr/>
        </p:nvGrpSpPr>
        <p:grpSpPr bwMode="auto">
          <a:xfrm>
            <a:off x="395288" y="1196975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 sz="2400" b="0">
                <a:solidFill>
                  <a:srgbClr val="000000"/>
                </a:solidFill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/>
            <a:ahLst/>
            <a:cxnLst>
              <a:cxn ang="0">
                <a:pos x="350" y="1"/>
              </a:cxn>
              <a:cxn ang="0">
                <a:pos x="101" y="0"/>
              </a:cxn>
              <a:cxn ang="0">
                <a:pos x="81" y="2"/>
              </a:cxn>
              <a:cxn ang="0">
                <a:pos x="67" y="6"/>
              </a:cxn>
              <a:cxn ang="0">
                <a:pos x="51" y="15"/>
              </a:cxn>
              <a:cxn ang="0">
                <a:pos x="38" y="25"/>
              </a:cxn>
              <a:cxn ang="0">
                <a:pos x="28" y="35"/>
              </a:cxn>
              <a:cxn ang="0">
                <a:pos x="19" y="48"/>
              </a:cxn>
              <a:cxn ang="0">
                <a:pos x="12" y="59"/>
              </a:cxn>
              <a:cxn ang="0">
                <a:pos x="6" y="73"/>
              </a:cxn>
              <a:cxn ang="0">
                <a:pos x="1" y="89"/>
              </a:cxn>
              <a:cxn ang="0">
                <a:pos x="1" y="99"/>
              </a:cxn>
              <a:cxn ang="0">
                <a:pos x="0" y="119"/>
              </a:cxn>
              <a:cxn ang="0">
                <a:pos x="2" y="136"/>
              </a:cxn>
              <a:cxn ang="0">
                <a:pos x="9" y="150"/>
              </a:cxn>
              <a:cxn ang="0">
                <a:pos x="15" y="164"/>
              </a:cxn>
              <a:cxn ang="0">
                <a:pos x="24" y="176"/>
              </a:cxn>
              <a:cxn ang="0">
                <a:pos x="33" y="189"/>
              </a:cxn>
              <a:cxn ang="0">
                <a:pos x="46" y="198"/>
              </a:cxn>
              <a:cxn ang="0">
                <a:pos x="59" y="207"/>
              </a:cxn>
              <a:cxn ang="0">
                <a:pos x="72" y="212"/>
              </a:cxn>
              <a:cxn ang="0">
                <a:pos x="90" y="218"/>
              </a:cxn>
              <a:cxn ang="0">
                <a:pos x="350" y="218"/>
              </a:cxn>
              <a:cxn ang="0">
                <a:pos x="350" y="1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1" hangingPunct="1">
              <a:defRPr/>
            </a:pPr>
            <a:endParaRPr kumimoji="0" lang="zh-CN" altLang="en-US" sz="2400" b="0">
              <a:solidFill>
                <a:srgbClr val="000000"/>
              </a:solidFill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249" y="0"/>
              </a:cxn>
              <a:cxn ang="0">
                <a:pos x="268" y="3"/>
              </a:cxn>
              <a:cxn ang="0">
                <a:pos x="283" y="6"/>
              </a:cxn>
              <a:cxn ang="0">
                <a:pos x="298" y="16"/>
              </a:cxn>
              <a:cxn ang="0">
                <a:pos x="311" y="26"/>
              </a:cxn>
              <a:cxn ang="0">
                <a:pos x="321" y="35"/>
              </a:cxn>
              <a:cxn ang="0">
                <a:pos x="331" y="48"/>
              </a:cxn>
              <a:cxn ang="0">
                <a:pos x="337" y="60"/>
              </a:cxn>
              <a:cxn ang="0">
                <a:pos x="344" y="74"/>
              </a:cxn>
              <a:cxn ang="0">
                <a:pos x="349" y="90"/>
              </a:cxn>
              <a:cxn ang="0">
                <a:pos x="349" y="100"/>
              </a:cxn>
              <a:cxn ang="0">
                <a:pos x="350" y="119"/>
              </a:cxn>
              <a:cxn ang="0">
                <a:pos x="347" y="136"/>
              </a:cxn>
              <a:cxn ang="0">
                <a:pos x="341" y="151"/>
              </a:cxn>
              <a:cxn ang="0">
                <a:pos x="334" y="165"/>
              </a:cxn>
              <a:cxn ang="0">
                <a:pos x="325" y="176"/>
              </a:cxn>
              <a:cxn ang="0">
                <a:pos x="316" y="189"/>
              </a:cxn>
              <a:cxn ang="0">
                <a:pos x="303" y="199"/>
              </a:cxn>
              <a:cxn ang="0">
                <a:pos x="290" y="208"/>
              </a:cxn>
              <a:cxn ang="0">
                <a:pos x="277" y="213"/>
              </a:cxn>
              <a:cxn ang="0">
                <a:pos x="259" y="218"/>
              </a:cxn>
              <a:cxn ang="0">
                <a:pos x="0" y="218"/>
              </a:cxn>
              <a:cxn ang="0">
                <a:pos x="0" y="1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1" hangingPunct="1">
              <a:defRPr/>
            </a:pPr>
            <a:endParaRPr kumimoji="0" lang="zh-CN" altLang="en-US" sz="2400" b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q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{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</p:spPr>
        <p:txBody>
          <a:bodyPr/>
          <a:lstStyle/>
          <a:p>
            <a:pPr marL="0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</a:pPr>
            <a:r>
              <a:rPr lang="zh-CN" altLang="en-US" sz="2400" b="0" dirty="0">
                <a:latin typeface="Times New Roman" panose="02020603050405020304" pitchFamily="18" charset="0"/>
              </a:rPr>
              <a:t>存储器的层次结构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b="0" dirty="0">
                <a:latin typeface="Times New Roman" panose="02020603050405020304" pitchFamily="18" charset="0"/>
              </a:rPr>
              <a:t>普通</a:t>
            </a:r>
            <a:r>
              <a:rPr lang="en-US" altLang="zh-CN" sz="2400" b="0" dirty="0">
                <a:latin typeface="Times New Roman" panose="02020603050405020304" pitchFamily="18" charset="0"/>
              </a:rPr>
              <a:t>3</a:t>
            </a:r>
            <a:r>
              <a:rPr lang="zh-CN" altLang="en-US" sz="2400" b="0" dirty="0">
                <a:latin typeface="Times New Roman" panose="02020603050405020304" pitchFamily="18" charset="0"/>
              </a:rPr>
              <a:t>层、高级</a:t>
            </a:r>
            <a:r>
              <a:rPr lang="en-US" altLang="zh-CN" sz="2400" b="0" dirty="0">
                <a:latin typeface="Times New Roman" panose="02020603050405020304" pitchFamily="18" charset="0"/>
              </a:rPr>
              <a:t>6</a:t>
            </a:r>
            <a:r>
              <a:rPr lang="zh-CN" altLang="en-US" sz="2400" b="0" dirty="0">
                <a:latin typeface="Times New Roman" panose="02020603050405020304" pitchFamily="18" charset="0"/>
              </a:rPr>
              <a:t>层：各层的作用是什么</a:t>
            </a:r>
            <a:r>
              <a:rPr lang="en-US" altLang="zh-CN" sz="2400" b="0" dirty="0">
                <a:latin typeface="Times New Roman" panose="02020603050405020304" pitchFamily="18" charset="0"/>
              </a:rPr>
              <a:t>——</a:t>
            </a:r>
            <a:r>
              <a:rPr lang="zh-CN" altLang="en-US" sz="2400" b="0" dirty="0">
                <a:latin typeface="Times New Roman" panose="02020603050405020304" pitchFamily="18" charset="0"/>
              </a:rPr>
              <a:t>主要分析</a:t>
            </a:r>
            <a:r>
              <a:rPr lang="en-US" altLang="zh-CN" sz="2400" b="0" dirty="0">
                <a:latin typeface="Times New Roman" panose="02020603050405020304" pitchFamily="18" charset="0"/>
              </a:rPr>
              <a:t>CPU</a:t>
            </a:r>
            <a:r>
              <a:rPr lang="zh-CN" altLang="en-US" sz="2400" b="0" dirty="0">
                <a:latin typeface="Times New Roman" panose="02020603050405020304" pitchFamily="18" charset="0"/>
              </a:rPr>
              <a:t>寄存器、高速缓存、主存、磁盘缓存及辅存。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b="0" dirty="0">
                <a:latin typeface="Times New Roman" panose="02020603050405020304" pitchFamily="18" charset="0"/>
              </a:rPr>
              <a:t>操作系统对可执行存储器（</a:t>
            </a:r>
            <a:r>
              <a:rPr lang="en-US" altLang="zh-CN" sz="2400" dirty="0">
                <a:latin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  <a:sym typeface="+mn-ea"/>
              </a:rPr>
              <a:t>寄存器和主存</a:t>
            </a:r>
            <a:r>
              <a:rPr lang="zh-CN" altLang="en-US" sz="2400" b="0" dirty="0">
                <a:latin typeface="Times New Roman" panose="02020603050405020304" pitchFamily="18" charset="0"/>
              </a:rPr>
              <a:t>）和辅存的管理机制有何不同？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Times New Roman" panose="02020603050405020304" pitchFamily="18" charset="0"/>
              </a:rPr>
              <a:t>可执行存储器：属于内存管理范围</a:t>
            </a:r>
            <a:r>
              <a:rPr lang="en-US" altLang="zh-CN" sz="2400" b="0" dirty="0">
                <a:latin typeface="Times New Roman" panose="02020603050405020304" pitchFamily="18" charset="0"/>
              </a:rPr>
              <a:t>——</a:t>
            </a:r>
            <a:r>
              <a:rPr lang="zh-CN" altLang="en-US" sz="2400" b="0" dirty="0">
                <a:latin typeface="Times New Roman" panose="02020603050405020304" pitchFamily="18" charset="0"/>
              </a:rPr>
              <a:t>内存分配、回收、保护、各层次间的数据移动。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Times New Roman" panose="02020603050405020304" pitchFamily="18" charset="0"/>
              </a:rPr>
              <a:t>辅存：属于设备、文件管理范围</a:t>
            </a:r>
            <a:r>
              <a:rPr lang="en-US" altLang="zh-CN" sz="2400" b="0" dirty="0">
                <a:latin typeface="Times New Roman" panose="02020603050405020304" pitchFamily="18" charset="0"/>
              </a:rPr>
              <a:t>——</a:t>
            </a:r>
            <a:r>
              <a:rPr lang="zh-CN" altLang="en-US" sz="2400" b="0" dirty="0">
                <a:latin typeface="Times New Roman" panose="02020603050405020304" pitchFamily="18" charset="0"/>
              </a:rPr>
              <a:t>磁盘空间的分配、回收及</a:t>
            </a:r>
            <a:r>
              <a:rPr lang="en-US" altLang="zh-CN" sz="2400" b="0" dirty="0">
                <a:latin typeface="Times New Roman" panose="02020603050405020304" pitchFamily="18" charset="0"/>
              </a:rPr>
              <a:t>I/O</a:t>
            </a:r>
            <a:r>
              <a:rPr lang="zh-CN" altLang="en-US" sz="2400" b="0" dirty="0">
                <a:latin typeface="Times New Roman" panose="02020603050405020304" pitchFamily="18" charset="0"/>
              </a:rPr>
              <a:t>启动。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</p:spPr>
        <p:txBody>
          <a:bodyPr/>
          <a:lstStyle/>
          <a:p>
            <a:pPr lv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sym typeface="+mn-ea"/>
              </a:rPr>
              <a:t>程序的装入和链接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sym typeface="+mn-ea"/>
              </a:rPr>
              <a:t>基本概念：逻辑地址、物理地址、重定位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b="0" dirty="0">
                <a:latin typeface="Times New Roman" panose="02020603050405020304" pitchFamily="18" charset="0"/>
              </a:rPr>
              <a:t>用户作业装入内存，有三种装入方式，有何区别？属于哪种重定位类型。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marL="1002665" lvl="2" indent="-25844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Times New Roman" panose="02020603050405020304" pitchFamily="18" charset="0"/>
              </a:rPr>
              <a:t>绝对转入方式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marL="1002665" lvl="2" indent="-25844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Times New Roman" panose="02020603050405020304" pitchFamily="18" charset="0"/>
              </a:rPr>
              <a:t>可重定位装入方式：一次性完成逻辑地址到物理地址的修改，装入后不能移动。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marL="1002665" lvl="2" indent="-25844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Times New Roman" panose="02020603050405020304" pitchFamily="18" charset="0"/>
              </a:rPr>
              <a:t>动态运行时装入：装入时仍保留逻辑地址，把地址的转换推迟到指令执行时；需要重定位寄存器的支持；内存中的进程是可以移动的，但有条件（例如：正在进行</a:t>
            </a:r>
            <a:r>
              <a:rPr lang="en-US" altLang="zh-CN" sz="2400" b="0" dirty="0">
                <a:latin typeface="Times New Roman" panose="02020603050405020304" pitchFamily="18" charset="0"/>
              </a:rPr>
              <a:t>I/O</a:t>
            </a:r>
            <a:r>
              <a:rPr lang="zh-CN" altLang="en-US" sz="2400" b="0" dirty="0">
                <a:latin typeface="Times New Roman" panose="02020603050405020304" pitchFamily="18" charset="0"/>
              </a:rPr>
              <a:t>的进程是不能移动的）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sym typeface="+mn-ea"/>
              </a:rPr>
              <a:t>重定位分为几种类型？各自的定义、如何区分。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b="0" dirty="0">
                <a:latin typeface="Times New Roman" panose="02020603050405020304" pitchFamily="18" charset="0"/>
              </a:rPr>
              <a:t>程序的三种链接方式有何区别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marL="1087120" lvl="2" indent="-29845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Times New Roman" panose="02020603050405020304" pitchFamily="18" charset="0"/>
              </a:rPr>
              <a:t>静态链接方式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marL="1087120" lvl="2" indent="-29845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Times New Roman" panose="02020603050405020304" pitchFamily="18" charset="0"/>
              </a:rPr>
              <a:t>装入时动态链接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marL="1087120" lvl="2" indent="-29845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Times New Roman" panose="02020603050405020304" pitchFamily="18" charset="0"/>
              </a:rPr>
              <a:t>运行时动态链接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marL="674370" lvl="1" indent="-34290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u"/>
            </a:pPr>
            <a:r>
              <a:rPr lang="zh-CN" altLang="en-US" sz="2400" b="0" dirty="0">
                <a:highlight>
                  <a:srgbClr val="FFFF00"/>
                </a:highlight>
                <a:latin typeface="Times New Roman" panose="02020603050405020304" pitchFamily="18" charset="0"/>
              </a:rPr>
              <a:t>注意</a:t>
            </a:r>
            <a:r>
              <a:rPr lang="zh-CN" altLang="en-US" sz="2400" b="0" dirty="0">
                <a:latin typeface="Times New Roman" panose="02020603050405020304" pitchFamily="18" charset="0"/>
              </a:rPr>
              <a:t>：链接过程只负责各个模块中逻辑地址的修正，而转换成物理地址（重定位）是在装入或运行过程中完成的。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marL="457200" lvl="1" indent="-825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None/>
            </a:pP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0" ea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</p:spPr>
        <p:txBody>
          <a:bodyPr/>
          <a:lstStyle/>
          <a:p>
            <a:pPr lvl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sym typeface="+mn-ea"/>
              </a:rPr>
              <a:t>连续分配方式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sz="2400" dirty="0">
                <a:latin typeface="Times New Roman" panose="02020603050405020304" pitchFamily="18" charset="0"/>
                <a:sym typeface="+mn-ea"/>
              </a:rPr>
              <a:t>有四种连续分配方式：实现的基本原理，使用的数据结构，如何借助数据结构实现内存的分配、回收，重定位的实现，重定位的类型，存储保护的实现，优缺点等。</a:t>
            </a:r>
            <a:endParaRPr lang="zh-CN" sz="2400" dirty="0">
              <a:latin typeface="Times New Roman" panose="02020603050405020304" pitchFamily="18" charset="0"/>
              <a:sym typeface="+mn-ea"/>
            </a:endParaRPr>
          </a:p>
          <a:p>
            <a:pPr marL="1126490" lvl="2" indent="-23812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sz="2400" b="0" dirty="0">
                <a:latin typeface="Times New Roman" panose="02020603050405020304" pitchFamily="18" charset="0"/>
              </a:rPr>
              <a:t>单一连续分配方式</a:t>
            </a:r>
            <a:endParaRPr lang="zh-CN" sz="2400" b="0" dirty="0">
              <a:latin typeface="Times New Roman" panose="02020603050405020304" pitchFamily="18" charset="0"/>
            </a:endParaRPr>
          </a:p>
          <a:p>
            <a:pPr marL="1126490" lvl="2" indent="-23812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sz="2400" b="0" dirty="0">
                <a:latin typeface="Times New Roman" panose="02020603050405020304" pitchFamily="18" charset="0"/>
              </a:rPr>
              <a:t>固定分区分配</a:t>
            </a:r>
            <a:endParaRPr lang="zh-CN" sz="2400" b="0" dirty="0">
              <a:latin typeface="Times New Roman" panose="02020603050405020304" pitchFamily="18" charset="0"/>
            </a:endParaRPr>
          </a:p>
          <a:p>
            <a:pPr marL="1126490" lvl="2" indent="-23812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动态分区分配（可变分区分配）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1126490" lvl="2" indent="-238125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可重定位分区分配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动态分区分配（可变分区分配）</a:t>
            </a:r>
            <a:endParaRPr lang="zh-CN" sz="24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分区分配算法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）首次适应算法：空闲分区按地址升序排列，每次从第一个开始查找。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）循环首次适应算法：空闲分区没有排序要求，但每次从上一个找到分区的下一个开始循环找，因此内存划分比较均匀。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）最佳适应算法：空闲分区按大小升序，每次从第一个查找，查找效率低。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）最坏适应算法：空闲分区按大小降序，每次只找第一个就可以。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1645" y="1485265"/>
            <a:ext cx="8214995" cy="5157470"/>
          </a:xfrm>
        </p:spPr>
        <p:txBody>
          <a:bodyPr/>
          <a:lstStyle/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按照不同的分区分配算法分析内存的使用情况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）有几个空闲区，每个空闲分区的始址及长度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）每个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  <a:sym typeface="+mn-ea"/>
              </a:rPr>
              <a:t>内存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作业（进程）的起始地址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注意：空闲分区的合并；按照选定的分区分配算法调整空闲分区的顺序。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动态可重定位分区：动态重定位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采用紧凑技术，把小的空闲分区拼接成一个大的空闲分区，以提高内存的利用率。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为了不影响指令的执行速度，需要重定位寄存器的支持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内存分配过程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算法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：考虑紧凑技术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</p:spPr>
        <p:txBody>
          <a:bodyPr/>
          <a:lstStyle/>
          <a:p>
            <a:pPr lvl="0" eaLnBrk="1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p"/>
            </a:pPr>
            <a:r>
              <a:rPr lang="zh-CN" altLang="en-US" sz="2400" b="0" dirty="0">
                <a:latin typeface="Times New Roman" panose="02020603050405020304" pitchFamily="18" charset="0"/>
              </a:rPr>
              <a:t>对换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操作系统中引入对换的目的：提高内存的利用率。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Unix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操作系统和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Windows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操作系统中对换技术的实现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按照对换单位的不同，对换分为两种类型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以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进程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为单位的对换：多道批处理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OS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中的中级调度，提高资源利用率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以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页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段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为单位的对换：实现虚拟存储器技术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用户感觉的内存比实际内存大得多。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操作系统对磁盘的文件区和对换区的管理有何不同？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实现对换功能的进程是？如何实现进程的换入、换出。</a:t>
            </a:r>
            <a:endParaRPr lang="en-US" altLang="zh-CN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对换技术与覆盖技术的比较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None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</p:spPr>
        <p:txBody>
          <a:bodyPr/>
          <a:lstStyle/>
          <a:p>
            <a:pPr lv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p"/>
            </a:pPr>
            <a:r>
              <a:rPr lang="zh-CN" altLang="en-US" sz="2400" b="0" dirty="0">
                <a:latin typeface="Times New Roman" panose="02020603050405020304" pitchFamily="18" charset="0"/>
              </a:rPr>
              <a:t>分页存储管理方式</a:t>
            </a:r>
            <a:r>
              <a:rPr lang="en-US" altLang="zh-CN" sz="2400" b="0" dirty="0">
                <a:latin typeface="Times New Roman" panose="02020603050405020304" pitchFamily="18" charset="0"/>
              </a:rPr>
              <a:t>——</a:t>
            </a:r>
            <a:r>
              <a:rPr lang="zh-CN" altLang="en-US" sz="2400" b="0" dirty="0">
                <a:latin typeface="Times New Roman" panose="02020603050405020304" pitchFamily="18" charset="0"/>
              </a:rPr>
              <a:t>重点掌握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连续分配方式的不足：碎片、作业连续存储，均降低内存利用率。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基本分页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实现的基本原理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逻辑地址的结构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一维地址结构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）自动划分成页号和页内位移两部分？如何划分（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进制、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16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）进制）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）已知逻辑地址的位数、每个页面的大小，计算作业的最大长度、最大页面数。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）已知作业的最大页面数、页面大小，计算逻辑地址位数。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None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</p:spPr>
        <p:txBody>
          <a:bodyPr/>
          <a:lstStyle/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分页系统的数据结构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页表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）页表的作用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）页表占用内存空间的计算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）每个进程配备一张页表，页表起始地址的存放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）页表是如何实现随机访问的？类似于数组的下标法，实现随机访问（直接访问）。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地址转换机构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实现分页系统的重定位（动态重定位）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）地址转换过程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）转换过程中存储保护的实现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基本分页的不足：进而出现快表、多级页表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None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</p:spPr>
        <p:txBody>
          <a:bodyPr/>
          <a:lstStyle/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具有快表的地址变换机构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快表的构成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引入快表后，地址转换过程比基本分页的地址转换过程有何变化？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在快表中存储最近访问的数据或指令，可提高存取效率的依据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局部性原理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访问内存的有效时间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引入快表前后，读取一个数据平均时间的变化。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多级页表（以两级页表为例）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页表占用内存过多，因此页表也采用分页的方式进行存储。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None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7020"/>
            <a:ext cx="8214995" cy="5097780"/>
          </a:xfrm>
        </p:spPr>
        <p:txBody>
          <a:bodyPr/>
          <a:lstStyle/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已知物理块大小、每个页表项的字节数，计算单级、两级、三级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  <a:sym typeface="+mn-ea"/>
              </a:rPr>
              <a:t>页表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……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允许的最大文件长度。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多级页表结构：使用外层页表寄存器存储外层页表的起始地址（物理块号）及长度。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两级页表结构的地址转换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重定位的实现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）逻辑地址的分解：组号（外层页表号）、组内位移（外层页内地址）、页内位移。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）地址转换过程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）多级页表的相关计算：根据题目要求，分析设计几级页表结构、组号和组内位移的位数、外层页表的记录数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……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914400" lvl="2" indent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None/>
            </a:pP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  <p:sp>
        <p:nvSpPr>
          <p:cNvPr id="2" name="文本框 1"/>
          <p:cNvSpPr txBox="1"/>
          <p:nvPr/>
        </p:nvSpPr>
        <p:spPr>
          <a:xfrm>
            <a:off x="251460" y="6021705"/>
            <a:ext cx="87960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highlight>
                  <a:srgbClr val="FFFF00"/>
                </a:highlight>
                <a:latin typeface="宋体" panose="02010600030101010101" pitchFamily="2" charset="-122"/>
              </a:rPr>
              <a:t>※多级页表就是对</a:t>
            </a:r>
            <a:r>
              <a:rPr lang="zh-CN" altLang="en-US" sz="2400">
                <a:solidFill>
                  <a:srgbClr val="FF0000"/>
                </a:solidFill>
                <a:highlight>
                  <a:srgbClr val="00FFFF"/>
                </a:highlight>
                <a:latin typeface="宋体" panose="02010600030101010101" pitchFamily="2" charset="-122"/>
              </a:rPr>
              <a:t>页号</a:t>
            </a:r>
            <a:r>
              <a:rPr lang="zh-CN" altLang="en-US" sz="240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部分进一步</a:t>
            </a:r>
            <a:r>
              <a:rPr lang="zh-CN" altLang="en-US" sz="2400">
                <a:highlight>
                  <a:srgbClr val="FFFF00"/>
                </a:highlight>
                <a:latin typeface="宋体" panose="02010600030101010101" pitchFamily="2" charset="-122"/>
              </a:rPr>
              <a:t>进行</a:t>
            </a:r>
            <a:r>
              <a:rPr lang="zh-CN" altLang="en-US" sz="240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分组</a:t>
            </a:r>
            <a:r>
              <a:rPr lang="zh-CN" altLang="en-US" sz="2400">
                <a:highlight>
                  <a:srgbClr val="FFFF00"/>
                </a:highlight>
                <a:latin typeface="宋体" panose="02010600030101010101" pitchFamily="2" charset="-122"/>
              </a:rPr>
              <a:t>而形成的多级结构。</a:t>
            </a:r>
            <a:endParaRPr lang="zh-CN" altLang="en-US" sz="2400">
              <a:highlight>
                <a:srgbClr val="FFFF00"/>
              </a:highlight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</p:spPr>
        <p:txBody>
          <a:bodyPr/>
          <a:lstStyle/>
          <a:p>
            <a:pPr lvl="0" ea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p"/>
            </a:pPr>
            <a:r>
              <a:rPr lang="zh-CN" altLang="en-US" sz="2400" b="0" dirty="0">
                <a:latin typeface="Times New Roman" panose="02020603050405020304" pitchFamily="18" charset="0"/>
              </a:rPr>
              <a:t>分段存储管理方式</a:t>
            </a:r>
            <a:r>
              <a:rPr lang="en-US" altLang="zh-CN" sz="2400" b="0" dirty="0">
                <a:latin typeface="Times New Roman" panose="02020603050405020304" pitchFamily="18" charset="0"/>
              </a:rPr>
              <a:t>——</a:t>
            </a:r>
            <a:r>
              <a:rPr lang="zh-CN" altLang="en-US" sz="2400" b="0" dirty="0">
                <a:latin typeface="Times New Roman" panose="02020603050405020304" pitchFamily="18" charset="0"/>
              </a:rPr>
              <a:t>重点掌握</a:t>
            </a:r>
            <a:endParaRPr lang="zh-CN" altLang="en-US" sz="2400" b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分页方式的不足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分段方式满足了用户哪些方面的需求？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分段实现的基本原理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二维地址结构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分段的逻辑地址结构：明确给出段号和段内位移的位数，而不是自动划分。计算一个进程最大段数、每段的最大长度。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在段表中为什么设置段长？而页表中没有页长？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每个进程一张段表。段表起始地址的存放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分段系统的地址转换过程、存储保护的实现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两次访问内存。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  <a:solidFill>
            <a:schemeClr val="accent3"/>
          </a:solidFill>
        </p:spPr>
        <p:txBody>
          <a:bodyPr/>
          <a:lstStyle/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分段管理与分页管理的区别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以实例分析，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  <a:sym typeface="+mn-ea"/>
              </a:rPr>
              <a:t>为什么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分段管理比分页管理更容易实现共享？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0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p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段页式存储管理方式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既从用户角度考虑（分段），又从系统角度考虑（分页）的一种内存管理方式。但访问一个数据或指令需要三次访问内存。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段页式实现的基本原理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使用的数据结构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一张段表、多张页表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逻辑地址结构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划分成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段号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，段内位移（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段内页号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页内位移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）三部分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1556792"/>
            <a:ext cx="8215064" cy="4896544"/>
          </a:xfrm>
          <a:solidFill>
            <a:schemeClr val="accent3"/>
          </a:solidFill>
        </p:spPr>
        <p:txBody>
          <a:bodyPr/>
          <a:lstStyle/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地址转换机构</a:t>
            </a:r>
            <a:r>
              <a: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完成重定位：地址转换的过程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存储保护的实现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sym typeface="+mn-ea"/>
              </a:rPr>
              <a:t>段页式读取一个数据或指令访问内存的次数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dirty="0"/>
              <a:t>第四章 内容小结</a:t>
            </a:r>
            <a:endParaRPr lang="zh-CN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DEFINEDINNAVIGATOR" val="True"/>
  <p:tag name="HOTSPOTTYPE" val="DefinedInNavigator"/>
  <p:tag name="BRANCHTO" val="257"/>
  <p:tag name="COMMONDATA" val="eyJoZGlkIjoiNWQ1YmNhMWYzNTdhM2Q4Y2FlZjMwZWEzY2MyYTZjM2QifQ=="/>
</p:tagLst>
</file>

<file path=ppt/theme/theme1.xml><?xml version="1.0" encoding="utf-8"?>
<a:theme xmlns:a="http://schemas.openxmlformats.org/drawingml/2006/main" name="9_个人主页 (标准)">
  <a:themeElements>
    <a:clrScheme name="个人主页 (标准) 9">
      <a:dk1>
        <a:srgbClr val="000000"/>
      </a:dk1>
      <a:lt1>
        <a:srgbClr val="DFF9EF"/>
      </a:lt1>
      <a:dk2>
        <a:srgbClr val="0000FF"/>
      </a:dk2>
      <a:lt2>
        <a:srgbClr val="000000"/>
      </a:lt2>
      <a:accent1>
        <a:srgbClr val="000000"/>
      </a:accent1>
      <a:accent2>
        <a:srgbClr val="336699"/>
      </a:accent2>
      <a:accent3>
        <a:srgbClr val="ECFBF6"/>
      </a:accent3>
      <a:accent4>
        <a:srgbClr val="000000"/>
      </a:accent4>
      <a:accent5>
        <a:srgbClr val="AAAAAA"/>
      </a:accent5>
      <a:accent6>
        <a:srgbClr val="2D5C8A"/>
      </a:accent6>
      <a:hlink>
        <a:srgbClr val="EBFFF5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FF9933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5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6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DDDD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7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B7FFE7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8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FFF4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9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BFFF5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2_个人主页 (标准)">
  <a:themeElements>
    <a:clrScheme name="个人主页 (标准) 9">
      <a:dk1>
        <a:srgbClr val="000000"/>
      </a:dk1>
      <a:lt1>
        <a:srgbClr val="DFF9EF"/>
      </a:lt1>
      <a:dk2>
        <a:srgbClr val="0000FF"/>
      </a:dk2>
      <a:lt2>
        <a:srgbClr val="000000"/>
      </a:lt2>
      <a:accent1>
        <a:srgbClr val="000000"/>
      </a:accent1>
      <a:accent2>
        <a:srgbClr val="336699"/>
      </a:accent2>
      <a:accent3>
        <a:srgbClr val="ECFBF6"/>
      </a:accent3>
      <a:accent4>
        <a:srgbClr val="000000"/>
      </a:accent4>
      <a:accent5>
        <a:srgbClr val="AAAAAA"/>
      </a:accent5>
      <a:accent6>
        <a:srgbClr val="2D5C8A"/>
      </a:accent6>
      <a:hlink>
        <a:srgbClr val="EBFFF5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FF9933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5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6">
        <a:dk1>
          <a:srgbClr val="000000"/>
        </a:dk1>
        <a:lt1>
          <a:srgbClr val="FFFFF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DDDD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7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B7FFE7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8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DDFFF4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9">
        <a:dk1>
          <a:srgbClr val="000000"/>
        </a:dk1>
        <a:lt1>
          <a:srgbClr val="DFF9EF"/>
        </a:lt1>
        <a:dk2>
          <a:srgbClr val="0000FF"/>
        </a:dk2>
        <a:lt2>
          <a:srgbClr val="000000"/>
        </a:lt2>
        <a:accent1>
          <a:srgbClr val="000000"/>
        </a:accent1>
        <a:accent2>
          <a:srgbClr val="336699"/>
        </a:accent2>
        <a:accent3>
          <a:srgbClr val="ECFBF6"/>
        </a:accent3>
        <a:accent4>
          <a:srgbClr val="000000"/>
        </a:accent4>
        <a:accent5>
          <a:srgbClr val="AAAAAA"/>
        </a:accent5>
        <a:accent6>
          <a:srgbClr val="2D5C8A"/>
        </a:accent6>
        <a:hlink>
          <a:srgbClr val="EBFFF5"/>
        </a:hlink>
        <a:folHlink>
          <a:srgbClr val="A737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2333</Words>
  <Application>WPS 演示</Application>
  <PresentationFormat>全屏显示(4:3)</PresentationFormat>
  <Paragraphs>152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Times New Roman</vt:lpstr>
      <vt:lpstr>Wingdings</vt:lpstr>
      <vt:lpstr>微软雅黑</vt:lpstr>
      <vt:lpstr>Arial Unicode MS</vt:lpstr>
      <vt:lpstr>9_个人主页 (标准)</vt:lpstr>
      <vt:lpstr>12_个人主页 (标准)</vt:lpstr>
      <vt:lpstr>第四章 内容小结</vt:lpstr>
      <vt:lpstr>第四章 内容小结</vt:lpstr>
      <vt:lpstr>第四章 内容小结</vt:lpstr>
      <vt:lpstr>第四章 内容小结</vt:lpstr>
      <vt:lpstr>第四章 内容小结</vt:lpstr>
      <vt:lpstr>第四章 内容小结</vt:lpstr>
      <vt:lpstr>第四章 内容小结</vt:lpstr>
      <vt:lpstr>第四章 内容小结</vt:lpstr>
      <vt:lpstr>第四章 内容小结</vt:lpstr>
      <vt:lpstr>第四章 内容小结</vt:lpstr>
      <vt:lpstr>第四章 内容小结</vt:lpstr>
      <vt:lpstr>第四章 内容小结</vt:lpstr>
      <vt:lpstr>第四章 内容小结</vt:lpstr>
      <vt:lpstr>第四章 内容小结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红艳</cp:lastModifiedBy>
  <cp:revision>1438</cp:revision>
  <cp:lastPrinted>1995-12-08T18:33:00Z</cp:lastPrinted>
  <dcterms:created xsi:type="dcterms:W3CDTF">2000-10-31T09:27:00Z</dcterms:created>
  <dcterms:modified xsi:type="dcterms:W3CDTF">2022-11-11T01:32:12Z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EB143361352C43F280EB06EEA6742852</vt:lpwstr>
  </property>
  <property fmtid="{D5CDD505-2E9C-101B-9397-08002B2CF9AE}" pid="3" name="KSOProductBuildVer">
    <vt:lpwstr>2052-11.1.0.12763</vt:lpwstr>
  </property>
</Properties>
</file>