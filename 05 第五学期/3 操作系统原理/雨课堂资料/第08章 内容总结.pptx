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716" r:id="rId3"/>
    <p:sldId id="715" r:id="rId4"/>
    <p:sldId id="717" r:id="rId5"/>
    <p:sldId id="718" r:id="rId6"/>
    <p:sldId id="719" r:id="rId7"/>
  </p:sldIdLst>
  <p:sldSz cx="9144000" cy="6858000" type="screen4x3"/>
  <p:notesSz cx="6934200" cy="9398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0DBFF"/>
    <a:srgbClr val="FFCCFF"/>
    <a:srgbClr val="CCECFF"/>
    <a:srgbClr val="DFC0FF"/>
    <a:srgbClr val="FFCC00"/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6"/>
  </p:normalViewPr>
  <p:slideViewPr>
    <p:cSldViewPr showGuides="1">
      <p:cViewPr varScale="1">
        <p:scale>
          <a:sx n="83" d="100"/>
          <a:sy n="83" d="100"/>
        </p:scale>
        <p:origin x="845" y="62"/>
      </p:cViewPr>
      <p:guideLst>
        <p:guide orient="horz" pos="2185"/>
        <p:guide pos="29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2826" y="-114"/>
      </p:cViewPr>
      <p:guideLst>
        <p:guide orient="horz" pos="2994"/>
        <p:guide pos="225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algn="r" fontAlgn="base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700213"/>
            <a:ext cx="41719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373063"/>
            <a:ext cx="2124075" cy="54419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373063"/>
            <a:ext cx="6221413" cy="5441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250825" y="1700213"/>
            <a:ext cx="417195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250825" y="1700213"/>
            <a:ext cx="8497888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buFontTx/>
              <a:defRPr sz="1400">
                <a:latin typeface="Times New Roman" panose="02020603050405020304" pitchFamily="18" charset="0"/>
              </a:defRPr>
            </a:lvl1pPr>
          </a:lstStyle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8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n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p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zh-CN" sz="3600" dirty="0"/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642620" y="1628800"/>
            <a:ext cx="8105140" cy="4824536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zh-CN" sz="1800" dirty="0"/>
              <a:t>外存分配方式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连续组织方式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盘块的组织：目录</a:t>
            </a:r>
            <a:r>
              <a:rPr lang="zh-CN" altLang="en-US" sz="1800" dirty="0"/>
              <a:t>（文件名、起始盘块号、长度）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盘块的访问过程：</a:t>
            </a:r>
            <a:r>
              <a:rPr lang="zh-CN" altLang="en-US" sz="1800" dirty="0"/>
              <a:t>可实现</a:t>
            </a:r>
            <a:r>
              <a:rPr lang="zh-CN" altLang="zh-CN" sz="1800" dirty="0"/>
              <a:t>直接访问，仅启动一次磁盘</a:t>
            </a:r>
            <a:endParaRPr lang="zh-CN" altLang="zh-CN" sz="1800" dirty="0"/>
          </a:p>
          <a:p>
            <a:pPr lvl="0">
              <a:buFont typeface="Wingdings" panose="05000000000000000000" pitchFamily="2" charset="2"/>
              <a:buChar char="p"/>
            </a:pPr>
            <a:r>
              <a:rPr lang="zh-CN" altLang="zh-CN" sz="1800" dirty="0"/>
              <a:t>链接组织方式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隐式链接：通过盘块的地址域链接，顺序查找盘块号、多次启动磁盘</a:t>
            </a:r>
            <a:endParaRPr lang="zh-CN" altLang="zh-CN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zh-CN" sz="1800" dirty="0"/>
              <a:t>盘块的组织：目录</a:t>
            </a:r>
            <a:r>
              <a:rPr lang="zh-CN" altLang="en-US" sz="1800" dirty="0"/>
              <a:t>（文件名、起始、结束）、</a:t>
            </a:r>
            <a:r>
              <a:rPr lang="zh-CN" altLang="zh-CN" sz="1800" dirty="0"/>
              <a:t>盘块的地址域</a:t>
            </a:r>
            <a:r>
              <a:rPr lang="zh-CN" altLang="en-US" sz="1800" dirty="0"/>
              <a:t>链接</a:t>
            </a:r>
            <a:endParaRPr lang="zh-CN" altLang="zh-CN" sz="18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zh-CN" sz="1800" dirty="0"/>
              <a:t>盘块的访问过程：顺序访问</a:t>
            </a:r>
            <a:r>
              <a:rPr lang="zh-CN" altLang="en-US" sz="1800" dirty="0"/>
              <a:t>，多次启动磁盘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显示链接：通过</a:t>
            </a:r>
            <a:r>
              <a:rPr lang="en-US" altLang="zh-CN" sz="1800" dirty="0"/>
              <a:t>FAT</a:t>
            </a:r>
            <a:r>
              <a:rPr lang="zh-CN" altLang="zh-CN" sz="1800" dirty="0"/>
              <a:t>链接，</a:t>
            </a:r>
            <a:r>
              <a:rPr lang="zh-CN" altLang="en-US" sz="1800" dirty="0"/>
              <a:t>在</a:t>
            </a:r>
            <a:r>
              <a:rPr lang="en-US" altLang="zh-CN" sz="1800" dirty="0"/>
              <a:t>FAT</a:t>
            </a:r>
            <a:r>
              <a:rPr lang="zh-CN" altLang="en-US" sz="1800" dirty="0"/>
              <a:t>中</a:t>
            </a:r>
            <a:r>
              <a:rPr lang="zh-CN" altLang="zh-CN" sz="1800" dirty="0"/>
              <a:t>顺序查找盘块号、</a:t>
            </a:r>
            <a:r>
              <a:rPr lang="en-US" altLang="zh-CN" sz="1800" dirty="0"/>
              <a:t>1</a:t>
            </a:r>
            <a:r>
              <a:rPr lang="zh-CN" altLang="zh-CN" sz="1800" dirty="0"/>
              <a:t>次启动磁盘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盘块的组织：目录</a:t>
            </a:r>
            <a:r>
              <a:rPr lang="zh-CN" altLang="en-US" sz="1800" dirty="0"/>
              <a:t>（文件名、起始）</a:t>
            </a:r>
            <a:r>
              <a:rPr lang="en-US" altLang="zh-CN" sz="1800" dirty="0"/>
              <a:t>+FAT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盘块的访问过程：顺序访问</a:t>
            </a:r>
            <a:r>
              <a:rPr lang="en-US" altLang="zh-CN" sz="1800" dirty="0"/>
              <a:t>FAT</a:t>
            </a:r>
            <a:r>
              <a:rPr lang="zh-CN" altLang="zh-CN" sz="1800" dirty="0"/>
              <a:t>（在内存）</a:t>
            </a:r>
            <a:r>
              <a:rPr lang="zh-CN" altLang="en-US" sz="1800" dirty="0"/>
              <a:t>查找盘块号，不启动</a:t>
            </a:r>
            <a:r>
              <a:rPr lang="en-US" altLang="zh-CN" sz="1800" dirty="0"/>
              <a:t>I/O</a:t>
            </a:r>
            <a:endParaRPr lang="zh-CN" altLang="zh-CN" sz="1800" dirty="0"/>
          </a:p>
          <a:p>
            <a:pPr lvl="2"/>
            <a:r>
              <a:rPr lang="en-US" altLang="zh-CN" sz="1800" dirty="0"/>
              <a:t>FAT</a:t>
            </a:r>
            <a:r>
              <a:rPr lang="zh-CN" altLang="zh-CN" sz="1800" dirty="0"/>
              <a:t>占内存空间大小的计算</a:t>
            </a:r>
            <a:endParaRPr lang="en-US" altLang="zh-CN" sz="1800" dirty="0"/>
          </a:p>
          <a:p>
            <a:pPr lvl="2"/>
            <a:r>
              <a:rPr lang="zh-CN" altLang="en-US" sz="1800" dirty="0"/>
              <a:t>簇的使用及相关计算：</a:t>
            </a:r>
            <a:endParaRPr lang="en-US" altLang="zh-CN" sz="1800" dirty="0"/>
          </a:p>
          <a:p>
            <a:pPr lvl="2"/>
            <a:r>
              <a:rPr lang="en-US" altLang="zh-CN" sz="1800" dirty="0"/>
              <a:t>F</a:t>
            </a:r>
            <a:r>
              <a:rPr lang="zh-CN" altLang="zh-CN" sz="1800" dirty="0"/>
              <a:t>文件分到的盘块如何通过目录和</a:t>
            </a:r>
            <a:r>
              <a:rPr lang="en-US" altLang="zh-CN" sz="1800" dirty="0"/>
              <a:t>FAT</a:t>
            </a:r>
            <a:r>
              <a:rPr lang="zh-CN" altLang="zh-CN" sz="1800" dirty="0"/>
              <a:t>表组织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zh-CN" sz="3600" dirty="0"/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642620" y="1628800"/>
            <a:ext cx="8105140" cy="440245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zh-CN" sz="1800" dirty="0"/>
              <a:t>索引分配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单级索引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盘块的组织：目录</a:t>
            </a:r>
            <a:r>
              <a:rPr lang="zh-CN" altLang="en-US" sz="1800" dirty="0"/>
              <a:t>（文件名、索引块）、</a:t>
            </a:r>
            <a:r>
              <a:rPr lang="zh-CN" altLang="zh-CN" sz="1800" dirty="0"/>
              <a:t>索引表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盘块的访问过程：</a:t>
            </a:r>
            <a:r>
              <a:rPr lang="zh-CN" altLang="en-US" sz="1800" dirty="0"/>
              <a:t>可实现</a:t>
            </a:r>
            <a:r>
              <a:rPr lang="zh-CN" altLang="zh-CN" sz="1800" dirty="0"/>
              <a:t>随机访问，</a:t>
            </a:r>
            <a:r>
              <a:rPr lang="en-US" altLang="zh-CN" sz="1800" dirty="0"/>
              <a:t>2</a:t>
            </a:r>
            <a:r>
              <a:rPr lang="zh-CN" altLang="zh-CN" sz="1800" dirty="0"/>
              <a:t>次启动磁盘</a:t>
            </a:r>
            <a:endParaRPr lang="zh-CN" altLang="zh-CN" sz="1800" dirty="0"/>
          </a:p>
          <a:p>
            <a:pPr lvl="2"/>
            <a:r>
              <a:rPr lang="zh-CN" altLang="zh-CN" sz="1800" dirty="0"/>
              <a:t>对应文件大小的计算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多级索引——</a:t>
            </a:r>
            <a:r>
              <a:rPr lang="zh-CN" altLang="en-US" sz="1800" dirty="0"/>
              <a:t>以</a:t>
            </a:r>
            <a:r>
              <a:rPr lang="zh-CN" altLang="zh-CN" sz="1800" dirty="0"/>
              <a:t>二级索引为例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盘块的组织：目录</a:t>
            </a:r>
            <a:r>
              <a:rPr lang="zh-CN" altLang="en-US" sz="1800" dirty="0"/>
              <a:t>（文件名、外层索引块号）</a:t>
            </a:r>
            <a:r>
              <a:rPr lang="zh-CN" altLang="zh-CN" sz="1800" dirty="0"/>
              <a:t>、外层索引表、内层索引表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盘块的访问过程：</a:t>
            </a:r>
            <a:r>
              <a:rPr lang="zh-CN" altLang="en-US" sz="1800" dirty="0"/>
              <a:t>可实现</a:t>
            </a:r>
            <a:r>
              <a:rPr lang="zh-CN" altLang="zh-CN" sz="1800" dirty="0"/>
              <a:t>随机访问，</a:t>
            </a:r>
            <a:r>
              <a:rPr lang="en-US" altLang="zh-CN" sz="1800" dirty="0"/>
              <a:t>3</a:t>
            </a:r>
            <a:r>
              <a:rPr lang="zh-CN" altLang="zh-CN" sz="1800" dirty="0"/>
              <a:t>次启动磁盘</a:t>
            </a:r>
            <a:endParaRPr lang="zh-CN" altLang="zh-CN" sz="1800" dirty="0"/>
          </a:p>
          <a:p>
            <a:pPr lvl="2"/>
            <a:r>
              <a:rPr lang="zh-CN" altLang="zh-CN" sz="1800" dirty="0"/>
              <a:t>对应文件大小的计算</a:t>
            </a:r>
            <a:endParaRPr lang="en-US" altLang="zh-CN" sz="1800" dirty="0"/>
          </a:p>
          <a:p>
            <a:pPr lvl="2"/>
            <a:r>
              <a:rPr lang="zh-CN" altLang="zh-CN" sz="1800" dirty="0"/>
              <a:t>文件中逻辑地址</a:t>
            </a:r>
            <a:r>
              <a:rPr lang="zh-CN" altLang="en-US" sz="1800" dirty="0"/>
              <a:t>化</a:t>
            </a:r>
            <a:r>
              <a:rPr lang="zh-CN" altLang="zh-CN" sz="1800" dirty="0"/>
              <a:t>为：外层索引号</a:t>
            </a:r>
            <a:r>
              <a:rPr lang="en-US" altLang="zh-CN" sz="1800" dirty="0"/>
              <a:t>(</a:t>
            </a:r>
            <a:r>
              <a:rPr lang="zh-CN" altLang="en-US" sz="1800" dirty="0"/>
              <a:t>组号</a:t>
            </a:r>
            <a:r>
              <a:rPr lang="en-US" altLang="zh-CN" sz="1800" dirty="0"/>
              <a:t>)</a:t>
            </a:r>
            <a:r>
              <a:rPr lang="zh-CN" altLang="zh-CN" sz="1800" dirty="0"/>
              <a:t>、内层索引号</a:t>
            </a:r>
            <a:r>
              <a:rPr lang="en-US" altLang="zh-CN" sz="1800" dirty="0"/>
              <a:t>(</a:t>
            </a:r>
            <a:r>
              <a:rPr lang="zh-CN" altLang="en-US" sz="1800" dirty="0"/>
              <a:t>组内位移</a:t>
            </a:r>
            <a:r>
              <a:rPr lang="en-US" altLang="zh-CN" sz="1800" dirty="0"/>
              <a:t>)</a:t>
            </a:r>
            <a:r>
              <a:rPr lang="zh-CN" altLang="zh-CN" sz="1800" dirty="0"/>
              <a:t>及块内位移</a:t>
            </a:r>
            <a:r>
              <a:rPr lang="zh-CN" altLang="en-US" sz="1800" dirty="0"/>
              <a:t>。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zh-CN" sz="3600" dirty="0"/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642620" y="1628800"/>
            <a:ext cx="8105140" cy="440245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增量式索引组织方式（混合索引）——</a:t>
            </a:r>
            <a:r>
              <a:rPr lang="en-US" altLang="zh-CN" sz="1800" dirty="0"/>
              <a:t>UNIX</a:t>
            </a:r>
            <a:r>
              <a:rPr lang="zh-CN" altLang="zh-CN" sz="1800" dirty="0"/>
              <a:t>系统使用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盘块的组织：索引节点中的</a:t>
            </a:r>
            <a:r>
              <a:rPr lang="en-US" altLang="zh-CN" sz="1800" dirty="0"/>
              <a:t>13</a:t>
            </a:r>
            <a:r>
              <a:rPr lang="zh-CN" altLang="zh-CN" sz="1800" dirty="0"/>
              <a:t>个地址项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盘块的访问过程：给出逻辑地址，给出读取</a:t>
            </a:r>
            <a:r>
              <a:rPr lang="zh-CN" altLang="en-US" sz="1800" dirty="0"/>
              <a:t>对应</a:t>
            </a:r>
            <a:r>
              <a:rPr lang="zh-CN" altLang="zh-CN" sz="1800" dirty="0"/>
              <a:t>数据盘块的过程。根据逻辑块号可知在哪个地址项中取物理块号（直接文件、一级索引、二级、三级）</a:t>
            </a:r>
            <a:endParaRPr lang="zh-CN" altLang="zh-CN" sz="1800" dirty="0"/>
          </a:p>
          <a:p>
            <a:pPr lvl="2"/>
            <a:r>
              <a:rPr lang="zh-CN" altLang="zh-CN" sz="1800" dirty="0"/>
              <a:t>对应文件大小的计算</a:t>
            </a:r>
            <a:endParaRPr lang="en-US" altLang="zh-CN" sz="1800" dirty="0"/>
          </a:p>
          <a:p>
            <a:pPr lvl="2"/>
            <a:r>
              <a:rPr lang="zh-CN" altLang="zh-CN" sz="1800" dirty="0"/>
              <a:t>读取一个数据盘块最少启动</a:t>
            </a:r>
            <a:r>
              <a:rPr lang="en-US" altLang="zh-CN" sz="1800" dirty="0"/>
              <a:t>1</a:t>
            </a:r>
            <a:r>
              <a:rPr lang="zh-CN" altLang="zh-CN" sz="1800" dirty="0"/>
              <a:t>次磁盘</a:t>
            </a:r>
            <a:r>
              <a:rPr lang="zh-CN" altLang="en-US" sz="1800" dirty="0"/>
              <a:t>（直接文件）</a:t>
            </a:r>
            <a:r>
              <a:rPr lang="zh-CN" altLang="zh-CN" sz="1800" dirty="0"/>
              <a:t>、最多</a:t>
            </a:r>
            <a:r>
              <a:rPr lang="en-US" altLang="zh-CN" sz="1800" dirty="0"/>
              <a:t>4</a:t>
            </a:r>
            <a:r>
              <a:rPr lang="zh-CN" altLang="zh-CN" sz="1800" dirty="0"/>
              <a:t>次</a:t>
            </a:r>
            <a:r>
              <a:rPr lang="zh-CN" altLang="en-US" sz="1800" dirty="0"/>
              <a:t>（三级索引）</a:t>
            </a:r>
            <a:endParaRPr lang="en-US" altLang="zh-CN" sz="1800" dirty="0"/>
          </a:p>
          <a:p>
            <a:pPr lvl="2"/>
            <a:r>
              <a:rPr lang="zh-CN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自行设计的其它增量式索引方式的相关计算，例如：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某用户设计的操作系统采用混合索引方式对文件的盘块进行组织。一个盘块大小是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512B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，一个索引项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2B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，采用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个地址项，其中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0-6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为直接地址项、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7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均采用一级索引、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采用二级索引。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zh-CN" sz="3600" dirty="0"/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642620" y="1628800"/>
            <a:ext cx="8105140" cy="440245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zh-CN" sz="1800" dirty="0"/>
              <a:t>文件存储空间管理：操作系统如何管理磁盘的空闲盘块，以及盘块的分配及回收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连续分配方式——连续文件</a:t>
            </a:r>
            <a:r>
              <a:rPr lang="zh-CN" altLang="en-US" sz="1800" dirty="0"/>
              <a:t>：同内存的动态分区分配方式</a:t>
            </a:r>
            <a:endParaRPr lang="zh-CN" altLang="zh-CN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/>
              <a:t>离散分配方式</a:t>
            </a:r>
            <a:r>
              <a:rPr lang="zh-CN" altLang="en-US" sz="1800" dirty="0"/>
              <a:t>之一：</a:t>
            </a:r>
            <a:r>
              <a:rPr lang="zh-CN" altLang="zh-CN" sz="1800" dirty="0"/>
              <a:t>位示图法</a:t>
            </a:r>
            <a:endParaRPr lang="zh-CN" altLang="zh-CN" sz="1800" dirty="0"/>
          </a:p>
          <a:p>
            <a:pPr lvl="2"/>
            <a:r>
              <a:rPr lang="zh-CN" altLang="zh-CN" sz="1800" dirty="0"/>
              <a:t>使用的数据结构</a:t>
            </a:r>
            <a:r>
              <a:rPr lang="zh-CN" altLang="en-US" sz="1800" dirty="0"/>
              <a:t>：通常用一个计算机字代表位示图的一行</a:t>
            </a:r>
            <a:endParaRPr lang="zh-CN" altLang="zh-CN" sz="1800" dirty="0"/>
          </a:p>
          <a:p>
            <a:pPr lvl="2"/>
            <a:r>
              <a:rPr lang="zh-CN" altLang="zh-CN" sz="1800" dirty="0"/>
              <a:t>位示图计算机字数的计算</a:t>
            </a:r>
            <a:endParaRPr lang="zh-CN" altLang="zh-CN" sz="1800" dirty="0"/>
          </a:p>
          <a:p>
            <a:pPr lvl="2"/>
            <a:r>
              <a:rPr lang="zh-CN" altLang="zh-CN" sz="1800" dirty="0"/>
              <a:t>盘块号与位示图行</a:t>
            </a:r>
            <a:r>
              <a:rPr lang="zh-CN" altLang="en-US" sz="1800" dirty="0"/>
              <a:t>、</a:t>
            </a:r>
            <a:r>
              <a:rPr lang="zh-CN" altLang="zh-CN" sz="1800" dirty="0"/>
              <a:t>列号的转换</a:t>
            </a:r>
            <a:endParaRPr lang="zh-CN" altLang="zh-CN" sz="1800" dirty="0"/>
          </a:p>
          <a:p>
            <a:pPr lvl="2"/>
            <a:r>
              <a:rPr lang="zh-CN" altLang="zh-CN" sz="1800" dirty="0"/>
              <a:t>分配盘块的过程</a:t>
            </a:r>
            <a:endParaRPr lang="en-US" altLang="zh-CN" sz="1800" dirty="0"/>
          </a:p>
          <a:p>
            <a:pPr lvl="2"/>
            <a:r>
              <a:rPr lang="zh-CN" altLang="zh-CN" sz="1800" dirty="0"/>
              <a:t>回收盘块的过程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zh-CN" sz="3600" dirty="0"/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642620" y="1628800"/>
            <a:ext cx="8105140" cy="4402455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txBody>
          <a:bodyPr vert="horz" wrap="square" lIns="92075" tIns="46038" rIns="92075" bIns="46038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离散分配方式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之一：成组链接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使用的数据结构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：空闲盘块号栈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盘块成组链接的实现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：利用每组的栈底盘块（第一个盘块）存储上一组盘块的信息。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根据给定的盘块链接情况计算空闲盘块的个数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：第一组实际是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个、中间组都是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个，最后一组（栈中的那组）看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S.nfree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的值。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根据给定的盘块链接信息，回收一组盘块后，给出回收后的盘块链接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：盘块先回收到空闲盘块号栈中，若回收某盘块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时栈满，则先将栈中的内容写入盘块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中、清空栈、将块号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写入栈底。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根据给定的盘块链接信息，分配一组盘块后，给出分配后的盘块链接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：盘块的分配全部从栈中开始分配，若不是栈底盘块直接分配，若是栈底盘块，先将盘块中的内容装入内存后再分配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1154</Words>
  <Application>WPS 演示</Application>
  <PresentationFormat>全屏显示(4:3)</PresentationFormat>
  <Paragraphs>59</Paragraphs>
  <Slides>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Cambria Math</vt:lpstr>
      <vt:lpstr>Cambria Math</vt:lpstr>
      <vt:lpstr>个人主页 (标准)</vt:lpstr>
      <vt:lpstr>内容总结</vt:lpstr>
      <vt:lpstr>内容总结</vt:lpstr>
      <vt:lpstr>内容总结</vt:lpstr>
      <vt:lpstr>内容总结</vt:lpstr>
      <vt:lpstr>内容总结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1516</cp:revision>
  <cp:lastPrinted>1995-12-08T18:33:00Z</cp:lastPrinted>
  <dcterms:created xsi:type="dcterms:W3CDTF">2000-10-31T09:27:00Z</dcterms:created>
  <dcterms:modified xsi:type="dcterms:W3CDTF">2021-12-14T13:47:09Z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80A59BF85023426F90D3AD8861633EE3</vt:lpwstr>
  </property>
</Properties>
</file>