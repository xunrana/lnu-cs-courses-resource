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67" r:id="rId3"/>
    <p:sldId id="537" r:id="rId4"/>
    <p:sldId id="538" r:id="rId5"/>
    <p:sldId id="539" r:id="rId6"/>
    <p:sldId id="540" r:id="rId7"/>
    <p:sldId id="541" r:id="rId8"/>
    <p:sldId id="542" r:id="rId9"/>
  </p:sldIdLst>
  <p:sldSz cx="9144000" cy="6858000" type="screen4x3"/>
  <p:notesSz cx="6934200" cy="9398000"/>
  <p:custDataLst>
    <p:tags r:id="rId15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FFCCFF"/>
    <a:srgbClr val="CCECFF"/>
    <a:srgbClr val="CCCCFF"/>
    <a:srgbClr val="CC99FF"/>
    <a:srgbClr val="DFC0FF"/>
    <a:srgbClr val="9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16"/>
    <p:restoredTop sz="94716"/>
  </p:normalViewPr>
  <p:slideViewPr>
    <p:cSldViewPr showGuides="1">
      <p:cViewPr varScale="1">
        <p:scale>
          <a:sx n="77" d="100"/>
          <a:sy n="77" d="100"/>
        </p:scale>
        <p:origin x="1200" y="67"/>
      </p:cViewPr>
      <p:guideLst>
        <p:guide orient="horz" pos="2119"/>
        <p:guide pos="29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0"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1" name="Rectangle 3"/>
          <p:cNvSpPr>
            <a:spLocks noGrp="1" noRot="1" noChangeAspect="1"/>
          </p:cNvSpPr>
          <p:nvPr>
            <p:ph type="sldImg"/>
          </p:nvPr>
        </p:nvSpPr>
        <p:spPr>
          <a:xfrm>
            <a:off x="1079500" y="685800"/>
            <a:ext cx="4775200" cy="358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95800"/>
            <a:ext cx="5105400" cy="419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3"/>
          <p:cNvSpPr>
            <a:spLocks noChangeArrowheads="1"/>
          </p:cNvSpPr>
          <p:nvPr/>
        </p:nvSpPr>
        <p:spPr bwMode="auto">
          <a:xfrm rot="20940000">
            <a:off x="1828800" y="304800"/>
            <a:ext cx="457200" cy="4572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AutoShape 24"/>
          <p:cNvSpPr>
            <a:spLocks noChangeArrowheads="1"/>
          </p:cNvSpPr>
          <p:nvPr/>
        </p:nvSpPr>
        <p:spPr bwMode="auto">
          <a:xfrm>
            <a:off x="2609850" y="171450"/>
            <a:ext cx="419100" cy="4191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AutoShape 25"/>
          <p:cNvSpPr>
            <a:spLocks noChangeArrowheads="1"/>
          </p:cNvSpPr>
          <p:nvPr/>
        </p:nvSpPr>
        <p:spPr bwMode="auto">
          <a:xfrm rot="20940000">
            <a:off x="1752600" y="228600"/>
            <a:ext cx="457200" cy="4572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AutoShape 26"/>
          <p:cNvSpPr>
            <a:spLocks noChangeArrowheads="1"/>
          </p:cNvSpPr>
          <p:nvPr/>
        </p:nvSpPr>
        <p:spPr bwMode="auto">
          <a:xfrm>
            <a:off x="2533650" y="19050"/>
            <a:ext cx="419100" cy="4191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150" name="Group 27"/>
          <p:cNvGrpSpPr/>
          <p:nvPr/>
        </p:nvGrpSpPr>
        <p:grpSpPr>
          <a:xfrm>
            <a:off x="6934200" y="5181600"/>
            <a:ext cx="2033588" cy="1219200"/>
            <a:chOff x="4368" y="3264"/>
            <a:chExt cx="1281" cy="768"/>
          </a:xfrm>
        </p:grpSpPr>
        <p:sp>
          <p:nvSpPr>
            <p:cNvPr id="24" name="AutoShape 28"/>
            <p:cNvSpPr>
              <a:spLocks noChangeArrowheads="1"/>
            </p:cNvSpPr>
            <p:nvPr/>
          </p:nvSpPr>
          <p:spPr bwMode="auto">
            <a:xfrm rot="20940000">
              <a:off x="4368" y="3681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AutoShape 29"/>
            <p:cNvSpPr>
              <a:spLocks noChangeArrowheads="1"/>
            </p:cNvSpPr>
            <p:nvPr/>
          </p:nvSpPr>
          <p:spPr bwMode="auto">
            <a:xfrm>
              <a:off x="4845" y="3324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 rot="1320000">
              <a:off x="5217" y="3264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AutoShape 31"/>
            <p:cNvSpPr>
              <a:spLocks noChangeArrowheads="1"/>
            </p:cNvSpPr>
            <p:nvPr/>
          </p:nvSpPr>
          <p:spPr bwMode="auto">
            <a:xfrm rot="20940000">
              <a:off x="4449" y="3744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AutoShape 32"/>
            <p:cNvSpPr>
              <a:spLocks noChangeArrowheads="1"/>
            </p:cNvSpPr>
            <p:nvPr/>
          </p:nvSpPr>
          <p:spPr bwMode="auto">
            <a:xfrm>
              <a:off x="4893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AutoShape 33"/>
            <p:cNvSpPr>
              <a:spLocks noChangeArrowheads="1"/>
            </p:cNvSpPr>
            <p:nvPr/>
          </p:nvSpPr>
          <p:spPr bwMode="auto">
            <a:xfrm rot="1320000">
              <a:off x="5265" y="3360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" name="AutoShape 34"/>
          <p:cNvSpPr>
            <a:spLocks noChangeArrowheads="1"/>
          </p:cNvSpPr>
          <p:nvPr/>
        </p:nvSpPr>
        <p:spPr bwMode="auto">
          <a:xfrm rot="1320000">
            <a:off x="168275" y="244475"/>
            <a:ext cx="882650" cy="88265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2667000"/>
            <a:ext cx="6400800" cy="32766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 fontAlgn="base"/>
            <a:r>
              <a:rPr lang="zh-CN" altLang="en-US" strike="noStrike" noProof="0"/>
              <a:t>单击此处编辑母版副标题样式</a:t>
            </a:r>
            <a:endParaRPr lang="zh-CN" altLang="en-US" strike="noStrike" noProof="0"/>
          </a:p>
        </p:txBody>
      </p:sp>
      <p:sp>
        <p:nvSpPr>
          <p:cNvPr id="3091" name="Rectangle 1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144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pPr lvl="0" fontAlgn="base"/>
            <a:r>
              <a:rPr lang="zh-CN" altLang="en-US" strike="noStrike" noProof="0"/>
              <a:t>单击此处编辑母版标题样式</a:t>
            </a:r>
            <a:endParaRPr lang="zh-CN" altLang="en-US" strike="noStrike" noProof="0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76200" y="6323013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defRPr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defRPr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/>
          <a:p>
            <a:pPr algn="r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549275"/>
            <a:ext cx="1943100" cy="5470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549275"/>
            <a:ext cx="5676900" cy="5470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549275"/>
            <a:ext cx="7772400" cy="8223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685800" y="1905000"/>
            <a:ext cx="3810000" cy="4114800"/>
          </a:xfrm>
        </p:spPr>
        <p:txBody>
          <a:bodyPr vert="horz" wrap="square" lIns="92075" tIns="46038" rIns="92075" bIns="46038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p"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549275"/>
            <a:ext cx="7772400" cy="8223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/>
          </p:cNvSpPr>
          <p:nvPr>
            <p:ph type="body"/>
          </p:nvPr>
        </p:nvSpPr>
        <p:spPr>
          <a:xfrm>
            <a:off x="685800" y="19050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 sz="14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1" hangingPunct="1">
              <a:defRPr sz="1400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/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1030" name="Rectangle 16"/>
          <p:cNvSpPr>
            <a:spLocks noGrp="1"/>
          </p:cNvSpPr>
          <p:nvPr>
            <p:ph type="title"/>
          </p:nvPr>
        </p:nvSpPr>
        <p:spPr>
          <a:xfrm>
            <a:off x="685800" y="549275"/>
            <a:ext cx="7772400" cy="82232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1031" name="Group 20"/>
          <p:cNvGrpSpPr/>
          <p:nvPr/>
        </p:nvGrpSpPr>
        <p:grpSpPr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8" name="Group 27"/>
          <p:cNvGrpSpPr/>
          <p:nvPr/>
        </p:nvGrpSpPr>
        <p:grpSpPr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>
              <a:gd name="T0" fmla="*/ 350 w 351"/>
              <a:gd name="T1" fmla="*/ 1 h 219"/>
              <a:gd name="T2" fmla="*/ 101 w 351"/>
              <a:gd name="T3" fmla="*/ 0 h 219"/>
              <a:gd name="T4" fmla="*/ 81 w 351"/>
              <a:gd name="T5" fmla="*/ 2 h 219"/>
              <a:gd name="T6" fmla="*/ 67 w 351"/>
              <a:gd name="T7" fmla="*/ 6 h 219"/>
              <a:gd name="T8" fmla="*/ 51 w 351"/>
              <a:gd name="T9" fmla="*/ 15 h 219"/>
              <a:gd name="T10" fmla="*/ 38 w 351"/>
              <a:gd name="T11" fmla="*/ 25 h 219"/>
              <a:gd name="T12" fmla="*/ 28 w 351"/>
              <a:gd name="T13" fmla="*/ 35 h 219"/>
              <a:gd name="T14" fmla="*/ 19 w 351"/>
              <a:gd name="T15" fmla="*/ 48 h 219"/>
              <a:gd name="T16" fmla="*/ 12 w 351"/>
              <a:gd name="T17" fmla="*/ 59 h 219"/>
              <a:gd name="T18" fmla="*/ 6 w 351"/>
              <a:gd name="T19" fmla="*/ 73 h 219"/>
              <a:gd name="T20" fmla="*/ 1 w 351"/>
              <a:gd name="T21" fmla="*/ 89 h 219"/>
              <a:gd name="T22" fmla="*/ 1 w 351"/>
              <a:gd name="T23" fmla="*/ 99 h 219"/>
              <a:gd name="T24" fmla="*/ 0 w 351"/>
              <a:gd name="T25" fmla="*/ 119 h 219"/>
              <a:gd name="T26" fmla="*/ 2 w 351"/>
              <a:gd name="T27" fmla="*/ 136 h 219"/>
              <a:gd name="T28" fmla="*/ 9 w 351"/>
              <a:gd name="T29" fmla="*/ 150 h 219"/>
              <a:gd name="T30" fmla="*/ 15 w 351"/>
              <a:gd name="T31" fmla="*/ 164 h 219"/>
              <a:gd name="T32" fmla="*/ 24 w 351"/>
              <a:gd name="T33" fmla="*/ 176 h 219"/>
              <a:gd name="T34" fmla="*/ 33 w 351"/>
              <a:gd name="T35" fmla="*/ 189 h 219"/>
              <a:gd name="T36" fmla="*/ 46 w 351"/>
              <a:gd name="T37" fmla="*/ 198 h 219"/>
              <a:gd name="T38" fmla="*/ 59 w 351"/>
              <a:gd name="T39" fmla="*/ 207 h 219"/>
              <a:gd name="T40" fmla="*/ 72 w 351"/>
              <a:gd name="T41" fmla="*/ 212 h 219"/>
              <a:gd name="T42" fmla="*/ 90 w 351"/>
              <a:gd name="T43" fmla="*/ 218 h 219"/>
              <a:gd name="T44" fmla="*/ 350 w 351"/>
              <a:gd name="T45" fmla="*/ 218 h 219"/>
              <a:gd name="T46" fmla="*/ 35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>
              <a:gd name="T0" fmla="*/ 0 w 351"/>
              <a:gd name="T1" fmla="*/ 1 h 219"/>
              <a:gd name="T2" fmla="*/ 249 w 351"/>
              <a:gd name="T3" fmla="*/ 0 h 219"/>
              <a:gd name="T4" fmla="*/ 268 w 351"/>
              <a:gd name="T5" fmla="*/ 3 h 219"/>
              <a:gd name="T6" fmla="*/ 283 w 351"/>
              <a:gd name="T7" fmla="*/ 6 h 219"/>
              <a:gd name="T8" fmla="*/ 298 w 351"/>
              <a:gd name="T9" fmla="*/ 16 h 219"/>
              <a:gd name="T10" fmla="*/ 311 w 351"/>
              <a:gd name="T11" fmla="*/ 26 h 219"/>
              <a:gd name="T12" fmla="*/ 321 w 351"/>
              <a:gd name="T13" fmla="*/ 35 h 219"/>
              <a:gd name="T14" fmla="*/ 331 w 351"/>
              <a:gd name="T15" fmla="*/ 48 h 219"/>
              <a:gd name="T16" fmla="*/ 337 w 351"/>
              <a:gd name="T17" fmla="*/ 60 h 219"/>
              <a:gd name="T18" fmla="*/ 344 w 351"/>
              <a:gd name="T19" fmla="*/ 74 h 219"/>
              <a:gd name="T20" fmla="*/ 349 w 351"/>
              <a:gd name="T21" fmla="*/ 90 h 219"/>
              <a:gd name="T22" fmla="*/ 349 w 351"/>
              <a:gd name="T23" fmla="*/ 100 h 219"/>
              <a:gd name="T24" fmla="*/ 350 w 351"/>
              <a:gd name="T25" fmla="*/ 119 h 219"/>
              <a:gd name="T26" fmla="*/ 347 w 351"/>
              <a:gd name="T27" fmla="*/ 136 h 219"/>
              <a:gd name="T28" fmla="*/ 341 w 351"/>
              <a:gd name="T29" fmla="*/ 151 h 219"/>
              <a:gd name="T30" fmla="*/ 334 w 351"/>
              <a:gd name="T31" fmla="*/ 165 h 219"/>
              <a:gd name="T32" fmla="*/ 325 w 351"/>
              <a:gd name="T33" fmla="*/ 176 h 219"/>
              <a:gd name="T34" fmla="*/ 316 w 351"/>
              <a:gd name="T35" fmla="*/ 189 h 219"/>
              <a:gd name="T36" fmla="*/ 303 w 351"/>
              <a:gd name="T37" fmla="*/ 199 h 219"/>
              <a:gd name="T38" fmla="*/ 290 w 351"/>
              <a:gd name="T39" fmla="*/ 208 h 219"/>
              <a:gd name="T40" fmla="*/ 277 w 351"/>
              <a:gd name="T41" fmla="*/ 213 h 219"/>
              <a:gd name="T42" fmla="*/ 259 w 351"/>
              <a:gd name="T43" fmla="*/ 218 h 219"/>
              <a:gd name="T44" fmla="*/ 0 w 351"/>
              <a:gd name="T45" fmla="*/ 218 h 219"/>
              <a:gd name="T46" fmla="*/ 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p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¬"/>
        <a:defRPr kumimoji="1" sz="32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"/>
        <a:defRPr kumimoji="1" sz="32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/>
          </p:cNvSpPr>
          <p:nvPr>
            <p:ph type="title"/>
          </p:nvPr>
        </p:nvSpPr>
        <p:spPr>
          <a:xfrm>
            <a:off x="685800" y="549275"/>
            <a:ext cx="7772400" cy="71278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</a:rPr>
              <a:t>内容总结 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69634" name="Text Box 3"/>
          <p:cNvSpPr txBox="1"/>
          <p:nvPr/>
        </p:nvSpPr>
        <p:spPr>
          <a:xfrm>
            <a:off x="571500" y="1628775"/>
            <a:ext cx="8001000" cy="4300855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lstStyle/>
          <a:p>
            <a:pPr marL="263525" indent="-263525">
              <a:spcBef>
                <a:spcPct val="20000"/>
              </a:spcBef>
              <a:buClrTx/>
              <a:buSzPct val="75000"/>
              <a:buFont typeface="Wingdings" panose="05000000000000000000" pitchFamily="2" charset="2"/>
              <a:buChar char="§"/>
            </a:pPr>
            <a:r>
              <a:rPr lang="zh-CN" altLang="en-US" dirty="0">
                <a:latin typeface="Times New Roman" panose="02020603050405020304" pitchFamily="18" charset="0"/>
              </a:rPr>
              <a:t>设计操作系统的目标？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263525" indent="-263525">
              <a:spcBef>
                <a:spcPct val="20000"/>
              </a:spcBef>
              <a:buClrTx/>
              <a:buSzPct val="75000"/>
              <a:buFont typeface="Wingdings" panose="05000000000000000000" pitchFamily="2" charset="2"/>
              <a:buChar char="§"/>
            </a:pPr>
            <a:r>
              <a:rPr lang="zh-CN" altLang="en-US" dirty="0">
                <a:sym typeface="+mn-ea"/>
              </a:rPr>
              <a:t>从三个角度分析</a:t>
            </a:r>
            <a:r>
              <a:rPr lang="zh-CN" altLang="en-US" dirty="0">
                <a:latin typeface="Times New Roman" panose="02020603050405020304" pitchFamily="18" charset="0"/>
              </a:rPr>
              <a:t>操作系统的作用？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263525" indent="-263525">
              <a:spcBef>
                <a:spcPct val="20000"/>
              </a:spcBef>
              <a:buClrTx/>
              <a:buSzPct val="75000"/>
              <a:buFont typeface="Wingdings" panose="05000000000000000000" pitchFamily="2" charset="2"/>
              <a:buChar char="§"/>
            </a:pPr>
            <a:r>
              <a:rPr lang="zh-CN" altLang="en-US" dirty="0">
                <a:latin typeface="Times New Roman" panose="02020603050405020304" pitchFamily="18" charset="0"/>
              </a:rPr>
              <a:t>推动操作系统发展的因素？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263525" indent="-263525">
              <a:spcBef>
                <a:spcPct val="20000"/>
              </a:spcBef>
              <a:buClrTx/>
              <a:buSzPct val="75000"/>
              <a:buFont typeface="Wingdings" panose="05000000000000000000" pitchFamily="2" charset="2"/>
              <a:buChar char="§"/>
            </a:pPr>
            <a:r>
              <a:rPr lang="zh-CN" altLang="en-US" dirty="0">
                <a:latin typeface="Times New Roman" panose="02020603050405020304" pitchFamily="18" charset="0"/>
              </a:rPr>
              <a:t>三种基本类型</a:t>
            </a:r>
            <a:r>
              <a:rPr lang="en-US" altLang="zh-CN" dirty="0">
                <a:latin typeface="Times New Roman" panose="02020603050405020304" pitchFamily="18" charset="0"/>
              </a:rPr>
              <a:t>OS</a:t>
            </a:r>
            <a:r>
              <a:rPr lang="zh-CN" altLang="en-US" dirty="0">
                <a:latin typeface="Times New Roman" panose="02020603050405020304" pitchFamily="18" charset="0"/>
              </a:rPr>
              <a:t>的主要特征？以及每种操作系统旨在解决的问题。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263525" indent="-263525">
              <a:spcBef>
                <a:spcPct val="20000"/>
              </a:spcBef>
              <a:buClrTx/>
              <a:buSzPct val="75000"/>
              <a:buFont typeface="Wingdings" panose="05000000000000000000" pitchFamily="2" charset="2"/>
              <a:buChar char="§"/>
            </a:pPr>
            <a:r>
              <a:rPr lang="zh-CN" altLang="en-US" dirty="0">
                <a:latin typeface="Times New Roman" panose="02020603050405020304" pitchFamily="18" charset="0"/>
              </a:rPr>
              <a:t>引入多道程序设计的好处？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263525" indent="-263525">
              <a:spcBef>
                <a:spcPct val="20000"/>
              </a:spcBef>
              <a:buClrTx/>
              <a:buSzPct val="75000"/>
              <a:buFont typeface="Wingdings" panose="05000000000000000000" pitchFamily="2" charset="2"/>
              <a:buChar char="§"/>
            </a:pPr>
            <a:r>
              <a:rPr lang="zh-CN" altLang="en-US" dirty="0">
                <a:latin typeface="Times New Roman" panose="02020603050405020304" pitchFamily="18" charset="0"/>
              </a:rPr>
              <a:t>操作系统的定义、基本特征、功能？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263525" indent="-263525">
              <a:spcBef>
                <a:spcPct val="20000"/>
              </a:spcBef>
              <a:buClrTx/>
              <a:buSzPct val="75000"/>
              <a:buFont typeface="Wingdings" panose="05000000000000000000" pitchFamily="2" charset="2"/>
              <a:buChar char="§"/>
            </a:pPr>
            <a:r>
              <a:rPr lang="zh-CN" altLang="en-US" dirty="0">
                <a:latin typeface="Times New Roman" panose="02020603050405020304" pitchFamily="18" charset="0"/>
              </a:rPr>
              <a:t>为什么分时系统可实现交互性和及时性，而批处理操作系统不可以？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263525" indent="-263525">
              <a:spcBef>
                <a:spcPct val="20000"/>
              </a:spcBef>
              <a:buClrTx/>
              <a:buSzPct val="75000"/>
              <a:buFont typeface="Wingdings" panose="05000000000000000000" pitchFamily="2" charset="2"/>
              <a:buChar char="§"/>
            </a:pPr>
            <a:r>
              <a:rPr lang="zh-CN" altLang="en-US" dirty="0">
                <a:latin typeface="Times New Roman" panose="02020603050405020304" pitchFamily="18" charset="0"/>
              </a:rPr>
              <a:t>操作系统中使用哪些虚拟技术来提高资源的利用率？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/>
          </p:cNvSpPr>
          <p:nvPr>
            <p:ph type="title"/>
          </p:nvPr>
        </p:nvSpPr>
        <p:spPr>
          <a:xfrm>
            <a:off x="685800" y="549275"/>
            <a:ext cx="7772400" cy="71278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</a:rPr>
              <a:t>内容总结 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55576" y="1700808"/>
            <a:ext cx="7848872" cy="4051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多道批处理系统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algn="just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tabLst>
                <a:tab pos="533400" algn="l"/>
              </a:tabLst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产生的主要原因：旨在提高系统资源的利用率和系统吞吐量——多道程序设计技术。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algn="just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tabLst>
                <a:tab pos="533400" algn="l"/>
              </a:tabLst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使用的调度算法：为了照顾类型众多的短作业，适合使用短作业（进程）优先调度算法。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algn="just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tabLst>
                <a:tab pos="533400" algn="l"/>
              </a:tabLst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引入多道程序设计的好处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algn="just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tabLst>
                <a:tab pos="533400" algn="l"/>
              </a:tabLst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理解及计算：多道程序设计的引入能够提高系统的吞吐量、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的利用率，单对某一作业的执行时间不可能缩短，还有可能延长。例如：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/>
          </p:cNvSpPr>
          <p:nvPr>
            <p:ph type="title"/>
          </p:nvPr>
        </p:nvSpPr>
        <p:spPr>
          <a:xfrm>
            <a:off x="685800" y="549275"/>
            <a:ext cx="7772400" cy="71278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</a:rPr>
              <a:t>内容总结 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5800" y="1772816"/>
            <a:ext cx="7920880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algn="just">
              <a:spcBef>
                <a:spcPts val="600"/>
              </a:spcBef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某计算机系统有一个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CPU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、一台输入设备、一台打印机。现有两个进程同时进入就绪状态，且进程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A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先得到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CPU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运行，进程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B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后运行。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spcBef>
                <a:spcPts val="600"/>
              </a:spcBef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程序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A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：计算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50ms 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打印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100ms 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计算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50ms 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打印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100ms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spcBef>
                <a:spcPts val="600"/>
              </a:spcBef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程序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B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：计算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50ms 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输入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80ms 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计算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100ms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spcBef>
                <a:spcPts val="600"/>
              </a:spcBef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）开始运行后，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CPU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有无空闲等待？若有，在哪段时间等待？计算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CPU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利用率。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spcBef>
                <a:spcPts val="600"/>
              </a:spcBef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）进程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A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楷体" panose="02010609060101010101" pitchFamily="49" charset="-122"/>
              </a:rPr>
              <a:t>运行时有无等待现象？若有，在什么时间发生等待现象？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</a:pPr>
            <a:r>
              <a:rPr lang="zh-CN" altLang="zh-CN" dirty="0">
                <a:effectLst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dirty="0">
                <a:effectLst/>
                <a:ea typeface="楷体" panose="02010609060101010101" pitchFamily="49" charset="-122"/>
                <a:cs typeface="楷体" panose="02010609060101010101" pitchFamily="49" charset="-122"/>
              </a:rPr>
              <a:t>3</a:t>
            </a:r>
            <a:r>
              <a:rPr lang="zh-CN" altLang="zh-CN" dirty="0">
                <a:effectLst/>
                <a:ea typeface="楷体" panose="02010609060101010101" pitchFamily="49" charset="-122"/>
                <a:cs typeface="楷体" panose="02010609060101010101" pitchFamily="49" charset="-122"/>
              </a:rPr>
              <a:t>）进程</a:t>
            </a:r>
            <a:r>
              <a:rPr lang="en-US" altLang="zh-CN" dirty="0">
                <a:effectLst/>
                <a:ea typeface="楷体" panose="02010609060101010101" pitchFamily="49" charset="-122"/>
                <a:cs typeface="楷体" panose="02010609060101010101" pitchFamily="49" charset="-122"/>
              </a:rPr>
              <a:t>B</a:t>
            </a:r>
            <a:r>
              <a:rPr lang="zh-CN" altLang="zh-CN" dirty="0">
                <a:effectLst/>
                <a:ea typeface="楷体" panose="02010609060101010101" pitchFamily="49" charset="-122"/>
                <a:cs typeface="楷体" panose="02010609060101010101" pitchFamily="49" charset="-122"/>
              </a:rPr>
              <a:t>运行时有无等待现象？若有，在什么时间发生等待现象？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/>
          </p:cNvSpPr>
          <p:nvPr>
            <p:ph type="title"/>
          </p:nvPr>
        </p:nvSpPr>
        <p:spPr>
          <a:xfrm>
            <a:off x="685800" y="549275"/>
            <a:ext cx="7772400" cy="71278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</a:rPr>
              <a:t>内容总结 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55575" y="1628800"/>
            <a:ext cx="7920881" cy="4707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分时操作系统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分时系统产生的主要原因：用于满足用户的需求，方便用户使用计算机——交互性的需求。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使用的调度算法：时间片轮转调度算法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分时系统与批处理系统的比较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为什么分时系统具有交互性，而批处理系统不具有交互性？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为什么分时系统能实现及时性，而批处理系统无法实现及时性？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/>
          </p:cNvSpPr>
          <p:nvPr>
            <p:ph type="title"/>
          </p:nvPr>
        </p:nvSpPr>
        <p:spPr>
          <a:xfrm>
            <a:off x="685800" y="549275"/>
            <a:ext cx="7772400" cy="71278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</a:rPr>
              <a:t>内容总结 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5800" y="1700808"/>
            <a:ext cx="8208912" cy="4177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实时操作系统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algn="just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实时系统产生的主要原因：旨在能够使紧急任务得到及时、可靠的处理。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algn="just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使用的调度算法：优先级高者优先调度算法，在实时性要求比较高的系统中，还采用抢占式的调度算法。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微机操作系统的发展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algn="just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单用户单任务操作系统：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MS-DOS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algn="just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单用户多任务操作系统：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Windows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多用户多任务操作系统：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Unix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/>
          </p:cNvSpPr>
          <p:nvPr>
            <p:ph type="title"/>
          </p:nvPr>
        </p:nvSpPr>
        <p:spPr>
          <a:xfrm>
            <a:off x="685800" y="549275"/>
            <a:ext cx="7772400" cy="71278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</a:rPr>
              <a:t>内容总结 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8558" y="1700808"/>
            <a:ext cx="7575849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操作系统的基本特征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并发性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257300" lvl="2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并发性定义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257300" lvl="2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并行性定义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257300" lvl="2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并发与并行的区别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共享性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257300" lvl="2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共享的定义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257300" lvl="2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并发进程共享资源的方式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257300" lvl="2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并发与共享之间的关系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just">
              <a:spcBef>
                <a:spcPts val="600"/>
              </a:spcBef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/>
          </p:cNvSpPr>
          <p:nvPr>
            <p:ph type="title"/>
          </p:nvPr>
        </p:nvSpPr>
        <p:spPr>
          <a:xfrm>
            <a:off x="685800" y="549275"/>
            <a:ext cx="7772400" cy="71278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</a:rPr>
              <a:t>内容总结 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8558" y="1556792"/>
            <a:ext cx="8007898" cy="4169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虚拟性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257300" lvl="2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什么是虚拟性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257300" lvl="2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OS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中实现虚拟性的方式：时分复用技术（时间片轮转、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SPOOLing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）、空分复用技术（虚拟磁盘、虚拟内存）——操作系统中使用哪些虚拟技术来提高资源的利用率？虚拟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、虚拟设备、虚拟内存的实现。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异步性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257300" lvl="2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异步性定义：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2573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产生异步性的原因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zJlZWY4MzUzZWZhM2MzY2E5NzViMGM0MzA5ZjhkOGUifQ=="/>
</p:tagLst>
</file>

<file path=ppt/theme/theme1.xml><?xml version="1.0" encoding="utf-8"?>
<a:theme xmlns:a="http://schemas.openxmlformats.org/drawingml/2006/main" name="个人主页 (标准)">
  <a:themeElements>
    <a:clrScheme name="个人主页 (标准)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FFFF"/>
      </a:accent1>
      <a:accent2>
        <a:srgbClr val="336699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5C8A"/>
      </a:accent6>
      <a:hlink>
        <a:srgbClr val="EAEAEA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FF"/>
        </a:accent1>
        <a:accent2>
          <a:srgbClr val="336699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Office\Templates\演示文稿\个人主页 (标准).pot</Template>
  <TotalTime>0</TotalTime>
  <Words>1018</Words>
  <Application>WPS 演示</Application>
  <PresentationFormat>全屏显示(4:3)</PresentationFormat>
  <Paragraphs>69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Times New Roman</vt:lpstr>
      <vt:lpstr>楷体</vt:lpstr>
      <vt:lpstr>微软雅黑</vt:lpstr>
      <vt:lpstr>Arial Unicode MS</vt:lpstr>
      <vt:lpstr>个人主页 (标准)</vt:lpstr>
      <vt:lpstr>内容总结 </vt:lpstr>
      <vt:lpstr>内容总结 </vt:lpstr>
      <vt:lpstr>内容总结 </vt:lpstr>
      <vt:lpstr>内容总结 </vt:lpstr>
      <vt:lpstr>内容总结 </vt:lpstr>
      <vt:lpstr>内容总结 </vt:lpstr>
      <vt:lpstr>内容总结 </vt:lpstr>
    </vt:vector>
  </TitlesOfParts>
  <Company>NEU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数据库系统原理</dc:title>
  <dc:creator>songby</dc:creator>
  <cp:lastModifiedBy>Administrator</cp:lastModifiedBy>
  <cp:revision>830</cp:revision>
  <cp:lastPrinted>1995-12-08T18:33:00Z</cp:lastPrinted>
  <dcterms:created xsi:type="dcterms:W3CDTF">2000-10-31T09:27:00Z</dcterms:created>
  <dcterms:modified xsi:type="dcterms:W3CDTF">2022-09-05T02:47:21Z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2052-11.1.0.12313</vt:lpwstr>
  </property>
  <property fmtid="{D5CDD505-2E9C-101B-9397-08002B2CF9AE}" pid="3" name="ICV">
    <vt:lpwstr>7841C5C54B344526AE194E9D0B8A6977</vt:lpwstr>
  </property>
</Properties>
</file>