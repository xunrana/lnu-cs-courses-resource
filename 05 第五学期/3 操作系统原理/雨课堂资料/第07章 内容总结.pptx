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688" r:id="rId3"/>
    <p:sldId id="689" r:id="rId4"/>
    <p:sldId id="690" r:id="rId5"/>
  </p:sldIdLst>
  <p:sldSz cx="9144000" cy="6858000" type="screen4x3"/>
  <p:notesSz cx="6934200" cy="9398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FC0FF"/>
    <a:srgbClr val="FFCCFF"/>
    <a:srgbClr val="90DBFF"/>
    <a:srgbClr val="FFCC00"/>
    <a:srgbClr val="CCECFF"/>
    <a:srgbClr val="CC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16"/>
  </p:normalViewPr>
  <p:slideViewPr>
    <p:cSldViewPr showGuides="1">
      <p:cViewPr varScale="1">
        <p:scale>
          <a:sx n="83" d="100"/>
          <a:sy n="83" d="100"/>
        </p:scale>
        <p:origin x="845" y="62"/>
      </p:cViewPr>
      <p:guideLst>
        <p:guide orient="horz" pos="2260"/>
        <p:guide pos="301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-2826" y="-114"/>
      </p:cViewPr>
      <p:guideLst>
        <p:guide orient="horz" pos="3097"/>
        <p:guide pos="228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Rot="1" noChangeAspect="1"/>
          </p:cNvSpPr>
          <p:nvPr>
            <p:ph type="sldImg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rgbClr val="FFFFFF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3"/>
          <p:cNvSpPr>
            <a:spLocks noChangeArrowheads="1"/>
          </p:cNvSpPr>
          <p:nvPr/>
        </p:nvSpPr>
        <p:spPr bwMode="auto">
          <a:xfrm rot="20940000">
            <a:off x="1828800" y="304800"/>
            <a:ext cx="4572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AutoShape 24"/>
          <p:cNvSpPr>
            <a:spLocks noChangeArrowheads="1"/>
          </p:cNvSpPr>
          <p:nvPr/>
        </p:nvSpPr>
        <p:spPr bwMode="auto">
          <a:xfrm>
            <a:off x="2609850" y="171450"/>
            <a:ext cx="4191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AutoShape 25"/>
          <p:cNvSpPr>
            <a:spLocks noChangeArrowheads="1"/>
          </p:cNvSpPr>
          <p:nvPr/>
        </p:nvSpPr>
        <p:spPr bwMode="auto">
          <a:xfrm rot="20940000">
            <a:off x="1752600" y="228600"/>
            <a:ext cx="4572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AutoShape 26"/>
          <p:cNvSpPr>
            <a:spLocks noChangeArrowheads="1"/>
          </p:cNvSpPr>
          <p:nvPr/>
        </p:nvSpPr>
        <p:spPr bwMode="auto">
          <a:xfrm>
            <a:off x="2533650" y="19050"/>
            <a:ext cx="4191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4" name="Group 27"/>
          <p:cNvGrpSpPr/>
          <p:nvPr/>
        </p:nvGrpSpPr>
        <p:grpSpPr>
          <a:xfrm>
            <a:off x="6934200" y="5181600"/>
            <a:ext cx="2033588" cy="1219200"/>
            <a:chOff x="4368" y="3264"/>
            <a:chExt cx="1281" cy="768"/>
          </a:xfrm>
        </p:grpSpPr>
        <p:sp>
          <p:nvSpPr>
            <p:cNvPr id="24" name="AutoShape 28"/>
            <p:cNvSpPr>
              <a:spLocks noChangeArrowheads="1"/>
            </p:cNvSpPr>
            <p:nvPr/>
          </p:nvSpPr>
          <p:spPr bwMode="auto"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AutoShape 29"/>
            <p:cNvSpPr>
              <a:spLocks noChangeArrowheads="1"/>
            </p:cNvSpPr>
            <p:nvPr/>
          </p:nvSpPr>
          <p:spPr bwMode="auto"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AutoShape 31"/>
            <p:cNvSpPr>
              <a:spLocks noChangeArrowheads="1"/>
            </p:cNvSpPr>
            <p:nvPr/>
          </p:nvSpPr>
          <p:spPr bwMode="auto"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AutoShape 32"/>
            <p:cNvSpPr>
              <a:spLocks noChangeArrowheads="1"/>
            </p:cNvSpPr>
            <p:nvPr/>
          </p:nvSpPr>
          <p:spPr bwMode="auto"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AutoShape 33"/>
            <p:cNvSpPr>
              <a:spLocks noChangeArrowheads="1"/>
            </p:cNvSpPr>
            <p:nvPr/>
          </p:nvSpPr>
          <p:spPr bwMode="auto"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" name="AutoShape 34"/>
          <p:cNvSpPr>
            <a:spLocks noChangeArrowheads="1"/>
          </p:cNvSpPr>
          <p:nvPr/>
        </p:nvSpPr>
        <p:spPr bwMode="auto">
          <a:xfrm rot="1320000">
            <a:off x="168275" y="244475"/>
            <a:ext cx="882650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667000"/>
            <a:ext cx="6400800" cy="32766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14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76200" y="6323013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/>
          <a:p>
            <a:pPr algn="r" fontAlgn="base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5" y="1700213"/>
            <a:ext cx="41719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175" y="1700213"/>
            <a:ext cx="41735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4638" y="373063"/>
            <a:ext cx="2124075" cy="544195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5" y="373063"/>
            <a:ext cx="6221413" cy="54419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750" y="373063"/>
            <a:ext cx="7772400" cy="67945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250825" y="1700213"/>
            <a:ext cx="4171950" cy="4114800"/>
          </a:xfrm>
        </p:spPr>
        <p:txBody>
          <a:bodyPr vert="horz" wrap="square" lIns="92075" tIns="46038" rIns="92075" bIns="46038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1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5175" y="1700213"/>
            <a:ext cx="4173538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/>
          </p:nvPr>
        </p:nvSpPr>
        <p:spPr>
          <a:xfrm>
            <a:off x="250825" y="1700213"/>
            <a:ext cx="8497888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sz="14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400">
                <a:latin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buFontTx/>
              <a:defRPr sz="1400">
                <a:latin typeface="Times New Roman" panose="02020603050405020304" pitchFamily="18" charset="0"/>
              </a:defRPr>
            </a:lvl1pPr>
          </a:lstStyle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539750" y="373063"/>
            <a:ext cx="7772400" cy="6794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8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/>
            <a:ahLst/>
            <a:cxnLst>
              <a:cxn ang="0">
                <a:pos x="350" y="1"/>
              </a:cxn>
              <a:cxn ang="0">
                <a:pos x="101" y="0"/>
              </a:cxn>
              <a:cxn ang="0">
                <a:pos x="81" y="2"/>
              </a:cxn>
              <a:cxn ang="0">
                <a:pos x="67" y="6"/>
              </a:cxn>
              <a:cxn ang="0">
                <a:pos x="51" y="15"/>
              </a:cxn>
              <a:cxn ang="0">
                <a:pos x="38" y="25"/>
              </a:cxn>
              <a:cxn ang="0">
                <a:pos x="28" y="35"/>
              </a:cxn>
              <a:cxn ang="0">
                <a:pos x="19" y="48"/>
              </a:cxn>
              <a:cxn ang="0">
                <a:pos x="12" y="59"/>
              </a:cxn>
              <a:cxn ang="0">
                <a:pos x="6" y="73"/>
              </a:cxn>
              <a:cxn ang="0">
                <a:pos x="1" y="89"/>
              </a:cxn>
              <a:cxn ang="0">
                <a:pos x="1" y="99"/>
              </a:cxn>
              <a:cxn ang="0">
                <a:pos x="0" y="119"/>
              </a:cxn>
              <a:cxn ang="0">
                <a:pos x="2" y="136"/>
              </a:cxn>
              <a:cxn ang="0">
                <a:pos x="9" y="150"/>
              </a:cxn>
              <a:cxn ang="0">
                <a:pos x="15" y="164"/>
              </a:cxn>
              <a:cxn ang="0">
                <a:pos x="24" y="176"/>
              </a:cxn>
              <a:cxn ang="0">
                <a:pos x="33" y="189"/>
              </a:cxn>
              <a:cxn ang="0">
                <a:pos x="46" y="198"/>
              </a:cxn>
              <a:cxn ang="0">
                <a:pos x="59" y="207"/>
              </a:cxn>
              <a:cxn ang="0">
                <a:pos x="72" y="212"/>
              </a:cxn>
              <a:cxn ang="0">
                <a:pos x="90" y="218"/>
              </a:cxn>
              <a:cxn ang="0">
                <a:pos x="350" y="218"/>
              </a:cxn>
              <a:cxn ang="0">
                <a:pos x="350" y="1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249" y="0"/>
              </a:cxn>
              <a:cxn ang="0">
                <a:pos x="268" y="3"/>
              </a:cxn>
              <a:cxn ang="0">
                <a:pos x="283" y="6"/>
              </a:cxn>
              <a:cxn ang="0">
                <a:pos x="298" y="16"/>
              </a:cxn>
              <a:cxn ang="0">
                <a:pos x="311" y="26"/>
              </a:cxn>
              <a:cxn ang="0">
                <a:pos x="321" y="35"/>
              </a:cxn>
              <a:cxn ang="0">
                <a:pos x="331" y="48"/>
              </a:cxn>
              <a:cxn ang="0">
                <a:pos x="337" y="60"/>
              </a:cxn>
              <a:cxn ang="0">
                <a:pos x="344" y="74"/>
              </a:cxn>
              <a:cxn ang="0">
                <a:pos x="349" y="90"/>
              </a:cxn>
              <a:cxn ang="0">
                <a:pos x="349" y="100"/>
              </a:cxn>
              <a:cxn ang="0">
                <a:pos x="350" y="119"/>
              </a:cxn>
              <a:cxn ang="0">
                <a:pos x="347" y="136"/>
              </a:cxn>
              <a:cxn ang="0">
                <a:pos x="341" y="151"/>
              </a:cxn>
              <a:cxn ang="0">
                <a:pos x="334" y="165"/>
              </a:cxn>
              <a:cxn ang="0">
                <a:pos x="325" y="176"/>
              </a:cxn>
              <a:cxn ang="0">
                <a:pos x="316" y="189"/>
              </a:cxn>
              <a:cxn ang="0">
                <a:pos x="303" y="199"/>
              </a:cxn>
              <a:cxn ang="0">
                <a:pos x="290" y="208"/>
              </a:cxn>
              <a:cxn ang="0">
                <a:pos x="277" y="213"/>
              </a:cxn>
              <a:cxn ang="0">
                <a:pos x="259" y="218"/>
              </a:cxn>
              <a:cxn ang="0">
                <a:pos x="0" y="218"/>
              </a:cxn>
              <a:cxn ang="0">
                <a:pos x="0" y="1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n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p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1" name="Text Box 11"/>
          <p:cNvSpPr txBox="1"/>
          <p:nvPr/>
        </p:nvSpPr>
        <p:spPr>
          <a:xfrm>
            <a:off x="612140" y="1610995"/>
            <a:ext cx="8072120" cy="4538345"/>
          </a:xfrm>
          <a:prstGeom prst="rect">
            <a:avLst/>
          </a:prstGeom>
          <a:noFill/>
          <a:ln w="9525">
            <a:noFill/>
          </a:ln>
        </p:spPr>
        <p:txBody>
          <a:bodyPr wrap="square" lIns="92075" tIns="46038" rIns="92075" bIns="46038">
            <a:spAutoFit/>
          </a:bodyPr>
          <a:p>
            <a:pPr marL="205740" lvl="0" indent="-34290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charset="0"/>
              <a:buChar char="p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文件和文件系统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800100" lvl="1" indent="-34290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charset="0"/>
              <a:buChar char="Ø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定义：文件、记录、数据项、文件系统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800100" lvl="1" indent="-34290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charset="0"/>
              <a:buChar char="Ø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文件系统的层次结构（文件系统的模型）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800100" lvl="1" indent="-34290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charset="0"/>
              <a:buChar char="Ø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文件系统为何提供文件打开、关闭操作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lvl="0" indent="-34290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charset="0"/>
              <a:buChar char="p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文件的逻辑结构：逻辑结构和物理结构都会影响文件的检索速度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800100" lvl="1" indent="-34290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charset="0"/>
              <a:buChar char="Ø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定义：文件的逻辑结构、文件的物理结构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800100" lvl="1" indent="-34290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charset="0"/>
              <a:buChar char="Ø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按是否有结构分类：有结构（定长记录、变长记录）、无结构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800100" lvl="1" indent="-34290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charset="0"/>
              <a:buChar char="Ø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按文件的组织方式分类：不同逻辑结构，检索一条记录的最好、最坏和平均次数计算：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257300" lvl="2" indent="-34290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顺序文件：串结构、定长/不定长记录的寻址方式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257300" lvl="2" indent="-34290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索引文件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257300" lvl="2" indent="-34290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索引顺序文件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xfrm>
            <a:off x="539750" y="476250"/>
            <a:ext cx="7772400" cy="66833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sz="3600" dirty="0">
                <a:latin typeface="Times New Roman" panose="02020603050405020304" pitchFamily="18" charset="0"/>
              </a:rPr>
              <a:t>内容总结</a:t>
            </a:r>
            <a:endParaRPr lang="zh-CN" sz="3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1" name="Text Box 11"/>
          <p:cNvSpPr txBox="1"/>
          <p:nvPr/>
        </p:nvSpPr>
        <p:spPr>
          <a:xfrm>
            <a:off x="612140" y="1610995"/>
            <a:ext cx="8072120" cy="3784600"/>
          </a:xfrm>
          <a:prstGeom prst="rect">
            <a:avLst/>
          </a:prstGeom>
          <a:noFill/>
          <a:ln w="9525">
            <a:noFill/>
          </a:ln>
        </p:spPr>
        <p:txBody>
          <a:bodyPr wrap="square" lIns="92075" tIns="46038" rIns="92075" bIns="46038">
            <a:spAutoFit/>
          </a:bodyPr>
          <a:p>
            <a:pPr marL="205740" lvl="0" indent="-34290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charset="0"/>
              <a:buChar char="p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目录管理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662940" lvl="1" indent="-34290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charset="0"/>
              <a:buChar char="Ø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目录是文件系统实现按名存取的重要手段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662940" lvl="1" indent="-34290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charset="0"/>
              <a:buChar char="Ø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引入索引结点前、后，文件占用盘块数的计算，及读取一个FCB平均启动磁盘的次数。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662940" lvl="1" indent="-34290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charset="0"/>
              <a:buChar char="Ø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目录结构：单级、二级、多级（树型）目录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777240" lvl="2" indent="36957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①单级目录查询一个目录项的比较次数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777240" lvl="2" indent="36957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②二级目录查询一个目录项的比较次数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777240" lvl="2" indent="36957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tabLst>
                <a:tab pos="268605" algn="l"/>
              </a:tabLst>
            </a:pPr>
            <a:r>
              <a:rPr lang="zh-CN" altLang="en-US" sz="2000" dirty="0">
                <a:latin typeface="Calibri" panose="020F0502020204030204" charset="0"/>
                <a:cs typeface="Times New Roman" panose="02020603050405020304" pitchFamily="18" charset="0"/>
                <a:sym typeface="+mn-ea"/>
              </a:rPr>
              <a:t>③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二级、多级目录允许文件重名及文件共享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777240" lvl="2" indent="36957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④绝对路径、相对路径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800100" lvl="1" indent="-34290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charset="0"/>
              <a:buChar char="Ø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目录的检索方法：线性检索法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xfrm>
            <a:off x="539750" y="476250"/>
            <a:ext cx="7772400" cy="66833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sz="3600" dirty="0">
                <a:latin typeface="Times New Roman" panose="02020603050405020304" pitchFamily="18" charset="0"/>
              </a:rPr>
              <a:t>内容总结</a:t>
            </a:r>
            <a:endParaRPr lang="zh-CN" sz="3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1" name="Text Box 11"/>
          <p:cNvSpPr txBox="1"/>
          <p:nvPr/>
        </p:nvSpPr>
        <p:spPr>
          <a:xfrm>
            <a:off x="612140" y="1610995"/>
            <a:ext cx="8072120" cy="2953385"/>
          </a:xfrm>
          <a:prstGeom prst="rect">
            <a:avLst/>
          </a:prstGeom>
          <a:noFill/>
          <a:ln w="9525">
            <a:noFill/>
          </a:ln>
        </p:spPr>
        <p:txBody>
          <a:bodyPr wrap="square" lIns="92075" tIns="46038" rIns="92075" bIns="46038">
            <a:spAutoFit/>
          </a:bodyPr>
          <a:p>
            <a:pPr marL="205740" lvl="0" indent="-34290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charset="0"/>
              <a:buChar char="p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文件的共享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597535" lvl="1" indent="-27686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有向无循环图DAG：改树型目录结构（不适合文件共享）变为DAG图形式，即一个文件可以有多个父目录。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597535" lvl="1" indent="-27686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利用索引节点：目录的信息放在索引节点中，共享该问文件的用户目录中增加共享文件的名字及索引节点编号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597535" lvl="1" indent="-276860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利用符号链接实现文件共享：避免指针悬空问题，共享的目录中存放路径。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20675" lvl="1" defTabSz="48577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tabLst>
                <a:tab pos="268605" algn="l"/>
              </a:tabLst>
            </a:pP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xfrm>
            <a:off x="539750" y="476250"/>
            <a:ext cx="7772400" cy="66833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sz="3600" dirty="0">
                <a:latin typeface="Times New Roman" panose="02020603050405020304" pitchFamily="18" charset="0"/>
              </a:rPr>
              <a:t>内容总结</a:t>
            </a:r>
            <a:endParaRPr lang="zh-CN" sz="3600" dirty="0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9010" y="4564380"/>
            <a:ext cx="691388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Clr>
                <a:srgbClr val="000000"/>
              </a:buClr>
              <a:buFont typeface="Wingdings" panose="05000000000000000000" charset="0"/>
              <a:buChar char="l"/>
            </a:pPr>
            <a:r>
              <a:rPr lang="zh-CN" altLang="en-US" sz="2000" dirty="0">
                <a:sym typeface="+mn-ea"/>
              </a:rPr>
              <a:t>文件系统：指对文件进行管理的软件，被管理的那部分文件、文件属性及管理所需的数据结构的总体。</a:t>
            </a:r>
            <a:endParaRPr lang="zh-CN" altLang="en-US" sz="200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个人主页 (标准)">
  <a:themeElements>
    <a:clrScheme name="个人主页 (标准) 9">
      <a:dk1>
        <a:srgbClr val="000000"/>
      </a:dk1>
      <a:lt1>
        <a:srgbClr val="DFF9EF"/>
      </a:lt1>
      <a:dk2>
        <a:srgbClr val="0000FF"/>
      </a:dk2>
      <a:lt2>
        <a:srgbClr val="000000"/>
      </a:lt2>
      <a:accent1>
        <a:srgbClr val="000000"/>
      </a:accent1>
      <a:accent2>
        <a:srgbClr val="336699"/>
      </a:accent2>
      <a:accent3>
        <a:srgbClr val="ECFBF6"/>
      </a:accent3>
      <a:accent4>
        <a:srgbClr val="000000"/>
      </a:accent4>
      <a:accent5>
        <a:srgbClr val="AAAAAA"/>
      </a:accent5>
      <a:accent6>
        <a:srgbClr val="2D5C8A"/>
      </a:accent6>
      <a:hlink>
        <a:srgbClr val="EBFFF5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485775" marR="0" indent="-485775" algn="l" defTabSz="485775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80000"/>
          <a:buFont typeface="Wingdings" panose="05000000000000000000" pitchFamily="2" charset="2"/>
          <a:buNone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485775" marR="0" indent="-485775" algn="l" defTabSz="485775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80000"/>
          <a:buFont typeface="Wingdings" panose="05000000000000000000" pitchFamily="2" charset="2"/>
          <a:buNone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FF9933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5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6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DDDDDD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7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6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B7FFE7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8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6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DDFFF4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9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6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EBFFF5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550</Words>
  <Application>WPS 演示</Application>
  <PresentationFormat>全屏显示(4:3)</PresentationFormat>
  <Paragraphs>36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Times New Roman</vt:lpstr>
      <vt:lpstr>Wingdings</vt:lpstr>
      <vt:lpstr>微软雅黑</vt:lpstr>
      <vt:lpstr>Arial Unicode MS</vt:lpstr>
      <vt:lpstr>Calibri</vt:lpstr>
      <vt:lpstr>Tahoma</vt:lpstr>
      <vt:lpstr>个人主页 (标准)</vt:lpstr>
      <vt:lpstr>7.4 文件共享</vt:lpstr>
      <vt:lpstr>内容总结</vt:lpstr>
      <vt:lpstr>内容总结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红艳</cp:lastModifiedBy>
  <cp:revision>1377</cp:revision>
  <cp:lastPrinted>1995-12-08T18:33:00Z</cp:lastPrinted>
  <dcterms:created xsi:type="dcterms:W3CDTF">2000-10-31T09:27:00Z</dcterms:created>
  <dcterms:modified xsi:type="dcterms:W3CDTF">2021-11-21T06:21:37Z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2052-11.1.0.11115</vt:lpwstr>
  </property>
  <property fmtid="{D5CDD505-2E9C-101B-9397-08002B2CF9AE}" pid="3" name="ICV">
    <vt:lpwstr>91DC8B0F4755494B972F562A1D95CE71</vt:lpwstr>
  </property>
</Properties>
</file>