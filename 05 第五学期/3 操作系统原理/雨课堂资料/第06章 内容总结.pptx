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646" r:id="rId3"/>
    <p:sldId id="859" r:id="rId4"/>
    <p:sldId id="860" r:id="rId5"/>
    <p:sldId id="861" r:id="rId6"/>
    <p:sldId id="862" r:id="rId7"/>
    <p:sldId id="866" r:id="rId8"/>
    <p:sldId id="865" r:id="rId9"/>
    <p:sldId id="867" r:id="rId10"/>
  </p:sldIdLst>
  <p:sldSz cx="9144000" cy="6858000" type="screen4x3"/>
  <p:notesSz cx="6934200" cy="9398000"/>
  <p:custDataLst>
    <p:tags r:id="rId17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2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FC0FF"/>
    <a:srgbClr val="FFCCFF"/>
    <a:srgbClr val="90DBFF"/>
    <a:srgbClr val="FFCC00"/>
    <a:srgbClr val="CCECFF"/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6"/>
  </p:normalViewPr>
  <p:slideViewPr>
    <p:cSldViewPr showGuides="1">
      <p:cViewPr varScale="1">
        <p:scale>
          <a:sx n="83" d="100"/>
          <a:sy n="83" d="100"/>
        </p:scale>
        <p:origin x="845" y="62"/>
      </p:cViewPr>
      <p:guideLst>
        <p:guide orient="horz" pos="2149"/>
        <p:guide pos="30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2826" y="-114"/>
      </p:cViewPr>
      <p:guideLst>
        <p:guide orient="horz" pos="2944"/>
        <p:guide pos="22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Rot="1" noChangeAspect="1"/>
          </p:cNvSpPr>
          <p:nvPr>
            <p:ph type="sldImg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/>
          <a:p>
            <a:pPr algn="r" fontAlgn="base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1700213"/>
            <a:ext cx="41719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700213"/>
            <a:ext cx="41735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373063"/>
            <a:ext cx="2124075" cy="544195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373063"/>
            <a:ext cx="6221413" cy="5441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373063"/>
            <a:ext cx="7772400" cy="6794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250825" y="1700213"/>
            <a:ext cx="4171950" cy="4114800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5175" y="1700213"/>
            <a:ext cx="4173538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/>
          </p:nvPr>
        </p:nvSpPr>
        <p:spPr>
          <a:xfrm>
            <a:off x="250825" y="1700213"/>
            <a:ext cx="8497888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buFontTx/>
              <a:defRPr sz="1400">
                <a:latin typeface="Times New Roman" panose="02020603050405020304" pitchFamily="18" charset="0"/>
              </a:defRPr>
            </a:lvl1pPr>
          </a:lstStyle>
          <a:p>
            <a:pPr lvl="0" eaLnBrk="1" fontAlgn="base" hangingPunct="1">
              <a:spcBef>
                <a:spcPct val="0"/>
              </a:spcBef>
              <a:buClrTx/>
              <a:buSzTx/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539750" y="373063"/>
            <a:ext cx="7772400" cy="6794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8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n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p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设备的分类：</a:t>
            </a:r>
            <a:r>
              <a:rPr lang="zh-CN" altLang="en-US" sz="2000" b="0">
                <a:latin typeface="宋体" panose="02010600030101010101" pitchFamily="2" charset="-122"/>
                <a:sym typeface="+mn-ea"/>
              </a:rPr>
              <a:t>重点掌握按信息交换的单位分类</a:t>
            </a:r>
            <a:endParaRPr lang="zh-CN" altLang="en-US" sz="20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块设备</a:t>
            </a: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存储型设备</a:t>
            </a: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、有结构、可随机读写，典型设备：磁盘，驱动方式为：DMA方式、通道方式。</a:t>
            </a:r>
            <a:endParaRPr lang="zh-CN" altLang="en-US" sz="2000" b="0" dirty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2000" dirty="0">
                <a:latin typeface="宋体" panose="02010600030101010101" pitchFamily="2" charset="-122"/>
                <a:cs typeface="+mn-ea"/>
                <a:sym typeface="+mn-ea"/>
              </a:rPr>
              <a:t>字符设备：</a:t>
            </a:r>
            <a:r>
              <a:rPr lang="zh-CN" altLang="en-US" sz="2000" b="0" dirty="0">
                <a:latin typeface="宋体" panose="02010600030101010101" pitchFamily="2" charset="-122"/>
                <a:cs typeface="+mn-ea"/>
                <a:sym typeface="+mn-ea"/>
              </a:rPr>
              <a:t>I/O设备、无结构、不可寻址，典型设备：交互式终端，驱动方式为：中断驱动方式</a:t>
            </a:r>
            <a:endParaRPr lang="zh-CN" altLang="en-US" sz="2000" b="0" dirty="0">
              <a:latin typeface="宋体" panose="02010600030101010101" pitchFamily="2" charset="-122"/>
              <a:cs typeface="+mn-ea"/>
              <a:sym typeface="+mn-ea"/>
            </a:endParaRPr>
          </a:p>
          <a:p>
            <a:pPr lvl="0"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设备控制器：功能（</a:t>
            </a:r>
            <a:r>
              <a:rPr lang="en-US" altLang="zh-CN" sz="2000" b="0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2000" b="0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设备之间的接口、缓解两者速度不匹配）、分类（字符设备控制器、块设备控制器）</a:t>
            </a:r>
            <a:endParaRPr lang="zh-CN" altLang="en-US" sz="2000" b="0" dirty="0">
              <a:latin typeface="宋体" panose="02010600030101010101" pitchFamily="2" charset="-122"/>
              <a:sym typeface="+mn-ea"/>
            </a:endParaRPr>
          </a:p>
          <a:p>
            <a:pPr lvl="0"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I/O通道</a:t>
            </a:r>
            <a:endParaRPr lang="zh-CN" altLang="en-US" sz="2000" b="0" dirty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为什么引入I/O通道设备？通道和一般处理机的不同</a:t>
            </a:r>
            <a:r>
              <a:rPr lang="en-US" altLang="zh-CN" sz="2000" b="0" dirty="0">
                <a:latin typeface="宋体" panose="02010600030101010101" pitchFamily="2" charset="-122"/>
                <a:sym typeface="+mn-ea"/>
              </a:rPr>
              <a:t>——</a:t>
            </a: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通道通过执行通道程序控制</a:t>
            </a:r>
            <a:r>
              <a:rPr lang="en-US" altLang="zh-CN" sz="2000" b="0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2000" b="0" dirty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通道类型：三种类型</a:t>
            </a:r>
            <a:endParaRPr lang="zh-CN" altLang="en-US" sz="2000" b="0" dirty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2000" b="0" dirty="0">
                <a:latin typeface="宋体" panose="02010600030101010101" pitchFamily="2" charset="-122"/>
                <a:sym typeface="+mn-ea"/>
              </a:rPr>
              <a:t>单通路I/O系统中的“瓶颈”问题？如何解决瓶颈问题——变单通路为多通路。</a:t>
            </a:r>
            <a:endParaRPr lang="zh-CN" altLang="en-US" sz="2000" b="0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8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2000" b="0">
                <a:latin typeface="宋体" panose="02010600030101010101" pitchFamily="2" charset="-122"/>
                <a:sym typeface="+mn-ea"/>
              </a:rPr>
              <a:t>中断机构和中断处理程序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宋体" panose="02010600030101010101" pitchFamily="2" charset="-122"/>
                <a:sym typeface="+mn-ea"/>
              </a:rPr>
              <a:t>中断和陷入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800100" lvl="1" indent="-34290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 b="0">
                <a:latin typeface="宋体" panose="02010600030101010101" pitchFamily="2" charset="-122"/>
                <a:sym typeface="+mn-ea"/>
              </a:rPr>
              <a:t>什么是中断？什么是陷入？中断和陷入的区别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800100" lvl="1" indent="-34290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 b="0">
                <a:latin typeface="宋体" panose="02010600030101010101" pitchFamily="2" charset="-122"/>
                <a:sym typeface="+mn-ea"/>
              </a:rPr>
              <a:t>对多中断源的处理方式：屏蔽中断（无法满足实时性要求）、嵌套中断（高优先级中断抢占低优先级进程的CPU）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800100" lvl="1" indent="-34290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 b="0">
                <a:latin typeface="宋体" panose="02010600030101010101" pitchFamily="2" charset="-122"/>
                <a:sym typeface="+mn-ea"/>
              </a:rPr>
              <a:t>中断处理程序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144905" lvl="1" indent="-40005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romanUcPeriod"/>
            </a:pPr>
            <a:r>
              <a:rPr sz="2000" b="0">
                <a:latin typeface="宋体" panose="02010600030101010101" pitchFamily="2" charset="-122"/>
                <a:sym typeface="+mn-ea"/>
              </a:rPr>
              <a:t>中断处理程序的处理过程：</a:t>
            </a:r>
            <a:r>
              <a:rPr lang="zh-CN" sz="2000" b="0">
                <a:latin typeface="宋体" panose="02010600030101010101" pitchFamily="2" charset="-122"/>
                <a:sym typeface="+mn-ea"/>
              </a:rPr>
              <a:t>分为</a:t>
            </a:r>
            <a:r>
              <a:rPr sz="2000" b="0">
                <a:latin typeface="宋体" panose="02010600030101010101" pitchFamily="2" charset="-122"/>
                <a:sym typeface="+mn-ea"/>
              </a:rPr>
              <a:t>5个步骤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144905" lvl="1" indent="-40005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romanUcPeriod"/>
            </a:pPr>
            <a:r>
              <a:rPr sz="2000" b="0">
                <a:latin typeface="宋体" panose="02010600030101010101" pitchFamily="2" charset="-122"/>
                <a:sym typeface="+mn-ea"/>
              </a:rPr>
              <a:t>中断后是否返回到被中断进程？屏蔽中断会</a:t>
            </a:r>
            <a:r>
              <a:rPr lang="zh-CN" sz="2000" b="0">
                <a:latin typeface="宋体" panose="02010600030101010101" pitchFamily="2" charset="-122"/>
                <a:sym typeface="+mn-ea"/>
              </a:rPr>
              <a:t>返回被中断进程</a:t>
            </a:r>
            <a:r>
              <a:rPr sz="2000" b="0">
                <a:latin typeface="宋体" panose="02010600030101010101" pitchFamily="2" charset="-122"/>
                <a:sym typeface="+mn-ea"/>
              </a:rPr>
              <a:t>，</a:t>
            </a:r>
            <a:r>
              <a:rPr lang="zh-CN" sz="2000" b="0">
                <a:latin typeface="宋体" panose="02010600030101010101" pitchFamily="2" charset="-122"/>
                <a:sym typeface="+mn-ea"/>
              </a:rPr>
              <a:t>而</a:t>
            </a:r>
            <a:r>
              <a:rPr sz="2000" b="0">
                <a:latin typeface="宋体" panose="02010600030101010101" pitchFamily="2" charset="-122"/>
                <a:sym typeface="+mn-ea"/>
              </a:rPr>
              <a:t>嵌套中断取决是否有比被中断进程优先级高的中断进程。</a:t>
            </a:r>
            <a:endParaRPr lang="zh-CN" altLang="en-US" sz="2000" b="0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2000" b="0">
                <a:latin typeface="宋体" panose="02010600030101010101" pitchFamily="2" charset="-122"/>
                <a:sym typeface="+mn-ea"/>
              </a:rPr>
              <a:t>I/O控制方式的发展历程：CPU从繁杂的I/O工作中解脱出来的过程。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宋体" panose="02010600030101010101" pitchFamily="2" charset="-122"/>
                <a:sym typeface="+mn-ea"/>
              </a:rPr>
              <a:t>程序I/O控制方式</a:t>
            </a:r>
            <a:r>
              <a:rPr lang="zh-CN" sz="2000" b="0">
                <a:latin typeface="宋体" panose="02010600030101010101" pitchFamily="2" charset="-122"/>
                <a:sym typeface="+mn-ea"/>
              </a:rPr>
              <a:t>：每干预一次完成一个字符的</a:t>
            </a:r>
            <a:r>
              <a:rPr lang="en-US" altLang="zh-CN" sz="2000" b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000" b="0">
                <a:latin typeface="宋体" panose="02010600030101010101" pitchFamily="2" charset="-122"/>
                <a:sym typeface="+mn-ea"/>
              </a:rPr>
              <a:t>，无中断，因此</a:t>
            </a:r>
            <a:r>
              <a:rPr lang="en-US" altLang="zh-CN" sz="2000" b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000" b="0">
                <a:latin typeface="宋体" panose="02010600030101010101" pitchFamily="2" charset="-122"/>
                <a:sym typeface="+mn-ea"/>
              </a:rPr>
              <a:t>需不断测试一个字符的输入是否完成。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宋体" panose="02010600030101010101" pitchFamily="2" charset="-122"/>
                <a:sym typeface="+mn-ea"/>
              </a:rPr>
              <a:t>中断驱动方式</a:t>
            </a:r>
            <a:r>
              <a:rPr lang="zh-CN" sz="2000" b="0">
                <a:latin typeface="宋体" panose="02010600030101010101" pitchFamily="2" charset="-122"/>
                <a:sym typeface="+mn-ea"/>
              </a:rPr>
              <a:t>：每干预一次完成一个字符的输入，有中断，因此发出请求后即可执行其他任务，收到中断信号后把字符送入内存。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宋体" panose="02010600030101010101" pitchFamily="2" charset="-122"/>
                <a:sym typeface="+mn-ea"/>
              </a:rPr>
              <a:t>DMA方式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882650" lvl="1" indent="-27686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sz="2000">
                <a:latin typeface="宋体" panose="02010600030101010101" pitchFamily="2" charset="-122"/>
                <a:sym typeface="+mn-ea"/>
              </a:rPr>
              <a:t>每干预一次完成一个数据块的输入，有中断，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和</a:t>
            </a:r>
            <a:r>
              <a:rPr lang="zh-CN" sz="2000">
                <a:latin typeface="宋体" panose="02010600030101010101" pitchFamily="2" charset="-122"/>
                <a:sym typeface="+mn-ea"/>
              </a:rPr>
              <a:t>设备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可以并行工作。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882650" lvl="1" indent="-27686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宋体" panose="02010600030101010101" pitchFamily="2" charset="-122"/>
                <a:sym typeface="+mn-ea"/>
              </a:rPr>
              <a:t>以从磁盘读一组数据为例，介绍DMA控制器的工作过程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宋体" panose="02010600030101010101" pitchFamily="2" charset="-122"/>
                <a:cs typeface="+mn-ea"/>
                <a:sym typeface="+mn-ea"/>
              </a:rPr>
              <a:t>通道</a:t>
            </a:r>
            <a:r>
              <a:rPr sz="2000" b="0">
                <a:latin typeface="宋体" panose="02010600030101010101" pitchFamily="2" charset="-122"/>
                <a:sym typeface="+mn-ea"/>
              </a:rPr>
              <a:t>控制方式</a:t>
            </a:r>
            <a:r>
              <a:rPr lang="zh-CN" sz="2000" b="0">
                <a:latin typeface="宋体" panose="02010600030101010101" pitchFamily="2" charset="-122"/>
                <a:sym typeface="+mn-ea"/>
              </a:rPr>
              <a:t>：</a:t>
            </a:r>
            <a:r>
              <a:rPr lang="zh-CN" sz="2000">
                <a:latin typeface="宋体" panose="02010600030101010101" pitchFamily="2" charset="-122"/>
                <a:sym typeface="+mn-ea"/>
              </a:rPr>
              <a:t>每干预一次完成一组数据块的输入，有中断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、通道、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设备并行工作。整个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过程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仅干预一次。</a:t>
            </a:r>
            <a:endParaRPr lang="zh-CN" altLang="en-US" sz="2000" b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1900" b="0">
                <a:latin typeface="宋体" panose="02010600030101010101" pitchFamily="2" charset="-122"/>
                <a:sym typeface="+mn-ea"/>
              </a:rPr>
              <a:t>与设备无关的I/O软件</a:t>
            </a:r>
            <a:endParaRPr sz="19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lang="zh-CN" sz="1900" b="0">
                <a:latin typeface="宋体" panose="02010600030101010101" pitchFamily="2" charset="-122"/>
                <a:sym typeface="+mn-ea"/>
              </a:rPr>
              <a:t>基本概念：物理设备、逻辑设备、设备独立性、设备独立软件</a:t>
            </a:r>
            <a:endParaRPr lang="zh-CN" sz="19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1900" b="0">
                <a:latin typeface="宋体" panose="02010600030101010101" pitchFamily="2" charset="-122"/>
                <a:sym typeface="+mn-ea"/>
              </a:rPr>
              <a:t>设备分配</a:t>
            </a:r>
            <a:endParaRPr sz="1900" b="0">
              <a:latin typeface="宋体" panose="02010600030101010101" pitchFamily="2" charset="-122"/>
              <a:sym typeface="+mn-ea"/>
            </a:endParaRPr>
          </a:p>
          <a:p>
            <a:pPr marL="800100" lvl="1" indent="-463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1900" b="0">
                <a:latin typeface="宋体" panose="02010600030101010101" pitchFamily="2" charset="-122"/>
                <a:sym typeface="+mn-ea"/>
              </a:rPr>
              <a:t>设备分配使用的数据结构：设备控制表（每个设备一张）、控制器表（每个控制器一张 、通道控制表（每个通道一张）、系统设备表（整个系统 一张，每个设备一条记录 ）</a:t>
            </a:r>
            <a:endParaRPr sz="1900" b="0">
              <a:latin typeface="宋体" panose="02010600030101010101" pitchFamily="2" charset="-122"/>
              <a:sym typeface="+mn-ea"/>
            </a:endParaRPr>
          </a:p>
          <a:p>
            <a:pPr marL="800100" lvl="1" indent="-463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1900" b="0">
                <a:latin typeface="宋体" panose="02010600030101010101" pitchFamily="2" charset="-122"/>
                <a:sym typeface="+mn-ea"/>
              </a:rPr>
              <a:t>设备分配时应考虑的因素：设备的固有属性（独占、共享 、虚拟）、设备分配算法（先来先服务、高优先权优先）、设备分配中的安全性（安全分配——破坏请求和保持条件、不安全分配方式）</a:t>
            </a:r>
            <a:endParaRPr sz="1900" b="0">
              <a:latin typeface="宋体" panose="02010600030101010101" pitchFamily="2" charset="-122"/>
              <a:sym typeface="+mn-ea"/>
            </a:endParaRPr>
          </a:p>
          <a:p>
            <a:pPr marL="800100" lvl="1" indent="-463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1900" b="0">
                <a:latin typeface="宋体" panose="02010600030101010101" pitchFamily="2" charset="-122"/>
                <a:sym typeface="+mn-ea"/>
              </a:rPr>
              <a:t>独占设备的分配程序：基本的设备分配程序（单通路、使用物理设备名申请）、改进的分配策略（多通路、使用逻辑设备名申请）</a:t>
            </a:r>
            <a:endParaRPr sz="19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1900" b="0">
                <a:latin typeface="宋体" panose="02010600030101010101" pitchFamily="2" charset="-122"/>
                <a:sym typeface="+mn-ea"/>
              </a:rPr>
              <a:t>逻辑设备名到物理设备名的映射：LUT（逻辑设备表）</a:t>
            </a:r>
            <a:r>
              <a:rPr lang="zh-CN" altLang="en-US" sz="1900"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1900" b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2000" b="0">
                <a:latin typeface="宋体" panose="02010600030101010101" pitchFamily="2" charset="-122"/>
                <a:sym typeface="+mn-ea"/>
              </a:rPr>
              <a:t>用户层I/O软件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宋体" panose="02010600030101010101" pitchFamily="2" charset="-122"/>
                <a:sym typeface="+mn-ea"/>
              </a:rPr>
              <a:t>S</a:t>
            </a:r>
            <a:r>
              <a:rPr lang="en-US" sz="2000" b="0">
                <a:latin typeface="宋体" panose="02010600030101010101" pitchFamily="2" charset="-122"/>
                <a:sym typeface="+mn-ea"/>
              </a:rPr>
              <a:t>pool</a:t>
            </a:r>
            <a:r>
              <a:rPr sz="2000" b="0">
                <a:latin typeface="宋体" panose="02010600030101010101" pitchFamily="2" charset="-122"/>
                <a:sym typeface="+mn-ea"/>
              </a:rPr>
              <a:t>ing：实现虚拟设备的关键技术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049655" lvl="2" indent="-3511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>
                <a:latin typeface="宋体" panose="02010600030101010101" pitchFamily="2" charset="-122"/>
                <a:sym typeface="+mn-ea"/>
              </a:rPr>
              <a:t>S</a:t>
            </a:r>
            <a:r>
              <a:rPr lang="en-US" sz="2000">
                <a:latin typeface="宋体" panose="02010600030101010101" pitchFamily="2" charset="-122"/>
                <a:sym typeface="+mn-ea"/>
              </a:rPr>
              <a:t>pool</a:t>
            </a:r>
            <a:r>
              <a:rPr sz="2000">
                <a:latin typeface="宋体" panose="02010600030101010101" pitchFamily="2" charset="-122"/>
                <a:sym typeface="+mn-ea"/>
              </a:rPr>
              <a:t>ing</a:t>
            </a:r>
            <a:r>
              <a:rPr sz="2000" b="0">
                <a:latin typeface="宋体" panose="02010600030101010101" pitchFamily="2" charset="-122"/>
                <a:sym typeface="+mn-ea"/>
              </a:rPr>
              <a:t>定义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049655" lvl="2" indent="-3511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>
                <a:latin typeface="宋体" panose="02010600030101010101" pitchFamily="2" charset="-122"/>
                <a:sym typeface="+mn-ea"/>
              </a:rPr>
              <a:t>S</a:t>
            </a:r>
            <a:r>
              <a:rPr lang="en-US" sz="2000">
                <a:latin typeface="宋体" panose="02010600030101010101" pitchFamily="2" charset="-122"/>
                <a:sym typeface="+mn-ea"/>
              </a:rPr>
              <a:t>pool</a:t>
            </a:r>
            <a:r>
              <a:rPr sz="2000">
                <a:latin typeface="宋体" panose="02010600030101010101" pitchFamily="2" charset="-122"/>
                <a:sym typeface="+mn-ea"/>
              </a:rPr>
              <a:t>ing</a:t>
            </a:r>
            <a:r>
              <a:rPr sz="2000" b="0">
                <a:latin typeface="宋体" panose="02010600030101010101" pitchFamily="2" charset="-122"/>
                <a:sym typeface="+mn-ea"/>
              </a:rPr>
              <a:t>的实现：一个进程模拟输入外围机、一个进程模拟输出外围机、磁盘作为输入井、输出井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049655" lvl="2" indent="-3511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>
                <a:latin typeface="宋体" panose="02010600030101010101" pitchFamily="2" charset="-122"/>
                <a:sym typeface="+mn-ea"/>
              </a:rPr>
              <a:t>S</a:t>
            </a:r>
            <a:r>
              <a:rPr lang="en-US" sz="2000">
                <a:latin typeface="宋体" panose="02010600030101010101" pitchFamily="2" charset="-122"/>
                <a:sym typeface="+mn-ea"/>
              </a:rPr>
              <a:t>pool</a:t>
            </a:r>
            <a:r>
              <a:rPr sz="2000">
                <a:latin typeface="宋体" panose="02010600030101010101" pitchFamily="2" charset="-122"/>
                <a:sym typeface="+mn-ea"/>
              </a:rPr>
              <a:t>ing</a:t>
            </a:r>
            <a:r>
              <a:rPr sz="2000" b="0">
                <a:latin typeface="宋体" panose="02010600030101010101" pitchFamily="2" charset="-122"/>
                <a:sym typeface="+mn-ea"/>
              </a:rPr>
              <a:t>系统的组成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049655" lvl="2" indent="-3511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 b="0">
                <a:latin typeface="宋体" panose="02010600030101010101" pitchFamily="2" charset="-122"/>
                <a:sym typeface="+mn-ea"/>
              </a:rPr>
              <a:t>如何实现打印机的共享（即虚拟打印机是如何实现的）</a:t>
            </a:r>
            <a:r>
              <a:rPr lang="en-US" sz="2000" b="0">
                <a:latin typeface="宋体" panose="02010600030101010101" pitchFamily="2" charset="-122"/>
                <a:sym typeface="+mn-ea"/>
              </a:rPr>
              <a:t>——</a:t>
            </a:r>
            <a:r>
              <a:rPr lang="zh-CN" altLang="en-US" sz="2000" b="0">
                <a:latin typeface="宋体" panose="02010600030101010101" pitchFamily="2" charset="-122"/>
                <a:sym typeface="+mn-ea"/>
              </a:rPr>
              <a:t>假脱机技术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049655" lvl="2" indent="-3511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>
                <a:latin typeface="宋体" panose="02010600030101010101" pitchFamily="2" charset="-122"/>
                <a:sym typeface="+mn-ea"/>
              </a:rPr>
              <a:t>S</a:t>
            </a:r>
            <a:r>
              <a:rPr lang="en-US" sz="2000">
                <a:latin typeface="宋体" panose="02010600030101010101" pitchFamily="2" charset="-122"/>
                <a:sym typeface="+mn-ea"/>
              </a:rPr>
              <a:t>pool</a:t>
            </a:r>
            <a:r>
              <a:rPr sz="2000">
                <a:latin typeface="宋体" panose="02010600030101010101" pitchFamily="2" charset="-122"/>
                <a:sym typeface="+mn-ea"/>
              </a:rPr>
              <a:t>ing</a:t>
            </a:r>
            <a:r>
              <a:rPr sz="2000" b="0">
                <a:latin typeface="宋体" panose="02010600030101010101" pitchFamily="2" charset="-122"/>
                <a:sym typeface="+mn-ea"/>
              </a:rPr>
              <a:t>系统的特点</a:t>
            </a:r>
            <a:endParaRPr sz="2000" b="0">
              <a:latin typeface="宋体" panose="02010600030101010101" pitchFamily="2" charset="-122"/>
              <a:sym typeface="+mn-ea"/>
            </a:endParaRPr>
          </a:p>
          <a:p>
            <a:pPr marL="1049655" lvl="2" indent="-35115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ea"/>
              <a:buAutoNum type="circleNumDbPlain"/>
            </a:pPr>
            <a:r>
              <a:rPr sz="2000">
                <a:latin typeface="宋体" panose="02010600030101010101" pitchFamily="2" charset="-122"/>
                <a:sym typeface="+mn-ea"/>
              </a:rPr>
              <a:t>S</a:t>
            </a:r>
            <a:r>
              <a:rPr lang="en-US" sz="2000">
                <a:latin typeface="宋体" panose="02010600030101010101" pitchFamily="2" charset="-122"/>
                <a:sym typeface="+mn-ea"/>
              </a:rPr>
              <a:t>pool</a:t>
            </a:r>
            <a:r>
              <a:rPr sz="2000">
                <a:latin typeface="宋体" panose="02010600030101010101" pitchFamily="2" charset="-122"/>
                <a:sym typeface="+mn-ea"/>
              </a:rPr>
              <a:t>ing</a:t>
            </a:r>
            <a:r>
              <a:rPr sz="2000" b="0">
                <a:latin typeface="宋体" panose="02010600030101010101" pitchFamily="2" charset="-122"/>
                <a:sym typeface="+mn-ea"/>
              </a:rPr>
              <a:t>如何将独占设备改造为共享设备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2000" b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8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缓冲管理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引入缓冲区的主要原因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专用缓冲区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14400" lvl="2" indent="-17970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①单缓冲：传送一组数据（分成若干个数据块）的时间计算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914400" lvl="2" indent="-179705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②双缓冲：传送一组数据（分成若干个数据块）的时间计算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u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在某系统中，外设和磁盘之间设置缓冲区（每个缓冲可以放一个数据块），将一个数据块从磁盘传送到缓冲区的时间为80us，从缓冲区传送到CPU的时间为20</a:t>
            </a:r>
            <a:r>
              <a:rPr lang="en-US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</a:t>
            </a: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s，CPU计算一个数据块的时间为50</a:t>
            </a:r>
            <a:r>
              <a:rPr lang="en-US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</a:t>
            </a: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s。总共处理4个数据块，每个数据块的平均处理时间是多少？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314450" lvl="2" indent="-40005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romanUcPeriod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采用单缓冲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314450" lvl="2" indent="-40005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romanUcPeriod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采用双缓冲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None/>
            </a:pP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8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marL="914400" lvl="2" indent="-17018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None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③循环缓冲：同1个生产者、1个消费者共享</a:t>
            </a:r>
            <a:r>
              <a:rPr sz="2000" b="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个缓冲区，需要使用消息信号量同步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371600" lvl="3" indent="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1)Getbuf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371600" lvl="3" indent="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2)Releasebuf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公用缓冲区：</a:t>
            </a:r>
            <a:r>
              <a:rPr sz="2000" b="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</a:t>
            </a: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个生产者、</a:t>
            </a:r>
            <a:r>
              <a:rPr sz="2000" b="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个消费者、共享</a:t>
            </a:r>
            <a:r>
              <a:rPr sz="2000" b="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个缓冲区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缓冲池中不同类型缓冲区的构成一个队列：该队列为临界资源，需要互斥、同步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Getbuf过程和Putbuf过程：互斥信号量、</a:t>
            </a:r>
            <a:r>
              <a:rPr lang="zh-CN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资源</a:t>
            </a: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信号量</a:t>
            </a:r>
            <a:r>
              <a:rPr lang="zh-CN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的使用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缓冲区的四种工作方式</a:t>
            </a:r>
            <a:r>
              <a:rPr lang="zh-CN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：收容输入、提取输入、收容输出、提取输出。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28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8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8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8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8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539750" y="476250"/>
            <a:ext cx="7772400" cy="668338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内容总结</a:t>
            </a:r>
            <a:endParaRPr lang="zh-CN" altLang="en-US" sz="3600" dirty="0"/>
          </a:p>
        </p:txBody>
      </p:sp>
      <p:sp>
        <p:nvSpPr>
          <p:cNvPr id="1228803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628775"/>
            <a:ext cx="8056245" cy="4577080"/>
          </a:xfrm>
        </p:spPr>
        <p:txBody>
          <a:bodyPr vert="horz" wrap="square" lIns="92075" tIns="46038" rIns="92075" bIns="46038" anchor="t" anchorCtr="0"/>
          <a:lstStyle/>
          <a:p>
            <a:pPr marL="172720" lvl="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磁盘存储器管理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2770"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磁盘的分配：以盘块为单位进行分配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2770"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磁盘访问时间的组成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2770"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磁盘文件的存储：柱面号、磁头号、扇区号</a:t>
            </a:r>
            <a:r>
              <a:rPr lang="zh-CN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与逻辑记录号的转换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72720" lvl="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移臂调度算法：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2770"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先来先服务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2770"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最短寻道时间优先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2770"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电梯调度(SCAN)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572770" lvl="1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循环扫描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CSCAN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just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p"/>
            </a:pPr>
            <a:r>
              <a:rPr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物理块的优化分布——旋转延迟时间优化</a:t>
            </a:r>
            <a:endParaRPr sz="2000" b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ae7849fb-a69c-4f00-b216-52028a33312e"/>
  <p:tag name="COMMONDATA" val="eyJoZGlkIjoiY2JhOGUzYWNmNmNhZGYzNjY2MGNiYjA4YjU5YWIwNWYifQ=="/>
</p:tagLst>
</file>

<file path=ppt/theme/theme1.xml><?xml version="1.0" encoding="utf-8"?>
<a:theme xmlns:a="http://schemas.openxmlformats.org/drawingml/2006/main" name="个人主页 (标准)">
  <a:themeElements>
    <a:clrScheme name="个人主页 (标准) 9">
      <a:dk1>
        <a:srgbClr val="000000"/>
      </a:dk1>
      <a:lt1>
        <a:srgbClr val="DFF9EF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ECFBF6"/>
      </a:accent3>
      <a:accent4>
        <a:srgbClr val="000000"/>
      </a:accent4>
      <a:accent5>
        <a:srgbClr val="AAAAAA"/>
      </a:accent5>
      <a:accent6>
        <a:srgbClr val="2D5C8A"/>
      </a:accent6>
      <a:hlink>
        <a:srgbClr val="EBFFF5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485775" marR="0" indent="-485775" algn="l" defTabSz="485775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485775" marR="0" indent="-485775" algn="l" defTabSz="485775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5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6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7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B7FFE7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8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FFF4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9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BFFF5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1672</Words>
  <Application>WPS 演示</Application>
  <PresentationFormat>全屏显示(4:3)</PresentationFormat>
  <Paragraphs>87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Wingdings</vt:lpstr>
      <vt:lpstr>微软雅黑</vt:lpstr>
      <vt:lpstr>Arial Unicode MS</vt:lpstr>
      <vt:lpstr>个人主页 (标准)</vt:lpstr>
      <vt:lpstr>内容总结</vt:lpstr>
      <vt:lpstr>内容总结</vt:lpstr>
      <vt:lpstr>内容总结</vt:lpstr>
      <vt:lpstr>内容总结</vt:lpstr>
      <vt:lpstr>内容总结</vt:lpstr>
      <vt:lpstr>内容总结</vt:lpstr>
      <vt:lpstr>内容总结</vt:lpstr>
      <vt:lpstr>内容总结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dell</cp:lastModifiedBy>
  <cp:revision>1321</cp:revision>
  <cp:lastPrinted>1995-12-08T18:33:00Z</cp:lastPrinted>
  <dcterms:created xsi:type="dcterms:W3CDTF">2000-10-31T09:27:00Z</dcterms:created>
  <dcterms:modified xsi:type="dcterms:W3CDTF">2022-11-28T12:56:52Z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950AF24B7B4E411D8DEA251AF106249E</vt:lpwstr>
  </property>
</Properties>
</file>