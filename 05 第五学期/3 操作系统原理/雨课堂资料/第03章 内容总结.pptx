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94" r:id="rId3"/>
    <p:sldId id="495" r:id="rId4"/>
    <p:sldId id="496" r:id="rId5"/>
    <p:sldId id="501" r:id="rId6"/>
    <p:sldId id="497" r:id="rId7"/>
    <p:sldId id="498" r:id="rId8"/>
    <p:sldId id="499" r:id="rId9"/>
    <p:sldId id="506" r:id="rId10"/>
    <p:sldId id="505" r:id="rId11"/>
  </p:sldIdLst>
  <p:sldSz cx="9144000" cy="6858000" type="screen4x3"/>
  <p:notesSz cx="6934200" cy="9398000"/>
  <p:custDataLst>
    <p:tags r:id="rId1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FF0000"/>
    <a:srgbClr val="CCECFF"/>
    <a:srgbClr val="90DBFF"/>
    <a:srgbClr val="DFC0FF"/>
    <a:srgbClr val="FFCC00"/>
    <a:srgbClr val="FFCCFF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42" autoAdjust="0"/>
    <p:restoredTop sz="94659" autoAdjust="0"/>
  </p:normalViewPr>
  <p:slideViewPr>
    <p:cSldViewPr>
      <p:cViewPr varScale="1">
        <p:scale>
          <a:sx n="74" d="100"/>
          <a:sy n="74" d="100"/>
        </p:scale>
        <p:origin x="1430" y="58"/>
      </p:cViewPr>
      <p:guideLst>
        <p:guide orient="horz" pos="2160"/>
        <p:guide pos="2925"/>
      </p:guideLst>
    </p:cSldViewPr>
  </p:slideViewPr>
  <p:outlineViewPr>
    <p:cViewPr>
      <p:scale>
        <a:sx n="33" d="100"/>
        <a:sy n="33" d="100"/>
      </p:scale>
      <p:origin x="96" y="66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6" d="100"/>
          <a:sy n="36" d="100"/>
        </p:scale>
        <p:origin x="-1104" y="-58"/>
      </p:cViewPr>
      <p:guideLst>
        <p:guide orient="horz" pos="2960"/>
        <p:guide pos="22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88AF3F7A-E670-4269-8C48-79C00AD1CD1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 b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987" name="Rectangle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079500" y="685800"/>
            <a:ext cx="4775200" cy="3581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/>
            </a:lvl1pPr>
          </a:lstStyle>
          <a:p>
            <a:pPr>
              <a:defRPr/>
            </a:pPr>
            <a:fld id="{0C6DF45B-8BFC-4C57-979B-994EC199B7F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/>
          </a:p>
        </p:txBody>
      </p:sp>
      <p:sp>
        <p:nvSpPr>
          <p:cNvPr id="5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/>
          </a:p>
        </p:txBody>
      </p:sp>
      <p:sp>
        <p:nvSpPr>
          <p:cNvPr id="6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/>
          </a:p>
        </p:txBody>
      </p:sp>
      <p:sp>
        <p:nvSpPr>
          <p:cNvPr id="7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/>
          </a:p>
        </p:txBody>
      </p:sp>
      <p:grpSp>
        <p:nvGrpSpPr>
          <p:cNvPr id="8" name="Group 27"/>
          <p:cNvGrpSpPr/>
          <p:nvPr/>
        </p:nvGrpSpPr>
        <p:grpSpPr bwMode="auto"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9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/>
            </a:p>
          </p:txBody>
        </p:sp>
        <p:sp>
          <p:nvSpPr>
            <p:cNvPr id="10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/>
            </a:p>
          </p:txBody>
        </p:sp>
        <p:sp>
          <p:nvSpPr>
            <p:cNvPr id="11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/>
            </a:p>
          </p:txBody>
        </p:sp>
        <p:sp>
          <p:nvSpPr>
            <p:cNvPr id="12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/>
            </a:p>
          </p:txBody>
        </p:sp>
        <p:sp>
          <p:nvSpPr>
            <p:cNvPr id="13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/>
            </a:p>
          </p:txBody>
        </p:sp>
        <p:sp>
          <p:nvSpPr>
            <p:cNvPr id="14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/>
            </a:p>
          </p:txBody>
        </p:sp>
      </p:grpSp>
      <p:sp>
        <p:nvSpPr>
          <p:cNvPr id="15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/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dt" sz="quarter" idx="10"/>
          </p:nvPr>
        </p:nvSpPr>
        <p:spPr>
          <a:xfrm>
            <a:off x="76200" y="63230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AD0F2-C922-49D0-B0D7-A9136D3F442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F352C-259D-4438-BBC5-FBD362E3DBD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9F21E-350D-4525-ADB8-FDEC7993674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89D95-7084-4808-B684-24E45FE634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97696-676D-4739-8531-FA6CBF19C49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88EC88-F79F-4E0F-922A-E01F4C164E9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6F675-504E-4ED2-ACD4-003ECA24545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B8AC7E-7E59-452F-845A-79F3CEFCAF8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95205-BAC9-4D42-94CB-269A70A1E99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BED0A-2982-4989-9B20-245F776BE5A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2400FE-9D6A-41A2-A7B1-C208E0E8539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AD7A2-6C8A-4F3C-9E0B-CAC214BDD3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63C8C08E-8A95-4FFE-B9E4-AE8021AC642F}" type="slidenum">
              <a:rPr lang="zh-CN" altLang="en-US"/>
            </a:fld>
            <a:endParaRPr lang="en-US" altLang="zh-CN"/>
          </a:p>
        </p:txBody>
      </p:sp>
      <p:sp>
        <p:nvSpPr>
          <p:cNvPr id="103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grpSp>
        <p:nvGrpSpPr>
          <p:cNvPr id="1031" name="Group 20"/>
          <p:cNvGrpSpPr/>
          <p:nvPr/>
        </p:nvGrpSpPr>
        <p:grpSpPr bwMode="auto"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/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/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/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/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/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/>
            </a:p>
          </p:txBody>
        </p:sp>
      </p:grpSp>
      <p:grpSp>
        <p:nvGrpSpPr>
          <p:cNvPr id="1032" name="Group 27"/>
          <p:cNvGrpSpPr/>
          <p:nvPr/>
        </p:nvGrpSpPr>
        <p:grpSpPr bwMode="auto"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 sz="2400" b="0"/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 sz="2400" b="0"/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/>
            <a:ahLst/>
            <a:cxnLst>
              <a:cxn ang="0">
                <a:pos x="350" y="1"/>
              </a:cxn>
              <a:cxn ang="0">
                <a:pos x="101" y="0"/>
              </a:cxn>
              <a:cxn ang="0">
                <a:pos x="81" y="2"/>
              </a:cxn>
              <a:cxn ang="0">
                <a:pos x="67" y="6"/>
              </a:cxn>
              <a:cxn ang="0">
                <a:pos x="51" y="15"/>
              </a:cxn>
              <a:cxn ang="0">
                <a:pos x="38" y="25"/>
              </a:cxn>
              <a:cxn ang="0">
                <a:pos x="28" y="35"/>
              </a:cxn>
              <a:cxn ang="0">
                <a:pos x="19" y="48"/>
              </a:cxn>
              <a:cxn ang="0">
                <a:pos x="12" y="59"/>
              </a:cxn>
              <a:cxn ang="0">
                <a:pos x="6" y="73"/>
              </a:cxn>
              <a:cxn ang="0">
                <a:pos x="1" y="89"/>
              </a:cxn>
              <a:cxn ang="0">
                <a:pos x="1" y="99"/>
              </a:cxn>
              <a:cxn ang="0">
                <a:pos x="0" y="119"/>
              </a:cxn>
              <a:cxn ang="0">
                <a:pos x="2" y="136"/>
              </a:cxn>
              <a:cxn ang="0">
                <a:pos x="9" y="150"/>
              </a:cxn>
              <a:cxn ang="0">
                <a:pos x="15" y="164"/>
              </a:cxn>
              <a:cxn ang="0">
                <a:pos x="24" y="176"/>
              </a:cxn>
              <a:cxn ang="0">
                <a:pos x="33" y="189"/>
              </a:cxn>
              <a:cxn ang="0">
                <a:pos x="46" y="198"/>
              </a:cxn>
              <a:cxn ang="0">
                <a:pos x="59" y="207"/>
              </a:cxn>
              <a:cxn ang="0">
                <a:pos x="72" y="212"/>
              </a:cxn>
              <a:cxn ang="0">
                <a:pos x="90" y="218"/>
              </a:cxn>
              <a:cxn ang="0">
                <a:pos x="350" y="218"/>
              </a:cxn>
              <a:cxn ang="0">
                <a:pos x="350" y="1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49" y="0"/>
              </a:cxn>
              <a:cxn ang="0">
                <a:pos x="268" y="3"/>
              </a:cxn>
              <a:cxn ang="0">
                <a:pos x="283" y="6"/>
              </a:cxn>
              <a:cxn ang="0">
                <a:pos x="298" y="16"/>
              </a:cxn>
              <a:cxn ang="0">
                <a:pos x="311" y="26"/>
              </a:cxn>
              <a:cxn ang="0">
                <a:pos x="321" y="35"/>
              </a:cxn>
              <a:cxn ang="0">
                <a:pos x="331" y="48"/>
              </a:cxn>
              <a:cxn ang="0">
                <a:pos x="337" y="60"/>
              </a:cxn>
              <a:cxn ang="0">
                <a:pos x="344" y="74"/>
              </a:cxn>
              <a:cxn ang="0">
                <a:pos x="349" y="90"/>
              </a:cxn>
              <a:cxn ang="0">
                <a:pos x="349" y="100"/>
              </a:cxn>
              <a:cxn ang="0">
                <a:pos x="350" y="119"/>
              </a:cxn>
              <a:cxn ang="0">
                <a:pos x="347" y="136"/>
              </a:cxn>
              <a:cxn ang="0">
                <a:pos x="341" y="151"/>
              </a:cxn>
              <a:cxn ang="0">
                <a:pos x="334" y="165"/>
              </a:cxn>
              <a:cxn ang="0">
                <a:pos x="325" y="176"/>
              </a:cxn>
              <a:cxn ang="0">
                <a:pos x="316" y="189"/>
              </a:cxn>
              <a:cxn ang="0">
                <a:pos x="303" y="199"/>
              </a:cxn>
              <a:cxn ang="0">
                <a:pos x="290" y="208"/>
              </a:cxn>
              <a:cxn ang="0">
                <a:pos x="277" y="213"/>
              </a:cxn>
              <a:cxn ang="0">
                <a:pos x="259" y="218"/>
              </a:cxn>
              <a:cxn ang="0">
                <a:pos x="0" y="218"/>
              </a:cxn>
              <a:cxn ang="0">
                <a:pos x="0" y="1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第三章 内容总结</a:t>
            </a:r>
            <a:endParaRPr lang="zh-CN" altLang="zh-CN" sz="3600" dirty="0"/>
          </a:p>
        </p:txBody>
      </p:sp>
      <p:sp>
        <p:nvSpPr>
          <p:cNvPr id="8069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9750" y="1628775"/>
            <a:ext cx="8136890" cy="4752553"/>
          </a:xfrm>
        </p:spPr>
        <p:txBody>
          <a:bodyPr/>
          <a:lstStyle/>
          <a:p>
            <a:pPr marL="482600" lvl="1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处理机调度的层次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高级调度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低级调度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中级调度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82600" lvl="1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处理机调度算法的目标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名词解释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共同目标：资源利用率、公平性、平衡性、策略强制执行。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批处理操作系统目标：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周转时间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系统吞吐量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、处理机利用率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分时系统目标：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响应时间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、均衡性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实施系统目标：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截止时间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保证、可预测性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右大括号 1"/>
          <p:cNvSpPr/>
          <p:nvPr/>
        </p:nvSpPr>
        <p:spPr bwMode="auto">
          <a:xfrm>
            <a:off x="2987824" y="2204864"/>
            <a:ext cx="216024" cy="1080120"/>
          </a:xfrm>
          <a:prstGeom prst="rightBrac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95181" y="2469798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dirty="0"/>
              <a:t>引入的目的？各自功能？</a:t>
            </a:r>
            <a:endParaRPr lang="zh-CN" altLang="en-US" sz="2400" b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第三章 内容总结</a:t>
            </a:r>
            <a:endParaRPr lang="zh-CN" altLang="zh-CN" sz="3600" dirty="0"/>
          </a:p>
        </p:txBody>
      </p:sp>
      <p:sp>
        <p:nvSpPr>
          <p:cNvPr id="8069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9750" y="1628775"/>
            <a:ext cx="8136890" cy="4752553"/>
          </a:xfrm>
        </p:spPr>
        <p:txBody>
          <a:bodyPr/>
          <a:lstStyle/>
          <a:p>
            <a:pPr marL="482600" lvl="1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作业与作业调度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基本定义：作业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作业运行的三个阶段和三种状态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作业调度算法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与进程调度算法综合应用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39850" lvl="3" indent="-342900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先来先服务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39850" lvl="3" indent="-342900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短作业优先调度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39850" lvl="3" indent="-342900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高优先权优先调度：静态优先权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39850" lvl="3" indent="-342900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高响应比优先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：动态优先权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96950" lvl="2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为什么说高响应比优先作业调度算法是当前最好的作业调度算法？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第三章 内容总结</a:t>
            </a:r>
            <a:endParaRPr lang="zh-CN" altLang="zh-CN" sz="3600" dirty="0"/>
          </a:p>
        </p:txBody>
      </p:sp>
      <p:sp>
        <p:nvSpPr>
          <p:cNvPr id="8069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9750" y="1628775"/>
            <a:ext cx="8136890" cy="4752553"/>
          </a:xfrm>
        </p:spPr>
        <p:txBody>
          <a:bodyPr/>
          <a:lstStyle/>
          <a:p>
            <a:pPr marL="482600" lvl="1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进程调度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进程调度的任务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进程调度方式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非抢占、抢占（有哪些抢占原则）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进程调度算法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与作业调度算法综合应用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39850" lvl="3" indent="-342900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先来先服务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39850" lvl="3" indent="-342900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短进程优先（非抢占、抢占）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39850" lvl="3" indent="-342900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高优先权优先（非抢占、抢占）：静态优先权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39850" lvl="3" indent="-342900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简单时间片轮转（抢占）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39850" lvl="3" indent="-342900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多级反馈队列调度算法（抢占、非抢占）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为什么说多级反馈队列调度算法全面考虑各种作业类型？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第三章 内容总结</a:t>
            </a:r>
            <a:endParaRPr lang="zh-CN" altLang="zh-CN" sz="3600" dirty="0"/>
          </a:p>
        </p:txBody>
      </p:sp>
      <p:sp>
        <p:nvSpPr>
          <p:cNvPr id="8069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9750" y="1628775"/>
            <a:ext cx="8136890" cy="4608537"/>
          </a:xfrm>
        </p:spPr>
        <p:txBody>
          <a:bodyPr/>
          <a:lstStyle/>
          <a:p>
            <a:pPr marL="596900" lvl="1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根据不同类型操作系统的目标，系统应该采用何种进程调度算法？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96950" lvl="2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批处理操作系统：旨在提高资源的利用率和系统吞吐量，因此为了照顾为数众多的短作业，应采用短作业优先调度算法。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96950" lvl="2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分时操作系统：旨在实现交互性和及时响应用户请求，因此通常采用时间片轮转的调度算法。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96950" lvl="2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实时操作系统：旨在保证紧急任务能等到即时处理，通常采用抢占式的高优先权优先调度算法。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第三章 内容总结</a:t>
            </a:r>
            <a:endParaRPr lang="zh-CN" altLang="zh-CN" sz="3600" dirty="0"/>
          </a:p>
        </p:txBody>
      </p:sp>
      <p:sp>
        <p:nvSpPr>
          <p:cNvPr id="8069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9750" y="1628775"/>
            <a:ext cx="8136890" cy="4752553"/>
          </a:xfrm>
        </p:spPr>
        <p:txBody>
          <a:bodyPr/>
          <a:lstStyle/>
          <a:p>
            <a:pPr marL="482600" lvl="1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死锁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死锁定义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死锁产生的原因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死锁产生的必要条件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死锁的处理方法：预防死锁、避免死锁、检测死锁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解除死锁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82650" lvl="2" indent="-3429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预防死锁的方法：破坏必要条件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39850" lvl="3" indent="-342900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破坏“请求和保持”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96950" lvl="3" indent="0" algn="just" eaLnBrk="1" hangingPunct="1">
              <a:spcBef>
                <a:spcPts val="600"/>
              </a:spcBef>
              <a:buClr>
                <a:schemeClr val="accent1"/>
              </a:buClr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）第一种协议：静态资源分配法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96950" lvl="3" indent="0" algn="just" eaLnBrk="1" hangingPunct="1">
              <a:spcBef>
                <a:spcPts val="600"/>
              </a:spcBef>
              <a:buClr>
                <a:schemeClr val="accent1"/>
              </a:buClr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）第二种协议：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第三章 内容总结</a:t>
            </a:r>
            <a:endParaRPr lang="zh-CN" altLang="zh-CN" sz="3600" dirty="0"/>
          </a:p>
        </p:txBody>
      </p:sp>
      <p:sp>
        <p:nvSpPr>
          <p:cNvPr id="8069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9750" y="1628775"/>
            <a:ext cx="8136890" cy="4608537"/>
          </a:xfrm>
        </p:spPr>
        <p:txBody>
          <a:bodyPr/>
          <a:lstStyle/>
          <a:p>
            <a:pPr marL="1339850" lvl="3" indent="-342900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破坏“不可抢占”条件：资源暂时剥夺法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39850" lvl="3" indent="-342900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破坏“环路等待”条件：资源有序申请法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96900" lvl="1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避免死锁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96950" lvl="2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系统的安全状态、不安全状态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96950" lvl="2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银行家算法（包含安全性算法）应用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41755" lvl="3" indent="-344805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判断系统状态是否安全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安全性算法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41755" lvl="3" indent="-344805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1431925" algn="l"/>
              </a:tabLst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判断是否满足进程的资源请求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完整的银行家算法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96950" lvl="2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tabLst>
                <a:tab pos="1431925" algn="l"/>
              </a:tabLs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利用银行家算法保证系统绝对安全：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为进程数，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为每个进程需要的最多资源数、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为资源的总数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9750" lvl="2" indent="0" algn="just" eaLnBrk="1" hangingPunct="1">
              <a:spcBef>
                <a:spcPts val="600"/>
              </a:spcBef>
              <a:buClr>
                <a:schemeClr val="accent1"/>
              </a:buClr>
              <a:buNone/>
              <a:tabLst>
                <a:tab pos="143192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-1)+1&lt;=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endParaRPr lang="en-US" altLang="zh-CN" sz="2800" i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第三章 内容总结</a:t>
            </a:r>
            <a:endParaRPr lang="zh-CN" altLang="zh-CN" sz="3600" dirty="0"/>
          </a:p>
        </p:txBody>
      </p:sp>
      <p:sp>
        <p:nvSpPr>
          <p:cNvPr id="8069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9750" y="1628775"/>
            <a:ext cx="8136890" cy="4608537"/>
          </a:xfrm>
        </p:spPr>
        <p:txBody>
          <a:bodyPr/>
          <a:lstStyle/>
          <a:p>
            <a:pPr marL="596900" lvl="1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检测和解除死锁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96950" lvl="2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检测死锁：利用死锁定理（资源分配图是否可完全简化，类似拓扑排序）判断是否存在死锁。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96950" lvl="2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解除死锁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41755" lvl="3" indent="-344805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解除死锁方法：人工方法、抢占资源、终止进程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41755" lvl="3" indent="-344805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终止进程的方法：终止全部进程、逐个终止进程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341755" lvl="3" indent="-344805" algn="just"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解除死锁考虑：付出代价最小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第三章 内容总结</a:t>
            </a:r>
            <a:endParaRPr lang="zh-CN" altLang="zh-CN" sz="3600" dirty="0"/>
          </a:p>
        </p:txBody>
      </p:sp>
      <p:sp>
        <p:nvSpPr>
          <p:cNvPr id="8069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9750" y="1628775"/>
            <a:ext cx="8225155" cy="4608830"/>
          </a:xfrm>
        </p:spPr>
        <p:txBody>
          <a:bodyPr/>
          <a:lstStyle/>
          <a:p>
            <a:pPr marL="596900" lvl="1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其他思考题目</a:t>
            </a:r>
            <a:endParaRPr 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有三个进程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P1,P2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和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P3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并发执行，进程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P1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需要资源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S2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和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S3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；进程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P2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需要资源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S1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和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S2;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进程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P3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需要资源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S3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和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S2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。问：</a:t>
            </a:r>
            <a:endParaRPr lang="en-US" altLang="zh-CN" sz="2000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（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1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）若对资源分配不加限制，会发生什么情况？为什么？</a:t>
            </a:r>
            <a:endParaRPr lang="en-US" altLang="zh-CN" sz="2000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（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2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）为保证进程正确运行，应采用怎样的分配策略。至少列出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3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种。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【提示】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）死锁。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P1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申请到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S2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P2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申请到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S1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P3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申请到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S3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，所有进程在申请第二个资源时均进入阻塞。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解决方法：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、资源一次申请，又称为静态资源申请法 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、资源有序申请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、银行家算法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第三章 内容总结</a:t>
            </a:r>
            <a:endParaRPr lang="zh-CN" altLang="zh-CN" sz="3600" dirty="0"/>
          </a:p>
        </p:txBody>
      </p:sp>
      <p:sp>
        <p:nvSpPr>
          <p:cNvPr id="8069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9750" y="1628775"/>
            <a:ext cx="8225155" cy="4608830"/>
          </a:xfrm>
        </p:spPr>
        <p:txBody>
          <a:bodyPr/>
          <a:lstStyle/>
          <a:p>
            <a:pPr marL="596900" lvl="1" indent="-45720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p"/>
            </a:pPr>
            <a:r>
              <a:rPr 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其他思考题目</a:t>
            </a:r>
            <a:endParaRPr 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假定某计算机系统有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R1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和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R2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两类可用资源（其中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R1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有两个单位，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R2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有一个单位），他们被进程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P1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和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P2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共享，且已知两个进程均以下列顺序使两类资源：</a:t>
            </a:r>
            <a:endParaRPr lang="en-US" altLang="zh-CN" sz="2000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申请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R1→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申请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R2→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申请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R1→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释放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R1→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释放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R2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→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释放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R1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。试给出系统运行过程中在什么情况下可能出现死锁（到达的死锁点），画出死锁时的资源分配图。</a:t>
            </a:r>
            <a:endParaRPr lang="zh-CN" altLang="en-US" sz="2000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【提示】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死锁出现在：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P1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申请到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一个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R1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、一个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R2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P2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申请到一个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R1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139700" lvl="1" indent="0" algn="just" eaLnBrk="1" hangingPunct="1"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P1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P2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继续申请资源后死锁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DEFINEDINNAVIGATOR" val="True"/>
  <p:tag name="HOTSPOTTYPE" val="DefinedInNavigator"/>
  <p:tag name="BRANCHTO" val="257"/>
  <p:tag name="KSO_WPP_MARK_KEY" val="b4de8d02-01d2-4f0c-8123-0ae9df224242"/>
  <p:tag name="COMMONDATA" val="eyJoZGlkIjoiYzJlZWY4MzUzZWZhM2MzY2E5NzViMGM0MzA5ZjhkOGUifQ=="/>
</p:tagLst>
</file>

<file path=ppt/theme/theme1.xml><?xml version="1.0" encoding="utf-8"?>
<a:theme xmlns:a="http://schemas.openxmlformats.org/drawingml/2006/main" name="个人主页 (标准)">
  <a:themeElements>
    <a:clrScheme name="个人主页 (标准) 9">
      <a:dk1>
        <a:srgbClr val="000000"/>
      </a:dk1>
      <a:lt1>
        <a:srgbClr val="DFF9EF"/>
      </a:lt1>
      <a:dk2>
        <a:srgbClr val="0000FF"/>
      </a:dk2>
      <a:lt2>
        <a:srgbClr val="000000"/>
      </a:lt2>
      <a:accent1>
        <a:srgbClr val="000000"/>
      </a:accent1>
      <a:accent2>
        <a:srgbClr val="336699"/>
      </a:accent2>
      <a:accent3>
        <a:srgbClr val="ECFBF6"/>
      </a:accent3>
      <a:accent4>
        <a:srgbClr val="000000"/>
      </a:accent4>
      <a:accent5>
        <a:srgbClr val="AAAAAA"/>
      </a:accent5>
      <a:accent6>
        <a:srgbClr val="2D5C8A"/>
      </a:accent6>
      <a:hlink>
        <a:srgbClr val="EBFFF5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FF9933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5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6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DDDD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7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B7FFE7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8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FFF4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9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BFFF5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1454</Words>
  <Application>WPS 演示</Application>
  <PresentationFormat>全屏显示(4:3)</PresentationFormat>
  <Paragraphs>104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微软雅黑</vt:lpstr>
      <vt:lpstr>Arial Unicode MS</vt:lpstr>
      <vt:lpstr>个人主页 (标准)</vt:lpstr>
      <vt:lpstr>第三章 内容总结</vt:lpstr>
      <vt:lpstr>第三章 内容总结</vt:lpstr>
      <vt:lpstr>第三章 内容总结</vt:lpstr>
      <vt:lpstr>第三章 内容总结</vt:lpstr>
      <vt:lpstr>第三章 内容总结</vt:lpstr>
      <vt:lpstr>第三章 内容总结</vt:lpstr>
      <vt:lpstr>第三章 内容总结</vt:lpstr>
      <vt:lpstr>第三章 内容总结</vt:lpstr>
      <vt:lpstr>第三章 内容总结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Alice</cp:lastModifiedBy>
  <cp:revision>1455</cp:revision>
  <cp:lastPrinted>1995-12-08T18:33:00Z</cp:lastPrinted>
  <dcterms:created xsi:type="dcterms:W3CDTF">2000-10-31T09:27:00Z</dcterms:created>
  <dcterms:modified xsi:type="dcterms:W3CDTF">2022-10-22T12:41:11Z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DB5D996FEADF4FE6A6C84C525F7A3D3B</vt:lpwstr>
  </property>
  <property fmtid="{D5CDD505-2E9C-101B-9397-08002B2CF9AE}" pid="3" name="KSOProductBuildVer">
    <vt:lpwstr>2052-11.1.0.12598</vt:lpwstr>
  </property>
</Properties>
</file>