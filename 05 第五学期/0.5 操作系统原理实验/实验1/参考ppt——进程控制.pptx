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AutoShape 23"/>
          <p:cNvSpPr>
            <a:spLocks noChangeArrowheads="1"/>
          </p:cNvSpPr>
          <p:nvPr/>
        </p:nvSpPr>
        <p:spPr bwMode="auto">
          <a:xfrm rot="20940000">
            <a:off x="2438400" y="304800"/>
            <a:ext cx="609600" cy="457200"/>
          </a:xfrm>
          <a:prstGeom prst="star5">
            <a:avLst/>
          </a:prstGeom>
          <a:gradFill rotWithShape="0">
            <a:gsLst>
              <a:gs pos="0">
                <a:schemeClr val="bg1">
                  <a:gamma/>
                  <a:shade val="46275"/>
                  <a:invGamma/>
                </a:schemeClr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spcBef>
                <a:spcPct val="50000"/>
              </a:spcBef>
              <a:buFontTx/>
              <a:buNone/>
              <a:defRPr/>
            </a:pPr>
            <a:endParaRPr kumimoji="1" lang="zh-CN" altLang="en-US" sz="2400">
              <a:solidFill>
                <a:srgbClr val="000000"/>
              </a:solidFill>
            </a:endParaRPr>
          </a:p>
        </p:txBody>
      </p:sp>
      <p:sp>
        <p:nvSpPr>
          <p:cNvPr id="20" name="AutoShape 24"/>
          <p:cNvSpPr>
            <a:spLocks noChangeArrowheads="1"/>
          </p:cNvSpPr>
          <p:nvPr/>
        </p:nvSpPr>
        <p:spPr bwMode="auto">
          <a:xfrm>
            <a:off x="3479800" y="171450"/>
            <a:ext cx="558800" cy="419100"/>
          </a:xfrm>
          <a:prstGeom prst="star5">
            <a:avLst/>
          </a:prstGeom>
          <a:gradFill rotWithShape="0">
            <a:gsLst>
              <a:gs pos="0">
                <a:schemeClr val="bg1">
                  <a:gamma/>
                  <a:shade val="46275"/>
                  <a:invGamma/>
                </a:schemeClr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spcBef>
                <a:spcPct val="50000"/>
              </a:spcBef>
              <a:buFontTx/>
              <a:buNone/>
              <a:defRPr/>
            </a:pPr>
            <a:endParaRPr kumimoji="1" lang="zh-CN" altLang="en-US" sz="2400">
              <a:solidFill>
                <a:srgbClr val="000000"/>
              </a:solidFill>
            </a:endParaRPr>
          </a:p>
        </p:txBody>
      </p:sp>
      <p:sp>
        <p:nvSpPr>
          <p:cNvPr id="21" name="AutoShape 25"/>
          <p:cNvSpPr>
            <a:spLocks noChangeArrowheads="1"/>
          </p:cNvSpPr>
          <p:nvPr/>
        </p:nvSpPr>
        <p:spPr bwMode="auto">
          <a:xfrm rot="20940000">
            <a:off x="2336800" y="228600"/>
            <a:ext cx="609600" cy="457200"/>
          </a:xfrm>
          <a:prstGeom prst="star5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spcBef>
                <a:spcPct val="50000"/>
              </a:spcBef>
              <a:buFontTx/>
              <a:buNone/>
              <a:defRPr/>
            </a:pPr>
            <a:endParaRPr kumimoji="1" lang="zh-CN" altLang="en-US" sz="2400">
              <a:solidFill>
                <a:srgbClr val="000000"/>
              </a:solidFill>
            </a:endParaRPr>
          </a:p>
        </p:txBody>
      </p:sp>
      <p:sp>
        <p:nvSpPr>
          <p:cNvPr id="22" name="AutoShape 26"/>
          <p:cNvSpPr>
            <a:spLocks noChangeArrowheads="1"/>
          </p:cNvSpPr>
          <p:nvPr/>
        </p:nvSpPr>
        <p:spPr bwMode="auto">
          <a:xfrm>
            <a:off x="3378200" y="19050"/>
            <a:ext cx="558800" cy="419100"/>
          </a:xfrm>
          <a:prstGeom prst="star5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spcBef>
                <a:spcPct val="50000"/>
              </a:spcBef>
              <a:buFontTx/>
              <a:buNone/>
              <a:defRPr/>
            </a:pPr>
            <a:endParaRPr kumimoji="1" lang="zh-CN" altLang="en-US" sz="2400">
              <a:solidFill>
                <a:srgbClr val="000000"/>
              </a:solidFill>
            </a:endParaRPr>
          </a:p>
        </p:txBody>
      </p:sp>
      <p:grpSp>
        <p:nvGrpSpPr>
          <p:cNvPr id="3078" name="Group 27"/>
          <p:cNvGrpSpPr/>
          <p:nvPr/>
        </p:nvGrpSpPr>
        <p:grpSpPr>
          <a:xfrm>
            <a:off x="9245600" y="5181600"/>
            <a:ext cx="2711451" cy="1219200"/>
            <a:chOff x="4368" y="3264"/>
            <a:chExt cx="1281" cy="768"/>
          </a:xfrm>
        </p:grpSpPr>
        <p:sp>
          <p:nvSpPr>
            <p:cNvPr id="24" name="AutoShape 28"/>
            <p:cNvSpPr>
              <a:spLocks noChangeArrowheads="1"/>
            </p:cNvSpPr>
            <p:nvPr/>
          </p:nvSpPr>
          <p:spPr bwMode="auto">
            <a:xfrm rot="20940000">
              <a:off x="4368" y="3681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>
                <a:spcBef>
                  <a:spcPct val="50000"/>
                </a:spcBef>
                <a:buFontTx/>
                <a:buNone/>
                <a:defRPr/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25" name="AutoShape 29"/>
            <p:cNvSpPr>
              <a:spLocks noChangeArrowheads="1"/>
            </p:cNvSpPr>
            <p:nvPr/>
          </p:nvSpPr>
          <p:spPr bwMode="auto">
            <a:xfrm>
              <a:off x="4845" y="3324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>
                <a:spcBef>
                  <a:spcPct val="50000"/>
                </a:spcBef>
                <a:buFontTx/>
                <a:buNone/>
                <a:defRPr/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26" name="AutoShape 30"/>
            <p:cNvSpPr>
              <a:spLocks noChangeArrowheads="1"/>
            </p:cNvSpPr>
            <p:nvPr/>
          </p:nvSpPr>
          <p:spPr bwMode="auto">
            <a:xfrm rot="1320000">
              <a:off x="5217" y="3264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>
                <a:spcBef>
                  <a:spcPct val="50000"/>
                </a:spcBef>
                <a:buFontTx/>
                <a:buNone/>
                <a:defRPr/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27" name="AutoShape 31"/>
            <p:cNvSpPr>
              <a:spLocks noChangeArrowheads="1"/>
            </p:cNvSpPr>
            <p:nvPr/>
          </p:nvSpPr>
          <p:spPr bwMode="auto">
            <a:xfrm rot="20940000">
              <a:off x="4449" y="3744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>
                <a:spcBef>
                  <a:spcPct val="50000"/>
                </a:spcBef>
                <a:buFontTx/>
                <a:buNone/>
                <a:defRPr/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28" name="AutoShape 32"/>
            <p:cNvSpPr>
              <a:spLocks noChangeArrowheads="1"/>
            </p:cNvSpPr>
            <p:nvPr/>
          </p:nvSpPr>
          <p:spPr bwMode="auto">
            <a:xfrm>
              <a:off x="4893" y="3372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>
                <a:spcBef>
                  <a:spcPct val="50000"/>
                </a:spcBef>
                <a:buFontTx/>
                <a:buNone/>
                <a:defRPr/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29" name="AutoShape 33"/>
            <p:cNvSpPr>
              <a:spLocks noChangeArrowheads="1"/>
            </p:cNvSpPr>
            <p:nvPr/>
          </p:nvSpPr>
          <p:spPr bwMode="auto">
            <a:xfrm rot="1320000">
              <a:off x="5265" y="3360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>
                <a:spcBef>
                  <a:spcPct val="50000"/>
                </a:spcBef>
                <a:buFontTx/>
                <a:buNone/>
                <a:defRPr/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</p:grpSp>
      <p:sp>
        <p:nvSpPr>
          <p:cNvPr id="30" name="AutoShape 34"/>
          <p:cNvSpPr>
            <a:spLocks noChangeArrowheads="1"/>
          </p:cNvSpPr>
          <p:nvPr/>
        </p:nvSpPr>
        <p:spPr bwMode="auto">
          <a:xfrm rot="1320000">
            <a:off x="224367" y="244475"/>
            <a:ext cx="1176867" cy="882650"/>
          </a:xfrm>
          <a:prstGeom prst="star5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spcBef>
                <a:spcPct val="50000"/>
              </a:spcBef>
              <a:buFontTx/>
              <a:buNone/>
              <a:defRPr/>
            </a:pPr>
            <a:endParaRPr kumimoji="1" lang="zh-CN" altLang="en-US" sz="2400">
              <a:solidFill>
                <a:srgbClr val="000000"/>
              </a:solidFill>
            </a:endParaRPr>
          </a:p>
        </p:txBody>
      </p:sp>
      <p:sp>
        <p:nvSpPr>
          <p:cNvPr id="3087" name="Rectangle 1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2667000"/>
            <a:ext cx="8534400" cy="3276600"/>
          </a:xfr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 fontAlgn="base"/>
            <a:r>
              <a:rPr lang="zh-CN" altLang="en-US" strike="noStrike" noProof="0" smtClean="0"/>
              <a:t>单击此处编辑母版副标题样式</a:t>
            </a:r>
            <a:endParaRPr lang="zh-CN" altLang="en-US" strike="noStrike" noProof="0" smtClean="0"/>
          </a:p>
        </p:txBody>
      </p:sp>
      <p:sp>
        <p:nvSpPr>
          <p:cNvPr id="3091" name="Rectangle 19"/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914400"/>
            <a:ext cx="10363200" cy="1143000"/>
          </a:xfrm>
        </p:spPr>
        <p:txBody>
          <a:bodyPr/>
          <a:lstStyle>
            <a:lvl1pPr algn="ctr">
              <a:defRPr/>
            </a:lvl1pPr>
          </a:lstStyle>
          <a:p>
            <a:pPr lvl="0" fontAlgn="base"/>
            <a:r>
              <a:rPr lang="zh-CN" altLang="en-US" strike="noStrike" noProof="0" smtClean="0"/>
              <a:t>单击此处编辑母版标题样式</a:t>
            </a:r>
            <a:endParaRPr lang="zh-CN" altLang="en-US" strike="noStrike" noProof="0" smtClean="0"/>
          </a:p>
        </p:txBody>
      </p:sp>
      <p:sp>
        <p:nvSpPr>
          <p:cNvPr id="31" name="Rectangle 16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101600" y="6323013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2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3246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3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550400" y="63246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/>
          <a:lstStyle/>
          <a:p>
            <a:fld id="{9A0DB2DC-4C9A-4742-B13C-FB6460FD3503}" type="slidenum">
              <a:rPr lang="zh-CN" altLang="en-US" noProof="1" dirty="0">
                <a:solidFill>
                  <a:srgbClr val="000000"/>
                </a:solidFill>
              </a:rPr>
            </a:fld>
            <a:endParaRPr lang="zh-CN" altLang="en-US" noProof="1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zh-CN" altLang="en-US" noProof="1" dirty="0">
                <a:solidFill>
                  <a:srgbClr val="000000"/>
                </a:solidFill>
              </a:rPr>
            </a:fld>
            <a:endParaRPr lang="zh-CN" altLang="en-US" noProof="1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zh-CN" altLang="en-US" noProof="1" dirty="0">
                <a:solidFill>
                  <a:srgbClr val="000000"/>
                </a:solidFill>
              </a:rPr>
            </a:fld>
            <a:endParaRPr lang="zh-CN" altLang="en-US" noProof="1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050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050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zh-CN" altLang="en-US" noProof="1" dirty="0">
                <a:solidFill>
                  <a:srgbClr val="000000"/>
                </a:solidFill>
              </a:rPr>
            </a:fld>
            <a:endParaRPr lang="zh-CN" altLang="en-US" noProof="1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zh-CN" altLang="en-US" noProof="1" dirty="0">
                <a:solidFill>
                  <a:srgbClr val="000000"/>
                </a:solidFill>
              </a:rPr>
            </a:fld>
            <a:endParaRPr lang="zh-CN" altLang="en-US" noProof="1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zh-CN" altLang="en-US" noProof="1" dirty="0">
                <a:solidFill>
                  <a:srgbClr val="000000"/>
                </a:solidFill>
              </a:rPr>
            </a:fld>
            <a:endParaRPr lang="zh-CN" altLang="en-US" noProof="1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zh-CN" altLang="en-US" noProof="1" dirty="0">
                <a:solidFill>
                  <a:srgbClr val="000000"/>
                </a:solidFill>
              </a:rPr>
            </a:fld>
            <a:endParaRPr lang="zh-CN" altLang="en-US" noProof="1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zh-CN" altLang="en-US" noProof="1" dirty="0">
                <a:solidFill>
                  <a:srgbClr val="000000"/>
                </a:solidFill>
              </a:rPr>
            </a:fld>
            <a:endParaRPr lang="zh-CN" altLang="en-US" noProof="1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20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2075" tIns="46038" rIns="92075" bIns="46038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zh-CN" altLang="en-US" noProof="1" dirty="0">
                <a:solidFill>
                  <a:srgbClr val="000000"/>
                </a:solidFill>
              </a:rPr>
            </a:fld>
            <a:endParaRPr lang="zh-CN" altLang="en-US" noProof="1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zh-CN" altLang="en-US" noProof="1" dirty="0">
                <a:solidFill>
                  <a:srgbClr val="000000"/>
                </a:solidFill>
              </a:rPr>
            </a:fld>
            <a:endParaRPr lang="zh-CN" altLang="en-US" noProof="1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549275"/>
            <a:ext cx="2590800" cy="5470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549275"/>
            <a:ext cx="7569200" cy="5470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zh-CN" altLang="en-US" noProof="1" dirty="0">
                <a:solidFill>
                  <a:srgbClr val="000000"/>
                </a:solidFill>
              </a:rPr>
            </a:fld>
            <a:endParaRPr lang="zh-CN" altLang="en-US" noProof="1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标题，剪贴画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549275"/>
            <a:ext cx="10363200" cy="82232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剪贴画占位符 2"/>
          <p:cNvSpPr>
            <a:spLocks noGrp="1"/>
          </p:cNvSpPr>
          <p:nvPr>
            <p:ph type="clipArt" sz="half" idx="1"/>
          </p:nvPr>
        </p:nvSpPr>
        <p:spPr>
          <a:xfrm>
            <a:off x="914400" y="1905000"/>
            <a:ext cx="5080000" cy="4114800"/>
          </a:xfrm>
        </p:spPr>
        <p:txBody>
          <a:bodyPr vert="horz" wrap="square" lIns="92075" tIns="46038" rIns="92075" bIns="46038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p"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197600" y="1905000"/>
            <a:ext cx="5080000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zh-CN" altLang="en-US" noProof="1" dirty="0">
                <a:solidFill>
                  <a:srgbClr val="000000"/>
                </a:solidFill>
              </a:rPr>
            </a:fld>
            <a:endParaRPr lang="zh-CN" altLang="en-US" noProof="1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Grp="1"/>
          </p:cNvSpPr>
          <p:nvPr>
            <p:ph type="body"/>
          </p:nvPr>
        </p:nvSpPr>
        <p:spPr>
          <a:xfrm>
            <a:off x="914400" y="1905000"/>
            <a:ext cx="10363200" cy="4114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946400" y="64008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/>
          <a:lstStyle>
            <a:lvl1pPr algn="l" eaLnBrk="1" hangingPunct="1">
              <a:defRPr kumimoji="1" sz="1400"/>
            </a:lvl1pPr>
          </a:lstStyle>
          <a:p>
            <a:pPr>
              <a:buFontTx/>
              <a:buNone/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588000" y="64008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/>
          <a:lstStyle>
            <a:lvl1pPr algn="ctr" eaLnBrk="1" hangingPunct="1">
              <a:defRPr kumimoji="1" sz="1400"/>
            </a:lvl1pPr>
          </a:lstStyle>
          <a:p>
            <a:pPr>
              <a:buFontTx/>
              <a:buNone/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550400" y="63246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/>
          <a:lstStyle>
            <a:lvl1pPr algn="r">
              <a:defRPr sz="1400"/>
            </a:lvl1pPr>
          </a:lstStyle>
          <a:p>
            <a:pPr>
              <a:buFontTx/>
              <a:buNone/>
            </a:pPr>
            <a:fld id="{9A0DB2DC-4C9A-4742-B13C-FB6460FD3503}" type="slidenum">
              <a:rPr lang="zh-CN" altLang="en-US" noProof="1" dirty="0">
                <a:solidFill>
                  <a:srgbClr val="000000"/>
                </a:solidFill>
              </a:rPr>
            </a:fld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1030" name="Rectangle 16"/>
          <p:cNvSpPr>
            <a:spLocks noGrp="1"/>
          </p:cNvSpPr>
          <p:nvPr>
            <p:ph type="title"/>
          </p:nvPr>
        </p:nvSpPr>
        <p:spPr>
          <a:xfrm>
            <a:off x="914400" y="549275"/>
            <a:ext cx="10363200" cy="82232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b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1031" name="Group 20"/>
          <p:cNvGrpSpPr/>
          <p:nvPr/>
        </p:nvGrpSpPr>
        <p:grpSpPr>
          <a:xfrm>
            <a:off x="9245600" y="5257800"/>
            <a:ext cx="2711451" cy="1219200"/>
            <a:chOff x="4368" y="3312"/>
            <a:chExt cx="1281" cy="768"/>
          </a:xfrm>
        </p:grpSpPr>
        <p:sp>
          <p:nvSpPr>
            <p:cNvPr id="1045" name="AutoShape 21"/>
            <p:cNvSpPr>
              <a:spLocks noChangeArrowheads="1"/>
            </p:cNvSpPr>
            <p:nvPr/>
          </p:nvSpPr>
          <p:spPr bwMode="auto">
            <a:xfrm rot="20940000">
              <a:off x="4368" y="3729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>
                <a:spcBef>
                  <a:spcPct val="50000"/>
                </a:spcBef>
                <a:buFontTx/>
                <a:buNone/>
                <a:defRPr/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1046" name="AutoShape 22"/>
            <p:cNvSpPr>
              <a:spLocks noChangeArrowheads="1"/>
            </p:cNvSpPr>
            <p:nvPr/>
          </p:nvSpPr>
          <p:spPr bwMode="auto">
            <a:xfrm>
              <a:off x="4845" y="3372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>
                <a:spcBef>
                  <a:spcPct val="50000"/>
                </a:spcBef>
                <a:buFontTx/>
                <a:buNone/>
                <a:defRPr/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1047" name="AutoShape 23"/>
            <p:cNvSpPr>
              <a:spLocks noChangeArrowheads="1"/>
            </p:cNvSpPr>
            <p:nvPr/>
          </p:nvSpPr>
          <p:spPr bwMode="auto">
            <a:xfrm rot="1320000">
              <a:off x="5217" y="3312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>
                <a:spcBef>
                  <a:spcPct val="50000"/>
                </a:spcBef>
                <a:buFontTx/>
                <a:buNone/>
                <a:defRPr/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1048" name="AutoShape 24"/>
            <p:cNvSpPr>
              <a:spLocks noChangeArrowheads="1"/>
            </p:cNvSpPr>
            <p:nvPr/>
          </p:nvSpPr>
          <p:spPr bwMode="auto">
            <a:xfrm rot="20940000">
              <a:off x="4449" y="3792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>
                <a:spcBef>
                  <a:spcPct val="50000"/>
                </a:spcBef>
                <a:buFontTx/>
                <a:buNone/>
                <a:defRPr/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1049" name="AutoShape 25"/>
            <p:cNvSpPr>
              <a:spLocks noChangeArrowheads="1"/>
            </p:cNvSpPr>
            <p:nvPr/>
          </p:nvSpPr>
          <p:spPr bwMode="auto">
            <a:xfrm>
              <a:off x="4893" y="3420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>
                <a:spcBef>
                  <a:spcPct val="50000"/>
                </a:spcBef>
                <a:buFontTx/>
                <a:buNone/>
                <a:defRPr/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1050" name="AutoShape 26"/>
            <p:cNvSpPr>
              <a:spLocks noChangeArrowheads="1"/>
            </p:cNvSpPr>
            <p:nvPr/>
          </p:nvSpPr>
          <p:spPr bwMode="auto">
            <a:xfrm rot="1320000">
              <a:off x="5265" y="3408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>
                <a:spcBef>
                  <a:spcPct val="50000"/>
                </a:spcBef>
                <a:buFontTx/>
                <a:buNone/>
                <a:defRPr/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</p:grpSp>
      <p:grpSp>
        <p:nvGrpSpPr>
          <p:cNvPr id="1038" name="Group 27"/>
          <p:cNvGrpSpPr/>
          <p:nvPr/>
        </p:nvGrpSpPr>
        <p:grpSpPr>
          <a:xfrm>
            <a:off x="508000" y="1219200"/>
            <a:ext cx="11074400" cy="381000"/>
            <a:chOff x="240" y="768"/>
            <a:chExt cx="5232" cy="240"/>
          </a:xfrm>
        </p:grpSpPr>
        <p:sp>
          <p:nvSpPr>
            <p:cNvPr id="1052" name="Rectangle 28"/>
            <p:cNvSpPr>
              <a:spLocks noChangeArrowheads="1"/>
            </p:cNvSpPr>
            <p:nvPr/>
          </p:nvSpPr>
          <p:spPr bwMode="auto">
            <a:xfrm>
              <a:off x="384" y="912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buFontTx/>
                <a:buNone/>
                <a:defRPr/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1053" name="Rectangle 29"/>
            <p:cNvSpPr>
              <a:spLocks noChangeArrowheads="1"/>
            </p:cNvSpPr>
            <p:nvPr/>
          </p:nvSpPr>
          <p:spPr bwMode="auto">
            <a:xfrm>
              <a:off x="240" y="768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buFontTx/>
                <a:buNone/>
                <a:defRPr/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</p:grpSp>
      <p:sp>
        <p:nvSpPr>
          <p:cNvPr id="1054" name="Freeform 30">
            <a:hlinkClick r:id="" action="ppaction://hlinkshowjump?jump=previousslide"/>
          </p:cNvPr>
          <p:cNvSpPr/>
          <p:nvPr/>
        </p:nvSpPr>
        <p:spPr bwMode="auto">
          <a:xfrm>
            <a:off x="1041400" y="6416675"/>
            <a:ext cx="742951" cy="347663"/>
          </a:xfrm>
          <a:custGeom>
            <a:avLst/>
            <a:gdLst>
              <a:gd name="T0" fmla="*/ 350 w 351"/>
              <a:gd name="T1" fmla="*/ 1 h 219"/>
              <a:gd name="T2" fmla="*/ 101 w 351"/>
              <a:gd name="T3" fmla="*/ 0 h 219"/>
              <a:gd name="T4" fmla="*/ 81 w 351"/>
              <a:gd name="T5" fmla="*/ 2 h 219"/>
              <a:gd name="T6" fmla="*/ 67 w 351"/>
              <a:gd name="T7" fmla="*/ 6 h 219"/>
              <a:gd name="T8" fmla="*/ 51 w 351"/>
              <a:gd name="T9" fmla="*/ 15 h 219"/>
              <a:gd name="T10" fmla="*/ 38 w 351"/>
              <a:gd name="T11" fmla="*/ 25 h 219"/>
              <a:gd name="T12" fmla="*/ 28 w 351"/>
              <a:gd name="T13" fmla="*/ 35 h 219"/>
              <a:gd name="T14" fmla="*/ 19 w 351"/>
              <a:gd name="T15" fmla="*/ 48 h 219"/>
              <a:gd name="T16" fmla="*/ 12 w 351"/>
              <a:gd name="T17" fmla="*/ 59 h 219"/>
              <a:gd name="T18" fmla="*/ 6 w 351"/>
              <a:gd name="T19" fmla="*/ 73 h 219"/>
              <a:gd name="T20" fmla="*/ 1 w 351"/>
              <a:gd name="T21" fmla="*/ 89 h 219"/>
              <a:gd name="T22" fmla="*/ 1 w 351"/>
              <a:gd name="T23" fmla="*/ 99 h 219"/>
              <a:gd name="T24" fmla="*/ 0 w 351"/>
              <a:gd name="T25" fmla="*/ 119 h 219"/>
              <a:gd name="T26" fmla="*/ 2 w 351"/>
              <a:gd name="T27" fmla="*/ 136 h 219"/>
              <a:gd name="T28" fmla="*/ 9 w 351"/>
              <a:gd name="T29" fmla="*/ 150 h 219"/>
              <a:gd name="T30" fmla="*/ 15 w 351"/>
              <a:gd name="T31" fmla="*/ 164 h 219"/>
              <a:gd name="T32" fmla="*/ 24 w 351"/>
              <a:gd name="T33" fmla="*/ 176 h 219"/>
              <a:gd name="T34" fmla="*/ 33 w 351"/>
              <a:gd name="T35" fmla="*/ 189 h 219"/>
              <a:gd name="T36" fmla="*/ 46 w 351"/>
              <a:gd name="T37" fmla="*/ 198 h 219"/>
              <a:gd name="T38" fmla="*/ 59 w 351"/>
              <a:gd name="T39" fmla="*/ 207 h 219"/>
              <a:gd name="T40" fmla="*/ 72 w 351"/>
              <a:gd name="T41" fmla="*/ 212 h 219"/>
              <a:gd name="T42" fmla="*/ 90 w 351"/>
              <a:gd name="T43" fmla="*/ 218 h 219"/>
              <a:gd name="T44" fmla="*/ 350 w 351"/>
              <a:gd name="T45" fmla="*/ 218 h 219"/>
              <a:gd name="T46" fmla="*/ 350 w 351"/>
              <a:gd name="T47" fmla="*/ 1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351" h="219">
                <a:moveTo>
                  <a:pt x="350" y="1"/>
                </a:moveTo>
                <a:lnTo>
                  <a:pt x="101" y="0"/>
                </a:lnTo>
                <a:lnTo>
                  <a:pt x="81" y="2"/>
                </a:lnTo>
                <a:lnTo>
                  <a:pt x="67" y="6"/>
                </a:lnTo>
                <a:lnTo>
                  <a:pt x="51" y="15"/>
                </a:lnTo>
                <a:lnTo>
                  <a:pt x="38" y="25"/>
                </a:lnTo>
                <a:lnTo>
                  <a:pt x="28" y="35"/>
                </a:lnTo>
                <a:lnTo>
                  <a:pt x="19" y="48"/>
                </a:lnTo>
                <a:lnTo>
                  <a:pt x="12" y="59"/>
                </a:lnTo>
                <a:lnTo>
                  <a:pt x="6" y="73"/>
                </a:lnTo>
                <a:lnTo>
                  <a:pt x="1" y="89"/>
                </a:lnTo>
                <a:lnTo>
                  <a:pt x="1" y="99"/>
                </a:lnTo>
                <a:lnTo>
                  <a:pt x="0" y="119"/>
                </a:lnTo>
                <a:lnTo>
                  <a:pt x="2" y="136"/>
                </a:lnTo>
                <a:lnTo>
                  <a:pt x="9" y="150"/>
                </a:lnTo>
                <a:lnTo>
                  <a:pt x="15" y="164"/>
                </a:lnTo>
                <a:lnTo>
                  <a:pt x="24" y="176"/>
                </a:lnTo>
                <a:lnTo>
                  <a:pt x="33" y="189"/>
                </a:lnTo>
                <a:lnTo>
                  <a:pt x="46" y="198"/>
                </a:lnTo>
                <a:lnTo>
                  <a:pt x="59" y="207"/>
                </a:lnTo>
                <a:lnTo>
                  <a:pt x="72" y="212"/>
                </a:lnTo>
                <a:lnTo>
                  <a:pt x="90" y="218"/>
                </a:lnTo>
                <a:lnTo>
                  <a:pt x="350" y="218"/>
                </a:lnTo>
                <a:lnTo>
                  <a:pt x="35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hangingPunct="0">
              <a:buFontTx/>
              <a:buNone/>
              <a:defRPr/>
            </a:pPr>
            <a:endParaRPr kumimoji="1" lang="zh-CN" altLang="en-US" sz="4000">
              <a:solidFill>
                <a:srgbClr val="000000"/>
              </a:solidFill>
            </a:endParaRPr>
          </a:p>
        </p:txBody>
      </p:sp>
      <p:sp>
        <p:nvSpPr>
          <p:cNvPr id="1055" name="Freeform 31">
            <a:hlinkClick r:id="" action="ppaction://hlinkshowjump?jump=nextslide"/>
          </p:cNvPr>
          <p:cNvSpPr/>
          <p:nvPr/>
        </p:nvSpPr>
        <p:spPr bwMode="auto">
          <a:xfrm>
            <a:off x="1930400" y="6416675"/>
            <a:ext cx="742951" cy="347663"/>
          </a:xfrm>
          <a:custGeom>
            <a:avLst/>
            <a:gdLst>
              <a:gd name="T0" fmla="*/ 0 w 351"/>
              <a:gd name="T1" fmla="*/ 1 h 219"/>
              <a:gd name="T2" fmla="*/ 249 w 351"/>
              <a:gd name="T3" fmla="*/ 0 h 219"/>
              <a:gd name="T4" fmla="*/ 268 w 351"/>
              <a:gd name="T5" fmla="*/ 3 h 219"/>
              <a:gd name="T6" fmla="*/ 283 w 351"/>
              <a:gd name="T7" fmla="*/ 6 h 219"/>
              <a:gd name="T8" fmla="*/ 298 w 351"/>
              <a:gd name="T9" fmla="*/ 16 h 219"/>
              <a:gd name="T10" fmla="*/ 311 w 351"/>
              <a:gd name="T11" fmla="*/ 26 h 219"/>
              <a:gd name="T12" fmla="*/ 321 w 351"/>
              <a:gd name="T13" fmla="*/ 35 h 219"/>
              <a:gd name="T14" fmla="*/ 331 w 351"/>
              <a:gd name="T15" fmla="*/ 48 h 219"/>
              <a:gd name="T16" fmla="*/ 337 w 351"/>
              <a:gd name="T17" fmla="*/ 60 h 219"/>
              <a:gd name="T18" fmla="*/ 344 w 351"/>
              <a:gd name="T19" fmla="*/ 74 h 219"/>
              <a:gd name="T20" fmla="*/ 349 w 351"/>
              <a:gd name="T21" fmla="*/ 90 h 219"/>
              <a:gd name="T22" fmla="*/ 349 w 351"/>
              <a:gd name="T23" fmla="*/ 100 h 219"/>
              <a:gd name="T24" fmla="*/ 350 w 351"/>
              <a:gd name="T25" fmla="*/ 119 h 219"/>
              <a:gd name="T26" fmla="*/ 347 w 351"/>
              <a:gd name="T27" fmla="*/ 136 h 219"/>
              <a:gd name="T28" fmla="*/ 341 w 351"/>
              <a:gd name="T29" fmla="*/ 151 h 219"/>
              <a:gd name="T30" fmla="*/ 334 w 351"/>
              <a:gd name="T31" fmla="*/ 165 h 219"/>
              <a:gd name="T32" fmla="*/ 325 w 351"/>
              <a:gd name="T33" fmla="*/ 176 h 219"/>
              <a:gd name="T34" fmla="*/ 316 w 351"/>
              <a:gd name="T35" fmla="*/ 189 h 219"/>
              <a:gd name="T36" fmla="*/ 303 w 351"/>
              <a:gd name="T37" fmla="*/ 199 h 219"/>
              <a:gd name="T38" fmla="*/ 290 w 351"/>
              <a:gd name="T39" fmla="*/ 208 h 219"/>
              <a:gd name="T40" fmla="*/ 277 w 351"/>
              <a:gd name="T41" fmla="*/ 213 h 219"/>
              <a:gd name="T42" fmla="*/ 259 w 351"/>
              <a:gd name="T43" fmla="*/ 218 h 219"/>
              <a:gd name="T44" fmla="*/ 0 w 351"/>
              <a:gd name="T45" fmla="*/ 218 h 219"/>
              <a:gd name="T46" fmla="*/ 0 w 351"/>
              <a:gd name="T47" fmla="*/ 1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351" h="219">
                <a:moveTo>
                  <a:pt x="0" y="1"/>
                </a:moveTo>
                <a:lnTo>
                  <a:pt x="249" y="0"/>
                </a:lnTo>
                <a:lnTo>
                  <a:pt x="268" y="3"/>
                </a:lnTo>
                <a:lnTo>
                  <a:pt x="283" y="6"/>
                </a:lnTo>
                <a:lnTo>
                  <a:pt x="298" y="16"/>
                </a:lnTo>
                <a:lnTo>
                  <a:pt x="311" y="26"/>
                </a:lnTo>
                <a:lnTo>
                  <a:pt x="321" y="35"/>
                </a:lnTo>
                <a:lnTo>
                  <a:pt x="331" y="48"/>
                </a:lnTo>
                <a:lnTo>
                  <a:pt x="337" y="60"/>
                </a:lnTo>
                <a:lnTo>
                  <a:pt x="344" y="74"/>
                </a:lnTo>
                <a:lnTo>
                  <a:pt x="349" y="90"/>
                </a:lnTo>
                <a:lnTo>
                  <a:pt x="349" y="100"/>
                </a:lnTo>
                <a:lnTo>
                  <a:pt x="350" y="119"/>
                </a:lnTo>
                <a:lnTo>
                  <a:pt x="347" y="136"/>
                </a:lnTo>
                <a:lnTo>
                  <a:pt x="341" y="151"/>
                </a:lnTo>
                <a:lnTo>
                  <a:pt x="334" y="165"/>
                </a:lnTo>
                <a:lnTo>
                  <a:pt x="325" y="176"/>
                </a:lnTo>
                <a:lnTo>
                  <a:pt x="316" y="189"/>
                </a:lnTo>
                <a:lnTo>
                  <a:pt x="303" y="199"/>
                </a:lnTo>
                <a:lnTo>
                  <a:pt x="290" y="208"/>
                </a:lnTo>
                <a:lnTo>
                  <a:pt x="277" y="213"/>
                </a:lnTo>
                <a:lnTo>
                  <a:pt x="259" y="218"/>
                </a:lnTo>
                <a:lnTo>
                  <a:pt x="0" y="218"/>
                </a:lnTo>
                <a:lnTo>
                  <a:pt x="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hangingPunct="0">
              <a:buFontTx/>
              <a:buNone/>
              <a:defRPr/>
            </a:pPr>
            <a:endParaRPr kumimoji="1" lang="zh-CN" altLang="en-US" sz="400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0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0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0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0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anose="05000000000000000000" pitchFamily="2" charset="2"/>
        <a:buChar char="p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¬"/>
        <a:defRPr sz="32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"/>
        <a:defRPr sz="32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/>
          </p:cNvSpPr>
          <p:nvPr>
            <p:ph type="title"/>
          </p:nvPr>
        </p:nvSpPr>
        <p:spPr>
          <a:xfrm>
            <a:off x="2209800" y="714375"/>
            <a:ext cx="7772400" cy="547688"/>
          </a:xfrm>
        </p:spPr>
        <p:txBody>
          <a:bodyPr vert="horz" wrap="square" lIns="92075" tIns="46038" rIns="92075" bIns="46038" anchor="b" anchorCtr="0"/>
          <a:lstStyle/>
          <a:p>
            <a:pPr eaLnBrk="1" hangingPunct="1"/>
            <a:r>
              <a:rPr lang="en-US" altLang="zh-CN" dirty="0">
                <a:solidFill>
                  <a:srgbClr val="0000CC"/>
                </a:solidFill>
              </a:rPr>
              <a:t>2.3 </a:t>
            </a:r>
            <a:r>
              <a:rPr lang="zh-CN" altLang="en-US" dirty="0">
                <a:solidFill>
                  <a:srgbClr val="0000CC"/>
                </a:solidFill>
              </a:rPr>
              <a:t>进程控制</a:t>
            </a:r>
            <a:endParaRPr lang="zh-CN" altLang="zh-CN" dirty="0">
              <a:solidFill>
                <a:srgbClr val="0000CC"/>
              </a:solidFill>
            </a:endParaRPr>
          </a:p>
        </p:txBody>
      </p:sp>
      <p:sp>
        <p:nvSpPr>
          <p:cNvPr id="528387" name="Rectangle 3"/>
          <p:cNvSpPr>
            <a:spLocks noGrp="1"/>
          </p:cNvSpPr>
          <p:nvPr>
            <p:ph type="body" sz="half" idx="2"/>
          </p:nvPr>
        </p:nvSpPr>
        <p:spPr>
          <a:xfrm>
            <a:off x="2208213" y="1628775"/>
            <a:ext cx="8077200" cy="4895850"/>
          </a:xfrm>
        </p:spPr>
        <p:txBody>
          <a:bodyPr vert="horz" wrap="square" lIns="92075" tIns="46038" rIns="92075" bIns="46038" anchor="t" anchorCtr="0"/>
          <a:lstStyle/>
          <a:p>
            <a:pPr marL="367030" algn="just" eaLnBrk="1" hangingPunct="1">
              <a:buSzTx/>
            </a:pPr>
            <a:r>
              <a:rPr lang="zh-CN" altLang="en-US" sz="2800" b="1" dirty="0" smtClean="0">
                <a:solidFill>
                  <a:schemeClr val="tx2"/>
                </a:solidFill>
              </a:rPr>
              <a:t>进程创建</a:t>
            </a:r>
            <a:endParaRPr lang="en-US" altLang="zh-CN" sz="2800" b="1" dirty="0" smtClean="0">
              <a:solidFill>
                <a:schemeClr val="tx2"/>
              </a:solidFill>
            </a:endParaRPr>
          </a:p>
          <a:p>
            <a:pPr marL="767080" lvl="1" algn="just" eaLnBrk="1" hangingPunct="1">
              <a:buClr>
                <a:schemeClr val="tx1"/>
              </a:buClr>
              <a:buSzTx/>
              <a:buFont typeface="Wingdings" panose="05000000000000000000" pitchFamily="2" charset="2"/>
            </a:pPr>
            <a:r>
              <a:rPr lang="zh-CN" altLang="en-US" sz="2800" b="1" dirty="0" smtClean="0">
                <a:solidFill>
                  <a:schemeClr val="tx2"/>
                </a:solidFill>
              </a:rPr>
              <a:t>引起</a:t>
            </a:r>
            <a:r>
              <a:rPr lang="zh-CN" altLang="en-US" sz="2800" b="1" dirty="0">
                <a:solidFill>
                  <a:schemeClr val="tx2"/>
                </a:solidFill>
              </a:rPr>
              <a:t>进程创建的事件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marL="1186180" lvl="2" algn="just" eaLnBrk="1" hangingPunct="1">
              <a:buClr>
                <a:schemeClr val="tx1"/>
              </a:buClr>
              <a:buFont typeface="Wingdings" panose="05000000000000000000" pitchFamily="2" charset="2"/>
            </a:pPr>
            <a:r>
              <a:rPr lang="zh-CN" altLang="en-US" sz="2800" dirty="0"/>
              <a:t>用户登录</a:t>
            </a:r>
            <a:r>
              <a:rPr lang="zh-CN" altLang="en-US" sz="2800" b="1" dirty="0"/>
              <a:t>：</a:t>
            </a:r>
            <a:r>
              <a:rPr lang="zh-CN" altLang="en-US" sz="2800" dirty="0"/>
              <a:t>分时系统</a:t>
            </a:r>
            <a:endParaRPr lang="zh-CN" altLang="en-US" sz="2800" dirty="0"/>
          </a:p>
          <a:p>
            <a:pPr marL="1186180" lvl="2" algn="just" eaLnBrk="1" hangingPunct="1">
              <a:buClr>
                <a:schemeClr val="tx1"/>
              </a:buClr>
              <a:buFont typeface="Wingdings" panose="05000000000000000000" pitchFamily="2" charset="2"/>
            </a:pPr>
            <a:r>
              <a:rPr lang="zh-CN" altLang="en-US" sz="2800" dirty="0"/>
              <a:t>作业调度：批处理系统</a:t>
            </a:r>
            <a:endParaRPr lang="zh-CN" altLang="en-US" sz="2800" dirty="0"/>
          </a:p>
          <a:p>
            <a:pPr marL="1186180" lvl="2" algn="just" eaLnBrk="1" hangingPunct="1">
              <a:buClr>
                <a:schemeClr val="tx1"/>
              </a:buClr>
              <a:buFont typeface="Wingdings" panose="05000000000000000000" pitchFamily="2" charset="2"/>
            </a:pPr>
            <a:r>
              <a:rPr lang="zh-CN" altLang="en-US" sz="2800" dirty="0"/>
              <a:t>提供服务：请求</a:t>
            </a:r>
            <a:r>
              <a:rPr lang="en-US" altLang="zh-CN" sz="2800" dirty="0"/>
              <a:t>OS</a:t>
            </a:r>
            <a:r>
              <a:rPr lang="zh-CN" altLang="en-US" sz="2800" dirty="0"/>
              <a:t>服务，例如打印</a:t>
            </a:r>
            <a:endParaRPr lang="zh-CN" altLang="en-US" sz="2800" b="1" dirty="0"/>
          </a:p>
          <a:p>
            <a:pPr marL="1186180" lvl="2" algn="just" eaLnBrk="1" hangingPunct="1">
              <a:buClr>
                <a:schemeClr val="tx1"/>
              </a:buClr>
              <a:buFont typeface="Wingdings" panose="05000000000000000000" pitchFamily="2" charset="2"/>
            </a:pPr>
            <a:r>
              <a:rPr lang="zh-CN" altLang="en-US" sz="2800" dirty="0"/>
              <a:t>应用请求：由应用程序根据需要自己创建进程，并发执行完成共同的任务。</a:t>
            </a:r>
            <a:endParaRPr lang="zh-CN" altLang="en-US" sz="2800" dirty="0"/>
          </a:p>
          <a:p>
            <a:pPr marL="767080" lvl="1" algn="just" eaLnBrk="1" hangingPunct="1">
              <a:buClr>
                <a:schemeClr val="tx1"/>
              </a:buClr>
              <a:buSzTx/>
              <a:buFont typeface="Wingdings" panose="05000000000000000000" pitchFamily="2" charset="2"/>
            </a:pPr>
            <a:r>
              <a:rPr lang="zh-CN" altLang="en-US" sz="2800" b="1" dirty="0"/>
              <a:t>主要任务：</a:t>
            </a:r>
            <a:r>
              <a:rPr lang="zh-CN" altLang="en-US" sz="2800" dirty="0"/>
              <a:t>请求系统为一个程序分配内存（存放程序和数据）和建立一个</a:t>
            </a:r>
            <a:r>
              <a:rPr lang="en-US" altLang="zh-CN" sz="2800" dirty="0"/>
              <a:t>PCB</a:t>
            </a:r>
            <a:r>
              <a:rPr lang="zh-CN" altLang="en-US" sz="2800" dirty="0"/>
              <a:t>。</a:t>
            </a:r>
            <a:endParaRPr lang="zh-CN" altLang="en-US" sz="2800" dirty="0"/>
          </a:p>
        </p:txBody>
      </p:sp>
      <p:grpSp>
        <p:nvGrpSpPr>
          <p:cNvPr id="528388" name="Group 4"/>
          <p:cNvGrpSpPr/>
          <p:nvPr/>
        </p:nvGrpSpPr>
        <p:grpSpPr>
          <a:xfrm>
            <a:off x="8904312" y="2682875"/>
            <a:ext cx="1570038" cy="1368425"/>
            <a:chOff x="4694" y="1389"/>
            <a:chExt cx="989" cy="862"/>
          </a:xfrm>
        </p:grpSpPr>
        <p:sp>
          <p:nvSpPr>
            <p:cNvPr id="34820" name="AutoShape 5"/>
            <p:cNvSpPr/>
            <p:nvPr/>
          </p:nvSpPr>
          <p:spPr>
            <a:xfrm>
              <a:off x="4694" y="1389"/>
              <a:ext cx="45" cy="862"/>
            </a:xfrm>
            <a:prstGeom prst="rightBrace">
              <a:avLst>
                <a:gd name="adj1" fmla="val 159452"/>
                <a:gd name="adj2" fmla="val 50000"/>
              </a:avLst>
            </a:pr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wrap="none" anchor="ctr" anchorCtr="0"/>
            <a:lstStyle/>
            <a:p>
              <a:pPr algn="ctr" eaLnBrk="0" hangingPunct="0">
                <a:buFontTx/>
                <a:buNone/>
              </a:pPr>
              <a:endParaRPr lang="zh-CN" altLang="en-US" sz="2400" dirty="0">
                <a:solidFill>
                  <a:srgbClr val="000000"/>
                </a:solidFill>
              </a:endParaRPr>
            </a:p>
          </p:txBody>
        </p:sp>
        <p:sp>
          <p:nvSpPr>
            <p:cNvPr id="34821" name="Text Box 6"/>
            <p:cNvSpPr txBox="1"/>
            <p:nvPr/>
          </p:nvSpPr>
          <p:spPr>
            <a:xfrm>
              <a:off x="4796" y="1570"/>
              <a:ext cx="887" cy="6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t" anchorCtr="0">
              <a:spAutoFit/>
            </a:bodyPr>
            <a:lstStyle/>
            <a:p>
              <a:pPr eaLnBrk="0" hangingPunct="0">
                <a:buFontTx/>
                <a:buNone/>
              </a:pPr>
              <a:r>
                <a:rPr lang="zh-CN" altLang="en-US" sz="2800" dirty="0">
                  <a:solidFill>
                    <a:srgbClr val="000000"/>
                  </a:solidFill>
                </a:rPr>
                <a:t>由</a:t>
              </a:r>
              <a:r>
                <a:rPr lang="en-US" altLang="zh-CN" sz="2800" dirty="0">
                  <a:solidFill>
                    <a:srgbClr val="000000"/>
                  </a:solidFill>
                </a:rPr>
                <a:t>OS</a:t>
              </a:r>
              <a:r>
                <a:rPr lang="zh-CN" altLang="en-US" sz="2800" dirty="0">
                  <a:solidFill>
                    <a:srgbClr val="000000"/>
                  </a:solidFill>
                </a:rPr>
                <a:t>内</a:t>
              </a:r>
              <a:endParaRPr lang="zh-CN" altLang="en-US" sz="2800" dirty="0">
                <a:solidFill>
                  <a:srgbClr val="000000"/>
                </a:solidFill>
              </a:endParaRPr>
            </a:p>
            <a:p>
              <a:pPr eaLnBrk="0" hangingPunct="0">
                <a:buFontTx/>
                <a:buNone/>
              </a:pPr>
              <a:r>
                <a:rPr lang="zh-CN" altLang="en-US" sz="2800" dirty="0">
                  <a:solidFill>
                    <a:srgbClr val="000000"/>
                  </a:solidFill>
                </a:rPr>
                <a:t>核创建</a:t>
              </a:r>
              <a:endParaRPr lang="zh-CN" altLang="en-US" sz="2800" dirty="0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8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8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28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28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28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28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28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8387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/>
          </p:cNvSpPr>
          <p:nvPr>
            <p:ph type="title"/>
          </p:nvPr>
        </p:nvSpPr>
        <p:spPr>
          <a:xfrm>
            <a:off x="2209800" y="714375"/>
            <a:ext cx="7772400" cy="547688"/>
          </a:xfrm>
        </p:spPr>
        <p:txBody>
          <a:bodyPr vert="horz" wrap="square" lIns="92075" tIns="46038" rIns="92075" bIns="46038" anchor="b" anchorCtr="0"/>
          <a:lstStyle/>
          <a:p>
            <a:pPr eaLnBrk="1" hangingPunct="1"/>
            <a:r>
              <a:rPr lang="en-US" altLang="zh-CN" dirty="0">
                <a:solidFill>
                  <a:srgbClr val="0000CC"/>
                </a:solidFill>
              </a:rPr>
              <a:t>2.3 </a:t>
            </a:r>
            <a:r>
              <a:rPr lang="zh-CN" altLang="en-US" dirty="0">
                <a:solidFill>
                  <a:srgbClr val="0000CC"/>
                </a:solidFill>
              </a:rPr>
              <a:t>进程控制</a:t>
            </a:r>
            <a:endParaRPr lang="zh-CN" altLang="zh-CN" dirty="0">
              <a:solidFill>
                <a:srgbClr val="0000CC"/>
              </a:solidFill>
            </a:endParaRPr>
          </a:p>
        </p:txBody>
      </p:sp>
      <p:sp>
        <p:nvSpPr>
          <p:cNvPr id="529411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2063750" y="1557338"/>
            <a:ext cx="8208963" cy="4752975"/>
          </a:xfrm>
        </p:spPr>
        <p:txBody>
          <a:bodyPr vert="horz" wrap="square" lIns="92075" tIns="46038" rIns="92075" bIns="46038" numCol="1" anchor="t" anchorCtr="0" compatLnSpc="1"/>
          <a:lstStyle/>
          <a:p>
            <a:pPr marL="1084580" marR="0" lvl="1" indent="-193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¬"/>
              <a:defRPr/>
            </a:pP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实现：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OS</a:t>
            </a: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内核的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Create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( )</a:t>
            </a: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原语</a:t>
            </a: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实现</a:t>
            </a:r>
            <a:endParaRPr kumimoji="1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ea"/>
            </a:endParaRPr>
          </a:p>
          <a:p>
            <a:pPr marL="1084580" marR="0" lvl="1" indent="-193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¬"/>
              <a:defRPr/>
            </a:pP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算法描述：</a:t>
            </a:r>
            <a:endParaRPr kumimoji="1" lang="zh-CN" altLang="en-US" sz="2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1084580" marR="0" lvl="1" indent="-193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typedef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 </a:t>
            </a:r>
            <a:r>
              <a:rPr kumimoji="1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struct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PCB//</a:t>
            </a: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定义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PCB</a:t>
            </a: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类型</a:t>
            </a:r>
            <a:endParaRPr kumimoji="1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1084580" marR="0" lvl="1" indent="-193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{</a:t>
            </a:r>
            <a:r>
              <a:rPr kumimoji="1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char  </a:t>
            </a:r>
            <a:r>
              <a:rPr kumimoji="1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pname</a:t>
            </a:r>
            <a:r>
              <a:rPr kumimoji="1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[10]</a:t>
            </a:r>
            <a:r>
              <a:rPr kumimoji="1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；</a:t>
            </a:r>
            <a:endParaRPr kumimoji="1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1084580" marR="0" lvl="1" indent="-193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  </a:t>
            </a:r>
            <a:r>
              <a:rPr kumimoji="1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int</a:t>
            </a:r>
            <a:r>
              <a:rPr kumimoji="1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   runtime;      /*</a:t>
            </a:r>
            <a:r>
              <a:rPr kumimoji="1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运行</a:t>
            </a:r>
            <a:r>
              <a:rPr kumimoji="1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时间*</a:t>
            </a:r>
            <a:r>
              <a:rPr kumimoji="1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/</a:t>
            </a:r>
            <a:endParaRPr kumimoji="1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1084580" marR="0" lvl="1" indent="-193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  </a:t>
            </a:r>
            <a:r>
              <a:rPr kumimoji="1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int</a:t>
            </a:r>
            <a:r>
              <a:rPr kumimoji="1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   level;          /*</a:t>
            </a:r>
            <a:r>
              <a:rPr kumimoji="1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优先级</a:t>
            </a:r>
            <a:r>
              <a:rPr kumimoji="1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*</a:t>
            </a:r>
            <a:r>
              <a:rPr kumimoji="1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/</a:t>
            </a:r>
            <a:endParaRPr kumimoji="1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1084580" marR="0" lvl="1" indent="-193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  char status;       /*</a:t>
            </a:r>
            <a:r>
              <a:rPr kumimoji="1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状态 </a:t>
            </a:r>
            <a:r>
              <a:rPr kumimoji="1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R</a:t>
            </a:r>
            <a:r>
              <a:rPr kumimoji="1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就绪 </a:t>
            </a:r>
            <a:r>
              <a:rPr kumimoji="1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B</a:t>
            </a:r>
            <a:r>
              <a:rPr kumimoji="1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阻塞</a:t>
            </a:r>
            <a:r>
              <a:rPr kumimoji="1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*</a:t>
            </a:r>
            <a:r>
              <a:rPr kumimoji="1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/</a:t>
            </a:r>
            <a:endParaRPr kumimoji="1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1084580" marR="0" lvl="1" indent="-193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   </a:t>
            </a:r>
            <a:r>
              <a:rPr kumimoji="1" lang="en-US" altLang="zh-CN" sz="2400" noProof="0" dirty="0" smtClean="0">
                <a:ln>
                  <a:noFill/>
                </a:ln>
                <a:effectLst/>
                <a:uLnTx/>
                <a:uFillTx/>
                <a:cs typeface="+mn-ea"/>
                <a:sym typeface="+mn-ea"/>
              </a:rPr>
              <a:t> ……</a:t>
            </a:r>
            <a:endParaRPr kumimoji="1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1084580" marR="0" lvl="1" indent="-193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  </a:t>
            </a:r>
            <a:r>
              <a:rPr kumimoji="1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struct</a:t>
            </a:r>
            <a:r>
              <a:rPr kumimoji="1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PCB  *next;   </a:t>
            </a:r>
            <a:endParaRPr kumimoji="1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1084580" marR="0" lvl="1" indent="-193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} PCB;</a:t>
            </a:r>
            <a:endParaRPr kumimoji="1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9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9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29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29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29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29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29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29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29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29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9411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/>
          </p:cNvSpPr>
          <p:nvPr>
            <p:ph type="title"/>
          </p:nvPr>
        </p:nvSpPr>
        <p:spPr>
          <a:xfrm>
            <a:off x="2209800" y="714375"/>
            <a:ext cx="7772400" cy="547688"/>
          </a:xfrm>
        </p:spPr>
        <p:txBody>
          <a:bodyPr vert="horz" wrap="square" lIns="92075" tIns="46038" rIns="92075" bIns="46038" anchor="b" anchorCtr="0"/>
          <a:lstStyle/>
          <a:p>
            <a:pPr eaLnBrk="1" hangingPunct="1"/>
            <a:r>
              <a:rPr lang="en-US" altLang="zh-CN" dirty="0">
                <a:solidFill>
                  <a:srgbClr val="0000CC"/>
                </a:solidFill>
              </a:rPr>
              <a:t>2.3 </a:t>
            </a:r>
            <a:r>
              <a:rPr lang="zh-CN" altLang="en-US" dirty="0">
                <a:solidFill>
                  <a:srgbClr val="0000CC"/>
                </a:solidFill>
              </a:rPr>
              <a:t>进程控制</a:t>
            </a:r>
            <a:endParaRPr lang="zh-CN" altLang="zh-CN" dirty="0">
              <a:solidFill>
                <a:srgbClr val="0000CC"/>
              </a:solidFill>
            </a:endParaRPr>
          </a:p>
        </p:txBody>
      </p:sp>
      <p:sp>
        <p:nvSpPr>
          <p:cNvPr id="530435" name="Rectangle 3"/>
          <p:cNvSpPr>
            <a:spLocks noGrp="1"/>
          </p:cNvSpPr>
          <p:nvPr>
            <p:ph type="body" sz="half" idx="2"/>
          </p:nvPr>
        </p:nvSpPr>
        <p:spPr>
          <a:xfrm>
            <a:off x="2063750" y="1557338"/>
            <a:ext cx="8208963" cy="5040014"/>
          </a:xfrm>
          <a:solidFill>
            <a:schemeClr val="bg1"/>
          </a:solidFill>
        </p:spPr>
        <p:txBody>
          <a:bodyPr vert="horz" wrap="square" lIns="92075" tIns="46038" rIns="92075" bIns="46038" anchor="t" anchorCtr="0"/>
          <a:lstStyle/>
          <a:p>
            <a:pPr marL="0" indent="0" algn="just" eaLnBrk="1" hangingPunct="1">
              <a:lnSpc>
                <a:spcPct val="120000"/>
              </a:lnSpc>
              <a:spcBef>
                <a:spcPts val="2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400" dirty="0" err="1" smtClean="0"/>
              <a:t>status Creat</a:t>
            </a:r>
            <a:r>
              <a:rPr lang="en-US" altLang="zh-CN" sz="2400" dirty="0" smtClean="0"/>
              <a:t>()  //P49</a:t>
            </a:r>
            <a:endParaRPr lang="en-US" altLang="zh-CN" sz="2400" dirty="0"/>
          </a:p>
          <a:p>
            <a:pPr marL="0" indent="0" algn="just" eaLnBrk="1" hangingPunct="1">
              <a:lnSpc>
                <a:spcPct val="120000"/>
              </a:lnSpc>
              <a:spcBef>
                <a:spcPts val="2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400" dirty="0"/>
              <a:t>{ </a:t>
            </a:r>
            <a:r>
              <a:rPr lang="zh-CN" altLang="en-US" sz="2400" dirty="0"/>
              <a:t>申请空白</a:t>
            </a:r>
            <a:r>
              <a:rPr lang="en-US" altLang="zh-CN" sz="2400" dirty="0"/>
              <a:t>PCB:  </a:t>
            </a:r>
            <a:r>
              <a:rPr lang="zh-CN" altLang="en-US" sz="2400" dirty="0"/>
              <a:t>从空闲</a:t>
            </a:r>
            <a:r>
              <a:rPr lang="en-US" altLang="zh-CN" sz="2400" dirty="0"/>
              <a:t>PCB</a:t>
            </a:r>
            <a:r>
              <a:rPr lang="zh-CN" altLang="en-US" sz="2400" dirty="0"/>
              <a:t>队列上取下一个空白</a:t>
            </a:r>
            <a:r>
              <a:rPr lang="en-US" altLang="zh-CN" sz="2400" dirty="0"/>
              <a:t>PCB;</a:t>
            </a:r>
            <a:endParaRPr lang="en-US" altLang="zh-CN" sz="2400" dirty="0"/>
          </a:p>
          <a:p>
            <a:pPr marL="0" indent="0" algn="just" eaLnBrk="1" hangingPunct="1">
              <a:lnSpc>
                <a:spcPct val="120000"/>
              </a:lnSpc>
              <a:spcBef>
                <a:spcPts val="2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400" dirty="0"/>
              <a:t>   </a:t>
            </a:r>
            <a:r>
              <a:rPr lang="zh-CN" altLang="en-US" sz="2400" u="sng" dirty="0">
                <a:solidFill>
                  <a:srgbClr val="FF0000"/>
                </a:solidFill>
              </a:rPr>
              <a:t>将程序和数据装入内存：</a:t>
            </a:r>
            <a:r>
              <a:rPr lang="zh-CN" altLang="en-US" sz="2400" u="sng" dirty="0" smtClean="0">
                <a:solidFill>
                  <a:srgbClr val="FF0000"/>
                </a:solidFill>
              </a:rPr>
              <a:t>分配运行所需要的资源</a:t>
            </a:r>
            <a:endParaRPr lang="zh-CN" altLang="en-US" sz="2400" u="sng" dirty="0">
              <a:solidFill>
                <a:srgbClr val="FF0000"/>
              </a:solidFill>
            </a:endParaRPr>
          </a:p>
          <a:p>
            <a:pPr marL="0" indent="0" algn="just" eaLnBrk="1" hangingPunct="1">
              <a:lnSpc>
                <a:spcPct val="120000"/>
              </a:lnSpc>
              <a:spcBef>
                <a:spcPts val="2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   </a:t>
            </a:r>
            <a:r>
              <a:rPr lang="zh-CN" altLang="en-US" sz="2400" dirty="0"/>
              <a:t>初始化该进程的</a:t>
            </a:r>
            <a:r>
              <a:rPr lang="en-US" altLang="zh-CN" sz="2400" dirty="0"/>
              <a:t>PCB</a:t>
            </a:r>
            <a:r>
              <a:rPr lang="zh-CN" altLang="en-US" sz="2400" dirty="0"/>
              <a:t>：初始化该进程的相关信息，例如：</a:t>
            </a:r>
            <a:endParaRPr lang="zh-CN" altLang="en-US" sz="2400" dirty="0"/>
          </a:p>
          <a:p>
            <a:pPr marL="1084580" lvl="1" indent="-193675" algn="just" eaLnBrk="1" hangingPunct="1">
              <a:lnSpc>
                <a:spcPct val="120000"/>
              </a:lnSpc>
              <a:spcBef>
                <a:spcPts val="20"/>
              </a:spcBef>
              <a:spcAft>
                <a:spcPts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 smtClean="0">
                <a:sym typeface="+mn-ea"/>
              </a:rPr>
              <a:t>进程标识符</a:t>
            </a:r>
            <a:r>
              <a:rPr lang="en-US" altLang="zh-CN" sz="2400" dirty="0" smtClean="0">
                <a:sym typeface="+mn-ea"/>
              </a:rPr>
              <a:t>;//</a:t>
            </a:r>
            <a:r>
              <a:rPr lang="en-US" altLang="zh-CN" sz="2400" dirty="0"/>
              <a:t>gets(p-&gt;name</a:t>
            </a:r>
            <a:r>
              <a:rPr lang="en-US" altLang="zh-CN" sz="2400" dirty="0" smtClean="0"/>
              <a:t>);  </a:t>
            </a:r>
            <a:endParaRPr lang="en-US" altLang="zh-CN" sz="2400" dirty="0"/>
          </a:p>
          <a:p>
            <a:pPr marL="1084580" lvl="1" indent="-193675" algn="just" eaLnBrk="1" hangingPunct="1">
              <a:lnSpc>
                <a:spcPct val="120000"/>
              </a:lnSpc>
              <a:spcBef>
                <a:spcPts val="20"/>
              </a:spcBef>
              <a:spcAft>
                <a:spcPts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 smtClean="0">
                <a:sym typeface="+mn-ea"/>
              </a:rPr>
              <a:t>运行时间</a:t>
            </a:r>
            <a:r>
              <a:rPr lang="en-US" altLang="zh-CN" sz="2400" dirty="0" smtClean="0">
                <a:sym typeface="+mn-ea"/>
              </a:rPr>
              <a:t>;//</a:t>
            </a:r>
            <a:r>
              <a:rPr lang="en-US" altLang="zh-CN" sz="2400" dirty="0"/>
              <a:t>scanf(“%d”,&amp;p-&gt;runtime</a:t>
            </a:r>
            <a:r>
              <a:rPr lang="en-US" altLang="zh-CN" sz="2400" dirty="0" smtClean="0"/>
              <a:t>);  </a:t>
            </a:r>
            <a:endParaRPr lang="en-US" altLang="zh-CN" sz="2400" dirty="0"/>
          </a:p>
          <a:p>
            <a:pPr marL="1084580" lvl="1" indent="-193675" algn="just" eaLnBrk="1" hangingPunct="1">
              <a:lnSpc>
                <a:spcPct val="120000"/>
              </a:lnSpc>
              <a:spcBef>
                <a:spcPts val="20"/>
              </a:spcBef>
              <a:spcAft>
                <a:spcPts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 smtClean="0">
                <a:sym typeface="+mn-ea"/>
              </a:rPr>
              <a:t>优先级</a:t>
            </a:r>
            <a:r>
              <a:rPr lang="en-US" altLang="zh-CN" sz="2400" dirty="0" smtClean="0">
                <a:sym typeface="+mn-ea"/>
              </a:rPr>
              <a:t>;//</a:t>
            </a:r>
            <a:r>
              <a:rPr lang="en-US" altLang="zh-CN" sz="2400" dirty="0"/>
              <a:t>scanf(“%d”,&amp;p-&gt;level</a:t>
            </a:r>
            <a:r>
              <a:rPr lang="en-US" altLang="zh-CN" sz="2400" dirty="0" smtClean="0"/>
              <a:t>);   </a:t>
            </a:r>
            <a:endParaRPr lang="en-US" altLang="zh-CN" sz="2400" dirty="0"/>
          </a:p>
          <a:p>
            <a:pPr marL="1084580" lvl="1" indent="-193675" algn="just" eaLnBrk="1" hangingPunct="1">
              <a:lnSpc>
                <a:spcPct val="120000"/>
              </a:lnSpc>
              <a:spcBef>
                <a:spcPts val="20"/>
              </a:spcBef>
              <a:spcAft>
                <a:spcPts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/>
              <a:t>进程状态</a:t>
            </a:r>
            <a:r>
              <a:rPr lang="en-US" altLang="zh-CN" sz="2400" dirty="0"/>
              <a:t>;//p-&gt;status=‘R’;     </a:t>
            </a:r>
            <a:endParaRPr lang="en-US" altLang="zh-CN" sz="2400" dirty="0"/>
          </a:p>
          <a:p>
            <a:pPr marL="0" indent="0" algn="just" eaLnBrk="1" hangingPunct="1">
              <a:lnSpc>
                <a:spcPct val="120000"/>
              </a:lnSpc>
              <a:spcBef>
                <a:spcPts val="2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400" dirty="0"/>
              <a:t>   </a:t>
            </a:r>
            <a:r>
              <a:rPr lang="zh-CN" altLang="en-US" sz="2400" dirty="0" smtClean="0"/>
              <a:t>若创建成功，</a:t>
            </a:r>
            <a:r>
              <a:rPr lang="zh-CN" altLang="en-US" sz="2400" dirty="0"/>
              <a:t>将该</a:t>
            </a:r>
            <a:r>
              <a:rPr lang="en-US" altLang="zh-CN" sz="2400" dirty="0"/>
              <a:t>PCB</a:t>
            </a:r>
            <a:r>
              <a:rPr lang="zh-CN" altLang="en-US" sz="2400" dirty="0"/>
              <a:t>插入就绪</a:t>
            </a:r>
            <a:r>
              <a:rPr lang="en-US" altLang="zh-CN" sz="2400" dirty="0"/>
              <a:t>PCB</a:t>
            </a:r>
            <a:r>
              <a:rPr lang="zh-CN" altLang="en-US" sz="2400" dirty="0"/>
              <a:t>队列</a:t>
            </a:r>
            <a:r>
              <a:rPr lang="zh-CN" altLang="en-US" sz="2400" dirty="0" smtClean="0"/>
              <a:t>中；</a:t>
            </a:r>
            <a:r>
              <a:rPr lang="en-US" altLang="zh-CN" sz="2400" dirty="0" smtClean="0"/>
              <a:t>}</a:t>
            </a:r>
            <a:endParaRPr lang="en-US" altLang="zh-CN" sz="2400" dirty="0"/>
          </a:p>
        </p:txBody>
      </p:sp>
      <p:sp>
        <p:nvSpPr>
          <p:cNvPr id="530436" name="AutoShape 4"/>
          <p:cNvSpPr/>
          <p:nvPr/>
        </p:nvSpPr>
        <p:spPr>
          <a:xfrm>
            <a:off x="5735638" y="333375"/>
            <a:ext cx="4248150" cy="936625"/>
          </a:xfrm>
          <a:prstGeom prst="wedgeRectCallout">
            <a:avLst>
              <a:gd name="adj1" fmla="val -50523"/>
              <a:gd name="adj2" fmla="val 209324"/>
            </a:avLst>
          </a:prstGeom>
          <a:noFill/>
          <a:ln w="12700" cap="sq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eaLnBrk="0" hangingPunct="0"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</a:rPr>
              <a:t>红色字体部分在实验过程中可以不必考虑</a:t>
            </a:r>
            <a:endParaRPr lang="zh-CN" altLang="en-US" sz="2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043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0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30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30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30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30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30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30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30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30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0435" grpId="0" uiExpand="1" build="p"/>
      <p:bldP spid="530436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/>
          </p:cNvSpPr>
          <p:nvPr>
            <p:ph type="title"/>
          </p:nvPr>
        </p:nvSpPr>
        <p:spPr>
          <a:xfrm>
            <a:off x="2209800" y="714375"/>
            <a:ext cx="7772400" cy="547688"/>
          </a:xfrm>
        </p:spPr>
        <p:txBody>
          <a:bodyPr vert="horz" wrap="square" lIns="92075" tIns="46038" rIns="92075" bIns="46038" anchor="b" anchorCtr="0"/>
          <a:lstStyle/>
          <a:p>
            <a:pPr eaLnBrk="1" hangingPunct="1"/>
            <a:r>
              <a:rPr lang="en-US" altLang="zh-CN" dirty="0">
                <a:solidFill>
                  <a:srgbClr val="0000CC"/>
                </a:solidFill>
              </a:rPr>
              <a:t>2.3 </a:t>
            </a:r>
            <a:r>
              <a:rPr lang="zh-CN" altLang="en-US" dirty="0">
                <a:solidFill>
                  <a:srgbClr val="0000CC"/>
                </a:solidFill>
              </a:rPr>
              <a:t>进程控制</a:t>
            </a:r>
            <a:endParaRPr lang="zh-CN" altLang="zh-CN" dirty="0">
              <a:solidFill>
                <a:srgbClr val="0000CC"/>
              </a:solidFill>
            </a:endParaRPr>
          </a:p>
        </p:txBody>
      </p:sp>
      <p:sp>
        <p:nvSpPr>
          <p:cNvPr id="531459" name="Rectangle 3"/>
          <p:cNvSpPr>
            <a:spLocks noGrp="1"/>
          </p:cNvSpPr>
          <p:nvPr>
            <p:ph type="body" sz="half" idx="2"/>
          </p:nvPr>
        </p:nvSpPr>
        <p:spPr>
          <a:xfrm>
            <a:off x="2135188" y="1628775"/>
            <a:ext cx="8139112" cy="4968875"/>
          </a:xfrm>
        </p:spPr>
        <p:txBody>
          <a:bodyPr vert="horz" wrap="square" lIns="92075" tIns="0" rIns="92075" bIns="46038" anchor="t" anchorCtr="0"/>
          <a:lstStyle/>
          <a:p>
            <a:pPr marL="0" indent="0" algn="just" eaLnBrk="1" hangingPunct="1">
              <a:buClr>
                <a:schemeClr val="tx1"/>
              </a:buClr>
              <a:buSzPct val="80000"/>
              <a:buFont typeface="Wingdings" panose="05000000000000000000" pitchFamily="2" charset="2"/>
              <a:buChar char="q"/>
            </a:pP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</a:rPr>
              <a:t>进程的终止</a:t>
            </a:r>
            <a:endParaRPr lang="zh-CN" altLang="en-US" sz="280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marL="767080" lvl="1" algn="just" eaLnBrk="1" hangingPunct="1">
              <a:buClr>
                <a:schemeClr val="tx1"/>
              </a:buClr>
              <a:buSzTx/>
              <a:buFont typeface="Wingdings" panose="05000000000000000000" pitchFamily="2" charset="2"/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引起进程终止的事件：</a:t>
            </a:r>
            <a:endParaRPr lang="zh-CN" altLang="en-US" sz="28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marL="1186180" lvl="2" algn="just" eaLnBrk="1" hangingPunct="1">
              <a:buClr>
                <a:schemeClr val="tx1"/>
              </a:buClr>
              <a:buFont typeface="Wingdings" panose="05000000000000000000" pitchFamily="2" charset="2"/>
            </a:pPr>
            <a:r>
              <a:rPr lang="zh-CN" altLang="en-US" sz="2800" dirty="0">
                <a:latin typeface="Times New Roman" panose="02020603050405020304" pitchFamily="18" charset="0"/>
              </a:rPr>
              <a:t>正常结束：进程正常执行</a:t>
            </a:r>
            <a:r>
              <a:rPr lang="zh-CN" altLang="en-US" sz="2800" dirty="0" smtClean="0">
                <a:latin typeface="Times New Roman" panose="02020603050405020304" pitchFamily="18" charset="0"/>
              </a:rPr>
              <a:t>结束，准备退出运行。例如：批处理系统中的</a:t>
            </a:r>
            <a:r>
              <a:rPr lang="en-US" altLang="zh-CN" sz="2800" dirty="0" smtClean="0">
                <a:latin typeface="Times New Roman" panose="02020603050405020304" pitchFamily="18" charset="0"/>
              </a:rPr>
              <a:t>Halt</a:t>
            </a:r>
            <a:r>
              <a:rPr lang="zh-CN" altLang="en-US" sz="2800" dirty="0" smtClean="0">
                <a:latin typeface="Times New Roman" panose="02020603050405020304" pitchFamily="18" charset="0"/>
              </a:rPr>
              <a:t>，分时中的</a:t>
            </a:r>
            <a:r>
              <a:rPr lang="en-US" altLang="zh-CN" sz="2800" dirty="0" smtClean="0">
                <a:latin typeface="Times New Roman" panose="02020603050405020304" pitchFamily="18" charset="0"/>
              </a:rPr>
              <a:t>Logs off</a:t>
            </a:r>
            <a:r>
              <a:rPr lang="zh-CN" altLang="en-US" sz="2800" dirty="0" smtClean="0">
                <a:latin typeface="Times New Roman" panose="02020603050405020304" pitchFamily="18" charset="0"/>
              </a:rPr>
              <a:t>。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marL="1186180" lvl="2" algn="just" eaLnBrk="1" hangingPunct="1">
              <a:buClr>
                <a:schemeClr val="tx1"/>
              </a:buClr>
              <a:buFont typeface="Wingdings" panose="05000000000000000000" pitchFamily="2" charset="2"/>
            </a:pPr>
            <a:r>
              <a:rPr lang="zh-CN" altLang="en-US" sz="2800" dirty="0">
                <a:latin typeface="Times New Roman" panose="02020603050405020304" pitchFamily="18" charset="0"/>
              </a:rPr>
              <a:t>异常结束：进程在执行过程中，遇到了某些异常情况而导致进程被迫终止。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marL="1186180" lvl="2" algn="just" eaLnBrk="1" hangingPunct="1">
              <a:buClr>
                <a:schemeClr val="tx1"/>
              </a:buClr>
              <a:buFont typeface="Wingdings" panose="05000000000000000000" pitchFamily="2" charset="2"/>
            </a:pPr>
            <a:r>
              <a:rPr lang="zh-CN" altLang="en-US" sz="2800" dirty="0">
                <a:latin typeface="Times New Roman" panose="02020603050405020304" pitchFamily="18" charset="0"/>
              </a:rPr>
              <a:t>外界干预：应外界的请求而终止运行。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1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1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31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31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1459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/>
          </p:cNvSpPr>
          <p:nvPr>
            <p:ph type="title"/>
          </p:nvPr>
        </p:nvSpPr>
        <p:spPr>
          <a:xfrm>
            <a:off x="2209800" y="714375"/>
            <a:ext cx="7772400" cy="547688"/>
          </a:xfrm>
        </p:spPr>
        <p:txBody>
          <a:bodyPr vert="horz" wrap="square" lIns="92075" tIns="46038" rIns="92075" bIns="46038" anchor="b" anchorCtr="0"/>
          <a:lstStyle/>
          <a:p>
            <a:pPr eaLnBrk="1" hangingPunct="1"/>
            <a:r>
              <a:rPr lang="en-US" altLang="zh-CN" dirty="0">
                <a:solidFill>
                  <a:srgbClr val="0000CC"/>
                </a:solidFill>
              </a:rPr>
              <a:t>2.3 </a:t>
            </a:r>
            <a:r>
              <a:rPr lang="zh-CN" altLang="en-US" dirty="0">
                <a:solidFill>
                  <a:srgbClr val="0000CC"/>
                </a:solidFill>
              </a:rPr>
              <a:t>进程控制</a:t>
            </a:r>
            <a:endParaRPr lang="zh-CN" altLang="zh-CN" dirty="0">
              <a:solidFill>
                <a:srgbClr val="0000CC"/>
              </a:solidFill>
            </a:endParaRPr>
          </a:p>
        </p:txBody>
      </p:sp>
      <p:sp>
        <p:nvSpPr>
          <p:cNvPr id="532483" name="Rectangle 3"/>
          <p:cNvSpPr>
            <a:spLocks noGrp="1"/>
          </p:cNvSpPr>
          <p:nvPr>
            <p:ph type="body" sz="half" idx="2"/>
          </p:nvPr>
        </p:nvSpPr>
        <p:spPr>
          <a:xfrm>
            <a:off x="2135188" y="1557338"/>
            <a:ext cx="8077200" cy="4495800"/>
          </a:xfrm>
        </p:spPr>
        <p:txBody>
          <a:bodyPr vert="horz" wrap="square" lIns="92075" tIns="46038" rIns="92075" bIns="46038" anchor="t" anchorCtr="0"/>
          <a:lstStyle/>
          <a:p>
            <a:pPr marL="0" indent="0" algn="just" eaLnBrk="1" hangingPunct="1">
              <a:buClr>
                <a:schemeClr val="tx1"/>
              </a:buClr>
              <a:buSzPct val="80000"/>
              <a:buFont typeface="Wingdings" panose="05000000000000000000" pitchFamily="2" charset="2"/>
            </a:pPr>
            <a:r>
              <a:rPr lang="zh-CN" altLang="en-US" sz="2800" b="1" dirty="0"/>
              <a:t>进程终止的实现</a:t>
            </a:r>
            <a:endParaRPr lang="en-US" altLang="zh-CN" sz="2800" b="1" dirty="0"/>
          </a:p>
          <a:p>
            <a:pPr marL="767080" lvl="1" algn="just" eaLnBrk="1" hangingPunct="1">
              <a:buClr>
                <a:schemeClr val="tx1"/>
              </a:buClr>
              <a:buSzTx/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</a:rPr>
              <a:t>主要任务：</a:t>
            </a:r>
            <a:r>
              <a:rPr lang="zh-CN" altLang="en-US" sz="2800" dirty="0">
                <a:latin typeface="Times New Roman" panose="02020603050405020304" pitchFamily="18" charset="0"/>
              </a:rPr>
              <a:t>系统收回该进程所占用的内存并撤销该进程的</a:t>
            </a:r>
            <a:r>
              <a:rPr lang="en-US" altLang="zh-CN" sz="2800" dirty="0">
                <a:latin typeface="Times New Roman" panose="02020603050405020304" pitchFamily="18" charset="0"/>
              </a:rPr>
              <a:t>PCB</a:t>
            </a:r>
            <a:r>
              <a:rPr lang="zh-CN" altLang="en-US" sz="2800" dirty="0">
                <a:latin typeface="Times New Roman" panose="02020603050405020304" pitchFamily="18" charset="0"/>
              </a:rPr>
              <a:t>，进程消亡。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marL="767080" lvl="1" algn="just" eaLnBrk="1" hangingPunct="1">
              <a:buClr>
                <a:schemeClr val="tx1"/>
              </a:buClr>
              <a:buSzTx/>
              <a:buFont typeface="Wingdings" panose="05000000000000000000" pitchFamily="2" charset="2"/>
            </a:pPr>
            <a:r>
              <a:rPr lang="zh-CN" altLang="en-US" sz="2800" b="1" dirty="0"/>
              <a:t>实现：</a:t>
            </a:r>
            <a:r>
              <a:rPr lang="en-US" altLang="zh-CN" sz="2800" dirty="0">
                <a:latin typeface="Times New Roman" panose="02020603050405020304" pitchFamily="18" charset="0"/>
              </a:rPr>
              <a:t>OS</a:t>
            </a:r>
            <a:r>
              <a:rPr lang="zh-CN" altLang="en-US" sz="2800" dirty="0">
                <a:latin typeface="Times New Roman" panose="02020603050405020304" pitchFamily="18" charset="0"/>
              </a:rPr>
              <a:t>内核的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Destroy ()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原语</a:t>
            </a:r>
            <a:r>
              <a:rPr lang="zh-CN" altLang="en-US" sz="2800" dirty="0">
                <a:latin typeface="Times New Roman" panose="02020603050405020304" pitchFamily="18" charset="0"/>
              </a:rPr>
              <a:t>实现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marL="767080" lvl="1" algn="just" eaLnBrk="1" hangingPunct="1">
              <a:buClr>
                <a:schemeClr val="tx1"/>
              </a:buClr>
              <a:buSzTx/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</a:rPr>
              <a:t>算法描述：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0" indent="0" algn="just" eaLnBrk="1" hangingPunct="1">
              <a:spcBef>
                <a:spcPct val="1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800" dirty="0" smtClean="0">
                <a:latin typeface="Times New Roman" panose="02020603050405020304" pitchFamily="18" charset="0"/>
              </a:rPr>
              <a:t>status Destroy()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0" indent="0" algn="just" eaLnBrk="1" hangingPunct="1">
              <a:spcBef>
                <a:spcPct val="1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{char kill_name[10];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0" indent="0" algn="just" eaLnBrk="1" hangingPunct="1">
              <a:spcBef>
                <a:spcPct val="1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获取撤销进程的名字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→</a:t>
            </a:r>
            <a:r>
              <a:rPr lang="en-US" altLang="zh-CN" sz="2800" dirty="0">
                <a:latin typeface="Times New Roman" panose="02020603050405020304" pitchFamily="18" charset="0"/>
              </a:rPr>
              <a:t>kill_name;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2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32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32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32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32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32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48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/>
          </p:cNvSpPr>
          <p:nvPr>
            <p:ph type="title"/>
          </p:nvPr>
        </p:nvSpPr>
        <p:spPr>
          <a:xfrm>
            <a:off x="2209800" y="714375"/>
            <a:ext cx="7772400" cy="547688"/>
          </a:xfrm>
        </p:spPr>
        <p:txBody>
          <a:bodyPr vert="horz" wrap="square" lIns="92075" tIns="46038" rIns="92075" bIns="46038" anchor="b" anchorCtr="0"/>
          <a:lstStyle/>
          <a:p>
            <a:pPr eaLnBrk="1" hangingPunct="1"/>
            <a:r>
              <a:rPr lang="en-US" altLang="zh-CN" dirty="0">
                <a:solidFill>
                  <a:srgbClr val="0000CC"/>
                </a:solidFill>
              </a:rPr>
              <a:t>2.3 </a:t>
            </a:r>
            <a:r>
              <a:rPr lang="zh-CN" altLang="en-US" dirty="0">
                <a:solidFill>
                  <a:srgbClr val="0000CC"/>
                </a:solidFill>
              </a:rPr>
              <a:t>进程控制</a:t>
            </a:r>
            <a:endParaRPr lang="zh-CN" altLang="zh-CN" dirty="0">
              <a:solidFill>
                <a:srgbClr val="0000CC"/>
              </a:solidFill>
            </a:endParaRPr>
          </a:p>
        </p:txBody>
      </p:sp>
      <p:sp>
        <p:nvSpPr>
          <p:cNvPr id="533507" name="Rectangle 3"/>
          <p:cNvSpPr>
            <a:spLocks noGrp="1"/>
          </p:cNvSpPr>
          <p:nvPr>
            <p:ph type="body" sz="half" idx="2"/>
          </p:nvPr>
        </p:nvSpPr>
        <p:spPr>
          <a:xfrm>
            <a:off x="2135188" y="1557338"/>
            <a:ext cx="8077200" cy="4495800"/>
          </a:xfrm>
        </p:spPr>
        <p:txBody>
          <a:bodyPr vert="horz" wrap="square" lIns="92075" tIns="46038" rIns="92075" bIns="46038" anchor="t" anchorCtr="0"/>
          <a:lstStyle/>
          <a:p>
            <a:pPr marL="0" indent="0" algn="just" eaLnBrk="1" hangingPunct="1">
              <a:lnSpc>
                <a:spcPct val="90000"/>
              </a:lnSpc>
              <a:spcBef>
                <a:spcPct val="1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在三个队列中查找</a:t>
            </a:r>
            <a:r>
              <a:rPr lang="en-US" altLang="zh-CN" sz="2800" dirty="0">
                <a:latin typeface="Times New Roman" panose="02020603050405020304" pitchFamily="18" charset="0"/>
              </a:rPr>
              <a:t>kill_name</a:t>
            </a:r>
            <a:r>
              <a:rPr lang="zh-CN" altLang="en-US" sz="2800" dirty="0">
                <a:latin typeface="Times New Roman" panose="02020603050405020304" pitchFamily="18" charset="0"/>
              </a:rPr>
              <a:t>进程，过程如下：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marL="767080" lvl="1" algn="just" eaLnBrk="1" hangingPunct="1">
              <a:lnSpc>
                <a:spcPct val="90000"/>
              </a:lnSpc>
              <a:spcBef>
                <a:spcPct val="10000"/>
              </a:spcBef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  if (kill_name</a:t>
            </a:r>
            <a:r>
              <a:rPr lang="zh-CN" altLang="en-US" sz="2800" dirty="0">
                <a:latin typeface="Times New Roman" panose="02020603050405020304" pitchFamily="18" charset="0"/>
              </a:rPr>
              <a:t>是正在执行进程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767080" lvl="1" algn="just" eaLnBrk="1" hangingPunct="1">
              <a:lnSpc>
                <a:spcPct val="90000"/>
              </a:lnSpc>
              <a:spcBef>
                <a:spcPct val="10000"/>
              </a:spcBef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       </a:t>
            </a:r>
            <a:r>
              <a:rPr lang="zh-CN" altLang="en-US" sz="2800" dirty="0">
                <a:latin typeface="Times New Roman" panose="02020603050405020304" pitchFamily="18" charset="0"/>
              </a:rPr>
              <a:t>置标志为</a:t>
            </a:r>
            <a:r>
              <a:rPr lang="en-US" altLang="zh-CN" sz="2800" dirty="0">
                <a:latin typeface="Times New Roman" panose="02020603050405020304" pitchFamily="18" charset="0"/>
              </a:rPr>
              <a:t>1:flag=1;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767080" lvl="1" algn="just" eaLnBrk="1" hangingPunct="1">
              <a:lnSpc>
                <a:spcPct val="90000"/>
              </a:lnSpc>
              <a:spcBef>
                <a:spcPct val="10000"/>
              </a:spcBef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 else  if(kill_name</a:t>
            </a:r>
            <a:r>
              <a:rPr lang="zh-CN" altLang="en-US" sz="2800" dirty="0">
                <a:latin typeface="Times New Roman" panose="02020603050405020304" pitchFamily="18" charset="0"/>
              </a:rPr>
              <a:t>在就绪队列中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767080" lvl="1" algn="just" eaLnBrk="1" hangingPunct="1">
              <a:lnSpc>
                <a:spcPct val="90000"/>
              </a:lnSpc>
              <a:spcBef>
                <a:spcPct val="10000"/>
              </a:spcBef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             </a:t>
            </a:r>
            <a:r>
              <a:rPr lang="zh-CN" altLang="en-US" sz="2800" dirty="0">
                <a:latin typeface="Times New Roman" panose="02020603050405020304" pitchFamily="18" charset="0"/>
              </a:rPr>
              <a:t>置标志为</a:t>
            </a:r>
            <a:r>
              <a:rPr lang="en-US" altLang="zh-CN" sz="2800" dirty="0">
                <a:latin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</a:rPr>
              <a:t>：</a:t>
            </a:r>
            <a:r>
              <a:rPr lang="en-US" altLang="zh-CN" sz="2800" dirty="0">
                <a:latin typeface="Times New Roman" panose="02020603050405020304" pitchFamily="18" charset="0"/>
              </a:rPr>
              <a:t>flag=2;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767080" lvl="1" algn="just" eaLnBrk="1" hangingPunct="1">
              <a:lnSpc>
                <a:spcPct val="90000"/>
              </a:lnSpc>
              <a:spcBef>
                <a:spcPct val="10000"/>
              </a:spcBef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         else  if(kill_name</a:t>
            </a:r>
            <a:r>
              <a:rPr lang="zh-CN" altLang="en-US" sz="2800" dirty="0">
                <a:latin typeface="Times New Roman" panose="02020603050405020304" pitchFamily="18" charset="0"/>
              </a:rPr>
              <a:t>在阻塞队列中）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marL="767080" lvl="1" algn="just" eaLnBrk="1" hangingPunct="1">
              <a:lnSpc>
                <a:spcPct val="90000"/>
              </a:lnSpc>
              <a:spcBef>
                <a:spcPct val="10000"/>
              </a:spcBef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                    置标志为</a:t>
            </a:r>
            <a:r>
              <a:rPr lang="en-US" altLang="zh-CN" sz="2800" dirty="0">
                <a:latin typeface="Times New Roman" panose="02020603050405020304" pitchFamily="18" charset="0"/>
              </a:rPr>
              <a:t>3</a:t>
            </a:r>
            <a:r>
              <a:rPr lang="zh-CN" altLang="en-US" sz="2800" dirty="0">
                <a:latin typeface="Times New Roman" panose="02020603050405020304" pitchFamily="18" charset="0"/>
              </a:rPr>
              <a:t>：</a:t>
            </a:r>
            <a:r>
              <a:rPr lang="en-US" altLang="zh-CN" sz="2800" dirty="0">
                <a:latin typeface="Times New Roman" panose="02020603050405020304" pitchFamily="18" charset="0"/>
              </a:rPr>
              <a:t>flag=3;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767080" lvl="1" algn="just" eaLnBrk="1" hangingPunct="1">
              <a:lnSpc>
                <a:spcPct val="90000"/>
              </a:lnSpc>
              <a:spcBef>
                <a:spcPct val="10000"/>
              </a:spcBef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                  else   </a:t>
            </a:r>
            <a:r>
              <a:rPr lang="zh-CN" altLang="en-US" sz="2800" dirty="0">
                <a:latin typeface="Times New Roman" panose="02020603050405020304" pitchFamily="18" charset="0"/>
              </a:rPr>
              <a:t>置标志为</a:t>
            </a:r>
            <a:r>
              <a:rPr lang="en-US" altLang="zh-CN" sz="2800" dirty="0">
                <a:latin typeface="Times New Roman" panose="02020603050405020304" pitchFamily="18" charset="0"/>
              </a:rPr>
              <a:t>4</a:t>
            </a:r>
            <a:r>
              <a:rPr lang="zh-CN" altLang="en-US" sz="2800" dirty="0">
                <a:latin typeface="Times New Roman" panose="02020603050405020304" pitchFamily="18" charset="0"/>
              </a:rPr>
              <a:t>：</a:t>
            </a:r>
            <a:r>
              <a:rPr lang="en-US" altLang="zh-CN" sz="2800" dirty="0">
                <a:latin typeface="Times New Roman" panose="02020603050405020304" pitchFamily="18" charset="0"/>
              </a:rPr>
              <a:t>flag=4;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0" indent="0" algn="just" eaLnBrk="1" hangingPunct="1">
              <a:spcBef>
                <a:spcPct val="1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if(flag= =4)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0" indent="0" algn="just" eaLnBrk="1" hangingPunct="1">
              <a:spcBef>
                <a:spcPct val="1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       printf(“</a:t>
            </a:r>
            <a:r>
              <a:rPr lang="zh-CN" altLang="en-US" sz="2800" dirty="0">
                <a:latin typeface="Times New Roman" panose="02020603050405020304" pitchFamily="18" charset="0"/>
              </a:rPr>
              <a:t>没有该进程！</a:t>
            </a:r>
            <a:r>
              <a:rPr lang="en-US" altLang="zh-CN" sz="2800" dirty="0">
                <a:latin typeface="Times New Roman" panose="02020603050405020304" pitchFamily="18" charset="0"/>
              </a:rPr>
              <a:t>”);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3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3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33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33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33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33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33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33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33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335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3507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/>
          </p:cNvSpPr>
          <p:nvPr>
            <p:ph type="title"/>
          </p:nvPr>
        </p:nvSpPr>
        <p:spPr>
          <a:xfrm>
            <a:off x="2209800" y="714375"/>
            <a:ext cx="7772400" cy="547688"/>
          </a:xfrm>
        </p:spPr>
        <p:txBody>
          <a:bodyPr vert="horz" wrap="square" lIns="92075" tIns="46038" rIns="92075" bIns="46038" anchor="b" anchorCtr="0"/>
          <a:lstStyle/>
          <a:p>
            <a:pPr eaLnBrk="1" hangingPunct="1"/>
            <a:r>
              <a:rPr lang="en-US" altLang="zh-CN" dirty="0">
                <a:solidFill>
                  <a:srgbClr val="0000CC"/>
                </a:solidFill>
              </a:rPr>
              <a:t>2.3 </a:t>
            </a:r>
            <a:r>
              <a:rPr lang="zh-CN" altLang="en-US" dirty="0">
                <a:solidFill>
                  <a:srgbClr val="0000CC"/>
                </a:solidFill>
              </a:rPr>
              <a:t>进程控制</a:t>
            </a:r>
            <a:endParaRPr lang="zh-CN" altLang="zh-CN" dirty="0">
              <a:solidFill>
                <a:srgbClr val="0000CC"/>
              </a:solidFill>
            </a:endParaRPr>
          </a:p>
        </p:txBody>
      </p:sp>
      <p:sp>
        <p:nvSpPr>
          <p:cNvPr id="534531" name="Rectangle 3"/>
          <p:cNvSpPr>
            <a:spLocks noGrp="1"/>
          </p:cNvSpPr>
          <p:nvPr>
            <p:ph type="body" sz="half" idx="2"/>
          </p:nvPr>
        </p:nvSpPr>
        <p:spPr>
          <a:xfrm>
            <a:off x="1847850" y="1485583"/>
            <a:ext cx="8640763" cy="4854575"/>
          </a:xfrm>
        </p:spPr>
        <p:txBody>
          <a:bodyPr vert="horz" wrap="square" lIns="92075" tIns="46038" rIns="92075" bIns="46038" anchor="t" anchorCtr="0"/>
          <a:lstStyle/>
          <a:p>
            <a:pPr marL="0" indent="0" algn="just" ea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else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  { 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撤销该进程的子孙进程；回收该进程的资源；</a:t>
            </a:r>
            <a:endParaRPr lang="zh-CN" altLang="en-US" sz="24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sz="2400" dirty="0">
                <a:latin typeface="Times New Roman" panose="02020603050405020304" pitchFamily="18" charset="0"/>
              </a:rPr>
              <a:t>if(flag= =1)//</a:t>
            </a:r>
            <a:r>
              <a:rPr lang="zh-CN" altLang="en-US" sz="2400" dirty="0">
                <a:latin typeface="Times New Roman" panose="02020603050405020304" pitchFamily="18" charset="0"/>
              </a:rPr>
              <a:t>撤销的是执行进程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           {</a:t>
            </a:r>
            <a:r>
              <a:rPr lang="zh-CN" altLang="en-US" sz="2400" dirty="0">
                <a:latin typeface="Times New Roman" panose="02020603050405020304" pitchFamily="18" charset="0"/>
              </a:rPr>
              <a:t>移出</a:t>
            </a:r>
            <a:r>
              <a:rPr lang="en-US" altLang="zh-CN" sz="2400" dirty="0">
                <a:latin typeface="Times New Roman" panose="02020603050405020304" pitchFamily="18" charset="0"/>
              </a:rPr>
              <a:t>kill_name</a:t>
            </a:r>
            <a:r>
              <a:rPr lang="zh-CN" altLang="en-US" sz="2400" dirty="0">
                <a:latin typeface="Times New Roman" panose="02020603050405020304" pitchFamily="18" charset="0"/>
              </a:rPr>
              <a:t>进程的</a:t>
            </a:r>
            <a:r>
              <a:rPr lang="en-US" altLang="zh-CN" sz="2400" dirty="0">
                <a:latin typeface="Times New Roman" panose="02020603050405020304" pitchFamily="18" charset="0"/>
              </a:rPr>
              <a:t>PCB;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                </a:t>
            </a:r>
            <a:r>
              <a:rPr lang="en-US" altLang="zh-CN" sz="2400" dirty="0">
                <a:latin typeface="Times New Roman" panose="02020603050405020304" pitchFamily="18" charset="0"/>
              </a:rPr>
              <a:t>OS</a:t>
            </a:r>
            <a:r>
              <a:rPr lang="zh-CN" altLang="en-US" sz="2400" dirty="0">
                <a:latin typeface="Times New Roman" panose="02020603050405020304" pitchFamily="18" charset="0"/>
              </a:rPr>
              <a:t>从就绪队列中选择新进程执行（获得</a:t>
            </a:r>
            <a:r>
              <a:rPr lang="en-US" altLang="zh-CN" sz="2400" dirty="0">
                <a:latin typeface="Times New Roman" panose="02020603050405020304" pitchFamily="18" charset="0"/>
              </a:rPr>
              <a:t>CPU</a:t>
            </a:r>
            <a:r>
              <a:rPr lang="zh-CN" altLang="en-US" sz="2400" dirty="0">
                <a:latin typeface="Times New Roman" panose="02020603050405020304" pitchFamily="18" charset="0"/>
              </a:rPr>
              <a:t>）</a:t>
            </a:r>
            <a:r>
              <a:rPr lang="en-US" altLang="zh-CN" sz="2400" dirty="0">
                <a:latin typeface="Times New Roman" panose="02020603050405020304" pitchFamily="18" charset="0"/>
              </a:rPr>
              <a:t>}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        </a:t>
            </a:r>
            <a:r>
              <a:rPr lang="en-US" altLang="zh-CN" sz="2400" dirty="0">
                <a:latin typeface="Times New Roman" panose="02020603050405020304" pitchFamily="18" charset="0"/>
              </a:rPr>
              <a:t>else  if(flag= =2)//</a:t>
            </a:r>
            <a:r>
              <a:rPr lang="zh-CN" altLang="en-US" sz="2400" dirty="0">
                <a:latin typeface="Times New Roman" panose="02020603050405020304" pitchFamily="18" charset="0"/>
              </a:rPr>
              <a:t>撤销的是就绪进程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               </a:t>
            </a:r>
            <a:r>
              <a:rPr lang="zh-CN" altLang="en-US" sz="2400" dirty="0">
                <a:latin typeface="Times New Roman" panose="02020603050405020304" pitchFamily="18" charset="0"/>
              </a:rPr>
              <a:t>从就绪队列中移出</a:t>
            </a:r>
            <a:r>
              <a:rPr lang="en-US" altLang="zh-CN" sz="2400" dirty="0">
                <a:latin typeface="Times New Roman" panose="02020603050405020304" pitchFamily="18" charset="0"/>
              </a:rPr>
              <a:t>kill_name</a:t>
            </a:r>
            <a:r>
              <a:rPr lang="zh-CN" altLang="en-US" sz="2400" dirty="0">
                <a:latin typeface="Times New Roman" panose="02020603050405020304" pitchFamily="18" charset="0"/>
              </a:rPr>
              <a:t>进程的</a:t>
            </a:r>
            <a:r>
              <a:rPr lang="en-US" altLang="zh-CN" sz="2400" dirty="0">
                <a:latin typeface="Times New Roman" panose="02020603050405020304" pitchFamily="18" charset="0"/>
              </a:rPr>
              <a:t>PCB; 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             else    //</a:t>
            </a:r>
            <a:r>
              <a:rPr lang="zh-CN" altLang="en-US" sz="2400" dirty="0">
                <a:latin typeface="Times New Roman" panose="02020603050405020304" pitchFamily="18" charset="0"/>
              </a:rPr>
              <a:t>撤销的是阻塞进程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                    从阻塞队列中移出</a:t>
            </a:r>
            <a:r>
              <a:rPr lang="en-US" altLang="zh-CN" sz="2400" dirty="0">
                <a:latin typeface="Times New Roman" panose="02020603050405020304" pitchFamily="18" charset="0"/>
              </a:rPr>
              <a:t>kill_name</a:t>
            </a:r>
            <a:r>
              <a:rPr lang="zh-CN" altLang="en-US" sz="2400" dirty="0">
                <a:latin typeface="Times New Roman" panose="02020603050405020304" pitchFamily="18" charset="0"/>
              </a:rPr>
              <a:t>进程的</a:t>
            </a:r>
            <a:r>
              <a:rPr lang="en-US" altLang="zh-CN" sz="2400" dirty="0">
                <a:latin typeface="Times New Roman" panose="02020603050405020304" pitchFamily="18" charset="0"/>
              </a:rPr>
              <a:t>PCB; </a:t>
            </a:r>
            <a:endParaRPr lang="en-US" altLang="zh-CN" sz="2400" dirty="0" smtClean="0">
              <a:latin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 smtClean="0">
                <a:latin typeface="Times New Roman" panose="02020603050405020304" pitchFamily="18" charset="0"/>
              </a:rPr>
              <a:t>        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等待其他进程收集信息（终止状态）</a:t>
            </a:r>
            <a:r>
              <a:rPr lang="en-US" altLang="zh-CN" sz="24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;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     </a:t>
            </a:r>
            <a:r>
              <a:rPr lang="en-US" altLang="zh-CN" sz="2400" dirty="0" smtClean="0">
                <a:latin typeface="Times New Roman" panose="02020603050405020304" pitchFamily="18" charset="0"/>
              </a:rPr>
              <a:t> 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将</a:t>
            </a:r>
            <a:r>
              <a:rPr lang="zh-CN" altLang="en-US" sz="2400" dirty="0">
                <a:latin typeface="Times New Roman" panose="02020603050405020304" pitchFamily="18" charset="0"/>
              </a:rPr>
              <a:t>撤销进程的</a:t>
            </a:r>
            <a:r>
              <a:rPr lang="en-US" altLang="zh-CN" sz="2400" dirty="0">
                <a:latin typeface="Times New Roman" panose="02020603050405020304" pitchFamily="18" charset="0"/>
              </a:rPr>
              <a:t>PCB</a:t>
            </a:r>
            <a:r>
              <a:rPr lang="zh-CN" altLang="en-US" sz="2400" dirty="0">
                <a:latin typeface="Times New Roman" panose="02020603050405020304" pitchFamily="18" charset="0"/>
              </a:rPr>
              <a:t>链入空白</a:t>
            </a:r>
            <a:r>
              <a:rPr lang="en-US" altLang="zh-CN" sz="2400" dirty="0">
                <a:latin typeface="Times New Roman" panose="02020603050405020304" pitchFamily="18" charset="0"/>
              </a:rPr>
              <a:t>PCB</a:t>
            </a:r>
            <a:r>
              <a:rPr lang="zh-CN" altLang="en-US" sz="2400" dirty="0">
                <a:latin typeface="Times New Roman" panose="02020603050405020304" pitchFamily="18" charset="0"/>
              </a:rPr>
              <a:t>队列</a:t>
            </a:r>
            <a:r>
              <a:rPr lang="en-US" altLang="zh-CN" sz="2400" dirty="0">
                <a:latin typeface="Times New Roman" panose="02020603050405020304" pitchFamily="18" charset="0"/>
              </a:rPr>
              <a:t>;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  }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}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4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34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34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34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34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34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34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34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34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345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345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345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4531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/>
          </p:cNvSpPr>
          <p:nvPr>
            <p:ph type="title"/>
          </p:nvPr>
        </p:nvSpPr>
        <p:spPr>
          <a:xfrm>
            <a:off x="2209800" y="714375"/>
            <a:ext cx="7772400" cy="547688"/>
          </a:xfrm>
        </p:spPr>
        <p:txBody>
          <a:bodyPr vert="horz" wrap="square" lIns="92075" tIns="46038" rIns="92075" bIns="46038" anchor="b" anchorCtr="0"/>
          <a:lstStyle/>
          <a:p>
            <a:pPr eaLnBrk="1" hangingPunct="1"/>
            <a:r>
              <a:rPr lang="en-US" altLang="zh-CN" dirty="0">
                <a:solidFill>
                  <a:srgbClr val="0000CC"/>
                </a:solidFill>
              </a:rPr>
              <a:t>2.3 </a:t>
            </a:r>
            <a:r>
              <a:rPr lang="zh-CN" altLang="en-US" dirty="0">
                <a:solidFill>
                  <a:srgbClr val="0000CC"/>
                </a:solidFill>
              </a:rPr>
              <a:t>进程控制</a:t>
            </a:r>
            <a:endParaRPr lang="zh-CN" altLang="zh-CN" dirty="0">
              <a:solidFill>
                <a:srgbClr val="0000CC"/>
              </a:solidFill>
            </a:endParaRPr>
          </a:p>
        </p:txBody>
      </p:sp>
      <p:sp>
        <p:nvSpPr>
          <p:cNvPr id="535555" name="Rectangle 3"/>
          <p:cNvSpPr>
            <a:spLocks noGrp="1"/>
          </p:cNvSpPr>
          <p:nvPr>
            <p:ph type="body" sz="half" idx="2"/>
          </p:nvPr>
        </p:nvSpPr>
        <p:spPr>
          <a:xfrm>
            <a:off x="2135505" y="1628775"/>
            <a:ext cx="8077200" cy="4765040"/>
          </a:xfrm>
          <a:solidFill>
            <a:schemeClr val="bg2"/>
          </a:solidFill>
        </p:spPr>
        <p:txBody>
          <a:bodyPr vert="horz" wrap="square" lIns="92075" tIns="46038" rIns="92075" bIns="46038" anchor="t" anchorCtr="0"/>
          <a:lstStyle/>
          <a:p>
            <a:pPr marL="0" indent="0" algn="just" eaLnBrk="1" hangingPunct="1">
              <a:buClr>
                <a:schemeClr val="tx1"/>
              </a:buClr>
              <a:buSzPct val="80000"/>
              <a:buFont typeface="Wingdings" panose="05000000000000000000" pitchFamily="2" charset="2"/>
              <a:buChar char="q"/>
            </a:pPr>
            <a:r>
              <a:rPr lang="zh-CN" altLang="en-US" sz="2800" dirty="0">
                <a:latin typeface="Times New Roman" panose="02020603050405020304" pitchFamily="18" charset="0"/>
              </a:rPr>
              <a:t>进程的阻塞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marL="687705" lvl="1" indent="-302260" algn="just" eaLnBrk="1" hangingPunct="1">
              <a:buClr>
                <a:schemeClr val="tx1"/>
              </a:buClr>
              <a:buSzTx/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</a:rPr>
              <a:t>引起进程阻塞的事件：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1090930" lvl="2" indent="-362585" algn="just" eaLnBrk="1" hangingPunct="1">
              <a:buClr>
                <a:schemeClr val="tx1"/>
              </a:buClr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</a:rPr>
              <a:t>请求系统的共享资源不能得到满足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marL="1090930" lvl="2" indent="-362585" algn="just" eaLnBrk="1" hangingPunct="1">
              <a:buClr>
                <a:schemeClr val="tx1"/>
              </a:buClr>
              <a:buFont typeface="Wingdings" panose="05000000000000000000" pitchFamily="2" charset="2"/>
            </a:pPr>
            <a:r>
              <a:rPr lang="zh-CN" altLang="en-US" sz="2800" dirty="0">
                <a:latin typeface="Times New Roman" panose="02020603050405020304" pitchFamily="18" charset="0"/>
              </a:rPr>
              <a:t>必须等待某种</a:t>
            </a:r>
            <a:r>
              <a:rPr lang="zh-CN" altLang="en-US" sz="2800" dirty="0" smtClean="0">
                <a:latin typeface="Times New Roman" panose="02020603050405020304" pitchFamily="18" charset="0"/>
              </a:rPr>
              <a:t>操作的完成：例如进程启动</a:t>
            </a:r>
            <a:r>
              <a:rPr lang="en-US" altLang="zh-CN" sz="2800" dirty="0" smtClean="0">
                <a:latin typeface="Times New Roman" panose="02020603050405020304" pitchFamily="18" charset="0"/>
              </a:rPr>
              <a:t>I/O</a:t>
            </a:r>
            <a:r>
              <a:rPr lang="zh-CN" altLang="en-US" sz="2800" dirty="0" smtClean="0">
                <a:latin typeface="Times New Roman" panose="02020603050405020304" pitchFamily="18" charset="0"/>
              </a:rPr>
              <a:t>设备后，必须等待</a:t>
            </a:r>
            <a:r>
              <a:rPr lang="en-US" altLang="zh-CN" sz="2800" dirty="0" smtClean="0">
                <a:latin typeface="Times New Roman" panose="02020603050405020304" pitchFamily="18" charset="0"/>
              </a:rPr>
              <a:t>I/O</a:t>
            </a:r>
            <a:r>
              <a:rPr lang="zh-CN" altLang="en-US" sz="2800" dirty="0" smtClean="0">
                <a:latin typeface="Times New Roman" panose="02020603050405020304" pitchFamily="18" charset="0"/>
              </a:rPr>
              <a:t>结束才能继续执行。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marL="1090930" lvl="2" indent="-362585" algn="just" eaLnBrk="1" hangingPunct="1">
              <a:buClr>
                <a:schemeClr val="tx1"/>
              </a:buClr>
              <a:buFont typeface="Wingdings" panose="05000000000000000000" pitchFamily="2" charset="2"/>
            </a:pPr>
            <a:r>
              <a:rPr lang="zh-CN" altLang="en-US" sz="2800" dirty="0">
                <a:latin typeface="Times New Roman" panose="02020603050405020304" pitchFamily="18" charset="0"/>
              </a:rPr>
              <a:t> 新数据尚未</a:t>
            </a:r>
            <a:r>
              <a:rPr lang="zh-CN" altLang="en-US" sz="2800" dirty="0" smtClean="0">
                <a:latin typeface="Times New Roman" panose="02020603050405020304" pitchFamily="18" charset="0"/>
              </a:rPr>
              <a:t>到达：相互合作的进程，一个进程需要另一个进程提供数据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marL="1090930" lvl="2" indent="-362585" algn="just" eaLnBrk="1" hangingPunct="1">
              <a:buClr>
                <a:schemeClr val="tx1"/>
              </a:buClr>
              <a:buFont typeface="Wingdings" panose="05000000000000000000" pitchFamily="2" charset="2"/>
            </a:pPr>
            <a:r>
              <a:rPr lang="zh-CN" altLang="en-US" sz="2800" dirty="0">
                <a:latin typeface="Times New Roman" panose="02020603050405020304" pitchFamily="18" charset="0"/>
              </a:rPr>
              <a:t>无新工作可做</a:t>
            </a:r>
            <a:r>
              <a:rPr lang="en-US" altLang="zh-CN" sz="2800" dirty="0">
                <a:latin typeface="Times New Roman" panose="02020603050405020304" pitchFamily="18" charset="0"/>
              </a:rPr>
              <a:t>——</a:t>
            </a:r>
            <a:r>
              <a:rPr lang="zh-CN" altLang="en-US" sz="2800" dirty="0">
                <a:latin typeface="Times New Roman" panose="02020603050405020304" pitchFamily="18" charset="0"/>
              </a:rPr>
              <a:t>等待新任务的</a:t>
            </a:r>
            <a:r>
              <a:rPr lang="zh-CN" altLang="en-US" sz="2800" dirty="0" smtClean="0">
                <a:latin typeface="Times New Roman" panose="02020603050405020304" pitchFamily="18" charset="0"/>
              </a:rPr>
              <a:t>到达：例如网络环境中数据包发送进程、打印进程无打印任务时。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555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5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35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35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35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35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5555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/>
          </p:cNvSpPr>
          <p:nvPr>
            <p:ph type="title"/>
          </p:nvPr>
        </p:nvSpPr>
        <p:spPr>
          <a:xfrm>
            <a:off x="2209800" y="714375"/>
            <a:ext cx="7772400" cy="547688"/>
          </a:xfrm>
        </p:spPr>
        <p:txBody>
          <a:bodyPr vert="horz" wrap="square" lIns="92075" tIns="46038" rIns="92075" bIns="46038" anchor="b" anchorCtr="0"/>
          <a:lstStyle/>
          <a:p>
            <a:pPr eaLnBrk="1" hangingPunct="1"/>
            <a:r>
              <a:rPr lang="en-US" altLang="zh-CN" dirty="0">
                <a:solidFill>
                  <a:srgbClr val="0000CC"/>
                </a:solidFill>
              </a:rPr>
              <a:t>2.3 </a:t>
            </a:r>
            <a:r>
              <a:rPr lang="zh-CN" altLang="en-US" dirty="0">
                <a:solidFill>
                  <a:srgbClr val="0000CC"/>
                </a:solidFill>
              </a:rPr>
              <a:t>进程控制</a:t>
            </a:r>
            <a:endParaRPr lang="zh-CN" altLang="zh-CN" dirty="0">
              <a:solidFill>
                <a:srgbClr val="0000CC"/>
              </a:solidFill>
            </a:endParaRPr>
          </a:p>
        </p:txBody>
      </p:sp>
      <p:sp>
        <p:nvSpPr>
          <p:cNvPr id="536579" name="Rectangle 3"/>
          <p:cNvSpPr>
            <a:spLocks noGrp="1"/>
          </p:cNvSpPr>
          <p:nvPr>
            <p:ph type="body" sz="half" idx="2"/>
          </p:nvPr>
        </p:nvSpPr>
        <p:spPr>
          <a:xfrm>
            <a:off x="1991544" y="1628775"/>
            <a:ext cx="8352928" cy="4752975"/>
          </a:xfrm>
        </p:spPr>
        <p:txBody>
          <a:bodyPr vert="horz" wrap="square" lIns="92075" tIns="46038" rIns="92075" bIns="46038" anchor="t" anchorCtr="0"/>
          <a:lstStyle/>
          <a:p>
            <a:pPr marL="0" indent="0" algn="just" eaLnBrk="1" hangingPunct="1">
              <a:buClr>
                <a:schemeClr val="tx1"/>
              </a:buClr>
              <a:buSzPct val="80000"/>
              <a:buFont typeface="Wingdings" panose="05000000000000000000" pitchFamily="2" charset="2"/>
            </a:pPr>
            <a:r>
              <a:rPr lang="zh-CN" altLang="en-US" sz="2800" b="1" dirty="0"/>
              <a:t>进程阻塞（</a:t>
            </a:r>
            <a:r>
              <a:rPr lang="en-US" altLang="zh-CN" sz="2800" b="1" dirty="0"/>
              <a:t>block)</a:t>
            </a:r>
            <a:r>
              <a:rPr lang="zh-CN" altLang="en-US" sz="2800" b="1" dirty="0"/>
              <a:t>的实现：</a:t>
            </a:r>
            <a:endParaRPr lang="zh-CN" altLang="en-US" sz="2800" b="1" dirty="0"/>
          </a:p>
          <a:p>
            <a:pPr marL="767080" lvl="1" algn="just" eaLnBrk="1" hangingPunct="1">
              <a:buClr>
                <a:schemeClr val="tx1"/>
              </a:buClr>
              <a:buSzTx/>
              <a:buFont typeface="Wingdings" panose="05000000000000000000" pitchFamily="2" charset="2"/>
            </a:pPr>
            <a:r>
              <a:rPr lang="zh-CN" altLang="en-US" sz="2800" b="1" dirty="0"/>
              <a:t>主要任务：</a:t>
            </a:r>
            <a:r>
              <a:rPr lang="zh-CN" altLang="en-US" sz="2800" dirty="0"/>
              <a:t>将进程状态从“执行”变为“阻塞” ，并根据不同的阻塞原因</a:t>
            </a:r>
            <a:r>
              <a:rPr lang="zh-CN" altLang="en-US" sz="2800" dirty="0" smtClean="0"/>
              <a:t>，将其送入</a:t>
            </a:r>
            <a:r>
              <a:rPr lang="zh-CN" altLang="en-US" sz="2800" dirty="0"/>
              <a:t>到相应的阻塞队列。</a:t>
            </a:r>
            <a:endParaRPr lang="zh-CN" altLang="en-US" sz="2800" dirty="0"/>
          </a:p>
          <a:p>
            <a:pPr marL="767080" lvl="1" algn="just" eaLnBrk="1" hangingPunct="1">
              <a:buClr>
                <a:schemeClr val="tx1"/>
              </a:buClr>
              <a:buSzTx/>
              <a:buFont typeface="Wingdings" panose="05000000000000000000" pitchFamily="2" charset="2"/>
            </a:pPr>
            <a:r>
              <a:rPr lang="zh-CN" altLang="en-US" sz="2800" b="1" dirty="0"/>
              <a:t>实现： </a:t>
            </a:r>
            <a:r>
              <a:rPr lang="en-US" altLang="zh-CN" sz="2800" dirty="0">
                <a:latin typeface="Times New Roman" panose="02020603050405020304" pitchFamily="18" charset="0"/>
              </a:rPr>
              <a:t>OS</a:t>
            </a:r>
            <a:r>
              <a:rPr lang="zh-CN" altLang="en-US" sz="2800" dirty="0">
                <a:latin typeface="Times New Roman" panose="02020603050405020304" pitchFamily="18" charset="0"/>
              </a:rPr>
              <a:t>内核的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Block()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原语</a:t>
            </a:r>
            <a:r>
              <a:rPr lang="zh-CN" altLang="en-US" sz="2800" dirty="0">
                <a:latin typeface="Times New Roman" panose="02020603050405020304" pitchFamily="18" charset="0"/>
              </a:rPr>
              <a:t>实现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marL="767080" lvl="1" algn="just" eaLnBrk="1" hangingPunct="1">
              <a:buClr>
                <a:schemeClr val="tx1"/>
              </a:buClr>
              <a:buSzTx/>
              <a:buFont typeface="Wingdings" panose="05000000000000000000" pitchFamily="2" charset="2"/>
            </a:pPr>
            <a:r>
              <a:rPr lang="zh-CN" altLang="en-US" sz="2800" b="1" dirty="0"/>
              <a:t>算法描述：</a:t>
            </a:r>
            <a:endParaRPr lang="zh-CN" altLang="en-US" sz="2800" b="1" dirty="0"/>
          </a:p>
          <a:p>
            <a:pPr marL="0" indent="0" algn="just" eaLnBrk="1" hangingPunct="1"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800" dirty="0" smtClean="0"/>
              <a:t>status Block()</a:t>
            </a:r>
            <a:endParaRPr lang="en-US" altLang="zh-CN" sz="2800" dirty="0"/>
          </a:p>
          <a:p>
            <a:pPr marL="0" indent="0" algn="just" eaLnBrk="1" hangingPunct="1"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800" dirty="0"/>
              <a:t>  {    </a:t>
            </a:r>
            <a:r>
              <a:rPr lang="zh-CN" altLang="en-US" sz="2800" dirty="0"/>
              <a:t>找到当前正在</a:t>
            </a:r>
            <a:r>
              <a:rPr lang="zh-CN" altLang="en-US" sz="2800" dirty="0">
                <a:solidFill>
                  <a:srgbClr val="FF0000"/>
                </a:solidFill>
              </a:rPr>
              <a:t>执行进程</a:t>
            </a:r>
            <a:r>
              <a:rPr lang="zh-CN" altLang="en-US" sz="2800" dirty="0"/>
              <a:t>的</a:t>
            </a:r>
            <a:r>
              <a:rPr lang="en-US" altLang="zh-CN" sz="2800" dirty="0"/>
              <a:t>PCB</a:t>
            </a:r>
            <a:r>
              <a:rPr lang="zh-CN" altLang="en-US" sz="2800" dirty="0"/>
              <a:t>并用</a:t>
            </a:r>
            <a:r>
              <a:rPr lang="en-US" altLang="zh-CN" sz="2800" dirty="0"/>
              <a:t>p</a:t>
            </a:r>
            <a:r>
              <a:rPr lang="zh-CN" altLang="en-US" sz="2800" dirty="0"/>
              <a:t>指向；</a:t>
            </a:r>
            <a:endParaRPr lang="en-US" altLang="zh-CN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6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36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36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36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36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6579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/>
          </p:cNvSpPr>
          <p:nvPr>
            <p:ph type="title"/>
          </p:nvPr>
        </p:nvSpPr>
        <p:spPr>
          <a:xfrm>
            <a:off x="2209800" y="714375"/>
            <a:ext cx="7772400" cy="547688"/>
          </a:xfrm>
        </p:spPr>
        <p:txBody>
          <a:bodyPr vert="horz" wrap="square" lIns="92075" tIns="46038" rIns="92075" bIns="46038" anchor="b" anchorCtr="0"/>
          <a:lstStyle/>
          <a:p>
            <a:pPr eaLnBrk="1" hangingPunct="1"/>
            <a:r>
              <a:rPr lang="en-US" altLang="zh-CN" dirty="0">
                <a:solidFill>
                  <a:srgbClr val="0000CC"/>
                </a:solidFill>
              </a:rPr>
              <a:t>2.3 </a:t>
            </a:r>
            <a:r>
              <a:rPr lang="zh-CN" altLang="en-US" dirty="0">
                <a:solidFill>
                  <a:srgbClr val="0000CC"/>
                </a:solidFill>
              </a:rPr>
              <a:t>进程控制</a:t>
            </a:r>
            <a:endParaRPr lang="zh-CN" altLang="zh-CN" dirty="0">
              <a:solidFill>
                <a:srgbClr val="0000CC"/>
              </a:solidFill>
            </a:endParaRPr>
          </a:p>
        </p:txBody>
      </p:sp>
      <p:sp>
        <p:nvSpPr>
          <p:cNvPr id="537603" name="Rectangle 3"/>
          <p:cNvSpPr>
            <a:spLocks noGrp="1"/>
          </p:cNvSpPr>
          <p:nvPr>
            <p:ph type="body" sz="half" idx="2"/>
          </p:nvPr>
        </p:nvSpPr>
        <p:spPr>
          <a:xfrm>
            <a:off x="2135188" y="1628775"/>
            <a:ext cx="8077200" cy="4752975"/>
          </a:xfrm>
        </p:spPr>
        <p:txBody>
          <a:bodyPr vert="horz" wrap="square" lIns="92075" tIns="46038" rIns="92075" bIns="46038" anchor="t" anchorCtr="0"/>
          <a:lstStyle/>
          <a:p>
            <a:pPr marL="0" indent="0" algn="just" eaLnBrk="1" hangingPunct="1"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将该</a:t>
            </a:r>
            <a:r>
              <a:rPr lang="en-US" altLang="zh-CN" sz="2800" dirty="0">
                <a:latin typeface="Times New Roman" panose="02020603050405020304" pitchFamily="18" charset="0"/>
              </a:rPr>
              <a:t>PCB</a:t>
            </a:r>
            <a:r>
              <a:rPr lang="zh-CN" altLang="en-US" sz="2800" dirty="0">
                <a:latin typeface="Times New Roman" panose="02020603050405020304" pitchFamily="18" charset="0"/>
              </a:rPr>
              <a:t>的状态修改为阻塞：</a:t>
            </a:r>
            <a:r>
              <a:rPr lang="en-US" altLang="zh-CN" sz="2800" dirty="0">
                <a:latin typeface="Times New Roman" panose="02020603050405020304" pitchFamily="18" charset="0"/>
              </a:rPr>
              <a:t>p-&gt;status=</a:t>
            </a:r>
            <a:r>
              <a:rPr lang="en-US" altLang="zh-CN" sz="2800" dirty="0"/>
              <a:t>‘</a:t>
            </a:r>
            <a:r>
              <a:rPr lang="en-US" altLang="zh-CN" sz="2800" dirty="0">
                <a:latin typeface="Times New Roman" panose="02020603050405020304" pitchFamily="18" charset="0"/>
              </a:rPr>
              <a:t>B</a:t>
            </a:r>
            <a:r>
              <a:rPr lang="en-US" altLang="zh-CN" sz="2800" dirty="0"/>
              <a:t>’</a:t>
            </a:r>
            <a:r>
              <a:rPr lang="en-US" altLang="zh-CN" sz="2800" dirty="0">
                <a:latin typeface="Times New Roman" panose="02020603050405020304" pitchFamily="18" charset="0"/>
              </a:rPr>
              <a:t>;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0" indent="0" algn="just" eaLnBrk="1" hangingPunct="1"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  </a:t>
            </a:r>
            <a:r>
              <a:rPr lang="zh-CN" altLang="en-US" sz="2800" dirty="0">
                <a:latin typeface="Times New Roman" panose="02020603050405020304" pitchFamily="18" charset="0"/>
              </a:rPr>
              <a:t>将结点</a:t>
            </a:r>
            <a:r>
              <a:rPr lang="en-US" altLang="zh-CN" sz="2800" dirty="0">
                <a:latin typeface="Times New Roman" panose="02020603050405020304" pitchFamily="18" charset="0"/>
              </a:rPr>
              <a:t>p</a:t>
            </a:r>
            <a:r>
              <a:rPr lang="zh-CN" altLang="en-US" sz="2800" dirty="0">
                <a:latin typeface="Times New Roman" panose="02020603050405020304" pitchFamily="18" charset="0"/>
              </a:rPr>
              <a:t>链入阻塞队列</a:t>
            </a:r>
            <a:r>
              <a:rPr lang="en-US" altLang="zh-CN" sz="2800" dirty="0">
                <a:latin typeface="Times New Roman" panose="02020603050405020304" pitchFamily="18" charset="0"/>
              </a:rPr>
              <a:t>(</a:t>
            </a:r>
            <a:r>
              <a:rPr lang="zh-CN" altLang="en-US" sz="2800" dirty="0">
                <a:latin typeface="Times New Roman" panose="02020603050405020304" pitchFamily="18" charset="0"/>
              </a:rPr>
              <a:t>假定只有一个阻塞队列</a:t>
            </a:r>
            <a:r>
              <a:rPr lang="en-US" altLang="zh-CN" sz="2800" dirty="0">
                <a:latin typeface="Times New Roman" panose="02020603050405020304" pitchFamily="18" charset="0"/>
              </a:rPr>
              <a:t>);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0" indent="0" algn="just" eaLnBrk="1" hangingPunct="1"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 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将阻塞进程的现场信息保存到该进程的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PCB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;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indent="0" algn="just" eaLnBrk="1" hangingPunct="1"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  </a:t>
            </a:r>
            <a:r>
              <a:rPr lang="zh-CN" altLang="en-US" sz="2800" dirty="0">
                <a:latin typeface="Times New Roman" panose="02020603050405020304" pitchFamily="18" charset="0"/>
              </a:rPr>
              <a:t>从就绪队列中选择新的进程执行，过程如下：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marL="1397000" lvl="2" indent="-457200" algn="just" eaLnBrk="1" hangingPunct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Times New Roman" panose="02020603050405020304" pitchFamily="18" charset="0"/>
              </a:rPr>
              <a:t>将算法选中进程</a:t>
            </a:r>
            <a:r>
              <a:rPr lang="en-US" altLang="zh-CN" sz="2800" dirty="0">
                <a:latin typeface="Times New Roman" panose="02020603050405020304" pitchFamily="18" charset="0"/>
              </a:rPr>
              <a:t>PCB</a:t>
            </a:r>
            <a:r>
              <a:rPr lang="zh-CN" altLang="en-US" sz="2800" dirty="0">
                <a:latin typeface="Times New Roman" panose="02020603050405020304" pitchFamily="18" charset="0"/>
              </a:rPr>
              <a:t>的状态修改为执行</a:t>
            </a:r>
            <a:r>
              <a:rPr lang="zh-CN" altLang="en-US" sz="2800" dirty="0" smtClean="0">
                <a:latin typeface="Times New Roman" panose="02020603050405020304" pitchFamily="18" charset="0"/>
              </a:rPr>
              <a:t>；</a:t>
            </a:r>
            <a:endParaRPr lang="en-US" altLang="zh-CN" sz="2800" dirty="0" smtClean="0">
              <a:latin typeface="Times New Roman" panose="02020603050405020304" pitchFamily="18" charset="0"/>
            </a:endParaRPr>
          </a:p>
          <a:p>
            <a:pPr marL="1397000" lvl="2" indent="-457200" algn="just" eaLnBrk="1" hangingPunct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800" dirty="0" smtClean="0">
                <a:latin typeface="Times New Roman" panose="02020603050405020304" pitchFamily="18" charset="0"/>
              </a:rPr>
              <a:t>将该进程</a:t>
            </a:r>
            <a:r>
              <a:rPr lang="en-US" altLang="zh-CN" sz="2800" dirty="0" smtClean="0">
                <a:latin typeface="Times New Roman" panose="02020603050405020304" pitchFamily="18" charset="0"/>
              </a:rPr>
              <a:t>PCB</a:t>
            </a:r>
            <a:r>
              <a:rPr lang="zh-CN" altLang="en-US" sz="2800" dirty="0" smtClean="0">
                <a:latin typeface="Times New Roman" panose="02020603050405020304" pitchFamily="18" charset="0"/>
              </a:rPr>
              <a:t>移入执行队列；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marL="1397000" lvl="2" indent="-457200" algn="just" eaLnBrk="1" hangingPunct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从新执行进程的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PCB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中取出现场信息重置运行环境，实现从新进程上次的断点处继续执行。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indent="0" algn="just" eaLnBrk="1" hangingPunct="1"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800" dirty="0">
                <a:latin typeface="Times New Roman" panose="02020603050405020304" pitchFamily="18" charset="0"/>
              </a:rPr>
              <a:t>}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grpSp>
        <p:nvGrpSpPr>
          <p:cNvPr id="537604" name="Group 4"/>
          <p:cNvGrpSpPr/>
          <p:nvPr/>
        </p:nvGrpSpPr>
        <p:grpSpPr>
          <a:xfrm>
            <a:off x="2351088" y="404812"/>
            <a:ext cx="7848600" cy="5759826"/>
            <a:chOff x="521" y="255"/>
            <a:chExt cx="4944" cy="3338"/>
          </a:xfrm>
        </p:grpSpPr>
        <p:sp>
          <p:nvSpPr>
            <p:cNvPr id="44036" name="Rectangle 5"/>
            <p:cNvSpPr/>
            <p:nvPr/>
          </p:nvSpPr>
          <p:spPr>
            <a:xfrm>
              <a:off x="521" y="1577"/>
              <a:ext cx="4944" cy="2016"/>
            </a:xfrm>
            <a:prstGeom prst="rect">
              <a:avLst/>
            </a:prstGeom>
            <a:noFill/>
            <a:ln w="38100" cap="sq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0" hangingPunct="0">
                <a:buFontTx/>
                <a:buNone/>
              </a:pPr>
              <a:endParaRPr lang="zh-CN" altLang="en-US" sz="4000" dirty="0">
                <a:solidFill>
                  <a:srgbClr val="000000"/>
                </a:solidFill>
              </a:endParaRPr>
            </a:p>
          </p:txBody>
        </p:sp>
        <p:sp>
          <p:nvSpPr>
            <p:cNvPr id="44037" name="AutoShape 6"/>
            <p:cNvSpPr/>
            <p:nvPr/>
          </p:nvSpPr>
          <p:spPr>
            <a:xfrm>
              <a:off x="2925" y="255"/>
              <a:ext cx="2359" cy="372"/>
            </a:xfrm>
            <a:prstGeom prst="wedgeRectCallout">
              <a:avLst>
                <a:gd name="adj1" fmla="val -56569"/>
                <a:gd name="adj2" fmla="val 323926"/>
              </a:avLst>
            </a:prstGeom>
            <a:noFill/>
            <a:ln w="12700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/>
            <a:lstStyle/>
            <a:p>
              <a:pPr algn="ctr" eaLnBrk="0" hangingPunct="0">
                <a:buFontTx/>
                <a:buNone/>
              </a:pPr>
              <a:r>
                <a:rPr lang="zh-CN" altLang="en-US" sz="3200" b="1" dirty="0">
                  <a:solidFill>
                    <a:srgbClr val="000000"/>
                  </a:solidFill>
                </a:rPr>
                <a:t>新、老</a:t>
              </a:r>
              <a:r>
                <a:rPr lang="zh-CN" altLang="en-US" sz="3200" b="1" dirty="0">
                  <a:solidFill>
                    <a:srgbClr val="FF0000"/>
                  </a:solidFill>
                </a:rPr>
                <a:t>进程切换</a:t>
              </a:r>
              <a:endParaRPr lang="zh-CN" altLang="en-US" sz="3200" b="1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7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7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37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37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37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37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37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37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37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760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/>
          </p:cNvSpPr>
          <p:nvPr>
            <p:ph type="title"/>
          </p:nvPr>
        </p:nvSpPr>
        <p:spPr>
          <a:xfrm>
            <a:off x="2209800" y="714375"/>
            <a:ext cx="7772400" cy="547688"/>
          </a:xfrm>
        </p:spPr>
        <p:txBody>
          <a:bodyPr vert="horz" wrap="square" lIns="92075" tIns="46038" rIns="92075" bIns="46038" anchor="b" anchorCtr="0"/>
          <a:lstStyle/>
          <a:p>
            <a:pPr eaLnBrk="1" hangingPunct="1"/>
            <a:r>
              <a:rPr lang="en-US" altLang="zh-CN" dirty="0">
                <a:solidFill>
                  <a:srgbClr val="0000CC"/>
                </a:solidFill>
              </a:rPr>
              <a:t>2.3 </a:t>
            </a:r>
            <a:r>
              <a:rPr lang="zh-CN" altLang="en-US" dirty="0">
                <a:solidFill>
                  <a:srgbClr val="0000CC"/>
                </a:solidFill>
              </a:rPr>
              <a:t>进程控制</a:t>
            </a:r>
            <a:endParaRPr lang="zh-CN" altLang="zh-CN" dirty="0">
              <a:solidFill>
                <a:srgbClr val="0000CC"/>
              </a:solidFill>
            </a:endParaRPr>
          </a:p>
        </p:txBody>
      </p:sp>
      <p:sp>
        <p:nvSpPr>
          <p:cNvPr id="538627" name="Rectangle 3"/>
          <p:cNvSpPr>
            <a:spLocks noGrp="1"/>
          </p:cNvSpPr>
          <p:nvPr>
            <p:ph type="body" sz="half" idx="2"/>
          </p:nvPr>
        </p:nvSpPr>
        <p:spPr>
          <a:xfrm>
            <a:off x="2133600" y="1525588"/>
            <a:ext cx="8077200" cy="4495800"/>
          </a:xfrm>
        </p:spPr>
        <p:txBody>
          <a:bodyPr vert="horz" wrap="square" lIns="92075" tIns="46038" rIns="92075" bIns="46038" anchor="t" anchorCtr="0"/>
          <a:lstStyle/>
          <a:p>
            <a:pPr marL="0" indent="0" algn="just" eaLnBrk="1" hangingPunct="1">
              <a:buClr>
                <a:schemeClr val="tx1"/>
              </a:buClr>
              <a:buSzPct val="80000"/>
              <a:buFont typeface="Wingdings" panose="05000000000000000000" pitchFamily="2" charset="2"/>
            </a:pPr>
            <a:r>
              <a:rPr lang="zh-CN" altLang="en-US" sz="2800" dirty="0"/>
              <a:t>进程唤醒（</a:t>
            </a:r>
            <a:r>
              <a:rPr lang="en-US" altLang="zh-CN" sz="2800" dirty="0"/>
              <a:t>wakeup):</a:t>
            </a:r>
            <a:endParaRPr lang="en-US" altLang="zh-CN" sz="2800" dirty="0"/>
          </a:p>
          <a:p>
            <a:pPr marL="767080" lvl="1" algn="just" eaLnBrk="1" hangingPunct="1">
              <a:buClr>
                <a:schemeClr val="tx1"/>
              </a:buClr>
              <a:buSzTx/>
              <a:buFont typeface="Wingdings" panose="05000000000000000000" pitchFamily="2" charset="2"/>
            </a:pPr>
            <a:r>
              <a:rPr lang="zh-CN" altLang="en-US" sz="2800" b="1" dirty="0"/>
              <a:t>引起进程唤醒的事件：与阻塞的事件相反</a:t>
            </a:r>
            <a:endParaRPr lang="zh-CN" altLang="en-US" sz="2800" b="1" dirty="0"/>
          </a:p>
          <a:p>
            <a:pPr marL="1186180" lvl="2" algn="just" eaLnBrk="1" hangingPunct="1">
              <a:buClr>
                <a:schemeClr val="tx1"/>
              </a:buClr>
              <a:buFont typeface="Wingdings" panose="05000000000000000000" pitchFamily="2" charset="2"/>
            </a:pPr>
            <a:r>
              <a:rPr lang="zh-CN" altLang="en-US" sz="2800" dirty="0">
                <a:latin typeface="Times New Roman" panose="02020603050405020304" pitchFamily="18" charset="0"/>
              </a:rPr>
              <a:t>请求共享资源得到满足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marL="1186180" lvl="2" algn="just" eaLnBrk="1" hangingPunct="1">
              <a:buClr>
                <a:schemeClr val="tx1"/>
              </a:buClr>
              <a:buFont typeface="Wingdings" panose="05000000000000000000" pitchFamily="2" charset="2"/>
            </a:pPr>
            <a:r>
              <a:rPr lang="zh-CN" altLang="en-US" sz="2800" dirty="0">
                <a:latin typeface="Times New Roman" panose="02020603050405020304" pitchFamily="18" charset="0"/>
              </a:rPr>
              <a:t>等待的操作结束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marL="1186180" lvl="2" algn="just" eaLnBrk="1" hangingPunct="1">
              <a:buClr>
                <a:schemeClr val="tx1"/>
              </a:buClr>
              <a:buFont typeface="Wingdings" panose="05000000000000000000" pitchFamily="2" charset="2"/>
            </a:pPr>
            <a:r>
              <a:rPr lang="zh-CN" altLang="en-US" sz="2800" dirty="0">
                <a:latin typeface="Times New Roman" panose="02020603050405020304" pitchFamily="18" charset="0"/>
              </a:rPr>
              <a:t>需要的数据到达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marL="1186180" lvl="2" algn="just" eaLnBrk="1" hangingPunct="1">
              <a:buClr>
                <a:schemeClr val="tx1"/>
              </a:buClr>
              <a:buFont typeface="Wingdings" panose="05000000000000000000" pitchFamily="2" charset="2"/>
            </a:pPr>
            <a:r>
              <a:rPr lang="zh-CN" altLang="en-US" sz="2800" dirty="0">
                <a:latin typeface="Times New Roman" panose="02020603050405020304" pitchFamily="18" charset="0"/>
              </a:rPr>
              <a:t>新任务到达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marL="0" indent="0" algn="just" eaLnBrk="1" hangingPunct="1">
              <a:buClr>
                <a:schemeClr val="tx1"/>
              </a:buClr>
              <a:buSzPct val="80000"/>
              <a:buFont typeface="Wingdings" panose="05000000000000000000" pitchFamily="2" charset="2"/>
            </a:pPr>
            <a:r>
              <a:rPr lang="zh-CN" altLang="en-US" sz="2800" b="1" dirty="0"/>
              <a:t>进程唤醒的实现</a:t>
            </a:r>
            <a:endParaRPr lang="zh-CN" altLang="en-US" sz="2800" b="1" dirty="0"/>
          </a:p>
          <a:p>
            <a:pPr marL="767080" lvl="1" algn="just" eaLnBrk="1" hangingPunct="1">
              <a:buClr>
                <a:schemeClr val="tx1"/>
              </a:buClr>
              <a:buSzTx/>
              <a:buFont typeface="Wingdings" panose="05000000000000000000" pitchFamily="2" charset="2"/>
            </a:pPr>
            <a:r>
              <a:rPr lang="zh-CN" altLang="en-US" sz="2800" b="1" dirty="0"/>
              <a:t>主要任务：</a:t>
            </a:r>
            <a:r>
              <a:rPr lang="zh-CN" altLang="en-US" sz="2800" dirty="0"/>
              <a:t>将要唤醒进程的状态由</a:t>
            </a:r>
            <a:r>
              <a:rPr lang="zh-CN" altLang="en-US" sz="2800" dirty="0">
                <a:solidFill>
                  <a:srgbClr val="FF0000"/>
                </a:solidFill>
              </a:rPr>
              <a:t>阻塞</a:t>
            </a:r>
            <a:r>
              <a:rPr lang="zh-CN" altLang="en-US" sz="2800" dirty="0"/>
              <a:t>改为</a:t>
            </a:r>
            <a:r>
              <a:rPr lang="zh-CN" altLang="en-US" sz="2800" dirty="0">
                <a:solidFill>
                  <a:srgbClr val="FF0000"/>
                </a:solidFill>
              </a:rPr>
              <a:t>就绪</a:t>
            </a:r>
            <a:r>
              <a:rPr lang="zh-CN" altLang="en-US" sz="2800" dirty="0"/>
              <a:t>，并将其</a:t>
            </a:r>
            <a:r>
              <a:rPr lang="en-US" altLang="zh-CN" sz="2800" dirty="0"/>
              <a:t>PCB</a:t>
            </a:r>
            <a:r>
              <a:rPr lang="zh-CN" altLang="en-US" sz="2800" dirty="0"/>
              <a:t>从阻塞队列移入就绪队列。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8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38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38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38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38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38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38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8627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/>
          </p:cNvSpPr>
          <p:nvPr>
            <p:ph type="title"/>
          </p:nvPr>
        </p:nvSpPr>
        <p:spPr>
          <a:xfrm>
            <a:off x="2209800" y="714375"/>
            <a:ext cx="7772400" cy="547688"/>
          </a:xfrm>
        </p:spPr>
        <p:txBody>
          <a:bodyPr vert="horz" wrap="square" lIns="92075" tIns="46038" rIns="92075" bIns="46038" anchor="b" anchorCtr="0"/>
          <a:lstStyle/>
          <a:p>
            <a:pPr eaLnBrk="1" hangingPunct="1"/>
            <a:r>
              <a:rPr lang="en-US" altLang="zh-CN" dirty="0">
                <a:solidFill>
                  <a:srgbClr val="0000CC"/>
                </a:solidFill>
              </a:rPr>
              <a:t>2.3 </a:t>
            </a:r>
            <a:r>
              <a:rPr lang="zh-CN" altLang="en-US" dirty="0">
                <a:solidFill>
                  <a:srgbClr val="0000CC"/>
                </a:solidFill>
              </a:rPr>
              <a:t>进程控制</a:t>
            </a:r>
            <a:endParaRPr lang="zh-CN" altLang="zh-CN" dirty="0">
              <a:solidFill>
                <a:srgbClr val="0000CC"/>
              </a:solidFill>
            </a:endParaRPr>
          </a:p>
        </p:txBody>
      </p:sp>
      <p:sp>
        <p:nvSpPr>
          <p:cNvPr id="539651" name="Rectangle 3"/>
          <p:cNvSpPr>
            <a:spLocks noGrp="1"/>
          </p:cNvSpPr>
          <p:nvPr>
            <p:ph type="body" sz="half" idx="2"/>
          </p:nvPr>
        </p:nvSpPr>
        <p:spPr>
          <a:xfrm>
            <a:off x="2133600" y="1557338"/>
            <a:ext cx="8077200" cy="4751387"/>
          </a:xfrm>
        </p:spPr>
        <p:txBody>
          <a:bodyPr vert="horz" wrap="square" lIns="92075" tIns="46038" rIns="92075" bIns="46038" anchor="t" anchorCtr="0"/>
          <a:lstStyle/>
          <a:p>
            <a:pPr marL="767080" lvl="1" algn="just" eaLnBrk="1" hangingPunct="1">
              <a:lnSpc>
                <a:spcPct val="90000"/>
              </a:lnSpc>
              <a:buClr>
                <a:schemeClr val="tx1"/>
              </a:buClr>
              <a:buSzTx/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</a:rPr>
              <a:t>实现：</a:t>
            </a:r>
            <a:r>
              <a:rPr lang="en-US" altLang="zh-CN" sz="2800" dirty="0">
                <a:latin typeface="Times New Roman" panose="02020603050405020304" pitchFamily="18" charset="0"/>
              </a:rPr>
              <a:t>OS</a:t>
            </a:r>
            <a:r>
              <a:rPr lang="zh-CN" altLang="en-US" sz="2800" dirty="0">
                <a:latin typeface="Times New Roman" panose="02020603050405020304" pitchFamily="18" charset="0"/>
              </a:rPr>
              <a:t>内核的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Wakeup()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原语</a:t>
            </a:r>
            <a:r>
              <a:rPr lang="zh-CN" altLang="en-US" sz="2800" dirty="0">
                <a:latin typeface="Times New Roman" panose="02020603050405020304" pitchFamily="18" charset="0"/>
              </a:rPr>
              <a:t>实现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marL="767080" lvl="1" algn="just" eaLnBrk="1" hangingPunct="1">
              <a:lnSpc>
                <a:spcPct val="90000"/>
              </a:lnSpc>
              <a:buClr>
                <a:schemeClr val="tx1"/>
              </a:buClr>
              <a:buSzTx/>
              <a:buFont typeface="Wingdings" panose="05000000000000000000" pitchFamily="2" charset="2"/>
            </a:pPr>
            <a:r>
              <a:rPr lang="zh-CN" altLang="en-US" sz="2800" b="1" dirty="0"/>
              <a:t>算法描述：</a:t>
            </a:r>
            <a:endParaRPr lang="zh-CN" altLang="en-US" sz="2800" b="1" dirty="0"/>
          </a:p>
          <a:p>
            <a:pPr marL="0" indent="0" algn="just" eaLnBrk="1" hangingPunct="1">
              <a:lnSpc>
                <a:spcPct val="90000"/>
              </a:lnSpc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800" dirty="0" smtClean="0"/>
              <a:t>status Wakeup()</a:t>
            </a:r>
            <a:endParaRPr lang="en-US" altLang="zh-CN" sz="2800" dirty="0"/>
          </a:p>
          <a:p>
            <a:pPr marL="0" indent="0" algn="just" eaLnBrk="1" hangingPunct="1">
              <a:lnSpc>
                <a:spcPct val="90000"/>
              </a:lnSpc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800" dirty="0"/>
              <a:t>{  char wake_name[10];</a:t>
            </a:r>
            <a:endParaRPr lang="en-US" altLang="zh-CN" sz="2800" dirty="0"/>
          </a:p>
          <a:p>
            <a:pPr marL="0" indent="0" algn="just" eaLnBrk="1" hangingPunct="1">
              <a:lnSpc>
                <a:spcPct val="90000"/>
              </a:lnSpc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800" dirty="0"/>
              <a:t>   </a:t>
            </a:r>
            <a:r>
              <a:rPr lang="zh-CN" altLang="en-US" sz="2800" dirty="0"/>
              <a:t>获取唤醒进程的标识符</a:t>
            </a:r>
            <a:r>
              <a:rPr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altLang="zh-CN" sz="2800" dirty="0"/>
              <a:t>wake_name;</a:t>
            </a:r>
            <a:endParaRPr lang="en-US" altLang="zh-CN" sz="2800" dirty="0"/>
          </a:p>
          <a:p>
            <a:pPr marL="0" indent="0" algn="just" eaLnBrk="1" hangingPunct="1">
              <a:lnSpc>
                <a:spcPct val="90000"/>
              </a:lnSpc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800" dirty="0"/>
              <a:t>   </a:t>
            </a:r>
            <a:r>
              <a:rPr lang="en-US" altLang="zh-CN" sz="2800" dirty="0"/>
              <a:t>if(</a:t>
            </a:r>
            <a:r>
              <a:rPr lang="zh-CN" altLang="en-US" sz="2800" dirty="0"/>
              <a:t>阻塞队列中找到该进程的</a:t>
            </a:r>
            <a:r>
              <a:rPr lang="en-US" altLang="zh-CN" sz="2800" dirty="0"/>
              <a:t>PCB)</a:t>
            </a:r>
            <a:r>
              <a:rPr lang="zh-CN" altLang="en-US" sz="2800" dirty="0"/>
              <a:t>   </a:t>
            </a:r>
            <a:endParaRPr lang="en-US" altLang="zh-CN" sz="2800" dirty="0"/>
          </a:p>
          <a:p>
            <a:pPr marL="0" indent="0" algn="just" eaLnBrk="1" hangingPunct="1">
              <a:lnSpc>
                <a:spcPct val="90000"/>
              </a:lnSpc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800" dirty="0"/>
              <a:t>          </a:t>
            </a:r>
            <a:r>
              <a:rPr lang="en-US" altLang="zh-CN" sz="2800" dirty="0"/>
              <a:t>{ </a:t>
            </a:r>
            <a:r>
              <a:rPr lang="zh-CN" altLang="en-US" sz="2800" dirty="0"/>
              <a:t>将该进程的</a:t>
            </a:r>
            <a:r>
              <a:rPr lang="en-US" altLang="zh-CN" sz="2800" dirty="0"/>
              <a:t>PCB</a:t>
            </a:r>
            <a:r>
              <a:rPr lang="zh-CN" altLang="en-US" sz="2800" dirty="0"/>
              <a:t>从阻塞队列中移出；</a:t>
            </a:r>
            <a:endParaRPr lang="zh-CN" altLang="en-US" sz="2800" dirty="0"/>
          </a:p>
          <a:p>
            <a:pPr marL="0" indent="0" algn="just" eaLnBrk="1" hangingPunct="1">
              <a:lnSpc>
                <a:spcPct val="90000"/>
              </a:lnSpc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800" dirty="0"/>
              <a:t>            将</a:t>
            </a:r>
            <a:r>
              <a:rPr lang="en-US" altLang="zh-CN" sz="2800" dirty="0"/>
              <a:t>PCB</a:t>
            </a:r>
            <a:r>
              <a:rPr lang="zh-CN" altLang="en-US" sz="2800" dirty="0"/>
              <a:t>中的状态修改为“就绪” 状态；</a:t>
            </a:r>
            <a:endParaRPr lang="zh-CN" altLang="en-US" sz="2800" dirty="0"/>
          </a:p>
          <a:p>
            <a:pPr marL="0" indent="0" algn="just" eaLnBrk="1" hangingPunct="1">
              <a:lnSpc>
                <a:spcPct val="90000"/>
              </a:lnSpc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800" dirty="0"/>
              <a:t>            将该</a:t>
            </a:r>
            <a:r>
              <a:rPr lang="en-US" altLang="zh-CN" sz="2800" dirty="0"/>
              <a:t>PCB</a:t>
            </a:r>
            <a:r>
              <a:rPr lang="zh-CN" altLang="en-US" sz="2800" dirty="0"/>
              <a:t>插入就绪队列</a:t>
            </a:r>
            <a:r>
              <a:rPr lang="en-US" altLang="zh-CN" sz="2800" dirty="0"/>
              <a:t>;}</a:t>
            </a:r>
            <a:endParaRPr lang="en-US" altLang="zh-CN" sz="2800" dirty="0"/>
          </a:p>
          <a:p>
            <a:pPr marL="0" indent="0" algn="just" eaLnBrk="1" hangingPunct="1">
              <a:lnSpc>
                <a:spcPct val="90000"/>
              </a:lnSpc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800" dirty="0"/>
              <a:t>   else printf(“no this PCB!”)}</a:t>
            </a:r>
            <a:endParaRPr lang="en-US" altLang="zh-CN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9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9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39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39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39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39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39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39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39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9651" grpId="0" uiExpand="1" build="p"/>
    </p:bldLst>
  </p:timing>
</p:sld>
</file>

<file path=ppt/tags/tag1.xml><?xml version="1.0" encoding="utf-8"?>
<p:tagLst xmlns:p="http://schemas.openxmlformats.org/presentationml/2006/main">
  <p:tag name="COMMONDATA" val="eyJoZGlkIjoiYzJlZWY4MzUzZWZhM2MzY2E5NzViMGM0MzA5ZjhkOGUifQ=="/>
</p:tagLst>
</file>

<file path=ppt/theme/theme1.xml><?xml version="1.0" encoding="utf-8"?>
<a:theme xmlns:a="http://schemas.openxmlformats.org/drawingml/2006/main" name="3_个人主页 (标准)">
  <a:themeElements>
    <a:clrScheme name="个人主页 (标准) 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FFFF"/>
      </a:accent1>
      <a:accent2>
        <a:srgbClr val="336699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5C8A"/>
      </a:accent6>
      <a:hlink>
        <a:srgbClr val="EAEAEA"/>
      </a:hlink>
      <a:folHlink>
        <a:srgbClr val="A73737"/>
      </a:folHlink>
    </a:clrScheme>
    <a:fontScheme name="个人主页 (标准)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CN" sz="4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CN" sz="4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个人主页 (标准) 1">
        <a:dk1>
          <a:srgbClr val="000000"/>
        </a:dk1>
        <a:lt1>
          <a:srgbClr val="FFFFFF"/>
        </a:lt1>
        <a:dk2>
          <a:srgbClr val="1E2E53"/>
        </a:dk2>
        <a:lt2>
          <a:srgbClr val="FFCC00"/>
        </a:lt2>
        <a:accent1>
          <a:srgbClr val="FF9933"/>
        </a:accent1>
        <a:accent2>
          <a:srgbClr val="336699"/>
        </a:accent2>
        <a:accent3>
          <a:srgbClr val="ABADB3"/>
        </a:accent3>
        <a:accent4>
          <a:srgbClr val="DADADA"/>
        </a:accent4>
        <a:accent5>
          <a:srgbClr val="FFCAAD"/>
        </a:accent5>
        <a:accent6>
          <a:srgbClr val="2D5C8A"/>
        </a:accent6>
        <a:hlink>
          <a:srgbClr val="EAEAEA"/>
        </a:hlink>
        <a:folHlink>
          <a:srgbClr val="A737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个人主页 (标准) 2">
        <a:dk1>
          <a:srgbClr val="663300"/>
        </a:dk1>
        <a:lt1>
          <a:srgbClr val="FFFFFF"/>
        </a:lt1>
        <a:dk2>
          <a:srgbClr val="996633"/>
        </a:dk2>
        <a:lt2>
          <a:srgbClr val="868686"/>
        </a:lt2>
        <a:accent1>
          <a:srgbClr val="FF9900"/>
        </a:accent1>
        <a:accent2>
          <a:srgbClr val="CC6600"/>
        </a:accent2>
        <a:accent3>
          <a:srgbClr val="FFFFFF"/>
        </a:accent3>
        <a:accent4>
          <a:srgbClr val="562A00"/>
        </a:accent4>
        <a:accent5>
          <a:srgbClr val="FFCAAA"/>
        </a:accent5>
        <a:accent6>
          <a:srgbClr val="B95C00"/>
        </a:accent6>
        <a:hlink>
          <a:srgbClr val="FFCC00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4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FF"/>
        </a:accent1>
        <a:accent2>
          <a:srgbClr val="336699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5C8A"/>
        </a:accent6>
        <a:hlink>
          <a:srgbClr val="EAEAEA"/>
        </a:hlink>
        <a:folHlink>
          <a:srgbClr val="A7373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2345</Words>
  <Application>WPS 演示</Application>
  <PresentationFormat>宽屏</PresentationFormat>
  <Paragraphs>142</Paragraphs>
  <Slides>12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宋体</vt:lpstr>
      <vt:lpstr>Wingdings</vt:lpstr>
      <vt:lpstr>Wingdings</vt:lpstr>
      <vt:lpstr>微软雅黑</vt:lpstr>
      <vt:lpstr>Calibri</vt:lpstr>
      <vt:lpstr>Arial Unicode MS</vt:lpstr>
      <vt:lpstr>Times New Roman</vt:lpstr>
      <vt:lpstr>3_个人主页 (标准)</vt:lpstr>
      <vt:lpstr>2.3 进程控制</vt:lpstr>
      <vt:lpstr>2.3 进程控制</vt:lpstr>
      <vt:lpstr>2.3 进程控制</vt:lpstr>
      <vt:lpstr>2.3 进程控制</vt:lpstr>
      <vt:lpstr>2.3 进程控制</vt:lpstr>
      <vt:lpstr>2.3 进程控制</vt:lpstr>
      <vt:lpstr>2.3 进程控制</vt:lpstr>
      <vt:lpstr>2.3 进程控制</vt:lpstr>
      <vt:lpstr>2.3 进程控制</vt:lpstr>
      <vt:lpstr>2.3 进程控制</vt:lpstr>
      <vt:lpstr>2.3 进程控制</vt:lpstr>
      <vt:lpstr>2.3 进程控制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Alice</cp:lastModifiedBy>
  <cp:revision>177</cp:revision>
  <dcterms:created xsi:type="dcterms:W3CDTF">2019-06-19T02:08:00Z</dcterms:created>
  <dcterms:modified xsi:type="dcterms:W3CDTF">2022-10-16T12:06:45Z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2052-11.1.0.12598</vt:lpwstr>
  </property>
  <property fmtid="{D5CDD505-2E9C-101B-9397-08002B2CF9AE}" pid="3" name="ICV">
    <vt:lpwstr>51D87847CFC34950852293BEF1C5FD31</vt:lpwstr>
  </property>
</Properties>
</file>