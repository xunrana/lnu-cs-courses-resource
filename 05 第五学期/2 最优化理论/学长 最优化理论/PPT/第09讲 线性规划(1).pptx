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7" r:id="rId41"/>
    <p:sldId id="296" r:id="rId42"/>
    <p:sldId id="298" r:id="rId43"/>
    <p:sldId id="299" r:id="rId44"/>
    <p:sldId id="300" r:id="rId45"/>
    <p:sldId id="301" r:id="rId46"/>
    <p:sldId id="302" r:id="rId47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278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7"/>
            <p14:sldId id="296"/>
            <p14:sldId id="298"/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99"/>
    <a:srgbClr val="1C0CB4"/>
    <a:srgbClr val="FFFF66"/>
    <a:srgbClr val="000099"/>
    <a:srgbClr val="30A040"/>
    <a:srgbClr val="CC3399"/>
    <a:srgbClr val="FFFFFF"/>
    <a:srgbClr val="0000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79" autoAdjust="0"/>
    <p:restoredTop sz="93826" autoAdjust="0"/>
  </p:normalViewPr>
  <p:slideViewPr>
    <p:cSldViewPr>
      <p:cViewPr varScale="1">
        <p:scale>
          <a:sx n="67" d="100"/>
          <a:sy n="67" d="100"/>
        </p:scale>
        <p:origin x="804" y="5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2022年10月21日星期五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2022年10月21日星期五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1.wmf"/><Relationship Id="rId3" Type="http://schemas.openxmlformats.org/officeDocument/2006/relationships/image" Target="../media/image20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23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26.wmf"/><Relationship Id="rId5" Type="http://schemas.openxmlformats.org/officeDocument/2006/relationships/image" Target="../media/image30.png"/><Relationship Id="rId10" Type="http://schemas.openxmlformats.org/officeDocument/2006/relationships/oleObject" Target="../embeddings/oleObject32.bin"/><Relationship Id="rId9" Type="http://schemas.openxmlformats.org/officeDocument/2006/relationships/image" Target="../media/image2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oleObject" Target="../embeddings/oleObject37.bin"/><Relationship Id="rId3" Type="http://schemas.openxmlformats.org/officeDocument/2006/relationships/image" Target="../media/image36.png"/><Relationship Id="rId7" Type="http://schemas.openxmlformats.org/officeDocument/2006/relationships/image" Target="../media/image28.wmf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29.wmf"/><Relationship Id="rId14" Type="http://schemas.openxmlformats.org/officeDocument/2006/relationships/image" Target="../media/image3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8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3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38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5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41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5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45.wmf"/><Relationship Id="rId3" Type="http://schemas.openxmlformats.org/officeDocument/2006/relationships/image" Target="../media/image41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64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44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4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6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36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4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3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4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52.wmf"/><Relationship Id="rId3" Type="http://schemas.openxmlformats.org/officeDocument/2006/relationships/image" Target="../media/image3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81.bin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51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4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83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86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8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54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56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53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4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40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58.wmf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60.wmf"/><Relationship Id="rId16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57.wmf"/><Relationship Id="rId5" Type="http://schemas.openxmlformats.org/officeDocument/2006/relationships/image" Target="../media/image33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2.png"/><Relationship Id="rId14" Type="http://schemas.openxmlformats.org/officeDocument/2006/relationships/oleObject" Target="../embeddings/oleObject9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33.wmf"/><Relationship Id="rId10" Type="http://schemas.openxmlformats.org/officeDocument/2006/relationships/image" Target="../media/image63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64.wmf"/><Relationship Id="rId3" Type="http://schemas.openxmlformats.org/officeDocument/2006/relationships/image" Target="../media/image58.png"/><Relationship Id="rId7" Type="http://schemas.openxmlformats.org/officeDocument/2006/relationships/image" Target="../media/image59.png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103.bin"/><Relationship Id="rId16" Type="http://schemas.openxmlformats.org/officeDocument/2006/relationships/image" Target="../media/image6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oleObject" Target="../embeddings/oleObject100.bin"/><Relationship Id="rId5" Type="http://schemas.openxmlformats.org/officeDocument/2006/relationships/image" Target="../media/image33.wmf"/><Relationship Id="rId15" Type="http://schemas.openxmlformats.org/officeDocument/2006/relationships/oleObject" Target="../embeddings/oleObject102.bin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1.png"/><Relationship Id="rId14" Type="http://schemas.openxmlformats.org/officeDocument/2006/relationships/image" Target="../media/image6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8.png"/><Relationship Id="rId7" Type="http://schemas.openxmlformats.org/officeDocument/2006/relationships/image" Target="../media/image59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0.png"/><Relationship Id="rId5" Type="http://schemas.openxmlformats.org/officeDocument/2006/relationships/image" Target="../media/image33.w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8.png"/><Relationship Id="rId7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3.png"/><Relationship Id="rId5" Type="http://schemas.openxmlformats.org/officeDocument/2006/relationships/image" Target="../media/image33.w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33.wmf"/><Relationship Id="rId10" Type="http://schemas.openxmlformats.org/officeDocument/2006/relationships/image" Target="../media/image74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5.bin"/><Relationship Id="rId3" Type="http://schemas.openxmlformats.org/officeDocument/2006/relationships/image" Target="../media/image77.png"/><Relationship Id="rId7" Type="http://schemas.openxmlformats.org/officeDocument/2006/relationships/image" Target="../media/image60.png"/><Relationship Id="rId12" Type="http://schemas.openxmlformats.org/officeDocument/2006/relationships/image" Target="../media/image6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oleObject" Target="../embeddings/oleObject104.bin"/><Relationship Id="rId5" Type="http://schemas.openxmlformats.org/officeDocument/2006/relationships/image" Target="../media/image33.wmf"/><Relationship Id="rId10" Type="http://schemas.openxmlformats.org/officeDocument/2006/relationships/image" Target="../media/image74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2.png"/><Relationship Id="rId14" Type="http://schemas.openxmlformats.org/officeDocument/2006/relationships/image" Target="../media/image6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792566" y="3832178"/>
            <a:ext cx="4570482" cy="1138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线性规划（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3200" dirty="0"/>
              <a:t>单纯形法与单纯形表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2022年10月21日星期五</a:t>
            </a:fld>
            <a:endParaRPr lang="zh-CN" alt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线性规划的标准形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线性规划的可行解与基本可行解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单纯形法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单纯形表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人工变量法（大</a:t>
            </a:r>
            <a:r>
              <a:rPr lang="en-US" altLang="zh-CN" b="0" dirty="0"/>
              <a:t>M</a:t>
            </a:r>
            <a:r>
              <a:rPr lang="zh-CN" altLang="en-US" b="0" dirty="0"/>
              <a:t>法与两段</a:t>
            </a:r>
            <a:r>
              <a:rPr lang="zh-CN" altLang="en-US" b="0"/>
              <a:t>法）</a:t>
            </a:r>
            <a:endParaRPr lang="en-US" altLang="zh-CN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线性规划的定义</a:t>
            </a:r>
            <a:endParaRPr lang="en-US" altLang="zh-CN" dirty="0"/>
          </a:p>
          <a:p>
            <a:pPr lvl="1"/>
            <a:r>
              <a:rPr lang="zh-CN" altLang="en-US" sz="2400" dirty="0"/>
              <a:t>定义：如果一个约束优化问题中，</a:t>
            </a:r>
            <a:r>
              <a:rPr lang="zh-CN" altLang="en-US" sz="2400" dirty="0">
                <a:solidFill>
                  <a:srgbClr val="C00000"/>
                </a:solidFill>
              </a:rPr>
              <a:t>目标函数和约束条件都是线性</a:t>
            </a:r>
            <a:r>
              <a:rPr lang="zh-CN" altLang="en-US" sz="2400" dirty="0"/>
              <a:t>的（所有变量都是一次项），那么这就是一个</a:t>
            </a:r>
            <a:r>
              <a:rPr lang="zh-CN" altLang="en-US" sz="2400" dirty="0">
                <a:solidFill>
                  <a:srgbClr val="0000FF"/>
                </a:solidFill>
              </a:rPr>
              <a:t>线性规划问题</a:t>
            </a:r>
            <a:r>
              <a:rPr lang="zh-CN" altLang="en-US" sz="2400" dirty="0"/>
              <a:t>。</a:t>
            </a:r>
            <a:r>
              <a:rPr lang="en-US" altLang="zh-CN" sz="2400" dirty="0"/>
              <a:t>  </a:t>
            </a:r>
            <a:r>
              <a:rPr lang="en-US" altLang="zh-CN" sz="2800" dirty="0"/>
              <a:t>                       </a:t>
            </a:r>
            <a:endParaRPr lang="zh-CN" altLang="en-US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FA88257-4D60-4084-B927-DABAA9DD8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760895"/>
              </p:ext>
            </p:extLst>
          </p:nvPr>
        </p:nvGraphicFramePr>
        <p:xfrm>
          <a:off x="1424608" y="2699300"/>
          <a:ext cx="6729412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87520" imgH="1422360" progId="Equation.DSMT4">
                  <p:embed/>
                </p:oleObj>
              </mc:Choice>
              <mc:Fallback>
                <p:oleObj name="Equation" r:id="rId2" imgW="2387520" imgH="1422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4608" y="2699300"/>
                        <a:ext cx="6729412" cy="401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71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：（</a:t>
            </a:r>
            <a:r>
              <a:rPr lang="en-US" altLang="zh-CN" dirty="0"/>
              <a:t>P9</a:t>
            </a:r>
            <a:r>
              <a:rPr lang="zh-CN" altLang="en-US" dirty="0"/>
              <a:t>例</a:t>
            </a:r>
            <a:r>
              <a:rPr lang="en-US" altLang="zh-CN" dirty="0"/>
              <a:t>1-6</a:t>
            </a:r>
            <a:r>
              <a:rPr lang="zh-CN" altLang="en-US" dirty="0"/>
              <a:t>）线性规划问题</a:t>
            </a:r>
            <a:r>
              <a:rPr lang="en-US" altLang="zh-CN" sz="2800" dirty="0"/>
              <a:t> </a:t>
            </a:r>
          </a:p>
          <a:p>
            <a:pPr lvl="1"/>
            <a:r>
              <a:rPr lang="zh-CN" altLang="en-US" dirty="0"/>
              <a:t>求解下列线性规划问题</a:t>
            </a:r>
            <a:r>
              <a:rPr lang="en-US" altLang="zh-CN" dirty="0"/>
              <a:t>                       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F7DF08B-321B-45BF-835A-9BE172D32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841424"/>
              </p:ext>
            </p:extLst>
          </p:nvPr>
        </p:nvGraphicFramePr>
        <p:xfrm>
          <a:off x="1712640" y="2564904"/>
          <a:ext cx="5405437" cy="336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1193760" progId="Equation.DSMT4">
                  <p:embed/>
                </p:oleObj>
              </mc:Choice>
              <mc:Fallback>
                <p:oleObj name="Equation" r:id="rId2" imgW="191736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FA88257-4D60-4084-B927-DABAA9DD8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2640" y="2564904"/>
                        <a:ext cx="5405437" cy="336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857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线性规划标准形</a:t>
            </a:r>
            <a:r>
              <a:rPr lang="en-US" altLang="zh-CN" sz="2800" dirty="0"/>
              <a:t> </a:t>
            </a:r>
          </a:p>
          <a:p>
            <a:pPr lvl="1"/>
            <a:r>
              <a:rPr lang="zh-CN" altLang="en-US" sz="2400" dirty="0"/>
              <a:t>线性规划问题求解主要方法是单纯形法，核心思想是将约束中的不等式变换成等式约束（除变量正负约束外）。因此，标准形可以表述为：</a:t>
            </a:r>
            <a:r>
              <a:rPr lang="en-US" altLang="zh-CN" sz="2400" dirty="0"/>
              <a:t> </a:t>
            </a:r>
            <a:r>
              <a:rPr lang="en-US" altLang="zh-CN" sz="2800" dirty="0"/>
              <a:t>   </a:t>
            </a:r>
            <a:r>
              <a:rPr lang="en-US" altLang="zh-CN" dirty="0"/>
              <a:t>                   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449072C-3BA4-4CCC-A5BC-1C3787793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871015"/>
              </p:ext>
            </p:extLst>
          </p:nvPr>
        </p:nvGraphicFramePr>
        <p:xfrm>
          <a:off x="1712640" y="2667040"/>
          <a:ext cx="7802562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1422360" progId="Equation.DSMT4">
                  <p:embed/>
                </p:oleObj>
              </mc:Choice>
              <mc:Fallback>
                <p:oleObj name="Equation" r:id="rId2" imgW="2768400" imgH="1422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FA88257-4D60-4084-B927-DABAA9DD8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2640" y="2667040"/>
                        <a:ext cx="7802562" cy="401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FCA4D0-34BD-4852-BF37-02755BE3A487}"/>
                  </a:ext>
                </a:extLst>
              </p:cNvPr>
              <p:cNvSpPr txBox="1"/>
              <p:nvPr/>
            </p:nvSpPr>
            <p:spPr>
              <a:xfrm>
                <a:off x="17400" y="3663436"/>
                <a:ext cx="1767248" cy="2308324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</a:rPr>
                  <a:t>是约束方程的个数。</a:t>
                </a:r>
                <a:endParaRPr lang="en-US" altLang="zh-CN" sz="2400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</a:rPr>
                  <a:t>是变量的个数。</a:t>
                </a:r>
                <a:endParaRPr lang="en-US" altLang="zh-CN" sz="2400" dirty="0">
                  <a:solidFill>
                    <a:srgbClr val="C00000"/>
                  </a:solidFill>
                </a:endParaRPr>
              </a:p>
              <a:p>
                <a:r>
                  <a:rPr lang="zh-CN" altLang="en-US" sz="2400" dirty="0">
                    <a:solidFill>
                      <a:srgbClr val="C00000"/>
                    </a:solidFill>
                  </a:rPr>
                  <a:t>满足：</a:t>
                </a:r>
                <a:endParaRPr lang="en-US" altLang="zh-CN" sz="2400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&lt;=</m:t>
                      </m:r>
                      <m:r>
                        <a:rPr lang="en-US" altLang="zh-CN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FCA4D0-34BD-4852-BF37-02755BE3A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0" y="3663436"/>
                <a:ext cx="1767248" cy="2308324"/>
              </a:xfrm>
              <a:prstGeom prst="rect">
                <a:avLst/>
              </a:prstGeom>
              <a:blipFill>
                <a:blip r:embed="rId5"/>
                <a:stretch>
                  <a:fillRect l="-5137" t="-1837" r="-13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51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449072C-3BA4-4CCC-A5BC-1C3787793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876690"/>
              </p:ext>
            </p:extLst>
          </p:nvPr>
        </p:nvGraphicFramePr>
        <p:xfrm>
          <a:off x="58044" y="1163402"/>
          <a:ext cx="6164865" cy="316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1422360" progId="Equation.DSMT4">
                  <p:embed/>
                </p:oleObj>
              </mc:Choice>
              <mc:Fallback>
                <p:oleObj name="Equation" r:id="rId2" imgW="2768400" imgH="1422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449072C-3BA4-4CCC-A5BC-1C378779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044" y="1163402"/>
                        <a:ext cx="6164865" cy="3168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40207FE-9A1F-409F-B702-908061910037}"/>
              </a:ext>
            </a:extLst>
          </p:cNvPr>
          <p:cNvSpPr txBox="1"/>
          <p:nvPr/>
        </p:nvSpPr>
        <p:spPr>
          <a:xfrm>
            <a:off x="192761" y="531475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1F1C1F9-C39D-4307-8BD8-1ED05F62E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971518"/>
              </p:ext>
            </p:extLst>
          </p:nvPr>
        </p:nvGraphicFramePr>
        <p:xfrm>
          <a:off x="1019175" y="4576763"/>
          <a:ext cx="3732213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160" imgH="939600" progId="Equation.DSMT4">
                  <p:embed/>
                </p:oleObj>
              </mc:Choice>
              <mc:Fallback>
                <p:oleObj name="Equation" r:id="rId4" imgW="1676160" imgH="939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449072C-3BA4-4CCC-A5BC-1C378779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9175" y="4576763"/>
                        <a:ext cx="3732213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9DA820A-5E27-49AE-9450-6724B35527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36653"/>
              </p:ext>
            </p:extLst>
          </p:nvPr>
        </p:nvGraphicFramePr>
        <p:xfrm>
          <a:off x="4925786" y="4576273"/>
          <a:ext cx="1243013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939600" progId="Equation.DSMT4">
                  <p:embed/>
                </p:oleObj>
              </mc:Choice>
              <mc:Fallback>
                <p:oleObj name="Equation" r:id="rId6" imgW="55872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1F1C1F9-C39D-4307-8BD8-1ED05F62E5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25786" y="4576273"/>
                        <a:ext cx="1243013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A5C5A9D-CBEF-446C-9398-965570093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727386"/>
              </p:ext>
            </p:extLst>
          </p:nvPr>
        </p:nvGraphicFramePr>
        <p:xfrm>
          <a:off x="6258239" y="4576272"/>
          <a:ext cx="1355725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939600" progId="Equation.DSMT4">
                  <p:embed/>
                </p:oleObj>
              </mc:Choice>
              <mc:Fallback>
                <p:oleObj name="Equation" r:id="rId8" imgW="609480" imgH="939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9DA820A-5E27-49AE-9450-6724B35527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58239" y="4576272"/>
                        <a:ext cx="1355725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0FA3AD9-3A88-45A4-B378-CEA8A120D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55862"/>
              </p:ext>
            </p:extLst>
          </p:nvPr>
        </p:nvGraphicFramePr>
        <p:xfrm>
          <a:off x="7750175" y="4576763"/>
          <a:ext cx="1187450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939600" progId="Equation.DSMT4">
                  <p:embed/>
                </p:oleObj>
              </mc:Choice>
              <mc:Fallback>
                <p:oleObj name="Equation" r:id="rId10" imgW="533160" imgH="939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A5C5A9D-CBEF-446C-9398-965570093B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50175" y="4576763"/>
                        <a:ext cx="1187450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743B38E-592D-4AF6-AEB5-948BAE0847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851406"/>
              </p:ext>
            </p:extLst>
          </p:nvPr>
        </p:nvGraphicFramePr>
        <p:xfrm>
          <a:off x="6497761" y="1926840"/>
          <a:ext cx="327977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73120" imgH="736560" progId="Equation.DSMT4">
                  <p:embed/>
                </p:oleObj>
              </mc:Choice>
              <mc:Fallback>
                <p:oleObj name="Equation" r:id="rId12" imgW="147312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449072C-3BA4-4CCC-A5BC-1C378779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97761" y="1926840"/>
                        <a:ext cx="3279775" cy="1641475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箭头: 右 6">
            <a:extLst>
              <a:ext uri="{FF2B5EF4-FFF2-40B4-BE49-F238E27FC236}">
                <a16:creationId xmlns:a16="http://schemas.microsoft.com/office/drawing/2014/main" id="{2EC50DE7-F963-4E8D-B0B9-9ACC74895A50}"/>
              </a:ext>
            </a:extLst>
          </p:cNvPr>
          <p:cNvSpPr/>
          <p:nvPr/>
        </p:nvSpPr>
        <p:spPr bwMode="auto">
          <a:xfrm>
            <a:off x="5745088" y="2614669"/>
            <a:ext cx="666300" cy="5591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思想气泡: 云 13">
            <a:extLst>
              <a:ext uri="{FF2B5EF4-FFF2-40B4-BE49-F238E27FC236}">
                <a16:creationId xmlns:a16="http://schemas.microsoft.com/office/drawing/2014/main" id="{17237A9B-C19D-4C66-AFBE-5F02FB3DAF6A}"/>
              </a:ext>
            </a:extLst>
          </p:cNvPr>
          <p:cNvSpPr/>
          <p:nvPr/>
        </p:nvSpPr>
        <p:spPr bwMode="auto">
          <a:xfrm>
            <a:off x="3896870" y="3759909"/>
            <a:ext cx="5951086" cy="754518"/>
          </a:xfrm>
          <a:prstGeom prst="cloudCallout">
            <a:avLst>
              <a:gd name="adj1" fmla="val -52884"/>
              <a:gd name="adj2" fmla="val 92701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A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是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行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列的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系数矩阵</a:t>
            </a:r>
          </a:p>
        </p:txBody>
      </p:sp>
    </p:spTree>
    <p:extLst>
      <p:ext uri="{BB962C8B-B14F-4D97-AF65-F5344CB8AC3E}">
        <p14:creationId xmlns:p14="http://schemas.microsoft.com/office/powerpoint/2010/main" val="413026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线性规划标准形</a:t>
            </a:r>
            <a:r>
              <a:rPr lang="en-US" altLang="zh-CN" sz="2800" dirty="0"/>
              <a:t> </a:t>
            </a:r>
          </a:p>
          <a:p>
            <a:pPr lvl="1"/>
            <a:r>
              <a:rPr lang="zh-CN" altLang="en-US" sz="2400" dirty="0"/>
              <a:t>为了后续的计算，线性规划问题通常都需要将其化为标准形：</a:t>
            </a:r>
            <a:r>
              <a:rPr lang="en-US" altLang="zh-CN" sz="2400" dirty="0"/>
              <a:t> </a:t>
            </a:r>
            <a:r>
              <a:rPr lang="en-US" altLang="zh-CN" sz="2800" dirty="0"/>
              <a:t>   </a:t>
            </a:r>
            <a:r>
              <a:rPr lang="en-US" altLang="zh-CN" dirty="0"/>
              <a:t>                   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449072C-3BA4-4CCC-A5BC-1C3787793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826843"/>
              </p:ext>
            </p:extLst>
          </p:nvPr>
        </p:nvGraphicFramePr>
        <p:xfrm>
          <a:off x="1051719" y="2466720"/>
          <a:ext cx="7802562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1422360" progId="Equation.DSMT4">
                  <p:embed/>
                </p:oleObj>
              </mc:Choice>
              <mc:Fallback>
                <p:oleObj name="Equation" r:id="rId2" imgW="2768400" imgH="1422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449072C-3BA4-4CCC-A5BC-1C378779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1719" y="2466720"/>
                        <a:ext cx="7802562" cy="401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174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线性规划标准形</a:t>
            </a:r>
            <a:endParaRPr lang="en-US" altLang="zh-CN" dirty="0"/>
          </a:p>
          <a:p>
            <a:pPr lvl="1"/>
            <a:r>
              <a:rPr lang="zh-CN" altLang="en-US" dirty="0"/>
              <a:t>转换原则：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0DA036-AA6E-4E50-9B02-790AD16421CD}"/>
              </a:ext>
            </a:extLst>
          </p:cNvPr>
          <p:cNvSpPr txBox="1"/>
          <p:nvPr/>
        </p:nvSpPr>
        <p:spPr>
          <a:xfrm>
            <a:off x="128465" y="2815260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400" dirty="0">
                <a:solidFill>
                  <a:srgbClr val="0000FF"/>
                </a:solidFill>
              </a:rPr>
              <a:t>将</a:t>
            </a:r>
            <a:r>
              <a:rPr lang="en-US" altLang="zh-CN" sz="2400" dirty="0">
                <a:solidFill>
                  <a:srgbClr val="0000FF"/>
                </a:solidFill>
              </a:rPr>
              <a:t>max</a:t>
            </a:r>
            <a:r>
              <a:rPr lang="zh-CN" altLang="en-US" sz="2400" dirty="0">
                <a:solidFill>
                  <a:srgbClr val="0000FF"/>
                </a:solidFill>
              </a:rPr>
              <a:t>问题转换为</a:t>
            </a:r>
            <a:r>
              <a:rPr lang="en-US" altLang="zh-CN" sz="2400" dirty="0">
                <a:solidFill>
                  <a:srgbClr val="0000FF"/>
                </a:solidFill>
              </a:rPr>
              <a:t>min</a:t>
            </a:r>
            <a:r>
              <a:rPr lang="zh-CN" altLang="en-US" sz="2400" dirty="0">
                <a:solidFill>
                  <a:srgbClr val="0000FF"/>
                </a:solidFill>
              </a:rPr>
              <a:t>问题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dirty="0"/>
              <a:t>原目标函数添加一个负号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D2091CA-CD17-42A4-A665-8A0F91813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811112"/>
              </p:ext>
            </p:extLst>
          </p:nvPr>
        </p:nvGraphicFramePr>
        <p:xfrm>
          <a:off x="5601072" y="1124743"/>
          <a:ext cx="3816424" cy="2259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939600" progId="Equation.DSMT4">
                  <p:embed/>
                </p:oleObj>
              </mc:Choice>
              <mc:Fallback>
                <p:oleObj name="Equation" r:id="rId2" imgW="15872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01072" y="1124743"/>
                        <a:ext cx="3816424" cy="2259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D435052-51B9-4BC9-AB18-91BC431E5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500366"/>
              </p:ext>
            </p:extLst>
          </p:nvPr>
        </p:nvGraphicFramePr>
        <p:xfrm>
          <a:off x="5601072" y="1125053"/>
          <a:ext cx="39370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939600" progId="Equation.DSMT4">
                  <p:embed/>
                </p:oleObj>
              </mc:Choice>
              <mc:Fallback>
                <p:oleObj name="Equation" r:id="rId4" imgW="1638000" imgH="939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D2091CA-CD17-42A4-A665-8A0F91813F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1072" y="1125053"/>
                        <a:ext cx="3937000" cy="225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834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线性规划标准形</a:t>
            </a:r>
            <a:endParaRPr lang="en-US" altLang="zh-CN" dirty="0"/>
          </a:p>
          <a:p>
            <a:pPr lvl="1"/>
            <a:r>
              <a:rPr lang="zh-CN" altLang="en-US" dirty="0"/>
              <a:t>转换原则：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0DA036-AA6E-4E50-9B02-790AD16421CD}"/>
              </a:ext>
            </a:extLst>
          </p:cNvPr>
          <p:cNvSpPr txBox="1"/>
          <p:nvPr/>
        </p:nvSpPr>
        <p:spPr>
          <a:xfrm>
            <a:off x="128465" y="2815260"/>
            <a:ext cx="89289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400" dirty="0">
                <a:solidFill>
                  <a:srgbClr val="0000FF"/>
                </a:solidFill>
              </a:rPr>
              <a:t>将</a:t>
            </a:r>
            <a:r>
              <a:rPr lang="en-US" altLang="zh-CN" sz="2400" dirty="0">
                <a:solidFill>
                  <a:srgbClr val="0000FF"/>
                </a:solidFill>
              </a:rPr>
              <a:t>max</a:t>
            </a:r>
            <a:r>
              <a:rPr lang="zh-CN" altLang="en-US" sz="2400" dirty="0">
                <a:solidFill>
                  <a:srgbClr val="0000FF"/>
                </a:solidFill>
              </a:rPr>
              <a:t>问题转换为</a:t>
            </a:r>
            <a:r>
              <a:rPr lang="en-US" altLang="zh-CN" sz="2400" dirty="0">
                <a:solidFill>
                  <a:srgbClr val="0000FF"/>
                </a:solidFill>
              </a:rPr>
              <a:t>min</a:t>
            </a:r>
            <a:r>
              <a:rPr lang="zh-CN" altLang="en-US" sz="2400" dirty="0">
                <a:solidFill>
                  <a:srgbClr val="0000FF"/>
                </a:solidFill>
              </a:rPr>
              <a:t>问题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dirty="0"/>
              <a:t>原目标函数添加一个负号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2400" dirty="0"/>
              <a:t> </a:t>
            </a:r>
            <a:r>
              <a:rPr lang="zh-CN" altLang="en-US" sz="2400" dirty="0"/>
              <a:t>将</a:t>
            </a:r>
            <a:r>
              <a:rPr lang="zh-CN" altLang="en-US" sz="2400" dirty="0">
                <a:solidFill>
                  <a:srgbClr val="C00000"/>
                </a:solidFill>
              </a:rPr>
              <a:t>大于等于</a:t>
            </a:r>
            <a:r>
              <a:rPr lang="zh-CN" altLang="en-US" sz="2400" dirty="0"/>
              <a:t>形式的不等式约束</a:t>
            </a:r>
            <a:r>
              <a:rPr lang="zh-CN" altLang="en-US" sz="2400" dirty="0">
                <a:solidFill>
                  <a:srgbClr val="C00000"/>
                </a:solidFill>
              </a:rPr>
              <a:t>减去</a:t>
            </a:r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C00000"/>
                </a:solidFill>
              </a:rPr>
              <a:t>正数的松弛变量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D435052-51B9-4BC9-AB18-91BC431E5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75013"/>
              </p:ext>
            </p:extLst>
          </p:nvPr>
        </p:nvGraphicFramePr>
        <p:xfrm>
          <a:off x="5601072" y="1124744"/>
          <a:ext cx="39370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939600" progId="Equation.DSMT4">
                  <p:embed/>
                </p:oleObj>
              </mc:Choice>
              <mc:Fallback>
                <p:oleObj name="Equation" r:id="rId2" imgW="163800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D435052-51B9-4BC9-AB18-91BC431E5D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01072" y="1124744"/>
                        <a:ext cx="3937000" cy="225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EFA418F-EBAC-4B36-AB8E-52298CAA5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764194"/>
              </p:ext>
            </p:extLst>
          </p:nvPr>
        </p:nvGraphicFramePr>
        <p:xfrm>
          <a:off x="5601072" y="1124744"/>
          <a:ext cx="39370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939600" progId="Equation.DSMT4">
                  <p:embed/>
                </p:oleObj>
              </mc:Choice>
              <mc:Fallback>
                <p:oleObj name="Equation" r:id="rId4" imgW="163800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D435052-51B9-4BC9-AB18-91BC431E5D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1072" y="1124744"/>
                        <a:ext cx="3937000" cy="225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67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线性规划标准形</a:t>
            </a:r>
            <a:endParaRPr lang="en-US" altLang="zh-CN" dirty="0"/>
          </a:p>
          <a:p>
            <a:pPr lvl="1"/>
            <a:r>
              <a:rPr lang="zh-CN" altLang="en-US" dirty="0"/>
              <a:t>转换原则：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0DA036-AA6E-4E50-9B02-790AD16421CD}"/>
              </a:ext>
            </a:extLst>
          </p:cNvPr>
          <p:cNvSpPr txBox="1"/>
          <p:nvPr/>
        </p:nvSpPr>
        <p:spPr>
          <a:xfrm>
            <a:off x="128465" y="2815260"/>
            <a:ext cx="89289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400" dirty="0">
                <a:solidFill>
                  <a:srgbClr val="0000FF"/>
                </a:solidFill>
              </a:rPr>
              <a:t>将</a:t>
            </a:r>
            <a:r>
              <a:rPr lang="en-US" altLang="zh-CN" sz="2400" dirty="0">
                <a:solidFill>
                  <a:srgbClr val="0000FF"/>
                </a:solidFill>
              </a:rPr>
              <a:t>max</a:t>
            </a:r>
            <a:r>
              <a:rPr lang="zh-CN" altLang="en-US" sz="2400" dirty="0">
                <a:solidFill>
                  <a:srgbClr val="0000FF"/>
                </a:solidFill>
              </a:rPr>
              <a:t>问题转换为</a:t>
            </a:r>
            <a:r>
              <a:rPr lang="en-US" altLang="zh-CN" sz="2400" dirty="0">
                <a:solidFill>
                  <a:srgbClr val="0000FF"/>
                </a:solidFill>
              </a:rPr>
              <a:t>min</a:t>
            </a:r>
            <a:r>
              <a:rPr lang="zh-CN" altLang="en-US" sz="2400" dirty="0">
                <a:solidFill>
                  <a:srgbClr val="0000FF"/>
                </a:solidFill>
              </a:rPr>
              <a:t>问题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dirty="0"/>
              <a:t>原目标函数添加一个负号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2400" dirty="0"/>
              <a:t> </a:t>
            </a:r>
            <a:r>
              <a:rPr lang="zh-CN" altLang="en-US" sz="2400" dirty="0"/>
              <a:t>将</a:t>
            </a:r>
            <a:r>
              <a:rPr lang="zh-CN" altLang="en-US" sz="2400" dirty="0">
                <a:solidFill>
                  <a:srgbClr val="C00000"/>
                </a:solidFill>
              </a:rPr>
              <a:t>大于等于</a:t>
            </a:r>
            <a:r>
              <a:rPr lang="zh-CN" altLang="en-US" sz="2400" dirty="0"/>
              <a:t>形式的不等式约束</a:t>
            </a:r>
            <a:r>
              <a:rPr lang="zh-CN" altLang="en-US" sz="2400" dirty="0">
                <a:solidFill>
                  <a:srgbClr val="C00000"/>
                </a:solidFill>
              </a:rPr>
              <a:t>减去</a:t>
            </a:r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C00000"/>
                </a:solidFill>
              </a:rPr>
              <a:t>正数的松弛变量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 将</a:t>
            </a:r>
            <a:r>
              <a:rPr lang="zh-CN" altLang="en-US" sz="2400" dirty="0">
                <a:solidFill>
                  <a:srgbClr val="000099"/>
                </a:solidFill>
              </a:rPr>
              <a:t>小于等于</a:t>
            </a:r>
            <a:r>
              <a:rPr lang="zh-CN" altLang="en-US" sz="2400" dirty="0"/>
              <a:t>形式的不等式约束</a:t>
            </a:r>
            <a:r>
              <a:rPr lang="zh-CN" altLang="en-US" sz="2400" dirty="0">
                <a:solidFill>
                  <a:srgbClr val="000099"/>
                </a:solidFill>
              </a:rPr>
              <a:t>加上</a:t>
            </a:r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000099"/>
                </a:solidFill>
              </a:rPr>
              <a:t>正数的松弛变量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7030A0"/>
                </a:solidFill>
              </a:rPr>
              <a:t>注：如果约束条件的变量约定为非正数，则需要优先转换为非负数变量后才能进行以上转换。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EFA418F-EBAC-4B36-AB8E-52298CAA5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842086"/>
              </p:ext>
            </p:extLst>
          </p:nvPr>
        </p:nvGraphicFramePr>
        <p:xfrm>
          <a:off x="5601072" y="1124744"/>
          <a:ext cx="39370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939600" progId="Equation.DSMT4">
                  <p:embed/>
                </p:oleObj>
              </mc:Choice>
              <mc:Fallback>
                <p:oleObj name="Equation" r:id="rId2" imgW="1638000" imgH="939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EFA418F-EBAC-4B36-AB8E-52298CAA5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01072" y="1124744"/>
                        <a:ext cx="3937000" cy="225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2F026C4-CEB0-4BBA-9959-AA50170751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298449"/>
              </p:ext>
            </p:extLst>
          </p:nvPr>
        </p:nvGraphicFramePr>
        <p:xfrm>
          <a:off x="5601072" y="1146264"/>
          <a:ext cx="39370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939600" progId="Equation.DSMT4">
                  <p:embed/>
                </p:oleObj>
              </mc:Choice>
              <mc:Fallback>
                <p:oleObj name="Equation" r:id="rId4" imgW="1638000" imgH="939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EFA418F-EBAC-4B36-AB8E-52298CAA5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1072" y="1146264"/>
                        <a:ext cx="3937000" cy="225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785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线性规划的标准形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F7DF08B-321B-45BF-835A-9BE172D32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803111"/>
              </p:ext>
            </p:extLst>
          </p:nvPr>
        </p:nvGraphicFramePr>
        <p:xfrm>
          <a:off x="31717" y="2204864"/>
          <a:ext cx="4464495" cy="277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1193760" progId="Equation.DSMT4">
                  <p:embed/>
                </p:oleObj>
              </mc:Choice>
              <mc:Fallback>
                <p:oleObj name="Equation" r:id="rId2" imgW="191736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F7DF08B-321B-45BF-835A-9BE172D32C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17" y="2204864"/>
                        <a:ext cx="4464495" cy="2778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A077F1A-A96A-45F6-9F55-5BE66F7D6F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518444"/>
              </p:ext>
            </p:extLst>
          </p:nvPr>
        </p:nvGraphicFramePr>
        <p:xfrm>
          <a:off x="5038725" y="2205038"/>
          <a:ext cx="458152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F7DF08B-321B-45BF-835A-9BE172D32C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8725" y="2205038"/>
                        <a:ext cx="4581525" cy="2778125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箭头: 右 5">
            <a:extLst>
              <a:ext uri="{FF2B5EF4-FFF2-40B4-BE49-F238E27FC236}">
                <a16:creationId xmlns:a16="http://schemas.microsoft.com/office/drawing/2014/main" id="{9EA81758-437A-43A3-9DE6-165F917F1D00}"/>
              </a:ext>
            </a:extLst>
          </p:cNvPr>
          <p:cNvSpPr/>
          <p:nvPr/>
        </p:nvSpPr>
        <p:spPr bwMode="auto">
          <a:xfrm>
            <a:off x="3797300" y="3429000"/>
            <a:ext cx="792088" cy="4320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40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C88E5-2503-48EC-9B6D-FCD6F5B9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8D5980-4038-4A9C-B51B-B631021FB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线性规划的基本解</a:t>
            </a:r>
            <a:endParaRPr lang="en-US" altLang="zh-CN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1: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4331A8-339E-4DC0-86F7-BAFA5286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FF8409-3BA3-439C-981F-A4CDF4F2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8F12216-153D-4A6F-8891-0F8316102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995413"/>
              </p:ext>
            </p:extLst>
          </p:nvPr>
        </p:nvGraphicFramePr>
        <p:xfrm>
          <a:off x="1601788" y="1855788"/>
          <a:ext cx="5189537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A077F1A-A96A-45F6-9F55-5BE66F7D6F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1788" y="1855788"/>
                        <a:ext cx="5189537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9CAB8B-8227-4DB5-8BFB-3B5A8C35CFC3}"/>
              </a:ext>
            </a:extLst>
          </p:cNvPr>
          <p:cNvSpPr txBox="1"/>
          <p:nvPr/>
        </p:nvSpPr>
        <p:spPr>
          <a:xfrm>
            <a:off x="128465" y="5199583"/>
            <a:ext cx="9649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这里方程个数</a:t>
            </a:r>
            <a:r>
              <a:rPr lang="en-US" altLang="zh-CN" sz="2400" dirty="0"/>
              <a:t>m=3</a:t>
            </a:r>
            <a:r>
              <a:rPr lang="zh-CN" altLang="en-US" sz="2400" dirty="0"/>
              <a:t>，变量个数</a:t>
            </a:r>
            <a:r>
              <a:rPr lang="en-US" altLang="zh-CN" sz="2400" dirty="0"/>
              <a:t>n=5</a:t>
            </a:r>
            <a:r>
              <a:rPr lang="zh-CN" altLang="en-US" sz="2400" dirty="0"/>
              <a:t>，令任意两个变量值为</a:t>
            </a:r>
            <a:r>
              <a:rPr lang="en-US" altLang="zh-CN" sz="2400" dirty="0"/>
              <a:t>0</a:t>
            </a:r>
            <a:r>
              <a:rPr lang="zh-CN" altLang="en-US" sz="2400" dirty="0"/>
              <a:t>，其余三个变量都可以确定唯一的一组解。</a:t>
            </a:r>
          </a:p>
        </p:txBody>
      </p:sp>
    </p:spTree>
    <p:extLst>
      <p:ext uri="{BB962C8B-B14F-4D97-AF65-F5344CB8AC3E}">
        <p14:creationId xmlns:p14="http://schemas.microsoft.com/office/powerpoint/2010/main" val="4402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C88E5-2503-48EC-9B6D-FCD6F5B9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8D5980-4038-4A9C-B51B-B631021FB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29358"/>
            <a:ext cx="9719492" cy="5264289"/>
          </a:xfrm>
        </p:spPr>
        <p:txBody>
          <a:bodyPr/>
          <a:lstStyle/>
          <a:p>
            <a:r>
              <a:rPr lang="zh-CN" altLang="en-US" dirty="0"/>
              <a:t>线性规划的基本解</a:t>
            </a:r>
            <a:endParaRPr lang="en-US" altLang="zh-CN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1: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4331A8-339E-4DC0-86F7-BAFA5286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FF8409-3BA3-439C-981F-A4CDF4F2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8F12216-153D-4A6F-8891-0F8316102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527307"/>
              </p:ext>
            </p:extLst>
          </p:nvPr>
        </p:nvGraphicFramePr>
        <p:xfrm>
          <a:off x="1601788" y="1855788"/>
          <a:ext cx="5189537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8F12216-153D-4A6F-8891-0F8316102A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1788" y="1855788"/>
                        <a:ext cx="5189537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9CAB8B-8227-4DB5-8BFB-3B5A8C35CFC3}"/>
                  </a:ext>
                </a:extLst>
              </p:cNvPr>
              <p:cNvSpPr txBox="1"/>
              <p:nvPr/>
            </p:nvSpPr>
            <p:spPr>
              <a:xfrm>
                <a:off x="128465" y="5199583"/>
                <a:ext cx="9649072" cy="1126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根据排列组合，一共可以得到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zh-CN" altLang="en-US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zh-CN" altLang="en-US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zh-CN" altLang="en-US" sz="280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CN" altLang="en-US" sz="2400" dirty="0"/>
                  <a:t>个解，这些解称为</a:t>
                </a:r>
                <a:r>
                  <a:rPr lang="zh-CN" altLang="en-US" sz="2400" b="1" dirty="0"/>
                  <a:t>基本解</a:t>
                </a:r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9CAB8B-8227-4DB5-8BFB-3B5A8C35C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65" y="5199583"/>
                <a:ext cx="9649072" cy="1126655"/>
              </a:xfrm>
              <a:prstGeom prst="rect">
                <a:avLst/>
              </a:prstGeom>
              <a:blipFill>
                <a:blip r:embed="rId5"/>
                <a:stretch>
                  <a:fillRect l="-948" r="-126" b="-11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21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DECA1-A96B-4EED-9FB9-5B3C441E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8A6D5-E95F-4671-9DBE-5C6B245D8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：基本解信息表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60724-7023-45F9-8E0D-9DDACFF9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68358B-15BB-4B8A-8D81-893112C8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2A82750-DEA0-4AC8-96DF-6F3FA9576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33631"/>
              </p:ext>
            </p:extLst>
          </p:nvPr>
        </p:nvGraphicFramePr>
        <p:xfrm>
          <a:off x="58044" y="2441204"/>
          <a:ext cx="9789912" cy="40136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9992">
                  <a:extLst>
                    <a:ext uri="{9D8B030D-6E8A-4147-A177-3AD203B41FA5}">
                      <a16:colId xmlns:a16="http://schemas.microsoft.com/office/drawing/2014/main" val="1356367058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4100593790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1677156758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931806841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569931682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871792224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1439569728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937314986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257719465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1655177380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549011145"/>
                    </a:ext>
                  </a:extLst>
                </a:gridCol>
              </a:tblGrid>
              <a:tr h="449201"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7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9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564094"/>
                  </a:ext>
                </a:extLst>
              </a:tr>
              <a:tr h="5104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400</a:t>
                      </a:r>
                    </a:p>
                    <a:p>
                      <a:pPr algn="ctr"/>
                      <a:r>
                        <a:rPr lang="en-US" altLang="zh-CN" sz="2000" dirty="0"/>
                        <a:t>/13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1000/29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010156"/>
                  </a:ext>
                </a:extLst>
              </a:tr>
              <a:tr h="5104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90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270</a:t>
                      </a:r>
                    </a:p>
                    <a:p>
                      <a:pPr algn="ctr"/>
                      <a:r>
                        <a:rPr lang="en-US" altLang="zh-CN" sz="2000" dirty="0"/>
                        <a:t>/13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360</a:t>
                      </a:r>
                    </a:p>
                    <a:p>
                      <a:pPr algn="ctr"/>
                      <a:r>
                        <a:rPr lang="en-US" altLang="zh-CN" sz="2000" dirty="0"/>
                        <a:t>/29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24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226346"/>
                  </a:ext>
                </a:extLst>
              </a:tr>
              <a:tr h="4554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360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240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-540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-90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84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68415"/>
                  </a:ext>
                </a:extLst>
              </a:tr>
              <a:tr h="5104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x4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300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-600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-100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180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150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2100/29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637375"/>
                  </a:ext>
                </a:extLst>
              </a:tr>
              <a:tr h="7323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-250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-200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-350/13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6484"/>
                  </a:ext>
                </a:extLst>
              </a:tr>
            </a:tbl>
          </a:graphicData>
        </a:graphic>
      </p:graphicFrame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40457543-0638-4DF5-90FB-5C745A8F1884}"/>
              </a:ext>
            </a:extLst>
          </p:cNvPr>
          <p:cNvSpPr/>
          <p:nvPr/>
        </p:nvSpPr>
        <p:spPr bwMode="auto">
          <a:xfrm>
            <a:off x="4520952" y="1196751"/>
            <a:ext cx="5256584" cy="1163215"/>
          </a:xfrm>
          <a:prstGeom prst="cloudCallout">
            <a:avLst>
              <a:gd name="adj1" fmla="val -66102"/>
              <a:gd name="adj2" fmla="val 46977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C00000"/>
                </a:solidFill>
              </a:rPr>
              <a:t>满足约束条件的解称为基本可行解。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9533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DECA1-A96B-4EED-9FB9-5B3C441E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60724-7023-45F9-8E0D-9DDACFF9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68358B-15BB-4B8A-8D81-893112C8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893DECE-9928-411F-9C5D-F4563C41B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422598"/>
              </p:ext>
            </p:extLst>
          </p:nvPr>
        </p:nvGraphicFramePr>
        <p:xfrm>
          <a:off x="5710238" y="1192213"/>
          <a:ext cx="3732212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939600" progId="Equation.DSMT4">
                  <p:embed/>
                </p:oleObj>
              </mc:Choice>
              <mc:Fallback>
                <p:oleObj name="Equation" r:id="rId2" imgW="167616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1F1C1F9-C39D-4307-8BD8-1ED05F62E5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10238" y="1192213"/>
                        <a:ext cx="3732212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FF76F44-3F45-47F0-BDD5-5D3361FC92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946809"/>
              </p:ext>
            </p:extLst>
          </p:nvPr>
        </p:nvGraphicFramePr>
        <p:xfrm>
          <a:off x="5669234" y="3573015"/>
          <a:ext cx="1243013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939600" progId="Equation.DSMT4">
                  <p:embed/>
                </p:oleObj>
              </mc:Choice>
              <mc:Fallback>
                <p:oleObj name="Equation" r:id="rId4" imgW="558720" imgH="939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9DA820A-5E27-49AE-9450-6724B35527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69234" y="3573015"/>
                        <a:ext cx="1243013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00A20AB-4363-403A-8CB7-20B2763815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240304"/>
              </p:ext>
            </p:extLst>
          </p:nvPr>
        </p:nvGraphicFramePr>
        <p:xfrm>
          <a:off x="6966277" y="3573015"/>
          <a:ext cx="1355725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939600" progId="Equation.DSMT4">
                  <p:embed/>
                </p:oleObj>
              </mc:Choice>
              <mc:Fallback>
                <p:oleObj name="Equation" r:id="rId6" imgW="609480" imgH="939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A5C5A9D-CBEF-446C-9398-965570093B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66277" y="3573015"/>
                        <a:ext cx="1355725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CABDCF4-A42A-43CD-8B7D-3BA946D10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511498"/>
              </p:ext>
            </p:extLst>
          </p:nvPr>
        </p:nvGraphicFramePr>
        <p:xfrm>
          <a:off x="8481392" y="3573014"/>
          <a:ext cx="1187450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939600" progId="Equation.DSMT4">
                  <p:embed/>
                </p:oleObj>
              </mc:Choice>
              <mc:Fallback>
                <p:oleObj name="Equation" r:id="rId8" imgW="533160" imgH="939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0FA3AD9-3A88-45A4-B378-CEA8A120DB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81392" y="3573014"/>
                        <a:ext cx="1187450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B622A99-F503-4EF6-A510-D05F2EDCB3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773242"/>
              </p:ext>
            </p:extLst>
          </p:nvPr>
        </p:nvGraphicFramePr>
        <p:xfrm>
          <a:off x="364055" y="1054692"/>
          <a:ext cx="4007420" cy="200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73120" imgH="736560" progId="Equation.DSMT4">
                  <p:embed/>
                </p:oleObj>
              </mc:Choice>
              <mc:Fallback>
                <p:oleObj name="Equation" r:id="rId10" imgW="147312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743B38E-592D-4AF6-AEB5-948BAE0847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4055" y="1054692"/>
                        <a:ext cx="4007420" cy="2005650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1D10C661-48A9-406D-ABD1-F496551FE695}"/>
              </a:ext>
            </a:extLst>
          </p:cNvPr>
          <p:cNvSpPr txBox="1"/>
          <p:nvPr/>
        </p:nvSpPr>
        <p:spPr>
          <a:xfrm>
            <a:off x="117833" y="319816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2BFFBF8-C302-4F87-A61F-CC573550ED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323034"/>
              </p:ext>
            </p:extLst>
          </p:nvPr>
        </p:nvGraphicFramePr>
        <p:xfrm>
          <a:off x="364054" y="3573014"/>
          <a:ext cx="5141913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11200" imgH="939600" progId="Equation.DSMT4">
                  <p:embed/>
                </p:oleObj>
              </mc:Choice>
              <mc:Fallback>
                <p:oleObj name="Equation" r:id="rId12" imgW="2311200" imgH="939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FF76F44-3F45-47F0-BDD5-5D3361FC9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4054" y="3573014"/>
                        <a:ext cx="5141913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108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DECA1-A96B-4EED-9FB9-5B3C441E1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4" y="215905"/>
            <a:ext cx="9719492" cy="792088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60724-7023-45F9-8E0D-9DDACFF9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68358B-15BB-4B8A-8D81-893112C8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893DECE-9928-411F-9C5D-F4563C41B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294683"/>
              </p:ext>
            </p:extLst>
          </p:nvPr>
        </p:nvGraphicFramePr>
        <p:xfrm>
          <a:off x="698500" y="3659188"/>
          <a:ext cx="24876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253800" progId="Equation.DSMT4">
                  <p:embed/>
                </p:oleObj>
              </mc:Choice>
              <mc:Fallback>
                <p:oleObj name="Equation" r:id="rId2" imgW="1117440" imgH="2538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893DECE-9928-411F-9C5D-F4563C41B8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8500" y="3659188"/>
                        <a:ext cx="2487613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1D10C661-48A9-406D-ABD1-F496551FE695}"/>
              </a:ext>
            </a:extLst>
          </p:cNvPr>
          <p:cNvSpPr txBox="1"/>
          <p:nvPr/>
        </p:nvSpPr>
        <p:spPr>
          <a:xfrm>
            <a:off x="117833" y="319816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2BFFBF8-C302-4F87-A61F-CC573550ED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724236"/>
              </p:ext>
            </p:extLst>
          </p:nvPr>
        </p:nvGraphicFramePr>
        <p:xfrm>
          <a:off x="364054" y="1192659"/>
          <a:ext cx="5141913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200" imgH="939600" progId="Equation.DSMT4">
                  <p:embed/>
                </p:oleObj>
              </mc:Choice>
              <mc:Fallback>
                <p:oleObj name="Equation" r:id="rId4" imgW="2311200" imgH="939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2BFFBF8-C302-4F87-A61F-CC573550ED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054" y="1192659"/>
                        <a:ext cx="5141913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92161B6-7890-4642-9A89-B380618F4A00}"/>
                  </a:ext>
                </a:extLst>
              </p:cNvPr>
              <p:cNvSpPr txBox="1"/>
              <p:nvPr/>
            </p:nvSpPr>
            <p:spPr>
              <a:xfrm>
                <a:off x="4016896" y="3469650"/>
                <a:ext cx="5760640" cy="83099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则称</a:t>
                </a:r>
                <a:r>
                  <a:rPr lang="en-US" altLang="zh-CN" sz="2400" dirty="0">
                    <a:solidFill>
                      <a:srgbClr val="C00000"/>
                    </a:solidFill>
                  </a:rPr>
                  <a:t>m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阶方阵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为线性规划解的一个基底，简称为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基</a:t>
                </a:r>
                <a:r>
                  <a:rPr lang="zh-CN" altLang="en-US" sz="2400" dirty="0"/>
                  <a:t>。称</a:t>
                </a:r>
                <a:r>
                  <a:rPr lang="en-US" altLang="zh-CN" sz="2400" dirty="0">
                    <a:solidFill>
                      <a:srgbClr val="000099"/>
                    </a:solidFill>
                  </a:rPr>
                  <a:t>P</a:t>
                </a:r>
                <a:r>
                  <a:rPr lang="zh-CN" altLang="en-US" sz="2400" dirty="0">
                    <a:solidFill>
                      <a:srgbClr val="000099"/>
                    </a:solidFill>
                  </a:rPr>
                  <a:t>为基向量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92161B6-7890-4642-9A89-B380618F4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896" y="3469650"/>
                <a:ext cx="5760640" cy="830997"/>
              </a:xfrm>
              <a:prstGeom prst="rect">
                <a:avLst/>
              </a:prstGeom>
              <a:blipFill>
                <a:blip r:embed="rId6"/>
                <a:stretch>
                  <a:fillRect l="-1584" t="-5072" b="-1521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F193DD0-969E-4654-AE03-AFC7DCDF8197}"/>
                  </a:ext>
                </a:extLst>
              </p:cNvPr>
              <p:cNvSpPr txBox="1"/>
              <p:nvPr/>
            </p:nvSpPr>
            <p:spPr>
              <a:xfrm>
                <a:off x="117833" y="4574987"/>
                <a:ext cx="8435567" cy="1601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根据排列组合，对于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个变量和</a:t>
                </a:r>
                <a:r>
                  <a:rPr lang="en-US" altLang="zh-CN" sz="2400" dirty="0"/>
                  <a:t>m</a:t>
                </a:r>
                <a:r>
                  <a:rPr lang="zh-CN" altLang="en-US" sz="2400" dirty="0"/>
                  <a:t>个约束方程，一共可以得到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2400" dirty="0"/>
                  <a:t>个可行解，也就说有线性的规划基的个数为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2400" dirty="0"/>
                  <a:t>个。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F193DD0-969E-4654-AE03-AFC7DCDF8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33" y="4574987"/>
                <a:ext cx="8435567" cy="1601464"/>
              </a:xfrm>
              <a:prstGeom prst="rect">
                <a:avLst/>
              </a:prstGeom>
              <a:blipFill>
                <a:blip r:embed="rId8"/>
                <a:stretch>
                  <a:fillRect l="-1084" t="-3042" b="-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BC371D18-4AFA-43FC-BC92-4A0B8A3147A5}"/>
              </a:ext>
            </a:extLst>
          </p:cNvPr>
          <p:cNvSpPr/>
          <p:nvPr/>
        </p:nvSpPr>
        <p:spPr bwMode="auto">
          <a:xfrm>
            <a:off x="5649412" y="1183431"/>
            <a:ext cx="3892534" cy="192039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如何有效的选择基向量，构造成一个基，使得其对应的基本解为基本可行解</a:t>
            </a:r>
            <a:r>
              <a:rPr lang="zh-CN" altLang="en-US" sz="2800" b="1" dirty="0">
                <a:solidFill>
                  <a:srgbClr val="C00000"/>
                </a:solidFill>
              </a:rPr>
              <a:t>？？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9872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19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DECA1-A96B-4EED-9FB9-5B3C441E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60724-7023-45F9-8E0D-9DDACFF9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68358B-15BB-4B8A-8D81-893112C8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893DECE-9928-411F-9C5D-F4563C41B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059095"/>
              </p:ext>
            </p:extLst>
          </p:nvPr>
        </p:nvGraphicFramePr>
        <p:xfrm>
          <a:off x="1565964" y="2423310"/>
          <a:ext cx="6636985" cy="637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320" imgH="253800" progId="Equation.DSMT4">
                  <p:embed/>
                </p:oleObj>
              </mc:Choice>
              <mc:Fallback>
                <p:oleObj name="Equation" r:id="rId2" imgW="2641320" imgH="2538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893DECE-9928-411F-9C5D-F4563C41B8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5964" y="2423310"/>
                        <a:ext cx="6636985" cy="6378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D10C661-48A9-406D-ABD1-F496551FE695}"/>
                  </a:ext>
                </a:extLst>
              </p:cNvPr>
              <p:cNvSpPr txBox="1"/>
              <p:nvPr/>
            </p:nvSpPr>
            <p:spPr>
              <a:xfrm>
                <a:off x="62989" y="1115722"/>
                <a:ext cx="971454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假设令系数矩阵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中除去作为基向量的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/>
                  <a:t>个列向量的剩余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/>
                  <a:t>个列向量构成一个子矩阵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则，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可以表示为两个部分：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D10C661-48A9-406D-ABD1-F496551FE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9" y="1115722"/>
                <a:ext cx="9714547" cy="1200329"/>
              </a:xfrm>
              <a:prstGeom prst="rect">
                <a:avLst/>
              </a:prstGeom>
              <a:blipFill>
                <a:blip r:embed="rId5"/>
                <a:stretch>
                  <a:fillRect l="-941" t="-4061" r="-565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7F193DD0-969E-4654-AE03-AFC7DCDF8197}"/>
              </a:ext>
            </a:extLst>
          </p:cNvPr>
          <p:cNvSpPr txBox="1"/>
          <p:nvPr/>
        </p:nvSpPr>
        <p:spPr>
          <a:xfrm>
            <a:off x="58044" y="3171756"/>
            <a:ext cx="8435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对应的，变量列矩阵</a:t>
            </a:r>
            <a:r>
              <a:rPr lang="en-US" altLang="zh-CN" sz="2400" dirty="0"/>
              <a:t>X</a:t>
            </a:r>
            <a:r>
              <a:rPr lang="zh-CN" altLang="en-US" sz="2400" dirty="0"/>
              <a:t>也可以表述成两个部分：</a:t>
            </a:r>
            <a:endParaRPr lang="en-US" altLang="zh-CN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0AC5C57-275A-4DF2-9D7E-C9710B3064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239457"/>
              </p:ext>
            </p:extLst>
          </p:nvPr>
        </p:nvGraphicFramePr>
        <p:xfrm>
          <a:off x="1565964" y="3819079"/>
          <a:ext cx="63912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55800" imgH="482400" progId="Equation.DSMT4">
                  <p:embed/>
                </p:oleObj>
              </mc:Choice>
              <mc:Fallback>
                <p:oleObj name="Equation" r:id="rId6" imgW="2755800" imgH="482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893DECE-9928-411F-9C5D-F4563C41B8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65964" y="3819079"/>
                        <a:ext cx="6391275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B339ED17-EF76-45B9-9B89-F57C003F2EC4}"/>
              </a:ext>
            </a:extLst>
          </p:cNvPr>
          <p:cNvSpPr txBox="1"/>
          <p:nvPr/>
        </p:nvSpPr>
        <p:spPr>
          <a:xfrm>
            <a:off x="107075" y="5076003"/>
            <a:ext cx="8435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根据约束方程：</a:t>
            </a:r>
            <a:endParaRPr lang="en-US" altLang="zh-CN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098D399-0721-4276-8642-FE8B78F4C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099797"/>
              </p:ext>
            </p:extLst>
          </p:nvPr>
        </p:nvGraphicFramePr>
        <p:xfrm>
          <a:off x="2432720" y="5101253"/>
          <a:ext cx="11493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177480" progId="Equation.DSMT4">
                  <p:embed/>
                </p:oleObj>
              </mc:Choice>
              <mc:Fallback>
                <p:oleObj name="Equation" r:id="rId8" imgW="495000" imgH="177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0AC5C57-275A-4DF2-9D7E-C9710B306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32720" y="5101253"/>
                        <a:ext cx="1149350" cy="411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283159F-309D-4159-8B7A-4AF18AB3C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95564"/>
              </p:ext>
            </p:extLst>
          </p:nvPr>
        </p:nvGraphicFramePr>
        <p:xfrm>
          <a:off x="1565964" y="5550999"/>
          <a:ext cx="54197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36760" imgH="482400" progId="Equation.DSMT4">
                  <p:embed/>
                </p:oleObj>
              </mc:Choice>
              <mc:Fallback>
                <p:oleObj name="Equation" r:id="rId10" imgW="233676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0AC5C57-275A-4DF2-9D7E-C9710B306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65964" y="5550999"/>
                        <a:ext cx="5419725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871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DECA1-A96B-4EED-9FB9-5B3C441E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60724-7023-45F9-8E0D-9DDACFF9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68358B-15BB-4B8A-8D81-893112C8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339ED17-EF76-45B9-9B89-F57C003F2EC4}"/>
                  </a:ext>
                </a:extLst>
              </p:cNvPr>
              <p:cNvSpPr txBox="1"/>
              <p:nvPr/>
            </p:nvSpPr>
            <p:spPr>
              <a:xfrm>
                <a:off x="58044" y="1610635"/>
                <a:ext cx="8435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两端同时乘以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的逆矩阵：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339ED17-EF76-45B9-9B89-F57C003F2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1610635"/>
                <a:ext cx="8435567" cy="461665"/>
              </a:xfrm>
              <a:prstGeom prst="rect">
                <a:avLst/>
              </a:prstGeom>
              <a:blipFill>
                <a:blip r:embed="rId3"/>
                <a:stretch>
                  <a:fillRect l="-115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098D399-0721-4276-8642-FE8B78F4C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642771"/>
              </p:ext>
            </p:extLst>
          </p:nvPr>
        </p:nvGraphicFramePr>
        <p:xfrm>
          <a:off x="277813" y="2082800"/>
          <a:ext cx="37433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03040" progId="Equation.DSMT4">
                  <p:embed/>
                </p:oleObj>
              </mc:Choice>
              <mc:Fallback>
                <p:oleObj name="Equation" r:id="rId4" imgW="1612800" imgH="203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098D399-0721-4276-8642-FE8B78F4C7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7813" y="2082800"/>
                        <a:ext cx="3743325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283159F-309D-4159-8B7A-4AF18AB3C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90870"/>
              </p:ext>
            </p:extLst>
          </p:nvPr>
        </p:nvGraphicFramePr>
        <p:xfrm>
          <a:off x="550764" y="1141814"/>
          <a:ext cx="238601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203040" progId="Equation.DSMT4">
                  <p:embed/>
                </p:oleObj>
              </mc:Choice>
              <mc:Fallback>
                <p:oleObj name="Equation" r:id="rId6" imgW="102852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283159F-309D-4159-8B7A-4AF18AB3C0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0764" y="1141814"/>
                        <a:ext cx="2386012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D3DC0F6-4F8C-43BC-9035-EE091A33E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314203"/>
              </p:ext>
            </p:extLst>
          </p:nvPr>
        </p:nvGraphicFramePr>
        <p:xfrm>
          <a:off x="4589463" y="2052638"/>
          <a:ext cx="30654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480" imgH="203040" progId="Equation.DSMT4">
                  <p:embed/>
                </p:oleObj>
              </mc:Choice>
              <mc:Fallback>
                <p:oleObj name="Equation" r:id="rId8" imgW="1320480" imgH="203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098D399-0721-4276-8642-FE8B78F4C7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89463" y="2052638"/>
                        <a:ext cx="3065462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BB1EA6C-7C72-40F7-8D08-61CAC5973B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445327"/>
              </p:ext>
            </p:extLst>
          </p:nvPr>
        </p:nvGraphicFramePr>
        <p:xfrm>
          <a:off x="383951" y="2837136"/>
          <a:ext cx="3240088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0" imgH="482400" progId="Equation.DSMT4">
                  <p:embed/>
                </p:oleObj>
              </mc:Choice>
              <mc:Fallback>
                <p:oleObj name="Equation" r:id="rId10" imgW="1396800" imgH="4824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D3DC0F6-4F8C-43BC-9035-EE091A33EF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3951" y="2837136"/>
                        <a:ext cx="3240088" cy="1116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B9008A06-F31D-4D47-9549-95F9A76C670E}"/>
              </a:ext>
            </a:extLst>
          </p:cNvPr>
          <p:cNvSpPr/>
          <p:nvPr/>
        </p:nvSpPr>
        <p:spPr bwMode="auto">
          <a:xfrm>
            <a:off x="4016896" y="2204864"/>
            <a:ext cx="576064" cy="27109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9B3A384-BBC7-41D9-9452-8685D5FD9323}"/>
                  </a:ext>
                </a:extLst>
              </p:cNvPr>
              <p:cNvSpPr txBox="1"/>
              <p:nvPr/>
            </p:nvSpPr>
            <p:spPr>
              <a:xfrm>
                <a:off x="58044" y="3971597"/>
                <a:ext cx="8435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令非基向量全为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，则</a:t>
                </a:r>
                <a:r>
                  <a:rPr lang="zh-CN" altLang="en-US" sz="2400"/>
                  <a:t>可以得到由基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确定的一组基本解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9B3A384-BBC7-41D9-9452-8685D5FD9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3971597"/>
                <a:ext cx="8435567" cy="461665"/>
              </a:xfrm>
              <a:prstGeom prst="rect">
                <a:avLst/>
              </a:prstGeom>
              <a:blipFill>
                <a:blip r:embed="rId12"/>
                <a:stretch>
                  <a:fillRect l="-1157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F6F68DE-8B9E-4413-AE65-AEA2EE10E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972322"/>
              </p:ext>
            </p:extLst>
          </p:nvPr>
        </p:nvGraphicFramePr>
        <p:xfrm>
          <a:off x="383951" y="4541436"/>
          <a:ext cx="5419725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36760" imgH="507960" progId="Equation.DSMT4">
                  <p:embed/>
                </p:oleObj>
              </mc:Choice>
              <mc:Fallback>
                <p:oleObj name="Equation" r:id="rId13" imgW="2336760" imgH="5079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5BB1EA6C-7C72-40F7-8D08-61CAC5973B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3951" y="4541436"/>
                        <a:ext cx="5419725" cy="117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440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DECA1-A96B-4EED-9FB9-5B3C441E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线性规划的基本解与基本可行解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60724-7023-45F9-8E0D-9DDACFF9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68358B-15BB-4B8A-8D81-893112C8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9B3A384-BBC7-41D9-9452-8685D5FD9323}"/>
                  </a:ext>
                </a:extLst>
              </p:cNvPr>
              <p:cNvSpPr txBox="1"/>
              <p:nvPr/>
            </p:nvSpPr>
            <p:spPr>
              <a:xfrm>
                <a:off x="79004" y="2389898"/>
                <a:ext cx="93384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要确保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400" dirty="0"/>
                  <a:t>是一个基本可行解，则需要保证所有的变量值非负（标准形的约束条件）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9B3A384-BBC7-41D9-9452-8685D5FD9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4" y="2389898"/>
                <a:ext cx="9338492" cy="830997"/>
              </a:xfrm>
              <a:prstGeom prst="rect">
                <a:avLst/>
              </a:prstGeom>
              <a:blipFill>
                <a:blip r:embed="rId3"/>
                <a:stretch>
                  <a:fillRect l="-1044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F6F68DE-8B9E-4413-AE65-AEA2EE10E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089480"/>
              </p:ext>
            </p:extLst>
          </p:nvPr>
        </p:nvGraphicFramePr>
        <p:xfrm>
          <a:off x="416496" y="1154964"/>
          <a:ext cx="5419725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36760" imgH="507960" progId="Equation.DSMT4">
                  <p:embed/>
                </p:oleObj>
              </mc:Choice>
              <mc:Fallback>
                <p:oleObj name="Equation" r:id="rId4" imgW="2336760" imgH="5079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F6F68DE-8B9E-4413-AE65-AEA2EE10E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496" y="1154964"/>
                        <a:ext cx="5419725" cy="117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EEF78CD9-0F73-442A-9E85-09324284D236}"/>
              </a:ext>
            </a:extLst>
          </p:cNvPr>
          <p:cNvSpPr txBox="1"/>
          <p:nvPr/>
        </p:nvSpPr>
        <p:spPr>
          <a:xfrm>
            <a:off x="54686" y="3298432"/>
            <a:ext cx="93384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因此，一个线性规划的基如果满足如下条件，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则可以得到一组基本可行解。</a:t>
            </a:r>
            <a:endParaRPr lang="en-US" altLang="zh-CN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FB80435-9305-40AB-8A1D-95112E27A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13203"/>
              </p:ext>
            </p:extLst>
          </p:nvPr>
        </p:nvGraphicFramePr>
        <p:xfrm>
          <a:off x="1186541" y="3894788"/>
          <a:ext cx="1667768" cy="618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203040" progId="Equation.DSMT4">
                  <p:embed/>
                </p:oleObj>
              </mc:Choice>
              <mc:Fallback>
                <p:oleObj name="Equation" r:id="rId6" imgW="545760" imgH="2030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F6F68DE-8B9E-4413-AE65-AEA2EE10E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6541" y="3894788"/>
                        <a:ext cx="1667768" cy="6186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1C15F8BF-0BDA-4A7C-BC51-1C490B97F83E}"/>
              </a:ext>
            </a:extLst>
          </p:cNvPr>
          <p:cNvSpPr/>
          <p:nvPr/>
        </p:nvSpPr>
        <p:spPr bwMode="auto">
          <a:xfrm>
            <a:off x="4448944" y="4032605"/>
            <a:ext cx="4944234" cy="193899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由于求逆矩阵的计算量较大，因此在后续用单纯形法进行求解时，通常构造一个单位阵作为基进行运算。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933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6" grpId="0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1F19F-A19D-45A6-8304-98B1E51D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BAEB0-4DD6-40A5-9C4E-E99E19AE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56916-E68E-4721-9C32-577610B7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DA11C6-3420-4A69-8813-F6B42EF8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890DEE-63CC-4C9D-B24F-16F7C51DED2C}"/>
              </a:ext>
            </a:extLst>
          </p:cNvPr>
          <p:cNvSpPr txBox="1"/>
          <p:nvPr/>
        </p:nvSpPr>
        <p:spPr>
          <a:xfrm>
            <a:off x="560512" y="1916832"/>
            <a:ext cx="77251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800" dirty="0"/>
              <a:t>首先确定一个初始基本可行解</a:t>
            </a:r>
            <a:endParaRPr lang="en-US" altLang="zh-CN" sz="28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800" dirty="0"/>
              <a:t>判断是否达到最优解的要求</a:t>
            </a:r>
            <a:endParaRPr lang="en-US" altLang="zh-CN" sz="28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800" dirty="0"/>
              <a:t>如果没有，则继续迭代计算另一个基本可行解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4DC640-A7C7-4D02-A2CF-5AFB2138EF6F}"/>
              </a:ext>
            </a:extLst>
          </p:cNvPr>
          <p:cNvSpPr/>
          <p:nvPr/>
        </p:nvSpPr>
        <p:spPr bwMode="auto">
          <a:xfrm>
            <a:off x="704528" y="3616917"/>
            <a:ext cx="8424936" cy="193899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难点和挑战：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  <a:p>
            <a:pPr marL="514350" marR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lang="zh-CN" altLang="en-US" sz="2800" b="1" dirty="0">
                <a:solidFill>
                  <a:srgbClr val="C00000"/>
                </a:solidFill>
              </a:rPr>
              <a:t>如何确定初始化的基本解？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marL="514350" marR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如何判断当前解是否最优？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514350" marR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lang="zh-CN" altLang="en-US" sz="2800" b="1" dirty="0">
                <a:solidFill>
                  <a:srgbClr val="C00000"/>
                </a:solidFill>
              </a:rPr>
              <a:t>如何迭代计算另外一个基本可行解？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160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1F19F-A19D-45A6-8304-98B1E51D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BAEB0-4DD6-40A5-9C4E-E99E19AE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计算过程</a:t>
            </a:r>
            <a:endParaRPr lang="en-US" altLang="zh-CN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56916-E68E-4721-9C32-577610B7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DA11C6-3420-4A69-8813-F6B42EF8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890DEE-63CC-4C9D-B24F-16F7C51DED2C}"/>
              </a:ext>
            </a:extLst>
          </p:cNvPr>
          <p:cNvSpPr txBox="1"/>
          <p:nvPr/>
        </p:nvSpPr>
        <p:spPr>
          <a:xfrm>
            <a:off x="632520" y="4334640"/>
            <a:ext cx="776526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1. </a:t>
            </a:r>
            <a:r>
              <a:rPr lang="zh-CN" altLang="en-US" sz="2800" dirty="0"/>
              <a:t>化成标准形</a:t>
            </a:r>
            <a:endParaRPr lang="en-US" altLang="zh-CN" sz="2800" dirty="0"/>
          </a:p>
          <a:p>
            <a:r>
              <a:rPr lang="en-US" altLang="zh-CN" sz="2800" dirty="0"/>
              <a:t>2. </a:t>
            </a:r>
            <a:r>
              <a:rPr lang="zh-CN" altLang="en-US" sz="2800" dirty="0"/>
              <a:t>确定一个初始基本可行解</a:t>
            </a:r>
            <a:endParaRPr lang="en-US" altLang="zh-CN" sz="2800" dirty="0"/>
          </a:p>
          <a:p>
            <a:r>
              <a:rPr lang="en-US" altLang="zh-CN" sz="2800" dirty="0"/>
              <a:t>3. </a:t>
            </a:r>
            <a:r>
              <a:rPr lang="zh-CN" altLang="en-US" sz="2800" dirty="0"/>
              <a:t>判断是否达到最优解的要求</a:t>
            </a:r>
            <a:endParaRPr lang="en-US" altLang="zh-CN" sz="2800" dirty="0"/>
          </a:p>
          <a:p>
            <a:r>
              <a:rPr lang="en-US" altLang="zh-CN" sz="2800" dirty="0"/>
              <a:t>4. </a:t>
            </a:r>
            <a:r>
              <a:rPr lang="zh-CN" altLang="en-US" sz="2800" dirty="0"/>
              <a:t>如果没有，则继续迭代计算另一个基本可行解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409BACD-478F-4951-B329-F442683C7F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67983"/>
              </p:ext>
            </p:extLst>
          </p:nvPr>
        </p:nvGraphicFramePr>
        <p:xfrm>
          <a:off x="2970213" y="1116013"/>
          <a:ext cx="5189537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8F12216-153D-4A6F-8891-0F8316102A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0213" y="1116013"/>
                        <a:ext cx="5189537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053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283382"/>
              </p:ext>
            </p:extLst>
          </p:nvPr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92949" y="1156062"/>
            <a:ext cx="45336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1. </a:t>
            </a:r>
            <a:r>
              <a:rPr lang="zh-CN" altLang="en-US" sz="2800" dirty="0"/>
              <a:t>化成标准形</a:t>
            </a:r>
            <a:endParaRPr lang="en-US" altLang="zh-CN" sz="2800" dirty="0"/>
          </a:p>
          <a:p>
            <a:r>
              <a:rPr lang="en-US" altLang="zh-CN" sz="2800" dirty="0"/>
              <a:t>2. </a:t>
            </a:r>
            <a:r>
              <a:rPr lang="zh-CN" altLang="en-US" sz="2800" dirty="0"/>
              <a:t>确定一个初始基本可行解</a:t>
            </a:r>
            <a:endParaRPr lang="en-US" altLang="zh-CN" sz="28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E8C83CD-4C5F-4CE4-A4BA-DFFF86A76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21" y="2260886"/>
          <a:ext cx="4590511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711000" progId="Equation.DSMT4">
                  <p:embed/>
                </p:oleObj>
              </mc:Choice>
              <mc:Fallback>
                <p:oleObj name="Equation" r:id="rId4" imgW="2158920" imgH="7110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E8C83CD-4C5F-4CE4-A4BA-DFFF86A76C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121" y="2260886"/>
                        <a:ext cx="4590511" cy="1512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5C408AC-A23D-4F5A-AFE4-7EA2DFF42EEB}"/>
              </a:ext>
            </a:extLst>
          </p:cNvPr>
          <p:cNvSpPr txBox="1"/>
          <p:nvPr/>
        </p:nvSpPr>
        <p:spPr>
          <a:xfrm>
            <a:off x="13566" y="3907138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A</a:t>
            </a:r>
            <a:r>
              <a:rPr lang="zh-CN" altLang="en-US" sz="2400" dirty="0"/>
              <a:t>和</a:t>
            </a:r>
            <a:r>
              <a:rPr lang="en-US" altLang="zh-CN" sz="2400" dirty="0"/>
              <a:t>b</a:t>
            </a:r>
            <a:r>
              <a:rPr lang="zh-CN" altLang="en-US" sz="2400" dirty="0"/>
              <a:t>化成一个矩阵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12" y="4724424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711000" progId="Equation.DSMT4">
                  <p:embed/>
                </p:oleObj>
              </mc:Choice>
              <mc:Fallback>
                <p:oleObj name="Equation" r:id="rId6" imgW="1562040" imgH="7110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0512" y="4724424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85018396-937A-4B20-9FAF-C438F8C23549}"/>
              </a:ext>
            </a:extLst>
          </p:cNvPr>
          <p:cNvSpPr/>
          <p:nvPr/>
        </p:nvSpPr>
        <p:spPr bwMode="auto">
          <a:xfrm>
            <a:off x="1640632" y="4580071"/>
            <a:ext cx="1396519" cy="165724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F57C8A40-1B54-4793-86DF-C470428C1F0A}"/>
              </a:ext>
            </a:extLst>
          </p:cNvPr>
          <p:cNvSpPr/>
          <p:nvPr/>
        </p:nvSpPr>
        <p:spPr bwMode="auto">
          <a:xfrm>
            <a:off x="4016896" y="5013124"/>
            <a:ext cx="792088" cy="68876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33E6397-D005-47C4-BC8C-77DA41F260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9480" y="4077536"/>
          <a:ext cx="2187223" cy="2159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939600" progId="Equation.DSMT4">
                  <p:embed/>
                </p:oleObj>
              </mc:Choice>
              <mc:Fallback>
                <p:oleObj name="Equation" r:id="rId8" imgW="952200" imgH="939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33E6397-D005-47C4-BC8C-77DA41F260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19480" y="4077536"/>
                        <a:ext cx="2187223" cy="2159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964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896616"/>
              </p:ext>
            </p:extLst>
          </p:nvPr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409BACD-478F-4951-B329-F442683C7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92949" y="1156062"/>
            <a:ext cx="4533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2. </a:t>
            </a:r>
            <a:r>
              <a:rPr lang="zh-CN" altLang="en-US" sz="2800" dirty="0"/>
              <a:t>确定一个初始基本可行解</a:t>
            </a:r>
            <a:endParaRPr lang="en-US" altLang="zh-CN" sz="28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78499"/>
              </p:ext>
            </p:extLst>
          </p:nvPr>
        </p:nvGraphicFramePr>
        <p:xfrm>
          <a:off x="419284" y="1679282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711000" progId="Equation.DSMT4">
                  <p:embed/>
                </p:oleObj>
              </mc:Choice>
              <mc:Fallback>
                <p:oleObj name="Equation" r:id="rId4" imgW="1562040" imgH="7110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E8C83CD-4C5F-4CE4-A4BA-DFFF86A76C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9284" y="1679282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B02142EA-DAE5-4D82-8CA6-C45ED69F2B64}"/>
              </a:ext>
            </a:extLst>
          </p:cNvPr>
          <p:cNvSpPr txBox="1"/>
          <p:nvPr/>
        </p:nvSpPr>
        <p:spPr>
          <a:xfrm>
            <a:off x="92949" y="3295223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  <a:r>
              <a:rPr lang="en-US" altLang="zh-CN" sz="2400" dirty="0"/>
              <a:t>x1,x2</a:t>
            </a:r>
            <a:r>
              <a:rPr lang="zh-CN" altLang="en-US" sz="2400" dirty="0"/>
              <a:t>均为</a:t>
            </a:r>
            <a:r>
              <a:rPr lang="en-US" altLang="zh-CN" sz="2400" dirty="0"/>
              <a:t>0</a:t>
            </a:r>
            <a:r>
              <a:rPr lang="zh-CN" altLang="en-US" sz="2400" dirty="0"/>
              <a:t>，可解得：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6885D51-57E1-45C3-85D9-0D93654E8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540199"/>
              </p:ext>
            </p:extLst>
          </p:nvPr>
        </p:nvGraphicFramePr>
        <p:xfrm>
          <a:off x="419284" y="3692831"/>
          <a:ext cx="39084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720" imgH="228600" progId="Equation.DSMT4">
                  <p:embed/>
                </p:oleObj>
              </mc:Choice>
              <mc:Fallback>
                <p:oleObj name="Equation" r:id="rId6" imgW="170172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33E6397-D005-47C4-BC8C-77DA41F260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284" y="3692831"/>
                        <a:ext cx="390842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372459"/>
              </p:ext>
            </p:extLst>
          </p:nvPr>
        </p:nvGraphicFramePr>
        <p:xfrm>
          <a:off x="344488" y="4665723"/>
          <a:ext cx="3816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279360" progId="Equation.DSMT4">
                  <p:embed/>
                </p:oleObj>
              </mc:Choice>
              <mc:Fallback>
                <p:oleObj name="Equation" r:id="rId8" imgW="1663560" imgH="2793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6885D51-57E1-45C3-85D9-0D93654E8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4488" y="4665723"/>
                        <a:ext cx="3816350" cy="64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4EC2356-7F47-4D31-AB37-600ADA1B616D}"/>
              </a:ext>
            </a:extLst>
          </p:cNvPr>
          <p:cNvSpPr txBox="1"/>
          <p:nvPr/>
        </p:nvSpPr>
        <p:spPr>
          <a:xfrm>
            <a:off x="136578" y="415449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得到初始的基本可行解：</a:t>
            </a:r>
          </a:p>
        </p:txBody>
      </p:sp>
    </p:spTree>
    <p:extLst>
      <p:ext uri="{BB962C8B-B14F-4D97-AF65-F5344CB8AC3E}">
        <p14:creationId xmlns:p14="http://schemas.microsoft.com/office/powerpoint/2010/main" val="78436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747246"/>
              </p:ext>
            </p:extLst>
          </p:nvPr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102637" y="3334184"/>
            <a:ext cx="4533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3. </a:t>
            </a:r>
            <a:r>
              <a:rPr lang="zh-CN" altLang="en-US" sz="2800" dirty="0"/>
              <a:t>判断可行解是否是最优解</a:t>
            </a:r>
            <a:endParaRPr lang="en-US" altLang="zh-CN" sz="28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196989"/>
              </p:ext>
            </p:extLst>
          </p:nvPr>
        </p:nvGraphicFramePr>
        <p:xfrm>
          <a:off x="415045" y="1144880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711000" progId="Equation.DSMT4">
                  <p:embed/>
                </p:oleObj>
              </mc:Choice>
              <mc:Fallback>
                <p:oleObj name="Equation" r:id="rId4" imgW="1562040" imgH="7110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045" y="1144880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789315"/>
              </p:ext>
            </p:extLst>
          </p:nvPr>
        </p:nvGraphicFramePr>
        <p:xfrm>
          <a:off x="272480" y="2714323"/>
          <a:ext cx="3816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279360" progId="Equation.DSMT4">
                  <p:embed/>
                </p:oleObj>
              </mc:Choice>
              <mc:Fallback>
                <p:oleObj name="Equation" r:id="rId6" imgW="166356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480" y="2714323"/>
                        <a:ext cx="3816350" cy="64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18A383E7-E389-4D15-8BA9-3383CCF6F099}"/>
              </a:ext>
            </a:extLst>
          </p:cNvPr>
          <p:cNvSpPr txBox="1"/>
          <p:nvPr/>
        </p:nvSpPr>
        <p:spPr>
          <a:xfrm>
            <a:off x="393071" y="4156075"/>
            <a:ext cx="8520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基本可行解中</a:t>
            </a:r>
            <a:r>
              <a:rPr lang="en-US" altLang="zh-CN" sz="2400" dirty="0"/>
              <a:t>x1=x2=0</a:t>
            </a:r>
            <a:r>
              <a:rPr lang="zh-CN" altLang="en-US" sz="2400" dirty="0"/>
              <a:t>，根据目标函数，当</a:t>
            </a:r>
            <a:r>
              <a:rPr lang="en-US" altLang="zh-CN" sz="2400" dirty="0"/>
              <a:t>x1,x2</a:t>
            </a:r>
            <a:r>
              <a:rPr lang="zh-CN" altLang="en-US" sz="2400" dirty="0"/>
              <a:t>的值增大的时候，函数值变小，因此该可行解并不是最优解</a:t>
            </a:r>
            <a:endParaRPr lang="en-US" altLang="zh-CN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43D63E-100B-4E91-A1B9-C245048DD08F}"/>
              </a:ext>
            </a:extLst>
          </p:cNvPr>
          <p:cNvSpPr/>
          <p:nvPr/>
        </p:nvSpPr>
        <p:spPr bwMode="auto">
          <a:xfrm>
            <a:off x="1616712" y="5092480"/>
            <a:ext cx="5280503" cy="1119998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如果当前目标函数变量前的系数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不全为非负数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，则不是最优解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9793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102636" y="3334184"/>
            <a:ext cx="5426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4. </a:t>
            </a:r>
            <a:r>
              <a:rPr lang="zh-CN" altLang="en-US" sz="2800" dirty="0"/>
              <a:t>继续迭代，计算另一个可行解</a:t>
            </a:r>
            <a:endParaRPr lang="en-US" altLang="zh-CN" sz="28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045" y="1144880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711000" progId="Equation.DSMT4">
                  <p:embed/>
                </p:oleObj>
              </mc:Choice>
              <mc:Fallback>
                <p:oleObj name="Equation" r:id="rId4" imgW="1562040" imgH="7110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045" y="1144880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80" y="2714323"/>
          <a:ext cx="3816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279360" progId="Equation.DSMT4">
                  <p:embed/>
                </p:oleObj>
              </mc:Choice>
              <mc:Fallback>
                <p:oleObj name="Equation" r:id="rId6" imgW="166356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480" y="2714323"/>
                        <a:ext cx="3816350" cy="64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EA6B838-55FB-43C5-985D-2D1CDDB519C5}"/>
              </a:ext>
            </a:extLst>
          </p:cNvPr>
          <p:cNvSpPr txBox="1"/>
          <p:nvPr/>
        </p:nvSpPr>
        <p:spPr>
          <a:xfrm>
            <a:off x="393071" y="4156075"/>
            <a:ext cx="8520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从非基变量</a:t>
            </a:r>
            <a:r>
              <a:rPr lang="en-US" altLang="zh-CN" sz="2400" dirty="0"/>
              <a:t>x1</a:t>
            </a:r>
            <a:r>
              <a:rPr lang="zh-CN" altLang="en-US" sz="2400" dirty="0"/>
              <a:t>，</a:t>
            </a:r>
            <a:r>
              <a:rPr lang="en-US" altLang="zh-CN" sz="2400" dirty="0"/>
              <a:t>x2</a:t>
            </a:r>
            <a:r>
              <a:rPr lang="zh-CN" altLang="en-US" sz="2400" dirty="0"/>
              <a:t>中，选择一个变成基变量，这个过程称为</a:t>
            </a:r>
            <a:r>
              <a:rPr lang="zh-CN" altLang="en-US" sz="2400" b="1" dirty="0">
                <a:solidFill>
                  <a:srgbClr val="0000FF"/>
                </a:solidFill>
              </a:rPr>
              <a:t>进基</a:t>
            </a:r>
            <a:r>
              <a:rPr lang="zh-CN" altLang="en-US" sz="2400" dirty="0"/>
              <a:t>。选择的依据是函数变化值最大的变量，也就是</a:t>
            </a:r>
            <a:r>
              <a:rPr lang="zh-CN" altLang="en-US" sz="2400" b="1" dirty="0">
                <a:solidFill>
                  <a:srgbClr val="FF0000"/>
                </a:solidFill>
              </a:rPr>
              <a:t>目标函数中负系数绝对值最大</a:t>
            </a:r>
            <a:r>
              <a:rPr lang="zh-CN" altLang="en-US" sz="2400" dirty="0"/>
              <a:t>的那个变量。</a:t>
            </a:r>
            <a:endParaRPr lang="en-US" altLang="zh-CN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AEC0E57-6B69-4DBD-9DBB-5CD897BF9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94544"/>
              </p:ext>
            </p:extLst>
          </p:nvPr>
        </p:nvGraphicFramePr>
        <p:xfrm>
          <a:off x="2075570" y="5315986"/>
          <a:ext cx="2563813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440" imgH="507960" progId="Equation.DSMT4">
                  <p:embed/>
                </p:oleObj>
              </mc:Choice>
              <mc:Fallback>
                <p:oleObj name="Equation" r:id="rId8" imgW="1117440" imgH="5079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75570" y="5315986"/>
                        <a:ext cx="2563813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AE42044-4140-45A8-8D99-94B6C05B9710}"/>
              </a:ext>
            </a:extLst>
          </p:cNvPr>
          <p:cNvSpPr/>
          <p:nvPr/>
        </p:nvSpPr>
        <p:spPr bwMode="auto">
          <a:xfrm>
            <a:off x="2000672" y="5900186"/>
            <a:ext cx="504056" cy="58042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47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102636" y="3334184"/>
            <a:ext cx="5426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4. </a:t>
            </a:r>
            <a:r>
              <a:rPr lang="zh-CN" altLang="en-US" sz="2800" dirty="0"/>
              <a:t>继续迭代，计算另一个可行解</a:t>
            </a:r>
            <a:endParaRPr lang="en-US" altLang="zh-CN" sz="28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045" y="1144880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711000" progId="Equation.DSMT4">
                  <p:embed/>
                </p:oleObj>
              </mc:Choice>
              <mc:Fallback>
                <p:oleObj name="Equation" r:id="rId4" imgW="1562040" imgH="7110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045" y="1144880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80" y="2714323"/>
          <a:ext cx="3816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279360" progId="Equation.DSMT4">
                  <p:embed/>
                </p:oleObj>
              </mc:Choice>
              <mc:Fallback>
                <p:oleObj name="Equation" r:id="rId6" imgW="166356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480" y="2714323"/>
                        <a:ext cx="3816350" cy="64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EA6B838-55FB-43C5-985D-2D1CDDB519C5}"/>
              </a:ext>
            </a:extLst>
          </p:cNvPr>
          <p:cNvSpPr txBox="1"/>
          <p:nvPr/>
        </p:nvSpPr>
        <p:spPr>
          <a:xfrm>
            <a:off x="393071" y="4156075"/>
            <a:ext cx="8520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从基变量</a:t>
            </a:r>
            <a:r>
              <a:rPr lang="en-US" altLang="zh-CN" sz="2400" dirty="0"/>
              <a:t>x3,x4,x5</a:t>
            </a:r>
            <a:r>
              <a:rPr lang="zh-CN" altLang="en-US" sz="2400" dirty="0"/>
              <a:t>中选择一个变成非基变量，这个过程叫</a:t>
            </a:r>
            <a:r>
              <a:rPr lang="zh-CN" altLang="en-US" sz="2400" b="1" dirty="0">
                <a:solidFill>
                  <a:srgbClr val="0000FF"/>
                </a:solidFill>
              </a:rPr>
              <a:t>离基</a:t>
            </a:r>
            <a:r>
              <a:rPr lang="zh-CN" altLang="en-US" sz="2400" dirty="0"/>
              <a:t>。选择的依据是保证新构建的基矩阵得到基本可行解，也就是所有变量非负。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708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102636" y="3334184"/>
            <a:ext cx="5426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4. </a:t>
            </a:r>
            <a:r>
              <a:rPr lang="zh-CN" altLang="en-US" sz="2800" dirty="0"/>
              <a:t>继续迭代，计算另一个可行解</a:t>
            </a:r>
            <a:endParaRPr lang="en-US" altLang="zh-CN" sz="28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045" y="1144880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711000" progId="Equation.DSMT4">
                  <p:embed/>
                </p:oleObj>
              </mc:Choice>
              <mc:Fallback>
                <p:oleObj name="Equation" r:id="rId4" imgW="1562040" imgH="7110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045" y="1144880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80" y="2714323"/>
          <a:ext cx="3816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279360" progId="Equation.DSMT4">
                  <p:embed/>
                </p:oleObj>
              </mc:Choice>
              <mc:Fallback>
                <p:oleObj name="Equation" r:id="rId6" imgW="166356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480" y="2714323"/>
                        <a:ext cx="3816350" cy="64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EA6B838-55FB-43C5-985D-2D1CDDB519C5}"/>
              </a:ext>
            </a:extLst>
          </p:cNvPr>
          <p:cNvSpPr txBox="1"/>
          <p:nvPr/>
        </p:nvSpPr>
        <p:spPr>
          <a:xfrm>
            <a:off x="393071" y="4156075"/>
            <a:ext cx="8520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由于选择了</a:t>
            </a:r>
            <a:r>
              <a:rPr lang="en-US" altLang="zh-CN" sz="2400" dirty="0"/>
              <a:t>x2</a:t>
            </a:r>
            <a:r>
              <a:rPr lang="zh-CN" altLang="en-US" sz="2400" dirty="0"/>
              <a:t>入基，因此</a:t>
            </a:r>
            <a:r>
              <a:rPr lang="en-US" altLang="zh-CN" sz="2400" dirty="0"/>
              <a:t>x1</a:t>
            </a:r>
            <a:r>
              <a:rPr lang="zh-CN" altLang="en-US" sz="2400" dirty="0"/>
              <a:t>仍然是非基变量，所以，令</a:t>
            </a:r>
            <a:r>
              <a:rPr lang="en-US" altLang="zh-CN" sz="2400" dirty="0"/>
              <a:t>x1=0</a:t>
            </a:r>
            <a:r>
              <a:rPr lang="zh-CN" altLang="en-US" sz="2400" dirty="0"/>
              <a:t>，得到：</a:t>
            </a:r>
            <a:endParaRPr lang="en-US" altLang="zh-CN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AEC0E57-6B69-4DBD-9DBB-5CD897BF9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237760"/>
              </p:ext>
            </p:extLst>
          </p:nvPr>
        </p:nvGraphicFramePr>
        <p:xfrm>
          <a:off x="344488" y="4961586"/>
          <a:ext cx="2214562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160" imgH="685800" progId="Equation.DSMT4">
                  <p:embed/>
                </p:oleObj>
              </mc:Choice>
              <mc:Fallback>
                <p:oleObj name="Equation" r:id="rId8" imgW="965160" imgH="685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AEC0E57-6B69-4DBD-9DBB-5CD897BF9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4488" y="4961586"/>
                        <a:ext cx="2214562" cy="157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B4C5739-C6BE-49AA-852E-41FCF4B87279}"/>
              </a:ext>
            </a:extLst>
          </p:cNvPr>
          <p:cNvSpPr txBox="1"/>
          <p:nvPr/>
        </p:nvSpPr>
        <p:spPr>
          <a:xfrm>
            <a:off x="2146881" y="4571573"/>
            <a:ext cx="396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要保证变量非负，则：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2FF4FAB-8880-4513-8B97-663FD24A40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147605"/>
              </p:ext>
            </p:extLst>
          </p:nvPr>
        </p:nvGraphicFramePr>
        <p:xfrm>
          <a:off x="3291772" y="4982302"/>
          <a:ext cx="2738437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760" imgH="685800" progId="Equation.DSMT4">
                  <p:embed/>
                </p:oleObj>
              </mc:Choice>
              <mc:Fallback>
                <p:oleObj name="Equation" r:id="rId10" imgW="1193760" imgH="685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AEC0E57-6B69-4DBD-9DBB-5CD897BF9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91772" y="4982302"/>
                        <a:ext cx="2738437" cy="157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FE2D010-BE17-4D9E-9DB6-09ACE3E67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735213"/>
              </p:ext>
            </p:extLst>
          </p:nvPr>
        </p:nvGraphicFramePr>
        <p:xfrm>
          <a:off x="6817101" y="4927600"/>
          <a:ext cx="1281113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8720" imgH="711000" progId="Equation.DSMT4">
                  <p:embed/>
                </p:oleObj>
              </mc:Choice>
              <mc:Fallback>
                <p:oleObj name="Equation" r:id="rId12" imgW="558720" imgH="7110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2FF4FAB-8880-4513-8B97-663FD24A40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17101" y="4927600"/>
                        <a:ext cx="1281113" cy="163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B65953B3-D70D-42D5-A6BD-697659563069}"/>
              </a:ext>
            </a:extLst>
          </p:cNvPr>
          <p:cNvSpPr/>
          <p:nvPr/>
        </p:nvSpPr>
        <p:spPr bwMode="auto">
          <a:xfrm>
            <a:off x="2655517" y="5517232"/>
            <a:ext cx="539787" cy="4616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70BC4FA6-A9B5-41F5-962C-22A907DD7E12}"/>
              </a:ext>
            </a:extLst>
          </p:cNvPr>
          <p:cNvSpPr/>
          <p:nvPr/>
        </p:nvSpPr>
        <p:spPr bwMode="auto">
          <a:xfrm>
            <a:off x="6223144" y="5529228"/>
            <a:ext cx="539787" cy="4616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FD911F-E6BB-4494-BAC2-159380F7A8FB}"/>
              </a:ext>
            </a:extLst>
          </p:cNvPr>
          <p:cNvSpPr/>
          <p:nvPr/>
        </p:nvSpPr>
        <p:spPr bwMode="auto">
          <a:xfrm>
            <a:off x="254108" y="5467011"/>
            <a:ext cx="8083268" cy="5861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B46F0D-051D-4322-9069-8FA64654F5BC}"/>
              </a:ext>
            </a:extLst>
          </p:cNvPr>
          <p:cNvSpPr txBox="1"/>
          <p:nvPr/>
        </p:nvSpPr>
        <p:spPr>
          <a:xfrm>
            <a:off x="5544392" y="4566804"/>
            <a:ext cx="4291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应该使得</a:t>
            </a:r>
            <a:r>
              <a:rPr lang="en-US" altLang="zh-CN" sz="2400" b="1" dirty="0">
                <a:solidFill>
                  <a:srgbClr val="C00000"/>
                </a:solidFill>
              </a:rPr>
              <a:t>X2</a:t>
            </a:r>
            <a:r>
              <a:rPr lang="zh-CN" altLang="en-US" sz="2400" b="1" dirty="0">
                <a:solidFill>
                  <a:srgbClr val="C00000"/>
                </a:solidFill>
              </a:rPr>
              <a:t>尽可能大，</a:t>
            </a:r>
            <a:r>
              <a:rPr lang="en-US" altLang="zh-CN" sz="2400" b="1" dirty="0">
                <a:solidFill>
                  <a:srgbClr val="C00000"/>
                </a:solidFill>
              </a:rPr>
              <a:t>x4</a:t>
            </a:r>
            <a:r>
              <a:rPr lang="zh-CN" altLang="en-US" sz="2400" b="1" dirty="0">
                <a:solidFill>
                  <a:srgbClr val="C00000"/>
                </a:solidFill>
              </a:rPr>
              <a:t>出基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19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8" grpId="0" animBg="1"/>
      <p:bldP spid="17" grpId="0" animBg="1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102636" y="3334184"/>
            <a:ext cx="5426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4. </a:t>
            </a:r>
            <a:r>
              <a:rPr lang="zh-CN" altLang="en-US" sz="2800" dirty="0"/>
              <a:t>继续迭代，计算另一个可行解</a:t>
            </a:r>
            <a:endParaRPr lang="en-US" altLang="zh-CN" sz="28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045" y="1144880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711000" progId="Equation.DSMT4">
                  <p:embed/>
                </p:oleObj>
              </mc:Choice>
              <mc:Fallback>
                <p:oleObj name="Equation" r:id="rId4" imgW="1562040" imgH="7110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045" y="1144880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80" y="2714323"/>
          <a:ext cx="3816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279360" progId="Equation.DSMT4">
                  <p:embed/>
                </p:oleObj>
              </mc:Choice>
              <mc:Fallback>
                <p:oleObj name="Equation" r:id="rId6" imgW="166356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480" y="2714323"/>
                        <a:ext cx="3816350" cy="64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EA6B838-55FB-43C5-985D-2D1CDDB519C5}"/>
              </a:ext>
            </a:extLst>
          </p:cNvPr>
          <p:cNvSpPr txBox="1"/>
          <p:nvPr/>
        </p:nvSpPr>
        <p:spPr>
          <a:xfrm>
            <a:off x="393071" y="4156075"/>
            <a:ext cx="8520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对上面的矩阵进行对换操作，使得</a:t>
            </a:r>
            <a:r>
              <a:rPr lang="en-US" altLang="zh-CN" sz="2400" dirty="0"/>
              <a:t>x2,x3,x5</a:t>
            </a:r>
            <a:r>
              <a:rPr lang="zh-CN" altLang="en-US" sz="2400" dirty="0"/>
              <a:t>构成一个基，并且是单位矩阵。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4126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1775C1-2549-4A16-94B1-1B9286FD4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045" y="1144880"/>
          <a:ext cx="33210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711000" progId="Equation.DSMT4">
                  <p:embed/>
                </p:oleObj>
              </mc:Choice>
              <mc:Fallback>
                <p:oleObj name="Equation" r:id="rId2" imgW="1562040" imgH="7110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5045" y="1144880"/>
                        <a:ext cx="3321050" cy="15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EA6B838-55FB-43C5-985D-2D1CDDB519C5}"/>
              </a:ext>
            </a:extLst>
          </p:cNvPr>
          <p:cNvSpPr txBox="1"/>
          <p:nvPr/>
        </p:nvSpPr>
        <p:spPr>
          <a:xfrm>
            <a:off x="128464" y="2632279"/>
            <a:ext cx="8520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x2</a:t>
            </a:r>
            <a:r>
              <a:rPr lang="zh-CN" altLang="en-US" sz="2400" dirty="0"/>
              <a:t>对应的基向量变成</a:t>
            </a:r>
            <a:r>
              <a:rPr lang="en-US" altLang="zh-CN" sz="2400" dirty="0"/>
              <a:t>[0,1,0]</a:t>
            </a:r>
            <a:r>
              <a:rPr lang="en-US" altLang="zh-CN" sz="2400" baseline="30000" dirty="0"/>
              <a:t>T</a:t>
            </a:r>
            <a:r>
              <a:rPr lang="zh-CN" altLang="en-US" sz="2400" dirty="0"/>
              <a:t>的形式：</a:t>
            </a:r>
            <a:endParaRPr lang="en-US" altLang="zh-CN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8DA1AE-D2C2-4436-979C-26BEE61B7AD6}"/>
              </a:ext>
            </a:extLst>
          </p:cNvPr>
          <p:cNvSpPr/>
          <p:nvPr/>
        </p:nvSpPr>
        <p:spPr bwMode="auto">
          <a:xfrm>
            <a:off x="992560" y="1175712"/>
            <a:ext cx="504056" cy="138919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EFC6B5-2402-46E9-8186-8CA84E4B6291}"/>
              </a:ext>
            </a:extLst>
          </p:cNvPr>
          <p:cNvSpPr txBox="1"/>
          <p:nvPr/>
        </p:nvSpPr>
        <p:spPr>
          <a:xfrm>
            <a:off x="422921" y="3027424"/>
            <a:ext cx="8520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400" dirty="0"/>
              <a:t>第二行除以</a:t>
            </a:r>
            <a:r>
              <a:rPr lang="en-US" altLang="zh-CN" sz="2400" dirty="0"/>
              <a:t>10</a:t>
            </a: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/>
              <a:t>第二行乘以</a:t>
            </a:r>
            <a:r>
              <a:rPr lang="en-US" altLang="zh-CN" sz="2400" dirty="0"/>
              <a:t>-4</a:t>
            </a:r>
            <a:r>
              <a:rPr lang="zh-CN" altLang="en-US" sz="2400" dirty="0"/>
              <a:t>加上第一行</a:t>
            </a:r>
            <a:endParaRPr lang="en-US" altLang="zh-CN" sz="24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/>
              <a:t>第二行乘</a:t>
            </a:r>
            <a:r>
              <a:rPr lang="en-US" altLang="zh-CN" sz="2400" dirty="0"/>
              <a:t>-5</a:t>
            </a:r>
            <a:r>
              <a:rPr lang="zh-CN" altLang="en-US" sz="2400" dirty="0"/>
              <a:t>加上第三行</a:t>
            </a:r>
            <a:endParaRPr lang="en-US" altLang="zh-CN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35E35DE-9F2D-4770-A51F-C57DFEC49D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047567"/>
              </p:ext>
            </p:extLst>
          </p:nvPr>
        </p:nvGraphicFramePr>
        <p:xfrm>
          <a:off x="5954005" y="1160452"/>
          <a:ext cx="353695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888840" progId="Equation.DSMT4">
                  <p:embed/>
                </p:oleObj>
              </mc:Choice>
              <mc:Fallback>
                <p:oleObj name="Equation" r:id="rId4" imgW="166356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1775C1-2549-4A16-94B1-1B9286FD4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54005" y="1160452"/>
                        <a:ext cx="3536950" cy="189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箭头: 右 14">
            <a:extLst>
              <a:ext uri="{FF2B5EF4-FFF2-40B4-BE49-F238E27FC236}">
                <a16:creationId xmlns:a16="http://schemas.microsoft.com/office/drawing/2014/main" id="{A3CBD8C0-79B7-40A2-9370-9B4032A12077}"/>
              </a:ext>
            </a:extLst>
          </p:cNvPr>
          <p:cNvSpPr/>
          <p:nvPr/>
        </p:nvSpPr>
        <p:spPr bwMode="auto">
          <a:xfrm>
            <a:off x="4683106" y="1730526"/>
            <a:ext cx="539787" cy="4616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9047C4B5-FE35-457A-AF57-85F4C9334424}"/>
              </a:ext>
            </a:extLst>
          </p:cNvPr>
          <p:cNvSpPr/>
          <p:nvPr/>
        </p:nvSpPr>
        <p:spPr bwMode="auto">
          <a:xfrm rot="5400000">
            <a:off x="7452586" y="3207822"/>
            <a:ext cx="539787" cy="4616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3B048F0-2FB7-4C2A-8DA4-327450A14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397371"/>
              </p:ext>
            </p:extLst>
          </p:nvPr>
        </p:nvGraphicFramePr>
        <p:xfrm>
          <a:off x="5886535" y="3795523"/>
          <a:ext cx="3671887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1244520" progId="Equation.DSMT4">
                  <p:embed/>
                </p:oleObj>
              </mc:Choice>
              <mc:Fallback>
                <p:oleObj name="Equation" r:id="rId6" imgW="1726920" imgH="12445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35E35DE-9F2D-4770-A51F-C57DFEC49D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86535" y="3795523"/>
                        <a:ext cx="3671887" cy="264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箭头: 右 19">
            <a:extLst>
              <a:ext uri="{FF2B5EF4-FFF2-40B4-BE49-F238E27FC236}">
                <a16:creationId xmlns:a16="http://schemas.microsoft.com/office/drawing/2014/main" id="{01003C56-9D18-4D0F-9BDE-F05A28AE8393}"/>
              </a:ext>
            </a:extLst>
          </p:cNvPr>
          <p:cNvSpPr/>
          <p:nvPr/>
        </p:nvSpPr>
        <p:spPr bwMode="auto">
          <a:xfrm rot="10800000">
            <a:off x="5191904" y="5120291"/>
            <a:ext cx="539787" cy="4616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7118440-22C1-4A1F-A362-7660B260A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584712"/>
              </p:ext>
            </p:extLst>
          </p:nvPr>
        </p:nvGraphicFramePr>
        <p:xfrm>
          <a:off x="1500720" y="4133874"/>
          <a:ext cx="3671887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1244520" progId="Equation.DSMT4">
                  <p:embed/>
                </p:oleObj>
              </mc:Choice>
              <mc:Fallback>
                <p:oleObj name="Equation" r:id="rId8" imgW="1726920" imgH="12445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3B048F0-2FB7-4C2A-8DA4-327450A14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00720" y="4133874"/>
                        <a:ext cx="3671887" cy="264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05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  <p:bldP spid="15" grpId="0" animBg="1"/>
      <p:bldP spid="16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92949" y="1156062"/>
            <a:ext cx="4533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5. </a:t>
            </a:r>
            <a:r>
              <a:rPr lang="zh-CN" altLang="en-US" sz="2800" dirty="0"/>
              <a:t>确定一个新的基本可行解</a:t>
            </a:r>
            <a:endParaRPr lang="en-US" altLang="zh-CN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2142EA-DAE5-4D82-8CA6-C45ED69F2B64}"/>
              </a:ext>
            </a:extLst>
          </p:cNvPr>
          <p:cNvSpPr txBox="1"/>
          <p:nvPr/>
        </p:nvSpPr>
        <p:spPr>
          <a:xfrm>
            <a:off x="142176" y="4295882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  <a:r>
              <a:rPr lang="en-US" altLang="zh-CN" sz="2400" dirty="0"/>
              <a:t>x1,x4</a:t>
            </a:r>
            <a:r>
              <a:rPr lang="zh-CN" altLang="en-US" sz="2400" dirty="0"/>
              <a:t>均为</a:t>
            </a:r>
            <a:r>
              <a:rPr lang="en-US" altLang="zh-CN" sz="2400" dirty="0"/>
              <a:t>0</a:t>
            </a:r>
            <a:r>
              <a:rPr lang="zh-CN" altLang="en-US" sz="2400" dirty="0"/>
              <a:t>，可解得：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6885D51-57E1-45C3-85D9-0D93654E8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382650"/>
              </p:ext>
            </p:extLst>
          </p:nvPr>
        </p:nvGraphicFramePr>
        <p:xfrm>
          <a:off x="642938" y="4694238"/>
          <a:ext cx="35575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228600" progId="Equation.DSMT4">
                  <p:embed/>
                </p:oleObj>
              </mc:Choice>
              <mc:Fallback>
                <p:oleObj name="Equation" r:id="rId4" imgW="154908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6885D51-57E1-45C3-85D9-0D93654E8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2938" y="4694238"/>
                        <a:ext cx="3557587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699255"/>
              </p:ext>
            </p:extLst>
          </p:nvPr>
        </p:nvGraphicFramePr>
        <p:xfrm>
          <a:off x="582613" y="5665788"/>
          <a:ext cx="343852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79360" progId="Equation.DSMT4">
                  <p:embed/>
                </p:oleObj>
              </mc:Choice>
              <mc:Fallback>
                <p:oleObj name="Equation" r:id="rId6" imgW="149832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2613" y="5665788"/>
                        <a:ext cx="3438525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4EC2356-7F47-4D31-AB37-600ADA1B616D}"/>
              </a:ext>
            </a:extLst>
          </p:cNvPr>
          <p:cNvSpPr txBox="1"/>
          <p:nvPr/>
        </p:nvSpPr>
        <p:spPr>
          <a:xfrm>
            <a:off x="185805" y="515515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得到新的基本可行解：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86179D9-19B6-4A0F-861A-6CF624DD2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136226"/>
              </p:ext>
            </p:extLst>
          </p:nvPr>
        </p:nvGraphicFramePr>
        <p:xfrm>
          <a:off x="843849" y="1605338"/>
          <a:ext cx="3671887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1244520" progId="Equation.DSMT4">
                  <p:embed/>
                </p:oleObj>
              </mc:Choice>
              <mc:Fallback>
                <p:oleObj name="Equation" r:id="rId8" imgW="1726920" imgH="12445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7118440-22C1-4A1F-A362-7660B260A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3849" y="1605338"/>
                        <a:ext cx="3671887" cy="264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642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EC47A31-A427-4F56-8C70-4CFEC08ED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405666"/>
              </p:ext>
            </p:extLst>
          </p:nvPr>
        </p:nvGraphicFramePr>
        <p:xfrm>
          <a:off x="4703763" y="1009650"/>
          <a:ext cx="51879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193760" progId="Equation.DSMT4">
                  <p:embed/>
                </p:oleObj>
              </mc:Choice>
              <mc:Fallback>
                <p:oleObj name="Equation" r:id="rId2" imgW="19684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3763" y="1009650"/>
                        <a:ext cx="5187950" cy="3146425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92949" y="1156062"/>
            <a:ext cx="4533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5. </a:t>
            </a:r>
            <a:r>
              <a:rPr lang="zh-CN" altLang="en-US" sz="2800" dirty="0"/>
              <a:t>确定一个新的基本可行解</a:t>
            </a:r>
            <a:endParaRPr lang="en-US" altLang="zh-CN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2142EA-DAE5-4D82-8CA6-C45ED69F2B64}"/>
              </a:ext>
            </a:extLst>
          </p:cNvPr>
          <p:cNvSpPr txBox="1"/>
          <p:nvPr/>
        </p:nvSpPr>
        <p:spPr>
          <a:xfrm>
            <a:off x="142176" y="4295882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  <a:r>
              <a:rPr lang="en-US" altLang="zh-CN" sz="2400" dirty="0"/>
              <a:t>x1,x4</a:t>
            </a:r>
            <a:r>
              <a:rPr lang="zh-CN" altLang="en-US" sz="2400" dirty="0"/>
              <a:t>均为</a:t>
            </a:r>
            <a:r>
              <a:rPr lang="en-US" altLang="zh-CN" sz="2400" dirty="0"/>
              <a:t>0</a:t>
            </a:r>
            <a:r>
              <a:rPr lang="zh-CN" altLang="en-US" sz="2400" dirty="0"/>
              <a:t>，可解得：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6885D51-57E1-45C3-85D9-0D93654E8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4694238"/>
          <a:ext cx="35575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228600" progId="Equation.DSMT4">
                  <p:embed/>
                </p:oleObj>
              </mc:Choice>
              <mc:Fallback>
                <p:oleObj name="Equation" r:id="rId4" imgW="154908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6885D51-57E1-45C3-85D9-0D93654E8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2938" y="4694238"/>
                        <a:ext cx="3557587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613" y="5665788"/>
          <a:ext cx="343852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79360" progId="Equation.DSMT4">
                  <p:embed/>
                </p:oleObj>
              </mc:Choice>
              <mc:Fallback>
                <p:oleObj name="Equation" r:id="rId6" imgW="149832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2613" y="5665788"/>
                        <a:ext cx="3438525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4EC2356-7F47-4D31-AB37-600ADA1B616D}"/>
              </a:ext>
            </a:extLst>
          </p:cNvPr>
          <p:cNvSpPr txBox="1"/>
          <p:nvPr/>
        </p:nvSpPr>
        <p:spPr>
          <a:xfrm>
            <a:off x="185805" y="515515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得到新的基本可行解：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86179D9-19B6-4A0F-861A-6CF624DD2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087609"/>
              </p:ext>
            </p:extLst>
          </p:nvPr>
        </p:nvGraphicFramePr>
        <p:xfrm>
          <a:off x="142176" y="1586822"/>
          <a:ext cx="3671887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1244520" progId="Equation.DSMT4">
                  <p:embed/>
                </p:oleObj>
              </mc:Choice>
              <mc:Fallback>
                <p:oleObj name="Equation" r:id="rId8" imgW="1726920" imgH="1244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86179D9-19B6-4A0F-861A-6CF624DD2F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2176" y="1586822"/>
                        <a:ext cx="3671887" cy="264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9F348E0-5283-4199-9080-EA5B5AAD356E}"/>
              </a:ext>
            </a:extLst>
          </p:cNvPr>
          <p:cNvSpPr txBox="1"/>
          <p:nvPr/>
        </p:nvSpPr>
        <p:spPr>
          <a:xfrm>
            <a:off x="4808984" y="4302245"/>
            <a:ext cx="4836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将目标函数化为包含</a:t>
            </a:r>
            <a:r>
              <a:rPr lang="en-US" altLang="zh-CN" sz="2400" dirty="0"/>
              <a:t>x1</a:t>
            </a:r>
            <a:r>
              <a:rPr lang="zh-CN" altLang="en-US" sz="2400" dirty="0"/>
              <a:t>，</a:t>
            </a:r>
            <a:r>
              <a:rPr lang="en-US" altLang="zh-CN" sz="2400" dirty="0"/>
              <a:t>x4</a:t>
            </a:r>
            <a:r>
              <a:rPr lang="zh-CN" altLang="en-US" sz="2400" dirty="0"/>
              <a:t>的形式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BB34640-2139-4699-A2FA-86F812E7D0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249258"/>
              </p:ext>
            </p:extLst>
          </p:nvPr>
        </p:nvGraphicFramePr>
        <p:xfrm>
          <a:off x="4960590" y="4749952"/>
          <a:ext cx="3513138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3880" imgH="812520" progId="Equation.DSMT4">
                  <p:embed/>
                </p:oleObj>
              </mc:Choice>
              <mc:Fallback>
                <p:oleObj name="Equation" r:id="rId10" imgW="1523880" imgH="8125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6885D51-57E1-45C3-85D9-0D93654E8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60590" y="4749952"/>
                        <a:ext cx="3513138" cy="1865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4B395389-2B6E-44BA-B0D7-281B7C425B0D}"/>
              </a:ext>
            </a:extLst>
          </p:cNvPr>
          <p:cNvSpPr/>
          <p:nvPr/>
        </p:nvSpPr>
        <p:spPr bwMode="auto">
          <a:xfrm>
            <a:off x="288490" y="2507531"/>
            <a:ext cx="3384376" cy="921469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E3CB8B62-2860-431F-B983-5A71508C8175}"/>
              </a:ext>
            </a:extLst>
          </p:cNvPr>
          <p:cNvSpPr/>
          <p:nvPr/>
        </p:nvSpPr>
        <p:spPr bwMode="auto">
          <a:xfrm rot="19404275">
            <a:off x="6037598" y="3336380"/>
            <a:ext cx="2520280" cy="1224136"/>
          </a:xfrm>
          <a:prstGeom prst="rightArrow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带入，化去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x2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A096876-CF71-41A8-8F96-BA71E814C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869819"/>
              </p:ext>
            </p:extLst>
          </p:nvPr>
        </p:nvGraphicFramePr>
        <p:xfrm>
          <a:off x="3960377" y="1156062"/>
          <a:ext cx="5913228" cy="302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36760" imgH="1193760" progId="Equation.DSMT4">
                  <p:embed/>
                </p:oleObj>
              </mc:Choice>
              <mc:Fallback>
                <p:oleObj name="Equation" r:id="rId12" imgW="233676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EC47A31-A427-4F56-8C70-4CFEC08E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60377" y="1156062"/>
                        <a:ext cx="5913228" cy="3021401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96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102637" y="4342104"/>
            <a:ext cx="4533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6. </a:t>
            </a:r>
            <a:r>
              <a:rPr lang="zh-CN" altLang="en-US" sz="2800" dirty="0"/>
              <a:t>判断可行解是否是最优解</a:t>
            </a:r>
            <a:endParaRPr lang="en-US" altLang="zh-CN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A383E7-E389-4D15-8BA9-3383CCF6F099}"/>
              </a:ext>
            </a:extLst>
          </p:cNvPr>
          <p:cNvSpPr txBox="1"/>
          <p:nvPr/>
        </p:nvSpPr>
        <p:spPr>
          <a:xfrm>
            <a:off x="288532" y="5020167"/>
            <a:ext cx="8520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目标函数中</a:t>
            </a:r>
            <a:r>
              <a:rPr lang="en-US" altLang="zh-CN" sz="2400" dirty="0"/>
              <a:t>x1</a:t>
            </a:r>
            <a:r>
              <a:rPr lang="zh-CN" altLang="en-US" sz="2400" dirty="0"/>
              <a:t>是负数，则该可行解并不是最优解</a:t>
            </a:r>
            <a:endParaRPr lang="en-US" altLang="zh-CN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0C81A45-B181-489A-9BCD-AF6CB89EA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13512"/>
              </p:ext>
            </p:extLst>
          </p:nvPr>
        </p:nvGraphicFramePr>
        <p:xfrm>
          <a:off x="200270" y="1100506"/>
          <a:ext cx="3671887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1244520" progId="Equation.DSMT4">
                  <p:embed/>
                </p:oleObj>
              </mc:Choice>
              <mc:Fallback>
                <p:oleObj name="Equation" r:id="rId2" imgW="1726920" imgH="1244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86179D9-19B6-4A0F-861A-6CF624DD2F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270" y="1100506"/>
                        <a:ext cx="3671887" cy="264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93F0222-8344-44B9-A686-ED82A2909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24112"/>
              </p:ext>
            </p:extLst>
          </p:nvPr>
        </p:nvGraphicFramePr>
        <p:xfrm>
          <a:off x="288532" y="3750043"/>
          <a:ext cx="343852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279360" progId="Equation.DSMT4">
                  <p:embed/>
                </p:oleObj>
              </mc:Choice>
              <mc:Fallback>
                <p:oleObj name="Equation" r:id="rId4" imgW="149832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532" y="3750043"/>
                        <a:ext cx="3438525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61BA78D-14D1-4892-9A35-84A4508F6E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050567"/>
              </p:ext>
            </p:extLst>
          </p:nvPr>
        </p:nvGraphicFramePr>
        <p:xfrm>
          <a:off x="3960377" y="1124744"/>
          <a:ext cx="5913228" cy="302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36760" imgH="1193760" progId="Equation.DSMT4">
                  <p:embed/>
                </p:oleObj>
              </mc:Choice>
              <mc:Fallback>
                <p:oleObj name="Equation" r:id="rId6" imgW="2336760" imgH="11937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A096876-CF71-41A8-8F96-BA71E814C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60377" y="1124744"/>
                        <a:ext cx="5913228" cy="3021401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009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102637" y="4342104"/>
            <a:ext cx="5969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7. </a:t>
            </a:r>
            <a:r>
              <a:rPr lang="zh-CN" altLang="en-US" sz="2800" dirty="0"/>
              <a:t>继续迭代，计算下一个基本可行解</a:t>
            </a:r>
            <a:endParaRPr lang="en-US" altLang="zh-CN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A383E7-E389-4D15-8BA9-3383CCF6F099}"/>
              </a:ext>
            </a:extLst>
          </p:cNvPr>
          <p:cNvSpPr txBox="1"/>
          <p:nvPr/>
        </p:nvSpPr>
        <p:spPr>
          <a:xfrm>
            <a:off x="288532" y="5020167"/>
            <a:ext cx="8520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根据目标函数，确定</a:t>
            </a:r>
            <a:r>
              <a:rPr lang="en-US" altLang="zh-CN" sz="2400" dirty="0"/>
              <a:t>x1</a:t>
            </a:r>
            <a:r>
              <a:rPr lang="zh-CN" altLang="en-US" sz="2400" dirty="0"/>
              <a:t>入基（非负系数绝对值最大）</a:t>
            </a:r>
            <a:endParaRPr lang="en-US" altLang="zh-CN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0C81A45-B181-489A-9BCD-AF6CB89EA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270" y="1100506"/>
          <a:ext cx="3671887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1244520" progId="Equation.DSMT4">
                  <p:embed/>
                </p:oleObj>
              </mc:Choice>
              <mc:Fallback>
                <p:oleObj name="Equation" r:id="rId2" imgW="1726920" imgH="1244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0C81A45-B181-489A-9BCD-AF6CB89EAC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270" y="1100506"/>
                        <a:ext cx="3671887" cy="264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93F0222-8344-44B9-A686-ED82A2909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532" y="3750043"/>
          <a:ext cx="343852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279360" progId="Equation.DSMT4">
                  <p:embed/>
                </p:oleObj>
              </mc:Choice>
              <mc:Fallback>
                <p:oleObj name="Equation" r:id="rId4" imgW="1498320" imgH="2793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93F0222-8344-44B9-A686-ED82A29095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532" y="3750043"/>
                        <a:ext cx="3438525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61BA78D-14D1-4892-9A35-84A4508F6E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0377" y="1124744"/>
          <a:ext cx="5913228" cy="302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36760" imgH="1193760" progId="Equation.DSMT4">
                  <p:embed/>
                </p:oleObj>
              </mc:Choice>
              <mc:Fallback>
                <p:oleObj name="Equation" r:id="rId6" imgW="2336760" imgH="11937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61BA78D-14D1-4892-9A35-84A4508F6E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60377" y="1124744"/>
                        <a:ext cx="5913228" cy="3021401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0F409C6-0C03-4E3A-BC22-D643F1C7A428}"/>
              </a:ext>
            </a:extLst>
          </p:cNvPr>
          <p:cNvSpPr txBox="1"/>
          <p:nvPr/>
        </p:nvSpPr>
        <p:spPr>
          <a:xfrm>
            <a:off x="308227" y="5592266"/>
            <a:ext cx="8520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确定</a:t>
            </a:r>
            <a:r>
              <a:rPr lang="en-US" altLang="zh-CN" sz="2400" dirty="0"/>
              <a:t>x5</a:t>
            </a:r>
            <a:r>
              <a:rPr lang="zh-CN" altLang="en-US" sz="2400" dirty="0"/>
              <a:t>离基（令</a:t>
            </a:r>
            <a:r>
              <a:rPr lang="en-US" altLang="zh-CN" sz="2400" dirty="0"/>
              <a:t>x4</a:t>
            </a:r>
            <a:r>
              <a:rPr lang="zh-CN" altLang="en-US" sz="2400" dirty="0"/>
              <a:t>为</a:t>
            </a:r>
            <a:r>
              <a:rPr lang="en-US" altLang="zh-CN" sz="2400" dirty="0"/>
              <a:t>0</a:t>
            </a:r>
            <a:r>
              <a:rPr lang="zh-CN" altLang="en-US" sz="2400" dirty="0"/>
              <a:t>，保证</a:t>
            </a:r>
            <a:r>
              <a:rPr lang="en-US" altLang="zh-CN" sz="2400" dirty="0"/>
              <a:t>x2,x3,x5</a:t>
            </a:r>
            <a:r>
              <a:rPr lang="zh-CN" altLang="en-US" sz="2400" dirty="0"/>
              <a:t>为非负，取最小值对应的变量）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4662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76237" y="3758010"/>
            <a:ext cx="5113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8. </a:t>
            </a:r>
            <a:r>
              <a:rPr lang="zh-CN" altLang="en-US" sz="2800" dirty="0"/>
              <a:t>矩阵变换，令</a:t>
            </a:r>
            <a:r>
              <a:rPr lang="en-US" altLang="zh-CN" sz="2800" dirty="0"/>
              <a:t>x1</a:t>
            </a:r>
            <a:r>
              <a:rPr lang="zh-CN" altLang="en-US" sz="2800" dirty="0"/>
              <a:t>变成</a:t>
            </a:r>
            <a:r>
              <a:rPr lang="en-US" altLang="zh-CN" sz="2800" dirty="0"/>
              <a:t>[0,0,1]</a:t>
            </a:r>
            <a:r>
              <a:rPr lang="en-US" altLang="zh-CN" sz="2800" baseline="30000" dirty="0"/>
              <a:t>T</a:t>
            </a:r>
            <a:endParaRPr lang="en-US" altLang="zh-CN" sz="28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0C81A45-B181-489A-9BCD-AF6CB89EA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270" y="1100506"/>
          <a:ext cx="3671887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1244520" progId="Equation.DSMT4">
                  <p:embed/>
                </p:oleObj>
              </mc:Choice>
              <mc:Fallback>
                <p:oleObj name="Equation" r:id="rId2" imgW="1726920" imgH="1244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0C81A45-B181-489A-9BCD-AF6CB89EAC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270" y="1100506"/>
                        <a:ext cx="3671887" cy="264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267D9FFB-525C-4B62-8E30-65F57379B837}"/>
              </a:ext>
            </a:extLst>
          </p:cNvPr>
          <p:cNvSpPr txBox="1"/>
          <p:nvPr/>
        </p:nvSpPr>
        <p:spPr>
          <a:xfrm>
            <a:off x="488504" y="4365104"/>
            <a:ext cx="8520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400" dirty="0"/>
              <a:t>第三行除以 （</a:t>
            </a:r>
            <a:r>
              <a:rPr lang="en-US" altLang="zh-CN" sz="2400" dirty="0"/>
              <a:t>5/2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/>
              <a:t>第三行乘以（</a:t>
            </a:r>
            <a:r>
              <a:rPr lang="en-US" altLang="zh-CN" sz="2400" dirty="0"/>
              <a:t>-10/3</a:t>
            </a:r>
            <a:r>
              <a:rPr lang="zh-CN" altLang="en-US" sz="2400" dirty="0"/>
              <a:t>）加上第二行</a:t>
            </a:r>
            <a:endParaRPr lang="en-US" altLang="zh-CN" sz="24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/>
              <a:t>第三行乘以（</a:t>
            </a:r>
            <a:r>
              <a:rPr lang="en-US" altLang="zh-CN" sz="2400" dirty="0"/>
              <a:t> -39/5 </a:t>
            </a:r>
            <a:r>
              <a:rPr lang="zh-CN" altLang="en-US" sz="2400" dirty="0"/>
              <a:t>）加上第一行</a:t>
            </a:r>
            <a:endParaRPr lang="en-US" altLang="zh-CN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62031E6-2796-4848-9BE2-A7028F772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042957"/>
              </p:ext>
            </p:extLst>
          </p:nvPr>
        </p:nvGraphicFramePr>
        <p:xfrm>
          <a:off x="5817096" y="1231758"/>
          <a:ext cx="3725863" cy="264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1244520" progId="Equation.DSMT4">
                  <p:embed/>
                </p:oleObj>
              </mc:Choice>
              <mc:Fallback>
                <p:oleObj name="Equation" r:id="rId4" imgW="1752480" imgH="1244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0C81A45-B181-489A-9BCD-AF6CB89EAC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7096" y="1231758"/>
                        <a:ext cx="3725863" cy="2649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箭头: 右 16">
            <a:extLst>
              <a:ext uri="{FF2B5EF4-FFF2-40B4-BE49-F238E27FC236}">
                <a16:creationId xmlns:a16="http://schemas.microsoft.com/office/drawing/2014/main" id="{30CD5DD4-4D8C-4C91-B49F-108AEFF1F1F0}"/>
              </a:ext>
            </a:extLst>
          </p:cNvPr>
          <p:cNvSpPr/>
          <p:nvPr/>
        </p:nvSpPr>
        <p:spPr bwMode="auto">
          <a:xfrm>
            <a:off x="4610222" y="1980418"/>
            <a:ext cx="539787" cy="4616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53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B21E1-DFC8-49E5-892B-886C6E9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单纯形法</a:t>
            </a:r>
            <a:r>
              <a:rPr lang="en-US" altLang="zh-CN" dirty="0"/>
              <a:t>—</a:t>
            </a:r>
            <a:r>
              <a:rPr lang="zh-CN" altLang="en-US" dirty="0"/>
              <a:t>计算过程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686B8-6E7A-4F26-849B-534600F3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A623FC-D5A7-4492-AF2E-C1600610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D46A6-6B15-4A8D-9898-3DD65F3BD9FF}"/>
              </a:ext>
            </a:extLst>
          </p:cNvPr>
          <p:cNvSpPr txBox="1"/>
          <p:nvPr/>
        </p:nvSpPr>
        <p:spPr>
          <a:xfrm>
            <a:off x="92949" y="1156062"/>
            <a:ext cx="4533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9. </a:t>
            </a:r>
            <a:r>
              <a:rPr lang="zh-CN" altLang="en-US" sz="2800" dirty="0"/>
              <a:t>确定一个新的基本可行解</a:t>
            </a:r>
            <a:endParaRPr lang="en-US" altLang="zh-CN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2142EA-DAE5-4D82-8CA6-C45ED69F2B64}"/>
              </a:ext>
            </a:extLst>
          </p:cNvPr>
          <p:cNvSpPr txBox="1"/>
          <p:nvPr/>
        </p:nvSpPr>
        <p:spPr>
          <a:xfrm>
            <a:off x="142176" y="4512501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  <a:r>
              <a:rPr lang="en-US" altLang="zh-CN" sz="2400" dirty="0"/>
              <a:t>x4,x5</a:t>
            </a:r>
            <a:r>
              <a:rPr lang="zh-CN" altLang="en-US" sz="2400" dirty="0"/>
              <a:t>均为</a:t>
            </a:r>
            <a:r>
              <a:rPr lang="en-US" altLang="zh-CN" sz="2400" dirty="0"/>
              <a:t>0</a:t>
            </a:r>
            <a:r>
              <a:rPr lang="zh-CN" altLang="en-US" sz="2400" dirty="0"/>
              <a:t>，可解得：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6885D51-57E1-45C3-85D9-0D93654E8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557300"/>
              </p:ext>
            </p:extLst>
          </p:nvPr>
        </p:nvGraphicFramePr>
        <p:xfrm>
          <a:off x="744538" y="4910138"/>
          <a:ext cx="33528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228600" progId="Equation.DSMT4">
                  <p:embed/>
                </p:oleObj>
              </mc:Choice>
              <mc:Fallback>
                <p:oleObj name="Equation" r:id="rId2" imgW="146016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6885D51-57E1-45C3-85D9-0D93654E8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4538" y="4910138"/>
                        <a:ext cx="335280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9947606-4389-4CA9-8782-98680F4D7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205215"/>
              </p:ext>
            </p:extLst>
          </p:nvPr>
        </p:nvGraphicFramePr>
        <p:xfrm>
          <a:off x="669925" y="5881688"/>
          <a:ext cx="32639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279360" progId="Equation.DSMT4">
                  <p:embed/>
                </p:oleObj>
              </mc:Choice>
              <mc:Fallback>
                <p:oleObj name="Equation" r:id="rId4" imgW="142236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9925" y="5881688"/>
                        <a:ext cx="3263900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4EC2356-7F47-4D31-AB37-600ADA1B616D}"/>
              </a:ext>
            </a:extLst>
          </p:cNvPr>
          <p:cNvSpPr txBox="1"/>
          <p:nvPr/>
        </p:nvSpPr>
        <p:spPr>
          <a:xfrm>
            <a:off x="185805" y="5371774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得到新的基本可行解：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06AA1D0-C518-47E9-9790-BF5F6C52E9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0377" y="1124744"/>
          <a:ext cx="5913228" cy="302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36760" imgH="1193760" progId="Equation.DSMT4">
                  <p:embed/>
                </p:oleObj>
              </mc:Choice>
              <mc:Fallback>
                <p:oleObj name="Equation" r:id="rId6" imgW="2336760" imgH="11937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61BA78D-14D1-4892-9A35-84A4508F6E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60377" y="1124744"/>
                        <a:ext cx="5913228" cy="3021401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24FC80F-F76F-4A72-98CD-43DF1791F1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693475"/>
              </p:ext>
            </p:extLst>
          </p:nvPr>
        </p:nvGraphicFramePr>
        <p:xfrm>
          <a:off x="142176" y="1683787"/>
          <a:ext cx="3725863" cy="264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2480" imgH="1244520" progId="Equation.DSMT4">
                  <p:embed/>
                </p:oleObj>
              </mc:Choice>
              <mc:Fallback>
                <p:oleObj name="Equation" r:id="rId8" imgW="1752480" imgH="12445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62031E6-2796-4848-9BE2-A7028F772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2176" y="1683787"/>
                        <a:ext cx="3725863" cy="2649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00672CC4-CA96-42B9-84E6-54613FACB9A0}"/>
              </a:ext>
            </a:extLst>
          </p:cNvPr>
          <p:cNvSpPr txBox="1"/>
          <p:nvPr/>
        </p:nvSpPr>
        <p:spPr>
          <a:xfrm>
            <a:off x="4808984" y="4302245"/>
            <a:ext cx="4836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将目标函数化为包含</a:t>
            </a:r>
            <a:r>
              <a:rPr lang="en-US" altLang="zh-CN" sz="2400" dirty="0"/>
              <a:t>x4</a:t>
            </a:r>
            <a:r>
              <a:rPr lang="zh-CN" altLang="en-US" sz="2400" dirty="0"/>
              <a:t>，</a:t>
            </a:r>
            <a:r>
              <a:rPr lang="en-US" altLang="zh-CN" sz="2400" dirty="0"/>
              <a:t>x5</a:t>
            </a:r>
            <a:r>
              <a:rPr lang="zh-CN" altLang="en-US" sz="2400" dirty="0"/>
              <a:t>的形式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E11721-C8E0-47F3-916A-65C572B16816}"/>
              </a:ext>
            </a:extLst>
          </p:cNvPr>
          <p:cNvSpPr/>
          <p:nvPr/>
        </p:nvSpPr>
        <p:spPr bwMode="auto">
          <a:xfrm>
            <a:off x="287161" y="3429000"/>
            <a:ext cx="3384376" cy="80030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FDBCC13-072F-4F5B-BBC3-1E46BA70D9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607754"/>
              </p:ext>
            </p:extLst>
          </p:nvPr>
        </p:nvGraphicFramePr>
        <p:xfrm>
          <a:off x="4397376" y="4640717"/>
          <a:ext cx="53657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393480" progId="Equation.DSMT4">
                  <p:embed/>
                </p:oleObj>
              </mc:Choice>
              <mc:Fallback>
                <p:oleObj name="Equation" r:id="rId10" imgW="2120760" imgH="393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06AA1D0-C518-47E9-9790-BF5F6C52E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97376" y="4640717"/>
                        <a:ext cx="5365750" cy="996950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BEA46CB2-515D-4597-9350-C0272B62A29E}"/>
              </a:ext>
            </a:extLst>
          </p:cNvPr>
          <p:cNvSpPr/>
          <p:nvPr/>
        </p:nvSpPr>
        <p:spPr bwMode="auto">
          <a:xfrm>
            <a:off x="4444874" y="5647851"/>
            <a:ext cx="4944234" cy="90121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当前目标函数变量前的系数全为正数，是最优解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682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16" grpId="0"/>
      <p:bldP spid="20" grpId="0" animBg="1"/>
      <p:bldP spid="2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45269-F66D-43EB-8166-09226671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A5681-BC96-4BEF-A7B5-948A59FE1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endParaRPr lang="en-US" altLang="zh-CN" dirty="0"/>
          </a:p>
          <a:p>
            <a:pPr lvl="1"/>
            <a:r>
              <a:rPr lang="zh-CN" altLang="en-US" dirty="0"/>
              <a:t>对于一般的线性规划问题，可以用单纯形表来进行迭代计算，极大的减少计算工作量。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438ED0-E468-41FC-A3C9-683E9ED2F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E1D732-4B33-404B-AB49-91241FB0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6C292A9F-FDE7-4C83-A3B9-4007E2FCAA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892835"/>
                  </p:ext>
                </p:extLst>
              </p:nvPr>
            </p:nvGraphicFramePr>
            <p:xfrm>
              <a:off x="704528" y="2976118"/>
              <a:ext cx="8929000" cy="3566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25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基变量</a:t>
                          </a:r>
                          <a:endParaRPr lang="en-US" altLang="zh-CN" sz="2400" dirty="0"/>
                        </a:p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变量</a:t>
                          </a:r>
                          <a:r>
                            <a:rPr lang="en-US" altLang="zh-CN" sz="2400" dirty="0"/>
                            <a:t>X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baseline="-2500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约束方程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替换系数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变量系数</a:t>
                          </a:r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baseline="-2500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baseline="30000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baseline="30000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400" i="1" kern="1200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baseline="30000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i="1" baseline="-25000" dirty="0" err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baseline="-25000" dirty="0" err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 baseline="-25000" dirty="0" err="1" smtClean="0">
                                    <a:latin typeface="Cambria Math" panose="02040503050406030204" pitchFamily="18" charset="0"/>
                                  </a:rPr>
                                  <m:t>𝑚𝑛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i="1" baseline="-25000" dirty="0" err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400" i="1" baseline="-25000" dirty="0" err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240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1088513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判别数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  <m:r>
                                  <a:rPr lang="en-US" altLang="zh-CN" sz="2400" b="0" i="0" kern="1200" baseline="-25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  <m:r>
                                  <a:rPr lang="en-US" altLang="zh-CN" sz="2400" b="0" i="0" kern="1200" baseline="-25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kern="1200" baseline="-25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6C292A9F-FDE7-4C83-A3B9-4007E2FCAA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892835"/>
                  </p:ext>
                </p:extLst>
              </p:nvPr>
            </p:nvGraphicFramePr>
            <p:xfrm>
              <a:off x="704528" y="2976118"/>
              <a:ext cx="8929000" cy="3566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25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1116125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基变量</a:t>
                          </a:r>
                          <a:endParaRPr lang="en-US" altLang="zh-CN" sz="2400" dirty="0"/>
                        </a:p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变量</a:t>
                          </a:r>
                          <a:r>
                            <a:rPr lang="en-US" altLang="zh-CN" sz="2400" dirty="0"/>
                            <a:t>X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93" t="-10667" r="-501639" b="-7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93" t="-10667" r="-401639" b="-7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093" t="-10667" r="-301639" b="-7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370" t="-10667" r="-200000" b="-712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1639" t="-3810" r="-101093" b="-19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1639" t="-3810" r="-1093" b="-1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82296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变量系数</a:t>
                          </a:r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93" t="-61481" r="-501639" b="-29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93" t="-61481" r="-401639" b="-29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093" t="-61481" r="-301639" b="-29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370" t="-61481" r="-200000" b="-29555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290667" r="-702186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90667" r="-59837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93" t="-290667" r="-501639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93" t="-290667" r="-401639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093" t="-290667" r="-301639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370" t="-290667" r="-20000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1639" t="-290667" r="-101093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1639" t="-290667" r="-1093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385526" r="-702186" b="-3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85526" r="-598370" b="-3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93" t="-385526" r="-501639" b="-3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93" t="-385526" r="-401639" b="-3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093" t="-385526" r="-301639" b="-3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370" t="-385526" r="-200000" b="-3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1639" t="-385526" r="-101093" b="-3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1639" t="-385526" r="-1093" b="-3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93" t="-492000" r="-501639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93" t="-492000" r="-401639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093" t="-492000" r="-301639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370" t="-492000" r="-2000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592000" r="-702186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592000" r="-59837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93" t="-592000" r="-50163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93" t="-592000" r="-40163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093" t="-592000" r="-30163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370" t="-592000" r="-2000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1639" t="-592000" r="-101093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1639" t="-592000" r="-1093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1088513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2" t="-692000" r="-300000" b="-30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093" t="-692000" r="-501639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93" t="-692000" r="-401639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…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370" t="-692000" r="-200000" b="-3066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84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4861389"/>
                  </p:ext>
                </p:extLst>
              </p:nvPr>
            </p:nvGraphicFramePr>
            <p:xfrm>
              <a:off x="4664968" y="1124744"/>
              <a:ext cx="5205537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4861389"/>
                  </p:ext>
                </p:extLst>
              </p:nvPr>
            </p:nvGraphicFramePr>
            <p:xfrm>
              <a:off x="4664968" y="1124744"/>
              <a:ext cx="5205537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202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2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509333" r="-351053" b="-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278010"/>
              </p:ext>
            </p:extLst>
          </p:nvPr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409BACD-478F-4951-B329-F442683C7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58044" y="530616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AD83526-DF17-4A9F-93CD-1630BFDC91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591059"/>
              </p:ext>
            </p:extLst>
          </p:nvPr>
        </p:nvGraphicFramePr>
        <p:xfrm>
          <a:off x="704528" y="4011960"/>
          <a:ext cx="4014525" cy="249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1193760" progId="Equation.DSMT4">
                  <p:embed/>
                </p:oleObj>
              </mc:Choice>
              <mc:Fallback>
                <p:oleObj name="Equation" r:id="rId6" imgW="191736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F7DF08B-321B-45BF-835A-9BE172D32C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4528" y="4011960"/>
                        <a:ext cx="4014525" cy="2498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右 9">
            <a:extLst>
              <a:ext uri="{FF2B5EF4-FFF2-40B4-BE49-F238E27FC236}">
                <a16:creationId xmlns:a16="http://schemas.microsoft.com/office/drawing/2014/main" id="{094CFBDE-7F7D-4AFE-9C40-B3279CEDAF69}"/>
              </a:ext>
            </a:extLst>
          </p:cNvPr>
          <p:cNvSpPr/>
          <p:nvPr/>
        </p:nvSpPr>
        <p:spPr bwMode="auto">
          <a:xfrm>
            <a:off x="4269718" y="5203357"/>
            <a:ext cx="648072" cy="47213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6E5B9-796D-49D2-8E71-4BEA1AA2E857}"/>
              </a:ext>
            </a:extLst>
          </p:cNvPr>
          <p:cNvSpPr txBox="1"/>
          <p:nvPr/>
        </p:nvSpPr>
        <p:spPr>
          <a:xfrm>
            <a:off x="2371" y="1124744"/>
            <a:ext cx="46625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/>
              <a:t>将问题模型化为线性规划标准模型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目标函数为求最小值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小于等于约束加上正数松弛变量变成等式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大于等于约束减去正数松弛变量变成等式</a:t>
            </a:r>
            <a:endParaRPr lang="en-US" altLang="zh-CN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8BD879-2C3D-41EB-B0E7-E5C3BF209B60}"/>
              </a:ext>
            </a:extLst>
          </p:cNvPr>
          <p:cNvSpPr/>
          <p:nvPr/>
        </p:nvSpPr>
        <p:spPr bwMode="auto">
          <a:xfrm>
            <a:off x="7411312" y="4653136"/>
            <a:ext cx="662997" cy="438944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2C99CB-E6BE-4368-BCB6-2C414093C9A2}"/>
              </a:ext>
            </a:extLst>
          </p:cNvPr>
          <p:cNvSpPr/>
          <p:nvPr/>
        </p:nvSpPr>
        <p:spPr bwMode="auto">
          <a:xfrm>
            <a:off x="7550519" y="5150296"/>
            <a:ext cx="662997" cy="438944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C5BAB4-3F7C-487F-A4C7-949C53800C81}"/>
              </a:ext>
            </a:extLst>
          </p:cNvPr>
          <p:cNvSpPr/>
          <p:nvPr/>
        </p:nvSpPr>
        <p:spPr bwMode="auto">
          <a:xfrm>
            <a:off x="7401273" y="5632538"/>
            <a:ext cx="662998" cy="438944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91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491319"/>
                  </p:ext>
                </p:extLst>
              </p:nvPr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491319"/>
                  </p:ext>
                </p:extLst>
              </p:nvPr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6E5B9-796D-49D2-8E71-4BEA1AA2E857}"/>
              </a:ext>
            </a:extLst>
          </p:cNvPr>
          <p:cNvSpPr txBox="1"/>
          <p:nvPr/>
        </p:nvSpPr>
        <p:spPr>
          <a:xfrm>
            <a:off x="-15552" y="1124744"/>
            <a:ext cx="46805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填写初始单纯形表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将变量填入</a:t>
            </a:r>
            <a:r>
              <a:rPr lang="en-US" altLang="zh-CN" sz="2400" dirty="0">
                <a:solidFill>
                  <a:srgbClr val="C00000"/>
                </a:solidFill>
              </a:rPr>
              <a:t>X</a:t>
            </a:r>
            <a:r>
              <a:rPr lang="zh-CN" altLang="en-US" sz="2400" dirty="0"/>
              <a:t>对应的行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将变量系数填入</a:t>
            </a:r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zh-CN" altLang="en-US" sz="2400" dirty="0"/>
              <a:t>对应的</a:t>
            </a:r>
            <a:r>
              <a:rPr lang="zh-CN" altLang="en-US" sz="2400" dirty="0">
                <a:solidFill>
                  <a:srgbClr val="0000FF"/>
                </a:solidFill>
              </a:rPr>
              <a:t>行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将等式约束的系数矩阵</a:t>
            </a:r>
            <a:r>
              <a:rPr lang="en-US" altLang="zh-CN" sz="2400" dirty="0"/>
              <a:t>A</a:t>
            </a:r>
            <a:r>
              <a:rPr lang="zh-CN" altLang="en-US" sz="2400" dirty="0"/>
              <a:t>对应填写到</a:t>
            </a:r>
            <a:r>
              <a:rPr lang="en-US" altLang="zh-CN" sz="2400" dirty="0"/>
              <a:t>C</a:t>
            </a:r>
            <a:r>
              <a:rPr lang="zh-CN" altLang="en-US" sz="2400" dirty="0"/>
              <a:t>那一行下面的方格中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将等式方程右边的值填入</a:t>
            </a: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对应的列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观察矩阵，找到能够形成单位阵的对应</a:t>
            </a:r>
            <a:r>
              <a:rPr lang="en-US" altLang="zh-CN" sz="2400" dirty="0"/>
              <a:t>m(m=3)</a:t>
            </a:r>
            <a:r>
              <a:rPr lang="zh-CN" altLang="en-US" sz="2400" dirty="0"/>
              <a:t>个变量，填入到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对应的列中，并且将对应的系数填入到</a:t>
            </a:r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zh-CN" altLang="en-US" sz="2400" dirty="0"/>
              <a:t>对应的</a:t>
            </a:r>
            <a:r>
              <a:rPr lang="zh-CN" altLang="en-US" sz="2400" dirty="0">
                <a:solidFill>
                  <a:srgbClr val="0000FF"/>
                </a:solidFill>
              </a:rPr>
              <a:t>列中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3904840"/>
                  </p:ext>
                </p:extLst>
              </p:nvPr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3904840"/>
                  </p:ext>
                </p:extLst>
              </p:nvPr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27CCDC-BE23-45BE-8050-7E7D3D5187AF}"/>
              </a:ext>
            </a:extLst>
          </p:cNvPr>
          <p:cNvSpPr/>
          <p:nvPr/>
        </p:nvSpPr>
        <p:spPr bwMode="auto">
          <a:xfrm>
            <a:off x="7081341" y="2002073"/>
            <a:ext cx="1516385" cy="128291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/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A3245D6E-9644-4CFA-A437-58B3A1F21026}"/>
              </a:ext>
            </a:extLst>
          </p:cNvPr>
          <p:cNvSpPr txBox="1"/>
          <p:nvPr/>
        </p:nvSpPr>
        <p:spPr>
          <a:xfrm>
            <a:off x="5258138" y="2458411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9260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 animBg="1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81149"/>
              </p:ext>
            </p:extLst>
          </p:nvPr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6E5B9-796D-49D2-8E71-4BEA1AA2E857}"/>
              </a:ext>
            </a:extLst>
          </p:cNvPr>
          <p:cNvSpPr txBox="1"/>
          <p:nvPr/>
        </p:nvSpPr>
        <p:spPr>
          <a:xfrm>
            <a:off x="-15552" y="1124744"/>
            <a:ext cx="4680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3. </a:t>
            </a:r>
            <a:r>
              <a:rPr lang="zh-CN" altLang="en-US" sz="2400" dirty="0"/>
              <a:t>求解初始化基本可行解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令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所在列对应的变量等于</a:t>
            </a: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所在列对应的数值，令其他非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变量等于</a:t>
            </a:r>
            <a:r>
              <a:rPr lang="en-US" altLang="zh-CN" sz="2400" dirty="0"/>
              <a:t>0</a:t>
            </a:r>
            <a:r>
              <a:rPr lang="zh-CN" altLang="en-US" sz="2400" dirty="0"/>
              <a:t>。即为基本可行解。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/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A3245D6E-9644-4CFA-A437-58B3A1F21026}"/>
              </a:ext>
            </a:extLst>
          </p:cNvPr>
          <p:cNvSpPr txBox="1"/>
          <p:nvPr/>
        </p:nvSpPr>
        <p:spPr>
          <a:xfrm>
            <a:off x="5258138" y="2458411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D3F5616A-3488-48E2-A10E-5040A87D28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507489"/>
              </p:ext>
            </p:extLst>
          </p:nvPr>
        </p:nvGraphicFramePr>
        <p:xfrm>
          <a:off x="826146" y="3012501"/>
          <a:ext cx="3149912" cy="530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63560" imgH="279360" progId="Equation.DSMT4">
                  <p:embed/>
                </p:oleObj>
              </mc:Choice>
              <mc:Fallback>
                <p:oleObj name="Equation" r:id="rId10" imgW="166356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6146" y="3012501"/>
                        <a:ext cx="3149912" cy="530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>
            <a:extLst>
              <a:ext uri="{FF2B5EF4-FFF2-40B4-BE49-F238E27FC236}">
                <a16:creationId xmlns:a16="http://schemas.microsoft.com/office/drawing/2014/main" id="{BA9B1223-8073-4A2D-8F6E-6605EE90A146}"/>
              </a:ext>
            </a:extLst>
          </p:cNvPr>
          <p:cNvSpPr/>
          <p:nvPr/>
        </p:nvSpPr>
        <p:spPr bwMode="auto">
          <a:xfrm>
            <a:off x="4664968" y="2066033"/>
            <a:ext cx="4608512" cy="33534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1EEF055-C71D-4E9B-9475-361D61F91BAF}"/>
              </a:ext>
            </a:extLst>
          </p:cNvPr>
          <p:cNvSpPr/>
          <p:nvPr/>
        </p:nvSpPr>
        <p:spPr bwMode="auto">
          <a:xfrm>
            <a:off x="4675600" y="2463599"/>
            <a:ext cx="4608512" cy="335341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2944034-4356-4A93-80E3-199DB76BE980}"/>
              </a:ext>
            </a:extLst>
          </p:cNvPr>
          <p:cNvSpPr/>
          <p:nvPr/>
        </p:nvSpPr>
        <p:spPr bwMode="auto">
          <a:xfrm>
            <a:off x="4678440" y="2855293"/>
            <a:ext cx="4608512" cy="335341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81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6E5B9-796D-49D2-8E71-4BEA1AA2E857}"/>
              </a:ext>
            </a:extLst>
          </p:cNvPr>
          <p:cNvSpPr txBox="1"/>
          <p:nvPr/>
        </p:nvSpPr>
        <p:spPr>
          <a:xfrm>
            <a:off x="-15552" y="1124744"/>
            <a:ext cx="4680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 </a:t>
            </a:r>
            <a:r>
              <a:rPr lang="zh-CN" altLang="en-US" sz="2400" dirty="0"/>
              <a:t>计算判别数𝜎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令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所在列对应的变量对应的系数表示为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B</a:t>
            </a:r>
            <a:r>
              <a:rPr lang="zh-CN" altLang="en-US" sz="2400" dirty="0"/>
              <a:t>，。则对应的判别数可以用如下公式获得：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/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A3245D6E-9644-4CFA-A437-58B3A1F21026}"/>
              </a:ext>
            </a:extLst>
          </p:cNvPr>
          <p:cNvSpPr txBox="1"/>
          <p:nvPr/>
        </p:nvSpPr>
        <p:spPr>
          <a:xfrm>
            <a:off x="5258138" y="2458411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1CCC8766-AA0C-483C-BEE2-98F7DC852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807024"/>
              </p:ext>
            </p:extLst>
          </p:nvPr>
        </p:nvGraphicFramePr>
        <p:xfrm>
          <a:off x="904760" y="2856671"/>
          <a:ext cx="27686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457200" progId="Equation.DSMT4">
                  <p:embed/>
                </p:oleObj>
              </mc:Choice>
              <mc:Fallback>
                <p:oleObj name="Equation" r:id="rId10" imgW="1460160" imgH="45720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1CCC8766-AA0C-483C-BEE2-98F7DC8529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4760" y="2856671"/>
                        <a:ext cx="2768600" cy="86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B304DE49-A9E6-420A-B830-70F08E140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" y="3640316"/>
          <a:ext cx="48133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9800" imgH="533160" progId="Equation.DSMT4">
                  <p:embed/>
                </p:oleObj>
              </mc:Choice>
              <mc:Fallback>
                <p:oleObj name="Equation" r:id="rId12" imgW="2539800" imgH="53316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B304DE49-A9E6-420A-B830-70F08E1401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90" y="3640316"/>
                        <a:ext cx="4813300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AF21B340-737D-4FDC-9FD4-99D64363F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175" y="4563096"/>
          <a:ext cx="49561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16120" imgH="533160" progId="Equation.DSMT4">
                  <p:embed/>
                </p:oleObj>
              </mc:Choice>
              <mc:Fallback>
                <p:oleObj name="Equation" r:id="rId14" imgW="2616120" imgH="53316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AF21B340-737D-4FDC-9FD4-99D64363F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-3175" y="4563096"/>
                        <a:ext cx="4956175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9BAAA23F-1CC3-44F8-A457-F6107B9BF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97" y="5759440"/>
          <a:ext cx="197326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41120" imgH="228600" progId="Equation.DSMT4">
                  <p:embed/>
                </p:oleObj>
              </mc:Choice>
              <mc:Fallback>
                <p:oleObj name="Equation" r:id="rId16" imgW="1041120" imgH="22860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BAAA23F-1CC3-44F8-A457-F6107B9BF3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497" y="5759440"/>
                        <a:ext cx="1973263" cy="43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34D6B4D4-E53E-4D41-9C1B-F46A88F866A0}"/>
              </a:ext>
            </a:extLst>
          </p:cNvPr>
          <p:cNvSpPr/>
          <p:nvPr/>
        </p:nvSpPr>
        <p:spPr bwMode="auto">
          <a:xfrm>
            <a:off x="5858439" y="1627247"/>
            <a:ext cx="427017" cy="156235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B6B7D57-3694-4955-92A7-FE2EA5A81BAF}"/>
              </a:ext>
            </a:extLst>
          </p:cNvPr>
          <p:cNvSpPr/>
          <p:nvPr/>
        </p:nvSpPr>
        <p:spPr bwMode="auto">
          <a:xfrm>
            <a:off x="5399782" y="2086479"/>
            <a:ext cx="331453" cy="1103121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0BF4D1F-22AC-4FDF-8B9D-ED6708AA094A}"/>
              </a:ext>
            </a:extLst>
          </p:cNvPr>
          <p:cNvSpPr txBox="1"/>
          <p:nvPr/>
        </p:nvSpPr>
        <p:spPr>
          <a:xfrm>
            <a:off x="5825693" y="327839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7ED72F9-7AAF-47DC-9C48-BA53E9E71FE8}"/>
              </a:ext>
            </a:extLst>
          </p:cNvPr>
          <p:cNvSpPr txBox="1"/>
          <p:nvPr/>
        </p:nvSpPr>
        <p:spPr>
          <a:xfrm>
            <a:off x="6321152" y="3276670"/>
            <a:ext cx="768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0D0AF8-1A23-4CF8-B158-EB582C216DF3}"/>
              </a:ext>
            </a:extLst>
          </p:cNvPr>
          <p:cNvSpPr txBox="1"/>
          <p:nvPr/>
        </p:nvSpPr>
        <p:spPr>
          <a:xfrm>
            <a:off x="7113240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C02DF8-6940-46B5-9D75-EAA328C85B67}"/>
              </a:ext>
            </a:extLst>
          </p:cNvPr>
          <p:cNvSpPr txBox="1"/>
          <p:nvPr/>
        </p:nvSpPr>
        <p:spPr>
          <a:xfrm>
            <a:off x="7689304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710C503-EE94-4E56-9900-00D48FF20A55}"/>
              </a:ext>
            </a:extLst>
          </p:cNvPr>
          <p:cNvSpPr txBox="1"/>
          <p:nvPr/>
        </p:nvSpPr>
        <p:spPr>
          <a:xfrm>
            <a:off x="8265368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7B0BC59-4731-4328-826B-4206F858E1A7}"/>
              </a:ext>
            </a:extLst>
          </p:cNvPr>
          <p:cNvSpPr/>
          <p:nvPr/>
        </p:nvSpPr>
        <p:spPr bwMode="auto">
          <a:xfrm>
            <a:off x="4500958" y="107210"/>
            <a:ext cx="5468907" cy="90121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观察</a:t>
            </a:r>
            <a:r>
              <a:rPr lang="zh-CN" altLang="en-US" sz="2400" dirty="0"/>
              <a:t>判别数𝜎是否都大于等于</a:t>
            </a:r>
            <a:r>
              <a:rPr lang="en-US" altLang="zh-CN" sz="2400" dirty="0"/>
              <a:t>0</a:t>
            </a:r>
            <a:r>
              <a:rPr lang="zh-CN" altLang="en-US" sz="2400" dirty="0"/>
              <a:t>，如果是，则找到最优解，否则继续迭代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4425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3 0.00463 L 0.0617 0.00139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5" grpId="0"/>
      <p:bldP spid="56" grpId="0"/>
      <p:bldP spid="58" grpId="0"/>
      <p:bldP spid="59" grpId="0"/>
      <p:bldP spid="60" grpId="0"/>
      <p:bldP spid="5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12750"/>
              </p:ext>
            </p:extLst>
          </p:nvPr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6E5B9-796D-49D2-8E71-4BEA1AA2E857}"/>
              </a:ext>
            </a:extLst>
          </p:cNvPr>
          <p:cNvSpPr txBox="1"/>
          <p:nvPr/>
        </p:nvSpPr>
        <p:spPr>
          <a:xfrm>
            <a:off x="-15552" y="1124744"/>
            <a:ext cx="46805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5. </a:t>
            </a:r>
            <a:r>
              <a:rPr lang="zh-CN" altLang="en-US" sz="2400" dirty="0"/>
              <a:t>确定进基变量和离基变量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2400" dirty="0"/>
              <a:t>找到</a:t>
            </a:r>
            <a:r>
              <a:rPr lang="zh-CN" altLang="en-US" sz="2400" b="1" dirty="0">
                <a:solidFill>
                  <a:srgbClr val="FF0000"/>
                </a:solidFill>
              </a:rPr>
              <a:t>判别数𝜎 最小</a:t>
            </a:r>
            <a:r>
              <a:rPr lang="zh-CN" altLang="en-US" sz="2400" dirty="0"/>
              <a:t>（负数绝对值最大）的那一列对应的变量，确定它为进基变量</a:t>
            </a: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2400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/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A3245D6E-9644-4CFA-A437-58B3A1F21026}"/>
              </a:ext>
            </a:extLst>
          </p:cNvPr>
          <p:cNvSpPr txBox="1"/>
          <p:nvPr/>
        </p:nvSpPr>
        <p:spPr>
          <a:xfrm>
            <a:off x="5258138" y="2458411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0BF4D1F-22AC-4FDF-8B9D-ED6708AA094A}"/>
              </a:ext>
            </a:extLst>
          </p:cNvPr>
          <p:cNvSpPr txBox="1"/>
          <p:nvPr/>
        </p:nvSpPr>
        <p:spPr>
          <a:xfrm>
            <a:off x="5825693" y="327839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7ED72F9-7AAF-47DC-9C48-BA53E9E71FE8}"/>
              </a:ext>
            </a:extLst>
          </p:cNvPr>
          <p:cNvSpPr txBox="1"/>
          <p:nvPr/>
        </p:nvSpPr>
        <p:spPr>
          <a:xfrm>
            <a:off x="6321152" y="3276670"/>
            <a:ext cx="768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0D0AF8-1A23-4CF8-B158-EB582C216DF3}"/>
              </a:ext>
            </a:extLst>
          </p:cNvPr>
          <p:cNvSpPr txBox="1"/>
          <p:nvPr/>
        </p:nvSpPr>
        <p:spPr>
          <a:xfrm>
            <a:off x="7113240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C02DF8-6940-46B5-9D75-EAA328C85B67}"/>
              </a:ext>
            </a:extLst>
          </p:cNvPr>
          <p:cNvSpPr txBox="1"/>
          <p:nvPr/>
        </p:nvSpPr>
        <p:spPr>
          <a:xfrm>
            <a:off x="7689304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710C503-EE94-4E56-9900-00D48FF20A55}"/>
              </a:ext>
            </a:extLst>
          </p:cNvPr>
          <p:cNvSpPr txBox="1"/>
          <p:nvPr/>
        </p:nvSpPr>
        <p:spPr>
          <a:xfrm>
            <a:off x="8265368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6237D37-2CC3-4C75-9144-EEC3B42D3E38}"/>
                  </a:ext>
                </a:extLst>
              </p:cNvPr>
              <p:cNvSpPr/>
              <p:nvPr/>
            </p:nvSpPr>
            <p:spPr>
              <a:xfrm>
                <a:off x="943041" y="2723105"/>
                <a:ext cx="32090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是进基变量，记为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CN" altLang="en-US" sz="2400" baseline="-250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6237D37-2CC3-4C75-9144-EEC3B42D3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041" y="2723105"/>
                <a:ext cx="3209020" cy="461665"/>
              </a:xfrm>
              <a:prstGeom prst="rect">
                <a:avLst/>
              </a:prstGeom>
              <a:blipFill>
                <a:blip r:embed="rId10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 62">
            <a:extLst>
              <a:ext uri="{FF2B5EF4-FFF2-40B4-BE49-F238E27FC236}">
                <a16:creationId xmlns:a16="http://schemas.microsoft.com/office/drawing/2014/main" id="{8D42D18C-4FD6-44C7-BE72-47C5C227F19C}"/>
              </a:ext>
            </a:extLst>
          </p:cNvPr>
          <p:cNvSpPr/>
          <p:nvPr/>
        </p:nvSpPr>
        <p:spPr bwMode="auto">
          <a:xfrm>
            <a:off x="6450243" y="1110391"/>
            <a:ext cx="497137" cy="256622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21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6E5B9-796D-49D2-8E71-4BEA1AA2E857}"/>
                  </a:ext>
                </a:extLst>
              </p:cNvPr>
              <p:cNvSpPr txBox="1"/>
              <p:nvPr/>
            </p:nvSpPr>
            <p:spPr>
              <a:xfrm>
                <a:off x="-15552" y="1124744"/>
                <a:ext cx="4680520" cy="1672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5. </a:t>
                </a:r>
                <a:r>
                  <a:rPr lang="zh-CN" altLang="en-US" sz="2400" dirty="0"/>
                  <a:t>确定进基变量和离基变量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 startAt="2"/>
                </a:pPr>
                <a:r>
                  <a:rPr lang="zh-CN" altLang="en-US" sz="2400" dirty="0"/>
                  <a:t>令进基变量所在列的系数矩阵值为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baseline="-25000" dirty="0" smtClean="0">
                        <a:latin typeface="Cambria Math" panose="02040503050406030204" pitchFamily="18" charset="0"/>
                      </a:rPr>
                      <m:t>𝑖𝑎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，利用如下公式求得替换系数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/>
                  <a:t>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6E5B9-796D-49D2-8E71-4BEA1AA2E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52" y="1124744"/>
                <a:ext cx="4680520" cy="1672894"/>
              </a:xfrm>
              <a:prstGeom prst="rect">
                <a:avLst/>
              </a:prstGeom>
              <a:blipFill>
                <a:blip r:embed="rId6"/>
                <a:stretch>
                  <a:fillRect l="-1953" t="-2920" r="-391" b="-7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/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10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A3245D6E-9644-4CFA-A437-58B3A1F21026}"/>
              </a:ext>
            </a:extLst>
          </p:cNvPr>
          <p:cNvSpPr txBox="1"/>
          <p:nvPr/>
        </p:nvSpPr>
        <p:spPr>
          <a:xfrm>
            <a:off x="5258138" y="2458411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1CCC8766-AA0C-483C-BEE2-98F7DC852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861638"/>
              </p:ext>
            </p:extLst>
          </p:nvPr>
        </p:nvGraphicFramePr>
        <p:xfrm>
          <a:off x="1422059" y="2671888"/>
          <a:ext cx="1127405" cy="986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00" imgH="431640" progId="Equation.DSMT4">
                  <p:embed/>
                </p:oleObj>
              </mc:Choice>
              <mc:Fallback>
                <p:oleObj name="Equation" r:id="rId11" imgW="495000" imgH="43164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1CCC8766-AA0C-483C-BEE2-98F7DC8529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22059" y="2671888"/>
                        <a:ext cx="1127405" cy="986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文本框 54">
            <a:extLst>
              <a:ext uri="{FF2B5EF4-FFF2-40B4-BE49-F238E27FC236}">
                <a16:creationId xmlns:a16="http://schemas.microsoft.com/office/drawing/2014/main" id="{E0BF4D1F-22AC-4FDF-8B9D-ED6708AA094A}"/>
              </a:ext>
            </a:extLst>
          </p:cNvPr>
          <p:cNvSpPr txBox="1"/>
          <p:nvPr/>
        </p:nvSpPr>
        <p:spPr>
          <a:xfrm>
            <a:off x="5825693" y="327839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7ED72F9-7AAF-47DC-9C48-BA53E9E71FE8}"/>
              </a:ext>
            </a:extLst>
          </p:cNvPr>
          <p:cNvSpPr txBox="1"/>
          <p:nvPr/>
        </p:nvSpPr>
        <p:spPr>
          <a:xfrm>
            <a:off x="6321152" y="3276670"/>
            <a:ext cx="768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0D0AF8-1A23-4CF8-B158-EB582C216DF3}"/>
              </a:ext>
            </a:extLst>
          </p:cNvPr>
          <p:cNvSpPr txBox="1"/>
          <p:nvPr/>
        </p:nvSpPr>
        <p:spPr>
          <a:xfrm>
            <a:off x="7113240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C02DF8-6940-46B5-9D75-EAA328C85B67}"/>
              </a:ext>
            </a:extLst>
          </p:cNvPr>
          <p:cNvSpPr txBox="1"/>
          <p:nvPr/>
        </p:nvSpPr>
        <p:spPr>
          <a:xfrm>
            <a:off x="7689304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710C503-EE94-4E56-9900-00D48FF20A55}"/>
              </a:ext>
            </a:extLst>
          </p:cNvPr>
          <p:cNvSpPr txBox="1"/>
          <p:nvPr/>
        </p:nvSpPr>
        <p:spPr>
          <a:xfrm>
            <a:off x="8265368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D97C0376-F18B-485C-A40B-AFAABC5C60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311840"/>
              </p:ext>
            </p:extLst>
          </p:nvPr>
        </p:nvGraphicFramePr>
        <p:xfrm>
          <a:off x="58044" y="4625676"/>
          <a:ext cx="2773362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18960" imgH="431640" progId="Equation.DSMT4">
                  <p:embed/>
                </p:oleObj>
              </mc:Choice>
              <mc:Fallback>
                <p:oleObj name="Equation" r:id="rId13" imgW="1218960" imgH="43164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D97C0376-F18B-485C-A40B-AFAABC5C6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044" y="4625676"/>
                        <a:ext cx="2773362" cy="985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F486F483-2BA6-42AC-B72A-037638865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899061"/>
              </p:ext>
            </p:extLst>
          </p:nvPr>
        </p:nvGraphicFramePr>
        <p:xfrm>
          <a:off x="2832183" y="4558487"/>
          <a:ext cx="2830512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44520" imgH="431640" progId="Equation.DSMT4">
                  <p:embed/>
                </p:oleObj>
              </mc:Choice>
              <mc:Fallback>
                <p:oleObj name="Equation" r:id="rId15" imgW="1244520" imgH="43164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F486F483-2BA6-42AC-B72A-037638865A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32183" y="4558487"/>
                        <a:ext cx="2830512" cy="985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C82CA5BD-4501-4969-99E0-793470C5B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273218"/>
              </p:ext>
            </p:extLst>
          </p:nvPr>
        </p:nvGraphicFramePr>
        <p:xfrm>
          <a:off x="-694" y="5611514"/>
          <a:ext cx="28321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44520" imgH="431640" progId="Equation.DSMT4">
                  <p:embed/>
                </p:oleObj>
              </mc:Choice>
              <mc:Fallback>
                <p:oleObj name="Equation" r:id="rId17" imgW="1244520" imgH="43164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D97C0376-F18B-485C-A40B-AFAABC5C6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-694" y="5611514"/>
                        <a:ext cx="2832100" cy="985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矩形 50">
            <a:extLst>
              <a:ext uri="{FF2B5EF4-FFF2-40B4-BE49-F238E27FC236}">
                <a16:creationId xmlns:a16="http://schemas.microsoft.com/office/drawing/2014/main" id="{CF07EAF5-66DE-4083-94A4-98EB49BB3E4C}"/>
              </a:ext>
            </a:extLst>
          </p:cNvPr>
          <p:cNvSpPr/>
          <p:nvPr/>
        </p:nvSpPr>
        <p:spPr bwMode="auto">
          <a:xfrm>
            <a:off x="6450243" y="2075128"/>
            <a:ext cx="456059" cy="31727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823D161-AA33-49D1-9C8D-0EFE11378457}"/>
              </a:ext>
            </a:extLst>
          </p:cNvPr>
          <p:cNvSpPr/>
          <p:nvPr/>
        </p:nvSpPr>
        <p:spPr bwMode="auto">
          <a:xfrm>
            <a:off x="8769641" y="2058850"/>
            <a:ext cx="482338" cy="317272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26A57BF-46B8-44E8-9C3B-DF6455EF31FF}"/>
              </a:ext>
            </a:extLst>
          </p:cNvPr>
          <p:cNvSpPr txBox="1"/>
          <p:nvPr/>
        </p:nvSpPr>
        <p:spPr>
          <a:xfrm>
            <a:off x="9234490" y="1989054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90</a:t>
            </a:r>
            <a:endParaRPr lang="zh-CN" altLang="en-US" sz="2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E8DEDFF-6A81-4A04-A925-AAAE2A421A5D}"/>
              </a:ext>
            </a:extLst>
          </p:cNvPr>
          <p:cNvSpPr txBox="1"/>
          <p:nvPr/>
        </p:nvSpPr>
        <p:spPr>
          <a:xfrm>
            <a:off x="9215181" y="2396539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</a:t>
            </a:r>
            <a:endParaRPr lang="zh-CN" altLang="en-US" sz="2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A829671-48BB-4F80-8FD1-743963A65AF7}"/>
              </a:ext>
            </a:extLst>
          </p:cNvPr>
          <p:cNvSpPr txBox="1"/>
          <p:nvPr/>
        </p:nvSpPr>
        <p:spPr>
          <a:xfrm>
            <a:off x="9210822" y="283283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40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079F91-3348-42A6-AFAB-63EADAF17857}"/>
              </a:ext>
            </a:extLst>
          </p:cNvPr>
          <p:cNvSpPr/>
          <p:nvPr/>
        </p:nvSpPr>
        <p:spPr>
          <a:xfrm>
            <a:off x="144016" y="3653418"/>
            <a:ext cx="4953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如果求得的</a:t>
            </a:r>
            <a:r>
              <a:rPr lang="en-US" altLang="zh-CN" sz="2000" b="1" dirty="0">
                <a:solidFill>
                  <a:srgbClr val="C00000"/>
                </a:solidFill>
              </a:rPr>
              <a:t>q</a:t>
            </a:r>
            <a:r>
              <a:rPr lang="zh-CN" altLang="en-US" sz="2000" b="1" dirty="0">
                <a:solidFill>
                  <a:srgbClr val="C00000"/>
                </a:solidFill>
              </a:rPr>
              <a:t>大于等于</a:t>
            </a:r>
            <a:r>
              <a:rPr lang="en-US" altLang="zh-CN" sz="2000" b="1" dirty="0">
                <a:solidFill>
                  <a:srgbClr val="C00000"/>
                </a:solidFill>
              </a:rPr>
              <a:t>0</a:t>
            </a:r>
            <a:r>
              <a:rPr lang="zh-CN" altLang="en-US" sz="2000" b="1" dirty="0">
                <a:solidFill>
                  <a:srgbClr val="C00000"/>
                </a:solidFill>
              </a:rPr>
              <a:t>，填入表格中，否则不填入（如果所有求得的</a:t>
            </a:r>
            <a:r>
              <a:rPr lang="en-US" altLang="zh-CN" sz="2000" b="1" dirty="0">
                <a:solidFill>
                  <a:srgbClr val="C00000"/>
                </a:solidFill>
              </a:rPr>
              <a:t>q</a:t>
            </a:r>
            <a:r>
              <a:rPr lang="zh-CN" altLang="en-US" sz="2000" b="1" dirty="0">
                <a:solidFill>
                  <a:srgbClr val="C00000"/>
                </a:solidFill>
              </a:rPr>
              <a:t>都是负数，则该问题存在无界解）</a:t>
            </a:r>
          </a:p>
        </p:txBody>
      </p:sp>
    </p:spTree>
    <p:extLst>
      <p:ext uri="{BB962C8B-B14F-4D97-AF65-F5344CB8AC3E}">
        <p14:creationId xmlns:p14="http://schemas.microsoft.com/office/powerpoint/2010/main" val="363261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3846E-6 -4.44444E-6 L 0.00048 0.05834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2917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1538E-6 3.7037E-7 L 0.00048 0.0583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48 0.05833 L 0.00048 0.1173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17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48 0.05833 L -0.00257 0.11667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" y="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1" grpId="1" animBg="1"/>
      <p:bldP spid="51" grpId="2" animBg="1"/>
      <p:bldP spid="52" grpId="0" animBg="1"/>
      <p:bldP spid="52" grpId="1" animBg="1"/>
      <p:bldP spid="52" grpId="2" animBg="1"/>
      <p:bldP spid="53" grpId="0"/>
      <p:bldP spid="54" grpId="0"/>
      <p:bldP spid="5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6E5B9-796D-49D2-8E71-4BEA1AA2E857}"/>
                  </a:ext>
                </a:extLst>
              </p:cNvPr>
              <p:cNvSpPr txBox="1"/>
              <p:nvPr/>
            </p:nvSpPr>
            <p:spPr>
              <a:xfrm>
                <a:off x="-15552" y="1124744"/>
                <a:ext cx="46805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5. </a:t>
                </a:r>
                <a:r>
                  <a:rPr lang="zh-CN" altLang="en-US" sz="2400" dirty="0"/>
                  <a:t>确定进基变量和离基变量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 startAt="3"/>
                </a:pP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/>
                  <a:t>值最小的那一行对应的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CN" sz="2400" b="1" baseline="30000" dirty="0">
                    <a:solidFill>
                      <a:srgbClr val="FF0000"/>
                    </a:solidFill>
                  </a:rPr>
                  <a:t>B</a:t>
                </a:r>
                <a:r>
                  <a:rPr lang="zh-CN" altLang="en-US" sz="2400" dirty="0"/>
                  <a:t>即为离基变量：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6E5B9-796D-49D2-8E71-4BEA1AA2E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52" y="1124744"/>
                <a:ext cx="4680520" cy="1200329"/>
              </a:xfrm>
              <a:prstGeom prst="rect">
                <a:avLst/>
              </a:prstGeom>
              <a:blipFill>
                <a:blip r:embed="rId6"/>
                <a:stretch>
                  <a:fillRect l="-1953" t="-4082" b="-1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/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10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A3245D6E-9644-4CFA-A437-58B3A1F21026}"/>
              </a:ext>
            </a:extLst>
          </p:cNvPr>
          <p:cNvSpPr txBox="1"/>
          <p:nvPr/>
        </p:nvSpPr>
        <p:spPr>
          <a:xfrm>
            <a:off x="5258138" y="2458411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0BF4D1F-22AC-4FDF-8B9D-ED6708AA094A}"/>
              </a:ext>
            </a:extLst>
          </p:cNvPr>
          <p:cNvSpPr txBox="1"/>
          <p:nvPr/>
        </p:nvSpPr>
        <p:spPr>
          <a:xfrm>
            <a:off x="5825693" y="327839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7ED72F9-7AAF-47DC-9C48-BA53E9E71FE8}"/>
              </a:ext>
            </a:extLst>
          </p:cNvPr>
          <p:cNvSpPr txBox="1"/>
          <p:nvPr/>
        </p:nvSpPr>
        <p:spPr>
          <a:xfrm>
            <a:off x="6321152" y="3276670"/>
            <a:ext cx="768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0D0AF8-1A23-4CF8-B158-EB582C216DF3}"/>
              </a:ext>
            </a:extLst>
          </p:cNvPr>
          <p:cNvSpPr txBox="1"/>
          <p:nvPr/>
        </p:nvSpPr>
        <p:spPr>
          <a:xfrm>
            <a:off x="7113240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C02DF8-6940-46B5-9D75-EAA328C85B67}"/>
              </a:ext>
            </a:extLst>
          </p:cNvPr>
          <p:cNvSpPr txBox="1"/>
          <p:nvPr/>
        </p:nvSpPr>
        <p:spPr>
          <a:xfrm>
            <a:off x="7689304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710C503-EE94-4E56-9900-00D48FF20A55}"/>
              </a:ext>
            </a:extLst>
          </p:cNvPr>
          <p:cNvSpPr txBox="1"/>
          <p:nvPr/>
        </p:nvSpPr>
        <p:spPr>
          <a:xfrm>
            <a:off x="8265368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26A57BF-46B8-44E8-9C3B-DF6455EF31FF}"/>
              </a:ext>
            </a:extLst>
          </p:cNvPr>
          <p:cNvSpPr txBox="1"/>
          <p:nvPr/>
        </p:nvSpPr>
        <p:spPr>
          <a:xfrm>
            <a:off x="9234490" y="1989054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90</a:t>
            </a:r>
            <a:endParaRPr lang="zh-CN" altLang="en-US" sz="2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E8DEDFF-6A81-4A04-A925-AAAE2A421A5D}"/>
              </a:ext>
            </a:extLst>
          </p:cNvPr>
          <p:cNvSpPr txBox="1"/>
          <p:nvPr/>
        </p:nvSpPr>
        <p:spPr>
          <a:xfrm>
            <a:off x="9215181" y="2396539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</a:t>
            </a:r>
            <a:endParaRPr lang="zh-CN" altLang="en-US" sz="2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A829671-48BB-4F80-8FD1-743963A65AF7}"/>
              </a:ext>
            </a:extLst>
          </p:cNvPr>
          <p:cNvSpPr txBox="1"/>
          <p:nvPr/>
        </p:nvSpPr>
        <p:spPr>
          <a:xfrm>
            <a:off x="9210822" y="283283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ABC67FE-2DB6-4D02-A090-6307564A0BEA}"/>
                  </a:ext>
                </a:extLst>
              </p:cNvPr>
              <p:cNvSpPr/>
              <p:nvPr/>
            </p:nvSpPr>
            <p:spPr>
              <a:xfrm>
                <a:off x="770720" y="2385709"/>
                <a:ext cx="32560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/>
                  <a:t>是离基变量，记为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zh-CN" altLang="en-US" sz="2400" baseline="-25000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ABC67FE-2DB6-4D02-A090-6307564A0B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20" y="2385709"/>
                <a:ext cx="3256021" cy="461665"/>
              </a:xfrm>
              <a:prstGeom prst="rect">
                <a:avLst/>
              </a:prstGeom>
              <a:blipFill>
                <a:blip r:embed="rId11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矩形 63">
            <a:extLst>
              <a:ext uri="{FF2B5EF4-FFF2-40B4-BE49-F238E27FC236}">
                <a16:creationId xmlns:a16="http://schemas.microsoft.com/office/drawing/2014/main" id="{1FBD2618-D10E-4497-B094-FDEC8B74FC49}"/>
              </a:ext>
            </a:extLst>
          </p:cNvPr>
          <p:cNvSpPr/>
          <p:nvPr/>
        </p:nvSpPr>
        <p:spPr bwMode="auto">
          <a:xfrm>
            <a:off x="4746345" y="2455099"/>
            <a:ext cx="5031191" cy="355279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7BB8CD5-8746-4CAE-940A-4B3658AEFB10}"/>
                  </a:ext>
                </a:extLst>
              </p:cNvPr>
              <p:cNvSpPr txBox="1"/>
              <p:nvPr/>
            </p:nvSpPr>
            <p:spPr>
              <a:xfrm>
                <a:off x="141401" y="3136750"/>
                <a:ext cx="450948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记录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en-US" sz="2400" dirty="0"/>
                  <a:t>交叉的那个位置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/>
                  <a:t>，这个位置就是后续矩阵变换的变换主元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7BB8CD5-8746-4CAE-940A-4B3658AEF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1" y="3136750"/>
                <a:ext cx="4509484" cy="1200329"/>
              </a:xfrm>
              <a:prstGeom prst="rect">
                <a:avLst/>
              </a:prstGeom>
              <a:blipFill>
                <a:blip r:embed="rId12"/>
                <a:stretch>
                  <a:fillRect l="-2027" t="-4082" r="-811" b="-1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85C62AA6-B065-4170-9055-466713462F03}"/>
              </a:ext>
            </a:extLst>
          </p:cNvPr>
          <p:cNvSpPr/>
          <p:nvPr/>
        </p:nvSpPr>
        <p:spPr bwMode="auto">
          <a:xfrm>
            <a:off x="6458880" y="1135268"/>
            <a:ext cx="495800" cy="2651126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A14F377-CDA9-4276-B464-E660A591F776}"/>
              </a:ext>
            </a:extLst>
          </p:cNvPr>
          <p:cNvSpPr/>
          <p:nvPr/>
        </p:nvSpPr>
        <p:spPr bwMode="auto">
          <a:xfrm>
            <a:off x="6458880" y="2455099"/>
            <a:ext cx="481238" cy="341508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5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 animBg="1"/>
      <p:bldP spid="9" grpId="0"/>
      <p:bldP spid="66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6E5B9-796D-49D2-8E71-4BEA1AA2E857}"/>
                  </a:ext>
                </a:extLst>
              </p:cNvPr>
              <p:cNvSpPr txBox="1"/>
              <p:nvPr/>
            </p:nvSpPr>
            <p:spPr>
              <a:xfrm>
                <a:off x="-15552" y="1124744"/>
                <a:ext cx="468052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5. </a:t>
                </a:r>
                <a:r>
                  <a:rPr lang="zh-CN" altLang="en-US" sz="2400" dirty="0"/>
                  <a:t>确定进基变量和离基变量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 startAt="4"/>
                </a:pPr>
                <a:r>
                  <a:rPr lang="zh-CN" altLang="en-US" sz="2400" dirty="0"/>
                  <a:t>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和它的系数替换原来的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和它对应的系数，清空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/>
                  <a:t>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76E5B9-796D-49D2-8E71-4BEA1AA2E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52" y="1124744"/>
                <a:ext cx="4680520" cy="1569660"/>
              </a:xfrm>
              <a:prstGeom prst="rect">
                <a:avLst/>
              </a:prstGeom>
              <a:blipFill>
                <a:blip r:embed="rId6"/>
                <a:stretch>
                  <a:fillRect l="-1953" t="-3113" b="-8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/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8B035D2-E3AD-4755-A2DC-4EE9FB28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45" y="2413013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10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A3245D6E-9644-4CFA-A437-58B3A1F21026}"/>
              </a:ext>
            </a:extLst>
          </p:cNvPr>
          <p:cNvSpPr txBox="1"/>
          <p:nvPr/>
        </p:nvSpPr>
        <p:spPr>
          <a:xfrm>
            <a:off x="5258138" y="2458411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0BF4D1F-22AC-4FDF-8B9D-ED6708AA094A}"/>
              </a:ext>
            </a:extLst>
          </p:cNvPr>
          <p:cNvSpPr txBox="1"/>
          <p:nvPr/>
        </p:nvSpPr>
        <p:spPr>
          <a:xfrm>
            <a:off x="5825693" y="327839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7ED72F9-7AAF-47DC-9C48-BA53E9E71FE8}"/>
              </a:ext>
            </a:extLst>
          </p:cNvPr>
          <p:cNvSpPr txBox="1"/>
          <p:nvPr/>
        </p:nvSpPr>
        <p:spPr>
          <a:xfrm>
            <a:off x="6321152" y="3276670"/>
            <a:ext cx="768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0D0AF8-1A23-4CF8-B158-EB582C216DF3}"/>
              </a:ext>
            </a:extLst>
          </p:cNvPr>
          <p:cNvSpPr txBox="1"/>
          <p:nvPr/>
        </p:nvSpPr>
        <p:spPr>
          <a:xfrm>
            <a:off x="7113240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C02DF8-6940-46B5-9D75-EAA328C85B67}"/>
              </a:ext>
            </a:extLst>
          </p:cNvPr>
          <p:cNvSpPr txBox="1"/>
          <p:nvPr/>
        </p:nvSpPr>
        <p:spPr>
          <a:xfrm>
            <a:off x="7689304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710C503-EE94-4E56-9900-00D48FF20A55}"/>
              </a:ext>
            </a:extLst>
          </p:cNvPr>
          <p:cNvSpPr txBox="1"/>
          <p:nvPr/>
        </p:nvSpPr>
        <p:spPr>
          <a:xfrm>
            <a:off x="8265368" y="328498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26A57BF-46B8-44E8-9C3B-DF6455EF31FF}"/>
              </a:ext>
            </a:extLst>
          </p:cNvPr>
          <p:cNvSpPr txBox="1"/>
          <p:nvPr/>
        </p:nvSpPr>
        <p:spPr>
          <a:xfrm>
            <a:off x="9234490" y="1989054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90</a:t>
            </a:r>
            <a:endParaRPr lang="zh-CN" altLang="en-US" sz="2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E8DEDFF-6A81-4A04-A925-AAAE2A421A5D}"/>
              </a:ext>
            </a:extLst>
          </p:cNvPr>
          <p:cNvSpPr txBox="1"/>
          <p:nvPr/>
        </p:nvSpPr>
        <p:spPr>
          <a:xfrm>
            <a:off x="9215181" y="2396539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</a:t>
            </a:r>
            <a:endParaRPr lang="zh-CN" altLang="en-US" sz="2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A829671-48BB-4F80-8FD1-743963A65AF7}"/>
              </a:ext>
            </a:extLst>
          </p:cNvPr>
          <p:cNvSpPr txBox="1"/>
          <p:nvPr/>
        </p:nvSpPr>
        <p:spPr>
          <a:xfrm>
            <a:off x="9210822" y="283283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40</a:t>
            </a:r>
            <a:endParaRPr lang="zh-CN" altLang="en-US" sz="20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A14F377-CDA9-4276-B464-E660A591F776}"/>
              </a:ext>
            </a:extLst>
          </p:cNvPr>
          <p:cNvSpPr/>
          <p:nvPr/>
        </p:nvSpPr>
        <p:spPr bwMode="auto">
          <a:xfrm>
            <a:off x="6458880" y="2455099"/>
            <a:ext cx="481238" cy="341508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B07E852-A572-48CB-938D-74E461F55ADB}"/>
                  </a:ext>
                </a:extLst>
              </p:cNvPr>
              <p:cNvSpPr/>
              <p:nvPr/>
            </p:nvSpPr>
            <p:spPr>
              <a:xfrm>
                <a:off x="4747578" y="2416994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B07E852-A572-48CB-938D-74E461F55A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578" y="2416994"/>
                <a:ext cx="463588" cy="392993"/>
              </a:xfrm>
              <a:prstGeom prst="rect">
                <a:avLst/>
              </a:prstGeom>
              <a:blipFill>
                <a:blip r:embed="rId11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E05B9BA9-81A6-4CDA-A1A7-5C7F8F3FAD65}"/>
              </a:ext>
            </a:extLst>
          </p:cNvPr>
          <p:cNvSpPr txBox="1"/>
          <p:nvPr/>
        </p:nvSpPr>
        <p:spPr>
          <a:xfrm>
            <a:off x="5115449" y="2467780"/>
            <a:ext cx="835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-120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7787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55" grpId="0"/>
      <p:bldP spid="56" grpId="0"/>
      <p:bldP spid="58" grpId="0"/>
      <p:bldP spid="59" grpId="0"/>
      <p:bldP spid="60" grpId="0"/>
      <p:bldP spid="53" grpId="0"/>
      <p:bldP spid="54" grpId="0"/>
      <p:bldP spid="57" grpId="0"/>
      <p:bldP spid="52" grpId="0"/>
      <p:bldP spid="6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6E5B9-796D-49D2-8E71-4BEA1AA2E857}"/>
              </a:ext>
            </a:extLst>
          </p:cNvPr>
          <p:cNvSpPr txBox="1"/>
          <p:nvPr/>
        </p:nvSpPr>
        <p:spPr>
          <a:xfrm>
            <a:off x="-15552" y="1124744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6. </a:t>
            </a:r>
            <a:r>
              <a:rPr lang="zh-CN" altLang="en-US" sz="2400" dirty="0"/>
              <a:t>矩阵变换，形成新的单纯形表</a:t>
            </a: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 dirty="0"/>
              <a:t>根据确定的主元，将对应的一列系数变成主元为</a:t>
            </a:r>
            <a:r>
              <a:rPr lang="en-US" altLang="zh-CN" sz="2400" dirty="0"/>
              <a:t>1</a:t>
            </a:r>
            <a:r>
              <a:rPr lang="zh-CN" altLang="en-US" sz="2400" dirty="0"/>
              <a:t>，其他为</a:t>
            </a:r>
            <a:r>
              <a:rPr lang="en-US" altLang="zh-CN" sz="2400" dirty="0"/>
              <a:t>0</a:t>
            </a:r>
            <a:r>
              <a:rPr lang="zh-CN" altLang="en-US" sz="2400" dirty="0"/>
              <a:t>的样式。</a:t>
            </a: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 dirty="0"/>
              <a:t>变换原则：</a:t>
            </a: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6C55D5-4BA1-40A4-8B53-7CC868B3B6A7}"/>
              </a:ext>
            </a:extLst>
          </p:cNvPr>
          <p:cNvSpPr txBox="1"/>
          <p:nvPr/>
        </p:nvSpPr>
        <p:spPr>
          <a:xfrm>
            <a:off x="5817096" y="202735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6236C-D1AE-411E-B464-30240FA4F06C}"/>
              </a:ext>
            </a:extLst>
          </p:cNvPr>
          <p:cNvSpPr txBox="1"/>
          <p:nvPr/>
        </p:nvSpPr>
        <p:spPr>
          <a:xfrm>
            <a:off x="5827576" y="242571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59CFA7-A407-402D-B8A6-1834AFD73882}"/>
              </a:ext>
            </a:extLst>
          </p:cNvPr>
          <p:cNvSpPr txBox="1"/>
          <p:nvPr/>
        </p:nvSpPr>
        <p:spPr>
          <a:xfrm>
            <a:off x="5819631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CC584-C845-4948-B7B3-085C7437C029}"/>
              </a:ext>
            </a:extLst>
          </p:cNvPr>
          <p:cNvSpPr txBox="1"/>
          <p:nvPr/>
        </p:nvSpPr>
        <p:spPr>
          <a:xfrm>
            <a:off x="6381796" y="245716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5F8A70-55AC-43F6-A021-05CFF7702C17}"/>
              </a:ext>
            </a:extLst>
          </p:cNvPr>
          <p:cNvSpPr txBox="1"/>
          <p:nvPr/>
        </p:nvSpPr>
        <p:spPr>
          <a:xfrm>
            <a:off x="6416586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B2B029-4FC6-45AA-AE68-C15728F4F9B1}"/>
              </a:ext>
            </a:extLst>
          </p:cNvPr>
          <p:cNvSpPr txBox="1"/>
          <p:nvPr/>
        </p:nvSpPr>
        <p:spPr>
          <a:xfrm>
            <a:off x="7536238" y="20466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FCEA33-D16E-4C66-9ED3-90ED08748E96}"/>
              </a:ext>
            </a:extLst>
          </p:cNvPr>
          <p:cNvSpPr txBox="1"/>
          <p:nvPr/>
        </p:nvSpPr>
        <p:spPr>
          <a:xfrm>
            <a:off x="7548929" y="283034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3AF7F4-EB77-4FD7-BD6E-C5F162F6CDE5}"/>
              </a:ext>
            </a:extLst>
          </p:cNvPr>
          <p:cNvSpPr txBox="1"/>
          <p:nvPr/>
        </p:nvSpPr>
        <p:spPr>
          <a:xfrm>
            <a:off x="8119602" y="204170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8D66834-6021-474A-9C6D-7B0FE4C6C518}"/>
              </a:ext>
            </a:extLst>
          </p:cNvPr>
          <p:cNvSpPr txBox="1"/>
          <p:nvPr/>
        </p:nvSpPr>
        <p:spPr>
          <a:xfrm>
            <a:off x="7538044" y="243521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1" y="199747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360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200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A14F377-CDA9-4276-B464-E660A591F776}"/>
              </a:ext>
            </a:extLst>
          </p:cNvPr>
          <p:cNvSpPr/>
          <p:nvPr/>
        </p:nvSpPr>
        <p:spPr bwMode="auto">
          <a:xfrm>
            <a:off x="6458880" y="2455099"/>
            <a:ext cx="481238" cy="341508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B07E852-A572-48CB-938D-74E461F55ADB}"/>
                  </a:ext>
                </a:extLst>
              </p:cNvPr>
              <p:cNvSpPr/>
              <p:nvPr/>
            </p:nvSpPr>
            <p:spPr>
              <a:xfrm>
                <a:off x="4747578" y="2420888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B07E852-A572-48CB-938D-74E461F55A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578" y="2420888"/>
                <a:ext cx="463588" cy="392993"/>
              </a:xfrm>
              <a:prstGeom prst="rect">
                <a:avLst/>
              </a:prstGeom>
              <a:blipFill>
                <a:blip r:embed="rId10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E05B9BA9-81A6-4CDA-A1A7-5C7F8F3FAD65}"/>
              </a:ext>
            </a:extLst>
          </p:cNvPr>
          <p:cNvSpPr txBox="1"/>
          <p:nvPr/>
        </p:nvSpPr>
        <p:spPr>
          <a:xfrm>
            <a:off x="5115449" y="2420888"/>
            <a:ext cx="835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1E6DEE9-F640-4DA1-9D0F-80F5441C5DB3}"/>
              </a:ext>
            </a:extLst>
          </p:cNvPr>
          <p:cNvSpPr txBox="1"/>
          <p:nvPr/>
        </p:nvSpPr>
        <p:spPr>
          <a:xfrm>
            <a:off x="430068" y="2771082"/>
            <a:ext cx="4091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x2</a:t>
            </a:r>
            <a:r>
              <a:rPr lang="zh-CN" altLang="en-US" sz="2400" dirty="0"/>
              <a:t>对应的基向量变成</a:t>
            </a:r>
            <a:r>
              <a:rPr lang="en-US" altLang="zh-CN" sz="2400" dirty="0"/>
              <a:t>[0,1,0]</a:t>
            </a:r>
            <a:r>
              <a:rPr lang="en-US" altLang="zh-CN" sz="2400" baseline="30000" dirty="0"/>
              <a:t>T</a:t>
            </a:r>
            <a:r>
              <a:rPr lang="zh-CN" altLang="en-US" sz="2400" dirty="0"/>
              <a:t>的形式：</a:t>
            </a:r>
            <a:endParaRPr lang="en-US" altLang="zh-CN" sz="2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7D96D43-5C53-47A9-9E48-E1F871C5AA4B}"/>
              </a:ext>
            </a:extLst>
          </p:cNvPr>
          <p:cNvSpPr txBox="1"/>
          <p:nvPr/>
        </p:nvSpPr>
        <p:spPr>
          <a:xfrm>
            <a:off x="885436" y="4192584"/>
            <a:ext cx="4158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zh-CN" altLang="en-US" sz="2400" dirty="0"/>
              <a:t>第二行除以</a:t>
            </a:r>
            <a:r>
              <a:rPr lang="en-US" altLang="zh-CN" sz="2400" dirty="0"/>
              <a:t>10</a:t>
            </a: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/>
              <a:t>第二行乘以</a:t>
            </a:r>
            <a:r>
              <a:rPr lang="en-US" altLang="zh-CN" sz="2400" dirty="0"/>
              <a:t>-4</a:t>
            </a:r>
            <a:r>
              <a:rPr lang="zh-CN" altLang="en-US" sz="2400" dirty="0"/>
              <a:t>加上第一行</a:t>
            </a:r>
            <a:endParaRPr lang="en-US" altLang="zh-CN" sz="2400" dirty="0"/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/>
              <a:t>第二行乘</a:t>
            </a:r>
            <a:r>
              <a:rPr lang="en-US" altLang="zh-CN" sz="2400" dirty="0"/>
              <a:t>-5</a:t>
            </a:r>
            <a:r>
              <a:rPr lang="zh-CN" altLang="en-US" sz="2400" dirty="0"/>
              <a:t>加上第三行</a:t>
            </a:r>
            <a:endParaRPr lang="en-US" altLang="zh-CN" sz="24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3C64FF9-7C64-4FC4-8DD4-5215BAAA7AA4}"/>
              </a:ext>
            </a:extLst>
          </p:cNvPr>
          <p:cNvSpPr txBox="1"/>
          <p:nvPr/>
        </p:nvSpPr>
        <p:spPr>
          <a:xfrm>
            <a:off x="5776230" y="2409562"/>
            <a:ext cx="679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3/10</a:t>
            </a:r>
            <a:endParaRPr lang="zh-CN" altLang="en-US" sz="20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B1D699B-C9AE-4BFB-AA01-2DB94B9B540B}"/>
              </a:ext>
            </a:extLst>
          </p:cNvPr>
          <p:cNvSpPr txBox="1"/>
          <p:nvPr/>
        </p:nvSpPr>
        <p:spPr>
          <a:xfrm>
            <a:off x="6374976" y="243259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88AC9CE-FAFA-410C-813A-0587F1D83108}"/>
              </a:ext>
            </a:extLst>
          </p:cNvPr>
          <p:cNvSpPr txBox="1"/>
          <p:nvPr/>
        </p:nvSpPr>
        <p:spPr>
          <a:xfrm>
            <a:off x="6938882" y="244239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A4B2978-01FB-4BB9-B0DE-14F7F0D8DB4E}"/>
              </a:ext>
            </a:extLst>
          </p:cNvPr>
          <p:cNvSpPr txBox="1"/>
          <p:nvPr/>
        </p:nvSpPr>
        <p:spPr>
          <a:xfrm>
            <a:off x="8132721" y="244239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4001ED8-3D3F-49C1-9429-90C570F57240}"/>
              </a:ext>
            </a:extLst>
          </p:cNvPr>
          <p:cNvSpPr txBox="1"/>
          <p:nvPr/>
        </p:nvSpPr>
        <p:spPr>
          <a:xfrm>
            <a:off x="7524051" y="2452826"/>
            <a:ext cx="698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1/10</a:t>
            </a:r>
            <a:endParaRPr lang="zh-CN" altLang="en-US" sz="2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44495F1-524E-4EB3-896A-283F0816F521}"/>
              </a:ext>
            </a:extLst>
          </p:cNvPr>
          <p:cNvSpPr txBox="1"/>
          <p:nvPr/>
        </p:nvSpPr>
        <p:spPr>
          <a:xfrm>
            <a:off x="8721147" y="2430233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</a:t>
            </a:r>
            <a:endParaRPr lang="zh-CN" altLang="en-US" sz="2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92D022D-2D97-481E-ACFB-79BA3366BD2C}"/>
              </a:ext>
            </a:extLst>
          </p:cNvPr>
          <p:cNvSpPr txBox="1"/>
          <p:nvPr/>
        </p:nvSpPr>
        <p:spPr>
          <a:xfrm>
            <a:off x="6419343" y="202815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71DF236-F6FC-471D-8FB2-517257B55F36}"/>
              </a:ext>
            </a:extLst>
          </p:cNvPr>
          <p:cNvSpPr txBox="1"/>
          <p:nvPr/>
        </p:nvSpPr>
        <p:spPr>
          <a:xfrm>
            <a:off x="6941291" y="202247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2AD9984-044B-4B6E-9ED5-D33CECA361AB}"/>
              </a:ext>
            </a:extLst>
          </p:cNvPr>
          <p:cNvSpPr txBox="1"/>
          <p:nvPr/>
        </p:nvSpPr>
        <p:spPr>
          <a:xfrm>
            <a:off x="7498440" y="2044972"/>
            <a:ext cx="70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-5/2</a:t>
            </a:r>
            <a:endParaRPr lang="zh-CN" alt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B236B7A-D6B2-497B-86F8-1854CA5E9F69}"/>
              </a:ext>
            </a:extLst>
          </p:cNvPr>
          <p:cNvSpPr txBox="1"/>
          <p:nvPr/>
        </p:nvSpPr>
        <p:spPr>
          <a:xfrm>
            <a:off x="8104051" y="203343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9B61439-AF76-46BD-98FD-4C025DE76C58}"/>
              </a:ext>
            </a:extLst>
          </p:cNvPr>
          <p:cNvSpPr txBox="1"/>
          <p:nvPr/>
        </p:nvSpPr>
        <p:spPr>
          <a:xfrm>
            <a:off x="8704679" y="2011933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240</a:t>
            </a:r>
            <a:endParaRPr lang="zh-CN" altLang="en-US" sz="2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B35D619-2BF9-4AF4-8B99-1943A3D805F6}"/>
              </a:ext>
            </a:extLst>
          </p:cNvPr>
          <p:cNvSpPr txBox="1"/>
          <p:nvPr/>
        </p:nvSpPr>
        <p:spPr>
          <a:xfrm>
            <a:off x="5795689" y="2024561"/>
            <a:ext cx="70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39/5</a:t>
            </a:r>
            <a:endParaRPr lang="zh-CN" altLang="en-US" sz="2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C753DE5-3521-44CD-80ED-A48F9BDDD548}"/>
              </a:ext>
            </a:extLst>
          </p:cNvPr>
          <p:cNvSpPr txBox="1"/>
          <p:nvPr/>
        </p:nvSpPr>
        <p:spPr>
          <a:xfrm>
            <a:off x="5831704" y="283475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5/2</a:t>
            </a:r>
            <a:endParaRPr lang="zh-CN" altLang="en-US" sz="20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FAF756A-70E1-4273-AF90-133819CDA9B7}"/>
              </a:ext>
            </a:extLst>
          </p:cNvPr>
          <p:cNvSpPr txBox="1"/>
          <p:nvPr/>
        </p:nvSpPr>
        <p:spPr>
          <a:xfrm>
            <a:off x="6417507" y="282659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FE12F02-14B7-4529-8DAC-2E30076E6E3A}"/>
              </a:ext>
            </a:extLst>
          </p:cNvPr>
          <p:cNvSpPr txBox="1"/>
          <p:nvPr/>
        </p:nvSpPr>
        <p:spPr>
          <a:xfrm>
            <a:off x="6973678" y="281875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770411B-A11D-406C-AE5E-64F8A481A9FA}"/>
              </a:ext>
            </a:extLst>
          </p:cNvPr>
          <p:cNvSpPr txBox="1"/>
          <p:nvPr/>
        </p:nvSpPr>
        <p:spPr>
          <a:xfrm>
            <a:off x="7506654" y="2845701"/>
            <a:ext cx="639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-1/2</a:t>
            </a:r>
            <a:endParaRPr lang="zh-CN" altLang="en-US" sz="20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BEAAC9B-B0F4-4D81-97A6-D258483655E1}"/>
              </a:ext>
            </a:extLst>
          </p:cNvPr>
          <p:cNvSpPr txBox="1"/>
          <p:nvPr/>
        </p:nvSpPr>
        <p:spPr>
          <a:xfrm>
            <a:off x="8113407" y="285022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0D4C207-617B-4580-B66C-C8FEEEFF6366}"/>
              </a:ext>
            </a:extLst>
          </p:cNvPr>
          <p:cNvSpPr txBox="1"/>
          <p:nvPr/>
        </p:nvSpPr>
        <p:spPr>
          <a:xfrm>
            <a:off x="8689471" y="2847288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4701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50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BD69-F0A0-4190-8FEF-784CA323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  <a:r>
              <a:rPr lang="en-US" altLang="zh-CN" dirty="0"/>
              <a:t>—</a:t>
            </a:r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296FF-C764-41A2-A44C-8FA1F420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2022年10月21日星期五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1C1B43-17A1-4062-9C74-45D2857D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35059"/>
                  </p:ext>
                </p:extLst>
              </p:nvPr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27203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149725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aseline="0" dirty="0"/>
                            <a:t>1</a:t>
                          </a: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27203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27203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400" kern="1200" baseline="-250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CE3FCF-5326-429F-A5DC-7627436BA9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35059"/>
                  </p:ext>
                </p:extLst>
              </p:nvPr>
            </p:nvGraphicFramePr>
            <p:xfrm>
              <a:off x="4664968" y="1124744"/>
              <a:ext cx="5205537" cy="25518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8393">
                      <a:extLst>
                        <a:ext uri="{9D8B030D-6E8A-4147-A177-3AD203B41FA5}">
                          <a16:colId xmlns:a16="http://schemas.microsoft.com/office/drawing/2014/main" val="798769453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560815571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052753358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6693534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1606338379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94192400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164726120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281621817"/>
                        </a:ext>
                      </a:extLst>
                    </a:gridCol>
                    <a:gridCol w="578393">
                      <a:extLst>
                        <a:ext uri="{9D8B030D-6E8A-4147-A177-3AD203B41FA5}">
                          <a16:colId xmlns:a16="http://schemas.microsoft.com/office/drawing/2014/main" val="350154188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X</a:t>
                          </a:r>
                          <a:r>
                            <a:rPr lang="en-US" altLang="zh-CN" sz="2400" baseline="30000" dirty="0"/>
                            <a:t>B</a:t>
                          </a:r>
                          <a:endParaRPr lang="zh-CN" altLang="en-US" sz="2400" baseline="30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aseline="-25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1053" t="-4000" r="-102105" b="-181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053" t="-4000" r="-2105" b="-1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9946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C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5091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28628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aseline="0" dirty="0"/>
                            <a:t>1</a:t>
                          </a: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57196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6201576"/>
                      </a:ext>
                    </a:extLst>
                  </a:tr>
                  <a:tr h="44875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75676" r="-351053" b="-2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aseline="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2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817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56ABAA1-5F32-4B95-A437-9A3632D47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3304" y="4011960"/>
          <a:ext cx="4447199" cy="256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1193760" progId="Equation.DSMT4">
                  <p:embed/>
                </p:oleObj>
              </mc:Choice>
              <mc:Fallback>
                <p:oleObj name="Equation" r:id="rId4" imgW="1968480" imgH="1193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56ABAA1-5F32-4B95-A437-9A3632D47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3304" y="4011960"/>
                        <a:ext cx="4447199" cy="2566622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EEC8D2-9E37-4273-9013-C02FAE74EFA5}"/>
              </a:ext>
            </a:extLst>
          </p:cNvPr>
          <p:cNvSpPr txBox="1"/>
          <p:nvPr/>
        </p:nvSpPr>
        <p:spPr>
          <a:xfrm>
            <a:off x="4808984" y="5369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6E5B9-796D-49D2-8E71-4BEA1AA2E857}"/>
              </a:ext>
            </a:extLst>
          </p:cNvPr>
          <p:cNvSpPr txBox="1"/>
          <p:nvPr/>
        </p:nvSpPr>
        <p:spPr>
          <a:xfrm>
            <a:off x="-15552" y="1124744"/>
            <a:ext cx="4680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7. </a:t>
            </a:r>
            <a:r>
              <a:rPr lang="zh-CN" altLang="en-US" sz="2400" dirty="0"/>
              <a:t>回到步骤</a:t>
            </a:r>
            <a:r>
              <a:rPr lang="en-US" altLang="zh-CN" sz="2400" dirty="0"/>
              <a:t>3</a:t>
            </a:r>
            <a:r>
              <a:rPr lang="zh-CN" altLang="en-US" sz="2400" dirty="0"/>
              <a:t>开始新一轮迭代</a:t>
            </a: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272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baseline="-25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2000" baseline="-25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8F143C2-8495-4472-8424-6A3944B915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3799" y="1135268"/>
              <a:ext cx="2811955" cy="3891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391">
                      <a:extLst>
                        <a:ext uri="{9D8B030D-6E8A-4147-A177-3AD203B41FA5}">
                          <a16:colId xmlns:a16="http://schemas.microsoft.com/office/drawing/2014/main" val="4270507719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61113105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105280107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2255568121"/>
                        </a:ext>
                      </a:extLst>
                    </a:gridCol>
                    <a:gridCol w="562391">
                      <a:extLst>
                        <a:ext uri="{9D8B030D-6E8A-4147-A177-3AD203B41FA5}">
                          <a16:colId xmlns:a16="http://schemas.microsoft.com/office/drawing/2014/main" val="93154880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3978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087" r="-3021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925" r="-19892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2174" r="-10108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9784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1353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287AF2-2C9A-4243-AE11-8E60604FC523}"/>
              </a:ext>
            </a:extLst>
          </p:cNvPr>
          <p:cNvSpPr txBox="1"/>
          <p:nvPr/>
        </p:nvSpPr>
        <p:spPr>
          <a:xfrm>
            <a:off x="5817096" y="162863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-60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640504-A19E-4F48-87E2-E4E9AFA78E3B}"/>
              </a:ext>
            </a:extLst>
          </p:cNvPr>
          <p:cNvSpPr txBox="1"/>
          <p:nvPr/>
        </p:nvSpPr>
        <p:spPr>
          <a:xfrm>
            <a:off x="6321152" y="1628800"/>
            <a:ext cx="69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80BBD7-E6E5-42BB-9109-EE71F3082E9F}"/>
              </a:ext>
            </a:extLst>
          </p:cNvPr>
          <p:cNvSpPr txBox="1"/>
          <p:nvPr/>
        </p:nvSpPr>
        <p:spPr>
          <a:xfrm>
            <a:off x="7070839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EE0F99-3EDE-43B9-91FB-5DEC95B9A90D}"/>
              </a:ext>
            </a:extLst>
          </p:cNvPr>
          <p:cNvSpPr txBox="1"/>
          <p:nvPr/>
        </p:nvSpPr>
        <p:spPr>
          <a:xfrm>
            <a:off x="7646903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DA75A0-781A-4D99-8C11-3AC537F943DE}"/>
              </a:ext>
            </a:extLst>
          </p:cNvPr>
          <p:cNvSpPr txBox="1"/>
          <p:nvPr/>
        </p:nvSpPr>
        <p:spPr>
          <a:xfrm>
            <a:off x="8222967" y="1627247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98C3B0-334C-4754-83A5-10E94114FA7A}"/>
              </a:ext>
            </a:extLst>
          </p:cNvPr>
          <p:cNvSpPr txBox="1"/>
          <p:nvPr/>
        </p:nvSpPr>
        <p:spPr>
          <a:xfrm>
            <a:off x="6403792" y="203097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47090E-9D0E-4936-8C43-A779AAE924C4}"/>
              </a:ext>
            </a:extLst>
          </p:cNvPr>
          <p:cNvSpPr txBox="1"/>
          <p:nvPr/>
        </p:nvSpPr>
        <p:spPr>
          <a:xfrm>
            <a:off x="6947380" y="20330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6279AC-D9FD-4C8B-928B-15652F48166A}"/>
              </a:ext>
            </a:extLst>
          </p:cNvPr>
          <p:cNvSpPr txBox="1"/>
          <p:nvPr/>
        </p:nvSpPr>
        <p:spPr>
          <a:xfrm>
            <a:off x="6960174" y="2814514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379041-8590-4286-876C-F69E3BDB87DE}"/>
              </a:ext>
            </a:extLst>
          </p:cNvPr>
          <p:cNvSpPr txBox="1"/>
          <p:nvPr/>
        </p:nvSpPr>
        <p:spPr>
          <a:xfrm>
            <a:off x="6952874" y="242478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3EAA6B-3DB3-489D-8A52-277BE897DD3C}"/>
              </a:ext>
            </a:extLst>
          </p:cNvPr>
          <p:cNvSpPr txBox="1"/>
          <p:nvPr/>
        </p:nvSpPr>
        <p:spPr>
          <a:xfrm>
            <a:off x="8119602" y="245656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A4AE8-89E8-4A43-8703-76D11811AE86}"/>
              </a:ext>
            </a:extLst>
          </p:cNvPr>
          <p:cNvSpPr txBox="1"/>
          <p:nvPr/>
        </p:nvSpPr>
        <p:spPr>
          <a:xfrm>
            <a:off x="8119633" y="28566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050FE1-7049-48D9-984F-5081611B278C}"/>
              </a:ext>
            </a:extLst>
          </p:cNvPr>
          <p:cNvSpPr txBox="1"/>
          <p:nvPr/>
        </p:nvSpPr>
        <p:spPr>
          <a:xfrm>
            <a:off x="8708392" y="2412336"/>
            <a:ext cx="63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30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500D76-385B-4925-8CA3-7E2D98F49C0A}"/>
              </a:ext>
            </a:extLst>
          </p:cNvPr>
          <p:cNvSpPr txBox="1"/>
          <p:nvPr/>
        </p:nvSpPr>
        <p:spPr>
          <a:xfrm>
            <a:off x="8708392" y="2051296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240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E1D4A0-0844-475F-8441-E03FE292F5A9}"/>
              </a:ext>
            </a:extLst>
          </p:cNvPr>
          <p:cNvSpPr txBox="1"/>
          <p:nvPr/>
        </p:nvSpPr>
        <p:spPr>
          <a:xfrm>
            <a:off x="8708422" y="2812446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/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40197C-C56D-47DA-8D95-3A8EBC730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28" y="2016039"/>
                <a:ext cx="463588" cy="392993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/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2A97A42-C004-4BE9-8AF7-30CC2AB0C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453" y="2796607"/>
                <a:ext cx="463588" cy="392993"/>
              </a:xfrm>
              <a:prstGeom prst="rect">
                <a:avLst/>
              </a:prstGeom>
              <a:blipFill>
                <a:blip r:embed="rId9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11E17B9C-F848-4E52-8224-033A17423EA1}"/>
              </a:ext>
            </a:extLst>
          </p:cNvPr>
          <p:cNvSpPr txBox="1"/>
          <p:nvPr/>
        </p:nvSpPr>
        <p:spPr>
          <a:xfrm>
            <a:off x="5258137" y="2043551"/>
            <a:ext cx="65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B6490E-F67A-4074-854F-BE14FBA955CA}"/>
              </a:ext>
            </a:extLst>
          </p:cNvPr>
          <p:cNvSpPr txBox="1"/>
          <p:nvPr/>
        </p:nvSpPr>
        <p:spPr>
          <a:xfrm>
            <a:off x="5258168" y="2858521"/>
            <a:ext cx="63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B07E852-A572-48CB-938D-74E461F55ADB}"/>
                  </a:ext>
                </a:extLst>
              </p:cNvPr>
              <p:cNvSpPr/>
              <p:nvPr/>
            </p:nvSpPr>
            <p:spPr>
              <a:xfrm>
                <a:off x="4747578" y="2420888"/>
                <a:ext cx="463588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B07E852-A572-48CB-938D-74E461F55A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578" y="2420888"/>
                <a:ext cx="463588" cy="392993"/>
              </a:xfrm>
              <a:prstGeom prst="rect">
                <a:avLst/>
              </a:prstGeom>
              <a:blipFill>
                <a:blip r:embed="rId10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E05B9BA9-81A6-4CDA-A1A7-5C7F8F3FAD65}"/>
              </a:ext>
            </a:extLst>
          </p:cNvPr>
          <p:cNvSpPr txBox="1"/>
          <p:nvPr/>
        </p:nvSpPr>
        <p:spPr>
          <a:xfrm>
            <a:off x="5115449" y="2420888"/>
            <a:ext cx="835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-120</a:t>
            </a:r>
            <a:endParaRPr lang="zh-CN" altLang="en-US" sz="2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1E6DEE9-F640-4DA1-9D0F-80F5441C5DB3}"/>
              </a:ext>
            </a:extLst>
          </p:cNvPr>
          <p:cNvSpPr txBox="1"/>
          <p:nvPr/>
        </p:nvSpPr>
        <p:spPr>
          <a:xfrm>
            <a:off x="208024" y="1835046"/>
            <a:ext cx="4222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最终如果某次迭代的值都为非负数，则找到最优解，带入到目标函数，求出极值点。</a:t>
            </a:r>
            <a:endParaRPr lang="en-US" altLang="zh-CN" sz="24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3C64FF9-7C64-4FC4-8DD4-5215BAAA7AA4}"/>
              </a:ext>
            </a:extLst>
          </p:cNvPr>
          <p:cNvSpPr txBox="1"/>
          <p:nvPr/>
        </p:nvSpPr>
        <p:spPr>
          <a:xfrm>
            <a:off x="5775298" y="2439711"/>
            <a:ext cx="679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3/10</a:t>
            </a:r>
            <a:endParaRPr lang="zh-CN" altLang="en-US" sz="2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4001ED8-3D3F-49C1-9429-90C570F57240}"/>
              </a:ext>
            </a:extLst>
          </p:cNvPr>
          <p:cNvSpPr txBox="1"/>
          <p:nvPr/>
        </p:nvSpPr>
        <p:spPr>
          <a:xfrm>
            <a:off x="7511447" y="2451870"/>
            <a:ext cx="698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1/10</a:t>
            </a:r>
            <a:endParaRPr lang="zh-CN" alt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2AD9984-044B-4B6E-9ED5-D33CECA361AB}"/>
              </a:ext>
            </a:extLst>
          </p:cNvPr>
          <p:cNvSpPr txBox="1"/>
          <p:nvPr/>
        </p:nvSpPr>
        <p:spPr>
          <a:xfrm>
            <a:off x="7485580" y="2036909"/>
            <a:ext cx="70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-5/2</a:t>
            </a:r>
            <a:endParaRPr lang="zh-CN" alt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B236B7A-D6B2-497B-86F8-1854CA5E9F69}"/>
              </a:ext>
            </a:extLst>
          </p:cNvPr>
          <p:cNvSpPr txBox="1"/>
          <p:nvPr/>
        </p:nvSpPr>
        <p:spPr>
          <a:xfrm>
            <a:off x="8124917" y="202627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B35D619-2BF9-4AF4-8B99-1943A3D805F6}"/>
              </a:ext>
            </a:extLst>
          </p:cNvPr>
          <p:cNvSpPr txBox="1"/>
          <p:nvPr/>
        </p:nvSpPr>
        <p:spPr>
          <a:xfrm>
            <a:off x="5796150" y="2048897"/>
            <a:ext cx="70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39/5</a:t>
            </a:r>
            <a:endParaRPr lang="zh-CN" altLang="en-US" sz="2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C753DE5-3521-44CD-80ED-A48F9BDDD548}"/>
              </a:ext>
            </a:extLst>
          </p:cNvPr>
          <p:cNvSpPr txBox="1"/>
          <p:nvPr/>
        </p:nvSpPr>
        <p:spPr>
          <a:xfrm>
            <a:off x="5839177" y="28124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5/2</a:t>
            </a:r>
            <a:endParaRPr lang="zh-CN" altLang="en-US" sz="20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FAF756A-70E1-4273-AF90-133819CDA9B7}"/>
              </a:ext>
            </a:extLst>
          </p:cNvPr>
          <p:cNvSpPr txBox="1"/>
          <p:nvPr/>
        </p:nvSpPr>
        <p:spPr>
          <a:xfrm>
            <a:off x="6435156" y="281579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770411B-A11D-406C-AE5E-64F8A481A9FA}"/>
              </a:ext>
            </a:extLst>
          </p:cNvPr>
          <p:cNvSpPr txBox="1"/>
          <p:nvPr/>
        </p:nvSpPr>
        <p:spPr>
          <a:xfrm>
            <a:off x="7490360" y="2847529"/>
            <a:ext cx="639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-1/2</a:t>
            </a:r>
            <a:endParaRPr lang="zh-CN" altLang="en-US" sz="200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7EA7F79-D3D2-426C-B03B-02289BF04FBE}"/>
              </a:ext>
            </a:extLst>
          </p:cNvPr>
          <p:cNvSpPr/>
          <p:nvPr/>
        </p:nvSpPr>
        <p:spPr bwMode="auto">
          <a:xfrm>
            <a:off x="184623" y="4552200"/>
            <a:ext cx="5468907" cy="90121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注意：</a:t>
            </a:r>
            <a:r>
              <a:rPr lang="zh-CN" altLang="en-US" sz="2400" dirty="0"/>
              <a:t>判如果原目标函数经过转换，需要最终求得的值进行逆转换！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ABA716DA-EDCA-416B-B2F9-4A8A8B8BE6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930276"/>
              </p:ext>
            </p:extLst>
          </p:nvPr>
        </p:nvGraphicFramePr>
        <p:xfrm>
          <a:off x="482504" y="3121745"/>
          <a:ext cx="3294062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34960" imgH="609480" progId="Equation.DSMT4">
                  <p:embed/>
                </p:oleObj>
              </mc:Choice>
              <mc:Fallback>
                <p:oleObj name="Equation" r:id="rId11" imgW="1434960" imgH="609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9947606-4389-4CA9-8782-98680F4D7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2504" y="3121745"/>
                        <a:ext cx="3294062" cy="140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99AA59C2-C0CB-43DD-B9BF-99899B7F79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946531"/>
              </p:ext>
            </p:extLst>
          </p:nvPr>
        </p:nvGraphicFramePr>
        <p:xfrm>
          <a:off x="482504" y="5612369"/>
          <a:ext cx="230346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02960" imgH="304560" progId="Equation.DSMT4">
                  <p:embed/>
                </p:oleObj>
              </mc:Choice>
              <mc:Fallback>
                <p:oleObj name="Equation" r:id="rId13" imgW="1002960" imgH="30456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ABA716DA-EDCA-416B-B2F9-4A8A8B8BE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2504" y="5612369"/>
                        <a:ext cx="2303462" cy="700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559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0" grpId="0" animBg="1"/>
    </p:bldLst>
  </p:timing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10169</TotalTime>
  <Words>2739</Words>
  <Application>Microsoft Office PowerPoint</Application>
  <PresentationFormat>A4 纸张(210x297 毫米)</PresentationFormat>
  <Paragraphs>857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黑体</vt:lpstr>
      <vt:lpstr>宋体</vt:lpstr>
      <vt:lpstr>Arial</vt:lpstr>
      <vt:lpstr>Cambria Math</vt:lpstr>
      <vt:lpstr>Times New Roman</vt:lpstr>
      <vt:lpstr>Wingdings</vt:lpstr>
      <vt:lpstr>Presentation</vt:lpstr>
      <vt:lpstr>Equation</vt:lpstr>
      <vt:lpstr>最优化理论</vt:lpstr>
      <vt:lpstr>线性规划</vt:lpstr>
      <vt:lpstr>线性规划的标准形</vt:lpstr>
      <vt:lpstr>线性规划的标准形</vt:lpstr>
      <vt:lpstr>线性规划的标准形</vt:lpstr>
      <vt:lpstr>线性规划的标准形</vt:lpstr>
      <vt:lpstr>线性规划的标准形</vt:lpstr>
      <vt:lpstr>线性规划的标准形</vt:lpstr>
      <vt:lpstr>线性规划的标准形</vt:lpstr>
      <vt:lpstr>线性规划的标准形</vt:lpstr>
      <vt:lpstr>线性规划的标准形</vt:lpstr>
      <vt:lpstr>线性规划的基本解与基本可行解</vt:lpstr>
      <vt:lpstr>线性规划的基本解与基本可行解</vt:lpstr>
      <vt:lpstr>线性规划的基本解与基本可行解</vt:lpstr>
      <vt:lpstr>线性规划的基本解与基本可行解</vt:lpstr>
      <vt:lpstr>线性规划的基本解与基本可行解</vt:lpstr>
      <vt:lpstr>线性规划的基本解与基本可行解</vt:lpstr>
      <vt:lpstr>线性规划的基本解与基本可行解</vt:lpstr>
      <vt:lpstr>线性规划的基本解与基本可行解</vt:lpstr>
      <vt:lpstr>单纯形法</vt:lpstr>
      <vt:lpstr>单纯形法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单纯形法—计算过程</vt:lpstr>
      <vt:lpstr>单纯形表</vt:lpstr>
      <vt:lpstr>单纯形表—迭代步骤</vt:lpstr>
      <vt:lpstr>单纯形表—迭代步骤</vt:lpstr>
      <vt:lpstr>单纯形表—迭代步骤</vt:lpstr>
      <vt:lpstr>单纯形表—迭代步骤</vt:lpstr>
      <vt:lpstr>单纯形表—迭代步骤</vt:lpstr>
      <vt:lpstr>单纯形表—迭代步骤</vt:lpstr>
      <vt:lpstr>单纯形表—迭代步骤</vt:lpstr>
      <vt:lpstr>单纯形表—迭代步骤</vt:lpstr>
      <vt:lpstr>单纯形表—迭代步骤</vt:lpstr>
      <vt:lpstr>单纯形表—迭代步骤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5385</cp:revision>
  <dcterms:created xsi:type="dcterms:W3CDTF">2016-10-01T05:27:09Z</dcterms:created>
  <dcterms:modified xsi:type="dcterms:W3CDTF">2022-10-21T07:21:16Z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