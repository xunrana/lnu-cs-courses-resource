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7" r:id="rId15"/>
    <p:sldId id="298" r:id="rId16"/>
    <p:sldId id="299" r:id="rId17"/>
    <p:sldId id="300" r:id="rId18"/>
    <p:sldId id="301" r:id="rId19"/>
    <p:sldId id="269" r:id="rId20"/>
    <p:sldId id="270" r:id="rId21"/>
    <p:sldId id="271" r:id="rId22"/>
    <p:sldId id="275" r:id="rId23"/>
    <p:sldId id="276" r:id="rId24"/>
    <p:sldId id="277" r:id="rId25"/>
    <p:sldId id="280" r:id="rId26"/>
    <p:sldId id="279" r:id="rId27"/>
    <p:sldId id="281" r:id="rId28"/>
    <p:sldId id="282" r:id="rId29"/>
    <p:sldId id="283" r:id="rId30"/>
    <p:sldId id="284" r:id="rId31"/>
    <p:sldId id="278" r:id="rId32"/>
    <p:sldId id="285" r:id="rId33"/>
    <p:sldId id="287" r:id="rId34"/>
    <p:sldId id="288" r:id="rId35"/>
    <p:sldId id="289" r:id="rId36"/>
    <p:sldId id="291" r:id="rId37"/>
    <p:sldId id="292" r:id="rId38"/>
    <p:sldId id="293" r:id="rId39"/>
    <p:sldId id="294" r:id="rId40"/>
    <p:sldId id="295" r:id="rId41"/>
    <p:sldId id="296" r:id="rId42"/>
    <p:sldId id="303" r:id="rId43"/>
    <p:sldId id="302" r:id="rId44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97"/>
            <p14:sldId id="298"/>
            <p14:sldId id="299"/>
            <p14:sldId id="300"/>
            <p14:sldId id="301"/>
            <p14:sldId id="269"/>
            <p14:sldId id="270"/>
            <p14:sldId id="271"/>
            <p14:sldId id="275"/>
            <p14:sldId id="276"/>
            <p14:sldId id="277"/>
            <p14:sldId id="280"/>
            <p14:sldId id="279"/>
            <p14:sldId id="281"/>
            <p14:sldId id="282"/>
            <p14:sldId id="283"/>
            <p14:sldId id="284"/>
            <p14:sldId id="278"/>
            <p14:sldId id="285"/>
            <p14:sldId id="287"/>
            <p14:sldId id="288"/>
            <p14:sldId id="289"/>
            <p14:sldId id="291"/>
            <p14:sldId id="292"/>
            <p14:sldId id="293"/>
            <p14:sldId id="294"/>
            <p14:sldId id="295"/>
            <p14:sldId id="296"/>
            <p14:sldId id="303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66"/>
    <a:srgbClr val="30A040"/>
    <a:srgbClr val="CC3399"/>
    <a:srgbClr val="FFFFFF"/>
    <a:srgbClr val="0000CC"/>
    <a:srgbClr val="333399"/>
    <a:srgbClr val="000099"/>
    <a:srgbClr val="FF99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30" autoAdjust="0"/>
    <p:restoredTop sz="93826" autoAdjust="0"/>
  </p:normalViewPr>
  <p:slideViewPr>
    <p:cSldViewPr>
      <p:cViewPr varScale="1">
        <p:scale>
          <a:sx n="110" d="100"/>
          <a:sy n="110" d="100"/>
        </p:scale>
        <p:origin x="1038" y="10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2022年11月16日星期三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2022年11月16日星期三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5.wmf"/><Relationship Id="rId3" Type="http://schemas.openxmlformats.org/officeDocument/2006/relationships/image" Target="../media/image6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6.bin"/><Relationship Id="rId3" Type="http://schemas.openxmlformats.org/officeDocument/2006/relationships/image" Target="../media/image6.wmf"/><Relationship Id="rId21" Type="http://schemas.openxmlformats.org/officeDocument/2006/relationships/image" Target="../media/image24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22.wmf"/><Relationship Id="rId2" Type="http://schemas.openxmlformats.org/officeDocument/2006/relationships/oleObject" Target="../embeddings/oleObject18.bin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19.wmf"/><Relationship Id="rId5" Type="http://schemas.openxmlformats.org/officeDocument/2006/relationships/image" Target="../media/image11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2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32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3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32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38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40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43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4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4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44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51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6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6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6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6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53.png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6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63.wmf"/><Relationship Id="rId3" Type="http://schemas.openxmlformats.org/officeDocument/2006/relationships/image" Target="../media/image6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89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61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5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67.wmf"/><Relationship Id="rId3" Type="http://schemas.openxmlformats.org/officeDocument/2006/relationships/image" Target="../media/image6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94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6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71.wmf"/><Relationship Id="rId3" Type="http://schemas.openxmlformats.org/officeDocument/2006/relationships/image" Target="../media/image6.wmf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72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21.wmf"/><Relationship Id="rId5" Type="http://schemas.openxmlformats.org/officeDocument/2006/relationships/image" Target="../media/image6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95.bin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2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47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80.wmf"/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108.bin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73.wmf"/><Relationship Id="rId5" Type="http://schemas.openxmlformats.org/officeDocument/2006/relationships/image" Target="../media/image77.wmf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10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88.wmf"/><Relationship Id="rId3" Type="http://schemas.openxmlformats.org/officeDocument/2006/relationships/image" Target="../media/image83.wmf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116.bin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87.wmf"/><Relationship Id="rId5" Type="http://schemas.openxmlformats.org/officeDocument/2006/relationships/image" Target="../media/image84.wmf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11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3" Type="http://schemas.openxmlformats.org/officeDocument/2006/relationships/image" Target="../media/image83.w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91.w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9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95.wmf"/><Relationship Id="rId3" Type="http://schemas.openxmlformats.org/officeDocument/2006/relationships/image" Target="../media/image83.wmf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128.bin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94.wmf"/><Relationship Id="rId5" Type="http://schemas.openxmlformats.org/officeDocument/2006/relationships/image" Target="../media/image92.w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9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image" Target="../media/image83.wmf"/><Relationship Id="rId7" Type="http://schemas.openxmlformats.org/officeDocument/2006/relationships/image" Target="../media/image96.wmf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0" Type="http://schemas.openxmlformats.org/officeDocument/2006/relationships/oleObject" Target="../embeddings/oleObject133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9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13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01.wmf"/><Relationship Id="rId18" Type="http://schemas.openxmlformats.org/officeDocument/2006/relationships/image" Target="../media/image104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03.wmf"/><Relationship Id="rId2" Type="http://schemas.openxmlformats.org/officeDocument/2006/relationships/tags" Target="../tags/tag2.xml"/><Relationship Id="rId16" Type="http://schemas.openxmlformats.org/officeDocument/2006/relationships/oleObject" Target="../embeddings/oleObject138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8.xml"/><Relationship Id="rId5" Type="http://schemas.openxmlformats.org/officeDocument/2006/relationships/tags" Target="../tags/tag5.xml"/><Relationship Id="rId15" Type="http://schemas.openxmlformats.org/officeDocument/2006/relationships/image" Target="../media/image102.wmf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oleObject" Target="../embeddings/oleObject13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2675163" y="4100024"/>
            <a:ext cx="45704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约束优化方法</a:t>
            </a:r>
            <a:endParaRPr lang="zh-CN" altLang="en-US" sz="3600" dirty="0"/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675163" y="5138885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2022年11月16日星期三</a:t>
            </a:fld>
            <a:endParaRPr lang="zh-CN" alt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约束优化方法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惩罚函数法</a:t>
            </a:r>
            <a:endParaRPr lang="en-US" altLang="zh-CN" dirty="0"/>
          </a:p>
          <a:p>
            <a:pPr marL="742950" indent="-742950">
              <a:buFont typeface="+mj-ea"/>
              <a:buAutoNum type="arabicPeriod"/>
            </a:pPr>
            <a:r>
              <a:rPr lang="zh-CN" altLang="en-US" b="0" dirty="0"/>
              <a:t>内罚函数法</a:t>
            </a:r>
            <a:endParaRPr lang="en-US" altLang="zh-CN" b="0" dirty="0"/>
          </a:p>
          <a:p>
            <a:pPr marL="742950" indent="-742950">
              <a:buFont typeface="+mj-ea"/>
              <a:buAutoNum type="arabicPeriod"/>
            </a:pPr>
            <a:r>
              <a:rPr lang="zh-CN" altLang="en-US" b="0" dirty="0"/>
              <a:t>外罚函数法</a:t>
            </a:r>
            <a:endParaRPr lang="en-US" altLang="zh-CN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67CE8-6F33-41B2-B7CB-8CF1C347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约束优化方法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6BA027-8E8E-4EE0-8CC9-3156C1261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约束优化方法主要针对的是非线性规划问题，其数学模型为：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768C23-C91C-4787-AA8E-0076AE0B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4973-7747-4CCC-B700-CAFCE23D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30C9A1F-4A98-4C31-B903-D83F04823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828435"/>
              </p:ext>
            </p:extLst>
          </p:nvPr>
        </p:nvGraphicFramePr>
        <p:xfrm>
          <a:off x="776536" y="2492896"/>
          <a:ext cx="8156120" cy="2187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749160" progId="Equation.DSMT4">
                  <p:embed/>
                </p:oleObj>
              </mc:Choice>
              <mc:Fallback>
                <p:oleObj name="Equation" r:id="rId2" imgW="2793960" imgH="7491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A5B78ED-8F60-4B99-B852-FE145D928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6536" y="2492896"/>
                        <a:ext cx="8156120" cy="2187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126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67CE8-6F33-41B2-B7CB-8CF1C347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约束优化方法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6BA027-8E8E-4EE0-8CC9-3156C1261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分类：</a:t>
            </a:r>
            <a:endParaRPr lang="en-US" altLang="zh-CN" dirty="0"/>
          </a:p>
          <a:p>
            <a:pPr lvl="1"/>
            <a:r>
              <a:rPr lang="zh-CN" altLang="en-US" dirty="0"/>
              <a:t>直接法</a:t>
            </a:r>
            <a:endParaRPr lang="en-US" altLang="zh-CN" dirty="0"/>
          </a:p>
          <a:p>
            <a:pPr lvl="2"/>
            <a:r>
              <a:rPr lang="zh-CN" altLang="en-US" dirty="0"/>
              <a:t>复合形法、可行方向法等</a:t>
            </a:r>
            <a:endParaRPr lang="en-US" altLang="zh-CN" dirty="0"/>
          </a:p>
          <a:p>
            <a:pPr lvl="1"/>
            <a:r>
              <a:rPr lang="zh-CN" altLang="en-US" dirty="0"/>
              <a:t>间接法</a:t>
            </a:r>
            <a:endParaRPr lang="en-US" altLang="zh-CN" dirty="0"/>
          </a:p>
          <a:p>
            <a:pPr lvl="2"/>
            <a:r>
              <a:rPr lang="zh-CN" altLang="en-US" dirty="0"/>
              <a:t>惩罚函数法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768C23-C91C-4787-AA8E-0076AE0B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4973-7747-4CCC-B700-CAFCE23D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5675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7685E-5BF7-4E28-B599-8BE745CD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惩罚函数法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7A1A39-AC1D-430A-81E2-43E419B6D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根据约束条件构造惩罚项</a:t>
            </a:r>
            <a:r>
              <a:rPr lang="zh-CN" altLang="en-US" dirty="0"/>
              <a:t>，将其</a:t>
            </a:r>
            <a:r>
              <a:rPr lang="zh-CN" altLang="en-US" dirty="0">
                <a:solidFill>
                  <a:srgbClr val="0000FF"/>
                </a:solidFill>
              </a:rPr>
              <a:t>加到目标函数中构成惩罚函</a:t>
            </a:r>
            <a:r>
              <a:rPr lang="zh-CN" altLang="en-US" dirty="0"/>
              <a:t>数。将约束优化问题转化为无约束优化问题进行求解。</a:t>
            </a:r>
            <a:endParaRPr lang="en-US" altLang="zh-CN" dirty="0"/>
          </a:p>
          <a:p>
            <a:pPr lvl="2"/>
            <a:r>
              <a:rPr lang="zh-CN" altLang="en-US" dirty="0"/>
              <a:t>这种惩罚策略能够使得那些企图偏离约束条件的迭代点收到惩罚。</a:t>
            </a:r>
            <a:endParaRPr lang="en-US" altLang="zh-CN" dirty="0"/>
          </a:p>
          <a:p>
            <a:pPr lvl="2"/>
            <a:r>
              <a:rPr lang="zh-CN" altLang="en-US" dirty="0"/>
              <a:t>惩罚函数法包括内罚函数法、外罚函数法等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80C8E-CBE4-4B26-A733-88F4CAE6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BB7CBD-1D7C-4D8F-B840-7591043F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1056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E16F8-D96C-4D67-A64D-43A11B96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7FF213-46FC-4E36-BA8D-95FA1249E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0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基本思想：</a:t>
            </a:r>
            <a:endParaRPr lang="en-US" altLang="zh-CN" dirty="0"/>
          </a:p>
          <a:p>
            <a:pPr lvl="1"/>
            <a:r>
              <a:rPr lang="zh-CN" altLang="en-US" dirty="0"/>
              <a:t>将惩罚函数定义在可行域的内部，使得迭代过程在可行域内进行，最终使得迭代点逼近原优化问题的最优解。又称为</a:t>
            </a:r>
            <a:r>
              <a:rPr lang="zh-CN" altLang="en-US"/>
              <a:t>内点罚函数法。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FC364-7AE3-4EAE-A871-D9DB7433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E73340-F1E3-4C36-939E-E4F511E0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540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84FDF-06A7-4A00-82FC-6EC45C2C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87C9C-6080-4E3C-A957-D40EDD38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一个优化问题的例子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FD528-5C42-4105-92F1-4CE35E28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F81E60-0D67-47E9-AC44-C9A648D4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662C804-94EC-4C1C-9D2F-FA60518253A3}"/>
              </a:ext>
            </a:extLst>
          </p:cNvPr>
          <p:cNvCxnSpPr>
            <a:cxnSpLocks/>
          </p:cNvCxnSpPr>
          <p:nvPr/>
        </p:nvCxnSpPr>
        <p:spPr bwMode="auto">
          <a:xfrm>
            <a:off x="5673080" y="4869160"/>
            <a:ext cx="403244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3F0197B-DC23-49A0-B355-7237E8D227F5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80" y="1268760"/>
            <a:ext cx="0" cy="3600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2473735-EE95-44C6-A457-74E8382908E7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79" y="2418013"/>
            <a:ext cx="2376265" cy="24511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FE62267-C7CF-4B32-85B0-04C1F138956A}"/>
              </a:ext>
            </a:extLst>
          </p:cNvPr>
          <p:cNvSpPr txBox="1"/>
          <p:nvPr/>
        </p:nvSpPr>
        <p:spPr>
          <a:xfrm>
            <a:off x="9313209" y="4856264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4C33D6-E6CF-4A52-815D-A12C1938C563}"/>
              </a:ext>
            </a:extLst>
          </p:cNvPr>
          <p:cNvSpPr txBox="1"/>
          <p:nvPr/>
        </p:nvSpPr>
        <p:spPr>
          <a:xfrm>
            <a:off x="5025008" y="1220533"/>
            <a:ext cx="86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f(x)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427CF81-0762-4DFC-A2E5-0A4FC05C1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703766"/>
              </p:ext>
            </p:extLst>
          </p:nvPr>
        </p:nvGraphicFramePr>
        <p:xfrm>
          <a:off x="287337" y="1772816"/>
          <a:ext cx="35099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7337" y="1772816"/>
                        <a:ext cx="3509963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F1D004F-29FB-4463-A0BF-2930EC70A334}"/>
              </a:ext>
            </a:extLst>
          </p:cNvPr>
          <p:cNvCxnSpPr>
            <a:cxnSpLocks/>
          </p:cNvCxnSpPr>
          <p:nvPr/>
        </p:nvCxnSpPr>
        <p:spPr bwMode="auto">
          <a:xfrm flipV="1">
            <a:off x="6393160" y="1893434"/>
            <a:ext cx="0" cy="2969974"/>
          </a:xfrm>
          <a:prstGeom prst="straightConnector1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62D0FF88-EB83-4B66-91B8-6120FDCD8A82}"/>
              </a:ext>
            </a:extLst>
          </p:cNvPr>
          <p:cNvSpPr txBox="1"/>
          <p:nvPr/>
        </p:nvSpPr>
        <p:spPr>
          <a:xfrm>
            <a:off x="6251006" y="4863408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4E4B209-8E71-4035-979C-DD606557FCBD}"/>
              </a:ext>
            </a:extLst>
          </p:cNvPr>
          <p:cNvCxnSpPr/>
          <p:nvPr/>
        </p:nvCxnSpPr>
        <p:spPr bwMode="auto">
          <a:xfrm>
            <a:off x="6104880" y="227687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9F46BF-D377-43CB-8822-629B81485397}"/>
              </a:ext>
            </a:extLst>
          </p:cNvPr>
          <p:cNvCxnSpPr/>
          <p:nvPr/>
        </p:nvCxnSpPr>
        <p:spPr bwMode="auto">
          <a:xfrm>
            <a:off x="6128990" y="242088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062648A-DB4B-42AA-8A4C-2C5F6DD03A6E}"/>
              </a:ext>
            </a:extLst>
          </p:cNvPr>
          <p:cNvCxnSpPr/>
          <p:nvPr/>
        </p:nvCxnSpPr>
        <p:spPr bwMode="auto">
          <a:xfrm>
            <a:off x="6108700" y="285293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49EDE81-6F53-4A10-8575-C78DD28E6D07}"/>
              </a:ext>
            </a:extLst>
          </p:cNvPr>
          <p:cNvCxnSpPr/>
          <p:nvPr/>
        </p:nvCxnSpPr>
        <p:spPr bwMode="auto">
          <a:xfrm>
            <a:off x="6108700" y="270892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DC195EF-EC94-45B1-AA24-9E6913E20425}"/>
              </a:ext>
            </a:extLst>
          </p:cNvPr>
          <p:cNvCxnSpPr/>
          <p:nvPr/>
        </p:nvCxnSpPr>
        <p:spPr bwMode="auto">
          <a:xfrm>
            <a:off x="6121400" y="256490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EB81FAD-2F60-4840-9A40-95B0DF70E23F}"/>
              </a:ext>
            </a:extLst>
          </p:cNvPr>
          <p:cNvCxnSpPr/>
          <p:nvPr/>
        </p:nvCxnSpPr>
        <p:spPr bwMode="auto">
          <a:xfrm>
            <a:off x="6103590" y="299695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B50768D-A22B-4465-8536-F56DFF233C50}"/>
              </a:ext>
            </a:extLst>
          </p:cNvPr>
          <p:cNvCxnSpPr/>
          <p:nvPr/>
        </p:nvCxnSpPr>
        <p:spPr bwMode="auto">
          <a:xfrm>
            <a:off x="6127700" y="314096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8F80148-3B2F-48E2-BA09-73B5A066FD4A}"/>
              </a:ext>
            </a:extLst>
          </p:cNvPr>
          <p:cNvCxnSpPr/>
          <p:nvPr/>
        </p:nvCxnSpPr>
        <p:spPr bwMode="auto">
          <a:xfrm>
            <a:off x="6107410" y="357301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2AC66E5-9396-4EFF-9488-76D870D07056}"/>
              </a:ext>
            </a:extLst>
          </p:cNvPr>
          <p:cNvCxnSpPr/>
          <p:nvPr/>
        </p:nvCxnSpPr>
        <p:spPr bwMode="auto">
          <a:xfrm>
            <a:off x="6107410" y="342900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D7F167C-56E5-41C4-8129-E07FBB100C6B}"/>
              </a:ext>
            </a:extLst>
          </p:cNvPr>
          <p:cNvCxnSpPr/>
          <p:nvPr/>
        </p:nvCxnSpPr>
        <p:spPr bwMode="auto">
          <a:xfrm>
            <a:off x="6120110" y="328498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02B1888-744A-4303-BAFE-7A7536EB2C90}"/>
              </a:ext>
            </a:extLst>
          </p:cNvPr>
          <p:cNvCxnSpPr/>
          <p:nvPr/>
        </p:nvCxnSpPr>
        <p:spPr bwMode="auto">
          <a:xfrm>
            <a:off x="6094660" y="378904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AF837CE-3D8B-4DB7-AF38-0E8ABF15F42A}"/>
              </a:ext>
            </a:extLst>
          </p:cNvPr>
          <p:cNvCxnSpPr/>
          <p:nvPr/>
        </p:nvCxnSpPr>
        <p:spPr bwMode="auto">
          <a:xfrm>
            <a:off x="6118770" y="393305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245D08F-7920-4615-A60F-E56BDCDE3386}"/>
              </a:ext>
            </a:extLst>
          </p:cNvPr>
          <p:cNvCxnSpPr/>
          <p:nvPr/>
        </p:nvCxnSpPr>
        <p:spPr bwMode="auto">
          <a:xfrm>
            <a:off x="6098480" y="436510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1A9ACC4-DB09-48CF-BCE7-707923A84B1E}"/>
              </a:ext>
            </a:extLst>
          </p:cNvPr>
          <p:cNvCxnSpPr/>
          <p:nvPr/>
        </p:nvCxnSpPr>
        <p:spPr bwMode="auto">
          <a:xfrm>
            <a:off x="6098480" y="422108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4748C75-4450-40DD-B973-045D02821AC8}"/>
              </a:ext>
            </a:extLst>
          </p:cNvPr>
          <p:cNvCxnSpPr/>
          <p:nvPr/>
        </p:nvCxnSpPr>
        <p:spPr bwMode="auto">
          <a:xfrm>
            <a:off x="6111180" y="407707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63F3A77C-0E27-43E7-B1F4-F7CE851060C5}"/>
              </a:ext>
            </a:extLst>
          </p:cNvPr>
          <p:cNvSpPr txBox="1"/>
          <p:nvPr/>
        </p:nvSpPr>
        <p:spPr>
          <a:xfrm>
            <a:off x="5355492" y="3933056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AC2195F-8C2D-47BB-9D44-5932E3C05A69}"/>
              </a:ext>
            </a:extLst>
          </p:cNvPr>
          <p:cNvCxnSpPr>
            <a:cxnSpLocks/>
          </p:cNvCxnSpPr>
          <p:nvPr/>
        </p:nvCxnSpPr>
        <p:spPr bwMode="auto">
          <a:xfrm flipH="1">
            <a:off x="5673079" y="4133344"/>
            <a:ext cx="73908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思想气泡: 云 50">
            <a:extLst>
              <a:ext uri="{FF2B5EF4-FFF2-40B4-BE49-F238E27FC236}">
                <a16:creationId xmlns:a16="http://schemas.microsoft.com/office/drawing/2014/main" id="{CCBB34C2-F3CF-4C72-9DBA-422547FE85F9}"/>
              </a:ext>
            </a:extLst>
          </p:cNvPr>
          <p:cNvSpPr/>
          <p:nvPr/>
        </p:nvSpPr>
        <p:spPr bwMode="auto">
          <a:xfrm>
            <a:off x="1219052" y="4500870"/>
            <a:ext cx="4032448" cy="710788"/>
          </a:xfrm>
          <a:prstGeom prst="cloudCallout">
            <a:avLst>
              <a:gd name="adj1" fmla="val 77313"/>
              <a:gd name="adj2" fmla="val -101219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X=1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时候是极值点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41BFC8D-FDC1-4884-9A12-9D8797F41799}"/>
              </a:ext>
            </a:extLst>
          </p:cNvPr>
          <p:cNvSpPr txBox="1"/>
          <p:nvPr/>
        </p:nvSpPr>
        <p:spPr>
          <a:xfrm>
            <a:off x="5446004" y="4838614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1438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9" grpId="0"/>
      <p:bldP spid="47" grpId="0"/>
      <p:bldP spid="51" grpId="0" animBg="1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84FDF-06A7-4A00-82FC-6EC45C2C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87C9C-6080-4E3C-A957-D40EDD38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一个优化问题的例子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FD528-5C42-4105-92F1-4CE35E28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F81E60-0D67-47E9-AC44-C9A648D4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662C804-94EC-4C1C-9D2F-FA60518253A3}"/>
              </a:ext>
            </a:extLst>
          </p:cNvPr>
          <p:cNvCxnSpPr>
            <a:cxnSpLocks/>
          </p:cNvCxnSpPr>
          <p:nvPr/>
        </p:nvCxnSpPr>
        <p:spPr bwMode="auto">
          <a:xfrm>
            <a:off x="5673080" y="4869160"/>
            <a:ext cx="403244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3F0197B-DC23-49A0-B355-7237E8D227F5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80" y="1268760"/>
            <a:ext cx="0" cy="3600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2473735-EE95-44C6-A457-74E8382908E7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79" y="2418013"/>
            <a:ext cx="2376265" cy="24511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FE62267-C7CF-4B32-85B0-04C1F138956A}"/>
              </a:ext>
            </a:extLst>
          </p:cNvPr>
          <p:cNvSpPr txBox="1"/>
          <p:nvPr/>
        </p:nvSpPr>
        <p:spPr>
          <a:xfrm>
            <a:off x="9313209" y="4856264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4C33D6-E6CF-4A52-815D-A12C1938C563}"/>
              </a:ext>
            </a:extLst>
          </p:cNvPr>
          <p:cNvSpPr txBox="1"/>
          <p:nvPr/>
        </p:nvSpPr>
        <p:spPr>
          <a:xfrm>
            <a:off x="5025008" y="1220533"/>
            <a:ext cx="86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f(x)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427CF81-0762-4DFC-A2E5-0A4FC05C1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828814"/>
              </p:ext>
            </p:extLst>
          </p:nvPr>
        </p:nvGraphicFramePr>
        <p:xfrm>
          <a:off x="287337" y="1772816"/>
          <a:ext cx="35099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427CF81-0762-4DFC-A2E5-0A4FC05C1F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7337" y="1772816"/>
                        <a:ext cx="3509963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F1D004F-29FB-4463-A0BF-2930EC70A334}"/>
              </a:ext>
            </a:extLst>
          </p:cNvPr>
          <p:cNvCxnSpPr>
            <a:cxnSpLocks/>
          </p:cNvCxnSpPr>
          <p:nvPr/>
        </p:nvCxnSpPr>
        <p:spPr bwMode="auto">
          <a:xfrm flipV="1">
            <a:off x="6393160" y="1893434"/>
            <a:ext cx="0" cy="2969974"/>
          </a:xfrm>
          <a:prstGeom prst="straightConnector1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62D0FF88-EB83-4B66-91B8-6120FDCD8A82}"/>
              </a:ext>
            </a:extLst>
          </p:cNvPr>
          <p:cNvSpPr txBox="1"/>
          <p:nvPr/>
        </p:nvSpPr>
        <p:spPr>
          <a:xfrm>
            <a:off x="6251006" y="4863408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4E4B209-8E71-4035-979C-DD606557FCBD}"/>
              </a:ext>
            </a:extLst>
          </p:cNvPr>
          <p:cNvCxnSpPr/>
          <p:nvPr/>
        </p:nvCxnSpPr>
        <p:spPr bwMode="auto">
          <a:xfrm>
            <a:off x="6104880" y="227687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9F46BF-D377-43CB-8822-629B81485397}"/>
              </a:ext>
            </a:extLst>
          </p:cNvPr>
          <p:cNvCxnSpPr/>
          <p:nvPr/>
        </p:nvCxnSpPr>
        <p:spPr bwMode="auto">
          <a:xfrm>
            <a:off x="6128990" y="242088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062648A-DB4B-42AA-8A4C-2C5F6DD03A6E}"/>
              </a:ext>
            </a:extLst>
          </p:cNvPr>
          <p:cNvCxnSpPr/>
          <p:nvPr/>
        </p:nvCxnSpPr>
        <p:spPr bwMode="auto">
          <a:xfrm>
            <a:off x="6108700" y="285293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49EDE81-6F53-4A10-8575-C78DD28E6D07}"/>
              </a:ext>
            </a:extLst>
          </p:cNvPr>
          <p:cNvCxnSpPr/>
          <p:nvPr/>
        </p:nvCxnSpPr>
        <p:spPr bwMode="auto">
          <a:xfrm>
            <a:off x="6108700" y="270892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DC195EF-EC94-45B1-AA24-9E6913E20425}"/>
              </a:ext>
            </a:extLst>
          </p:cNvPr>
          <p:cNvCxnSpPr/>
          <p:nvPr/>
        </p:nvCxnSpPr>
        <p:spPr bwMode="auto">
          <a:xfrm>
            <a:off x="6121400" y="256490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EB81FAD-2F60-4840-9A40-95B0DF70E23F}"/>
              </a:ext>
            </a:extLst>
          </p:cNvPr>
          <p:cNvCxnSpPr/>
          <p:nvPr/>
        </p:nvCxnSpPr>
        <p:spPr bwMode="auto">
          <a:xfrm>
            <a:off x="6103590" y="299695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B50768D-A22B-4465-8536-F56DFF233C50}"/>
              </a:ext>
            </a:extLst>
          </p:cNvPr>
          <p:cNvCxnSpPr/>
          <p:nvPr/>
        </p:nvCxnSpPr>
        <p:spPr bwMode="auto">
          <a:xfrm>
            <a:off x="6127700" y="314096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8F80148-3B2F-48E2-BA09-73B5A066FD4A}"/>
              </a:ext>
            </a:extLst>
          </p:cNvPr>
          <p:cNvCxnSpPr/>
          <p:nvPr/>
        </p:nvCxnSpPr>
        <p:spPr bwMode="auto">
          <a:xfrm>
            <a:off x="6107410" y="357301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2AC66E5-9396-4EFF-9488-76D870D07056}"/>
              </a:ext>
            </a:extLst>
          </p:cNvPr>
          <p:cNvCxnSpPr/>
          <p:nvPr/>
        </p:nvCxnSpPr>
        <p:spPr bwMode="auto">
          <a:xfrm>
            <a:off x="6107410" y="342900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D7F167C-56E5-41C4-8129-E07FBB100C6B}"/>
              </a:ext>
            </a:extLst>
          </p:cNvPr>
          <p:cNvCxnSpPr/>
          <p:nvPr/>
        </p:nvCxnSpPr>
        <p:spPr bwMode="auto">
          <a:xfrm>
            <a:off x="6120110" y="328498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02B1888-744A-4303-BAFE-7A7536EB2C90}"/>
              </a:ext>
            </a:extLst>
          </p:cNvPr>
          <p:cNvCxnSpPr/>
          <p:nvPr/>
        </p:nvCxnSpPr>
        <p:spPr bwMode="auto">
          <a:xfrm>
            <a:off x="6094660" y="378904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AF837CE-3D8B-4DB7-AF38-0E8ABF15F42A}"/>
              </a:ext>
            </a:extLst>
          </p:cNvPr>
          <p:cNvCxnSpPr/>
          <p:nvPr/>
        </p:nvCxnSpPr>
        <p:spPr bwMode="auto">
          <a:xfrm>
            <a:off x="6118770" y="393305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245D08F-7920-4615-A60F-E56BDCDE3386}"/>
              </a:ext>
            </a:extLst>
          </p:cNvPr>
          <p:cNvCxnSpPr/>
          <p:nvPr/>
        </p:nvCxnSpPr>
        <p:spPr bwMode="auto">
          <a:xfrm>
            <a:off x="6098480" y="436510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1A9ACC4-DB09-48CF-BCE7-707923A84B1E}"/>
              </a:ext>
            </a:extLst>
          </p:cNvPr>
          <p:cNvCxnSpPr/>
          <p:nvPr/>
        </p:nvCxnSpPr>
        <p:spPr bwMode="auto">
          <a:xfrm>
            <a:off x="6098480" y="422108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4748C75-4450-40DD-B973-045D02821AC8}"/>
              </a:ext>
            </a:extLst>
          </p:cNvPr>
          <p:cNvCxnSpPr/>
          <p:nvPr/>
        </p:nvCxnSpPr>
        <p:spPr bwMode="auto">
          <a:xfrm>
            <a:off x="6111180" y="407707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63F3A77C-0E27-43E7-B1F4-F7CE851060C5}"/>
              </a:ext>
            </a:extLst>
          </p:cNvPr>
          <p:cNvSpPr txBox="1"/>
          <p:nvPr/>
        </p:nvSpPr>
        <p:spPr>
          <a:xfrm>
            <a:off x="5355492" y="3933056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AC2195F-8C2D-47BB-9D44-5932E3C05A69}"/>
              </a:ext>
            </a:extLst>
          </p:cNvPr>
          <p:cNvCxnSpPr>
            <a:cxnSpLocks/>
          </p:cNvCxnSpPr>
          <p:nvPr/>
        </p:nvCxnSpPr>
        <p:spPr bwMode="auto">
          <a:xfrm flipH="1">
            <a:off x="5673079" y="4133344"/>
            <a:ext cx="73908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041BFC8D-FDC1-4884-9A12-9D8797F41799}"/>
              </a:ext>
            </a:extLst>
          </p:cNvPr>
          <p:cNvSpPr txBox="1"/>
          <p:nvPr/>
        </p:nvSpPr>
        <p:spPr>
          <a:xfrm>
            <a:off x="5446004" y="4838614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85831EA-1939-4E8D-B44C-52C771601EE9}"/>
              </a:ext>
            </a:extLst>
          </p:cNvPr>
          <p:cNvCxnSpPr>
            <a:cxnSpLocks/>
          </p:cNvCxnSpPr>
          <p:nvPr/>
        </p:nvCxnSpPr>
        <p:spPr bwMode="auto">
          <a:xfrm flipV="1">
            <a:off x="7430" y="2936977"/>
            <a:ext cx="4225492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CE8AB39-FE4B-4B07-8CBE-365D6209F313}"/>
              </a:ext>
            </a:extLst>
          </p:cNvPr>
          <p:cNvSpPr txBox="1"/>
          <p:nvPr/>
        </p:nvSpPr>
        <p:spPr>
          <a:xfrm>
            <a:off x="0" y="30689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令一个新的函数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DBA2F10-519A-412D-8975-763F3C1CC7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209443"/>
              </p:ext>
            </p:extLst>
          </p:nvPr>
        </p:nvGraphicFramePr>
        <p:xfrm>
          <a:off x="2350958" y="2900010"/>
          <a:ext cx="3120876" cy="79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393480" progId="Equation.DSMT4">
                  <p:embed/>
                </p:oleObj>
              </mc:Choice>
              <mc:Fallback>
                <p:oleObj name="Equation" r:id="rId4" imgW="15364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50958" y="2900010"/>
                        <a:ext cx="3120876" cy="799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45">
            <a:extLst>
              <a:ext uri="{FF2B5EF4-FFF2-40B4-BE49-F238E27FC236}">
                <a16:creationId xmlns:a16="http://schemas.microsoft.com/office/drawing/2014/main" id="{7AAFA70B-481D-4BBA-BB72-949E850B3DBA}"/>
              </a:ext>
            </a:extLst>
          </p:cNvPr>
          <p:cNvSpPr txBox="1"/>
          <p:nvPr/>
        </p:nvSpPr>
        <p:spPr>
          <a:xfrm>
            <a:off x="1408369" y="3673617"/>
            <a:ext cx="2682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其中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(k)</a:t>
            </a:r>
            <a:r>
              <a:rPr lang="zh-CN" altLang="en-US" sz="2400" dirty="0"/>
              <a:t>是一个正数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FB5DF96-59F6-49AF-865B-B39BFBA43B0F}"/>
              </a:ext>
            </a:extLst>
          </p:cNvPr>
          <p:cNvSpPr/>
          <p:nvPr/>
        </p:nvSpPr>
        <p:spPr bwMode="auto">
          <a:xfrm>
            <a:off x="6460825" y="1536649"/>
            <a:ext cx="1095890" cy="1249617"/>
          </a:xfrm>
          <a:custGeom>
            <a:avLst/>
            <a:gdLst>
              <a:gd name="connsiteX0" fmla="*/ 0 w 972152"/>
              <a:gd name="connsiteY0" fmla="*/ 28876 h 929760"/>
              <a:gd name="connsiteX1" fmla="*/ 173255 w 972152"/>
              <a:gd name="connsiteY1" fmla="*/ 837398 h 929760"/>
              <a:gd name="connsiteX2" fmla="*/ 635267 w 972152"/>
              <a:gd name="connsiteY2" fmla="*/ 818147 h 929760"/>
              <a:gd name="connsiteX3" fmla="*/ 972152 w 972152"/>
              <a:gd name="connsiteY3" fmla="*/ 0 h 92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2152" h="929760">
                <a:moveTo>
                  <a:pt x="0" y="28876"/>
                </a:moveTo>
                <a:cubicBezTo>
                  <a:pt x="33688" y="367364"/>
                  <a:pt x="67377" y="705853"/>
                  <a:pt x="173255" y="837398"/>
                </a:cubicBezTo>
                <a:cubicBezTo>
                  <a:pt x="279133" y="968943"/>
                  <a:pt x="502118" y="957713"/>
                  <a:pt x="635267" y="818147"/>
                </a:cubicBezTo>
                <a:cubicBezTo>
                  <a:pt x="768416" y="678581"/>
                  <a:pt x="870284" y="339290"/>
                  <a:pt x="972152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EE10B612-F319-48E1-9A24-AC476EA28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905304"/>
              </p:ext>
            </p:extLst>
          </p:nvPr>
        </p:nvGraphicFramePr>
        <p:xfrm>
          <a:off x="7673740" y="1165290"/>
          <a:ext cx="134143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240" imgH="304560" progId="Equation.DSMT4">
                  <p:embed/>
                </p:oleObj>
              </mc:Choice>
              <mc:Fallback>
                <p:oleObj name="Equation" r:id="rId6" imgW="660240" imgH="3045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DBA2F10-519A-412D-8975-763F3C1CC7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73740" y="1165290"/>
                        <a:ext cx="1341438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981F9A58-FF02-47D0-92CD-28775B7A1A0E}"/>
              </a:ext>
            </a:extLst>
          </p:cNvPr>
          <p:cNvSpPr txBox="1"/>
          <p:nvPr/>
        </p:nvSpPr>
        <p:spPr>
          <a:xfrm>
            <a:off x="72265" y="4160615"/>
            <a:ext cx="4585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2400" dirty="0"/>
              <a:t>如果</a:t>
            </a:r>
            <a:r>
              <a:rPr lang="en-US" altLang="zh-CN" sz="2400" dirty="0"/>
              <a:t>x</a:t>
            </a:r>
            <a:r>
              <a:rPr lang="zh-CN" altLang="en-US" sz="2400" dirty="0"/>
              <a:t>从可行域内无线趋近于</a:t>
            </a:r>
            <a:r>
              <a:rPr lang="en-US" altLang="zh-CN" sz="2400" dirty="0"/>
              <a:t>1</a:t>
            </a:r>
            <a:r>
              <a:rPr lang="zh-CN" altLang="en-US" sz="2400" dirty="0"/>
              <a:t>，则有</a:t>
            </a: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2400" dirty="0"/>
              <a:t>如果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(k)</a:t>
            </a:r>
            <a:r>
              <a:rPr lang="zh-CN" altLang="en-US" sz="2400" dirty="0"/>
              <a:t> 趋近于</a:t>
            </a:r>
            <a:r>
              <a:rPr lang="en-US" altLang="zh-CN" sz="2400" dirty="0"/>
              <a:t>0</a:t>
            </a:r>
            <a:r>
              <a:rPr lang="zh-CN" altLang="en-US" sz="2400" dirty="0"/>
              <a:t>，则</a:t>
            </a: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A98CFB95-B88E-4A73-964C-E1CA5B6912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525087"/>
              </p:ext>
            </p:extLst>
          </p:nvPr>
        </p:nvGraphicFramePr>
        <p:xfrm>
          <a:off x="3386767" y="5896254"/>
          <a:ext cx="24257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3760" imgH="304560" progId="Equation.DSMT4">
                  <p:embed/>
                </p:oleObj>
              </mc:Choice>
              <mc:Fallback>
                <p:oleObj name="Equation" r:id="rId8" imgW="1193760" imgH="30456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EE10B612-F319-48E1-9A24-AC476EA28A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386767" y="5896254"/>
                        <a:ext cx="2425700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3AC6C4F4-40FB-4149-B624-6553CA3F57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947767"/>
              </p:ext>
            </p:extLst>
          </p:nvPr>
        </p:nvGraphicFramePr>
        <p:xfrm>
          <a:off x="497321" y="5032158"/>
          <a:ext cx="475138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840" imgH="393480" progId="Equation.DSMT4">
                  <p:embed/>
                </p:oleObj>
              </mc:Choice>
              <mc:Fallback>
                <p:oleObj name="Equation" r:id="rId10" imgW="2031840" imgH="393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DBA2F10-519A-412D-8975-763F3C1CC7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7321" y="5032158"/>
                        <a:ext cx="4751388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127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6" grpId="0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84FDF-06A7-4A00-82FC-6EC45C2C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87C9C-6080-4E3C-A957-D40EDD38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一个优化问题的例子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FD528-5C42-4105-92F1-4CE35E28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F81E60-0D67-47E9-AC44-C9A648D4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662C804-94EC-4C1C-9D2F-FA60518253A3}"/>
              </a:ext>
            </a:extLst>
          </p:cNvPr>
          <p:cNvCxnSpPr>
            <a:cxnSpLocks/>
          </p:cNvCxnSpPr>
          <p:nvPr/>
        </p:nvCxnSpPr>
        <p:spPr bwMode="auto">
          <a:xfrm>
            <a:off x="5673080" y="4869160"/>
            <a:ext cx="403244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3F0197B-DC23-49A0-B355-7237E8D227F5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80" y="1268760"/>
            <a:ext cx="0" cy="3600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2473735-EE95-44C6-A457-74E8382908E7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79" y="2418013"/>
            <a:ext cx="2376265" cy="24511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FE62267-C7CF-4B32-85B0-04C1F138956A}"/>
              </a:ext>
            </a:extLst>
          </p:cNvPr>
          <p:cNvSpPr txBox="1"/>
          <p:nvPr/>
        </p:nvSpPr>
        <p:spPr>
          <a:xfrm>
            <a:off x="9313209" y="4856264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4C33D6-E6CF-4A52-815D-A12C1938C563}"/>
              </a:ext>
            </a:extLst>
          </p:cNvPr>
          <p:cNvSpPr txBox="1"/>
          <p:nvPr/>
        </p:nvSpPr>
        <p:spPr>
          <a:xfrm>
            <a:off x="5025008" y="1220533"/>
            <a:ext cx="86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f(x)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427CF81-0762-4DFC-A2E5-0A4FC05C1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337" y="1772816"/>
          <a:ext cx="35099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427CF81-0762-4DFC-A2E5-0A4FC05C1F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7337" y="1772816"/>
                        <a:ext cx="3509963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F1D004F-29FB-4463-A0BF-2930EC70A334}"/>
              </a:ext>
            </a:extLst>
          </p:cNvPr>
          <p:cNvCxnSpPr>
            <a:cxnSpLocks/>
          </p:cNvCxnSpPr>
          <p:nvPr/>
        </p:nvCxnSpPr>
        <p:spPr bwMode="auto">
          <a:xfrm flipV="1">
            <a:off x="6393160" y="1893434"/>
            <a:ext cx="0" cy="2969974"/>
          </a:xfrm>
          <a:prstGeom prst="straightConnector1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62D0FF88-EB83-4B66-91B8-6120FDCD8A82}"/>
              </a:ext>
            </a:extLst>
          </p:cNvPr>
          <p:cNvSpPr txBox="1"/>
          <p:nvPr/>
        </p:nvSpPr>
        <p:spPr>
          <a:xfrm>
            <a:off x="6251006" y="4863408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4E4B209-8E71-4035-979C-DD606557FCBD}"/>
              </a:ext>
            </a:extLst>
          </p:cNvPr>
          <p:cNvCxnSpPr/>
          <p:nvPr/>
        </p:nvCxnSpPr>
        <p:spPr bwMode="auto">
          <a:xfrm>
            <a:off x="6104880" y="227687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9F46BF-D377-43CB-8822-629B81485397}"/>
              </a:ext>
            </a:extLst>
          </p:cNvPr>
          <p:cNvCxnSpPr/>
          <p:nvPr/>
        </p:nvCxnSpPr>
        <p:spPr bwMode="auto">
          <a:xfrm>
            <a:off x="6128990" y="242088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062648A-DB4B-42AA-8A4C-2C5F6DD03A6E}"/>
              </a:ext>
            </a:extLst>
          </p:cNvPr>
          <p:cNvCxnSpPr/>
          <p:nvPr/>
        </p:nvCxnSpPr>
        <p:spPr bwMode="auto">
          <a:xfrm>
            <a:off x="6108700" y="285293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49EDE81-6F53-4A10-8575-C78DD28E6D07}"/>
              </a:ext>
            </a:extLst>
          </p:cNvPr>
          <p:cNvCxnSpPr/>
          <p:nvPr/>
        </p:nvCxnSpPr>
        <p:spPr bwMode="auto">
          <a:xfrm>
            <a:off x="6108700" y="270892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DC195EF-EC94-45B1-AA24-9E6913E20425}"/>
              </a:ext>
            </a:extLst>
          </p:cNvPr>
          <p:cNvCxnSpPr/>
          <p:nvPr/>
        </p:nvCxnSpPr>
        <p:spPr bwMode="auto">
          <a:xfrm>
            <a:off x="6121400" y="256490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EB81FAD-2F60-4840-9A40-95B0DF70E23F}"/>
              </a:ext>
            </a:extLst>
          </p:cNvPr>
          <p:cNvCxnSpPr/>
          <p:nvPr/>
        </p:nvCxnSpPr>
        <p:spPr bwMode="auto">
          <a:xfrm>
            <a:off x="6103590" y="299695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B50768D-A22B-4465-8536-F56DFF233C50}"/>
              </a:ext>
            </a:extLst>
          </p:cNvPr>
          <p:cNvCxnSpPr/>
          <p:nvPr/>
        </p:nvCxnSpPr>
        <p:spPr bwMode="auto">
          <a:xfrm>
            <a:off x="6127700" y="314096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8F80148-3B2F-48E2-BA09-73B5A066FD4A}"/>
              </a:ext>
            </a:extLst>
          </p:cNvPr>
          <p:cNvCxnSpPr/>
          <p:nvPr/>
        </p:nvCxnSpPr>
        <p:spPr bwMode="auto">
          <a:xfrm>
            <a:off x="6107410" y="357301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2AC66E5-9396-4EFF-9488-76D870D07056}"/>
              </a:ext>
            </a:extLst>
          </p:cNvPr>
          <p:cNvCxnSpPr/>
          <p:nvPr/>
        </p:nvCxnSpPr>
        <p:spPr bwMode="auto">
          <a:xfrm>
            <a:off x="6107410" y="342900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D7F167C-56E5-41C4-8129-E07FBB100C6B}"/>
              </a:ext>
            </a:extLst>
          </p:cNvPr>
          <p:cNvCxnSpPr/>
          <p:nvPr/>
        </p:nvCxnSpPr>
        <p:spPr bwMode="auto">
          <a:xfrm>
            <a:off x="6120110" y="328498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02B1888-744A-4303-BAFE-7A7536EB2C90}"/>
              </a:ext>
            </a:extLst>
          </p:cNvPr>
          <p:cNvCxnSpPr/>
          <p:nvPr/>
        </p:nvCxnSpPr>
        <p:spPr bwMode="auto">
          <a:xfrm>
            <a:off x="6094660" y="378904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AF837CE-3D8B-4DB7-AF38-0E8ABF15F42A}"/>
              </a:ext>
            </a:extLst>
          </p:cNvPr>
          <p:cNvCxnSpPr/>
          <p:nvPr/>
        </p:nvCxnSpPr>
        <p:spPr bwMode="auto">
          <a:xfrm>
            <a:off x="6118770" y="393305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245D08F-7920-4615-A60F-E56BDCDE3386}"/>
              </a:ext>
            </a:extLst>
          </p:cNvPr>
          <p:cNvCxnSpPr/>
          <p:nvPr/>
        </p:nvCxnSpPr>
        <p:spPr bwMode="auto">
          <a:xfrm>
            <a:off x="6098480" y="436510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1A9ACC4-DB09-48CF-BCE7-707923A84B1E}"/>
              </a:ext>
            </a:extLst>
          </p:cNvPr>
          <p:cNvCxnSpPr/>
          <p:nvPr/>
        </p:nvCxnSpPr>
        <p:spPr bwMode="auto">
          <a:xfrm>
            <a:off x="6098480" y="422108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4748C75-4450-40DD-B973-045D02821AC8}"/>
              </a:ext>
            </a:extLst>
          </p:cNvPr>
          <p:cNvCxnSpPr/>
          <p:nvPr/>
        </p:nvCxnSpPr>
        <p:spPr bwMode="auto">
          <a:xfrm>
            <a:off x="6111180" y="407707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63F3A77C-0E27-43E7-B1F4-F7CE851060C5}"/>
              </a:ext>
            </a:extLst>
          </p:cNvPr>
          <p:cNvSpPr txBox="1"/>
          <p:nvPr/>
        </p:nvSpPr>
        <p:spPr>
          <a:xfrm>
            <a:off x="5355492" y="3933056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AC2195F-8C2D-47BB-9D44-5932E3C05A69}"/>
              </a:ext>
            </a:extLst>
          </p:cNvPr>
          <p:cNvCxnSpPr>
            <a:cxnSpLocks/>
          </p:cNvCxnSpPr>
          <p:nvPr/>
        </p:nvCxnSpPr>
        <p:spPr bwMode="auto">
          <a:xfrm flipH="1">
            <a:off x="5673079" y="4133344"/>
            <a:ext cx="73908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041BFC8D-FDC1-4884-9A12-9D8797F41799}"/>
              </a:ext>
            </a:extLst>
          </p:cNvPr>
          <p:cNvSpPr txBox="1"/>
          <p:nvPr/>
        </p:nvSpPr>
        <p:spPr>
          <a:xfrm>
            <a:off x="5446004" y="4838614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85831EA-1939-4E8D-B44C-52C771601EE9}"/>
              </a:ext>
            </a:extLst>
          </p:cNvPr>
          <p:cNvCxnSpPr>
            <a:cxnSpLocks/>
          </p:cNvCxnSpPr>
          <p:nvPr/>
        </p:nvCxnSpPr>
        <p:spPr bwMode="auto">
          <a:xfrm flipV="1">
            <a:off x="7430" y="2936977"/>
            <a:ext cx="4225492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CE8AB39-FE4B-4B07-8CBE-365D6209F313}"/>
              </a:ext>
            </a:extLst>
          </p:cNvPr>
          <p:cNvSpPr txBox="1"/>
          <p:nvPr/>
        </p:nvSpPr>
        <p:spPr>
          <a:xfrm>
            <a:off x="0" y="3068960"/>
            <a:ext cx="4885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可将上述约束优化问题转换为无约束优化问题：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DBA2F10-519A-412D-8975-763F3C1CC7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742061"/>
              </p:ext>
            </p:extLst>
          </p:nvPr>
        </p:nvGraphicFramePr>
        <p:xfrm>
          <a:off x="440949" y="3917628"/>
          <a:ext cx="4234465" cy="92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240" imgH="393480" progId="Equation.DSMT4">
                  <p:embed/>
                </p:oleObj>
              </mc:Choice>
              <mc:Fallback>
                <p:oleObj name="Equation" r:id="rId4" imgW="1803240" imgH="393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DBA2F10-519A-412D-8975-763F3C1CC7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0949" y="3917628"/>
                        <a:ext cx="4234465" cy="92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45">
            <a:extLst>
              <a:ext uri="{FF2B5EF4-FFF2-40B4-BE49-F238E27FC236}">
                <a16:creationId xmlns:a16="http://schemas.microsoft.com/office/drawing/2014/main" id="{7AAFA70B-481D-4BBA-BB72-949E850B3DBA}"/>
              </a:ext>
            </a:extLst>
          </p:cNvPr>
          <p:cNvSpPr txBox="1"/>
          <p:nvPr/>
        </p:nvSpPr>
        <p:spPr>
          <a:xfrm>
            <a:off x="420660" y="4759452"/>
            <a:ext cx="2682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其中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(k)</a:t>
            </a:r>
            <a:r>
              <a:rPr lang="zh-CN" altLang="en-US" sz="2400" dirty="0"/>
              <a:t>是一个正数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FB5DF96-59F6-49AF-865B-B39BFBA43B0F}"/>
              </a:ext>
            </a:extLst>
          </p:cNvPr>
          <p:cNvSpPr/>
          <p:nvPr/>
        </p:nvSpPr>
        <p:spPr bwMode="auto">
          <a:xfrm>
            <a:off x="6460825" y="1536649"/>
            <a:ext cx="1095890" cy="1249617"/>
          </a:xfrm>
          <a:custGeom>
            <a:avLst/>
            <a:gdLst>
              <a:gd name="connsiteX0" fmla="*/ 0 w 972152"/>
              <a:gd name="connsiteY0" fmla="*/ 28876 h 929760"/>
              <a:gd name="connsiteX1" fmla="*/ 173255 w 972152"/>
              <a:gd name="connsiteY1" fmla="*/ 837398 h 929760"/>
              <a:gd name="connsiteX2" fmla="*/ 635267 w 972152"/>
              <a:gd name="connsiteY2" fmla="*/ 818147 h 929760"/>
              <a:gd name="connsiteX3" fmla="*/ 972152 w 972152"/>
              <a:gd name="connsiteY3" fmla="*/ 0 h 92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2152" h="929760">
                <a:moveTo>
                  <a:pt x="0" y="28876"/>
                </a:moveTo>
                <a:cubicBezTo>
                  <a:pt x="33688" y="367364"/>
                  <a:pt x="67377" y="705853"/>
                  <a:pt x="173255" y="837398"/>
                </a:cubicBezTo>
                <a:cubicBezTo>
                  <a:pt x="279133" y="968943"/>
                  <a:pt x="502118" y="957713"/>
                  <a:pt x="635267" y="818147"/>
                </a:cubicBezTo>
                <a:cubicBezTo>
                  <a:pt x="768416" y="678581"/>
                  <a:pt x="870284" y="339290"/>
                  <a:pt x="972152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EE10B612-F319-48E1-9A24-AC476EA28A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3740" y="1165290"/>
          <a:ext cx="134143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240" imgH="304560" progId="Equation.DSMT4">
                  <p:embed/>
                </p:oleObj>
              </mc:Choice>
              <mc:Fallback>
                <p:oleObj name="Equation" r:id="rId6" imgW="660240" imgH="30456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EE10B612-F319-48E1-9A24-AC476EA28A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73740" y="1165290"/>
                        <a:ext cx="1341438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52A18B3F-7B93-4F7D-BB4E-B19549FE3AAA}"/>
              </a:ext>
            </a:extLst>
          </p:cNvPr>
          <p:cNvSpPr/>
          <p:nvPr/>
        </p:nvSpPr>
        <p:spPr bwMode="auto">
          <a:xfrm>
            <a:off x="3152798" y="3899957"/>
            <a:ext cx="1736357" cy="104121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1FA75C8-24AF-4E6C-B467-B7F7D96A65DE}"/>
              </a:ext>
            </a:extLst>
          </p:cNvPr>
          <p:cNvCxnSpPr>
            <a:cxnSpLocks/>
          </p:cNvCxnSpPr>
          <p:nvPr/>
        </p:nvCxnSpPr>
        <p:spPr bwMode="auto">
          <a:xfrm>
            <a:off x="4232922" y="4941168"/>
            <a:ext cx="0" cy="7200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1C4D61B-AFCE-4968-8095-7777E7F30082}"/>
              </a:ext>
            </a:extLst>
          </p:cNvPr>
          <p:cNvSpPr txBox="1"/>
          <p:nvPr/>
        </p:nvSpPr>
        <p:spPr>
          <a:xfrm>
            <a:off x="3654393" y="5599479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惩罚项：恒为正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2E6E20E-3C06-40A7-8669-96673F6784EB}"/>
              </a:ext>
            </a:extLst>
          </p:cNvPr>
          <p:cNvSpPr/>
          <p:nvPr/>
        </p:nvSpPr>
        <p:spPr>
          <a:xfrm>
            <a:off x="1299380" y="5543701"/>
            <a:ext cx="23684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内罚因子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(k)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zh-CN" altLang="en-US" sz="2400" dirty="0"/>
              <a:t>递减的正值序列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779E57E-A4D1-404C-ACBF-2E049CF3E035}"/>
              </a:ext>
            </a:extLst>
          </p:cNvPr>
          <p:cNvCxnSpPr/>
          <p:nvPr/>
        </p:nvCxnSpPr>
        <p:spPr bwMode="auto">
          <a:xfrm flipH="1">
            <a:off x="2792760" y="4420562"/>
            <a:ext cx="875104" cy="117891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8835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6" grpId="0"/>
      <p:bldP spid="9" grpId="0" animBg="1"/>
      <p:bldP spid="22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84FDF-06A7-4A00-82FC-6EC45C2C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87C9C-6080-4E3C-A957-D40EDD38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一个优化问题的例子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FD528-5C42-4105-92F1-4CE35E28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F81E60-0D67-47E9-AC44-C9A648D4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427CF81-0762-4DFC-A2E5-0A4FC05C1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337" y="1772816"/>
          <a:ext cx="35099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427CF81-0762-4DFC-A2E5-0A4FC05C1F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7337" y="1772816"/>
                        <a:ext cx="3509963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85831EA-1939-4E8D-B44C-52C771601EE9}"/>
              </a:ext>
            </a:extLst>
          </p:cNvPr>
          <p:cNvCxnSpPr>
            <a:cxnSpLocks/>
          </p:cNvCxnSpPr>
          <p:nvPr/>
        </p:nvCxnSpPr>
        <p:spPr bwMode="auto">
          <a:xfrm>
            <a:off x="7430" y="2936980"/>
            <a:ext cx="9840526" cy="58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DBA2F10-519A-412D-8975-763F3C1CC7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334464"/>
              </p:ext>
            </p:extLst>
          </p:nvPr>
        </p:nvGraphicFramePr>
        <p:xfrm>
          <a:off x="4904241" y="1896184"/>
          <a:ext cx="4234465" cy="92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240" imgH="393480" progId="Equation.DSMT4">
                  <p:embed/>
                </p:oleObj>
              </mc:Choice>
              <mc:Fallback>
                <p:oleObj name="Equation" r:id="rId4" imgW="1803240" imgH="393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DBA2F10-519A-412D-8975-763F3C1CC7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04241" y="1896184"/>
                        <a:ext cx="4234465" cy="92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C2E6E20E-3C06-40A7-8669-96673F6784EB}"/>
              </a:ext>
            </a:extLst>
          </p:cNvPr>
          <p:cNvSpPr/>
          <p:nvPr/>
        </p:nvSpPr>
        <p:spPr>
          <a:xfrm>
            <a:off x="58044" y="3070811"/>
            <a:ext cx="4432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令：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37C02EF-1199-480D-8270-639DF3D0E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881480"/>
              </p:ext>
            </p:extLst>
          </p:nvPr>
        </p:nvGraphicFramePr>
        <p:xfrm>
          <a:off x="943038" y="2958637"/>
          <a:ext cx="2662484" cy="808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304560" progId="Equation.DSMT4">
                  <p:embed/>
                </p:oleObj>
              </mc:Choice>
              <mc:Fallback>
                <p:oleObj name="Equation" r:id="rId6" imgW="10029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3038" y="2958637"/>
                        <a:ext cx="2662484" cy="808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05DEBA64-EAD1-453C-A611-947ED837FC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330395"/>
              </p:ext>
            </p:extLst>
          </p:nvPr>
        </p:nvGraphicFramePr>
        <p:xfrm>
          <a:off x="659960" y="3631936"/>
          <a:ext cx="5122863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30320" imgH="507960" progId="Equation.DSMT4">
                  <p:embed/>
                </p:oleObj>
              </mc:Choice>
              <mc:Fallback>
                <p:oleObj name="Equation" r:id="rId8" imgW="1930320" imgH="5079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C37C02EF-1199-480D-8270-639DF3D0E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9960" y="3631936"/>
                        <a:ext cx="5122863" cy="1349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83653291-CE8C-4866-9B8E-3CD372B0B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014450"/>
              </p:ext>
            </p:extLst>
          </p:nvPr>
        </p:nvGraphicFramePr>
        <p:xfrm>
          <a:off x="659960" y="5166514"/>
          <a:ext cx="25288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200" imgH="279360" progId="Equation.DSMT4">
                  <p:embed/>
                </p:oleObj>
              </mc:Choice>
              <mc:Fallback>
                <p:oleObj name="Equation" r:id="rId10" imgW="952200" imgH="27936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05DEBA64-EAD1-453C-A611-947ED837FC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9960" y="5166514"/>
                        <a:ext cx="2528888" cy="742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0F5E0BAD-7505-48B5-8A59-CE50F69418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97956"/>
              </p:ext>
            </p:extLst>
          </p:nvPr>
        </p:nvGraphicFramePr>
        <p:xfrm>
          <a:off x="4052887" y="5080771"/>
          <a:ext cx="205581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253800" progId="Equation.DSMT4">
                  <p:embed/>
                </p:oleObj>
              </mc:Choice>
              <mc:Fallback>
                <p:oleObj name="Equation" r:id="rId12" imgW="774360" imgH="25380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83653291-CE8C-4866-9B8E-3CD372B0B1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52887" y="5080771"/>
                        <a:ext cx="2055813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2BCD39BF-45FA-4505-A663-4C62FB8DBF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676912"/>
              </p:ext>
            </p:extLst>
          </p:nvPr>
        </p:nvGraphicFramePr>
        <p:xfrm>
          <a:off x="7125836" y="5080770"/>
          <a:ext cx="205581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53800" progId="Equation.DSMT4">
                  <p:embed/>
                </p:oleObj>
              </mc:Choice>
              <mc:Fallback>
                <p:oleObj name="Equation" r:id="rId14" imgW="774360" imgH="25380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0F5E0BAD-7505-48B5-8A59-CE50F69418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125836" y="5080770"/>
                        <a:ext cx="2055813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箭头: 右 20">
            <a:extLst>
              <a:ext uri="{FF2B5EF4-FFF2-40B4-BE49-F238E27FC236}">
                <a16:creationId xmlns:a16="http://schemas.microsoft.com/office/drawing/2014/main" id="{B9A22655-961D-4429-8E62-33D65E788653}"/>
              </a:ext>
            </a:extLst>
          </p:cNvPr>
          <p:cNvSpPr/>
          <p:nvPr/>
        </p:nvSpPr>
        <p:spPr bwMode="auto">
          <a:xfrm>
            <a:off x="3221391" y="5301208"/>
            <a:ext cx="761076" cy="45583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95E87EFC-449F-47DC-9D30-3F133B7F21E9}"/>
              </a:ext>
            </a:extLst>
          </p:cNvPr>
          <p:cNvSpPr/>
          <p:nvPr/>
        </p:nvSpPr>
        <p:spPr bwMode="auto">
          <a:xfrm>
            <a:off x="6240254" y="5301207"/>
            <a:ext cx="761076" cy="45583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87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1" grpId="0" animBg="1"/>
      <p:bldP spid="5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84FDF-06A7-4A00-82FC-6EC45C2C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87C9C-6080-4E3C-A957-D40EDD38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一个优化问题的例子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FD528-5C42-4105-92F1-4CE35E28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F81E60-0D67-47E9-AC44-C9A648D4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427CF81-0762-4DFC-A2E5-0A4FC05C1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337" y="1772816"/>
          <a:ext cx="35099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427CF81-0762-4DFC-A2E5-0A4FC05C1F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7337" y="1772816"/>
                        <a:ext cx="3509963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85831EA-1939-4E8D-B44C-52C771601EE9}"/>
              </a:ext>
            </a:extLst>
          </p:cNvPr>
          <p:cNvCxnSpPr>
            <a:cxnSpLocks/>
          </p:cNvCxnSpPr>
          <p:nvPr/>
        </p:nvCxnSpPr>
        <p:spPr bwMode="auto">
          <a:xfrm>
            <a:off x="7430" y="2936980"/>
            <a:ext cx="9840526" cy="58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DBA2F10-519A-412D-8975-763F3C1CC7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4241" y="1896184"/>
          <a:ext cx="4234465" cy="92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240" imgH="393480" progId="Equation.DSMT4">
                  <p:embed/>
                </p:oleObj>
              </mc:Choice>
              <mc:Fallback>
                <p:oleObj name="Equation" r:id="rId4" imgW="1803240" imgH="393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DBA2F10-519A-412D-8975-763F3C1CC7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04241" y="1896184"/>
                        <a:ext cx="4234465" cy="92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2BCD39BF-45FA-4505-A663-4C62FB8DBF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118456"/>
              </p:ext>
            </p:extLst>
          </p:nvPr>
        </p:nvGraphicFramePr>
        <p:xfrm>
          <a:off x="576263" y="2963863"/>
          <a:ext cx="22240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080" imgH="253800" progId="Equation.DSMT4">
                  <p:embed/>
                </p:oleObj>
              </mc:Choice>
              <mc:Fallback>
                <p:oleObj name="Equation" r:id="rId6" imgW="838080" imgH="25380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2BCD39BF-45FA-4505-A663-4C62FB8DBF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6263" y="2963863"/>
                        <a:ext cx="2224087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50AF0DF-0F9C-4196-81AB-5C9AF08B5B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576613"/>
              </p:ext>
            </p:extLst>
          </p:nvPr>
        </p:nvGraphicFramePr>
        <p:xfrm>
          <a:off x="693738" y="3462338"/>
          <a:ext cx="873125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88960" imgH="558720" progId="Equation.DSMT4">
                  <p:embed/>
                </p:oleObj>
              </mc:Choice>
              <mc:Fallback>
                <p:oleObj name="Equation" r:id="rId8" imgW="3288960" imgH="558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C37C02EF-1199-480D-8270-639DF3D0E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3738" y="3462338"/>
                        <a:ext cx="8731250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BF2F7DE-0185-46F8-875A-F404D75C59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403575"/>
              </p:ext>
            </p:extLst>
          </p:nvPr>
        </p:nvGraphicFramePr>
        <p:xfrm>
          <a:off x="709613" y="4303713"/>
          <a:ext cx="3843337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47560" imgH="330120" progId="Equation.DSMT4">
                  <p:embed/>
                </p:oleObj>
              </mc:Choice>
              <mc:Fallback>
                <p:oleObj name="Equation" r:id="rId10" imgW="1447560" imgH="3301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D50AF0DF-0F9C-4196-81AB-5C9AF08B5B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9613" y="4303713"/>
                        <a:ext cx="3843337" cy="87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BA07D388-7454-4290-8453-95983F401524}"/>
              </a:ext>
            </a:extLst>
          </p:cNvPr>
          <p:cNvSpPr/>
          <p:nvPr/>
        </p:nvSpPr>
        <p:spPr>
          <a:xfrm>
            <a:off x="52669" y="5199583"/>
            <a:ext cx="4432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令：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EC112CA-9437-44CB-9EFF-2016449E59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093520"/>
              </p:ext>
            </p:extLst>
          </p:nvPr>
        </p:nvGraphicFramePr>
        <p:xfrm>
          <a:off x="776536" y="5104420"/>
          <a:ext cx="1679183" cy="68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33160" imgH="215640" progId="Equation.DSMT4">
                  <p:embed/>
                </p:oleObj>
              </mc:Choice>
              <mc:Fallback>
                <p:oleObj name="Equation" r:id="rId12" imgW="533160" imgH="2156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4BF2F7DE-0185-46F8-875A-F404D75C59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76536" y="5104420"/>
                        <a:ext cx="1679183" cy="68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8A7DBD5F-50E3-4672-8385-1CABC3CFB8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459998"/>
              </p:ext>
            </p:extLst>
          </p:nvPr>
        </p:nvGraphicFramePr>
        <p:xfrm>
          <a:off x="3768849" y="5146330"/>
          <a:ext cx="140017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4240" imgH="203040" progId="Equation.DSMT4">
                  <p:embed/>
                </p:oleObj>
              </mc:Choice>
              <mc:Fallback>
                <p:oleObj name="Equation" r:id="rId14" imgW="444240" imgH="20304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8EC112CA-9437-44CB-9EFF-2016449E59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68849" y="5146330"/>
                        <a:ext cx="1400175" cy="639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A4D70286-209D-4EDC-81B1-00DC2C2A9D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914625"/>
              </p:ext>
            </p:extLst>
          </p:nvPr>
        </p:nvGraphicFramePr>
        <p:xfrm>
          <a:off x="5385048" y="5104420"/>
          <a:ext cx="44005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0" imgH="279360" progId="Equation.DSMT4">
                  <p:embed/>
                </p:oleObj>
              </mc:Choice>
              <mc:Fallback>
                <p:oleObj name="Equation" r:id="rId16" imgW="1396800" imgH="27936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8A7DBD5F-50E3-4672-8385-1CABC3CFB8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385048" y="5104420"/>
                        <a:ext cx="4400550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箭头: 右 28">
            <a:extLst>
              <a:ext uri="{FF2B5EF4-FFF2-40B4-BE49-F238E27FC236}">
                <a16:creationId xmlns:a16="http://schemas.microsoft.com/office/drawing/2014/main" id="{D42283D8-D7B3-4F19-AA64-6F598D14B154}"/>
              </a:ext>
            </a:extLst>
          </p:cNvPr>
          <p:cNvSpPr/>
          <p:nvPr/>
        </p:nvSpPr>
        <p:spPr bwMode="auto">
          <a:xfrm>
            <a:off x="2819881" y="5267728"/>
            <a:ext cx="761076" cy="45583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481E88-F9E9-40E1-AE1D-56EAFA89EC22}"/>
              </a:ext>
            </a:extLst>
          </p:cNvPr>
          <p:cNvSpPr txBox="1"/>
          <p:nvPr/>
        </p:nvSpPr>
        <p:spPr>
          <a:xfrm>
            <a:off x="1052625" y="599937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最优点为：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ED236113-D750-4B2B-A49A-2776F7CEAE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193926"/>
              </p:ext>
            </p:extLst>
          </p:nvPr>
        </p:nvGraphicFramePr>
        <p:xfrm>
          <a:off x="2721740" y="5870136"/>
          <a:ext cx="103981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0120" imgH="203040" progId="Equation.DSMT4">
                  <p:embed/>
                </p:oleObj>
              </mc:Choice>
              <mc:Fallback>
                <p:oleObj name="Equation" r:id="rId18" imgW="330120" imgH="20304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8A7DBD5F-50E3-4672-8385-1CABC3CFB8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721740" y="5870136"/>
                        <a:ext cx="1039813" cy="639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2CE30E11-1D45-4490-914D-AB7A57BD6C7B}"/>
              </a:ext>
            </a:extLst>
          </p:cNvPr>
          <p:cNvSpPr txBox="1"/>
          <p:nvPr/>
        </p:nvSpPr>
        <p:spPr>
          <a:xfrm>
            <a:off x="4042466" y="600711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最优值为：</a:t>
            </a: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B647EE8A-1A82-4FAE-B005-8D9A03895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151091"/>
              </p:ext>
            </p:extLst>
          </p:nvPr>
        </p:nvGraphicFramePr>
        <p:xfrm>
          <a:off x="5549825" y="5865069"/>
          <a:ext cx="16795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33160" imgH="253800" progId="Equation.DSMT4">
                  <p:embed/>
                </p:oleObj>
              </mc:Choice>
              <mc:Fallback>
                <p:oleObj name="Equation" r:id="rId20" imgW="533160" imgH="2538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ED236113-D750-4B2B-A49A-2776F7CEAE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549825" y="5865069"/>
                        <a:ext cx="1679575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376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 animBg="1"/>
      <p:bldP spid="7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1C48-4158-4F34-8529-69D82839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081544-7B3C-476C-9AC2-9B2A5F63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  <a:p>
            <a:pPr lvl="1"/>
            <a:r>
              <a:rPr lang="zh-CN" altLang="en-US" dirty="0"/>
              <a:t>对于给定的约束优化问题：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5B0E0-90BF-4514-B7BD-FF56EEC1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F85E34-ACFD-4E33-BBB6-E93F73FD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A095588-2156-4ECF-99AC-A0D0F6BFF1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287982"/>
              </p:ext>
            </p:extLst>
          </p:nvPr>
        </p:nvGraphicFramePr>
        <p:xfrm>
          <a:off x="1784648" y="2346264"/>
          <a:ext cx="6821487" cy="148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507960" progId="Equation.DSMT4">
                  <p:embed/>
                </p:oleObj>
              </mc:Choice>
              <mc:Fallback>
                <p:oleObj name="Equation" r:id="rId2" imgW="2336760" imgH="5079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30C9A1F-4A98-4C31-B903-D83F04823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4648" y="2346264"/>
                        <a:ext cx="6821487" cy="1484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0C6B485-4368-481A-BFE7-9E4A9C20A3B3}"/>
              </a:ext>
            </a:extLst>
          </p:cNvPr>
          <p:cNvSpPr txBox="1"/>
          <p:nvPr/>
        </p:nvSpPr>
        <p:spPr>
          <a:xfrm>
            <a:off x="128464" y="391181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构造内罚函数：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0FF0E7-41B7-4590-AF45-37216FD12C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380697"/>
              </p:ext>
            </p:extLst>
          </p:nvPr>
        </p:nvGraphicFramePr>
        <p:xfrm>
          <a:off x="1657349" y="4142645"/>
          <a:ext cx="6303963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457200" progId="Equation.DSMT4">
                  <p:embed/>
                </p:oleObj>
              </mc:Choice>
              <mc:Fallback>
                <p:oleObj name="Equation" r:id="rId4" imgW="2158920" imgH="4572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A095588-2156-4ECF-99AC-A0D0F6BFF1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57349" y="4142645"/>
                        <a:ext cx="6303963" cy="1336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3B4CCB5-F927-4246-B33C-CD46463B0CCE}"/>
              </a:ext>
            </a:extLst>
          </p:cNvPr>
          <p:cNvSpPr txBox="1"/>
          <p:nvPr/>
        </p:nvSpPr>
        <p:spPr>
          <a:xfrm>
            <a:off x="129622" y="515576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原问题变成求解：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9FC53B-FC5C-463A-9FAD-246051AD5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155986"/>
              </p:ext>
            </p:extLst>
          </p:nvPr>
        </p:nvGraphicFramePr>
        <p:xfrm>
          <a:off x="3436936" y="5545153"/>
          <a:ext cx="27447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600" imgH="317160" progId="Equation.DSMT4">
                  <p:embed/>
                </p:oleObj>
              </mc:Choice>
              <mc:Fallback>
                <p:oleObj name="Equation" r:id="rId6" imgW="939600" imgH="3171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36936" y="5545153"/>
                        <a:ext cx="2744787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070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1C48-4158-4F34-8529-69D82839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081544-7B3C-476C-9AC2-9B2A5F63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5B0E0-90BF-4514-B7BD-FF56EEC1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F85E34-ACFD-4E33-BBB6-E93F73FD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C6B485-4368-481A-BFE7-9E4A9C20A3B3}"/>
              </a:ext>
            </a:extLst>
          </p:cNvPr>
          <p:cNvSpPr txBox="1"/>
          <p:nvPr/>
        </p:nvSpPr>
        <p:spPr>
          <a:xfrm>
            <a:off x="128464" y="319816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惩罚项为：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0FF0E7-41B7-4590-AF45-37216FD12C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566561"/>
              </p:ext>
            </p:extLst>
          </p:nvPr>
        </p:nvGraphicFramePr>
        <p:xfrm>
          <a:off x="1657347" y="1726040"/>
          <a:ext cx="6303963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8920" imgH="457200" progId="Equation.DSMT4">
                  <p:embed/>
                </p:oleObj>
              </mc:Choice>
              <mc:Fallback>
                <p:oleObj name="Equation" r:id="rId2" imgW="2158920" imgH="457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57347" y="1726040"/>
                        <a:ext cx="6303963" cy="1336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3B4CCB5-F927-4246-B33C-CD46463B0CCE}"/>
              </a:ext>
            </a:extLst>
          </p:cNvPr>
          <p:cNvSpPr txBox="1"/>
          <p:nvPr/>
        </p:nvSpPr>
        <p:spPr>
          <a:xfrm>
            <a:off x="128464" y="4514442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内罚因子为满足：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9FC53B-FC5C-463A-9FAD-246051AD5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650397"/>
              </p:ext>
            </p:extLst>
          </p:nvPr>
        </p:nvGraphicFramePr>
        <p:xfrm>
          <a:off x="2917822" y="4357279"/>
          <a:ext cx="5043488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215640" progId="Equation.DSMT4">
                  <p:embed/>
                </p:oleObj>
              </mc:Choice>
              <mc:Fallback>
                <p:oleObj name="Equation" r:id="rId4" imgW="1726920" imgH="2156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9FC53B-FC5C-463A-9FAD-246051AD5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7822" y="4357279"/>
                        <a:ext cx="5043488" cy="630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2C5250-C4B1-43F7-9614-EFC97AD83B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005503"/>
              </p:ext>
            </p:extLst>
          </p:nvPr>
        </p:nvGraphicFramePr>
        <p:xfrm>
          <a:off x="2620166" y="2747662"/>
          <a:ext cx="2819400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65160" imgH="457200" progId="Equation.DSMT4">
                  <p:embed/>
                </p:oleObj>
              </mc:Choice>
              <mc:Fallback>
                <p:oleObj name="Equation" r:id="rId6" imgW="965160" imgH="457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9FC53B-FC5C-463A-9FAD-246051AD5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20166" y="2747662"/>
                        <a:ext cx="2819400" cy="1335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0F95F7D-BD3E-4612-BE8F-F5EFB80B19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350122"/>
              </p:ext>
            </p:extLst>
          </p:nvPr>
        </p:nvGraphicFramePr>
        <p:xfrm>
          <a:off x="3027077" y="5157356"/>
          <a:ext cx="18907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640" imgH="304560" progId="Equation.DSMT4">
                  <p:embed/>
                </p:oleObj>
              </mc:Choice>
              <mc:Fallback>
                <p:oleObj name="Equation" r:id="rId8" imgW="647640" imgH="304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9FC53B-FC5C-463A-9FAD-246051AD5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27077" y="5157356"/>
                        <a:ext cx="1890713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287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93E64-3DA5-4F81-867B-737E44F5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04776B-E12E-09E9-ED1B-83E3462A1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用内罚函数法求解下列优化问题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616EEF-E8E9-A7EE-9805-E0EAC226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258F3A-64D9-83CB-C53E-87C45FB5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64717D8-C1C4-EB65-65F2-C339EC220F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13286"/>
              </p:ext>
            </p:extLst>
          </p:nvPr>
        </p:nvGraphicFramePr>
        <p:xfrm>
          <a:off x="1424608" y="1952836"/>
          <a:ext cx="6247406" cy="295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888840" progId="Equation.DSMT4">
                  <p:embed/>
                </p:oleObj>
              </mc:Choice>
              <mc:Fallback>
                <p:oleObj name="Equation" r:id="rId2" imgW="1879560" imgH="8888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427CF81-0762-4DFC-A2E5-0A4FC05C1F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24608" y="1952836"/>
                        <a:ext cx="6247406" cy="295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5689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C137E-BEA9-F301-FAD3-F2C13564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例：内罚函数法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28453-2EA9-038F-9CA1-760831DF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501301-4C38-0CDA-FDD6-73D33584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C0B502D-183F-9717-6B3D-924DDCA96F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599137"/>
              </p:ext>
            </p:extLst>
          </p:nvPr>
        </p:nvGraphicFramePr>
        <p:xfrm>
          <a:off x="5097016" y="53852"/>
          <a:ext cx="4519214" cy="213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888840" progId="Equation.DSMT4">
                  <p:embed/>
                </p:oleObj>
              </mc:Choice>
              <mc:Fallback>
                <p:oleObj name="Equation" r:id="rId2" imgW="1879560" imgH="8888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64717D8-C1C4-EB65-65F2-C339EC220F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7016" y="53852"/>
                        <a:ext cx="4519214" cy="213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B7F7F51-B036-ACC8-D537-15E1A2F200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291980"/>
              </p:ext>
            </p:extLst>
          </p:nvPr>
        </p:nvGraphicFramePr>
        <p:xfrm>
          <a:off x="253143" y="2092325"/>
          <a:ext cx="6303963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457200" progId="Equation.DSMT4">
                  <p:embed/>
                </p:oleObj>
              </mc:Choice>
              <mc:Fallback>
                <p:oleObj name="Equation" r:id="rId4" imgW="2158920" imgH="457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3143" y="2092325"/>
                        <a:ext cx="6303963" cy="1336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1349EFC-6FE4-0F24-32F3-383772DC1A2A}"/>
              </a:ext>
            </a:extLst>
          </p:cNvPr>
          <p:cNvSpPr txBox="1"/>
          <p:nvPr/>
        </p:nvSpPr>
        <p:spPr>
          <a:xfrm>
            <a:off x="199956" y="1190837"/>
            <a:ext cx="237757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2400" dirty="0"/>
              <a:t>构造内罚函数</a:t>
            </a: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endParaRPr lang="en-US" altLang="zh-CN" sz="2400" dirty="0"/>
          </a:p>
          <a:p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D90D10D-2AF5-4ECE-2C0D-A737E136D1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194063"/>
              </p:ext>
            </p:extLst>
          </p:nvPr>
        </p:nvGraphicFramePr>
        <p:xfrm>
          <a:off x="253143" y="3755279"/>
          <a:ext cx="7453313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52400" imgH="482400" progId="Equation.DSMT4">
                  <p:embed/>
                </p:oleObj>
              </mc:Choice>
              <mc:Fallback>
                <p:oleObj name="Equation" r:id="rId6" imgW="255240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B7F7F51-B036-ACC8-D537-15E1A2F20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3143" y="3755279"/>
                        <a:ext cx="7453313" cy="140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396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C137E-BEA9-F301-FAD3-F2C13564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例：内罚函数法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28453-2EA9-038F-9CA1-760831DF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501301-4C38-0CDA-FDD6-73D33584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C0B502D-183F-9717-6B3D-924DDCA96F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7016" y="53852"/>
          <a:ext cx="4519214" cy="213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888840" progId="Equation.DSMT4">
                  <p:embed/>
                </p:oleObj>
              </mc:Choice>
              <mc:Fallback>
                <p:oleObj name="Equation" r:id="rId2" imgW="1879560" imgH="8888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C0B502D-183F-9717-6B3D-924DDCA96F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7016" y="53852"/>
                        <a:ext cx="4519214" cy="213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1349EFC-6FE4-0F24-32F3-383772DC1A2A}"/>
              </a:ext>
            </a:extLst>
          </p:cNvPr>
          <p:cNvSpPr txBox="1"/>
          <p:nvPr/>
        </p:nvSpPr>
        <p:spPr>
          <a:xfrm>
            <a:off x="199956" y="1190837"/>
            <a:ext cx="34163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sz="2400" dirty="0"/>
              <a:t>求解无约束优化问题</a:t>
            </a:r>
            <a:endParaRPr lang="en-US" altLang="zh-CN" sz="2400" dirty="0"/>
          </a:p>
          <a:p>
            <a:pPr marL="342900" indent="-342900">
              <a:buFont typeface="+mj-ea"/>
              <a:buAutoNum type="circleNumDbPlain" startAt="2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 startAt="2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 startAt="2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 startAt="2"/>
            </a:pPr>
            <a:endParaRPr lang="en-US" altLang="zh-CN" sz="2400" dirty="0"/>
          </a:p>
          <a:p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22E28DC-C020-5431-3F86-87645C6BA2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204172"/>
              </p:ext>
            </p:extLst>
          </p:nvPr>
        </p:nvGraphicFramePr>
        <p:xfrm>
          <a:off x="560512" y="2189490"/>
          <a:ext cx="7453313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400" imgH="482400" progId="Equation.DSMT4">
                  <p:embed/>
                </p:oleObj>
              </mc:Choice>
              <mc:Fallback>
                <p:oleObj name="Equation" r:id="rId4" imgW="255240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D90D10D-2AF5-4ECE-2C0D-A737E136D1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512" y="2189490"/>
                        <a:ext cx="7453313" cy="140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DADB55B-FF15-DF81-0548-9939A5B7F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36967"/>
              </p:ext>
            </p:extLst>
          </p:nvPr>
        </p:nvGraphicFramePr>
        <p:xfrm>
          <a:off x="631776" y="3429000"/>
          <a:ext cx="5969000" cy="274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939600" progId="Equation.DSMT4">
                  <p:embed/>
                </p:oleObj>
              </mc:Choice>
              <mc:Fallback>
                <p:oleObj name="Equation" r:id="rId6" imgW="204444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22E28DC-C020-5431-3F86-87645C6BA2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1776" y="3429000"/>
                        <a:ext cx="5969000" cy="2744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688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C137E-BEA9-F301-FAD3-F2C13564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例：内罚函数法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28453-2EA9-038F-9CA1-760831DF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501301-4C38-0CDA-FDD6-73D33584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C0B502D-183F-9717-6B3D-924DDCA96F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7016" y="53852"/>
          <a:ext cx="4519214" cy="213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888840" progId="Equation.DSMT4">
                  <p:embed/>
                </p:oleObj>
              </mc:Choice>
              <mc:Fallback>
                <p:oleObj name="Equation" r:id="rId2" imgW="1879560" imgH="8888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C0B502D-183F-9717-6B3D-924DDCA96F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7016" y="53852"/>
                        <a:ext cx="4519214" cy="213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1349EFC-6FE4-0F24-32F3-383772DC1A2A}"/>
              </a:ext>
            </a:extLst>
          </p:cNvPr>
          <p:cNvSpPr txBox="1"/>
          <p:nvPr/>
        </p:nvSpPr>
        <p:spPr>
          <a:xfrm>
            <a:off x="199956" y="1190837"/>
            <a:ext cx="34163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sz="2400" dirty="0"/>
              <a:t>求解无约束优化问题</a:t>
            </a:r>
            <a:endParaRPr lang="en-US" altLang="zh-CN" sz="2400" dirty="0"/>
          </a:p>
          <a:p>
            <a:pPr marL="342900" indent="-342900">
              <a:buFont typeface="+mj-ea"/>
              <a:buAutoNum type="circleNumDbPlain" startAt="2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 startAt="2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 startAt="2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 startAt="2"/>
            </a:pPr>
            <a:endParaRPr lang="en-US" altLang="zh-CN" sz="2400" dirty="0"/>
          </a:p>
          <a:p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DADB55B-FF15-DF81-0548-9939A5B7F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131636"/>
              </p:ext>
            </p:extLst>
          </p:nvPr>
        </p:nvGraphicFramePr>
        <p:xfrm>
          <a:off x="631776" y="1772816"/>
          <a:ext cx="5969000" cy="274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939600" progId="Equation.DSMT4">
                  <p:embed/>
                </p:oleObj>
              </mc:Choice>
              <mc:Fallback>
                <p:oleObj name="Equation" r:id="rId4" imgW="2044440" imgH="939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DADB55B-FF15-DF81-0548-9939A5B7F0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1776" y="1772816"/>
                        <a:ext cx="5969000" cy="2744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175ED96-67C2-DD44-6C31-897E489F0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945273"/>
              </p:ext>
            </p:extLst>
          </p:nvPr>
        </p:nvGraphicFramePr>
        <p:xfrm>
          <a:off x="6036889" y="3809695"/>
          <a:ext cx="3559175" cy="267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960" imgH="914400" progId="Equation.DSMT4">
                  <p:embed/>
                </p:oleObj>
              </mc:Choice>
              <mc:Fallback>
                <p:oleObj name="Equation" r:id="rId6" imgW="1218960" imgH="914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DADB55B-FF15-DF81-0548-9939A5B7F0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36889" y="3809695"/>
                        <a:ext cx="3559175" cy="2670175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圆角右 9">
            <a:extLst>
              <a:ext uri="{FF2B5EF4-FFF2-40B4-BE49-F238E27FC236}">
                <a16:creationId xmlns:a16="http://schemas.microsoft.com/office/drawing/2014/main" id="{AF7C38DB-E255-9BDE-7DB6-77E03AC9988E}"/>
              </a:ext>
            </a:extLst>
          </p:cNvPr>
          <p:cNvSpPr/>
          <p:nvPr/>
        </p:nvSpPr>
        <p:spPr bwMode="auto">
          <a:xfrm rot="5400000">
            <a:off x="7110971" y="2949367"/>
            <a:ext cx="702064" cy="858815"/>
          </a:xfrm>
          <a:prstGeom prst="bentArrow">
            <a:avLst>
              <a:gd name="adj1" fmla="val 21673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750ED38-0F44-5F9B-BEEA-01CA10CDE8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331507"/>
              </p:ext>
            </p:extLst>
          </p:nvPr>
        </p:nvGraphicFramePr>
        <p:xfrm>
          <a:off x="2000672" y="4725144"/>
          <a:ext cx="2001837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482400" progId="Equation.DSMT4">
                  <p:embed/>
                </p:oleObj>
              </mc:Choice>
              <mc:Fallback>
                <p:oleObj name="Equation" r:id="rId8" imgW="68580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175ED96-67C2-DD44-6C31-897E489F06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00672" y="4725144"/>
                        <a:ext cx="2001837" cy="140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箭头: 右 12">
            <a:extLst>
              <a:ext uri="{FF2B5EF4-FFF2-40B4-BE49-F238E27FC236}">
                <a16:creationId xmlns:a16="http://schemas.microsoft.com/office/drawing/2014/main" id="{2DA6F2F4-95B0-B1B8-4E34-E0B80CB7B9BA}"/>
              </a:ext>
            </a:extLst>
          </p:cNvPr>
          <p:cNvSpPr/>
          <p:nvPr/>
        </p:nvSpPr>
        <p:spPr bwMode="auto">
          <a:xfrm rot="10800000">
            <a:off x="4736975" y="4987933"/>
            <a:ext cx="936104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67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C137E-BEA9-F301-FAD3-F2C13564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例：内罚函数法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28453-2EA9-038F-9CA1-760831DF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501301-4C38-0CDA-FDD6-73D33584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C0B502D-183F-9717-6B3D-924DDCA96F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56891"/>
              </p:ext>
            </p:extLst>
          </p:nvPr>
        </p:nvGraphicFramePr>
        <p:xfrm>
          <a:off x="5097016" y="53852"/>
          <a:ext cx="4519214" cy="213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888840" progId="Equation.DSMT4">
                  <p:embed/>
                </p:oleObj>
              </mc:Choice>
              <mc:Fallback>
                <p:oleObj name="Equation" r:id="rId2" imgW="1879560" imgH="8888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C0B502D-183F-9717-6B3D-924DDCA96F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7016" y="53852"/>
                        <a:ext cx="4519214" cy="213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1349EFC-6FE4-0F24-32F3-383772DC1A2A}"/>
              </a:ext>
            </a:extLst>
          </p:cNvPr>
          <p:cNvSpPr txBox="1"/>
          <p:nvPr/>
        </p:nvSpPr>
        <p:spPr>
          <a:xfrm>
            <a:off x="199956" y="1190837"/>
            <a:ext cx="9541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zh-CN" altLang="en-US" sz="2400" dirty="0"/>
              <a:t>令</a:t>
            </a:r>
            <a:endParaRPr lang="en-US" altLang="zh-CN" sz="2400" dirty="0"/>
          </a:p>
          <a:p>
            <a:pPr marL="342900" indent="-342900">
              <a:buFont typeface="+mj-ea"/>
              <a:buAutoNum type="circleNumDbPlain" startAt="3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 startAt="3"/>
            </a:pPr>
            <a:endParaRPr lang="en-US" altLang="zh-CN" sz="2400" dirty="0"/>
          </a:p>
          <a:p>
            <a:pPr marL="342900" indent="-342900">
              <a:buFont typeface="+mj-ea"/>
              <a:buAutoNum type="circleNumDbPlain" startAt="3"/>
            </a:pPr>
            <a:endParaRPr lang="en-US" altLang="zh-CN" sz="2400" dirty="0"/>
          </a:p>
          <a:p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750ED38-0F44-5F9B-BEEA-01CA10CDE8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935718"/>
              </p:ext>
            </p:extLst>
          </p:nvPr>
        </p:nvGraphicFramePr>
        <p:xfrm>
          <a:off x="907197" y="1797436"/>
          <a:ext cx="2001837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482400" progId="Equation.DSMT4">
                  <p:embed/>
                </p:oleObj>
              </mc:Choice>
              <mc:Fallback>
                <p:oleObj name="Equation" r:id="rId4" imgW="685800" imgH="482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750ED38-0F44-5F9B-BEEA-01CA10CDE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7197" y="1797436"/>
                        <a:ext cx="2001837" cy="140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1089007-28C5-F8F1-E745-8EB2B1F925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213011"/>
              </p:ext>
            </p:extLst>
          </p:nvPr>
        </p:nvGraphicFramePr>
        <p:xfrm>
          <a:off x="1154063" y="1177781"/>
          <a:ext cx="1119074" cy="489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80" imgH="177480" progId="Equation.DSMT4">
                  <p:embed/>
                </p:oleObj>
              </mc:Choice>
              <mc:Fallback>
                <p:oleObj name="Equation" r:id="rId6" imgW="4060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54063" y="1177781"/>
                        <a:ext cx="1119074" cy="489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5C1F968-9EF6-5DC3-0892-7334B7D1C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967063"/>
              </p:ext>
            </p:extLst>
          </p:nvPr>
        </p:nvGraphicFramePr>
        <p:xfrm>
          <a:off x="3468688" y="3659188"/>
          <a:ext cx="1371600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00" imgH="457200" progId="Equation.DSMT4">
                  <p:embed/>
                </p:oleObj>
              </mc:Choice>
              <mc:Fallback>
                <p:oleObj name="Equation" r:id="rId8" imgW="469800" imgH="457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750ED38-0F44-5F9B-BEEA-01CA10CDE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68688" y="3659188"/>
                        <a:ext cx="1371600" cy="1335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箭头: 圆角右 14">
            <a:extLst>
              <a:ext uri="{FF2B5EF4-FFF2-40B4-BE49-F238E27FC236}">
                <a16:creationId xmlns:a16="http://schemas.microsoft.com/office/drawing/2014/main" id="{35980751-55B4-FD87-E65F-883C2220732E}"/>
              </a:ext>
            </a:extLst>
          </p:cNvPr>
          <p:cNvSpPr/>
          <p:nvPr/>
        </p:nvSpPr>
        <p:spPr bwMode="auto">
          <a:xfrm rot="5400000">
            <a:off x="3375191" y="2558537"/>
            <a:ext cx="702064" cy="858815"/>
          </a:xfrm>
          <a:prstGeom prst="bentArrow">
            <a:avLst>
              <a:gd name="adj1" fmla="val 21673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2AE9224A-ABD9-687E-A616-6B9F4825D2C1}"/>
              </a:ext>
            </a:extLst>
          </p:cNvPr>
          <p:cNvSpPr/>
          <p:nvPr/>
        </p:nvSpPr>
        <p:spPr bwMode="auto">
          <a:xfrm>
            <a:off x="5112756" y="4146711"/>
            <a:ext cx="936104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9622731-4C72-3CCB-B303-2406F735A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801687"/>
              </p:ext>
            </p:extLst>
          </p:nvPr>
        </p:nvGraphicFramePr>
        <p:xfrm>
          <a:off x="6317111" y="4063774"/>
          <a:ext cx="14970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22080" imgH="203040" progId="Equation.DSMT4">
                  <p:embed/>
                </p:oleObj>
              </mc:Choice>
              <mc:Fallback>
                <p:oleObj name="Equation" r:id="rId10" imgW="622080" imgH="203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C0B502D-183F-9717-6B3D-924DDCA96F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317111" y="4063774"/>
                        <a:ext cx="1497013" cy="48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448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5A73E6-F014-4DDB-84AD-97AEFBC6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12A79-A92F-4AC6-B644-E3DB52333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注意事项：</a:t>
            </a:r>
            <a:endParaRPr lang="en-US" altLang="zh-CN" dirty="0"/>
          </a:p>
          <a:p>
            <a:pPr lvl="1"/>
            <a:r>
              <a:rPr lang="zh-CN" altLang="en-US" dirty="0"/>
              <a:t>内罚函数法</a:t>
            </a:r>
            <a:r>
              <a:rPr lang="zh-CN" altLang="en-US" dirty="0">
                <a:solidFill>
                  <a:srgbClr val="C00000"/>
                </a:solidFill>
              </a:rPr>
              <a:t>只能解决约束条件为不等式的问题</a:t>
            </a:r>
            <a:r>
              <a:rPr lang="zh-CN" altLang="en-US" dirty="0"/>
              <a:t>，对于等式约束它无法求解。</a:t>
            </a:r>
            <a:endParaRPr lang="en-US" altLang="zh-CN" dirty="0"/>
          </a:p>
          <a:p>
            <a:pPr lvl="1"/>
            <a:r>
              <a:rPr lang="zh-CN" altLang="en-US" dirty="0"/>
              <a:t>很多情况下，解析法是无法直接使用的，因此大部分的工程应用问题是</a:t>
            </a:r>
            <a:r>
              <a:rPr lang="zh-CN" altLang="en-US" dirty="0">
                <a:solidFill>
                  <a:srgbClr val="C00000"/>
                </a:solidFill>
              </a:rPr>
              <a:t>采用数值迭代法来求解</a:t>
            </a:r>
            <a:r>
              <a:rPr lang="zh-CN" altLang="en-US" dirty="0"/>
              <a:t>，利用无约束优化问题的各类方法。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内罚因子</a:t>
            </a:r>
            <a:r>
              <a:rPr lang="zh-CN" altLang="en-US" dirty="0"/>
              <a:t>在每次迭代时是</a:t>
            </a:r>
            <a:r>
              <a:rPr lang="zh-CN" altLang="en-US" dirty="0">
                <a:solidFill>
                  <a:srgbClr val="0000FF"/>
                </a:solidFill>
              </a:rPr>
              <a:t>一个常量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75CD33-0EF7-40A3-B746-4214A931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A92607-9DED-4665-9930-0BD0F4B4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863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A7136-E0DC-4011-B081-AEC31DB5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2AADF3-D6A4-432E-A989-7974455B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91A8D6-6E65-4ACF-A1C1-7F84BC59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1B463E-3AE3-45D0-8222-518F2272E60C}"/>
              </a:ext>
            </a:extLst>
          </p:cNvPr>
          <p:cNvSpPr txBox="1"/>
          <p:nvPr/>
        </p:nvSpPr>
        <p:spPr>
          <a:xfrm>
            <a:off x="343907" y="271743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其中：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83FA35-E867-4351-A33F-6B360BDC4F12}"/>
              </a:ext>
            </a:extLst>
          </p:cNvPr>
          <p:cNvSpPr txBox="1"/>
          <p:nvPr/>
        </p:nvSpPr>
        <p:spPr>
          <a:xfrm>
            <a:off x="263749" y="367889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不同应用场景下，还有如下几种方式：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E26334E-AA37-48BD-9776-B48225FA3A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187880"/>
              </p:ext>
            </p:extLst>
          </p:nvPr>
        </p:nvGraphicFramePr>
        <p:xfrm>
          <a:off x="1464414" y="2264908"/>
          <a:ext cx="1446213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444240" progId="Equation.DSMT4">
                  <p:embed/>
                </p:oleObj>
              </mc:Choice>
              <mc:Fallback>
                <p:oleObj name="Equation" r:id="rId2" imgW="495000" imgH="4442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92C5250-C4B1-43F7-9614-EFC97AD83B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64414" y="2264908"/>
                        <a:ext cx="1446213" cy="1298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FC89540-4751-4269-8AAA-A8F0CF5E77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069198"/>
              </p:ext>
            </p:extLst>
          </p:nvPr>
        </p:nvGraphicFramePr>
        <p:xfrm>
          <a:off x="1626638" y="1178264"/>
          <a:ext cx="6303963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457200" progId="Equation.DSMT4">
                  <p:embed/>
                </p:oleObj>
              </mc:Choice>
              <mc:Fallback>
                <p:oleObj name="Equation" r:id="rId4" imgW="2158920" imgH="457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6638" y="1178264"/>
                        <a:ext cx="6303963" cy="1336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580C4023-5672-49DE-8474-3FADA08C14D3}"/>
              </a:ext>
            </a:extLst>
          </p:cNvPr>
          <p:cNvSpPr txBox="1"/>
          <p:nvPr/>
        </p:nvSpPr>
        <p:spPr>
          <a:xfrm>
            <a:off x="3080792" y="268477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也称为障碍函数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4C0BCA5-58AA-4E9A-A0E2-B987ABFC4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60581"/>
              </p:ext>
            </p:extLst>
          </p:nvPr>
        </p:nvGraphicFramePr>
        <p:xfrm>
          <a:off x="343907" y="4198375"/>
          <a:ext cx="18542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680" imgH="444240" progId="Equation.DSMT4">
                  <p:embed/>
                </p:oleObj>
              </mc:Choice>
              <mc:Fallback>
                <p:oleObj name="Equation" r:id="rId6" imgW="634680" imgH="4442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E26334E-AA37-48BD-9776-B48225FA3A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3907" y="4198375"/>
                        <a:ext cx="1854200" cy="1298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D56EF54-0C2B-49FB-8CE5-9FC637D47B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280668"/>
              </p:ext>
            </p:extLst>
          </p:nvPr>
        </p:nvGraphicFramePr>
        <p:xfrm>
          <a:off x="2720752" y="4413004"/>
          <a:ext cx="17795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480" imgH="253800" progId="Equation.DSMT4">
                  <p:embed/>
                </p:oleObj>
              </mc:Choice>
              <mc:Fallback>
                <p:oleObj name="Equation" r:id="rId8" imgW="609480" imgH="2538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4C0BCA5-58AA-4E9A-A0E2-B987ABFC41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20752" y="4413004"/>
                        <a:ext cx="1779588" cy="742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92B5B7C-8565-44D6-A82D-46EF336960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272649"/>
              </p:ext>
            </p:extLst>
          </p:nvPr>
        </p:nvGraphicFramePr>
        <p:xfrm>
          <a:off x="5183293" y="4064953"/>
          <a:ext cx="2039938" cy="141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482400" progId="Equation.DSMT4">
                  <p:embed/>
                </p:oleObj>
              </mc:Choice>
              <mc:Fallback>
                <p:oleObj name="Equation" r:id="rId10" imgW="698400" imgH="4824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D56EF54-0C2B-49FB-8CE5-9FC637D47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83293" y="4064953"/>
                        <a:ext cx="2039938" cy="1411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735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2647B-7DCE-4953-86DD-4F3883C7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5D556-2328-471C-8340-BE3C07D6F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迭代过程：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390507-C158-4D5E-8FD3-F39C3B52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784460-FDF2-4AB5-9CFD-31A8F21B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A1BBFD1-D3F0-41E9-A52C-2EA2D87E8D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128110"/>
              </p:ext>
            </p:extLst>
          </p:nvPr>
        </p:nvGraphicFramePr>
        <p:xfrm>
          <a:off x="128464" y="1700808"/>
          <a:ext cx="81264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19440" imgH="482400" progId="Equation.DSMT4">
                  <p:embed/>
                </p:oleObj>
              </mc:Choice>
              <mc:Fallback>
                <p:oleObj name="Equation" r:id="rId2" imgW="361944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5AF6B43-97B5-43F6-BD7F-8C67E3A8ED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8464" y="1700808"/>
                        <a:ext cx="8126413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516E89D8-08F8-40F8-8DF4-59D6D3C038DD}"/>
              </a:ext>
            </a:extLst>
          </p:cNvPr>
          <p:cNvSpPr txBox="1"/>
          <p:nvPr/>
        </p:nvSpPr>
        <p:spPr>
          <a:xfrm>
            <a:off x="550714" y="2895590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取可行域内任意一点（如果题目没有具体指明）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9BACC3-FFA6-4D61-9065-7C158943D056}"/>
              </a:ext>
            </a:extLst>
          </p:cNvPr>
          <p:cNvSpPr txBox="1"/>
          <p:nvPr/>
        </p:nvSpPr>
        <p:spPr>
          <a:xfrm>
            <a:off x="550714" y="3573016"/>
            <a:ext cx="6511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初始罚因子默认为</a:t>
            </a:r>
            <a:r>
              <a:rPr lang="en-US" altLang="zh-CN" sz="2400" dirty="0"/>
              <a:t>1</a:t>
            </a:r>
            <a:r>
              <a:rPr lang="zh-CN" altLang="en-US" sz="2400" dirty="0"/>
              <a:t>（如果题目没有具体指明）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D078860-0912-43EF-B497-7C8215585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814017"/>
              </p:ext>
            </p:extLst>
          </p:nvPr>
        </p:nvGraphicFramePr>
        <p:xfrm>
          <a:off x="1937047" y="4038581"/>
          <a:ext cx="9112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203040" progId="Equation.DSMT4">
                  <p:embed/>
                </p:oleObj>
              </mc:Choice>
              <mc:Fallback>
                <p:oleObj name="Equation" r:id="rId4" imgW="40608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0892728-EF46-444E-9344-23129BAC58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37047" y="4038581"/>
                        <a:ext cx="91122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CD4532C1-BA18-4ACB-971B-2B5E81A57E8B}"/>
              </a:ext>
            </a:extLst>
          </p:cNvPr>
          <p:cNvSpPr txBox="1"/>
          <p:nvPr/>
        </p:nvSpPr>
        <p:spPr>
          <a:xfrm>
            <a:off x="550713" y="4447482"/>
            <a:ext cx="822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初始罚因子缩减系数默认为</a:t>
            </a:r>
            <a:r>
              <a:rPr lang="en-US" altLang="zh-CN" sz="2400" dirty="0"/>
              <a:t>0.1</a:t>
            </a:r>
            <a:r>
              <a:rPr lang="zh-CN" altLang="en-US" sz="2400" dirty="0"/>
              <a:t>（如果题目没有具体指明）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5697E85-E624-46B2-8D72-ADBA151B6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479830"/>
              </p:ext>
            </p:extLst>
          </p:nvPr>
        </p:nvGraphicFramePr>
        <p:xfrm>
          <a:off x="1899544" y="4919667"/>
          <a:ext cx="9398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040" imgH="177480" progId="Equation.DSMT4">
                  <p:embed/>
                </p:oleObj>
              </mc:Choice>
              <mc:Fallback>
                <p:oleObj name="Equation" r:id="rId6" imgW="419040" imgH="177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9D8B9FF3-DC0A-4C80-9859-5D09726066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99544" y="4919667"/>
                        <a:ext cx="9398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3F2CBB95-6C49-498D-AC77-A315D5F2BB7D}"/>
              </a:ext>
            </a:extLst>
          </p:cNvPr>
          <p:cNvSpPr txBox="1"/>
          <p:nvPr/>
        </p:nvSpPr>
        <p:spPr>
          <a:xfrm>
            <a:off x="556545" y="5355137"/>
            <a:ext cx="658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收敛精度默认为</a:t>
            </a:r>
            <a:r>
              <a:rPr lang="en-US" altLang="zh-CN" sz="2400" dirty="0"/>
              <a:t>10</a:t>
            </a:r>
            <a:r>
              <a:rPr lang="en-US" altLang="zh-CN" sz="2400" baseline="30000" dirty="0"/>
              <a:t>-8</a:t>
            </a:r>
            <a:r>
              <a:rPr lang="zh-CN" altLang="en-US" sz="2400" dirty="0"/>
              <a:t>（如果题目没有具体指明）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D7F5ABD-1425-41F7-8B5B-8612979C0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117087"/>
              </p:ext>
            </p:extLst>
          </p:nvPr>
        </p:nvGraphicFramePr>
        <p:xfrm>
          <a:off x="1888344" y="5707694"/>
          <a:ext cx="20780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177480" progId="Equation.DSMT4">
                  <p:embed/>
                </p:oleObj>
              </mc:Choice>
              <mc:Fallback>
                <p:oleObj name="Equation" r:id="rId8" imgW="927000" imgH="177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FD536A17-9D84-449A-9954-BBAE29F6F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88344" y="5707694"/>
                        <a:ext cx="20780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908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2647B-7DCE-4953-86DD-4F3883C7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5D556-2328-471C-8340-BE3C07D6F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迭代过程：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390507-C158-4D5E-8FD3-F39C3B52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784460-FDF2-4AB5-9CFD-31A8F21B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22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E935606-8FC4-4216-8464-922CB4D21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426977"/>
              </p:ext>
            </p:extLst>
          </p:nvPr>
        </p:nvGraphicFramePr>
        <p:xfrm>
          <a:off x="128464" y="2636912"/>
          <a:ext cx="7412038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920" imgH="457200" progId="Equation.DSMT4">
                  <p:embed/>
                </p:oleObj>
              </mc:Choice>
              <mc:Fallback>
                <p:oleObj name="Equation" r:id="rId2" imgW="3301920" imgH="457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E935606-8FC4-4216-8464-922CB4D21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8464" y="2636912"/>
                        <a:ext cx="7412038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BF4ACC7-47E8-4A08-9B04-1B3E548DE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856749"/>
              </p:ext>
            </p:extLst>
          </p:nvPr>
        </p:nvGraphicFramePr>
        <p:xfrm>
          <a:off x="128464" y="3573016"/>
          <a:ext cx="8980488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00320" imgH="304560" progId="Equation.DSMT4">
                  <p:embed/>
                </p:oleObj>
              </mc:Choice>
              <mc:Fallback>
                <p:oleObj name="Equation" r:id="rId4" imgW="4000320" imgH="304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BF4ACC7-47E8-4A08-9B04-1B3E548DE9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8464" y="3573016"/>
                        <a:ext cx="8980488" cy="679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AFC12E3-FD92-4980-B6CE-A1AA77B9EE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741886"/>
              </p:ext>
            </p:extLst>
          </p:nvPr>
        </p:nvGraphicFramePr>
        <p:xfrm>
          <a:off x="128464" y="4052739"/>
          <a:ext cx="875188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98800" imgH="888840" progId="Equation.DSMT4">
                  <p:embed/>
                </p:oleObj>
              </mc:Choice>
              <mc:Fallback>
                <p:oleObj name="Equation" r:id="rId6" imgW="389880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AFC12E3-FD92-4980-B6CE-A1AA77B9EE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8464" y="4052739"/>
                        <a:ext cx="8751888" cy="198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305CF0B-53D4-4AD8-8A67-32E4E021CC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85283"/>
              </p:ext>
            </p:extLst>
          </p:nvPr>
        </p:nvGraphicFramePr>
        <p:xfrm>
          <a:off x="169813" y="5946105"/>
          <a:ext cx="83835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33560" imgH="304560" progId="Equation.DSMT4">
                  <p:embed/>
                </p:oleObj>
              </mc:Choice>
              <mc:Fallback>
                <p:oleObj name="Equation" r:id="rId8" imgW="3733560" imgH="304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305CF0B-53D4-4AD8-8A67-32E4E021CC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9813" y="5946105"/>
                        <a:ext cx="8383587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D55019F-3601-4465-AA9C-5A5CEB8B2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019926"/>
              </p:ext>
            </p:extLst>
          </p:nvPr>
        </p:nvGraphicFramePr>
        <p:xfrm>
          <a:off x="128464" y="1700808"/>
          <a:ext cx="81264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19440" imgH="482400" progId="Equation.DSMT4">
                  <p:embed/>
                </p:oleObj>
              </mc:Choice>
              <mc:Fallback>
                <p:oleObj name="Equation" r:id="rId10" imgW="3619440" imgH="482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DA1BBFD1-D3F0-41E9-A52C-2EA2D87E8D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8464" y="1700808"/>
                        <a:ext cx="8126413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847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76885-22AE-48AA-BE06-8AD3EA5C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内罚函数法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12D91B-6952-4D25-987B-8148D59B6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6EA528-ED23-4CCA-8E7A-2124B581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FD1CB6B-B592-4172-8021-E4F2B2956E69}"/>
                  </a:ext>
                </a:extLst>
              </p:cNvPr>
              <p:cNvSpPr/>
              <p:nvPr/>
            </p:nvSpPr>
            <p:spPr>
              <a:xfrm>
                <a:off x="128464" y="1196752"/>
                <a:ext cx="8208912" cy="31470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初始内罚因子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的选择对于整个迭代过程非常重要</a:t>
                </a:r>
                <a:endParaRPr lang="en-US" altLang="zh-CN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的值太小，则有可能导致进行无约束优化迭代时越过约束线，跑出可行域</a:t>
                </a:r>
                <a:endParaRPr lang="en-US" altLang="zh-CN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的值太大，则计算效率低，收敛慢</a:t>
                </a:r>
                <a:endParaRPr lang="en-US" altLang="zh-CN" sz="2400" dirty="0"/>
              </a:p>
              <a:p>
                <a:pPr marL="457200" indent="-4572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457200" indent="-457200">
                  <a:buFont typeface="+mj-ea"/>
                  <a:buAutoNum type="circleNumDbPlain"/>
                </a:pPr>
                <a:endParaRPr lang="en-US" altLang="zh-CN" sz="2400" dirty="0"/>
              </a:p>
              <a:p>
                <a:r>
                  <a:rPr lang="zh-CN" altLang="en-US" sz="2400" dirty="0"/>
                  <a:t>通常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的值在</a:t>
                </a:r>
                <a:r>
                  <a:rPr lang="en-US" altLang="zh-CN" sz="2400" dirty="0"/>
                  <a:t>1-50</a:t>
                </a:r>
                <a:r>
                  <a:rPr lang="zh-CN" altLang="en-US" sz="2400" dirty="0"/>
                  <a:t>之间，如果初始化点比较小，则一般默认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FD1CB6B-B592-4172-8021-E4F2B2956E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64" y="1196752"/>
                <a:ext cx="8208912" cy="3147015"/>
              </a:xfrm>
              <a:prstGeom prst="rect">
                <a:avLst/>
              </a:prstGeom>
              <a:blipFill>
                <a:blip r:embed="rId2"/>
                <a:stretch>
                  <a:fillRect l="-1336" t="-774" r="-297"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9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DBDB4-2F53-4164-A408-3173633E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88B271-95B6-45B5-AB18-FA60332D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与内罚函数法不同，外罚函数法主要是</a:t>
            </a:r>
            <a:r>
              <a:rPr lang="zh-CN" altLang="en-US" dirty="0">
                <a:solidFill>
                  <a:srgbClr val="C00000"/>
                </a:solidFill>
              </a:rPr>
              <a:t>从可行域外部逐渐逼近原优化问题的最优解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外罚函数</a:t>
            </a:r>
            <a:r>
              <a:rPr lang="zh-CN" altLang="en-US" dirty="0">
                <a:solidFill>
                  <a:srgbClr val="0000FF"/>
                </a:solidFill>
              </a:rPr>
              <a:t>可以求解约束中包含等式的优化问题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>
                <a:solidFill>
                  <a:srgbClr val="7030A0"/>
                </a:solidFill>
              </a:rPr>
              <a:t>外罚函数法又称为外点罚函数法、外点法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1974CD-AFB7-470E-AAC4-7E9481E16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76FB01-A25C-4084-859A-4F8F3410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242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1C48-4158-4F34-8529-69D82839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081544-7B3C-476C-9AC2-9B2A5F63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  <a:p>
            <a:pPr lvl="1"/>
            <a:r>
              <a:rPr lang="zh-CN" altLang="en-US" dirty="0"/>
              <a:t>对于给定的约束优化问题：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5B0E0-90BF-4514-B7BD-FF56EEC1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F85E34-ACFD-4E33-BBB6-E93F73FD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25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A095588-2156-4ECF-99AC-A0D0F6BFF1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520414"/>
              </p:ext>
            </p:extLst>
          </p:nvPr>
        </p:nvGraphicFramePr>
        <p:xfrm>
          <a:off x="1931309" y="2397684"/>
          <a:ext cx="5972961" cy="2181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825480" progId="Equation.DSMT4">
                  <p:embed/>
                </p:oleObj>
              </mc:Choice>
              <mc:Fallback>
                <p:oleObj name="Equation" r:id="rId2" imgW="2260440" imgH="825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A095588-2156-4ECF-99AC-A0D0F6BFF1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31309" y="2397684"/>
                        <a:ext cx="5972961" cy="21816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0C6B485-4368-481A-BFE7-9E4A9C20A3B3}"/>
              </a:ext>
            </a:extLst>
          </p:cNvPr>
          <p:cNvSpPr txBox="1"/>
          <p:nvPr/>
        </p:nvSpPr>
        <p:spPr>
          <a:xfrm>
            <a:off x="69474" y="440585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构造外罚函数：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0FF0E7-41B7-4590-AF45-37216FD12C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077424"/>
              </p:ext>
            </p:extLst>
          </p:nvPr>
        </p:nvGraphicFramePr>
        <p:xfrm>
          <a:off x="154264" y="4627261"/>
          <a:ext cx="9577064" cy="1066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28920" imgH="469800" progId="Equation.DSMT4">
                  <p:embed/>
                </p:oleObj>
              </mc:Choice>
              <mc:Fallback>
                <p:oleObj name="Equation" r:id="rId4" imgW="422892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4264" y="4627261"/>
                        <a:ext cx="9577064" cy="1066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D6E8CFE-B294-49D6-A1BE-4FF2E4CBDACF}"/>
              </a:ext>
            </a:extLst>
          </p:cNvPr>
          <p:cNvSpPr txBox="1"/>
          <p:nvPr/>
        </p:nvSpPr>
        <p:spPr>
          <a:xfrm>
            <a:off x="69474" y="5893866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原问题变成求解：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33CC5DE-CDC2-47D2-B3CF-AC5EC31E6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928499"/>
              </p:ext>
            </p:extLst>
          </p:nvPr>
        </p:nvGraphicFramePr>
        <p:xfrm>
          <a:off x="2878138" y="5619750"/>
          <a:ext cx="30051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317160" progId="Equation.DSMT4">
                  <p:embed/>
                </p:oleObj>
              </mc:Choice>
              <mc:Fallback>
                <p:oleObj name="Equation" r:id="rId6" imgW="1028520" imgH="3171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9FC53B-FC5C-463A-9FAD-246051AD5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78138" y="5619750"/>
                        <a:ext cx="3005137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886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1C48-4158-4F34-8529-69D82839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081544-7B3C-476C-9AC2-9B2A5F63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5B0E0-90BF-4514-B7BD-FF56EEC1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F85E34-ACFD-4E33-BBB6-E93F73FD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26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C6B485-4368-481A-BFE7-9E4A9C20A3B3}"/>
              </a:ext>
            </a:extLst>
          </p:cNvPr>
          <p:cNvSpPr txBox="1"/>
          <p:nvPr/>
        </p:nvSpPr>
        <p:spPr>
          <a:xfrm>
            <a:off x="128464" y="319816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惩罚项为：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0FF0E7-41B7-4590-AF45-37216FD12C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806770"/>
              </p:ext>
            </p:extLst>
          </p:nvPr>
        </p:nvGraphicFramePr>
        <p:xfrm>
          <a:off x="59521" y="1684814"/>
          <a:ext cx="9848925" cy="1096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28920" imgH="469800" progId="Equation.DSMT4">
                  <p:embed/>
                </p:oleObj>
              </mc:Choice>
              <mc:Fallback>
                <p:oleObj name="Equation" r:id="rId2" imgW="422892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521" y="1684814"/>
                        <a:ext cx="9848925" cy="1096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3B4CCB5-F927-4246-B33C-CD46463B0CCE}"/>
              </a:ext>
            </a:extLst>
          </p:cNvPr>
          <p:cNvSpPr txBox="1"/>
          <p:nvPr/>
        </p:nvSpPr>
        <p:spPr>
          <a:xfrm>
            <a:off x="128464" y="4514442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外罚因子为满足：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9FC53B-FC5C-463A-9FAD-246051AD5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28127"/>
              </p:ext>
            </p:extLst>
          </p:nvPr>
        </p:nvGraphicFramePr>
        <p:xfrm>
          <a:off x="2648744" y="4392467"/>
          <a:ext cx="5218088" cy="527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06280" imgH="203040" progId="Equation.DSMT4">
                  <p:embed/>
                </p:oleObj>
              </mc:Choice>
              <mc:Fallback>
                <p:oleObj name="Equation" r:id="rId4" imgW="2006280" imgH="203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9FC53B-FC5C-463A-9FAD-246051AD5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48744" y="4392467"/>
                        <a:ext cx="5218088" cy="5273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2C5250-C4B1-43F7-9614-EFC97AD83B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072299"/>
              </p:ext>
            </p:extLst>
          </p:nvPr>
        </p:nvGraphicFramePr>
        <p:xfrm>
          <a:off x="1712640" y="2872345"/>
          <a:ext cx="6653039" cy="1088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9920" imgH="469800" progId="Equation.DSMT4">
                  <p:embed/>
                </p:oleObj>
              </mc:Choice>
              <mc:Fallback>
                <p:oleObj name="Equation" r:id="rId6" imgW="2869920" imgH="469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92C5250-C4B1-43F7-9614-EFC97AD83B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12640" y="2872345"/>
                        <a:ext cx="6653039" cy="1088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23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1C48-4158-4F34-8529-69D82839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081544-7B3C-476C-9AC2-9B2A5F63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5B0E0-90BF-4514-B7BD-FF56EEC1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F85E34-ACFD-4E33-BBB6-E93F73FD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27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0FF0E7-41B7-4590-AF45-37216FD12C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21" y="1684814"/>
          <a:ext cx="9848925" cy="1096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28920" imgH="469800" progId="Equation.DSMT4">
                  <p:embed/>
                </p:oleObj>
              </mc:Choice>
              <mc:Fallback>
                <p:oleObj name="Equation" r:id="rId2" imgW="422892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521" y="1684814"/>
                        <a:ext cx="9848925" cy="1096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3B4CCB5-F927-4246-B33C-CD46463B0CCE}"/>
              </a:ext>
            </a:extLst>
          </p:cNvPr>
          <p:cNvSpPr txBox="1"/>
          <p:nvPr/>
        </p:nvSpPr>
        <p:spPr>
          <a:xfrm>
            <a:off x="0" y="270223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等价于：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90C0892-196C-407A-82BE-027FA14D3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538696"/>
              </p:ext>
            </p:extLst>
          </p:nvPr>
        </p:nvGraphicFramePr>
        <p:xfrm>
          <a:off x="416496" y="3252067"/>
          <a:ext cx="2530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253800" progId="Equation.DSMT4">
                  <p:embed/>
                </p:oleObj>
              </mc:Choice>
              <mc:Fallback>
                <p:oleObj name="Equation" r:id="rId4" imgW="1091880" imgH="253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92C5250-C4B1-43F7-9614-EFC97AD83B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496" y="3252067"/>
                        <a:ext cx="2530475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6434BBB-6C8E-4906-8955-317F694BF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722848"/>
              </p:ext>
            </p:extLst>
          </p:nvPr>
        </p:nvGraphicFramePr>
        <p:xfrm>
          <a:off x="1312985" y="3546548"/>
          <a:ext cx="5738813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469800" progId="Equation.DSMT4">
                  <p:embed/>
                </p:oleObj>
              </mc:Choice>
              <mc:Fallback>
                <p:oleObj name="Equation" r:id="rId6" imgW="246348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2985" y="3546548"/>
                        <a:ext cx="5738813" cy="1096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74991BC-9835-4EB3-9982-0038EB88DD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293149"/>
              </p:ext>
            </p:extLst>
          </p:nvPr>
        </p:nvGraphicFramePr>
        <p:xfrm>
          <a:off x="1312985" y="4996333"/>
          <a:ext cx="8605838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95400" imgH="469800" progId="Equation.DSMT4">
                  <p:embed/>
                </p:oleObj>
              </mc:Choice>
              <mc:Fallback>
                <p:oleObj name="Equation" r:id="rId8" imgW="369540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12985" y="4996333"/>
                        <a:ext cx="8605838" cy="109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683F3F4-4382-429B-BE1E-6C73735A2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199629"/>
              </p:ext>
            </p:extLst>
          </p:nvPr>
        </p:nvGraphicFramePr>
        <p:xfrm>
          <a:off x="416496" y="4627420"/>
          <a:ext cx="2530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253800" progId="Equation.DSMT4">
                  <p:embed/>
                </p:oleObj>
              </mc:Choice>
              <mc:Fallback>
                <p:oleObj name="Equation" r:id="rId10" imgW="1091880" imgH="2538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90C0892-196C-407A-82BE-027FA14D30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6496" y="4627420"/>
                        <a:ext cx="2530475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436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1C48-4158-4F34-8529-69D82839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081544-7B3C-476C-9AC2-9B2A5F63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5B0E0-90BF-4514-B7BD-FF56EEC1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F85E34-ACFD-4E33-BBB6-E93F73FD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28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0FF0E7-41B7-4590-AF45-37216FD12C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21" y="1684814"/>
          <a:ext cx="9848925" cy="1096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28920" imgH="469800" progId="Equation.DSMT4">
                  <p:embed/>
                </p:oleObj>
              </mc:Choice>
              <mc:Fallback>
                <p:oleObj name="Equation" r:id="rId2" imgW="422892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521" y="1684814"/>
                        <a:ext cx="9848925" cy="1096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3B4CCB5-F927-4246-B33C-CD46463B0CCE}"/>
              </a:ext>
            </a:extLst>
          </p:cNvPr>
          <p:cNvSpPr txBox="1"/>
          <p:nvPr/>
        </p:nvSpPr>
        <p:spPr>
          <a:xfrm>
            <a:off x="0" y="270223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等价于：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90C0892-196C-407A-82BE-027FA14D30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496" y="3252067"/>
          <a:ext cx="2530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253800" progId="Equation.DSMT4">
                  <p:embed/>
                </p:oleObj>
              </mc:Choice>
              <mc:Fallback>
                <p:oleObj name="Equation" r:id="rId4" imgW="1091880" imgH="2538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90C0892-196C-407A-82BE-027FA14D30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496" y="3252067"/>
                        <a:ext cx="2530475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6434BBB-6C8E-4906-8955-317F694BF1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2985" y="3546548"/>
          <a:ext cx="5738813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469800" progId="Equation.DSMT4">
                  <p:embed/>
                </p:oleObj>
              </mc:Choice>
              <mc:Fallback>
                <p:oleObj name="Equation" r:id="rId6" imgW="2463480" imgH="469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6434BBB-6C8E-4906-8955-317F694BF1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2985" y="3546548"/>
                        <a:ext cx="5738813" cy="1096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74991BC-9835-4EB3-9982-0038EB88D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2985" y="4996333"/>
          <a:ext cx="8605838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95400" imgH="469800" progId="Equation.DSMT4">
                  <p:embed/>
                </p:oleObj>
              </mc:Choice>
              <mc:Fallback>
                <p:oleObj name="Equation" r:id="rId8" imgW="3695400" imgH="4698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74991BC-9835-4EB3-9982-0038EB88DD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12985" y="4996333"/>
                        <a:ext cx="8605838" cy="109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683F3F4-4382-429B-BE1E-6C73735A23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496" y="4627420"/>
          <a:ext cx="2530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253800" progId="Equation.DSMT4">
                  <p:embed/>
                </p:oleObj>
              </mc:Choice>
              <mc:Fallback>
                <p:oleObj name="Equation" r:id="rId10" imgW="1091880" imgH="2538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683F3F4-4382-429B-BE1E-6C73735A2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6496" y="4627420"/>
                        <a:ext cx="2530475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139B9569-6F9A-4C55-B986-BF5582A75421}"/>
              </a:ext>
            </a:extLst>
          </p:cNvPr>
          <p:cNvSpPr/>
          <p:nvPr/>
        </p:nvSpPr>
        <p:spPr bwMode="auto">
          <a:xfrm>
            <a:off x="4520952" y="3546548"/>
            <a:ext cx="2588890" cy="108087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E463A02-BB96-4A11-BEEA-F6C970AB72B8}"/>
              </a:ext>
            </a:extLst>
          </p:cNvPr>
          <p:cNvCxnSpPr>
            <a:cxnSpLocks/>
          </p:cNvCxnSpPr>
          <p:nvPr/>
        </p:nvCxnSpPr>
        <p:spPr bwMode="auto">
          <a:xfrm flipV="1">
            <a:off x="6537176" y="3252067"/>
            <a:ext cx="770784" cy="2944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C54E6FC-65ED-40AA-B8AF-4C33E88F6FBF}"/>
              </a:ext>
            </a:extLst>
          </p:cNvPr>
          <p:cNvSpPr txBox="1"/>
          <p:nvPr/>
        </p:nvSpPr>
        <p:spPr>
          <a:xfrm>
            <a:off x="7307960" y="2898344"/>
            <a:ext cx="2588890" cy="1323439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若迭代点同时满足等式约束，则此时就是原函数，相当于不加“惩罚”</a:t>
            </a:r>
          </a:p>
        </p:txBody>
      </p:sp>
    </p:spTree>
    <p:extLst>
      <p:ext uri="{BB962C8B-B14F-4D97-AF65-F5344CB8AC3E}">
        <p14:creationId xmlns:p14="http://schemas.microsoft.com/office/powerpoint/2010/main" val="112910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E1C48-4158-4F34-8529-69D82839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081544-7B3C-476C-9AC2-9B2A5F63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5B0E0-90BF-4514-B7BD-FF56EEC1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F85E34-ACFD-4E33-BBB6-E93F73FD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29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0FF0E7-41B7-4590-AF45-37216FD12C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036046"/>
              </p:ext>
            </p:extLst>
          </p:nvPr>
        </p:nvGraphicFramePr>
        <p:xfrm>
          <a:off x="59521" y="1684814"/>
          <a:ext cx="9848925" cy="1096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28920" imgH="469800" progId="Equation.DSMT4">
                  <p:embed/>
                </p:oleObj>
              </mc:Choice>
              <mc:Fallback>
                <p:oleObj name="Equation" r:id="rId2" imgW="422892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521" y="1684814"/>
                        <a:ext cx="9848925" cy="1096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3B4CCB5-F927-4246-B33C-CD46463B0CCE}"/>
              </a:ext>
            </a:extLst>
          </p:cNvPr>
          <p:cNvSpPr txBox="1"/>
          <p:nvPr/>
        </p:nvSpPr>
        <p:spPr>
          <a:xfrm>
            <a:off x="0" y="270223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等价于：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90C0892-196C-407A-82BE-027FA14D30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496" y="3252067"/>
          <a:ext cx="2530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253800" progId="Equation.DSMT4">
                  <p:embed/>
                </p:oleObj>
              </mc:Choice>
              <mc:Fallback>
                <p:oleObj name="Equation" r:id="rId4" imgW="1091880" imgH="2538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90C0892-196C-407A-82BE-027FA14D30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496" y="3252067"/>
                        <a:ext cx="2530475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6434BBB-6C8E-4906-8955-317F694BF1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2985" y="3546548"/>
          <a:ext cx="5738813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469800" progId="Equation.DSMT4">
                  <p:embed/>
                </p:oleObj>
              </mc:Choice>
              <mc:Fallback>
                <p:oleObj name="Equation" r:id="rId6" imgW="2463480" imgH="469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6434BBB-6C8E-4906-8955-317F694BF1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2985" y="3546548"/>
                        <a:ext cx="5738813" cy="1096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74991BC-9835-4EB3-9982-0038EB88D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2985" y="4996333"/>
          <a:ext cx="8605838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95400" imgH="469800" progId="Equation.DSMT4">
                  <p:embed/>
                </p:oleObj>
              </mc:Choice>
              <mc:Fallback>
                <p:oleObj name="Equation" r:id="rId8" imgW="3695400" imgH="4698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74991BC-9835-4EB3-9982-0038EB88DD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12985" y="4996333"/>
                        <a:ext cx="8605838" cy="109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683F3F4-4382-429B-BE1E-6C73735A23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496" y="4627420"/>
          <a:ext cx="2530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253800" progId="Equation.DSMT4">
                  <p:embed/>
                </p:oleObj>
              </mc:Choice>
              <mc:Fallback>
                <p:oleObj name="Equation" r:id="rId10" imgW="1091880" imgH="2538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683F3F4-4382-429B-BE1E-6C73735A2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6496" y="4627420"/>
                        <a:ext cx="2530475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139B9569-6F9A-4C55-B986-BF5582A75421}"/>
              </a:ext>
            </a:extLst>
          </p:cNvPr>
          <p:cNvSpPr/>
          <p:nvPr/>
        </p:nvSpPr>
        <p:spPr bwMode="auto">
          <a:xfrm>
            <a:off x="4520952" y="5012421"/>
            <a:ext cx="2588890" cy="108087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E463A02-BB96-4A11-BEEA-F6C970AB72B8}"/>
              </a:ext>
            </a:extLst>
          </p:cNvPr>
          <p:cNvCxnSpPr>
            <a:cxnSpLocks/>
          </p:cNvCxnSpPr>
          <p:nvPr/>
        </p:nvCxnSpPr>
        <p:spPr bwMode="auto">
          <a:xfrm flipV="1">
            <a:off x="6573639" y="4426222"/>
            <a:ext cx="500132" cy="5781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C54E6FC-65ED-40AA-B8AF-4C33E88F6FBF}"/>
                  </a:ext>
                </a:extLst>
              </p:cNvPr>
              <p:cNvSpPr txBox="1"/>
              <p:nvPr/>
            </p:nvSpPr>
            <p:spPr>
              <a:xfrm>
                <a:off x="7073771" y="2760805"/>
                <a:ext cx="2845052" cy="1959896"/>
              </a:xfrm>
              <a:prstGeom prst="rect">
                <a:avLst/>
              </a:prstGeom>
              <a:solidFill>
                <a:srgbClr val="FFFF66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C00000"/>
                    </a:solidFill>
                  </a:rPr>
                  <a:t>若迭代点不满足原约束条件，则施加“惩罚”，越偏离可行域，惩罚越重；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solidFill>
                      <a:srgbClr val="C00000"/>
                    </a:solidFill>
                  </a:rPr>
                  <a:t>的值越大，对应的迭代点要越靠近可行域才行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C54E6FC-65ED-40AA-B8AF-4C33E88F6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771" y="2760805"/>
                <a:ext cx="2845052" cy="1959896"/>
              </a:xfrm>
              <a:prstGeom prst="rect">
                <a:avLst/>
              </a:prstGeom>
              <a:blipFill>
                <a:blip r:embed="rId13"/>
                <a:stretch>
                  <a:fillRect l="-1919" t="-1548" r="-640" b="-46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06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84FDF-06A7-4A00-82FC-6EC45C2C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87C9C-6080-4E3C-A957-D40EDD38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：（</a:t>
            </a:r>
            <a:r>
              <a:rPr lang="en-US" altLang="zh-CN" dirty="0"/>
              <a:t>P120</a:t>
            </a:r>
            <a:r>
              <a:rPr lang="zh-CN" altLang="en-US" dirty="0"/>
              <a:t>例</a:t>
            </a:r>
            <a:r>
              <a:rPr lang="en-US" altLang="zh-CN" dirty="0"/>
              <a:t>6-3</a:t>
            </a:r>
            <a:r>
              <a:rPr lang="zh-CN" altLang="en-US" dirty="0"/>
              <a:t>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FD528-5C42-4105-92F1-4CE35E28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F81E60-0D67-47E9-AC44-C9A648D4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30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662C804-94EC-4C1C-9D2F-FA60518253A3}"/>
              </a:ext>
            </a:extLst>
          </p:cNvPr>
          <p:cNvCxnSpPr>
            <a:cxnSpLocks/>
          </p:cNvCxnSpPr>
          <p:nvPr/>
        </p:nvCxnSpPr>
        <p:spPr bwMode="auto">
          <a:xfrm>
            <a:off x="5673080" y="4869160"/>
            <a:ext cx="403244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3F0197B-DC23-49A0-B355-7237E8D227F5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80" y="1268760"/>
            <a:ext cx="0" cy="3600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2473735-EE95-44C6-A457-74E8382908E7}"/>
              </a:ext>
            </a:extLst>
          </p:cNvPr>
          <p:cNvCxnSpPr>
            <a:cxnSpLocks/>
          </p:cNvCxnSpPr>
          <p:nvPr/>
        </p:nvCxnSpPr>
        <p:spPr bwMode="auto">
          <a:xfrm flipV="1">
            <a:off x="5673079" y="2418013"/>
            <a:ext cx="2376265" cy="24511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FE62267-C7CF-4B32-85B0-04C1F138956A}"/>
              </a:ext>
            </a:extLst>
          </p:cNvPr>
          <p:cNvSpPr txBox="1"/>
          <p:nvPr/>
        </p:nvSpPr>
        <p:spPr>
          <a:xfrm>
            <a:off x="9313209" y="4856264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4C33D6-E6CF-4A52-815D-A12C1938C563}"/>
              </a:ext>
            </a:extLst>
          </p:cNvPr>
          <p:cNvSpPr txBox="1"/>
          <p:nvPr/>
        </p:nvSpPr>
        <p:spPr>
          <a:xfrm>
            <a:off x="5025008" y="1220533"/>
            <a:ext cx="86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f(x)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427CF81-0762-4DFC-A2E5-0A4FC05C1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337" y="1772816"/>
          <a:ext cx="35099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427CF81-0762-4DFC-A2E5-0A4FC05C1F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7337" y="1772816"/>
                        <a:ext cx="3509963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F1D004F-29FB-4463-A0BF-2930EC70A334}"/>
              </a:ext>
            </a:extLst>
          </p:cNvPr>
          <p:cNvCxnSpPr>
            <a:cxnSpLocks/>
          </p:cNvCxnSpPr>
          <p:nvPr/>
        </p:nvCxnSpPr>
        <p:spPr bwMode="auto">
          <a:xfrm flipV="1">
            <a:off x="6393160" y="1893434"/>
            <a:ext cx="0" cy="2969974"/>
          </a:xfrm>
          <a:prstGeom prst="straightConnector1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62D0FF88-EB83-4B66-91B8-6120FDCD8A82}"/>
              </a:ext>
            </a:extLst>
          </p:cNvPr>
          <p:cNvSpPr txBox="1"/>
          <p:nvPr/>
        </p:nvSpPr>
        <p:spPr>
          <a:xfrm>
            <a:off x="6251006" y="4863408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4E4B209-8E71-4035-979C-DD606557FCBD}"/>
              </a:ext>
            </a:extLst>
          </p:cNvPr>
          <p:cNvCxnSpPr/>
          <p:nvPr/>
        </p:nvCxnSpPr>
        <p:spPr bwMode="auto">
          <a:xfrm>
            <a:off x="6104880" y="227687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9F46BF-D377-43CB-8822-629B81485397}"/>
              </a:ext>
            </a:extLst>
          </p:cNvPr>
          <p:cNvCxnSpPr/>
          <p:nvPr/>
        </p:nvCxnSpPr>
        <p:spPr bwMode="auto">
          <a:xfrm>
            <a:off x="6128990" y="242088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062648A-DB4B-42AA-8A4C-2C5F6DD03A6E}"/>
              </a:ext>
            </a:extLst>
          </p:cNvPr>
          <p:cNvCxnSpPr/>
          <p:nvPr/>
        </p:nvCxnSpPr>
        <p:spPr bwMode="auto">
          <a:xfrm>
            <a:off x="6108700" y="285293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49EDE81-6F53-4A10-8575-C78DD28E6D07}"/>
              </a:ext>
            </a:extLst>
          </p:cNvPr>
          <p:cNvCxnSpPr/>
          <p:nvPr/>
        </p:nvCxnSpPr>
        <p:spPr bwMode="auto">
          <a:xfrm>
            <a:off x="6108700" y="270892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DC195EF-EC94-45B1-AA24-9E6913E20425}"/>
              </a:ext>
            </a:extLst>
          </p:cNvPr>
          <p:cNvCxnSpPr/>
          <p:nvPr/>
        </p:nvCxnSpPr>
        <p:spPr bwMode="auto">
          <a:xfrm>
            <a:off x="6121400" y="256490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EB81FAD-2F60-4840-9A40-95B0DF70E23F}"/>
              </a:ext>
            </a:extLst>
          </p:cNvPr>
          <p:cNvCxnSpPr/>
          <p:nvPr/>
        </p:nvCxnSpPr>
        <p:spPr bwMode="auto">
          <a:xfrm>
            <a:off x="6103590" y="299695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B50768D-A22B-4465-8536-F56DFF233C50}"/>
              </a:ext>
            </a:extLst>
          </p:cNvPr>
          <p:cNvCxnSpPr/>
          <p:nvPr/>
        </p:nvCxnSpPr>
        <p:spPr bwMode="auto">
          <a:xfrm>
            <a:off x="6127700" y="314096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8F80148-3B2F-48E2-BA09-73B5A066FD4A}"/>
              </a:ext>
            </a:extLst>
          </p:cNvPr>
          <p:cNvCxnSpPr/>
          <p:nvPr/>
        </p:nvCxnSpPr>
        <p:spPr bwMode="auto">
          <a:xfrm>
            <a:off x="6107410" y="357301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2AC66E5-9396-4EFF-9488-76D870D07056}"/>
              </a:ext>
            </a:extLst>
          </p:cNvPr>
          <p:cNvCxnSpPr/>
          <p:nvPr/>
        </p:nvCxnSpPr>
        <p:spPr bwMode="auto">
          <a:xfrm>
            <a:off x="6107410" y="342900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D7F167C-56E5-41C4-8129-E07FBB100C6B}"/>
              </a:ext>
            </a:extLst>
          </p:cNvPr>
          <p:cNvCxnSpPr/>
          <p:nvPr/>
        </p:nvCxnSpPr>
        <p:spPr bwMode="auto">
          <a:xfrm>
            <a:off x="6120110" y="328498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02B1888-744A-4303-BAFE-7A7536EB2C90}"/>
              </a:ext>
            </a:extLst>
          </p:cNvPr>
          <p:cNvCxnSpPr/>
          <p:nvPr/>
        </p:nvCxnSpPr>
        <p:spPr bwMode="auto">
          <a:xfrm>
            <a:off x="6094660" y="3789040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AF837CE-3D8B-4DB7-AF38-0E8ABF15F42A}"/>
              </a:ext>
            </a:extLst>
          </p:cNvPr>
          <p:cNvCxnSpPr/>
          <p:nvPr/>
        </p:nvCxnSpPr>
        <p:spPr bwMode="auto">
          <a:xfrm>
            <a:off x="6118770" y="3933056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245D08F-7920-4615-A60F-E56BDCDE3386}"/>
              </a:ext>
            </a:extLst>
          </p:cNvPr>
          <p:cNvCxnSpPr/>
          <p:nvPr/>
        </p:nvCxnSpPr>
        <p:spPr bwMode="auto">
          <a:xfrm>
            <a:off x="6098480" y="4365104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1A9ACC4-DB09-48CF-BCE7-707923A84B1E}"/>
              </a:ext>
            </a:extLst>
          </p:cNvPr>
          <p:cNvCxnSpPr/>
          <p:nvPr/>
        </p:nvCxnSpPr>
        <p:spPr bwMode="auto">
          <a:xfrm>
            <a:off x="6098480" y="4221088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4748C75-4450-40DD-B973-045D02821AC8}"/>
              </a:ext>
            </a:extLst>
          </p:cNvPr>
          <p:cNvCxnSpPr/>
          <p:nvPr/>
        </p:nvCxnSpPr>
        <p:spPr bwMode="auto">
          <a:xfrm>
            <a:off x="6111180" y="4077072"/>
            <a:ext cx="284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63F3A77C-0E27-43E7-B1F4-F7CE851060C5}"/>
              </a:ext>
            </a:extLst>
          </p:cNvPr>
          <p:cNvSpPr txBox="1"/>
          <p:nvPr/>
        </p:nvSpPr>
        <p:spPr>
          <a:xfrm>
            <a:off x="5355492" y="3933056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AC2195F-8C2D-47BB-9D44-5932E3C05A69}"/>
              </a:ext>
            </a:extLst>
          </p:cNvPr>
          <p:cNvCxnSpPr>
            <a:cxnSpLocks/>
          </p:cNvCxnSpPr>
          <p:nvPr/>
        </p:nvCxnSpPr>
        <p:spPr bwMode="auto">
          <a:xfrm flipH="1">
            <a:off x="5673079" y="4133344"/>
            <a:ext cx="73908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思想气泡: 云 50">
            <a:extLst>
              <a:ext uri="{FF2B5EF4-FFF2-40B4-BE49-F238E27FC236}">
                <a16:creationId xmlns:a16="http://schemas.microsoft.com/office/drawing/2014/main" id="{CCBB34C2-F3CF-4C72-9DBA-422547FE85F9}"/>
              </a:ext>
            </a:extLst>
          </p:cNvPr>
          <p:cNvSpPr/>
          <p:nvPr/>
        </p:nvSpPr>
        <p:spPr bwMode="auto">
          <a:xfrm>
            <a:off x="1219052" y="4500870"/>
            <a:ext cx="4032448" cy="710788"/>
          </a:xfrm>
          <a:prstGeom prst="cloudCallout">
            <a:avLst>
              <a:gd name="adj1" fmla="val 77313"/>
              <a:gd name="adj2" fmla="val -101219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X=1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时候是极值点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41BFC8D-FDC1-4884-9A12-9D8797F41799}"/>
              </a:ext>
            </a:extLst>
          </p:cNvPr>
          <p:cNvSpPr txBox="1"/>
          <p:nvPr/>
        </p:nvSpPr>
        <p:spPr>
          <a:xfrm>
            <a:off x="5446004" y="4838614"/>
            <a:ext cx="42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9562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9" grpId="0"/>
      <p:bldP spid="47" grpId="0"/>
      <p:bldP spid="51" grpId="0" animBg="1"/>
      <p:bldP spid="5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2C075-05A3-4A4E-822E-ECFCB78D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1C881C-511D-49FC-A654-7F61C6FD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DCE485-7500-4E13-A5E8-C42D43E4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6AF536B-FFFD-4D86-A223-0F5B74724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223109"/>
              </p:ext>
            </p:extLst>
          </p:nvPr>
        </p:nvGraphicFramePr>
        <p:xfrm>
          <a:off x="6267573" y="-45244"/>
          <a:ext cx="35099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427CF81-0762-4DFC-A2E5-0A4FC05C1F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67573" y="-45244"/>
                        <a:ext cx="3509963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D33BBDF-9DB0-4195-A543-80041AF91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98865"/>
              </p:ext>
            </p:extLst>
          </p:nvPr>
        </p:nvGraphicFramePr>
        <p:xfrm>
          <a:off x="58044" y="1689775"/>
          <a:ext cx="9848925" cy="1096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28920" imgH="469800" progId="Equation.DSMT4">
                  <p:embed/>
                </p:oleObj>
              </mc:Choice>
              <mc:Fallback>
                <p:oleObj name="Equation" r:id="rId4" imgW="422892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FF0E7-41B7-4590-AF45-37216FD12C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044" y="1689775"/>
                        <a:ext cx="9848925" cy="1096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4A24356-0C3C-4CDB-AC5C-B40AE0A18216}"/>
              </a:ext>
            </a:extLst>
          </p:cNvPr>
          <p:cNvSpPr txBox="1"/>
          <p:nvPr/>
        </p:nvSpPr>
        <p:spPr>
          <a:xfrm>
            <a:off x="58044" y="122811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构造外罚函数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EC92039-21F4-42E1-AC5A-4ECF81DBEE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794767"/>
              </p:ext>
            </p:extLst>
          </p:nvPr>
        </p:nvGraphicFramePr>
        <p:xfrm>
          <a:off x="950337" y="3429000"/>
          <a:ext cx="227806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304560" progId="Equation.DSMT4">
                  <p:embed/>
                </p:oleObj>
              </mc:Choice>
              <mc:Fallback>
                <p:oleObj name="Equation" r:id="rId6" imgW="977760" imgH="304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D33BBDF-9DB0-4195-A543-80041AF911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0337" y="3429000"/>
                        <a:ext cx="2278063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D52ABD3-8E66-4C82-B77F-68DDAD1C1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353218"/>
              </p:ext>
            </p:extLst>
          </p:nvPr>
        </p:nvGraphicFramePr>
        <p:xfrm>
          <a:off x="313996" y="2840038"/>
          <a:ext cx="2530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253800" progId="Equation.DSMT4">
                  <p:embed/>
                </p:oleObj>
              </mc:Choice>
              <mc:Fallback>
                <p:oleObj name="Equation" r:id="rId8" imgW="1091880" imgH="2538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90C0892-196C-407A-82BE-027FA14D30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3996" y="2840038"/>
                        <a:ext cx="2530475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07723D9-2A00-4DD4-8017-1559FE24A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599025"/>
              </p:ext>
            </p:extLst>
          </p:nvPr>
        </p:nvGraphicFramePr>
        <p:xfrm>
          <a:off x="313996" y="4191863"/>
          <a:ext cx="2530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253800" progId="Equation.DSMT4">
                  <p:embed/>
                </p:oleObj>
              </mc:Choice>
              <mc:Fallback>
                <p:oleObj name="Equation" r:id="rId10" imgW="1091880" imgH="2538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683F3F4-4382-429B-BE1E-6C73735A2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3996" y="4191863"/>
                        <a:ext cx="2530475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1FB5535-F374-492C-AD2F-54D8C3299F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44398"/>
              </p:ext>
            </p:extLst>
          </p:nvPr>
        </p:nvGraphicFramePr>
        <p:xfrm>
          <a:off x="848544" y="4834853"/>
          <a:ext cx="43195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54000" imgH="304560" progId="Equation.DSMT4">
                  <p:embed/>
                </p:oleObj>
              </mc:Choice>
              <mc:Fallback>
                <p:oleObj name="Equation" r:id="rId12" imgW="1854000" imgH="304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EC92039-21F4-42E1-AC5A-4ECF81DBE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48544" y="4834853"/>
                        <a:ext cx="4319588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00D491CE-ED44-4051-81F5-DBC2AAAC8945}"/>
              </a:ext>
            </a:extLst>
          </p:cNvPr>
          <p:cNvSpPr/>
          <p:nvPr/>
        </p:nvSpPr>
        <p:spPr bwMode="auto">
          <a:xfrm>
            <a:off x="794923" y="3382081"/>
            <a:ext cx="2588890" cy="782829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01D966A-0037-49C8-86A3-92735A383373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 flipV="1">
            <a:off x="3383813" y="3328253"/>
            <a:ext cx="1713203" cy="4452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52CC83D-1C8F-44F9-A1FE-D0397660BA11}"/>
              </a:ext>
            </a:extLst>
          </p:cNvPr>
          <p:cNvSpPr txBox="1"/>
          <p:nvPr/>
        </p:nvSpPr>
        <p:spPr>
          <a:xfrm>
            <a:off x="5119293" y="2699734"/>
            <a:ext cx="2845052" cy="1938992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本题是特例，在可行域内进行迭代可以得到最优解，但是很多时候这种情况下是无法得到最优解的，因此往往是从可行域外进行迭代</a:t>
            </a:r>
          </a:p>
        </p:txBody>
      </p:sp>
    </p:spTree>
    <p:extLst>
      <p:ext uri="{BB962C8B-B14F-4D97-AF65-F5344CB8AC3E}">
        <p14:creationId xmlns:p14="http://schemas.microsoft.com/office/powerpoint/2010/main" val="207319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2C075-05A3-4A4E-822E-ECFCB78D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1C881C-511D-49FC-A654-7F61C6FD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DCE485-7500-4E13-A5E8-C42D43E4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6AF536B-FFFD-4D86-A223-0F5B74724D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7573" y="-45244"/>
          <a:ext cx="35099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6AF536B-FFFD-4D86-A223-0F5B74724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67573" y="-45244"/>
                        <a:ext cx="3509963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1FB5535-F374-492C-AD2F-54D8C3299F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998661"/>
              </p:ext>
            </p:extLst>
          </p:nvPr>
        </p:nvGraphicFramePr>
        <p:xfrm>
          <a:off x="598202" y="1243538"/>
          <a:ext cx="43195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000" imgH="304560" progId="Equation.DSMT4">
                  <p:embed/>
                </p:oleObj>
              </mc:Choice>
              <mc:Fallback>
                <p:oleObj name="Equation" r:id="rId4" imgW="1854000" imgH="304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1FB5535-F374-492C-AD2F-54D8C3299F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8202" y="1243538"/>
                        <a:ext cx="4319588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494AF98-F9FC-4F7F-86D0-11CA97D138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912185"/>
              </p:ext>
            </p:extLst>
          </p:nvPr>
        </p:nvGraphicFramePr>
        <p:xfrm>
          <a:off x="371475" y="2020888"/>
          <a:ext cx="28987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304560" progId="Equation.DSMT4">
                  <p:embed/>
                </p:oleObj>
              </mc:Choice>
              <mc:Fallback>
                <p:oleObj name="Equation" r:id="rId6" imgW="1091880" imgH="304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C37C02EF-1199-480D-8270-639DF3D0E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1475" y="2020888"/>
                        <a:ext cx="2898775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48D7131-D3D2-410C-8FA6-9AAD1F7DF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780838"/>
              </p:ext>
            </p:extLst>
          </p:nvPr>
        </p:nvGraphicFramePr>
        <p:xfrm>
          <a:off x="81138" y="2877677"/>
          <a:ext cx="61325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11200" imgH="304560" progId="Equation.DSMT4">
                  <p:embed/>
                </p:oleObj>
              </mc:Choice>
              <mc:Fallback>
                <p:oleObj name="Equation" r:id="rId8" imgW="2311200" imgH="30456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05DEBA64-EAD1-453C-A611-947ED837FC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1138" y="2877677"/>
                        <a:ext cx="6132513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CD024CD-9CCF-4A8B-8516-6719AA1C4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739423"/>
              </p:ext>
            </p:extLst>
          </p:nvPr>
        </p:nvGraphicFramePr>
        <p:xfrm>
          <a:off x="19050" y="4060825"/>
          <a:ext cx="2900363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406080" progId="Equation.DSMT4">
                  <p:embed/>
                </p:oleObj>
              </mc:Choice>
              <mc:Fallback>
                <p:oleObj name="Equation" r:id="rId10" imgW="1091880" imgH="40608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83653291-CE8C-4866-9B8E-3CD372B0B1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050" y="4060825"/>
                        <a:ext cx="2900363" cy="1081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390B142-8808-4357-A832-E46768A811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149413"/>
              </p:ext>
            </p:extLst>
          </p:nvPr>
        </p:nvGraphicFramePr>
        <p:xfrm>
          <a:off x="4032015" y="4059238"/>
          <a:ext cx="225742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0680" imgH="406080" progId="Equation.DSMT4">
                  <p:embed/>
                </p:oleObj>
              </mc:Choice>
              <mc:Fallback>
                <p:oleObj name="Equation" r:id="rId12" imgW="850680" imgH="4060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0F5E0BAD-7505-48B5-8A59-CE50F69418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32015" y="4059238"/>
                        <a:ext cx="2257425" cy="1082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箭头: 右 20">
            <a:extLst>
              <a:ext uri="{FF2B5EF4-FFF2-40B4-BE49-F238E27FC236}">
                <a16:creationId xmlns:a16="http://schemas.microsoft.com/office/drawing/2014/main" id="{AB388663-13DF-4BDF-B91B-779F3DE647E1}"/>
              </a:ext>
            </a:extLst>
          </p:cNvPr>
          <p:cNvSpPr/>
          <p:nvPr/>
        </p:nvSpPr>
        <p:spPr bwMode="auto">
          <a:xfrm>
            <a:off x="3088326" y="4382322"/>
            <a:ext cx="761076" cy="45583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29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2C075-05A3-4A4E-822E-ECFCB78D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1C881C-511D-49FC-A654-7F61C6FD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DCE485-7500-4E13-A5E8-C42D43E4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6AF536B-FFFD-4D86-A223-0F5B74724D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7573" y="-45244"/>
          <a:ext cx="35099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6AF536B-FFFD-4D86-A223-0F5B74724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67573" y="-45244"/>
                        <a:ext cx="3509963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390B142-8808-4357-A832-E46768A811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45557"/>
              </p:ext>
            </p:extLst>
          </p:nvPr>
        </p:nvGraphicFramePr>
        <p:xfrm>
          <a:off x="583084" y="1052736"/>
          <a:ext cx="24257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406080" progId="Equation.DSMT4">
                  <p:embed/>
                </p:oleObj>
              </mc:Choice>
              <mc:Fallback>
                <p:oleObj name="Equation" r:id="rId4" imgW="914400" imgH="4060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1390B142-8808-4357-A832-E46768A811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3084" y="1052736"/>
                        <a:ext cx="2425700" cy="1082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C9F40AD-FDEE-427A-A0F2-C309144D5A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425173"/>
              </p:ext>
            </p:extLst>
          </p:nvPr>
        </p:nvGraphicFramePr>
        <p:xfrm>
          <a:off x="750888" y="1862138"/>
          <a:ext cx="8128000" cy="243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60360" imgH="914400" progId="Equation.DSMT4">
                  <p:embed/>
                </p:oleObj>
              </mc:Choice>
              <mc:Fallback>
                <p:oleObj name="Equation" r:id="rId6" imgW="3060360" imgH="914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9060EDB-3C27-4F7E-84D6-E8CD97B5A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0888" y="1862138"/>
                        <a:ext cx="8128000" cy="2430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3ECF4DE7-269C-4F7E-ACEE-EAF63C630EE7}"/>
              </a:ext>
            </a:extLst>
          </p:cNvPr>
          <p:cNvSpPr/>
          <p:nvPr/>
        </p:nvSpPr>
        <p:spPr>
          <a:xfrm>
            <a:off x="52021" y="4566957"/>
            <a:ext cx="4432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令：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5775DE0-F11D-4A14-84B3-906974A4F3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532240"/>
              </p:ext>
            </p:extLst>
          </p:nvPr>
        </p:nvGraphicFramePr>
        <p:xfrm>
          <a:off x="577850" y="4365625"/>
          <a:ext cx="2078038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240" imgH="215640" progId="Equation.DSMT4">
                  <p:embed/>
                </p:oleObj>
              </mc:Choice>
              <mc:Fallback>
                <p:oleObj name="Equation" r:id="rId8" imgW="660240" imgH="2156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FAFC92F-037E-4530-B6B3-6B1AD09BD6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7850" y="4365625"/>
                        <a:ext cx="2078038" cy="681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9D360F13-CBE8-4E7A-8E9A-3150C820F7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571267"/>
              </p:ext>
            </p:extLst>
          </p:nvPr>
        </p:nvGraphicFramePr>
        <p:xfrm>
          <a:off x="3768201" y="4513704"/>
          <a:ext cx="140017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4240" imgH="203040" progId="Equation.DSMT4">
                  <p:embed/>
                </p:oleObj>
              </mc:Choice>
              <mc:Fallback>
                <p:oleObj name="Equation" r:id="rId10" imgW="444240" imgH="203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1767565-A8D4-4756-8D8A-D1DD89F30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68201" y="4513704"/>
                        <a:ext cx="1400175" cy="639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BD370A9-1B64-4D3D-A7AE-F7494C9A1B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880028"/>
              </p:ext>
            </p:extLst>
          </p:nvPr>
        </p:nvGraphicFramePr>
        <p:xfrm>
          <a:off x="5765367" y="4445793"/>
          <a:ext cx="21605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85800" imgH="279360" progId="Equation.DSMT4">
                  <p:embed/>
                </p:oleObj>
              </mc:Choice>
              <mc:Fallback>
                <p:oleObj name="Equation" r:id="rId12" imgW="685800" imgH="2793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3569715-0E30-47B2-8B87-5088EBBC65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65367" y="4445793"/>
                        <a:ext cx="2160587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箭头: 右 23">
            <a:extLst>
              <a:ext uri="{FF2B5EF4-FFF2-40B4-BE49-F238E27FC236}">
                <a16:creationId xmlns:a16="http://schemas.microsoft.com/office/drawing/2014/main" id="{79BE8FD5-DD9A-469B-910F-53B7002191AE}"/>
              </a:ext>
            </a:extLst>
          </p:cNvPr>
          <p:cNvSpPr/>
          <p:nvPr/>
        </p:nvSpPr>
        <p:spPr bwMode="auto">
          <a:xfrm>
            <a:off x="2819233" y="4635102"/>
            <a:ext cx="761076" cy="45583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15FCE71-0973-4756-8491-7988F361B91A}"/>
              </a:ext>
            </a:extLst>
          </p:cNvPr>
          <p:cNvSpPr txBox="1"/>
          <p:nvPr/>
        </p:nvSpPr>
        <p:spPr>
          <a:xfrm>
            <a:off x="1051977" y="536675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最优点为：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553DF16D-B93D-4E85-B606-FB42DD0A9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423527"/>
              </p:ext>
            </p:extLst>
          </p:nvPr>
        </p:nvGraphicFramePr>
        <p:xfrm>
          <a:off x="2721092" y="5237510"/>
          <a:ext cx="103981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120" imgH="203040" progId="Equation.DSMT4">
                  <p:embed/>
                </p:oleObj>
              </mc:Choice>
              <mc:Fallback>
                <p:oleObj name="Equation" r:id="rId14" imgW="33012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5595141-E958-4DE3-BDF6-63CE2DF40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21092" y="5237510"/>
                        <a:ext cx="1039813" cy="639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84350737-BF5A-4B90-BA0D-DC1B7E0310B1}"/>
              </a:ext>
            </a:extLst>
          </p:cNvPr>
          <p:cNvSpPr txBox="1"/>
          <p:nvPr/>
        </p:nvSpPr>
        <p:spPr>
          <a:xfrm>
            <a:off x="4041818" y="537449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最优值为：</a:t>
            </a: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C565B437-7133-4DD3-BFBE-D771434C6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102493"/>
              </p:ext>
            </p:extLst>
          </p:nvPr>
        </p:nvGraphicFramePr>
        <p:xfrm>
          <a:off x="5765367" y="5237510"/>
          <a:ext cx="1681162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33160" imgH="253800" progId="Equation.DSMT4">
                  <p:embed/>
                </p:oleObj>
              </mc:Choice>
              <mc:Fallback>
                <p:oleObj name="Equation" r:id="rId16" imgW="533160" imgH="2538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ABD370A9-1B64-4D3D-A7AE-F7494C9A1B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65367" y="5237510"/>
                        <a:ext cx="1681162" cy="79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032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 animBg="1"/>
      <p:bldP spid="25" grpId="0"/>
      <p:bldP spid="2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04081-0666-4607-A500-2673644D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F84056-6A17-4655-9999-60FE15DA2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迭代过程：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9D6EFE-86FA-4B5A-9E10-5D618B22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B6654E-657D-47D5-939F-E92B3525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34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1C25B4B-1982-4113-AA2F-738642D28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17523"/>
              </p:ext>
            </p:extLst>
          </p:nvPr>
        </p:nvGraphicFramePr>
        <p:xfrm>
          <a:off x="46592" y="1774010"/>
          <a:ext cx="87534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98800" imgH="482400" progId="Equation.DSMT4">
                  <p:embed/>
                </p:oleObj>
              </mc:Choice>
              <mc:Fallback>
                <p:oleObj name="Equation" r:id="rId2" imgW="3898800" imgH="482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DA1BBFD1-D3F0-41E9-A52C-2EA2D87E8D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92" y="1774010"/>
                        <a:ext cx="8753475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B756D99-E48A-40C0-AE00-9B56A5739174}"/>
              </a:ext>
            </a:extLst>
          </p:cNvPr>
          <p:cNvSpPr txBox="1"/>
          <p:nvPr/>
        </p:nvSpPr>
        <p:spPr>
          <a:xfrm>
            <a:off x="550714" y="2895590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取可行域内任意一点（如果题目没有具体指明）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E22D37-8579-4BA8-AE62-6E1BB8B67B70}"/>
              </a:ext>
            </a:extLst>
          </p:cNvPr>
          <p:cNvSpPr txBox="1"/>
          <p:nvPr/>
        </p:nvSpPr>
        <p:spPr>
          <a:xfrm>
            <a:off x="550714" y="3573016"/>
            <a:ext cx="6511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初始罚因子默认为</a:t>
            </a:r>
            <a:r>
              <a:rPr lang="en-US" altLang="zh-CN" sz="2400" dirty="0"/>
              <a:t>1</a:t>
            </a:r>
            <a:r>
              <a:rPr lang="zh-CN" altLang="en-US" sz="2400" dirty="0"/>
              <a:t>（如果题目没有具体指明）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43D74E5-BB80-43E4-82DA-B028BB1E5A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784799"/>
              </p:ext>
            </p:extLst>
          </p:nvPr>
        </p:nvGraphicFramePr>
        <p:xfrm>
          <a:off x="1852352" y="4026646"/>
          <a:ext cx="10810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400" imgH="203040" progId="Equation.DSMT4">
                  <p:embed/>
                </p:oleObj>
              </mc:Choice>
              <mc:Fallback>
                <p:oleObj name="Equation" r:id="rId4" imgW="482400" imgH="2030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D078860-0912-43EF-B497-7C8215585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52352" y="4026646"/>
                        <a:ext cx="1081087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B4A30E0-D526-4195-90B9-9234B3863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108630"/>
              </p:ext>
            </p:extLst>
          </p:nvPr>
        </p:nvGraphicFramePr>
        <p:xfrm>
          <a:off x="1888344" y="4918143"/>
          <a:ext cx="7112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160" imgH="177480" progId="Equation.DSMT4">
                  <p:embed/>
                </p:oleObj>
              </mc:Choice>
              <mc:Fallback>
                <p:oleObj name="Equation" r:id="rId6" imgW="317160" imgH="177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75697E85-E624-46B2-8D72-ADBA151B60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88344" y="4918143"/>
                        <a:ext cx="7112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BF6A7F9-2C3D-467D-A878-C4CD4D5BC7CB}"/>
              </a:ext>
            </a:extLst>
          </p:cNvPr>
          <p:cNvSpPr txBox="1"/>
          <p:nvPr/>
        </p:nvSpPr>
        <p:spPr>
          <a:xfrm>
            <a:off x="556545" y="5355137"/>
            <a:ext cx="658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收敛精度默认为</a:t>
            </a:r>
            <a:r>
              <a:rPr lang="en-US" altLang="zh-CN" sz="2400" dirty="0"/>
              <a:t>10</a:t>
            </a:r>
            <a:r>
              <a:rPr lang="en-US" altLang="zh-CN" sz="2400" baseline="30000" dirty="0"/>
              <a:t>-8</a:t>
            </a:r>
            <a:r>
              <a:rPr lang="zh-CN" altLang="en-US" sz="2400" dirty="0"/>
              <a:t>（如果题目没有具体指明）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943D746-5748-4DCD-9514-F39874CAEC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567493"/>
              </p:ext>
            </p:extLst>
          </p:nvPr>
        </p:nvGraphicFramePr>
        <p:xfrm>
          <a:off x="1888344" y="5707694"/>
          <a:ext cx="20780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177480" progId="Equation.DSMT4">
                  <p:embed/>
                </p:oleObj>
              </mc:Choice>
              <mc:Fallback>
                <p:oleObj name="Equation" r:id="rId8" imgW="92700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D7F5ABD-1425-41F7-8B5B-8612979C06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88344" y="5707694"/>
                        <a:ext cx="20780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0E14289C-DC66-4509-8080-276E01641E38}"/>
              </a:ext>
            </a:extLst>
          </p:cNvPr>
          <p:cNvSpPr txBox="1"/>
          <p:nvPr/>
        </p:nvSpPr>
        <p:spPr>
          <a:xfrm>
            <a:off x="550713" y="4447482"/>
            <a:ext cx="7742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初始罚因子递增系数默认为</a:t>
            </a:r>
            <a:r>
              <a:rPr lang="en-US" altLang="zh-CN" sz="2400" dirty="0"/>
              <a:t>2</a:t>
            </a:r>
            <a:r>
              <a:rPr lang="zh-CN" altLang="en-US" sz="2400" dirty="0"/>
              <a:t>（如果题目没有具体指明）</a:t>
            </a:r>
          </a:p>
        </p:txBody>
      </p:sp>
    </p:spTree>
    <p:extLst>
      <p:ext uri="{BB962C8B-B14F-4D97-AF65-F5344CB8AC3E}">
        <p14:creationId xmlns:p14="http://schemas.microsoft.com/office/powerpoint/2010/main" val="425495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11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2647B-7DCE-4953-86DD-4F3883C7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5D556-2328-471C-8340-BE3C07D6F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迭代过程：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390507-C158-4D5E-8FD3-F39C3B52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784460-FDF2-4AB5-9CFD-31A8F21B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35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E935606-8FC4-4216-8464-922CB4D21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457354"/>
              </p:ext>
            </p:extLst>
          </p:nvPr>
        </p:nvGraphicFramePr>
        <p:xfrm>
          <a:off x="0" y="2782494"/>
          <a:ext cx="1867931" cy="319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203040" progId="Equation.DSMT4">
                  <p:embed/>
                </p:oleObj>
              </mc:Choice>
              <mc:Fallback>
                <p:oleObj name="Equation" r:id="rId2" imgW="118080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E935606-8FC4-4216-8464-922CB4D21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2782494"/>
                        <a:ext cx="1867931" cy="3198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BF4ACC7-47E8-4A08-9B04-1B3E548DE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15990"/>
              </p:ext>
            </p:extLst>
          </p:nvPr>
        </p:nvGraphicFramePr>
        <p:xfrm>
          <a:off x="0" y="3978412"/>
          <a:ext cx="745648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65560" imgH="304560" progId="Equation.DSMT4">
                  <p:embed/>
                </p:oleObj>
              </mc:Choice>
              <mc:Fallback>
                <p:oleObj name="Equation" r:id="rId4" imgW="4165560" imgH="304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BF4ACC7-47E8-4A08-9B04-1B3E548DE9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3978412"/>
                        <a:ext cx="7456488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AFC12E3-FD92-4980-B6CE-A1AA77B9EE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039854"/>
              </p:ext>
            </p:extLst>
          </p:nvPr>
        </p:nvGraphicFramePr>
        <p:xfrm>
          <a:off x="-24098" y="4606941"/>
          <a:ext cx="9883776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43600" imgH="469800" progId="Equation.DSMT4">
                  <p:embed/>
                </p:oleObj>
              </mc:Choice>
              <mc:Fallback>
                <p:oleObj name="Equation" r:id="rId6" imgW="5943600" imgH="4698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AFC12E3-FD92-4980-B6CE-A1AA77B9EE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-24098" y="4606941"/>
                        <a:ext cx="9883776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305CF0B-53D4-4AD8-8A67-32E4E021CC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072240"/>
              </p:ext>
            </p:extLst>
          </p:nvPr>
        </p:nvGraphicFramePr>
        <p:xfrm>
          <a:off x="6928" y="5990782"/>
          <a:ext cx="65960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00320" imgH="304560" progId="Equation.DSMT4">
                  <p:embed/>
                </p:oleObj>
              </mc:Choice>
              <mc:Fallback>
                <p:oleObj name="Equation" r:id="rId8" imgW="4000320" imgH="304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305CF0B-53D4-4AD8-8A67-32E4E021CC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28" y="5990782"/>
                        <a:ext cx="6596063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D914D73-86D0-4517-A880-1559FCDC5C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094512"/>
              </p:ext>
            </p:extLst>
          </p:nvPr>
        </p:nvGraphicFramePr>
        <p:xfrm>
          <a:off x="0" y="1954424"/>
          <a:ext cx="6551140" cy="807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98800" imgH="482400" progId="Equation.DSMT4">
                  <p:embed/>
                </p:oleObj>
              </mc:Choice>
              <mc:Fallback>
                <p:oleObj name="Equation" r:id="rId10" imgW="389880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1C25B4B-1982-4113-AA2F-738642D286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0" y="1954424"/>
                        <a:ext cx="6551140" cy="807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5D0673B-CA89-426C-B6B0-9CA1358094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477708"/>
              </p:ext>
            </p:extLst>
          </p:nvPr>
        </p:nvGraphicFramePr>
        <p:xfrm>
          <a:off x="434023" y="3068960"/>
          <a:ext cx="7771267" cy="860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228920" imgH="469800" progId="Equation.DSMT4">
                  <p:embed/>
                </p:oleObj>
              </mc:Choice>
              <mc:Fallback>
                <p:oleObj name="Equation" r:id="rId12" imgW="4228920" imgH="469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E935606-8FC4-4216-8464-922CB4D21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4023" y="3068960"/>
                        <a:ext cx="7771267" cy="860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950449B-AF95-4108-B007-F0D9CB766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352734"/>
              </p:ext>
            </p:extLst>
          </p:nvPr>
        </p:nvGraphicFramePr>
        <p:xfrm>
          <a:off x="347663" y="5373688"/>
          <a:ext cx="5913437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22480" imgH="330120" progId="Equation.DSMT4">
                  <p:embed/>
                </p:oleObj>
              </mc:Choice>
              <mc:Fallback>
                <p:oleObj name="Equation" r:id="rId14" imgW="3822480" imgH="3301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AFC12E3-FD92-4980-B6CE-A1AA77B9EE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7663" y="5373688"/>
                        <a:ext cx="5913437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652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C6733-EA0B-4ED4-853B-B7A859EB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66D6A1-478E-48D2-9CE2-C84A8E2AD2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注意事项：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如果优化问题无法用解析法求解，则需要用无约束优化方法进行数值迭代。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外罚函数法的初始点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可以是可行域内，也可以以是可行域外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外罚函数法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可以适用于等式、不等式约束问题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zh-CN" altLang="en-US" dirty="0"/>
                  <a:t>初始罚因子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和递增系数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的选择对于算法性能影响较大。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外罚函数法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得到的是近似解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66D6A1-478E-48D2-9CE2-C84A8E2AD2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 b="-5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DB344-6330-4A0B-905E-A77DCE7E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1F168A-6DCC-458A-8741-D1BE9607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001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014E3-FBCC-49DB-B084-D38BB46D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外罚函数法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0983F-FDAC-4A67-97F4-8E3E36B45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：用外罚函数法求解下列问题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DB6292-638D-48FF-9598-9F240788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BF8903-0579-4BDF-8537-539A0765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9815682-67CE-474A-9089-CCFC44F84B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242007"/>
              </p:ext>
            </p:extLst>
          </p:nvPr>
        </p:nvGraphicFramePr>
        <p:xfrm>
          <a:off x="1928664" y="1916832"/>
          <a:ext cx="4427537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482400" progId="Equation.DSMT4">
                  <p:embed/>
                </p:oleObj>
              </mc:Choice>
              <mc:Fallback>
                <p:oleObj name="Equation" r:id="rId2" imgW="1688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28664" y="1916832"/>
                        <a:ext cx="4427537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795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E5827-E106-49AF-A9A6-820D092D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：解（解析法）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5A52D-9314-4553-B667-23B96EAA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EDEE6E-1ADF-456B-B5BA-E0053A51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38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0E7311B-B55A-441F-93B6-DC09C5234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503587"/>
              </p:ext>
            </p:extLst>
          </p:nvPr>
        </p:nvGraphicFramePr>
        <p:xfrm>
          <a:off x="5961112" y="0"/>
          <a:ext cx="3702972" cy="1056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482400" progId="Equation.DSMT4">
                  <p:embed/>
                </p:oleObj>
              </mc:Choice>
              <mc:Fallback>
                <p:oleObj name="Equation" r:id="rId2" imgW="168876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9815682-67CE-474A-9089-CCFC44F84B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61112" y="0"/>
                        <a:ext cx="3702972" cy="1056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FE25F77-D31D-4B26-83E6-45B25230E7D6}"/>
              </a:ext>
            </a:extLst>
          </p:cNvPr>
          <p:cNvSpPr txBox="1"/>
          <p:nvPr/>
        </p:nvSpPr>
        <p:spPr>
          <a:xfrm>
            <a:off x="0" y="118685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构造外罚函数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4D35997-511E-4F83-9D82-F2E93D59D1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560547"/>
              </p:ext>
            </p:extLst>
          </p:nvPr>
        </p:nvGraphicFramePr>
        <p:xfrm>
          <a:off x="284286" y="1484784"/>
          <a:ext cx="94932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28920" imgH="469800" progId="Equation.DSMT4">
                  <p:embed/>
                </p:oleObj>
              </mc:Choice>
              <mc:Fallback>
                <p:oleObj name="Equation" r:id="rId4" imgW="4228920" imgH="469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5D0673B-CA89-426C-B6B0-9CA1358094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286" y="1484784"/>
                        <a:ext cx="9493250" cy="105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3F79E6C-74D7-4BE1-96E6-F6147D311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725693"/>
              </p:ext>
            </p:extLst>
          </p:nvPr>
        </p:nvGraphicFramePr>
        <p:xfrm>
          <a:off x="181406" y="2599351"/>
          <a:ext cx="3117851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040" imgH="228600" progId="Equation.DSMT4">
                  <p:embed/>
                </p:oleObj>
              </mc:Choice>
              <mc:Fallback>
                <p:oleObj name="Equation" r:id="rId6" imgW="1346040" imgH="228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90C0892-196C-407A-82BE-027FA14D30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1406" y="2599351"/>
                        <a:ext cx="3117851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3EAB18E-3A4B-4FC9-931C-451E8D070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945397"/>
              </p:ext>
            </p:extLst>
          </p:nvPr>
        </p:nvGraphicFramePr>
        <p:xfrm>
          <a:off x="1077895" y="3232285"/>
          <a:ext cx="44640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7360" imgH="304560" progId="Equation.DSMT4">
                  <p:embed/>
                </p:oleObj>
              </mc:Choice>
              <mc:Fallback>
                <p:oleObj name="Equation" r:id="rId8" imgW="1917360" imgH="3045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6434BBB-6C8E-4906-8955-317F694BF1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77895" y="3232285"/>
                        <a:ext cx="446405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1955E00-9E87-4F87-AD2A-571785F89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19804"/>
              </p:ext>
            </p:extLst>
          </p:nvPr>
        </p:nvGraphicFramePr>
        <p:xfrm>
          <a:off x="1077895" y="4528033"/>
          <a:ext cx="5884863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27200" imgH="304560" progId="Equation.DSMT4">
                  <p:embed/>
                </p:oleObj>
              </mc:Choice>
              <mc:Fallback>
                <p:oleObj name="Equation" r:id="rId10" imgW="2527200" imgH="3045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74991BC-9835-4EB3-9982-0038EB88DD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77895" y="4528033"/>
                        <a:ext cx="5884863" cy="712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1E2FCCE-A4ED-483E-B8C3-A8E4146E66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329974"/>
              </p:ext>
            </p:extLst>
          </p:nvPr>
        </p:nvGraphicFramePr>
        <p:xfrm>
          <a:off x="181405" y="3984851"/>
          <a:ext cx="3117851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46040" imgH="228600" progId="Equation.DSMT4">
                  <p:embed/>
                </p:oleObj>
              </mc:Choice>
              <mc:Fallback>
                <p:oleObj name="Equation" r:id="rId12" imgW="1346040" imgH="228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683F3F4-4382-429B-BE1E-6C73735A2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1405" y="3984851"/>
                        <a:ext cx="3117851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D4763C4-73B8-47B3-B9F4-7043ACA4A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734447"/>
              </p:ext>
            </p:extLst>
          </p:nvPr>
        </p:nvGraphicFramePr>
        <p:xfrm>
          <a:off x="2735262" y="5406095"/>
          <a:ext cx="44354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4760" imgH="279360" progId="Equation.DSMT4">
                  <p:embed/>
                </p:oleObj>
              </mc:Choice>
              <mc:Fallback>
                <p:oleObj name="Equation" r:id="rId14" imgW="1904760" imgH="279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1955E00-9E87-4F87-AD2A-571785F89F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35262" y="5406095"/>
                        <a:ext cx="4435475" cy="65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909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E5827-E106-49AF-A9A6-820D092D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：解（解析法）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5A52D-9314-4553-B667-23B96EAA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EDEE6E-1ADF-456B-B5BA-E0053A51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0E7311B-B55A-441F-93B6-DC09C5234C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1112" y="0"/>
          <a:ext cx="3702972" cy="1056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482400" progId="Equation.DSMT4">
                  <p:embed/>
                </p:oleObj>
              </mc:Choice>
              <mc:Fallback>
                <p:oleObj name="Equation" r:id="rId2" imgW="168876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0E7311B-B55A-441F-93B6-DC09C5234C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61112" y="0"/>
                        <a:ext cx="3702972" cy="1056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3F79E6C-74D7-4BE1-96E6-F6147D311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298696"/>
              </p:ext>
            </p:extLst>
          </p:nvPr>
        </p:nvGraphicFramePr>
        <p:xfrm>
          <a:off x="145466" y="1217033"/>
          <a:ext cx="3117851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228600" progId="Equation.DSMT4">
                  <p:embed/>
                </p:oleObj>
              </mc:Choice>
              <mc:Fallback>
                <p:oleObj name="Equation" r:id="rId4" imgW="1346040" imgH="228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3F79E6C-74D7-4BE1-96E6-F6147D311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5466" y="1217033"/>
                        <a:ext cx="3117851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3EAB18E-3A4B-4FC9-931C-451E8D070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359609"/>
              </p:ext>
            </p:extLst>
          </p:nvPr>
        </p:nvGraphicFramePr>
        <p:xfrm>
          <a:off x="920552" y="1686786"/>
          <a:ext cx="44640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360" imgH="304560" progId="Equation.DSMT4">
                  <p:embed/>
                </p:oleObj>
              </mc:Choice>
              <mc:Fallback>
                <p:oleObj name="Equation" r:id="rId6" imgW="1917360" imgH="304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3EAB18E-3A4B-4FC9-931C-451E8D070B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0552" y="1686786"/>
                        <a:ext cx="446405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B14DF67-118B-4865-8FA9-46BF1254A4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902311"/>
              </p:ext>
            </p:extLst>
          </p:nvPr>
        </p:nvGraphicFramePr>
        <p:xfrm>
          <a:off x="868077" y="2506093"/>
          <a:ext cx="4049713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880" imgH="482400" progId="Equation.DSMT4">
                  <p:embed/>
                </p:oleObj>
              </mc:Choice>
              <mc:Fallback>
                <p:oleObj name="Equation" r:id="rId8" imgW="173988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3EAB18E-3A4B-4FC9-931C-451E8D070B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8077" y="2506093"/>
                        <a:ext cx="4049713" cy="1125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789BAE0-E10C-4BD3-AE69-341C838ED1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690325"/>
              </p:ext>
            </p:extLst>
          </p:nvPr>
        </p:nvGraphicFramePr>
        <p:xfrm>
          <a:off x="920552" y="3891375"/>
          <a:ext cx="30448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880" imgH="457200" progId="Equation.DSMT4">
                  <p:embed/>
                </p:oleObj>
              </mc:Choice>
              <mc:Fallback>
                <p:oleObj name="Equation" r:id="rId10" imgW="1307880" imgH="4572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B14DF67-118B-4865-8FA9-46BF1254A4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20552" y="3891375"/>
                        <a:ext cx="3044825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下弧形 2">
            <a:extLst>
              <a:ext uri="{FF2B5EF4-FFF2-40B4-BE49-F238E27FC236}">
                <a16:creationId xmlns:a16="http://schemas.microsoft.com/office/drawing/2014/main" id="{CDA75327-5756-4AE3-9881-177288248819}"/>
              </a:ext>
            </a:extLst>
          </p:cNvPr>
          <p:cNvSpPr/>
          <p:nvPr/>
        </p:nvSpPr>
        <p:spPr bwMode="auto">
          <a:xfrm rot="16200000">
            <a:off x="4681685" y="609568"/>
            <a:ext cx="3449346" cy="4727143"/>
          </a:xfrm>
          <a:prstGeom prst="curvedUpArrow">
            <a:avLst>
              <a:gd name="adj1" fmla="val 3623"/>
              <a:gd name="adj2" fmla="val 9908"/>
              <a:gd name="adj3" fmla="val 26829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爆炸形: 14 pt  15">
            <a:extLst>
              <a:ext uri="{FF2B5EF4-FFF2-40B4-BE49-F238E27FC236}">
                <a16:creationId xmlns:a16="http://schemas.microsoft.com/office/drawing/2014/main" id="{1DD3C074-C4DC-4540-8239-B963A882A5CD}"/>
              </a:ext>
            </a:extLst>
          </p:cNvPr>
          <p:cNvSpPr/>
          <p:nvPr/>
        </p:nvSpPr>
        <p:spPr bwMode="auto">
          <a:xfrm>
            <a:off x="4908169" y="2383058"/>
            <a:ext cx="3702972" cy="1589803"/>
          </a:xfrm>
          <a:prstGeom prst="irregularSeal2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不满足假定条件</a:t>
            </a:r>
          </a:p>
        </p:txBody>
      </p:sp>
    </p:spTree>
    <p:extLst>
      <p:ext uri="{BB962C8B-B14F-4D97-AF65-F5344CB8AC3E}">
        <p14:creationId xmlns:p14="http://schemas.microsoft.com/office/powerpoint/2010/main" val="379033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E5827-E106-49AF-A9A6-820D092D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：解（解析法）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5A52D-9314-4553-B667-23B96EAA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EDEE6E-1ADF-456B-B5BA-E0053A51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40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0E7311B-B55A-441F-93B6-DC09C5234C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1112" y="0"/>
          <a:ext cx="3702972" cy="1056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482400" progId="Equation.DSMT4">
                  <p:embed/>
                </p:oleObj>
              </mc:Choice>
              <mc:Fallback>
                <p:oleObj name="Equation" r:id="rId2" imgW="168876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0E7311B-B55A-441F-93B6-DC09C5234C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61112" y="0"/>
                        <a:ext cx="3702972" cy="1056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1955E00-9E87-4F87-AD2A-571785F89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713213"/>
              </p:ext>
            </p:extLst>
          </p:nvPr>
        </p:nvGraphicFramePr>
        <p:xfrm>
          <a:off x="944563" y="1668463"/>
          <a:ext cx="6151562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41320" imgH="304560" progId="Equation.DSMT4">
                  <p:embed/>
                </p:oleObj>
              </mc:Choice>
              <mc:Fallback>
                <p:oleObj name="Equation" r:id="rId4" imgW="2641320" imgH="304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1955E00-9E87-4F87-AD2A-571785F89F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4563" y="1668463"/>
                        <a:ext cx="6151562" cy="712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1E2FCCE-A4ED-483E-B8C3-A8E4146E66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263208"/>
              </p:ext>
            </p:extLst>
          </p:nvPr>
        </p:nvGraphicFramePr>
        <p:xfrm>
          <a:off x="181405" y="1124744"/>
          <a:ext cx="3117851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040" imgH="228600" progId="Equation.DSMT4">
                  <p:embed/>
                </p:oleObj>
              </mc:Choice>
              <mc:Fallback>
                <p:oleObj name="Equation" r:id="rId6" imgW="134604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1E2FCCE-A4ED-483E-B8C3-A8E4146E66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1405" y="1124744"/>
                        <a:ext cx="3117851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7ABE768-650B-4C2F-80C1-24EFE678E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875969"/>
              </p:ext>
            </p:extLst>
          </p:nvPr>
        </p:nvGraphicFramePr>
        <p:xfrm>
          <a:off x="58044" y="2436374"/>
          <a:ext cx="6888163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58840" imgH="558720" progId="Equation.DSMT4">
                  <p:embed/>
                </p:oleObj>
              </mc:Choice>
              <mc:Fallback>
                <p:oleObj name="Equation" r:id="rId8" imgW="2958840" imgH="558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B14DF67-118B-4865-8FA9-46BF1254A4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044" y="2436374"/>
                        <a:ext cx="6888163" cy="1303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D6DC1D6-BB80-493C-B274-DC02F4A5EA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462283"/>
              </p:ext>
            </p:extLst>
          </p:nvPr>
        </p:nvGraphicFramePr>
        <p:xfrm>
          <a:off x="181405" y="3912881"/>
          <a:ext cx="4019550" cy="130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26920" imgH="558720" progId="Equation.DSMT4">
                  <p:embed/>
                </p:oleObj>
              </mc:Choice>
              <mc:Fallback>
                <p:oleObj name="Equation" r:id="rId10" imgW="1726920" imgH="558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C7ABE768-650B-4C2F-80C1-24EFE678E5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1405" y="3912881"/>
                        <a:ext cx="4019550" cy="1303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929E721-1E0E-4B51-B652-9CF19EB29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817220"/>
              </p:ext>
            </p:extLst>
          </p:nvPr>
        </p:nvGraphicFramePr>
        <p:xfrm>
          <a:off x="5054700" y="3693450"/>
          <a:ext cx="3783013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25400" imgH="1269720" progId="Equation.DSMT4">
                  <p:embed/>
                </p:oleObj>
              </mc:Choice>
              <mc:Fallback>
                <p:oleObj name="Equation" r:id="rId12" imgW="1625400" imgH="1269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D6DC1D6-BB80-493C-B274-DC02F4A5EA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54700" y="3693450"/>
                        <a:ext cx="3783013" cy="2962275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C186CD25-83B6-403F-ABA7-0F4E4FB65401}"/>
              </a:ext>
            </a:extLst>
          </p:cNvPr>
          <p:cNvSpPr/>
          <p:nvPr/>
        </p:nvSpPr>
        <p:spPr bwMode="auto">
          <a:xfrm>
            <a:off x="4419374" y="4437112"/>
            <a:ext cx="546373" cy="4320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8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E5827-E106-49AF-A9A6-820D092D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：解（解析法）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5A52D-9314-4553-B667-23B96EAA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EDEE6E-1ADF-456B-B5BA-E0053A51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0E7311B-B55A-441F-93B6-DC09C5234C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1112" y="0"/>
          <a:ext cx="3702972" cy="1056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482400" progId="Equation.DSMT4">
                  <p:embed/>
                </p:oleObj>
              </mc:Choice>
              <mc:Fallback>
                <p:oleObj name="Equation" r:id="rId2" imgW="168876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0E7311B-B55A-441F-93B6-DC09C5234C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61112" y="0"/>
                        <a:ext cx="3702972" cy="1056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929E721-1E0E-4B51-B652-9CF19EB29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871432"/>
              </p:ext>
            </p:extLst>
          </p:nvPr>
        </p:nvGraphicFramePr>
        <p:xfrm>
          <a:off x="200472" y="1173217"/>
          <a:ext cx="3783013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1269720" progId="Equation.DSMT4">
                  <p:embed/>
                </p:oleObj>
              </mc:Choice>
              <mc:Fallback>
                <p:oleObj name="Equation" r:id="rId4" imgW="1625400" imgH="1269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929E721-1E0E-4B51-B652-9CF19EB29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0472" y="1173217"/>
                        <a:ext cx="3783013" cy="2962275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03574D4-3160-4D42-8475-300472ECAB95}"/>
              </a:ext>
            </a:extLst>
          </p:cNvPr>
          <p:cNvSpPr txBox="1"/>
          <p:nvPr/>
        </p:nvSpPr>
        <p:spPr>
          <a:xfrm>
            <a:off x="4376936" y="219268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令：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E3A1862-794A-428F-9A96-EF788B4D33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056079"/>
              </p:ext>
            </p:extLst>
          </p:nvPr>
        </p:nvGraphicFramePr>
        <p:xfrm>
          <a:off x="5154167" y="2149529"/>
          <a:ext cx="15367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240" imgH="215640" progId="Equation.DSMT4">
                  <p:embed/>
                </p:oleObj>
              </mc:Choice>
              <mc:Fallback>
                <p:oleObj name="Equation" r:id="rId6" imgW="660240" imgH="2156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1955E00-9E87-4F87-AD2A-571785F89F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54167" y="2149529"/>
                        <a:ext cx="153670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5D4BBA2-6D15-4629-BE22-7E38E81011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432757"/>
              </p:ext>
            </p:extLst>
          </p:nvPr>
        </p:nvGraphicFramePr>
        <p:xfrm>
          <a:off x="7617296" y="1559078"/>
          <a:ext cx="1004888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1640" imgH="812520" progId="Equation.DSMT4">
                  <p:embed/>
                </p:oleObj>
              </mc:Choice>
              <mc:Fallback>
                <p:oleObj name="Equation" r:id="rId8" imgW="431640" imgH="8125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929E721-1E0E-4B51-B652-9CF19EB29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17296" y="1559078"/>
                        <a:ext cx="1004888" cy="1895475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右 7">
            <a:extLst>
              <a:ext uri="{FF2B5EF4-FFF2-40B4-BE49-F238E27FC236}">
                <a16:creationId xmlns:a16="http://schemas.microsoft.com/office/drawing/2014/main" id="{DF1E9965-3950-4FBD-9784-D6D52710140C}"/>
              </a:ext>
            </a:extLst>
          </p:cNvPr>
          <p:cNvSpPr/>
          <p:nvPr/>
        </p:nvSpPr>
        <p:spPr bwMode="auto">
          <a:xfrm>
            <a:off x="6825208" y="2192689"/>
            <a:ext cx="642890" cy="5048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DDA61DB-AD8E-4756-8222-A5710AE61C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010615"/>
              </p:ext>
            </p:extLst>
          </p:nvPr>
        </p:nvGraphicFramePr>
        <p:xfrm>
          <a:off x="3019682" y="4437112"/>
          <a:ext cx="3514725" cy="195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1280" imgH="838080" progId="Equation.DSMT4">
                  <p:embed/>
                </p:oleObj>
              </mc:Choice>
              <mc:Fallback>
                <p:oleObj name="Equation" r:id="rId10" imgW="1511280" imgH="8380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5D4BBA2-6D15-4629-BE22-7E38E81011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19682" y="4437112"/>
                        <a:ext cx="3514725" cy="1954213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423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499E8-C9FD-B074-B037-22FF35A3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罚函数法对比</a:t>
            </a:r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4E2C881F-3EBA-8CC2-3FEA-D3784156BB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46259"/>
              </p:ext>
            </p:extLst>
          </p:nvPr>
        </p:nvGraphicFramePr>
        <p:xfrm>
          <a:off x="58738" y="1196975"/>
          <a:ext cx="971867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3734">
                  <a:extLst>
                    <a:ext uri="{9D8B030D-6E8A-4147-A177-3AD203B41FA5}">
                      <a16:colId xmlns:a16="http://schemas.microsoft.com/office/drawing/2014/main" val="3593277537"/>
                    </a:ext>
                  </a:extLst>
                </a:gridCol>
                <a:gridCol w="1943734">
                  <a:extLst>
                    <a:ext uri="{9D8B030D-6E8A-4147-A177-3AD203B41FA5}">
                      <a16:colId xmlns:a16="http://schemas.microsoft.com/office/drawing/2014/main" val="2200828745"/>
                    </a:ext>
                  </a:extLst>
                </a:gridCol>
                <a:gridCol w="1943734">
                  <a:extLst>
                    <a:ext uri="{9D8B030D-6E8A-4147-A177-3AD203B41FA5}">
                      <a16:colId xmlns:a16="http://schemas.microsoft.com/office/drawing/2014/main" val="1186241731"/>
                    </a:ext>
                  </a:extLst>
                </a:gridCol>
                <a:gridCol w="1943734">
                  <a:extLst>
                    <a:ext uri="{9D8B030D-6E8A-4147-A177-3AD203B41FA5}">
                      <a16:colId xmlns:a16="http://schemas.microsoft.com/office/drawing/2014/main" val="3363916291"/>
                    </a:ext>
                  </a:extLst>
                </a:gridCol>
                <a:gridCol w="1943734">
                  <a:extLst>
                    <a:ext uri="{9D8B030D-6E8A-4147-A177-3AD203B41FA5}">
                      <a16:colId xmlns:a16="http://schemas.microsoft.com/office/drawing/2014/main" val="3201078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惩罚项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罚因子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初始点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寻得边界最优点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6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内罚函数法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可行域内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递减</a:t>
                      </a:r>
                      <a:endParaRPr lang="en-US" altLang="zh-C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必须可行域内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在可行域内逼近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09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00FF"/>
                          </a:solidFill>
                        </a:rPr>
                        <a:t>外罚函数法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可行域外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递增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无要求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在可行域外逼近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135157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A25691-6095-12CF-FB46-7755BDA06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DC1F7A-E3D8-5568-9312-144539F4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42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4CE90BE-C0FA-3A12-D512-57FB624AD0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984515"/>
              </p:ext>
            </p:extLst>
          </p:nvPr>
        </p:nvGraphicFramePr>
        <p:xfrm>
          <a:off x="4469392" y="2610834"/>
          <a:ext cx="1017674" cy="445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80" imgH="177480" progId="Equation.DSMT4">
                  <p:embed/>
                </p:oleObj>
              </mc:Choice>
              <mc:Fallback>
                <p:oleObj name="Equation" r:id="rId2" imgW="4060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69392" y="2610834"/>
                        <a:ext cx="1017674" cy="445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FADF4F5-A4AF-8733-8E21-6C16F02DA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755469"/>
              </p:ext>
            </p:extLst>
          </p:nvPr>
        </p:nvGraphicFramePr>
        <p:xfrm>
          <a:off x="4359742" y="3581111"/>
          <a:ext cx="1236974" cy="360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177480" progId="Equation.DSMT4">
                  <p:embed/>
                </p:oleObj>
              </mc:Choice>
              <mc:Fallback>
                <p:oleObj name="Equation" r:id="rId4" imgW="6094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59742" y="3581111"/>
                        <a:ext cx="1236974" cy="360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7149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50BD59-546E-DD9F-1B2A-7B94B1CF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933DA4-B67C-41FB-06A3-29ACB4A8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43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2A76A6-B40B-17DA-B95E-0D4BEEB778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81400" y="3071415"/>
            <a:ext cx="7924800" cy="17973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请用外罚函数法求解下列优化问题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26BE36-428E-44E8-7E05-F20A6E9A181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858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8CC2156-B482-8090-26F9-DB5BDEAAD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261758"/>
              </p:ext>
            </p:extLst>
          </p:nvPr>
        </p:nvGraphicFramePr>
        <p:xfrm>
          <a:off x="1525905" y="1761599"/>
          <a:ext cx="3859143" cy="1713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42920" imgH="863280" progId="Equation.DSMT4">
                  <p:embed/>
                </p:oleObj>
              </mc:Choice>
              <mc:Fallback>
                <p:oleObj name="Equation" r:id="rId12" imgW="1942920" imgH="863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9815682-67CE-474A-9089-CCFC44F84B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25905" y="1761599"/>
                        <a:ext cx="3859143" cy="1713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8E0E4BCB-4134-8290-416E-CEB5EACA284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84920" y="954509"/>
            <a:ext cx="7924800" cy="17973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请用内罚函数法求解下列优化问题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A062F73-39C0-8022-B640-4183B2E8D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334690"/>
              </p:ext>
            </p:extLst>
          </p:nvPr>
        </p:nvGraphicFramePr>
        <p:xfrm>
          <a:off x="1064568" y="4159233"/>
          <a:ext cx="3406775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320" imgH="482400" progId="Equation.DSMT4">
                  <p:embed/>
                </p:oleObj>
              </mc:Choice>
              <mc:Fallback>
                <p:oleObj name="Equation" r:id="rId14" imgW="1714320" imgH="4824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8CC2156-B482-8090-26F9-DB5BDEAAD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64568" y="4159233"/>
                        <a:ext cx="3406775" cy="957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AF14F4D-EFD2-2EA2-983E-555803F01D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868736"/>
              </p:ext>
            </p:extLst>
          </p:nvPr>
        </p:nvGraphicFramePr>
        <p:xfrm>
          <a:off x="4956175" y="4152900"/>
          <a:ext cx="3482975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52480" imgH="482400" progId="Equation.DSMT4">
                  <p:embed/>
                </p:oleObj>
              </mc:Choice>
              <mc:Fallback>
                <p:oleObj name="Equation" r:id="rId16" imgW="1752480" imgH="4824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A062F73-39C0-8022-B640-4183B2E8D4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56175" y="4152900"/>
                        <a:ext cx="3482975" cy="957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B012A74A-7129-86BF-E488-3BA36C48B79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906000" cy="635000"/>
            <a:chOff x="0" y="0"/>
            <a:chExt cx="9906000" cy="635000"/>
          </a:xfrm>
        </p:grpSpPr>
        <p:sp>
          <p:nvSpPr>
            <p:cNvPr id="10" name="TitleBackground">
              <a:extLst>
                <a:ext uri="{FF2B5EF4-FFF2-40B4-BE49-F238E27FC236}">
                  <a16:creationId xmlns:a16="http://schemas.microsoft.com/office/drawing/2014/main" id="{526E7A60-51A4-0227-3195-622CA016004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906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olorBlock">
              <a:extLst>
                <a:ext uri="{FF2B5EF4-FFF2-40B4-BE49-F238E27FC236}">
                  <a16:creationId xmlns:a16="http://schemas.microsoft.com/office/drawing/2014/main" id="{12316B45-8EC8-1B04-D670-2DDC5B068F4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ypeText">
              <a:extLst>
                <a:ext uri="{FF2B5EF4-FFF2-40B4-BE49-F238E27FC236}">
                  <a16:creationId xmlns:a16="http://schemas.microsoft.com/office/drawing/2014/main" id="{0F8BA084-5951-E5F9-6958-8ECE06D1C35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3" name="TipText">
              <a:extLst>
                <a:ext uri="{FF2B5EF4-FFF2-40B4-BE49-F238E27FC236}">
                  <a16:creationId xmlns:a16="http://schemas.microsoft.com/office/drawing/2014/main" id="{9061C6BD-0E51-519B-BA44-EC4B1F6D0F8A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20 6">
            <a:extLst>
              <a:ext uri="{FF2B5EF4-FFF2-40B4-BE49-F238E27FC236}">
                <a16:creationId xmlns:a16="http://schemas.microsoft.com/office/drawing/2014/main" id="{CC3D0465-839F-0D3E-EDB0-936963E38A9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401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9957</TotalTime>
  <Words>1138</Words>
  <Application>Microsoft Office PowerPoint</Application>
  <PresentationFormat>A4 纸张(210x297 毫米)</PresentationFormat>
  <Paragraphs>294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黑体</vt:lpstr>
      <vt:lpstr>宋体</vt:lpstr>
      <vt:lpstr>Microsoft Yahei</vt:lpstr>
      <vt:lpstr>Arial</vt:lpstr>
      <vt:lpstr>Cambria Math</vt:lpstr>
      <vt:lpstr>Times New Roman</vt:lpstr>
      <vt:lpstr>Wingdings</vt:lpstr>
      <vt:lpstr>Presentation</vt:lpstr>
      <vt:lpstr>Equation</vt:lpstr>
      <vt:lpstr>最优化理论</vt:lpstr>
      <vt:lpstr>约束优化方法</vt:lpstr>
      <vt:lpstr>约束优化方法</vt:lpstr>
      <vt:lpstr>约束优化方法</vt:lpstr>
      <vt:lpstr>惩罚函数法</vt:lpstr>
      <vt:lpstr>内罚函数法</vt:lpstr>
      <vt:lpstr>内罚函数法</vt:lpstr>
      <vt:lpstr>内罚函数法</vt:lpstr>
      <vt:lpstr>内罚函数法</vt:lpstr>
      <vt:lpstr>内罚函数法</vt:lpstr>
      <vt:lpstr>内罚函数法</vt:lpstr>
      <vt:lpstr>内罚函数法</vt:lpstr>
      <vt:lpstr>内罚函数法</vt:lpstr>
      <vt:lpstr>例：内罚函数法</vt:lpstr>
      <vt:lpstr>例：内罚函数法</vt:lpstr>
      <vt:lpstr>例：内罚函数法</vt:lpstr>
      <vt:lpstr>例：内罚函数法</vt:lpstr>
      <vt:lpstr>例：内罚函数法</vt:lpstr>
      <vt:lpstr>内罚函数法</vt:lpstr>
      <vt:lpstr>内罚函数法</vt:lpstr>
      <vt:lpstr>内罚函数法</vt:lpstr>
      <vt:lpstr>内罚函数法</vt:lpstr>
      <vt:lpstr>内罚函数法</vt:lpstr>
      <vt:lpstr>外罚函数法</vt:lpstr>
      <vt:lpstr>外罚函数法</vt:lpstr>
      <vt:lpstr>外罚函数法</vt:lpstr>
      <vt:lpstr>外罚函数法</vt:lpstr>
      <vt:lpstr>外罚函数法</vt:lpstr>
      <vt:lpstr>外罚函数法</vt:lpstr>
      <vt:lpstr>外罚函数法</vt:lpstr>
      <vt:lpstr>例1：解</vt:lpstr>
      <vt:lpstr>例1：解</vt:lpstr>
      <vt:lpstr>例1：解</vt:lpstr>
      <vt:lpstr>外罚函数法</vt:lpstr>
      <vt:lpstr>外罚函数法</vt:lpstr>
      <vt:lpstr>外罚函数法</vt:lpstr>
      <vt:lpstr>外罚函数法</vt:lpstr>
      <vt:lpstr>例2：解（解析法）</vt:lpstr>
      <vt:lpstr>例2：解（解析法）</vt:lpstr>
      <vt:lpstr>例2：解（解析法）</vt:lpstr>
      <vt:lpstr>例2：解（解析法）</vt:lpstr>
      <vt:lpstr>罚函数法对比</vt:lpstr>
      <vt:lpstr>PowerPoint 演示文稿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5276</cp:revision>
  <dcterms:created xsi:type="dcterms:W3CDTF">2016-10-01T05:27:09Z</dcterms:created>
  <dcterms:modified xsi:type="dcterms:W3CDTF">2022-11-16T05:47:07Z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