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57" r:id="rId1"/>
  </p:sldMasterIdLst>
  <p:notesMasterIdLst>
    <p:notesMasterId r:id="rId54"/>
  </p:notesMasterIdLst>
  <p:handoutMasterIdLst>
    <p:handoutMasterId r:id="rId55"/>
  </p:handout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  <p:sldId id="270" r:id="rId16"/>
    <p:sldId id="271" r:id="rId17"/>
    <p:sldId id="274" r:id="rId18"/>
    <p:sldId id="275" r:id="rId19"/>
    <p:sldId id="273" r:id="rId20"/>
    <p:sldId id="276" r:id="rId21"/>
    <p:sldId id="277" r:id="rId22"/>
    <p:sldId id="278" r:id="rId23"/>
    <p:sldId id="272" r:id="rId24"/>
    <p:sldId id="280" r:id="rId25"/>
    <p:sldId id="279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5" r:id="rId39"/>
    <p:sldId id="293" r:id="rId40"/>
    <p:sldId id="296" r:id="rId41"/>
    <p:sldId id="297" r:id="rId42"/>
    <p:sldId id="302" r:id="rId43"/>
    <p:sldId id="303" r:id="rId44"/>
    <p:sldId id="304" r:id="rId45"/>
    <p:sldId id="305" r:id="rId46"/>
    <p:sldId id="307" r:id="rId47"/>
    <p:sldId id="308" r:id="rId48"/>
    <p:sldId id="309" r:id="rId49"/>
    <p:sldId id="310" r:id="rId50"/>
    <p:sldId id="311" r:id="rId51"/>
    <p:sldId id="312" r:id="rId52"/>
    <p:sldId id="313" r:id="rId53"/>
  </p:sldIdLst>
  <p:sldSz cx="9906000" cy="6858000" type="A4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BF6BE6E-4B09-4148-9F0C-7F96FBD9B713}">
          <p14:sldIdLst>
            <p14:sldId id="256"/>
            <p14:sldId id="259"/>
            <p14:sldId id="257"/>
            <p14:sldId id="258"/>
            <p14:sldId id="260"/>
            <p14:sldId id="261"/>
            <p14:sldId id="262"/>
            <p14:sldId id="263"/>
            <p14:sldId id="264"/>
            <p14:sldId id="265"/>
            <p14:sldId id="266"/>
            <p14:sldId id="268"/>
            <p14:sldId id="267"/>
            <p14:sldId id="269"/>
            <p14:sldId id="270"/>
            <p14:sldId id="271"/>
            <p14:sldId id="274"/>
            <p14:sldId id="275"/>
            <p14:sldId id="273"/>
            <p14:sldId id="276"/>
            <p14:sldId id="277"/>
            <p14:sldId id="278"/>
            <p14:sldId id="272"/>
            <p14:sldId id="280"/>
            <p14:sldId id="279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5"/>
            <p14:sldId id="293"/>
            <p14:sldId id="296"/>
            <p14:sldId id="297"/>
            <p14:sldId id="302"/>
            <p14:sldId id="303"/>
            <p14:sldId id="304"/>
            <p14:sldId id="305"/>
            <p14:sldId id="307"/>
            <p14:sldId id="308"/>
            <p14:sldId id="309"/>
            <p14:sldId id="310"/>
            <p14:sldId id="311"/>
            <p14:sldId id="312"/>
            <p14:sldId id="31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66"/>
    <a:srgbClr val="30A040"/>
    <a:srgbClr val="CC3399"/>
    <a:srgbClr val="FFFFFF"/>
    <a:srgbClr val="0000CC"/>
    <a:srgbClr val="333399"/>
    <a:srgbClr val="000099"/>
    <a:srgbClr val="FF99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630" autoAdjust="0"/>
    <p:restoredTop sz="93826" autoAdjust="0"/>
  </p:normalViewPr>
  <p:slideViewPr>
    <p:cSldViewPr>
      <p:cViewPr varScale="1">
        <p:scale>
          <a:sx n="67" d="100"/>
          <a:sy n="67" d="100"/>
        </p:scale>
        <p:origin x="868" y="4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>
        <p:scale>
          <a:sx n="56" d="100"/>
          <a:sy n="56" d="100"/>
        </p:scale>
        <p:origin x="-1830" y="-96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fld id="{E4C64EE1-592A-45A9-9E8D-8A110C604C90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312776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  <a:endParaRPr lang="en-US" altLang="zh-CN"/>
          </a:p>
          <a:p>
            <a:pPr lvl="1"/>
            <a:r>
              <a:rPr lang="en-US" altLang="zh-CN"/>
              <a:t>5656</a:t>
            </a: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宋体" pitchFamily="2" charset="-122"/>
              </a:defRPr>
            </a:lvl1pPr>
          </a:lstStyle>
          <a:p>
            <a:endParaRPr lang="en-US" altLang="zh-CN" dirty="0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宋体" pitchFamily="2" charset="-122"/>
              </a:defRPr>
            </a:lvl1pPr>
          </a:lstStyle>
          <a:p>
            <a:fld id="{8DA2099C-E03D-4BEA-80BD-EC59252D8E32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59284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96C443-04BC-4639-B5F7-E14A7E3E0041}" type="slidenum">
              <a:rPr lang="zh-CN" altLang="en-US"/>
              <a:pPr/>
              <a:t>1</a:t>
            </a:fld>
            <a:endParaRPr lang="en-US" altLang="zh-CN" dirty="0"/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20 9">
            <a:extLst>
              <a:ext uri="{FF2B5EF4-FFF2-40B4-BE49-F238E27FC236}">
                <a16:creationId xmlns:a16="http://schemas.microsoft.com/office/drawing/2014/main" id="{DB875CB5-79D2-4F0D-AAEA-E38F8F1FB7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894850" cy="2420888"/>
          </a:xfrm>
          <a:prstGeom prst="rect">
            <a:avLst/>
          </a:prstGeom>
        </p:spPr>
      </p:pic>
      <p:sp>
        <p:nvSpPr>
          <p:cNvPr id="11" name="标题 1">
            <a:extLst>
              <a:ext uri="{FF2B5EF4-FFF2-40B4-BE49-F238E27FC236}">
                <a16:creationId xmlns:a16="http://schemas.microsoft.com/office/drawing/2014/main" id="{3A371CBA-E3A3-49E4-BC50-D73E5519AF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8584" y="2620777"/>
            <a:ext cx="8016639" cy="1070582"/>
          </a:xfrm>
        </p:spPr>
        <p:txBody>
          <a:bodyPr anchor="ctr">
            <a:normAutofit fontScale="90000"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endParaRPr lang="zh-CN" altLang="en-US" sz="4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副标题 2">
            <a:extLst>
              <a:ext uri="{FF2B5EF4-FFF2-40B4-BE49-F238E27FC236}">
                <a16:creationId xmlns:a16="http://schemas.microsoft.com/office/drawing/2014/main" id="{2E156885-70F0-4648-845E-265F364447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7282" y="4015551"/>
            <a:ext cx="6619242" cy="642776"/>
          </a:xfrm>
        </p:spPr>
        <p:txBody>
          <a:bodyPr>
            <a:normAutofit/>
          </a:bodyPr>
          <a:lstStyle>
            <a:lvl1pPr marL="0" indent="0" algn="ctr">
              <a:buNone/>
              <a:defRPr sz="3600"/>
            </a:lvl1pPr>
          </a:lstStyle>
          <a:p>
            <a:endParaRPr lang="zh-CN" altLang="en-US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001777F-61CF-42D4-943E-7A0268001DD7}"/>
              </a:ext>
            </a:extLst>
          </p:cNvPr>
          <p:cNvSpPr/>
          <p:nvPr userDrawn="1"/>
        </p:nvSpPr>
        <p:spPr>
          <a:xfrm>
            <a:off x="1" y="6415953"/>
            <a:ext cx="9906000" cy="44204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FD28CC49-F75B-42A3-A246-3A936A3C1C5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7" y="5577048"/>
            <a:ext cx="1938018" cy="1285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日期占位符 12">
            <a:extLst>
              <a:ext uri="{FF2B5EF4-FFF2-40B4-BE49-F238E27FC236}">
                <a16:creationId xmlns:a16="http://schemas.microsoft.com/office/drawing/2014/main" id="{BF0374B4-E0FA-4D63-930E-15A90A36D5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44945" y="6448251"/>
            <a:ext cx="2743200" cy="365125"/>
          </a:xfrm>
        </p:spPr>
        <p:txBody>
          <a:bodyPr/>
          <a:lstStyle/>
          <a:p>
            <a:fld id="{9BF28558-7B33-427A-B568-3609C5F68DFB}" type="datetime3">
              <a:rPr lang="zh-CN" altLang="en-US" sz="1600" smtClean="0"/>
              <a:t>2022年10月14日星期五</a:t>
            </a:fld>
            <a:endParaRPr lang="zh-CN" altLang="en-US" sz="1600" dirty="0"/>
          </a:p>
        </p:txBody>
      </p:sp>
      <p:pic>
        <p:nvPicPr>
          <p:cNvPr id="20" name="20 19">
            <a:extLst>
              <a:ext uri="{FF2B5EF4-FFF2-40B4-BE49-F238E27FC236}">
                <a16:creationId xmlns:a16="http://schemas.microsoft.com/office/drawing/2014/main" id="{92CA545C-BE9F-4FE0-8561-A177CAB1467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0610" y="6418253"/>
            <a:ext cx="1424240" cy="44204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044" y="188640"/>
            <a:ext cx="971949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044" y="1196752"/>
            <a:ext cx="9719492" cy="5264289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6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8B06C41-1E1E-4B9B-9644-5AFB8CB2AB3B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C79822-BC0D-4DE8-A7E5-90A3732A2B82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7" name="Line 8"/>
          <p:cNvSpPr>
            <a:spLocks noChangeShapeType="1"/>
          </p:cNvSpPr>
          <p:nvPr userDrawn="1"/>
        </p:nvSpPr>
        <p:spPr bwMode="auto">
          <a:xfrm flipV="1">
            <a:off x="58044" y="1052735"/>
            <a:ext cx="9719492" cy="1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446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95300" y="6381328"/>
            <a:ext cx="2311400" cy="432048"/>
          </a:xfrm>
        </p:spPr>
        <p:txBody>
          <a:bodyPr/>
          <a:lstStyle>
            <a:lvl1pPr>
              <a:defRPr sz="1600"/>
            </a:lvl1pPr>
          </a:lstStyle>
          <a:p>
            <a:fld id="{A3C8579E-F682-4174-8232-D943C000E3D7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944367" y="6453336"/>
            <a:ext cx="2311400" cy="360040"/>
          </a:xfrm>
        </p:spPr>
        <p:txBody>
          <a:bodyPr/>
          <a:lstStyle>
            <a:lvl1pPr algn="ctr">
              <a:defRPr sz="1600"/>
            </a:lvl1pPr>
          </a:lstStyle>
          <a:p>
            <a:fld id="{C3F47B36-077D-42FE-9DED-0C77CB87E4B3}" type="slidenum">
              <a:rPr lang="zh-CN" altLang="en-US" smtClean="0"/>
              <a:pPr/>
              <a:t>‹#›</a:t>
            </a:fld>
            <a:endParaRPr lang="en-US" altLang="zh-CN" dirty="0"/>
          </a:p>
        </p:txBody>
      </p:sp>
      <p:pic>
        <p:nvPicPr>
          <p:cNvPr id="7" name="20 6">
            <a:extLst>
              <a:ext uri="{FF2B5EF4-FFF2-40B4-BE49-F238E27FC236}">
                <a16:creationId xmlns:a16="http://schemas.microsoft.com/office/drawing/2014/main" id="{E94A7FD3-B299-4610-AC83-3B451DCD0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240" y="6542278"/>
            <a:ext cx="874512" cy="271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139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566F1B3-94A1-4D75-BEB5-A24ADF28504A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B52295-AD8D-47A8-A4D5-D2F6B9F48E3F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8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8324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A960A4C-2E7A-4BC7-92BB-4811D8BBCCED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C03054-A18C-4CF4-8FEF-67B6C74EC7CF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10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6753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4D6D13C-CD6B-463A-856C-AE7EFF1CC60E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C03054-A18C-4CF4-8FEF-67B6C74EC7CF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10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2090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1AAF49A-B9BF-4A20-9CBD-058DA3EDBF07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338B79-8FD5-46F1-8A19-651A319ADB19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132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7B4B721-E592-4506-A42D-A485CD36D387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7DC1DE-D772-415A-B75D-6C2A3BBF0EE5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07053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85F4B58-8D9C-4A13-BFBC-1BE0A361A717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B74B41-85B4-4984-A2A4-801BFDC62CF6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82550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20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单击图标添加20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460B875-7DB8-40C0-8DE9-C73D2B1839FC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FEF2C3-09B7-48D6-BCFF-274B159605E4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85987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999A547-F978-4B5E-95FF-4A25E1B63B3F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236A91-AB49-49FF-BD59-8386391FD12B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84642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D4BF687-6B3E-44A6-8A17-B031BCEB5374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384550" y="6356176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8FACEB-921B-4428-A32E-7A6FF935A2DD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91822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448BAC07-5643-4648-8B99-28E352517941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3C52F4D9-41EC-423B-B963-42D1C41ACCC5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9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5509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/>
              <a:t>单击图标添加剪 贴画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3D344004-1B03-4B97-88C0-C8765BDB0F88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966CAE82-64C7-4E5B-88D2-F38A61F120C5}" type="slidenum">
              <a:rPr lang="zh-CN" altLang="en-US"/>
              <a:pPr/>
              <a:t>‹#›</a:t>
            </a:fld>
            <a:endParaRPr lang="en-US" altLang="zh-CN" dirty="0"/>
          </a:p>
        </p:txBody>
      </p:sp>
      <p:sp>
        <p:nvSpPr>
          <p:cNvPr id="8" name="Line 8"/>
          <p:cNvSpPr>
            <a:spLocks noChangeShapeType="1"/>
          </p:cNvSpPr>
          <p:nvPr userDrawn="1"/>
        </p:nvSpPr>
        <p:spPr bwMode="auto">
          <a:xfrm>
            <a:off x="495300" y="1052736"/>
            <a:ext cx="906621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890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8044" y="44624"/>
            <a:ext cx="9784456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3500" y="1017862"/>
            <a:ext cx="9784456" cy="5514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  <a:endParaRPr lang="en-US" altLang="zh-CN" dirty="0"/>
          </a:p>
          <a:p>
            <a:pPr lvl="2"/>
            <a:r>
              <a:rPr lang="zh-CN" altLang="en-US" dirty="0"/>
              <a:t>第三级</a:t>
            </a:r>
            <a:endParaRPr lang="en-US" altLang="zh-CN" dirty="0"/>
          </a:p>
          <a:p>
            <a:pPr lvl="3"/>
            <a:r>
              <a:rPr lang="zh-CN" altLang="en-US" dirty="0"/>
              <a:t>第四级</a:t>
            </a:r>
            <a:endParaRPr lang="en-US" altLang="zh-CN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8044" y="6542278"/>
            <a:ext cx="2311400" cy="271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a typeface="宋体" pitchFamily="2" charset="-122"/>
              </a:defRPr>
            </a:lvl1pPr>
          </a:lstStyle>
          <a:p>
            <a:fld id="{9505B10C-6225-4137-9473-CCC2B763FCE5}" type="datetime3">
              <a:rPr lang="zh-CN" altLang="en-US" smtClean="0"/>
              <a:pPr/>
              <a:t>2022年10月14日星期五</a:t>
            </a:fld>
            <a:endParaRPr lang="en-US" altLang="zh-CN" dirty="0"/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797300" y="6533050"/>
            <a:ext cx="2311400" cy="271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a typeface="宋体" pitchFamily="2" charset="-122"/>
              </a:defRPr>
            </a:lvl1pPr>
          </a:lstStyle>
          <a:p>
            <a:fld id="{67B052E9-C54A-4603-AE2F-EB72B006DB6C}" type="slidenum">
              <a:rPr lang="zh-CN" altLang="en-US" smtClean="0"/>
              <a:pPr/>
              <a:t>‹#›</a:t>
            </a:fld>
            <a:endParaRPr lang="en-US" altLang="zh-CN" dirty="0"/>
          </a:p>
        </p:txBody>
      </p:sp>
      <p:sp>
        <p:nvSpPr>
          <p:cNvPr id="2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2" name="20 11">
            <a:extLst>
              <a:ext uri="{FF2B5EF4-FFF2-40B4-BE49-F238E27FC236}">
                <a16:creationId xmlns:a16="http://schemas.microsoft.com/office/drawing/2014/main" id="{482E3178-F79E-4C1F-91C9-D07D79763864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3444" y="6562880"/>
            <a:ext cx="874512" cy="27109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71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itchFamily="2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anose="05000000000000000000" pitchFamily="2" charset="2"/>
        <a:buChar char=""/>
        <a:defRPr sz="3200" b="1">
          <a:solidFill>
            <a:schemeClr val="tx1"/>
          </a:solidFill>
          <a:latin typeface="+mn-lt"/>
          <a:ea typeface="黑体" pitchFamily="2" charset="-122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"/>
        <a:defRPr sz="2800" b="1">
          <a:solidFill>
            <a:schemeClr val="tx1"/>
          </a:solidFill>
          <a:latin typeface="+mn-lt"/>
          <a:ea typeface="黑体" pitchFamily="2" charset="-122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anose="05000000000000000000" pitchFamily="2" charset="2"/>
        <a:buChar char=""/>
        <a:defRPr sz="2400" b="1">
          <a:solidFill>
            <a:schemeClr val="tx1"/>
          </a:solidFill>
          <a:latin typeface="+mn-lt"/>
          <a:ea typeface="黑体" pitchFamily="2" charset="-122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黑体" pitchFamily="2" charset="-122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anose="05000000000000000000" pitchFamily="2" charset="2"/>
        <a:buChar char="Ø"/>
        <a:defRPr sz="2000" b="1">
          <a:solidFill>
            <a:schemeClr val="tx1"/>
          </a:solidFill>
          <a:latin typeface="+mn-lt"/>
          <a:ea typeface="黑体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3" Type="http://schemas.openxmlformats.org/officeDocument/2006/relationships/image" Target="../media/image12.wmf"/><Relationship Id="rId3" Type="http://schemas.openxmlformats.org/officeDocument/2006/relationships/image" Target="../media/image7.wmf"/><Relationship Id="rId7" Type="http://schemas.openxmlformats.org/officeDocument/2006/relationships/image" Target="../media/image9.wmf"/><Relationship Id="rId12" Type="http://schemas.openxmlformats.org/officeDocument/2006/relationships/oleObject" Target="../embeddings/oleObject8.bin"/><Relationship Id="rId17" Type="http://schemas.openxmlformats.org/officeDocument/2006/relationships/image" Target="../media/image14.wmf"/><Relationship Id="rId2" Type="http://schemas.openxmlformats.org/officeDocument/2006/relationships/oleObject" Target="../embeddings/oleObject3.bin"/><Relationship Id="rId16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11.wmf"/><Relationship Id="rId5" Type="http://schemas.openxmlformats.org/officeDocument/2006/relationships/image" Target="../media/image8.wmf"/><Relationship Id="rId15" Type="http://schemas.openxmlformats.org/officeDocument/2006/relationships/image" Target="../media/image13.wmf"/><Relationship Id="rId10" Type="http://schemas.openxmlformats.org/officeDocument/2006/relationships/oleObject" Target="../embeddings/oleObject7.bin"/><Relationship Id="rId4" Type="http://schemas.openxmlformats.org/officeDocument/2006/relationships/oleObject" Target="../embeddings/oleObject4.bin"/><Relationship Id="rId9" Type="http://schemas.openxmlformats.org/officeDocument/2006/relationships/image" Target="../media/image10.wmf"/><Relationship Id="rId14" Type="http://schemas.openxmlformats.org/officeDocument/2006/relationships/oleObject" Target="../embeddings/oleObject9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image" Target="../media/image19.wmf"/><Relationship Id="rId3" Type="http://schemas.openxmlformats.org/officeDocument/2006/relationships/image" Target="../media/image15.wmf"/><Relationship Id="rId7" Type="http://schemas.openxmlformats.org/officeDocument/2006/relationships/image" Target="../media/image11.wmf"/><Relationship Id="rId12" Type="http://schemas.openxmlformats.org/officeDocument/2006/relationships/oleObject" Target="../embeddings/oleObject15.bin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18.wmf"/><Relationship Id="rId5" Type="http://schemas.openxmlformats.org/officeDocument/2006/relationships/image" Target="../media/image16.wmf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12.bin"/><Relationship Id="rId9" Type="http://schemas.openxmlformats.org/officeDocument/2006/relationships/image" Target="../media/image17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13" Type="http://schemas.openxmlformats.org/officeDocument/2006/relationships/image" Target="../media/image25.wmf"/><Relationship Id="rId18" Type="http://schemas.openxmlformats.org/officeDocument/2006/relationships/oleObject" Target="../embeddings/oleObject25.bin"/><Relationship Id="rId26" Type="http://schemas.openxmlformats.org/officeDocument/2006/relationships/image" Target="../media/image29.png"/><Relationship Id="rId3" Type="http://schemas.openxmlformats.org/officeDocument/2006/relationships/image" Target="../media/image21.wmf"/><Relationship Id="rId21" Type="http://schemas.openxmlformats.org/officeDocument/2006/relationships/image" Target="../media/image26.png"/><Relationship Id="rId7" Type="http://schemas.openxmlformats.org/officeDocument/2006/relationships/image" Target="../media/image11.wmf"/><Relationship Id="rId12" Type="http://schemas.openxmlformats.org/officeDocument/2006/relationships/oleObject" Target="../embeddings/oleObject22.bin"/><Relationship Id="rId17" Type="http://schemas.openxmlformats.org/officeDocument/2006/relationships/image" Target="../media/image27.wmf"/><Relationship Id="rId25" Type="http://schemas.openxmlformats.org/officeDocument/2006/relationships/image" Target="../media/image28.png"/><Relationship Id="rId2" Type="http://schemas.openxmlformats.org/officeDocument/2006/relationships/oleObject" Target="../embeddings/oleObject17.bin"/><Relationship Id="rId16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24.wmf"/><Relationship Id="rId24" Type="http://schemas.openxmlformats.org/officeDocument/2006/relationships/image" Target="../media/image29.wmf"/><Relationship Id="rId5" Type="http://schemas.openxmlformats.org/officeDocument/2006/relationships/image" Target="../media/image22.wmf"/><Relationship Id="rId15" Type="http://schemas.openxmlformats.org/officeDocument/2006/relationships/image" Target="../media/image26.wmf"/><Relationship Id="rId23" Type="http://schemas.openxmlformats.org/officeDocument/2006/relationships/oleObject" Target="../embeddings/oleObject26.bin"/><Relationship Id="rId28" Type="http://schemas.openxmlformats.org/officeDocument/2006/relationships/image" Target="../media/image30.wmf"/><Relationship Id="rId10" Type="http://schemas.openxmlformats.org/officeDocument/2006/relationships/oleObject" Target="../embeddings/oleObject21.bin"/><Relationship Id="rId19" Type="http://schemas.openxmlformats.org/officeDocument/2006/relationships/image" Target="../media/image28.wmf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3.wmf"/><Relationship Id="rId14" Type="http://schemas.openxmlformats.org/officeDocument/2006/relationships/oleObject" Target="../embeddings/oleObject23.bin"/><Relationship Id="rId22" Type="http://schemas.openxmlformats.org/officeDocument/2006/relationships/image" Target="../media/image27.png"/><Relationship Id="rId27" Type="http://schemas.openxmlformats.org/officeDocument/2006/relationships/oleObject" Target="../embeddings/oleObject27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3" Type="http://schemas.openxmlformats.org/officeDocument/2006/relationships/image" Target="../media/image27.wmf"/><Relationship Id="rId7" Type="http://schemas.openxmlformats.org/officeDocument/2006/relationships/image" Target="../media/image31.w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0.bin"/><Relationship Id="rId5" Type="http://schemas.openxmlformats.org/officeDocument/2006/relationships/image" Target="../media/image28.wmf"/><Relationship Id="rId4" Type="http://schemas.openxmlformats.org/officeDocument/2006/relationships/oleObject" Target="../embeddings/oleObject29.bin"/><Relationship Id="rId9" Type="http://schemas.openxmlformats.org/officeDocument/2006/relationships/image" Target="../media/image32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7" Type="http://schemas.openxmlformats.org/officeDocument/2006/relationships/image" Target="../media/image34.w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4.bin"/><Relationship Id="rId5" Type="http://schemas.openxmlformats.org/officeDocument/2006/relationships/image" Target="../media/image33.wmf"/><Relationship Id="rId4" Type="http://schemas.openxmlformats.org/officeDocument/2006/relationships/oleObject" Target="../embeddings/oleObject33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13" Type="http://schemas.openxmlformats.org/officeDocument/2006/relationships/image" Target="../media/image38.wmf"/><Relationship Id="rId3" Type="http://schemas.openxmlformats.org/officeDocument/2006/relationships/image" Target="../media/image27.wmf"/><Relationship Id="rId7" Type="http://schemas.openxmlformats.org/officeDocument/2006/relationships/image" Target="../media/image36.wmf"/><Relationship Id="rId12" Type="http://schemas.openxmlformats.org/officeDocument/2006/relationships/oleObject" Target="../embeddings/oleObject39.bin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7.bin"/><Relationship Id="rId11" Type="http://schemas.openxmlformats.org/officeDocument/2006/relationships/image" Target="../media/image38.png"/><Relationship Id="rId5" Type="http://schemas.openxmlformats.org/officeDocument/2006/relationships/image" Target="../media/image35.wmf"/><Relationship Id="rId4" Type="http://schemas.openxmlformats.org/officeDocument/2006/relationships/oleObject" Target="../embeddings/oleObject36.bin"/><Relationship Id="rId9" Type="http://schemas.openxmlformats.org/officeDocument/2006/relationships/image" Target="../media/image37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oleObject" Target="../embeddings/oleObject4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wmf"/><Relationship Id="rId4" Type="http://schemas.openxmlformats.org/officeDocument/2006/relationships/oleObject" Target="../embeddings/oleObject41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oleObject" Target="../embeddings/oleObject4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wmf"/><Relationship Id="rId4" Type="http://schemas.openxmlformats.org/officeDocument/2006/relationships/oleObject" Target="../embeddings/oleObject43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13" Type="http://schemas.openxmlformats.org/officeDocument/2006/relationships/image" Target="../media/image46.wmf"/><Relationship Id="rId18" Type="http://schemas.openxmlformats.org/officeDocument/2006/relationships/oleObject" Target="../embeddings/oleObject52.bin"/><Relationship Id="rId26" Type="http://schemas.openxmlformats.org/officeDocument/2006/relationships/oleObject" Target="../embeddings/oleObject56.bin"/><Relationship Id="rId3" Type="http://schemas.openxmlformats.org/officeDocument/2006/relationships/image" Target="../media/image27.wmf"/><Relationship Id="rId21" Type="http://schemas.openxmlformats.org/officeDocument/2006/relationships/image" Target="../media/image23.wmf"/><Relationship Id="rId7" Type="http://schemas.openxmlformats.org/officeDocument/2006/relationships/image" Target="../media/image43.wmf"/><Relationship Id="rId12" Type="http://schemas.openxmlformats.org/officeDocument/2006/relationships/oleObject" Target="../embeddings/oleObject49.bin"/><Relationship Id="rId17" Type="http://schemas.openxmlformats.org/officeDocument/2006/relationships/image" Target="../media/image22.wmf"/><Relationship Id="rId25" Type="http://schemas.openxmlformats.org/officeDocument/2006/relationships/image" Target="../media/image25.wmf"/><Relationship Id="rId2" Type="http://schemas.openxmlformats.org/officeDocument/2006/relationships/oleObject" Target="../embeddings/oleObject44.bin"/><Relationship Id="rId16" Type="http://schemas.openxmlformats.org/officeDocument/2006/relationships/oleObject" Target="../embeddings/oleObject51.bin"/><Relationship Id="rId20" Type="http://schemas.openxmlformats.org/officeDocument/2006/relationships/oleObject" Target="../embeddings/oleObject5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6.bin"/><Relationship Id="rId11" Type="http://schemas.openxmlformats.org/officeDocument/2006/relationships/image" Target="../media/image45.wmf"/><Relationship Id="rId24" Type="http://schemas.openxmlformats.org/officeDocument/2006/relationships/oleObject" Target="../embeddings/oleObject55.bin"/><Relationship Id="rId5" Type="http://schemas.openxmlformats.org/officeDocument/2006/relationships/image" Target="../media/image28.wmf"/><Relationship Id="rId15" Type="http://schemas.openxmlformats.org/officeDocument/2006/relationships/image" Target="../media/image21.wmf"/><Relationship Id="rId23" Type="http://schemas.openxmlformats.org/officeDocument/2006/relationships/image" Target="../media/image24.wmf"/><Relationship Id="rId10" Type="http://schemas.openxmlformats.org/officeDocument/2006/relationships/oleObject" Target="../embeddings/oleObject48.bin"/><Relationship Id="rId19" Type="http://schemas.openxmlformats.org/officeDocument/2006/relationships/image" Target="../media/image11.wmf"/><Relationship Id="rId4" Type="http://schemas.openxmlformats.org/officeDocument/2006/relationships/oleObject" Target="../embeddings/oleObject45.bin"/><Relationship Id="rId9" Type="http://schemas.openxmlformats.org/officeDocument/2006/relationships/image" Target="../media/image44.wmf"/><Relationship Id="rId14" Type="http://schemas.openxmlformats.org/officeDocument/2006/relationships/oleObject" Target="../embeddings/oleObject50.bin"/><Relationship Id="rId22" Type="http://schemas.openxmlformats.org/officeDocument/2006/relationships/oleObject" Target="../embeddings/oleObject54.bin"/><Relationship Id="rId27" Type="http://schemas.openxmlformats.org/officeDocument/2006/relationships/image" Target="../media/image26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0.bin"/><Relationship Id="rId13" Type="http://schemas.openxmlformats.org/officeDocument/2006/relationships/image" Target="../media/image51.wmf"/><Relationship Id="rId18" Type="http://schemas.openxmlformats.org/officeDocument/2006/relationships/image" Target="../media/image22.wmf"/><Relationship Id="rId26" Type="http://schemas.openxmlformats.org/officeDocument/2006/relationships/image" Target="../media/image25.wmf"/><Relationship Id="rId3" Type="http://schemas.openxmlformats.org/officeDocument/2006/relationships/image" Target="../media/image27.wmf"/><Relationship Id="rId21" Type="http://schemas.openxmlformats.org/officeDocument/2006/relationships/oleObject" Target="../embeddings/oleObject66.bin"/><Relationship Id="rId7" Type="http://schemas.openxmlformats.org/officeDocument/2006/relationships/image" Target="../media/image48.wmf"/><Relationship Id="rId12" Type="http://schemas.openxmlformats.org/officeDocument/2006/relationships/oleObject" Target="../embeddings/oleObject62.bin"/><Relationship Id="rId17" Type="http://schemas.openxmlformats.org/officeDocument/2006/relationships/oleObject" Target="../embeddings/oleObject64.bin"/><Relationship Id="rId25" Type="http://schemas.openxmlformats.org/officeDocument/2006/relationships/oleObject" Target="../embeddings/oleObject68.bin"/><Relationship Id="rId2" Type="http://schemas.openxmlformats.org/officeDocument/2006/relationships/oleObject" Target="../embeddings/oleObject57.bin"/><Relationship Id="rId16" Type="http://schemas.openxmlformats.org/officeDocument/2006/relationships/image" Target="../media/image21.wmf"/><Relationship Id="rId20" Type="http://schemas.openxmlformats.org/officeDocument/2006/relationships/image" Target="../media/image11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9.bin"/><Relationship Id="rId11" Type="http://schemas.openxmlformats.org/officeDocument/2006/relationships/image" Target="../media/image50.wmf"/><Relationship Id="rId24" Type="http://schemas.openxmlformats.org/officeDocument/2006/relationships/image" Target="../media/image24.wmf"/><Relationship Id="rId5" Type="http://schemas.openxmlformats.org/officeDocument/2006/relationships/image" Target="../media/image47.wmf"/><Relationship Id="rId15" Type="http://schemas.openxmlformats.org/officeDocument/2006/relationships/oleObject" Target="../embeddings/oleObject63.bin"/><Relationship Id="rId23" Type="http://schemas.openxmlformats.org/officeDocument/2006/relationships/oleObject" Target="../embeddings/oleObject67.bin"/><Relationship Id="rId28" Type="http://schemas.openxmlformats.org/officeDocument/2006/relationships/image" Target="../media/image26.wmf"/><Relationship Id="rId10" Type="http://schemas.openxmlformats.org/officeDocument/2006/relationships/oleObject" Target="../embeddings/oleObject61.bin"/><Relationship Id="rId19" Type="http://schemas.openxmlformats.org/officeDocument/2006/relationships/oleObject" Target="../embeddings/oleObject65.bin"/><Relationship Id="rId4" Type="http://schemas.openxmlformats.org/officeDocument/2006/relationships/oleObject" Target="../embeddings/oleObject58.bin"/><Relationship Id="rId9" Type="http://schemas.openxmlformats.org/officeDocument/2006/relationships/image" Target="../media/image49.wmf"/><Relationship Id="rId14" Type="http://schemas.openxmlformats.org/officeDocument/2006/relationships/image" Target="../media/image53.png"/><Relationship Id="rId22" Type="http://schemas.openxmlformats.org/officeDocument/2006/relationships/image" Target="../media/image23.wmf"/><Relationship Id="rId27" Type="http://schemas.openxmlformats.org/officeDocument/2006/relationships/oleObject" Target="../embeddings/oleObject69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2.bin"/><Relationship Id="rId3" Type="http://schemas.openxmlformats.org/officeDocument/2006/relationships/image" Target="../media/image55.png"/><Relationship Id="rId7" Type="http://schemas.openxmlformats.org/officeDocument/2006/relationships/image" Target="../media/image52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1.bin"/><Relationship Id="rId5" Type="http://schemas.openxmlformats.org/officeDocument/2006/relationships/image" Target="../media/image20.wmf"/><Relationship Id="rId4" Type="http://schemas.openxmlformats.org/officeDocument/2006/relationships/oleObject" Target="../embeddings/oleObject70.bin"/><Relationship Id="rId9" Type="http://schemas.openxmlformats.org/officeDocument/2006/relationships/image" Target="../media/image53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wmf"/><Relationship Id="rId4" Type="http://schemas.openxmlformats.org/officeDocument/2006/relationships/oleObject" Target="../embeddings/oleObject73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5.wmf"/><Relationship Id="rId7" Type="http://schemas.openxmlformats.org/officeDocument/2006/relationships/image" Target="../media/image62.png"/><Relationship Id="rId12" Type="http://schemas.openxmlformats.org/officeDocument/2006/relationships/image" Target="../media/image65.png"/><Relationship Id="rId2" Type="http://schemas.openxmlformats.org/officeDocument/2006/relationships/oleObject" Target="../embeddings/oleObject74.bin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64.png"/><Relationship Id="rId5" Type="http://schemas.openxmlformats.org/officeDocument/2006/relationships/image" Target="../media/image56.wmf"/><Relationship Id="rId10" Type="http://schemas.openxmlformats.org/officeDocument/2006/relationships/image" Target="../media/image57.wmf"/><Relationship Id="rId4" Type="http://schemas.openxmlformats.org/officeDocument/2006/relationships/oleObject" Target="../embeddings/oleObject75.bin"/><Relationship Id="rId9" Type="http://schemas.openxmlformats.org/officeDocument/2006/relationships/oleObject" Target="../embeddings/oleObject76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61.wmf"/><Relationship Id="rId26" Type="http://schemas.openxmlformats.org/officeDocument/2006/relationships/oleObject" Target="../embeddings/oleObject87.bin"/><Relationship Id="rId3" Type="http://schemas.openxmlformats.org/officeDocument/2006/relationships/image" Target="../media/image28.wmf"/><Relationship Id="rId21" Type="http://schemas.openxmlformats.org/officeDocument/2006/relationships/image" Target="../media/image64.wmf"/><Relationship Id="rId7" Type="http://schemas.openxmlformats.org/officeDocument/2006/relationships/image" Target="../media/image59.wmf"/><Relationship Id="rId12" Type="http://schemas.openxmlformats.org/officeDocument/2006/relationships/oleObject" Target="../embeddings/oleObject81.bin"/><Relationship Id="rId17" Type="http://schemas.openxmlformats.org/officeDocument/2006/relationships/image" Target="../media/image63.wmf"/><Relationship Id="rId25" Type="http://schemas.openxmlformats.org/officeDocument/2006/relationships/image" Target="../media/image66.wmf"/><Relationship Id="rId2" Type="http://schemas.openxmlformats.org/officeDocument/2006/relationships/oleObject" Target="../embeddings/oleObject77.bin"/><Relationship Id="rId16" Type="http://schemas.openxmlformats.org/officeDocument/2006/relationships/oleObject" Target="../embeddings/oleObject83.bin"/><Relationship Id="rId20" Type="http://schemas.openxmlformats.org/officeDocument/2006/relationships/oleObject" Target="../embeddings/oleObject84.bin"/><Relationship Id="rId29" Type="http://schemas.openxmlformats.org/officeDocument/2006/relationships/oleObject" Target="../embeddings/oleObject8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9.bin"/><Relationship Id="rId11" Type="http://schemas.openxmlformats.org/officeDocument/2006/relationships/image" Target="../media/image60.wmf"/><Relationship Id="rId24" Type="http://schemas.openxmlformats.org/officeDocument/2006/relationships/oleObject" Target="../embeddings/oleObject86.bin"/><Relationship Id="rId5" Type="http://schemas.openxmlformats.org/officeDocument/2006/relationships/image" Target="../media/image58.wmf"/><Relationship Id="rId15" Type="http://schemas.openxmlformats.org/officeDocument/2006/relationships/image" Target="../media/image62.wmf"/><Relationship Id="rId23" Type="http://schemas.openxmlformats.org/officeDocument/2006/relationships/image" Target="../media/image65.wmf"/><Relationship Id="rId28" Type="http://schemas.openxmlformats.org/officeDocument/2006/relationships/image" Target="../media/image67.wmf"/><Relationship Id="rId10" Type="http://schemas.openxmlformats.org/officeDocument/2006/relationships/oleObject" Target="../embeddings/oleObject80.bin"/><Relationship Id="rId19" Type="http://schemas.openxmlformats.org/officeDocument/2006/relationships/image" Target="../media/image61.png"/><Relationship Id="rId31" Type="http://schemas.openxmlformats.org/officeDocument/2006/relationships/image" Target="../media/image66.png"/><Relationship Id="rId4" Type="http://schemas.openxmlformats.org/officeDocument/2006/relationships/oleObject" Target="../embeddings/oleObject78.bin"/><Relationship Id="rId9" Type="http://schemas.openxmlformats.org/officeDocument/2006/relationships/image" Target="../media/image11.wmf"/><Relationship Id="rId14" Type="http://schemas.openxmlformats.org/officeDocument/2006/relationships/oleObject" Target="../embeddings/oleObject82.bin"/><Relationship Id="rId22" Type="http://schemas.openxmlformats.org/officeDocument/2006/relationships/oleObject" Target="../embeddings/oleObject85.bin"/><Relationship Id="rId27" Type="http://schemas.openxmlformats.org/officeDocument/2006/relationships/oleObject" Target="../embeddings/oleObject88.bin"/><Relationship Id="rId30" Type="http://schemas.openxmlformats.org/officeDocument/2006/relationships/image" Target="../media/image68.wmf"/></Relationships>
</file>

<file path=ppt/slides/_rels/slide2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72.png"/><Relationship Id="rId39" Type="http://schemas.openxmlformats.org/officeDocument/2006/relationships/oleObject" Target="../embeddings/oleObject98.bin"/><Relationship Id="rId3" Type="http://schemas.openxmlformats.org/officeDocument/2006/relationships/image" Target="../media/image28.wmf"/><Relationship Id="rId34" Type="http://schemas.openxmlformats.org/officeDocument/2006/relationships/image" Target="../media/image58.wmf"/><Relationship Id="rId42" Type="http://schemas.openxmlformats.org/officeDocument/2006/relationships/image" Target="../media/image61.wmf"/><Relationship Id="rId7" Type="http://schemas.openxmlformats.org/officeDocument/2006/relationships/image" Target="../media/image70.wmf"/><Relationship Id="rId25" Type="http://schemas.openxmlformats.org/officeDocument/2006/relationships/image" Target="../media/image71.wmf"/><Relationship Id="rId33" Type="http://schemas.openxmlformats.org/officeDocument/2006/relationships/oleObject" Target="../embeddings/oleObject96.bin"/><Relationship Id="rId38" Type="http://schemas.openxmlformats.org/officeDocument/2006/relationships/image" Target="../media/image11.wmf"/><Relationship Id="rId46" Type="http://schemas.openxmlformats.org/officeDocument/2006/relationships/image" Target="../media/image63.wmf"/><Relationship Id="rId2" Type="http://schemas.openxmlformats.org/officeDocument/2006/relationships/oleObject" Target="../embeddings/oleObject77.bin"/><Relationship Id="rId29" Type="http://schemas.openxmlformats.org/officeDocument/2006/relationships/oleObject" Target="../embeddings/oleObject94.bin"/><Relationship Id="rId41" Type="http://schemas.openxmlformats.org/officeDocument/2006/relationships/oleObject" Target="../embeddings/oleObject9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1.bin"/><Relationship Id="rId24" Type="http://schemas.openxmlformats.org/officeDocument/2006/relationships/oleObject" Target="../embeddings/oleObject92.bin"/><Relationship Id="rId32" Type="http://schemas.openxmlformats.org/officeDocument/2006/relationships/image" Target="../media/image72.wmf"/><Relationship Id="rId37" Type="http://schemas.openxmlformats.org/officeDocument/2006/relationships/oleObject" Target="../embeddings/oleObject7.bin"/><Relationship Id="rId40" Type="http://schemas.openxmlformats.org/officeDocument/2006/relationships/image" Target="../media/image60.wmf"/><Relationship Id="rId45" Type="http://schemas.openxmlformats.org/officeDocument/2006/relationships/oleObject" Target="../embeddings/oleObject83.bin"/><Relationship Id="rId5" Type="http://schemas.openxmlformats.org/officeDocument/2006/relationships/image" Target="../media/image69.wmf"/><Relationship Id="rId23" Type="http://schemas.openxmlformats.org/officeDocument/2006/relationships/image" Target="../media/image71.png"/><Relationship Id="rId28" Type="http://schemas.openxmlformats.org/officeDocument/2006/relationships/image" Target="../media/image66.wmf"/><Relationship Id="rId36" Type="http://schemas.openxmlformats.org/officeDocument/2006/relationships/image" Target="../media/image59.wmf"/><Relationship Id="rId31" Type="http://schemas.openxmlformats.org/officeDocument/2006/relationships/oleObject" Target="../embeddings/oleObject95.bin"/><Relationship Id="rId44" Type="http://schemas.openxmlformats.org/officeDocument/2006/relationships/image" Target="../media/image62.wmf"/><Relationship Id="rId4" Type="http://schemas.openxmlformats.org/officeDocument/2006/relationships/oleObject" Target="../embeddings/oleObject90.bin"/><Relationship Id="rId27" Type="http://schemas.openxmlformats.org/officeDocument/2006/relationships/oleObject" Target="../embeddings/oleObject93.bin"/><Relationship Id="rId30" Type="http://schemas.openxmlformats.org/officeDocument/2006/relationships/image" Target="../media/image67.wmf"/><Relationship Id="rId35" Type="http://schemas.openxmlformats.org/officeDocument/2006/relationships/oleObject" Target="../embeddings/oleObject97.bin"/><Relationship Id="rId43" Type="http://schemas.openxmlformats.org/officeDocument/2006/relationships/oleObject" Target="../embeddings/oleObject100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4.bin"/><Relationship Id="rId26" Type="http://schemas.openxmlformats.org/officeDocument/2006/relationships/oleObject" Target="../embeddings/oleObject105.bin"/><Relationship Id="rId39" Type="http://schemas.openxmlformats.org/officeDocument/2006/relationships/image" Target="../media/image63.wmf"/><Relationship Id="rId3" Type="http://schemas.openxmlformats.org/officeDocument/2006/relationships/image" Target="../media/image73.wmf"/><Relationship Id="rId34" Type="http://schemas.openxmlformats.org/officeDocument/2006/relationships/oleObject" Target="../embeddings/oleObject108.bin"/><Relationship Id="rId7" Type="http://schemas.openxmlformats.org/officeDocument/2006/relationships/image" Target="../media/image75.wmf"/><Relationship Id="rId25" Type="http://schemas.openxmlformats.org/officeDocument/2006/relationships/image" Target="../media/image66.png"/><Relationship Id="rId33" Type="http://schemas.openxmlformats.org/officeDocument/2006/relationships/image" Target="../media/image60.wmf"/><Relationship Id="rId38" Type="http://schemas.openxmlformats.org/officeDocument/2006/relationships/oleObject" Target="../embeddings/oleObject83.bin"/><Relationship Id="rId2" Type="http://schemas.openxmlformats.org/officeDocument/2006/relationships/oleObject" Target="../embeddings/oleObject101.bin"/><Relationship Id="rId29" Type="http://schemas.openxmlformats.org/officeDocument/2006/relationships/image" Target="../media/image59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3.bin"/><Relationship Id="rId32" Type="http://schemas.openxmlformats.org/officeDocument/2006/relationships/oleObject" Target="../embeddings/oleObject107.bin"/><Relationship Id="rId37" Type="http://schemas.openxmlformats.org/officeDocument/2006/relationships/image" Target="../media/image62.wmf"/><Relationship Id="rId5" Type="http://schemas.openxmlformats.org/officeDocument/2006/relationships/image" Target="../media/image74.wmf"/><Relationship Id="rId28" Type="http://schemas.openxmlformats.org/officeDocument/2006/relationships/oleObject" Target="../embeddings/oleObject106.bin"/><Relationship Id="rId36" Type="http://schemas.openxmlformats.org/officeDocument/2006/relationships/oleObject" Target="../embeddings/oleObject109.bin"/><Relationship Id="rId31" Type="http://schemas.openxmlformats.org/officeDocument/2006/relationships/image" Target="../media/image11.wmf"/><Relationship Id="rId4" Type="http://schemas.openxmlformats.org/officeDocument/2006/relationships/oleObject" Target="../embeddings/oleObject102.bin"/><Relationship Id="rId9" Type="http://schemas.openxmlformats.org/officeDocument/2006/relationships/image" Target="../media/image76.wmf"/><Relationship Id="rId27" Type="http://schemas.openxmlformats.org/officeDocument/2006/relationships/image" Target="../media/image58.wmf"/><Relationship Id="rId30" Type="http://schemas.openxmlformats.org/officeDocument/2006/relationships/oleObject" Target="../embeddings/oleObject7.bin"/><Relationship Id="rId35" Type="http://schemas.openxmlformats.org/officeDocument/2006/relationships/image" Target="../media/image61.w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1.bin"/><Relationship Id="rId13" Type="http://schemas.openxmlformats.org/officeDocument/2006/relationships/image" Target="../media/image80.wmf"/><Relationship Id="rId18" Type="http://schemas.openxmlformats.org/officeDocument/2006/relationships/oleObject" Target="../embeddings/oleObject116.bin"/><Relationship Id="rId26" Type="http://schemas.openxmlformats.org/officeDocument/2006/relationships/image" Target="../media/image91.png"/><Relationship Id="rId3" Type="http://schemas.openxmlformats.org/officeDocument/2006/relationships/image" Target="../media/image88.png"/><Relationship Id="rId21" Type="http://schemas.openxmlformats.org/officeDocument/2006/relationships/image" Target="../media/image84.wmf"/><Relationship Id="rId7" Type="http://schemas.openxmlformats.org/officeDocument/2006/relationships/image" Target="../media/image77.wmf"/><Relationship Id="rId12" Type="http://schemas.openxmlformats.org/officeDocument/2006/relationships/oleObject" Target="../embeddings/oleObject113.bin"/><Relationship Id="rId17" Type="http://schemas.openxmlformats.org/officeDocument/2006/relationships/image" Target="../media/image82.wmf"/><Relationship Id="rId25" Type="http://schemas.openxmlformats.org/officeDocument/2006/relationships/image" Target="../media/image86.wmf"/><Relationship Id="rId16" Type="http://schemas.openxmlformats.org/officeDocument/2006/relationships/oleObject" Target="../embeddings/oleObject115.bin"/><Relationship Id="rId20" Type="http://schemas.openxmlformats.org/officeDocument/2006/relationships/oleObject" Target="../embeddings/oleObject117.bin"/><Relationship Id="rId29" Type="http://schemas.openxmlformats.org/officeDocument/2006/relationships/oleObject" Target="../embeddings/oleObject12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0.bin"/><Relationship Id="rId11" Type="http://schemas.openxmlformats.org/officeDocument/2006/relationships/image" Target="../media/image79.wmf"/><Relationship Id="rId24" Type="http://schemas.openxmlformats.org/officeDocument/2006/relationships/oleObject" Target="../embeddings/oleObject119.bin"/><Relationship Id="rId5" Type="http://schemas.openxmlformats.org/officeDocument/2006/relationships/image" Target="../media/image90.png"/><Relationship Id="rId15" Type="http://schemas.openxmlformats.org/officeDocument/2006/relationships/image" Target="../media/image81.wmf"/><Relationship Id="rId23" Type="http://schemas.openxmlformats.org/officeDocument/2006/relationships/image" Target="../media/image85.wmf"/><Relationship Id="rId28" Type="http://schemas.openxmlformats.org/officeDocument/2006/relationships/image" Target="../media/image93.png"/><Relationship Id="rId10" Type="http://schemas.openxmlformats.org/officeDocument/2006/relationships/oleObject" Target="../embeddings/oleObject112.bin"/><Relationship Id="rId19" Type="http://schemas.openxmlformats.org/officeDocument/2006/relationships/image" Target="../media/image83.wmf"/><Relationship Id="rId4" Type="http://schemas.openxmlformats.org/officeDocument/2006/relationships/image" Target="../media/image89.png"/><Relationship Id="rId9" Type="http://schemas.openxmlformats.org/officeDocument/2006/relationships/image" Target="../media/image78.wmf"/><Relationship Id="rId14" Type="http://schemas.openxmlformats.org/officeDocument/2006/relationships/oleObject" Target="../embeddings/oleObject114.bin"/><Relationship Id="rId22" Type="http://schemas.openxmlformats.org/officeDocument/2006/relationships/oleObject" Target="../embeddings/oleObject118.bin"/><Relationship Id="rId27" Type="http://schemas.openxmlformats.org/officeDocument/2006/relationships/image" Target="../media/image92.png"/><Relationship Id="rId30" Type="http://schemas.openxmlformats.org/officeDocument/2006/relationships/image" Target="../media/image87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2.bin"/><Relationship Id="rId13" Type="http://schemas.openxmlformats.org/officeDocument/2006/relationships/image" Target="../media/image91.wmf"/><Relationship Id="rId18" Type="http://schemas.openxmlformats.org/officeDocument/2006/relationships/oleObject" Target="../embeddings/oleObject127.bin"/><Relationship Id="rId26" Type="http://schemas.openxmlformats.org/officeDocument/2006/relationships/oleObject" Target="../embeddings/oleObject131.bin"/><Relationship Id="rId39" Type="http://schemas.openxmlformats.org/officeDocument/2006/relationships/image" Target="../media/image83.wmf"/><Relationship Id="rId3" Type="http://schemas.openxmlformats.org/officeDocument/2006/relationships/image" Target="../media/image88.png"/><Relationship Id="rId21" Type="http://schemas.openxmlformats.org/officeDocument/2006/relationships/image" Target="../media/image95.wmf"/><Relationship Id="rId34" Type="http://schemas.openxmlformats.org/officeDocument/2006/relationships/oleObject" Target="../embeddings/oleObject135.bin"/><Relationship Id="rId7" Type="http://schemas.openxmlformats.org/officeDocument/2006/relationships/image" Target="../media/image88.wmf"/><Relationship Id="rId12" Type="http://schemas.openxmlformats.org/officeDocument/2006/relationships/oleObject" Target="../embeddings/oleObject124.bin"/><Relationship Id="rId17" Type="http://schemas.openxmlformats.org/officeDocument/2006/relationships/image" Target="../media/image93.wmf"/><Relationship Id="rId25" Type="http://schemas.openxmlformats.org/officeDocument/2006/relationships/image" Target="../media/image97.wmf"/><Relationship Id="rId33" Type="http://schemas.openxmlformats.org/officeDocument/2006/relationships/image" Target="../media/image80.wmf"/><Relationship Id="rId38" Type="http://schemas.openxmlformats.org/officeDocument/2006/relationships/oleObject" Target="../embeddings/oleObject137.bin"/><Relationship Id="rId16" Type="http://schemas.openxmlformats.org/officeDocument/2006/relationships/oleObject" Target="../embeddings/oleObject126.bin"/><Relationship Id="rId20" Type="http://schemas.openxmlformats.org/officeDocument/2006/relationships/oleObject" Target="../embeddings/oleObject128.bin"/><Relationship Id="rId29" Type="http://schemas.openxmlformats.org/officeDocument/2006/relationships/image" Target="../media/image78.wmf"/><Relationship Id="rId41" Type="http://schemas.openxmlformats.org/officeDocument/2006/relationships/image" Target="../media/image84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1.bin"/><Relationship Id="rId11" Type="http://schemas.openxmlformats.org/officeDocument/2006/relationships/image" Target="../media/image90.wmf"/><Relationship Id="rId24" Type="http://schemas.openxmlformats.org/officeDocument/2006/relationships/oleObject" Target="../embeddings/oleObject130.bin"/><Relationship Id="rId32" Type="http://schemas.openxmlformats.org/officeDocument/2006/relationships/oleObject" Target="../embeddings/oleObject134.bin"/><Relationship Id="rId37" Type="http://schemas.openxmlformats.org/officeDocument/2006/relationships/image" Target="../media/image82.wmf"/><Relationship Id="rId40" Type="http://schemas.openxmlformats.org/officeDocument/2006/relationships/oleObject" Target="../embeddings/oleObject138.bin"/><Relationship Id="rId5" Type="http://schemas.openxmlformats.org/officeDocument/2006/relationships/image" Target="../media/image90.png"/><Relationship Id="rId15" Type="http://schemas.openxmlformats.org/officeDocument/2006/relationships/image" Target="../media/image92.wmf"/><Relationship Id="rId23" Type="http://schemas.openxmlformats.org/officeDocument/2006/relationships/image" Target="../media/image96.wmf"/><Relationship Id="rId28" Type="http://schemas.openxmlformats.org/officeDocument/2006/relationships/oleObject" Target="../embeddings/oleObject132.bin"/><Relationship Id="rId36" Type="http://schemas.openxmlformats.org/officeDocument/2006/relationships/oleObject" Target="../embeddings/oleObject136.bin"/><Relationship Id="rId10" Type="http://schemas.openxmlformats.org/officeDocument/2006/relationships/oleObject" Target="../embeddings/oleObject123.bin"/><Relationship Id="rId19" Type="http://schemas.openxmlformats.org/officeDocument/2006/relationships/image" Target="../media/image94.wmf"/><Relationship Id="rId31" Type="http://schemas.openxmlformats.org/officeDocument/2006/relationships/image" Target="../media/image79.wmf"/><Relationship Id="rId4" Type="http://schemas.openxmlformats.org/officeDocument/2006/relationships/image" Target="../media/image89.png"/><Relationship Id="rId9" Type="http://schemas.openxmlformats.org/officeDocument/2006/relationships/image" Target="../media/image89.wmf"/><Relationship Id="rId14" Type="http://schemas.openxmlformats.org/officeDocument/2006/relationships/oleObject" Target="../embeddings/oleObject125.bin"/><Relationship Id="rId22" Type="http://schemas.openxmlformats.org/officeDocument/2006/relationships/oleObject" Target="../embeddings/oleObject129.bin"/><Relationship Id="rId27" Type="http://schemas.openxmlformats.org/officeDocument/2006/relationships/image" Target="../media/image77.wmf"/><Relationship Id="rId30" Type="http://schemas.openxmlformats.org/officeDocument/2006/relationships/oleObject" Target="../embeddings/oleObject133.bin"/><Relationship Id="rId35" Type="http://schemas.openxmlformats.org/officeDocument/2006/relationships/image" Target="../media/image81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7" Type="http://schemas.openxmlformats.org/officeDocument/2006/relationships/image" Target="../media/image99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0.bin"/><Relationship Id="rId5" Type="http://schemas.openxmlformats.org/officeDocument/2006/relationships/image" Target="../media/image98.wmf"/><Relationship Id="rId4" Type="http://schemas.openxmlformats.org/officeDocument/2006/relationships/oleObject" Target="../embeddings/oleObject139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7" Type="http://schemas.openxmlformats.org/officeDocument/2006/relationships/image" Target="../media/image101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2.bin"/><Relationship Id="rId5" Type="http://schemas.openxmlformats.org/officeDocument/2006/relationships/image" Target="../media/image100.wmf"/><Relationship Id="rId4" Type="http://schemas.openxmlformats.org/officeDocument/2006/relationships/oleObject" Target="../embeddings/oleObject141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13" Type="http://schemas.openxmlformats.org/officeDocument/2006/relationships/oleObject" Target="../embeddings/oleObject147.bin"/><Relationship Id="rId18" Type="http://schemas.openxmlformats.org/officeDocument/2006/relationships/image" Target="../media/image107.wmf"/><Relationship Id="rId3" Type="http://schemas.openxmlformats.org/officeDocument/2006/relationships/image" Target="../media/image105.png"/><Relationship Id="rId21" Type="http://schemas.openxmlformats.org/officeDocument/2006/relationships/image" Target="../media/image107.png"/><Relationship Id="rId7" Type="http://schemas.openxmlformats.org/officeDocument/2006/relationships/oleObject" Target="../embeddings/oleObject144.bin"/><Relationship Id="rId12" Type="http://schemas.openxmlformats.org/officeDocument/2006/relationships/image" Target="../media/image104.wmf"/><Relationship Id="rId17" Type="http://schemas.openxmlformats.org/officeDocument/2006/relationships/oleObject" Target="../embeddings/oleObject149.bin"/><Relationship Id="rId16" Type="http://schemas.openxmlformats.org/officeDocument/2006/relationships/image" Target="../media/image106.wmf"/><Relationship Id="rId20" Type="http://schemas.openxmlformats.org/officeDocument/2006/relationships/image" Target="../media/image108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wmf"/><Relationship Id="rId11" Type="http://schemas.openxmlformats.org/officeDocument/2006/relationships/oleObject" Target="../embeddings/oleObject146.bin"/><Relationship Id="rId5" Type="http://schemas.openxmlformats.org/officeDocument/2006/relationships/oleObject" Target="../embeddings/oleObject143.bin"/><Relationship Id="rId15" Type="http://schemas.openxmlformats.org/officeDocument/2006/relationships/oleObject" Target="../embeddings/oleObject148.bin"/><Relationship Id="rId10" Type="http://schemas.openxmlformats.org/officeDocument/2006/relationships/image" Target="../media/image103.wmf"/><Relationship Id="rId19" Type="http://schemas.openxmlformats.org/officeDocument/2006/relationships/oleObject" Target="../embeddings/oleObject150.bin"/><Relationship Id="rId4" Type="http://schemas.openxmlformats.org/officeDocument/2006/relationships/image" Target="../media/image106.png"/><Relationship Id="rId9" Type="http://schemas.openxmlformats.org/officeDocument/2006/relationships/oleObject" Target="../embeddings/oleObject145.bin"/><Relationship Id="rId14" Type="http://schemas.openxmlformats.org/officeDocument/2006/relationships/image" Target="../media/image105.w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3.bin"/><Relationship Id="rId13" Type="http://schemas.openxmlformats.org/officeDocument/2006/relationships/image" Target="../media/image113.wmf"/><Relationship Id="rId3" Type="http://schemas.openxmlformats.org/officeDocument/2006/relationships/image" Target="../media/image115.png"/><Relationship Id="rId7" Type="http://schemas.openxmlformats.org/officeDocument/2006/relationships/image" Target="../media/image110.wmf"/><Relationship Id="rId12" Type="http://schemas.openxmlformats.org/officeDocument/2006/relationships/oleObject" Target="../embeddings/oleObject15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52.bin"/><Relationship Id="rId11" Type="http://schemas.openxmlformats.org/officeDocument/2006/relationships/image" Target="../media/image112.wmf"/><Relationship Id="rId5" Type="http://schemas.openxmlformats.org/officeDocument/2006/relationships/image" Target="../media/image109.wmf"/><Relationship Id="rId15" Type="http://schemas.openxmlformats.org/officeDocument/2006/relationships/image" Target="../media/image114.wmf"/><Relationship Id="rId10" Type="http://schemas.openxmlformats.org/officeDocument/2006/relationships/oleObject" Target="../embeddings/oleObject154.bin"/><Relationship Id="rId4" Type="http://schemas.openxmlformats.org/officeDocument/2006/relationships/oleObject" Target="../embeddings/oleObject151.bin"/><Relationship Id="rId9" Type="http://schemas.openxmlformats.org/officeDocument/2006/relationships/image" Target="../media/image111.wmf"/><Relationship Id="rId14" Type="http://schemas.openxmlformats.org/officeDocument/2006/relationships/oleObject" Target="../embeddings/oleObject156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7" Type="http://schemas.openxmlformats.org/officeDocument/2006/relationships/image" Target="../media/image116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58.bin"/><Relationship Id="rId5" Type="http://schemas.openxmlformats.org/officeDocument/2006/relationships/image" Target="../media/image115.wmf"/><Relationship Id="rId4" Type="http://schemas.openxmlformats.org/officeDocument/2006/relationships/oleObject" Target="../embeddings/oleObject157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7" Type="http://schemas.openxmlformats.org/officeDocument/2006/relationships/image" Target="../media/image118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0.bin"/><Relationship Id="rId5" Type="http://schemas.openxmlformats.org/officeDocument/2006/relationships/image" Target="../media/image117.wmf"/><Relationship Id="rId4" Type="http://schemas.openxmlformats.org/officeDocument/2006/relationships/oleObject" Target="../embeddings/oleObject159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wmf"/><Relationship Id="rId2" Type="http://schemas.openxmlformats.org/officeDocument/2006/relationships/oleObject" Target="../embeddings/oleObject161.bin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wmf"/><Relationship Id="rId2" Type="http://schemas.openxmlformats.org/officeDocument/2006/relationships/oleObject" Target="../embeddings/oleObject162.bin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7" Type="http://schemas.openxmlformats.org/officeDocument/2006/relationships/image" Target="../media/image122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4.bin"/><Relationship Id="rId5" Type="http://schemas.openxmlformats.org/officeDocument/2006/relationships/image" Target="../media/image121.wmf"/><Relationship Id="rId4" Type="http://schemas.openxmlformats.org/officeDocument/2006/relationships/oleObject" Target="../embeddings/oleObject163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6.wmf"/><Relationship Id="rId4" Type="http://schemas.openxmlformats.org/officeDocument/2006/relationships/oleObject" Target="../embeddings/oleObject158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3.wmf"/><Relationship Id="rId4" Type="http://schemas.openxmlformats.org/officeDocument/2006/relationships/oleObject" Target="../embeddings/oleObject165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4.wmf"/><Relationship Id="rId4" Type="http://schemas.openxmlformats.org/officeDocument/2006/relationships/oleObject" Target="../embeddings/oleObject166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5.wmf"/><Relationship Id="rId4" Type="http://schemas.openxmlformats.org/officeDocument/2006/relationships/oleObject" Target="../embeddings/oleObject167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wmf"/><Relationship Id="rId3" Type="http://schemas.openxmlformats.org/officeDocument/2006/relationships/image" Target="../media/image123.png"/><Relationship Id="rId7" Type="http://schemas.openxmlformats.org/officeDocument/2006/relationships/oleObject" Target="../embeddings/oleObject168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5.wmf"/><Relationship Id="rId11" Type="http://schemas.openxmlformats.org/officeDocument/2006/relationships/image" Target="../media/image124.png"/><Relationship Id="rId5" Type="http://schemas.openxmlformats.org/officeDocument/2006/relationships/oleObject" Target="../embeddings/oleObject167.bin"/><Relationship Id="rId10" Type="http://schemas.openxmlformats.org/officeDocument/2006/relationships/image" Target="../media/image127.wmf"/><Relationship Id="rId4" Type="http://schemas.openxmlformats.org/officeDocument/2006/relationships/image" Target="../media/image1230.png"/><Relationship Id="rId9" Type="http://schemas.openxmlformats.org/officeDocument/2006/relationships/oleObject" Target="../embeddings/oleObject169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wmf"/><Relationship Id="rId7" Type="http://schemas.openxmlformats.org/officeDocument/2006/relationships/image" Target="../media/image126.png"/><Relationship Id="rId2" Type="http://schemas.openxmlformats.org/officeDocument/2006/relationships/oleObject" Target="../embeddings/oleObject16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8.wmf"/><Relationship Id="rId4" Type="http://schemas.openxmlformats.org/officeDocument/2006/relationships/oleObject" Target="../embeddings/oleObject170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wmf"/><Relationship Id="rId7" Type="http://schemas.openxmlformats.org/officeDocument/2006/relationships/image" Target="../media/image129.wmf"/><Relationship Id="rId2" Type="http://schemas.openxmlformats.org/officeDocument/2006/relationships/oleObject" Target="../embeddings/oleObject16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1.bin"/><Relationship Id="rId5" Type="http://schemas.openxmlformats.org/officeDocument/2006/relationships/image" Target="../media/image128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3.bin"/><Relationship Id="rId3" Type="http://schemas.openxmlformats.org/officeDocument/2006/relationships/image" Target="../media/image125.wmf"/><Relationship Id="rId7" Type="http://schemas.openxmlformats.org/officeDocument/2006/relationships/image" Target="../media/image130.wmf"/><Relationship Id="rId2" Type="http://schemas.openxmlformats.org/officeDocument/2006/relationships/oleObject" Target="../embeddings/oleObject16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2.bin"/><Relationship Id="rId11" Type="http://schemas.openxmlformats.org/officeDocument/2006/relationships/image" Target="../media/image132.wmf"/><Relationship Id="rId5" Type="http://schemas.openxmlformats.org/officeDocument/2006/relationships/image" Target="../media/image125.png"/><Relationship Id="rId10" Type="http://schemas.openxmlformats.org/officeDocument/2006/relationships/oleObject" Target="../embeddings/oleObject174.bin"/><Relationship Id="rId9" Type="http://schemas.openxmlformats.org/officeDocument/2006/relationships/image" Target="../media/image131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6.bin"/><Relationship Id="rId3" Type="http://schemas.openxmlformats.org/officeDocument/2006/relationships/image" Target="../media/image125.wmf"/><Relationship Id="rId7" Type="http://schemas.openxmlformats.org/officeDocument/2006/relationships/image" Target="../media/image133.wmf"/><Relationship Id="rId2" Type="http://schemas.openxmlformats.org/officeDocument/2006/relationships/oleObject" Target="../embeddings/oleObject16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5.bin"/><Relationship Id="rId5" Type="http://schemas.openxmlformats.org/officeDocument/2006/relationships/image" Target="../media/image134.png"/><Relationship Id="rId9" Type="http://schemas.openxmlformats.org/officeDocument/2006/relationships/image" Target="../media/image123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wmf"/><Relationship Id="rId7" Type="http://schemas.openxmlformats.org/officeDocument/2006/relationships/image" Target="../media/image134.wmf"/><Relationship Id="rId2" Type="http://schemas.openxmlformats.org/officeDocument/2006/relationships/oleObject" Target="../embeddings/oleObject16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7.bin"/><Relationship Id="rId5" Type="http://schemas.openxmlformats.org/officeDocument/2006/relationships/image" Target="../media/image129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9.bin"/><Relationship Id="rId3" Type="http://schemas.openxmlformats.org/officeDocument/2006/relationships/image" Target="../media/image125.wmf"/><Relationship Id="rId7" Type="http://schemas.openxmlformats.org/officeDocument/2006/relationships/image" Target="../media/image135.wmf"/><Relationship Id="rId2" Type="http://schemas.openxmlformats.org/officeDocument/2006/relationships/oleObject" Target="../embeddings/oleObject16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8.bin"/><Relationship Id="rId5" Type="http://schemas.openxmlformats.org/officeDocument/2006/relationships/image" Target="../media/image131.png"/><Relationship Id="rId9" Type="http://schemas.openxmlformats.org/officeDocument/2006/relationships/image" Target="../media/image136.w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wmf"/><Relationship Id="rId2" Type="http://schemas.openxmlformats.org/officeDocument/2006/relationships/oleObject" Target="../embeddings/oleObject16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7.wmf"/><Relationship Id="rId4" Type="http://schemas.openxmlformats.org/officeDocument/2006/relationships/oleObject" Target="../embeddings/oleObject180.bin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wmf"/><Relationship Id="rId2" Type="http://schemas.openxmlformats.org/officeDocument/2006/relationships/oleObject" Target="../embeddings/oleObject16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8.wmf"/><Relationship Id="rId4" Type="http://schemas.openxmlformats.org/officeDocument/2006/relationships/oleObject" Target="../embeddings/oleObject181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wmf"/><Relationship Id="rId13" Type="http://schemas.openxmlformats.org/officeDocument/2006/relationships/oleObject" Target="../embeddings/oleObject184.bin"/><Relationship Id="rId18" Type="http://schemas.openxmlformats.org/officeDocument/2006/relationships/image" Target="../media/image66.wmf"/><Relationship Id="rId3" Type="http://schemas.openxmlformats.org/officeDocument/2006/relationships/image" Target="../media/image125.wmf"/><Relationship Id="rId7" Type="http://schemas.openxmlformats.org/officeDocument/2006/relationships/oleObject" Target="../embeddings/oleObject182.bin"/><Relationship Id="rId12" Type="http://schemas.openxmlformats.org/officeDocument/2006/relationships/image" Target="../media/image11.wmf"/><Relationship Id="rId17" Type="http://schemas.openxmlformats.org/officeDocument/2006/relationships/oleObject" Target="../embeddings/oleObject185.bin"/><Relationship Id="rId2" Type="http://schemas.openxmlformats.org/officeDocument/2006/relationships/oleObject" Target="../embeddings/oleObject167.bin"/><Relationship Id="rId16" Type="http://schemas.openxmlformats.org/officeDocument/2006/relationships/image" Target="../media/image18.wmf"/><Relationship Id="rId20" Type="http://schemas.openxmlformats.org/officeDocument/2006/relationships/image" Target="../media/image63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7.bin"/><Relationship Id="rId5" Type="http://schemas.openxmlformats.org/officeDocument/2006/relationships/oleObject" Target="../embeddings/oleObject77.bin"/><Relationship Id="rId15" Type="http://schemas.openxmlformats.org/officeDocument/2006/relationships/oleObject" Target="../embeddings/oleObject14.bin"/><Relationship Id="rId10" Type="http://schemas.openxmlformats.org/officeDocument/2006/relationships/image" Target="../media/image140.wmf"/><Relationship Id="rId19" Type="http://schemas.openxmlformats.org/officeDocument/2006/relationships/oleObject" Target="../embeddings/oleObject83.bin"/><Relationship Id="rId4" Type="http://schemas.openxmlformats.org/officeDocument/2006/relationships/image" Target="../media/image138.png"/><Relationship Id="rId9" Type="http://schemas.openxmlformats.org/officeDocument/2006/relationships/oleObject" Target="../embeddings/oleObject183.bin"/><Relationship Id="rId14" Type="http://schemas.openxmlformats.org/officeDocument/2006/relationships/image" Target="../media/image141.wmf"/><Relationship Id="rId22" Type="http://schemas.openxmlformats.org/officeDocument/2006/relationships/image" Target="../media/image13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wmf"/><Relationship Id="rId7" Type="http://schemas.openxmlformats.org/officeDocument/2006/relationships/image" Target="../media/image143.wmf"/><Relationship Id="rId2" Type="http://schemas.openxmlformats.org/officeDocument/2006/relationships/oleObject" Target="../embeddings/oleObject16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87.bin"/><Relationship Id="rId5" Type="http://schemas.openxmlformats.org/officeDocument/2006/relationships/image" Target="../media/image142.wmf"/><Relationship Id="rId4" Type="http://schemas.openxmlformats.org/officeDocument/2006/relationships/oleObject" Target="../embeddings/oleObject186.bin"/><Relationship Id="rId9" Type="http://schemas.openxmlformats.org/officeDocument/2006/relationships/image" Target="../media/image13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wmf"/><Relationship Id="rId7" Type="http://schemas.openxmlformats.org/officeDocument/2006/relationships/image" Target="../media/image144.wmf"/><Relationship Id="rId2" Type="http://schemas.openxmlformats.org/officeDocument/2006/relationships/oleObject" Target="../embeddings/oleObject16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88.bin"/><Relationship Id="rId5" Type="http://schemas.openxmlformats.org/officeDocument/2006/relationships/image" Target="../media/image1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E2B51CF4-66D4-4F19-97F3-24307D69E6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680" y="2636912"/>
            <a:ext cx="8016639" cy="1070582"/>
          </a:xfrm>
        </p:spPr>
        <p:txBody>
          <a:bodyPr anchor="ctr">
            <a:normAutofit fontScale="90000"/>
          </a:bodyPr>
          <a:lstStyle/>
          <a:p>
            <a:r>
              <a:rPr lang="zh-CN" altLang="en-US" sz="7200" dirty="0">
                <a:latin typeface="黑体" panose="02010609060101010101" pitchFamily="49" charset="-122"/>
                <a:ea typeface="黑体" panose="02010609060101010101" pitchFamily="49" charset="-122"/>
              </a:rPr>
              <a:t>最优化理论</a:t>
            </a:r>
            <a:endParaRPr lang="zh-CN" altLang="en-US" sz="4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188F20-BD1A-4DBF-8204-5DEB489FF2A7}"/>
              </a:ext>
            </a:extLst>
          </p:cNvPr>
          <p:cNvSpPr/>
          <p:nvPr/>
        </p:nvSpPr>
        <p:spPr>
          <a:xfrm>
            <a:off x="2360712" y="3789040"/>
            <a:ext cx="5493812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讲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无约束优化方法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</a:p>
          <a:p>
            <a:pPr algn="ctr"/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共轭方向法、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Powell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法</a:t>
            </a:r>
          </a:p>
          <a:p>
            <a:pPr algn="ctr"/>
            <a:endParaRPr lang="zh-CN" altLang="en-US" sz="3600" dirty="0"/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9D4C4213-E352-4C4A-BD9E-BD5380CE8F1C}"/>
              </a:ext>
            </a:extLst>
          </p:cNvPr>
          <p:cNvSpPr txBox="1">
            <a:spLocks/>
          </p:cNvSpPr>
          <p:nvPr/>
        </p:nvSpPr>
        <p:spPr bwMode="auto">
          <a:xfrm>
            <a:off x="2360712" y="5157192"/>
            <a:ext cx="4968552" cy="642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Pct val="75000"/>
              <a:buFont typeface="Wingdings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黑体" pitchFamily="2" charset="-122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黑体" pitchFamily="2" charset="-122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Pct val="65000"/>
              <a:buFont typeface="Wingdings" pitchFamily="2" charset="2"/>
              <a:buChar char="p"/>
              <a:defRPr sz="2400" b="1">
                <a:solidFill>
                  <a:schemeClr val="tx1"/>
                </a:solidFill>
                <a:latin typeface="+mn-lt"/>
                <a:ea typeface="黑体" pitchFamily="2" charset="-122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Pct val="60000"/>
              <a:buFont typeface="Wingdings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黑体" pitchFamily="2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buNone/>
            </a:pPr>
            <a:r>
              <a:rPr lang="zh-CN" altLang="en-US" sz="2400" kern="0" dirty="0">
                <a:latin typeface="黑体" pitchFamily="49" charset="-122"/>
                <a:ea typeface="黑体" pitchFamily="49" charset="-122"/>
              </a:rPr>
              <a:t>辽宁大学 信息学院</a:t>
            </a:r>
          </a:p>
          <a:p>
            <a:pPr algn="ctr"/>
            <a:endParaRPr lang="zh-CN" altLang="en-US" sz="2400" kern="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C4A68E3-A51C-4F7D-918B-4EC486F2D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39E4A-C161-4DC7-B97B-9882453A8887}" type="datetime3">
              <a:rPr lang="zh-CN" altLang="en-US" sz="1600" smtClean="0"/>
              <a:t>2022年10月14日星期五</a:t>
            </a:fld>
            <a:endParaRPr lang="zh-CN" altLang="en-US" sz="16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E5AFF8-5097-4ABD-ACB7-E6BC2EBA9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无约束优化方法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F3968E-5F43-479A-B6B1-6AFB984BE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无约束优化问题</a:t>
            </a:r>
            <a:endParaRPr lang="en-US" altLang="zh-CN" dirty="0"/>
          </a:p>
          <a:p>
            <a:endParaRPr lang="en-US" altLang="zh-CN" dirty="0"/>
          </a:p>
          <a:p>
            <a:pPr lvl="1"/>
            <a:r>
              <a:rPr lang="zh-CN" altLang="en-US" dirty="0"/>
              <a:t>后续约束优化的基础</a:t>
            </a:r>
            <a:endParaRPr lang="en-US" altLang="zh-CN" dirty="0"/>
          </a:p>
          <a:p>
            <a:pPr lvl="1"/>
            <a:r>
              <a:rPr lang="zh-CN" altLang="en-US" dirty="0"/>
              <a:t>方法分类：</a:t>
            </a:r>
            <a:endParaRPr lang="en-US" altLang="zh-CN" dirty="0"/>
          </a:p>
          <a:p>
            <a:pPr lvl="2"/>
            <a:r>
              <a:rPr lang="zh-CN" altLang="en-US" dirty="0">
                <a:solidFill>
                  <a:srgbClr val="FF0000"/>
                </a:solidFill>
              </a:rPr>
              <a:t>直接法：</a:t>
            </a:r>
            <a:endParaRPr lang="en-US" altLang="zh-CN" dirty="0">
              <a:solidFill>
                <a:srgbClr val="FF0000"/>
              </a:solidFill>
            </a:endParaRPr>
          </a:p>
          <a:p>
            <a:pPr lvl="3"/>
            <a:r>
              <a:rPr lang="zh-CN" altLang="en-US" dirty="0"/>
              <a:t>利用数值迭代公式进行求解</a:t>
            </a:r>
            <a:endParaRPr lang="en-US" altLang="zh-CN" dirty="0"/>
          </a:p>
          <a:p>
            <a:pPr lvl="2"/>
            <a:r>
              <a:rPr lang="zh-CN" altLang="en-US" dirty="0">
                <a:solidFill>
                  <a:srgbClr val="0000FF"/>
                </a:solidFill>
              </a:rPr>
              <a:t>解析法：</a:t>
            </a:r>
            <a:endParaRPr lang="en-US" altLang="zh-CN" dirty="0">
              <a:solidFill>
                <a:srgbClr val="0000FF"/>
              </a:solidFill>
            </a:endParaRPr>
          </a:p>
          <a:p>
            <a:pPr lvl="3"/>
            <a:r>
              <a:rPr lang="zh-CN" altLang="en-US" dirty="0"/>
              <a:t>利用偏导数、</a:t>
            </a:r>
            <a:r>
              <a:rPr lang="en-US" altLang="zh-CN" dirty="0"/>
              <a:t>hessian</a:t>
            </a:r>
            <a:r>
              <a:rPr lang="zh-CN" altLang="en-US" dirty="0"/>
              <a:t>矩阵进行数学解析计算。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5776D9-9B89-497F-A504-2AB44B2CD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6620334-8D48-4068-B917-4B06816CA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FBB6778A-946D-4B23-AEDB-FBE5B1B822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8616834"/>
              </p:ext>
            </p:extLst>
          </p:nvPr>
        </p:nvGraphicFramePr>
        <p:xfrm>
          <a:off x="3224808" y="1700808"/>
          <a:ext cx="2528978" cy="9410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45760" imgH="203040" progId="Equation.DSMT4">
                  <p:embed/>
                </p:oleObj>
              </mc:Choice>
              <mc:Fallback>
                <p:oleObj name="Equation" r:id="rId2" imgW="5457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224808" y="1700808"/>
                        <a:ext cx="2528978" cy="9410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07327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6644AD-5B74-4F77-90AC-CBBA03CDE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无约束优化方法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0834F9-8C99-4AD0-87F5-67C4F1961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42950" indent="-742950">
              <a:buFont typeface="+mj-lt"/>
              <a:buAutoNum type="arabicPeriod"/>
            </a:pPr>
            <a:r>
              <a:rPr lang="zh-CN" altLang="en-US" b="0" dirty="0"/>
              <a:t>共轭方向法</a:t>
            </a:r>
            <a:endParaRPr lang="en-US" altLang="zh-CN" b="0" dirty="0"/>
          </a:p>
          <a:p>
            <a:pPr marL="742950" indent="-742950">
              <a:buFont typeface="+mj-lt"/>
              <a:buAutoNum type="arabicPeriod"/>
            </a:pPr>
            <a:r>
              <a:rPr lang="en-US" altLang="zh-CN" b="0" dirty="0"/>
              <a:t>Powell</a:t>
            </a:r>
            <a:r>
              <a:rPr lang="zh-CN" altLang="en-US" b="0" dirty="0"/>
              <a:t>法</a:t>
            </a:r>
            <a:endParaRPr lang="en-US" altLang="zh-CN" b="0" dirty="0"/>
          </a:p>
          <a:p>
            <a:pPr marL="742950" indent="-742950">
              <a:buFont typeface="+mj-lt"/>
              <a:buAutoNum type="arabicPeriod"/>
            </a:pPr>
            <a:r>
              <a:rPr lang="zh-CN" altLang="en-US" b="0" dirty="0"/>
              <a:t>梯度法</a:t>
            </a:r>
            <a:endParaRPr lang="en-US" altLang="zh-CN" b="0" dirty="0"/>
          </a:p>
          <a:p>
            <a:pPr marL="742950" indent="-742950">
              <a:buFont typeface="+mj-lt"/>
              <a:buAutoNum type="arabicPeriod"/>
            </a:pPr>
            <a:r>
              <a:rPr lang="zh-CN" altLang="en-US" b="0" dirty="0"/>
              <a:t>共轭梯度法</a:t>
            </a:r>
            <a:endParaRPr lang="en-US" altLang="zh-CN" b="0" dirty="0"/>
          </a:p>
          <a:p>
            <a:pPr marL="742950" indent="-742950">
              <a:buFont typeface="+mj-lt"/>
              <a:buAutoNum type="arabicPeriod"/>
            </a:pPr>
            <a:r>
              <a:rPr lang="en-US" altLang="zh-CN" b="0" dirty="0"/>
              <a:t>Newton</a:t>
            </a:r>
            <a:r>
              <a:rPr lang="zh-CN" altLang="en-US" b="0" dirty="0"/>
              <a:t>法</a:t>
            </a:r>
            <a:endParaRPr lang="en-US" altLang="zh-CN" b="0" dirty="0"/>
          </a:p>
          <a:p>
            <a:pPr marL="742950" indent="-742950">
              <a:buFont typeface="+mj-lt"/>
              <a:buAutoNum type="arabicPeriod"/>
            </a:pPr>
            <a:r>
              <a:rPr lang="en-US" altLang="zh-CN" b="0" dirty="0"/>
              <a:t>DFP</a:t>
            </a:r>
            <a:r>
              <a:rPr lang="zh-CN" altLang="en-US" b="0" dirty="0"/>
              <a:t>法 </a:t>
            </a:r>
            <a:endParaRPr lang="en-US" altLang="zh-CN" b="0" dirty="0"/>
          </a:p>
          <a:p>
            <a:pPr marL="742950" indent="-742950">
              <a:buFont typeface="+mj-lt"/>
              <a:buAutoNum type="arabicPeriod"/>
            </a:pPr>
            <a:endParaRPr lang="zh-CN" altLang="en-US" b="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39445D-8EC3-46FB-97D7-EB56D5F4C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F6E21FE-18DA-4C23-B22B-F5C45B33E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97975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03FBAF-37E5-408C-89A8-E49D5C119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共轭方向法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90FA1F-0AC9-434B-92A0-6A58D1C19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共轭方向</a:t>
            </a:r>
            <a:endParaRPr lang="en-US" altLang="zh-CN" dirty="0"/>
          </a:p>
          <a:p>
            <a:pPr lvl="1"/>
            <a:r>
              <a:rPr lang="zh-CN" altLang="en-US" dirty="0"/>
              <a:t>含义：</a:t>
            </a:r>
            <a:endParaRPr lang="en-US" altLang="zh-CN" dirty="0"/>
          </a:p>
          <a:p>
            <a:pPr lvl="2"/>
            <a:r>
              <a:rPr lang="zh-CN" altLang="en-US" dirty="0"/>
              <a:t>共轭方向是</a:t>
            </a:r>
            <a:r>
              <a:rPr lang="zh-CN" altLang="en-US" dirty="0">
                <a:solidFill>
                  <a:srgbClr val="0000FF"/>
                </a:solidFill>
              </a:rPr>
              <a:t>特殊的一组（至少两个）向量（方向</a:t>
            </a:r>
            <a:r>
              <a:rPr lang="zh-CN" altLang="en-US" dirty="0"/>
              <a:t>），从任意点出发，</a:t>
            </a:r>
            <a:r>
              <a:rPr lang="zh-CN" altLang="en-US" dirty="0">
                <a:solidFill>
                  <a:srgbClr val="FF0000"/>
                </a:solidFill>
              </a:rPr>
              <a:t>沿着一组共轭方向，可以找到目标极值点。</a:t>
            </a:r>
            <a:endParaRPr lang="en-US" altLang="zh-CN" dirty="0">
              <a:solidFill>
                <a:srgbClr val="FF0000"/>
              </a:solidFill>
            </a:endParaRPr>
          </a:p>
          <a:p>
            <a:pPr lvl="3"/>
            <a:endParaRPr lang="en-US" altLang="zh-CN" dirty="0"/>
          </a:p>
          <a:p>
            <a:pPr lvl="3"/>
            <a:endParaRPr lang="en-US" altLang="zh-CN" dirty="0"/>
          </a:p>
          <a:p>
            <a:pPr lvl="3"/>
            <a:r>
              <a:rPr lang="zh-CN" altLang="en-US" dirty="0"/>
              <a:t>在无约束优化方法中，大部分的数值迭代都是以共轭方向为搜索方向的。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17B343-8FD3-42EF-95B4-2D9E03444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D2A9AAE-D198-4135-AAE5-16A11AA8D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4DC3A199-B52A-40F5-96E4-66164A1509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5433143"/>
              </p:ext>
            </p:extLst>
          </p:nvPr>
        </p:nvGraphicFramePr>
        <p:xfrm>
          <a:off x="2648744" y="4005064"/>
          <a:ext cx="4192588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77760" imgH="164880" progId="Equation.DSMT4">
                  <p:embed/>
                </p:oleObj>
              </mc:Choice>
              <mc:Fallback>
                <p:oleObj name="Equation" r:id="rId2" imgW="97776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648744" y="4005064"/>
                        <a:ext cx="4192588" cy="706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25738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2FE5A7-D635-40CA-998C-A1F8D2CD0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共轭方向法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752F4A-EDAC-4BF3-9636-F173F1268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共轭方向</a:t>
            </a:r>
            <a:endParaRPr lang="en-US" altLang="zh-CN" dirty="0"/>
          </a:p>
          <a:p>
            <a:pPr lvl="1"/>
            <a:r>
              <a:rPr lang="zh-CN" altLang="en-US" dirty="0"/>
              <a:t>示例：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BDD669-8732-4CD7-8B13-E92BA935E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1205B1E-6CFB-4273-BAA9-C73146C6D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5</a:t>
            </a:fld>
            <a:endParaRPr lang="en-US" altLang="zh-CN" dirty="0"/>
          </a:p>
        </p:txBody>
      </p:sp>
      <p:sp>
        <p:nvSpPr>
          <p:cNvPr id="6" name="流程图: 接点 5">
            <a:extLst>
              <a:ext uri="{FF2B5EF4-FFF2-40B4-BE49-F238E27FC236}">
                <a16:creationId xmlns:a16="http://schemas.microsoft.com/office/drawing/2014/main" id="{E7663CBD-1CC4-4119-B6D6-C25347D8E1E5}"/>
              </a:ext>
            </a:extLst>
          </p:cNvPr>
          <p:cNvSpPr/>
          <p:nvPr/>
        </p:nvSpPr>
        <p:spPr bwMode="auto">
          <a:xfrm>
            <a:off x="4711604" y="3903201"/>
            <a:ext cx="148647" cy="158316"/>
          </a:xfrm>
          <a:prstGeom prst="flowChartConnector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8C1D508-5F9A-47B6-868E-960D71DD740A}"/>
              </a:ext>
            </a:extLst>
          </p:cNvPr>
          <p:cNvSpPr/>
          <p:nvPr/>
        </p:nvSpPr>
        <p:spPr bwMode="auto">
          <a:xfrm>
            <a:off x="3773165" y="3603889"/>
            <a:ext cx="2098485" cy="863334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AFC8FF9C-9452-4132-900C-E6D79701C70B}"/>
              </a:ext>
            </a:extLst>
          </p:cNvPr>
          <p:cNvSpPr/>
          <p:nvPr/>
        </p:nvSpPr>
        <p:spPr bwMode="auto">
          <a:xfrm>
            <a:off x="3296816" y="3140968"/>
            <a:ext cx="3168352" cy="1728192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97AAF315-B62A-4FAD-B549-814F929F49BF}"/>
              </a:ext>
            </a:extLst>
          </p:cNvPr>
          <p:cNvSpPr/>
          <p:nvPr/>
        </p:nvSpPr>
        <p:spPr bwMode="auto">
          <a:xfrm>
            <a:off x="2864767" y="2822233"/>
            <a:ext cx="4176465" cy="2406967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F5FFE3A4-6B56-454C-848D-1125C6B5D361}"/>
              </a:ext>
            </a:extLst>
          </p:cNvPr>
          <p:cNvSpPr/>
          <p:nvPr/>
        </p:nvSpPr>
        <p:spPr bwMode="auto">
          <a:xfrm>
            <a:off x="2432720" y="2492896"/>
            <a:ext cx="5040560" cy="3096344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1A89D8BF-CC28-43F3-B0EE-EB4E79F039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8755433"/>
              </p:ext>
            </p:extLst>
          </p:nvPr>
        </p:nvGraphicFramePr>
        <p:xfrm>
          <a:off x="2073275" y="4822825"/>
          <a:ext cx="573088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5640" imgH="152280" progId="Equation.DSMT4">
                  <p:embed/>
                </p:oleObj>
              </mc:Choice>
              <mc:Fallback>
                <p:oleObj name="Equation" r:id="rId2" imgW="215640" imgH="15228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00DF4A30-E275-4463-A807-78936BA06D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73275" y="4822825"/>
                        <a:ext cx="573088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流程图: 接点 11">
            <a:extLst>
              <a:ext uri="{FF2B5EF4-FFF2-40B4-BE49-F238E27FC236}">
                <a16:creationId xmlns:a16="http://schemas.microsoft.com/office/drawing/2014/main" id="{B839026C-C33D-4600-98C1-509A58B0F9F5}"/>
              </a:ext>
            </a:extLst>
          </p:cNvPr>
          <p:cNvSpPr/>
          <p:nvPr/>
        </p:nvSpPr>
        <p:spPr bwMode="auto">
          <a:xfrm>
            <a:off x="2893314" y="4923862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14D73BD-DB22-4E9B-A484-516C81480E8E}"/>
              </a:ext>
            </a:extLst>
          </p:cNvPr>
          <p:cNvCxnSpPr>
            <a:cxnSpLocks/>
          </p:cNvCxnSpPr>
          <p:nvPr/>
        </p:nvCxnSpPr>
        <p:spPr bwMode="auto">
          <a:xfrm>
            <a:off x="3052923" y="5023456"/>
            <a:ext cx="3556261" cy="535081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53BBB116-249C-4476-9176-8E2854428FE5}"/>
              </a:ext>
            </a:extLst>
          </p:cNvPr>
          <p:cNvSpPr/>
          <p:nvPr/>
        </p:nvSpPr>
        <p:spPr bwMode="auto">
          <a:xfrm>
            <a:off x="4388934" y="5133753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FAFA05E6-62D0-45B2-BC29-400BF53612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4469864"/>
              </p:ext>
            </p:extLst>
          </p:nvPr>
        </p:nvGraphicFramePr>
        <p:xfrm>
          <a:off x="4538663" y="4806950"/>
          <a:ext cx="55245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3040" imgH="152280" progId="Equation.DSMT4">
                  <p:embed/>
                </p:oleObj>
              </mc:Choice>
              <mc:Fallback>
                <p:oleObj name="Equation" r:id="rId4" imgW="203040" imgH="15228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FDD321A5-E48C-465D-B253-39DA61E979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38663" y="4806950"/>
                        <a:ext cx="552450" cy="41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582CAE6-BAA5-48C8-9138-C827F2CD3DC1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620875" y="3786399"/>
            <a:ext cx="1882636" cy="1436916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流程图: 接点 16">
            <a:extLst>
              <a:ext uri="{FF2B5EF4-FFF2-40B4-BE49-F238E27FC236}">
                <a16:creationId xmlns:a16="http://schemas.microsoft.com/office/drawing/2014/main" id="{BD8BE0FC-160A-4E18-B4C9-3D44787E6B80}"/>
              </a:ext>
            </a:extLst>
          </p:cNvPr>
          <p:cNvSpPr/>
          <p:nvPr/>
        </p:nvSpPr>
        <p:spPr bwMode="auto">
          <a:xfrm>
            <a:off x="3453467" y="4401046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761B0296-8A26-407D-9684-CE7B4CEF74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2695213"/>
              </p:ext>
            </p:extLst>
          </p:nvPr>
        </p:nvGraphicFramePr>
        <p:xfrm>
          <a:off x="3270250" y="3962400"/>
          <a:ext cx="5842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5640" imgH="152280" progId="Equation.DSMT4">
                  <p:embed/>
                </p:oleObj>
              </mc:Choice>
              <mc:Fallback>
                <p:oleObj name="Equation" r:id="rId6" imgW="215640" imgH="15228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F691BC22-3A0B-4E63-814E-95213D30C8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270250" y="3962400"/>
                        <a:ext cx="584200" cy="41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F2FBDADA-3603-4039-9F4C-6C7B89997D16}"/>
              </a:ext>
            </a:extLst>
          </p:cNvPr>
          <p:cNvCxnSpPr>
            <a:cxnSpLocks/>
          </p:cNvCxnSpPr>
          <p:nvPr/>
        </p:nvCxnSpPr>
        <p:spPr bwMode="auto">
          <a:xfrm flipV="1">
            <a:off x="3646317" y="4467223"/>
            <a:ext cx="3034875" cy="35945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流程图: 接点 19">
            <a:extLst>
              <a:ext uri="{FF2B5EF4-FFF2-40B4-BE49-F238E27FC236}">
                <a16:creationId xmlns:a16="http://schemas.microsoft.com/office/drawing/2014/main" id="{30269DDC-ED33-4359-B08D-0B63783A3FD6}"/>
              </a:ext>
            </a:extLst>
          </p:cNvPr>
          <p:cNvSpPr/>
          <p:nvPr/>
        </p:nvSpPr>
        <p:spPr bwMode="auto">
          <a:xfrm>
            <a:off x="4711604" y="4374719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5EF6FB9E-F447-4FE6-8D6B-44C7520008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1132525"/>
              </p:ext>
            </p:extLst>
          </p:nvPr>
        </p:nvGraphicFramePr>
        <p:xfrm>
          <a:off x="4254500" y="4008438"/>
          <a:ext cx="5842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5640" imgH="152280" progId="Equation.DSMT4">
                  <p:embed/>
                </p:oleObj>
              </mc:Choice>
              <mc:Fallback>
                <p:oleObj name="Equation" r:id="rId8" imgW="215640" imgH="152280" progId="Equation.DSMT4">
                  <p:embed/>
                  <p:pic>
                    <p:nvPicPr>
                      <p:cNvPr id="32" name="对象 31">
                        <a:extLst>
                          <a:ext uri="{FF2B5EF4-FFF2-40B4-BE49-F238E27FC236}">
                            <a16:creationId xmlns:a16="http://schemas.microsoft.com/office/drawing/2014/main" id="{25CB9CD7-38CA-4544-BD0A-4A65EF69A3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254500" y="4008438"/>
                        <a:ext cx="584200" cy="41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BD83C341-2A32-4D8C-B984-635B462AE835}"/>
              </a:ext>
            </a:extLst>
          </p:cNvPr>
          <p:cNvCxnSpPr>
            <a:cxnSpLocks/>
          </p:cNvCxnSpPr>
          <p:nvPr/>
        </p:nvCxnSpPr>
        <p:spPr bwMode="auto">
          <a:xfrm flipV="1">
            <a:off x="4781172" y="3270996"/>
            <a:ext cx="20741" cy="1218258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16E7C98B-3E2F-410B-ABEC-673BCB3B03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165108"/>
              </p:ext>
            </p:extLst>
          </p:nvPr>
        </p:nvGraphicFramePr>
        <p:xfrm>
          <a:off x="4916504" y="3695050"/>
          <a:ext cx="481012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7480" imgH="152280" progId="Equation.DSMT4">
                  <p:embed/>
                </p:oleObj>
              </mc:Choice>
              <mc:Fallback>
                <p:oleObj name="Equation" r:id="rId10" imgW="177480" imgH="152280" progId="Equation.DSMT4">
                  <p:embed/>
                  <p:pic>
                    <p:nvPicPr>
                      <p:cNvPr id="36" name="对象 35">
                        <a:extLst>
                          <a:ext uri="{FF2B5EF4-FFF2-40B4-BE49-F238E27FC236}">
                            <a16:creationId xmlns:a16="http://schemas.microsoft.com/office/drawing/2014/main" id="{4E5AFD2F-68EC-40DB-9DA7-34DCCBF821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916504" y="3695050"/>
                        <a:ext cx="481012" cy="41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A8D8DDA5-F47B-486D-8C04-A552DB4A4D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972614"/>
              </p:ext>
            </p:extLst>
          </p:nvPr>
        </p:nvGraphicFramePr>
        <p:xfrm>
          <a:off x="6557963" y="5338763"/>
          <a:ext cx="508000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90440" imgH="164880" progId="Equation.DSMT4">
                  <p:embed/>
                </p:oleObj>
              </mc:Choice>
              <mc:Fallback>
                <p:oleObj name="Equation" r:id="rId12" imgW="190440" imgH="164880" progId="Equation.DSMT4">
                  <p:embed/>
                  <p:pic>
                    <p:nvPicPr>
                      <p:cNvPr id="38" name="对象 37">
                        <a:extLst>
                          <a:ext uri="{FF2B5EF4-FFF2-40B4-BE49-F238E27FC236}">
                            <a16:creationId xmlns:a16="http://schemas.microsoft.com/office/drawing/2014/main" id="{D28AFB78-34BE-4338-8B22-FE3963F8A8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557963" y="5338763"/>
                        <a:ext cx="508000" cy="439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67E2560E-CC33-4EE9-AD3C-128D7ACF4E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2730724"/>
              </p:ext>
            </p:extLst>
          </p:nvPr>
        </p:nvGraphicFramePr>
        <p:xfrm>
          <a:off x="2430463" y="3890963"/>
          <a:ext cx="474662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77480" imgH="164880" progId="Equation.DSMT4">
                  <p:embed/>
                </p:oleObj>
              </mc:Choice>
              <mc:Fallback>
                <p:oleObj name="Equation" r:id="rId14" imgW="177480" imgH="164880" progId="Equation.DSMT4">
                  <p:embed/>
                  <p:pic>
                    <p:nvPicPr>
                      <p:cNvPr id="45" name="对象 44">
                        <a:extLst>
                          <a:ext uri="{FF2B5EF4-FFF2-40B4-BE49-F238E27FC236}">
                            <a16:creationId xmlns:a16="http://schemas.microsoft.com/office/drawing/2014/main" id="{9D44514F-00DD-4EEB-9453-53B90A9E21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430463" y="3890963"/>
                        <a:ext cx="474662" cy="439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E479DBBA-4E8B-4CEE-B389-6D98F7046B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0299937"/>
              </p:ext>
            </p:extLst>
          </p:nvPr>
        </p:nvGraphicFramePr>
        <p:xfrm>
          <a:off x="6553200" y="4111625"/>
          <a:ext cx="508000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90440" imgH="164880" progId="Equation.DSMT4">
                  <p:embed/>
                </p:oleObj>
              </mc:Choice>
              <mc:Fallback>
                <p:oleObj name="Equation" r:id="rId16" imgW="190440" imgH="164880" progId="Equation.DSMT4">
                  <p:embed/>
                  <p:pic>
                    <p:nvPicPr>
                      <p:cNvPr id="46" name="对象 45">
                        <a:extLst>
                          <a:ext uri="{FF2B5EF4-FFF2-40B4-BE49-F238E27FC236}">
                            <a16:creationId xmlns:a16="http://schemas.microsoft.com/office/drawing/2014/main" id="{0F4FA634-42A0-4AF5-8AB7-2B663AB9B1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553200" y="4111625"/>
                        <a:ext cx="508000" cy="439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22369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00"/>
                            </p:stCondLst>
                            <p:childTnLst>
                              <p:par>
                                <p:cTn id="7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000"/>
                            </p:stCondLst>
                            <p:childTnLst>
                              <p:par>
                                <p:cTn id="7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4" grpId="0" animBg="1"/>
      <p:bldP spid="17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2FE5A7-D635-40CA-998C-A1F8D2CD0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共轭方向法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752F4A-EDAC-4BF3-9636-F173F1268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共轭方向</a:t>
            </a:r>
            <a:endParaRPr lang="en-US" altLang="zh-CN" dirty="0"/>
          </a:p>
          <a:p>
            <a:pPr lvl="1"/>
            <a:r>
              <a:rPr lang="zh-CN" altLang="en-US" dirty="0"/>
              <a:t>示例：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BDD669-8732-4CD7-8B13-E92BA935E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1205B1E-6CFB-4273-BAA9-C73146C6D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6</a:t>
            </a:fld>
            <a:endParaRPr lang="en-US" altLang="zh-CN" dirty="0"/>
          </a:p>
        </p:txBody>
      </p:sp>
      <p:sp>
        <p:nvSpPr>
          <p:cNvPr id="6" name="流程图: 接点 5">
            <a:extLst>
              <a:ext uri="{FF2B5EF4-FFF2-40B4-BE49-F238E27FC236}">
                <a16:creationId xmlns:a16="http://schemas.microsoft.com/office/drawing/2014/main" id="{E7663CBD-1CC4-4119-B6D6-C25347D8E1E5}"/>
              </a:ext>
            </a:extLst>
          </p:cNvPr>
          <p:cNvSpPr/>
          <p:nvPr/>
        </p:nvSpPr>
        <p:spPr bwMode="auto">
          <a:xfrm>
            <a:off x="4711604" y="3903201"/>
            <a:ext cx="148647" cy="158316"/>
          </a:xfrm>
          <a:prstGeom prst="flowChartConnector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8C1D508-5F9A-47B6-868E-960D71DD740A}"/>
              </a:ext>
            </a:extLst>
          </p:cNvPr>
          <p:cNvSpPr/>
          <p:nvPr/>
        </p:nvSpPr>
        <p:spPr bwMode="auto">
          <a:xfrm>
            <a:off x="3773165" y="3603889"/>
            <a:ext cx="2098485" cy="863334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AFC8FF9C-9452-4132-900C-E6D79701C70B}"/>
              </a:ext>
            </a:extLst>
          </p:cNvPr>
          <p:cNvSpPr/>
          <p:nvPr/>
        </p:nvSpPr>
        <p:spPr bwMode="auto">
          <a:xfrm>
            <a:off x="3296816" y="3140968"/>
            <a:ext cx="3168352" cy="1728192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97AAF315-B62A-4FAD-B549-814F929F49BF}"/>
              </a:ext>
            </a:extLst>
          </p:cNvPr>
          <p:cNvSpPr/>
          <p:nvPr/>
        </p:nvSpPr>
        <p:spPr bwMode="auto">
          <a:xfrm>
            <a:off x="2864767" y="2822233"/>
            <a:ext cx="4176465" cy="2406967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F5FFE3A4-6B56-454C-848D-1125C6B5D361}"/>
              </a:ext>
            </a:extLst>
          </p:cNvPr>
          <p:cNvSpPr/>
          <p:nvPr/>
        </p:nvSpPr>
        <p:spPr bwMode="auto">
          <a:xfrm>
            <a:off x="2432720" y="2492896"/>
            <a:ext cx="5040560" cy="3096344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1A89D8BF-CC28-43F3-B0EE-EB4E79F039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2617" y="4823555"/>
          <a:ext cx="473253" cy="405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7480" imgH="152280" progId="Equation.DSMT4">
                  <p:embed/>
                </p:oleObj>
              </mc:Choice>
              <mc:Fallback>
                <p:oleObj name="Equation" r:id="rId2" imgW="177480" imgH="1522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1A89D8BF-CC28-43F3-B0EE-EB4E79F039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22617" y="4823555"/>
                        <a:ext cx="473253" cy="4056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流程图: 接点 11">
            <a:extLst>
              <a:ext uri="{FF2B5EF4-FFF2-40B4-BE49-F238E27FC236}">
                <a16:creationId xmlns:a16="http://schemas.microsoft.com/office/drawing/2014/main" id="{B839026C-C33D-4600-98C1-509A58B0F9F5}"/>
              </a:ext>
            </a:extLst>
          </p:cNvPr>
          <p:cNvSpPr/>
          <p:nvPr/>
        </p:nvSpPr>
        <p:spPr bwMode="auto">
          <a:xfrm>
            <a:off x="2893314" y="4923862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14D73BD-DB22-4E9B-A484-516C81480E8E}"/>
              </a:ext>
            </a:extLst>
          </p:cNvPr>
          <p:cNvCxnSpPr>
            <a:cxnSpLocks/>
          </p:cNvCxnSpPr>
          <p:nvPr/>
        </p:nvCxnSpPr>
        <p:spPr bwMode="auto">
          <a:xfrm>
            <a:off x="3052923" y="5023456"/>
            <a:ext cx="3539788" cy="496811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53BBB116-249C-4476-9176-8E2854428FE5}"/>
              </a:ext>
            </a:extLst>
          </p:cNvPr>
          <p:cNvSpPr/>
          <p:nvPr/>
        </p:nvSpPr>
        <p:spPr bwMode="auto">
          <a:xfrm>
            <a:off x="4310073" y="5134569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FAFA05E6-62D0-45B2-BC29-400BF53612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5003145"/>
              </p:ext>
            </p:extLst>
          </p:nvPr>
        </p:nvGraphicFramePr>
        <p:xfrm>
          <a:off x="3943056" y="4785772"/>
          <a:ext cx="449130" cy="4156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4880" imgH="152280" progId="Equation.DSMT4">
                  <p:embed/>
                </p:oleObj>
              </mc:Choice>
              <mc:Fallback>
                <p:oleObj name="Equation" r:id="rId4" imgW="164880" imgH="15228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FAFA05E6-62D0-45B2-BC29-400BF53612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43056" y="4785772"/>
                        <a:ext cx="449130" cy="4156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流程图: 接点 16">
            <a:extLst>
              <a:ext uri="{FF2B5EF4-FFF2-40B4-BE49-F238E27FC236}">
                <a16:creationId xmlns:a16="http://schemas.microsoft.com/office/drawing/2014/main" id="{BD8BE0FC-160A-4E18-B4C9-3D44787E6B80}"/>
              </a:ext>
            </a:extLst>
          </p:cNvPr>
          <p:cNvSpPr/>
          <p:nvPr/>
        </p:nvSpPr>
        <p:spPr bwMode="auto">
          <a:xfrm>
            <a:off x="4436695" y="4773713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F2FBDADA-3603-4039-9F4C-6C7B89997D16}"/>
              </a:ext>
            </a:extLst>
          </p:cNvPr>
          <p:cNvCxnSpPr>
            <a:cxnSpLocks/>
          </p:cNvCxnSpPr>
          <p:nvPr/>
        </p:nvCxnSpPr>
        <p:spPr bwMode="auto">
          <a:xfrm>
            <a:off x="3255894" y="4677576"/>
            <a:ext cx="3145381" cy="456993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BD83C341-2A32-4D8C-B984-635B462AE835}"/>
              </a:ext>
            </a:extLst>
          </p:cNvPr>
          <p:cNvCxnSpPr>
            <a:cxnSpLocks/>
          </p:cNvCxnSpPr>
          <p:nvPr/>
        </p:nvCxnSpPr>
        <p:spPr bwMode="auto">
          <a:xfrm flipV="1">
            <a:off x="4408428" y="3393536"/>
            <a:ext cx="565655" cy="1829786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16E7C98B-3E2F-410B-ABEC-673BCB3B03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16504" y="3695050"/>
          <a:ext cx="481012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7480" imgH="152280" progId="Equation.DSMT4">
                  <p:embed/>
                </p:oleObj>
              </mc:Choice>
              <mc:Fallback>
                <p:oleObj name="Equation" r:id="rId6" imgW="177480" imgH="15228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16E7C98B-3E2F-410B-ABEC-673BCB3B03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916504" y="3695050"/>
                        <a:ext cx="481012" cy="41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FE61CDA3-B080-486B-B438-314AFAF0CD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0003180"/>
              </p:ext>
            </p:extLst>
          </p:nvPr>
        </p:nvGraphicFramePr>
        <p:xfrm>
          <a:off x="6493585" y="5379549"/>
          <a:ext cx="406400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2280" imgH="164880" progId="Equation.DSMT4">
                  <p:embed/>
                </p:oleObj>
              </mc:Choice>
              <mc:Fallback>
                <p:oleObj name="Equation" r:id="rId8" imgW="152280" imgH="164880" progId="Equation.DSMT4">
                  <p:embed/>
                  <p:pic>
                    <p:nvPicPr>
                      <p:cNvPr id="38" name="对象 37">
                        <a:extLst>
                          <a:ext uri="{FF2B5EF4-FFF2-40B4-BE49-F238E27FC236}">
                            <a16:creationId xmlns:a16="http://schemas.microsoft.com/office/drawing/2014/main" id="{D28AFB78-34BE-4338-8B22-FE3963F8A8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493585" y="5379549"/>
                        <a:ext cx="406400" cy="439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9F956424-96AB-4E0B-8681-018122B8A5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3092951"/>
              </p:ext>
            </p:extLst>
          </p:nvPr>
        </p:nvGraphicFramePr>
        <p:xfrm>
          <a:off x="4999268" y="3167101"/>
          <a:ext cx="373063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9680" imgH="164880" progId="Equation.DSMT4">
                  <p:embed/>
                </p:oleObj>
              </mc:Choice>
              <mc:Fallback>
                <p:oleObj name="Equation" r:id="rId10" imgW="139680" imgH="164880" progId="Equation.DSMT4">
                  <p:embed/>
                  <p:pic>
                    <p:nvPicPr>
                      <p:cNvPr id="45" name="对象 44">
                        <a:extLst>
                          <a:ext uri="{FF2B5EF4-FFF2-40B4-BE49-F238E27FC236}">
                            <a16:creationId xmlns:a16="http://schemas.microsoft.com/office/drawing/2014/main" id="{9D44514F-00DD-4EEB-9453-53B90A9E21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999268" y="3167101"/>
                        <a:ext cx="373063" cy="439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C98FD672-7C45-49C1-9509-87B3ED679E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4345790"/>
              </p:ext>
            </p:extLst>
          </p:nvPr>
        </p:nvGraphicFramePr>
        <p:xfrm>
          <a:off x="6364762" y="4821902"/>
          <a:ext cx="406400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2280" imgH="164880" progId="Equation.DSMT4">
                  <p:embed/>
                </p:oleObj>
              </mc:Choice>
              <mc:Fallback>
                <p:oleObj name="Equation" r:id="rId8" imgW="152280" imgH="16488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FE61CDA3-B080-486B-B438-314AFAF0CD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364762" y="4821902"/>
                        <a:ext cx="406400" cy="439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FF482BDB-846B-4B55-9FB4-5A02B9736A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627097"/>
              </p:ext>
            </p:extLst>
          </p:nvPr>
        </p:nvGraphicFramePr>
        <p:xfrm>
          <a:off x="3130970" y="1245938"/>
          <a:ext cx="6032047" cy="792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57120" imgH="164880" progId="Equation.DSMT4">
                  <p:embed/>
                </p:oleObj>
              </mc:Choice>
              <mc:Fallback>
                <p:oleObj name="Equation" r:id="rId12" imgW="125712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130970" y="1245938"/>
                        <a:ext cx="6032047" cy="792087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41774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D62603-DA81-469B-A36C-41629C308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共轭方向法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95E37CF-12CE-495B-B312-F42A719715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共轭方向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定义：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设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dirty="0"/>
                  <a:t>为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阶的实对称矩阵，如果对于任意两个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维非零列向量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nor/>
                      </m:rPr>
                      <a:rPr lang="en-US" altLang="zh-CN" baseline="30000" dirty="0"/>
                      <m:t>(</m:t>
                    </m:r>
                    <m:r>
                      <m:rPr>
                        <m:nor/>
                      </m:rPr>
                      <a:rPr lang="en-US" altLang="zh-CN" b="1" i="0" baseline="30000" dirty="0" smtClean="0"/>
                      <m:t>1</m:t>
                    </m:r>
                    <m:r>
                      <m:rPr>
                        <m:nor/>
                      </m:rPr>
                      <a:rPr lang="en-US" altLang="zh-CN" baseline="30000" dirty="0"/>
                      <m:t>)</m:t>
                    </m:r>
                  </m:oMath>
                </a14:m>
                <a:r>
                  <a:rPr lang="zh-CN" altLang="en-US" dirty="0"/>
                  <a:t>与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nor/>
                      </m:rPr>
                      <a:rPr lang="en-US" altLang="zh-CN" baseline="30000" dirty="0"/>
                      <m:t>(2)</m:t>
                    </m:r>
                  </m:oMath>
                </a14:m>
                <a:r>
                  <a:rPr lang="zh-CN" altLang="en-US" dirty="0"/>
                  <a:t>，如果满足：</a:t>
                </a:r>
                <a:endParaRPr lang="en-US" altLang="zh-CN" dirty="0"/>
              </a:p>
              <a:p>
                <a:pPr lvl="2"/>
                <a:endParaRPr lang="en-US" altLang="zh-CN" dirty="0"/>
              </a:p>
              <a:p>
                <a:pPr marL="914400" lvl="2" indent="0">
                  <a:buNone/>
                </a:pPr>
                <a:r>
                  <a:rPr lang="zh-CN" altLang="en-US" dirty="0"/>
                  <a:t>  </a:t>
                </a:r>
                <a:endParaRPr lang="en-US" altLang="zh-CN" dirty="0"/>
              </a:p>
              <a:p>
                <a:pPr marL="914400" lvl="2" indent="0">
                  <a:buNone/>
                </a:pPr>
                <a:r>
                  <a:rPr lang="en-US" altLang="zh-CN" dirty="0"/>
                  <a:t>  </a:t>
                </a:r>
                <a:r>
                  <a:rPr lang="zh-CN" altLang="en-US" dirty="0"/>
                  <a:t> 则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nor/>
                      </m:rPr>
                      <a:rPr lang="en-US" altLang="zh-CN" baseline="30000" dirty="0"/>
                      <m:t>(</m:t>
                    </m:r>
                    <m:r>
                      <m:rPr>
                        <m:nor/>
                      </m:rPr>
                      <a:rPr lang="en-US" altLang="zh-CN" b="1" i="0" baseline="30000" dirty="0" smtClean="0"/>
                      <m:t>1</m:t>
                    </m:r>
                    <m:r>
                      <m:rPr>
                        <m:nor/>
                      </m:rPr>
                      <a:rPr lang="en-US" altLang="zh-CN" baseline="30000" dirty="0"/>
                      <m:t>)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nor/>
                      </m:rPr>
                      <a:rPr lang="en-US" altLang="zh-CN" baseline="30000" dirty="0"/>
                      <m:t>(</m:t>
                    </m:r>
                    <m:r>
                      <m:rPr>
                        <m:nor/>
                      </m:rPr>
                      <a:rPr lang="en-US" altLang="zh-CN" b="1" i="0" baseline="30000" dirty="0" smtClean="0"/>
                      <m:t>2</m:t>
                    </m:r>
                    <m:r>
                      <m:rPr>
                        <m:nor/>
                      </m:rPr>
                      <a:rPr lang="en-US" altLang="zh-CN" baseline="30000" dirty="0"/>
                      <m:t>)</m:t>
                    </m:r>
                  </m:oMath>
                </a14:m>
                <a:r>
                  <a:rPr lang="zh-CN" altLang="en-US" dirty="0"/>
                  <a:t>关于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dirty="0"/>
                  <a:t>共轭。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95E37CF-12CE-495B-B312-F42A719715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6" t="-2083" r="-7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0E9869-1A50-4E1F-8C94-A755CBAA9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4CF6346-9EE6-4EC5-AB82-D55E99860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7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25BAE5CE-3FC9-49BC-9EC3-CB1584454C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3234325"/>
              </p:ext>
            </p:extLst>
          </p:nvPr>
        </p:nvGraphicFramePr>
        <p:xfrm>
          <a:off x="2944813" y="3644900"/>
          <a:ext cx="2560637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11000" imgH="177480" progId="Equation.DSMT4">
                  <p:embed/>
                </p:oleObj>
              </mc:Choice>
              <mc:Fallback>
                <p:oleObj name="Equation" r:id="rId3" imgW="71100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44813" y="3644900"/>
                        <a:ext cx="2560637" cy="639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21871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0010014-7C7F-4936-B094-7FBB1B3FEF93}"/>
              </a:ext>
            </a:extLst>
          </p:cNvPr>
          <p:cNvCxnSpPr>
            <a:cxnSpLocks/>
          </p:cNvCxnSpPr>
          <p:nvPr/>
        </p:nvCxnSpPr>
        <p:spPr bwMode="auto">
          <a:xfrm>
            <a:off x="6150046" y="5329932"/>
            <a:ext cx="2692045" cy="49387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7CD8379F-614D-48E9-86C4-3EEA7356B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共轭方向定义推导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9BF39E-0915-4287-A51E-9FAADCA73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0861480-CFFF-488D-9DCB-0C716508A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8</a:t>
            </a:fld>
            <a:endParaRPr lang="en-US" altLang="zh-CN" dirty="0"/>
          </a:p>
        </p:txBody>
      </p:sp>
      <p:sp>
        <p:nvSpPr>
          <p:cNvPr id="6" name="流程图: 接点 5">
            <a:extLst>
              <a:ext uri="{FF2B5EF4-FFF2-40B4-BE49-F238E27FC236}">
                <a16:creationId xmlns:a16="http://schemas.microsoft.com/office/drawing/2014/main" id="{355A99E8-10E2-4C89-9A7B-EF785C90E0D1}"/>
              </a:ext>
            </a:extLst>
          </p:cNvPr>
          <p:cNvSpPr/>
          <p:nvPr/>
        </p:nvSpPr>
        <p:spPr bwMode="auto">
          <a:xfrm rot="17986332">
            <a:off x="7509902" y="3291133"/>
            <a:ext cx="148647" cy="158316"/>
          </a:xfrm>
          <a:prstGeom prst="flowChartConnector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356504D-E4C5-4E91-8A44-4E29A3B09EFE}"/>
              </a:ext>
            </a:extLst>
          </p:cNvPr>
          <p:cNvSpPr/>
          <p:nvPr/>
        </p:nvSpPr>
        <p:spPr bwMode="auto">
          <a:xfrm rot="17986332">
            <a:off x="6571463" y="2991821"/>
            <a:ext cx="2098485" cy="863334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86C5CC46-180F-49A4-8914-A89625A53BFC}"/>
              </a:ext>
            </a:extLst>
          </p:cNvPr>
          <p:cNvSpPr/>
          <p:nvPr/>
        </p:nvSpPr>
        <p:spPr bwMode="auto">
          <a:xfrm rot="17986332">
            <a:off x="6095114" y="2528900"/>
            <a:ext cx="3168352" cy="1728192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72EC6998-C05C-4AF8-8838-75B408D2F43D}"/>
              </a:ext>
            </a:extLst>
          </p:cNvPr>
          <p:cNvSpPr/>
          <p:nvPr/>
        </p:nvSpPr>
        <p:spPr bwMode="auto">
          <a:xfrm rot="17986332">
            <a:off x="5663065" y="2210165"/>
            <a:ext cx="4176465" cy="2406967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A2E7D3D8-830B-4AD8-9A41-539EA028C0DE}"/>
              </a:ext>
            </a:extLst>
          </p:cNvPr>
          <p:cNvSpPr/>
          <p:nvPr/>
        </p:nvSpPr>
        <p:spPr bwMode="auto">
          <a:xfrm rot="17986332">
            <a:off x="5231018" y="1880828"/>
            <a:ext cx="5040560" cy="3096344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6BE93A32-8539-4314-898A-90ADE6AF29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3554838"/>
              </p:ext>
            </p:extLst>
          </p:nvPr>
        </p:nvGraphicFramePr>
        <p:xfrm>
          <a:off x="6914869" y="5324445"/>
          <a:ext cx="57467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5640" imgH="152280" progId="Equation.DSMT4">
                  <p:embed/>
                </p:oleObj>
              </mc:Choice>
              <mc:Fallback>
                <p:oleObj name="Equation" r:id="rId2" imgW="215640" imgH="1522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1A89D8BF-CC28-43F3-B0EE-EB4E79F039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914869" y="5324445"/>
                        <a:ext cx="574675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流程图: 接点 11">
            <a:extLst>
              <a:ext uri="{FF2B5EF4-FFF2-40B4-BE49-F238E27FC236}">
                <a16:creationId xmlns:a16="http://schemas.microsoft.com/office/drawing/2014/main" id="{5F4E7612-CDD0-41ED-8BDF-5A744A8F61D6}"/>
              </a:ext>
            </a:extLst>
          </p:cNvPr>
          <p:cNvSpPr/>
          <p:nvPr/>
        </p:nvSpPr>
        <p:spPr bwMode="auto">
          <a:xfrm rot="17986332">
            <a:off x="6011615" y="5240596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35BBB64E-B808-419B-8249-32B727F066D2}"/>
              </a:ext>
            </a:extLst>
          </p:cNvPr>
          <p:cNvCxnSpPr>
            <a:cxnSpLocks/>
          </p:cNvCxnSpPr>
          <p:nvPr/>
        </p:nvCxnSpPr>
        <p:spPr bwMode="auto">
          <a:xfrm flipV="1">
            <a:off x="7051261" y="1660859"/>
            <a:ext cx="987496" cy="3679875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FB1FAA80-E370-4BB3-91F3-DDBAEA7576F7}"/>
              </a:ext>
            </a:extLst>
          </p:cNvPr>
          <p:cNvSpPr/>
          <p:nvPr/>
        </p:nvSpPr>
        <p:spPr bwMode="auto">
          <a:xfrm rot="17986332">
            <a:off x="6945283" y="5240595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FB1F0D8C-B122-47F8-9BA7-09F08450CC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8029475"/>
              </p:ext>
            </p:extLst>
          </p:nvPr>
        </p:nvGraphicFramePr>
        <p:xfrm>
          <a:off x="5756275" y="5380038"/>
          <a:ext cx="554038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3040" imgH="152280" progId="Equation.DSMT4">
                  <p:embed/>
                </p:oleObj>
              </mc:Choice>
              <mc:Fallback>
                <p:oleObj name="Equation" r:id="rId4" imgW="203040" imgH="15228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FAFA05E6-62D0-45B2-BC29-400BF53612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56275" y="5380038"/>
                        <a:ext cx="554038" cy="414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F980ED80-91A6-4D5D-8D23-6ECD1F90ACDE}"/>
              </a:ext>
            </a:extLst>
          </p:cNvPr>
          <p:cNvCxnSpPr>
            <a:cxnSpLocks/>
          </p:cNvCxnSpPr>
          <p:nvPr/>
        </p:nvCxnSpPr>
        <p:spPr bwMode="auto">
          <a:xfrm flipV="1">
            <a:off x="7071499" y="1419336"/>
            <a:ext cx="65867" cy="3924205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630A9C3A-78EC-47B6-9C66-0F360AF95F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7290286"/>
              </p:ext>
            </p:extLst>
          </p:nvPr>
        </p:nvGraphicFramePr>
        <p:xfrm>
          <a:off x="7714802" y="3082982"/>
          <a:ext cx="481012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7480" imgH="152280" progId="Equation.DSMT4">
                  <p:embed/>
                </p:oleObj>
              </mc:Choice>
              <mc:Fallback>
                <p:oleObj name="Equation" r:id="rId6" imgW="177480" imgH="15228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16E7C98B-3E2F-410B-ABEC-673BCB3B03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714802" y="3082982"/>
                        <a:ext cx="481012" cy="41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23AB4B11-45AD-4C83-AD54-CCBBEB4100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9481641"/>
              </p:ext>
            </p:extLst>
          </p:nvPr>
        </p:nvGraphicFramePr>
        <p:xfrm>
          <a:off x="7967663" y="1517650"/>
          <a:ext cx="508000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0440" imgH="164880" progId="Equation.DSMT4">
                  <p:embed/>
                </p:oleObj>
              </mc:Choice>
              <mc:Fallback>
                <p:oleObj name="Equation" r:id="rId8" imgW="190440" imgH="16488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FE61CDA3-B080-486B-B438-314AFAF0CD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967663" y="1517650"/>
                        <a:ext cx="508000" cy="439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2BD7514D-2B0B-46D5-95E7-6CD523A80F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1102574"/>
              </p:ext>
            </p:extLst>
          </p:nvPr>
        </p:nvGraphicFramePr>
        <p:xfrm>
          <a:off x="8347075" y="5411788"/>
          <a:ext cx="474663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7480" imgH="164880" progId="Equation.DSMT4">
                  <p:embed/>
                </p:oleObj>
              </mc:Choice>
              <mc:Fallback>
                <p:oleObj name="Equation" r:id="rId10" imgW="177480" imgH="164880" progId="Equation.DSMT4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9F956424-96AB-4E0B-8681-018122B8A5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347075" y="5411788"/>
                        <a:ext cx="474663" cy="439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A3DC97E9-0556-487A-A783-369B7269D3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3286922"/>
              </p:ext>
            </p:extLst>
          </p:nvPr>
        </p:nvGraphicFramePr>
        <p:xfrm>
          <a:off x="5784850" y="1131888"/>
          <a:ext cx="1420813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33160" imgH="215640" progId="Equation.DSMT4">
                  <p:embed/>
                </p:oleObj>
              </mc:Choice>
              <mc:Fallback>
                <p:oleObj name="Equation" r:id="rId12" imgW="533160" imgH="215640" progId="Equation.DSMT4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C98FD672-7C45-49C1-9509-87B3ED679E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784850" y="1131888"/>
                        <a:ext cx="1420813" cy="574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右大括号 30">
            <a:extLst>
              <a:ext uri="{FF2B5EF4-FFF2-40B4-BE49-F238E27FC236}">
                <a16:creationId xmlns:a16="http://schemas.microsoft.com/office/drawing/2014/main" id="{EFCF6CEC-322D-4295-A6F2-F09B11C6DC7F}"/>
              </a:ext>
            </a:extLst>
          </p:cNvPr>
          <p:cNvSpPr/>
          <p:nvPr/>
        </p:nvSpPr>
        <p:spPr bwMode="auto">
          <a:xfrm rot="917101">
            <a:off x="7367258" y="3419372"/>
            <a:ext cx="138102" cy="1866416"/>
          </a:xfrm>
          <a:prstGeom prst="rightBrace">
            <a:avLst/>
          </a:prstGeom>
          <a:ln w="28575" cap="flat" cmpd="sng" algn="ctr">
            <a:solidFill>
              <a:srgbClr val="0000FF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4C77B632-F0A3-4C9D-9BE5-855A5B65E8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0726994"/>
              </p:ext>
            </p:extLst>
          </p:nvPr>
        </p:nvGraphicFramePr>
        <p:xfrm>
          <a:off x="7405694" y="4029731"/>
          <a:ext cx="914400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42720" imgH="164880" progId="Equation.DSMT4">
                  <p:embed/>
                </p:oleObj>
              </mc:Choice>
              <mc:Fallback>
                <p:oleObj name="Equation" r:id="rId14" imgW="342720" imgH="16488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23AB4B11-45AD-4C83-AD54-CCBBEB4100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7405694" y="4029731"/>
                        <a:ext cx="914400" cy="439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4F94DB3C-1C99-4230-8553-7D8927F3D3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2042642"/>
              </p:ext>
            </p:extLst>
          </p:nvPr>
        </p:nvGraphicFramePr>
        <p:xfrm>
          <a:off x="3822700" y="2247301"/>
          <a:ext cx="101600" cy="13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01520" imgH="139680" progId="Equation.DSMT4">
                  <p:embed/>
                </p:oleObj>
              </mc:Choice>
              <mc:Fallback>
                <p:oleObj name="Equation" r:id="rId16" imgW="10152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822700" y="2247301"/>
                        <a:ext cx="101600" cy="139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C5EAB389-8361-4AF6-B7BD-B898176640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1390504"/>
              </p:ext>
            </p:extLst>
          </p:nvPr>
        </p:nvGraphicFramePr>
        <p:xfrm>
          <a:off x="384517" y="1525548"/>
          <a:ext cx="3691157" cy="8793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333440" imgH="317160" progId="Equation.DSMT4">
                  <p:embed/>
                </p:oleObj>
              </mc:Choice>
              <mc:Fallback>
                <p:oleObj name="Equation" r:id="rId18" imgW="1333440" imgH="317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84517" y="1525548"/>
                        <a:ext cx="3691157" cy="8793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3A3BA8F9-A10C-4C78-9521-C751A72026A1}"/>
                  </a:ext>
                </a:extLst>
              </p:cNvPr>
              <p:cNvSpPr txBox="1"/>
              <p:nvPr/>
            </p:nvSpPr>
            <p:spPr>
              <a:xfrm>
                <a:off x="334783" y="2270882"/>
                <a:ext cx="578033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为</m:t>
                      </m:r>
                      <m:r>
                        <a:rPr lang="en-US" altLang="zh-CN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阶常数矩阵，</m:t>
                      </m:r>
                      <m:r>
                        <a:rPr lang="en-US" altLang="zh-CN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为</m:t>
                      </m:r>
                      <m:r>
                        <a:rPr lang="en-US" altLang="zh-CN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阶列矩阵，</m:t>
                      </m:r>
                      <m:r>
                        <a:rPr lang="en-US" altLang="zh-CN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为常数</m:t>
                      </m:r>
                    </m:oMath>
                  </m:oMathPara>
                </a14:m>
                <a:endParaRPr lang="zh-CN" altLang="en-US" sz="2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3A3BA8F9-A10C-4C78-9521-C751A72026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783" y="2270882"/>
                <a:ext cx="5780339" cy="400110"/>
              </a:xfrm>
              <a:prstGeom prst="rect">
                <a:avLst/>
              </a:prstGeom>
              <a:blipFill>
                <a:blip r:embed="rId21"/>
                <a:stretch>
                  <a:fillRect b="-10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60630290-0AC4-417B-8728-763088CB310A}"/>
                  </a:ext>
                </a:extLst>
              </p:cNvPr>
              <p:cNvSpPr txBox="1"/>
              <p:nvPr/>
            </p:nvSpPr>
            <p:spPr>
              <a:xfrm>
                <a:off x="283466" y="1230167"/>
                <a:ext cx="252069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/>
                  <a:t>给定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/>
                  <a:t>阶二次函数</a:t>
                </a:r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60630290-0AC4-417B-8728-763088CB31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466" y="1230167"/>
                <a:ext cx="2520690" cy="461665"/>
              </a:xfrm>
              <a:prstGeom prst="rect">
                <a:avLst/>
              </a:prstGeom>
              <a:blipFill>
                <a:blip r:embed="rId22"/>
                <a:stretch>
                  <a:fillRect l="-3874" t="-10526" r="-290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AE84210E-010A-4743-8784-1E212744CF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0416163"/>
              </p:ext>
            </p:extLst>
          </p:nvPr>
        </p:nvGraphicFramePr>
        <p:xfrm>
          <a:off x="1549400" y="3619500"/>
          <a:ext cx="2590800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876240" imgH="164880" progId="Equation.DSMT4">
                  <p:embed/>
                </p:oleObj>
              </mc:Choice>
              <mc:Fallback>
                <p:oleObj name="Equation" r:id="rId23" imgW="876240" imgH="164880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C5EAB389-8361-4AF6-B7BD-B898176640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49400" y="3619500"/>
                        <a:ext cx="2590800" cy="487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D6614C84-FA0A-4657-B169-2D65E63A111F}"/>
                  </a:ext>
                </a:extLst>
              </p:cNvPr>
              <p:cNvSpPr txBox="1"/>
              <p:nvPr/>
            </p:nvSpPr>
            <p:spPr>
              <a:xfrm>
                <a:off x="274054" y="2694747"/>
                <a:ext cx="571978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如图，假设从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400" baseline="30000" dirty="0"/>
                  <a:t>(2)</a:t>
                </a:r>
                <a:r>
                  <a:rPr lang="zh-CN" altLang="en-US" sz="2400" dirty="0"/>
                  <a:t>点出发，经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sz="2400" baseline="30000" dirty="0"/>
                  <a:t>(2)</a:t>
                </a:r>
                <a:r>
                  <a:rPr lang="zh-CN" altLang="en-US" sz="2400" dirty="0"/>
                  <a:t>方向搜索</a:t>
                </a:r>
                <a14:m>
                  <m:oMath xmlns:m="http://schemas.openxmlformats.org/officeDocument/2006/math"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m:rPr>
                        <m:nor/>
                      </m:rPr>
                      <a:rPr lang="en-US" altLang="zh-CN" sz="2400" baseline="30000" dirty="0"/>
                      <m:t>(2)</m:t>
                    </m:r>
                  </m:oMath>
                </a14:m>
                <a:r>
                  <a:rPr lang="zh-CN" altLang="en-US" sz="2400" dirty="0"/>
                  <a:t>步长可以到达极值点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400" dirty="0"/>
                  <a:t>*</a:t>
                </a:r>
                <a:r>
                  <a:rPr lang="zh-CN" altLang="en-US" sz="2400" dirty="0"/>
                  <a:t>，则：</a:t>
                </a:r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D6614C84-FA0A-4657-B169-2D65E63A11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054" y="2694747"/>
                <a:ext cx="5719784" cy="830997"/>
              </a:xfrm>
              <a:prstGeom prst="rect">
                <a:avLst/>
              </a:prstGeom>
              <a:blipFill>
                <a:blip r:embed="rId25"/>
                <a:stretch>
                  <a:fillRect l="-1706" t="-5882" b="-16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8E9C314F-81E3-422C-9161-9663EB0133BF}"/>
                  </a:ext>
                </a:extLst>
              </p:cNvPr>
              <p:cNvSpPr txBox="1"/>
              <p:nvPr/>
            </p:nvSpPr>
            <p:spPr>
              <a:xfrm>
                <a:off x="270743" y="4283882"/>
                <a:ext cx="537115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因为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400" dirty="0"/>
                  <a:t>*</a:t>
                </a:r>
                <a:r>
                  <a:rPr lang="zh-CN" altLang="en-US" sz="2400" dirty="0"/>
                  <a:t>点是极值点，根据无约束优化问题极值点的必要条件可知：</a:t>
                </a: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8E9C314F-81E3-422C-9161-9663EB013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743" y="4283882"/>
                <a:ext cx="5371155" cy="830997"/>
              </a:xfrm>
              <a:prstGeom prst="rect">
                <a:avLst/>
              </a:prstGeom>
              <a:blipFill>
                <a:blip r:embed="rId26"/>
                <a:stretch>
                  <a:fillRect l="-1701" t="-5882" b="-16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B0D53D10-4388-4B7E-A73E-315B2D60E0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7562148"/>
              </p:ext>
            </p:extLst>
          </p:nvPr>
        </p:nvGraphicFramePr>
        <p:xfrm>
          <a:off x="1757747" y="5292239"/>
          <a:ext cx="1865956" cy="5807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571320" imgH="177480" progId="Equation.DSMT4">
                  <p:embed/>
                </p:oleObj>
              </mc:Choice>
              <mc:Fallback>
                <p:oleObj name="Equation" r:id="rId27" imgW="571320" imgH="177480" progId="Equation.DSMT4">
                  <p:embed/>
                  <p:pic>
                    <p:nvPicPr>
                      <p:cNvPr id="39" name="对象 38">
                        <a:extLst>
                          <a:ext uri="{FF2B5EF4-FFF2-40B4-BE49-F238E27FC236}">
                            <a16:creationId xmlns:a16="http://schemas.microsoft.com/office/drawing/2014/main" id="{AE84210E-010A-4743-8784-1E212744CF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757747" y="5292239"/>
                        <a:ext cx="1865956" cy="5807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16024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4" grpId="0" animBg="1"/>
      <p:bldP spid="31" grpId="0" animBg="1"/>
      <p:bldP spid="37" grpId="0"/>
      <p:bldP spid="38" grpId="0"/>
      <p:bldP spid="40" grpId="0"/>
      <p:bldP spid="4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D8379F-614D-48E9-86C4-3EEA7356B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共轭方向定义推导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9BF39E-0915-4287-A51E-9FAADCA73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0861480-CFFF-488D-9DCB-0C716508A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9</a:t>
            </a:fld>
            <a:endParaRPr lang="en-US" altLang="zh-CN" dirty="0"/>
          </a:p>
        </p:txBody>
      </p:sp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4F94DB3C-1C99-4230-8553-7D8927F3D3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22700" y="2247301"/>
          <a:ext cx="101600" cy="13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1520" imgH="139680" progId="Equation.DSMT4">
                  <p:embed/>
                </p:oleObj>
              </mc:Choice>
              <mc:Fallback>
                <p:oleObj name="Equation" r:id="rId2" imgW="101520" imgH="139680" progId="Equation.DSMT4">
                  <p:embed/>
                  <p:pic>
                    <p:nvPicPr>
                      <p:cNvPr id="33" name="对象 32">
                        <a:extLst>
                          <a:ext uri="{FF2B5EF4-FFF2-40B4-BE49-F238E27FC236}">
                            <a16:creationId xmlns:a16="http://schemas.microsoft.com/office/drawing/2014/main" id="{4F94DB3C-1C99-4230-8553-7D8927F3D3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22700" y="2247301"/>
                        <a:ext cx="101600" cy="139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C5EAB389-8361-4AF6-B7BD-B898176640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3360579"/>
              </p:ext>
            </p:extLst>
          </p:nvPr>
        </p:nvGraphicFramePr>
        <p:xfrm>
          <a:off x="416496" y="1059668"/>
          <a:ext cx="3691157" cy="8793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33440" imgH="317160" progId="Equation.DSMT4">
                  <p:embed/>
                </p:oleObj>
              </mc:Choice>
              <mc:Fallback>
                <p:oleObj name="Equation" r:id="rId4" imgW="1333440" imgH="317160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C5EAB389-8361-4AF6-B7BD-B898176640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6496" y="1059668"/>
                        <a:ext cx="3691157" cy="8793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B0D53D10-4388-4B7E-A73E-315B2D60E0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2284423"/>
              </p:ext>
            </p:extLst>
          </p:nvPr>
        </p:nvGraphicFramePr>
        <p:xfrm>
          <a:off x="445013" y="1956788"/>
          <a:ext cx="5307013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25400" imgH="177480" progId="Equation.DSMT4">
                  <p:embed/>
                </p:oleObj>
              </mc:Choice>
              <mc:Fallback>
                <p:oleObj name="Equation" r:id="rId6" imgW="1625400" imgH="177480" progId="Equation.DSMT4">
                  <p:embed/>
                  <p:pic>
                    <p:nvPicPr>
                      <p:cNvPr id="42" name="对象 41">
                        <a:extLst>
                          <a:ext uri="{FF2B5EF4-FFF2-40B4-BE49-F238E27FC236}">
                            <a16:creationId xmlns:a16="http://schemas.microsoft.com/office/drawing/2014/main" id="{B0D53D10-4388-4B7E-A73E-315B2D60E0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45013" y="1956788"/>
                        <a:ext cx="5307013" cy="581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>
            <a:extLst>
              <a:ext uri="{FF2B5EF4-FFF2-40B4-BE49-F238E27FC236}">
                <a16:creationId xmlns:a16="http://schemas.microsoft.com/office/drawing/2014/main" id="{12F91DDF-5B81-4F72-8F92-73FA9375AB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6422641"/>
              </p:ext>
            </p:extLst>
          </p:nvPr>
        </p:nvGraphicFramePr>
        <p:xfrm>
          <a:off x="387513" y="3172734"/>
          <a:ext cx="7964487" cy="278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38280" imgH="850680" progId="Equation.DSMT4">
                  <p:embed/>
                </p:oleObj>
              </mc:Choice>
              <mc:Fallback>
                <p:oleObj name="Equation" r:id="rId8" imgW="2438280" imgH="850680" progId="Equation.DSMT4">
                  <p:embed/>
                  <p:pic>
                    <p:nvPicPr>
                      <p:cNvPr id="42" name="对象 41">
                        <a:extLst>
                          <a:ext uri="{FF2B5EF4-FFF2-40B4-BE49-F238E27FC236}">
                            <a16:creationId xmlns:a16="http://schemas.microsoft.com/office/drawing/2014/main" id="{B0D53D10-4388-4B7E-A73E-315B2D60E0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87513" y="3172734"/>
                        <a:ext cx="7964487" cy="2782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90EBC07D-3172-4960-B76D-D5A67CE86F9C}"/>
              </a:ext>
            </a:extLst>
          </p:cNvPr>
          <p:cNvSpPr txBox="1"/>
          <p:nvPr/>
        </p:nvSpPr>
        <p:spPr>
          <a:xfrm>
            <a:off x="404813" y="2728964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证明：</a:t>
            </a:r>
          </a:p>
        </p:txBody>
      </p:sp>
    </p:spTree>
    <p:extLst>
      <p:ext uri="{BB962C8B-B14F-4D97-AF65-F5344CB8AC3E}">
        <p14:creationId xmlns:p14="http://schemas.microsoft.com/office/powerpoint/2010/main" val="73800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D8379F-614D-48E9-86C4-3EEA7356B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共轭方向定义推导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9BF39E-0915-4287-A51E-9FAADCA73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0861480-CFFF-488D-9DCB-0C716508A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10</a:t>
            </a:fld>
            <a:endParaRPr lang="en-US" altLang="zh-CN" dirty="0"/>
          </a:p>
        </p:txBody>
      </p:sp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4F94DB3C-1C99-4230-8553-7D8927F3D3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22700" y="2247301"/>
          <a:ext cx="101600" cy="13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1520" imgH="139680" progId="Equation.DSMT4">
                  <p:embed/>
                </p:oleObj>
              </mc:Choice>
              <mc:Fallback>
                <p:oleObj name="Equation" r:id="rId2" imgW="101520" imgH="139680" progId="Equation.DSMT4">
                  <p:embed/>
                  <p:pic>
                    <p:nvPicPr>
                      <p:cNvPr id="33" name="对象 32">
                        <a:extLst>
                          <a:ext uri="{FF2B5EF4-FFF2-40B4-BE49-F238E27FC236}">
                            <a16:creationId xmlns:a16="http://schemas.microsoft.com/office/drawing/2014/main" id="{4F94DB3C-1C99-4230-8553-7D8927F3D3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22700" y="2247301"/>
                        <a:ext cx="101600" cy="139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>
            <a:extLst>
              <a:ext uri="{FF2B5EF4-FFF2-40B4-BE49-F238E27FC236}">
                <a16:creationId xmlns:a16="http://schemas.microsoft.com/office/drawing/2014/main" id="{12F91DDF-5B81-4F72-8F92-73FA9375AB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1431635"/>
              </p:ext>
            </p:extLst>
          </p:nvPr>
        </p:nvGraphicFramePr>
        <p:xfrm>
          <a:off x="434553" y="1005301"/>
          <a:ext cx="7470775" cy="167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38280" imgH="545760" progId="Equation.DSMT4">
                  <p:embed/>
                </p:oleObj>
              </mc:Choice>
              <mc:Fallback>
                <p:oleObj name="Equation" r:id="rId4" imgW="2438280" imgH="545760" progId="Equation.DSMT4">
                  <p:embed/>
                  <p:pic>
                    <p:nvPicPr>
                      <p:cNvPr id="43" name="对象 42">
                        <a:extLst>
                          <a:ext uri="{FF2B5EF4-FFF2-40B4-BE49-F238E27FC236}">
                            <a16:creationId xmlns:a16="http://schemas.microsoft.com/office/drawing/2014/main" id="{12F91DDF-5B81-4F72-8F92-73FA9375AB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4553" y="1005301"/>
                        <a:ext cx="7470775" cy="1674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6791A632-3162-48DC-B5E8-1A606EE7D5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6554145"/>
              </p:ext>
            </p:extLst>
          </p:nvPr>
        </p:nvGraphicFramePr>
        <p:xfrm>
          <a:off x="426715" y="2634130"/>
          <a:ext cx="9494837" cy="2611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98520" imgH="850680" progId="Equation.DSMT4">
                  <p:embed/>
                </p:oleObj>
              </mc:Choice>
              <mc:Fallback>
                <p:oleObj name="Equation" r:id="rId6" imgW="3098520" imgH="850680" progId="Equation.DSMT4">
                  <p:embed/>
                  <p:pic>
                    <p:nvPicPr>
                      <p:cNvPr id="43" name="对象 42">
                        <a:extLst>
                          <a:ext uri="{FF2B5EF4-FFF2-40B4-BE49-F238E27FC236}">
                            <a16:creationId xmlns:a16="http://schemas.microsoft.com/office/drawing/2014/main" id="{12F91DDF-5B81-4F72-8F92-73FA9375AB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26715" y="2634130"/>
                        <a:ext cx="9494837" cy="2611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11703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D8379F-614D-48E9-86C4-3EEA7356B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共轭方向定义推导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9BF39E-0915-4287-A51E-9FAADCA73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0861480-CFFF-488D-9DCB-0C716508A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11</a:t>
            </a:fld>
            <a:endParaRPr lang="en-US" altLang="zh-CN" dirty="0"/>
          </a:p>
        </p:txBody>
      </p:sp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4F94DB3C-1C99-4230-8553-7D8927F3D3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22700" y="2247301"/>
          <a:ext cx="101600" cy="13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1520" imgH="139680" progId="Equation.DSMT4">
                  <p:embed/>
                </p:oleObj>
              </mc:Choice>
              <mc:Fallback>
                <p:oleObj name="Equation" r:id="rId2" imgW="101520" imgH="139680" progId="Equation.DSMT4">
                  <p:embed/>
                  <p:pic>
                    <p:nvPicPr>
                      <p:cNvPr id="33" name="对象 32">
                        <a:extLst>
                          <a:ext uri="{FF2B5EF4-FFF2-40B4-BE49-F238E27FC236}">
                            <a16:creationId xmlns:a16="http://schemas.microsoft.com/office/drawing/2014/main" id="{4F94DB3C-1C99-4230-8553-7D8927F3D3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22700" y="2247301"/>
                        <a:ext cx="101600" cy="139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6791A632-3162-48DC-B5E8-1A606EE7D5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0998386"/>
              </p:ext>
            </p:extLst>
          </p:nvPr>
        </p:nvGraphicFramePr>
        <p:xfrm>
          <a:off x="411162" y="1126652"/>
          <a:ext cx="9494838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98520" imgH="317160" progId="Equation.DSMT4">
                  <p:embed/>
                </p:oleObj>
              </mc:Choice>
              <mc:Fallback>
                <p:oleObj name="Equation" r:id="rId4" imgW="3098520" imgH="3171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6791A632-3162-48DC-B5E8-1A606EE7D5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1162" y="1126652"/>
                        <a:ext cx="9494838" cy="974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AC55C843-2CBD-48AC-B42A-99DF0955D6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2046903"/>
              </p:ext>
            </p:extLst>
          </p:nvPr>
        </p:nvGraphicFramePr>
        <p:xfrm>
          <a:off x="411162" y="4437112"/>
          <a:ext cx="6072188" cy="159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81080" imgH="520560" progId="Equation.DSMT4">
                  <p:embed/>
                </p:oleObj>
              </mc:Choice>
              <mc:Fallback>
                <p:oleObj name="Equation" r:id="rId6" imgW="1981080" imgH="5205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6791A632-3162-48DC-B5E8-1A606EE7D5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11162" y="4437112"/>
                        <a:ext cx="6072188" cy="15986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8CFE0031-2E75-47F3-8896-09FE4F7E93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7881752"/>
              </p:ext>
            </p:extLst>
          </p:nvPr>
        </p:nvGraphicFramePr>
        <p:xfrm>
          <a:off x="416718" y="2728821"/>
          <a:ext cx="9520238" cy="8842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429000" imgH="317160" progId="Equation.DSMT4">
                  <p:embed/>
                </p:oleObj>
              </mc:Choice>
              <mc:Fallback>
                <p:oleObj name="Equation" r:id="rId8" imgW="3429000" imgH="31716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AC55C843-2CBD-48AC-B42A-99DF0955D6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16718" y="2728821"/>
                        <a:ext cx="9520238" cy="8842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5B240F8-8BD8-4833-A132-7E485907AAE1}"/>
                  </a:ext>
                </a:extLst>
              </p:cNvPr>
              <p:cNvSpPr txBox="1"/>
              <p:nvPr/>
            </p:nvSpPr>
            <p:spPr>
              <a:xfrm>
                <a:off x="320485" y="2237893"/>
                <a:ext cx="204895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/>
                  <a:t>包含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/>
                  <a:t>的项：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5B240F8-8BD8-4833-A132-7E485907A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485" y="2237893"/>
                <a:ext cx="2048959" cy="461665"/>
              </a:xfrm>
              <a:prstGeom prst="rect">
                <a:avLst/>
              </a:prstGeom>
              <a:blipFill>
                <a:blip r:embed="rId11"/>
                <a:stretch>
                  <a:fillRect l="-4762" t="-10526" r="-1190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D4751257-23CF-4D5A-8225-3337DD2343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539223"/>
              </p:ext>
            </p:extLst>
          </p:nvPr>
        </p:nvGraphicFramePr>
        <p:xfrm>
          <a:off x="200472" y="3738277"/>
          <a:ext cx="6589713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323800" imgH="317160" progId="Equation.DSMT4">
                  <p:embed/>
                </p:oleObj>
              </mc:Choice>
              <mc:Fallback>
                <p:oleObj name="Equation" r:id="rId12" imgW="2323800" imgH="31716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8CFE0031-2E75-47F3-8896-09FE4F7E93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00472" y="3738277"/>
                        <a:ext cx="6589713" cy="903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34376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D8379F-614D-48E9-86C4-3EEA7356B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共轭方向定义推导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9BF39E-0915-4287-A51E-9FAADCA73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0861480-CFFF-488D-9DCB-0C716508A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12</a:t>
            </a:fld>
            <a:endParaRPr lang="en-US" altLang="zh-CN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AC55C843-2CBD-48AC-B42A-99DF0955D6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163" y="1325563"/>
          <a:ext cx="6072187" cy="1052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81080" imgH="342720" progId="Equation.DSMT4">
                  <p:embed/>
                </p:oleObj>
              </mc:Choice>
              <mc:Fallback>
                <p:oleObj name="Equation" r:id="rId2" imgW="1981080" imgH="3427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AC55C843-2CBD-48AC-B42A-99DF0955D6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11163" y="1325563"/>
                        <a:ext cx="6072187" cy="1052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2161E0C6-33DA-49BC-AE96-AB22243C14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1106602"/>
              </p:ext>
            </p:extLst>
          </p:nvPr>
        </p:nvGraphicFramePr>
        <p:xfrm>
          <a:off x="409799" y="2722910"/>
          <a:ext cx="6189662" cy="2611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19240" imgH="850680" progId="Equation.DSMT4">
                  <p:embed/>
                </p:oleObj>
              </mc:Choice>
              <mc:Fallback>
                <p:oleObj name="Equation" r:id="rId4" imgW="2019240" imgH="85068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2161E0C6-33DA-49BC-AE96-AB22243C14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09799" y="2722910"/>
                        <a:ext cx="6189662" cy="2611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22768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D8379F-614D-48E9-86C4-3EEA7356B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共轭方向定义推导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9BF39E-0915-4287-A51E-9FAADCA73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0861480-CFFF-488D-9DCB-0C716508A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13</a:t>
            </a:fld>
            <a:endParaRPr lang="en-US" altLang="zh-CN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AC55C843-2CBD-48AC-B42A-99DF0955D6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2815944"/>
              </p:ext>
            </p:extLst>
          </p:nvPr>
        </p:nvGraphicFramePr>
        <p:xfrm>
          <a:off x="272480" y="1228800"/>
          <a:ext cx="7473951" cy="218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38280" imgH="711000" progId="Equation.DSMT4">
                  <p:embed/>
                </p:oleObj>
              </mc:Choice>
              <mc:Fallback>
                <p:oleObj name="Equation" r:id="rId2" imgW="2438280" imgH="7110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AC55C843-2CBD-48AC-B42A-99DF0955D6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2480" y="1228800"/>
                        <a:ext cx="7473951" cy="2182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228C8E83-CF15-4813-BE8F-88E267E0F7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6054018"/>
              </p:ext>
            </p:extLst>
          </p:nvPr>
        </p:nvGraphicFramePr>
        <p:xfrm>
          <a:off x="276300" y="3876311"/>
          <a:ext cx="6540500" cy="218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33360" imgH="711000" progId="Equation.DSMT4">
                  <p:embed/>
                </p:oleObj>
              </mc:Choice>
              <mc:Fallback>
                <p:oleObj name="Equation" r:id="rId4" imgW="2133360" imgH="7110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AC55C843-2CBD-48AC-B42A-99DF0955D6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76300" y="3876311"/>
                        <a:ext cx="6540500" cy="2182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20630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D8379F-614D-48E9-86C4-3EEA7356B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共轭方向定义推导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9BF39E-0915-4287-A51E-9FAADCA73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0861480-CFFF-488D-9DCB-0C716508A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14</a:t>
            </a:fld>
            <a:endParaRPr lang="en-US" altLang="zh-CN" dirty="0"/>
          </a:p>
        </p:txBody>
      </p:sp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4F94DB3C-1C99-4230-8553-7D8927F3D3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22700" y="2247301"/>
          <a:ext cx="101600" cy="13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1520" imgH="139680" progId="Equation.DSMT4">
                  <p:embed/>
                </p:oleObj>
              </mc:Choice>
              <mc:Fallback>
                <p:oleObj name="Equation" r:id="rId2" imgW="101520" imgH="139680" progId="Equation.DSMT4">
                  <p:embed/>
                  <p:pic>
                    <p:nvPicPr>
                      <p:cNvPr id="33" name="对象 32">
                        <a:extLst>
                          <a:ext uri="{FF2B5EF4-FFF2-40B4-BE49-F238E27FC236}">
                            <a16:creationId xmlns:a16="http://schemas.microsoft.com/office/drawing/2014/main" id="{4F94DB3C-1C99-4230-8553-7D8927F3D3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22700" y="2247301"/>
                        <a:ext cx="101600" cy="139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C5EAB389-8361-4AF6-B7BD-B898176640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9965703"/>
              </p:ext>
            </p:extLst>
          </p:nvPr>
        </p:nvGraphicFramePr>
        <p:xfrm>
          <a:off x="329806" y="1061584"/>
          <a:ext cx="3691157" cy="8793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33440" imgH="317160" progId="Equation.DSMT4">
                  <p:embed/>
                </p:oleObj>
              </mc:Choice>
              <mc:Fallback>
                <p:oleObj name="Equation" r:id="rId4" imgW="1333440" imgH="317160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C5EAB389-8361-4AF6-B7BD-B898176640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9806" y="1061584"/>
                        <a:ext cx="3691157" cy="8793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AE84210E-010A-4743-8784-1E212744CF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549369"/>
              </p:ext>
            </p:extLst>
          </p:nvPr>
        </p:nvGraphicFramePr>
        <p:xfrm>
          <a:off x="486295" y="1813934"/>
          <a:ext cx="4205288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22360" imgH="190440" progId="Equation.DSMT4">
                  <p:embed/>
                </p:oleObj>
              </mc:Choice>
              <mc:Fallback>
                <p:oleObj name="Equation" r:id="rId6" imgW="1422360" imgH="190440" progId="Equation.DSMT4">
                  <p:embed/>
                  <p:pic>
                    <p:nvPicPr>
                      <p:cNvPr id="39" name="对象 38">
                        <a:extLst>
                          <a:ext uri="{FF2B5EF4-FFF2-40B4-BE49-F238E27FC236}">
                            <a16:creationId xmlns:a16="http://schemas.microsoft.com/office/drawing/2014/main" id="{AE84210E-010A-4743-8784-1E212744CF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86295" y="1813934"/>
                        <a:ext cx="4205288" cy="565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B0D53D10-4388-4B7E-A73E-315B2D60E0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0317720"/>
              </p:ext>
            </p:extLst>
          </p:nvPr>
        </p:nvGraphicFramePr>
        <p:xfrm>
          <a:off x="498288" y="2428073"/>
          <a:ext cx="3537469" cy="544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55600" imgH="177480" progId="Equation.DSMT4">
                  <p:embed/>
                </p:oleObj>
              </mc:Choice>
              <mc:Fallback>
                <p:oleObj name="Equation" r:id="rId8" imgW="1155600" imgH="177480" progId="Equation.DSMT4">
                  <p:embed/>
                  <p:pic>
                    <p:nvPicPr>
                      <p:cNvPr id="42" name="对象 41">
                        <a:extLst>
                          <a:ext uri="{FF2B5EF4-FFF2-40B4-BE49-F238E27FC236}">
                            <a16:creationId xmlns:a16="http://schemas.microsoft.com/office/drawing/2014/main" id="{B0D53D10-4388-4B7E-A73E-315B2D60E0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98288" y="2428073"/>
                        <a:ext cx="3537469" cy="5449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5DB75F60-E7E9-47E4-9F0E-1EFB084B92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580739"/>
              </p:ext>
            </p:extLst>
          </p:nvPr>
        </p:nvGraphicFramePr>
        <p:xfrm>
          <a:off x="-25410" y="3138713"/>
          <a:ext cx="4105275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57120" imgH="190440" progId="Equation.DSMT4">
                  <p:embed/>
                </p:oleObj>
              </mc:Choice>
              <mc:Fallback>
                <p:oleObj name="Equation" r:id="rId10" imgW="1257120" imgH="190440" progId="Equation.DSMT4">
                  <p:embed/>
                  <p:pic>
                    <p:nvPicPr>
                      <p:cNvPr id="42" name="对象 41">
                        <a:extLst>
                          <a:ext uri="{FF2B5EF4-FFF2-40B4-BE49-F238E27FC236}">
                            <a16:creationId xmlns:a16="http://schemas.microsoft.com/office/drawing/2014/main" id="{B0D53D10-4388-4B7E-A73E-315B2D60E0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-25410" y="3138713"/>
                        <a:ext cx="4105275" cy="622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5CD45170-3F3C-4EED-A306-6F9AE0336379}"/>
              </a:ext>
            </a:extLst>
          </p:cNvPr>
          <p:cNvSpPr txBox="1"/>
          <p:nvPr/>
        </p:nvSpPr>
        <p:spPr>
          <a:xfrm>
            <a:off x="527256" y="3937320"/>
            <a:ext cx="15872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带入式</a:t>
            </a:r>
            <a:r>
              <a:rPr lang="en-US" altLang="zh-CN" sz="2400" dirty="0"/>
              <a:t>1</a:t>
            </a:r>
            <a:r>
              <a:rPr lang="zh-CN" altLang="en-US" sz="2400" dirty="0"/>
              <a:t>）</a:t>
            </a:r>
          </a:p>
        </p:txBody>
      </p:sp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4055CFDF-00E3-4101-9D55-B2A1F252FA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017662"/>
              </p:ext>
            </p:extLst>
          </p:nvPr>
        </p:nvGraphicFramePr>
        <p:xfrm>
          <a:off x="514897" y="4525312"/>
          <a:ext cx="4768850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60160" imgH="583920" progId="Equation.DSMT4">
                  <p:embed/>
                </p:oleObj>
              </mc:Choice>
              <mc:Fallback>
                <p:oleObj name="Equation" r:id="rId12" imgW="1460160" imgH="583920" progId="Equation.DSMT4">
                  <p:embed/>
                  <p:pic>
                    <p:nvPicPr>
                      <p:cNvPr id="35" name="对象 34">
                        <a:extLst>
                          <a:ext uri="{FF2B5EF4-FFF2-40B4-BE49-F238E27FC236}">
                            <a16:creationId xmlns:a16="http://schemas.microsoft.com/office/drawing/2014/main" id="{5DB75F60-E7E9-47E4-9F0E-1EFB084B92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14897" y="4525312"/>
                        <a:ext cx="4768850" cy="190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15F09F92-0F01-0BA6-ED07-8E5A72398AD5}"/>
              </a:ext>
            </a:extLst>
          </p:cNvPr>
          <p:cNvCxnSpPr>
            <a:cxnSpLocks/>
          </p:cNvCxnSpPr>
          <p:nvPr/>
        </p:nvCxnSpPr>
        <p:spPr bwMode="auto">
          <a:xfrm>
            <a:off x="6150046" y="5329932"/>
            <a:ext cx="2692045" cy="49387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流程图: 接点 22">
            <a:extLst>
              <a:ext uri="{FF2B5EF4-FFF2-40B4-BE49-F238E27FC236}">
                <a16:creationId xmlns:a16="http://schemas.microsoft.com/office/drawing/2014/main" id="{CFA9AA8A-5C09-71D4-3419-F2B74EA5C8FB}"/>
              </a:ext>
            </a:extLst>
          </p:cNvPr>
          <p:cNvSpPr/>
          <p:nvPr/>
        </p:nvSpPr>
        <p:spPr bwMode="auto">
          <a:xfrm rot="17986332">
            <a:off x="7509902" y="3291133"/>
            <a:ext cx="148647" cy="158316"/>
          </a:xfrm>
          <a:prstGeom prst="flowChartConnector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ABCDFA4C-5D18-7ADA-4353-6405F993D293}"/>
              </a:ext>
            </a:extLst>
          </p:cNvPr>
          <p:cNvSpPr/>
          <p:nvPr/>
        </p:nvSpPr>
        <p:spPr bwMode="auto">
          <a:xfrm rot="17986332">
            <a:off x="6571463" y="2991821"/>
            <a:ext cx="2098485" cy="863334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2B3CDFC4-DD54-F345-079D-16FA38F5A4F6}"/>
              </a:ext>
            </a:extLst>
          </p:cNvPr>
          <p:cNvSpPr/>
          <p:nvPr/>
        </p:nvSpPr>
        <p:spPr bwMode="auto">
          <a:xfrm rot="17986332">
            <a:off x="6095114" y="2528900"/>
            <a:ext cx="3168352" cy="1728192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31B031DD-C250-5916-C961-6DC1282ABE85}"/>
              </a:ext>
            </a:extLst>
          </p:cNvPr>
          <p:cNvSpPr/>
          <p:nvPr/>
        </p:nvSpPr>
        <p:spPr bwMode="auto">
          <a:xfrm rot="17986332">
            <a:off x="5663065" y="2210165"/>
            <a:ext cx="4176465" cy="2406967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79E32647-F39E-D9E2-F3ED-5DD85193AD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3155572"/>
              </p:ext>
            </p:extLst>
          </p:nvPr>
        </p:nvGraphicFramePr>
        <p:xfrm>
          <a:off x="6914869" y="5324445"/>
          <a:ext cx="57467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15640" imgH="152280" progId="Equation.DSMT4">
                  <p:embed/>
                </p:oleObj>
              </mc:Choice>
              <mc:Fallback>
                <p:oleObj name="Equation" r:id="rId14" imgW="215640" imgH="1522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6BE93A32-8539-4314-898A-90ADE6AF29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914869" y="5324445"/>
                        <a:ext cx="574675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流程图: 接点 27">
            <a:extLst>
              <a:ext uri="{FF2B5EF4-FFF2-40B4-BE49-F238E27FC236}">
                <a16:creationId xmlns:a16="http://schemas.microsoft.com/office/drawing/2014/main" id="{1A306998-5AD0-8160-83CA-B6C49E44FD16}"/>
              </a:ext>
            </a:extLst>
          </p:cNvPr>
          <p:cNvSpPr/>
          <p:nvPr/>
        </p:nvSpPr>
        <p:spPr bwMode="auto">
          <a:xfrm rot="17986332">
            <a:off x="6011615" y="5240596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E2C578B3-909B-9DB7-49C6-9408CD488CB1}"/>
              </a:ext>
            </a:extLst>
          </p:cNvPr>
          <p:cNvCxnSpPr>
            <a:cxnSpLocks/>
          </p:cNvCxnSpPr>
          <p:nvPr/>
        </p:nvCxnSpPr>
        <p:spPr bwMode="auto">
          <a:xfrm flipV="1">
            <a:off x="7051261" y="1660859"/>
            <a:ext cx="987496" cy="3679875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流程图: 接点 29">
            <a:extLst>
              <a:ext uri="{FF2B5EF4-FFF2-40B4-BE49-F238E27FC236}">
                <a16:creationId xmlns:a16="http://schemas.microsoft.com/office/drawing/2014/main" id="{9254E290-0DD7-F887-58E6-48CF529DD67B}"/>
              </a:ext>
            </a:extLst>
          </p:cNvPr>
          <p:cNvSpPr/>
          <p:nvPr/>
        </p:nvSpPr>
        <p:spPr bwMode="auto">
          <a:xfrm rot="17986332">
            <a:off x="6945283" y="5240595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AC170B75-4408-ED2D-803C-E4CAF07781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2229532"/>
              </p:ext>
            </p:extLst>
          </p:nvPr>
        </p:nvGraphicFramePr>
        <p:xfrm>
          <a:off x="5756275" y="5380038"/>
          <a:ext cx="554038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03040" imgH="152280" progId="Equation.DSMT4">
                  <p:embed/>
                </p:oleObj>
              </mc:Choice>
              <mc:Fallback>
                <p:oleObj name="Equation" r:id="rId16" imgW="203040" imgH="15228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FB1F0D8C-B122-47F8-9BA7-09F08450CC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756275" y="5380038"/>
                        <a:ext cx="554038" cy="414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6600F825-E500-B75C-22F3-8F67B323B80E}"/>
              </a:ext>
            </a:extLst>
          </p:cNvPr>
          <p:cNvCxnSpPr>
            <a:cxnSpLocks/>
          </p:cNvCxnSpPr>
          <p:nvPr/>
        </p:nvCxnSpPr>
        <p:spPr bwMode="auto">
          <a:xfrm flipV="1">
            <a:off x="7071499" y="1419336"/>
            <a:ext cx="65867" cy="3924205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EB0B8230-8D09-AC38-3981-6CEAACE4F9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6346938"/>
              </p:ext>
            </p:extLst>
          </p:nvPr>
        </p:nvGraphicFramePr>
        <p:xfrm>
          <a:off x="7714802" y="3082982"/>
          <a:ext cx="481012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77480" imgH="152280" progId="Equation.DSMT4">
                  <p:embed/>
                </p:oleObj>
              </mc:Choice>
              <mc:Fallback>
                <p:oleObj name="Equation" r:id="rId18" imgW="177480" imgH="15228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630A9C3A-78EC-47B6-9C66-0F360AF95F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7714802" y="3082982"/>
                        <a:ext cx="481012" cy="41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90A8DEFE-115C-0768-CC04-2B75EC1E85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8417613"/>
              </p:ext>
            </p:extLst>
          </p:nvPr>
        </p:nvGraphicFramePr>
        <p:xfrm>
          <a:off x="7967663" y="1517650"/>
          <a:ext cx="508000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90440" imgH="164880" progId="Equation.DSMT4">
                  <p:embed/>
                </p:oleObj>
              </mc:Choice>
              <mc:Fallback>
                <p:oleObj name="Equation" r:id="rId20" imgW="190440" imgH="16488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23AB4B11-45AD-4C83-AD54-CCBBEB4100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7967663" y="1517650"/>
                        <a:ext cx="508000" cy="439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>
            <a:extLst>
              <a:ext uri="{FF2B5EF4-FFF2-40B4-BE49-F238E27FC236}">
                <a16:creationId xmlns:a16="http://schemas.microsoft.com/office/drawing/2014/main" id="{8C73FA92-CF15-3E32-82ED-145F93CAA1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7777146"/>
              </p:ext>
            </p:extLst>
          </p:nvPr>
        </p:nvGraphicFramePr>
        <p:xfrm>
          <a:off x="8347075" y="5411788"/>
          <a:ext cx="474663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77480" imgH="164880" progId="Equation.DSMT4">
                  <p:embed/>
                </p:oleObj>
              </mc:Choice>
              <mc:Fallback>
                <p:oleObj name="Equation" r:id="rId22" imgW="177480" imgH="16488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2BD7514D-2B0B-46D5-95E7-6CD523A80F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8347075" y="5411788"/>
                        <a:ext cx="474663" cy="439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>
            <a:extLst>
              <a:ext uri="{FF2B5EF4-FFF2-40B4-BE49-F238E27FC236}">
                <a16:creationId xmlns:a16="http://schemas.microsoft.com/office/drawing/2014/main" id="{30FC70AC-FF58-6846-4F1A-BCBADDD840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7564174"/>
              </p:ext>
            </p:extLst>
          </p:nvPr>
        </p:nvGraphicFramePr>
        <p:xfrm>
          <a:off x="5784850" y="1131888"/>
          <a:ext cx="1420813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533160" imgH="215640" progId="Equation.DSMT4">
                  <p:embed/>
                </p:oleObj>
              </mc:Choice>
              <mc:Fallback>
                <p:oleObj name="Equation" r:id="rId24" imgW="533160" imgH="21564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A3DC97E9-0556-487A-A783-369B7269D3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5784850" y="1131888"/>
                        <a:ext cx="1420813" cy="574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右大括号 44">
            <a:extLst>
              <a:ext uri="{FF2B5EF4-FFF2-40B4-BE49-F238E27FC236}">
                <a16:creationId xmlns:a16="http://schemas.microsoft.com/office/drawing/2014/main" id="{07C71CD5-8DC6-0AA2-C94C-6D840015E23A}"/>
              </a:ext>
            </a:extLst>
          </p:cNvPr>
          <p:cNvSpPr/>
          <p:nvPr/>
        </p:nvSpPr>
        <p:spPr bwMode="auto">
          <a:xfrm rot="917101">
            <a:off x="7367258" y="3419372"/>
            <a:ext cx="138102" cy="1866416"/>
          </a:xfrm>
          <a:prstGeom prst="rightBrace">
            <a:avLst/>
          </a:prstGeom>
          <a:ln w="28575" cap="flat" cmpd="sng" algn="ctr">
            <a:solidFill>
              <a:srgbClr val="0000FF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46" name="对象 45">
            <a:extLst>
              <a:ext uri="{FF2B5EF4-FFF2-40B4-BE49-F238E27FC236}">
                <a16:creationId xmlns:a16="http://schemas.microsoft.com/office/drawing/2014/main" id="{76F5D236-CAEC-514C-B9D1-8846E707F1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7779007"/>
              </p:ext>
            </p:extLst>
          </p:nvPr>
        </p:nvGraphicFramePr>
        <p:xfrm>
          <a:off x="7405694" y="4029731"/>
          <a:ext cx="914400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342720" imgH="164880" progId="Equation.DSMT4">
                  <p:embed/>
                </p:oleObj>
              </mc:Choice>
              <mc:Fallback>
                <p:oleObj name="Equation" r:id="rId26" imgW="342720" imgH="164880" progId="Equation.DSMT4">
                  <p:embed/>
                  <p:pic>
                    <p:nvPicPr>
                      <p:cNvPr id="32" name="对象 31">
                        <a:extLst>
                          <a:ext uri="{FF2B5EF4-FFF2-40B4-BE49-F238E27FC236}">
                            <a16:creationId xmlns:a16="http://schemas.microsoft.com/office/drawing/2014/main" id="{4C77B632-F0A3-4C9D-9BE5-855A5B65E8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7405694" y="4029731"/>
                        <a:ext cx="914400" cy="439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椭圆 46">
            <a:extLst>
              <a:ext uri="{FF2B5EF4-FFF2-40B4-BE49-F238E27FC236}">
                <a16:creationId xmlns:a16="http://schemas.microsoft.com/office/drawing/2014/main" id="{958DBD2F-3943-EA16-FA62-F58F5B273097}"/>
              </a:ext>
            </a:extLst>
          </p:cNvPr>
          <p:cNvSpPr/>
          <p:nvPr/>
        </p:nvSpPr>
        <p:spPr bwMode="auto">
          <a:xfrm rot="17986332">
            <a:off x="5231018" y="1880828"/>
            <a:ext cx="5040560" cy="3096344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8943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D8379F-614D-48E9-86C4-3EEA7356B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共轭方向定义推导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9BF39E-0915-4287-A51E-9FAADCA73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0861480-CFFF-488D-9DCB-0C716508A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797300" y="6493732"/>
            <a:ext cx="2311400" cy="271098"/>
          </a:xfrm>
        </p:spPr>
        <p:txBody>
          <a:bodyPr/>
          <a:lstStyle/>
          <a:p>
            <a:fld id="{7AC79822-BC0D-4DE8-A7E5-90A3732A2B82}" type="slidenum">
              <a:rPr lang="zh-CN" altLang="en-US" smtClean="0"/>
              <a:pPr/>
              <a:t>15</a:t>
            </a:fld>
            <a:endParaRPr lang="en-US" altLang="zh-CN" dirty="0"/>
          </a:p>
        </p:txBody>
      </p:sp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4F94DB3C-1C99-4230-8553-7D8927F3D3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22700" y="2247301"/>
          <a:ext cx="101600" cy="13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1520" imgH="139680" progId="Equation.DSMT4">
                  <p:embed/>
                </p:oleObj>
              </mc:Choice>
              <mc:Fallback>
                <p:oleObj name="Equation" r:id="rId2" imgW="101520" imgH="139680" progId="Equation.DSMT4">
                  <p:embed/>
                  <p:pic>
                    <p:nvPicPr>
                      <p:cNvPr id="33" name="对象 32">
                        <a:extLst>
                          <a:ext uri="{FF2B5EF4-FFF2-40B4-BE49-F238E27FC236}">
                            <a16:creationId xmlns:a16="http://schemas.microsoft.com/office/drawing/2014/main" id="{4F94DB3C-1C99-4230-8553-7D8927F3D3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22700" y="2247301"/>
                        <a:ext cx="101600" cy="139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4055CFDF-00E3-4101-9D55-B2A1F252FA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7862750"/>
              </p:ext>
            </p:extLst>
          </p:nvPr>
        </p:nvGraphicFramePr>
        <p:xfrm>
          <a:off x="401827" y="1127347"/>
          <a:ext cx="3690937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30040" imgH="164880" progId="Equation.DSMT4">
                  <p:embed/>
                </p:oleObj>
              </mc:Choice>
              <mc:Fallback>
                <p:oleObj name="Equation" r:id="rId4" imgW="1130040" imgH="164880" progId="Equation.DSMT4">
                  <p:embed/>
                  <p:pic>
                    <p:nvPicPr>
                      <p:cNvPr id="36" name="对象 35">
                        <a:extLst>
                          <a:ext uri="{FF2B5EF4-FFF2-40B4-BE49-F238E27FC236}">
                            <a16:creationId xmlns:a16="http://schemas.microsoft.com/office/drawing/2014/main" id="{4055CFDF-00E3-4101-9D55-B2A1F252FA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01827" y="1127347"/>
                        <a:ext cx="3690937" cy="538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3E0AC32E-84A7-4704-B3CF-B59B9967DB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7676826"/>
              </p:ext>
            </p:extLst>
          </p:nvPr>
        </p:nvGraphicFramePr>
        <p:xfrm>
          <a:off x="417994" y="1808524"/>
          <a:ext cx="5348287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38000" imgH="177480" progId="Equation.DSMT4">
                  <p:embed/>
                </p:oleObj>
              </mc:Choice>
              <mc:Fallback>
                <p:oleObj name="Equation" r:id="rId6" imgW="1638000" imgH="177480" progId="Equation.DSMT4">
                  <p:embed/>
                  <p:pic>
                    <p:nvPicPr>
                      <p:cNvPr id="36" name="对象 35">
                        <a:extLst>
                          <a:ext uri="{FF2B5EF4-FFF2-40B4-BE49-F238E27FC236}">
                            <a16:creationId xmlns:a16="http://schemas.microsoft.com/office/drawing/2014/main" id="{4055CFDF-00E3-4101-9D55-B2A1F252FA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17994" y="1808524"/>
                        <a:ext cx="5348287" cy="579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E0B9C4CD-028C-4927-9DC5-B3F0ACCA03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9908993"/>
              </p:ext>
            </p:extLst>
          </p:nvPr>
        </p:nvGraphicFramePr>
        <p:xfrm>
          <a:off x="6560" y="2505155"/>
          <a:ext cx="4645025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22360" imgH="190440" progId="Equation.DSMT4">
                  <p:embed/>
                </p:oleObj>
              </mc:Choice>
              <mc:Fallback>
                <p:oleObj name="Equation" r:id="rId8" imgW="1422360" imgH="190440" progId="Equation.DSMT4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3E0AC32E-84A7-4704-B3CF-B59B9967DB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560" y="2505155"/>
                        <a:ext cx="4645025" cy="620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3733A3B1-C0DF-4610-A195-66F0E272A7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1857033"/>
              </p:ext>
            </p:extLst>
          </p:nvPr>
        </p:nvGraphicFramePr>
        <p:xfrm>
          <a:off x="0" y="3204009"/>
          <a:ext cx="2736850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38080" imgH="190440" progId="Equation.DSMT4">
                  <p:embed/>
                </p:oleObj>
              </mc:Choice>
              <mc:Fallback>
                <p:oleObj name="Equation" r:id="rId10" imgW="838080" imgH="190440" progId="Equation.DSMT4">
                  <p:embed/>
                  <p:pic>
                    <p:nvPicPr>
                      <p:cNvPr id="37" name="对象 36">
                        <a:extLst>
                          <a:ext uri="{FF2B5EF4-FFF2-40B4-BE49-F238E27FC236}">
                            <a16:creationId xmlns:a16="http://schemas.microsoft.com/office/drawing/2014/main" id="{E0B9C4CD-028C-4927-9DC5-B3F0ACCA03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0" y="3204009"/>
                        <a:ext cx="2736850" cy="620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E7862CA6-650F-4C2C-82B8-619DAC81FF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3281877"/>
              </p:ext>
            </p:extLst>
          </p:nvPr>
        </p:nvGraphicFramePr>
        <p:xfrm>
          <a:off x="278497" y="4628203"/>
          <a:ext cx="4022725" cy="115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31560" imgH="355320" progId="Equation.DSMT4">
                  <p:embed/>
                </p:oleObj>
              </mc:Choice>
              <mc:Fallback>
                <p:oleObj name="Equation" r:id="rId12" imgW="1231560" imgH="355320" progId="Equation.DSMT4">
                  <p:embed/>
                  <p:pic>
                    <p:nvPicPr>
                      <p:cNvPr id="38" name="对象 37">
                        <a:extLst>
                          <a:ext uri="{FF2B5EF4-FFF2-40B4-BE49-F238E27FC236}">
                            <a16:creationId xmlns:a16="http://schemas.microsoft.com/office/drawing/2014/main" id="{3733A3B1-C0DF-4610-A195-66F0E272A7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78497" y="4628203"/>
                        <a:ext cx="4022725" cy="1158875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3DF6FD6B-7DFA-4BF2-9C09-E5E182B8FC13}"/>
                  </a:ext>
                </a:extLst>
              </p:cNvPr>
              <p:cNvSpPr txBox="1"/>
              <p:nvPr/>
            </p:nvSpPr>
            <p:spPr>
              <a:xfrm>
                <a:off x="183868" y="5954776"/>
                <a:ext cx="969028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/>
                  <a:t>非零向量组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nor/>
                      </m:rPr>
                      <a:rPr lang="en-US" altLang="zh-CN" sz="2400" baseline="30000" dirty="0"/>
                      <m:t>(1)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nor/>
                      </m:rPr>
                      <a:rPr lang="en-US" altLang="zh-CN" sz="2400" baseline="30000" dirty="0"/>
                      <m:t>(</m:t>
                    </m:r>
                    <m:r>
                      <m:rPr>
                        <m:nor/>
                      </m:rPr>
                      <a:rPr lang="en-US" altLang="zh-CN" sz="2400" b="0" i="0" baseline="30000" dirty="0" smtClean="0"/>
                      <m:t>2</m:t>
                    </m:r>
                    <m:r>
                      <m:rPr>
                        <m:nor/>
                      </m:rPr>
                      <a:rPr lang="en-US" altLang="zh-CN" sz="2400" baseline="30000" dirty="0"/>
                      <m:t>)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nor/>
                      </m:rPr>
                      <a:rPr lang="en-US" altLang="zh-CN" sz="2400" baseline="30000" dirty="0"/>
                      <m:t>(</m:t>
                    </m:r>
                    <m:r>
                      <m:rPr>
                        <m:nor/>
                      </m:rPr>
                      <a:rPr lang="en-US" altLang="zh-CN" sz="2400" b="0" i="0" baseline="30000" dirty="0" smtClean="0"/>
                      <m:t>n</m:t>
                    </m:r>
                    <m:r>
                      <m:rPr>
                        <m:nor/>
                      </m:rPr>
                      <a:rPr lang="en-US" altLang="zh-CN" sz="2400" baseline="30000" dirty="0"/>
                      <m:t>)</m:t>
                    </m:r>
                  </m:oMath>
                </a14:m>
                <a:r>
                  <a:rPr lang="zh-CN" altLang="en-US" sz="2400" dirty="0"/>
                  <a:t>关于矩阵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2400" dirty="0"/>
                  <a:t>共轭，或称它们为</a:t>
                </a:r>
                <a:r>
                  <a:rPr lang="en-US" altLang="zh-CN" sz="2400" i="1" dirty="0"/>
                  <a:t>A</a:t>
                </a:r>
                <a:r>
                  <a:rPr lang="zh-CN" altLang="en-US" sz="2400" dirty="0"/>
                  <a:t>的</a:t>
                </a:r>
                <a:r>
                  <a:rPr lang="en-US" altLang="zh-CN" sz="2400" i="1" dirty="0"/>
                  <a:t>k</a:t>
                </a:r>
                <a:r>
                  <a:rPr lang="zh-CN" altLang="en-US" sz="2400" dirty="0"/>
                  <a:t>个共轭方向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3DF6FD6B-7DFA-4BF2-9C09-E5E182B8F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68" y="5954776"/>
                <a:ext cx="9690281" cy="461665"/>
              </a:xfrm>
              <a:prstGeom prst="rect">
                <a:avLst/>
              </a:prstGeom>
              <a:blipFill>
                <a:blip r:embed="rId14"/>
                <a:stretch>
                  <a:fillRect l="-943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文本框 40">
            <a:extLst>
              <a:ext uri="{FF2B5EF4-FFF2-40B4-BE49-F238E27FC236}">
                <a16:creationId xmlns:a16="http://schemas.microsoft.com/office/drawing/2014/main" id="{E03E938F-7A3C-4147-BD9B-C62529ADC375}"/>
              </a:ext>
            </a:extLst>
          </p:cNvPr>
          <p:cNvSpPr txBox="1"/>
          <p:nvPr/>
        </p:nvSpPr>
        <p:spPr>
          <a:xfrm>
            <a:off x="183868" y="3998840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定义扩展到多个非零向量，如果满足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CC1A197E-266C-60EC-439B-5FEDE1C28272}"/>
              </a:ext>
            </a:extLst>
          </p:cNvPr>
          <p:cNvCxnSpPr>
            <a:cxnSpLocks/>
          </p:cNvCxnSpPr>
          <p:nvPr/>
        </p:nvCxnSpPr>
        <p:spPr bwMode="auto">
          <a:xfrm>
            <a:off x="6150046" y="5329932"/>
            <a:ext cx="2692045" cy="49387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流程图: 接点 22">
            <a:extLst>
              <a:ext uri="{FF2B5EF4-FFF2-40B4-BE49-F238E27FC236}">
                <a16:creationId xmlns:a16="http://schemas.microsoft.com/office/drawing/2014/main" id="{9F784DC7-62C2-920B-5866-D817CC73DE84}"/>
              </a:ext>
            </a:extLst>
          </p:cNvPr>
          <p:cNvSpPr/>
          <p:nvPr/>
        </p:nvSpPr>
        <p:spPr bwMode="auto">
          <a:xfrm rot="17986332">
            <a:off x="7509902" y="3291133"/>
            <a:ext cx="148647" cy="158316"/>
          </a:xfrm>
          <a:prstGeom prst="flowChartConnector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51FD6128-4C9F-E478-A12D-0807FD4F22D1}"/>
              </a:ext>
            </a:extLst>
          </p:cNvPr>
          <p:cNvSpPr/>
          <p:nvPr/>
        </p:nvSpPr>
        <p:spPr bwMode="auto">
          <a:xfrm rot="17986332">
            <a:off x="6571463" y="2991821"/>
            <a:ext cx="2098485" cy="863334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876E94DE-B792-1061-C480-9FF1478FC67B}"/>
              </a:ext>
            </a:extLst>
          </p:cNvPr>
          <p:cNvSpPr/>
          <p:nvPr/>
        </p:nvSpPr>
        <p:spPr bwMode="auto">
          <a:xfrm rot="17986332">
            <a:off x="6095114" y="2528900"/>
            <a:ext cx="3168352" cy="1728192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E4035034-2450-5ECA-5557-7FF04B68BA86}"/>
              </a:ext>
            </a:extLst>
          </p:cNvPr>
          <p:cNvSpPr/>
          <p:nvPr/>
        </p:nvSpPr>
        <p:spPr bwMode="auto">
          <a:xfrm rot="17986332">
            <a:off x="5663065" y="2210165"/>
            <a:ext cx="4176465" cy="2406967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25D1218E-E614-7238-4E5F-82C3D9234B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3155572"/>
              </p:ext>
            </p:extLst>
          </p:nvPr>
        </p:nvGraphicFramePr>
        <p:xfrm>
          <a:off x="6914869" y="5324445"/>
          <a:ext cx="57467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15640" imgH="152280" progId="Equation.DSMT4">
                  <p:embed/>
                </p:oleObj>
              </mc:Choice>
              <mc:Fallback>
                <p:oleObj name="Equation" r:id="rId15" imgW="215640" imgH="1522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6BE93A32-8539-4314-898A-90ADE6AF29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914869" y="5324445"/>
                        <a:ext cx="574675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流程图: 接点 27">
            <a:extLst>
              <a:ext uri="{FF2B5EF4-FFF2-40B4-BE49-F238E27FC236}">
                <a16:creationId xmlns:a16="http://schemas.microsoft.com/office/drawing/2014/main" id="{19BB2259-3DA8-5C33-AD4A-C3D39B5CDCD7}"/>
              </a:ext>
            </a:extLst>
          </p:cNvPr>
          <p:cNvSpPr/>
          <p:nvPr/>
        </p:nvSpPr>
        <p:spPr bwMode="auto">
          <a:xfrm rot="17986332">
            <a:off x="6011615" y="5240596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8E5B9387-C3B8-E77E-40E1-5ECDA5C51456}"/>
              </a:ext>
            </a:extLst>
          </p:cNvPr>
          <p:cNvCxnSpPr>
            <a:cxnSpLocks/>
          </p:cNvCxnSpPr>
          <p:nvPr/>
        </p:nvCxnSpPr>
        <p:spPr bwMode="auto">
          <a:xfrm flipV="1">
            <a:off x="7051261" y="1660859"/>
            <a:ext cx="987496" cy="3679875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4" name="流程图: 接点 33">
            <a:extLst>
              <a:ext uri="{FF2B5EF4-FFF2-40B4-BE49-F238E27FC236}">
                <a16:creationId xmlns:a16="http://schemas.microsoft.com/office/drawing/2014/main" id="{655C9C31-5F79-94E4-966D-D5B05E90670A}"/>
              </a:ext>
            </a:extLst>
          </p:cNvPr>
          <p:cNvSpPr/>
          <p:nvPr/>
        </p:nvSpPr>
        <p:spPr bwMode="auto">
          <a:xfrm rot="17986332">
            <a:off x="6945283" y="5240595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F567A27E-8562-591E-B777-11B1242B4E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2229532"/>
              </p:ext>
            </p:extLst>
          </p:nvPr>
        </p:nvGraphicFramePr>
        <p:xfrm>
          <a:off x="5756275" y="5380038"/>
          <a:ext cx="554038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03040" imgH="152280" progId="Equation.DSMT4">
                  <p:embed/>
                </p:oleObj>
              </mc:Choice>
              <mc:Fallback>
                <p:oleObj name="Equation" r:id="rId17" imgW="203040" imgH="15228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FB1F0D8C-B122-47F8-9BA7-09F08450CC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756275" y="5380038"/>
                        <a:ext cx="554038" cy="414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FFDC0DB2-034A-7395-C0BA-371AB082A93F}"/>
              </a:ext>
            </a:extLst>
          </p:cNvPr>
          <p:cNvCxnSpPr>
            <a:cxnSpLocks/>
          </p:cNvCxnSpPr>
          <p:nvPr/>
        </p:nvCxnSpPr>
        <p:spPr bwMode="auto">
          <a:xfrm flipV="1">
            <a:off x="7071499" y="1419336"/>
            <a:ext cx="65867" cy="3924205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18BBB669-8EB5-6C46-AB2F-4EB7B26138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6346938"/>
              </p:ext>
            </p:extLst>
          </p:nvPr>
        </p:nvGraphicFramePr>
        <p:xfrm>
          <a:off x="7714802" y="3082982"/>
          <a:ext cx="481012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77480" imgH="152280" progId="Equation.DSMT4">
                  <p:embed/>
                </p:oleObj>
              </mc:Choice>
              <mc:Fallback>
                <p:oleObj name="Equation" r:id="rId19" imgW="177480" imgH="15228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630A9C3A-78EC-47B6-9C66-0F360AF95F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714802" y="3082982"/>
                        <a:ext cx="481012" cy="41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>
            <a:extLst>
              <a:ext uri="{FF2B5EF4-FFF2-40B4-BE49-F238E27FC236}">
                <a16:creationId xmlns:a16="http://schemas.microsoft.com/office/drawing/2014/main" id="{9D443356-5420-3196-799E-31E7DC0C3A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8417613"/>
              </p:ext>
            </p:extLst>
          </p:nvPr>
        </p:nvGraphicFramePr>
        <p:xfrm>
          <a:off x="7967663" y="1517650"/>
          <a:ext cx="508000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90440" imgH="164880" progId="Equation.DSMT4">
                  <p:embed/>
                </p:oleObj>
              </mc:Choice>
              <mc:Fallback>
                <p:oleObj name="Equation" r:id="rId21" imgW="190440" imgH="16488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23AB4B11-45AD-4C83-AD54-CCBBEB4100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967663" y="1517650"/>
                        <a:ext cx="508000" cy="439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>
            <a:extLst>
              <a:ext uri="{FF2B5EF4-FFF2-40B4-BE49-F238E27FC236}">
                <a16:creationId xmlns:a16="http://schemas.microsoft.com/office/drawing/2014/main" id="{A6A4CA1C-8F15-AA55-7CD0-190AEC335C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7777146"/>
              </p:ext>
            </p:extLst>
          </p:nvPr>
        </p:nvGraphicFramePr>
        <p:xfrm>
          <a:off x="8347075" y="5411788"/>
          <a:ext cx="474663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77480" imgH="164880" progId="Equation.DSMT4">
                  <p:embed/>
                </p:oleObj>
              </mc:Choice>
              <mc:Fallback>
                <p:oleObj name="Equation" r:id="rId23" imgW="177480" imgH="16488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2BD7514D-2B0B-46D5-95E7-6CD523A80F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8347075" y="5411788"/>
                        <a:ext cx="474663" cy="439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>
            <a:extLst>
              <a:ext uri="{FF2B5EF4-FFF2-40B4-BE49-F238E27FC236}">
                <a16:creationId xmlns:a16="http://schemas.microsoft.com/office/drawing/2014/main" id="{1A4F4352-D475-2684-EFDD-C43859BCD9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7564174"/>
              </p:ext>
            </p:extLst>
          </p:nvPr>
        </p:nvGraphicFramePr>
        <p:xfrm>
          <a:off x="5784850" y="1131888"/>
          <a:ext cx="1420813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533160" imgH="215640" progId="Equation.DSMT4">
                  <p:embed/>
                </p:oleObj>
              </mc:Choice>
              <mc:Fallback>
                <p:oleObj name="Equation" r:id="rId25" imgW="533160" imgH="21564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A3DC97E9-0556-487A-A783-369B7269D3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784850" y="1131888"/>
                        <a:ext cx="1420813" cy="574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右大括号 45">
            <a:extLst>
              <a:ext uri="{FF2B5EF4-FFF2-40B4-BE49-F238E27FC236}">
                <a16:creationId xmlns:a16="http://schemas.microsoft.com/office/drawing/2014/main" id="{0842D0DF-E1FC-E4CE-1EA2-2900B604F426}"/>
              </a:ext>
            </a:extLst>
          </p:cNvPr>
          <p:cNvSpPr/>
          <p:nvPr/>
        </p:nvSpPr>
        <p:spPr bwMode="auto">
          <a:xfrm rot="917101">
            <a:off x="7367258" y="3419372"/>
            <a:ext cx="138102" cy="1866416"/>
          </a:xfrm>
          <a:prstGeom prst="rightBrace">
            <a:avLst/>
          </a:prstGeom>
          <a:ln w="28575" cap="flat" cmpd="sng" algn="ctr">
            <a:solidFill>
              <a:srgbClr val="0000FF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47" name="对象 46">
            <a:extLst>
              <a:ext uri="{FF2B5EF4-FFF2-40B4-BE49-F238E27FC236}">
                <a16:creationId xmlns:a16="http://schemas.microsoft.com/office/drawing/2014/main" id="{8D7882F1-C97F-A57B-7102-BBF52BFA07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7779007"/>
              </p:ext>
            </p:extLst>
          </p:nvPr>
        </p:nvGraphicFramePr>
        <p:xfrm>
          <a:off x="7405694" y="4029731"/>
          <a:ext cx="914400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342720" imgH="164880" progId="Equation.DSMT4">
                  <p:embed/>
                </p:oleObj>
              </mc:Choice>
              <mc:Fallback>
                <p:oleObj name="Equation" r:id="rId27" imgW="342720" imgH="164880" progId="Equation.DSMT4">
                  <p:embed/>
                  <p:pic>
                    <p:nvPicPr>
                      <p:cNvPr id="32" name="对象 31">
                        <a:extLst>
                          <a:ext uri="{FF2B5EF4-FFF2-40B4-BE49-F238E27FC236}">
                            <a16:creationId xmlns:a16="http://schemas.microsoft.com/office/drawing/2014/main" id="{4C77B632-F0A3-4C9D-9BE5-855A5B65E8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7405694" y="4029731"/>
                        <a:ext cx="914400" cy="439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椭圆 47">
            <a:extLst>
              <a:ext uri="{FF2B5EF4-FFF2-40B4-BE49-F238E27FC236}">
                <a16:creationId xmlns:a16="http://schemas.microsoft.com/office/drawing/2014/main" id="{FDA39BBE-719C-EBBA-8DAD-7EAC0A638427}"/>
              </a:ext>
            </a:extLst>
          </p:cNvPr>
          <p:cNvSpPr/>
          <p:nvPr/>
        </p:nvSpPr>
        <p:spPr bwMode="auto">
          <a:xfrm rot="17986332">
            <a:off x="5231018" y="1880828"/>
            <a:ext cx="5040560" cy="3096344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840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4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BAC7E1-6934-4AE4-962B-C03966908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共轭方向法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BD5BCE2-40A8-480F-96F9-01A511E876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共轭方向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对于满足共轭条件</a:t>
                </a:r>
                <a:endParaRPr lang="en-US" altLang="zh-CN" baseline="30000" dirty="0"/>
              </a:p>
              <a:p>
                <a:pPr marL="457200" lvl="1" indent="0">
                  <a:buNone/>
                </a:pPr>
                <a:endParaRPr lang="en-US" altLang="zh-CN" dirty="0"/>
              </a:p>
              <a:p>
                <a:pPr marL="914400" lvl="2" indent="0">
                  <a:buNone/>
                </a:pPr>
                <a:r>
                  <a:rPr lang="zh-CN" altLang="en-US" dirty="0"/>
                  <a:t>的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baseline="30000" dirty="0"/>
                  <a:t> (1)</a:t>
                </a:r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nor/>
                      </m:rPr>
                      <a:rPr lang="en-US" altLang="zh-CN" baseline="30000" dirty="0"/>
                      <m:t>(</m:t>
                    </m:r>
                    <m:r>
                      <m:rPr>
                        <m:nor/>
                      </m:rPr>
                      <a:rPr lang="en-US" altLang="zh-CN" b="1" i="0" baseline="30000" dirty="0" smtClean="0"/>
                      <m:t>2</m:t>
                    </m:r>
                    <m:r>
                      <m:rPr>
                        <m:nor/>
                      </m:rPr>
                      <a:rPr lang="en-US" altLang="zh-CN" baseline="30000" dirty="0"/>
                      <m:t>)</m:t>
                    </m:r>
                  </m:oMath>
                </a14:m>
                <a:r>
                  <a:rPr lang="zh-CN" altLang="en-US" dirty="0"/>
                  <a:t>，当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dirty="0"/>
                  <a:t>为单位矩阵时</a:t>
                </a:r>
                <a:endParaRPr lang="en-US" altLang="zh-CN" dirty="0"/>
              </a:p>
              <a:p>
                <a:pPr marL="914400" lvl="2" indent="0">
                  <a:buNone/>
                </a:pPr>
                <a:endParaRPr lang="en-US" altLang="zh-CN" dirty="0"/>
              </a:p>
              <a:p>
                <a:pPr marL="914400" lvl="2" indent="0">
                  <a:buNone/>
                </a:pPr>
                <a:endParaRPr lang="en-US" altLang="zh-CN" dirty="0"/>
              </a:p>
              <a:p>
                <a:pPr marL="914400" lvl="2" indent="0"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BD5BCE2-40A8-480F-96F9-01A511E876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66" t="-20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50B28C-B1CC-4E8A-8872-0FAD77F1A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DF66880-2226-49F1-B499-1FA7D3835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16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5C7D059-ED81-456D-B4D5-52EECBD5FA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9683955"/>
              </p:ext>
            </p:extLst>
          </p:nvPr>
        </p:nvGraphicFramePr>
        <p:xfrm>
          <a:off x="2881164" y="2504727"/>
          <a:ext cx="2560637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11000" imgH="177480" progId="Equation.DSMT4">
                  <p:embed/>
                </p:oleObj>
              </mc:Choice>
              <mc:Fallback>
                <p:oleObj name="Equation" r:id="rId4" imgW="711000" imgH="1774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25BAE5CE-3FC9-49BC-9EC3-CB1584454C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81164" y="2504727"/>
                        <a:ext cx="2560637" cy="639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478082D-FC87-4A2B-9DE8-3375BA8E75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0912266"/>
              </p:ext>
            </p:extLst>
          </p:nvPr>
        </p:nvGraphicFramePr>
        <p:xfrm>
          <a:off x="2898428" y="3687738"/>
          <a:ext cx="2286000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34680" imgH="177480" progId="Equation.DSMT4">
                  <p:embed/>
                </p:oleObj>
              </mc:Choice>
              <mc:Fallback>
                <p:oleObj name="Equation" r:id="rId6" imgW="634680" imgH="1774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D5C7D059-ED81-456D-B4D5-52EECBD5FA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898428" y="3687738"/>
                        <a:ext cx="2286000" cy="639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52F1E2D7-9E31-49CA-899E-8833542345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1382354"/>
              </p:ext>
            </p:extLst>
          </p:nvPr>
        </p:nvGraphicFramePr>
        <p:xfrm>
          <a:off x="5889104" y="2362175"/>
          <a:ext cx="2606675" cy="196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23600" imgH="545760" progId="Equation.DSMT4">
                  <p:embed/>
                </p:oleObj>
              </mc:Choice>
              <mc:Fallback>
                <p:oleObj name="Equation" r:id="rId8" imgW="723600" imgH="5457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A478082D-FC87-4A2B-9DE8-3375BA8E75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889104" y="2362175"/>
                        <a:ext cx="2606675" cy="1965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04E5EC27-FE7E-40C2-8CF2-E1286D706404}"/>
              </a:ext>
            </a:extLst>
          </p:cNvPr>
          <p:cNvSpPr/>
          <p:nvPr/>
        </p:nvSpPr>
        <p:spPr bwMode="auto">
          <a:xfrm>
            <a:off x="1749214" y="4870748"/>
            <a:ext cx="4824536" cy="766315"/>
          </a:xfrm>
          <a:prstGeom prst="rect">
            <a:avLst/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charset="0"/>
              </a:rPr>
              <a:t>正交是共轭的一种特例</a:t>
            </a:r>
          </a:p>
        </p:txBody>
      </p:sp>
    </p:spTree>
    <p:extLst>
      <p:ext uri="{BB962C8B-B14F-4D97-AF65-F5344CB8AC3E}">
        <p14:creationId xmlns:p14="http://schemas.microsoft.com/office/powerpoint/2010/main" val="3454041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EBA305-AD82-475E-AED3-875A4E048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共轭方向法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383C3A1-8F84-4B2E-84F3-6373BBD045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例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：（</a:t>
                </a:r>
                <a:r>
                  <a:rPr lang="en-US" altLang="zh-CN" dirty="0"/>
                  <a:t>P46-</a:t>
                </a:r>
                <a:r>
                  <a:rPr lang="zh-CN" altLang="en-US" dirty="0"/>
                  <a:t>例</a:t>
                </a:r>
                <a:r>
                  <a:rPr lang="en-US" altLang="zh-CN" dirty="0"/>
                  <a:t>4-1</a:t>
                </a:r>
                <a:r>
                  <a:rPr lang="zh-CN" altLang="en-US" dirty="0"/>
                  <a:t>）共轭方向的判断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已知：</a:t>
                </a:r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marL="457200" lvl="1" indent="0">
                  <a:buNone/>
                </a:pPr>
                <a:r>
                  <a:rPr lang="zh-CN" altLang="en-US" dirty="0"/>
                  <a:t>判断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baseline="30000" dirty="0"/>
                  <a:t>(1)</a:t>
                </a:r>
                <a:r>
                  <a:rPr lang="zh-CN" altLang="en-US" dirty="0"/>
                  <a:t>与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baseline="30000" dirty="0"/>
                  <a:t>(2)</a:t>
                </a:r>
                <a:r>
                  <a:rPr lang="zh-CN" altLang="en-US" dirty="0"/>
                  <a:t>是否关于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dirty="0"/>
                  <a:t>共轭？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383C3A1-8F84-4B2E-84F3-6373BBD045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66" t="-20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913A5F-33EA-42D9-B7E9-86CA54BCF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8D0095D-ADCA-4E40-9AAE-B41D9F0CF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17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F5BFA91A-496E-439B-AA7A-A2ED94008D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1402614"/>
              </p:ext>
            </p:extLst>
          </p:nvPr>
        </p:nvGraphicFramePr>
        <p:xfrm>
          <a:off x="2004396" y="2204864"/>
          <a:ext cx="5897207" cy="13681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87240" imgH="368280" progId="Equation.DSMT4">
                  <p:embed/>
                </p:oleObj>
              </mc:Choice>
              <mc:Fallback>
                <p:oleObj name="Equation" r:id="rId4" imgW="1587240" imgH="368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04396" y="2204864"/>
                        <a:ext cx="5897207" cy="13681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05034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E0F888-C5E9-4E54-BC59-C0C29F0B7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1</a:t>
            </a:r>
            <a:r>
              <a:rPr lang="zh-CN" altLang="en-US" dirty="0"/>
              <a:t>：解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B2329D-263B-453C-A81A-E90CE1918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4E72DCD-8CA3-4D4B-87C0-12FB7A9C0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18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AD76582E-2402-4195-818F-6AC4991A25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6212384"/>
              </p:ext>
            </p:extLst>
          </p:nvPr>
        </p:nvGraphicFramePr>
        <p:xfrm>
          <a:off x="1017588" y="1484313"/>
          <a:ext cx="6600825" cy="102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74560" imgH="368280" progId="Equation.DSMT4">
                  <p:embed/>
                </p:oleObj>
              </mc:Choice>
              <mc:Fallback>
                <p:oleObj name="Equation" r:id="rId2" imgW="2374560" imgH="368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17588" y="1484313"/>
                        <a:ext cx="6600825" cy="1023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B83BA84C-32E8-4815-9604-2DC6F481ED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3147362"/>
              </p:ext>
            </p:extLst>
          </p:nvPr>
        </p:nvGraphicFramePr>
        <p:xfrm>
          <a:off x="1017588" y="3988198"/>
          <a:ext cx="6459537" cy="102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323800" imgH="368280" progId="Equation.DSMT4">
                  <p:embed/>
                </p:oleObj>
              </mc:Choice>
              <mc:Fallback>
                <p:oleObj name="Equation" r:id="rId4" imgW="2323800" imgH="3682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AD76582E-2402-4195-818F-6AC4991A25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17588" y="3988198"/>
                        <a:ext cx="6459537" cy="1023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391F2D1-2746-45CD-BE4F-65A51BB78A1B}"/>
                  </a:ext>
                </a:extLst>
              </p:cNvPr>
              <p:cNvSpPr txBox="1"/>
              <p:nvPr/>
            </p:nvSpPr>
            <p:spPr>
              <a:xfrm>
                <a:off x="1352600" y="2727118"/>
                <a:ext cx="50482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sz="2400" baseline="30000" dirty="0"/>
                  <a:t>(1)</a:t>
                </a:r>
                <a:r>
                  <a:rPr lang="zh-CN" altLang="en-US" sz="2400" dirty="0"/>
                  <a:t>与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sz="2400" baseline="30000" dirty="0"/>
                  <a:t>(2)</a:t>
                </a:r>
                <a:r>
                  <a:rPr lang="zh-CN" altLang="en-US" sz="2400" dirty="0"/>
                  <a:t>关于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2400" dirty="0"/>
                  <a:t>共轭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391F2D1-2746-45CD-BE4F-65A51BB78A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2600" y="2727118"/>
                <a:ext cx="5048250" cy="461665"/>
              </a:xfrm>
              <a:prstGeom prst="rect">
                <a:avLst/>
              </a:prstGeom>
              <a:blipFill>
                <a:blip r:embed="rId7"/>
                <a:stretch>
                  <a:fillRect l="-362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7C13EB6-C592-47D2-8668-474BC3947B7C}"/>
                  </a:ext>
                </a:extLst>
              </p:cNvPr>
              <p:cNvSpPr txBox="1"/>
              <p:nvPr/>
            </p:nvSpPr>
            <p:spPr>
              <a:xfrm>
                <a:off x="1352600" y="3260046"/>
                <a:ext cx="50482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/>
                  <a:t>如果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sz="2400" baseline="30000" dirty="0"/>
                  <a:t>(1)</a:t>
                </a:r>
                <a:r>
                  <a:rPr lang="zh-CN" altLang="en-US" sz="2400" dirty="0"/>
                  <a:t>与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sz="2400" baseline="30000" dirty="0"/>
                  <a:t>(2)</a:t>
                </a:r>
                <a:r>
                  <a:rPr lang="zh-CN" altLang="en-US" sz="2400" dirty="0"/>
                  <a:t>取其他值，如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27C13EB6-C592-47D2-8668-474BC3947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2600" y="3260046"/>
                <a:ext cx="5048250" cy="461665"/>
              </a:xfrm>
              <a:prstGeom prst="rect">
                <a:avLst/>
              </a:prstGeom>
              <a:blipFill>
                <a:blip r:embed="rId8"/>
                <a:stretch>
                  <a:fillRect l="-1932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58CEDEA0-6759-4C86-9553-E7D5292786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8066790"/>
              </p:ext>
            </p:extLst>
          </p:nvPr>
        </p:nvGraphicFramePr>
        <p:xfrm>
          <a:off x="5313040" y="2999109"/>
          <a:ext cx="3096344" cy="1095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41120" imgH="368280" progId="Equation.DSMT4">
                  <p:embed/>
                </p:oleObj>
              </mc:Choice>
              <mc:Fallback>
                <p:oleObj name="Equation" r:id="rId9" imgW="1041120" imgH="3682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F5BFA91A-496E-439B-AA7A-A2ED94008D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313040" y="2999109"/>
                        <a:ext cx="3096344" cy="10956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D1D382A7-EFDD-4B53-9B10-35178C2E550F}"/>
                  </a:ext>
                </a:extLst>
              </p:cNvPr>
              <p:cNvSpPr txBox="1"/>
              <p:nvPr/>
            </p:nvSpPr>
            <p:spPr>
              <a:xfrm>
                <a:off x="1352600" y="4924324"/>
                <a:ext cx="50482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sz="2400" baseline="30000" dirty="0"/>
                  <a:t>(1)</a:t>
                </a:r>
                <a:r>
                  <a:rPr lang="zh-CN" altLang="en-US" sz="2400" dirty="0"/>
                  <a:t>与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sz="2400" baseline="30000" dirty="0"/>
                  <a:t>(2)</a:t>
                </a:r>
                <a:r>
                  <a:rPr lang="zh-CN" altLang="en-US" sz="2400" dirty="0"/>
                  <a:t>关于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2400" dirty="0"/>
                  <a:t>共轭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D1D382A7-EFDD-4B53-9B10-35178C2E55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2600" y="4924324"/>
                <a:ext cx="5048250" cy="461665"/>
              </a:xfrm>
              <a:prstGeom prst="rect">
                <a:avLst/>
              </a:prstGeom>
              <a:blipFill>
                <a:blip r:embed="rId11"/>
                <a:stretch>
                  <a:fillRect l="-362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02D2FEAB-D4C8-4C34-8DC2-56A40C9D9D62}"/>
                  </a:ext>
                </a:extLst>
              </p:cNvPr>
              <p:cNvSpPr/>
              <p:nvPr/>
            </p:nvSpPr>
            <p:spPr bwMode="auto">
              <a:xfrm>
                <a:off x="1895388" y="5475953"/>
                <a:ext cx="5581737" cy="766315"/>
              </a:xfrm>
              <a:prstGeom prst="rect">
                <a:avLst/>
              </a:prstGeom>
              <a:solidFill>
                <a:srgbClr val="FFFF66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en-US" sz="2800" b="0" i="0" u="none" strike="noStrike" cap="none" normalizeH="0" baseline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latin typeface="Arial" charset="0"/>
                  </a:rPr>
                  <a:t>相同矩阵</a:t>
                </a:r>
                <a14:m>
                  <m:oMath xmlns:m="http://schemas.openxmlformats.org/officeDocument/2006/math">
                    <m:r>
                      <a:rPr kumimoji="0" lang="en-US" altLang="zh-CN" sz="28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kumimoji="0" lang="zh-CN" altLang="en-US" sz="2800" b="0" i="0" u="none" strike="noStrike" cap="none" normalizeH="0" baseline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latin typeface="Arial" charset="0"/>
                  </a:rPr>
                  <a:t>的共轭向量组不唯一</a:t>
                </a:r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02D2FEAB-D4C8-4C34-8DC2-56A40C9D9D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95388" y="5475953"/>
                <a:ext cx="5581737" cy="766315"/>
              </a:xfrm>
              <a:prstGeom prst="rect">
                <a:avLst/>
              </a:prstGeom>
              <a:blipFill>
                <a:blip r:embed="rId12"/>
                <a:stretch>
                  <a:fillRect b="-5469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0618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4" grpId="0"/>
      <p:bldP spid="1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FA8340-A203-4E56-B2D1-480B4478A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共轭方向法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49E352-88D1-4D45-98B6-C611B9E8D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46" y="1189185"/>
            <a:ext cx="9719492" cy="5264289"/>
          </a:xfrm>
        </p:spPr>
        <p:txBody>
          <a:bodyPr/>
          <a:lstStyle/>
          <a:p>
            <a:r>
              <a:rPr lang="zh-CN" altLang="en-US" dirty="0"/>
              <a:t>共轭方向的形成</a:t>
            </a:r>
            <a:endParaRPr lang="en-US" altLang="zh-CN" dirty="0"/>
          </a:p>
          <a:p>
            <a:pPr lvl="1"/>
            <a:r>
              <a:rPr lang="zh-CN" altLang="en-US" dirty="0"/>
              <a:t>对于简单的二维正定的二次函数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85CB14-2B28-40C6-877C-F0C0F8DF5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52B3638-1C99-453F-B519-025313DA5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19</a:t>
            </a:fld>
            <a:endParaRPr lang="en-US" altLang="zh-CN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4C98C69E-7FA6-4EF3-9620-906FB2E1BC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3448631"/>
              </p:ext>
            </p:extLst>
          </p:nvPr>
        </p:nvGraphicFramePr>
        <p:xfrm>
          <a:off x="818260" y="2282373"/>
          <a:ext cx="5152328" cy="12274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33440" imgH="317160" progId="Equation.DSMT4">
                  <p:embed/>
                </p:oleObj>
              </mc:Choice>
              <mc:Fallback>
                <p:oleObj name="Equation" r:id="rId2" imgW="1333440" imgH="317160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C5EAB389-8361-4AF6-B7BD-B898176640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18260" y="2282373"/>
                        <a:ext cx="5152328" cy="12274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E956B6EE-F82F-44D6-AC0D-0881F393B6E4}"/>
              </a:ext>
            </a:extLst>
          </p:cNvPr>
          <p:cNvCxnSpPr>
            <a:cxnSpLocks/>
          </p:cNvCxnSpPr>
          <p:nvPr/>
        </p:nvCxnSpPr>
        <p:spPr bwMode="auto">
          <a:xfrm flipV="1">
            <a:off x="6914055" y="5244944"/>
            <a:ext cx="2719465" cy="9772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流程图: 接点 7">
            <a:extLst>
              <a:ext uri="{FF2B5EF4-FFF2-40B4-BE49-F238E27FC236}">
                <a16:creationId xmlns:a16="http://schemas.microsoft.com/office/drawing/2014/main" id="{90DBA997-9596-4905-9243-8D6BF4845827}"/>
              </a:ext>
            </a:extLst>
          </p:cNvPr>
          <p:cNvSpPr/>
          <p:nvPr/>
        </p:nvSpPr>
        <p:spPr bwMode="auto">
          <a:xfrm rot="17986332">
            <a:off x="8095981" y="3700453"/>
            <a:ext cx="148647" cy="158316"/>
          </a:xfrm>
          <a:prstGeom prst="flowChartConnector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AD8CFBE-8C41-48A1-BD3E-B63DA366C22A}"/>
              </a:ext>
            </a:extLst>
          </p:cNvPr>
          <p:cNvSpPr/>
          <p:nvPr/>
        </p:nvSpPr>
        <p:spPr bwMode="auto">
          <a:xfrm rot="17986332">
            <a:off x="7191562" y="3204116"/>
            <a:ext cx="2098485" cy="1296305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956A5BFF-AFAC-4750-92F4-37522AE46625}"/>
              </a:ext>
            </a:extLst>
          </p:cNvPr>
          <p:cNvSpPr/>
          <p:nvPr/>
        </p:nvSpPr>
        <p:spPr bwMode="auto">
          <a:xfrm rot="17986332">
            <a:off x="6681193" y="2938220"/>
            <a:ext cx="3168352" cy="1728192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FD680FA5-FF28-45EC-A662-F792E29204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2708830"/>
              </p:ext>
            </p:extLst>
          </p:nvPr>
        </p:nvGraphicFramePr>
        <p:xfrm>
          <a:off x="7761312" y="3933056"/>
          <a:ext cx="57467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640" imgH="190440" progId="Equation.DSMT4">
                  <p:embed/>
                </p:oleObj>
              </mc:Choice>
              <mc:Fallback>
                <p:oleObj name="Equation" r:id="rId4" imgW="215640" imgH="19044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6BE93A32-8539-4314-898A-90ADE6AF29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761312" y="3933056"/>
                        <a:ext cx="574675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流程图: 接点 12">
            <a:extLst>
              <a:ext uri="{FF2B5EF4-FFF2-40B4-BE49-F238E27FC236}">
                <a16:creationId xmlns:a16="http://schemas.microsoft.com/office/drawing/2014/main" id="{29482944-C202-48F6-8C9E-0F6965B87DC7}"/>
              </a:ext>
            </a:extLst>
          </p:cNvPr>
          <p:cNvSpPr/>
          <p:nvPr/>
        </p:nvSpPr>
        <p:spPr bwMode="auto">
          <a:xfrm rot="17986332">
            <a:off x="6822813" y="5159269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8FB6658A-CAB8-4D61-82DC-E891A12C002C}"/>
              </a:ext>
            </a:extLst>
          </p:cNvPr>
          <p:cNvCxnSpPr>
            <a:cxnSpLocks/>
          </p:cNvCxnSpPr>
          <p:nvPr/>
        </p:nvCxnSpPr>
        <p:spPr bwMode="auto">
          <a:xfrm flipV="1">
            <a:off x="6914823" y="2707713"/>
            <a:ext cx="2123887" cy="2523186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流程图: 接点 14">
            <a:extLst>
              <a:ext uri="{FF2B5EF4-FFF2-40B4-BE49-F238E27FC236}">
                <a16:creationId xmlns:a16="http://schemas.microsoft.com/office/drawing/2014/main" id="{EC5B0C48-A79E-4E84-8156-35DD3C263BD5}"/>
              </a:ext>
            </a:extLst>
          </p:cNvPr>
          <p:cNvSpPr/>
          <p:nvPr/>
        </p:nvSpPr>
        <p:spPr bwMode="auto">
          <a:xfrm rot="17986332">
            <a:off x="7597208" y="5159269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68EDD790-D795-4700-85C5-452413F3B1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9977414"/>
              </p:ext>
            </p:extLst>
          </p:nvPr>
        </p:nvGraphicFramePr>
        <p:xfrm>
          <a:off x="7549877" y="5217666"/>
          <a:ext cx="585787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5640" imgH="190440" progId="Equation.DSMT4">
                  <p:embed/>
                </p:oleObj>
              </mc:Choice>
              <mc:Fallback>
                <p:oleObj name="Equation" r:id="rId6" imgW="215640" imgH="19044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FB1F0D8C-B122-47F8-9BA7-09F08450CC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549877" y="5217666"/>
                        <a:ext cx="585787" cy="519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83FCB80-B42A-44B5-B48E-4D9266B329FA}"/>
              </a:ext>
            </a:extLst>
          </p:cNvPr>
          <p:cNvCxnSpPr>
            <a:cxnSpLocks/>
          </p:cNvCxnSpPr>
          <p:nvPr/>
        </p:nvCxnSpPr>
        <p:spPr bwMode="auto">
          <a:xfrm flipV="1">
            <a:off x="6919275" y="1277541"/>
            <a:ext cx="16423" cy="3978204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3A19A851-9CC0-4531-9AE2-299C5878CD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4881726"/>
              </p:ext>
            </p:extLst>
          </p:nvPr>
        </p:nvGraphicFramePr>
        <p:xfrm>
          <a:off x="7958809" y="3290429"/>
          <a:ext cx="481012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7480" imgH="152280" progId="Equation.DSMT4">
                  <p:embed/>
                </p:oleObj>
              </mc:Choice>
              <mc:Fallback>
                <p:oleObj name="Equation" r:id="rId8" imgW="177480" imgH="15228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630A9C3A-78EC-47B6-9C66-0F360AF95F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958809" y="3290429"/>
                        <a:ext cx="481012" cy="41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D0346854-55C2-4FB4-A4B6-018A6CD2D1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2433114"/>
              </p:ext>
            </p:extLst>
          </p:nvPr>
        </p:nvGraphicFramePr>
        <p:xfrm>
          <a:off x="8902700" y="5265738"/>
          <a:ext cx="508000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0440" imgH="164880" progId="Equation.DSMT4">
                  <p:embed/>
                </p:oleObj>
              </mc:Choice>
              <mc:Fallback>
                <p:oleObj name="Equation" r:id="rId10" imgW="190440" imgH="16488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23AB4B11-45AD-4C83-AD54-CCBBEB4100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902700" y="5265738"/>
                        <a:ext cx="508000" cy="439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757A98AA-EC68-4B15-8273-FD3D863EF3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2582543"/>
              </p:ext>
            </p:extLst>
          </p:nvPr>
        </p:nvGraphicFramePr>
        <p:xfrm>
          <a:off x="7648575" y="1755775"/>
          <a:ext cx="474663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77480" imgH="164880" progId="Equation.DSMT4">
                  <p:embed/>
                </p:oleObj>
              </mc:Choice>
              <mc:Fallback>
                <p:oleObj name="Equation" r:id="rId12" imgW="177480" imgH="16488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2BD7514D-2B0B-46D5-95E7-6CD523A80F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648575" y="1755775"/>
                        <a:ext cx="474663" cy="439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A95772B0-AE01-4B4F-8FC6-E94657074400}"/>
              </a:ext>
            </a:extLst>
          </p:cNvPr>
          <p:cNvCxnSpPr>
            <a:cxnSpLocks/>
          </p:cNvCxnSpPr>
          <p:nvPr/>
        </p:nvCxnSpPr>
        <p:spPr bwMode="auto">
          <a:xfrm flipV="1">
            <a:off x="7710019" y="1310217"/>
            <a:ext cx="16423" cy="3978204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椭圆 27">
            <a:extLst>
              <a:ext uri="{FF2B5EF4-FFF2-40B4-BE49-F238E27FC236}">
                <a16:creationId xmlns:a16="http://schemas.microsoft.com/office/drawing/2014/main" id="{5650EFB0-36D6-4D90-84BE-301A7E3ACC85}"/>
              </a:ext>
            </a:extLst>
          </p:cNvPr>
          <p:cNvSpPr/>
          <p:nvPr/>
        </p:nvSpPr>
        <p:spPr bwMode="auto">
          <a:xfrm rot="17986332">
            <a:off x="7412228" y="3524069"/>
            <a:ext cx="1516152" cy="613149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0" name="流程图: 接点 29">
            <a:extLst>
              <a:ext uri="{FF2B5EF4-FFF2-40B4-BE49-F238E27FC236}">
                <a16:creationId xmlns:a16="http://schemas.microsoft.com/office/drawing/2014/main" id="{485F285C-92B3-421C-88DC-524B3AD37492}"/>
              </a:ext>
            </a:extLst>
          </p:cNvPr>
          <p:cNvSpPr/>
          <p:nvPr/>
        </p:nvSpPr>
        <p:spPr bwMode="auto">
          <a:xfrm rot="17986332">
            <a:off x="7642218" y="4132053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DA1FF270-F121-43F5-8B2E-E16511C47F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789773"/>
              </p:ext>
            </p:extLst>
          </p:nvPr>
        </p:nvGraphicFramePr>
        <p:xfrm>
          <a:off x="6318250" y="4667250"/>
          <a:ext cx="58737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15640" imgH="190440" progId="Equation.DSMT4">
                  <p:embed/>
                </p:oleObj>
              </mc:Choice>
              <mc:Fallback>
                <p:oleObj name="Equation" r:id="rId14" imgW="215640" imgH="19044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68EDD790-D795-4700-85C5-452413F3B1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318250" y="4667250"/>
                        <a:ext cx="587375" cy="519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A165D217-F979-4DEF-AB85-D0AD9C0654CF}"/>
              </a:ext>
            </a:extLst>
          </p:cNvPr>
          <p:cNvCxnSpPr>
            <a:cxnSpLocks/>
          </p:cNvCxnSpPr>
          <p:nvPr/>
        </p:nvCxnSpPr>
        <p:spPr bwMode="auto">
          <a:xfrm flipV="1">
            <a:off x="6582562" y="6237312"/>
            <a:ext cx="1113207" cy="18599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DCA35D62-DCC8-4461-88AC-CEEA0956DD5A}"/>
              </a:ext>
            </a:extLst>
          </p:cNvPr>
          <p:cNvCxnSpPr>
            <a:cxnSpLocks/>
          </p:cNvCxnSpPr>
          <p:nvPr/>
        </p:nvCxnSpPr>
        <p:spPr bwMode="auto">
          <a:xfrm flipV="1">
            <a:off x="6584104" y="5130949"/>
            <a:ext cx="0" cy="1148302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8ED79990-89BD-4BFA-B920-530A3588BD07}"/>
              </a:ext>
            </a:extLst>
          </p:cNvPr>
          <p:cNvCxnSpPr>
            <a:stCxn id="13" idx="2"/>
          </p:cNvCxnSpPr>
          <p:nvPr/>
        </p:nvCxnSpPr>
        <p:spPr bwMode="auto">
          <a:xfrm flipH="1">
            <a:off x="6582562" y="5349091"/>
            <a:ext cx="294989" cy="969088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32ACC98C-5AD4-4E72-A327-2EB7F99AB1BF}"/>
              </a:ext>
            </a:extLst>
          </p:cNvPr>
          <p:cNvCxnSpPr>
            <a:cxnSpLocks/>
          </p:cNvCxnSpPr>
          <p:nvPr/>
        </p:nvCxnSpPr>
        <p:spPr bwMode="auto">
          <a:xfrm flipH="1">
            <a:off x="6578097" y="4346403"/>
            <a:ext cx="1108884" cy="1962476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46" name="对象 45">
            <a:extLst>
              <a:ext uri="{FF2B5EF4-FFF2-40B4-BE49-F238E27FC236}">
                <a16:creationId xmlns:a16="http://schemas.microsoft.com/office/drawing/2014/main" id="{68527610-0EEA-471C-A261-E9A4714567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1937992"/>
              </p:ext>
            </p:extLst>
          </p:nvPr>
        </p:nvGraphicFramePr>
        <p:xfrm>
          <a:off x="8987538" y="2693668"/>
          <a:ext cx="3048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14120" imgH="152280" progId="Equation.DSMT4">
                  <p:embed/>
                </p:oleObj>
              </mc:Choice>
              <mc:Fallback>
                <p:oleObj name="Equation" r:id="rId16" imgW="114120" imgH="15228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757A98AA-EC68-4B15-8273-FD3D863EF3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8987538" y="2693668"/>
                        <a:ext cx="304800" cy="404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文本框 46">
            <a:extLst>
              <a:ext uri="{FF2B5EF4-FFF2-40B4-BE49-F238E27FC236}">
                <a16:creationId xmlns:a16="http://schemas.microsoft.com/office/drawing/2014/main" id="{184D300C-8F5C-4A4A-A484-8660FCF84D6C}"/>
              </a:ext>
            </a:extLst>
          </p:cNvPr>
          <p:cNvSpPr txBox="1"/>
          <p:nvPr/>
        </p:nvSpPr>
        <p:spPr>
          <a:xfrm>
            <a:off x="6321152" y="6207695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0</a:t>
            </a:r>
            <a:endParaRPr lang="zh-CN" altLang="en-US" sz="2400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4A985315-32A3-4906-B1CC-A33C74CEB053}"/>
              </a:ext>
            </a:extLst>
          </p:cNvPr>
          <p:cNvSpPr txBox="1"/>
          <p:nvPr/>
        </p:nvSpPr>
        <p:spPr>
          <a:xfrm>
            <a:off x="66977" y="3361303"/>
            <a:ext cx="3888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在</a:t>
            </a:r>
            <a:r>
              <a:rPr lang="en-US" altLang="zh-CN" sz="2400" dirty="0"/>
              <a:t>k</a:t>
            </a:r>
            <a:r>
              <a:rPr lang="zh-CN" altLang="en-US" sz="2400" dirty="0"/>
              <a:t>轮迭代时的起始点是：</a:t>
            </a:r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BD1DAEBB-AD51-4763-B045-197E9371D66A}"/>
                  </a:ext>
                </a:extLst>
              </p:cNvPr>
              <p:cNvSpPr txBox="1"/>
              <p:nvPr/>
            </p:nvSpPr>
            <p:spPr>
              <a:xfrm>
                <a:off x="58044" y="3821330"/>
                <a:ext cx="3897365" cy="8560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经过两次搜索得到两个点：</a:t>
                </a:r>
                <a:endParaRPr lang="en-US" altLang="zh-CN" sz="2400" dirty="0"/>
              </a:p>
              <a:p>
                <a:r>
                  <a:rPr lang="zh-CN" altLang="en-US" sz="2400" dirty="0"/>
                  <a:t>（其中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2400" dirty="0"/>
                  <a:t>与    切线平行）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BD1DAEBB-AD51-4763-B045-197E9371D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44" y="3821330"/>
                <a:ext cx="3897365" cy="856004"/>
              </a:xfrm>
              <a:prstGeom prst="rect">
                <a:avLst/>
              </a:prstGeom>
              <a:blipFill>
                <a:blip r:embed="rId19"/>
                <a:stretch>
                  <a:fillRect l="-2504" t="-5714" r="-939" b="-1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0" name="对象 49">
            <a:extLst>
              <a:ext uri="{FF2B5EF4-FFF2-40B4-BE49-F238E27FC236}">
                <a16:creationId xmlns:a16="http://schemas.microsoft.com/office/drawing/2014/main" id="{C6A35021-ACED-4FDF-8DCA-7804AE13C0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5912774"/>
              </p:ext>
            </p:extLst>
          </p:nvPr>
        </p:nvGraphicFramePr>
        <p:xfrm>
          <a:off x="3780070" y="3351769"/>
          <a:ext cx="530672" cy="56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77480" imgH="190440" progId="Equation.DSMT4">
                  <p:embed/>
                </p:oleObj>
              </mc:Choice>
              <mc:Fallback>
                <p:oleObj name="Equation" r:id="rId20" imgW="177480" imgH="190440" progId="Equation.DSMT4">
                  <p:embed/>
                  <p:pic>
                    <p:nvPicPr>
                      <p:cNvPr id="31" name="对象 30">
                        <a:extLst>
                          <a:ext uri="{FF2B5EF4-FFF2-40B4-BE49-F238E27FC236}">
                            <a16:creationId xmlns:a16="http://schemas.microsoft.com/office/drawing/2014/main" id="{DA1FF270-F121-43F5-8B2E-E16511C47F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780070" y="3351769"/>
                        <a:ext cx="530672" cy="568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对象 50">
            <a:extLst>
              <a:ext uri="{FF2B5EF4-FFF2-40B4-BE49-F238E27FC236}">
                <a16:creationId xmlns:a16="http://schemas.microsoft.com/office/drawing/2014/main" id="{47DEC6E6-D085-4981-843C-9D59A84480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4632191"/>
              </p:ext>
            </p:extLst>
          </p:nvPr>
        </p:nvGraphicFramePr>
        <p:xfrm>
          <a:off x="3740021" y="3859454"/>
          <a:ext cx="2727325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914400" imgH="380880" progId="Equation.DSMT4">
                  <p:embed/>
                </p:oleObj>
              </mc:Choice>
              <mc:Fallback>
                <p:oleObj name="Equation" r:id="rId22" imgW="914400" imgH="380880" progId="Equation.DSMT4">
                  <p:embed/>
                  <p:pic>
                    <p:nvPicPr>
                      <p:cNvPr id="50" name="对象 49">
                        <a:extLst>
                          <a:ext uri="{FF2B5EF4-FFF2-40B4-BE49-F238E27FC236}">
                            <a16:creationId xmlns:a16="http://schemas.microsoft.com/office/drawing/2014/main" id="{C6A35021-ACED-4FDF-8DCA-7804AE13C0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3740021" y="3859454"/>
                        <a:ext cx="2727325" cy="1136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文本框 51">
            <a:extLst>
              <a:ext uri="{FF2B5EF4-FFF2-40B4-BE49-F238E27FC236}">
                <a16:creationId xmlns:a16="http://schemas.microsoft.com/office/drawing/2014/main" id="{3B0CC24F-6EA6-4307-8824-F7B5BE1B7B26}"/>
              </a:ext>
            </a:extLst>
          </p:cNvPr>
          <p:cNvSpPr txBox="1"/>
          <p:nvPr/>
        </p:nvSpPr>
        <p:spPr>
          <a:xfrm>
            <a:off x="58044" y="5001458"/>
            <a:ext cx="4102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连接     与     ，得到向量：</a:t>
            </a: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BB1815EC-E5E9-4F7D-91DA-28DDEE088BFE}"/>
              </a:ext>
            </a:extLst>
          </p:cNvPr>
          <p:cNvSpPr/>
          <p:nvPr/>
        </p:nvSpPr>
        <p:spPr bwMode="auto">
          <a:xfrm>
            <a:off x="6932894" y="3783126"/>
            <a:ext cx="1745088" cy="1848666"/>
          </a:xfrm>
          <a:custGeom>
            <a:avLst/>
            <a:gdLst>
              <a:gd name="connsiteX0" fmla="*/ 140178 w 1615016"/>
              <a:gd name="connsiteY0" fmla="*/ 0 h 2163167"/>
              <a:gd name="connsiteX1" fmla="*/ 22190 w 1615016"/>
              <a:gd name="connsiteY1" fmla="*/ 1622323 h 2163167"/>
              <a:gd name="connsiteX2" fmla="*/ 533468 w 1615016"/>
              <a:gd name="connsiteY2" fmla="*/ 2153265 h 2163167"/>
              <a:gd name="connsiteX3" fmla="*/ 1615016 w 1615016"/>
              <a:gd name="connsiteY3" fmla="*/ 1917291 h 2163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5016" h="2163167">
                <a:moveTo>
                  <a:pt x="140178" y="0"/>
                </a:moveTo>
                <a:cubicBezTo>
                  <a:pt x="48410" y="631723"/>
                  <a:pt x="-43358" y="1263446"/>
                  <a:pt x="22190" y="1622323"/>
                </a:cubicBezTo>
                <a:cubicBezTo>
                  <a:pt x="87738" y="1981200"/>
                  <a:pt x="267997" y="2104104"/>
                  <a:pt x="533468" y="2153265"/>
                </a:cubicBezTo>
                <a:cubicBezTo>
                  <a:pt x="798939" y="2202426"/>
                  <a:pt x="1206977" y="2059858"/>
                  <a:pt x="1615016" y="1917291"/>
                </a:cubicBezTo>
              </a:path>
            </a:pathLst>
          </a:cu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56" name="对象 55">
            <a:extLst>
              <a:ext uri="{FF2B5EF4-FFF2-40B4-BE49-F238E27FC236}">
                <a16:creationId xmlns:a16="http://schemas.microsoft.com/office/drawing/2014/main" id="{BDF663D3-B760-4EB0-8B44-68AB012B1E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2367199"/>
              </p:ext>
            </p:extLst>
          </p:nvPr>
        </p:nvGraphicFramePr>
        <p:xfrm>
          <a:off x="1815109" y="4236844"/>
          <a:ext cx="416216" cy="44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77480" imgH="190440" progId="Equation.DSMT4">
                  <p:embed/>
                </p:oleObj>
              </mc:Choice>
              <mc:Fallback>
                <p:oleObj name="Equation" r:id="rId24" imgW="177480" imgH="190440" progId="Equation.DSMT4">
                  <p:embed/>
                  <p:pic>
                    <p:nvPicPr>
                      <p:cNvPr id="50" name="对象 49">
                        <a:extLst>
                          <a:ext uri="{FF2B5EF4-FFF2-40B4-BE49-F238E27FC236}">
                            <a16:creationId xmlns:a16="http://schemas.microsoft.com/office/drawing/2014/main" id="{C6A35021-ACED-4FDF-8DCA-7804AE13C0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815109" y="4236844"/>
                        <a:ext cx="416216" cy="446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对象 70">
            <a:extLst>
              <a:ext uri="{FF2B5EF4-FFF2-40B4-BE49-F238E27FC236}">
                <a16:creationId xmlns:a16="http://schemas.microsoft.com/office/drawing/2014/main" id="{02554411-C282-4580-9067-A9B393145A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7210901"/>
              </p:ext>
            </p:extLst>
          </p:nvPr>
        </p:nvGraphicFramePr>
        <p:xfrm>
          <a:off x="742258" y="5013176"/>
          <a:ext cx="416216" cy="44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77480" imgH="190440" progId="Equation.DSMT4">
                  <p:embed/>
                </p:oleObj>
              </mc:Choice>
              <mc:Fallback>
                <p:oleObj name="Equation" r:id="rId26" imgW="177480" imgH="190440" progId="Equation.DSMT4">
                  <p:embed/>
                  <p:pic>
                    <p:nvPicPr>
                      <p:cNvPr id="56" name="对象 55">
                        <a:extLst>
                          <a:ext uri="{FF2B5EF4-FFF2-40B4-BE49-F238E27FC236}">
                            <a16:creationId xmlns:a16="http://schemas.microsoft.com/office/drawing/2014/main" id="{BDF663D3-B760-4EB0-8B44-68AB012B1E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742258" y="5013176"/>
                        <a:ext cx="416216" cy="446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对象 71">
            <a:extLst>
              <a:ext uri="{FF2B5EF4-FFF2-40B4-BE49-F238E27FC236}">
                <a16:creationId xmlns:a16="http://schemas.microsoft.com/office/drawing/2014/main" id="{75026148-1A42-408B-A883-71731C9DDC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1802638"/>
              </p:ext>
            </p:extLst>
          </p:nvPr>
        </p:nvGraphicFramePr>
        <p:xfrm>
          <a:off x="1512448" y="5013176"/>
          <a:ext cx="416216" cy="44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77480" imgH="190440" progId="Equation.DSMT4">
                  <p:embed/>
                </p:oleObj>
              </mc:Choice>
              <mc:Fallback>
                <p:oleObj name="Equation" r:id="rId27" imgW="177480" imgH="190440" progId="Equation.DSMT4">
                  <p:embed/>
                  <p:pic>
                    <p:nvPicPr>
                      <p:cNvPr id="56" name="对象 55">
                        <a:extLst>
                          <a:ext uri="{FF2B5EF4-FFF2-40B4-BE49-F238E27FC236}">
                            <a16:creationId xmlns:a16="http://schemas.microsoft.com/office/drawing/2014/main" id="{BDF663D3-B760-4EB0-8B44-68AB012B1E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12448" y="5013176"/>
                        <a:ext cx="416216" cy="446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对象 72">
            <a:extLst>
              <a:ext uri="{FF2B5EF4-FFF2-40B4-BE49-F238E27FC236}">
                <a16:creationId xmlns:a16="http://schemas.microsoft.com/office/drawing/2014/main" id="{3CCC4483-2FEE-42A6-8EA7-08CC38A9C2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8202983"/>
              </p:ext>
            </p:extLst>
          </p:nvPr>
        </p:nvGraphicFramePr>
        <p:xfrm>
          <a:off x="3736608" y="4963391"/>
          <a:ext cx="204470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685800" imgH="190440" progId="Equation.DSMT4">
                  <p:embed/>
                </p:oleObj>
              </mc:Choice>
              <mc:Fallback>
                <p:oleObj name="Equation" r:id="rId29" imgW="685800" imgH="190440" progId="Equation.DSMT4">
                  <p:embed/>
                  <p:pic>
                    <p:nvPicPr>
                      <p:cNvPr id="51" name="对象 50">
                        <a:extLst>
                          <a:ext uri="{FF2B5EF4-FFF2-40B4-BE49-F238E27FC236}">
                            <a16:creationId xmlns:a16="http://schemas.microsoft.com/office/drawing/2014/main" id="{47DEC6E6-D085-4981-843C-9D59A84480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3736608" y="4963391"/>
                        <a:ext cx="2044700" cy="568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A8D8E027-A26B-474B-BE88-7742505F5F8A}"/>
                  </a:ext>
                </a:extLst>
              </p:cNvPr>
              <p:cNvSpPr txBox="1"/>
              <p:nvPr/>
            </p:nvSpPr>
            <p:spPr>
              <a:xfrm>
                <a:off x="1672640" y="5661248"/>
                <a:ext cx="3424375" cy="461665"/>
              </a:xfrm>
              <a:prstGeom prst="rect">
                <a:avLst/>
              </a:prstGeom>
              <a:solidFill>
                <a:srgbClr val="FFFF66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sz="2400" baseline="30000" dirty="0">
                    <a:solidFill>
                      <a:srgbClr val="FF0000"/>
                    </a:solidFill>
                  </a:rPr>
                  <a:t>(1)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sz="2400" dirty="0">
                    <a:solidFill>
                      <a:srgbClr val="FF0000"/>
                    </a:solidFill>
                  </a:rPr>
                  <a:t>关于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2400" dirty="0">
                    <a:solidFill>
                      <a:srgbClr val="FF0000"/>
                    </a:solidFill>
                  </a:rPr>
                  <a:t>共轭</a:t>
                </a:r>
              </a:p>
            </p:txBody>
          </p:sp>
        </mc:Choice>
        <mc:Fallback xmlns=""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A8D8E027-A26B-474B-BE88-7742505F5F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2640" y="5661248"/>
                <a:ext cx="3424375" cy="461665"/>
              </a:xfrm>
              <a:prstGeom prst="rect">
                <a:avLst/>
              </a:prstGeom>
              <a:blipFill>
                <a:blip r:embed="rId31"/>
                <a:stretch>
                  <a:fillRect t="-9091" b="-2857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2218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500"/>
                            </p:stCondLst>
                            <p:childTnLst>
                              <p:par>
                                <p:cTn id="7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3" grpId="0" animBg="1"/>
      <p:bldP spid="15" grpId="0" animBg="1"/>
      <p:bldP spid="28" grpId="0" animBg="1"/>
      <p:bldP spid="30" grpId="0" animBg="1"/>
      <p:bldP spid="47" grpId="0"/>
      <p:bldP spid="48" grpId="0"/>
      <p:bldP spid="49" grpId="0"/>
      <p:bldP spid="52" grpId="0"/>
      <p:bldP spid="53" grpId="0" animBg="1"/>
      <p:bldP spid="7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39E33E-4A25-477C-83EC-D1D5D2B48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共轭方向形成公式推导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0BB996-E1F8-435B-8C00-F61B29A11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32163FF-A28F-4903-BC1B-4033A606C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20</a:t>
            </a:fld>
            <a:endParaRPr lang="en-US" altLang="zh-CN" dirty="0"/>
          </a:p>
        </p:txBody>
      </p:sp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1650E263-2B04-4E78-9091-FA526315C1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0028719"/>
              </p:ext>
            </p:extLst>
          </p:nvPr>
        </p:nvGraphicFramePr>
        <p:xfrm>
          <a:off x="114134" y="980728"/>
          <a:ext cx="4522547" cy="10773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33440" imgH="317160" progId="Equation.DSMT4">
                  <p:embed/>
                </p:oleObj>
              </mc:Choice>
              <mc:Fallback>
                <p:oleObj name="Equation" r:id="rId2" imgW="1333440" imgH="3171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4C98C69E-7FA6-4EF3-9620-906FB2E1BC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4134" y="980728"/>
                        <a:ext cx="4522547" cy="10773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5FD25334-B160-4351-977F-2B3D2B1951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6753744"/>
              </p:ext>
            </p:extLst>
          </p:nvPr>
        </p:nvGraphicFramePr>
        <p:xfrm>
          <a:off x="200472" y="1998171"/>
          <a:ext cx="2841625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38080" imgH="164880" progId="Equation.DSMT4">
                  <p:embed/>
                </p:oleObj>
              </mc:Choice>
              <mc:Fallback>
                <p:oleObj name="Equation" r:id="rId4" imgW="838080" imgH="164880" progId="Equation.DSMT4">
                  <p:embed/>
                  <p:pic>
                    <p:nvPicPr>
                      <p:cNvPr id="29" name="对象 28">
                        <a:extLst>
                          <a:ext uri="{FF2B5EF4-FFF2-40B4-BE49-F238E27FC236}">
                            <a16:creationId xmlns:a16="http://schemas.microsoft.com/office/drawing/2014/main" id="{1650E263-2B04-4E78-9091-FA526315C1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0472" y="1998171"/>
                        <a:ext cx="2841625" cy="560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D2FAB483-6897-41D3-9C81-C2BF6D1866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0694810"/>
              </p:ext>
            </p:extLst>
          </p:nvPr>
        </p:nvGraphicFramePr>
        <p:xfrm>
          <a:off x="200472" y="2502780"/>
          <a:ext cx="3486151" cy="129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28520" imgH="380880" progId="Equation.DSMT4">
                  <p:embed/>
                </p:oleObj>
              </mc:Choice>
              <mc:Fallback>
                <p:oleObj name="Equation" r:id="rId6" imgW="1028520" imgH="380880" progId="Equation.DSMT4">
                  <p:embed/>
                  <p:pic>
                    <p:nvPicPr>
                      <p:cNvPr id="31" name="对象 30">
                        <a:extLst>
                          <a:ext uri="{FF2B5EF4-FFF2-40B4-BE49-F238E27FC236}">
                            <a16:creationId xmlns:a16="http://schemas.microsoft.com/office/drawing/2014/main" id="{5FD25334-B160-4351-977F-2B3D2B1951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00472" y="2502780"/>
                        <a:ext cx="3486151" cy="1292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00CEFA7E-1C4C-4833-BE66-1C4ABA5B7B37}"/>
                  </a:ext>
                </a:extLst>
              </p:cNvPr>
              <p:cNvSpPr txBox="1"/>
              <p:nvPr/>
            </p:nvSpPr>
            <p:spPr>
              <a:xfrm>
                <a:off x="4084406" y="2888763"/>
                <a:ext cx="22297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>
                    <a:solidFill>
                      <a:schemeClr val="tx1"/>
                    </a:solidFill>
                  </a:rPr>
                  <a:t>两边点乘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sz="2400" baseline="30000" dirty="0">
                    <a:solidFill>
                      <a:schemeClr val="tx1"/>
                    </a:solidFill>
                  </a:rPr>
                  <a:t>(1)</a:t>
                </a:r>
                <a:r>
                  <a:rPr lang="en-US" altLang="zh-CN" sz="2400" dirty="0">
                    <a:solidFill>
                      <a:schemeClr val="tx1"/>
                    </a:solidFill>
                  </a:rPr>
                  <a:t>)</a:t>
                </a:r>
                <a:r>
                  <a:rPr lang="en-US" altLang="zh-CN" sz="2400" baseline="30000" dirty="0">
                    <a:solidFill>
                      <a:schemeClr val="tx1"/>
                    </a:solidFill>
                  </a:rPr>
                  <a:t>T</a:t>
                </a:r>
                <a:endParaRPr lang="zh-CN" altLang="en-US" sz="2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00CEFA7E-1C4C-4833-BE66-1C4ABA5B7B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4406" y="2888763"/>
                <a:ext cx="2229713" cy="461665"/>
              </a:xfrm>
              <a:prstGeom prst="rect">
                <a:avLst/>
              </a:prstGeom>
              <a:blipFill>
                <a:blip r:embed="rId23"/>
                <a:stretch>
                  <a:fillRect l="-4098" t="-10526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60F55CB9-2F33-44A6-8C06-03575CA772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2779108"/>
              </p:ext>
            </p:extLst>
          </p:nvPr>
        </p:nvGraphicFramePr>
        <p:xfrm>
          <a:off x="206082" y="3647683"/>
          <a:ext cx="5637213" cy="1465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663560" imgH="431640" progId="Equation.DSMT4">
                  <p:embed/>
                </p:oleObj>
              </mc:Choice>
              <mc:Fallback>
                <p:oleObj name="Equation" r:id="rId24" imgW="1663560" imgH="431640" progId="Equation.DSMT4">
                  <p:embed/>
                  <p:pic>
                    <p:nvPicPr>
                      <p:cNvPr id="32" name="对象 31">
                        <a:extLst>
                          <a:ext uri="{FF2B5EF4-FFF2-40B4-BE49-F238E27FC236}">
                            <a16:creationId xmlns:a16="http://schemas.microsoft.com/office/drawing/2014/main" id="{D2FAB483-6897-41D3-9C81-C2BF6D1866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206082" y="3647683"/>
                        <a:ext cx="5637213" cy="1465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3A354BA5-6ABF-4441-857F-12DD1182A871}"/>
                  </a:ext>
                </a:extLst>
              </p:cNvPr>
              <p:cNvSpPr txBox="1"/>
              <p:nvPr/>
            </p:nvSpPr>
            <p:spPr>
              <a:xfrm>
                <a:off x="200472" y="5118258"/>
                <a:ext cx="39176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sz="2400" baseline="30000" dirty="0">
                    <a:solidFill>
                      <a:schemeClr val="tx1"/>
                    </a:solidFill>
                  </a:rPr>
                  <a:t>(1)</a:t>
                </a:r>
                <a:r>
                  <a:rPr lang="zh-CN" altLang="en-US" sz="2400" dirty="0"/>
                  <a:t>与     和     点处梯度正交</a:t>
                </a:r>
                <a:endParaRPr lang="zh-CN" altLang="en-US" sz="2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3A354BA5-6ABF-4441-857F-12DD1182A8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472" y="5118258"/>
                <a:ext cx="3917676" cy="461665"/>
              </a:xfrm>
              <a:prstGeom prst="rect">
                <a:avLst/>
              </a:prstGeom>
              <a:blipFill>
                <a:blip r:embed="rId26"/>
                <a:stretch>
                  <a:fillRect l="-467" t="-10667" r="-1400" b="-3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C6BE72A7-C102-44EA-9B5D-378DAA8927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5875509"/>
              </p:ext>
            </p:extLst>
          </p:nvPr>
        </p:nvGraphicFramePr>
        <p:xfrm>
          <a:off x="1005636" y="5148166"/>
          <a:ext cx="416216" cy="44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77480" imgH="190440" progId="Equation.DSMT4">
                  <p:embed/>
                </p:oleObj>
              </mc:Choice>
              <mc:Fallback>
                <p:oleObj name="Equation" r:id="rId27" imgW="177480" imgH="190440" progId="Equation.DSMT4">
                  <p:embed/>
                  <p:pic>
                    <p:nvPicPr>
                      <p:cNvPr id="71" name="对象 70">
                        <a:extLst>
                          <a:ext uri="{FF2B5EF4-FFF2-40B4-BE49-F238E27FC236}">
                            <a16:creationId xmlns:a16="http://schemas.microsoft.com/office/drawing/2014/main" id="{02554411-C282-4580-9067-A9B393145A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005636" y="5148166"/>
                        <a:ext cx="416216" cy="446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3DBE545B-70C8-4D71-91D6-6F51B24D96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7836126"/>
              </p:ext>
            </p:extLst>
          </p:nvPr>
        </p:nvGraphicFramePr>
        <p:xfrm>
          <a:off x="1707853" y="5125971"/>
          <a:ext cx="416216" cy="44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77480" imgH="190440" progId="Equation.DSMT4">
                  <p:embed/>
                </p:oleObj>
              </mc:Choice>
              <mc:Fallback>
                <p:oleObj name="Equation" r:id="rId29" imgW="177480" imgH="190440" progId="Equation.DSMT4">
                  <p:embed/>
                  <p:pic>
                    <p:nvPicPr>
                      <p:cNvPr id="72" name="对象 71">
                        <a:extLst>
                          <a:ext uri="{FF2B5EF4-FFF2-40B4-BE49-F238E27FC236}">
                            <a16:creationId xmlns:a16="http://schemas.microsoft.com/office/drawing/2014/main" id="{75026148-1A42-408B-A883-71731C9DDC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707853" y="5125971"/>
                        <a:ext cx="416216" cy="446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BC63FD1D-C769-4491-BD50-7EB0B61636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7357251"/>
              </p:ext>
            </p:extLst>
          </p:nvPr>
        </p:nvGraphicFramePr>
        <p:xfrm>
          <a:off x="179388" y="5632450"/>
          <a:ext cx="6024562" cy="64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777680" imgH="190440" progId="Equation.DSMT4">
                  <p:embed/>
                </p:oleObj>
              </mc:Choice>
              <mc:Fallback>
                <p:oleObj name="Equation" r:id="rId31" imgW="1777680" imgH="190440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60F55CB9-2F33-44A6-8C06-03575CA772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79388" y="5632450"/>
                        <a:ext cx="6024562" cy="646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592A6DB-1E7F-B620-70D3-092A057159D0}"/>
              </a:ext>
            </a:extLst>
          </p:cNvPr>
          <p:cNvCxnSpPr>
            <a:cxnSpLocks/>
          </p:cNvCxnSpPr>
          <p:nvPr/>
        </p:nvCxnSpPr>
        <p:spPr bwMode="auto">
          <a:xfrm flipV="1">
            <a:off x="6914055" y="5244944"/>
            <a:ext cx="2719465" cy="9772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流程图: 接点 29">
            <a:extLst>
              <a:ext uri="{FF2B5EF4-FFF2-40B4-BE49-F238E27FC236}">
                <a16:creationId xmlns:a16="http://schemas.microsoft.com/office/drawing/2014/main" id="{32C1363A-024D-E0D3-687D-ADE16941089F}"/>
              </a:ext>
            </a:extLst>
          </p:cNvPr>
          <p:cNvSpPr/>
          <p:nvPr/>
        </p:nvSpPr>
        <p:spPr bwMode="auto">
          <a:xfrm rot="17986332">
            <a:off x="8095981" y="3700453"/>
            <a:ext cx="148647" cy="158316"/>
          </a:xfrm>
          <a:prstGeom prst="flowChartConnector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888940D0-F3A7-93AF-5CD3-88CDC2ABFF0F}"/>
              </a:ext>
            </a:extLst>
          </p:cNvPr>
          <p:cNvSpPr/>
          <p:nvPr/>
        </p:nvSpPr>
        <p:spPr bwMode="auto">
          <a:xfrm rot="17986332">
            <a:off x="7191562" y="3204116"/>
            <a:ext cx="2098485" cy="1296305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06CF56A-8E4E-A1BE-D5D8-17BE62697F8B}"/>
              </a:ext>
            </a:extLst>
          </p:cNvPr>
          <p:cNvSpPr/>
          <p:nvPr/>
        </p:nvSpPr>
        <p:spPr bwMode="auto">
          <a:xfrm rot="17986332">
            <a:off x="6681193" y="2938220"/>
            <a:ext cx="3168352" cy="1728192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9832620F-08A7-50D0-C274-456B6CB165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1894016"/>
              </p:ext>
            </p:extLst>
          </p:nvPr>
        </p:nvGraphicFramePr>
        <p:xfrm>
          <a:off x="7761312" y="3933056"/>
          <a:ext cx="57467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215640" imgH="190440" progId="Equation.DSMT4">
                  <p:embed/>
                </p:oleObj>
              </mc:Choice>
              <mc:Fallback>
                <p:oleObj name="Equation" r:id="rId33" imgW="215640" imgH="19044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FD680FA5-FF28-45EC-A662-F792E29204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7761312" y="3933056"/>
                        <a:ext cx="574675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流程图: 接点 41">
            <a:extLst>
              <a:ext uri="{FF2B5EF4-FFF2-40B4-BE49-F238E27FC236}">
                <a16:creationId xmlns:a16="http://schemas.microsoft.com/office/drawing/2014/main" id="{E3DBD91C-F4C5-CE43-49F3-C94D66443CD0}"/>
              </a:ext>
            </a:extLst>
          </p:cNvPr>
          <p:cNvSpPr/>
          <p:nvPr/>
        </p:nvSpPr>
        <p:spPr bwMode="auto">
          <a:xfrm rot="17986332">
            <a:off x="6822813" y="5159269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9662FA7D-84C5-A63D-F295-57017974B1D6}"/>
              </a:ext>
            </a:extLst>
          </p:cNvPr>
          <p:cNvCxnSpPr>
            <a:cxnSpLocks/>
          </p:cNvCxnSpPr>
          <p:nvPr/>
        </p:nvCxnSpPr>
        <p:spPr bwMode="auto">
          <a:xfrm flipV="1">
            <a:off x="6914823" y="2707713"/>
            <a:ext cx="2123887" cy="2523186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4" name="流程图: 接点 43">
            <a:extLst>
              <a:ext uri="{FF2B5EF4-FFF2-40B4-BE49-F238E27FC236}">
                <a16:creationId xmlns:a16="http://schemas.microsoft.com/office/drawing/2014/main" id="{3D0550CF-8A73-BBE4-54A7-78267865593B}"/>
              </a:ext>
            </a:extLst>
          </p:cNvPr>
          <p:cNvSpPr/>
          <p:nvPr/>
        </p:nvSpPr>
        <p:spPr bwMode="auto">
          <a:xfrm rot="17986332">
            <a:off x="7597208" y="5159269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45" name="对象 44">
            <a:extLst>
              <a:ext uri="{FF2B5EF4-FFF2-40B4-BE49-F238E27FC236}">
                <a16:creationId xmlns:a16="http://schemas.microsoft.com/office/drawing/2014/main" id="{07BA8CCF-9C5E-32AD-F969-FE105759EA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3356230"/>
              </p:ext>
            </p:extLst>
          </p:nvPr>
        </p:nvGraphicFramePr>
        <p:xfrm>
          <a:off x="7549877" y="5217666"/>
          <a:ext cx="585787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215640" imgH="190440" progId="Equation.DSMT4">
                  <p:embed/>
                </p:oleObj>
              </mc:Choice>
              <mc:Fallback>
                <p:oleObj name="Equation" r:id="rId35" imgW="215640" imgH="19044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68EDD790-D795-4700-85C5-452413F3B1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7549877" y="5217666"/>
                        <a:ext cx="585787" cy="519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57775BBB-869D-2015-D54D-8936DF1303CF}"/>
              </a:ext>
            </a:extLst>
          </p:cNvPr>
          <p:cNvCxnSpPr>
            <a:cxnSpLocks/>
          </p:cNvCxnSpPr>
          <p:nvPr/>
        </p:nvCxnSpPr>
        <p:spPr bwMode="auto">
          <a:xfrm flipV="1">
            <a:off x="6919275" y="1277541"/>
            <a:ext cx="16423" cy="3978204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47" name="对象 46">
            <a:extLst>
              <a:ext uri="{FF2B5EF4-FFF2-40B4-BE49-F238E27FC236}">
                <a16:creationId xmlns:a16="http://schemas.microsoft.com/office/drawing/2014/main" id="{2B2F4FBD-B9C8-8A89-5153-2FB52571C8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0526940"/>
              </p:ext>
            </p:extLst>
          </p:nvPr>
        </p:nvGraphicFramePr>
        <p:xfrm>
          <a:off x="7958809" y="3290429"/>
          <a:ext cx="481012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177480" imgH="152280" progId="Equation.DSMT4">
                  <p:embed/>
                </p:oleObj>
              </mc:Choice>
              <mc:Fallback>
                <p:oleObj name="Equation" r:id="rId37" imgW="177480" imgH="15228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3A19A851-9CC0-4531-9AE2-299C5878CD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7958809" y="3290429"/>
                        <a:ext cx="481012" cy="41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>
            <a:extLst>
              <a:ext uri="{FF2B5EF4-FFF2-40B4-BE49-F238E27FC236}">
                <a16:creationId xmlns:a16="http://schemas.microsoft.com/office/drawing/2014/main" id="{F2F0D8FD-40CD-642B-CFD5-4C6D0BEFCA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0747616"/>
              </p:ext>
            </p:extLst>
          </p:nvPr>
        </p:nvGraphicFramePr>
        <p:xfrm>
          <a:off x="8902700" y="5265738"/>
          <a:ext cx="508000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190440" imgH="164880" progId="Equation.DSMT4">
                  <p:embed/>
                </p:oleObj>
              </mc:Choice>
              <mc:Fallback>
                <p:oleObj name="Equation" r:id="rId39" imgW="190440" imgH="16488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D0346854-55C2-4FB4-A4B6-018A6CD2D1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8902700" y="5265738"/>
                        <a:ext cx="508000" cy="439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对象 48">
            <a:extLst>
              <a:ext uri="{FF2B5EF4-FFF2-40B4-BE49-F238E27FC236}">
                <a16:creationId xmlns:a16="http://schemas.microsoft.com/office/drawing/2014/main" id="{6B1AB2FB-1769-90FD-0013-360925C998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7931567"/>
              </p:ext>
            </p:extLst>
          </p:nvPr>
        </p:nvGraphicFramePr>
        <p:xfrm>
          <a:off x="7648575" y="1755775"/>
          <a:ext cx="474663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177480" imgH="164880" progId="Equation.DSMT4">
                  <p:embed/>
                </p:oleObj>
              </mc:Choice>
              <mc:Fallback>
                <p:oleObj name="Equation" r:id="rId41" imgW="177480" imgH="16488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757A98AA-EC68-4B15-8273-FD3D863EF3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7648575" y="1755775"/>
                        <a:ext cx="474663" cy="439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5A4D4596-5902-AADF-C02E-C8D1CCFFDD72}"/>
              </a:ext>
            </a:extLst>
          </p:cNvPr>
          <p:cNvCxnSpPr>
            <a:cxnSpLocks/>
          </p:cNvCxnSpPr>
          <p:nvPr/>
        </p:nvCxnSpPr>
        <p:spPr bwMode="auto">
          <a:xfrm flipV="1">
            <a:off x="7710019" y="1310217"/>
            <a:ext cx="16423" cy="3978204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1" name="椭圆 50">
            <a:extLst>
              <a:ext uri="{FF2B5EF4-FFF2-40B4-BE49-F238E27FC236}">
                <a16:creationId xmlns:a16="http://schemas.microsoft.com/office/drawing/2014/main" id="{88965B7F-B16F-7E6E-8D4E-C0C8EB5FBF53}"/>
              </a:ext>
            </a:extLst>
          </p:cNvPr>
          <p:cNvSpPr/>
          <p:nvPr/>
        </p:nvSpPr>
        <p:spPr bwMode="auto">
          <a:xfrm rot="17986332">
            <a:off x="7412228" y="3524069"/>
            <a:ext cx="1516152" cy="613149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2" name="流程图: 接点 51">
            <a:extLst>
              <a:ext uri="{FF2B5EF4-FFF2-40B4-BE49-F238E27FC236}">
                <a16:creationId xmlns:a16="http://schemas.microsoft.com/office/drawing/2014/main" id="{B3A3AFCF-E377-DB93-3AE2-36D0DCC1BDA4}"/>
              </a:ext>
            </a:extLst>
          </p:cNvPr>
          <p:cNvSpPr/>
          <p:nvPr/>
        </p:nvSpPr>
        <p:spPr bwMode="auto">
          <a:xfrm rot="17986332">
            <a:off x="7642218" y="4132053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53" name="对象 52">
            <a:extLst>
              <a:ext uri="{FF2B5EF4-FFF2-40B4-BE49-F238E27FC236}">
                <a16:creationId xmlns:a16="http://schemas.microsoft.com/office/drawing/2014/main" id="{2B3E52F9-DBF6-0AAF-E70B-BF53319329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3106841"/>
              </p:ext>
            </p:extLst>
          </p:nvPr>
        </p:nvGraphicFramePr>
        <p:xfrm>
          <a:off x="6318250" y="4667250"/>
          <a:ext cx="58737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215640" imgH="190440" progId="Equation.DSMT4">
                  <p:embed/>
                </p:oleObj>
              </mc:Choice>
              <mc:Fallback>
                <p:oleObj name="Equation" r:id="rId43" imgW="215640" imgH="190440" progId="Equation.DSMT4">
                  <p:embed/>
                  <p:pic>
                    <p:nvPicPr>
                      <p:cNvPr id="31" name="对象 30">
                        <a:extLst>
                          <a:ext uri="{FF2B5EF4-FFF2-40B4-BE49-F238E27FC236}">
                            <a16:creationId xmlns:a16="http://schemas.microsoft.com/office/drawing/2014/main" id="{DA1FF270-F121-43F5-8B2E-E16511C47F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6318250" y="4667250"/>
                        <a:ext cx="587375" cy="519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C8A2A474-AEF5-A42A-2F0F-DAA8445419FF}"/>
              </a:ext>
            </a:extLst>
          </p:cNvPr>
          <p:cNvCxnSpPr>
            <a:cxnSpLocks/>
          </p:cNvCxnSpPr>
          <p:nvPr/>
        </p:nvCxnSpPr>
        <p:spPr bwMode="auto">
          <a:xfrm flipV="1">
            <a:off x="6582562" y="6237312"/>
            <a:ext cx="1113207" cy="18599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D0875E37-2E8C-D8C4-8D7A-1796EF530534}"/>
              </a:ext>
            </a:extLst>
          </p:cNvPr>
          <p:cNvCxnSpPr>
            <a:cxnSpLocks/>
          </p:cNvCxnSpPr>
          <p:nvPr/>
        </p:nvCxnSpPr>
        <p:spPr bwMode="auto">
          <a:xfrm flipV="1">
            <a:off x="6584104" y="5130949"/>
            <a:ext cx="0" cy="1148302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0D071C14-5C36-88D9-9CF4-2D8ADC81C045}"/>
              </a:ext>
            </a:extLst>
          </p:cNvPr>
          <p:cNvCxnSpPr>
            <a:stCxn id="42" idx="2"/>
          </p:cNvCxnSpPr>
          <p:nvPr/>
        </p:nvCxnSpPr>
        <p:spPr bwMode="auto">
          <a:xfrm flipH="1">
            <a:off x="6582562" y="5349091"/>
            <a:ext cx="294989" cy="969088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EF8C4832-D1E6-31F0-DCF2-526B60969E0B}"/>
              </a:ext>
            </a:extLst>
          </p:cNvPr>
          <p:cNvCxnSpPr>
            <a:cxnSpLocks/>
          </p:cNvCxnSpPr>
          <p:nvPr/>
        </p:nvCxnSpPr>
        <p:spPr bwMode="auto">
          <a:xfrm flipH="1">
            <a:off x="6578097" y="4346403"/>
            <a:ext cx="1108884" cy="1962476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58" name="对象 57">
            <a:extLst>
              <a:ext uri="{FF2B5EF4-FFF2-40B4-BE49-F238E27FC236}">
                <a16:creationId xmlns:a16="http://schemas.microsoft.com/office/drawing/2014/main" id="{D7C752CB-0EEA-72E7-4AB0-C0C18AF979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1382849"/>
              </p:ext>
            </p:extLst>
          </p:nvPr>
        </p:nvGraphicFramePr>
        <p:xfrm>
          <a:off x="8987538" y="2693668"/>
          <a:ext cx="3048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5" imgW="114120" imgH="152280" progId="Equation.DSMT4">
                  <p:embed/>
                </p:oleObj>
              </mc:Choice>
              <mc:Fallback>
                <p:oleObj name="Equation" r:id="rId45" imgW="114120" imgH="152280" progId="Equation.DSMT4">
                  <p:embed/>
                  <p:pic>
                    <p:nvPicPr>
                      <p:cNvPr id="46" name="对象 45">
                        <a:extLst>
                          <a:ext uri="{FF2B5EF4-FFF2-40B4-BE49-F238E27FC236}">
                            <a16:creationId xmlns:a16="http://schemas.microsoft.com/office/drawing/2014/main" id="{68527610-0EEA-471C-A261-E9A4714567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8987538" y="2693668"/>
                        <a:ext cx="304800" cy="404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" name="文本框 58">
            <a:extLst>
              <a:ext uri="{FF2B5EF4-FFF2-40B4-BE49-F238E27FC236}">
                <a16:creationId xmlns:a16="http://schemas.microsoft.com/office/drawing/2014/main" id="{30961F82-7E0B-E152-ACF7-CB566926CF69}"/>
              </a:ext>
            </a:extLst>
          </p:cNvPr>
          <p:cNvSpPr txBox="1"/>
          <p:nvPr/>
        </p:nvSpPr>
        <p:spPr>
          <a:xfrm>
            <a:off x="6321152" y="6207695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0</a:t>
            </a:r>
            <a:endParaRPr lang="zh-CN" altLang="en-US" sz="2400" dirty="0"/>
          </a:p>
        </p:txBody>
      </p:sp>
      <p:sp>
        <p:nvSpPr>
          <p:cNvPr id="60" name="任意多边形: 形状 59">
            <a:extLst>
              <a:ext uri="{FF2B5EF4-FFF2-40B4-BE49-F238E27FC236}">
                <a16:creationId xmlns:a16="http://schemas.microsoft.com/office/drawing/2014/main" id="{EF0E81B7-934D-93E6-7ED1-8F6E79C590C8}"/>
              </a:ext>
            </a:extLst>
          </p:cNvPr>
          <p:cNvSpPr/>
          <p:nvPr/>
        </p:nvSpPr>
        <p:spPr bwMode="auto">
          <a:xfrm>
            <a:off x="6932894" y="3783126"/>
            <a:ext cx="1745088" cy="1848666"/>
          </a:xfrm>
          <a:custGeom>
            <a:avLst/>
            <a:gdLst>
              <a:gd name="connsiteX0" fmla="*/ 140178 w 1615016"/>
              <a:gd name="connsiteY0" fmla="*/ 0 h 2163167"/>
              <a:gd name="connsiteX1" fmla="*/ 22190 w 1615016"/>
              <a:gd name="connsiteY1" fmla="*/ 1622323 h 2163167"/>
              <a:gd name="connsiteX2" fmla="*/ 533468 w 1615016"/>
              <a:gd name="connsiteY2" fmla="*/ 2153265 h 2163167"/>
              <a:gd name="connsiteX3" fmla="*/ 1615016 w 1615016"/>
              <a:gd name="connsiteY3" fmla="*/ 1917291 h 2163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5016" h="2163167">
                <a:moveTo>
                  <a:pt x="140178" y="0"/>
                </a:moveTo>
                <a:cubicBezTo>
                  <a:pt x="48410" y="631723"/>
                  <a:pt x="-43358" y="1263446"/>
                  <a:pt x="22190" y="1622323"/>
                </a:cubicBezTo>
                <a:cubicBezTo>
                  <a:pt x="87738" y="1981200"/>
                  <a:pt x="267997" y="2104104"/>
                  <a:pt x="533468" y="2153265"/>
                </a:cubicBezTo>
                <a:cubicBezTo>
                  <a:pt x="798939" y="2202426"/>
                  <a:pt x="1206977" y="2059858"/>
                  <a:pt x="1615016" y="1917291"/>
                </a:cubicBezTo>
              </a:path>
            </a:pathLst>
          </a:cu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2926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39E33E-4A25-477C-83EC-D1D5D2B48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共轭方向形成公式推导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0BB996-E1F8-435B-8C00-F61B29A11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32163FF-A28F-4903-BC1B-4033A606C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21</a:t>
            </a:fld>
            <a:endParaRPr lang="en-US" altLang="zh-CN" dirty="0"/>
          </a:p>
        </p:txBody>
      </p:sp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60F55CB9-2F33-44A6-8C06-03575CA772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2670910"/>
              </p:ext>
            </p:extLst>
          </p:nvPr>
        </p:nvGraphicFramePr>
        <p:xfrm>
          <a:off x="139700" y="1154415"/>
          <a:ext cx="3657600" cy="1465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79280" imgH="431640" progId="Equation.DSMT4">
                  <p:embed/>
                </p:oleObj>
              </mc:Choice>
              <mc:Fallback>
                <p:oleObj name="Equation" r:id="rId2" imgW="1079280" imgH="431640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60F55CB9-2F33-44A6-8C06-03575CA772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9700" y="1154415"/>
                        <a:ext cx="3657600" cy="1465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0052A618-E65C-4DF4-B354-BD53E429270B}"/>
              </a:ext>
            </a:extLst>
          </p:cNvPr>
          <p:cNvSpPr txBox="1"/>
          <p:nvPr/>
        </p:nvSpPr>
        <p:spPr>
          <a:xfrm>
            <a:off x="272480" y="2735631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上面两式相减：</a:t>
            </a:r>
          </a:p>
        </p:txBody>
      </p:sp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71FFD6E6-B016-4D01-83BC-67AD55D314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0112912"/>
              </p:ext>
            </p:extLst>
          </p:nvPr>
        </p:nvGraphicFramePr>
        <p:xfrm>
          <a:off x="137419" y="3272531"/>
          <a:ext cx="3959226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68200" imgH="215640" progId="Equation.DSMT4">
                  <p:embed/>
                </p:oleObj>
              </mc:Choice>
              <mc:Fallback>
                <p:oleObj name="Equation" r:id="rId4" imgW="1168200" imgH="215640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60F55CB9-2F33-44A6-8C06-03575CA772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7419" y="3272531"/>
                        <a:ext cx="3959226" cy="7318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ADF276F4-E716-4554-A5EA-80DA06B480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2660079"/>
              </p:ext>
            </p:extLst>
          </p:nvPr>
        </p:nvGraphicFramePr>
        <p:xfrm>
          <a:off x="270813" y="4088732"/>
          <a:ext cx="2797175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25480" imgH="190440" progId="Equation.DSMT4">
                  <p:embed/>
                </p:oleObj>
              </mc:Choice>
              <mc:Fallback>
                <p:oleObj name="Equation" r:id="rId6" imgW="825480" imgH="190440" progId="Equation.DSMT4">
                  <p:embed/>
                  <p:pic>
                    <p:nvPicPr>
                      <p:cNvPr id="39" name="对象 38">
                        <a:extLst>
                          <a:ext uri="{FF2B5EF4-FFF2-40B4-BE49-F238E27FC236}">
                            <a16:creationId xmlns:a16="http://schemas.microsoft.com/office/drawing/2014/main" id="{71FFD6E6-B016-4D01-83BC-67AD55D314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70813" y="4088732"/>
                        <a:ext cx="2797175" cy="646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D37695ED-0805-408F-810D-A16287F758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7700050"/>
              </p:ext>
            </p:extLst>
          </p:nvPr>
        </p:nvGraphicFramePr>
        <p:xfrm>
          <a:off x="270837" y="4734844"/>
          <a:ext cx="2581275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61760" imgH="190440" progId="Equation.DSMT4">
                  <p:embed/>
                </p:oleObj>
              </mc:Choice>
              <mc:Fallback>
                <p:oleObj name="Equation" r:id="rId8" imgW="761760" imgH="190440" progId="Equation.DSMT4">
                  <p:embed/>
                  <p:pic>
                    <p:nvPicPr>
                      <p:cNvPr id="40" name="对象 39">
                        <a:extLst>
                          <a:ext uri="{FF2B5EF4-FFF2-40B4-BE49-F238E27FC236}">
                            <a16:creationId xmlns:a16="http://schemas.microsoft.com/office/drawing/2014/main" id="{ADF276F4-E716-4554-A5EA-80DA06B480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70837" y="4734844"/>
                        <a:ext cx="2581275" cy="646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31FD3187-113D-4B54-91B6-99D07CBD278A}"/>
                  </a:ext>
                </a:extLst>
              </p:cNvPr>
              <p:cNvSpPr txBox="1"/>
              <p:nvPr/>
            </p:nvSpPr>
            <p:spPr>
              <a:xfrm>
                <a:off x="1672640" y="5661248"/>
                <a:ext cx="3424375" cy="461665"/>
              </a:xfrm>
              <a:prstGeom prst="rect">
                <a:avLst/>
              </a:prstGeom>
              <a:solidFill>
                <a:srgbClr val="FFFF66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sz="2400" baseline="30000" dirty="0">
                    <a:solidFill>
                      <a:srgbClr val="FF0000"/>
                    </a:solidFill>
                  </a:rPr>
                  <a:t>(1)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sz="2400" dirty="0">
                    <a:solidFill>
                      <a:srgbClr val="FF0000"/>
                    </a:solidFill>
                  </a:rPr>
                  <a:t>关于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2400" dirty="0">
                    <a:solidFill>
                      <a:srgbClr val="FF0000"/>
                    </a:solidFill>
                  </a:rPr>
                  <a:t>共轭</a:t>
                </a:r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31FD3187-113D-4B54-91B6-99D07CBD2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2640" y="5661248"/>
                <a:ext cx="3424375" cy="461665"/>
              </a:xfrm>
              <a:prstGeom prst="rect">
                <a:avLst/>
              </a:prstGeom>
              <a:blipFill>
                <a:blip r:embed="rId25"/>
                <a:stretch>
                  <a:fillRect t="-9091" b="-2857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2CF316F1-DF58-09BD-C34E-C99B31E36A92}"/>
              </a:ext>
            </a:extLst>
          </p:cNvPr>
          <p:cNvCxnSpPr>
            <a:cxnSpLocks/>
          </p:cNvCxnSpPr>
          <p:nvPr/>
        </p:nvCxnSpPr>
        <p:spPr bwMode="auto">
          <a:xfrm flipV="1">
            <a:off x="6914055" y="5244944"/>
            <a:ext cx="2719465" cy="9772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" name="流程图: 接点 29">
            <a:extLst>
              <a:ext uri="{FF2B5EF4-FFF2-40B4-BE49-F238E27FC236}">
                <a16:creationId xmlns:a16="http://schemas.microsoft.com/office/drawing/2014/main" id="{478C9047-77E6-2A92-E25F-3879481F48D9}"/>
              </a:ext>
            </a:extLst>
          </p:cNvPr>
          <p:cNvSpPr/>
          <p:nvPr/>
        </p:nvSpPr>
        <p:spPr bwMode="auto">
          <a:xfrm rot="17986332">
            <a:off x="8095981" y="3700453"/>
            <a:ext cx="148647" cy="158316"/>
          </a:xfrm>
          <a:prstGeom prst="flowChartConnector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C619F838-4C4C-7AD2-DF2D-7C0CEB8EF876}"/>
              </a:ext>
            </a:extLst>
          </p:cNvPr>
          <p:cNvSpPr/>
          <p:nvPr/>
        </p:nvSpPr>
        <p:spPr bwMode="auto">
          <a:xfrm rot="17986332">
            <a:off x="7191562" y="3204116"/>
            <a:ext cx="2098485" cy="1296305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995A7A19-D78F-46AE-7CCB-2EB80D30F500}"/>
              </a:ext>
            </a:extLst>
          </p:cNvPr>
          <p:cNvSpPr/>
          <p:nvPr/>
        </p:nvSpPr>
        <p:spPr bwMode="auto">
          <a:xfrm rot="17986332">
            <a:off x="6681193" y="2938220"/>
            <a:ext cx="3168352" cy="1728192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591DFA65-7DE6-8847-D1F4-792D3DCB68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1894016"/>
              </p:ext>
            </p:extLst>
          </p:nvPr>
        </p:nvGraphicFramePr>
        <p:xfrm>
          <a:off x="7761312" y="3933056"/>
          <a:ext cx="57467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15640" imgH="190440" progId="Equation.DSMT4">
                  <p:embed/>
                </p:oleObj>
              </mc:Choice>
              <mc:Fallback>
                <p:oleObj name="Equation" r:id="rId26" imgW="215640" imgH="19044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FD680FA5-FF28-45EC-A662-F792E29204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7761312" y="3933056"/>
                        <a:ext cx="574675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流程图: 接点 34">
            <a:extLst>
              <a:ext uri="{FF2B5EF4-FFF2-40B4-BE49-F238E27FC236}">
                <a16:creationId xmlns:a16="http://schemas.microsoft.com/office/drawing/2014/main" id="{E398B069-644E-6E7B-12FE-8824640DD5DC}"/>
              </a:ext>
            </a:extLst>
          </p:cNvPr>
          <p:cNvSpPr/>
          <p:nvPr/>
        </p:nvSpPr>
        <p:spPr bwMode="auto">
          <a:xfrm rot="17986332">
            <a:off x="6822813" y="5159269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581BA75A-84CD-83F3-10D5-62D967603969}"/>
              </a:ext>
            </a:extLst>
          </p:cNvPr>
          <p:cNvCxnSpPr>
            <a:cxnSpLocks/>
          </p:cNvCxnSpPr>
          <p:nvPr/>
        </p:nvCxnSpPr>
        <p:spPr bwMode="auto">
          <a:xfrm flipV="1">
            <a:off x="6914823" y="2707713"/>
            <a:ext cx="2123887" cy="2523186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流程图: 接点 36">
            <a:extLst>
              <a:ext uri="{FF2B5EF4-FFF2-40B4-BE49-F238E27FC236}">
                <a16:creationId xmlns:a16="http://schemas.microsoft.com/office/drawing/2014/main" id="{81DEC5D7-D20D-0B99-6AE4-3261AC8D84C9}"/>
              </a:ext>
            </a:extLst>
          </p:cNvPr>
          <p:cNvSpPr/>
          <p:nvPr/>
        </p:nvSpPr>
        <p:spPr bwMode="auto">
          <a:xfrm rot="17986332">
            <a:off x="7597208" y="5159269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4DB8F993-127C-44D2-4EE3-5F18B2F002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3356230"/>
              </p:ext>
            </p:extLst>
          </p:nvPr>
        </p:nvGraphicFramePr>
        <p:xfrm>
          <a:off x="7549877" y="5217666"/>
          <a:ext cx="585787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15640" imgH="190440" progId="Equation.DSMT4">
                  <p:embed/>
                </p:oleObj>
              </mc:Choice>
              <mc:Fallback>
                <p:oleObj name="Equation" r:id="rId28" imgW="215640" imgH="19044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68EDD790-D795-4700-85C5-452413F3B1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7549877" y="5217666"/>
                        <a:ext cx="585787" cy="519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E19A0F7D-404F-0979-7815-1AAAD5C18B0D}"/>
              </a:ext>
            </a:extLst>
          </p:cNvPr>
          <p:cNvCxnSpPr>
            <a:cxnSpLocks/>
          </p:cNvCxnSpPr>
          <p:nvPr/>
        </p:nvCxnSpPr>
        <p:spPr bwMode="auto">
          <a:xfrm flipV="1">
            <a:off x="6919275" y="1277541"/>
            <a:ext cx="16423" cy="3978204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44" name="对象 43">
            <a:extLst>
              <a:ext uri="{FF2B5EF4-FFF2-40B4-BE49-F238E27FC236}">
                <a16:creationId xmlns:a16="http://schemas.microsoft.com/office/drawing/2014/main" id="{5DDF03E6-1976-C914-830F-DE8BCBFA15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0526940"/>
              </p:ext>
            </p:extLst>
          </p:nvPr>
        </p:nvGraphicFramePr>
        <p:xfrm>
          <a:off x="7958809" y="3290429"/>
          <a:ext cx="481012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177480" imgH="152280" progId="Equation.DSMT4">
                  <p:embed/>
                </p:oleObj>
              </mc:Choice>
              <mc:Fallback>
                <p:oleObj name="Equation" r:id="rId30" imgW="177480" imgH="15228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3A19A851-9CC0-4531-9AE2-299C5878CD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7958809" y="3290429"/>
                        <a:ext cx="481012" cy="41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>
            <a:extLst>
              <a:ext uri="{FF2B5EF4-FFF2-40B4-BE49-F238E27FC236}">
                <a16:creationId xmlns:a16="http://schemas.microsoft.com/office/drawing/2014/main" id="{24FF95AC-3A06-D44C-BBF9-D35C0BBE36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0747616"/>
              </p:ext>
            </p:extLst>
          </p:nvPr>
        </p:nvGraphicFramePr>
        <p:xfrm>
          <a:off x="8902700" y="5265738"/>
          <a:ext cx="508000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90440" imgH="164880" progId="Equation.DSMT4">
                  <p:embed/>
                </p:oleObj>
              </mc:Choice>
              <mc:Fallback>
                <p:oleObj name="Equation" r:id="rId32" imgW="190440" imgH="16488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D0346854-55C2-4FB4-A4B6-018A6CD2D1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8902700" y="5265738"/>
                        <a:ext cx="508000" cy="439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>
            <a:extLst>
              <a:ext uri="{FF2B5EF4-FFF2-40B4-BE49-F238E27FC236}">
                <a16:creationId xmlns:a16="http://schemas.microsoft.com/office/drawing/2014/main" id="{9DDCFFF0-0804-54E9-6764-946BA6236E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7931567"/>
              </p:ext>
            </p:extLst>
          </p:nvPr>
        </p:nvGraphicFramePr>
        <p:xfrm>
          <a:off x="7648575" y="1755775"/>
          <a:ext cx="474663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177480" imgH="164880" progId="Equation.DSMT4">
                  <p:embed/>
                </p:oleObj>
              </mc:Choice>
              <mc:Fallback>
                <p:oleObj name="Equation" r:id="rId34" imgW="177480" imgH="16488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757A98AA-EC68-4B15-8273-FD3D863EF3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7648575" y="1755775"/>
                        <a:ext cx="474663" cy="439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9BA3DF9D-3B8F-6493-1800-72014EF969A7}"/>
              </a:ext>
            </a:extLst>
          </p:cNvPr>
          <p:cNvCxnSpPr>
            <a:cxnSpLocks/>
          </p:cNvCxnSpPr>
          <p:nvPr/>
        </p:nvCxnSpPr>
        <p:spPr bwMode="auto">
          <a:xfrm flipV="1">
            <a:off x="7710019" y="1310217"/>
            <a:ext cx="16423" cy="3978204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8" name="椭圆 47">
            <a:extLst>
              <a:ext uri="{FF2B5EF4-FFF2-40B4-BE49-F238E27FC236}">
                <a16:creationId xmlns:a16="http://schemas.microsoft.com/office/drawing/2014/main" id="{3D62580A-5FA8-A8FE-1E3E-7CE1E2375AEC}"/>
              </a:ext>
            </a:extLst>
          </p:cNvPr>
          <p:cNvSpPr/>
          <p:nvPr/>
        </p:nvSpPr>
        <p:spPr bwMode="auto">
          <a:xfrm rot="17986332">
            <a:off x="7412228" y="3524069"/>
            <a:ext cx="1516152" cy="613149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9" name="流程图: 接点 48">
            <a:extLst>
              <a:ext uri="{FF2B5EF4-FFF2-40B4-BE49-F238E27FC236}">
                <a16:creationId xmlns:a16="http://schemas.microsoft.com/office/drawing/2014/main" id="{F83CF2F1-5990-EBE6-4596-4F9673F65DB1}"/>
              </a:ext>
            </a:extLst>
          </p:cNvPr>
          <p:cNvSpPr/>
          <p:nvPr/>
        </p:nvSpPr>
        <p:spPr bwMode="auto">
          <a:xfrm rot="17986332">
            <a:off x="7642218" y="4132053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50" name="对象 49">
            <a:extLst>
              <a:ext uri="{FF2B5EF4-FFF2-40B4-BE49-F238E27FC236}">
                <a16:creationId xmlns:a16="http://schemas.microsoft.com/office/drawing/2014/main" id="{0152D9EA-CDDD-C9D0-12A6-6CC4960541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3106841"/>
              </p:ext>
            </p:extLst>
          </p:nvPr>
        </p:nvGraphicFramePr>
        <p:xfrm>
          <a:off x="6318250" y="4667250"/>
          <a:ext cx="58737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215640" imgH="190440" progId="Equation.DSMT4">
                  <p:embed/>
                </p:oleObj>
              </mc:Choice>
              <mc:Fallback>
                <p:oleObj name="Equation" r:id="rId36" imgW="215640" imgH="190440" progId="Equation.DSMT4">
                  <p:embed/>
                  <p:pic>
                    <p:nvPicPr>
                      <p:cNvPr id="31" name="对象 30">
                        <a:extLst>
                          <a:ext uri="{FF2B5EF4-FFF2-40B4-BE49-F238E27FC236}">
                            <a16:creationId xmlns:a16="http://schemas.microsoft.com/office/drawing/2014/main" id="{DA1FF270-F121-43F5-8B2E-E16511C47F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6318250" y="4667250"/>
                        <a:ext cx="587375" cy="519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407E4CF7-6F24-E946-12AF-6D7B97F7BAFF}"/>
              </a:ext>
            </a:extLst>
          </p:cNvPr>
          <p:cNvCxnSpPr>
            <a:cxnSpLocks/>
          </p:cNvCxnSpPr>
          <p:nvPr/>
        </p:nvCxnSpPr>
        <p:spPr bwMode="auto">
          <a:xfrm flipV="1">
            <a:off x="6582562" y="6237312"/>
            <a:ext cx="1113207" cy="18599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08022B9C-5906-7487-4315-B367992A288B}"/>
              </a:ext>
            </a:extLst>
          </p:cNvPr>
          <p:cNvCxnSpPr>
            <a:cxnSpLocks/>
          </p:cNvCxnSpPr>
          <p:nvPr/>
        </p:nvCxnSpPr>
        <p:spPr bwMode="auto">
          <a:xfrm flipV="1">
            <a:off x="6584104" y="5130949"/>
            <a:ext cx="0" cy="1148302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4813C7A1-43C5-60DF-1705-B95AF21BDF37}"/>
              </a:ext>
            </a:extLst>
          </p:cNvPr>
          <p:cNvCxnSpPr>
            <a:stCxn id="35" idx="2"/>
          </p:cNvCxnSpPr>
          <p:nvPr/>
        </p:nvCxnSpPr>
        <p:spPr bwMode="auto">
          <a:xfrm flipH="1">
            <a:off x="6582562" y="5349091"/>
            <a:ext cx="294989" cy="969088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A2A6785A-94E5-C32D-65A8-E4EA4FEE8A2A}"/>
              </a:ext>
            </a:extLst>
          </p:cNvPr>
          <p:cNvCxnSpPr>
            <a:cxnSpLocks/>
          </p:cNvCxnSpPr>
          <p:nvPr/>
        </p:nvCxnSpPr>
        <p:spPr bwMode="auto">
          <a:xfrm flipH="1">
            <a:off x="6578097" y="4346403"/>
            <a:ext cx="1108884" cy="1962476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55" name="对象 54">
            <a:extLst>
              <a:ext uri="{FF2B5EF4-FFF2-40B4-BE49-F238E27FC236}">
                <a16:creationId xmlns:a16="http://schemas.microsoft.com/office/drawing/2014/main" id="{3FAA0C90-13E0-A596-EFC7-D34A7692EC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1382849"/>
              </p:ext>
            </p:extLst>
          </p:nvPr>
        </p:nvGraphicFramePr>
        <p:xfrm>
          <a:off x="8987538" y="2693668"/>
          <a:ext cx="3048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114120" imgH="152280" progId="Equation.DSMT4">
                  <p:embed/>
                </p:oleObj>
              </mc:Choice>
              <mc:Fallback>
                <p:oleObj name="Equation" r:id="rId38" imgW="114120" imgH="152280" progId="Equation.DSMT4">
                  <p:embed/>
                  <p:pic>
                    <p:nvPicPr>
                      <p:cNvPr id="46" name="对象 45">
                        <a:extLst>
                          <a:ext uri="{FF2B5EF4-FFF2-40B4-BE49-F238E27FC236}">
                            <a16:creationId xmlns:a16="http://schemas.microsoft.com/office/drawing/2014/main" id="{68527610-0EEA-471C-A261-E9A4714567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8987538" y="2693668"/>
                        <a:ext cx="304800" cy="404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文本框 55">
            <a:extLst>
              <a:ext uri="{FF2B5EF4-FFF2-40B4-BE49-F238E27FC236}">
                <a16:creationId xmlns:a16="http://schemas.microsoft.com/office/drawing/2014/main" id="{4A812E79-A4EB-8F57-C83C-0CD2333E7EC1}"/>
              </a:ext>
            </a:extLst>
          </p:cNvPr>
          <p:cNvSpPr txBox="1"/>
          <p:nvPr/>
        </p:nvSpPr>
        <p:spPr>
          <a:xfrm>
            <a:off x="6321152" y="6207695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0</a:t>
            </a:r>
            <a:endParaRPr lang="zh-CN" altLang="en-US" sz="2400" dirty="0"/>
          </a:p>
        </p:txBody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F9C7350C-0778-CF16-CB76-2EF330AB1F98}"/>
              </a:ext>
            </a:extLst>
          </p:cNvPr>
          <p:cNvSpPr/>
          <p:nvPr/>
        </p:nvSpPr>
        <p:spPr bwMode="auto">
          <a:xfrm>
            <a:off x="6932894" y="3783126"/>
            <a:ext cx="1745088" cy="1848666"/>
          </a:xfrm>
          <a:custGeom>
            <a:avLst/>
            <a:gdLst>
              <a:gd name="connsiteX0" fmla="*/ 140178 w 1615016"/>
              <a:gd name="connsiteY0" fmla="*/ 0 h 2163167"/>
              <a:gd name="connsiteX1" fmla="*/ 22190 w 1615016"/>
              <a:gd name="connsiteY1" fmla="*/ 1622323 h 2163167"/>
              <a:gd name="connsiteX2" fmla="*/ 533468 w 1615016"/>
              <a:gd name="connsiteY2" fmla="*/ 2153265 h 2163167"/>
              <a:gd name="connsiteX3" fmla="*/ 1615016 w 1615016"/>
              <a:gd name="connsiteY3" fmla="*/ 1917291 h 2163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5016" h="2163167">
                <a:moveTo>
                  <a:pt x="140178" y="0"/>
                </a:moveTo>
                <a:cubicBezTo>
                  <a:pt x="48410" y="631723"/>
                  <a:pt x="-43358" y="1263446"/>
                  <a:pt x="22190" y="1622323"/>
                </a:cubicBezTo>
                <a:cubicBezTo>
                  <a:pt x="87738" y="1981200"/>
                  <a:pt x="267997" y="2104104"/>
                  <a:pt x="533468" y="2153265"/>
                </a:cubicBezTo>
                <a:cubicBezTo>
                  <a:pt x="798939" y="2202426"/>
                  <a:pt x="1206977" y="2059858"/>
                  <a:pt x="1615016" y="1917291"/>
                </a:cubicBezTo>
              </a:path>
            </a:pathLst>
          </a:cu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8998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5C12A6-62AE-43C3-A812-2D01E62B8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共轭方向法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C1E3EB1-9E15-4FFE-9468-449E1E02C8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共轭方向的形成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扩展到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维的情况下：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沿着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个线性无关的方向依次进行下一轮的搜索（一维搜索），连接起始点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 baseline="30000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dirty="0"/>
                  <a:t>和终止点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 baseline="30000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的向量，就是新产生的共轭方向。</a:t>
                </a:r>
                <a:endParaRPr lang="en-US" altLang="zh-CN" dirty="0"/>
              </a:p>
              <a:p>
                <a:pPr lvl="3"/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C1E3EB1-9E15-4FFE-9468-449E1E02C8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6" t="-20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B77181-0513-42A8-958C-052F7082C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6AC91BA-7F7D-4D33-B9C6-12CA38503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22</a:t>
            </a:fld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FCFB5F1-C771-47F1-80F4-05278494509C}"/>
              </a:ext>
            </a:extLst>
          </p:cNvPr>
          <p:cNvSpPr txBox="1"/>
          <p:nvPr/>
        </p:nvSpPr>
        <p:spPr>
          <a:xfrm>
            <a:off x="1352600" y="4149080"/>
            <a:ext cx="6840760" cy="1384995"/>
          </a:xfrm>
          <a:prstGeom prst="rect">
            <a:avLst/>
          </a:prstGeom>
          <a:solidFill>
            <a:srgbClr val="FFFF66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rgbClr val="FF0000"/>
                </a:solidFill>
              </a:rPr>
              <a:t>不同坐标轴方向就是线性无关的方向。常常以坐标轴方向作为寻找共轭方向的搜索方向</a:t>
            </a:r>
          </a:p>
        </p:txBody>
      </p:sp>
    </p:spTree>
    <p:extLst>
      <p:ext uri="{BB962C8B-B14F-4D97-AF65-F5344CB8AC3E}">
        <p14:creationId xmlns:p14="http://schemas.microsoft.com/office/powerpoint/2010/main" val="942405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B0CE84-B09D-4A0F-B01F-7C7B2C6F7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共轭方向法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450F9FF-42B8-4196-BBF1-6BAFD98B87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共轭方向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性质：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非零向量组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nor/>
                      </m:rPr>
                      <a:rPr lang="en-US" altLang="zh-CN" baseline="30000" dirty="0"/>
                      <m:t>(1)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nor/>
                      </m:rPr>
                      <a:rPr lang="en-US" altLang="zh-CN" baseline="30000" dirty="0"/>
                      <m:t>(</m:t>
                    </m:r>
                    <m:r>
                      <m:rPr>
                        <m:nor/>
                      </m:rPr>
                      <a:rPr lang="en-US" altLang="zh-CN" b="0" baseline="30000" dirty="0"/>
                      <m:t>2</m:t>
                    </m:r>
                    <m:r>
                      <m:rPr>
                        <m:nor/>
                      </m:rPr>
                      <a:rPr lang="en-US" altLang="zh-CN" baseline="30000" dirty="0"/>
                      <m:t>)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nor/>
                      </m:rPr>
                      <a:rPr lang="en-US" altLang="zh-CN" baseline="30000" dirty="0"/>
                      <m:t>(</m:t>
                    </m:r>
                    <m:r>
                      <m:rPr>
                        <m:nor/>
                      </m:rPr>
                      <a:rPr lang="en-US" altLang="zh-CN" b="0" baseline="30000" dirty="0"/>
                      <m:t>n</m:t>
                    </m:r>
                    <m:r>
                      <m:rPr>
                        <m:nor/>
                      </m:rPr>
                      <a:rPr lang="en-US" altLang="zh-CN" baseline="30000" dirty="0"/>
                      <m:t>)</m:t>
                    </m:r>
                  </m:oMath>
                </a14:m>
                <a:r>
                  <a:rPr lang="zh-CN" altLang="en-US" dirty="0"/>
                  <a:t>关于矩阵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dirty="0"/>
                  <a:t>共轭，则它们一定线性无关；</a:t>
                </a:r>
                <a:endParaRPr lang="en-US" altLang="zh-CN" dirty="0"/>
              </a:p>
              <a:p>
                <a:pPr lvl="3"/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维空间中非零共轭向量的个数不超过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altLang="zh-CN" dirty="0"/>
              </a:p>
              <a:p>
                <a:pPr lvl="3"/>
                <a:r>
                  <a:rPr lang="zh-CN" altLang="en-US" dirty="0"/>
                  <a:t>可以通过坐标轴方向来构造共轭向量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给定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个共轭向量，则从某一点出发，最多经过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次便可以收敛到目标极值点。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450F9FF-42B8-4196-BBF1-6BAFD98B87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6" t="-2083" r="-1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365B9E-D8B6-4B1A-B7BE-4E98ECC06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22F9F02-69FF-4392-BAC4-A62CBA02E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14796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AD899F-A961-46C9-BE06-1DE24A6FF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共轭方向法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900CF6-9CC8-4315-88DD-E73426F02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44" y="1245492"/>
            <a:ext cx="9719492" cy="5264289"/>
          </a:xfrm>
        </p:spPr>
        <p:txBody>
          <a:bodyPr/>
          <a:lstStyle/>
          <a:p>
            <a:r>
              <a:rPr lang="zh-CN" altLang="en-US" dirty="0"/>
              <a:t>基本思想：</a:t>
            </a:r>
            <a:endParaRPr lang="en-US" altLang="zh-CN" dirty="0"/>
          </a:p>
          <a:p>
            <a:pPr lvl="1"/>
            <a:r>
              <a:rPr lang="zh-CN" altLang="en-US" dirty="0"/>
              <a:t>以坐标轴作为初始的搜索方向确定共轭方向</a:t>
            </a:r>
            <a:endParaRPr lang="en-US" altLang="zh-CN" dirty="0"/>
          </a:p>
          <a:p>
            <a:pPr lvl="1"/>
            <a:r>
              <a:rPr lang="zh-CN" altLang="en-US" dirty="0"/>
              <a:t>根据共轭方向寻找极值点</a:t>
            </a:r>
            <a:endParaRPr lang="en-US" altLang="zh-CN" dirty="0"/>
          </a:p>
          <a:p>
            <a:pPr lvl="1"/>
            <a:r>
              <a:rPr lang="zh-CN" altLang="en-US" dirty="0"/>
              <a:t>判断极值点是否满足收敛精度要求</a:t>
            </a:r>
            <a:endParaRPr lang="en-US" altLang="zh-CN" dirty="0"/>
          </a:p>
          <a:p>
            <a:pPr lvl="2"/>
            <a:r>
              <a:rPr lang="zh-CN" altLang="en-US" dirty="0"/>
              <a:t>如果满足，结束</a:t>
            </a:r>
            <a:endParaRPr lang="en-US" altLang="zh-CN" dirty="0"/>
          </a:p>
          <a:p>
            <a:pPr lvl="2"/>
            <a:r>
              <a:rPr lang="zh-CN" altLang="en-US" dirty="0"/>
              <a:t>如果不满足，确定新的搜索策略，继续寻找下一个共轭方向，依次迭代。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B1E85B-C1C7-4FE9-BC0C-AB7F122FD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A421787-9F23-44F2-A45D-3858EE85D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73678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88857B1C-F338-4716-8CBB-D4F7BC9AB6C7}"/>
              </a:ext>
            </a:extLst>
          </p:cNvPr>
          <p:cNvCxnSpPr>
            <a:cxnSpLocks/>
          </p:cNvCxnSpPr>
          <p:nvPr/>
        </p:nvCxnSpPr>
        <p:spPr bwMode="auto">
          <a:xfrm flipV="1">
            <a:off x="1804930" y="3429000"/>
            <a:ext cx="2427990" cy="1005886"/>
          </a:xfrm>
          <a:prstGeom prst="line">
            <a:avLst/>
          </a:prstGeom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DC292DFA-FB55-42A4-BCA6-F43F60AADAB2}"/>
              </a:ext>
            </a:extLst>
          </p:cNvPr>
          <p:cNvCxnSpPr>
            <a:cxnSpLocks/>
          </p:cNvCxnSpPr>
          <p:nvPr/>
        </p:nvCxnSpPr>
        <p:spPr bwMode="auto">
          <a:xfrm flipH="1">
            <a:off x="1088347" y="4492301"/>
            <a:ext cx="668849" cy="1053359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8AAD899F-A961-46C9-BE06-1DE24A6FF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共轭方向法基本流程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B1E85B-C1C7-4FE9-BC0C-AB7F122FD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A421787-9F23-44F2-A45D-3858EE85D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25</a:t>
            </a:fld>
            <a:endParaRPr lang="en-US" altLang="zh-CN" dirty="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30ADFBD0-2229-4298-8A8E-49BCDD6A1A67}"/>
              </a:ext>
            </a:extLst>
          </p:cNvPr>
          <p:cNvCxnSpPr>
            <a:cxnSpLocks/>
          </p:cNvCxnSpPr>
          <p:nvPr/>
        </p:nvCxnSpPr>
        <p:spPr bwMode="auto">
          <a:xfrm>
            <a:off x="955135" y="5293219"/>
            <a:ext cx="169959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EB097911-2D30-4DFF-83AD-D88FF694F068}"/>
              </a:ext>
            </a:extLst>
          </p:cNvPr>
          <p:cNvCxnSpPr>
            <a:cxnSpLocks/>
          </p:cNvCxnSpPr>
          <p:nvPr/>
        </p:nvCxnSpPr>
        <p:spPr bwMode="auto">
          <a:xfrm flipV="1">
            <a:off x="955135" y="3877636"/>
            <a:ext cx="0" cy="1415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14512C1-3807-4970-95F1-378A08B3EEBB}"/>
                  </a:ext>
                </a:extLst>
              </p:cNvPr>
              <p:cNvSpPr txBox="1"/>
              <p:nvPr/>
            </p:nvSpPr>
            <p:spPr>
              <a:xfrm>
                <a:off x="2246999" y="4846170"/>
                <a:ext cx="681016" cy="4795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14512C1-3807-4970-95F1-378A08B3EE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6999" y="4846170"/>
                <a:ext cx="681016" cy="4795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DBCAA488-ED69-426F-9433-68F4A14BD131}"/>
              </a:ext>
            </a:extLst>
          </p:cNvPr>
          <p:cNvSpPr txBox="1"/>
          <p:nvPr/>
        </p:nvSpPr>
        <p:spPr>
          <a:xfrm>
            <a:off x="614627" y="5054325"/>
            <a:ext cx="42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AFD6394B-A99D-4B5D-88BA-09D89DD9763E}"/>
                  </a:ext>
                </a:extLst>
              </p:cNvPr>
              <p:cNvSpPr txBox="1"/>
              <p:nvPr/>
            </p:nvSpPr>
            <p:spPr>
              <a:xfrm>
                <a:off x="614627" y="3381840"/>
                <a:ext cx="681016" cy="4795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AFD6394B-A99D-4B5D-88BA-09D89DD976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627" y="3381840"/>
                <a:ext cx="681016" cy="4795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42537E67-8FAF-418E-B3EF-B0111F4810CB}"/>
              </a:ext>
            </a:extLst>
          </p:cNvPr>
          <p:cNvCxnSpPr>
            <a:cxnSpLocks/>
          </p:cNvCxnSpPr>
          <p:nvPr/>
        </p:nvCxnSpPr>
        <p:spPr bwMode="auto">
          <a:xfrm flipH="1">
            <a:off x="272480" y="5293219"/>
            <a:ext cx="690250" cy="70451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B0A7F176-B11C-4CA5-A725-CE222B802B19}"/>
                  </a:ext>
                </a:extLst>
              </p:cNvPr>
              <p:cNvSpPr txBox="1"/>
              <p:nvPr/>
            </p:nvSpPr>
            <p:spPr>
              <a:xfrm>
                <a:off x="-32072" y="6005796"/>
                <a:ext cx="6694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B0A7F176-B11C-4CA5-A725-CE222B802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072" y="6005796"/>
                <a:ext cx="669432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流程图: 接点 32">
            <a:extLst>
              <a:ext uri="{FF2B5EF4-FFF2-40B4-BE49-F238E27FC236}">
                <a16:creationId xmlns:a16="http://schemas.microsoft.com/office/drawing/2014/main" id="{08DC49BB-D2AD-4ECD-8E81-74989B612ED1}"/>
              </a:ext>
            </a:extLst>
          </p:cNvPr>
          <p:cNvSpPr/>
          <p:nvPr/>
        </p:nvSpPr>
        <p:spPr bwMode="auto">
          <a:xfrm rot="17986332">
            <a:off x="1606664" y="4396854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426188F0-B93F-48C3-AD93-E9736B510C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8283044"/>
              </p:ext>
            </p:extLst>
          </p:nvPr>
        </p:nvGraphicFramePr>
        <p:xfrm>
          <a:off x="1150938" y="4022725"/>
          <a:ext cx="588962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5640" imgH="190440" progId="Equation.DSMT4">
                  <p:embed/>
                </p:oleObj>
              </mc:Choice>
              <mc:Fallback>
                <p:oleObj name="Equation" r:id="rId6" imgW="215640" imgH="19044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54C005DD-53EB-4922-AF92-5CDE1958A5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50938" y="4022725"/>
                        <a:ext cx="588962" cy="519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438E4E47-A5FA-403B-9B6B-EA852623686D}"/>
              </a:ext>
            </a:extLst>
          </p:cNvPr>
          <p:cNvCxnSpPr>
            <a:cxnSpLocks/>
            <a:endCxn id="44" idx="1"/>
          </p:cNvCxnSpPr>
          <p:nvPr/>
        </p:nvCxnSpPr>
        <p:spPr bwMode="auto">
          <a:xfrm flipV="1">
            <a:off x="1172608" y="5598646"/>
            <a:ext cx="2078837" cy="21650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0D09F5E8-E41F-4EF8-9697-0F7C0A654A83}"/>
              </a:ext>
            </a:extLst>
          </p:cNvPr>
          <p:cNvCxnSpPr>
            <a:cxnSpLocks/>
          </p:cNvCxnSpPr>
          <p:nvPr/>
        </p:nvCxnSpPr>
        <p:spPr bwMode="auto">
          <a:xfrm flipV="1">
            <a:off x="3349831" y="3861387"/>
            <a:ext cx="0" cy="1562270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流程图: 接点 41">
            <a:extLst>
              <a:ext uri="{FF2B5EF4-FFF2-40B4-BE49-F238E27FC236}">
                <a16:creationId xmlns:a16="http://schemas.microsoft.com/office/drawing/2014/main" id="{5DA32A2B-2978-4E7A-823B-03DAC9942639}"/>
              </a:ext>
            </a:extLst>
          </p:cNvPr>
          <p:cNvSpPr/>
          <p:nvPr/>
        </p:nvSpPr>
        <p:spPr bwMode="auto">
          <a:xfrm rot="17986332">
            <a:off x="3239477" y="3711195"/>
            <a:ext cx="217452" cy="190894"/>
          </a:xfrm>
          <a:prstGeom prst="flowChartConnector">
            <a:avLst/>
          </a:prstGeom>
          <a:solidFill>
            <a:srgbClr val="0000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3" name="流程图: 接点 42">
            <a:extLst>
              <a:ext uri="{FF2B5EF4-FFF2-40B4-BE49-F238E27FC236}">
                <a16:creationId xmlns:a16="http://schemas.microsoft.com/office/drawing/2014/main" id="{B3B37D17-2A63-46F9-B255-AE9977050872}"/>
              </a:ext>
            </a:extLst>
          </p:cNvPr>
          <p:cNvSpPr/>
          <p:nvPr/>
        </p:nvSpPr>
        <p:spPr bwMode="auto">
          <a:xfrm rot="17986332">
            <a:off x="983245" y="5504284"/>
            <a:ext cx="217452" cy="190894"/>
          </a:xfrm>
          <a:prstGeom prst="flowChartConnector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4" name="流程图: 接点 43">
            <a:extLst>
              <a:ext uri="{FF2B5EF4-FFF2-40B4-BE49-F238E27FC236}">
                <a16:creationId xmlns:a16="http://schemas.microsoft.com/office/drawing/2014/main" id="{5A53B204-6F8D-4D82-BE5B-21B9F04B7AB6}"/>
              </a:ext>
            </a:extLst>
          </p:cNvPr>
          <p:cNvSpPr/>
          <p:nvPr/>
        </p:nvSpPr>
        <p:spPr bwMode="auto">
          <a:xfrm rot="17986332">
            <a:off x="3239477" y="5469979"/>
            <a:ext cx="217452" cy="190894"/>
          </a:xfrm>
          <a:prstGeom prst="flowChartConnector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9" name="流程图: 接点 48">
            <a:extLst>
              <a:ext uri="{FF2B5EF4-FFF2-40B4-BE49-F238E27FC236}">
                <a16:creationId xmlns:a16="http://schemas.microsoft.com/office/drawing/2014/main" id="{2E6E8A69-67FA-4B4F-A80E-3FE52E41F2C2}"/>
              </a:ext>
            </a:extLst>
          </p:cNvPr>
          <p:cNvSpPr/>
          <p:nvPr/>
        </p:nvSpPr>
        <p:spPr bwMode="auto">
          <a:xfrm rot="17986332">
            <a:off x="4213732" y="3301054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63" name="对象 62">
            <a:extLst>
              <a:ext uri="{FF2B5EF4-FFF2-40B4-BE49-F238E27FC236}">
                <a16:creationId xmlns:a16="http://schemas.microsoft.com/office/drawing/2014/main" id="{2043A94C-2A90-46FB-8F7A-D9BC6D01B7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494595"/>
              </p:ext>
            </p:extLst>
          </p:nvPr>
        </p:nvGraphicFramePr>
        <p:xfrm>
          <a:off x="965200" y="4530725"/>
          <a:ext cx="5064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0440" imgH="190440" progId="Equation.DSMT4">
                  <p:embed/>
                </p:oleObj>
              </mc:Choice>
              <mc:Fallback>
                <p:oleObj name="Equation" r:id="rId8" imgW="190440" imgH="19044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7F0D686B-7989-448D-AADE-68CC820172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65200" y="4530725"/>
                        <a:ext cx="506413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对象 65">
            <a:extLst>
              <a:ext uri="{FF2B5EF4-FFF2-40B4-BE49-F238E27FC236}">
                <a16:creationId xmlns:a16="http://schemas.microsoft.com/office/drawing/2014/main" id="{BC28EAC4-F445-484F-9F31-82AB7638C8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4008469"/>
              </p:ext>
            </p:extLst>
          </p:nvPr>
        </p:nvGraphicFramePr>
        <p:xfrm>
          <a:off x="842963" y="5681663"/>
          <a:ext cx="587375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5640" imgH="190440" progId="Equation.DSMT4">
                  <p:embed/>
                </p:oleObj>
              </mc:Choice>
              <mc:Fallback>
                <p:oleObj name="Equation" r:id="rId10" imgW="215640" imgH="190440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426188F0-B93F-48C3-AD93-E9736B510C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42963" y="5681663"/>
                        <a:ext cx="587375" cy="519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对象 66">
            <a:extLst>
              <a:ext uri="{FF2B5EF4-FFF2-40B4-BE49-F238E27FC236}">
                <a16:creationId xmlns:a16="http://schemas.microsoft.com/office/drawing/2014/main" id="{252FE13B-293A-4FEF-9AB7-B87F755BD2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7369920"/>
              </p:ext>
            </p:extLst>
          </p:nvPr>
        </p:nvGraphicFramePr>
        <p:xfrm>
          <a:off x="3371850" y="5386388"/>
          <a:ext cx="587375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15640" imgH="190440" progId="Equation.DSMT4">
                  <p:embed/>
                </p:oleObj>
              </mc:Choice>
              <mc:Fallback>
                <p:oleObj name="Equation" r:id="rId12" imgW="215640" imgH="190440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426188F0-B93F-48C3-AD93-E9736B510C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371850" y="5386388"/>
                        <a:ext cx="587375" cy="519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对象 67">
            <a:extLst>
              <a:ext uri="{FF2B5EF4-FFF2-40B4-BE49-F238E27FC236}">
                <a16:creationId xmlns:a16="http://schemas.microsoft.com/office/drawing/2014/main" id="{43D03351-0BAB-40E9-8F4F-2E2B36CC9E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8919573"/>
              </p:ext>
            </p:extLst>
          </p:nvPr>
        </p:nvGraphicFramePr>
        <p:xfrm>
          <a:off x="2801938" y="3319463"/>
          <a:ext cx="587375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15640" imgH="190440" progId="Equation.DSMT4">
                  <p:embed/>
                </p:oleObj>
              </mc:Choice>
              <mc:Fallback>
                <p:oleObj name="Equation" r:id="rId14" imgW="215640" imgH="190440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426188F0-B93F-48C3-AD93-E9736B510C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801938" y="3319463"/>
                        <a:ext cx="587375" cy="519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对象 68">
            <a:extLst>
              <a:ext uri="{FF2B5EF4-FFF2-40B4-BE49-F238E27FC236}">
                <a16:creationId xmlns:a16="http://schemas.microsoft.com/office/drawing/2014/main" id="{F7FC5B59-1502-463F-A7B1-D7B564AB2A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861021"/>
              </p:ext>
            </p:extLst>
          </p:nvPr>
        </p:nvGraphicFramePr>
        <p:xfrm>
          <a:off x="3471863" y="3143250"/>
          <a:ext cx="506412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90440" imgH="190440" progId="Equation.DSMT4">
                  <p:embed/>
                </p:oleObj>
              </mc:Choice>
              <mc:Fallback>
                <p:oleObj name="Equation" r:id="rId16" imgW="190440" imgH="190440" progId="Equation.DSMT4">
                  <p:embed/>
                  <p:pic>
                    <p:nvPicPr>
                      <p:cNvPr id="65" name="对象 64">
                        <a:extLst>
                          <a:ext uri="{FF2B5EF4-FFF2-40B4-BE49-F238E27FC236}">
                            <a16:creationId xmlns:a16="http://schemas.microsoft.com/office/drawing/2014/main" id="{5BD3AA02-5C10-4C8A-94C1-FC52596184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471863" y="3143250"/>
                        <a:ext cx="506412" cy="506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对象 69">
            <a:extLst>
              <a:ext uri="{FF2B5EF4-FFF2-40B4-BE49-F238E27FC236}">
                <a16:creationId xmlns:a16="http://schemas.microsoft.com/office/drawing/2014/main" id="{CBA3D716-B9D4-46C6-A44D-5D85DC7408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5074333"/>
              </p:ext>
            </p:extLst>
          </p:nvPr>
        </p:nvGraphicFramePr>
        <p:xfrm>
          <a:off x="1876425" y="5562600"/>
          <a:ext cx="506413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90440" imgH="190440" progId="Equation.DSMT4">
                  <p:embed/>
                </p:oleObj>
              </mc:Choice>
              <mc:Fallback>
                <p:oleObj name="Equation" r:id="rId18" imgW="190440" imgH="190440" progId="Equation.DSMT4">
                  <p:embed/>
                  <p:pic>
                    <p:nvPicPr>
                      <p:cNvPr id="63" name="对象 62">
                        <a:extLst>
                          <a:ext uri="{FF2B5EF4-FFF2-40B4-BE49-F238E27FC236}">
                            <a16:creationId xmlns:a16="http://schemas.microsoft.com/office/drawing/2014/main" id="{2043A94C-2A90-46FB-8F7A-D9BC6D01B7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876425" y="5562600"/>
                        <a:ext cx="506413" cy="506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对象 70">
            <a:extLst>
              <a:ext uri="{FF2B5EF4-FFF2-40B4-BE49-F238E27FC236}">
                <a16:creationId xmlns:a16="http://schemas.microsoft.com/office/drawing/2014/main" id="{79D1E1DF-5785-411A-B5E8-A9C4FC802D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0620739"/>
              </p:ext>
            </p:extLst>
          </p:nvPr>
        </p:nvGraphicFramePr>
        <p:xfrm>
          <a:off x="3332163" y="4457700"/>
          <a:ext cx="50641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90440" imgH="190440" progId="Equation.DSMT4">
                  <p:embed/>
                </p:oleObj>
              </mc:Choice>
              <mc:Fallback>
                <p:oleObj name="Equation" r:id="rId20" imgW="190440" imgH="190440" progId="Equation.DSMT4">
                  <p:embed/>
                  <p:pic>
                    <p:nvPicPr>
                      <p:cNvPr id="63" name="对象 62">
                        <a:extLst>
                          <a:ext uri="{FF2B5EF4-FFF2-40B4-BE49-F238E27FC236}">
                            <a16:creationId xmlns:a16="http://schemas.microsoft.com/office/drawing/2014/main" id="{2043A94C-2A90-46FB-8F7A-D9BC6D01B7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332163" y="4457700"/>
                        <a:ext cx="506412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对象 71">
            <a:extLst>
              <a:ext uri="{FF2B5EF4-FFF2-40B4-BE49-F238E27FC236}">
                <a16:creationId xmlns:a16="http://schemas.microsoft.com/office/drawing/2014/main" id="{C71D2101-92C4-4021-8A54-E7736A33E0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7155293"/>
              </p:ext>
            </p:extLst>
          </p:nvPr>
        </p:nvGraphicFramePr>
        <p:xfrm>
          <a:off x="4013200" y="2814638"/>
          <a:ext cx="587375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15640" imgH="190440" progId="Equation.DSMT4">
                  <p:embed/>
                </p:oleObj>
              </mc:Choice>
              <mc:Fallback>
                <p:oleObj name="Equation" r:id="rId22" imgW="215640" imgH="190440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426188F0-B93F-48C3-AD93-E9736B510C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013200" y="2814638"/>
                        <a:ext cx="587375" cy="519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" name="文本框 81">
            <a:extLst>
              <a:ext uri="{FF2B5EF4-FFF2-40B4-BE49-F238E27FC236}">
                <a16:creationId xmlns:a16="http://schemas.microsoft.com/office/drawing/2014/main" id="{53DBB310-15BF-4362-96BA-11D6D0CEE341}"/>
              </a:ext>
            </a:extLst>
          </p:cNvPr>
          <p:cNvSpPr txBox="1"/>
          <p:nvPr/>
        </p:nvSpPr>
        <p:spPr>
          <a:xfrm>
            <a:off x="148704" y="1621620"/>
            <a:ext cx="38901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/>
            </a:pPr>
            <a:r>
              <a:rPr lang="zh-CN" altLang="en-US" sz="2400" dirty="0"/>
              <a:t>对于坐标轴内的任意一个点，按照坐标轴方向依次搜索，确定一个共轭方向</a:t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2AA5FE7F-F553-4190-8F8B-F197C662F719}"/>
              </a:ext>
            </a:extLst>
          </p:cNvPr>
          <p:cNvSpPr txBox="1"/>
          <p:nvPr/>
        </p:nvSpPr>
        <p:spPr>
          <a:xfrm>
            <a:off x="53776" y="1093089"/>
            <a:ext cx="44005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例如，</a:t>
            </a:r>
            <a:r>
              <a:rPr lang="en-US" altLang="zh-CN" sz="2400" b="1" dirty="0"/>
              <a:t>n=3</a:t>
            </a:r>
            <a:r>
              <a:rPr lang="zh-CN" altLang="en-US" sz="2400" b="1" dirty="0"/>
              <a:t>的无约束优化问题：</a:t>
            </a: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E65459D3-9922-4DBE-9662-B11B88A96387}"/>
              </a:ext>
            </a:extLst>
          </p:cNvPr>
          <p:cNvSpPr txBox="1"/>
          <p:nvPr/>
        </p:nvSpPr>
        <p:spPr>
          <a:xfrm>
            <a:off x="4607396" y="4122151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第一次迭代的方向：</a:t>
            </a:r>
          </a:p>
        </p:txBody>
      </p:sp>
      <p:graphicFrame>
        <p:nvGraphicFramePr>
          <p:cNvPr id="85" name="对象 84">
            <a:extLst>
              <a:ext uri="{FF2B5EF4-FFF2-40B4-BE49-F238E27FC236}">
                <a16:creationId xmlns:a16="http://schemas.microsoft.com/office/drawing/2014/main" id="{BA5E1038-C983-4346-B105-7FEA9A0E8D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6205881"/>
              </p:ext>
            </p:extLst>
          </p:nvPr>
        </p:nvGraphicFramePr>
        <p:xfrm>
          <a:off x="4630738" y="4654550"/>
          <a:ext cx="2724150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812520" imgH="190440" progId="Equation.DSMT4">
                  <p:embed/>
                </p:oleObj>
              </mc:Choice>
              <mc:Fallback>
                <p:oleObj name="Equation" r:id="rId24" imgW="812520" imgH="190440" progId="Equation.DSMT4">
                  <p:embed/>
                  <p:pic>
                    <p:nvPicPr>
                      <p:cNvPr id="63" name="对象 62">
                        <a:extLst>
                          <a:ext uri="{FF2B5EF4-FFF2-40B4-BE49-F238E27FC236}">
                            <a16:creationId xmlns:a16="http://schemas.microsoft.com/office/drawing/2014/main" id="{2043A94C-2A90-46FB-8F7A-D9BC6D01B7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630738" y="4654550"/>
                        <a:ext cx="2724150" cy="638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8E8AC394-9DDB-41A0-BB58-244F67F2053C}"/>
                  </a:ext>
                </a:extLst>
              </p:cNvPr>
              <p:cNvSpPr txBox="1"/>
              <p:nvPr/>
            </p:nvSpPr>
            <p:spPr>
              <a:xfrm>
                <a:off x="4568095" y="5297514"/>
                <a:ext cx="8258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/>
                  <a:t>轴</a:t>
                </a:r>
              </a:p>
            </p:txBody>
          </p:sp>
        </mc:Choice>
        <mc:Fallback xmlns="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8E8AC394-9DDB-41A0-BB58-244F67F20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8095" y="5297514"/>
                <a:ext cx="825867" cy="461665"/>
              </a:xfrm>
              <a:prstGeom prst="rect">
                <a:avLst/>
              </a:prstGeom>
              <a:blipFill>
                <a:blip r:embed="rId26"/>
                <a:stretch>
                  <a:fillRect l="-1471" t="-10526" r="-10294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3CF3527E-79E6-44E5-ACFB-8C8A59FFDC5F}"/>
                  </a:ext>
                </a:extLst>
              </p:cNvPr>
              <p:cNvSpPr txBox="1"/>
              <p:nvPr/>
            </p:nvSpPr>
            <p:spPr>
              <a:xfrm>
                <a:off x="5540998" y="5293219"/>
                <a:ext cx="8258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sz="2400" dirty="0"/>
                  <a:t>轴</a:t>
                </a:r>
              </a:p>
            </p:txBody>
          </p:sp>
        </mc:Choice>
        <mc:Fallback xmlns="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3CF3527E-79E6-44E5-ACFB-8C8A59FFDC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998" y="5293219"/>
                <a:ext cx="825867" cy="461665"/>
              </a:xfrm>
              <a:prstGeom prst="rect">
                <a:avLst/>
              </a:prstGeom>
              <a:blipFill>
                <a:blip r:embed="rId27"/>
                <a:stretch>
                  <a:fillRect t="-10526" r="-10370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F70F8030-AD2C-43BE-91F8-B9BF21A4E142}"/>
                  </a:ext>
                </a:extLst>
              </p:cNvPr>
              <p:cNvSpPr txBox="1"/>
              <p:nvPr/>
            </p:nvSpPr>
            <p:spPr>
              <a:xfrm>
                <a:off x="6513901" y="5279836"/>
                <a:ext cx="8258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zh-CN" altLang="en-US" sz="2400" dirty="0"/>
                  <a:t>轴</a:t>
                </a:r>
              </a:p>
            </p:txBody>
          </p:sp>
        </mc:Choice>
        <mc:Fallback xmlns="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F70F8030-AD2C-43BE-91F8-B9BF21A4E1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3901" y="5279836"/>
                <a:ext cx="825867" cy="461665"/>
              </a:xfrm>
              <a:prstGeom prst="rect">
                <a:avLst/>
              </a:prstGeom>
              <a:blipFill>
                <a:blip r:embed="rId28"/>
                <a:stretch>
                  <a:fillRect t="-10526" r="-10370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矩形: 圆角 88">
            <a:extLst>
              <a:ext uri="{FF2B5EF4-FFF2-40B4-BE49-F238E27FC236}">
                <a16:creationId xmlns:a16="http://schemas.microsoft.com/office/drawing/2014/main" id="{D3D77BDB-11A2-4524-A790-BBD14CFA0729}"/>
              </a:ext>
            </a:extLst>
          </p:cNvPr>
          <p:cNvSpPr/>
          <p:nvPr/>
        </p:nvSpPr>
        <p:spPr bwMode="auto">
          <a:xfrm>
            <a:off x="4423991" y="4583816"/>
            <a:ext cx="3090948" cy="1199136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91" name="对象 90">
            <a:extLst>
              <a:ext uri="{FF2B5EF4-FFF2-40B4-BE49-F238E27FC236}">
                <a16:creationId xmlns:a16="http://schemas.microsoft.com/office/drawing/2014/main" id="{70043DE5-1C29-4F39-B104-727C582E1E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74103"/>
              </p:ext>
            </p:extLst>
          </p:nvPr>
        </p:nvGraphicFramePr>
        <p:xfrm>
          <a:off x="5076825" y="1858963"/>
          <a:ext cx="3700463" cy="71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117440" imgH="215640" progId="Equation.DSMT4">
                  <p:embed/>
                </p:oleObj>
              </mc:Choice>
              <mc:Fallback>
                <p:oleObj name="Equation" r:id="rId29" imgW="1117440" imgH="215640" progId="Equation.DSMT4">
                  <p:embed/>
                  <p:pic>
                    <p:nvPicPr>
                      <p:cNvPr id="72" name="对象 71">
                        <a:extLst>
                          <a:ext uri="{FF2B5EF4-FFF2-40B4-BE49-F238E27FC236}">
                            <a16:creationId xmlns:a16="http://schemas.microsoft.com/office/drawing/2014/main" id="{C71D2101-92C4-4021-8A54-E7736A33E0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5076825" y="1858963"/>
                        <a:ext cx="3700463" cy="712787"/>
                      </a:xfrm>
                      <a:prstGeom prst="rect">
                        <a:avLst/>
                      </a:prstGeom>
                      <a:ln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5BEAA335-6D9C-475A-AC98-1C84C400F30A}"/>
              </a:ext>
            </a:extLst>
          </p:cNvPr>
          <p:cNvCxnSpPr/>
          <p:nvPr/>
        </p:nvCxnSpPr>
        <p:spPr bwMode="auto">
          <a:xfrm flipH="1">
            <a:off x="4568095" y="2636912"/>
            <a:ext cx="1104985" cy="68209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205109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00"/>
                            </p:stCondLst>
                            <p:childTnLst>
                              <p:par>
                                <p:cTn id="9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500"/>
                            </p:stCondLst>
                            <p:childTnLst>
                              <p:par>
                                <p:cTn id="13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26" grpId="0"/>
      <p:bldP spid="32" grpId="0"/>
      <p:bldP spid="33" grpId="0" animBg="1"/>
      <p:bldP spid="42" grpId="0" animBg="1"/>
      <p:bldP spid="43" grpId="0" animBg="1"/>
      <p:bldP spid="44" grpId="0" animBg="1"/>
      <p:bldP spid="49" grpId="0" animBg="1"/>
      <p:bldP spid="82" grpId="0"/>
      <p:bldP spid="84" grpId="0"/>
      <p:bldP spid="86" grpId="0"/>
      <p:bldP spid="87" grpId="0"/>
      <p:bldP spid="88" grpId="0"/>
      <p:bldP spid="8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88857B1C-F338-4716-8CBB-D4F7BC9AB6C7}"/>
              </a:ext>
            </a:extLst>
          </p:cNvPr>
          <p:cNvCxnSpPr>
            <a:cxnSpLocks/>
          </p:cNvCxnSpPr>
          <p:nvPr/>
        </p:nvCxnSpPr>
        <p:spPr bwMode="auto">
          <a:xfrm flipV="1">
            <a:off x="1804930" y="3429000"/>
            <a:ext cx="2427990" cy="1005886"/>
          </a:xfrm>
          <a:prstGeom prst="line">
            <a:avLst/>
          </a:prstGeom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DC292DFA-FB55-42A4-BCA6-F43F60AADAB2}"/>
              </a:ext>
            </a:extLst>
          </p:cNvPr>
          <p:cNvCxnSpPr>
            <a:cxnSpLocks/>
          </p:cNvCxnSpPr>
          <p:nvPr/>
        </p:nvCxnSpPr>
        <p:spPr bwMode="auto">
          <a:xfrm flipH="1">
            <a:off x="1088347" y="4492301"/>
            <a:ext cx="668849" cy="1053359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8AAD899F-A961-46C9-BE06-1DE24A6FF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共轭方向法基本流程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B1E85B-C1C7-4FE9-BC0C-AB7F122FD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A421787-9F23-44F2-A45D-3858EE85D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26</a:t>
            </a:fld>
            <a:endParaRPr lang="en-US" altLang="zh-CN" dirty="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30ADFBD0-2229-4298-8A8E-49BCDD6A1A67}"/>
              </a:ext>
            </a:extLst>
          </p:cNvPr>
          <p:cNvCxnSpPr>
            <a:cxnSpLocks/>
          </p:cNvCxnSpPr>
          <p:nvPr/>
        </p:nvCxnSpPr>
        <p:spPr bwMode="auto">
          <a:xfrm>
            <a:off x="955135" y="5293219"/>
            <a:ext cx="169959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EB097911-2D30-4DFF-83AD-D88FF694F068}"/>
              </a:ext>
            </a:extLst>
          </p:cNvPr>
          <p:cNvCxnSpPr>
            <a:cxnSpLocks/>
          </p:cNvCxnSpPr>
          <p:nvPr/>
        </p:nvCxnSpPr>
        <p:spPr bwMode="auto">
          <a:xfrm flipV="1">
            <a:off x="955135" y="3877636"/>
            <a:ext cx="0" cy="1415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14512C1-3807-4970-95F1-378A08B3EEBB}"/>
                  </a:ext>
                </a:extLst>
              </p:cNvPr>
              <p:cNvSpPr txBox="1"/>
              <p:nvPr/>
            </p:nvSpPr>
            <p:spPr>
              <a:xfrm>
                <a:off x="2246999" y="4846170"/>
                <a:ext cx="681016" cy="4795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14512C1-3807-4970-95F1-378A08B3EE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6999" y="4846170"/>
                <a:ext cx="681016" cy="4795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DBCAA488-ED69-426F-9433-68F4A14BD131}"/>
              </a:ext>
            </a:extLst>
          </p:cNvPr>
          <p:cNvSpPr txBox="1"/>
          <p:nvPr/>
        </p:nvSpPr>
        <p:spPr>
          <a:xfrm>
            <a:off x="614627" y="5054325"/>
            <a:ext cx="42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AFD6394B-A99D-4B5D-88BA-09D89DD9763E}"/>
                  </a:ext>
                </a:extLst>
              </p:cNvPr>
              <p:cNvSpPr txBox="1"/>
              <p:nvPr/>
            </p:nvSpPr>
            <p:spPr>
              <a:xfrm>
                <a:off x="614627" y="3381840"/>
                <a:ext cx="681016" cy="4795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AFD6394B-A99D-4B5D-88BA-09D89DD976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627" y="3381840"/>
                <a:ext cx="681016" cy="4795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42537E67-8FAF-418E-B3EF-B0111F4810CB}"/>
              </a:ext>
            </a:extLst>
          </p:cNvPr>
          <p:cNvCxnSpPr>
            <a:cxnSpLocks/>
          </p:cNvCxnSpPr>
          <p:nvPr/>
        </p:nvCxnSpPr>
        <p:spPr bwMode="auto">
          <a:xfrm flipH="1">
            <a:off x="272480" y="5293219"/>
            <a:ext cx="690250" cy="70451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B0A7F176-B11C-4CA5-A725-CE222B802B19}"/>
                  </a:ext>
                </a:extLst>
              </p:cNvPr>
              <p:cNvSpPr txBox="1"/>
              <p:nvPr/>
            </p:nvSpPr>
            <p:spPr>
              <a:xfrm>
                <a:off x="-32072" y="6005796"/>
                <a:ext cx="6694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B0A7F176-B11C-4CA5-A725-CE222B802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072" y="6005796"/>
                <a:ext cx="669432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流程图: 接点 32">
            <a:extLst>
              <a:ext uri="{FF2B5EF4-FFF2-40B4-BE49-F238E27FC236}">
                <a16:creationId xmlns:a16="http://schemas.microsoft.com/office/drawing/2014/main" id="{08DC49BB-D2AD-4ECD-8E81-74989B612ED1}"/>
              </a:ext>
            </a:extLst>
          </p:cNvPr>
          <p:cNvSpPr/>
          <p:nvPr/>
        </p:nvSpPr>
        <p:spPr bwMode="auto">
          <a:xfrm rot="17986332">
            <a:off x="1606664" y="4396854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438E4E47-A5FA-403B-9B6B-EA852623686D}"/>
              </a:ext>
            </a:extLst>
          </p:cNvPr>
          <p:cNvCxnSpPr>
            <a:cxnSpLocks/>
            <a:endCxn id="44" idx="1"/>
          </p:cNvCxnSpPr>
          <p:nvPr/>
        </p:nvCxnSpPr>
        <p:spPr bwMode="auto">
          <a:xfrm flipV="1">
            <a:off x="1172608" y="5598646"/>
            <a:ext cx="2078837" cy="21650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0D09F5E8-E41F-4EF8-9697-0F7C0A654A83}"/>
              </a:ext>
            </a:extLst>
          </p:cNvPr>
          <p:cNvCxnSpPr>
            <a:cxnSpLocks/>
          </p:cNvCxnSpPr>
          <p:nvPr/>
        </p:nvCxnSpPr>
        <p:spPr bwMode="auto">
          <a:xfrm flipV="1">
            <a:off x="3349831" y="3861387"/>
            <a:ext cx="0" cy="1562270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流程图: 接点 41">
            <a:extLst>
              <a:ext uri="{FF2B5EF4-FFF2-40B4-BE49-F238E27FC236}">
                <a16:creationId xmlns:a16="http://schemas.microsoft.com/office/drawing/2014/main" id="{5DA32A2B-2978-4E7A-823B-03DAC9942639}"/>
              </a:ext>
            </a:extLst>
          </p:cNvPr>
          <p:cNvSpPr/>
          <p:nvPr/>
        </p:nvSpPr>
        <p:spPr bwMode="auto">
          <a:xfrm rot="17986332">
            <a:off x="3239477" y="3711195"/>
            <a:ext cx="217452" cy="190894"/>
          </a:xfrm>
          <a:prstGeom prst="flowChartConnector">
            <a:avLst/>
          </a:prstGeom>
          <a:solidFill>
            <a:srgbClr val="0000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3" name="流程图: 接点 42">
            <a:extLst>
              <a:ext uri="{FF2B5EF4-FFF2-40B4-BE49-F238E27FC236}">
                <a16:creationId xmlns:a16="http://schemas.microsoft.com/office/drawing/2014/main" id="{B3B37D17-2A63-46F9-B255-AE9977050872}"/>
              </a:ext>
            </a:extLst>
          </p:cNvPr>
          <p:cNvSpPr/>
          <p:nvPr/>
        </p:nvSpPr>
        <p:spPr bwMode="auto">
          <a:xfrm rot="17986332">
            <a:off x="983245" y="5504284"/>
            <a:ext cx="217452" cy="190894"/>
          </a:xfrm>
          <a:prstGeom prst="flowChartConnector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4" name="流程图: 接点 43">
            <a:extLst>
              <a:ext uri="{FF2B5EF4-FFF2-40B4-BE49-F238E27FC236}">
                <a16:creationId xmlns:a16="http://schemas.microsoft.com/office/drawing/2014/main" id="{5A53B204-6F8D-4D82-BE5B-21B9F04B7AB6}"/>
              </a:ext>
            </a:extLst>
          </p:cNvPr>
          <p:cNvSpPr/>
          <p:nvPr/>
        </p:nvSpPr>
        <p:spPr bwMode="auto">
          <a:xfrm rot="17986332">
            <a:off x="3239477" y="5469979"/>
            <a:ext cx="217452" cy="190894"/>
          </a:xfrm>
          <a:prstGeom prst="flowChartConnector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9" name="流程图: 接点 48">
            <a:extLst>
              <a:ext uri="{FF2B5EF4-FFF2-40B4-BE49-F238E27FC236}">
                <a16:creationId xmlns:a16="http://schemas.microsoft.com/office/drawing/2014/main" id="{2E6E8A69-67FA-4B4F-A80E-3FE52E41F2C2}"/>
              </a:ext>
            </a:extLst>
          </p:cNvPr>
          <p:cNvSpPr/>
          <p:nvPr/>
        </p:nvSpPr>
        <p:spPr bwMode="auto">
          <a:xfrm rot="17986332">
            <a:off x="4213732" y="3301054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4759CE11-2C24-4CB7-9160-C508D381306F}"/>
              </a:ext>
            </a:extLst>
          </p:cNvPr>
          <p:cNvCxnSpPr>
            <a:cxnSpLocks/>
          </p:cNvCxnSpPr>
          <p:nvPr/>
        </p:nvCxnSpPr>
        <p:spPr bwMode="auto">
          <a:xfrm flipV="1">
            <a:off x="4383801" y="3381840"/>
            <a:ext cx="1433295" cy="344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4FA630E3-61B6-421D-AFDC-305845F638E5}"/>
              </a:ext>
            </a:extLst>
          </p:cNvPr>
          <p:cNvCxnSpPr>
            <a:cxnSpLocks/>
            <a:endCxn id="57" idx="3"/>
          </p:cNvCxnSpPr>
          <p:nvPr/>
        </p:nvCxnSpPr>
        <p:spPr bwMode="auto">
          <a:xfrm flipV="1">
            <a:off x="5817096" y="2037487"/>
            <a:ext cx="20406" cy="1344354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792DBBEF-AF1B-4534-9ECC-0F70DE3FE888}"/>
              </a:ext>
            </a:extLst>
          </p:cNvPr>
          <p:cNvCxnSpPr>
            <a:cxnSpLocks/>
          </p:cNvCxnSpPr>
          <p:nvPr/>
        </p:nvCxnSpPr>
        <p:spPr bwMode="auto">
          <a:xfrm flipV="1">
            <a:off x="5817095" y="1431456"/>
            <a:ext cx="1065548" cy="431704"/>
          </a:xfrm>
          <a:prstGeom prst="line">
            <a:avLst/>
          </a:prstGeom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6" name="流程图: 接点 55">
            <a:extLst>
              <a:ext uri="{FF2B5EF4-FFF2-40B4-BE49-F238E27FC236}">
                <a16:creationId xmlns:a16="http://schemas.microsoft.com/office/drawing/2014/main" id="{259F6177-4A05-4E31-BFBC-1EE334683826}"/>
              </a:ext>
            </a:extLst>
          </p:cNvPr>
          <p:cNvSpPr/>
          <p:nvPr/>
        </p:nvSpPr>
        <p:spPr bwMode="auto">
          <a:xfrm rot="17986332">
            <a:off x="5748045" y="3316408"/>
            <a:ext cx="217452" cy="190894"/>
          </a:xfrm>
          <a:prstGeom prst="flowChartConnector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7" name="流程图: 接点 56">
            <a:extLst>
              <a:ext uri="{FF2B5EF4-FFF2-40B4-BE49-F238E27FC236}">
                <a16:creationId xmlns:a16="http://schemas.microsoft.com/office/drawing/2014/main" id="{829009AA-DCE3-4310-B41E-BCD1C83C90D2}"/>
              </a:ext>
            </a:extLst>
          </p:cNvPr>
          <p:cNvSpPr/>
          <p:nvPr/>
        </p:nvSpPr>
        <p:spPr bwMode="auto">
          <a:xfrm rot="17986332">
            <a:off x="5708369" y="1841794"/>
            <a:ext cx="217452" cy="190894"/>
          </a:xfrm>
          <a:prstGeom prst="flowChartConnector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8" name="流程图: 接点 57">
            <a:extLst>
              <a:ext uri="{FF2B5EF4-FFF2-40B4-BE49-F238E27FC236}">
                <a16:creationId xmlns:a16="http://schemas.microsoft.com/office/drawing/2014/main" id="{97A44A9F-1AC1-414F-AECA-57502962552B}"/>
              </a:ext>
            </a:extLst>
          </p:cNvPr>
          <p:cNvSpPr/>
          <p:nvPr/>
        </p:nvSpPr>
        <p:spPr bwMode="auto">
          <a:xfrm rot="17986332">
            <a:off x="6864033" y="1312739"/>
            <a:ext cx="217452" cy="190894"/>
          </a:xfrm>
          <a:prstGeom prst="flowChartConnector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C9B8E40D-A30F-40B7-8CF1-98B2D7E15115}"/>
              </a:ext>
            </a:extLst>
          </p:cNvPr>
          <p:cNvCxnSpPr>
            <a:cxnSpLocks/>
          </p:cNvCxnSpPr>
          <p:nvPr/>
        </p:nvCxnSpPr>
        <p:spPr bwMode="auto">
          <a:xfrm flipV="1">
            <a:off x="4402570" y="584684"/>
            <a:ext cx="3646774" cy="2797156"/>
          </a:xfrm>
          <a:prstGeom prst="line">
            <a:avLst/>
          </a:prstGeom>
          <a:ln w="38100" cap="flat" cmpd="sng" algn="ctr">
            <a:solidFill>
              <a:srgbClr val="30A04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72" name="对象 71">
            <a:extLst>
              <a:ext uri="{FF2B5EF4-FFF2-40B4-BE49-F238E27FC236}">
                <a16:creationId xmlns:a16="http://schemas.microsoft.com/office/drawing/2014/main" id="{C71D2101-92C4-4021-8A54-E7736A33E0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4666172"/>
              </p:ext>
            </p:extLst>
          </p:nvPr>
        </p:nvGraphicFramePr>
        <p:xfrm>
          <a:off x="4013200" y="2814638"/>
          <a:ext cx="587375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5640" imgH="190440" progId="Equation.DSMT4">
                  <p:embed/>
                </p:oleObj>
              </mc:Choice>
              <mc:Fallback>
                <p:oleObj name="Equation" r:id="rId6" imgW="215640" imgH="190440" progId="Equation.DSMT4">
                  <p:embed/>
                  <p:pic>
                    <p:nvPicPr>
                      <p:cNvPr id="72" name="对象 71">
                        <a:extLst>
                          <a:ext uri="{FF2B5EF4-FFF2-40B4-BE49-F238E27FC236}">
                            <a16:creationId xmlns:a16="http://schemas.microsoft.com/office/drawing/2014/main" id="{C71D2101-92C4-4021-8A54-E7736A33E0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013200" y="2814638"/>
                        <a:ext cx="587375" cy="519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对象 72">
            <a:extLst>
              <a:ext uri="{FF2B5EF4-FFF2-40B4-BE49-F238E27FC236}">
                <a16:creationId xmlns:a16="http://schemas.microsoft.com/office/drawing/2014/main" id="{E2D392F1-69AF-4A74-A7D0-BF46F7ED1A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4591440"/>
              </p:ext>
            </p:extLst>
          </p:nvPr>
        </p:nvGraphicFramePr>
        <p:xfrm>
          <a:off x="4097338" y="3467100"/>
          <a:ext cx="725487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400" imgH="190440" progId="Equation.DSMT4">
                  <p:embed/>
                </p:oleObj>
              </mc:Choice>
              <mc:Fallback>
                <p:oleObj name="Equation" r:id="rId8" imgW="266400" imgH="190440" progId="Equation.DSMT4">
                  <p:embed/>
                  <p:pic>
                    <p:nvPicPr>
                      <p:cNvPr id="73" name="对象 72">
                        <a:extLst>
                          <a:ext uri="{FF2B5EF4-FFF2-40B4-BE49-F238E27FC236}">
                            <a16:creationId xmlns:a16="http://schemas.microsoft.com/office/drawing/2014/main" id="{E2D392F1-69AF-4A74-A7D0-BF46F7ED1A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097338" y="3467100"/>
                        <a:ext cx="725487" cy="519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对象 73">
            <a:extLst>
              <a:ext uri="{FF2B5EF4-FFF2-40B4-BE49-F238E27FC236}">
                <a16:creationId xmlns:a16="http://schemas.microsoft.com/office/drawing/2014/main" id="{9DA138D3-D9CA-41E7-9ED3-F663A9E5EA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8285669"/>
              </p:ext>
            </p:extLst>
          </p:nvPr>
        </p:nvGraphicFramePr>
        <p:xfrm>
          <a:off x="5751513" y="3421063"/>
          <a:ext cx="727075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6400" imgH="190440" progId="Equation.DSMT4">
                  <p:embed/>
                </p:oleObj>
              </mc:Choice>
              <mc:Fallback>
                <p:oleObj name="Equation" r:id="rId10" imgW="266400" imgH="190440" progId="Equation.DSMT4">
                  <p:embed/>
                  <p:pic>
                    <p:nvPicPr>
                      <p:cNvPr id="74" name="对象 73">
                        <a:extLst>
                          <a:ext uri="{FF2B5EF4-FFF2-40B4-BE49-F238E27FC236}">
                            <a16:creationId xmlns:a16="http://schemas.microsoft.com/office/drawing/2014/main" id="{9DA138D3-D9CA-41E7-9ED3-F663A9E5EA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751513" y="3421063"/>
                        <a:ext cx="727075" cy="519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对象 74">
            <a:extLst>
              <a:ext uri="{FF2B5EF4-FFF2-40B4-BE49-F238E27FC236}">
                <a16:creationId xmlns:a16="http://schemas.microsoft.com/office/drawing/2014/main" id="{62E6E3B6-3D33-495C-AA5B-187FA82387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2010110"/>
              </p:ext>
            </p:extLst>
          </p:nvPr>
        </p:nvGraphicFramePr>
        <p:xfrm>
          <a:off x="5094288" y="1497013"/>
          <a:ext cx="727075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400" imgH="190440" progId="Equation.DSMT4">
                  <p:embed/>
                </p:oleObj>
              </mc:Choice>
              <mc:Fallback>
                <p:oleObj name="Equation" r:id="rId12" imgW="266400" imgH="190440" progId="Equation.DSMT4">
                  <p:embed/>
                  <p:pic>
                    <p:nvPicPr>
                      <p:cNvPr id="75" name="对象 74">
                        <a:extLst>
                          <a:ext uri="{FF2B5EF4-FFF2-40B4-BE49-F238E27FC236}">
                            <a16:creationId xmlns:a16="http://schemas.microsoft.com/office/drawing/2014/main" id="{62E6E3B6-3D33-495C-AA5B-187FA82387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094288" y="1497013"/>
                        <a:ext cx="727075" cy="519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" name="对象 75">
            <a:extLst>
              <a:ext uri="{FF2B5EF4-FFF2-40B4-BE49-F238E27FC236}">
                <a16:creationId xmlns:a16="http://schemas.microsoft.com/office/drawing/2014/main" id="{3D24F73E-9B53-49FC-B8FF-BE24FADFBB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2373359"/>
              </p:ext>
            </p:extLst>
          </p:nvPr>
        </p:nvGraphicFramePr>
        <p:xfrm>
          <a:off x="6989763" y="1344613"/>
          <a:ext cx="727075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6400" imgH="190440" progId="Equation.DSMT4">
                  <p:embed/>
                </p:oleObj>
              </mc:Choice>
              <mc:Fallback>
                <p:oleObj name="Equation" r:id="rId14" imgW="266400" imgH="190440" progId="Equation.DSMT4">
                  <p:embed/>
                  <p:pic>
                    <p:nvPicPr>
                      <p:cNvPr id="76" name="对象 75">
                        <a:extLst>
                          <a:ext uri="{FF2B5EF4-FFF2-40B4-BE49-F238E27FC236}">
                            <a16:creationId xmlns:a16="http://schemas.microsoft.com/office/drawing/2014/main" id="{3D24F73E-9B53-49FC-B8FF-BE24FADFBB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989763" y="1344613"/>
                        <a:ext cx="727075" cy="519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对象 76">
            <a:extLst>
              <a:ext uri="{FF2B5EF4-FFF2-40B4-BE49-F238E27FC236}">
                <a16:creationId xmlns:a16="http://schemas.microsoft.com/office/drawing/2014/main" id="{CAC1D689-12CB-48FB-8F7C-999EFC2B56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1178537"/>
              </p:ext>
            </p:extLst>
          </p:nvPr>
        </p:nvGraphicFramePr>
        <p:xfrm>
          <a:off x="4792663" y="3379788"/>
          <a:ext cx="642937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41200" imgH="190440" progId="Equation.DSMT4">
                  <p:embed/>
                </p:oleObj>
              </mc:Choice>
              <mc:Fallback>
                <p:oleObj name="Equation" r:id="rId16" imgW="241200" imgH="190440" progId="Equation.DSMT4">
                  <p:embed/>
                  <p:pic>
                    <p:nvPicPr>
                      <p:cNvPr id="77" name="对象 76">
                        <a:extLst>
                          <a:ext uri="{FF2B5EF4-FFF2-40B4-BE49-F238E27FC236}">
                            <a16:creationId xmlns:a16="http://schemas.microsoft.com/office/drawing/2014/main" id="{CAC1D689-12CB-48FB-8F7C-999EFC2B56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792663" y="3379788"/>
                        <a:ext cx="642937" cy="506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对象 77">
            <a:extLst>
              <a:ext uri="{FF2B5EF4-FFF2-40B4-BE49-F238E27FC236}">
                <a16:creationId xmlns:a16="http://schemas.microsoft.com/office/drawing/2014/main" id="{544CE49B-C847-455E-9D87-E599BB94F5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2078363"/>
              </p:ext>
            </p:extLst>
          </p:nvPr>
        </p:nvGraphicFramePr>
        <p:xfrm>
          <a:off x="5776913" y="2519363"/>
          <a:ext cx="641350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41200" imgH="190440" progId="Equation.DSMT4">
                  <p:embed/>
                </p:oleObj>
              </mc:Choice>
              <mc:Fallback>
                <p:oleObj name="Equation" r:id="rId18" imgW="241200" imgH="190440" progId="Equation.DSMT4">
                  <p:embed/>
                  <p:pic>
                    <p:nvPicPr>
                      <p:cNvPr id="78" name="对象 77">
                        <a:extLst>
                          <a:ext uri="{FF2B5EF4-FFF2-40B4-BE49-F238E27FC236}">
                            <a16:creationId xmlns:a16="http://schemas.microsoft.com/office/drawing/2014/main" id="{544CE49B-C847-455E-9D87-E599BB94F5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776913" y="2519363"/>
                        <a:ext cx="641350" cy="506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" name="对象 78">
            <a:extLst>
              <a:ext uri="{FF2B5EF4-FFF2-40B4-BE49-F238E27FC236}">
                <a16:creationId xmlns:a16="http://schemas.microsoft.com/office/drawing/2014/main" id="{260D6643-1A91-4953-A635-AECB6D2E3B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7971381"/>
              </p:ext>
            </p:extLst>
          </p:nvPr>
        </p:nvGraphicFramePr>
        <p:xfrm>
          <a:off x="5824538" y="1111250"/>
          <a:ext cx="63817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41200" imgH="190440" progId="Equation.DSMT4">
                  <p:embed/>
                </p:oleObj>
              </mc:Choice>
              <mc:Fallback>
                <p:oleObj name="Equation" r:id="rId20" imgW="241200" imgH="190440" progId="Equation.DSMT4">
                  <p:embed/>
                  <p:pic>
                    <p:nvPicPr>
                      <p:cNvPr id="79" name="对象 78">
                        <a:extLst>
                          <a:ext uri="{FF2B5EF4-FFF2-40B4-BE49-F238E27FC236}">
                            <a16:creationId xmlns:a16="http://schemas.microsoft.com/office/drawing/2014/main" id="{260D6643-1A91-4953-A635-AECB6D2E3B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824538" y="1111250"/>
                        <a:ext cx="638175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" name="对象 79">
            <a:extLst>
              <a:ext uri="{FF2B5EF4-FFF2-40B4-BE49-F238E27FC236}">
                <a16:creationId xmlns:a16="http://schemas.microsoft.com/office/drawing/2014/main" id="{34EE1C4F-EF67-42FC-94D1-7BC99143BC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85248" y="360809"/>
          <a:ext cx="541338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03040" imgH="203040" progId="Equation.DSMT4">
                  <p:embed/>
                </p:oleObj>
              </mc:Choice>
              <mc:Fallback>
                <p:oleObj name="Equation" r:id="rId22" imgW="203040" imgH="203040" progId="Equation.DSMT4">
                  <p:embed/>
                  <p:pic>
                    <p:nvPicPr>
                      <p:cNvPr id="80" name="对象 79">
                        <a:extLst>
                          <a:ext uri="{FF2B5EF4-FFF2-40B4-BE49-F238E27FC236}">
                            <a16:creationId xmlns:a16="http://schemas.microsoft.com/office/drawing/2014/main" id="{34EE1C4F-EF67-42FC-94D1-7BC99143BC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7185248" y="360809"/>
                        <a:ext cx="541338" cy="539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" name="文本框 81">
            <a:extLst>
              <a:ext uri="{FF2B5EF4-FFF2-40B4-BE49-F238E27FC236}">
                <a16:creationId xmlns:a16="http://schemas.microsoft.com/office/drawing/2014/main" id="{53DBB310-15BF-4362-96BA-11D6D0CEE341}"/>
              </a:ext>
            </a:extLst>
          </p:cNvPr>
          <p:cNvSpPr txBox="1"/>
          <p:nvPr/>
        </p:nvSpPr>
        <p:spPr>
          <a:xfrm>
            <a:off x="148704" y="1621620"/>
            <a:ext cx="389010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ea"/>
              <a:buAutoNum type="circleNumDbPlain" startAt="2"/>
            </a:pPr>
            <a:r>
              <a:rPr lang="zh-CN" altLang="en-US" sz="2400" dirty="0"/>
              <a:t>如果不满足收敛精度，从当前点开始继续下一轮迭代，搜索方向发生了变化。</a:t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2AA5FE7F-F553-4190-8F8B-F197C662F719}"/>
              </a:ext>
            </a:extLst>
          </p:cNvPr>
          <p:cNvSpPr txBox="1"/>
          <p:nvPr/>
        </p:nvSpPr>
        <p:spPr>
          <a:xfrm>
            <a:off x="53776" y="1093089"/>
            <a:ext cx="44005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例如，</a:t>
            </a:r>
            <a:r>
              <a:rPr lang="en-US" altLang="zh-CN" sz="2400" b="1" dirty="0"/>
              <a:t>n=3</a:t>
            </a:r>
            <a:r>
              <a:rPr lang="zh-CN" altLang="en-US" sz="2400" b="1" dirty="0"/>
              <a:t>的无约束优化问题：</a:t>
            </a: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E65459D3-9922-4DBE-9662-B11B88A96387}"/>
              </a:ext>
            </a:extLst>
          </p:cNvPr>
          <p:cNvSpPr txBox="1"/>
          <p:nvPr/>
        </p:nvSpPr>
        <p:spPr>
          <a:xfrm>
            <a:off x="6140673" y="4123762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第二次迭代的方向：</a:t>
            </a:r>
          </a:p>
        </p:txBody>
      </p:sp>
      <p:graphicFrame>
        <p:nvGraphicFramePr>
          <p:cNvPr id="85" name="对象 84">
            <a:extLst>
              <a:ext uri="{FF2B5EF4-FFF2-40B4-BE49-F238E27FC236}">
                <a16:creationId xmlns:a16="http://schemas.microsoft.com/office/drawing/2014/main" id="{BA5E1038-C983-4346-B105-7FEA9A0E8D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1164854"/>
              </p:ext>
            </p:extLst>
          </p:nvPr>
        </p:nvGraphicFramePr>
        <p:xfrm>
          <a:off x="4803775" y="4862513"/>
          <a:ext cx="4297363" cy="127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282680" imgH="380880" progId="Equation.DSMT4">
                  <p:embed/>
                </p:oleObj>
              </mc:Choice>
              <mc:Fallback>
                <p:oleObj name="Equation" r:id="rId24" imgW="1282680" imgH="380880" progId="Equation.DSMT4">
                  <p:embed/>
                  <p:pic>
                    <p:nvPicPr>
                      <p:cNvPr id="85" name="对象 84">
                        <a:extLst>
                          <a:ext uri="{FF2B5EF4-FFF2-40B4-BE49-F238E27FC236}">
                            <a16:creationId xmlns:a16="http://schemas.microsoft.com/office/drawing/2014/main" id="{BA5E1038-C983-4346-B105-7FEA9A0E8D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803775" y="4862513"/>
                        <a:ext cx="4297363" cy="1276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33A73F4-F93F-4B79-8386-1894AFEB2DED}"/>
              </a:ext>
            </a:extLst>
          </p:cNvPr>
          <p:cNvSpPr/>
          <p:nvPr/>
        </p:nvSpPr>
        <p:spPr bwMode="auto">
          <a:xfrm>
            <a:off x="5836239" y="4712996"/>
            <a:ext cx="3272145" cy="1560320"/>
          </a:xfrm>
          <a:prstGeom prst="round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3DD16CFC-345F-423F-8E68-FB12083FA9DB}"/>
              </a:ext>
            </a:extLst>
          </p:cNvPr>
          <p:cNvSpPr/>
          <p:nvPr/>
        </p:nvSpPr>
        <p:spPr bwMode="auto">
          <a:xfrm>
            <a:off x="4803216" y="5502858"/>
            <a:ext cx="960998" cy="770458"/>
          </a:xfrm>
          <a:prstGeom prst="roundRect">
            <a:avLst/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EC4B0704-2714-40F7-8793-AB352EE4FF2C}"/>
              </a:ext>
            </a:extLst>
          </p:cNvPr>
          <p:cNvSpPr/>
          <p:nvPr/>
        </p:nvSpPr>
        <p:spPr bwMode="auto">
          <a:xfrm>
            <a:off x="4676782" y="5423656"/>
            <a:ext cx="3228545" cy="908441"/>
          </a:xfrm>
          <a:prstGeom prst="roundRect">
            <a:avLst/>
          </a:prstGeom>
          <a:noFill/>
          <a:ln w="9525" cap="flat" cmpd="sng" algn="ctr">
            <a:solidFill>
              <a:srgbClr val="30A04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33B7F14F-B0B8-4131-AF56-8613FDF9F5DC}"/>
              </a:ext>
            </a:extLst>
          </p:cNvPr>
          <p:cNvSpPr txBox="1"/>
          <p:nvPr/>
        </p:nvSpPr>
        <p:spPr>
          <a:xfrm>
            <a:off x="3664762" y="6236883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丢弃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2D028E85-47DB-41F4-9F27-F32B679BFBD5}"/>
              </a:ext>
            </a:extLst>
          </p:cNvPr>
          <p:cNvCxnSpPr/>
          <p:nvPr/>
        </p:nvCxnSpPr>
        <p:spPr bwMode="auto">
          <a:xfrm flipV="1">
            <a:off x="4338563" y="5940746"/>
            <a:ext cx="686445" cy="44410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AC8A61AE-5D3A-4EBE-88E5-C63C9BF26BA2}"/>
              </a:ext>
            </a:extLst>
          </p:cNvPr>
          <p:cNvSpPr txBox="1"/>
          <p:nvPr/>
        </p:nvSpPr>
        <p:spPr>
          <a:xfrm>
            <a:off x="9108385" y="4976932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新增</a:t>
            </a:r>
          </a:p>
        </p:txBody>
      </p: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3E039AF9-A41E-4ED2-A1F7-D76CFBFDDE08}"/>
              </a:ext>
            </a:extLst>
          </p:cNvPr>
          <p:cNvCxnSpPr/>
          <p:nvPr/>
        </p:nvCxnSpPr>
        <p:spPr bwMode="auto">
          <a:xfrm flipH="1">
            <a:off x="8857097" y="5333050"/>
            <a:ext cx="461690" cy="48327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AF357F04-39B6-4C65-8932-BEC1FC02D7BC}"/>
              </a:ext>
            </a:extLst>
          </p:cNvPr>
          <p:cNvSpPr txBox="1"/>
          <p:nvPr/>
        </p:nvSpPr>
        <p:spPr>
          <a:xfrm>
            <a:off x="5135509" y="6338650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第一次迭代的方向：</a:t>
            </a: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6EE99691-C7E1-4EE4-89BF-6D4EED046C5B}"/>
              </a:ext>
            </a:extLst>
          </p:cNvPr>
          <p:cNvSpPr/>
          <p:nvPr/>
        </p:nvSpPr>
        <p:spPr bwMode="auto">
          <a:xfrm>
            <a:off x="8344497" y="5467699"/>
            <a:ext cx="630316" cy="667006"/>
          </a:xfrm>
          <a:prstGeom prst="roundRect">
            <a:avLst/>
          </a:prstGeom>
          <a:noFill/>
          <a:ln w="952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86" name="对象 85">
            <a:extLst>
              <a:ext uri="{FF2B5EF4-FFF2-40B4-BE49-F238E27FC236}">
                <a16:creationId xmlns:a16="http://schemas.microsoft.com/office/drawing/2014/main" id="{3C57D60B-C764-4CCD-9D50-86BA9925FE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408467"/>
              </p:ext>
            </p:extLst>
          </p:nvPr>
        </p:nvGraphicFramePr>
        <p:xfrm>
          <a:off x="1150938" y="4022725"/>
          <a:ext cx="588962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15640" imgH="190440" progId="Equation.DSMT4">
                  <p:embed/>
                </p:oleObj>
              </mc:Choice>
              <mc:Fallback>
                <p:oleObj name="Equation" r:id="rId26" imgW="215640" imgH="190440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426188F0-B93F-48C3-AD93-E9736B510C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150938" y="4022725"/>
                        <a:ext cx="588962" cy="519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" name="对象 86">
            <a:extLst>
              <a:ext uri="{FF2B5EF4-FFF2-40B4-BE49-F238E27FC236}">
                <a16:creationId xmlns:a16="http://schemas.microsoft.com/office/drawing/2014/main" id="{FD6CAC02-0BA1-4984-9EE8-96E984E9D3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1451098"/>
              </p:ext>
            </p:extLst>
          </p:nvPr>
        </p:nvGraphicFramePr>
        <p:xfrm>
          <a:off x="965200" y="4530725"/>
          <a:ext cx="5064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90440" imgH="190440" progId="Equation.DSMT4">
                  <p:embed/>
                </p:oleObj>
              </mc:Choice>
              <mc:Fallback>
                <p:oleObj name="Equation" r:id="rId28" imgW="190440" imgH="190440" progId="Equation.DSMT4">
                  <p:embed/>
                  <p:pic>
                    <p:nvPicPr>
                      <p:cNvPr id="63" name="对象 62">
                        <a:extLst>
                          <a:ext uri="{FF2B5EF4-FFF2-40B4-BE49-F238E27FC236}">
                            <a16:creationId xmlns:a16="http://schemas.microsoft.com/office/drawing/2014/main" id="{2043A94C-2A90-46FB-8F7A-D9BC6D01B7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965200" y="4530725"/>
                        <a:ext cx="506413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" name="对象 87">
            <a:extLst>
              <a:ext uri="{FF2B5EF4-FFF2-40B4-BE49-F238E27FC236}">
                <a16:creationId xmlns:a16="http://schemas.microsoft.com/office/drawing/2014/main" id="{56F7E506-EE56-40E0-AA76-6AC5817140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5254910"/>
              </p:ext>
            </p:extLst>
          </p:nvPr>
        </p:nvGraphicFramePr>
        <p:xfrm>
          <a:off x="842963" y="5681663"/>
          <a:ext cx="587375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15640" imgH="190440" progId="Equation.DSMT4">
                  <p:embed/>
                </p:oleObj>
              </mc:Choice>
              <mc:Fallback>
                <p:oleObj name="Equation" r:id="rId30" imgW="215640" imgH="190440" progId="Equation.DSMT4">
                  <p:embed/>
                  <p:pic>
                    <p:nvPicPr>
                      <p:cNvPr id="66" name="对象 65">
                        <a:extLst>
                          <a:ext uri="{FF2B5EF4-FFF2-40B4-BE49-F238E27FC236}">
                            <a16:creationId xmlns:a16="http://schemas.microsoft.com/office/drawing/2014/main" id="{BC28EAC4-F445-484F-9F31-82AB7638C8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842963" y="5681663"/>
                        <a:ext cx="587375" cy="519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" name="对象 88">
            <a:extLst>
              <a:ext uri="{FF2B5EF4-FFF2-40B4-BE49-F238E27FC236}">
                <a16:creationId xmlns:a16="http://schemas.microsoft.com/office/drawing/2014/main" id="{B9E1797A-2930-4744-B2C2-E0C07FB4FD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1788600"/>
              </p:ext>
            </p:extLst>
          </p:nvPr>
        </p:nvGraphicFramePr>
        <p:xfrm>
          <a:off x="3371850" y="5386388"/>
          <a:ext cx="587375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215640" imgH="190440" progId="Equation.DSMT4">
                  <p:embed/>
                </p:oleObj>
              </mc:Choice>
              <mc:Fallback>
                <p:oleObj name="Equation" r:id="rId32" imgW="215640" imgH="190440" progId="Equation.DSMT4">
                  <p:embed/>
                  <p:pic>
                    <p:nvPicPr>
                      <p:cNvPr id="67" name="对象 66">
                        <a:extLst>
                          <a:ext uri="{FF2B5EF4-FFF2-40B4-BE49-F238E27FC236}">
                            <a16:creationId xmlns:a16="http://schemas.microsoft.com/office/drawing/2014/main" id="{252FE13B-293A-4FEF-9AB7-B87F755BD2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3371850" y="5386388"/>
                        <a:ext cx="587375" cy="519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" name="对象 90">
            <a:extLst>
              <a:ext uri="{FF2B5EF4-FFF2-40B4-BE49-F238E27FC236}">
                <a16:creationId xmlns:a16="http://schemas.microsoft.com/office/drawing/2014/main" id="{5CE02A62-A7FB-4780-9BFF-2F985ABC9E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4167436"/>
              </p:ext>
            </p:extLst>
          </p:nvPr>
        </p:nvGraphicFramePr>
        <p:xfrm>
          <a:off x="2801938" y="3319463"/>
          <a:ext cx="587375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215640" imgH="190440" progId="Equation.DSMT4">
                  <p:embed/>
                </p:oleObj>
              </mc:Choice>
              <mc:Fallback>
                <p:oleObj name="Equation" r:id="rId34" imgW="215640" imgH="190440" progId="Equation.DSMT4">
                  <p:embed/>
                  <p:pic>
                    <p:nvPicPr>
                      <p:cNvPr id="68" name="对象 67">
                        <a:extLst>
                          <a:ext uri="{FF2B5EF4-FFF2-40B4-BE49-F238E27FC236}">
                            <a16:creationId xmlns:a16="http://schemas.microsoft.com/office/drawing/2014/main" id="{43D03351-0BAB-40E9-8F4F-2E2B36CC9E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2801938" y="3319463"/>
                        <a:ext cx="587375" cy="519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" name="对象 91">
            <a:extLst>
              <a:ext uri="{FF2B5EF4-FFF2-40B4-BE49-F238E27FC236}">
                <a16:creationId xmlns:a16="http://schemas.microsoft.com/office/drawing/2014/main" id="{37C49997-1672-49B6-ACC9-C2A4877F8F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6467074"/>
              </p:ext>
            </p:extLst>
          </p:nvPr>
        </p:nvGraphicFramePr>
        <p:xfrm>
          <a:off x="3471863" y="3143250"/>
          <a:ext cx="506412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190440" imgH="190440" progId="Equation.DSMT4">
                  <p:embed/>
                </p:oleObj>
              </mc:Choice>
              <mc:Fallback>
                <p:oleObj name="Equation" r:id="rId36" imgW="190440" imgH="190440" progId="Equation.DSMT4">
                  <p:embed/>
                  <p:pic>
                    <p:nvPicPr>
                      <p:cNvPr id="69" name="对象 68">
                        <a:extLst>
                          <a:ext uri="{FF2B5EF4-FFF2-40B4-BE49-F238E27FC236}">
                            <a16:creationId xmlns:a16="http://schemas.microsoft.com/office/drawing/2014/main" id="{F7FC5B59-1502-463F-A7B1-D7B564AB2A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3471863" y="3143250"/>
                        <a:ext cx="506412" cy="506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" name="对象 92">
            <a:extLst>
              <a:ext uri="{FF2B5EF4-FFF2-40B4-BE49-F238E27FC236}">
                <a16:creationId xmlns:a16="http://schemas.microsoft.com/office/drawing/2014/main" id="{4F2EB587-FD32-4FCA-8C10-8530A98C5E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674974"/>
              </p:ext>
            </p:extLst>
          </p:nvPr>
        </p:nvGraphicFramePr>
        <p:xfrm>
          <a:off x="1876425" y="5562600"/>
          <a:ext cx="506413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190440" imgH="190440" progId="Equation.DSMT4">
                  <p:embed/>
                </p:oleObj>
              </mc:Choice>
              <mc:Fallback>
                <p:oleObj name="Equation" r:id="rId38" imgW="190440" imgH="190440" progId="Equation.DSMT4">
                  <p:embed/>
                  <p:pic>
                    <p:nvPicPr>
                      <p:cNvPr id="70" name="对象 69">
                        <a:extLst>
                          <a:ext uri="{FF2B5EF4-FFF2-40B4-BE49-F238E27FC236}">
                            <a16:creationId xmlns:a16="http://schemas.microsoft.com/office/drawing/2014/main" id="{CBA3D716-B9D4-46C6-A44D-5D85DC7408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1876425" y="5562600"/>
                        <a:ext cx="506413" cy="506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" name="对象 93">
            <a:extLst>
              <a:ext uri="{FF2B5EF4-FFF2-40B4-BE49-F238E27FC236}">
                <a16:creationId xmlns:a16="http://schemas.microsoft.com/office/drawing/2014/main" id="{4C7B543A-BAFB-47CF-86B9-FEBD8F7772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2806890"/>
              </p:ext>
            </p:extLst>
          </p:nvPr>
        </p:nvGraphicFramePr>
        <p:xfrm>
          <a:off x="3332163" y="4457700"/>
          <a:ext cx="50641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0" imgW="190440" imgH="190440" progId="Equation.DSMT4">
                  <p:embed/>
                </p:oleObj>
              </mc:Choice>
              <mc:Fallback>
                <p:oleObj name="Equation" r:id="rId40" imgW="190440" imgH="190440" progId="Equation.DSMT4">
                  <p:embed/>
                  <p:pic>
                    <p:nvPicPr>
                      <p:cNvPr id="71" name="对象 70">
                        <a:extLst>
                          <a:ext uri="{FF2B5EF4-FFF2-40B4-BE49-F238E27FC236}">
                            <a16:creationId xmlns:a16="http://schemas.microsoft.com/office/drawing/2014/main" id="{79D1E1DF-5785-411A-B5E8-A9C4FC802D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3332163" y="4457700"/>
                        <a:ext cx="506412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87199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"/>
                            </p:stCondLst>
                            <p:childTnLst>
                              <p:par>
                                <p:cTn id="11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7" grpId="0" animBg="1"/>
      <p:bldP spid="58" grpId="0" animBg="1"/>
      <p:bldP spid="82" grpId="0"/>
      <p:bldP spid="84" grpId="0"/>
      <p:bldP spid="10" grpId="0" animBg="1"/>
      <p:bldP spid="62" grpId="0" animBg="1"/>
      <p:bldP spid="64" grpId="0" animBg="1"/>
      <p:bldP spid="65" grpId="0"/>
      <p:bldP spid="81" grpId="0"/>
      <p:bldP spid="59" grpId="0"/>
      <p:bldP spid="6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6860B4-7A37-4676-B5FB-423EA637C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共轭方向法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631B47-DF96-47C7-9DA5-212FE10B1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迭代步骤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C77C83-693C-42E0-A974-09954D07A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C75A2EB-A93C-4D65-8AEB-79EA189BC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27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212F074-C866-4A13-A4F0-D233F3610F44}"/>
                  </a:ext>
                </a:extLst>
              </p:cNvPr>
              <p:cNvSpPr txBox="1"/>
              <p:nvPr/>
            </p:nvSpPr>
            <p:spPr>
              <a:xfrm>
                <a:off x="272480" y="1988840"/>
                <a:ext cx="9505056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/>
                  <a:t>维度函数，给定初始点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400" baseline="30000" dirty="0"/>
                  <a:t>(0)</a:t>
                </a:r>
                <a:r>
                  <a:rPr lang="zh-CN" altLang="en-US" sz="2400" dirty="0"/>
                  <a:t>，令迭代轮次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400" baseline="-25000" dirty="0"/>
                  <a:t>0</a:t>
                </a:r>
                <a:r>
                  <a:rPr lang="en-US" altLang="zh-CN" sz="2400" baseline="30000" dirty="0"/>
                  <a:t>(k)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400" baseline="30000" dirty="0"/>
                  <a:t>(0) </a:t>
                </a:r>
                <a:r>
                  <a:rPr lang="zh-CN" altLang="en-US" sz="2400" dirty="0"/>
                  <a:t>，给定收敛精度</a:t>
                </a:r>
                <a14:m>
                  <m:oMath xmlns:m="http://schemas.openxmlformats.org/officeDocument/2006/math"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zh-CN" altLang="en-US" sz="2400" dirty="0"/>
                  <a:t>。</a:t>
                </a:r>
                <a:endParaRPr lang="en-US" altLang="zh-CN" sz="2400" dirty="0"/>
              </a:p>
              <a:p>
                <a:pPr marL="342900" indent="-342900">
                  <a:buFont typeface="+mj-lt"/>
                  <a:buAutoNum type="arabicPeriod"/>
                </a:pPr>
                <a:endParaRPr lang="en-US" altLang="zh-CN" sz="240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zh-CN" altLang="en-US" sz="2400" dirty="0"/>
                  <a:t>以坐标轴方向作为第一轮的搜索方向，确定搜索方向集合为：</a:t>
                </a:r>
                <a:endParaRPr lang="en-US" altLang="zh-CN" sz="2400" dirty="0"/>
              </a:p>
              <a:p>
                <a:pPr marL="342900" indent="-342900">
                  <a:buFont typeface="+mj-lt"/>
                  <a:buAutoNum type="arabicPeriod"/>
                </a:pPr>
                <a:endParaRPr lang="en-US" altLang="zh-CN" sz="2400" dirty="0"/>
              </a:p>
              <a:p>
                <a:pPr marL="342900" indent="-342900">
                  <a:buFont typeface="+mj-lt"/>
                  <a:buAutoNum type="arabicPeriod"/>
                </a:pPr>
                <a:endParaRPr lang="en-US" altLang="zh-CN" sz="2400" dirty="0"/>
              </a:p>
              <a:p>
                <a:pPr marL="342900" indent="-342900">
                  <a:buFont typeface="+mj-lt"/>
                  <a:buAutoNum type="arabicPeriod"/>
                </a:pPr>
                <a:endParaRPr lang="en-US" altLang="zh-CN" sz="2400" dirty="0"/>
              </a:p>
              <a:p>
                <a:pPr marL="342900" indent="-342900">
                  <a:buFont typeface="+mj-lt"/>
                  <a:buAutoNum type="arabicPeriod"/>
                </a:pPr>
                <a:endParaRPr lang="en-US" altLang="zh-CN" sz="240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zh-CN" altLang="en-US" sz="2400" dirty="0"/>
                  <a:t>从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400" baseline="-25000" dirty="0"/>
                  <a:t>0</a:t>
                </a:r>
                <a:r>
                  <a:rPr lang="en-US" altLang="zh-CN" sz="2400" baseline="30000" dirty="0"/>
                  <a:t>(k)</a:t>
                </a:r>
                <a:r>
                  <a:rPr lang="zh-CN" altLang="en-US" sz="2400" dirty="0"/>
                  <a:t>开始，依次沿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sz="2400" baseline="-25000" dirty="0"/>
                  <a:t>i</a:t>
                </a:r>
                <a:r>
                  <a:rPr lang="en-US" altLang="zh-CN" sz="2400" baseline="30000" dirty="0"/>
                  <a:t>(k)</a:t>
                </a:r>
                <a:r>
                  <a:rPr lang="zh-CN" altLang="en-US" sz="2400" dirty="0"/>
                  <a:t>进行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/>
                  <a:t>次一维搜索，得到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/>
                  <a:t>个一维极小值点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400" baseline="-25000" dirty="0"/>
                  <a:t>i</a:t>
                </a:r>
                <a:r>
                  <a:rPr lang="en-US" altLang="zh-CN" sz="2400" baseline="30000" dirty="0"/>
                  <a:t>(k)</a:t>
                </a:r>
                <a:r>
                  <a:rPr lang="zh-CN" altLang="en-US" sz="2400" dirty="0"/>
                  <a:t>，连接起始点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400" baseline="-25000" dirty="0"/>
                  <a:t>0</a:t>
                </a:r>
                <a:r>
                  <a:rPr lang="en-US" altLang="zh-CN" sz="2400" baseline="30000" dirty="0"/>
                  <a:t>(k)</a:t>
                </a:r>
                <a:r>
                  <a:rPr lang="zh-CN" altLang="en-US" sz="2400" dirty="0"/>
                  <a:t>和最终点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400" baseline="-25000" dirty="0"/>
                  <a:t>n</a:t>
                </a:r>
                <a:r>
                  <a:rPr lang="en-US" altLang="zh-CN" sz="2400" baseline="30000" dirty="0"/>
                  <a:t>(k)</a:t>
                </a:r>
                <a:r>
                  <a:rPr lang="zh-CN" altLang="en-US" sz="2400" dirty="0"/>
                  <a:t>，构造一个共轭方向：</a:t>
                </a:r>
                <a:endParaRPr lang="en-US" altLang="zh-CN" sz="2400" dirty="0"/>
              </a:p>
              <a:p>
                <a:pPr marL="342900" indent="-342900">
                  <a:buFont typeface="+mj-lt"/>
                  <a:buAutoNum type="arabicPeriod"/>
                </a:pPr>
                <a:endParaRPr lang="en-US" altLang="zh-CN" sz="24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212F074-C866-4A13-A4F0-D233F3610F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480" y="1988840"/>
                <a:ext cx="9505056" cy="4154984"/>
              </a:xfrm>
              <a:prstGeom prst="rect">
                <a:avLst/>
              </a:prstGeom>
              <a:blipFill>
                <a:blip r:embed="rId3"/>
                <a:stretch>
                  <a:fillRect l="-898" t="-11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BEB1FF07-25E1-4C7C-999A-29CB310343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0273711"/>
              </p:ext>
            </p:extLst>
          </p:nvPr>
        </p:nvGraphicFramePr>
        <p:xfrm>
          <a:off x="1768475" y="3622675"/>
          <a:ext cx="6121400" cy="1341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39880" imgH="380880" progId="Equation.DSMT4">
                  <p:embed/>
                </p:oleObj>
              </mc:Choice>
              <mc:Fallback>
                <p:oleObj name="Equation" r:id="rId4" imgW="17398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68475" y="3622675"/>
                        <a:ext cx="6121400" cy="1341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A605BF2-E850-4283-97DD-01A11A753A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7167447"/>
              </p:ext>
            </p:extLst>
          </p:nvPr>
        </p:nvGraphicFramePr>
        <p:xfrm>
          <a:off x="3014663" y="5730875"/>
          <a:ext cx="2727325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74360" imgH="190440" progId="Equation.DSMT4">
                  <p:embed/>
                </p:oleObj>
              </mc:Choice>
              <mc:Fallback>
                <p:oleObj name="Equation" r:id="rId6" imgW="774360" imgH="19044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BEB1FF07-25E1-4C7C-999A-29CB310343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014663" y="5730875"/>
                        <a:ext cx="2727325" cy="671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81449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6860B4-7A37-4676-B5FB-423EA637C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共轭方向法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631B47-DF96-47C7-9DA5-212FE10B1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迭代步骤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C77C83-693C-42E0-A974-09954D07A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C75A2EB-A93C-4D65-8AEB-79EA189BC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28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212F074-C866-4A13-A4F0-D233F3610F44}"/>
                  </a:ext>
                </a:extLst>
              </p:cNvPr>
              <p:cNvSpPr txBox="1"/>
              <p:nvPr/>
            </p:nvSpPr>
            <p:spPr>
              <a:xfrm>
                <a:off x="272480" y="1988840"/>
                <a:ext cx="9505056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zh-CN" altLang="en-US" sz="2400" dirty="0"/>
                  <a:t>从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400" baseline="-25000" dirty="0"/>
                  <a:t>n</a:t>
                </a:r>
                <a:r>
                  <a:rPr lang="en-US" altLang="zh-CN" sz="2400" baseline="30000" dirty="0"/>
                  <a:t>(k)</a:t>
                </a:r>
                <a:r>
                  <a:rPr lang="zh-CN" altLang="en-US" sz="2400" dirty="0"/>
                  <a:t>出发沿共轭方向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sz="2400" baseline="-25000" dirty="0"/>
                  <a:t>n</a:t>
                </a:r>
                <a:r>
                  <a:rPr lang="en-US" altLang="zh-CN" sz="2400" baseline="30000" dirty="0"/>
                  <a:t>(k)</a:t>
                </a:r>
                <a:r>
                  <a:rPr lang="zh-CN" altLang="en-US" sz="2400" dirty="0"/>
                  <a:t>进行一维搜索，得到极小值点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400" baseline="-25000" dirty="0"/>
                  <a:t>n+1</a:t>
                </a:r>
                <a:r>
                  <a:rPr lang="en-US" altLang="zh-CN" sz="2400" baseline="30000" dirty="0"/>
                  <a:t>(k) </a:t>
                </a:r>
                <a:r>
                  <a:rPr lang="zh-CN" altLang="en-US" sz="2400" dirty="0"/>
                  <a:t>。第一轮迭代结束。</a:t>
                </a:r>
                <a:endParaRPr lang="en-US" altLang="zh-CN" sz="2400" dirty="0"/>
              </a:p>
              <a:p>
                <a:pPr marL="457200" indent="-457200">
                  <a:buFont typeface="+mj-lt"/>
                  <a:buAutoNum type="arabicPeriod" startAt="4"/>
                </a:pPr>
                <a:endParaRPr lang="en-US" altLang="zh-CN" sz="2400" dirty="0"/>
              </a:p>
              <a:p>
                <a:pPr marL="342900" indent="-342900">
                  <a:buFont typeface="+mj-lt"/>
                  <a:buAutoNum type="arabicPeriod" startAt="4"/>
                </a:pPr>
                <a:r>
                  <a:rPr lang="zh-CN" altLang="en-US" sz="2400" dirty="0"/>
                  <a:t> 如果满足</a:t>
                </a:r>
                <a14:m>
                  <m:oMath xmlns:m="http://schemas.openxmlformats.org/officeDocument/2006/math">
                    <m:r>
                      <a:rPr lang="en-US" altLang="zh-CN" sz="2400" b="0" i="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400" baseline="-25000" dirty="0"/>
                  <a:t>n+1</a:t>
                </a:r>
                <a:r>
                  <a:rPr lang="en-US" altLang="zh-CN" sz="2400" baseline="30000" dirty="0"/>
                  <a:t>(k)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400" baseline="-25000" dirty="0"/>
                  <a:t>0</a:t>
                </a:r>
                <a:r>
                  <a:rPr lang="en-US" altLang="zh-CN" sz="2400" baseline="30000" dirty="0"/>
                  <a:t>(k)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400" dirty="0"/>
                      <m:t>|</m:t>
                    </m:r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zh-CN" altLang="en-US" sz="2400" dirty="0"/>
                  <a:t>，算法结束。否则淘汰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sz="2400" baseline="-25000" dirty="0"/>
                  <a:t>0</a:t>
                </a:r>
                <a:r>
                  <a:rPr lang="en-US" altLang="zh-CN" sz="2400" baseline="30000" dirty="0"/>
                  <a:t>(k) </a:t>
                </a:r>
                <a:r>
                  <a:rPr lang="zh-CN" altLang="en-US" sz="2400" dirty="0"/>
                  <a:t>，增加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sz="2400" baseline="-25000" dirty="0"/>
                  <a:t>n</a:t>
                </a:r>
                <a:r>
                  <a:rPr lang="en-US" altLang="zh-CN" sz="2400" baseline="30000" dirty="0"/>
                  <a:t>(k) </a:t>
                </a:r>
                <a:r>
                  <a:rPr lang="zh-CN" altLang="en-US" sz="2400" dirty="0"/>
                  <a:t>，令新一轮的搜索方向集合为：</a:t>
                </a:r>
                <a:endParaRPr lang="en-US" altLang="zh-CN" sz="2400" dirty="0"/>
              </a:p>
              <a:p>
                <a:pPr marL="342900" indent="-342900">
                  <a:buFont typeface="+mj-lt"/>
                  <a:buAutoNum type="arabicPeriod" startAt="4"/>
                </a:pPr>
                <a:endParaRPr lang="en-US" altLang="zh-CN" sz="2400" dirty="0"/>
              </a:p>
              <a:p>
                <a:pPr marL="342900" indent="-342900">
                  <a:buFont typeface="+mj-lt"/>
                  <a:buAutoNum type="arabicPeriod" startAt="4"/>
                </a:pPr>
                <a:endParaRPr lang="en-US" altLang="zh-CN" sz="2400" dirty="0"/>
              </a:p>
              <a:p>
                <a:pPr marL="342900" indent="-342900">
                  <a:buFont typeface="+mj-lt"/>
                  <a:buAutoNum type="arabicPeriod" startAt="4"/>
                </a:pPr>
                <a:endParaRPr lang="en-US" altLang="zh-CN" sz="2400" dirty="0"/>
              </a:p>
              <a:p>
                <a:pPr marL="342900" indent="-342900">
                  <a:buFont typeface="+mj-lt"/>
                  <a:buAutoNum type="arabicPeriod" startAt="4"/>
                </a:pPr>
                <a:endParaRPr lang="en-US" altLang="zh-CN" sz="2400" dirty="0"/>
              </a:p>
              <a:p>
                <a:pPr marL="342900" indent="-342900">
                  <a:buFont typeface="+mj-lt"/>
                  <a:buAutoNum type="arabicPeriod" startAt="4"/>
                </a:pPr>
                <a:endParaRPr lang="en-US" altLang="zh-CN" sz="2400" dirty="0"/>
              </a:p>
              <a:p>
                <a:pPr marL="342900" indent="-342900">
                  <a:buFont typeface="+mj-lt"/>
                  <a:buAutoNum type="arabicPeriod" startAt="4"/>
                </a:pPr>
                <a:endParaRPr lang="en-US" altLang="zh-CN" sz="2400" dirty="0"/>
              </a:p>
              <a:p>
                <a:pPr marL="342900" indent="-342900">
                  <a:buFont typeface="+mj-lt"/>
                  <a:buAutoNum type="arabicPeriod" startAt="4"/>
                </a:pPr>
                <a:r>
                  <a:rPr lang="zh-CN" altLang="en-US" sz="2400" dirty="0"/>
                  <a:t> 令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400" baseline="-25000" dirty="0"/>
                  <a:t>0</a:t>
                </a:r>
                <a:r>
                  <a:rPr lang="en-US" altLang="zh-CN" sz="2400" baseline="30000" dirty="0"/>
                  <a:t>(k+1)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400" baseline="-25000" dirty="0"/>
                  <a:t>n+1</a:t>
                </a:r>
                <a:r>
                  <a:rPr lang="en-US" altLang="zh-CN" sz="2400" baseline="30000" dirty="0"/>
                  <a:t>(k) </a:t>
                </a:r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/>
                  <a:t>，返回步骤</a:t>
                </a:r>
                <a:r>
                  <a:rPr lang="en-US" altLang="zh-CN" sz="2400" dirty="0"/>
                  <a:t>3</a:t>
                </a:r>
                <a:r>
                  <a:rPr lang="zh-CN" altLang="en-US" sz="2400" dirty="0"/>
                  <a:t>进行下一轮迭代。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212F074-C866-4A13-A4F0-D233F3610F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480" y="1988840"/>
                <a:ext cx="9505056" cy="4524315"/>
              </a:xfrm>
              <a:prstGeom prst="rect">
                <a:avLst/>
              </a:prstGeom>
              <a:blipFill>
                <a:blip r:embed="rId3"/>
                <a:stretch>
                  <a:fillRect l="-898" t="-1078" b="-21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FF5FF013-2274-45C8-9913-43586CCE03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8256786"/>
              </p:ext>
            </p:extLst>
          </p:nvPr>
        </p:nvGraphicFramePr>
        <p:xfrm>
          <a:off x="2051050" y="3903663"/>
          <a:ext cx="4557713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95280" imgH="190440" progId="Equation.DSMT4">
                  <p:embed/>
                </p:oleObj>
              </mc:Choice>
              <mc:Fallback>
                <p:oleObj name="Equation" r:id="rId4" imgW="1295280" imgH="19044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BEB1FF07-25E1-4C7C-999A-29CB310343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51050" y="3903663"/>
                        <a:ext cx="4557713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02EF7247-8F2A-49F1-A300-A130B199B7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5596160"/>
              </p:ext>
            </p:extLst>
          </p:nvPr>
        </p:nvGraphicFramePr>
        <p:xfrm>
          <a:off x="763934" y="4618038"/>
          <a:ext cx="6637338" cy="127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81080" imgH="380880" progId="Equation.DSMT4">
                  <p:embed/>
                </p:oleObj>
              </mc:Choice>
              <mc:Fallback>
                <p:oleObj name="Equation" r:id="rId6" imgW="1981080" imgH="380880" progId="Equation.DSMT4">
                  <p:embed/>
                  <p:pic>
                    <p:nvPicPr>
                      <p:cNvPr id="85" name="对象 84">
                        <a:extLst>
                          <a:ext uri="{FF2B5EF4-FFF2-40B4-BE49-F238E27FC236}">
                            <a16:creationId xmlns:a16="http://schemas.microsoft.com/office/drawing/2014/main" id="{BA5E1038-C983-4346-B105-7FEA9A0E8D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63934" y="4618038"/>
                        <a:ext cx="6637338" cy="1276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7277FD1F-E5C3-48A0-8B8C-704A2A446141}"/>
              </a:ext>
            </a:extLst>
          </p:cNvPr>
          <p:cNvSpPr/>
          <p:nvPr/>
        </p:nvSpPr>
        <p:spPr bwMode="auto">
          <a:xfrm>
            <a:off x="1928664" y="4576537"/>
            <a:ext cx="5400600" cy="13620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等号 13">
            <a:extLst>
              <a:ext uri="{FF2B5EF4-FFF2-40B4-BE49-F238E27FC236}">
                <a16:creationId xmlns:a16="http://schemas.microsoft.com/office/drawing/2014/main" id="{7D3FE1B5-E8CB-42C3-962F-59401B6A6C49}"/>
              </a:ext>
            </a:extLst>
          </p:cNvPr>
          <p:cNvSpPr/>
          <p:nvPr/>
        </p:nvSpPr>
        <p:spPr bwMode="auto">
          <a:xfrm rot="5400000">
            <a:off x="1975661" y="5057397"/>
            <a:ext cx="334831" cy="291255"/>
          </a:xfrm>
          <a:prstGeom prst="mathEqual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等号 14">
            <a:extLst>
              <a:ext uri="{FF2B5EF4-FFF2-40B4-BE49-F238E27FC236}">
                <a16:creationId xmlns:a16="http://schemas.microsoft.com/office/drawing/2014/main" id="{088F60BB-1708-474F-899C-0184C2DA169B}"/>
              </a:ext>
            </a:extLst>
          </p:cNvPr>
          <p:cNvSpPr/>
          <p:nvPr/>
        </p:nvSpPr>
        <p:spPr bwMode="auto">
          <a:xfrm rot="5400000">
            <a:off x="3203020" y="5057994"/>
            <a:ext cx="334831" cy="291255"/>
          </a:xfrm>
          <a:prstGeom prst="mathEqual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等号 15">
            <a:extLst>
              <a:ext uri="{FF2B5EF4-FFF2-40B4-BE49-F238E27FC236}">
                <a16:creationId xmlns:a16="http://schemas.microsoft.com/office/drawing/2014/main" id="{20F2ADA9-C610-4E9B-9EB9-5DFC837E0B58}"/>
              </a:ext>
            </a:extLst>
          </p:cNvPr>
          <p:cNvSpPr/>
          <p:nvPr/>
        </p:nvSpPr>
        <p:spPr bwMode="auto">
          <a:xfrm rot="5400000">
            <a:off x="4423933" y="5057396"/>
            <a:ext cx="334831" cy="291255"/>
          </a:xfrm>
          <a:prstGeom prst="mathEqual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等号 16">
            <a:extLst>
              <a:ext uri="{FF2B5EF4-FFF2-40B4-BE49-F238E27FC236}">
                <a16:creationId xmlns:a16="http://schemas.microsoft.com/office/drawing/2014/main" id="{73AE8489-6A1F-45AB-A6A0-0AEFBAD18B1A}"/>
              </a:ext>
            </a:extLst>
          </p:cNvPr>
          <p:cNvSpPr/>
          <p:nvPr/>
        </p:nvSpPr>
        <p:spPr bwMode="auto">
          <a:xfrm rot="5400000">
            <a:off x="6512165" y="5057395"/>
            <a:ext cx="334831" cy="291255"/>
          </a:xfrm>
          <a:prstGeom prst="mathEqual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7767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FF4496-49AB-41D0-88D5-DE94FB34C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共轭方向法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995655-20AC-4B76-8939-E13B239E9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存在的问题</a:t>
            </a:r>
            <a:endParaRPr lang="en-US" altLang="zh-CN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33CA86-6250-498E-983C-837843801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74E0A8E-A116-4760-B20D-1062EEF43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29</a:t>
            </a:fld>
            <a:endParaRPr lang="en-US" altLang="zh-CN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D54B280-036B-4131-9FD4-2111E33360C9}"/>
              </a:ext>
            </a:extLst>
          </p:cNvPr>
          <p:cNvCxnSpPr>
            <a:cxnSpLocks/>
            <a:stCxn id="14" idx="5"/>
          </p:cNvCxnSpPr>
          <p:nvPr/>
        </p:nvCxnSpPr>
        <p:spPr bwMode="auto">
          <a:xfrm flipV="1">
            <a:off x="6652581" y="2454908"/>
            <a:ext cx="2560735" cy="2011933"/>
          </a:xfrm>
          <a:prstGeom prst="line">
            <a:avLst/>
          </a:prstGeom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3CD8B90-F5EE-473F-93D2-E1080669ED1D}"/>
              </a:ext>
            </a:extLst>
          </p:cNvPr>
          <p:cNvCxnSpPr>
            <a:cxnSpLocks/>
          </p:cNvCxnSpPr>
          <p:nvPr/>
        </p:nvCxnSpPr>
        <p:spPr bwMode="auto">
          <a:xfrm flipH="1">
            <a:off x="6324650" y="4543066"/>
            <a:ext cx="165903" cy="138498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F53F1398-2FD1-46B3-ACB6-F53C1B3E24DB}"/>
              </a:ext>
            </a:extLst>
          </p:cNvPr>
          <p:cNvCxnSpPr>
            <a:cxnSpLocks/>
          </p:cNvCxnSpPr>
          <p:nvPr/>
        </p:nvCxnSpPr>
        <p:spPr bwMode="auto">
          <a:xfrm>
            <a:off x="6191437" y="4429123"/>
            <a:ext cx="169959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01127492-63AD-41E2-ADEF-55CC9DC20982}"/>
              </a:ext>
            </a:extLst>
          </p:cNvPr>
          <p:cNvCxnSpPr>
            <a:cxnSpLocks/>
          </p:cNvCxnSpPr>
          <p:nvPr/>
        </p:nvCxnSpPr>
        <p:spPr bwMode="auto">
          <a:xfrm flipV="1">
            <a:off x="6191437" y="3013540"/>
            <a:ext cx="0" cy="14155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94F6EB6-CA06-4841-AFB5-CEFCA4270DBD}"/>
                  </a:ext>
                </a:extLst>
              </p:cNvPr>
              <p:cNvSpPr txBox="1"/>
              <p:nvPr/>
            </p:nvSpPr>
            <p:spPr>
              <a:xfrm>
                <a:off x="7483301" y="3982074"/>
                <a:ext cx="681016" cy="4795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94F6EB6-CA06-4841-AFB5-CEFCA4270D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3301" y="3982074"/>
                <a:ext cx="681016" cy="4795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43C29D74-BE9B-4721-8918-2FD727971F63}"/>
              </a:ext>
            </a:extLst>
          </p:cNvPr>
          <p:cNvSpPr txBox="1"/>
          <p:nvPr/>
        </p:nvSpPr>
        <p:spPr>
          <a:xfrm>
            <a:off x="5850929" y="4190229"/>
            <a:ext cx="42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3BFC177-B8FD-48A0-8D53-2B4AE90768EA}"/>
                  </a:ext>
                </a:extLst>
              </p:cNvPr>
              <p:cNvSpPr txBox="1"/>
              <p:nvPr/>
            </p:nvSpPr>
            <p:spPr>
              <a:xfrm>
                <a:off x="5850929" y="2517744"/>
                <a:ext cx="681016" cy="4795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3BFC177-B8FD-48A0-8D53-2B4AE9076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0929" y="2517744"/>
                <a:ext cx="681016" cy="4795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ACB428C-389F-45C5-859A-1353D254157D}"/>
              </a:ext>
            </a:extLst>
          </p:cNvPr>
          <p:cNvCxnSpPr>
            <a:cxnSpLocks/>
          </p:cNvCxnSpPr>
          <p:nvPr/>
        </p:nvCxnSpPr>
        <p:spPr bwMode="auto">
          <a:xfrm flipH="1">
            <a:off x="5508782" y="4429123"/>
            <a:ext cx="690250" cy="70451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流程图: 接点 13">
            <a:extLst>
              <a:ext uri="{FF2B5EF4-FFF2-40B4-BE49-F238E27FC236}">
                <a16:creationId xmlns:a16="http://schemas.microsoft.com/office/drawing/2014/main" id="{091B664C-2E65-48E9-9B4E-BA64D1213759}"/>
              </a:ext>
            </a:extLst>
          </p:cNvPr>
          <p:cNvSpPr/>
          <p:nvPr/>
        </p:nvSpPr>
        <p:spPr bwMode="auto">
          <a:xfrm rot="17986332">
            <a:off x="6447097" y="4404614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B81D2888-9A5A-428D-AAC1-BE30902D63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0042237"/>
              </p:ext>
            </p:extLst>
          </p:nvPr>
        </p:nvGraphicFramePr>
        <p:xfrm>
          <a:off x="6440264" y="3159130"/>
          <a:ext cx="484188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7480" imgH="190440" progId="Equation.DSMT4">
                  <p:embed/>
                </p:oleObj>
              </mc:Choice>
              <mc:Fallback>
                <p:oleObj name="Equation" r:id="rId5" imgW="177480" imgH="190440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426188F0-B93F-48C3-AD93-E9736B510C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40264" y="3159130"/>
                        <a:ext cx="484188" cy="519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D16A2D9-661E-4AE3-A7F9-4BE6C43D6806}"/>
              </a:ext>
            </a:extLst>
          </p:cNvPr>
          <p:cNvCxnSpPr>
            <a:cxnSpLocks/>
            <a:endCxn id="20" idx="1"/>
          </p:cNvCxnSpPr>
          <p:nvPr/>
        </p:nvCxnSpPr>
        <p:spPr bwMode="auto">
          <a:xfrm flipV="1">
            <a:off x="6408910" y="4734550"/>
            <a:ext cx="2078837" cy="21650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46B4F8C-105A-4A6B-8A72-69E270A1ABC3}"/>
              </a:ext>
            </a:extLst>
          </p:cNvPr>
          <p:cNvCxnSpPr>
            <a:cxnSpLocks/>
          </p:cNvCxnSpPr>
          <p:nvPr/>
        </p:nvCxnSpPr>
        <p:spPr bwMode="auto">
          <a:xfrm flipV="1">
            <a:off x="8586133" y="2997291"/>
            <a:ext cx="0" cy="1562270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流程图: 接点 17">
            <a:extLst>
              <a:ext uri="{FF2B5EF4-FFF2-40B4-BE49-F238E27FC236}">
                <a16:creationId xmlns:a16="http://schemas.microsoft.com/office/drawing/2014/main" id="{2B4929FF-D564-40C7-A86B-A99665C36E18}"/>
              </a:ext>
            </a:extLst>
          </p:cNvPr>
          <p:cNvSpPr/>
          <p:nvPr/>
        </p:nvSpPr>
        <p:spPr bwMode="auto">
          <a:xfrm rot="17986332">
            <a:off x="8475779" y="2847099"/>
            <a:ext cx="217452" cy="190894"/>
          </a:xfrm>
          <a:prstGeom prst="flowChartConnector">
            <a:avLst/>
          </a:prstGeom>
          <a:solidFill>
            <a:srgbClr val="0000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流程图: 接点 18">
            <a:extLst>
              <a:ext uri="{FF2B5EF4-FFF2-40B4-BE49-F238E27FC236}">
                <a16:creationId xmlns:a16="http://schemas.microsoft.com/office/drawing/2014/main" id="{CE50A3D6-A8BF-4A1C-856D-20C5AD5F51A3}"/>
              </a:ext>
            </a:extLst>
          </p:cNvPr>
          <p:cNvSpPr/>
          <p:nvPr/>
        </p:nvSpPr>
        <p:spPr bwMode="auto">
          <a:xfrm rot="17986332">
            <a:off x="6219547" y="4640188"/>
            <a:ext cx="217452" cy="190894"/>
          </a:xfrm>
          <a:prstGeom prst="flowChartConnector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流程图: 接点 19">
            <a:extLst>
              <a:ext uri="{FF2B5EF4-FFF2-40B4-BE49-F238E27FC236}">
                <a16:creationId xmlns:a16="http://schemas.microsoft.com/office/drawing/2014/main" id="{10549BA1-7717-417E-BA76-12E7B3A8BB4B}"/>
              </a:ext>
            </a:extLst>
          </p:cNvPr>
          <p:cNvSpPr/>
          <p:nvPr/>
        </p:nvSpPr>
        <p:spPr bwMode="auto">
          <a:xfrm rot="17986332">
            <a:off x="8475779" y="4605883"/>
            <a:ext cx="217452" cy="190894"/>
          </a:xfrm>
          <a:prstGeom prst="flowChartConnector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62FAADF5-6F13-4500-B982-AA7DEE68B8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867306"/>
              </p:ext>
            </p:extLst>
          </p:nvPr>
        </p:nvGraphicFramePr>
        <p:xfrm>
          <a:off x="6217994" y="3651519"/>
          <a:ext cx="473075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7480" imgH="203040" progId="Equation.DSMT4">
                  <p:embed/>
                </p:oleObj>
              </mc:Choice>
              <mc:Fallback>
                <p:oleObj name="Equation" r:id="rId7" imgW="177480" imgH="203040" progId="Equation.DSMT4">
                  <p:embed/>
                  <p:pic>
                    <p:nvPicPr>
                      <p:cNvPr id="63" name="对象 62">
                        <a:extLst>
                          <a:ext uri="{FF2B5EF4-FFF2-40B4-BE49-F238E27FC236}">
                            <a16:creationId xmlns:a16="http://schemas.microsoft.com/office/drawing/2014/main" id="{2043A94C-2A90-46FB-8F7A-D9BC6D01B7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217994" y="3651519"/>
                        <a:ext cx="473075" cy="541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8D89D05F-5D1E-46DB-9209-5FF7BA5E6B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2878735"/>
              </p:ext>
            </p:extLst>
          </p:nvPr>
        </p:nvGraphicFramePr>
        <p:xfrm>
          <a:off x="6130706" y="4817094"/>
          <a:ext cx="484188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77480" imgH="190440" progId="Equation.DSMT4">
                  <p:embed/>
                </p:oleObj>
              </mc:Choice>
              <mc:Fallback>
                <p:oleObj name="Equation" r:id="rId9" imgW="177480" imgH="190440" progId="Equation.DSMT4">
                  <p:embed/>
                  <p:pic>
                    <p:nvPicPr>
                      <p:cNvPr id="66" name="对象 65">
                        <a:extLst>
                          <a:ext uri="{FF2B5EF4-FFF2-40B4-BE49-F238E27FC236}">
                            <a16:creationId xmlns:a16="http://schemas.microsoft.com/office/drawing/2014/main" id="{BC28EAC4-F445-484F-9F31-82AB7638C8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130706" y="4817094"/>
                        <a:ext cx="484188" cy="519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7F7C42FB-C587-4FCE-B519-9843E8E14B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6364567"/>
              </p:ext>
            </p:extLst>
          </p:nvPr>
        </p:nvGraphicFramePr>
        <p:xfrm>
          <a:off x="8658970" y="4521824"/>
          <a:ext cx="484188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77480" imgH="190440" progId="Equation.DSMT4">
                  <p:embed/>
                </p:oleObj>
              </mc:Choice>
              <mc:Fallback>
                <p:oleObj name="Equation" r:id="rId11" imgW="177480" imgH="190440" progId="Equation.DSMT4">
                  <p:embed/>
                  <p:pic>
                    <p:nvPicPr>
                      <p:cNvPr id="67" name="对象 66">
                        <a:extLst>
                          <a:ext uri="{FF2B5EF4-FFF2-40B4-BE49-F238E27FC236}">
                            <a16:creationId xmlns:a16="http://schemas.microsoft.com/office/drawing/2014/main" id="{252FE13B-293A-4FEF-9AB7-B87F755BD2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658970" y="4521824"/>
                        <a:ext cx="484188" cy="519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B52F7143-4E71-4798-BE98-39361F729B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0342759"/>
              </p:ext>
            </p:extLst>
          </p:nvPr>
        </p:nvGraphicFramePr>
        <p:xfrm>
          <a:off x="8089144" y="2454909"/>
          <a:ext cx="484188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77480" imgH="190440" progId="Equation.DSMT4">
                  <p:embed/>
                </p:oleObj>
              </mc:Choice>
              <mc:Fallback>
                <p:oleObj name="Equation" r:id="rId13" imgW="177480" imgH="190440" progId="Equation.DSMT4">
                  <p:embed/>
                  <p:pic>
                    <p:nvPicPr>
                      <p:cNvPr id="68" name="对象 67">
                        <a:extLst>
                          <a:ext uri="{FF2B5EF4-FFF2-40B4-BE49-F238E27FC236}">
                            <a16:creationId xmlns:a16="http://schemas.microsoft.com/office/drawing/2014/main" id="{43D03351-0BAB-40E9-8F4F-2E2B36CC9E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089144" y="2454909"/>
                        <a:ext cx="484188" cy="519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25E01BD5-98A6-4B73-975D-57E72CF90B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0660994"/>
              </p:ext>
            </p:extLst>
          </p:nvPr>
        </p:nvGraphicFramePr>
        <p:xfrm>
          <a:off x="7146647" y="4681564"/>
          <a:ext cx="438150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64880" imgH="203040" progId="Equation.DSMT4">
                  <p:embed/>
                </p:oleObj>
              </mc:Choice>
              <mc:Fallback>
                <p:oleObj name="Equation" r:id="rId15" imgW="164880" imgH="203040" progId="Equation.DSMT4">
                  <p:embed/>
                  <p:pic>
                    <p:nvPicPr>
                      <p:cNvPr id="70" name="对象 69">
                        <a:extLst>
                          <a:ext uri="{FF2B5EF4-FFF2-40B4-BE49-F238E27FC236}">
                            <a16:creationId xmlns:a16="http://schemas.microsoft.com/office/drawing/2014/main" id="{CBA3D716-B9D4-46C6-A44D-5D85DC7408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146647" y="4681564"/>
                        <a:ext cx="438150" cy="541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3F46263C-08C0-4F4E-975B-682215C14B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2603879"/>
              </p:ext>
            </p:extLst>
          </p:nvPr>
        </p:nvGraphicFramePr>
        <p:xfrm>
          <a:off x="8584505" y="3578232"/>
          <a:ext cx="473075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77480" imgH="203040" progId="Equation.DSMT4">
                  <p:embed/>
                </p:oleObj>
              </mc:Choice>
              <mc:Fallback>
                <p:oleObj name="Equation" r:id="rId17" imgW="177480" imgH="203040" progId="Equation.DSMT4">
                  <p:embed/>
                  <p:pic>
                    <p:nvPicPr>
                      <p:cNvPr id="71" name="对象 70">
                        <a:extLst>
                          <a:ext uri="{FF2B5EF4-FFF2-40B4-BE49-F238E27FC236}">
                            <a16:creationId xmlns:a16="http://schemas.microsoft.com/office/drawing/2014/main" id="{79D1E1DF-5785-411A-B5E8-A9C4FC802D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584505" y="3578232"/>
                        <a:ext cx="473075" cy="541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A2D60882-40E0-4AF6-B187-4E8E89794E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1306249"/>
              </p:ext>
            </p:extLst>
          </p:nvPr>
        </p:nvGraphicFramePr>
        <p:xfrm>
          <a:off x="7528213" y="2997291"/>
          <a:ext cx="47307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77480" imgH="203040" progId="Equation.DSMT4">
                  <p:embed/>
                </p:oleObj>
              </mc:Choice>
              <mc:Fallback>
                <p:oleObj name="Equation" r:id="rId19" imgW="177480" imgH="203040" progId="Equation.DSMT4">
                  <p:embed/>
                  <p:pic>
                    <p:nvPicPr>
                      <p:cNvPr id="69" name="对象 68">
                        <a:extLst>
                          <a:ext uri="{FF2B5EF4-FFF2-40B4-BE49-F238E27FC236}">
                            <a16:creationId xmlns:a16="http://schemas.microsoft.com/office/drawing/2014/main" id="{F7FC5B59-1502-463F-A7B1-D7B564AB2A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528213" y="2997291"/>
                        <a:ext cx="473075" cy="539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文本框 33">
            <a:extLst>
              <a:ext uri="{FF2B5EF4-FFF2-40B4-BE49-F238E27FC236}">
                <a16:creationId xmlns:a16="http://schemas.microsoft.com/office/drawing/2014/main" id="{1C263E47-9FC9-40D7-8265-AB129B1B7828}"/>
              </a:ext>
            </a:extLst>
          </p:cNvPr>
          <p:cNvSpPr txBox="1"/>
          <p:nvPr/>
        </p:nvSpPr>
        <p:spPr>
          <a:xfrm>
            <a:off x="128563" y="1958801"/>
            <a:ext cx="5693177" cy="1569660"/>
          </a:xfrm>
          <a:prstGeom prst="rect">
            <a:avLst/>
          </a:prstGeom>
          <a:solidFill>
            <a:srgbClr val="FFFF6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特殊情况下，</a:t>
            </a:r>
            <a:r>
              <a:rPr lang="zh-CN" altLang="en-US" sz="2400" dirty="0">
                <a:solidFill>
                  <a:srgbClr val="0000FF"/>
                </a:solidFill>
              </a:rPr>
              <a:t>可能导致某一个维度丧失</a:t>
            </a:r>
            <a:r>
              <a:rPr lang="zh-CN" altLang="en-US" sz="2400" dirty="0">
                <a:solidFill>
                  <a:srgbClr val="C00000"/>
                </a:solidFill>
              </a:rPr>
              <a:t>。</a:t>
            </a:r>
            <a:endParaRPr lang="en-US" altLang="zh-CN" sz="2400" dirty="0">
              <a:solidFill>
                <a:srgbClr val="C00000"/>
              </a:solidFill>
            </a:endParaRPr>
          </a:p>
          <a:p>
            <a:endParaRPr lang="en-US" altLang="zh-CN" sz="2400" dirty="0">
              <a:solidFill>
                <a:srgbClr val="C00000"/>
              </a:solidFill>
            </a:endParaRPr>
          </a:p>
          <a:p>
            <a:r>
              <a:rPr lang="zh-CN" altLang="en-US" sz="2400" dirty="0">
                <a:solidFill>
                  <a:srgbClr val="C00000"/>
                </a:solidFill>
              </a:rPr>
              <a:t>这样后续的搜索就会减少一个维度，</a:t>
            </a:r>
            <a:r>
              <a:rPr lang="zh-CN" altLang="en-US" sz="2400" dirty="0">
                <a:solidFill>
                  <a:srgbClr val="0000FF"/>
                </a:solidFill>
              </a:rPr>
              <a:t>可能永远找不到极值点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58197971-FDDA-4DAD-B91A-B938C5563071}"/>
                  </a:ext>
                </a:extLst>
              </p:cNvPr>
              <p:cNvSpPr txBox="1"/>
              <p:nvPr/>
            </p:nvSpPr>
            <p:spPr>
              <a:xfrm>
                <a:off x="164167" y="3809035"/>
                <a:ext cx="4775137" cy="1569660"/>
              </a:xfrm>
              <a:prstGeom prst="rect">
                <a:avLst/>
              </a:prstGeom>
              <a:solidFill>
                <a:srgbClr val="FFFF66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图中的情况下，沿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/>
                  <a:t>轴方向的搜索步长太小，导致第二轮搜索的时候三个方向共面，因此丧失了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400" dirty="0"/>
                  <a:t>轴方向的搜索权力。</a:t>
                </a: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58197971-FDDA-4DAD-B91A-B938C55630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167" y="3809035"/>
                <a:ext cx="4775137" cy="1569660"/>
              </a:xfrm>
              <a:prstGeom prst="rect">
                <a:avLst/>
              </a:prstGeom>
              <a:blipFill>
                <a:blip r:embed="rId21"/>
                <a:stretch>
                  <a:fillRect l="-1911" t="-2703" r="-1401" b="-77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1149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500"/>
                            </p:stCondLst>
                            <p:childTnLst>
                              <p:par>
                                <p:cTn id="8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4" grpId="0" animBg="1"/>
      <p:bldP spid="18" grpId="0" animBg="1"/>
      <p:bldP spid="19" grpId="0" animBg="1"/>
      <p:bldP spid="20" grpId="0" animBg="1"/>
      <p:bldP spid="34" grpId="0" animBg="1"/>
      <p:bldP spid="3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E147FB-F31B-4305-850E-50570778E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Powell</a:t>
            </a:r>
            <a:r>
              <a:rPr lang="zh-CN" altLang="en-US" dirty="0"/>
              <a:t>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3333AE3-4586-455E-87A4-3332E7441D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基本思想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完成了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dirty="0"/>
                  <a:t>次迭代以后，是</a:t>
                </a:r>
                <a:r>
                  <a:rPr lang="zh-CN" altLang="en-US" dirty="0">
                    <a:solidFill>
                      <a:srgbClr val="0000FF"/>
                    </a:solidFill>
                  </a:rPr>
                  <a:t>选用新的方向</a:t>
                </a:r>
                <a14:m>
                  <m:oMath xmlns:m="http://schemas.openxmlformats.org/officeDocument/2006/math">
                    <m:r>
                      <a:rPr lang="en-US" altLang="zh-CN" sz="320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sz="3200" baseline="-25000" dirty="0">
                    <a:solidFill>
                      <a:srgbClr val="0000FF"/>
                    </a:solidFill>
                  </a:rPr>
                  <a:t>n</a:t>
                </a:r>
                <a:r>
                  <a:rPr lang="en-US" altLang="zh-CN" sz="3200" baseline="30000" dirty="0">
                    <a:solidFill>
                      <a:srgbClr val="0000FF"/>
                    </a:solidFill>
                  </a:rPr>
                  <a:t>(k)</a:t>
                </a:r>
                <a:r>
                  <a:rPr lang="zh-CN" altLang="en-US" dirty="0">
                    <a:solidFill>
                      <a:srgbClr val="0000FF"/>
                    </a:solidFill>
                  </a:rPr>
                  <a:t>新要进行判断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若选用，也不一定淘汰第</a:t>
                </a:r>
                <a:r>
                  <a:rPr lang="en-US" altLang="zh-CN" dirty="0"/>
                  <a:t>k</a:t>
                </a:r>
                <a:r>
                  <a:rPr lang="zh-CN" altLang="en-US" dirty="0"/>
                  <a:t>轮的第一个方向</a:t>
                </a:r>
                <a14:m>
                  <m:oMath xmlns:m="http://schemas.openxmlformats.org/officeDocument/2006/math">
                    <m:r>
                      <a:rPr lang="en-US" altLang="zh-CN" sz="32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sz="3200" baseline="-25000" dirty="0"/>
                  <a:t>0</a:t>
                </a:r>
                <a:r>
                  <a:rPr lang="en-US" altLang="zh-CN" sz="3200" baseline="30000" dirty="0"/>
                  <a:t>(k) </a:t>
                </a:r>
                <a:r>
                  <a:rPr lang="zh-CN" altLang="en-US" dirty="0"/>
                  <a:t>，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淘汰哪个方向需要进行判断</a:t>
                </a:r>
                <a:r>
                  <a:rPr lang="zh-CN" altLang="en-US" dirty="0"/>
                  <a:t>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3333AE3-4586-455E-87A4-3332E7441D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6" t="-2083" r="-15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DF78D0-D197-4879-8C62-754558B31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511FEF8-C819-4734-B8DB-D9F6BB2D8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34612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239F3C-0EA1-43ED-9D00-41E73F5B2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Powell</a:t>
            </a:r>
            <a:r>
              <a:rPr lang="zh-CN" altLang="en-US" dirty="0"/>
              <a:t>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7A5429-793D-4F8F-9377-98C3B3ED2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共轭方向的选取于淘汰方向的判断</a:t>
            </a:r>
            <a:endParaRPr lang="en-US" altLang="zh-CN" dirty="0"/>
          </a:p>
          <a:p>
            <a:pPr marL="457200" lvl="1" indent="0">
              <a:buNone/>
            </a:pP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EEB29C-52ED-4DE0-AC02-3076ED0F2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6E35AD2-BF4D-408C-9C65-DFE15E132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31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C23F3F8-7941-4D08-8F38-CC2927C21CFB}"/>
                  </a:ext>
                </a:extLst>
              </p:cNvPr>
              <p:cNvSpPr txBox="1"/>
              <p:nvPr/>
            </p:nvSpPr>
            <p:spPr>
              <a:xfrm>
                <a:off x="58044" y="1988840"/>
                <a:ext cx="8008026" cy="13707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zh-CN" altLang="en-US" sz="2400" dirty="0"/>
                  <a:t>在第</a:t>
                </a:r>
                <a:r>
                  <a:rPr lang="en-US" altLang="zh-CN" sz="2400" dirty="0"/>
                  <a:t>k</a:t>
                </a:r>
                <a:r>
                  <a:rPr lang="zh-CN" altLang="en-US" sz="2400" dirty="0"/>
                  <a:t>轮迭代后，得到一个共轭方向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bSup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zh-CN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bSup>
                    <m:r>
                      <a:rPr lang="zh-CN" altLang="en-US" sz="240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zh-CN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bSup>
                  </m:oMath>
                </a14:m>
                <a:r>
                  <a:rPr lang="zh-CN" altLang="en-US" sz="2400" dirty="0"/>
                  <a:t>。</a:t>
                </a:r>
                <a:endParaRPr lang="en-US" altLang="zh-CN" sz="2400" dirty="0"/>
              </a:p>
              <a:p>
                <a:pPr marL="342900" indent="-342900">
                  <a:buFont typeface="+mj-lt"/>
                  <a:buAutoNum type="arabicPeriod"/>
                </a:pPr>
                <a:endParaRPr lang="en-US" altLang="zh-CN" sz="240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zh-CN" altLang="en-US" sz="2400" dirty="0"/>
                  <a:t>沿着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bSup>
                  </m:oMath>
                </a14:m>
                <a:r>
                  <a:rPr lang="zh-CN" altLang="en-US" sz="2400" dirty="0"/>
                  <a:t>方向找到点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bSup>
                  </m:oMath>
                </a14:m>
                <a:r>
                  <a:rPr lang="zh-CN" altLang="en-US" sz="2400" dirty="0"/>
                  <a:t>关于点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bSup>
                  </m:oMath>
                </a14:m>
                <a:r>
                  <a:rPr lang="zh-CN" altLang="en-US" sz="2400" dirty="0"/>
                  <a:t>的对称点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bSup>
                  </m:oMath>
                </a14:m>
                <a:r>
                  <a:rPr lang="zh-CN" altLang="en-US" sz="2400" dirty="0"/>
                  <a:t>。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C23F3F8-7941-4D08-8F38-CC2927C21C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44" y="1988840"/>
                <a:ext cx="8008026" cy="1370760"/>
              </a:xfrm>
              <a:prstGeom prst="rect">
                <a:avLst/>
              </a:prstGeom>
              <a:blipFill>
                <a:blip r:embed="rId3"/>
                <a:stretch>
                  <a:fillRect l="-1066" r="-228" b="-8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60F2111-7562-4E78-88ED-374CAC30E2B0}"/>
              </a:ext>
            </a:extLst>
          </p:cNvPr>
          <p:cNvCxnSpPr>
            <a:cxnSpLocks/>
          </p:cNvCxnSpPr>
          <p:nvPr/>
        </p:nvCxnSpPr>
        <p:spPr bwMode="auto">
          <a:xfrm flipV="1">
            <a:off x="5971862" y="3008056"/>
            <a:ext cx="2560735" cy="2011933"/>
          </a:xfrm>
          <a:prstGeom prst="line">
            <a:avLst/>
          </a:prstGeom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流程图: 接点 9">
            <a:extLst>
              <a:ext uri="{FF2B5EF4-FFF2-40B4-BE49-F238E27FC236}">
                <a16:creationId xmlns:a16="http://schemas.microsoft.com/office/drawing/2014/main" id="{39D0820D-BCF2-4885-AB33-5F7392EC8253}"/>
              </a:ext>
            </a:extLst>
          </p:cNvPr>
          <p:cNvSpPr/>
          <p:nvPr/>
        </p:nvSpPr>
        <p:spPr bwMode="auto">
          <a:xfrm rot="17986332">
            <a:off x="7147791" y="3886726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流程图: 接点 10">
            <a:extLst>
              <a:ext uri="{FF2B5EF4-FFF2-40B4-BE49-F238E27FC236}">
                <a16:creationId xmlns:a16="http://schemas.microsoft.com/office/drawing/2014/main" id="{AE4FC7D7-DDE9-4703-AF6C-4332C79115E5}"/>
              </a:ext>
            </a:extLst>
          </p:cNvPr>
          <p:cNvSpPr/>
          <p:nvPr/>
        </p:nvSpPr>
        <p:spPr bwMode="auto">
          <a:xfrm rot="17986332">
            <a:off x="8475779" y="2847099"/>
            <a:ext cx="217452" cy="190894"/>
          </a:xfrm>
          <a:prstGeom prst="flowChartConnector">
            <a:avLst/>
          </a:prstGeom>
          <a:solidFill>
            <a:srgbClr val="0000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流程图: 接点 11">
            <a:extLst>
              <a:ext uri="{FF2B5EF4-FFF2-40B4-BE49-F238E27FC236}">
                <a16:creationId xmlns:a16="http://schemas.microsoft.com/office/drawing/2014/main" id="{CC777511-AB11-4E98-8B6B-530B11AFA2BE}"/>
              </a:ext>
            </a:extLst>
          </p:cNvPr>
          <p:cNvSpPr/>
          <p:nvPr/>
        </p:nvSpPr>
        <p:spPr bwMode="auto">
          <a:xfrm rot="17986332">
            <a:off x="5863138" y="4924543"/>
            <a:ext cx="217452" cy="190894"/>
          </a:xfrm>
          <a:prstGeom prst="flowChartConnector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98C65399-610E-4DDB-AF01-90FCE1CD21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6436442"/>
              </p:ext>
            </p:extLst>
          </p:nvPr>
        </p:nvGraphicFramePr>
        <p:xfrm>
          <a:off x="7440925" y="3074176"/>
          <a:ext cx="473075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7480" imgH="203040" progId="Equation.DSMT4">
                  <p:embed/>
                </p:oleObj>
              </mc:Choice>
              <mc:Fallback>
                <p:oleObj name="Equation" r:id="rId4" imgW="177480" imgH="20304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25E01BD5-98A6-4B73-975D-57E72CF90B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440925" y="3074176"/>
                        <a:ext cx="473075" cy="541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49DC4552-D0B3-4836-B416-33C95F1CB4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7608655"/>
              </p:ext>
            </p:extLst>
          </p:nvPr>
        </p:nvGraphicFramePr>
        <p:xfrm>
          <a:off x="6698191" y="3363773"/>
          <a:ext cx="554038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3040" imgH="203040" progId="Equation.DSMT4">
                  <p:embed/>
                </p:oleObj>
              </mc:Choice>
              <mc:Fallback>
                <p:oleObj name="Equation" r:id="rId6" imgW="203040" imgH="20304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B52F7143-4E71-4798-BE98-39361F729B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698191" y="3363773"/>
                        <a:ext cx="554038" cy="5540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7CEE31B1-369E-47B5-94FC-66B7E0E3B6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2898768"/>
              </p:ext>
            </p:extLst>
          </p:nvPr>
        </p:nvGraphicFramePr>
        <p:xfrm>
          <a:off x="5349407" y="4742970"/>
          <a:ext cx="554038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3040" imgH="203040" progId="Equation.DSMT4">
                  <p:embed/>
                </p:oleObj>
              </mc:Choice>
              <mc:Fallback>
                <p:oleObj name="Equation" r:id="rId8" imgW="203040" imgH="20304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49DC4552-D0B3-4836-B416-33C95F1CB4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349407" y="4742970"/>
                        <a:ext cx="554038" cy="5540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E82F92FE-9DC0-42E2-836F-329798C596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7246828"/>
              </p:ext>
            </p:extLst>
          </p:nvPr>
        </p:nvGraphicFramePr>
        <p:xfrm>
          <a:off x="8480425" y="2360613"/>
          <a:ext cx="725488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6400" imgH="203040" progId="Equation.DSMT4">
                  <p:embed/>
                </p:oleObj>
              </mc:Choice>
              <mc:Fallback>
                <p:oleObj name="Equation" r:id="rId10" imgW="266400" imgH="20304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7CEE31B1-369E-47B5-94FC-66B7E0E3B6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480425" y="2360613"/>
                        <a:ext cx="725488" cy="5540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21">
            <a:extLst>
              <a:ext uri="{FF2B5EF4-FFF2-40B4-BE49-F238E27FC236}">
                <a16:creationId xmlns:a16="http://schemas.microsoft.com/office/drawing/2014/main" id="{BCEA84CC-CD51-427E-A752-8F46AB4D927D}"/>
              </a:ext>
            </a:extLst>
          </p:cNvPr>
          <p:cNvSpPr txBox="1"/>
          <p:nvPr/>
        </p:nvSpPr>
        <p:spPr>
          <a:xfrm>
            <a:off x="5543540" y="6012422"/>
            <a:ext cx="42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</a:t>
            </a:r>
            <a:endParaRPr lang="zh-CN" altLang="en-US" dirty="0"/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CA099CE0-EF87-4EFA-AD92-1361C9924EB8}"/>
              </a:ext>
            </a:extLst>
          </p:cNvPr>
          <p:cNvCxnSpPr>
            <a:cxnSpLocks/>
            <a:endCxn id="11" idx="4"/>
          </p:cNvCxnSpPr>
          <p:nvPr/>
        </p:nvCxnSpPr>
        <p:spPr bwMode="auto">
          <a:xfrm flipV="1">
            <a:off x="5795861" y="2989940"/>
            <a:ext cx="2871493" cy="3179380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1FF0DC88-CA52-498A-8074-0C251A9DC2CD}"/>
              </a:ext>
            </a:extLst>
          </p:cNvPr>
          <p:cNvCxnSpPr>
            <a:cxnSpLocks/>
            <a:endCxn id="10" idx="3"/>
          </p:cNvCxnSpPr>
          <p:nvPr/>
        </p:nvCxnSpPr>
        <p:spPr bwMode="auto">
          <a:xfrm flipV="1">
            <a:off x="5770207" y="4082419"/>
            <a:ext cx="1506717" cy="2083423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73E0A072-0DE9-4EE2-8E7D-C99EF57C0691}"/>
              </a:ext>
            </a:extLst>
          </p:cNvPr>
          <p:cNvCxnSpPr>
            <a:cxnSpLocks/>
            <a:endCxn id="12" idx="3"/>
          </p:cNvCxnSpPr>
          <p:nvPr/>
        </p:nvCxnSpPr>
        <p:spPr bwMode="auto">
          <a:xfrm flipV="1">
            <a:off x="5757701" y="5120236"/>
            <a:ext cx="234570" cy="1045606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90729974-FA43-401E-A2CA-CE51F56C1861}"/>
              </a:ext>
            </a:extLst>
          </p:cNvPr>
          <p:cNvSpPr txBox="1"/>
          <p:nvPr/>
        </p:nvSpPr>
        <p:spPr>
          <a:xfrm>
            <a:off x="5721105" y="613951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坐标原点</a:t>
            </a:r>
          </a:p>
        </p:txBody>
      </p:sp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FAEF2ABA-3FFC-4E0A-904F-D44AC43B09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424822"/>
              </p:ext>
            </p:extLst>
          </p:nvPr>
        </p:nvGraphicFramePr>
        <p:xfrm>
          <a:off x="954088" y="3384550"/>
          <a:ext cx="2790825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63280" imgH="190440" progId="Equation.DSMT4">
                  <p:embed/>
                </p:oleObj>
              </mc:Choice>
              <mc:Fallback>
                <p:oleObj name="Equation" r:id="rId12" imgW="863280" imgH="190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54088" y="3384550"/>
                        <a:ext cx="2790825" cy="614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9A2CC45F-D5DE-430E-BE26-6F9C777CAF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7664127"/>
              </p:ext>
            </p:extLst>
          </p:nvPr>
        </p:nvGraphicFramePr>
        <p:xfrm>
          <a:off x="512763" y="4238625"/>
          <a:ext cx="3981450" cy="184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31560" imgH="571320" progId="Equation.DSMT4">
                  <p:embed/>
                </p:oleObj>
              </mc:Choice>
              <mc:Fallback>
                <p:oleObj name="Equation" r:id="rId14" imgW="1231560" imgH="571320" progId="Equation.DSMT4">
                  <p:embed/>
                  <p:pic>
                    <p:nvPicPr>
                      <p:cNvPr id="38" name="对象 37">
                        <a:extLst>
                          <a:ext uri="{FF2B5EF4-FFF2-40B4-BE49-F238E27FC236}">
                            <a16:creationId xmlns:a16="http://schemas.microsoft.com/office/drawing/2014/main" id="{FAEF2ABA-3FFC-4E0A-904F-D44AC43B09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12763" y="4238625"/>
                        <a:ext cx="3981450" cy="1846263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21461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22" grpId="0"/>
      <p:bldP spid="3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239F3C-0EA1-43ED-9D00-41E73F5B2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Powell</a:t>
            </a:r>
            <a:r>
              <a:rPr lang="zh-CN" altLang="en-US" dirty="0"/>
              <a:t>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7A5429-793D-4F8F-9377-98C3B3ED2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共轭方向的选取于淘汰方向的判断</a:t>
            </a:r>
            <a:endParaRPr lang="en-US" altLang="zh-CN" dirty="0"/>
          </a:p>
          <a:p>
            <a:pPr marL="457200" lvl="1" indent="0">
              <a:buNone/>
            </a:pP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EEB29C-52ED-4DE0-AC02-3076ED0F2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6E35AD2-BF4D-408C-9C65-DFE15E132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32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C23F3F8-7941-4D08-8F38-CC2927C21CFB}"/>
                  </a:ext>
                </a:extLst>
              </p:cNvPr>
              <p:cNvSpPr txBox="1"/>
              <p:nvPr/>
            </p:nvSpPr>
            <p:spPr>
              <a:xfrm>
                <a:off x="58044" y="1988840"/>
                <a:ext cx="9575476" cy="39393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zh-CN" altLang="en-US" sz="2400" dirty="0"/>
                  <a:t>分别计算三个点函数值：</a:t>
                </a:r>
                <a:endParaRPr lang="en-US" altLang="zh-CN" sz="2400" dirty="0"/>
              </a:p>
              <a:p>
                <a:pPr marL="457200" indent="-457200">
                  <a:buFont typeface="+mj-lt"/>
                  <a:buAutoNum type="arabicPeriod" startAt="3"/>
                </a:pPr>
                <a:endParaRPr lang="en-US" altLang="zh-CN" sz="2400" dirty="0"/>
              </a:p>
              <a:p>
                <a:pPr marL="342900" indent="-342900">
                  <a:buFont typeface="+mj-lt"/>
                  <a:buAutoNum type="arabicPeriod" startAt="3"/>
                </a:pPr>
                <a:endParaRPr lang="en-US" altLang="zh-CN" sz="2400" dirty="0"/>
              </a:p>
              <a:p>
                <a:pPr marL="342900" indent="-342900">
                  <a:buFont typeface="+mj-lt"/>
                  <a:buAutoNum type="arabicPeriod" startAt="3"/>
                </a:pPr>
                <a:r>
                  <a:rPr lang="zh-CN" altLang="en-US" sz="2400" dirty="0"/>
                  <a:t>找到第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2400" dirty="0"/>
                  <a:t>轮迭代的搜索过程中函数值下降最大的方向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bSup>
                  </m:oMath>
                </a14:m>
                <a:r>
                  <a:rPr lang="zh-CN" altLang="en-US" sz="2400" dirty="0"/>
                  <a:t>和对应的下降量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l-GR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zh-CN" altLang="en-US" sz="2400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sz="2400" dirty="0"/>
              </a:p>
              <a:p>
                <a:pPr marL="342900" indent="-342900">
                  <a:buFont typeface="+mj-lt"/>
                  <a:buAutoNum type="arabicPeriod" startAt="3"/>
                </a:pPr>
                <a:endParaRPr lang="en-US" altLang="zh-CN" sz="2400" dirty="0"/>
              </a:p>
              <a:p>
                <a:endParaRPr lang="en-US" altLang="zh-CN" sz="2400" dirty="0"/>
              </a:p>
              <a:p>
                <a:pPr marL="342900" indent="-342900">
                  <a:buFont typeface="+mj-lt"/>
                  <a:buAutoNum type="arabicPeriod" startAt="3"/>
                </a:pPr>
                <a:endParaRPr lang="en-US" altLang="zh-CN" sz="2400" dirty="0"/>
              </a:p>
              <a:p>
                <a:pPr marL="342900" indent="-342900">
                  <a:buFont typeface="+mj-lt"/>
                  <a:buAutoNum type="arabicPeriod" startAt="3"/>
                </a:pPr>
                <a:endParaRPr lang="en-US" altLang="zh-CN" sz="2400" dirty="0"/>
              </a:p>
              <a:p>
                <a:pPr marL="342900" indent="-342900">
                  <a:buFont typeface="+mj-lt"/>
                  <a:buAutoNum type="arabicPeriod" startAt="3"/>
                </a:pPr>
                <a:endParaRPr lang="zh-CN" altLang="en-US" sz="24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C23F3F8-7941-4D08-8F38-CC2927C21C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44" y="1988840"/>
                <a:ext cx="9575476" cy="3939348"/>
              </a:xfrm>
              <a:prstGeom prst="rect">
                <a:avLst/>
              </a:prstGeom>
              <a:blipFill>
                <a:blip r:embed="rId3"/>
                <a:stretch>
                  <a:fillRect l="-892" t="-12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ACE3BE30-10E1-444B-842F-3AC8015EA8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0840231"/>
              </p:ext>
            </p:extLst>
          </p:nvPr>
        </p:nvGraphicFramePr>
        <p:xfrm>
          <a:off x="2011584" y="2449384"/>
          <a:ext cx="5297487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06280" imgH="215640" progId="Equation.DSMT4">
                  <p:embed/>
                </p:oleObj>
              </mc:Choice>
              <mc:Fallback>
                <p:oleObj name="Equation" r:id="rId4" imgW="2006280" imgH="215640" progId="Equation.DSMT4">
                  <p:embed/>
                  <p:pic>
                    <p:nvPicPr>
                      <p:cNvPr id="38" name="对象 37">
                        <a:extLst>
                          <a:ext uri="{FF2B5EF4-FFF2-40B4-BE49-F238E27FC236}">
                            <a16:creationId xmlns:a16="http://schemas.microsoft.com/office/drawing/2014/main" id="{FAEF2ABA-3FFC-4E0A-904F-D44AC43B09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11584" y="2449384"/>
                        <a:ext cx="5297487" cy="568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222ABD24-C48E-491D-A26B-45937263FD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6439992"/>
              </p:ext>
            </p:extLst>
          </p:nvPr>
        </p:nvGraphicFramePr>
        <p:xfrm>
          <a:off x="2011584" y="4005064"/>
          <a:ext cx="4056063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36480" imgH="241200" progId="Equation.DSMT4">
                  <p:embed/>
                </p:oleObj>
              </mc:Choice>
              <mc:Fallback>
                <p:oleObj name="Equation" r:id="rId6" imgW="1536480" imgH="24120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ACE3BE30-10E1-444B-842F-3AC8015EA8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011584" y="4005064"/>
                        <a:ext cx="4056063" cy="63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09408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239F3C-0EA1-43ED-9D00-41E73F5B2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Powell</a:t>
            </a:r>
            <a:r>
              <a:rPr lang="zh-CN" altLang="en-US" dirty="0"/>
              <a:t>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7A5429-793D-4F8F-9377-98C3B3ED2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共轭方向的选取于淘汰方向的判断</a:t>
            </a:r>
            <a:endParaRPr lang="en-US" altLang="zh-CN" dirty="0"/>
          </a:p>
          <a:p>
            <a:pPr marL="457200" lvl="1" indent="0">
              <a:buNone/>
            </a:pP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EEB29C-52ED-4DE0-AC02-3076ED0F2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6E35AD2-BF4D-408C-9C65-DFE15E132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33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C23F3F8-7941-4D08-8F38-CC2927C21CFB}"/>
                  </a:ext>
                </a:extLst>
              </p:cNvPr>
              <p:cNvSpPr txBox="1"/>
              <p:nvPr/>
            </p:nvSpPr>
            <p:spPr>
              <a:xfrm>
                <a:off x="58044" y="1988840"/>
                <a:ext cx="9575476" cy="45987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5"/>
                </a:pPr>
                <a:r>
                  <a:rPr lang="zh-CN" altLang="en-US" sz="2400" dirty="0"/>
                  <a:t>如果满足如下公式：</a:t>
                </a:r>
                <a:endParaRPr lang="en-US" altLang="zh-CN" sz="2400" dirty="0"/>
              </a:p>
              <a:p>
                <a:pPr marL="457200" indent="-457200">
                  <a:buFont typeface="+mj-lt"/>
                  <a:buAutoNum type="arabicPeriod" startAt="5"/>
                </a:pPr>
                <a:endParaRPr lang="en-US" altLang="zh-CN" sz="2400" dirty="0"/>
              </a:p>
              <a:p>
                <a:pPr marL="457200" indent="-457200">
                  <a:buFont typeface="+mj-lt"/>
                  <a:buAutoNum type="arabicPeriod" startAt="5"/>
                </a:pPr>
                <a:endParaRPr lang="en-US" altLang="zh-CN" sz="2400" dirty="0"/>
              </a:p>
              <a:p>
                <a:pPr marL="457200" indent="-457200">
                  <a:buFont typeface="+mj-lt"/>
                  <a:buAutoNum type="arabicPeriod" startAt="5"/>
                </a:pPr>
                <a:endParaRPr lang="en-US" altLang="zh-CN" sz="2400" dirty="0"/>
              </a:p>
              <a:p>
                <a:pPr marL="457200" indent="-457200">
                  <a:buFont typeface="+mj-lt"/>
                  <a:buAutoNum type="arabicPeriod" startAt="5"/>
                </a:pPr>
                <a:endParaRPr lang="en-US" altLang="zh-CN" sz="2400" dirty="0"/>
              </a:p>
              <a:p>
                <a:pPr marL="342900" indent="-342900">
                  <a:buFont typeface="+mj-lt"/>
                  <a:buAutoNum type="arabicPeriod" startAt="5"/>
                </a:pPr>
                <a:endParaRPr lang="en-US" altLang="zh-CN" sz="2400" dirty="0"/>
              </a:p>
              <a:p>
                <a:r>
                  <a:rPr lang="zh-CN" altLang="en-US" sz="2400" dirty="0"/>
                  <a:t>     则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bSup>
                  </m:oMath>
                </a14:m>
                <a:r>
                  <a:rPr lang="zh-CN" altLang="en-US" sz="2400" dirty="0"/>
                  <a:t>可以作为新的搜索方向，替换原来的方向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bSup>
                  </m:oMath>
                </a14:m>
                <a:r>
                  <a:rPr lang="zh-CN" altLang="en-US" sz="2400" dirty="0"/>
                  <a:t>。</a:t>
                </a:r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pPr marL="342900" indent="-342900">
                  <a:buFont typeface="+mj-lt"/>
                  <a:buAutoNum type="arabicPeriod" startAt="3"/>
                </a:pPr>
                <a:endParaRPr lang="en-US" altLang="zh-CN" sz="2400" dirty="0"/>
              </a:p>
              <a:p>
                <a:pPr marL="342900" indent="-342900">
                  <a:buFont typeface="+mj-lt"/>
                  <a:buAutoNum type="arabicPeriod" startAt="3"/>
                </a:pPr>
                <a:endParaRPr lang="en-US" altLang="zh-CN" sz="2400" dirty="0"/>
              </a:p>
              <a:p>
                <a:pPr marL="342900" indent="-342900">
                  <a:buFont typeface="+mj-lt"/>
                  <a:buAutoNum type="arabicPeriod" startAt="3"/>
                </a:pPr>
                <a:endParaRPr lang="zh-CN" altLang="en-US" sz="24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C23F3F8-7941-4D08-8F38-CC2927C21C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44" y="1988840"/>
                <a:ext cx="9575476" cy="4598759"/>
              </a:xfrm>
              <a:prstGeom prst="rect">
                <a:avLst/>
              </a:prstGeom>
              <a:blipFill>
                <a:blip r:embed="rId3"/>
                <a:stretch>
                  <a:fillRect l="-892" t="-10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222ABD24-C48E-491D-A26B-45937263FD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6317198"/>
              </p:ext>
            </p:extLst>
          </p:nvPr>
        </p:nvGraphicFramePr>
        <p:xfrm>
          <a:off x="1724025" y="2620963"/>
          <a:ext cx="5932488" cy="1370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47840" imgH="520560" progId="Equation.DSMT4">
                  <p:embed/>
                </p:oleObj>
              </mc:Choice>
              <mc:Fallback>
                <p:oleObj name="Equation" r:id="rId4" imgW="2247840" imgH="52056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222ABD24-C48E-491D-A26B-45937263FD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24025" y="2620963"/>
                        <a:ext cx="5932488" cy="1370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D74D93C2-4820-4E07-AAFA-2A955EB5CD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4442640"/>
              </p:ext>
            </p:extLst>
          </p:nvPr>
        </p:nvGraphicFramePr>
        <p:xfrm>
          <a:off x="577850" y="4746625"/>
          <a:ext cx="7785100" cy="183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23800" imgH="545760" progId="Equation.DSMT4">
                  <p:embed/>
                </p:oleObj>
              </mc:Choice>
              <mc:Fallback>
                <p:oleObj name="Equation" r:id="rId6" imgW="2323800" imgH="54576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02EF7247-8F2A-49F1-A300-A130B199B7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77850" y="4746625"/>
                        <a:ext cx="7785100" cy="1830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等号 9">
            <a:extLst>
              <a:ext uri="{FF2B5EF4-FFF2-40B4-BE49-F238E27FC236}">
                <a16:creationId xmlns:a16="http://schemas.microsoft.com/office/drawing/2014/main" id="{8CD2E89D-CC32-4D94-A784-5AC83F444556}"/>
              </a:ext>
            </a:extLst>
          </p:cNvPr>
          <p:cNvSpPr/>
          <p:nvPr/>
        </p:nvSpPr>
        <p:spPr bwMode="auto">
          <a:xfrm rot="5400000">
            <a:off x="868134" y="5515620"/>
            <a:ext cx="334831" cy="291255"/>
          </a:xfrm>
          <a:prstGeom prst="mathEqual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等号 10">
            <a:extLst>
              <a:ext uri="{FF2B5EF4-FFF2-40B4-BE49-F238E27FC236}">
                <a16:creationId xmlns:a16="http://schemas.microsoft.com/office/drawing/2014/main" id="{7E853CE2-5A24-46BA-8C1A-3D10EDB78CF4}"/>
              </a:ext>
            </a:extLst>
          </p:cNvPr>
          <p:cNvSpPr/>
          <p:nvPr/>
        </p:nvSpPr>
        <p:spPr bwMode="auto">
          <a:xfrm rot="5400000">
            <a:off x="1978884" y="5515620"/>
            <a:ext cx="334831" cy="291255"/>
          </a:xfrm>
          <a:prstGeom prst="mathEqual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等号 11">
            <a:extLst>
              <a:ext uri="{FF2B5EF4-FFF2-40B4-BE49-F238E27FC236}">
                <a16:creationId xmlns:a16="http://schemas.microsoft.com/office/drawing/2014/main" id="{CED345B8-6381-4842-9F29-B55C4C82BA12}"/>
              </a:ext>
            </a:extLst>
          </p:cNvPr>
          <p:cNvSpPr/>
          <p:nvPr/>
        </p:nvSpPr>
        <p:spPr bwMode="auto">
          <a:xfrm rot="5400000">
            <a:off x="2949484" y="5538906"/>
            <a:ext cx="334831" cy="291255"/>
          </a:xfrm>
          <a:prstGeom prst="mathEqual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等号 12">
            <a:extLst>
              <a:ext uri="{FF2B5EF4-FFF2-40B4-BE49-F238E27FC236}">
                <a16:creationId xmlns:a16="http://schemas.microsoft.com/office/drawing/2014/main" id="{09B8A1B6-105E-4C2E-BD35-69ACD6F51C22}"/>
              </a:ext>
            </a:extLst>
          </p:cNvPr>
          <p:cNvSpPr/>
          <p:nvPr/>
        </p:nvSpPr>
        <p:spPr bwMode="auto">
          <a:xfrm rot="3916043">
            <a:off x="4258623" y="5473322"/>
            <a:ext cx="769360" cy="310079"/>
          </a:xfrm>
          <a:prstGeom prst="mathEqual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等号 13">
            <a:extLst>
              <a:ext uri="{FF2B5EF4-FFF2-40B4-BE49-F238E27FC236}">
                <a16:creationId xmlns:a16="http://schemas.microsoft.com/office/drawing/2014/main" id="{8239401C-44DD-4E72-AA44-10B080560D9E}"/>
              </a:ext>
            </a:extLst>
          </p:cNvPr>
          <p:cNvSpPr/>
          <p:nvPr/>
        </p:nvSpPr>
        <p:spPr bwMode="auto">
          <a:xfrm rot="3673425">
            <a:off x="5616502" y="5449882"/>
            <a:ext cx="769360" cy="310079"/>
          </a:xfrm>
          <a:prstGeom prst="mathEqual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等号 14">
            <a:extLst>
              <a:ext uri="{FF2B5EF4-FFF2-40B4-BE49-F238E27FC236}">
                <a16:creationId xmlns:a16="http://schemas.microsoft.com/office/drawing/2014/main" id="{FA2259BA-D9B6-4785-85CA-40FE2DFBFF90}"/>
              </a:ext>
            </a:extLst>
          </p:cNvPr>
          <p:cNvSpPr/>
          <p:nvPr/>
        </p:nvSpPr>
        <p:spPr bwMode="auto">
          <a:xfrm rot="3673425">
            <a:off x="7337666" y="5506207"/>
            <a:ext cx="769360" cy="310079"/>
          </a:xfrm>
          <a:prstGeom prst="mathEqual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9B7D32F4-B66D-43F6-A085-8DF91F67CCEA}"/>
              </a:ext>
            </a:extLst>
          </p:cNvPr>
          <p:cNvSpPr/>
          <p:nvPr/>
        </p:nvSpPr>
        <p:spPr bwMode="auto">
          <a:xfrm>
            <a:off x="3797300" y="5828663"/>
            <a:ext cx="544241" cy="848402"/>
          </a:xfrm>
          <a:prstGeom prst="ellipse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883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239F3C-0EA1-43ED-9D00-41E73F5B2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Powell</a:t>
            </a:r>
            <a:r>
              <a:rPr lang="zh-CN" altLang="en-US" dirty="0"/>
              <a:t>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7A5429-793D-4F8F-9377-98C3B3ED2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共轭方向的选取于淘汰方向的判断</a:t>
            </a:r>
            <a:endParaRPr lang="en-US" altLang="zh-CN" dirty="0"/>
          </a:p>
          <a:p>
            <a:pPr marL="457200" lvl="1" indent="0">
              <a:buNone/>
            </a:pP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EEB29C-52ED-4DE0-AC02-3076ED0F2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6E35AD2-BF4D-408C-9C65-DFE15E132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34</a:t>
            </a:fld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C23F3F8-7941-4D08-8F38-CC2927C21CFB}"/>
              </a:ext>
            </a:extLst>
          </p:cNvPr>
          <p:cNvSpPr txBox="1"/>
          <p:nvPr/>
        </p:nvSpPr>
        <p:spPr>
          <a:xfrm>
            <a:off x="58044" y="1988840"/>
            <a:ext cx="957547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6"/>
            </a:pPr>
            <a:r>
              <a:rPr lang="zh-CN" altLang="en-US" sz="2400" dirty="0"/>
              <a:t>如果不满足上述公式，则搜索方向不变，仍然采用第</a:t>
            </a:r>
            <a:r>
              <a:rPr lang="en-US" altLang="zh-CN" sz="2400" dirty="0"/>
              <a:t>k</a:t>
            </a:r>
            <a:r>
              <a:rPr lang="zh-CN" altLang="en-US" sz="2400" dirty="0"/>
              <a:t>轮迭代的搜索方向。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pPr marL="342900" indent="-342900">
              <a:buFont typeface="+mj-lt"/>
              <a:buAutoNum type="arabicPeriod" startAt="3"/>
            </a:pPr>
            <a:endParaRPr lang="en-US" altLang="zh-CN" sz="2400" dirty="0"/>
          </a:p>
          <a:p>
            <a:pPr marL="342900" indent="-342900">
              <a:buFont typeface="+mj-lt"/>
              <a:buAutoNum type="arabicPeriod" startAt="3"/>
            </a:pPr>
            <a:endParaRPr lang="en-US" altLang="zh-CN" sz="2400" dirty="0"/>
          </a:p>
          <a:p>
            <a:pPr marL="342900" indent="-342900">
              <a:buFont typeface="+mj-lt"/>
              <a:buAutoNum type="arabicPeriod" startAt="3"/>
            </a:pPr>
            <a:endParaRPr lang="zh-CN" altLang="en-US" sz="2400" dirty="0"/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11C41442-2951-4DF5-AAE6-E882AC5114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0420019"/>
              </p:ext>
            </p:extLst>
          </p:nvPr>
        </p:nvGraphicFramePr>
        <p:xfrm>
          <a:off x="1928664" y="2755900"/>
          <a:ext cx="4557713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95280" imgH="190440" progId="Equation.DSMT4">
                  <p:embed/>
                </p:oleObj>
              </mc:Choice>
              <mc:Fallback>
                <p:oleObj name="Equation" r:id="rId2" imgW="1295280" imgH="19044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FF5FF013-2274-45C8-9913-43586CCE03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28664" y="2755900"/>
                        <a:ext cx="4557713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90241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239F3C-0EA1-43ED-9D00-41E73F5B2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Powell</a:t>
            </a:r>
            <a:r>
              <a:rPr lang="zh-CN" altLang="en-US" dirty="0"/>
              <a:t>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7A5429-793D-4F8F-9377-98C3B3ED2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方法步骤</a:t>
            </a:r>
            <a:endParaRPr lang="en-US" altLang="zh-CN" dirty="0"/>
          </a:p>
          <a:p>
            <a:pPr lvl="1"/>
            <a:r>
              <a:rPr lang="zh-CN" altLang="en-US" dirty="0"/>
              <a:t>基本步骤于共轭方向法相同，主要区别在于：</a:t>
            </a:r>
            <a:endParaRPr lang="en-US" altLang="zh-CN" dirty="0"/>
          </a:p>
          <a:p>
            <a:pPr lvl="2"/>
            <a:r>
              <a:rPr lang="zh-CN" altLang="en-US" dirty="0"/>
              <a:t>收敛精度判断为两个参数，公式如下：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r>
              <a:rPr lang="zh-CN" altLang="en-US" dirty="0"/>
              <a:t>每次迭代完成需要进行淘汰方向的判断。</a:t>
            </a:r>
            <a:endParaRPr lang="en-US" altLang="zh-CN" dirty="0"/>
          </a:p>
          <a:p>
            <a:pPr marL="457200" lvl="1" indent="0">
              <a:buNone/>
            </a:pP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EEB29C-52ED-4DE0-AC02-3076ED0F2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6E35AD2-BF4D-408C-9C65-DFE15E132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35</a:t>
            </a:fld>
            <a:endParaRPr lang="en-US" altLang="zh-CN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2FAD199A-E9B4-4014-8638-C975E38336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6420632"/>
              </p:ext>
            </p:extLst>
          </p:nvPr>
        </p:nvGraphicFramePr>
        <p:xfrm>
          <a:off x="1398588" y="3100388"/>
          <a:ext cx="6770687" cy="1382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44440" imgH="419040" progId="Equation.DSMT4">
                  <p:embed/>
                </p:oleObj>
              </mc:Choice>
              <mc:Fallback>
                <p:oleObj name="Equation" r:id="rId2" imgW="2044440" imgH="419040" progId="Equation.DSMT4">
                  <p:embed/>
                  <p:pic>
                    <p:nvPicPr>
                      <p:cNvPr id="91" name="对象 90">
                        <a:extLst>
                          <a:ext uri="{FF2B5EF4-FFF2-40B4-BE49-F238E27FC236}">
                            <a16:creationId xmlns:a16="http://schemas.microsoft.com/office/drawing/2014/main" id="{70043DE5-1C29-4F39-B104-727C582E1E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98588" y="3100388"/>
                        <a:ext cx="6770687" cy="1382712"/>
                      </a:xfrm>
                      <a:prstGeom prst="rect">
                        <a:avLst/>
                      </a:prstGeom>
                      <a:ln>
                        <a:solidFill>
                          <a:srgbClr val="C0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5804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251F0A-5732-42FB-AEBA-D572DA74F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Powell</a:t>
            </a:r>
            <a:r>
              <a:rPr lang="zh-CN" altLang="en-US" dirty="0"/>
              <a:t>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4CD5F8-57FC-4631-862C-44E882E4F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迭代步骤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B0B970-77E1-46A6-9B4C-D86145092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DFE5E62-39A1-465F-8DDE-C403F2751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36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6B26184-F357-41A1-A629-B111099DA321}"/>
                  </a:ext>
                </a:extLst>
              </p:cNvPr>
              <p:cNvSpPr txBox="1"/>
              <p:nvPr/>
            </p:nvSpPr>
            <p:spPr>
              <a:xfrm>
                <a:off x="272480" y="1988840"/>
                <a:ext cx="9505056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/>
                  <a:t>维度函数，给定初始点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400" baseline="30000" dirty="0"/>
                  <a:t>(0)</a:t>
                </a:r>
                <a:r>
                  <a:rPr lang="zh-CN" altLang="en-US" sz="2400" dirty="0"/>
                  <a:t>，令迭代轮次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400" baseline="-25000" dirty="0"/>
                  <a:t>0</a:t>
                </a:r>
                <a:r>
                  <a:rPr lang="en-US" altLang="zh-CN" sz="2400" baseline="30000" dirty="0"/>
                  <a:t>(k)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400" baseline="30000" dirty="0"/>
                  <a:t>(0) </a:t>
                </a:r>
                <a:r>
                  <a:rPr lang="zh-CN" altLang="en-US" sz="2400" dirty="0"/>
                  <a:t>，给定收敛精度</a:t>
                </a:r>
                <a14:m>
                  <m:oMath xmlns:m="http://schemas.openxmlformats.org/officeDocument/2006/math"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1,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sz="2400" dirty="0"/>
                  <a:t>。</a:t>
                </a:r>
                <a:endParaRPr lang="en-US" altLang="zh-CN" sz="2400" dirty="0"/>
              </a:p>
              <a:p>
                <a:pPr marL="342900" indent="-342900">
                  <a:buFont typeface="+mj-lt"/>
                  <a:buAutoNum type="arabicPeriod"/>
                </a:pPr>
                <a:endParaRPr lang="en-US" altLang="zh-CN" sz="240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zh-CN" altLang="en-US" sz="2400" dirty="0"/>
                  <a:t>以坐标轴方向作为第一轮的搜索方向，确定搜索方向集合为：</a:t>
                </a:r>
                <a:endParaRPr lang="en-US" altLang="zh-CN" sz="2400" dirty="0"/>
              </a:p>
              <a:p>
                <a:pPr marL="342900" indent="-342900">
                  <a:buFont typeface="+mj-lt"/>
                  <a:buAutoNum type="arabicPeriod"/>
                </a:pPr>
                <a:endParaRPr lang="en-US" altLang="zh-CN" sz="2400" dirty="0"/>
              </a:p>
              <a:p>
                <a:pPr marL="342900" indent="-342900">
                  <a:buFont typeface="+mj-lt"/>
                  <a:buAutoNum type="arabicPeriod"/>
                </a:pPr>
                <a:endParaRPr lang="en-US" altLang="zh-CN" sz="2400" dirty="0"/>
              </a:p>
              <a:p>
                <a:pPr marL="342900" indent="-342900">
                  <a:buFont typeface="+mj-lt"/>
                  <a:buAutoNum type="arabicPeriod"/>
                </a:pPr>
                <a:endParaRPr lang="en-US" altLang="zh-CN" sz="2400" dirty="0"/>
              </a:p>
              <a:p>
                <a:pPr marL="342900" indent="-342900">
                  <a:buFont typeface="+mj-lt"/>
                  <a:buAutoNum type="arabicPeriod"/>
                </a:pPr>
                <a:endParaRPr lang="en-US" altLang="zh-CN" sz="240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zh-CN" altLang="en-US" sz="2400" dirty="0"/>
                  <a:t>从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400" baseline="-25000" dirty="0"/>
                  <a:t>0</a:t>
                </a:r>
                <a:r>
                  <a:rPr lang="en-US" altLang="zh-CN" sz="2400" baseline="30000" dirty="0"/>
                  <a:t>(k)</a:t>
                </a:r>
                <a:r>
                  <a:rPr lang="zh-CN" altLang="en-US" sz="2400" dirty="0"/>
                  <a:t>开始，依次沿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sz="2400" baseline="-25000" dirty="0"/>
                  <a:t>i</a:t>
                </a:r>
                <a:r>
                  <a:rPr lang="en-US" altLang="zh-CN" sz="2400" baseline="30000" dirty="0"/>
                  <a:t>(k)</a:t>
                </a:r>
                <a:r>
                  <a:rPr lang="zh-CN" altLang="en-US" sz="2400" dirty="0"/>
                  <a:t>进行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/>
                  <a:t>次一维搜索，得到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/>
                  <a:t>个一维极小值点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400" baseline="-25000" dirty="0"/>
                  <a:t>i</a:t>
                </a:r>
                <a:r>
                  <a:rPr lang="en-US" altLang="zh-CN" sz="2400" baseline="30000" dirty="0"/>
                  <a:t>(k)</a:t>
                </a:r>
                <a:r>
                  <a:rPr lang="zh-CN" altLang="en-US" sz="2400" dirty="0"/>
                  <a:t>：</a:t>
                </a:r>
                <a:endParaRPr lang="en-US" altLang="zh-CN" sz="2400" dirty="0"/>
              </a:p>
              <a:p>
                <a:pPr marL="342900" indent="-342900">
                  <a:buFont typeface="+mj-lt"/>
                  <a:buAutoNum type="arabicPeriod"/>
                </a:pPr>
                <a:endParaRPr lang="en-US" altLang="zh-CN" sz="24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6B26184-F357-41A1-A629-B111099DA3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480" y="1988840"/>
                <a:ext cx="9505056" cy="4154984"/>
              </a:xfrm>
              <a:prstGeom prst="rect">
                <a:avLst/>
              </a:prstGeom>
              <a:blipFill>
                <a:blip r:embed="rId3"/>
                <a:stretch>
                  <a:fillRect l="-898" t="-11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C69101F9-1F64-468A-B1DF-4F4A63469D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7974743"/>
              </p:ext>
            </p:extLst>
          </p:nvPr>
        </p:nvGraphicFramePr>
        <p:xfrm>
          <a:off x="1717675" y="3551238"/>
          <a:ext cx="6122988" cy="1341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39880" imgH="380880" progId="Equation.DSMT4">
                  <p:embed/>
                </p:oleObj>
              </mc:Choice>
              <mc:Fallback>
                <p:oleObj name="Equation" r:id="rId4" imgW="1739880" imgH="38088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BEB1FF07-25E1-4C7C-999A-29CB310343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17675" y="3551238"/>
                        <a:ext cx="6122988" cy="1341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5D5F41C-2192-44E0-8635-7C817B26AB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0711781"/>
              </p:ext>
            </p:extLst>
          </p:nvPr>
        </p:nvGraphicFramePr>
        <p:xfrm>
          <a:off x="1855502" y="5714968"/>
          <a:ext cx="6124575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39880" imgH="190440" progId="Equation.DSMT4">
                  <p:embed/>
                </p:oleObj>
              </mc:Choice>
              <mc:Fallback>
                <p:oleObj name="Equation" r:id="rId6" imgW="1739880" imgH="19044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AA605BF2-E850-4283-97DD-01A11A753A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855502" y="5714968"/>
                        <a:ext cx="6124575" cy="671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42229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251F0A-5732-42FB-AEBA-D572DA74F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Powell</a:t>
            </a:r>
            <a:r>
              <a:rPr lang="zh-CN" altLang="en-US" dirty="0"/>
              <a:t>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4CD5F8-57FC-4631-862C-44E882E4F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迭代步骤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B0B970-77E1-46A6-9B4C-D86145092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DFE5E62-39A1-465F-8DDE-C403F2751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37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6B26184-F357-41A1-A629-B111099DA321}"/>
                  </a:ext>
                </a:extLst>
              </p:cNvPr>
              <p:cNvSpPr txBox="1"/>
              <p:nvPr/>
            </p:nvSpPr>
            <p:spPr>
              <a:xfrm>
                <a:off x="272480" y="1988840"/>
                <a:ext cx="9505056" cy="42374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zh-CN" altLang="en-US" sz="2400" dirty="0"/>
                  <a:t>计算第</a:t>
                </a:r>
                <a:r>
                  <a:rPr lang="en-US" altLang="zh-CN" sz="2400" dirty="0"/>
                  <a:t>k</a:t>
                </a:r>
                <a:r>
                  <a:rPr lang="zh-CN" altLang="en-US" sz="2400" dirty="0"/>
                  <a:t>轮迭代中函数值下降最大方向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bSup>
                  </m:oMath>
                </a14:m>
                <a:r>
                  <a:rPr lang="zh-CN" altLang="en-US" sz="2400" dirty="0"/>
                  <a:t>和对应的下降量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l-GR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zh-CN" altLang="en-US" sz="2400" i="1">
                        <a:latin typeface="Cambria Math" panose="02040503050406030204" pitchFamily="18" charset="0"/>
                      </a:rPr>
                      <m:t>。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2400" dirty="0"/>
              </a:p>
              <a:p>
                <a:pPr marL="457200" indent="-457200">
                  <a:buFont typeface="+mj-lt"/>
                  <a:buAutoNum type="arabicPeriod" startAt="4"/>
                </a:pPr>
                <a:endParaRPr lang="en-US" altLang="zh-CN" sz="2400" dirty="0"/>
              </a:p>
              <a:p>
                <a:pPr marL="457200" indent="-457200">
                  <a:buFont typeface="+mj-lt"/>
                  <a:buAutoNum type="arabicPeriod" startAt="4"/>
                </a:pPr>
                <a:endParaRPr lang="en-US" altLang="zh-CN" sz="2400" dirty="0"/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zh-CN" altLang="en-US" sz="2400" dirty="0"/>
                  <a:t>判断收敛精度，若</a:t>
                </a:r>
                <a14:m>
                  <m:oMath xmlns:m="http://schemas.openxmlformats.org/officeDocument/2006/math">
                    <m:r>
                      <a:rPr lang="zh-CN" altLang="en-US" sz="2400">
                        <a:latin typeface="Cambria Math" panose="02040503050406030204" pitchFamily="18" charset="0"/>
                      </a:rPr>
                      <m:t>‖</m:t>
                    </m:r>
                    <m:sSubSup>
                      <m:sSub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bSup>
                    <m:r>
                      <a:rPr lang="zh-CN" altLang="en-US" sz="240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bSup>
                    <m:r>
                      <a:rPr lang="zh-CN" altLang="en-US" sz="2400">
                        <a:latin typeface="Cambria Math" panose="02040503050406030204" pitchFamily="18" charset="0"/>
                      </a:rPr>
                      <m:t>‖≤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</m:sub>
                    </m:sSub>
                    <m:r>
                      <m:rPr>
                        <m:nor/>
                      </m:rPr>
                      <a:rPr lang="zh-CN" altLang="en-US" sz="2400" i="1">
                        <a:latin typeface="Cambria Math" panose="02040503050406030204" pitchFamily="18" charset="0"/>
                      </a:rPr>
                      <m:t> 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∧|</m:t>
                    </m:r>
                    <m:f>
                      <m:f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zh-CN" altLang="en-US" sz="2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</m:sup>
                            </m:sSubSup>
                          </m:e>
                        </m:d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</m:sup>
                            </m:sSubSup>
                          </m:e>
                        </m:d>
                      </m:num>
                      <m:den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zh-CN" altLang="en-US" sz="2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</m:sup>
                            </m:sSubSup>
                          </m:e>
                        </m:d>
                      </m:den>
                    </m:f>
                    <m:r>
                      <a:rPr lang="zh-CN" altLang="en-US" sz="2400">
                        <a:latin typeface="Cambria Math" panose="02040503050406030204" pitchFamily="18" charset="0"/>
                      </a:rPr>
                      <m:t>|≤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zh-CN" altLang="en-US" sz="2400" i="1">
                            <a:latin typeface="Cambria Math" panose="02040503050406030204" pitchFamily="18" charset="0"/>
                          </a:rPr>
                          <m:t> </m:t>
                        </m:r>
                      </m:sub>
                    </m:sSub>
                  </m:oMath>
                </a14:m>
                <a:endParaRPr lang="zh-CN" altLang="en-US" sz="2400" dirty="0"/>
              </a:p>
              <a:p>
                <a:pPr lvl="1"/>
                <a:r>
                  <a:rPr lang="zh-CN" altLang="en-US" sz="2400" dirty="0"/>
                  <a:t>则令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bSup>
                  </m:oMath>
                </a14:m>
                <a:r>
                  <a:rPr lang="zh-CN" altLang="en-US" sz="2400" dirty="0"/>
                  <a:t>，迭代结束。否则，转向下一步</a:t>
                </a:r>
              </a:p>
              <a:p>
                <a:pPr lvl="1"/>
                <a:endParaRPr lang="en-US" altLang="zh-CN" sz="2400" dirty="0"/>
              </a:p>
              <a:p>
                <a:pPr marL="342900" indent="-342900">
                  <a:buFont typeface="+mj-lt"/>
                  <a:buAutoNum type="arabicPeriod" startAt="4"/>
                </a:pPr>
                <a:r>
                  <a:rPr lang="zh-CN" altLang="en-US" sz="2400" dirty="0"/>
                  <a:t> 构造共轭方向：连接点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bSup>
                  </m:oMath>
                </a14:m>
                <a:r>
                  <a:rPr lang="zh-CN" altLang="en-US" sz="2400" dirty="0"/>
                  <a:t>与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bSup>
                    <m:r>
                      <a:rPr lang="zh-CN" alt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/>
                  <a:t>，令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bSup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bSup>
                    <m:r>
                      <a:rPr lang="zh-CN" altLang="en-US" sz="240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bSup>
                  </m:oMath>
                </a14:m>
                <a:endParaRPr lang="zh-CN" altLang="en-US" sz="2400" dirty="0"/>
              </a:p>
              <a:p>
                <a:pPr marL="342900" indent="-342900">
                  <a:buFont typeface="+mj-lt"/>
                  <a:buAutoNum type="arabicPeriod" startAt="4"/>
                </a:pPr>
                <a:endParaRPr lang="en-US" altLang="zh-CN" sz="2400" dirty="0"/>
              </a:p>
              <a:p>
                <a:pPr marL="342900" indent="-342900">
                  <a:buFont typeface="+mj-lt"/>
                  <a:buAutoNum type="arabicPeriod" startAt="4"/>
                </a:pPr>
                <a:r>
                  <a:rPr lang="en-US" altLang="zh-CN" sz="2400" dirty="0"/>
                  <a:t> </a:t>
                </a:r>
                <a:r>
                  <a:rPr lang="zh-CN" altLang="en-US" sz="2400" dirty="0"/>
                  <a:t>计算反射点：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bSup>
                    <m:r>
                      <a:rPr lang="zh-CN" altLang="en-US" sz="2400">
                        <a:latin typeface="Cambria Math" panose="02040503050406030204" pitchFamily="18" charset="0"/>
                      </a:rPr>
                      <m:t>=2</m:t>
                    </m:r>
                    <m:sSubSup>
                      <m:sSub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bSup>
                    <m:r>
                      <a:rPr lang="zh-CN" altLang="en-US" sz="240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bSup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6B26184-F357-41A1-A629-B111099DA3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480" y="1988840"/>
                <a:ext cx="9505056" cy="4237442"/>
              </a:xfrm>
              <a:prstGeom prst="rect">
                <a:avLst/>
              </a:prstGeom>
              <a:blipFill>
                <a:blip r:embed="rId3"/>
                <a:stretch>
                  <a:fillRect l="-898" b="-20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7EDA94FB-B35A-473E-B094-C19E01CF7C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9494422"/>
              </p:ext>
            </p:extLst>
          </p:nvPr>
        </p:nvGraphicFramePr>
        <p:xfrm>
          <a:off x="2216696" y="2492896"/>
          <a:ext cx="5040560" cy="789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36480" imgH="241200" progId="Equation.DSMT4">
                  <p:embed/>
                </p:oleObj>
              </mc:Choice>
              <mc:Fallback>
                <p:oleObj name="Equation" r:id="rId4" imgW="1536480" imgH="24120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222ABD24-C48E-491D-A26B-45937263FD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16696" y="2492896"/>
                        <a:ext cx="5040560" cy="7891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62113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251F0A-5732-42FB-AEBA-D572DA74F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Powell</a:t>
            </a:r>
            <a:r>
              <a:rPr lang="zh-CN" altLang="en-US" dirty="0"/>
              <a:t>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4CD5F8-57FC-4631-862C-44E882E4F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迭代步骤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B0B970-77E1-46A6-9B4C-D86145092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DFE5E62-39A1-465F-8DDE-C403F2751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38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6B26184-F357-41A1-A629-B111099DA321}"/>
                  </a:ext>
                </a:extLst>
              </p:cNvPr>
              <p:cNvSpPr txBox="1"/>
              <p:nvPr/>
            </p:nvSpPr>
            <p:spPr>
              <a:xfrm>
                <a:off x="296457" y="1988840"/>
                <a:ext cx="9505056" cy="51469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8"/>
                </a:pPr>
                <a:r>
                  <a:rPr lang="en-US" altLang="zh-CN" sz="2400" dirty="0"/>
                  <a:t>Powell</a:t>
                </a:r>
                <a:r>
                  <a:rPr lang="zh-CN" altLang="en-US" sz="2400" dirty="0"/>
                  <a:t>条件判断：</a:t>
                </a:r>
                <a:endParaRPr lang="en-US" altLang="zh-CN" sz="2400" dirty="0"/>
              </a:p>
              <a:p>
                <a:pPr marL="457200" indent="-457200">
                  <a:buFont typeface="+mj-lt"/>
                  <a:buAutoNum type="arabicPeriod" startAt="8"/>
                </a:pPr>
                <a:endParaRPr lang="en-US" altLang="zh-CN" sz="2400" dirty="0"/>
              </a:p>
              <a:p>
                <a:pPr marL="457200" indent="-457200">
                  <a:buFont typeface="+mj-lt"/>
                  <a:buAutoNum type="arabicPeriod" startAt="8"/>
                </a:pPr>
                <a:endParaRPr lang="en-US" altLang="zh-CN" sz="2400" dirty="0"/>
              </a:p>
              <a:p>
                <a:pPr marL="457200" indent="-457200">
                  <a:buFont typeface="+mj-lt"/>
                  <a:buAutoNum type="arabicPeriod" startAt="8"/>
                </a:pPr>
                <a:endParaRPr lang="en-US" altLang="zh-CN" sz="2400" dirty="0"/>
              </a:p>
              <a:p>
                <a:pPr lvl="1"/>
                <a:endParaRPr lang="en-US" altLang="zh-CN" sz="2400" dirty="0"/>
              </a:p>
              <a:p>
                <a:pPr marL="914400" lvl="1" indent="-457200">
                  <a:buFont typeface="+mj-ea"/>
                  <a:buAutoNum type="circleNumDbPlain"/>
                </a:pPr>
                <a:r>
                  <a:rPr lang="zh-CN" altLang="en-US" sz="2400" dirty="0"/>
                  <a:t>如果不满足，不进行方向替换，仍然使用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2400" dirty="0"/>
                  <a:t>轮迭代的方向组进行迭代：</a:t>
                </a:r>
                <a:endParaRPr lang="en-US" altLang="zh-CN" sz="2400" dirty="0"/>
              </a:p>
              <a:p>
                <a:pPr lvl="1"/>
                <a:r>
                  <a:rPr lang="en-US" altLang="zh-CN" sz="2400" dirty="0"/>
                  <a:t>	</a:t>
                </a:r>
                <a:r>
                  <a:rPr lang="zh-CN" altLang="en-US" sz="2400" dirty="0"/>
                  <a:t>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240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sz="2400" dirty="0"/>
                  <a:t>， 令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b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bSup>
                  </m:oMath>
                </a14:m>
                <a:r>
                  <a:rPr lang="zh-CN" altLang="en-US" sz="2400" dirty="0"/>
                  <a:t>，否则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b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bSup>
                  </m:oMath>
                </a14:m>
                <a:r>
                  <a:rPr lang="zh-CN" altLang="en-US" sz="2400" dirty="0"/>
                  <a:t> 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/>
                  <a:t>，转向步骤</a:t>
                </a:r>
                <a:r>
                  <a:rPr lang="en-US" altLang="zh-CN" sz="2400" dirty="0"/>
                  <a:t>3</a:t>
                </a:r>
                <a:r>
                  <a:rPr lang="zh-CN" altLang="en-US" sz="2400" dirty="0"/>
                  <a:t>，进行第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/>
                  <a:t>轮迭代。</a:t>
                </a:r>
                <a:endParaRPr lang="en-US" altLang="zh-CN" sz="2400" dirty="0"/>
              </a:p>
              <a:p>
                <a:pPr lvl="1"/>
                <a:endParaRPr lang="en-US" altLang="zh-CN" sz="2400" dirty="0"/>
              </a:p>
              <a:p>
                <a:pPr marL="914400" lvl="1" indent="-457200">
                  <a:buFont typeface="+mj-ea"/>
                  <a:buAutoNum type="circleNumDbPlain" startAt="2"/>
                </a:pPr>
                <a:r>
                  <a:rPr lang="zh-CN" altLang="en-US" sz="2400" dirty="0"/>
                  <a:t>如果满足</a:t>
                </a:r>
                <a:r>
                  <a:rPr lang="en-US" altLang="zh-CN" sz="2400" dirty="0"/>
                  <a:t>Powell</a:t>
                </a:r>
                <a:r>
                  <a:rPr lang="zh-CN" altLang="en-US" sz="2400" dirty="0"/>
                  <a:t>，则取共轭方向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bSup>
                    <m:r>
                      <a:rPr lang="zh-CN" alt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/>
                  <a:t>，沿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bSup>
                  </m:oMath>
                </a14:m>
                <a:r>
                  <a:rPr lang="zh-CN" altLang="en-US" sz="2400" dirty="0"/>
                  <a:t>进行一维搜索得到极小值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bSup>
                  </m:oMath>
                </a14:m>
                <a:r>
                  <a:rPr lang="zh-CN" altLang="en-US" sz="2400" dirty="0"/>
                  <a:t>，转向步骤</a:t>
                </a:r>
                <a:r>
                  <a:rPr lang="en-US" altLang="zh-CN" sz="2400" dirty="0"/>
                  <a:t>9.  </a:t>
                </a:r>
              </a:p>
              <a:p>
                <a:pPr lvl="1"/>
                <a:endParaRPr lang="en-US" altLang="zh-CN" sz="24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6B26184-F357-41A1-A629-B111099DA3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457" y="1988840"/>
                <a:ext cx="9505056" cy="5146922"/>
              </a:xfrm>
              <a:prstGeom prst="rect">
                <a:avLst/>
              </a:prstGeom>
              <a:blipFill>
                <a:blip r:embed="rId3"/>
                <a:stretch>
                  <a:fillRect l="-898" t="-947" r="-9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FEA84638-3CDC-48D7-9EB6-C3F2F88E3D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0213978"/>
              </p:ext>
            </p:extLst>
          </p:nvPr>
        </p:nvGraphicFramePr>
        <p:xfrm>
          <a:off x="1836738" y="2428875"/>
          <a:ext cx="6424612" cy="1465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22280" imgH="507960" progId="Equation.DSMT4">
                  <p:embed/>
                </p:oleObj>
              </mc:Choice>
              <mc:Fallback>
                <p:oleObj name="Equation" r:id="rId4" imgW="2222280" imgH="50796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FEA84638-3CDC-48D7-9EB6-C3F2F88E3D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36738" y="2428875"/>
                        <a:ext cx="6424612" cy="1465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52121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251F0A-5732-42FB-AEBA-D572DA74F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Powell</a:t>
            </a:r>
            <a:r>
              <a:rPr lang="zh-CN" altLang="en-US" dirty="0"/>
              <a:t>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4CD5F8-57FC-4631-862C-44E882E4F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迭代步骤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B0B970-77E1-46A6-9B4C-D86145092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DFE5E62-39A1-465F-8DDE-C403F2751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39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6B26184-F357-41A1-A629-B111099DA321}"/>
                  </a:ext>
                </a:extLst>
              </p:cNvPr>
              <p:cNvSpPr txBox="1"/>
              <p:nvPr/>
            </p:nvSpPr>
            <p:spPr>
              <a:xfrm>
                <a:off x="296457" y="1988840"/>
                <a:ext cx="9505056" cy="28571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9"/>
                </a:pPr>
                <a:r>
                  <a:rPr lang="zh-CN" altLang="en-US" sz="2400" dirty="0"/>
                  <a:t>令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b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bSup>
                  </m:oMath>
                </a14:m>
                <a:r>
                  <a:rPr lang="zh-CN" altLang="en-US" sz="2400" dirty="0"/>
                  <a:t>，进行方向替换，对于第</a:t>
                </a:r>
                <a:r>
                  <a:rPr lang="en-US" altLang="zh-CN" sz="2400" dirty="0"/>
                  <a:t>k+1</a:t>
                </a:r>
                <a:r>
                  <a:rPr lang="zh-CN" altLang="en-US" sz="2400" dirty="0"/>
                  <a:t>轮迭代，其方向组表示为：</a:t>
                </a:r>
                <a:endParaRPr lang="en-US" altLang="zh-CN" sz="2400" dirty="0"/>
              </a:p>
              <a:p>
                <a:pPr marL="457200" indent="-457200">
                  <a:buFont typeface="+mj-lt"/>
                  <a:buAutoNum type="arabicPeriod" startAt="9"/>
                </a:pPr>
                <a:endParaRPr lang="en-US" altLang="zh-CN" sz="2400" dirty="0"/>
              </a:p>
              <a:p>
                <a:pPr marL="457200" indent="-457200">
                  <a:buFont typeface="+mj-lt"/>
                  <a:buAutoNum type="arabicPeriod" startAt="9"/>
                </a:pPr>
                <a:endParaRPr lang="en-US" altLang="zh-CN" sz="2400" dirty="0"/>
              </a:p>
              <a:p>
                <a:pPr marL="457200" indent="-457200">
                  <a:buFont typeface="+mj-lt"/>
                  <a:buAutoNum type="arabicPeriod" startAt="9"/>
                </a:pPr>
                <a:endParaRPr lang="en-US" altLang="zh-CN" sz="2400" dirty="0"/>
              </a:p>
              <a:p>
                <a:pPr lvl="1"/>
                <a:r>
                  <a:rPr lang="zh-CN" altLang="en-US" sz="2400" dirty="0"/>
                  <a:t>令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sup>
                    </m:sSub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bSup>
                    <m:r>
                      <a:rPr lang="zh-CN" alt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/>
                  <a:t>，</a:t>
                </a: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/>
                  <a:t>，转向步骤</a:t>
                </a:r>
                <a:r>
                  <a:rPr lang="en-US" altLang="zh-CN" sz="2400" dirty="0"/>
                  <a:t>3</a:t>
                </a:r>
                <a:r>
                  <a:rPr lang="zh-CN" altLang="en-US" sz="2400" dirty="0"/>
                  <a:t>，进行第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/>
                  <a:t>轮迭代。</a:t>
                </a:r>
                <a:endParaRPr lang="en-US" altLang="zh-CN" sz="2400" dirty="0"/>
              </a:p>
              <a:p>
                <a:pPr marL="342900" indent="-342900">
                  <a:buFont typeface="+mj-lt"/>
                  <a:buAutoNum type="arabicPeriod" startAt="9"/>
                </a:pPr>
                <a:endParaRPr lang="en-US" altLang="zh-CN" sz="24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6B26184-F357-41A1-A629-B111099DA3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457" y="1988840"/>
                <a:ext cx="9505056" cy="2857192"/>
              </a:xfrm>
              <a:prstGeom prst="rect">
                <a:avLst/>
              </a:prstGeom>
              <a:blipFill>
                <a:blip r:embed="rId3"/>
                <a:stretch>
                  <a:fillRect l="-8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B8D65221-05BC-4314-A813-D177AF3EDA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3618411"/>
              </p:ext>
            </p:extLst>
          </p:nvPr>
        </p:nvGraphicFramePr>
        <p:xfrm>
          <a:off x="1856656" y="2552403"/>
          <a:ext cx="4350257" cy="126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28800" imgH="533160" progId="Equation.DSMT4">
                  <p:embed/>
                </p:oleObj>
              </mc:Choice>
              <mc:Fallback>
                <p:oleObj name="Equation" r:id="rId4" imgW="1828800" imgH="533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56656" y="2552403"/>
                        <a:ext cx="4350257" cy="1268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2092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0E4407-BA1B-410F-838E-BB69CA7F9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Powell</a:t>
            </a:r>
            <a:r>
              <a:rPr lang="zh-CN" altLang="en-US" dirty="0"/>
              <a:t>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756BAC1-297F-4FFD-8E7E-149F57ADE0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例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：</a:t>
                </a:r>
                <a:r>
                  <a:rPr lang="en-US" altLang="zh-CN" dirty="0"/>
                  <a:t>(P52-</a:t>
                </a:r>
                <a:r>
                  <a:rPr lang="zh-CN" altLang="en-US" dirty="0"/>
                  <a:t>例</a:t>
                </a:r>
                <a:r>
                  <a:rPr lang="en-US" altLang="zh-CN" dirty="0"/>
                  <a:t>4-2)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Powell</a:t>
                </a:r>
                <a:r>
                  <a:rPr lang="zh-CN" altLang="en-US" dirty="0"/>
                  <a:t>法求解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已知初始点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d>
                          <m:d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1,1</m:t>
                            </m:r>
                          </m:e>
                        </m:d>
                      </m:e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dirty="0"/>
                  <a:t>，收敛精度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>
                        <a:latin typeface="Cambria Math" panose="02040503050406030204" pitchFamily="18" charset="0"/>
                      </a:rPr>
                      <m:t>=0.1</m:t>
                    </m:r>
                  </m:oMath>
                </a14:m>
                <a:r>
                  <a:rPr lang="zh-CN" altLang="en-US" dirty="0"/>
                  <a:t>，用</a:t>
                </a:r>
                <a:r>
                  <a:rPr lang="en-US" altLang="zh-CN" dirty="0"/>
                  <a:t>Powell</a:t>
                </a:r>
                <a:r>
                  <a:rPr lang="zh-CN" altLang="en-US" dirty="0"/>
                  <a:t>法求解下面无约束优化问题的极值点。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756BAC1-297F-4FFD-8E7E-149F57ADE0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66" t="-2083" r="-57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DE1046-A1E5-48CD-A22E-7A55DAE03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114D556-D4F7-45CE-8961-566BD679F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40</a:t>
            </a:fld>
            <a:endParaRPr lang="en-US" altLang="zh-CN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E212E4B0-2458-4E65-9420-86DE1F812D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2368524"/>
              </p:ext>
            </p:extLst>
          </p:nvPr>
        </p:nvGraphicFramePr>
        <p:xfrm>
          <a:off x="1568624" y="3004778"/>
          <a:ext cx="7368066" cy="848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95200" imgH="241200" progId="Equation.DSMT4">
                  <p:embed/>
                </p:oleObj>
              </mc:Choice>
              <mc:Fallback>
                <p:oleObj name="Equation" r:id="rId4" imgW="20952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68624" y="3004778"/>
                        <a:ext cx="7368066" cy="8484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88826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5DEBEE-FF77-4AD1-9132-F37361805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2</a:t>
            </a:r>
            <a:r>
              <a:rPr lang="zh-CN" altLang="en-US" dirty="0"/>
              <a:t>：解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35AE77-6AA2-4541-893B-12E2F8AFE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3D18AE5-9C83-4E0B-A20E-3DD678A24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41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77707B8-2916-4D7F-B2E9-B8782E949A41}"/>
                  </a:ext>
                </a:extLst>
              </p:cNvPr>
              <p:cNvSpPr txBox="1"/>
              <p:nvPr/>
            </p:nvSpPr>
            <p:spPr>
              <a:xfrm>
                <a:off x="58044" y="1268760"/>
                <a:ext cx="9719492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1. 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/>
                  <a:t>维度函数，给定初始点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400" baseline="30000" dirty="0"/>
                  <a:t>(0)</a:t>
                </a:r>
                <a:r>
                  <a:rPr lang="zh-CN" altLang="en-US" sz="2400" dirty="0"/>
                  <a:t>，令迭代轮次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400" baseline="-25000" dirty="0"/>
                  <a:t>0</a:t>
                </a:r>
                <a:r>
                  <a:rPr lang="en-US" altLang="zh-CN" sz="2400" baseline="30000" dirty="0"/>
                  <a:t>(k)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400" baseline="30000" dirty="0"/>
                  <a:t>(0) </a:t>
                </a:r>
                <a:r>
                  <a:rPr lang="zh-CN" altLang="en-US" sz="2400" dirty="0"/>
                  <a:t>，给定收敛精度</a:t>
                </a:r>
                <a14:m>
                  <m:oMath xmlns:m="http://schemas.openxmlformats.org/officeDocument/2006/math"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1,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sz="2400" dirty="0"/>
                  <a:t>。</a:t>
                </a:r>
                <a:endParaRPr lang="en-US" altLang="zh-CN" sz="2400" dirty="0"/>
              </a:p>
              <a:p>
                <a:pPr lvl="1"/>
                <a:endParaRPr lang="en-US" altLang="zh-CN" sz="2400" dirty="0"/>
              </a:p>
              <a:p>
                <a:pPr marL="342900" indent="-342900">
                  <a:buFont typeface="+mj-lt"/>
                  <a:buAutoNum type="arabicPeriod"/>
                </a:pPr>
                <a:endParaRPr lang="en-US" altLang="zh-CN" sz="2400" dirty="0"/>
              </a:p>
              <a:p>
                <a:r>
                  <a:rPr lang="en-US" altLang="zh-CN" sz="2400" dirty="0"/>
                  <a:t>2.  </a:t>
                </a:r>
                <a:r>
                  <a:rPr lang="zh-CN" altLang="en-US" sz="2400" dirty="0"/>
                  <a:t>以坐标轴方向作为第一轮的搜索方向，确定搜索方向集合为：</a:t>
                </a:r>
                <a:endParaRPr lang="en-US" altLang="zh-CN" sz="2400" dirty="0"/>
              </a:p>
              <a:p>
                <a:pPr marL="342900" indent="-342900">
                  <a:buFont typeface="+mj-lt"/>
                  <a:buAutoNum type="arabicPeriod"/>
                </a:pPr>
                <a:endParaRPr lang="en-US" altLang="zh-CN" sz="2400" dirty="0"/>
              </a:p>
              <a:p>
                <a:pPr marL="342900" indent="-342900">
                  <a:buFont typeface="+mj-lt"/>
                  <a:buAutoNum type="arabicPeriod"/>
                </a:pPr>
                <a:endParaRPr lang="en-US" altLang="zh-CN" sz="2400" dirty="0"/>
              </a:p>
              <a:p>
                <a:r>
                  <a:rPr lang="en-US" altLang="zh-CN" sz="2400" dirty="0"/>
                  <a:t>3.  </a:t>
                </a:r>
                <a:r>
                  <a:rPr lang="zh-CN" altLang="en-US" sz="2400" dirty="0"/>
                  <a:t>从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400" baseline="-25000" dirty="0"/>
                  <a:t>0</a:t>
                </a:r>
                <a:r>
                  <a:rPr lang="en-US" altLang="zh-CN" sz="2400" baseline="30000" dirty="0"/>
                  <a:t>(1)</a:t>
                </a:r>
                <a:r>
                  <a:rPr lang="zh-CN" altLang="en-US" sz="2400" dirty="0"/>
                  <a:t>开始，依次沿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sz="2400" baseline="-25000" dirty="0"/>
                  <a:t>0</a:t>
                </a:r>
                <a:r>
                  <a:rPr lang="en-US" altLang="zh-CN" sz="2400" baseline="30000" dirty="0"/>
                  <a:t>(1)</a:t>
                </a:r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sz="2400" baseline="-25000" dirty="0"/>
                  <a:t>1</a:t>
                </a:r>
                <a:r>
                  <a:rPr lang="en-US" altLang="zh-CN" sz="2400" baseline="30000" dirty="0"/>
                  <a:t>(1)</a:t>
                </a:r>
                <a:r>
                  <a:rPr lang="zh-CN" altLang="en-US" sz="2400" dirty="0"/>
                  <a:t>进行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zh-CN" altLang="en-US" sz="2400" dirty="0"/>
                  <a:t>次一维搜索，得到</a:t>
                </a:r>
                <a:r>
                  <a:rPr lang="en-US" altLang="zh-CN" sz="2400" dirty="0"/>
                  <a:t>2</a:t>
                </a:r>
                <a:r>
                  <a:rPr lang="zh-CN" altLang="en-US" sz="2400" dirty="0"/>
                  <a:t>个一维极小值点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nor/>
                      </m:rPr>
                      <a:rPr lang="en-US" altLang="zh-CN" sz="2400" b="0" i="0" baseline="-25000" dirty="0" smtClean="0"/>
                      <m:t>1</m:t>
                    </m:r>
                    <m:r>
                      <m:rPr>
                        <m:nor/>
                      </m:rPr>
                      <a:rPr lang="en-US" altLang="zh-CN" sz="2400" baseline="30000" dirty="0"/>
                      <m:t>(1)</m:t>
                    </m:r>
                    <m:r>
                      <m:rPr>
                        <m:nor/>
                      </m:rPr>
                      <a:rPr lang="zh-CN" altLang="en-US" sz="2400" dirty="0"/>
                      <m:t>，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nor/>
                      </m:rPr>
                      <a:rPr lang="en-US" altLang="zh-CN" sz="2400" b="0" i="0" baseline="-25000" dirty="0" smtClean="0"/>
                      <m:t>2</m:t>
                    </m:r>
                    <m:r>
                      <m:rPr>
                        <m:nor/>
                      </m:rPr>
                      <a:rPr lang="en-US" altLang="zh-CN" sz="2400" baseline="30000" dirty="0"/>
                      <m:t>(1)</m:t>
                    </m:r>
                  </m:oMath>
                </a14:m>
                <a:r>
                  <a:rPr lang="zh-CN" altLang="en-US" sz="2400" dirty="0"/>
                  <a:t>：</a:t>
                </a:r>
                <a:endParaRPr lang="en-US" altLang="zh-CN" sz="2400" dirty="0"/>
              </a:p>
              <a:p>
                <a:pPr marL="342900" indent="-342900">
                  <a:buFont typeface="+mj-lt"/>
                  <a:buAutoNum type="arabicPeriod"/>
                </a:pPr>
                <a:endParaRPr lang="en-US" altLang="zh-CN" sz="24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77707B8-2916-4D7F-B2E9-B8782E949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44" y="1268760"/>
                <a:ext cx="9719492" cy="3785652"/>
              </a:xfrm>
              <a:prstGeom prst="rect">
                <a:avLst/>
              </a:prstGeom>
              <a:blipFill>
                <a:blip r:embed="rId3"/>
                <a:stretch>
                  <a:fillRect l="-1004" t="-12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38AB6727-DF23-49E3-9A1E-253563E3F07B}"/>
                  </a:ext>
                </a:extLst>
              </p:cNvPr>
              <p:cNvSpPr/>
              <p:nvPr/>
            </p:nvSpPr>
            <p:spPr>
              <a:xfrm>
                <a:off x="992560" y="2132856"/>
                <a:ext cx="7272808" cy="48667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d>
                              <m:dPr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sup>
                        </m:sSup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>
                                    <a:latin typeface="Cambria Math" panose="02040503050406030204" pitchFamily="18" charset="0"/>
                                  </a:rPr>
                                  <m:t>1,1</m:t>
                                </m:r>
                              </m:e>
                            </m:d>
                          </m:e>
                          <m:sup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zh-CN" altLang="en-US" sz="2400" dirty="0"/>
                          <m:t>，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2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2400">
                        <a:latin typeface="Cambria Math" panose="02040503050406030204" pitchFamily="18" charset="0"/>
                      </a:rPr>
                      <m:t>=0.1</m:t>
                    </m:r>
                  </m:oMath>
                </a14:m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400" dirty="0"/>
                  <a:t>，</a:t>
                </a: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400" baseline="-25000" dirty="0"/>
                  <a:t>0</a:t>
                </a:r>
                <a:r>
                  <a:rPr lang="en-US" altLang="zh-CN" sz="2400" baseline="30000" dirty="0"/>
                  <a:t>(k)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400" baseline="30000" dirty="0"/>
                  <a:t>(0)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38AB6727-DF23-49E3-9A1E-253563E3F0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560" y="2132856"/>
                <a:ext cx="7272808" cy="486672"/>
              </a:xfrm>
              <a:prstGeom prst="rect">
                <a:avLst/>
              </a:prstGeom>
              <a:blipFill>
                <a:blip r:embed="rId4"/>
                <a:stretch>
                  <a:fillRect t="-3659" b="-256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4D2A437-C8DA-4B7C-9DCB-FA13B49507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5035859"/>
              </p:ext>
            </p:extLst>
          </p:nvPr>
        </p:nvGraphicFramePr>
        <p:xfrm>
          <a:off x="2479890" y="132284"/>
          <a:ext cx="7368066" cy="848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95200" imgH="241200" progId="Equation.DSMT4">
                  <p:embed/>
                </p:oleObj>
              </mc:Choice>
              <mc:Fallback>
                <p:oleObj name="Equation" r:id="rId5" imgW="2095200" imgH="2412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E212E4B0-2458-4E65-9420-86DE1F812D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79890" y="132284"/>
                        <a:ext cx="7368066" cy="8484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FE7E6D31-6260-4D10-ABAB-F3792D094B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8929628"/>
              </p:ext>
            </p:extLst>
          </p:nvPr>
        </p:nvGraphicFramePr>
        <p:xfrm>
          <a:off x="974801" y="3219391"/>
          <a:ext cx="6210447" cy="5675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361960" imgH="215640" progId="Equation.DSMT4">
                  <p:embed/>
                </p:oleObj>
              </mc:Choice>
              <mc:Fallback>
                <p:oleObj name="Equation" r:id="rId7" imgW="2361960" imgH="21564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C69101F9-1F64-468A-B1DF-4F4A63469D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74801" y="3219391"/>
                        <a:ext cx="6210447" cy="567556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990E0448-B9CA-476B-A49B-8294A5C21B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8733906"/>
              </p:ext>
            </p:extLst>
          </p:nvPr>
        </p:nvGraphicFramePr>
        <p:xfrm>
          <a:off x="992560" y="5069980"/>
          <a:ext cx="6743700" cy="1438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565360" imgH="545760" progId="Equation.DSMT4">
                  <p:embed/>
                </p:oleObj>
              </mc:Choice>
              <mc:Fallback>
                <p:oleObj name="Equation" r:id="rId9" imgW="2565360" imgH="54576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FE7E6D31-6260-4D10-ABAB-F3792D094B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92560" y="5069980"/>
                        <a:ext cx="6743700" cy="1438275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9FC18B5-C049-4206-9185-391DDDA51B66}"/>
                  </a:ext>
                </a:extLst>
              </p:cNvPr>
              <p:cNvSpPr txBox="1"/>
              <p:nvPr/>
            </p:nvSpPr>
            <p:spPr>
              <a:xfrm>
                <a:off x="344488" y="4600531"/>
                <a:ext cx="468711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/>
                  <a:t>(3.1)</a:t>
                </a:r>
                <a:r>
                  <a:rPr lang="zh-CN" altLang="en-US" sz="2400" dirty="0"/>
                  <a:t>沿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sz="2400" baseline="-25000" dirty="0"/>
                  <a:t>0</a:t>
                </a:r>
                <a:r>
                  <a:rPr lang="en-US" altLang="zh-CN" sz="2400" baseline="30000" dirty="0"/>
                  <a:t>(1)</a:t>
                </a:r>
                <a:r>
                  <a:rPr lang="zh-CN" altLang="en-US" sz="2400" dirty="0"/>
                  <a:t>搜索得到极小值点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nor/>
                      </m:rPr>
                      <a:rPr lang="en-US" altLang="zh-CN" sz="2400" baseline="-25000" dirty="0"/>
                      <m:t>1</m:t>
                    </m:r>
                    <m:r>
                      <m:rPr>
                        <m:nor/>
                      </m:rPr>
                      <a:rPr lang="en-US" altLang="zh-CN" sz="2400" baseline="30000" dirty="0"/>
                      <m:t>(1)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9FC18B5-C049-4206-9185-391DDDA51B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88" y="4600531"/>
                <a:ext cx="4687117" cy="461665"/>
              </a:xfrm>
              <a:prstGeom prst="rect">
                <a:avLst/>
              </a:prstGeom>
              <a:blipFill>
                <a:blip r:embed="rId11"/>
                <a:stretch>
                  <a:fillRect l="-2083" t="-10667" b="-3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6308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5DEBEE-FF77-4AD1-9132-F37361805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2</a:t>
            </a:r>
            <a:r>
              <a:rPr lang="zh-CN" altLang="en-US" dirty="0"/>
              <a:t>：解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35AE77-6AA2-4541-893B-12E2F8AFE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3D18AE5-9C83-4E0B-A20E-3DD678A24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42</a:t>
            </a:fld>
            <a:endParaRPr lang="en-US" altLang="zh-CN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4D2A437-C8DA-4B7C-9DCB-FA13B49507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79890" y="132284"/>
          <a:ext cx="7368066" cy="848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95200" imgH="241200" progId="Equation.DSMT4">
                  <p:embed/>
                </p:oleObj>
              </mc:Choice>
              <mc:Fallback>
                <p:oleObj name="Equation" r:id="rId2" imgW="2095200" imgH="2412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A4D2A437-C8DA-4B7C-9DCB-FA13B49507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79890" y="132284"/>
                        <a:ext cx="7368066" cy="8484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990E0448-B9CA-476B-A49B-8294A5C21B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1431917"/>
              </p:ext>
            </p:extLst>
          </p:nvPr>
        </p:nvGraphicFramePr>
        <p:xfrm>
          <a:off x="992560" y="1957740"/>
          <a:ext cx="6743700" cy="1538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65360" imgH="583920" progId="Equation.DSMT4">
                  <p:embed/>
                </p:oleObj>
              </mc:Choice>
              <mc:Fallback>
                <p:oleObj name="Equation" r:id="rId4" imgW="2565360" imgH="5839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990E0448-B9CA-476B-A49B-8294A5C21B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92560" y="1957740"/>
                        <a:ext cx="6743700" cy="1538287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9FC18B5-C049-4206-9185-391DDDA51B66}"/>
                  </a:ext>
                </a:extLst>
              </p:cNvPr>
              <p:cNvSpPr txBox="1"/>
              <p:nvPr/>
            </p:nvSpPr>
            <p:spPr>
              <a:xfrm>
                <a:off x="416496" y="1095127"/>
                <a:ext cx="517481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/>
                  <a:t>(3.1)</a:t>
                </a:r>
                <a:r>
                  <a:rPr lang="zh-CN" altLang="en-US" sz="2400" dirty="0"/>
                  <a:t>沿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sz="2400" baseline="-25000" dirty="0"/>
                  <a:t>0</a:t>
                </a:r>
                <a:r>
                  <a:rPr lang="en-US" altLang="zh-CN" sz="2400" baseline="30000" dirty="0"/>
                  <a:t>(1)</a:t>
                </a:r>
                <a:r>
                  <a:rPr lang="zh-CN" altLang="en-US" sz="2400" dirty="0"/>
                  <a:t>搜索得到极小值点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nor/>
                      </m:rPr>
                      <a:rPr lang="en-US" altLang="zh-CN" sz="2400" baseline="-25000" dirty="0"/>
                      <m:t>1</m:t>
                    </m:r>
                    <m:r>
                      <m:rPr>
                        <m:nor/>
                      </m:rPr>
                      <a:rPr lang="en-US" altLang="zh-CN" sz="2400" baseline="30000" dirty="0"/>
                      <m:t>(1)</m:t>
                    </m:r>
                  </m:oMath>
                </a14:m>
                <a:endParaRPr lang="en-US" altLang="zh-CN" sz="2400" dirty="0"/>
              </a:p>
              <a:p>
                <a:r>
                  <a:rPr lang="en-US" altLang="zh-CN" sz="2400" dirty="0"/>
                  <a:t>     </a:t>
                </a:r>
                <a:r>
                  <a:rPr lang="zh-CN" altLang="en-US" sz="2400" dirty="0"/>
                  <a:t>由于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nor/>
                      </m:rPr>
                      <a:rPr lang="en-US" altLang="zh-CN" sz="2400" baseline="-25000" dirty="0"/>
                      <m:t>1</m:t>
                    </m:r>
                    <m:r>
                      <m:rPr>
                        <m:nor/>
                      </m:rPr>
                      <a:rPr lang="en-US" altLang="zh-CN" sz="2400" baseline="30000" dirty="0"/>
                      <m:t>(1)</m:t>
                    </m:r>
                  </m:oMath>
                </a14:m>
                <a:r>
                  <a:rPr lang="zh-CN" altLang="en-US" sz="2400" dirty="0"/>
                  <a:t>处取得极小值，所以有：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9FC18B5-C049-4206-9185-391DDDA51B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496" y="1095127"/>
                <a:ext cx="5174815" cy="830997"/>
              </a:xfrm>
              <a:prstGeom prst="rect">
                <a:avLst/>
              </a:prstGeom>
              <a:blipFill>
                <a:blip r:embed="rId7"/>
                <a:stretch>
                  <a:fillRect l="-1767" t="-5882" r="-942" b="-16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7550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5DEBEE-FF77-4AD1-9132-F37361805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2</a:t>
            </a:r>
            <a:r>
              <a:rPr lang="zh-CN" altLang="en-US" dirty="0"/>
              <a:t>：解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35AE77-6AA2-4541-893B-12E2F8AFE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3D18AE5-9C83-4E0B-A20E-3DD678A24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43</a:t>
            </a:fld>
            <a:endParaRPr lang="en-US" altLang="zh-CN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4D2A437-C8DA-4B7C-9DCB-FA13B49507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79890" y="132284"/>
          <a:ext cx="7368066" cy="848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95200" imgH="241200" progId="Equation.DSMT4">
                  <p:embed/>
                </p:oleObj>
              </mc:Choice>
              <mc:Fallback>
                <p:oleObj name="Equation" r:id="rId2" imgW="2095200" imgH="2412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A4D2A437-C8DA-4B7C-9DCB-FA13B49507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79890" y="132284"/>
                        <a:ext cx="7368066" cy="8484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6BF74CD-2084-4895-B90A-D22997CA6DE8}"/>
                  </a:ext>
                </a:extLst>
              </p:cNvPr>
              <p:cNvSpPr txBox="1"/>
              <p:nvPr/>
            </p:nvSpPr>
            <p:spPr>
              <a:xfrm>
                <a:off x="416496" y="1052736"/>
                <a:ext cx="617470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/>
                  <a:t>(3.2)</a:t>
                </a:r>
                <a:r>
                  <a:rPr lang="zh-CN" altLang="en-US" sz="2400" dirty="0"/>
                  <a:t>从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nor/>
                      </m:rPr>
                      <a:rPr lang="en-US" altLang="zh-CN" sz="2400" baseline="-25000" dirty="0"/>
                      <m:t>1</m:t>
                    </m:r>
                    <m:r>
                      <m:rPr>
                        <m:nor/>
                      </m:rPr>
                      <a:rPr lang="en-US" altLang="zh-CN" sz="2400" baseline="30000" dirty="0"/>
                      <m:t>(1)</m:t>
                    </m:r>
                  </m:oMath>
                </a14:m>
                <a:r>
                  <a:rPr lang="zh-CN" altLang="en-US" sz="2400" dirty="0"/>
                  <a:t>出发沿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sz="2400" baseline="-25000" dirty="0"/>
                  <a:t>1</a:t>
                </a:r>
                <a:r>
                  <a:rPr lang="en-US" altLang="zh-CN" sz="2400" baseline="30000" dirty="0"/>
                  <a:t>(1)</a:t>
                </a:r>
                <a:r>
                  <a:rPr lang="zh-CN" altLang="en-US" sz="2400" dirty="0"/>
                  <a:t>搜索得到极小值点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nor/>
                      </m:rPr>
                      <a:rPr lang="en-US" altLang="zh-CN" sz="2400" b="0" i="0" baseline="-25000" dirty="0" smtClean="0"/>
                      <m:t>2</m:t>
                    </m:r>
                    <m:r>
                      <m:rPr>
                        <m:nor/>
                      </m:rPr>
                      <a:rPr lang="en-US" altLang="zh-CN" sz="2400" baseline="30000" dirty="0"/>
                      <m:t>(1)</m:t>
                    </m:r>
                  </m:oMath>
                </a14:m>
                <a:endParaRPr lang="en-US" altLang="zh-CN" sz="2400" dirty="0"/>
              </a:p>
              <a:p>
                <a:r>
                  <a:rPr lang="en-US" altLang="zh-CN" sz="2400" dirty="0"/>
                  <a:t>     </a:t>
                </a:r>
                <a:r>
                  <a:rPr lang="zh-CN" altLang="en-US" sz="2400" dirty="0"/>
                  <a:t>同理可以得到：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6BF74CD-2084-4895-B90A-D22997CA6D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496" y="1052736"/>
                <a:ext cx="6174704" cy="830997"/>
              </a:xfrm>
              <a:prstGeom prst="rect">
                <a:avLst/>
              </a:prstGeom>
              <a:blipFill>
                <a:blip r:embed="rId5"/>
                <a:stretch>
                  <a:fillRect l="-1481" t="-5882" b="-16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0A26A1CA-07EB-443A-9978-B58997EDE4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1202696"/>
              </p:ext>
            </p:extLst>
          </p:nvPr>
        </p:nvGraphicFramePr>
        <p:xfrm>
          <a:off x="992560" y="1966850"/>
          <a:ext cx="7377113" cy="304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06560" imgH="1155600" progId="Equation.DSMT4">
                  <p:embed/>
                </p:oleObj>
              </mc:Choice>
              <mc:Fallback>
                <p:oleObj name="Equation" r:id="rId6" imgW="2806560" imgH="11556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0A26A1CA-07EB-443A-9978-B58997EDE4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92560" y="1966850"/>
                        <a:ext cx="7377113" cy="3043237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60161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5DEBEE-FF77-4AD1-9132-F37361805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2</a:t>
            </a:r>
            <a:r>
              <a:rPr lang="zh-CN" altLang="en-US" dirty="0"/>
              <a:t>：解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35AE77-6AA2-4541-893B-12E2F8AFE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3D18AE5-9C83-4E0B-A20E-3DD678A24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44</a:t>
            </a:fld>
            <a:endParaRPr lang="en-US" altLang="zh-CN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4D2A437-C8DA-4B7C-9DCB-FA13B49507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79890" y="132284"/>
          <a:ext cx="7368066" cy="848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95200" imgH="241200" progId="Equation.DSMT4">
                  <p:embed/>
                </p:oleObj>
              </mc:Choice>
              <mc:Fallback>
                <p:oleObj name="Equation" r:id="rId2" imgW="2095200" imgH="2412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A4D2A437-C8DA-4B7C-9DCB-FA13B49507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79890" y="132284"/>
                        <a:ext cx="7368066" cy="8484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22EFE25-D892-4A13-93CD-1825F217A6AD}"/>
                  </a:ext>
                </a:extLst>
              </p:cNvPr>
              <p:cNvSpPr txBox="1"/>
              <p:nvPr/>
            </p:nvSpPr>
            <p:spPr>
              <a:xfrm>
                <a:off x="264351" y="1124744"/>
                <a:ext cx="9505056" cy="5432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4.   </a:t>
                </a:r>
                <a:r>
                  <a:rPr lang="zh-CN" altLang="en-US" sz="2400" dirty="0"/>
                  <a:t>计算第</a:t>
                </a:r>
                <a:r>
                  <a:rPr lang="en-US" altLang="zh-CN" sz="2400" dirty="0"/>
                  <a:t>k</a:t>
                </a:r>
                <a:r>
                  <a:rPr lang="zh-CN" altLang="en-US" sz="2400" dirty="0"/>
                  <a:t>轮迭代中函数值下降最大方向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bSup>
                  </m:oMath>
                </a14:m>
                <a:r>
                  <a:rPr lang="zh-CN" altLang="en-US" sz="2400" dirty="0"/>
                  <a:t>和对应的下降量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l-GR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zh-CN" altLang="en-US" sz="2400" i="1">
                        <a:latin typeface="Cambria Math" panose="02040503050406030204" pitchFamily="18" charset="0"/>
                      </a:rPr>
                      <m:t>。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2400" dirty="0"/>
              </a:p>
              <a:p>
                <a:pPr marL="457200" indent="-457200">
                  <a:buFont typeface="+mj-lt"/>
                  <a:buAutoNum type="arabicPeriod" startAt="4"/>
                </a:pPr>
                <a:endParaRPr lang="en-US" altLang="zh-CN" sz="2400" dirty="0"/>
              </a:p>
              <a:p>
                <a:pPr marL="457200" indent="-457200">
                  <a:buFont typeface="+mj-lt"/>
                  <a:buAutoNum type="arabicPeriod" startAt="4"/>
                </a:pPr>
                <a:endParaRPr lang="en-US" altLang="zh-CN" sz="2400" dirty="0"/>
              </a:p>
              <a:p>
                <a:pPr marL="457200" indent="-457200">
                  <a:buAutoNum type="arabicPeriod" startAt="5"/>
                </a:pPr>
                <a:r>
                  <a:rPr lang="zh-CN" altLang="en-US" sz="2400" dirty="0"/>
                  <a:t>判断收敛精度：</a:t>
                </a:r>
                <a:endParaRPr lang="en-US" altLang="zh-CN" sz="2400" dirty="0"/>
              </a:p>
              <a:p>
                <a:pPr marL="457200" indent="-457200">
                  <a:buAutoNum type="arabicPeriod" startAt="5"/>
                </a:pPr>
                <a:endParaRPr lang="en-US" altLang="zh-CN" sz="2400" dirty="0"/>
              </a:p>
              <a:p>
                <a:pPr marL="457200" indent="-457200">
                  <a:buAutoNum type="arabicPeriod" startAt="5"/>
                </a:pPr>
                <a:endParaRPr lang="en-US" altLang="zh-CN" sz="2400" dirty="0"/>
              </a:p>
              <a:p>
                <a:pPr marL="457200" indent="-457200">
                  <a:buAutoNum type="arabicPeriod" startAt="5"/>
                </a:pPr>
                <a:endParaRPr lang="en-US" altLang="zh-CN" sz="2400" dirty="0"/>
              </a:p>
              <a:p>
                <a:pPr marL="457200" indent="-457200">
                  <a:buAutoNum type="arabicPeriod" startAt="5"/>
                </a:pPr>
                <a:endParaRPr lang="zh-CN" altLang="en-US" sz="2400" dirty="0"/>
              </a:p>
              <a:p>
                <a:pPr lvl="1"/>
                <a:endParaRPr lang="en-US" altLang="zh-CN" sz="2400" dirty="0"/>
              </a:p>
              <a:p>
                <a:pPr lvl="1"/>
                <a:r>
                  <a:rPr lang="zh-CN" altLang="en-US" sz="2400" dirty="0"/>
                  <a:t>不满足精度要求，转向下一步。</a:t>
                </a:r>
              </a:p>
              <a:p>
                <a:r>
                  <a:rPr lang="en-US" altLang="zh-CN" sz="2400" dirty="0"/>
                  <a:t>6.</a:t>
                </a:r>
                <a:r>
                  <a:rPr lang="zh-CN" altLang="en-US" sz="2400" dirty="0"/>
                  <a:t>  构造共轭方向：连接点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</m:oMath>
                </a14:m>
                <a:r>
                  <a:rPr lang="zh-CN" altLang="en-US" sz="2400" dirty="0"/>
                  <a:t>与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lang="zh-CN" alt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/>
                  <a:t>，得到：</a:t>
                </a:r>
              </a:p>
              <a:p>
                <a:pPr marL="342900" indent="-342900">
                  <a:buFont typeface="+mj-lt"/>
                  <a:buAutoNum type="arabicPeriod" startAt="4"/>
                </a:pPr>
                <a:endParaRPr lang="en-US" altLang="zh-CN" sz="2400" dirty="0"/>
              </a:p>
              <a:p>
                <a:endParaRPr lang="zh-CN" altLang="en-US" sz="2400" dirty="0"/>
              </a:p>
              <a:p>
                <a:pPr marL="342900" indent="-342900">
                  <a:buFont typeface="+mj-lt"/>
                  <a:buAutoNum type="arabicPeriod" startAt="4"/>
                </a:pPr>
                <a:endParaRPr lang="en-US" altLang="zh-CN" sz="24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22EFE25-D892-4A13-93CD-1825F217A6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51" y="1124744"/>
                <a:ext cx="9505056" cy="5432000"/>
              </a:xfrm>
              <a:prstGeom prst="rect">
                <a:avLst/>
              </a:prstGeom>
              <a:blipFill>
                <a:blip r:embed="rId5"/>
                <a:stretch>
                  <a:fillRect l="-9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89AE6364-8C25-419D-A476-6E589CE2B6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7126321"/>
              </p:ext>
            </p:extLst>
          </p:nvPr>
        </p:nvGraphicFramePr>
        <p:xfrm>
          <a:off x="992560" y="1700808"/>
          <a:ext cx="210185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99920" imgH="190440" progId="Equation.DSMT4">
                  <p:embed/>
                </p:oleObj>
              </mc:Choice>
              <mc:Fallback>
                <p:oleObj name="Equation" r:id="rId6" imgW="799920" imgH="19044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0A26A1CA-07EB-443A-9978-B58997EDE4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92560" y="1700808"/>
                        <a:ext cx="2101850" cy="501650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18FC1487-12BF-4F79-8A99-33D3067F2B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957952"/>
              </p:ext>
            </p:extLst>
          </p:nvPr>
        </p:nvGraphicFramePr>
        <p:xfrm>
          <a:off x="992560" y="2778522"/>
          <a:ext cx="6037263" cy="164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98600" imgH="622080" progId="Equation.DSMT4">
                  <p:embed/>
                </p:oleObj>
              </mc:Choice>
              <mc:Fallback>
                <p:oleObj name="Equation" r:id="rId8" imgW="2298600" imgH="62208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89AE6364-8C25-419D-A476-6E589CE2B6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92560" y="2778522"/>
                        <a:ext cx="6037263" cy="1641475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419439A5-619F-4984-B65C-F5DB73CA64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4460304"/>
              </p:ext>
            </p:extLst>
          </p:nvPr>
        </p:nvGraphicFramePr>
        <p:xfrm>
          <a:off x="984042" y="5431475"/>
          <a:ext cx="4206875" cy="966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00200" imgH="368280" progId="Equation.DSMT4">
                  <p:embed/>
                </p:oleObj>
              </mc:Choice>
              <mc:Fallback>
                <p:oleObj name="Equation" r:id="rId10" imgW="1600200" imgH="36828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FE7E6D31-6260-4D10-ABAB-F3792D094B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84042" y="5431475"/>
                        <a:ext cx="4206875" cy="966787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88093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5DEBEE-FF77-4AD1-9132-F37361805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2</a:t>
            </a:r>
            <a:r>
              <a:rPr lang="zh-CN" altLang="en-US" dirty="0"/>
              <a:t>：解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35AE77-6AA2-4541-893B-12E2F8AFE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3D18AE5-9C83-4E0B-A20E-3DD678A24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45</a:t>
            </a:fld>
            <a:endParaRPr lang="en-US" altLang="zh-CN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4D2A437-C8DA-4B7C-9DCB-FA13B49507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79890" y="132284"/>
          <a:ext cx="7368066" cy="848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95200" imgH="241200" progId="Equation.DSMT4">
                  <p:embed/>
                </p:oleObj>
              </mc:Choice>
              <mc:Fallback>
                <p:oleObj name="Equation" r:id="rId2" imgW="2095200" imgH="2412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A4D2A437-C8DA-4B7C-9DCB-FA13B49507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79890" y="132284"/>
                        <a:ext cx="7368066" cy="8484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4A4A9D4-A736-47AB-81A4-297C9E40449C}"/>
                  </a:ext>
                </a:extLst>
              </p:cNvPr>
              <p:cNvSpPr txBox="1"/>
              <p:nvPr/>
            </p:nvSpPr>
            <p:spPr>
              <a:xfrm>
                <a:off x="272480" y="1146561"/>
                <a:ext cx="9505056" cy="27674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7.  </a:t>
                </a:r>
                <a:r>
                  <a:rPr lang="zh-CN" altLang="en-US" sz="2400" dirty="0"/>
                  <a:t>计算反射点：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lang="zh-CN" altLang="en-US" sz="2400">
                        <a:latin typeface="Cambria Math" panose="02040503050406030204" pitchFamily="18" charset="0"/>
                      </a:rPr>
                      <m:t>=2</m:t>
                    </m:r>
                    <m:sSubSup>
                      <m:sSub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lang="zh-CN" altLang="en-US" sz="240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=[5,2]</m:t>
                    </m:r>
                    <m:r>
                      <a:rPr lang="en-US" altLang="zh-CN" sz="2400" i="1" baseline="30000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altLang="zh-CN" sz="2400" baseline="30000" dirty="0"/>
              </a:p>
              <a:p>
                <a:endParaRPr lang="en-US" altLang="zh-CN" sz="2400" dirty="0"/>
              </a:p>
              <a:p>
                <a:r>
                  <a:rPr lang="en-US" altLang="zh-CN" sz="2400" dirty="0"/>
                  <a:t>8.  Powell</a:t>
                </a:r>
                <a:r>
                  <a:rPr lang="zh-CN" altLang="en-US" sz="2400" dirty="0"/>
                  <a:t>条件判断：</a:t>
                </a:r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4A4A9D4-A736-47AB-81A4-297C9E4044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480" y="1146561"/>
                <a:ext cx="9505056" cy="2767424"/>
              </a:xfrm>
              <a:prstGeom prst="rect">
                <a:avLst/>
              </a:prstGeom>
              <a:blipFill>
                <a:blip r:embed="rId5"/>
                <a:stretch>
                  <a:fillRect l="-10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6EF06A61-85EF-4609-B160-5B5EF2445E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9099712"/>
              </p:ext>
            </p:extLst>
          </p:nvPr>
        </p:nvGraphicFramePr>
        <p:xfrm>
          <a:off x="811706" y="2419189"/>
          <a:ext cx="5603875" cy="237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33360" imgH="901440" progId="Equation.DSMT4">
                  <p:embed/>
                </p:oleObj>
              </mc:Choice>
              <mc:Fallback>
                <p:oleObj name="Equation" r:id="rId6" imgW="2133360" imgH="90144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18FC1487-12BF-4F79-8A99-33D3067F2B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11706" y="2419189"/>
                        <a:ext cx="5603875" cy="2379663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C2E52D30-636D-409A-8CF0-A9C2A26E07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4456639"/>
              </p:ext>
            </p:extLst>
          </p:nvPr>
        </p:nvGraphicFramePr>
        <p:xfrm>
          <a:off x="1280592" y="4937933"/>
          <a:ext cx="6424612" cy="1465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22280" imgH="507960" progId="Equation.DSMT4">
                  <p:embed/>
                </p:oleObj>
              </mc:Choice>
              <mc:Fallback>
                <p:oleObj name="Equation" r:id="rId8" imgW="2222280" imgH="50796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FEA84638-3CDC-48D7-9EB6-C3F2F88E3D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280592" y="4937933"/>
                        <a:ext cx="6424612" cy="1465263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D0EBE94F-BCF6-46A1-B43E-95F867AAF1FF}"/>
              </a:ext>
            </a:extLst>
          </p:cNvPr>
          <p:cNvSpPr txBox="1"/>
          <p:nvPr/>
        </p:nvSpPr>
        <p:spPr>
          <a:xfrm>
            <a:off x="285892" y="5480606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满足：</a:t>
            </a:r>
          </a:p>
        </p:txBody>
      </p:sp>
    </p:spTree>
    <p:extLst>
      <p:ext uri="{BB962C8B-B14F-4D97-AF65-F5344CB8AC3E}">
        <p14:creationId xmlns:p14="http://schemas.microsoft.com/office/powerpoint/2010/main" val="3438438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5DEBEE-FF77-4AD1-9132-F37361805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2</a:t>
            </a:r>
            <a:r>
              <a:rPr lang="zh-CN" altLang="en-US" dirty="0"/>
              <a:t>：解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35AE77-6AA2-4541-893B-12E2F8AFE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3D18AE5-9C83-4E0B-A20E-3DD678A24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46</a:t>
            </a:fld>
            <a:endParaRPr lang="en-US" altLang="zh-CN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4D2A437-C8DA-4B7C-9DCB-FA13B49507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79890" y="132284"/>
          <a:ext cx="7368066" cy="848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95200" imgH="241200" progId="Equation.DSMT4">
                  <p:embed/>
                </p:oleObj>
              </mc:Choice>
              <mc:Fallback>
                <p:oleObj name="Equation" r:id="rId2" imgW="2095200" imgH="2412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A4D2A437-C8DA-4B7C-9DCB-FA13B49507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79890" y="132284"/>
                        <a:ext cx="7368066" cy="8484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D4A4A9D4-A736-47AB-81A4-297C9E40449C}"/>
              </a:ext>
            </a:extLst>
          </p:cNvPr>
          <p:cNvSpPr txBox="1"/>
          <p:nvPr/>
        </p:nvSpPr>
        <p:spPr>
          <a:xfrm>
            <a:off x="272480" y="1146561"/>
            <a:ext cx="950505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8.  Powell</a:t>
            </a:r>
            <a:r>
              <a:rPr lang="zh-CN" altLang="en-US" sz="2400" dirty="0"/>
              <a:t>条件判断：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0EBE94F-BCF6-46A1-B43E-95F867AAF1FF}"/>
                  </a:ext>
                </a:extLst>
              </p:cNvPr>
              <p:cNvSpPr txBox="1"/>
              <p:nvPr/>
            </p:nvSpPr>
            <p:spPr>
              <a:xfrm>
                <a:off x="704529" y="1654392"/>
                <a:ext cx="9143428" cy="1023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满足满足</a:t>
                </a:r>
                <a:r>
                  <a:rPr lang="en-US" altLang="zh-CN" sz="2400" dirty="0"/>
                  <a:t>Powell</a:t>
                </a:r>
                <a:r>
                  <a:rPr lang="zh-CN" altLang="en-US" sz="2400" dirty="0"/>
                  <a:t>，则取共轭方向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lang="zh-CN" alt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/>
                  <a:t>，沿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</m:oMath>
                </a14:m>
                <a:r>
                  <a:rPr lang="zh-CN" altLang="en-US" sz="2400" dirty="0"/>
                  <a:t>进行一维搜索得到极小值点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</m:oMath>
                </a14:m>
                <a:r>
                  <a:rPr lang="zh-CN" altLang="en-US" sz="2400" dirty="0"/>
                  <a:t>：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0EBE94F-BCF6-46A1-B43E-95F867AAF1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529" y="1654392"/>
                <a:ext cx="9143428" cy="1023870"/>
              </a:xfrm>
              <a:prstGeom prst="rect">
                <a:avLst/>
              </a:prstGeom>
              <a:blipFill>
                <a:blip r:embed="rId5"/>
                <a:stretch>
                  <a:fillRect l="-1067" b="-9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63CFC48B-7977-4CE1-A033-3B3AC3DD84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3590922"/>
              </p:ext>
            </p:extLst>
          </p:nvPr>
        </p:nvGraphicFramePr>
        <p:xfrm>
          <a:off x="848544" y="2725589"/>
          <a:ext cx="8578850" cy="290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263760" imgH="1104840" progId="Equation.DSMT4">
                  <p:embed/>
                </p:oleObj>
              </mc:Choice>
              <mc:Fallback>
                <p:oleObj name="Equation" r:id="rId6" imgW="3263760" imgH="110484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0A26A1CA-07EB-443A-9978-B58997EDE4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48544" y="2725589"/>
                        <a:ext cx="8578850" cy="2908300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4370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5DEBEE-FF77-4AD1-9132-F37361805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2</a:t>
            </a:r>
            <a:r>
              <a:rPr lang="zh-CN" altLang="en-US" dirty="0"/>
              <a:t>：解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35AE77-6AA2-4541-893B-12E2F8AFE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3D18AE5-9C83-4E0B-A20E-3DD678A24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47</a:t>
            </a:fld>
            <a:endParaRPr lang="en-US" altLang="zh-CN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4D2A437-C8DA-4B7C-9DCB-FA13B49507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79890" y="132284"/>
          <a:ext cx="7368066" cy="848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95200" imgH="241200" progId="Equation.DSMT4">
                  <p:embed/>
                </p:oleObj>
              </mc:Choice>
              <mc:Fallback>
                <p:oleObj name="Equation" r:id="rId2" imgW="2095200" imgH="2412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A4D2A437-C8DA-4B7C-9DCB-FA13B49507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79890" y="132284"/>
                        <a:ext cx="7368066" cy="8484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4A4A9D4-A736-47AB-81A4-297C9E40449C}"/>
                  </a:ext>
                </a:extLst>
              </p:cNvPr>
              <p:cNvSpPr txBox="1"/>
              <p:nvPr/>
            </p:nvSpPr>
            <p:spPr>
              <a:xfrm>
                <a:off x="272480" y="1146561"/>
                <a:ext cx="9505056" cy="5271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/>
                  <a:t>9.  </a:t>
                </a:r>
                <a:r>
                  <a:rPr lang="zh-CN" altLang="en-US" sz="2400" dirty="0"/>
                  <a:t>用计算的共轭方向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</m:oMath>
                </a14:m>
                <a:r>
                  <a:rPr lang="zh-CN" altLang="en-US" sz="2400" dirty="0"/>
                  <a:t>替换本轮迭代中函数值下降最大的方向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/>
                  <a:t>, </a:t>
                </a:r>
                <a:r>
                  <a:rPr lang="zh-CN" altLang="en-US" sz="2400" dirty="0"/>
                  <a:t>得到下一轮的搜索方向组：</a:t>
                </a:r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en-US" altLang="zh-CN" sz="2400" dirty="0"/>
                  <a:t>     </a:t>
                </a:r>
                <a:r>
                  <a:rPr lang="zh-CN" altLang="en-US" sz="2400" dirty="0"/>
                  <a:t>令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altLang="zh-CN" sz="2400" baseline="-25000" dirty="0"/>
                  <a:t>0</a:t>
                </a:r>
                <a:r>
                  <a:rPr lang="en-US" altLang="zh-CN" sz="2400" baseline="30000" dirty="0"/>
                  <a:t>(2)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nor/>
                      </m:rPr>
                      <a:rPr lang="en-US" altLang="zh-CN" sz="2400" b="0" i="0" baseline="-25000" dirty="0" smtClean="0"/>
                      <m:t>3</m:t>
                    </m:r>
                    <m:r>
                      <m:rPr>
                        <m:nor/>
                      </m:rPr>
                      <a:rPr lang="en-US" altLang="zh-CN" sz="2400" baseline="30000" dirty="0"/>
                      <m:t>(</m:t>
                    </m:r>
                    <m:r>
                      <m:rPr>
                        <m:nor/>
                      </m:rPr>
                      <a:rPr lang="en-US" altLang="zh-CN" sz="2400" b="0" i="0" baseline="30000" dirty="0" smtClean="0"/>
                      <m:t>1</m:t>
                    </m:r>
                  </m:oMath>
                </a14:m>
                <a:r>
                  <a:rPr lang="en-US" altLang="zh-CN" sz="2400" baseline="30000" dirty="0"/>
                  <a:t>)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3.8</m:t>
                              </m:r>
                            </m:e>
                          </m:mr>
                          <m:mr>
                            <m:e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1.7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2400" dirty="0"/>
                  <a:t>，开始第</a:t>
                </a:r>
                <a:r>
                  <a:rPr lang="en-US" altLang="zh-CN" sz="2400" dirty="0"/>
                  <a:t>2</a:t>
                </a:r>
                <a:r>
                  <a:rPr lang="zh-CN" altLang="en-US" sz="2400" dirty="0"/>
                  <a:t>轮迭代。</a:t>
                </a:r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4A4A9D4-A736-47AB-81A4-297C9E4044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480" y="1146561"/>
                <a:ext cx="9505056" cy="5271379"/>
              </a:xfrm>
              <a:prstGeom prst="rect">
                <a:avLst/>
              </a:prstGeom>
              <a:blipFill>
                <a:blip r:embed="rId5"/>
                <a:stretch>
                  <a:fillRect l="-1026" r="-6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0F2011FE-9900-41DA-98CE-603FA17E3B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2711979"/>
              </p:ext>
            </p:extLst>
          </p:nvPr>
        </p:nvGraphicFramePr>
        <p:xfrm>
          <a:off x="272480" y="2370239"/>
          <a:ext cx="4350257" cy="126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28800" imgH="533160" progId="Equation.DSMT4">
                  <p:embed/>
                </p:oleObj>
              </mc:Choice>
              <mc:Fallback>
                <p:oleObj name="Equation" r:id="rId6" imgW="1828800" imgH="5331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B8D65221-05BC-4314-A813-D177AF3EDA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72480" y="2370239"/>
                        <a:ext cx="4350257" cy="1268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BC10D074-C20A-4E9B-88FB-78E97CE187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6881816"/>
              </p:ext>
            </p:extLst>
          </p:nvPr>
        </p:nvGraphicFramePr>
        <p:xfrm>
          <a:off x="5124328" y="2127965"/>
          <a:ext cx="4681537" cy="163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68480" imgH="685800" progId="Equation.DSMT4">
                  <p:embed/>
                </p:oleObj>
              </mc:Choice>
              <mc:Fallback>
                <p:oleObj name="Equation" r:id="rId8" imgW="1968480" imgH="68580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0F2011FE-9900-41DA-98CE-603FA17E3B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124328" y="2127965"/>
                        <a:ext cx="4681537" cy="1633538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箭头: 下 5">
            <a:extLst>
              <a:ext uri="{FF2B5EF4-FFF2-40B4-BE49-F238E27FC236}">
                <a16:creationId xmlns:a16="http://schemas.microsoft.com/office/drawing/2014/main" id="{546F5492-B108-44F0-9C30-B4197B94ED7F}"/>
              </a:ext>
            </a:extLst>
          </p:cNvPr>
          <p:cNvSpPr/>
          <p:nvPr/>
        </p:nvSpPr>
        <p:spPr bwMode="auto">
          <a:xfrm rot="16200000">
            <a:off x="4204854" y="2621342"/>
            <a:ext cx="864096" cy="638514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6679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5DEBEE-FF77-4AD1-9132-F37361805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2</a:t>
            </a:r>
            <a:r>
              <a:rPr lang="zh-CN" altLang="en-US" dirty="0"/>
              <a:t>：解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35AE77-6AA2-4541-893B-12E2F8AFE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3D18AE5-9C83-4E0B-A20E-3DD678A24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48</a:t>
            </a:fld>
            <a:endParaRPr lang="en-US" altLang="zh-CN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4D2A437-C8DA-4B7C-9DCB-FA13B49507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79890" y="132284"/>
          <a:ext cx="7368066" cy="848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95200" imgH="241200" progId="Equation.DSMT4">
                  <p:embed/>
                </p:oleObj>
              </mc:Choice>
              <mc:Fallback>
                <p:oleObj name="Equation" r:id="rId2" imgW="2095200" imgH="2412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A4D2A437-C8DA-4B7C-9DCB-FA13B49507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79890" y="132284"/>
                        <a:ext cx="7368066" cy="8484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D4A4A9D4-A736-47AB-81A4-297C9E40449C}"/>
              </a:ext>
            </a:extLst>
          </p:cNvPr>
          <p:cNvSpPr txBox="1"/>
          <p:nvPr/>
        </p:nvSpPr>
        <p:spPr>
          <a:xfrm>
            <a:off x="272480" y="1146561"/>
            <a:ext cx="950505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10.  </a:t>
            </a:r>
            <a:r>
              <a:rPr lang="zh-CN" altLang="en-US" sz="2400" dirty="0"/>
              <a:t>同理进行第</a:t>
            </a:r>
            <a:r>
              <a:rPr lang="en-US" altLang="zh-CN" sz="2400" dirty="0"/>
              <a:t>2</a:t>
            </a:r>
            <a:r>
              <a:rPr lang="zh-CN" altLang="en-US" sz="2400" dirty="0"/>
              <a:t>轮迭代：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     </a:t>
            </a:r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19A8AD9D-CF68-4745-AC08-BEAEE0B58A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5139664"/>
              </p:ext>
            </p:extLst>
          </p:nvPr>
        </p:nvGraphicFramePr>
        <p:xfrm>
          <a:off x="848544" y="1772816"/>
          <a:ext cx="7734300" cy="454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51160" imgH="1904760" progId="Equation.DSMT4">
                  <p:embed/>
                </p:oleObj>
              </mc:Choice>
              <mc:Fallback>
                <p:oleObj name="Equation" r:id="rId4" imgW="3251160" imgH="190476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BC10D074-C20A-4E9B-88FB-78E97CE187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48544" y="1772816"/>
                        <a:ext cx="7734300" cy="4545013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79205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5DEBEE-FF77-4AD1-9132-F37361805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2</a:t>
            </a:r>
            <a:r>
              <a:rPr lang="zh-CN" altLang="en-US" dirty="0"/>
              <a:t>：解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35AE77-6AA2-4541-893B-12E2F8AFE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3D18AE5-9C83-4E0B-A20E-3DD678A24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49</a:t>
            </a:fld>
            <a:endParaRPr lang="en-US" altLang="zh-CN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4D2A437-C8DA-4B7C-9DCB-FA13B49507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79890" y="132284"/>
          <a:ext cx="7368066" cy="848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95200" imgH="241200" progId="Equation.DSMT4">
                  <p:embed/>
                </p:oleObj>
              </mc:Choice>
              <mc:Fallback>
                <p:oleObj name="Equation" r:id="rId2" imgW="2095200" imgH="2412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A4D2A437-C8DA-4B7C-9DCB-FA13B49507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79890" y="132284"/>
                        <a:ext cx="7368066" cy="8484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D4A4A9D4-A736-47AB-81A4-297C9E40449C}"/>
              </a:ext>
            </a:extLst>
          </p:cNvPr>
          <p:cNvSpPr txBox="1"/>
          <p:nvPr/>
        </p:nvSpPr>
        <p:spPr>
          <a:xfrm>
            <a:off x="272480" y="1146561"/>
            <a:ext cx="950505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11.  </a:t>
            </a:r>
            <a:r>
              <a:rPr lang="zh-CN" altLang="en-US" sz="2400" dirty="0"/>
              <a:t>不是极值点，仍然需要进行迭代，经过判断不满足</a:t>
            </a:r>
            <a:r>
              <a:rPr lang="en-US" altLang="zh-CN" sz="2400" dirty="0"/>
              <a:t>Powell</a:t>
            </a:r>
            <a:r>
              <a:rPr lang="zh-CN" altLang="en-US" sz="2400" dirty="0"/>
              <a:t>条件（过程略），则取上一次的搜索方向继续第</a:t>
            </a:r>
            <a:r>
              <a:rPr lang="en-US" altLang="zh-CN" sz="2400" dirty="0"/>
              <a:t>3</a:t>
            </a:r>
            <a:r>
              <a:rPr lang="zh-CN" altLang="en-US" sz="2400" dirty="0"/>
              <a:t>次迭代：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     </a:t>
            </a:r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B51A5ADD-DBFC-4590-BC46-926720F285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9002261"/>
              </p:ext>
            </p:extLst>
          </p:nvPr>
        </p:nvGraphicFramePr>
        <p:xfrm>
          <a:off x="794258" y="2348880"/>
          <a:ext cx="8247063" cy="169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66800" imgH="711000" progId="Equation.DSMT4">
                  <p:embed/>
                </p:oleObj>
              </mc:Choice>
              <mc:Fallback>
                <p:oleObj name="Equation" r:id="rId4" imgW="3466800" imgH="7110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19A8AD9D-CF68-4745-AC08-BEAEE0B58A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94258" y="2348880"/>
                        <a:ext cx="8247063" cy="1697037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03323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5DEBEE-FF77-4AD1-9132-F37361805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2</a:t>
            </a:r>
            <a:r>
              <a:rPr lang="zh-CN" altLang="en-US" dirty="0"/>
              <a:t>：解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35AE77-6AA2-4541-893B-12E2F8AFE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3D18AE5-9C83-4E0B-A20E-3DD678A24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50</a:t>
            </a:fld>
            <a:endParaRPr lang="en-US" altLang="zh-CN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4D2A437-C8DA-4B7C-9DCB-FA13B49507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79890" y="132284"/>
          <a:ext cx="7368066" cy="848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95200" imgH="241200" progId="Equation.DSMT4">
                  <p:embed/>
                </p:oleObj>
              </mc:Choice>
              <mc:Fallback>
                <p:oleObj name="Equation" r:id="rId2" imgW="2095200" imgH="2412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A4D2A437-C8DA-4B7C-9DCB-FA13B49507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79890" y="132284"/>
                        <a:ext cx="7368066" cy="8484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4A4A9D4-A736-47AB-81A4-297C9E40449C}"/>
                  </a:ext>
                </a:extLst>
              </p:cNvPr>
              <p:cNvSpPr txBox="1"/>
              <p:nvPr/>
            </p:nvSpPr>
            <p:spPr>
              <a:xfrm>
                <a:off x="272480" y="1146561"/>
                <a:ext cx="9505056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注：</a:t>
                </a:r>
                <a:r>
                  <a:rPr lang="zh-CN" altLang="en-US" sz="2400"/>
                  <a:t>利用共轭方向法</a:t>
                </a:r>
                <a:r>
                  <a:rPr lang="zh-CN" altLang="en-US" sz="2400" dirty="0"/>
                  <a:t>进行求解本例题，最终求解的并不是严格的极值点，实际的极值点应该是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[4,2]</m:t>
                    </m:r>
                    <m:r>
                      <a:rPr lang="en-US" altLang="zh-CN" sz="2400" i="1" baseline="30000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altLang="zh-CN" sz="2400" baseline="30000" dirty="0"/>
              </a:p>
              <a:p>
                <a:endParaRPr lang="en-US" altLang="zh-CN" sz="2400" dirty="0"/>
              </a:p>
              <a:p>
                <a:r>
                  <a:rPr lang="zh-CN" altLang="en-US" sz="2400" dirty="0"/>
                  <a:t>根据前面讲过的，对于二次正定函数</a:t>
                </a:r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zh-CN" altLang="en-US" sz="2400" dirty="0"/>
                  <a:t>经过两个共轭的方向搜索就可以得到极值点</a:t>
                </a:r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4A4A9D4-A736-47AB-81A4-297C9E4044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480" y="1146561"/>
                <a:ext cx="9505056" cy="3416320"/>
              </a:xfrm>
              <a:prstGeom prst="rect">
                <a:avLst/>
              </a:prstGeom>
              <a:blipFill>
                <a:blip r:embed="rId4"/>
                <a:stretch>
                  <a:fillRect l="-1026" t="-14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FC6FE148-2E49-47E3-AD75-A02B3DD4BF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8381138"/>
              </p:ext>
            </p:extLst>
          </p:nvPr>
        </p:nvGraphicFramePr>
        <p:xfrm>
          <a:off x="785549" y="2571801"/>
          <a:ext cx="3664887" cy="873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33440" imgH="317160" progId="Equation.DSMT4">
                  <p:embed/>
                </p:oleObj>
              </mc:Choice>
              <mc:Fallback>
                <p:oleObj name="Equation" r:id="rId5" imgW="1333440" imgH="3171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4C98C69E-7FA6-4EF3-9620-906FB2E1BC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85549" y="2571801"/>
                        <a:ext cx="3664887" cy="8730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4D856958-1793-4EFD-8EBE-148B9769A377}"/>
              </a:ext>
            </a:extLst>
          </p:cNvPr>
          <p:cNvCxnSpPr>
            <a:cxnSpLocks/>
          </p:cNvCxnSpPr>
          <p:nvPr/>
        </p:nvCxnSpPr>
        <p:spPr bwMode="auto">
          <a:xfrm flipV="1">
            <a:off x="6990815" y="5616584"/>
            <a:ext cx="2719465" cy="9772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流程图: 接点 10">
            <a:extLst>
              <a:ext uri="{FF2B5EF4-FFF2-40B4-BE49-F238E27FC236}">
                <a16:creationId xmlns:a16="http://schemas.microsoft.com/office/drawing/2014/main" id="{810D8D5B-D918-441C-961C-EC5F286DD02E}"/>
              </a:ext>
            </a:extLst>
          </p:cNvPr>
          <p:cNvSpPr/>
          <p:nvPr/>
        </p:nvSpPr>
        <p:spPr bwMode="auto">
          <a:xfrm rot="17986332">
            <a:off x="8172741" y="4072093"/>
            <a:ext cx="148647" cy="158316"/>
          </a:xfrm>
          <a:prstGeom prst="flowChartConnector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D6040F16-EDEE-4F4C-8194-EAFB53F49C9D}"/>
              </a:ext>
            </a:extLst>
          </p:cNvPr>
          <p:cNvSpPr/>
          <p:nvPr/>
        </p:nvSpPr>
        <p:spPr bwMode="auto">
          <a:xfrm rot="17986332">
            <a:off x="7268322" y="3575756"/>
            <a:ext cx="2098485" cy="1296305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872EBA3D-C02D-4DAB-A81F-5B58E1CF9A61}"/>
              </a:ext>
            </a:extLst>
          </p:cNvPr>
          <p:cNvSpPr/>
          <p:nvPr/>
        </p:nvSpPr>
        <p:spPr bwMode="auto">
          <a:xfrm rot="17986332">
            <a:off x="6757953" y="3309860"/>
            <a:ext cx="3168352" cy="1728192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A0622A72-D3A0-441F-919E-95B615A6AB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9752570"/>
              </p:ext>
            </p:extLst>
          </p:nvPr>
        </p:nvGraphicFramePr>
        <p:xfrm>
          <a:off x="7877472" y="4269116"/>
          <a:ext cx="47307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7480" imgH="190440" progId="Equation.DSMT4">
                  <p:embed/>
                </p:oleObj>
              </mc:Choice>
              <mc:Fallback>
                <p:oleObj name="Equation" r:id="rId7" imgW="177480" imgH="19044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FD680FA5-FF28-45EC-A662-F792E29204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877472" y="4269116"/>
                        <a:ext cx="473075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流程图: 接点 16">
            <a:extLst>
              <a:ext uri="{FF2B5EF4-FFF2-40B4-BE49-F238E27FC236}">
                <a16:creationId xmlns:a16="http://schemas.microsoft.com/office/drawing/2014/main" id="{F48FA314-F3F6-4EA4-B97C-511CA691F658}"/>
              </a:ext>
            </a:extLst>
          </p:cNvPr>
          <p:cNvSpPr/>
          <p:nvPr/>
        </p:nvSpPr>
        <p:spPr bwMode="auto">
          <a:xfrm rot="17986332">
            <a:off x="6899573" y="5530909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35255E03-E0B7-4898-B6BA-847DD5CC44E0}"/>
              </a:ext>
            </a:extLst>
          </p:cNvPr>
          <p:cNvCxnSpPr>
            <a:cxnSpLocks/>
          </p:cNvCxnSpPr>
          <p:nvPr/>
        </p:nvCxnSpPr>
        <p:spPr bwMode="auto">
          <a:xfrm flipV="1">
            <a:off x="6991583" y="3079353"/>
            <a:ext cx="2123887" cy="2523186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流程图: 接点 18">
            <a:extLst>
              <a:ext uri="{FF2B5EF4-FFF2-40B4-BE49-F238E27FC236}">
                <a16:creationId xmlns:a16="http://schemas.microsoft.com/office/drawing/2014/main" id="{4E7532A5-8ADF-4896-BEE4-C7E03FA57AE4}"/>
              </a:ext>
            </a:extLst>
          </p:cNvPr>
          <p:cNvSpPr/>
          <p:nvPr/>
        </p:nvSpPr>
        <p:spPr bwMode="auto">
          <a:xfrm rot="17986332">
            <a:off x="7673968" y="5530909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ED674A48-7D63-4332-B5CC-7288870AB2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9158456"/>
              </p:ext>
            </p:extLst>
          </p:nvPr>
        </p:nvGraphicFramePr>
        <p:xfrm>
          <a:off x="7542773" y="5657791"/>
          <a:ext cx="48260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77480" imgH="190440" progId="Equation.DSMT4">
                  <p:embed/>
                </p:oleObj>
              </mc:Choice>
              <mc:Fallback>
                <p:oleObj name="Equation" r:id="rId9" imgW="177480" imgH="19044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68EDD790-D795-4700-85C5-452413F3B1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542773" y="5657791"/>
                        <a:ext cx="482600" cy="519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5E3157AF-7207-466F-863D-6A581211C7E9}"/>
              </a:ext>
            </a:extLst>
          </p:cNvPr>
          <p:cNvCxnSpPr>
            <a:cxnSpLocks/>
          </p:cNvCxnSpPr>
          <p:nvPr/>
        </p:nvCxnSpPr>
        <p:spPr bwMode="auto">
          <a:xfrm flipV="1">
            <a:off x="6996035" y="1649181"/>
            <a:ext cx="16423" cy="3978204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3CEBFA62-B4B3-44CE-B805-CDFD552C85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5941422"/>
              </p:ext>
            </p:extLst>
          </p:nvPr>
        </p:nvGraphicFramePr>
        <p:xfrm>
          <a:off x="8035569" y="3662069"/>
          <a:ext cx="481012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77480" imgH="152280" progId="Equation.DSMT4">
                  <p:embed/>
                </p:oleObj>
              </mc:Choice>
              <mc:Fallback>
                <p:oleObj name="Equation" r:id="rId11" imgW="177480" imgH="15228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3A19A851-9CC0-4531-9AE2-299C5878CD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035569" y="3662069"/>
                        <a:ext cx="481012" cy="415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4DB4257B-5DB8-4EE2-9983-D2C63F8227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3960680"/>
              </p:ext>
            </p:extLst>
          </p:nvPr>
        </p:nvGraphicFramePr>
        <p:xfrm>
          <a:off x="9029601" y="5637002"/>
          <a:ext cx="406400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52280" imgH="164880" progId="Equation.DSMT4">
                  <p:embed/>
                </p:oleObj>
              </mc:Choice>
              <mc:Fallback>
                <p:oleObj name="Equation" r:id="rId13" imgW="152280" imgH="16488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D0346854-55C2-4FB4-A4B6-018A6CD2D1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029601" y="5637002"/>
                        <a:ext cx="406400" cy="439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3177A3AB-E618-42FF-900F-DD2647B9EA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7027823"/>
              </p:ext>
            </p:extLst>
          </p:nvPr>
        </p:nvGraphicFramePr>
        <p:xfrm>
          <a:off x="7776773" y="2127050"/>
          <a:ext cx="373063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39680" imgH="164880" progId="Equation.DSMT4">
                  <p:embed/>
                </p:oleObj>
              </mc:Choice>
              <mc:Fallback>
                <p:oleObj name="Equation" r:id="rId15" imgW="139680" imgH="16488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757A98AA-EC68-4B15-8273-FD3D863EF3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776773" y="2127050"/>
                        <a:ext cx="373063" cy="439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CC4B421B-B42B-49F9-AE09-359E2304B92E}"/>
              </a:ext>
            </a:extLst>
          </p:cNvPr>
          <p:cNvCxnSpPr>
            <a:cxnSpLocks/>
          </p:cNvCxnSpPr>
          <p:nvPr/>
        </p:nvCxnSpPr>
        <p:spPr bwMode="auto">
          <a:xfrm flipV="1">
            <a:off x="7786779" y="1681857"/>
            <a:ext cx="16423" cy="3978204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椭圆 25">
            <a:extLst>
              <a:ext uri="{FF2B5EF4-FFF2-40B4-BE49-F238E27FC236}">
                <a16:creationId xmlns:a16="http://schemas.microsoft.com/office/drawing/2014/main" id="{7BFDDDD1-8A15-4A03-AD5B-7B961657BF02}"/>
              </a:ext>
            </a:extLst>
          </p:cNvPr>
          <p:cNvSpPr/>
          <p:nvPr/>
        </p:nvSpPr>
        <p:spPr bwMode="auto">
          <a:xfrm rot="17986332">
            <a:off x="7488988" y="3895709"/>
            <a:ext cx="1516152" cy="613149"/>
          </a:xfrm>
          <a:prstGeom prst="ellipse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7" name="流程图: 接点 26">
            <a:extLst>
              <a:ext uri="{FF2B5EF4-FFF2-40B4-BE49-F238E27FC236}">
                <a16:creationId xmlns:a16="http://schemas.microsoft.com/office/drawing/2014/main" id="{C6F3269E-2A61-4EFA-A960-F36E3996BF20}"/>
              </a:ext>
            </a:extLst>
          </p:cNvPr>
          <p:cNvSpPr/>
          <p:nvPr/>
        </p:nvSpPr>
        <p:spPr bwMode="auto">
          <a:xfrm rot="17986332">
            <a:off x="7718978" y="4503693"/>
            <a:ext cx="217452" cy="190894"/>
          </a:xfrm>
          <a:prstGeom prst="flowChartConnector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2F223877-FC75-43C9-BFD4-DAE15DD338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9728910"/>
              </p:ext>
            </p:extLst>
          </p:nvPr>
        </p:nvGraphicFramePr>
        <p:xfrm>
          <a:off x="6445109" y="5038776"/>
          <a:ext cx="484188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77480" imgH="190440" progId="Equation.DSMT4">
                  <p:embed/>
                </p:oleObj>
              </mc:Choice>
              <mc:Fallback>
                <p:oleObj name="Equation" r:id="rId17" imgW="177480" imgH="190440" progId="Equation.DSMT4">
                  <p:embed/>
                  <p:pic>
                    <p:nvPicPr>
                      <p:cNvPr id="31" name="对象 30">
                        <a:extLst>
                          <a:ext uri="{FF2B5EF4-FFF2-40B4-BE49-F238E27FC236}">
                            <a16:creationId xmlns:a16="http://schemas.microsoft.com/office/drawing/2014/main" id="{DA1FF270-F121-43F5-8B2E-E16511C47F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445109" y="5038776"/>
                        <a:ext cx="484188" cy="519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A5F24D35-B9BD-4287-8374-CBAC9C5E562E}"/>
              </a:ext>
            </a:extLst>
          </p:cNvPr>
          <p:cNvCxnSpPr>
            <a:cxnSpLocks/>
          </p:cNvCxnSpPr>
          <p:nvPr/>
        </p:nvCxnSpPr>
        <p:spPr bwMode="auto">
          <a:xfrm flipV="1">
            <a:off x="6659322" y="6608952"/>
            <a:ext cx="1113207" cy="18599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EF30F4C1-EDD7-47FE-A89F-BFBD9720872B}"/>
              </a:ext>
            </a:extLst>
          </p:cNvPr>
          <p:cNvCxnSpPr>
            <a:cxnSpLocks/>
          </p:cNvCxnSpPr>
          <p:nvPr/>
        </p:nvCxnSpPr>
        <p:spPr bwMode="auto">
          <a:xfrm flipV="1">
            <a:off x="6660864" y="5502589"/>
            <a:ext cx="0" cy="1148302"/>
          </a:xfrm>
          <a:prstGeom prst="line">
            <a:avLst/>
          </a:prstGeom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1EF1DDBD-7382-4D48-A033-627006CB7685}"/>
              </a:ext>
            </a:extLst>
          </p:cNvPr>
          <p:cNvCxnSpPr>
            <a:stCxn id="17" idx="2"/>
          </p:cNvCxnSpPr>
          <p:nvPr/>
        </p:nvCxnSpPr>
        <p:spPr bwMode="auto">
          <a:xfrm flipH="1">
            <a:off x="6659322" y="5720731"/>
            <a:ext cx="294989" cy="969088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B2B03FC4-0E6E-4E5C-AA67-2D985CC95C80}"/>
              </a:ext>
            </a:extLst>
          </p:cNvPr>
          <p:cNvCxnSpPr>
            <a:cxnSpLocks/>
          </p:cNvCxnSpPr>
          <p:nvPr/>
        </p:nvCxnSpPr>
        <p:spPr bwMode="auto">
          <a:xfrm flipH="1">
            <a:off x="6654857" y="4718043"/>
            <a:ext cx="1108884" cy="1962476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C6351952-8770-447D-A3DC-9B847F4648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6385409"/>
              </p:ext>
            </p:extLst>
          </p:nvPr>
        </p:nvGraphicFramePr>
        <p:xfrm>
          <a:off x="9064298" y="3065308"/>
          <a:ext cx="3048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14120" imgH="152280" progId="Equation.DSMT4">
                  <p:embed/>
                </p:oleObj>
              </mc:Choice>
              <mc:Fallback>
                <p:oleObj name="Equation" r:id="rId19" imgW="114120" imgH="152280" progId="Equation.DSMT4">
                  <p:embed/>
                  <p:pic>
                    <p:nvPicPr>
                      <p:cNvPr id="46" name="对象 45">
                        <a:extLst>
                          <a:ext uri="{FF2B5EF4-FFF2-40B4-BE49-F238E27FC236}">
                            <a16:creationId xmlns:a16="http://schemas.microsoft.com/office/drawing/2014/main" id="{68527610-0EEA-471C-A261-E9A4714567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9064298" y="3065308"/>
                        <a:ext cx="304800" cy="404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7D3F89B3-3CA3-4F88-AB17-7C95E99D8CB9}"/>
              </a:ext>
            </a:extLst>
          </p:cNvPr>
          <p:cNvSpPr/>
          <p:nvPr/>
        </p:nvSpPr>
        <p:spPr bwMode="auto">
          <a:xfrm>
            <a:off x="7009654" y="4154766"/>
            <a:ext cx="1745088" cy="1848666"/>
          </a:xfrm>
          <a:custGeom>
            <a:avLst/>
            <a:gdLst>
              <a:gd name="connsiteX0" fmla="*/ 140178 w 1615016"/>
              <a:gd name="connsiteY0" fmla="*/ 0 h 2163167"/>
              <a:gd name="connsiteX1" fmla="*/ 22190 w 1615016"/>
              <a:gd name="connsiteY1" fmla="*/ 1622323 h 2163167"/>
              <a:gd name="connsiteX2" fmla="*/ 533468 w 1615016"/>
              <a:gd name="connsiteY2" fmla="*/ 2153265 h 2163167"/>
              <a:gd name="connsiteX3" fmla="*/ 1615016 w 1615016"/>
              <a:gd name="connsiteY3" fmla="*/ 1917291 h 2163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15016" h="2163167">
                <a:moveTo>
                  <a:pt x="140178" y="0"/>
                </a:moveTo>
                <a:cubicBezTo>
                  <a:pt x="48410" y="631723"/>
                  <a:pt x="-43358" y="1263446"/>
                  <a:pt x="22190" y="1622323"/>
                </a:cubicBezTo>
                <a:cubicBezTo>
                  <a:pt x="87738" y="1981200"/>
                  <a:pt x="267997" y="2104104"/>
                  <a:pt x="533468" y="2153265"/>
                </a:cubicBezTo>
                <a:cubicBezTo>
                  <a:pt x="798939" y="2202426"/>
                  <a:pt x="1206977" y="2059858"/>
                  <a:pt x="1615016" y="1917291"/>
                </a:cubicBezTo>
              </a:path>
            </a:pathLst>
          </a:cu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4FA8A5C2-1EBD-4B69-8F6F-631EDC47B4C1}"/>
                  </a:ext>
                </a:extLst>
              </p:cNvPr>
              <p:cNvSpPr txBox="1"/>
              <p:nvPr/>
            </p:nvSpPr>
            <p:spPr>
              <a:xfrm>
                <a:off x="1213744" y="3879281"/>
                <a:ext cx="3617382" cy="461665"/>
              </a:xfrm>
              <a:prstGeom prst="rect">
                <a:avLst/>
              </a:prstGeom>
              <a:solidFill>
                <a:srgbClr val="FFFF66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sz="2400" baseline="30000" dirty="0">
                    <a:solidFill>
                      <a:srgbClr val="FF0000"/>
                    </a:solidFill>
                  </a:rPr>
                  <a:t>(1)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sz="2400" dirty="0">
                    <a:solidFill>
                      <a:srgbClr val="FF0000"/>
                    </a:solidFill>
                  </a:rPr>
                  <a:t>关于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sz="2400" dirty="0">
                    <a:solidFill>
                      <a:srgbClr val="FF0000"/>
                    </a:solidFill>
                  </a:rPr>
                  <a:t>共轭</a:t>
                </a:r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4FA8A5C2-1EBD-4B69-8F6F-631EDC47B4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3744" y="3879281"/>
                <a:ext cx="3617382" cy="461665"/>
              </a:xfrm>
              <a:prstGeom prst="rect">
                <a:avLst/>
              </a:prstGeom>
              <a:blipFill>
                <a:blip r:embed="rId22"/>
                <a:stretch>
                  <a:fillRect t="-8974" b="-2692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041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5" grpId="0" animBg="1"/>
      <p:bldP spid="17" grpId="0" animBg="1"/>
      <p:bldP spid="19" grpId="0" animBg="1"/>
      <p:bldP spid="26" grpId="0" animBg="1"/>
      <p:bldP spid="27" grpId="0" animBg="1"/>
      <p:bldP spid="39" grpId="0" animBg="1"/>
      <p:bldP spid="4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5DEBEE-FF77-4AD1-9132-F37361805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2</a:t>
            </a:r>
            <a:r>
              <a:rPr lang="zh-CN" altLang="en-US" dirty="0"/>
              <a:t>：解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35AE77-6AA2-4541-893B-12E2F8AFE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3D18AE5-9C83-4E0B-A20E-3DD678A24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51</a:t>
            </a:fld>
            <a:endParaRPr lang="en-US" altLang="zh-CN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4D2A437-C8DA-4B7C-9DCB-FA13B49507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79890" y="132284"/>
          <a:ext cx="7368066" cy="848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95200" imgH="241200" progId="Equation.DSMT4">
                  <p:embed/>
                </p:oleObj>
              </mc:Choice>
              <mc:Fallback>
                <p:oleObj name="Equation" r:id="rId2" imgW="2095200" imgH="2412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A4D2A437-C8DA-4B7C-9DCB-FA13B49507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79890" y="132284"/>
                        <a:ext cx="7368066" cy="8484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D4A4A9D4-A736-47AB-81A4-297C9E40449C}"/>
              </a:ext>
            </a:extLst>
          </p:cNvPr>
          <p:cNvSpPr txBox="1"/>
          <p:nvPr/>
        </p:nvSpPr>
        <p:spPr>
          <a:xfrm>
            <a:off x="272480" y="1146561"/>
            <a:ext cx="9505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本题中</a:t>
            </a:r>
            <a:r>
              <a:rPr lang="en-US" altLang="zh-CN" sz="2400" dirty="0"/>
              <a:t>:</a:t>
            </a:r>
          </a:p>
          <a:p>
            <a:endParaRPr lang="en-US" altLang="zh-CN" sz="2400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B53BB65A-F659-422E-97BE-D02B6710FB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9866460"/>
              </p:ext>
            </p:extLst>
          </p:nvPr>
        </p:nvGraphicFramePr>
        <p:xfrm>
          <a:off x="981289" y="1507658"/>
          <a:ext cx="6127523" cy="19213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97000" imgH="939600" progId="Equation.DSMT4">
                  <p:embed/>
                </p:oleObj>
              </mc:Choice>
              <mc:Fallback>
                <p:oleObj name="Equation" r:id="rId4" imgW="299700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81289" y="1507658"/>
                        <a:ext cx="6127523" cy="19213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77C57F3A-6650-49F6-A25A-49BA55DF15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7476075"/>
              </p:ext>
            </p:extLst>
          </p:nvPr>
        </p:nvGraphicFramePr>
        <p:xfrm>
          <a:off x="981289" y="3577323"/>
          <a:ext cx="5868987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869920" imgH="457200" progId="Equation.DSMT4">
                  <p:embed/>
                </p:oleObj>
              </mc:Choice>
              <mc:Fallback>
                <p:oleObj name="Equation" r:id="rId6" imgW="2869920" imgH="4572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B53BB65A-F659-422E-97BE-D02B6710FB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81289" y="3577323"/>
                        <a:ext cx="5868987" cy="933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4DE35B1B-7D7E-4DDA-B52C-CF030A4ABC01}"/>
                  </a:ext>
                </a:extLst>
              </p:cNvPr>
              <p:cNvSpPr txBox="1"/>
              <p:nvPr/>
            </p:nvSpPr>
            <p:spPr>
              <a:xfrm>
                <a:off x="1064568" y="4629171"/>
                <a:ext cx="3617382" cy="461665"/>
              </a:xfrm>
              <a:prstGeom prst="rect">
                <a:avLst/>
              </a:prstGeom>
              <a:solidFill>
                <a:srgbClr val="FFFF66"/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sz="2400" baseline="30000" dirty="0">
                    <a:solidFill>
                      <a:srgbClr val="FF0000"/>
                    </a:solidFill>
                  </a:rPr>
                  <a:t>(1)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sz="2400" dirty="0">
                    <a:solidFill>
                      <a:srgbClr val="FF0000"/>
                    </a:solidFill>
                  </a:rPr>
                  <a:t>关于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zh-CN" altLang="en-US" sz="2400" dirty="0">
                    <a:solidFill>
                      <a:srgbClr val="FF0000"/>
                    </a:solidFill>
                  </a:rPr>
                  <a:t>共轭</a:t>
                </a: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4DE35B1B-7D7E-4DDA-B52C-CF030A4AB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568" y="4629171"/>
                <a:ext cx="3617382" cy="461665"/>
              </a:xfrm>
              <a:prstGeom prst="rect">
                <a:avLst/>
              </a:prstGeom>
              <a:blipFill>
                <a:blip r:embed="rId9"/>
                <a:stretch>
                  <a:fillRect t="-8974" b="-2692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9517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5DEBEE-FF77-4AD1-9132-F37361805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2</a:t>
            </a:r>
            <a:r>
              <a:rPr lang="zh-CN" altLang="en-US" dirty="0"/>
              <a:t>：解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35AE77-6AA2-4541-893B-12E2F8AFE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06C41-1E1E-4B9B-9644-5AFB8CB2AB3B}" type="datetime3">
              <a:rPr lang="zh-CN" altLang="en-US" smtClean="0"/>
              <a:t>2022年10月14日星期五</a:t>
            </a:fld>
            <a:endParaRPr lang="en-US" alt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3D18AE5-9C83-4E0B-A20E-3DD678A24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79822-BC0D-4DE8-A7E5-90A3732A2B82}" type="slidenum">
              <a:rPr lang="zh-CN" altLang="en-US" smtClean="0"/>
              <a:pPr/>
              <a:t>52</a:t>
            </a:fld>
            <a:endParaRPr lang="en-US" altLang="zh-CN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4D2A437-C8DA-4B7C-9DCB-FA13B49507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79890" y="132284"/>
          <a:ext cx="7368066" cy="8484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95200" imgH="241200" progId="Equation.DSMT4">
                  <p:embed/>
                </p:oleObj>
              </mc:Choice>
              <mc:Fallback>
                <p:oleObj name="Equation" r:id="rId2" imgW="2095200" imgH="2412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A4D2A437-C8DA-4B7C-9DCB-FA13B49507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79890" y="132284"/>
                        <a:ext cx="7368066" cy="8484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4A4A9D4-A736-47AB-81A4-297C9E40449C}"/>
                  </a:ext>
                </a:extLst>
              </p:cNvPr>
              <p:cNvSpPr txBox="1"/>
              <p:nvPr/>
            </p:nvSpPr>
            <p:spPr>
              <a:xfrm>
                <a:off x="272480" y="1146561"/>
                <a:ext cx="9505056" cy="9184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/>
                  <a:t>因此由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bSup>
                  </m:oMath>
                </a14:m>
                <a:r>
                  <a:rPr lang="zh-CN" altLang="en-US" sz="2400" dirty="0"/>
                  <a:t>出发沿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d>
                          <m:d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bSup>
                  </m:oMath>
                </a14:m>
                <a:r>
                  <a:rPr lang="zh-CN" altLang="en-US" sz="2400" dirty="0"/>
                  <a:t>着方向搜索就可以得到极值点</a:t>
                </a:r>
                <a:r>
                  <a:rPr lang="en-US" altLang="zh-CN" sz="2400" dirty="0"/>
                  <a:t>:</a:t>
                </a:r>
              </a:p>
              <a:p>
                <a:endParaRPr lang="en-US" altLang="zh-CN" sz="24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4A4A9D4-A736-47AB-81A4-297C9E4044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480" y="1146561"/>
                <a:ext cx="9505056" cy="918457"/>
              </a:xfrm>
              <a:prstGeom prst="rect">
                <a:avLst/>
              </a:prstGeom>
              <a:blipFill>
                <a:blip r:embed="rId5"/>
                <a:stretch>
                  <a:fillRect l="-10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文本框 34">
            <a:extLst>
              <a:ext uri="{FF2B5EF4-FFF2-40B4-BE49-F238E27FC236}">
                <a16:creationId xmlns:a16="http://schemas.microsoft.com/office/drawing/2014/main" id="{4DE35B1B-7D7E-4DDA-B52C-CF030A4ABC01}"/>
              </a:ext>
            </a:extLst>
          </p:cNvPr>
          <p:cNvSpPr txBox="1"/>
          <p:nvPr/>
        </p:nvSpPr>
        <p:spPr>
          <a:xfrm>
            <a:off x="1344300" y="3290610"/>
            <a:ext cx="6489019" cy="2062103"/>
          </a:xfrm>
          <a:prstGeom prst="rect">
            <a:avLst/>
          </a:prstGeom>
          <a:solidFill>
            <a:srgbClr val="FFFF66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</a:rPr>
              <a:t>此题仅仅是为了练习</a:t>
            </a:r>
            <a:r>
              <a:rPr lang="en-US" altLang="zh-CN" sz="3200" dirty="0">
                <a:solidFill>
                  <a:srgbClr val="FF0000"/>
                </a:solidFill>
              </a:rPr>
              <a:t>Powell</a:t>
            </a:r>
            <a:r>
              <a:rPr lang="zh-CN" altLang="en-US" sz="3200" dirty="0">
                <a:solidFill>
                  <a:srgbClr val="FF0000"/>
                </a:solidFill>
              </a:rPr>
              <a:t>法。</a:t>
            </a:r>
            <a:endParaRPr lang="en-US" altLang="zh-CN" sz="3200" dirty="0">
              <a:solidFill>
                <a:srgbClr val="FF0000"/>
              </a:solidFill>
            </a:endParaRPr>
          </a:p>
          <a:p>
            <a:r>
              <a:rPr lang="zh-CN" altLang="en-US" sz="3200" dirty="0">
                <a:solidFill>
                  <a:srgbClr val="FF0000"/>
                </a:solidFill>
              </a:rPr>
              <a:t>如果实际求解，对于此题</a:t>
            </a:r>
            <a:r>
              <a:rPr lang="en-US" altLang="zh-CN" sz="3200" dirty="0">
                <a:solidFill>
                  <a:srgbClr val="FF0000"/>
                </a:solidFill>
              </a:rPr>
              <a:t>Powell</a:t>
            </a:r>
            <a:r>
              <a:rPr lang="zh-CN" altLang="en-US" sz="3200" dirty="0">
                <a:solidFill>
                  <a:srgbClr val="FF0000"/>
                </a:solidFill>
              </a:rPr>
              <a:t>法不是最佳选择，直接通过梯度就可以求解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ED4F6E0D-3450-4787-98F8-CB266C81B6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1075762"/>
              </p:ext>
            </p:extLst>
          </p:nvPr>
        </p:nvGraphicFramePr>
        <p:xfrm>
          <a:off x="1637060" y="1885741"/>
          <a:ext cx="4320480" cy="10642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54000" imgH="457200" progId="Equation.DSMT4">
                  <p:embed/>
                </p:oleObj>
              </mc:Choice>
              <mc:Fallback>
                <p:oleObj name="Equation" r:id="rId6" imgW="1854000" imgH="457200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77C57F3A-6650-49F6-A25A-49BA55DF15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637060" y="1885741"/>
                        <a:ext cx="4320480" cy="10642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98802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9526</TotalTime>
  <Words>2399</Words>
  <Application>Microsoft Office PowerPoint</Application>
  <PresentationFormat>A4 纸张(210x297 毫米)</PresentationFormat>
  <Paragraphs>443</Paragraphs>
  <Slides>52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52</vt:i4>
      </vt:variant>
    </vt:vector>
  </HeadingPairs>
  <TitlesOfParts>
    <vt:vector size="61" baseType="lpstr">
      <vt:lpstr>黑体</vt:lpstr>
      <vt:lpstr>宋体</vt:lpstr>
      <vt:lpstr>Arial</vt:lpstr>
      <vt:lpstr>Cambria Math</vt:lpstr>
      <vt:lpstr>Times New Roman</vt:lpstr>
      <vt:lpstr>Wingdings</vt:lpstr>
      <vt:lpstr>Presentation</vt:lpstr>
      <vt:lpstr>Equation</vt:lpstr>
      <vt:lpstr>MathType 6.0 Equation</vt:lpstr>
      <vt:lpstr>最优化理论</vt:lpstr>
      <vt:lpstr>无约束优化方法</vt:lpstr>
      <vt:lpstr>无约束优化方法</vt:lpstr>
      <vt:lpstr>共轭方向法</vt:lpstr>
      <vt:lpstr>共轭方向法</vt:lpstr>
      <vt:lpstr>共轭方向法</vt:lpstr>
      <vt:lpstr>共轭方向法</vt:lpstr>
      <vt:lpstr>共轭方向定义推导</vt:lpstr>
      <vt:lpstr>共轭方向定义推导</vt:lpstr>
      <vt:lpstr>共轭方向定义推导</vt:lpstr>
      <vt:lpstr>共轭方向定义推导</vt:lpstr>
      <vt:lpstr>共轭方向定义推导</vt:lpstr>
      <vt:lpstr>共轭方向定义推导</vt:lpstr>
      <vt:lpstr>共轭方向定义推导</vt:lpstr>
      <vt:lpstr>共轭方向定义推导</vt:lpstr>
      <vt:lpstr>共轭方向法</vt:lpstr>
      <vt:lpstr>共轭方向法</vt:lpstr>
      <vt:lpstr>例1：解</vt:lpstr>
      <vt:lpstr>共轭方向法</vt:lpstr>
      <vt:lpstr>共轭方向形成公式推导</vt:lpstr>
      <vt:lpstr>共轭方向形成公式推导</vt:lpstr>
      <vt:lpstr>共轭方向法</vt:lpstr>
      <vt:lpstr>共轭方向法</vt:lpstr>
      <vt:lpstr>共轭方向法</vt:lpstr>
      <vt:lpstr>共轭方向法基本流程</vt:lpstr>
      <vt:lpstr>共轭方向法基本流程</vt:lpstr>
      <vt:lpstr>共轭方向法</vt:lpstr>
      <vt:lpstr>共轭方向法</vt:lpstr>
      <vt:lpstr>共轭方向法</vt:lpstr>
      <vt:lpstr>Powell法</vt:lpstr>
      <vt:lpstr>Powell法</vt:lpstr>
      <vt:lpstr>Powell法</vt:lpstr>
      <vt:lpstr>Powell法</vt:lpstr>
      <vt:lpstr>Powell法</vt:lpstr>
      <vt:lpstr>Powell法</vt:lpstr>
      <vt:lpstr>Powell法</vt:lpstr>
      <vt:lpstr>Powell法</vt:lpstr>
      <vt:lpstr>Powell法</vt:lpstr>
      <vt:lpstr>Powell法</vt:lpstr>
      <vt:lpstr>Powell法</vt:lpstr>
      <vt:lpstr>例2：解</vt:lpstr>
      <vt:lpstr>例2：解</vt:lpstr>
      <vt:lpstr>例2：解</vt:lpstr>
      <vt:lpstr>例2：解</vt:lpstr>
      <vt:lpstr>例2：解</vt:lpstr>
      <vt:lpstr>例2：解</vt:lpstr>
      <vt:lpstr>例2：解</vt:lpstr>
      <vt:lpstr>例2：解</vt:lpstr>
      <vt:lpstr>例2：解</vt:lpstr>
      <vt:lpstr>例2：解</vt:lpstr>
      <vt:lpstr>例2：解</vt:lpstr>
      <vt:lpstr>例2：解</vt:lpstr>
    </vt:vector>
  </TitlesOfParts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Administrator</cp:lastModifiedBy>
  <cp:revision>4937</cp:revision>
  <dcterms:created xsi:type="dcterms:W3CDTF">2016-10-01T05:27:09Z</dcterms:created>
  <dcterms:modified xsi:type="dcterms:W3CDTF">2022-10-14T04:42:03Z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</Properties>
</file>