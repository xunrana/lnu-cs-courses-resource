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71" r:id="rId11"/>
    <p:sldId id="266" r:id="rId12"/>
    <p:sldId id="268" r:id="rId13"/>
    <p:sldId id="270" r:id="rId14"/>
    <p:sldId id="267" r:id="rId15"/>
    <p:sldId id="264" r:id="rId16"/>
    <p:sldId id="265" r:id="rId17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9"/>
            <p14:sldId id="263"/>
            <p14:sldId id="271"/>
            <p14:sldId id="266"/>
            <p14:sldId id="268"/>
            <p14:sldId id="270"/>
            <p14:sldId id="267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66"/>
    <a:srgbClr val="30A040"/>
    <a:srgbClr val="CC3399"/>
    <a:srgbClr val="FFFFFF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 autoAdjust="0"/>
    <p:restoredTop sz="93826" autoAdjust="0"/>
  </p:normalViewPr>
  <p:slideViewPr>
    <p:cSldViewPr>
      <p:cViewPr varScale="1">
        <p:scale>
          <a:sx n="67" d="100"/>
          <a:sy n="67" d="100"/>
        </p:scale>
        <p:origin x="868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2022年12月2日星期五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2022年12月2日星期五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15.wmf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27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675163" y="4100024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现代优化方法</a:t>
            </a:r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2022年12月2日星期五</a:t>
            </a:fld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现代优化方法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组合优化问题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启发式算法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1143000" lvl="1" indent="-742950">
              <a:buFont typeface="+mj-ea"/>
              <a:buAutoNum type="circleNumDbPlain"/>
            </a:pPr>
            <a:r>
              <a:rPr lang="zh-CN" altLang="en-US" b="0" dirty="0">
                <a:solidFill>
                  <a:srgbClr val="FF0000"/>
                </a:solidFill>
              </a:rPr>
              <a:t>蚁群算法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1143000" lvl="1" indent="-742950">
              <a:buFont typeface="+mj-ea"/>
              <a:buAutoNum type="circleNumDbPlain"/>
            </a:pPr>
            <a:r>
              <a:rPr lang="zh-CN" altLang="en-US" b="0" dirty="0">
                <a:solidFill>
                  <a:srgbClr val="FF0000"/>
                </a:solidFill>
              </a:rPr>
              <a:t>遗传算法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1143000" lvl="1" indent="-742950">
              <a:buFont typeface="+mj-ea"/>
              <a:buAutoNum type="circleNumDbPlain"/>
            </a:pPr>
            <a:r>
              <a:rPr lang="zh-CN" altLang="en-US" b="0" dirty="0"/>
              <a:t>模拟退火算法</a:t>
            </a:r>
            <a:endParaRPr lang="en-US" altLang="zh-CN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73560-8AED-4DDE-8FB9-37CFAC54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FCCF2-4836-498D-AA0B-66092602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简介</a:t>
            </a:r>
            <a:endParaRPr lang="en-US" altLang="zh-CN" dirty="0"/>
          </a:p>
          <a:p>
            <a:pPr lvl="1"/>
            <a:r>
              <a:rPr lang="zh-CN" altLang="en-US" dirty="0"/>
              <a:t>模拟退火算法</a:t>
            </a:r>
            <a:r>
              <a:rPr lang="en-US" altLang="zh-CN" dirty="0"/>
              <a:t>(Simulated Annealing, SA)</a:t>
            </a:r>
            <a:r>
              <a:rPr lang="zh-CN" altLang="en-US" dirty="0"/>
              <a:t>，最早的思想是由</a:t>
            </a:r>
            <a:r>
              <a:rPr lang="en-US" altLang="zh-CN" dirty="0"/>
              <a:t>N. Metropolis</a:t>
            </a:r>
            <a:r>
              <a:rPr lang="zh-CN" altLang="en-US" dirty="0"/>
              <a:t>在</a:t>
            </a:r>
            <a:r>
              <a:rPr lang="en-US" altLang="zh-CN" dirty="0"/>
              <a:t>1953</a:t>
            </a:r>
            <a:r>
              <a:rPr lang="zh-CN" altLang="en-US" dirty="0"/>
              <a:t>年提出的，是基于</a:t>
            </a:r>
            <a:r>
              <a:rPr lang="en-US" altLang="zh-CN" dirty="0"/>
              <a:t>Monte Carlo</a:t>
            </a:r>
            <a:r>
              <a:rPr lang="zh-CN" altLang="en-US" dirty="0"/>
              <a:t>迭代求解策略的一种随机寻优算法，理论上是一个全局最优算法。其出发点是</a:t>
            </a:r>
            <a:r>
              <a:rPr lang="zh-CN" altLang="en-US" dirty="0">
                <a:solidFill>
                  <a:srgbClr val="FF0000"/>
                </a:solidFill>
              </a:rPr>
              <a:t>基于物理中固体物质的退火过程与一般组合优化问题之间的相似性。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CFB5E-17DE-4888-A038-9CC1599D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A14C34-AA7A-4E2A-9B4F-5327D001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659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92830-7E01-4B11-B339-3151ECDC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9968AF-8EBF-41E0-8844-5B41802F3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B8141-9C03-44C3-81EC-DF1FAE2C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878D7E-BA46-464C-AF3E-65486CC5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A7B8F1-513E-47C9-A215-E48145CABE02}"/>
              </a:ext>
            </a:extLst>
          </p:cNvPr>
          <p:cNvSpPr/>
          <p:nvPr/>
        </p:nvSpPr>
        <p:spPr>
          <a:xfrm>
            <a:off x="488504" y="4223368"/>
            <a:ext cx="92890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</a:rPr>
              <a:t>统计力学表明材料中粒子的不同结构对应于粒子的不同能量水平。</a:t>
            </a:r>
            <a:r>
              <a:rPr lang="zh-CN" altLang="en-US" sz="2400" b="1" dirty="0">
                <a:solidFill>
                  <a:srgbClr val="FF0000"/>
                </a:solidFill>
              </a:rPr>
              <a:t>在高温条件下，粒子的能量较高，可以自由运动和重新排列</a:t>
            </a:r>
            <a:r>
              <a:rPr lang="zh-CN" altLang="en-US" sz="2400" b="1" dirty="0">
                <a:solidFill>
                  <a:srgbClr val="000000"/>
                </a:solidFill>
              </a:rPr>
              <a:t>。</a:t>
            </a:r>
            <a:r>
              <a:rPr lang="zh-CN" altLang="en-US" sz="2400" b="1" dirty="0">
                <a:solidFill>
                  <a:srgbClr val="0000FF"/>
                </a:solidFill>
              </a:rPr>
              <a:t>在低温条件下，粒子能量较低。</a:t>
            </a:r>
            <a:r>
              <a:rPr lang="zh-CN" altLang="en-US" sz="2400" b="1" dirty="0">
                <a:solidFill>
                  <a:srgbClr val="000000"/>
                </a:solidFill>
              </a:rPr>
              <a:t>如果从高温开始，非常缓慢地降温（</a:t>
            </a:r>
            <a:r>
              <a:rPr lang="zh-CN" altLang="en-US" sz="2400" b="1" dirty="0">
                <a:solidFill>
                  <a:srgbClr val="7030A0"/>
                </a:solidFill>
              </a:rPr>
              <a:t>这个过程被称为退火</a:t>
            </a:r>
            <a:r>
              <a:rPr lang="zh-CN" altLang="en-US" sz="2400" b="1" dirty="0">
                <a:solidFill>
                  <a:srgbClr val="000000"/>
                </a:solidFill>
              </a:rPr>
              <a:t>），粒子就可以在每个温度下达到热平衡。当系统完全被冷却时，最终形成处于低能状态的晶体。 </a:t>
            </a:r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3320E815-8E55-4323-8783-B0F3DF79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098" y="1764871"/>
            <a:ext cx="5974854" cy="2091813"/>
          </a:xfrm>
          <a:prstGeom prst="rect">
            <a:avLst/>
          </a:prstGeom>
        </p:spPr>
      </p:pic>
      <p:pic>
        <p:nvPicPr>
          <p:cNvPr id="8" name="20 7">
            <a:extLst>
              <a:ext uri="{FF2B5EF4-FFF2-40B4-BE49-F238E27FC236}">
                <a16:creationId xmlns:a16="http://schemas.microsoft.com/office/drawing/2014/main" id="{B33A9687-57ED-4D21-A059-D6640204E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8" y="1901609"/>
            <a:ext cx="30670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8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05724-C0ED-429D-850B-BF52EABA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960A0E-4B4B-45DC-931D-65D243A0E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状态转移概率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00"/>
                </a:solidFill>
              </a:rPr>
              <a:t>统计力学的研究表明，在温度</a:t>
            </a:r>
            <a:r>
              <a:rPr lang="en-US" altLang="zh-CN" dirty="0">
                <a:solidFill>
                  <a:srgbClr val="000000"/>
                </a:solidFill>
              </a:rPr>
              <a:t>T</a:t>
            </a:r>
            <a:r>
              <a:rPr lang="zh-CN" altLang="en-US" dirty="0">
                <a:solidFill>
                  <a:srgbClr val="000000"/>
                </a:solidFill>
              </a:rPr>
              <a:t>，进行了充分转换之后，材料将达到热平衡。此时分子从状态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转移到状态</a:t>
            </a:r>
            <a:r>
              <a:rPr lang="en-US" altLang="zh-CN" dirty="0">
                <a:solidFill>
                  <a:srgbClr val="000000"/>
                </a:solidFill>
              </a:rPr>
              <a:t>j</a:t>
            </a:r>
            <a:r>
              <a:rPr lang="zh-CN" altLang="en-US" dirty="0">
                <a:solidFill>
                  <a:srgbClr val="000000"/>
                </a:solidFill>
              </a:rPr>
              <a:t>的概率满足：      </a:t>
            </a:r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EFF5F-DAB7-4AF0-97ED-D5D21744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4C6495-A8B2-4E91-9C9F-1C00E6E7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C1AA856-321C-4E31-B5D0-6A3B2F65C321}"/>
                  </a:ext>
                </a:extLst>
              </p:cNvPr>
              <p:cNvSpPr/>
              <p:nvPr/>
            </p:nvSpPr>
            <p:spPr>
              <a:xfrm>
                <a:off x="704528" y="5310519"/>
                <a:ext cx="885698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0000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</a:rPr>
                  <a:t>为玻尔兹曼（</a:t>
                </a:r>
                <a:r>
                  <a:rPr lang="en-US" altLang="zh-CN" sz="2400" b="1" dirty="0">
                    <a:solidFill>
                      <a:srgbClr val="000000"/>
                    </a:solidFill>
                  </a:rPr>
                  <a:t>Boltzmann</a:t>
                </a:r>
                <a:r>
                  <a:rPr lang="zh-CN" altLang="en-US" sz="2400" b="1" dirty="0">
                    <a:solidFill>
                      <a:srgbClr val="000000"/>
                    </a:solidFill>
                  </a:rPr>
                  <a:t>）系数</a:t>
                </a:r>
                <a:r>
                  <a:rPr lang="en-US" altLang="zh-CN" sz="2400" b="1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𝑬𝒊</m:t>
                    </m:r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𝑬𝒋</m:t>
                    </m:r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</a:rPr>
                  <a:t>分别代表状态</a:t>
                </a:r>
                <a:r>
                  <a:rPr lang="en-US" altLang="zh-CN" sz="2400" b="1" dirty="0" err="1">
                    <a:solidFill>
                      <a:srgbClr val="000000"/>
                    </a:solidFill>
                  </a:rPr>
                  <a:t>i</a:t>
                </a:r>
                <a:r>
                  <a:rPr lang="zh-CN" altLang="en-US" sz="2400" b="1" dirty="0">
                    <a:solidFill>
                      <a:srgbClr val="000000"/>
                    </a:solidFill>
                  </a:rPr>
                  <a:t>和</a:t>
                </a:r>
                <a:r>
                  <a:rPr lang="en-US" altLang="zh-CN" sz="2400" b="1" dirty="0">
                    <a:solidFill>
                      <a:srgbClr val="000000"/>
                    </a:solidFill>
                  </a:rPr>
                  <a:t>j</a:t>
                </a:r>
                <a:r>
                  <a:rPr lang="zh-CN" altLang="en-US" sz="2400" b="1" dirty="0">
                    <a:solidFill>
                      <a:srgbClr val="000000"/>
                    </a:solidFill>
                  </a:rPr>
                  <a:t>的能量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C1AA856-321C-4E31-B5D0-6A3B2F65C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28" y="5310519"/>
                <a:ext cx="8856984" cy="830997"/>
              </a:xfrm>
              <a:prstGeom prst="rect">
                <a:avLst/>
              </a:prstGeom>
              <a:blipFill>
                <a:blip r:embed="rId3"/>
                <a:stretch>
                  <a:fillRect l="-1102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0C96EF1-E87C-4147-A8E8-DD6ED88F1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71928"/>
              </p:ext>
            </p:extLst>
          </p:nvPr>
        </p:nvGraphicFramePr>
        <p:xfrm>
          <a:off x="1640632" y="3643519"/>
          <a:ext cx="5586211" cy="15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558720" progId="Equation.DSMT4">
                  <p:embed/>
                </p:oleObj>
              </mc:Choice>
              <mc:Fallback>
                <p:oleObj name="Equation" r:id="rId4" imgW="19684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40632" y="3643519"/>
                        <a:ext cx="5586211" cy="1585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034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7B682-154A-4E25-97FA-C642F697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DD9F9-3F20-4735-90EE-88C584A9D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状态转移概率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05E4DB-C6B7-4D24-9FC2-B08B5A2CA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745CF8-AC77-401A-B68E-CABC13FE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E9CD80-1DAC-4E8F-93FD-B2E59FF0C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708568"/>
              </p:ext>
            </p:extLst>
          </p:nvPr>
        </p:nvGraphicFramePr>
        <p:xfrm>
          <a:off x="1640632" y="1921853"/>
          <a:ext cx="5586211" cy="15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558720" progId="Equation.DSMT4">
                  <p:embed/>
                </p:oleObj>
              </mc:Choice>
              <mc:Fallback>
                <p:oleObj name="Equation" r:id="rId2" imgW="1968480" imgH="558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0C96EF1-E87C-4147-A8E8-DD6ED88F1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0632" y="1921853"/>
                        <a:ext cx="5586211" cy="1585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5">
            <a:extLst>
              <a:ext uri="{FF2B5EF4-FFF2-40B4-BE49-F238E27FC236}">
                <a16:creationId xmlns:a16="http://schemas.microsoft.com/office/drawing/2014/main" id="{0E01871A-3DF8-4E07-9582-77A8D0A48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68" y="3579625"/>
            <a:ext cx="7467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en-US" sz="2400" dirty="0">
                <a:solidFill>
                  <a:srgbClr val="000000"/>
                </a:solidFill>
              </a:rPr>
              <a:t>在同一个温度，分子停留在能量小状态的概率比停留在能量大状态的概率大。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dirty="0">
                <a:solidFill>
                  <a:srgbClr val="000000"/>
                </a:solidFill>
              </a:rPr>
              <a:t>当温度相当高时，每个状态的概率基本相同，接近平均值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dirty="0">
                <a:solidFill>
                  <a:srgbClr val="000000"/>
                </a:solidFill>
              </a:rPr>
              <a:t>当温度越低时，能量越低的状态的概率值越高。当温度趋于</a:t>
            </a:r>
            <a:r>
              <a:rPr lang="en-US" altLang="zh-CN" sz="2400" dirty="0">
                <a:solidFill>
                  <a:srgbClr val="000000"/>
                </a:solidFill>
              </a:rPr>
              <a:t>0</a:t>
            </a:r>
            <a:r>
              <a:rPr lang="zh-CN" altLang="en-US" sz="2400" dirty="0">
                <a:solidFill>
                  <a:srgbClr val="000000"/>
                </a:solidFill>
              </a:rPr>
              <a:t>时，分子停留在最低能量状态的概率趋于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</a:p>
        </p:txBody>
      </p:sp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D3B6EF75-FD35-452C-B787-C9361CE1D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353410"/>
              </p:ext>
            </p:extLst>
          </p:nvPr>
        </p:nvGraphicFramePr>
        <p:xfrm>
          <a:off x="2369444" y="4842840"/>
          <a:ext cx="787400" cy="50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253800" progId="Equation.DSMT4">
                  <p:embed/>
                </p:oleObj>
              </mc:Choice>
              <mc:Fallback>
                <p:oleObj name="Equation" r:id="rId4" imgW="393480" imgH="253800" progId="Equation.DSMT4">
                  <p:embed/>
                  <p:pic>
                    <p:nvPicPr>
                      <p:cNvPr id="747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444" y="4842840"/>
                        <a:ext cx="787400" cy="508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689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7BB85-E337-40BC-9264-EDEC6FE9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05C38-EAAC-42DE-8BA5-EDF412EBF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物理退火思想求解组合优化问题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53E068-B98C-4417-A5FF-A6ABA1BE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4D5B9E-DF67-455F-A61F-5CC30A3B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0DD8F33-5440-4955-9197-7890E4D93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257191"/>
              </p:ext>
            </p:extLst>
          </p:nvPr>
        </p:nvGraphicFramePr>
        <p:xfrm>
          <a:off x="488504" y="2060848"/>
          <a:ext cx="8640960" cy="4284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481251587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1058737401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优化问题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物理退火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6017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259967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目标函数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能量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022049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最优解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最低能量状态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9538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设定初始化温度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加温过程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010586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温度</a:t>
                      </a:r>
                      <a:r>
                        <a:rPr lang="en-US" altLang="zh-CN" sz="2400" dirty="0"/>
                        <a:t>T</a:t>
                      </a:r>
                      <a:r>
                        <a:rPr lang="zh-CN" altLang="en-US" sz="2400" dirty="0"/>
                        <a:t>迭代下降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退火降温过程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964453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通过概率确定下一个组合状态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分子状态转移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825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11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DD1A5-438E-449A-A7B7-6FFB0AD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1FE20-8781-4649-B8C6-DA46EFB8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172A6-B8DC-4DC2-9F7B-08EDE88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8632EA-5118-495F-B042-244C8F2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EFE640-AE17-4CE4-BDAF-1BB9183DB48C}"/>
              </a:ext>
            </a:extLst>
          </p:cNvPr>
          <p:cNvSpPr txBox="1"/>
          <p:nvPr/>
        </p:nvSpPr>
        <p:spPr>
          <a:xfrm>
            <a:off x="344489" y="2060848"/>
            <a:ext cx="89289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初始化状态（加温过程）</a:t>
            </a:r>
            <a:endParaRPr lang="en-US" altLang="zh-CN" sz="2800" dirty="0"/>
          </a:p>
          <a:p>
            <a:pPr lvl="1"/>
            <a:r>
              <a:rPr lang="zh-CN" altLang="en-US" sz="2800" dirty="0"/>
              <a:t>设定一些初始化条件，包括初始温度，解的表现形式</a:t>
            </a: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状态转移（内循环）</a:t>
            </a:r>
            <a:endParaRPr lang="en-US" altLang="zh-CN" sz="2800" dirty="0"/>
          </a:p>
          <a:p>
            <a:pPr lvl="1"/>
            <a:r>
              <a:rPr lang="zh-CN" altLang="en-US" sz="2800" dirty="0"/>
              <a:t>随机生成新的解，根据接收概率来决定是否进行状态转移</a:t>
            </a: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冷却过程（退火过程）</a:t>
            </a:r>
            <a:endParaRPr lang="en-US" altLang="zh-CN" sz="2800" dirty="0"/>
          </a:p>
          <a:p>
            <a:pPr lvl="1"/>
            <a:r>
              <a:rPr lang="zh-CN" altLang="en-US" sz="2800" dirty="0"/>
              <a:t>利用降温函数来降低温度，判断是否进行下一次迭代</a:t>
            </a:r>
          </a:p>
        </p:txBody>
      </p:sp>
    </p:spTree>
    <p:extLst>
      <p:ext uri="{BB962C8B-B14F-4D97-AF65-F5344CB8AC3E}">
        <p14:creationId xmlns:p14="http://schemas.microsoft.com/office/powerpoint/2010/main" val="425607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DD1A5-438E-449A-A7B7-6FFB0AD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1FE20-8781-4649-B8C6-DA46EFB8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172A6-B8DC-4DC2-9F7B-08EDE88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8632EA-5118-495F-B042-244C8F2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pSp>
        <p:nvGrpSpPr>
          <p:cNvPr id="6" name="Group 27">
            <a:extLst>
              <a:ext uri="{FF2B5EF4-FFF2-40B4-BE49-F238E27FC236}">
                <a16:creationId xmlns:a16="http://schemas.microsoft.com/office/drawing/2014/main" id="{5D81D29E-9E45-4457-A3E0-49474B729372}"/>
              </a:ext>
            </a:extLst>
          </p:cNvPr>
          <p:cNvGrpSpPr>
            <a:grpSpLocks/>
          </p:cNvGrpSpPr>
          <p:nvPr/>
        </p:nvGrpSpPr>
        <p:grpSpPr bwMode="auto">
          <a:xfrm>
            <a:off x="776536" y="1844824"/>
            <a:ext cx="7924800" cy="1057275"/>
            <a:chOff x="384" y="414"/>
            <a:chExt cx="4992" cy="666"/>
          </a:xfrm>
        </p:grpSpPr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CD220135-F1AF-4A88-AF63-58FE5F898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432"/>
              <a:ext cx="499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Step1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：随机产生一个初始解    ，令              ，并计算目标函数值</a:t>
              </a:r>
            </a:p>
          </p:txBody>
        </p:sp>
        <p:graphicFrame>
          <p:nvGraphicFramePr>
            <p:cNvPr id="8" name="Object 6">
              <a:extLst>
                <a:ext uri="{FF2B5EF4-FFF2-40B4-BE49-F238E27FC236}">
                  <a16:creationId xmlns:a16="http://schemas.microsoft.com/office/drawing/2014/main" id="{E137D7A5-703B-4817-9DB1-B98F05F66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6" y="414"/>
            <a:ext cx="88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8720" imgH="228600" progId="Equation.DSMT4">
                    <p:embed/>
                  </p:oleObj>
                </mc:Choice>
                <mc:Fallback>
                  <p:oleObj name="Equation" r:id="rId2" imgW="558720" imgH="228600" progId="Equation.DSMT4">
                    <p:embed/>
                    <p:pic>
                      <p:nvPicPr>
                        <p:cNvPr id="22221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414"/>
                          <a:ext cx="88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313705E3-D6AA-4B3B-A276-A6405AF8D1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416"/>
            <a:ext cx="26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228600" progId="Equation.DSMT4">
                    <p:embed/>
                  </p:oleObj>
                </mc:Choice>
                <mc:Fallback>
                  <p:oleObj name="Equation" r:id="rId4" imgW="164880" imgH="228600" progId="Equation.DSMT4">
                    <p:embed/>
                    <p:pic>
                      <p:nvPicPr>
                        <p:cNvPr id="2222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416"/>
                          <a:ext cx="26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EBD5872C-0268-4AE8-AE06-79D426AF65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720"/>
            <a:ext cx="68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40" imgH="228600" progId="Equation.DSMT4">
                    <p:embed/>
                  </p:oleObj>
                </mc:Choice>
                <mc:Fallback>
                  <p:oleObj name="Equation" r:id="rId6" imgW="431640" imgH="228600" progId="Equation.DSMT4">
                    <p:embed/>
                    <p:pic>
                      <p:nvPicPr>
                        <p:cNvPr id="22221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720"/>
                          <a:ext cx="68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4">
              <a:extLst>
                <a:ext uri="{FF2B5EF4-FFF2-40B4-BE49-F238E27FC236}">
                  <a16:creationId xmlns:a16="http://schemas.microsoft.com/office/drawing/2014/main" id="{0309F2D1-A31A-42ED-8655-00486F0F6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4" y="747"/>
            <a:ext cx="144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90360" imgH="228600" progId="Equation.DSMT4">
                    <p:embed/>
                  </p:oleObj>
                </mc:Choice>
                <mc:Fallback>
                  <p:oleObj name="Equation" r:id="rId8" imgW="990360" imgH="228600" progId="Equation.DSMT4">
                    <p:embed/>
                    <p:pic>
                      <p:nvPicPr>
                        <p:cNvPr id="22222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747"/>
                          <a:ext cx="1440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696E2F8F-2155-417E-9BE8-4091245CAFE9}"/>
              </a:ext>
            </a:extLst>
          </p:cNvPr>
          <p:cNvSpPr/>
          <p:nvPr/>
        </p:nvSpPr>
        <p:spPr>
          <a:xfrm>
            <a:off x="847253" y="2933457"/>
            <a:ext cx="792480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在此步骤，需要明确不同优化问题解的构建方式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例如：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</a:rPr>
              <a:t>TSP</a:t>
            </a:r>
            <a:r>
              <a:rPr lang="zh-CN" altLang="en-US" sz="2400" dirty="0">
                <a:solidFill>
                  <a:srgbClr val="000000"/>
                </a:solidFill>
              </a:rPr>
              <a:t>问题可采用</a:t>
            </a:r>
            <a:r>
              <a:rPr lang="en-US" altLang="zh-CN" sz="2400" dirty="0">
                <a:solidFill>
                  <a:srgbClr val="000000"/>
                </a:solidFill>
              </a:rPr>
              <a:t>n</a:t>
            </a:r>
            <a:r>
              <a:rPr lang="zh-CN" altLang="en-US" sz="2400" dirty="0">
                <a:solidFill>
                  <a:srgbClr val="000000"/>
                </a:solidFill>
              </a:rPr>
              <a:t>个城市的一个排序表示问题的一个解，可通过城市间不同位置交换构造邻域（候选解）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</a:rPr>
              <a:t>0-1</a:t>
            </a:r>
            <a:r>
              <a:rPr lang="zh-CN" altLang="en-US" sz="2400" dirty="0">
                <a:solidFill>
                  <a:srgbClr val="000000"/>
                </a:solidFill>
              </a:rPr>
              <a:t>背包问题可以用</a:t>
            </a:r>
            <a:r>
              <a:rPr lang="en-US" altLang="zh-CN" sz="2400" dirty="0">
                <a:solidFill>
                  <a:srgbClr val="000000"/>
                </a:solidFill>
              </a:rPr>
              <a:t>n</a:t>
            </a:r>
            <a:r>
              <a:rPr lang="zh-CN" altLang="en-US" sz="2400" dirty="0">
                <a:solidFill>
                  <a:srgbClr val="000000"/>
                </a:solidFill>
              </a:rPr>
              <a:t>个</a:t>
            </a:r>
            <a:r>
              <a:rPr lang="en-US" altLang="zh-CN" sz="2400" dirty="0">
                <a:solidFill>
                  <a:srgbClr val="000000"/>
                </a:solidFill>
              </a:rPr>
              <a:t>01</a:t>
            </a:r>
            <a:r>
              <a:rPr lang="zh-CN" altLang="en-US" sz="2400" dirty="0">
                <a:solidFill>
                  <a:srgbClr val="000000"/>
                </a:solidFill>
              </a:rPr>
              <a:t>字符串来表示</a:t>
            </a:r>
            <a:r>
              <a:rPr lang="en-US" altLang="zh-CN" sz="2400" dirty="0">
                <a:solidFill>
                  <a:srgbClr val="000000"/>
                </a:solidFill>
              </a:rPr>
              <a:t>n</a:t>
            </a:r>
            <a:r>
              <a:rPr lang="zh-CN" altLang="en-US" sz="2400" dirty="0">
                <a:solidFill>
                  <a:srgbClr val="000000"/>
                </a:solidFill>
              </a:rPr>
              <a:t>个不同物品的拿取组合，可以通过某些数位</a:t>
            </a:r>
            <a:r>
              <a:rPr lang="en-US" altLang="zh-CN" sz="2400" dirty="0">
                <a:solidFill>
                  <a:srgbClr val="000000"/>
                </a:solidFill>
              </a:rPr>
              <a:t>01</a:t>
            </a:r>
            <a:r>
              <a:rPr lang="zh-CN" altLang="en-US" sz="2400" dirty="0">
                <a:solidFill>
                  <a:srgbClr val="000000"/>
                </a:solidFill>
              </a:rPr>
              <a:t>互换来构建不同的邻域（候选解）</a:t>
            </a:r>
          </a:p>
        </p:txBody>
      </p:sp>
    </p:spTree>
    <p:extLst>
      <p:ext uri="{BB962C8B-B14F-4D97-AF65-F5344CB8AC3E}">
        <p14:creationId xmlns:p14="http://schemas.microsoft.com/office/powerpoint/2010/main" val="2711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08B50-64E5-4265-A27F-F8F624ED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32D29E-CB30-4368-90CE-28246B8FC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r>
              <a:rPr lang="zh-CN" altLang="en-US" dirty="0"/>
              <a:t>初始化温度的设定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AD07F7-835A-497B-ADD5-7F8F2EEA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963EDD-4D9A-4AC4-AAB1-58492D4B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D0CE6855-9BFF-4DFD-AEA7-00DA8910B07F}"/>
              </a:ext>
            </a:extLst>
          </p:cNvPr>
          <p:cNvGrpSpPr>
            <a:grpSpLocks/>
          </p:cNvGrpSpPr>
          <p:nvPr/>
        </p:nvGrpSpPr>
        <p:grpSpPr bwMode="auto">
          <a:xfrm>
            <a:off x="632520" y="4357266"/>
            <a:ext cx="7848600" cy="2024062"/>
            <a:chOff x="480" y="2325"/>
            <a:chExt cx="4944" cy="1275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AE048F3D-9F0B-4112-94E2-E91AC0E1E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273"/>
              <a:ext cx="49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>
                  <a:solidFill>
                    <a:srgbClr val="000000"/>
                  </a:solidFill>
                </a:rPr>
                <a:t>实际计算中，可以选</a:t>
              </a:r>
              <a:r>
                <a:rPr lang="en-US" altLang="zh-CN" sz="2800">
                  <a:solidFill>
                    <a:srgbClr val="000000"/>
                  </a:solidFill>
                </a:rPr>
                <a:t>K=10</a:t>
              </a:r>
              <a:r>
                <a:rPr lang="zh-CN" altLang="en-US" sz="2800">
                  <a:solidFill>
                    <a:srgbClr val="000000"/>
                  </a:solidFill>
                </a:rPr>
                <a:t>，</a:t>
              </a:r>
              <a:r>
                <a:rPr lang="en-US" altLang="zh-CN" sz="2800">
                  <a:solidFill>
                    <a:srgbClr val="000000"/>
                  </a:solidFill>
                </a:rPr>
                <a:t>20</a:t>
              </a:r>
              <a:r>
                <a:rPr lang="zh-CN" altLang="en-US" sz="2800">
                  <a:solidFill>
                    <a:srgbClr val="000000"/>
                  </a:solidFill>
                </a:rPr>
                <a:t>，</a:t>
              </a:r>
              <a:r>
                <a:rPr lang="en-US" altLang="zh-CN" sz="2800">
                  <a:solidFill>
                    <a:srgbClr val="000000"/>
                  </a:solidFill>
                </a:rPr>
                <a:t>100…</a:t>
              </a:r>
              <a:r>
                <a:rPr lang="zh-CN" altLang="en-US" sz="2800">
                  <a:solidFill>
                    <a:srgbClr val="000000"/>
                  </a:solidFill>
                </a:rPr>
                <a:t>等试验值</a:t>
              </a:r>
            </a:p>
          </p:txBody>
        </p:sp>
        <p:graphicFrame>
          <p:nvGraphicFramePr>
            <p:cNvPr id="8" name="Object 5">
              <a:extLst>
                <a:ext uri="{FF2B5EF4-FFF2-40B4-BE49-F238E27FC236}">
                  <a16:creationId xmlns:a16="http://schemas.microsoft.com/office/drawing/2014/main" id="{B1C89556-5EE9-4F9B-8D5B-3DFD85456B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9" y="2356"/>
            <a:ext cx="74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45760" imgH="228600" progId="Equation.DSMT4">
                    <p:embed/>
                  </p:oleObj>
                </mc:Choice>
                <mc:Fallback>
                  <p:oleObj name="Equation" r:id="rId2" imgW="545760" imgH="228600" progId="Equation.DSMT4">
                    <p:embed/>
                    <p:pic>
                      <p:nvPicPr>
                        <p:cNvPr id="22426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" y="2356"/>
                          <a:ext cx="74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F76121D0-01C9-46DA-8D31-089EDBA7C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3" y="2325"/>
              <a:ext cx="1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dirty="0">
                  <a:solidFill>
                    <a:srgbClr val="000000"/>
                  </a:solidFill>
                </a:rPr>
                <a:t>K</a:t>
              </a:r>
              <a:r>
                <a:rPr lang="zh-CN" altLang="en-US" sz="2800" dirty="0">
                  <a:solidFill>
                    <a:srgbClr val="000000"/>
                  </a:solidFill>
                </a:rPr>
                <a:t>充分大的数</a:t>
              </a:r>
            </a:p>
          </p:txBody>
        </p:sp>
        <p:graphicFrame>
          <p:nvGraphicFramePr>
            <p:cNvPr id="10" name="Object 7">
              <a:extLst>
                <a:ext uri="{FF2B5EF4-FFF2-40B4-BE49-F238E27FC236}">
                  <a16:creationId xmlns:a16="http://schemas.microsoft.com/office/drawing/2014/main" id="{50F0FEB5-6995-4B0B-A1D5-97158D8D76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763"/>
            <a:ext cx="3617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54280" imgH="253800" progId="Equation.DSMT4">
                    <p:embed/>
                  </p:oleObj>
                </mc:Choice>
                <mc:Fallback>
                  <p:oleObj name="Equation" r:id="rId4" imgW="2654280" imgH="253800" progId="Equation.DSMT4">
                    <p:embed/>
                    <p:pic>
                      <p:nvPicPr>
                        <p:cNvPr id="22426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763"/>
                          <a:ext cx="3617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8">
            <a:extLst>
              <a:ext uri="{FF2B5EF4-FFF2-40B4-BE49-F238E27FC236}">
                <a16:creationId xmlns:a16="http://schemas.microsoft.com/office/drawing/2014/main" id="{033B7508-E849-4685-A264-8EB80E8D4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20" y="2454524"/>
            <a:ext cx="7772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</a:rPr>
              <a:t>实验表明，初温越大，获得高质量解的几率越大，但花费的计算时间将增加；初温过低则使算法过早陷入局部最优点。因此，初温的确定应折中考虑优化质量和优化效果。</a:t>
            </a:r>
          </a:p>
        </p:txBody>
      </p:sp>
    </p:spTree>
    <p:extLst>
      <p:ext uri="{BB962C8B-B14F-4D97-AF65-F5344CB8AC3E}">
        <p14:creationId xmlns:p14="http://schemas.microsoft.com/office/powerpoint/2010/main" val="218186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DD1A5-438E-449A-A7B7-6FFB0AD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1FE20-8781-4649-B8C6-DA46EFB8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172A6-B8DC-4DC2-9F7B-08EDE88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8632EA-5118-495F-B042-244C8F2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pSp>
        <p:nvGrpSpPr>
          <p:cNvPr id="18" name="Group 28">
            <a:extLst>
              <a:ext uri="{FF2B5EF4-FFF2-40B4-BE49-F238E27FC236}">
                <a16:creationId xmlns:a16="http://schemas.microsoft.com/office/drawing/2014/main" id="{25D6C2E6-2AD6-4209-898E-C7309FB57C0C}"/>
              </a:ext>
            </a:extLst>
          </p:cNvPr>
          <p:cNvGrpSpPr>
            <a:grpSpLocks/>
          </p:cNvGrpSpPr>
          <p:nvPr/>
        </p:nvGrpSpPr>
        <p:grpSpPr bwMode="auto">
          <a:xfrm>
            <a:off x="776536" y="1844824"/>
            <a:ext cx="7924800" cy="1876425"/>
            <a:chOff x="384" y="1056"/>
            <a:chExt cx="4992" cy="1182"/>
          </a:xfrm>
        </p:grpSpPr>
        <p:graphicFrame>
          <p:nvGraphicFramePr>
            <p:cNvPr id="19" name="Object 5">
              <a:extLst>
                <a:ext uri="{FF2B5EF4-FFF2-40B4-BE49-F238E27FC236}">
                  <a16:creationId xmlns:a16="http://schemas.microsoft.com/office/drawing/2014/main" id="{F24F685C-7008-4FF1-961F-FBF75840EB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1897"/>
            <a:ext cx="216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47560" imgH="228600" progId="Equation.DSMT4">
                    <p:embed/>
                  </p:oleObj>
                </mc:Choice>
                <mc:Fallback>
                  <p:oleObj name="Equation" r:id="rId2" imgW="1447560" imgH="228600" progId="Equation.DSMT4">
                    <p:embed/>
                    <p:pic>
                      <p:nvPicPr>
                        <p:cNvPr id="19" name="Object 5">
                          <a:extLst>
                            <a:ext uri="{FF2B5EF4-FFF2-40B4-BE49-F238E27FC236}">
                              <a16:creationId xmlns:a16="http://schemas.microsoft.com/office/drawing/2014/main" id="{F24F685C-7008-4FF1-961F-FBF75840EB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897"/>
                          <a:ext cx="216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0">
              <a:extLst>
                <a:ext uri="{FF2B5EF4-FFF2-40B4-BE49-F238E27FC236}">
                  <a16:creationId xmlns:a16="http://schemas.microsoft.com/office/drawing/2014/main" id="{DC8452F7-F63A-44C2-A4F4-EB6248D8E6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1287"/>
            <a:ext cx="42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6400" imgH="228600" progId="Equation.DSMT4">
                    <p:embed/>
                  </p:oleObj>
                </mc:Choice>
                <mc:Fallback>
                  <p:oleObj name="Equation" r:id="rId4" imgW="266400" imgH="228600" progId="Equation.DSMT4">
                    <p:embed/>
                    <p:pic>
                      <p:nvPicPr>
                        <p:cNvPr id="20" name="Object 10">
                          <a:extLst>
                            <a:ext uri="{FF2B5EF4-FFF2-40B4-BE49-F238E27FC236}">
                              <a16:creationId xmlns:a16="http://schemas.microsoft.com/office/drawing/2014/main" id="{DC8452F7-F63A-44C2-A4F4-EB6248D8E6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1287"/>
                          <a:ext cx="42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1">
              <a:extLst>
                <a:ext uri="{FF2B5EF4-FFF2-40B4-BE49-F238E27FC236}">
                  <a16:creationId xmlns:a16="http://schemas.microsoft.com/office/drawing/2014/main" id="{F05F71D2-803A-4DA6-B946-C60D604BFE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1" y="1572"/>
            <a:ext cx="50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17160" imgH="228600" progId="Equation.DSMT4">
                    <p:embed/>
                  </p:oleObj>
                </mc:Choice>
                <mc:Fallback>
                  <p:oleObj name="Equation" r:id="rId6" imgW="317160" imgH="228600" progId="Equation.DSMT4">
                    <p:embed/>
                    <p:pic>
                      <p:nvPicPr>
                        <p:cNvPr id="21" name="Object 11">
                          <a:extLst>
                            <a:ext uri="{FF2B5EF4-FFF2-40B4-BE49-F238E27FC236}">
                              <a16:creationId xmlns:a16="http://schemas.microsoft.com/office/drawing/2014/main" id="{F05F71D2-803A-4DA6-B946-C60D604BFE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1" y="1572"/>
                          <a:ext cx="50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2">
              <a:extLst>
                <a:ext uri="{FF2B5EF4-FFF2-40B4-BE49-F238E27FC236}">
                  <a16:creationId xmlns:a16="http://schemas.microsoft.com/office/drawing/2014/main" id="{EB2DC3BF-9D03-41F3-BF33-C8842EB0C2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1632"/>
            <a:ext cx="6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33160" imgH="228600" progId="Equation.DSMT4">
                    <p:embed/>
                  </p:oleObj>
                </mc:Choice>
                <mc:Fallback>
                  <p:oleObj name="Equation" r:id="rId8" imgW="533160" imgH="228600" progId="Equation.DSMT4">
                    <p:embed/>
                    <p:pic>
                      <p:nvPicPr>
                        <p:cNvPr id="22" name="Object 12">
                          <a:extLst>
                            <a:ext uri="{FF2B5EF4-FFF2-40B4-BE49-F238E27FC236}">
                              <a16:creationId xmlns:a16="http://schemas.microsoft.com/office/drawing/2014/main" id="{EB2DC3BF-9D03-41F3-BF33-C8842EB0C2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632"/>
                          <a:ext cx="6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3">
              <a:extLst>
                <a:ext uri="{FF2B5EF4-FFF2-40B4-BE49-F238E27FC236}">
                  <a16:creationId xmlns:a16="http://schemas.microsoft.com/office/drawing/2014/main" id="{E2F7291C-D8B7-44B7-80B1-2E9F22B240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7" y="1367"/>
            <a:ext cx="67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20560" imgH="228600" progId="Equation.DSMT4">
                    <p:embed/>
                  </p:oleObj>
                </mc:Choice>
                <mc:Fallback>
                  <p:oleObj name="Equation" r:id="rId10" imgW="520560" imgH="228600" progId="Equation.DSMT4">
                    <p:embed/>
                    <p:pic>
                      <p:nvPicPr>
                        <p:cNvPr id="23" name="Object 13">
                          <a:extLst>
                            <a:ext uri="{FF2B5EF4-FFF2-40B4-BE49-F238E27FC236}">
                              <a16:creationId xmlns:a16="http://schemas.microsoft.com/office/drawing/2014/main" id="{E2F7291C-D8B7-44B7-80B1-2E9F22B240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7" y="1367"/>
                          <a:ext cx="67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id="{E4C755A9-97A5-4BC1-B680-3286ED34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056"/>
              <a:ext cx="4992" cy="1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Step2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：若在该温度达到内循环停止条件，则到</a:t>
              </a:r>
              <a:r>
                <a:rPr lang="en-US" altLang="zh-CN" sz="2800" dirty="0">
                  <a:solidFill>
                    <a:srgbClr val="000000"/>
                  </a:solidFill>
                </a:rPr>
                <a:t>step3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：否则，从当前最优解       的邻域            中随机选一          计算新的目标函数值            并计算目标函数值的增量</a:t>
              </a: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72B62116-376C-465D-9288-3767104FAB26}"/>
              </a:ext>
            </a:extLst>
          </p:cNvPr>
          <p:cNvGrpSpPr>
            <a:grpSpLocks/>
          </p:cNvGrpSpPr>
          <p:nvPr/>
        </p:nvGrpSpPr>
        <p:grpSpPr bwMode="auto">
          <a:xfrm>
            <a:off x="776536" y="3770457"/>
            <a:ext cx="8001000" cy="1676400"/>
            <a:chOff x="432" y="2280"/>
            <a:chExt cx="5040" cy="1056"/>
          </a:xfrm>
        </p:grpSpPr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34775BAE-E62B-4C7E-AB76-F38D7DCD8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313"/>
              <a:ext cx="4992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fontAlgn="base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若                则</a:t>
              </a:r>
            </a:p>
            <a:p>
              <a:pPr eaLnBrk="1" fontAlgn="base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否则                若</a:t>
              </a:r>
              <a:endParaRPr lang="en-US" altLang="zh-CN" sz="28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31" name="Object 16">
              <a:extLst>
                <a:ext uri="{FF2B5EF4-FFF2-40B4-BE49-F238E27FC236}">
                  <a16:creationId xmlns:a16="http://schemas.microsoft.com/office/drawing/2014/main" id="{6760E12B-7489-42A3-AE54-EA4F0FF62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333"/>
            <a:ext cx="80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07960" imgH="203040" progId="Equation.DSMT4">
                    <p:embed/>
                  </p:oleObj>
                </mc:Choice>
                <mc:Fallback>
                  <p:oleObj name="Equation" r:id="rId12" imgW="507960" imgH="203040" progId="Equation.DSMT4">
                    <p:embed/>
                    <p:pic>
                      <p:nvPicPr>
                        <p:cNvPr id="22222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333"/>
                          <a:ext cx="80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7">
              <a:extLst>
                <a:ext uri="{FF2B5EF4-FFF2-40B4-BE49-F238E27FC236}">
                  <a16:creationId xmlns:a16="http://schemas.microsoft.com/office/drawing/2014/main" id="{BCFBDE31-4363-4E54-A1E5-EC8BC838C7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2" y="2688"/>
            <a:ext cx="90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71320" imgH="203040" progId="Equation.DSMT4">
                    <p:embed/>
                  </p:oleObj>
                </mc:Choice>
                <mc:Fallback>
                  <p:oleObj name="Equation" r:id="rId14" imgW="571320" imgH="203040" progId="Equation.DSMT4">
                    <p:embed/>
                    <p:pic>
                      <p:nvPicPr>
                        <p:cNvPr id="22222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" y="2688"/>
                          <a:ext cx="90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8">
              <a:extLst>
                <a:ext uri="{FF2B5EF4-FFF2-40B4-BE49-F238E27FC236}">
                  <a16:creationId xmlns:a16="http://schemas.microsoft.com/office/drawing/2014/main" id="{DF459FF9-DE54-4FBA-8AA9-9E8E83EDF2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2661"/>
            <a:ext cx="273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65080" imgH="228600" progId="Equation.DSMT4">
                    <p:embed/>
                  </p:oleObj>
                </mc:Choice>
                <mc:Fallback>
                  <p:oleObj name="Equation" r:id="rId16" imgW="1765080" imgH="228600" progId="Equation.DSMT4">
                    <p:embed/>
                    <p:pic>
                      <p:nvPicPr>
                        <p:cNvPr id="22222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661"/>
                          <a:ext cx="2732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0">
              <a:extLst>
                <a:ext uri="{FF2B5EF4-FFF2-40B4-BE49-F238E27FC236}">
                  <a16:creationId xmlns:a16="http://schemas.microsoft.com/office/drawing/2014/main" id="{FE6171AE-0994-4906-A67B-C07A692CC7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5" y="2280"/>
            <a:ext cx="110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98400" imgH="228600" progId="Equation.DSMT4">
                    <p:embed/>
                  </p:oleObj>
                </mc:Choice>
                <mc:Fallback>
                  <p:oleObj name="Equation" r:id="rId18" imgW="698400" imgH="228600" progId="Equation.DSMT4">
                    <p:embed/>
                    <p:pic>
                      <p:nvPicPr>
                        <p:cNvPr id="22222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" y="2280"/>
                          <a:ext cx="110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2">
              <a:extLst>
                <a:ext uri="{FF2B5EF4-FFF2-40B4-BE49-F238E27FC236}">
                  <a16:creationId xmlns:a16="http://schemas.microsoft.com/office/drawing/2014/main" id="{A05E0B1F-0107-4933-886F-5D4521FE61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2" y="2976"/>
            <a:ext cx="110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98400" imgH="228600" progId="Equation.DSMT4">
                    <p:embed/>
                  </p:oleObj>
                </mc:Choice>
                <mc:Fallback>
                  <p:oleObj name="Equation" r:id="rId20" imgW="698400" imgH="228600" progId="Equation.DSMT4">
                    <p:embed/>
                    <p:pic>
                      <p:nvPicPr>
                        <p:cNvPr id="22223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2" y="2976"/>
                          <a:ext cx="110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23">
              <a:extLst>
                <a:ext uri="{FF2B5EF4-FFF2-40B4-BE49-F238E27FC236}">
                  <a16:creationId xmlns:a16="http://schemas.microsoft.com/office/drawing/2014/main" id="{47A2FD24-B2FB-44B6-AF5D-479A2B9F1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64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dirty="0">
                  <a:solidFill>
                    <a:srgbClr val="000000"/>
                  </a:solidFill>
                </a:rPr>
                <a:t>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142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DD1A5-438E-449A-A7B7-6FFB0AD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1FE20-8781-4649-B8C6-DA46EFB8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172A6-B8DC-4DC2-9F7B-08EDE88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8632EA-5118-495F-B042-244C8F2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497988CC-4D7B-4907-A261-6A06999D9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1988840"/>
            <a:ext cx="624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</a:rPr>
              <a:t>状态转移概率（接受概率）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97CC8AB0-BB6C-40F9-8764-10D1FF075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2485299"/>
            <a:ext cx="8077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</a:rPr>
              <a:t>状态转移概率是指从一个状态</a:t>
            </a:r>
            <a:r>
              <a:rPr lang="en-US" altLang="zh-CN" sz="2400" dirty="0" err="1">
                <a:solidFill>
                  <a:srgbClr val="000000"/>
                </a:solidFill>
              </a:rPr>
              <a:t>xold</a:t>
            </a:r>
            <a:r>
              <a:rPr lang="zh-CN" altLang="en-US" sz="2400" dirty="0">
                <a:solidFill>
                  <a:srgbClr val="000000"/>
                </a:solidFill>
              </a:rPr>
              <a:t>（一个可行解）向另一个状态</a:t>
            </a:r>
            <a:r>
              <a:rPr lang="en-US" altLang="zh-CN" sz="2400" dirty="0" err="1">
                <a:solidFill>
                  <a:srgbClr val="000000"/>
                </a:solidFill>
              </a:rPr>
              <a:t>xnew</a:t>
            </a:r>
            <a:r>
              <a:rPr lang="zh-CN" altLang="en-US" sz="2400" dirty="0">
                <a:solidFill>
                  <a:srgbClr val="000000"/>
                </a:solidFill>
              </a:rPr>
              <a:t>（另一个可行解）的转移概率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</a:rPr>
              <a:t>通俗的理解是接受一个新解为当前解的概率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</a:rPr>
              <a:t>它与当前的温度参数</a:t>
            </a:r>
            <a:r>
              <a:rPr lang="en-US" altLang="zh-CN" sz="2400" dirty="0">
                <a:solidFill>
                  <a:srgbClr val="000000"/>
                </a:solidFill>
              </a:rPr>
              <a:t>T</a:t>
            </a:r>
            <a:r>
              <a:rPr lang="zh-CN" altLang="en-US" sz="2400" dirty="0">
                <a:solidFill>
                  <a:srgbClr val="000000"/>
                </a:solidFill>
              </a:rPr>
              <a:t>有关，随温度下降而减小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</a:rPr>
              <a:t>一般采用</a:t>
            </a:r>
            <a:r>
              <a:rPr lang="en-US" altLang="zh-CN" sz="2400" dirty="0">
                <a:solidFill>
                  <a:srgbClr val="000000"/>
                </a:solidFill>
              </a:rPr>
              <a:t>Metropolis</a:t>
            </a:r>
            <a:r>
              <a:rPr lang="zh-CN" altLang="en-US" sz="2400" dirty="0">
                <a:solidFill>
                  <a:srgbClr val="000000"/>
                </a:solidFill>
              </a:rPr>
              <a:t>准则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zh-CN" altLang="en-US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zh-CN" altLang="en-US" sz="2400" dirty="0">
              <a:solidFill>
                <a:srgbClr val="000000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graphicFrame>
        <p:nvGraphicFramePr>
          <p:cNvPr id="28" name="Object 5">
            <a:extLst>
              <a:ext uri="{FF2B5EF4-FFF2-40B4-BE49-F238E27FC236}">
                <a16:creationId xmlns:a16="http://schemas.microsoft.com/office/drawing/2014/main" id="{2D0A8A83-B243-4809-8E55-1502DE71F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555914"/>
              </p:ext>
            </p:extLst>
          </p:nvPr>
        </p:nvGraphicFramePr>
        <p:xfrm>
          <a:off x="900367" y="5017769"/>
          <a:ext cx="746760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4200" imgH="685800" progId="Equation.DSMT4">
                  <p:embed/>
                </p:oleObj>
              </mc:Choice>
              <mc:Fallback>
                <p:oleObj name="Equation" r:id="rId2" imgW="3454200" imgH="685800" progId="Equation.DSMT4">
                  <p:embed/>
                  <p:pic>
                    <p:nvPicPr>
                      <p:cNvPr id="142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367" y="5017769"/>
                        <a:ext cx="7467600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960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DD1A5-438E-449A-A7B7-6FFB0AD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1FE20-8781-4649-B8C6-DA46EFB8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172A6-B8DC-4DC2-9F7B-08EDE88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8632EA-5118-495F-B042-244C8F2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497988CC-4D7B-4907-A261-6A06999D9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1988840"/>
            <a:ext cx="8816404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模拟退火算法中，包含一个内循环和一个外循环：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</a:rPr>
              <a:t>内循环表示在同一个温度时，在一些状态随机搜索。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lvl="1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终止条件可以用迭代次数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</a:rPr>
              <a:t>外循环主要包括温度下降变化，迭代步数的增加和停止条件。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lvl="1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可以设定一个温度最低限制值，当温度降低到最低值就停止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步骤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就是内循环</a:t>
            </a:r>
          </a:p>
        </p:txBody>
      </p:sp>
    </p:spTree>
    <p:extLst>
      <p:ext uri="{BB962C8B-B14F-4D97-AF65-F5344CB8AC3E}">
        <p14:creationId xmlns:p14="http://schemas.microsoft.com/office/powerpoint/2010/main" val="166517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DD1A5-438E-449A-A7B7-6FFB0AD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1FE20-8781-4649-B8C6-DA46EFB8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172A6-B8DC-4DC2-9F7B-08EDE88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8632EA-5118-495F-B042-244C8F2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pSp>
        <p:nvGrpSpPr>
          <p:cNvPr id="26" name="Group 29">
            <a:extLst>
              <a:ext uri="{FF2B5EF4-FFF2-40B4-BE49-F238E27FC236}">
                <a16:creationId xmlns:a16="http://schemas.microsoft.com/office/drawing/2014/main" id="{629D56C3-1D71-4F05-9A65-852D32C191A8}"/>
              </a:ext>
            </a:extLst>
          </p:cNvPr>
          <p:cNvGrpSpPr>
            <a:grpSpLocks/>
          </p:cNvGrpSpPr>
          <p:nvPr/>
        </p:nvGrpSpPr>
        <p:grpSpPr bwMode="auto">
          <a:xfrm>
            <a:off x="704528" y="1916832"/>
            <a:ext cx="8229600" cy="966787"/>
            <a:chOff x="336" y="3387"/>
            <a:chExt cx="5184" cy="609"/>
          </a:xfrm>
        </p:grpSpPr>
        <p:sp>
          <p:nvSpPr>
            <p:cNvPr id="27" name="Text Box 19">
              <a:extLst>
                <a:ext uri="{FF2B5EF4-FFF2-40B4-BE49-F238E27FC236}">
                  <a16:creationId xmlns:a16="http://schemas.microsoft.com/office/drawing/2014/main" id="{7D9FE0FE-602E-42B2-8919-6B61C5542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389"/>
              <a:ext cx="51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Step3</a:t>
              </a:r>
              <a:r>
                <a:rPr lang="zh-CN" altLang="en-US" sz="2800" dirty="0">
                  <a:solidFill>
                    <a:srgbClr val="000000"/>
                  </a:solidFill>
                </a:rPr>
                <a:t>：                              若满足停止条件，终止计算，输出最优解        ；否则，回到</a:t>
              </a:r>
              <a:r>
                <a:rPr lang="en-US" altLang="zh-CN" sz="2800" dirty="0">
                  <a:solidFill>
                    <a:srgbClr val="000000"/>
                  </a:solidFill>
                </a:rPr>
                <a:t>step2.</a:t>
              </a:r>
            </a:p>
          </p:txBody>
        </p:sp>
        <p:graphicFrame>
          <p:nvGraphicFramePr>
            <p:cNvPr id="28" name="Object 21">
              <a:extLst>
                <a:ext uri="{FF2B5EF4-FFF2-40B4-BE49-F238E27FC236}">
                  <a16:creationId xmlns:a16="http://schemas.microsoft.com/office/drawing/2014/main" id="{FF6627F1-B89C-4337-8D56-8D323BE266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987196"/>
                </p:ext>
              </p:extLst>
            </p:nvPr>
          </p:nvGraphicFramePr>
          <p:xfrm>
            <a:off x="1173" y="3387"/>
            <a:ext cx="1872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82680" imgH="228600" progId="Equation.DSMT4">
                    <p:embed/>
                  </p:oleObj>
                </mc:Choice>
                <mc:Fallback>
                  <p:oleObj name="Equation" r:id="rId2" imgW="1282680" imgH="228600" progId="Equation.DSMT4">
                    <p:embed/>
                    <p:pic>
                      <p:nvPicPr>
                        <p:cNvPr id="28" name="Object 21">
                          <a:extLst>
                            <a:ext uri="{FF2B5EF4-FFF2-40B4-BE49-F238E27FC236}">
                              <a16:creationId xmlns:a16="http://schemas.microsoft.com/office/drawing/2014/main" id="{FF6627F1-B89C-4337-8D56-8D323BE266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3" y="3387"/>
                          <a:ext cx="1872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2B201153-3CAE-4A16-99C5-E6758DB8C1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17" y="3636"/>
            <a:ext cx="42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6400" imgH="228600" progId="Equation.DSMT4">
                    <p:embed/>
                  </p:oleObj>
                </mc:Choice>
                <mc:Fallback>
                  <p:oleObj name="Equation" r:id="rId4" imgW="266400" imgH="228600" progId="Equation.DSMT4">
                    <p:embed/>
                    <p:pic>
                      <p:nvPicPr>
                        <p:cNvPr id="29" name="Object 24">
                          <a:extLst>
                            <a:ext uri="{FF2B5EF4-FFF2-40B4-BE49-F238E27FC236}">
                              <a16:creationId xmlns:a16="http://schemas.microsoft.com/office/drawing/2014/main" id="{2B201153-3CAE-4A16-99C5-E6758DB8C1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7" y="3636"/>
                          <a:ext cx="42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0E23BB12-C413-4C5B-82A8-86AB414D7FB0}"/>
              </a:ext>
            </a:extLst>
          </p:cNvPr>
          <p:cNvSpPr/>
          <p:nvPr/>
        </p:nvSpPr>
        <p:spPr>
          <a:xfrm>
            <a:off x="847253" y="2933457"/>
            <a:ext cx="7924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在此步骤，需要明确温度降低函数</a:t>
            </a:r>
            <a:r>
              <a:rPr lang="en-US" altLang="zh-CN" sz="2400" dirty="0">
                <a:solidFill>
                  <a:srgbClr val="000000"/>
                </a:solidFill>
              </a:rPr>
              <a:t>d(t)</a:t>
            </a:r>
            <a:r>
              <a:rPr lang="zh-CN" altLang="en-US" sz="2400" dirty="0">
                <a:solidFill>
                  <a:srgbClr val="000000"/>
                </a:solidFill>
              </a:rPr>
              <a:t>。通过包括：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grpSp>
        <p:nvGrpSpPr>
          <p:cNvPr id="31" name="Group 19">
            <a:extLst>
              <a:ext uri="{FF2B5EF4-FFF2-40B4-BE49-F238E27FC236}">
                <a16:creationId xmlns:a16="http://schemas.microsoft.com/office/drawing/2014/main" id="{0A6457E2-5E34-4FF7-8410-301A4E7A56BB}"/>
              </a:ext>
            </a:extLst>
          </p:cNvPr>
          <p:cNvGrpSpPr>
            <a:grpSpLocks/>
          </p:cNvGrpSpPr>
          <p:nvPr/>
        </p:nvGrpSpPr>
        <p:grpSpPr bwMode="auto">
          <a:xfrm>
            <a:off x="1919388" y="5247829"/>
            <a:ext cx="4052888" cy="493713"/>
            <a:chOff x="672" y="3312"/>
            <a:chExt cx="2553" cy="311"/>
          </a:xfrm>
        </p:grpSpPr>
        <p:graphicFrame>
          <p:nvGraphicFramePr>
            <p:cNvPr id="32" name="Object 10">
              <a:extLst>
                <a:ext uri="{FF2B5EF4-FFF2-40B4-BE49-F238E27FC236}">
                  <a16:creationId xmlns:a16="http://schemas.microsoft.com/office/drawing/2014/main" id="{6BA3FD50-AAC6-4765-A69A-993CE5CDF1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3312"/>
            <a:ext cx="86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34680" imgH="228600" progId="Equation.DSMT4">
                    <p:embed/>
                  </p:oleObj>
                </mc:Choice>
                <mc:Fallback>
                  <p:oleObj name="Equation" r:id="rId6" imgW="634680" imgH="228600" progId="Equation.DSMT4">
                    <p:embed/>
                    <p:pic>
                      <p:nvPicPr>
                        <p:cNvPr id="14337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312"/>
                          <a:ext cx="86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27A1E108-F1E1-4367-8BDF-5EC507A86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3350"/>
              <a:ext cx="6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00"/>
                  </a:solidFill>
                </a:rPr>
                <a:t>其中</a:t>
              </a:r>
            </a:p>
          </p:txBody>
        </p:sp>
        <p:graphicFrame>
          <p:nvGraphicFramePr>
            <p:cNvPr id="34" name="Object 12">
              <a:extLst>
                <a:ext uri="{FF2B5EF4-FFF2-40B4-BE49-F238E27FC236}">
                  <a16:creationId xmlns:a16="http://schemas.microsoft.com/office/drawing/2014/main" id="{12C4FBD2-D161-4BEE-830E-E01058E44A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3360"/>
            <a:ext cx="77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71320" imgH="177480" progId="Equation.DSMT4">
                    <p:embed/>
                  </p:oleObj>
                </mc:Choice>
                <mc:Fallback>
                  <p:oleObj name="Equation" r:id="rId8" imgW="571320" imgH="177480" progId="Equation.DSMT4">
                    <p:embed/>
                    <p:pic>
                      <p:nvPicPr>
                        <p:cNvPr id="1433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360"/>
                          <a:ext cx="77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20">
            <a:extLst>
              <a:ext uri="{FF2B5EF4-FFF2-40B4-BE49-F238E27FC236}">
                <a16:creationId xmlns:a16="http://schemas.microsoft.com/office/drawing/2014/main" id="{E747A98B-DA9F-4AD0-81CD-3CB8EB672CC4}"/>
              </a:ext>
            </a:extLst>
          </p:cNvPr>
          <p:cNvGrpSpPr>
            <a:grpSpLocks/>
          </p:cNvGrpSpPr>
          <p:nvPr/>
        </p:nvGrpSpPr>
        <p:grpSpPr bwMode="auto">
          <a:xfrm>
            <a:off x="1869382" y="5716489"/>
            <a:ext cx="6972300" cy="850900"/>
            <a:chOff x="643" y="3648"/>
            <a:chExt cx="4392" cy="536"/>
          </a:xfrm>
        </p:grpSpPr>
        <p:graphicFrame>
          <p:nvGraphicFramePr>
            <p:cNvPr id="36" name="Object 14">
              <a:extLst>
                <a:ext uri="{FF2B5EF4-FFF2-40B4-BE49-F238E27FC236}">
                  <a16:creationId xmlns:a16="http://schemas.microsoft.com/office/drawing/2014/main" id="{13E88242-8F60-4D43-BE0A-806ACFBDEC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3" y="3648"/>
            <a:ext cx="1124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25480" imgH="393480" progId="Equation.DSMT4">
                    <p:embed/>
                  </p:oleObj>
                </mc:Choice>
                <mc:Fallback>
                  <p:oleObj name="Equation" r:id="rId10" imgW="825480" imgH="393480" progId="Equation.DSMT4">
                    <p:embed/>
                    <p:pic>
                      <p:nvPicPr>
                        <p:cNvPr id="14337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" y="3648"/>
                          <a:ext cx="1124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15">
              <a:extLst>
                <a:ext uri="{FF2B5EF4-FFF2-40B4-BE49-F238E27FC236}">
                  <a16:creationId xmlns:a16="http://schemas.microsoft.com/office/drawing/2014/main" id="{2A46C936-06BF-49F5-AE7D-56520EF93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1" y="3790"/>
              <a:ext cx="326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00"/>
                  </a:solidFill>
                </a:rPr>
                <a:t>其中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K</a:t>
              </a:r>
              <a:r>
                <a:rPr lang="zh-CN" altLang="en-US" sz="2000" b="1" dirty="0">
                  <a:solidFill>
                    <a:srgbClr val="000000"/>
                  </a:solidFill>
                </a:rPr>
                <a:t>为算法温度下降的总次数</a:t>
              </a:r>
            </a:p>
          </p:txBody>
        </p:sp>
      </p:grpSp>
      <p:grpSp>
        <p:nvGrpSpPr>
          <p:cNvPr id="38" name="Group 17">
            <a:extLst>
              <a:ext uri="{FF2B5EF4-FFF2-40B4-BE49-F238E27FC236}">
                <a16:creationId xmlns:a16="http://schemas.microsoft.com/office/drawing/2014/main" id="{B7D7390A-347E-4E68-8F50-E60EA8F11994}"/>
              </a:ext>
            </a:extLst>
          </p:cNvPr>
          <p:cNvGrpSpPr>
            <a:grpSpLocks/>
          </p:cNvGrpSpPr>
          <p:nvPr/>
        </p:nvGrpSpPr>
        <p:grpSpPr bwMode="auto">
          <a:xfrm>
            <a:off x="815282" y="3342137"/>
            <a:ext cx="7470775" cy="904875"/>
            <a:chOff x="222" y="1650"/>
            <a:chExt cx="4706" cy="570"/>
          </a:xfrm>
        </p:grpSpPr>
        <p:graphicFrame>
          <p:nvGraphicFramePr>
            <p:cNvPr id="39" name="Object 4">
              <a:extLst>
                <a:ext uri="{FF2B5EF4-FFF2-40B4-BE49-F238E27FC236}">
                  <a16:creationId xmlns:a16="http://schemas.microsoft.com/office/drawing/2014/main" id="{D4C74CDC-D853-494E-9C8F-1425D39BF5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7336236"/>
                </p:ext>
              </p:extLst>
            </p:nvPr>
          </p:nvGraphicFramePr>
          <p:xfrm>
            <a:off x="3666" y="1650"/>
            <a:ext cx="1262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27000" imgH="419040" progId="Equation.DSMT4">
                    <p:embed/>
                  </p:oleObj>
                </mc:Choice>
                <mc:Fallback>
                  <p:oleObj name="Equation" r:id="rId12" imgW="927000" imgH="419040" progId="Equation.DSMT4">
                    <p:embed/>
                    <p:pic>
                      <p:nvPicPr>
                        <p:cNvPr id="14336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6" y="1650"/>
                          <a:ext cx="1262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C722083A-76BE-4A75-8302-ED18B6FE3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" y="1720"/>
              <a:ext cx="35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经典模拟退火算法的降温方式为：</a:t>
              </a:r>
            </a:p>
          </p:txBody>
        </p:sp>
      </p:grpSp>
      <p:grpSp>
        <p:nvGrpSpPr>
          <p:cNvPr id="41" name="Group 18">
            <a:extLst>
              <a:ext uri="{FF2B5EF4-FFF2-40B4-BE49-F238E27FC236}">
                <a16:creationId xmlns:a16="http://schemas.microsoft.com/office/drawing/2014/main" id="{66ABF214-1320-4422-8B10-0F30913B39FA}"/>
              </a:ext>
            </a:extLst>
          </p:cNvPr>
          <p:cNvGrpSpPr>
            <a:grpSpLocks/>
          </p:cNvGrpSpPr>
          <p:nvPr/>
        </p:nvGrpSpPr>
        <p:grpSpPr bwMode="auto">
          <a:xfrm>
            <a:off x="807868" y="4268169"/>
            <a:ext cx="7283451" cy="850900"/>
            <a:chOff x="402" y="2248"/>
            <a:chExt cx="4588" cy="536"/>
          </a:xfrm>
        </p:grpSpPr>
        <p:sp>
          <p:nvSpPr>
            <p:cNvPr id="42" name="Text Box 6">
              <a:extLst>
                <a:ext uri="{FF2B5EF4-FFF2-40B4-BE49-F238E27FC236}">
                  <a16:creationId xmlns:a16="http://schemas.microsoft.com/office/drawing/2014/main" id="{46258CEC-41F3-4E74-9633-1512C4E8D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" y="2331"/>
              <a:ext cx="36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快速模拟退火算法的降温方式为：</a:t>
              </a:r>
            </a:p>
          </p:txBody>
        </p:sp>
        <p:graphicFrame>
          <p:nvGraphicFramePr>
            <p:cNvPr id="43" name="Object 7">
              <a:extLst>
                <a:ext uri="{FF2B5EF4-FFF2-40B4-BE49-F238E27FC236}">
                  <a16:creationId xmlns:a16="http://schemas.microsoft.com/office/drawing/2014/main" id="{96792DCF-7A0F-4EB6-BDF8-A1C13DB0B2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1" y="2248"/>
            <a:ext cx="1089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99920" imgH="393480" progId="Equation.DSMT4">
                    <p:embed/>
                  </p:oleObj>
                </mc:Choice>
                <mc:Fallback>
                  <p:oleObj name="Equation" r:id="rId14" imgW="799920" imgH="393480" progId="Equation.DSMT4">
                    <p:embed/>
                    <p:pic>
                      <p:nvPicPr>
                        <p:cNvPr id="14336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" y="2248"/>
                          <a:ext cx="1089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B6E0B6B-8F75-4DE3-BEDA-788F3DCCDDFA}"/>
              </a:ext>
            </a:extLst>
          </p:cNvPr>
          <p:cNvSpPr txBox="1"/>
          <p:nvPr/>
        </p:nvSpPr>
        <p:spPr>
          <a:xfrm>
            <a:off x="51694" y="5546976"/>
            <a:ext cx="18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简单方法：</a:t>
            </a:r>
          </a:p>
        </p:txBody>
      </p:sp>
    </p:spTree>
    <p:extLst>
      <p:ext uri="{BB962C8B-B14F-4D97-AF65-F5344CB8AC3E}">
        <p14:creationId xmlns:p14="http://schemas.microsoft.com/office/powerpoint/2010/main" val="295294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D3F35-303E-4F03-909B-5C25CB4A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FEBAEB-7DCA-4374-897C-83C1843BD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算法特点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0D9D8-B6C6-4216-BA07-7425C682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8EC634-11B1-4094-A1E0-0081A645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AEC7A83-D6EF-4848-90F9-589E19ED4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36" y="1988840"/>
            <a:ext cx="723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）优点：高效、健壮、通用、灵活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DCAD0756-06BC-4F00-BD3F-162C350F7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73" y="2687340"/>
            <a:ext cx="72390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）不足：返回一个高质量近似解的时间花费较多，当问题规模不可避免增大时，难于承受的运行时间将使算法丧失可行性。</a:t>
            </a:r>
          </a:p>
        </p:txBody>
      </p:sp>
    </p:spTree>
    <p:extLst>
      <p:ext uri="{BB962C8B-B14F-4D97-AF65-F5344CB8AC3E}">
        <p14:creationId xmlns:p14="http://schemas.microsoft.com/office/powerpoint/2010/main" val="18289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28DCD-D67E-4A6A-BEE1-4114103F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—</a:t>
            </a:r>
            <a:r>
              <a:rPr lang="zh-CN" altLang="en-US" dirty="0"/>
              <a:t>模拟退火算法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3D4C5-B36D-4DC2-AC2C-F2409F6AA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endParaRPr lang="en-US" altLang="zh-CN" dirty="0"/>
          </a:p>
          <a:p>
            <a:pPr lvl="1"/>
            <a:r>
              <a:rPr lang="zh-CN" altLang="en-US" dirty="0"/>
              <a:t>用计算机程序来实现模拟退火算法，例如</a:t>
            </a:r>
            <a:r>
              <a:rPr lang="en-US" altLang="zh-CN" dirty="0"/>
              <a:t>TSP</a:t>
            </a:r>
            <a:r>
              <a:rPr lang="zh-CN" altLang="en-US" dirty="0"/>
              <a:t>问题或</a:t>
            </a:r>
            <a:r>
              <a:rPr lang="en-US" altLang="zh-CN" dirty="0"/>
              <a:t>0-1</a:t>
            </a:r>
            <a:r>
              <a:rPr lang="zh-CN" altLang="en-US" dirty="0"/>
              <a:t>背包问题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D6B31-2DEF-474D-84BD-DBF0AD24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8AD5F5-69E6-4D2E-A235-D5661F0A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9573466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9510</TotalTime>
  <Words>1001</Words>
  <Application>Microsoft Office PowerPoint</Application>
  <PresentationFormat>A4 纸张(210x297 毫米)</PresentationFormat>
  <Paragraphs>131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黑体</vt:lpstr>
      <vt:lpstr>宋体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现代优化方法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  <vt:lpstr>启发式算法—模拟退火算法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4962</cp:revision>
  <dcterms:created xsi:type="dcterms:W3CDTF">2016-10-01T05:27:09Z</dcterms:created>
  <dcterms:modified xsi:type="dcterms:W3CDTF">2022-12-02T06:59:50Z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