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57" r:id="rId1"/>
  </p:sldMasterIdLst>
  <p:notesMasterIdLst>
    <p:notesMasterId r:id="rId41"/>
  </p:notesMasterIdLst>
  <p:handoutMasterIdLst>
    <p:handoutMasterId r:id="rId42"/>
  </p:handoutMasterIdLst>
  <p:sldIdLst>
    <p:sldId id="256" r:id="rId2"/>
    <p:sldId id="257" r:id="rId3"/>
    <p:sldId id="269" r:id="rId4"/>
    <p:sldId id="276" r:id="rId5"/>
    <p:sldId id="277" r:id="rId6"/>
    <p:sldId id="278" r:id="rId7"/>
    <p:sldId id="279" r:id="rId8"/>
    <p:sldId id="287" r:id="rId9"/>
    <p:sldId id="288" r:id="rId10"/>
    <p:sldId id="280" r:id="rId11"/>
    <p:sldId id="281" r:id="rId12"/>
    <p:sldId id="282" r:id="rId13"/>
    <p:sldId id="283" r:id="rId14"/>
    <p:sldId id="285" r:id="rId15"/>
    <p:sldId id="286" r:id="rId16"/>
    <p:sldId id="292" r:id="rId17"/>
    <p:sldId id="293" r:id="rId18"/>
    <p:sldId id="294" r:id="rId19"/>
    <p:sldId id="295" r:id="rId20"/>
    <p:sldId id="296" r:id="rId21"/>
    <p:sldId id="297" r:id="rId22"/>
    <p:sldId id="289" r:id="rId23"/>
    <p:sldId id="290" r:id="rId24"/>
    <p:sldId id="284" r:id="rId25"/>
    <p:sldId id="291" r:id="rId26"/>
    <p:sldId id="298" r:id="rId27"/>
    <p:sldId id="299" r:id="rId28"/>
    <p:sldId id="300" r:id="rId29"/>
    <p:sldId id="301" r:id="rId30"/>
    <p:sldId id="302" r:id="rId31"/>
    <p:sldId id="303" r:id="rId32"/>
    <p:sldId id="305" r:id="rId33"/>
    <p:sldId id="304" r:id="rId34"/>
    <p:sldId id="306" r:id="rId35"/>
    <p:sldId id="307" r:id="rId36"/>
    <p:sldId id="309" r:id="rId37"/>
    <p:sldId id="308" r:id="rId38"/>
    <p:sldId id="310" r:id="rId39"/>
    <p:sldId id="311" r:id="rId40"/>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默认节" id="{FBF6BE6E-4B09-4148-9F0C-7F96FBD9B713}">
          <p14:sldIdLst>
            <p14:sldId id="256"/>
            <p14:sldId id="257"/>
            <p14:sldId id="269"/>
            <p14:sldId id="276"/>
            <p14:sldId id="277"/>
            <p14:sldId id="278"/>
            <p14:sldId id="279"/>
            <p14:sldId id="287"/>
            <p14:sldId id="288"/>
            <p14:sldId id="280"/>
            <p14:sldId id="281"/>
            <p14:sldId id="282"/>
            <p14:sldId id="283"/>
            <p14:sldId id="285"/>
            <p14:sldId id="286"/>
            <p14:sldId id="292"/>
            <p14:sldId id="293"/>
            <p14:sldId id="294"/>
            <p14:sldId id="295"/>
            <p14:sldId id="296"/>
            <p14:sldId id="297"/>
            <p14:sldId id="289"/>
            <p14:sldId id="290"/>
            <p14:sldId id="284"/>
            <p14:sldId id="291"/>
            <p14:sldId id="298"/>
            <p14:sldId id="299"/>
            <p14:sldId id="300"/>
            <p14:sldId id="301"/>
            <p14:sldId id="302"/>
            <p14:sldId id="303"/>
            <p14:sldId id="305"/>
            <p14:sldId id="304"/>
            <p14:sldId id="306"/>
            <p14:sldId id="307"/>
            <p14:sldId id="309"/>
            <p14:sldId id="308"/>
            <p14:sldId id="310"/>
            <p14:sldId id="311"/>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0A040"/>
    <a:srgbClr val="CC3399"/>
    <a:srgbClr val="FFFF66"/>
    <a:srgbClr val="00E4A8"/>
    <a:srgbClr val="FFFFFF"/>
    <a:srgbClr val="0000CC"/>
    <a:srgbClr val="333399"/>
    <a:srgbClr val="000099"/>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30" autoAdjust="0"/>
    <p:restoredTop sz="93826" autoAdjust="0"/>
  </p:normalViewPr>
  <p:slideViewPr>
    <p:cSldViewPr>
      <p:cViewPr>
        <p:scale>
          <a:sx n="75" d="100"/>
          <a:sy n="75" d="100"/>
        </p:scale>
        <p:origin x="608" y="-324"/>
      </p:cViewPr>
      <p:guideLst>
        <p:guide orient="horz" pos="2160"/>
        <p:guide pos="3120"/>
      </p:guideLst>
    </p:cSldViewPr>
  </p:slideViewPr>
  <p:outlineViewPr>
    <p:cViewPr>
      <p:scale>
        <a:sx n="33" d="100"/>
        <a:sy n="33" d="100"/>
      </p:scale>
      <p:origin x="0" y="0"/>
    </p:cViewPr>
  </p:outlineViewPr>
  <p:notesTextViewPr>
    <p:cViewPr>
      <p:scale>
        <a:sx n="3" d="2"/>
        <a:sy n="3" d="2"/>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dirty="0"/>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dirty="0"/>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dirty="0"/>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dirty="0"/>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dirty="0"/>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dirty="0"/>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dirty="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10" name="20 9">
            <a:extLst>
              <a:ext uri="{FF2B5EF4-FFF2-40B4-BE49-F238E27FC236}">
                <a16:creationId xmlns:a16="http://schemas.microsoft.com/office/drawing/2014/main" id="{DB875CB5-79D2-4F0D-AAEA-E38F8F1FB7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894850" cy="2420888"/>
          </a:xfrm>
          <a:prstGeom prst="rect">
            <a:avLst/>
          </a:prstGeom>
        </p:spPr>
      </p:pic>
      <p:sp>
        <p:nvSpPr>
          <p:cNvPr id="11" name="标题 1">
            <a:extLst>
              <a:ext uri="{FF2B5EF4-FFF2-40B4-BE49-F238E27FC236}">
                <a16:creationId xmlns:a16="http://schemas.microsoft.com/office/drawing/2014/main" id="{3A371CBA-E3A3-49E4-BC50-D73E5519AF66}"/>
              </a:ext>
            </a:extLst>
          </p:cNvPr>
          <p:cNvSpPr>
            <a:spLocks noGrp="1"/>
          </p:cNvSpPr>
          <p:nvPr>
            <p:ph type="ctrTitle"/>
          </p:nvPr>
        </p:nvSpPr>
        <p:spPr>
          <a:xfrm>
            <a:off x="1208584" y="2620777"/>
            <a:ext cx="8016639" cy="1070582"/>
          </a:xfrm>
        </p:spPr>
        <p:txBody>
          <a:bodyPr anchor="ctr">
            <a:normAutofit fontScale="90000"/>
          </a:bodyPr>
          <a:lstStyle>
            <a:lvl1pPr algn="ctr">
              <a:defRPr sz="4400">
                <a:solidFill>
                  <a:schemeClr val="tx1"/>
                </a:solidFill>
              </a:defRPr>
            </a:lvl1pPr>
          </a:lstStyle>
          <a:p>
            <a:endParaRPr lang="zh-CN" altLang="en-US" sz="4800" dirty="0">
              <a:latin typeface="黑体" panose="02010609060101010101" pitchFamily="49" charset="-122"/>
              <a:ea typeface="黑体" panose="02010609060101010101" pitchFamily="49" charset="-122"/>
            </a:endParaRPr>
          </a:p>
        </p:txBody>
      </p:sp>
      <p:sp>
        <p:nvSpPr>
          <p:cNvPr id="12" name="副标题 2">
            <a:extLst>
              <a:ext uri="{FF2B5EF4-FFF2-40B4-BE49-F238E27FC236}">
                <a16:creationId xmlns:a16="http://schemas.microsoft.com/office/drawing/2014/main" id="{2E156885-70F0-4648-845E-265F364447B4}"/>
              </a:ext>
            </a:extLst>
          </p:cNvPr>
          <p:cNvSpPr>
            <a:spLocks noGrp="1"/>
          </p:cNvSpPr>
          <p:nvPr>
            <p:ph type="subTitle" idx="1"/>
          </p:nvPr>
        </p:nvSpPr>
        <p:spPr>
          <a:xfrm>
            <a:off x="1907282" y="4015551"/>
            <a:ext cx="6619242" cy="642776"/>
          </a:xfrm>
        </p:spPr>
        <p:txBody>
          <a:bodyPr>
            <a:normAutofit/>
          </a:bodyPr>
          <a:lstStyle>
            <a:lvl1pPr marL="0" indent="0" algn="ctr">
              <a:buNone/>
              <a:defRPr sz="3600"/>
            </a:lvl1pPr>
          </a:lstStyle>
          <a:p>
            <a:endParaRPr lang="zh-CN" altLang="en-US" b="1" dirty="0">
              <a:latin typeface="黑体" pitchFamily="49" charset="-122"/>
              <a:ea typeface="黑体" pitchFamily="49" charset="-122"/>
            </a:endParaRPr>
          </a:p>
        </p:txBody>
      </p:sp>
      <p:sp>
        <p:nvSpPr>
          <p:cNvPr id="17" name="矩形 16">
            <a:extLst>
              <a:ext uri="{FF2B5EF4-FFF2-40B4-BE49-F238E27FC236}">
                <a16:creationId xmlns:a16="http://schemas.microsoft.com/office/drawing/2014/main" id="{D001777F-61CF-42D4-943E-7A0268001DD7}"/>
              </a:ext>
            </a:extLst>
          </p:cNvPr>
          <p:cNvSpPr/>
          <p:nvPr userDrawn="1"/>
        </p:nvSpPr>
        <p:spPr>
          <a:xfrm>
            <a:off x="1" y="6415953"/>
            <a:ext cx="9906000" cy="44204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8" name="Picture 2">
            <a:extLst>
              <a:ext uri="{FF2B5EF4-FFF2-40B4-BE49-F238E27FC236}">
                <a16:creationId xmlns:a16="http://schemas.microsoft.com/office/drawing/2014/main" id="{FD28CC49-F75B-42A3-A246-3A936A3C1C54}"/>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927" y="5577048"/>
            <a:ext cx="1938018" cy="1285552"/>
          </a:xfrm>
          <a:prstGeom prst="rect">
            <a:avLst/>
          </a:prstGeom>
          <a:noFill/>
          <a:extLst>
            <a:ext uri="{909E8E84-426E-40DD-AFC4-6F175D3DCCD1}">
              <a14:hiddenFill xmlns:a14="http://schemas.microsoft.com/office/drawing/2010/main">
                <a:solidFill>
                  <a:srgbClr val="FFFFFF"/>
                </a:solidFill>
              </a14:hiddenFill>
            </a:ext>
          </a:extLst>
        </p:spPr>
      </p:pic>
      <p:sp>
        <p:nvSpPr>
          <p:cNvPr id="19" name="日期占位符 12">
            <a:extLst>
              <a:ext uri="{FF2B5EF4-FFF2-40B4-BE49-F238E27FC236}">
                <a16:creationId xmlns:a16="http://schemas.microsoft.com/office/drawing/2014/main" id="{BF0374B4-E0FA-4D63-930E-15A90A36D5DA}"/>
              </a:ext>
            </a:extLst>
          </p:cNvPr>
          <p:cNvSpPr>
            <a:spLocks noGrp="1"/>
          </p:cNvSpPr>
          <p:nvPr>
            <p:ph type="dt" sz="half" idx="10"/>
          </p:nvPr>
        </p:nvSpPr>
        <p:spPr>
          <a:xfrm>
            <a:off x="1944945" y="6448251"/>
            <a:ext cx="2743200" cy="365125"/>
          </a:xfrm>
        </p:spPr>
        <p:txBody>
          <a:bodyPr/>
          <a:lstStyle/>
          <a:p>
            <a:fld id="{9BF28558-7B33-427A-B568-3609C5F68DFB}" type="datetime3">
              <a:rPr lang="zh-CN" altLang="en-US" sz="1600" smtClean="0"/>
              <a:t>2022年12月2日星期五</a:t>
            </a:fld>
            <a:endParaRPr lang="zh-CN" altLang="en-US" sz="1600" dirty="0"/>
          </a:p>
        </p:txBody>
      </p:sp>
      <p:pic>
        <p:nvPicPr>
          <p:cNvPr id="20" name="20 19">
            <a:extLst>
              <a:ext uri="{FF2B5EF4-FFF2-40B4-BE49-F238E27FC236}">
                <a16:creationId xmlns:a16="http://schemas.microsoft.com/office/drawing/2014/main" id="{92CA545C-BE9F-4FE0-8561-A177CAB1467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70610" y="6418253"/>
            <a:ext cx="1424240" cy="4420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8044" y="188640"/>
            <a:ext cx="971949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58044" y="1196752"/>
            <a:ext cx="9719492" cy="5264289"/>
          </a:xfrm>
        </p:spPr>
        <p:txBody>
          <a:bodyPr/>
          <a:lstStyle>
            <a:lvl1pPr>
              <a:lnSpc>
                <a:spcPct val="110000"/>
              </a:lnSpc>
              <a:spcBef>
                <a:spcPts val="600"/>
              </a:spcBef>
              <a:defRPr sz="3600" b="1">
                <a:solidFill>
                  <a:schemeClr val="tx1"/>
                </a:solidFill>
                <a:latin typeface="+mn-lt"/>
                <a:ea typeface="黑体" pitchFamily="2" charset="-122"/>
              </a:defRPr>
            </a:lvl1pPr>
            <a:lvl2pPr>
              <a:lnSpc>
                <a:spcPct val="110000"/>
              </a:lnSpc>
              <a:spcBef>
                <a:spcPts val="600"/>
              </a:spcBef>
              <a:defRPr sz="3200" b="1">
                <a:solidFill>
                  <a:schemeClr val="tx1"/>
                </a:solidFill>
                <a:latin typeface="+mn-lt"/>
                <a:ea typeface="黑体" pitchFamily="2" charset="-122"/>
              </a:defRPr>
            </a:lvl2pPr>
            <a:lvl3pPr>
              <a:lnSpc>
                <a:spcPct val="110000"/>
              </a:lnSpc>
              <a:spcBef>
                <a:spcPts val="600"/>
              </a:spcBef>
              <a:defRPr sz="2800" b="1">
                <a:solidFill>
                  <a:schemeClr val="tx1"/>
                </a:solidFill>
                <a:latin typeface="+mn-lt"/>
                <a:ea typeface="黑体" pitchFamily="2" charset="-122"/>
              </a:defRPr>
            </a:lvl3pPr>
            <a:lvl4pPr>
              <a:lnSpc>
                <a:spcPct val="110000"/>
              </a:lnSpc>
              <a:spcBef>
                <a:spcPts val="600"/>
              </a:spcBef>
              <a:defRPr sz="2400" b="1">
                <a:solidFill>
                  <a:schemeClr val="tx1"/>
                </a:solidFill>
                <a:latin typeface="+mn-lt"/>
                <a:ea typeface="黑体" pitchFamily="2" charset="-122"/>
              </a:defRPr>
            </a:lvl4pPr>
            <a:lvl5pPr>
              <a:lnSpc>
                <a:spcPct val="110000"/>
              </a:lnSpc>
              <a:spcBef>
                <a:spcPts val="600"/>
              </a:spcBef>
              <a:defRPr sz="2000" b="1">
                <a:solidFill>
                  <a:schemeClr val="tx1"/>
                </a:solidFill>
                <a:latin typeface="+mn-lt"/>
                <a:ea typeface="黑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fld id="{A8B06C41-1E1E-4B9B-9644-5AFB8CB2AB3B}" type="datetime3">
              <a:rPr lang="zh-CN" altLang="en-US" smtClean="0"/>
              <a:t>2022年12月2日星期五</a:t>
            </a:fld>
            <a:endParaRPr lang="en-US" altLang="zh-CN" dirty="0"/>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dirty="0"/>
          </a:p>
        </p:txBody>
      </p:sp>
      <p:sp>
        <p:nvSpPr>
          <p:cNvPr id="7" name="Line 8"/>
          <p:cNvSpPr>
            <a:spLocks noChangeShapeType="1"/>
          </p:cNvSpPr>
          <p:nvPr userDrawn="1"/>
        </p:nvSpPr>
        <p:spPr bwMode="auto">
          <a:xfrm flipV="1">
            <a:off x="58044" y="1052735"/>
            <a:ext cx="9719492" cy="1"/>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a:xfrm>
            <a:off x="495300" y="6381328"/>
            <a:ext cx="2311400" cy="432048"/>
          </a:xfrm>
        </p:spPr>
        <p:txBody>
          <a:bodyPr/>
          <a:lstStyle>
            <a:lvl1pPr>
              <a:defRPr sz="1600"/>
            </a:lvl1pPr>
          </a:lstStyle>
          <a:p>
            <a:fld id="{A3C8579E-F682-4174-8232-D943C000E3D7}" type="datetime3">
              <a:rPr lang="zh-CN" altLang="en-US" smtClean="0"/>
              <a:t>2022年12月2日星期五</a:t>
            </a:fld>
            <a:endParaRPr lang="en-US" altLang="zh-CN" dirty="0"/>
          </a:p>
        </p:txBody>
      </p:sp>
      <p:sp>
        <p:nvSpPr>
          <p:cNvPr id="6" name="灯片编号占位符 5"/>
          <p:cNvSpPr>
            <a:spLocks noGrp="1"/>
          </p:cNvSpPr>
          <p:nvPr>
            <p:ph type="sldNum" sz="quarter" idx="12"/>
          </p:nvPr>
        </p:nvSpPr>
        <p:spPr>
          <a:xfrm>
            <a:off x="3944367" y="6453336"/>
            <a:ext cx="2311400" cy="360040"/>
          </a:xfrm>
        </p:spPr>
        <p:txBody>
          <a:bodyPr/>
          <a:lstStyle>
            <a:lvl1pPr algn="ctr">
              <a:defRPr sz="1600"/>
            </a:lvl1pPr>
          </a:lstStyle>
          <a:p>
            <a:fld id="{C3F47B36-077D-42FE-9DED-0C77CB87E4B3}" type="slidenum">
              <a:rPr lang="zh-CN" altLang="en-US" smtClean="0"/>
              <a:pPr/>
              <a:t>‹#›</a:t>
            </a:fld>
            <a:endParaRPr lang="en-US" altLang="zh-CN" dirty="0"/>
          </a:p>
        </p:txBody>
      </p:sp>
      <p:pic>
        <p:nvPicPr>
          <p:cNvPr id="7" name="20 6">
            <a:extLst>
              <a:ext uri="{FF2B5EF4-FFF2-40B4-BE49-F238E27FC236}">
                <a16:creationId xmlns:a16="http://schemas.microsoft.com/office/drawing/2014/main" id="{E94A7FD3-B299-4610-AC83-3B451DCD06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80240" y="6542278"/>
            <a:ext cx="874512" cy="271098"/>
          </a:xfrm>
          <a:prstGeom prst="rect">
            <a:avLst/>
          </a:prstGeom>
        </p:spPr>
      </p:pic>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a:lvl1pPr>
          </a:lstStyle>
          <a:p>
            <a:fld id="{5566F1B3-94A1-4D75-BEB5-A24ADF28504A}" type="datetime3">
              <a:rPr lang="zh-CN" altLang="en-US" smtClean="0"/>
              <a:t>2022年12月2日星期五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dirty="0"/>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fld id="{EA960A4C-2E7A-4BC7-92BB-4811D8BBCCED}" type="datetime3">
              <a:rPr lang="zh-CN" altLang="en-US" smtClean="0"/>
              <a:t>2022年12月2日星期五</a:t>
            </a:fld>
            <a:endParaRPr lang="en-US" altLang="zh-CN" dirty="0"/>
          </a:p>
        </p:txBody>
      </p:sp>
      <p:sp>
        <p:nvSpPr>
          <p:cNvPr id="8" name="页脚占位符 7"/>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dirty="0"/>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fld id="{E4D6D13C-CD6B-463A-856C-AE7EFF1CC60E}" type="datetime3">
              <a:rPr lang="zh-CN" altLang="en-US" smtClean="0"/>
              <a:t>2022年12月2日星期五</a:t>
            </a:fld>
            <a:endParaRPr lang="en-US" altLang="zh-CN" dirty="0"/>
          </a:p>
        </p:txBody>
      </p:sp>
      <p:sp>
        <p:nvSpPr>
          <p:cNvPr id="8" name="页脚占位符 7"/>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dirty="0"/>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5209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41AAF49A-B9BF-4A20-9CBD-058DA3EDBF07}" type="datetime3">
              <a:rPr lang="zh-CN" altLang="en-US" smtClean="0"/>
              <a:t>2022年12月2日星期五</a:t>
            </a:fld>
            <a:endParaRPr lang="en-US" altLang="zh-CN" dirty="0"/>
          </a:p>
        </p:txBody>
      </p:sp>
      <p:sp>
        <p:nvSpPr>
          <p:cNvPr id="4" name="页脚占位符 3"/>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dirty="0"/>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47B4B721-E592-4506-A42D-A485CD36D387}" type="datetime3">
              <a:rPr lang="zh-CN" altLang="en-US" smtClean="0"/>
              <a:t>2022年12月2日星期五</a:t>
            </a:fld>
            <a:endParaRPr lang="en-US" altLang="zh-CN" dirty="0"/>
          </a:p>
        </p:txBody>
      </p:sp>
      <p:sp>
        <p:nvSpPr>
          <p:cNvPr id="3" name="页脚占位符 2"/>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dirty="0"/>
          </a:p>
        </p:txBody>
      </p:sp>
    </p:spTree>
    <p:extLst>
      <p:ext uri="{BB962C8B-B14F-4D97-AF65-F5344CB8AC3E}">
        <p14:creationId xmlns:p14="http://schemas.microsoft.com/office/powerpoint/2010/main" val="60705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A85F4B58-8D9C-4A13-BFBC-1BE0A361A717}" type="datetime3">
              <a:rPr lang="zh-CN" altLang="en-US" smtClean="0"/>
              <a:t>2022年12月2日星期五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dirty="0"/>
          </a:p>
        </p:txBody>
      </p:sp>
    </p:spTree>
    <p:extLst>
      <p:ext uri="{BB962C8B-B14F-4D97-AF65-F5344CB8AC3E}">
        <p14:creationId xmlns:p14="http://schemas.microsoft.com/office/powerpoint/2010/main" val="198255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20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20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单击图标添加20</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2460B875-7DB8-40C0-8DE9-C73D2B1839FC}" type="datetime3">
              <a:rPr lang="zh-CN" altLang="en-US" smtClean="0"/>
              <a:t>2022年12月2日星期五</a:t>
            </a:fld>
            <a:endParaRPr lang="en-US" altLang="zh-CN" dirty="0"/>
          </a:p>
        </p:txBody>
      </p:sp>
      <p:sp>
        <p:nvSpPr>
          <p:cNvPr id="6" name="页脚占位符 5"/>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dirty="0"/>
          </a:p>
        </p:txBody>
      </p:sp>
    </p:spTree>
    <p:extLst>
      <p:ext uri="{BB962C8B-B14F-4D97-AF65-F5344CB8AC3E}">
        <p14:creationId xmlns:p14="http://schemas.microsoft.com/office/powerpoint/2010/main" val="188598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999A547-F978-4B5E-95FF-4A25E1B63B3F}" type="datetime3">
              <a:rPr lang="zh-CN" altLang="en-US" smtClean="0"/>
              <a:t>2022年12月2日星期五</a:t>
            </a:fld>
            <a:endParaRPr lang="en-US" altLang="zh-CN" dirty="0"/>
          </a:p>
        </p:txBody>
      </p:sp>
      <p:sp>
        <p:nvSpPr>
          <p:cNvPr id="5"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dirty="0"/>
          </a:p>
        </p:txBody>
      </p:sp>
    </p:spTree>
    <p:extLst>
      <p:ext uri="{BB962C8B-B14F-4D97-AF65-F5344CB8AC3E}">
        <p14:creationId xmlns:p14="http://schemas.microsoft.com/office/powerpoint/2010/main" val="1684642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DD4BF687-6B3E-44A6-8A17-B031BCEB5374}" type="datetime3">
              <a:rPr lang="zh-CN" altLang="en-US" smtClean="0"/>
              <a:t>2022年12月2日星期五</a:t>
            </a:fld>
            <a:endParaRPr lang="en-US" altLang="zh-CN" dirty="0"/>
          </a:p>
        </p:txBody>
      </p:sp>
      <p:sp>
        <p:nvSpPr>
          <p:cNvPr id="5" name="页脚占位符 4"/>
          <p:cNvSpPr>
            <a:spLocks noGrp="1"/>
          </p:cNvSpPr>
          <p:nvPr>
            <p:ph type="ftr" sz="quarter" idx="11"/>
          </p:nvPr>
        </p:nvSpPr>
        <p:spPr>
          <a:xfrm>
            <a:off x="3384550" y="6356176"/>
            <a:ext cx="31369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dirty="0"/>
          </a:p>
        </p:txBody>
      </p:sp>
    </p:spTree>
    <p:extLst>
      <p:ext uri="{BB962C8B-B14F-4D97-AF65-F5344CB8AC3E}">
        <p14:creationId xmlns:p14="http://schemas.microsoft.com/office/powerpoint/2010/main" val="1291822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fld id="{448BAC07-5643-4648-8B99-28E352517941}" type="datetime3">
              <a:rPr lang="zh-CN" altLang="en-US" smtClean="0"/>
              <a:t>2022年12月2日星期五</a:t>
            </a:fld>
            <a:endParaRPr lang="en-US" altLang="zh-CN" dirty="0"/>
          </a:p>
        </p:txBody>
      </p:sp>
      <p:sp>
        <p:nvSpPr>
          <p:cNvPr id="7" name="页脚占位符 6"/>
          <p:cNvSpPr>
            <a:spLocks noGrp="1"/>
          </p:cNvSpPr>
          <p:nvPr>
            <p:ph type="ftr" sz="quarter" idx="11"/>
          </p:nvPr>
        </p:nvSpPr>
        <p:spPr>
          <a:xfrm>
            <a:off x="3384550" y="6248400"/>
            <a:ext cx="3136900" cy="457200"/>
          </a:xfrm>
          <a:prstGeom prst="rect">
            <a:avLst/>
          </a:prstGeom>
        </p:spPr>
        <p:txBody>
          <a:bodyPr/>
          <a:lstStyle>
            <a:lvl1pPr>
              <a:defRPr/>
            </a:lvl1pPr>
          </a:lstStyle>
          <a:p>
            <a:endParaRPr lang="en-US" altLang="zh-CN" dirty="0"/>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dirty="0"/>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fld id="{3D344004-1B03-4B97-88C0-C8765BDB0F88}" type="datetime3">
              <a:rPr lang="zh-CN" altLang="en-US" smtClean="0"/>
              <a:t>2022年12月2日星期五</a:t>
            </a:fld>
            <a:endParaRPr lang="en-US" altLang="zh-CN" dirty="0"/>
          </a:p>
        </p:txBody>
      </p:sp>
      <p:sp>
        <p:nvSpPr>
          <p:cNvPr id="6" name="页脚占位符 5"/>
          <p:cNvSpPr>
            <a:spLocks noGrp="1"/>
          </p:cNvSpPr>
          <p:nvPr>
            <p:ph type="ftr" sz="quarter" idx="11"/>
          </p:nvPr>
        </p:nvSpPr>
        <p:spPr>
          <a:xfrm>
            <a:off x="3384550" y="6248400"/>
            <a:ext cx="31369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dirty="0"/>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58044" y="44624"/>
            <a:ext cx="9784456"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63500" y="1017862"/>
            <a:ext cx="9784456" cy="5514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58044" y="6542278"/>
            <a:ext cx="2311400" cy="27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ea typeface="宋体" pitchFamily="2" charset="-122"/>
              </a:defRPr>
            </a:lvl1pPr>
          </a:lstStyle>
          <a:p>
            <a:fld id="{9505B10C-6225-4137-9473-CCC2B763FCE5}" type="datetime3">
              <a:rPr lang="zh-CN" altLang="en-US" smtClean="0"/>
              <a:pPr/>
              <a:t>2022年12月2日星期五</a:t>
            </a:fld>
            <a:endParaRPr lang="en-US" altLang="zh-CN" dirty="0"/>
          </a:p>
        </p:txBody>
      </p:sp>
      <p:sp>
        <p:nvSpPr>
          <p:cNvPr id="15366" name="Rectangle 6"/>
          <p:cNvSpPr>
            <a:spLocks noGrp="1" noChangeArrowheads="1"/>
          </p:cNvSpPr>
          <p:nvPr>
            <p:ph type="sldNum" sz="quarter" idx="4"/>
          </p:nvPr>
        </p:nvSpPr>
        <p:spPr bwMode="auto">
          <a:xfrm>
            <a:off x="3797300" y="6533050"/>
            <a:ext cx="2311400" cy="27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ea typeface="宋体" pitchFamily="2" charset="-122"/>
              </a:defRPr>
            </a:lvl1pPr>
          </a:lstStyle>
          <a:p>
            <a:fld id="{67B052E9-C54A-4603-AE2F-EB72B006DB6C}" type="slidenum">
              <a:rPr lang="zh-CN" altLang="en-US" smtClean="0"/>
              <a:pPr/>
              <a:t>‹#›</a:t>
            </a:fld>
            <a:endParaRPr lang="en-US" altLang="zh-CN" dirty="0"/>
          </a:p>
        </p:txBody>
      </p:sp>
      <p:sp>
        <p:nvSpPr>
          <p:cNvPr id="2"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2" name="20 11">
            <a:extLst>
              <a:ext uri="{FF2B5EF4-FFF2-40B4-BE49-F238E27FC236}">
                <a16:creationId xmlns:a16="http://schemas.microsoft.com/office/drawing/2014/main" id="{482E3178-F79E-4C1F-91C9-D07D79763864}"/>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973444" y="6562880"/>
            <a:ext cx="874512" cy="271098"/>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71"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hdr="0" ftr="0"/>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Ø"/>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E2B51CF4-66D4-4F19-97F3-24307D69E6EB}"/>
              </a:ext>
            </a:extLst>
          </p:cNvPr>
          <p:cNvSpPr>
            <a:spLocks noGrp="1"/>
          </p:cNvSpPr>
          <p:nvPr>
            <p:ph type="ctrTitle"/>
          </p:nvPr>
        </p:nvSpPr>
        <p:spPr>
          <a:xfrm>
            <a:off x="944680" y="2636912"/>
            <a:ext cx="8016639" cy="1070582"/>
          </a:xfrm>
        </p:spPr>
        <p:txBody>
          <a:bodyPr anchor="ctr">
            <a:normAutofit fontScale="90000"/>
          </a:bodyPr>
          <a:lstStyle/>
          <a:p>
            <a:r>
              <a:rPr lang="zh-CN" altLang="en-US" sz="7200" dirty="0">
                <a:latin typeface="黑体" panose="02010609060101010101" pitchFamily="49" charset="-122"/>
                <a:ea typeface="黑体" panose="02010609060101010101" pitchFamily="49" charset="-122"/>
              </a:rPr>
              <a:t>最优化理论</a:t>
            </a:r>
            <a:endParaRPr lang="zh-CN" altLang="en-US" sz="4800"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DB188F20-BD1A-4DBF-8204-5DEB489FF2A7}"/>
              </a:ext>
            </a:extLst>
          </p:cNvPr>
          <p:cNvSpPr/>
          <p:nvPr/>
        </p:nvSpPr>
        <p:spPr>
          <a:xfrm>
            <a:off x="2675163" y="4100024"/>
            <a:ext cx="5262979" cy="646331"/>
          </a:xfrm>
          <a:prstGeom prst="rect">
            <a:avLst/>
          </a:prstGeom>
        </p:spPr>
        <p:txBody>
          <a:bodyPr wrap="none">
            <a:spAutoFit/>
          </a:bodyPr>
          <a:lstStyle/>
          <a:p>
            <a:r>
              <a:rPr lang="zh-CN" altLang="en-US" sz="3600" dirty="0">
                <a:latin typeface="黑体" panose="02010609060101010101" pitchFamily="49" charset="-122"/>
                <a:ea typeface="黑体" panose="02010609060101010101" pitchFamily="49" charset="-122"/>
              </a:rPr>
              <a:t>第</a:t>
            </a:r>
            <a:r>
              <a:rPr lang="en-US" altLang="zh-CN" sz="3600" dirty="0">
                <a:latin typeface="黑体" panose="02010609060101010101" pitchFamily="49" charset="-122"/>
                <a:ea typeface="黑体" panose="02010609060101010101" pitchFamily="49" charset="-122"/>
              </a:rPr>
              <a:t>12</a:t>
            </a:r>
            <a:r>
              <a:rPr lang="zh-CN" altLang="en-US" sz="3600" dirty="0">
                <a:latin typeface="黑体" panose="02010609060101010101" pitchFamily="49" charset="-122"/>
                <a:ea typeface="黑体" panose="02010609060101010101" pitchFamily="49" charset="-122"/>
              </a:rPr>
              <a:t>讲</a:t>
            </a:r>
            <a:r>
              <a:rPr lang="en-US" altLang="zh-CN" sz="3600" dirty="0">
                <a:latin typeface="黑体" panose="02010609060101010101" pitchFamily="49" charset="-122"/>
                <a:ea typeface="黑体" panose="02010609060101010101" pitchFamily="49" charset="-122"/>
              </a:rPr>
              <a:t> </a:t>
            </a:r>
            <a:r>
              <a:rPr lang="zh-CN" altLang="en-US" sz="3600" dirty="0">
                <a:latin typeface="黑体" panose="02010609060101010101" pitchFamily="49" charset="-122"/>
                <a:ea typeface="黑体" panose="02010609060101010101" pitchFamily="49" charset="-122"/>
              </a:rPr>
              <a:t>现代优化方法</a:t>
            </a:r>
            <a:r>
              <a:rPr lang="en-US" altLang="zh-CN" sz="3600" dirty="0">
                <a:latin typeface="黑体" panose="02010609060101010101" pitchFamily="49" charset="-122"/>
                <a:ea typeface="黑体" panose="02010609060101010101" pitchFamily="49" charset="-122"/>
              </a:rPr>
              <a:t>(2)</a:t>
            </a:r>
            <a:endParaRPr lang="zh-CN" altLang="en-US" sz="3600" dirty="0"/>
          </a:p>
        </p:txBody>
      </p:sp>
      <p:sp>
        <p:nvSpPr>
          <p:cNvPr id="7" name="副标题 2">
            <a:extLst>
              <a:ext uri="{FF2B5EF4-FFF2-40B4-BE49-F238E27FC236}">
                <a16:creationId xmlns:a16="http://schemas.microsoft.com/office/drawing/2014/main" id="{9D4C4213-E352-4C4A-BD9E-BD5380CE8F1C}"/>
              </a:ext>
            </a:extLst>
          </p:cNvPr>
          <p:cNvSpPr txBox="1">
            <a:spLocks/>
          </p:cNvSpPr>
          <p:nvPr/>
        </p:nvSpPr>
        <p:spPr bwMode="auto">
          <a:xfrm>
            <a:off x="2360712" y="5157192"/>
            <a:ext cx="4968552" cy="642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a:lstStyle>
          <a:p>
            <a:pPr marL="0" indent="0" algn="ctr">
              <a:buNone/>
            </a:pPr>
            <a:r>
              <a:rPr lang="zh-CN" altLang="en-US" sz="2400" kern="0" dirty="0">
                <a:latin typeface="黑体" pitchFamily="49" charset="-122"/>
                <a:ea typeface="黑体" pitchFamily="49" charset="-122"/>
              </a:rPr>
              <a:t>辽宁大学 信息学院</a:t>
            </a:r>
          </a:p>
          <a:p>
            <a:pPr algn="ctr"/>
            <a:endParaRPr lang="zh-CN" altLang="en-US" sz="2400" kern="0" dirty="0">
              <a:latin typeface="黑体" pitchFamily="49" charset="-122"/>
              <a:ea typeface="黑体" pitchFamily="49" charset="-122"/>
            </a:endParaRPr>
          </a:p>
        </p:txBody>
      </p:sp>
      <p:sp>
        <p:nvSpPr>
          <p:cNvPr id="3" name="日期占位符 2">
            <a:extLst>
              <a:ext uri="{FF2B5EF4-FFF2-40B4-BE49-F238E27FC236}">
                <a16:creationId xmlns:a16="http://schemas.microsoft.com/office/drawing/2014/main" id="{4C4A68E3-A51C-4F7D-918B-4EC486F2DD75}"/>
              </a:ext>
            </a:extLst>
          </p:cNvPr>
          <p:cNvSpPr>
            <a:spLocks noGrp="1"/>
          </p:cNvSpPr>
          <p:nvPr>
            <p:ph type="dt" sz="half" idx="10"/>
          </p:nvPr>
        </p:nvSpPr>
        <p:spPr/>
        <p:txBody>
          <a:bodyPr/>
          <a:lstStyle/>
          <a:p>
            <a:fld id="{C2039E4A-C161-4DC7-B97B-9882453A8887}" type="datetime3">
              <a:rPr lang="zh-CN" altLang="en-US" sz="1600" smtClean="0"/>
              <a:t>2022年12月2日星期五</a:t>
            </a:fld>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644AD-5B74-4F77-90AC-CBBA03CDE0DC}"/>
              </a:ext>
            </a:extLst>
          </p:cNvPr>
          <p:cNvSpPr>
            <a:spLocks noGrp="1"/>
          </p:cNvSpPr>
          <p:nvPr>
            <p:ph type="title"/>
          </p:nvPr>
        </p:nvSpPr>
        <p:spPr/>
        <p:txBody>
          <a:bodyPr/>
          <a:lstStyle/>
          <a:p>
            <a:r>
              <a:rPr lang="zh-CN" altLang="en-US" dirty="0"/>
              <a:t>现代优化方法</a:t>
            </a:r>
          </a:p>
        </p:txBody>
      </p:sp>
      <p:sp>
        <p:nvSpPr>
          <p:cNvPr id="3" name="内容占位符 2">
            <a:extLst>
              <a:ext uri="{FF2B5EF4-FFF2-40B4-BE49-F238E27FC236}">
                <a16:creationId xmlns:a16="http://schemas.microsoft.com/office/drawing/2014/main" id="{C00834F9-8C99-4AD0-87F5-67C4F1961F02}"/>
              </a:ext>
            </a:extLst>
          </p:cNvPr>
          <p:cNvSpPr>
            <a:spLocks noGrp="1"/>
          </p:cNvSpPr>
          <p:nvPr>
            <p:ph idx="1"/>
          </p:nvPr>
        </p:nvSpPr>
        <p:spPr/>
        <p:txBody>
          <a:bodyPr/>
          <a:lstStyle/>
          <a:p>
            <a:pPr marL="742950" indent="-742950">
              <a:buFont typeface="+mj-lt"/>
              <a:buAutoNum type="arabicPeriod"/>
            </a:pPr>
            <a:r>
              <a:rPr lang="zh-CN" altLang="en-US" b="0" dirty="0">
                <a:solidFill>
                  <a:srgbClr val="FF0000"/>
                </a:solidFill>
              </a:rPr>
              <a:t>组合优化问题</a:t>
            </a:r>
            <a:endParaRPr lang="en-US" altLang="zh-CN" b="0" dirty="0">
              <a:solidFill>
                <a:srgbClr val="FF0000"/>
              </a:solidFill>
            </a:endParaRPr>
          </a:p>
          <a:p>
            <a:pPr marL="742950" indent="-742950">
              <a:buFont typeface="+mj-lt"/>
              <a:buAutoNum type="arabicPeriod"/>
            </a:pPr>
            <a:r>
              <a:rPr lang="zh-CN" altLang="en-US" b="0" dirty="0">
                <a:solidFill>
                  <a:srgbClr val="FF0000"/>
                </a:solidFill>
              </a:rPr>
              <a:t>启发式算法</a:t>
            </a:r>
            <a:endParaRPr lang="en-US" altLang="zh-CN" b="0" dirty="0">
              <a:solidFill>
                <a:srgbClr val="FF0000"/>
              </a:solidFill>
            </a:endParaRPr>
          </a:p>
          <a:p>
            <a:pPr marL="1143000" lvl="1" indent="-742950">
              <a:buFont typeface="+mj-ea"/>
              <a:buAutoNum type="circleNumDbPlain"/>
            </a:pPr>
            <a:r>
              <a:rPr lang="zh-CN" altLang="en-US" b="0" dirty="0">
                <a:solidFill>
                  <a:srgbClr val="FF0000"/>
                </a:solidFill>
              </a:rPr>
              <a:t>蚁群算法</a:t>
            </a:r>
            <a:endParaRPr lang="en-US" altLang="zh-CN" b="0" dirty="0">
              <a:solidFill>
                <a:srgbClr val="FF0000"/>
              </a:solidFill>
            </a:endParaRPr>
          </a:p>
          <a:p>
            <a:pPr marL="1143000" lvl="1" indent="-742950">
              <a:buFont typeface="+mj-ea"/>
              <a:buAutoNum type="circleNumDbPlain"/>
            </a:pPr>
            <a:r>
              <a:rPr lang="zh-CN" altLang="en-US" b="0" dirty="0"/>
              <a:t>遗传算法</a:t>
            </a:r>
            <a:endParaRPr lang="en-US" altLang="zh-CN" b="0" dirty="0"/>
          </a:p>
          <a:p>
            <a:pPr marL="1143000" lvl="1" indent="-742950">
              <a:buFont typeface="+mj-ea"/>
              <a:buAutoNum type="circleNumDbPlain"/>
            </a:pPr>
            <a:r>
              <a:rPr lang="zh-CN" altLang="en-US" b="0" dirty="0"/>
              <a:t>模拟退火算法</a:t>
            </a:r>
            <a:endParaRPr lang="en-US" altLang="zh-CN" b="0" dirty="0"/>
          </a:p>
        </p:txBody>
      </p:sp>
      <p:sp>
        <p:nvSpPr>
          <p:cNvPr id="4" name="日期占位符 3">
            <a:extLst>
              <a:ext uri="{FF2B5EF4-FFF2-40B4-BE49-F238E27FC236}">
                <a16:creationId xmlns:a16="http://schemas.microsoft.com/office/drawing/2014/main" id="{9339445D-8EC3-46FB-97D7-EB56D5F4C87E}"/>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5F6E21FE-18DA-4C23-B22B-F5C45B33EF9D}"/>
              </a:ext>
            </a:extLst>
          </p:cNvPr>
          <p:cNvSpPr>
            <a:spLocks noGrp="1"/>
          </p:cNvSpPr>
          <p:nvPr>
            <p:ph type="sldNum" sz="quarter" idx="12"/>
          </p:nvPr>
        </p:nvSpPr>
        <p:spPr/>
        <p:txBody>
          <a:bodyPr/>
          <a:lstStyle/>
          <a:p>
            <a:fld id="{7AC79822-BC0D-4DE8-A7E5-90A3732A2B82}" type="slidenum">
              <a:rPr lang="zh-CN" altLang="en-US" smtClean="0"/>
              <a:pPr/>
              <a:t>2</a:t>
            </a:fld>
            <a:endParaRPr lang="en-US" altLang="zh-CN" dirty="0"/>
          </a:p>
        </p:txBody>
      </p:sp>
    </p:spTree>
    <p:extLst>
      <p:ext uri="{BB962C8B-B14F-4D97-AF65-F5344CB8AC3E}">
        <p14:creationId xmlns:p14="http://schemas.microsoft.com/office/powerpoint/2010/main" val="597975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arn(inVertical)">
                                      <p:cBhvr>
                                        <p:cTn id="16" dur="500"/>
                                        <p:tgtEl>
                                          <p:spTgt spid="3">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3</a:t>
            </a:fld>
            <a:endParaRPr lang="en-US" altLang="zh-CN" dirty="0"/>
          </a:p>
        </p:txBody>
      </p:sp>
      <p:pic>
        <p:nvPicPr>
          <p:cNvPr id="10" name="20 9">
            <a:extLst>
              <a:ext uri="{FF2B5EF4-FFF2-40B4-BE49-F238E27FC236}">
                <a16:creationId xmlns:a16="http://schemas.microsoft.com/office/drawing/2014/main" id="{79422C02-5555-4F44-A4D1-076C78ABAEBE}"/>
              </a:ext>
            </a:extLst>
          </p:cNvPr>
          <p:cNvPicPr>
            <a:picLocks noChangeAspect="1"/>
          </p:cNvPicPr>
          <p:nvPr/>
        </p:nvPicPr>
        <p:blipFill>
          <a:blip r:embed="rId2"/>
          <a:stretch>
            <a:fillRect/>
          </a:stretch>
        </p:blipFill>
        <p:spPr>
          <a:xfrm>
            <a:off x="3611437" y="1124743"/>
            <a:ext cx="6210644" cy="3049565"/>
          </a:xfrm>
          <a:prstGeom prst="rect">
            <a:avLst/>
          </a:prstGeom>
        </p:spPr>
      </p:pic>
      <p:pic>
        <p:nvPicPr>
          <p:cNvPr id="11" name="Picture 54">
            <a:extLst>
              <a:ext uri="{FF2B5EF4-FFF2-40B4-BE49-F238E27FC236}">
                <a16:creationId xmlns:a16="http://schemas.microsoft.com/office/drawing/2014/main" id="{B33BC344-BEE7-40ED-85A4-C310DEC0D694}"/>
              </a:ext>
            </a:extLst>
          </p:cNvPr>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1437" y="4202140"/>
            <a:ext cx="6264696" cy="24436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a:extLst>
              <a:ext uri="{FF2B5EF4-FFF2-40B4-BE49-F238E27FC236}">
                <a16:creationId xmlns:a16="http://schemas.microsoft.com/office/drawing/2014/main" id="{100CFE15-9A03-46F9-9146-D3A815A456B6}"/>
              </a:ext>
            </a:extLst>
          </p:cNvPr>
          <p:cNvSpPr/>
          <p:nvPr/>
        </p:nvSpPr>
        <p:spPr>
          <a:xfrm>
            <a:off x="58044" y="4725144"/>
            <a:ext cx="3553393" cy="1569660"/>
          </a:xfrm>
          <a:prstGeom prst="rect">
            <a:avLst/>
          </a:prstGeom>
        </p:spPr>
        <p:txBody>
          <a:bodyPr wrap="square">
            <a:spAutoFit/>
          </a:bodyPr>
          <a:lstStyle/>
          <a:p>
            <a:r>
              <a:rPr lang="zh-CN" altLang="en-US" sz="2400" b="1" dirty="0">
                <a:solidFill>
                  <a:srgbClr val="333333"/>
                </a:solidFill>
                <a:latin typeface="黑体" panose="02010609060101010101" pitchFamily="49" charset="-122"/>
                <a:ea typeface="黑体" panose="02010609060101010101" pitchFamily="49" charset="-122"/>
              </a:rPr>
              <a:t>查尔斯</a:t>
            </a:r>
            <a:r>
              <a:rPr lang="en-US" altLang="zh-CN" sz="2400" b="1" dirty="0">
                <a:solidFill>
                  <a:srgbClr val="333333"/>
                </a:solidFill>
                <a:latin typeface="黑体" panose="02010609060101010101" pitchFamily="49" charset="-122"/>
                <a:ea typeface="黑体" panose="02010609060101010101" pitchFamily="49" charset="-122"/>
              </a:rPr>
              <a:t>·</a:t>
            </a:r>
            <a:r>
              <a:rPr lang="zh-CN" altLang="en-US" sz="2400" b="1" dirty="0">
                <a:solidFill>
                  <a:srgbClr val="333333"/>
                </a:solidFill>
                <a:latin typeface="黑体" panose="02010609060101010101" pitchFamily="49" charset="-122"/>
                <a:ea typeface="黑体" panose="02010609060101010101" pitchFamily="49" charset="-122"/>
              </a:rPr>
              <a:t>罗伯特</a:t>
            </a:r>
            <a:r>
              <a:rPr lang="en-US" altLang="zh-CN" sz="2400" b="1" dirty="0">
                <a:solidFill>
                  <a:srgbClr val="333333"/>
                </a:solidFill>
                <a:latin typeface="黑体" panose="02010609060101010101" pitchFamily="49" charset="-122"/>
                <a:ea typeface="黑体" panose="02010609060101010101" pitchFamily="49" charset="-122"/>
              </a:rPr>
              <a:t>·</a:t>
            </a:r>
            <a:r>
              <a:rPr lang="zh-CN" altLang="en-US" sz="2400" b="1" dirty="0">
                <a:solidFill>
                  <a:srgbClr val="FF0000"/>
                </a:solidFill>
                <a:latin typeface="黑体" panose="02010609060101010101" pitchFamily="49" charset="-122"/>
                <a:ea typeface="黑体" panose="02010609060101010101" pitchFamily="49" charset="-122"/>
              </a:rPr>
              <a:t>达尔文</a:t>
            </a:r>
            <a:r>
              <a:rPr lang="zh-CN" altLang="en-US" sz="2400" b="1" dirty="0">
                <a:solidFill>
                  <a:srgbClr val="333333"/>
                </a:solidFill>
                <a:latin typeface="黑体" panose="02010609060101010101" pitchFamily="49" charset="-122"/>
                <a:ea typeface="黑体" panose="02010609060101010101" pitchFamily="49" charset="-122"/>
              </a:rPr>
              <a:t>（</a:t>
            </a:r>
            <a:r>
              <a:rPr lang="en-US" altLang="zh-CN" sz="2400" b="1" dirty="0">
                <a:solidFill>
                  <a:srgbClr val="333333"/>
                </a:solidFill>
                <a:latin typeface="黑体" panose="02010609060101010101" pitchFamily="49" charset="-122"/>
                <a:ea typeface="黑体" panose="02010609060101010101" pitchFamily="49" charset="-122"/>
              </a:rPr>
              <a:t>Charles Robert Darwin</a:t>
            </a:r>
            <a:r>
              <a:rPr lang="zh-CN" altLang="en-US" sz="2400" b="1" dirty="0">
                <a:solidFill>
                  <a:srgbClr val="333333"/>
                </a:solidFill>
                <a:latin typeface="黑体" panose="02010609060101010101" pitchFamily="49" charset="-122"/>
                <a:ea typeface="黑体" panose="02010609060101010101" pitchFamily="49" charset="-122"/>
              </a:rPr>
              <a:t>，</a:t>
            </a:r>
            <a:r>
              <a:rPr lang="en-US" altLang="zh-CN" sz="2400" b="1" dirty="0">
                <a:solidFill>
                  <a:srgbClr val="333333"/>
                </a:solidFill>
                <a:latin typeface="黑体" panose="02010609060101010101" pitchFamily="49" charset="-122"/>
                <a:ea typeface="黑体" panose="02010609060101010101" pitchFamily="49" charset="-122"/>
              </a:rPr>
              <a:t>1809</a:t>
            </a:r>
            <a:r>
              <a:rPr lang="zh-CN" altLang="en-US" sz="2400" b="1" dirty="0">
                <a:solidFill>
                  <a:srgbClr val="333333"/>
                </a:solidFill>
                <a:latin typeface="黑体" panose="02010609060101010101" pitchFamily="49" charset="-122"/>
                <a:ea typeface="黑体" panose="02010609060101010101" pitchFamily="49" charset="-122"/>
              </a:rPr>
              <a:t>年</a:t>
            </a:r>
            <a:r>
              <a:rPr lang="en-US" altLang="zh-CN" sz="2400" b="1" dirty="0">
                <a:solidFill>
                  <a:srgbClr val="333333"/>
                </a:solidFill>
                <a:latin typeface="黑体" panose="02010609060101010101" pitchFamily="49" charset="-122"/>
                <a:ea typeface="黑体" panose="02010609060101010101" pitchFamily="49" charset="-122"/>
              </a:rPr>
              <a:t>2</a:t>
            </a:r>
            <a:r>
              <a:rPr lang="zh-CN" altLang="en-US" sz="2400" b="1" dirty="0">
                <a:solidFill>
                  <a:srgbClr val="333333"/>
                </a:solidFill>
                <a:latin typeface="黑体" panose="02010609060101010101" pitchFamily="49" charset="-122"/>
                <a:ea typeface="黑体" panose="02010609060101010101" pitchFamily="49" charset="-122"/>
              </a:rPr>
              <a:t>月</a:t>
            </a:r>
            <a:r>
              <a:rPr lang="en-US" altLang="zh-CN" sz="2400" b="1" dirty="0">
                <a:solidFill>
                  <a:srgbClr val="333333"/>
                </a:solidFill>
                <a:latin typeface="黑体" panose="02010609060101010101" pitchFamily="49" charset="-122"/>
                <a:ea typeface="黑体" panose="02010609060101010101" pitchFamily="49" charset="-122"/>
              </a:rPr>
              <a:t>12</a:t>
            </a:r>
            <a:r>
              <a:rPr lang="zh-CN" altLang="en-US" sz="2400" b="1" dirty="0">
                <a:solidFill>
                  <a:srgbClr val="333333"/>
                </a:solidFill>
                <a:latin typeface="黑体" panose="02010609060101010101" pitchFamily="49" charset="-122"/>
                <a:ea typeface="黑体" panose="02010609060101010101" pitchFamily="49" charset="-122"/>
              </a:rPr>
              <a:t>日</a:t>
            </a:r>
            <a:r>
              <a:rPr lang="en-US" altLang="zh-CN" sz="2400" b="1" dirty="0">
                <a:solidFill>
                  <a:srgbClr val="333333"/>
                </a:solidFill>
                <a:latin typeface="黑体" panose="02010609060101010101" pitchFamily="49" charset="-122"/>
                <a:ea typeface="黑体" panose="02010609060101010101" pitchFamily="49" charset="-122"/>
              </a:rPr>
              <a:t>—1882</a:t>
            </a:r>
            <a:r>
              <a:rPr lang="zh-CN" altLang="en-US" sz="2400" b="1" dirty="0">
                <a:solidFill>
                  <a:srgbClr val="333333"/>
                </a:solidFill>
                <a:latin typeface="黑体" panose="02010609060101010101" pitchFamily="49" charset="-122"/>
                <a:ea typeface="黑体" panose="02010609060101010101" pitchFamily="49" charset="-122"/>
              </a:rPr>
              <a:t>年</a:t>
            </a:r>
            <a:r>
              <a:rPr lang="en-US" altLang="zh-CN" sz="2400" b="1" dirty="0">
                <a:solidFill>
                  <a:srgbClr val="333333"/>
                </a:solidFill>
                <a:latin typeface="黑体" panose="02010609060101010101" pitchFamily="49" charset="-122"/>
                <a:ea typeface="黑体" panose="02010609060101010101" pitchFamily="49" charset="-122"/>
              </a:rPr>
              <a:t>4</a:t>
            </a:r>
            <a:r>
              <a:rPr lang="zh-CN" altLang="en-US" sz="2400" b="1" dirty="0">
                <a:solidFill>
                  <a:srgbClr val="333333"/>
                </a:solidFill>
                <a:latin typeface="黑体" panose="02010609060101010101" pitchFamily="49" charset="-122"/>
                <a:ea typeface="黑体" panose="02010609060101010101" pitchFamily="49" charset="-122"/>
              </a:rPr>
              <a:t>月</a:t>
            </a:r>
            <a:r>
              <a:rPr lang="en-US" altLang="zh-CN" sz="2400" b="1" dirty="0">
                <a:solidFill>
                  <a:srgbClr val="333333"/>
                </a:solidFill>
                <a:latin typeface="黑体" panose="02010609060101010101" pitchFamily="49" charset="-122"/>
                <a:ea typeface="黑体" panose="02010609060101010101" pitchFamily="49" charset="-122"/>
              </a:rPr>
              <a:t>19</a:t>
            </a:r>
            <a:r>
              <a:rPr lang="zh-CN" altLang="en-US" sz="2400" b="1" dirty="0">
                <a:solidFill>
                  <a:srgbClr val="333333"/>
                </a:solidFill>
                <a:latin typeface="黑体" panose="02010609060101010101" pitchFamily="49" charset="-122"/>
                <a:ea typeface="黑体" panose="02010609060101010101" pitchFamily="49" charset="-122"/>
              </a:rPr>
              <a:t>日）</a:t>
            </a:r>
            <a:endParaRPr lang="zh-CN" altLang="en-US" sz="2400" b="1" dirty="0">
              <a:latin typeface="黑体" panose="02010609060101010101" pitchFamily="49" charset="-122"/>
              <a:ea typeface="黑体" panose="02010609060101010101" pitchFamily="49" charset="-122"/>
            </a:endParaRPr>
          </a:p>
        </p:txBody>
      </p:sp>
      <p:pic>
        <p:nvPicPr>
          <p:cNvPr id="13" name="Picture 23">
            <a:extLst>
              <a:ext uri="{FF2B5EF4-FFF2-40B4-BE49-F238E27FC236}">
                <a16:creationId xmlns:a16="http://schemas.microsoft.com/office/drawing/2014/main" id="{C4740447-8A27-47D5-89E5-7AA7DD9905CF}"/>
              </a:ext>
            </a:extLst>
          </p:cNvPr>
          <p:cNvPicPr preferRelativeResize="0">
            <a:picLocks noChangeArrowheads="1"/>
          </p:cNvPicPr>
          <p:nvPr/>
        </p:nvPicPr>
        <p:blipFill>
          <a:blip r:embed="rId4">
            <a:extLst>
              <a:ext uri="{28A0092B-C50C-407E-A947-70E740481C1C}">
                <a14:useLocalDpi xmlns:a14="http://schemas.microsoft.com/office/drawing/2010/main" val="0"/>
              </a:ext>
            </a:extLst>
          </a:blip>
          <a:srcRect l="13048" r="7327"/>
          <a:stretch>
            <a:fillRect/>
          </a:stretch>
        </p:blipFill>
        <p:spPr bwMode="auto">
          <a:xfrm>
            <a:off x="83919" y="1124743"/>
            <a:ext cx="3230017" cy="37033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6602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latin typeface="Times New Roman" panose="02020603050405020304" pitchFamily="18" charset="0"/>
                <a:ea typeface="黑体" panose="02010609060101010101" pitchFamily="49" charset="-122"/>
              </a:rPr>
              <a:t>遗传算法简介</a:t>
            </a:r>
            <a:endParaRPr lang="en-US" altLang="zh-CN" dirty="0">
              <a:latin typeface="Times New Roman" panose="02020603050405020304" pitchFamily="18" charset="0"/>
              <a:ea typeface="黑体" panose="02010609060101010101" pitchFamily="49" charset="-122"/>
            </a:endParaRPr>
          </a:p>
          <a:p>
            <a:pPr lvl="1"/>
            <a:r>
              <a:rPr lang="zh-CN" altLang="en-US" dirty="0">
                <a:latin typeface="Times New Roman" panose="02020603050405020304" pitchFamily="18" charset="0"/>
                <a:ea typeface="黑体" panose="02010609060101010101" pitchFamily="49" charset="-122"/>
              </a:rPr>
              <a:t>遗传算法（</a:t>
            </a:r>
            <a:r>
              <a:rPr lang="en-US" altLang="zh-CN" dirty="0">
                <a:latin typeface="Times New Roman" panose="02020603050405020304" pitchFamily="18" charset="0"/>
                <a:ea typeface="黑体" panose="02010609060101010101" pitchFamily="49" charset="-122"/>
              </a:rPr>
              <a:t>Genetic Algorithm</a:t>
            </a:r>
            <a:r>
              <a:rPr lang="zh-CN" altLang="en-US" dirty="0">
                <a:latin typeface="Times New Roman" panose="02020603050405020304" pitchFamily="18" charset="0"/>
                <a:ea typeface="黑体" panose="02010609060101010101" pitchFamily="49" charset="-122"/>
              </a:rPr>
              <a:t>，简称 </a:t>
            </a:r>
            <a:r>
              <a:rPr lang="en-US" altLang="zh-CN" dirty="0">
                <a:latin typeface="Times New Roman" panose="02020603050405020304" pitchFamily="18" charset="0"/>
                <a:ea typeface="黑体" panose="02010609060101010101" pitchFamily="49" charset="-122"/>
              </a:rPr>
              <a:t>GA</a:t>
            </a:r>
            <a:r>
              <a:rPr lang="zh-CN" altLang="en-US" dirty="0">
                <a:latin typeface="Times New Roman" panose="02020603050405020304" pitchFamily="18" charset="0"/>
                <a:ea typeface="黑体" panose="02010609060101010101" pitchFamily="49" charset="-122"/>
              </a:rPr>
              <a:t>），是模拟达尔文的遗传选择和自然淘汰的生物进化过程的计算机算法，它由美国 约翰</a:t>
            </a:r>
            <a:r>
              <a:rPr lang="en-US" altLang="zh-CN" dirty="0">
                <a:latin typeface="Times New Roman" panose="02020603050405020304" pitchFamily="18" charset="0"/>
                <a:ea typeface="黑体" panose="02010609060101010101" pitchFamily="49" charset="-122"/>
              </a:rPr>
              <a:t>.</a:t>
            </a:r>
            <a:r>
              <a:rPr lang="zh-CN" altLang="en-US" dirty="0">
                <a:latin typeface="Times New Roman" panose="02020603050405020304" pitchFamily="18" charset="0"/>
                <a:ea typeface="黑体" panose="02010609060101010101" pitchFamily="49" charset="-122"/>
              </a:rPr>
              <a:t>霍兰德（</a:t>
            </a:r>
            <a:r>
              <a:rPr lang="en-US" altLang="zh-CN" dirty="0">
                <a:latin typeface="Times New Roman" panose="02020603050405020304" pitchFamily="18" charset="0"/>
                <a:ea typeface="黑体" panose="02010609060101010101" pitchFamily="49" charset="-122"/>
              </a:rPr>
              <a:t>John. Holland</a:t>
            </a:r>
            <a:r>
              <a:rPr lang="zh-CN" altLang="en-US"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 </a:t>
            </a:r>
            <a:r>
              <a:rPr lang="zh-CN" altLang="en-US" dirty="0">
                <a:latin typeface="Times New Roman" panose="02020603050405020304" pitchFamily="18" charset="0"/>
                <a:ea typeface="黑体" panose="02010609060101010101" pitchFamily="49" charset="-122"/>
              </a:rPr>
              <a:t>教授</a:t>
            </a:r>
            <a:r>
              <a:rPr lang="en-US" altLang="zh-CN" dirty="0">
                <a:latin typeface="Times New Roman" panose="02020603050405020304" pitchFamily="18" charset="0"/>
                <a:ea typeface="黑体" panose="02010609060101010101" pitchFamily="49" charset="-122"/>
              </a:rPr>
              <a:t>1975</a:t>
            </a:r>
            <a:r>
              <a:rPr lang="zh-CN" altLang="en-US" dirty="0">
                <a:latin typeface="Times New Roman" panose="02020603050405020304" pitchFamily="18" charset="0"/>
                <a:ea typeface="黑体" panose="02010609060101010101" pitchFamily="49" charset="-122"/>
              </a:rPr>
              <a:t>年提出。</a:t>
            </a:r>
            <a:endParaRPr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遗传算法作为一种新的全局优化搜索算法，以其简单通用、鲁棒性强、适合并行处理及应用范围广等显著特点，奠定了它作为</a:t>
            </a:r>
            <a:r>
              <a:rPr kumimoji="1" lang="en-US" altLang="zh-CN" dirty="0">
                <a:latin typeface="Times New Roman" panose="02020603050405020304" pitchFamily="18" charset="0"/>
                <a:ea typeface="黑体" panose="02010609060101010101" pitchFamily="49" charset="-122"/>
              </a:rPr>
              <a:t>21</a:t>
            </a:r>
            <a:r>
              <a:rPr kumimoji="1" lang="zh-CN" altLang="en-US" dirty="0">
                <a:latin typeface="Times New Roman" panose="02020603050405020304" pitchFamily="18" charset="0"/>
                <a:ea typeface="黑体" panose="02010609060101010101" pitchFamily="49" charset="-122"/>
              </a:rPr>
              <a:t>世纪关键智能计算之一的地位。</a:t>
            </a:r>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4</a:t>
            </a:fld>
            <a:endParaRPr lang="en-US" altLang="zh-CN" dirty="0"/>
          </a:p>
        </p:txBody>
      </p:sp>
    </p:spTree>
    <p:extLst>
      <p:ext uri="{BB962C8B-B14F-4D97-AF65-F5344CB8AC3E}">
        <p14:creationId xmlns:p14="http://schemas.microsoft.com/office/powerpoint/2010/main" val="754211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基本思想</a:t>
            </a:r>
            <a:endParaRPr lang="en-US" altLang="zh-CN" dirty="0"/>
          </a:p>
          <a:p>
            <a:pPr lvl="2"/>
            <a:r>
              <a:rPr lang="zh-CN" altLang="en-US" dirty="0"/>
              <a:t>基于模仿生物界遗传学的遗传过程，把问题的参数用基因来表示，把问题的解用染色体来表示（在计算机里用二进制码表示），从而得到一个由具有不同染色体的个体组成的群体。</a:t>
            </a:r>
          </a:p>
          <a:p>
            <a:pPr lvl="2"/>
            <a:r>
              <a:rPr lang="zh-CN" altLang="en-US" dirty="0"/>
              <a:t>这个群体在问题特定的环境里生存竞争，适者有最好的机会生存和产生后代，后代随机化地继承父代的最好特征，并也在生存环境的控制支配下继续这一过程。</a:t>
            </a:r>
          </a:p>
          <a:p>
            <a:pPr lvl="2"/>
            <a:r>
              <a:rPr lang="zh-CN" altLang="en-US" dirty="0"/>
              <a:t> 群体的染色体都将逐渐适应环境，不断进化，最后收敛到一族最适应环境的类似个体，即得到问题最优解。</a:t>
            </a:r>
          </a:p>
          <a:p>
            <a:pPr lvl="1"/>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5</a:t>
            </a:fld>
            <a:endParaRPr lang="en-US" altLang="zh-CN" dirty="0"/>
          </a:p>
        </p:txBody>
      </p:sp>
    </p:spTree>
    <p:extLst>
      <p:ext uri="{BB962C8B-B14F-4D97-AF65-F5344CB8AC3E}">
        <p14:creationId xmlns:p14="http://schemas.microsoft.com/office/powerpoint/2010/main" val="3692984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应用领域</a:t>
            </a:r>
            <a:endParaRPr lang="en-US" altLang="zh-CN" dirty="0"/>
          </a:p>
          <a:p>
            <a:pPr lvl="1"/>
            <a:r>
              <a:rPr lang="zh-CN" altLang="en-US" dirty="0">
                <a:ea typeface="黑体" panose="02010609060101010101" pitchFamily="49" charset="-122"/>
              </a:rPr>
              <a:t>遗传算法在自然科学、工程技术、商业、医学、社会科学等领域都有应用</a:t>
            </a:r>
            <a:endParaRPr lang="en-US" altLang="zh-CN" dirty="0">
              <a:ea typeface="黑体" panose="02010609060101010101" pitchFamily="49" charset="-122"/>
            </a:endParaRPr>
          </a:p>
          <a:p>
            <a:pPr lvl="2"/>
            <a:r>
              <a:rPr lang="zh-CN" altLang="en-US" dirty="0">
                <a:ea typeface="黑体" panose="02010609060101010101" pitchFamily="49" charset="-122"/>
              </a:rPr>
              <a:t>复杂数学函数的优化；半导体器件、飞行器、通信网络、天然气管道系统、汽轮机的设计；神经网络的设计与训练；生产的规划与排序；机器人的运动轨迹生成与运动学解；机器多故障诊断；自动装配系统的优化设计等。</a:t>
            </a:r>
            <a:endParaRPr lang="en-US" altLang="zh-CN" dirty="0">
              <a:ea typeface="黑体" panose="02010609060101010101" pitchFamily="49" charset="-122"/>
            </a:endParaRPr>
          </a:p>
          <a:p>
            <a:pPr lvl="2"/>
            <a:r>
              <a:rPr lang="zh-CN" altLang="en-US" dirty="0">
                <a:ea typeface="黑体" panose="02010609060101010101" pitchFamily="49" charset="-122"/>
              </a:rPr>
              <a:t>尤其适合于寻求多参数、多设计变量或多选择的复杂工程问题的最优数值解。</a:t>
            </a:r>
          </a:p>
          <a:p>
            <a:pPr lvl="2"/>
            <a:endParaRPr lang="zh-CN" altLang="en-US" dirty="0">
              <a:ea typeface="黑体" panose="02010609060101010101" pitchFamily="49" charset="-122"/>
            </a:endParaRPr>
          </a:p>
          <a:p>
            <a:pPr lvl="2"/>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6</a:t>
            </a:fld>
            <a:endParaRPr lang="en-US" altLang="zh-CN" dirty="0"/>
          </a:p>
        </p:txBody>
      </p:sp>
    </p:spTree>
    <p:extLst>
      <p:ext uri="{BB962C8B-B14F-4D97-AF65-F5344CB8AC3E}">
        <p14:creationId xmlns:p14="http://schemas.microsoft.com/office/powerpoint/2010/main" val="2589713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遗传学相关术语与遗传算法对应关系</a:t>
            </a:r>
            <a:endParaRPr lang="en-US" altLang="zh-CN" dirty="0"/>
          </a:p>
          <a:p>
            <a:pPr lvl="1"/>
            <a:r>
              <a:rPr lang="zh-CN" altLang="en-US" dirty="0"/>
              <a:t>个体与种群</a:t>
            </a:r>
            <a:endParaRPr lang="en-US" altLang="zh-CN" dirty="0"/>
          </a:p>
          <a:p>
            <a:pPr lvl="2"/>
            <a:r>
              <a:rPr lang="zh-CN" altLang="en-US" dirty="0"/>
              <a:t>个体（</a:t>
            </a:r>
            <a:r>
              <a:rPr lang="en-US" altLang="zh-CN" dirty="0"/>
              <a:t>Individual</a:t>
            </a:r>
            <a:r>
              <a:rPr lang="zh-CN" altLang="en-US" dirty="0"/>
              <a:t>）：是模拟生物个体而对问题中的对象（一般就是问题的解）的一种称呼，一个个体也就是搜索空间中的一个点。</a:t>
            </a:r>
            <a:endParaRPr lang="en-US" altLang="zh-CN" dirty="0"/>
          </a:p>
          <a:p>
            <a:pPr lvl="2"/>
            <a:r>
              <a:rPr lang="zh-CN" altLang="en-US" dirty="0"/>
              <a:t>种群</a:t>
            </a:r>
            <a:r>
              <a:rPr lang="en-US" altLang="zh-CN" dirty="0"/>
              <a:t>(population)</a:t>
            </a:r>
            <a:r>
              <a:rPr lang="zh-CN" altLang="en-US" dirty="0"/>
              <a:t>：就是模拟生物种群而由若干个体组成的群体</a:t>
            </a:r>
            <a:r>
              <a:rPr lang="en-US" altLang="zh-CN" dirty="0"/>
              <a:t>, </a:t>
            </a:r>
            <a:r>
              <a:rPr lang="zh-CN" altLang="en-US" dirty="0"/>
              <a:t>它一般是整个搜索空间的一个很小的子集。</a:t>
            </a:r>
          </a:p>
          <a:p>
            <a:pPr lvl="1"/>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7</a:t>
            </a:fld>
            <a:endParaRPr lang="en-US" altLang="zh-CN" dirty="0"/>
          </a:p>
        </p:txBody>
      </p:sp>
    </p:spTree>
    <p:extLst>
      <p:ext uri="{BB962C8B-B14F-4D97-AF65-F5344CB8AC3E}">
        <p14:creationId xmlns:p14="http://schemas.microsoft.com/office/powerpoint/2010/main" val="1801055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遗传学相关术语与遗传算法对应关系</a:t>
            </a:r>
            <a:endParaRPr lang="en-US" altLang="zh-CN" dirty="0"/>
          </a:p>
          <a:p>
            <a:pPr lvl="1"/>
            <a:r>
              <a:rPr lang="zh-CN" altLang="en-US" dirty="0"/>
              <a:t>适应度与适应度函数</a:t>
            </a:r>
            <a:endParaRPr lang="en-US" altLang="zh-CN" dirty="0"/>
          </a:p>
          <a:p>
            <a:pPr lvl="2"/>
            <a:r>
              <a:rPr lang="zh-CN" altLang="en-US" dirty="0"/>
              <a:t>适应度</a:t>
            </a:r>
            <a:r>
              <a:rPr lang="en-US" altLang="zh-CN" dirty="0"/>
              <a:t>(fitness)</a:t>
            </a:r>
            <a:r>
              <a:rPr lang="zh-CN" altLang="en-US" dirty="0"/>
              <a:t>：就是借鉴生物个体对环境的适应程度</a:t>
            </a:r>
            <a:r>
              <a:rPr lang="en-US" altLang="zh-CN" dirty="0"/>
              <a:t>,</a:t>
            </a:r>
            <a:r>
              <a:rPr lang="zh-CN" altLang="en-US" dirty="0"/>
              <a:t>而对问题中的个体对象所设计的表征其优劣的一种测度。</a:t>
            </a:r>
          </a:p>
          <a:p>
            <a:pPr lvl="2"/>
            <a:r>
              <a:rPr lang="zh-CN" altLang="en-US" dirty="0"/>
              <a:t>适应度函数</a:t>
            </a:r>
            <a:r>
              <a:rPr lang="en-US" altLang="zh-CN" dirty="0"/>
              <a:t>(fitness function)</a:t>
            </a:r>
            <a:r>
              <a:rPr lang="zh-CN" altLang="en-US" dirty="0"/>
              <a:t>：就是问题中的全体个体与其适应度之间的一个对应关系。它一般是一个实值函数。该函数就是遗传算法中指导搜索的评价函数。 </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8</a:t>
            </a:fld>
            <a:endParaRPr lang="en-US" altLang="zh-CN" dirty="0"/>
          </a:p>
        </p:txBody>
      </p:sp>
    </p:spTree>
    <p:extLst>
      <p:ext uri="{BB962C8B-B14F-4D97-AF65-F5344CB8AC3E}">
        <p14:creationId xmlns:p14="http://schemas.microsoft.com/office/powerpoint/2010/main" val="3637542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遗传学相关术语与遗传算法对应关系</a:t>
            </a:r>
            <a:endParaRPr lang="en-US" altLang="zh-CN" dirty="0"/>
          </a:p>
          <a:p>
            <a:pPr lvl="1"/>
            <a:r>
              <a:rPr lang="zh-CN" altLang="en-US" dirty="0"/>
              <a:t>染色体与基因</a:t>
            </a:r>
            <a:endParaRPr lang="en-US" altLang="zh-CN" dirty="0"/>
          </a:p>
          <a:p>
            <a:pPr lvl="2"/>
            <a:r>
              <a:rPr lang="zh-CN" altLang="en-US" dirty="0"/>
              <a:t>染色体（</a:t>
            </a:r>
            <a:r>
              <a:rPr lang="en-US" altLang="zh-CN" dirty="0"/>
              <a:t>chromosome</a:t>
            </a:r>
            <a:r>
              <a:rPr lang="zh-CN" altLang="en-US" dirty="0"/>
              <a:t>）就是问题中个体的某种字符串形式的编码表示。字符串中的字符也就称为基因（</a:t>
            </a:r>
            <a:r>
              <a:rPr lang="en-US" altLang="zh-CN" dirty="0"/>
              <a:t>gene</a:t>
            </a:r>
            <a:r>
              <a:rPr lang="zh-CN" altLang="en-US" dirty="0"/>
              <a:t>）。例如：</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9</a:t>
            </a:fld>
            <a:endParaRPr lang="en-US" altLang="zh-CN" dirty="0"/>
          </a:p>
        </p:txBody>
      </p:sp>
      <p:sp>
        <p:nvSpPr>
          <p:cNvPr id="6" name="矩形 5">
            <a:extLst>
              <a:ext uri="{FF2B5EF4-FFF2-40B4-BE49-F238E27FC236}">
                <a16:creationId xmlns:a16="http://schemas.microsoft.com/office/drawing/2014/main" id="{D8394000-6554-4EEF-831F-CFE898F7F134}"/>
              </a:ext>
            </a:extLst>
          </p:cNvPr>
          <p:cNvSpPr/>
          <p:nvPr/>
        </p:nvSpPr>
        <p:spPr>
          <a:xfrm>
            <a:off x="1640632" y="4362132"/>
            <a:ext cx="4953000" cy="1592744"/>
          </a:xfrm>
          <a:prstGeom prst="rect">
            <a:avLst/>
          </a:prstGeom>
        </p:spPr>
        <p:txBody>
          <a:bodyPr>
            <a:spAutoFit/>
          </a:bodyPr>
          <a:lstStyle/>
          <a:p>
            <a:pPr algn="just">
              <a:lnSpc>
                <a:spcPct val="120000"/>
              </a:lnSpc>
              <a:spcBef>
                <a:spcPct val="20000"/>
              </a:spcBef>
            </a:pPr>
            <a:r>
              <a:rPr kumimoji="1" lang="zh-CN" altLang="en-US" sz="2400" b="1" dirty="0">
                <a:latin typeface="宋体" panose="02010600030101010101" pitchFamily="2" charset="-122"/>
              </a:rPr>
              <a:t>    个体         染色体</a:t>
            </a:r>
          </a:p>
          <a:p>
            <a:pPr algn="just">
              <a:lnSpc>
                <a:spcPct val="130000"/>
              </a:lnSpc>
              <a:spcBef>
                <a:spcPct val="20000"/>
              </a:spcBef>
            </a:pPr>
            <a:r>
              <a:rPr kumimoji="1" lang="en-US" altLang="zh-CN" sz="2400" b="1" dirty="0">
                <a:latin typeface="Arial" panose="020B0604020202020204" pitchFamily="34" charset="0"/>
              </a:rPr>
              <a:t>         9  </a:t>
            </a:r>
            <a:r>
              <a:rPr kumimoji="1" lang="en-US" altLang="zh-CN" sz="2400" b="1" dirty="0">
                <a:latin typeface="宋体" panose="02010600030101010101" pitchFamily="2" charset="-122"/>
              </a:rPr>
              <a:t>    ----  </a:t>
            </a:r>
            <a:r>
              <a:rPr kumimoji="1" lang="en-US" altLang="zh-CN" sz="2400" b="1" dirty="0">
                <a:latin typeface="Arial" panose="020B0604020202020204" pitchFamily="34" charset="0"/>
              </a:rPr>
              <a:t> 1001</a:t>
            </a:r>
          </a:p>
          <a:p>
            <a:pPr algn="just">
              <a:lnSpc>
                <a:spcPct val="130000"/>
              </a:lnSpc>
              <a:spcBef>
                <a:spcPct val="20000"/>
              </a:spcBef>
            </a:pPr>
            <a:r>
              <a:rPr kumimoji="1" lang="zh-CN" altLang="en-US" sz="2400" b="1" dirty="0">
                <a:latin typeface="Arial" panose="020B0604020202020204" pitchFamily="34" charset="0"/>
              </a:rPr>
              <a:t>（</a:t>
            </a:r>
            <a:r>
              <a:rPr kumimoji="1" lang="en-US" altLang="zh-CN" sz="2400" b="1" dirty="0">
                <a:latin typeface="Arial" panose="020B0604020202020204" pitchFamily="34" charset="0"/>
              </a:rPr>
              <a:t>2</a:t>
            </a:r>
            <a:r>
              <a:rPr kumimoji="1" lang="zh-CN" altLang="en-US" sz="2400" b="1" dirty="0">
                <a:latin typeface="Arial" panose="020B0604020202020204" pitchFamily="34" charset="0"/>
              </a:rPr>
              <a:t>，</a:t>
            </a:r>
            <a:r>
              <a:rPr kumimoji="1" lang="en-US" altLang="zh-CN" sz="2400" b="1" dirty="0">
                <a:latin typeface="Arial" panose="020B0604020202020204" pitchFamily="34" charset="0"/>
              </a:rPr>
              <a:t>5</a:t>
            </a:r>
            <a:r>
              <a:rPr kumimoji="1" lang="zh-CN" altLang="en-US" sz="2400" b="1" dirty="0">
                <a:latin typeface="Arial" panose="020B0604020202020204" pitchFamily="34" charset="0"/>
              </a:rPr>
              <a:t>，</a:t>
            </a:r>
            <a:r>
              <a:rPr kumimoji="1" lang="en-US" altLang="zh-CN" sz="2400" b="1" dirty="0">
                <a:latin typeface="Arial" panose="020B0604020202020204" pitchFamily="34" charset="0"/>
              </a:rPr>
              <a:t>6</a:t>
            </a:r>
            <a:r>
              <a:rPr kumimoji="1" lang="zh-CN" altLang="en-US" sz="2400" b="1" dirty="0">
                <a:latin typeface="Arial" panose="020B0604020202020204" pitchFamily="34" charset="0"/>
              </a:rPr>
              <a:t>）</a:t>
            </a:r>
            <a:r>
              <a:rPr kumimoji="1" lang="en-US" altLang="zh-CN" sz="2400" b="1" dirty="0">
                <a:latin typeface="宋体" panose="02010600030101010101" pitchFamily="2" charset="-122"/>
              </a:rPr>
              <a:t>---- </a:t>
            </a:r>
            <a:r>
              <a:rPr kumimoji="1" lang="en-US" altLang="zh-CN" sz="2400" b="1" dirty="0">
                <a:latin typeface="Arial" panose="020B0604020202020204" pitchFamily="34" charset="0"/>
              </a:rPr>
              <a:t>010 101 110</a:t>
            </a:r>
            <a:endParaRPr kumimoji="1" lang="en-US" altLang="zh-CN" sz="2400" b="1" dirty="0">
              <a:latin typeface="宋体" panose="02010600030101010101" pitchFamily="2" charset="-122"/>
            </a:endParaRPr>
          </a:p>
        </p:txBody>
      </p:sp>
      <p:sp>
        <p:nvSpPr>
          <p:cNvPr id="8" name="矩形 7">
            <a:extLst>
              <a:ext uri="{FF2B5EF4-FFF2-40B4-BE49-F238E27FC236}">
                <a16:creationId xmlns:a16="http://schemas.microsoft.com/office/drawing/2014/main" id="{EA726CD3-5CEE-4F8B-B83B-F71A3BBEF164}"/>
              </a:ext>
            </a:extLst>
          </p:cNvPr>
          <p:cNvSpPr/>
          <p:nvPr/>
        </p:nvSpPr>
        <p:spPr bwMode="auto">
          <a:xfrm>
            <a:off x="7761312" y="4202496"/>
            <a:ext cx="1728192" cy="954696"/>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Arial" charset="0"/>
              </a:rPr>
              <a:t>每一个字符就是基因</a:t>
            </a:r>
          </a:p>
        </p:txBody>
      </p:sp>
      <p:cxnSp>
        <p:nvCxnSpPr>
          <p:cNvPr id="9" name="直接箭头连接符 8">
            <a:extLst>
              <a:ext uri="{FF2B5EF4-FFF2-40B4-BE49-F238E27FC236}">
                <a16:creationId xmlns:a16="http://schemas.microsoft.com/office/drawing/2014/main" id="{F06153DA-64CA-4C9B-B978-EA06C3766C23}"/>
              </a:ext>
            </a:extLst>
          </p:cNvPr>
          <p:cNvCxnSpPr>
            <a:cxnSpLocks/>
          </p:cNvCxnSpPr>
          <p:nvPr/>
        </p:nvCxnSpPr>
        <p:spPr bwMode="auto">
          <a:xfrm flipH="1">
            <a:off x="5025008" y="4553591"/>
            <a:ext cx="2664296" cy="95469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81286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遗传操作</a:t>
            </a:r>
            <a:endParaRPr lang="en-US" altLang="zh-CN" dirty="0"/>
          </a:p>
          <a:p>
            <a:pPr lvl="1">
              <a:lnSpc>
                <a:spcPct val="120000"/>
              </a:lnSpc>
            </a:pPr>
            <a:r>
              <a:rPr kumimoji="1" lang="zh-CN" altLang="en-US" dirty="0">
                <a:latin typeface="黑体" panose="02010609060101010101" pitchFamily="49" charset="-122"/>
                <a:ea typeface="黑体" panose="02010609060101010101" pitchFamily="49" charset="-122"/>
              </a:rPr>
              <a:t>亦称遗传算子</a:t>
            </a:r>
            <a:r>
              <a:rPr kumimoji="1" lang="en-US" altLang="zh-CN" dirty="0">
                <a:latin typeface="黑体" panose="02010609060101010101" pitchFamily="49" charset="-122"/>
                <a:ea typeface="黑体" panose="02010609060101010101" pitchFamily="49" charset="-122"/>
              </a:rPr>
              <a:t>(genetic operator)</a:t>
            </a:r>
            <a:r>
              <a:rPr kumimoji="1" lang="zh-CN" altLang="en-US" dirty="0">
                <a:latin typeface="黑体" panose="02010609060101010101" pitchFamily="49" charset="-122"/>
                <a:ea typeface="黑体" panose="02010609060101010101" pitchFamily="49" charset="-122"/>
              </a:rPr>
              <a:t>，就是关于染色体的运算。遗传算法中有三种遗传操作</a:t>
            </a:r>
            <a:r>
              <a:rPr kumimoji="1" lang="en-US" altLang="zh-CN" dirty="0">
                <a:latin typeface="黑体" panose="02010609060101010101" pitchFamily="49" charset="-122"/>
                <a:ea typeface="黑体" panose="02010609060101010101" pitchFamily="49" charset="-122"/>
              </a:rPr>
              <a:t>: </a:t>
            </a:r>
          </a:p>
          <a:p>
            <a:pPr lvl="2">
              <a:lnSpc>
                <a:spcPct val="120000"/>
              </a:lnSpc>
            </a:pPr>
            <a:r>
              <a:rPr kumimoji="1" lang="zh-CN" altLang="en-US" dirty="0">
                <a:latin typeface="黑体" panose="02010609060101010101" pitchFamily="49" charset="-122"/>
                <a:ea typeface="黑体" panose="02010609060101010101" pitchFamily="49" charset="-122"/>
              </a:rPr>
              <a:t>选择</a:t>
            </a:r>
            <a:r>
              <a:rPr kumimoji="1" lang="en-US" altLang="zh-CN" dirty="0">
                <a:latin typeface="黑体" panose="02010609060101010101" pitchFamily="49" charset="-122"/>
                <a:ea typeface="黑体" panose="02010609060101010101" pitchFamily="49" charset="-122"/>
              </a:rPr>
              <a:t>-</a:t>
            </a:r>
            <a:r>
              <a:rPr kumimoji="1" lang="zh-CN" altLang="en-US" dirty="0">
                <a:latin typeface="黑体" panose="02010609060101010101" pitchFamily="49" charset="-122"/>
                <a:ea typeface="黑体" panose="02010609060101010101" pitchFamily="49" charset="-122"/>
              </a:rPr>
              <a:t>复制</a:t>
            </a:r>
            <a:r>
              <a:rPr kumimoji="1" lang="en-US" altLang="zh-CN" dirty="0">
                <a:latin typeface="黑体" panose="02010609060101010101" pitchFamily="49" charset="-122"/>
                <a:ea typeface="黑体" panose="02010609060101010101" pitchFamily="49" charset="-122"/>
              </a:rPr>
              <a:t>(selection-reproduction)</a:t>
            </a:r>
          </a:p>
          <a:p>
            <a:pPr lvl="2">
              <a:lnSpc>
                <a:spcPct val="120000"/>
              </a:lnSpc>
            </a:pPr>
            <a:r>
              <a:rPr kumimoji="1" lang="zh-CN" altLang="en-US" dirty="0">
                <a:latin typeface="黑体" panose="02010609060101010101" pitchFamily="49" charset="-122"/>
                <a:ea typeface="黑体" panose="02010609060101010101" pitchFamily="49" charset="-122"/>
              </a:rPr>
              <a:t>交叉</a:t>
            </a:r>
            <a:r>
              <a:rPr kumimoji="1" lang="en-US" altLang="zh-CN" dirty="0">
                <a:latin typeface="黑体" panose="02010609060101010101" pitchFamily="49" charset="-122"/>
                <a:ea typeface="黑体" panose="02010609060101010101" pitchFamily="49" charset="-122"/>
              </a:rPr>
              <a:t>(crossover</a:t>
            </a:r>
            <a:r>
              <a:rPr kumimoji="1" lang="zh-CN" altLang="en-US" dirty="0">
                <a:latin typeface="黑体" panose="02010609060101010101" pitchFamily="49" charset="-122"/>
                <a:ea typeface="黑体" panose="02010609060101010101" pitchFamily="49" charset="-122"/>
              </a:rPr>
              <a:t>，亦称交换、交配或杂交</a:t>
            </a:r>
            <a:r>
              <a:rPr kumimoji="1" lang="en-US" altLang="zh-CN" dirty="0">
                <a:latin typeface="黑体" panose="02010609060101010101" pitchFamily="49" charset="-122"/>
                <a:ea typeface="黑体" panose="02010609060101010101" pitchFamily="49" charset="-122"/>
              </a:rPr>
              <a:t>)</a:t>
            </a:r>
          </a:p>
          <a:p>
            <a:pPr lvl="2">
              <a:lnSpc>
                <a:spcPct val="120000"/>
              </a:lnSpc>
            </a:pPr>
            <a:r>
              <a:rPr kumimoji="1" lang="zh-CN" altLang="en-US" dirty="0">
                <a:latin typeface="黑体" panose="02010609060101010101" pitchFamily="49" charset="-122"/>
                <a:ea typeface="黑体" panose="02010609060101010101" pitchFamily="49" charset="-122"/>
              </a:rPr>
              <a:t>变异</a:t>
            </a:r>
            <a:r>
              <a:rPr kumimoji="1" lang="en-US" altLang="zh-CN" dirty="0">
                <a:latin typeface="黑体" panose="02010609060101010101" pitchFamily="49" charset="-122"/>
                <a:ea typeface="黑体" panose="02010609060101010101" pitchFamily="49" charset="-122"/>
              </a:rPr>
              <a:t>(mutation</a:t>
            </a:r>
            <a:r>
              <a:rPr kumimoji="1" lang="zh-CN" altLang="en-US" dirty="0">
                <a:latin typeface="黑体" panose="02010609060101010101" pitchFamily="49" charset="-122"/>
                <a:ea typeface="黑体" panose="02010609060101010101" pitchFamily="49" charset="-122"/>
              </a:rPr>
              <a:t>，亦称突变</a:t>
            </a:r>
            <a:r>
              <a:rPr kumimoji="1" lang="en-US" altLang="zh-CN" dirty="0">
                <a:latin typeface="黑体" panose="02010609060101010101" pitchFamily="49" charset="-122"/>
                <a:ea typeface="黑体" panose="02010609060101010101" pitchFamily="49" charset="-122"/>
              </a:rPr>
              <a:t>)</a:t>
            </a:r>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10</a:t>
            </a:fld>
            <a:endParaRPr lang="en-US" altLang="zh-CN" dirty="0"/>
          </a:p>
        </p:txBody>
      </p:sp>
    </p:spTree>
    <p:extLst>
      <p:ext uri="{BB962C8B-B14F-4D97-AF65-F5344CB8AC3E}">
        <p14:creationId xmlns:p14="http://schemas.microsoft.com/office/powerpoint/2010/main" val="276805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遗传操作</a:t>
            </a:r>
            <a:endParaRPr lang="en-US" altLang="zh-CN" dirty="0"/>
          </a:p>
          <a:p>
            <a:pPr lvl="1"/>
            <a:r>
              <a:rPr lang="zh-CN" altLang="en-US" dirty="0">
                <a:solidFill>
                  <a:srgbClr val="FF0000"/>
                </a:solidFill>
              </a:rPr>
              <a:t>选择</a:t>
            </a:r>
            <a:r>
              <a:rPr lang="en-US" altLang="zh-CN" dirty="0">
                <a:solidFill>
                  <a:srgbClr val="FF0000"/>
                </a:solidFill>
              </a:rPr>
              <a:t>-</a:t>
            </a:r>
            <a:r>
              <a:rPr lang="zh-CN" altLang="en-US" dirty="0">
                <a:solidFill>
                  <a:srgbClr val="FF0000"/>
                </a:solidFill>
              </a:rPr>
              <a:t>复制（</a:t>
            </a:r>
            <a:r>
              <a:rPr kumimoji="1" lang="en-US" altLang="zh-CN" dirty="0">
                <a:latin typeface="黑体" panose="02010609060101010101" pitchFamily="49" charset="-122"/>
                <a:ea typeface="黑体" panose="02010609060101010101" pitchFamily="49" charset="-122"/>
              </a:rPr>
              <a:t> selection-reproduction </a:t>
            </a:r>
            <a:r>
              <a:rPr lang="zh-CN" altLang="en-US" dirty="0">
                <a:solidFill>
                  <a:srgbClr val="FF0000"/>
                </a:solidFill>
              </a:rPr>
              <a:t>）</a:t>
            </a:r>
            <a:r>
              <a:rPr lang="zh-CN" altLang="en-US" dirty="0"/>
              <a:t>　</a:t>
            </a:r>
            <a:endParaRPr lang="en-US" altLang="zh-CN" dirty="0"/>
          </a:p>
          <a:p>
            <a:pPr lvl="2"/>
            <a:r>
              <a:rPr lang="zh-CN" altLang="en-US" dirty="0"/>
              <a:t>通常做法是：对于一个规模为</a:t>
            </a:r>
            <a:r>
              <a:rPr lang="en-US" altLang="zh-CN" dirty="0"/>
              <a:t>N</a:t>
            </a:r>
            <a:r>
              <a:rPr lang="zh-CN" altLang="en-US" dirty="0"/>
              <a:t>的种群</a:t>
            </a:r>
            <a:r>
              <a:rPr lang="en-US" altLang="zh-CN" dirty="0"/>
              <a:t>S,</a:t>
            </a:r>
            <a:r>
              <a:rPr lang="zh-CN" altLang="en-US" dirty="0"/>
              <a:t>按每个染色体</a:t>
            </a:r>
            <a:r>
              <a:rPr lang="en-US" altLang="zh-CN" dirty="0" err="1"/>
              <a:t>xi∈S</a:t>
            </a:r>
            <a:r>
              <a:rPr lang="zh-CN" altLang="en-US" dirty="0"/>
              <a:t>的选择概率</a:t>
            </a:r>
            <a:r>
              <a:rPr lang="en-US" altLang="zh-CN" dirty="0"/>
              <a:t>P(xi)</a:t>
            </a:r>
            <a:r>
              <a:rPr lang="zh-CN" altLang="en-US" dirty="0"/>
              <a:t>所决定的选中机会</a:t>
            </a:r>
            <a:r>
              <a:rPr lang="en-US" altLang="zh-CN" dirty="0"/>
              <a:t>, </a:t>
            </a:r>
            <a:r>
              <a:rPr lang="zh-CN" altLang="en-US" dirty="0"/>
              <a:t>分</a:t>
            </a:r>
            <a:r>
              <a:rPr lang="en-US" altLang="zh-CN" dirty="0"/>
              <a:t>N</a:t>
            </a:r>
            <a:r>
              <a:rPr lang="zh-CN" altLang="en-US" dirty="0"/>
              <a:t>次从</a:t>
            </a:r>
            <a:r>
              <a:rPr lang="en-US" altLang="zh-CN" dirty="0"/>
              <a:t>S</a:t>
            </a:r>
            <a:r>
              <a:rPr lang="zh-CN" altLang="en-US" dirty="0"/>
              <a:t>中随机选定</a:t>
            </a:r>
            <a:r>
              <a:rPr lang="en-US" altLang="zh-CN" dirty="0"/>
              <a:t>N</a:t>
            </a:r>
            <a:r>
              <a:rPr lang="zh-CN" altLang="en-US" dirty="0"/>
              <a:t>个染色体</a:t>
            </a:r>
            <a:r>
              <a:rPr lang="en-US" altLang="zh-CN" dirty="0"/>
              <a:t>, </a:t>
            </a:r>
            <a:r>
              <a:rPr lang="zh-CN" altLang="en-US" dirty="0"/>
              <a:t>并进行复制。 </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11</a:t>
            </a:fld>
            <a:endParaRPr lang="en-US" altLang="zh-CN" dirty="0"/>
          </a:p>
        </p:txBody>
      </p:sp>
      <p:graphicFrame>
        <p:nvGraphicFramePr>
          <p:cNvPr id="6" name="Object 239">
            <a:extLst>
              <a:ext uri="{FF2B5EF4-FFF2-40B4-BE49-F238E27FC236}">
                <a16:creationId xmlns:a16="http://schemas.microsoft.com/office/drawing/2014/main" id="{7F9900AA-0312-4D95-AAA1-57400487B3DD}"/>
              </a:ext>
            </a:extLst>
          </p:cNvPr>
          <p:cNvGraphicFramePr>
            <a:graphicFrameLocks noChangeAspect="1"/>
          </p:cNvGraphicFramePr>
          <p:nvPr>
            <p:extLst>
              <p:ext uri="{D42A27DB-BD31-4B8C-83A1-F6EECF244321}">
                <p14:modId xmlns:p14="http://schemas.microsoft.com/office/powerpoint/2010/main" val="4276701027"/>
              </p:ext>
            </p:extLst>
          </p:nvPr>
        </p:nvGraphicFramePr>
        <p:xfrm>
          <a:off x="2889739" y="4149080"/>
          <a:ext cx="3240360" cy="1904085"/>
        </p:xfrm>
        <a:graphic>
          <a:graphicData uri="http://schemas.openxmlformats.org/presentationml/2006/ole">
            <mc:AlternateContent xmlns:mc="http://schemas.openxmlformats.org/markup-compatibility/2006">
              <mc:Choice xmlns:v="urn:schemas-microsoft-com:vml" Requires="v">
                <p:oleObj name="Equation" r:id="rId2" imgW="1079280" imgH="634680" progId="Equation.DSMT4">
                  <p:embed/>
                </p:oleObj>
              </mc:Choice>
              <mc:Fallback>
                <p:oleObj name="Equation" r:id="rId2" imgW="1079280" imgH="634680" progId="Equation.DSMT4">
                  <p:embed/>
                  <p:pic>
                    <p:nvPicPr>
                      <p:cNvPr id="2287" name="Object 239">
                        <a:extLst>
                          <a:ext uri="{FF2B5EF4-FFF2-40B4-BE49-F238E27FC236}">
                            <a16:creationId xmlns:a16="http://schemas.microsoft.com/office/drawing/2014/main" id="{C71FB3CD-D380-481F-883B-6248C0B6755B}"/>
                          </a:ext>
                        </a:extLst>
                      </p:cNvPr>
                      <p:cNvPicPr>
                        <a:picLocks noChangeAspect="1" noChangeArrowheads="1"/>
                      </p:cNvPicPr>
                      <p:nvPr/>
                    </p:nvPicPr>
                    <p:blipFill>
                      <a:blip r:embed="rId3"/>
                      <a:srcRect/>
                      <a:stretch>
                        <a:fillRect/>
                      </a:stretch>
                    </p:blipFill>
                    <p:spPr bwMode="auto">
                      <a:xfrm>
                        <a:off x="2889739" y="4149080"/>
                        <a:ext cx="3240360" cy="1904085"/>
                      </a:xfrm>
                      <a:prstGeom prst="rect">
                        <a:avLst/>
                      </a:prstGeom>
                      <a:noFill/>
                      <a:ln>
                        <a:noFill/>
                      </a:ln>
                    </p:spPr>
                  </p:pic>
                </p:oleObj>
              </mc:Fallback>
            </mc:AlternateContent>
          </a:graphicData>
        </a:graphic>
      </p:graphicFrame>
      <p:sp>
        <p:nvSpPr>
          <p:cNvPr id="7" name="矩形 6">
            <a:extLst>
              <a:ext uri="{FF2B5EF4-FFF2-40B4-BE49-F238E27FC236}">
                <a16:creationId xmlns:a16="http://schemas.microsoft.com/office/drawing/2014/main" id="{B364EE73-C80C-4117-BF83-BD52D07F403D}"/>
              </a:ext>
            </a:extLst>
          </p:cNvPr>
          <p:cNvSpPr/>
          <p:nvPr/>
        </p:nvSpPr>
        <p:spPr bwMode="auto">
          <a:xfrm>
            <a:off x="7761312" y="4202496"/>
            <a:ext cx="1728192" cy="954696"/>
          </a:xfrm>
          <a:prstGeom prst="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Arial" charset="0"/>
              </a:rPr>
              <a:t>适应度函数</a:t>
            </a:r>
          </a:p>
        </p:txBody>
      </p:sp>
      <p:cxnSp>
        <p:nvCxnSpPr>
          <p:cNvPr id="8" name="直接箭头连接符 7">
            <a:extLst>
              <a:ext uri="{FF2B5EF4-FFF2-40B4-BE49-F238E27FC236}">
                <a16:creationId xmlns:a16="http://schemas.microsoft.com/office/drawing/2014/main" id="{BB8114B3-5A19-4A78-8B15-4D209961E022}"/>
              </a:ext>
            </a:extLst>
          </p:cNvPr>
          <p:cNvCxnSpPr>
            <a:cxnSpLocks/>
          </p:cNvCxnSpPr>
          <p:nvPr/>
        </p:nvCxnSpPr>
        <p:spPr bwMode="auto">
          <a:xfrm flipH="1" flipV="1">
            <a:off x="5745088" y="4509120"/>
            <a:ext cx="1944216" cy="44471"/>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303827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遗传操作</a:t>
            </a:r>
            <a:endParaRPr lang="en-US" altLang="zh-CN" dirty="0"/>
          </a:p>
          <a:p>
            <a:pPr lvl="1"/>
            <a:r>
              <a:rPr kumimoji="1" lang="zh-CN" altLang="en-US" dirty="0">
                <a:solidFill>
                  <a:srgbClr val="FF0000"/>
                </a:solidFill>
                <a:latin typeface="黑体" panose="02010609060101010101" pitchFamily="49" charset="-122"/>
                <a:ea typeface="黑体" panose="02010609060101010101" pitchFamily="49" charset="-122"/>
              </a:rPr>
              <a:t>交叉（</a:t>
            </a:r>
            <a:r>
              <a:rPr kumimoji="1" lang="en-US" altLang="zh-CN" dirty="0">
                <a:solidFill>
                  <a:srgbClr val="FF0000"/>
                </a:solidFill>
                <a:latin typeface="黑体" panose="02010609060101010101" pitchFamily="49" charset="-122"/>
                <a:ea typeface="黑体" panose="02010609060101010101" pitchFamily="49" charset="-122"/>
              </a:rPr>
              <a:t>crossover</a:t>
            </a:r>
            <a:r>
              <a:rPr kumimoji="1" lang="zh-CN" altLang="en-US" dirty="0">
                <a:solidFill>
                  <a:srgbClr val="FF0000"/>
                </a:solidFill>
                <a:latin typeface="黑体" panose="02010609060101010101" pitchFamily="49" charset="-122"/>
                <a:ea typeface="黑体" panose="02010609060101010101" pitchFamily="49" charset="-122"/>
              </a:rPr>
              <a:t>）</a:t>
            </a:r>
            <a:endParaRPr kumimoji="1" lang="en-US" altLang="zh-CN" dirty="0">
              <a:solidFill>
                <a:srgbClr val="FF0000"/>
              </a:solidFill>
              <a:latin typeface="黑体" panose="02010609060101010101" pitchFamily="49" charset="-122"/>
              <a:ea typeface="黑体" panose="02010609060101010101" pitchFamily="49" charset="-122"/>
            </a:endParaRPr>
          </a:p>
          <a:p>
            <a:pPr lvl="2"/>
            <a:r>
              <a:rPr kumimoji="1" lang="zh-CN" altLang="en-US" dirty="0">
                <a:latin typeface="黑体" panose="02010609060101010101" pitchFamily="49" charset="-122"/>
                <a:ea typeface="黑体" panose="02010609060101010101" pitchFamily="49" charset="-122"/>
              </a:rPr>
              <a:t>就是互换两个染色体某些位上的基因。</a:t>
            </a:r>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12</a:t>
            </a:fld>
            <a:endParaRPr lang="en-US" altLang="zh-CN" dirty="0"/>
          </a:p>
        </p:txBody>
      </p:sp>
      <p:sp>
        <p:nvSpPr>
          <p:cNvPr id="6" name="矩形 5">
            <a:extLst>
              <a:ext uri="{FF2B5EF4-FFF2-40B4-BE49-F238E27FC236}">
                <a16:creationId xmlns:a16="http://schemas.microsoft.com/office/drawing/2014/main" id="{734C8A99-1660-45D1-AC2E-CB62A37ECBB0}"/>
              </a:ext>
            </a:extLst>
          </p:cNvPr>
          <p:cNvSpPr/>
          <p:nvPr/>
        </p:nvSpPr>
        <p:spPr>
          <a:xfrm>
            <a:off x="920552" y="3105834"/>
            <a:ext cx="8352928" cy="830997"/>
          </a:xfrm>
          <a:prstGeom prst="rect">
            <a:avLst/>
          </a:prstGeom>
        </p:spPr>
        <p:txBody>
          <a:bodyPr wrap="square">
            <a:spAutoFit/>
          </a:bodyPr>
          <a:lstStyle/>
          <a:p>
            <a:r>
              <a:rPr kumimoji="1" lang="zh-CN" altLang="en-US" sz="2400" b="1" dirty="0">
                <a:latin typeface="黑体" panose="02010609060101010101" pitchFamily="49" charset="-122"/>
                <a:ea typeface="黑体" panose="02010609060101010101" pitchFamily="49" charset="-122"/>
              </a:rPr>
              <a:t>例如</a:t>
            </a:r>
            <a:r>
              <a:rPr kumimoji="1" lang="en-US" altLang="zh-CN" sz="2400" b="1" dirty="0">
                <a:latin typeface="黑体" panose="02010609060101010101" pitchFamily="49" charset="-122"/>
                <a:ea typeface="黑体" panose="02010609060101010101" pitchFamily="49" charset="-122"/>
              </a:rPr>
              <a:t>,  </a:t>
            </a:r>
            <a:r>
              <a:rPr kumimoji="1" lang="zh-CN" altLang="en-US" sz="2400" b="1" dirty="0">
                <a:latin typeface="黑体" panose="02010609060101010101" pitchFamily="49" charset="-122"/>
                <a:ea typeface="黑体" panose="02010609060101010101" pitchFamily="49" charset="-122"/>
              </a:rPr>
              <a:t>设染色体 </a:t>
            </a:r>
            <a:r>
              <a:rPr kumimoji="1" lang="en-US" altLang="zh-CN" sz="2400" b="1" dirty="0">
                <a:latin typeface="黑体" panose="02010609060101010101" pitchFamily="49" charset="-122"/>
                <a:ea typeface="黑体" panose="02010609060101010101" pitchFamily="49" charset="-122"/>
              </a:rPr>
              <a:t>s1=01001011,  s2=10010101, </a:t>
            </a:r>
            <a:r>
              <a:rPr kumimoji="1" lang="zh-CN" altLang="en-US" sz="2400" b="1" dirty="0">
                <a:latin typeface="黑体" panose="02010609060101010101" pitchFamily="49" charset="-122"/>
                <a:ea typeface="黑体" panose="02010609060101010101" pitchFamily="49" charset="-122"/>
              </a:rPr>
              <a:t>交换其后</a:t>
            </a:r>
            <a:r>
              <a:rPr kumimoji="1" lang="en-US" altLang="zh-CN" sz="2400" b="1" dirty="0">
                <a:latin typeface="黑体" panose="02010609060101010101" pitchFamily="49" charset="-122"/>
                <a:ea typeface="黑体" panose="02010609060101010101" pitchFamily="49" charset="-122"/>
              </a:rPr>
              <a:t>4</a:t>
            </a:r>
            <a:r>
              <a:rPr kumimoji="1" lang="zh-CN" altLang="en-US" sz="2400" b="1" dirty="0">
                <a:latin typeface="黑体" panose="02010609060101010101" pitchFamily="49" charset="-122"/>
                <a:ea typeface="黑体" panose="02010609060101010101" pitchFamily="49" charset="-122"/>
              </a:rPr>
              <a:t>位基因</a:t>
            </a:r>
            <a:r>
              <a:rPr kumimoji="1" lang="en-US" altLang="zh-CN" sz="2400" b="1" dirty="0">
                <a:latin typeface="黑体" panose="02010609060101010101" pitchFamily="49" charset="-122"/>
                <a:ea typeface="黑体" panose="02010609060101010101" pitchFamily="49" charset="-122"/>
              </a:rPr>
              <a:t>, </a:t>
            </a:r>
            <a:r>
              <a:rPr kumimoji="1" lang="zh-CN" altLang="en-US" sz="2400" b="1" dirty="0">
                <a:latin typeface="黑体" panose="02010609060101010101" pitchFamily="49" charset="-122"/>
                <a:ea typeface="黑体" panose="02010609060101010101" pitchFamily="49" charset="-122"/>
              </a:rPr>
              <a:t>即</a:t>
            </a:r>
            <a:endParaRPr lang="zh-CN" altLang="en-US" sz="2400" dirty="0"/>
          </a:p>
        </p:txBody>
      </p:sp>
      <p:sp>
        <p:nvSpPr>
          <p:cNvPr id="8" name="Rectangle 262">
            <a:extLst>
              <a:ext uri="{FF2B5EF4-FFF2-40B4-BE49-F238E27FC236}">
                <a16:creationId xmlns:a16="http://schemas.microsoft.com/office/drawing/2014/main" id="{15C9F073-BAF6-4B98-ADDC-CB177A173FC4}"/>
              </a:ext>
            </a:extLst>
          </p:cNvPr>
          <p:cNvSpPr>
            <a:spLocks noChangeArrowheads="1"/>
          </p:cNvSpPr>
          <p:nvPr/>
        </p:nvSpPr>
        <p:spPr bwMode="auto">
          <a:xfrm>
            <a:off x="967680" y="5140325"/>
            <a:ext cx="8305800" cy="119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spcBef>
                <a:spcPct val="50000"/>
              </a:spcBef>
            </a:pPr>
            <a:r>
              <a:rPr kumimoji="1" lang="en-US" altLang="zh-CN" sz="2800" b="1" dirty="0">
                <a:latin typeface="黑体" panose="02010609060101010101" pitchFamily="49" charset="-122"/>
                <a:ea typeface="黑体" panose="02010609060101010101" pitchFamily="49" charset="-122"/>
              </a:rPr>
              <a:t>s1′=01000101,   s2′=10011011</a:t>
            </a:r>
          </a:p>
          <a:p>
            <a:pPr algn="just">
              <a:lnSpc>
                <a:spcPct val="120000"/>
              </a:lnSpc>
              <a:spcBef>
                <a:spcPct val="20000"/>
              </a:spcBef>
            </a:pPr>
            <a:r>
              <a:rPr kumimoji="1" lang="zh-CN" altLang="en-US" sz="2800" b="1" dirty="0">
                <a:latin typeface="黑体" panose="02010609060101010101" pitchFamily="49" charset="-122"/>
                <a:ea typeface="黑体" panose="02010609060101010101" pitchFamily="49" charset="-122"/>
              </a:rPr>
              <a:t>可以看做是原染色体</a:t>
            </a:r>
            <a:r>
              <a:rPr kumimoji="1" lang="en-US" altLang="zh-CN" sz="2800" b="1" dirty="0">
                <a:latin typeface="黑体" panose="02010609060101010101" pitchFamily="49" charset="-122"/>
                <a:ea typeface="黑体" panose="02010609060101010101" pitchFamily="49" charset="-122"/>
              </a:rPr>
              <a:t>s1</a:t>
            </a:r>
            <a:r>
              <a:rPr kumimoji="1" lang="zh-CN" altLang="en-US" sz="2800" b="1" dirty="0">
                <a:latin typeface="黑体" panose="02010609060101010101" pitchFamily="49" charset="-122"/>
                <a:ea typeface="黑体" panose="02010609060101010101" pitchFamily="49" charset="-122"/>
              </a:rPr>
              <a:t>和</a:t>
            </a:r>
            <a:r>
              <a:rPr kumimoji="1" lang="en-US" altLang="zh-CN" sz="2800" b="1" dirty="0">
                <a:latin typeface="黑体" panose="02010609060101010101" pitchFamily="49" charset="-122"/>
                <a:ea typeface="黑体" panose="02010609060101010101" pitchFamily="49" charset="-122"/>
              </a:rPr>
              <a:t>s2</a:t>
            </a:r>
            <a:r>
              <a:rPr kumimoji="1" lang="zh-CN" altLang="en-US" sz="2800" b="1" dirty="0">
                <a:latin typeface="黑体" panose="02010609060101010101" pitchFamily="49" charset="-122"/>
                <a:ea typeface="黑体" panose="02010609060101010101" pitchFamily="49" charset="-122"/>
              </a:rPr>
              <a:t>的子代染色体。</a:t>
            </a:r>
            <a:r>
              <a:rPr kumimoji="1" lang="zh-CN" altLang="en-US" sz="2800" dirty="0">
                <a:latin typeface="Times New Roman" panose="02020603050405020304" pitchFamily="18" charset="0"/>
              </a:rPr>
              <a:t>　</a:t>
            </a:r>
            <a:r>
              <a:rPr kumimoji="1" lang="zh-CN" altLang="en-US" sz="2400" dirty="0">
                <a:latin typeface="Times New Roman" panose="02020603050405020304" pitchFamily="18" charset="0"/>
              </a:rPr>
              <a:t>　</a:t>
            </a:r>
          </a:p>
        </p:txBody>
      </p:sp>
      <p:sp>
        <p:nvSpPr>
          <p:cNvPr id="10" name="矩形 9">
            <a:extLst>
              <a:ext uri="{FF2B5EF4-FFF2-40B4-BE49-F238E27FC236}">
                <a16:creationId xmlns:a16="http://schemas.microsoft.com/office/drawing/2014/main" id="{925684CC-4E29-49FC-9AEE-B7A57563E343}"/>
              </a:ext>
            </a:extLst>
          </p:cNvPr>
          <p:cNvSpPr/>
          <p:nvPr/>
        </p:nvSpPr>
        <p:spPr>
          <a:xfrm>
            <a:off x="2720752" y="3840660"/>
            <a:ext cx="2088232" cy="461665"/>
          </a:xfrm>
          <a:prstGeom prst="rect">
            <a:avLst/>
          </a:prstGeom>
        </p:spPr>
        <p:txBody>
          <a:bodyPr wrap="square">
            <a:spAutoFit/>
          </a:bodyPr>
          <a:lstStyle/>
          <a:p>
            <a:r>
              <a:rPr kumimoji="1" lang="en-US" altLang="zh-CN" sz="2400" b="1" dirty="0">
                <a:latin typeface="黑体" panose="02010609060101010101" pitchFamily="49" charset="-122"/>
                <a:ea typeface="黑体" panose="02010609060101010101" pitchFamily="49" charset="-122"/>
              </a:rPr>
              <a:t>0100 1011</a:t>
            </a:r>
            <a:endParaRPr lang="zh-CN" altLang="en-US" sz="2400" dirty="0"/>
          </a:p>
        </p:txBody>
      </p:sp>
      <p:sp>
        <p:nvSpPr>
          <p:cNvPr id="11" name="矩形 10">
            <a:extLst>
              <a:ext uri="{FF2B5EF4-FFF2-40B4-BE49-F238E27FC236}">
                <a16:creationId xmlns:a16="http://schemas.microsoft.com/office/drawing/2014/main" id="{F3B51858-31C4-4EF4-AA5F-AF5CC5F45B13}"/>
              </a:ext>
            </a:extLst>
          </p:cNvPr>
          <p:cNvSpPr/>
          <p:nvPr/>
        </p:nvSpPr>
        <p:spPr>
          <a:xfrm>
            <a:off x="2720752" y="4606651"/>
            <a:ext cx="2088232" cy="461665"/>
          </a:xfrm>
          <a:prstGeom prst="rect">
            <a:avLst/>
          </a:prstGeom>
        </p:spPr>
        <p:txBody>
          <a:bodyPr wrap="square">
            <a:spAutoFit/>
          </a:bodyPr>
          <a:lstStyle/>
          <a:p>
            <a:r>
              <a:rPr kumimoji="1" lang="en-US" altLang="zh-CN" sz="2400" b="1" dirty="0">
                <a:latin typeface="黑体" panose="02010609060101010101" pitchFamily="49" charset="-122"/>
                <a:ea typeface="黑体" panose="02010609060101010101" pitchFamily="49" charset="-122"/>
              </a:rPr>
              <a:t>1001 0101</a:t>
            </a:r>
            <a:endParaRPr lang="zh-CN" altLang="en-US" sz="2400" dirty="0"/>
          </a:p>
        </p:txBody>
      </p:sp>
      <p:sp>
        <p:nvSpPr>
          <p:cNvPr id="12" name="矩形 11">
            <a:extLst>
              <a:ext uri="{FF2B5EF4-FFF2-40B4-BE49-F238E27FC236}">
                <a16:creationId xmlns:a16="http://schemas.microsoft.com/office/drawing/2014/main" id="{5F56F7A7-F322-4C19-A44A-C5CA15D82C69}"/>
              </a:ext>
            </a:extLst>
          </p:cNvPr>
          <p:cNvSpPr/>
          <p:nvPr/>
        </p:nvSpPr>
        <p:spPr bwMode="auto">
          <a:xfrm>
            <a:off x="3584848" y="3855843"/>
            <a:ext cx="648072" cy="42853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13" name="矩形 12">
            <a:extLst>
              <a:ext uri="{FF2B5EF4-FFF2-40B4-BE49-F238E27FC236}">
                <a16:creationId xmlns:a16="http://schemas.microsoft.com/office/drawing/2014/main" id="{F9C6EBD4-F95D-4B9C-844C-CEA78732DCE2}"/>
              </a:ext>
            </a:extLst>
          </p:cNvPr>
          <p:cNvSpPr/>
          <p:nvPr/>
        </p:nvSpPr>
        <p:spPr bwMode="auto">
          <a:xfrm>
            <a:off x="3584848" y="4636251"/>
            <a:ext cx="648072" cy="428531"/>
          </a:xfrm>
          <a:prstGeom prst="rect">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cxnSp>
        <p:nvCxnSpPr>
          <p:cNvPr id="15" name="直接箭头连接符 14">
            <a:extLst>
              <a:ext uri="{FF2B5EF4-FFF2-40B4-BE49-F238E27FC236}">
                <a16:creationId xmlns:a16="http://schemas.microsoft.com/office/drawing/2014/main" id="{44CE0BA8-718F-43DF-B7A7-4280C5B0F58B}"/>
              </a:ext>
            </a:extLst>
          </p:cNvPr>
          <p:cNvCxnSpPr>
            <a:cxnSpLocks/>
          </p:cNvCxnSpPr>
          <p:nvPr/>
        </p:nvCxnSpPr>
        <p:spPr bwMode="auto">
          <a:xfrm>
            <a:off x="3908884" y="4284374"/>
            <a:ext cx="0" cy="333926"/>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矩形 15">
            <a:extLst>
              <a:ext uri="{FF2B5EF4-FFF2-40B4-BE49-F238E27FC236}">
                <a16:creationId xmlns:a16="http://schemas.microsoft.com/office/drawing/2014/main" id="{26B0E1F7-DC2C-4FA0-B594-FDEC9E3FDE9E}"/>
              </a:ext>
            </a:extLst>
          </p:cNvPr>
          <p:cNvSpPr/>
          <p:nvPr/>
        </p:nvSpPr>
        <p:spPr>
          <a:xfrm>
            <a:off x="5565068" y="3863869"/>
            <a:ext cx="2088232" cy="461665"/>
          </a:xfrm>
          <a:prstGeom prst="rect">
            <a:avLst/>
          </a:prstGeom>
        </p:spPr>
        <p:txBody>
          <a:bodyPr wrap="square">
            <a:spAutoFit/>
          </a:bodyPr>
          <a:lstStyle/>
          <a:p>
            <a:r>
              <a:rPr kumimoji="1" lang="en-US" altLang="zh-CN" sz="2400" b="1" dirty="0">
                <a:latin typeface="黑体" panose="02010609060101010101" pitchFamily="49" charset="-122"/>
                <a:ea typeface="黑体" panose="02010609060101010101" pitchFamily="49" charset="-122"/>
              </a:rPr>
              <a:t>0100 0101</a:t>
            </a:r>
            <a:endParaRPr lang="zh-CN" altLang="en-US" sz="2400" dirty="0"/>
          </a:p>
        </p:txBody>
      </p:sp>
      <p:sp>
        <p:nvSpPr>
          <p:cNvPr id="17" name="矩形 16">
            <a:extLst>
              <a:ext uri="{FF2B5EF4-FFF2-40B4-BE49-F238E27FC236}">
                <a16:creationId xmlns:a16="http://schemas.microsoft.com/office/drawing/2014/main" id="{2423E896-DC03-4EEC-9E55-8FF5F5975F46}"/>
              </a:ext>
            </a:extLst>
          </p:cNvPr>
          <p:cNvSpPr/>
          <p:nvPr/>
        </p:nvSpPr>
        <p:spPr>
          <a:xfrm>
            <a:off x="5565068" y="4629860"/>
            <a:ext cx="2088232" cy="461665"/>
          </a:xfrm>
          <a:prstGeom prst="rect">
            <a:avLst/>
          </a:prstGeom>
        </p:spPr>
        <p:txBody>
          <a:bodyPr wrap="square">
            <a:spAutoFit/>
          </a:bodyPr>
          <a:lstStyle/>
          <a:p>
            <a:r>
              <a:rPr kumimoji="1" lang="en-US" altLang="zh-CN" sz="2400" b="1" dirty="0">
                <a:latin typeface="黑体" panose="02010609060101010101" pitchFamily="49" charset="-122"/>
                <a:ea typeface="黑体" panose="02010609060101010101" pitchFamily="49" charset="-122"/>
              </a:rPr>
              <a:t>1001 1011</a:t>
            </a:r>
            <a:endParaRPr lang="zh-CN" altLang="en-US" sz="2400" dirty="0"/>
          </a:p>
        </p:txBody>
      </p:sp>
      <p:sp>
        <p:nvSpPr>
          <p:cNvPr id="20" name="箭头: 右 19">
            <a:extLst>
              <a:ext uri="{FF2B5EF4-FFF2-40B4-BE49-F238E27FC236}">
                <a16:creationId xmlns:a16="http://schemas.microsoft.com/office/drawing/2014/main" id="{5851CEFA-08AC-4D7A-B725-5C12F31897A5}"/>
              </a:ext>
            </a:extLst>
          </p:cNvPr>
          <p:cNvSpPr/>
          <p:nvPr/>
        </p:nvSpPr>
        <p:spPr bwMode="auto">
          <a:xfrm>
            <a:off x="4664968" y="4197682"/>
            <a:ext cx="648065" cy="428531"/>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39445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childTnLst>
                                    <p:set>
                                      <p:cBhvr additive="base">
                                        <p:cTn id="6" dur="1" fill="hold">
                                          <p:stCondLst>
                                            <p:cond delay="0"/>
                                          </p:stCondLst>
                                        </p:cTn>
                                        <p:tgtEl>
                                          <p:spTgt spid="8"/>
                                        </p:tgtEl>
                                        <p:attrNameLst>
                                          <p:attrName>style.visibility</p:attrName>
                                        </p:attrNameLst>
                                      </p:cBhvr>
                                      <p:to>
                                        <p:strVal val="visible"/>
                                      </p:to>
                                    </p:set>
                                    <p:animEffect transition="in" filter="blinds(horizontal)">
                                      <p:cBhvr additive="base">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遗传操作</a:t>
            </a:r>
            <a:endParaRPr lang="en-US" altLang="zh-CN" dirty="0"/>
          </a:p>
          <a:p>
            <a:pPr lvl="1"/>
            <a:r>
              <a:rPr lang="zh-CN" altLang="en-US" dirty="0">
                <a:solidFill>
                  <a:srgbClr val="FF0000"/>
                </a:solidFill>
              </a:rPr>
              <a:t>变异（</a:t>
            </a:r>
            <a:r>
              <a:rPr lang="en-US" altLang="zh-CN" dirty="0">
                <a:solidFill>
                  <a:srgbClr val="FF0000"/>
                </a:solidFill>
              </a:rPr>
              <a:t>mutation</a:t>
            </a:r>
            <a:r>
              <a:rPr lang="zh-CN" altLang="en-US" dirty="0">
                <a:solidFill>
                  <a:srgbClr val="FF0000"/>
                </a:solidFill>
              </a:rPr>
              <a:t>）</a:t>
            </a:r>
            <a:endParaRPr lang="en-US" altLang="zh-CN" dirty="0">
              <a:solidFill>
                <a:srgbClr val="FF0000"/>
              </a:solidFill>
            </a:endParaRPr>
          </a:p>
          <a:p>
            <a:pPr lvl="2"/>
            <a:r>
              <a:rPr lang="zh-CN" altLang="en-US" dirty="0"/>
              <a:t>就是改变染色体某个</a:t>
            </a:r>
            <a:r>
              <a:rPr lang="en-US" altLang="zh-CN" dirty="0"/>
              <a:t>(</a:t>
            </a:r>
            <a:r>
              <a:rPr lang="zh-CN" altLang="en-US" dirty="0"/>
              <a:t>些</a:t>
            </a:r>
            <a:r>
              <a:rPr lang="en-US" altLang="zh-CN" dirty="0"/>
              <a:t>)</a:t>
            </a:r>
            <a:r>
              <a:rPr lang="zh-CN" altLang="en-US" dirty="0"/>
              <a:t>位上的基因。</a:t>
            </a:r>
            <a:endParaRPr lang="en-US" altLang="zh-CN" dirty="0"/>
          </a:p>
          <a:p>
            <a:pPr marL="914400" lvl="2" indent="0">
              <a:buNone/>
            </a:pPr>
            <a:endParaRPr lang="en-US" altLang="zh-CN" sz="2400" dirty="0"/>
          </a:p>
          <a:p>
            <a:pPr marL="914400" lvl="2" indent="0">
              <a:buNone/>
            </a:pPr>
            <a:r>
              <a:rPr lang="zh-CN" altLang="en-US" sz="2400" dirty="0"/>
              <a:t>例如</a:t>
            </a:r>
            <a:r>
              <a:rPr lang="en-US" altLang="zh-CN" sz="2400" dirty="0"/>
              <a:t>,   </a:t>
            </a:r>
            <a:r>
              <a:rPr lang="zh-CN" altLang="en-US" sz="2400" dirty="0"/>
              <a:t>设染色体 </a:t>
            </a:r>
            <a:r>
              <a:rPr lang="en-US" altLang="zh-CN" sz="2400" dirty="0"/>
              <a:t>s=11001101</a:t>
            </a:r>
            <a:r>
              <a:rPr lang="zh-CN" altLang="en-US" sz="2400" dirty="0"/>
              <a:t>，将其第三位上的</a:t>
            </a:r>
            <a:r>
              <a:rPr lang="en-US" altLang="zh-CN" sz="2400" dirty="0"/>
              <a:t>0</a:t>
            </a:r>
            <a:r>
              <a:rPr lang="zh-CN" altLang="en-US" sz="2400" dirty="0"/>
              <a:t>变为</a:t>
            </a:r>
            <a:r>
              <a:rPr lang="en-US" altLang="zh-CN" sz="2400" dirty="0"/>
              <a:t>1, </a:t>
            </a:r>
            <a:r>
              <a:rPr lang="zh-CN" altLang="en-US" sz="2400" dirty="0"/>
              <a:t>即</a:t>
            </a:r>
          </a:p>
          <a:p>
            <a:pPr marL="457200" lvl="1" indent="0">
              <a:buNone/>
            </a:pPr>
            <a:r>
              <a:rPr lang="en-US" altLang="zh-CN" dirty="0"/>
              <a:t>	</a:t>
            </a:r>
            <a:r>
              <a:rPr lang="en-US" altLang="zh-CN" sz="2400" dirty="0"/>
              <a:t>s=11001101 →11101101= s′</a:t>
            </a:r>
            <a:r>
              <a:rPr lang="zh-CN" altLang="en-US" sz="2400" dirty="0"/>
              <a:t>。</a:t>
            </a:r>
          </a:p>
          <a:p>
            <a:pPr marL="457200" lvl="1" indent="0">
              <a:buNone/>
            </a:pPr>
            <a:r>
              <a:rPr lang="en-US" altLang="zh-CN" sz="2400" dirty="0"/>
              <a:t>	s′</a:t>
            </a:r>
            <a:r>
              <a:rPr lang="zh-CN" altLang="en-US" sz="2400" dirty="0"/>
              <a:t>也可以看做是原染色体</a:t>
            </a:r>
            <a:r>
              <a:rPr lang="en-US" altLang="zh-CN" sz="2400" dirty="0"/>
              <a:t>s</a:t>
            </a:r>
            <a:r>
              <a:rPr lang="zh-CN" altLang="en-US" sz="2400" dirty="0"/>
              <a:t>的子代染色体。</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13</a:t>
            </a:fld>
            <a:endParaRPr lang="en-US" altLang="zh-CN" dirty="0"/>
          </a:p>
        </p:txBody>
      </p:sp>
    </p:spTree>
    <p:extLst>
      <p:ext uri="{BB962C8B-B14F-4D97-AF65-F5344CB8AC3E}">
        <p14:creationId xmlns:p14="http://schemas.microsoft.com/office/powerpoint/2010/main" val="644357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kumimoji="1" lang="zh-CN" altLang="en-US" dirty="0">
                <a:latin typeface="Times New Roman" panose="02020603050405020304" pitchFamily="18" charset="0"/>
                <a:ea typeface="黑体" panose="02010609060101010101" pitchFamily="49" charset="-122"/>
              </a:rPr>
              <a:t>例</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a:t>
            </a:r>
            <a:r>
              <a:rPr kumimoji="1" lang="en-US" altLang="zh-CN" dirty="0">
                <a:latin typeface="Times New Roman" panose="02020603050405020304" pitchFamily="18" charset="0"/>
                <a:ea typeface="黑体" panose="02010609060101010101" pitchFamily="49" charset="-122"/>
              </a:rPr>
              <a:t>P157</a:t>
            </a:r>
            <a:r>
              <a:rPr kumimoji="1" lang="zh-CN" altLang="en-US" dirty="0">
                <a:latin typeface="Times New Roman" panose="02020603050405020304" pitchFamily="18" charset="0"/>
                <a:ea typeface="黑体" panose="02010609060101010101" pitchFamily="49" charset="-122"/>
              </a:rPr>
              <a:t>）利用遗传算法求解区间［</a:t>
            </a:r>
            <a:r>
              <a:rPr kumimoji="1" lang="en-US" altLang="zh-CN" dirty="0">
                <a:latin typeface="Times New Roman" panose="02020603050405020304" pitchFamily="18" charset="0"/>
                <a:ea typeface="黑体" panose="02010609060101010101" pitchFamily="49" charset="-122"/>
              </a:rPr>
              <a:t>0,31</a:t>
            </a:r>
            <a:r>
              <a:rPr kumimoji="1" lang="zh-CN" altLang="en-US" dirty="0">
                <a:latin typeface="Times New Roman" panose="02020603050405020304" pitchFamily="18" charset="0"/>
                <a:ea typeface="黑体" panose="02010609060101010101" pitchFamily="49" charset="-122"/>
              </a:rPr>
              <a:t>］上的二次函数</a:t>
            </a:r>
            <a:r>
              <a:rPr kumimoji="1" lang="en-US" altLang="zh-CN" dirty="0">
                <a:latin typeface="Times New Roman" panose="02020603050405020304" pitchFamily="18" charset="0"/>
                <a:ea typeface="黑体" panose="02010609060101010101" pitchFamily="49" charset="-122"/>
              </a:rPr>
              <a:t>y=x</a:t>
            </a:r>
            <a:r>
              <a:rPr kumimoji="1" lang="en-US" altLang="zh-CN" baseline="30000" dirty="0">
                <a:latin typeface="Times New Roman" panose="02020603050405020304" pitchFamily="18" charset="0"/>
                <a:ea typeface="黑体" panose="02010609060101010101" pitchFamily="49" charset="-122"/>
              </a:rPr>
              <a:t>2</a:t>
            </a:r>
            <a:r>
              <a:rPr kumimoji="1" lang="zh-CN" altLang="en-US" dirty="0">
                <a:latin typeface="Times New Roman" panose="02020603050405020304" pitchFamily="18" charset="0"/>
                <a:ea typeface="黑体" panose="02010609060101010101" pitchFamily="49" charset="-122"/>
              </a:rPr>
              <a:t>的最大值。</a:t>
            </a:r>
            <a:r>
              <a:rPr kumimoji="1" lang="zh-CN" altLang="en-US" dirty="0">
                <a:latin typeface="Times New Roman" panose="02020603050405020304" pitchFamily="18" charset="0"/>
              </a:rPr>
              <a:t>　</a:t>
            </a:r>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14</a:t>
            </a:fld>
            <a:endParaRPr lang="en-US" altLang="zh-CN" dirty="0"/>
          </a:p>
        </p:txBody>
      </p:sp>
      <p:graphicFrame>
        <p:nvGraphicFramePr>
          <p:cNvPr id="6" name="对象 5">
            <a:extLst>
              <a:ext uri="{FF2B5EF4-FFF2-40B4-BE49-F238E27FC236}">
                <a16:creationId xmlns:a16="http://schemas.microsoft.com/office/drawing/2014/main" id="{FEB94347-B12A-4012-AB6A-88573BBECAAB}"/>
              </a:ext>
            </a:extLst>
          </p:cNvPr>
          <p:cNvGraphicFramePr>
            <a:graphicFrameLocks noChangeAspect="1"/>
          </p:cNvGraphicFramePr>
          <p:nvPr>
            <p:extLst>
              <p:ext uri="{D42A27DB-BD31-4B8C-83A1-F6EECF244321}">
                <p14:modId xmlns:p14="http://schemas.microsoft.com/office/powerpoint/2010/main" val="4283665644"/>
              </p:ext>
            </p:extLst>
          </p:nvPr>
        </p:nvGraphicFramePr>
        <p:xfrm>
          <a:off x="2789238" y="2565400"/>
          <a:ext cx="3722687" cy="1458913"/>
        </p:xfrm>
        <a:graphic>
          <a:graphicData uri="http://schemas.openxmlformats.org/presentationml/2006/ole">
            <mc:AlternateContent xmlns:mc="http://schemas.openxmlformats.org/markup-compatibility/2006">
              <mc:Choice xmlns:v="urn:schemas-microsoft-com:vml" Requires="v">
                <p:oleObj name="Equation" r:id="rId2" imgW="1295280" imgH="507960" progId="Equation.DSMT4">
                  <p:embed/>
                </p:oleObj>
              </mc:Choice>
              <mc:Fallback>
                <p:oleObj name="Equation" r:id="rId2" imgW="1295280" imgH="507960" progId="Equation.DSMT4">
                  <p:embed/>
                  <p:pic>
                    <p:nvPicPr>
                      <p:cNvPr id="0" name=""/>
                      <p:cNvPicPr/>
                      <p:nvPr/>
                    </p:nvPicPr>
                    <p:blipFill>
                      <a:blip r:embed="rId3"/>
                      <a:stretch>
                        <a:fillRect/>
                      </a:stretch>
                    </p:blipFill>
                    <p:spPr>
                      <a:xfrm>
                        <a:off x="2789238" y="2565400"/>
                        <a:ext cx="3722687" cy="1458913"/>
                      </a:xfrm>
                      <a:prstGeom prst="rect">
                        <a:avLst/>
                      </a:prstGeom>
                    </p:spPr>
                  </p:pic>
                </p:oleObj>
              </mc:Fallback>
            </mc:AlternateContent>
          </a:graphicData>
        </a:graphic>
      </p:graphicFrame>
      <p:grpSp>
        <p:nvGrpSpPr>
          <p:cNvPr id="7" name="Group 320">
            <a:extLst>
              <a:ext uri="{FF2B5EF4-FFF2-40B4-BE49-F238E27FC236}">
                <a16:creationId xmlns:a16="http://schemas.microsoft.com/office/drawing/2014/main" id="{465E5B1A-B929-44E5-BFFF-1B99BC2AA949}"/>
              </a:ext>
            </a:extLst>
          </p:cNvPr>
          <p:cNvGrpSpPr>
            <a:grpSpLocks/>
          </p:cNvGrpSpPr>
          <p:nvPr/>
        </p:nvGrpSpPr>
        <p:grpSpPr bwMode="auto">
          <a:xfrm>
            <a:off x="5385048" y="3995888"/>
            <a:ext cx="3959225" cy="2549525"/>
            <a:chOff x="2381" y="1661"/>
            <a:chExt cx="2494" cy="1606"/>
          </a:xfrm>
        </p:grpSpPr>
        <p:sp>
          <p:nvSpPr>
            <p:cNvPr id="8" name="Rectangle 321">
              <a:extLst>
                <a:ext uri="{FF2B5EF4-FFF2-40B4-BE49-F238E27FC236}">
                  <a16:creationId xmlns:a16="http://schemas.microsoft.com/office/drawing/2014/main" id="{AF6C4A2B-4627-40A6-A713-CAF26CD66875}"/>
                </a:ext>
              </a:extLst>
            </p:cNvPr>
            <p:cNvSpPr>
              <a:spLocks noChangeArrowheads="1"/>
            </p:cNvSpPr>
            <p:nvPr/>
          </p:nvSpPr>
          <p:spPr bwMode="auto">
            <a:xfrm>
              <a:off x="3606" y="2024"/>
              <a:ext cx="4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i="1" dirty="0">
                  <a:latin typeface="Times New Roman" panose="02020603050405020304" pitchFamily="18" charset="0"/>
                </a:rPr>
                <a:t>y</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x</a:t>
              </a:r>
              <a:r>
                <a:rPr kumimoji="1" lang="en-US" altLang="zh-CN" sz="2400" baseline="30000" dirty="0">
                  <a:latin typeface="Times New Roman" panose="02020603050405020304" pitchFamily="18" charset="0"/>
                </a:rPr>
                <a:t>2</a:t>
              </a:r>
            </a:p>
          </p:txBody>
        </p:sp>
        <p:sp>
          <p:nvSpPr>
            <p:cNvPr id="9" name="Line 322">
              <a:extLst>
                <a:ext uri="{FF2B5EF4-FFF2-40B4-BE49-F238E27FC236}">
                  <a16:creationId xmlns:a16="http://schemas.microsoft.com/office/drawing/2014/main" id="{EDC37C81-BB07-4645-881E-D84A544A7D22}"/>
                </a:ext>
              </a:extLst>
            </p:cNvPr>
            <p:cNvSpPr>
              <a:spLocks noChangeShapeType="1"/>
            </p:cNvSpPr>
            <p:nvPr/>
          </p:nvSpPr>
          <p:spPr bwMode="auto">
            <a:xfrm flipV="1">
              <a:off x="2381" y="2988"/>
              <a:ext cx="2267" cy="0"/>
            </a:xfrm>
            <a:prstGeom prst="line">
              <a:avLst/>
            </a:prstGeom>
            <a:noFill/>
            <a:ln w="9525" cap="flat" algn="ctr">
              <a:solidFill>
                <a:srgbClr val="000000"/>
              </a:solidFill>
              <a:prstDash val="solid"/>
              <a:round/>
              <a:headEnd type="none" w="med" len="me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 name="Rectangle 323">
              <a:extLst>
                <a:ext uri="{FF2B5EF4-FFF2-40B4-BE49-F238E27FC236}">
                  <a16:creationId xmlns:a16="http://schemas.microsoft.com/office/drawing/2014/main" id="{0794D887-387A-4653-9B0F-BD2F69714056}"/>
                </a:ext>
              </a:extLst>
            </p:cNvPr>
            <p:cNvSpPr>
              <a:spLocks noChangeArrowheads="1"/>
            </p:cNvSpPr>
            <p:nvPr/>
          </p:nvSpPr>
          <p:spPr bwMode="auto">
            <a:xfrm>
              <a:off x="3967" y="2998"/>
              <a:ext cx="9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latin typeface="Arial" panose="020B0604020202020204" pitchFamily="34" charset="0"/>
                </a:rPr>
                <a:t>  </a:t>
              </a:r>
              <a:r>
                <a:rPr lang="en-US" altLang="zh-CN" sz="2000">
                  <a:latin typeface="Times New Roman" panose="02020603050405020304" pitchFamily="18" charset="0"/>
                </a:rPr>
                <a:t>31</a:t>
              </a:r>
              <a:r>
                <a:rPr lang="en-US" altLang="zh-CN">
                  <a:latin typeface="Arial" panose="020B0604020202020204" pitchFamily="34" charset="0"/>
                </a:rPr>
                <a:t>       </a:t>
              </a:r>
              <a:r>
                <a:rPr lang="en-US" altLang="zh-CN" i="1">
                  <a:latin typeface="Times New Roman" panose="02020603050405020304" pitchFamily="18" charset="0"/>
                </a:rPr>
                <a:t> </a:t>
              </a:r>
              <a:r>
                <a:rPr lang="en-US" altLang="zh-CN" sz="2000" i="1">
                  <a:latin typeface="Times New Roman" panose="02020603050405020304" pitchFamily="18" charset="0"/>
                </a:rPr>
                <a:t>X</a:t>
              </a:r>
            </a:p>
          </p:txBody>
        </p:sp>
        <p:sp>
          <p:nvSpPr>
            <p:cNvPr id="11" name="Rectangle 324">
              <a:extLst>
                <a:ext uri="{FF2B5EF4-FFF2-40B4-BE49-F238E27FC236}">
                  <a16:creationId xmlns:a16="http://schemas.microsoft.com/office/drawing/2014/main" id="{96AB05E7-F994-40AF-A7FD-D0E6627EC728}"/>
                </a:ext>
              </a:extLst>
            </p:cNvPr>
            <p:cNvSpPr>
              <a:spLocks noChangeArrowheads="1"/>
            </p:cNvSpPr>
            <p:nvPr/>
          </p:nvSpPr>
          <p:spPr bwMode="auto">
            <a:xfrm>
              <a:off x="2426" y="1665"/>
              <a:ext cx="1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i="1">
                  <a:latin typeface="Times New Roman" panose="02020603050405020304" pitchFamily="18" charset="0"/>
                </a:rPr>
                <a:t>Y</a:t>
              </a:r>
            </a:p>
          </p:txBody>
        </p:sp>
        <p:sp>
          <p:nvSpPr>
            <p:cNvPr id="12" name="Line 325">
              <a:extLst>
                <a:ext uri="{FF2B5EF4-FFF2-40B4-BE49-F238E27FC236}">
                  <a16:creationId xmlns:a16="http://schemas.microsoft.com/office/drawing/2014/main" id="{5ECD6F18-6291-43D8-AD13-07270F9ABFA2}"/>
                </a:ext>
              </a:extLst>
            </p:cNvPr>
            <p:cNvSpPr>
              <a:spLocks noChangeShapeType="1"/>
            </p:cNvSpPr>
            <p:nvPr/>
          </p:nvSpPr>
          <p:spPr bwMode="auto">
            <a:xfrm flipV="1">
              <a:off x="2653" y="1680"/>
              <a:ext cx="0" cy="1587"/>
            </a:xfrm>
            <a:prstGeom prst="line">
              <a:avLst/>
            </a:prstGeom>
            <a:noFill/>
            <a:ln w="9525" cap="flat" algn="ctr">
              <a:solidFill>
                <a:srgbClr val="000000"/>
              </a:solidFill>
              <a:prstDash val="solid"/>
              <a:round/>
              <a:headEnd type="none" w="med" len="me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 name="Freeform 326">
              <a:extLst>
                <a:ext uri="{FF2B5EF4-FFF2-40B4-BE49-F238E27FC236}">
                  <a16:creationId xmlns:a16="http://schemas.microsoft.com/office/drawing/2014/main" id="{0056C54E-3747-4805-AAC2-1C7EBCBE95DE}"/>
                </a:ext>
              </a:extLst>
            </p:cNvPr>
            <p:cNvSpPr>
              <a:spLocks/>
            </p:cNvSpPr>
            <p:nvPr/>
          </p:nvSpPr>
          <p:spPr bwMode="auto">
            <a:xfrm flipV="1">
              <a:off x="2653" y="1661"/>
              <a:ext cx="1542" cy="1315"/>
            </a:xfrm>
            <a:custGeom>
              <a:avLst/>
              <a:gdLst>
                <a:gd name="T0" fmla="*/ 0 w 20978"/>
                <a:gd name="T1" fmla="*/ 0 h 21600"/>
                <a:gd name="T2" fmla="*/ -1 w 20978"/>
                <a:gd name="T3" fmla="*/ 0 h 21600"/>
                <a:gd name="T4" fmla="*/ 20958 w 20978"/>
                <a:gd name="T5" fmla="*/ 16373 h 21600"/>
                <a:gd name="T6" fmla="*/ 0 w 20978"/>
                <a:gd name="T7" fmla="*/ 0 h 21600"/>
                <a:gd name="T8" fmla="*/ -1 w 20978"/>
                <a:gd name="T9" fmla="*/ 0 h 21600"/>
                <a:gd name="T10" fmla="*/ 20958 w 20978"/>
                <a:gd name="T11" fmla="*/ 16373 h 21600"/>
                <a:gd name="T12" fmla="*/ 0 w 20978"/>
                <a:gd name="T13" fmla="*/ 21600 h 21600"/>
              </a:gdLst>
              <a:ahLst/>
              <a:cxnLst>
                <a:cxn ang="0">
                  <a:pos x="T0" y="T1"/>
                </a:cxn>
                <a:cxn ang="0">
                  <a:pos x="T2" y="T3"/>
                </a:cxn>
                <a:cxn ang="0">
                  <a:pos x="T4" y="T5"/>
                </a:cxn>
                <a:cxn ang="0">
                  <a:pos x="T6" y="T7"/>
                </a:cxn>
                <a:cxn ang="0">
                  <a:pos x="T8" y="T9"/>
                </a:cxn>
                <a:cxn ang="0">
                  <a:pos x="T10" y="T11"/>
                </a:cxn>
                <a:cxn ang="0">
                  <a:pos x="T12" y="T13"/>
                </a:cxn>
              </a:cxnLst>
              <a:rect l="0" t="0" r="r" b="b"/>
              <a:pathLst>
                <a:path w="20978" h="21600" fill="none">
                  <a:moveTo>
                    <a:pt x="0" y="0"/>
                  </a:moveTo>
                  <a:lnTo>
                    <a:pt x="-1" y="0"/>
                  </a:lnTo>
                  <a:cubicBezTo>
                    <a:pt x="9916" y="0"/>
                    <a:pt x="18558" y="6752"/>
                    <a:pt x="20958" y="16373"/>
                  </a:cubicBezTo>
                </a:path>
                <a:path w="20978" h="21600" stroke="0">
                  <a:moveTo>
                    <a:pt x="0" y="0"/>
                  </a:moveTo>
                  <a:lnTo>
                    <a:pt x="-1" y="0"/>
                  </a:lnTo>
                  <a:cubicBezTo>
                    <a:pt x="9916" y="0"/>
                    <a:pt x="18558" y="6752"/>
                    <a:pt x="20958" y="16373"/>
                  </a:cubicBezTo>
                  <a:lnTo>
                    <a:pt x="0" y="21600"/>
                  </a:lnTo>
                  <a:close/>
                </a:path>
              </a:pathLst>
            </a:custGeom>
            <a:noFill/>
            <a:ln w="28575" cap="flat" algn="ctr">
              <a:solidFill>
                <a:srgbClr val="000000"/>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lstStyle/>
            <a:p>
              <a:endParaRPr lang="zh-CN" altLang="en-US"/>
            </a:p>
          </p:txBody>
        </p:sp>
        <p:sp>
          <p:nvSpPr>
            <p:cNvPr id="14" name="Line 327">
              <a:extLst>
                <a:ext uri="{FF2B5EF4-FFF2-40B4-BE49-F238E27FC236}">
                  <a16:creationId xmlns:a16="http://schemas.microsoft.com/office/drawing/2014/main" id="{04A6C68E-3DB8-4ED4-9310-8DBD42AA8374}"/>
                </a:ext>
              </a:extLst>
            </p:cNvPr>
            <p:cNvSpPr>
              <a:spLocks noChangeShapeType="1"/>
            </p:cNvSpPr>
            <p:nvPr/>
          </p:nvSpPr>
          <p:spPr bwMode="auto">
            <a:xfrm>
              <a:off x="4195" y="1979"/>
              <a:ext cx="0" cy="997"/>
            </a:xfrm>
            <a:prstGeom prst="line">
              <a:avLst/>
            </a:prstGeom>
            <a:noFill/>
            <a:ln w="9525" cap="flat" algn="ctr">
              <a:solidFill>
                <a:srgbClr val="000000"/>
              </a:solidFill>
              <a:prstDash val="dash"/>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172534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childTnLst>
                                    <p:set>
                                      <p:cBhvr additive="base">
                                        <p:cTn id="6" dur="1" fill="hold">
                                          <p:stCondLst>
                                            <p:cond delay="0"/>
                                          </p:stCondLst>
                                        </p:cTn>
                                        <p:tgtEl>
                                          <p:spTgt spid="7"/>
                                        </p:tgtEl>
                                        <p:attrNameLst>
                                          <p:attrName>style.visibility</p:attrName>
                                        </p:attrNameLst>
                                      </p:cBhvr>
                                      <p:to>
                                        <p:strVal val="visible"/>
                                      </p:to>
                                    </p:set>
                                    <p:animEffect transition="in" filter="blinds(horizontal)">
                                      <p:cBhvr additive="base">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分析：</a:t>
            </a:r>
            <a:endParaRPr lang="en-US" altLang="zh-CN" dirty="0"/>
          </a:p>
          <a:p>
            <a:pPr lvl="1"/>
            <a:r>
              <a:rPr kumimoji="1" lang="zh-CN" altLang="en-US" dirty="0">
                <a:latin typeface="Times New Roman" panose="02020603050405020304" pitchFamily="18" charset="0"/>
                <a:ea typeface="黑体" panose="02010609060101010101" pitchFamily="49" charset="-122"/>
              </a:rPr>
              <a:t>原问题可转化为在区间［</a:t>
            </a:r>
            <a:r>
              <a:rPr kumimoji="1" lang="en-US" altLang="zh-CN" dirty="0">
                <a:latin typeface="Times New Roman" panose="02020603050405020304" pitchFamily="18" charset="0"/>
                <a:ea typeface="黑体" panose="02010609060101010101" pitchFamily="49" charset="-122"/>
              </a:rPr>
              <a:t>0, 31</a:t>
            </a:r>
            <a:r>
              <a:rPr kumimoji="1" lang="zh-CN" altLang="en-US" dirty="0">
                <a:latin typeface="Times New Roman" panose="02020603050405020304" pitchFamily="18" charset="0"/>
                <a:ea typeface="黑体" panose="02010609060101010101" pitchFamily="49" charset="-122"/>
              </a:rPr>
              <a:t>］中搜索能使</a:t>
            </a:r>
            <a:r>
              <a:rPr kumimoji="1" lang="en-US" altLang="zh-CN" dirty="0">
                <a:latin typeface="Times New Roman" panose="02020603050405020304" pitchFamily="18" charset="0"/>
                <a:ea typeface="黑体" panose="02010609060101010101" pitchFamily="49" charset="-122"/>
              </a:rPr>
              <a:t>y</a:t>
            </a:r>
            <a:r>
              <a:rPr kumimoji="1" lang="zh-CN" altLang="en-US" dirty="0">
                <a:latin typeface="Times New Roman" panose="02020603050405020304" pitchFamily="18" charset="0"/>
                <a:ea typeface="黑体" panose="02010609060101010101" pitchFamily="49" charset="-122"/>
              </a:rPr>
              <a:t>取最大值的点</a:t>
            </a:r>
            <a:r>
              <a:rPr kumimoji="1" lang="en-US" altLang="zh-CN" dirty="0">
                <a:latin typeface="Times New Roman" panose="02020603050405020304" pitchFamily="18" charset="0"/>
                <a:ea typeface="黑体" panose="02010609060101010101" pitchFamily="49" charset="-122"/>
              </a:rPr>
              <a:t>a</a:t>
            </a:r>
            <a:r>
              <a:rPr kumimoji="1" lang="zh-CN" altLang="en-US" dirty="0">
                <a:latin typeface="Times New Roman" panose="02020603050405020304" pitchFamily="18" charset="0"/>
                <a:ea typeface="黑体" panose="02010609060101010101" pitchFamily="49" charset="-122"/>
              </a:rPr>
              <a:t>的问题。那么，［</a:t>
            </a:r>
            <a:r>
              <a:rPr kumimoji="1" lang="en-US" altLang="zh-CN" dirty="0">
                <a:latin typeface="Times New Roman" panose="02020603050405020304" pitchFamily="18" charset="0"/>
                <a:ea typeface="黑体" panose="02010609060101010101" pitchFamily="49" charset="-122"/>
              </a:rPr>
              <a:t>0, 31</a:t>
            </a:r>
            <a:r>
              <a:rPr kumimoji="1" lang="zh-CN" altLang="en-US" dirty="0">
                <a:latin typeface="Times New Roman" panose="02020603050405020304" pitchFamily="18" charset="0"/>
                <a:ea typeface="黑体" panose="02010609060101010101" pitchFamily="49" charset="-122"/>
              </a:rPr>
              <a:t>］ 中的点</a:t>
            </a:r>
            <a:r>
              <a:rPr kumimoji="1" lang="en-US" altLang="zh-CN" dirty="0">
                <a:latin typeface="Times New Roman" panose="02020603050405020304" pitchFamily="18" charset="0"/>
                <a:ea typeface="黑体" panose="02010609060101010101" pitchFamily="49" charset="-122"/>
              </a:rPr>
              <a:t>x</a:t>
            </a:r>
            <a:r>
              <a:rPr kumimoji="1" lang="zh-CN" altLang="en-US" dirty="0">
                <a:latin typeface="Times New Roman" panose="02020603050405020304" pitchFamily="18" charset="0"/>
                <a:ea typeface="黑体" panose="02010609060101010101" pitchFamily="49" charset="-122"/>
              </a:rPr>
              <a:t>就是个体</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函数值</a:t>
            </a:r>
            <a:r>
              <a:rPr kumimoji="1" lang="en-US" altLang="zh-CN" dirty="0">
                <a:latin typeface="Times New Roman" panose="02020603050405020304" pitchFamily="18" charset="0"/>
                <a:ea typeface="黑体" panose="02010609060101010101" pitchFamily="49" charset="-122"/>
              </a:rPr>
              <a:t>f(x)</a:t>
            </a:r>
            <a:r>
              <a:rPr kumimoji="1" lang="zh-CN" altLang="en-US" dirty="0">
                <a:latin typeface="Times New Roman" panose="02020603050405020304" pitchFamily="18" charset="0"/>
                <a:ea typeface="黑体" panose="02010609060101010101" pitchFamily="49" charset="-122"/>
              </a:rPr>
              <a:t>恰好就可以作为</a:t>
            </a:r>
            <a:r>
              <a:rPr kumimoji="1" lang="en-US" altLang="zh-CN" dirty="0">
                <a:latin typeface="Times New Roman" panose="02020603050405020304" pitchFamily="18" charset="0"/>
                <a:ea typeface="黑体" panose="02010609060101010101" pitchFamily="49" charset="-122"/>
              </a:rPr>
              <a:t>x</a:t>
            </a:r>
            <a:r>
              <a:rPr kumimoji="1" lang="zh-CN" altLang="en-US" dirty="0">
                <a:latin typeface="Times New Roman" panose="02020603050405020304" pitchFamily="18" charset="0"/>
                <a:ea typeface="黑体" panose="02010609060101010101" pitchFamily="49" charset="-122"/>
              </a:rPr>
              <a:t>的适应度，区间［</a:t>
            </a:r>
            <a:r>
              <a:rPr kumimoji="1" lang="en-US" altLang="zh-CN" dirty="0">
                <a:latin typeface="Times New Roman" panose="02020603050405020304" pitchFamily="18" charset="0"/>
                <a:ea typeface="黑体" panose="02010609060101010101" pitchFamily="49" charset="-122"/>
              </a:rPr>
              <a:t>0, 31</a:t>
            </a:r>
            <a:r>
              <a:rPr kumimoji="1" lang="zh-CN" altLang="en-US" dirty="0">
                <a:latin typeface="Times New Roman" panose="02020603050405020304" pitchFamily="18" charset="0"/>
                <a:ea typeface="黑体" panose="02010609060101010101" pitchFamily="49" charset="-122"/>
              </a:rPr>
              <a:t>］就是一个</a:t>
            </a:r>
            <a:r>
              <a:rPr kumimoji="1" lang="en-US" altLang="zh-CN" dirty="0">
                <a:latin typeface="Times New Roman" panose="02020603050405020304" pitchFamily="18" charset="0"/>
                <a:ea typeface="黑体" panose="02010609060101010101" pitchFamily="49" charset="-122"/>
              </a:rPr>
              <a:t>(</a:t>
            </a:r>
            <a:r>
              <a:rPr kumimoji="1" lang="zh-CN" altLang="en-US" dirty="0">
                <a:latin typeface="Times New Roman" panose="02020603050405020304" pitchFamily="18" charset="0"/>
                <a:ea typeface="黑体" panose="02010609060101010101" pitchFamily="49" charset="-122"/>
              </a:rPr>
              <a:t>解</a:t>
            </a:r>
            <a:r>
              <a:rPr kumimoji="1" lang="en-US" altLang="zh-CN" dirty="0">
                <a:latin typeface="Times New Roman" panose="02020603050405020304" pitchFamily="18" charset="0"/>
                <a:ea typeface="黑体" panose="02010609060101010101" pitchFamily="49" charset="-122"/>
              </a:rPr>
              <a:t>)</a:t>
            </a:r>
            <a:r>
              <a:rPr kumimoji="1" lang="zh-CN" altLang="en-US" dirty="0">
                <a:latin typeface="Times New Roman" panose="02020603050405020304" pitchFamily="18" charset="0"/>
                <a:ea typeface="黑体" panose="02010609060101010101" pitchFamily="49" charset="-122"/>
              </a:rPr>
              <a:t>空间 。这样</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只要能给出个体</a:t>
            </a:r>
            <a:r>
              <a:rPr kumimoji="1" lang="en-US" altLang="zh-CN" dirty="0">
                <a:latin typeface="Times New Roman" panose="02020603050405020304" pitchFamily="18" charset="0"/>
                <a:ea typeface="黑体" panose="02010609060101010101" pitchFamily="49" charset="-122"/>
              </a:rPr>
              <a:t>x</a:t>
            </a:r>
            <a:r>
              <a:rPr kumimoji="1" lang="zh-CN" altLang="en-US" dirty="0">
                <a:latin typeface="Times New Roman" panose="02020603050405020304" pitchFamily="18" charset="0"/>
                <a:ea typeface="黑体" panose="02010609060101010101" pitchFamily="49" charset="-122"/>
              </a:rPr>
              <a:t>的适当染色体编码</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该问题就可以用遗传算法来解决。</a:t>
            </a:r>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15</a:t>
            </a:fld>
            <a:endParaRPr lang="en-US" altLang="zh-CN" dirty="0"/>
          </a:p>
        </p:txBody>
      </p:sp>
    </p:spTree>
    <p:extLst>
      <p:ext uri="{BB962C8B-B14F-4D97-AF65-F5344CB8AC3E}">
        <p14:creationId xmlns:p14="http://schemas.microsoft.com/office/powerpoint/2010/main" val="675045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16</a:t>
            </a:fld>
            <a:endParaRPr lang="en-US" altLang="zh-CN" dirty="0"/>
          </a:p>
        </p:txBody>
      </p:sp>
      <p:sp>
        <p:nvSpPr>
          <p:cNvPr id="6" name="Rectangle 334">
            <a:extLst>
              <a:ext uri="{FF2B5EF4-FFF2-40B4-BE49-F238E27FC236}">
                <a16:creationId xmlns:a16="http://schemas.microsoft.com/office/drawing/2014/main" id="{B7BE5966-0895-4D7C-ACD6-83070C3651BB}"/>
              </a:ext>
            </a:extLst>
          </p:cNvPr>
          <p:cNvSpPr>
            <a:spLocks noChangeArrowheads="1"/>
          </p:cNvSpPr>
          <p:nvPr/>
        </p:nvSpPr>
        <p:spPr bwMode="auto">
          <a:xfrm>
            <a:off x="120223" y="1196752"/>
            <a:ext cx="9657313" cy="5304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20000"/>
              </a:lnSpc>
              <a:spcBef>
                <a:spcPct val="10000"/>
              </a:spcBef>
            </a:pPr>
            <a:r>
              <a:rPr kumimoji="1" lang="en-US" altLang="zh-CN" sz="2400" b="1" dirty="0">
                <a:latin typeface="Times New Roman" panose="02020603050405020304" pitchFamily="18" charset="0"/>
                <a:ea typeface="黑体" panose="02010609060101010101" pitchFamily="49" charset="-122"/>
              </a:rPr>
              <a:t>1. </a:t>
            </a:r>
            <a:r>
              <a:rPr kumimoji="1" lang="zh-CN" altLang="en-US" sz="2400" b="1" dirty="0">
                <a:latin typeface="Times New Roman" panose="02020603050405020304" pitchFamily="18" charset="0"/>
                <a:ea typeface="黑体" panose="02010609060101010101" pitchFamily="49" charset="-122"/>
              </a:rPr>
              <a:t>设定种群规模</a:t>
            </a:r>
            <a:r>
              <a:rPr kumimoji="1" lang="en-US" altLang="zh-CN" sz="2400" b="1" dirty="0">
                <a:latin typeface="Times New Roman" panose="02020603050405020304" pitchFamily="18" charset="0"/>
                <a:ea typeface="黑体" panose="02010609060101010101" pitchFamily="49" charset="-122"/>
              </a:rPr>
              <a:t>,</a:t>
            </a:r>
            <a:r>
              <a:rPr kumimoji="1" lang="zh-CN" altLang="en-US" sz="2400" b="1" dirty="0">
                <a:latin typeface="Times New Roman" panose="02020603050405020304" pitchFamily="18" charset="0"/>
                <a:ea typeface="黑体" panose="02010609060101010101" pitchFamily="49" charset="-122"/>
              </a:rPr>
              <a:t>编码染色体，产生初始种群。</a:t>
            </a:r>
          </a:p>
          <a:p>
            <a:pPr algn="just">
              <a:lnSpc>
                <a:spcPct val="120000"/>
              </a:lnSpc>
              <a:spcBef>
                <a:spcPct val="10000"/>
              </a:spcBef>
            </a:pPr>
            <a:r>
              <a:rPr kumimoji="1" lang="zh-CN" altLang="en-US" sz="2400" b="1" dirty="0">
                <a:latin typeface="Times New Roman" panose="02020603050405020304" pitchFamily="18" charset="0"/>
                <a:ea typeface="黑体" panose="02010609060101010101" pitchFamily="49" charset="-122"/>
              </a:rPr>
              <a:t>    </a:t>
            </a:r>
            <a:r>
              <a:rPr kumimoji="1" lang="en-US" altLang="zh-CN" sz="2400" b="1" dirty="0">
                <a:latin typeface="Times New Roman" panose="02020603050405020304" pitchFamily="18" charset="0"/>
                <a:ea typeface="黑体" panose="02010609060101010101" pitchFamily="49" charset="-122"/>
              </a:rPr>
              <a:t>	</a:t>
            </a:r>
            <a:r>
              <a:rPr kumimoji="1" lang="zh-CN" altLang="en-US" sz="2400" b="1" dirty="0">
                <a:latin typeface="Times New Roman" panose="02020603050405020304" pitchFamily="18" charset="0"/>
                <a:ea typeface="黑体" panose="02010609060101010101" pitchFamily="49" charset="-122"/>
              </a:rPr>
              <a:t>将种群规模设定为</a:t>
            </a:r>
            <a:r>
              <a:rPr kumimoji="1" lang="en-US" altLang="zh-CN" sz="2400" b="1" dirty="0">
                <a:latin typeface="Times New Roman" panose="02020603050405020304" pitchFamily="18" charset="0"/>
                <a:ea typeface="黑体" panose="02010609060101010101" pitchFamily="49" charset="-122"/>
              </a:rPr>
              <a:t>4</a:t>
            </a:r>
            <a:r>
              <a:rPr kumimoji="1" lang="zh-CN" altLang="en-US" sz="2400" b="1" dirty="0">
                <a:latin typeface="Times New Roman" panose="02020603050405020304" pitchFamily="18" charset="0"/>
                <a:ea typeface="黑体" panose="02010609060101010101" pitchFamily="49" charset="-122"/>
              </a:rPr>
              <a:t>；用</a:t>
            </a:r>
            <a:r>
              <a:rPr kumimoji="1" lang="en-US" altLang="zh-CN" sz="2400" b="1" dirty="0">
                <a:latin typeface="Times New Roman" panose="02020603050405020304" pitchFamily="18" charset="0"/>
                <a:ea typeface="黑体" panose="02010609060101010101" pitchFamily="49" charset="-122"/>
              </a:rPr>
              <a:t>5</a:t>
            </a:r>
            <a:r>
              <a:rPr kumimoji="1" lang="zh-CN" altLang="en-US" sz="2400" b="1" dirty="0">
                <a:latin typeface="Times New Roman" panose="02020603050405020304" pitchFamily="18" charset="0"/>
                <a:ea typeface="黑体" panose="02010609060101010101" pitchFamily="49" charset="-122"/>
              </a:rPr>
              <a:t>位二进制数编码染色体；取下列个体组成初始种群</a:t>
            </a:r>
            <a:r>
              <a:rPr kumimoji="1" lang="en-US" altLang="zh-CN" sz="2400" b="1" dirty="0">
                <a:latin typeface="Times New Roman" panose="02020603050405020304" pitchFamily="18" charset="0"/>
                <a:ea typeface="黑体" panose="02010609060101010101" pitchFamily="49" charset="-122"/>
              </a:rPr>
              <a:t>S1:</a:t>
            </a:r>
          </a:p>
          <a:p>
            <a:pPr algn="just">
              <a:lnSpc>
                <a:spcPct val="120000"/>
              </a:lnSpc>
              <a:spcBef>
                <a:spcPct val="20000"/>
              </a:spcBef>
            </a:pPr>
            <a:r>
              <a:rPr kumimoji="1" lang="en-US" altLang="zh-CN" sz="2800" i="1" dirty="0">
                <a:latin typeface="Times New Roman" panose="02020603050405020304" pitchFamily="18" charset="0"/>
              </a:rPr>
              <a:t>                     s</a:t>
            </a:r>
            <a:r>
              <a:rPr kumimoji="1" lang="en-US" altLang="zh-CN" sz="2800" baseline="-25000" dirty="0">
                <a:latin typeface="Times New Roman" panose="02020603050405020304" pitchFamily="18" charset="0"/>
              </a:rPr>
              <a:t>1</a:t>
            </a:r>
            <a:r>
              <a:rPr kumimoji="1" lang="en-US" altLang="zh-CN" sz="2800" dirty="0">
                <a:latin typeface="Times New Roman" panose="02020603050405020304" pitchFamily="18" charset="0"/>
              </a:rPr>
              <a:t>= 13 (01101),  </a:t>
            </a:r>
            <a:r>
              <a:rPr kumimoji="1" lang="en-US" altLang="zh-CN" sz="2800" i="1" dirty="0">
                <a:latin typeface="Times New Roman" panose="02020603050405020304" pitchFamily="18" charset="0"/>
              </a:rPr>
              <a:t>s</a:t>
            </a:r>
            <a:r>
              <a:rPr kumimoji="1" lang="en-US" altLang="zh-CN" sz="2800" baseline="-25000" dirty="0">
                <a:latin typeface="Times New Roman" panose="02020603050405020304" pitchFamily="18" charset="0"/>
              </a:rPr>
              <a:t>2</a:t>
            </a:r>
            <a:r>
              <a:rPr kumimoji="1" lang="en-US" altLang="zh-CN" sz="2800" dirty="0">
                <a:latin typeface="Times New Roman" panose="02020603050405020304" pitchFamily="18" charset="0"/>
              </a:rPr>
              <a:t>= 24 (11000)</a:t>
            </a:r>
          </a:p>
          <a:p>
            <a:pPr algn="just">
              <a:lnSpc>
                <a:spcPct val="120000"/>
              </a:lnSpc>
              <a:spcBef>
                <a:spcPct val="20000"/>
              </a:spcBef>
            </a:pPr>
            <a:r>
              <a:rPr kumimoji="1" lang="en-US" altLang="zh-CN" sz="2800" i="1" dirty="0">
                <a:latin typeface="Times New Roman" panose="02020603050405020304" pitchFamily="18" charset="0"/>
              </a:rPr>
              <a:t>                     s</a:t>
            </a:r>
            <a:r>
              <a:rPr kumimoji="1" lang="en-US" altLang="zh-CN" sz="2800" baseline="-25000" dirty="0">
                <a:latin typeface="Times New Roman" panose="02020603050405020304" pitchFamily="18" charset="0"/>
              </a:rPr>
              <a:t>3</a:t>
            </a:r>
            <a:r>
              <a:rPr kumimoji="1" lang="en-US" altLang="zh-CN" sz="2800" dirty="0">
                <a:latin typeface="Times New Roman" panose="02020603050405020304" pitchFamily="18" charset="0"/>
              </a:rPr>
              <a:t>= 8 (01000),    </a:t>
            </a:r>
            <a:r>
              <a:rPr kumimoji="1" lang="en-US" altLang="zh-CN" sz="2800" i="1" dirty="0">
                <a:latin typeface="Times New Roman" panose="02020603050405020304" pitchFamily="18" charset="0"/>
              </a:rPr>
              <a:t>s</a:t>
            </a:r>
            <a:r>
              <a:rPr kumimoji="1" lang="en-US" altLang="zh-CN" sz="2800" baseline="-25000" dirty="0">
                <a:latin typeface="Times New Roman" panose="02020603050405020304" pitchFamily="18" charset="0"/>
              </a:rPr>
              <a:t>4</a:t>
            </a:r>
            <a:r>
              <a:rPr kumimoji="1" lang="en-US" altLang="zh-CN" sz="2800" dirty="0">
                <a:latin typeface="Times New Roman" panose="02020603050405020304" pitchFamily="18" charset="0"/>
              </a:rPr>
              <a:t>= 19 (10011)</a:t>
            </a:r>
            <a:r>
              <a:rPr kumimoji="1" lang="en-US" altLang="zh-CN" sz="2800" dirty="0">
                <a:latin typeface="宋体" panose="02010600030101010101" pitchFamily="2" charset="-122"/>
              </a:rPr>
              <a:t> </a:t>
            </a:r>
          </a:p>
          <a:p>
            <a:pPr algn="just">
              <a:lnSpc>
                <a:spcPct val="120000"/>
              </a:lnSpc>
              <a:spcBef>
                <a:spcPct val="20000"/>
              </a:spcBef>
            </a:pPr>
            <a:r>
              <a:rPr kumimoji="1" lang="en-US" altLang="zh-CN" sz="2400" b="1" dirty="0">
                <a:latin typeface="Times New Roman" panose="02020603050405020304" pitchFamily="18" charset="0"/>
                <a:ea typeface="黑体" panose="02010609060101010101" pitchFamily="49" charset="-122"/>
              </a:rPr>
              <a:t>2. </a:t>
            </a:r>
            <a:r>
              <a:rPr kumimoji="1" lang="zh-CN" altLang="en-US" sz="2400" b="1" dirty="0">
                <a:latin typeface="Times New Roman" panose="02020603050405020304" pitchFamily="18" charset="0"/>
                <a:ea typeface="黑体" panose="02010609060101010101" pitchFamily="49" charset="-122"/>
              </a:rPr>
              <a:t>定义适应度函数</a:t>
            </a:r>
            <a:endParaRPr kumimoji="1" lang="en-US" altLang="zh-CN" sz="2400" b="1" dirty="0">
              <a:latin typeface="Times New Roman" panose="02020603050405020304" pitchFamily="18" charset="0"/>
              <a:ea typeface="黑体" panose="02010609060101010101" pitchFamily="49" charset="-122"/>
            </a:endParaRPr>
          </a:p>
          <a:p>
            <a:pPr algn="just">
              <a:lnSpc>
                <a:spcPct val="120000"/>
              </a:lnSpc>
              <a:spcBef>
                <a:spcPct val="20000"/>
              </a:spcBef>
            </a:pPr>
            <a:r>
              <a:rPr kumimoji="1" lang="en-US" altLang="zh-CN" sz="2400" b="1" dirty="0">
                <a:latin typeface="Times New Roman" panose="02020603050405020304" pitchFamily="18" charset="0"/>
                <a:ea typeface="黑体" panose="02010609060101010101" pitchFamily="49" charset="-122"/>
              </a:rPr>
              <a:t>	</a:t>
            </a:r>
            <a:r>
              <a:rPr kumimoji="1" lang="zh-CN" altLang="en-US" sz="2400" b="1" dirty="0">
                <a:latin typeface="Times New Roman" panose="02020603050405020304" pitchFamily="18" charset="0"/>
                <a:ea typeface="黑体" panose="02010609060101010101" pitchFamily="49" charset="-122"/>
              </a:rPr>
              <a:t>取适应度函数：</a:t>
            </a:r>
            <a:r>
              <a:rPr kumimoji="1" lang="en-US" altLang="zh-CN" sz="2800" i="1" dirty="0">
                <a:latin typeface="Times New Roman" panose="02020603050405020304" pitchFamily="18" charset="0"/>
              </a:rPr>
              <a:t>f </a:t>
            </a:r>
            <a:r>
              <a:rPr kumimoji="1" lang="en-US" altLang="zh-CN" sz="2800" dirty="0">
                <a:latin typeface="Times New Roman" panose="02020603050405020304" pitchFamily="18" charset="0"/>
              </a:rPr>
              <a:t>(</a:t>
            </a:r>
            <a:r>
              <a:rPr kumimoji="1" lang="en-US" altLang="zh-CN" sz="2800" i="1" dirty="0">
                <a:latin typeface="Times New Roman" panose="02020603050405020304" pitchFamily="18" charset="0"/>
              </a:rPr>
              <a:t>x</a:t>
            </a:r>
            <a:r>
              <a:rPr kumimoji="1" lang="en-US" altLang="zh-CN" sz="2800" dirty="0">
                <a:latin typeface="Times New Roman" panose="02020603050405020304" pitchFamily="18" charset="0"/>
              </a:rPr>
              <a:t>)=</a:t>
            </a:r>
            <a:r>
              <a:rPr kumimoji="1" lang="en-US" altLang="zh-CN" sz="2800" i="1" dirty="0">
                <a:latin typeface="Times New Roman" panose="02020603050405020304" pitchFamily="18" charset="0"/>
              </a:rPr>
              <a:t>x</a:t>
            </a:r>
            <a:r>
              <a:rPr kumimoji="1" lang="en-US" altLang="zh-CN" sz="2800" baseline="30000" dirty="0">
                <a:latin typeface="Times New Roman" panose="02020603050405020304" pitchFamily="18" charset="0"/>
              </a:rPr>
              <a:t>2</a:t>
            </a:r>
            <a:r>
              <a:rPr kumimoji="1" lang="en-US" altLang="zh-CN" sz="2800" dirty="0">
                <a:latin typeface="Times New Roman" panose="02020603050405020304" pitchFamily="18" charset="0"/>
              </a:rPr>
              <a:t> </a:t>
            </a:r>
          </a:p>
          <a:p>
            <a:pPr algn="just">
              <a:lnSpc>
                <a:spcPct val="120000"/>
              </a:lnSpc>
              <a:spcBef>
                <a:spcPct val="20000"/>
              </a:spcBef>
            </a:pPr>
            <a:r>
              <a:rPr kumimoji="1" lang="en-US" altLang="zh-CN" sz="2400" b="1" dirty="0">
                <a:latin typeface="Times New Roman" panose="02020603050405020304" pitchFamily="18" charset="0"/>
                <a:ea typeface="黑体" panose="02010609060101010101" pitchFamily="49" charset="-122"/>
              </a:rPr>
              <a:t>3. </a:t>
            </a:r>
            <a:r>
              <a:rPr kumimoji="1" lang="zh-CN" altLang="en-US" sz="2400" b="1" dirty="0">
                <a:latin typeface="Times New Roman" panose="02020603050405020304" pitchFamily="18" charset="0"/>
                <a:ea typeface="黑体" panose="02010609060101010101" pitchFamily="49" charset="-122"/>
              </a:rPr>
              <a:t>计算各代种群中的各个体的适应度</a:t>
            </a:r>
            <a:r>
              <a:rPr kumimoji="1" lang="en-US" altLang="zh-CN" sz="2400" b="1" dirty="0">
                <a:latin typeface="Times New Roman" panose="02020603050405020304" pitchFamily="18" charset="0"/>
                <a:ea typeface="黑体" panose="02010609060101010101" pitchFamily="49" charset="-122"/>
              </a:rPr>
              <a:t>, </a:t>
            </a:r>
            <a:r>
              <a:rPr kumimoji="1" lang="zh-CN" altLang="en-US" sz="2400" b="1" dirty="0">
                <a:latin typeface="Times New Roman" panose="02020603050405020304" pitchFamily="18" charset="0"/>
                <a:ea typeface="黑体" panose="02010609060101010101" pitchFamily="49" charset="-122"/>
              </a:rPr>
              <a:t>并对其染色体进行遗传操作</a:t>
            </a:r>
            <a:r>
              <a:rPr kumimoji="1" lang="en-US" altLang="zh-CN" sz="2400" b="1" dirty="0">
                <a:latin typeface="Times New Roman" panose="02020603050405020304" pitchFamily="18" charset="0"/>
                <a:ea typeface="黑体" panose="02010609060101010101" pitchFamily="49" charset="-122"/>
              </a:rPr>
              <a:t>,</a:t>
            </a:r>
            <a:r>
              <a:rPr kumimoji="1" lang="zh-CN" altLang="en-US" sz="2400" b="1" dirty="0">
                <a:latin typeface="Times New Roman" panose="02020603050405020304" pitchFamily="18" charset="0"/>
                <a:ea typeface="黑体" panose="02010609060101010101" pitchFamily="49" charset="-122"/>
              </a:rPr>
              <a:t>直到适应度最高的个体</a:t>
            </a:r>
            <a:r>
              <a:rPr kumimoji="1" lang="en-US" altLang="zh-CN" sz="2400" b="1" dirty="0">
                <a:latin typeface="Times New Roman" panose="02020603050405020304" pitchFamily="18" charset="0"/>
                <a:ea typeface="黑体" panose="02010609060101010101" pitchFamily="49" charset="-122"/>
              </a:rPr>
              <a:t>(</a:t>
            </a:r>
            <a:r>
              <a:rPr kumimoji="1" lang="zh-CN" altLang="en-US" sz="2400" b="1" dirty="0">
                <a:latin typeface="Times New Roman" panose="02020603050405020304" pitchFamily="18" charset="0"/>
                <a:ea typeface="黑体" panose="02010609060101010101" pitchFamily="49" charset="-122"/>
              </a:rPr>
              <a:t>即</a:t>
            </a:r>
            <a:r>
              <a:rPr kumimoji="1" lang="en-US" altLang="zh-CN" sz="2400" b="1" dirty="0">
                <a:latin typeface="Times New Roman" panose="02020603050405020304" pitchFamily="18" charset="0"/>
                <a:ea typeface="黑体" panose="02010609060101010101" pitchFamily="49" charset="-122"/>
              </a:rPr>
              <a:t>31</a:t>
            </a:r>
            <a:r>
              <a:rPr kumimoji="1" lang="zh-CN" altLang="en-US" sz="2400" b="1" dirty="0">
                <a:latin typeface="Times New Roman" panose="02020603050405020304" pitchFamily="18" charset="0"/>
                <a:ea typeface="黑体" panose="02010609060101010101" pitchFamily="49" charset="-122"/>
              </a:rPr>
              <a:t>（</a:t>
            </a:r>
            <a:r>
              <a:rPr kumimoji="1" lang="en-US" altLang="zh-CN" sz="2400" b="1" dirty="0">
                <a:latin typeface="Times New Roman" panose="02020603050405020304" pitchFamily="18" charset="0"/>
                <a:ea typeface="黑体" panose="02010609060101010101" pitchFamily="49" charset="-122"/>
              </a:rPr>
              <a:t>11111</a:t>
            </a:r>
            <a:r>
              <a:rPr kumimoji="1" lang="zh-CN" altLang="en-US" sz="2400" b="1" dirty="0">
                <a:latin typeface="Times New Roman" panose="02020603050405020304" pitchFamily="18" charset="0"/>
                <a:ea typeface="黑体" panose="02010609060101010101" pitchFamily="49" charset="-122"/>
              </a:rPr>
              <a:t>）</a:t>
            </a:r>
            <a:r>
              <a:rPr kumimoji="1" lang="en-US" altLang="zh-CN" sz="2400" b="1" dirty="0">
                <a:latin typeface="Times New Roman" panose="02020603050405020304" pitchFamily="18" charset="0"/>
                <a:ea typeface="黑体" panose="02010609060101010101" pitchFamily="49" charset="-122"/>
              </a:rPr>
              <a:t>)</a:t>
            </a:r>
            <a:r>
              <a:rPr kumimoji="1" lang="zh-CN" altLang="en-US" sz="2400" b="1" dirty="0">
                <a:latin typeface="Times New Roman" panose="02020603050405020304" pitchFamily="18" charset="0"/>
                <a:ea typeface="黑体" panose="02010609060101010101" pitchFamily="49" charset="-122"/>
              </a:rPr>
              <a:t>出现为止。 </a:t>
            </a:r>
          </a:p>
          <a:p>
            <a:pPr algn="just">
              <a:lnSpc>
                <a:spcPct val="120000"/>
              </a:lnSpc>
              <a:spcBef>
                <a:spcPct val="20000"/>
              </a:spcBef>
            </a:pPr>
            <a:r>
              <a:rPr kumimoji="1" lang="en-US" altLang="zh-CN" sz="2800" dirty="0">
                <a:latin typeface="Times New Roman" panose="02020603050405020304" pitchFamily="18" charset="0"/>
              </a:rPr>
              <a:t>              </a:t>
            </a:r>
          </a:p>
        </p:txBody>
      </p:sp>
    </p:spTree>
    <p:extLst>
      <p:ext uri="{BB962C8B-B14F-4D97-AF65-F5344CB8AC3E}">
        <p14:creationId xmlns:p14="http://schemas.microsoft.com/office/powerpoint/2010/main" val="123102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childTnLst>
                                    <p:set>
                                      <p:cBhvr additive="base">
                                        <p:cTn id="6" dur="1" fill="hold">
                                          <p:stCondLst>
                                            <p:cond delay="0"/>
                                          </p:stCondLst>
                                        </p:cTn>
                                        <p:tgtEl>
                                          <p:spTgt spid="6">
                                            <p:txEl>
                                              <p:pRg st="0" end="0"/>
                                            </p:txEl>
                                          </p:spTgt>
                                        </p:tgtEl>
                                        <p:attrNameLst>
                                          <p:attrName>style.visibility</p:attrName>
                                        </p:attrNameLst>
                                      </p:cBhvr>
                                      <p:to>
                                        <p:strVal val="visible"/>
                                      </p:to>
                                    </p:set>
                                    <p:animEffect transition="in" filter="blinds(horizontal)">
                                      <p:cBhvr additive="base">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childTnLst>
                                    <p:set>
                                      <p:cBhvr additive="base">
                                        <p:cTn id="11" dur="1" fill="hold">
                                          <p:stCondLst>
                                            <p:cond delay="0"/>
                                          </p:stCondLst>
                                        </p:cTn>
                                        <p:tgtEl>
                                          <p:spTgt spid="6">
                                            <p:txEl>
                                              <p:pRg st="1" end="1"/>
                                            </p:txEl>
                                          </p:spTgt>
                                        </p:tgtEl>
                                        <p:attrNameLst>
                                          <p:attrName>style.visibility</p:attrName>
                                        </p:attrNameLst>
                                      </p:cBhvr>
                                      <p:to>
                                        <p:strVal val="visible"/>
                                      </p:to>
                                    </p:set>
                                    <p:animEffect transition="in" filter="blinds(horizontal)">
                                      <p:cBhvr additive="base">
                                        <p:cTn id="12" dur="500"/>
                                        <p:tgtEl>
                                          <p:spTgt spid="6">
                                            <p:txEl>
                                              <p:pRg st="1" end="1"/>
                                            </p:txEl>
                                          </p:spTgt>
                                        </p:tgtEl>
                                      </p:cBhvr>
                                    </p:animEffect>
                                  </p:childTnLst>
                                </p:cTn>
                              </p:par>
                              <p:par>
                                <p:cTn id="13" presetID="3" presetClass="entr" presetSubtype="10" fill="hold" nodeType="withEffect">
                                  <p:childTnLst>
                                    <p:set>
                                      <p:cBhvr additive="base">
                                        <p:cTn id="14" dur="1" fill="hold">
                                          <p:stCondLst>
                                            <p:cond delay="0"/>
                                          </p:stCondLst>
                                        </p:cTn>
                                        <p:tgtEl>
                                          <p:spTgt spid="6">
                                            <p:txEl>
                                              <p:pRg st="2" end="2"/>
                                            </p:txEl>
                                          </p:spTgt>
                                        </p:tgtEl>
                                        <p:attrNameLst>
                                          <p:attrName>style.visibility</p:attrName>
                                        </p:attrNameLst>
                                      </p:cBhvr>
                                      <p:to>
                                        <p:strVal val="visible"/>
                                      </p:to>
                                    </p:set>
                                    <p:animEffect transition="in" filter="blinds(horizontal)">
                                      <p:cBhvr additive="base">
                                        <p:cTn id="15" dur="500"/>
                                        <p:tgtEl>
                                          <p:spTgt spid="6">
                                            <p:txEl>
                                              <p:pRg st="2" end="2"/>
                                            </p:txEl>
                                          </p:spTgt>
                                        </p:tgtEl>
                                      </p:cBhvr>
                                    </p:animEffect>
                                  </p:childTnLst>
                                </p:cTn>
                              </p:par>
                              <p:par>
                                <p:cTn id="16" presetID="3" presetClass="entr" presetSubtype="10" fill="hold" nodeType="withEffect">
                                  <p:childTnLst>
                                    <p:set>
                                      <p:cBhvr additive="base">
                                        <p:cTn id="17" dur="1" fill="hold">
                                          <p:stCondLst>
                                            <p:cond delay="0"/>
                                          </p:stCondLst>
                                        </p:cTn>
                                        <p:tgtEl>
                                          <p:spTgt spid="6">
                                            <p:txEl>
                                              <p:pRg st="3" end="3"/>
                                            </p:txEl>
                                          </p:spTgt>
                                        </p:tgtEl>
                                        <p:attrNameLst>
                                          <p:attrName>style.visibility</p:attrName>
                                        </p:attrNameLst>
                                      </p:cBhvr>
                                      <p:to>
                                        <p:strVal val="visible"/>
                                      </p:to>
                                    </p:set>
                                    <p:animEffect transition="in" filter="blinds(horizontal)">
                                      <p:cBhvr additive="base">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childTnLst>
                                    <p:set>
                                      <p:cBhvr additive="base">
                                        <p:cTn id="22" dur="1" fill="hold">
                                          <p:stCondLst>
                                            <p:cond delay="0"/>
                                          </p:stCondLst>
                                        </p:cTn>
                                        <p:tgtEl>
                                          <p:spTgt spid="6">
                                            <p:txEl>
                                              <p:pRg st="4" end="4"/>
                                            </p:txEl>
                                          </p:spTgt>
                                        </p:tgtEl>
                                        <p:attrNameLst>
                                          <p:attrName>style.visibility</p:attrName>
                                        </p:attrNameLst>
                                      </p:cBhvr>
                                      <p:to>
                                        <p:strVal val="visible"/>
                                      </p:to>
                                    </p:set>
                                    <p:animEffect transition="in" filter="blinds(horizontal)">
                                      <p:cBhvr additive="base">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childTnLst>
                                    <p:set>
                                      <p:cBhvr additive="base">
                                        <p:cTn id="27" dur="1" fill="hold">
                                          <p:stCondLst>
                                            <p:cond delay="0"/>
                                          </p:stCondLst>
                                        </p:cTn>
                                        <p:tgtEl>
                                          <p:spTgt spid="6">
                                            <p:txEl>
                                              <p:pRg st="5" end="5"/>
                                            </p:txEl>
                                          </p:spTgt>
                                        </p:tgtEl>
                                        <p:attrNameLst>
                                          <p:attrName>style.visibility</p:attrName>
                                        </p:attrNameLst>
                                      </p:cBhvr>
                                      <p:to>
                                        <p:strVal val="visible"/>
                                      </p:to>
                                    </p:set>
                                    <p:animEffect transition="in" filter="blinds(horizontal)">
                                      <p:cBhvr additive="base">
                                        <p:cTn id="28" dur="500"/>
                                        <p:tgtEl>
                                          <p:spTgt spid="6">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childTnLst>
                                    <p:set>
                                      <p:cBhvr additive="base">
                                        <p:cTn id="32" dur="1" fill="hold">
                                          <p:stCondLst>
                                            <p:cond delay="0"/>
                                          </p:stCondLst>
                                        </p:cTn>
                                        <p:tgtEl>
                                          <p:spTgt spid="6">
                                            <p:txEl>
                                              <p:pRg st="6" end="6"/>
                                            </p:txEl>
                                          </p:spTgt>
                                        </p:tgtEl>
                                        <p:attrNameLst>
                                          <p:attrName>style.visibility</p:attrName>
                                        </p:attrNameLst>
                                      </p:cBhvr>
                                      <p:to>
                                        <p:strVal val="visible"/>
                                      </p:to>
                                    </p:set>
                                    <p:animEffect transition="in" filter="blinds(horizontal)">
                                      <p:cBhvr additive="base">
                                        <p:cTn id="33"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17</a:t>
            </a:fld>
            <a:endParaRPr lang="en-US" altLang="zh-CN" dirty="0"/>
          </a:p>
        </p:txBody>
      </p:sp>
      <p:sp>
        <p:nvSpPr>
          <p:cNvPr id="6" name="Rectangle 334">
            <a:extLst>
              <a:ext uri="{FF2B5EF4-FFF2-40B4-BE49-F238E27FC236}">
                <a16:creationId xmlns:a16="http://schemas.microsoft.com/office/drawing/2014/main" id="{B7BE5966-0895-4D7C-ACD6-83070C3651BB}"/>
              </a:ext>
            </a:extLst>
          </p:cNvPr>
          <p:cNvSpPr>
            <a:spLocks noChangeArrowheads="1"/>
          </p:cNvSpPr>
          <p:nvPr/>
        </p:nvSpPr>
        <p:spPr bwMode="auto">
          <a:xfrm>
            <a:off x="120223" y="1196752"/>
            <a:ext cx="965731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en-US" altLang="zh-CN" sz="2400" b="1" dirty="0">
                <a:latin typeface="Times New Roman" panose="02020603050405020304" pitchFamily="18" charset="0"/>
                <a:ea typeface="黑体" panose="02010609060101010101" pitchFamily="49" charset="-122"/>
              </a:rPr>
              <a:t>3.1 </a:t>
            </a:r>
            <a:r>
              <a:rPr kumimoji="1" lang="zh-CN" altLang="en-US" sz="2400" b="1" dirty="0">
                <a:latin typeface="Times New Roman" panose="02020603050405020304" pitchFamily="18" charset="0"/>
                <a:ea typeface="黑体" panose="02010609060101010101" pitchFamily="49" charset="-122"/>
              </a:rPr>
              <a:t>计算种群</a:t>
            </a:r>
            <a:r>
              <a:rPr kumimoji="1" lang="en-US" altLang="zh-CN" sz="2400" b="1" dirty="0">
                <a:latin typeface="Times New Roman" panose="02020603050405020304" pitchFamily="18" charset="0"/>
                <a:ea typeface="黑体" panose="02010609060101010101" pitchFamily="49" charset="-122"/>
              </a:rPr>
              <a:t>S1</a:t>
            </a:r>
            <a:r>
              <a:rPr kumimoji="1" lang="zh-CN" altLang="en-US" sz="2400" b="1" dirty="0">
                <a:latin typeface="Times New Roman" panose="02020603050405020304" pitchFamily="18" charset="0"/>
                <a:ea typeface="黑体" panose="02010609060101010101" pitchFamily="49" charset="-122"/>
              </a:rPr>
              <a:t>中各个体的适应度</a:t>
            </a:r>
            <a:r>
              <a:rPr kumimoji="1" lang="en-US" altLang="zh-CN" sz="2400" b="1" dirty="0">
                <a:latin typeface="Times New Roman" panose="02020603050405020304" pitchFamily="18" charset="0"/>
                <a:ea typeface="黑体" panose="02010609060101010101" pitchFamily="49" charset="-122"/>
              </a:rPr>
              <a:t>f (</a:t>
            </a:r>
            <a:r>
              <a:rPr kumimoji="1" lang="en-US" altLang="zh-CN" sz="2400" b="1" dirty="0" err="1">
                <a:latin typeface="Times New Roman" panose="02020603050405020304" pitchFamily="18" charset="0"/>
                <a:ea typeface="黑体" panose="02010609060101010101" pitchFamily="49" charset="-122"/>
              </a:rPr>
              <a:t>si</a:t>
            </a:r>
            <a:r>
              <a:rPr kumimoji="1" lang="en-US" altLang="zh-CN" sz="2400" b="1" dirty="0">
                <a:latin typeface="Times New Roman" panose="02020603050405020304" pitchFamily="18" charset="0"/>
                <a:ea typeface="黑体" panose="02010609060101010101" pitchFamily="49" charset="-122"/>
              </a:rPr>
              <a:t>) </a:t>
            </a:r>
            <a:r>
              <a:rPr kumimoji="1" lang="zh-CN" altLang="en-US" sz="2400" b="1" dirty="0">
                <a:latin typeface="Times New Roman" panose="02020603050405020304" pitchFamily="18" charset="0"/>
                <a:ea typeface="黑体" panose="02010609060101010101" pitchFamily="49" charset="-122"/>
              </a:rPr>
              <a:t>。</a:t>
            </a:r>
          </a:p>
          <a:p>
            <a:pPr>
              <a:lnSpc>
                <a:spcPct val="90000"/>
              </a:lnSpc>
              <a:buFont typeface="Wingdings" panose="05000000000000000000" pitchFamily="2" charset="2"/>
              <a:buNone/>
            </a:pPr>
            <a:endParaRPr kumimoji="1" lang="zh-CN" altLang="en-US" sz="2400" b="1" dirty="0">
              <a:latin typeface="Times New Roman" panose="02020603050405020304" pitchFamily="18" charset="0"/>
              <a:ea typeface="黑体" panose="02010609060101010101" pitchFamily="49" charset="-122"/>
            </a:endParaRPr>
          </a:p>
          <a:p>
            <a:pPr>
              <a:lnSpc>
                <a:spcPct val="90000"/>
              </a:lnSpc>
              <a:buFont typeface="Wingdings" panose="05000000000000000000" pitchFamily="2" charset="2"/>
              <a:buNone/>
            </a:pPr>
            <a:r>
              <a:rPr kumimoji="1" lang="zh-CN" altLang="en-US" sz="2400" i="1" dirty="0"/>
              <a:t>              </a:t>
            </a:r>
            <a:r>
              <a:rPr kumimoji="1" lang="en-US" altLang="zh-CN" sz="2400" i="1" dirty="0"/>
              <a:t>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a:t>
            </a:r>
            <a:r>
              <a:rPr kumimoji="1" lang="en-US" altLang="zh-CN" sz="2400" dirty="0">
                <a:latin typeface="Times New Roman" panose="02020603050405020304" pitchFamily="18" charset="0"/>
              </a:rPr>
              <a:t>= 13(01101),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en-US" altLang="zh-CN" sz="2400" dirty="0">
                <a:latin typeface="Times New Roman" panose="02020603050405020304" pitchFamily="18" charset="0"/>
              </a:rPr>
              <a:t>= 24(11000)</a:t>
            </a:r>
            <a:r>
              <a:rPr kumimoji="1" lang="en-US" altLang="zh-CN" sz="2400" i="1" dirty="0">
                <a:latin typeface="Times New Roman" panose="02020603050405020304" pitchFamily="18" charset="0"/>
              </a:rPr>
              <a:t>                      </a:t>
            </a:r>
          </a:p>
          <a:p>
            <a:pPr>
              <a:lnSpc>
                <a:spcPct val="90000"/>
              </a:lnSpc>
              <a:buFont typeface="Wingdings" panose="05000000000000000000" pitchFamily="2" charset="2"/>
              <a:buNone/>
            </a:pPr>
            <a:r>
              <a:rPr kumimoji="1" lang="en-US" altLang="zh-CN" sz="2400" i="1" dirty="0">
                <a:latin typeface="Times New Roman" panose="02020603050405020304" pitchFamily="18" charset="0"/>
              </a:rPr>
              <a:t>                	s</a:t>
            </a:r>
            <a:r>
              <a:rPr kumimoji="1" lang="en-US" altLang="zh-CN" sz="2400" baseline="-25000" dirty="0">
                <a:latin typeface="Times New Roman" panose="02020603050405020304" pitchFamily="18" charset="0"/>
              </a:rPr>
              <a:t>3</a:t>
            </a:r>
            <a:r>
              <a:rPr kumimoji="1" lang="en-US" altLang="zh-CN" sz="2400" dirty="0">
                <a:latin typeface="Times New Roman" panose="02020603050405020304" pitchFamily="18" charset="0"/>
              </a:rPr>
              <a:t>= 8(01000),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4</a:t>
            </a:r>
            <a:r>
              <a:rPr kumimoji="1" lang="en-US" altLang="zh-CN" sz="2400" dirty="0">
                <a:latin typeface="Times New Roman" panose="02020603050405020304" pitchFamily="18" charset="0"/>
              </a:rPr>
              <a:t>= 19(10011)</a:t>
            </a:r>
          </a:p>
          <a:p>
            <a:pPr>
              <a:lnSpc>
                <a:spcPct val="90000"/>
              </a:lnSpc>
              <a:buFont typeface="Wingdings" panose="05000000000000000000" pitchFamily="2" charset="2"/>
              <a:buNone/>
            </a:pPr>
            <a:endParaRPr kumimoji="1" lang="en-US" altLang="zh-CN" sz="2400" b="1" dirty="0">
              <a:latin typeface="Times New Roman" panose="02020603050405020304" pitchFamily="18" charset="0"/>
              <a:ea typeface="黑体" panose="02010609060101010101" pitchFamily="49" charset="-122"/>
            </a:endParaRPr>
          </a:p>
          <a:p>
            <a:pPr>
              <a:lnSpc>
                <a:spcPct val="90000"/>
              </a:lnSpc>
              <a:buFont typeface="Wingdings" panose="05000000000000000000" pitchFamily="2" charset="2"/>
              <a:buNone/>
            </a:pPr>
            <a:r>
              <a:rPr kumimoji="1" lang="zh-CN" altLang="en-US" sz="2400" b="1" dirty="0">
                <a:latin typeface="Times New Roman" panose="02020603050405020304" pitchFamily="18" charset="0"/>
                <a:ea typeface="黑体" panose="02010609060101010101" pitchFamily="49" charset="-122"/>
              </a:rPr>
              <a:t>容易求得</a:t>
            </a:r>
          </a:p>
          <a:p>
            <a:pPr>
              <a:lnSpc>
                <a:spcPct val="90000"/>
              </a:lnSpc>
              <a:buFont typeface="Wingdings" panose="05000000000000000000" pitchFamily="2" charset="2"/>
              <a:buNone/>
            </a:pPr>
            <a:r>
              <a:rPr kumimoji="1" lang="zh-CN" altLang="en-US" sz="2400" i="1" dirty="0">
                <a:latin typeface="Times New Roman" panose="02020603050405020304" pitchFamily="18" charset="0"/>
              </a:rPr>
              <a:t>                       </a:t>
            </a:r>
            <a:r>
              <a:rPr kumimoji="1" lang="en-US" altLang="zh-CN" sz="2400" i="1" dirty="0">
                <a:latin typeface="Times New Roman" panose="02020603050405020304" pitchFamily="18" charset="0"/>
              </a:rPr>
              <a:t>f </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f</a:t>
            </a:r>
            <a:r>
              <a:rPr kumimoji="1" lang="en-US" altLang="zh-CN" sz="2400" dirty="0">
                <a:latin typeface="Times New Roman" panose="02020603050405020304" pitchFamily="18" charset="0"/>
              </a:rPr>
              <a:t>(13) = 13</a:t>
            </a:r>
            <a:r>
              <a:rPr kumimoji="1" lang="en-US" altLang="zh-CN" sz="2400" baseline="30000" dirty="0">
                <a:latin typeface="Times New Roman" panose="02020603050405020304" pitchFamily="18" charset="0"/>
              </a:rPr>
              <a:t>2 </a:t>
            </a:r>
            <a:r>
              <a:rPr kumimoji="1" lang="en-US" altLang="zh-CN" sz="2400" dirty="0">
                <a:latin typeface="Times New Roman" panose="02020603050405020304" pitchFamily="18" charset="0"/>
              </a:rPr>
              <a:t>= 169</a:t>
            </a:r>
          </a:p>
          <a:p>
            <a:pPr>
              <a:lnSpc>
                <a:spcPct val="90000"/>
              </a:lnSpc>
              <a:buFont typeface="Wingdings" panose="05000000000000000000" pitchFamily="2" charset="2"/>
              <a:buNone/>
            </a:pPr>
            <a:r>
              <a:rPr kumimoji="1" lang="en-US" altLang="zh-CN" sz="2400" i="1" dirty="0">
                <a:latin typeface="Times New Roman" panose="02020603050405020304" pitchFamily="18" charset="0"/>
              </a:rPr>
              <a:t>                       f </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f</a:t>
            </a:r>
            <a:r>
              <a:rPr kumimoji="1" lang="en-US" altLang="zh-CN" sz="2400" dirty="0">
                <a:latin typeface="Times New Roman" panose="02020603050405020304" pitchFamily="18" charset="0"/>
              </a:rPr>
              <a:t>(24) = 24</a:t>
            </a:r>
            <a:r>
              <a:rPr kumimoji="1" lang="en-US" altLang="zh-CN" sz="2400" baseline="30000" dirty="0">
                <a:latin typeface="Times New Roman" panose="02020603050405020304" pitchFamily="18" charset="0"/>
              </a:rPr>
              <a:t>2 </a:t>
            </a:r>
            <a:r>
              <a:rPr kumimoji="1" lang="en-US" altLang="zh-CN" sz="2400" dirty="0">
                <a:latin typeface="Times New Roman" panose="02020603050405020304" pitchFamily="18" charset="0"/>
              </a:rPr>
              <a:t>= 576</a:t>
            </a:r>
          </a:p>
          <a:p>
            <a:pPr>
              <a:lnSpc>
                <a:spcPct val="90000"/>
              </a:lnSpc>
              <a:buFont typeface="Wingdings" panose="05000000000000000000" pitchFamily="2" charset="2"/>
              <a:buNone/>
            </a:pPr>
            <a:r>
              <a:rPr kumimoji="1" lang="en-US" altLang="zh-CN" sz="2400" i="1" dirty="0">
                <a:latin typeface="Times New Roman" panose="02020603050405020304" pitchFamily="18" charset="0"/>
              </a:rPr>
              <a:t>                       f </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3</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f</a:t>
            </a:r>
            <a:r>
              <a:rPr kumimoji="1" lang="en-US" altLang="zh-CN" sz="2400" dirty="0">
                <a:latin typeface="Times New Roman" panose="02020603050405020304" pitchFamily="18" charset="0"/>
              </a:rPr>
              <a:t>(8) = 8</a:t>
            </a:r>
            <a:r>
              <a:rPr kumimoji="1" lang="en-US" altLang="zh-CN" sz="2400" baseline="30000" dirty="0">
                <a:latin typeface="Times New Roman" panose="02020603050405020304" pitchFamily="18" charset="0"/>
              </a:rPr>
              <a:t>2 </a:t>
            </a:r>
            <a:r>
              <a:rPr kumimoji="1" lang="en-US" altLang="zh-CN" sz="2400" dirty="0">
                <a:latin typeface="Times New Roman" panose="02020603050405020304" pitchFamily="18" charset="0"/>
              </a:rPr>
              <a:t>= 64</a:t>
            </a:r>
          </a:p>
          <a:p>
            <a:pPr>
              <a:lnSpc>
                <a:spcPct val="90000"/>
              </a:lnSpc>
              <a:buFont typeface="Wingdings" panose="05000000000000000000" pitchFamily="2" charset="2"/>
              <a:buNone/>
            </a:pPr>
            <a:r>
              <a:rPr kumimoji="1" lang="en-US" altLang="zh-CN" sz="2400" i="1" dirty="0">
                <a:latin typeface="Times New Roman" panose="02020603050405020304" pitchFamily="18" charset="0"/>
              </a:rPr>
              <a:t>                       f </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4</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f</a:t>
            </a:r>
            <a:r>
              <a:rPr kumimoji="1" lang="en-US" altLang="zh-CN" sz="2400" dirty="0">
                <a:latin typeface="Times New Roman" panose="02020603050405020304" pitchFamily="18" charset="0"/>
              </a:rPr>
              <a:t>(19) = 19</a:t>
            </a:r>
            <a:r>
              <a:rPr kumimoji="1" lang="en-US" altLang="zh-CN" sz="2400" baseline="30000" dirty="0">
                <a:latin typeface="Times New Roman" panose="02020603050405020304" pitchFamily="18" charset="0"/>
              </a:rPr>
              <a:t>2 </a:t>
            </a:r>
            <a:r>
              <a:rPr kumimoji="1" lang="en-US" altLang="zh-CN" sz="2400" dirty="0">
                <a:latin typeface="Times New Roman" panose="02020603050405020304" pitchFamily="18" charset="0"/>
              </a:rPr>
              <a:t>= 361</a:t>
            </a:r>
          </a:p>
        </p:txBody>
      </p:sp>
      <p:graphicFrame>
        <p:nvGraphicFramePr>
          <p:cNvPr id="3" name="Object 348">
            <a:extLst>
              <a:ext uri="{FF2B5EF4-FFF2-40B4-BE49-F238E27FC236}">
                <a16:creationId xmlns:a16="http://schemas.microsoft.com/office/drawing/2014/main" id="{CE9EF9C3-847A-EFDA-2DD7-935043B5594B}"/>
              </a:ext>
            </a:extLst>
          </p:cNvPr>
          <p:cNvGraphicFramePr>
            <a:graphicFrameLocks noChangeAspect="1"/>
          </p:cNvGraphicFramePr>
          <p:nvPr>
            <p:extLst>
              <p:ext uri="{D42A27DB-BD31-4B8C-83A1-F6EECF244321}">
                <p14:modId xmlns:p14="http://schemas.microsoft.com/office/powerpoint/2010/main" val="1033746538"/>
              </p:ext>
            </p:extLst>
          </p:nvPr>
        </p:nvGraphicFramePr>
        <p:xfrm>
          <a:off x="1784648" y="4829096"/>
          <a:ext cx="6832600" cy="992187"/>
        </p:xfrm>
        <a:graphic>
          <a:graphicData uri="http://schemas.openxmlformats.org/presentationml/2006/ole">
            <mc:AlternateContent xmlns:mc="http://schemas.openxmlformats.org/markup-compatibility/2006">
              <mc:Choice xmlns:v="urn:schemas-microsoft-com:vml" Requires="v">
                <p:oleObj name="Equation" r:id="rId2" imgW="3060360" imgH="444240" progId="Equation.DSMT4">
                  <p:embed/>
                </p:oleObj>
              </mc:Choice>
              <mc:Fallback>
                <p:oleObj name="Equation" r:id="rId2" imgW="3060360" imgH="444240" progId="Equation.DSMT4">
                  <p:embed/>
                  <p:pic>
                    <p:nvPicPr>
                      <p:cNvPr id="9" name="Object 348">
                        <a:extLst>
                          <a:ext uri="{FF2B5EF4-FFF2-40B4-BE49-F238E27FC236}">
                            <a16:creationId xmlns:a16="http://schemas.microsoft.com/office/drawing/2014/main" id="{DA05E972-212C-44A3-8078-68ECA8E8735D}"/>
                          </a:ext>
                        </a:extLst>
                      </p:cNvPr>
                      <p:cNvPicPr>
                        <a:picLocks noChangeAspect="1" noChangeArrowheads="1"/>
                      </p:cNvPicPr>
                      <p:nvPr/>
                    </p:nvPicPr>
                    <p:blipFill>
                      <a:blip r:embed="rId3"/>
                      <a:srcRect/>
                      <a:stretch>
                        <a:fillRect/>
                      </a:stretch>
                    </p:blipFill>
                    <p:spPr bwMode="auto">
                      <a:xfrm>
                        <a:off x="1784648" y="4829096"/>
                        <a:ext cx="6832600"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1208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childTnLst>
                                    <p:set>
                                      <p:cBhvr additive="base">
                                        <p:cTn id="6" dur="1" fill="hold">
                                          <p:stCondLst>
                                            <p:cond delay="0"/>
                                          </p:stCondLst>
                                        </p:cTn>
                                        <p:tgtEl>
                                          <p:spTgt spid="6">
                                            <p:txEl>
                                              <p:pRg st="0" end="0"/>
                                            </p:txEl>
                                          </p:spTgt>
                                        </p:tgtEl>
                                        <p:attrNameLst>
                                          <p:attrName>style.visibility</p:attrName>
                                        </p:attrNameLst>
                                      </p:cBhvr>
                                      <p:to>
                                        <p:strVal val="visible"/>
                                      </p:to>
                                    </p:set>
                                    <p:animEffect transition="in" filter="blinds(horizontal)">
                                      <p:cBhvr additive="base">
                                        <p:cTn id="7" dur="500"/>
                                        <p:tgtEl>
                                          <p:spTgt spid="6">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additive="base">
                                        <p:cTn id="10" dur="1" fill="hold">
                                          <p:stCondLst>
                                            <p:cond delay="0"/>
                                          </p:stCondLst>
                                        </p:cTn>
                                        <p:tgtEl>
                                          <p:spTgt spid="6">
                                            <p:txEl>
                                              <p:pRg st="2" end="2"/>
                                            </p:txEl>
                                          </p:spTgt>
                                        </p:tgtEl>
                                        <p:attrNameLst>
                                          <p:attrName>style.visibility</p:attrName>
                                        </p:attrNameLst>
                                      </p:cBhvr>
                                      <p:to>
                                        <p:strVal val="visible"/>
                                      </p:to>
                                    </p:set>
                                    <p:animEffect transition="in" filter="blinds(horizontal)">
                                      <p:cBhvr additive="base">
                                        <p:cTn id="11" dur="500"/>
                                        <p:tgtEl>
                                          <p:spTgt spid="6">
                                            <p:txEl>
                                              <p:pRg st="2" end="2"/>
                                            </p:txEl>
                                          </p:spTgt>
                                        </p:tgtEl>
                                      </p:cBhvr>
                                    </p:animEffect>
                                  </p:childTnLst>
                                </p:cTn>
                              </p:par>
                              <p:par>
                                <p:cTn id="12" presetID="3" presetClass="entr" presetSubtype="10" fill="hold" nodeType="withEffect">
                                  <p:stCondLst>
                                    <p:cond delay="0"/>
                                  </p:stCondLst>
                                  <p:childTnLst>
                                    <p:set>
                                      <p:cBhvr additive="base">
                                        <p:cTn id="13" dur="1" fill="hold">
                                          <p:stCondLst>
                                            <p:cond delay="0"/>
                                          </p:stCondLst>
                                        </p:cTn>
                                        <p:tgtEl>
                                          <p:spTgt spid="6">
                                            <p:txEl>
                                              <p:pRg st="3" end="3"/>
                                            </p:txEl>
                                          </p:spTgt>
                                        </p:tgtEl>
                                        <p:attrNameLst>
                                          <p:attrName>style.visibility</p:attrName>
                                        </p:attrNameLst>
                                      </p:cBhvr>
                                      <p:to>
                                        <p:strVal val="visible"/>
                                      </p:to>
                                    </p:set>
                                    <p:animEffect transition="in" filter="blinds(horizontal)">
                                      <p:cBhvr additive="base">
                                        <p:cTn id="14" dur="500"/>
                                        <p:tgtEl>
                                          <p:spTgt spid="6">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childTnLst>
                                    <p:set>
                                      <p:cBhvr additive="base">
                                        <p:cTn id="18" dur="1" fill="hold">
                                          <p:stCondLst>
                                            <p:cond delay="0"/>
                                          </p:stCondLst>
                                        </p:cTn>
                                        <p:tgtEl>
                                          <p:spTgt spid="6">
                                            <p:txEl>
                                              <p:pRg st="5" end="5"/>
                                            </p:txEl>
                                          </p:spTgt>
                                        </p:tgtEl>
                                        <p:attrNameLst>
                                          <p:attrName>style.visibility</p:attrName>
                                        </p:attrNameLst>
                                      </p:cBhvr>
                                      <p:to>
                                        <p:strVal val="visible"/>
                                      </p:to>
                                    </p:set>
                                    <p:animEffect transition="in" filter="blinds(horizontal)">
                                      <p:cBhvr additive="base">
                                        <p:cTn id="19" dur="500"/>
                                        <p:tgtEl>
                                          <p:spTgt spid="6">
                                            <p:txEl>
                                              <p:pRg st="5" end="5"/>
                                            </p:txEl>
                                          </p:spTgt>
                                        </p:tgtEl>
                                      </p:cBhvr>
                                    </p:animEffect>
                                  </p:childTnLst>
                                </p:cTn>
                              </p:par>
                            </p:childTnLst>
                          </p:cTn>
                        </p:par>
                        <p:par>
                          <p:cTn id="20" fill="hold">
                            <p:stCondLst>
                              <p:cond delay="500"/>
                            </p:stCondLst>
                            <p:childTnLst>
                              <p:par>
                                <p:cTn id="21" presetID="3" presetClass="entr" presetSubtype="10" fill="hold" nodeType="afterEffect">
                                  <p:stCondLst>
                                    <p:cond delay="0"/>
                                  </p:stCondLst>
                                  <p:childTnLst>
                                    <p:set>
                                      <p:cBhvr additive="base">
                                        <p:cTn id="22" dur="1" fill="hold">
                                          <p:stCondLst>
                                            <p:cond delay="0"/>
                                          </p:stCondLst>
                                        </p:cTn>
                                        <p:tgtEl>
                                          <p:spTgt spid="6">
                                            <p:txEl>
                                              <p:pRg st="6" end="6"/>
                                            </p:txEl>
                                          </p:spTgt>
                                        </p:tgtEl>
                                        <p:attrNameLst>
                                          <p:attrName>style.visibility</p:attrName>
                                        </p:attrNameLst>
                                      </p:cBhvr>
                                      <p:to>
                                        <p:strVal val="visible"/>
                                      </p:to>
                                    </p:set>
                                    <p:animEffect transition="in" filter="blinds(horizontal)">
                                      <p:cBhvr additive="base">
                                        <p:cTn id="23" dur="500"/>
                                        <p:tgtEl>
                                          <p:spTgt spid="6">
                                            <p:txEl>
                                              <p:pRg st="6" end="6"/>
                                            </p:txEl>
                                          </p:spTgt>
                                        </p:tgtEl>
                                      </p:cBhvr>
                                    </p:animEffect>
                                  </p:childTnLst>
                                </p:cTn>
                              </p:par>
                              <p:par>
                                <p:cTn id="24" presetID="3" presetClass="entr" presetSubtype="10" fill="hold" nodeType="withEffect">
                                  <p:stCondLst>
                                    <p:cond delay="0"/>
                                  </p:stCondLst>
                                  <p:childTnLst>
                                    <p:set>
                                      <p:cBhvr additive="base">
                                        <p:cTn id="25" dur="1" fill="hold">
                                          <p:stCondLst>
                                            <p:cond delay="0"/>
                                          </p:stCondLst>
                                        </p:cTn>
                                        <p:tgtEl>
                                          <p:spTgt spid="6">
                                            <p:txEl>
                                              <p:pRg st="7" end="7"/>
                                            </p:txEl>
                                          </p:spTgt>
                                        </p:tgtEl>
                                        <p:attrNameLst>
                                          <p:attrName>style.visibility</p:attrName>
                                        </p:attrNameLst>
                                      </p:cBhvr>
                                      <p:to>
                                        <p:strVal val="visible"/>
                                      </p:to>
                                    </p:set>
                                    <p:animEffect transition="in" filter="blinds(horizontal)">
                                      <p:cBhvr additive="base">
                                        <p:cTn id="26" dur="500"/>
                                        <p:tgtEl>
                                          <p:spTgt spid="6">
                                            <p:txEl>
                                              <p:pRg st="7" end="7"/>
                                            </p:txEl>
                                          </p:spTgt>
                                        </p:tgtEl>
                                      </p:cBhvr>
                                    </p:animEffect>
                                  </p:childTnLst>
                                </p:cTn>
                              </p:par>
                              <p:par>
                                <p:cTn id="27" presetID="3" presetClass="entr" presetSubtype="10" fill="hold" nodeType="withEffect">
                                  <p:stCondLst>
                                    <p:cond delay="0"/>
                                  </p:stCondLst>
                                  <p:childTnLst>
                                    <p:set>
                                      <p:cBhvr additive="base">
                                        <p:cTn id="28" dur="1" fill="hold">
                                          <p:stCondLst>
                                            <p:cond delay="0"/>
                                          </p:stCondLst>
                                        </p:cTn>
                                        <p:tgtEl>
                                          <p:spTgt spid="6">
                                            <p:txEl>
                                              <p:pRg st="8" end="8"/>
                                            </p:txEl>
                                          </p:spTgt>
                                        </p:tgtEl>
                                        <p:attrNameLst>
                                          <p:attrName>style.visibility</p:attrName>
                                        </p:attrNameLst>
                                      </p:cBhvr>
                                      <p:to>
                                        <p:strVal val="visible"/>
                                      </p:to>
                                    </p:set>
                                    <p:animEffect transition="in" filter="blinds(horizontal)">
                                      <p:cBhvr additive="base">
                                        <p:cTn id="29" dur="500"/>
                                        <p:tgtEl>
                                          <p:spTgt spid="6">
                                            <p:txEl>
                                              <p:pRg st="8" end="8"/>
                                            </p:txEl>
                                          </p:spTgt>
                                        </p:tgtEl>
                                      </p:cBhvr>
                                    </p:animEffect>
                                  </p:childTnLst>
                                </p:cTn>
                              </p:par>
                              <p:par>
                                <p:cTn id="30" presetID="3" presetClass="entr" presetSubtype="10" fill="hold" nodeType="withEffect">
                                  <p:stCondLst>
                                    <p:cond delay="0"/>
                                  </p:stCondLst>
                                  <p:childTnLst>
                                    <p:set>
                                      <p:cBhvr additive="base">
                                        <p:cTn id="31" dur="1" fill="hold">
                                          <p:stCondLst>
                                            <p:cond delay="0"/>
                                          </p:stCondLst>
                                        </p:cTn>
                                        <p:tgtEl>
                                          <p:spTgt spid="6">
                                            <p:txEl>
                                              <p:pRg st="9" end="9"/>
                                            </p:txEl>
                                          </p:spTgt>
                                        </p:tgtEl>
                                        <p:attrNameLst>
                                          <p:attrName>style.visibility</p:attrName>
                                        </p:attrNameLst>
                                      </p:cBhvr>
                                      <p:to>
                                        <p:strVal val="visible"/>
                                      </p:to>
                                    </p:set>
                                    <p:animEffect transition="in" filter="blinds(horizontal)">
                                      <p:cBhvr additive="base">
                                        <p:cTn id="32" dur="500"/>
                                        <p:tgtEl>
                                          <p:spTgt spid="6">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18</a:t>
            </a:fld>
            <a:endParaRPr lang="en-US" altLang="zh-CN" dirty="0"/>
          </a:p>
        </p:txBody>
      </p:sp>
      <p:sp>
        <p:nvSpPr>
          <p:cNvPr id="6" name="Rectangle 334">
            <a:extLst>
              <a:ext uri="{FF2B5EF4-FFF2-40B4-BE49-F238E27FC236}">
                <a16:creationId xmlns:a16="http://schemas.microsoft.com/office/drawing/2014/main" id="{B7BE5966-0895-4D7C-ACD6-83070C3651BB}"/>
              </a:ext>
            </a:extLst>
          </p:cNvPr>
          <p:cNvSpPr>
            <a:spLocks noChangeArrowheads="1"/>
          </p:cNvSpPr>
          <p:nvPr/>
        </p:nvSpPr>
        <p:spPr bwMode="auto">
          <a:xfrm>
            <a:off x="120223" y="1196752"/>
            <a:ext cx="9657313" cy="2788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 typeface="Wingdings" panose="05000000000000000000" pitchFamily="2" charset="2"/>
              <a:buNone/>
            </a:pPr>
            <a:r>
              <a:rPr kumimoji="1" lang="en-US" altLang="zh-CN" sz="2400" b="1" dirty="0">
                <a:latin typeface="Times New Roman" panose="02020603050405020304" pitchFamily="18" charset="0"/>
                <a:ea typeface="黑体" panose="02010609060101010101" pitchFamily="49" charset="-122"/>
              </a:rPr>
              <a:t>3.2 </a:t>
            </a:r>
            <a:r>
              <a:rPr kumimoji="1" lang="zh-CN" altLang="en-US" sz="2400" b="1" dirty="0">
                <a:latin typeface="Times New Roman" panose="02020603050405020304" pitchFamily="18" charset="0"/>
                <a:ea typeface="黑体" panose="02010609060101010101" pitchFamily="49" charset="-122"/>
              </a:rPr>
              <a:t>计算种群</a:t>
            </a:r>
            <a:r>
              <a:rPr kumimoji="1" lang="en-US" altLang="zh-CN" sz="2400" b="1" dirty="0">
                <a:latin typeface="Times New Roman" panose="02020603050405020304" pitchFamily="18" charset="0"/>
                <a:ea typeface="黑体" panose="02010609060101010101" pitchFamily="49" charset="-122"/>
              </a:rPr>
              <a:t>S1</a:t>
            </a:r>
            <a:r>
              <a:rPr kumimoji="1" lang="zh-CN" altLang="en-US" sz="2400" b="1" dirty="0">
                <a:latin typeface="Times New Roman" panose="02020603050405020304" pitchFamily="18" charset="0"/>
                <a:ea typeface="黑体" panose="02010609060101010101" pitchFamily="49" charset="-122"/>
              </a:rPr>
              <a:t>中各个体的选择概率。</a:t>
            </a:r>
          </a:p>
          <a:p>
            <a:pPr>
              <a:lnSpc>
                <a:spcPct val="90000"/>
              </a:lnSpc>
              <a:buFont typeface="Wingdings" panose="05000000000000000000" pitchFamily="2" charset="2"/>
              <a:buNone/>
            </a:pPr>
            <a:r>
              <a:rPr kumimoji="1" lang="zh-CN" altLang="en-US" sz="2400" i="1" dirty="0"/>
              <a:t>              </a:t>
            </a:r>
            <a:r>
              <a:rPr kumimoji="1" lang="en-US" altLang="zh-CN" sz="2400" i="1" dirty="0"/>
              <a:t>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a:t>
            </a:r>
            <a:r>
              <a:rPr kumimoji="1" lang="en-US" altLang="zh-CN" sz="2400" dirty="0">
                <a:latin typeface="Times New Roman" panose="02020603050405020304" pitchFamily="18" charset="0"/>
              </a:rPr>
              <a:t>= 13(01101),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en-US" altLang="zh-CN" sz="2400" dirty="0">
                <a:latin typeface="Times New Roman" panose="02020603050405020304" pitchFamily="18" charset="0"/>
              </a:rPr>
              <a:t>= 24(11000)</a:t>
            </a:r>
            <a:r>
              <a:rPr kumimoji="1" lang="en-US" altLang="zh-CN" sz="2400" i="1" dirty="0">
                <a:latin typeface="Times New Roman" panose="02020603050405020304" pitchFamily="18" charset="0"/>
              </a:rPr>
              <a:t>                      </a:t>
            </a:r>
          </a:p>
          <a:p>
            <a:pPr>
              <a:lnSpc>
                <a:spcPct val="90000"/>
              </a:lnSpc>
              <a:buFont typeface="Wingdings" panose="05000000000000000000" pitchFamily="2" charset="2"/>
              <a:buNone/>
            </a:pPr>
            <a:r>
              <a:rPr kumimoji="1" lang="en-US" altLang="zh-CN" sz="2400" i="1" dirty="0">
                <a:latin typeface="Times New Roman" panose="02020603050405020304" pitchFamily="18" charset="0"/>
              </a:rPr>
              <a:t>                	s</a:t>
            </a:r>
            <a:r>
              <a:rPr kumimoji="1" lang="en-US" altLang="zh-CN" sz="2400" baseline="-25000" dirty="0">
                <a:latin typeface="Times New Roman" panose="02020603050405020304" pitchFamily="18" charset="0"/>
              </a:rPr>
              <a:t>3</a:t>
            </a:r>
            <a:r>
              <a:rPr kumimoji="1" lang="en-US" altLang="zh-CN" sz="2400" dirty="0">
                <a:latin typeface="Times New Roman" panose="02020603050405020304" pitchFamily="18" charset="0"/>
              </a:rPr>
              <a:t>= 8(01000),    	 </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4</a:t>
            </a:r>
            <a:r>
              <a:rPr kumimoji="1" lang="en-US" altLang="zh-CN" sz="2400" dirty="0">
                <a:latin typeface="Times New Roman" panose="02020603050405020304" pitchFamily="18" charset="0"/>
              </a:rPr>
              <a:t>= 19(10011)</a:t>
            </a:r>
          </a:p>
          <a:p>
            <a:pPr>
              <a:lnSpc>
                <a:spcPct val="90000"/>
              </a:lnSpc>
              <a:buFont typeface="Wingdings" panose="05000000000000000000" pitchFamily="2" charset="2"/>
              <a:buNone/>
            </a:pPr>
            <a:r>
              <a:rPr kumimoji="1" lang="zh-CN" altLang="en-US" sz="2400" i="1" dirty="0">
                <a:latin typeface="Times New Roman" panose="02020603050405020304" pitchFamily="18" charset="0"/>
              </a:rPr>
              <a:t> </a:t>
            </a:r>
            <a:r>
              <a:rPr kumimoji="1" lang="en-US" altLang="zh-CN" sz="2400" i="1" dirty="0">
                <a:latin typeface="Times New Roman" panose="02020603050405020304" pitchFamily="18" charset="0"/>
              </a:rPr>
              <a:t>	           f </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f</a:t>
            </a:r>
            <a:r>
              <a:rPr kumimoji="1" lang="en-US" altLang="zh-CN" sz="2400" dirty="0">
                <a:latin typeface="Times New Roman" panose="02020603050405020304" pitchFamily="18" charset="0"/>
              </a:rPr>
              <a:t>(13) = 13</a:t>
            </a:r>
            <a:r>
              <a:rPr kumimoji="1" lang="en-US" altLang="zh-CN" sz="2400" baseline="30000" dirty="0">
                <a:latin typeface="Times New Roman" panose="02020603050405020304" pitchFamily="18" charset="0"/>
              </a:rPr>
              <a:t>2 </a:t>
            </a:r>
            <a:r>
              <a:rPr kumimoji="1" lang="en-US" altLang="zh-CN" sz="2400" dirty="0">
                <a:latin typeface="Times New Roman" panose="02020603050405020304" pitchFamily="18" charset="0"/>
              </a:rPr>
              <a:t>= 169</a:t>
            </a:r>
          </a:p>
          <a:p>
            <a:pPr>
              <a:lnSpc>
                <a:spcPct val="90000"/>
              </a:lnSpc>
              <a:buFont typeface="Wingdings" panose="05000000000000000000" pitchFamily="2" charset="2"/>
              <a:buNone/>
            </a:pPr>
            <a:r>
              <a:rPr kumimoji="1" lang="en-US" altLang="zh-CN" sz="2400" i="1" dirty="0">
                <a:latin typeface="Times New Roman" panose="02020603050405020304" pitchFamily="18" charset="0"/>
              </a:rPr>
              <a:t>                       f </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f</a:t>
            </a:r>
            <a:r>
              <a:rPr kumimoji="1" lang="en-US" altLang="zh-CN" sz="2400" dirty="0">
                <a:latin typeface="Times New Roman" panose="02020603050405020304" pitchFamily="18" charset="0"/>
              </a:rPr>
              <a:t>(24) = 24</a:t>
            </a:r>
            <a:r>
              <a:rPr kumimoji="1" lang="en-US" altLang="zh-CN" sz="2400" baseline="30000" dirty="0">
                <a:latin typeface="Times New Roman" panose="02020603050405020304" pitchFamily="18" charset="0"/>
              </a:rPr>
              <a:t>2 </a:t>
            </a:r>
            <a:r>
              <a:rPr kumimoji="1" lang="en-US" altLang="zh-CN" sz="2400" dirty="0">
                <a:latin typeface="Times New Roman" panose="02020603050405020304" pitchFamily="18" charset="0"/>
              </a:rPr>
              <a:t>= 576</a:t>
            </a:r>
          </a:p>
          <a:p>
            <a:pPr>
              <a:lnSpc>
                <a:spcPct val="90000"/>
              </a:lnSpc>
              <a:buFont typeface="Wingdings" panose="05000000000000000000" pitchFamily="2" charset="2"/>
              <a:buNone/>
            </a:pPr>
            <a:r>
              <a:rPr kumimoji="1" lang="en-US" altLang="zh-CN" sz="2400" i="1" dirty="0">
                <a:latin typeface="Times New Roman" panose="02020603050405020304" pitchFamily="18" charset="0"/>
              </a:rPr>
              <a:t>                       f </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3</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f</a:t>
            </a:r>
            <a:r>
              <a:rPr kumimoji="1" lang="en-US" altLang="zh-CN" sz="2400" dirty="0">
                <a:latin typeface="Times New Roman" panose="02020603050405020304" pitchFamily="18" charset="0"/>
              </a:rPr>
              <a:t>(8) = 8</a:t>
            </a:r>
            <a:r>
              <a:rPr kumimoji="1" lang="en-US" altLang="zh-CN" sz="2400" baseline="30000" dirty="0">
                <a:latin typeface="Times New Roman" panose="02020603050405020304" pitchFamily="18" charset="0"/>
              </a:rPr>
              <a:t>2 </a:t>
            </a:r>
            <a:r>
              <a:rPr kumimoji="1" lang="en-US" altLang="zh-CN" sz="2400" dirty="0">
                <a:latin typeface="Times New Roman" panose="02020603050405020304" pitchFamily="18" charset="0"/>
              </a:rPr>
              <a:t>= 64</a:t>
            </a:r>
          </a:p>
          <a:p>
            <a:pPr>
              <a:lnSpc>
                <a:spcPct val="90000"/>
              </a:lnSpc>
              <a:buFont typeface="Wingdings" panose="05000000000000000000" pitchFamily="2" charset="2"/>
              <a:buNone/>
            </a:pPr>
            <a:r>
              <a:rPr kumimoji="1" lang="en-US" altLang="zh-CN" sz="2400" i="1" dirty="0">
                <a:latin typeface="Times New Roman" panose="02020603050405020304" pitchFamily="18" charset="0"/>
              </a:rPr>
              <a:t>                       f </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4</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f</a:t>
            </a:r>
            <a:r>
              <a:rPr kumimoji="1" lang="en-US" altLang="zh-CN" sz="2400" dirty="0">
                <a:latin typeface="Times New Roman" panose="02020603050405020304" pitchFamily="18" charset="0"/>
              </a:rPr>
              <a:t>(19) = 19</a:t>
            </a:r>
            <a:r>
              <a:rPr kumimoji="1" lang="en-US" altLang="zh-CN" sz="2400" baseline="30000" dirty="0">
                <a:latin typeface="Times New Roman" panose="02020603050405020304" pitchFamily="18" charset="0"/>
              </a:rPr>
              <a:t>2 </a:t>
            </a:r>
            <a:r>
              <a:rPr kumimoji="1" lang="en-US" altLang="zh-CN" sz="2400" dirty="0">
                <a:latin typeface="Times New Roman" panose="02020603050405020304" pitchFamily="18" charset="0"/>
              </a:rPr>
              <a:t>= 361</a:t>
            </a:r>
            <a:endParaRPr kumimoji="1" lang="en-US" altLang="zh-CN" sz="2400" b="1" dirty="0">
              <a:latin typeface="Times New Roman" panose="02020603050405020304" pitchFamily="18" charset="0"/>
              <a:ea typeface="黑体" panose="02010609060101010101" pitchFamily="49" charset="-122"/>
            </a:endParaRPr>
          </a:p>
          <a:p>
            <a:pPr>
              <a:lnSpc>
                <a:spcPct val="90000"/>
              </a:lnSpc>
              <a:buFont typeface="Wingdings" panose="05000000000000000000" pitchFamily="2" charset="2"/>
              <a:buNone/>
            </a:pPr>
            <a:endParaRPr kumimoji="1" lang="en-US" altLang="zh-CN" sz="2400" dirty="0">
              <a:latin typeface="Times New Roman" panose="02020603050405020304" pitchFamily="18" charset="0"/>
            </a:endParaRPr>
          </a:p>
        </p:txBody>
      </p:sp>
      <p:sp>
        <p:nvSpPr>
          <p:cNvPr id="7" name="Rectangle 350">
            <a:extLst>
              <a:ext uri="{FF2B5EF4-FFF2-40B4-BE49-F238E27FC236}">
                <a16:creationId xmlns:a16="http://schemas.microsoft.com/office/drawing/2014/main" id="{453C0073-38BE-4EC7-8248-0A641D1040CD}"/>
              </a:ext>
            </a:extLst>
          </p:cNvPr>
          <p:cNvSpPr>
            <a:spLocks noChangeArrowheads="1"/>
          </p:cNvSpPr>
          <p:nvPr/>
        </p:nvSpPr>
        <p:spPr bwMode="auto">
          <a:xfrm>
            <a:off x="272480" y="3685906"/>
            <a:ext cx="6913563" cy="249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latin typeface="Arial" panose="020B0604020202020204" pitchFamily="34" charset="0"/>
              </a:rPr>
              <a:t> </a:t>
            </a:r>
            <a:r>
              <a:rPr kumimoji="1" lang="zh-CN" altLang="en-US" sz="2400" b="1" dirty="0">
                <a:latin typeface="Times New Roman" panose="02020603050405020304" pitchFamily="18" charset="0"/>
                <a:ea typeface="黑体" panose="02010609060101010101" pitchFamily="49" charset="-122"/>
              </a:rPr>
              <a:t>由此可求得</a:t>
            </a:r>
          </a:p>
          <a:p>
            <a:pPr>
              <a:lnSpc>
                <a:spcPct val="120000"/>
              </a:lnSpc>
              <a:spcBef>
                <a:spcPct val="20000"/>
              </a:spcBef>
            </a:pPr>
            <a:r>
              <a:rPr kumimoji="1" lang="en-US" altLang="zh-CN" sz="2400" i="1" dirty="0">
                <a:latin typeface="Times New Roman" panose="02020603050405020304" pitchFamily="18" charset="0"/>
              </a:rPr>
              <a:t>	P</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1</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P</a:t>
            </a:r>
            <a:r>
              <a:rPr kumimoji="1" lang="en-US" altLang="zh-CN" sz="2400" dirty="0">
                <a:latin typeface="Times New Roman" panose="02020603050405020304" pitchFamily="18" charset="0"/>
              </a:rPr>
              <a:t>(13) =169/1170 =0.14</a:t>
            </a:r>
          </a:p>
          <a:p>
            <a:pPr>
              <a:lnSpc>
                <a:spcPct val="120000"/>
              </a:lnSpc>
              <a:spcBef>
                <a:spcPct val="20000"/>
              </a:spcBef>
            </a:pPr>
            <a:r>
              <a:rPr kumimoji="1" lang="en-US" altLang="zh-CN" sz="2400" i="1" dirty="0">
                <a:latin typeface="Times New Roman" panose="02020603050405020304" pitchFamily="18" charset="0"/>
              </a:rPr>
              <a:t>	P</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2</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P</a:t>
            </a:r>
            <a:r>
              <a:rPr kumimoji="1" lang="en-US" altLang="zh-CN" sz="2400" dirty="0">
                <a:latin typeface="Times New Roman" panose="02020603050405020304" pitchFamily="18" charset="0"/>
              </a:rPr>
              <a:t>(24) =576/1170= 0.49 </a:t>
            </a:r>
          </a:p>
          <a:p>
            <a:pPr>
              <a:lnSpc>
                <a:spcPct val="120000"/>
              </a:lnSpc>
              <a:spcBef>
                <a:spcPct val="20000"/>
              </a:spcBef>
            </a:pPr>
            <a:r>
              <a:rPr kumimoji="1" lang="en-US" altLang="zh-CN" sz="2400" i="1" dirty="0">
                <a:latin typeface="Times New Roman" panose="02020603050405020304" pitchFamily="18" charset="0"/>
              </a:rPr>
              <a:t>	P</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3</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P</a:t>
            </a:r>
            <a:r>
              <a:rPr kumimoji="1" lang="en-US" altLang="zh-CN" sz="2400" dirty="0">
                <a:latin typeface="Times New Roman" panose="02020603050405020304" pitchFamily="18" charset="0"/>
              </a:rPr>
              <a:t>(8) = 64/1170=0.06</a:t>
            </a:r>
          </a:p>
          <a:p>
            <a:pPr>
              <a:lnSpc>
                <a:spcPct val="120000"/>
              </a:lnSpc>
              <a:spcBef>
                <a:spcPct val="20000"/>
              </a:spcBef>
            </a:pPr>
            <a:r>
              <a:rPr kumimoji="1" lang="en-US" altLang="zh-CN" sz="2400" i="1" dirty="0">
                <a:latin typeface="Times New Roman" panose="02020603050405020304" pitchFamily="18" charset="0"/>
              </a:rPr>
              <a:t>	P</a:t>
            </a:r>
            <a:r>
              <a:rPr kumimoji="1" lang="en-US" altLang="zh-CN" sz="2400" dirty="0">
                <a:latin typeface="Times New Roman" panose="02020603050405020304" pitchFamily="18" charset="0"/>
              </a:rPr>
              <a:t>(</a:t>
            </a:r>
            <a:r>
              <a:rPr kumimoji="1" lang="en-US" altLang="zh-CN" sz="2400" i="1" dirty="0">
                <a:latin typeface="Times New Roman" panose="02020603050405020304" pitchFamily="18" charset="0"/>
              </a:rPr>
              <a:t>s</a:t>
            </a:r>
            <a:r>
              <a:rPr kumimoji="1" lang="en-US" altLang="zh-CN" sz="2400" baseline="-25000" dirty="0">
                <a:latin typeface="Times New Roman" panose="02020603050405020304" pitchFamily="18" charset="0"/>
              </a:rPr>
              <a:t>4</a:t>
            </a:r>
            <a:r>
              <a:rPr kumimoji="1" lang="en-US" altLang="zh-CN" sz="2400" dirty="0">
                <a:latin typeface="Times New Roman" panose="02020603050405020304" pitchFamily="18" charset="0"/>
              </a:rPr>
              <a:t>) = </a:t>
            </a:r>
            <a:r>
              <a:rPr kumimoji="1" lang="en-US" altLang="zh-CN" sz="2400" i="1" dirty="0">
                <a:latin typeface="Times New Roman" panose="02020603050405020304" pitchFamily="18" charset="0"/>
              </a:rPr>
              <a:t>P</a:t>
            </a:r>
            <a:r>
              <a:rPr kumimoji="1" lang="en-US" altLang="zh-CN" sz="2400" dirty="0">
                <a:latin typeface="Times New Roman" panose="02020603050405020304" pitchFamily="18" charset="0"/>
              </a:rPr>
              <a:t>(19) =361/1170= 0.31</a:t>
            </a:r>
            <a:endParaRPr lang="en-US" altLang="zh-CN" sz="2400" dirty="0">
              <a:latin typeface="Arial" panose="020B0604020202020204" pitchFamily="34" charset="0"/>
            </a:endParaRPr>
          </a:p>
        </p:txBody>
      </p:sp>
      <p:graphicFrame>
        <p:nvGraphicFramePr>
          <p:cNvPr id="9" name="Object 348">
            <a:extLst>
              <a:ext uri="{FF2B5EF4-FFF2-40B4-BE49-F238E27FC236}">
                <a16:creationId xmlns:a16="http://schemas.microsoft.com/office/drawing/2014/main" id="{DA05E972-212C-44A3-8078-68ECA8E8735D}"/>
              </a:ext>
            </a:extLst>
          </p:cNvPr>
          <p:cNvGraphicFramePr>
            <a:graphicFrameLocks noChangeAspect="1"/>
          </p:cNvGraphicFramePr>
          <p:nvPr>
            <p:extLst>
              <p:ext uri="{D42A27DB-BD31-4B8C-83A1-F6EECF244321}">
                <p14:modId xmlns:p14="http://schemas.microsoft.com/office/powerpoint/2010/main" val="925630977"/>
              </p:ext>
            </p:extLst>
          </p:nvPr>
        </p:nvGraphicFramePr>
        <p:xfrm>
          <a:off x="7186043" y="1138113"/>
          <a:ext cx="2438400" cy="1444625"/>
        </p:xfrm>
        <a:graphic>
          <a:graphicData uri="http://schemas.openxmlformats.org/presentationml/2006/ole">
            <mc:AlternateContent xmlns:mc="http://schemas.openxmlformats.org/markup-compatibility/2006">
              <mc:Choice xmlns:v="urn:schemas-microsoft-com:vml" Requires="v">
                <p:oleObj name="Equation" r:id="rId2" imgW="1091880" imgH="647640" progId="Equation.DSMT4">
                  <p:embed/>
                </p:oleObj>
              </mc:Choice>
              <mc:Fallback>
                <p:oleObj name="Equation" r:id="rId2" imgW="1091880" imgH="647640" progId="Equation.DSMT4">
                  <p:embed/>
                  <p:pic>
                    <p:nvPicPr>
                      <p:cNvPr id="2396" name="Object 348">
                        <a:extLst>
                          <a:ext uri="{FF2B5EF4-FFF2-40B4-BE49-F238E27FC236}">
                            <a16:creationId xmlns:a16="http://schemas.microsoft.com/office/drawing/2014/main" id="{D6B7D83A-5274-44A8-BB01-CC431E4780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6043" y="1138113"/>
                        <a:ext cx="2438400"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oleObj>
              </mc:Fallback>
            </mc:AlternateContent>
          </a:graphicData>
        </a:graphic>
      </p:graphicFrame>
      <p:grpSp>
        <p:nvGrpSpPr>
          <p:cNvPr id="11" name="Group 355">
            <a:extLst>
              <a:ext uri="{FF2B5EF4-FFF2-40B4-BE49-F238E27FC236}">
                <a16:creationId xmlns:a16="http://schemas.microsoft.com/office/drawing/2014/main" id="{4CCFEBA0-0835-493E-80DC-3CAED110AA4C}"/>
              </a:ext>
            </a:extLst>
          </p:cNvPr>
          <p:cNvGrpSpPr>
            <a:grpSpLocks/>
          </p:cNvGrpSpPr>
          <p:nvPr/>
        </p:nvGrpSpPr>
        <p:grpSpPr bwMode="auto">
          <a:xfrm>
            <a:off x="5745088" y="2852564"/>
            <a:ext cx="4440237" cy="3960812"/>
            <a:chOff x="1791" y="709"/>
            <a:chExt cx="2797" cy="2495"/>
          </a:xfrm>
        </p:grpSpPr>
        <p:sp>
          <p:nvSpPr>
            <p:cNvPr id="12" name="Oval 356">
              <a:extLst>
                <a:ext uri="{FF2B5EF4-FFF2-40B4-BE49-F238E27FC236}">
                  <a16:creationId xmlns:a16="http://schemas.microsoft.com/office/drawing/2014/main" id="{6BE97CBB-B4E2-44E3-8627-9A2F9D167116}"/>
                </a:ext>
              </a:extLst>
            </p:cNvPr>
            <p:cNvSpPr>
              <a:spLocks noChangeArrowheads="1"/>
            </p:cNvSpPr>
            <p:nvPr/>
          </p:nvSpPr>
          <p:spPr bwMode="auto">
            <a:xfrm>
              <a:off x="1791" y="709"/>
              <a:ext cx="2585" cy="2495"/>
            </a:xfrm>
            <a:prstGeom prst="ellipse">
              <a:avLst/>
            </a:prstGeom>
            <a:solidFill>
              <a:srgbClr val="00E4A8"/>
            </a:solidFill>
            <a:ln w="9525" cap="flat" algn="ctr">
              <a:solidFill>
                <a:srgbClr val="000000"/>
              </a:solidFill>
              <a:prstDash val="solid"/>
              <a:round/>
              <a:headEnd type="none" w="med" len="med"/>
              <a:tailEnd type="none" w="med" len="med"/>
            </a:ln>
          </p:spPr>
          <p:txBody>
            <a:bodyPr wrap="none"/>
            <a:lstStyle/>
            <a:p>
              <a:endParaRPr lang="zh-CN" altLang="en-US"/>
            </a:p>
          </p:txBody>
        </p:sp>
        <p:sp>
          <p:nvSpPr>
            <p:cNvPr id="13" name="Oval 357">
              <a:extLst>
                <a:ext uri="{FF2B5EF4-FFF2-40B4-BE49-F238E27FC236}">
                  <a16:creationId xmlns:a16="http://schemas.microsoft.com/office/drawing/2014/main" id="{DC081786-8F56-4C08-8B43-876972D0280B}"/>
                </a:ext>
              </a:extLst>
            </p:cNvPr>
            <p:cNvSpPr>
              <a:spLocks noChangeArrowheads="1"/>
            </p:cNvSpPr>
            <p:nvPr/>
          </p:nvSpPr>
          <p:spPr bwMode="auto">
            <a:xfrm>
              <a:off x="2221" y="1143"/>
              <a:ext cx="1720" cy="1694"/>
            </a:xfrm>
            <a:prstGeom prst="ellipse">
              <a:avLst/>
            </a:prstGeom>
            <a:noFill/>
            <a:ln w="9525" cap="flat" algn="ctr">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 name="Line 358">
              <a:extLst>
                <a:ext uri="{FF2B5EF4-FFF2-40B4-BE49-F238E27FC236}">
                  <a16:creationId xmlns:a16="http://schemas.microsoft.com/office/drawing/2014/main" id="{B5EF1596-17BF-4DAF-9AE9-5658D968A0DB}"/>
                </a:ext>
              </a:extLst>
            </p:cNvPr>
            <p:cNvSpPr>
              <a:spLocks noChangeShapeType="1"/>
            </p:cNvSpPr>
            <p:nvPr/>
          </p:nvSpPr>
          <p:spPr bwMode="auto">
            <a:xfrm rot="21000000" flipV="1">
              <a:off x="3027" y="1423"/>
              <a:ext cx="695" cy="52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359">
              <a:extLst>
                <a:ext uri="{FF2B5EF4-FFF2-40B4-BE49-F238E27FC236}">
                  <a16:creationId xmlns:a16="http://schemas.microsoft.com/office/drawing/2014/main" id="{9ECE63AC-4370-482E-A7E4-227F30148DBC}"/>
                </a:ext>
              </a:extLst>
            </p:cNvPr>
            <p:cNvSpPr>
              <a:spLocks noChangeShapeType="1"/>
            </p:cNvSpPr>
            <p:nvPr/>
          </p:nvSpPr>
          <p:spPr bwMode="auto">
            <a:xfrm rot="4920000" flipH="1">
              <a:off x="2444" y="1464"/>
              <a:ext cx="487" cy="714"/>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360">
              <a:extLst>
                <a:ext uri="{FF2B5EF4-FFF2-40B4-BE49-F238E27FC236}">
                  <a16:creationId xmlns:a16="http://schemas.microsoft.com/office/drawing/2014/main" id="{84E6A85B-3681-4AE4-AF48-87AB59855416}"/>
                </a:ext>
              </a:extLst>
            </p:cNvPr>
            <p:cNvSpPr>
              <a:spLocks noChangeShapeType="1"/>
            </p:cNvSpPr>
            <p:nvPr/>
          </p:nvSpPr>
          <p:spPr bwMode="auto">
            <a:xfrm rot="10920000" flipV="1">
              <a:off x="2219" y="1988"/>
              <a:ext cx="867" cy="12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Rectangle 361">
              <a:extLst>
                <a:ext uri="{FF2B5EF4-FFF2-40B4-BE49-F238E27FC236}">
                  <a16:creationId xmlns:a16="http://schemas.microsoft.com/office/drawing/2014/main" id="{49DC0A4A-56C1-4370-857E-FE7F469DE747}"/>
                </a:ext>
              </a:extLst>
            </p:cNvPr>
            <p:cNvSpPr>
              <a:spLocks noChangeArrowheads="1"/>
            </p:cNvSpPr>
            <p:nvPr/>
          </p:nvSpPr>
          <p:spPr bwMode="auto">
            <a:xfrm>
              <a:off x="2947" y="1253"/>
              <a:ext cx="469" cy="400"/>
            </a:xfrm>
            <a:prstGeom prst="rect">
              <a:avLst/>
            </a:prstGeom>
            <a:solidFill>
              <a:srgbClr val="00E4A8"/>
            </a:solidFill>
            <a:ln w="9525" cap="flat" algn="ctr">
              <a:noFill/>
              <a:prstDash val="solid"/>
              <a:miter lim="800000"/>
              <a:headEnd type="none" w="med" len="med"/>
              <a:tailEnd type="none" w="med" len="med"/>
            </a:ln>
          </p:spPr>
          <p:txBody>
            <a:bodyPr lIns="0" tIns="0" rIns="0" bIns="0"/>
            <a:lstStyle/>
            <a:p>
              <a:pPr algn="just"/>
              <a:r>
                <a:rPr lang="en-US" altLang="zh-CN" sz="2000" b="1" i="1" dirty="0">
                  <a:solidFill>
                    <a:srgbClr val="FF0000"/>
                  </a:solidFill>
                  <a:latin typeface="Times New Roman" panose="02020603050405020304" pitchFamily="18" charset="0"/>
                </a:rPr>
                <a:t>s</a:t>
              </a:r>
              <a:r>
                <a:rPr lang="en-US" altLang="zh-CN" sz="2000" b="1" baseline="-25000" dirty="0">
                  <a:solidFill>
                    <a:srgbClr val="FF0000"/>
                  </a:solidFill>
                  <a:latin typeface="Times New Roman" panose="02020603050405020304" pitchFamily="18" charset="0"/>
                </a:rPr>
                <a:t>4</a:t>
              </a:r>
              <a:endParaRPr lang="en-US" altLang="zh-CN" sz="2000" b="1" dirty="0">
                <a:solidFill>
                  <a:srgbClr val="FF0000"/>
                </a:solidFill>
                <a:latin typeface="Times New Roman" panose="02020603050405020304" pitchFamily="18" charset="0"/>
              </a:endParaRPr>
            </a:p>
            <a:p>
              <a:pPr algn="just"/>
              <a:r>
                <a:rPr lang="en-US" altLang="zh-CN" sz="2000" b="1" dirty="0">
                  <a:solidFill>
                    <a:srgbClr val="FF0000"/>
                  </a:solidFill>
                  <a:latin typeface="Times New Roman" panose="02020603050405020304" pitchFamily="18" charset="0"/>
                </a:rPr>
                <a:t>0.31</a:t>
              </a:r>
              <a:endParaRPr lang="en-US" altLang="zh-CN" sz="2000" b="1" dirty="0">
                <a:solidFill>
                  <a:srgbClr val="FF0000"/>
                </a:solidFill>
                <a:latin typeface="Arial" panose="020B0604020202020204" pitchFamily="34" charset="0"/>
              </a:endParaRPr>
            </a:p>
          </p:txBody>
        </p:sp>
        <p:sp>
          <p:nvSpPr>
            <p:cNvPr id="18" name="Rectangle 362">
              <a:extLst>
                <a:ext uri="{FF2B5EF4-FFF2-40B4-BE49-F238E27FC236}">
                  <a16:creationId xmlns:a16="http://schemas.microsoft.com/office/drawing/2014/main" id="{9668D82B-13AA-43D9-96CD-E038EF9CD52F}"/>
                </a:ext>
              </a:extLst>
            </p:cNvPr>
            <p:cNvSpPr>
              <a:spLocks noChangeArrowheads="1"/>
            </p:cNvSpPr>
            <p:nvPr/>
          </p:nvSpPr>
          <p:spPr bwMode="auto">
            <a:xfrm>
              <a:off x="2947" y="2160"/>
              <a:ext cx="473" cy="378"/>
            </a:xfrm>
            <a:prstGeom prst="rect">
              <a:avLst/>
            </a:prstGeom>
            <a:solidFill>
              <a:srgbClr val="00E4A8"/>
            </a:solidFill>
            <a:ln w="9525" cap="flat" algn="ctr">
              <a:noFill/>
              <a:prstDash val="solid"/>
              <a:miter lim="800000"/>
              <a:headEnd type="none" w="med" len="med"/>
              <a:tailEnd type="none" w="med" len="med"/>
            </a:ln>
          </p:spPr>
          <p:txBody>
            <a:bodyPr lIns="0" tIns="0" rIns="0" bIns="0"/>
            <a:lstStyle/>
            <a:p>
              <a:pPr algn="just"/>
              <a:r>
                <a:rPr lang="en-US" altLang="zh-CN" sz="2000" b="1" i="1" dirty="0">
                  <a:solidFill>
                    <a:srgbClr val="FF0000"/>
                  </a:solidFill>
                  <a:latin typeface="Times New Roman" panose="02020603050405020304" pitchFamily="18" charset="0"/>
                </a:rPr>
                <a:t>s</a:t>
              </a:r>
              <a:r>
                <a:rPr lang="en-US" altLang="zh-CN" sz="2000" b="1" baseline="-25000" dirty="0">
                  <a:solidFill>
                    <a:srgbClr val="FF0000"/>
                  </a:solidFill>
                  <a:latin typeface="Times New Roman" panose="02020603050405020304" pitchFamily="18" charset="0"/>
                </a:rPr>
                <a:t>2</a:t>
              </a:r>
              <a:endParaRPr lang="en-US" altLang="zh-CN" sz="2000" b="1" dirty="0">
                <a:solidFill>
                  <a:srgbClr val="FF0000"/>
                </a:solidFill>
                <a:latin typeface="Times New Roman" panose="02020603050405020304" pitchFamily="18" charset="0"/>
              </a:endParaRPr>
            </a:p>
            <a:p>
              <a:pPr algn="just"/>
              <a:r>
                <a:rPr lang="en-US" altLang="zh-CN" sz="2000" b="1" dirty="0">
                  <a:solidFill>
                    <a:srgbClr val="FF0000"/>
                  </a:solidFill>
                  <a:latin typeface="Times New Roman" panose="02020603050405020304" pitchFamily="18" charset="0"/>
                </a:rPr>
                <a:t>0.49</a:t>
              </a:r>
              <a:endParaRPr lang="en-US" altLang="zh-CN" sz="2000" b="1" dirty="0">
                <a:solidFill>
                  <a:srgbClr val="FF0000"/>
                </a:solidFill>
                <a:latin typeface="Arial" panose="020B0604020202020204" pitchFamily="34" charset="0"/>
              </a:endParaRPr>
            </a:p>
          </p:txBody>
        </p:sp>
        <p:sp>
          <p:nvSpPr>
            <p:cNvPr id="19" name="Rectangle 363">
              <a:extLst>
                <a:ext uri="{FF2B5EF4-FFF2-40B4-BE49-F238E27FC236}">
                  <a16:creationId xmlns:a16="http://schemas.microsoft.com/office/drawing/2014/main" id="{B8D5F3A4-B7BC-44B1-BD1F-90D8983A4F14}"/>
                </a:ext>
              </a:extLst>
            </p:cNvPr>
            <p:cNvSpPr>
              <a:spLocks noChangeArrowheads="1"/>
            </p:cNvSpPr>
            <p:nvPr/>
          </p:nvSpPr>
          <p:spPr bwMode="auto">
            <a:xfrm>
              <a:off x="3482" y="1631"/>
              <a:ext cx="360" cy="339"/>
            </a:xfrm>
            <a:prstGeom prst="rect">
              <a:avLst/>
            </a:prstGeom>
            <a:solidFill>
              <a:srgbClr val="00E4A8"/>
            </a:solidFill>
            <a:ln w="9525" cap="flat" algn="ctr">
              <a:noFill/>
              <a:prstDash val="solid"/>
              <a:miter lim="800000"/>
              <a:headEnd type="none" w="med" len="med"/>
              <a:tailEnd type="none" w="med" len="med"/>
            </a:ln>
          </p:spPr>
          <p:txBody>
            <a:bodyPr lIns="0" tIns="0" rIns="0" bIns="0"/>
            <a:lstStyle/>
            <a:p>
              <a:pPr algn="just"/>
              <a:r>
                <a:rPr lang="en-US" altLang="zh-CN" sz="2000" b="1" i="1" dirty="0">
                  <a:solidFill>
                    <a:srgbClr val="FF0000"/>
                  </a:solidFill>
                  <a:latin typeface="Times New Roman" panose="02020603050405020304" pitchFamily="18" charset="0"/>
                </a:rPr>
                <a:t>s</a:t>
              </a:r>
              <a:r>
                <a:rPr lang="en-US" altLang="zh-CN" sz="2000" b="1" baseline="-25000" dirty="0">
                  <a:solidFill>
                    <a:srgbClr val="FF0000"/>
                  </a:solidFill>
                  <a:latin typeface="Times New Roman" panose="02020603050405020304" pitchFamily="18" charset="0"/>
                </a:rPr>
                <a:t>1</a:t>
              </a:r>
              <a:endParaRPr lang="en-US" altLang="zh-CN" sz="2000" b="1" dirty="0">
                <a:solidFill>
                  <a:srgbClr val="FF0000"/>
                </a:solidFill>
                <a:latin typeface="Times New Roman" panose="02020603050405020304" pitchFamily="18" charset="0"/>
              </a:endParaRPr>
            </a:p>
            <a:p>
              <a:pPr algn="just"/>
              <a:r>
                <a:rPr lang="en-US" altLang="zh-CN" sz="2000" b="1" dirty="0">
                  <a:solidFill>
                    <a:srgbClr val="FF0000"/>
                  </a:solidFill>
                  <a:latin typeface="Times New Roman" panose="02020603050405020304" pitchFamily="18" charset="0"/>
                </a:rPr>
                <a:t>0.14</a:t>
              </a:r>
              <a:endParaRPr lang="en-US" altLang="zh-CN" sz="2000" b="1" dirty="0">
                <a:solidFill>
                  <a:srgbClr val="FF0000"/>
                </a:solidFill>
                <a:latin typeface="Arial" panose="020B0604020202020204" pitchFamily="34" charset="0"/>
              </a:endParaRPr>
            </a:p>
          </p:txBody>
        </p:sp>
        <p:sp>
          <p:nvSpPr>
            <p:cNvPr id="20" name="Line 364">
              <a:extLst>
                <a:ext uri="{FF2B5EF4-FFF2-40B4-BE49-F238E27FC236}">
                  <a16:creationId xmlns:a16="http://schemas.microsoft.com/office/drawing/2014/main" id="{AE0C90BA-2559-46B1-A58E-DFAAB5326899}"/>
                </a:ext>
              </a:extLst>
            </p:cNvPr>
            <p:cNvSpPr>
              <a:spLocks noChangeShapeType="1"/>
            </p:cNvSpPr>
            <p:nvPr/>
          </p:nvSpPr>
          <p:spPr bwMode="auto">
            <a:xfrm>
              <a:off x="3080" y="2004"/>
              <a:ext cx="852" cy="3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AutoShape 365">
              <a:extLst>
                <a:ext uri="{FF2B5EF4-FFF2-40B4-BE49-F238E27FC236}">
                  <a16:creationId xmlns:a16="http://schemas.microsoft.com/office/drawing/2014/main" id="{DC47EB5C-2B91-41BC-8F25-A435065FA6E5}"/>
                </a:ext>
              </a:extLst>
            </p:cNvPr>
            <p:cNvSpPr>
              <a:spLocks noChangeArrowheads="1"/>
            </p:cNvSpPr>
            <p:nvPr/>
          </p:nvSpPr>
          <p:spPr bwMode="auto">
            <a:xfrm>
              <a:off x="3042" y="709"/>
              <a:ext cx="156" cy="400"/>
            </a:xfrm>
            <a:prstGeom prst="downArrow">
              <a:avLst>
                <a:gd name="adj1" fmla="val 50000"/>
                <a:gd name="adj2" fmla="val 64103"/>
              </a:avLst>
            </a:prstGeom>
            <a:noFill/>
            <a:ln w="9525" cap="flat" algn="ctr">
              <a:solidFill>
                <a:srgbClr val="000000"/>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 name="Line 366">
              <a:extLst>
                <a:ext uri="{FF2B5EF4-FFF2-40B4-BE49-F238E27FC236}">
                  <a16:creationId xmlns:a16="http://schemas.microsoft.com/office/drawing/2014/main" id="{7704DC04-EA25-4C54-96C3-B3065AABB6CA}"/>
                </a:ext>
              </a:extLst>
            </p:cNvPr>
            <p:cNvSpPr>
              <a:spLocks noChangeShapeType="1"/>
            </p:cNvSpPr>
            <p:nvPr/>
          </p:nvSpPr>
          <p:spPr bwMode="auto">
            <a:xfrm rot="18000000" flipH="1">
              <a:off x="4272" y="1924"/>
              <a:ext cx="398" cy="23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cap="flat" algn="ctr">
                  <a:solidFill>
                    <a:srgbClr val="000000"/>
                  </a:solidFill>
                  <a:prstDash val="solid"/>
                  <a:round/>
                  <a:headEnd type="none" w="med" len="med"/>
                  <a:tailEnd type="triangl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Rectangle 367">
              <a:extLst>
                <a:ext uri="{FF2B5EF4-FFF2-40B4-BE49-F238E27FC236}">
                  <a16:creationId xmlns:a16="http://schemas.microsoft.com/office/drawing/2014/main" id="{2222A4AC-63A1-4F3A-BD07-637856F5E442}"/>
                </a:ext>
              </a:extLst>
            </p:cNvPr>
            <p:cNvSpPr>
              <a:spLocks noChangeArrowheads="1"/>
            </p:cNvSpPr>
            <p:nvPr/>
          </p:nvSpPr>
          <p:spPr bwMode="auto">
            <a:xfrm>
              <a:off x="2245" y="1837"/>
              <a:ext cx="385" cy="164"/>
            </a:xfrm>
            <a:prstGeom prst="rect">
              <a:avLst/>
            </a:prstGeom>
            <a:solidFill>
              <a:srgbClr val="00E4A8"/>
            </a:solidFill>
            <a:ln w="9525" cap="flat" algn="ctr">
              <a:noFill/>
              <a:prstDash val="solid"/>
              <a:miter lim="800000"/>
              <a:headEnd type="none" w="med" len="med"/>
              <a:tailEnd type="none" w="med" len="med"/>
            </a:ln>
          </p:spPr>
          <p:txBody>
            <a:bodyPr lIns="0" tIns="0" rIns="0" bIns="0" anchor="ctr"/>
            <a:lstStyle/>
            <a:p>
              <a:pPr algn="just">
                <a:lnSpc>
                  <a:spcPct val="50000"/>
                </a:lnSpc>
              </a:pPr>
              <a:r>
                <a:rPr lang="en-US" altLang="zh-CN" b="1" i="1" dirty="0">
                  <a:solidFill>
                    <a:srgbClr val="FF0000"/>
                  </a:solidFill>
                  <a:latin typeface="Times New Roman" panose="02020603050405020304" pitchFamily="18" charset="0"/>
                </a:rPr>
                <a:t>s</a:t>
              </a:r>
              <a:r>
                <a:rPr lang="en-US" altLang="zh-CN" b="1" baseline="-25000" dirty="0">
                  <a:solidFill>
                    <a:srgbClr val="FF0000"/>
                  </a:solidFill>
                  <a:latin typeface="Times New Roman" panose="02020603050405020304" pitchFamily="18" charset="0"/>
                </a:rPr>
                <a:t>3</a:t>
              </a:r>
              <a:r>
                <a:rPr lang="en-US" altLang="zh-CN" b="1" dirty="0">
                  <a:solidFill>
                    <a:srgbClr val="FF0000"/>
                  </a:solidFill>
                  <a:latin typeface="Times New Roman" panose="02020603050405020304" pitchFamily="18" charset="0"/>
                </a:rPr>
                <a:t>0.0</a:t>
              </a:r>
              <a:r>
                <a:rPr lang="en-US" altLang="zh-CN" sz="2000" b="1" dirty="0">
                  <a:solidFill>
                    <a:srgbClr val="FF0000"/>
                  </a:solidFill>
                  <a:latin typeface="Times New Roman" panose="02020603050405020304" pitchFamily="18" charset="0"/>
                </a:rPr>
                <a:t>6</a:t>
              </a:r>
              <a:endParaRPr lang="en-US" altLang="zh-CN" sz="2000" b="1" dirty="0">
                <a:solidFill>
                  <a:srgbClr val="FF0000"/>
                </a:solidFill>
                <a:latin typeface="Arial" panose="020B0604020202020204" pitchFamily="34" charset="0"/>
              </a:endParaRPr>
            </a:p>
          </p:txBody>
        </p:sp>
      </p:grpSp>
    </p:spTree>
    <p:extLst>
      <p:ext uri="{BB962C8B-B14F-4D97-AF65-F5344CB8AC3E}">
        <p14:creationId xmlns:p14="http://schemas.microsoft.com/office/powerpoint/2010/main" val="148860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additive="base">
                                        <p:cTn id="6" dur="1" fill="hold">
                                          <p:stCondLst>
                                            <p:cond delay="0"/>
                                          </p:stCondLst>
                                        </p:cTn>
                                        <p:tgtEl>
                                          <p:spTgt spid="6">
                                            <p:txEl>
                                              <p:pRg st="1" end="1"/>
                                            </p:txEl>
                                          </p:spTgt>
                                        </p:tgtEl>
                                        <p:attrNameLst>
                                          <p:attrName>style.visibility</p:attrName>
                                        </p:attrNameLst>
                                      </p:cBhvr>
                                      <p:to>
                                        <p:strVal val="visible"/>
                                      </p:to>
                                    </p:set>
                                    <p:animEffect transition="in" filter="blinds(horizontal)">
                                      <p:cBhvr additive="base">
                                        <p:cTn id="7" dur="500"/>
                                        <p:tgtEl>
                                          <p:spTgt spid="6">
                                            <p:txEl>
                                              <p:pRg st="1" end="1"/>
                                            </p:txEl>
                                          </p:spTgt>
                                        </p:tgtEl>
                                      </p:cBhvr>
                                    </p:animEffect>
                                  </p:childTnLst>
                                </p:cTn>
                              </p:par>
                              <p:par>
                                <p:cTn id="8" presetID="3" presetClass="entr" presetSubtype="10" fill="hold" nodeType="withEffect">
                                  <p:stCondLst>
                                    <p:cond delay="0"/>
                                  </p:stCondLst>
                                  <p:childTnLst>
                                    <p:set>
                                      <p:cBhvr additive="base">
                                        <p:cTn id="9" dur="1" fill="hold">
                                          <p:stCondLst>
                                            <p:cond delay="0"/>
                                          </p:stCondLst>
                                        </p:cTn>
                                        <p:tgtEl>
                                          <p:spTgt spid="6">
                                            <p:txEl>
                                              <p:pRg st="2" end="2"/>
                                            </p:txEl>
                                          </p:spTgt>
                                        </p:tgtEl>
                                        <p:attrNameLst>
                                          <p:attrName>style.visibility</p:attrName>
                                        </p:attrNameLst>
                                      </p:cBhvr>
                                      <p:to>
                                        <p:strVal val="visible"/>
                                      </p:to>
                                    </p:set>
                                    <p:animEffect transition="in" filter="blinds(horizontal)">
                                      <p:cBhvr additive="base">
                                        <p:cTn id="10" dur="500"/>
                                        <p:tgtEl>
                                          <p:spTgt spid="6">
                                            <p:txEl>
                                              <p:pRg st="2" end="2"/>
                                            </p:txEl>
                                          </p:spTgt>
                                        </p:tgtEl>
                                      </p:cBhvr>
                                    </p:animEffect>
                                  </p:childTnLst>
                                </p:cTn>
                              </p:par>
                              <p:par>
                                <p:cTn id="11" presetID="3" presetClass="entr" presetSubtype="10" fill="hold" nodeType="withEffect">
                                  <p:stCondLst>
                                    <p:cond delay="0"/>
                                  </p:stCondLst>
                                  <p:childTnLst>
                                    <p:set>
                                      <p:cBhvr additive="base">
                                        <p:cTn id="12" dur="1" fill="hold">
                                          <p:stCondLst>
                                            <p:cond delay="0"/>
                                          </p:stCondLst>
                                        </p:cTn>
                                        <p:tgtEl>
                                          <p:spTgt spid="6">
                                            <p:txEl>
                                              <p:pRg st="6" end="6"/>
                                            </p:txEl>
                                          </p:spTgt>
                                        </p:tgtEl>
                                        <p:attrNameLst>
                                          <p:attrName>style.visibility</p:attrName>
                                        </p:attrNameLst>
                                      </p:cBhvr>
                                      <p:to>
                                        <p:strVal val="visible"/>
                                      </p:to>
                                    </p:set>
                                    <p:animEffect transition="in" filter="blinds(horizontal)">
                                      <p:cBhvr additive="base">
                                        <p:cTn id="13" dur="500"/>
                                        <p:tgtEl>
                                          <p:spTgt spid="6">
                                            <p:txEl>
                                              <p:pRg st="6" end="6"/>
                                            </p:txEl>
                                          </p:spTgt>
                                        </p:tgtEl>
                                      </p:cBhvr>
                                    </p:animEffect>
                                  </p:childTnLst>
                                </p:cTn>
                              </p:par>
                              <p:par>
                                <p:cTn id="14" presetID="3" presetClass="entr" presetSubtype="10" fill="hold" nodeType="withEffect">
                                  <p:stCondLst>
                                    <p:cond delay="0"/>
                                  </p:stCondLst>
                                  <p:childTnLst>
                                    <p:set>
                                      <p:cBhvr additive="base">
                                        <p:cTn id="15" dur="1" fill="hold">
                                          <p:stCondLst>
                                            <p:cond delay="0"/>
                                          </p:stCondLst>
                                        </p:cTn>
                                        <p:tgtEl>
                                          <p:spTgt spid="6">
                                            <p:txEl>
                                              <p:pRg st="3" end="3"/>
                                            </p:txEl>
                                          </p:spTgt>
                                        </p:tgtEl>
                                        <p:attrNameLst>
                                          <p:attrName>style.visibility</p:attrName>
                                        </p:attrNameLst>
                                      </p:cBhvr>
                                      <p:to>
                                        <p:strVal val="visible"/>
                                      </p:to>
                                    </p:set>
                                    <p:animEffect transition="in" filter="blinds(horizontal)">
                                      <p:cBhvr additive="base">
                                        <p:cTn id="16" dur="500"/>
                                        <p:tgtEl>
                                          <p:spTgt spid="6">
                                            <p:txEl>
                                              <p:pRg st="3" end="3"/>
                                            </p:txEl>
                                          </p:spTgt>
                                        </p:tgtEl>
                                      </p:cBhvr>
                                    </p:animEffect>
                                  </p:childTnLst>
                                </p:cTn>
                              </p:par>
                              <p:par>
                                <p:cTn id="17" presetID="3" presetClass="entr" presetSubtype="10" fill="hold" nodeType="withEffect">
                                  <p:stCondLst>
                                    <p:cond delay="0"/>
                                  </p:stCondLst>
                                  <p:childTnLst>
                                    <p:set>
                                      <p:cBhvr additive="base">
                                        <p:cTn id="18" dur="1" fill="hold">
                                          <p:stCondLst>
                                            <p:cond delay="0"/>
                                          </p:stCondLst>
                                        </p:cTn>
                                        <p:tgtEl>
                                          <p:spTgt spid="6">
                                            <p:txEl>
                                              <p:pRg st="4" end="4"/>
                                            </p:txEl>
                                          </p:spTgt>
                                        </p:tgtEl>
                                        <p:attrNameLst>
                                          <p:attrName>style.visibility</p:attrName>
                                        </p:attrNameLst>
                                      </p:cBhvr>
                                      <p:to>
                                        <p:strVal val="visible"/>
                                      </p:to>
                                    </p:set>
                                    <p:animEffect transition="in" filter="blinds(horizontal)">
                                      <p:cBhvr additive="base">
                                        <p:cTn id="19" dur="500"/>
                                        <p:tgtEl>
                                          <p:spTgt spid="6">
                                            <p:txEl>
                                              <p:pRg st="4" end="4"/>
                                            </p:txEl>
                                          </p:spTgt>
                                        </p:tgtEl>
                                      </p:cBhvr>
                                    </p:animEffect>
                                  </p:childTnLst>
                                </p:cTn>
                              </p:par>
                              <p:par>
                                <p:cTn id="20" presetID="3" presetClass="entr" presetSubtype="10" fill="hold" nodeType="withEffect">
                                  <p:stCondLst>
                                    <p:cond delay="0"/>
                                  </p:stCondLst>
                                  <p:childTnLst>
                                    <p:set>
                                      <p:cBhvr additive="base">
                                        <p:cTn id="21" dur="1" fill="hold">
                                          <p:stCondLst>
                                            <p:cond delay="0"/>
                                          </p:stCondLst>
                                        </p:cTn>
                                        <p:tgtEl>
                                          <p:spTgt spid="6">
                                            <p:txEl>
                                              <p:pRg st="5" end="5"/>
                                            </p:txEl>
                                          </p:spTgt>
                                        </p:tgtEl>
                                        <p:attrNameLst>
                                          <p:attrName>style.visibility</p:attrName>
                                        </p:attrNameLst>
                                      </p:cBhvr>
                                      <p:to>
                                        <p:strVal val="visible"/>
                                      </p:to>
                                    </p:set>
                                    <p:animEffect transition="in" filter="blinds(horizontal)">
                                      <p:cBhvr additive="base">
                                        <p:cTn id="22" dur="500"/>
                                        <p:tgtEl>
                                          <p:spTgt spid="6">
                                            <p:txEl>
                                              <p:pRg st="5" end="5"/>
                                            </p:txEl>
                                          </p:spTgt>
                                        </p:tgtEl>
                                      </p:cBhvr>
                                    </p:animEffect>
                                  </p:childTnLst>
                                </p:cTn>
                              </p:par>
                            </p:childTnLst>
                          </p:cTn>
                        </p:par>
                        <p:par>
                          <p:cTn id="23" fill="hold">
                            <p:stCondLst>
                              <p:cond delay="500"/>
                            </p:stCondLst>
                            <p:childTnLst>
                              <p:par>
                                <p:cTn id="24" presetID="22" presetClass="entr" presetSubtype="4"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down)">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childTnLst>
                                    <p:set>
                                      <p:cBhvr additive="base">
                                        <p:cTn id="30" dur="1" fill="hold">
                                          <p:stCondLst>
                                            <p:cond delay="0"/>
                                          </p:stCondLst>
                                        </p:cTn>
                                        <p:tgtEl>
                                          <p:spTgt spid="7"/>
                                        </p:tgtEl>
                                        <p:attrNameLst>
                                          <p:attrName>style.visibility</p:attrName>
                                        </p:attrNameLst>
                                      </p:cBhvr>
                                      <p:to>
                                        <p:strVal val="visible"/>
                                      </p:to>
                                    </p:set>
                                    <p:animEffect transition="in" filter="blinds(horizontal)">
                                      <p:cBhvr additive="base">
                                        <p:cTn id="31" dur="500"/>
                                        <p:tgtEl>
                                          <p:spTgt spid="7"/>
                                        </p:tgtEl>
                                      </p:cBhvr>
                                    </p:animEffect>
                                  </p:childTnLst>
                                </p:cTn>
                              </p:par>
                              <p:par>
                                <p:cTn id="32" presetID="22" presetClass="entr" presetSubtype="4"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down)">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19</a:t>
            </a:fld>
            <a:endParaRPr lang="en-US" altLang="zh-CN" dirty="0"/>
          </a:p>
        </p:txBody>
      </p:sp>
      <p:sp>
        <p:nvSpPr>
          <p:cNvPr id="6" name="Rectangle 334">
            <a:extLst>
              <a:ext uri="{FF2B5EF4-FFF2-40B4-BE49-F238E27FC236}">
                <a16:creationId xmlns:a16="http://schemas.microsoft.com/office/drawing/2014/main" id="{B7BE5966-0895-4D7C-ACD6-83070C3651BB}"/>
              </a:ext>
            </a:extLst>
          </p:cNvPr>
          <p:cNvSpPr>
            <a:spLocks noChangeArrowheads="1"/>
          </p:cNvSpPr>
          <p:nvPr/>
        </p:nvSpPr>
        <p:spPr bwMode="auto">
          <a:xfrm>
            <a:off x="120223" y="1196752"/>
            <a:ext cx="96573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 typeface="Wingdings" panose="05000000000000000000" pitchFamily="2" charset="2"/>
              <a:buNone/>
            </a:pPr>
            <a:r>
              <a:rPr kumimoji="1" lang="en-US" altLang="zh-CN" sz="2400" b="1" dirty="0">
                <a:latin typeface="Times New Roman" panose="02020603050405020304" pitchFamily="18" charset="0"/>
                <a:ea typeface="黑体" panose="02010609060101010101" pitchFamily="49" charset="-122"/>
              </a:rPr>
              <a:t>3.3 </a:t>
            </a:r>
            <a:r>
              <a:rPr kumimoji="1" lang="zh-CN" altLang="en-US" sz="2400" b="1" dirty="0">
                <a:latin typeface="Times New Roman" panose="02020603050405020304" pitchFamily="18" charset="0"/>
                <a:ea typeface="黑体" panose="02010609060101010101" pitchFamily="49" charset="-122"/>
              </a:rPr>
              <a:t>选择</a:t>
            </a:r>
            <a:r>
              <a:rPr kumimoji="1" lang="en-US" altLang="zh-CN" sz="2400" b="1" dirty="0">
                <a:latin typeface="Times New Roman" panose="02020603050405020304" pitchFamily="18" charset="0"/>
                <a:ea typeface="黑体" panose="02010609060101010101" pitchFamily="49" charset="-122"/>
              </a:rPr>
              <a:t>-</a:t>
            </a:r>
            <a:r>
              <a:rPr kumimoji="1" lang="zh-CN" altLang="en-US" sz="2400" b="1" dirty="0">
                <a:latin typeface="Times New Roman" panose="02020603050405020304" pitchFamily="18" charset="0"/>
                <a:ea typeface="黑体" panose="02010609060101010101" pitchFamily="49" charset="-122"/>
              </a:rPr>
              <a:t>复制</a:t>
            </a:r>
            <a:r>
              <a:rPr kumimoji="1" lang="zh-CN" altLang="en-US" sz="2400" i="1" dirty="0"/>
              <a:t>              </a:t>
            </a:r>
            <a:r>
              <a:rPr kumimoji="1" lang="en-US" altLang="zh-CN" sz="2400" i="1" dirty="0"/>
              <a:t>	</a:t>
            </a:r>
            <a:endParaRPr kumimoji="1" lang="en-US" altLang="zh-CN" sz="2400" dirty="0">
              <a:latin typeface="Times New Roman" panose="02020603050405020304" pitchFamily="18" charset="0"/>
            </a:endParaRPr>
          </a:p>
        </p:txBody>
      </p:sp>
      <p:sp>
        <p:nvSpPr>
          <p:cNvPr id="8" name="Rectangle 371">
            <a:extLst>
              <a:ext uri="{FF2B5EF4-FFF2-40B4-BE49-F238E27FC236}">
                <a16:creationId xmlns:a16="http://schemas.microsoft.com/office/drawing/2014/main" id="{0FD32E75-358B-4EC4-8711-18BDD2DE9B87}"/>
              </a:ext>
            </a:extLst>
          </p:cNvPr>
          <p:cNvSpPr>
            <a:spLocks noChangeArrowheads="1"/>
          </p:cNvSpPr>
          <p:nvPr/>
        </p:nvSpPr>
        <p:spPr bwMode="auto">
          <a:xfrm>
            <a:off x="578024" y="1859006"/>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dirty="0">
                <a:latin typeface="黑体" panose="02010609060101010101" pitchFamily="49" charset="-122"/>
                <a:ea typeface="黑体" panose="02010609060101010101" pitchFamily="49" charset="-122"/>
              </a:rPr>
              <a:t>选择</a:t>
            </a:r>
            <a:r>
              <a:rPr kumimoji="1" lang="en-US" altLang="zh-CN" sz="2800" dirty="0">
                <a:latin typeface="黑体" panose="02010609060101010101" pitchFamily="49" charset="-122"/>
                <a:ea typeface="黑体" panose="02010609060101010101" pitchFamily="49" charset="-122"/>
              </a:rPr>
              <a:t>-</a:t>
            </a:r>
            <a:r>
              <a:rPr kumimoji="1" lang="zh-CN" altLang="en-US" sz="2800" dirty="0">
                <a:latin typeface="黑体" panose="02010609060101010101" pitchFamily="49" charset="-122"/>
                <a:ea typeface="黑体" panose="02010609060101010101" pitchFamily="49" charset="-122"/>
              </a:rPr>
              <a:t>复制</a:t>
            </a:r>
            <a:r>
              <a:rPr kumimoji="1" lang="zh-CN" altLang="en-US" sz="2800" dirty="0">
                <a:latin typeface="Times New Roman" panose="02020603050405020304" pitchFamily="18" charset="0"/>
              </a:rPr>
              <a:t> 　</a:t>
            </a:r>
            <a:endParaRPr kumimoji="1" lang="zh-CN" altLang="en-US" sz="2400" dirty="0">
              <a:latin typeface="Times New Roman" panose="02020603050405020304" pitchFamily="18" charset="0"/>
            </a:endParaRPr>
          </a:p>
        </p:txBody>
      </p:sp>
      <p:graphicFrame>
        <p:nvGraphicFramePr>
          <p:cNvPr id="10" name="Group 372">
            <a:extLst>
              <a:ext uri="{FF2B5EF4-FFF2-40B4-BE49-F238E27FC236}">
                <a16:creationId xmlns:a16="http://schemas.microsoft.com/office/drawing/2014/main" id="{36D432CC-03AE-4839-8F87-1EDA3E24F433}"/>
              </a:ext>
            </a:extLst>
          </p:cNvPr>
          <p:cNvGraphicFramePr>
            <a:graphicFrameLocks noGrp="1"/>
          </p:cNvGraphicFramePr>
          <p:nvPr>
            <p:extLst>
              <p:ext uri="{D42A27DB-BD31-4B8C-83A1-F6EECF244321}">
                <p14:modId xmlns:p14="http://schemas.microsoft.com/office/powerpoint/2010/main" val="1950483854"/>
              </p:ext>
            </p:extLst>
          </p:nvPr>
        </p:nvGraphicFramePr>
        <p:xfrm>
          <a:off x="3296816" y="1935386"/>
          <a:ext cx="6223000" cy="2867026"/>
        </p:xfrm>
        <a:graphic>
          <a:graphicData uri="http://schemas.openxmlformats.org/drawingml/2006/table">
            <a:tbl>
              <a:tblPr/>
              <a:tblGrid>
                <a:gridCol w="1555750">
                  <a:extLst>
                    <a:ext uri="{9D8B030D-6E8A-4147-A177-3AD203B41FA5}">
                      <a16:colId xmlns:a16="http://schemas.microsoft.com/office/drawing/2014/main" val="3486115990"/>
                    </a:ext>
                  </a:extLst>
                </a:gridCol>
                <a:gridCol w="1554163">
                  <a:extLst>
                    <a:ext uri="{9D8B030D-6E8A-4147-A177-3AD203B41FA5}">
                      <a16:colId xmlns:a16="http://schemas.microsoft.com/office/drawing/2014/main" val="1243044764"/>
                    </a:ext>
                  </a:extLst>
                </a:gridCol>
                <a:gridCol w="1557337">
                  <a:extLst>
                    <a:ext uri="{9D8B030D-6E8A-4147-A177-3AD203B41FA5}">
                      <a16:colId xmlns:a16="http://schemas.microsoft.com/office/drawing/2014/main" val="4006026660"/>
                    </a:ext>
                  </a:extLst>
                </a:gridCol>
                <a:gridCol w="1555750">
                  <a:extLst>
                    <a:ext uri="{9D8B030D-6E8A-4147-A177-3AD203B41FA5}">
                      <a16:colId xmlns:a16="http://schemas.microsoft.com/office/drawing/2014/main" val="2834324671"/>
                    </a:ext>
                  </a:extLst>
                </a:gridCol>
              </a:tblGrid>
              <a:tr h="57308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染色体</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适应度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选择概率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选中次数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89492649"/>
                  </a:ext>
                </a:extLst>
              </a:tr>
              <a:tr h="5746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1"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4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169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0.14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0950927"/>
                  </a:ext>
                </a:extLst>
              </a:tr>
              <a:tr h="5715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1"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4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2</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=11000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576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0.49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8604446"/>
                  </a:ext>
                </a:extLst>
              </a:tr>
              <a:tr h="574675">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1"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4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3</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=01000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0.06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60508777"/>
                  </a:ext>
                </a:extLst>
              </a:tr>
              <a:tr h="57308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1" u="none" strike="noStrike" cap="none" normalizeH="0" baseline="0">
                          <a:ln>
                            <a:noFill/>
                          </a:ln>
                          <a:solidFill>
                            <a:schemeClr val="tx1"/>
                          </a:solidFill>
                          <a:effectLst/>
                          <a:latin typeface="Tahoma" panose="020B0604030504040204" pitchFamily="34" charset="0"/>
                          <a:ea typeface="宋体" panose="02010600030101010101" pitchFamily="2" charset="-122"/>
                        </a:rPr>
                        <a:t>s</a:t>
                      </a:r>
                      <a:r>
                        <a:rPr kumimoji="0" lang="en-US" altLang="zh-CN" sz="2400" b="0" i="0" u="none" strike="noStrike" cap="none" normalizeH="0" baseline="-25000">
                          <a:ln>
                            <a:noFill/>
                          </a:ln>
                          <a:solidFill>
                            <a:schemeClr val="tx1"/>
                          </a:solidFill>
                          <a:effectLst/>
                          <a:latin typeface="Tahoma" panose="020B0604030504040204" pitchFamily="34" charset="0"/>
                          <a:ea typeface="宋体" panose="02010600030101010101" pitchFamily="2" charset="-122"/>
                        </a:rPr>
                        <a:t>4</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=10011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361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0.31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9777556"/>
                  </a:ext>
                </a:extLst>
              </a:tr>
            </a:tbl>
          </a:graphicData>
        </a:graphic>
      </p:graphicFrame>
      <p:sp>
        <p:nvSpPr>
          <p:cNvPr id="3" name="矩形 2">
            <a:extLst>
              <a:ext uri="{FF2B5EF4-FFF2-40B4-BE49-F238E27FC236}">
                <a16:creationId xmlns:a16="http://schemas.microsoft.com/office/drawing/2014/main" id="{45B1891A-E20C-410A-B0AE-3A74A4A74839}"/>
              </a:ext>
            </a:extLst>
          </p:cNvPr>
          <p:cNvSpPr/>
          <p:nvPr/>
        </p:nvSpPr>
        <p:spPr>
          <a:xfrm>
            <a:off x="704528" y="4814735"/>
            <a:ext cx="5811068" cy="1693669"/>
          </a:xfrm>
          <a:prstGeom prst="rect">
            <a:avLst/>
          </a:prstGeom>
        </p:spPr>
        <p:txBody>
          <a:bodyPr wrap="square">
            <a:spAutoFit/>
          </a:bodyPr>
          <a:lstStyle/>
          <a:p>
            <a:pPr>
              <a:lnSpc>
                <a:spcPct val="120000"/>
              </a:lnSpc>
              <a:spcBef>
                <a:spcPct val="30000"/>
              </a:spcBef>
            </a:pPr>
            <a:r>
              <a:rPr kumimoji="1" lang="zh-CN" altLang="en-US" sz="2400" b="1" dirty="0">
                <a:latin typeface="Times New Roman" panose="02020603050405020304" pitchFamily="18" charset="0"/>
                <a:ea typeface="黑体" panose="02010609060101010101" pitchFamily="49" charset="-122"/>
              </a:rPr>
              <a:t>于是，经复制得群体：</a:t>
            </a:r>
          </a:p>
          <a:p>
            <a:pPr>
              <a:lnSpc>
                <a:spcPct val="120000"/>
              </a:lnSpc>
              <a:spcBef>
                <a:spcPct val="50000"/>
              </a:spcBef>
            </a:pPr>
            <a:r>
              <a:rPr kumimoji="1" lang="en-US" altLang="zh-CN" sz="2400" i="1" dirty="0">
                <a:latin typeface="Times New Roman" panose="02020603050405020304" pitchFamily="18" charset="0"/>
              </a:rPr>
              <a:t>s</a:t>
            </a:r>
            <a:r>
              <a:rPr kumimoji="1" lang="en-US" altLang="zh-CN" sz="2400" baseline="-30000" dirty="0">
                <a:latin typeface="Times New Roman" panose="02020603050405020304" pitchFamily="18" charset="0"/>
              </a:rPr>
              <a:t>1</a:t>
            </a:r>
            <a:r>
              <a:rPr kumimoji="1" lang="en-US" altLang="zh-CN" sz="2400" i="1" dirty="0">
                <a:latin typeface="Courier New" panose="02070309020205020404" pitchFamily="49" charset="0"/>
              </a:rPr>
              <a:t>’</a:t>
            </a:r>
            <a:r>
              <a:rPr kumimoji="1" lang="en-US" altLang="zh-CN" sz="2400" i="1" dirty="0">
                <a:latin typeface="Times New Roman" panose="02020603050405020304" pitchFamily="18" charset="0"/>
              </a:rPr>
              <a:t> </a:t>
            </a:r>
            <a:r>
              <a:rPr kumimoji="1" lang="en-US" altLang="zh-CN" sz="2400" dirty="0">
                <a:latin typeface="Times New Roman" panose="02020603050405020304" pitchFamily="18" charset="0"/>
              </a:rPr>
              <a:t>=11000</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24</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  </a:t>
            </a:r>
            <a:r>
              <a:rPr kumimoji="1" lang="en-US" altLang="zh-CN" sz="2400" i="1" dirty="0">
                <a:latin typeface="Times New Roman" panose="02020603050405020304" pitchFamily="18" charset="0"/>
              </a:rPr>
              <a:t>s</a:t>
            </a:r>
            <a:r>
              <a:rPr kumimoji="1" lang="en-US" altLang="zh-CN" sz="2400" baseline="-30000" dirty="0">
                <a:latin typeface="Times New Roman" panose="02020603050405020304" pitchFamily="18" charset="0"/>
              </a:rPr>
              <a:t>2</a:t>
            </a:r>
            <a:r>
              <a:rPr kumimoji="1" lang="en-US" altLang="zh-CN" sz="2400" i="1" dirty="0">
                <a:latin typeface="Courier New" panose="02070309020205020404" pitchFamily="49" charset="0"/>
              </a:rPr>
              <a:t>’</a:t>
            </a:r>
            <a:r>
              <a:rPr kumimoji="1" lang="en-US" altLang="zh-CN" sz="2400" i="1" dirty="0">
                <a:latin typeface="Times New Roman" panose="02020603050405020304" pitchFamily="18" charset="0"/>
              </a:rPr>
              <a:t> </a:t>
            </a:r>
            <a:r>
              <a:rPr kumimoji="1" lang="en-US" altLang="zh-CN" sz="2400" dirty="0">
                <a:latin typeface="Times New Roman" panose="02020603050405020304" pitchFamily="18" charset="0"/>
              </a:rPr>
              <a:t>=01101</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13</a:t>
            </a:r>
            <a:r>
              <a:rPr kumimoji="1" lang="zh-CN" altLang="en-US" sz="2400" dirty="0">
                <a:latin typeface="Times New Roman" panose="02020603050405020304" pitchFamily="18" charset="0"/>
              </a:rPr>
              <a:t>） </a:t>
            </a:r>
          </a:p>
          <a:p>
            <a:pPr>
              <a:lnSpc>
                <a:spcPct val="120000"/>
              </a:lnSpc>
              <a:spcBef>
                <a:spcPct val="30000"/>
              </a:spcBef>
            </a:pPr>
            <a:r>
              <a:rPr kumimoji="1" lang="en-US" altLang="zh-CN" sz="2400" i="1" dirty="0">
                <a:latin typeface="Times New Roman" panose="02020603050405020304" pitchFamily="18" charset="0"/>
              </a:rPr>
              <a:t>s</a:t>
            </a:r>
            <a:r>
              <a:rPr kumimoji="1" lang="en-US" altLang="zh-CN" sz="2400" baseline="-30000" dirty="0">
                <a:latin typeface="Times New Roman" panose="02020603050405020304" pitchFamily="18" charset="0"/>
              </a:rPr>
              <a:t>3</a:t>
            </a:r>
            <a:r>
              <a:rPr kumimoji="1" lang="en-US" altLang="zh-CN" sz="2400" i="1" dirty="0">
                <a:latin typeface="Courier New" panose="02070309020205020404" pitchFamily="49" charset="0"/>
              </a:rPr>
              <a:t>’</a:t>
            </a:r>
            <a:r>
              <a:rPr kumimoji="1" lang="en-US" altLang="zh-CN" sz="2400" i="1" dirty="0">
                <a:latin typeface="Times New Roman" panose="02020603050405020304" pitchFamily="18" charset="0"/>
              </a:rPr>
              <a:t> </a:t>
            </a:r>
            <a:r>
              <a:rPr kumimoji="1" lang="en-US" altLang="zh-CN" sz="2400" dirty="0">
                <a:latin typeface="Times New Roman" panose="02020603050405020304" pitchFamily="18" charset="0"/>
              </a:rPr>
              <a:t>=11000</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24</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  </a:t>
            </a:r>
            <a:r>
              <a:rPr kumimoji="1" lang="en-US" altLang="zh-CN" sz="2400" i="1" dirty="0">
                <a:latin typeface="Times New Roman" panose="02020603050405020304" pitchFamily="18" charset="0"/>
              </a:rPr>
              <a:t>s</a:t>
            </a:r>
            <a:r>
              <a:rPr kumimoji="1" lang="en-US" altLang="zh-CN" sz="2400" baseline="-30000" dirty="0">
                <a:latin typeface="Times New Roman" panose="02020603050405020304" pitchFamily="18" charset="0"/>
              </a:rPr>
              <a:t>4</a:t>
            </a:r>
            <a:r>
              <a:rPr kumimoji="1" lang="en-US" altLang="zh-CN" sz="2400" i="1" dirty="0">
                <a:latin typeface="Courier New" panose="02070309020205020404" pitchFamily="49" charset="0"/>
              </a:rPr>
              <a:t>’</a:t>
            </a:r>
            <a:r>
              <a:rPr kumimoji="1" lang="en-US" altLang="zh-CN" sz="2400" i="1" dirty="0">
                <a:latin typeface="Times New Roman" panose="02020603050405020304" pitchFamily="18" charset="0"/>
              </a:rPr>
              <a:t> </a:t>
            </a:r>
            <a:r>
              <a:rPr kumimoji="1" lang="en-US" altLang="zh-CN" sz="2400" dirty="0">
                <a:latin typeface="Times New Roman" panose="02020603050405020304" pitchFamily="18" charset="0"/>
              </a:rPr>
              <a:t>=10011</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19</a:t>
            </a:r>
            <a:r>
              <a:rPr kumimoji="1" lang="zh-CN" altLang="en-US" sz="2400" dirty="0">
                <a:latin typeface="Times New Roman" panose="02020603050405020304" pitchFamily="18" charset="0"/>
              </a:rPr>
              <a:t>） </a:t>
            </a:r>
          </a:p>
        </p:txBody>
      </p:sp>
      <p:sp>
        <p:nvSpPr>
          <p:cNvPr id="7" name="Rectangle 371">
            <a:extLst>
              <a:ext uri="{FF2B5EF4-FFF2-40B4-BE49-F238E27FC236}">
                <a16:creationId xmlns:a16="http://schemas.microsoft.com/office/drawing/2014/main" id="{0A91817D-C6C3-5243-8713-19C2CCF898BB}"/>
              </a:ext>
            </a:extLst>
          </p:cNvPr>
          <p:cNvSpPr>
            <a:spLocks noChangeArrowheads="1"/>
          </p:cNvSpPr>
          <p:nvPr/>
        </p:nvSpPr>
        <p:spPr bwMode="auto">
          <a:xfrm>
            <a:off x="3728864" y="1277788"/>
            <a:ext cx="59046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800" dirty="0">
                <a:latin typeface="黑体" panose="02010609060101010101" pitchFamily="49" charset="-122"/>
                <a:ea typeface="黑体" panose="02010609060101010101" pitchFamily="49" charset="-122"/>
              </a:rPr>
              <a:t>假设经过</a:t>
            </a:r>
            <a:r>
              <a:rPr kumimoji="1" lang="en-US" altLang="zh-CN" sz="2800" dirty="0">
                <a:latin typeface="黑体" panose="02010609060101010101" pitchFamily="49" charset="-122"/>
                <a:ea typeface="黑体" panose="02010609060101010101" pitchFamily="49" charset="-122"/>
              </a:rPr>
              <a:t>4</a:t>
            </a:r>
            <a:r>
              <a:rPr kumimoji="1" lang="zh-CN" altLang="en-US" sz="2800" dirty="0">
                <a:latin typeface="黑体" panose="02010609060101010101" pitchFamily="49" charset="-122"/>
                <a:ea typeface="黑体" panose="02010609060101010101" pitchFamily="49" charset="-122"/>
              </a:rPr>
              <a:t>次轮盘赌（</a:t>
            </a:r>
            <a:r>
              <a:rPr kumimoji="1" lang="en-US" altLang="zh-CN" sz="2800" dirty="0">
                <a:latin typeface="黑体" panose="02010609060101010101" pitchFamily="49" charset="-122"/>
                <a:ea typeface="黑体" panose="02010609060101010101" pitchFamily="49" charset="-122"/>
              </a:rPr>
              <a:t>4</a:t>
            </a:r>
            <a:r>
              <a:rPr kumimoji="1" lang="zh-CN" altLang="en-US" sz="2800" dirty="0">
                <a:latin typeface="黑体" panose="02010609060101010101" pitchFamily="49" charset="-122"/>
                <a:ea typeface="黑体" panose="02010609060101010101" pitchFamily="49" charset="-122"/>
              </a:rPr>
              <a:t>次随机数）</a:t>
            </a:r>
            <a:endParaRPr kumimoji="1" lang="zh-CN" altLang="en-US" sz="2400" dirty="0">
              <a:latin typeface="Times New Roman" panose="02020603050405020304" pitchFamily="18" charset="0"/>
            </a:endParaRPr>
          </a:p>
        </p:txBody>
      </p:sp>
    </p:spTree>
    <p:extLst>
      <p:ext uri="{BB962C8B-B14F-4D97-AF65-F5344CB8AC3E}">
        <p14:creationId xmlns:p14="http://schemas.microsoft.com/office/powerpoint/2010/main" val="2959753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childTnLst>
                                    <p:set>
                                      <p:cBhvr additive="base">
                                        <p:cTn id="6" dur="1" fill="hold">
                                          <p:stCondLst>
                                            <p:cond delay="0"/>
                                          </p:stCondLst>
                                        </p:cTn>
                                        <p:tgtEl>
                                          <p:spTgt spid="8"/>
                                        </p:tgtEl>
                                        <p:attrNameLst>
                                          <p:attrName>style.visibility</p:attrName>
                                        </p:attrNameLst>
                                      </p:cBhvr>
                                      <p:to>
                                        <p:strVal val="visible"/>
                                      </p:to>
                                    </p:set>
                                    <p:animEffect transition="in" filter="blinds(horizontal)">
                                      <p:cBhvr additive="base">
                                        <p:cTn id="7" dur="500"/>
                                        <p:tgtEl>
                                          <p:spTgt spid="8"/>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additive="base">
                                        <p:cTn id="10" dur="1" fill="hold">
                                          <p:stCondLst>
                                            <p:cond delay="0"/>
                                          </p:stCondLst>
                                        </p:cTn>
                                        <p:tgtEl>
                                          <p:spTgt spid="10"/>
                                        </p:tgtEl>
                                        <p:attrNameLst>
                                          <p:attrName>style.visibility</p:attrName>
                                        </p:attrNameLst>
                                      </p:cBhvr>
                                      <p:to>
                                        <p:strVal val="visible"/>
                                      </p:to>
                                    </p:set>
                                    <p:animEffect transition="in" filter="blinds(horizontal)">
                                      <p:cBhvr additive="base">
                                        <p:cTn id="11" dur="500"/>
                                        <p:tgtEl>
                                          <p:spTgt spid="10"/>
                                        </p:tgtEl>
                                      </p:cBhvr>
                                    </p:animEffect>
                                  </p:childTnLst>
                                </p:cTn>
                              </p:par>
                              <p:par>
                                <p:cTn id="12" presetID="3" presetClass="entr" presetSubtype="10" fill="hold" grpId="0" nodeType="withEffect">
                                  <p:stCondLst>
                                    <p:cond delay="0"/>
                                  </p:stCondLst>
                                  <p:childTnLst>
                                    <p:set>
                                      <p:cBhvr additive="base">
                                        <p:cTn id="13" dur="1" fill="hold">
                                          <p:stCondLst>
                                            <p:cond delay="0"/>
                                          </p:stCondLst>
                                        </p:cTn>
                                        <p:tgtEl>
                                          <p:spTgt spid="7"/>
                                        </p:tgtEl>
                                        <p:attrNameLst>
                                          <p:attrName>style.visibility</p:attrName>
                                        </p:attrNameLst>
                                      </p:cBhvr>
                                      <p:to>
                                        <p:strVal val="visible"/>
                                      </p:to>
                                    </p:set>
                                    <p:animEffect transition="in" filter="blinds(horizontal)">
                                      <p:cBhvr additive="base">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20</a:t>
            </a:fld>
            <a:endParaRPr lang="en-US" altLang="zh-CN" dirty="0"/>
          </a:p>
        </p:txBody>
      </p:sp>
      <p:sp>
        <p:nvSpPr>
          <p:cNvPr id="6" name="Rectangle 334">
            <a:extLst>
              <a:ext uri="{FF2B5EF4-FFF2-40B4-BE49-F238E27FC236}">
                <a16:creationId xmlns:a16="http://schemas.microsoft.com/office/drawing/2014/main" id="{B7BE5966-0895-4D7C-ACD6-83070C3651BB}"/>
              </a:ext>
            </a:extLst>
          </p:cNvPr>
          <p:cNvSpPr>
            <a:spLocks noChangeArrowheads="1"/>
          </p:cNvSpPr>
          <p:nvPr/>
        </p:nvSpPr>
        <p:spPr bwMode="auto">
          <a:xfrm>
            <a:off x="120223" y="1196752"/>
            <a:ext cx="96573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 typeface="Wingdings" panose="05000000000000000000" pitchFamily="2" charset="2"/>
              <a:buNone/>
            </a:pPr>
            <a:r>
              <a:rPr kumimoji="1" lang="en-US" altLang="zh-CN" sz="2400" b="1" dirty="0">
                <a:latin typeface="Times New Roman" panose="02020603050405020304" pitchFamily="18" charset="0"/>
                <a:ea typeface="黑体" panose="02010609060101010101" pitchFamily="49" charset="-122"/>
              </a:rPr>
              <a:t>3.4 </a:t>
            </a:r>
            <a:r>
              <a:rPr kumimoji="1" lang="zh-CN" altLang="en-US" sz="2400" b="1" dirty="0">
                <a:latin typeface="Times New Roman" panose="02020603050405020304" pitchFamily="18" charset="0"/>
                <a:ea typeface="黑体" panose="02010609060101010101" pitchFamily="49" charset="-122"/>
              </a:rPr>
              <a:t>交叉</a:t>
            </a:r>
            <a:r>
              <a:rPr kumimoji="1" lang="zh-CN" altLang="en-US" sz="2400" i="1" dirty="0"/>
              <a:t>              </a:t>
            </a:r>
            <a:r>
              <a:rPr kumimoji="1" lang="en-US" altLang="zh-CN" sz="2400" i="1" dirty="0"/>
              <a:t>	</a:t>
            </a:r>
            <a:endParaRPr kumimoji="1" lang="en-US" altLang="zh-CN" sz="2400" dirty="0">
              <a:latin typeface="Times New Roman" panose="02020603050405020304" pitchFamily="18" charset="0"/>
            </a:endParaRPr>
          </a:p>
        </p:txBody>
      </p:sp>
      <p:sp>
        <p:nvSpPr>
          <p:cNvPr id="3" name="矩形 2">
            <a:extLst>
              <a:ext uri="{FF2B5EF4-FFF2-40B4-BE49-F238E27FC236}">
                <a16:creationId xmlns:a16="http://schemas.microsoft.com/office/drawing/2014/main" id="{5EAF94F2-3100-4804-AAF6-F2F6D19D8C30}"/>
              </a:ext>
            </a:extLst>
          </p:cNvPr>
          <p:cNvSpPr/>
          <p:nvPr/>
        </p:nvSpPr>
        <p:spPr>
          <a:xfrm>
            <a:off x="992560" y="1786898"/>
            <a:ext cx="8280920" cy="4075668"/>
          </a:xfrm>
          <a:prstGeom prst="rect">
            <a:avLst/>
          </a:prstGeom>
        </p:spPr>
        <p:txBody>
          <a:bodyPr wrap="square">
            <a:spAutoFit/>
          </a:bodyPr>
          <a:lstStyle/>
          <a:p>
            <a:pPr>
              <a:lnSpc>
                <a:spcPct val="120000"/>
              </a:lnSpc>
              <a:spcBef>
                <a:spcPct val="50000"/>
              </a:spcBef>
            </a:pPr>
            <a:r>
              <a:rPr kumimoji="1" lang="en-US" altLang="zh-CN" sz="2400" i="1" dirty="0">
                <a:latin typeface="Times New Roman" panose="02020603050405020304" pitchFamily="18" charset="0"/>
              </a:rPr>
              <a:t>s</a:t>
            </a:r>
            <a:r>
              <a:rPr kumimoji="1" lang="en-US" altLang="zh-CN" sz="2400" baseline="-30000" dirty="0">
                <a:latin typeface="Times New Roman" panose="02020603050405020304" pitchFamily="18" charset="0"/>
              </a:rPr>
              <a:t>1</a:t>
            </a:r>
            <a:r>
              <a:rPr kumimoji="1" lang="en-US" altLang="zh-CN" sz="2400" i="1" dirty="0">
                <a:latin typeface="Courier New" panose="02070309020205020404" pitchFamily="49" charset="0"/>
              </a:rPr>
              <a:t>’</a:t>
            </a:r>
            <a:r>
              <a:rPr kumimoji="1" lang="en-US" altLang="zh-CN" sz="2400" i="1" dirty="0">
                <a:latin typeface="Times New Roman" panose="02020603050405020304" pitchFamily="18" charset="0"/>
              </a:rPr>
              <a:t> </a:t>
            </a:r>
            <a:r>
              <a:rPr kumimoji="1" lang="en-US" altLang="zh-CN" sz="2400" dirty="0">
                <a:latin typeface="Times New Roman" panose="02020603050405020304" pitchFamily="18" charset="0"/>
              </a:rPr>
              <a:t>=11000</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24</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  </a:t>
            </a:r>
            <a:r>
              <a:rPr kumimoji="1" lang="en-US" altLang="zh-CN" sz="2400" i="1" dirty="0">
                <a:latin typeface="Times New Roman" panose="02020603050405020304" pitchFamily="18" charset="0"/>
              </a:rPr>
              <a:t>s</a:t>
            </a:r>
            <a:r>
              <a:rPr kumimoji="1" lang="en-US" altLang="zh-CN" sz="2400" baseline="-30000" dirty="0">
                <a:latin typeface="Times New Roman" panose="02020603050405020304" pitchFamily="18" charset="0"/>
              </a:rPr>
              <a:t>2</a:t>
            </a:r>
            <a:r>
              <a:rPr kumimoji="1" lang="en-US" altLang="zh-CN" sz="2400" i="1" dirty="0">
                <a:latin typeface="Courier New" panose="02070309020205020404" pitchFamily="49" charset="0"/>
              </a:rPr>
              <a:t>’</a:t>
            </a:r>
            <a:r>
              <a:rPr kumimoji="1" lang="en-US" altLang="zh-CN" sz="2400" i="1" dirty="0">
                <a:latin typeface="Times New Roman" panose="02020603050405020304" pitchFamily="18" charset="0"/>
              </a:rPr>
              <a:t> </a:t>
            </a:r>
            <a:r>
              <a:rPr kumimoji="1" lang="en-US" altLang="zh-CN" sz="2400" dirty="0">
                <a:latin typeface="Times New Roman" panose="02020603050405020304" pitchFamily="18" charset="0"/>
              </a:rPr>
              <a:t>=01101</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13</a:t>
            </a:r>
            <a:r>
              <a:rPr kumimoji="1" lang="zh-CN" altLang="en-US" sz="2400" dirty="0">
                <a:latin typeface="Times New Roman" panose="02020603050405020304" pitchFamily="18" charset="0"/>
              </a:rPr>
              <a:t>） </a:t>
            </a:r>
          </a:p>
          <a:p>
            <a:pPr>
              <a:lnSpc>
                <a:spcPct val="120000"/>
              </a:lnSpc>
              <a:spcBef>
                <a:spcPct val="30000"/>
              </a:spcBef>
            </a:pPr>
            <a:r>
              <a:rPr kumimoji="1" lang="en-US" altLang="zh-CN" sz="2400" i="1" dirty="0">
                <a:latin typeface="Times New Roman" panose="02020603050405020304" pitchFamily="18" charset="0"/>
              </a:rPr>
              <a:t>s</a:t>
            </a:r>
            <a:r>
              <a:rPr kumimoji="1" lang="en-US" altLang="zh-CN" sz="2400" baseline="-30000" dirty="0">
                <a:latin typeface="Times New Roman" panose="02020603050405020304" pitchFamily="18" charset="0"/>
              </a:rPr>
              <a:t>3</a:t>
            </a:r>
            <a:r>
              <a:rPr kumimoji="1" lang="en-US" altLang="zh-CN" sz="2400" i="1" dirty="0">
                <a:latin typeface="Courier New" panose="02070309020205020404" pitchFamily="49" charset="0"/>
              </a:rPr>
              <a:t>’</a:t>
            </a:r>
            <a:r>
              <a:rPr kumimoji="1" lang="en-US" altLang="zh-CN" sz="2400" i="1" dirty="0">
                <a:latin typeface="Times New Roman" panose="02020603050405020304" pitchFamily="18" charset="0"/>
              </a:rPr>
              <a:t> </a:t>
            </a:r>
            <a:r>
              <a:rPr kumimoji="1" lang="en-US" altLang="zh-CN" sz="2400" dirty="0">
                <a:latin typeface="Times New Roman" panose="02020603050405020304" pitchFamily="18" charset="0"/>
              </a:rPr>
              <a:t>=11000</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24</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  </a:t>
            </a:r>
            <a:r>
              <a:rPr kumimoji="1" lang="en-US" altLang="zh-CN" sz="2400" i="1" dirty="0">
                <a:latin typeface="Times New Roman" panose="02020603050405020304" pitchFamily="18" charset="0"/>
              </a:rPr>
              <a:t>s</a:t>
            </a:r>
            <a:r>
              <a:rPr kumimoji="1" lang="en-US" altLang="zh-CN" sz="2400" baseline="-30000" dirty="0">
                <a:latin typeface="Times New Roman" panose="02020603050405020304" pitchFamily="18" charset="0"/>
              </a:rPr>
              <a:t>4</a:t>
            </a:r>
            <a:r>
              <a:rPr kumimoji="1" lang="en-US" altLang="zh-CN" sz="2400" i="1" dirty="0">
                <a:latin typeface="Courier New" panose="02070309020205020404" pitchFamily="49" charset="0"/>
              </a:rPr>
              <a:t>’</a:t>
            </a:r>
            <a:r>
              <a:rPr kumimoji="1" lang="en-US" altLang="zh-CN" sz="2400" i="1" dirty="0">
                <a:latin typeface="Times New Roman" panose="02020603050405020304" pitchFamily="18" charset="0"/>
              </a:rPr>
              <a:t> </a:t>
            </a:r>
            <a:r>
              <a:rPr kumimoji="1" lang="en-US" altLang="zh-CN" sz="2400" dirty="0">
                <a:latin typeface="Times New Roman" panose="02020603050405020304" pitchFamily="18" charset="0"/>
              </a:rPr>
              <a:t>=10011</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19</a:t>
            </a:r>
            <a:r>
              <a:rPr kumimoji="1" lang="zh-CN" altLang="en-US" sz="2400" dirty="0">
                <a:latin typeface="Times New Roman" panose="02020603050405020304" pitchFamily="18" charset="0"/>
              </a:rPr>
              <a:t>） </a:t>
            </a:r>
          </a:p>
          <a:p>
            <a:pPr algn="just">
              <a:lnSpc>
                <a:spcPct val="120000"/>
              </a:lnSpc>
              <a:spcBef>
                <a:spcPct val="20000"/>
              </a:spcBef>
            </a:pPr>
            <a:endParaRPr kumimoji="1" lang="en-US" altLang="zh-CN" sz="2400" dirty="0">
              <a:latin typeface="Times New Roman" panose="02020603050405020304" pitchFamily="18" charset="0"/>
              <a:cs typeface="Times New Roman" panose="02020603050405020304" pitchFamily="18" charset="0"/>
            </a:endParaRPr>
          </a:p>
          <a:p>
            <a:pPr algn="just">
              <a:lnSpc>
                <a:spcPct val="120000"/>
              </a:lnSpc>
              <a:spcBef>
                <a:spcPct val="20000"/>
              </a:spcBef>
            </a:pPr>
            <a:r>
              <a:rPr kumimoji="1" lang="zh-CN" altLang="en-US" sz="2400" dirty="0">
                <a:latin typeface="Times New Roman" panose="02020603050405020304" pitchFamily="18" charset="0"/>
                <a:cs typeface="Times New Roman" panose="02020603050405020304" pitchFamily="18" charset="0"/>
              </a:rPr>
              <a:t>设交叉率</a:t>
            </a:r>
            <a:r>
              <a:rPr kumimoji="1" lang="en-US" altLang="zh-CN" sz="2400" i="1" dirty="0">
                <a:latin typeface="Times New Roman" panose="02020603050405020304" pitchFamily="18" charset="0"/>
                <a:cs typeface="Times New Roman" panose="02020603050405020304" pitchFamily="18" charset="0"/>
              </a:rPr>
              <a:t>p</a:t>
            </a:r>
            <a:r>
              <a:rPr kumimoji="1" lang="en-US" altLang="zh-CN" sz="2400" i="1" baseline="-30000" dirty="0">
                <a:latin typeface="Times New Roman" panose="02020603050405020304" pitchFamily="18" charset="0"/>
                <a:cs typeface="Times New Roman" panose="02020603050405020304" pitchFamily="18" charset="0"/>
              </a:rPr>
              <a:t>c</a:t>
            </a:r>
            <a:r>
              <a:rPr kumimoji="1" lang="en-US" altLang="zh-CN" sz="2400" dirty="0">
                <a:latin typeface="Times New Roman" panose="02020603050405020304" pitchFamily="18" charset="0"/>
                <a:cs typeface="Times New Roman" panose="02020603050405020304" pitchFamily="18" charset="0"/>
              </a:rPr>
              <a:t>=100%</a:t>
            </a:r>
            <a:r>
              <a:rPr kumimoji="1" lang="zh-CN" altLang="en-US" sz="2400" dirty="0">
                <a:latin typeface="Times New Roman" panose="02020603050405020304" pitchFamily="18" charset="0"/>
                <a:cs typeface="Times New Roman" panose="02020603050405020304" pitchFamily="18" charset="0"/>
              </a:rPr>
              <a:t>，即</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1</a:t>
            </a:r>
            <a:r>
              <a:rPr kumimoji="1" lang="zh-CN" altLang="en-US" sz="2400" dirty="0">
                <a:latin typeface="Times New Roman" panose="02020603050405020304" pitchFamily="18" charset="0"/>
                <a:cs typeface="Times New Roman" panose="02020603050405020304" pitchFamily="18" charset="0"/>
              </a:rPr>
              <a:t>中的全体染色体都参加交叉运算。</a:t>
            </a:r>
          </a:p>
          <a:p>
            <a:pPr algn="just">
              <a:lnSpc>
                <a:spcPct val="120000"/>
              </a:lnSpc>
              <a:spcBef>
                <a:spcPct val="20000"/>
              </a:spcBef>
            </a:pPr>
            <a:r>
              <a:rPr kumimoji="1" lang="zh-CN" altLang="en-US" sz="2400" dirty="0">
                <a:latin typeface="Times New Roman" panose="02020603050405020304" pitchFamily="18" charset="0"/>
                <a:cs typeface="Times New Roman" panose="02020603050405020304" pitchFamily="18" charset="0"/>
              </a:rPr>
              <a:t>        设</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1</a:t>
            </a:r>
            <a:r>
              <a:rPr kumimoji="1" lang="en-US" altLang="zh-CN" sz="2400" i="1"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与</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2</a:t>
            </a:r>
            <a:r>
              <a:rPr kumimoji="1" lang="en-US" altLang="zh-CN" sz="2400" i="1"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配对，</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3</a:t>
            </a:r>
            <a:r>
              <a:rPr kumimoji="1" lang="en-US" altLang="zh-CN" sz="2400" i="1"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与</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4</a:t>
            </a:r>
            <a:r>
              <a:rPr kumimoji="1" lang="en-US" altLang="zh-CN" sz="2400" i="1"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配对。分别交换后两位基因，得新染色体：</a:t>
            </a:r>
            <a:endParaRPr kumimoji="1" lang="en-US" altLang="zh-CN" sz="2400" dirty="0">
              <a:latin typeface="宋体" panose="02010600030101010101" pitchFamily="2" charset="-122"/>
            </a:endParaRPr>
          </a:p>
          <a:p>
            <a:pPr algn="just">
              <a:lnSpc>
                <a:spcPct val="120000"/>
              </a:lnSpc>
              <a:spcBef>
                <a:spcPct val="20000"/>
              </a:spcBef>
            </a:pPr>
            <a:r>
              <a:rPr kumimoji="1" lang="en-US" altLang="zh-CN" sz="2400" i="1" dirty="0">
                <a:latin typeface="宋体" panose="02010600030101010101" pitchFamily="2" charset="-122"/>
                <a:cs typeface="Times New Roman" panose="02020603050405020304" pitchFamily="18" charset="0"/>
              </a:rPr>
              <a:t>	</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1</a:t>
            </a:r>
            <a:r>
              <a:rPr kumimoji="1" lang="en-US" altLang="zh-CN" sz="2400" i="1"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=11001</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25</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  </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2</a:t>
            </a:r>
            <a:r>
              <a:rPr kumimoji="1" lang="en-US" altLang="zh-CN" sz="2400" i="1"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=01100</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12</a:t>
            </a:r>
            <a:r>
              <a:rPr kumimoji="1" lang="zh-CN" altLang="en-US" sz="2400" dirty="0">
                <a:latin typeface="Times New Roman" panose="02020603050405020304" pitchFamily="18" charset="0"/>
                <a:cs typeface="Times New Roman" panose="02020603050405020304" pitchFamily="18" charset="0"/>
              </a:rPr>
              <a:t>）</a:t>
            </a:r>
            <a:endParaRPr kumimoji="1" lang="en-US" altLang="zh-CN" sz="2400" dirty="0">
              <a:latin typeface="Times New Roman" panose="02020603050405020304" pitchFamily="18" charset="0"/>
              <a:cs typeface="Times New Roman" panose="02020603050405020304" pitchFamily="18" charset="0"/>
            </a:endParaRPr>
          </a:p>
          <a:p>
            <a:pPr algn="just">
              <a:lnSpc>
                <a:spcPct val="120000"/>
              </a:lnSpc>
              <a:spcBef>
                <a:spcPct val="20000"/>
              </a:spcBef>
            </a:pPr>
            <a:r>
              <a:rPr kumimoji="1" lang="en-US" altLang="zh-CN" sz="2400" i="1" dirty="0">
                <a:latin typeface="Times New Roman" panose="02020603050405020304" pitchFamily="18" charset="0"/>
                <a:cs typeface="Times New Roman" panose="02020603050405020304" pitchFamily="18" charset="0"/>
              </a:rPr>
              <a:t>	s</a:t>
            </a:r>
            <a:r>
              <a:rPr kumimoji="1" lang="en-US" altLang="zh-CN" sz="2400" baseline="-30000" dirty="0">
                <a:latin typeface="Times New Roman" panose="02020603050405020304" pitchFamily="18" charset="0"/>
                <a:cs typeface="Times New Roman" panose="02020603050405020304" pitchFamily="18" charset="0"/>
              </a:rPr>
              <a:t>3</a:t>
            </a:r>
            <a:r>
              <a:rPr kumimoji="1" lang="en-US" altLang="zh-CN" sz="2400" i="1"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=11011</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27</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  </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4</a:t>
            </a:r>
            <a:r>
              <a:rPr kumimoji="1" lang="en-US" altLang="zh-CN" sz="2400" i="1"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=10000</a:t>
            </a:r>
            <a:r>
              <a:rPr kumimoji="1" lang="zh-CN" altLang="en-US" sz="2400" dirty="0">
                <a:latin typeface="Times New Roman" panose="02020603050405020304" pitchFamily="18" charset="0"/>
                <a:cs typeface="Times New Roman" panose="02020603050405020304" pitchFamily="18" charset="0"/>
              </a:rPr>
              <a:t>（</a:t>
            </a:r>
            <a:r>
              <a:rPr kumimoji="1" lang="en-US" altLang="zh-CN" sz="2400" dirty="0">
                <a:latin typeface="Times New Roman" panose="02020603050405020304" pitchFamily="18" charset="0"/>
                <a:cs typeface="Times New Roman" panose="02020603050405020304" pitchFamily="18" charset="0"/>
              </a:rPr>
              <a:t>16</a:t>
            </a:r>
            <a:r>
              <a:rPr kumimoji="1" lang="zh-CN" altLang="en-US" sz="2400" dirty="0">
                <a:latin typeface="Times New Roman" panose="02020603050405020304" pitchFamily="18" charset="0"/>
                <a:cs typeface="Times New Roman" panose="02020603050405020304" pitchFamily="18" charset="0"/>
              </a:rPr>
              <a:t>）</a:t>
            </a:r>
            <a:endParaRPr kumimoji="1" lang="zh-CN" altLang="en-US" sz="2400" dirty="0">
              <a:latin typeface="宋体" panose="02010600030101010101" pitchFamily="2" charset="-122"/>
            </a:endParaRPr>
          </a:p>
        </p:txBody>
      </p:sp>
    </p:spTree>
    <p:extLst>
      <p:ext uri="{BB962C8B-B14F-4D97-AF65-F5344CB8AC3E}">
        <p14:creationId xmlns:p14="http://schemas.microsoft.com/office/powerpoint/2010/main" val="3528875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例</a:t>
            </a:r>
            <a:r>
              <a:rPr lang="en-US" altLang="zh-CN" dirty="0"/>
              <a:t>1</a:t>
            </a:r>
            <a:r>
              <a:rPr lang="zh-CN" altLang="en-US" dirty="0"/>
              <a:t>：解</a:t>
            </a:r>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21</a:t>
            </a:fld>
            <a:endParaRPr lang="en-US" altLang="zh-CN" dirty="0"/>
          </a:p>
        </p:txBody>
      </p:sp>
      <p:sp>
        <p:nvSpPr>
          <p:cNvPr id="6" name="Rectangle 334">
            <a:extLst>
              <a:ext uri="{FF2B5EF4-FFF2-40B4-BE49-F238E27FC236}">
                <a16:creationId xmlns:a16="http://schemas.microsoft.com/office/drawing/2014/main" id="{B7BE5966-0895-4D7C-ACD6-83070C3651BB}"/>
              </a:ext>
            </a:extLst>
          </p:cNvPr>
          <p:cNvSpPr>
            <a:spLocks noChangeArrowheads="1"/>
          </p:cNvSpPr>
          <p:nvPr/>
        </p:nvSpPr>
        <p:spPr bwMode="auto">
          <a:xfrm>
            <a:off x="120223" y="1196752"/>
            <a:ext cx="96573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 typeface="Wingdings" panose="05000000000000000000" pitchFamily="2" charset="2"/>
              <a:buNone/>
            </a:pPr>
            <a:r>
              <a:rPr kumimoji="1" lang="en-US" altLang="zh-CN" sz="2400" b="1" dirty="0">
                <a:latin typeface="Times New Roman" panose="02020603050405020304" pitchFamily="18" charset="0"/>
                <a:ea typeface="黑体" panose="02010609060101010101" pitchFamily="49" charset="-122"/>
              </a:rPr>
              <a:t>3.5 </a:t>
            </a:r>
            <a:r>
              <a:rPr kumimoji="1" lang="zh-CN" altLang="en-US" sz="2400" b="1" dirty="0">
                <a:latin typeface="Times New Roman" panose="02020603050405020304" pitchFamily="18" charset="0"/>
                <a:ea typeface="黑体" panose="02010609060101010101" pitchFamily="49" charset="-122"/>
              </a:rPr>
              <a:t>变异</a:t>
            </a:r>
            <a:r>
              <a:rPr kumimoji="1" lang="zh-CN" altLang="en-US" sz="2400" i="1" dirty="0"/>
              <a:t>              </a:t>
            </a:r>
            <a:r>
              <a:rPr kumimoji="1" lang="en-US" altLang="zh-CN" sz="2400" i="1" dirty="0"/>
              <a:t>	</a:t>
            </a:r>
            <a:endParaRPr kumimoji="1" lang="en-US" altLang="zh-CN" sz="2400" dirty="0">
              <a:latin typeface="Times New Roman" panose="02020603050405020304" pitchFamily="18" charset="0"/>
            </a:endParaRPr>
          </a:p>
        </p:txBody>
      </p:sp>
      <p:sp>
        <p:nvSpPr>
          <p:cNvPr id="3" name="矩形 2">
            <a:extLst>
              <a:ext uri="{FF2B5EF4-FFF2-40B4-BE49-F238E27FC236}">
                <a16:creationId xmlns:a16="http://schemas.microsoft.com/office/drawing/2014/main" id="{5EAF94F2-3100-4804-AAF6-F2F6D19D8C30}"/>
              </a:ext>
            </a:extLst>
          </p:cNvPr>
          <p:cNvSpPr/>
          <p:nvPr/>
        </p:nvSpPr>
        <p:spPr>
          <a:xfrm>
            <a:off x="777330" y="1658417"/>
            <a:ext cx="8280920" cy="2561407"/>
          </a:xfrm>
          <a:prstGeom prst="rect">
            <a:avLst/>
          </a:prstGeom>
        </p:spPr>
        <p:txBody>
          <a:bodyPr wrap="square">
            <a:spAutoFit/>
          </a:bodyPr>
          <a:lstStyle/>
          <a:p>
            <a:pPr algn="just">
              <a:lnSpc>
                <a:spcPct val="120000"/>
              </a:lnSpc>
              <a:spcBef>
                <a:spcPct val="20000"/>
              </a:spcBef>
            </a:pPr>
            <a:r>
              <a:rPr kumimoji="1" lang="zh-CN" altLang="en-US" sz="2400" dirty="0">
                <a:latin typeface="Times New Roman" panose="02020603050405020304" pitchFamily="18" charset="0"/>
                <a:cs typeface="Times New Roman" panose="02020603050405020304" pitchFamily="18" charset="0"/>
              </a:rPr>
              <a:t>设变异率</a:t>
            </a:r>
            <a:r>
              <a:rPr kumimoji="1" lang="en-US" altLang="zh-CN" sz="2400" i="1" dirty="0">
                <a:latin typeface="Times New Roman" panose="02020603050405020304" pitchFamily="18" charset="0"/>
                <a:cs typeface="Times New Roman" panose="02020603050405020304" pitchFamily="18" charset="0"/>
              </a:rPr>
              <a:t>p</a:t>
            </a:r>
            <a:r>
              <a:rPr kumimoji="1" lang="en-US" altLang="zh-CN" sz="2400" i="1" baseline="-30000" dirty="0">
                <a:latin typeface="Times New Roman" panose="02020603050405020304" pitchFamily="18" charset="0"/>
                <a:cs typeface="Times New Roman" panose="02020603050405020304" pitchFamily="18" charset="0"/>
              </a:rPr>
              <a:t>m</a:t>
            </a:r>
            <a:r>
              <a:rPr kumimoji="1" lang="en-US" altLang="zh-CN" sz="2400" dirty="0">
                <a:latin typeface="Times New Roman" panose="02020603050405020304" pitchFamily="18" charset="0"/>
                <a:cs typeface="Times New Roman" panose="02020603050405020304" pitchFamily="18" charset="0"/>
              </a:rPr>
              <a:t>=0.001</a:t>
            </a:r>
            <a:r>
              <a:rPr kumimoji="1" lang="zh-CN" altLang="en-US" sz="2400" dirty="0">
                <a:latin typeface="Times New Roman" panose="02020603050405020304" pitchFamily="18" charset="0"/>
                <a:cs typeface="Times New Roman" panose="02020603050405020304" pitchFamily="18" charset="0"/>
              </a:rPr>
              <a:t>。</a:t>
            </a:r>
          </a:p>
          <a:p>
            <a:pPr algn="just">
              <a:lnSpc>
                <a:spcPct val="120000"/>
              </a:lnSpc>
              <a:spcBef>
                <a:spcPct val="20000"/>
              </a:spcBef>
            </a:pPr>
            <a:r>
              <a:rPr kumimoji="1" lang="zh-CN" altLang="en-US" sz="2400" dirty="0">
                <a:latin typeface="Times New Roman" panose="02020603050405020304" pitchFamily="18" charset="0"/>
                <a:cs typeface="Times New Roman" panose="02020603050405020304" pitchFamily="18" charset="0"/>
              </a:rPr>
              <a:t>        这样，群体</a:t>
            </a:r>
            <a:r>
              <a:rPr kumimoji="1" lang="en-US" altLang="zh-CN" sz="2400" i="1" dirty="0">
                <a:latin typeface="Times New Roman" panose="02020603050405020304" pitchFamily="18" charset="0"/>
                <a:cs typeface="Times New Roman" panose="02020603050405020304" pitchFamily="18" charset="0"/>
              </a:rPr>
              <a:t>S</a:t>
            </a:r>
            <a:r>
              <a:rPr kumimoji="1" lang="en-US" altLang="zh-CN" sz="2400" baseline="-30000" dirty="0">
                <a:latin typeface="Times New Roman" panose="02020603050405020304" pitchFamily="18" charset="0"/>
                <a:cs typeface="Times New Roman" panose="02020603050405020304" pitchFamily="18" charset="0"/>
              </a:rPr>
              <a:t>1</a:t>
            </a:r>
            <a:r>
              <a:rPr kumimoji="1" lang="zh-CN" altLang="en-US" sz="2400" dirty="0">
                <a:latin typeface="Times New Roman" panose="02020603050405020304" pitchFamily="18" charset="0"/>
                <a:cs typeface="Times New Roman" panose="02020603050405020304" pitchFamily="18" charset="0"/>
              </a:rPr>
              <a:t>中共有</a:t>
            </a:r>
          </a:p>
          <a:p>
            <a:pPr algn="just">
              <a:lnSpc>
                <a:spcPct val="120000"/>
              </a:lnSpc>
              <a:spcBef>
                <a:spcPct val="20000"/>
              </a:spcBef>
            </a:pP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5</a:t>
            </a:r>
            <a:r>
              <a:rPr kumimoji="1" lang="en-US" altLang="en-US" sz="2400" dirty="0">
                <a:latin typeface="Arial" panose="020B0604020202020204" pitchFamily="34" charset="0"/>
              </a:rPr>
              <a:t>×</a:t>
            </a:r>
            <a:r>
              <a:rPr kumimoji="1" lang="en-US" altLang="zh-CN" sz="2400" dirty="0">
                <a:latin typeface="Times New Roman" panose="02020603050405020304" pitchFamily="18" charset="0"/>
                <a:cs typeface="Times New Roman" panose="02020603050405020304" pitchFamily="18" charset="0"/>
              </a:rPr>
              <a:t>4</a:t>
            </a:r>
            <a:r>
              <a:rPr kumimoji="1" lang="en-US" altLang="en-US" sz="2400" dirty="0">
                <a:latin typeface="Arial" panose="020B0604020202020204" pitchFamily="34" charset="0"/>
              </a:rPr>
              <a:t>×</a:t>
            </a:r>
            <a:r>
              <a:rPr kumimoji="1" lang="en-US" altLang="zh-CN" sz="2400" dirty="0">
                <a:latin typeface="Times New Roman" panose="02020603050405020304" pitchFamily="18" charset="0"/>
                <a:cs typeface="Times New Roman" panose="02020603050405020304" pitchFamily="18" charset="0"/>
              </a:rPr>
              <a:t>0.001=0.02</a:t>
            </a:r>
          </a:p>
          <a:p>
            <a:pPr algn="just">
              <a:lnSpc>
                <a:spcPct val="120000"/>
              </a:lnSpc>
              <a:spcBef>
                <a:spcPct val="20000"/>
              </a:spcBef>
            </a:pPr>
            <a:r>
              <a:rPr kumimoji="1" lang="zh-CN" altLang="en-US" sz="2400" dirty="0">
                <a:latin typeface="Times New Roman" panose="02020603050405020304" pitchFamily="18" charset="0"/>
                <a:cs typeface="Times New Roman" panose="02020603050405020304" pitchFamily="18" charset="0"/>
              </a:rPr>
              <a:t>位基因可以变异。</a:t>
            </a:r>
          </a:p>
          <a:p>
            <a:pPr algn="just">
              <a:lnSpc>
                <a:spcPct val="120000"/>
              </a:lnSpc>
              <a:spcBef>
                <a:spcPct val="20000"/>
              </a:spcBef>
            </a:pPr>
            <a:r>
              <a:rPr kumimoji="1" lang="zh-CN" altLang="en-US" sz="2400" dirty="0">
                <a:latin typeface="Times New Roman" panose="02020603050405020304" pitchFamily="18" charset="0"/>
                <a:cs typeface="Times New Roman" panose="02020603050405020304" pitchFamily="18" charset="0"/>
              </a:rPr>
              <a:t>         </a:t>
            </a:r>
            <a:r>
              <a:rPr kumimoji="1" lang="en-US" altLang="zh-CN" sz="2400" dirty="0">
                <a:latin typeface="Times New Roman" panose="02020603050405020304" pitchFamily="18" charset="0"/>
                <a:cs typeface="Times New Roman" panose="02020603050405020304" pitchFamily="18" charset="0"/>
              </a:rPr>
              <a:t>0.02</a:t>
            </a:r>
            <a:r>
              <a:rPr kumimoji="1" lang="zh-CN" altLang="en-US" sz="2400" dirty="0">
                <a:latin typeface="Times New Roman" panose="02020603050405020304" pitchFamily="18" charset="0"/>
                <a:cs typeface="Times New Roman" panose="02020603050405020304" pitchFamily="18" charset="0"/>
              </a:rPr>
              <a:t>位显然不足</a:t>
            </a:r>
            <a:r>
              <a:rPr kumimoji="1" lang="en-US" altLang="zh-CN" sz="2400" dirty="0">
                <a:latin typeface="Times New Roman" panose="02020603050405020304" pitchFamily="18" charset="0"/>
                <a:cs typeface="Times New Roman" panose="02020603050405020304" pitchFamily="18" charset="0"/>
              </a:rPr>
              <a:t>1</a:t>
            </a:r>
            <a:r>
              <a:rPr kumimoji="1" lang="zh-CN" altLang="en-US" sz="2400" dirty="0">
                <a:latin typeface="Times New Roman" panose="02020603050405020304" pitchFamily="18" charset="0"/>
                <a:cs typeface="Times New Roman" panose="02020603050405020304" pitchFamily="18" charset="0"/>
              </a:rPr>
              <a:t>位，所以本轮遗传操作不做变异。</a:t>
            </a:r>
          </a:p>
        </p:txBody>
      </p:sp>
      <p:sp>
        <p:nvSpPr>
          <p:cNvPr id="7" name="矩形 6">
            <a:extLst>
              <a:ext uri="{FF2B5EF4-FFF2-40B4-BE49-F238E27FC236}">
                <a16:creationId xmlns:a16="http://schemas.microsoft.com/office/drawing/2014/main" id="{29F6D92F-8662-4C8F-9CC3-8C65E39EF338}"/>
              </a:ext>
            </a:extLst>
          </p:cNvPr>
          <p:cNvSpPr/>
          <p:nvPr/>
        </p:nvSpPr>
        <p:spPr>
          <a:xfrm>
            <a:off x="920552" y="4826322"/>
            <a:ext cx="7416824" cy="1458861"/>
          </a:xfrm>
          <a:prstGeom prst="rect">
            <a:avLst/>
          </a:prstGeom>
        </p:spPr>
        <p:txBody>
          <a:bodyPr wrap="square">
            <a:spAutoFit/>
          </a:bodyPr>
          <a:lstStyle/>
          <a:p>
            <a:pPr>
              <a:buFont typeface="Wingdings" panose="05000000000000000000" pitchFamily="2" charset="2"/>
              <a:buNone/>
            </a:pPr>
            <a:r>
              <a:rPr kumimoji="1" lang="zh-CN" altLang="en-US" sz="2400" dirty="0"/>
              <a:t>于是，得到第二代种群</a:t>
            </a:r>
            <a:r>
              <a:rPr kumimoji="1" lang="en-US" altLang="zh-CN" sz="2400" i="1" dirty="0"/>
              <a:t>S</a:t>
            </a:r>
            <a:r>
              <a:rPr kumimoji="1" lang="en-US" altLang="zh-CN" sz="2400" baseline="-25000" dirty="0"/>
              <a:t>2</a:t>
            </a:r>
            <a:r>
              <a:rPr kumimoji="1" lang="zh-CN" altLang="en-US" sz="2400" dirty="0"/>
              <a:t>：</a:t>
            </a:r>
          </a:p>
          <a:p>
            <a:pPr>
              <a:lnSpc>
                <a:spcPct val="120000"/>
              </a:lnSpc>
              <a:spcBef>
                <a:spcPct val="50000"/>
              </a:spcBef>
              <a:buFont typeface="Wingdings" panose="05000000000000000000" pitchFamily="2" charset="2"/>
              <a:buNone/>
            </a:pPr>
            <a:r>
              <a:rPr kumimoji="1" lang="zh-CN" altLang="en-US" sz="2400" i="1" dirty="0"/>
              <a:t>        </a:t>
            </a:r>
            <a:r>
              <a:rPr kumimoji="1" lang="en-US" altLang="zh-CN" sz="2400" i="1" dirty="0"/>
              <a:t>s</a:t>
            </a:r>
            <a:r>
              <a:rPr kumimoji="1" lang="en-US" altLang="zh-CN" sz="2400" baseline="-25000" dirty="0"/>
              <a:t>1</a:t>
            </a:r>
            <a:r>
              <a:rPr kumimoji="1" lang="en-US" altLang="zh-CN" sz="2400" dirty="0"/>
              <a:t>=11001</a:t>
            </a:r>
            <a:r>
              <a:rPr kumimoji="1" lang="zh-CN" altLang="en-US" sz="2400" dirty="0"/>
              <a:t>（</a:t>
            </a:r>
            <a:r>
              <a:rPr kumimoji="1" lang="en-US" altLang="zh-CN" sz="2400" dirty="0"/>
              <a:t>25</a:t>
            </a:r>
            <a:r>
              <a:rPr kumimoji="1" lang="zh-CN" altLang="en-US" sz="2400" dirty="0"/>
              <a:t>）</a:t>
            </a:r>
            <a:r>
              <a:rPr kumimoji="1" lang="en-US" altLang="zh-CN" sz="2400" dirty="0"/>
              <a:t>, </a:t>
            </a:r>
            <a:r>
              <a:rPr kumimoji="1" lang="en-US" altLang="zh-CN" sz="2400" i="1" dirty="0"/>
              <a:t>s</a:t>
            </a:r>
            <a:r>
              <a:rPr kumimoji="1" lang="en-US" altLang="zh-CN" sz="2400" baseline="-25000" dirty="0"/>
              <a:t>2</a:t>
            </a:r>
            <a:r>
              <a:rPr kumimoji="1" lang="en-US" altLang="zh-CN" sz="2400" dirty="0"/>
              <a:t>=01100</a:t>
            </a:r>
            <a:r>
              <a:rPr kumimoji="1" lang="zh-CN" altLang="en-US" sz="2400" dirty="0"/>
              <a:t>（</a:t>
            </a:r>
            <a:r>
              <a:rPr kumimoji="1" lang="en-US" altLang="zh-CN" sz="2400" dirty="0"/>
              <a:t>12</a:t>
            </a:r>
            <a:r>
              <a:rPr kumimoji="1" lang="zh-CN" altLang="en-US" sz="2400" dirty="0"/>
              <a:t>）</a:t>
            </a:r>
          </a:p>
          <a:p>
            <a:pPr>
              <a:buFont typeface="Wingdings" panose="05000000000000000000" pitchFamily="2" charset="2"/>
              <a:buNone/>
            </a:pPr>
            <a:r>
              <a:rPr kumimoji="1" lang="zh-CN" altLang="en-US" sz="2400" dirty="0"/>
              <a:t>         </a:t>
            </a:r>
            <a:r>
              <a:rPr kumimoji="1" lang="en-US" altLang="zh-CN" sz="2400" i="1" dirty="0"/>
              <a:t>s</a:t>
            </a:r>
            <a:r>
              <a:rPr kumimoji="1" lang="en-US" altLang="zh-CN" sz="2400" baseline="-25000" dirty="0"/>
              <a:t>3</a:t>
            </a:r>
            <a:r>
              <a:rPr kumimoji="1" lang="en-US" altLang="zh-CN" sz="2400" dirty="0"/>
              <a:t>=11011</a:t>
            </a:r>
            <a:r>
              <a:rPr kumimoji="1" lang="zh-CN" altLang="en-US" sz="2400" dirty="0"/>
              <a:t>（</a:t>
            </a:r>
            <a:r>
              <a:rPr kumimoji="1" lang="en-US" altLang="zh-CN" sz="2400" dirty="0"/>
              <a:t>27</a:t>
            </a:r>
            <a:r>
              <a:rPr kumimoji="1" lang="zh-CN" altLang="en-US" sz="2400" dirty="0"/>
              <a:t>）</a:t>
            </a:r>
            <a:r>
              <a:rPr kumimoji="1" lang="en-US" altLang="zh-CN" sz="2400" dirty="0"/>
              <a:t>, </a:t>
            </a:r>
            <a:r>
              <a:rPr kumimoji="1" lang="en-US" altLang="zh-CN" sz="2400" i="1" dirty="0"/>
              <a:t>s</a:t>
            </a:r>
            <a:r>
              <a:rPr kumimoji="1" lang="en-US" altLang="zh-CN" sz="2400" baseline="-25000" dirty="0"/>
              <a:t>4</a:t>
            </a:r>
            <a:r>
              <a:rPr kumimoji="1" lang="en-US" altLang="zh-CN" sz="2400" dirty="0"/>
              <a:t>=10000</a:t>
            </a:r>
            <a:r>
              <a:rPr kumimoji="1" lang="zh-CN" altLang="en-US" sz="2400" dirty="0"/>
              <a:t>（</a:t>
            </a:r>
            <a:r>
              <a:rPr kumimoji="1" lang="en-US" altLang="zh-CN" sz="2400" dirty="0"/>
              <a:t>16</a:t>
            </a:r>
            <a:r>
              <a:rPr kumimoji="1" lang="zh-CN" altLang="en-US" sz="2400" dirty="0"/>
              <a:t>）</a:t>
            </a:r>
          </a:p>
        </p:txBody>
      </p:sp>
      <p:sp>
        <p:nvSpPr>
          <p:cNvPr id="9" name="文本框 8">
            <a:extLst>
              <a:ext uri="{FF2B5EF4-FFF2-40B4-BE49-F238E27FC236}">
                <a16:creationId xmlns:a16="http://schemas.microsoft.com/office/drawing/2014/main" id="{E4353B20-ABF2-4E7B-93E9-80DFA4314580}"/>
              </a:ext>
            </a:extLst>
          </p:cNvPr>
          <p:cNvSpPr txBox="1"/>
          <p:nvPr/>
        </p:nvSpPr>
        <p:spPr>
          <a:xfrm>
            <a:off x="6753995" y="4618396"/>
            <a:ext cx="2304255" cy="1200329"/>
          </a:xfrm>
          <a:prstGeom prst="rect">
            <a:avLst/>
          </a:prstGeom>
          <a:solidFill>
            <a:srgbClr val="FFFF66"/>
          </a:solidFill>
          <a:ln>
            <a:solidFill>
              <a:schemeClr val="tx1"/>
            </a:solidFill>
          </a:ln>
        </p:spPr>
        <p:txBody>
          <a:bodyPr wrap="square" rtlCol="0">
            <a:spAutoFit/>
          </a:bodyPr>
          <a:lstStyle/>
          <a:p>
            <a:r>
              <a:rPr lang="zh-CN" altLang="en-US" sz="2400" b="1" dirty="0">
                <a:solidFill>
                  <a:srgbClr val="FF0000"/>
                </a:solidFill>
              </a:rPr>
              <a:t>回到步骤</a:t>
            </a:r>
            <a:r>
              <a:rPr lang="en-US" altLang="zh-CN" sz="2400" b="1" dirty="0">
                <a:solidFill>
                  <a:srgbClr val="FF0000"/>
                </a:solidFill>
              </a:rPr>
              <a:t>3</a:t>
            </a:r>
            <a:r>
              <a:rPr lang="zh-CN" altLang="en-US" sz="2400" b="1" dirty="0">
                <a:solidFill>
                  <a:srgbClr val="FF0000"/>
                </a:solidFill>
              </a:rPr>
              <a:t>重新进行下一轮遗传迭代</a:t>
            </a:r>
          </a:p>
        </p:txBody>
      </p:sp>
    </p:spTree>
    <p:extLst>
      <p:ext uri="{BB962C8B-B14F-4D97-AF65-F5344CB8AC3E}">
        <p14:creationId xmlns:p14="http://schemas.microsoft.com/office/powerpoint/2010/main" val="3732294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遗传学相关术语与遗传算法对应关系</a:t>
            </a:r>
            <a:endParaRPr lang="en-US" altLang="zh-CN"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22</a:t>
            </a:fld>
            <a:endParaRPr lang="en-US" altLang="zh-CN" dirty="0"/>
          </a:p>
        </p:txBody>
      </p:sp>
      <p:graphicFrame>
        <p:nvGraphicFramePr>
          <p:cNvPr id="10" name="Group 143">
            <a:extLst>
              <a:ext uri="{FF2B5EF4-FFF2-40B4-BE49-F238E27FC236}">
                <a16:creationId xmlns:a16="http://schemas.microsoft.com/office/drawing/2014/main" id="{2999280D-2D89-4ACA-8DA7-84CCFECCAE66}"/>
              </a:ext>
            </a:extLst>
          </p:cNvPr>
          <p:cNvGraphicFramePr>
            <a:graphicFrameLocks/>
          </p:cNvGraphicFramePr>
          <p:nvPr/>
        </p:nvGraphicFramePr>
        <p:xfrm>
          <a:off x="272480" y="1844824"/>
          <a:ext cx="8991600" cy="4508000"/>
        </p:xfrm>
        <a:graphic>
          <a:graphicData uri="http://schemas.openxmlformats.org/drawingml/2006/table">
            <a:tbl>
              <a:tblPr>
                <a:tableStyleId>{5940675A-B579-460E-94D1-54222C63F5DA}</a:tableStyleId>
              </a:tblPr>
              <a:tblGrid>
                <a:gridCol w="625475">
                  <a:extLst>
                    <a:ext uri="{9D8B030D-6E8A-4147-A177-3AD203B41FA5}">
                      <a16:colId xmlns:a16="http://schemas.microsoft.com/office/drawing/2014/main" val="2035049560"/>
                    </a:ext>
                  </a:extLst>
                </a:gridCol>
                <a:gridCol w="1198563">
                  <a:extLst>
                    <a:ext uri="{9D8B030D-6E8A-4147-A177-3AD203B41FA5}">
                      <a16:colId xmlns:a16="http://schemas.microsoft.com/office/drawing/2014/main" val="1756191370"/>
                    </a:ext>
                  </a:extLst>
                </a:gridCol>
                <a:gridCol w="4068762">
                  <a:extLst>
                    <a:ext uri="{9D8B030D-6E8A-4147-A177-3AD203B41FA5}">
                      <a16:colId xmlns:a16="http://schemas.microsoft.com/office/drawing/2014/main" val="725797036"/>
                    </a:ext>
                  </a:extLst>
                </a:gridCol>
                <a:gridCol w="3098800">
                  <a:extLst>
                    <a:ext uri="{9D8B030D-6E8A-4147-A177-3AD203B41FA5}">
                      <a16:colId xmlns:a16="http://schemas.microsoft.com/office/drawing/2014/main" val="1798605285"/>
                    </a:ext>
                  </a:extLst>
                </a:gridCol>
              </a:tblGrid>
              <a:tr h="1984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endParaRPr kumimoji="0" lang="zh-CN"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dirty="0">
                          <a:ln>
                            <a:noFill/>
                          </a:ln>
                          <a:effectLst/>
                        </a:rPr>
                        <a:t>遗传学</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dirty="0">
                          <a:ln>
                            <a:noFill/>
                          </a:ln>
                          <a:effectLst/>
                        </a:rPr>
                        <a:t>遗传算法</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数学</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3565414761"/>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1</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个体</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要处理的基本对象、结构</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也就是可行解</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2507162672"/>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群体</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个体的集合</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被选定的一组可行解</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1769216201"/>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3</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染色体</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个体的表现形式</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可行解的编码</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3166382508"/>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4</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基因</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染色体中的元素</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编码中的元素</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3092197471"/>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5</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dirty="0">
                          <a:ln>
                            <a:noFill/>
                          </a:ln>
                          <a:effectLst/>
                        </a:rPr>
                        <a:t>基因位</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某一基因在染色体中的位置</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元素在编码中的位置</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482667622"/>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6</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适应值</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个体对于环境的适应程度，或在环境压力下的生存能力</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可行解所对应的适应函数值</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3088400547"/>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dirty="0">
                          <a:ln>
                            <a:noFill/>
                          </a:ln>
                          <a:effectLst/>
                        </a:rPr>
                        <a:t>7</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种群</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被选定的一组染色体或个体</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根据入选概率定出的一组可行解</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2151135965"/>
                  </a:ext>
                </a:extLst>
              </a:tr>
              <a:tr h="711200">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8</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选择</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从群体中选择优胜的个体，淘汰劣质个体的操作</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dirty="0">
                          <a:ln>
                            <a:noFill/>
                          </a:ln>
                          <a:effectLst/>
                        </a:rPr>
                        <a:t>保留或复制适应值大的可行解，去掉小的可行解</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4091681496"/>
                  </a:ext>
                </a:extLst>
              </a:tr>
            </a:tbl>
          </a:graphicData>
        </a:graphic>
      </p:graphicFrame>
    </p:spTree>
    <p:extLst>
      <p:ext uri="{BB962C8B-B14F-4D97-AF65-F5344CB8AC3E}">
        <p14:creationId xmlns:p14="http://schemas.microsoft.com/office/powerpoint/2010/main" val="1054276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r>
              <a:rPr lang="zh-CN" altLang="en-US" dirty="0"/>
              <a:t>遗传学相关术语与遗传算法对应关系</a:t>
            </a:r>
            <a:endParaRPr lang="en-US" altLang="zh-CN"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23</a:t>
            </a:fld>
            <a:endParaRPr lang="en-US" altLang="zh-CN" dirty="0"/>
          </a:p>
        </p:txBody>
      </p:sp>
      <p:graphicFrame>
        <p:nvGraphicFramePr>
          <p:cNvPr id="7" name="Group 198">
            <a:extLst>
              <a:ext uri="{FF2B5EF4-FFF2-40B4-BE49-F238E27FC236}">
                <a16:creationId xmlns:a16="http://schemas.microsoft.com/office/drawing/2014/main" id="{9FBBAA3E-234E-48F3-9A12-9706476DFE5B}"/>
              </a:ext>
            </a:extLst>
          </p:cNvPr>
          <p:cNvGraphicFramePr>
            <a:graphicFrameLocks/>
          </p:cNvGraphicFramePr>
          <p:nvPr/>
        </p:nvGraphicFramePr>
        <p:xfrm>
          <a:off x="152400" y="1905000"/>
          <a:ext cx="8915400" cy="3609600"/>
        </p:xfrm>
        <a:graphic>
          <a:graphicData uri="http://schemas.openxmlformats.org/drawingml/2006/table">
            <a:tbl>
              <a:tblPr>
                <a:tableStyleId>{5940675A-B579-460E-94D1-54222C63F5DA}</a:tableStyleId>
              </a:tblPr>
              <a:tblGrid>
                <a:gridCol w="620713">
                  <a:extLst>
                    <a:ext uri="{9D8B030D-6E8A-4147-A177-3AD203B41FA5}">
                      <a16:colId xmlns:a16="http://schemas.microsoft.com/office/drawing/2014/main" val="640968678"/>
                    </a:ext>
                  </a:extLst>
                </a:gridCol>
                <a:gridCol w="1554162">
                  <a:extLst>
                    <a:ext uri="{9D8B030D-6E8A-4147-A177-3AD203B41FA5}">
                      <a16:colId xmlns:a16="http://schemas.microsoft.com/office/drawing/2014/main" val="1467387903"/>
                    </a:ext>
                  </a:extLst>
                </a:gridCol>
                <a:gridCol w="3668713">
                  <a:extLst>
                    <a:ext uri="{9D8B030D-6E8A-4147-A177-3AD203B41FA5}">
                      <a16:colId xmlns:a16="http://schemas.microsoft.com/office/drawing/2014/main" val="4195039194"/>
                    </a:ext>
                  </a:extLst>
                </a:gridCol>
                <a:gridCol w="3071812">
                  <a:extLst>
                    <a:ext uri="{9D8B030D-6E8A-4147-A177-3AD203B41FA5}">
                      <a16:colId xmlns:a16="http://schemas.microsoft.com/office/drawing/2014/main" val="3190741533"/>
                    </a:ext>
                  </a:extLst>
                </a:gridCol>
              </a:tblGrid>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endParaRPr kumimoji="0" lang="zh-CN"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遗传学</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遗传算法</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数学</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2701622416"/>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9</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dirty="0">
                          <a:ln>
                            <a:noFill/>
                          </a:ln>
                          <a:effectLst/>
                        </a:rPr>
                        <a:t>交叉</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一组染色体上对应基因段的交换</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根据交叉原则产生的一组新解</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4049106016"/>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10</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dirty="0">
                          <a:ln>
                            <a:noFill/>
                          </a:ln>
                          <a:effectLst/>
                        </a:rPr>
                        <a:t>交叉概率</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染色体对应基因段交换的概率（可能性大小）</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闭区间</a:t>
                      </a:r>
                      <a:r>
                        <a:rPr kumimoji="0" lang="en-US" altLang="zh-CN" sz="2000" u="none" strike="noStrike" cap="none" normalizeH="0" baseline="0">
                          <a:ln>
                            <a:noFill/>
                          </a:ln>
                          <a:effectLst/>
                        </a:rPr>
                        <a:t>[0,1]</a:t>
                      </a:r>
                      <a:r>
                        <a:rPr kumimoji="0" lang="zh-CN" altLang="en-US" sz="2000" u="none" strike="noStrike" cap="none" normalizeH="0" baseline="0">
                          <a:ln>
                            <a:noFill/>
                          </a:ln>
                          <a:effectLst/>
                        </a:rPr>
                        <a:t>上的一个值，一般为</a:t>
                      </a:r>
                      <a:r>
                        <a:rPr kumimoji="0" lang="en-US" altLang="zh-CN" sz="2000" u="none" strike="noStrike" cap="none" normalizeH="0" baseline="0">
                          <a:ln>
                            <a:noFill/>
                          </a:ln>
                          <a:effectLst/>
                        </a:rPr>
                        <a:t>0.65~0.90</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3210605280"/>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11</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变异</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染色体水平上基因变化</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编码的某些元素被改变</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4195244980"/>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12</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变异概率</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染色体上基因变化的概率（可能性大小）</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开区间</a:t>
                      </a:r>
                      <a:r>
                        <a:rPr kumimoji="0" lang="en-US" altLang="zh-CN" sz="2000" u="none" strike="noStrike" cap="none" normalizeH="0" baseline="0">
                          <a:ln>
                            <a:noFill/>
                          </a:ln>
                          <a:effectLst/>
                        </a:rPr>
                        <a:t>(0,1)</a:t>
                      </a:r>
                      <a:r>
                        <a:rPr kumimoji="0" lang="zh-CN" altLang="en-US" sz="2000" u="none" strike="noStrike" cap="none" normalizeH="0" baseline="0">
                          <a:ln>
                            <a:noFill/>
                          </a:ln>
                          <a:effectLst/>
                        </a:rPr>
                        <a:t>内的一个值</a:t>
                      </a:r>
                      <a:r>
                        <a:rPr kumimoji="0" lang="en-US" altLang="zh-CN" sz="2000" u="none" strike="noStrike" cap="none" normalizeH="0" baseline="0">
                          <a:ln>
                            <a:noFill/>
                          </a:ln>
                          <a:effectLst/>
                        </a:rPr>
                        <a:t>, </a:t>
                      </a:r>
                      <a:r>
                        <a:rPr kumimoji="0" lang="zh-CN" altLang="en-US" sz="2000" u="none" strike="noStrike" cap="none" normalizeH="0" baseline="0">
                          <a:ln>
                            <a:noFill/>
                          </a:ln>
                          <a:effectLst/>
                        </a:rPr>
                        <a:t>一般为</a:t>
                      </a:r>
                      <a:r>
                        <a:rPr kumimoji="0" lang="en-US" altLang="zh-CN" sz="2000" u="none" strike="noStrike" cap="none" normalizeH="0" baseline="0">
                          <a:ln>
                            <a:noFill/>
                          </a:ln>
                          <a:effectLst/>
                        </a:rPr>
                        <a:t>0.001~0.01</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226805981"/>
                  </a:ext>
                </a:extLst>
              </a:tr>
              <a:tr h="27463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Tx/>
                        <a:buNone/>
                        <a:tabLst/>
                      </a:pPr>
                      <a:r>
                        <a:rPr kumimoji="0" lang="en-US" altLang="zh-CN" sz="2000" u="none" strike="noStrike" cap="none" normalizeH="0" baseline="0">
                          <a:ln>
                            <a:noFill/>
                          </a:ln>
                          <a:effectLst/>
                        </a:rPr>
                        <a:t>13</a:t>
                      </a:r>
                      <a:endPar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进化、</a:t>
                      </a:r>
                    </a:p>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适者生存</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a:ln>
                            <a:noFill/>
                          </a:ln>
                          <a:effectLst/>
                        </a:rPr>
                        <a:t>个体进行优胜劣汰的进化，一代又一代地优化</a:t>
                      </a:r>
                      <a:endParaRPr kumimoji="0" lang="zh-CN" altLang="en-US"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5pPr>
                      <a:lvl6pPr marL="25146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6pPr>
                      <a:lvl7pPr marL="29718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7pPr>
                      <a:lvl8pPr marL="34290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8pPr>
                      <a:lvl9pPr marL="3886200" indent="-228600"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Tx/>
                        <a:buNone/>
                        <a:tabLst/>
                      </a:pPr>
                      <a:r>
                        <a:rPr kumimoji="0" lang="zh-CN" altLang="en-US" sz="2000" u="none" strike="noStrike" cap="none" normalizeH="0" baseline="0" dirty="0">
                          <a:ln>
                            <a:noFill/>
                          </a:ln>
                          <a:effectLst/>
                        </a:rPr>
                        <a:t>目标函数取到最大值，最优的可行解</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72000" marR="18000" marT="46800" marB="46800" horzOverflow="overflow"/>
                </a:tc>
                <a:extLst>
                  <a:ext uri="{0D108BD9-81ED-4DB2-BD59-A6C34878D82A}">
                    <a16:rowId xmlns:a16="http://schemas.microsoft.com/office/drawing/2014/main" val="3531264817"/>
                  </a:ext>
                </a:extLst>
              </a:tr>
            </a:tbl>
          </a:graphicData>
        </a:graphic>
      </p:graphicFrame>
    </p:spTree>
    <p:extLst>
      <p:ext uri="{BB962C8B-B14F-4D97-AF65-F5344CB8AC3E}">
        <p14:creationId xmlns:p14="http://schemas.microsoft.com/office/powerpoint/2010/main" val="2889047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9038-D4E6-45CF-AB77-F8DFC213678F}"/>
              </a:ext>
            </a:extLst>
          </p:cNvPr>
          <p:cNvSpPr>
            <a:spLocks noGrp="1"/>
          </p:cNvSpPr>
          <p:nvPr>
            <p:ph type="title"/>
          </p:nvPr>
        </p:nvSpPr>
        <p:spPr/>
        <p:txBody>
          <a:bodyPr/>
          <a:lstStyle/>
          <a:p>
            <a:r>
              <a:rPr lang="zh-CN" altLang="en-US" dirty="0"/>
              <a:t>遗传算法步骤</a:t>
            </a:r>
          </a:p>
        </p:txBody>
      </p:sp>
      <p:sp>
        <p:nvSpPr>
          <p:cNvPr id="3" name="内容占位符 2">
            <a:extLst>
              <a:ext uri="{FF2B5EF4-FFF2-40B4-BE49-F238E27FC236}">
                <a16:creationId xmlns:a16="http://schemas.microsoft.com/office/drawing/2014/main" id="{E56EB633-8414-4B9A-BACA-945920E91889}"/>
              </a:ext>
            </a:extLst>
          </p:cNvPr>
          <p:cNvSpPr>
            <a:spLocks noGrp="1"/>
          </p:cNvSpPr>
          <p:nvPr>
            <p:ph idx="1"/>
          </p:nvPr>
        </p:nvSpPr>
        <p:spPr/>
        <p:txBody>
          <a:bodyPr/>
          <a:lstStyle/>
          <a:p>
            <a:pPr>
              <a:lnSpc>
                <a:spcPct val="120000"/>
              </a:lnSpc>
              <a:buClr>
                <a:srgbClr val="0000FF"/>
              </a:buClr>
              <a:buFont typeface="Wingdings" panose="05000000000000000000" pitchFamily="2" charset="2"/>
              <a:buAutoNum type="circleNumDbPlain"/>
            </a:pPr>
            <a:r>
              <a:rPr kumimoji="1" lang="zh-CN" altLang="en-US" sz="2400" dirty="0">
                <a:latin typeface="Times New Roman" panose="02020603050405020304" pitchFamily="18" charset="0"/>
                <a:ea typeface="黑体" panose="02010609060101010101" pitchFamily="49" charset="-122"/>
              </a:rPr>
              <a:t>选择编码策略，把参数集合（可行解集合）转换染色体结构空间；</a:t>
            </a:r>
          </a:p>
          <a:p>
            <a:pPr>
              <a:lnSpc>
                <a:spcPct val="120000"/>
              </a:lnSpc>
              <a:buClr>
                <a:srgbClr val="0000FF"/>
              </a:buClr>
              <a:buFont typeface="Wingdings" panose="05000000000000000000" pitchFamily="2" charset="2"/>
              <a:buAutoNum type="circleNumDbPlain"/>
            </a:pPr>
            <a:r>
              <a:rPr kumimoji="1" lang="zh-CN" altLang="en-US" sz="2400" dirty="0">
                <a:latin typeface="Times New Roman" panose="02020603050405020304" pitchFamily="18" charset="0"/>
                <a:ea typeface="黑体" panose="02010609060101010101" pitchFamily="49" charset="-122"/>
              </a:rPr>
              <a:t>定义适应度函数，便于计算适应值；</a:t>
            </a:r>
          </a:p>
          <a:p>
            <a:pPr>
              <a:lnSpc>
                <a:spcPct val="120000"/>
              </a:lnSpc>
              <a:buClr>
                <a:srgbClr val="0000FF"/>
              </a:buClr>
              <a:buFont typeface="Wingdings" panose="05000000000000000000" pitchFamily="2" charset="2"/>
              <a:buAutoNum type="circleNumDbPlain"/>
            </a:pPr>
            <a:r>
              <a:rPr kumimoji="1" lang="zh-CN" altLang="en-US" sz="2400" dirty="0">
                <a:latin typeface="Times New Roman" panose="02020603050405020304" pitchFamily="18" charset="0"/>
                <a:ea typeface="黑体" panose="02010609060101010101" pitchFamily="49" charset="-122"/>
              </a:rPr>
              <a:t>确定遗传策略，包括选择群体大小，选择、交叉、变异方法以及确定交叉概率、变异概率等遗传参数；</a:t>
            </a:r>
          </a:p>
          <a:p>
            <a:pPr>
              <a:lnSpc>
                <a:spcPct val="120000"/>
              </a:lnSpc>
              <a:buClr>
                <a:srgbClr val="0000FF"/>
              </a:buClr>
              <a:buFont typeface="Wingdings" panose="05000000000000000000" pitchFamily="2" charset="2"/>
              <a:buAutoNum type="circleNumDbPlain"/>
            </a:pPr>
            <a:r>
              <a:rPr kumimoji="1" lang="zh-CN" altLang="en-US" sz="2400" dirty="0">
                <a:latin typeface="Times New Roman" panose="02020603050405020304" pitchFamily="18" charset="0"/>
                <a:ea typeface="黑体" panose="02010609060101010101" pitchFamily="49" charset="-122"/>
              </a:rPr>
              <a:t>随机产生初始化群体；</a:t>
            </a:r>
            <a:endParaRPr kumimoji="1" lang="en-US" altLang="zh-CN" sz="2400" dirty="0">
              <a:latin typeface="Times New Roman" panose="02020603050405020304" pitchFamily="18" charset="0"/>
              <a:ea typeface="黑体" panose="02010609060101010101" pitchFamily="49" charset="-122"/>
            </a:endParaRPr>
          </a:p>
          <a:p>
            <a:pPr>
              <a:lnSpc>
                <a:spcPct val="120000"/>
              </a:lnSpc>
              <a:buClr>
                <a:srgbClr val="0000FF"/>
              </a:buClr>
              <a:buFont typeface="Wingdings" panose="05000000000000000000" pitchFamily="2" charset="2"/>
              <a:buAutoNum type="circleNumDbPlain" startAt="5"/>
            </a:pPr>
            <a:r>
              <a:rPr kumimoji="1" lang="zh-CN" altLang="en-US" sz="2400" dirty="0">
                <a:latin typeface="Times New Roman" panose="02020603050405020304" pitchFamily="18" charset="0"/>
                <a:ea typeface="黑体" panose="02010609060101010101" pitchFamily="49" charset="-122"/>
              </a:rPr>
              <a:t>计算群体中的个体或染色体解码后的适应值；</a:t>
            </a:r>
          </a:p>
          <a:p>
            <a:pPr>
              <a:lnSpc>
                <a:spcPct val="120000"/>
              </a:lnSpc>
              <a:buClr>
                <a:srgbClr val="0000FF"/>
              </a:buClr>
              <a:buFont typeface="Wingdings" panose="05000000000000000000" pitchFamily="2" charset="2"/>
              <a:buAutoNum type="circleNumDbPlain" startAt="6"/>
            </a:pPr>
            <a:r>
              <a:rPr kumimoji="1" lang="zh-CN" altLang="en-US" sz="2400" dirty="0">
                <a:latin typeface="Times New Roman" panose="02020603050405020304" pitchFamily="18" charset="0"/>
                <a:ea typeface="黑体" panose="02010609060101010101" pitchFamily="49" charset="-122"/>
              </a:rPr>
              <a:t>按照遗传策略，运用选择、交叉和变异算子作用于群体，形成下一代群体；</a:t>
            </a:r>
          </a:p>
          <a:p>
            <a:pPr>
              <a:lnSpc>
                <a:spcPct val="120000"/>
              </a:lnSpc>
              <a:buClr>
                <a:srgbClr val="0000FF"/>
              </a:buClr>
              <a:buFont typeface="Wingdings" panose="05000000000000000000" pitchFamily="2" charset="2"/>
              <a:buAutoNum type="circleNumDbPlain" startAt="7"/>
            </a:pPr>
            <a:r>
              <a:rPr kumimoji="1" lang="zh-CN" altLang="en-US" sz="2400" dirty="0">
                <a:latin typeface="Times New Roman" panose="02020603050405020304" pitchFamily="18" charset="0"/>
                <a:ea typeface="黑体" panose="02010609060101010101" pitchFamily="49" charset="-122"/>
              </a:rPr>
              <a:t>判断群体性能是否满足某一指标，或者已完成预定的迭代次数，不满足则返回第五步，或者修改遗传策略再返回第六步．</a:t>
            </a:r>
          </a:p>
          <a:p>
            <a:pPr>
              <a:lnSpc>
                <a:spcPct val="120000"/>
              </a:lnSpc>
              <a:buClr>
                <a:srgbClr val="0000FF"/>
              </a:buClr>
              <a:buFont typeface="Wingdings" panose="05000000000000000000" pitchFamily="2" charset="2"/>
              <a:buAutoNum type="circleNumDbPlain"/>
            </a:pPr>
            <a:endParaRPr kumimoji="1" lang="zh-CN" altLang="en-US" sz="2400" dirty="0">
              <a:latin typeface="Times New Roman" panose="02020603050405020304" pitchFamily="18" charset="0"/>
              <a:ea typeface="黑体" panose="02010609060101010101" pitchFamily="49" charset="-122"/>
            </a:endParaRPr>
          </a:p>
          <a:p>
            <a:pPr lvl="1"/>
            <a:endParaRPr lang="zh-CN" altLang="en-US" dirty="0"/>
          </a:p>
        </p:txBody>
      </p:sp>
      <p:sp>
        <p:nvSpPr>
          <p:cNvPr id="4" name="日期占位符 3">
            <a:extLst>
              <a:ext uri="{FF2B5EF4-FFF2-40B4-BE49-F238E27FC236}">
                <a16:creationId xmlns:a16="http://schemas.microsoft.com/office/drawing/2014/main" id="{2A29C8ED-7213-4AA5-BC12-BEF4F6C23039}"/>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7448DDD-4D16-4440-822E-ECEEB18AF034}"/>
              </a:ext>
            </a:extLst>
          </p:cNvPr>
          <p:cNvSpPr>
            <a:spLocks noGrp="1"/>
          </p:cNvSpPr>
          <p:nvPr>
            <p:ph type="sldNum" sz="quarter" idx="12"/>
          </p:nvPr>
        </p:nvSpPr>
        <p:spPr/>
        <p:txBody>
          <a:bodyPr/>
          <a:lstStyle/>
          <a:p>
            <a:fld id="{7AC79822-BC0D-4DE8-A7E5-90A3732A2B82}" type="slidenum">
              <a:rPr lang="zh-CN" altLang="en-US" smtClean="0"/>
              <a:pPr/>
              <a:t>24</a:t>
            </a:fld>
            <a:endParaRPr lang="en-US" altLang="zh-CN" dirty="0"/>
          </a:p>
        </p:txBody>
      </p:sp>
    </p:spTree>
    <p:extLst>
      <p:ext uri="{BB962C8B-B14F-4D97-AF65-F5344CB8AC3E}">
        <p14:creationId xmlns:p14="http://schemas.microsoft.com/office/powerpoint/2010/main" val="4071965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72168-739E-4FF2-B4C5-774CB2FC6DA8}"/>
              </a:ext>
            </a:extLst>
          </p:cNvPr>
          <p:cNvSpPr>
            <a:spLocks noGrp="1"/>
          </p:cNvSpPr>
          <p:nvPr>
            <p:ph type="title"/>
          </p:nvPr>
        </p:nvSpPr>
        <p:spPr/>
        <p:txBody>
          <a:bodyPr/>
          <a:lstStyle/>
          <a:p>
            <a:r>
              <a:rPr lang="zh-CN" altLang="en-US" dirty="0"/>
              <a:t>遗传算法流程框图</a:t>
            </a:r>
          </a:p>
        </p:txBody>
      </p:sp>
      <p:sp>
        <p:nvSpPr>
          <p:cNvPr id="4" name="日期占位符 3">
            <a:extLst>
              <a:ext uri="{FF2B5EF4-FFF2-40B4-BE49-F238E27FC236}">
                <a16:creationId xmlns:a16="http://schemas.microsoft.com/office/drawing/2014/main" id="{07DD6D61-F080-40E6-88AC-ACF26012F81E}"/>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7B0B8304-B450-4FED-A335-2B56740035C0}"/>
              </a:ext>
            </a:extLst>
          </p:cNvPr>
          <p:cNvSpPr>
            <a:spLocks noGrp="1"/>
          </p:cNvSpPr>
          <p:nvPr>
            <p:ph type="sldNum" sz="quarter" idx="12"/>
          </p:nvPr>
        </p:nvSpPr>
        <p:spPr/>
        <p:txBody>
          <a:bodyPr/>
          <a:lstStyle/>
          <a:p>
            <a:fld id="{7AC79822-BC0D-4DE8-A7E5-90A3732A2B82}" type="slidenum">
              <a:rPr lang="zh-CN" altLang="en-US" smtClean="0"/>
              <a:pPr/>
              <a:t>25</a:t>
            </a:fld>
            <a:endParaRPr lang="en-US" altLang="zh-CN" dirty="0"/>
          </a:p>
        </p:txBody>
      </p:sp>
      <p:pic>
        <p:nvPicPr>
          <p:cNvPr id="34" name="20 33">
            <a:extLst>
              <a:ext uri="{FF2B5EF4-FFF2-40B4-BE49-F238E27FC236}">
                <a16:creationId xmlns:a16="http://schemas.microsoft.com/office/drawing/2014/main" id="{B3A39692-33BA-4F79-A801-ABE85DAE35C2}"/>
              </a:ext>
            </a:extLst>
          </p:cNvPr>
          <p:cNvPicPr>
            <a:picLocks noChangeAspect="1"/>
          </p:cNvPicPr>
          <p:nvPr/>
        </p:nvPicPr>
        <p:blipFill>
          <a:blip r:embed="rId2"/>
          <a:stretch>
            <a:fillRect/>
          </a:stretch>
        </p:blipFill>
        <p:spPr>
          <a:xfrm>
            <a:off x="1496616" y="1100081"/>
            <a:ext cx="7316670" cy="5417534"/>
          </a:xfrm>
          <a:prstGeom prst="rect">
            <a:avLst/>
          </a:prstGeom>
        </p:spPr>
      </p:pic>
    </p:spTree>
    <p:extLst>
      <p:ext uri="{BB962C8B-B14F-4D97-AF65-F5344CB8AC3E}">
        <p14:creationId xmlns:p14="http://schemas.microsoft.com/office/powerpoint/2010/main" val="1103227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B97E79-0ED4-4CBF-999D-74F66481ABC0}"/>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E0B40DEC-9C2C-49BA-B6BD-180FA83CA2CF}"/>
              </a:ext>
            </a:extLst>
          </p:cNvPr>
          <p:cNvSpPr>
            <a:spLocks noGrp="1"/>
          </p:cNvSpPr>
          <p:nvPr>
            <p:ph idx="1"/>
          </p:nvPr>
        </p:nvSpPr>
        <p:spPr/>
        <p:txBody>
          <a:bodyPr/>
          <a:lstStyle/>
          <a:p>
            <a:r>
              <a:rPr lang="zh-CN" altLang="en-US" dirty="0"/>
              <a:t>特点：</a:t>
            </a:r>
            <a:endParaRPr lang="en-US" altLang="zh-CN" dirty="0"/>
          </a:p>
          <a:p>
            <a:pPr lvl="1"/>
            <a:r>
              <a:rPr lang="zh-CN" altLang="en-US" dirty="0"/>
              <a:t>适用性强</a:t>
            </a:r>
            <a:endParaRPr lang="en-US" altLang="zh-CN" dirty="0"/>
          </a:p>
          <a:p>
            <a:pPr lvl="2"/>
            <a:r>
              <a:rPr lang="zh-CN" altLang="en-US" dirty="0"/>
              <a:t>对变量编码操作，可以适用各类问题求解。</a:t>
            </a:r>
            <a:endParaRPr lang="en-US" altLang="zh-CN" dirty="0"/>
          </a:p>
          <a:p>
            <a:pPr lvl="1"/>
            <a:r>
              <a:rPr lang="zh-CN" altLang="en-US" dirty="0"/>
              <a:t>并行性</a:t>
            </a:r>
            <a:endParaRPr lang="en-US" altLang="zh-CN" dirty="0"/>
          </a:p>
          <a:p>
            <a:pPr lvl="2"/>
            <a:r>
              <a:rPr lang="zh-CN" altLang="en-US" dirty="0"/>
              <a:t>从一组初始点进行搜索，具有并发执行特点</a:t>
            </a:r>
            <a:endParaRPr lang="en-US" altLang="zh-CN" dirty="0"/>
          </a:p>
          <a:p>
            <a:pPr lvl="1"/>
            <a:r>
              <a:rPr lang="zh-CN" altLang="en-US" dirty="0"/>
              <a:t>不易陷于局部最优</a:t>
            </a:r>
            <a:endParaRPr lang="en-US" altLang="zh-CN" dirty="0"/>
          </a:p>
          <a:p>
            <a:pPr lvl="2"/>
            <a:r>
              <a:rPr lang="zh-CN" altLang="en-US" dirty="0"/>
              <a:t>选择、交叉、变异机制使得遗传算法大概率趋近最优解。</a:t>
            </a:r>
            <a:endParaRPr lang="en-US" altLang="zh-CN" dirty="0"/>
          </a:p>
          <a:p>
            <a:pPr lvl="2"/>
            <a:endParaRPr lang="en-US" altLang="zh-CN" dirty="0"/>
          </a:p>
          <a:p>
            <a:pPr lvl="1"/>
            <a:endParaRPr lang="en-US" altLang="zh-CN" dirty="0"/>
          </a:p>
        </p:txBody>
      </p:sp>
      <p:sp>
        <p:nvSpPr>
          <p:cNvPr id="4" name="日期占位符 3">
            <a:extLst>
              <a:ext uri="{FF2B5EF4-FFF2-40B4-BE49-F238E27FC236}">
                <a16:creationId xmlns:a16="http://schemas.microsoft.com/office/drawing/2014/main" id="{46265C08-2AF1-469B-914B-547CB6A37B94}"/>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7AB5E976-FCC3-4088-A837-A1882A09DE28}"/>
              </a:ext>
            </a:extLst>
          </p:cNvPr>
          <p:cNvSpPr>
            <a:spLocks noGrp="1"/>
          </p:cNvSpPr>
          <p:nvPr>
            <p:ph type="sldNum" sz="quarter" idx="12"/>
          </p:nvPr>
        </p:nvSpPr>
        <p:spPr/>
        <p:txBody>
          <a:bodyPr/>
          <a:lstStyle/>
          <a:p>
            <a:fld id="{7AC79822-BC0D-4DE8-A7E5-90A3732A2B82}" type="slidenum">
              <a:rPr lang="zh-CN" altLang="en-US" smtClean="0"/>
              <a:pPr/>
              <a:t>26</a:t>
            </a:fld>
            <a:endParaRPr lang="en-US" altLang="zh-CN" dirty="0"/>
          </a:p>
        </p:txBody>
      </p:sp>
    </p:spTree>
    <p:extLst>
      <p:ext uri="{BB962C8B-B14F-4D97-AF65-F5344CB8AC3E}">
        <p14:creationId xmlns:p14="http://schemas.microsoft.com/office/powerpoint/2010/main" val="1811994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84DD0C-8848-4C98-A831-86EBEC7A1ED6}"/>
              </a:ext>
            </a:extLst>
          </p:cNvPr>
          <p:cNvSpPr>
            <a:spLocks noGrp="1"/>
          </p:cNvSpPr>
          <p:nvPr>
            <p:ph type="title"/>
          </p:nvPr>
        </p:nvSpPr>
        <p:spPr/>
        <p:txBody>
          <a:bodyPr/>
          <a:lstStyle/>
          <a:p>
            <a:r>
              <a:rPr lang="zh-CN" altLang="en-US" dirty="0"/>
              <a:t>启发式算法</a:t>
            </a:r>
            <a:r>
              <a:rPr lang="en-US" altLang="zh-CN" dirty="0"/>
              <a:t>—</a:t>
            </a:r>
            <a:r>
              <a:rPr lang="zh-CN" altLang="en-US" dirty="0"/>
              <a:t>遗传算法</a:t>
            </a:r>
          </a:p>
        </p:txBody>
      </p:sp>
      <p:sp>
        <p:nvSpPr>
          <p:cNvPr id="3" name="内容占位符 2">
            <a:extLst>
              <a:ext uri="{FF2B5EF4-FFF2-40B4-BE49-F238E27FC236}">
                <a16:creationId xmlns:a16="http://schemas.microsoft.com/office/drawing/2014/main" id="{8F11F0C0-4BD1-44FB-86C5-6E41C82F18E0}"/>
              </a:ext>
            </a:extLst>
          </p:cNvPr>
          <p:cNvSpPr>
            <a:spLocks noGrp="1"/>
          </p:cNvSpPr>
          <p:nvPr>
            <p:ph idx="1"/>
          </p:nvPr>
        </p:nvSpPr>
        <p:spPr/>
        <p:txBody>
          <a:bodyPr/>
          <a:lstStyle/>
          <a:p>
            <a:r>
              <a:rPr lang="zh-CN" altLang="en-US" dirty="0"/>
              <a:t>思考：</a:t>
            </a:r>
            <a:endParaRPr lang="en-US" altLang="zh-CN" dirty="0"/>
          </a:p>
          <a:p>
            <a:pPr lvl="1"/>
            <a:r>
              <a:rPr lang="zh-CN" altLang="en-US" dirty="0"/>
              <a:t>如何用遗传算法求解</a:t>
            </a:r>
            <a:r>
              <a:rPr lang="en-US" altLang="zh-CN" dirty="0"/>
              <a:t>TSP</a:t>
            </a:r>
            <a:r>
              <a:rPr lang="zh-CN" altLang="en-US" dirty="0"/>
              <a:t>问题、</a:t>
            </a:r>
            <a:r>
              <a:rPr lang="en-US" altLang="zh-CN" dirty="0"/>
              <a:t>0-1</a:t>
            </a:r>
            <a:r>
              <a:rPr lang="zh-CN" altLang="en-US" dirty="0"/>
              <a:t>背包问题等组合优化问题？</a:t>
            </a:r>
          </a:p>
        </p:txBody>
      </p:sp>
      <p:sp>
        <p:nvSpPr>
          <p:cNvPr id="4" name="日期占位符 3">
            <a:extLst>
              <a:ext uri="{FF2B5EF4-FFF2-40B4-BE49-F238E27FC236}">
                <a16:creationId xmlns:a16="http://schemas.microsoft.com/office/drawing/2014/main" id="{73AB326D-510E-4BD2-AAD8-69C4CEA027CF}"/>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4BE560D8-B96F-4B15-B0D3-149C51D27C60}"/>
              </a:ext>
            </a:extLst>
          </p:cNvPr>
          <p:cNvSpPr>
            <a:spLocks noGrp="1"/>
          </p:cNvSpPr>
          <p:nvPr>
            <p:ph type="sldNum" sz="quarter" idx="12"/>
          </p:nvPr>
        </p:nvSpPr>
        <p:spPr/>
        <p:txBody>
          <a:bodyPr/>
          <a:lstStyle/>
          <a:p>
            <a:fld id="{7AC79822-BC0D-4DE8-A7E5-90A3732A2B82}" type="slidenum">
              <a:rPr lang="zh-CN" altLang="en-US" smtClean="0"/>
              <a:pPr/>
              <a:t>27</a:t>
            </a:fld>
            <a:endParaRPr lang="en-US" altLang="zh-CN" dirty="0"/>
          </a:p>
        </p:txBody>
      </p:sp>
    </p:spTree>
    <p:extLst>
      <p:ext uri="{BB962C8B-B14F-4D97-AF65-F5344CB8AC3E}">
        <p14:creationId xmlns:p14="http://schemas.microsoft.com/office/powerpoint/2010/main" val="700075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E8FCE-51D4-4411-B405-5A2A7C1477FE}"/>
              </a:ext>
            </a:extLst>
          </p:cNvPr>
          <p:cNvSpPr>
            <a:spLocks noGrp="1"/>
          </p:cNvSpPr>
          <p:nvPr>
            <p:ph type="title"/>
          </p:nvPr>
        </p:nvSpPr>
        <p:spPr/>
        <p:txBody>
          <a:bodyPr/>
          <a:lstStyle/>
          <a:p>
            <a:r>
              <a:rPr lang="zh-CN" altLang="en-US" dirty="0"/>
              <a:t>遗传算法求解</a:t>
            </a:r>
            <a:r>
              <a:rPr lang="en-US" altLang="zh-CN" dirty="0"/>
              <a:t>TSP</a:t>
            </a:r>
            <a:r>
              <a:rPr lang="zh-CN" altLang="en-US" dirty="0"/>
              <a:t>问题</a:t>
            </a:r>
          </a:p>
        </p:txBody>
      </p:sp>
      <p:sp>
        <p:nvSpPr>
          <p:cNvPr id="3" name="内容占位符 2">
            <a:extLst>
              <a:ext uri="{FF2B5EF4-FFF2-40B4-BE49-F238E27FC236}">
                <a16:creationId xmlns:a16="http://schemas.microsoft.com/office/drawing/2014/main" id="{06D6DB0A-D7E7-4478-968B-956C6E6398BB}"/>
              </a:ext>
            </a:extLst>
          </p:cNvPr>
          <p:cNvSpPr>
            <a:spLocks noGrp="1"/>
          </p:cNvSpPr>
          <p:nvPr>
            <p:ph idx="1"/>
          </p:nvPr>
        </p:nvSpPr>
        <p:spPr/>
        <p:txBody>
          <a:bodyPr/>
          <a:lstStyle/>
          <a:p>
            <a:r>
              <a:rPr lang="zh-CN" altLang="en-US" dirty="0"/>
              <a:t>解题思路</a:t>
            </a:r>
            <a:endParaRPr lang="en-US" altLang="zh-CN" dirty="0"/>
          </a:p>
          <a:p>
            <a:pPr lvl="1"/>
            <a:r>
              <a:rPr lang="zh-CN" altLang="en-US" dirty="0"/>
              <a:t>由于旅行商问题中解是由所有城市组成的一个集合，因此，可以将</a:t>
            </a:r>
            <a:r>
              <a:rPr lang="en-US" altLang="zh-CN" dirty="0"/>
              <a:t>N</a:t>
            </a:r>
            <a:r>
              <a:rPr lang="zh-CN" altLang="en-US" dirty="0"/>
              <a:t>个城市的多种组成看成是多个个体，个体的染色体就以十进制形式编码。</a:t>
            </a:r>
            <a:endParaRPr lang="en-US" altLang="zh-CN" dirty="0"/>
          </a:p>
          <a:p>
            <a:pPr lvl="1"/>
            <a:r>
              <a:rPr lang="zh-CN" altLang="en-US" dirty="0"/>
              <a:t>每个染色体包含</a:t>
            </a:r>
            <a:r>
              <a:rPr lang="en-US" altLang="zh-CN" dirty="0"/>
              <a:t>N</a:t>
            </a:r>
            <a:r>
              <a:rPr lang="zh-CN" altLang="en-US" dirty="0"/>
              <a:t>个基因，基因序列是不同的。</a:t>
            </a:r>
            <a:endParaRPr lang="en-US" altLang="zh-CN" dirty="0"/>
          </a:p>
          <a:p>
            <a:pPr lvl="1"/>
            <a:r>
              <a:rPr lang="zh-CN" altLang="en-US" dirty="0"/>
              <a:t>后续选择、交叉、变异操作都是对</a:t>
            </a:r>
            <a:r>
              <a:rPr lang="en-US" altLang="zh-CN" dirty="0"/>
              <a:t>N</a:t>
            </a:r>
            <a:r>
              <a:rPr lang="zh-CN" altLang="en-US" dirty="0"/>
              <a:t>个城市组合的各种操作，以保证每次迭代得到不同的城市组合，以最终实现比较优化的结果。</a:t>
            </a:r>
          </a:p>
        </p:txBody>
      </p:sp>
      <p:sp>
        <p:nvSpPr>
          <p:cNvPr id="4" name="日期占位符 3">
            <a:extLst>
              <a:ext uri="{FF2B5EF4-FFF2-40B4-BE49-F238E27FC236}">
                <a16:creationId xmlns:a16="http://schemas.microsoft.com/office/drawing/2014/main" id="{5184E797-580B-4C33-8F9B-3DEBD668D81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8F80A826-54A2-444D-A4E1-46BA37C6B984}"/>
              </a:ext>
            </a:extLst>
          </p:cNvPr>
          <p:cNvSpPr>
            <a:spLocks noGrp="1"/>
          </p:cNvSpPr>
          <p:nvPr>
            <p:ph type="sldNum" sz="quarter" idx="12"/>
          </p:nvPr>
        </p:nvSpPr>
        <p:spPr/>
        <p:txBody>
          <a:bodyPr/>
          <a:lstStyle/>
          <a:p>
            <a:fld id="{7AC79822-BC0D-4DE8-A7E5-90A3732A2B82}" type="slidenum">
              <a:rPr lang="zh-CN" altLang="en-US" smtClean="0"/>
              <a:pPr/>
              <a:t>28</a:t>
            </a:fld>
            <a:endParaRPr lang="en-US" altLang="zh-CN" dirty="0"/>
          </a:p>
        </p:txBody>
      </p:sp>
    </p:spTree>
    <p:extLst>
      <p:ext uri="{BB962C8B-B14F-4D97-AF65-F5344CB8AC3E}">
        <p14:creationId xmlns:p14="http://schemas.microsoft.com/office/powerpoint/2010/main" val="1809382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9A93-8F76-48B7-965D-FE775FDF384B}"/>
              </a:ext>
            </a:extLst>
          </p:cNvPr>
          <p:cNvSpPr>
            <a:spLocks noGrp="1"/>
          </p:cNvSpPr>
          <p:nvPr>
            <p:ph type="title"/>
          </p:nvPr>
        </p:nvSpPr>
        <p:spPr/>
        <p:txBody>
          <a:bodyPr/>
          <a:lstStyle/>
          <a:p>
            <a:r>
              <a:rPr lang="zh-CN" altLang="en-US" dirty="0"/>
              <a:t>遗传算法求解</a:t>
            </a:r>
            <a:r>
              <a:rPr lang="en-US" altLang="zh-CN" dirty="0"/>
              <a:t>TSP</a:t>
            </a:r>
            <a:r>
              <a:rPr lang="zh-CN" altLang="en-US" dirty="0"/>
              <a:t>问题</a:t>
            </a:r>
          </a:p>
        </p:txBody>
      </p:sp>
      <p:sp>
        <p:nvSpPr>
          <p:cNvPr id="3" name="内容占位符 2">
            <a:extLst>
              <a:ext uri="{FF2B5EF4-FFF2-40B4-BE49-F238E27FC236}">
                <a16:creationId xmlns:a16="http://schemas.microsoft.com/office/drawing/2014/main" id="{CEFE6D2C-F53A-40B1-B36E-68911D07FE5B}"/>
              </a:ext>
            </a:extLst>
          </p:cNvPr>
          <p:cNvSpPr>
            <a:spLocks noGrp="1"/>
          </p:cNvSpPr>
          <p:nvPr>
            <p:ph idx="1"/>
          </p:nvPr>
        </p:nvSpPr>
        <p:spPr/>
        <p:txBody>
          <a:bodyPr/>
          <a:lstStyle/>
          <a:p>
            <a:r>
              <a:rPr lang="zh-CN" altLang="en-US" dirty="0"/>
              <a:t>步骤：</a:t>
            </a:r>
            <a:endParaRPr lang="en-US" altLang="zh-CN" dirty="0"/>
          </a:p>
        </p:txBody>
      </p:sp>
      <p:sp>
        <p:nvSpPr>
          <p:cNvPr id="4" name="日期占位符 3">
            <a:extLst>
              <a:ext uri="{FF2B5EF4-FFF2-40B4-BE49-F238E27FC236}">
                <a16:creationId xmlns:a16="http://schemas.microsoft.com/office/drawing/2014/main" id="{87B35980-F6F7-4773-B427-5249429EF64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94693E9-6312-4B14-8892-6C7AEC86DF6C}"/>
              </a:ext>
            </a:extLst>
          </p:cNvPr>
          <p:cNvSpPr>
            <a:spLocks noGrp="1"/>
          </p:cNvSpPr>
          <p:nvPr>
            <p:ph type="sldNum" sz="quarter" idx="12"/>
          </p:nvPr>
        </p:nvSpPr>
        <p:spPr/>
        <p:txBody>
          <a:bodyPr/>
          <a:lstStyle/>
          <a:p>
            <a:fld id="{7AC79822-BC0D-4DE8-A7E5-90A3732A2B82}" type="slidenum">
              <a:rPr lang="zh-CN" altLang="en-US" smtClean="0"/>
              <a:pPr/>
              <a:t>29</a:t>
            </a:fld>
            <a:endParaRPr lang="en-US" altLang="zh-CN" dirty="0"/>
          </a:p>
        </p:txBody>
      </p:sp>
      <p:sp>
        <p:nvSpPr>
          <p:cNvPr id="6" name="文本框 5">
            <a:extLst>
              <a:ext uri="{FF2B5EF4-FFF2-40B4-BE49-F238E27FC236}">
                <a16:creationId xmlns:a16="http://schemas.microsoft.com/office/drawing/2014/main" id="{CA57D6E0-966E-4215-BC1A-9F98655BB69C}"/>
              </a:ext>
            </a:extLst>
          </p:cNvPr>
          <p:cNvSpPr txBox="1"/>
          <p:nvPr/>
        </p:nvSpPr>
        <p:spPr>
          <a:xfrm>
            <a:off x="148856" y="1931178"/>
            <a:ext cx="9757144" cy="1569660"/>
          </a:xfrm>
          <a:prstGeom prst="rect">
            <a:avLst/>
          </a:prstGeom>
          <a:noFill/>
        </p:spPr>
        <p:txBody>
          <a:bodyPr wrap="square" rtlCol="0">
            <a:spAutoFit/>
          </a:bodyPr>
          <a:lstStyle/>
          <a:p>
            <a:pPr marL="342900" indent="-342900">
              <a:buFont typeface="+mj-lt"/>
              <a:buAutoNum type="arabicPeriod"/>
            </a:pPr>
            <a:r>
              <a:rPr lang="zh-CN" altLang="en-US" sz="2400" dirty="0"/>
              <a:t>初始化种群</a:t>
            </a:r>
            <a:endParaRPr lang="en-US" altLang="zh-CN" sz="2400" dirty="0"/>
          </a:p>
          <a:p>
            <a:pPr marL="342900" indent="-342900">
              <a:buFont typeface="+mj-lt"/>
              <a:buAutoNum type="arabicPeriod"/>
            </a:pPr>
            <a:r>
              <a:rPr lang="zh-CN" altLang="en-US" sz="2400" dirty="0"/>
              <a:t>种群选择</a:t>
            </a:r>
            <a:r>
              <a:rPr lang="en-US" altLang="zh-CN" sz="2400" dirty="0"/>
              <a:t>-</a:t>
            </a:r>
            <a:r>
              <a:rPr lang="zh-CN" altLang="en-US" sz="2400" dirty="0"/>
              <a:t>复制操作</a:t>
            </a:r>
            <a:endParaRPr lang="en-US" altLang="zh-CN" sz="2400" dirty="0"/>
          </a:p>
          <a:p>
            <a:pPr marL="342900" indent="-342900">
              <a:buFont typeface="+mj-lt"/>
              <a:buAutoNum type="arabicPeriod"/>
            </a:pPr>
            <a:r>
              <a:rPr lang="zh-CN" altLang="en-US" sz="2400" dirty="0"/>
              <a:t>种群交叉操作</a:t>
            </a:r>
            <a:endParaRPr lang="en-US" altLang="zh-CN" sz="2400" dirty="0"/>
          </a:p>
          <a:p>
            <a:pPr marL="342900" indent="-342900">
              <a:buFont typeface="+mj-lt"/>
              <a:buAutoNum type="arabicPeriod"/>
            </a:pPr>
            <a:r>
              <a:rPr lang="zh-CN" altLang="en-US" sz="2400" dirty="0"/>
              <a:t>种群变异操作</a:t>
            </a:r>
          </a:p>
        </p:txBody>
      </p:sp>
    </p:spTree>
    <p:extLst>
      <p:ext uri="{BB962C8B-B14F-4D97-AF65-F5344CB8AC3E}">
        <p14:creationId xmlns:p14="http://schemas.microsoft.com/office/powerpoint/2010/main" val="145409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9A93-8F76-48B7-965D-FE775FDF384B}"/>
              </a:ext>
            </a:extLst>
          </p:cNvPr>
          <p:cNvSpPr>
            <a:spLocks noGrp="1"/>
          </p:cNvSpPr>
          <p:nvPr>
            <p:ph type="title"/>
          </p:nvPr>
        </p:nvSpPr>
        <p:spPr/>
        <p:txBody>
          <a:bodyPr/>
          <a:lstStyle/>
          <a:p>
            <a:r>
              <a:rPr lang="zh-CN" altLang="en-US" dirty="0"/>
              <a:t>遗传算法求解</a:t>
            </a:r>
            <a:r>
              <a:rPr lang="en-US" altLang="zh-CN" dirty="0"/>
              <a:t>TSP</a:t>
            </a:r>
            <a:r>
              <a:rPr lang="zh-CN" altLang="en-US" dirty="0"/>
              <a:t>问题</a:t>
            </a:r>
          </a:p>
        </p:txBody>
      </p:sp>
      <p:sp>
        <p:nvSpPr>
          <p:cNvPr id="3" name="内容占位符 2">
            <a:extLst>
              <a:ext uri="{FF2B5EF4-FFF2-40B4-BE49-F238E27FC236}">
                <a16:creationId xmlns:a16="http://schemas.microsoft.com/office/drawing/2014/main" id="{CEFE6D2C-F53A-40B1-B36E-68911D07FE5B}"/>
              </a:ext>
            </a:extLst>
          </p:cNvPr>
          <p:cNvSpPr>
            <a:spLocks noGrp="1"/>
          </p:cNvSpPr>
          <p:nvPr>
            <p:ph idx="1"/>
          </p:nvPr>
        </p:nvSpPr>
        <p:spPr/>
        <p:txBody>
          <a:bodyPr/>
          <a:lstStyle/>
          <a:p>
            <a:r>
              <a:rPr lang="zh-CN" altLang="en-US" dirty="0"/>
              <a:t>步骤：</a:t>
            </a:r>
            <a:endParaRPr lang="en-US" altLang="zh-CN" dirty="0"/>
          </a:p>
        </p:txBody>
      </p:sp>
      <p:sp>
        <p:nvSpPr>
          <p:cNvPr id="4" name="日期占位符 3">
            <a:extLst>
              <a:ext uri="{FF2B5EF4-FFF2-40B4-BE49-F238E27FC236}">
                <a16:creationId xmlns:a16="http://schemas.microsoft.com/office/drawing/2014/main" id="{87B35980-F6F7-4773-B427-5249429EF64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94693E9-6312-4B14-8892-6C7AEC86DF6C}"/>
              </a:ext>
            </a:extLst>
          </p:cNvPr>
          <p:cNvSpPr>
            <a:spLocks noGrp="1"/>
          </p:cNvSpPr>
          <p:nvPr>
            <p:ph type="sldNum" sz="quarter" idx="12"/>
          </p:nvPr>
        </p:nvSpPr>
        <p:spPr/>
        <p:txBody>
          <a:bodyPr/>
          <a:lstStyle/>
          <a:p>
            <a:fld id="{7AC79822-BC0D-4DE8-A7E5-90A3732A2B82}" type="slidenum">
              <a:rPr lang="zh-CN" altLang="en-US" smtClean="0"/>
              <a:pPr/>
              <a:t>30</a:t>
            </a:fld>
            <a:endParaRPr lang="en-US" altLang="zh-CN" dirty="0"/>
          </a:p>
        </p:txBody>
      </p:sp>
      <p:sp>
        <p:nvSpPr>
          <p:cNvPr id="6" name="文本框 5">
            <a:extLst>
              <a:ext uri="{FF2B5EF4-FFF2-40B4-BE49-F238E27FC236}">
                <a16:creationId xmlns:a16="http://schemas.microsoft.com/office/drawing/2014/main" id="{CA57D6E0-966E-4215-BC1A-9F98655BB69C}"/>
              </a:ext>
            </a:extLst>
          </p:cNvPr>
          <p:cNvSpPr txBox="1"/>
          <p:nvPr/>
        </p:nvSpPr>
        <p:spPr>
          <a:xfrm>
            <a:off x="148856" y="1931178"/>
            <a:ext cx="9757144" cy="4524315"/>
          </a:xfrm>
          <a:prstGeom prst="rect">
            <a:avLst/>
          </a:prstGeom>
          <a:noFill/>
        </p:spPr>
        <p:txBody>
          <a:bodyPr wrap="square" rtlCol="0">
            <a:spAutoFit/>
          </a:bodyPr>
          <a:lstStyle/>
          <a:p>
            <a:pPr marL="342900" indent="-342900">
              <a:buFont typeface="+mj-lt"/>
              <a:buAutoNum type="arabicPeriod"/>
            </a:pPr>
            <a:r>
              <a:rPr lang="zh-CN" altLang="en-US" sz="2400" dirty="0"/>
              <a:t>初始化种群</a:t>
            </a:r>
            <a:endParaRPr lang="en-US" altLang="zh-CN" sz="2400" dirty="0"/>
          </a:p>
          <a:p>
            <a:pPr lvl="1"/>
            <a:r>
              <a:rPr lang="zh-CN" altLang="en-US" sz="2400" dirty="0"/>
              <a:t>采用某种策略，将</a:t>
            </a:r>
            <a:r>
              <a:rPr lang="en-US" altLang="zh-CN" sz="2400" dirty="0"/>
              <a:t>N</a:t>
            </a:r>
            <a:r>
              <a:rPr lang="zh-CN" altLang="en-US" sz="2400" dirty="0"/>
              <a:t>个城市随机组合成</a:t>
            </a:r>
            <a:r>
              <a:rPr lang="en-US" altLang="zh-CN" sz="2400" dirty="0"/>
              <a:t>M</a:t>
            </a:r>
            <a:r>
              <a:rPr lang="zh-CN" altLang="en-US" sz="2400" dirty="0"/>
              <a:t>个初始化种群，例如：</a:t>
            </a:r>
            <a:endParaRPr lang="en-US" altLang="zh-CN" sz="2400" dirty="0"/>
          </a:p>
          <a:p>
            <a:pPr lvl="1"/>
            <a:r>
              <a:rPr lang="en-US" altLang="zh-CN" sz="2400" dirty="0"/>
              <a:t>0,1,2,…,N-1</a:t>
            </a:r>
            <a:r>
              <a:rPr lang="zh-CN" altLang="en-US" sz="2400" dirty="0"/>
              <a:t>为第一个个体，</a:t>
            </a:r>
            <a:r>
              <a:rPr lang="en-US" altLang="zh-CN" sz="2400" dirty="0"/>
              <a:t>0</a:t>
            </a:r>
            <a:r>
              <a:rPr lang="zh-CN" altLang="en-US" sz="2400" dirty="0"/>
              <a:t>分别与</a:t>
            </a:r>
            <a:r>
              <a:rPr lang="en-US" altLang="zh-CN" sz="2400" dirty="0"/>
              <a:t>1,2,3,…,N-1</a:t>
            </a:r>
            <a:r>
              <a:rPr lang="zh-CN" altLang="en-US" sz="2400" dirty="0"/>
              <a:t>交换得到另外</a:t>
            </a:r>
            <a:r>
              <a:rPr lang="en-US" altLang="zh-CN" sz="2400" dirty="0"/>
              <a:t>N-1</a:t>
            </a:r>
            <a:r>
              <a:rPr lang="zh-CN" altLang="en-US" sz="2400" dirty="0"/>
              <a:t>个个体。</a:t>
            </a:r>
            <a:endParaRPr lang="en-US" altLang="zh-CN" sz="2400" dirty="0"/>
          </a:p>
          <a:p>
            <a:pPr lvl="1"/>
            <a:r>
              <a:rPr lang="zh-CN" altLang="en-US" sz="2400" dirty="0"/>
              <a:t>假设</a:t>
            </a:r>
            <a:r>
              <a:rPr lang="en-US" altLang="zh-CN" sz="2400" dirty="0"/>
              <a:t>N=10</a:t>
            </a:r>
            <a:r>
              <a:rPr lang="zh-CN" altLang="en-US" sz="2400" dirty="0"/>
              <a:t>，则可以得到</a:t>
            </a:r>
            <a:endParaRPr lang="en-US" altLang="zh-CN" sz="2400" dirty="0"/>
          </a:p>
          <a:p>
            <a:pPr lvl="1"/>
            <a:r>
              <a:rPr lang="en-US" altLang="zh-CN" sz="2400" dirty="0"/>
              <a:t>0,1,2,3,4,5,6,7,8,9</a:t>
            </a:r>
          </a:p>
          <a:p>
            <a:pPr lvl="1"/>
            <a:r>
              <a:rPr lang="en-US" altLang="zh-CN" sz="2400" dirty="0">
                <a:solidFill>
                  <a:srgbClr val="FF0000"/>
                </a:solidFill>
              </a:rPr>
              <a:t>1,0</a:t>
            </a:r>
            <a:r>
              <a:rPr lang="en-US" altLang="zh-CN" sz="2400" dirty="0"/>
              <a:t>,2,3,4,5,6,7,8,9</a:t>
            </a:r>
          </a:p>
          <a:p>
            <a:pPr lvl="1"/>
            <a:r>
              <a:rPr lang="en-US" altLang="zh-CN" sz="2400" dirty="0">
                <a:solidFill>
                  <a:srgbClr val="FF0000"/>
                </a:solidFill>
              </a:rPr>
              <a:t>2</a:t>
            </a:r>
            <a:r>
              <a:rPr lang="en-US" altLang="zh-CN" sz="2400" dirty="0"/>
              <a:t>,1,</a:t>
            </a:r>
            <a:r>
              <a:rPr lang="en-US" altLang="zh-CN" sz="2400" dirty="0">
                <a:solidFill>
                  <a:srgbClr val="FF0000"/>
                </a:solidFill>
              </a:rPr>
              <a:t>0</a:t>
            </a:r>
            <a:r>
              <a:rPr lang="en-US" altLang="zh-CN" sz="2400" dirty="0"/>
              <a:t>,3,4,5,6,7,8,9</a:t>
            </a:r>
          </a:p>
          <a:p>
            <a:pPr lvl="1"/>
            <a:r>
              <a:rPr lang="en-US" altLang="zh-CN" sz="2400" dirty="0"/>
              <a:t>………</a:t>
            </a:r>
          </a:p>
          <a:p>
            <a:pPr lvl="1"/>
            <a:r>
              <a:rPr lang="zh-CN" altLang="en-US" sz="2400" dirty="0"/>
              <a:t>适应度函数：设一个解遍历初始行走的总距离为</a:t>
            </a:r>
            <a:r>
              <a:rPr lang="en-US" altLang="zh-CN" sz="2400" dirty="0"/>
              <a:t>D</a:t>
            </a:r>
            <a:r>
              <a:rPr lang="zh-CN" altLang="en-US" sz="2400" dirty="0"/>
              <a:t>，则适应度</a:t>
            </a:r>
            <a:r>
              <a:rPr lang="en-US" altLang="zh-CN" sz="2400" dirty="0"/>
              <a:t>fitness=1/D.</a:t>
            </a:r>
            <a:r>
              <a:rPr lang="zh-CN" altLang="en-US" sz="2400" dirty="0"/>
              <a:t>即总距离越高，适应度越低，总距离越低（解越好），适应度越高。</a:t>
            </a:r>
            <a:endParaRPr lang="en-US" altLang="zh-CN" sz="2400" dirty="0"/>
          </a:p>
        </p:txBody>
      </p:sp>
      <p:sp>
        <p:nvSpPr>
          <p:cNvPr id="7" name="矩形 6">
            <a:extLst>
              <a:ext uri="{FF2B5EF4-FFF2-40B4-BE49-F238E27FC236}">
                <a16:creationId xmlns:a16="http://schemas.microsoft.com/office/drawing/2014/main" id="{3B474A1A-6E96-438E-B48E-A61E642F7718}"/>
              </a:ext>
            </a:extLst>
          </p:cNvPr>
          <p:cNvSpPr/>
          <p:nvPr/>
        </p:nvSpPr>
        <p:spPr bwMode="auto">
          <a:xfrm>
            <a:off x="4452516" y="3653275"/>
            <a:ext cx="3312368" cy="1080120"/>
          </a:xfrm>
          <a:prstGeom prst="rect">
            <a:avLst/>
          </a:prstGeom>
          <a:solidFill>
            <a:srgbClr val="FFFF6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b="1" dirty="0">
                <a:solidFill>
                  <a:srgbClr val="C00000"/>
                </a:solidFill>
              </a:rPr>
              <a:t>初始化群体也可以采用随机算法来确定随机的组合，群体数量也没有严格的规定</a:t>
            </a:r>
            <a:endParaRPr kumimoji="0" lang="zh-CN" altLang="en-US" sz="1800" b="1" i="0" u="none" strike="noStrike" cap="none" normalizeH="0" baseline="0" dirty="0">
              <a:ln>
                <a:noFill/>
              </a:ln>
              <a:solidFill>
                <a:srgbClr val="C00000"/>
              </a:solidFill>
              <a:effectLst/>
            </a:endParaRPr>
          </a:p>
        </p:txBody>
      </p:sp>
    </p:spTree>
    <p:extLst>
      <p:ext uri="{BB962C8B-B14F-4D97-AF65-F5344CB8AC3E}">
        <p14:creationId xmlns:p14="http://schemas.microsoft.com/office/powerpoint/2010/main" val="3247759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9A93-8F76-48B7-965D-FE775FDF384B}"/>
              </a:ext>
            </a:extLst>
          </p:cNvPr>
          <p:cNvSpPr>
            <a:spLocks noGrp="1"/>
          </p:cNvSpPr>
          <p:nvPr>
            <p:ph type="title"/>
          </p:nvPr>
        </p:nvSpPr>
        <p:spPr/>
        <p:txBody>
          <a:bodyPr/>
          <a:lstStyle/>
          <a:p>
            <a:r>
              <a:rPr lang="zh-CN" altLang="en-US" dirty="0"/>
              <a:t>遗传算法求解</a:t>
            </a:r>
            <a:r>
              <a:rPr lang="en-US" altLang="zh-CN" dirty="0"/>
              <a:t>TSP</a:t>
            </a:r>
            <a:r>
              <a:rPr lang="zh-CN" altLang="en-US" dirty="0"/>
              <a:t>问题</a:t>
            </a:r>
          </a:p>
        </p:txBody>
      </p:sp>
      <p:sp>
        <p:nvSpPr>
          <p:cNvPr id="3" name="内容占位符 2">
            <a:extLst>
              <a:ext uri="{FF2B5EF4-FFF2-40B4-BE49-F238E27FC236}">
                <a16:creationId xmlns:a16="http://schemas.microsoft.com/office/drawing/2014/main" id="{CEFE6D2C-F53A-40B1-B36E-68911D07FE5B}"/>
              </a:ext>
            </a:extLst>
          </p:cNvPr>
          <p:cNvSpPr>
            <a:spLocks noGrp="1"/>
          </p:cNvSpPr>
          <p:nvPr>
            <p:ph idx="1"/>
          </p:nvPr>
        </p:nvSpPr>
        <p:spPr/>
        <p:txBody>
          <a:bodyPr/>
          <a:lstStyle/>
          <a:p>
            <a:r>
              <a:rPr lang="zh-CN" altLang="en-US" dirty="0"/>
              <a:t>步骤：</a:t>
            </a:r>
            <a:endParaRPr lang="en-US" altLang="zh-CN" dirty="0"/>
          </a:p>
        </p:txBody>
      </p:sp>
      <p:sp>
        <p:nvSpPr>
          <p:cNvPr id="4" name="日期占位符 3">
            <a:extLst>
              <a:ext uri="{FF2B5EF4-FFF2-40B4-BE49-F238E27FC236}">
                <a16:creationId xmlns:a16="http://schemas.microsoft.com/office/drawing/2014/main" id="{87B35980-F6F7-4773-B427-5249429EF64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94693E9-6312-4B14-8892-6C7AEC86DF6C}"/>
              </a:ext>
            </a:extLst>
          </p:cNvPr>
          <p:cNvSpPr>
            <a:spLocks noGrp="1"/>
          </p:cNvSpPr>
          <p:nvPr>
            <p:ph type="sldNum" sz="quarter" idx="12"/>
          </p:nvPr>
        </p:nvSpPr>
        <p:spPr/>
        <p:txBody>
          <a:bodyPr/>
          <a:lstStyle/>
          <a:p>
            <a:fld id="{7AC79822-BC0D-4DE8-A7E5-90A3732A2B82}" type="slidenum">
              <a:rPr lang="zh-CN" altLang="en-US" smtClean="0"/>
              <a:pPr/>
              <a:t>31</a:t>
            </a:fld>
            <a:endParaRPr lang="en-US" altLang="zh-CN" dirty="0"/>
          </a:p>
        </p:txBody>
      </p:sp>
      <p:sp>
        <p:nvSpPr>
          <p:cNvPr id="6" name="文本框 5">
            <a:extLst>
              <a:ext uri="{FF2B5EF4-FFF2-40B4-BE49-F238E27FC236}">
                <a16:creationId xmlns:a16="http://schemas.microsoft.com/office/drawing/2014/main" id="{CA57D6E0-966E-4215-BC1A-9F98655BB69C}"/>
              </a:ext>
            </a:extLst>
          </p:cNvPr>
          <p:cNvSpPr txBox="1"/>
          <p:nvPr/>
        </p:nvSpPr>
        <p:spPr>
          <a:xfrm>
            <a:off x="148856" y="1931178"/>
            <a:ext cx="9757144" cy="3416320"/>
          </a:xfrm>
          <a:prstGeom prst="rect">
            <a:avLst/>
          </a:prstGeom>
          <a:noFill/>
        </p:spPr>
        <p:txBody>
          <a:bodyPr wrap="square" rtlCol="0">
            <a:spAutoFit/>
          </a:bodyPr>
          <a:lstStyle/>
          <a:p>
            <a:r>
              <a:rPr lang="en-US" altLang="zh-CN" sz="2400" dirty="0"/>
              <a:t>2. </a:t>
            </a:r>
            <a:r>
              <a:rPr lang="zh-CN" altLang="en-US" sz="2400" dirty="0"/>
              <a:t>选择操作</a:t>
            </a:r>
            <a:endParaRPr lang="en-US" altLang="zh-CN" sz="2400" dirty="0"/>
          </a:p>
          <a:p>
            <a:pPr lvl="1"/>
            <a:r>
              <a:rPr lang="zh-CN" altLang="en-US" sz="2400" dirty="0"/>
              <a:t>个体被选中的概率与适应度成正比，适应度越高，个体被选中的概率越大。这里仍然采用</a:t>
            </a:r>
            <a:r>
              <a:rPr lang="zh-CN" altLang="en-US" sz="2400" dirty="0">
                <a:solidFill>
                  <a:srgbClr val="C00000"/>
                </a:solidFill>
              </a:rPr>
              <a:t>轮盘赌法。</a:t>
            </a:r>
            <a:endParaRPr lang="en-US" altLang="zh-CN" sz="2400" dirty="0">
              <a:solidFill>
                <a:srgbClr val="C00000"/>
              </a:solidFill>
            </a:endParaRPr>
          </a:p>
          <a:p>
            <a:pPr lvl="1"/>
            <a:endParaRPr lang="en-US" altLang="zh-CN" sz="2400" dirty="0">
              <a:solidFill>
                <a:srgbClr val="C00000"/>
              </a:solidFill>
            </a:endParaRPr>
          </a:p>
          <a:p>
            <a:pPr marL="0" lvl="1"/>
            <a:r>
              <a:rPr lang="en-US" altLang="zh-CN" sz="2400" dirty="0">
                <a:solidFill>
                  <a:srgbClr val="C00000"/>
                </a:solidFill>
              </a:rPr>
              <a:t>3. </a:t>
            </a:r>
            <a:r>
              <a:rPr lang="zh-CN" altLang="en-US" sz="2400" dirty="0">
                <a:solidFill>
                  <a:srgbClr val="C00000"/>
                </a:solidFill>
              </a:rPr>
              <a:t>交叉操作</a:t>
            </a:r>
            <a:endParaRPr lang="en-US" altLang="zh-CN" sz="2400" dirty="0">
              <a:solidFill>
                <a:srgbClr val="C00000"/>
              </a:solidFill>
            </a:endParaRPr>
          </a:p>
          <a:p>
            <a:pPr marL="432000" lvl="1"/>
            <a:r>
              <a:rPr lang="zh-CN" altLang="en-US" sz="2400" dirty="0"/>
              <a:t>交叉操作是遗传算法最重要的操作，是产生新个体的主要来源，直接关系到算法的全局寻优能力。</a:t>
            </a:r>
            <a:endParaRPr lang="en-US" altLang="zh-CN" sz="2400" dirty="0"/>
          </a:p>
          <a:p>
            <a:pPr marL="432000" lvl="1"/>
            <a:r>
              <a:rPr lang="zh-CN" altLang="en-US" sz="2400" dirty="0"/>
              <a:t>交叉操作需要设定概率的，根据随机数来确定是否进行交叉。一般适应度越高，需要交叉的概率越低。</a:t>
            </a:r>
            <a:endParaRPr lang="en-US" altLang="zh-CN" sz="2400" dirty="0"/>
          </a:p>
        </p:txBody>
      </p:sp>
    </p:spTree>
    <p:extLst>
      <p:ext uri="{BB962C8B-B14F-4D97-AF65-F5344CB8AC3E}">
        <p14:creationId xmlns:p14="http://schemas.microsoft.com/office/powerpoint/2010/main" val="722424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7715F4-05F1-4DBC-96E5-F22CC297D398}"/>
              </a:ext>
            </a:extLst>
          </p:cNvPr>
          <p:cNvSpPr>
            <a:spLocks noGrp="1"/>
          </p:cNvSpPr>
          <p:nvPr>
            <p:ph type="title"/>
          </p:nvPr>
        </p:nvSpPr>
        <p:spPr/>
        <p:txBody>
          <a:bodyPr/>
          <a:lstStyle/>
          <a:p>
            <a:r>
              <a:rPr lang="zh-CN" altLang="en-US" dirty="0"/>
              <a:t>遗传算法求解</a:t>
            </a:r>
            <a:r>
              <a:rPr lang="en-US" altLang="zh-CN" dirty="0"/>
              <a:t>TSP</a:t>
            </a:r>
            <a:r>
              <a:rPr lang="zh-CN" altLang="en-US" dirty="0"/>
              <a:t>问题</a:t>
            </a:r>
          </a:p>
        </p:txBody>
      </p:sp>
      <p:sp>
        <p:nvSpPr>
          <p:cNvPr id="3" name="内容占位符 2">
            <a:extLst>
              <a:ext uri="{FF2B5EF4-FFF2-40B4-BE49-F238E27FC236}">
                <a16:creationId xmlns:a16="http://schemas.microsoft.com/office/drawing/2014/main" id="{BF3ACE2A-E265-468D-8673-2B1E93B3870B}"/>
              </a:ext>
            </a:extLst>
          </p:cNvPr>
          <p:cNvSpPr>
            <a:spLocks noGrp="1"/>
          </p:cNvSpPr>
          <p:nvPr>
            <p:ph idx="1"/>
          </p:nvPr>
        </p:nvSpPr>
        <p:spPr/>
        <p:txBody>
          <a:bodyPr/>
          <a:lstStyle/>
          <a:p>
            <a:r>
              <a:rPr lang="zh-CN" altLang="en-US" dirty="0"/>
              <a:t>步骤：</a:t>
            </a:r>
            <a:endParaRPr lang="en-US" altLang="zh-CN" dirty="0"/>
          </a:p>
          <a:p>
            <a:pPr marL="0" indent="0">
              <a:buNone/>
            </a:pPr>
            <a:endParaRPr lang="zh-CN" altLang="en-US" dirty="0"/>
          </a:p>
        </p:txBody>
      </p:sp>
      <p:sp>
        <p:nvSpPr>
          <p:cNvPr id="4" name="日期占位符 3">
            <a:extLst>
              <a:ext uri="{FF2B5EF4-FFF2-40B4-BE49-F238E27FC236}">
                <a16:creationId xmlns:a16="http://schemas.microsoft.com/office/drawing/2014/main" id="{B545ECC3-0375-40BE-8409-032CF7EA34EF}"/>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D0F35DBD-F16D-4C67-8F1B-522B7EE9B292}"/>
              </a:ext>
            </a:extLst>
          </p:cNvPr>
          <p:cNvSpPr>
            <a:spLocks noGrp="1"/>
          </p:cNvSpPr>
          <p:nvPr>
            <p:ph type="sldNum" sz="quarter" idx="12"/>
          </p:nvPr>
        </p:nvSpPr>
        <p:spPr/>
        <p:txBody>
          <a:bodyPr/>
          <a:lstStyle/>
          <a:p>
            <a:fld id="{7AC79822-BC0D-4DE8-A7E5-90A3732A2B82}" type="slidenum">
              <a:rPr lang="zh-CN" altLang="en-US" smtClean="0"/>
              <a:pPr/>
              <a:t>32</a:t>
            </a:fld>
            <a:endParaRPr lang="en-US" altLang="zh-CN" dirty="0"/>
          </a:p>
        </p:txBody>
      </p:sp>
      <p:sp>
        <p:nvSpPr>
          <p:cNvPr id="6" name="矩形 5">
            <a:extLst>
              <a:ext uri="{FF2B5EF4-FFF2-40B4-BE49-F238E27FC236}">
                <a16:creationId xmlns:a16="http://schemas.microsoft.com/office/drawing/2014/main" id="{92F4A855-54DA-4A7E-BFAE-43B950CA291D}"/>
              </a:ext>
            </a:extLst>
          </p:cNvPr>
          <p:cNvSpPr/>
          <p:nvPr/>
        </p:nvSpPr>
        <p:spPr>
          <a:xfrm>
            <a:off x="200473" y="1844824"/>
            <a:ext cx="9577063" cy="5139869"/>
          </a:xfrm>
          <a:prstGeom prst="rect">
            <a:avLst/>
          </a:prstGeom>
        </p:spPr>
        <p:txBody>
          <a:bodyPr wrap="square">
            <a:spAutoFit/>
          </a:bodyPr>
          <a:lstStyle/>
          <a:p>
            <a:pPr marL="0" lvl="1"/>
            <a:r>
              <a:rPr lang="en-US" altLang="zh-CN" sz="2400" dirty="0">
                <a:solidFill>
                  <a:srgbClr val="C00000"/>
                </a:solidFill>
              </a:rPr>
              <a:t>3. </a:t>
            </a:r>
            <a:r>
              <a:rPr lang="zh-CN" altLang="en-US" sz="2400" dirty="0">
                <a:solidFill>
                  <a:srgbClr val="C00000"/>
                </a:solidFill>
              </a:rPr>
              <a:t>交叉操作</a:t>
            </a:r>
            <a:endParaRPr lang="en-US" altLang="zh-CN" sz="2400" dirty="0">
              <a:solidFill>
                <a:srgbClr val="C00000"/>
              </a:solidFill>
            </a:endParaRPr>
          </a:p>
          <a:p>
            <a:r>
              <a:rPr lang="zh-CN" altLang="en-US" sz="2000" dirty="0"/>
              <a:t>比如对于</a:t>
            </a:r>
            <a:r>
              <a:rPr lang="en-US" altLang="zh-CN" sz="2000" dirty="0"/>
              <a:t>n=10</a:t>
            </a:r>
            <a:r>
              <a:rPr lang="zh-CN" altLang="en-US" sz="2000" dirty="0"/>
              <a:t>的情况，对于两个路径</a:t>
            </a:r>
            <a:r>
              <a:rPr lang="en-US" altLang="zh-CN" sz="2000" dirty="0"/>
              <a:t>:            </a:t>
            </a:r>
          </a:p>
          <a:p>
            <a:r>
              <a:rPr lang="en-US" altLang="zh-CN" sz="2000" dirty="0"/>
              <a:t>		    1 </a:t>
            </a:r>
            <a:r>
              <a:rPr lang="en-US" altLang="zh-CN" sz="2000" dirty="0">
                <a:solidFill>
                  <a:srgbClr val="C00000"/>
                </a:solidFill>
              </a:rPr>
              <a:t>2 4 5</a:t>
            </a:r>
            <a:r>
              <a:rPr lang="en-US" altLang="zh-CN" sz="2000" dirty="0"/>
              <a:t> 6 3  9 0 </a:t>
            </a:r>
            <a:r>
              <a:rPr lang="en-US" altLang="zh-CN" sz="2000"/>
              <a:t>8 7</a:t>
            </a:r>
            <a:endParaRPr lang="en-US" altLang="zh-CN" sz="2000" dirty="0"/>
          </a:p>
          <a:p>
            <a:r>
              <a:rPr lang="en-US" altLang="zh-CN" sz="2000" dirty="0"/>
              <a:t>                              3 </a:t>
            </a:r>
            <a:r>
              <a:rPr lang="en-US" altLang="zh-CN" sz="2000" dirty="0">
                <a:solidFill>
                  <a:srgbClr val="C00000"/>
                </a:solidFill>
              </a:rPr>
              <a:t>9 7 6</a:t>
            </a:r>
            <a:r>
              <a:rPr lang="en-US" altLang="zh-CN" sz="2000" dirty="0"/>
              <a:t> 8 0  5 1 2 4</a:t>
            </a:r>
          </a:p>
          <a:p>
            <a:r>
              <a:rPr lang="zh-CN" altLang="en-US" sz="2000" dirty="0"/>
              <a:t>随机产生两个</a:t>
            </a:r>
            <a:r>
              <a:rPr lang="en-US" altLang="zh-CN" sz="2000" dirty="0"/>
              <a:t>[1,10]</a:t>
            </a:r>
            <a:r>
              <a:rPr lang="zh-CN" altLang="en-US" sz="2000" dirty="0"/>
              <a:t>之间的随机数</a:t>
            </a:r>
            <a:r>
              <a:rPr lang="en-US" altLang="zh-CN" sz="2000" dirty="0"/>
              <a:t>r1</a:t>
            </a:r>
            <a:r>
              <a:rPr lang="zh-CN" altLang="en-US" sz="2000" dirty="0"/>
              <a:t>，</a:t>
            </a:r>
            <a:r>
              <a:rPr lang="en-US" altLang="zh-CN" sz="2000" dirty="0"/>
              <a:t>r2</a:t>
            </a:r>
            <a:r>
              <a:rPr lang="zh-CN" altLang="en-US" sz="2000" dirty="0"/>
              <a:t>，代表选择交叉的位置，比如</a:t>
            </a:r>
            <a:r>
              <a:rPr lang="en-US" altLang="zh-CN" sz="2000" dirty="0"/>
              <a:t>r1=2</a:t>
            </a:r>
            <a:r>
              <a:rPr lang="zh-CN" altLang="en-US" sz="2000" dirty="0"/>
              <a:t>，</a:t>
            </a:r>
            <a:r>
              <a:rPr lang="en-US" altLang="zh-CN" sz="2000" dirty="0"/>
              <a:t>r2=4,</a:t>
            </a:r>
            <a:r>
              <a:rPr lang="zh-CN" altLang="en-US" sz="2000" dirty="0"/>
              <a:t>如上图标红的位置，将第一个个体</a:t>
            </a:r>
            <a:r>
              <a:rPr lang="en-US" altLang="zh-CN" sz="2000" dirty="0"/>
              <a:t>r1</a:t>
            </a:r>
            <a:r>
              <a:rPr lang="zh-CN" altLang="en-US" sz="2000" dirty="0"/>
              <a:t>到</a:t>
            </a:r>
            <a:r>
              <a:rPr lang="en-US" altLang="zh-CN" sz="2000" dirty="0"/>
              <a:t>r2</a:t>
            </a:r>
            <a:r>
              <a:rPr lang="zh-CN" altLang="en-US" sz="2000" dirty="0"/>
              <a:t>之间的基因</a:t>
            </a:r>
            <a:r>
              <a:rPr lang="en-US" altLang="zh-CN" sz="2000" dirty="0"/>
              <a:t>(</a:t>
            </a:r>
            <a:r>
              <a:rPr lang="zh-CN" altLang="en-US" sz="2000" dirty="0"/>
              <a:t>即城市序号</a:t>
            </a:r>
            <a:r>
              <a:rPr lang="en-US" altLang="zh-CN" sz="2000" dirty="0"/>
              <a:t>)</a:t>
            </a:r>
            <a:r>
              <a:rPr lang="zh-CN" altLang="en-US" sz="2000" dirty="0"/>
              <a:t>与第二个个体</a:t>
            </a:r>
            <a:r>
              <a:rPr lang="en-US" altLang="zh-CN" sz="2000" dirty="0"/>
              <a:t>r1</a:t>
            </a:r>
            <a:r>
              <a:rPr lang="zh-CN" altLang="en-US" sz="2000" dirty="0"/>
              <a:t>到</a:t>
            </a:r>
            <a:r>
              <a:rPr lang="en-US" altLang="zh-CN" sz="2000" dirty="0"/>
              <a:t>r2</a:t>
            </a:r>
            <a:r>
              <a:rPr lang="zh-CN" altLang="en-US" sz="2000" dirty="0"/>
              <a:t>之间的基因交换，交换之后变为</a:t>
            </a:r>
            <a:r>
              <a:rPr lang="en-US" altLang="zh-CN" sz="2000" dirty="0"/>
              <a:t>:</a:t>
            </a:r>
          </a:p>
          <a:p>
            <a:r>
              <a:rPr lang="en-US" altLang="zh-CN" sz="2000" dirty="0"/>
              <a:t>                              1 </a:t>
            </a:r>
            <a:r>
              <a:rPr lang="en-US" altLang="zh-CN" sz="2000" dirty="0">
                <a:solidFill>
                  <a:srgbClr val="0000FF"/>
                </a:solidFill>
              </a:rPr>
              <a:t>9 7 6</a:t>
            </a:r>
            <a:r>
              <a:rPr lang="en-US" altLang="zh-CN" sz="2000" dirty="0">
                <a:solidFill>
                  <a:srgbClr val="C00000"/>
                </a:solidFill>
              </a:rPr>
              <a:t> </a:t>
            </a:r>
            <a:r>
              <a:rPr lang="en-US" altLang="zh-CN" sz="2000" dirty="0">
                <a:solidFill>
                  <a:srgbClr val="CC3399"/>
                </a:solidFill>
              </a:rPr>
              <a:t>6</a:t>
            </a:r>
            <a:r>
              <a:rPr lang="en-US" altLang="zh-CN" sz="2000" dirty="0">
                <a:solidFill>
                  <a:srgbClr val="C00000"/>
                </a:solidFill>
              </a:rPr>
              <a:t> </a:t>
            </a:r>
            <a:r>
              <a:rPr lang="en-US" altLang="zh-CN" sz="2000" dirty="0"/>
              <a:t>3  </a:t>
            </a:r>
            <a:r>
              <a:rPr lang="en-US" altLang="zh-CN" sz="2000" dirty="0">
                <a:solidFill>
                  <a:srgbClr val="CC3399"/>
                </a:solidFill>
              </a:rPr>
              <a:t>9</a:t>
            </a:r>
            <a:r>
              <a:rPr lang="en-US" altLang="zh-CN" sz="2000" dirty="0"/>
              <a:t> 0 8 </a:t>
            </a:r>
            <a:r>
              <a:rPr lang="en-US" altLang="zh-CN" sz="2000" dirty="0">
                <a:solidFill>
                  <a:srgbClr val="CC3399"/>
                </a:solidFill>
              </a:rPr>
              <a:t>7</a:t>
            </a:r>
          </a:p>
          <a:p>
            <a:r>
              <a:rPr lang="en-US" altLang="zh-CN" sz="2000" dirty="0"/>
              <a:t>                              3 </a:t>
            </a:r>
            <a:r>
              <a:rPr lang="en-US" altLang="zh-CN" sz="2000" dirty="0">
                <a:solidFill>
                  <a:srgbClr val="0000FF"/>
                </a:solidFill>
              </a:rPr>
              <a:t>2 4 5</a:t>
            </a:r>
            <a:r>
              <a:rPr lang="en-US" altLang="zh-CN" sz="2000" dirty="0"/>
              <a:t> 8 0  </a:t>
            </a:r>
            <a:r>
              <a:rPr lang="en-US" altLang="zh-CN" sz="2000" dirty="0">
                <a:solidFill>
                  <a:srgbClr val="CC3399"/>
                </a:solidFill>
              </a:rPr>
              <a:t>5</a:t>
            </a:r>
            <a:r>
              <a:rPr lang="en-US" altLang="zh-CN" sz="2000" dirty="0"/>
              <a:t> 1 </a:t>
            </a:r>
            <a:r>
              <a:rPr lang="en-US" altLang="zh-CN" sz="2000" dirty="0">
                <a:solidFill>
                  <a:srgbClr val="CC3399"/>
                </a:solidFill>
              </a:rPr>
              <a:t>2</a:t>
            </a:r>
            <a:r>
              <a:rPr lang="en-US" altLang="zh-CN" sz="2000" dirty="0"/>
              <a:t> </a:t>
            </a:r>
            <a:r>
              <a:rPr lang="en-US" altLang="zh-CN" sz="2000" dirty="0">
                <a:solidFill>
                  <a:srgbClr val="CC3399"/>
                </a:solidFill>
              </a:rPr>
              <a:t>4</a:t>
            </a:r>
          </a:p>
          <a:p>
            <a:r>
              <a:rPr lang="zh-CN" altLang="en-US" sz="2000" dirty="0">
                <a:solidFill>
                  <a:srgbClr val="0000FF"/>
                </a:solidFill>
              </a:rPr>
              <a:t>蓝色</a:t>
            </a:r>
            <a:r>
              <a:rPr lang="zh-CN" altLang="en-US" sz="2000" dirty="0"/>
              <a:t>部分表示交叉过来的基因，这个时候会发现可能交叉过来的基因与原来其他位置上的基因有重复，容易知道，第一个个体重复基因的数目与第二个个体重复基因的数目是相同的（这里都是</a:t>
            </a:r>
            <a:r>
              <a:rPr lang="en-US" altLang="zh-CN" sz="2000" dirty="0"/>
              <a:t>3</a:t>
            </a:r>
            <a:r>
              <a:rPr lang="zh-CN" altLang="en-US" sz="2000" dirty="0"/>
              <a:t>个），只需要把第一个个体重复的基因</a:t>
            </a:r>
            <a:r>
              <a:rPr lang="en-US" altLang="zh-CN" sz="2000" dirty="0"/>
              <a:t>(</a:t>
            </a:r>
            <a:r>
              <a:rPr lang="zh-CN" altLang="en-US" sz="2000" dirty="0"/>
              <a:t>用</a:t>
            </a:r>
            <a:r>
              <a:rPr lang="zh-CN" altLang="en-US" sz="2000" dirty="0">
                <a:solidFill>
                  <a:srgbClr val="CC3399"/>
                </a:solidFill>
              </a:rPr>
              <a:t>紫色</a:t>
            </a:r>
            <a:r>
              <a:rPr lang="zh-CN" altLang="en-US" sz="2000" dirty="0"/>
              <a:t>标识</a:t>
            </a:r>
            <a:r>
              <a:rPr lang="en-US" altLang="zh-CN" sz="2000" dirty="0"/>
              <a:t>)</a:t>
            </a:r>
            <a:r>
              <a:rPr lang="zh-CN" altLang="en-US" sz="2000" dirty="0"/>
              <a:t>与第二个个体重复的基因做交换，即可以消除冲突。消除冲突之后的解如下</a:t>
            </a:r>
            <a:r>
              <a:rPr lang="en-US" altLang="zh-CN" sz="2000" dirty="0"/>
              <a:t>:</a:t>
            </a:r>
          </a:p>
          <a:p>
            <a:r>
              <a:rPr lang="en-US" altLang="zh-CN" sz="2000" dirty="0"/>
              <a:t>                              1 9 7 6 </a:t>
            </a:r>
            <a:r>
              <a:rPr lang="en-US" altLang="zh-CN" sz="2000" dirty="0">
                <a:solidFill>
                  <a:srgbClr val="30A040"/>
                </a:solidFill>
              </a:rPr>
              <a:t>5</a:t>
            </a:r>
            <a:r>
              <a:rPr lang="en-US" altLang="zh-CN" sz="2000" dirty="0"/>
              <a:t> 3  </a:t>
            </a:r>
            <a:r>
              <a:rPr lang="en-US" altLang="zh-CN" sz="2000" dirty="0">
                <a:solidFill>
                  <a:srgbClr val="30A040"/>
                </a:solidFill>
              </a:rPr>
              <a:t>2</a:t>
            </a:r>
            <a:r>
              <a:rPr lang="en-US" altLang="zh-CN" sz="2000" dirty="0"/>
              <a:t> 0 8 </a:t>
            </a:r>
            <a:r>
              <a:rPr lang="en-US" altLang="zh-CN" sz="2000" dirty="0">
                <a:solidFill>
                  <a:srgbClr val="30A040"/>
                </a:solidFill>
              </a:rPr>
              <a:t>4</a:t>
            </a:r>
          </a:p>
          <a:p>
            <a:r>
              <a:rPr lang="en-US" altLang="zh-CN" sz="2000" dirty="0"/>
              <a:t>                              3 2 4 5 8 0  </a:t>
            </a:r>
            <a:r>
              <a:rPr lang="en-US" altLang="zh-CN" sz="2000" dirty="0">
                <a:solidFill>
                  <a:srgbClr val="30A040"/>
                </a:solidFill>
              </a:rPr>
              <a:t>6</a:t>
            </a:r>
            <a:r>
              <a:rPr lang="en-US" altLang="zh-CN" sz="2000" dirty="0"/>
              <a:t> 1 </a:t>
            </a:r>
            <a:r>
              <a:rPr lang="en-US" altLang="zh-CN" sz="2000" dirty="0">
                <a:solidFill>
                  <a:srgbClr val="30A040"/>
                </a:solidFill>
              </a:rPr>
              <a:t>9</a:t>
            </a:r>
            <a:r>
              <a:rPr lang="en-US" altLang="zh-CN" sz="2000" dirty="0"/>
              <a:t> </a:t>
            </a:r>
            <a:r>
              <a:rPr lang="en-US" altLang="zh-CN" sz="2000" dirty="0">
                <a:solidFill>
                  <a:srgbClr val="30A040"/>
                </a:solidFill>
              </a:rPr>
              <a:t>7</a:t>
            </a:r>
          </a:p>
          <a:p>
            <a:pPr marL="0" lvl="1"/>
            <a:endParaRPr lang="en-US" altLang="zh-CN" sz="2400" dirty="0">
              <a:solidFill>
                <a:srgbClr val="C00000"/>
              </a:solidFill>
            </a:endParaRPr>
          </a:p>
        </p:txBody>
      </p:sp>
    </p:spTree>
    <p:extLst>
      <p:ext uri="{BB962C8B-B14F-4D97-AF65-F5344CB8AC3E}">
        <p14:creationId xmlns:p14="http://schemas.microsoft.com/office/powerpoint/2010/main" val="3767587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9A93-8F76-48B7-965D-FE775FDF384B}"/>
              </a:ext>
            </a:extLst>
          </p:cNvPr>
          <p:cNvSpPr>
            <a:spLocks noGrp="1"/>
          </p:cNvSpPr>
          <p:nvPr>
            <p:ph type="title"/>
          </p:nvPr>
        </p:nvSpPr>
        <p:spPr/>
        <p:txBody>
          <a:bodyPr/>
          <a:lstStyle/>
          <a:p>
            <a:r>
              <a:rPr lang="zh-CN" altLang="en-US" dirty="0"/>
              <a:t>遗传算法求解</a:t>
            </a:r>
            <a:r>
              <a:rPr lang="en-US" altLang="zh-CN" dirty="0"/>
              <a:t>TSP</a:t>
            </a:r>
            <a:r>
              <a:rPr lang="zh-CN" altLang="en-US" dirty="0"/>
              <a:t>问题</a:t>
            </a:r>
          </a:p>
        </p:txBody>
      </p:sp>
      <p:sp>
        <p:nvSpPr>
          <p:cNvPr id="3" name="内容占位符 2">
            <a:extLst>
              <a:ext uri="{FF2B5EF4-FFF2-40B4-BE49-F238E27FC236}">
                <a16:creationId xmlns:a16="http://schemas.microsoft.com/office/drawing/2014/main" id="{CEFE6D2C-F53A-40B1-B36E-68911D07FE5B}"/>
              </a:ext>
            </a:extLst>
          </p:cNvPr>
          <p:cNvSpPr>
            <a:spLocks noGrp="1"/>
          </p:cNvSpPr>
          <p:nvPr>
            <p:ph idx="1"/>
          </p:nvPr>
        </p:nvSpPr>
        <p:spPr/>
        <p:txBody>
          <a:bodyPr/>
          <a:lstStyle/>
          <a:p>
            <a:r>
              <a:rPr lang="zh-CN" altLang="en-US" dirty="0"/>
              <a:t>步骤：</a:t>
            </a:r>
            <a:endParaRPr lang="en-US" altLang="zh-CN" dirty="0"/>
          </a:p>
        </p:txBody>
      </p:sp>
      <p:sp>
        <p:nvSpPr>
          <p:cNvPr id="4" name="日期占位符 3">
            <a:extLst>
              <a:ext uri="{FF2B5EF4-FFF2-40B4-BE49-F238E27FC236}">
                <a16:creationId xmlns:a16="http://schemas.microsoft.com/office/drawing/2014/main" id="{87B35980-F6F7-4773-B427-5249429EF642}"/>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994693E9-6312-4B14-8892-6C7AEC86DF6C}"/>
              </a:ext>
            </a:extLst>
          </p:cNvPr>
          <p:cNvSpPr>
            <a:spLocks noGrp="1"/>
          </p:cNvSpPr>
          <p:nvPr>
            <p:ph type="sldNum" sz="quarter" idx="12"/>
          </p:nvPr>
        </p:nvSpPr>
        <p:spPr/>
        <p:txBody>
          <a:bodyPr/>
          <a:lstStyle/>
          <a:p>
            <a:fld id="{7AC79822-BC0D-4DE8-A7E5-90A3732A2B82}" type="slidenum">
              <a:rPr lang="zh-CN" altLang="en-US" smtClean="0"/>
              <a:pPr/>
              <a:t>33</a:t>
            </a:fld>
            <a:endParaRPr lang="en-US" altLang="zh-CN" dirty="0"/>
          </a:p>
        </p:txBody>
      </p:sp>
      <p:sp>
        <p:nvSpPr>
          <p:cNvPr id="6" name="文本框 5">
            <a:extLst>
              <a:ext uri="{FF2B5EF4-FFF2-40B4-BE49-F238E27FC236}">
                <a16:creationId xmlns:a16="http://schemas.microsoft.com/office/drawing/2014/main" id="{CA57D6E0-966E-4215-BC1A-9F98655BB69C}"/>
              </a:ext>
            </a:extLst>
          </p:cNvPr>
          <p:cNvSpPr txBox="1"/>
          <p:nvPr/>
        </p:nvSpPr>
        <p:spPr>
          <a:xfrm>
            <a:off x="148856" y="1931178"/>
            <a:ext cx="9757144" cy="4216539"/>
          </a:xfrm>
          <a:prstGeom prst="rect">
            <a:avLst/>
          </a:prstGeom>
          <a:noFill/>
        </p:spPr>
        <p:txBody>
          <a:bodyPr wrap="square" rtlCol="0">
            <a:spAutoFit/>
          </a:bodyPr>
          <a:lstStyle/>
          <a:p>
            <a:pPr marL="457200" indent="-457200">
              <a:buAutoNum type="arabicPeriod" startAt="4"/>
            </a:pPr>
            <a:r>
              <a:rPr lang="zh-CN" altLang="en-US" sz="2400" dirty="0"/>
              <a:t>变异操作</a:t>
            </a:r>
            <a:endParaRPr lang="en-US" altLang="zh-CN" sz="2400" dirty="0"/>
          </a:p>
          <a:p>
            <a:pPr lvl="1"/>
            <a:r>
              <a:rPr lang="zh-CN" altLang="en-US" sz="2400" dirty="0"/>
              <a:t>变异操作采取对于一个染色体</a:t>
            </a:r>
            <a:r>
              <a:rPr lang="en-US" altLang="zh-CN" sz="2400" dirty="0"/>
              <a:t>(</a:t>
            </a:r>
            <a:r>
              <a:rPr lang="zh-CN" altLang="en-US" sz="2400" dirty="0"/>
              <a:t>即个体</a:t>
            </a:r>
            <a:r>
              <a:rPr lang="en-US" altLang="zh-CN" sz="2400" dirty="0"/>
              <a:t>)</a:t>
            </a:r>
            <a:r>
              <a:rPr lang="zh-CN" altLang="en-US" sz="2400" dirty="0"/>
              <a:t>随机选取两个基因进行交换的策略。</a:t>
            </a:r>
            <a:endParaRPr lang="en-US" altLang="zh-CN" sz="2400" dirty="0"/>
          </a:p>
          <a:p>
            <a:pPr lvl="1"/>
            <a:r>
              <a:rPr lang="en-US" altLang="zh-CN" sz="2400" dirty="0"/>
              <a:t>	</a:t>
            </a:r>
            <a:r>
              <a:rPr lang="zh-CN" altLang="en-US" sz="2400" dirty="0"/>
              <a:t>例如</a:t>
            </a:r>
            <a:endParaRPr lang="en-US" altLang="zh-CN" sz="2000" dirty="0"/>
          </a:p>
          <a:p>
            <a:r>
              <a:rPr lang="en-US" altLang="zh-CN" sz="2000" dirty="0"/>
              <a:t>		</a:t>
            </a:r>
          </a:p>
          <a:p>
            <a:r>
              <a:rPr lang="en-US" altLang="zh-CN" sz="2000" dirty="0"/>
              <a:t>		2 4 </a:t>
            </a:r>
            <a:r>
              <a:rPr lang="en-US" altLang="zh-CN" sz="2000" dirty="0">
                <a:solidFill>
                  <a:srgbClr val="FF0000"/>
                </a:solidFill>
              </a:rPr>
              <a:t>6</a:t>
            </a:r>
            <a:r>
              <a:rPr lang="en-US" altLang="zh-CN" sz="2000" dirty="0"/>
              <a:t> 0 3 1 9 </a:t>
            </a:r>
            <a:r>
              <a:rPr lang="en-US" altLang="zh-CN" sz="2000" dirty="0">
                <a:solidFill>
                  <a:srgbClr val="0000FF"/>
                </a:solidFill>
              </a:rPr>
              <a:t>7</a:t>
            </a:r>
            <a:r>
              <a:rPr lang="en-US" altLang="zh-CN" sz="2000" dirty="0"/>
              <a:t> 8 5</a:t>
            </a:r>
          </a:p>
          <a:p>
            <a:r>
              <a:rPr lang="en-US" altLang="zh-CN" sz="2000" dirty="0"/>
              <a:t>	</a:t>
            </a:r>
            <a:r>
              <a:rPr lang="zh-CN" altLang="en-US" sz="2000" dirty="0"/>
              <a:t>随机选取了两个位置</a:t>
            </a:r>
            <a:r>
              <a:rPr lang="en-US" altLang="zh-CN" sz="2000" dirty="0"/>
              <a:t>p1=3,p2=8(</a:t>
            </a:r>
            <a:r>
              <a:rPr lang="zh-CN" altLang="en-US" sz="2000" dirty="0"/>
              <a:t>标红位置</a:t>
            </a:r>
            <a:r>
              <a:rPr lang="en-US" altLang="zh-CN" sz="2000" dirty="0"/>
              <a:t>),</a:t>
            </a:r>
            <a:r>
              <a:rPr lang="zh-CN" altLang="en-US" sz="2000" dirty="0"/>
              <a:t>交换这两个位置的基因，得到新的</a:t>
            </a:r>
            <a:r>
              <a:rPr lang="en-US" altLang="zh-CN" sz="2000" dirty="0"/>
              <a:t>	</a:t>
            </a:r>
            <a:r>
              <a:rPr lang="zh-CN" altLang="en-US" sz="2000" dirty="0"/>
              <a:t>染色体为</a:t>
            </a:r>
            <a:r>
              <a:rPr lang="en-US" altLang="zh-CN" sz="2000" dirty="0"/>
              <a:t>:</a:t>
            </a:r>
          </a:p>
          <a:p>
            <a:r>
              <a:rPr lang="en-US" altLang="zh-CN" sz="2000" dirty="0"/>
              <a:t>                      	2 4 7 0 3 1 9 6 8 5</a:t>
            </a:r>
            <a:endParaRPr lang="en-US" altLang="zh-CN" sz="2400" dirty="0"/>
          </a:p>
          <a:p>
            <a:pPr marL="457200" indent="-457200">
              <a:buAutoNum type="arabicPeriod" startAt="5"/>
            </a:pPr>
            <a:r>
              <a:rPr lang="zh-CN" altLang="en-US" sz="2400" dirty="0"/>
              <a:t>判断是否达到迭代最大次数（也有其他的终止判断条件），如果没达到，则返回第</a:t>
            </a:r>
            <a:r>
              <a:rPr lang="en-US" altLang="zh-CN" sz="2400" dirty="0"/>
              <a:t>2</a:t>
            </a:r>
            <a:r>
              <a:rPr lang="zh-CN" altLang="en-US" sz="2400" dirty="0"/>
              <a:t>步继续迭代。</a:t>
            </a:r>
            <a:endParaRPr lang="en-US" altLang="zh-CN" sz="2000" dirty="0"/>
          </a:p>
          <a:p>
            <a:pPr lvl="1"/>
            <a:r>
              <a:rPr lang="zh-CN" altLang="en-US" sz="2400" dirty="0"/>
              <a:t>如果算法结束，则取适应度最大的个体作为解输出</a:t>
            </a:r>
            <a:endParaRPr lang="en-US" altLang="zh-CN" sz="2400" dirty="0"/>
          </a:p>
        </p:txBody>
      </p:sp>
    </p:spTree>
    <p:extLst>
      <p:ext uri="{BB962C8B-B14F-4D97-AF65-F5344CB8AC3E}">
        <p14:creationId xmlns:p14="http://schemas.microsoft.com/office/powerpoint/2010/main" val="12728226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ED129B-D013-4C64-95AF-643917C26BA7}"/>
              </a:ext>
            </a:extLst>
          </p:cNvPr>
          <p:cNvSpPr>
            <a:spLocks noGrp="1"/>
          </p:cNvSpPr>
          <p:nvPr>
            <p:ph type="title"/>
          </p:nvPr>
        </p:nvSpPr>
        <p:spPr/>
        <p:txBody>
          <a:bodyPr/>
          <a:lstStyle/>
          <a:p>
            <a:r>
              <a:rPr lang="zh-CN" altLang="en-US" dirty="0"/>
              <a:t>遗传算法求解背包问题</a:t>
            </a:r>
          </a:p>
        </p:txBody>
      </p:sp>
      <p:sp>
        <p:nvSpPr>
          <p:cNvPr id="3" name="内容占位符 2">
            <a:extLst>
              <a:ext uri="{FF2B5EF4-FFF2-40B4-BE49-F238E27FC236}">
                <a16:creationId xmlns:a16="http://schemas.microsoft.com/office/drawing/2014/main" id="{A27EBD39-8D4D-4346-846F-DEC7AA41C875}"/>
              </a:ext>
            </a:extLst>
          </p:cNvPr>
          <p:cNvSpPr>
            <a:spLocks noGrp="1"/>
          </p:cNvSpPr>
          <p:nvPr>
            <p:ph idx="1"/>
          </p:nvPr>
        </p:nvSpPr>
        <p:spPr/>
        <p:txBody>
          <a:bodyPr/>
          <a:lstStyle/>
          <a:p>
            <a:r>
              <a:rPr lang="zh-CN" altLang="en-US" dirty="0"/>
              <a:t>基本思想</a:t>
            </a:r>
            <a:endParaRPr lang="en-US" altLang="zh-CN" dirty="0"/>
          </a:p>
          <a:p>
            <a:pPr lvl="1"/>
            <a:r>
              <a:rPr lang="zh-CN" altLang="en-US" dirty="0"/>
              <a:t>和</a:t>
            </a:r>
            <a:r>
              <a:rPr lang="en-US" altLang="zh-CN" dirty="0"/>
              <a:t>TSP</a:t>
            </a:r>
            <a:r>
              <a:rPr lang="zh-CN" altLang="en-US" dirty="0"/>
              <a:t>问题类型，主要区别是：</a:t>
            </a:r>
            <a:endParaRPr lang="en-US" altLang="zh-CN" dirty="0"/>
          </a:p>
          <a:p>
            <a:pPr lvl="2"/>
            <a:r>
              <a:rPr lang="zh-CN" altLang="en-US" dirty="0"/>
              <a:t>对于</a:t>
            </a:r>
            <a:r>
              <a:rPr lang="en-US" altLang="zh-CN" dirty="0"/>
              <a:t>N</a:t>
            </a:r>
            <a:r>
              <a:rPr lang="zh-CN" altLang="en-US" dirty="0"/>
              <a:t>个物品，可以用</a:t>
            </a:r>
            <a:r>
              <a:rPr lang="en-US" altLang="zh-CN" dirty="0"/>
              <a:t>N</a:t>
            </a:r>
            <a:r>
              <a:rPr lang="zh-CN" altLang="en-US" dirty="0"/>
              <a:t>个</a:t>
            </a:r>
            <a:r>
              <a:rPr lang="en-US" altLang="zh-CN" dirty="0"/>
              <a:t>0</a:t>
            </a:r>
            <a:r>
              <a:rPr lang="zh-CN" altLang="en-US" dirty="0"/>
              <a:t>或</a:t>
            </a:r>
            <a:r>
              <a:rPr lang="en-US" altLang="zh-CN" dirty="0"/>
              <a:t>1</a:t>
            </a:r>
            <a:r>
              <a:rPr lang="zh-CN" altLang="en-US" dirty="0"/>
              <a:t>组成的序列代表一个个体，</a:t>
            </a:r>
            <a:r>
              <a:rPr lang="en-US" altLang="zh-CN" dirty="0"/>
              <a:t>0</a:t>
            </a:r>
            <a:r>
              <a:rPr lang="zh-CN" altLang="en-US" dirty="0"/>
              <a:t>表示没有选择该物品，</a:t>
            </a:r>
            <a:r>
              <a:rPr lang="en-US" altLang="zh-CN" dirty="0"/>
              <a:t>1</a:t>
            </a:r>
            <a:r>
              <a:rPr lang="zh-CN" altLang="en-US" dirty="0"/>
              <a:t>代表选择。</a:t>
            </a:r>
            <a:endParaRPr lang="en-US" altLang="zh-CN" dirty="0"/>
          </a:p>
          <a:p>
            <a:pPr lvl="2"/>
            <a:r>
              <a:rPr lang="zh-CN" altLang="en-US" dirty="0"/>
              <a:t>例如</a:t>
            </a:r>
            <a:r>
              <a:rPr lang="en-US" altLang="zh-CN" dirty="0"/>
              <a:t>N=3</a:t>
            </a:r>
            <a:r>
              <a:rPr lang="zh-CN" altLang="en-US" dirty="0"/>
              <a:t>，则对应的初始化种群可以为：</a:t>
            </a:r>
            <a:endParaRPr lang="en-US" altLang="zh-CN" dirty="0"/>
          </a:p>
          <a:p>
            <a:pPr marL="914400" lvl="2" indent="0">
              <a:buNone/>
            </a:pPr>
            <a:r>
              <a:rPr lang="en-US" altLang="zh-CN" dirty="0"/>
              <a:t>  101,    </a:t>
            </a:r>
            <a:r>
              <a:rPr lang="zh-CN" altLang="en-US" dirty="0"/>
              <a:t>表示第</a:t>
            </a:r>
            <a:r>
              <a:rPr lang="en-US" altLang="zh-CN" dirty="0"/>
              <a:t>1</a:t>
            </a:r>
            <a:r>
              <a:rPr lang="zh-CN" altLang="en-US" dirty="0"/>
              <a:t>和第</a:t>
            </a:r>
            <a:r>
              <a:rPr lang="en-US" altLang="zh-CN" dirty="0"/>
              <a:t>3</a:t>
            </a:r>
            <a:r>
              <a:rPr lang="zh-CN" altLang="en-US" dirty="0"/>
              <a:t>个物品被拿取</a:t>
            </a:r>
            <a:endParaRPr lang="en-US" altLang="zh-CN" dirty="0"/>
          </a:p>
          <a:p>
            <a:pPr marL="914400" lvl="2" indent="0">
              <a:buNone/>
            </a:pPr>
            <a:r>
              <a:rPr lang="en-US" altLang="zh-CN" dirty="0"/>
              <a:t>  110,    </a:t>
            </a:r>
            <a:r>
              <a:rPr lang="zh-CN" altLang="en-US" dirty="0"/>
              <a:t>表示第</a:t>
            </a:r>
            <a:r>
              <a:rPr lang="en-US" altLang="zh-CN" dirty="0"/>
              <a:t>1</a:t>
            </a:r>
            <a:r>
              <a:rPr lang="zh-CN" altLang="en-US" dirty="0"/>
              <a:t>和第</a:t>
            </a:r>
            <a:r>
              <a:rPr lang="en-US" altLang="zh-CN" dirty="0"/>
              <a:t>2</a:t>
            </a:r>
            <a:r>
              <a:rPr lang="zh-CN" altLang="en-US" dirty="0"/>
              <a:t>个物品被拿取</a:t>
            </a:r>
            <a:endParaRPr lang="en-US" altLang="zh-CN" dirty="0"/>
          </a:p>
          <a:p>
            <a:pPr marL="914400" lvl="2" indent="0">
              <a:buNone/>
            </a:pPr>
            <a:r>
              <a:rPr lang="en-US" altLang="zh-CN" dirty="0"/>
              <a:t>  011,    </a:t>
            </a:r>
            <a:r>
              <a:rPr lang="zh-CN" altLang="en-US" dirty="0"/>
              <a:t>表示第</a:t>
            </a:r>
            <a:r>
              <a:rPr lang="en-US" altLang="zh-CN" dirty="0"/>
              <a:t>2</a:t>
            </a:r>
            <a:r>
              <a:rPr lang="zh-CN" altLang="en-US" dirty="0"/>
              <a:t>和第</a:t>
            </a:r>
            <a:r>
              <a:rPr lang="en-US" altLang="zh-CN" dirty="0"/>
              <a:t>3</a:t>
            </a:r>
            <a:r>
              <a:rPr lang="zh-CN" altLang="en-US" dirty="0"/>
              <a:t>个物品被拿取</a:t>
            </a:r>
            <a:endParaRPr lang="en-US" altLang="zh-CN" dirty="0"/>
          </a:p>
          <a:p>
            <a:pPr marL="914400" lvl="2" indent="0">
              <a:buNone/>
            </a:pPr>
            <a:endParaRPr lang="en-US" altLang="zh-CN" dirty="0"/>
          </a:p>
        </p:txBody>
      </p:sp>
      <p:sp>
        <p:nvSpPr>
          <p:cNvPr id="4" name="日期占位符 3">
            <a:extLst>
              <a:ext uri="{FF2B5EF4-FFF2-40B4-BE49-F238E27FC236}">
                <a16:creationId xmlns:a16="http://schemas.microsoft.com/office/drawing/2014/main" id="{95B58B80-3557-41B6-80AD-FF3CC3446FC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19D112C0-C50F-4C66-95B1-C7C57EB4C482}"/>
              </a:ext>
            </a:extLst>
          </p:cNvPr>
          <p:cNvSpPr>
            <a:spLocks noGrp="1"/>
          </p:cNvSpPr>
          <p:nvPr>
            <p:ph type="sldNum" sz="quarter" idx="12"/>
          </p:nvPr>
        </p:nvSpPr>
        <p:spPr/>
        <p:txBody>
          <a:bodyPr/>
          <a:lstStyle/>
          <a:p>
            <a:fld id="{7AC79822-BC0D-4DE8-A7E5-90A3732A2B82}" type="slidenum">
              <a:rPr lang="zh-CN" altLang="en-US" smtClean="0"/>
              <a:pPr/>
              <a:t>34</a:t>
            </a:fld>
            <a:endParaRPr lang="en-US" altLang="zh-CN" dirty="0"/>
          </a:p>
        </p:txBody>
      </p:sp>
    </p:spTree>
    <p:extLst>
      <p:ext uri="{BB962C8B-B14F-4D97-AF65-F5344CB8AC3E}">
        <p14:creationId xmlns:p14="http://schemas.microsoft.com/office/powerpoint/2010/main" val="655821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0289-A234-4684-A9C2-E8085734E412}"/>
              </a:ext>
            </a:extLst>
          </p:cNvPr>
          <p:cNvSpPr>
            <a:spLocks noGrp="1"/>
          </p:cNvSpPr>
          <p:nvPr>
            <p:ph type="title"/>
          </p:nvPr>
        </p:nvSpPr>
        <p:spPr/>
        <p:txBody>
          <a:bodyPr/>
          <a:lstStyle/>
          <a:p>
            <a:r>
              <a:rPr lang="zh-CN" altLang="en-US" dirty="0"/>
              <a:t>遗传算法求解背包问题</a:t>
            </a:r>
          </a:p>
        </p:txBody>
      </p:sp>
      <p:sp>
        <p:nvSpPr>
          <p:cNvPr id="3" name="内容占位符 2">
            <a:extLst>
              <a:ext uri="{FF2B5EF4-FFF2-40B4-BE49-F238E27FC236}">
                <a16:creationId xmlns:a16="http://schemas.microsoft.com/office/drawing/2014/main" id="{2E549DF2-7A31-416A-AF89-5B34FF7F896B}"/>
              </a:ext>
            </a:extLst>
          </p:cNvPr>
          <p:cNvSpPr>
            <a:spLocks noGrp="1"/>
          </p:cNvSpPr>
          <p:nvPr>
            <p:ph idx="1"/>
          </p:nvPr>
        </p:nvSpPr>
        <p:spPr/>
        <p:txBody>
          <a:bodyPr/>
          <a:lstStyle/>
          <a:p>
            <a:r>
              <a:rPr lang="zh-CN" altLang="en-US" dirty="0"/>
              <a:t>迭代步骤</a:t>
            </a:r>
            <a:endParaRPr lang="en-US" altLang="zh-CN" dirty="0"/>
          </a:p>
        </p:txBody>
      </p:sp>
      <p:sp>
        <p:nvSpPr>
          <p:cNvPr id="4" name="日期占位符 3">
            <a:extLst>
              <a:ext uri="{FF2B5EF4-FFF2-40B4-BE49-F238E27FC236}">
                <a16:creationId xmlns:a16="http://schemas.microsoft.com/office/drawing/2014/main" id="{A9C4C1FB-9D0A-43B8-94A1-EDE2B319CAE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72D5F57-2DDC-444A-9B34-AC2C6B9E6EF1}"/>
              </a:ext>
            </a:extLst>
          </p:cNvPr>
          <p:cNvSpPr>
            <a:spLocks noGrp="1"/>
          </p:cNvSpPr>
          <p:nvPr>
            <p:ph type="sldNum" sz="quarter" idx="12"/>
          </p:nvPr>
        </p:nvSpPr>
        <p:spPr/>
        <p:txBody>
          <a:bodyPr/>
          <a:lstStyle/>
          <a:p>
            <a:fld id="{7AC79822-BC0D-4DE8-A7E5-90A3732A2B82}" type="slidenum">
              <a:rPr lang="zh-CN" altLang="en-US" smtClean="0"/>
              <a:pPr/>
              <a:t>35</a:t>
            </a:fld>
            <a:endParaRPr lang="en-US" altLang="zh-CN" dirty="0"/>
          </a:p>
        </p:txBody>
      </p:sp>
      <p:sp>
        <p:nvSpPr>
          <p:cNvPr id="6" name="文本框 5">
            <a:extLst>
              <a:ext uri="{FF2B5EF4-FFF2-40B4-BE49-F238E27FC236}">
                <a16:creationId xmlns:a16="http://schemas.microsoft.com/office/drawing/2014/main" id="{127D4539-6CC1-4BF9-9872-8145372D89B6}"/>
              </a:ext>
            </a:extLst>
          </p:cNvPr>
          <p:cNvSpPr txBox="1"/>
          <p:nvPr/>
        </p:nvSpPr>
        <p:spPr>
          <a:xfrm>
            <a:off x="148856" y="1931178"/>
            <a:ext cx="9757144" cy="2308324"/>
          </a:xfrm>
          <a:prstGeom prst="rect">
            <a:avLst/>
          </a:prstGeom>
          <a:noFill/>
        </p:spPr>
        <p:txBody>
          <a:bodyPr wrap="square" rtlCol="0">
            <a:spAutoFit/>
          </a:bodyPr>
          <a:lstStyle/>
          <a:p>
            <a:pPr marL="457200" indent="-457200">
              <a:buAutoNum type="arabicPeriod"/>
            </a:pPr>
            <a:r>
              <a:rPr lang="zh-CN" altLang="en-US" sz="2400" dirty="0"/>
              <a:t>初始化种群</a:t>
            </a:r>
            <a:endParaRPr lang="en-US" altLang="zh-CN" sz="2400" dirty="0"/>
          </a:p>
          <a:p>
            <a:pPr lvl="1"/>
            <a:r>
              <a:rPr lang="zh-CN" altLang="en-US" sz="2400" dirty="0"/>
              <a:t>用</a:t>
            </a:r>
            <a:r>
              <a:rPr lang="en-US" altLang="zh-CN" sz="2400" dirty="0"/>
              <a:t>N</a:t>
            </a:r>
            <a:r>
              <a:rPr lang="zh-CN" altLang="en-US" sz="2400" dirty="0"/>
              <a:t>个</a:t>
            </a:r>
            <a:r>
              <a:rPr lang="en-US" altLang="zh-CN" sz="2400" dirty="0"/>
              <a:t>0</a:t>
            </a:r>
            <a:r>
              <a:rPr lang="zh-CN" altLang="en-US" sz="2400" dirty="0"/>
              <a:t>或</a:t>
            </a:r>
            <a:r>
              <a:rPr lang="en-US" altLang="zh-CN" sz="2400" dirty="0"/>
              <a:t>1</a:t>
            </a:r>
            <a:r>
              <a:rPr lang="zh-CN" altLang="en-US" sz="2400" dirty="0"/>
              <a:t>组成的序列代表一个个体。通过随机序列产生若干个体形参初始化种群。</a:t>
            </a:r>
            <a:endParaRPr lang="en-US" altLang="zh-CN" sz="2400" dirty="0"/>
          </a:p>
          <a:p>
            <a:pPr lvl="1"/>
            <a:r>
              <a:rPr lang="zh-CN" altLang="en-US" sz="2400" dirty="0"/>
              <a:t>适应度函数：每个个体总价值作为适应度函数，函数值越大，越接近最优解。对于总重量的约束，如果某个体的总重量超过了背包限制，则可以将其适应度设置为</a:t>
            </a:r>
            <a:r>
              <a:rPr lang="en-US" altLang="zh-CN" sz="2400" dirty="0"/>
              <a:t>0</a:t>
            </a:r>
            <a:r>
              <a:rPr lang="zh-CN" altLang="en-US" sz="2400" dirty="0"/>
              <a:t>。</a:t>
            </a:r>
            <a:endParaRPr lang="en-US" altLang="zh-CN" sz="2400" dirty="0"/>
          </a:p>
        </p:txBody>
      </p:sp>
      <p:sp>
        <p:nvSpPr>
          <p:cNvPr id="7" name="文本框 6">
            <a:extLst>
              <a:ext uri="{FF2B5EF4-FFF2-40B4-BE49-F238E27FC236}">
                <a16:creationId xmlns:a16="http://schemas.microsoft.com/office/drawing/2014/main" id="{3FC15889-B5A1-46C1-8435-F57EB2002832}"/>
              </a:ext>
            </a:extLst>
          </p:cNvPr>
          <p:cNvSpPr txBox="1"/>
          <p:nvPr/>
        </p:nvSpPr>
        <p:spPr>
          <a:xfrm>
            <a:off x="560512" y="4311511"/>
            <a:ext cx="9060494" cy="461665"/>
          </a:xfrm>
          <a:prstGeom prst="rect">
            <a:avLst/>
          </a:prstGeom>
          <a:noFill/>
        </p:spPr>
        <p:txBody>
          <a:bodyPr wrap="none" rtlCol="0">
            <a:spAutoFit/>
          </a:bodyPr>
          <a:lstStyle/>
          <a:p>
            <a:r>
              <a:rPr lang="zh-CN" altLang="en-US" sz="2400" dirty="0"/>
              <a:t>例：</a:t>
            </a:r>
            <a:r>
              <a:rPr lang="en-US" altLang="zh-CN" sz="2400" dirty="0"/>
              <a:t>3</a:t>
            </a:r>
            <a:r>
              <a:rPr lang="zh-CN" altLang="en-US" sz="2400" dirty="0"/>
              <a:t>个物品，重量分别为</a:t>
            </a:r>
            <a:r>
              <a:rPr lang="en-US" altLang="zh-CN" sz="2400" dirty="0"/>
              <a:t>3,4,2</a:t>
            </a:r>
            <a:r>
              <a:rPr lang="zh-CN" altLang="en-US" sz="2400" dirty="0"/>
              <a:t>，价值分别为</a:t>
            </a:r>
            <a:r>
              <a:rPr lang="en-US" altLang="zh-CN" sz="2400" dirty="0"/>
              <a:t>5,2,7</a:t>
            </a:r>
            <a:r>
              <a:rPr lang="zh-CN" altLang="en-US" sz="2400" dirty="0"/>
              <a:t>，背包容量为</a:t>
            </a:r>
            <a:r>
              <a:rPr lang="en-US" altLang="zh-CN" sz="2400" dirty="0"/>
              <a:t>6.</a:t>
            </a:r>
            <a:endParaRPr lang="zh-CN" altLang="en-US" sz="2400" dirty="0"/>
          </a:p>
        </p:txBody>
      </p:sp>
      <p:sp>
        <p:nvSpPr>
          <p:cNvPr id="9" name="文本框 8">
            <a:extLst>
              <a:ext uri="{FF2B5EF4-FFF2-40B4-BE49-F238E27FC236}">
                <a16:creationId xmlns:a16="http://schemas.microsoft.com/office/drawing/2014/main" id="{02D40F17-D1F3-4763-A71E-B3F5C3EEA16E}"/>
              </a:ext>
            </a:extLst>
          </p:cNvPr>
          <p:cNvSpPr txBox="1"/>
          <p:nvPr/>
        </p:nvSpPr>
        <p:spPr>
          <a:xfrm>
            <a:off x="920552" y="4869160"/>
            <a:ext cx="3571812" cy="400110"/>
          </a:xfrm>
          <a:prstGeom prst="rect">
            <a:avLst/>
          </a:prstGeom>
          <a:noFill/>
        </p:spPr>
        <p:txBody>
          <a:bodyPr wrap="none" rtlCol="0">
            <a:spAutoFit/>
          </a:bodyPr>
          <a:lstStyle/>
          <a:p>
            <a:r>
              <a:rPr lang="zh-CN" altLang="en-US" sz="2000" dirty="0"/>
              <a:t>初始化种群为 </a:t>
            </a:r>
            <a:r>
              <a:rPr lang="en-US" altLang="zh-CN" sz="2000" dirty="0"/>
              <a:t>001,  010,  100</a:t>
            </a:r>
            <a:r>
              <a:rPr lang="zh-CN" altLang="en-US" sz="2000" dirty="0"/>
              <a:t> </a:t>
            </a:r>
          </a:p>
        </p:txBody>
      </p:sp>
    </p:spTree>
    <p:extLst>
      <p:ext uri="{BB962C8B-B14F-4D97-AF65-F5344CB8AC3E}">
        <p14:creationId xmlns:p14="http://schemas.microsoft.com/office/powerpoint/2010/main" val="3989044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0289-A234-4684-A9C2-E8085734E412}"/>
              </a:ext>
            </a:extLst>
          </p:cNvPr>
          <p:cNvSpPr>
            <a:spLocks noGrp="1"/>
          </p:cNvSpPr>
          <p:nvPr>
            <p:ph type="title"/>
          </p:nvPr>
        </p:nvSpPr>
        <p:spPr/>
        <p:txBody>
          <a:bodyPr/>
          <a:lstStyle/>
          <a:p>
            <a:r>
              <a:rPr lang="zh-CN" altLang="en-US" dirty="0"/>
              <a:t>遗传算法求解背包问题</a:t>
            </a:r>
          </a:p>
        </p:txBody>
      </p:sp>
      <p:sp>
        <p:nvSpPr>
          <p:cNvPr id="3" name="内容占位符 2">
            <a:extLst>
              <a:ext uri="{FF2B5EF4-FFF2-40B4-BE49-F238E27FC236}">
                <a16:creationId xmlns:a16="http://schemas.microsoft.com/office/drawing/2014/main" id="{2E549DF2-7A31-416A-AF89-5B34FF7F896B}"/>
              </a:ext>
            </a:extLst>
          </p:cNvPr>
          <p:cNvSpPr>
            <a:spLocks noGrp="1"/>
          </p:cNvSpPr>
          <p:nvPr>
            <p:ph idx="1"/>
          </p:nvPr>
        </p:nvSpPr>
        <p:spPr/>
        <p:txBody>
          <a:bodyPr/>
          <a:lstStyle/>
          <a:p>
            <a:r>
              <a:rPr lang="zh-CN" altLang="en-US" dirty="0"/>
              <a:t>迭代步骤</a:t>
            </a:r>
            <a:endParaRPr lang="en-US" altLang="zh-CN" dirty="0"/>
          </a:p>
        </p:txBody>
      </p:sp>
      <p:sp>
        <p:nvSpPr>
          <p:cNvPr id="4" name="日期占位符 3">
            <a:extLst>
              <a:ext uri="{FF2B5EF4-FFF2-40B4-BE49-F238E27FC236}">
                <a16:creationId xmlns:a16="http://schemas.microsoft.com/office/drawing/2014/main" id="{A9C4C1FB-9D0A-43B8-94A1-EDE2B319CAE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72D5F57-2DDC-444A-9B34-AC2C6B9E6EF1}"/>
              </a:ext>
            </a:extLst>
          </p:cNvPr>
          <p:cNvSpPr>
            <a:spLocks noGrp="1"/>
          </p:cNvSpPr>
          <p:nvPr>
            <p:ph type="sldNum" sz="quarter" idx="12"/>
          </p:nvPr>
        </p:nvSpPr>
        <p:spPr/>
        <p:txBody>
          <a:bodyPr/>
          <a:lstStyle/>
          <a:p>
            <a:fld id="{7AC79822-BC0D-4DE8-A7E5-90A3732A2B82}" type="slidenum">
              <a:rPr lang="zh-CN" altLang="en-US" smtClean="0"/>
              <a:pPr/>
              <a:t>36</a:t>
            </a:fld>
            <a:endParaRPr lang="en-US" altLang="zh-CN" dirty="0"/>
          </a:p>
        </p:txBody>
      </p:sp>
      <p:sp>
        <p:nvSpPr>
          <p:cNvPr id="6" name="文本框 5">
            <a:extLst>
              <a:ext uri="{FF2B5EF4-FFF2-40B4-BE49-F238E27FC236}">
                <a16:creationId xmlns:a16="http://schemas.microsoft.com/office/drawing/2014/main" id="{127D4539-6CC1-4BF9-9872-8145372D89B6}"/>
              </a:ext>
            </a:extLst>
          </p:cNvPr>
          <p:cNvSpPr txBox="1"/>
          <p:nvPr/>
        </p:nvSpPr>
        <p:spPr>
          <a:xfrm>
            <a:off x="148856" y="1931178"/>
            <a:ext cx="9757144" cy="830997"/>
          </a:xfrm>
          <a:prstGeom prst="rect">
            <a:avLst/>
          </a:prstGeom>
          <a:noFill/>
        </p:spPr>
        <p:txBody>
          <a:bodyPr wrap="square" rtlCol="0">
            <a:spAutoFit/>
          </a:bodyPr>
          <a:lstStyle/>
          <a:p>
            <a:r>
              <a:rPr lang="en-US" altLang="zh-CN" sz="2400" dirty="0"/>
              <a:t>2.  </a:t>
            </a:r>
            <a:r>
              <a:rPr lang="zh-CN" altLang="en-US" sz="2400" dirty="0"/>
              <a:t>选择操作</a:t>
            </a:r>
            <a:endParaRPr lang="en-US" altLang="zh-CN" sz="2400" dirty="0"/>
          </a:p>
          <a:p>
            <a:pPr lvl="1"/>
            <a:r>
              <a:rPr lang="zh-CN" altLang="en-US" sz="2400" dirty="0"/>
              <a:t>同</a:t>
            </a:r>
            <a:r>
              <a:rPr lang="en-US" altLang="zh-CN" sz="2400" dirty="0"/>
              <a:t>TSP</a:t>
            </a:r>
            <a:r>
              <a:rPr lang="zh-CN" altLang="en-US" sz="2400" dirty="0"/>
              <a:t>操作、根据适应度函数值和轮盘赌算法来选择。</a:t>
            </a:r>
            <a:endParaRPr lang="en-US" altLang="zh-CN" sz="2400" dirty="0"/>
          </a:p>
        </p:txBody>
      </p:sp>
      <p:sp>
        <p:nvSpPr>
          <p:cNvPr id="7" name="文本框 6">
            <a:extLst>
              <a:ext uri="{FF2B5EF4-FFF2-40B4-BE49-F238E27FC236}">
                <a16:creationId xmlns:a16="http://schemas.microsoft.com/office/drawing/2014/main" id="{9F715EAC-ED81-43E5-B7C2-D7B0406991BB}"/>
              </a:ext>
            </a:extLst>
          </p:cNvPr>
          <p:cNvSpPr txBox="1"/>
          <p:nvPr/>
        </p:nvSpPr>
        <p:spPr>
          <a:xfrm>
            <a:off x="387543" y="2967335"/>
            <a:ext cx="9060494" cy="461665"/>
          </a:xfrm>
          <a:prstGeom prst="rect">
            <a:avLst/>
          </a:prstGeom>
          <a:noFill/>
        </p:spPr>
        <p:txBody>
          <a:bodyPr wrap="none" rtlCol="0">
            <a:spAutoFit/>
          </a:bodyPr>
          <a:lstStyle/>
          <a:p>
            <a:r>
              <a:rPr lang="zh-CN" altLang="en-US" sz="2400" dirty="0"/>
              <a:t>例：</a:t>
            </a:r>
            <a:r>
              <a:rPr lang="en-US" altLang="zh-CN" sz="2400" dirty="0"/>
              <a:t>3</a:t>
            </a:r>
            <a:r>
              <a:rPr lang="zh-CN" altLang="en-US" sz="2400" dirty="0"/>
              <a:t>个物品，重量分别为</a:t>
            </a:r>
            <a:r>
              <a:rPr lang="en-US" altLang="zh-CN" sz="2400" dirty="0"/>
              <a:t>3,4,2</a:t>
            </a:r>
            <a:r>
              <a:rPr lang="zh-CN" altLang="en-US" sz="2400" dirty="0"/>
              <a:t>，价值分别为</a:t>
            </a:r>
            <a:r>
              <a:rPr lang="en-US" altLang="zh-CN" sz="2400" dirty="0"/>
              <a:t>5,2,7</a:t>
            </a:r>
            <a:r>
              <a:rPr lang="zh-CN" altLang="en-US" sz="2400" dirty="0"/>
              <a:t>，背包容量为</a:t>
            </a:r>
            <a:r>
              <a:rPr lang="en-US" altLang="zh-CN" sz="2400" dirty="0"/>
              <a:t>6.</a:t>
            </a:r>
            <a:endParaRPr lang="zh-CN" altLang="en-US" sz="2400" dirty="0"/>
          </a:p>
        </p:txBody>
      </p:sp>
      <p:sp>
        <p:nvSpPr>
          <p:cNvPr id="8" name="文本框 7">
            <a:extLst>
              <a:ext uri="{FF2B5EF4-FFF2-40B4-BE49-F238E27FC236}">
                <a16:creationId xmlns:a16="http://schemas.microsoft.com/office/drawing/2014/main" id="{D84785DE-C476-47C3-B563-A9DF6FC91810}"/>
              </a:ext>
            </a:extLst>
          </p:cNvPr>
          <p:cNvSpPr txBox="1"/>
          <p:nvPr/>
        </p:nvSpPr>
        <p:spPr>
          <a:xfrm>
            <a:off x="920552" y="3510237"/>
            <a:ext cx="3785011" cy="1631216"/>
          </a:xfrm>
          <a:prstGeom prst="rect">
            <a:avLst/>
          </a:prstGeom>
          <a:noFill/>
        </p:spPr>
        <p:txBody>
          <a:bodyPr wrap="none" rtlCol="0">
            <a:spAutoFit/>
          </a:bodyPr>
          <a:lstStyle/>
          <a:p>
            <a:r>
              <a:rPr lang="zh-CN" altLang="en-US" sz="2000" dirty="0"/>
              <a:t>初始化种群为 </a:t>
            </a:r>
            <a:r>
              <a:rPr lang="en-US" altLang="zh-CN" sz="2000" dirty="0"/>
              <a:t>001,  010,  100</a:t>
            </a:r>
            <a:r>
              <a:rPr lang="zh-CN" altLang="en-US" sz="2000" dirty="0"/>
              <a:t> </a:t>
            </a:r>
            <a:endParaRPr lang="en-US" altLang="zh-CN" sz="2000" dirty="0"/>
          </a:p>
          <a:p>
            <a:endParaRPr lang="en-US" altLang="zh-CN" sz="2000" dirty="0"/>
          </a:p>
          <a:p>
            <a:r>
              <a:rPr lang="zh-CN" altLang="en-US" sz="2000" dirty="0"/>
              <a:t>适应度分别为：</a:t>
            </a:r>
            <a:r>
              <a:rPr lang="en-US" altLang="zh-CN" sz="2000" dirty="0"/>
              <a:t>7,2,5</a:t>
            </a:r>
          </a:p>
          <a:p>
            <a:endParaRPr lang="en-US" altLang="zh-CN" sz="2000" dirty="0"/>
          </a:p>
          <a:p>
            <a:r>
              <a:rPr lang="zh-CN" altLang="en-US" sz="2000" dirty="0"/>
              <a:t>选择概率为：</a:t>
            </a:r>
            <a:r>
              <a:rPr lang="en-US" altLang="zh-CN" sz="2000" dirty="0"/>
              <a:t>7/14,  2/14,  5/14</a:t>
            </a:r>
          </a:p>
        </p:txBody>
      </p:sp>
      <p:sp>
        <p:nvSpPr>
          <p:cNvPr id="9" name="文本框 8">
            <a:extLst>
              <a:ext uri="{FF2B5EF4-FFF2-40B4-BE49-F238E27FC236}">
                <a16:creationId xmlns:a16="http://schemas.microsoft.com/office/drawing/2014/main" id="{407149E3-EC32-4FC8-826C-2CAC5F37F262}"/>
              </a:ext>
            </a:extLst>
          </p:cNvPr>
          <p:cNvSpPr txBox="1"/>
          <p:nvPr/>
        </p:nvSpPr>
        <p:spPr>
          <a:xfrm>
            <a:off x="5670117" y="3828896"/>
            <a:ext cx="4035411" cy="1631216"/>
          </a:xfrm>
          <a:prstGeom prst="rect">
            <a:avLst/>
          </a:prstGeom>
          <a:noFill/>
        </p:spPr>
        <p:txBody>
          <a:bodyPr wrap="square" rtlCol="0">
            <a:spAutoFit/>
          </a:bodyPr>
          <a:lstStyle/>
          <a:p>
            <a:r>
              <a:rPr lang="zh-CN" altLang="en-US" sz="2000" dirty="0"/>
              <a:t>假设个体</a:t>
            </a:r>
            <a:r>
              <a:rPr lang="en-US" altLang="zh-CN" sz="2000" dirty="0"/>
              <a:t>1</a:t>
            </a:r>
            <a:r>
              <a:rPr lang="zh-CN" altLang="en-US" sz="2000" dirty="0"/>
              <a:t>被选择</a:t>
            </a:r>
            <a:r>
              <a:rPr lang="en-US" altLang="zh-CN" sz="2000" dirty="0"/>
              <a:t>2</a:t>
            </a:r>
            <a:r>
              <a:rPr lang="zh-CN" altLang="en-US" sz="2000" dirty="0"/>
              <a:t>次，个体</a:t>
            </a:r>
            <a:r>
              <a:rPr lang="en-US" altLang="zh-CN" sz="2000" dirty="0"/>
              <a:t>3</a:t>
            </a:r>
            <a:r>
              <a:rPr lang="zh-CN" altLang="en-US" sz="2000" dirty="0"/>
              <a:t>被选择</a:t>
            </a:r>
            <a:r>
              <a:rPr lang="en-US" altLang="zh-CN" sz="2000" dirty="0"/>
              <a:t>1</a:t>
            </a:r>
            <a:r>
              <a:rPr lang="zh-CN" altLang="en-US" sz="2000" dirty="0"/>
              <a:t>次：</a:t>
            </a:r>
            <a:endParaRPr lang="en-US" altLang="zh-CN" sz="2000" dirty="0"/>
          </a:p>
          <a:p>
            <a:r>
              <a:rPr lang="zh-CN" altLang="en-US" sz="2000" dirty="0"/>
              <a:t>则选择后的种群为</a:t>
            </a:r>
            <a:endParaRPr lang="en-US" altLang="zh-CN" sz="2000" dirty="0"/>
          </a:p>
          <a:p>
            <a:r>
              <a:rPr lang="zh-CN" altLang="en-US" sz="2000" dirty="0"/>
              <a:t> </a:t>
            </a:r>
            <a:r>
              <a:rPr lang="en-US" altLang="zh-CN" sz="2000" dirty="0"/>
              <a:t>001,  001,  100</a:t>
            </a:r>
            <a:r>
              <a:rPr lang="zh-CN" altLang="en-US" sz="2000" dirty="0"/>
              <a:t> </a:t>
            </a:r>
            <a:endParaRPr lang="en-US" altLang="zh-CN" sz="2000" dirty="0"/>
          </a:p>
          <a:p>
            <a:endParaRPr lang="en-US" altLang="zh-CN" sz="2000" dirty="0"/>
          </a:p>
        </p:txBody>
      </p:sp>
    </p:spTree>
    <p:extLst>
      <p:ext uri="{BB962C8B-B14F-4D97-AF65-F5344CB8AC3E}">
        <p14:creationId xmlns:p14="http://schemas.microsoft.com/office/powerpoint/2010/main" val="1082515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0289-A234-4684-A9C2-E8085734E412}"/>
              </a:ext>
            </a:extLst>
          </p:cNvPr>
          <p:cNvSpPr>
            <a:spLocks noGrp="1"/>
          </p:cNvSpPr>
          <p:nvPr>
            <p:ph type="title"/>
          </p:nvPr>
        </p:nvSpPr>
        <p:spPr/>
        <p:txBody>
          <a:bodyPr/>
          <a:lstStyle/>
          <a:p>
            <a:r>
              <a:rPr lang="zh-CN" altLang="en-US" dirty="0"/>
              <a:t>遗传算法求解背包问题</a:t>
            </a:r>
          </a:p>
        </p:txBody>
      </p:sp>
      <p:sp>
        <p:nvSpPr>
          <p:cNvPr id="3" name="内容占位符 2">
            <a:extLst>
              <a:ext uri="{FF2B5EF4-FFF2-40B4-BE49-F238E27FC236}">
                <a16:creationId xmlns:a16="http://schemas.microsoft.com/office/drawing/2014/main" id="{2E549DF2-7A31-416A-AF89-5B34FF7F896B}"/>
              </a:ext>
            </a:extLst>
          </p:cNvPr>
          <p:cNvSpPr>
            <a:spLocks noGrp="1"/>
          </p:cNvSpPr>
          <p:nvPr>
            <p:ph idx="1"/>
          </p:nvPr>
        </p:nvSpPr>
        <p:spPr/>
        <p:txBody>
          <a:bodyPr/>
          <a:lstStyle/>
          <a:p>
            <a:r>
              <a:rPr lang="zh-CN" altLang="en-US" dirty="0"/>
              <a:t>迭代步骤</a:t>
            </a:r>
            <a:endParaRPr lang="en-US" altLang="zh-CN" dirty="0"/>
          </a:p>
        </p:txBody>
      </p:sp>
      <p:sp>
        <p:nvSpPr>
          <p:cNvPr id="4" name="日期占位符 3">
            <a:extLst>
              <a:ext uri="{FF2B5EF4-FFF2-40B4-BE49-F238E27FC236}">
                <a16:creationId xmlns:a16="http://schemas.microsoft.com/office/drawing/2014/main" id="{A9C4C1FB-9D0A-43B8-94A1-EDE2B319CAE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72D5F57-2DDC-444A-9B34-AC2C6B9E6EF1}"/>
              </a:ext>
            </a:extLst>
          </p:cNvPr>
          <p:cNvSpPr>
            <a:spLocks noGrp="1"/>
          </p:cNvSpPr>
          <p:nvPr>
            <p:ph type="sldNum" sz="quarter" idx="12"/>
          </p:nvPr>
        </p:nvSpPr>
        <p:spPr/>
        <p:txBody>
          <a:bodyPr/>
          <a:lstStyle/>
          <a:p>
            <a:fld id="{7AC79822-BC0D-4DE8-A7E5-90A3732A2B82}" type="slidenum">
              <a:rPr lang="zh-CN" altLang="en-US" smtClean="0"/>
              <a:pPr/>
              <a:t>37</a:t>
            </a:fld>
            <a:endParaRPr lang="en-US" altLang="zh-CN" dirty="0"/>
          </a:p>
        </p:txBody>
      </p:sp>
      <p:sp>
        <p:nvSpPr>
          <p:cNvPr id="6" name="文本框 5">
            <a:extLst>
              <a:ext uri="{FF2B5EF4-FFF2-40B4-BE49-F238E27FC236}">
                <a16:creationId xmlns:a16="http://schemas.microsoft.com/office/drawing/2014/main" id="{127D4539-6CC1-4BF9-9872-8145372D89B6}"/>
              </a:ext>
            </a:extLst>
          </p:cNvPr>
          <p:cNvSpPr txBox="1"/>
          <p:nvPr/>
        </p:nvSpPr>
        <p:spPr>
          <a:xfrm>
            <a:off x="148856" y="1931178"/>
            <a:ext cx="9757144" cy="830997"/>
          </a:xfrm>
          <a:prstGeom prst="rect">
            <a:avLst/>
          </a:prstGeom>
          <a:noFill/>
        </p:spPr>
        <p:txBody>
          <a:bodyPr wrap="square" rtlCol="0">
            <a:spAutoFit/>
          </a:bodyPr>
          <a:lstStyle/>
          <a:p>
            <a:r>
              <a:rPr lang="en-US" altLang="zh-CN" sz="2400" dirty="0"/>
              <a:t>3.  </a:t>
            </a:r>
            <a:r>
              <a:rPr lang="zh-CN" altLang="en-US" sz="2400" dirty="0"/>
              <a:t>交叉操作</a:t>
            </a:r>
            <a:endParaRPr lang="en-US" altLang="zh-CN" sz="2400" dirty="0"/>
          </a:p>
          <a:p>
            <a:pPr lvl="1"/>
            <a:r>
              <a:rPr lang="zh-CN" altLang="en-US" sz="2400" dirty="0"/>
              <a:t>两个个体随机选择若干位信息交换即可，不需要考虑重复。</a:t>
            </a:r>
            <a:endParaRPr lang="en-US" altLang="zh-CN" sz="2400" dirty="0"/>
          </a:p>
        </p:txBody>
      </p:sp>
      <p:sp>
        <p:nvSpPr>
          <p:cNvPr id="7" name="文本框 6">
            <a:extLst>
              <a:ext uri="{FF2B5EF4-FFF2-40B4-BE49-F238E27FC236}">
                <a16:creationId xmlns:a16="http://schemas.microsoft.com/office/drawing/2014/main" id="{C01A7261-9F3C-4050-A471-287BFAF9C165}"/>
              </a:ext>
            </a:extLst>
          </p:cNvPr>
          <p:cNvSpPr txBox="1"/>
          <p:nvPr/>
        </p:nvSpPr>
        <p:spPr>
          <a:xfrm>
            <a:off x="387543" y="2967335"/>
            <a:ext cx="9060494" cy="461665"/>
          </a:xfrm>
          <a:prstGeom prst="rect">
            <a:avLst/>
          </a:prstGeom>
          <a:noFill/>
        </p:spPr>
        <p:txBody>
          <a:bodyPr wrap="none" rtlCol="0">
            <a:spAutoFit/>
          </a:bodyPr>
          <a:lstStyle/>
          <a:p>
            <a:r>
              <a:rPr lang="zh-CN" altLang="en-US" sz="2400" dirty="0"/>
              <a:t>例：</a:t>
            </a:r>
            <a:r>
              <a:rPr lang="en-US" altLang="zh-CN" sz="2400" dirty="0"/>
              <a:t>3</a:t>
            </a:r>
            <a:r>
              <a:rPr lang="zh-CN" altLang="en-US" sz="2400" dirty="0"/>
              <a:t>个物品，重量分别为</a:t>
            </a:r>
            <a:r>
              <a:rPr lang="en-US" altLang="zh-CN" sz="2400" dirty="0"/>
              <a:t>3,4,2</a:t>
            </a:r>
            <a:r>
              <a:rPr lang="zh-CN" altLang="en-US" sz="2400" dirty="0"/>
              <a:t>，价值分别为</a:t>
            </a:r>
            <a:r>
              <a:rPr lang="en-US" altLang="zh-CN" sz="2400" dirty="0"/>
              <a:t>5,2,7</a:t>
            </a:r>
            <a:r>
              <a:rPr lang="zh-CN" altLang="en-US" sz="2400" dirty="0"/>
              <a:t>，背包容量为</a:t>
            </a:r>
            <a:r>
              <a:rPr lang="en-US" altLang="zh-CN" sz="2400" dirty="0"/>
              <a:t>6.</a:t>
            </a:r>
            <a:endParaRPr lang="zh-CN" altLang="en-US" sz="2400" dirty="0"/>
          </a:p>
        </p:txBody>
      </p:sp>
      <p:sp>
        <p:nvSpPr>
          <p:cNvPr id="8" name="文本框 7">
            <a:extLst>
              <a:ext uri="{FF2B5EF4-FFF2-40B4-BE49-F238E27FC236}">
                <a16:creationId xmlns:a16="http://schemas.microsoft.com/office/drawing/2014/main" id="{551B9CBF-7E52-4184-9E9E-F908F3E02440}"/>
              </a:ext>
            </a:extLst>
          </p:cNvPr>
          <p:cNvSpPr txBox="1"/>
          <p:nvPr/>
        </p:nvSpPr>
        <p:spPr>
          <a:xfrm>
            <a:off x="632520" y="3510237"/>
            <a:ext cx="2664296" cy="1015663"/>
          </a:xfrm>
          <a:prstGeom prst="rect">
            <a:avLst/>
          </a:prstGeom>
          <a:noFill/>
        </p:spPr>
        <p:txBody>
          <a:bodyPr wrap="square" rtlCol="0">
            <a:spAutoFit/>
          </a:bodyPr>
          <a:lstStyle/>
          <a:p>
            <a:r>
              <a:rPr lang="zh-CN" altLang="en-US" sz="2000" dirty="0"/>
              <a:t>选择后的种群为</a:t>
            </a:r>
            <a:endParaRPr lang="en-US" altLang="zh-CN" sz="2000" dirty="0"/>
          </a:p>
          <a:p>
            <a:r>
              <a:rPr lang="zh-CN" altLang="en-US" sz="2000" dirty="0"/>
              <a:t> </a:t>
            </a:r>
            <a:r>
              <a:rPr lang="en-US" altLang="zh-CN" sz="2000" dirty="0"/>
              <a:t>001,  001,  100</a:t>
            </a:r>
            <a:r>
              <a:rPr lang="zh-CN" altLang="en-US" sz="2000" dirty="0"/>
              <a:t> </a:t>
            </a:r>
            <a:endParaRPr lang="en-US" altLang="zh-CN" sz="2000" dirty="0"/>
          </a:p>
          <a:p>
            <a:endParaRPr lang="en-US" altLang="zh-CN" sz="2000" dirty="0"/>
          </a:p>
        </p:txBody>
      </p:sp>
      <p:sp>
        <p:nvSpPr>
          <p:cNvPr id="9" name="文本框 8">
            <a:extLst>
              <a:ext uri="{FF2B5EF4-FFF2-40B4-BE49-F238E27FC236}">
                <a16:creationId xmlns:a16="http://schemas.microsoft.com/office/drawing/2014/main" id="{C4CC1237-5F11-458E-BEEC-8DE39AC2C3DD}"/>
              </a:ext>
            </a:extLst>
          </p:cNvPr>
          <p:cNvSpPr txBox="1"/>
          <p:nvPr/>
        </p:nvSpPr>
        <p:spPr>
          <a:xfrm>
            <a:off x="4232920" y="3510237"/>
            <a:ext cx="4752528" cy="1631216"/>
          </a:xfrm>
          <a:prstGeom prst="rect">
            <a:avLst/>
          </a:prstGeom>
          <a:noFill/>
        </p:spPr>
        <p:txBody>
          <a:bodyPr wrap="square" rtlCol="0">
            <a:spAutoFit/>
          </a:bodyPr>
          <a:lstStyle/>
          <a:p>
            <a:r>
              <a:rPr lang="zh-CN" altLang="en-US" sz="2000" dirty="0"/>
              <a:t>假设选择个体</a:t>
            </a:r>
            <a:r>
              <a:rPr lang="en-US" altLang="zh-CN" sz="2000" dirty="0"/>
              <a:t>2</a:t>
            </a:r>
            <a:r>
              <a:rPr lang="zh-CN" altLang="en-US" sz="2000" dirty="0"/>
              <a:t>和个体</a:t>
            </a:r>
            <a:r>
              <a:rPr lang="en-US" altLang="zh-CN" sz="2000" dirty="0"/>
              <a:t>3</a:t>
            </a:r>
            <a:r>
              <a:rPr lang="zh-CN" altLang="en-US" sz="2000" dirty="0"/>
              <a:t>进行交叉，交叉位置为</a:t>
            </a:r>
            <a:r>
              <a:rPr lang="en-US" altLang="zh-CN" sz="2000" dirty="0"/>
              <a:t>1</a:t>
            </a:r>
          </a:p>
          <a:p>
            <a:r>
              <a:rPr lang="zh-CN" altLang="en-US" sz="2000" dirty="0"/>
              <a:t>则：交叉后的种群变成</a:t>
            </a:r>
            <a:endParaRPr lang="en-US" altLang="zh-CN" sz="2000" dirty="0"/>
          </a:p>
          <a:p>
            <a:r>
              <a:rPr lang="zh-CN" altLang="en-US" sz="2000" dirty="0"/>
              <a:t> </a:t>
            </a:r>
            <a:r>
              <a:rPr lang="en-US" altLang="zh-CN" sz="2000" dirty="0"/>
              <a:t>001,  101,  000</a:t>
            </a:r>
            <a:r>
              <a:rPr lang="zh-CN" altLang="en-US" sz="2000" dirty="0"/>
              <a:t> </a:t>
            </a:r>
            <a:endParaRPr lang="en-US" altLang="zh-CN" sz="2000" dirty="0"/>
          </a:p>
          <a:p>
            <a:endParaRPr lang="en-US" altLang="zh-CN" sz="2000" dirty="0"/>
          </a:p>
        </p:txBody>
      </p:sp>
    </p:spTree>
    <p:extLst>
      <p:ext uri="{BB962C8B-B14F-4D97-AF65-F5344CB8AC3E}">
        <p14:creationId xmlns:p14="http://schemas.microsoft.com/office/powerpoint/2010/main" val="3946626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0289-A234-4684-A9C2-E8085734E412}"/>
              </a:ext>
            </a:extLst>
          </p:cNvPr>
          <p:cNvSpPr>
            <a:spLocks noGrp="1"/>
          </p:cNvSpPr>
          <p:nvPr>
            <p:ph type="title"/>
          </p:nvPr>
        </p:nvSpPr>
        <p:spPr/>
        <p:txBody>
          <a:bodyPr/>
          <a:lstStyle/>
          <a:p>
            <a:r>
              <a:rPr lang="zh-CN" altLang="en-US" dirty="0"/>
              <a:t>遗传算法求解背包问题</a:t>
            </a:r>
          </a:p>
        </p:txBody>
      </p:sp>
      <p:sp>
        <p:nvSpPr>
          <p:cNvPr id="3" name="内容占位符 2">
            <a:extLst>
              <a:ext uri="{FF2B5EF4-FFF2-40B4-BE49-F238E27FC236}">
                <a16:creationId xmlns:a16="http://schemas.microsoft.com/office/drawing/2014/main" id="{2E549DF2-7A31-416A-AF89-5B34FF7F896B}"/>
              </a:ext>
            </a:extLst>
          </p:cNvPr>
          <p:cNvSpPr>
            <a:spLocks noGrp="1"/>
          </p:cNvSpPr>
          <p:nvPr>
            <p:ph idx="1"/>
          </p:nvPr>
        </p:nvSpPr>
        <p:spPr/>
        <p:txBody>
          <a:bodyPr/>
          <a:lstStyle/>
          <a:p>
            <a:r>
              <a:rPr lang="zh-CN" altLang="en-US" dirty="0"/>
              <a:t>迭代步骤</a:t>
            </a:r>
            <a:endParaRPr lang="en-US" altLang="zh-CN" dirty="0"/>
          </a:p>
        </p:txBody>
      </p:sp>
      <p:sp>
        <p:nvSpPr>
          <p:cNvPr id="4" name="日期占位符 3">
            <a:extLst>
              <a:ext uri="{FF2B5EF4-FFF2-40B4-BE49-F238E27FC236}">
                <a16:creationId xmlns:a16="http://schemas.microsoft.com/office/drawing/2014/main" id="{A9C4C1FB-9D0A-43B8-94A1-EDE2B319CAE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72D5F57-2DDC-444A-9B34-AC2C6B9E6EF1}"/>
              </a:ext>
            </a:extLst>
          </p:cNvPr>
          <p:cNvSpPr>
            <a:spLocks noGrp="1"/>
          </p:cNvSpPr>
          <p:nvPr>
            <p:ph type="sldNum" sz="quarter" idx="12"/>
          </p:nvPr>
        </p:nvSpPr>
        <p:spPr/>
        <p:txBody>
          <a:bodyPr/>
          <a:lstStyle/>
          <a:p>
            <a:fld id="{7AC79822-BC0D-4DE8-A7E5-90A3732A2B82}" type="slidenum">
              <a:rPr lang="zh-CN" altLang="en-US" smtClean="0"/>
              <a:pPr/>
              <a:t>38</a:t>
            </a:fld>
            <a:endParaRPr lang="en-US" altLang="zh-CN" dirty="0"/>
          </a:p>
        </p:txBody>
      </p:sp>
      <p:sp>
        <p:nvSpPr>
          <p:cNvPr id="6" name="文本框 5">
            <a:extLst>
              <a:ext uri="{FF2B5EF4-FFF2-40B4-BE49-F238E27FC236}">
                <a16:creationId xmlns:a16="http://schemas.microsoft.com/office/drawing/2014/main" id="{127D4539-6CC1-4BF9-9872-8145372D89B6}"/>
              </a:ext>
            </a:extLst>
          </p:cNvPr>
          <p:cNvSpPr txBox="1"/>
          <p:nvPr/>
        </p:nvSpPr>
        <p:spPr>
          <a:xfrm>
            <a:off x="148856" y="1931178"/>
            <a:ext cx="9757144" cy="1200329"/>
          </a:xfrm>
          <a:prstGeom prst="rect">
            <a:avLst/>
          </a:prstGeom>
          <a:noFill/>
        </p:spPr>
        <p:txBody>
          <a:bodyPr wrap="square" rtlCol="0">
            <a:spAutoFit/>
          </a:bodyPr>
          <a:lstStyle/>
          <a:p>
            <a:r>
              <a:rPr lang="en-US" altLang="zh-CN" sz="2400" dirty="0"/>
              <a:t>4.  </a:t>
            </a:r>
            <a:r>
              <a:rPr lang="zh-CN" altLang="en-US" sz="2400" dirty="0"/>
              <a:t>变异操作</a:t>
            </a:r>
            <a:endParaRPr lang="en-US" altLang="zh-CN" sz="2400" dirty="0"/>
          </a:p>
          <a:p>
            <a:pPr lvl="1"/>
            <a:r>
              <a:rPr lang="zh-CN" altLang="en-US" sz="2400" dirty="0"/>
              <a:t>随机选择某个个体的若干位，进行</a:t>
            </a:r>
            <a:r>
              <a:rPr lang="en-US" altLang="zh-CN" sz="2400" dirty="0"/>
              <a:t>0</a:t>
            </a:r>
            <a:r>
              <a:rPr lang="zh-CN" altLang="en-US" sz="2400" dirty="0"/>
              <a:t>和</a:t>
            </a:r>
            <a:r>
              <a:rPr lang="en-US" altLang="zh-CN" sz="2400" dirty="0"/>
              <a:t>1</a:t>
            </a:r>
            <a:r>
              <a:rPr lang="zh-CN" altLang="en-US" sz="2400" dirty="0"/>
              <a:t>互换即可，这里是</a:t>
            </a:r>
            <a:r>
              <a:rPr lang="en-US" altLang="zh-CN" sz="2400" dirty="0"/>
              <a:t>TSP</a:t>
            </a:r>
            <a:r>
              <a:rPr lang="zh-CN" altLang="en-US" sz="2400" dirty="0"/>
              <a:t>是不同的。</a:t>
            </a:r>
            <a:endParaRPr lang="en-US" altLang="zh-CN" sz="2400" dirty="0"/>
          </a:p>
        </p:txBody>
      </p:sp>
      <p:sp>
        <p:nvSpPr>
          <p:cNvPr id="7" name="文本框 6">
            <a:extLst>
              <a:ext uri="{FF2B5EF4-FFF2-40B4-BE49-F238E27FC236}">
                <a16:creationId xmlns:a16="http://schemas.microsoft.com/office/drawing/2014/main" id="{C01A7261-9F3C-4050-A471-287BFAF9C165}"/>
              </a:ext>
            </a:extLst>
          </p:cNvPr>
          <p:cNvSpPr txBox="1"/>
          <p:nvPr/>
        </p:nvSpPr>
        <p:spPr>
          <a:xfrm>
            <a:off x="387543" y="3247816"/>
            <a:ext cx="9060494" cy="461665"/>
          </a:xfrm>
          <a:prstGeom prst="rect">
            <a:avLst/>
          </a:prstGeom>
          <a:noFill/>
        </p:spPr>
        <p:txBody>
          <a:bodyPr wrap="none" rtlCol="0">
            <a:spAutoFit/>
          </a:bodyPr>
          <a:lstStyle/>
          <a:p>
            <a:r>
              <a:rPr lang="zh-CN" altLang="en-US" sz="2400" dirty="0"/>
              <a:t>例：</a:t>
            </a:r>
            <a:r>
              <a:rPr lang="en-US" altLang="zh-CN" sz="2400" dirty="0"/>
              <a:t>3</a:t>
            </a:r>
            <a:r>
              <a:rPr lang="zh-CN" altLang="en-US" sz="2400" dirty="0"/>
              <a:t>个物品，重量分别为</a:t>
            </a:r>
            <a:r>
              <a:rPr lang="en-US" altLang="zh-CN" sz="2400" dirty="0"/>
              <a:t>3,4,2</a:t>
            </a:r>
            <a:r>
              <a:rPr lang="zh-CN" altLang="en-US" sz="2400" dirty="0"/>
              <a:t>，价值分别为</a:t>
            </a:r>
            <a:r>
              <a:rPr lang="en-US" altLang="zh-CN" sz="2400" dirty="0"/>
              <a:t>5,2,7</a:t>
            </a:r>
            <a:r>
              <a:rPr lang="zh-CN" altLang="en-US" sz="2400" dirty="0"/>
              <a:t>，背包容量为</a:t>
            </a:r>
            <a:r>
              <a:rPr lang="en-US" altLang="zh-CN" sz="2400" dirty="0"/>
              <a:t>6.</a:t>
            </a:r>
            <a:endParaRPr lang="zh-CN" altLang="en-US" sz="2400" dirty="0"/>
          </a:p>
        </p:txBody>
      </p:sp>
      <p:sp>
        <p:nvSpPr>
          <p:cNvPr id="9" name="文本框 8">
            <a:extLst>
              <a:ext uri="{FF2B5EF4-FFF2-40B4-BE49-F238E27FC236}">
                <a16:creationId xmlns:a16="http://schemas.microsoft.com/office/drawing/2014/main" id="{C4CC1237-5F11-458E-BEEC-8DE39AC2C3DD}"/>
              </a:ext>
            </a:extLst>
          </p:cNvPr>
          <p:cNvSpPr txBox="1"/>
          <p:nvPr/>
        </p:nvSpPr>
        <p:spPr>
          <a:xfrm>
            <a:off x="704528" y="3790618"/>
            <a:ext cx="4752528" cy="1015663"/>
          </a:xfrm>
          <a:prstGeom prst="rect">
            <a:avLst/>
          </a:prstGeom>
          <a:noFill/>
        </p:spPr>
        <p:txBody>
          <a:bodyPr wrap="square" rtlCol="0">
            <a:spAutoFit/>
          </a:bodyPr>
          <a:lstStyle/>
          <a:p>
            <a:r>
              <a:rPr lang="zh-CN" altLang="en-US" sz="2000" dirty="0"/>
              <a:t>交叉后的种群变成</a:t>
            </a:r>
            <a:endParaRPr lang="en-US" altLang="zh-CN" sz="2000" dirty="0"/>
          </a:p>
          <a:p>
            <a:r>
              <a:rPr lang="zh-CN" altLang="en-US" sz="2000" dirty="0"/>
              <a:t> </a:t>
            </a:r>
            <a:r>
              <a:rPr lang="en-US" altLang="zh-CN" sz="2000" dirty="0"/>
              <a:t>001,  101,  000</a:t>
            </a:r>
            <a:r>
              <a:rPr lang="zh-CN" altLang="en-US" sz="2000" dirty="0"/>
              <a:t> </a:t>
            </a:r>
            <a:endParaRPr lang="en-US" altLang="zh-CN" sz="2000" dirty="0"/>
          </a:p>
          <a:p>
            <a:endParaRPr lang="en-US" altLang="zh-CN" sz="2000" dirty="0"/>
          </a:p>
        </p:txBody>
      </p:sp>
      <p:sp>
        <p:nvSpPr>
          <p:cNvPr id="10" name="文本框 9">
            <a:extLst>
              <a:ext uri="{FF2B5EF4-FFF2-40B4-BE49-F238E27FC236}">
                <a16:creationId xmlns:a16="http://schemas.microsoft.com/office/drawing/2014/main" id="{6063044B-7829-45EB-AB03-7002FA64C316}"/>
              </a:ext>
            </a:extLst>
          </p:cNvPr>
          <p:cNvSpPr txBox="1"/>
          <p:nvPr/>
        </p:nvSpPr>
        <p:spPr>
          <a:xfrm>
            <a:off x="3797300" y="3790618"/>
            <a:ext cx="4752528" cy="1323439"/>
          </a:xfrm>
          <a:prstGeom prst="rect">
            <a:avLst/>
          </a:prstGeom>
          <a:noFill/>
        </p:spPr>
        <p:txBody>
          <a:bodyPr wrap="square" rtlCol="0">
            <a:spAutoFit/>
          </a:bodyPr>
          <a:lstStyle/>
          <a:p>
            <a:r>
              <a:rPr lang="zh-CN" altLang="en-US" sz="2000" dirty="0"/>
              <a:t>假设个体</a:t>
            </a:r>
            <a:r>
              <a:rPr lang="en-US" altLang="zh-CN" sz="2000" dirty="0"/>
              <a:t>3</a:t>
            </a:r>
            <a:r>
              <a:rPr lang="zh-CN" altLang="en-US" sz="2000" dirty="0"/>
              <a:t>被选择变异，变异的位置为</a:t>
            </a:r>
            <a:r>
              <a:rPr lang="en-US" altLang="zh-CN" sz="2000" dirty="0"/>
              <a:t>1,2</a:t>
            </a:r>
            <a:r>
              <a:rPr lang="zh-CN" altLang="en-US" sz="2000" dirty="0"/>
              <a:t> 则变异后的种群为</a:t>
            </a:r>
            <a:endParaRPr lang="en-US" altLang="zh-CN" sz="2000" dirty="0"/>
          </a:p>
          <a:p>
            <a:r>
              <a:rPr lang="en-US" altLang="zh-CN" sz="2000" dirty="0"/>
              <a:t>001,  101,  110</a:t>
            </a:r>
            <a:r>
              <a:rPr lang="zh-CN" altLang="en-US" sz="2000" dirty="0"/>
              <a:t> </a:t>
            </a:r>
            <a:endParaRPr lang="en-US" altLang="zh-CN" sz="2000" dirty="0"/>
          </a:p>
          <a:p>
            <a:endParaRPr lang="en-US" altLang="zh-CN" sz="2000" dirty="0"/>
          </a:p>
        </p:txBody>
      </p:sp>
    </p:spTree>
    <p:extLst>
      <p:ext uri="{BB962C8B-B14F-4D97-AF65-F5344CB8AC3E}">
        <p14:creationId xmlns:p14="http://schemas.microsoft.com/office/powerpoint/2010/main" val="3416102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B10289-A234-4684-A9C2-E8085734E412}"/>
              </a:ext>
            </a:extLst>
          </p:cNvPr>
          <p:cNvSpPr>
            <a:spLocks noGrp="1"/>
          </p:cNvSpPr>
          <p:nvPr>
            <p:ph type="title"/>
          </p:nvPr>
        </p:nvSpPr>
        <p:spPr/>
        <p:txBody>
          <a:bodyPr/>
          <a:lstStyle/>
          <a:p>
            <a:r>
              <a:rPr lang="zh-CN" altLang="en-US" dirty="0"/>
              <a:t>遗传算法求解背包问题</a:t>
            </a:r>
          </a:p>
        </p:txBody>
      </p:sp>
      <p:sp>
        <p:nvSpPr>
          <p:cNvPr id="3" name="内容占位符 2">
            <a:extLst>
              <a:ext uri="{FF2B5EF4-FFF2-40B4-BE49-F238E27FC236}">
                <a16:creationId xmlns:a16="http://schemas.microsoft.com/office/drawing/2014/main" id="{2E549DF2-7A31-416A-AF89-5B34FF7F896B}"/>
              </a:ext>
            </a:extLst>
          </p:cNvPr>
          <p:cNvSpPr>
            <a:spLocks noGrp="1"/>
          </p:cNvSpPr>
          <p:nvPr>
            <p:ph idx="1"/>
          </p:nvPr>
        </p:nvSpPr>
        <p:spPr/>
        <p:txBody>
          <a:bodyPr/>
          <a:lstStyle/>
          <a:p>
            <a:r>
              <a:rPr lang="zh-CN" altLang="en-US" dirty="0"/>
              <a:t>迭代步骤</a:t>
            </a:r>
            <a:endParaRPr lang="en-US" altLang="zh-CN" dirty="0"/>
          </a:p>
        </p:txBody>
      </p:sp>
      <p:sp>
        <p:nvSpPr>
          <p:cNvPr id="4" name="日期占位符 3">
            <a:extLst>
              <a:ext uri="{FF2B5EF4-FFF2-40B4-BE49-F238E27FC236}">
                <a16:creationId xmlns:a16="http://schemas.microsoft.com/office/drawing/2014/main" id="{A9C4C1FB-9D0A-43B8-94A1-EDE2B319CAEC}"/>
              </a:ext>
            </a:extLst>
          </p:cNvPr>
          <p:cNvSpPr>
            <a:spLocks noGrp="1"/>
          </p:cNvSpPr>
          <p:nvPr>
            <p:ph type="dt" sz="half" idx="10"/>
          </p:nvPr>
        </p:nvSpPr>
        <p:spPr/>
        <p:txBody>
          <a:bodyPr/>
          <a:lstStyle/>
          <a:p>
            <a:fld id="{A8B06C41-1E1E-4B9B-9644-5AFB8CB2AB3B}" type="datetime3">
              <a:rPr lang="zh-CN" altLang="en-US" smtClean="0"/>
              <a:t>2022年12月2日星期五</a:t>
            </a:fld>
            <a:endParaRPr lang="en-US" altLang="zh-CN" dirty="0"/>
          </a:p>
        </p:txBody>
      </p:sp>
      <p:sp>
        <p:nvSpPr>
          <p:cNvPr id="5" name="灯片编号占位符 4">
            <a:extLst>
              <a:ext uri="{FF2B5EF4-FFF2-40B4-BE49-F238E27FC236}">
                <a16:creationId xmlns:a16="http://schemas.microsoft.com/office/drawing/2014/main" id="{372D5F57-2DDC-444A-9B34-AC2C6B9E6EF1}"/>
              </a:ext>
            </a:extLst>
          </p:cNvPr>
          <p:cNvSpPr>
            <a:spLocks noGrp="1"/>
          </p:cNvSpPr>
          <p:nvPr>
            <p:ph type="sldNum" sz="quarter" idx="12"/>
          </p:nvPr>
        </p:nvSpPr>
        <p:spPr/>
        <p:txBody>
          <a:bodyPr/>
          <a:lstStyle/>
          <a:p>
            <a:fld id="{7AC79822-BC0D-4DE8-A7E5-90A3732A2B82}" type="slidenum">
              <a:rPr lang="zh-CN" altLang="en-US" smtClean="0"/>
              <a:pPr/>
              <a:t>39</a:t>
            </a:fld>
            <a:endParaRPr lang="en-US" altLang="zh-CN" dirty="0"/>
          </a:p>
        </p:txBody>
      </p:sp>
      <p:sp>
        <p:nvSpPr>
          <p:cNvPr id="6" name="文本框 5">
            <a:extLst>
              <a:ext uri="{FF2B5EF4-FFF2-40B4-BE49-F238E27FC236}">
                <a16:creationId xmlns:a16="http://schemas.microsoft.com/office/drawing/2014/main" id="{127D4539-6CC1-4BF9-9872-8145372D89B6}"/>
              </a:ext>
            </a:extLst>
          </p:cNvPr>
          <p:cNvSpPr txBox="1"/>
          <p:nvPr/>
        </p:nvSpPr>
        <p:spPr>
          <a:xfrm>
            <a:off x="148856" y="1931178"/>
            <a:ext cx="9757144" cy="1200329"/>
          </a:xfrm>
          <a:prstGeom prst="rect">
            <a:avLst/>
          </a:prstGeom>
          <a:noFill/>
        </p:spPr>
        <p:txBody>
          <a:bodyPr wrap="square" rtlCol="0">
            <a:spAutoFit/>
          </a:bodyPr>
          <a:lstStyle/>
          <a:p>
            <a:r>
              <a:rPr lang="en-US" altLang="zh-CN" sz="2400" dirty="0"/>
              <a:t>5.  </a:t>
            </a:r>
            <a:r>
              <a:rPr lang="zh-CN" altLang="en-US" sz="2400" dirty="0"/>
              <a:t>判断是否满足迭代终止条件（达到最大迭代次数），如果是，则结束，选择适应度最大的个体输出，否则迭代次数加</a:t>
            </a:r>
            <a:r>
              <a:rPr lang="en-US" altLang="zh-CN" sz="2400" dirty="0"/>
              <a:t>1</a:t>
            </a:r>
            <a:r>
              <a:rPr lang="zh-CN" altLang="en-US" sz="2400" dirty="0"/>
              <a:t>，回到第</a:t>
            </a:r>
            <a:r>
              <a:rPr lang="en-US" altLang="zh-CN" sz="2400" dirty="0"/>
              <a:t>2</a:t>
            </a:r>
            <a:r>
              <a:rPr lang="zh-CN" altLang="en-US" sz="2400" dirty="0"/>
              <a:t>步骤进行下一轮的选择</a:t>
            </a:r>
            <a:r>
              <a:rPr lang="en-US" altLang="zh-CN" sz="2400" dirty="0"/>
              <a:t>-</a:t>
            </a:r>
            <a:r>
              <a:rPr lang="zh-CN" altLang="en-US" sz="2400" dirty="0"/>
              <a:t>交叉</a:t>
            </a:r>
            <a:r>
              <a:rPr lang="en-US" altLang="zh-CN" sz="2400" dirty="0"/>
              <a:t>-</a:t>
            </a:r>
            <a:r>
              <a:rPr lang="zh-CN" altLang="en-US" sz="2400" dirty="0"/>
              <a:t>变异。</a:t>
            </a:r>
            <a:endParaRPr lang="en-US" altLang="zh-CN" sz="2400" dirty="0"/>
          </a:p>
        </p:txBody>
      </p:sp>
      <p:sp>
        <p:nvSpPr>
          <p:cNvPr id="7" name="文本框 6">
            <a:extLst>
              <a:ext uri="{FF2B5EF4-FFF2-40B4-BE49-F238E27FC236}">
                <a16:creationId xmlns:a16="http://schemas.microsoft.com/office/drawing/2014/main" id="{C01A7261-9F3C-4050-A471-287BFAF9C165}"/>
              </a:ext>
            </a:extLst>
          </p:cNvPr>
          <p:cNvSpPr txBox="1"/>
          <p:nvPr/>
        </p:nvSpPr>
        <p:spPr>
          <a:xfrm>
            <a:off x="387543" y="3247816"/>
            <a:ext cx="9060494" cy="461665"/>
          </a:xfrm>
          <a:prstGeom prst="rect">
            <a:avLst/>
          </a:prstGeom>
          <a:noFill/>
        </p:spPr>
        <p:txBody>
          <a:bodyPr wrap="none" rtlCol="0">
            <a:spAutoFit/>
          </a:bodyPr>
          <a:lstStyle/>
          <a:p>
            <a:r>
              <a:rPr lang="zh-CN" altLang="en-US" sz="2400" dirty="0"/>
              <a:t>例：</a:t>
            </a:r>
            <a:r>
              <a:rPr lang="en-US" altLang="zh-CN" sz="2400" dirty="0"/>
              <a:t>3</a:t>
            </a:r>
            <a:r>
              <a:rPr lang="zh-CN" altLang="en-US" sz="2400" dirty="0"/>
              <a:t>个物品，重量分别为</a:t>
            </a:r>
            <a:r>
              <a:rPr lang="en-US" altLang="zh-CN" sz="2400" dirty="0"/>
              <a:t>3,4,2</a:t>
            </a:r>
            <a:r>
              <a:rPr lang="zh-CN" altLang="en-US" sz="2400" dirty="0"/>
              <a:t>，价值分别为</a:t>
            </a:r>
            <a:r>
              <a:rPr lang="en-US" altLang="zh-CN" sz="2400" dirty="0"/>
              <a:t>5,2,7</a:t>
            </a:r>
            <a:r>
              <a:rPr lang="zh-CN" altLang="en-US" sz="2400" dirty="0"/>
              <a:t>，背包容量为</a:t>
            </a:r>
            <a:r>
              <a:rPr lang="en-US" altLang="zh-CN" sz="2400" dirty="0"/>
              <a:t>6.</a:t>
            </a:r>
            <a:endParaRPr lang="zh-CN" altLang="en-US" sz="2400" dirty="0"/>
          </a:p>
        </p:txBody>
      </p:sp>
      <p:sp>
        <p:nvSpPr>
          <p:cNvPr id="10" name="文本框 9">
            <a:extLst>
              <a:ext uri="{FF2B5EF4-FFF2-40B4-BE49-F238E27FC236}">
                <a16:creationId xmlns:a16="http://schemas.microsoft.com/office/drawing/2014/main" id="{6063044B-7829-45EB-AB03-7002FA64C316}"/>
              </a:ext>
            </a:extLst>
          </p:cNvPr>
          <p:cNvSpPr txBox="1"/>
          <p:nvPr/>
        </p:nvSpPr>
        <p:spPr>
          <a:xfrm>
            <a:off x="632520" y="3780610"/>
            <a:ext cx="9145016" cy="2246769"/>
          </a:xfrm>
          <a:prstGeom prst="rect">
            <a:avLst/>
          </a:prstGeom>
          <a:noFill/>
        </p:spPr>
        <p:txBody>
          <a:bodyPr wrap="square" rtlCol="0">
            <a:spAutoFit/>
          </a:bodyPr>
          <a:lstStyle/>
          <a:p>
            <a:r>
              <a:rPr lang="zh-CN" altLang="en-US" sz="2000" dirty="0"/>
              <a:t>变异后的种群为，假设不满足最大迭代次数，则继续进行下一轮迭代，</a:t>
            </a:r>
            <a:endParaRPr lang="en-US" altLang="zh-CN" sz="2000" dirty="0"/>
          </a:p>
          <a:p>
            <a:r>
              <a:rPr lang="zh-CN" altLang="en-US" sz="2000" dirty="0"/>
              <a:t>对种群</a:t>
            </a:r>
            <a:endParaRPr lang="en-US" altLang="zh-CN" sz="2000" dirty="0"/>
          </a:p>
          <a:p>
            <a:r>
              <a:rPr lang="en-US" altLang="zh-CN" sz="2000" dirty="0"/>
              <a:t>001,  101,  110</a:t>
            </a:r>
            <a:r>
              <a:rPr lang="zh-CN" altLang="en-US" sz="2000" dirty="0"/>
              <a:t> </a:t>
            </a:r>
            <a:endParaRPr lang="en-US" altLang="zh-CN" sz="2000" dirty="0"/>
          </a:p>
          <a:p>
            <a:r>
              <a:rPr lang="zh-CN" altLang="en-US" sz="2000" dirty="0"/>
              <a:t>进行选择操作：</a:t>
            </a:r>
            <a:endParaRPr lang="en-US" altLang="zh-CN" sz="2000" dirty="0"/>
          </a:p>
          <a:p>
            <a:r>
              <a:rPr lang="zh-CN" altLang="en-US" sz="2000" dirty="0"/>
              <a:t>适应度：</a:t>
            </a:r>
            <a:r>
              <a:rPr lang="en-US" altLang="zh-CN" sz="2000" dirty="0"/>
              <a:t>7</a:t>
            </a:r>
            <a:r>
              <a:rPr lang="zh-CN" altLang="en-US" sz="2000" dirty="0"/>
              <a:t>，</a:t>
            </a:r>
            <a:r>
              <a:rPr lang="en-US" altLang="zh-CN" sz="2000" dirty="0"/>
              <a:t>12</a:t>
            </a:r>
            <a:r>
              <a:rPr lang="zh-CN" altLang="en-US" sz="2000" dirty="0"/>
              <a:t>，</a:t>
            </a:r>
            <a:r>
              <a:rPr lang="en-US" altLang="zh-CN" sz="2000" dirty="0"/>
              <a:t>0 </a:t>
            </a:r>
            <a:r>
              <a:rPr lang="zh-CN" altLang="en-US" sz="2000" dirty="0"/>
              <a:t>      </a:t>
            </a:r>
            <a:endParaRPr lang="en-US" altLang="zh-CN" sz="2000" dirty="0"/>
          </a:p>
          <a:p>
            <a:r>
              <a:rPr lang="en-US" altLang="zh-CN" sz="2000" dirty="0"/>
              <a:t>	</a:t>
            </a:r>
            <a:r>
              <a:rPr lang="zh-CN" altLang="en-US" sz="2000" dirty="0"/>
              <a:t> 因为个体</a:t>
            </a:r>
            <a:r>
              <a:rPr lang="en-US" altLang="zh-CN" sz="2000" dirty="0"/>
              <a:t>3</a:t>
            </a:r>
            <a:r>
              <a:rPr lang="zh-CN" altLang="en-US" sz="2000" dirty="0"/>
              <a:t>选择了物品</a:t>
            </a:r>
            <a:r>
              <a:rPr lang="en-US" altLang="zh-CN" sz="2000" dirty="0"/>
              <a:t>1</a:t>
            </a:r>
            <a:r>
              <a:rPr lang="zh-CN" altLang="en-US" sz="2000" dirty="0"/>
              <a:t>和物品</a:t>
            </a:r>
            <a:r>
              <a:rPr lang="en-US" altLang="zh-CN" sz="2000" dirty="0"/>
              <a:t>2</a:t>
            </a:r>
            <a:r>
              <a:rPr lang="zh-CN" altLang="en-US" sz="2000" dirty="0"/>
              <a:t>，超过了背包容量，因为适应度为</a:t>
            </a:r>
            <a:r>
              <a:rPr lang="en-US" altLang="zh-CN" sz="2000" dirty="0"/>
              <a:t>0</a:t>
            </a:r>
            <a:r>
              <a:rPr lang="zh-CN" altLang="en-US" sz="2000" dirty="0"/>
              <a:t>。</a:t>
            </a:r>
            <a:endParaRPr lang="en-US" altLang="zh-CN" sz="2000" dirty="0"/>
          </a:p>
          <a:p>
            <a:r>
              <a:rPr lang="zh-CN" altLang="en-US" sz="2000" dirty="0"/>
              <a:t>选择概率：</a:t>
            </a:r>
            <a:r>
              <a:rPr lang="en-US" altLang="zh-CN" sz="2000" dirty="0"/>
              <a:t>7/19, 12/19, 0.    </a:t>
            </a:r>
            <a:r>
              <a:rPr lang="zh-CN" altLang="en-US" sz="2000" dirty="0"/>
              <a:t>下一轮迭代个体</a:t>
            </a:r>
            <a:r>
              <a:rPr lang="en-US" altLang="zh-CN" sz="2000" dirty="0"/>
              <a:t>3</a:t>
            </a:r>
            <a:r>
              <a:rPr lang="zh-CN" altLang="en-US" sz="2000" dirty="0"/>
              <a:t>被选择的概率几乎没有</a:t>
            </a:r>
            <a:endParaRPr lang="en-US" altLang="zh-CN" sz="2000" dirty="0"/>
          </a:p>
        </p:txBody>
      </p:sp>
    </p:spTree>
    <p:extLst>
      <p:ext uri="{BB962C8B-B14F-4D97-AF65-F5344CB8AC3E}">
        <p14:creationId xmlns:p14="http://schemas.microsoft.com/office/powerpoint/2010/main" val="3660329747"/>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Template>
  <TotalTime>10207</TotalTime>
  <Words>3572</Words>
  <Application>Microsoft Office PowerPoint</Application>
  <PresentationFormat>A4 纸张(210x297 毫米)</PresentationFormat>
  <Paragraphs>441</Paragraphs>
  <Slides>39</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48" baseType="lpstr">
      <vt:lpstr>黑体</vt:lpstr>
      <vt:lpstr>宋体</vt:lpstr>
      <vt:lpstr>Arial</vt:lpstr>
      <vt:lpstr>Courier New</vt:lpstr>
      <vt:lpstr>Tahoma</vt:lpstr>
      <vt:lpstr>Times New Roman</vt:lpstr>
      <vt:lpstr>Wingdings</vt:lpstr>
      <vt:lpstr>Presentation</vt:lpstr>
      <vt:lpstr>Equation</vt:lpstr>
      <vt:lpstr>最优化理论</vt:lpstr>
      <vt:lpstr>现代优化方法</vt:lpstr>
      <vt:lpstr>启发式算法—遗传算法</vt:lpstr>
      <vt:lpstr>启发式算法—遗传算法</vt:lpstr>
      <vt:lpstr>启发式算法—遗传算法</vt:lpstr>
      <vt:lpstr>启发式算法—遗传算法</vt:lpstr>
      <vt:lpstr>启发式算法—遗传算法</vt:lpstr>
      <vt:lpstr>启发式算法—遗传算法</vt:lpstr>
      <vt:lpstr>启发式算法—遗传算法</vt:lpstr>
      <vt:lpstr>启发式算法—遗传算法</vt:lpstr>
      <vt:lpstr>启发式算法—遗传算法</vt:lpstr>
      <vt:lpstr>启发式算法—遗传算法</vt:lpstr>
      <vt:lpstr>启发式算法—遗传算法</vt:lpstr>
      <vt:lpstr>启发式算法—遗传算法</vt:lpstr>
      <vt:lpstr>例1：解</vt:lpstr>
      <vt:lpstr>例1：解</vt:lpstr>
      <vt:lpstr>例1：解</vt:lpstr>
      <vt:lpstr>例1：解</vt:lpstr>
      <vt:lpstr>例1：解</vt:lpstr>
      <vt:lpstr>例1：解</vt:lpstr>
      <vt:lpstr>例1：解</vt:lpstr>
      <vt:lpstr>启发式算法—遗传算法</vt:lpstr>
      <vt:lpstr>启发式算法—遗传算法</vt:lpstr>
      <vt:lpstr>遗传算法步骤</vt:lpstr>
      <vt:lpstr>遗传算法流程框图</vt:lpstr>
      <vt:lpstr>启发式算法—遗传算法</vt:lpstr>
      <vt:lpstr>启发式算法—遗传算法</vt:lpstr>
      <vt:lpstr>遗传算法求解TSP问题</vt:lpstr>
      <vt:lpstr>遗传算法求解TSP问题</vt:lpstr>
      <vt:lpstr>遗传算法求解TSP问题</vt:lpstr>
      <vt:lpstr>遗传算法求解TSP问题</vt:lpstr>
      <vt:lpstr>遗传算法求解TSP问题</vt:lpstr>
      <vt:lpstr>遗传算法求解TSP问题</vt:lpstr>
      <vt:lpstr>遗传算法求解背包问题</vt:lpstr>
      <vt:lpstr>遗传算法求解背包问题</vt:lpstr>
      <vt:lpstr>遗传算法求解背包问题</vt:lpstr>
      <vt:lpstr>遗传算法求解背包问题</vt:lpstr>
      <vt:lpstr>遗传算法求解背包问题</vt:lpstr>
      <vt:lpstr>遗传算法求解背包问题</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Administrator</cp:lastModifiedBy>
  <cp:revision>5234</cp:revision>
  <dcterms:created xsi:type="dcterms:W3CDTF">2016-10-01T05:27:09Z</dcterms:created>
  <dcterms:modified xsi:type="dcterms:W3CDTF">2022-12-02T06:15:19Z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