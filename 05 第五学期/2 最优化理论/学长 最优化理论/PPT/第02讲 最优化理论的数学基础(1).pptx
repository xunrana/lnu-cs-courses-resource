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57" r:id="rId1"/>
  </p:sldMasterIdLst>
  <p:notesMasterIdLst>
    <p:notesMasterId r:id="rId46"/>
  </p:notesMasterIdLst>
  <p:handoutMasterIdLst>
    <p:handoutMasterId r:id="rId4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302" r:id="rId16"/>
    <p:sldId id="270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3" r:id="rId45"/>
  </p:sldIdLst>
  <p:sldSz cx="9906000" cy="6858000" type="A4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BF6BE6E-4B09-4148-9F0C-7F96FBD9B71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302"/>
            <p14:sldId id="270"/>
            <p14:sldId id="272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  <a:srgbClr val="0000FF"/>
    <a:srgbClr val="FF99FF"/>
    <a:srgbClr val="00FF00"/>
    <a:srgbClr val="66FF66"/>
    <a:srgbClr val="333399"/>
    <a:srgbClr val="000099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30" autoAdjust="0"/>
    <p:restoredTop sz="93826" autoAdjust="0"/>
  </p:normalViewPr>
  <p:slideViewPr>
    <p:cSldViewPr>
      <p:cViewPr varScale="1">
        <p:scale>
          <a:sx n="67" d="100"/>
          <a:sy n="67" d="100"/>
        </p:scale>
        <p:origin x="868" y="4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56" d="100"/>
          <a:sy n="56" d="100"/>
        </p:scale>
        <p:origin x="-1830" y="-9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fld id="{E4C64EE1-592A-45A9-9E8D-8A110C604C90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312776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zh-CN"/>
          </a:p>
          <a:p>
            <a:pPr lvl="1"/>
            <a:r>
              <a:rPr lang="en-US" altLang="zh-CN"/>
              <a:t>5656</a:t>
            </a: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fld id="{8DA2099C-E03D-4BEA-80BD-EC59252D8E32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59284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96C443-04BC-4639-B5F7-E14A7E3E0041}" type="slidenum">
              <a:rPr lang="zh-CN" altLang="en-US"/>
              <a:pPr/>
              <a:t>1</a:t>
            </a:fld>
            <a:endParaRPr lang="en-US" altLang="zh-CN" dirty="0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20 9">
            <a:extLst>
              <a:ext uri="{FF2B5EF4-FFF2-40B4-BE49-F238E27FC236}">
                <a16:creationId xmlns:a16="http://schemas.microsoft.com/office/drawing/2014/main" id="{DB875CB5-79D2-4F0D-AAEA-E38F8F1FB7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894850" cy="2420888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3A371CBA-E3A3-49E4-BC50-D73E5519A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8584" y="2620777"/>
            <a:ext cx="8016639" cy="1070582"/>
          </a:xfrm>
        </p:spPr>
        <p:txBody>
          <a:bodyPr anchor="ctr">
            <a:normAutofit fontScale="90000"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endParaRPr lang="zh-CN" altLang="en-US" sz="4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副标题 2">
            <a:extLst>
              <a:ext uri="{FF2B5EF4-FFF2-40B4-BE49-F238E27FC236}">
                <a16:creationId xmlns:a16="http://schemas.microsoft.com/office/drawing/2014/main" id="{2E156885-70F0-4648-845E-265F36444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7282" y="4015551"/>
            <a:ext cx="6619242" cy="642776"/>
          </a:xfrm>
        </p:spPr>
        <p:txBody>
          <a:bodyPr>
            <a:normAutofit/>
          </a:bodyPr>
          <a:lstStyle>
            <a:lvl1pPr marL="0" indent="0" algn="ctr">
              <a:buNone/>
              <a:defRPr sz="3600"/>
            </a:lvl1pPr>
          </a:lstStyle>
          <a:p>
            <a:endParaRPr lang="zh-CN" altLang="en-US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001777F-61CF-42D4-943E-7A0268001DD7}"/>
              </a:ext>
            </a:extLst>
          </p:cNvPr>
          <p:cNvSpPr/>
          <p:nvPr userDrawn="1"/>
        </p:nvSpPr>
        <p:spPr>
          <a:xfrm>
            <a:off x="1" y="6415953"/>
            <a:ext cx="9906000" cy="44204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FD28CC49-F75B-42A3-A246-3A936A3C1C5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" y="5577048"/>
            <a:ext cx="1938018" cy="128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日期占位符 12">
            <a:extLst>
              <a:ext uri="{FF2B5EF4-FFF2-40B4-BE49-F238E27FC236}">
                <a16:creationId xmlns:a16="http://schemas.microsoft.com/office/drawing/2014/main" id="{BF0374B4-E0FA-4D63-930E-15A90A36D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44945" y="6448251"/>
            <a:ext cx="2743200" cy="365125"/>
          </a:xfrm>
        </p:spPr>
        <p:txBody>
          <a:bodyPr/>
          <a:lstStyle/>
          <a:p>
            <a:fld id="{9BF28558-7B33-427A-B568-3609C5F68DFB}" type="datetime3">
              <a:rPr lang="zh-CN" altLang="en-US" sz="1600" smtClean="0"/>
              <a:t>2022年12月2日星期五</a:t>
            </a:fld>
            <a:endParaRPr lang="zh-CN" altLang="en-US" sz="1600" dirty="0"/>
          </a:p>
        </p:txBody>
      </p:sp>
      <p:pic>
        <p:nvPicPr>
          <p:cNvPr id="20" name="20 19">
            <a:extLst>
              <a:ext uri="{FF2B5EF4-FFF2-40B4-BE49-F238E27FC236}">
                <a16:creationId xmlns:a16="http://schemas.microsoft.com/office/drawing/2014/main" id="{92CA545C-BE9F-4FE0-8561-A177CAB1467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0610" y="6418253"/>
            <a:ext cx="1424240" cy="44204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044" y="188640"/>
            <a:ext cx="971949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044" y="1196752"/>
            <a:ext cx="9719492" cy="5264289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6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C79822-BC0D-4DE8-A7E5-90A3732A2B82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7" name="Line 8"/>
          <p:cNvSpPr>
            <a:spLocks noChangeShapeType="1"/>
          </p:cNvSpPr>
          <p:nvPr userDrawn="1"/>
        </p:nvSpPr>
        <p:spPr bwMode="auto">
          <a:xfrm flipV="1">
            <a:off x="58044" y="1052735"/>
            <a:ext cx="9719492" cy="1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44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95300" y="6381328"/>
            <a:ext cx="2311400" cy="432048"/>
          </a:xfrm>
        </p:spPr>
        <p:txBody>
          <a:bodyPr/>
          <a:lstStyle>
            <a:lvl1pPr>
              <a:defRPr sz="1600"/>
            </a:lvl1pPr>
          </a:lstStyle>
          <a:p>
            <a:fld id="{A3C8579E-F682-4174-8232-D943C000E3D7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944367" y="6453336"/>
            <a:ext cx="2311400" cy="360040"/>
          </a:xfrm>
        </p:spPr>
        <p:txBody>
          <a:bodyPr/>
          <a:lstStyle>
            <a:lvl1pPr algn="ctr">
              <a:defRPr sz="1600"/>
            </a:lvl1pPr>
          </a:lstStyle>
          <a:p>
            <a:fld id="{C3F47B36-077D-42FE-9DED-0C77CB87E4B3}" type="slidenum">
              <a:rPr lang="zh-CN" altLang="en-US" smtClean="0"/>
              <a:pPr/>
              <a:t>‹#›</a:t>
            </a:fld>
            <a:endParaRPr lang="en-US" altLang="zh-CN" dirty="0"/>
          </a:p>
        </p:txBody>
      </p:sp>
      <p:pic>
        <p:nvPicPr>
          <p:cNvPr id="7" name="20 6">
            <a:extLst>
              <a:ext uri="{FF2B5EF4-FFF2-40B4-BE49-F238E27FC236}">
                <a16:creationId xmlns:a16="http://schemas.microsoft.com/office/drawing/2014/main" id="{E94A7FD3-B299-4610-AC83-3B451DCD0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240" y="6542278"/>
            <a:ext cx="874512" cy="271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13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566F1B3-94A1-4D75-BEB5-A24ADF28504A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B52295-AD8D-47A8-A4D5-D2F6B9F48E3F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324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960A4C-2E7A-4BC7-92BB-4811D8BBCCED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C03054-A18C-4CF4-8FEF-67B6C74EC7CF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10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753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4D6D13C-CD6B-463A-856C-AE7EFF1CC60E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C03054-A18C-4CF4-8FEF-67B6C74EC7CF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10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090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1AAF49A-B9BF-4A20-9CBD-058DA3EDBF07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38B79-8FD5-46F1-8A19-651A319ADB19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32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7B4B721-E592-4506-A42D-A485CD36D387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7DC1DE-D772-415A-B75D-6C2A3BBF0EE5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07053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85F4B58-8D9C-4A13-BFBC-1BE0A361A717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B74B41-85B4-4984-A2A4-801BFDC62CF6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8255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单击图标添加20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460B875-7DB8-40C0-8DE9-C73D2B1839FC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FEF2C3-09B7-48D6-BCFF-274B159605E4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85987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999A547-F978-4B5E-95FF-4A25E1B63B3F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236A91-AB49-49FF-BD59-8386391FD12B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84642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D4BF687-6B3E-44A6-8A17-B031BCEB5374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8FACEB-921B-4428-A32E-7A6FF935A2DD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91822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448BAC07-5643-4648-8B99-28E352517941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3C52F4D9-41EC-423B-B963-42D1C41ACCC5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9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550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/>
              <a:t>单击图标添加剪 贴画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3D344004-1B03-4B97-88C0-C8765BDB0F88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966CAE82-64C7-4E5B-88D2-F38A61F120C5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890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8044" y="44624"/>
            <a:ext cx="9784456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500" y="1017862"/>
            <a:ext cx="9784456" cy="5514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lvl="2"/>
            <a:r>
              <a:rPr lang="zh-CN" altLang="en-US" dirty="0"/>
              <a:t>第三级</a:t>
            </a:r>
            <a:endParaRPr lang="en-US" altLang="zh-CN" dirty="0"/>
          </a:p>
          <a:p>
            <a:pPr lvl="3"/>
            <a:r>
              <a:rPr lang="zh-CN" altLang="en-US" dirty="0"/>
              <a:t>第四级</a:t>
            </a:r>
            <a:endParaRPr lang="en-US" altLang="zh-CN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8044" y="6542278"/>
            <a:ext cx="2311400" cy="271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宋体" pitchFamily="2" charset="-122"/>
              </a:defRPr>
            </a:lvl1pPr>
          </a:lstStyle>
          <a:p>
            <a:fld id="{9505B10C-6225-4137-9473-CCC2B763FCE5}" type="datetime3">
              <a:rPr lang="zh-CN" altLang="en-US" smtClean="0"/>
              <a:pPr/>
              <a:t>2022年12月2日星期五</a:t>
            </a:fld>
            <a:endParaRPr lang="en-US" altLang="zh-CN" dirty="0"/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797300" y="6533050"/>
            <a:ext cx="2311400" cy="271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宋体" pitchFamily="2" charset="-122"/>
              </a:defRPr>
            </a:lvl1pPr>
          </a:lstStyle>
          <a:p>
            <a:fld id="{67B052E9-C54A-4603-AE2F-EB72B006DB6C}" type="slidenum">
              <a:rPr lang="zh-CN" altLang="en-US" smtClean="0"/>
              <a:pPr/>
              <a:t>‹#›</a:t>
            </a:fld>
            <a:endParaRPr lang="en-US" altLang="zh-CN" dirty="0"/>
          </a:p>
        </p:txBody>
      </p:sp>
      <p:sp>
        <p:nvSpPr>
          <p:cNvPr id="2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2" name="20 11">
            <a:extLst>
              <a:ext uri="{FF2B5EF4-FFF2-40B4-BE49-F238E27FC236}">
                <a16:creationId xmlns:a16="http://schemas.microsoft.com/office/drawing/2014/main" id="{482E3178-F79E-4C1F-91C9-D07D79763864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3444" y="6562880"/>
            <a:ext cx="874512" cy="27109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71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itchFamily="2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"/>
        <a:defRPr sz="3200" b="1">
          <a:solidFill>
            <a:schemeClr val="tx1"/>
          </a:solidFill>
          <a:latin typeface="+mn-lt"/>
          <a:ea typeface="黑体" pitchFamily="2" charset="-122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"/>
        <a:defRPr sz="2800" b="1">
          <a:solidFill>
            <a:schemeClr val="tx1"/>
          </a:solidFill>
          <a:latin typeface="+mn-lt"/>
          <a:ea typeface="黑体" pitchFamily="2" charset="-122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"/>
        <a:defRPr sz="2400" b="1">
          <a:solidFill>
            <a:schemeClr val="tx1"/>
          </a:solidFill>
          <a:latin typeface="+mn-lt"/>
          <a:ea typeface="黑体" pitchFamily="2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黑体" pitchFamily="2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Ø"/>
        <a:defRPr sz="2000" b="1">
          <a:solidFill>
            <a:schemeClr val="tx1"/>
          </a:solidFill>
          <a:latin typeface="+mn-lt"/>
          <a:ea typeface="黑体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5.bin"/><Relationship Id="rId18" Type="http://schemas.openxmlformats.org/officeDocument/2006/relationships/image" Target="../media/image12.wmf"/><Relationship Id="rId3" Type="http://schemas.openxmlformats.org/officeDocument/2006/relationships/image" Target="../media/image6.png"/><Relationship Id="rId7" Type="http://schemas.openxmlformats.org/officeDocument/2006/relationships/oleObject" Target="../embeddings/oleObject2.bin"/><Relationship Id="rId12" Type="http://schemas.openxmlformats.org/officeDocument/2006/relationships/image" Target="../media/image9.wmf"/><Relationship Id="rId17" Type="http://schemas.openxmlformats.org/officeDocument/2006/relationships/oleObject" Target="../embeddings/oleObject7.bin"/><Relationship Id="rId16" Type="http://schemas.openxmlformats.org/officeDocument/2006/relationships/image" Target="../media/image11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15" Type="http://schemas.openxmlformats.org/officeDocument/2006/relationships/oleObject" Target="../embeddings/oleObject6.bin"/><Relationship Id="rId10" Type="http://schemas.openxmlformats.org/officeDocument/2006/relationships/image" Target="../media/image8.wmf"/><Relationship Id="rId4" Type="http://schemas.openxmlformats.org/officeDocument/2006/relationships/image" Target="../media/image7.png"/><Relationship Id="rId9" Type="http://schemas.openxmlformats.org/officeDocument/2006/relationships/oleObject" Target="../embeddings/oleObject3.bin"/><Relationship Id="rId14" Type="http://schemas.openxmlformats.org/officeDocument/2006/relationships/image" Target="../media/image10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oleObject" Target="../embeddings/oleObject2.bin"/><Relationship Id="rId18" Type="http://schemas.openxmlformats.org/officeDocument/2006/relationships/image" Target="../media/image9.wmf"/><Relationship Id="rId3" Type="http://schemas.openxmlformats.org/officeDocument/2006/relationships/image" Target="../media/image13.wmf"/><Relationship Id="rId7" Type="http://schemas.openxmlformats.org/officeDocument/2006/relationships/image" Target="../media/image14.wmf"/><Relationship Id="rId12" Type="http://schemas.openxmlformats.org/officeDocument/2006/relationships/image" Target="../media/image17.png"/><Relationship Id="rId17" Type="http://schemas.openxmlformats.org/officeDocument/2006/relationships/oleObject" Target="../embeddings/oleObject4.bin"/><Relationship Id="rId2" Type="http://schemas.openxmlformats.org/officeDocument/2006/relationships/oleObject" Target="../embeddings/oleObject8.bin"/><Relationship Id="rId16" Type="http://schemas.openxmlformats.org/officeDocument/2006/relationships/image" Target="../media/image8.wmf"/><Relationship Id="rId20" Type="http://schemas.openxmlformats.org/officeDocument/2006/relationships/image" Target="../media/image6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6.png"/><Relationship Id="rId5" Type="http://schemas.openxmlformats.org/officeDocument/2006/relationships/image" Target="../media/image12.wmf"/><Relationship Id="rId15" Type="http://schemas.openxmlformats.org/officeDocument/2006/relationships/oleObject" Target="../embeddings/oleObject3.bin"/><Relationship Id="rId19" Type="http://schemas.openxmlformats.org/officeDocument/2006/relationships/oleObject" Target="../embeddings/oleObject1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15.wmf"/><Relationship Id="rId14" Type="http://schemas.openxmlformats.org/officeDocument/2006/relationships/image" Target="../media/image7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oleObject" Target="../embeddings/oleObject16.bin"/><Relationship Id="rId18" Type="http://schemas.openxmlformats.org/officeDocument/2006/relationships/image" Target="../media/image17.wmf"/><Relationship Id="rId3" Type="http://schemas.openxmlformats.org/officeDocument/2006/relationships/image" Target="../media/image15.wmf"/><Relationship Id="rId21" Type="http://schemas.openxmlformats.org/officeDocument/2006/relationships/oleObject" Target="../embeddings/oleObject20.bin"/><Relationship Id="rId7" Type="http://schemas.openxmlformats.org/officeDocument/2006/relationships/image" Target="../media/image19.png"/><Relationship Id="rId12" Type="http://schemas.openxmlformats.org/officeDocument/2006/relationships/image" Target="../media/image7.wmf"/><Relationship Id="rId17" Type="http://schemas.openxmlformats.org/officeDocument/2006/relationships/oleObject" Target="../embeddings/oleObject18.bin"/><Relationship Id="rId2" Type="http://schemas.openxmlformats.org/officeDocument/2006/relationships/oleObject" Target="../embeddings/oleObject12.bin"/><Relationship Id="rId16" Type="http://schemas.openxmlformats.org/officeDocument/2006/relationships/image" Target="../media/image9.wmf"/><Relationship Id="rId20" Type="http://schemas.openxmlformats.org/officeDocument/2006/relationships/image" Target="../media/image18.wmf"/><Relationship Id="rId1" Type="http://schemas.openxmlformats.org/officeDocument/2006/relationships/slideLayout" Target="../slideLayouts/slideLayout2.xml"/><Relationship Id="rId11" Type="http://schemas.openxmlformats.org/officeDocument/2006/relationships/oleObject" Target="../embeddings/oleObject15.bin"/><Relationship Id="rId5" Type="http://schemas.openxmlformats.org/officeDocument/2006/relationships/image" Target="../media/image16.wmf"/><Relationship Id="rId15" Type="http://schemas.openxmlformats.org/officeDocument/2006/relationships/oleObject" Target="../embeddings/oleObject17.bin"/><Relationship Id="rId10" Type="http://schemas.openxmlformats.org/officeDocument/2006/relationships/image" Target="../media/image6.wmf"/><Relationship Id="rId19" Type="http://schemas.openxmlformats.org/officeDocument/2006/relationships/oleObject" Target="../embeddings/oleObject19.bin"/><Relationship Id="rId4" Type="http://schemas.openxmlformats.org/officeDocument/2006/relationships/oleObject" Target="../embeddings/oleObject13.bin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8.wmf"/><Relationship Id="rId22" Type="http://schemas.openxmlformats.org/officeDocument/2006/relationships/image" Target="../media/image19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2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22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image" Target="../media/image23.wmf"/><Relationship Id="rId7" Type="http://schemas.openxmlformats.org/officeDocument/2006/relationships/image" Target="../media/image25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24.wmf"/><Relationship Id="rId4" Type="http://schemas.openxmlformats.org/officeDocument/2006/relationships/oleObject" Target="../embeddings/oleObject25.bin"/><Relationship Id="rId9" Type="http://schemas.openxmlformats.org/officeDocument/2006/relationships/image" Target="../media/image26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7.wmf"/><Relationship Id="rId4" Type="http://schemas.openxmlformats.org/officeDocument/2006/relationships/oleObject" Target="../embeddings/oleObject28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image" Target="../media/image28.wmf"/><Relationship Id="rId7" Type="http://schemas.openxmlformats.org/officeDocument/2006/relationships/image" Target="../media/image30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29.wmf"/><Relationship Id="rId4" Type="http://schemas.openxmlformats.org/officeDocument/2006/relationships/oleObject" Target="../embeddings/oleObject30.bin"/><Relationship Id="rId9" Type="http://schemas.openxmlformats.org/officeDocument/2006/relationships/image" Target="../media/image31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13" Type="http://schemas.openxmlformats.org/officeDocument/2006/relationships/image" Target="../media/image9.wmf"/><Relationship Id="rId3" Type="http://schemas.openxmlformats.org/officeDocument/2006/relationships/image" Target="../media/image32.wmf"/><Relationship Id="rId7" Type="http://schemas.openxmlformats.org/officeDocument/2006/relationships/image" Target="../media/image34.wmf"/><Relationship Id="rId12" Type="http://schemas.openxmlformats.org/officeDocument/2006/relationships/oleObject" Target="../embeddings/oleObject4.bin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5.bin"/><Relationship Id="rId11" Type="http://schemas.openxmlformats.org/officeDocument/2006/relationships/image" Target="../media/image8.wmf"/><Relationship Id="rId5" Type="http://schemas.openxmlformats.org/officeDocument/2006/relationships/image" Target="../media/image33.wmf"/><Relationship Id="rId15" Type="http://schemas.openxmlformats.org/officeDocument/2006/relationships/image" Target="../media/image6.wmf"/><Relationship Id="rId10" Type="http://schemas.openxmlformats.org/officeDocument/2006/relationships/oleObject" Target="../embeddings/oleObject3.bin"/><Relationship Id="rId4" Type="http://schemas.openxmlformats.org/officeDocument/2006/relationships/oleObject" Target="../embeddings/oleObject34.bin"/><Relationship Id="rId9" Type="http://schemas.openxmlformats.org/officeDocument/2006/relationships/image" Target="../media/image7.wmf"/><Relationship Id="rId14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6.wmf"/><Relationship Id="rId18" Type="http://schemas.openxmlformats.org/officeDocument/2006/relationships/image" Target="../media/image37.wmf"/><Relationship Id="rId3" Type="http://schemas.openxmlformats.org/officeDocument/2006/relationships/image" Target="../media/image35.wmf"/><Relationship Id="rId7" Type="http://schemas.openxmlformats.org/officeDocument/2006/relationships/image" Target="../media/image7.wmf"/><Relationship Id="rId12" Type="http://schemas.openxmlformats.org/officeDocument/2006/relationships/oleObject" Target="../embeddings/oleObject1.bin"/><Relationship Id="rId17" Type="http://schemas.openxmlformats.org/officeDocument/2006/relationships/oleObject" Target="../embeddings/oleObject38.bin"/><Relationship Id="rId2" Type="http://schemas.openxmlformats.org/officeDocument/2006/relationships/oleObject" Target="../embeddings/oleObject36.bin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9.wmf"/><Relationship Id="rId5" Type="http://schemas.openxmlformats.org/officeDocument/2006/relationships/image" Target="../media/image36.wmf"/><Relationship Id="rId15" Type="http://schemas.openxmlformats.org/officeDocument/2006/relationships/image" Target="../media/image40.png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37.bin"/><Relationship Id="rId9" Type="http://schemas.openxmlformats.org/officeDocument/2006/relationships/image" Target="../media/image8.wmf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8.png"/><Relationship Id="rId3" Type="http://schemas.openxmlformats.org/officeDocument/2006/relationships/image" Target="../media/image38.wmf"/><Relationship Id="rId7" Type="http://schemas.openxmlformats.org/officeDocument/2006/relationships/image" Target="../media/image40.wmf"/><Relationship Id="rId12" Type="http://schemas.openxmlformats.org/officeDocument/2006/relationships/image" Target="../media/image47.png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41.wmf"/><Relationship Id="rId5" Type="http://schemas.openxmlformats.org/officeDocument/2006/relationships/image" Target="../media/image39.wmf"/><Relationship Id="rId10" Type="http://schemas.openxmlformats.org/officeDocument/2006/relationships/oleObject" Target="../embeddings/oleObject42.bin"/><Relationship Id="rId4" Type="http://schemas.openxmlformats.org/officeDocument/2006/relationships/oleObject" Target="../embeddings/oleObject40.bin"/><Relationship Id="rId9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wmf"/><Relationship Id="rId4" Type="http://schemas.openxmlformats.org/officeDocument/2006/relationships/oleObject" Target="../embeddings/oleObject43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wmf"/><Relationship Id="rId4" Type="http://schemas.openxmlformats.org/officeDocument/2006/relationships/oleObject" Target="../embeddings/oleObject47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3" Type="http://schemas.openxmlformats.org/officeDocument/2006/relationships/image" Target="../media/image47.wmf"/><Relationship Id="rId7" Type="http://schemas.openxmlformats.org/officeDocument/2006/relationships/image" Target="../media/image46.wmf"/><Relationship Id="rId2" Type="http://schemas.openxmlformats.org/officeDocument/2006/relationships/oleObject" Target="../embeddings/oleObject4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0.bin"/><Relationship Id="rId5" Type="http://schemas.openxmlformats.org/officeDocument/2006/relationships/image" Target="../media/image48.wmf"/><Relationship Id="rId4" Type="http://schemas.openxmlformats.org/officeDocument/2006/relationships/oleObject" Target="../embeddings/oleObject49.bin"/><Relationship Id="rId9" Type="http://schemas.openxmlformats.org/officeDocument/2006/relationships/image" Target="../media/image49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51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3.bin"/><Relationship Id="rId5" Type="http://schemas.openxmlformats.org/officeDocument/2006/relationships/image" Target="../media/image50.wmf"/><Relationship Id="rId4" Type="http://schemas.openxmlformats.org/officeDocument/2006/relationships/oleObject" Target="../embeddings/oleObject52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oleObject" Target="../embeddings/oleObject54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53.wmf"/><Relationship Id="rId4" Type="http://schemas.openxmlformats.org/officeDocument/2006/relationships/oleObject" Target="../embeddings/oleObject55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.bin"/><Relationship Id="rId3" Type="http://schemas.openxmlformats.org/officeDocument/2006/relationships/image" Target="../media/image51.png"/><Relationship Id="rId7" Type="http://schemas.openxmlformats.org/officeDocument/2006/relationships/image" Target="../media/image55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7.bin"/><Relationship Id="rId5" Type="http://schemas.openxmlformats.org/officeDocument/2006/relationships/image" Target="../media/image54.wmf"/><Relationship Id="rId4" Type="http://schemas.openxmlformats.org/officeDocument/2006/relationships/oleObject" Target="../embeddings/oleObject56.bin"/><Relationship Id="rId9" Type="http://schemas.openxmlformats.org/officeDocument/2006/relationships/image" Target="../media/image56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7" Type="http://schemas.openxmlformats.org/officeDocument/2006/relationships/image" Target="../media/image53.wmf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5.bin"/><Relationship Id="rId5" Type="http://schemas.openxmlformats.org/officeDocument/2006/relationships/image" Target="../media/image58.wmf"/><Relationship Id="rId4" Type="http://schemas.openxmlformats.org/officeDocument/2006/relationships/oleObject" Target="../embeddings/oleObject60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.bin"/><Relationship Id="rId3" Type="http://schemas.openxmlformats.org/officeDocument/2006/relationships/image" Target="../media/image57.wmf"/><Relationship Id="rId7" Type="http://schemas.openxmlformats.org/officeDocument/2006/relationships/image" Target="../media/image59.wmf"/><Relationship Id="rId2" Type="http://schemas.openxmlformats.org/officeDocument/2006/relationships/oleObject" Target="../embeddings/oleObject6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3.bin"/><Relationship Id="rId5" Type="http://schemas.openxmlformats.org/officeDocument/2006/relationships/image" Target="../media/image58.wmf"/><Relationship Id="rId10" Type="http://schemas.openxmlformats.org/officeDocument/2006/relationships/image" Target="../media/image60.wmf"/><Relationship Id="rId4" Type="http://schemas.openxmlformats.org/officeDocument/2006/relationships/oleObject" Target="../embeddings/oleObject62.bin"/><Relationship Id="rId9" Type="http://schemas.openxmlformats.org/officeDocument/2006/relationships/oleObject" Target="../embeddings/oleObject65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13" Type="http://schemas.openxmlformats.org/officeDocument/2006/relationships/image" Target="../media/image64.wmf"/><Relationship Id="rId3" Type="http://schemas.openxmlformats.org/officeDocument/2006/relationships/image" Target="../media/image57.wmf"/><Relationship Id="rId7" Type="http://schemas.openxmlformats.org/officeDocument/2006/relationships/image" Target="../media/image61.wmf"/><Relationship Id="rId12" Type="http://schemas.openxmlformats.org/officeDocument/2006/relationships/oleObject" Target="../embeddings/oleObject71.bin"/><Relationship Id="rId2" Type="http://schemas.openxmlformats.org/officeDocument/2006/relationships/oleObject" Target="../embeddings/oleObject6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8.bin"/><Relationship Id="rId11" Type="http://schemas.openxmlformats.org/officeDocument/2006/relationships/image" Target="../media/image63.wmf"/><Relationship Id="rId5" Type="http://schemas.openxmlformats.org/officeDocument/2006/relationships/image" Target="../media/image58.wmf"/><Relationship Id="rId10" Type="http://schemas.openxmlformats.org/officeDocument/2006/relationships/oleObject" Target="../embeddings/oleObject70.bin"/><Relationship Id="rId4" Type="http://schemas.openxmlformats.org/officeDocument/2006/relationships/oleObject" Target="../embeddings/oleObject67.bin"/><Relationship Id="rId9" Type="http://schemas.openxmlformats.org/officeDocument/2006/relationships/image" Target="../media/image62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3" Type="http://schemas.openxmlformats.org/officeDocument/2006/relationships/image" Target="../media/image65.wmf"/><Relationship Id="rId7" Type="http://schemas.openxmlformats.org/officeDocument/2006/relationships/image" Target="../media/image67.wmf"/><Relationship Id="rId2" Type="http://schemas.openxmlformats.org/officeDocument/2006/relationships/oleObject" Target="../embeddings/oleObject7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4.bin"/><Relationship Id="rId5" Type="http://schemas.openxmlformats.org/officeDocument/2006/relationships/image" Target="../media/image66.wmf"/><Relationship Id="rId4" Type="http://schemas.openxmlformats.org/officeDocument/2006/relationships/oleObject" Target="../embeddings/oleObject73.bin"/><Relationship Id="rId9" Type="http://schemas.openxmlformats.org/officeDocument/2006/relationships/image" Target="../media/image68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.bin"/><Relationship Id="rId3" Type="http://schemas.openxmlformats.org/officeDocument/2006/relationships/image" Target="../media/image65.wmf"/><Relationship Id="rId7" Type="http://schemas.openxmlformats.org/officeDocument/2006/relationships/image" Target="../media/image70.wmf"/><Relationship Id="rId2" Type="http://schemas.openxmlformats.org/officeDocument/2006/relationships/oleObject" Target="../embeddings/oleObject7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8.bin"/><Relationship Id="rId5" Type="http://schemas.openxmlformats.org/officeDocument/2006/relationships/image" Target="../media/image69.wmf"/><Relationship Id="rId4" Type="http://schemas.openxmlformats.org/officeDocument/2006/relationships/oleObject" Target="../embeddings/oleObject77.bin"/><Relationship Id="rId9" Type="http://schemas.openxmlformats.org/officeDocument/2006/relationships/image" Target="../media/image71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wmf"/><Relationship Id="rId4" Type="http://schemas.openxmlformats.org/officeDocument/2006/relationships/oleObject" Target="../embeddings/oleObject80.bin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7" Type="http://schemas.openxmlformats.org/officeDocument/2006/relationships/image" Target="../media/image75.wmf"/><Relationship Id="rId2" Type="http://schemas.openxmlformats.org/officeDocument/2006/relationships/oleObject" Target="../embeddings/oleObject8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3.bin"/><Relationship Id="rId5" Type="http://schemas.openxmlformats.org/officeDocument/2006/relationships/image" Target="../media/image74.wmf"/><Relationship Id="rId4" Type="http://schemas.openxmlformats.org/officeDocument/2006/relationships/oleObject" Target="../embeddings/oleObject82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oleObject" Target="../embeddings/oleObject8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wmf"/><Relationship Id="rId4" Type="http://schemas.openxmlformats.org/officeDocument/2006/relationships/oleObject" Target="../embeddings/oleObject85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oleObject" Target="../embeddings/oleObject55.bin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9.bin"/><Relationship Id="rId3" Type="http://schemas.openxmlformats.org/officeDocument/2006/relationships/image" Target="../media/image78.wmf"/><Relationship Id="rId7" Type="http://schemas.openxmlformats.org/officeDocument/2006/relationships/image" Target="../media/image80.wmf"/><Relationship Id="rId2" Type="http://schemas.openxmlformats.org/officeDocument/2006/relationships/oleObject" Target="../embeddings/oleObject8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8.bin"/><Relationship Id="rId5" Type="http://schemas.openxmlformats.org/officeDocument/2006/relationships/image" Target="../media/image79.wmf"/><Relationship Id="rId4" Type="http://schemas.openxmlformats.org/officeDocument/2006/relationships/oleObject" Target="../embeddings/oleObject87.bin"/><Relationship Id="rId9" Type="http://schemas.openxmlformats.org/officeDocument/2006/relationships/image" Target="../media/image81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3.bin"/><Relationship Id="rId3" Type="http://schemas.openxmlformats.org/officeDocument/2006/relationships/image" Target="../media/image82.wmf"/><Relationship Id="rId7" Type="http://schemas.openxmlformats.org/officeDocument/2006/relationships/image" Target="../media/image84.wmf"/><Relationship Id="rId2" Type="http://schemas.openxmlformats.org/officeDocument/2006/relationships/oleObject" Target="../embeddings/oleObject9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2.bin"/><Relationship Id="rId5" Type="http://schemas.openxmlformats.org/officeDocument/2006/relationships/image" Target="../media/image83.wmf"/><Relationship Id="rId4" Type="http://schemas.openxmlformats.org/officeDocument/2006/relationships/oleObject" Target="../embeddings/oleObject91.bin"/><Relationship Id="rId9" Type="http://schemas.openxmlformats.org/officeDocument/2006/relationships/image" Target="../media/image85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7.bin"/><Relationship Id="rId3" Type="http://schemas.openxmlformats.org/officeDocument/2006/relationships/image" Target="../media/image86.wmf"/><Relationship Id="rId7" Type="http://schemas.openxmlformats.org/officeDocument/2006/relationships/image" Target="../media/image87.wmf"/><Relationship Id="rId2" Type="http://schemas.openxmlformats.org/officeDocument/2006/relationships/oleObject" Target="../embeddings/oleObject9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6.bin"/><Relationship Id="rId5" Type="http://schemas.openxmlformats.org/officeDocument/2006/relationships/image" Target="../media/image79.wmf"/><Relationship Id="rId4" Type="http://schemas.openxmlformats.org/officeDocument/2006/relationships/oleObject" Target="../embeddings/oleObject95.bin"/><Relationship Id="rId9" Type="http://schemas.openxmlformats.org/officeDocument/2006/relationships/image" Target="../media/image88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oleObject" Target="../embeddings/oleObject55.bin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1.bin"/><Relationship Id="rId3" Type="http://schemas.openxmlformats.org/officeDocument/2006/relationships/image" Target="../media/image89.wmf"/><Relationship Id="rId7" Type="http://schemas.openxmlformats.org/officeDocument/2006/relationships/image" Target="../media/image90.wmf"/><Relationship Id="rId2" Type="http://schemas.openxmlformats.org/officeDocument/2006/relationships/oleObject" Target="../embeddings/oleObject9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0.bin"/><Relationship Id="rId5" Type="http://schemas.openxmlformats.org/officeDocument/2006/relationships/image" Target="../media/image56.wmf"/><Relationship Id="rId4" Type="http://schemas.openxmlformats.org/officeDocument/2006/relationships/oleObject" Target="../embeddings/oleObject99.bin"/><Relationship Id="rId9" Type="http://schemas.openxmlformats.org/officeDocument/2006/relationships/image" Target="../media/image91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5.bin"/><Relationship Id="rId3" Type="http://schemas.openxmlformats.org/officeDocument/2006/relationships/image" Target="../media/image92.wmf"/><Relationship Id="rId7" Type="http://schemas.openxmlformats.org/officeDocument/2006/relationships/image" Target="../media/image93.wmf"/><Relationship Id="rId2" Type="http://schemas.openxmlformats.org/officeDocument/2006/relationships/oleObject" Target="../embeddings/oleObject10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4.bin"/><Relationship Id="rId5" Type="http://schemas.openxmlformats.org/officeDocument/2006/relationships/image" Target="../media/image89.wmf"/><Relationship Id="rId4" Type="http://schemas.openxmlformats.org/officeDocument/2006/relationships/oleObject" Target="../embeddings/oleObject103.bin"/><Relationship Id="rId9" Type="http://schemas.openxmlformats.org/officeDocument/2006/relationships/image" Target="../media/image94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9.bin"/><Relationship Id="rId3" Type="http://schemas.openxmlformats.org/officeDocument/2006/relationships/image" Target="../media/image95.wmf"/><Relationship Id="rId7" Type="http://schemas.openxmlformats.org/officeDocument/2006/relationships/image" Target="../media/image97.wmf"/><Relationship Id="rId2" Type="http://schemas.openxmlformats.org/officeDocument/2006/relationships/oleObject" Target="../embeddings/oleObject10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8.bin"/><Relationship Id="rId11" Type="http://schemas.openxmlformats.org/officeDocument/2006/relationships/image" Target="../media/image99.wmf"/><Relationship Id="rId5" Type="http://schemas.openxmlformats.org/officeDocument/2006/relationships/image" Target="../media/image96.wmf"/><Relationship Id="rId10" Type="http://schemas.openxmlformats.org/officeDocument/2006/relationships/oleObject" Target="../embeddings/oleObject110.bin"/><Relationship Id="rId4" Type="http://schemas.openxmlformats.org/officeDocument/2006/relationships/oleObject" Target="../embeddings/oleObject107.bin"/><Relationship Id="rId9" Type="http://schemas.openxmlformats.org/officeDocument/2006/relationships/image" Target="../media/image98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7" Type="http://schemas.openxmlformats.org/officeDocument/2006/relationships/image" Target="../media/image100.wmf"/><Relationship Id="rId2" Type="http://schemas.openxmlformats.org/officeDocument/2006/relationships/oleObject" Target="../embeddings/oleObject11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2.bin"/><Relationship Id="rId5" Type="http://schemas.openxmlformats.org/officeDocument/2006/relationships/image" Target="../media/image57.wmf"/><Relationship Id="rId4" Type="http://schemas.openxmlformats.org/officeDocument/2006/relationships/oleObject" Target="../embeddings/oleObject6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E2B51CF4-66D4-4F19-97F3-24307D69E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680" y="2636912"/>
            <a:ext cx="8016639" cy="1070582"/>
          </a:xfrm>
        </p:spPr>
        <p:txBody>
          <a:bodyPr anchor="ctr">
            <a:normAutofit fontScale="90000"/>
          </a:bodyPr>
          <a:lstStyle/>
          <a:p>
            <a:r>
              <a:rPr lang="zh-CN" altLang="en-US" sz="7200" dirty="0">
                <a:latin typeface="黑体" panose="02010609060101010101" pitchFamily="49" charset="-122"/>
                <a:ea typeface="黑体" panose="02010609060101010101" pitchFamily="49" charset="-122"/>
              </a:rPr>
              <a:t>最优化理论</a:t>
            </a:r>
            <a:endParaRPr lang="zh-CN" altLang="en-US" sz="4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188F20-BD1A-4DBF-8204-5DEB489FF2A7}"/>
              </a:ext>
            </a:extLst>
          </p:cNvPr>
          <p:cNvSpPr/>
          <p:nvPr/>
        </p:nvSpPr>
        <p:spPr>
          <a:xfrm>
            <a:off x="1944945" y="4098082"/>
            <a:ext cx="68788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讲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最优化理论的数学基础</a:t>
            </a:r>
            <a:r>
              <a:rPr lang="en-US" altLang="zh-CN" sz="3600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endParaRPr lang="zh-CN" altLang="en-US" sz="3600" dirty="0"/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9D4C4213-E352-4C4A-BD9E-BD5380CE8F1C}"/>
              </a:ext>
            </a:extLst>
          </p:cNvPr>
          <p:cNvSpPr txBox="1">
            <a:spLocks/>
          </p:cNvSpPr>
          <p:nvPr/>
        </p:nvSpPr>
        <p:spPr bwMode="auto">
          <a:xfrm>
            <a:off x="2468723" y="5141353"/>
            <a:ext cx="4968552" cy="642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75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黑体" pitchFamily="2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65000"/>
              <a:buFont typeface="Wingdings" pitchFamily="2" charset="2"/>
              <a:buChar char="p"/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6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zh-CN" altLang="en-US" sz="2400" kern="0" dirty="0">
                <a:latin typeface="黑体" pitchFamily="49" charset="-122"/>
                <a:ea typeface="黑体" pitchFamily="49" charset="-122"/>
              </a:rPr>
              <a:t>辽宁大学 信息学院</a:t>
            </a:r>
          </a:p>
          <a:p>
            <a:pPr algn="ctr"/>
            <a:endParaRPr lang="zh-CN" altLang="en-US" sz="2400" kern="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4A68E3-A51C-4F7D-918B-4EC486F2D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39E4A-C161-4DC7-B97B-9882453A8887}" type="datetime3">
              <a:rPr lang="zh-CN" altLang="en-US" sz="1600" smtClean="0"/>
              <a:t>2022年12月2日星期五</a:t>
            </a:fld>
            <a:endParaRPr lang="zh-CN" alt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6644AD-5B74-4F77-90AC-CBBA03CDE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最优化理论的数学基础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0834F9-8C99-4AD0-87F5-67C4F1961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函数梯度</a:t>
            </a:r>
            <a:endParaRPr lang="en-US" altLang="zh-CN" dirty="0"/>
          </a:p>
          <a:p>
            <a:r>
              <a:rPr lang="zh-CN" altLang="en-US" dirty="0"/>
              <a:t>多元函数的泰勒展开式</a:t>
            </a:r>
            <a:endParaRPr lang="en-US" altLang="zh-CN" dirty="0"/>
          </a:p>
          <a:p>
            <a:r>
              <a:rPr lang="zh-CN" altLang="en-US" dirty="0"/>
              <a:t>二次函数</a:t>
            </a:r>
            <a:endParaRPr lang="en-US" altLang="zh-CN" dirty="0"/>
          </a:p>
          <a:p>
            <a:r>
              <a:rPr lang="zh-CN" altLang="en-US" dirty="0"/>
              <a:t>无约束优化问题的极值条件</a:t>
            </a:r>
            <a:endParaRPr lang="en-US" altLang="zh-CN" dirty="0"/>
          </a:p>
          <a:p>
            <a:r>
              <a:rPr lang="zh-CN" altLang="en-US" dirty="0"/>
              <a:t>约束优化问题的极值条件</a:t>
            </a:r>
            <a:endParaRPr lang="en-US" altLang="zh-CN" dirty="0"/>
          </a:p>
          <a:p>
            <a:r>
              <a:rPr lang="zh-CN" altLang="en-US" dirty="0"/>
              <a:t>优化设计方法的基本思想与迭代终止准则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39445D-8EC3-46FB-97D7-EB56D5F4C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F6E21FE-18DA-4C23-B22B-F5C45B33E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97975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20 5">
            <a:extLst>
              <a:ext uri="{FF2B5EF4-FFF2-40B4-BE49-F238E27FC236}">
                <a16:creationId xmlns:a16="http://schemas.microsoft.com/office/drawing/2014/main" id="{454F4AEE-CA25-4E9C-BDB6-CD5C759EC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979" y="2276872"/>
            <a:ext cx="4950557" cy="428010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94E2ABD-9FB2-480E-8A07-94986CE7E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函数的梯度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AEB3EB-EA8D-4844-92B9-9B6D13A29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方向导数</a:t>
            </a:r>
            <a:endParaRPr lang="en-US" altLang="zh-CN" dirty="0"/>
          </a:p>
          <a:p>
            <a:pPr lvl="1"/>
            <a:r>
              <a:rPr lang="zh-CN" altLang="en-US" dirty="0"/>
              <a:t>对于一个多元函数，它的</a:t>
            </a:r>
            <a:r>
              <a:rPr lang="zh-CN" altLang="en-US" dirty="0">
                <a:solidFill>
                  <a:srgbClr val="FF0000"/>
                </a:solidFill>
              </a:rPr>
              <a:t>偏导数</a:t>
            </a:r>
            <a:r>
              <a:rPr lang="zh-CN" altLang="en-US" dirty="0"/>
              <a:t>代表了沿着某个</a:t>
            </a:r>
            <a:r>
              <a:rPr lang="zh-CN" altLang="en-US" dirty="0">
                <a:solidFill>
                  <a:srgbClr val="0000FF"/>
                </a:solidFill>
              </a:rPr>
              <a:t>坐标方向</a:t>
            </a:r>
            <a:r>
              <a:rPr lang="zh-CN" altLang="en-US" dirty="0"/>
              <a:t>的函数变化率。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FBEA5B-BA7C-40A3-AE9A-51461F0A6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8125F09-4971-4753-97AC-BF7B196D3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</a:t>
            </a:fld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EADA838-C2E3-405C-9FE0-856C119D258B}"/>
              </a:ext>
            </a:extLst>
          </p:cNvPr>
          <p:cNvSpPr txBox="1"/>
          <p:nvPr/>
        </p:nvSpPr>
        <p:spPr>
          <a:xfrm>
            <a:off x="848544" y="3933056"/>
            <a:ext cx="4782578" cy="1077218"/>
          </a:xfrm>
          <a:prstGeom prst="rect">
            <a:avLst/>
          </a:prstGeom>
          <a:solidFill>
            <a:srgbClr val="FFFF6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0000FF"/>
                </a:solidFill>
              </a:rPr>
              <a:t>方向导数</a:t>
            </a:r>
            <a:r>
              <a:rPr lang="zh-CN" altLang="en-US" sz="3200" dirty="0"/>
              <a:t>是沿着</a:t>
            </a:r>
            <a:r>
              <a:rPr lang="zh-CN" altLang="en-US" sz="3200" dirty="0">
                <a:solidFill>
                  <a:srgbClr val="FF0000"/>
                </a:solidFill>
              </a:rPr>
              <a:t>给定方向的函数变化率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A3E0692E-84F5-4720-9F1D-D17B6FCBF734}"/>
              </a:ext>
            </a:extLst>
          </p:cNvPr>
          <p:cNvCxnSpPr>
            <a:cxnSpLocks/>
          </p:cNvCxnSpPr>
          <p:nvPr/>
        </p:nvCxnSpPr>
        <p:spPr bwMode="auto">
          <a:xfrm flipV="1">
            <a:off x="7185248" y="5373216"/>
            <a:ext cx="1008112" cy="216024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7030A0"/>
            </a:solidFill>
            <a:prstDash val="sysDot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5AD046B6-EAB4-429C-BA6B-76F68F4DFF57}"/>
              </a:ext>
            </a:extLst>
          </p:cNvPr>
          <p:cNvSpPr/>
          <p:nvPr/>
        </p:nvSpPr>
        <p:spPr bwMode="auto">
          <a:xfrm rot="20440488">
            <a:off x="6135982" y="3961406"/>
            <a:ext cx="2181701" cy="490477"/>
          </a:xfrm>
          <a:custGeom>
            <a:avLst/>
            <a:gdLst>
              <a:gd name="connsiteX0" fmla="*/ 0 w 1196978"/>
              <a:gd name="connsiteY0" fmla="*/ 59122 h 131798"/>
              <a:gd name="connsiteX1" fmla="*/ 425450 w 1196978"/>
              <a:gd name="connsiteY1" fmla="*/ 1972 h 131798"/>
              <a:gd name="connsiteX2" fmla="*/ 1130300 w 1196978"/>
              <a:gd name="connsiteY2" fmla="*/ 122622 h 131798"/>
              <a:gd name="connsiteX3" fmla="*/ 1168400 w 1196978"/>
              <a:gd name="connsiteY3" fmla="*/ 122622 h 131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6978" h="131798">
                <a:moveTo>
                  <a:pt x="0" y="59122"/>
                </a:moveTo>
                <a:cubicBezTo>
                  <a:pt x="118533" y="25255"/>
                  <a:pt x="237067" y="-8611"/>
                  <a:pt x="425450" y="1972"/>
                </a:cubicBezTo>
                <a:cubicBezTo>
                  <a:pt x="613833" y="12555"/>
                  <a:pt x="1006475" y="102514"/>
                  <a:pt x="1130300" y="122622"/>
                </a:cubicBezTo>
                <a:cubicBezTo>
                  <a:pt x="1254125" y="142730"/>
                  <a:pt x="1167342" y="123680"/>
                  <a:pt x="1168400" y="122622"/>
                </a:cubicBezTo>
              </a:path>
            </a:pathLst>
          </a:custGeom>
          <a:noFill/>
          <a:ln w="57150" cap="flat" cmpd="sng" algn="ctr">
            <a:solidFill>
              <a:srgbClr val="7030A0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9479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540A-AFFF-46F3-B45B-F40D8CCCF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函数的梯度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640F3D-EEA5-4D6E-ADA2-F79BA71BF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4" y="1211986"/>
            <a:ext cx="9719492" cy="5264289"/>
          </a:xfrm>
        </p:spPr>
        <p:txBody>
          <a:bodyPr/>
          <a:lstStyle/>
          <a:p>
            <a:r>
              <a:rPr lang="zh-CN" altLang="en-US" dirty="0"/>
              <a:t>方向导数</a:t>
            </a:r>
            <a:endParaRPr lang="en-US" altLang="zh-CN" dirty="0"/>
          </a:p>
          <a:p>
            <a:pPr lvl="1"/>
            <a:r>
              <a:rPr lang="zh-CN" altLang="en-US" dirty="0"/>
              <a:t>假设维度</a:t>
            </a:r>
            <a:r>
              <a:rPr lang="en-US" altLang="zh-CN" dirty="0"/>
              <a:t>n=2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D7F48A-F642-4CBF-84F8-6AFF0B707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D124111-2D64-4D73-90BA-E7D23EACC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</a:t>
            </a:fld>
            <a:endParaRPr lang="en-US" altLang="zh-CN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5EE66536-1287-4995-A2AE-2CB08A1745FF}"/>
              </a:ext>
            </a:extLst>
          </p:cNvPr>
          <p:cNvCxnSpPr>
            <a:cxnSpLocks/>
          </p:cNvCxnSpPr>
          <p:nvPr/>
        </p:nvCxnSpPr>
        <p:spPr bwMode="auto">
          <a:xfrm>
            <a:off x="5998720" y="3785901"/>
            <a:ext cx="311614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D28F528E-476E-4B1C-A690-8CD22566B3A2}"/>
              </a:ext>
            </a:extLst>
          </p:cNvPr>
          <p:cNvCxnSpPr>
            <a:cxnSpLocks/>
          </p:cNvCxnSpPr>
          <p:nvPr/>
        </p:nvCxnSpPr>
        <p:spPr bwMode="auto">
          <a:xfrm flipV="1">
            <a:off x="5998720" y="1497229"/>
            <a:ext cx="0" cy="22886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C56B18A-25DE-4744-B06D-5EE5A3899EEB}"/>
              </a:ext>
            </a:extLst>
          </p:cNvPr>
          <p:cNvCxnSpPr>
            <a:cxnSpLocks/>
          </p:cNvCxnSpPr>
          <p:nvPr/>
        </p:nvCxnSpPr>
        <p:spPr bwMode="auto">
          <a:xfrm flipV="1">
            <a:off x="5998720" y="3040092"/>
            <a:ext cx="653915" cy="745809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F3BB061E-6464-4ED3-B271-4388F51940DA}"/>
              </a:ext>
            </a:extLst>
          </p:cNvPr>
          <p:cNvSpPr txBox="1"/>
          <p:nvPr/>
        </p:nvSpPr>
        <p:spPr>
          <a:xfrm>
            <a:off x="9258877" y="3559000"/>
            <a:ext cx="653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X1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035A70E-703B-4F45-B3C1-9E8E8EAE6111}"/>
              </a:ext>
            </a:extLst>
          </p:cNvPr>
          <p:cNvSpPr txBox="1"/>
          <p:nvPr/>
        </p:nvSpPr>
        <p:spPr>
          <a:xfrm>
            <a:off x="5784558" y="1071122"/>
            <a:ext cx="666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X2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649F700-64B8-4007-8625-C9DE419841C4}"/>
              </a:ext>
            </a:extLst>
          </p:cNvPr>
          <p:cNvSpPr txBox="1"/>
          <p:nvPr/>
        </p:nvSpPr>
        <p:spPr>
          <a:xfrm>
            <a:off x="5676105" y="3735858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</a:t>
            </a:r>
            <a:endParaRPr lang="zh-CN" altLang="en-US" dirty="0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178FB746-ECC2-46BC-A567-DD8FDAABC57B}"/>
              </a:ext>
            </a:extLst>
          </p:cNvPr>
          <p:cNvCxnSpPr>
            <a:cxnSpLocks/>
          </p:cNvCxnSpPr>
          <p:nvPr/>
        </p:nvCxnSpPr>
        <p:spPr bwMode="auto">
          <a:xfrm flipV="1">
            <a:off x="6652633" y="1923784"/>
            <a:ext cx="2779147" cy="1128642"/>
          </a:xfrm>
          <a:prstGeom prst="straightConnector1">
            <a:avLst/>
          </a:prstGeom>
          <a:ln w="571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15F769C4-5879-42C5-AB63-2AF4200CD5F0}"/>
              </a:ext>
            </a:extLst>
          </p:cNvPr>
          <p:cNvSpPr txBox="1"/>
          <p:nvPr/>
        </p:nvSpPr>
        <p:spPr>
          <a:xfrm>
            <a:off x="8984710" y="1497229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</a:t>
            </a:r>
            <a:endParaRPr lang="zh-CN" altLang="en-US" dirty="0"/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D38FBF80-CBAF-4C33-A16E-04AFA6F5996A}"/>
              </a:ext>
            </a:extLst>
          </p:cNvPr>
          <p:cNvCxnSpPr>
            <a:cxnSpLocks/>
          </p:cNvCxnSpPr>
          <p:nvPr/>
        </p:nvCxnSpPr>
        <p:spPr bwMode="auto">
          <a:xfrm>
            <a:off x="6652635" y="3098600"/>
            <a:ext cx="0" cy="68730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A233DCE5-634B-4A8A-999F-785662CB7FD3}"/>
              </a:ext>
            </a:extLst>
          </p:cNvPr>
          <p:cNvCxnSpPr>
            <a:cxnSpLocks/>
          </p:cNvCxnSpPr>
          <p:nvPr/>
        </p:nvCxnSpPr>
        <p:spPr bwMode="auto">
          <a:xfrm flipH="1">
            <a:off x="5963946" y="3026315"/>
            <a:ext cx="723461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06C3C060-7033-4FBD-94E5-F89C7584F106}"/>
              </a:ext>
            </a:extLst>
          </p:cNvPr>
          <p:cNvSpPr txBox="1"/>
          <p:nvPr/>
        </p:nvSpPr>
        <p:spPr>
          <a:xfrm>
            <a:off x="6450565" y="3777725"/>
            <a:ext cx="653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x1</a:t>
            </a:r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8633FBB-4216-40D8-A7EE-5C4CF8351A2F}"/>
              </a:ext>
            </a:extLst>
          </p:cNvPr>
          <p:cNvSpPr txBox="1"/>
          <p:nvPr/>
        </p:nvSpPr>
        <p:spPr>
          <a:xfrm>
            <a:off x="5559815" y="2897759"/>
            <a:ext cx="653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x2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7A949094-70B8-49EF-AFCB-460A7E76F3F5}"/>
                  </a:ext>
                </a:extLst>
              </p:cNvPr>
              <p:cNvSpPr txBox="1"/>
              <p:nvPr/>
            </p:nvSpPr>
            <p:spPr>
              <a:xfrm>
                <a:off x="7252263" y="1549292"/>
                <a:ext cx="1836982" cy="585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X</a:t>
                </a:r>
                <a:r>
                  <a:rPr lang="en-US" altLang="zh-CN" baseline="30000" dirty="0"/>
                  <a:t>(1)</a:t>
                </a:r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1+∆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2+∆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7A949094-70B8-49EF-AFCB-460A7E76F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2263" y="1549292"/>
                <a:ext cx="1836982" cy="585288"/>
              </a:xfrm>
              <a:prstGeom prst="rect">
                <a:avLst/>
              </a:prstGeom>
              <a:blipFill>
                <a:blip r:embed="rId3"/>
                <a:stretch>
                  <a:fillRect l="-29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892B8044-4295-44A3-BC16-DD0BA4C5F62C}"/>
                  </a:ext>
                </a:extLst>
              </p:cNvPr>
              <p:cNvSpPr txBox="1"/>
              <p:nvPr/>
            </p:nvSpPr>
            <p:spPr>
              <a:xfrm>
                <a:off x="6077368" y="2089050"/>
                <a:ext cx="1836982" cy="585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X=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892B8044-4295-44A3-BC16-DD0BA4C5F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7368" y="2089050"/>
                <a:ext cx="1836982" cy="585288"/>
              </a:xfrm>
              <a:prstGeom prst="rect">
                <a:avLst/>
              </a:prstGeom>
              <a:blipFill>
                <a:blip r:embed="rId4"/>
                <a:stretch>
                  <a:fillRect l="-29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FAC0B885-AB0C-4F40-A449-0DB865E7077F}"/>
              </a:ext>
            </a:extLst>
          </p:cNvPr>
          <p:cNvCxnSpPr/>
          <p:nvPr/>
        </p:nvCxnSpPr>
        <p:spPr bwMode="auto">
          <a:xfrm>
            <a:off x="7386670" y="1967668"/>
            <a:ext cx="504056" cy="52067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" name="椭圆 47">
            <a:extLst>
              <a:ext uri="{FF2B5EF4-FFF2-40B4-BE49-F238E27FC236}">
                <a16:creationId xmlns:a16="http://schemas.microsoft.com/office/drawing/2014/main" id="{DEEBF8E1-6E70-422C-8DAD-2698A2E646C1}"/>
              </a:ext>
            </a:extLst>
          </p:cNvPr>
          <p:cNvSpPr/>
          <p:nvPr/>
        </p:nvSpPr>
        <p:spPr bwMode="auto">
          <a:xfrm>
            <a:off x="7890726" y="2488342"/>
            <a:ext cx="134407" cy="110781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A12F6EDA-C335-4144-8353-B2102E18D5EF}"/>
              </a:ext>
            </a:extLst>
          </p:cNvPr>
          <p:cNvCxnSpPr>
            <a:cxnSpLocks/>
          </p:cNvCxnSpPr>
          <p:nvPr/>
        </p:nvCxnSpPr>
        <p:spPr bwMode="auto">
          <a:xfrm flipH="1">
            <a:off x="6839808" y="3026315"/>
            <a:ext cx="1185325" cy="1786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0F948A18-2417-4C64-979A-A746215A16E6}"/>
              </a:ext>
            </a:extLst>
          </p:cNvPr>
          <p:cNvCxnSpPr>
            <a:cxnSpLocks/>
          </p:cNvCxnSpPr>
          <p:nvPr/>
        </p:nvCxnSpPr>
        <p:spPr bwMode="auto">
          <a:xfrm>
            <a:off x="7957929" y="2554108"/>
            <a:ext cx="0" cy="52831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55" name="对象 54">
            <a:extLst>
              <a:ext uri="{FF2B5EF4-FFF2-40B4-BE49-F238E27FC236}">
                <a16:creationId xmlns:a16="http://schemas.microsoft.com/office/drawing/2014/main" id="{6A4687ED-2753-4917-83A4-26C908FB0E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5849193"/>
              </p:ext>
            </p:extLst>
          </p:nvPr>
        </p:nvGraphicFramePr>
        <p:xfrm>
          <a:off x="7083235" y="2799320"/>
          <a:ext cx="249237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7480" imgH="228600" progId="Equation.DSMT4">
                  <p:embed/>
                </p:oleObj>
              </mc:Choice>
              <mc:Fallback>
                <p:oleObj name="Equation" r:id="rId5" imgW="177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083235" y="2799320"/>
                        <a:ext cx="249237" cy="319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对象 56">
            <a:extLst>
              <a:ext uri="{FF2B5EF4-FFF2-40B4-BE49-F238E27FC236}">
                <a16:creationId xmlns:a16="http://schemas.microsoft.com/office/drawing/2014/main" id="{8557F719-AAE5-4E3F-8244-5C463C55A6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6490686"/>
              </p:ext>
            </p:extLst>
          </p:nvPr>
        </p:nvGraphicFramePr>
        <p:xfrm>
          <a:off x="7719822" y="2554845"/>
          <a:ext cx="268288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0440" imgH="228600" progId="Equation.DSMT4">
                  <p:embed/>
                </p:oleObj>
              </mc:Choice>
              <mc:Fallback>
                <p:oleObj name="Equation" r:id="rId7" imgW="190440" imgH="228600" progId="Equation.DSMT4">
                  <p:embed/>
                  <p:pic>
                    <p:nvPicPr>
                      <p:cNvPr id="55" name="对象 54">
                        <a:extLst>
                          <a:ext uri="{FF2B5EF4-FFF2-40B4-BE49-F238E27FC236}">
                            <a16:creationId xmlns:a16="http://schemas.microsoft.com/office/drawing/2014/main" id="{6A4687ED-2753-4917-83A4-26C908FB0E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719822" y="2554845"/>
                        <a:ext cx="268288" cy="319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8D7BC402-8A0C-46AC-BF26-1FFCF9586BFF}"/>
              </a:ext>
            </a:extLst>
          </p:cNvPr>
          <p:cNvCxnSpPr/>
          <p:nvPr/>
        </p:nvCxnSpPr>
        <p:spPr bwMode="auto">
          <a:xfrm>
            <a:off x="6302688" y="2447641"/>
            <a:ext cx="268143" cy="54891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60" name="对象 59">
            <a:extLst>
              <a:ext uri="{FF2B5EF4-FFF2-40B4-BE49-F238E27FC236}">
                <a16:creationId xmlns:a16="http://schemas.microsoft.com/office/drawing/2014/main" id="{16C7CF6D-3046-404A-92EB-723D600FFC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6427956"/>
              </p:ext>
            </p:extLst>
          </p:nvPr>
        </p:nvGraphicFramePr>
        <p:xfrm>
          <a:off x="7311820" y="3038491"/>
          <a:ext cx="241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41200" imgH="228600" progId="Equation.DSMT4">
                  <p:embed/>
                </p:oleObj>
              </mc:Choice>
              <mc:Fallback>
                <p:oleObj name="Equation" r:id="rId9" imgW="2412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311820" y="3038491"/>
                        <a:ext cx="241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对象 60">
            <a:extLst>
              <a:ext uri="{FF2B5EF4-FFF2-40B4-BE49-F238E27FC236}">
                <a16:creationId xmlns:a16="http://schemas.microsoft.com/office/drawing/2014/main" id="{6E8DA749-2C02-4A1C-BF05-0EAFBABF6C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6587204"/>
              </p:ext>
            </p:extLst>
          </p:nvPr>
        </p:nvGraphicFramePr>
        <p:xfrm>
          <a:off x="7980172" y="2685020"/>
          <a:ext cx="254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53800" imgH="228600" progId="Equation.DSMT4">
                  <p:embed/>
                </p:oleObj>
              </mc:Choice>
              <mc:Fallback>
                <p:oleObj name="Equation" r:id="rId11" imgW="253800" imgH="228600" progId="Equation.DSMT4">
                  <p:embed/>
                  <p:pic>
                    <p:nvPicPr>
                      <p:cNvPr id="60" name="对象 59">
                        <a:extLst>
                          <a:ext uri="{FF2B5EF4-FFF2-40B4-BE49-F238E27FC236}">
                            <a16:creationId xmlns:a16="http://schemas.microsoft.com/office/drawing/2014/main" id="{16C7CF6D-3046-404A-92EB-723D600FFC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980172" y="2685020"/>
                        <a:ext cx="254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对象 61">
            <a:extLst>
              <a:ext uri="{FF2B5EF4-FFF2-40B4-BE49-F238E27FC236}">
                <a16:creationId xmlns:a16="http://schemas.microsoft.com/office/drawing/2014/main" id="{9CEFC340-92E4-46DA-9072-26E1F664ED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5558835"/>
              </p:ext>
            </p:extLst>
          </p:nvPr>
        </p:nvGraphicFramePr>
        <p:xfrm>
          <a:off x="195263" y="2738438"/>
          <a:ext cx="3028950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485720" imgH="291960" progId="Equation.DSMT4">
                  <p:embed/>
                </p:oleObj>
              </mc:Choice>
              <mc:Fallback>
                <p:oleObj name="Equation" r:id="rId13" imgW="148572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95263" y="2738438"/>
                        <a:ext cx="3028950" cy="595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对象 62">
            <a:extLst>
              <a:ext uri="{FF2B5EF4-FFF2-40B4-BE49-F238E27FC236}">
                <a16:creationId xmlns:a16="http://schemas.microsoft.com/office/drawing/2014/main" id="{490C98D5-C7F6-43FE-B440-628F6FDB06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7668141"/>
              </p:ext>
            </p:extLst>
          </p:nvPr>
        </p:nvGraphicFramePr>
        <p:xfrm>
          <a:off x="61943" y="3545366"/>
          <a:ext cx="4918075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412720" imgH="444240" progId="Equation.DSMT4">
                  <p:embed/>
                </p:oleObj>
              </mc:Choice>
              <mc:Fallback>
                <p:oleObj name="Equation" r:id="rId15" imgW="2412720" imgH="444240" progId="Equation.DSMT4">
                  <p:embed/>
                  <p:pic>
                    <p:nvPicPr>
                      <p:cNvPr id="62" name="对象 61">
                        <a:extLst>
                          <a:ext uri="{FF2B5EF4-FFF2-40B4-BE49-F238E27FC236}">
                            <a16:creationId xmlns:a16="http://schemas.microsoft.com/office/drawing/2014/main" id="{9CEFC340-92E4-46DA-9072-26E1F664ED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1943" y="3545366"/>
                        <a:ext cx="4918075" cy="906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对象 66">
            <a:extLst>
              <a:ext uri="{FF2B5EF4-FFF2-40B4-BE49-F238E27FC236}">
                <a16:creationId xmlns:a16="http://schemas.microsoft.com/office/drawing/2014/main" id="{1BA1829A-8BC4-4ED1-8357-9F149F52FB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722702"/>
              </p:ext>
            </p:extLst>
          </p:nvPr>
        </p:nvGraphicFramePr>
        <p:xfrm>
          <a:off x="58044" y="4692070"/>
          <a:ext cx="7299325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581280" imgH="444240" progId="Equation.DSMT4">
                  <p:embed/>
                </p:oleObj>
              </mc:Choice>
              <mc:Fallback>
                <p:oleObj name="Equation" r:id="rId17" imgW="3581280" imgH="444240" progId="Equation.DSMT4">
                  <p:embed/>
                  <p:pic>
                    <p:nvPicPr>
                      <p:cNvPr id="63" name="对象 62">
                        <a:extLst>
                          <a:ext uri="{FF2B5EF4-FFF2-40B4-BE49-F238E27FC236}">
                            <a16:creationId xmlns:a16="http://schemas.microsoft.com/office/drawing/2014/main" id="{490C98D5-C7F6-43FE-B440-628F6FDB06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8044" y="4692070"/>
                        <a:ext cx="7299325" cy="906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思想气泡: 云 68">
            <a:extLst>
              <a:ext uri="{FF2B5EF4-FFF2-40B4-BE49-F238E27FC236}">
                <a16:creationId xmlns:a16="http://schemas.microsoft.com/office/drawing/2014/main" id="{E03278A9-7493-4707-AA61-763A4504515B}"/>
              </a:ext>
            </a:extLst>
          </p:cNvPr>
          <p:cNvSpPr/>
          <p:nvPr/>
        </p:nvSpPr>
        <p:spPr bwMode="auto">
          <a:xfrm>
            <a:off x="2321687" y="5838773"/>
            <a:ext cx="6476256" cy="802768"/>
          </a:xfrm>
          <a:prstGeom prst="cloudCallout">
            <a:avLst>
              <a:gd name="adj1" fmla="val -73649"/>
              <a:gd name="adj2" fmla="val -94904"/>
            </a:avLst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800" dirty="0">
                <a:solidFill>
                  <a:srgbClr val="FF0000"/>
                </a:solidFill>
              </a:rPr>
              <a:t>f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</a:rPr>
              <a:t>(X)</a:t>
            </a:r>
            <a:r>
              <a:rPr lang="zh-CN" altLang="en-US" sz="2800" dirty="0">
                <a:solidFill>
                  <a:srgbClr val="FF0000"/>
                </a:solidFill>
              </a:rPr>
              <a:t>对方向</a:t>
            </a:r>
            <a:r>
              <a:rPr lang="en-US" altLang="zh-CN" sz="2800" dirty="0">
                <a:solidFill>
                  <a:srgbClr val="FF0000"/>
                </a:solidFill>
              </a:rPr>
              <a:t>s</a:t>
            </a:r>
            <a:r>
              <a:rPr lang="zh-CN" altLang="en-US" sz="2800" dirty="0">
                <a:solidFill>
                  <a:srgbClr val="FF0000"/>
                </a:solidFill>
              </a:rPr>
              <a:t>的方向导数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186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37828-8038-4558-A4BE-B932C7367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方向导数的推导公式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93FF77-F495-467A-9FA5-0DAF67AF4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4D9B5C9-2424-4339-A2A0-0D3965085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5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9958A14-9A67-4316-A9ED-94182BA413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3575773"/>
              </p:ext>
            </p:extLst>
          </p:nvPr>
        </p:nvGraphicFramePr>
        <p:xfrm>
          <a:off x="22919" y="2078864"/>
          <a:ext cx="9809162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003640" imgH="507960" progId="Equation.DSMT4">
                  <p:embed/>
                </p:oleObj>
              </mc:Choice>
              <mc:Fallback>
                <p:oleObj name="Equation" r:id="rId2" imgW="5003640" imgH="507960" progId="Equation.DSMT4">
                  <p:embed/>
                  <p:pic>
                    <p:nvPicPr>
                      <p:cNvPr id="67" name="对象 66">
                        <a:extLst>
                          <a:ext uri="{FF2B5EF4-FFF2-40B4-BE49-F238E27FC236}">
                            <a16:creationId xmlns:a16="http://schemas.microsoft.com/office/drawing/2014/main" id="{1BA1829A-8BC4-4ED1-8357-9F149F52FB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919" y="2078864"/>
                        <a:ext cx="9809162" cy="996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CF6ACC1-BD68-4DFB-A391-64380C752B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4050851"/>
              </p:ext>
            </p:extLst>
          </p:nvPr>
        </p:nvGraphicFramePr>
        <p:xfrm>
          <a:off x="49757" y="1144993"/>
          <a:ext cx="7077448" cy="878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81280" imgH="444240" progId="Equation.DSMT4">
                  <p:embed/>
                </p:oleObj>
              </mc:Choice>
              <mc:Fallback>
                <p:oleObj name="Equation" r:id="rId4" imgW="3581280" imgH="444240" progId="Equation.DSMT4">
                  <p:embed/>
                  <p:pic>
                    <p:nvPicPr>
                      <p:cNvPr id="67" name="对象 66">
                        <a:extLst>
                          <a:ext uri="{FF2B5EF4-FFF2-40B4-BE49-F238E27FC236}">
                            <a16:creationId xmlns:a16="http://schemas.microsoft.com/office/drawing/2014/main" id="{1BA1829A-8BC4-4ED1-8357-9F149F52FB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757" y="1144993"/>
                        <a:ext cx="7077448" cy="8789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188564C3-7512-41F6-9CC0-31D41EA25A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944813"/>
              </p:ext>
            </p:extLst>
          </p:nvPr>
        </p:nvGraphicFramePr>
        <p:xfrm>
          <a:off x="0" y="3130777"/>
          <a:ext cx="6175375" cy="2465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49280" imgH="1257120" progId="Equation.DSMT4">
                  <p:embed/>
                </p:oleObj>
              </mc:Choice>
              <mc:Fallback>
                <p:oleObj name="Equation" r:id="rId6" imgW="3149280" imgH="12571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29958A14-9A67-4316-A9ED-94182BA413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0" y="3130777"/>
                        <a:ext cx="6175375" cy="2465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701EE29F-D4AD-44C7-972F-BAC008A6BF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6029801"/>
              </p:ext>
            </p:extLst>
          </p:nvPr>
        </p:nvGraphicFramePr>
        <p:xfrm>
          <a:off x="1496616" y="5285969"/>
          <a:ext cx="5801953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14600" imgH="431640" progId="Equation.DSMT4">
                  <p:embed/>
                </p:oleObj>
              </mc:Choice>
              <mc:Fallback>
                <p:oleObj name="Equation" r:id="rId8" imgW="2514600" imgH="4316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2CF6ACC1-BD68-4DFB-A391-64380C752B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496616" y="5285969"/>
                        <a:ext cx="5801953" cy="996950"/>
                      </a:xfrm>
                      <a:prstGeom prst="rect">
                        <a:avLst/>
                      </a:prstGeom>
                      <a:ln w="38100"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EC47CCB-8A92-4B7A-8D06-32FE60F4B25D}"/>
              </a:ext>
            </a:extLst>
          </p:cNvPr>
          <p:cNvCxnSpPr>
            <a:cxnSpLocks/>
          </p:cNvCxnSpPr>
          <p:nvPr/>
        </p:nvCxnSpPr>
        <p:spPr bwMode="auto">
          <a:xfrm flipV="1">
            <a:off x="6926381" y="3999571"/>
            <a:ext cx="2779147" cy="1128642"/>
          </a:xfrm>
          <a:prstGeom prst="straightConnector1">
            <a:avLst/>
          </a:prstGeom>
          <a:ln w="571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9DC69677-BED9-47E3-9E1F-1261892ED093}"/>
              </a:ext>
            </a:extLst>
          </p:cNvPr>
          <p:cNvSpPr txBox="1"/>
          <p:nvPr/>
        </p:nvSpPr>
        <p:spPr>
          <a:xfrm>
            <a:off x="9258458" y="3573016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F34DFCF-A04F-42A4-A511-8EE98DD74D90}"/>
                  </a:ext>
                </a:extLst>
              </p:cNvPr>
              <p:cNvSpPr txBox="1"/>
              <p:nvPr/>
            </p:nvSpPr>
            <p:spPr>
              <a:xfrm>
                <a:off x="7526011" y="3625079"/>
                <a:ext cx="1836982" cy="585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X</a:t>
                </a:r>
                <a:r>
                  <a:rPr lang="en-US" altLang="zh-CN" baseline="30000" dirty="0"/>
                  <a:t>(1)</a:t>
                </a:r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1+∆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2+∆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F34DFCF-A04F-42A4-A511-8EE98DD74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6011" y="3625079"/>
                <a:ext cx="1836982" cy="585288"/>
              </a:xfrm>
              <a:prstGeom prst="rect">
                <a:avLst/>
              </a:prstGeom>
              <a:blipFill>
                <a:blip r:embed="rId11"/>
                <a:stretch>
                  <a:fillRect l="-29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1B6670B9-6AC4-4F68-ACDB-F6A56842FCF0}"/>
                  </a:ext>
                </a:extLst>
              </p:cNvPr>
              <p:cNvSpPr txBox="1"/>
              <p:nvPr/>
            </p:nvSpPr>
            <p:spPr>
              <a:xfrm>
                <a:off x="6351116" y="4164837"/>
                <a:ext cx="1836982" cy="585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X=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1B6670B9-6AC4-4F68-ACDB-F6A56842F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1116" y="4164837"/>
                <a:ext cx="1836982" cy="585288"/>
              </a:xfrm>
              <a:prstGeom prst="rect">
                <a:avLst/>
              </a:prstGeom>
              <a:blipFill>
                <a:blip r:embed="rId12"/>
                <a:stretch>
                  <a:fillRect l="-29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EEE660AF-6104-4E3D-98DE-715472408EBA}"/>
              </a:ext>
            </a:extLst>
          </p:cNvPr>
          <p:cNvCxnSpPr/>
          <p:nvPr/>
        </p:nvCxnSpPr>
        <p:spPr bwMode="auto">
          <a:xfrm>
            <a:off x="7660418" y="4043455"/>
            <a:ext cx="504056" cy="52067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280D772-6E5E-48B7-BA2C-2EA864ABC4E4}"/>
              </a:ext>
            </a:extLst>
          </p:cNvPr>
          <p:cNvCxnSpPr>
            <a:cxnSpLocks/>
          </p:cNvCxnSpPr>
          <p:nvPr/>
        </p:nvCxnSpPr>
        <p:spPr bwMode="auto">
          <a:xfrm flipH="1">
            <a:off x="7041232" y="5085184"/>
            <a:ext cx="1185325" cy="1786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28DA0062-74D7-4F2E-BE61-60E491DC28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6418371"/>
              </p:ext>
            </p:extLst>
          </p:nvPr>
        </p:nvGraphicFramePr>
        <p:xfrm>
          <a:off x="7993570" y="4630632"/>
          <a:ext cx="268288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90440" imgH="228600" progId="Equation.DSMT4">
                  <p:embed/>
                </p:oleObj>
              </mc:Choice>
              <mc:Fallback>
                <p:oleObj name="Equation" r:id="rId13" imgW="190440" imgH="228600" progId="Equation.DSMT4">
                  <p:embed/>
                  <p:pic>
                    <p:nvPicPr>
                      <p:cNvPr id="57" name="对象 56">
                        <a:extLst>
                          <a:ext uri="{FF2B5EF4-FFF2-40B4-BE49-F238E27FC236}">
                            <a16:creationId xmlns:a16="http://schemas.microsoft.com/office/drawing/2014/main" id="{8557F719-AAE5-4E3F-8244-5C463C55A6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993570" y="4630632"/>
                        <a:ext cx="268288" cy="319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135C2819-C997-4A50-A111-D92503CA5565}"/>
              </a:ext>
            </a:extLst>
          </p:cNvPr>
          <p:cNvCxnSpPr/>
          <p:nvPr/>
        </p:nvCxnSpPr>
        <p:spPr bwMode="auto">
          <a:xfrm>
            <a:off x="6576436" y="4523428"/>
            <a:ext cx="268143" cy="54891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A1EFA2B8-B091-4C68-8D21-D47C4F53F0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0727467"/>
              </p:ext>
            </p:extLst>
          </p:nvPr>
        </p:nvGraphicFramePr>
        <p:xfrm>
          <a:off x="7585568" y="5114278"/>
          <a:ext cx="241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41200" imgH="228600" progId="Equation.DSMT4">
                  <p:embed/>
                </p:oleObj>
              </mc:Choice>
              <mc:Fallback>
                <p:oleObj name="Equation" r:id="rId15" imgW="241200" imgH="228600" progId="Equation.DSMT4">
                  <p:embed/>
                  <p:pic>
                    <p:nvPicPr>
                      <p:cNvPr id="60" name="对象 59">
                        <a:extLst>
                          <a:ext uri="{FF2B5EF4-FFF2-40B4-BE49-F238E27FC236}">
                            <a16:creationId xmlns:a16="http://schemas.microsoft.com/office/drawing/2014/main" id="{16C7CF6D-3046-404A-92EB-723D600FFC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585568" y="5114278"/>
                        <a:ext cx="241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B738944E-65AB-4A3F-8AE7-DEB72E88D9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3686201"/>
              </p:ext>
            </p:extLst>
          </p:nvPr>
        </p:nvGraphicFramePr>
        <p:xfrm>
          <a:off x="8253920" y="4760807"/>
          <a:ext cx="254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53800" imgH="228600" progId="Equation.DSMT4">
                  <p:embed/>
                </p:oleObj>
              </mc:Choice>
              <mc:Fallback>
                <p:oleObj name="Equation" r:id="rId17" imgW="253800" imgH="228600" progId="Equation.DSMT4">
                  <p:embed/>
                  <p:pic>
                    <p:nvPicPr>
                      <p:cNvPr id="61" name="对象 60">
                        <a:extLst>
                          <a:ext uri="{FF2B5EF4-FFF2-40B4-BE49-F238E27FC236}">
                            <a16:creationId xmlns:a16="http://schemas.microsoft.com/office/drawing/2014/main" id="{6E8DA749-2C02-4A1C-BF05-0EAFBABF6C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253920" y="4760807"/>
                        <a:ext cx="254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1202304B-382F-4709-95FD-2BC85A20AFE4}"/>
              </a:ext>
            </a:extLst>
          </p:cNvPr>
          <p:cNvCxnSpPr>
            <a:cxnSpLocks/>
          </p:cNvCxnSpPr>
          <p:nvPr/>
        </p:nvCxnSpPr>
        <p:spPr bwMode="auto">
          <a:xfrm>
            <a:off x="8265368" y="4556867"/>
            <a:ext cx="0" cy="52831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422CDF17-DB89-4C9D-AA55-91CA326A9C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9448972"/>
              </p:ext>
            </p:extLst>
          </p:nvPr>
        </p:nvGraphicFramePr>
        <p:xfrm>
          <a:off x="7368059" y="4838105"/>
          <a:ext cx="249237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77480" imgH="228600" progId="Equation.DSMT4">
                  <p:embed/>
                </p:oleObj>
              </mc:Choice>
              <mc:Fallback>
                <p:oleObj name="Equation" r:id="rId19" imgW="177480" imgH="228600" progId="Equation.DSMT4">
                  <p:embed/>
                  <p:pic>
                    <p:nvPicPr>
                      <p:cNvPr id="55" name="对象 54">
                        <a:extLst>
                          <a:ext uri="{FF2B5EF4-FFF2-40B4-BE49-F238E27FC236}">
                            <a16:creationId xmlns:a16="http://schemas.microsoft.com/office/drawing/2014/main" id="{6A4687ED-2753-4917-83A4-26C908FB0E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368059" y="4838105"/>
                        <a:ext cx="249237" cy="319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3206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37828-8038-4558-A4BE-B932C7367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方向导数的推导公式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93FF77-F495-467A-9FA5-0DAF67AF4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4D9B5C9-2424-4339-A2A0-0D3965085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6</a:t>
            </a:fld>
            <a:endParaRPr lang="en-US" altLang="zh-CN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701EE29F-D4AD-44C7-972F-BAC008A6BF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8615059"/>
              </p:ext>
            </p:extLst>
          </p:nvPr>
        </p:nvGraphicFramePr>
        <p:xfrm>
          <a:off x="1568624" y="1340768"/>
          <a:ext cx="5801953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14600" imgH="431640" progId="Equation.DSMT4">
                  <p:embed/>
                </p:oleObj>
              </mc:Choice>
              <mc:Fallback>
                <p:oleObj name="Equation" r:id="rId2" imgW="2514600" imgH="43164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701EE29F-D4AD-44C7-972F-BAC008A6BF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68624" y="1340768"/>
                        <a:ext cx="5801953" cy="996950"/>
                      </a:xfrm>
                      <a:prstGeom prst="rect">
                        <a:avLst/>
                      </a:prstGeom>
                      <a:ln w="38100"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0F661E2-0B0F-4F59-AC21-25AD0795D3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2795873"/>
              </p:ext>
            </p:extLst>
          </p:nvPr>
        </p:nvGraphicFramePr>
        <p:xfrm>
          <a:off x="180938" y="2550759"/>
          <a:ext cx="4454525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30320" imgH="444240" progId="Equation.DSMT4">
                  <p:embed/>
                </p:oleObj>
              </mc:Choice>
              <mc:Fallback>
                <p:oleObj name="Equation" r:id="rId4" imgW="1930320" imgH="44424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701EE29F-D4AD-44C7-972F-BAC008A6BF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0938" y="2550759"/>
                        <a:ext cx="4454525" cy="1025525"/>
                      </a:xfrm>
                      <a:prstGeom prst="rect">
                        <a:avLst/>
                      </a:prstGeom>
                      <a:ln w="38100"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3ACE33B-A62F-412E-A535-0CA6837AE63C}"/>
              </a:ext>
            </a:extLst>
          </p:cNvPr>
          <p:cNvCxnSpPr>
            <a:cxnSpLocks/>
          </p:cNvCxnSpPr>
          <p:nvPr/>
        </p:nvCxnSpPr>
        <p:spPr bwMode="auto">
          <a:xfrm>
            <a:off x="6229346" y="5373216"/>
            <a:ext cx="311614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5FDB6B57-2875-4D4E-BBD6-48B54E6FA625}"/>
              </a:ext>
            </a:extLst>
          </p:cNvPr>
          <p:cNvCxnSpPr>
            <a:cxnSpLocks/>
          </p:cNvCxnSpPr>
          <p:nvPr/>
        </p:nvCxnSpPr>
        <p:spPr bwMode="auto">
          <a:xfrm flipV="1">
            <a:off x="6229346" y="3084544"/>
            <a:ext cx="0" cy="22886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EA23779-0CE7-46B1-B95E-63FA52195459}"/>
              </a:ext>
            </a:extLst>
          </p:cNvPr>
          <p:cNvCxnSpPr>
            <a:cxnSpLocks/>
          </p:cNvCxnSpPr>
          <p:nvPr/>
        </p:nvCxnSpPr>
        <p:spPr bwMode="auto">
          <a:xfrm flipV="1">
            <a:off x="6229346" y="4627407"/>
            <a:ext cx="653915" cy="745809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929377EA-A2AE-4ED7-8A21-13ED3EF94FBE}"/>
              </a:ext>
            </a:extLst>
          </p:cNvPr>
          <p:cNvSpPr txBox="1"/>
          <p:nvPr/>
        </p:nvSpPr>
        <p:spPr>
          <a:xfrm>
            <a:off x="9489503" y="5146315"/>
            <a:ext cx="653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X1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DC6182E-CCE5-41E7-B186-64271D3F86E1}"/>
              </a:ext>
            </a:extLst>
          </p:cNvPr>
          <p:cNvSpPr txBox="1"/>
          <p:nvPr/>
        </p:nvSpPr>
        <p:spPr>
          <a:xfrm>
            <a:off x="6015184" y="2658437"/>
            <a:ext cx="666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X2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8818E66-B642-445A-A715-B65D0C2DA4FF}"/>
              </a:ext>
            </a:extLst>
          </p:cNvPr>
          <p:cNvSpPr txBox="1"/>
          <p:nvPr/>
        </p:nvSpPr>
        <p:spPr>
          <a:xfrm>
            <a:off x="5906731" y="5323173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</a:t>
            </a:r>
            <a:endParaRPr lang="zh-CN" altLang="en-US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F9265E4-C013-4936-BBE7-7D2A5D5B9B69}"/>
              </a:ext>
            </a:extLst>
          </p:cNvPr>
          <p:cNvCxnSpPr>
            <a:cxnSpLocks/>
          </p:cNvCxnSpPr>
          <p:nvPr/>
        </p:nvCxnSpPr>
        <p:spPr bwMode="auto">
          <a:xfrm flipV="1">
            <a:off x="6883259" y="3511099"/>
            <a:ext cx="2779147" cy="1128642"/>
          </a:xfrm>
          <a:prstGeom prst="straightConnector1">
            <a:avLst/>
          </a:prstGeom>
          <a:ln w="571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640D732E-BBB6-4160-A1A3-61DF71C094A2}"/>
              </a:ext>
            </a:extLst>
          </p:cNvPr>
          <p:cNvSpPr txBox="1"/>
          <p:nvPr/>
        </p:nvSpPr>
        <p:spPr>
          <a:xfrm>
            <a:off x="9215336" y="3084544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</a:t>
            </a:r>
            <a:endParaRPr lang="zh-CN" altLang="en-US" dirty="0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716A55D-22FC-4238-86CA-10F9EB167E19}"/>
              </a:ext>
            </a:extLst>
          </p:cNvPr>
          <p:cNvCxnSpPr>
            <a:cxnSpLocks/>
          </p:cNvCxnSpPr>
          <p:nvPr/>
        </p:nvCxnSpPr>
        <p:spPr bwMode="auto">
          <a:xfrm>
            <a:off x="6883261" y="4685915"/>
            <a:ext cx="0" cy="68730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0221FB9C-D57D-4D6F-B6D3-49A287817344}"/>
              </a:ext>
            </a:extLst>
          </p:cNvPr>
          <p:cNvCxnSpPr>
            <a:cxnSpLocks/>
          </p:cNvCxnSpPr>
          <p:nvPr/>
        </p:nvCxnSpPr>
        <p:spPr bwMode="auto">
          <a:xfrm flipH="1">
            <a:off x="6194572" y="4613630"/>
            <a:ext cx="723461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78EEECD2-AD79-4BF2-A8E3-365DC721A22A}"/>
              </a:ext>
            </a:extLst>
          </p:cNvPr>
          <p:cNvSpPr txBox="1"/>
          <p:nvPr/>
        </p:nvSpPr>
        <p:spPr>
          <a:xfrm>
            <a:off x="6681191" y="5365040"/>
            <a:ext cx="653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x1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2EE419A-5DFD-4191-B4FD-253BB465EAE9}"/>
              </a:ext>
            </a:extLst>
          </p:cNvPr>
          <p:cNvSpPr txBox="1"/>
          <p:nvPr/>
        </p:nvSpPr>
        <p:spPr>
          <a:xfrm>
            <a:off x="5790441" y="4485074"/>
            <a:ext cx="653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x2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CC946170-E0A3-404C-983A-642D1635892A}"/>
                  </a:ext>
                </a:extLst>
              </p:cNvPr>
              <p:cNvSpPr txBox="1"/>
              <p:nvPr/>
            </p:nvSpPr>
            <p:spPr>
              <a:xfrm>
                <a:off x="7482889" y="3136607"/>
                <a:ext cx="1836982" cy="585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X</a:t>
                </a:r>
                <a:r>
                  <a:rPr lang="en-US" altLang="zh-CN" baseline="30000" dirty="0"/>
                  <a:t>(1)</a:t>
                </a:r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1+∆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2+∆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CC946170-E0A3-404C-983A-642D16358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2889" y="3136607"/>
                <a:ext cx="1836982" cy="585288"/>
              </a:xfrm>
              <a:prstGeom prst="rect">
                <a:avLst/>
              </a:prstGeom>
              <a:blipFill>
                <a:blip r:embed="rId7"/>
                <a:stretch>
                  <a:fillRect l="-29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5DE7E019-EFBD-43EF-95C1-134417713D98}"/>
                  </a:ext>
                </a:extLst>
              </p:cNvPr>
              <p:cNvSpPr txBox="1"/>
              <p:nvPr/>
            </p:nvSpPr>
            <p:spPr>
              <a:xfrm>
                <a:off x="6307994" y="3676365"/>
                <a:ext cx="1836982" cy="585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X=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5DE7E019-EFBD-43EF-95C1-134417713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7994" y="3676365"/>
                <a:ext cx="1836982" cy="585288"/>
              </a:xfrm>
              <a:prstGeom prst="rect">
                <a:avLst/>
              </a:prstGeom>
              <a:blipFill>
                <a:blip r:embed="rId8"/>
                <a:stretch>
                  <a:fillRect l="-29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BCDC01E9-CEFA-47D8-BBA6-2F6963D4E69D}"/>
              </a:ext>
            </a:extLst>
          </p:cNvPr>
          <p:cNvCxnSpPr/>
          <p:nvPr/>
        </p:nvCxnSpPr>
        <p:spPr bwMode="auto">
          <a:xfrm>
            <a:off x="7617296" y="3554983"/>
            <a:ext cx="504056" cy="52067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椭圆 25">
            <a:extLst>
              <a:ext uri="{FF2B5EF4-FFF2-40B4-BE49-F238E27FC236}">
                <a16:creationId xmlns:a16="http://schemas.microsoft.com/office/drawing/2014/main" id="{05152C58-ACA7-4078-801D-7ED36EC794D1}"/>
              </a:ext>
            </a:extLst>
          </p:cNvPr>
          <p:cNvSpPr/>
          <p:nvPr/>
        </p:nvSpPr>
        <p:spPr bwMode="auto">
          <a:xfrm>
            <a:off x="8121352" y="4075657"/>
            <a:ext cx="134407" cy="110781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B48A1A4C-92F9-4A86-A87D-0CEADFC5B715}"/>
              </a:ext>
            </a:extLst>
          </p:cNvPr>
          <p:cNvCxnSpPr>
            <a:cxnSpLocks/>
          </p:cNvCxnSpPr>
          <p:nvPr/>
        </p:nvCxnSpPr>
        <p:spPr bwMode="auto">
          <a:xfrm flipH="1">
            <a:off x="7070434" y="4613630"/>
            <a:ext cx="1185325" cy="1786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116AC50F-A688-4199-A708-D59DE13DF745}"/>
              </a:ext>
            </a:extLst>
          </p:cNvPr>
          <p:cNvCxnSpPr>
            <a:cxnSpLocks/>
          </p:cNvCxnSpPr>
          <p:nvPr/>
        </p:nvCxnSpPr>
        <p:spPr bwMode="auto">
          <a:xfrm>
            <a:off x="8188555" y="4141423"/>
            <a:ext cx="0" cy="52831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1535C2BC-0445-4395-A58A-0A28B0F525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0805464"/>
              </p:ext>
            </p:extLst>
          </p:nvPr>
        </p:nvGraphicFramePr>
        <p:xfrm>
          <a:off x="7313861" y="4386635"/>
          <a:ext cx="249237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7480" imgH="228600" progId="Equation.DSMT4">
                  <p:embed/>
                </p:oleObj>
              </mc:Choice>
              <mc:Fallback>
                <p:oleObj name="Equation" r:id="rId9" imgW="177480" imgH="228600" progId="Equation.DSMT4">
                  <p:embed/>
                  <p:pic>
                    <p:nvPicPr>
                      <p:cNvPr id="55" name="对象 54">
                        <a:extLst>
                          <a:ext uri="{FF2B5EF4-FFF2-40B4-BE49-F238E27FC236}">
                            <a16:creationId xmlns:a16="http://schemas.microsoft.com/office/drawing/2014/main" id="{6A4687ED-2753-4917-83A4-26C908FB0E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313861" y="4386635"/>
                        <a:ext cx="249237" cy="319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43B5E927-1ADA-407D-8369-BA92A7E565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0005800"/>
              </p:ext>
            </p:extLst>
          </p:nvPr>
        </p:nvGraphicFramePr>
        <p:xfrm>
          <a:off x="7950448" y="4142160"/>
          <a:ext cx="268288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90440" imgH="228600" progId="Equation.DSMT4">
                  <p:embed/>
                </p:oleObj>
              </mc:Choice>
              <mc:Fallback>
                <p:oleObj name="Equation" r:id="rId11" imgW="190440" imgH="228600" progId="Equation.DSMT4">
                  <p:embed/>
                  <p:pic>
                    <p:nvPicPr>
                      <p:cNvPr id="57" name="对象 56">
                        <a:extLst>
                          <a:ext uri="{FF2B5EF4-FFF2-40B4-BE49-F238E27FC236}">
                            <a16:creationId xmlns:a16="http://schemas.microsoft.com/office/drawing/2014/main" id="{8557F719-AAE5-4E3F-8244-5C463C55A6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950448" y="4142160"/>
                        <a:ext cx="268288" cy="319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C36C60F7-89DC-418D-A588-0022FF59FD7B}"/>
              </a:ext>
            </a:extLst>
          </p:cNvPr>
          <p:cNvCxnSpPr/>
          <p:nvPr/>
        </p:nvCxnSpPr>
        <p:spPr bwMode="auto">
          <a:xfrm>
            <a:off x="6533314" y="4034956"/>
            <a:ext cx="268143" cy="54891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8E052F6F-436B-45FB-9B92-992FE2BCEE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0781006"/>
              </p:ext>
            </p:extLst>
          </p:nvPr>
        </p:nvGraphicFramePr>
        <p:xfrm>
          <a:off x="7542446" y="4625806"/>
          <a:ext cx="241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41200" imgH="228600" progId="Equation.DSMT4">
                  <p:embed/>
                </p:oleObj>
              </mc:Choice>
              <mc:Fallback>
                <p:oleObj name="Equation" r:id="rId13" imgW="241200" imgH="228600" progId="Equation.DSMT4">
                  <p:embed/>
                  <p:pic>
                    <p:nvPicPr>
                      <p:cNvPr id="60" name="对象 59">
                        <a:extLst>
                          <a:ext uri="{FF2B5EF4-FFF2-40B4-BE49-F238E27FC236}">
                            <a16:creationId xmlns:a16="http://schemas.microsoft.com/office/drawing/2014/main" id="{16C7CF6D-3046-404A-92EB-723D600FFC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542446" y="4625806"/>
                        <a:ext cx="241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2CC7F439-E399-4BC5-8052-157259AA03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9931509"/>
              </p:ext>
            </p:extLst>
          </p:nvPr>
        </p:nvGraphicFramePr>
        <p:xfrm>
          <a:off x="8210798" y="4272335"/>
          <a:ext cx="254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53800" imgH="228600" progId="Equation.DSMT4">
                  <p:embed/>
                </p:oleObj>
              </mc:Choice>
              <mc:Fallback>
                <p:oleObj name="Equation" r:id="rId15" imgW="253800" imgH="228600" progId="Equation.DSMT4">
                  <p:embed/>
                  <p:pic>
                    <p:nvPicPr>
                      <p:cNvPr id="61" name="对象 60">
                        <a:extLst>
                          <a:ext uri="{FF2B5EF4-FFF2-40B4-BE49-F238E27FC236}">
                            <a16:creationId xmlns:a16="http://schemas.microsoft.com/office/drawing/2014/main" id="{6E8DA749-2C02-4A1C-BF05-0EAFBABF6C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210798" y="4272335"/>
                        <a:ext cx="254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注: 线形 2">
            <a:extLst>
              <a:ext uri="{FF2B5EF4-FFF2-40B4-BE49-F238E27FC236}">
                <a16:creationId xmlns:a16="http://schemas.microsoft.com/office/drawing/2014/main" id="{0274F9F5-B4B6-4F29-B587-9755DC22A2F4}"/>
              </a:ext>
            </a:extLst>
          </p:cNvPr>
          <p:cNvSpPr/>
          <p:nvPr/>
        </p:nvSpPr>
        <p:spPr bwMode="auto">
          <a:xfrm>
            <a:off x="5188423" y="3027770"/>
            <a:ext cx="578394" cy="1677952"/>
          </a:xfrm>
          <a:prstGeom prst="borderCallout1">
            <a:avLst>
              <a:gd name="adj1" fmla="val 18750"/>
              <a:gd name="adj2" fmla="val -8333"/>
              <a:gd name="adj3" fmla="val 2256"/>
              <a:gd name="adj4" fmla="val -82793"/>
            </a:avLst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</a:rPr>
              <a:t>方向余弦</a:t>
            </a:r>
          </a:p>
        </p:txBody>
      </p:sp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E5E822A2-647E-48EE-ADC3-FBEF34CB89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6877934"/>
              </p:ext>
            </p:extLst>
          </p:nvPr>
        </p:nvGraphicFramePr>
        <p:xfrm>
          <a:off x="265113" y="3949700"/>
          <a:ext cx="41910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815840" imgH="241200" progId="Equation.DSMT4">
                  <p:embed/>
                </p:oleObj>
              </mc:Choice>
              <mc:Fallback>
                <p:oleObj name="Equation" r:id="rId17" imgW="1815840" imgH="2412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80F661E2-0B0F-4F59-AC21-25AD0795D3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65113" y="3949700"/>
                        <a:ext cx="4191000" cy="557213"/>
                      </a:xfrm>
                      <a:prstGeom prst="rect">
                        <a:avLst/>
                      </a:prstGeom>
                      <a:ln w="38100"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29E9143B-BDF8-46B4-BCC0-06E066CEBD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3770230"/>
              </p:ext>
            </p:extLst>
          </p:nvPr>
        </p:nvGraphicFramePr>
        <p:xfrm>
          <a:off x="198438" y="4713288"/>
          <a:ext cx="4251325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841400" imgH="431640" progId="Equation.DSMT4">
                  <p:embed/>
                </p:oleObj>
              </mc:Choice>
              <mc:Fallback>
                <p:oleObj name="Equation" r:id="rId19" imgW="1841400" imgH="43164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E5E822A2-647E-48EE-ADC3-FBEF34CB89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98438" y="4713288"/>
                        <a:ext cx="4251325" cy="996950"/>
                      </a:xfrm>
                      <a:prstGeom prst="rect">
                        <a:avLst/>
                      </a:prstGeom>
                      <a:ln w="38100"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AA14668B-2228-4868-BF15-996A0FE53F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0239724"/>
              </p:ext>
            </p:extLst>
          </p:nvPr>
        </p:nvGraphicFramePr>
        <p:xfrm>
          <a:off x="176213" y="5692505"/>
          <a:ext cx="427990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854000" imgH="431640" progId="Equation.DSMT4">
                  <p:embed/>
                </p:oleObj>
              </mc:Choice>
              <mc:Fallback>
                <p:oleObj name="Equation" r:id="rId21" imgW="1854000" imgH="431640" progId="Equation.DSMT4">
                  <p:embed/>
                  <p:pic>
                    <p:nvPicPr>
                      <p:cNvPr id="35" name="对象 34">
                        <a:extLst>
                          <a:ext uri="{FF2B5EF4-FFF2-40B4-BE49-F238E27FC236}">
                            <a16:creationId xmlns:a16="http://schemas.microsoft.com/office/drawing/2014/main" id="{29E9143B-BDF8-46B4-BCC0-06E066CEBD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76213" y="5692505"/>
                        <a:ext cx="4279900" cy="996950"/>
                      </a:xfrm>
                      <a:prstGeom prst="rect">
                        <a:avLst/>
                      </a:prstGeom>
                      <a:ln w="38100"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爆炸形: 14 pt  36">
            <a:extLst>
              <a:ext uri="{FF2B5EF4-FFF2-40B4-BE49-F238E27FC236}">
                <a16:creationId xmlns:a16="http://schemas.microsoft.com/office/drawing/2014/main" id="{7C6DFB59-57E0-488C-97EC-F00B3B0F09C0}"/>
              </a:ext>
            </a:extLst>
          </p:cNvPr>
          <p:cNvSpPr/>
          <p:nvPr/>
        </p:nvSpPr>
        <p:spPr bwMode="auto">
          <a:xfrm>
            <a:off x="4574282" y="5423259"/>
            <a:ext cx="5273673" cy="1390117"/>
          </a:xfrm>
          <a:prstGeom prst="irregularSeal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>
                <a:solidFill>
                  <a:srgbClr val="0000FF"/>
                </a:solidFill>
              </a:rPr>
              <a:t>偏导数是方向导数的特例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64119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18255F-348F-4944-887E-10B499DA5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函数的梯度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367E23-7F9E-4BE3-853B-DDC5CA457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方向导数</a:t>
            </a:r>
            <a:endParaRPr lang="en-US" altLang="zh-CN" dirty="0"/>
          </a:p>
          <a:p>
            <a:pPr lvl="1"/>
            <a:r>
              <a:rPr lang="zh-CN" altLang="en-US" dirty="0"/>
              <a:t>推广到</a:t>
            </a:r>
            <a:r>
              <a:rPr lang="en-US" altLang="zh-CN" dirty="0"/>
              <a:t>n</a:t>
            </a:r>
            <a:r>
              <a:rPr lang="zh-CN" altLang="en-US" dirty="0"/>
              <a:t>维的多元函数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AB6824-BCF4-4480-8A04-54C754029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8480683-FC09-4084-B93D-81519FD77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7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F07E28E-09F8-4DAA-AB71-D6DDF24686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9854436"/>
              </p:ext>
            </p:extLst>
          </p:nvPr>
        </p:nvGraphicFramePr>
        <p:xfrm>
          <a:off x="2072680" y="2852936"/>
          <a:ext cx="4968552" cy="265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560" imgH="888840" progId="Equation.DSMT4">
                  <p:embed/>
                </p:oleObj>
              </mc:Choice>
              <mc:Fallback>
                <p:oleObj name="Equation" r:id="rId2" imgW="1663560" imgH="88884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701EE29F-D4AD-44C7-972F-BAC008A6BF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72680" y="2852936"/>
                        <a:ext cx="4968552" cy="2651675"/>
                      </a:xfrm>
                      <a:prstGeom prst="rect">
                        <a:avLst/>
                      </a:prstGeom>
                      <a:ln w="38100"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标注: 线形 6">
            <a:extLst>
              <a:ext uri="{FF2B5EF4-FFF2-40B4-BE49-F238E27FC236}">
                <a16:creationId xmlns:a16="http://schemas.microsoft.com/office/drawing/2014/main" id="{6922E837-FF10-4B2D-A104-FD50474A97B8}"/>
              </a:ext>
            </a:extLst>
          </p:cNvPr>
          <p:cNvSpPr/>
          <p:nvPr/>
        </p:nvSpPr>
        <p:spPr bwMode="auto">
          <a:xfrm>
            <a:off x="7544123" y="4178773"/>
            <a:ext cx="578394" cy="1677952"/>
          </a:xfrm>
          <a:prstGeom prst="borderCallout1">
            <a:avLst>
              <a:gd name="adj1" fmla="val 18750"/>
              <a:gd name="adj2" fmla="val -8333"/>
              <a:gd name="adj3" fmla="val -37898"/>
              <a:gd name="adj4" fmla="val -249207"/>
            </a:avLst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</a:rPr>
              <a:t>方向余弦</a:t>
            </a:r>
          </a:p>
        </p:txBody>
      </p:sp>
    </p:spTree>
    <p:extLst>
      <p:ext uri="{BB962C8B-B14F-4D97-AF65-F5344CB8AC3E}">
        <p14:creationId xmlns:p14="http://schemas.microsoft.com/office/powerpoint/2010/main" val="1016898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18255F-348F-4944-887E-10B499DA5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函数的梯度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0367E23-7F9E-4BE3-853B-DDC5CA4577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例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P14</a:t>
                </a:r>
                <a:r>
                  <a:rPr lang="zh-CN" altLang="en-US" dirty="0"/>
                  <a:t>例</a:t>
                </a:r>
                <a:r>
                  <a:rPr lang="en-US" altLang="zh-CN" dirty="0"/>
                  <a:t>2-1</a:t>
                </a:r>
                <a:r>
                  <a:rPr lang="zh-CN" altLang="en-US" dirty="0"/>
                  <a:t>）：方向导数计算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求函数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altLang="zh-CN" b="1" i="1" smtClean="0">
                            <a:latin typeface="Cambria Math" panose="02040503050406030204" pitchFamily="18" charset="0"/>
                          </a:rPr>
                          <m:t>𝝅</m:t>
                        </m:r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分别</m:t>
                    </m:r>
                  </m:oMath>
                </a14:m>
                <a:r>
                  <a:rPr lang="zh-CN" altLang="en-US" dirty="0"/>
                  <a:t>沿以下两个方向</a:t>
                </a:r>
                <a:endParaRPr lang="en-US" altLang="zh-CN" dirty="0"/>
              </a:p>
              <a:p>
                <a:pPr marL="457200" lvl="1" indent="0">
                  <a:buNone/>
                </a:pPr>
                <a:endParaRPr lang="en-US" altLang="zh-CN" dirty="0"/>
              </a:p>
              <a:p>
                <a:pPr marL="457200" lvl="1" indent="0">
                  <a:buNone/>
                </a:pPr>
                <a:endParaRPr lang="en-US" altLang="zh-CN" dirty="0"/>
              </a:p>
              <a:p>
                <a:pPr marL="457200" lvl="1" indent="0">
                  <a:buNone/>
                </a:pPr>
                <a:endParaRPr lang="en-US" altLang="zh-CN" dirty="0"/>
              </a:p>
              <a:p>
                <a:pPr marL="457200" lvl="1" indent="0">
                  <a:buNone/>
                </a:pPr>
                <a:r>
                  <a:rPr lang="en-US" altLang="zh-CN" dirty="0"/>
                  <a:t> </a:t>
                </a:r>
              </a:p>
              <a:p>
                <a:pPr marL="457200" lvl="1" indent="0">
                  <a:buNone/>
                </a:pPr>
                <a:r>
                  <a:rPr lang="zh-CN" altLang="en-US" dirty="0"/>
                  <a:t>在点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dirty="0"/>
                  <a:t>处的方向导数。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0367E23-7F9E-4BE3-853B-DDC5CA4577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66" t="-2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AB6824-BCF4-4480-8A04-54C754029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8480683-FC09-4084-B93D-81519FD77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8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1929645-8C2F-4215-8611-D82FD5865D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2395843"/>
              </p:ext>
            </p:extLst>
          </p:nvPr>
        </p:nvGraphicFramePr>
        <p:xfrm>
          <a:off x="560512" y="2780928"/>
          <a:ext cx="2376264" cy="2376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38080" imgH="838080" progId="Equation.DSMT4">
                  <p:embed/>
                </p:oleObj>
              </mc:Choice>
              <mc:Fallback>
                <p:oleObj name="Equation" r:id="rId4" imgW="83808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60512" y="2780928"/>
                        <a:ext cx="2376264" cy="23762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B1AC6C9-CF60-4189-9FEA-29A06E3290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6957093"/>
              </p:ext>
            </p:extLst>
          </p:nvPr>
        </p:nvGraphicFramePr>
        <p:xfrm>
          <a:off x="3421063" y="2789238"/>
          <a:ext cx="2413000" cy="2376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50680" imgH="838080" progId="Equation.DSMT4">
                  <p:embed/>
                </p:oleObj>
              </mc:Choice>
              <mc:Fallback>
                <p:oleObj name="Equation" r:id="rId6" imgW="850680" imgH="8380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A1929645-8C2F-4215-8611-D82FD5865D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21063" y="2789238"/>
                        <a:ext cx="2413000" cy="2376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2357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18255F-348F-4944-887E-10B499DA5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AB6824-BCF4-4480-8A04-54C754029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8480683-FC09-4084-B93D-81519FD77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9</a:t>
            </a:fld>
            <a:endParaRPr lang="en-US" altLang="zh-CN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74B1867-9E49-4665-9CAD-FE6455BCF9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794300"/>
              </p:ext>
            </p:extLst>
          </p:nvPr>
        </p:nvGraphicFramePr>
        <p:xfrm>
          <a:off x="200472" y="1138864"/>
          <a:ext cx="7111577" cy="11068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68400" imgH="431640" progId="Equation.DSMT4">
                  <p:embed/>
                </p:oleObj>
              </mc:Choice>
              <mc:Fallback>
                <p:oleObj name="Equation" r:id="rId2" imgW="2768400" imgH="4316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A1929645-8C2F-4215-8611-D82FD5865D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0472" y="1138864"/>
                        <a:ext cx="7111577" cy="11068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1F1CC98-F385-4B37-8F75-41A4C17E8C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2472119"/>
              </p:ext>
            </p:extLst>
          </p:nvPr>
        </p:nvGraphicFramePr>
        <p:xfrm>
          <a:off x="200472" y="4132453"/>
          <a:ext cx="5969000" cy="240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23800" imgH="939600" progId="Equation.DSMT4">
                  <p:embed/>
                </p:oleObj>
              </mc:Choice>
              <mc:Fallback>
                <p:oleObj name="Equation" r:id="rId4" imgW="2323800" imgH="9396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574B1867-9E49-4665-9CAD-FE6455BCF9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0472" y="4132453"/>
                        <a:ext cx="5969000" cy="2409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06DF772A-FC1E-42F9-92E5-589A776FD8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9241713"/>
              </p:ext>
            </p:extLst>
          </p:nvPr>
        </p:nvGraphicFramePr>
        <p:xfrm>
          <a:off x="895065" y="2364362"/>
          <a:ext cx="4022725" cy="164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86000" imgH="939600" progId="Equation.DSMT4">
                  <p:embed/>
                </p:oleObj>
              </mc:Choice>
              <mc:Fallback>
                <p:oleObj name="Equation" r:id="rId6" imgW="2286000" imgH="9396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81F1CC98-F385-4B37-8F75-41A4C17E8C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95065" y="2364362"/>
                        <a:ext cx="4022725" cy="1649413"/>
                      </a:xfrm>
                      <a:prstGeom prst="rect">
                        <a:avLst/>
                      </a:prstGeom>
                      <a:ln w="28575"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020A008C-5408-4463-A018-4A2150298A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8443977"/>
              </p:ext>
            </p:extLst>
          </p:nvPr>
        </p:nvGraphicFramePr>
        <p:xfrm>
          <a:off x="5241032" y="2334701"/>
          <a:ext cx="3194464" cy="16790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38000" imgH="863280" progId="Equation.DSMT4">
                  <p:embed/>
                </p:oleObj>
              </mc:Choice>
              <mc:Fallback>
                <p:oleObj name="Equation" r:id="rId8" imgW="1638000" imgH="8632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06DF772A-FC1E-42F9-92E5-589A776FD8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241032" y="2334701"/>
                        <a:ext cx="3194464" cy="1679074"/>
                      </a:xfrm>
                      <a:prstGeom prst="rect">
                        <a:avLst/>
                      </a:prstGeom>
                      <a:ln w="2857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标注: 左箭头 15">
            <a:extLst>
              <a:ext uri="{FF2B5EF4-FFF2-40B4-BE49-F238E27FC236}">
                <a16:creationId xmlns:a16="http://schemas.microsoft.com/office/drawing/2014/main" id="{2D6E0CC2-CB4D-472F-A550-9A7ADB8AB3D9}"/>
              </a:ext>
            </a:extLst>
          </p:cNvPr>
          <p:cNvSpPr/>
          <p:nvPr/>
        </p:nvSpPr>
        <p:spPr bwMode="auto">
          <a:xfrm>
            <a:off x="6296620" y="4437112"/>
            <a:ext cx="3380804" cy="1487528"/>
          </a:xfrm>
          <a:prstGeom prst="leftArrowCallout">
            <a:avLst>
              <a:gd name="adj1" fmla="val 31385"/>
              <a:gd name="adj2" fmla="val 25000"/>
              <a:gd name="adj3" fmla="val 20895"/>
              <a:gd name="adj4" fmla="val 80190"/>
            </a:avLst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</a:rPr>
              <a:t>相同点，不同的方向变化率是不同的</a:t>
            </a:r>
          </a:p>
        </p:txBody>
      </p:sp>
    </p:spTree>
    <p:extLst>
      <p:ext uri="{BB962C8B-B14F-4D97-AF65-F5344CB8AC3E}">
        <p14:creationId xmlns:p14="http://schemas.microsoft.com/office/powerpoint/2010/main" val="616091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59E588-4C95-4CDC-8299-A746EBD38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函数的梯度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4BB3CED-C054-4F05-AFAF-8524679EF2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知识回顾：向量及其基本运算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向量的定义</a:t>
                </a:r>
                <a:endParaRPr lang="en-US" altLang="zh-CN" dirty="0"/>
              </a:p>
              <a:p>
                <a:pPr lvl="2"/>
                <a:r>
                  <a:rPr lang="zh-CN" altLang="en-US" dirty="0">
                    <a:solidFill>
                      <a:srgbClr val="FF0000"/>
                    </a:solidFill>
                  </a:rPr>
                  <a:t>向量：</a:t>
                </a:r>
                <a:r>
                  <a:rPr lang="zh-CN" altLang="en-US" dirty="0"/>
                  <a:t>既有</a:t>
                </a:r>
                <a:r>
                  <a:rPr lang="zh-CN" altLang="en-US" dirty="0">
                    <a:solidFill>
                      <a:srgbClr val="0000FF"/>
                    </a:solidFill>
                  </a:rPr>
                  <a:t>大小</a:t>
                </a:r>
                <a:r>
                  <a:rPr lang="zh-CN" altLang="en-US" dirty="0"/>
                  <a:t>，又有</a:t>
                </a:r>
                <a:r>
                  <a:rPr lang="zh-CN" altLang="en-US" dirty="0">
                    <a:solidFill>
                      <a:srgbClr val="0000FF"/>
                    </a:solidFill>
                  </a:rPr>
                  <a:t>方向</a:t>
                </a:r>
                <a:r>
                  <a:rPr lang="zh-CN" altLang="en-US" dirty="0"/>
                  <a:t>的量，也称为矢量。</a:t>
                </a:r>
                <a:endParaRPr lang="en-US" altLang="zh-CN" dirty="0"/>
              </a:p>
              <a:p>
                <a:pPr lvl="3"/>
                <a:r>
                  <a:rPr lang="zh-CN" altLang="en-US" dirty="0"/>
                  <a:t>通常用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lang="zh-CN" altLang="en-US" dirty="0"/>
                  <a:t> 的样式表示（本课程为了书写方便，用大写的字母表示一个向量）</a:t>
                </a:r>
                <a:endParaRPr lang="en-US" altLang="zh-CN" dirty="0"/>
              </a:p>
              <a:p>
                <a:pPr lvl="3"/>
                <a:r>
                  <a:rPr lang="zh-CN" altLang="en-US" dirty="0"/>
                  <a:t>二维坐标系中，一个向量代表从原点出发具有方向的一条线，向量</a:t>
                </a:r>
                <a:r>
                  <a:rPr lang="en-US" altLang="zh-CN" dirty="0"/>
                  <a:t>X=(x1,x2)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其中</a:t>
                </a:r>
                <a:r>
                  <a:rPr lang="en-US" altLang="zh-CN" dirty="0"/>
                  <a:t>(x1,x2)</a:t>
                </a:r>
                <a:r>
                  <a:rPr lang="zh-CN" altLang="en-US" dirty="0"/>
                  <a:t>是向量的终点。</a:t>
                </a:r>
                <a:endParaRPr lang="en-US" altLang="zh-CN" dirty="0"/>
              </a:p>
              <a:p>
                <a:pPr lvl="3"/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4BB3CED-C054-4F05-AFAF-8524679EF2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6" t="-2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7A3311-C164-43EE-A6FD-55B91F6E1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D448C60-8962-429C-BFF5-469763005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10</a:t>
            </a:fld>
            <a:endParaRPr lang="en-US" altLang="zh-CN" dirty="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3889F641-BB41-4DC1-A5EB-AB0052D3B527}"/>
              </a:ext>
            </a:extLst>
          </p:cNvPr>
          <p:cNvCxnSpPr>
            <a:cxnSpLocks/>
          </p:cNvCxnSpPr>
          <p:nvPr/>
        </p:nvCxnSpPr>
        <p:spPr bwMode="auto">
          <a:xfrm>
            <a:off x="3231665" y="6306005"/>
            <a:ext cx="311614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10253CA4-B8BA-4D43-918A-67726C510D57}"/>
              </a:ext>
            </a:extLst>
          </p:cNvPr>
          <p:cNvCxnSpPr>
            <a:cxnSpLocks/>
          </p:cNvCxnSpPr>
          <p:nvPr/>
        </p:nvCxnSpPr>
        <p:spPr bwMode="auto">
          <a:xfrm flipV="1">
            <a:off x="3231665" y="4834269"/>
            <a:ext cx="0" cy="147173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DBAF7367-AEFD-4E3F-9CB7-8DAB2A2A22B5}"/>
              </a:ext>
            </a:extLst>
          </p:cNvPr>
          <p:cNvCxnSpPr>
            <a:cxnSpLocks/>
          </p:cNvCxnSpPr>
          <p:nvPr/>
        </p:nvCxnSpPr>
        <p:spPr bwMode="auto">
          <a:xfrm flipV="1">
            <a:off x="3231665" y="5560196"/>
            <a:ext cx="653915" cy="745809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7D91CEBE-656E-4A33-89A0-2EDB5F763514}"/>
              </a:ext>
            </a:extLst>
          </p:cNvPr>
          <p:cNvSpPr txBox="1"/>
          <p:nvPr/>
        </p:nvSpPr>
        <p:spPr>
          <a:xfrm>
            <a:off x="6491822" y="6079104"/>
            <a:ext cx="653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X1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23309C9-3CE1-423A-A711-6386D2054903}"/>
              </a:ext>
            </a:extLst>
          </p:cNvPr>
          <p:cNvSpPr txBox="1"/>
          <p:nvPr/>
        </p:nvSpPr>
        <p:spPr>
          <a:xfrm>
            <a:off x="3219573" y="4725144"/>
            <a:ext cx="666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X2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1FBC6A0-962E-48C6-91EF-5FC6E2B62881}"/>
              </a:ext>
            </a:extLst>
          </p:cNvPr>
          <p:cNvSpPr txBox="1"/>
          <p:nvPr/>
        </p:nvSpPr>
        <p:spPr>
          <a:xfrm>
            <a:off x="2909050" y="6228020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55BD4AC-99CB-4D50-9FFB-BB4B33F05057}"/>
              </a:ext>
            </a:extLst>
          </p:cNvPr>
          <p:cNvSpPr txBox="1"/>
          <p:nvPr/>
        </p:nvSpPr>
        <p:spPr>
          <a:xfrm>
            <a:off x="9228494" y="4124232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</a:t>
            </a:r>
            <a:endParaRPr lang="zh-CN" altLang="en-US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6ACF62F-B7F6-4876-B8ED-C50EA43E43B6}"/>
              </a:ext>
            </a:extLst>
          </p:cNvPr>
          <p:cNvCxnSpPr>
            <a:cxnSpLocks/>
          </p:cNvCxnSpPr>
          <p:nvPr/>
        </p:nvCxnSpPr>
        <p:spPr bwMode="auto">
          <a:xfrm>
            <a:off x="3885580" y="5618704"/>
            <a:ext cx="0" cy="68730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3A3CACA-E091-4F91-A656-6D02160531BB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6891" y="5546419"/>
            <a:ext cx="723461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E3BDCA71-49F8-42B4-BD0A-804D1068B447}"/>
              </a:ext>
            </a:extLst>
          </p:cNvPr>
          <p:cNvSpPr txBox="1"/>
          <p:nvPr/>
        </p:nvSpPr>
        <p:spPr>
          <a:xfrm>
            <a:off x="3645813" y="6237312"/>
            <a:ext cx="653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x1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9F1C720-DC8E-491F-80F6-2A70C0D4E7B2}"/>
              </a:ext>
            </a:extLst>
          </p:cNvPr>
          <p:cNvSpPr txBox="1"/>
          <p:nvPr/>
        </p:nvSpPr>
        <p:spPr>
          <a:xfrm>
            <a:off x="2792760" y="5417863"/>
            <a:ext cx="653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x2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FFB53984-0D5A-41E7-B3AB-F1B64CBE9442}"/>
                  </a:ext>
                </a:extLst>
              </p:cNvPr>
              <p:cNvSpPr txBox="1"/>
              <p:nvPr/>
            </p:nvSpPr>
            <p:spPr>
              <a:xfrm>
                <a:off x="3914017" y="5253775"/>
                <a:ext cx="1148556" cy="5852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/>
                  <a:t>X=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FFB53984-0D5A-41E7-B3AB-F1B64CBE9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4017" y="5253775"/>
                <a:ext cx="1148556" cy="585288"/>
              </a:xfrm>
              <a:prstGeom prst="rect">
                <a:avLst/>
              </a:prstGeom>
              <a:blipFill>
                <a:blip r:embed="rId3"/>
                <a:stretch>
                  <a:fillRect l="-42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2882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9" grpId="0"/>
      <p:bldP spid="20" grpId="0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59E588-4C95-4CDC-8299-A746EBD38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函数的梯度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4BB3CED-C054-4F05-AFAF-8524679EF2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知识回顾：向量及其基本运算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向量的定义</a:t>
                </a:r>
                <a:endParaRPr lang="en-US" altLang="zh-CN" dirty="0"/>
              </a:p>
              <a:p>
                <a:pPr lvl="2"/>
                <a:r>
                  <a:rPr lang="zh-CN" altLang="en-US" dirty="0">
                    <a:solidFill>
                      <a:srgbClr val="0000FF"/>
                    </a:solidFill>
                  </a:rPr>
                  <a:t>向量的模</a:t>
                </a:r>
                <a:r>
                  <a:rPr lang="zh-CN" altLang="en-US" dirty="0"/>
                  <a:t>：对于向量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dirty="0"/>
                  <a:t>，用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或</m:t>
                    </m:r>
                    <m:d>
                      <m:dPr>
                        <m:begChr m:val="‖"/>
                        <m:endChr m:val="‖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表示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向量的长度</a:t>
                </a:r>
                <a:r>
                  <a:rPr lang="zh-CN" altLang="en-US" dirty="0"/>
                  <a:t>，也称为向量的模。</a:t>
                </a:r>
                <a:endParaRPr lang="en-US" altLang="zh-CN" dirty="0"/>
              </a:p>
              <a:p>
                <a:pPr lvl="3"/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4BB3CED-C054-4F05-AFAF-8524679EF2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66" t="-2083" r="-48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7A3311-C164-43EE-A6FD-55B91F6E1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D448C60-8962-429C-BFF5-469763005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11</a:t>
            </a:fld>
            <a:endParaRPr lang="en-US" altLang="zh-CN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9563D007-5717-4C74-A633-66CA522763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9720031"/>
              </p:ext>
            </p:extLst>
          </p:nvPr>
        </p:nvGraphicFramePr>
        <p:xfrm>
          <a:off x="2000672" y="3573016"/>
          <a:ext cx="5256584" cy="1188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33360" imgH="482400" progId="Equation.DSMT4">
                  <p:embed/>
                </p:oleObj>
              </mc:Choice>
              <mc:Fallback>
                <p:oleObj name="Equation" r:id="rId4" imgW="2133360" imgH="4824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9563D007-5717-4C74-A633-66CA522763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00672" y="3573016"/>
                        <a:ext cx="5256584" cy="11889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D63407BE-FFFF-4712-B04B-90A004853A3A}"/>
              </a:ext>
            </a:extLst>
          </p:cNvPr>
          <p:cNvCxnSpPr>
            <a:cxnSpLocks/>
          </p:cNvCxnSpPr>
          <p:nvPr/>
        </p:nvCxnSpPr>
        <p:spPr bwMode="auto">
          <a:xfrm>
            <a:off x="3231665" y="6306005"/>
            <a:ext cx="311614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DA912AC4-5428-41BE-A80F-32A2EA7920B1}"/>
              </a:ext>
            </a:extLst>
          </p:cNvPr>
          <p:cNvCxnSpPr>
            <a:cxnSpLocks/>
          </p:cNvCxnSpPr>
          <p:nvPr/>
        </p:nvCxnSpPr>
        <p:spPr bwMode="auto">
          <a:xfrm flipV="1">
            <a:off x="3231665" y="4834269"/>
            <a:ext cx="0" cy="147173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E8452CD-9318-48AF-8BD4-737972177877}"/>
              </a:ext>
            </a:extLst>
          </p:cNvPr>
          <p:cNvCxnSpPr>
            <a:cxnSpLocks/>
          </p:cNvCxnSpPr>
          <p:nvPr/>
        </p:nvCxnSpPr>
        <p:spPr bwMode="auto">
          <a:xfrm flipV="1">
            <a:off x="3231665" y="5560196"/>
            <a:ext cx="653915" cy="745809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98C12E93-9822-4AA3-9FB7-F09F3933EE2D}"/>
              </a:ext>
            </a:extLst>
          </p:cNvPr>
          <p:cNvSpPr txBox="1"/>
          <p:nvPr/>
        </p:nvSpPr>
        <p:spPr>
          <a:xfrm>
            <a:off x="6491822" y="6079104"/>
            <a:ext cx="653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X1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D64C627-C2E2-4C30-8DFE-D37CAA17750F}"/>
              </a:ext>
            </a:extLst>
          </p:cNvPr>
          <p:cNvSpPr txBox="1"/>
          <p:nvPr/>
        </p:nvSpPr>
        <p:spPr>
          <a:xfrm>
            <a:off x="3219573" y="4725144"/>
            <a:ext cx="666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X2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F2AC6B7-39BA-452F-B656-B7A3CD18C564}"/>
              </a:ext>
            </a:extLst>
          </p:cNvPr>
          <p:cNvSpPr txBox="1"/>
          <p:nvPr/>
        </p:nvSpPr>
        <p:spPr>
          <a:xfrm>
            <a:off x="2909050" y="6228020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</a:t>
            </a:r>
            <a:endParaRPr lang="zh-CN" altLang="en-US" dirty="0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B6FB1C93-811E-4161-953A-2E2A7C299129}"/>
              </a:ext>
            </a:extLst>
          </p:cNvPr>
          <p:cNvCxnSpPr>
            <a:cxnSpLocks/>
          </p:cNvCxnSpPr>
          <p:nvPr/>
        </p:nvCxnSpPr>
        <p:spPr bwMode="auto">
          <a:xfrm>
            <a:off x="3885580" y="5618704"/>
            <a:ext cx="0" cy="68730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C7D8CC6-6A2B-4685-B0D9-D38A669458BA}"/>
              </a:ext>
            </a:extLst>
          </p:cNvPr>
          <p:cNvCxnSpPr>
            <a:cxnSpLocks/>
          </p:cNvCxnSpPr>
          <p:nvPr/>
        </p:nvCxnSpPr>
        <p:spPr bwMode="auto">
          <a:xfrm flipH="1">
            <a:off x="3196891" y="5546419"/>
            <a:ext cx="723461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B64F3B86-44E2-4157-9E83-7CDC31219E6C}"/>
              </a:ext>
            </a:extLst>
          </p:cNvPr>
          <p:cNvSpPr txBox="1"/>
          <p:nvPr/>
        </p:nvSpPr>
        <p:spPr>
          <a:xfrm>
            <a:off x="3645813" y="6237312"/>
            <a:ext cx="653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x1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9FED242-E54E-4667-B569-DD85F182A895}"/>
              </a:ext>
            </a:extLst>
          </p:cNvPr>
          <p:cNvSpPr txBox="1"/>
          <p:nvPr/>
        </p:nvSpPr>
        <p:spPr>
          <a:xfrm>
            <a:off x="2792760" y="5417863"/>
            <a:ext cx="653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x2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4BDBE084-BF28-4577-B897-007C652970C9}"/>
                  </a:ext>
                </a:extLst>
              </p:cNvPr>
              <p:cNvSpPr txBox="1"/>
              <p:nvPr/>
            </p:nvSpPr>
            <p:spPr>
              <a:xfrm>
                <a:off x="3914017" y="5253775"/>
                <a:ext cx="1148556" cy="5852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/>
                  <a:t>X=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4BDBE084-BF28-4577-B897-007C65297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4017" y="5253775"/>
                <a:ext cx="1148556" cy="585288"/>
              </a:xfrm>
              <a:prstGeom prst="rect">
                <a:avLst/>
              </a:prstGeom>
              <a:blipFill>
                <a:blip r:embed="rId6"/>
                <a:stretch>
                  <a:fillRect l="-42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248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59E588-4C95-4CDC-8299-A746EBD38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函数的梯度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BB3CED-C054-4F05-AFAF-8524679EF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知识回顾：向量及其基本运算</a:t>
            </a:r>
            <a:endParaRPr lang="en-US" altLang="zh-CN" dirty="0"/>
          </a:p>
          <a:p>
            <a:pPr lvl="1"/>
            <a:r>
              <a:rPr lang="zh-CN" altLang="en-US" dirty="0"/>
              <a:t>向量点积运算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7A3311-C164-43EE-A6FD-55B91F6E1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D448C60-8962-429C-BFF5-469763005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97300" y="6516171"/>
            <a:ext cx="2311400" cy="271098"/>
          </a:xfrm>
        </p:spPr>
        <p:txBody>
          <a:bodyPr/>
          <a:lstStyle/>
          <a:p>
            <a:fld id="{7AC79822-BC0D-4DE8-A7E5-90A3732A2B82}" type="slidenum">
              <a:rPr lang="zh-CN" altLang="en-US" smtClean="0"/>
              <a:pPr/>
              <a:t>12</a:t>
            </a:fld>
            <a:endParaRPr lang="en-US" altLang="zh-CN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9563D007-5717-4C74-A633-66CA522763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7554544"/>
              </p:ext>
            </p:extLst>
          </p:nvPr>
        </p:nvGraphicFramePr>
        <p:xfrm>
          <a:off x="488504" y="2639199"/>
          <a:ext cx="5099050" cy="300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70000" imgH="1218960" progId="Equation.DSMT4">
                  <p:embed/>
                </p:oleObj>
              </mc:Choice>
              <mc:Fallback>
                <p:oleObj name="Equation" r:id="rId2" imgW="2070000" imgH="12189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9563D007-5717-4C74-A633-66CA522763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88504" y="2639199"/>
                        <a:ext cx="5099050" cy="3005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D63407BE-FFFF-4712-B04B-90A004853A3A}"/>
              </a:ext>
            </a:extLst>
          </p:cNvPr>
          <p:cNvCxnSpPr>
            <a:cxnSpLocks/>
          </p:cNvCxnSpPr>
          <p:nvPr/>
        </p:nvCxnSpPr>
        <p:spPr bwMode="auto">
          <a:xfrm>
            <a:off x="6172197" y="4394733"/>
            <a:ext cx="349440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DA912AC4-5428-41BE-A80F-32A2EA7920B1}"/>
              </a:ext>
            </a:extLst>
          </p:cNvPr>
          <p:cNvCxnSpPr>
            <a:cxnSpLocks/>
          </p:cNvCxnSpPr>
          <p:nvPr/>
        </p:nvCxnSpPr>
        <p:spPr bwMode="auto">
          <a:xfrm flipV="1">
            <a:off x="6172197" y="1844824"/>
            <a:ext cx="0" cy="254990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E8452CD-9318-48AF-8BD4-737972177877}"/>
              </a:ext>
            </a:extLst>
          </p:cNvPr>
          <p:cNvCxnSpPr>
            <a:cxnSpLocks/>
          </p:cNvCxnSpPr>
          <p:nvPr/>
        </p:nvCxnSpPr>
        <p:spPr bwMode="auto">
          <a:xfrm flipV="1">
            <a:off x="6172197" y="3648924"/>
            <a:ext cx="653915" cy="74581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98C12E93-9822-4AA3-9FB7-F09F3933EE2D}"/>
              </a:ext>
            </a:extLst>
          </p:cNvPr>
          <p:cNvSpPr txBox="1"/>
          <p:nvPr/>
        </p:nvSpPr>
        <p:spPr>
          <a:xfrm>
            <a:off x="9339647" y="4394733"/>
            <a:ext cx="653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X1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D64C627-C2E2-4C30-8DFE-D37CAA17750F}"/>
              </a:ext>
            </a:extLst>
          </p:cNvPr>
          <p:cNvSpPr txBox="1"/>
          <p:nvPr/>
        </p:nvSpPr>
        <p:spPr>
          <a:xfrm>
            <a:off x="6244639" y="1994327"/>
            <a:ext cx="666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X2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F2AC6B7-39BA-452F-B656-B7A3CD18C564}"/>
              </a:ext>
            </a:extLst>
          </p:cNvPr>
          <p:cNvSpPr txBox="1"/>
          <p:nvPr/>
        </p:nvSpPr>
        <p:spPr>
          <a:xfrm>
            <a:off x="5948242" y="4338623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</a:t>
            </a:r>
            <a:endParaRPr lang="zh-CN" altLang="en-US" dirty="0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B6FB1C93-811E-4161-953A-2E2A7C299129}"/>
              </a:ext>
            </a:extLst>
          </p:cNvPr>
          <p:cNvCxnSpPr>
            <a:cxnSpLocks/>
          </p:cNvCxnSpPr>
          <p:nvPr/>
        </p:nvCxnSpPr>
        <p:spPr bwMode="auto">
          <a:xfrm>
            <a:off x="6826112" y="3707432"/>
            <a:ext cx="0" cy="68730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C7D8CC6-6A2B-4685-B0D9-D38A669458BA}"/>
              </a:ext>
            </a:extLst>
          </p:cNvPr>
          <p:cNvCxnSpPr>
            <a:cxnSpLocks/>
          </p:cNvCxnSpPr>
          <p:nvPr/>
        </p:nvCxnSpPr>
        <p:spPr bwMode="auto">
          <a:xfrm flipH="1">
            <a:off x="6137423" y="3635147"/>
            <a:ext cx="723462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B64F3B86-44E2-4157-9E83-7CDC31219E6C}"/>
              </a:ext>
            </a:extLst>
          </p:cNvPr>
          <p:cNvSpPr txBox="1"/>
          <p:nvPr/>
        </p:nvSpPr>
        <p:spPr>
          <a:xfrm>
            <a:off x="6628153" y="4437112"/>
            <a:ext cx="653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x1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9FED242-E54E-4667-B569-DD85F182A895}"/>
              </a:ext>
            </a:extLst>
          </p:cNvPr>
          <p:cNvSpPr txBox="1"/>
          <p:nvPr/>
        </p:nvSpPr>
        <p:spPr>
          <a:xfrm>
            <a:off x="5733292" y="3506591"/>
            <a:ext cx="653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x2</a:t>
            </a:r>
            <a:endParaRPr lang="zh-CN" altLang="en-US" dirty="0"/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9DD1DFB5-E0DD-4B0B-B23B-2C1126E8133F}"/>
              </a:ext>
            </a:extLst>
          </p:cNvPr>
          <p:cNvCxnSpPr>
            <a:cxnSpLocks/>
          </p:cNvCxnSpPr>
          <p:nvPr/>
        </p:nvCxnSpPr>
        <p:spPr bwMode="auto">
          <a:xfrm flipV="1">
            <a:off x="6162403" y="3763704"/>
            <a:ext cx="1992032" cy="641331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DED0434-4B30-435E-A295-862123458BE3}"/>
              </a:ext>
            </a:extLst>
          </p:cNvPr>
          <p:cNvCxnSpPr/>
          <p:nvPr/>
        </p:nvCxnSpPr>
        <p:spPr bwMode="auto">
          <a:xfrm>
            <a:off x="6387205" y="4141768"/>
            <a:ext cx="171711" cy="15591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C08D279F-3D80-48F3-B332-9FC70E8198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6347926"/>
              </p:ext>
            </p:extLst>
          </p:nvPr>
        </p:nvGraphicFramePr>
        <p:xfrm>
          <a:off x="6735187" y="3178010"/>
          <a:ext cx="445333" cy="413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7480" imgH="164880" progId="Equation.DSMT4">
                  <p:embed/>
                </p:oleObj>
              </mc:Choice>
              <mc:Fallback>
                <p:oleObj name="Equation" r:id="rId4" imgW="17748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735187" y="3178010"/>
                        <a:ext cx="445333" cy="4135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CD2CE573-3600-4677-919E-49169685C4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7937521"/>
              </p:ext>
            </p:extLst>
          </p:nvPr>
        </p:nvGraphicFramePr>
        <p:xfrm>
          <a:off x="8246486" y="3511550"/>
          <a:ext cx="350837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" imgH="164880" progId="Equation.DSMT4">
                  <p:embed/>
                </p:oleObj>
              </mc:Choice>
              <mc:Fallback>
                <p:oleObj name="Equation" r:id="rId6" imgW="139680" imgH="16488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C08D279F-3D80-48F3-B332-9FC70E8198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246486" y="3511550"/>
                        <a:ext cx="350837" cy="414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197673FA-6E65-47FA-B3FD-95B5C904DA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1876580"/>
              </p:ext>
            </p:extLst>
          </p:nvPr>
        </p:nvGraphicFramePr>
        <p:xfrm>
          <a:off x="6522461" y="3938588"/>
          <a:ext cx="244475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6720" imgH="177480" progId="Equation.DSMT4">
                  <p:embed/>
                </p:oleObj>
              </mc:Choice>
              <mc:Fallback>
                <p:oleObj name="Equation" r:id="rId8" imgW="1267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522461" y="3938588"/>
                        <a:ext cx="244475" cy="341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8227B28-C7E4-478F-929A-A18BFC811E9F}"/>
              </a:ext>
            </a:extLst>
          </p:cNvPr>
          <p:cNvCxnSpPr>
            <a:cxnSpLocks/>
          </p:cNvCxnSpPr>
          <p:nvPr/>
        </p:nvCxnSpPr>
        <p:spPr bwMode="auto">
          <a:xfrm>
            <a:off x="8138258" y="3749811"/>
            <a:ext cx="0" cy="64492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67954DC9-A67E-4D10-8438-0938137962FD}"/>
              </a:ext>
            </a:extLst>
          </p:cNvPr>
          <p:cNvCxnSpPr>
            <a:cxnSpLocks/>
          </p:cNvCxnSpPr>
          <p:nvPr/>
        </p:nvCxnSpPr>
        <p:spPr bwMode="auto">
          <a:xfrm flipH="1">
            <a:off x="6172197" y="3749811"/>
            <a:ext cx="1833332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0B9CD291-5E6A-4326-84A5-4F785EC3D7DC}"/>
              </a:ext>
            </a:extLst>
          </p:cNvPr>
          <p:cNvSpPr txBox="1"/>
          <p:nvPr/>
        </p:nvSpPr>
        <p:spPr>
          <a:xfrm>
            <a:off x="7896724" y="4437112"/>
            <a:ext cx="653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y1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84AE1AA-FE72-46A5-A51B-88D3EEA745AE}"/>
              </a:ext>
            </a:extLst>
          </p:cNvPr>
          <p:cNvSpPr txBox="1"/>
          <p:nvPr/>
        </p:nvSpPr>
        <p:spPr>
          <a:xfrm>
            <a:off x="5760321" y="3691818"/>
            <a:ext cx="653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y2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6186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6" grpId="0"/>
      <p:bldP spid="17" grpId="0"/>
      <p:bldP spid="28" grpId="0"/>
      <p:bldP spid="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59E588-4C95-4CDC-8299-A746EBD38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函数的梯度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BB3CED-C054-4F05-AFAF-8524679EF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函数梯度的定义</a:t>
            </a:r>
            <a:endParaRPr lang="en-US" altLang="zh-CN" dirty="0"/>
          </a:p>
          <a:p>
            <a:pPr lvl="1"/>
            <a:r>
              <a:rPr lang="zh-CN" altLang="en-US" dirty="0"/>
              <a:t>当多元函数维度</a:t>
            </a:r>
            <a:r>
              <a:rPr lang="en-US" altLang="zh-CN" dirty="0"/>
              <a:t>n=2</a:t>
            </a:r>
            <a:r>
              <a:rPr lang="zh-CN" altLang="en-US" dirty="0"/>
              <a:t>时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7A3311-C164-43EE-A6FD-55B91F6E1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D448C60-8962-429C-BFF5-469763005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13</a:t>
            </a:fld>
            <a:endParaRPr lang="en-US" altLang="zh-CN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0B5E2C31-84B4-4210-8B9D-5623D81719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5300996"/>
              </p:ext>
            </p:extLst>
          </p:nvPr>
        </p:nvGraphicFramePr>
        <p:xfrm>
          <a:off x="1568624" y="2564904"/>
          <a:ext cx="5904655" cy="1013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14600" imgH="431640" progId="Equation.DSMT4">
                  <p:embed/>
                </p:oleObj>
              </mc:Choice>
              <mc:Fallback>
                <p:oleObj name="Equation" r:id="rId2" imgW="25146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68624" y="2564904"/>
                        <a:ext cx="5904655" cy="10139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DE2760F9-D64A-422D-A0DC-FB4729EC80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4347466"/>
              </p:ext>
            </p:extLst>
          </p:nvPr>
        </p:nvGraphicFramePr>
        <p:xfrm>
          <a:off x="2576736" y="3429000"/>
          <a:ext cx="4354513" cy="113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54000" imgH="482400" progId="Equation.DSMT4">
                  <p:embed/>
                </p:oleObj>
              </mc:Choice>
              <mc:Fallback>
                <p:oleObj name="Equation" r:id="rId4" imgW="1854000" imgH="4824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0B5E2C31-84B4-4210-8B9D-5623D81719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76736" y="3429000"/>
                        <a:ext cx="4354513" cy="1135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FF0AD04A-2EE4-4A09-9DAB-D7F8C3DE55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1773381"/>
              </p:ext>
            </p:extLst>
          </p:nvPr>
        </p:nvGraphicFramePr>
        <p:xfrm>
          <a:off x="2574414" y="4482975"/>
          <a:ext cx="2206625" cy="221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39600" imgH="939600" progId="Equation.DSMT4">
                  <p:embed/>
                </p:oleObj>
              </mc:Choice>
              <mc:Fallback>
                <p:oleObj name="Equation" r:id="rId6" imgW="939600" imgH="93960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F264CB03-E2BF-4575-9574-0D6880A00F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74414" y="4482975"/>
                        <a:ext cx="2206625" cy="2211387"/>
                      </a:xfrm>
                      <a:prstGeom prst="rect">
                        <a:avLst/>
                      </a:prstGeom>
                      <a:ln w="28575"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CD35C7F-2016-4F12-AEA6-6D88AC37FD30}"/>
              </a:ext>
            </a:extLst>
          </p:cNvPr>
          <p:cNvCxnSpPr>
            <a:cxnSpLocks/>
          </p:cNvCxnSpPr>
          <p:nvPr/>
        </p:nvCxnSpPr>
        <p:spPr bwMode="auto">
          <a:xfrm flipV="1">
            <a:off x="7257256" y="4067144"/>
            <a:ext cx="2308661" cy="996459"/>
          </a:xfrm>
          <a:prstGeom prst="straightConnector1">
            <a:avLst/>
          </a:prstGeom>
          <a:ln w="571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11D8129D-01AB-4F61-AA5B-8FDC13102C38}"/>
              </a:ext>
            </a:extLst>
          </p:cNvPr>
          <p:cNvSpPr txBox="1"/>
          <p:nvPr/>
        </p:nvSpPr>
        <p:spPr>
          <a:xfrm>
            <a:off x="9314056" y="3697812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</a:t>
            </a:r>
            <a:endParaRPr lang="zh-CN" altLang="en-US" dirty="0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A25C924-CC3E-44CB-9CDE-941C0961DA14}"/>
              </a:ext>
            </a:extLst>
          </p:cNvPr>
          <p:cNvCxnSpPr>
            <a:cxnSpLocks/>
          </p:cNvCxnSpPr>
          <p:nvPr/>
        </p:nvCxnSpPr>
        <p:spPr bwMode="auto">
          <a:xfrm flipH="1">
            <a:off x="7323781" y="5074515"/>
            <a:ext cx="1323048" cy="1493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592F9B13-EB4C-42AA-9F86-4D0E7EE5C4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8649860"/>
              </p:ext>
            </p:extLst>
          </p:nvPr>
        </p:nvGraphicFramePr>
        <p:xfrm>
          <a:off x="8324445" y="4566022"/>
          <a:ext cx="268288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0440" imgH="228600" progId="Equation.DSMT4">
                  <p:embed/>
                </p:oleObj>
              </mc:Choice>
              <mc:Fallback>
                <p:oleObj name="Equation" r:id="rId8" imgW="190440" imgH="22860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28DA0062-74D7-4F2E-BE61-60E491DC28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324445" y="4566022"/>
                        <a:ext cx="268288" cy="319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922C1A91-AFF1-4100-BEFD-2C08DA01B4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8185048"/>
              </p:ext>
            </p:extLst>
          </p:nvPr>
        </p:nvGraphicFramePr>
        <p:xfrm>
          <a:off x="7916443" y="5049668"/>
          <a:ext cx="241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1200" imgH="228600" progId="Equation.DSMT4">
                  <p:embed/>
                </p:oleObj>
              </mc:Choice>
              <mc:Fallback>
                <p:oleObj name="Equation" r:id="rId10" imgW="241200" imgH="22860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A1EFA2B8-B091-4C68-8D21-D47C4F53F0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916443" y="5049668"/>
                        <a:ext cx="241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AE067868-F83B-49FA-935D-972E5E00EB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6207129"/>
              </p:ext>
            </p:extLst>
          </p:nvPr>
        </p:nvGraphicFramePr>
        <p:xfrm>
          <a:off x="8636795" y="4704438"/>
          <a:ext cx="254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3800" imgH="228600" progId="Equation.DSMT4">
                  <p:embed/>
                </p:oleObj>
              </mc:Choice>
              <mc:Fallback>
                <p:oleObj name="Equation" r:id="rId12" imgW="253800" imgH="22860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B738944E-65AB-4A3F-8AE7-DEB72E88D9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636795" y="4704438"/>
                        <a:ext cx="254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7D56D84F-3D03-47E3-92CB-1A63A8269F01}"/>
              </a:ext>
            </a:extLst>
          </p:cNvPr>
          <p:cNvCxnSpPr>
            <a:cxnSpLocks/>
          </p:cNvCxnSpPr>
          <p:nvPr/>
        </p:nvCxnSpPr>
        <p:spPr bwMode="auto">
          <a:xfrm>
            <a:off x="8644713" y="4482975"/>
            <a:ext cx="2116" cy="56669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C0ACD5FD-26BD-42A7-A370-4C2074421C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4457908"/>
              </p:ext>
            </p:extLst>
          </p:nvPr>
        </p:nvGraphicFramePr>
        <p:xfrm>
          <a:off x="7698934" y="4773495"/>
          <a:ext cx="249237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7480" imgH="228600" progId="Equation.DSMT4">
                  <p:embed/>
                </p:oleObj>
              </mc:Choice>
              <mc:Fallback>
                <p:oleObj name="Equation" r:id="rId14" imgW="177480" imgH="22860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422CDF17-DB89-4C9D-AA55-91CA326A9C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698934" y="4773495"/>
                        <a:ext cx="249237" cy="319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2524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59E588-4C95-4CDC-8299-A746EBD38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函数的梯度公式推导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7A3311-C164-43EE-A6FD-55B91F6E1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D448C60-8962-429C-BFF5-469763005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14</a:t>
            </a:fld>
            <a:endParaRPr lang="en-US" altLang="zh-CN" dirty="0"/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F05D23D4-8701-46CB-93DC-A336B9B3EB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2773958"/>
              </p:ext>
            </p:extLst>
          </p:nvPr>
        </p:nvGraphicFramePr>
        <p:xfrm>
          <a:off x="3779848" y="1117833"/>
          <a:ext cx="3398837" cy="220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47560" imgH="939600" progId="Equation.DSMT4">
                  <p:embed/>
                </p:oleObj>
              </mc:Choice>
              <mc:Fallback>
                <p:oleObj name="Equation" r:id="rId2" imgW="1447560" imgH="93960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F05D23D4-8701-46CB-93DC-A336B9B3EB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779848" y="1117833"/>
                        <a:ext cx="3398837" cy="2208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F264CB03-E2BF-4575-9574-0D6880A00F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0952010"/>
              </p:ext>
            </p:extLst>
          </p:nvPr>
        </p:nvGraphicFramePr>
        <p:xfrm>
          <a:off x="484841" y="1117833"/>
          <a:ext cx="3252787" cy="221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84200" imgH="939600" progId="Equation.DSMT4">
                  <p:embed/>
                </p:oleObj>
              </mc:Choice>
              <mc:Fallback>
                <p:oleObj name="Equation" r:id="rId4" imgW="1384200" imgH="93960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F264CB03-E2BF-4575-9574-0D6880A00F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4841" y="1117833"/>
                        <a:ext cx="3252787" cy="2211387"/>
                      </a:xfrm>
                      <a:prstGeom prst="rect">
                        <a:avLst/>
                      </a:prstGeom>
                      <a:ln w="28575"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A802C24F-62D0-41B0-8117-04E48ECCC150}"/>
              </a:ext>
            </a:extLst>
          </p:cNvPr>
          <p:cNvCxnSpPr>
            <a:cxnSpLocks/>
          </p:cNvCxnSpPr>
          <p:nvPr/>
        </p:nvCxnSpPr>
        <p:spPr bwMode="auto">
          <a:xfrm flipV="1">
            <a:off x="7257256" y="4067144"/>
            <a:ext cx="2308661" cy="996459"/>
          </a:xfrm>
          <a:prstGeom prst="straightConnector1">
            <a:avLst/>
          </a:prstGeom>
          <a:ln w="571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D057A46-AE46-4711-BB32-03F35F6FD31D}"/>
              </a:ext>
            </a:extLst>
          </p:cNvPr>
          <p:cNvCxnSpPr>
            <a:cxnSpLocks/>
          </p:cNvCxnSpPr>
          <p:nvPr/>
        </p:nvCxnSpPr>
        <p:spPr bwMode="auto">
          <a:xfrm flipH="1">
            <a:off x="7323781" y="5074515"/>
            <a:ext cx="1323048" cy="1493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8071ABA7-12C7-4CFD-BA0D-65F36A0D44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0588201"/>
              </p:ext>
            </p:extLst>
          </p:nvPr>
        </p:nvGraphicFramePr>
        <p:xfrm>
          <a:off x="8324445" y="4566022"/>
          <a:ext cx="268288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0440" imgH="228600" progId="Equation.DSMT4">
                  <p:embed/>
                </p:oleObj>
              </mc:Choice>
              <mc:Fallback>
                <p:oleObj name="Equation" r:id="rId6" imgW="190440" imgH="22860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592F9B13-EB4C-42AA-9F86-4D0E7EE5C4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324445" y="4566022"/>
                        <a:ext cx="268288" cy="319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F08E0959-4706-4A17-8590-51F198D82A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4089107"/>
              </p:ext>
            </p:extLst>
          </p:nvPr>
        </p:nvGraphicFramePr>
        <p:xfrm>
          <a:off x="7916443" y="5049668"/>
          <a:ext cx="241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1200" imgH="228600" progId="Equation.DSMT4">
                  <p:embed/>
                </p:oleObj>
              </mc:Choice>
              <mc:Fallback>
                <p:oleObj name="Equation" r:id="rId8" imgW="241200" imgH="22860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922C1A91-AFF1-4100-BEFD-2C08DA01B4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916443" y="5049668"/>
                        <a:ext cx="241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DCB23821-1913-41A7-BD4F-056608B8EF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08887"/>
              </p:ext>
            </p:extLst>
          </p:nvPr>
        </p:nvGraphicFramePr>
        <p:xfrm>
          <a:off x="8636795" y="4704438"/>
          <a:ext cx="254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3800" imgH="228600" progId="Equation.DSMT4">
                  <p:embed/>
                </p:oleObj>
              </mc:Choice>
              <mc:Fallback>
                <p:oleObj name="Equation" r:id="rId10" imgW="253800" imgH="22860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AE067868-F83B-49FA-935D-972E5E00EB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636795" y="4704438"/>
                        <a:ext cx="254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3CFDB83-F656-4293-B284-C8C5F7BA5669}"/>
              </a:ext>
            </a:extLst>
          </p:cNvPr>
          <p:cNvCxnSpPr>
            <a:cxnSpLocks/>
          </p:cNvCxnSpPr>
          <p:nvPr/>
        </p:nvCxnSpPr>
        <p:spPr bwMode="auto">
          <a:xfrm>
            <a:off x="8644713" y="4482975"/>
            <a:ext cx="2116" cy="56669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FF493380-D3DF-44F4-9698-E96B2F0A10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2867552"/>
              </p:ext>
            </p:extLst>
          </p:nvPr>
        </p:nvGraphicFramePr>
        <p:xfrm>
          <a:off x="7698934" y="4773495"/>
          <a:ext cx="249237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7480" imgH="228600" progId="Equation.DSMT4">
                  <p:embed/>
                </p:oleObj>
              </mc:Choice>
              <mc:Fallback>
                <p:oleObj name="Equation" r:id="rId12" imgW="177480" imgH="22860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C0ACD5FD-26BD-42A7-A370-4C2074421C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698934" y="4773495"/>
                        <a:ext cx="249237" cy="319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42A454B8-BABA-4473-998E-265D90250BB4}"/>
              </a:ext>
            </a:extLst>
          </p:cNvPr>
          <p:cNvSpPr txBox="1"/>
          <p:nvPr/>
        </p:nvSpPr>
        <p:spPr>
          <a:xfrm>
            <a:off x="9314056" y="3697812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</a:t>
            </a:r>
            <a:endParaRPr lang="zh-CN" altLang="en-US" dirty="0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C900F998-03A6-4276-B989-F135361786BC}"/>
              </a:ext>
            </a:extLst>
          </p:cNvPr>
          <p:cNvCxnSpPr>
            <a:cxnSpLocks/>
            <a:endCxn id="6" idx="2"/>
          </p:cNvCxnSpPr>
          <p:nvPr/>
        </p:nvCxnSpPr>
        <p:spPr bwMode="auto">
          <a:xfrm flipV="1">
            <a:off x="7290709" y="3377984"/>
            <a:ext cx="888531" cy="1668556"/>
          </a:xfrm>
          <a:prstGeom prst="straightConnector1">
            <a:avLst/>
          </a:prstGeom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9F8AFC44-7D0F-4F03-9D0A-E342E1D72CAE}"/>
                  </a:ext>
                </a:extLst>
              </p:cNvPr>
              <p:cNvSpPr/>
              <p:nvPr/>
            </p:nvSpPr>
            <p:spPr>
              <a:xfrm>
                <a:off x="7671505" y="2080128"/>
                <a:ext cx="1015470" cy="12978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begChr m:val=""/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  <m:r>
                                          <a:rPr lang="zh-CN" altLang="en-US" i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zh-CN" altLang="en-US" i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zh-CN" altLang="en-US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begChr m:val=""/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altLang="en-US" i="0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  <m:r>
                                          <a:rPr lang="zh-CN" altLang="en-US" i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zh-CN" altLang="en-US" i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zh-CN" altLang="en-US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9F8AFC44-7D0F-4F03-9D0A-E342E1D72C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1505" y="2080128"/>
                <a:ext cx="1015470" cy="129785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E14815EB-C914-4F06-AEB2-8893093E66C1}"/>
              </a:ext>
            </a:extLst>
          </p:cNvPr>
          <p:cNvSpPr txBox="1"/>
          <p:nvPr/>
        </p:nvSpPr>
        <p:spPr>
          <a:xfrm>
            <a:off x="7290709" y="2128891"/>
            <a:ext cx="5040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方向向量</a:t>
            </a: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AE6D5D66-26EC-48C1-A820-702FA90CA763}"/>
              </a:ext>
            </a:extLst>
          </p:cNvPr>
          <p:cNvCxnSpPr>
            <a:cxnSpLocks/>
          </p:cNvCxnSpPr>
          <p:nvPr/>
        </p:nvCxnSpPr>
        <p:spPr bwMode="auto">
          <a:xfrm>
            <a:off x="7550214" y="4611265"/>
            <a:ext cx="153646" cy="228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D3167462-556E-4652-A0AF-AF0C6193FCB7}"/>
                  </a:ext>
                </a:extLst>
              </p:cNvPr>
              <p:cNvSpPr/>
              <p:nvPr/>
            </p:nvSpPr>
            <p:spPr>
              <a:xfrm>
                <a:off x="7495760" y="4363369"/>
                <a:ext cx="50405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D3167462-556E-4652-A0AF-AF0C6193FC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5760" y="4363369"/>
                <a:ext cx="504055" cy="46166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E878D4D0-A167-469F-B935-4E0B1AAB18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8928114"/>
              </p:ext>
            </p:extLst>
          </p:nvPr>
        </p:nvGraphicFramePr>
        <p:xfrm>
          <a:off x="3482996" y="4088436"/>
          <a:ext cx="2744787" cy="215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168200" imgH="914400" progId="Equation.DSMT4">
                  <p:embed/>
                </p:oleObj>
              </mc:Choice>
              <mc:Fallback>
                <p:oleObj name="Equation" r:id="rId17" imgW="1168200" imgH="91440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F264CB03-E2BF-4575-9574-0D6880A00F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482996" y="4088436"/>
                        <a:ext cx="2744787" cy="2151063"/>
                      </a:xfrm>
                      <a:prstGeom prst="rect">
                        <a:avLst/>
                      </a:prstGeom>
                      <a:ln w="2857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思想气泡: 云 29">
            <a:extLst>
              <a:ext uri="{FF2B5EF4-FFF2-40B4-BE49-F238E27FC236}">
                <a16:creationId xmlns:a16="http://schemas.microsoft.com/office/drawing/2014/main" id="{BDF58883-128D-418B-9073-0D0D781489C9}"/>
              </a:ext>
            </a:extLst>
          </p:cNvPr>
          <p:cNvSpPr/>
          <p:nvPr/>
        </p:nvSpPr>
        <p:spPr bwMode="auto">
          <a:xfrm>
            <a:off x="193090" y="3787928"/>
            <a:ext cx="3045595" cy="1013932"/>
          </a:xfrm>
          <a:prstGeom prst="cloudCallout">
            <a:avLst>
              <a:gd name="adj1" fmla="val 66282"/>
              <a:gd name="adj2" fmla="val 67641"/>
            </a:avLst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</a:rPr>
              <a:t>函数的梯度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773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6" grpId="0"/>
      <p:bldP spid="8" grpId="0"/>
      <p:bldP spid="28" grpId="0"/>
      <p:bldP spid="3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59E588-4C95-4CDC-8299-A746EBD38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函数的梯度公式推导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7A3311-C164-43EE-A6FD-55B91F6E1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D448C60-8962-429C-BFF5-469763005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15</a:t>
            </a:fld>
            <a:endParaRPr lang="en-US" altLang="zh-CN" dirty="0"/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F05D23D4-8701-46CB-93DC-A336B9B3EB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0155667"/>
              </p:ext>
            </p:extLst>
          </p:nvPr>
        </p:nvGraphicFramePr>
        <p:xfrm>
          <a:off x="2504728" y="2442865"/>
          <a:ext cx="3100388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20480" imgH="253800" progId="Equation.DSMT4">
                  <p:embed/>
                </p:oleObj>
              </mc:Choice>
              <mc:Fallback>
                <p:oleObj name="Equation" r:id="rId2" imgW="1320480" imgH="25380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F05D23D4-8701-46CB-93DC-A336B9B3EB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04728" y="2442865"/>
                        <a:ext cx="3100388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F264CB03-E2BF-4575-9574-0D6880A00F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3382544"/>
              </p:ext>
            </p:extLst>
          </p:nvPr>
        </p:nvGraphicFramePr>
        <p:xfrm>
          <a:off x="1453584" y="1354867"/>
          <a:ext cx="2954338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57120" imgH="393480" progId="Equation.DSMT4">
                  <p:embed/>
                </p:oleObj>
              </mc:Choice>
              <mc:Fallback>
                <p:oleObj name="Equation" r:id="rId4" imgW="1257120" imgH="39348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F264CB03-E2BF-4575-9574-0D6880A00F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53584" y="1354867"/>
                        <a:ext cx="2954338" cy="925513"/>
                      </a:xfrm>
                      <a:prstGeom prst="rect">
                        <a:avLst/>
                      </a:prstGeom>
                      <a:ln w="28575"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143DE793-2BE6-4573-9B5B-97529A54E8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9337726"/>
              </p:ext>
            </p:extLst>
          </p:nvPr>
        </p:nvGraphicFramePr>
        <p:xfrm>
          <a:off x="2238356" y="4704438"/>
          <a:ext cx="4830763" cy="1433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57400" imgH="609480" progId="Equation.DSMT4">
                  <p:embed/>
                </p:oleObj>
              </mc:Choice>
              <mc:Fallback>
                <p:oleObj name="Equation" r:id="rId6" imgW="2057400" imgH="6094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143DE793-2BE6-4573-9B5B-97529A54E8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38356" y="4704438"/>
                        <a:ext cx="4830763" cy="1433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思想气泡: 云 8">
            <a:extLst>
              <a:ext uri="{FF2B5EF4-FFF2-40B4-BE49-F238E27FC236}">
                <a16:creationId xmlns:a16="http://schemas.microsoft.com/office/drawing/2014/main" id="{8E0EE03D-65A1-4175-834E-B5BD4CDE8010}"/>
              </a:ext>
            </a:extLst>
          </p:cNvPr>
          <p:cNvSpPr/>
          <p:nvPr/>
        </p:nvSpPr>
        <p:spPr bwMode="auto">
          <a:xfrm>
            <a:off x="5605116" y="1551593"/>
            <a:ext cx="4004764" cy="1856600"/>
          </a:xfrm>
          <a:prstGeom prst="cloudCallout">
            <a:avLst>
              <a:gd name="adj1" fmla="val -806"/>
              <a:gd name="adj2" fmla="val 113314"/>
            </a:avLst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FA61B15-3E1D-4027-882F-9DFB665F12CA}"/>
                  </a:ext>
                </a:extLst>
              </p:cNvPr>
              <p:cNvSpPr txBox="1"/>
              <p:nvPr/>
            </p:nvSpPr>
            <p:spPr>
              <a:xfrm>
                <a:off x="5789358" y="1960592"/>
                <a:ext cx="4004765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latin typeface="Cambria Math" panose="02040503050406030204" pitchFamily="18" charset="0"/>
                        </a:rPr>
                        <m:t>𝜵</m:t>
                      </m:r>
                      <m:r>
                        <a:rPr lang="zh-CN" altLang="en-US" sz="2400" b="1" i="1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zh-CN" alt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zh-CN" altLang="en-US" sz="2400" b="1" i="1">
                          <a:latin typeface="Cambria Math" panose="02040503050406030204" pitchFamily="18" charset="0"/>
                        </a:rPr>
                        <m:t>也是一个方向向量，</m:t>
                      </m:r>
                    </m:oMath>
                  </m:oMathPara>
                </a14:m>
                <a:endParaRPr lang="en-US" altLang="zh-CN" sz="2400" b="1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zh-CN" altLang="en-US" sz="2400" b="1" i="1">
                        <a:latin typeface="Cambria Math" panose="02040503050406030204" pitchFamily="18" charset="0"/>
                      </a:rPr>
                      <m:t>当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zh-CN" altLang="en-US" sz="2400" b="1" i="1">
                        <a:latin typeface="Cambria Math" panose="02040503050406030204" pitchFamily="18" charset="0"/>
                      </a:rPr>
                      <m:t>取</m:t>
                    </m:r>
                    <m:r>
                      <a:rPr lang="zh-CN" altLang="en-US" sz="2400" b="1" i="1" smtClean="0">
                        <a:latin typeface="Cambria Math" panose="02040503050406030204" pitchFamily="18" charset="0"/>
                      </a:rPr>
                      <m:t>与</m:t>
                    </m:r>
                    <m:r>
                      <a:rPr lang="zh-CN" altLang="en-US" sz="2400" b="1" i="1">
                        <a:latin typeface="Cambria Math" panose="02040503050406030204" pitchFamily="18" charset="0"/>
                      </a:rPr>
                      <m:t>𝜵</m:t>
                    </m:r>
                    <m:r>
                      <a:rPr lang="zh-CN" altLang="en-US" sz="2400" b="1" i="1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zh-CN" altLang="en-US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zh-CN" altLang="en-US" sz="2400" b="1" i="1">
                        <a:latin typeface="Cambria Math" panose="02040503050406030204" pitchFamily="18" charset="0"/>
                      </a:rPr>
                      <m:t>同方向</m:t>
                    </m:r>
                    <m:r>
                      <a:rPr lang="zh-CN" altLang="en-US" sz="2400" b="1" i="1" smtClean="0">
                        <a:latin typeface="Cambria Math" panose="02040503050406030204" pitchFamily="18" charset="0"/>
                      </a:rPr>
                      <m:t>时</m:t>
                    </m:r>
                  </m:oMath>
                </a14:m>
                <a:r>
                  <a:rPr lang="zh-CN" altLang="en-US" sz="2400" b="1" dirty="0"/>
                  <a:t>，</a:t>
                </a:r>
                <a:endParaRPr lang="en-US" altLang="zh-CN" sz="2400" b="1" dirty="0"/>
              </a:p>
              <a:p>
                <a:pPr algn="ctr"/>
                <a:r>
                  <a:rPr lang="zh-CN" altLang="en-US" sz="2400" b="1" dirty="0">
                    <a:solidFill>
                      <a:srgbClr val="FF0000"/>
                    </a:solidFill>
                  </a:rPr>
                  <a:t>函数变化率最大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FA61B15-3E1D-4027-882F-9DFB665F1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9358" y="1960592"/>
                <a:ext cx="4004765" cy="1200329"/>
              </a:xfrm>
              <a:prstGeom prst="rect">
                <a:avLst/>
              </a:prstGeom>
              <a:blipFill>
                <a:blip r:embed="rId9"/>
                <a:stretch>
                  <a:fillRect b="-10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5502A238-488E-4FC0-A660-329426B237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1227419"/>
              </p:ext>
            </p:extLst>
          </p:nvPr>
        </p:nvGraphicFramePr>
        <p:xfrm>
          <a:off x="487363" y="3206995"/>
          <a:ext cx="3309937" cy="113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09400" imgH="482400" progId="Equation.DSMT4">
                  <p:embed/>
                </p:oleObj>
              </mc:Choice>
              <mc:Fallback>
                <p:oleObj name="Equation" r:id="rId10" imgW="1409400" imgH="48240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F05D23D4-8701-46CB-93DC-A336B9B3EB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87363" y="3206995"/>
                        <a:ext cx="3309937" cy="1135062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92D2E0FD-599B-4BDE-BC7C-338F0C3415CD}"/>
              </a:ext>
            </a:extLst>
          </p:cNvPr>
          <p:cNvCxnSpPr>
            <a:cxnSpLocks/>
          </p:cNvCxnSpPr>
          <p:nvPr/>
        </p:nvCxnSpPr>
        <p:spPr bwMode="auto">
          <a:xfrm flipV="1">
            <a:off x="7257256" y="4067144"/>
            <a:ext cx="2308661" cy="996459"/>
          </a:xfrm>
          <a:prstGeom prst="straightConnector1">
            <a:avLst/>
          </a:prstGeom>
          <a:ln w="5715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8B6863CC-B2E3-4431-9147-6C17698AB907}"/>
              </a:ext>
            </a:extLst>
          </p:cNvPr>
          <p:cNvSpPr txBox="1"/>
          <p:nvPr/>
        </p:nvSpPr>
        <p:spPr>
          <a:xfrm>
            <a:off x="9314056" y="3697812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</a:t>
            </a:r>
            <a:endParaRPr lang="zh-CN" altLang="en-US" dirty="0"/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18C72D34-B388-4684-B8D1-96CD94497F43}"/>
              </a:ext>
            </a:extLst>
          </p:cNvPr>
          <p:cNvCxnSpPr>
            <a:cxnSpLocks/>
          </p:cNvCxnSpPr>
          <p:nvPr/>
        </p:nvCxnSpPr>
        <p:spPr bwMode="auto">
          <a:xfrm flipV="1">
            <a:off x="7290709" y="3206995"/>
            <a:ext cx="1002064" cy="1839545"/>
          </a:xfrm>
          <a:prstGeom prst="straightConnector1">
            <a:avLst/>
          </a:prstGeom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549A0FE0-3054-4F29-AFB7-20FA52E7D989}"/>
              </a:ext>
            </a:extLst>
          </p:cNvPr>
          <p:cNvCxnSpPr>
            <a:cxnSpLocks/>
          </p:cNvCxnSpPr>
          <p:nvPr/>
        </p:nvCxnSpPr>
        <p:spPr bwMode="auto">
          <a:xfrm>
            <a:off x="7550214" y="4611265"/>
            <a:ext cx="153646" cy="2286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3BAE54E9-30D7-4E22-AEE6-080C2F7E86F6}"/>
                  </a:ext>
                </a:extLst>
              </p:cNvPr>
              <p:cNvSpPr/>
              <p:nvPr/>
            </p:nvSpPr>
            <p:spPr>
              <a:xfrm>
                <a:off x="7550214" y="4363369"/>
                <a:ext cx="44960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3BAE54E9-30D7-4E22-AEE6-080C2F7E86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0214" y="4363369"/>
                <a:ext cx="449601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C41873FE-DC32-45FE-92F7-67FF3CEACA15}"/>
                  </a:ext>
                </a:extLst>
              </p:cNvPr>
              <p:cNvSpPr/>
              <p:nvPr/>
            </p:nvSpPr>
            <p:spPr>
              <a:xfrm>
                <a:off x="8278247" y="3208138"/>
                <a:ext cx="93968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altLang="en-US" sz="200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C41873FE-DC32-45FE-92F7-67FF3CEACA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8247" y="3208138"/>
                <a:ext cx="939680" cy="400110"/>
              </a:xfrm>
              <a:prstGeom prst="rect">
                <a:avLst/>
              </a:prstGeom>
              <a:blipFill>
                <a:blip r:embed="rId13"/>
                <a:stretch>
                  <a:fillRect t="-122727" r="-61688" b="-1924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3832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/>
      <p:bldP spid="32" grpId="0"/>
      <p:bldP spid="37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59E588-4C95-4CDC-8299-A746EBD38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函数的梯度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4BB3CED-C054-4F05-AFAF-8524679EF2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函数梯度的定义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函数梯度（</a:t>
                </a:r>
                <a:r>
                  <a:rPr lang="en-US" altLang="zh-CN" dirty="0"/>
                  <a:t>n=2</a:t>
                </a:r>
                <a:r>
                  <a:rPr lang="zh-CN" altLang="en-US" dirty="0"/>
                  <a:t>）：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把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取得函数方向导数最大值</a:t>
                </a:r>
                <a:r>
                  <a:rPr lang="zh-CN" altLang="en-US" dirty="0"/>
                  <a:t>的向量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>
                        <a:latin typeface="Cambria Math" panose="02040503050406030204" pitchFamily="18" charset="0"/>
                      </a:rPr>
                      <m:t>∇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zh-CN" altLang="en-US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zh-CN" altLang="en-US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dirty="0"/>
                  <a:t>称为函数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在</m:t>
                    </m:r>
                  </m:oMath>
                </a14:m>
                <a:r>
                  <a:rPr lang="zh-CN" altLang="en-US" dirty="0"/>
                  <a:t>点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处</m:t>
                    </m:r>
                  </m:oMath>
                </a14:m>
                <a:r>
                  <a:rPr lang="zh-CN" altLang="en-US" dirty="0"/>
                  <a:t>的梯度</a:t>
                </a:r>
              </a:p>
              <a:p>
                <a:pPr lvl="3"/>
                <a:r>
                  <a:rPr lang="zh-CN" altLang="en-US" dirty="0"/>
                  <a:t>用符号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>
                        <a:latin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US" altLang="zh-CN" dirty="0"/>
                  <a:t>(grand)</a:t>
                </a:r>
                <a:r>
                  <a:rPr lang="zh-CN" altLang="en-US" dirty="0"/>
                  <a:t>表示梯度</a:t>
                </a:r>
                <a:endParaRPr lang="en-US" altLang="zh-CN" dirty="0"/>
              </a:p>
              <a:p>
                <a:pPr lvl="3"/>
                <a:r>
                  <a:rPr lang="zh-CN" altLang="en-US" dirty="0"/>
                  <a:t>一个函数的梯度是固定的，</a:t>
                </a:r>
                <a:r>
                  <a:rPr lang="zh-CN" altLang="en-US" dirty="0">
                    <a:solidFill>
                      <a:srgbClr val="0000FF"/>
                    </a:solidFill>
                  </a:rPr>
                  <a:t>与</a:t>
                </a:r>
                <a:r>
                  <a:rPr lang="en-US" altLang="zh-CN" dirty="0">
                    <a:solidFill>
                      <a:srgbClr val="0000FF"/>
                    </a:solidFill>
                  </a:rPr>
                  <a:t>S</a:t>
                </a:r>
                <a:r>
                  <a:rPr lang="zh-CN" altLang="en-US" dirty="0">
                    <a:solidFill>
                      <a:srgbClr val="0000FF"/>
                    </a:solidFill>
                  </a:rPr>
                  <a:t>方向无关</a:t>
                </a:r>
                <a:endParaRPr lang="en-US" altLang="zh-CN" dirty="0">
                  <a:solidFill>
                    <a:srgbClr val="0000FF"/>
                  </a:solidFill>
                </a:endParaRPr>
              </a:p>
              <a:p>
                <a:pPr lvl="3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>
                        <a:latin typeface="Cambria Math" panose="02040503050406030204" pitchFamily="18" charset="0"/>
                      </a:rPr>
                      <m:t>∇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zh-CN" altLang="en-US" dirty="0">
                    <a:solidFill>
                      <a:srgbClr val="0000FF"/>
                    </a:solidFill>
                  </a:rPr>
                  <a:t>有方向和大小</a:t>
                </a:r>
                <a:endParaRPr lang="en-US" altLang="zh-C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4BB3CED-C054-4F05-AFAF-8524679EF2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66" t="-2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7A3311-C164-43EE-A6FD-55B91F6E1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D448C60-8962-429C-BFF5-469763005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16</a:t>
            </a:fld>
            <a:endParaRPr lang="en-US" altLang="zh-CN" dirty="0"/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F264CB03-E2BF-4575-9574-0D6880A00F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6362587"/>
              </p:ext>
            </p:extLst>
          </p:nvPr>
        </p:nvGraphicFramePr>
        <p:xfrm>
          <a:off x="4520952" y="1196752"/>
          <a:ext cx="5191125" cy="131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09680" imgH="558720" progId="Equation.DSMT4">
                  <p:embed/>
                </p:oleObj>
              </mc:Choice>
              <mc:Fallback>
                <p:oleObj name="Equation" r:id="rId4" imgW="2209680" imgH="55872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F264CB03-E2BF-4575-9574-0D6880A00F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20952" y="1196752"/>
                        <a:ext cx="5191125" cy="1314450"/>
                      </a:xfrm>
                      <a:prstGeom prst="rect">
                        <a:avLst/>
                      </a:prstGeom>
                      <a:ln w="2857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4748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59E588-4C95-4CDC-8299-A746EBD38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函数的梯度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BB3CED-C054-4F05-AFAF-8524679EF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函数梯度的定义</a:t>
            </a:r>
            <a:endParaRPr lang="en-US" altLang="zh-CN" dirty="0"/>
          </a:p>
          <a:p>
            <a:pPr lvl="1"/>
            <a:r>
              <a:rPr lang="zh-CN" altLang="en-US" dirty="0"/>
              <a:t>函数梯度（</a:t>
            </a:r>
            <a:r>
              <a:rPr lang="en-US" altLang="zh-CN" dirty="0"/>
              <a:t>n</a:t>
            </a:r>
            <a:r>
              <a:rPr lang="zh-CN" altLang="en-US" dirty="0"/>
              <a:t>维函数）：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7A3311-C164-43EE-A6FD-55B91F6E1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D448C60-8962-429C-BFF5-469763005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17</a:t>
            </a:fld>
            <a:endParaRPr lang="en-US" altLang="zh-CN" dirty="0"/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F264CB03-E2BF-4575-9574-0D6880A00F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5897810"/>
              </p:ext>
            </p:extLst>
          </p:nvPr>
        </p:nvGraphicFramePr>
        <p:xfrm>
          <a:off x="1064568" y="2875185"/>
          <a:ext cx="7513638" cy="278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85920" imgH="1143000" progId="Equation.DSMT4">
                  <p:embed/>
                </p:oleObj>
              </mc:Choice>
              <mc:Fallback>
                <p:oleObj name="Equation" r:id="rId2" imgW="3085920" imgH="114300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F264CB03-E2BF-4575-9574-0D6880A00F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64568" y="2875185"/>
                        <a:ext cx="7513638" cy="2786063"/>
                      </a:xfrm>
                      <a:prstGeom prst="rect">
                        <a:avLst/>
                      </a:prstGeom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34858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17">
            <a:extLst>
              <a:ext uri="{FF2B5EF4-FFF2-40B4-BE49-F238E27FC236}">
                <a16:creationId xmlns:a16="http://schemas.microsoft.com/office/drawing/2014/main" id="{B06D9CE4-52CC-492B-A49F-8373E77B7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3240" y="3590991"/>
            <a:ext cx="2726288" cy="291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90C9C3C9-C320-4887-9778-1B290E882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函数的梯度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3C5992A-0AB9-4BF5-B208-4CDCE0E68C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函数梯度的性质</a:t>
                </a:r>
                <a:endParaRPr lang="en-US" altLang="zh-CN" dirty="0"/>
              </a:p>
              <a:p>
                <a:pPr lvl="1"/>
                <a:r>
                  <a:rPr lang="zh-CN" altLang="en-US" sz="2800" dirty="0"/>
                  <a:t>梯度</a:t>
                </a:r>
                <a14:m>
                  <m:oMath xmlns:m="http://schemas.openxmlformats.org/officeDocument/2006/math">
                    <m:r>
                      <a:rPr lang="zh-CN" altLang="en-US" sz="2800" i="1">
                        <a:latin typeface="Cambria Math" panose="02040503050406030204" pitchFamily="18" charset="0"/>
                      </a:rPr>
                      <m:t>𝛁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/>
                  <a:t>与过点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sz="2800" dirty="0"/>
                  <a:t>的</a:t>
                </a:r>
                <a:r>
                  <a:rPr lang="zh-CN" altLang="en-US" sz="2800" dirty="0">
                    <a:solidFill>
                      <a:srgbClr val="0000FF"/>
                    </a:solidFill>
                  </a:rPr>
                  <a:t>等值线正交（</a:t>
                </a:r>
                <a:r>
                  <a:rPr lang="zh-CN" altLang="en-US" sz="2800" dirty="0"/>
                  <a:t>垂直）</a:t>
                </a:r>
                <a:endParaRPr lang="en-US" altLang="zh-CN" sz="2800" dirty="0"/>
              </a:p>
              <a:p>
                <a:pPr lvl="1"/>
                <a:r>
                  <a:rPr lang="zh-CN" altLang="en-US" sz="2800" dirty="0"/>
                  <a:t>函数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在</m:t>
                    </m:r>
                  </m:oMath>
                </a14:m>
                <a:r>
                  <a:rPr lang="zh-CN" altLang="en-US" sz="2800" dirty="0"/>
                  <a:t>点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sz="2800" dirty="0"/>
                  <a:t>附件的</a:t>
                </a:r>
                <a:r>
                  <a:rPr lang="zh-CN" altLang="en-US" sz="2800" dirty="0">
                    <a:solidFill>
                      <a:srgbClr val="FF0000"/>
                    </a:solidFill>
                  </a:rPr>
                  <a:t>最速上升方向是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𝛁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800" dirty="0">
                    <a:solidFill>
                      <a:srgbClr val="0000FF"/>
                    </a:solidFill>
                  </a:rPr>
                  <a:t>最速下降方向是</a:t>
                </a:r>
                <a14:m>
                  <m:oMath xmlns:m="http://schemas.openxmlformats.org/officeDocument/2006/math">
                    <m:r>
                      <a:rPr lang="en-US" altLang="zh-CN" sz="28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8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sz="28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𝛁</m:t>
                    </m:r>
                    <m:r>
                      <a:rPr lang="en-US" altLang="zh-CN" sz="28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8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800" dirty="0"/>
              </a:p>
              <a:p>
                <a:pPr lvl="1"/>
                <a:r>
                  <a:rPr lang="zh-CN" altLang="en-US" sz="2800" dirty="0"/>
                  <a:t>不同点的函数梯度是不同的</a:t>
                </a:r>
                <a:endParaRPr lang="en-US" altLang="zh-CN" sz="2800" dirty="0"/>
              </a:p>
              <a:p>
                <a:pPr lvl="2"/>
                <a:r>
                  <a:rPr lang="zh-CN" altLang="en-US" sz="2400" dirty="0">
                    <a:solidFill>
                      <a:srgbClr val="FF0000"/>
                    </a:solidFill>
                  </a:rPr>
                  <a:t>函数的梯度只能反映某一点的局部特征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 lvl="2"/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3C5992A-0AB9-4BF5-B208-4CDCE0E68C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66" t="-2083" r="-7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D8289A-5A2B-4413-ABAB-34BF8C6EF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D120E63-969D-4EAD-BCA7-B96F9E98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18</a:t>
            </a:fld>
            <a:endParaRPr lang="en-US" altLang="zh-CN" dirty="0"/>
          </a:p>
        </p:txBody>
      </p:sp>
      <p:sp>
        <p:nvSpPr>
          <p:cNvPr id="39" name="流程图: 接点 38">
            <a:extLst>
              <a:ext uri="{FF2B5EF4-FFF2-40B4-BE49-F238E27FC236}">
                <a16:creationId xmlns:a16="http://schemas.microsoft.com/office/drawing/2014/main" id="{9E58AE7E-5188-4286-AEBF-37E5C9E1338A}"/>
              </a:ext>
            </a:extLst>
          </p:cNvPr>
          <p:cNvSpPr/>
          <p:nvPr/>
        </p:nvSpPr>
        <p:spPr bwMode="auto">
          <a:xfrm>
            <a:off x="8481391" y="4941168"/>
            <a:ext cx="144016" cy="144016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8506B2F6-4D35-4A2D-A844-817393F7D9A8}"/>
              </a:ext>
            </a:extLst>
          </p:cNvPr>
          <p:cNvCxnSpPr>
            <a:cxnSpLocks/>
          </p:cNvCxnSpPr>
          <p:nvPr/>
        </p:nvCxnSpPr>
        <p:spPr bwMode="auto">
          <a:xfrm>
            <a:off x="8553399" y="5085184"/>
            <a:ext cx="0" cy="57606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F626B50E-B324-457C-869E-601122288B06}"/>
              </a:ext>
            </a:extLst>
          </p:cNvPr>
          <p:cNvCxnSpPr>
            <a:stCxn id="39" idx="0"/>
          </p:cNvCxnSpPr>
          <p:nvPr/>
        </p:nvCxnSpPr>
        <p:spPr bwMode="auto">
          <a:xfrm flipV="1">
            <a:off x="8553399" y="4509120"/>
            <a:ext cx="0" cy="43204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18C73DB7-4BB1-4135-8D54-8E3E26AFE7DF}"/>
              </a:ext>
            </a:extLst>
          </p:cNvPr>
          <p:cNvCxnSpPr>
            <a:cxnSpLocks/>
            <a:stCxn id="38" idx="1"/>
            <a:endCxn id="38" idx="3"/>
          </p:cNvCxnSpPr>
          <p:nvPr/>
        </p:nvCxnSpPr>
        <p:spPr bwMode="auto">
          <a:xfrm>
            <a:off x="7113240" y="5048410"/>
            <a:ext cx="2726288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思想气泡: 云 47">
            <a:extLst>
              <a:ext uri="{FF2B5EF4-FFF2-40B4-BE49-F238E27FC236}">
                <a16:creationId xmlns:a16="http://schemas.microsoft.com/office/drawing/2014/main" id="{312D60C9-3767-44D3-8C41-99C89F3CE924}"/>
              </a:ext>
            </a:extLst>
          </p:cNvPr>
          <p:cNvSpPr/>
          <p:nvPr/>
        </p:nvSpPr>
        <p:spPr bwMode="auto">
          <a:xfrm>
            <a:off x="738329" y="4335825"/>
            <a:ext cx="4536504" cy="2465206"/>
          </a:xfrm>
          <a:prstGeom prst="cloudCallout">
            <a:avLst>
              <a:gd name="adj1" fmla="val 95784"/>
              <a:gd name="adj2" fmla="val -11055"/>
            </a:avLst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>
                <a:solidFill>
                  <a:srgbClr val="0000FF"/>
                </a:solidFill>
              </a:rPr>
              <a:t>沿着等值线方向的函数变化率为</a:t>
            </a:r>
            <a:r>
              <a:rPr lang="en-US" altLang="zh-CN" sz="2400" dirty="0">
                <a:solidFill>
                  <a:srgbClr val="0000FF"/>
                </a:solidFill>
              </a:rPr>
              <a:t>0</a:t>
            </a:r>
            <a:r>
              <a:rPr lang="zh-CN" altLang="en-US" sz="2400" dirty="0">
                <a:solidFill>
                  <a:srgbClr val="0000FF"/>
                </a:solidFill>
              </a:rPr>
              <a:t>，也就是说该方向与梯度方向的夹角为</a:t>
            </a:r>
            <a:r>
              <a:rPr lang="en-US" altLang="zh-CN" sz="2400" dirty="0">
                <a:solidFill>
                  <a:srgbClr val="0000FF"/>
                </a:solidFill>
              </a:rPr>
              <a:t>90</a:t>
            </a:r>
            <a:r>
              <a:rPr lang="zh-CN" altLang="en-US" sz="2400" dirty="0">
                <a:solidFill>
                  <a:srgbClr val="0000FF"/>
                </a:solidFill>
              </a:rPr>
              <a:t>度（余弦值为</a:t>
            </a:r>
            <a:r>
              <a:rPr lang="en-US" altLang="zh-CN" sz="2400" dirty="0">
                <a:solidFill>
                  <a:srgbClr val="0000FF"/>
                </a:solidFill>
              </a:rPr>
              <a:t>0</a:t>
            </a:r>
            <a:r>
              <a:rPr lang="zh-CN" altLang="en-US" sz="2400" dirty="0">
                <a:solidFill>
                  <a:srgbClr val="0000FF"/>
                </a:solidFill>
              </a:rPr>
              <a:t>）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234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C9C3C9-C320-4887-9778-1B290E882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函数的梯度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3C5992A-0AB9-4BF5-B208-4CDCE0E68C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函数梯度的性质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对于任意给定方向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dirty="0"/>
                  <a:t>，则根据梯度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latin typeface="Cambria Math" panose="02040503050406030204" pitchFamily="18" charset="0"/>
                      </a:rPr>
                      <m:t>𝛁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可以得到如下结论：</a:t>
                </a:r>
                <a:endParaRPr lang="en-US" altLang="zh-CN" dirty="0"/>
              </a:p>
              <a:p>
                <a:pPr marL="1428750" lvl="2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𝛁</m:t>
                    </m:r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CN" dirty="0"/>
                  <a:t>, </a:t>
                </a:r>
                <a:r>
                  <a:rPr lang="zh-CN" altLang="en-US" dirty="0"/>
                  <a:t>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dirty="0"/>
                  <a:t>是上升方向</a:t>
                </a:r>
                <a:endParaRPr lang="en-US" altLang="zh-CN" dirty="0"/>
              </a:p>
              <a:p>
                <a:pPr marL="1428750" lvl="2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𝛁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CN" dirty="0"/>
                  <a:t>, </a:t>
                </a:r>
                <a:r>
                  <a:rPr lang="zh-CN" altLang="en-US" dirty="0"/>
                  <a:t>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dirty="0"/>
                  <a:t>是下降方向</a:t>
                </a:r>
                <a:endParaRPr lang="en-US" altLang="zh-CN" dirty="0"/>
              </a:p>
              <a:p>
                <a:pPr marL="1428750" lvl="2" indent="-514350">
                  <a:buFont typeface="+mj-lt"/>
                  <a:buAutoNum type="arabicPeriod"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3C5992A-0AB9-4BF5-B208-4CDCE0E68C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66" t="-2083" r="-6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D8289A-5A2B-4413-ABAB-34BF8C6EF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D120E63-969D-4EAD-BCA7-B96F9E98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19</a:t>
            </a:fld>
            <a:endParaRPr lang="en-US" altLang="zh-CN" dirty="0"/>
          </a:p>
        </p:txBody>
      </p:sp>
      <p:pic>
        <p:nvPicPr>
          <p:cNvPr id="38" name="Picture 17">
            <a:extLst>
              <a:ext uri="{FF2B5EF4-FFF2-40B4-BE49-F238E27FC236}">
                <a16:creationId xmlns:a16="http://schemas.microsoft.com/office/drawing/2014/main" id="{B06D9CE4-52CC-492B-A49F-8373E77B7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2324" y="2746411"/>
            <a:ext cx="2726288" cy="291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流程图: 接点 38">
            <a:extLst>
              <a:ext uri="{FF2B5EF4-FFF2-40B4-BE49-F238E27FC236}">
                <a16:creationId xmlns:a16="http://schemas.microsoft.com/office/drawing/2014/main" id="{9E58AE7E-5188-4286-AEBF-37E5C9E1338A}"/>
              </a:ext>
            </a:extLst>
          </p:cNvPr>
          <p:cNvSpPr/>
          <p:nvPr/>
        </p:nvSpPr>
        <p:spPr bwMode="auto">
          <a:xfrm>
            <a:off x="8121351" y="4096588"/>
            <a:ext cx="144016" cy="144016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8506B2F6-4D35-4A2D-A844-817393F7D9A8}"/>
              </a:ext>
            </a:extLst>
          </p:cNvPr>
          <p:cNvCxnSpPr>
            <a:cxnSpLocks/>
          </p:cNvCxnSpPr>
          <p:nvPr/>
        </p:nvCxnSpPr>
        <p:spPr bwMode="auto">
          <a:xfrm>
            <a:off x="8193359" y="4240604"/>
            <a:ext cx="0" cy="57606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F626B50E-B324-457C-869E-601122288B06}"/>
              </a:ext>
            </a:extLst>
          </p:cNvPr>
          <p:cNvCxnSpPr>
            <a:stCxn id="39" idx="0"/>
          </p:cNvCxnSpPr>
          <p:nvPr/>
        </p:nvCxnSpPr>
        <p:spPr bwMode="auto">
          <a:xfrm flipV="1">
            <a:off x="8193359" y="3664540"/>
            <a:ext cx="0" cy="43204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18C73DB7-4BB1-4135-8D54-8E3E26AFE7DF}"/>
              </a:ext>
            </a:extLst>
          </p:cNvPr>
          <p:cNvCxnSpPr>
            <a:cxnSpLocks/>
            <a:stCxn id="38" idx="1"/>
            <a:endCxn id="38" idx="3"/>
          </p:cNvCxnSpPr>
          <p:nvPr/>
        </p:nvCxnSpPr>
        <p:spPr bwMode="auto">
          <a:xfrm>
            <a:off x="6802324" y="4203830"/>
            <a:ext cx="2726288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AA7208E-6D3C-46E9-AF32-07B03CF9D9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6988971"/>
              </p:ext>
            </p:extLst>
          </p:nvPr>
        </p:nvGraphicFramePr>
        <p:xfrm>
          <a:off x="1024279" y="4313939"/>
          <a:ext cx="5456914" cy="2280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52400" imgH="1066680" progId="Equation.DSMT4">
                  <p:embed/>
                </p:oleObj>
              </mc:Choice>
              <mc:Fallback>
                <p:oleObj name="Equation" r:id="rId5" imgW="2552400" imgH="1066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24279" y="4313939"/>
                        <a:ext cx="5456914" cy="2280502"/>
                      </a:xfrm>
                      <a:prstGeom prst="rect">
                        <a:avLst/>
                      </a:prstGeom>
                      <a:ln w="2857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0A54106C-AE2F-437A-B47C-3C7C25180822}"/>
              </a:ext>
            </a:extLst>
          </p:cNvPr>
          <p:cNvCxnSpPr/>
          <p:nvPr/>
        </p:nvCxnSpPr>
        <p:spPr bwMode="auto">
          <a:xfrm flipH="1" flipV="1">
            <a:off x="7666902" y="3780412"/>
            <a:ext cx="442064" cy="36979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ysDot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82D5497-2A78-49EE-BF77-05851275CE94}"/>
              </a:ext>
            </a:extLst>
          </p:cNvPr>
          <p:cNvCxnSpPr/>
          <p:nvPr/>
        </p:nvCxnSpPr>
        <p:spPr bwMode="auto">
          <a:xfrm flipH="1">
            <a:off x="7921352" y="4150209"/>
            <a:ext cx="270007" cy="52244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5">
                <a:lumMod val="50000"/>
              </a:schemeClr>
            </a:solidFill>
            <a:prstDash val="sysDot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44252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ADDD81-265C-4990-9A64-2D708696F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函数的梯度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6F519D-110D-4825-95CA-4C30616D4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（</a:t>
            </a:r>
            <a:r>
              <a:rPr lang="en-US" altLang="zh-CN" dirty="0"/>
              <a:t>P15</a:t>
            </a:r>
            <a:r>
              <a:rPr lang="zh-CN" altLang="en-US" dirty="0"/>
              <a:t>例</a:t>
            </a:r>
            <a:r>
              <a:rPr lang="en-US" altLang="zh-CN" dirty="0"/>
              <a:t>2-2</a:t>
            </a:r>
            <a:r>
              <a:rPr lang="zh-CN" altLang="en-US" dirty="0"/>
              <a:t>）：梯度的计算</a:t>
            </a:r>
            <a:endParaRPr lang="en-US" altLang="zh-CN" dirty="0"/>
          </a:p>
          <a:p>
            <a:pPr lvl="1"/>
            <a:r>
              <a:rPr lang="zh-CN" altLang="en-US" dirty="0"/>
              <a:t>求函数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在点                     处的梯度及梯度的模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DCE3D7-B0BA-42DD-BC6B-57217AFFD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B8D3B53-3BBB-48D2-88AA-2E5B434B4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20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5F0F643-66A1-4F94-9D31-B6E638B409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9176538"/>
              </p:ext>
            </p:extLst>
          </p:nvPr>
        </p:nvGraphicFramePr>
        <p:xfrm>
          <a:off x="2095026" y="1844824"/>
          <a:ext cx="7538494" cy="6254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08080" imgH="241200" progId="Equation.DSMT4">
                  <p:embed/>
                </p:oleObj>
              </mc:Choice>
              <mc:Fallback>
                <p:oleObj name="Equation" r:id="rId2" imgW="29080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95026" y="1844824"/>
                        <a:ext cx="7538494" cy="6254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9FFD7C8C-CF6E-4332-886D-FA97604AC3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7336670"/>
              </p:ext>
            </p:extLst>
          </p:nvPr>
        </p:nvGraphicFramePr>
        <p:xfrm>
          <a:off x="1491225" y="2524635"/>
          <a:ext cx="2338388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01440" imgH="228600" progId="Equation.DSMT4">
                  <p:embed/>
                </p:oleObj>
              </mc:Choice>
              <mc:Fallback>
                <p:oleObj name="Equation" r:id="rId4" imgW="901440" imgH="2286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35F0F643-66A1-4F94-9D31-B6E638B409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91225" y="2524635"/>
                        <a:ext cx="2338388" cy="593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681016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ADDD81-265C-4990-9A64-2D708696F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DCE3D7-B0BA-42DD-BC6B-57217AFFD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B8D3B53-3BBB-48D2-88AA-2E5B434B4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21</a:t>
            </a:fld>
            <a:endParaRPr lang="en-US" altLang="zh-CN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9FFD7C8C-CF6E-4332-886D-FA97604AC3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7681850"/>
              </p:ext>
            </p:extLst>
          </p:nvPr>
        </p:nvGraphicFramePr>
        <p:xfrm>
          <a:off x="1064568" y="5450480"/>
          <a:ext cx="2338388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01440" imgH="228600" progId="Equation.DSMT4">
                  <p:embed/>
                </p:oleObj>
              </mc:Choice>
              <mc:Fallback>
                <p:oleObj name="Equation" r:id="rId2" imgW="901440" imgH="2286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9FFD7C8C-CF6E-4332-886D-FA97604AC3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64568" y="5450480"/>
                        <a:ext cx="2338388" cy="593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A2BAA12-2D05-490B-A3CC-4F2B981CFE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7509378"/>
              </p:ext>
            </p:extLst>
          </p:nvPr>
        </p:nvGraphicFramePr>
        <p:xfrm>
          <a:off x="803275" y="1651000"/>
          <a:ext cx="6254750" cy="355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12720" imgH="1371600" progId="Equation.DSMT4">
                  <p:embed/>
                </p:oleObj>
              </mc:Choice>
              <mc:Fallback>
                <p:oleObj name="Equation" r:id="rId4" imgW="2412720" imgH="13716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35F0F643-66A1-4F94-9D31-B6E638B409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03275" y="1651000"/>
                        <a:ext cx="6254750" cy="3554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85542C61-99AC-4CBA-9CB5-C63FCEA4031D}"/>
              </a:ext>
            </a:extLst>
          </p:cNvPr>
          <p:cNvSpPr txBox="1"/>
          <p:nvPr/>
        </p:nvSpPr>
        <p:spPr>
          <a:xfrm>
            <a:off x="236130" y="551651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带入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06C850E7-626B-4119-A592-EF2E06BD5D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2815648"/>
              </p:ext>
            </p:extLst>
          </p:nvPr>
        </p:nvGraphicFramePr>
        <p:xfrm>
          <a:off x="848544" y="1110656"/>
          <a:ext cx="7538494" cy="6254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08080" imgH="241200" progId="Equation.DSMT4">
                  <p:embed/>
                </p:oleObj>
              </mc:Choice>
              <mc:Fallback>
                <p:oleObj name="Equation" r:id="rId6" imgW="2908080" imgH="2412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35F0F643-66A1-4F94-9D31-B6E638B409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48544" y="1110656"/>
                        <a:ext cx="7538494" cy="6254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箭头: 右 10">
            <a:extLst>
              <a:ext uri="{FF2B5EF4-FFF2-40B4-BE49-F238E27FC236}">
                <a16:creationId xmlns:a16="http://schemas.microsoft.com/office/drawing/2014/main" id="{60559977-CD37-4524-9548-38B69581B9A5}"/>
              </a:ext>
            </a:extLst>
          </p:cNvPr>
          <p:cNvSpPr/>
          <p:nvPr/>
        </p:nvSpPr>
        <p:spPr bwMode="auto">
          <a:xfrm>
            <a:off x="3656856" y="5516510"/>
            <a:ext cx="648072" cy="52769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A800FF03-9A49-44AC-9806-166C8EA027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8684549"/>
              </p:ext>
            </p:extLst>
          </p:nvPr>
        </p:nvGraphicFramePr>
        <p:xfrm>
          <a:off x="4547196" y="5002901"/>
          <a:ext cx="3557587" cy="138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71600" imgH="533160" progId="Equation.DSMT4">
                  <p:embed/>
                </p:oleObj>
              </mc:Choice>
              <mc:Fallback>
                <p:oleObj name="Equation" r:id="rId8" imgW="1371600" imgH="5331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9FFD7C8C-CF6E-4332-886D-FA97604AC3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547196" y="5002901"/>
                        <a:ext cx="3557587" cy="1384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15728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AB2391-7112-41CD-B8CA-05AA62B78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多元函数的泰勒</a:t>
            </a:r>
            <a:r>
              <a:rPr lang="en-US" altLang="zh-CN" dirty="0"/>
              <a:t>(Taylor)</a:t>
            </a:r>
            <a:r>
              <a:rPr lang="zh-CN" altLang="en-US" dirty="0"/>
              <a:t>展开式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E31663E-AEA8-4899-8E2B-C0D1086BEE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知识点回顾：一元函数的泰勒展开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一元函数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在点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en-US" dirty="0"/>
                  <a:t>存在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到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阶导数，则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在点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en-US" dirty="0"/>
                  <a:t>的泰勒展开式定义为：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E31663E-AEA8-4899-8E2B-C0D1086BEE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66" t="-2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B17AB7-C88D-492A-B0F8-079B67606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77E2B9-628C-486D-8011-D89B2DE0B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22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372BE26-E4EF-4110-8CB6-BFFBFA4B69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1535021"/>
              </p:ext>
            </p:extLst>
          </p:nvPr>
        </p:nvGraphicFramePr>
        <p:xfrm>
          <a:off x="230932" y="3068960"/>
          <a:ext cx="9547225" cy="209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708360" imgH="812520" progId="Equation.DSMT4">
                  <p:embed/>
                </p:oleObj>
              </mc:Choice>
              <mc:Fallback>
                <p:oleObj name="Equation" r:id="rId4" imgW="370836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0932" y="3068960"/>
                        <a:ext cx="9547225" cy="2093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F1C4ABC-63B7-4D91-8165-0986DAF6C8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866710"/>
              </p:ext>
            </p:extLst>
          </p:nvPr>
        </p:nvGraphicFramePr>
        <p:xfrm>
          <a:off x="1470125" y="5517475"/>
          <a:ext cx="1798637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98400" imgH="228600" progId="Equation.DSMT4">
                  <p:embed/>
                </p:oleObj>
              </mc:Choice>
              <mc:Fallback>
                <p:oleObj name="Equation" r:id="rId6" imgW="698400" imgH="2286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8372BE26-E4EF-4110-8CB6-BFFBFA4B69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470125" y="5517475"/>
                        <a:ext cx="1798637" cy="588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197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AB2391-7112-41CD-B8CA-05AA62B78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多元函数的泰勒</a:t>
            </a:r>
            <a:r>
              <a:rPr lang="en-US" altLang="zh-CN" dirty="0"/>
              <a:t>(Taylor)</a:t>
            </a:r>
            <a:r>
              <a:rPr lang="zh-CN" altLang="en-US" dirty="0"/>
              <a:t>展开式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31663E-AEA8-4899-8E2B-C0D1086BE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知识点回顾：一元函数的泰勒展开</a:t>
            </a:r>
            <a:endParaRPr lang="en-US" altLang="zh-CN" dirty="0"/>
          </a:p>
          <a:p>
            <a:pPr lvl="1"/>
            <a:r>
              <a:rPr lang="zh-CN" altLang="en-US" dirty="0"/>
              <a:t>为了减少计算量，通常可以取前几项的近似结果，例如扩展到</a:t>
            </a:r>
            <a:r>
              <a:rPr lang="en-US" altLang="zh-CN" dirty="0"/>
              <a:t>2</a:t>
            </a:r>
            <a:r>
              <a:rPr lang="zh-CN" altLang="en-US" dirty="0"/>
              <a:t>阶：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B17AB7-C88D-492A-B0F8-079B67606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77E2B9-628C-486D-8011-D89B2DE0B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23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372BE26-E4EF-4110-8CB6-BFFBFA4B69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3724859"/>
              </p:ext>
            </p:extLst>
          </p:nvPr>
        </p:nvGraphicFramePr>
        <p:xfrm>
          <a:off x="825500" y="3068638"/>
          <a:ext cx="8696325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77880" imgH="393480" progId="Equation.DSMT4">
                  <p:embed/>
                </p:oleObj>
              </mc:Choice>
              <mc:Fallback>
                <p:oleObj name="Equation" r:id="rId2" imgW="3377880" imgH="3934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8372BE26-E4EF-4110-8CB6-BFFBFA4B69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25500" y="3068638"/>
                        <a:ext cx="8696325" cy="1014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96368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AB2391-7112-41CD-B8CA-05AA62B78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多元函数的泰勒</a:t>
            </a:r>
            <a:r>
              <a:rPr lang="en-US" altLang="zh-CN" dirty="0"/>
              <a:t>(Taylor)</a:t>
            </a:r>
            <a:r>
              <a:rPr lang="zh-CN" altLang="en-US" dirty="0"/>
              <a:t>展开式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31663E-AEA8-4899-8E2B-C0D1086BE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多元函数的泰勒展开式</a:t>
            </a:r>
            <a:endParaRPr lang="en-US" altLang="zh-CN" dirty="0"/>
          </a:p>
          <a:p>
            <a:pPr lvl="1"/>
            <a:r>
              <a:rPr lang="zh-CN" altLang="en-US" dirty="0"/>
              <a:t>工程设计中，复杂的目标函数需要进行必要的化简，因此多元函数的泰勒展开式具有广泛应用。</a:t>
            </a:r>
            <a:endParaRPr lang="en-US" altLang="zh-CN" dirty="0"/>
          </a:p>
          <a:p>
            <a:pPr lvl="1"/>
            <a:r>
              <a:rPr lang="zh-CN" altLang="en-US" dirty="0"/>
              <a:t>工程应用中，一般的泰勒展开式只取前几项（例如前</a:t>
            </a:r>
            <a:r>
              <a:rPr lang="en-US" altLang="zh-CN" dirty="0"/>
              <a:t>3</a:t>
            </a:r>
            <a:r>
              <a:rPr lang="zh-CN" altLang="en-US" dirty="0"/>
              <a:t>项（</a:t>
            </a:r>
            <a:r>
              <a:rPr lang="en-US" altLang="zh-CN" dirty="0"/>
              <a:t>2</a:t>
            </a:r>
            <a:r>
              <a:rPr lang="zh-CN" altLang="en-US" dirty="0"/>
              <a:t>阶导数））。</a:t>
            </a:r>
            <a:endParaRPr lang="en-US" altLang="zh-CN" dirty="0"/>
          </a:p>
          <a:p>
            <a:pPr lvl="1"/>
            <a:r>
              <a:rPr lang="zh-CN" altLang="en-US" dirty="0"/>
              <a:t>多元函数通过计算梯度来实现泰勒展开。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B17AB7-C88D-492A-B0F8-079B67606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77E2B9-628C-486D-8011-D89B2DE0B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29834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AB2391-7112-41CD-B8CA-05AA62B78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多元函数的泰勒</a:t>
            </a:r>
            <a:r>
              <a:rPr lang="en-US" altLang="zh-CN" dirty="0"/>
              <a:t>(Taylor)</a:t>
            </a:r>
            <a:r>
              <a:rPr lang="zh-CN" altLang="en-US" dirty="0"/>
              <a:t>展开式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E31663E-AEA8-4899-8E2B-C0D1086BEE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多元函数的泰勒展开式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多元函数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在点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处</m:t>
                    </m:r>
                  </m:oMath>
                </a14:m>
                <a:r>
                  <a:rPr lang="zh-CN" altLang="en-US" dirty="0"/>
                  <a:t>的泰勒展开式定义为（只取前</a:t>
                </a:r>
                <a:r>
                  <a:rPr lang="en-US" altLang="zh-CN" dirty="0"/>
                  <a:t>3</a:t>
                </a:r>
                <a:r>
                  <a:rPr lang="zh-CN" altLang="en-US" dirty="0"/>
                  <a:t>项）：</a:t>
                </a:r>
                <a:endParaRPr lang="en-US" altLang="zh-CN" dirty="0"/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E31663E-AEA8-4899-8E2B-C0D1086BEE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66" t="-2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B17AB7-C88D-492A-B0F8-079B67606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77E2B9-628C-486D-8011-D89B2DE0B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25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372BE26-E4EF-4110-8CB6-BFFBFA4B69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471695"/>
              </p:ext>
            </p:extLst>
          </p:nvPr>
        </p:nvGraphicFramePr>
        <p:xfrm>
          <a:off x="1352600" y="3068960"/>
          <a:ext cx="6962775" cy="183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05040" imgH="711000" progId="Equation.DSMT4">
                  <p:embed/>
                </p:oleObj>
              </mc:Choice>
              <mc:Fallback>
                <p:oleObj name="Equation" r:id="rId4" imgW="2705040" imgH="7110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8372BE26-E4EF-4110-8CB6-BFFBFA4B69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52600" y="3068960"/>
                        <a:ext cx="6962775" cy="1831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话气泡: 矩形 7">
                <a:extLst>
                  <a:ext uri="{FF2B5EF4-FFF2-40B4-BE49-F238E27FC236}">
                    <a16:creationId xmlns:a16="http://schemas.microsoft.com/office/drawing/2014/main" id="{A5D1F073-8F43-4A85-8C3C-B6E70AFF440F}"/>
                  </a:ext>
                </a:extLst>
              </p:cNvPr>
              <p:cNvSpPr/>
              <p:nvPr/>
            </p:nvSpPr>
            <p:spPr bwMode="auto">
              <a:xfrm>
                <a:off x="1781076" y="5229200"/>
                <a:ext cx="6484292" cy="1231841"/>
              </a:xfrm>
              <a:prstGeom prst="wedgeRectCallout">
                <a:avLst>
                  <a:gd name="adj1" fmla="val 2566"/>
                  <a:gd name="adj2" fmla="val -103561"/>
                </a:avLst>
              </a:prstGeom>
              <a:solidFill>
                <a:srgbClr val="FFFF66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14:m>
                  <m:oMath xmlns:m="http://schemas.openxmlformats.org/officeDocument/2006/math">
                    <m:r>
                      <a:rPr kumimoji="0" lang="en-US" altLang="zh-CN" sz="2400" b="0" i="1" u="none" strike="noStrike" cap="none" normalizeH="0" baseline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en-US" altLang="zh-CN" sz="24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d>
                              <m:dPr>
                                <m:ctrlPr>
                                  <a:rPr kumimoji="0" lang="en-US" altLang="zh-CN" sz="24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0" lang="en-US" altLang="zh-CN" sz="24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r>
                  <a:rPr kumimoji="0" lang="zh-CN" altLang="en-US" sz="2400" b="0" i="0" u="none" strike="noStrike" cap="none" normalizeH="0" baseline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latin typeface="Arial" charset="0"/>
                  </a:rPr>
                  <a:t>相当于多元函数在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r>
                  <a:rPr kumimoji="0" lang="zh-CN" altLang="en-US" sz="2400" b="0" i="0" u="none" strike="noStrike" cap="none" normalizeH="0" baseline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latin typeface="Arial" charset="0"/>
                  </a:rPr>
                  <a:t>点的二阶梯度（对于一元函数的二阶导数），称为</a:t>
                </a:r>
                <a:r>
                  <a:rPr kumimoji="0" lang="zh-CN" altLang="en-US" sz="2400" b="0" i="0" u="none" strike="noStrike" cap="none" normalizeH="0" baseline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Arial" charset="0"/>
                  </a:rPr>
                  <a:t>海塞（</a:t>
                </a:r>
                <a:r>
                  <a:rPr kumimoji="0" lang="en-US" altLang="zh-CN" sz="2400" b="0" i="0" u="none" strike="noStrike" cap="none" normalizeH="0" baseline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Arial" charset="0"/>
                  </a:rPr>
                  <a:t>Hessian</a:t>
                </a:r>
                <a:r>
                  <a:rPr kumimoji="0" lang="zh-CN" altLang="en-US" sz="2400" b="0" i="0" u="none" strike="noStrike" cap="none" normalizeH="0" baseline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Arial" charset="0"/>
                  </a:rPr>
                  <a:t>）</a:t>
                </a:r>
                <a:r>
                  <a:rPr lang="zh-CN" altLang="en-US" sz="2400" dirty="0">
                    <a:solidFill>
                      <a:srgbClr val="0000FF"/>
                    </a:solidFill>
                  </a:rPr>
                  <a:t>矩阵</a:t>
                </a:r>
                <a:endParaRPr kumimoji="0" lang="zh-CN" altLang="en-US" sz="24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8" name="对话气泡: 矩形 7">
                <a:extLst>
                  <a:ext uri="{FF2B5EF4-FFF2-40B4-BE49-F238E27FC236}">
                    <a16:creationId xmlns:a16="http://schemas.microsoft.com/office/drawing/2014/main" id="{A5D1F073-8F43-4A85-8C3C-B6E70AFF44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81076" y="5229200"/>
                <a:ext cx="6484292" cy="1231841"/>
              </a:xfrm>
              <a:prstGeom prst="wedgeRectCallout">
                <a:avLst>
                  <a:gd name="adj1" fmla="val 2566"/>
                  <a:gd name="adj2" fmla="val -103561"/>
                </a:avLst>
              </a:prstGeom>
              <a:blipFill>
                <a:blip r:embed="rId6"/>
                <a:stretch>
                  <a:fillRect l="-1313" b="-7668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4650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AB2391-7112-41CD-B8CA-05AA62B78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海塞（</a:t>
            </a:r>
            <a:r>
              <a:rPr lang="en-US" altLang="zh-CN" dirty="0"/>
              <a:t>Hessian</a:t>
            </a:r>
            <a:r>
              <a:rPr lang="zh-CN" altLang="en-US" dirty="0"/>
              <a:t>）矩阵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E31663E-AEA8-4899-8E2B-C0D1086BEE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多元函数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在点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处</m:t>
                    </m:r>
                  </m:oMath>
                </a14:m>
                <a:r>
                  <a:rPr lang="zh-CN" altLang="en-US" dirty="0"/>
                  <a:t>所有二阶偏导数组成的矩阵</a:t>
                </a:r>
                <a:endParaRPr lang="en-US" altLang="zh-CN" dirty="0"/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E31663E-AEA8-4899-8E2B-C0D1086BEE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66" t="-2083" r="-6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B17AB7-C88D-492A-B0F8-079B67606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77E2B9-628C-486D-8011-D89B2DE0B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26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372BE26-E4EF-4110-8CB6-BFFBFA4B69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3845980"/>
              </p:ext>
            </p:extLst>
          </p:nvPr>
        </p:nvGraphicFramePr>
        <p:xfrm>
          <a:off x="1640632" y="1844824"/>
          <a:ext cx="5733306" cy="34713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30240" imgH="1650960" progId="Equation.DSMT4">
                  <p:embed/>
                </p:oleObj>
              </mc:Choice>
              <mc:Fallback>
                <p:oleObj name="Equation" r:id="rId4" imgW="2730240" imgH="16509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8372BE26-E4EF-4110-8CB6-BFFBFA4B69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40632" y="1844824"/>
                        <a:ext cx="5733306" cy="34713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2212D2DC-18A3-4E64-A4BD-7E74B085BD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3746600"/>
              </p:ext>
            </p:extLst>
          </p:nvPr>
        </p:nvGraphicFramePr>
        <p:xfrm>
          <a:off x="3148013" y="5661248"/>
          <a:ext cx="2960687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09400" imgH="469800" progId="Equation.DSMT4">
                  <p:embed/>
                </p:oleObj>
              </mc:Choice>
              <mc:Fallback>
                <p:oleObj name="Equation" r:id="rId6" imgW="1409400" imgH="4698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8372BE26-E4EF-4110-8CB6-BFFBFA4B69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148013" y="5661248"/>
                        <a:ext cx="2960687" cy="987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直角三角形 6">
            <a:extLst>
              <a:ext uri="{FF2B5EF4-FFF2-40B4-BE49-F238E27FC236}">
                <a16:creationId xmlns:a16="http://schemas.microsoft.com/office/drawing/2014/main" id="{460D6BB5-BA0D-4E04-8C68-EC2B4230EAB8}"/>
              </a:ext>
            </a:extLst>
          </p:cNvPr>
          <p:cNvSpPr/>
          <p:nvPr/>
        </p:nvSpPr>
        <p:spPr bwMode="auto">
          <a:xfrm rot="10800000">
            <a:off x="2143434" y="1844824"/>
            <a:ext cx="5185829" cy="4032448"/>
          </a:xfrm>
          <a:prstGeom prst="rtTriangle">
            <a:avLst/>
          </a:prstGeom>
          <a:noFill/>
          <a:ln w="3810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对话气泡: 矩形 9">
            <a:extLst>
              <a:ext uri="{FF2B5EF4-FFF2-40B4-BE49-F238E27FC236}">
                <a16:creationId xmlns:a16="http://schemas.microsoft.com/office/drawing/2014/main" id="{BA84B50D-C6FE-4705-B5B5-0F18BBEDEE88}"/>
              </a:ext>
            </a:extLst>
          </p:cNvPr>
          <p:cNvSpPr/>
          <p:nvPr/>
        </p:nvSpPr>
        <p:spPr bwMode="auto">
          <a:xfrm>
            <a:off x="91999" y="4927513"/>
            <a:ext cx="2520280" cy="1234517"/>
          </a:xfrm>
          <a:prstGeom prst="wedgeRectCallout">
            <a:avLst>
              <a:gd name="adj1" fmla="val 38848"/>
              <a:gd name="adj2" fmla="val -135632"/>
            </a:avLst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charset="0"/>
              </a:rPr>
              <a:t>海塞（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charset="0"/>
              </a:rPr>
              <a:t>Hessian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charset="0"/>
              </a:rPr>
              <a:t>）</a:t>
            </a:r>
            <a:r>
              <a:rPr lang="zh-CN" altLang="en-US" sz="2400" dirty="0">
                <a:solidFill>
                  <a:srgbClr val="0000FF"/>
                </a:solidFill>
              </a:rPr>
              <a:t>矩阵是一个</a:t>
            </a:r>
            <a:r>
              <a:rPr lang="zh-CN" altLang="en-US" sz="2400" b="1" dirty="0">
                <a:solidFill>
                  <a:srgbClr val="FF0000"/>
                </a:solidFill>
              </a:rPr>
              <a:t>𝑛</a:t>
            </a:r>
            <a:r>
              <a:rPr lang="en-US" altLang="zh-CN" sz="2400" b="1" dirty="0">
                <a:solidFill>
                  <a:srgbClr val="FF0000"/>
                </a:solidFill>
              </a:rPr>
              <a:t>×</a:t>
            </a:r>
            <a:r>
              <a:rPr lang="zh-CN" altLang="en-US" sz="2400" b="1" dirty="0">
                <a:solidFill>
                  <a:srgbClr val="FF0000"/>
                </a:solidFill>
              </a:rPr>
              <a:t>𝑛</a:t>
            </a:r>
          </a:p>
          <a:p>
            <a:pPr algn="ctr"/>
            <a:r>
              <a:rPr lang="zh-CN" altLang="en-US" sz="2400" dirty="0">
                <a:solidFill>
                  <a:srgbClr val="0000FF"/>
                </a:solidFill>
              </a:rPr>
              <a:t>阶的</a:t>
            </a:r>
            <a:r>
              <a:rPr lang="zh-CN" altLang="en-US" sz="2400" b="1" dirty="0">
                <a:solidFill>
                  <a:srgbClr val="FF0000"/>
                </a:solidFill>
              </a:rPr>
              <a:t>对称矩阵</a:t>
            </a:r>
            <a:endParaRPr kumimoji="0" lang="zh-CN" altLang="en-US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AE278D0-AE9C-44D0-AF44-067DFAAA44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8406965"/>
              </p:ext>
            </p:extLst>
          </p:nvPr>
        </p:nvGraphicFramePr>
        <p:xfrm>
          <a:off x="4114800" y="2209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14400" imgH="198720" progId="Equation.DSMT4">
                  <p:embed/>
                </p:oleObj>
              </mc:Choice>
              <mc:Fallback>
                <p:oleObj name="Equation" r:id="rId8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114800" y="22098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60554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8144F4-3228-4335-BCCE-C8F9231BB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多元函数的泰勒</a:t>
            </a:r>
            <a:r>
              <a:rPr lang="en-US" altLang="zh-CN" dirty="0"/>
              <a:t>(Taylor)</a:t>
            </a:r>
            <a:r>
              <a:rPr lang="zh-CN" altLang="en-US" dirty="0"/>
              <a:t>展开式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D77332-5C33-4103-8151-4721EAB61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3</a:t>
            </a:r>
            <a:r>
              <a:rPr lang="zh-CN" altLang="en-US" dirty="0"/>
              <a:t>（</a:t>
            </a:r>
            <a:r>
              <a:rPr lang="en-US" altLang="zh-CN" dirty="0"/>
              <a:t>P17</a:t>
            </a:r>
            <a:r>
              <a:rPr lang="zh-CN" altLang="en-US" dirty="0"/>
              <a:t>例</a:t>
            </a:r>
            <a:r>
              <a:rPr lang="en-US" altLang="zh-CN" dirty="0"/>
              <a:t>2-4</a:t>
            </a:r>
            <a:r>
              <a:rPr lang="zh-CN" altLang="en-US" dirty="0"/>
              <a:t>）：泰勒展开式</a:t>
            </a:r>
            <a:endParaRPr lang="en-US" altLang="zh-CN" dirty="0"/>
          </a:p>
          <a:p>
            <a:pPr lvl="1"/>
            <a:r>
              <a:rPr lang="zh-CN" altLang="en-US" dirty="0"/>
              <a:t>将函数                                               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  在点                处分别简化成线性函数和二次函数。              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8B3586-EE6F-4A3E-BAE0-872C35E9B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92C10A1-BE76-4095-9073-C87D00060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27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F007714-B302-4D8E-BEC9-8B3B82C75F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4220849"/>
              </p:ext>
            </p:extLst>
          </p:nvPr>
        </p:nvGraphicFramePr>
        <p:xfrm>
          <a:off x="2144688" y="1837779"/>
          <a:ext cx="5328592" cy="613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241200" progId="Equation.DSMT4">
                  <p:embed/>
                </p:oleObj>
              </mc:Choice>
              <mc:Fallback>
                <p:oleObj name="Equation" r:id="rId2" imgW="20952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44688" y="1837779"/>
                        <a:ext cx="5328592" cy="6135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5691349-92FE-4AE7-91FE-22B14A6D16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0426663"/>
              </p:ext>
            </p:extLst>
          </p:nvPr>
        </p:nvGraphicFramePr>
        <p:xfrm>
          <a:off x="1568624" y="2451374"/>
          <a:ext cx="1970088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74360" imgH="279360" progId="Equation.DSMT4">
                  <p:embed/>
                </p:oleObj>
              </mc:Choice>
              <mc:Fallback>
                <p:oleObj name="Equation" r:id="rId4" imgW="774360" imgH="2793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DF007714-B302-4D8E-BEC9-8B3B82C75F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68624" y="2451374"/>
                        <a:ext cx="1970088" cy="709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68F6D353-2E9C-413A-979E-754B6EAAC5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0778148"/>
              </p:ext>
            </p:extLst>
          </p:nvPr>
        </p:nvGraphicFramePr>
        <p:xfrm>
          <a:off x="1327596" y="3272362"/>
          <a:ext cx="6962775" cy="183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05040" imgH="711000" progId="Equation.DSMT4">
                  <p:embed/>
                </p:oleObj>
              </mc:Choice>
              <mc:Fallback>
                <p:oleObj name="Equation" r:id="rId6" imgW="2705040" imgH="7110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8372BE26-E4EF-4110-8CB6-BFFBFA4B69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27596" y="3272362"/>
                        <a:ext cx="6962775" cy="1831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484D3B6C-BD17-4692-A2E0-89B9AA4B9E1F}"/>
              </a:ext>
            </a:extLst>
          </p:cNvPr>
          <p:cNvSpPr/>
          <p:nvPr/>
        </p:nvSpPr>
        <p:spPr bwMode="auto">
          <a:xfrm>
            <a:off x="2622476" y="3326676"/>
            <a:ext cx="1296144" cy="709613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3072732-D18D-4CAC-856E-B4158027FD5A}"/>
              </a:ext>
            </a:extLst>
          </p:cNvPr>
          <p:cNvSpPr/>
          <p:nvPr/>
        </p:nvSpPr>
        <p:spPr bwMode="auto">
          <a:xfrm>
            <a:off x="4214254" y="3326675"/>
            <a:ext cx="2106898" cy="709613"/>
          </a:xfrm>
          <a:prstGeom prst="rect">
            <a:avLst/>
          </a:prstGeom>
          <a:noFill/>
          <a:ln w="28575" cap="flat" cmpd="sng" algn="ctr">
            <a:solidFill>
              <a:srgbClr val="0000FF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57DF457-947B-47D2-BFEB-890AA84D0758}"/>
              </a:ext>
            </a:extLst>
          </p:cNvPr>
          <p:cNvSpPr/>
          <p:nvPr/>
        </p:nvSpPr>
        <p:spPr bwMode="auto">
          <a:xfrm>
            <a:off x="4808984" y="4218233"/>
            <a:ext cx="1396380" cy="709613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C5827B4-2CD4-424A-B777-6AB5134D87F5}"/>
              </a:ext>
            </a:extLst>
          </p:cNvPr>
          <p:cNvSpPr txBox="1"/>
          <p:nvPr/>
        </p:nvSpPr>
        <p:spPr>
          <a:xfrm>
            <a:off x="1213744" y="579663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函数值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23DD82A-B0EB-4361-8AD5-00152237DF06}"/>
              </a:ext>
            </a:extLst>
          </p:cNvPr>
          <p:cNvSpPr txBox="1"/>
          <p:nvPr/>
        </p:nvSpPr>
        <p:spPr>
          <a:xfrm>
            <a:off x="3636938" y="5796632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</a:rPr>
              <a:t>梯度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890371A-084B-4043-B301-F69242527CC2}"/>
              </a:ext>
            </a:extLst>
          </p:cNvPr>
          <p:cNvSpPr txBox="1"/>
          <p:nvPr/>
        </p:nvSpPr>
        <p:spPr>
          <a:xfrm>
            <a:off x="6393160" y="584765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海塞矩阵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C1F79E2-A828-42D9-BFA2-8B18614DF381}"/>
              </a:ext>
            </a:extLst>
          </p:cNvPr>
          <p:cNvCxnSpPr>
            <a:stCxn id="13" idx="0"/>
          </p:cNvCxnSpPr>
          <p:nvPr/>
        </p:nvCxnSpPr>
        <p:spPr bwMode="auto">
          <a:xfrm flipV="1">
            <a:off x="1767742" y="4036288"/>
            <a:ext cx="854734" cy="17603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59C656DD-7138-4697-8C8F-3BC734B7E8E0}"/>
              </a:ext>
            </a:extLst>
          </p:cNvPr>
          <p:cNvCxnSpPr>
            <a:stCxn id="15" idx="0"/>
          </p:cNvCxnSpPr>
          <p:nvPr/>
        </p:nvCxnSpPr>
        <p:spPr bwMode="auto">
          <a:xfrm flipV="1">
            <a:off x="4037048" y="4036288"/>
            <a:ext cx="483904" cy="17603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6A279C2A-E912-4FCC-AD87-0BFB64EDEE6F}"/>
              </a:ext>
            </a:extLst>
          </p:cNvPr>
          <p:cNvCxnSpPr>
            <a:stCxn id="16" idx="0"/>
          </p:cNvCxnSpPr>
          <p:nvPr/>
        </p:nvCxnSpPr>
        <p:spPr bwMode="auto">
          <a:xfrm flipH="1" flipV="1">
            <a:off x="5817096" y="4916460"/>
            <a:ext cx="1283950" cy="9311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015142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/>
      <p:bldP spid="15" grpId="0"/>
      <p:bldP spid="1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8144F4-3228-4335-BCCE-C8F9231BB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3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8B3586-EE6F-4A3E-BAE0-872C35E9B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92C10A1-BE76-4095-9073-C87D00060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28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F007714-B302-4D8E-BEC9-8B3B82C75F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7580352"/>
              </p:ext>
            </p:extLst>
          </p:nvPr>
        </p:nvGraphicFramePr>
        <p:xfrm>
          <a:off x="1712640" y="1050083"/>
          <a:ext cx="5328592" cy="613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241200" progId="Equation.DSMT4">
                  <p:embed/>
                </p:oleObj>
              </mc:Choice>
              <mc:Fallback>
                <p:oleObj name="Equation" r:id="rId2" imgW="2095200" imgH="2412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DF007714-B302-4D8E-BEC9-8B3B82C75F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12640" y="1050083"/>
                        <a:ext cx="5328592" cy="6135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5691349-92FE-4AE7-91FE-22B14A6D16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7711872"/>
              </p:ext>
            </p:extLst>
          </p:nvPr>
        </p:nvGraphicFramePr>
        <p:xfrm>
          <a:off x="1251844" y="1691633"/>
          <a:ext cx="1970088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74360" imgH="279360" progId="Equation.DSMT4">
                  <p:embed/>
                </p:oleObj>
              </mc:Choice>
              <mc:Fallback>
                <p:oleObj name="Equation" r:id="rId4" imgW="774360" imgH="2793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65691349-92FE-4AE7-91FE-22B14A6D16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51844" y="1691633"/>
                        <a:ext cx="1970088" cy="709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D4D2AA55-D39A-4174-ADB0-A7AA9D3EA2EB}"/>
              </a:ext>
            </a:extLst>
          </p:cNvPr>
          <p:cNvSpPr txBox="1"/>
          <p:nvPr/>
        </p:nvSpPr>
        <p:spPr>
          <a:xfrm>
            <a:off x="0" y="1815608"/>
            <a:ext cx="50482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1.</a:t>
            </a:r>
            <a:r>
              <a:rPr lang="zh-CN" altLang="en-US" sz="2400" dirty="0"/>
              <a:t>求在点                       处的函数值</a:t>
            </a: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1D8B0DAC-9A85-486D-899F-3302C75B7C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6924451"/>
              </p:ext>
            </p:extLst>
          </p:nvPr>
        </p:nvGraphicFramePr>
        <p:xfrm>
          <a:off x="1064568" y="2531323"/>
          <a:ext cx="49403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42920" imgH="228600" progId="Equation.DSMT4">
                  <p:embed/>
                </p:oleObj>
              </mc:Choice>
              <mc:Fallback>
                <p:oleObj name="Equation" r:id="rId6" imgW="1942920" imgH="2286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DF007714-B302-4D8E-BEC9-8B3B82C75F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64568" y="2531323"/>
                        <a:ext cx="4940300" cy="581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23">
            <a:extLst>
              <a:ext uri="{FF2B5EF4-FFF2-40B4-BE49-F238E27FC236}">
                <a16:creationId xmlns:a16="http://schemas.microsoft.com/office/drawing/2014/main" id="{5C1B5D5C-9675-47AD-8349-1C52C44A2546}"/>
              </a:ext>
            </a:extLst>
          </p:cNvPr>
          <p:cNvSpPr txBox="1"/>
          <p:nvPr/>
        </p:nvSpPr>
        <p:spPr>
          <a:xfrm>
            <a:off x="0" y="3357199"/>
            <a:ext cx="50482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2.</a:t>
            </a:r>
            <a:r>
              <a:rPr lang="zh-CN" altLang="en-US" sz="2400" dirty="0"/>
              <a:t>求在点                       处的梯度</a:t>
            </a:r>
          </a:p>
        </p:txBody>
      </p: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44573210-51C7-4B2B-8406-B4A098E2F3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1551201"/>
              </p:ext>
            </p:extLst>
          </p:nvPr>
        </p:nvGraphicFramePr>
        <p:xfrm>
          <a:off x="1251844" y="3222055"/>
          <a:ext cx="1970088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74360" imgH="279360" progId="Equation.DSMT4">
                  <p:embed/>
                </p:oleObj>
              </mc:Choice>
              <mc:Fallback>
                <p:oleObj name="Equation" r:id="rId8" imgW="774360" imgH="2793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65691349-92FE-4AE7-91FE-22B14A6D16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51844" y="3222055"/>
                        <a:ext cx="1970088" cy="709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53767343-685B-4694-90C1-CD6790AB55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2879016"/>
              </p:ext>
            </p:extLst>
          </p:nvPr>
        </p:nvGraphicFramePr>
        <p:xfrm>
          <a:off x="920552" y="3931668"/>
          <a:ext cx="8655051" cy="2452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403440" imgH="965160" progId="Equation.DSMT4">
                  <p:embed/>
                </p:oleObj>
              </mc:Choice>
              <mc:Fallback>
                <p:oleObj name="Equation" r:id="rId9" imgW="3403440" imgH="96516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1D8B0DAC-9A85-486D-899F-3302C75B7C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20552" y="3931668"/>
                        <a:ext cx="8655051" cy="2452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34790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8144F4-3228-4335-BCCE-C8F9231BB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3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8B3586-EE6F-4A3E-BAE0-872C35E9B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92C10A1-BE76-4095-9073-C87D00060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29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F007714-B302-4D8E-BEC9-8B3B82C75F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12640" y="1050083"/>
          <a:ext cx="5328592" cy="613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241200" progId="Equation.DSMT4">
                  <p:embed/>
                </p:oleObj>
              </mc:Choice>
              <mc:Fallback>
                <p:oleObj name="Equation" r:id="rId2" imgW="2095200" imgH="2412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DF007714-B302-4D8E-BEC9-8B3B82C75F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12640" y="1050083"/>
                        <a:ext cx="5328592" cy="6135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5691349-92FE-4AE7-91FE-22B14A6D16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1844" y="1691633"/>
          <a:ext cx="1970088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74360" imgH="279360" progId="Equation.DSMT4">
                  <p:embed/>
                </p:oleObj>
              </mc:Choice>
              <mc:Fallback>
                <p:oleObj name="Equation" r:id="rId4" imgW="774360" imgH="2793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65691349-92FE-4AE7-91FE-22B14A6D16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51844" y="1691633"/>
                        <a:ext cx="1970088" cy="709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D4D2AA55-D39A-4174-ADB0-A7AA9D3EA2EB}"/>
              </a:ext>
            </a:extLst>
          </p:cNvPr>
          <p:cNvSpPr txBox="1"/>
          <p:nvPr/>
        </p:nvSpPr>
        <p:spPr>
          <a:xfrm>
            <a:off x="0" y="1815608"/>
            <a:ext cx="53285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3.</a:t>
            </a:r>
            <a:r>
              <a:rPr lang="zh-CN" altLang="en-US" sz="2400" dirty="0"/>
              <a:t>求在点                       处的海塞矩阵</a:t>
            </a: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1D8B0DAC-9A85-486D-899F-3302C75B7C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2299841"/>
              </p:ext>
            </p:extLst>
          </p:nvPr>
        </p:nvGraphicFramePr>
        <p:xfrm>
          <a:off x="-42377" y="2382838"/>
          <a:ext cx="4707346" cy="1975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61960" imgH="990360" progId="Equation.DSMT4">
                  <p:embed/>
                </p:oleObj>
              </mc:Choice>
              <mc:Fallback>
                <p:oleObj name="Equation" r:id="rId6" imgW="2361960" imgH="99036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1D8B0DAC-9A85-486D-899F-3302C75B7C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-42377" y="2382838"/>
                        <a:ext cx="4707346" cy="19752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DA1A5372-520D-4307-83F8-CEA5445A88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0961221"/>
              </p:ext>
            </p:extLst>
          </p:nvPr>
        </p:nvGraphicFramePr>
        <p:xfrm>
          <a:off x="4664969" y="2297646"/>
          <a:ext cx="5040560" cy="20815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00120" imgH="990360" progId="Equation.DSMT4">
                  <p:embed/>
                </p:oleObj>
              </mc:Choice>
              <mc:Fallback>
                <p:oleObj name="Equation" r:id="rId8" imgW="2400120" imgH="99036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1D8B0DAC-9A85-486D-899F-3302C75B7C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664969" y="2297646"/>
                        <a:ext cx="5040560" cy="20815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A0FF202E-A8CC-4E4C-B75F-BF89D811CA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5082764"/>
              </p:ext>
            </p:extLst>
          </p:nvPr>
        </p:nvGraphicFramePr>
        <p:xfrm>
          <a:off x="992560" y="5114288"/>
          <a:ext cx="3832225" cy="116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14320" imgH="520560" progId="Equation.DSMT4">
                  <p:embed/>
                </p:oleObj>
              </mc:Choice>
              <mc:Fallback>
                <p:oleObj name="Equation" r:id="rId10" imgW="1714320" imgH="52056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DA1A5372-520D-4307-83F8-CEA5445A88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92560" y="5114288"/>
                        <a:ext cx="3832225" cy="1163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3FF5A89F-86AA-40F6-8019-636DFC0A04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8756755"/>
              </p:ext>
            </p:extLst>
          </p:nvPr>
        </p:nvGraphicFramePr>
        <p:xfrm>
          <a:off x="4736976" y="5185726"/>
          <a:ext cx="1476375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60240" imgH="457200" progId="Equation.DSMT4">
                  <p:embed/>
                </p:oleObj>
              </mc:Choice>
              <mc:Fallback>
                <p:oleObj name="Equation" r:id="rId12" imgW="660240" imgH="4572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A0FF202E-A8CC-4E4C-B75F-BF89D811CA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736976" y="5185726"/>
                        <a:ext cx="1476375" cy="1020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12520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8144F4-3228-4335-BCCE-C8F9231BB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3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8B3586-EE6F-4A3E-BAE0-872C35E9B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92C10A1-BE76-4095-9073-C87D00060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30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F007714-B302-4D8E-BEC9-8B3B82C75F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1024417"/>
              </p:ext>
            </p:extLst>
          </p:nvPr>
        </p:nvGraphicFramePr>
        <p:xfrm>
          <a:off x="373063" y="1187202"/>
          <a:ext cx="8007350" cy="180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49280" imgH="711000" progId="Equation.DSMT4">
                  <p:embed/>
                </p:oleObj>
              </mc:Choice>
              <mc:Fallback>
                <p:oleObj name="Equation" r:id="rId2" imgW="3149280" imgH="7110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DF007714-B302-4D8E-BEC9-8B3B82C75F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73063" y="1187202"/>
                        <a:ext cx="8007350" cy="1809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D4D2AA55-D39A-4174-ADB0-A7AA9D3EA2EB}"/>
              </a:ext>
            </a:extLst>
          </p:cNvPr>
          <p:cNvSpPr txBox="1"/>
          <p:nvPr/>
        </p:nvSpPr>
        <p:spPr>
          <a:xfrm>
            <a:off x="0" y="2996952"/>
            <a:ext cx="53285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4. </a:t>
            </a:r>
            <a:r>
              <a:rPr lang="zh-CN" altLang="en-US" sz="2400" dirty="0"/>
              <a:t>化简成线性函数（仅保留一次项）</a:t>
            </a: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1D8B0DAC-9A85-486D-899F-3302C75B7C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0406067"/>
              </p:ext>
            </p:extLst>
          </p:nvPr>
        </p:nvGraphicFramePr>
        <p:xfrm>
          <a:off x="371947" y="3479890"/>
          <a:ext cx="6264378" cy="741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77960" imgH="304560" progId="Equation.DSMT4">
                  <p:embed/>
                </p:oleObj>
              </mc:Choice>
              <mc:Fallback>
                <p:oleObj name="Equation" r:id="rId4" imgW="2577960" imgH="30456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1D8B0DAC-9A85-486D-899F-3302C75B7C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1947" y="3479890"/>
                        <a:ext cx="6264378" cy="7411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6BE44061-C573-495B-B0BD-160840318F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944938"/>
              </p:ext>
            </p:extLst>
          </p:nvPr>
        </p:nvGraphicFramePr>
        <p:xfrm>
          <a:off x="1314450" y="4405313"/>
          <a:ext cx="3052763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57120" imgH="482400" progId="Equation.DSMT4">
                  <p:embed/>
                </p:oleObj>
              </mc:Choice>
              <mc:Fallback>
                <p:oleObj name="Equation" r:id="rId6" imgW="1257120" imgH="48240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1D8B0DAC-9A85-486D-899F-3302C75B7C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14450" y="4405313"/>
                        <a:ext cx="3052763" cy="1174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AA004862-A58D-4538-9B30-6101DB3077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6390759"/>
              </p:ext>
            </p:extLst>
          </p:nvPr>
        </p:nvGraphicFramePr>
        <p:xfrm>
          <a:off x="1299047" y="5734725"/>
          <a:ext cx="4687888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30320" imgH="228600" progId="Equation.DSMT4">
                  <p:embed/>
                </p:oleObj>
              </mc:Choice>
              <mc:Fallback>
                <p:oleObj name="Equation" r:id="rId8" imgW="1930320" imgH="2286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6BE44061-C573-495B-B0BD-160840318F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299047" y="5734725"/>
                        <a:ext cx="4687888" cy="555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37489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8144F4-3228-4335-BCCE-C8F9231BB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3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8B3586-EE6F-4A3E-BAE0-872C35E9B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92C10A1-BE76-4095-9073-C87D00060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31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F007714-B302-4D8E-BEC9-8B3B82C75F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063" y="1187202"/>
          <a:ext cx="8007350" cy="180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49280" imgH="711000" progId="Equation.DSMT4">
                  <p:embed/>
                </p:oleObj>
              </mc:Choice>
              <mc:Fallback>
                <p:oleObj name="Equation" r:id="rId2" imgW="3149280" imgH="7110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DF007714-B302-4D8E-BEC9-8B3B82C75F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73063" y="1187202"/>
                        <a:ext cx="8007350" cy="1809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D4D2AA55-D39A-4174-ADB0-A7AA9D3EA2EB}"/>
              </a:ext>
            </a:extLst>
          </p:cNvPr>
          <p:cNvSpPr txBox="1"/>
          <p:nvPr/>
        </p:nvSpPr>
        <p:spPr>
          <a:xfrm>
            <a:off x="0" y="2996952"/>
            <a:ext cx="53285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5. </a:t>
            </a:r>
            <a:r>
              <a:rPr lang="zh-CN" altLang="en-US" sz="2400" dirty="0"/>
              <a:t>化简成二次函数（保留到二次项）</a:t>
            </a: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1D8B0DAC-9A85-486D-899F-3302C75B7C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7442855"/>
              </p:ext>
            </p:extLst>
          </p:nvPr>
        </p:nvGraphicFramePr>
        <p:xfrm>
          <a:off x="373063" y="3498850"/>
          <a:ext cx="9523412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736880" imgH="393480" progId="Equation.DSMT4">
                  <p:embed/>
                </p:oleObj>
              </mc:Choice>
              <mc:Fallback>
                <p:oleObj name="Equation" r:id="rId4" imgW="4736880" imgH="39348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1D8B0DAC-9A85-486D-899F-3302C75B7C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3063" y="3498850"/>
                        <a:ext cx="9523412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AA004862-A58D-4538-9B30-6101DB3077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527193"/>
              </p:ext>
            </p:extLst>
          </p:nvPr>
        </p:nvGraphicFramePr>
        <p:xfrm>
          <a:off x="1136576" y="4194124"/>
          <a:ext cx="5400600" cy="105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63480" imgH="482400" progId="Equation.DSMT4">
                  <p:embed/>
                </p:oleObj>
              </mc:Choice>
              <mc:Fallback>
                <p:oleObj name="Equation" r:id="rId6" imgW="2463480" imgH="48240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AA004862-A58D-4538-9B30-6101DB3077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36576" y="4194124"/>
                        <a:ext cx="5400600" cy="10583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1E9086B8-0D54-4790-B646-13B87BB07D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0019553"/>
              </p:ext>
            </p:extLst>
          </p:nvPr>
        </p:nvGraphicFramePr>
        <p:xfrm>
          <a:off x="1136576" y="5312955"/>
          <a:ext cx="6285631" cy="1080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806560" imgH="482400" progId="Equation.DSMT4">
                  <p:embed/>
                </p:oleObj>
              </mc:Choice>
              <mc:Fallback>
                <p:oleObj name="Equation" r:id="rId8" imgW="2806560" imgH="48240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AA004862-A58D-4538-9B30-6101DB3077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36576" y="5312955"/>
                        <a:ext cx="6285631" cy="10806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22061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842476-D2D5-4EA1-99A2-A268E567F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最优化的二次函数表示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FDC3081-EFF2-4ADC-ACFD-01A24A3753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二次函数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在最优化设计中，通常经过化简，利用二次函数来表示一个复杂的函数。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dirty="0"/>
                  <a:t>维多元函数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二次函数描述如下：</a:t>
                </a:r>
                <a:endParaRPr lang="en-US" altLang="zh-CN" dirty="0"/>
              </a:p>
              <a:p>
                <a:pPr lvl="2"/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FDC3081-EFF2-4ADC-ACFD-01A24A3753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66" t="-2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5EAFB9-BB50-46C8-B3FB-8CCB068A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53E6479-6C24-425F-93F0-465E52E89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32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C3F888C-62FC-48E5-8BFB-BCDA48C277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68624" y="3429000"/>
          <a:ext cx="5956274" cy="1318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77680" imgH="393480" progId="Equation.DSMT4">
                  <p:embed/>
                </p:oleObj>
              </mc:Choice>
              <mc:Fallback>
                <p:oleObj name="Equation" r:id="rId4" imgW="1777680" imgH="3934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DC3F888C-62FC-48E5-8BFB-BCDA48C277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68624" y="3429000"/>
                        <a:ext cx="5956274" cy="1318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39D1D0AF-7EB4-4C00-B7F4-C279328F4AA5}"/>
              </a:ext>
            </a:extLst>
          </p:cNvPr>
          <p:cNvSpPr/>
          <p:nvPr/>
        </p:nvSpPr>
        <p:spPr bwMode="auto">
          <a:xfrm>
            <a:off x="4332174" y="3703493"/>
            <a:ext cx="499072" cy="599582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A3FEB64-4C02-484D-815B-16D502EE9B36}"/>
              </a:ext>
            </a:extLst>
          </p:cNvPr>
          <p:cNvSpPr/>
          <p:nvPr/>
        </p:nvSpPr>
        <p:spPr bwMode="auto">
          <a:xfrm>
            <a:off x="5601072" y="3717032"/>
            <a:ext cx="592088" cy="586042"/>
          </a:xfrm>
          <a:prstGeom prst="rect">
            <a:avLst/>
          </a:prstGeom>
          <a:noFill/>
          <a:ln w="28575" cap="flat" cmpd="sng" algn="ctr">
            <a:solidFill>
              <a:srgbClr val="0000FF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568F5B-EBFF-45C3-856A-AFE6D56FD1AF}"/>
              </a:ext>
            </a:extLst>
          </p:cNvPr>
          <p:cNvSpPr/>
          <p:nvPr/>
        </p:nvSpPr>
        <p:spPr bwMode="auto">
          <a:xfrm>
            <a:off x="7025826" y="3717032"/>
            <a:ext cx="499072" cy="586042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843F685-E7BF-4CC0-8658-221249092E74}"/>
              </a:ext>
            </a:extLst>
          </p:cNvPr>
          <p:cNvSpPr txBox="1"/>
          <p:nvPr/>
        </p:nvSpPr>
        <p:spPr>
          <a:xfrm>
            <a:off x="2192229" y="5565799"/>
            <a:ext cx="2350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FF0000"/>
                </a:solidFill>
              </a:rPr>
              <a:t>n</a:t>
            </a:r>
            <a:r>
              <a:rPr lang="en-US" altLang="zh-CN" sz="2400" dirty="0" err="1">
                <a:solidFill>
                  <a:srgbClr val="FF0000"/>
                </a:solidFill>
                <a:sym typeface="Symbol" panose="05050102010706020507" pitchFamily="18" charset="2"/>
              </a:rPr>
              <a:t>n</a:t>
            </a:r>
            <a:r>
              <a:rPr lang="zh-CN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阶常数矩阵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8CC2B82-8AFD-4BB5-B2C8-FBA2D3DE3F72}"/>
              </a:ext>
            </a:extLst>
          </p:cNvPr>
          <p:cNvSpPr txBox="1"/>
          <p:nvPr/>
        </p:nvSpPr>
        <p:spPr>
          <a:xfrm>
            <a:off x="5096897" y="5565799"/>
            <a:ext cx="22541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</a:rPr>
              <a:t>n</a:t>
            </a:r>
            <a:r>
              <a:rPr lang="zh-CN" altLang="en-US" sz="2400" dirty="0">
                <a:solidFill>
                  <a:srgbClr val="0000FF"/>
                </a:solidFill>
              </a:rPr>
              <a:t>阶常数列矩阵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41116F8-545E-4D9C-8256-75911E4DEBA0}"/>
              </a:ext>
            </a:extLst>
          </p:cNvPr>
          <p:cNvSpPr txBox="1"/>
          <p:nvPr/>
        </p:nvSpPr>
        <p:spPr>
          <a:xfrm>
            <a:off x="7761312" y="5565799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常数项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E094F0F-D4E2-46D2-AA0B-760DBCC94487}"/>
              </a:ext>
            </a:extLst>
          </p:cNvPr>
          <p:cNvCxnSpPr/>
          <p:nvPr/>
        </p:nvCxnSpPr>
        <p:spPr bwMode="auto">
          <a:xfrm flipV="1">
            <a:off x="3216207" y="4391854"/>
            <a:ext cx="1220950" cy="11147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ACBB3B7-C256-4CA9-B565-50F73815E8D0}"/>
              </a:ext>
            </a:extLst>
          </p:cNvPr>
          <p:cNvCxnSpPr/>
          <p:nvPr/>
        </p:nvCxnSpPr>
        <p:spPr bwMode="auto">
          <a:xfrm flipV="1">
            <a:off x="5468845" y="4330464"/>
            <a:ext cx="377044" cy="11147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EC5A7C8-1F2A-4DF1-B504-96E5CB0CDAB4}"/>
              </a:ext>
            </a:extLst>
          </p:cNvPr>
          <p:cNvCxnSpPr>
            <a:stCxn id="12" idx="0"/>
          </p:cNvCxnSpPr>
          <p:nvPr/>
        </p:nvCxnSpPr>
        <p:spPr bwMode="auto">
          <a:xfrm flipH="1" flipV="1">
            <a:off x="7367267" y="4354296"/>
            <a:ext cx="948043" cy="121150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思想气泡: 云 15">
            <a:extLst>
              <a:ext uri="{FF2B5EF4-FFF2-40B4-BE49-F238E27FC236}">
                <a16:creationId xmlns:a16="http://schemas.microsoft.com/office/drawing/2014/main" id="{282D6DF4-7839-4D19-80D7-76099D9CAAF9}"/>
              </a:ext>
            </a:extLst>
          </p:cNvPr>
          <p:cNvSpPr/>
          <p:nvPr/>
        </p:nvSpPr>
        <p:spPr bwMode="auto">
          <a:xfrm>
            <a:off x="5923384" y="646979"/>
            <a:ext cx="3727597" cy="1152128"/>
          </a:xfrm>
          <a:prstGeom prst="cloudCallout">
            <a:avLst>
              <a:gd name="adj1" fmla="val -67239"/>
              <a:gd name="adj2" fmla="val 191470"/>
            </a:avLst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charset="0"/>
              </a:rPr>
              <a:t>只取到二次项的泰勒展开式</a:t>
            </a:r>
          </a:p>
        </p:txBody>
      </p:sp>
    </p:spTree>
    <p:extLst>
      <p:ext uri="{BB962C8B-B14F-4D97-AF65-F5344CB8AC3E}">
        <p14:creationId xmlns:p14="http://schemas.microsoft.com/office/powerpoint/2010/main" val="3675246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/>
      <p:bldP spid="11" grpId="0"/>
      <p:bldP spid="12" grpId="0"/>
      <p:bldP spid="1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842476-D2D5-4EA1-99A2-A268E567F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无约束优化问题的极值条件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FDC3081-EFF2-4ADC-ACFD-01A24A3753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无约束优化问题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对于目标函数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</m:oMath>
                </a14:m>
                <a:r>
                  <a:rPr lang="zh-CN" altLang="en-US" dirty="0"/>
                  <a:t>求解极值，如果</a:t>
                </a:r>
                <a:r>
                  <a:rPr lang="zh-CN" altLang="en-US" dirty="0">
                    <a:solidFill>
                      <a:srgbClr val="0000FF"/>
                    </a:solidFill>
                  </a:rPr>
                  <a:t>对变量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dirty="0">
                    <a:solidFill>
                      <a:srgbClr val="0000FF"/>
                    </a:solidFill>
                  </a:rPr>
                  <a:t>没有任何的约束限制</a:t>
                </a:r>
                <a:r>
                  <a:rPr lang="zh-CN" altLang="en-US" dirty="0"/>
                  <a:t>，称为无约束优化问题。</a:t>
                </a:r>
                <a:endParaRPr lang="en-US" altLang="zh-CN" dirty="0"/>
              </a:p>
              <a:p>
                <a:pPr lvl="2"/>
                <a:r>
                  <a:rPr lang="zh-CN" altLang="en-US" dirty="0">
                    <a:solidFill>
                      <a:srgbClr val="C00000"/>
                    </a:solidFill>
                  </a:rPr>
                  <a:t>一元函数</a:t>
                </a:r>
                <a:r>
                  <a:rPr lang="zh-CN" altLang="en-US" dirty="0"/>
                  <a:t>的无约束优化问题</a:t>
                </a:r>
                <a:endParaRPr lang="en-US" altLang="zh-CN" dirty="0"/>
              </a:p>
              <a:p>
                <a:pPr lvl="2"/>
                <a:r>
                  <a:rPr lang="zh-CN" altLang="en-US" dirty="0">
                    <a:solidFill>
                      <a:srgbClr val="7030A0"/>
                    </a:solidFill>
                  </a:rPr>
                  <a:t>多元函数</a:t>
                </a:r>
                <a:r>
                  <a:rPr lang="zh-CN" altLang="en-US" dirty="0"/>
                  <a:t>的无约束优化问题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FDC3081-EFF2-4ADC-ACFD-01A24A3753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6" t="-2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5EAFB9-BB50-46C8-B3FB-8CCB068A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53E6479-6C24-425F-93F0-465E52E89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5428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842476-D2D5-4EA1-99A2-A268E567F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无约束优化问题的极值条件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DC3081-EFF2-4ADC-ACFD-01A24A375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一元函数的无约束优化问题</a:t>
            </a:r>
            <a:endParaRPr lang="en-US" altLang="zh-CN" dirty="0"/>
          </a:p>
          <a:p>
            <a:pPr lvl="1"/>
            <a:r>
              <a:rPr lang="zh-CN" altLang="en-US" dirty="0"/>
              <a:t>通过导数计算来判断极值条件：</a:t>
            </a:r>
            <a:endParaRPr lang="en-US" altLang="zh-CN" dirty="0"/>
          </a:p>
          <a:p>
            <a:pPr lvl="2"/>
            <a:r>
              <a:rPr lang="zh-CN" altLang="en-US" dirty="0"/>
              <a:t>必要条件：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r>
              <a:rPr lang="zh-CN" altLang="en-US" dirty="0"/>
              <a:t>充分条件：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5EAFB9-BB50-46C8-B3FB-8CCB068A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53E6479-6C24-425F-93F0-465E52E89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34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E6DCB16-03FD-4B5E-82F3-36C7E4B911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0611006"/>
              </p:ext>
            </p:extLst>
          </p:nvPr>
        </p:nvGraphicFramePr>
        <p:xfrm>
          <a:off x="3261801" y="2924944"/>
          <a:ext cx="1691199" cy="585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60240" imgH="228600" progId="Equation.DSMT4">
                  <p:embed/>
                </p:oleObj>
              </mc:Choice>
              <mc:Fallback>
                <p:oleObj name="Equation" r:id="rId2" imgW="6602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61801" y="2924944"/>
                        <a:ext cx="1691199" cy="5854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053AE48-1875-43EA-91BA-B6DBD2C526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215741"/>
              </p:ext>
            </p:extLst>
          </p:nvPr>
        </p:nvGraphicFramePr>
        <p:xfrm>
          <a:off x="3195353" y="4110813"/>
          <a:ext cx="1722437" cy="175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72840" imgH="685800" progId="Equation.DSMT4">
                  <p:embed/>
                </p:oleObj>
              </mc:Choice>
              <mc:Fallback>
                <p:oleObj name="Equation" r:id="rId4" imgW="672840" imgH="6858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1E6DCB16-03FD-4B5E-82F3-36C7E4B911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95353" y="4110813"/>
                        <a:ext cx="1722437" cy="1757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箭头: 右 7">
            <a:extLst>
              <a:ext uri="{FF2B5EF4-FFF2-40B4-BE49-F238E27FC236}">
                <a16:creationId xmlns:a16="http://schemas.microsoft.com/office/drawing/2014/main" id="{FF6192A8-52BF-4FD5-869B-3634B1900729}"/>
              </a:ext>
            </a:extLst>
          </p:cNvPr>
          <p:cNvSpPr/>
          <p:nvPr/>
        </p:nvSpPr>
        <p:spPr bwMode="auto">
          <a:xfrm>
            <a:off x="5154699" y="4282033"/>
            <a:ext cx="648072" cy="288032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2416D200-88E9-4096-B931-298F50EC9F25}"/>
              </a:ext>
            </a:extLst>
          </p:cNvPr>
          <p:cNvSpPr/>
          <p:nvPr/>
        </p:nvSpPr>
        <p:spPr bwMode="auto">
          <a:xfrm>
            <a:off x="5154699" y="4845478"/>
            <a:ext cx="648072" cy="288032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A65396C0-941B-411F-AC68-29F098FC1836}"/>
              </a:ext>
            </a:extLst>
          </p:cNvPr>
          <p:cNvSpPr/>
          <p:nvPr/>
        </p:nvSpPr>
        <p:spPr bwMode="auto">
          <a:xfrm>
            <a:off x="5154699" y="5429254"/>
            <a:ext cx="648072" cy="288032"/>
          </a:xfrm>
          <a:prstGeom prst="rightArrow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B953612C-DEF6-4470-A6A2-7DC0F13955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9992685"/>
              </p:ext>
            </p:extLst>
          </p:nvPr>
        </p:nvGraphicFramePr>
        <p:xfrm>
          <a:off x="6039680" y="4248869"/>
          <a:ext cx="1507740" cy="1569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47640" imgH="672840" progId="Equation.DSMT4">
                  <p:embed/>
                </p:oleObj>
              </mc:Choice>
              <mc:Fallback>
                <p:oleObj name="Equation" r:id="rId6" imgW="647640" imgH="6728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D053AE48-1875-43EA-91BA-B6DBD2C526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039680" y="4248869"/>
                        <a:ext cx="1507740" cy="15698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思想气泡: 云 11">
            <a:extLst>
              <a:ext uri="{FF2B5EF4-FFF2-40B4-BE49-F238E27FC236}">
                <a16:creationId xmlns:a16="http://schemas.microsoft.com/office/drawing/2014/main" id="{A0E3E77D-3A97-418B-B372-CB65A7B24C2F}"/>
              </a:ext>
            </a:extLst>
          </p:cNvPr>
          <p:cNvSpPr/>
          <p:nvPr/>
        </p:nvSpPr>
        <p:spPr bwMode="auto">
          <a:xfrm>
            <a:off x="6969224" y="1700808"/>
            <a:ext cx="1368152" cy="792088"/>
          </a:xfrm>
          <a:prstGeom prst="cloudCallout">
            <a:avLst>
              <a:gd name="adj1" fmla="val -263718"/>
              <a:gd name="adj2" fmla="val 113728"/>
            </a:avLst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charset="0"/>
              </a:rPr>
              <a:t>驻点</a:t>
            </a:r>
          </a:p>
        </p:txBody>
      </p:sp>
    </p:spTree>
    <p:extLst>
      <p:ext uri="{BB962C8B-B14F-4D97-AF65-F5344CB8AC3E}">
        <p14:creationId xmlns:p14="http://schemas.microsoft.com/office/powerpoint/2010/main" val="2149891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842476-D2D5-4EA1-99A2-A268E567F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无约束优化问题的极值条件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DC3081-EFF2-4ADC-ACFD-01A24A375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多元函数的无约束优化问题</a:t>
            </a:r>
            <a:endParaRPr lang="en-US" altLang="zh-CN" dirty="0"/>
          </a:p>
          <a:p>
            <a:pPr lvl="1"/>
            <a:r>
              <a:rPr lang="zh-CN" altLang="en-US" dirty="0"/>
              <a:t>通过导数计算来判断极值条件：</a:t>
            </a:r>
            <a:endParaRPr lang="en-US" altLang="zh-CN" dirty="0"/>
          </a:p>
          <a:p>
            <a:pPr lvl="2"/>
            <a:r>
              <a:rPr lang="zh-CN" altLang="en-US" dirty="0"/>
              <a:t>必要条件：</a:t>
            </a:r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5EAFB9-BB50-46C8-B3FB-8CCB068A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53E6479-6C24-425F-93F0-465E52E89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35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E6DCB16-03FD-4B5E-82F3-36C7E4B911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1229957"/>
              </p:ext>
            </p:extLst>
          </p:nvPr>
        </p:nvGraphicFramePr>
        <p:xfrm>
          <a:off x="3149600" y="2924175"/>
          <a:ext cx="1917700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49160" imgH="228600" progId="Equation.DSMT4">
                  <p:embed/>
                </p:oleObj>
              </mc:Choice>
              <mc:Fallback>
                <p:oleObj name="Equation" r:id="rId2" imgW="749160" imgH="2286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1E6DCB16-03FD-4B5E-82F3-36C7E4B911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49600" y="2924175"/>
                        <a:ext cx="1917700" cy="585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思想气泡: 云 11">
            <a:extLst>
              <a:ext uri="{FF2B5EF4-FFF2-40B4-BE49-F238E27FC236}">
                <a16:creationId xmlns:a16="http://schemas.microsoft.com/office/drawing/2014/main" id="{1C39D300-69F0-4EC6-9E24-C11A2462DDFE}"/>
              </a:ext>
            </a:extLst>
          </p:cNvPr>
          <p:cNvSpPr/>
          <p:nvPr/>
        </p:nvSpPr>
        <p:spPr bwMode="auto">
          <a:xfrm>
            <a:off x="6969224" y="1700808"/>
            <a:ext cx="1368152" cy="792088"/>
          </a:xfrm>
          <a:prstGeom prst="cloudCallout">
            <a:avLst>
              <a:gd name="adj1" fmla="val -263718"/>
              <a:gd name="adj2" fmla="val 113728"/>
            </a:avLst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charset="0"/>
              </a:rPr>
              <a:t>驻点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9D478089-B424-4F59-BA79-29F12C8D95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4540666"/>
              </p:ext>
            </p:extLst>
          </p:nvPr>
        </p:nvGraphicFramePr>
        <p:xfrm>
          <a:off x="2732087" y="3828896"/>
          <a:ext cx="2357438" cy="2579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27000" imgH="1015920" progId="Equation.DSMT4">
                  <p:embed/>
                </p:oleObj>
              </mc:Choice>
              <mc:Fallback>
                <p:oleObj name="Equation" r:id="rId4" imgW="927000" imgH="101592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53767343-685B-4694-90C1-CD6790AB55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32087" y="3828896"/>
                        <a:ext cx="2357438" cy="2579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46969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842476-D2D5-4EA1-99A2-A268E567F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无约束优化问题的极值条件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DC3081-EFF2-4ADC-ACFD-01A24A375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多元函数的无约束优化问题</a:t>
            </a:r>
            <a:endParaRPr lang="en-US" altLang="zh-CN" dirty="0"/>
          </a:p>
          <a:p>
            <a:pPr lvl="1"/>
            <a:r>
              <a:rPr lang="zh-CN" altLang="en-US" dirty="0"/>
              <a:t>通过导数计算来判断极值条件：</a:t>
            </a:r>
            <a:endParaRPr lang="en-US" altLang="zh-CN" dirty="0"/>
          </a:p>
          <a:p>
            <a:pPr lvl="2"/>
            <a:r>
              <a:rPr lang="zh-CN" altLang="en-US" dirty="0"/>
              <a:t>充分条件：</a:t>
            </a:r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5EAFB9-BB50-46C8-B3FB-8CCB068A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53E6479-6C24-425F-93F0-465E52E89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36</a:t>
            </a:fld>
            <a:endParaRPr lang="en-US" altLang="zh-CN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8B39FEC-671B-4766-A40D-158734659E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2622437"/>
              </p:ext>
            </p:extLst>
          </p:nvPr>
        </p:nvGraphicFramePr>
        <p:xfrm>
          <a:off x="1064568" y="2912908"/>
          <a:ext cx="6962775" cy="183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05040" imgH="711000" progId="Equation.DSMT4">
                  <p:embed/>
                </p:oleObj>
              </mc:Choice>
              <mc:Fallback>
                <p:oleObj name="Equation" r:id="rId2" imgW="2705040" imgH="7110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68F6D353-2E9C-413A-979E-754B6EAAC5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64568" y="2912908"/>
                        <a:ext cx="6962775" cy="1831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对话气泡: 矩形 9">
            <a:extLst>
              <a:ext uri="{FF2B5EF4-FFF2-40B4-BE49-F238E27FC236}">
                <a16:creationId xmlns:a16="http://schemas.microsoft.com/office/drawing/2014/main" id="{251CF392-0079-477C-915F-FCFE0926DA8F}"/>
              </a:ext>
            </a:extLst>
          </p:cNvPr>
          <p:cNvSpPr/>
          <p:nvPr/>
        </p:nvSpPr>
        <p:spPr bwMode="auto">
          <a:xfrm>
            <a:off x="1781076" y="5423868"/>
            <a:ext cx="6484292" cy="576064"/>
          </a:xfrm>
          <a:prstGeom prst="wedgeRectCallout">
            <a:avLst>
              <a:gd name="adj1" fmla="val 2419"/>
              <a:gd name="adj2" fmla="val -186234"/>
            </a:avLst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charset="0"/>
              </a:rPr>
              <a:t>对海塞（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charset="0"/>
              </a:rPr>
              <a:t>Hessian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charset="0"/>
              </a:rPr>
              <a:t>）</a:t>
            </a:r>
            <a:r>
              <a:rPr lang="zh-CN" altLang="en-US" sz="2400" dirty="0">
                <a:solidFill>
                  <a:srgbClr val="0000FF"/>
                </a:solidFill>
              </a:rPr>
              <a:t>矩阵的“正负”进行判定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4BF5F77-FFB5-4FF3-BE16-D338B689A4B6}"/>
              </a:ext>
            </a:extLst>
          </p:cNvPr>
          <p:cNvSpPr/>
          <p:nvPr/>
        </p:nvSpPr>
        <p:spPr bwMode="auto">
          <a:xfrm>
            <a:off x="4520952" y="3789040"/>
            <a:ext cx="1440160" cy="78438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830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842476-D2D5-4EA1-99A2-A268E567F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矩阵的正定、负定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DC3081-EFF2-4ADC-ACFD-01A24A375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ym typeface="Symbol" panose="05050102010706020507" pitchFamily="18" charset="2"/>
              </a:rPr>
              <a:t>如果任意的非零向量                            ：</a:t>
            </a:r>
            <a:endParaRPr lang="en-US" altLang="zh-CN" dirty="0">
              <a:sym typeface="Symbol" panose="05050102010706020507" pitchFamily="18" charset="2"/>
            </a:endParaRPr>
          </a:p>
          <a:p>
            <a:pPr lvl="1"/>
            <a:r>
              <a:rPr lang="zh-CN" altLang="en-US" dirty="0">
                <a:sym typeface="Symbol" panose="05050102010706020507" pitchFamily="18" charset="2"/>
              </a:rPr>
              <a:t>若：</a:t>
            </a:r>
            <a:endParaRPr lang="en-US" altLang="zh-CN" dirty="0">
              <a:sym typeface="Symbol" panose="05050102010706020507" pitchFamily="18" charset="2"/>
            </a:endParaRPr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5EAFB9-BB50-46C8-B3FB-8CCB068A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53E6479-6C24-425F-93F0-465E52E89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37</a:t>
            </a:fld>
            <a:endParaRPr lang="en-US" altLang="zh-CN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8B39FEC-671B-4766-A40D-158734659E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7742925"/>
              </p:ext>
            </p:extLst>
          </p:nvPr>
        </p:nvGraphicFramePr>
        <p:xfrm>
          <a:off x="2898775" y="2348880"/>
          <a:ext cx="17970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8400" imgH="203040" progId="Equation.DSMT4">
                  <p:embed/>
                </p:oleObj>
              </mc:Choice>
              <mc:Fallback>
                <p:oleObj name="Equation" r:id="rId2" imgW="698400" imgH="20304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E8B39FEC-671B-4766-A40D-158734659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98775" y="2348880"/>
                        <a:ext cx="1797050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35541A1-94D0-4ADD-AC03-BFAEB82B68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4675706"/>
              </p:ext>
            </p:extLst>
          </p:nvPr>
        </p:nvGraphicFramePr>
        <p:xfrm>
          <a:off x="4592960" y="1196752"/>
          <a:ext cx="3601460" cy="7357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80800" imgH="241200" progId="Equation.DSMT4">
                  <p:embed/>
                </p:oleObj>
              </mc:Choice>
              <mc:Fallback>
                <p:oleObj name="Equation" r:id="rId4" imgW="11808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92960" y="1196752"/>
                        <a:ext cx="3601460" cy="7357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箭头: 右 10">
            <a:extLst>
              <a:ext uri="{FF2B5EF4-FFF2-40B4-BE49-F238E27FC236}">
                <a16:creationId xmlns:a16="http://schemas.microsoft.com/office/drawing/2014/main" id="{C801F035-26BA-4937-844C-3F800D784F90}"/>
              </a:ext>
            </a:extLst>
          </p:cNvPr>
          <p:cNvSpPr/>
          <p:nvPr/>
        </p:nvSpPr>
        <p:spPr bwMode="auto">
          <a:xfrm>
            <a:off x="5025008" y="2502048"/>
            <a:ext cx="576064" cy="307851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0D321594-86D8-4741-A946-6F00408471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9519868"/>
              </p:ext>
            </p:extLst>
          </p:nvPr>
        </p:nvGraphicFramePr>
        <p:xfrm>
          <a:off x="5874791" y="2394035"/>
          <a:ext cx="12096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69800" imgH="203040" progId="Equation.DSMT4">
                  <p:embed/>
                </p:oleObj>
              </mc:Choice>
              <mc:Fallback>
                <p:oleObj name="Equation" r:id="rId6" imgW="469800" imgH="20304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E8B39FEC-671B-4766-A40D-158734659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874791" y="2394035"/>
                        <a:ext cx="1209675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9C68F15E-5CD9-4547-8C0E-E149A9FD52D8}"/>
              </a:ext>
            </a:extLst>
          </p:cNvPr>
          <p:cNvSpPr txBox="1"/>
          <p:nvPr/>
        </p:nvSpPr>
        <p:spPr>
          <a:xfrm>
            <a:off x="931027" y="3336572"/>
            <a:ext cx="4357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判断条件：各阶主子式均大于</a:t>
            </a:r>
            <a:r>
              <a:rPr lang="en-US" altLang="zh-CN" sz="2400" dirty="0"/>
              <a:t>0</a:t>
            </a:r>
            <a:endParaRPr lang="zh-CN" altLang="en-US" sz="2400" dirty="0"/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EE1FD2EB-EEDC-4E21-811A-1356A0034A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6711668"/>
              </p:ext>
            </p:extLst>
          </p:nvPr>
        </p:nvGraphicFramePr>
        <p:xfrm>
          <a:off x="734789" y="4043263"/>
          <a:ext cx="8580437" cy="190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241520" imgH="939600" progId="Equation.DSMT4">
                  <p:embed/>
                </p:oleObj>
              </mc:Choice>
              <mc:Fallback>
                <p:oleObj name="Equation" r:id="rId8" imgW="4241520" imgH="9396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E8B39FEC-671B-4766-A40D-158734659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34789" y="4043263"/>
                        <a:ext cx="8580437" cy="1908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0375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842476-D2D5-4EA1-99A2-A268E567F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主子式均大于</a:t>
            </a:r>
            <a:r>
              <a:rPr lang="en-US" altLang="zh-CN" sz="4400" dirty="0"/>
              <a:t>0</a:t>
            </a:r>
            <a:r>
              <a:rPr lang="zh-CN" altLang="en-US" sz="4400" dirty="0"/>
              <a:t>判定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5EAFB9-BB50-46C8-B3FB-8CCB068A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53E6479-6C24-425F-93F0-465E52E89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38</a:t>
            </a:fld>
            <a:endParaRPr lang="en-US" altLang="zh-CN" dirty="0"/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EE1FD2EB-EEDC-4E21-811A-1356A0034A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1717533"/>
              </p:ext>
            </p:extLst>
          </p:nvPr>
        </p:nvGraphicFramePr>
        <p:xfrm>
          <a:off x="992560" y="1316057"/>
          <a:ext cx="3300000" cy="7447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30040" imgH="253800" progId="Equation.DSMT4">
                  <p:embed/>
                </p:oleObj>
              </mc:Choice>
              <mc:Fallback>
                <p:oleObj name="Equation" r:id="rId2" imgW="1130040" imgH="2538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EE1FD2EB-EEDC-4E21-811A-1356A0034A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92560" y="1316057"/>
                        <a:ext cx="3300000" cy="7447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D2D7A378-21A0-4FD0-B654-F952BE3639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3523054"/>
              </p:ext>
            </p:extLst>
          </p:nvPr>
        </p:nvGraphicFramePr>
        <p:xfrm>
          <a:off x="71438" y="2097088"/>
          <a:ext cx="6162675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8920" imgH="482400" progId="Equation.DSMT4">
                  <p:embed/>
                </p:oleObj>
              </mc:Choice>
              <mc:Fallback>
                <p:oleObj name="Equation" r:id="rId4" imgW="2158920" imgH="4824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EE1FD2EB-EEDC-4E21-811A-1356A0034A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1438" y="2097088"/>
                        <a:ext cx="6162675" cy="1381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F6493BC5-D39D-41B2-82A0-34100980CF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2595488"/>
              </p:ext>
            </p:extLst>
          </p:nvPr>
        </p:nvGraphicFramePr>
        <p:xfrm>
          <a:off x="298576" y="3623405"/>
          <a:ext cx="8758880" cy="1924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51160" imgH="711000" progId="Equation.DSMT4">
                  <p:embed/>
                </p:oleObj>
              </mc:Choice>
              <mc:Fallback>
                <p:oleObj name="Equation" r:id="rId6" imgW="3251160" imgH="71100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279F1D51-54E3-4617-8A46-8B023E711E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98576" y="3623405"/>
                        <a:ext cx="8758880" cy="19247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0C60E682-EF8B-487E-8A94-F75F72470F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8664909"/>
              </p:ext>
            </p:extLst>
          </p:nvPr>
        </p:nvGraphicFramePr>
        <p:xfrm>
          <a:off x="3810000" y="5084763"/>
          <a:ext cx="5770563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81080" imgH="228600" progId="Equation.DSMT4">
                  <p:embed/>
                </p:oleObj>
              </mc:Choice>
              <mc:Fallback>
                <p:oleObj name="Equation" r:id="rId8" imgW="1981080" imgH="22860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F6493BC5-D39D-41B2-82A0-34100980CF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810000" y="5084763"/>
                        <a:ext cx="5770563" cy="668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7025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842476-D2D5-4EA1-99A2-A268E567F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矩阵的正定、负定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DC3081-EFF2-4ADC-ACFD-01A24A375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ym typeface="Symbol" panose="05050102010706020507" pitchFamily="18" charset="2"/>
              </a:rPr>
              <a:t>如果任意的非零向量                            ：</a:t>
            </a:r>
            <a:endParaRPr lang="en-US" altLang="zh-CN" dirty="0">
              <a:sym typeface="Symbol" panose="05050102010706020507" pitchFamily="18" charset="2"/>
            </a:endParaRPr>
          </a:p>
          <a:p>
            <a:pPr lvl="1"/>
            <a:r>
              <a:rPr lang="zh-CN" altLang="en-US" dirty="0">
                <a:sym typeface="Symbol" panose="05050102010706020507" pitchFamily="18" charset="2"/>
              </a:rPr>
              <a:t>若：</a:t>
            </a:r>
            <a:endParaRPr lang="en-US" altLang="zh-CN" dirty="0">
              <a:sym typeface="Symbol" panose="05050102010706020507" pitchFamily="18" charset="2"/>
            </a:endParaRPr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5EAFB9-BB50-46C8-B3FB-8CCB068A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53E6479-6C24-425F-93F0-465E52E89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39</a:t>
            </a:fld>
            <a:endParaRPr lang="en-US" altLang="zh-CN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8B39FEC-671B-4766-A40D-158734659E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5582431"/>
              </p:ext>
            </p:extLst>
          </p:nvPr>
        </p:nvGraphicFramePr>
        <p:xfrm>
          <a:off x="2898775" y="2348880"/>
          <a:ext cx="17970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8400" imgH="203040" progId="Equation.DSMT4">
                  <p:embed/>
                </p:oleObj>
              </mc:Choice>
              <mc:Fallback>
                <p:oleObj name="Equation" r:id="rId2" imgW="698400" imgH="20304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E8B39FEC-671B-4766-A40D-158734659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98775" y="2348880"/>
                        <a:ext cx="1797050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35541A1-94D0-4ADD-AC03-BFAEB82B68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92960" y="1196752"/>
          <a:ext cx="3601460" cy="7357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80800" imgH="241200" progId="Equation.DSMT4">
                  <p:embed/>
                </p:oleObj>
              </mc:Choice>
              <mc:Fallback>
                <p:oleObj name="Equation" r:id="rId4" imgW="1180800" imgH="2412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F35541A1-94D0-4ADD-AC03-BFAEB82B68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92960" y="1196752"/>
                        <a:ext cx="3601460" cy="7357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箭头: 右 10">
            <a:extLst>
              <a:ext uri="{FF2B5EF4-FFF2-40B4-BE49-F238E27FC236}">
                <a16:creationId xmlns:a16="http://schemas.microsoft.com/office/drawing/2014/main" id="{C801F035-26BA-4937-844C-3F800D784F90}"/>
              </a:ext>
            </a:extLst>
          </p:cNvPr>
          <p:cNvSpPr/>
          <p:nvPr/>
        </p:nvSpPr>
        <p:spPr bwMode="auto">
          <a:xfrm>
            <a:off x="5025008" y="2502048"/>
            <a:ext cx="576064" cy="307851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0D321594-86D8-4741-A946-6F00408471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5835192"/>
              </p:ext>
            </p:extLst>
          </p:nvPr>
        </p:nvGraphicFramePr>
        <p:xfrm>
          <a:off x="5874791" y="2394035"/>
          <a:ext cx="12096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69800" imgH="203040" progId="Equation.DSMT4">
                  <p:embed/>
                </p:oleObj>
              </mc:Choice>
              <mc:Fallback>
                <p:oleObj name="Equation" r:id="rId6" imgW="469800" imgH="20304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0D321594-86D8-4741-A946-6F00408471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874791" y="2394035"/>
                        <a:ext cx="1209675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9C68F15E-5CD9-4547-8C0E-E149A9FD52D8}"/>
              </a:ext>
            </a:extLst>
          </p:cNvPr>
          <p:cNvSpPr txBox="1"/>
          <p:nvPr/>
        </p:nvSpPr>
        <p:spPr>
          <a:xfrm>
            <a:off x="931027" y="3336572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判断条件：各阶主子式负正相间（奇负偶正）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EE1FD2EB-EEDC-4E21-811A-1356A0034A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9103279"/>
              </p:ext>
            </p:extLst>
          </p:nvPr>
        </p:nvGraphicFramePr>
        <p:xfrm>
          <a:off x="747713" y="4043363"/>
          <a:ext cx="8553450" cy="190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228920" imgH="939600" progId="Equation.DSMT4">
                  <p:embed/>
                </p:oleObj>
              </mc:Choice>
              <mc:Fallback>
                <p:oleObj name="Equation" r:id="rId8" imgW="4228920" imgH="9396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EE1FD2EB-EEDC-4E21-811A-1356A0034A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47713" y="4043363"/>
                        <a:ext cx="8553450" cy="1908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爆炸形: 14 pt  6">
            <a:extLst>
              <a:ext uri="{FF2B5EF4-FFF2-40B4-BE49-F238E27FC236}">
                <a16:creationId xmlns:a16="http://schemas.microsoft.com/office/drawing/2014/main" id="{B64212BA-D950-4D8D-8FAC-AC523ED0D8B2}"/>
              </a:ext>
            </a:extLst>
          </p:cNvPr>
          <p:cNvSpPr/>
          <p:nvPr/>
        </p:nvSpPr>
        <p:spPr bwMode="auto">
          <a:xfrm>
            <a:off x="3404876" y="5314188"/>
            <a:ext cx="6149503" cy="1440160"/>
          </a:xfrm>
          <a:prstGeom prst="irregularSeal2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>
                <a:solidFill>
                  <a:srgbClr val="0000FF"/>
                </a:solidFill>
              </a:rPr>
              <a:t>非正定、非负定称为不定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37039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842476-D2D5-4EA1-99A2-A268E567F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无约束优化问题的极值条件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DC3081-EFF2-4ADC-ACFD-01A24A375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多元函数的无约束优化问题</a:t>
            </a:r>
            <a:endParaRPr lang="en-US" altLang="zh-CN" dirty="0"/>
          </a:p>
          <a:p>
            <a:pPr lvl="1"/>
            <a:r>
              <a:rPr lang="zh-CN" altLang="en-US" dirty="0"/>
              <a:t>通过导数计算来判断极值条件：</a:t>
            </a:r>
            <a:endParaRPr lang="en-US" altLang="zh-CN" dirty="0"/>
          </a:p>
          <a:p>
            <a:pPr lvl="2"/>
            <a:r>
              <a:rPr lang="zh-CN" altLang="en-US" dirty="0"/>
              <a:t>充分条件：</a:t>
            </a:r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5EAFB9-BB50-46C8-B3FB-8CCB068A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53E6479-6C24-425F-93F0-465E52E89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40</a:t>
            </a:fld>
            <a:endParaRPr lang="en-US" altLang="zh-CN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8B39FEC-671B-4766-A40D-158734659E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4568" y="2912908"/>
          <a:ext cx="6962775" cy="183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05040" imgH="711000" progId="Equation.DSMT4">
                  <p:embed/>
                </p:oleObj>
              </mc:Choice>
              <mc:Fallback>
                <p:oleObj name="Equation" r:id="rId2" imgW="2705040" imgH="7110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E8B39FEC-671B-4766-A40D-158734659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64568" y="2912908"/>
                        <a:ext cx="6962775" cy="1831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C4BF5F77-FFB5-4FF3-BE16-D338B689A4B6}"/>
              </a:ext>
            </a:extLst>
          </p:cNvPr>
          <p:cNvSpPr/>
          <p:nvPr/>
        </p:nvSpPr>
        <p:spPr bwMode="auto">
          <a:xfrm>
            <a:off x="4520952" y="3789040"/>
            <a:ext cx="1440160" cy="78438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41970A-8567-4EA2-A121-590B0E71AE91}"/>
              </a:ext>
            </a:extLst>
          </p:cNvPr>
          <p:cNvSpPr txBox="1"/>
          <p:nvPr/>
        </p:nvSpPr>
        <p:spPr>
          <a:xfrm>
            <a:off x="3224808" y="5020850"/>
            <a:ext cx="3147415" cy="1200329"/>
          </a:xfrm>
          <a:prstGeom prst="rect">
            <a:avLst/>
          </a:prstGeom>
          <a:solidFill>
            <a:srgbClr val="FFFF6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i="1" dirty="0"/>
              <a:t>H</a:t>
            </a:r>
            <a:r>
              <a:rPr lang="zh-CN" altLang="en-US" sz="2400" dirty="0">
                <a:solidFill>
                  <a:srgbClr val="0000FF"/>
                </a:solidFill>
              </a:rPr>
              <a:t>正定</a:t>
            </a:r>
            <a:r>
              <a:rPr lang="zh-CN" altLang="en-US" sz="2400" dirty="0"/>
              <a:t>，</a:t>
            </a:r>
            <a:r>
              <a:rPr lang="zh-CN" altLang="en-US" sz="2400" dirty="0">
                <a:solidFill>
                  <a:srgbClr val="0000FF"/>
                </a:solidFill>
              </a:rPr>
              <a:t>极小值点</a:t>
            </a:r>
            <a:endParaRPr lang="en-US" altLang="zh-CN" sz="2400" dirty="0">
              <a:solidFill>
                <a:srgbClr val="0000FF"/>
              </a:solidFill>
            </a:endParaRPr>
          </a:p>
          <a:p>
            <a:r>
              <a:rPr lang="en-US" altLang="zh-CN" sz="2400" i="1" dirty="0"/>
              <a:t>H</a:t>
            </a:r>
            <a:r>
              <a:rPr lang="zh-CN" altLang="en-US" sz="2400" dirty="0">
                <a:solidFill>
                  <a:srgbClr val="FF0000"/>
                </a:solidFill>
              </a:rPr>
              <a:t>负定，极大值点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en-US" altLang="zh-CN" sz="2400" i="1" dirty="0"/>
              <a:t>H</a:t>
            </a:r>
            <a:r>
              <a:rPr lang="zh-CN" altLang="en-US" sz="2400" dirty="0">
                <a:solidFill>
                  <a:srgbClr val="7030A0"/>
                </a:solidFill>
              </a:rPr>
              <a:t>不定，鞍点</a:t>
            </a:r>
          </a:p>
        </p:txBody>
      </p:sp>
    </p:spTree>
    <p:extLst>
      <p:ext uri="{BB962C8B-B14F-4D97-AF65-F5344CB8AC3E}">
        <p14:creationId xmlns:p14="http://schemas.microsoft.com/office/powerpoint/2010/main" val="3572318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3489B-21E9-4A2D-8F24-12347959A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无约束优化问题的极值条件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D78F68-8566-4335-BB3B-320F3A541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4</a:t>
            </a:r>
            <a:r>
              <a:rPr lang="zh-CN" altLang="en-US" dirty="0"/>
              <a:t>（</a:t>
            </a:r>
            <a:r>
              <a:rPr lang="en-US" altLang="zh-CN" dirty="0"/>
              <a:t>P20</a:t>
            </a:r>
            <a:r>
              <a:rPr lang="zh-CN" altLang="en-US" dirty="0"/>
              <a:t>例</a:t>
            </a:r>
            <a:r>
              <a:rPr lang="en-US" altLang="zh-CN" dirty="0"/>
              <a:t>2-5</a:t>
            </a:r>
            <a:r>
              <a:rPr lang="zh-CN" altLang="en-US" dirty="0"/>
              <a:t>）：多元函数无约束极值求解</a:t>
            </a:r>
            <a:endParaRPr lang="en-US" altLang="zh-CN" dirty="0"/>
          </a:p>
          <a:p>
            <a:pPr lvl="1"/>
            <a:r>
              <a:rPr lang="zh-CN" altLang="en-US" dirty="0"/>
              <a:t>求下列函数的极值点以及对应的函数值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8DE8AD-1DFC-41BD-BB0E-CE9D2A13D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131B9AB-B121-48B3-8AE9-A4C631B45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41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E7E79FC-1C88-4BB1-AC78-08F4E89910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3493616"/>
              </p:ext>
            </p:extLst>
          </p:nvPr>
        </p:nvGraphicFramePr>
        <p:xfrm>
          <a:off x="1634135" y="2636912"/>
          <a:ext cx="6637730" cy="663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2720" imgH="241200" progId="Equation.DSMT4">
                  <p:embed/>
                </p:oleObj>
              </mc:Choice>
              <mc:Fallback>
                <p:oleObj name="Equation" r:id="rId2" imgW="241272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34135" y="2636912"/>
                        <a:ext cx="6637730" cy="6637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2D791D57-6857-4D36-99B0-3572EEE48C29}"/>
              </a:ext>
            </a:extLst>
          </p:cNvPr>
          <p:cNvSpPr txBox="1"/>
          <p:nvPr/>
        </p:nvSpPr>
        <p:spPr>
          <a:xfrm>
            <a:off x="344488" y="3573016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解题思路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679EB6A-59A8-42A9-8A14-F7059E98F0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343788"/>
              </p:ext>
            </p:extLst>
          </p:nvPr>
        </p:nvGraphicFramePr>
        <p:xfrm>
          <a:off x="4114800" y="2209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198720" progId="Equation.DSMT4">
                  <p:embed/>
                </p:oleObj>
              </mc:Choice>
              <mc:Fallback>
                <p:oleObj name="Equation" r:id="rId4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14800" y="22098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345B06A-E929-4334-B749-B659F7446D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6222610"/>
              </p:ext>
            </p:extLst>
          </p:nvPr>
        </p:nvGraphicFramePr>
        <p:xfrm>
          <a:off x="2504728" y="3785786"/>
          <a:ext cx="2970213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79280" imgH="228600" progId="Equation.DSMT4">
                  <p:embed/>
                </p:oleObj>
              </mc:Choice>
              <mc:Fallback>
                <p:oleObj name="Equation" r:id="rId6" imgW="1079280" imgH="2286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3E7E79FC-1C88-4BB1-AC78-08F4E89910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04728" y="3785786"/>
                        <a:ext cx="2970213" cy="628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D6702E1-AD4E-4625-8064-303B2C6826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7583357"/>
              </p:ext>
            </p:extLst>
          </p:nvPr>
        </p:nvGraphicFramePr>
        <p:xfrm>
          <a:off x="2521868" y="4809088"/>
          <a:ext cx="4611687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76160" imgH="228600" progId="Equation.DSMT4">
                  <p:embed/>
                </p:oleObj>
              </mc:Choice>
              <mc:Fallback>
                <p:oleObj name="Equation" r:id="rId8" imgW="1676160" imgH="2286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0345B06A-E929-4334-B749-B659F7446D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521868" y="4809088"/>
                        <a:ext cx="4611687" cy="628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53984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6AFA7E-11EB-49B0-8BB3-F2B104579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4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47FDF6-046E-47B0-A545-35B6613D4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C796746-8284-4777-83B5-2578A496F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42</a:t>
            </a:fld>
            <a:endParaRPr lang="en-US" altLang="zh-CN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3147BDF-C809-4194-860B-F2715DC788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897614"/>
              </p:ext>
            </p:extLst>
          </p:nvPr>
        </p:nvGraphicFramePr>
        <p:xfrm>
          <a:off x="560512" y="1918907"/>
          <a:ext cx="4997451" cy="1327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15840" imgH="482400" progId="Equation.DSMT4">
                  <p:embed/>
                </p:oleObj>
              </mc:Choice>
              <mc:Fallback>
                <p:oleObj name="Equation" r:id="rId2" imgW="1815840" imgH="4824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AA3566A7-2F61-412B-8363-09E4A2954C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0512" y="1918907"/>
                        <a:ext cx="4997451" cy="1327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7E5BA05-4F69-4517-9E67-B3BBB94D68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2670458"/>
              </p:ext>
            </p:extLst>
          </p:nvPr>
        </p:nvGraphicFramePr>
        <p:xfrm>
          <a:off x="704528" y="1109042"/>
          <a:ext cx="6637730" cy="663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12720" imgH="241200" progId="Equation.DSMT4">
                  <p:embed/>
                </p:oleObj>
              </mc:Choice>
              <mc:Fallback>
                <p:oleObj name="Equation" r:id="rId4" imgW="2412720" imgH="2412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3E7E79FC-1C88-4BB1-AC78-08F4E89910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04528" y="1109042"/>
                        <a:ext cx="6637730" cy="6637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3C23EC45-A222-453F-9D6D-B188B59D9A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2094610"/>
              </p:ext>
            </p:extLst>
          </p:nvPr>
        </p:nvGraphicFramePr>
        <p:xfrm>
          <a:off x="2072680" y="3385822"/>
          <a:ext cx="3286125" cy="1327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93760" imgH="482400" progId="Equation.DSMT4">
                  <p:embed/>
                </p:oleObj>
              </mc:Choice>
              <mc:Fallback>
                <p:oleObj name="Equation" r:id="rId6" imgW="1193760" imgH="4824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D3147BDF-C809-4194-860B-F2715DC788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72680" y="3385822"/>
                        <a:ext cx="3286125" cy="1327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89F73BE5-5769-49CF-90F9-2737A7EA5E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633909"/>
              </p:ext>
            </p:extLst>
          </p:nvPr>
        </p:nvGraphicFramePr>
        <p:xfrm>
          <a:off x="2213784" y="5066123"/>
          <a:ext cx="1503363" cy="1327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45760" imgH="482400" progId="Equation.DSMT4">
                  <p:embed/>
                </p:oleObj>
              </mc:Choice>
              <mc:Fallback>
                <p:oleObj name="Equation" r:id="rId8" imgW="545760" imgH="4824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3C23EC45-A222-453F-9D6D-B188B59D9A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213784" y="5066123"/>
                        <a:ext cx="1503363" cy="1327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思想气泡: 云 10">
            <a:extLst>
              <a:ext uri="{FF2B5EF4-FFF2-40B4-BE49-F238E27FC236}">
                <a16:creationId xmlns:a16="http://schemas.microsoft.com/office/drawing/2014/main" id="{ED41CA4A-4306-404E-B980-D57917E796FA}"/>
              </a:ext>
            </a:extLst>
          </p:cNvPr>
          <p:cNvSpPr/>
          <p:nvPr/>
        </p:nvSpPr>
        <p:spPr bwMode="auto">
          <a:xfrm>
            <a:off x="6658182" y="4509120"/>
            <a:ext cx="1368152" cy="792088"/>
          </a:xfrm>
          <a:prstGeom prst="cloudCallout">
            <a:avLst>
              <a:gd name="adj1" fmla="val -263718"/>
              <a:gd name="adj2" fmla="val 113728"/>
            </a:avLst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charset="0"/>
              </a:rPr>
              <a:t>驻点</a:t>
            </a:r>
          </a:p>
        </p:txBody>
      </p:sp>
    </p:spTree>
    <p:extLst>
      <p:ext uri="{BB962C8B-B14F-4D97-AF65-F5344CB8AC3E}">
        <p14:creationId xmlns:p14="http://schemas.microsoft.com/office/powerpoint/2010/main" val="4113550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6AFA7E-11EB-49B0-8BB3-F2B104579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4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47FDF6-046E-47B0-A545-35B6613D4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C796746-8284-4777-83B5-2578A496F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43</a:t>
            </a:fld>
            <a:endParaRPr lang="en-US" altLang="zh-CN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3147BDF-C809-4194-860B-F2715DC788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3446824"/>
              </p:ext>
            </p:extLst>
          </p:nvPr>
        </p:nvGraphicFramePr>
        <p:xfrm>
          <a:off x="848544" y="3357483"/>
          <a:ext cx="3144837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3000" imgH="457200" progId="Equation.DSMT4">
                  <p:embed/>
                </p:oleObj>
              </mc:Choice>
              <mc:Fallback>
                <p:oleObj name="Equation" r:id="rId2" imgW="1143000" imgH="4572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D3147BDF-C809-4194-860B-F2715DC788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48544" y="3357483"/>
                        <a:ext cx="3144837" cy="1257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7E5BA05-4F69-4517-9E67-B3BBB94D68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2290879"/>
              </p:ext>
            </p:extLst>
          </p:nvPr>
        </p:nvGraphicFramePr>
        <p:xfrm>
          <a:off x="848544" y="1253447"/>
          <a:ext cx="6637338" cy="195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12720" imgH="711000" progId="Equation.DSMT4">
                  <p:embed/>
                </p:oleObj>
              </mc:Choice>
              <mc:Fallback>
                <p:oleObj name="Equation" r:id="rId4" imgW="2412720" imgH="7110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67E5BA05-4F69-4517-9E67-B3BBB94D68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48544" y="1253447"/>
                        <a:ext cx="6637338" cy="195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89F73BE5-5769-49CF-90F9-2737A7EA5E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5855949"/>
              </p:ext>
            </p:extLst>
          </p:nvPr>
        </p:nvGraphicFramePr>
        <p:xfrm>
          <a:off x="1072580" y="5057341"/>
          <a:ext cx="3600450" cy="1327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07880" imgH="482400" progId="Equation.DSMT4">
                  <p:embed/>
                </p:oleObj>
              </mc:Choice>
              <mc:Fallback>
                <p:oleObj name="Equation" r:id="rId6" imgW="1307880" imgH="4824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89F73BE5-5769-49CF-90F9-2737A7EA5E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72580" y="5057341"/>
                        <a:ext cx="3600450" cy="1327150"/>
                      </a:xfrm>
                      <a:prstGeom prst="rect">
                        <a:avLst/>
                      </a:prstGeom>
                      <a:ln w="28575"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思想气泡: 云 10">
            <a:extLst>
              <a:ext uri="{FF2B5EF4-FFF2-40B4-BE49-F238E27FC236}">
                <a16:creationId xmlns:a16="http://schemas.microsoft.com/office/drawing/2014/main" id="{ED41CA4A-4306-404E-B980-D57917E796FA}"/>
              </a:ext>
            </a:extLst>
          </p:cNvPr>
          <p:cNvSpPr/>
          <p:nvPr/>
        </p:nvSpPr>
        <p:spPr bwMode="auto">
          <a:xfrm>
            <a:off x="7905328" y="3986133"/>
            <a:ext cx="1648173" cy="792088"/>
          </a:xfrm>
          <a:prstGeom prst="cloudCallout">
            <a:avLst>
              <a:gd name="adj1" fmla="val -97467"/>
              <a:gd name="adj2" fmla="val -127978"/>
            </a:avLst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charset="0"/>
              </a:rPr>
              <a:t>H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charset="0"/>
              </a:rPr>
              <a:t>正定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6E6236DB-D29B-4DCF-A1B2-2A38A2FD42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0990825"/>
              </p:ext>
            </p:extLst>
          </p:nvPr>
        </p:nvGraphicFramePr>
        <p:xfrm>
          <a:off x="5025007" y="2030333"/>
          <a:ext cx="3808413" cy="265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84200" imgH="965160" progId="Equation.DSMT4">
                  <p:embed/>
                </p:oleObj>
              </mc:Choice>
              <mc:Fallback>
                <p:oleObj name="Equation" r:id="rId8" imgW="1384200" imgH="9651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D3147BDF-C809-4194-860B-F2715DC788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025007" y="2030333"/>
                        <a:ext cx="3808413" cy="2654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箭头: 右 2">
            <a:extLst>
              <a:ext uri="{FF2B5EF4-FFF2-40B4-BE49-F238E27FC236}">
                <a16:creationId xmlns:a16="http://schemas.microsoft.com/office/drawing/2014/main" id="{2132BCD1-273D-4D02-9F50-31110DE515C9}"/>
              </a:ext>
            </a:extLst>
          </p:cNvPr>
          <p:cNvSpPr/>
          <p:nvPr/>
        </p:nvSpPr>
        <p:spPr bwMode="auto">
          <a:xfrm>
            <a:off x="4808984" y="5461519"/>
            <a:ext cx="576064" cy="45759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5D77184C-D352-4E54-B017-0D487DC093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6276831"/>
              </p:ext>
            </p:extLst>
          </p:nvPr>
        </p:nvGraphicFramePr>
        <p:xfrm>
          <a:off x="5497363" y="5441516"/>
          <a:ext cx="18510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72840" imgH="203040" progId="Equation.DSMT4">
                  <p:embed/>
                </p:oleObj>
              </mc:Choice>
              <mc:Fallback>
                <p:oleObj name="Equation" r:id="rId10" imgW="672840" imgH="20304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67E5BA05-4F69-4517-9E67-B3BBB94D68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497363" y="5441516"/>
                        <a:ext cx="1851025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28628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A37CD2-7B75-442F-86E4-BF40BD712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F2AD80-82FB-4BFE-A83A-0F517175C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求下列函数极值点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70BF61-9106-4BFD-9F14-8C4C77565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E6500B9-A0E9-4EB2-9977-861E0F022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44</a:t>
            </a:fld>
            <a:endParaRPr lang="en-US" altLang="zh-CN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E652390-1E53-4E9F-AA12-B6BBA5E1D4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907082"/>
              </p:ext>
            </p:extLst>
          </p:nvPr>
        </p:nvGraphicFramePr>
        <p:xfrm>
          <a:off x="4114800" y="2209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14400" imgH="198720" progId="Equation.DSMT4">
                  <p:embed/>
                </p:oleObj>
              </mc:Choice>
              <mc:Fallback>
                <p:oleObj name="Equation" r:id="rId2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14800" y="22098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728FDEE-1400-44D4-8B72-7D3158D9BC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8017989"/>
              </p:ext>
            </p:extLst>
          </p:nvPr>
        </p:nvGraphicFramePr>
        <p:xfrm>
          <a:off x="1828006" y="3429000"/>
          <a:ext cx="7344816" cy="8457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95200" imgH="241200" progId="Equation.DSMT4">
                  <p:embed/>
                </p:oleObj>
              </mc:Choice>
              <mc:Fallback>
                <p:oleObj name="Equation" r:id="rId4" imgW="2095200" imgH="2412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DF007714-B302-4D8E-BEC9-8B3B82C75F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28006" y="3429000"/>
                        <a:ext cx="7344816" cy="8457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67183463-6131-42C9-96EA-62078D3EF2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2366604"/>
              </p:ext>
            </p:extLst>
          </p:nvPr>
        </p:nvGraphicFramePr>
        <p:xfrm>
          <a:off x="1891506" y="1990450"/>
          <a:ext cx="6122988" cy="135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7680" imgH="393480" progId="Equation.DSMT4">
                  <p:embed/>
                </p:oleObj>
              </mc:Choice>
              <mc:Fallback>
                <p:oleObj name="Equation" r:id="rId6" imgW="1777680" imgH="3934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8728FDEE-1400-44D4-8B72-7D3158D9BC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91506" y="1990450"/>
                        <a:ext cx="6122988" cy="1357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05400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6941</TotalTime>
  <Words>1488</Words>
  <Application>Microsoft Office PowerPoint</Application>
  <PresentationFormat>A4 纸张(210x297 毫米)</PresentationFormat>
  <Paragraphs>312</Paragraphs>
  <Slides>44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2" baseType="lpstr">
      <vt:lpstr>黑体</vt:lpstr>
      <vt:lpstr>宋体</vt:lpstr>
      <vt:lpstr>Arial</vt:lpstr>
      <vt:lpstr>Cambria Math</vt:lpstr>
      <vt:lpstr>Times New Roman</vt:lpstr>
      <vt:lpstr>Wingdings</vt:lpstr>
      <vt:lpstr>Presentation</vt:lpstr>
      <vt:lpstr>Equation</vt:lpstr>
      <vt:lpstr>最优化理论</vt:lpstr>
      <vt:lpstr>最优化理论的数学基础</vt:lpstr>
      <vt:lpstr>1. 函数的梯度</vt:lpstr>
      <vt:lpstr>1. 函数的梯度</vt:lpstr>
      <vt:lpstr>方向导数的推导公式</vt:lpstr>
      <vt:lpstr>方向导数的推导公式</vt:lpstr>
      <vt:lpstr>1. 函数的梯度</vt:lpstr>
      <vt:lpstr>1. 函数的梯度</vt:lpstr>
      <vt:lpstr>例1：解</vt:lpstr>
      <vt:lpstr>1. 函数的梯度</vt:lpstr>
      <vt:lpstr>1. 函数的梯度</vt:lpstr>
      <vt:lpstr>1. 函数的梯度</vt:lpstr>
      <vt:lpstr>1. 函数的梯度</vt:lpstr>
      <vt:lpstr>函数的梯度公式推导</vt:lpstr>
      <vt:lpstr>函数的梯度公式推导</vt:lpstr>
      <vt:lpstr>1. 函数的梯度</vt:lpstr>
      <vt:lpstr>1. 函数的梯度</vt:lpstr>
      <vt:lpstr>1. 函数的梯度</vt:lpstr>
      <vt:lpstr>1. 函数的梯度</vt:lpstr>
      <vt:lpstr>1. 函数的梯度</vt:lpstr>
      <vt:lpstr>例2：解</vt:lpstr>
      <vt:lpstr>2. 多元函数的泰勒(Taylor)展开式</vt:lpstr>
      <vt:lpstr>2. 多元函数的泰勒(Taylor)展开式</vt:lpstr>
      <vt:lpstr>2. 多元函数的泰勒(Taylor)展开式</vt:lpstr>
      <vt:lpstr>2. 多元函数的泰勒(Taylor)展开式</vt:lpstr>
      <vt:lpstr>海塞（Hessian）矩阵</vt:lpstr>
      <vt:lpstr>2. 多元函数的泰勒(Taylor)展开式</vt:lpstr>
      <vt:lpstr>例3：解</vt:lpstr>
      <vt:lpstr>例3：解</vt:lpstr>
      <vt:lpstr>例3：解</vt:lpstr>
      <vt:lpstr>例3：解</vt:lpstr>
      <vt:lpstr>3. 最优化的二次函数表示</vt:lpstr>
      <vt:lpstr>4. 无约束优化问题的极值条件</vt:lpstr>
      <vt:lpstr>4. 无约束优化问题的极值条件</vt:lpstr>
      <vt:lpstr>4. 无约束优化问题的极值条件</vt:lpstr>
      <vt:lpstr>4. 无约束优化问题的极值条件</vt:lpstr>
      <vt:lpstr>矩阵的正定、负定</vt:lpstr>
      <vt:lpstr>主子式均大于0判定</vt:lpstr>
      <vt:lpstr>矩阵的正定、负定</vt:lpstr>
      <vt:lpstr>4. 无约束优化问题的极值条件</vt:lpstr>
      <vt:lpstr>4. 无约束优化问题的极值条件</vt:lpstr>
      <vt:lpstr>例4：解</vt:lpstr>
      <vt:lpstr>例4：解</vt:lpstr>
      <vt:lpstr>课后练习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Administrator</cp:lastModifiedBy>
  <cp:revision>3272</cp:revision>
  <dcterms:created xsi:type="dcterms:W3CDTF">2016-10-01T05:27:09Z</dcterms:created>
  <dcterms:modified xsi:type="dcterms:W3CDTF">2022-12-02T07:08:08Z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</Properties>
</file>