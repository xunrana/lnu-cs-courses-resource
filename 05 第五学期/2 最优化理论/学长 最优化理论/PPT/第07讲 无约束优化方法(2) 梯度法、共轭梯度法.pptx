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5" r:id="rId30"/>
    <p:sldId id="286" r:id="rId31"/>
    <p:sldId id="288" r:id="rId32"/>
    <p:sldId id="289" r:id="rId33"/>
    <p:sldId id="291" r:id="rId34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90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3"/>
            <p14:sldId id="284"/>
            <p14:sldId id="285"/>
            <p14:sldId id="286"/>
            <p14:sldId id="288"/>
            <p14:sldId id="289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CC3399"/>
    <a:srgbClr val="30A040"/>
    <a:srgbClr val="0000FF"/>
    <a:srgbClr val="FFFFFF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30" autoAdjust="0"/>
    <p:restoredTop sz="93826" autoAdjust="0"/>
  </p:normalViewPr>
  <p:slideViewPr>
    <p:cSldViewPr>
      <p:cViewPr varScale="1">
        <p:scale>
          <a:sx n="110" d="100"/>
          <a:sy n="110" d="100"/>
        </p:scale>
        <p:origin x="1038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2022年11月16日星期三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2022年11月16日星期三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8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1.wmf"/><Relationship Id="rId5" Type="http://schemas.openxmlformats.org/officeDocument/2006/relationships/image" Target="../media/image24.png"/><Relationship Id="rId10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8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8.xml"/><Relationship Id="rId26" Type="http://schemas.openxmlformats.org/officeDocument/2006/relationships/image" Target="../media/image30.png"/><Relationship Id="rId3" Type="http://schemas.openxmlformats.org/officeDocument/2006/relationships/tags" Target="../tags/tag3.xml"/><Relationship Id="rId21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6.png"/><Relationship Id="rId29" Type="http://schemas.openxmlformats.org/officeDocument/2006/relationships/image" Target="../media/image26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2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4.xml"/><Relationship Id="rId28" Type="http://schemas.openxmlformats.org/officeDocument/2006/relationships/image" Target="../media/image31.png"/><Relationship Id="rId10" Type="http://schemas.openxmlformats.org/officeDocument/2006/relationships/tags" Target="../tags/tag10.xml"/><Relationship Id="rId19" Type="http://schemas.openxmlformats.org/officeDocument/2006/relationships/tags" Target="../tags/tag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27.png"/><Relationship Id="rId27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28.bin"/><Relationship Id="rId3" Type="http://schemas.openxmlformats.org/officeDocument/2006/relationships/image" Target="../media/image27.wmf"/><Relationship Id="rId21" Type="http://schemas.openxmlformats.org/officeDocument/2006/relationships/image" Target="../media/image34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4.png"/><Relationship Id="rId2" Type="http://schemas.openxmlformats.org/officeDocument/2006/relationships/oleObject" Target="../embeddings/oleObject22.bin"/><Relationship Id="rId20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0.wmf"/><Relationship Id="rId5" Type="http://schemas.openxmlformats.org/officeDocument/2006/relationships/image" Target="../media/image28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27.wmf"/><Relationship Id="rId21" Type="http://schemas.openxmlformats.org/officeDocument/2006/relationships/image" Target="../media/image3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8.png"/><Relationship Id="rId2" Type="http://schemas.openxmlformats.org/officeDocument/2006/relationships/oleObject" Target="../embeddings/oleObject30.bin"/><Relationship Id="rId20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6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9.bin"/><Relationship Id="rId3" Type="http://schemas.openxmlformats.org/officeDocument/2006/relationships/image" Target="../media/image27.wmf"/><Relationship Id="rId21" Type="http://schemas.openxmlformats.org/officeDocument/2006/relationships/image" Target="../media/image41.png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8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23" Type="http://schemas.openxmlformats.org/officeDocument/2006/relationships/image" Target="../media/image39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7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3" Type="http://schemas.openxmlformats.org/officeDocument/2006/relationships/image" Target="../media/image27.wmf"/><Relationship Id="rId21" Type="http://schemas.openxmlformats.org/officeDocument/2006/relationships/image" Target="../media/image40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9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3.png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27.wmf"/><Relationship Id="rId21" Type="http://schemas.openxmlformats.org/officeDocument/2006/relationships/image" Target="../media/image42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7.png"/><Relationship Id="rId2" Type="http://schemas.openxmlformats.org/officeDocument/2006/relationships/oleObject" Target="../embeddings/oleObject30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23" Type="http://schemas.openxmlformats.org/officeDocument/2006/relationships/image" Target="../media/image43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46.bin"/><Relationship Id="rId3" Type="http://schemas.openxmlformats.org/officeDocument/2006/relationships/image" Target="../media/image27.wmf"/><Relationship Id="rId21" Type="http://schemas.openxmlformats.org/officeDocument/2006/relationships/image" Target="../media/image45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50.png"/><Relationship Id="rId2" Type="http://schemas.openxmlformats.org/officeDocument/2006/relationships/oleObject" Target="../embeddings/oleObject30.bin"/><Relationship Id="rId20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4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2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5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6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5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5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5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64.png"/><Relationship Id="rId7" Type="http://schemas.openxmlformats.org/officeDocument/2006/relationships/image" Target="../media/image4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5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66.png"/><Relationship Id="rId7" Type="http://schemas.openxmlformats.org/officeDocument/2006/relationships/image" Target="../media/image5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4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8.png"/><Relationship Id="rId7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5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59.wmf"/><Relationship Id="rId3" Type="http://schemas.openxmlformats.org/officeDocument/2006/relationships/image" Target="../media/image18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58.wmf"/><Relationship Id="rId5" Type="http://schemas.openxmlformats.org/officeDocument/2006/relationships/image" Target="../media/image47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5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6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77.png"/><Relationship Id="rId7" Type="http://schemas.openxmlformats.org/officeDocument/2006/relationships/image" Target="../media/image6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63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6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20.xml"/><Relationship Id="rId21" Type="http://schemas.openxmlformats.org/officeDocument/2006/relationships/image" Target="../media/image26.tmp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70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19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206093" y="3832178"/>
            <a:ext cx="54938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无约束优化方法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</a:p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梯度法、共轭梯度法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2022年11月16日星期三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>
                <a:solidFill>
                  <a:srgbClr val="FF0000"/>
                </a:solidFill>
              </a:rPr>
              <a:t>共轭方向法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>
                <a:solidFill>
                  <a:srgbClr val="FF0000"/>
                </a:solidFill>
              </a:rPr>
              <a:t>Powell</a:t>
            </a:r>
            <a:r>
              <a:rPr lang="zh-CN" altLang="en-US" b="0" dirty="0">
                <a:solidFill>
                  <a:srgbClr val="FF0000"/>
                </a:solidFill>
              </a:rPr>
              <a:t>法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梯度法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共轭梯度法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Newton</a:t>
            </a:r>
            <a:r>
              <a:rPr lang="zh-CN" altLang="en-US" b="0" dirty="0"/>
              <a:t>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DFP</a:t>
            </a:r>
            <a:r>
              <a:rPr lang="zh-CN" altLang="en-US" b="0" dirty="0"/>
              <a:t>法 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对于某一点，以该点的</a:t>
            </a:r>
            <a:r>
              <a:rPr lang="zh-CN" altLang="en-US" dirty="0">
                <a:solidFill>
                  <a:srgbClr val="FF0000"/>
                </a:solidFill>
              </a:rPr>
              <a:t>负梯度方向</a:t>
            </a:r>
            <a:r>
              <a:rPr lang="zh-CN" altLang="en-US" dirty="0"/>
              <a:t>作为搜索方向</a:t>
            </a:r>
            <a:endParaRPr lang="en-US" altLang="zh-CN" dirty="0"/>
          </a:p>
          <a:p>
            <a:pPr lvl="2"/>
            <a:r>
              <a:rPr lang="zh-CN" altLang="en-US" dirty="0"/>
              <a:t>某一点的</a:t>
            </a:r>
            <a:r>
              <a:rPr lang="zh-CN" altLang="en-US" dirty="0">
                <a:solidFill>
                  <a:srgbClr val="0000FF"/>
                </a:solidFill>
              </a:rPr>
              <a:t>负梯度方向为最速下降方向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实际上，负梯度方向的最速下降仅仅是某个邻域范围内，</a:t>
            </a:r>
            <a:r>
              <a:rPr lang="zh-CN" altLang="en-US" dirty="0">
                <a:solidFill>
                  <a:srgbClr val="C00000"/>
                </a:solidFill>
              </a:rPr>
              <a:t>对于全局来说不一定寻找极值点的最优方向</a:t>
            </a:r>
            <a:r>
              <a:rPr lang="zh-CN" altLang="en-US" dirty="0"/>
              <a:t>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50F7817D-6AAF-4527-9076-7508F90E27F9}"/>
              </a:ext>
            </a:extLst>
          </p:cNvPr>
          <p:cNvSpPr/>
          <p:nvPr/>
        </p:nvSpPr>
        <p:spPr bwMode="auto">
          <a:xfrm>
            <a:off x="920552" y="4509120"/>
            <a:ext cx="8352928" cy="1008112"/>
          </a:xfrm>
          <a:prstGeom prst="cloudCallout">
            <a:avLst>
              <a:gd name="adj1" fmla="val 1625"/>
              <a:gd name="adj2" fmla="val -150889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梯度法又称为最速下降法</a:t>
            </a:r>
          </a:p>
        </p:txBody>
      </p:sp>
    </p:spTree>
    <p:extLst>
      <p:ext uri="{BB962C8B-B14F-4D97-AF65-F5344CB8AC3E}">
        <p14:creationId xmlns:p14="http://schemas.microsoft.com/office/powerpoint/2010/main" val="36671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92599-CCDA-4C17-8F28-B1F885D6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C61DA-4F7F-4754-9787-0450B05A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迭代公式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38113-85AF-4784-B155-FABCBD8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F1954E-B577-4018-8738-F3B98133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46CFE69-02FD-4535-87B3-A18B06292D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710947"/>
              </p:ext>
            </p:extLst>
          </p:nvPr>
        </p:nvGraphicFramePr>
        <p:xfrm>
          <a:off x="1568624" y="2551890"/>
          <a:ext cx="5616624" cy="877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215640" progId="Equation.DSMT4">
                  <p:embed/>
                </p:oleObj>
              </mc:Choice>
              <mc:Fallback>
                <p:oleObj name="Equation" r:id="rId2" imgW="1384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624" y="2551890"/>
                        <a:ext cx="5616624" cy="877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D79285C-2AA7-41D3-93C7-CA73032369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688554"/>
              </p:ext>
            </p:extLst>
          </p:nvPr>
        </p:nvGraphicFramePr>
        <p:xfrm>
          <a:off x="1568624" y="4454483"/>
          <a:ext cx="70072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41200" progId="Equation.DSMT4">
                  <p:embed/>
                </p:oleObj>
              </mc:Choice>
              <mc:Fallback>
                <p:oleObj name="Equation" r:id="rId4" imgW="172692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46CFE69-02FD-4535-87B3-A18B06292D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8624" y="4454483"/>
                        <a:ext cx="7007225" cy="98107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B80296FC-4EF4-4568-8538-A96045461BCA}"/>
              </a:ext>
            </a:extLst>
          </p:cNvPr>
          <p:cNvSpPr/>
          <p:nvPr/>
        </p:nvSpPr>
        <p:spPr bwMode="auto">
          <a:xfrm>
            <a:off x="3793622" y="3491805"/>
            <a:ext cx="1008112" cy="87223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6C092A-D051-4D47-8920-4705AA233268}"/>
              </a:ext>
            </a:extLst>
          </p:cNvPr>
          <p:cNvSpPr txBox="1"/>
          <p:nvPr/>
        </p:nvSpPr>
        <p:spPr>
          <a:xfrm>
            <a:off x="229341" y="3598063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选择负梯度作为搜索方向</a:t>
            </a:r>
          </a:p>
        </p:txBody>
      </p:sp>
    </p:spTree>
    <p:extLst>
      <p:ext uri="{BB962C8B-B14F-4D97-AF65-F5344CB8AC3E}">
        <p14:creationId xmlns:p14="http://schemas.microsoft.com/office/powerpoint/2010/main" val="236048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C9991-EB5D-4808-B9B8-06FEFAEF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832028-959B-4189-9AEB-A6294F63E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07A0A7-B5CF-4D09-A80E-D8D7B480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3E58AC-C6CC-4228-858B-765C18D2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13D928-9ECE-4A89-A284-2FB480B3BA54}"/>
              </a:ext>
            </a:extLst>
          </p:cNvPr>
          <p:cNvCxnSpPr>
            <a:cxnSpLocks/>
          </p:cNvCxnSpPr>
          <p:nvPr/>
        </p:nvCxnSpPr>
        <p:spPr bwMode="auto">
          <a:xfrm>
            <a:off x="6150046" y="5329932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85C27D20-98A2-461E-8E45-32296B863920}"/>
              </a:ext>
            </a:extLst>
          </p:cNvPr>
          <p:cNvSpPr/>
          <p:nvPr/>
        </p:nvSpPr>
        <p:spPr bwMode="auto">
          <a:xfrm rot="17986332">
            <a:off x="7509902" y="329113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77BC537-B2A9-42F1-81CD-5BB542E5CA77}"/>
              </a:ext>
            </a:extLst>
          </p:cNvPr>
          <p:cNvSpPr/>
          <p:nvPr/>
        </p:nvSpPr>
        <p:spPr bwMode="auto">
          <a:xfrm rot="17986332">
            <a:off x="6571463" y="2991821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BB5CB35-8E46-4598-A5B3-93372D05EBB2}"/>
              </a:ext>
            </a:extLst>
          </p:cNvPr>
          <p:cNvSpPr/>
          <p:nvPr/>
        </p:nvSpPr>
        <p:spPr bwMode="auto">
          <a:xfrm rot="17986332">
            <a:off x="6095114" y="252890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D078289-5FA6-47A5-953E-4D355CB9D798}"/>
              </a:ext>
            </a:extLst>
          </p:cNvPr>
          <p:cNvSpPr/>
          <p:nvPr/>
        </p:nvSpPr>
        <p:spPr bwMode="auto">
          <a:xfrm rot="17986332">
            <a:off x="5663065" y="2210165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FFE05CB-C0B3-47A9-85BC-053E92E51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037688"/>
              </p:ext>
            </p:extLst>
          </p:nvPr>
        </p:nvGraphicFramePr>
        <p:xfrm>
          <a:off x="7113588" y="4878388"/>
          <a:ext cx="574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152280" progId="Equation.DSMT4">
                  <p:embed/>
                </p:oleObj>
              </mc:Choice>
              <mc:Fallback>
                <p:oleObj name="Equation" r:id="rId2" imgW="21564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BE93A32-8539-4314-898A-90ADE6AF2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13588" y="4878388"/>
                        <a:ext cx="57467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A9F3F440-0683-49E0-8FDB-6352EF73AA94}"/>
              </a:ext>
            </a:extLst>
          </p:cNvPr>
          <p:cNvSpPr/>
          <p:nvPr/>
        </p:nvSpPr>
        <p:spPr bwMode="auto">
          <a:xfrm rot="17986332">
            <a:off x="6011615" y="524059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0EF8CF3-CC98-44F3-97EB-161C0E7ED379}"/>
              </a:ext>
            </a:extLst>
          </p:cNvPr>
          <p:cNvCxnSpPr>
            <a:cxnSpLocks/>
          </p:cNvCxnSpPr>
          <p:nvPr/>
        </p:nvCxnSpPr>
        <p:spPr bwMode="auto">
          <a:xfrm>
            <a:off x="7147135" y="3838610"/>
            <a:ext cx="2415312" cy="50303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535F64EA-E3ED-4806-84EC-C7D640A9F04A}"/>
              </a:ext>
            </a:extLst>
          </p:cNvPr>
          <p:cNvSpPr/>
          <p:nvPr/>
        </p:nvSpPr>
        <p:spPr bwMode="auto">
          <a:xfrm rot="17986332">
            <a:off x="6945283" y="5240595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F092DF9-7FE6-4C13-BFB8-E23356215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067771"/>
              </p:ext>
            </p:extLst>
          </p:nvPr>
        </p:nvGraphicFramePr>
        <p:xfrm>
          <a:off x="5756275" y="5380038"/>
          <a:ext cx="554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52280" progId="Equation.DSMT4">
                  <p:embed/>
                </p:oleObj>
              </mc:Choice>
              <mc:Fallback>
                <p:oleObj name="Equation" r:id="rId4" imgW="2030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1F0D8C-B122-47F8-9BA7-09F08450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56275" y="5380038"/>
                        <a:ext cx="554038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61E2E16-D153-4AF2-BD5E-C06942AFC625}"/>
              </a:ext>
            </a:extLst>
          </p:cNvPr>
          <p:cNvCxnSpPr>
            <a:cxnSpLocks/>
          </p:cNvCxnSpPr>
          <p:nvPr/>
        </p:nvCxnSpPr>
        <p:spPr bwMode="auto">
          <a:xfrm flipV="1">
            <a:off x="7071499" y="1419336"/>
            <a:ext cx="65867" cy="392420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2F00629-E3E6-4386-B32E-2CBF2645D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865693"/>
              </p:ext>
            </p:extLst>
          </p:nvPr>
        </p:nvGraphicFramePr>
        <p:xfrm>
          <a:off x="7529813" y="2911221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30A9C3A-78EC-47B6-9C66-0F360AF95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29813" y="2911221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89C60C3D-8AEE-4ED9-B64D-02A89B831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67840"/>
              </p:ext>
            </p:extLst>
          </p:nvPr>
        </p:nvGraphicFramePr>
        <p:xfrm>
          <a:off x="8347075" y="5411788"/>
          <a:ext cx="4746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64880" progId="Equation.DSMT4">
                  <p:embed/>
                </p:oleObj>
              </mc:Choice>
              <mc:Fallback>
                <p:oleObj name="Equation" r:id="rId8" imgW="177480" imgH="164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BD7514D-2B0B-46D5-95E7-6CD523A80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47075" y="5411788"/>
                        <a:ext cx="4746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99EC453-44F5-449F-924D-96934EE94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850357"/>
              </p:ext>
            </p:extLst>
          </p:nvPr>
        </p:nvGraphicFramePr>
        <p:xfrm>
          <a:off x="5818188" y="1182688"/>
          <a:ext cx="13541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60" imgH="177480" progId="Equation.DSMT4">
                  <p:embed/>
                </p:oleObj>
              </mc:Choice>
              <mc:Fallback>
                <p:oleObj name="Equation" r:id="rId10" imgW="507960" imgH="177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3DC97E9-0556-487A-A783-369B7269D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18188" y="1182688"/>
                        <a:ext cx="1354137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70EDB5F-0270-4C9C-895E-E63CB220C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619314"/>
              </p:ext>
            </p:extLst>
          </p:nvPr>
        </p:nvGraphicFramePr>
        <p:xfrm>
          <a:off x="5173500" y="4229164"/>
          <a:ext cx="17605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177480" progId="Equation.DSMT4">
                  <p:embed/>
                </p:oleObj>
              </mc:Choice>
              <mc:Fallback>
                <p:oleObj name="Equation" r:id="rId12" imgW="660240" imgH="1774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4C77B632-F0A3-4C9D-9BE5-855A5B65E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73500" y="4229164"/>
                        <a:ext cx="1760538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椭圆 22">
            <a:extLst>
              <a:ext uri="{FF2B5EF4-FFF2-40B4-BE49-F238E27FC236}">
                <a16:creationId xmlns:a16="http://schemas.microsoft.com/office/drawing/2014/main" id="{F157845E-694D-417E-9486-79B56CF8609D}"/>
              </a:ext>
            </a:extLst>
          </p:cNvPr>
          <p:cNvSpPr/>
          <p:nvPr/>
        </p:nvSpPr>
        <p:spPr bwMode="auto">
          <a:xfrm rot="18342881">
            <a:off x="6868387" y="3180167"/>
            <a:ext cx="1492965" cy="566663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B423FB4-000D-471E-996A-B53222D9F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71537"/>
              </p:ext>
            </p:extLst>
          </p:nvPr>
        </p:nvGraphicFramePr>
        <p:xfrm>
          <a:off x="6585529" y="3413666"/>
          <a:ext cx="574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152280" progId="Equation.DSMT4">
                  <p:embed/>
                </p:oleObj>
              </mc:Choice>
              <mc:Fallback>
                <p:oleObj name="Equation" r:id="rId14" imgW="21564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FFE05CB-C0B3-47A9-85BC-053E92E518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85529" y="3413666"/>
                        <a:ext cx="57467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406C6017-3C98-4A20-A7F5-E9C8EC6122AD}"/>
              </a:ext>
            </a:extLst>
          </p:cNvPr>
          <p:cNvSpPr/>
          <p:nvPr/>
        </p:nvSpPr>
        <p:spPr bwMode="auto">
          <a:xfrm rot="17986332">
            <a:off x="7013575" y="374442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077C71C-7B3B-4EF4-85BD-A4270E7AC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547826"/>
              </p:ext>
            </p:extLst>
          </p:nvPr>
        </p:nvGraphicFramePr>
        <p:xfrm>
          <a:off x="8575675" y="4070350"/>
          <a:ext cx="13541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177480" progId="Equation.DSMT4">
                  <p:embed/>
                </p:oleObj>
              </mc:Choice>
              <mc:Fallback>
                <p:oleObj name="Equation" r:id="rId16" imgW="50796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99EC453-44F5-449F-924D-96934EE94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575675" y="4070350"/>
                        <a:ext cx="13541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A8150A36-0D9B-47F6-B0DD-271A7720C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60431"/>
              </p:ext>
            </p:extLst>
          </p:nvPr>
        </p:nvGraphicFramePr>
        <p:xfrm>
          <a:off x="7642225" y="3349625"/>
          <a:ext cx="17256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177480" progId="Equation.DSMT4">
                  <p:embed/>
                </p:oleObj>
              </mc:Choice>
              <mc:Fallback>
                <p:oleObj name="Equation" r:id="rId18" imgW="647640" imgH="177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70EDB5F-0270-4C9C-895E-E63CB220C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42225" y="3349625"/>
                        <a:ext cx="1725613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EAE111F7-7197-4DA2-B882-790E007765F8}"/>
              </a:ext>
            </a:extLst>
          </p:cNvPr>
          <p:cNvSpPr txBox="1"/>
          <p:nvPr/>
        </p:nvSpPr>
        <p:spPr>
          <a:xfrm>
            <a:off x="417728" y="2065677"/>
            <a:ext cx="4359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每次以负梯度方向进行搜索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相邻迭代点的搜索方向是相互垂直的。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方向呈现锯齿形，越接近极值点，锯齿越细。</a:t>
            </a:r>
          </a:p>
        </p:txBody>
      </p:sp>
    </p:spTree>
    <p:extLst>
      <p:ext uri="{BB962C8B-B14F-4D97-AF65-F5344CB8AC3E}">
        <p14:creationId xmlns:p14="http://schemas.microsoft.com/office/powerpoint/2010/main" val="189932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23" grpId="0" animBg="1"/>
      <p:bldP spid="25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E63D-EE28-4B21-9B03-B3C62F93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EEF4C3-9D20-4644-8180-1088585C0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F7E70-580E-4685-A334-D03A76C7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C4010C-9CF0-4CC1-8BAB-89F751D0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1B5885-2FAD-41EB-B7F6-A3DAF238EF1F}"/>
                  </a:ext>
                </a:extLst>
              </p:cNvPr>
              <p:cNvSpPr txBox="1"/>
              <p:nvPr/>
            </p:nvSpPr>
            <p:spPr>
              <a:xfrm>
                <a:off x="488504" y="1937640"/>
                <a:ext cx="8233664" cy="42892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1.  </a:t>
                </a:r>
                <a:r>
                  <a:rPr lang="zh-CN" altLang="en-US" sz="2400" dirty="0"/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marL="342900" indent="-3429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计算梯度，构造搜索方向：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r>
                  <a:rPr lang="zh-CN" altLang="en-US" sz="2400" dirty="0"/>
                  <a:t>进行一维搜索，求新的迭代点：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判断收敛精度：若满足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‖</m:t>
                    </m:r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‖≤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，则输出最优解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lvl="1"/>
                <a:r>
                  <a:rPr lang="zh-CN" altLang="en-US" sz="2400" dirty="0"/>
                  <a:t>终止迭代。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否则，令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继续迭代。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1B5885-2FAD-41EB-B7F6-A3DAF238E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4" y="1937640"/>
                <a:ext cx="8233664" cy="4289251"/>
              </a:xfrm>
              <a:prstGeom prst="rect">
                <a:avLst/>
              </a:prstGeom>
              <a:blipFill>
                <a:blip r:embed="rId3"/>
                <a:stretch>
                  <a:fillRect l="-1110" t="-569" r="-222" b="-2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28E625E-7632-40D0-96E2-FFB73D471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746900"/>
              </p:ext>
            </p:extLst>
          </p:nvPr>
        </p:nvGraphicFramePr>
        <p:xfrm>
          <a:off x="5241032" y="3483724"/>
          <a:ext cx="26574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164880" progId="Equation.DSMT4">
                  <p:embed/>
                </p:oleObj>
              </mc:Choice>
              <mc:Fallback>
                <p:oleObj name="Equation" r:id="rId4" imgW="977760" imgH="164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F092DF9-7FE6-4C13-BFB8-E2335621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1032" y="3483724"/>
                        <a:ext cx="2657475" cy="449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01FAD54-B3DF-46C7-A6FE-42BF260894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563017"/>
              </p:ext>
            </p:extLst>
          </p:nvPr>
        </p:nvGraphicFramePr>
        <p:xfrm>
          <a:off x="2072680" y="4749564"/>
          <a:ext cx="4213749" cy="648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304560" progId="Equation.DSMT4">
                  <p:embed/>
                </p:oleObj>
              </mc:Choice>
              <mc:Fallback>
                <p:oleObj name="Equation" r:id="rId6" imgW="19810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72680" y="4749564"/>
                        <a:ext cx="4213749" cy="648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80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77EF-C221-477F-A5D3-336C914E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41ECAC-AE06-4048-AACC-2769A90EA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(P61-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4-4)</a:t>
                </a:r>
                <a:r>
                  <a:rPr lang="zh-CN" altLang="en-US" dirty="0"/>
                  <a:t>：梯度法求解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，收敛精度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𝛜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，用梯度法求解下面无约束优化问题的极值点。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41ECAC-AE06-4048-AACC-2769A90EA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CEF5-4F4A-4707-9C6B-D8E6AFD4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8BC2B3-AFD5-4396-BF32-A65C22DF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0F3A17F-A2E3-4B4B-BB5C-A43AC5F47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916281"/>
              </p:ext>
            </p:extLst>
          </p:nvPr>
        </p:nvGraphicFramePr>
        <p:xfrm>
          <a:off x="1213744" y="32849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212E4B0-2458-4E65-9420-86DE1F812D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744" y="32849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009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6A0B1-9184-47D3-A3AB-FF9CE2FD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3BF94-00A0-4E33-8B3D-5E65DC44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5418E4-7C26-4C52-94C0-2A34266A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1B339E6-A974-4AC0-AF74-CE8F48541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414721"/>
              </p:ext>
            </p:extLst>
          </p:nvPr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0F3A17F-A2E3-4B4B-BB5C-A43AC5F472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B90606-F9F1-4C7A-A09D-CC53378F25FA}"/>
                  </a:ext>
                </a:extLst>
              </p:cNvPr>
              <p:cNvSpPr txBox="1"/>
              <p:nvPr/>
            </p:nvSpPr>
            <p:spPr>
              <a:xfrm>
                <a:off x="272480" y="1196752"/>
                <a:ext cx="6674199" cy="4234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给定初始点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pPr lvl="1"/>
                <a:endParaRPr lang="en-US" altLang="zh-CN" sz="2400" dirty="0"/>
              </a:p>
              <a:p>
                <a:pPr marL="342900" indent="-342900">
                  <a:buAutoNum type="arabicPeriod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计算梯度，构造搜索方向：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r>
                  <a:rPr lang="zh-CN" altLang="en-US" sz="2400" dirty="0"/>
                  <a:t>进行一维搜索，求新的迭代点：</a:t>
                </a:r>
                <a:endParaRPr lang="en-US" altLang="zh-CN" sz="2400" dirty="0"/>
              </a:p>
              <a:p>
                <a:pPr marL="457200" indent="-457200">
                  <a:buAutoNum type="arabicPeriod" startAt="3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4B90606-F9F1-4C7A-A09D-CC53378F2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96752"/>
                <a:ext cx="6674199" cy="4234621"/>
              </a:xfrm>
              <a:prstGeom prst="rect">
                <a:avLst/>
              </a:prstGeom>
              <a:blipFill>
                <a:blip r:embed="rId5"/>
                <a:stretch>
                  <a:fillRect l="-1279" t="-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BA5700F-23C1-42A7-856A-041957F45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59636"/>
              </p:ext>
            </p:extLst>
          </p:nvPr>
        </p:nvGraphicFramePr>
        <p:xfrm>
          <a:off x="1280592" y="1628800"/>
          <a:ext cx="3384376" cy="102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57200" progId="Equation.DSMT4">
                  <p:embed/>
                </p:oleObj>
              </mc:Choice>
              <mc:Fallback>
                <p:oleObj name="Equation" r:id="rId6" imgW="1511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80592" y="1628800"/>
                        <a:ext cx="3384376" cy="1023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BDAC54C-2A96-4EAE-94AF-147A4494E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700786"/>
              </p:ext>
            </p:extLst>
          </p:nvPr>
        </p:nvGraphicFramePr>
        <p:xfrm>
          <a:off x="1280592" y="3314062"/>
          <a:ext cx="668496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84400" imgH="507960" progId="Equation.DSMT4">
                  <p:embed/>
                </p:oleObj>
              </mc:Choice>
              <mc:Fallback>
                <p:oleObj name="Equation" r:id="rId8" imgW="2984400" imgH="507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BA5700F-23C1-42A7-856A-041957F45E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0592" y="3314062"/>
                        <a:ext cx="6684962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AD4A213-8F9E-451B-95E2-BB5451EE9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065906"/>
              </p:ext>
            </p:extLst>
          </p:nvPr>
        </p:nvGraphicFramePr>
        <p:xfrm>
          <a:off x="1280592" y="5095636"/>
          <a:ext cx="69119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85920" imgH="533160" progId="Equation.DSMT4">
                  <p:embed/>
                </p:oleObj>
              </mc:Choice>
              <mc:Fallback>
                <p:oleObj name="Equation" r:id="rId10" imgW="3085920" imgH="533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BDAC54C-2A96-4EAE-94AF-147A4494E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80592" y="5095636"/>
                        <a:ext cx="6911975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026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6A0B1-9184-47D3-A3AB-FF9CE2FD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3BF94-00A0-4E33-8B3D-5E65DC44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5418E4-7C26-4C52-94C0-2A34266A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1B339E6-A974-4AC0-AF74-CE8F48541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1B339E6-A974-4AC0-AF74-CE8F48541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8EB43C4-8CD2-4011-832D-5D9ABBFB1683}"/>
              </a:ext>
            </a:extLst>
          </p:cNvPr>
          <p:cNvSpPr txBox="1"/>
          <p:nvPr/>
        </p:nvSpPr>
        <p:spPr>
          <a:xfrm>
            <a:off x="272480" y="1196752"/>
            <a:ext cx="495520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 startAt="3"/>
            </a:pPr>
            <a:r>
              <a:rPr lang="zh-CN" altLang="en-US" sz="2400" dirty="0"/>
              <a:t>进行一维搜索，求新的迭代点：</a:t>
            </a: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pPr marL="457200" indent="-457200">
              <a:buAutoNum type="arabicPeriod" startAt="3"/>
            </a:pPr>
            <a:endParaRPr lang="en-US" altLang="zh-CN" sz="2400" dirty="0"/>
          </a:p>
          <a:p>
            <a:endParaRPr lang="en-US" altLang="zh-CN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EFD2E37-EE19-41FB-B4A7-613112161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179596"/>
              </p:ext>
            </p:extLst>
          </p:nvPr>
        </p:nvGraphicFramePr>
        <p:xfrm>
          <a:off x="874210" y="1611140"/>
          <a:ext cx="6656388" cy="227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1015920" progId="Equation.DSMT4">
                  <p:embed/>
                </p:oleObj>
              </mc:Choice>
              <mc:Fallback>
                <p:oleObj name="Equation" r:id="rId4" imgW="2971800" imgH="1015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AD4A213-8F9E-451B-95E2-BB5451EE9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4210" y="1611140"/>
                        <a:ext cx="6656388" cy="2274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C2AA022-C89B-4037-BCC1-6AB2A23D21B6}"/>
              </a:ext>
            </a:extLst>
          </p:cNvPr>
          <p:cNvSpPr txBox="1"/>
          <p:nvPr/>
        </p:nvSpPr>
        <p:spPr>
          <a:xfrm>
            <a:off x="58044" y="40129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满足：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EE140A4-EE60-4FD0-8E28-BDF10B4F7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164780"/>
              </p:ext>
            </p:extLst>
          </p:nvPr>
        </p:nvGraphicFramePr>
        <p:xfrm>
          <a:off x="877888" y="3717032"/>
          <a:ext cx="54895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380880" progId="Equation.DSMT4">
                  <p:embed/>
                </p:oleObj>
              </mc:Choice>
              <mc:Fallback>
                <p:oleObj name="Equation" r:id="rId6" imgW="2450880" imgH="380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EFD2E37-EE19-41FB-B4A7-6131121619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7888" y="3717032"/>
                        <a:ext cx="5489575" cy="852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5655386-0DAE-4233-9BC7-D61CD548E2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705900"/>
              </p:ext>
            </p:extLst>
          </p:nvPr>
        </p:nvGraphicFramePr>
        <p:xfrm>
          <a:off x="920552" y="4675788"/>
          <a:ext cx="404018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457200" progId="Equation.DSMT4">
                  <p:embed/>
                </p:oleObj>
              </mc:Choice>
              <mc:Fallback>
                <p:oleObj name="Equation" r:id="rId8" imgW="180324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EE140A4-EE60-4FD0-8E28-BDF10B4F7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0552" y="4675788"/>
                        <a:ext cx="4040187" cy="10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183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6A0B1-9184-47D3-A3AB-FF9CE2FD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3BF94-00A0-4E33-8B3D-5E65DC44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5418E4-7C26-4C52-94C0-2A34266A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1B339E6-A974-4AC0-AF74-CE8F48541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1B339E6-A974-4AC0-AF74-CE8F48541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F6F631-0E55-4604-8B60-D1C51B12361D}"/>
                  </a:ext>
                </a:extLst>
              </p:cNvPr>
              <p:cNvSpPr txBox="1"/>
              <p:nvPr/>
            </p:nvSpPr>
            <p:spPr>
              <a:xfrm>
                <a:off x="272480" y="1196752"/>
                <a:ext cx="8445902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判断收敛精度：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不满足收敛要求，令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+1=</m:t>
                    </m:r>
                  </m:oMath>
                </a14:m>
                <a:r>
                  <a:rPr lang="en-US" altLang="zh-CN" sz="2400" dirty="0"/>
                  <a:t>1</a:t>
                </a:r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继续迭代。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F6F631-0E55-4604-8B60-D1C51B123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96752"/>
                <a:ext cx="8445902" cy="3046988"/>
              </a:xfrm>
              <a:prstGeom prst="rect">
                <a:avLst/>
              </a:prstGeom>
              <a:blipFill>
                <a:blip r:embed="rId5"/>
                <a:stretch>
                  <a:fillRect l="-1011" t="-1600" r="-144" b="-3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84834CC-62AC-468A-BC78-99AE0346C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144271"/>
              </p:ext>
            </p:extLst>
          </p:nvPr>
        </p:nvGraphicFramePr>
        <p:xfrm>
          <a:off x="1123950" y="1601198"/>
          <a:ext cx="5346700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863280" progId="Equation.DSMT4">
                  <p:embed/>
                </p:oleObj>
              </mc:Choice>
              <mc:Fallback>
                <p:oleObj name="Equation" r:id="rId6" imgW="2387520" imgH="863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EE140A4-EE60-4FD0-8E28-BDF10B4F7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3950" y="1601198"/>
                        <a:ext cx="5346700" cy="193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736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BECB0-0C01-5728-DEBE-FD01CF83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151F4C-395E-0FB2-B60D-CE8C2091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F64051D-771E-79F2-6D84-9057C302650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90600" y="634999"/>
                <a:ext cx="7924800" cy="2192527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假设函数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𝑀𝑖𝑛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</m:d>
                    <m:r>
                      <a:rPr lang="en-US" altLang="zh-CN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2</m:t>
                    </m:r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采用梯度法求解，初始点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0</m:t>
                        </m:r>
                      </m:sup>
                    </m:sSup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当第二次迭代时的方向是（    ）。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F64051D-771E-79F2-6D84-9057C3026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90600" y="634999"/>
                <a:ext cx="7924800" cy="2192527"/>
              </a:xfrm>
              <a:prstGeom prst="rect">
                <a:avLst/>
              </a:prstGeom>
              <a:blipFill>
                <a:blip r:embed="rId20"/>
                <a:stretch>
                  <a:fillRect l="-1385" r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1963315-84B6-99DC-449F-13291C16CB98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981200" y="2786063"/>
                <a:ext cx="2107704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l-GR" altLang="zh-CN" sz="2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6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6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，</m:t>
                              </m:r>
                              <m:r>
                                <a:rPr lang="en-US" altLang="zh-CN" sz="26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60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6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altLang="zh-CN" sz="26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1963315-84B6-99DC-449F-13291C16C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981200" y="2786063"/>
                <a:ext cx="2107704" cy="642938"/>
              </a:xfrm>
              <a:prstGeom prst="rect">
                <a:avLst/>
              </a:prstGeom>
              <a:blipFill>
                <a:blip r:embed="rId22"/>
                <a:stretch>
                  <a:fillRect t="-17925" b="-25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BBF0217-5C60-94A5-0947-8DF96C196606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981200" y="3643313"/>
                <a:ext cx="2107704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−4</m:t>
                              </m:r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，</m:t>
                              </m:r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BBF0217-5C60-94A5-0947-8DF96C19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981200" y="3643313"/>
                <a:ext cx="2107704" cy="64293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96B2EA9-D34D-D10C-C196-9E75A97A3B8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981200" y="4500563"/>
                <a:ext cx="2107704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l-GR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，</m:t>
                              </m:r>
                              <m:f>
                                <m:fPr>
                                  <m:ctrlPr>
                                    <a:rPr lang="en-US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altLang="zh-CN" sz="26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96B2EA9-D34D-D10C-C196-9E75A97A3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981200" y="4500563"/>
                <a:ext cx="2107704" cy="642938"/>
              </a:xfrm>
              <a:prstGeom prst="rect">
                <a:avLst/>
              </a:prstGeom>
              <a:blipFill>
                <a:blip r:embed="rId26"/>
                <a:stretch>
                  <a:fillRect t="-17925" b="-25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929DD2E-96EA-ACD3-326D-C483A4C4D732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981200" y="5357813"/>
                <a:ext cx="2107704" cy="642937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6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4</m:t>
                              </m:r>
                              <m:r>
                                <a:rPr lang="zh-CN" altLang="en-US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，</m:t>
                              </m:r>
                              <m:r>
                                <a:rPr lang="en-US" altLang="zh-CN" sz="26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6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929DD2E-96EA-ACD3-326D-C483A4C4D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981200" y="5357813"/>
                <a:ext cx="2107704" cy="64293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椭圆 12">
            <a:extLst>
              <a:ext uri="{FF2B5EF4-FFF2-40B4-BE49-F238E27FC236}">
                <a16:creationId xmlns:a16="http://schemas.microsoft.com/office/drawing/2014/main" id="{44B63B8E-401C-9C16-CA47-A991DB8A3CA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287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B159E5-09A0-9F1C-9B88-04EA03B973B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287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9F4CA6E-521A-AFEE-9116-A53696DBA01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287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3B72D9D-5A0B-AFF1-B4D0-D6FA28804B2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287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D404A02-3350-9F65-5145-4A96F3636730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696A349-92FC-7CA5-8B82-94F274E9A56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549BF439-E817-0EBB-2CF9-C9C2938E905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C525118A-85B2-9F29-5107-A36F1587267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CA1604BC-CB3A-A149-FF32-6580879AB14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A548B6A3-F6F1-9BE3-EAC4-A66EAEE2AF6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EE69C777-C7B4-C152-B01D-71C16CA70D5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035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8867-D9F0-4CC0-A430-AE7CCCF4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6A182-1B01-44D9-8AE7-90A56BDC7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程序简单、方法直观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相邻搜索方向相互垂直，越接近极值点收敛越慢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>
                <a:solidFill>
                  <a:srgbClr val="CC3399"/>
                </a:solidFill>
              </a:rPr>
              <a:t>收敛速度收到函数性态、起始点位置的影响较大</a:t>
            </a:r>
            <a:endParaRPr lang="en-US" altLang="zh-CN" dirty="0">
              <a:solidFill>
                <a:srgbClr val="CC3399"/>
              </a:solidFill>
            </a:endParaRPr>
          </a:p>
          <a:p>
            <a:pPr lvl="1"/>
            <a:r>
              <a:rPr lang="zh-CN" altLang="en-US" dirty="0">
                <a:solidFill>
                  <a:srgbClr val="7030A0"/>
                </a:solidFill>
              </a:rPr>
              <a:t>梯度法的收敛速度慢于</a:t>
            </a:r>
            <a:r>
              <a:rPr lang="en-US" altLang="zh-CN" dirty="0">
                <a:solidFill>
                  <a:srgbClr val="7030A0"/>
                </a:solidFill>
              </a:rPr>
              <a:t>Powell</a:t>
            </a:r>
            <a:r>
              <a:rPr lang="zh-CN" altLang="en-US" dirty="0">
                <a:solidFill>
                  <a:srgbClr val="7030A0"/>
                </a:solidFill>
              </a:rPr>
              <a:t>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0B743-F244-4D4B-96F7-7E4459F0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E7FB11-0A59-4F70-ADA9-3F509F15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166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BD2D8-71B5-457C-AB7E-54DE407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F374D-F9A2-44C8-A903-46BB0E888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dirty="0"/>
              <a:t>为了解决梯度法在极值点附近收敛慢的问题：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利用梯度法在远离极值点时进行搜索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在靠近极值点时，利用共轭方向法的原理来进行搜索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BD77D-D86A-4E99-86D2-7A9FAF40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A3939F-1277-40F9-A20E-1852BC15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836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323734"/>
              </p:ext>
            </p:extLst>
          </p:nvPr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FFE05CB-C0B3-47A9-85BC-053E92E518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61374"/>
              </p:ext>
            </p:extLst>
          </p:nvPr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F092DF9-7FE6-4C13-BFB8-E2335621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333814"/>
              </p:ext>
            </p:extLst>
          </p:nvPr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2F00629-E3E6-4386-B32E-2CBF2645D8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779282"/>
              </p:ext>
            </p:extLst>
          </p:nvPr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99EC453-44F5-449F-924D-96934EE94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608061"/>
              </p:ext>
            </p:extLst>
          </p:nvPr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177480" progId="Equation.DSMT4">
                  <p:embed/>
                </p:oleObj>
              </mc:Choice>
              <mc:Fallback>
                <p:oleObj name="Equation" r:id="rId10" imgW="774360" imgH="1774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C077C71C-7B3B-4EF4-85BD-A4270E7AC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944714"/>
              </p:ext>
            </p:extLst>
          </p:nvPr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00" imgH="164880" progId="Equation.DSMT4">
                  <p:embed/>
                </p:oleObj>
              </mc:Choice>
              <mc:Fallback>
                <p:oleObj name="Equation" r:id="rId12" imgW="241200" imgH="1648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A8150A36-0D9B-47F6-B0DD-271A7720CB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A1F20968-3310-4358-9C6B-8F378C889713}"/>
              </a:ext>
            </a:extLst>
          </p:cNvPr>
          <p:cNvSpPr txBox="1"/>
          <p:nvPr/>
        </p:nvSpPr>
        <p:spPr>
          <a:xfrm>
            <a:off x="300602" y="1955335"/>
            <a:ext cx="510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初始结点采用梯度法进行搜索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下一次迭代采用与上一次共轭的方向进行搜索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EF3A285-C269-4370-8E9D-3D2870A6E280}"/>
              </a:ext>
            </a:extLst>
          </p:cNvPr>
          <p:cNvSpPr txBox="1"/>
          <p:nvPr/>
        </p:nvSpPr>
        <p:spPr>
          <a:xfrm>
            <a:off x="196721" y="3127255"/>
            <a:ext cx="3962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如图是一个正定的二次函数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6F4B0C91-F8E6-48EE-802B-EF706D6FC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55099"/>
              </p:ext>
            </p:extLst>
          </p:nvPr>
        </p:nvGraphicFramePr>
        <p:xfrm>
          <a:off x="510257" y="3505619"/>
          <a:ext cx="4096119" cy="913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65080" imgH="393480" progId="Equation.DSMT4">
                  <p:embed/>
                </p:oleObj>
              </mc:Choice>
              <mc:Fallback>
                <p:oleObj name="Equation" r:id="rId14" imgW="1765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0257" y="3505619"/>
                        <a:ext cx="4096119" cy="913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1BFA838-AB63-41F7-8890-D7E50EF9F6A2}"/>
                  </a:ext>
                </a:extLst>
              </p:cNvPr>
              <p:cNvSpPr txBox="1"/>
              <p:nvPr/>
            </p:nvSpPr>
            <p:spPr>
              <a:xfrm>
                <a:off x="131982" y="4432785"/>
                <a:ext cx="5338571" cy="1644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出发，第一次沿着负梯度方向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搜索</a:t>
                </a:r>
                <a:endParaRPr lang="en-US" altLang="zh-CN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zh-CN" altLang="en-US" sz="2400" dirty="0"/>
                  <a:t>第二次沿着共轭方向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搜索，满足：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61BFA838-AB63-41F7-8890-D7E50EF9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82" y="4432785"/>
                <a:ext cx="5338571" cy="1644681"/>
              </a:xfrm>
              <a:prstGeom prst="rect">
                <a:avLst/>
              </a:prstGeom>
              <a:blipFill>
                <a:blip r:embed="rId17"/>
                <a:stretch>
                  <a:fillRect l="-2171" t="-3704"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526BD4FA-6881-4067-B436-7EFF7AEBB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16554"/>
              </p:ext>
            </p:extLst>
          </p:nvPr>
        </p:nvGraphicFramePr>
        <p:xfrm>
          <a:off x="1871080" y="5664116"/>
          <a:ext cx="26241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30040" imgH="342720" progId="Equation.DSMT4">
                  <p:embed/>
                </p:oleObj>
              </mc:Choice>
              <mc:Fallback>
                <p:oleObj name="Equation" r:id="rId18" imgW="1130040" imgH="3427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6F4B0C91-F8E6-48EE-802B-EF706D6FC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71080" y="5664116"/>
                        <a:ext cx="2624138" cy="79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0724FE6F-4172-4EA9-9507-305651B98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841838"/>
              </p:ext>
            </p:extLst>
          </p:nvPr>
        </p:nvGraphicFramePr>
        <p:xfrm>
          <a:off x="5654134" y="5729066"/>
          <a:ext cx="3424126" cy="760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520" imgH="228600" progId="Equation.DSMT4">
                  <p:embed/>
                </p:oleObj>
              </mc:Choice>
              <mc:Fallback>
                <p:oleObj name="Equation" r:id="rId20" imgW="102852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526BD4FA-6881-4067-B436-7EFF7AEBB4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54134" y="5729066"/>
                        <a:ext cx="3424126" cy="760411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427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08F9163-1E33-4FD4-A72F-E1BED05E5121}"/>
                  </a:ext>
                </a:extLst>
              </p:cNvPr>
              <p:cNvSpPr txBox="1"/>
              <p:nvPr/>
            </p:nvSpPr>
            <p:spPr>
              <a:xfrm>
                <a:off x="357268" y="2034174"/>
                <a:ext cx="3546548" cy="2358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如图，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可表示为：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称为共轭系数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令：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08F9163-1E33-4FD4-A72F-E1BED05E5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68" y="2034174"/>
                <a:ext cx="3546548" cy="2358338"/>
              </a:xfrm>
              <a:prstGeom prst="rect">
                <a:avLst/>
              </a:prstGeom>
              <a:blipFill>
                <a:blip r:embed="rId17"/>
                <a:stretch>
                  <a:fillRect l="-2754" t="-1034" r="-1721" b="-4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0858B1D7-1E1A-407C-879D-3133F20A0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457027"/>
              </p:ext>
            </p:extLst>
          </p:nvPr>
        </p:nvGraphicFramePr>
        <p:xfrm>
          <a:off x="856291" y="2518790"/>
          <a:ext cx="5067896" cy="673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15840" imgH="241200" progId="Equation.DSMT4">
                  <p:embed/>
                </p:oleObj>
              </mc:Choice>
              <mc:Fallback>
                <p:oleObj name="Equation" r:id="rId18" imgW="1815840" imgH="2412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526BD4FA-6881-4067-B436-7EFF7AEBB4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56291" y="2518790"/>
                        <a:ext cx="5067896" cy="673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E35BFAD-43DB-441B-B911-ED32E07A7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194962"/>
              </p:ext>
            </p:extLst>
          </p:nvPr>
        </p:nvGraphicFramePr>
        <p:xfrm>
          <a:off x="318632" y="4554462"/>
          <a:ext cx="5564188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93680" imgH="507960" progId="Equation.DSMT4">
                  <p:embed/>
                </p:oleObj>
              </mc:Choice>
              <mc:Fallback>
                <p:oleObj name="Equation" r:id="rId20" imgW="1993680" imgH="50796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858B1D7-1E1A-407C-879D-3133F20A0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8632" y="4554462"/>
                        <a:ext cx="5564188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30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E35BFAD-43DB-441B-B911-ED32E07A7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677207"/>
              </p:ext>
            </p:extLst>
          </p:nvPr>
        </p:nvGraphicFramePr>
        <p:xfrm>
          <a:off x="135352" y="3322940"/>
          <a:ext cx="52101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6600" imgH="304560" progId="Equation.DSMT4">
                  <p:embed/>
                </p:oleObj>
              </mc:Choice>
              <mc:Fallback>
                <p:oleObj name="Equation" r:id="rId16" imgW="1866600" imgH="3045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E35BFAD-43DB-441B-B911-ED32E07A7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5352" y="3322940"/>
                        <a:ext cx="5210175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FCA54BD-FDB4-4016-A062-7E0B65236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795401"/>
              </p:ext>
            </p:extLst>
          </p:nvPr>
        </p:nvGraphicFramePr>
        <p:xfrm>
          <a:off x="148818" y="1787020"/>
          <a:ext cx="5564188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93680" imgH="507960" progId="Equation.DSMT4">
                  <p:embed/>
                </p:oleObj>
              </mc:Choice>
              <mc:Fallback>
                <p:oleObj name="Equation" r:id="rId18" imgW="1993680" imgH="5079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E35BFAD-43DB-441B-B911-ED32E07A7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8818" y="1787020"/>
                        <a:ext cx="5564188" cy="1417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9C1C875-3B47-448C-A89F-ADADCD924EA1}"/>
                  </a:ext>
                </a:extLst>
              </p:cNvPr>
              <p:cNvSpPr txBox="1"/>
              <p:nvPr/>
            </p:nvSpPr>
            <p:spPr>
              <a:xfrm>
                <a:off x="120669" y="4225617"/>
                <a:ext cx="4034118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带入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9C1C875-3B47-448C-A89F-ADADCD924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69" y="4225617"/>
                <a:ext cx="4034118" cy="486672"/>
              </a:xfrm>
              <a:prstGeom prst="rect">
                <a:avLst/>
              </a:prstGeom>
              <a:blipFill>
                <a:blip r:embed="rId21"/>
                <a:stretch>
                  <a:fillRect l="-2417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6F23372-5F1B-49CC-BF8A-6A5451E76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533589"/>
              </p:ext>
            </p:extLst>
          </p:nvPr>
        </p:nvGraphicFramePr>
        <p:xfrm>
          <a:off x="135352" y="4867622"/>
          <a:ext cx="39687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22360" imgH="241200" progId="Equation.DSMT4">
                  <p:embed/>
                </p:oleObj>
              </mc:Choice>
              <mc:Fallback>
                <p:oleObj name="Equation" r:id="rId22" imgW="1422360" imgH="241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E35BFAD-43DB-441B-B911-ED32E07A70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5352" y="4867622"/>
                        <a:ext cx="3968750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928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6F23372-5F1B-49CC-BF8A-6A5451E76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981797"/>
              </p:ext>
            </p:extLst>
          </p:nvPr>
        </p:nvGraphicFramePr>
        <p:xfrm>
          <a:off x="122353" y="1936466"/>
          <a:ext cx="39687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22360" imgH="241200" progId="Equation.DSMT4">
                  <p:embed/>
                </p:oleObj>
              </mc:Choice>
              <mc:Fallback>
                <p:oleObj name="Equation" r:id="rId16" imgW="1422360" imgH="2412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6F23372-5F1B-49CC-BF8A-6A5451E76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2353" y="1936466"/>
                        <a:ext cx="3968750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/>
              <p:nvPr/>
            </p:nvSpPr>
            <p:spPr>
              <a:xfrm>
                <a:off x="122353" y="2827178"/>
                <a:ext cx="2846036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两端同时乘以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53" y="2827178"/>
                <a:ext cx="2846036" cy="486672"/>
              </a:xfrm>
              <a:prstGeom prst="rect">
                <a:avLst/>
              </a:prstGeom>
              <a:blipFill>
                <a:blip r:embed="rId19"/>
                <a:stretch>
                  <a:fillRect l="-3212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CD53033-A2B6-43C6-B526-AD327E4516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547997"/>
              </p:ext>
            </p:extLst>
          </p:nvPr>
        </p:nvGraphicFramePr>
        <p:xfrm>
          <a:off x="275564" y="3422796"/>
          <a:ext cx="3790950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927000" progId="Equation.DSMT4">
                  <p:embed/>
                </p:oleObj>
              </mc:Choice>
              <mc:Fallback>
                <p:oleObj name="Equation" r:id="rId20" imgW="1358640" imgH="9270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6F23372-5F1B-49CC-BF8A-6A5451E76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75564" y="3422796"/>
                        <a:ext cx="3790950" cy="259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7CB17395-8381-4243-B2E7-2B65E0B66C17}"/>
              </a:ext>
            </a:extLst>
          </p:cNvPr>
          <p:cNvSpPr/>
          <p:nvPr/>
        </p:nvSpPr>
        <p:spPr bwMode="auto">
          <a:xfrm>
            <a:off x="1039406" y="4961760"/>
            <a:ext cx="2401426" cy="114761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思想气泡: 云 22">
            <a:extLst>
              <a:ext uri="{FF2B5EF4-FFF2-40B4-BE49-F238E27FC236}">
                <a16:creationId xmlns:a16="http://schemas.microsoft.com/office/drawing/2014/main" id="{010B9B72-6B0F-43A0-A150-176487CD3414}"/>
              </a:ext>
            </a:extLst>
          </p:cNvPr>
          <p:cNvSpPr/>
          <p:nvPr/>
        </p:nvSpPr>
        <p:spPr bwMode="auto">
          <a:xfrm>
            <a:off x="4238662" y="3350345"/>
            <a:ext cx="1842829" cy="817520"/>
          </a:xfrm>
          <a:prstGeom prst="cloudCallout">
            <a:avLst>
              <a:gd name="adj1" fmla="val -94283"/>
              <a:gd name="adj2" fmla="val 13916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共轭</a:t>
            </a:r>
          </a:p>
        </p:txBody>
      </p:sp>
    </p:spTree>
    <p:extLst>
      <p:ext uri="{BB962C8B-B14F-4D97-AF65-F5344CB8AC3E}">
        <p14:creationId xmlns:p14="http://schemas.microsoft.com/office/powerpoint/2010/main" val="137636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/>
              <p:nvPr/>
            </p:nvSpPr>
            <p:spPr>
              <a:xfrm>
                <a:off x="97570" y="2942328"/>
                <a:ext cx="5136214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带入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" y="2942328"/>
                <a:ext cx="5136214" cy="486672"/>
              </a:xfrm>
              <a:prstGeom prst="rect">
                <a:avLst/>
              </a:prstGeom>
              <a:blipFill>
                <a:blip r:embed="rId17"/>
                <a:stretch>
                  <a:fillRect l="-1779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CD53033-A2B6-43C6-B526-AD327E4516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168994"/>
              </p:ext>
            </p:extLst>
          </p:nvPr>
        </p:nvGraphicFramePr>
        <p:xfrm>
          <a:off x="21836" y="1874060"/>
          <a:ext cx="43227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49080" imgH="342720" progId="Equation.DSMT4">
                  <p:embed/>
                </p:oleObj>
              </mc:Choice>
              <mc:Fallback>
                <p:oleObj name="Equation" r:id="rId18" imgW="1549080" imgH="342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CD53033-A2B6-43C6-B526-AD327E4516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836" y="1874060"/>
                        <a:ext cx="4322763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6264EC90-041C-479D-B124-06D447AB2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367336"/>
              </p:ext>
            </p:extLst>
          </p:nvPr>
        </p:nvGraphicFramePr>
        <p:xfrm>
          <a:off x="59214" y="3440108"/>
          <a:ext cx="59896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45960" imgH="342720" progId="Equation.DSMT4">
                  <p:embed/>
                </p:oleObj>
              </mc:Choice>
              <mc:Fallback>
                <p:oleObj name="Equation" r:id="rId20" imgW="2145960" imgH="342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6CD53033-A2B6-43C6-B526-AD327E4516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9214" y="3440108"/>
                        <a:ext cx="5989638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F4910A0A-3057-4236-BF79-9E9D1D92E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409910"/>
              </p:ext>
            </p:extLst>
          </p:nvPr>
        </p:nvGraphicFramePr>
        <p:xfrm>
          <a:off x="107950" y="4508500"/>
          <a:ext cx="666750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87520" imgH="711000" progId="Equation.DSMT4">
                  <p:embed/>
                </p:oleObj>
              </mc:Choice>
              <mc:Fallback>
                <p:oleObj name="Equation" r:id="rId22" imgW="2387520" imgH="7110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6264EC90-041C-479D-B124-06D447AB2B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7950" y="4508500"/>
                        <a:ext cx="6667500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510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/>
              <p:nvPr/>
            </p:nvSpPr>
            <p:spPr>
              <a:xfrm>
                <a:off x="11671" y="4467760"/>
                <a:ext cx="5387885" cy="486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正交，且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7B60B5-8FA2-44DF-A472-16C840A21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1" y="4467760"/>
                <a:ext cx="5387885" cy="486672"/>
              </a:xfrm>
              <a:prstGeom prst="rect">
                <a:avLst/>
              </a:prstGeom>
              <a:blipFill>
                <a:blip r:embed="rId17"/>
                <a:stretch>
                  <a:fillRect l="-1810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F4910A0A-3057-4236-BF79-9E9D1D92E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966070"/>
              </p:ext>
            </p:extLst>
          </p:nvPr>
        </p:nvGraphicFramePr>
        <p:xfrm>
          <a:off x="-1588" y="1854200"/>
          <a:ext cx="5921376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20760" imgH="901440" progId="Equation.DSMT4">
                  <p:embed/>
                </p:oleObj>
              </mc:Choice>
              <mc:Fallback>
                <p:oleObj name="Equation" r:id="rId18" imgW="2120760" imgH="90144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F4910A0A-3057-4236-BF79-9E9D1D92E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-1588" y="1854200"/>
                        <a:ext cx="5921376" cy="252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34EDAE48-A33F-4693-98DC-EF99C519E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369775"/>
              </p:ext>
            </p:extLst>
          </p:nvPr>
        </p:nvGraphicFramePr>
        <p:xfrm>
          <a:off x="82601" y="5177674"/>
          <a:ext cx="58515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95200" imgH="342720" progId="Equation.DSMT4">
                  <p:embed/>
                </p:oleObj>
              </mc:Choice>
              <mc:Fallback>
                <p:oleObj name="Equation" r:id="rId20" imgW="2095200" imgH="3427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F4910A0A-3057-4236-BF79-9E9D1D92E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2601" y="5177674"/>
                        <a:ext cx="5851525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87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B64F251-F3E3-4E13-9E75-32B41B49F1F6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876" y="1580374"/>
            <a:ext cx="1112090" cy="2873011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1C71A4-407F-494A-BFDD-0DF31AF0A19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86458" y="2881086"/>
            <a:ext cx="8015" cy="25855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958679C-1B39-4023-B8DF-5FDED98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5BD-4FCA-4FF6-8DCE-90C9C0ABB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方法原理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3D535-A9BC-4D43-81EA-C47F813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8DE9B8-FF0A-4D81-83AF-DAD11D4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C0C2DB-B149-4F26-9EC9-5439DE457307}"/>
              </a:ext>
            </a:extLst>
          </p:cNvPr>
          <p:cNvCxnSpPr>
            <a:cxnSpLocks/>
          </p:cNvCxnSpPr>
          <p:nvPr/>
        </p:nvCxnSpPr>
        <p:spPr bwMode="auto">
          <a:xfrm>
            <a:off x="6197047" y="4432786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6A59801E-D672-4A52-81EA-E5E358A2F7F3}"/>
              </a:ext>
            </a:extLst>
          </p:cNvPr>
          <p:cNvSpPr/>
          <p:nvPr/>
        </p:nvSpPr>
        <p:spPr bwMode="auto">
          <a:xfrm rot="17986332">
            <a:off x="7463762" y="3476384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8C1138-615D-40C6-8983-A77689109943}"/>
              </a:ext>
            </a:extLst>
          </p:cNvPr>
          <p:cNvSpPr/>
          <p:nvPr/>
        </p:nvSpPr>
        <p:spPr bwMode="auto">
          <a:xfrm rot="17986332">
            <a:off x="6594783" y="3131856"/>
            <a:ext cx="1966202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88086DA-1376-450B-BA30-41BCFC791CF6}"/>
              </a:ext>
            </a:extLst>
          </p:cNvPr>
          <p:cNvSpPr/>
          <p:nvPr/>
        </p:nvSpPr>
        <p:spPr bwMode="auto">
          <a:xfrm rot="17986332">
            <a:off x="6019449" y="2726346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676B59-86BD-4FEC-83B4-1EE701639ED8}"/>
              </a:ext>
            </a:extLst>
          </p:cNvPr>
          <p:cNvSpPr/>
          <p:nvPr/>
        </p:nvSpPr>
        <p:spPr bwMode="auto">
          <a:xfrm rot="17986332">
            <a:off x="5587400" y="2407611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CB2CE6-1A85-48A1-9BEC-8E8AD895B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6541" y="4461222"/>
          <a:ext cx="7096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52280" progId="Equation.DSMT4">
                  <p:embed/>
                </p:oleObj>
              </mc:Choice>
              <mc:Fallback>
                <p:oleObj name="Equation" r:id="rId2" imgW="26640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0CB2CE6-1A85-48A1-9BEC-8E8AD895B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6541" y="4461222"/>
                        <a:ext cx="709613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3535C40A-CC88-4141-93DA-0A40325671F3}"/>
              </a:ext>
            </a:extLst>
          </p:cNvPr>
          <p:cNvSpPr/>
          <p:nvPr/>
        </p:nvSpPr>
        <p:spPr bwMode="auto">
          <a:xfrm rot="17986332">
            <a:off x="6081740" y="4339850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23006C-BBFF-4CA3-AA6B-772CA880395A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73" y="1570273"/>
            <a:ext cx="39063" cy="2868928"/>
          </a:xfrm>
          <a:prstGeom prst="line">
            <a:avLst/>
          </a:prstGeom>
          <a:ln w="38100" cap="flat" cmpd="sng" algn="ctr">
            <a:solidFill>
              <a:srgbClr val="CC339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C4F49064-BE90-4A34-9D29-6A7E45CAD240}"/>
              </a:ext>
            </a:extLst>
          </p:cNvPr>
          <p:cNvSpPr/>
          <p:nvPr/>
        </p:nvSpPr>
        <p:spPr bwMode="auto">
          <a:xfrm rot="17986332">
            <a:off x="7100503" y="43235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5349050-BAA7-4342-988F-2D8A009D5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064" y="4225617"/>
          <a:ext cx="58896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52280" progId="Equation.DSMT4">
                  <p:embed/>
                </p:oleObj>
              </mc:Choice>
              <mc:Fallback>
                <p:oleObj name="Equation" r:id="rId4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5349050-BAA7-4342-988F-2D8A009D5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9064" y="4225617"/>
                        <a:ext cx="588962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3E5022E-A7A9-4600-B44E-B5AF98FAC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9579" y="3192857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3E5022E-A7A9-4600-B44E-B5AF98FAC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89579" y="3192857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2AD4A87-5A64-4244-913A-1E52C97D4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2648" y="1854986"/>
          <a:ext cx="14906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177480" progId="Equation.DSMT4">
                  <p:embed/>
                </p:oleObj>
              </mc:Choice>
              <mc:Fallback>
                <p:oleObj name="Equation" r:id="rId8" imgW="5587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2AD4A87-5A64-4244-913A-1E52C97D45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32648" y="1854986"/>
                        <a:ext cx="1490662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2FBCC85-A093-489A-A587-34D02B689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2229" y="1087806"/>
          <a:ext cx="914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177480" progId="Equation.DSMT4">
                  <p:embed/>
                </p:oleObj>
              </mc:Choice>
              <mc:Fallback>
                <p:oleObj name="Equation" r:id="rId10" imgW="3427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D2FBCC85-A093-489A-A587-34D02B6895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2229" y="1087806"/>
                        <a:ext cx="914400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00D5168A-EFCC-44AD-ABB8-41F2CEC72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9454" y="4448507"/>
          <a:ext cx="2065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177480" progId="Equation.DSMT4">
                  <p:embed/>
                </p:oleObj>
              </mc:Choice>
              <mc:Fallback>
                <p:oleObj name="Equation" r:id="rId12" imgW="774360" imgH="177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0D5168A-EFCC-44AD-ABB8-41F2CEC72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39454" y="4448507"/>
                        <a:ext cx="2065338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5D0ADA01-29A1-49D5-9430-6C22A407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210" y="1737334"/>
          <a:ext cx="6429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164880" progId="Equation.DSMT4">
                  <p:embed/>
                </p:oleObj>
              </mc:Choice>
              <mc:Fallback>
                <p:oleObj name="Equation" r:id="rId14" imgW="2412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5D0ADA01-29A1-49D5-9430-6C22A407E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175210" y="1737334"/>
                        <a:ext cx="642938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B91FAD5-29CB-4A66-B91A-2E92D31F3601}"/>
              </a:ext>
            </a:extLst>
          </p:cNvPr>
          <p:cNvCxnSpPr>
            <a:cxnSpLocks/>
          </p:cNvCxnSpPr>
          <p:nvPr/>
        </p:nvCxnSpPr>
        <p:spPr bwMode="auto">
          <a:xfrm>
            <a:off x="7248658" y="1576687"/>
            <a:ext cx="1049308" cy="36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327B60B5-8FA2-44DF-A472-16C840A21947}"/>
              </a:ext>
            </a:extLst>
          </p:cNvPr>
          <p:cNvSpPr txBox="1"/>
          <p:nvPr/>
        </p:nvSpPr>
        <p:spPr>
          <a:xfrm>
            <a:off x="0" y="34285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最终求得：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34EDAE48-A33F-4693-98DC-EF99C519E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199408"/>
              </p:ext>
            </p:extLst>
          </p:nvPr>
        </p:nvGraphicFramePr>
        <p:xfrm>
          <a:off x="64239" y="1816327"/>
          <a:ext cx="58515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95200" imgH="342720" progId="Equation.DSMT4">
                  <p:embed/>
                </p:oleObj>
              </mc:Choice>
              <mc:Fallback>
                <p:oleObj name="Equation" r:id="rId16" imgW="2095200" imgH="3427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34EDAE48-A33F-4693-98DC-EF99C519EB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239" y="1816327"/>
                        <a:ext cx="5851525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FAAF534-8A28-4CA7-95DF-21BC08D3B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908403"/>
              </p:ext>
            </p:extLst>
          </p:nvPr>
        </p:nvGraphicFramePr>
        <p:xfrm>
          <a:off x="1599252" y="2804555"/>
          <a:ext cx="3546475" cy="369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9720" imgH="1320480" progId="Equation.DSMT4">
                  <p:embed/>
                </p:oleObj>
              </mc:Choice>
              <mc:Fallback>
                <p:oleObj name="Equation" r:id="rId18" imgW="1269720" imgH="13204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34EDAE48-A33F-4693-98DC-EF99C519EB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99252" y="2804555"/>
                        <a:ext cx="3546475" cy="369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514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6D485-95E5-4707-8895-15C8E526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7A155-4A5F-499F-AA69-64919052E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共轭方向构造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224DB3-281E-4785-8DB1-87BC472F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F29C84-3DA5-4306-918C-36E1DAB6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B21CBB-0BF0-42EF-942A-318C0AF42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548325"/>
              </p:ext>
            </p:extLst>
          </p:nvPr>
        </p:nvGraphicFramePr>
        <p:xfrm>
          <a:off x="1860550" y="3448050"/>
          <a:ext cx="448310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660240" progId="Equation.DSMT4">
                  <p:embed/>
                </p:oleObj>
              </mc:Choice>
              <mc:Fallback>
                <p:oleObj name="Equation" r:id="rId2" imgW="1549080" imgH="6602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FAAF534-8A28-4CA7-95DF-21BC08D3B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60550" y="3448050"/>
                        <a:ext cx="4483100" cy="191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CA60F66-8307-4C7A-BAEA-0853CB784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048157"/>
              </p:ext>
            </p:extLst>
          </p:nvPr>
        </p:nvGraphicFramePr>
        <p:xfrm>
          <a:off x="1064568" y="2229417"/>
          <a:ext cx="7309947" cy="971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241200" progId="Equation.DSMT4">
                  <p:embed/>
                </p:oleObj>
              </mc:Choice>
              <mc:Fallback>
                <p:oleObj name="Equation" r:id="rId4" imgW="1815840" imgH="2412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858B1D7-1E1A-407C-879D-3133F20A0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4568" y="2229417"/>
                        <a:ext cx="7309947" cy="9715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5671587C-9473-42A1-B5FA-94A726203E1C}"/>
              </a:ext>
            </a:extLst>
          </p:cNvPr>
          <p:cNvSpPr/>
          <p:nvPr/>
        </p:nvSpPr>
        <p:spPr bwMode="auto">
          <a:xfrm>
            <a:off x="3797300" y="343228"/>
            <a:ext cx="5404172" cy="1501596"/>
          </a:xfrm>
          <a:prstGeom prst="cloudCallout">
            <a:avLst>
              <a:gd name="adj1" fmla="val -48058"/>
              <a:gd name="adj2" fmla="val 72622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仅仅通过梯度就可以构造共轭方向</a:t>
            </a:r>
          </a:p>
        </p:txBody>
      </p:sp>
    </p:spTree>
    <p:extLst>
      <p:ext uri="{BB962C8B-B14F-4D97-AF65-F5344CB8AC3E}">
        <p14:creationId xmlns:p14="http://schemas.microsoft.com/office/powerpoint/2010/main" val="164406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CDA3E-B57F-4C83-A1C7-6B9688E1D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160116" y="1916832"/>
                <a:ext cx="6886180" cy="2784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给定一个初始点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，维数为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),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dirty="0"/>
                          <m:t>搜索方向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r>
                  <a:rPr lang="zh-CN" altLang="en-US" sz="2400" dirty="0"/>
                  <a:t>沿方向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进行一维搜索：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r>
                  <a:rPr lang="en-US" altLang="zh-CN" sz="2400" dirty="0"/>
                  <a:t>3.   </a:t>
                </a:r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的梯度，令：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16" y="1916832"/>
                <a:ext cx="6886180" cy="2784288"/>
              </a:xfrm>
              <a:prstGeom prst="rect">
                <a:avLst/>
              </a:prstGeom>
              <a:blipFill>
                <a:blip r:embed="rId3"/>
                <a:stretch>
                  <a:fillRect l="-1327" t="-875" b="-39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F757111-0365-480B-9F49-BB6AE10FB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538438"/>
              </p:ext>
            </p:extLst>
          </p:nvPr>
        </p:nvGraphicFramePr>
        <p:xfrm>
          <a:off x="1213744" y="3580473"/>
          <a:ext cx="35814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15640" progId="Equation.DSMT4">
                  <p:embed/>
                </p:oleObj>
              </mc:Choice>
              <mc:Fallback>
                <p:oleObj name="Equation" r:id="rId4" imgW="1282680" imgH="2156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FAAF534-8A28-4CA7-95DF-21BC08D3B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744" y="3580473"/>
                        <a:ext cx="3581400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ED028BB-9EE9-4542-9EBB-EC4471FC2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818925"/>
              </p:ext>
            </p:extLst>
          </p:nvPr>
        </p:nvGraphicFramePr>
        <p:xfrm>
          <a:off x="1213744" y="4666750"/>
          <a:ext cx="3298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304560" progId="Equation.DSMT4">
                  <p:embed/>
                </p:oleObj>
              </mc:Choice>
              <mc:Fallback>
                <p:oleObj name="Equation" r:id="rId6" imgW="1180800" imgH="304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F757111-0365-480B-9F49-BB6AE10FB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3744" y="4666750"/>
                        <a:ext cx="3298825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232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CDA3E-B57F-4C83-A1C7-6B9688E1D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160116" y="1916832"/>
                <a:ext cx="7666009" cy="3835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判断收敛精度：</a:t>
                </a:r>
                <a:endParaRPr lang="en-US" altLang="zh-CN" sz="2400" dirty="0"/>
              </a:p>
              <a:p>
                <a:pPr marL="457200" indent="-457200">
                  <a:buAutoNum type="arabicPeriod" startAt="4"/>
                </a:pP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若满足，则找到极值点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，终止迭代。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若不满足，则继续下一步。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+1==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是否成立：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若成立，则令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1.</a:t>
                </a:r>
              </a:p>
              <a:p>
                <a:pPr marL="914400" lvl="1" indent="-4572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若不成立，则继续下一步。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16" y="1916832"/>
                <a:ext cx="7666009" cy="3835665"/>
              </a:xfrm>
              <a:prstGeom prst="rect">
                <a:avLst/>
              </a:prstGeom>
              <a:blipFill>
                <a:blip r:embed="rId3"/>
                <a:stretch>
                  <a:fillRect l="-1033" t="-1270" r="-238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F757111-0365-480B-9F49-BB6AE10FB4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178238"/>
              </p:ext>
            </p:extLst>
          </p:nvPr>
        </p:nvGraphicFramePr>
        <p:xfrm>
          <a:off x="2939200" y="1700808"/>
          <a:ext cx="290671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330120" progId="Equation.DSMT4">
                  <p:embed/>
                </p:oleObj>
              </mc:Choice>
              <mc:Fallback>
                <p:oleObj name="Equation" r:id="rId4" imgW="104112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F757111-0365-480B-9F49-BB6AE10FB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9200" y="1700808"/>
                        <a:ext cx="2906713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515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CDA3E-B57F-4C83-A1C7-6B9688E1D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160116" y="1916832"/>
                <a:ext cx="4043543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6.  </a:t>
                </a:r>
                <a:r>
                  <a:rPr lang="zh-CN" altLang="en-US" sz="2400" dirty="0"/>
                  <a:t>构造共轭方向：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2.</a:t>
                </a: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16" y="1916832"/>
                <a:ext cx="4043543" cy="3416320"/>
              </a:xfrm>
              <a:prstGeom prst="rect">
                <a:avLst/>
              </a:prstGeom>
              <a:blipFill>
                <a:blip r:embed="rId3"/>
                <a:stretch>
                  <a:fillRect l="-2259" t="-1426" r="-1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0424E5C-9741-4B2E-8BFD-20F451CF2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39890"/>
              </p:ext>
            </p:extLst>
          </p:nvPr>
        </p:nvGraphicFramePr>
        <p:xfrm>
          <a:off x="1976438" y="2554288"/>
          <a:ext cx="51943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660240" progId="Equation.DSMT4">
                  <p:embed/>
                </p:oleObj>
              </mc:Choice>
              <mc:Fallback>
                <p:oleObj name="Equation" r:id="rId4" imgW="2171520" imgH="6602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B21CBB-0BF0-42EF-942A-318C0AF42F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6438" y="2554288"/>
                        <a:ext cx="5194300" cy="158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E5DCB35-D787-4442-84B4-545C79920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052925"/>
              </p:ext>
            </p:extLst>
          </p:nvPr>
        </p:nvGraphicFramePr>
        <p:xfrm>
          <a:off x="2668588" y="1730375"/>
          <a:ext cx="51498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304560" progId="Equation.DSMT4">
                  <p:embed/>
                </p:oleObj>
              </mc:Choice>
              <mc:Fallback>
                <p:oleObj name="Equation" r:id="rId6" imgW="185400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CA60F66-8307-4C7A-BAEA-0853CB7846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8588" y="1730375"/>
                        <a:ext cx="5149850" cy="846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64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A9E59-5EAC-48CA-87D7-952AC0FA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共轭梯度法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DC242F-A492-4BB2-BC66-52FF601D17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(P64-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4-5)</a:t>
                </a:r>
                <a:r>
                  <a:rPr lang="zh-CN" altLang="en-US" dirty="0"/>
                  <a:t>：共轭梯度法求解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，收敛精度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𝛜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，用共轭梯度法求解下面无约束优化问题的极值点。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DC242F-A492-4BB2-BC66-52FF601D1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33C3E-0639-4C41-AACD-18387D17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203B37-2D8E-4677-80DC-80434126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7C6E8C-4E98-4C2C-90C7-4CF179916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046666"/>
              </p:ext>
            </p:extLst>
          </p:nvPr>
        </p:nvGraphicFramePr>
        <p:xfrm>
          <a:off x="1213744" y="32849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0F3A17F-A2E3-4B4B-BB5C-A43AC5F472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744" y="32849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98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0672" y="1163701"/>
                <a:ext cx="9264331" cy="2727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dirty="0"/>
                  <a:t>给定一个初始点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 b="0" i="0" baseline="3000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zh-CN" altLang="en-US" sz="2400" dirty="0"/>
                  <a:t>和收敛精度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sz="2400" dirty="0"/>
                  <a:t>，维数为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),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dirty="0"/>
                          <m:t>搜索方向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" y="1163701"/>
                <a:ext cx="9264331" cy="2727670"/>
              </a:xfrm>
              <a:prstGeom prst="rect">
                <a:avLst/>
              </a:prstGeom>
              <a:blipFill>
                <a:blip r:embed="rId3"/>
                <a:stretch>
                  <a:fillRect l="-855" t="-895" r="-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1B339E6-A974-4AC0-AF74-CE8F48541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A0485DD-2056-45EB-9E31-89873AE8D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299552"/>
              </p:ext>
            </p:extLst>
          </p:nvPr>
        </p:nvGraphicFramePr>
        <p:xfrm>
          <a:off x="560997" y="2043906"/>
          <a:ext cx="7870825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19160" imgH="990360" progId="Equation.DSMT4">
                  <p:embed/>
                </p:oleObj>
              </mc:Choice>
              <mc:Fallback>
                <p:oleObj name="Equation" r:id="rId6" imgW="2819160" imgH="990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F757111-0365-480B-9F49-BB6AE10FB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0997" y="2043906"/>
                        <a:ext cx="7870825" cy="277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108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0672" y="1163701"/>
                <a:ext cx="4197175" cy="270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2.  </a:t>
                </a:r>
                <a:r>
                  <a:rPr lang="zh-CN" altLang="en-US" sz="2400" dirty="0"/>
                  <a:t>沿方向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进行一维搜索：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" y="1163701"/>
                <a:ext cx="4197175" cy="2702663"/>
              </a:xfrm>
              <a:prstGeom prst="rect">
                <a:avLst/>
              </a:prstGeom>
              <a:blipFill>
                <a:blip r:embed="rId3"/>
                <a:stretch>
                  <a:fillRect l="-2177" t="-903" r="-1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3FC24F0-12C9-4643-B81F-24B7A4116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461538"/>
              </p:ext>
            </p:extLst>
          </p:nvPr>
        </p:nvGraphicFramePr>
        <p:xfrm>
          <a:off x="4088904" y="1037084"/>
          <a:ext cx="35814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215640" progId="Equation.DSMT4">
                  <p:embed/>
                </p:oleObj>
              </mc:Choice>
              <mc:Fallback>
                <p:oleObj name="Equation" r:id="rId6" imgW="1282680" imgH="2156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F757111-0365-480B-9F49-BB6AE10FB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88904" y="1037084"/>
                        <a:ext cx="3581400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EC9EC8-F5C9-431B-A833-299CD6685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559909"/>
              </p:ext>
            </p:extLst>
          </p:nvPr>
        </p:nvGraphicFramePr>
        <p:xfrm>
          <a:off x="416496" y="1684003"/>
          <a:ext cx="8616950" cy="493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85920" imgH="1765080" progId="Equation.DSMT4">
                  <p:embed/>
                </p:oleObj>
              </mc:Choice>
              <mc:Fallback>
                <p:oleObj name="Equation" r:id="rId8" imgW="3085920" imgH="1765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3FC24F0-12C9-4643-B81F-24B7A41164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6496" y="1684003"/>
                        <a:ext cx="8616950" cy="4935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508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0672" y="1163701"/>
                <a:ext cx="4007187" cy="270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3.  </a:t>
                </a:r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的梯度，令： 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" y="1163701"/>
                <a:ext cx="4007187" cy="2702663"/>
              </a:xfrm>
              <a:prstGeom prst="rect">
                <a:avLst/>
              </a:prstGeom>
              <a:blipFill>
                <a:blip r:embed="rId3"/>
                <a:stretch>
                  <a:fillRect l="-2280" t="-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EC9EC8-F5C9-431B-A833-299CD6685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693709"/>
              </p:ext>
            </p:extLst>
          </p:nvPr>
        </p:nvGraphicFramePr>
        <p:xfrm>
          <a:off x="612775" y="1958975"/>
          <a:ext cx="7800975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990360" progId="Equation.DSMT4">
                  <p:embed/>
                </p:oleObj>
              </mc:Choice>
              <mc:Fallback>
                <p:oleObj name="Equation" r:id="rId6" imgW="2793960" imgH="990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7EC9EC8-F5C9-431B-A833-299CD6685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2775" y="1958975"/>
                        <a:ext cx="7800975" cy="276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AA1FB05-BDC2-4CD3-9731-2C4FB8880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798740"/>
              </p:ext>
            </p:extLst>
          </p:nvPr>
        </p:nvGraphicFramePr>
        <p:xfrm>
          <a:off x="3797300" y="1017711"/>
          <a:ext cx="32988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304560" progId="Equation.DSMT4">
                  <p:embed/>
                </p:oleObj>
              </mc:Choice>
              <mc:Fallback>
                <p:oleObj name="Equation" r:id="rId8" imgW="1180800" imgH="304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ED028BB-9EE9-4542-9EBB-EC4471FC2A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97300" y="1017711"/>
                        <a:ext cx="3298825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17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0672" y="1163701"/>
                <a:ext cx="7970323" cy="52879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 startAt="4"/>
                </a:pPr>
                <a:r>
                  <a:rPr lang="zh-CN" altLang="en-US" sz="2400" dirty="0"/>
                  <a:t>判断收敛精度：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不满足，继续下一步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r>
                  <a:rPr lang="zh-CN" altLang="en-US" sz="2400" dirty="0"/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+1==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是否成立：</a:t>
                </a: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若成立，则令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1.</a:t>
                </a:r>
              </a:p>
              <a:p>
                <a:pPr marL="914400" lvl="1" indent="-457200">
                  <a:buFont typeface="+mj-ea"/>
                  <a:buAutoNum type="circleNumDbPlain"/>
                </a:pPr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若不成立，则继续下一步。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en-US" altLang="zh-CN" sz="2400" dirty="0"/>
                  <a:t>	k=0</a:t>
                </a:r>
                <a:r>
                  <a:rPr lang="zh-CN" altLang="en-US" sz="2400" dirty="0"/>
                  <a:t>，</a:t>
                </a:r>
                <a:r>
                  <a:rPr lang="en-US" altLang="zh-CN" sz="2400" dirty="0"/>
                  <a:t>n=2</a:t>
                </a:r>
                <a:r>
                  <a:rPr lang="zh-CN" altLang="en-US" sz="2400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+1==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不成立，继续下一步。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" y="1163701"/>
                <a:ext cx="7970323" cy="5287986"/>
              </a:xfrm>
              <a:prstGeom prst="rect">
                <a:avLst/>
              </a:prstGeom>
              <a:blipFill>
                <a:blip r:embed="rId3"/>
                <a:stretch>
                  <a:fillRect l="-994" t="-923" r="-229" b="-1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7EC9EC8-F5C9-431B-A833-299CD6685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931371"/>
              </p:ext>
            </p:extLst>
          </p:nvPr>
        </p:nvGraphicFramePr>
        <p:xfrm>
          <a:off x="696726" y="2160459"/>
          <a:ext cx="44688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330120" progId="Equation.DSMT4">
                  <p:embed/>
                </p:oleObj>
              </mc:Choice>
              <mc:Fallback>
                <p:oleObj name="Equation" r:id="rId6" imgW="160020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7EC9EC8-F5C9-431B-A833-299CD6685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6726" y="2160459"/>
                        <a:ext cx="4468812" cy="92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AC2DA07-0E89-4BCB-B581-DABDEE251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366542"/>
              </p:ext>
            </p:extLst>
          </p:nvPr>
        </p:nvGraphicFramePr>
        <p:xfrm>
          <a:off x="2720752" y="1083327"/>
          <a:ext cx="290671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1120" imgH="330120" progId="Equation.DSMT4">
                  <p:embed/>
                </p:oleObj>
              </mc:Choice>
              <mc:Fallback>
                <p:oleObj name="Equation" r:id="rId8" imgW="104112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F757111-0365-480B-9F49-BB6AE10FB4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0752" y="1083327"/>
                        <a:ext cx="2906713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361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B74BDA-14F7-4E6C-93E3-F5D86935AF1E}"/>
              </a:ext>
            </a:extLst>
          </p:cNvPr>
          <p:cNvSpPr txBox="1"/>
          <p:nvPr/>
        </p:nvSpPr>
        <p:spPr>
          <a:xfrm>
            <a:off x="80672" y="1163701"/>
            <a:ext cx="276550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6.  </a:t>
            </a:r>
            <a:r>
              <a:rPr lang="zh-CN" altLang="en-US" sz="2400" dirty="0"/>
              <a:t>构造共轭方向：</a:t>
            </a:r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marL="457200" indent="-457200">
              <a:buAutoNum type="arabicPeriod" startAt="2"/>
            </a:pPr>
            <a:endParaRPr lang="zh-CN" altLang="en-US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AA46CC3-3CEC-4A59-B858-1FC4D1858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612340"/>
              </p:ext>
            </p:extLst>
          </p:nvPr>
        </p:nvGraphicFramePr>
        <p:xfrm>
          <a:off x="2846173" y="1840312"/>
          <a:ext cx="3704870" cy="1580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660240" progId="Equation.DSMT4">
                  <p:embed/>
                </p:oleObj>
              </mc:Choice>
              <mc:Fallback>
                <p:oleObj name="Equation" r:id="rId4" imgW="1549080" imgH="660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0424E5C-9741-4B2E-8BFD-20F451CF2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6173" y="1840312"/>
                        <a:ext cx="3704870" cy="1580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CD206AE-4BB8-4F8D-80AB-7E65EAE91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736936"/>
              </p:ext>
            </p:extLst>
          </p:nvPr>
        </p:nvGraphicFramePr>
        <p:xfrm>
          <a:off x="2846173" y="1102876"/>
          <a:ext cx="5044132" cy="670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241200" progId="Equation.DSMT4">
                  <p:embed/>
                </p:oleObj>
              </mc:Choice>
              <mc:Fallback>
                <p:oleObj name="Equation" r:id="rId6" imgW="181584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E5DCB35-D787-4442-84B4-545C79920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6173" y="1102876"/>
                        <a:ext cx="5044132" cy="670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A83E15E-6003-4C4A-A2C8-3E9CE0FEE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144611"/>
              </p:ext>
            </p:extLst>
          </p:nvPr>
        </p:nvGraphicFramePr>
        <p:xfrm>
          <a:off x="560512" y="4538574"/>
          <a:ext cx="5400600" cy="1908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82600" imgH="736560" progId="Equation.DSMT4">
                  <p:embed/>
                </p:oleObj>
              </mc:Choice>
              <mc:Fallback>
                <p:oleObj name="Equation" r:id="rId8" imgW="208260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CD206AE-4BB8-4F8D-80AB-7E65EAE91F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0512" y="4538574"/>
                        <a:ext cx="5400600" cy="1908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8665DAE-D181-40C5-866F-D31AD71A1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851890"/>
              </p:ext>
            </p:extLst>
          </p:nvPr>
        </p:nvGraphicFramePr>
        <p:xfrm>
          <a:off x="632520" y="3055601"/>
          <a:ext cx="4859338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660240" progId="Equation.DSMT4">
                  <p:embed/>
                </p:oleObj>
              </mc:Choice>
              <mc:Fallback>
                <p:oleObj name="Equation" r:id="rId10" imgW="2031840" imgH="6602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AA46CC3-3CEC-4A59-B858-1FC4D1858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2520" y="3055601"/>
                        <a:ext cx="4859338" cy="158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9BD5EC6-93BA-4DA2-B24C-4C63F04FE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219419"/>
              </p:ext>
            </p:extLst>
          </p:nvPr>
        </p:nvGraphicFramePr>
        <p:xfrm>
          <a:off x="6570663" y="3255963"/>
          <a:ext cx="2941637" cy="262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54080" imgH="939600" progId="Equation.DSMT4">
                  <p:embed/>
                </p:oleObj>
              </mc:Choice>
              <mc:Fallback>
                <p:oleObj name="Equation" r:id="rId12" imgW="1054080" imgH="939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A0485DD-2056-45EB-9E31-89873AE8D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70663" y="3255963"/>
                        <a:ext cx="2941637" cy="2627312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022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0672" y="1163701"/>
                <a:ext cx="6334235" cy="2702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7. 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2.</a:t>
                </a:r>
                <a:r>
                  <a:rPr lang="zh-CN" altLang="en-US" sz="2400" dirty="0"/>
                  <a:t>开始第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轮迭代：</a:t>
                </a:r>
                <a:endParaRPr lang="en-US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en-US" sz="2400" dirty="0"/>
                  <a:t>沿方向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进行一维搜索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" y="1163701"/>
                <a:ext cx="6334235" cy="2702663"/>
              </a:xfrm>
              <a:prstGeom prst="rect">
                <a:avLst/>
              </a:prstGeom>
              <a:blipFill>
                <a:blip r:embed="rId3"/>
                <a:stretch>
                  <a:fillRect l="-1444" t="-1806" r="-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67BEB70-2FD6-404F-AEAC-3DD6ACBF7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301141"/>
              </p:ext>
            </p:extLst>
          </p:nvPr>
        </p:nvGraphicFramePr>
        <p:xfrm>
          <a:off x="481994" y="1762001"/>
          <a:ext cx="9432925" cy="493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77880" imgH="1765080" progId="Equation.DSMT4">
                  <p:embed/>
                </p:oleObj>
              </mc:Choice>
              <mc:Fallback>
                <p:oleObj name="Equation" r:id="rId6" imgW="3377880" imgH="1765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9329556-9587-4BBD-AFB0-142BB0BE3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1994" y="1762001"/>
                        <a:ext cx="9432925" cy="4935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808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2E87-CA78-468C-A072-FADC3C1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64BC95-A7EF-4529-9DA4-0A46174E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852AE-8B78-4FAE-84E7-F6BB70B7B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/>
              <p:nvPr/>
            </p:nvSpPr>
            <p:spPr>
              <a:xfrm>
                <a:off x="87558" y="1130011"/>
                <a:ext cx="4762009" cy="4918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8. </a:t>
                </a:r>
                <a:r>
                  <a:rPr lang="zh-CN" altLang="en-US" sz="2400" dirty="0"/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梯度，判断收敛精度：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en-US" sz="2400" dirty="0"/>
                  <a:t>因此，本题的极值点就是</a:t>
                </a: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en-US" altLang="zh-CN" sz="2400" dirty="0"/>
              </a:p>
              <a:p>
                <a:pPr marL="457200" indent="-457200">
                  <a:buAutoNum type="arabicPeriod" startAt="2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B74BDA-14F7-4E6C-93E3-F5D86935A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8" y="1130011"/>
                <a:ext cx="4762009" cy="4918654"/>
              </a:xfrm>
              <a:prstGeom prst="rect">
                <a:avLst/>
              </a:prstGeom>
              <a:blipFill>
                <a:blip r:embed="rId3"/>
                <a:stretch>
                  <a:fillRect l="-1918" t="-496" r="-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7155DD7-EFB8-4526-B68A-BD7A851D8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9444" y="160462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7155DD7-EFB8-4526-B68A-BD7A851D8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9444" y="160462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67BEB70-2FD6-404F-AEAC-3DD6ACBF7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128026"/>
              </p:ext>
            </p:extLst>
          </p:nvPr>
        </p:nvGraphicFramePr>
        <p:xfrm>
          <a:off x="488504" y="1871981"/>
          <a:ext cx="8759825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36680" imgH="685800" progId="Equation.DSMT4">
                  <p:embed/>
                </p:oleObj>
              </mc:Choice>
              <mc:Fallback>
                <p:oleObj name="Equation" r:id="rId6" imgW="3136680" imgH="685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67BEB70-2FD6-404F-AEAC-3DD6ACBF7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8504" y="1871981"/>
                        <a:ext cx="8759825" cy="191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18C2812-D1B9-4148-AC7D-2A333E763A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885962"/>
              </p:ext>
            </p:extLst>
          </p:nvPr>
        </p:nvGraphicFramePr>
        <p:xfrm>
          <a:off x="488504" y="3442463"/>
          <a:ext cx="418623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330120" progId="Equation.DSMT4">
                  <p:embed/>
                </p:oleObj>
              </mc:Choice>
              <mc:Fallback>
                <p:oleObj name="Equation" r:id="rId8" imgW="149832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7EC9EC8-F5C9-431B-A833-299CD6685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8504" y="3442463"/>
                        <a:ext cx="4186238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DB0CA11-A6A8-434C-BBC4-B06BB959B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539686"/>
              </p:ext>
            </p:extLst>
          </p:nvPr>
        </p:nvGraphicFramePr>
        <p:xfrm>
          <a:off x="4635045" y="4419252"/>
          <a:ext cx="2836863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5920" imgH="457200" progId="Equation.DSMT4">
                  <p:embed/>
                </p:oleObj>
              </mc:Choice>
              <mc:Fallback>
                <p:oleObj name="Equation" r:id="rId10" imgW="1015920" imgH="457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67BEB70-2FD6-404F-AEAC-3DD6ACBF7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5045" y="4419252"/>
                        <a:ext cx="2836863" cy="1279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382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F67EA-71B2-B2AC-86D2-4B7545FC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2022年11月16日星期三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7B56F2-1BBD-1D41-4B15-EBFE1DEE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66F05B-3F0C-756E-2711-FEAFFE1FC8CB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90600" y="635000"/>
                <a:ext cx="79248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假设初始点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en-US" altLang="zh-CN" sz="2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4,4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，用共轭梯度法求解函数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</m:d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2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60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的极小值，则第二次迭代时的搜索方向为（   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A66F05B-3F0C-756E-2711-FEAFFE1FC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90600" y="635000"/>
                <a:ext cx="7924800" cy="2143125"/>
              </a:xfrm>
              <a:prstGeom prst="rect">
                <a:avLst/>
              </a:prstGeom>
              <a:blipFill>
                <a:blip r:embed="rId20"/>
                <a:stretch>
                  <a:fillRect l="-1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452DCF0-3BCF-30A6-4FC7-0AD8F0BBEE5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981200" y="27860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[1,-4]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0E1139-13F1-57A7-3FD4-EB368E31B02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981200" y="36433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[-1,4]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ABB58A-5C2D-A062-A85F-2201061C332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981200" y="450056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[4,-1]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6D4A99-FABF-C85F-8F42-71C6AD327BE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981200" y="5357813"/>
            <a:ext cx="6934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[-4,1]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B8032E-65E3-69D4-A5AE-FED3FF5B27D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287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39127E0-F896-C57E-812F-8CCF9AD34D4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287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06E2E83-B77D-5D4E-AF8A-C821A794D3C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287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1F23A32-B356-6132-81E6-F1EFA9E95B2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287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2457A5-2473-3DD4-C197-1F79D3293476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806D459-D06F-E96B-B997-22C91C3FB21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89C30E6F-F79D-ADC3-FC5D-A9FAAB985A3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982CF2B7-E92E-68FC-3790-0E16CACC03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BF0D8494-33F8-4025-6199-C41E3259A7B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3A0A2A9C-75CD-B3C0-1DEA-BF7CDD9E71E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20 6">
            <a:extLst>
              <a:ext uri="{FF2B5EF4-FFF2-40B4-BE49-F238E27FC236}">
                <a16:creationId xmlns:a16="http://schemas.microsoft.com/office/drawing/2014/main" id="{488FAF56-4170-4916-0C9E-AB03232307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90880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10105</TotalTime>
  <Words>1054</Words>
  <Application>Microsoft Office PowerPoint</Application>
  <PresentationFormat>A4 纸张(210x297 毫米)</PresentationFormat>
  <Paragraphs>299</Paragraphs>
  <Slides>33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黑体</vt:lpstr>
      <vt:lpstr>宋体</vt:lpstr>
      <vt:lpstr>Microsoft Yahei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无约束优化方法</vt:lpstr>
      <vt:lpstr>梯度法</vt:lpstr>
      <vt:lpstr>梯度法</vt:lpstr>
      <vt:lpstr>梯度法</vt:lpstr>
      <vt:lpstr>梯度法</vt:lpstr>
      <vt:lpstr>梯度法</vt:lpstr>
      <vt:lpstr>例1：解</vt:lpstr>
      <vt:lpstr>例1：解</vt:lpstr>
      <vt:lpstr>例1：解</vt:lpstr>
      <vt:lpstr>PowerPoint 演示文稿</vt:lpstr>
      <vt:lpstr>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共轭梯度法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PowerPoint 演示文稿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5075</cp:revision>
  <dcterms:created xsi:type="dcterms:W3CDTF">2016-10-01T05:27:09Z</dcterms:created>
  <dcterms:modified xsi:type="dcterms:W3CDTF">2022-11-16T04:01:27Z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