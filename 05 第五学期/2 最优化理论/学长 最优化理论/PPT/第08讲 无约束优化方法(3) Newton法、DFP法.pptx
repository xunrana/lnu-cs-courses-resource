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57"/>
  </p:notesMasterIdLst>
  <p:handoutMasterIdLst>
    <p:handoutMasterId r:id="rId5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70" r:id="rId11"/>
    <p:sldId id="271" r:id="rId12"/>
    <p:sldId id="262" r:id="rId13"/>
    <p:sldId id="263" r:id="rId14"/>
    <p:sldId id="264" r:id="rId15"/>
    <p:sldId id="268" r:id="rId16"/>
    <p:sldId id="269" r:id="rId17"/>
    <p:sldId id="273" r:id="rId18"/>
    <p:sldId id="274" r:id="rId19"/>
    <p:sldId id="272" r:id="rId20"/>
    <p:sldId id="275" r:id="rId21"/>
    <p:sldId id="276" r:id="rId22"/>
    <p:sldId id="277" r:id="rId23"/>
    <p:sldId id="312" r:id="rId24"/>
    <p:sldId id="279" r:id="rId25"/>
    <p:sldId id="280" r:id="rId26"/>
    <p:sldId id="281" r:id="rId27"/>
    <p:sldId id="282" r:id="rId28"/>
    <p:sldId id="283" r:id="rId29"/>
    <p:sldId id="286" r:id="rId30"/>
    <p:sldId id="284" r:id="rId31"/>
    <p:sldId id="287" r:id="rId32"/>
    <p:sldId id="288" r:id="rId33"/>
    <p:sldId id="289" r:id="rId34"/>
    <p:sldId id="290" r:id="rId35"/>
    <p:sldId id="285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258"/>
            <p14:sldId id="259"/>
            <p14:sldId id="260"/>
            <p14:sldId id="261"/>
            <p14:sldId id="265"/>
            <p14:sldId id="266"/>
            <p14:sldId id="267"/>
            <p14:sldId id="270"/>
            <p14:sldId id="271"/>
            <p14:sldId id="262"/>
            <p14:sldId id="263"/>
            <p14:sldId id="264"/>
            <p14:sldId id="268"/>
            <p14:sldId id="269"/>
            <p14:sldId id="273"/>
            <p14:sldId id="274"/>
            <p14:sldId id="272"/>
            <p14:sldId id="275"/>
            <p14:sldId id="276"/>
            <p14:sldId id="277"/>
            <p14:sldId id="312"/>
            <p14:sldId id="279"/>
            <p14:sldId id="280"/>
            <p14:sldId id="281"/>
            <p14:sldId id="282"/>
            <p14:sldId id="283"/>
            <p14:sldId id="286"/>
            <p14:sldId id="284"/>
            <p14:sldId id="287"/>
            <p14:sldId id="288"/>
            <p14:sldId id="289"/>
            <p14:sldId id="290"/>
            <p14:sldId id="285"/>
            <p14:sldId id="291"/>
            <p14:sldId id="292"/>
            <p14:sldId id="293"/>
            <p14:sldId id="294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  <a:srgbClr val="0000FF"/>
    <a:srgbClr val="FFFF66"/>
    <a:srgbClr val="30A040"/>
    <a:srgbClr val="FFFFFF"/>
    <a:srgbClr val="0000CC"/>
    <a:srgbClr val="333399"/>
    <a:srgbClr val="000099"/>
    <a:srgbClr val="FF99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26" autoAdjust="0"/>
    <p:restoredTop sz="93826" autoAdjust="0"/>
  </p:normalViewPr>
  <p:slideViewPr>
    <p:cSldViewPr>
      <p:cViewPr varScale="1">
        <p:scale>
          <a:sx n="67" d="100"/>
          <a:sy n="67" d="100"/>
        </p:scale>
        <p:origin x="868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2022年12月3日星期六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2022年12月3日星期六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8.wmf"/><Relationship Id="rId18" Type="http://schemas.openxmlformats.org/officeDocument/2006/relationships/image" Target="../media/image10.w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17" Type="http://schemas.openxmlformats.org/officeDocument/2006/relationships/oleObject" Target="../embeddings/oleObject6.bin"/><Relationship Id="rId16" Type="http://schemas.openxmlformats.org/officeDocument/2006/relationships/image" Target="../media/image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8.wmf"/><Relationship Id="rId18" Type="http://schemas.openxmlformats.org/officeDocument/2006/relationships/image" Target="../media/image13.w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8.bin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12.wmf"/><Relationship Id="rId20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12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8.wmf"/><Relationship Id="rId18" Type="http://schemas.openxmlformats.org/officeDocument/2006/relationships/image" Target="../media/image16.wmf"/><Relationship Id="rId3" Type="http://schemas.openxmlformats.org/officeDocument/2006/relationships/image" Target="../media/image11.png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5.bin"/><Relationship Id="rId12" Type="http://schemas.openxmlformats.org/officeDocument/2006/relationships/oleObject" Target="../embeddings/oleObject17.bin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2.png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4.png"/><Relationship Id="rId22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32.png"/><Relationship Id="rId7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25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25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1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34.wmf"/><Relationship Id="rId5" Type="http://schemas.openxmlformats.org/officeDocument/2006/relationships/image" Target="../media/image44.png"/><Relationship Id="rId10" Type="http://schemas.openxmlformats.org/officeDocument/2006/relationships/oleObject" Target="../embeddings/oleObject40.bin"/><Relationship Id="rId9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38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37.wmf"/><Relationship Id="rId5" Type="http://schemas.openxmlformats.org/officeDocument/2006/relationships/image" Target="../media/image49.png"/><Relationship Id="rId10" Type="http://schemas.openxmlformats.org/officeDocument/2006/relationships/oleObject" Target="../embeddings/oleObject44.bin"/><Relationship Id="rId9" Type="http://schemas.openxmlformats.org/officeDocument/2006/relationships/image" Target="../media/image36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42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58.png"/><Relationship Id="rId9" Type="http://schemas.openxmlformats.org/officeDocument/2006/relationships/image" Target="../media/image4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42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61.png"/><Relationship Id="rId9" Type="http://schemas.openxmlformats.org/officeDocument/2006/relationships/image" Target="../media/image4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42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4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8.xml"/><Relationship Id="rId3" Type="http://schemas.openxmlformats.org/officeDocument/2006/relationships/tags" Target="../tags/tag3.xml"/><Relationship Id="rId21" Type="http://schemas.openxmlformats.org/officeDocument/2006/relationships/image" Target="../media/image50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52.wmf"/><Relationship Id="rId7" Type="http://schemas.openxmlformats.org/officeDocument/2006/relationships/oleObject" Target="../embeddings/oleObject60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58.wmf"/><Relationship Id="rId7" Type="http://schemas.openxmlformats.org/officeDocument/2006/relationships/image" Target="../media/image72.png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1.wmf"/><Relationship Id="rId7" Type="http://schemas.openxmlformats.org/officeDocument/2006/relationships/image" Target="../media/image75.png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wmf"/><Relationship Id="rId10" Type="http://schemas.openxmlformats.org/officeDocument/2006/relationships/image" Target="../media/image62.wmf"/><Relationship Id="rId4" Type="http://schemas.openxmlformats.org/officeDocument/2006/relationships/oleObject" Target="../embeddings/oleObject69.bin"/><Relationship Id="rId9" Type="http://schemas.openxmlformats.org/officeDocument/2006/relationships/oleObject" Target="../embeddings/oleObject7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7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6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7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59.png"/><Relationship Id="rId7" Type="http://schemas.openxmlformats.org/officeDocument/2006/relationships/image" Target="../media/image6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6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70.wmf"/><Relationship Id="rId3" Type="http://schemas.openxmlformats.org/officeDocument/2006/relationships/image" Target="../media/image88.png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69.wmf"/><Relationship Id="rId5" Type="http://schemas.openxmlformats.org/officeDocument/2006/relationships/image" Target="../media/image65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6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image" Target="../media/image71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91.png"/><Relationship Id="rId9" Type="http://schemas.openxmlformats.org/officeDocument/2006/relationships/image" Target="../media/image7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8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9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7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9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93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9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image" Target="../media/image42.wmf"/><Relationship Id="rId7" Type="http://schemas.openxmlformats.org/officeDocument/2006/relationships/oleObject" Target="../embeddings/oleObject98.bin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79.wmf"/><Relationship Id="rId3" Type="http://schemas.openxmlformats.org/officeDocument/2006/relationships/image" Target="../media/image42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102.bin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90.wmf"/><Relationship Id="rId5" Type="http://schemas.openxmlformats.org/officeDocument/2006/relationships/image" Target="../media/image93.png"/><Relationship Id="rId10" Type="http://schemas.openxmlformats.org/officeDocument/2006/relationships/oleObject" Target="../embeddings/oleObject101.bin"/><Relationship Id="rId9" Type="http://schemas.openxmlformats.org/officeDocument/2006/relationships/image" Target="../media/image89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9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97.png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104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3.wmf"/><Relationship Id="rId4" Type="http://schemas.openxmlformats.org/officeDocument/2006/relationships/oleObject" Target="../embeddings/oleObject10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42.wmf"/><Relationship Id="rId7" Type="http://schemas.openxmlformats.org/officeDocument/2006/relationships/oleObject" Target="../embeddings/oleObject107.bin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4.wmf"/><Relationship Id="rId4" Type="http://schemas.openxmlformats.org/officeDocument/2006/relationships/oleObject" Target="../embeddings/oleObject106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42.wmf"/><Relationship Id="rId7" Type="http://schemas.openxmlformats.org/officeDocument/2006/relationships/oleObject" Target="../embeddings/oleObject109.bin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6.wmf"/><Relationship Id="rId10" Type="http://schemas.openxmlformats.org/officeDocument/2006/relationships/image" Target="../media/image98.wmf"/><Relationship Id="rId4" Type="http://schemas.openxmlformats.org/officeDocument/2006/relationships/oleObject" Target="../embeddings/oleObject108.bin"/><Relationship Id="rId9" Type="http://schemas.openxmlformats.org/officeDocument/2006/relationships/oleObject" Target="../embeddings/oleObject110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42.wmf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02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101.wmf"/><Relationship Id="rId4" Type="http://schemas.openxmlformats.org/officeDocument/2006/relationships/image" Target="../media/image96.png"/><Relationship Id="rId9" Type="http://schemas.openxmlformats.org/officeDocument/2006/relationships/oleObject" Target="../embeddings/oleObject11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79.wmf"/><Relationship Id="rId3" Type="http://schemas.openxmlformats.org/officeDocument/2006/relationships/image" Target="../media/image42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49.wmf"/><Relationship Id="rId2" Type="http://schemas.openxmlformats.org/officeDocument/2006/relationships/oleObject" Target="../embeddings/oleObject96.bin"/><Relationship Id="rId16" Type="http://schemas.openxmlformats.org/officeDocument/2006/relationships/oleObject" Target="../embeddings/oleObject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05.wmf"/><Relationship Id="rId5" Type="http://schemas.openxmlformats.org/officeDocument/2006/relationships/image" Target="../media/image112.png"/><Relationship Id="rId15" Type="http://schemas.openxmlformats.org/officeDocument/2006/relationships/image" Target="../media/image48.wmf"/><Relationship Id="rId10" Type="http://schemas.openxmlformats.org/officeDocument/2006/relationships/oleObject" Target="../embeddings/oleObject117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56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072680" y="3832178"/>
            <a:ext cx="61088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无约束优化方法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</a:p>
          <a:p>
            <a:pPr algn="ctr"/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Newton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法、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DFP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2022年12月3日星期六</a:t>
            </a:fld>
            <a:endParaRPr lang="zh-CN" alt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无约束优化方法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共轭方向法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>
                <a:solidFill>
                  <a:srgbClr val="FF0000"/>
                </a:solidFill>
              </a:rPr>
              <a:t>Powell</a:t>
            </a:r>
            <a:r>
              <a:rPr lang="zh-CN" altLang="en-US" b="0" dirty="0">
                <a:solidFill>
                  <a:srgbClr val="FF0000"/>
                </a:solidFill>
              </a:rPr>
              <a:t>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梯度法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共轭梯度法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Newton</a:t>
            </a:r>
            <a:r>
              <a:rPr lang="zh-CN" altLang="en-US" b="0" dirty="0"/>
              <a:t>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DFP</a:t>
            </a:r>
            <a:r>
              <a:rPr lang="zh-CN" altLang="en-US" b="0" dirty="0"/>
              <a:t>法 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endParaRPr lang="zh-CN" altLang="en-US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利用函数的一阶和二阶导数（偏导数）来构造搜索方向：</a:t>
            </a:r>
            <a:endParaRPr lang="en-US" altLang="zh-CN" dirty="0"/>
          </a:p>
          <a:p>
            <a:pPr lvl="2"/>
            <a:r>
              <a:rPr lang="zh-CN" altLang="en-US" dirty="0"/>
              <a:t>基本牛顿法</a:t>
            </a:r>
            <a:endParaRPr lang="en-US" altLang="zh-CN" dirty="0"/>
          </a:p>
          <a:p>
            <a:pPr lvl="2"/>
            <a:r>
              <a:rPr lang="zh-CN" altLang="en-US" dirty="0"/>
              <a:t>阻尼牛顿法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71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一维搜索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CEE28DC-0FCE-4226-B9AA-5BCE964151CC}"/>
              </a:ext>
            </a:extLst>
          </p:cNvPr>
          <p:cNvCxnSpPr>
            <a:cxnSpLocks/>
          </p:cNvCxnSpPr>
          <p:nvPr/>
        </p:nvCxnSpPr>
        <p:spPr bwMode="auto">
          <a:xfrm>
            <a:off x="6715775" y="5000375"/>
            <a:ext cx="306052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70CE5E7-D45F-4B19-8D62-05DD12DEF2F7}"/>
              </a:ext>
            </a:extLst>
          </p:cNvPr>
          <p:cNvCxnSpPr>
            <a:cxnSpLocks/>
          </p:cNvCxnSpPr>
          <p:nvPr/>
        </p:nvCxnSpPr>
        <p:spPr bwMode="auto">
          <a:xfrm flipV="1">
            <a:off x="6715775" y="2711703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0B416F-D71D-4FB9-83EB-FB0E5B63A795}"/>
                  </a:ext>
                </a:extLst>
              </p:cNvPr>
              <p:cNvSpPr txBox="1"/>
              <p:nvPr/>
            </p:nvSpPr>
            <p:spPr>
              <a:xfrm>
                <a:off x="9228351" y="4581343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0B416F-D71D-4FB9-83EB-FB0E5B63A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351" y="4581343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17CD20-D189-4665-8980-57C73B8D0458}"/>
                  </a:ext>
                </a:extLst>
              </p:cNvPr>
              <p:cNvSpPr txBox="1"/>
              <p:nvPr/>
            </p:nvSpPr>
            <p:spPr>
              <a:xfrm>
                <a:off x="6561451" y="2260549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17CD20-D189-4665-8980-57C73B8D0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451" y="2260549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15F130B-9E8E-4339-86CB-822C3C1D9410}"/>
              </a:ext>
            </a:extLst>
          </p:cNvPr>
          <p:cNvSpPr txBox="1"/>
          <p:nvPr/>
        </p:nvSpPr>
        <p:spPr>
          <a:xfrm>
            <a:off x="6393160" y="495033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6AD0B8B-AE41-44B7-AD80-7992BBEDDEFB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0033" y="3916271"/>
            <a:ext cx="1" cy="10714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590839E-03ED-4F23-AF61-32307F26954D}"/>
              </a:ext>
            </a:extLst>
          </p:cNvPr>
          <p:cNvCxnSpPr>
            <a:cxnSpLocks/>
          </p:cNvCxnSpPr>
          <p:nvPr/>
        </p:nvCxnSpPr>
        <p:spPr bwMode="auto">
          <a:xfrm>
            <a:off x="7915912" y="4757973"/>
            <a:ext cx="0" cy="2424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815180C4-E003-46B0-9F37-747AEF9DDE35}"/>
              </a:ext>
            </a:extLst>
          </p:cNvPr>
          <p:cNvSpPr/>
          <p:nvPr/>
        </p:nvSpPr>
        <p:spPr bwMode="auto">
          <a:xfrm rot="5400000">
            <a:off x="6667729" y="2469685"/>
            <a:ext cx="2467211" cy="2108047"/>
          </a:xfrm>
          <a:prstGeom prst="arc">
            <a:avLst>
              <a:gd name="adj1" fmla="val 16112496"/>
              <a:gd name="adj2" fmla="val 5444797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7971C6A-5C34-481A-84CA-BFBAE9EFA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362091"/>
              </p:ext>
            </p:extLst>
          </p:nvPr>
        </p:nvGraphicFramePr>
        <p:xfrm>
          <a:off x="7728947" y="5018083"/>
          <a:ext cx="346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03040" progId="Equation.DSMT4">
                  <p:embed/>
                </p:oleObj>
              </mc:Choice>
              <mc:Fallback>
                <p:oleObj name="Equation" r:id="rId5" imgW="164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28947" y="5018083"/>
                        <a:ext cx="346075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弧形 26">
            <a:extLst>
              <a:ext uri="{FF2B5EF4-FFF2-40B4-BE49-F238E27FC236}">
                <a16:creationId xmlns:a16="http://schemas.microsoft.com/office/drawing/2014/main" id="{5C20F481-3C65-4F6B-B2C3-59C8FCEF9C3D}"/>
              </a:ext>
            </a:extLst>
          </p:cNvPr>
          <p:cNvSpPr/>
          <p:nvPr/>
        </p:nvSpPr>
        <p:spPr bwMode="auto">
          <a:xfrm rot="5400000">
            <a:off x="6825717" y="3428703"/>
            <a:ext cx="803482" cy="637701"/>
          </a:xfrm>
          <a:prstGeom prst="arc">
            <a:avLst>
              <a:gd name="adj1" fmla="val 16112496"/>
              <a:gd name="adj2" fmla="val 5444797"/>
            </a:avLst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D1E146D-177F-4F87-A197-AB91E2919D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729793"/>
              </p:ext>
            </p:extLst>
          </p:nvPr>
        </p:nvGraphicFramePr>
        <p:xfrm>
          <a:off x="6775182" y="5032305"/>
          <a:ext cx="3460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A7971C6A-5C34-481A-84CA-BFBAE9EFA4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75182" y="5032305"/>
                        <a:ext cx="34607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F214180-1194-4C0B-A16A-64B9CED60391}"/>
              </a:ext>
            </a:extLst>
          </p:cNvPr>
          <p:cNvCxnSpPr>
            <a:cxnSpLocks/>
          </p:cNvCxnSpPr>
          <p:nvPr/>
        </p:nvCxnSpPr>
        <p:spPr bwMode="auto">
          <a:xfrm>
            <a:off x="7234719" y="4149295"/>
            <a:ext cx="9853" cy="83337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6FEBC01F-54DC-418B-805C-8D2745A108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338435"/>
              </p:ext>
            </p:extLst>
          </p:nvPr>
        </p:nvGraphicFramePr>
        <p:xfrm>
          <a:off x="7113240" y="4997450"/>
          <a:ext cx="3476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41200" progId="Equation.DSMT4">
                  <p:embed/>
                </p:oleObj>
              </mc:Choice>
              <mc:Fallback>
                <p:oleObj name="Equation" r:id="rId9" imgW="164880" imgH="2412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5D1E146D-177F-4F87-A197-AB91E2919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13240" y="4997450"/>
                        <a:ext cx="347663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BD9DC5-C9B9-4673-94CE-7BA9231F2B15}"/>
                  </a:ext>
                </a:extLst>
              </p:cNvPr>
              <p:cNvSpPr txBox="1"/>
              <p:nvPr/>
            </p:nvSpPr>
            <p:spPr>
              <a:xfrm>
                <a:off x="8640927" y="2997167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BD9DC5-C9B9-4673-94CE-7BA9231F2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927" y="2997167"/>
                <a:ext cx="666007" cy="461665"/>
              </a:xfrm>
              <a:prstGeom prst="rect">
                <a:avLst/>
              </a:prstGeom>
              <a:blipFill>
                <a:blip r:embed="rId11"/>
                <a:stretch>
                  <a:fillRect l="-7273" r="-25455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B9BE39F8-C9CC-49C1-8C38-451B0E2D92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279607"/>
              </p:ext>
            </p:extLst>
          </p:nvPr>
        </p:nvGraphicFramePr>
        <p:xfrm>
          <a:off x="7254875" y="3248364"/>
          <a:ext cx="8524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53800" progId="Equation.DSMT4">
                  <p:embed/>
                </p:oleObj>
              </mc:Choice>
              <mc:Fallback>
                <p:oleObj name="Equation" r:id="rId12" imgW="406080" imgH="2538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FEBC01F-54DC-418B-805C-8D2745A10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254875" y="3248364"/>
                        <a:ext cx="852488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CCAF074-0F70-49CE-B344-5923F24D4236}"/>
                  </a:ext>
                </a:extLst>
              </p:cNvPr>
              <p:cNvSpPr txBox="1"/>
              <p:nvPr/>
            </p:nvSpPr>
            <p:spPr>
              <a:xfrm>
                <a:off x="208686" y="1835978"/>
                <a:ext cx="605102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如图是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一个一元函数（存在极小值）。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取函数上一点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/>
                  <a:t>，将函数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在该点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/>
                  <a:t>进行二阶泰勒展开：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/>
                  <a:t>表示展开后的函数，可以求得该函数的极值点横坐标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，满足：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CCAF074-0F70-49CE-B344-5923F24D4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86" y="1835978"/>
                <a:ext cx="6051028" cy="4154984"/>
              </a:xfrm>
              <a:prstGeom prst="rect">
                <a:avLst/>
              </a:prstGeom>
              <a:blipFill>
                <a:blip r:embed="rId14"/>
                <a:stretch>
                  <a:fillRect l="-1511" t="-1173" r="-403" b="-2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E46C424-8BC5-43DD-AD45-28E850C69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647173"/>
              </p:ext>
            </p:extLst>
          </p:nvPr>
        </p:nvGraphicFramePr>
        <p:xfrm>
          <a:off x="640346" y="3523740"/>
          <a:ext cx="4291013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44440" imgH="660240" progId="Equation.DSMT4">
                  <p:embed/>
                </p:oleObj>
              </mc:Choice>
              <mc:Fallback>
                <p:oleObj name="Equation" r:id="rId15" imgW="2044440" imgH="6602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FEBC01F-54DC-418B-805C-8D2745A10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0346" y="3523740"/>
                        <a:ext cx="4291013" cy="138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6B4CA4CA-1E65-4C92-8533-823EB753FB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497033"/>
              </p:ext>
            </p:extLst>
          </p:nvPr>
        </p:nvGraphicFramePr>
        <p:xfrm>
          <a:off x="4324247" y="5388791"/>
          <a:ext cx="15192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23600" imgH="304560" progId="Equation.DSMT4">
                  <p:embed/>
                </p:oleObj>
              </mc:Choice>
              <mc:Fallback>
                <p:oleObj name="Equation" r:id="rId17" imgW="723600" imgH="30456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B9BE39F8-C9CC-49C1-8C38-451B0E2D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24247" y="5388791"/>
                        <a:ext cx="1519237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490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24" grpId="0" animBg="1"/>
      <p:bldP spid="27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一维搜索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CEE28DC-0FCE-4226-B9AA-5BCE964151CC}"/>
              </a:ext>
            </a:extLst>
          </p:cNvPr>
          <p:cNvCxnSpPr>
            <a:cxnSpLocks/>
          </p:cNvCxnSpPr>
          <p:nvPr/>
        </p:nvCxnSpPr>
        <p:spPr bwMode="auto">
          <a:xfrm>
            <a:off x="6715775" y="5000375"/>
            <a:ext cx="306052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70CE5E7-D45F-4B19-8D62-05DD12DEF2F7}"/>
              </a:ext>
            </a:extLst>
          </p:cNvPr>
          <p:cNvCxnSpPr>
            <a:cxnSpLocks/>
          </p:cNvCxnSpPr>
          <p:nvPr/>
        </p:nvCxnSpPr>
        <p:spPr bwMode="auto">
          <a:xfrm flipV="1">
            <a:off x="6715775" y="2711703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0B416F-D71D-4FB9-83EB-FB0E5B63A795}"/>
                  </a:ext>
                </a:extLst>
              </p:cNvPr>
              <p:cNvSpPr txBox="1"/>
              <p:nvPr/>
            </p:nvSpPr>
            <p:spPr>
              <a:xfrm>
                <a:off x="9228351" y="4581343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0B416F-D71D-4FB9-83EB-FB0E5B63A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351" y="4581343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17CD20-D189-4665-8980-57C73B8D0458}"/>
                  </a:ext>
                </a:extLst>
              </p:cNvPr>
              <p:cNvSpPr txBox="1"/>
              <p:nvPr/>
            </p:nvSpPr>
            <p:spPr>
              <a:xfrm>
                <a:off x="6561451" y="2260549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17CD20-D189-4665-8980-57C73B8D0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451" y="2260549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15F130B-9E8E-4339-86CB-822C3C1D9410}"/>
              </a:ext>
            </a:extLst>
          </p:cNvPr>
          <p:cNvSpPr txBox="1"/>
          <p:nvPr/>
        </p:nvSpPr>
        <p:spPr>
          <a:xfrm>
            <a:off x="6393160" y="495033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6AD0B8B-AE41-44B7-AD80-7992BBEDDEFB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0033" y="3916271"/>
            <a:ext cx="1" cy="10714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590839E-03ED-4F23-AF61-32307F26954D}"/>
              </a:ext>
            </a:extLst>
          </p:cNvPr>
          <p:cNvCxnSpPr>
            <a:cxnSpLocks/>
          </p:cNvCxnSpPr>
          <p:nvPr/>
        </p:nvCxnSpPr>
        <p:spPr bwMode="auto">
          <a:xfrm>
            <a:off x="7915912" y="4757973"/>
            <a:ext cx="0" cy="2424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815180C4-E003-46B0-9F37-747AEF9DDE35}"/>
              </a:ext>
            </a:extLst>
          </p:cNvPr>
          <p:cNvSpPr/>
          <p:nvPr/>
        </p:nvSpPr>
        <p:spPr bwMode="auto">
          <a:xfrm rot="5400000">
            <a:off x="6667729" y="2469685"/>
            <a:ext cx="2467211" cy="2108047"/>
          </a:xfrm>
          <a:prstGeom prst="arc">
            <a:avLst>
              <a:gd name="adj1" fmla="val 16112496"/>
              <a:gd name="adj2" fmla="val 5444797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7971C6A-5C34-481A-84CA-BFBAE9EFA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959587"/>
              </p:ext>
            </p:extLst>
          </p:nvPr>
        </p:nvGraphicFramePr>
        <p:xfrm>
          <a:off x="7728947" y="5018083"/>
          <a:ext cx="346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03040" progId="Equation.DSMT4">
                  <p:embed/>
                </p:oleObj>
              </mc:Choice>
              <mc:Fallback>
                <p:oleObj name="Equation" r:id="rId5" imgW="164880" imgH="20304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A7971C6A-5C34-481A-84CA-BFBAE9EFA4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28947" y="5018083"/>
                        <a:ext cx="346075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弧形 26">
            <a:extLst>
              <a:ext uri="{FF2B5EF4-FFF2-40B4-BE49-F238E27FC236}">
                <a16:creationId xmlns:a16="http://schemas.microsoft.com/office/drawing/2014/main" id="{5C20F481-3C65-4F6B-B2C3-59C8FCEF9C3D}"/>
              </a:ext>
            </a:extLst>
          </p:cNvPr>
          <p:cNvSpPr/>
          <p:nvPr/>
        </p:nvSpPr>
        <p:spPr bwMode="auto">
          <a:xfrm rot="5400000">
            <a:off x="6825717" y="3428703"/>
            <a:ext cx="803482" cy="637701"/>
          </a:xfrm>
          <a:prstGeom prst="arc">
            <a:avLst>
              <a:gd name="adj1" fmla="val 16112496"/>
              <a:gd name="adj2" fmla="val 5444797"/>
            </a:avLst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D1E146D-177F-4F87-A197-AB91E2919D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557364"/>
              </p:ext>
            </p:extLst>
          </p:nvPr>
        </p:nvGraphicFramePr>
        <p:xfrm>
          <a:off x="6775182" y="5032305"/>
          <a:ext cx="3460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5D1E146D-177F-4F87-A197-AB91E2919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75182" y="5032305"/>
                        <a:ext cx="34607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F214180-1194-4C0B-A16A-64B9CED60391}"/>
              </a:ext>
            </a:extLst>
          </p:cNvPr>
          <p:cNvCxnSpPr>
            <a:cxnSpLocks/>
          </p:cNvCxnSpPr>
          <p:nvPr/>
        </p:nvCxnSpPr>
        <p:spPr bwMode="auto">
          <a:xfrm>
            <a:off x="7234719" y="4149295"/>
            <a:ext cx="9853" cy="83337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6FEBC01F-54DC-418B-805C-8D2745A108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826882"/>
              </p:ext>
            </p:extLst>
          </p:nvPr>
        </p:nvGraphicFramePr>
        <p:xfrm>
          <a:off x="7113240" y="4997450"/>
          <a:ext cx="3476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41200" progId="Equation.DSMT4">
                  <p:embed/>
                </p:oleObj>
              </mc:Choice>
              <mc:Fallback>
                <p:oleObj name="Equation" r:id="rId9" imgW="164880" imgH="2412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FEBC01F-54DC-418B-805C-8D2745A10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13240" y="4997450"/>
                        <a:ext cx="347663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BD9DC5-C9B9-4673-94CE-7BA9231F2B15}"/>
                  </a:ext>
                </a:extLst>
              </p:cNvPr>
              <p:cNvSpPr txBox="1"/>
              <p:nvPr/>
            </p:nvSpPr>
            <p:spPr>
              <a:xfrm>
                <a:off x="8640927" y="2997167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BD9DC5-C9B9-4673-94CE-7BA9231F2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927" y="2997167"/>
                <a:ext cx="666007" cy="461665"/>
              </a:xfrm>
              <a:prstGeom prst="rect">
                <a:avLst/>
              </a:prstGeom>
              <a:blipFill>
                <a:blip r:embed="rId11"/>
                <a:stretch>
                  <a:fillRect l="-7273" r="-25455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B9BE39F8-C9CC-49C1-8C38-451B0E2D92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556791"/>
              </p:ext>
            </p:extLst>
          </p:nvPr>
        </p:nvGraphicFramePr>
        <p:xfrm>
          <a:off x="7254875" y="3248364"/>
          <a:ext cx="8524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53800" progId="Equation.DSMT4">
                  <p:embed/>
                </p:oleObj>
              </mc:Choice>
              <mc:Fallback>
                <p:oleObj name="Equation" r:id="rId12" imgW="406080" imgH="2538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B9BE39F8-C9CC-49C1-8C38-451B0E2D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254875" y="3248364"/>
                        <a:ext cx="852488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CCAF074-0F70-49CE-B344-5923F24D4236}"/>
                  </a:ext>
                </a:extLst>
              </p:cNvPr>
              <p:cNvSpPr txBox="1"/>
              <p:nvPr/>
            </p:nvSpPr>
            <p:spPr>
              <a:xfrm>
                <a:off x="208686" y="1835978"/>
                <a:ext cx="596728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是一个二次函数，则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就是函数的极值点，否则，可以继续进行迭代：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CCAF074-0F70-49CE-B344-5923F24D4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86" y="1835978"/>
                <a:ext cx="5967285" cy="3785652"/>
              </a:xfrm>
              <a:prstGeom prst="rect">
                <a:avLst/>
              </a:prstGeom>
              <a:blipFill>
                <a:blip r:embed="rId14"/>
                <a:stretch>
                  <a:fillRect l="-1532" b="-2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6B4CA4CA-1E65-4C92-8533-823EB753FB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80290"/>
              </p:ext>
            </p:extLst>
          </p:nvPr>
        </p:nvGraphicFramePr>
        <p:xfrm>
          <a:off x="384175" y="1655763"/>
          <a:ext cx="67167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00400" imgH="393480" progId="Equation.DSMT4">
                  <p:embed/>
                </p:oleObj>
              </mc:Choice>
              <mc:Fallback>
                <p:oleObj name="Equation" r:id="rId15" imgW="3200400" imgH="3934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6B4CA4CA-1E65-4C92-8533-823EB753FB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4175" y="1655763"/>
                        <a:ext cx="6716713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61969BC-686A-4EC5-888A-3DCEF17E3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425678"/>
              </p:ext>
            </p:extLst>
          </p:nvPr>
        </p:nvGraphicFramePr>
        <p:xfrm>
          <a:off x="330770" y="2367204"/>
          <a:ext cx="43180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57400" imgH="291960" progId="Equation.DSMT4">
                  <p:embed/>
                </p:oleObj>
              </mc:Choice>
              <mc:Fallback>
                <p:oleObj name="Equation" r:id="rId17" imgW="2057400" imgH="29196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6B4CA4CA-1E65-4C92-8533-823EB753FB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0770" y="2367204"/>
                        <a:ext cx="4318000" cy="611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0556A1CF-B1BA-4379-9EB3-C15482F0F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723077"/>
              </p:ext>
            </p:extLst>
          </p:nvPr>
        </p:nvGraphicFramePr>
        <p:xfrm>
          <a:off x="330770" y="3021832"/>
          <a:ext cx="4957763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361960" imgH="787320" progId="Equation.DSMT4">
                  <p:embed/>
                </p:oleObj>
              </mc:Choice>
              <mc:Fallback>
                <p:oleObj name="Equation" r:id="rId19" imgW="2361960" imgH="7873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661969BC-686A-4EC5-888A-3DCEF17E3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0770" y="3021832"/>
                        <a:ext cx="4957763" cy="1643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699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一维搜索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CEE28DC-0FCE-4226-B9AA-5BCE964151CC}"/>
              </a:ext>
            </a:extLst>
          </p:cNvPr>
          <p:cNvCxnSpPr>
            <a:cxnSpLocks/>
          </p:cNvCxnSpPr>
          <p:nvPr/>
        </p:nvCxnSpPr>
        <p:spPr bwMode="auto">
          <a:xfrm>
            <a:off x="6715775" y="5000375"/>
            <a:ext cx="306052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70CE5E7-D45F-4B19-8D62-05DD12DEF2F7}"/>
              </a:ext>
            </a:extLst>
          </p:cNvPr>
          <p:cNvCxnSpPr>
            <a:cxnSpLocks/>
          </p:cNvCxnSpPr>
          <p:nvPr/>
        </p:nvCxnSpPr>
        <p:spPr bwMode="auto">
          <a:xfrm flipV="1">
            <a:off x="6715775" y="2711703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0B416F-D71D-4FB9-83EB-FB0E5B63A795}"/>
                  </a:ext>
                </a:extLst>
              </p:cNvPr>
              <p:cNvSpPr txBox="1"/>
              <p:nvPr/>
            </p:nvSpPr>
            <p:spPr>
              <a:xfrm>
                <a:off x="9228351" y="4581343"/>
                <a:ext cx="6539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0B416F-D71D-4FB9-83EB-FB0E5B63A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351" y="4581343"/>
                <a:ext cx="65391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17CD20-D189-4665-8980-57C73B8D0458}"/>
                  </a:ext>
                </a:extLst>
              </p:cNvPr>
              <p:cNvSpPr txBox="1"/>
              <p:nvPr/>
            </p:nvSpPr>
            <p:spPr>
              <a:xfrm>
                <a:off x="6561451" y="2260549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F17CD20-D189-4665-8980-57C73B8D0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451" y="2260549"/>
                <a:ext cx="666007" cy="461665"/>
              </a:xfrm>
              <a:prstGeom prst="rect">
                <a:avLst/>
              </a:prstGeom>
              <a:blipFill>
                <a:blip r:embed="rId4"/>
                <a:stretch>
                  <a:fillRect l="-7273" r="-25455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15F130B-9E8E-4339-86CB-822C3C1D9410}"/>
              </a:ext>
            </a:extLst>
          </p:cNvPr>
          <p:cNvSpPr txBox="1"/>
          <p:nvPr/>
        </p:nvSpPr>
        <p:spPr>
          <a:xfrm>
            <a:off x="6393160" y="495033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6AD0B8B-AE41-44B7-AD80-7992BBEDDEFB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0033" y="3916271"/>
            <a:ext cx="1" cy="10714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590839E-03ED-4F23-AF61-32307F26954D}"/>
              </a:ext>
            </a:extLst>
          </p:cNvPr>
          <p:cNvCxnSpPr>
            <a:cxnSpLocks/>
          </p:cNvCxnSpPr>
          <p:nvPr/>
        </p:nvCxnSpPr>
        <p:spPr bwMode="auto">
          <a:xfrm>
            <a:off x="7915912" y="4757973"/>
            <a:ext cx="0" cy="2424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815180C4-E003-46B0-9F37-747AEF9DDE35}"/>
              </a:ext>
            </a:extLst>
          </p:cNvPr>
          <p:cNvSpPr/>
          <p:nvPr/>
        </p:nvSpPr>
        <p:spPr bwMode="auto">
          <a:xfrm rot="5400000">
            <a:off x="6667729" y="2469685"/>
            <a:ext cx="2467211" cy="2108047"/>
          </a:xfrm>
          <a:prstGeom prst="arc">
            <a:avLst>
              <a:gd name="adj1" fmla="val 16112496"/>
              <a:gd name="adj2" fmla="val 5444797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7971C6A-5C34-481A-84CA-BFBAE9EFA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433264"/>
              </p:ext>
            </p:extLst>
          </p:nvPr>
        </p:nvGraphicFramePr>
        <p:xfrm>
          <a:off x="7919293" y="5019774"/>
          <a:ext cx="346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03040" progId="Equation.DSMT4">
                  <p:embed/>
                </p:oleObj>
              </mc:Choice>
              <mc:Fallback>
                <p:oleObj name="Equation" r:id="rId5" imgW="164880" imgH="20304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A7971C6A-5C34-481A-84CA-BFBAE9EFA4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19293" y="5019774"/>
                        <a:ext cx="346075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弧形 26">
            <a:extLst>
              <a:ext uri="{FF2B5EF4-FFF2-40B4-BE49-F238E27FC236}">
                <a16:creationId xmlns:a16="http://schemas.microsoft.com/office/drawing/2014/main" id="{5C20F481-3C65-4F6B-B2C3-59C8FCEF9C3D}"/>
              </a:ext>
            </a:extLst>
          </p:cNvPr>
          <p:cNvSpPr/>
          <p:nvPr/>
        </p:nvSpPr>
        <p:spPr bwMode="auto">
          <a:xfrm rot="5400000">
            <a:off x="6825717" y="3428703"/>
            <a:ext cx="803482" cy="637701"/>
          </a:xfrm>
          <a:prstGeom prst="arc">
            <a:avLst>
              <a:gd name="adj1" fmla="val 16112496"/>
              <a:gd name="adj2" fmla="val 5444797"/>
            </a:avLst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D1E146D-177F-4F87-A197-AB91E2919D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5182" y="5032305"/>
          <a:ext cx="3460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5D1E146D-177F-4F87-A197-AB91E2919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75182" y="5032305"/>
                        <a:ext cx="346075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F214180-1194-4C0B-A16A-64B9CED60391}"/>
              </a:ext>
            </a:extLst>
          </p:cNvPr>
          <p:cNvCxnSpPr>
            <a:cxnSpLocks/>
          </p:cNvCxnSpPr>
          <p:nvPr/>
        </p:nvCxnSpPr>
        <p:spPr bwMode="auto">
          <a:xfrm>
            <a:off x="7234719" y="4149295"/>
            <a:ext cx="9853" cy="83337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6FEBC01F-54DC-418B-805C-8D2745A108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362138"/>
              </p:ext>
            </p:extLst>
          </p:nvPr>
        </p:nvGraphicFramePr>
        <p:xfrm>
          <a:off x="7113240" y="4997450"/>
          <a:ext cx="3476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41200" progId="Equation.DSMT4">
                  <p:embed/>
                </p:oleObj>
              </mc:Choice>
              <mc:Fallback>
                <p:oleObj name="Equation" r:id="rId9" imgW="164880" imgH="2412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FEBC01F-54DC-418B-805C-8D2745A10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13240" y="4997450"/>
                        <a:ext cx="347663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BD9DC5-C9B9-4673-94CE-7BA9231F2B15}"/>
                  </a:ext>
                </a:extLst>
              </p:cNvPr>
              <p:cNvSpPr txBox="1"/>
              <p:nvPr/>
            </p:nvSpPr>
            <p:spPr>
              <a:xfrm>
                <a:off x="8640927" y="2997167"/>
                <a:ext cx="666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BD9DC5-C9B9-4673-94CE-7BA9231F2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927" y="2997167"/>
                <a:ext cx="666007" cy="461665"/>
              </a:xfrm>
              <a:prstGeom prst="rect">
                <a:avLst/>
              </a:prstGeom>
              <a:blipFill>
                <a:blip r:embed="rId11"/>
                <a:stretch>
                  <a:fillRect l="-7273" r="-25455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B9BE39F8-C9CC-49C1-8C38-451B0E2D9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75" y="3248364"/>
          <a:ext cx="8524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53800" progId="Equation.DSMT4">
                  <p:embed/>
                </p:oleObj>
              </mc:Choice>
              <mc:Fallback>
                <p:oleObj name="Equation" r:id="rId12" imgW="406080" imgH="2538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B9BE39F8-C9CC-49C1-8C38-451B0E2D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254875" y="3248364"/>
                        <a:ext cx="852488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CCAF074-0F70-49CE-B344-5923F24D4236}"/>
                  </a:ext>
                </a:extLst>
              </p:cNvPr>
              <p:cNvSpPr txBox="1"/>
              <p:nvPr/>
            </p:nvSpPr>
            <p:spPr>
              <a:xfrm>
                <a:off x="208687" y="1835978"/>
                <a:ext cx="5680418" cy="3094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/>
                        </m:sSub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，继续下一次迭代。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计算得到下一次迭代的极小值：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收敛精度判断：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满足停止，否则继续迭代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CCAF074-0F70-49CE-B344-5923F24D4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87" y="1835978"/>
                <a:ext cx="5680418" cy="3094309"/>
              </a:xfrm>
              <a:prstGeom prst="rect">
                <a:avLst/>
              </a:prstGeom>
              <a:blipFill>
                <a:blip r:embed="rId14"/>
                <a:stretch>
                  <a:fillRect l="-1609" b="-3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弧形 28">
            <a:extLst>
              <a:ext uri="{FF2B5EF4-FFF2-40B4-BE49-F238E27FC236}">
                <a16:creationId xmlns:a16="http://schemas.microsoft.com/office/drawing/2014/main" id="{DC46C896-90D9-4663-A149-D3D3C68121FC}"/>
              </a:ext>
            </a:extLst>
          </p:cNvPr>
          <p:cNvSpPr/>
          <p:nvPr/>
        </p:nvSpPr>
        <p:spPr bwMode="auto">
          <a:xfrm rot="5400000">
            <a:off x="7242079" y="3988071"/>
            <a:ext cx="531812" cy="637701"/>
          </a:xfrm>
          <a:prstGeom prst="arc">
            <a:avLst>
              <a:gd name="adj1" fmla="val 16112496"/>
              <a:gd name="adj2" fmla="val 5444797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2FEE81E1-29B9-43A6-B05F-618DB4985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370192"/>
              </p:ext>
            </p:extLst>
          </p:nvPr>
        </p:nvGraphicFramePr>
        <p:xfrm>
          <a:off x="7401272" y="5013325"/>
          <a:ext cx="560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00" imgH="241200" progId="Equation.DSMT4">
                  <p:embed/>
                </p:oleObj>
              </mc:Choice>
              <mc:Fallback>
                <p:oleObj name="Equation" r:id="rId15" imgW="266400" imgH="2412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FEBC01F-54DC-418B-805C-8D2745A10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01272" y="5013325"/>
                        <a:ext cx="560387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00A7B38-8BDC-4611-9653-D1A03DF281A2}"/>
              </a:ext>
            </a:extLst>
          </p:cNvPr>
          <p:cNvCxnSpPr>
            <a:cxnSpLocks/>
          </p:cNvCxnSpPr>
          <p:nvPr/>
        </p:nvCxnSpPr>
        <p:spPr bwMode="auto">
          <a:xfrm flipH="1">
            <a:off x="7558319" y="4579758"/>
            <a:ext cx="1059" cy="4240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98D29CB-44F6-4DBB-9A67-ED045856E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397460"/>
              </p:ext>
            </p:extLst>
          </p:nvPr>
        </p:nvGraphicFramePr>
        <p:xfrm>
          <a:off x="7041232" y="5032305"/>
          <a:ext cx="53498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3800" imgH="228600" progId="Equation.DSMT4">
                  <p:embed/>
                </p:oleObj>
              </mc:Choice>
              <mc:Fallback>
                <p:oleObj name="Equation" r:id="rId17" imgW="253800" imgH="2286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FEBC01F-54DC-418B-805C-8D2745A10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41232" y="5032305"/>
                        <a:ext cx="534987" cy="477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D7792A5F-4470-43A3-9E08-3ED8CFFE2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409724"/>
              </p:ext>
            </p:extLst>
          </p:nvPr>
        </p:nvGraphicFramePr>
        <p:xfrm>
          <a:off x="7545630" y="3817421"/>
          <a:ext cx="10382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95000" imgH="253800" progId="Equation.DSMT4">
                  <p:embed/>
                </p:oleObj>
              </mc:Choice>
              <mc:Fallback>
                <p:oleObj name="Equation" r:id="rId19" imgW="495000" imgH="2538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B9BE39F8-C9CC-49C1-8C38-451B0E2D9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45630" y="3817421"/>
                        <a:ext cx="1038225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1C5C1E6-6287-4F83-B5B4-70F600CCB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274397"/>
              </p:ext>
            </p:extLst>
          </p:nvPr>
        </p:nvGraphicFramePr>
        <p:xfrm>
          <a:off x="2603500" y="3562350"/>
          <a:ext cx="15716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49160" imgH="355320" progId="Equation.DSMT4">
                  <p:embed/>
                </p:oleObj>
              </mc:Choice>
              <mc:Fallback>
                <p:oleObj name="Equation" r:id="rId21" imgW="749160" imgH="3553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661969BC-686A-4EC5-888A-3DCEF17E3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03500" y="3562350"/>
                        <a:ext cx="1571625" cy="744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168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FD48-B41F-4017-8FDC-52AED004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93BEAC-6DF9-4CE1-B584-113DBEC14B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维多元函数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的二阶泰勒展开式为：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93BEAC-6DF9-4CE1-B584-113DBEC14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FF9F5-0510-477F-8BA0-C8A61E83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B1123-2A6D-4AE6-B485-F862121C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39339CF-E915-459C-A792-B9351F20EE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113861"/>
              </p:ext>
            </p:extLst>
          </p:nvPr>
        </p:nvGraphicFramePr>
        <p:xfrm>
          <a:off x="1245393" y="2944658"/>
          <a:ext cx="7415213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920" imgH="787320" progId="Equation.DSMT4">
                  <p:embed/>
                </p:oleObj>
              </mc:Choice>
              <mc:Fallback>
                <p:oleObj name="Equation" r:id="rId4" imgW="33019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45393" y="2944658"/>
                        <a:ext cx="7415213" cy="176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93DA8B7-E25B-4836-A0B7-09824839394D}"/>
              </a:ext>
            </a:extLst>
          </p:cNvPr>
          <p:cNvSpPr txBox="1"/>
          <p:nvPr/>
        </p:nvSpPr>
        <p:spPr>
          <a:xfrm>
            <a:off x="1213744" y="4941168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令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E64E552-86DC-4BEC-9C7B-EA2BF024D0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785415"/>
              </p:ext>
            </p:extLst>
          </p:nvPr>
        </p:nvGraphicFramePr>
        <p:xfrm>
          <a:off x="1878013" y="4900613"/>
          <a:ext cx="6080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40" imgH="304560" progId="Equation.DSMT4">
                  <p:embed/>
                </p:oleObj>
              </mc:Choice>
              <mc:Fallback>
                <p:oleObj name="Equation" r:id="rId6" imgW="270504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39339CF-E915-459C-A792-B9351F20EE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78013" y="4900613"/>
                        <a:ext cx="608012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693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FD48-B41F-4017-8FDC-52AED004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FF9F5-0510-477F-8BA0-C8A61E83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B1123-2A6D-4AE6-B485-F862121C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93DA8B7-E25B-4836-A0B7-09824839394D}"/>
                  </a:ext>
                </a:extLst>
              </p:cNvPr>
              <p:cNvSpPr txBox="1"/>
              <p:nvPr/>
            </p:nvSpPr>
            <p:spPr>
              <a:xfrm>
                <a:off x="200472" y="4152809"/>
                <a:ext cx="9132503" cy="1225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2400" dirty="0"/>
              </a:p>
              <a:p>
                <a:r>
                  <a:rPr lang="zh-CN" altLang="en-US" sz="2400" dirty="0"/>
                  <a:t>如果求得的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不满足收敛精度要求，则将其作为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，继续下一次迭代</a:t>
                </a:r>
                <a:r>
                  <a:rPr lang="en-US" altLang="zh-CN" sz="2400" dirty="0"/>
                  <a:t>: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93DA8B7-E25B-4836-A0B7-098248393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4152809"/>
                <a:ext cx="9132503" cy="1225335"/>
              </a:xfrm>
              <a:prstGeom prst="rect">
                <a:avLst/>
              </a:prstGeom>
              <a:blipFill>
                <a:blip r:embed="rId3"/>
                <a:stretch>
                  <a:fillRect l="-1068" r="-67" b="-10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E64E552-86DC-4BEC-9C7B-EA2BF024D0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460982"/>
              </p:ext>
            </p:extLst>
          </p:nvPr>
        </p:nvGraphicFramePr>
        <p:xfrm>
          <a:off x="1276350" y="1208088"/>
          <a:ext cx="47656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760" imgH="304560" progId="Equation.DSMT4">
                  <p:embed/>
                </p:oleObj>
              </mc:Choice>
              <mc:Fallback>
                <p:oleObj name="Equation" r:id="rId4" imgW="2120760" imgH="304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E64E552-86DC-4BEC-9C7B-EA2BF024D0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76350" y="1208088"/>
                        <a:ext cx="476567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A2324EB-55C0-4077-9A74-56E6A8CD3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717968"/>
              </p:ext>
            </p:extLst>
          </p:nvPr>
        </p:nvGraphicFramePr>
        <p:xfrm>
          <a:off x="1225100" y="5378144"/>
          <a:ext cx="5994401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6880" imgH="368280" progId="Equation.DSMT4">
                  <p:embed/>
                </p:oleObj>
              </mc:Choice>
              <mc:Fallback>
                <p:oleObj name="Equation" r:id="rId6" imgW="2666880" imgH="368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25F4AF0-A41C-4FCA-88DD-A4BDFE349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25100" y="5378144"/>
                        <a:ext cx="5994401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7E1816E-BF15-4C00-8661-314E3D6B5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271015"/>
              </p:ext>
            </p:extLst>
          </p:nvPr>
        </p:nvGraphicFramePr>
        <p:xfrm>
          <a:off x="1276350" y="2532294"/>
          <a:ext cx="84756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1720" imgH="368280" progId="Equation.DSMT4">
                  <p:embed/>
                </p:oleObj>
              </mc:Choice>
              <mc:Fallback>
                <p:oleObj name="Equation" r:id="rId8" imgW="3771720" imgH="368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25F4AF0-A41C-4FCA-88DD-A4BDFE349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76350" y="2532294"/>
                        <a:ext cx="8475663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9100C5F-B2DE-41BB-9D3E-CDE4C6801A74}"/>
              </a:ext>
            </a:extLst>
          </p:cNvPr>
          <p:cNvSpPr txBox="1"/>
          <p:nvPr/>
        </p:nvSpPr>
        <p:spPr>
          <a:xfrm>
            <a:off x="88834" y="1675980"/>
            <a:ext cx="9132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zh-CN" altLang="en-US" sz="2400" dirty="0"/>
              <a:t>令两边同时乘以</a:t>
            </a:r>
            <a:r>
              <a:rPr lang="en-US" altLang="zh-CN" sz="2400" dirty="0"/>
              <a:t>Hessian</a:t>
            </a:r>
            <a:r>
              <a:rPr lang="zh-CN" altLang="en-US" sz="2400" dirty="0"/>
              <a:t>矩阵的逆矩阵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2623475-AF90-4810-84CA-423C78C1D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956875"/>
              </p:ext>
            </p:extLst>
          </p:nvPr>
        </p:nvGraphicFramePr>
        <p:xfrm>
          <a:off x="1225100" y="3553065"/>
          <a:ext cx="55086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50880" imgH="368280" progId="Equation.DSMT4">
                  <p:embed/>
                </p:oleObj>
              </mc:Choice>
              <mc:Fallback>
                <p:oleObj name="Equation" r:id="rId10" imgW="2450880" imgH="368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7E1816E-BF15-4C00-8661-314E3D6B5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25100" y="3553065"/>
                        <a:ext cx="5508625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399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FD48-B41F-4017-8FDC-52AED004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FF9F5-0510-477F-8BA0-C8A61E83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B1123-2A6D-4AE6-B485-F862121C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A2324EB-55C0-4077-9A74-56E6A8CD3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022203"/>
              </p:ext>
            </p:extLst>
          </p:nvPr>
        </p:nvGraphicFramePr>
        <p:xfrm>
          <a:off x="1936750" y="2196184"/>
          <a:ext cx="52244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368280" progId="Equation.DSMT4">
                  <p:embed/>
                </p:oleObj>
              </mc:Choice>
              <mc:Fallback>
                <p:oleObj name="Equation" r:id="rId2" imgW="2323800" imgH="368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2324EB-55C0-4077-9A74-56E6A8CD3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36750" y="2196184"/>
                        <a:ext cx="5224463" cy="828675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F2BF53F-FDED-4032-8075-10F4C416C42B}"/>
              </a:ext>
            </a:extLst>
          </p:cNvPr>
          <p:cNvSpPr/>
          <p:nvPr/>
        </p:nvSpPr>
        <p:spPr bwMode="auto">
          <a:xfrm>
            <a:off x="3728865" y="2124753"/>
            <a:ext cx="3384375" cy="1001407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71D955E8-64C5-4372-9EC9-60C78018611A}"/>
              </a:ext>
            </a:extLst>
          </p:cNvPr>
          <p:cNvSpPr/>
          <p:nvPr/>
        </p:nvSpPr>
        <p:spPr bwMode="auto">
          <a:xfrm>
            <a:off x="7999671" y="3126160"/>
            <a:ext cx="1800200" cy="1450437"/>
          </a:xfrm>
          <a:prstGeom prst="wedgeRoundRectCallout">
            <a:avLst>
              <a:gd name="adj1" fmla="val -106808"/>
              <a:gd name="adj2" fmla="val -46755"/>
              <a:gd name="adj3" fmla="val 16667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>
                <a:solidFill>
                  <a:srgbClr val="C00000"/>
                </a:solidFill>
              </a:rPr>
              <a:t>下一步迭代的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搜索方向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AC3E96C-B6B6-4C53-B9AA-2DA60FA06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367542"/>
              </p:ext>
            </p:extLst>
          </p:nvPr>
        </p:nvGraphicFramePr>
        <p:xfrm>
          <a:off x="1906329" y="4083721"/>
          <a:ext cx="3054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215640" progId="Equation.DSMT4">
                  <p:embed/>
                </p:oleObj>
              </mc:Choice>
              <mc:Fallback>
                <p:oleObj name="Equation" r:id="rId4" imgW="1358640" imgH="2156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2324EB-55C0-4077-9A74-56E6A8CD3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6329" y="4083721"/>
                        <a:ext cx="3054350" cy="485775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CC0F927-99D2-4D0F-872D-EB238D0F1303}"/>
              </a:ext>
            </a:extLst>
          </p:cNvPr>
          <p:cNvCxnSpPr/>
          <p:nvPr/>
        </p:nvCxnSpPr>
        <p:spPr bwMode="auto">
          <a:xfrm flipV="1">
            <a:off x="4591645" y="3247923"/>
            <a:ext cx="0" cy="8357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19D345B-D247-44D1-A8D6-C25A3BA73A82}"/>
              </a:ext>
            </a:extLst>
          </p:cNvPr>
          <p:cNvCxnSpPr>
            <a:cxnSpLocks/>
          </p:cNvCxnSpPr>
          <p:nvPr/>
        </p:nvCxnSpPr>
        <p:spPr bwMode="auto">
          <a:xfrm>
            <a:off x="4088904" y="4569496"/>
            <a:ext cx="0" cy="7001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B1F48B2-8EEF-4B44-9F89-3884FD0347F4}"/>
              </a:ext>
            </a:extLst>
          </p:cNvPr>
          <p:cNvSpPr txBox="1"/>
          <p:nvPr/>
        </p:nvSpPr>
        <p:spPr>
          <a:xfrm>
            <a:off x="3611863" y="5343599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步长为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0A59DF7-A32B-43DC-9689-9B988E036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多元函数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728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FD48-B41F-4017-8FDC-52AED004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法（</a:t>
            </a:r>
            <a:r>
              <a:rPr lang="en-US" altLang="zh-CN" dirty="0"/>
              <a:t>n</a:t>
            </a:r>
            <a:r>
              <a:rPr lang="zh-CN" altLang="en-US" dirty="0"/>
              <a:t>维多元函数）分析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FF9F5-0510-477F-8BA0-C8A61E83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B1123-2A6D-4AE6-B485-F862121C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A2324EB-55C0-4077-9A74-56E6A8CD3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998522"/>
              </p:ext>
            </p:extLst>
          </p:nvPr>
        </p:nvGraphicFramePr>
        <p:xfrm>
          <a:off x="489980" y="1200901"/>
          <a:ext cx="52244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368280" progId="Equation.DSMT4">
                  <p:embed/>
                </p:oleObj>
              </mc:Choice>
              <mc:Fallback>
                <p:oleObj name="Equation" r:id="rId2" imgW="2323800" imgH="368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2324EB-55C0-4077-9A74-56E6A8CD3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9980" y="1200901"/>
                        <a:ext cx="5224463" cy="828675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7C0B5C8-296F-4580-8361-D3CAC72B7C9A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B5757D1-DEE9-44FC-916E-7634B6CDE3B6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F1E78CFE-54E1-4E22-9B52-F773BAA218DB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AEC96BF-768F-402D-95B1-0E916D904E76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2BE9EC3-39B8-4C47-A386-C9F88780E18B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D2A4734-87BD-4779-84CD-4509C0A84E80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C2F613D2-9B11-41FC-BD3C-B190F8C3038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65826AFA-29D8-4752-B8C9-B83388ACE33D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C08A933-9F68-4F37-883D-5438397D97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349050-BAA7-4342-988F-2D8A009D5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64BE075-7BFD-4E28-BD09-51B418C9A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5022E-A7A9-4600-B44E-B5AF98FAC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D55C864-B785-4D03-8C98-2E5F91B3C4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629095"/>
              </p:ext>
            </p:extLst>
          </p:nvPr>
        </p:nvGraphicFramePr>
        <p:xfrm>
          <a:off x="8472870" y="4509583"/>
          <a:ext cx="13541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177480" progId="Equation.DSMT4">
                  <p:embed/>
                </p:oleObj>
              </mc:Choice>
              <mc:Fallback>
                <p:oleObj name="Equation" r:id="rId8" imgW="50796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5168A-EFCC-44AD-ABB8-41F2CEC72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72870" y="4509583"/>
                        <a:ext cx="13541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椭圆 34">
            <a:extLst>
              <a:ext uri="{FF2B5EF4-FFF2-40B4-BE49-F238E27FC236}">
                <a16:creationId xmlns:a16="http://schemas.microsoft.com/office/drawing/2014/main" id="{69C63B9A-A751-4CA9-87CF-A8F9929D676A}"/>
              </a:ext>
            </a:extLst>
          </p:cNvPr>
          <p:cNvSpPr/>
          <p:nvPr/>
        </p:nvSpPr>
        <p:spPr bwMode="auto">
          <a:xfrm rot="19556423">
            <a:off x="6137862" y="3745531"/>
            <a:ext cx="1443375" cy="767301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BB5D1008-417E-41F2-B5AB-1E7EE9CD6AD8}"/>
              </a:ext>
            </a:extLst>
          </p:cNvPr>
          <p:cNvSpPr/>
          <p:nvPr/>
        </p:nvSpPr>
        <p:spPr bwMode="auto">
          <a:xfrm rot="17986332">
            <a:off x="6765000" y="4110118"/>
            <a:ext cx="148647" cy="158316"/>
          </a:xfrm>
          <a:prstGeom prst="flowChartConnector">
            <a:avLst/>
          </a:prstGeom>
          <a:solidFill>
            <a:srgbClr val="30A04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39F649-2F8D-4598-AF03-C47DB907AC9B}"/>
              </a:ext>
            </a:extLst>
          </p:cNvPr>
          <p:cNvSpPr txBox="1"/>
          <p:nvPr/>
        </p:nvSpPr>
        <p:spPr>
          <a:xfrm>
            <a:off x="4790278" y="2344594"/>
            <a:ext cx="18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C3399"/>
                </a:solidFill>
              </a:rPr>
              <a:t>Newton</a:t>
            </a:r>
            <a:r>
              <a:rPr lang="zh-CN" altLang="en-US" sz="2400" dirty="0">
                <a:solidFill>
                  <a:srgbClr val="CC3399"/>
                </a:solidFill>
              </a:rPr>
              <a:t>方向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91EA995-52A5-409C-9EAA-DC1885480B2A}"/>
              </a:ext>
            </a:extLst>
          </p:cNvPr>
          <p:cNvCxnSpPr>
            <a:cxnSpLocks/>
            <a:stCxn id="38" idx="3"/>
          </p:cNvCxnSpPr>
          <p:nvPr/>
        </p:nvCxnSpPr>
        <p:spPr bwMode="auto">
          <a:xfrm>
            <a:off x="6635655" y="2575427"/>
            <a:ext cx="555634" cy="14883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86F89EA5-B3FC-4941-8CEA-BFFE8A8959D4}"/>
              </a:ext>
            </a:extLst>
          </p:cNvPr>
          <p:cNvSpPr/>
          <p:nvPr/>
        </p:nvSpPr>
        <p:spPr bwMode="auto">
          <a:xfrm rot="17986332">
            <a:off x="7145348" y="3231944"/>
            <a:ext cx="1052716" cy="529573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74027D4-21EE-48CE-AC1E-264584713A6E}"/>
              </a:ext>
            </a:extLst>
          </p:cNvPr>
          <p:cNvCxnSpPr>
            <a:cxnSpLocks/>
          </p:cNvCxnSpPr>
          <p:nvPr/>
        </p:nvCxnSpPr>
        <p:spPr bwMode="auto">
          <a:xfrm flipV="1">
            <a:off x="6262747" y="3661208"/>
            <a:ext cx="2233932" cy="703896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爆炸形: 14 pt  55">
            <a:extLst>
              <a:ext uri="{FF2B5EF4-FFF2-40B4-BE49-F238E27FC236}">
                <a16:creationId xmlns:a16="http://schemas.microsoft.com/office/drawing/2014/main" id="{AA1F1463-672B-4637-A816-96764D6D02F5}"/>
              </a:ext>
            </a:extLst>
          </p:cNvPr>
          <p:cNvSpPr/>
          <p:nvPr/>
        </p:nvSpPr>
        <p:spPr bwMode="auto">
          <a:xfrm>
            <a:off x="479907" y="3538027"/>
            <a:ext cx="4859687" cy="1176727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收敛速度慢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AFB0B4C-1041-460D-A57F-2C8D89E768A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3149" y="4171329"/>
            <a:ext cx="666899" cy="215476"/>
          </a:xfrm>
          <a:prstGeom prst="line">
            <a:avLst/>
          </a:prstGeom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67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/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FD48-B41F-4017-8FDC-52AED004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法（</a:t>
            </a:r>
            <a:r>
              <a:rPr lang="en-US" altLang="zh-CN" dirty="0"/>
              <a:t>n</a:t>
            </a:r>
            <a:r>
              <a:rPr lang="zh-CN" altLang="en-US" dirty="0"/>
              <a:t>维多元函数）分析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FF9F5-0510-477F-8BA0-C8A61E83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B1123-2A6D-4AE6-B485-F862121C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A2324EB-55C0-4077-9A74-56E6A8CD3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980" y="1200901"/>
          <a:ext cx="52244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368280" progId="Equation.DSMT4">
                  <p:embed/>
                </p:oleObj>
              </mc:Choice>
              <mc:Fallback>
                <p:oleObj name="Equation" r:id="rId2" imgW="2323800" imgH="368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2324EB-55C0-4077-9A74-56E6A8CD3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9980" y="1200901"/>
                        <a:ext cx="5224463" cy="828675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7C0B5C8-296F-4580-8361-D3CAC72B7C9A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B5757D1-DEE9-44FC-916E-7634B6CDE3B6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F1E78CFE-54E1-4E22-9B52-F773BAA218DB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AEC96BF-768F-402D-95B1-0E916D904E76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2BE9EC3-39B8-4C47-A386-C9F88780E18B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D2A4734-87BD-4779-84CD-4509C0A84E80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C2F613D2-9B11-41FC-BD3C-B190F8C3038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65826AFA-29D8-4752-B8C9-B83388ACE33D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C08A933-9F68-4F37-883D-5438397D97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CC08A933-9F68-4F37-883D-5438397D9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64BE075-7BFD-4E28-BD09-51B418C9A3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916695"/>
              </p:ext>
            </p:extLst>
          </p:nvPr>
        </p:nvGraphicFramePr>
        <p:xfrm>
          <a:off x="7401272" y="3517131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364BE075-7BFD-4E28-BD09-51B418C9A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01272" y="3517131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D55C864-B785-4D03-8C98-2E5F91B3C4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2870" y="4509583"/>
          <a:ext cx="13541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177480" progId="Equation.DSMT4">
                  <p:embed/>
                </p:oleObj>
              </mc:Choice>
              <mc:Fallback>
                <p:oleObj name="Equation" r:id="rId8" imgW="507960" imgH="1774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6D55C864-B785-4D03-8C98-2E5F91B3C4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72870" y="4509583"/>
                        <a:ext cx="13541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椭圆 34">
            <a:extLst>
              <a:ext uri="{FF2B5EF4-FFF2-40B4-BE49-F238E27FC236}">
                <a16:creationId xmlns:a16="http://schemas.microsoft.com/office/drawing/2014/main" id="{69C63B9A-A751-4CA9-87CF-A8F9929D676A}"/>
              </a:ext>
            </a:extLst>
          </p:cNvPr>
          <p:cNvSpPr/>
          <p:nvPr/>
        </p:nvSpPr>
        <p:spPr bwMode="auto">
          <a:xfrm rot="19081038">
            <a:off x="5758171" y="2309119"/>
            <a:ext cx="4459390" cy="1647366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BB5D1008-417E-41F2-B5AB-1E7EE9CD6AD8}"/>
              </a:ext>
            </a:extLst>
          </p:cNvPr>
          <p:cNvSpPr/>
          <p:nvPr/>
        </p:nvSpPr>
        <p:spPr bwMode="auto">
          <a:xfrm rot="17986332">
            <a:off x="7969216" y="3157463"/>
            <a:ext cx="148647" cy="158316"/>
          </a:xfrm>
          <a:prstGeom prst="flowChartConnector">
            <a:avLst/>
          </a:prstGeom>
          <a:solidFill>
            <a:srgbClr val="30A04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39F649-2F8D-4598-AF03-C47DB907AC9B}"/>
              </a:ext>
            </a:extLst>
          </p:cNvPr>
          <p:cNvSpPr txBox="1"/>
          <p:nvPr/>
        </p:nvSpPr>
        <p:spPr>
          <a:xfrm>
            <a:off x="4790278" y="2344594"/>
            <a:ext cx="18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C3399"/>
                </a:solidFill>
              </a:rPr>
              <a:t>Newton</a:t>
            </a:r>
            <a:r>
              <a:rPr lang="zh-CN" altLang="en-US" sz="2400" dirty="0">
                <a:solidFill>
                  <a:srgbClr val="CC3399"/>
                </a:solidFill>
              </a:rPr>
              <a:t>方向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91EA995-52A5-409C-9EAA-DC1885480B2A}"/>
              </a:ext>
            </a:extLst>
          </p:cNvPr>
          <p:cNvCxnSpPr>
            <a:cxnSpLocks/>
            <a:stCxn id="38" idx="3"/>
          </p:cNvCxnSpPr>
          <p:nvPr/>
        </p:nvCxnSpPr>
        <p:spPr bwMode="auto">
          <a:xfrm>
            <a:off x="6635655" y="2575427"/>
            <a:ext cx="1779217" cy="2791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86F89EA5-B3FC-4941-8CEA-BFFE8A8959D4}"/>
              </a:ext>
            </a:extLst>
          </p:cNvPr>
          <p:cNvSpPr/>
          <p:nvPr/>
        </p:nvSpPr>
        <p:spPr bwMode="auto">
          <a:xfrm rot="17986332">
            <a:off x="7145348" y="3231944"/>
            <a:ext cx="1052716" cy="529573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74027D4-21EE-48CE-AC1E-264584713A6E}"/>
              </a:ext>
            </a:extLst>
          </p:cNvPr>
          <p:cNvCxnSpPr>
            <a:cxnSpLocks/>
          </p:cNvCxnSpPr>
          <p:nvPr/>
        </p:nvCxnSpPr>
        <p:spPr bwMode="auto">
          <a:xfrm flipV="1">
            <a:off x="6207400" y="2636876"/>
            <a:ext cx="2792449" cy="1757850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爆炸形: 14 pt  55">
            <a:extLst>
              <a:ext uri="{FF2B5EF4-FFF2-40B4-BE49-F238E27FC236}">
                <a16:creationId xmlns:a16="http://schemas.microsoft.com/office/drawing/2014/main" id="{AA1F1463-672B-4637-A816-96764D6D02F5}"/>
              </a:ext>
            </a:extLst>
          </p:cNvPr>
          <p:cNvSpPr/>
          <p:nvPr/>
        </p:nvSpPr>
        <p:spPr bwMode="auto">
          <a:xfrm>
            <a:off x="479907" y="3538027"/>
            <a:ext cx="4859687" cy="1176727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收敛过渡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1C67A11-3A69-446E-8DBC-61CB46D2B765}"/>
              </a:ext>
            </a:extLst>
          </p:cNvPr>
          <p:cNvCxnSpPr>
            <a:cxnSpLocks/>
            <a:endCxn id="36" idx="5"/>
          </p:cNvCxnSpPr>
          <p:nvPr/>
        </p:nvCxnSpPr>
        <p:spPr bwMode="auto">
          <a:xfrm flipV="1">
            <a:off x="6213149" y="3218797"/>
            <a:ext cx="1905072" cy="1168008"/>
          </a:xfrm>
          <a:prstGeom prst="line">
            <a:avLst/>
          </a:prstGeom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01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85591-7428-4F31-B6D1-E053735F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407DD7-80AC-40BB-A360-BBE70C071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：用</a:t>
                </a:r>
                <a:r>
                  <a:rPr lang="en-US" altLang="zh-CN" b="0" dirty="0"/>
                  <a:t>Newton</a:t>
                </a:r>
                <a:r>
                  <a:rPr lang="zh-CN" altLang="en-US" dirty="0"/>
                  <a:t>法进行一元函数的一维搜索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给定起始点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=−1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zh-CN" altLang="en-US" dirty="0"/>
                  <a:t>收敛精度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dirty="0"/>
                  <a:t>，用</a:t>
                </a:r>
                <a:r>
                  <a:rPr lang="en-US" altLang="zh-CN" b="0" dirty="0"/>
                  <a:t>Newton</a:t>
                </a:r>
                <a:r>
                  <a:rPr lang="zh-CN" altLang="en-US" dirty="0"/>
                  <a:t>法求解下列函数的极小值点     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407DD7-80AC-40BB-A360-BBE70C071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3FD3D-306D-4723-BB61-0FA5591F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B40F16-CAEC-4F7C-9BCC-A46E882E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C812D57-855E-448C-B866-C1B8E9C1A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327558"/>
              </p:ext>
            </p:extLst>
          </p:nvPr>
        </p:nvGraphicFramePr>
        <p:xfrm>
          <a:off x="2174875" y="3068638"/>
          <a:ext cx="32464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253800" progId="Equation.DSMT4">
                  <p:embed/>
                </p:oleObj>
              </mc:Choice>
              <mc:Fallback>
                <p:oleObj name="Equation" r:id="rId4" imgW="1143000" imgH="2538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D1C5C1E6-6287-4F83-B5B4-70F600CCB1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74875" y="3068638"/>
                        <a:ext cx="3246438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186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85591-7428-4F31-B6D1-E053735F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3FD3D-306D-4723-BB61-0FA5591F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B40F16-CAEC-4F7C-9BCC-A46E882E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C812D57-855E-448C-B866-C1B8E9C1A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478638"/>
              </p:ext>
            </p:extLst>
          </p:nvPr>
        </p:nvGraphicFramePr>
        <p:xfrm>
          <a:off x="2470150" y="260350"/>
          <a:ext cx="32464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253800" progId="Equation.DSMT4">
                  <p:embed/>
                </p:oleObj>
              </mc:Choice>
              <mc:Fallback>
                <p:oleObj name="Equation" r:id="rId2" imgW="1143000" imgH="253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C812D57-855E-448C-B866-C1B8E9C1AF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0150" y="260350"/>
                        <a:ext cx="3246438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64BA95-5616-4868-8FE4-FE3D5B4306B2}"/>
                  </a:ext>
                </a:extLst>
              </p:cNvPr>
              <p:cNvSpPr txBox="1"/>
              <p:nvPr/>
            </p:nvSpPr>
            <p:spPr>
              <a:xfrm>
                <a:off x="71042" y="1124744"/>
                <a:ext cx="877039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将函数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在该点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/>
                  <a:t>进行二阶泰勒展开，求极值点：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继续迭代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64BA95-5616-4868-8FE4-FE3D5B430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2" y="1124744"/>
                <a:ext cx="8770390" cy="4524315"/>
              </a:xfrm>
              <a:prstGeom prst="rect">
                <a:avLst/>
              </a:prstGeom>
              <a:blipFill>
                <a:blip r:embed="rId5"/>
                <a:stretch>
                  <a:fillRect l="-1113" b="-2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3CA39EA-8C2C-4949-8F7E-E074021BA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308535"/>
              </p:ext>
            </p:extLst>
          </p:nvPr>
        </p:nvGraphicFramePr>
        <p:xfrm>
          <a:off x="715962" y="1316429"/>
          <a:ext cx="46640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22280" imgH="482400" progId="Equation.DSMT4">
                  <p:embed/>
                </p:oleObj>
              </mc:Choice>
              <mc:Fallback>
                <p:oleObj name="Equation" r:id="rId6" imgW="2222280" imgH="482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871AF09-56C4-423D-826A-AE999EDC9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5962" y="1316429"/>
                        <a:ext cx="4664075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E3A71A4-551C-42D2-B025-D74F1834F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432956"/>
              </p:ext>
            </p:extLst>
          </p:nvPr>
        </p:nvGraphicFramePr>
        <p:xfrm>
          <a:off x="715962" y="3097584"/>
          <a:ext cx="4237038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240" imgH="469800" progId="Equation.DSMT4">
                  <p:embed/>
                </p:oleObj>
              </mc:Choice>
              <mc:Fallback>
                <p:oleObj name="Equation" r:id="rId8" imgW="2019240" imgH="4698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0556A1CF-B1BA-4379-9EB3-C15482F0F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5962" y="3097584"/>
                        <a:ext cx="4237038" cy="979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C6D11B1-61EE-4497-97C5-96B30D67F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986324"/>
              </p:ext>
            </p:extLst>
          </p:nvPr>
        </p:nvGraphicFramePr>
        <p:xfrm>
          <a:off x="715962" y="4165606"/>
          <a:ext cx="535622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52400" imgH="507960" progId="Equation.DSMT4">
                  <p:embed/>
                </p:oleObj>
              </mc:Choice>
              <mc:Fallback>
                <p:oleObj name="Equation" r:id="rId10" imgW="2552400" imgH="5079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E3A71A4-551C-42D2-B025-D74F1834F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5962" y="4165606"/>
                        <a:ext cx="5356225" cy="105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246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85591-7428-4F31-B6D1-E053735F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3FD3D-306D-4723-BB61-0FA5591F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B40F16-CAEC-4F7C-9BCC-A46E882E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C812D57-855E-448C-B866-C1B8E9C1AF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0150" y="260350"/>
          <a:ext cx="324643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253800" progId="Equation.DSMT4">
                  <p:embed/>
                </p:oleObj>
              </mc:Choice>
              <mc:Fallback>
                <p:oleObj name="Equation" r:id="rId2" imgW="1143000" imgH="253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C812D57-855E-448C-B866-C1B8E9C1AF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0150" y="260350"/>
                        <a:ext cx="3246438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64BA95-5616-4868-8FE4-FE3D5B4306B2}"/>
                  </a:ext>
                </a:extLst>
              </p:cNvPr>
              <p:cNvSpPr txBox="1"/>
              <p:nvPr/>
            </p:nvSpPr>
            <p:spPr>
              <a:xfrm>
                <a:off x="71042" y="1124744"/>
                <a:ext cx="8770390" cy="4309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将函数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在该点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2400" dirty="0"/>
                  <a:t> 进行二阶泰勒展开，求极值点：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64BA95-5616-4868-8FE4-FE3D5B430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2" y="1124744"/>
                <a:ext cx="8770390" cy="4309065"/>
              </a:xfrm>
              <a:prstGeom prst="rect">
                <a:avLst/>
              </a:prstGeom>
              <a:blipFill>
                <a:blip r:embed="rId5"/>
                <a:stretch>
                  <a:fillRect l="-1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3CA39EA-8C2C-4949-8F7E-E074021BAD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837125"/>
              </p:ext>
            </p:extLst>
          </p:nvPr>
        </p:nvGraphicFramePr>
        <p:xfrm>
          <a:off x="1064568" y="1250229"/>
          <a:ext cx="39449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253800" progId="Equation.DSMT4">
                  <p:embed/>
                </p:oleObj>
              </mc:Choice>
              <mc:Fallback>
                <p:oleObj name="Equation" r:id="rId6" imgW="187956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3CA39EA-8C2C-4949-8F7E-E074021BAD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4568" y="1250229"/>
                        <a:ext cx="3944937" cy="53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E3A71A4-551C-42D2-B025-D74F1834F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037372"/>
              </p:ext>
            </p:extLst>
          </p:nvPr>
        </p:nvGraphicFramePr>
        <p:xfrm>
          <a:off x="942975" y="3252788"/>
          <a:ext cx="4903788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469800" progId="Equation.DSMT4">
                  <p:embed/>
                </p:oleObj>
              </mc:Choice>
              <mc:Fallback>
                <p:oleObj name="Equation" r:id="rId8" imgW="2336760" imgH="469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E3A71A4-551C-42D2-B025-D74F1834F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42975" y="3252788"/>
                        <a:ext cx="4903788" cy="979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C6D11B1-61EE-4497-97C5-96B30D67F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425557"/>
              </p:ext>
            </p:extLst>
          </p:nvPr>
        </p:nvGraphicFramePr>
        <p:xfrm>
          <a:off x="1206500" y="4375150"/>
          <a:ext cx="54086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7960" imgH="330120" progId="Equation.DSMT4">
                  <p:embed/>
                </p:oleObj>
              </mc:Choice>
              <mc:Fallback>
                <p:oleObj name="Equation" r:id="rId10" imgW="2577960" imgH="3301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C6D11B1-61EE-4497-97C5-96B30D67F2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06500" y="4375150"/>
                        <a:ext cx="5408613" cy="68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6783B3F-DD99-4AD5-843C-07DD180CA8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24682"/>
              </p:ext>
            </p:extLst>
          </p:nvPr>
        </p:nvGraphicFramePr>
        <p:xfrm>
          <a:off x="992559" y="2396003"/>
          <a:ext cx="58372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81000" imgH="393480" progId="Equation.DSMT4">
                  <p:embed/>
                </p:oleObj>
              </mc:Choice>
              <mc:Fallback>
                <p:oleObj name="Equation" r:id="rId12" imgW="2781000" imgH="393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3CA39EA-8C2C-4949-8F7E-E074021BAD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2559" y="2396003"/>
                        <a:ext cx="5837237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A9CD2497-A46F-404C-95F6-07A3EE3987D5}"/>
              </a:ext>
            </a:extLst>
          </p:cNvPr>
          <p:cNvSpPr/>
          <p:nvPr/>
        </p:nvSpPr>
        <p:spPr bwMode="auto">
          <a:xfrm>
            <a:off x="1784648" y="5501158"/>
            <a:ext cx="5702300" cy="687388"/>
          </a:xfrm>
          <a:prstGeom prst="wedgeRectCallout">
            <a:avLst>
              <a:gd name="adj1" fmla="val 6576"/>
              <a:gd name="adj2" fmla="val -148244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>
                <a:solidFill>
                  <a:srgbClr val="C00000"/>
                </a:solidFill>
              </a:rPr>
              <a:t>可能导致错过极值点</a:t>
            </a:r>
            <a:endParaRPr kumimoji="0" lang="zh-CN" altLang="en-US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9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023D2-280E-4161-99E9-8C5F3694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89549-9B7C-48A5-84B5-1B35E907F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特点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B28AE-083F-4601-962F-5AF38776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A5509E-FAF9-4ADA-B053-10FB2483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EF1399-82B7-4EC7-8E68-13321F636AD1}"/>
              </a:ext>
            </a:extLst>
          </p:cNvPr>
          <p:cNvSpPr txBox="1"/>
          <p:nvPr/>
        </p:nvSpPr>
        <p:spPr>
          <a:xfrm>
            <a:off x="684098" y="2204864"/>
            <a:ext cx="846738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收敛速度较快</a:t>
            </a:r>
            <a:r>
              <a:rPr lang="zh-CN" altLang="en-US" sz="2800" dirty="0"/>
              <a:t>，可以达到二次收敛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solidFill>
                  <a:srgbClr val="0000FF"/>
                </a:solidFill>
              </a:rPr>
              <a:t>步长因子统一设置为</a:t>
            </a:r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r>
              <a:rPr lang="zh-CN" altLang="en-US" sz="2800" dirty="0">
                <a:solidFill>
                  <a:srgbClr val="0000FF"/>
                </a:solidFill>
              </a:rPr>
              <a:t>，可能导致过渡收敛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solidFill>
                  <a:srgbClr val="7030A0"/>
                </a:solidFill>
              </a:rPr>
              <a:t>Hessian</a:t>
            </a:r>
            <a:r>
              <a:rPr lang="zh-CN" altLang="en-US" sz="2800" dirty="0">
                <a:solidFill>
                  <a:srgbClr val="7030A0"/>
                </a:solidFill>
              </a:rPr>
              <a:t>矩阵的逆矩阵计算困难</a:t>
            </a:r>
            <a:r>
              <a:rPr lang="zh-CN" altLang="en-US" sz="2800" dirty="0"/>
              <a:t>，整体计算量较大</a:t>
            </a:r>
          </a:p>
        </p:txBody>
      </p:sp>
    </p:spTree>
    <p:extLst>
      <p:ext uri="{BB962C8B-B14F-4D97-AF65-F5344CB8AC3E}">
        <p14:creationId xmlns:p14="http://schemas.microsoft.com/office/powerpoint/2010/main" val="465558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023D2-280E-4161-99E9-8C5F3694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阻尼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89549-9B7C-48A5-84B5-1B35E907F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又称为广义</a:t>
            </a:r>
            <a:r>
              <a:rPr lang="en-US" altLang="zh-CN" b="0" dirty="0"/>
              <a:t>Newton</a:t>
            </a:r>
            <a:r>
              <a:rPr lang="zh-CN" altLang="en-US" dirty="0"/>
              <a:t>法、修正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  <a:endParaRPr lang="en-US" altLang="zh-CN" dirty="0"/>
          </a:p>
          <a:p>
            <a:r>
              <a:rPr lang="zh-CN" altLang="en-US" dirty="0"/>
              <a:t>基本思想：</a:t>
            </a:r>
            <a:endParaRPr lang="en-US" altLang="zh-CN" dirty="0"/>
          </a:p>
          <a:p>
            <a:pPr lvl="1"/>
            <a:r>
              <a:rPr lang="zh-CN" altLang="en-US" dirty="0"/>
              <a:t>对基本</a:t>
            </a:r>
            <a:r>
              <a:rPr lang="en-US" altLang="zh-CN" dirty="0"/>
              <a:t>Newton</a:t>
            </a:r>
            <a:r>
              <a:rPr lang="zh-CN" altLang="en-US" dirty="0"/>
              <a:t>法进行修改，每次迭代时，步长因为不固定为</a:t>
            </a:r>
            <a:r>
              <a:rPr lang="en-US" altLang="zh-CN" dirty="0"/>
              <a:t>1</a:t>
            </a:r>
            <a:r>
              <a:rPr lang="zh-CN" altLang="en-US" dirty="0"/>
              <a:t>，根据一维搜索方法来确定。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B28AE-083F-4601-962F-5AF38776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A5509E-FAF9-4ADA-B053-10FB2483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D0A1C94-9CDF-4E6F-9806-E9F613900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798158"/>
              </p:ext>
            </p:extLst>
          </p:nvPr>
        </p:nvGraphicFramePr>
        <p:xfrm>
          <a:off x="1712640" y="4077072"/>
          <a:ext cx="58229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368280" progId="Equation.DSMT4">
                  <p:embed/>
                </p:oleObj>
              </mc:Choice>
              <mc:Fallback>
                <p:oleObj name="Equation" r:id="rId2" imgW="2590560" imgH="368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2324EB-55C0-4077-9A74-56E6A8CD3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2640" y="4077072"/>
                        <a:ext cx="5822950" cy="828675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48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023D2-280E-4161-99E9-8C5F3694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阻尼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89549-9B7C-48A5-84B5-1B35E907F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3"/>
            <a:ext cx="9719492" cy="792088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B28AE-083F-4601-962F-5AF38776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A5509E-FAF9-4ADA-B053-10FB2483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D0A1C94-9CDF-4E6F-9806-E9F613900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023584"/>
              </p:ext>
            </p:extLst>
          </p:nvPr>
        </p:nvGraphicFramePr>
        <p:xfrm>
          <a:off x="1856656" y="5228280"/>
          <a:ext cx="58229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368280" progId="Equation.DSMT4">
                  <p:embed/>
                </p:oleObj>
              </mc:Choice>
              <mc:Fallback>
                <p:oleObj name="Equation" r:id="rId2" imgW="2590560" imgH="3682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0A1C94-9CDF-4E6F-9806-E9F613900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56656" y="5228280"/>
                        <a:ext cx="5822950" cy="828675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81BC4A-0EFC-452C-A127-10107B5D69D0}"/>
                  </a:ext>
                </a:extLst>
              </p:cNvPr>
              <p:cNvSpPr txBox="1"/>
              <p:nvPr/>
            </p:nvSpPr>
            <p:spPr>
              <a:xfrm>
                <a:off x="384858" y="1893002"/>
                <a:ext cx="9136284" cy="3749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/>
                  <a:t>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=0;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计算目标函数在点处的梯度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Hessian</a:t>
                </a:r>
                <a:r>
                  <a:rPr lang="zh-CN" altLang="en-US" sz="2400" dirty="0"/>
                  <a:t>矩阵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及其逆矩阵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；</a:t>
                </a: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r>
                  <a:rPr lang="zh-CN" altLang="en-US" sz="2400" dirty="0"/>
                  <a:t>构造牛顿方向：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r>
                  <a:rPr lang="zh-CN" altLang="en-US" sz="2400" dirty="0"/>
                  <a:t>沿着牛顿方向进行一维搜索，得到新的迭代点</a:t>
                </a: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81BC4A-0EFC-452C-A127-10107B5D6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58" y="1893002"/>
                <a:ext cx="9136284" cy="3749616"/>
              </a:xfrm>
              <a:prstGeom prst="rect">
                <a:avLst/>
              </a:prstGeom>
              <a:blipFill>
                <a:blip r:embed="rId5"/>
                <a:stretch>
                  <a:fillRect l="-867" t="-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694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023D2-280E-4161-99E9-8C5F3694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阻尼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89549-9B7C-48A5-84B5-1B35E907F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3"/>
            <a:ext cx="9719492" cy="792088"/>
          </a:xfrm>
        </p:spPr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B28AE-083F-4601-962F-5AF38776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A5509E-FAF9-4ADA-B053-10FB2483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D0A1C94-9CDF-4E6F-9806-E9F613900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383231"/>
              </p:ext>
            </p:extLst>
          </p:nvPr>
        </p:nvGraphicFramePr>
        <p:xfrm>
          <a:off x="2577815" y="2514496"/>
          <a:ext cx="23399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330120" progId="Equation.DSMT4">
                  <p:embed/>
                </p:oleObj>
              </mc:Choice>
              <mc:Fallback>
                <p:oleObj name="Equation" r:id="rId2" imgW="104112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0A1C94-9CDF-4E6F-9806-E9F613900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7815" y="2514496"/>
                        <a:ext cx="2339975" cy="74295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81BC4A-0EFC-452C-A127-10107B5D69D0}"/>
                  </a:ext>
                </a:extLst>
              </p:cNvPr>
              <p:cNvSpPr txBox="1"/>
              <p:nvPr/>
            </p:nvSpPr>
            <p:spPr>
              <a:xfrm>
                <a:off x="384858" y="1893002"/>
                <a:ext cx="913628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5.  </a:t>
                </a:r>
                <a:r>
                  <a:rPr lang="zh-CN" altLang="en-US" sz="2400" dirty="0"/>
                  <a:t>收敛精度判断，如果满足：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     </a:t>
                </a:r>
                <a:r>
                  <a:rPr lang="zh-CN" altLang="en-US" sz="2400" dirty="0"/>
                  <a:t>则找到极值点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，结束。</a:t>
                </a:r>
                <a:endParaRPr lang="en-US" altLang="zh-CN" sz="2400" dirty="0"/>
              </a:p>
              <a:p>
                <a:r>
                  <a:rPr lang="en-US" altLang="zh-CN" sz="2400" dirty="0"/>
                  <a:t>     </a:t>
                </a:r>
                <a:r>
                  <a:rPr lang="zh-CN" altLang="en-US" sz="2400" dirty="0"/>
                  <a:t>否则，继续下一步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6.  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2.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81BC4A-0EFC-452C-A127-10107B5D6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58" y="1893002"/>
                <a:ext cx="9136284" cy="3046988"/>
              </a:xfrm>
              <a:prstGeom prst="rect">
                <a:avLst/>
              </a:prstGeom>
              <a:blipFill>
                <a:blip r:embed="rId5"/>
                <a:stretch>
                  <a:fillRect l="-1001" t="-1603" b="-4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6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6FEC9-24D8-4893-9AB2-F54A22CA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阻尼</a:t>
            </a:r>
            <a:r>
              <a:rPr lang="en-US" altLang="zh-CN" b="0" dirty="0"/>
              <a:t>Newton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81682-5DD5-4512-B89C-9D231F6502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：（</a:t>
                </a:r>
                <a:r>
                  <a:rPr lang="en-US" altLang="zh-CN" dirty="0"/>
                  <a:t>P67-</a:t>
                </a:r>
                <a:r>
                  <a:rPr lang="zh-CN" altLang="en-US" dirty="0"/>
                  <a:t>例题</a:t>
                </a:r>
                <a:r>
                  <a:rPr lang="en-US" altLang="zh-CN" dirty="0"/>
                  <a:t>4-6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已知初始点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，收敛精度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𝛜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dirty="0"/>
                  <a:t>，用阻尼</a:t>
                </a:r>
                <a:r>
                  <a:rPr lang="en-US" altLang="zh-CN" dirty="0"/>
                  <a:t>Newton</a:t>
                </a:r>
                <a:r>
                  <a:rPr lang="zh-CN" altLang="en-US" dirty="0"/>
                  <a:t>法求解下面无约束优化问题的极值点。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81682-5DD5-4512-B89C-9D231F6502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C433B-CF96-4FB8-B491-BDF2719D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557AC5-48B5-4FC4-94CB-7B97C656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8F8A7A-DFC1-40B9-AFBB-2C30D43E17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261255"/>
              </p:ext>
            </p:extLst>
          </p:nvPr>
        </p:nvGraphicFramePr>
        <p:xfrm>
          <a:off x="920552" y="364502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0552" y="364502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629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6FEC9-24D8-4893-9AB2-F54A22CA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C433B-CF96-4FB8-B491-BDF2719D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557AC5-48B5-4FC4-94CB-7B97C656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8F8A7A-DFC1-40B9-AFBB-2C30D43E17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737397"/>
              </p:ext>
            </p:extLst>
          </p:nvPr>
        </p:nvGraphicFramePr>
        <p:xfrm>
          <a:off x="2537934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38F8A7A-DFC1-40B9-AFBB-2C30D43E17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37934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9F7CDC-3A20-48B3-8BEE-5BE75970EFF7}"/>
                  </a:ext>
                </a:extLst>
              </p:cNvPr>
              <p:cNvSpPr txBox="1"/>
              <p:nvPr/>
            </p:nvSpPr>
            <p:spPr>
              <a:xfrm>
                <a:off x="200472" y="1268760"/>
                <a:ext cx="9136284" cy="325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/>
                  <a:t>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=0;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计算目标函数在点处的梯度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Hessian</a:t>
                </a:r>
                <a:r>
                  <a:rPr lang="zh-CN" altLang="en-US" sz="2400" dirty="0"/>
                  <a:t>矩阵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及其逆矩阵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；</a:t>
                </a: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9F7CDC-3A20-48B3-8BEE-5BE75970E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1268760"/>
                <a:ext cx="9136284" cy="3253455"/>
              </a:xfrm>
              <a:prstGeom prst="rect">
                <a:avLst/>
              </a:prstGeom>
              <a:blipFill>
                <a:blip r:embed="rId5"/>
                <a:stretch>
                  <a:fillRect l="-934" t="-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E221554-DA93-4B9C-962C-8957A49764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423274"/>
              </p:ext>
            </p:extLst>
          </p:nvPr>
        </p:nvGraphicFramePr>
        <p:xfrm>
          <a:off x="989808" y="1745190"/>
          <a:ext cx="379888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457200" progId="Equation.DSMT4">
                  <p:embed/>
                </p:oleObj>
              </mc:Choice>
              <mc:Fallback>
                <p:oleObj name="Equation" r:id="rId6" imgW="1688760" imgH="457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0A1C94-9CDF-4E6F-9806-E9F613900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9808" y="1745190"/>
                        <a:ext cx="3798888" cy="10287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FBF3BFB-B742-4039-84A7-C46BFFFE31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463333"/>
              </p:ext>
            </p:extLst>
          </p:nvPr>
        </p:nvGraphicFramePr>
        <p:xfrm>
          <a:off x="989808" y="3875575"/>
          <a:ext cx="7113588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62240" imgH="1180800" progId="Equation.DSMT4">
                  <p:embed/>
                </p:oleObj>
              </mc:Choice>
              <mc:Fallback>
                <p:oleObj name="Equation" r:id="rId8" imgW="3162240" imgH="1180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E221554-DA93-4B9C-962C-8957A49764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89808" y="3875575"/>
                        <a:ext cx="7113588" cy="2657475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374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6FEC9-24D8-4893-9AB2-F54A22CA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C433B-CF96-4FB8-B491-BDF2719D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557AC5-48B5-4FC4-94CB-7B97C656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8F8A7A-DFC1-40B9-AFBB-2C30D43E1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7934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38F8A7A-DFC1-40B9-AFBB-2C30D43E17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37934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9F7CDC-3A20-48B3-8BEE-5BE75970EFF7}"/>
                  </a:ext>
                </a:extLst>
              </p:cNvPr>
              <p:cNvSpPr txBox="1"/>
              <p:nvPr/>
            </p:nvSpPr>
            <p:spPr>
              <a:xfrm>
                <a:off x="200472" y="1268760"/>
                <a:ext cx="9136284" cy="2804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3"/>
                </a:pPr>
                <a:r>
                  <a:rPr lang="zh-CN" altLang="en-US" sz="2400" dirty="0"/>
                  <a:t>构造牛顿方向：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r>
                  <a:rPr lang="zh-CN" altLang="en-US" sz="2400" dirty="0"/>
                  <a:t>沿着牛顿方向进行一维搜索，得到新的迭代点</a:t>
                </a: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9F7CDC-3A20-48B3-8BEE-5BE75970E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1268760"/>
                <a:ext cx="9136284" cy="2804486"/>
              </a:xfrm>
              <a:prstGeom prst="rect">
                <a:avLst/>
              </a:prstGeom>
              <a:blipFill>
                <a:blip r:embed="rId5"/>
                <a:stretch>
                  <a:fillRect l="-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A265A46-584D-485A-8382-B9212B691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916752"/>
              </p:ext>
            </p:extLst>
          </p:nvPr>
        </p:nvGraphicFramePr>
        <p:xfrm>
          <a:off x="642938" y="2060575"/>
          <a:ext cx="82534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70200" imgH="457200" progId="Equation.DSMT4">
                  <p:embed/>
                </p:oleObj>
              </mc:Choice>
              <mc:Fallback>
                <p:oleObj name="Equation" r:id="rId6" imgW="367020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FBF3BFB-B742-4039-84A7-C46BFFFE31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2938" y="2060575"/>
                        <a:ext cx="8253412" cy="10287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8F0C02D-F0D7-494D-997C-9BF0FC474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433233"/>
              </p:ext>
            </p:extLst>
          </p:nvPr>
        </p:nvGraphicFramePr>
        <p:xfrm>
          <a:off x="885825" y="3752702"/>
          <a:ext cx="58229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90560" imgH="914400" progId="Equation.DSMT4">
                  <p:embed/>
                </p:oleObj>
              </mc:Choice>
              <mc:Fallback>
                <p:oleObj name="Equation" r:id="rId8" imgW="2590560" imgH="914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0A1C94-9CDF-4E6F-9806-E9F613900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85825" y="3752702"/>
                        <a:ext cx="5822950" cy="20574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340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6FEC9-24D8-4893-9AB2-F54A22CA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C433B-CF96-4FB8-B491-BDF2719D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557AC5-48B5-4FC4-94CB-7B97C656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8F8A7A-DFC1-40B9-AFBB-2C30D43E1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7934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38F8A7A-DFC1-40B9-AFBB-2C30D43E17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37934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29F7CDC-3A20-48B3-8BEE-5BE75970EFF7}"/>
              </a:ext>
            </a:extLst>
          </p:cNvPr>
          <p:cNvSpPr txBox="1"/>
          <p:nvPr/>
        </p:nvSpPr>
        <p:spPr>
          <a:xfrm>
            <a:off x="200472" y="1268760"/>
            <a:ext cx="9136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4"/>
            </a:pPr>
            <a:r>
              <a:rPr lang="zh-CN" altLang="en-US" sz="2400" dirty="0"/>
              <a:t>沿着牛顿方向进行一维搜索，得到新的迭代点</a:t>
            </a:r>
            <a:endParaRPr lang="en-US" altLang="zh-CN" sz="2400" dirty="0"/>
          </a:p>
          <a:p>
            <a:pPr marL="457200" indent="-457200">
              <a:buAutoNum type="arabicPeriod" startAt="4"/>
            </a:pPr>
            <a:endParaRPr lang="en-US" altLang="zh-CN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8F0C02D-F0D7-494D-997C-9BF0FC474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792200"/>
              </p:ext>
            </p:extLst>
          </p:nvPr>
        </p:nvGraphicFramePr>
        <p:xfrm>
          <a:off x="920866" y="1787098"/>
          <a:ext cx="582295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560" imgH="914400" progId="Equation.DSMT4">
                  <p:embed/>
                </p:oleObj>
              </mc:Choice>
              <mc:Fallback>
                <p:oleObj name="Equation" r:id="rId4" imgW="2590560" imgH="914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8F0C02D-F0D7-494D-997C-9BF0FC474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0866" y="1787098"/>
                        <a:ext cx="5822950" cy="20574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E0B378B-C6AF-4DD4-B8F6-0A83EB0E5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574845"/>
              </p:ext>
            </p:extLst>
          </p:nvPr>
        </p:nvGraphicFramePr>
        <p:xfrm>
          <a:off x="920866" y="3844498"/>
          <a:ext cx="5394326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00120" imgH="457200" progId="Equation.DSMT4">
                  <p:embed/>
                </p:oleObj>
              </mc:Choice>
              <mc:Fallback>
                <p:oleObj name="Equation" r:id="rId6" imgW="2400120" imgH="457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E0B378B-C6AF-4DD4-B8F6-0A83EB0E5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0866" y="3844498"/>
                        <a:ext cx="5394326" cy="10287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17AB78F-1E84-493B-A276-E74E028F0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498942"/>
              </p:ext>
            </p:extLst>
          </p:nvPr>
        </p:nvGraphicFramePr>
        <p:xfrm>
          <a:off x="920866" y="5074889"/>
          <a:ext cx="30829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330120" progId="Equation.DSMT4">
                  <p:embed/>
                </p:oleObj>
              </mc:Choice>
              <mc:Fallback>
                <p:oleObj name="Equation" r:id="rId8" imgW="1371600" imgH="3301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E0B378B-C6AF-4DD4-B8F6-0A83EB0E5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20866" y="5074889"/>
                        <a:ext cx="3082925" cy="74295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C81F0314-3777-4F8B-9B1A-16DE63DC5E07}"/>
              </a:ext>
            </a:extLst>
          </p:cNvPr>
          <p:cNvSpPr/>
          <p:nvPr/>
        </p:nvSpPr>
        <p:spPr bwMode="auto">
          <a:xfrm>
            <a:off x="4139255" y="5158332"/>
            <a:ext cx="1118947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99794C0-BADD-46D4-B11E-BB223F66ED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540008"/>
              </p:ext>
            </p:extLst>
          </p:nvPr>
        </p:nvGraphicFramePr>
        <p:xfrm>
          <a:off x="5644473" y="4932014"/>
          <a:ext cx="13414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880" imgH="457200" progId="Equation.DSMT4">
                  <p:embed/>
                </p:oleObj>
              </mc:Choice>
              <mc:Fallback>
                <p:oleObj name="Equation" r:id="rId10" imgW="596880" imgH="457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17AB78F-1E84-493B-A276-E74E028F0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44473" y="4932014"/>
                        <a:ext cx="1341438" cy="10287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017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B4D7D-5368-663B-CE83-F5E5635A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5EFA07-24C9-8E9E-59A9-FEA59392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7399B5C-1D84-5024-23B3-5CC6E93F1233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90600" y="635000"/>
                <a:ext cx="79248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en-US" altLang="zh-CN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，精度</a:t>
                </a:r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e=0.1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，用阻尼牛顿法求解函数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</m:d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4</m:t>
                            </m:r>
                            <m: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的极小值点为（       ）。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7399B5C-1D84-5024-23B3-5CC6E93F1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90600" y="635000"/>
                <a:ext cx="7924800" cy="2143125"/>
              </a:xfrm>
              <a:prstGeom prst="rect">
                <a:avLst/>
              </a:prstGeom>
              <a:blipFill>
                <a:blip r:embed="rId20"/>
                <a:stretch>
                  <a:fillRect l="-1385" r="-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9C35414-BC3B-E4B6-BCD7-464320772E6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81200" y="27860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[0,0]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9E17EA-1A17-D374-9849-EFBF0A238F6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81200" y="364331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[0,-1]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94F101-930E-4527-F202-0488CD2E98A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81200" y="45005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[-1,0]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D8702D-7A61-6237-9517-B6189EE46CF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81200" y="535781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[-1,-1]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837BD2F-E6A0-E898-283B-72132239F71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287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2318A45-DCA1-6E1A-F323-C2B8B9136F5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287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7DE147D-2D25-4A99-3D57-F8FA0FACC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287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7DE559B-8800-045D-CD9F-CA53DB0CFD1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287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F66332-5BBA-FDBE-D6B6-C0CB09118CA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C54051-DF66-1D01-AAC5-F882FF89A46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670C4D44-FEE9-CB84-03B5-9DE94FD976B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EE982F75-4894-1A9C-ECF6-90D3C4A95B1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F5DEA101-9D87-F0D0-3761-7F5692F5FAE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64D31BA9-3969-CEEA-8BB2-CC87BEFBF73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20 6">
            <a:extLst>
              <a:ext uri="{FF2B5EF4-FFF2-40B4-BE49-F238E27FC236}">
                <a16:creationId xmlns:a16="http://schemas.microsoft.com/office/drawing/2014/main" id="{41243CD2-117D-17D6-24B3-C7CF653A513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7648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259F0-843A-4B80-8630-B6141B42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ABD922-8966-487B-AB9F-A672918AD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DFP</a:t>
            </a:r>
            <a:r>
              <a:rPr lang="zh-CN" altLang="en-US" dirty="0">
                <a:solidFill>
                  <a:srgbClr val="C00000"/>
                </a:solidFill>
              </a:rPr>
              <a:t>法</a:t>
            </a:r>
            <a:r>
              <a:rPr lang="en-US" altLang="zh-CN" dirty="0"/>
              <a:t>(</a:t>
            </a:r>
            <a:r>
              <a:rPr lang="en-US" altLang="zh-CN" dirty="0" err="1"/>
              <a:t>Davidon</a:t>
            </a:r>
            <a:r>
              <a:rPr lang="en-US" altLang="zh-CN" dirty="0"/>
              <a:t>-Fletcher-Powell algorithm)</a:t>
            </a:r>
            <a:r>
              <a:rPr lang="zh-CN" altLang="en-US" dirty="0"/>
              <a:t>是由</a:t>
            </a:r>
            <a:r>
              <a:rPr lang="en-US" altLang="zh-CN" dirty="0" err="1"/>
              <a:t>Davidon</a:t>
            </a:r>
            <a:r>
              <a:rPr lang="zh-CN" altLang="en-US" dirty="0"/>
              <a:t>，</a:t>
            </a:r>
            <a:r>
              <a:rPr lang="en-US" altLang="zh-CN" dirty="0"/>
              <a:t>Fletcher</a:t>
            </a:r>
            <a:r>
              <a:rPr lang="zh-CN" altLang="en-US" dirty="0"/>
              <a:t>，</a:t>
            </a:r>
            <a:r>
              <a:rPr lang="en-US" altLang="zh-CN" dirty="0"/>
              <a:t>Powell</a:t>
            </a:r>
            <a:r>
              <a:rPr lang="zh-CN" altLang="en-US" dirty="0"/>
              <a:t>三个人的名字的首字母命名的，</a:t>
            </a:r>
            <a:r>
              <a:rPr lang="zh-CN" altLang="en-US" dirty="0">
                <a:solidFill>
                  <a:srgbClr val="C00000"/>
                </a:solidFill>
              </a:rPr>
              <a:t>是求解非线性优化问题最有效的方法之一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DFP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变尺度法（拟牛顿法）的一种</a:t>
            </a:r>
            <a:r>
              <a:rPr lang="zh-CN" altLang="en-US" dirty="0"/>
              <a:t>，另外还包括</a:t>
            </a:r>
            <a:r>
              <a:rPr lang="en-US" altLang="zh-CN" dirty="0"/>
              <a:t>BFGS</a:t>
            </a:r>
            <a:r>
              <a:rPr lang="zh-CN" altLang="en-US" dirty="0"/>
              <a:t>法等。</a:t>
            </a:r>
            <a:endParaRPr lang="en-US" altLang="zh-CN" dirty="0"/>
          </a:p>
          <a:p>
            <a:pPr lvl="1"/>
            <a:r>
              <a:rPr lang="en-US" altLang="zh-CN" dirty="0"/>
              <a:t>DFP</a:t>
            </a:r>
            <a:r>
              <a:rPr lang="zh-CN" altLang="en-US" dirty="0"/>
              <a:t>法可以解决牛顿法求解困难的问题。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0EBAE4-2D26-41B7-8753-730341E6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B874AC-7AAF-422E-B1C3-FE8BDCB3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292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6DEA-7924-467D-B1FA-2AE14C9D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8FE07F-B49C-4D74-957E-D9D3CADCC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基本思想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维函数，</a:t>
                </a:r>
                <a:r>
                  <a:rPr lang="en-US" altLang="zh-CN" dirty="0"/>
                  <a:t>Hessian</a:t>
                </a:r>
                <a:r>
                  <a:rPr lang="zh-CN" altLang="en-US" dirty="0"/>
                  <a:t>矩阵的逆矩阵计算是很困难的。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因此可以提出构造一个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阶方阵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，然后对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不断迭代，使其逼近</a:t>
                </a:r>
                <a:r>
                  <a:rPr lang="en-US" altLang="zh-CN" dirty="0"/>
                  <a:t>Hessian</a:t>
                </a:r>
                <a:r>
                  <a:rPr lang="zh-CN" altLang="en-US" dirty="0"/>
                  <a:t>矩阵的逆矩阵，这样的操作可以减少计算量。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D8FE07F-B49C-4D74-957E-D9D3CADCC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 r="-1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FAFC4A-3786-42E3-8B69-40F5D7AA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27EF6C-D801-4DDB-8EAE-F8A137A9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477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A7B0D-1902-4ECC-91F3-F592A476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744232-27B0-4DC6-89BB-EFCFE60C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C5FCA-7B29-4252-B41A-13BF52EC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FF9328-8BAF-4608-86A1-2A8207D4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B898F16-4E01-4B20-9404-259D5E8DA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998022"/>
              </p:ext>
            </p:extLst>
          </p:nvPr>
        </p:nvGraphicFramePr>
        <p:xfrm>
          <a:off x="1104900" y="2030413"/>
          <a:ext cx="760730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304560" progId="Equation.DSMT4">
                  <p:embed/>
                </p:oleObj>
              </mc:Choice>
              <mc:Fallback>
                <p:oleObj name="Equation" r:id="rId2" imgW="1981080" imgH="304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8F0C02D-F0D7-494D-997C-9BF0FC474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4900" y="2030413"/>
                        <a:ext cx="7607300" cy="1171575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E9F96F1-00B0-4274-B724-F57116A7D891}"/>
                  </a:ext>
                </a:extLst>
              </p:cNvPr>
              <p:cNvSpPr txBox="1"/>
              <p:nvPr/>
            </p:nvSpPr>
            <p:spPr>
              <a:xfrm>
                <a:off x="848544" y="3828896"/>
                <a:ext cx="8928992" cy="1512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其中：</a:t>
                </a:r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zh-CN" altLang="en-US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zh-CN" altLang="en-US" sz="2800" dirty="0"/>
                  <a:t>表示</a:t>
                </a:r>
                <a:r>
                  <a:rPr lang="en-US" altLang="zh-CN" sz="2800" dirty="0"/>
                  <a:t>DFP</a:t>
                </a:r>
                <a:r>
                  <a:rPr lang="zh-CN" altLang="en-US" sz="2800" dirty="0"/>
                  <a:t>法的搜索方向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在迭代过程中，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800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sz="2800" dirty="0"/>
                  <a:t>会不断变化，最终逼近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altLang="zh-CN" sz="2800" baseline="30000" dirty="0">
                    <a:solidFill>
                      <a:srgbClr val="FF0000"/>
                    </a:solidFill>
                  </a:rPr>
                  <a:t>-1</a:t>
                </a:r>
                <a:r>
                  <a:rPr lang="zh-CN" altLang="en-US" sz="2800" dirty="0"/>
                  <a:t>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E9F96F1-00B0-4274-B724-F57116A7D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44" y="3828896"/>
                <a:ext cx="8928992" cy="1512209"/>
              </a:xfrm>
              <a:prstGeom prst="rect">
                <a:avLst/>
              </a:prstGeom>
              <a:blipFill>
                <a:blip r:embed="rId4"/>
                <a:stretch>
                  <a:fillRect l="-1365" t="-2016" r="-273" b="-8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15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A7B0D-1902-4ECC-91F3-F592A476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744232-27B0-4DC6-89BB-EFCFE60C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C5FCA-7B29-4252-B41A-13BF52EC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FF9328-8BAF-4608-86A1-2A8207D4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B898F16-4E01-4B20-9404-259D5E8DA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478411"/>
              </p:ext>
            </p:extLst>
          </p:nvPr>
        </p:nvGraphicFramePr>
        <p:xfrm>
          <a:off x="1136577" y="2729571"/>
          <a:ext cx="6192688" cy="1078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304560" progId="Equation.DSMT4">
                  <p:embed/>
                </p:oleObj>
              </mc:Choice>
              <mc:Fallback>
                <p:oleObj name="Equation" r:id="rId2" imgW="175248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B898F16-4E01-4B20-9404-259D5E8DAF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6577" y="2729571"/>
                        <a:ext cx="6192688" cy="1078132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6770EFA-79F1-430C-A240-50C6F1B903A0}"/>
                  </a:ext>
                </a:extLst>
              </p:cNvPr>
              <p:cNvSpPr txBox="1"/>
              <p:nvPr/>
            </p:nvSpPr>
            <p:spPr>
              <a:xfrm>
                <a:off x="488504" y="1960557"/>
                <a:ext cx="4901598" cy="552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800" dirty="0"/>
                  <a:t>是单位矩阵，即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6770EFA-79F1-430C-A240-50C6F1B9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04" y="1960557"/>
                <a:ext cx="4901598" cy="552267"/>
              </a:xfrm>
              <a:prstGeom prst="rect">
                <a:avLst/>
              </a:prstGeom>
              <a:blipFill>
                <a:blip r:embed="rId5"/>
                <a:stretch>
                  <a:fillRect l="-2488" t="-6667" b="-3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爆炸形: 14 pt  7">
            <a:extLst>
              <a:ext uri="{FF2B5EF4-FFF2-40B4-BE49-F238E27FC236}">
                <a16:creationId xmlns:a16="http://schemas.microsoft.com/office/drawing/2014/main" id="{911C428B-D9D8-4B7D-B792-02832D545566}"/>
              </a:ext>
            </a:extLst>
          </p:cNvPr>
          <p:cNvSpPr/>
          <p:nvPr/>
        </p:nvSpPr>
        <p:spPr bwMode="auto">
          <a:xfrm>
            <a:off x="6537177" y="-157744"/>
            <a:ext cx="1584176" cy="2815306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>
                <a:solidFill>
                  <a:srgbClr val="C00000"/>
                </a:solidFill>
              </a:rPr>
              <a:t>梯度法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ACBBB2-0401-4337-9274-F2DB9C6BEB8A}"/>
                  </a:ext>
                </a:extLst>
              </p:cNvPr>
              <p:cNvSpPr txBox="1"/>
              <p:nvPr/>
            </p:nvSpPr>
            <p:spPr>
              <a:xfrm>
                <a:off x="488504" y="4001249"/>
                <a:ext cx="3854581" cy="671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/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8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800" dirty="0"/>
                  <a:t>时</a:t>
                </a:r>
                <a:endParaRPr lang="zh-CN" altLang="en-US" sz="2800" i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ACBBB2-0401-4337-9274-F2DB9C6BE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04" y="4001249"/>
                <a:ext cx="3854581" cy="671018"/>
              </a:xfrm>
              <a:prstGeom prst="rect">
                <a:avLst/>
              </a:prstGeom>
              <a:blipFill>
                <a:blip r:embed="rId6"/>
                <a:stretch>
                  <a:fillRect l="-3165" r="-221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3BC6022-79D9-4C54-AA95-E976F87A3C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096151"/>
              </p:ext>
            </p:extLst>
          </p:nvPr>
        </p:nvGraphicFramePr>
        <p:xfrm>
          <a:off x="1136577" y="4899960"/>
          <a:ext cx="8473956" cy="1206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90560" imgH="368280" progId="Equation.DSMT4">
                  <p:embed/>
                </p:oleObj>
              </mc:Choice>
              <mc:Fallback>
                <p:oleObj name="Equation" r:id="rId7" imgW="259056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B898F16-4E01-4B20-9404-259D5E8DAF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36577" y="4899960"/>
                        <a:ext cx="8473956" cy="1206122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思想气泡: 云 13">
            <a:extLst>
              <a:ext uri="{FF2B5EF4-FFF2-40B4-BE49-F238E27FC236}">
                <a16:creationId xmlns:a16="http://schemas.microsoft.com/office/drawing/2014/main" id="{C505660E-1716-40B2-B399-7A5795FFC137}"/>
              </a:ext>
            </a:extLst>
          </p:cNvPr>
          <p:cNvSpPr/>
          <p:nvPr/>
        </p:nvSpPr>
        <p:spPr bwMode="auto">
          <a:xfrm>
            <a:off x="6554091" y="3968504"/>
            <a:ext cx="2736305" cy="703956"/>
          </a:xfrm>
          <a:prstGeom prst="cloudCallout">
            <a:avLst>
              <a:gd name="adj1" fmla="val -64739"/>
              <a:gd name="adj2" fmla="val 636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/>
              <a:t>Newton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法</a:t>
            </a:r>
          </a:p>
        </p:txBody>
      </p:sp>
    </p:spTree>
    <p:extLst>
      <p:ext uri="{BB962C8B-B14F-4D97-AF65-F5344CB8AC3E}">
        <p14:creationId xmlns:p14="http://schemas.microsoft.com/office/powerpoint/2010/main" val="192857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A7B0D-1902-4ECC-91F3-F592A476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44232-27B0-4DC6-89BB-EFCFE60C3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变尺度矩阵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的构造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基本要求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44232-27B0-4DC6-89BB-EFCFE60C3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1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C5FCA-7B29-4252-B41A-13BF52EC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FF9328-8BAF-4608-86A1-2A8207D4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F87AED1-F678-4E5B-8BAE-348E055A827A}"/>
                  </a:ext>
                </a:extLst>
              </p:cNvPr>
              <p:cNvSpPr txBox="1"/>
              <p:nvPr/>
            </p:nvSpPr>
            <p:spPr>
              <a:xfrm>
                <a:off x="776536" y="2636912"/>
                <a:ext cx="8538363" cy="4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1.  </a:t>
                </a:r>
                <a:r>
                  <a:rPr lang="zh-CN" altLang="en-US" sz="2400" dirty="0"/>
                  <a:t>变尺度矩阵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必须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使得搜索方向是目标函数值下降的方向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F87AED1-F678-4E5B-8BAE-348E055A8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36" y="2636912"/>
                <a:ext cx="8538363" cy="486672"/>
              </a:xfrm>
              <a:prstGeom prst="rect">
                <a:avLst/>
              </a:prstGeom>
              <a:blipFill>
                <a:blip r:embed="rId4"/>
                <a:stretch>
                  <a:fillRect l="-1071" t="-5063" r="-143" b="-29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A329392-E915-4FF3-B663-C43314A267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536711"/>
              </p:ext>
            </p:extLst>
          </p:nvPr>
        </p:nvGraphicFramePr>
        <p:xfrm>
          <a:off x="2406650" y="4249738"/>
          <a:ext cx="38131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880" imgH="330120" progId="Equation.DSMT4">
                  <p:embed/>
                </p:oleObj>
              </mc:Choice>
              <mc:Fallback>
                <p:oleObj name="Equation" r:id="rId5" imgW="1307880" imgH="330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B898F16-4E01-4B20-9404-259D5E8DAF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06650" y="4249738"/>
                        <a:ext cx="3813175" cy="9652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577C5D8-91A6-436F-83DB-26C3070720A3}"/>
                  </a:ext>
                </a:extLst>
              </p:cNvPr>
              <p:cNvSpPr txBox="1"/>
              <p:nvPr/>
            </p:nvSpPr>
            <p:spPr>
              <a:xfrm>
                <a:off x="1192561" y="3313643"/>
                <a:ext cx="7920880" cy="856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由于负梯度方向是函数值下降方向，因此，对于任意的方向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，满足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577C5D8-91A6-436F-83DB-26C307072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561" y="3313643"/>
                <a:ext cx="7920880" cy="856004"/>
              </a:xfrm>
              <a:prstGeom prst="rect">
                <a:avLst/>
              </a:prstGeom>
              <a:blipFill>
                <a:blip r:embed="rId7"/>
                <a:stretch>
                  <a:fillRect l="-1232" t="-5714" b="-1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36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9A484-FBFD-4B4C-9B53-350F4EF6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  <a:r>
              <a:rPr lang="en-US" altLang="zh-CN" dirty="0"/>
              <a:t>——</a:t>
            </a:r>
            <a:r>
              <a:rPr lang="zh-CN" altLang="en-US" dirty="0"/>
              <a:t>基本要求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613669-B46D-43A4-9598-0257D9B4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A6E6C4-BD26-49AE-8DA4-C94C11EF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40D32B5-EF4A-49E1-BDB2-7741B3597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22923"/>
              </p:ext>
            </p:extLst>
          </p:nvPr>
        </p:nvGraphicFramePr>
        <p:xfrm>
          <a:off x="2432720" y="1182362"/>
          <a:ext cx="38131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330120" progId="Equation.DSMT4">
                  <p:embed/>
                </p:oleObj>
              </mc:Choice>
              <mc:Fallback>
                <p:oleObj name="Equation" r:id="rId2" imgW="130788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A329392-E915-4FF3-B663-C43314A267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2720" y="1182362"/>
                        <a:ext cx="3813175" cy="9652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D3D7034-C694-48DF-826C-AF864AA478AB}"/>
              </a:ext>
            </a:extLst>
          </p:cNvPr>
          <p:cNvSpPr txBox="1"/>
          <p:nvPr/>
        </p:nvSpPr>
        <p:spPr>
          <a:xfrm>
            <a:off x="488504" y="2377647"/>
            <a:ext cx="44935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对于</a:t>
            </a:r>
            <a:r>
              <a:rPr lang="en-US" altLang="zh-CN" sz="2800" dirty="0"/>
              <a:t>DFP</a:t>
            </a:r>
            <a:r>
              <a:rPr lang="zh-CN" altLang="en-US" sz="2800" dirty="0"/>
              <a:t>法，搜索方向为：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带入上面不等式：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4DC214A-6FB2-44D9-834B-E6E7F58AA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83824"/>
              </p:ext>
            </p:extLst>
          </p:nvPr>
        </p:nvGraphicFramePr>
        <p:xfrm>
          <a:off x="4808984" y="2276872"/>
          <a:ext cx="38131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304560" progId="Equation.DSMT4">
                  <p:embed/>
                </p:oleObj>
              </mc:Choice>
              <mc:Fallback>
                <p:oleObj name="Equation" r:id="rId4" imgW="130788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40D32B5-EF4A-49E1-BDB2-7741B3597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08984" y="2276872"/>
                        <a:ext cx="3813175" cy="892175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6676387-9ED8-457F-8B23-CBF23EEBB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969368"/>
              </p:ext>
            </p:extLst>
          </p:nvPr>
        </p:nvGraphicFramePr>
        <p:xfrm>
          <a:off x="2051496" y="3773136"/>
          <a:ext cx="551497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92160" imgH="368280" progId="Equation.DSMT4">
                  <p:embed/>
                </p:oleObj>
              </mc:Choice>
              <mc:Fallback>
                <p:oleObj name="Equation" r:id="rId6" imgW="189216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40D32B5-EF4A-49E1-BDB2-7741B3597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1496" y="3773136"/>
                        <a:ext cx="5514975" cy="1077912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9CBC1D6-1B43-4870-8333-183F49600FF0}"/>
                  </a:ext>
                </a:extLst>
              </p:cNvPr>
              <p:cNvSpPr/>
              <p:nvPr/>
            </p:nvSpPr>
            <p:spPr>
              <a:xfrm>
                <a:off x="1640632" y="5197585"/>
                <a:ext cx="5925839" cy="618246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200" dirty="0">
                    <a:solidFill>
                      <a:srgbClr val="C00000"/>
                    </a:solidFill>
                  </a:rPr>
                  <a:t>必须是实对称正定矩阵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9CBC1D6-1B43-4870-8333-183F49600F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632" y="5197585"/>
                <a:ext cx="5925839" cy="618246"/>
              </a:xfrm>
              <a:prstGeom prst="rect">
                <a:avLst/>
              </a:prstGeom>
              <a:blipFill>
                <a:blip r:embed="rId9"/>
                <a:stretch>
                  <a:fillRect t="-5825" b="-310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03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A7B0D-1902-4ECC-91F3-F592A476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44232-27B0-4DC6-89BB-EFCFE60C3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变尺度矩阵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的构造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基本要求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44232-27B0-4DC6-89BB-EFCFE60C3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1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C5FCA-7B29-4252-B41A-13BF52EC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FF9328-8BAF-4608-86A1-2A8207D4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F87AED1-F678-4E5B-8BAE-348E055A827A}"/>
                  </a:ext>
                </a:extLst>
              </p:cNvPr>
              <p:cNvSpPr txBox="1"/>
              <p:nvPr/>
            </p:nvSpPr>
            <p:spPr>
              <a:xfrm>
                <a:off x="776536" y="2636912"/>
                <a:ext cx="6503191" cy="588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2.  </a:t>
                </a:r>
                <a:r>
                  <a:rPr lang="zh-CN" altLang="en-US" sz="2400" dirty="0"/>
                  <a:t>变尺度矩阵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必须逐渐逼近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F87AED1-F678-4E5B-8BAE-348E055A8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36" y="2636912"/>
                <a:ext cx="6503191" cy="588494"/>
              </a:xfrm>
              <a:prstGeom prst="rect">
                <a:avLst/>
              </a:prstGeom>
              <a:blipFill>
                <a:blip r:embed="rId3"/>
                <a:stretch>
                  <a:fillRect l="-1406" r="-469" b="-19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0433E5E-FFD1-42D3-A1E3-C88FB620FB9E}"/>
                  </a:ext>
                </a:extLst>
              </p:cNvPr>
              <p:cNvSpPr txBox="1"/>
              <p:nvPr/>
            </p:nvSpPr>
            <p:spPr>
              <a:xfrm>
                <a:off x="1192561" y="3313643"/>
                <a:ext cx="7920880" cy="1594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要求随着迭代次数的增加，</a:t>
                </a:r>
                <a:r>
                  <a:rPr lang="en-US" altLang="zh-CN" sz="2400" dirty="0"/>
                  <a:t>DFP</a:t>
                </a:r>
                <a:r>
                  <a:rPr lang="zh-CN" altLang="en-US" sz="2400" dirty="0"/>
                  <a:t>法的搜索方向要逐渐逼近</a:t>
                </a:r>
                <a:r>
                  <a:rPr lang="en-US" altLang="zh-CN" sz="2400" dirty="0"/>
                  <a:t>Newton</a:t>
                </a:r>
                <a:r>
                  <a:rPr lang="zh-CN" altLang="en-US" sz="2400" dirty="0"/>
                  <a:t>方向。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满足以上需求的条件称为</a:t>
                </a:r>
                <a:r>
                  <a:rPr lang="en-US" altLang="zh-CN" sz="2400" dirty="0"/>
                  <a:t>DFP</a:t>
                </a:r>
                <a:r>
                  <a:rPr lang="zh-CN" altLang="en-US" sz="2400" dirty="0"/>
                  <a:t>条件。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0433E5E-FFD1-42D3-A1E3-C88FB620F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561" y="3313643"/>
                <a:ext cx="7920880" cy="1594667"/>
              </a:xfrm>
              <a:prstGeom prst="rect">
                <a:avLst/>
              </a:prstGeom>
              <a:blipFill>
                <a:blip r:embed="rId4"/>
                <a:stretch>
                  <a:fillRect l="-1232" t="-3065" b="-8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69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  <a:r>
              <a:rPr lang="en-US" altLang="zh-CN" dirty="0"/>
              <a:t>——</a:t>
            </a:r>
            <a:r>
              <a:rPr lang="zh-CN" altLang="en-US" dirty="0"/>
              <a:t>基本要求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DFP</a:t>
            </a:r>
            <a:r>
              <a:rPr lang="zh-CN" altLang="en-US" dirty="0"/>
              <a:t>条件）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B72C728-BADD-4320-A02F-BD9E510EBD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389401"/>
              </p:ext>
            </p:extLst>
          </p:nvPr>
        </p:nvGraphicFramePr>
        <p:xfrm>
          <a:off x="953452" y="1738477"/>
          <a:ext cx="7469187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680" imgH="787320" progId="Equation.DSMT4">
                  <p:embed/>
                </p:oleObj>
              </mc:Choice>
              <mc:Fallback>
                <p:oleObj name="Equation" r:id="rId2" imgW="313668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39339CF-E915-459C-A792-B9351F20EE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3452" y="1738477"/>
                        <a:ext cx="7469187" cy="187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BA3034A-06BF-4578-A878-B8D69685EA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481151"/>
              </p:ext>
            </p:extLst>
          </p:nvPr>
        </p:nvGraphicFramePr>
        <p:xfrm>
          <a:off x="1649413" y="3657600"/>
          <a:ext cx="6367462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9800" imgH="304560" progId="Equation.DSMT4">
                  <p:embed/>
                </p:oleObj>
              </mc:Choice>
              <mc:Fallback>
                <p:oleObj name="Equation" r:id="rId4" imgW="2539800" imgH="304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E64E552-86DC-4BEC-9C7B-EA2BF024D0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49413" y="3657600"/>
                        <a:ext cx="6367462" cy="763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C3843C-453C-4493-A285-C1878125496C}"/>
                  </a:ext>
                </a:extLst>
              </p:cNvPr>
              <p:cNvSpPr txBox="1"/>
              <p:nvPr/>
            </p:nvSpPr>
            <p:spPr>
              <a:xfrm>
                <a:off x="200472" y="1192651"/>
                <a:ext cx="3444020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维函数的二阶泰勒展开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梯度为：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处的梯度为：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3C3843C-453C-4493-A285-C18781254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1192651"/>
                <a:ext cx="3444020" cy="3785652"/>
              </a:xfrm>
              <a:prstGeom prst="rect">
                <a:avLst/>
              </a:prstGeom>
              <a:blipFill>
                <a:blip r:embed="rId7"/>
                <a:stretch>
                  <a:fillRect l="-2832" t="-1288" r="-1770" b="-3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2F10E66-C486-46A1-9D4C-A4B7A85BBB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19348"/>
              </p:ext>
            </p:extLst>
          </p:nvPr>
        </p:nvGraphicFramePr>
        <p:xfrm>
          <a:off x="1352265" y="5056846"/>
          <a:ext cx="71310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44720" imgH="304560" progId="Equation.DSMT4">
                  <p:embed/>
                </p:oleObj>
              </mc:Choice>
              <mc:Fallback>
                <p:oleObj name="Equation" r:id="rId8" imgW="2844720" imgH="304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BA3034A-06BF-4578-A878-B8D69685EA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52265" y="5056846"/>
                        <a:ext cx="7131050" cy="76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529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9B43EDA-0EAB-4E3B-BF93-679D09619C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121063"/>
              </p:ext>
            </p:extLst>
          </p:nvPr>
        </p:nvGraphicFramePr>
        <p:xfrm>
          <a:off x="387474" y="2738732"/>
          <a:ext cx="9390062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46160" imgH="736560" progId="Equation.DSMT4">
                  <p:embed/>
                </p:oleObj>
              </mc:Choice>
              <mc:Fallback>
                <p:oleObj name="Equation" r:id="rId2" imgW="374616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AD19B18-469A-49CC-A568-0DDC9C5C44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7474" y="2738732"/>
                        <a:ext cx="9390062" cy="184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  <a:r>
              <a:rPr lang="en-US" altLang="zh-CN" dirty="0"/>
              <a:t>——</a:t>
            </a:r>
            <a:r>
              <a:rPr lang="zh-CN" altLang="en-US" dirty="0"/>
              <a:t>基本要求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DFP</a:t>
            </a:r>
            <a:r>
              <a:rPr lang="zh-CN" altLang="en-US" dirty="0"/>
              <a:t>条件）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AD19B18-469A-49CC-A568-0DDC9C5C44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965736"/>
              </p:ext>
            </p:extLst>
          </p:nvPr>
        </p:nvGraphicFramePr>
        <p:xfrm>
          <a:off x="1352265" y="1196752"/>
          <a:ext cx="71310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4720" imgH="304560" progId="Equation.DSMT4">
                  <p:embed/>
                </p:oleObj>
              </mc:Choice>
              <mc:Fallback>
                <p:oleObj name="Equation" r:id="rId4" imgW="284472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2F10E66-C486-46A1-9D4C-A4B7A85BBB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52265" y="1196752"/>
                        <a:ext cx="7131050" cy="76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12C8D0-5684-45ED-9CEA-8E833308765D}"/>
                  </a:ext>
                </a:extLst>
              </p:cNvPr>
              <p:cNvSpPr txBox="1"/>
              <p:nvPr/>
            </p:nvSpPr>
            <p:spPr>
              <a:xfrm>
                <a:off x="222615" y="2060848"/>
                <a:ext cx="3600400" cy="588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两端同时乘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12C8D0-5684-45ED-9CEA-8E8333087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15" y="2060848"/>
                <a:ext cx="3600400" cy="588494"/>
              </a:xfrm>
              <a:prstGeom prst="rect">
                <a:avLst/>
              </a:prstGeom>
              <a:blipFill>
                <a:blip r:embed="rId7"/>
                <a:stretch>
                  <a:fillRect l="-2712" b="-18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BFE221D7-22DE-42CA-BF3E-D85B1BA43D83}"/>
              </a:ext>
            </a:extLst>
          </p:cNvPr>
          <p:cNvSpPr/>
          <p:nvPr/>
        </p:nvSpPr>
        <p:spPr bwMode="auto">
          <a:xfrm>
            <a:off x="4232920" y="3719931"/>
            <a:ext cx="3456384" cy="866652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6F0695-F9A9-443A-A73A-B68F570F2B51}"/>
              </a:ext>
            </a:extLst>
          </p:cNvPr>
          <p:cNvSpPr txBox="1"/>
          <p:nvPr/>
        </p:nvSpPr>
        <p:spPr>
          <a:xfrm>
            <a:off x="226847" y="4586582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移项整理得：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696CC06-B57D-467D-9352-3CD280153E24}"/>
              </a:ext>
            </a:extLst>
          </p:cNvPr>
          <p:cNvCxnSpPr/>
          <p:nvPr/>
        </p:nvCxnSpPr>
        <p:spPr bwMode="auto">
          <a:xfrm flipV="1">
            <a:off x="7689304" y="2852936"/>
            <a:ext cx="1008112" cy="8669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C5EBABF-5C63-4813-B6AB-93F6C84AD369}"/>
                  </a:ext>
                </a:extLst>
              </p:cNvPr>
              <p:cNvSpPr txBox="1"/>
              <p:nvPr/>
            </p:nvSpPr>
            <p:spPr>
              <a:xfrm>
                <a:off x="8188737" y="2418509"/>
                <a:ext cx="12817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FF"/>
                    </a:solidFill>
                  </a:rPr>
                  <a:t>单位阵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C5EBABF-5C63-4813-B6AB-93F6C84AD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37" y="2418509"/>
                <a:ext cx="1281745" cy="461665"/>
              </a:xfrm>
              <a:prstGeom prst="rect">
                <a:avLst/>
              </a:prstGeom>
              <a:blipFill>
                <a:blip r:embed="rId8"/>
                <a:stretch>
                  <a:fillRect l="-7109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EDE4D6D-9DA7-4368-8A5D-4ACED641A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596261"/>
              </p:ext>
            </p:extLst>
          </p:nvPr>
        </p:nvGraphicFramePr>
        <p:xfrm>
          <a:off x="1039813" y="5097363"/>
          <a:ext cx="8085137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25600" imgH="368280" progId="Equation.DSMT4">
                  <p:embed/>
                </p:oleObj>
              </mc:Choice>
              <mc:Fallback>
                <p:oleObj name="Equation" r:id="rId9" imgW="3225600" imgH="3682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9B43EDA-0EAB-4E3B-BF93-679D09619C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39813" y="5097363"/>
                        <a:ext cx="8085137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392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9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  <a:r>
              <a:rPr lang="en-US" altLang="zh-CN" dirty="0"/>
              <a:t>——</a:t>
            </a:r>
            <a:r>
              <a:rPr lang="zh-CN" altLang="en-US" dirty="0"/>
              <a:t>基本要求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DFP</a:t>
            </a:r>
            <a:r>
              <a:rPr lang="zh-CN" altLang="en-US" dirty="0"/>
              <a:t>条件）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DFB0EB9-2349-413D-96D3-A4E4E57C1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640005"/>
              </p:ext>
            </p:extLst>
          </p:nvPr>
        </p:nvGraphicFramePr>
        <p:xfrm>
          <a:off x="1039813" y="1196752"/>
          <a:ext cx="8085137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25600" imgH="368280" progId="Equation.DSMT4">
                  <p:embed/>
                </p:oleObj>
              </mc:Choice>
              <mc:Fallback>
                <p:oleObj name="Equation" r:id="rId2" imgW="3225600" imgH="3682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EDE4D6D-9DA7-4368-8A5D-4ACED641A0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9813" y="1196752"/>
                        <a:ext cx="8085137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D1F2F1B-2BB1-41F2-A211-9E2F23B7A0C3}"/>
              </a:ext>
            </a:extLst>
          </p:cNvPr>
          <p:cNvSpPr txBox="1"/>
          <p:nvPr/>
        </p:nvSpPr>
        <p:spPr>
          <a:xfrm>
            <a:off x="196900" y="2484636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令：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8811109-1237-4E68-A48C-22E4761DE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40621"/>
              </p:ext>
            </p:extLst>
          </p:nvPr>
        </p:nvGraphicFramePr>
        <p:xfrm>
          <a:off x="1024414" y="2358579"/>
          <a:ext cx="45847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634680" progId="Equation.DSMT4">
                  <p:embed/>
                </p:oleObj>
              </mc:Choice>
              <mc:Fallback>
                <p:oleObj name="Equation" r:id="rId4" imgW="1828800" imgH="6346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DFB0EB9-2349-413D-96D3-A4E4E57C1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4414" y="2358579"/>
                        <a:ext cx="4584700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34835D2-F360-49A6-A27F-6DA125DA8815}"/>
              </a:ext>
            </a:extLst>
          </p:cNvPr>
          <p:cNvSpPr txBox="1"/>
          <p:nvPr/>
        </p:nvSpPr>
        <p:spPr>
          <a:xfrm>
            <a:off x="207487" y="4282624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得到：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7D7B666-58D3-4A82-9ED3-EF7D1CB59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649187"/>
              </p:ext>
            </p:extLst>
          </p:nvPr>
        </p:nvGraphicFramePr>
        <p:xfrm>
          <a:off x="1136576" y="4000320"/>
          <a:ext cx="410686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368280" progId="Equation.DSMT4">
                  <p:embed/>
                </p:oleObj>
              </mc:Choice>
              <mc:Fallback>
                <p:oleObj name="Equation" r:id="rId6" imgW="163800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DFB0EB9-2349-413D-96D3-A4E4E57C1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36576" y="4000320"/>
                        <a:ext cx="4106862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234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  <a:r>
              <a:rPr lang="en-US" altLang="zh-CN" dirty="0"/>
              <a:t>——</a:t>
            </a:r>
            <a:r>
              <a:rPr lang="zh-CN" altLang="en-US" dirty="0"/>
              <a:t>基本要求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DFP</a:t>
            </a:r>
            <a:r>
              <a:rPr lang="zh-CN" altLang="en-US" dirty="0"/>
              <a:t>条件）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4835D2-F360-49A6-A27F-6DA125DA8815}"/>
                  </a:ext>
                </a:extLst>
              </p:cNvPr>
              <p:cNvSpPr txBox="1"/>
              <p:nvPr/>
            </p:nvSpPr>
            <p:spPr>
              <a:xfrm>
                <a:off x="84010" y="2348880"/>
                <a:ext cx="9189470" cy="1084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因此如果构造的变尺度矩阵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要满足逼近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/>
                  <a:t>，则令其迭代后的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替换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4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/>
                  <a:t>，其对应的</a:t>
                </a:r>
                <a:r>
                  <a:rPr lang="en-US" altLang="zh-CN" sz="2400" dirty="0"/>
                  <a:t>DFP</a:t>
                </a:r>
                <a:r>
                  <a:rPr lang="zh-CN" altLang="en-US" sz="2400" dirty="0"/>
                  <a:t>条件可以表示为：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4835D2-F360-49A6-A27F-6DA125DA8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0" y="2348880"/>
                <a:ext cx="9189470" cy="1084656"/>
              </a:xfrm>
              <a:prstGeom prst="rect">
                <a:avLst/>
              </a:prstGeom>
              <a:blipFill>
                <a:blip r:embed="rId3"/>
                <a:stretch>
                  <a:fillRect l="-1062" b="-95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7D7B666-58D3-4A82-9ED3-EF7D1CB59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696808"/>
              </p:ext>
            </p:extLst>
          </p:nvPr>
        </p:nvGraphicFramePr>
        <p:xfrm>
          <a:off x="1352600" y="1177289"/>
          <a:ext cx="410686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368280" progId="Equation.DSMT4">
                  <p:embed/>
                </p:oleObj>
              </mc:Choice>
              <mc:Fallback>
                <p:oleObj name="Equation" r:id="rId4" imgW="1638000" imgH="3682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7D7B666-58D3-4A82-9ED3-EF7D1CB59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52600" y="1177289"/>
                        <a:ext cx="4106862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11BE825-7372-4A7C-8DBF-FD65A1E7F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44065"/>
              </p:ext>
            </p:extLst>
          </p:nvPr>
        </p:nvGraphicFramePr>
        <p:xfrm>
          <a:off x="2385969" y="3717032"/>
          <a:ext cx="3409679" cy="75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241200" progId="Equation.DSMT4">
                  <p:embed/>
                </p:oleObj>
              </mc:Choice>
              <mc:Fallback>
                <p:oleObj name="Equation" r:id="rId6" imgW="1091880" imgH="241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7D7B666-58D3-4A82-9ED3-EF7D1CB59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85969" y="3717032"/>
                        <a:ext cx="3409679" cy="753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23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A7B0D-1902-4ECC-91F3-F592A476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44232-27B0-4DC6-89BB-EFCFE60C3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变尺度矩阵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dirty="0"/>
                  <a:t>的构造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基本要求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744232-27B0-4DC6-89BB-EFCFE60C3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15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C5FCA-7B29-4252-B41A-13BF52EC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FF9328-8BAF-4608-86A1-2A8207D4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F87AED1-F678-4E5B-8BAE-348E055A827A}"/>
                  </a:ext>
                </a:extLst>
              </p:cNvPr>
              <p:cNvSpPr txBox="1"/>
              <p:nvPr/>
            </p:nvSpPr>
            <p:spPr>
              <a:xfrm>
                <a:off x="776536" y="2636912"/>
                <a:ext cx="6691704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3.  </a:t>
                </a:r>
                <a:r>
                  <a:rPr lang="zh-CN" altLang="en-US" sz="2400" dirty="0"/>
                  <a:t>变尺度矩阵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必须可递推，方便迭代求解。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F87AED1-F678-4E5B-8BAE-348E055A8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36" y="2636912"/>
                <a:ext cx="6691704" cy="486672"/>
              </a:xfrm>
              <a:prstGeom prst="rect">
                <a:avLst/>
              </a:prstGeom>
              <a:blipFill>
                <a:blip r:embed="rId4"/>
                <a:stretch>
                  <a:fillRect l="-1366" t="-5063" r="-455" b="-29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CDA9148-727C-4FA7-8C2E-F9AC782DB69F}"/>
                  </a:ext>
                </a:extLst>
              </p:cNvPr>
              <p:cNvSpPr txBox="1"/>
              <p:nvPr/>
            </p:nvSpPr>
            <p:spPr>
              <a:xfrm>
                <a:off x="1188885" y="3339608"/>
                <a:ext cx="6663876" cy="1989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满足如下迭代公式：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则可以很方便的求解。 这里称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为校正矩阵。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CDA9148-727C-4FA7-8C2E-F9AC782DB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885" y="3339608"/>
                <a:ext cx="6663876" cy="1989006"/>
              </a:xfrm>
              <a:prstGeom prst="rect">
                <a:avLst/>
              </a:prstGeom>
              <a:blipFill>
                <a:blip r:embed="rId5"/>
                <a:stretch>
                  <a:fillRect l="-1372" t="-1227" r="-549" b="-6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E46C192-DB6D-426B-B435-9F4947D4B8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092125"/>
              </p:ext>
            </p:extLst>
          </p:nvPr>
        </p:nvGraphicFramePr>
        <p:xfrm>
          <a:off x="2288704" y="3939698"/>
          <a:ext cx="3251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120" imgH="203040" progId="Equation.DSMT4">
                  <p:embed/>
                </p:oleObj>
              </mc:Choice>
              <mc:Fallback>
                <p:oleObj name="Equation" r:id="rId6" imgW="104112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11BE825-7372-4A7C-8DBF-FD65A1E7FD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8704" y="3939698"/>
                        <a:ext cx="3251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5DAA8C2-2598-4B89-BA89-62A17820CC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211765"/>
              </p:ext>
            </p:extLst>
          </p:nvPr>
        </p:nvGraphicFramePr>
        <p:xfrm>
          <a:off x="6279842" y="3429000"/>
          <a:ext cx="297338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228600" progId="Equation.DSMT4">
                  <p:embed/>
                </p:oleObj>
              </mc:Choice>
              <mc:Fallback>
                <p:oleObj name="Equation" r:id="rId8" imgW="95220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E46C192-DB6D-426B-B435-9F4947D4B8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79842" y="3429000"/>
                        <a:ext cx="2973388" cy="71437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124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校正矩阵公式推导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4835D2-F360-49A6-A27F-6DA125DA8815}"/>
                  </a:ext>
                </a:extLst>
              </p:cNvPr>
              <p:cNvSpPr txBox="1"/>
              <p:nvPr/>
            </p:nvSpPr>
            <p:spPr>
              <a:xfrm>
                <a:off x="148284" y="4068545"/>
                <a:ext cx="9189470" cy="881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满足条件的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是有很多的，我们只需要找到其中一个就可以了。根据上式，如果消掉等式左边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，则可以表示为如下形式：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4835D2-F360-49A6-A27F-6DA125DA8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84" y="4068545"/>
                <a:ext cx="9189470" cy="881010"/>
              </a:xfrm>
              <a:prstGeom prst="rect">
                <a:avLst/>
              </a:prstGeom>
              <a:blipFill>
                <a:blip r:embed="rId3"/>
                <a:stretch>
                  <a:fillRect l="-995" t="-2759" b="-1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11BE825-7372-4A7C-8DBF-FD65A1E7F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529689"/>
              </p:ext>
            </p:extLst>
          </p:nvPr>
        </p:nvGraphicFramePr>
        <p:xfrm>
          <a:off x="1190976" y="1239992"/>
          <a:ext cx="3409679" cy="75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241200" progId="Equation.DSMT4">
                  <p:embed/>
                </p:oleObj>
              </mc:Choice>
              <mc:Fallback>
                <p:oleObj name="Equation" r:id="rId4" imgW="1091880" imgH="241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11BE825-7372-4A7C-8DBF-FD65A1E7FD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0976" y="1239992"/>
                        <a:ext cx="3409679" cy="753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8A86F0F-F57C-4B73-8362-D5A0F06EEA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639008"/>
              </p:ext>
            </p:extLst>
          </p:nvPr>
        </p:nvGraphicFramePr>
        <p:xfrm>
          <a:off x="5645308" y="1236208"/>
          <a:ext cx="3251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120" imgH="203040" progId="Equation.DSMT4">
                  <p:embed/>
                </p:oleObj>
              </mc:Choice>
              <mc:Fallback>
                <p:oleObj name="Equation" r:id="rId6" imgW="1041120" imgH="203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E46C192-DB6D-426B-B435-9F4947D4B8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45308" y="1236208"/>
                        <a:ext cx="3251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ED8CEDE-5D50-48EC-AC76-BE6C7FD60B9E}"/>
              </a:ext>
            </a:extLst>
          </p:cNvPr>
          <p:cNvSpPr txBox="1"/>
          <p:nvPr/>
        </p:nvSpPr>
        <p:spPr>
          <a:xfrm>
            <a:off x="128464" y="1362913"/>
            <a:ext cx="1498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已知：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F4F946-A6F5-4BED-A99D-D44F4E30050B}"/>
              </a:ext>
            </a:extLst>
          </p:cNvPr>
          <p:cNvSpPr txBox="1"/>
          <p:nvPr/>
        </p:nvSpPr>
        <p:spPr>
          <a:xfrm>
            <a:off x="148284" y="2252351"/>
            <a:ext cx="2788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后式带入前式：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A70F3FF-40B4-4136-98BE-D9EE9CAAB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220108"/>
              </p:ext>
            </p:extLst>
          </p:nvPr>
        </p:nvGraphicFramePr>
        <p:xfrm>
          <a:off x="2574131" y="2084557"/>
          <a:ext cx="47577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880" imgH="304560" progId="Equation.DSMT4">
                  <p:embed/>
                </p:oleObj>
              </mc:Choice>
              <mc:Fallback>
                <p:oleObj name="Equation" r:id="rId8" imgW="1523880" imgH="304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8A86F0F-F57C-4B73-8362-D5A0F06EE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74131" y="2084557"/>
                        <a:ext cx="4757738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3F9B16B4-3BA7-4FA5-9DAB-A6E83AD5D17D}"/>
              </a:ext>
            </a:extLst>
          </p:cNvPr>
          <p:cNvSpPr txBox="1"/>
          <p:nvPr/>
        </p:nvSpPr>
        <p:spPr>
          <a:xfrm>
            <a:off x="148284" y="3250406"/>
            <a:ext cx="2788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展开，整理：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EA20F6F-A4A3-47EB-A0AC-5B784A790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274802"/>
              </p:ext>
            </p:extLst>
          </p:nvPr>
        </p:nvGraphicFramePr>
        <p:xfrm>
          <a:off x="2280952" y="3104206"/>
          <a:ext cx="527367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88760" imgH="241200" progId="Equation.DSMT4">
                  <p:embed/>
                </p:oleObj>
              </mc:Choice>
              <mc:Fallback>
                <p:oleObj name="Equation" r:id="rId10" imgW="1688760" imgH="2412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A70F3FF-40B4-4136-98BE-D9EE9CAAB2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80952" y="3104206"/>
                        <a:ext cx="5273675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99C1591-09F1-48D3-99F7-EAB530D3E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671525"/>
              </p:ext>
            </p:extLst>
          </p:nvPr>
        </p:nvGraphicFramePr>
        <p:xfrm>
          <a:off x="1269714" y="4985305"/>
          <a:ext cx="72961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36760" imgH="342720" progId="Equation.DSMT4">
                  <p:embed/>
                </p:oleObj>
              </mc:Choice>
              <mc:Fallback>
                <p:oleObj name="Equation" r:id="rId12" imgW="233676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EA20F6F-A4A3-47EB-A0AC-5B784A790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69714" y="4985305"/>
                        <a:ext cx="7296150" cy="1071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807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B27F423-2485-4363-895F-C79B4E4711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568280"/>
              </p:ext>
            </p:extLst>
          </p:nvPr>
        </p:nvGraphicFramePr>
        <p:xfrm>
          <a:off x="704528" y="3479483"/>
          <a:ext cx="6107112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685800" progId="Equation.DSMT4">
                  <p:embed/>
                </p:oleObj>
              </mc:Choice>
              <mc:Fallback>
                <p:oleObj name="Equation" r:id="rId2" imgW="1955520" imgH="6858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99C1591-09F1-48D3-99F7-EAB530D3E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4528" y="3479483"/>
                        <a:ext cx="6107112" cy="214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校正矩阵公式推导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F9B16B4-3BA7-4FA5-9DAB-A6E83AD5D17D}"/>
                  </a:ext>
                </a:extLst>
              </p:cNvPr>
              <p:cNvSpPr txBox="1"/>
              <p:nvPr/>
            </p:nvSpPr>
            <p:spPr>
              <a:xfrm>
                <a:off x="176849" y="2958572"/>
                <a:ext cx="7469012" cy="4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 startAt="2"/>
                </a:pPr>
                <a:r>
                  <a:rPr lang="zh-CN" altLang="en-US" sz="2400" dirty="0"/>
                  <a:t>式两端同时乘以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，得：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F9B16B4-3BA7-4FA5-9DAB-A6E83AD5D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49" y="2958572"/>
                <a:ext cx="7469012" cy="486672"/>
              </a:xfrm>
              <a:prstGeom prst="rect">
                <a:avLst/>
              </a:prstGeom>
              <a:blipFill>
                <a:blip r:embed="rId5"/>
                <a:stretch>
                  <a:fillRect l="-1469" t="-12500" b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EA20F6F-A4A3-47EB-A0AC-5B784A790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83420"/>
              </p:ext>
            </p:extLst>
          </p:nvPr>
        </p:nvGraphicFramePr>
        <p:xfrm>
          <a:off x="835025" y="1163000"/>
          <a:ext cx="527367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241200" progId="Equation.DSMT4">
                  <p:embed/>
                </p:oleObj>
              </mc:Choice>
              <mc:Fallback>
                <p:oleObj name="Equation" r:id="rId6" imgW="1688760" imgH="2412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EA20F6F-A4A3-47EB-A0AC-5B784A790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5025" y="1163000"/>
                        <a:ext cx="5273675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99C1591-09F1-48D3-99F7-EAB530D3E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032411"/>
              </p:ext>
            </p:extLst>
          </p:nvPr>
        </p:nvGraphicFramePr>
        <p:xfrm>
          <a:off x="704528" y="1822369"/>
          <a:ext cx="72961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342720" progId="Equation.DSMT4">
                  <p:embed/>
                </p:oleObj>
              </mc:Choice>
              <mc:Fallback>
                <p:oleObj name="Equation" r:id="rId8" imgW="233676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99C1591-09F1-48D3-99F7-EAB530D3E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4528" y="1822369"/>
                        <a:ext cx="7296150" cy="1071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6508757-F8F7-476D-BFD7-58385CB087FC}"/>
              </a:ext>
            </a:extLst>
          </p:cNvPr>
          <p:cNvSpPr txBox="1"/>
          <p:nvPr/>
        </p:nvSpPr>
        <p:spPr>
          <a:xfrm>
            <a:off x="8429092" y="1219795"/>
            <a:ext cx="7008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zh-CN" sz="2400" dirty="0"/>
              <a:t> </a:t>
            </a:r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2400" dirty="0"/>
              <a:t>  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1B46DB-91AD-4ECF-8E54-691A3CFBF634}"/>
              </a:ext>
            </a:extLst>
          </p:cNvPr>
          <p:cNvSpPr/>
          <p:nvPr/>
        </p:nvSpPr>
        <p:spPr bwMode="auto">
          <a:xfrm>
            <a:off x="3797300" y="3509883"/>
            <a:ext cx="2578720" cy="99923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8FFEEA-BB2B-46E0-9BBC-791FE0A33512}"/>
              </a:ext>
            </a:extLst>
          </p:cNvPr>
          <p:cNvSpPr/>
          <p:nvPr/>
        </p:nvSpPr>
        <p:spPr bwMode="auto">
          <a:xfrm>
            <a:off x="4174480" y="4623371"/>
            <a:ext cx="2578720" cy="999237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9AC0CA-3B23-44C6-A38D-D7FA2B2B91AF}"/>
              </a:ext>
            </a:extLst>
          </p:cNvPr>
          <p:cNvSpPr txBox="1"/>
          <p:nvPr/>
        </p:nvSpPr>
        <p:spPr>
          <a:xfrm>
            <a:off x="8360179" y="4068546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值为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B6D4C9-E9E1-46D7-AF39-DDF43F2B9C59}"/>
              </a:ext>
            </a:extLst>
          </p:cNvPr>
          <p:cNvCxnSpPr/>
          <p:nvPr/>
        </p:nvCxnSpPr>
        <p:spPr bwMode="auto">
          <a:xfrm>
            <a:off x="6376020" y="3645024"/>
            <a:ext cx="1889348" cy="5166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BEBBEC0-3FE0-4865-924A-27F3A990F846}"/>
              </a:ext>
            </a:extLst>
          </p:cNvPr>
          <p:cNvCxnSpPr>
            <a:cxnSpLocks/>
          </p:cNvCxnSpPr>
          <p:nvPr/>
        </p:nvCxnSpPr>
        <p:spPr bwMode="auto">
          <a:xfrm flipV="1">
            <a:off x="6796951" y="4372340"/>
            <a:ext cx="1468417" cy="5198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456F7BE-5982-4AC4-94C4-927C149AB7D1}"/>
              </a:ext>
            </a:extLst>
          </p:cNvPr>
          <p:cNvSpPr txBox="1"/>
          <p:nvPr/>
        </p:nvSpPr>
        <p:spPr>
          <a:xfrm>
            <a:off x="7899132" y="3160110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zh-CN" altLang="en-US" sz="2400" dirty="0">
                <a:solidFill>
                  <a:srgbClr val="C00000"/>
                </a:solidFill>
              </a:rPr>
              <a:t>式对比</a:t>
            </a:r>
          </a:p>
        </p:txBody>
      </p:sp>
    </p:spTree>
    <p:extLst>
      <p:ext uri="{BB962C8B-B14F-4D97-AF65-F5344CB8AC3E}">
        <p14:creationId xmlns:p14="http://schemas.microsoft.com/office/powerpoint/2010/main" val="356898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 animBg="1"/>
      <p:bldP spid="20" grpId="0" animBg="1"/>
      <p:bldP spid="7" grpId="0"/>
      <p:bldP spid="2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校正矩阵公式推导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9B16B4-3BA7-4FA5-9DAB-A6E83AD5D17D}"/>
              </a:ext>
            </a:extLst>
          </p:cNvPr>
          <p:cNvSpPr txBox="1"/>
          <p:nvPr/>
        </p:nvSpPr>
        <p:spPr>
          <a:xfrm>
            <a:off x="200472" y="2514283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假设：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8923389-8DD0-46F3-910B-157F4F6B85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248822"/>
              </p:ext>
            </p:extLst>
          </p:nvPr>
        </p:nvGraphicFramePr>
        <p:xfrm>
          <a:off x="848544" y="1138625"/>
          <a:ext cx="76517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342720" progId="Equation.DSMT4">
                  <p:embed/>
                </p:oleObj>
              </mc:Choice>
              <mc:Fallback>
                <p:oleObj name="Equation" r:id="rId2" imgW="245088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CB27F423-2485-4363-895F-C79B4E4711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8544" y="1138625"/>
                        <a:ext cx="7651750" cy="1071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864FE8B-B29A-485F-831E-C0473F6F0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509385"/>
              </p:ext>
            </p:extLst>
          </p:nvPr>
        </p:nvGraphicFramePr>
        <p:xfrm>
          <a:off x="1213744" y="2368083"/>
          <a:ext cx="729615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36760" imgH="241200" progId="Equation.DSMT4">
                  <p:embed/>
                </p:oleObj>
              </mc:Choice>
              <mc:Fallback>
                <p:oleObj name="Equation" r:id="rId4" imgW="2336760" imgH="2412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98923389-8DD0-46F3-910B-157F4F6B85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3744" y="2368083"/>
                        <a:ext cx="7296150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9AF55DBA-E262-4224-AE4C-37A759E6026D}"/>
              </a:ext>
            </a:extLst>
          </p:cNvPr>
          <p:cNvSpPr txBox="1"/>
          <p:nvPr/>
        </p:nvSpPr>
        <p:spPr>
          <a:xfrm>
            <a:off x="200472" y="3225016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分别带入上面的公式：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B00E1FE-D14C-4FCA-8691-5445564B0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728982"/>
              </p:ext>
            </p:extLst>
          </p:nvPr>
        </p:nvGraphicFramePr>
        <p:xfrm>
          <a:off x="884548" y="3922617"/>
          <a:ext cx="5392737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685800" progId="Equation.DSMT4">
                  <p:embed/>
                </p:oleObj>
              </mc:Choice>
              <mc:Fallback>
                <p:oleObj name="Equation" r:id="rId6" imgW="1726920" imgH="6858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864FE8B-B29A-485F-831E-C0473F6F02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4548" y="3922617"/>
                        <a:ext cx="5392737" cy="214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549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校正矩阵公式推导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39</a:t>
            </a:fld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F55DBA-E262-4224-AE4C-37A759E6026D}"/>
              </a:ext>
            </a:extLst>
          </p:cNvPr>
          <p:cNvSpPr txBox="1"/>
          <p:nvPr/>
        </p:nvSpPr>
        <p:spPr>
          <a:xfrm>
            <a:off x="336673" y="3290610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带入得：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B00E1FE-D14C-4FCA-8691-5445564B0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371816"/>
              </p:ext>
            </p:extLst>
          </p:nvPr>
        </p:nvGraphicFramePr>
        <p:xfrm>
          <a:off x="336673" y="1098780"/>
          <a:ext cx="9440863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533160" progId="Equation.DSMT4">
                  <p:embed/>
                </p:oleObj>
              </mc:Choice>
              <mc:Fallback>
                <p:oleObj name="Equation" r:id="rId2" imgW="3022560" imgH="5331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7B00E1FE-D14C-4FCA-8691-5445564B03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6673" y="1098780"/>
                        <a:ext cx="9440863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D084F91-DEBE-4329-8E24-550C952F1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328961"/>
              </p:ext>
            </p:extLst>
          </p:nvPr>
        </p:nvGraphicFramePr>
        <p:xfrm>
          <a:off x="1712640" y="2858801"/>
          <a:ext cx="7373938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1143000" progId="Equation.DSMT4">
                  <p:embed/>
                </p:oleObj>
              </mc:Choice>
              <mc:Fallback>
                <p:oleObj name="Equation" r:id="rId4" imgW="2361960" imgH="11430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864FE8B-B29A-485F-831E-C0473F6F02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12640" y="2858801"/>
                        <a:ext cx="7373938" cy="357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0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286CB-97E7-452E-A816-F688305B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校正矩阵公式推导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AFDA-C0F2-4E65-87A5-6601E342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044" y="6533050"/>
            <a:ext cx="2311400" cy="271098"/>
          </a:xfrm>
        </p:spPr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67A70-BBC3-4F18-8D13-EA14BF4E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F55DBA-E262-4224-AE4C-37A759E6026D}"/>
                  </a:ext>
                </a:extLst>
              </p:cNvPr>
              <p:cNvSpPr txBox="1"/>
              <p:nvPr/>
            </p:nvSpPr>
            <p:spPr>
              <a:xfrm>
                <a:off x="200472" y="2379999"/>
                <a:ext cx="8712968" cy="4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带入上一页求得的得的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，得到</a:t>
                </a:r>
                <a:r>
                  <a:rPr lang="en-US" altLang="zh-CN" sz="2400" dirty="0"/>
                  <a:t>DFP</a:t>
                </a:r>
                <a:r>
                  <a:rPr lang="zh-CN" altLang="en-US" sz="2400" dirty="0"/>
                  <a:t>校正矩阵：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F55DBA-E262-4224-AE4C-37A759E6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2379999"/>
                <a:ext cx="8712968" cy="486672"/>
              </a:xfrm>
              <a:prstGeom prst="rect">
                <a:avLst/>
              </a:prstGeom>
              <a:blipFill>
                <a:blip r:embed="rId3"/>
                <a:stretch>
                  <a:fillRect l="-1120" t="-50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8B4B24E-7EF5-4E7E-B668-F7F46EB97D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034829"/>
              </p:ext>
            </p:extLst>
          </p:nvPr>
        </p:nvGraphicFramePr>
        <p:xfrm>
          <a:off x="992560" y="1140816"/>
          <a:ext cx="72961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36760" imgH="342720" progId="Equation.DSMT4">
                  <p:embed/>
                </p:oleObj>
              </mc:Choice>
              <mc:Fallback>
                <p:oleObj name="Equation" r:id="rId4" imgW="233676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99C1591-09F1-48D3-99F7-EAB530D3E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2560" y="1140816"/>
                        <a:ext cx="7296150" cy="1071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C4AE812-53A3-43D2-A552-DB2B7F0D1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546167"/>
              </p:ext>
            </p:extLst>
          </p:nvPr>
        </p:nvGraphicFramePr>
        <p:xfrm>
          <a:off x="476759" y="3097922"/>
          <a:ext cx="8882062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44720" imgH="660240" progId="Equation.DSMT4">
                  <p:embed/>
                </p:oleObj>
              </mc:Choice>
              <mc:Fallback>
                <p:oleObj name="Equation" r:id="rId6" imgW="2844720" imgH="6602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8B4B24E-7EF5-4E7E-B668-F7F46EB97D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6759" y="3097922"/>
                        <a:ext cx="8882062" cy="2063750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481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D1CAF-4DA4-4958-938D-39CAF7DE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AAF2D-4CBA-4CE7-8B36-EFDE98CC8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535F2-21B0-43A1-8739-3AED30A2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42B1E6-015F-41F1-8D7F-E75BF5C2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C4783FB-C0B0-46C0-A5EC-08FD983E0A93}"/>
                  </a:ext>
                </a:extLst>
              </p:cNvPr>
              <p:cNvSpPr txBox="1"/>
              <p:nvPr/>
            </p:nvSpPr>
            <p:spPr>
              <a:xfrm>
                <a:off x="344489" y="1916832"/>
                <a:ext cx="9649071" cy="4343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维多元函数，给定初始点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，收敛精度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阶单位矩阵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，计算梯度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搜索方向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进行一维搜索，求解最优步长因子和迭代点：</a:t>
                </a: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FontTx/>
                  <a:buAutoNum type="arabicPeriod" startAt="2"/>
                </a:pPr>
                <a:r>
                  <a:rPr lang="zh-CN" altLang="en-US" sz="2400" dirty="0"/>
                  <a:t>判断收敛精度：令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，如果满足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‖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‖≤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，则得到极值点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；否则继续下一步。</a:t>
                </a:r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C4783FB-C0B0-46C0-A5EC-08FD983E0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9" y="1916832"/>
                <a:ext cx="9649071" cy="4343881"/>
              </a:xfrm>
              <a:prstGeom prst="rect">
                <a:avLst/>
              </a:prstGeom>
              <a:blipFill>
                <a:blip r:embed="rId3"/>
                <a:stretch>
                  <a:fillRect l="-885" t="-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0E592A6-4C94-4123-9155-C8B0172E3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360145"/>
              </p:ext>
            </p:extLst>
          </p:nvPr>
        </p:nvGraphicFramePr>
        <p:xfrm>
          <a:off x="1720850" y="4365104"/>
          <a:ext cx="3232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215640" progId="Equation.DSMT4">
                  <p:embed/>
                </p:oleObj>
              </mc:Choice>
              <mc:Fallback>
                <p:oleObj name="Equation" r:id="rId4" imgW="1384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0850" y="4365104"/>
                        <a:ext cx="3232150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FEFDA2-0836-4EA6-9727-EE75199FC6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41081"/>
              </p:ext>
            </p:extLst>
          </p:nvPr>
        </p:nvGraphicFramePr>
        <p:xfrm>
          <a:off x="3416300" y="1854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198720" progId="Equation.DSMT4">
                  <p:embed/>
                </p:oleObj>
              </mc:Choice>
              <mc:Fallback>
                <p:oleObj name="Equation" r:id="rId6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16300" y="18542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163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D1CAF-4DA4-4958-938D-39CAF7DE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AAF2D-4CBA-4CE7-8B36-EFDE98CC8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535F2-21B0-43A1-8739-3AED30A2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42B1E6-015F-41F1-8D7F-E75BF5C2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C4783FB-C0B0-46C0-A5EC-08FD983E0A93}"/>
                  </a:ext>
                </a:extLst>
              </p:cNvPr>
              <p:cNvSpPr txBox="1"/>
              <p:nvPr/>
            </p:nvSpPr>
            <p:spPr>
              <a:xfrm>
                <a:off x="344489" y="1916832"/>
                <a:ext cx="9649071" cy="3097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5"/>
                </a:pPr>
                <a:r>
                  <a:rPr lang="zh-CN" altLang="en-US" sz="2400" dirty="0"/>
                  <a:t>检查迭代次数：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如果</a:t>
                </a:r>
                <a:r>
                  <a:rPr lang="en-US" altLang="zh-CN" sz="2400" dirty="0"/>
                  <a:t>k==n</a:t>
                </a:r>
                <a:r>
                  <a:rPr lang="zh-CN" altLang="en-US" sz="2400" dirty="0"/>
                  <a:t>，则令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2. </a:t>
                </a:r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如果</a:t>
                </a:r>
                <a:r>
                  <a:rPr lang="en-US" altLang="zh-CN" sz="2400" dirty="0"/>
                  <a:t>k &lt; n</a:t>
                </a:r>
                <a:r>
                  <a:rPr lang="zh-CN" altLang="en-US" sz="2400" dirty="0"/>
                  <a:t>，则继续下一步。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Font typeface="+mj-ea"/>
                  <a:buAutoNum type="arabicPeriod" startAt="5"/>
                </a:pPr>
                <a:r>
                  <a:rPr lang="zh-CN" altLang="en-US" sz="2400" dirty="0"/>
                  <a:t>构造新的搜索方向：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3.</a:t>
                </a:r>
                <a:endParaRPr lang="zh-CN" altLang="en-US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  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C4783FB-C0B0-46C0-A5EC-08FD983E0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9" y="1916832"/>
                <a:ext cx="9649071" cy="3097002"/>
              </a:xfrm>
              <a:prstGeom prst="rect">
                <a:avLst/>
              </a:prstGeom>
              <a:blipFill>
                <a:blip r:embed="rId2"/>
                <a:stretch>
                  <a:fillRect l="-885" t="-1575" b="-3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FEFDA2-0836-4EA6-9727-EE75199FC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0" y="1854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9FEFDA2-0836-4EA6-9727-EE75199FC6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6300" y="18542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思想气泡: 云 9">
            <a:extLst>
              <a:ext uri="{FF2B5EF4-FFF2-40B4-BE49-F238E27FC236}">
                <a16:creationId xmlns:a16="http://schemas.microsoft.com/office/drawing/2014/main" id="{84296870-26F1-4DC6-88D2-9D57E12A0798}"/>
              </a:ext>
            </a:extLst>
          </p:cNvPr>
          <p:cNvSpPr/>
          <p:nvPr/>
        </p:nvSpPr>
        <p:spPr bwMode="auto">
          <a:xfrm>
            <a:off x="4953000" y="260648"/>
            <a:ext cx="3312368" cy="1296144"/>
          </a:xfrm>
          <a:prstGeom prst="cloudCallout">
            <a:avLst>
              <a:gd name="adj1" fmla="val -116169"/>
              <a:gd name="adj2" fmla="val 115001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为了减少精度误差</a:t>
            </a:r>
          </a:p>
        </p:txBody>
      </p:sp>
    </p:spTree>
    <p:extLst>
      <p:ext uri="{BB962C8B-B14F-4D97-AF65-F5344CB8AC3E}">
        <p14:creationId xmlns:p14="http://schemas.microsoft.com/office/powerpoint/2010/main" val="419220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C52B2-36C1-4997-952D-730F6989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2367F-1CD4-4AF1-96AC-3CC953B3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A6FA01-8F98-4E48-95E7-A3D3A1DD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43</a:t>
            </a:fld>
            <a:endParaRPr lang="en-US" altLang="zh-CN" dirty="0"/>
          </a:p>
        </p:txBody>
      </p:sp>
      <p:pic>
        <p:nvPicPr>
          <p:cNvPr id="6" name="20 5">
            <a:extLst>
              <a:ext uri="{FF2B5EF4-FFF2-40B4-BE49-F238E27FC236}">
                <a16:creationId xmlns:a16="http://schemas.microsoft.com/office/drawing/2014/main" id="{9DC9F06B-D14C-42B8-8007-08A126FC1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70" y="1068613"/>
            <a:ext cx="9361040" cy="532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1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B7625-B7B9-4738-AB50-6BBD65C5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A305F0F-2DEE-40DD-96E2-90E83AA11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：（</a:t>
                </a:r>
                <a:r>
                  <a:rPr lang="en-US" altLang="zh-CN" dirty="0"/>
                  <a:t>P71-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4-7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DFP</a:t>
                </a:r>
                <a:r>
                  <a:rPr lang="zh-CN" altLang="en-US" dirty="0"/>
                  <a:t>法计算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已知初始点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，收敛精度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𝛜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dirty="0"/>
                  <a:t>，用</a:t>
                </a:r>
                <a:r>
                  <a:rPr lang="en-US" altLang="zh-CN" dirty="0"/>
                  <a:t>DFP</a:t>
                </a:r>
                <a:r>
                  <a:rPr lang="zh-CN" altLang="en-US" dirty="0"/>
                  <a:t>法求解下面无约束优化问题的极值点。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A305F0F-2DEE-40DD-96E2-90E83AA11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4AA271-FADD-4D5C-88E7-73E304CD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0B765F-0E88-4ED6-B024-8B25E510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B0D538B-6908-45F2-BC05-20C50159C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32936"/>
              </p:ext>
            </p:extLst>
          </p:nvPr>
        </p:nvGraphicFramePr>
        <p:xfrm>
          <a:off x="1213744" y="32849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67C6E8C-4E98-4C2C-90C7-4CF1799162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3744" y="32849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276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/>
              <p:nvPr/>
            </p:nvSpPr>
            <p:spPr>
              <a:xfrm>
                <a:off x="93254" y="1196752"/>
                <a:ext cx="9649071" cy="3550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维多元函数，给定初始点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，收敛精度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zh-CN" altLang="en-US" sz="2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阶单位矩阵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，计算梯度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搜索方向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4" y="1196752"/>
                <a:ext cx="9649071" cy="3550587"/>
              </a:xfrm>
              <a:prstGeom prst="rect">
                <a:avLst/>
              </a:prstGeom>
              <a:blipFill>
                <a:blip r:embed="rId4"/>
                <a:stretch>
                  <a:fillRect l="-821" t="-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366C133-0A1C-42D7-94D3-1914226DD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951211"/>
              </p:ext>
            </p:extLst>
          </p:nvPr>
        </p:nvGraphicFramePr>
        <p:xfrm>
          <a:off x="1049661" y="1688636"/>
          <a:ext cx="3576638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00200" imgH="457200" progId="Equation.DSMT4">
                  <p:embed/>
                </p:oleObj>
              </mc:Choice>
              <mc:Fallback>
                <p:oleObj name="Equation" r:id="rId5" imgW="1600200" imgH="457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B0D538B-6908-45F2-BC05-20C50159C1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9661" y="1688636"/>
                        <a:ext cx="3576638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7E24D2B-5FCB-48FD-8C97-5E7DFCACBD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977650"/>
              </p:ext>
            </p:extLst>
          </p:nvPr>
        </p:nvGraphicFramePr>
        <p:xfrm>
          <a:off x="1049661" y="3640057"/>
          <a:ext cx="8480425" cy="22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97280" imgH="990360" progId="Equation.DSMT4">
                  <p:embed/>
                </p:oleObj>
              </mc:Choice>
              <mc:Fallback>
                <p:oleObj name="Equation" r:id="rId7" imgW="3797280" imgH="990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366C133-0A1C-42D7-94D3-1914226DD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9661" y="3640057"/>
                        <a:ext cx="8480425" cy="221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821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/>
              <p:nvPr/>
            </p:nvSpPr>
            <p:spPr>
              <a:xfrm>
                <a:off x="93254" y="1196752"/>
                <a:ext cx="964907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3"/>
                </a:pPr>
                <a:r>
                  <a:rPr lang="zh-CN" altLang="en-US" sz="2400" dirty="0"/>
                  <a:t>进行一维搜索，求解最优步长因子和迭代点：</a:t>
                </a: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带入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函数，令一阶导数为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，解得：</a:t>
                </a: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4" y="1196752"/>
                <a:ext cx="9649071" cy="3785652"/>
              </a:xfrm>
              <a:prstGeom prst="rect">
                <a:avLst/>
              </a:prstGeom>
              <a:blipFill>
                <a:blip r:embed="rId5"/>
                <a:stretch>
                  <a:fillRect l="-821" t="-1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E8B5F7D-60DD-4D73-970E-A8686A544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936861"/>
              </p:ext>
            </p:extLst>
          </p:nvPr>
        </p:nvGraphicFramePr>
        <p:xfrm>
          <a:off x="848544" y="2597469"/>
          <a:ext cx="6892925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5920" imgH="533160" progId="Equation.DSMT4">
                  <p:embed/>
                </p:oleObj>
              </mc:Choice>
              <mc:Fallback>
                <p:oleObj name="Equation" r:id="rId6" imgW="3085920" imgH="533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7E24D2B-5FCB-48FD-8C97-5E7DFCACBD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8544" y="2597469"/>
                        <a:ext cx="6892925" cy="1192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4AFE1DF-0787-4666-A3E8-1AC369EE5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490699"/>
              </p:ext>
            </p:extLst>
          </p:nvPr>
        </p:nvGraphicFramePr>
        <p:xfrm>
          <a:off x="5889104" y="3874218"/>
          <a:ext cx="17303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457200" progId="Equation.DSMT4">
                  <p:embed/>
                </p:oleObj>
              </mc:Choice>
              <mc:Fallback>
                <p:oleObj name="Equation" r:id="rId8" imgW="774360" imgH="457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E8B5F7D-60DD-4D73-970E-A8686A5441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89104" y="3874218"/>
                        <a:ext cx="1730375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A398B31-87A2-4758-9DF1-0DF703E35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052817"/>
              </p:ext>
            </p:extLst>
          </p:nvPr>
        </p:nvGraphicFramePr>
        <p:xfrm>
          <a:off x="2138363" y="4864100"/>
          <a:ext cx="31781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2360" imgH="457200" progId="Equation.DSMT4">
                  <p:embed/>
                </p:oleObj>
              </mc:Choice>
              <mc:Fallback>
                <p:oleObj name="Equation" r:id="rId10" imgW="142236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4AFE1DF-0787-4666-A3E8-1AC369EE50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38363" y="4864100"/>
                        <a:ext cx="3178175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2E155FA-E9E1-45C7-9C01-68CDD60D88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978818"/>
              </p:ext>
            </p:extLst>
          </p:nvPr>
        </p:nvGraphicFramePr>
        <p:xfrm>
          <a:off x="848544" y="1878208"/>
          <a:ext cx="3232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215640" progId="Equation.DSMT4">
                  <p:embed/>
                </p:oleObj>
              </mc:Choice>
              <mc:Fallback>
                <p:oleObj name="Equation" r:id="rId12" imgW="1384200" imgH="215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0E592A6-4C94-4123-9155-C8B0172E3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48544" y="1878208"/>
                        <a:ext cx="3232150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005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/>
              <p:nvPr/>
            </p:nvSpPr>
            <p:spPr>
              <a:xfrm>
                <a:off x="93254" y="1196752"/>
                <a:ext cx="9649071" cy="4603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4"/>
                </a:pPr>
                <a:r>
                  <a:rPr lang="zh-CN" altLang="en-US" sz="2400" dirty="0"/>
                  <a:t>判断收敛精度：令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，如果满足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‖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‖≤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，则得到极值点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；否则继续下一步。</a:t>
                </a: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lvl="1"/>
                <a:r>
                  <a:rPr lang="zh-CN" altLang="en-US" sz="2400" dirty="0"/>
                  <a:t>继续下一步。</a:t>
                </a:r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4" y="1196752"/>
                <a:ext cx="9649071" cy="4603953"/>
              </a:xfrm>
              <a:prstGeom prst="rect">
                <a:avLst/>
              </a:prstGeom>
              <a:blipFill>
                <a:blip r:embed="rId5"/>
                <a:stretch>
                  <a:fillRect l="-821" t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490B0F-1B52-430A-B458-0A3984023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577436"/>
              </p:ext>
            </p:extLst>
          </p:nvPr>
        </p:nvGraphicFramePr>
        <p:xfrm>
          <a:off x="2263775" y="2305050"/>
          <a:ext cx="3063875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787320" progId="Equation.DSMT4">
                  <p:embed/>
                </p:oleObj>
              </mc:Choice>
              <mc:Fallback>
                <p:oleObj name="Equation" r:id="rId6" imgW="137160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A398B31-87A2-4758-9DF1-0DF703E35D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3775" y="2305050"/>
                        <a:ext cx="3063875" cy="1760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887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490B0F-1B52-430A-B458-0A3984023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996665"/>
              </p:ext>
            </p:extLst>
          </p:nvPr>
        </p:nvGraphicFramePr>
        <p:xfrm>
          <a:off x="920552" y="3148923"/>
          <a:ext cx="23558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431640" progId="Equation.DSMT4">
                  <p:embed/>
                </p:oleObj>
              </mc:Choice>
              <mc:Fallback>
                <p:oleObj name="Equation" r:id="rId4" imgW="1054080" imgH="431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490B0F-1B52-430A-B458-0A3984023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0552" y="3148923"/>
                        <a:ext cx="235585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/>
              <p:nvPr/>
            </p:nvSpPr>
            <p:spPr>
              <a:xfrm>
                <a:off x="256929" y="1196094"/>
                <a:ext cx="9649071" cy="2702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5"/>
                </a:pPr>
                <a:r>
                  <a:rPr lang="zh-CN" altLang="en-US" sz="2400" dirty="0"/>
                  <a:t>检查迭代次数：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如果</a:t>
                </a:r>
                <a:r>
                  <a:rPr lang="en-US" altLang="zh-CN" sz="2400" dirty="0"/>
                  <a:t>k==n</a:t>
                </a:r>
                <a:r>
                  <a:rPr lang="zh-CN" altLang="en-US" sz="2400" dirty="0"/>
                  <a:t>，则令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2. </a:t>
                </a:r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如果</a:t>
                </a:r>
                <a:r>
                  <a:rPr lang="en-US" altLang="zh-CN" sz="2400" dirty="0"/>
                  <a:t>k &lt; n</a:t>
                </a:r>
                <a:r>
                  <a:rPr lang="zh-CN" altLang="en-US" sz="2400" dirty="0"/>
                  <a:t>，则继续下一步。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Font typeface="+mj-ea"/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Font typeface="+mj-ea"/>
                  <a:buAutoNum type="arabicPeriod" startAt="5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9" y="1196094"/>
                <a:ext cx="9649071" cy="2702663"/>
              </a:xfrm>
              <a:prstGeom prst="rect">
                <a:avLst/>
              </a:prstGeom>
              <a:blipFill>
                <a:blip r:embed="rId7"/>
                <a:stretch>
                  <a:fillRect l="-821" t="-1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96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490B0F-1B52-430A-B458-0A3984023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045039"/>
              </p:ext>
            </p:extLst>
          </p:nvPr>
        </p:nvGraphicFramePr>
        <p:xfrm>
          <a:off x="1180149" y="2451558"/>
          <a:ext cx="6950075" cy="318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1480" imgH="1422360" progId="Equation.DSMT4">
                  <p:embed/>
                </p:oleObj>
              </mc:Choice>
              <mc:Fallback>
                <p:oleObj name="Equation" r:id="rId4" imgW="3111480" imgH="1422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490B0F-1B52-430A-B458-0A3984023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0149" y="2451558"/>
                        <a:ext cx="6950075" cy="318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/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6.  </a:t>
                </a:r>
                <a:r>
                  <a:rPr lang="zh-CN" altLang="en-US" sz="2400" dirty="0"/>
                  <a:t>构造新的搜索方向：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3.</a:t>
                </a:r>
                <a:endParaRPr lang="zh-CN" altLang="en-US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blipFill>
                <a:blip r:embed="rId6"/>
                <a:stretch>
                  <a:fillRect l="-948" t="-3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93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490B0F-1B52-430A-B458-0A3984023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209164"/>
              </p:ext>
            </p:extLst>
          </p:nvPr>
        </p:nvGraphicFramePr>
        <p:xfrm>
          <a:off x="1447800" y="3481388"/>
          <a:ext cx="5849938" cy="299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85920" imgH="1574640" progId="Equation.DSMT4">
                  <p:embed/>
                </p:oleObj>
              </mc:Choice>
              <mc:Fallback>
                <p:oleObj name="Equation" r:id="rId4" imgW="3085920" imgH="1574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490B0F-1B52-430A-B458-0A3984023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7800" y="3481388"/>
                        <a:ext cx="5849938" cy="299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/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6.  </a:t>
                </a:r>
                <a:r>
                  <a:rPr lang="zh-CN" altLang="en-US" sz="2400" dirty="0"/>
                  <a:t>构造新的搜索方向：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3.</a:t>
                </a:r>
                <a:endParaRPr lang="zh-CN" altLang="en-US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blipFill>
                <a:blip r:embed="rId6"/>
                <a:stretch>
                  <a:fillRect l="-948" t="-3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41475B6-FCB2-4022-AF4E-32C2ACAD37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551927"/>
              </p:ext>
            </p:extLst>
          </p:nvPr>
        </p:nvGraphicFramePr>
        <p:xfrm>
          <a:off x="1456593" y="2504885"/>
          <a:ext cx="5008576" cy="871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28720" imgH="457200" progId="Equation.DSMT4">
                  <p:embed/>
                </p:oleObj>
              </mc:Choice>
              <mc:Fallback>
                <p:oleObj name="Equation" r:id="rId7" imgW="2628720" imgH="457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490B0F-1B52-430A-B458-0A3984023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56593" y="2504885"/>
                        <a:ext cx="5008576" cy="871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581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490B0F-1B52-430A-B458-0A3984023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669710"/>
              </p:ext>
            </p:extLst>
          </p:nvPr>
        </p:nvGraphicFramePr>
        <p:xfrm>
          <a:off x="1429123" y="2455297"/>
          <a:ext cx="587375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520" imgH="914400" progId="Equation.DSMT4">
                  <p:embed/>
                </p:oleObj>
              </mc:Choice>
              <mc:Fallback>
                <p:oleObj name="Equation" r:id="rId4" imgW="3098520" imgH="914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490B0F-1B52-430A-B458-0A3984023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29123" y="2455297"/>
                        <a:ext cx="5873750" cy="173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/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6.  </a:t>
                </a:r>
                <a:r>
                  <a:rPr lang="zh-CN" altLang="en-US" sz="2400" dirty="0"/>
                  <a:t>构造新的搜索方向：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3.</a:t>
                </a:r>
                <a:endParaRPr lang="zh-CN" altLang="en-US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blipFill>
                <a:blip r:embed="rId6"/>
                <a:stretch>
                  <a:fillRect l="-948" t="-3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5009BF5-AE5A-4128-8B4B-3785814F9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229796"/>
              </p:ext>
            </p:extLst>
          </p:nvPr>
        </p:nvGraphicFramePr>
        <p:xfrm>
          <a:off x="1857375" y="4241800"/>
          <a:ext cx="7512050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62160" imgH="799920" progId="Equation.DSMT4">
                  <p:embed/>
                </p:oleObj>
              </mc:Choice>
              <mc:Fallback>
                <p:oleObj name="Equation" r:id="rId7" imgW="3962160" imgH="7999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490B0F-1B52-430A-B458-0A3984023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57375" y="4241800"/>
                        <a:ext cx="7512050" cy="151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7BD1D3A-E543-4BD9-9A0B-698230A4D9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323448"/>
              </p:ext>
            </p:extLst>
          </p:nvPr>
        </p:nvGraphicFramePr>
        <p:xfrm>
          <a:off x="1857375" y="5586997"/>
          <a:ext cx="2166937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457200" progId="Equation.DSMT4">
                  <p:embed/>
                </p:oleObj>
              </mc:Choice>
              <mc:Fallback>
                <p:oleObj name="Equation" r:id="rId9" imgW="114300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5009BF5-AE5A-4128-8B4B-3785814F9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57375" y="5586997"/>
                        <a:ext cx="2166937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847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/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6.  </a:t>
                </a:r>
                <a:r>
                  <a:rPr lang="zh-CN" altLang="en-US" sz="2400" dirty="0"/>
                  <a:t>构造新的搜索方向：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3.</a:t>
                </a:r>
                <a:endParaRPr lang="zh-CN" altLang="en-US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511CF4-4451-4EAC-A673-E9120B67A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29" y="1196094"/>
                <a:ext cx="9649071" cy="1619674"/>
              </a:xfrm>
              <a:prstGeom prst="rect">
                <a:avLst/>
              </a:prstGeom>
              <a:blipFill>
                <a:blip r:embed="rId4"/>
                <a:stretch>
                  <a:fillRect l="-948" t="-3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7BD1D3A-E543-4BD9-9A0B-698230A4D9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645811"/>
              </p:ext>
            </p:extLst>
          </p:nvPr>
        </p:nvGraphicFramePr>
        <p:xfrm>
          <a:off x="1520825" y="2492375"/>
          <a:ext cx="26955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457200" progId="Equation.DSMT4">
                  <p:embed/>
                </p:oleObj>
              </mc:Choice>
              <mc:Fallback>
                <p:oleObj name="Equation" r:id="rId5" imgW="1422360" imgH="457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7BD1D3A-E543-4BD9-9A0B-698230A4D9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0825" y="2492375"/>
                        <a:ext cx="2695575" cy="86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B40180B-7DEA-45F5-85CC-13712873D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356710"/>
              </p:ext>
            </p:extLst>
          </p:nvPr>
        </p:nvGraphicFramePr>
        <p:xfrm>
          <a:off x="1463675" y="3397250"/>
          <a:ext cx="698023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2800" imgH="457200" progId="Equation.DSMT4">
                  <p:embed/>
                </p:oleObj>
              </mc:Choice>
              <mc:Fallback>
                <p:oleObj name="Equation" r:id="rId7" imgW="3682800" imgH="457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490B0F-1B52-430A-B458-0A39840232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3675" y="3397250"/>
                        <a:ext cx="6980238" cy="86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7E1F643-8D2A-4EEC-847E-F979D528B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361749"/>
              </p:ext>
            </p:extLst>
          </p:nvPr>
        </p:nvGraphicFramePr>
        <p:xfrm>
          <a:off x="1463675" y="4412913"/>
          <a:ext cx="52212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55800" imgH="457200" progId="Equation.DSMT4">
                  <p:embed/>
                </p:oleObj>
              </mc:Choice>
              <mc:Fallback>
                <p:oleObj name="Equation" r:id="rId9" imgW="2755800" imgH="457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B40180B-7DEA-45F5-85CC-13712873D7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3675" y="4412913"/>
                        <a:ext cx="5221288" cy="86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E6B36AA-3B94-4749-90AE-C3B4103A5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774830"/>
              </p:ext>
            </p:extLst>
          </p:nvPr>
        </p:nvGraphicFramePr>
        <p:xfrm>
          <a:off x="1484313" y="5511800"/>
          <a:ext cx="51784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30240" imgH="215640" progId="Equation.DSMT4">
                  <p:embed/>
                </p:oleObj>
              </mc:Choice>
              <mc:Fallback>
                <p:oleObj name="Equation" r:id="rId11" imgW="2730240" imgH="2156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7E1F643-8D2A-4EEC-847E-F979D528B7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84313" y="5511800"/>
                        <a:ext cx="5178425" cy="40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71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4A4-D3EA-43E4-BFF7-EFEE705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87172-EF47-4DF5-9A2B-F8A1C7B5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21894-E12C-4E25-ABAB-91A451BD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87585A-473E-4BBC-AD03-15CE31DAC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787585A-473E-4BBC-AD03-15CE31DAC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/>
              <p:nvPr/>
            </p:nvSpPr>
            <p:spPr>
              <a:xfrm>
                <a:off x="93254" y="1196752"/>
                <a:ext cx="9649071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7.  </a:t>
                </a:r>
                <a:r>
                  <a:rPr lang="zh-CN" altLang="en-US" sz="2400" dirty="0"/>
                  <a:t>返回步骤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，进行第二轮一维搜索，求解最优步长因子和迭代点：</a:t>
                </a: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带入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函数，令一阶导数为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，解得：</a:t>
                </a: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EF0B62-FCE5-4E25-BE95-04B3C2281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4" y="1196752"/>
                <a:ext cx="9649071" cy="3416320"/>
              </a:xfrm>
              <a:prstGeom prst="rect">
                <a:avLst/>
              </a:prstGeom>
              <a:blipFill>
                <a:blip r:embed="rId5"/>
                <a:stretch>
                  <a:fillRect l="-948" t="-1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E8B5F7D-60DD-4D73-970E-A8686A544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316883"/>
              </p:ext>
            </p:extLst>
          </p:nvPr>
        </p:nvGraphicFramePr>
        <p:xfrm>
          <a:off x="848544" y="2354604"/>
          <a:ext cx="768667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41600" imgH="533160" progId="Equation.DSMT4">
                  <p:embed/>
                </p:oleObj>
              </mc:Choice>
              <mc:Fallback>
                <p:oleObj name="Equation" r:id="rId6" imgW="3441600" imgH="5331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E8B5F7D-60DD-4D73-970E-A8686A5441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8544" y="2354604"/>
                        <a:ext cx="7686675" cy="1192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4AFE1DF-0787-4666-A3E8-1AC369EE5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803477"/>
              </p:ext>
            </p:extLst>
          </p:nvPr>
        </p:nvGraphicFramePr>
        <p:xfrm>
          <a:off x="5995312" y="3546817"/>
          <a:ext cx="150336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40" imgH="457200" progId="Equation.DSMT4">
                  <p:embed/>
                </p:oleObj>
              </mc:Choice>
              <mc:Fallback>
                <p:oleObj name="Equation" r:id="rId8" imgW="672840" imgH="457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4AFE1DF-0787-4666-A3E8-1AC369EE50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95312" y="3546817"/>
                        <a:ext cx="1503362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A398B31-87A2-4758-9DF1-0DF703E35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343878"/>
              </p:ext>
            </p:extLst>
          </p:nvPr>
        </p:nvGraphicFramePr>
        <p:xfrm>
          <a:off x="1352600" y="4124864"/>
          <a:ext cx="30654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457200" progId="Equation.DSMT4">
                  <p:embed/>
                </p:oleObj>
              </mc:Choice>
              <mc:Fallback>
                <p:oleObj name="Equation" r:id="rId10" imgW="1371600" imgH="457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A398B31-87A2-4758-9DF1-0DF703E35D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52600" y="4124864"/>
                        <a:ext cx="3065463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2E155FA-E9E1-45C7-9C01-68CDD60D8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544" y="1878208"/>
          <a:ext cx="3232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215640" progId="Equation.DSMT4">
                  <p:embed/>
                </p:oleObj>
              </mc:Choice>
              <mc:Fallback>
                <p:oleObj name="Equation" r:id="rId12" imgW="1384200" imgH="2156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2E155FA-E9E1-45C7-9C01-68CDD60D8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48544" y="1878208"/>
                        <a:ext cx="3232150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E41ADC0-B2A4-430B-A0BC-406AADA71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593962"/>
              </p:ext>
            </p:extLst>
          </p:nvPr>
        </p:nvGraphicFramePr>
        <p:xfrm>
          <a:off x="1307946" y="5272426"/>
          <a:ext cx="30829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71600" imgH="330120" progId="Equation.DSMT4">
                  <p:embed/>
                </p:oleObj>
              </mc:Choice>
              <mc:Fallback>
                <p:oleObj name="Equation" r:id="rId14" imgW="1371600" imgH="3301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17AB78F-1E84-493B-A276-E74E028F0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07946" y="5272426"/>
                        <a:ext cx="3082925" cy="74295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箭头: 右 12">
            <a:extLst>
              <a:ext uri="{FF2B5EF4-FFF2-40B4-BE49-F238E27FC236}">
                <a16:creationId xmlns:a16="http://schemas.microsoft.com/office/drawing/2014/main" id="{1D17CCF4-B956-420D-AC1F-A27434B82C12}"/>
              </a:ext>
            </a:extLst>
          </p:cNvPr>
          <p:cNvSpPr/>
          <p:nvPr/>
        </p:nvSpPr>
        <p:spPr bwMode="auto">
          <a:xfrm>
            <a:off x="4691881" y="5373216"/>
            <a:ext cx="1118947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AE9AFC4-66FC-40A1-A213-9AD43E8979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839375"/>
              </p:ext>
            </p:extLst>
          </p:nvPr>
        </p:nvGraphicFramePr>
        <p:xfrm>
          <a:off x="6108700" y="5212465"/>
          <a:ext cx="13414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6880" imgH="457200" progId="Equation.DSMT4">
                  <p:embed/>
                </p:oleObj>
              </mc:Choice>
              <mc:Fallback>
                <p:oleObj name="Equation" r:id="rId16" imgW="596880" imgH="457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99794C0-BADD-46D4-B11E-BB223F66ED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108700" y="5212465"/>
                        <a:ext cx="1341438" cy="1028700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952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78212-6132-4521-B735-7E5D5AB5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DFP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B0ECD0-B2C3-41B7-A9E9-322852BB0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特点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A68EFD-6F47-41B4-AE76-D0172B0E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A48995-A974-44CE-A94F-14DADC92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54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C37CA3-C8F0-4EE3-851C-B2ADE14B929B}"/>
              </a:ext>
            </a:extLst>
          </p:cNvPr>
          <p:cNvSpPr txBox="1"/>
          <p:nvPr/>
        </p:nvSpPr>
        <p:spPr>
          <a:xfrm>
            <a:off x="704529" y="2035512"/>
            <a:ext cx="84249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收敛速度较快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每次搜索方向都是共轭的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便于迭代，方便递推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计算方便，无需计算</a:t>
            </a:r>
            <a:r>
              <a:rPr lang="en-US" altLang="zh-CN" sz="2800" dirty="0"/>
              <a:t>Hessian</a:t>
            </a:r>
            <a:r>
              <a:rPr lang="zh-CN" altLang="en-US" sz="2800" dirty="0"/>
              <a:t>和其逆矩阵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可能存在精度误差，可以利用其他变尺度法来弥补，如</a:t>
            </a:r>
            <a:r>
              <a:rPr lang="en-US" altLang="zh-CN" sz="2800" dirty="0"/>
              <a:t>BFGS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982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E8AC9-7A61-494E-BDCE-E0E91C18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无约束优化方法总结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D8E141-8302-428D-BAAF-8FA1547F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2022年12月3日星期六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1DFDA7-63F0-4E16-9DD3-88F7055C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55</a:t>
            </a:fld>
            <a:endParaRPr lang="en-US" altLang="zh-CN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5DB2446-741E-4A82-BFF5-8F755CB4F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020180"/>
              </p:ext>
            </p:extLst>
          </p:nvPr>
        </p:nvGraphicFramePr>
        <p:xfrm>
          <a:off x="58044" y="1530478"/>
          <a:ext cx="9719492" cy="41307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343">
                  <a:extLst>
                    <a:ext uri="{9D8B030D-6E8A-4147-A177-3AD203B41FA5}">
                      <a16:colId xmlns:a16="http://schemas.microsoft.com/office/drawing/2014/main" val="1498936909"/>
                    </a:ext>
                  </a:extLst>
                </a:gridCol>
                <a:gridCol w="4623210">
                  <a:extLst>
                    <a:ext uri="{9D8B030D-6E8A-4147-A177-3AD203B41FA5}">
                      <a16:colId xmlns:a16="http://schemas.microsoft.com/office/drawing/2014/main" val="3030578681"/>
                    </a:ext>
                  </a:extLst>
                </a:gridCol>
                <a:gridCol w="2859939">
                  <a:extLst>
                    <a:ext uri="{9D8B030D-6E8A-4147-A177-3AD203B41FA5}">
                      <a16:colId xmlns:a16="http://schemas.microsoft.com/office/drawing/2014/main" val="2814598704"/>
                    </a:ext>
                  </a:extLst>
                </a:gridCol>
              </a:tblGrid>
              <a:tr h="625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C00000"/>
                          </a:solidFill>
                        </a:rPr>
                        <a:t>方法名称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00FF"/>
                          </a:solidFill>
                        </a:rPr>
                        <a:t>特点和不足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CC3399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304462"/>
                  </a:ext>
                </a:extLst>
              </a:tr>
              <a:tr h="6255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Powell</a:t>
                      </a:r>
                      <a:r>
                        <a:rPr lang="zh-CN" altLang="en-US" sz="2000" dirty="0"/>
                        <a:t>法</a:t>
                      </a:r>
                      <a:endParaRPr lang="en-US" altLang="zh-CN" sz="2000" dirty="0"/>
                    </a:p>
                    <a:p>
                      <a:pPr algn="ctr"/>
                      <a:r>
                        <a:rPr lang="zh-CN" altLang="en-US" sz="2000" dirty="0"/>
                        <a:t>（共轭方向法）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不需要求导（多维），只需要计算函数值，具有二次收敛速度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维度较多时，收敛速度慢，适用于中小型问题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607832"/>
                  </a:ext>
                </a:extLst>
              </a:tr>
              <a:tr h="625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梯度法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迭代计算简单，存储量小，对初始值的要求较低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靠近极值点收敛慢，可能导致维度消失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19641"/>
                  </a:ext>
                </a:extLst>
              </a:tr>
              <a:tr h="625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FF0000"/>
                          </a:solidFill>
                        </a:rPr>
                        <a:t>共轭梯度法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计算简单，收敛速度快，解决了梯度法的维度消失问题，是常用的重要无约束优化方法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358454"/>
                  </a:ext>
                </a:extLst>
              </a:tr>
              <a:tr h="6255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牛顿法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收敛速度较快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计算复杂，对初始点要求较高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055123"/>
                  </a:ext>
                </a:extLst>
              </a:tr>
              <a:tr h="6255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DFP</a:t>
                      </a:r>
                      <a:endParaRPr lang="zh-CN" altLang="en-US" sz="2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适合高纬问题求解，收率速度快，效果好。但是存储量大，部分情况下可能导致数值不稳定，可用替代算法</a:t>
                      </a:r>
                      <a:r>
                        <a:rPr lang="en-US" altLang="zh-CN" sz="2000" dirty="0"/>
                        <a:t>BFGS</a:t>
                      </a:r>
                      <a:endParaRPr lang="zh-CN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103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95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10540</TotalTime>
  <Words>2246</Words>
  <Application>Microsoft Office PowerPoint</Application>
  <PresentationFormat>A4 纸张(210x297 毫米)</PresentationFormat>
  <Paragraphs>464</Paragraphs>
  <Slides>55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黑体</vt:lpstr>
      <vt:lpstr>宋体</vt:lpstr>
      <vt:lpstr>Microsoft Yahei</vt:lpstr>
      <vt:lpstr>Arial</vt:lpstr>
      <vt:lpstr>Cambria Math</vt:lpstr>
      <vt:lpstr>Times New Roman</vt:lpstr>
      <vt:lpstr>Wingdings</vt:lpstr>
      <vt:lpstr>Presentation</vt:lpstr>
      <vt:lpstr>Equation</vt:lpstr>
      <vt:lpstr>MathType 6.0 Equation</vt:lpstr>
      <vt:lpstr>最优化理论</vt:lpstr>
      <vt:lpstr>无约束优化方法</vt:lpstr>
      <vt:lpstr>Newton法</vt:lpstr>
      <vt:lpstr>基本Newton法</vt:lpstr>
      <vt:lpstr>基本Newton法</vt:lpstr>
      <vt:lpstr>基本Newton法</vt:lpstr>
      <vt:lpstr>基本Newton法</vt:lpstr>
      <vt:lpstr>基本Newton法</vt:lpstr>
      <vt:lpstr>基本Newton法</vt:lpstr>
      <vt:lpstr>基本Newton法（n维多元函数）分析</vt:lpstr>
      <vt:lpstr>基本Newton法（n维多元函数）分析</vt:lpstr>
      <vt:lpstr>基本Newton法</vt:lpstr>
      <vt:lpstr>例1：解</vt:lpstr>
      <vt:lpstr>例1：解</vt:lpstr>
      <vt:lpstr>基本Newton法</vt:lpstr>
      <vt:lpstr>阻尼Newton法</vt:lpstr>
      <vt:lpstr>阻尼Newton法</vt:lpstr>
      <vt:lpstr>阻尼Newton法</vt:lpstr>
      <vt:lpstr>阻尼Newton法</vt:lpstr>
      <vt:lpstr>例2：解</vt:lpstr>
      <vt:lpstr>例2：解</vt:lpstr>
      <vt:lpstr>例2：解</vt:lpstr>
      <vt:lpstr>PowerPoint 演示文稿</vt:lpstr>
      <vt:lpstr>DFP法</vt:lpstr>
      <vt:lpstr>DFP法</vt:lpstr>
      <vt:lpstr>DFP法</vt:lpstr>
      <vt:lpstr>DFP法</vt:lpstr>
      <vt:lpstr>DFP法</vt:lpstr>
      <vt:lpstr>DFP法——基本要求1</vt:lpstr>
      <vt:lpstr>DFP法</vt:lpstr>
      <vt:lpstr>DFP法——基本要求2（DFP条件）</vt:lpstr>
      <vt:lpstr>DFP法——基本要求2（DFP条件）</vt:lpstr>
      <vt:lpstr>DFP法——基本要求2（DFP条件）</vt:lpstr>
      <vt:lpstr>DFP法——基本要求2（DFP条件）</vt:lpstr>
      <vt:lpstr>DFP法</vt:lpstr>
      <vt:lpstr>DFP校正矩阵公式推导</vt:lpstr>
      <vt:lpstr>DFP校正矩阵公式推导</vt:lpstr>
      <vt:lpstr>DFP校正矩阵公式推导</vt:lpstr>
      <vt:lpstr>DFP校正矩阵公式推导</vt:lpstr>
      <vt:lpstr>DFP校正矩阵公式推导</vt:lpstr>
      <vt:lpstr>DFP法</vt:lpstr>
      <vt:lpstr>DFP法</vt:lpstr>
      <vt:lpstr>DFP法</vt:lpstr>
      <vt:lpstr>DFP法</vt:lpstr>
      <vt:lpstr>例3：解</vt:lpstr>
      <vt:lpstr>例3：解</vt:lpstr>
      <vt:lpstr>例3：解</vt:lpstr>
      <vt:lpstr>例3：解</vt:lpstr>
      <vt:lpstr>例3：解</vt:lpstr>
      <vt:lpstr>例3：解</vt:lpstr>
      <vt:lpstr>例3：解</vt:lpstr>
      <vt:lpstr>例3：解</vt:lpstr>
      <vt:lpstr>例3：解</vt:lpstr>
      <vt:lpstr>DFP法</vt:lpstr>
      <vt:lpstr>无约束优化方法总结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5300</cp:revision>
  <dcterms:created xsi:type="dcterms:W3CDTF">2016-10-01T05:27:09Z</dcterms:created>
  <dcterms:modified xsi:type="dcterms:W3CDTF">2022-12-03T04:57:14Z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