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45"/>
  </p:notesMasterIdLst>
  <p:handoutMasterIdLst>
    <p:handoutMasterId r:id="rId46"/>
  </p:handoutMasterIdLst>
  <p:sldIdLst>
    <p:sldId id="256" r:id="rId2"/>
    <p:sldId id="312" r:id="rId3"/>
    <p:sldId id="31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278" r:id="rId27"/>
    <p:sldId id="280" r:id="rId28"/>
    <p:sldId id="281" r:id="rId29"/>
    <p:sldId id="282" r:id="rId30"/>
    <p:sldId id="284" r:id="rId31"/>
    <p:sldId id="283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312"/>
            <p14:sldId id="313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9"/>
            <p14:sldId id="278"/>
            <p14:sldId id="280"/>
            <p14:sldId id="281"/>
            <p14:sldId id="282"/>
            <p14:sldId id="284"/>
            <p14:sldId id="283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66"/>
    <a:srgbClr val="CC3399"/>
    <a:srgbClr val="FFFFFF"/>
    <a:srgbClr val="30A040"/>
    <a:srgbClr val="0000CC"/>
    <a:srgbClr val="333399"/>
    <a:srgbClr val="000099"/>
    <a:srgbClr val="FF99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0" autoAdjust="0"/>
    <p:restoredTop sz="93826" autoAdjust="0"/>
  </p:normalViewPr>
  <p:slideViewPr>
    <p:cSldViewPr>
      <p:cViewPr varScale="1">
        <p:scale>
          <a:sx n="67" d="100"/>
          <a:sy n="67" d="100"/>
        </p:scale>
        <p:origin x="868" y="3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2022年10月4日星期二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2022年10月4日星期二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5.bin"/><Relationship Id="rId18" Type="http://schemas.openxmlformats.org/officeDocument/2006/relationships/oleObject" Target="../embeddings/oleObject7.bin"/><Relationship Id="rId3" Type="http://schemas.openxmlformats.org/officeDocument/2006/relationships/image" Target="../media/image11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png"/><Relationship Id="rId17" Type="http://schemas.openxmlformats.org/officeDocument/2006/relationships/image" Target="../media/image10.wmf"/><Relationship Id="rId16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8.wmf"/><Relationship Id="rId5" Type="http://schemas.openxmlformats.org/officeDocument/2006/relationships/image" Target="../media/image6.wmf"/><Relationship Id="rId15" Type="http://schemas.openxmlformats.org/officeDocument/2006/relationships/image" Target="../media/image1310.png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3.png"/><Relationship Id="rId1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image" Target="../media/image15.wmf"/><Relationship Id="rId18" Type="http://schemas.openxmlformats.org/officeDocument/2006/relationships/image" Target="../media/image16.wmf"/><Relationship Id="rId26" Type="http://schemas.openxmlformats.org/officeDocument/2006/relationships/image" Target="../media/image20.wmf"/><Relationship Id="rId3" Type="http://schemas.openxmlformats.org/officeDocument/2006/relationships/image" Target="../media/image26.png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9.bin"/><Relationship Id="rId12" Type="http://schemas.openxmlformats.org/officeDocument/2006/relationships/oleObject" Target="../embeddings/oleObject11.bin"/><Relationship Id="rId17" Type="http://schemas.openxmlformats.org/officeDocument/2006/relationships/oleObject" Target="../embeddings/oleObject13.bin"/><Relationship Id="rId25" Type="http://schemas.openxmlformats.org/officeDocument/2006/relationships/oleObject" Target="../embeddings/oleObject17.bin"/><Relationship Id="rId16" Type="http://schemas.openxmlformats.org/officeDocument/2006/relationships/image" Target="../media/image10.wmf"/><Relationship Id="rId20" Type="http://schemas.openxmlformats.org/officeDocument/2006/relationships/image" Target="../media/image17.wmf"/><Relationship Id="rId29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4.wmf"/><Relationship Id="rId24" Type="http://schemas.openxmlformats.org/officeDocument/2006/relationships/image" Target="../media/image19.wmf"/><Relationship Id="rId5" Type="http://schemas.openxmlformats.org/officeDocument/2006/relationships/image" Target="../media/image12.wmf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21.wmf"/><Relationship Id="rId10" Type="http://schemas.openxmlformats.org/officeDocument/2006/relationships/oleObject" Target="../embeddings/oleObject10.bin"/><Relationship Id="rId19" Type="http://schemas.openxmlformats.org/officeDocument/2006/relationships/oleObject" Target="../embeddings/oleObject14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8.png"/><Relationship Id="rId14" Type="http://schemas.openxmlformats.org/officeDocument/2006/relationships/image" Target="../media/image29.png"/><Relationship Id="rId22" Type="http://schemas.openxmlformats.org/officeDocument/2006/relationships/image" Target="../media/image18.wmf"/><Relationship Id="rId27" Type="http://schemas.openxmlformats.org/officeDocument/2006/relationships/oleObject" Target="../embeddings/oleObject18.bin"/><Relationship Id="rId30" Type="http://schemas.openxmlformats.org/officeDocument/2006/relationships/image" Target="../media/image2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.png"/><Relationship Id="rId3" Type="http://schemas.openxmlformats.org/officeDocument/2006/relationships/image" Target="../media/image23.png"/><Relationship Id="rId7" Type="http://schemas.openxmlformats.org/officeDocument/2006/relationships/image" Target="../media/image30.png"/><Relationship Id="rId12" Type="http://schemas.openxmlformats.org/officeDocument/2006/relationships/image" Target="../media/image35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5" Type="http://schemas.openxmlformats.org/officeDocument/2006/relationships/image" Target="../media/image270.png"/><Relationship Id="rId10" Type="http://schemas.openxmlformats.org/officeDocument/2006/relationships/image" Target="../media/image330.png"/><Relationship Id="rId4" Type="http://schemas.openxmlformats.org/officeDocument/2006/relationships/image" Target="../media/image24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30.wmf"/><Relationship Id="rId5" Type="http://schemas.openxmlformats.org/officeDocument/2006/relationships/image" Target="../media/image48.png"/><Relationship Id="rId10" Type="http://schemas.openxmlformats.org/officeDocument/2006/relationships/oleObject" Target="../embeddings/oleObject27.bin"/><Relationship Id="rId4" Type="http://schemas.openxmlformats.org/officeDocument/2006/relationships/image" Target="../media/image47.png"/><Relationship Id="rId9" Type="http://schemas.openxmlformats.org/officeDocument/2006/relationships/image" Target="../media/image2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4.png"/><Relationship Id="rId4" Type="http://schemas.openxmlformats.org/officeDocument/2006/relationships/image" Target="../media/image55.png"/><Relationship Id="rId9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4.png"/><Relationship Id="rId4" Type="http://schemas.openxmlformats.org/officeDocument/2006/relationships/image" Target="../media/image55.png"/><Relationship Id="rId9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55.png"/><Relationship Id="rId9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54.png"/><Relationship Id="rId7" Type="http://schemas.openxmlformats.org/officeDocument/2006/relationships/image" Target="../media/image7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79.png"/><Relationship Id="rId9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79.png"/><Relationship Id="rId9" Type="http://schemas.openxmlformats.org/officeDocument/2006/relationships/image" Target="../media/image8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78.png"/><Relationship Id="rId7" Type="http://schemas.openxmlformats.org/officeDocument/2006/relationships/image" Target="../media/image9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79.png"/><Relationship Id="rId9" Type="http://schemas.openxmlformats.org/officeDocument/2006/relationships/image" Target="../media/image9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78.png"/><Relationship Id="rId7" Type="http://schemas.openxmlformats.org/officeDocument/2006/relationships/image" Target="../media/image10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520.png"/><Relationship Id="rId7" Type="http://schemas.openxmlformats.org/officeDocument/2006/relationships/image" Target="../media/image107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600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image" Target="../media/image113.png"/><Relationship Id="rId21" Type="http://schemas.openxmlformats.org/officeDocument/2006/relationships/image" Target="../media/image131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" Type="http://schemas.openxmlformats.org/officeDocument/2006/relationships/image" Target="../media/image112.png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19" Type="http://schemas.openxmlformats.org/officeDocument/2006/relationships/image" Target="../media/image129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35.png"/><Relationship Id="rId5" Type="http://schemas.openxmlformats.org/officeDocument/2006/relationships/image" Target="../media/image132.png"/><Relationship Id="rId10" Type="http://schemas.openxmlformats.org/officeDocument/2006/relationships/image" Target="../media/image134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18" Type="http://schemas.openxmlformats.org/officeDocument/2006/relationships/image" Target="../media/image153.png"/><Relationship Id="rId3" Type="http://schemas.openxmlformats.org/officeDocument/2006/relationships/image" Target="../media/image137.png"/><Relationship Id="rId21" Type="http://schemas.openxmlformats.org/officeDocument/2006/relationships/image" Target="../media/image156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17" Type="http://schemas.openxmlformats.org/officeDocument/2006/relationships/image" Target="../media/image152.png"/><Relationship Id="rId2" Type="http://schemas.openxmlformats.org/officeDocument/2006/relationships/image" Target="../media/image136.png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5" Type="http://schemas.openxmlformats.org/officeDocument/2006/relationships/image" Target="../media/image150.png"/><Relationship Id="rId10" Type="http://schemas.openxmlformats.org/officeDocument/2006/relationships/image" Target="../media/image144.png"/><Relationship Id="rId19" Type="http://schemas.openxmlformats.org/officeDocument/2006/relationships/image" Target="../media/image15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18" Type="http://schemas.openxmlformats.org/officeDocument/2006/relationships/image" Target="../media/image153.png"/><Relationship Id="rId3" Type="http://schemas.openxmlformats.org/officeDocument/2006/relationships/image" Target="../media/image137.png"/><Relationship Id="rId21" Type="http://schemas.openxmlformats.org/officeDocument/2006/relationships/image" Target="../media/image156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17" Type="http://schemas.openxmlformats.org/officeDocument/2006/relationships/image" Target="../media/image152.png"/><Relationship Id="rId2" Type="http://schemas.openxmlformats.org/officeDocument/2006/relationships/image" Target="../media/image136.png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24" Type="http://schemas.openxmlformats.org/officeDocument/2006/relationships/image" Target="../media/image160.png"/><Relationship Id="rId5" Type="http://schemas.openxmlformats.org/officeDocument/2006/relationships/image" Target="../media/image139.png"/><Relationship Id="rId15" Type="http://schemas.openxmlformats.org/officeDocument/2006/relationships/image" Target="../media/image150.png"/><Relationship Id="rId23" Type="http://schemas.openxmlformats.org/officeDocument/2006/relationships/image" Target="../media/image159.png"/><Relationship Id="rId10" Type="http://schemas.openxmlformats.org/officeDocument/2006/relationships/image" Target="../media/image144.png"/><Relationship Id="rId19" Type="http://schemas.openxmlformats.org/officeDocument/2006/relationships/image" Target="../media/image15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58.png"/><Relationship Id="rId22" Type="http://schemas.openxmlformats.org/officeDocument/2006/relationships/image" Target="../media/image15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6" Type="http://schemas.openxmlformats.org/officeDocument/2006/relationships/image" Target="../media/image33.wmf"/><Relationship Id="rId3" Type="http://schemas.openxmlformats.org/officeDocument/2006/relationships/image" Target="../media/image137.png"/><Relationship Id="rId21" Type="http://schemas.openxmlformats.org/officeDocument/2006/relationships/oleObject" Target="../embeddings/oleObject28.bin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5.png"/><Relationship Id="rId25" Type="http://schemas.openxmlformats.org/officeDocument/2006/relationships/oleObject" Target="../embeddings/oleObject30.bin"/><Relationship Id="rId16" Type="http://schemas.openxmlformats.org/officeDocument/2006/relationships/image" Target="../media/image154.png"/><Relationship Id="rId20" Type="http://schemas.openxmlformats.org/officeDocument/2006/relationships/image" Target="../media/image161.png"/><Relationship Id="rId29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32.wmf"/><Relationship Id="rId5" Type="http://schemas.openxmlformats.org/officeDocument/2006/relationships/image" Target="../media/image140.png"/><Relationship Id="rId15" Type="http://schemas.openxmlformats.org/officeDocument/2006/relationships/image" Target="../media/image153.png"/><Relationship Id="rId23" Type="http://schemas.openxmlformats.org/officeDocument/2006/relationships/oleObject" Target="../embeddings/oleObject29.bin"/><Relationship Id="rId28" Type="http://schemas.openxmlformats.org/officeDocument/2006/relationships/image" Target="../media/image166.png"/><Relationship Id="rId10" Type="http://schemas.openxmlformats.org/officeDocument/2006/relationships/image" Target="../media/image145.png"/><Relationship Id="rId19" Type="http://schemas.openxmlformats.org/officeDocument/2006/relationships/image" Target="../media/image157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52.png"/><Relationship Id="rId22" Type="http://schemas.openxmlformats.org/officeDocument/2006/relationships/image" Target="../media/image31.wmf"/><Relationship Id="rId27" Type="http://schemas.openxmlformats.org/officeDocument/2006/relationships/image" Target="../media/image16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6" Type="http://schemas.openxmlformats.org/officeDocument/2006/relationships/image" Target="../media/image36.wmf"/><Relationship Id="rId3" Type="http://schemas.openxmlformats.org/officeDocument/2006/relationships/image" Target="../media/image137.png"/><Relationship Id="rId21" Type="http://schemas.openxmlformats.org/officeDocument/2006/relationships/oleObject" Target="../embeddings/oleObject31.bin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5.png"/><Relationship Id="rId25" Type="http://schemas.openxmlformats.org/officeDocument/2006/relationships/oleObject" Target="../embeddings/oleObject33.bin"/><Relationship Id="rId16" Type="http://schemas.openxmlformats.org/officeDocument/2006/relationships/image" Target="../media/image154.png"/><Relationship Id="rId20" Type="http://schemas.openxmlformats.org/officeDocument/2006/relationships/image" Target="../media/image160.png"/><Relationship Id="rId29" Type="http://schemas.openxmlformats.org/officeDocument/2006/relationships/image" Target="../media/image3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35.wmf"/><Relationship Id="rId5" Type="http://schemas.openxmlformats.org/officeDocument/2006/relationships/image" Target="../media/image140.png"/><Relationship Id="rId15" Type="http://schemas.openxmlformats.org/officeDocument/2006/relationships/image" Target="../media/image153.png"/><Relationship Id="rId23" Type="http://schemas.openxmlformats.org/officeDocument/2006/relationships/oleObject" Target="../embeddings/oleObject32.bin"/><Relationship Id="rId28" Type="http://schemas.openxmlformats.org/officeDocument/2006/relationships/oleObject" Target="../embeddings/oleObject34.bin"/><Relationship Id="rId10" Type="http://schemas.openxmlformats.org/officeDocument/2006/relationships/image" Target="../media/image145.png"/><Relationship Id="rId19" Type="http://schemas.openxmlformats.org/officeDocument/2006/relationships/image" Target="../media/image157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52.png"/><Relationship Id="rId22" Type="http://schemas.openxmlformats.org/officeDocument/2006/relationships/image" Target="../media/image34.wmf"/><Relationship Id="rId27" Type="http://schemas.openxmlformats.org/officeDocument/2006/relationships/image" Target="../media/image17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10" Type="http://schemas.openxmlformats.org/officeDocument/2006/relationships/image" Target="../media/image92.png"/><Relationship Id="rId4" Type="http://schemas.openxmlformats.org/officeDocument/2006/relationships/image" Target="../media/image175.png"/><Relationship Id="rId9" Type="http://schemas.openxmlformats.org/officeDocument/2006/relationships/image" Target="../media/image9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wmf"/><Relationship Id="rId4" Type="http://schemas.openxmlformats.org/officeDocument/2006/relationships/oleObject" Target="../embeddings/oleObject35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wmf"/><Relationship Id="rId4" Type="http://schemas.openxmlformats.org/officeDocument/2006/relationships/oleObject" Target="../embeddings/oleObject36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2342803" y="3877543"/>
            <a:ext cx="54938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一维搜索方法（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3600" dirty="0"/>
              <a:t>黄金分割法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360712" y="5157192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2022年10月4日星期二</a:t>
            </a:fld>
            <a:endParaRPr lang="zh-CN" alt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C88EF-15D6-4FD8-9836-7E659886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习题讲解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80CEE-DDB8-494D-9EE8-2C9EF312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0DBE9C-8F28-4FF7-920F-191A8559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36002C-3949-4B8A-B6F6-27E847F4B288}"/>
              </a:ext>
            </a:extLst>
          </p:cNvPr>
          <p:cNvSpPr/>
          <p:nvPr/>
        </p:nvSpPr>
        <p:spPr>
          <a:xfrm>
            <a:off x="272480" y="1268760"/>
            <a:ext cx="69445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请判断点</a:t>
            </a:r>
            <a:r>
              <a:rPr lang="en-US" altLang="zh-CN" sz="2800" dirty="0"/>
              <a:t>x*=[1,1]</a:t>
            </a:r>
            <a:r>
              <a:rPr lang="en-US" altLang="zh-CN" sz="2800" baseline="30000" dirty="0"/>
              <a:t>T</a:t>
            </a:r>
            <a:r>
              <a:rPr lang="zh-CN" altLang="en-US" sz="2800" dirty="0"/>
              <a:t>是否是下列问题的最优点</a:t>
            </a:r>
            <a:endParaRPr lang="en-US" altLang="zh-CN" sz="28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67962E7-07B1-4B0F-AD2E-7D1333074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685670"/>
              </p:ext>
            </p:extLst>
          </p:nvPr>
        </p:nvGraphicFramePr>
        <p:xfrm>
          <a:off x="1856656" y="2027977"/>
          <a:ext cx="5336969" cy="2121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787320" progId="Equation.DSMT4">
                  <p:embed/>
                </p:oleObj>
              </mc:Choice>
              <mc:Fallback>
                <p:oleObj name="Equation" r:id="rId2" imgW="198108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D80E68E-E452-4940-BA18-E676480BF9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56656" y="2027977"/>
                        <a:ext cx="5336969" cy="2121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2120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80CEE-DDB8-494D-9EE8-2C9EF312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0DBE9C-8F28-4FF7-920F-191A8559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AC6CED8-425F-4232-880F-B343CD5409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3040" y="53852"/>
          <a:ext cx="4261485" cy="1693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787320" progId="Equation.DSMT4">
                  <p:embed/>
                </p:oleObj>
              </mc:Choice>
              <mc:Fallback>
                <p:oleObj name="Equation" r:id="rId2" imgW="198108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AC6CED8-425F-4232-880F-B343CD5409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13040" y="53852"/>
                        <a:ext cx="4261485" cy="169366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902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一维搜索方法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hlinkClick r:id="rId2" action="ppaction://hlinksldjump"/>
              </a:rPr>
              <a:t>数值迭代法基本思想与迭代过程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hlinkClick r:id="rId3" action="ppaction://hlinksldjump"/>
              </a:rPr>
              <a:t>一维搜索方法概述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>
                <a:hlinkClick r:id="rId4" action="ppaction://hlinksldjump"/>
              </a:rPr>
              <a:t>0.618</a:t>
            </a:r>
            <a:r>
              <a:rPr lang="zh-CN" altLang="en-US" b="0" dirty="0">
                <a:hlinkClick r:id="rId4" action="ppaction://hlinksldjump"/>
              </a:rPr>
              <a:t>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hlinkClick r:id="" action="ppaction://noaction"/>
              </a:rPr>
              <a:t>二次插值法</a:t>
            </a:r>
            <a:endParaRPr lang="zh-CN" altLang="en-US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3484C-8DAE-4F53-8B9C-F37BA1EC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数值迭代法基本思想与迭代过程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53D4E3-8A72-4B90-B432-18E855DF1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优化设计方法分类：</a:t>
            </a:r>
            <a:endParaRPr lang="en-US" altLang="zh-CN" dirty="0"/>
          </a:p>
          <a:p>
            <a:pPr lvl="1"/>
            <a:r>
              <a:rPr lang="zh-CN" altLang="en-US" dirty="0"/>
              <a:t>数学解析法</a:t>
            </a:r>
            <a:endParaRPr lang="en-US" altLang="zh-CN" dirty="0"/>
          </a:p>
          <a:p>
            <a:pPr lvl="2"/>
            <a:r>
              <a:rPr lang="zh-CN" altLang="en-US" dirty="0"/>
              <a:t>优点：</a:t>
            </a:r>
            <a:r>
              <a:rPr lang="zh-CN" altLang="en-US" dirty="0">
                <a:solidFill>
                  <a:srgbClr val="FF0000"/>
                </a:solidFill>
              </a:rPr>
              <a:t>理论成熟</a:t>
            </a:r>
            <a:r>
              <a:rPr lang="zh-CN" altLang="en-US" dirty="0"/>
              <a:t>、可以求解最优值（理论上可证明是最优）</a:t>
            </a:r>
            <a:endParaRPr lang="en-US" altLang="zh-CN" dirty="0"/>
          </a:p>
          <a:p>
            <a:pPr lvl="2"/>
            <a:r>
              <a:rPr lang="zh-CN" altLang="en-US" dirty="0"/>
              <a:t>缺点：</a:t>
            </a:r>
            <a:r>
              <a:rPr lang="zh-CN" altLang="en-US" dirty="0">
                <a:solidFill>
                  <a:srgbClr val="0000FF"/>
                </a:solidFill>
              </a:rPr>
              <a:t>计算复杂</a:t>
            </a:r>
            <a:r>
              <a:rPr lang="zh-CN" altLang="en-US" dirty="0"/>
              <a:t>，实际应用受限</a:t>
            </a:r>
            <a:endParaRPr lang="en-US" altLang="zh-CN" dirty="0"/>
          </a:p>
          <a:p>
            <a:pPr lvl="1"/>
            <a:r>
              <a:rPr lang="zh-CN" altLang="en-US" dirty="0"/>
              <a:t>数值法（迭代法）</a:t>
            </a:r>
            <a:endParaRPr lang="en-US" altLang="zh-CN" dirty="0"/>
          </a:p>
          <a:p>
            <a:pPr lvl="2"/>
            <a:r>
              <a:rPr lang="zh-CN" altLang="en-US" dirty="0"/>
              <a:t>优点：</a:t>
            </a:r>
            <a:r>
              <a:rPr lang="zh-CN" altLang="en-US" dirty="0">
                <a:solidFill>
                  <a:srgbClr val="FF0000"/>
                </a:solidFill>
              </a:rPr>
              <a:t>设计简单、利用计算机可快速求解</a:t>
            </a:r>
            <a:r>
              <a:rPr lang="zh-CN" altLang="en-US" dirty="0"/>
              <a:t>、实际应用广泛</a:t>
            </a:r>
            <a:endParaRPr lang="en-US" altLang="zh-CN" dirty="0"/>
          </a:p>
          <a:p>
            <a:pPr lvl="2"/>
            <a:r>
              <a:rPr lang="zh-CN" altLang="en-US" dirty="0"/>
              <a:t>缺点：</a:t>
            </a:r>
            <a:r>
              <a:rPr lang="zh-CN" altLang="en-US" dirty="0">
                <a:solidFill>
                  <a:srgbClr val="0000FF"/>
                </a:solidFill>
              </a:rPr>
              <a:t>往往并不能求得最优解</a:t>
            </a:r>
            <a:r>
              <a:rPr lang="zh-CN" altLang="en-US" dirty="0"/>
              <a:t>（可求得近似解）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ECBC2C-F67E-40BD-AD06-907357F4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CCF577-094A-4A80-BDB1-DC853699F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902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D69FB-09E4-4AB3-B54C-726E5A6D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数值迭代法基本思想与迭代过程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B4AB26-A27C-4620-AF8A-B950AFE0C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搜索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选择合适的搜索方向和步长进行数值搜索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迭代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一步步重复搜索过程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C3399"/>
                </a:solidFill>
              </a:rPr>
              <a:t>逼近</a:t>
            </a:r>
            <a:endParaRPr lang="en-US" altLang="zh-CN" dirty="0">
              <a:solidFill>
                <a:srgbClr val="CC3399"/>
              </a:solidFill>
            </a:endParaRPr>
          </a:p>
          <a:p>
            <a:pPr lvl="2"/>
            <a:r>
              <a:rPr lang="zh-CN" altLang="en-US" dirty="0"/>
              <a:t>根据设计的目标条件，逼近最终的目标最优解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DB52B-7E02-4713-AC7D-1C503748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A0C8DD-87CD-41FF-B785-6C25FD80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p:sp>
        <p:nvSpPr>
          <p:cNvPr id="6" name="爆炸形: 14 pt  5">
            <a:extLst>
              <a:ext uri="{FF2B5EF4-FFF2-40B4-BE49-F238E27FC236}">
                <a16:creationId xmlns:a16="http://schemas.microsoft.com/office/drawing/2014/main" id="{A09D0930-624F-45EA-BEE3-53E5B8BE61A8}"/>
              </a:ext>
            </a:extLst>
          </p:cNvPr>
          <p:cNvSpPr/>
          <p:nvPr/>
        </p:nvSpPr>
        <p:spPr bwMode="auto">
          <a:xfrm>
            <a:off x="2616312" y="961996"/>
            <a:ext cx="6984776" cy="1656184"/>
          </a:xfrm>
          <a:prstGeom prst="irregularSeal2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步步下降、步步逼近、最终逼近最优点</a:t>
            </a:r>
          </a:p>
        </p:txBody>
      </p:sp>
    </p:spTree>
    <p:extLst>
      <p:ext uri="{BB962C8B-B14F-4D97-AF65-F5344CB8AC3E}">
        <p14:creationId xmlns:p14="http://schemas.microsoft.com/office/powerpoint/2010/main" val="293759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508B8-FDF6-48D6-B56D-0C79A1A3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数值迭代的基本公式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C2AEF9-7FE2-4AA7-80E3-42E22687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D4B776-975B-4AB7-A677-AA7655499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F687950B-1414-4E73-971E-023F08B6E092}"/>
              </a:ext>
            </a:extLst>
          </p:cNvPr>
          <p:cNvSpPr/>
          <p:nvPr/>
        </p:nvSpPr>
        <p:spPr bwMode="auto">
          <a:xfrm>
            <a:off x="6799836" y="3039105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1A19C3C-8B61-41CF-AE78-1F86C6E75E7C}"/>
              </a:ext>
            </a:extLst>
          </p:cNvPr>
          <p:cNvSpPr/>
          <p:nvPr/>
        </p:nvSpPr>
        <p:spPr bwMode="auto">
          <a:xfrm>
            <a:off x="5861397" y="2739793"/>
            <a:ext cx="2098485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4DB05ED-DDFA-4EED-AAD5-766EDB725A3A}"/>
              </a:ext>
            </a:extLst>
          </p:cNvPr>
          <p:cNvSpPr/>
          <p:nvPr/>
        </p:nvSpPr>
        <p:spPr bwMode="auto">
          <a:xfrm>
            <a:off x="5385048" y="2276872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43838AD-2EEF-44A4-A144-85C5E1ECAF88}"/>
              </a:ext>
            </a:extLst>
          </p:cNvPr>
          <p:cNvSpPr/>
          <p:nvPr/>
        </p:nvSpPr>
        <p:spPr bwMode="auto">
          <a:xfrm>
            <a:off x="4952999" y="1958137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A1C2220-9CE1-4476-B2E1-4E6996EE3F79}"/>
              </a:ext>
            </a:extLst>
          </p:cNvPr>
          <p:cNvSpPr/>
          <p:nvPr/>
        </p:nvSpPr>
        <p:spPr bwMode="auto">
          <a:xfrm>
            <a:off x="4520952" y="1628800"/>
            <a:ext cx="5040560" cy="309634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11B0C1B-0FCA-4918-A3DF-B1D7D3038599}"/>
                  </a:ext>
                </a:extLst>
              </p:cNvPr>
              <p:cNvSpPr txBox="1"/>
              <p:nvPr/>
            </p:nvSpPr>
            <p:spPr>
              <a:xfrm>
                <a:off x="128464" y="1260339"/>
                <a:ext cx="6192688" cy="4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对于函数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为可行域上某一点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11B0C1B-0FCA-4918-A3DF-B1D7D3038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64" y="1260339"/>
                <a:ext cx="6192688" cy="486672"/>
              </a:xfrm>
              <a:prstGeom prst="rect">
                <a:avLst/>
              </a:prstGeom>
              <a:blipFill>
                <a:blip r:embed="rId3"/>
                <a:stretch>
                  <a:fillRect l="-1476" t="-50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0DF4A30-E275-4463-A807-78936BA06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309105"/>
              </p:ext>
            </p:extLst>
          </p:nvPr>
        </p:nvGraphicFramePr>
        <p:xfrm>
          <a:off x="4162425" y="3959225"/>
          <a:ext cx="5730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2425" y="3959225"/>
                        <a:ext cx="573088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424BAB03-83E6-4A42-B1EB-2BB61E4A614F}"/>
              </a:ext>
            </a:extLst>
          </p:cNvPr>
          <p:cNvSpPr/>
          <p:nvPr/>
        </p:nvSpPr>
        <p:spPr bwMode="auto">
          <a:xfrm>
            <a:off x="4981546" y="4059766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D750714-61A7-40C0-85B2-4C45F8B53A46}"/>
                  </a:ext>
                </a:extLst>
              </p:cNvPr>
              <p:cNvSpPr txBox="1"/>
              <p:nvPr/>
            </p:nvSpPr>
            <p:spPr>
              <a:xfrm>
                <a:off x="134210" y="1927744"/>
                <a:ext cx="3954693" cy="1275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出发，进行搜索，到达下一个点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满足</a:t>
                </a:r>
                <a:r>
                  <a:rPr lang="en-US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baseline="30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D750714-61A7-40C0-85B2-4C45F8B5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10" y="1927744"/>
                <a:ext cx="3954693" cy="1275349"/>
              </a:xfrm>
              <a:prstGeom prst="rect">
                <a:avLst/>
              </a:prstGeom>
              <a:blipFill>
                <a:blip r:embed="rId6"/>
                <a:stretch>
                  <a:fillRect l="-2773" t="-4785" r="-2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050DAA6-7CAA-4B72-A395-B06BC57C3BBE}"/>
              </a:ext>
            </a:extLst>
          </p:cNvPr>
          <p:cNvCxnSpPr>
            <a:cxnSpLocks/>
          </p:cNvCxnSpPr>
          <p:nvPr/>
        </p:nvCxnSpPr>
        <p:spPr bwMode="auto">
          <a:xfrm>
            <a:off x="5141155" y="4159360"/>
            <a:ext cx="3556261" cy="535081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17392503-80F2-49C5-8004-8E5F6BB0478D}"/>
              </a:ext>
            </a:extLst>
          </p:cNvPr>
          <p:cNvSpPr/>
          <p:nvPr/>
        </p:nvSpPr>
        <p:spPr bwMode="auto">
          <a:xfrm>
            <a:off x="6477166" y="4269657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DD321A5-E48C-465D-B253-39DA61E979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981124"/>
              </p:ext>
            </p:extLst>
          </p:nvPr>
        </p:nvGraphicFramePr>
        <p:xfrm>
          <a:off x="6626225" y="3943350"/>
          <a:ext cx="5524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040" imgH="152280" progId="Equation.DSMT4">
                  <p:embed/>
                </p:oleObj>
              </mc:Choice>
              <mc:Fallback>
                <p:oleObj name="Equation" r:id="rId7" imgW="2030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0DF4A30-E275-4463-A807-78936BA06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26225" y="3943350"/>
                        <a:ext cx="55245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6EAE4DF-EAA8-47DB-8B75-2078F3F5545A}"/>
                  </a:ext>
                </a:extLst>
              </p:cNvPr>
              <p:cNvSpPr txBox="1"/>
              <p:nvPr/>
            </p:nvSpPr>
            <p:spPr>
              <a:xfrm>
                <a:off x="137989" y="3348082"/>
                <a:ext cx="3882684" cy="1275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ea"/>
                  <a:buAutoNum type="circleNumDbPlain" startAt="2"/>
                </a:pPr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出发，进行搜索，到达下一个点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，满足</a:t>
                </a:r>
                <a:r>
                  <a:rPr lang="en-US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baseline="30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6EAE4DF-EAA8-47DB-8B75-2078F3F55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89" y="3348082"/>
                <a:ext cx="3882684" cy="1275349"/>
              </a:xfrm>
              <a:prstGeom prst="rect">
                <a:avLst/>
              </a:prstGeom>
              <a:blipFill>
                <a:blip r:embed="rId9"/>
                <a:stretch>
                  <a:fillRect l="-2983" t="-4785" b="-10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1FAB172-11B3-4CCF-9CC4-B5EB22C11C3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709107" y="2922303"/>
            <a:ext cx="1882636" cy="1436916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流程图: 接点 25">
            <a:extLst>
              <a:ext uri="{FF2B5EF4-FFF2-40B4-BE49-F238E27FC236}">
                <a16:creationId xmlns:a16="http://schemas.microsoft.com/office/drawing/2014/main" id="{4C50A31E-7AF0-4EB2-8DD3-116428F7FA87}"/>
              </a:ext>
            </a:extLst>
          </p:cNvPr>
          <p:cNvSpPr/>
          <p:nvPr/>
        </p:nvSpPr>
        <p:spPr bwMode="auto">
          <a:xfrm>
            <a:off x="5541699" y="35369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691BC22-3A0B-4E63-814E-95213D30C8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087656"/>
              </p:ext>
            </p:extLst>
          </p:nvPr>
        </p:nvGraphicFramePr>
        <p:xfrm>
          <a:off x="5359400" y="3098800"/>
          <a:ext cx="584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152280" progId="Equation.DSMT4">
                  <p:embed/>
                </p:oleObj>
              </mc:Choice>
              <mc:Fallback>
                <p:oleObj name="Equation" r:id="rId10" imgW="215640" imgH="1522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DD321A5-E48C-465D-B253-39DA61E979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59400" y="3098800"/>
                        <a:ext cx="5842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982818A-BCBF-484D-88F2-5E6839305051}"/>
                  </a:ext>
                </a:extLst>
              </p:cNvPr>
              <p:cNvSpPr txBox="1"/>
              <p:nvPr/>
            </p:nvSpPr>
            <p:spPr>
              <a:xfrm>
                <a:off x="137988" y="4652584"/>
                <a:ext cx="4382963" cy="4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ea"/>
                  <a:buAutoNum type="circleNumDbPlain" startAt="3"/>
                </a:pPr>
                <a:r>
                  <a:rPr lang="zh-CN" altLang="en-US" sz="2400" dirty="0"/>
                  <a:t>同理，找到下一个点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p>
                    </m:sSup>
                  </m:oMath>
                </a14:m>
                <a:endParaRPr lang="zh-CN" altLang="en-US" sz="2400" baseline="300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982818A-BCBF-484D-88F2-5E6839305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88" y="4652584"/>
                <a:ext cx="4382963" cy="486672"/>
              </a:xfrm>
              <a:prstGeom prst="rect">
                <a:avLst/>
              </a:prstGeom>
              <a:blipFill>
                <a:blip r:embed="rId12"/>
                <a:stretch>
                  <a:fillRect l="-2643" t="-12500" b="-3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3C70B6B-CE05-4D8F-B7FE-81F18B8E56A3}"/>
              </a:ext>
            </a:extLst>
          </p:cNvPr>
          <p:cNvCxnSpPr>
            <a:cxnSpLocks/>
          </p:cNvCxnSpPr>
          <p:nvPr/>
        </p:nvCxnSpPr>
        <p:spPr bwMode="auto">
          <a:xfrm flipV="1">
            <a:off x="5734549" y="3603127"/>
            <a:ext cx="3034875" cy="3594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042A8C88-4086-48CC-8B69-F91DDDD490A4}"/>
              </a:ext>
            </a:extLst>
          </p:cNvPr>
          <p:cNvSpPr/>
          <p:nvPr/>
        </p:nvSpPr>
        <p:spPr bwMode="auto">
          <a:xfrm>
            <a:off x="6799836" y="3510623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25CB9CD7-38CA-4544-BD0A-4A65EF69A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436094"/>
              </p:ext>
            </p:extLst>
          </p:nvPr>
        </p:nvGraphicFramePr>
        <p:xfrm>
          <a:off x="6342063" y="3143250"/>
          <a:ext cx="584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640" imgH="152280" progId="Equation.DSMT4">
                  <p:embed/>
                </p:oleObj>
              </mc:Choice>
              <mc:Fallback>
                <p:oleObj name="Equation" r:id="rId13" imgW="215640" imgH="1522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F691BC22-3A0B-4E63-814E-95213D30C8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42063" y="3143250"/>
                        <a:ext cx="5842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E65111D-30DF-40C8-9E23-43AFC5EBAB1A}"/>
                  </a:ext>
                </a:extLst>
              </p:cNvPr>
              <p:cNvSpPr txBox="1"/>
              <p:nvPr/>
            </p:nvSpPr>
            <p:spPr>
              <a:xfrm>
                <a:off x="128464" y="5412765"/>
                <a:ext cx="38826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ea"/>
                  <a:buAutoNum type="circleNumDbPlain" startAt="4"/>
                </a:pPr>
                <a:r>
                  <a:rPr lang="zh-CN" altLang="en-US" sz="2400" dirty="0"/>
                  <a:t>重复上述迭代过程，直到找到最优解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30000" dirty="0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endParaRPr lang="zh-CN" altLang="en-US" sz="2400" baseline="30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E65111D-30DF-40C8-9E23-43AFC5EBA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64" y="5412765"/>
                <a:ext cx="3882684" cy="830997"/>
              </a:xfrm>
              <a:prstGeom prst="rect">
                <a:avLst/>
              </a:prstGeom>
              <a:blipFill>
                <a:blip r:embed="rId15"/>
                <a:stretch>
                  <a:fillRect l="-2826" t="-11029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DAD0528-9D65-42B3-BCD4-1385CBD0C89B}"/>
              </a:ext>
            </a:extLst>
          </p:cNvPr>
          <p:cNvCxnSpPr>
            <a:cxnSpLocks/>
          </p:cNvCxnSpPr>
          <p:nvPr/>
        </p:nvCxnSpPr>
        <p:spPr bwMode="auto">
          <a:xfrm flipV="1">
            <a:off x="6948483" y="2420888"/>
            <a:ext cx="20741" cy="1218258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4E5AFD2F-68EC-40DB-9DA7-34DCCBF82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920266"/>
              </p:ext>
            </p:extLst>
          </p:nvPr>
        </p:nvGraphicFramePr>
        <p:xfrm>
          <a:off x="7004736" y="2830954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152280" progId="Equation.DSMT4">
                  <p:embed/>
                </p:oleObj>
              </mc:Choice>
              <mc:Fallback>
                <p:oleObj name="Equation" r:id="rId16" imgW="177480" imgH="1522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25CB9CD7-38CA-4544-BD0A-4A65EF69A3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004736" y="2830954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D0843F2-33A5-48F5-8357-3DA45C4EE4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741659"/>
              </p:ext>
            </p:extLst>
          </p:nvPr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14400" imgH="198720" progId="Equation.DSMT4">
                  <p:embed/>
                </p:oleObj>
              </mc:Choice>
              <mc:Fallback>
                <p:oleObj name="Equation" r:id="rId18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213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4" grpId="0"/>
      <p:bldP spid="16" grpId="0" animBg="1"/>
      <p:bldP spid="17" grpId="0"/>
      <p:bldP spid="21" grpId="0" animBg="1"/>
      <p:bldP spid="23" grpId="0"/>
      <p:bldP spid="26" grpId="0" animBg="1"/>
      <p:bldP spid="29" grpId="0"/>
      <p:bldP spid="31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508B8-FDF6-48D6-B56D-0C79A1A3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数值迭代的基本公式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C2AEF9-7FE2-4AA7-80E3-42E22687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D4B776-975B-4AB7-A677-AA7655499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F687950B-1414-4E73-971E-023F08B6E092}"/>
              </a:ext>
            </a:extLst>
          </p:cNvPr>
          <p:cNvSpPr/>
          <p:nvPr/>
        </p:nvSpPr>
        <p:spPr bwMode="auto">
          <a:xfrm>
            <a:off x="6799836" y="3039105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1A19C3C-8B61-41CF-AE78-1F86C6E75E7C}"/>
              </a:ext>
            </a:extLst>
          </p:cNvPr>
          <p:cNvSpPr/>
          <p:nvPr/>
        </p:nvSpPr>
        <p:spPr bwMode="auto">
          <a:xfrm>
            <a:off x="5861397" y="2739793"/>
            <a:ext cx="2098485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4DB05ED-DDFA-4EED-AAD5-766EDB725A3A}"/>
              </a:ext>
            </a:extLst>
          </p:cNvPr>
          <p:cNvSpPr/>
          <p:nvPr/>
        </p:nvSpPr>
        <p:spPr bwMode="auto">
          <a:xfrm>
            <a:off x="5385048" y="2276872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43838AD-2EEF-44A4-A144-85C5E1ECAF88}"/>
              </a:ext>
            </a:extLst>
          </p:cNvPr>
          <p:cNvSpPr/>
          <p:nvPr/>
        </p:nvSpPr>
        <p:spPr bwMode="auto">
          <a:xfrm>
            <a:off x="4952999" y="1958137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A1C2220-9CE1-4476-B2E1-4E6996EE3F79}"/>
              </a:ext>
            </a:extLst>
          </p:cNvPr>
          <p:cNvSpPr/>
          <p:nvPr/>
        </p:nvSpPr>
        <p:spPr bwMode="auto">
          <a:xfrm>
            <a:off x="4520952" y="1628800"/>
            <a:ext cx="5040560" cy="309634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11B0C1B-0FCA-4918-A3DF-B1D7D3038599}"/>
                  </a:ext>
                </a:extLst>
              </p:cNvPr>
              <p:cNvSpPr txBox="1"/>
              <p:nvPr/>
            </p:nvSpPr>
            <p:spPr>
              <a:xfrm>
                <a:off x="128464" y="1260339"/>
                <a:ext cx="5370060" cy="486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对于函数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为可行域上某一点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11B0C1B-0FCA-4918-A3DF-B1D7D3038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64" y="1260339"/>
                <a:ext cx="5370060" cy="486672"/>
              </a:xfrm>
              <a:prstGeom prst="rect">
                <a:avLst/>
              </a:prstGeom>
              <a:blipFill>
                <a:blip r:embed="rId3"/>
                <a:stretch>
                  <a:fillRect l="-1703" t="-5000" r="-795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0DF4A30-E275-4463-A807-78936BA06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519112"/>
              </p:ext>
            </p:extLst>
          </p:nvPr>
        </p:nvGraphicFramePr>
        <p:xfrm>
          <a:off x="4162425" y="3959225"/>
          <a:ext cx="5730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0DF4A30-E275-4463-A807-78936BA06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2425" y="3959225"/>
                        <a:ext cx="573088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424BAB03-83E6-4A42-B1EB-2BB61E4A614F}"/>
              </a:ext>
            </a:extLst>
          </p:cNvPr>
          <p:cNvSpPr/>
          <p:nvPr/>
        </p:nvSpPr>
        <p:spPr bwMode="auto">
          <a:xfrm>
            <a:off x="4981546" y="4059766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D750714-61A7-40C0-85B2-4C45F8B53A46}"/>
                  </a:ext>
                </a:extLst>
              </p:cNvPr>
              <p:cNvSpPr txBox="1"/>
              <p:nvPr/>
            </p:nvSpPr>
            <p:spPr>
              <a:xfrm>
                <a:off x="134210" y="1927744"/>
                <a:ext cx="4405477" cy="1250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1. </a:t>
                </a:r>
                <a:r>
                  <a:rPr lang="zh-CN" altLang="en-US" sz="2400" dirty="0"/>
                  <a:t>对于某一点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表示从该点出发进行下一步搜索的方向，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是一个向量（矢量）</a:t>
                </a:r>
                <a:endParaRPr lang="zh-CN" altLang="en-US" sz="2400" baseline="30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D750714-61A7-40C0-85B2-4C45F8B5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10" y="1927744"/>
                <a:ext cx="4405477" cy="1250342"/>
              </a:xfrm>
              <a:prstGeom prst="rect">
                <a:avLst/>
              </a:prstGeom>
              <a:blipFill>
                <a:blip r:embed="rId6"/>
                <a:stretch>
                  <a:fillRect l="-2075" t="-1951" r="-415" b="-10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050DAA6-7CAA-4B72-A395-B06BC57C3BBE}"/>
              </a:ext>
            </a:extLst>
          </p:cNvPr>
          <p:cNvCxnSpPr>
            <a:cxnSpLocks/>
          </p:cNvCxnSpPr>
          <p:nvPr/>
        </p:nvCxnSpPr>
        <p:spPr bwMode="auto">
          <a:xfrm>
            <a:off x="5141155" y="4159360"/>
            <a:ext cx="3556261" cy="535081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17392503-80F2-49C5-8004-8E5F6BB0478D}"/>
              </a:ext>
            </a:extLst>
          </p:cNvPr>
          <p:cNvSpPr/>
          <p:nvPr/>
        </p:nvSpPr>
        <p:spPr bwMode="auto">
          <a:xfrm>
            <a:off x="6477166" y="4269657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DD321A5-E48C-465D-B253-39DA61E979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211687"/>
              </p:ext>
            </p:extLst>
          </p:nvPr>
        </p:nvGraphicFramePr>
        <p:xfrm>
          <a:off x="6626225" y="3943350"/>
          <a:ext cx="5524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040" imgH="152280" progId="Equation.DSMT4">
                  <p:embed/>
                </p:oleObj>
              </mc:Choice>
              <mc:Fallback>
                <p:oleObj name="Equation" r:id="rId7" imgW="203040" imgH="1522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DD321A5-E48C-465D-B253-39DA61E979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26225" y="3943350"/>
                        <a:ext cx="55245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6EAE4DF-EAA8-47DB-8B75-2078F3F5545A}"/>
                  </a:ext>
                </a:extLst>
              </p:cNvPr>
              <p:cNvSpPr txBox="1"/>
              <p:nvPr/>
            </p:nvSpPr>
            <p:spPr>
              <a:xfrm>
                <a:off x="136172" y="3286018"/>
                <a:ext cx="4115385" cy="1250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2.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表示沿着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方向前进的步长（最优步长因子）</a:t>
                </a:r>
                <a:r>
                  <a:rPr lang="en-US" altLang="zh-CN" sz="2400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是一个标量</a:t>
                </a:r>
                <a:endParaRPr lang="zh-CN" altLang="en-US" sz="2400" baseline="30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6EAE4DF-EAA8-47DB-8B75-2078F3F55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72" y="3286018"/>
                <a:ext cx="4115385" cy="1250342"/>
              </a:xfrm>
              <a:prstGeom prst="rect">
                <a:avLst/>
              </a:prstGeom>
              <a:blipFill>
                <a:blip r:embed="rId9"/>
                <a:stretch>
                  <a:fillRect l="-2222" t="-1951" b="-10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1FAB172-11B3-4CCF-9CC4-B5EB22C11C3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709107" y="2922303"/>
            <a:ext cx="1882636" cy="1436916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流程图: 接点 25">
            <a:extLst>
              <a:ext uri="{FF2B5EF4-FFF2-40B4-BE49-F238E27FC236}">
                <a16:creationId xmlns:a16="http://schemas.microsoft.com/office/drawing/2014/main" id="{4C50A31E-7AF0-4EB2-8DD3-116428F7FA87}"/>
              </a:ext>
            </a:extLst>
          </p:cNvPr>
          <p:cNvSpPr/>
          <p:nvPr/>
        </p:nvSpPr>
        <p:spPr bwMode="auto">
          <a:xfrm>
            <a:off x="5541699" y="35369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691BC22-3A0B-4E63-814E-95213D30C8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201620"/>
              </p:ext>
            </p:extLst>
          </p:nvPr>
        </p:nvGraphicFramePr>
        <p:xfrm>
          <a:off x="5359400" y="3098800"/>
          <a:ext cx="584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152280" progId="Equation.DSMT4">
                  <p:embed/>
                </p:oleObj>
              </mc:Choice>
              <mc:Fallback>
                <p:oleObj name="Equation" r:id="rId10" imgW="215640" imgH="1522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F691BC22-3A0B-4E63-814E-95213D30C8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59400" y="3098800"/>
                        <a:ext cx="5842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3C70B6B-CE05-4D8F-B7FE-81F18B8E56A3}"/>
              </a:ext>
            </a:extLst>
          </p:cNvPr>
          <p:cNvCxnSpPr>
            <a:cxnSpLocks/>
          </p:cNvCxnSpPr>
          <p:nvPr/>
        </p:nvCxnSpPr>
        <p:spPr bwMode="auto">
          <a:xfrm flipV="1">
            <a:off x="5734549" y="3603127"/>
            <a:ext cx="3034875" cy="3594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042A8C88-4086-48CC-8B69-F91DDDD490A4}"/>
              </a:ext>
            </a:extLst>
          </p:cNvPr>
          <p:cNvSpPr/>
          <p:nvPr/>
        </p:nvSpPr>
        <p:spPr bwMode="auto">
          <a:xfrm>
            <a:off x="6799836" y="3510623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25CB9CD7-38CA-4544-BD0A-4A65EF69A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810186"/>
              </p:ext>
            </p:extLst>
          </p:nvPr>
        </p:nvGraphicFramePr>
        <p:xfrm>
          <a:off x="6342063" y="3143250"/>
          <a:ext cx="584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152280" progId="Equation.DSMT4">
                  <p:embed/>
                </p:oleObj>
              </mc:Choice>
              <mc:Fallback>
                <p:oleObj name="Equation" r:id="rId12" imgW="215640" imgH="1522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25CB9CD7-38CA-4544-BD0A-4A65EF69A3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42063" y="3143250"/>
                        <a:ext cx="5842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E65111D-30DF-40C8-9E23-43AFC5EBAB1A}"/>
                  </a:ext>
                </a:extLst>
              </p:cNvPr>
              <p:cNvSpPr txBox="1"/>
              <p:nvPr/>
            </p:nvSpPr>
            <p:spPr>
              <a:xfrm>
                <a:off x="115771" y="4620891"/>
                <a:ext cx="4326844" cy="881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3. </a:t>
                </a:r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通过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进行搜索就可以到达下一个点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。</a:t>
                </a:r>
                <a:r>
                  <a:rPr lang="en-US" altLang="zh-CN" sz="2400" dirty="0"/>
                  <a:t> </a:t>
                </a:r>
                <a:endParaRPr lang="zh-CN" altLang="en-US" sz="2400" baseline="30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E65111D-30DF-40C8-9E23-43AFC5EBA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71" y="4620891"/>
                <a:ext cx="4326844" cy="881010"/>
              </a:xfrm>
              <a:prstGeom prst="rect">
                <a:avLst/>
              </a:prstGeom>
              <a:blipFill>
                <a:blip r:embed="rId14"/>
                <a:stretch>
                  <a:fillRect l="-2254" t="-2759" r="-423" b="-14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DAD0528-9D65-42B3-BCD4-1385CBD0C89B}"/>
              </a:ext>
            </a:extLst>
          </p:cNvPr>
          <p:cNvCxnSpPr>
            <a:cxnSpLocks/>
          </p:cNvCxnSpPr>
          <p:nvPr/>
        </p:nvCxnSpPr>
        <p:spPr bwMode="auto">
          <a:xfrm flipV="1">
            <a:off x="6948483" y="2420888"/>
            <a:ext cx="20741" cy="1218258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4E5AFD2F-68EC-40DB-9DA7-34DCCBF821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4736" y="2830954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152280" progId="Equation.DSMT4">
                  <p:embed/>
                </p:oleObj>
              </mc:Choice>
              <mc:Fallback>
                <p:oleObj name="Equation" r:id="rId15" imgW="177480" imgH="1522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4E5AFD2F-68EC-40DB-9DA7-34DCCBF82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04736" y="2830954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975CE4F8-C2E5-4384-A4C9-EC6D13DE57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276237"/>
              </p:ext>
            </p:extLst>
          </p:nvPr>
        </p:nvGraphicFramePr>
        <p:xfrm>
          <a:off x="4022725" y="5132388"/>
          <a:ext cx="5795963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65080" imgH="419040" progId="Equation.DSMT4">
                  <p:embed/>
                </p:oleObj>
              </mc:Choice>
              <mc:Fallback>
                <p:oleObj name="Equation" r:id="rId17" imgW="1765080" imgH="419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0DF4A30-E275-4463-A807-78936BA06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22725" y="5132388"/>
                        <a:ext cx="5795963" cy="1376362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D28AFB78-34BE-4338-8B22-FE3963F8A8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955666"/>
              </p:ext>
            </p:extLst>
          </p:nvPr>
        </p:nvGraphicFramePr>
        <p:xfrm>
          <a:off x="8672513" y="4465638"/>
          <a:ext cx="508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0440" imgH="164880" progId="Equation.DSMT4">
                  <p:embed/>
                </p:oleObj>
              </mc:Choice>
              <mc:Fallback>
                <p:oleObj name="Equation" r:id="rId19" imgW="190440" imgH="164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0DF4A30-E275-4463-A807-78936BA06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672513" y="4465638"/>
                        <a:ext cx="508000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C3E9525-14E3-4B78-9B3E-995BF2BE766E}"/>
              </a:ext>
            </a:extLst>
          </p:cNvPr>
          <p:cNvCxnSpPr>
            <a:cxnSpLocks/>
            <a:endCxn id="19" idx="1"/>
          </p:cNvCxnSpPr>
          <p:nvPr/>
        </p:nvCxnSpPr>
        <p:spPr bwMode="auto">
          <a:xfrm>
            <a:off x="5133001" y="4280813"/>
            <a:ext cx="159546" cy="53282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205774A-AFAA-4F00-9871-ECCC4AB742A9}"/>
              </a:ext>
            </a:extLst>
          </p:cNvPr>
          <p:cNvCxnSpPr>
            <a:cxnSpLocks/>
          </p:cNvCxnSpPr>
          <p:nvPr/>
        </p:nvCxnSpPr>
        <p:spPr bwMode="auto">
          <a:xfrm flipH="1">
            <a:off x="6410541" y="4331402"/>
            <a:ext cx="188658" cy="47333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D67A555-111D-4A69-B79F-800755626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843552"/>
              </p:ext>
            </p:extLst>
          </p:nvPr>
        </p:nvGraphicFramePr>
        <p:xfrm>
          <a:off x="5211711" y="4609440"/>
          <a:ext cx="13398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22080" imgH="190440" progId="Equation.DSMT4">
                  <p:embed/>
                </p:oleObj>
              </mc:Choice>
              <mc:Fallback>
                <p:oleObj name="Equation" r:id="rId21" imgW="6220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11711" y="4609440"/>
                        <a:ext cx="1339850" cy="407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E7909711-760D-4868-8DFD-0A9D3B368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957361"/>
              </p:ext>
            </p:extLst>
          </p:nvPr>
        </p:nvGraphicFramePr>
        <p:xfrm>
          <a:off x="5387975" y="3885108"/>
          <a:ext cx="76676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55320" imgH="190440" progId="Equation.DSMT4">
                  <p:embed/>
                </p:oleObj>
              </mc:Choice>
              <mc:Fallback>
                <p:oleObj name="Equation" r:id="rId23" imgW="355320" imgH="1904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D67A555-111D-4A69-B79F-8007556261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387975" y="3885108"/>
                        <a:ext cx="766763" cy="407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132F1079-6AD9-4821-82B2-7D7683EC90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499744"/>
              </p:ext>
            </p:extLst>
          </p:nvPr>
        </p:nvGraphicFramePr>
        <p:xfrm>
          <a:off x="6048375" y="3603625"/>
          <a:ext cx="79533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68280" imgH="190440" progId="Equation.DSMT4">
                  <p:embed/>
                </p:oleObj>
              </mc:Choice>
              <mc:Fallback>
                <p:oleObj name="Equation" r:id="rId25" imgW="368280" imgH="19044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E7909711-760D-4868-8DFD-0A9D3B3680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48375" y="3603625"/>
                        <a:ext cx="795338" cy="407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9D44514F-00DD-4EEB-9453-53B90A9E2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986438"/>
              </p:ext>
            </p:extLst>
          </p:nvPr>
        </p:nvGraphicFramePr>
        <p:xfrm>
          <a:off x="4641850" y="2501900"/>
          <a:ext cx="4746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7480" imgH="164880" progId="Equation.DSMT4">
                  <p:embed/>
                </p:oleObj>
              </mc:Choice>
              <mc:Fallback>
                <p:oleObj name="Equation" r:id="rId27" imgW="177480" imgH="1648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D28AFB78-34BE-4338-8B22-FE3963F8A8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641850" y="2501900"/>
                        <a:ext cx="474663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0F4FA634-42A0-4AF5-8AB7-2B663AB9B1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593328"/>
              </p:ext>
            </p:extLst>
          </p:nvPr>
        </p:nvGraphicFramePr>
        <p:xfrm>
          <a:off x="8550275" y="3117850"/>
          <a:ext cx="508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0440" imgH="164880" progId="Equation.DSMT4">
                  <p:embed/>
                </p:oleObj>
              </mc:Choice>
              <mc:Fallback>
                <p:oleObj name="Equation" r:id="rId29" imgW="190440" imgH="1648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D28AFB78-34BE-4338-8B22-FE3963F8A8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550275" y="3117850"/>
                        <a:ext cx="508000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616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1AC20-BF61-4012-A060-A7D7A510E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数值迭代的基本公式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B280C0-E6A9-4E29-A1DC-65C0CF0DF7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数值迭代需要解决两个问题：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solidFill>
                      <a:srgbClr val="0000FF"/>
                    </a:solidFill>
                  </a:rPr>
                  <a:t>确定搜索方向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>
                  <a:solidFill>
                    <a:srgbClr val="0000FF"/>
                  </a:solidFill>
                </a:endParaRPr>
              </a:p>
              <a:p>
                <a:pPr lvl="2"/>
                <a:r>
                  <a:rPr lang="zh-CN" altLang="en-US" dirty="0"/>
                  <a:t>迭代算法的核心，是优化设计研究的主要内容。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solidFill>
                      <a:srgbClr val="C00000"/>
                    </a:solidFill>
                  </a:rPr>
                  <a:t>确定步长因子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>
                  <a:solidFill>
                    <a:srgbClr val="C00000"/>
                  </a:solidFill>
                </a:endParaRPr>
              </a:p>
              <a:p>
                <a:pPr lvl="2"/>
                <a:r>
                  <a:rPr lang="zh-CN" altLang="en-US" dirty="0"/>
                  <a:t>一般可通过一维搜索方法获得。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B280C0-E6A9-4E29-A1DC-65C0CF0DF7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D7C676-DDE0-48CD-B04D-6E557091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F37CFA-1385-4109-AB6B-42AD636D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D00028A-BF4F-4601-BF2A-125A82B39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19678"/>
              </p:ext>
            </p:extLst>
          </p:nvPr>
        </p:nvGraphicFramePr>
        <p:xfrm>
          <a:off x="2019015" y="1196752"/>
          <a:ext cx="5797550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65080" imgH="419040" progId="Equation.DSMT4">
                  <p:embed/>
                </p:oleObj>
              </mc:Choice>
              <mc:Fallback>
                <p:oleObj name="Equation" r:id="rId4" imgW="1765080" imgH="41904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975CE4F8-C2E5-4384-A4C9-EC6D13DE57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19015" y="1196752"/>
                        <a:ext cx="5797550" cy="1374775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519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B4BC2-90D9-49CC-B236-7E5784DC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数值迭代法基本思想与迭代过程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E1AF1F-F612-4C4A-A15B-C470007F3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算法的收敛性*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一般用收敛速度来衡量一个迭代优化方法的性能：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如果存在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/>
                  <a:t>使得公式</a:t>
                </a:r>
                <a:endParaRPr lang="en-US" altLang="zh-CN" dirty="0"/>
              </a:p>
              <a:p>
                <a:pPr lvl="2"/>
                <a:endParaRPr lang="en-US" altLang="zh-CN" dirty="0"/>
              </a:p>
              <a:p>
                <a:pPr lvl="2"/>
                <a:endParaRPr lang="en-US" altLang="zh-CN" dirty="0"/>
              </a:p>
              <a:p>
                <a:pPr lvl="2"/>
                <a:endParaRPr lang="en-US" altLang="zh-CN" dirty="0"/>
              </a:p>
              <a:p>
                <a:pPr marL="914400" lvl="2" indent="0">
                  <a:buNone/>
                </a:pPr>
                <a:r>
                  <a:rPr lang="zh-CN" altLang="en-US" dirty="0"/>
                  <a:t> 成立，则：</a:t>
                </a:r>
                <a:endParaRPr lang="en-US" altLang="zh-CN" dirty="0"/>
              </a:p>
              <a:p>
                <a:pPr marL="914400" lvl="2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E1AF1F-F612-4C4A-A15B-C470007F3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 r="-3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606581-A3A6-44E4-9CB2-07E712E8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1D1042-23FC-492E-B1A6-3B3E617D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9F1654F-7892-48B1-8B36-D801182253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347337"/>
              </p:ext>
            </p:extLst>
          </p:nvPr>
        </p:nvGraphicFramePr>
        <p:xfrm>
          <a:off x="2492375" y="3027363"/>
          <a:ext cx="4922838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419040" progId="Equation.DSMT4">
                  <p:embed/>
                </p:oleObj>
              </mc:Choice>
              <mc:Fallback>
                <p:oleObj name="Equation" r:id="rId4" imgW="1498320" imgH="419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D00028A-BF4F-4601-BF2A-125A82B39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92375" y="3027363"/>
                        <a:ext cx="4922838" cy="1376362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5A5027A-E04E-4222-9F3A-9FCD922DE428}"/>
                  </a:ext>
                </a:extLst>
              </p:cNvPr>
              <p:cNvSpPr txBox="1"/>
              <p:nvPr/>
            </p:nvSpPr>
            <p:spPr>
              <a:xfrm>
                <a:off x="2864768" y="4757658"/>
                <a:ext cx="59766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当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𝛃</m:t>
                    </m:r>
                  </m:oMath>
                </a14:m>
                <a:r>
                  <a:rPr lang="en-US" altLang="zh-CN" sz="2400" dirty="0"/>
                  <a:t>=1</a:t>
                </a:r>
                <a:r>
                  <a:rPr lang="zh-CN" altLang="en-US" sz="2400" dirty="0"/>
                  <a:t>时，算法具有线性收敛速度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当𝛃</a:t>
                </a:r>
                <a:r>
                  <a:rPr lang="en-US" altLang="zh-CN" sz="2400" dirty="0"/>
                  <a:t>=2</a:t>
                </a:r>
                <a:r>
                  <a:rPr lang="zh-CN" altLang="en-US" sz="2400" dirty="0"/>
                  <a:t>时， 算法具有二次收敛速度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当</a:t>
                </a:r>
                <a:r>
                  <a:rPr lang="en-US" altLang="zh-CN" sz="2400" dirty="0"/>
                  <a:t>1&lt;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𝛃</m:t>
                    </m:r>
                  </m:oMath>
                </a14:m>
                <a:r>
                  <a:rPr lang="en-US" altLang="zh-CN" sz="2400" dirty="0"/>
                  <a:t>&lt;2</a:t>
                </a:r>
                <a:r>
                  <a:rPr lang="zh-CN" altLang="en-US" sz="2400" dirty="0"/>
                  <a:t>时， 算法具有超线性收敛速度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5A5027A-E04E-4222-9F3A-9FCD922DE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768" y="4757658"/>
                <a:ext cx="5976664" cy="1200329"/>
              </a:xfrm>
              <a:prstGeom prst="rect">
                <a:avLst/>
              </a:prstGeom>
              <a:blipFill>
                <a:blip r:embed="rId6"/>
                <a:stretch>
                  <a:fillRect l="-1939" t="-7107" b="-12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9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EB06F-563A-4599-8B4E-EAC52656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数值迭代法基本思想与迭代过程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509171-55B9-444F-A6D9-647122C2F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算法的收敛准则</a:t>
            </a:r>
            <a:endParaRPr lang="en-US" altLang="zh-CN" dirty="0"/>
          </a:p>
          <a:p>
            <a:pPr lvl="1"/>
            <a:r>
              <a:rPr lang="zh-CN" altLang="en-US" dirty="0"/>
              <a:t>收敛准则用衡量一个迭代方法最终求解问题的精度，也就是求得的解与最优解之间的契合度：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点距准则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dirty="0"/>
              <a:t>越接近极值点，相邻迭代点之间的距离越小。</a:t>
            </a:r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EE088-3B43-4988-B729-94F2E4A7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105E58-47B2-45AE-AA86-6E0A6EFC0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90ACE54-1E6E-4EF5-A246-288BE7D950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508536"/>
              </p:ext>
            </p:extLst>
          </p:nvPr>
        </p:nvGraphicFramePr>
        <p:xfrm>
          <a:off x="3217459" y="4348508"/>
          <a:ext cx="28781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215640" progId="Equation.DSMT4">
                  <p:embed/>
                </p:oleObj>
              </mc:Choice>
              <mc:Fallback>
                <p:oleObj name="Equation" r:id="rId2" imgW="838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17459" y="4348508"/>
                        <a:ext cx="2878137" cy="74136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6059DED-1307-4A25-AD24-5B67207F75A7}"/>
                  </a:ext>
                </a:extLst>
              </p:cNvPr>
              <p:cNvSpPr txBox="1"/>
              <p:nvPr/>
            </p:nvSpPr>
            <p:spPr>
              <a:xfrm>
                <a:off x="1648000" y="5524149"/>
                <a:ext cx="7347845" cy="486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/>
                  <a:t>则认为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d>
                          <m:dPr>
                            <m:ctrlPr>
                              <a:rPr lang="zh-CN" alt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zh-CN" altLang="en-US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b="1" dirty="0"/>
                  <a:t>已经非常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接近极值点</a:t>
                </a:r>
                <a:r>
                  <a:rPr lang="zh-CN" altLang="en-US" sz="2400" b="1" dirty="0"/>
                  <a:t>，其中</a:t>
                </a:r>
                <a14:m>
                  <m:oMath xmlns:m="http://schemas.openxmlformats.org/officeDocument/2006/math">
                    <m:r>
                      <a:rPr lang="zh-CN" altLang="en-US" sz="24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sz="2400" b="1" dirty="0">
                    <a:solidFill>
                      <a:srgbClr val="0000FF"/>
                    </a:solidFill>
                  </a:rPr>
                  <a:t>是收敛精度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6059DED-1307-4A25-AD24-5B67207F7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000" y="5524149"/>
                <a:ext cx="7347845" cy="486672"/>
              </a:xfrm>
              <a:prstGeom prst="rect">
                <a:avLst/>
              </a:prstGeom>
              <a:blipFill>
                <a:blip r:embed="rId5"/>
                <a:stretch>
                  <a:fillRect l="-1244" t="-5000" r="-332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857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EB06F-563A-4599-8B4E-EAC52656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数值迭代法基本思想与迭代过程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509171-55B9-444F-A6D9-647122C2F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算法的收敛准则</a:t>
            </a:r>
            <a:endParaRPr lang="en-US" altLang="zh-CN" dirty="0"/>
          </a:p>
          <a:p>
            <a:pPr lvl="1"/>
            <a:r>
              <a:rPr lang="zh-CN" altLang="en-US" dirty="0"/>
              <a:t>收敛准则用衡量一个迭代方法最终求解问题的精度，也就是求得的解与最优解之间的契合度：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值差准则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dirty="0"/>
              <a:t>约接近极值点，相邻迭代点之间函数值的差值越小。</a:t>
            </a:r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EE088-3B43-4988-B729-94F2E4A7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105E58-47B2-45AE-AA86-6E0A6EFC0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35782ED-CE3F-47B5-ADD0-E3C93E4563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922542"/>
              </p:ext>
            </p:extLst>
          </p:nvPr>
        </p:nvGraphicFramePr>
        <p:xfrm>
          <a:off x="977904" y="3996974"/>
          <a:ext cx="8501062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444240" progId="Equation.DSMT4">
                  <p:embed/>
                </p:oleObj>
              </mc:Choice>
              <mc:Fallback>
                <p:oleObj name="Equation" r:id="rId2" imgW="2476440" imgH="4442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90ACE54-1E6E-4EF5-A246-288BE7D950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7904" y="3996974"/>
                        <a:ext cx="8501062" cy="152717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D8C9D20-4E60-4492-B92A-AB4B488B5468}"/>
                  </a:ext>
                </a:extLst>
              </p:cNvPr>
              <p:cNvSpPr txBox="1"/>
              <p:nvPr/>
            </p:nvSpPr>
            <p:spPr>
              <a:xfrm>
                <a:off x="1648000" y="5524149"/>
                <a:ext cx="7347332" cy="486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/>
                  <a:t>则认为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d>
                          <m:dPr>
                            <m:ctrlPr>
                              <a:rPr lang="zh-CN" alt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zh-CN" altLang="en-US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b="1" dirty="0"/>
                  <a:t>已经非常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接近极值点</a:t>
                </a:r>
                <a:r>
                  <a:rPr lang="zh-CN" altLang="en-US" sz="2400" b="1" dirty="0"/>
                  <a:t>，其中</a:t>
                </a:r>
                <a14:m>
                  <m:oMath xmlns:m="http://schemas.openxmlformats.org/officeDocument/2006/math">
                    <m:r>
                      <a:rPr lang="zh-CN" altLang="en-US" sz="24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sz="2400" b="1" dirty="0">
                    <a:solidFill>
                      <a:srgbClr val="0000FF"/>
                    </a:solidFill>
                  </a:rPr>
                  <a:t>是收敛精度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D8C9D20-4E60-4492-B92A-AB4B488B5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000" y="5524149"/>
                <a:ext cx="7347332" cy="486672"/>
              </a:xfrm>
              <a:prstGeom prst="rect">
                <a:avLst/>
              </a:prstGeom>
              <a:blipFill>
                <a:blip r:embed="rId5"/>
                <a:stretch>
                  <a:fillRect l="-1244" t="-5000" r="-332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EB06F-563A-4599-8B4E-EAC52656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数值迭代法基本思想与迭代过程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509171-55B9-444F-A6D9-647122C2F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算法的收敛准则</a:t>
            </a:r>
            <a:endParaRPr lang="en-US" altLang="zh-CN" dirty="0"/>
          </a:p>
          <a:p>
            <a:pPr lvl="1"/>
            <a:r>
              <a:rPr lang="zh-CN" altLang="en-US" dirty="0"/>
              <a:t>收敛准则用衡量一个迭代方法最终求解问题的精度，也就是求得的解与最优解之间的契合度：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梯度准则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dirty="0"/>
              <a:t>梯度接近零，求得的解越接近极值点。</a:t>
            </a:r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EE088-3B43-4988-B729-94F2E4A7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105E58-47B2-45AE-AA86-6E0A6EFC0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4DEBA6-1D44-4FDD-AA43-733F2DD59F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427823"/>
              </p:ext>
            </p:extLst>
          </p:nvPr>
        </p:nvGraphicFramePr>
        <p:xfrm>
          <a:off x="3425825" y="4084638"/>
          <a:ext cx="2573338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241200" progId="Equation.DSMT4">
                  <p:embed/>
                </p:oleObj>
              </mc:Choice>
              <mc:Fallback>
                <p:oleObj name="Equation" r:id="rId2" imgW="74916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35782ED-CE3F-47B5-ADD0-E3C93E4563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25825" y="4084638"/>
                        <a:ext cx="2573338" cy="83026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947A08-DF86-4980-9757-61F31F19F180}"/>
                  </a:ext>
                </a:extLst>
              </p:cNvPr>
              <p:cNvSpPr txBox="1"/>
              <p:nvPr/>
            </p:nvSpPr>
            <p:spPr>
              <a:xfrm>
                <a:off x="1640632" y="5178731"/>
                <a:ext cx="7347332" cy="486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/>
                  <a:t>则认为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d>
                          <m:dPr>
                            <m:ctrlPr>
                              <a:rPr lang="zh-CN" alt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zh-CN" altLang="en-US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b="1" dirty="0"/>
                  <a:t>已经非常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接近极值点</a:t>
                </a:r>
                <a:r>
                  <a:rPr lang="zh-CN" altLang="en-US" sz="2400" b="1" dirty="0"/>
                  <a:t>，其中</a:t>
                </a:r>
                <a14:m>
                  <m:oMath xmlns:m="http://schemas.openxmlformats.org/officeDocument/2006/math">
                    <m:r>
                      <a:rPr lang="zh-CN" altLang="en-US" sz="24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sz="2400" b="1" dirty="0">
                    <a:solidFill>
                      <a:srgbClr val="0000FF"/>
                    </a:solidFill>
                  </a:rPr>
                  <a:t>是收敛精度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947A08-DF86-4980-9757-61F31F19F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632" y="5178731"/>
                <a:ext cx="7347332" cy="486672"/>
              </a:xfrm>
              <a:prstGeom prst="rect">
                <a:avLst/>
              </a:prstGeom>
              <a:blipFill>
                <a:blip r:embed="rId5"/>
                <a:stretch>
                  <a:fillRect l="-1245" t="-5063" r="-415" b="-29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82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1F611-9B87-41B9-BAD3-29AB2EE0E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数值迭代法基本思想与迭代过程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764F3-2F23-4107-91FA-4A554F9A8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算法的收敛准则</a:t>
            </a:r>
            <a:endParaRPr lang="en-US" altLang="zh-CN" dirty="0"/>
          </a:p>
          <a:p>
            <a:pPr lvl="1"/>
            <a:r>
              <a:rPr lang="zh-CN" altLang="en-US" dirty="0"/>
              <a:t>某些特殊情况下，点距离准则和值差准则需要结合使用才可以实现优化收敛。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2D610-18F9-4FE5-B5C2-0A6736B2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91D891-19D8-45DA-A59C-65104AF1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48A8B88-ACE0-4B90-8938-5D11F3E9CFFA}"/>
              </a:ext>
            </a:extLst>
          </p:cNvPr>
          <p:cNvCxnSpPr>
            <a:cxnSpLocks/>
          </p:cNvCxnSpPr>
          <p:nvPr/>
        </p:nvCxnSpPr>
        <p:spPr bwMode="auto">
          <a:xfrm>
            <a:off x="1649702" y="6021288"/>
            <a:ext cx="21469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393354F-959B-43C4-9098-0842533BEB81}"/>
              </a:ext>
            </a:extLst>
          </p:cNvPr>
          <p:cNvCxnSpPr>
            <a:cxnSpLocks/>
          </p:cNvCxnSpPr>
          <p:nvPr/>
        </p:nvCxnSpPr>
        <p:spPr bwMode="auto">
          <a:xfrm flipV="1">
            <a:off x="1649702" y="3732616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ABA0DC2-F0F3-4E63-8B7A-9AEE1E448F99}"/>
                  </a:ext>
                </a:extLst>
              </p:cNvPr>
              <p:cNvSpPr txBox="1"/>
              <p:nvPr/>
            </p:nvSpPr>
            <p:spPr>
              <a:xfrm>
                <a:off x="3142727" y="5955856"/>
                <a:ext cx="6539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ABA0DC2-F0F3-4E63-8B7A-9AEE1E448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727" y="5955856"/>
                <a:ext cx="65391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9C1A60-054B-4EF0-9E72-20EF673BF246}"/>
                  </a:ext>
                </a:extLst>
              </p:cNvPr>
              <p:cNvSpPr txBox="1"/>
              <p:nvPr/>
            </p:nvSpPr>
            <p:spPr>
              <a:xfrm>
                <a:off x="1435540" y="3306509"/>
                <a:ext cx="6660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9C1A60-054B-4EF0-9E72-20EF673BF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540" y="3306509"/>
                <a:ext cx="666007" cy="400110"/>
              </a:xfrm>
              <a:prstGeom prst="rect">
                <a:avLst/>
              </a:prstGeom>
              <a:blipFill>
                <a:blip r:embed="rId3"/>
                <a:stretch>
                  <a:fillRect l="-3636" r="-6364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5A6CCD16-14CA-4DA5-B329-0828FFF7690D}"/>
              </a:ext>
            </a:extLst>
          </p:cNvPr>
          <p:cNvSpPr txBox="1"/>
          <p:nvPr/>
        </p:nvSpPr>
        <p:spPr>
          <a:xfrm>
            <a:off x="1327087" y="5971245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60A5ED7-B250-4326-A056-9BE11D3D8D1E}"/>
              </a:ext>
            </a:extLst>
          </p:cNvPr>
          <p:cNvCxnSpPr>
            <a:cxnSpLocks/>
          </p:cNvCxnSpPr>
          <p:nvPr/>
        </p:nvCxnSpPr>
        <p:spPr bwMode="auto">
          <a:xfrm>
            <a:off x="2153758" y="4419722"/>
            <a:ext cx="0" cy="16015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9B9FA59-D8AE-4B30-94CA-64C8AFFBC7C2}"/>
              </a:ext>
            </a:extLst>
          </p:cNvPr>
          <p:cNvCxnSpPr>
            <a:cxnSpLocks/>
          </p:cNvCxnSpPr>
          <p:nvPr/>
        </p:nvCxnSpPr>
        <p:spPr bwMode="auto">
          <a:xfrm flipH="1">
            <a:off x="1649703" y="4437112"/>
            <a:ext cx="50405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055ED5B-1912-4403-9D45-6A47A0CBBFB1}"/>
              </a:ext>
            </a:extLst>
          </p:cNvPr>
          <p:cNvCxnSpPr>
            <a:cxnSpLocks/>
          </p:cNvCxnSpPr>
          <p:nvPr/>
        </p:nvCxnSpPr>
        <p:spPr bwMode="auto">
          <a:xfrm flipH="1">
            <a:off x="1670875" y="5348063"/>
            <a:ext cx="63274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C114892-E895-4A56-8921-CDE5768C1B92}"/>
              </a:ext>
            </a:extLst>
          </p:cNvPr>
          <p:cNvCxnSpPr>
            <a:cxnSpLocks/>
          </p:cNvCxnSpPr>
          <p:nvPr/>
        </p:nvCxnSpPr>
        <p:spPr bwMode="auto">
          <a:xfrm>
            <a:off x="2279758" y="5317812"/>
            <a:ext cx="0" cy="7034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A88991E-8333-418D-9C3D-7104B250C346}"/>
              </a:ext>
            </a:extLst>
          </p:cNvPr>
          <p:cNvSpPr/>
          <p:nvPr/>
        </p:nvSpPr>
        <p:spPr bwMode="auto">
          <a:xfrm>
            <a:off x="2115686" y="3961452"/>
            <a:ext cx="568102" cy="1812977"/>
          </a:xfrm>
          <a:custGeom>
            <a:avLst/>
            <a:gdLst>
              <a:gd name="connsiteX0" fmla="*/ 0 w 1076325"/>
              <a:gd name="connsiteY0" fmla="*/ 0 h 1339346"/>
              <a:gd name="connsiteX1" fmla="*/ 476250 w 1076325"/>
              <a:gd name="connsiteY1" fmla="*/ 1276350 h 1339346"/>
              <a:gd name="connsiteX2" fmla="*/ 1076325 w 1076325"/>
              <a:gd name="connsiteY2" fmla="*/ 1143000 h 1339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6325" h="1339346">
                <a:moveTo>
                  <a:pt x="0" y="0"/>
                </a:moveTo>
                <a:cubicBezTo>
                  <a:pt x="148431" y="542925"/>
                  <a:pt x="296863" y="1085850"/>
                  <a:pt x="476250" y="1276350"/>
                </a:cubicBezTo>
                <a:cubicBezTo>
                  <a:pt x="655637" y="1466850"/>
                  <a:pt x="984250" y="1166812"/>
                  <a:pt x="1076325" y="1143000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A8493F2-8B42-43D8-B38F-8F796F61BA54}"/>
                  </a:ext>
                </a:extLst>
              </p:cNvPr>
              <p:cNvSpPr txBox="1"/>
              <p:nvPr/>
            </p:nvSpPr>
            <p:spPr>
              <a:xfrm>
                <a:off x="804554" y="4174583"/>
                <a:ext cx="819175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A8493F2-8B42-43D8-B38F-8F796F61B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54" y="4174583"/>
                <a:ext cx="819175" cy="439736"/>
              </a:xfrm>
              <a:prstGeom prst="rect">
                <a:avLst/>
              </a:prstGeom>
              <a:blipFill>
                <a:blip r:embed="rId4"/>
                <a:stretch>
                  <a:fillRect l="-3731"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F1EC343-D3C0-4A3D-9AA5-7CE0449F009D}"/>
                  </a:ext>
                </a:extLst>
              </p:cNvPr>
              <p:cNvSpPr txBox="1"/>
              <p:nvPr/>
            </p:nvSpPr>
            <p:spPr>
              <a:xfrm>
                <a:off x="632520" y="5082283"/>
                <a:ext cx="891183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F1EC343-D3C0-4A3D-9AA5-7CE0449F0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20" y="5082283"/>
                <a:ext cx="891183" cy="439736"/>
              </a:xfrm>
              <a:prstGeom prst="rect">
                <a:avLst/>
              </a:prstGeom>
              <a:blipFill>
                <a:blip r:embed="rId5"/>
                <a:stretch>
                  <a:fillRect l="-3425" r="-8904"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E69334B-1DE1-4285-A5B4-D084098272B4}"/>
                  </a:ext>
                </a:extLst>
              </p:cNvPr>
              <p:cNvSpPr txBox="1"/>
              <p:nvPr/>
            </p:nvSpPr>
            <p:spPr>
              <a:xfrm>
                <a:off x="1843007" y="5976035"/>
                <a:ext cx="459135" cy="405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E69334B-1DE1-4285-A5B4-D08409827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007" y="5976035"/>
                <a:ext cx="459135" cy="4056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7159BD1-DCC7-4343-B2DF-50362683AC9B}"/>
                  </a:ext>
                </a:extLst>
              </p:cNvPr>
              <p:cNvSpPr txBox="1"/>
              <p:nvPr/>
            </p:nvSpPr>
            <p:spPr>
              <a:xfrm>
                <a:off x="2091504" y="6006310"/>
                <a:ext cx="728608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7159BD1-DCC7-4343-B2DF-50362683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504" y="6006310"/>
                <a:ext cx="728608" cy="3742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E71024ED-80ED-4924-A971-B7C1E0AF197E}"/>
              </a:ext>
            </a:extLst>
          </p:cNvPr>
          <p:cNvCxnSpPr>
            <a:cxnSpLocks/>
          </p:cNvCxnSpPr>
          <p:nvPr/>
        </p:nvCxnSpPr>
        <p:spPr bwMode="auto">
          <a:xfrm>
            <a:off x="5479304" y="5955856"/>
            <a:ext cx="21469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9D37370-01FF-4036-A8FF-BFA323801902}"/>
              </a:ext>
            </a:extLst>
          </p:cNvPr>
          <p:cNvCxnSpPr>
            <a:cxnSpLocks/>
          </p:cNvCxnSpPr>
          <p:nvPr/>
        </p:nvCxnSpPr>
        <p:spPr bwMode="auto">
          <a:xfrm flipV="1">
            <a:off x="5479304" y="366718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EFF1AD0-0E31-44B8-BB7D-56D589B298A3}"/>
                  </a:ext>
                </a:extLst>
              </p:cNvPr>
              <p:cNvSpPr txBox="1"/>
              <p:nvPr/>
            </p:nvSpPr>
            <p:spPr>
              <a:xfrm>
                <a:off x="6972329" y="5890424"/>
                <a:ext cx="6539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EFF1AD0-0E31-44B8-BB7D-56D589B29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329" y="5890424"/>
                <a:ext cx="65391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E4421D00-7509-491B-B762-E6CE052725A1}"/>
                  </a:ext>
                </a:extLst>
              </p:cNvPr>
              <p:cNvSpPr txBox="1"/>
              <p:nvPr/>
            </p:nvSpPr>
            <p:spPr>
              <a:xfrm>
                <a:off x="5265142" y="3241077"/>
                <a:ext cx="6660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E4421D00-7509-491B-B762-E6CE05272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142" y="3241077"/>
                <a:ext cx="666007" cy="400110"/>
              </a:xfrm>
              <a:prstGeom prst="rect">
                <a:avLst/>
              </a:prstGeom>
              <a:blipFill>
                <a:blip r:embed="rId9"/>
                <a:stretch>
                  <a:fillRect l="-4587" r="-7339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本框 69">
            <a:extLst>
              <a:ext uri="{FF2B5EF4-FFF2-40B4-BE49-F238E27FC236}">
                <a16:creationId xmlns:a16="http://schemas.microsoft.com/office/drawing/2014/main" id="{A5C283C2-7CA2-4641-9B0E-4FDF01698A1D}"/>
              </a:ext>
            </a:extLst>
          </p:cNvPr>
          <p:cNvSpPr txBox="1"/>
          <p:nvPr/>
        </p:nvSpPr>
        <p:spPr>
          <a:xfrm>
            <a:off x="5156689" y="590581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02ED33AF-A4DE-4D0B-93B5-83951F04294E}"/>
              </a:ext>
            </a:extLst>
          </p:cNvPr>
          <p:cNvCxnSpPr>
            <a:cxnSpLocks/>
          </p:cNvCxnSpPr>
          <p:nvPr/>
        </p:nvCxnSpPr>
        <p:spPr bwMode="auto">
          <a:xfrm>
            <a:off x="5983360" y="4354290"/>
            <a:ext cx="0" cy="16015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B76D734D-2B09-4556-9E85-62ECBAEE9E5A}"/>
              </a:ext>
            </a:extLst>
          </p:cNvPr>
          <p:cNvCxnSpPr>
            <a:cxnSpLocks/>
          </p:cNvCxnSpPr>
          <p:nvPr/>
        </p:nvCxnSpPr>
        <p:spPr bwMode="auto">
          <a:xfrm flipH="1">
            <a:off x="5479305" y="4371680"/>
            <a:ext cx="50405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BB54FD50-DBAC-480B-BB4F-2AE583F4C202}"/>
              </a:ext>
            </a:extLst>
          </p:cNvPr>
          <p:cNvCxnSpPr>
            <a:cxnSpLocks/>
          </p:cNvCxnSpPr>
          <p:nvPr/>
        </p:nvCxnSpPr>
        <p:spPr bwMode="auto">
          <a:xfrm flipH="1">
            <a:off x="5453331" y="4483538"/>
            <a:ext cx="99478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93899DD9-4A0F-43CF-9639-754C53ACE66B}"/>
              </a:ext>
            </a:extLst>
          </p:cNvPr>
          <p:cNvCxnSpPr>
            <a:cxnSpLocks/>
          </p:cNvCxnSpPr>
          <p:nvPr/>
        </p:nvCxnSpPr>
        <p:spPr bwMode="auto">
          <a:xfrm>
            <a:off x="6465168" y="4484107"/>
            <a:ext cx="0" cy="147174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11DEC78-F164-4C43-B807-4CC5C5518B70}"/>
                  </a:ext>
                </a:extLst>
              </p:cNvPr>
              <p:cNvSpPr txBox="1"/>
              <p:nvPr/>
            </p:nvSpPr>
            <p:spPr>
              <a:xfrm>
                <a:off x="4693659" y="4005607"/>
                <a:ext cx="819175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11DEC78-F164-4C43-B807-4CC5C5518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659" y="4005607"/>
                <a:ext cx="819175" cy="439736"/>
              </a:xfrm>
              <a:prstGeom prst="rect">
                <a:avLst/>
              </a:prstGeom>
              <a:blipFill>
                <a:blip r:embed="rId10"/>
                <a:stretch>
                  <a:fillRect l="-3731"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D0A7D3C-A19F-4610-95A4-768AF5F35AFC}"/>
                  </a:ext>
                </a:extLst>
              </p:cNvPr>
              <p:cNvSpPr txBox="1"/>
              <p:nvPr/>
            </p:nvSpPr>
            <p:spPr>
              <a:xfrm>
                <a:off x="4503602" y="4340284"/>
                <a:ext cx="891183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D0A7D3C-A19F-4610-95A4-768AF5F35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602" y="4340284"/>
                <a:ext cx="891183" cy="439736"/>
              </a:xfrm>
              <a:prstGeom prst="rect">
                <a:avLst/>
              </a:prstGeom>
              <a:blipFill>
                <a:blip r:embed="rId11"/>
                <a:stretch>
                  <a:fillRect l="-3425" r="-8904"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4C665F33-C6E5-4B6E-8FBB-7D8FB849CB62}"/>
                  </a:ext>
                </a:extLst>
              </p:cNvPr>
              <p:cNvSpPr txBox="1"/>
              <p:nvPr/>
            </p:nvSpPr>
            <p:spPr>
              <a:xfrm>
                <a:off x="5672609" y="5910603"/>
                <a:ext cx="459135" cy="405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4C665F33-C6E5-4B6E-8FBB-7D8FB849C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609" y="5910603"/>
                <a:ext cx="459135" cy="40562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DC46C96D-4938-4F6E-A767-C59A5206F835}"/>
                  </a:ext>
                </a:extLst>
              </p:cNvPr>
              <p:cNvSpPr txBox="1"/>
              <p:nvPr/>
            </p:nvSpPr>
            <p:spPr>
              <a:xfrm>
                <a:off x="6078191" y="5945453"/>
                <a:ext cx="728608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DC46C96D-4938-4F6E-A767-C59A5206F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191" y="5945453"/>
                <a:ext cx="728608" cy="3742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D28E44F7-DB71-42CC-8F95-0B17D64DF522}"/>
              </a:ext>
            </a:extLst>
          </p:cNvPr>
          <p:cNvSpPr/>
          <p:nvPr/>
        </p:nvSpPr>
        <p:spPr bwMode="auto">
          <a:xfrm>
            <a:off x="5949831" y="4319555"/>
            <a:ext cx="2421467" cy="439736"/>
          </a:xfrm>
          <a:custGeom>
            <a:avLst/>
            <a:gdLst>
              <a:gd name="connsiteX0" fmla="*/ 0 w 2421467"/>
              <a:gd name="connsiteY0" fmla="*/ 0 h 958110"/>
              <a:gd name="connsiteX1" fmla="*/ 491067 w 2421467"/>
              <a:gd name="connsiteY1" fmla="*/ 330200 h 958110"/>
              <a:gd name="connsiteX2" fmla="*/ 1100667 w 2421467"/>
              <a:gd name="connsiteY2" fmla="*/ 397934 h 958110"/>
              <a:gd name="connsiteX3" fmla="*/ 1549400 w 2421467"/>
              <a:gd name="connsiteY3" fmla="*/ 956734 h 958110"/>
              <a:gd name="connsiteX4" fmla="*/ 2421467 w 2421467"/>
              <a:gd name="connsiteY4" fmla="*/ 524934 h 95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1467" h="958110">
                <a:moveTo>
                  <a:pt x="0" y="0"/>
                </a:moveTo>
                <a:cubicBezTo>
                  <a:pt x="153811" y="131939"/>
                  <a:pt x="307623" y="263878"/>
                  <a:pt x="491067" y="330200"/>
                </a:cubicBezTo>
                <a:cubicBezTo>
                  <a:pt x="674511" y="396522"/>
                  <a:pt x="924278" y="293512"/>
                  <a:pt x="1100667" y="397934"/>
                </a:cubicBezTo>
                <a:cubicBezTo>
                  <a:pt x="1277056" y="502356"/>
                  <a:pt x="1329267" y="935567"/>
                  <a:pt x="1549400" y="956734"/>
                </a:cubicBezTo>
                <a:cubicBezTo>
                  <a:pt x="1769533" y="977901"/>
                  <a:pt x="2095500" y="751417"/>
                  <a:pt x="2421467" y="524934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14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29" grpId="0" animBg="1"/>
      <p:bldP spid="44" grpId="0"/>
      <p:bldP spid="46" grpId="0"/>
      <p:bldP spid="48" grpId="0"/>
      <p:bldP spid="50" grpId="0"/>
      <p:bldP spid="68" grpId="0"/>
      <p:bldP spid="69" grpId="0"/>
      <p:bldP spid="70" grpId="0"/>
      <p:bldP spid="76" grpId="0"/>
      <p:bldP spid="77" grpId="0"/>
      <p:bldP spid="78" grpId="0"/>
      <p:bldP spid="79" grpId="0"/>
      <p:bldP spid="8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A13288-8BCB-4C78-85A9-79F6F07A0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一维搜索方法概述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B54202-3265-46DF-B8CD-57A5607C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定义：</a:t>
            </a:r>
            <a:endParaRPr lang="en-US" altLang="zh-CN" dirty="0"/>
          </a:p>
          <a:p>
            <a:pPr lvl="1"/>
            <a:r>
              <a:rPr lang="zh-CN" altLang="en-US" dirty="0"/>
              <a:t>一维搜索方法也称为一维优化方法，目标是</a:t>
            </a:r>
            <a:r>
              <a:rPr lang="zh-CN" altLang="en-US" dirty="0">
                <a:solidFill>
                  <a:srgbClr val="FF0000"/>
                </a:solidFill>
              </a:rPr>
              <a:t>采用数值迭代法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0000FF"/>
                </a:solidFill>
              </a:rPr>
              <a:t>一维函数进行极值点求解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作用：</a:t>
            </a:r>
            <a:endParaRPr lang="en-US" altLang="zh-CN" dirty="0"/>
          </a:p>
          <a:p>
            <a:pPr lvl="1"/>
            <a:r>
              <a:rPr lang="zh-CN" altLang="en-US" dirty="0"/>
              <a:t>工程中一维优化问题是很少的</a:t>
            </a:r>
            <a:endParaRPr lang="en-US" altLang="zh-CN" dirty="0"/>
          </a:p>
          <a:p>
            <a:pPr lvl="1"/>
            <a:r>
              <a:rPr lang="zh-CN" altLang="en-US" dirty="0"/>
              <a:t>一维优化方法</a:t>
            </a:r>
            <a:r>
              <a:rPr lang="zh-CN" altLang="en-US" dirty="0">
                <a:solidFill>
                  <a:srgbClr val="C00000"/>
                </a:solidFill>
              </a:rPr>
              <a:t>是多维优化方法的基础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9C3C10-0199-4878-836D-91D170EC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0B5DC0-826E-41E3-94BC-360D2C4B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627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5087F-625A-407D-A29B-0842AD93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一维搜索方法概述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964A52-82EA-487A-ADBD-8D8A40AA8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7" y="1129358"/>
            <a:ext cx="9719492" cy="5264289"/>
          </a:xfrm>
        </p:spPr>
        <p:txBody>
          <a:bodyPr/>
          <a:lstStyle/>
          <a:p>
            <a:r>
              <a:rPr lang="zh-CN" altLang="en-US" dirty="0"/>
              <a:t>对于数值迭代的基本公式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C5595A-64DA-4164-8262-84870E05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C9D6FA-E9C7-49E5-B746-E1617391A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D8E2605-5C06-4D5C-9960-8C781595AC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102778"/>
              </p:ext>
            </p:extLst>
          </p:nvPr>
        </p:nvGraphicFramePr>
        <p:xfrm>
          <a:off x="1831975" y="1957388"/>
          <a:ext cx="5799138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419040" progId="Equation.DSMT4">
                  <p:embed/>
                </p:oleObj>
              </mc:Choice>
              <mc:Fallback>
                <p:oleObj name="Equation" r:id="rId2" imgW="1765080" imgH="419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D00028A-BF4F-4601-BF2A-125A82B39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1975" y="1957388"/>
                        <a:ext cx="5799138" cy="1376362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3C226BA-D969-4319-90CE-B908960681B8}"/>
                  </a:ext>
                </a:extLst>
              </p:cNvPr>
              <p:cNvSpPr txBox="1"/>
              <p:nvPr/>
            </p:nvSpPr>
            <p:spPr>
              <a:xfrm>
                <a:off x="344815" y="3496044"/>
                <a:ext cx="9433993" cy="552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/>
                  <a:t>如果是一维问题，则数值迭代问题就是求解步长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800" dirty="0"/>
                  <a:t>的过程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3C226BA-D969-4319-90CE-B90896068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15" y="3496044"/>
                <a:ext cx="9433993" cy="552267"/>
              </a:xfrm>
              <a:prstGeom prst="rect">
                <a:avLst/>
              </a:prstGeom>
              <a:blipFill>
                <a:blip r:embed="rId5"/>
                <a:stretch>
                  <a:fillRect l="-1357" t="-5495" r="-65" b="-29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72601F06-0467-467D-9D02-86C7500123D0}"/>
              </a:ext>
            </a:extLst>
          </p:cNvPr>
          <p:cNvSpPr txBox="1"/>
          <p:nvPr/>
        </p:nvSpPr>
        <p:spPr>
          <a:xfrm>
            <a:off x="344815" y="4158483"/>
            <a:ext cx="86036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zh-CN" altLang="en-US" sz="2800" dirty="0"/>
              <a:t>次数较低的一元函数，可以通过数学解析法来实现</a:t>
            </a:r>
            <a:endParaRPr lang="en-US" altLang="zh-CN" sz="2800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sz="2800" dirty="0"/>
              <a:t>如果次数较高，则可以通过迭代法来实现求解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6E7417-23F4-4F6D-800E-6670588D1708}"/>
              </a:ext>
            </a:extLst>
          </p:cNvPr>
          <p:cNvSpPr txBox="1"/>
          <p:nvPr/>
        </p:nvSpPr>
        <p:spPr>
          <a:xfrm>
            <a:off x="344815" y="5333446"/>
            <a:ext cx="9072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主要方法：</a:t>
            </a:r>
            <a:r>
              <a:rPr lang="en-US" altLang="zh-CN" sz="2800" dirty="0">
                <a:solidFill>
                  <a:srgbClr val="C00000"/>
                </a:solidFill>
              </a:rPr>
              <a:t>0.618</a:t>
            </a:r>
            <a:r>
              <a:rPr lang="zh-CN" altLang="en-US" sz="2800" dirty="0">
                <a:solidFill>
                  <a:srgbClr val="C00000"/>
                </a:solidFill>
              </a:rPr>
              <a:t>法</a:t>
            </a:r>
            <a:r>
              <a:rPr lang="zh-CN" altLang="en-US" sz="2800" dirty="0"/>
              <a:t>（黄金分割法）、</a:t>
            </a:r>
            <a:r>
              <a:rPr lang="zh-CN" altLang="en-US" sz="2800" dirty="0">
                <a:solidFill>
                  <a:srgbClr val="0000FF"/>
                </a:solidFill>
              </a:rPr>
              <a:t>插值法（二次、三次插值）</a:t>
            </a:r>
            <a:r>
              <a:rPr lang="zh-CN" altLang="en-US" sz="2800" dirty="0"/>
              <a:t>等</a:t>
            </a:r>
          </a:p>
        </p:txBody>
      </p:sp>
    </p:spTree>
    <p:extLst>
      <p:ext uri="{BB962C8B-B14F-4D97-AF65-F5344CB8AC3E}">
        <p14:creationId xmlns:p14="http://schemas.microsoft.com/office/powerpoint/2010/main" val="1705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5087F-625A-407D-A29B-0842AD93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一维搜索方法概述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964A52-82EA-487A-ADBD-8D8A40AA8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7" y="1129358"/>
            <a:ext cx="9719492" cy="5264289"/>
          </a:xfrm>
        </p:spPr>
        <p:txBody>
          <a:bodyPr/>
          <a:lstStyle/>
          <a:p>
            <a:r>
              <a:rPr lang="zh-CN" altLang="en-US" dirty="0"/>
              <a:t>一维搜索方法过程：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C5595A-64DA-4164-8262-84870E05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C9D6FA-E9C7-49E5-B746-E1617391A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2601F06-0467-467D-9D02-86C7500123D0}"/>
                  </a:ext>
                </a:extLst>
              </p:cNvPr>
              <p:cNvSpPr txBox="1"/>
              <p:nvPr/>
            </p:nvSpPr>
            <p:spPr>
              <a:xfrm>
                <a:off x="651180" y="2024667"/>
                <a:ext cx="4926349" cy="1414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514350" indent="-514350">
                  <a:buFont typeface="+mj-ea"/>
                  <a:buAutoNum type="circleNumDbPlain"/>
                </a:pPr>
                <a:r>
                  <a:rPr lang="zh-CN" altLang="en-US" sz="2800" dirty="0"/>
                  <a:t>确定搜索区间</a:t>
                </a:r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r>
                  <a:rPr lang="zh-CN" altLang="en-US" sz="2800" dirty="0"/>
                  <a:t>在搜索区间内求解步长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2601F06-0467-467D-9D02-86C750012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80" y="2024667"/>
                <a:ext cx="4926349" cy="1414041"/>
              </a:xfrm>
              <a:prstGeom prst="rect">
                <a:avLst/>
              </a:prstGeom>
              <a:blipFill>
                <a:blip r:embed="rId2"/>
                <a:stretch>
                  <a:fillRect l="-2970" t="-7328" b="-12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52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330F3B-EAE1-4BAC-BAFA-428BB2C7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一维搜索方法概述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C80C65-902B-4D9D-840F-F0D43E7AED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搜索区间的确定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单峰区间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定义：对于函数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在某个区间内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存在唯一的极小值点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则这个函数区间称为单峰区间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C80C65-902B-4D9D-840F-F0D43E7AED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945424-AAC1-4973-A8B9-468AF41C3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65BF65-8D28-4DDE-BF65-56F8D1B2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05989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CDA66FB-0E90-44AA-90AD-18157DA282FF}"/>
              </a:ext>
            </a:extLst>
          </p:cNvPr>
          <p:cNvCxnSpPr>
            <a:cxnSpLocks/>
          </p:cNvCxnSpPr>
          <p:nvPr/>
        </p:nvCxnSpPr>
        <p:spPr bwMode="auto">
          <a:xfrm>
            <a:off x="1894728" y="6142919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6C64B41-AE15-4491-87FF-E13EBD1669E4}"/>
              </a:ext>
            </a:extLst>
          </p:cNvPr>
          <p:cNvCxnSpPr>
            <a:cxnSpLocks/>
          </p:cNvCxnSpPr>
          <p:nvPr/>
        </p:nvCxnSpPr>
        <p:spPr bwMode="auto">
          <a:xfrm flipV="1">
            <a:off x="1894728" y="3854247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04D7198-FED1-46F2-A276-32B22FACE1DC}"/>
                  </a:ext>
                </a:extLst>
              </p:cNvPr>
              <p:cNvSpPr txBox="1"/>
              <p:nvPr/>
            </p:nvSpPr>
            <p:spPr>
              <a:xfrm>
                <a:off x="4803143" y="5656232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04D7198-FED1-46F2-A276-32B22FA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143" y="5656232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3C6D99-63FC-47FA-8E14-BD84F32007D0}"/>
                  </a:ext>
                </a:extLst>
              </p:cNvPr>
              <p:cNvSpPr txBox="1"/>
              <p:nvPr/>
            </p:nvSpPr>
            <p:spPr>
              <a:xfrm>
                <a:off x="1680566" y="3428140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3C6D99-63FC-47FA-8E14-BD84F3200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566" y="3428140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8257" r="-2568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967525C3-AB9E-47B6-81A4-E47149D13D36}"/>
              </a:ext>
            </a:extLst>
          </p:cNvPr>
          <p:cNvSpPr txBox="1"/>
          <p:nvPr/>
        </p:nvSpPr>
        <p:spPr>
          <a:xfrm>
            <a:off x="1572113" y="6092876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ABE1F45-B435-4075-A6C2-9F2CB142B1A8}"/>
              </a:ext>
            </a:extLst>
          </p:cNvPr>
          <p:cNvCxnSpPr>
            <a:cxnSpLocks/>
          </p:cNvCxnSpPr>
          <p:nvPr/>
        </p:nvCxnSpPr>
        <p:spPr bwMode="auto">
          <a:xfrm>
            <a:off x="2398784" y="4541353"/>
            <a:ext cx="0" cy="16015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138C3F-8D89-4CC7-B592-08E3CA940383}"/>
              </a:ext>
            </a:extLst>
          </p:cNvPr>
          <p:cNvCxnSpPr>
            <a:cxnSpLocks/>
          </p:cNvCxnSpPr>
          <p:nvPr/>
        </p:nvCxnSpPr>
        <p:spPr bwMode="auto">
          <a:xfrm>
            <a:off x="3800872" y="4792231"/>
            <a:ext cx="0" cy="13506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D60F42D-E626-4703-9990-83FFB730DFD0}"/>
                  </a:ext>
                </a:extLst>
              </p:cNvPr>
              <p:cNvSpPr txBox="1"/>
              <p:nvPr/>
            </p:nvSpPr>
            <p:spPr>
              <a:xfrm>
                <a:off x="2232723" y="6017865"/>
                <a:ext cx="4591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D60F42D-E626-4703-9990-83FFB730D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723" y="6017865"/>
                <a:ext cx="45913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F620D7C-844A-4498-82C5-C22F64406726}"/>
                  </a:ext>
                </a:extLst>
              </p:cNvPr>
              <p:cNvSpPr txBox="1"/>
              <p:nvPr/>
            </p:nvSpPr>
            <p:spPr>
              <a:xfrm>
                <a:off x="3476777" y="6014647"/>
                <a:ext cx="6934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F620D7C-844A-4498-82C5-C22F64406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777" y="6014647"/>
                <a:ext cx="69343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27DC97AE-E7F4-4BA2-8D02-D0AA33E7E2C9}"/>
              </a:ext>
            </a:extLst>
          </p:cNvPr>
          <p:cNvSpPr/>
          <p:nvPr/>
        </p:nvSpPr>
        <p:spPr bwMode="auto">
          <a:xfrm>
            <a:off x="2317600" y="4273291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BC7C470-9D32-4F8A-AC5B-423BB06CE563}"/>
              </a:ext>
            </a:extLst>
          </p:cNvPr>
          <p:cNvCxnSpPr>
            <a:cxnSpLocks/>
          </p:cNvCxnSpPr>
          <p:nvPr/>
        </p:nvCxnSpPr>
        <p:spPr bwMode="auto">
          <a:xfrm>
            <a:off x="3008784" y="5508751"/>
            <a:ext cx="0" cy="63416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5D17D8F-CE32-49A4-AA75-9BE5BBBB0BBC}"/>
                  </a:ext>
                </a:extLst>
              </p:cNvPr>
              <p:cNvSpPr txBox="1"/>
              <p:nvPr/>
            </p:nvSpPr>
            <p:spPr>
              <a:xfrm>
                <a:off x="2981299" y="5680010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5D17D8F-CE32-49A4-AA75-9BE5BBBB0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299" y="5680010"/>
                <a:ext cx="5040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思想气泡: 云 18">
                <a:extLst>
                  <a:ext uri="{FF2B5EF4-FFF2-40B4-BE49-F238E27FC236}">
                    <a16:creationId xmlns:a16="http://schemas.microsoft.com/office/drawing/2014/main" id="{84000EAD-C3A4-4DDC-8AD6-A90025CEC0F8}"/>
                  </a:ext>
                </a:extLst>
              </p:cNvPr>
              <p:cNvSpPr/>
              <p:nvPr/>
            </p:nvSpPr>
            <p:spPr bwMode="auto">
              <a:xfrm>
                <a:off x="4467298" y="3386195"/>
                <a:ext cx="5310231" cy="1406035"/>
              </a:xfrm>
              <a:prstGeom prst="cloudCallout">
                <a:avLst>
                  <a:gd name="adj1" fmla="val -69945"/>
                  <a:gd name="adj2" fmla="val 104397"/>
                </a:avLst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kumimoji="0" lang="en-US" altLang="zh-CN" sz="2400" b="1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4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zh-CN" altLang="en-US" sz="2400" b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</a:endParaRP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大</a:t>
                </a: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——</a:t>
                </a:r>
                <a:r>
                  <a: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小</a:t>
                </a: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——</a:t>
                </a:r>
                <a:r>
                  <a: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大</a:t>
                </a:r>
                <a:endPara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</a:endParaRP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高</a:t>
                </a: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——</a:t>
                </a:r>
                <a:r>
                  <a: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低</a:t>
                </a:r>
                <a:r>
                  <a:rPr lang="en-US" altLang="zh-CN" sz="2400" b="1" dirty="0">
                    <a:solidFill>
                      <a:srgbClr val="C00000"/>
                    </a:solidFill>
                  </a:rPr>
                  <a:t>——</a:t>
                </a:r>
                <a:r>
                  <a: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高</a:t>
                </a:r>
              </a:p>
            </p:txBody>
          </p:sp>
        </mc:Choice>
        <mc:Fallback xmlns="">
          <p:sp>
            <p:nvSpPr>
              <p:cNvPr id="19" name="思想气泡: 云 18">
                <a:extLst>
                  <a:ext uri="{FF2B5EF4-FFF2-40B4-BE49-F238E27FC236}">
                    <a16:creationId xmlns:a16="http://schemas.microsoft.com/office/drawing/2014/main" id="{84000EAD-C3A4-4DDC-8AD6-A90025CEC0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7298" y="3386195"/>
                <a:ext cx="5310231" cy="1406035"/>
              </a:xfrm>
              <a:prstGeom prst="cloudCallout">
                <a:avLst>
                  <a:gd name="adj1" fmla="val -69945"/>
                  <a:gd name="adj2" fmla="val 104397"/>
                </a:avLst>
              </a:prstGeom>
              <a:blipFill>
                <a:blip r:embed="rId8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44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21" grpId="0"/>
      <p:bldP spid="22" grpId="0"/>
      <p:bldP spid="23" grpId="0" animBg="1"/>
      <p:bldP spid="30" grpId="0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330F3B-EAE1-4BAC-BAFA-428BB2C7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一维搜索方法概述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C80C65-902B-4D9D-840F-F0D43E7AE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搜索区间的确定</a:t>
            </a:r>
            <a:endParaRPr lang="en-US" altLang="zh-CN" dirty="0"/>
          </a:p>
          <a:p>
            <a:pPr lvl="1"/>
            <a:r>
              <a:rPr lang="zh-CN" altLang="en-US" dirty="0"/>
              <a:t>单峰区间确定过程</a:t>
            </a:r>
            <a:endParaRPr lang="en-US" altLang="zh-CN" dirty="0"/>
          </a:p>
          <a:p>
            <a:pPr lvl="2"/>
            <a:r>
              <a:rPr lang="zh-CN" altLang="en-US" dirty="0"/>
              <a:t>核心思想：给出三个试算点，依次比较各点函数值大小，不断迭代，直到找到符合“大</a:t>
            </a:r>
            <a:r>
              <a:rPr lang="en-US" altLang="zh-CN" dirty="0"/>
              <a:t>-</a:t>
            </a:r>
            <a:r>
              <a:rPr lang="zh-CN" altLang="en-US" dirty="0"/>
              <a:t>小</a:t>
            </a:r>
            <a:r>
              <a:rPr lang="en-US" altLang="zh-CN" dirty="0"/>
              <a:t>-</a:t>
            </a:r>
            <a:r>
              <a:rPr lang="zh-CN" altLang="en-US" dirty="0"/>
              <a:t>大”函数值变化的函数区间。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945424-AAC1-4973-A8B9-468AF41C3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65BF65-8D28-4DDE-BF65-56F8D1B2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05989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CDA66FB-0E90-44AA-90AD-18157DA282FF}"/>
              </a:ext>
            </a:extLst>
          </p:cNvPr>
          <p:cNvCxnSpPr>
            <a:cxnSpLocks/>
          </p:cNvCxnSpPr>
          <p:nvPr/>
        </p:nvCxnSpPr>
        <p:spPr bwMode="auto">
          <a:xfrm>
            <a:off x="5279104" y="6027608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6C64B41-AE15-4491-87FF-E13EBD1669E4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9104" y="3738936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04D7198-FED1-46F2-A276-32B22FACE1DC}"/>
                  </a:ext>
                </a:extLst>
              </p:cNvPr>
              <p:cNvSpPr txBox="1"/>
              <p:nvPr/>
            </p:nvSpPr>
            <p:spPr>
              <a:xfrm>
                <a:off x="8187519" y="5540921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04D7198-FED1-46F2-A276-32B22FA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7519" y="5540921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3C6D99-63FC-47FA-8E14-BD84F32007D0}"/>
                  </a:ext>
                </a:extLst>
              </p:cNvPr>
              <p:cNvSpPr txBox="1"/>
              <p:nvPr/>
            </p:nvSpPr>
            <p:spPr>
              <a:xfrm>
                <a:off x="4491530" y="3696315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3C6D99-63FC-47FA-8E14-BD84F3200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530" y="3696315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8257" r="-2568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967525C3-AB9E-47B6-81A4-E47149D13D36}"/>
              </a:ext>
            </a:extLst>
          </p:cNvPr>
          <p:cNvSpPr txBox="1"/>
          <p:nvPr/>
        </p:nvSpPr>
        <p:spPr>
          <a:xfrm>
            <a:off x="4956489" y="5977565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ABE1F45-B435-4075-A6C2-9F2CB142B1A8}"/>
              </a:ext>
            </a:extLst>
          </p:cNvPr>
          <p:cNvCxnSpPr>
            <a:cxnSpLocks/>
          </p:cNvCxnSpPr>
          <p:nvPr/>
        </p:nvCxnSpPr>
        <p:spPr bwMode="auto">
          <a:xfrm>
            <a:off x="5783160" y="4426042"/>
            <a:ext cx="0" cy="16015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138C3F-8D89-4CC7-B592-08E3CA940383}"/>
              </a:ext>
            </a:extLst>
          </p:cNvPr>
          <p:cNvCxnSpPr>
            <a:cxnSpLocks/>
          </p:cNvCxnSpPr>
          <p:nvPr/>
        </p:nvCxnSpPr>
        <p:spPr bwMode="auto">
          <a:xfrm>
            <a:off x="7185248" y="4676920"/>
            <a:ext cx="0" cy="13506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D60F42D-E626-4703-9990-83FFB730DFD0}"/>
                  </a:ext>
                </a:extLst>
              </p:cNvPr>
              <p:cNvSpPr txBox="1"/>
              <p:nvPr/>
            </p:nvSpPr>
            <p:spPr>
              <a:xfrm>
                <a:off x="5617099" y="5902554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1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D60F42D-E626-4703-9990-83FFB730D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099" y="5902554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32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F620D7C-844A-4498-82C5-C22F64406726}"/>
                  </a:ext>
                </a:extLst>
              </p:cNvPr>
              <p:cNvSpPr txBox="1"/>
              <p:nvPr/>
            </p:nvSpPr>
            <p:spPr>
              <a:xfrm>
                <a:off x="6861153" y="5899336"/>
                <a:ext cx="6934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baseline="-25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F620D7C-844A-4498-82C5-C22F64406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1153" y="5899336"/>
                <a:ext cx="693438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27DC97AE-E7F4-4BA2-8D02-D0AA33E7E2C9}"/>
              </a:ext>
            </a:extLst>
          </p:cNvPr>
          <p:cNvSpPr/>
          <p:nvPr/>
        </p:nvSpPr>
        <p:spPr bwMode="auto">
          <a:xfrm>
            <a:off x="5701976" y="4157980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BC7C470-9D32-4F8A-AC5B-423BB06CE563}"/>
              </a:ext>
            </a:extLst>
          </p:cNvPr>
          <p:cNvCxnSpPr>
            <a:cxnSpLocks/>
          </p:cNvCxnSpPr>
          <p:nvPr/>
        </p:nvCxnSpPr>
        <p:spPr bwMode="auto">
          <a:xfrm>
            <a:off x="6617005" y="5368418"/>
            <a:ext cx="0" cy="63416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5D17D8F-CE32-49A4-AA75-9BE5BBBB0BBC}"/>
                  </a:ext>
                </a:extLst>
              </p:cNvPr>
              <p:cNvSpPr txBox="1"/>
              <p:nvPr/>
            </p:nvSpPr>
            <p:spPr>
              <a:xfrm>
                <a:off x="6387081" y="5883498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5D17D8F-CE32-49A4-AA75-9BE5BBBB0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081" y="5883498"/>
                <a:ext cx="504055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F5C1E55-35ED-4913-9610-F64567B67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008270"/>
              </p:ext>
            </p:extLst>
          </p:nvPr>
        </p:nvGraphicFramePr>
        <p:xfrm>
          <a:off x="1211221" y="4110194"/>
          <a:ext cx="1718426" cy="907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40" imgH="355320" progId="Equation.DSMT4">
                  <p:embed/>
                </p:oleObj>
              </mc:Choice>
              <mc:Fallback>
                <p:oleObj name="Equation" r:id="rId8" imgW="6728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11221" y="4110194"/>
                        <a:ext cx="1718426" cy="907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箭头: 下 6">
            <a:extLst>
              <a:ext uri="{FF2B5EF4-FFF2-40B4-BE49-F238E27FC236}">
                <a16:creationId xmlns:a16="http://schemas.microsoft.com/office/drawing/2014/main" id="{DF09FC23-527E-4626-AF57-2EC97E3A238D}"/>
              </a:ext>
            </a:extLst>
          </p:cNvPr>
          <p:cNvSpPr/>
          <p:nvPr/>
        </p:nvSpPr>
        <p:spPr bwMode="auto">
          <a:xfrm>
            <a:off x="1856656" y="5018042"/>
            <a:ext cx="432048" cy="52287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9C459953-E038-4CA5-B2ED-272916B3A0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927914"/>
              </p:ext>
            </p:extLst>
          </p:nvPr>
        </p:nvGraphicFramePr>
        <p:xfrm>
          <a:off x="1584325" y="5672138"/>
          <a:ext cx="9715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80" imgH="203040" progId="Equation.DSMT4">
                  <p:embed/>
                </p:oleObj>
              </mc:Choice>
              <mc:Fallback>
                <p:oleObj name="Equation" r:id="rId10" imgW="380880" imgH="203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F5C1E55-35ED-4913-9610-F64567B67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4325" y="5672138"/>
                        <a:ext cx="971550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思想气泡: 云 24">
            <a:extLst>
              <a:ext uri="{FF2B5EF4-FFF2-40B4-BE49-F238E27FC236}">
                <a16:creationId xmlns:a16="http://schemas.microsoft.com/office/drawing/2014/main" id="{559E63B3-37E4-423C-94AD-A218C4C43AE4}"/>
              </a:ext>
            </a:extLst>
          </p:cNvPr>
          <p:cNvSpPr/>
          <p:nvPr/>
        </p:nvSpPr>
        <p:spPr bwMode="auto">
          <a:xfrm>
            <a:off x="2541820" y="4815431"/>
            <a:ext cx="2177742" cy="725490"/>
          </a:xfrm>
          <a:prstGeom prst="cloudCallout">
            <a:avLst>
              <a:gd name="adj1" fmla="val -50999"/>
              <a:gd name="adj2" fmla="val 85952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单峰区间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135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21" grpId="0"/>
      <p:bldP spid="22" grpId="0"/>
      <p:bldP spid="23" grpId="0" animBg="1"/>
      <p:bldP spid="30" grpId="0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539808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5398081" cy="830997"/>
              </a:xfrm>
              <a:prstGeom prst="rect">
                <a:avLst/>
              </a:prstGeom>
              <a:blipFill>
                <a:blip r:embed="rId2"/>
                <a:stretch>
                  <a:fillRect l="-2032" t="-11029" b="-19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0987245-F094-4FFC-B93F-1E96705E48ED}"/>
              </a:ext>
            </a:extLst>
          </p:cNvPr>
          <p:cNvCxnSpPr>
            <a:cxnSpLocks/>
          </p:cNvCxnSpPr>
          <p:nvPr/>
        </p:nvCxnSpPr>
        <p:spPr bwMode="auto">
          <a:xfrm>
            <a:off x="5786854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3CFED77-AA3D-4634-A335-28C78FD2A988}"/>
              </a:ext>
            </a:extLst>
          </p:cNvPr>
          <p:cNvCxnSpPr>
            <a:cxnSpLocks/>
          </p:cNvCxnSpPr>
          <p:nvPr/>
        </p:nvCxnSpPr>
        <p:spPr bwMode="auto">
          <a:xfrm flipV="1">
            <a:off x="5786854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8A6C6EE-A034-4B4E-A949-57CB5C8E3E15}"/>
                  </a:ext>
                </a:extLst>
              </p:cNvPr>
              <p:cNvSpPr txBox="1"/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8A6C6EE-A034-4B4E-A949-57CB5C8E3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CA48A45-B53D-4B7B-8F74-3884D31F857D}"/>
                  </a:ext>
                </a:extLst>
              </p:cNvPr>
              <p:cNvSpPr txBox="1"/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CA48A45-B53D-4B7B-8F74-3884D31F8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339" r="-26606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89797105-4807-4CAE-B8F9-26E52367258D}"/>
              </a:ext>
            </a:extLst>
          </p:cNvPr>
          <p:cNvSpPr txBox="1"/>
          <p:nvPr/>
        </p:nvSpPr>
        <p:spPr>
          <a:xfrm>
            <a:off x="5464239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DF6DFF6-E44E-451A-AF4D-63DF67CF222B}"/>
              </a:ext>
            </a:extLst>
          </p:cNvPr>
          <p:cNvCxnSpPr>
            <a:cxnSpLocks/>
          </p:cNvCxnSpPr>
          <p:nvPr/>
        </p:nvCxnSpPr>
        <p:spPr bwMode="auto">
          <a:xfrm>
            <a:off x="6290910" y="3182570"/>
            <a:ext cx="0" cy="16015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FB1B6DC-0B56-4689-8E2C-22F39D8AECC2}"/>
                  </a:ext>
                </a:extLst>
              </p:cNvPr>
              <p:cNvSpPr txBox="1"/>
              <p:nvPr/>
            </p:nvSpPr>
            <p:spPr>
              <a:xfrm>
                <a:off x="6124849" y="4659082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1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FB1B6DC-0B56-4689-8E2C-22F39D8AE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849" y="4659082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67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8070E6F-12E9-4D07-A368-918857ECDFFA}"/>
              </a:ext>
            </a:extLst>
          </p:cNvPr>
          <p:cNvSpPr/>
          <p:nvPr/>
        </p:nvSpPr>
        <p:spPr bwMode="auto">
          <a:xfrm>
            <a:off x="6209726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5DD28C3-4775-4D14-82B8-883FD3241AFB}"/>
              </a:ext>
            </a:extLst>
          </p:cNvPr>
          <p:cNvCxnSpPr>
            <a:cxnSpLocks/>
          </p:cNvCxnSpPr>
          <p:nvPr/>
        </p:nvCxnSpPr>
        <p:spPr bwMode="auto">
          <a:xfrm>
            <a:off x="6681192" y="4005064"/>
            <a:ext cx="0" cy="7540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6966F55-79CE-4726-8F19-B16299F5124D}"/>
                  </a:ext>
                </a:extLst>
              </p:cNvPr>
              <p:cNvSpPr txBox="1"/>
              <p:nvPr/>
            </p:nvSpPr>
            <p:spPr>
              <a:xfrm>
                <a:off x="6456972" y="4650554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6966F55-79CE-4726-8F19-B16299F51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72" y="4650554"/>
                <a:ext cx="504055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836AD6C-B5A7-4A10-8E16-BE71CFFD98FB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4" y="3182570"/>
            <a:ext cx="50405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6EBC4E2-E3D8-4538-8D63-3AE097561FCF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4" y="4005064"/>
            <a:ext cx="89433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E50D7C4-3494-40FA-8C84-7F2977C799EB}"/>
                  </a:ext>
                </a:extLst>
              </p:cNvPr>
              <p:cNvSpPr txBox="1"/>
              <p:nvPr/>
            </p:nvSpPr>
            <p:spPr>
              <a:xfrm>
                <a:off x="5407414" y="2976704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E50D7C4-3494-40FA-8C84-7F2977C79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414" y="2976704"/>
                <a:ext cx="459365" cy="461665"/>
              </a:xfrm>
              <a:prstGeom prst="rect">
                <a:avLst/>
              </a:prstGeom>
              <a:blipFill>
                <a:blip r:embed="rId7"/>
                <a:stretch>
                  <a:fillRect l="-10667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FB730E7-12A5-4E2F-B7CD-88409EF1653C}"/>
                  </a:ext>
                </a:extLst>
              </p:cNvPr>
              <p:cNvSpPr txBox="1"/>
              <p:nvPr/>
            </p:nvSpPr>
            <p:spPr>
              <a:xfrm>
                <a:off x="5400096" y="3712660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FB730E7-12A5-4E2F-B7CD-88409EF16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96" y="3712660"/>
                <a:ext cx="387359" cy="461665"/>
              </a:xfrm>
              <a:prstGeom prst="rect">
                <a:avLst/>
              </a:prstGeom>
              <a:blipFill>
                <a:blip r:embed="rId8"/>
                <a:stretch>
                  <a:fillRect l="-14286" r="-1269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279886B-7762-4A2D-8E2A-5F0C675AED51}"/>
                  </a:ext>
                </a:extLst>
              </p:cNvPr>
              <p:cNvSpPr txBox="1"/>
              <p:nvPr/>
            </p:nvSpPr>
            <p:spPr>
              <a:xfrm>
                <a:off x="6064750" y="4272428"/>
                <a:ext cx="894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279886B-7762-4A2D-8E2A-5F0C675AE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750" y="4272428"/>
                <a:ext cx="8943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117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4" grpId="0"/>
      <p:bldP spid="16" grpId="0" animBg="1"/>
      <p:bldP spid="18" grpId="0"/>
      <p:bldP spid="27" grpId="0"/>
      <p:bldP spid="29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5398081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pPr lvl="2"/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5398081" cy="4524315"/>
              </a:xfrm>
              <a:prstGeom prst="rect">
                <a:avLst/>
              </a:prstGeom>
              <a:blipFill>
                <a:blip r:embed="rId2"/>
                <a:stretch>
                  <a:fillRect l="-2032" t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19F0DC-306B-48D2-9E9B-7965884CB2F0}"/>
              </a:ext>
            </a:extLst>
          </p:cNvPr>
          <p:cNvCxnSpPr>
            <a:cxnSpLocks/>
          </p:cNvCxnSpPr>
          <p:nvPr/>
        </p:nvCxnSpPr>
        <p:spPr bwMode="auto">
          <a:xfrm>
            <a:off x="5786854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AB4CE7-4926-4BD2-8532-6150A4DBD951}"/>
              </a:ext>
            </a:extLst>
          </p:cNvPr>
          <p:cNvCxnSpPr>
            <a:cxnSpLocks/>
          </p:cNvCxnSpPr>
          <p:nvPr/>
        </p:nvCxnSpPr>
        <p:spPr bwMode="auto">
          <a:xfrm flipV="1">
            <a:off x="5786854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/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/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339" r="-26606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921898-D0DF-4662-BC3A-D42716268ED4}"/>
              </a:ext>
            </a:extLst>
          </p:cNvPr>
          <p:cNvSpPr txBox="1"/>
          <p:nvPr/>
        </p:nvSpPr>
        <p:spPr>
          <a:xfrm>
            <a:off x="5464239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F2B7E36-38E3-4B17-AE85-AA736C51BFB5}"/>
              </a:ext>
            </a:extLst>
          </p:cNvPr>
          <p:cNvCxnSpPr>
            <a:cxnSpLocks/>
          </p:cNvCxnSpPr>
          <p:nvPr/>
        </p:nvCxnSpPr>
        <p:spPr bwMode="auto">
          <a:xfrm>
            <a:off x="6290910" y="3182570"/>
            <a:ext cx="0" cy="16015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/>
              <p:nvPr/>
            </p:nvSpPr>
            <p:spPr>
              <a:xfrm>
                <a:off x="6124849" y="4659082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1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849" y="4659082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67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33C65AF-7193-4ACC-96FC-9CA9E9EE8BF7}"/>
              </a:ext>
            </a:extLst>
          </p:cNvPr>
          <p:cNvSpPr/>
          <p:nvPr/>
        </p:nvSpPr>
        <p:spPr bwMode="auto">
          <a:xfrm>
            <a:off x="6209726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79B811-2CC6-4708-9D84-08372C033CE7}"/>
              </a:ext>
            </a:extLst>
          </p:cNvPr>
          <p:cNvCxnSpPr>
            <a:cxnSpLocks/>
          </p:cNvCxnSpPr>
          <p:nvPr/>
        </p:nvCxnSpPr>
        <p:spPr bwMode="auto">
          <a:xfrm>
            <a:off x="6681192" y="4005064"/>
            <a:ext cx="0" cy="7540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5DC14FE-E2BF-4D2B-9649-7818042F7ABF}"/>
                  </a:ext>
                </a:extLst>
              </p:cNvPr>
              <p:cNvSpPr txBox="1"/>
              <p:nvPr/>
            </p:nvSpPr>
            <p:spPr>
              <a:xfrm>
                <a:off x="6456972" y="4648951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5DC14FE-E2BF-4D2B-9649-7818042F7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72" y="4648951"/>
                <a:ext cx="504055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20B45A-87BD-4298-B88C-31310166C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4" y="3182570"/>
            <a:ext cx="50405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D6E87A-8FA3-4FB1-B03E-016B0E86CADC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4" y="4005064"/>
            <a:ext cx="89433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/>
              <p:nvPr/>
            </p:nvSpPr>
            <p:spPr>
              <a:xfrm>
                <a:off x="5407414" y="2976704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414" y="2976704"/>
                <a:ext cx="459365" cy="461665"/>
              </a:xfrm>
              <a:prstGeom prst="rect">
                <a:avLst/>
              </a:prstGeom>
              <a:blipFill>
                <a:blip r:embed="rId7"/>
                <a:stretch>
                  <a:fillRect l="-10667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/>
              <p:nvPr/>
            </p:nvSpPr>
            <p:spPr>
              <a:xfrm>
                <a:off x="5400096" y="3712660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96" y="3712660"/>
                <a:ext cx="387359" cy="461665"/>
              </a:xfrm>
              <a:prstGeom prst="rect">
                <a:avLst/>
              </a:prstGeom>
              <a:blipFill>
                <a:blip r:embed="rId8"/>
                <a:stretch>
                  <a:fillRect l="-14286" r="-1269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081A31D-0A64-4A75-8FFF-988F341990D1}"/>
              </a:ext>
            </a:extLst>
          </p:cNvPr>
          <p:cNvCxnSpPr>
            <a:cxnSpLocks/>
          </p:cNvCxnSpPr>
          <p:nvPr/>
        </p:nvCxnSpPr>
        <p:spPr bwMode="auto">
          <a:xfrm>
            <a:off x="7323500" y="3868692"/>
            <a:ext cx="0" cy="91544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/>
              <p:nvPr/>
            </p:nvSpPr>
            <p:spPr>
              <a:xfrm>
                <a:off x="7099280" y="4648951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280" y="4648951"/>
                <a:ext cx="504055" cy="461665"/>
              </a:xfrm>
              <a:prstGeom prst="rect">
                <a:avLst/>
              </a:prstGeom>
              <a:blipFill>
                <a:blip r:embed="rId9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FE647B5-A7EF-458A-AD11-1EFDA1CB09E9}"/>
                  </a:ext>
                </a:extLst>
              </p:cNvPr>
              <p:cNvSpPr txBox="1"/>
              <p:nvPr/>
            </p:nvSpPr>
            <p:spPr>
              <a:xfrm>
                <a:off x="7373652" y="3596235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FE647B5-A7EF-458A-AD11-1EFDA1CB0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652" y="3596235"/>
                <a:ext cx="459365" cy="461665"/>
              </a:xfrm>
              <a:prstGeom prst="rect">
                <a:avLst/>
              </a:prstGeom>
              <a:blipFill>
                <a:blip r:embed="rId10"/>
                <a:stretch>
                  <a:fillRect l="-12000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32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5398081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pPr lvl="2"/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2400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单峰区间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marL="1371600" lvl="2" indent="-4572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5398081" cy="5262979"/>
              </a:xfrm>
              <a:prstGeom prst="rect">
                <a:avLst/>
              </a:prstGeom>
              <a:blipFill>
                <a:blip r:embed="rId2"/>
                <a:stretch>
                  <a:fillRect l="-2032" t="-1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19F0DC-306B-48D2-9E9B-7965884CB2F0}"/>
              </a:ext>
            </a:extLst>
          </p:cNvPr>
          <p:cNvCxnSpPr>
            <a:cxnSpLocks/>
          </p:cNvCxnSpPr>
          <p:nvPr/>
        </p:nvCxnSpPr>
        <p:spPr bwMode="auto">
          <a:xfrm>
            <a:off x="5786854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AB4CE7-4926-4BD2-8532-6150A4DBD951}"/>
              </a:ext>
            </a:extLst>
          </p:cNvPr>
          <p:cNvCxnSpPr>
            <a:cxnSpLocks/>
          </p:cNvCxnSpPr>
          <p:nvPr/>
        </p:nvCxnSpPr>
        <p:spPr bwMode="auto">
          <a:xfrm flipV="1">
            <a:off x="5786854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/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/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339" r="-26606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921898-D0DF-4662-BC3A-D42716268ED4}"/>
              </a:ext>
            </a:extLst>
          </p:cNvPr>
          <p:cNvSpPr txBox="1"/>
          <p:nvPr/>
        </p:nvSpPr>
        <p:spPr>
          <a:xfrm>
            <a:off x="5464239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F2B7E36-38E3-4B17-AE85-AA736C51BFB5}"/>
              </a:ext>
            </a:extLst>
          </p:cNvPr>
          <p:cNvCxnSpPr>
            <a:cxnSpLocks/>
          </p:cNvCxnSpPr>
          <p:nvPr/>
        </p:nvCxnSpPr>
        <p:spPr bwMode="auto">
          <a:xfrm>
            <a:off x="6290910" y="3182570"/>
            <a:ext cx="0" cy="16015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/>
              <p:nvPr/>
            </p:nvSpPr>
            <p:spPr>
              <a:xfrm>
                <a:off x="6124849" y="4659082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1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849" y="4659082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67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33C65AF-7193-4ACC-96FC-9CA9E9EE8BF7}"/>
              </a:ext>
            </a:extLst>
          </p:cNvPr>
          <p:cNvSpPr/>
          <p:nvPr/>
        </p:nvSpPr>
        <p:spPr bwMode="auto">
          <a:xfrm>
            <a:off x="6209726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79B811-2CC6-4708-9D84-08372C033CE7}"/>
              </a:ext>
            </a:extLst>
          </p:cNvPr>
          <p:cNvCxnSpPr>
            <a:cxnSpLocks/>
          </p:cNvCxnSpPr>
          <p:nvPr/>
        </p:nvCxnSpPr>
        <p:spPr bwMode="auto">
          <a:xfrm>
            <a:off x="6681192" y="4005064"/>
            <a:ext cx="0" cy="7540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5DC14FE-E2BF-4D2B-9649-7818042F7ABF}"/>
                  </a:ext>
                </a:extLst>
              </p:cNvPr>
              <p:cNvSpPr txBox="1"/>
              <p:nvPr/>
            </p:nvSpPr>
            <p:spPr>
              <a:xfrm>
                <a:off x="6456972" y="4648951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5DC14FE-E2BF-4D2B-9649-7818042F7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72" y="4648951"/>
                <a:ext cx="504055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20B45A-87BD-4298-B88C-31310166C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4" y="3182570"/>
            <a:ext cx="50405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D6E87A-8FA3-4FB1-B03E-016B0E86CADC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4" y="4005064"/>
            <a:ext cx="89433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/>
              <p:nvPr/>
            </p:nvSpPr>
            <p:spPr>
              <a:xfrm>
                <a:off x="5407414" y="2976704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414" y="2976704"/>
                <a:ext cx="459365" cy="461665"/>
              </a:xfrm>
              <a:prstGeom prst="rect">
                <a:avLst/>
              </a:prstGeom>
              <a:blipFill>
                <a:blip r:embed="rId7"/>
                <a:stretch>
                  <a:fillRect l="-10667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/>
              <p:nvPr/>
            </p:nvSpPr>
            <p:spPr>
              <a:xfrm>
                <a:off x="5400096" y="3712660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96" y="3712660"/>
                <a:ext cx="387359" cy="461665"/>
              </a:xfrm>
              <a:prstGeom prst="rect">
                <a:avLst/>
              </a:prstGeom>
              <a:blipFill>
                <a:blip r:embed="rId8"/>
                <a:stretch>
                  <a:fillRect l="-14286" r="-1269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081A31D-0A64-4A75-8FFF-988F341990D1}"/>
              </a:ext>
            </a:extLst>
          </p:cNvPr>
          <p:cNvCxnSpPr>
            <a:cxnSpLocks/>
          </p:cNvCxnSpPr>
          <p:nvPr/>
        </p:nvCxnSpPr>
        <p:spPr bwMode="auto">
          <a:xfrm>
            <a:off x="7323500" y="3868692"/>
            <a:ext cx="0" cy="91544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/>
              <p:nvPr/>
            </p:nvSpPr>
            <p:spPr>
              <a:xfrm>
                <a:off x="7099280" y="4648951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280" y="4648951"/>
                <a:ext cx="504055" cy="461665"/>
              </a:xfrm>
              <a:prstGeom prst="rect">
                <a:avLst/>
              </a:prstGeom>
              <a:blipFill>
                <a:blip r:embed="rId9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FE647B5-A7EF-458A-AD11-1EFDA1CB09E9}"/>
                  </a:ext>
                </a:extLst>
              </p:cNvPr>
              <p:cNvSpPr txBox="1"/>
              <p:nvPr/>
            </p:nvSpPr>
            <p:spPr>
              <a:xfrm>
                <a:off x="7373652" y="3596235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FE647B5-A7EF-458A-AD11-1EFDA1CB0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652" y="3596235"/>
                <a:ext cx="459365" cy="461665"/>
              </a:xfrm>
              <a:prstGeom prst="rect">
                <a:avLst/>
              </a:prstGeom>
              <a:blipFill>
                <a:blip r:embed="rId10"/>
                <a:stretch>
                  <a:fillRect l="-12000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0824D9D-4E18-4E40-9BB8-D5F7B087CE07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4" y="3855600"/>
            <a:ext cx="153664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38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5398081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pPr lvl="2"/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1371600" lvl="2" indent="-457200">
                  <a:buFont typeface="+mj-lt"/>
                  <a:buAutoNum type="arabicPeriod" startAt="2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2400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不符合单峰区间要求</a:t>
                </a:r>
                <a:endParaRPr lang="en-US" altLang="zh-CN" sz="2400" dirty="0"/>
              </a:p>
              <a:p>
                <a:pPr lvl="3"/>
                <a:r>
                  <a:rPr lang="zh-CN" altLang="en-US" sz="2400" dirty="0"/>
                  <a:t>抛弃区间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lvl="2"/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5398081" cy="5262979"/>
              </a:xfrm>
              <a:prstGeom prst="rect">
                <a:avLst/>
              </a:prstGeom>
              <a:blipFill>
                <a:blip r:embed="rId2"/>
                <a:stretch>
                  <a:fillRect l="-2032" t="-1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19F0DC-306B-48D2-9E9B-7965884CB2F0}"/>
              </a:ext>
            </a:extLst>
          </p:cNvPr>
          <p:cNvCxnSpPr>
            <a:cxnSpLocks/>
          </p:cNvCxnSpPr>
          <p:nvPr/>
        </p:nvCxnSpPr>
        <p:spPr bwMode="auto">
          <a:xfrm>
            <a:off x="5786854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AB4CE7-4926-4BD2-8532-6150A4DBD951}"/>
              </a:ext>
            </a:extLst>
          </p:cNvPr>
          <p:cNvCxnSpPr>
            <a:cxnSpLocks/>
          </p:cNvCxnSpPr>
          <p:nvPr/>
        </p:nvCxnSpPr>
        <p:spPr bwMode="auto">
          <a:xfrm flipV="1">
            <a:off x="5786854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/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/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339" r="-26606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921898-D0DF-4662-BC3A-D42716268ED4}"/>
              </a:ext>
            </a:extLst>
          </p:cNvPr>
          <p:cNvSpPr txBox="1"/>
          <p:nvPr/>
        </p:nvSpPr>
        <p:spPr>
          <a:xfrm>
            <a:off x="5464239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F2B7E36-38E3-4B17-AE85-AA736C51BFB5}"/>
              </a:ext>
            </a:extLst>
          </p:cNvPr>
          <p:cNvCxnSpPr>
            <a:cxnSpLocks/>
          </p:cNvCxnSpPr>
          <p:nvPr/>
        </p:nvCxnSpPr>
        <p:spPr bwMode="auto">
          <a:xfrm>
            <a:off x="6290910" y="3182570"/>
            <a:ext cx="0" cy="16015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/>
              <p:nvPr/>
            </p:nvSpPr>
            <p:spPr>
              <a:xfrm>
                <a:off x="6073263" y="4628602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1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263" y="4628602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32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33C65AF-7193-4ACC-96FC-9CA9E9EE8BF7}"/>
              </a:ext>
            </a:extLst>
          </p:cNvPr>
          <p:cNvSpPr/>
          <p:nvPr/>
        </p:nvSpPr>
        <p:spPr bwMode="auto">
          <a:xfrm>
            <a:off x="6209726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79B811-2CC6-4708-9D84-08372C033CE7}"/>
              </a:ext>
            </a:extLst>
          </p:cNvPr>
          <p:cNvCxnSpPr>
            <a:cxnSpLocks/>
          </p:cNvCxnSpPr>
          <p:nvPr/>
        </p:nvCxnSpPr>
        <p:spPr bwMode="auto">
          <a:xfrm>
            <a:off x="6480886" y="3669746"/>
            <a:ext cx="0" cy="108936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5DC14FE-E2BF-4D2B-9649-7818042F7ABF}"/>
                  </a:ext>
                </a:extLst>
              </p:cNvPr>
              <p:cNvSpPr txBox="1"/>
              <p:nvPr/>
            </p:nvSpPr>
            <p:spPr>
              <a:xfrm>
                <a:off x="6302880" y="4623550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5DC14FE-E2BF-4D2B-9649-7818042F7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880" y="4623550"/>
                <a:ext cx="504055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20B45A-87BD-4298-B88C-31310166C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4" y="3182570"/>
            <a:ext cx="50405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D6E87A-8FA3-4FB1-B03E-016B0E86CADC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5" y="3639800"/>
            <a:ext cx="67011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/>
              <p:nvPr/>
            </p:nvSpPr>
            <p:spPr>
              <a:xfrm>
                <a:off x="5407414" y="2976704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414" y="2976704"/>
                <a:ext cx="459365" cy="461665"/>
              </a:xfrm>
              <a:prstGeom prst="rect">
                <a:avLst/>
              </a:prstGeom>
              <a:blipFill>
                <a:blip r:embed="rId7"/>
                <a:stretch>
                  <a:fillRect l="-10667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/>
              <p:nvPr/>
            </p:nvSpPr>
            <p:spPr>
              <a:xfrm>
                <a:off x="5394441" y="3331537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441" y="3331537"/>
                <a:ext cx="387359" cy="461665"/>
              </a:xfrm>
              <a:prstGeom prst="rect">
                <a:avLst/>
              </a:prstGeom>
              <a:blipFill>
                <a:blip r:embed="rId8"/>
                <a:stretch>
                  <a:fillRect l="-14286" r="-12698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081A31D-0A64-4A75-8FFF-988F341990D1}"/>
              </a:ext>
            </a:extLst>
          </p:cNvPr>
          <p:cNvCxnSpPr>
            <a:cxnSpLocks/>
          </p:cNvCxnSpPr>
          <p:nvPr/>
        </p:nvCxnSpPr>
        <p:spPr bwMode="auto">
          <a:xfrm>
            <a:off x="6825208" y="4136924"/>
            <a:ext cx="0" cy="6472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/>
              <p:nvPr/>
            </p:nvSpPr>
            <p:spPr>
              <a:xfrm>
                <a:off x="6646496" y="4610760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496" y="4610760"/>
                <a:ext cx="504055" cy="461665"/>
              </a:xfrm>
              <a:prstGeom prst="rect">
                <a:avLst/>
              </a:prstGeom>
              <a:blipFill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FE647B5-A7EF-458A-AD11-1EFDA1CB09E9}"/>
                  </a:ext>
                </a:extLst>
              </p:cNvPr>
              <p:cNvSpPr txBox="1"/>
              <p:nvPr/>
            </p:nvSpPr>
            <p:spPr>
              <a:xfrm>
                <a:off x="6650160" y="3618155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FE647B5-A7EF-458A-AD11-1EFDA1CB0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160" y="3618155"/>
                <a:ext cx="459365" cy="461665"/>
              </a:xfrm>
              <a:prstGeom prst="rect">
                <a:avLst/>
              </a:prstGeom>
              <a:blipFill>
                <a:blip r:embed="rId10"/>
                <a:stretch>
                  <a:fillRect l="-12000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0824D9D-4E18-4E40-9BB8-D5F7B087CE07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1800" y="4120199"/>
            <a:ext cx="104340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284ADFE-E740-4DA2-B9EE-88AD290AFCF0}"/>
              </a:ext>
            </a:extLst>
          </p:cNvPr>
          <p:cNvSpPr/>
          <p:nvPr/>
        </p:nvSpPr>
        <p:spPr bwMode="auto">
          <a:xfrm>
            <a:off x="6302880" y="3644853"/>
            <a:ext cx="171564" cy="1118483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7" name="思想气泡: 云 56">
            <a:extLst>
              <a:ext uri="{FF2B5EF4-FFF2-40B4-BE49-F238E27FC236}">
                <a16:creationId xmlns:a16="http://schemas.microsoft.com/office/drawing/2014/main" id="{9F755CD0-FBC0-4843-993A-D48E6702F59A}"/>
              </a:ext>
            </a:extLst>
          </p:cNvPr>
          <p:cNvSpPr/>
          <p:nvPr/>
        </p:nvSpPr>
        <p:spPr bwMode="auto">
          <a:xfrm>
            <a:off x="6209726" y="1367550"/>
            <a:ext cx="2321289" cy="1003736"/>
          </a:xfrm>
          <a:prstGeom prst="cloudCallout">
            <a:avLst>
              <a:gd name="adj1" fmla="val -41732"/>
              <a:gd name="adj2" fmla="val 188396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无效区间删除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646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1" grpId="0"/>
      <p:bldP spid="42" grpId="0" animBg="1"/>
      <p:bldP spid="44" grpId="0"/>
      <p:bldP spid="47" grpId="0"/>
      <p:bldP spid="48" grpId="0"/>
      <p:bldP spid="51" grpId="0"/>
      <p:bldP spid="53" grpId="0"/>
      <p:bldP spid="21" grpId="0" animBg="1"/>
      <p:bldP spid="5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6264151" cy="6001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pPr lvl="2"/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1371600" lvl="2" indent="-457200">
                  <a:buFont typeface="+mj-lt"/>
                  <a:buAutoNum type="arabicPeriod" startAt="2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2400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不符合单峰区间要求</a:t>
                </a:r>
                <a:endParaRPr lang="en-US" altLang="zh-CN" sz="2400" dirty="0"/>
              </a:p>
              <a:p>
                <a:pPr lvl="3"/>
                <a:r>
                  <a:rPr lang="zh-CN" altLang="en-US" sz="2400" dirty="0"/>
                  <a:t>抛弃区间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lvl="3"/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2400" baseline="-25000" dirty="0"/>
              </a:p>
              <a:p>
                <a:pPr lvl="3"/>
                <a:r>
                  <a:rPr lang="zh-CN" altLang="en-US" sz="2400" dirty="0"/>
                  <a:t>返回步骤</a:t>
                </a:r>
                <a:r>
                  <a:rPr lang="en-US" altLang="zh-CN" sz="2400" dirty="0"/>
                  <a:t>a)</a:t>
                </a:r>
              </a:p>
              <a:p>
                <a:pPr lvl="2"/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6264151" cy="6001643"/>
              </a:xfrm>
              <a:prstGeom prst="rect">
                <a:avLst/>
              </a:prstGeom>
              <a:blipFill>
                <a:blip r:embed="rId2"/>
                <a:stretch>
                  <a:fillRect l="-1751" t="-1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19F0DC-306B-48D2-9E9B-7965884CB2F0}"/>
              </a:ext>
            </a:extLst>
          </p:cNvPr>
          <p:cNvCxnSpPr>
            <a:cxnSpLocks/>
          </p:cNvCxnSpPr>
          <p:nvPr/>
        </p:nvCxnSpPr>
        <p:spPr bwMode="auto">
          <a:xfrm>
            <a:off x="5786854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AB4CE7-4926-4BD2-8532-6150A4DBD951}"/>
              </a:ext>
            </a:extLst>
          </p:cNvPr>
          <p:cNvCxnSpPr>
            <a:cxnSpLocks/>
          </p:cNvCxnSpPr>
          <p:nvPr/>
        </p:nvCxnSpPr>
        <p:spPr bwMode="auto">
          <a:xfrm flipV="1">
            <a:off x="5786854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/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269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/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280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339" r="-26606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921898-D0DF-4662-BC3A-D42716268ED4}"/>
              </a:ext>
            </a:extLst>
          </p:cNvPr>
          <p:cNvSpPr txBox="1"/>
          <p:nvPr/>
        </p:nvSpPr>
        <p:spPr>
          <a:xfrm>
            <a:off x="5464239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/>
              <p:nvPr/>
            </p:nvSpPr>
            <p:spPr>
              <a:xfrm>
                <a:off x="6272894" y="4646023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1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894" y="4646023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4000" b="-2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33C65AF-7193-4ACC-96FC-9CA9E9EE8BF7}"/>
              </a:ext>
            </a:extLst>
          </p:cNvPr>
          <p:cNvSpPr/>
          <p:nvPr/>
        </p:nvSpPr>
        <p:spPr bwMode="auto">
          <a:xfrm>
            <a:off x="6209726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79B811-2CC6-4708-9D84-08372C033CE7}"/>
              </a:ext>
            </a:extLst>
          </p:cNvPr>
          <p:cNvCxnSpPr>
            <a:cxnSpLocks/>
          </p:cNvCxnSpPr>
          <p:nvPr/>
        </p:nvCxnSpPr>
        <p:spPr bwMode="auto">
          <a:xfrm>
            <a:off x="6480886" y="3669746"/>
            <a:ext cx="0" cy="108936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5DC14FE-E2BF-4D2B-9649-7818042F7ABF}"/>
                  </a:ext>
                </a:extLst>
              </p:cNvPr>
              <p:cNvSpPr txBox="1"/>
              <p:nvPr/>
            </p:nvSpPr>
            <p:spPr>
              <a:xfrm>
                <a:off x="6593928" y="4641760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5DC14FE-E2BF-4D2B-9649-7818042F7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928" y="4641760"/>
                <a:ext cx="504055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D6E87A-8FA3-4FB1-B03E-016B0E86CADC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5" y="3639800"/>
            <a:ext cx="67011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/>
              <p:nvPr/>
            </p:nvSpPr>
            <p:spPr>
              <a:xfrm>
                <a:off x="5391621" y="3319795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621" y="3319795"/>
                <a:ext cx="459365" cy="461665"/>
              </a:xfrm>
              <a:prstGeom prst="rect">
                <a:avLst/>
              </a:prstGeom>
              <a:blipFill>
                <a:blip r:embed="rId7"/>
                <a:stretch>
                  <a:fillRect l="-10526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/>
              <p:nvPr/>
            </p:nvSpPr>
            <p:spPr>
              <a:xfrm>
                <a:off x="5394441" y="3836278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441" y="3836278"/>
                <a:ext cx="387359" cy="461665"/>
              </a:xfrm>
              <a:prstGeom prst="rect">
                <a:avLst/>
              </a:prstGeom>
              <a:blipFill>
                <a:blip r:embed="rId8"/>
                <a:stretch>
                  <a:fillRect l="-14286" r="-1269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081A31D-0A64-4A75-8FFF-988F341990D1}"/>
              </a:ext>
            </a:extLst>
          </p:cNvPr>
          <p:cNvCxnSpPr>
            <a:cxnSpLocks/>
          </p:cNvCxnSpPr>
          <p:nvPr/>
        </p:nvCxnSpPr>
        <p:spPr bwMode="auto">
          <a:xfrm>
            <a:off x="6825208" y="4136924"/>
            <a:ext cx="0" cy="6472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0824D9D-4E18-4E40-9BB8-D5F7B087CE07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1800" y="4120199"/>
            <a:ext cx="104340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箭头: 右弧形 2">
            <a:extLst>
              <a:ext uri="{FF2B5EF4-FFF2-40B4-BE49-F238E27FC236}">
                <a16:creationId xmlns:a16="http://schemas.microsoft.com/office/drawing/2014/main" id="{CEA5EFAB-1C37-42A6-A69D-C6442C2918B0}"/>
              </a:ext>
            </a:extLst>
          </p:cNvPr>
          <p:cNvSpPr/>
          <p:nvPr/>
        </p:nvSpPr>
        <p:spPr bwMode="auto">
          <a:xfrm rot="10247234">
            <a:off x="297411" y="2892215"/>
            <a:ext cx="1053641" cy="3226180"/>
          </a:xfrm>
          <a:prstGeom prst="curved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BAB7763-7D51-4919-A209-1F6C92D9CA9D}"/>
              </a:ext>
            </a:extLst>
          </p:cNvPr>
          <p:cNvCxnSpPr>
            <a:cxnSpLocks/>
          </p:cNvCxnSpPr>
          <p:nvPr/>
        </p:nvCxnSpPr>
        <p:spPr bwMode="auto">
          <a:xfrm>
            <a:off x="6290910" y="3182570"/>
            <a:ext cx="0" cy="16015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804D977-6127-4640-B85C-CD6209077053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6854" y="3182570"/>
            <a:ext cx="50405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17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4" grpId="0"/>
      <p:bldP spid="47" grpId="0"/>
      <p:bldP spid="48" grpId="0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5398081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914400" lvl="1" indent="-457200">
                  <a:buFont typeface="+mj-lt"/>
                  <a:buAutoNum type="alphaLcParenR" startAt="2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5398081" cy="3785652"/>
              </a:xfrm>
              <a:prstGeom prst="rect">
                <a:avLst/>
              </a:prstGeom>
              <a:blipFill>
                <a:blip r:embed="rId2"/>
                <a:stretch>
                  <a:fillRect l="-2032" t="-2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19F0DC-306B-48D2-9E9B-7965884CB2F0}"/>
              </a:ext>
            </a:extLst>
          </p:cNvPr>
          <p:cNvCxnSpPr>
            <a:cxnSpLocks/>
          </p:cNvCxnSpPr>
          <p:nvPr/>
        </p:nvCxnSpPr>
        <p:spPr bwMode="auto">
          <a:xfrm>
            <a:off x="6071192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AB4CE7-4926-4BD2-8532-6150A4DBD9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1192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/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/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273" r="-25455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921898-D0DF-4662-BC3A-D42716268ED4}"/>
              </a:ext>
            </a:extLst>
          </p:cNvPr>
          <p:cNvSpPr txBox="1"/>
          <p:nvPr/>
        </p:nvSpPr>
        <p:spPr>
          <a:xfrm>
            <a:off x="5748577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/>
              <p:nvPr/>
            </p:nvSpPr>
            <p:spPr>
              <a:xfrm>
                <a:off x="7167000" y="4657479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1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00" y="4657479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67" b="-2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33C65AF-7193-4ACC-96FC-9CA9E9EE8BF7}"/>
              </a:ext>
            </a:extLst>
          </p:cNvPr>
          <p:cNvSpPr/>
          <p:nvPr/>
        </p:nvSpPr>
        <p:spPr bwMode="auto">
          <a:xfrm>
            <a:off x="6494064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79B811-2CC6-4708-9D84-08372C033CE7}"/>
              </a:ext>
            </a:extLst>
          </p:cNvPr>
          <p:cNvCxnSpPr>
            <a:cxnSpLocks/>
          </p:cNvCxnSpPr>
          <p:nvPr/>
        </p:nvCxnSpPr>
        <p:spPr bwMode="auto">
          <a:xfrm>
            <a:off x="7383618" y="4057900"/>
            <a:ext cx="0" cy="7012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20B45A-87BD-4298-B88C-31310166C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1192" y="4067675"/>
            <a:ext cx="127491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D6E87A-8FA3-4FB1-B03E-016B0E86CADC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1193" y="3865471"/>
            <a:ext cx="153664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/>
              <p:nvPr/>
            </p:nvSpPr>
            <p:spPr>
              <a:xfrm>
                <a:off x="5700116" y="3805593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116" y="3805593"/>
                <a:ext cx="459365" cy="461665"/>
              </a:xfrm>
              <a:prstGeom prst="rect">
                <a:avLst/>
              </a:prstGeom>
              <a:blipFill>
                <a:blip r:embed="rId6"/>
                <a:stretch>
                  <a:fillRect l="-10667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/>
              <p:nvPr/>
            </p:nvSpPr>
            <p:spPr>
              <a:xfrm>
                <a:off x="5691751" y="3448104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751" y="3448104"/>
                <a:ext cx="387359" cy="461665"/>
              </a:xfrm>
              <a:prstGeom prst="rect">
                <a:avLst/>
              </a:prstGeom>
              <a:blipFill>
                <a:blip r:embed="rId7"/>
                <a:stretch>
                  <a:fillRect l="-14286" r="-12698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081A31D-0A64-4A75-8FFF-988F341990D1}"/>
              </a:ext>
            </a:extLst>
          </p:cNvPr>
          <p:cNvCxnSpPr>
            <a:cxnSpLocks/>
          </p:cNvCxnSpPr>
          <p:nvPr/>
        </p:nvCxnSpPr>
        <p:spPr bwMode="auto">
          <a:xfrm>
            <a:off x="7607838" y="3868692"/>
            <a:ext cx="0" cy="91544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/>
              <p:nvPr/>
            </p:nvSpPr>
            <p:spPr>
              <a:xfrm>
                <a:off x="7454206" y="4638029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206" y="4638029"/>
                <a:ext cx="504055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01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1" grpId="0"/>
      <p:bldP spid="42" grpId="0" animBg="1"/>
      <p:bldP spid="47" grpId="0"/>
      <p:bldP spid="48" grpId="0"/>
      <p:bldP spid="5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5398081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914400" lvl="1" indent="-457200">
                  <a:buFont typeface="+mj-lt"/>
                  <a:buAutoNum type="alphaLcParenR" startAt="2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也就是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及其函数值对调</a:t>
                </a:r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5398081" cy="4524315"/>
              </a:xfrm>
              <a:prstGeom prst="rect">
                <a:avLst/>
              </a:prstGeom>
              <a:blipFill>
                <a:blip r:embed="rId2"/>
                <a:stretch>
                  <a:fillRect l="-2032" t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19F0DC-306B-48D2-9E9B-7965884CB2F0}"/>
              </a:ext>
            </a:extLst>
          </p:cNvPr>
          <p:cNvCxnSpPr>
            <a:cxnSpLocks/>
          </p:cNvCxnSpPr>
          <p:nvPr/>
        </p:nvCxnSpPr>
        <p:spPr bwMode="auto">
          <a:xfrm>
            <a:off x="6071192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AB4CE7-4926-4BD2-8532-6150A4DBD9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1192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/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/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273" r="-25455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921898-D0DF-4662-BC3A-D42716268ED4}"/>
              </a:ext>
            </a:extLst>
          </p:cNvPr>
          <p:cNvSpPr txBox="1"/>
          <p:nvPr/>
        </p:nvSpPr>
        <p:spPr>
          <a:xfrm>
            <a:off x="5748577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/>
              <p:nvPr/>
            </p:nvSpPr>
            <p:spPr>
              <a:xfrm>
                <a:off x="7167000" y="4657479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2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00" y="4657479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67" b="-2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33C65AF-7193-4ACC-96FC-9CA9E9EE8BF7}"/>
              </a:ext>
            </a:extLst>
          </p:cNvPr>
          <p:cNvSpPr/>
          <p:nvPr/>
        </p:nvSpPr>
        <p:spPr bwMode="auto">
          <a:xfrm>
            <a:off x="6494064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79B811-2CC6-4708-9D84-08372C033CE7}"/>
              </a:ext>
            </a:extLst>
          </p:cNvPr>
          <p:cNvCxnSpPr>
            <a:cxnSpLocks/>
          </p:cNvCxnSpPr>
          <p:nvPr/>
        </p:nvCxnSpPr>
        <p:spPr bwMode="auto">
          <a:xfrm>
            <a:off x="7383618" y="4057900"/>
            <a:ext cx="0" cy="7012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20B45A-87BD-4298-B88C-31310166C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1192" y="4067675"/>
            <a:ext cx="127491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D6E87A-8FA3-4FB1-B03E-016B0E86CADC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1193" y="3865471"/>
            <a:ext cx="153664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/>
              <p:nvPr/>
            </p:nvSpPr>
            <p:spPr>
              <a:xfrm>
                <a:off x="5700116" y="3805593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116" y="3805593"/>
                <a:ext cx="459365" cy="461665"/>
              </a:xfrm>
              <a:prstGeom prst="rect">
                <a:avLst/>
              </a:prstGeom>
              <a:blipFill>
                <a:blip r:embed="rId6"/>
                <a:stretch>
                  <a:fillRect l="-10667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/>
              <p:nvPr/>
            </p:nvSpPr>
            <p:spPr>
              <a:xfrm>
                <a:off x="5691751" y="3448104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751" y="3448104"/>
                <a:ext cx="387359" cy="461665"/>
              </a:xfrm>
              <a:prstGeom prst="rect">
                <a:avLst/>
              </a:prstGeom>
              <a:blipFill>
                <a:blip r:embed="rId7"/>
                <a:stretch>
                  <a:fillRect l="-14286" r="-12698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081A31D-0A64-4A75-8FFF-988F341990D1}"/>
              </a:ext>
            </a:extLst>
          </p:cNvPr>
          <p:cNvCxnSpPr>
            <a:cxnSpLocks/>
          </p:cNvCxnSpPr>
          <p:nvPr/>
        </p:nvCxnSpPr>
        <p:spPr bwMode="auto">
          <a:xfrm>
            <a:off x="7607838" y="3868692"/>
            <a:ext cx="0" cy="91544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/>
              <p:nvPr/>
            </p:nvSpPr>
            <p:spPr>
              <a:xfrm>
                <a:off x="7454206" y="4638029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206" y="4638029"/>
                <a:ext cx="504055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7BC6376-D8A7-4FC0-922E-1B8863DA7069}"/>
              </a:ext>
            </a:extLst>
          </p:cNvPr>
          <p:cNvCxnSpPr>
            <a:cxnSpLocks/>
          </p:cNvCxnSpPr>
          <p:nvPr/>
        </p:nvCxnSpPr>
        <p:spPr bwMode="auto">
          <a:xfrm>
            <a:off x="6955284" y="4007857"/>
            <a:ext cx="0" cy="77627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669444-B08E-447F-9F43-06726BA9E062}"/>
                  </a:ext>
                </a:extLst>
              </p:cNvPr>
              <p:cNvSpPr txBox="1"/>
              <p:nvPr/>
            </p:nvSpPr>
            <p:spPr>
              <a:xfrm>
                <a:off x="6831113" y="3589002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669444-B08E-447F-9F43-06726BA9E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113" y="3589002"/>
                <a:ext cx="459365" cy="461665"/>
              </a:xfrm>
              <a:prstGeom prst="rect">
                <a:avLst/>
              </a:prstGeom>
              <a:blipFill>
                <a:blip r:embed="rId9"/>
                <a:stretch>
                  <a:fillRect l="-12000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F08B58-256A-4346-9715-5522BBC4AC9B}"/>
                  </a:ext>
                </a:extLst>
              </p:cNvPr>
              <p:cNvSpPr txBox="1"/>
              <p:nvPr/>
            </p:nvSpPr>
            <p:spPr>
              <a:xfrm>
                <a:off x="6767453" y="4648951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F08B58-256A-4346-9715-5522BBC4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53" y="4648951"/>
                <a:ext cx="504055" cy="461665"/>
              </a:xfrm>
              <a:prstGeom prst="rect">
                <a:avLst/>
              </a:prstGeom>
              <a:blipFill>
                <a:blip r:embed="rId10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05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48" grpId="0"/>
      <p:bldP spid="51" grpId="0"/>
      <p:bldP spid="31" grpId="0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5398081" cy="6001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914400" lvl="1" indent="-457200">
                  <a:buFont typeface="+mj-lt"/>
                  <a:buAutoNum type="alphaLcParenR" startAt="2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也就是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及其函数值对调</a:t>
                </a:r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2400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单峰区间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lvl="3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5398081" cy="6001643"/>
              </a:xfrm>
              <a:prstGeom prst="rect">
                <a:avLst/>
              </a:prstGeom>
              <a:blipFill>
                <a:blip r:embed="rId2"/>
                <a:stretch>
                  <a:fillRect l="-2032" t="-1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19F0DC-306B-48D2-9E9B-7965884CB2F0}"/>
              </a:ext>
            </a:extLst>
          </p:cNvPr>
          <p:cNvCxnSpPr>
            <a:cxnSpLocks/>
          </p:cNvCxnSpPr>
          <p:nvPr/>
        </p:nvCxnSpPr>
        <p:spPr bwMode="auto">
          <a:xfrm>
            <a:off x="6071192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AB4CE7-4926-4BD2-8532-6150A4DBD9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1192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/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/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273" r="-25455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921898-D0DF-4662-BC3A-D42716268ED4}"/>
              </a:ext>
            </a:extLst>
          </p:cNvPr>
          <p:cNvSpPr txBox="1"/>
          <p:nvPr/>
        </p:nvSpPr>
        <p:spPr>
          <a:xfrm>
            <a:off x="5748577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/>
              <p:nvPr/>
            </p:nvSpPr>
            <p:spPr>
              <a:xfrm>
                <a:off x="7167000" y="4657479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2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00" y="4657479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67" b="-2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33C65AF-7193-4ACC-96FC-9CA9E9EE8BF7}"/>
              </a:ext>
            </a:extLst>
          </p:cNvPr>
          <p:cNvSpPr/>
          <p:nvPr/>
        </p:nvSpPr>
        <p:spPr bwMode="auto">
          <a:xfrm>
            <a:off x="6494064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79B811-2CC6-4708-9D84-08372C033CE7}"/>
              </a:ext>
            </a:extLst>
          </p:cNvPr>
          <p:cNvCxnSpPr>
            <a:cxnSpLocks/>
          </p:cNvCxnSpPr>
          <p:nvPr/>
        </p:nvCxnSpPr>
        <p:spPr bwMode="auto">
          <a:xfrm>
            <a:off x="7383618" y="4057900"/>
            <a:ext cx="0" cy="7012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20B45A-87BD-4298-B88C-31310166C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1192" y="4067675"/>
            <a:ext cx="127491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D6E87A-8FA3-4FB1-B03E-016B0E86CADC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1193" y="3865471"/>
            <a:ext cx="153664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/>
              <p:nvPr/>
            </p:nvSpPr>
            <p:spPr>
              <a:xfrm>
                <a:off x="5700116" y="3805593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116" y="3805593"/>
                <a:ext cx="459365" cy="461665"/>
              </a:xfrm>
              <a:prstGeom prst="rect">
                <a:avLst/>
              </a:prstGeom>
              <a:blipFill>
                <a:blip r:embed="rId6"/>
                <a:stretch>
                  <a:fillRect l="-10667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/>
              <p:nvPr/>
            </p:nvSpPr>
            <p:spPr>
              <a:xfrm>
                <a:off x="5691751" y="3448104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751" y="3448104"/>
                <a:ext cx="387359" cy="461665"/>
              </a:xfrm>
              <a:prstGeom prst="rect">
                <a:avLst/>
              </a:prstGeom>
              <a:blipFill>
                <a:blip r:embed="rId7"/>
                <a:stretch>
                  <a:fillRect l="-14286" r="-12698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081A31D-0A64-4A75-8FFF-988F341990D1}"/>
              </a:ext>
            </a:extLst>
          </p:cNvPr>
          <p:cNvCxnSpPr>
            <a:cxnSpLocks/>
          </p:cNvCxnSpPr>
          <p:nvPr/>
        </p:nvCxnSpPr>
        <p:spPr bwMode="auto">
          <a:xfrm>
            <a:off x="7607838" y="3868692"/>
            <a:ext cx="0" cy="91544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/>
              <p:nvPr/>
            </p:nvSpPr>
            <p:spPr>
              <a:xfrm>
                <a:off x="7454206" y="4638029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206" y="4638029"/>
                <a:ext cx="504055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7BC6376-D8A7-4FC0-922E-1B8863DA7069}"/>
              </a:ext>
            </a:extLst>
          </p:cNvPr>
          <p:cNvCxnSpPr>
            <a:cxnSpLocks/>
          </p:cNvCxnSpPr>
          <p:nvPr/>
        </p:nvCxnSpPr>
        <p:spPr bwMode="auto">
          <a:xfrm>
            <a:off x="6955284" y="4007857"/>
            <a:ext cx="0" cy="77627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669444-B08E-447F-9F43-06726BA9E062}"/>
                  </a:ext>
                </a:extLst>
              </p:cNvPr>
              <p:cNvSpPr txBox="1"/>
              <p:nvPr/>
            </p:nvSpPr>
            <p:spPr>
              <a:xfrm>
                <a:off x="6831113" y="3589002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669444-B08E-447F-9F43-06726BA9E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113" y="3589002"/>
                <a:ext cx="459365" cy="461665"/>
              </a:xfrm>
              <a:prstGeom prst="rect">
                <a:avLst/>
              </a:prstGeom>
              <a:blipFill>
                <a:blip r:embed="rId9"/>
                <a:stretch>
                  <a:fillRect l="-12000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F08B58-256A-4346-9715-5522BBC4AC9B}"/>
                  </a:ext>
                </a:extLst>
              </p:cNvPr>
              <p:cNvSpPr txBox="1"/>
              <p:nvPr/>
            </p:nvSpPr>
            <p:spPr>
              <a:xfrm>
                <a:off x="6767453" y="4648951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F08B58-256A-4346-9715-5522BBC4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53" y="4648951"/>
                <a:ext cx="504055" cy="461665"/>
              </a:xfrm>
              <a:prstGeom prst="rect">
                <a:avLst/>
              </a:prstGeom>
              <a:blipFill>
                <a:blip r:embed="rId10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543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5398081" cy="6001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914400" lvl="1" indent="-457200">
                  <a:buFont typeface="+mj-lt"/>
                  <a:buAutoNum type="alphaLcParenR" startAt="2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也就是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及其函数值对调</a:t>
                </a:r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1371600" lvl="2" indent="-457200">
                  <a:buFont typeface="+mj-lt"/>
                  <a:buAutoNum type="arabicPeriod" startAt="2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2400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2400" dirty="0"/>
                  <a:t>不符合单峰区间要求</a:t>
                </a:r>
                <a:endParaRPr lang="en-US" altLang="zh-CN" sz="2400" dirty="0"/>
              </a:p>
              <a:p>
                <a:pPr lvl="3"/>
                <a:r>
                  <a:rPr lang="zh-CN" altLang="en-US" sz="2400" dirty="0"/>
                  <a:t>抛弃区间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5398081" cy="6001643"/>
              </a:xfrm>
              <a:prstGeom prst="rect">
                <a:avLst/>
              </a:prstGeom>
              <a:blipFill>
                <a:blip r:embed="rId2"/>
                <a:stretch>
                  <a:fillRect l="-2032" t="-1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19F0DC-306B-48D2-9E9B-7965884CB2F0}"/>
              </a:ext>
            </a:extLst>
          </p:cNvPr>
          <p:cNvCxnSpPr>
            <a:cxnSpLocks/>
          </p:cNvCxnSpPr>
          <p:nvPr/>
        </p:nvCxnSpPr>
        <p:spPr bwMode="auto">
          <a:xfrm>
            <a:off x="6071192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AB4CE7-4926-4BD2-8532-6150A4DBD9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1192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/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/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273" r="-25455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921898-D0DF-4662-BC3A-D42716268ED4}"/>
              </a:ext>
            </a:extLst>
          </p:cNvPr>
          <p:cNvSpPr txBox="1"/>
          <p:nvPr/>
        </p:nvSpPr>
        <p:spPr>
          <a:xfrm>
            <a:off x="5748577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/>
              <p:nvPr/>
            </p:nvSpPr>
            <p:spPr>
              <a:xfrm>
                <a:off x="7519952" y="4653214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2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952" y="4653214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67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33C65AF-7193-4ACC-96FC-9CA9E9EE8BF7}"/>
              </a:ext>
            </a:extLst>
          </p:cNvPr>
          <p:cNvSpPr/>
          <p:nvPr/>
        </p:nvSpPr>
        <p:spPr bwMode="auto">
          <a:xfrm>
            <a:off x="6494064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79B811-2CC6-4708-9D84-08372C033CE7}"/>
              </a:ext>
            </a:extLst>
          </p:cNvPr>
          <p:cNvCxnSpPr>
            <a:cxnSpLocks/>
          </p:cNvCxnSpPr>
          <p:nvPr/>
        </p:nvCxnSpPr>
        <p:spPr bwMode="auto">
          <a:xfrm>
            <a:off x="7733270" y="3748784"/>
            <a:ext cx="0" cy="101033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20B45A-87BD-4298-B88C-31310166CA2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71192" y="3748784"/>
            <a:ext cx="1662079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D6E87A-8FA3-4FB1-B03E-016B0E86CAD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55459" y="3507714"/>
            <a:ext cx="1796898" cy="308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/>
              <p:nvPr/>
            </p:nvSpPr>
            <p:spPr>
              <a:xfrm>
                <a:off x="5659809" y="3454761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809" y="3454761"/>
                <a:ext cx="459365" cy="461665"/>
              </a:xfrm>
              <a:prstGeom prst="rect">
                <a:avLst/>
              </a:prstGeom>
              <a:blipFill>
                <a:blip r:embed="rId6"/>
                <a:stretch>
                  <a:fillRect l="-10526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/>
              <p:nvPr/>
            </p:nvSpPr>
            <p:spPr>
              <a:xfrm>
                <a:off x="5668100" y="3135687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100" y="3135687"/>
                <a:ext cx="387359" cy="461665"/>
              </a:xfrm>
              <a:prstGeom prst="rect">
                <a:avLst/>
              </a:prstGeom>
              <a:blipFill>
                <a:blip r:embed="rId7"/>
                <a:stretch>
                  <a:fillRect l="-14286" r="-1269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081A31D-0A64-4A75-8FFF-988F341990D1}"/>
              </a:ext>
            </a:extLst>
          </p:cNvPr>
          <p:cNvCxnSpPr>
            <a:cxnSpLocks/>
          </p:cNvCxnSpPr>
          <p:nvPr/>
        </p:nvCxnSpPr>
        <p:spPr bwMode="auto">
          <a:xfrm>
            <a:off x="7905328" y="3507714"/>
            <a:ext cx="0" cy="125842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/>
              <p:nvPr/>
            </p:nvSpPr>
            <p:spPr>
              <a:xfrm>
                <a:off x="7784926" y="4641760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926" y="4641760"/>
                <a:ext cx="504055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7BC6376-D8A7-4FC0-922E-1B8863DA7069}"/>
              </a:ext>
            </a:extLst>
          </p:cNvPr>
          <p:cNvCxnSpPr>
            <a:cxnSpLocks/>
          </p:cNvCxnSpPr>
          <p:nvPr/>
        </p:nvCxnSpPr>
        <p:spPr bwMode="auto">
          <a:xfrm>
            <a:off x="7473280" y="4002073"/>
            <a:ext cx="0" cy="7428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669444-B08E-447F-9F43-06726BA9E062}"/>
                  </a:ext>
                </a:extLst>
              </p:cNvPr>
              <p:cNvSpPr txBox="1"/>
              <p:nvPr/>
            </p:nvSpPr>
            <p:spPr>
              <a:xfrm>
                <a:off x="7041825" y="3646866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669444-B08E-447F-9F43-06726BA9E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825" y="3646866"/>
                <a:ext cx="459365" cy="461665"/>
              </a:xfrm>
              <a:prstGeom prst="rect">
                <a:avLst/>
              </a:prstGeom>
              <a:blipFill>
                <a:blip r:embed="rId9"/>
                <a:stretch>
                  <a:fillRect l="-10526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F08B58-256A-4346-9715-5522BBC4AC9B}"/>
                  </a:ext>
                </a:extLst>
              </p:cNvPr>
              <p:cNvSpPr txBox="1"/>
              <p:nvPr/>
            </p:nvSpPr>
            <p:spPr>
              <a:xfrm>
                <a:off x="7210058" y="4641760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F08B58-256A-4346-9715-5522BBC4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058" y="4641760"/>
                <a:ext cx="504055" cy="461665"/>
              </a:xfrm>
              <a:prstGeom prst="rect">
                <a:avLst/>
              </a:prstGeom>
              <a:blipFill>
                <a:blip r:embed="rId10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>
            <a:extLst>
              <a:ext uri="{FF2B5EF4-FFF2-40B4-BE49-F238E27FC236}">
                <a16:creationId xmlns:a16="http://schemas.microsoft.com/office/drawing/2014/main" id="{480639F1-AC18-4BEF-85EF-16A11C11145A}"/>
              </a:ext>
            </a:extLst>
          </p:cNvPr>
          <p:cNvSpPr/>
          <p:nvPr/>
        </p:nvSpPr>
        <p:spPr bwMode="auto">
          <a:xfrm>
            <a:off x="7747865" y="3648078"/>
            <a:ext cx="133791" cy="111727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13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1" grpId="0"/>
      <p:bldP spid="42" grpId="0" animBg="1"/>
      <p:bldP spid="47" grpId="0"/>
      <p:bldP spid="48" grpId="0"/>
      <p:bldP spid="51" grpId="0"/>
      <p:bldP spid="31" grpId="0"/>
      <p:bldP spid="34" grpId="0"/>
      <p:bldP spid="4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7EEF-CF85-4410-B22E-3F782D1B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30D48-CFAB-4F3D-A149-F9D7602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A16F1-C4DD-4EAC-9174-A07FC4E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/>
              <p:nvPr/>
            </p:nvSpPr>
            <p:spPr>
              <a:xfrm>
                <a:off x="220458" y="1340768"/>
                <a:ext cx="7770973" cy="5632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给定一个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初始步长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914400" lvl="1" indent="-457200">
                  <a:buFont typeface="+mj-lt"/>
                  <a:buAutoNum type="alphaLcParenR" startAt="2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也就是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及其函数值对调</a:t>
                </a:r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的大小：</a:t>
                </a:r>
                <a:endParaRPr lang="en-US" altLang="zh-CN" sz="2400" dirty="0"/>
              </a:p>
              <a:p>
                <a:pPr marL="1371600" lvl="2" indent="-457200">
                  <a:buFont typeface="+mj-lt"/>
                  <a:buAutoNum type="arabicPeriod" startAt="2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2400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2400" dirty="0"/>
                  <a:t>不符合单峰区间要求</a:t>
                </a:r>
                <a:endParaRPr lang="en-US" altLang="zh-CN" sz="2400" dirty="0"/>
              </a:p>
              <a:p>
                <a:pPr lvl="3"/>
                <a:r>
                  <a:rPr lang="zh-CN" altLang="en-US" sz="2400" dirty="0"/>
                  <a:t>抛弃区间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lvl="3"/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返回步骤</a:t>
                </a:r>
                <a:r>
                  <a:rPr lang="en-US" altLang="zh-CN" sz="2400" dirty="0"/>
                  <a:t>b)</a:t>
                </a:r>
              </a:p>
              <a:p>
                <a:pPr lvl="3"/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EF9411-E879-4A57-8580-A4A36C01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58" y="1340768"/>
                <a:ext cx="7770973" cy="5632311"/>
              </a:xfrm>
              <a:prstGeom prst="rect">
                <a:avLst/>
              </a:prstGeom>
              <a:blipFill>
                <a:blip r:embed="rId2"/>
                <a:stretch>
                  <a:fillRect l="-1412" t="-1623" r="-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19F0DC-306B-48D2-9E9B-7965884CB2F0}"/>
              </a:ext>
            </a:extLst>
          </p:cNvPr>
          <p:cNvCxnSpPr>
            <a:cxnSpLocks/>
          </p:cNvCxnSpPr>
          <p:nvPr/>
        </p:nvCxnSpPr>
        <p:spPr bwMode="auto">
          <a:xfrm>
            <a:off x="6071192" y="4784136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AB4CE7-4926-4BD2-8532-6150A4DBD9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1192" y="249546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/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FD210D7-1C9B-454C-952B-A9BF05ACD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607" y="4297449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/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C4968F-D999-429F-9E33-5C0CA5A1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113" y="2452843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273" r="-25455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921898-D0DF-4662-BC3A-D42716268ED4}"/>
              </a:ext>
            </a:extLst>
          </p:cNvPr>
          <p:cNvSpPr txBox="1"/>
          <p:nvPr/>
        </p:nvSpPr>
        <p:spPr>
          <a:xfrm>
            <a:off x="5748577" y="473409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/>
              <p:nvPr/>
            </p:nvSpPr>
            <p:spPr>
              <a:xfrm>
                <a:off x="7257256" y="4653214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2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A8A54E2-3A59-45CA-84E3-F3DB1A17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256" y="4653214"/>
                <a:ext cx="459135" cy="453137"/>
              </a:xfrm>
              <a:prstGeom prst="rect">
                <a:avLst/>
              </a:prstGeom>
              <a:blipFill>
                <a:blip r:embed="rId5"/>
                <a:stretch>
                  <a:fillRect r="-2632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33C65AF-7193-4ACC-96FC-9CA9E9EE8BF7}"/>
              </a:ext>
            </a:extLst>
          </p:cNvPr>
          <p:cNvSpPr/>
          <p:nvPr/>
        </p:nvSpPr>
        <p:spPr bwMode="auto">
          <a:xfrm>
            <a:off x="6494064" y="2914508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79B811-2CC6-4708-9D84-08372C033CE7}"/>
              </a:ext>
            </a:extLst>
          </p:cNvPr>
          <p:cNvCxnSpPr>
            <a:cxnSpLocks/>
          </p:cNvCxnSpPr>
          <p:nvPr/>
        </p:nvCxnSpPr>
        <p:spPr bwMode="auto">
          <a:xfrm>
            <a:off x="7733270" y="3748784"/>
            <a:ext cx="0" cy="101033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20B45A-87BD-4298-B88C-31310166CA2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71192" y="3748784"/>
            <a:ext cx="1662079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D6E87A-8FA3-4FB1-B03E-016B0E86CAD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55459" y="3507714"/>
            <a:ext cx="1796898" cy="308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/>
              <p:nvPr/>
            </p:nvSpPr>
            <p:spPr>
              <a:xfrm>
                <a:off x="5676404" y="3766154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4F5B08-F850-4756-9571-1F3DFA5E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404" y="3766154"/>
                <a:ext cx="459365" cy="461665"/>
              </a:xfrm>
              <a:prstGeom prst="rect">
                <a:avLst/>
              </a:prstGeom>
              <a:blipFill>
                <a:blip r:embed="rId6"/>
                <a:stretch>
                  <a:fillRect l="-10526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/>
              <p:nvPr/>
            </p:nvSpPr>
            <p:spPr>
              <a:xfrm>
                <a:off x="5687540" y="3406114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950A21F-A260-413C-91FB-D1CA8967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540" y="3406114"/>
                <a:ext cx="387359" cy="461665"/>
              </a:xfrm>
              <a:prstGeom prst="rect">
                <a:avLst/>
              </a:prstGeom>
              <a:blipFill>
                <a:blip r:embed="rId7"/>
                <a:stretch>
                  <a:fillRect l="-14063" r="-10938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081A31D-0A64-4A75-8FFF-988F341990D1}"/>
              </a:ext>
            </a:extLst>
          </p:cNvPr>
          <p:cNvCxnSpPr>
            <a:cxnSpLocks/>
          </p:cNvCxnSpPr>
          <p:nvPr/>
        </p:nvCxnSpPr>
        <p:spPr bwMode="auto">
          <a:xfrm>
            <a:off x="7905328" y="3507714"/>
            <a:ext cx="0" cy="125842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/>
              <p:nvPr/>
            </p:nvSpPr>
            <p:spPr>
              <a:xfrm>
                <a:off x="7522230" y="4641760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90536B-08CA-41C3-83B0-C57C68911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230" y="4641760"/>
                <a:ext cx="504055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7BC6376-D8A7-4FC0-922E-1B8863DA7069}"/>
              </a:ext>
            </a:extLst>
          </p:cNvPr>
          <p:cNvCxnSpPr>
            <a:cxnSpLocks/>
          </p:cNvCxnSpPr>
          <p:nvPr/>
        </p:nvCxnSpPr>
        <p:spPr bwMode="auto">
          <a:xfrm>
            <a:off x="7473280" y="4002073"/>
            <a:ext cx="0" cy="7428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597E414-8577-49BC-864D-009F149F850A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7892" y="3986774"/>
            <a:ext cx="1404565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箭头: 右弧形 27">
            <a:extLst>
              <a:ext uri="{FF2B5EF4-FFF2-40B4-BE49-F238E27FC236}">
                <a16:creationId xmlns:a16="http://schemas.microsoft.com/office/drawing/2014/main" id="{7637F012-9E9F-4303-AFE5-020EC0B46EB7}"/>
              </a:ext>
            </a:extLst>
          </p:cNvPr>
          <p:cNvSpPr/>
          <p:nvPr/>
        </p:nvSpPr>
        <p:spPr bwMode="auto">
          <a:xfrm rot="10247234">
            <a:off x="365498" y="3573768"/>
            <a:ext cx="1042994" cy="2703507"/>
          </a:xfrm>
          <a:prstGeom prst="curved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17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48" grpId="0"/>
      <p:bldP spid="51" grpId="0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C5C89-7F41-4F8B-B4A5-76993FF7F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/>
              <a:t>单峰区间确定过程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F5C881-7245-46F6-8CBF-2915AC7D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06C3CF-F904-473B-B6D4-555508BC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7AC79822-BC0D-4DE8-A7E5-90A3732A2B82}" type="slidenum">
              <a:rPr lang="zh-CN" altLang="en-US" smtClean="0"/>
              <a:pPr/>
              <a:t>30</a:t>
            </a:fld>
            <a:endParaRPr lang="en-US" altLang="zh-CN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DD47650-8AC8-4041-B44A-B8C804740D26}"/>
              </a:ext>
            </a:extLst>
          </p:cNvPr>
          <p:cNvSpPr/>
          <p:nvPr/>
        </p:nvSpPr>
        <p:spPr bwMode="auto">
          <a:xfrm>
            <a:off x="4448944" y="1068784"/>
            <a:ext cx="1008112" cy="4320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开始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1ADEA74-7681-4D31-8C8D-B6E6BD9A8C4A}"/>
              </a:ext>
            </a:extLst>
          </p:cNvPr>
          <p:cNvCxnSpPr>
            <a:cxnSpLocks/>
            <a:stCxn id="7" idx="4"/>
          </p:cNvCxnSpPr>
          <p:nvPr/>
        </p:nvCxnSpPr>
        <p:spPr bwMode="auto">
          <a:xfrm>
            <a:off x="4953000" y="1500832"/>
            <a:ext cx="0" cy="26342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F38DDB3-A54E-478C-A729-D8D1CE4F98D6}"/>
                  </a:ext>
                </a:extLst>
              </p:cNvPr>
              <p:cNvSpPr/>
              <p:nvPr/>
            </p:nvSpPr>
            <p:spPr bwMode="auto">
              <a:xfrm>
                <a:off x="2602049" y="2463446"/>
                <a:ext cx="4752528" cy="36004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F38DDB3-A54E-478C-A729-D8D1CE4F9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2049" y="2463446"/>
                <a:ext cx="4752528" cy="360040"/>
              </a:xfrm>
              <a:prstGeom prst="rect">
                <a:avLst/>
              </a:prstGeom>
              <a:blipFill>
                <a:blip r:embed="rId2"/>
                <a:stretch>
                  <a:fillRect b="-24590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平行四边形 10">
                <a:extLst>
                  <a:ext uri="{FF2B5EF4-FFF2-40B4-BE49-F238E27FC236}">
                    <a16:creationId xmlns:a16="http://schemas.microsoft.com/office/drawing/2014/main" id="{D9B5AE4A-1B43-41AF-82FE-154A3D9A9B59}"/>
                  </a:ext>
                </a:extLst>
              </p:cNvPr>
              <p:cNvSpPr/>
              <p:nvPr/>
            </p:nvSpPr>
            <p:spPr bwMode="auto">
              <a:xfrm>
                <a:off x="3764870" y="1763322"/>
                <a:ext cx="2376260" cy="360040"/>
              </a:xfrm>
              <a:prstGeom prst="parallelogram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输入</a:t>
                </a: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  </a:t>
                </a:r>
                <a14:m>
                  <m:oMath xmlns:m="http://schemas.openxmlformats.org/officeDocument/2006/math"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0" lang="en-US" altLang="zh-CN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0" lang="zh-CN" altLang="en-US" sz="20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1" name="平行四边形 10">
                <a:extLst>
                  <a:ext uri="{FF2B5EF4-FFF2-40B4-BE49-F238E27FC236}">
                    <a16:creationId xmlns:a16="http://schemas.microsoft.com/office/drawing/2014/main" id="{D9B5AE4A-1B43-41AF-82FE-154A3D9A9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4870" y="1763322"/>
                <a:ext cx="2376260" cy="360040"/>
              </a:xfrm>
              <a:prstGeom prst="parallelogram">
                <a:avLst/>
              </a:prstGeom>
              <a:blipFill>
                <a:blip r:embed="rId3"/>
                <a:stretch>
                  <a:fillRect t="-11475" b="-3278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2B98A35-1992-4C27-9087-AD03F01B280B}"/>
              </a:ext>
            </a:extLst>
          </p:cNvPr>
          <p:cNvCxnSpPr/>
          <p:nvPr/>
        </p:nvCxnSpPr>
        <p:spPr bwMode="auto">
          <a:xfrm>
            <a:off x="4961893" y="2175414"/>
            <a:ext cx="0" cy="288032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F5C35A35-EC76-4E6C-A9B0-F2F89440F193}"/>
                  </a:ext>
                </a:extLst>
              </p:cNvPr>
              <p:cNvSpPr/>
              <p:nvPr/>
            </p:nvSpPr>
            <p:spPr bwMode="auto">
              <a:xfrm>
                <a:off x="3512840" y="3212976"/>
                <a:ext cx="2939614" cy="432048"/>
              </a:xfrm>
              <a:prstGeom prst="diamond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0" lang="en-US" altLang="zh-CN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&gt;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?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F5C35A35-EC76-4E6C-A9B0-F2F89440F1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2840" y="3212976"/>
                <a:ext cx="2939614" cy="432048"/>
              </a:xfrm>
              <a:prstGeom prst="diamond">
                <a:avLst/>
              </a:prstGeom>
              <a:blipFill>
                <a:blip r:embed="rId4"/>
                <a:stretch>
                  <a:fillRect b="-20548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FA0BBBC-84F4-4E35-8F3C-01042560984F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 bwMode="auto">
          <a:xfrm>
            <a:off x="4978313" y="2823486"/>
            <a:ext cx="4334" cy="38949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6B0FFBB-86E1-42CE-AAB7-604BFC8C3C8E}"/>
                  </a:ext>
                </a:extLst>
              </p:cNvPr>
              <p:cNvSpPr/>
              <p:nvPr/>
            </p:nvSpPr>
            <p:spPr bwMode="auto">
              <a:xfrm>
                <a:off x="2825103" y="3933056"/>
                <a:ext cx="4290087" cy="36004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6B0FFBB-86E1-42CE-AAB7-604BFC8C3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5103" y="3933056"/>
                <a:ext cx="4290087" cy="360040"/>
              </a:xfrm>
              <a:prstGeom prst="rect">
                <a:avLst/>
              </a:prstGeom>
              <a:blipFill>
                <a:blip r:embed="rId5"/>
                <a:stretch>
                  <a:fillRect b="-24590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8FAA1848-EFCC-46CF-A286-AB945841ED23}"/>
                  </a:ext>
                </a:extLst>
              </p:cNvPr>
              <p:cNvSpPr/>
              <p:nvPr/>
            </p:nvSpPr>
            <p:spPr bwMode="auto">
              <a:xfrm>
                <a:off x="3500340" y="5327969"/>
                <a:ext cx="2939614" cy="464199"/>
              </a:xfrm>
              <a:prstGeom prst="diamond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?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8FAA1848-EFCC-46CF-A286-AB945841ED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0340" y="5327969"/>
                <a:ext cx="2939614" cy="464199"/>
              </a:xfrm>
              <a:prstGeom prst="diamond">
                <a:avLst/>
              </a:prstGeom>
              <a:blipFill>
                <a:blip r:embed="rId6"/>
                <a:stretch>
                  <a:fillRect b="-1666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菱形 17">
                <a:extLst>
                  <a:ext uri="{FF2B5EF4-FFF2-40B4-BE49-F238E27FC236}">
                    <a16:creationId xmlns:a16="http://schemas.microsoft.com/office/drawing/2014/main" id="{639925E9-07C4-4FBD-BBF6-7FFBA8981A07}"/>
                  </a:ext>
                </a:extLst>
              </p:cNvPr>
              <p:cNvSpPr/>
              <p:nvPr/>
            </p:nvSpPr>
            <p:spPr bwMode="auto">
              <a:xfrm>
                <a:off x="3519049" y="4561667"/>
                <a:ext cx="2939614" cy="464199"/>
              </a:xfrm>
              <a:prstGeom prst="diamond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0" lang="en-US" altLang="zh-CN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&gt;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?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8" name="菱形 17">
                <a:extLst>
                  <a:ext uri="{FF2B5EF4-FFF2-40B4-BE49-F238E27FC236}">
                    <a16:creationId xmlns:a16="http://schemas.microsoft.com/office/drawing/2014/main" id="{639925E9-07C4-4FBD-BBF6-7FFBA8981A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9049" y="4561667"/>
                <a:ext cx="2939614" cy="464199"/>
              </a:xfrm>
              <a:prstGeom prst="diamond">
                <a:avLst/>
              </a:prstGeom>
              <a:blipFill>
                <a:blip r:embed="rId7"/>
                <a:stretch>
                  <a:fillRect b="-1666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19A8F6A-FE31-4569-BE06-50098E546BB2}"/>
              </a:ext>
            </a:extLst>
          </p:cNvPr>
          <p:cNvCxnSpPr/>
          <p:nvPr/>
        </p:nvCxnSpPr>
        <p:spPr bwMode="auto">
          <a:xfrm>
            <a:off x="4988856" y="4293096"/>
            <a:ext cx="0" cy="288032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7A89E58-2441-4F77-9B17-92F216584FEC}"/>
              </a:ext>
            </a:extLst>
          </p:cNvPr>
          <p:cNvCxnSpPr/>
          <p:nvPr/>
        </p:nvCxnSpPr>
        <p:spPr bwMode="auto">
          <a:xfrm>
            <a:off x="4970147" y="3645024"/>
            <a:ext cx="0" cy="288032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735102E-EA3A-490D-A3BB-D2D0AFE9A13A}"/>
              </a:ext>
            </a:extLst>
          </p:cNvPr>
          <p:cNvCxnSpPr/>
          <p:nvPr/>
        </p:nvCxnSpPr>
        <p:spPr bwMode="auto">
          <a:xfrm>
            <a:off x="4988856" y="5039937"/>
            <a:ext cx="0" cy="288032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781AB61A-6A5B-46C7-8D64-FBCBB659A165}"/>
                  </a:ext>
                </a:extLst>
              </p:cNvPr>
              <p:cNvSpPr/>
              <p:nvPr/>
            </p:nvSpPr>
            <p:spPr bwMode="auto">
              <a:xfrm>
                <a:off x="3713892" y="6076347"/>
                <a:ext cx="2549926" cy="360040"/>
              </a:xfrm>
              <a:prstGeom prst="parallelogram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输</a:t>
                </a:r>
                <a:r>
                  <a:rPr lang="zh-CN" altLang="en-US" sz="2000" dirty="0"/>
                  <a:t>出</a:t>
                </a: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  </a:t>
                </a:r>
                <a14:m>
                  <m:oMath xmlns:m="http://schemas.openxmlformats.org/officeDocument/2006/math"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0" lang="en-US" altLang="zh-CN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0" lang="en-US" altLang="zh-CN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0" lang="zh-CN" altLang="en-US" sz="20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781AB61A-6A5B-46C7-8D64-FBCBB659A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3892" y="6076347"/>
                <a:ext cx="2549926" cy="360040"/>
              </a:xfrm>
              <a:prstGeom prst="parallelogram">
                <a:avLst/>
              </a:prstGeom>
              <a:blipFill>
                <a:blip r:embed="rId8"/>
                <a:stretch>
                  <a:fillRect t="-13115" b="-3278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38849A3-2B04-4885-9C6D-B7D59FBCD8B8}"/>
              </a:ext>
            </a:extLst>
          </p:cNvPr>
          <p:cNvCxnSpPr/>
          <p:nvPr/>
        </p:nvCxnSpPr>
        <p:spPr bwMode="auto">
          <a:xfrm>
            <a:off x="4988855" y="5792168"/>
            <a:ext cx="0" cy="288032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平行四边形 26">
                <a:extLst>
                  <a:ext uri="{FF2B5EF4-FFF2-40B4-BE49-F238E27FC236}">
                    <a16:creationId xmlns:a16="http://schemas.microsoft.com/office/drawing/2014/main" id="{599EEA7C-D2ED-4B2F-96F5-675E721CC1AF}"/>
                  </a:ext>
                </a:extLst>
              </p:cNvPr>
              <p:cNvSpPr/>
              <p:nvPr/>
            </p:nvSpPr>
            <p:spPr bwMode="auto">
              <a:xfrm>
                <a:off x="7299618" y="5373216"/>
                <a:ext cx="2549926" cy="360040"/>
              </a:xfrm>
              <a:prstGeom prst="parallelogram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输</a:t>
                </a:r>
                <a:r>
                  <a:rPr lang="zh-CN" altLang="en-US" sz="2000" dirty="0"/>
                  <a:t>出</a:t>
                </a: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  </a:t>
                </a:r>
                <a14:m>
                  <m:oMath xmlns:m="http://schemas.openxmlformats.org/officeDocument/2006/math"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0" lang="zh-CN" altLang="en-US" sz="20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7" name="平行四边形 26">
                <a:extLst>
                  <a:ext uri="{FF2B5EF4-FFF2-40B4-BE49-F238E27FC236}">
                    <a16:creationId xmlns:a16="http://schemas.microsoft.com/office/drawing/2014/main" id="{599EEA7C-D2ED-4B2F-96F5-675E721CC1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9618" y="5373216"/>
                <a:ext cx="2549926" cy="360040"/>
              </a:xfrm>
              <a:prstGeom prst="parallelogram">
                <a:avLst/>
              </a:prstGeom>
              <a:blipFill>
                <a:blip r:embed="rId9"/>
                <a:stretch>
                  <a:fillRect t="-11475" b="-3278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00D269A-A44B-4B3B-B5BE-96C9FB9A24B9}"/>
              </a:ext>
            </a:extLst>
          </p:cNvPr>
          <p:cNvCxnSpPr>
            <a:cxnSpLocks/>
          </p:cNvCxnSpPr>
          <p:nvPr/>
        </p:nvCxnSpPr>
        <p:spPr bwMode="auto">
          <a:xfrm flipV="1">
            <a:off x="6449908" y="5545982"/>
            <a:ext cx="904669" cy="6833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5235D87B-7E42-405E-B4C0-96FD23828945}"/>
              </a:ext>
            </a:extLst>
          </p:cNvPr>
          <p:cNvSpPr/>
          <p:nvPr/>
        </p:nvSpPr>
        <p:spPr bwMode="auto">
          <a:xfrm>
            <a:off x="8070525" y="6101002"/>
            <a:ext cx="1008112" cy="4320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结束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334E7BD-79FA-4369-B64C-319C90809956}"/>
              </a:ext>
            </a:extLst>
          </p:cNvPr>
          <p:cNvCxnSpPr>
            <a:cxnSpLocks/>
            <a:stCxn id="27" idx="4"/>
          </p:cNvCxnSpPr>
          <p:nvPr/>
        </p:nvCxnSpPr>
        <p:spPr bwMode="auto">
          <a:xfrm>
            <a:off x="8574581" y="5733256"/>
            <a:ext cx="246" cy="343091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C8819135-E640-4298-9129-8CCF592DA695}"/>
              </a:ext>
            </a:extLst>
          </p:cNvPr>
          <p:cNvCxnSpPr>
            <a:stCxn id="25" idx="2"/>
          </p:cNvCxnSpPr>
          <p:nvPr/>
        </p:nvCxnSpPr>
        <p:spPr bwMode="auto">
          <a:xfrm flipV="1">
            <a:off x="6218813" y="5829498"/>
            <a:ext cx="2355768" cy="426869"/>
          </a:xfrm>
          <a:prstGeom prst="bentConnector3">
            <a:avLst>
              <a:gd name="adj1" fmla="val 27752"/>
            </a:avLst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FB46C44-ED0E-4F6A-B092-78705161072A}"/>
                  </a:ext>
                </a:extLst>
              </p:cNvPr>
              <p:cNvSpPr/>
              <p:nvPr/>
            </p:nvSpPr>
            <p:spPr bwMode="auto">
              <a:xfrm>
                <a:off x="668288" y="4509120"/>
                <a:ext cx="2384207" cy="792088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FB46C44-ED0E-4F6A-B092-787051610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288" y="4509120"/>
                <a:ext cx="2384207" cy="792088"/>
              </a:xfrm>
              <a:prstGeom prst="rect">
                <a:avLst/>
              </a:prstGeom>
              <a:blipFill>
                <a:blip r:embed="rId10"/>
                <a:stretch>
                  <a:fillRect b="-2273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196BD3B-BE4D-40DC-A580-65D6258D874B}"/>
              </a:ext>
            </a:extLst>
          </p:cNvPr>
          <p:cNvCxnSpPr>
            <a:cxnSpLocks/>
            <a:stCxn id="18" idx="1"/>
          </p:cNvCxnSpPr>
          <p:nvPr/>
        </p:nvCxnSpPr>
        <p:spPr bwMode="auto">
          <a:xfrm flipH="1">
            <a:off x="3052497" y="4793767"/>
            <a:ext cx="466552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634693D0-CE75-4B0B-B6E1-9A43BFE0B343}"/>
              </a:ext>
            </a:extLst>
          </p:cNvPr>
          <p:cNvCxnSpPr>
            <a:cxnSpLocks/>
            <a:stCxn id="41" idx="0"/>
          </p:cNvCxnSpPr>
          <p:nvPr/>
        </p:nvCxnSpPr>
        <p:spPr bwMode="auto">
          <a:xfrm rot="5400000" flipH="1" flipV="1">
            <a:off x="3007449" y="2599425"/>
            <a:ext cx="762638" cy="3056753"/>
          </a:xfrm>
          <a:prstGeom prst="bentConnector2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7685819-64BD-4C3E-A077-FD3EBD9C3F19}"/>
                  </a:ext>
                </a:extLst>
              </p:cNvPr>
              <p:cNvSpPr/>
              <p:nvPr/>
            </p:nvSpPr>
            <p:spPr bwMode="auto">
              <a:xfrm>
                <a:off x="7275457" y="3006941"/>
                <a:ext cx="2384205" cy="739541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kumimoji="0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zh-CN" sz="20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7685819-64BD-4C3E-A077-FD3EBD9C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75457" y="3006941"/>
                <a:ext cx="2384205" cy="739541"/>
              </a:xfrm>
              <a:prstGeom prst="rect">
                <a:avLst/>
              </a:prstGeom>
              <a:blipFill>
                <a:blip r:embed="rId11"/>
                <a:stretch>
                  <a:fillRect b="-5645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289A0EC-32DD-4CB0-A61D-9B045125A401}"/>
              </a:ext>
            </a:extLst>
          </p:cNvPr>
          <p:cNvCxnSpPr>
            <a:cxnSpLocks/>
            <a:stCxn id="14" idx="3"/>
            <a:endCxn id="55" idx="1"/>
          </p:cNvCxnSpPr>
          <p:nvPr/>
        </p:nvCxnSpPr>
        <p:spPr bwMode="auto">
          <a:xfrm flipV="1">
            <a:off x="6452454" y="3376712"/>
            <a:ext cx="823003" cy="52288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AA9D5A23-6391-42ED-AD8C-C21F90F2EA89}"/>
              </a:ext>
            </a:extLst>
          </p:cNvPr>
          <p:cNvCxnSpPr>
            <a:cxnSpLocks/>
            <a:stCxn id="55" idx="2"/>
            <a:endCxn id="16" idx="3"/>
          </p:cNvCxnSpPr>
          <p:nvPr/>
        </p:nvCxnSpPr>
        <p:spPr bwMode="auto">
          <a:xfrm rot="5400000">
            <a:off x="7608078" y="3253594"/>
            <a:ext cx="366594" cy="1352370"/>
          </a:xfrm>
          <a:prstGeom prst="bentConnector2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36FFB2A3-999E-4253-952E-A6750C0E08C7}"/>
              </a:ext>
            </a:extLst>
          </p:cNvPr>
          <p:cNvCxnSpPr>
            <a:cxnSpLocks/>
          </p:cNvCxnSpPr>
          <p:nvPr/>
        </p:nvCxnSpPr>
        <p:spPr bwMode="auto">
          <a:xfrm flipV="1">
            <a:off x="3369513" y="4838683"/>
            <a:ext cx="0" cy="889262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26AC5B7F-198D-48A2-BA97-287F45C2589A}"/>
              </a:ext>
            </a:extLst>
          </p:cNvPr>
          <p:cNvSpPr txBox="1"/>
          <p:nvPr/>
        </p:nvSpPr>
        <p:spPr>
          <a:xfrm>
            <a:off x="4917145" y="359088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EEDEBE2-B6BB-4E8F-819D-B120CBF04F9B}"/>
              </a:ext>
            </a:extLst>
          </p:cNvPr>
          <p:cNvSpPr txBox="1"/>
          <p:nvPr/>
        </p:nvSpPr>
        <p:spPr>
          <a:xfrm>
            <a:off x="4970146" y="500255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D885C75-C144-40CD-8E72-3AF6022C0C93}"/>
              </a:ext>
            </a:extLst>
          </p:cNvPr>
          <p:cNvSpPr txBox="1"/>
          <p:nvPr/>
        </p:nvSpPr>
        <p:spPr>
          <a:xfrm>
            <a:off x="4953000" y="572794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77C9CF3-90A9-430B-9A5B-F89AEB481497}"/>
              </a:ext>
            </a:extLst>
          </p:cNvPr>
          <p:cNvSpPr txBox="1"/>
          <p:nvPr/>
        </p:nvSpPr>
        <p:spPr>
          <a:xfrm>
            <a:off x="6597657" y="305336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否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64823D85-9BFE-4201-8CFD-AE36DE0D1052}"/>
              </a:ext>
            </a:extLst>
          </p:cNvPr>
          <p:cNvSpPr txBox="1"/>
          <p:nvPr/>
        </p:nvSpPr>
        <p:spPr>
          <a:xfrm>
            <a:off x="3101615" y="440802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否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4D5D1DF-107B-4643-B207-7D4C6978AF16}"/>
              </a:ext>
            </a:extLst>
          </p:cNvPr>
          <p:cNvSpPr txBox="1"/>
          <p:nvPr/>
        </p:nvSpPr>
        <p:spPr>
          <a:xfrm>
            <a:off x="6469982" y="517316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332284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6" grpId="0" animBg="1"/>
      <p:bldP spid="17" grpId="0" animBg="1"/>
      <p:bldP spid="18" grpId="0" animBg="1"/>
      <p:bldP spid="25" grpId="0" animBg="1"/>
      <p:bldP spid="27" grpId="0" animBg="1"/>
      <p:bldP spid="32" grpId="0" animBg="1"/>
      <p:bldP spid="41" grpId="0" animBg="1"/>
      <p:bldP spid="55" grpId="0" animBg="1"/>
      <p:bldP spid="88" grpId="0"/>
      <p:bldP spid="89" grpId="0"/>
      <p:bldP spid="90" grpId="0"/>
      <p:bldP spid="91" grpId="0"/>
      <p:bldP spid="92" grpId="0"/>
      <p:bldP spid="9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19A8A-A5AA-4274-9EC1-DC217D52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一维搜索方法概述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9876C-E252-4D52-BDB7-EB57A4B8F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区间消去法原理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目标</a:t>
            </a:r>
            <a:endParaRPr lang="en-US" altLang="zh-CN" dirty="0">
              <a:solidFill>
                <a:srgbClr val="C00000"/>
              </a:solidFill>
            </a:endParaRPr>
          </a:p>
          <a:p>
            <a:pPr lvl="2"/>
            <a:r>
              <a:rPr lang="zh-CN" altLang="en-US" dirty="0"/>
              <a:t>找到搜索区间（单峰区间）后，</a:t>
            </a:r>
            <a:r>
              <a:rPr lang="zh-CN" altLang="en-US" dirty="0">
                <a:solidFill>
                  <a:srgbClr val="FF0000"/>
                </a:solidFill>
              </a:rPr>
              <a:t>逐步的缩小搜索区间，</a:t>
            </a:r>
            <a:r>
              <a:rPr lang="zh-CN" altLang="en-US" dirty="0"/>
              <a:t>直到找到满足条件的近似解。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思想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在搜索区间内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dirty="0" err="1">
                <a:solidFill>
                  <a:srgbClr val="FF0000"/>
                </a:solidFill>
              </a:rPr>
              <a:t>a,b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r>
              <a:rPr lang="zh-CN" altLang="en-US" dirty="0">
                <a:solidFill>
                  <a:srgbClr val="FF0000"/>
                </a:solidFill>
              </a:rPr>
              <a:t>内取两个点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比较两点函数值大小，</a:t>
            </a:r>
            <a:r>
              <a:rPr lang="zh-CN" altLang="en-US" dirty="0">
                <a:solidFill>
                  <a:srgbClr val="FF0000"/>
                </a:solidFill>
              </a:rPr>
              <a:t>抛弃函数值较大的段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反复比较抛弃，</a:t>
            </a:r>
            <a:r>
              <a:rPr lang="zh-CN" altLang="en-US" dirty="0">
                <a:solidFill>
                  <a:srgbClr val="FF0000"/>
                </a:solidFill>
              </a:rPr>
              <a:t>直到搜索区间大小满足精度要求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2CB8AF-6202-4D89-BF90-97533B97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61C266-85D5-41E9-A942-5AD95F7DC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272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4222F-A52D-4B72-9874-F12DB8EF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区间消去法分析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EFE1C2-5DB0-4F86-9607-C3BA5C2C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32A24C-1BF6-452A-9149-11EBD01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32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AC9D66D-6ACD-4F25-B7D4-01B1C96F29A3}"/>
              </a:ext>
            </a:extLst>
          </p:cNvPr>
          <p:cNvCxnSpPr>
            <a:cxnSpLocks/>
          </p:cNvCxnSpPr>
          <p:nvPr/>
        </p:nvCxnSpPr>
        <p:spPr bwMode="auto">
          <a:xfrm>
            <a:off x="1050953" y="5306778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8257F34-5D0F-403D-8DEB-7DBA29889905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0953" y="3018106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FEFCC8D-60FE-4838-BE9F-E4789308F18C}"/>
                  </a:ext>
                </a:extLst>
              </p:cNvPr>
              <p:cNvSpPr txBox="1"/>
              <p:nvPr/>
            </p:nvSpPr>
            <p:spPr>
              <a:xfrm>
                <a:off x="3959368" y="4820091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FEFCC8D-60FE-4838-BE9F-E478930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368" y="4820091"/>
                <a:ext cx="653913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E41411B-73D7-4EF8-81A7-23C7F0882BE5}"/>
                  </a:ext>
                </a:extLst>
              </p:cNvPr>
              <p:cNvSpPr txBox="1"/>
              <p:nvPr/>
            </p:nvSpPr>
            <p:spPr>
              <a:xfrm>
                <a:off x="346874" y="2975485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E41411B-73D7-4EF8-81A7-23C7F088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74" y="2975485"/>
                <a:ext cx="666007" cy="461665"/>
              </a:xfrm>
              <a:prstGeom prst="rect">
                <a:avLst/>
              </a:prstGeom>
              <a:blipFill>
                <a:blip r:embed="rId3"/>
                <a:stretch>
                  <a:fillRect l="-8257" r="-2568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8D81472C-5792-41F5-AF5D-10A25A0CC110}"/>
              </a:ext>
            </a:extLst>
          </p:cNvPr>
          <p:cNvSpPr txBox="1"/>
          <p:nvPr/>
        </p:nvSpPr>
        <p:spPr>
          <a:xfrm>
            <a:off x="728338" y="5256735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25F1F4-F033-485B-B022-5B4188D3C955}"/>
                  </a:ext>
                </a:extLst>
              </p:cNvPr>
              <p:cNvSpPr txBox="1"/>
              <p:nvPr/>
            </p:nvSpPr>
            <p:spPr>
              <a:xfrm>
                <a:off x="2689826" y="5172930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2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25F1F4-F033-485B-B022-5B4188D3C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826" y="5172930"/>
                <a:ext cx="459135" cy="453137"/>
              </a:xfrm>
              <a:prstGeom prst="rect">
                <a:avLst/>
              </a:prstGeom>
              <a:blipFill>
                <a:blip r:embed="rId4"/>
                <a:stretch>
                  <a:fillRect r="-2632" b="-2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11900BE-0E13-47B6-8F9F-56AF2CCCB272}"/>
              </a:ext>
            </a:extLst>
          </p:cNvPr>
          <p:cNvSpPr/>
          <p:nvPr/>
        </p:nvSpPr>
        <p:spPr bwMode="auto">
          <a:xfrm>
            <a:off x="1431109" y="3401146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A7B2FC2-2ABF-4831-8FCC-ABC46F7F3785}"/>
              </a:ext>
            </a:extLst>
          </p:cNvPr>
          <p:cNvCxnSpPr>
            <a:cxnSpLocks/>
          </p:cNvCxnSpPr>
          <p:nvPr/>
        </p:nvCxnSpPr>
        <p:spPr bwMode="auto">
          <a:xfrm>
            <a:off x="2359871" y="4519628"/>
            <a:ext cx="0" cy="7871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E513D82-9C56-4AE2-89C4-42B71032FD2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050954" y="4271427"/>
            <a:ext cx="709044" cy="1736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1925AA2-8321-4443-AE43-5C94CB9178A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035219" y="4515004"/>
            <a:ext cx="1324652" cy="308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96AAC93-3B5C-485E-B4BF-90366752CF07}"/>
                  </a:ext>
                </a:extLst>
              </p:cNvPr>
              <p:cNvSpPr txBox="1"/>
              <p:nvPr/>
            </p:nvSpPr>
            <p:spPr>
              <a:xfrm>
                <a:off x="656165" y="4288796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96AAC93-3B5C-485E-B4BF-90366752C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65" y="4288796"/>
                <a:ext cx="459365" cy="461665"/>
              </a:xfrm>
              <a:prstGeom prst="rect">
                <a:avLst/>
              </a:prstGeom>
              <a:blipFill>
                <a:blip r:embed="rId5"/>
                <a:stretch>
                  <a:fillRect l="-12000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A3C4840-F883-4D71-9042-D6A712F8FF71}"/>
                  </a:ext>
                </a:extLst>
              </p:cNvPr>
              <p:cNvSpPr txBox="1"/>
              <p:nvPr/>
            </p:nvSpPr>
            <p:spPr>
              <a:xfrm>
                <a:off x="667301" y="3928756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A3C4840-F883-4D71-9042-D6A712F8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01" y="3928756"/>
                <a:ext cx="387359" cy="461665"/>
              </a:xfrm>
              <a:prstGeom prst="rect">
                <a:avLst/>
              </a:prstGeom>
              <a:blipFill>
                <a:blip r:embed="rId6"/>
                <a:stretch>
                  <a:fillRect l="-12500" r="-12500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EC209DA-2BD1-48DD-9ADA-E3F47DC61348}"/>
              </a:ext>
            </a:extLst>
          </p:cNvPr>
          <p:cNvCxnSpPr>
            <a:cxnSpLocks/>
          </p:cNvCxnSpPr>
          <p:nvPr/>
        </p:nvCxnSpPr>
        <p:spPr bwMode="auto">
          <a:xfrm>
            <a:off x="2832117" y="4023336"/>
            <a:ext cx="0" cy="12834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75AB43E-99FE-4EDE-A22E-29723D7E81C1}"/>
                  </a:ext>
                </a:extLst>
              </p:cNvPr>
              <p:cNvSpPr txBox="1"/>
              <p:nvPr/>
            </p:nvSpPr>
            <p:spPr>
              <a:xfrm>
                <a:off x="1284990" y="5167111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75AB43E-99FE-4EDE-A22E-29723D7E8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990" y="5167111"/>
                <a:ext cx="504055" cy="46166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1465931-FA43-4245-8573-D233F036603F}"/>
              </a:ext>
            </a:extLst>
          </p:cNvPr>
          <p:cNvCxnSpPr>
            <a:cxnSpLocks/>
          </p:cNvCxnSpPr>
          <p:nvPr/>
        </p:nvCxnSpPr>
        <p:spPr bwMode="auto">
          <a:xfrm>
            <a:off x="1543974" y="3730248"/>
            <a:ext cx="0" cy="15515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0693547-7679-4016-9A99-779537890050}"/>
              </a:ext>
            </a:extLst>
          </p:cNvPr>
          <p:cNvCxnSpPr>
            <a:cxnSpLocks/>
          </p:cNvCxnSpPr>
          <p:nvPr/>
        </p:nvCxnSpPr>
        <p:spPr bwMode="auto">
          <a:xfrm>
            <a:off x="1759998" y="4288796"/>
            <a:ext cx="0" cy="101798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D23CFDA-9884-4BBF-A2B1-1FE1FC738D36}"/>
                  </a:ext>
                </a:extLst>
              </p:cNvPr>
              <p:cNvSpPr txBox="1"/>
              <p:nvPr/>
            </p:nvSpPr>
            <p:spPr>
              <a:xfrm>
                <a:off x="2151039" y="5172930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D23CFDA-9884-4BBF-A2B1-1FE1FC73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039" y="5172930"/>
                <a:ext cx="504055" cy="461665"/>
              </a:xfrm>
              <a:prstGeom prst="rect">
                <a:avLst/>
              </a:prstGeom>
              <a:blipFill>
                <a:blip r:embed="rId8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8F0E4FB-D3E5-423A-9FC5-B41F47F99101}"/>
                  </a:ext>
                </a:extLst>
              </p:cNvPr>
              <p:cNvSpPr txBox="1"/>
              <p:nvPr/>
            </p:nvSpPr>
            <p:spPr>
              <a:xfrm>
                <a:off x="1608591" y="5164402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8F0E4FB-D3E5-423A-9FC5-B41F47F99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591" y="5164402"/>
                <a:ext cx="504055" cy="461665"/>
              </a:xfrm>
              <a:prstGeom prst="rect">
                <a:avLst/>
              </a:prstGeom>
              <a:blipFill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21C754D-34C5-4B2F-AB0A-72645FE16AA1}"/>
                  </a:ext>
                </a:extLst>
              </p:cNvPr>
              <p:cNvSpPr txBox="1"/>
              <p:nvPr/>
            </p:nvSpPr>
            <p:spPr>
              <a:xfrm>
                <a:off x="445146" y="1415413"/>
                <a:ext cx="1211614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sz="2400" baseline="-25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21C754D-34C5-4B2F-AB0A-72645FE16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46" y="1415413"/>
                <a:ext cx="1211614" cy="453137"/>
              </a:xfrm>
              <a:prstGeom prst="rect">
                <a:avLst/>
              </a:prstGeom>
              <a:blipFill>
                <a:blip r:embed="rId10"/>
                <a:stretch>
                  <a:fillRect l="-1005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913A8F5-5E79-4DA3-81D3-35915A93DBB8}"/>
                  </a:ext>
                </a:extLst>
              </p:cNvPr>
              <p:cNvSpPr txBox="1"/>
              <p:nvPr/>
            </p:nvSpPr>
            <p:spPr>
              <a:xfrm>
                <a:off x="5090198" y="2231388"/>
                <a:ext cx="190706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消去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913A8F5-5E79-4DA3-81D3-35915A93D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198" y="2231388"/>
                <a:ext cx="1907063" cy="461665"/>
              </a:xfrm>
              <a:prstGeom prst="rect">
                <a:avLst/>
              </a:prstGeom>
              <a:blipFill>
                <a:blip r:embed="rId11"/>
                <a:stretch>
                  <a:fillRect l="-479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7955C1F0-99BC-4DCA-8D7E-099EA4DF892B}"/>
              </a:ext>
            </a:extLst>
          </p:cNvPr>
          <p:cNvSpPr/>
          <p:nvPr/>
        </p:nvSpPr>
        <p:spPr bwMode="auto">
          <a:xfrm>
            <a:off x="1554964" y="4171662"/>
            <a:ext cx="190227" cy="1121557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A648A87-607E-43DE-AB47-2F514B120CF8}"/>
              </a:ext>
            </a:extLst>
          </p:cNvPr>
          <p:cNvCxnSpPr>
            <a:cxnSpLocks/>
          </p:cNvCxnSpPr>
          <p:nvPr/>
        </p:nvCxnSpPr>
        <p:spPr bwMode="auto">
          <a:xfrm>
            <a:off x="5557666" y="5293219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AA36B2E-A503-43B1-BC2E-487D6238BD43}"/>
              </a:ext>
            </a:extLst>
          </p:cNvPr>
          <p:cNvCxnSpPr>
            <a:cxnSpLocks/>
          </p:cNvCxnSpPr>
          <p:nvPr/>
        </p:nvCxnSpPr>
        <p:spPr bwMode="auto">
          <a:xfrm flipV="1">
            <a:off x="5557666" y="3004547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3004856-731B-487D-B528-3FE1D11A03BB}"/>
                  </a:ext>
                </a:extLst>
              </p:cNvPr>
              <p:cNvSpPr txBox="1"/>
              <p:nvPr/>
            </p:nvSpPr>
            <p:spPr>
              <a:xfrm>
                <a:off x="8466081" y="4806532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3004856-731B-487D-B528-3FE1D11A0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081" y="4806532"/>
                <a:ext cx="65391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5120705-8EA5-46AD-B137-112B624128EA}"/>
                  </a:ext>
                </a:extLst>
              </p:cNvPr>
              <p:cNvSpPr txBox="1"/>
              <p:nvPr/>
            </p:nvSpPr>
            <p:spPr>
              <a:xfrm>
                <a:off x="4853587" y="2961926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5120705-8EA5-46AD-B137-112B62412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587" y="2961926"/>
                <a:ext cx="666007" cy="461665"/>
              </a:xfrm>
              <a:prstGeom prst="rect">
                <a:avLst/>
              </a:prstGeom>
              <a:blipFill>
                <a:blip r:embed="rId13"/>
                <a:stretch>
                  <a:fillRect l="-7339" r="-26606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>
            <a:extLst>
              <a:ext uri="{FF2B5EF4-FFF2-40B4-BE49-F238E27FC236}">
                <a16:creationId xmlns:a16="http://schemas.microsoft.com/office/drawing/2014/main" id="{4E4240D4-2474-4F21-AFB7-7937C0E92787}"/>
              </a:ext>
            </a:extLst>
          </p:cNvPr>
          <p:cNvSpPr txBox="1"/>
          <p:nvPr/>
        </p:nvSpPr>
        <p:spPr>
          <a:xfrm>
            <a:off x="5235051" y="5243176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81F77FB-43F6-45EC-AA32-A798A4020213}"/>
                  </a:ext>
                </a:extLst>
              </p:cNvPr>
              <p:cNvSpPr txBox="1"/>
              <p:nvPr/>
            </p:nvSpPr>
            <p:spPr>
              <a:xfrm>
                <a:off x="7196539" y="5159371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2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81F77FB-43F6-45EC-AA32-A798A4020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539" y="5159371"/>
                <a:ext cx="459135" cy="453137"/>
              </a:xfrm>
              <a:prstGeom prst="rect">
                <a:avLst/>
              </a:prstGeom>
              <a:blipFill>
                <a:blip r:embed="rId14"/>
                <a:stretch>
                  <a:fillRect r="-2667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FBA60933-1EA2-401A-A3C4-0DA41FA58007}"/>
              </a:ext>
            </a:extLst>
          </p:cNvPr>
          <p:cNvSpPr/>
          <p:nvPr/>
        </p:nvSpPr>
        <p:spPr bwMode="auto">
          <a:xfrm>
            <a:off x="5937822" y="3387587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D6DC9A0-F7D1-497B-A187-AC5D05B2B727}"/>
              </a:ext>
            </a:extLst>
          </p:cNvPr>
          <p:cNvCxnSpPr>
            <a:cxnSpLocks/>
          </p:cNvCxnSpPr>
          <p:nvPr/>
        </p:nvCxnSpPr>
        <p:spPr bwMode="auto">
          <a:xfrm>
            <a:off x="6465168" y="4506069"/>
            <a:ext cx="0" cy="7871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70AAB0D-2141-43B0-AA75-9F2F861C7E8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572509" y="4263773"/>
            <a:ext cx="1537416" cy="2348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4E735E46-B7E8-4580-98FB-AA02A8134EE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541932" y="4501445"/>
            <a:ext cx="1324652" cy="308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48B8A9F-757B-4168-9E55-2F9CB7994882}"/>
                  </a:ext>
                </a:extLst>
              </p:cNvPr>
              <p:cNvSpPr txBox="1"/>
              <p:nvPr/>
            </p:nvSpPr>
            <p:spPr>
              <a:xfrm>
                <a:off x="5162878" y="4275237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48B8A9F-757B-4168-9E55-2F9CB7994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878" y="4275237"/>
                <a:ext cx="459365" cy="461665"/>
              </a:xfrm>
              <a:prstGeom prst="rect">
                <a:avLst/>
              </a:prstGeom>
              <a:blipFill>
                <a:blip r:embed="rId15"/>
                <a:stretch>
                  <a:fillRect l="-12000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2F02BB6-9674-40D9-ACE6-895038823687}"/>
                  </a:ext>
                </a:extLst>
              </p:cNvPr>
              <p:cNvSpPr txBox="1"/>
              <p:nvPr/>
            </p:nvSpPr>
            <p:spPr>
              <a:xfrm>
                <a:off x="5174014" y="3915197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2F02BB6-9674-40D9-ACE6-895038823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014" y="3915197"/>
                <a:ext cx="387359" cy="461665"/>
              </a:xfrm>
              <a:prstGeom prst="rect">
                <a:avLst/>
              </a:prstGeom>
              <a:blipFill>
                <a:blip r:embed="rId16"/>
                <a:stretch>
                  <a:fillRect l="-14286" r="-1269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E7C5A58-A86E-41BC-9670-15B42576DB09}"/>
              </a:ext>
            </a:extLst>
          </p:cNvPr>
          <p:cNvCxnSpPr>
            <a:cxnSpLocks/>
          </p:cNvCxnSpPr>
          <p:nvPr/>
        </p:nvCxnSpPr>
        <p:spPr bwMode="auto">
          <a:xfrm>
            <a:off x="7338830" y="4009777"/>
            <a:ext cx="0" cy="12834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C13EFA3-79DC-48D3-B1C7-6BEA18CCEE5A}"/>
                  </a:ext>
                </a:extLst>
              </p:cNvPr>
              <p:cNvSpPr txBox="1"/>
              <p:nvPr/>
            </p:nvSpPr>
            <p:spPr>
              <a:xfrm>
                <a:off x="5791703" y="5153552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C13EFA3-79DC-48D3-B1C7-6BEA18CCE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703" y="5153552"/>
                <a:ext cx="504055" cy="461665"/>
              </a:xfrm>
              <a:prstGeom prst="rect">
                <a:avLst/>
              </a:prstGeom>
              <a:blipFill>
                <a:blip r:embed="rId1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C9AA09F-9262-4739-997B-16A54F003F3F}"/>
              </a:ext>
            </a:extLst>
          </p:cNvPr>
          <p:cNvCxnSpPr>
            <a:cxnSpLocks/>
          </p:cNvCxnSpPr>
          <p:nvPr/>
        </p:nvCxnSpPr>
        <p:spPr bwMode="auto">
          <a:xfrm>
            <a:off x="6050687" y="3716689"/>
            <a:ext cx="0" cy="15515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6044578-F1E2-4D40-8304-88FA283FE181}"/>
              </a:ext>
            </a:extLst>
          </p:cNvPr>
          <p:cNvCxnSpPr>
            <a:cxnSpLocks/>
          </p:cNvCxnSpPr>
          <p:nvPr/>
        </p:nvCxnSpPr>
        <p:spPr bwMode="auto">
          <a:xfrm>
            <a:off x="7113240" y="4288795"/>
            <a:ext cx="0" cy="101798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B7819E0-BC4F-440A-B9A8-0CA43891E5E0}"/>
                  </a:ext>
                </a:extLst>
              </p:cNvPr>
              <p:cNvSpPr txBox="1"/>
              <p:nvPr/>
            </p:nvSpPr>
            <p:spPr>
              <a:xfrm>
                <a:off x="6883738" y="5160985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B7819E0-BC4F-440A-B9A8-0CA43891E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738" y="5160985"/>
                <a:ext cx="504055" cy="461665"/>
              </a:xfrm>
              <a:prstGeom prst="rect">
                <a:avLst/>
              </a:prstGeom>
              <a:blipFill>
                <a:blip r:embed="rId18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9F3A238-EE11-4D21-8912-04DB58337C2C}"/>
                  </a:ext>
                </a:extLst>
              </p:cNvPr>
              <p:cNvSpPr txBox="1"/>
              <p:nvPr/>
            </p:nvSpPr>
            <p:spPr>
              <a:xfrm>
                <a:off x="6271835" y="5161990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9F3A238-EE11-4D21-8912-04DB58337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835" y="5161990"/>
                <a:ext cx="504055" cy="461665"/>
              </a:xfrm>
              <a:prstGeom prst="rect">
                <a:avLst/>
              </a:prstGeom>
              <a:blipFill>
                <a:blip r:embed="rId1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6CA527A3-17E5-4363-816F-7613E96560F7}"/>
              </a:ext>
            </a:extLst>
          </p:cNvPr>
          <p:cNvSpPr/>
          <p:nvPr/>
        </p:nvSpPr>
        <p:spPr bwMode="auto">
          <a:xfrm>
            <a:off x="7135765" y="4164655"/>
            <a:ext cx="190227" cy="1121557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DA5D872-A7B4-4B68-831B-B963E4E0254F}"/>
                  </a:ext>
                </a:extLst>
              </p:cNvPr>
              <p:cNvSpPr txBox="1"/>
              <p:nvPr/>
            </p:nvSpPr>
            <p:spPr>
              <a:xfrm>
                <a:off x="5037530" y="1415412"/>
                <a:ext cx="1211614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sz="2400" baseline="-250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DA5D872-A7B4-4B68-831B-B963E4E02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530" y="1415412"/>
                <a:ext cx="1211614" cy="453137"/>
              </a:xfrm>
              <a:prstGeom prst="rect">
                <a:avLst/>
              </a:prstGeom>
              <a:blipFill>
                <a:blip r:embed="rId20"/>
                <a:stretch>
                  <a:fillRect l="-1005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B6AD386-5F6F-47CB-8B89-70DDF39B0914}"/>
                  </a:ext>
                </a:extLst>
              </p:cNvPr>
              <p:cNvSpPr txBox="1"/>
              <p:nvPr/>
            </p:nvSpPr>
            <p:spPr>
              <a:xfrm>
                <a:off x="452808" y="2246862"/>
                <a:ext cx="190706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消去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B6AD386-5F6F-47CB-8B89-70DDF39B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08" y="2246862"/>
                <a:ext cx="1907063" cy="461665"/>
              </a:xfrm>
              <a:prstGeom prst="rect">
                <a:avLst/>
              </a:prstGeom>
              <a:blipFill>
                <a:blip r:embed="rId21"/>
                <a:stretch>
                  <a:fillRect l="-4792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89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36" grpId="0" animBg="1"/>
      <p:bldP spid="55" grpId="0" animBg="1"/>
      <p:bldP spid="56" grpId="0"/>
      <p:bldP spid="5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4222F-A52D-4B72-9874-F12DB8EF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区间消去法分析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EFE1C2-5DB0-4F86-9607-C3BA5C2C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32A24C-1BF6-452A-9149-11EBD01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33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AC9D66D-6ACD-4F25-B7D4-01B1C96F29A3}"/>
              </a:ext>
            </a:extLst>
          </p:cNvPr>
          <p:cNvCxnSpPr>
            <a:cxnSpLocks/>
          </p:cNvCxnSpPr>
          <p:nvPr/>
        </p:nvCxnSpPr>
        <p:spPr bwMode="auto">
          <a:xfrm>
            <a:off x="1050953" y="5306778"/>
            <a:ext cx="356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8257F34-5D0F-403D-8DEB-7DBA29889905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0953" y="3018106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FEFCC8D-60FE-4838-BE9F-E4789308F18C}"/>
                  </a:ext>
                </a:extLst>
              </p:cNvPr>
              <p:cNvSpPr txBox="1"/>
              <p:nvPr/>
            </p:nvSpPr>
            <p:spPr>
              <a:xfrm>
                <a:off x="3959368" y="4820091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FEFCC8D-60FE-4838-BE9F-E478930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368" y="4820091"/>
                <a:ext cx="653913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E41411B-73D7-4EF8-81A7-23C7F0882BE5}"/>
                  </a:ext>
                </a:extLst>
              </p:cNvPr>
              <p:cNvSpPr txBox="1"/>
              <p:nvPr/>
            </p:nvSpPr>
            <p:spPr>
              <a:xfrm>
                <a:off x="346874" y="2975485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E41411B-73D7-4EF8-81A7-23C7F088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74" y="2975485"/>
                <a:ext cx="666007" cy="461665"/>
              </a:xfrm>
              <a:prstGeom prst="rect">
                <a:avLst/>
              </a:prstGeom>
              <a:blipFill>
                <a:blip r:embed="rId3"/>
                <a:stretch>
                  <a:fillRect l="-8257" r="-2568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8D81472C-5792-41F5-AF5D-10A25A0CC110}"/>
              </a:ext>
            </a:extLst>
          </p:cNvPr>
          <p:cNvSpPr txBox="1"/>
          <p:nvPr/>
        </p:nvSpPr>
        <p:spPr>
          <a:xfrm>
            <a:off x="728338" y="5256735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25F1F4-F033-485B-B022-5B4188D3C955}"/>
                  </a:ext>
                </a:extLst>
              </p:cNvPr>
              <p:cNvSpPr txBox="1"/>
              <p:nvPr/>
            </p:nvSpPr>
            <p:spPr>
              <a:xfrm>
                <a:off x="2689826" y="5172930"/>
                <a:ext cx="459135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000" baseline="-25000" dirty="0">
                    <a:solidFill>
                      <a:schemeClr val="tx1"/>
                    </a:solidFill>
                  </a:rPr>
                  <a:t>2</a:t>
                </a:r>
                <a:endParaRPr lang="zh-CN" altLang="en-US" sz="20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25F1F4-F033-485B-B022-5B4188D3C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826" y="5172930"/>
                <a:ext cx="459135" cy="453137"/>
              </a:xfrm>
              <a:prstGeom prst="rect">
                <a:avLst/>
              </a:prstGeom>
              <a:blipFill>
                <a:blip r:embed="rId4"/>
                <a:stretch>
                  <a:fillRect r="-2632" b="-2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11900BE-0E13-47B6-8F9F-56AF2CCCB272}"/>
              </a:ext>
            </a:extLst>
          </p:cNvPr>
          <p:cNvSpPr/>
          <p:nvPr/>
        </p:nvSpPr>
        <p:spPr bwMode="auto">
          <a:xfrm>
            <a:off x="1431109" y="3401146"/>
            <a:ext cx="1830059" cy="1222416"/>
          </a:xfrm>
          <a:custGeom>
            <a:avLst/>
            <a:gdLst>
              <a:gd name="connsiteX0" fmla="*/ 0 w 2156059"/>
              <a:gd name="connsiteY0" fmla="*/ 0 h 1222416"/>
              <a:gd name="connsiteX1" fmla="*/ 847023 w 2156059"/>
              <a:gd name="connsiteY1" fmla="*/ 1222409 h 1222416"/>
              <a:gd name="connsiteX2" fmla="*/ 2156059 w 2156059"/>
              <a:gd name="connsiteY2" fmla="*/ 19251 h 122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59" h="1222416">
                <a:moveTo>
                  <a:pt x="0" y="0"/>
                </a:moveTo>
                <a:cubicBezTo>
                  <a:pt x="243840" y="609600"/>
                  <a:pt x="487680" y="1219201"/>
                  <a:pt x="847023" y="1222409"/>
                </a:cubicBezTo>
                <a:cubicBezTo>
                  <a:pt x="1206366" y="1225617"/>
                  <a:pt x="1936282" y="218173"/>
                  <a:pt x="2156059" y="1925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A7B2FC2-2ABF-4831-8FCC-ABC46F7F3785}"/>
              </a:ext>
            </a:extLst>
          </p:cNvPr>
          <p:cNvCxnSpPr>
            <a:cxnSpLocks/>
          </p:cNvCxnSpPr>
          <p:nvPr/>
        </p:nvCxnSpPr>
        <p:spPr bwMode="auto">
          <a:xfrm>
            <a:off x="2593673" y="4288796"/>
            <a:ext cx="0" cy="101798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E513D82-9C56-4AE2-89C4-42B71032FD2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050954" y="4271427"/>
            <a:ext cx="1542719" cy="295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96AAC93-3B5C-485E-B4BF-90366752CF07}"/>
                  </a:ext>
                </a:extLst>
              </p:cNvPr>
              <p:cNvSpPr txBox="1"/>
              <p:nvPr/>
            </p:nvSpPr>
            <p:spPr>
              <a:xfrm>
                <a:off x="2335965" y="3765911"/>
                <a:ext cx="459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96AAC93-3B5C-485E-B4BF-90366752C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965" y="3765911"/>
                <a:ext cx="459365" cy="461665"/>
              </a:xfrm>
              <a:prstGeom prst="rect">
                <a:avLst/>
              </a:prstGeom>
              <a:blipFill>
                <a:blip r:embed="rId5"/>
                <a:stretch>
                  <a:fillRect l="-10526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A3C4840-F883-4D71-9042-D6A712F8FF71}"/>
                  </a:ext>
                </a:extLst>
              </p:cNvPr>
              <p:cNvSpPr txBox="1"/>
              <p:nvPr/>
            </p:nvSpPr>
            <p:spPr>
              <a:xfrm>
                <a:off x="667301" y="3928756"/>
                <a:ext cx="3873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A3C4840-F883-4D71-9042-D6A712F8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01" y="3928756"/>
                <a:ext cx="387359" cy="461665"/>
              </a:xfrm>
              <a:prstGeom prst="rect">
                <a:avLst/>
              </a:prstGeom>
              <a:blipFill>
                <a:blip r:embed="rId6"/>
                <a:stretch>
                  <a:fillRect l="-12500" r="-12500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EC209DA-2BD1-48DD-9ADA-E3F47DC61348}"/>
              </a:ext>
            </a:extLst>
          </p:cNvPr>
          <p:cNvCxnSpPr>
            <a:cxnSpLocks/>
          </p:cNvCxnSpPr>
          <p:nvPr/>
        </p:nvCxnSpPr>
        <p:spPr bwMode="auto">
          <a:xfrm>
            <a:off x="2832117" y="4023336"/>
            <a:ext cx="0" cy="12834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75AB43E-99FE-4EDE-A22E-29723D7E81C1}"/>
                  </a:ext>
                </a:extLst>
              </p:cNvPr>
              <p:cNvSpPr txBox="1"/>
              <p:nvPr/>
            </p:nvSpPr>
            <p:spPr>
              <a:xfrm>
                <a:off x="1284990" y="5167111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75AB43E-99FE-4EDE-A22E-29723D7E8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990" y="5167111"/>
                <a:ext cx="504055" cy="46166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1465931-FA43-4245-8573-D233F036603F}"/>
              </a:ext>
            </a:extLst>
          </p:cNvPr>
          <p:cNvCxnSpPr>
            <a:cxnSpLocks/>
          </p:cNvCxnSpPr>
          <p:nvPr/>
        </p:nvCxnSpPr>
        <p:spPr bwMode="auto">
          <a:xfrm>
            <a:off x="1543974" y="3730248"/>
            <a:ext cx="0" cy="15515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0693547-7679-4016-9A99-779537890050}"/>
              </a:ext>
            </a:extLst>
          </p:cNvPr>
          <p:cNvCxnSpPr>
            <a:cxnSpLocks/>
          </p:cNvCxnSpPr>
          <p:nvPr/>
        </p:nvCxnSpPr>
        <p:spPr bwMode="auto">
          <a:xfrm>
            <a:off x="1759998" y="4288796"/>
            <a:ext cx="0" cy="101798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D23CFDA-9884-4BBF-A2B1-1FE1FC738D36}"/>
                  </a:ext>
                </a:extLst>
              </p:cNvPr>
              <p:cNvSpPr txBox="1"/>
              <p:nvPr/>
            </p:nvSpPr>
            <p:spPr>
              <a:xfrm>
                <a:off x="2346138" y="5164402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D23CFDA-9884-4BBF-A2B1-1FE1FC73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138" y="5164402"/>
                <a:ext cx="504055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8F0E4FB-D3E5-423A-9FC5-B41F47F99101}"/>
                  </a:ext>
                </a:extLst>
              </p:cNvPr>
              <p:cNvSpPr txBox="1"/>
              <p:nvPr/>
            </p:nvSpPr>
            <p:spPr>
              <a:xfrm>
                <a:off x="1608591" y="5164402"/>
                <a:ext cx="504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8F0E4FB-D3E5-423A-9FC5-B41F47F99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591" y="5164402"/>
                <a:ext cx="504055" cy="461665"/>
              </a:xfrm>
              <a:prstGeom prst="rect">
                <a:avLst/>
              </a:prstGeom>
              <a:blipFill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21C754D-34C5-4B2F-AB0A-72645FE16AA1}"/>
                  </a:ext>
                </a:extLst>
              </p:cNvPr>
              <p:cNvSpPr txBox="1"/>
              <p:nvPr/>
            </p:nvSpPr>
            <p:spPr>
              <a:xfrm>
                <a:off x="445146" y="1415413"/>
                <a:ext cx="1211614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sz="2400" baseline="-25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21C754D-34C5-4B2F-AB0A-72645FE16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46" y="1415413"/>
                <a:ext cx="1211614" cy="453137"/>
              </a:xfrm>
              <a:prstGeom prst="rect">
                <a:avLst/>
              </a:prstGeom>
              <a:blipFill>
                <a:blip r:embed="rId10"/>
                <a:stretch>
                  <a:fillRect l="-1005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7955C1F0-99BC-4DCA-8D7E-099EA4DF892B}"/>
              </a:ext>
            </a:extLst>
          </p:cNvPr>
          <p:cNvSpPr/>
          <p:nvPr/>
        </p:nvSpPr>
        <p:spPr bwMode="auto">
          <a:xfrm>
            <a:off x="1554964" y="4171662"/>
            <a:ext cx="190227" cy="1121557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B6AD386-5F6F-47CB-8B89-70DDF39B0914}"/>
                  </a:ext>
                </a:extLst>
              </p:cNvPr>
              <p:cNvSpPr txBox="1"/>
              <p:nvPr/>
            </p:nvSpPr>
            <p:spPr>
              <a:xfrm>
                <a:off x="452808" y="2246862"/>
                <a:ext cx="28083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同时消去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B6AD386-5F6F-47CB-8B89-70DDF39B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08" y="2246862"/>
                <a:ext cx="2808360" cy="461665"/>
              </a:xfrm>
              <a:prstGeom prst="rect">
                <a:avLst/>
              </a:prstGeom>
              <a:blipFill>
                <a:blip r:embed="rId11"/>
                <a:stretch>
                  <a:fillRect l="-3254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>
            <a:extLst>
              <a:ext uri="{FF2B5EF4-FFF2-40B4-BE49-F238E27FC236}">
                <a16:creationId xmlns:a16="http://schemas.microsoft.com/office/drawing/2014/main" id="{BAADB4FD-5943-429A-AFDB-3D50DB357B9E}"/>
              </a:ext>
            </a:extLst>
          </p:cNvPr>
          <p:cNvSpPr/>
          <p:nvPr/>
        </p:nvSpPr>
        <p:spPr bwMode="auto">
          <a:xfrm>
            <a:off x="2612929" y="4171661"/>
            <a:ext cx="201709" cy="1121557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爆炸形: 14 pt  24">
            <a:extLst>
              <a:ext uri="{FF2B5EF4-FFF2-40B4-BE49-F238E27FC236}">
                <a16:creationId xmlns:a16="http://schemas.microsoft.com/office/drawing/2014/main" id="{3D7616BD-C44E-4B5C-93B4-3E6CF85FD9B5}"/>
              </a:ext>
            </a:extLst>
          </p:cNvPr>
          <p:cNvSpPr/>
          <p:nvPr/>
        </p:nvSpPr>
        <p:spPr bwMode="auto">
          <a:xfrm>
            <a:off x="3797879" y="1905143"/>
            <a:ext cx="5569931" cy="2573340"/>
          </a:xfrm>
          <a:prstGeom prst="irregularSeal2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一维搜索方法方法就是如何选取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x1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，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x2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的过程</a:t>
            </a:r>
          </a:p>
        </p:txBody>
      </p:sp>
    </p:spTree>
    <p:extLst>
      <p:ext uri="{BB962C8B-B14F-4D97-AF65-F5344CB8AC3E}">
        <p14:creationId xmlns:p14="http://schemas.microsoft.com/office/powerpoint/2010/main" val="188939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 animBg="1"/>
      <p:bldP spid="57" grpId="0"/>
      <p:bldP spid="58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58B66-B890-4413-A0B8-0B076063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3. 0.618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5852D-2EA9-4A52-8A7D-097B67A74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altLang="zh-CN" dirty="0"/>
          </a:p>
          <a:p>
            <a:pPr lvl="1"/>
            <a:r>
              <a:rPr lang="zh-CN" altLang="en-US" dirty="0"/>
              <a:t>定义： </a:t>
            </a:r>
            <a:endParaRPr lang="en-US" altLang="zh-CN" dirty="0"/>
          </a:p>
          <a:p>
            <a:pPr lvl="2"/>
            <a:r>
              <a:rPr lang="en-US" altLang="zh-CN" dirty="0"/>
              <a:t>0.618</a:t>
            </a:r>
            <a:r>
              <a:rPr lang="zh-CN" altLang="en-US" dirty="0"/>
              <a:t>法又称</a:t>
            </a:r>
            <a:r>
              <a:rPr lang="zh-CN" altLang="en-US" dirty="0">
                <a:solidFill>
                  <a:srgbClr val="C00000"/>
                </a:solidFill>
              </a:rPr>
              <a:t>黄金分割法</a:t>
            </a:r>
            <a:r>
              <a:rPr lang="zh-CN" altLang="en-US" dirty="0"/>
              <a:t>，是一种</a:t>
            </a:r>
            <a:r>
              <a:rPr lang="zh-CN" altLang="en-US" dirty="0">
                <a:solidFill>
                  <a:srgbClr val="0000FF"/>
                </a:solidFill>
              </a:rPr>
              <a:t>等比例缩短单峰区间</a:t>
            </a:r>
            <a:r>
              <a:rPr lang="zh-CN" altLang="en-US" dirty="0"/>
              <a:t>的搜索方法</a:t>
            </a:r>
            <a:endParaRPr lang="en-US" altLang="zh-CN" dirty="0"/>
          </a:p>
          <a:p>
            <a:pPr lvl="1"/>
            <a:r>
              <a:rPr lang="zh-CN" altLang="en-US" dirty="0"/>
              <a:t>思想：</a:t>
            </a:r>
            <a:endParaRPr lang="en-US" altLang="zh-CN" dirty="0"/>
          </a:p>
          <a:p>
            <a:pPr lvl="2"/>
            <a:r>
              <a:rPr lang="zh-CN" altLang="en-US" dirty="0"/>
              <a:t>在</a:t>
            </a:r>
            <a:r>
              <a:rPr lang="zh-CN" altLang="en-US" dirty="0">
                <a:solidFill>
                  <a:srgbClr val="C00000"/>
                </a:solidFill>
              </a:rPr>
              <a:t>单峰区间内选择对称点</a:t>
            </a:r>
            <a:endParaRPr lang="en-US" altLang="zh-CN" dirty="0">
              <a:solidFill>
                <a:srgbClr val="C00000"/>
              </a:solidFill>
            </a:endParaRPr>
          </a:p>
          <a:p>
            <a:pPr lvl="2"/>
            <a:r>
              <a:rPr lang="zh-CN" altLang="en-US" dirty="0"/>
              <a:t>逐步缩短区间范围</a:t>
            </a:r>
            <a:endParaRPr lang="en-US" altLang="zh-CN" dirty="0"/>
          </a:p>
          <a:p>
            <a:pPr lvl="2"/>
            <a:r>
              <a:rPr lang="zh-CN" altLang="en-US" dirty="0"/>
              <a:t>直到区间大小满足求解精度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2E41A-CE76-4B8A-BD00-27ECA9A7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BB0F78-A545-4089-8D06-2811D4D1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145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58B66-B890-4413-A0B8-0B076063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0.618</a:t>
            </a:r>
            <a:r>
              <a:rPr lang="zh-CN" altLang="en-US" dirty="0"/>
              <a:t>法原理分析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2E41A-CE76-4B8A-BD00-27ECA9A7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BB0F78-A545-4089-8D06-2811D4D1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113AFD-B3E9-4036-BB94-F57EA2DC181B}"/>
                  </a:ext>
                </a:extLst>
              </p:cNvPr>
              <p:cNvSpPr txBox="1"/>
              <p:nvPr/>
            </p:nvSpPr>
            <p:spPr>
              <a:xfrm>
                <a:off x="62276" y="1196752"/>
                <a:ext cx="44578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设函数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，初始化的单峰区间为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，区间长度为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113AFD-B3E9-4036-BB94-F57EA2DC1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6" y="1196752"/>
                <a:ext cx="4457847" cy="830997"/>
              </a:xfrm>
              <a:prstGeom prst="rect">
                <a:avLst/>
              </a:prstGeom>
              <a:blipFill>
                <a:blip r:embed="rId2"/>
                <a:stretch>
                  <a:fillRect l="-2052" t="-5839" r="-1915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975CC91-6299-460D-A8AD-5D1589CCDE57}"/>
              </a:ext>
            </a:extLst>
          </p:cNvPr>
          <p:cNvCxnSpPr>
            <a:cxnSpLocks/>
          </p:cNvCxnSpPr>
          <p:nvPr/>
        </p:nvCxnSpPr>
        <p:spPr bwMode="auto">
          <a:xfrm>
            <a:off x="5276621" y="2027749"/>
            <a:ext cx="4320480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E0141DE-7183-444D-B9A9-57FFF2BB2C33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649A5EB-B3AC-4AAE-9593-1874F1255DBB}"/>
              </a:ext>
            </a:extLst>
          </p:cNvPr>
          <p:cNvCxnSpPr>
            <a:cxnSpLocks/>
          </p:cNvCxnSpPr>
          <p:nvPr/>
        </p:nvCxnSpPr>
        <p:spPr bwMode="auto">
          <a:xfrm>
            <a:off x="959710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5D381B3-4B6E-407B-8E5F-07519904C3FB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409598"/>
            <a:ext cx="432048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/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9EF9E6C-C3F8-44B7-A230-C1185C13997A}"/>
                  </a:ext>
                </a:extLst>
              </p:cNvPr>
              <p:cNvSpPr txBox="1"/>
              <p:nvPr/>
            </p:nvSpPr>
            <p:spPr>
              <a:xfrm>
                <a:off x="58044" y="2132856"/>
                <a:ext cx="43188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内取两个对称点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9EF9E6C-C3F8-44B7-A230-C1185C139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2132856"/>
                <a:ext cx="4318892" cy="1200329"/>
              </a:xfrm>
              <a:prstGeom prst="rect">
                <a:avLst/>
              </a:prstGeom>
              <a:blipFill>
                <a:blip r:embed="rId4"/>
                <a:stretch>
                  <a:fillRect l="-2260" t="-4061" r="-989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/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/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9543E9C-5E1C-4B14-BD14-BBC98561B5D5}"/>
              </a:ext>
            </a:extLst>
          </p:cNvPr>
          <p:cNvSpPr/>
          <p:nvPr/>
        </p:nvSpPr>
        <p:spPr bwMode="auto">
          <a:xfrm>
            <a:off x="4844574" y="1159536"/>
            <a:ext cx="4881495" cy="792089"/>
          </a:xfrm>
          <a:custGeom>
            <a:avLst/>
            <a:gdLst>
              <a:gd name="connsiteX0" fmla="*/ 0 w 2980267"/>
              <a:gd name="connsiteY0" fmla="*/ 0 h 856948"/>
              <a:gd name="connsiteX1" fmla="*/ 1140178 w 2980267"/>
              <a:gd name="connsiteY1" fmla="*/ 598311 h 856948"/>
              <a:gd name="connsiteX2" fmla="*/ 2336800 w 2980267"/>
              <a:gd name="connsiteY2" fmla="*/ 846666 h 856948"/>
              <a:gd name="connsiteX3" fmla="*/ 2980267 w 2980267"/>
              <a:gd name="connsiteY3" fmla="*/ 282222 h 8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0267" h="856948">
                <a:moveTo>
                  <a:pt x="0" y="0"/>
                </a:moveTo>
                <a:cubicBezTo>
                  <a:pt x="375355" y="228600"/>
                  <a:pt x="750711" y="457200"/>
                  <a:pt x="1140178" y="598311"/>
                </a:cubicBezTo>
                <a:cubicBezTo>
                  <a:pt x="1529645" y="739422"/>
                  <a:pt x="2030119" y="899348"/>
                  <a:pt x="2336800" y="846666"/>
                </a:cubicBezTo>
                <a:cubicBezTo>
                  <a:pt x="2643482" y="793985"/>
                  <a:pt x="2811874" y="538103"/>
                  <a:pt x="2980267" y="282222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/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blipFill>
                <a:blip r:embed="rId7"/>
                <a:stretch>
                  <a:fillRect l="-3571" r="-4464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5714C25-B15A-41C9-9D0B-6D8F1903EB28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752151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04A9A15-0594-45FF-BE61-4738A2691943}"/>
              </a:ext>
            </a:extLst>
          </p:cNvPr>
          <p:cNvCxnSpPr>
            <a:cxnSpLocks/>
          </p:cNvCxnSpPr>
          <p:nvPr/>
        </p:nvCxnSpPr>
        <p:spPr bwMode="auto">
          <a:xfrm>
            <a:off x="8049344" y="1661900"/>
            <a:ext cx="0" cy="39894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8D28535-0FB2-429C-A422-DCBECFD9007A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888446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B483738-16DC-4BFD-8A4D-51276FBAD3DA}"/>
              </a:ext>
            </a:extLst>
          </p:cNvPr>
          <p:cNvCxnSpPr>
            <a:cxnSpLocks/>
          </p:cNvCxnSpPr>
          <p:nvPr/>
        </p:nvCxnSpPr>
        <p:spPr bwMode="auto">
          <a:xfrm>
            <a:off x="5321895" y="1661900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/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blipFill>
                <a:blip r:embed="rId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/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/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/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/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blipFill>
                <a:blip r:embed="rId12"/>
                <a:stretch>
                  <a:fillRect l="-625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/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blipFill>
                <a:blip r:embed="rId13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7632CD1-382C-4626-9902-3402F91DA7C6}"/>
              </a:ext>
            </a:extLst>
          </p:cNvPr>
          <p:cNvCxnSpPr>
            <a:cxnSpLocks/>
          </p:cNvCxnSpPr>
          <p:nvPr/>
        </p:nvCxnSpPr>
        <p:spPr bwMode="auto">
          <a:xfrm flipV="1">
            <a:off x="6255060" y="1752152"/>
            <a:ext cx="582800" cy="42688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3AAFF60-9746-4849-BE32-BEDAEBA7C4D6}"/>
              </a:ext>
            </a:extLst>
          </p:cNvPr>
          <p:cNvCxnSpPr>
            <a:cxnSpLocks/>
          </p:cNvCxnSpPr>
          <p:nvPr/>
        </p:nvCxnSpPr>
        <p:spPr bwMode="auto">
          <a:xfrm flipH="1">
            <a:off x="8059487" y="1317264"/>
            <a:ext cx="422740" cy="62141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对话气泡: 矩形 73">
                <a:extLst>
                  <a:ext uri="{FF2B5EF4-FFF2-40B4-BE49-F238E27FC236}">
                    <a16:creationId xmlns:a16="http://schemas.microsoft.com/office/drawing/2014/main" id="{5194AA80-EC6C-46DF-967F-C3069667521B}"/>
                  </a:ext>
                </a:extLst>
              </p:cNvPr>
              <p:cNvSpPr/>
              <p:nvPr/>
            </p:nvSpPr>
            <p:spPr bwMode="auto">
              <a:xfrm>
                <a:off x="3944889" y="3861048"/>
                <a:ext cx="3384376" cy="1624807"/>
              </a:xfrm>
              <a:prstGeom prst="wedgeRectCallout">
                <a:avLst>
                  <a:gd name="adj1" fmla="val -69166"/>
                  <a:gd name="adj2" fmla="val -112585"/>
                </a:avLst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altLang="zh-CN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400" b="1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lang="en-US" altLang="zh-CN" sz="24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400" b="1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lang="en-US" altLang="zh-CN" sz="2400" b="1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4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sz="24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b="1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400" b="1" dirty="0">
                    <a:solidFill>
                      <a:srgbClr val="C00000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4" name="对话气泡: 矩形 73">
                <a:extLst>
                  <a:ext uri="{FF2B5EF4-FFF2-40B4-BE49-F238E27FC236}">
                    <a16:creationId xmlns:a16="http://schemas.microsoft.com/office/drawing/2014/main" id="{5194AA80-EC6C-46DF-967F-C306966752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4889" y="3861048"/>
                <a:ext cx="3384376" cy="1624807"/>
              </a:xfrm>
              <a:prstGeom prst="wedgeRectCallout">
                <a:avLst>
                  <a:gd name="adj1" fmla="val -69166"/>
                  <a:gd name="adj2" fmla="val -112585"/>
                </a:avLst>
              </a:prstGeom>
              <a:blipFill>
                <a:blip r:embed="rId14"/>
                <a:stretch>
                  <a:fillRect b="-205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62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1" grpId="0"/>
      <p:bldP spid="23" grpId="0"/>
      <p:bldP spid="24" grpId="0"/>
      <p:bldP spid="26" grpId="0" animBg="1"/>
      <p:bldP spid="28" grpId="0"/>
      <p:bldP spid="57" grpId="0"/>
      <p:bldP spid="58" grpId="0"/>
      <p:bldP spid="61" grpId="0"/>
      <p:bldP spid="62" grpId="0"/>
      <p:bldP spid="64" grpId="0"/>
      <p:bldP spid="65" grpId="0"/>
      <p:bldP spid="7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B133854E-7363-481C-A423-1E5EA189C103}"/>
              </a:ext>
            </a:extLst>
          </p:cNvPr>
          <p:cNvSpPr/>
          <p:nvPr/>
        </p:nvSpPr>
        <p:spPr bwMode="auto">
          <a:xfrm>
            <a:off x="5299275" y="1793499"/>
            <a:ext cx="1544244" cy="20115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E058B66-B890-4413-A0B8-0B076063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0.618</a:t>
            </a:r>
            <a:r>
              <a:rPr lang="zh-CN" altLang="en-US" dirty="0"/>
              <a:t>法原理分析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2E41A-CE76-4B8A-BD00-27ECA9A7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BB0F78-A545-4089-8D06-2811D4D1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113AFD-B3E9-4036-BB94-F57EA2DC181B}"/>
                  </a:ext>
                </a:extLst>
              </p:cNvPr>
              <p:cNvSpPr txBox="1"/>
              <p:nvPr/>
            </p:nvSpPr>
            <p:spPr>
              <a:xfrm>
                <a:off x="62276" y="1196752"/>
                <a:ext cx="44578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设函数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，初始化的单峰区间为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，区间长度为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113AFD-B3E9-4036-BB94-F57EA2DC1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6" y="1196752"/>
                <a:ext cx="4457847" cy="830997"/>
              </a:xfrm>
              <a:prstGeom prst="rect">
                <a:avLst/>
              </a:prstGeom>
              <a:blipFill>
                <a:blip r:embed="rId2"/>
                <a:stretch>
                  <a:fillRect l="-2052" t="-5839" r="-1915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975CC91-6299-460D-A8AD-5D1589CCDE57}"/>
              </a:ext>
            </a:extLst>
          </p:cNvPr>
          <p:cNvCxnSpPr>
            <a:cxnSpLocks/>
          </p:cNvCxnSpPr>
          <p:nvPr/>
        </p:nvCxnSpPr>
        <p:spPr bwMode="auto">
          <a:xfrm>
            <a:off x="5276621" y="2027749"/>
            <a:ext cx="4320480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E0141DE-7183-444D-B9A9-57FFF2BB2C33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649A5EB-B3AC-4AAE-9593-1874F1255DBB}"/>
              </a:ext>
            </a:extLst>
          </p:cNvPr>
          <p:cNvCxnSpPr>
            <a:cxnSpLocks/>
          </p:cNvCxnSpPr>
          <p:nvPr/>
        </p:nvCxnSpPr>
        <p:spPr bwMode="auto">
          <a:xfrm>
            <a:off x="959710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5D381B3-4B6E-407B-8E5F-07519904C3FB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409598"/>
            <a:ext cx="432048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/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9EF9E6C-C3F8-44B7-A230-C1185C13997A}"/>
                  </a:ext>
                </a:extLst>
              </p:cNvPr>
              <p:cNvSpPr txBox="1"/>
              <p:nvPr/>
            </p:nvSpPr>
            <p:spPr>
              <a:xfrm>
                <a:off x="58044" y="2132856"/>
                <a:ext cx="43188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内取两个对称点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9EF9E6C-C3F8-44B7-A230-C1185C139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2132856"/>
                <a:ext cx="4318892" cy="1200329"/>
              </a:xfrm>
              <a:prstGeom prst="rect">
                <a:avLst/>
              </a:prstGeom>
              <a:blipFill>
                <a:blip r:embed="rId4"/>
                <a:stretch>
                  <a:fillRect l="-2260" t="-4061" r="-989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/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/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9543E9C-5E1C-4B14-BD14-BBC98561B5D5}"/>
              </a:ext>
            </a:extLst>
          </p:cNvPr>
          <p:cNvSpPr/>
          <p:nvPr/>
        </p:nvSpPr>
        <p:spPr bwMode="auto">
          <a:xfrm>
            <a:off x="4844574" y="1159536"/>
            <a:ext cx="4881495" cy="792089"/>
          </a:xfrm>
          <a:custGeom>
            <a:avLst/>
            <a:gdLst>
              <a:gd name="connsiteX0" fmla="*/ 0 w 2980267"/>
              <a:gd name="connsiteY0" fmla="*/ 0 h 856948"/>
              <a:gd name="connsiteX1" fmla="*/ 1140178 w 2980267"/>
              <a:gd name="connsiteY1" fmla="*/ 598311 h 856948"/>
              <a:gd name="connsiteX2" fmla="*/ 2336800 w 2980267"/>
              <a:gd name="connsiteY2" fmla="*/ 846666 h 856948"/>
              <a:gd name="connsiteX3" fmla="*/ 2980267 w 2980267"/>
              <a:gd name="connsiteY3" fmla="*/ 282222 h 8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0267" h="856948">
                <a:moveTo>
                  <a:pt x="0" y="0"/>
                </a:moveTo>
                <a:cubicBezTo>
                  <a:pt x="375355" y="228600"/>
                  <a:pt x="750711" y="457200"/>
                  <a:pt x="1140178" y="598311"/>
                </a:cubicBezTo>
                <a:cubicBezTo>
                  <a:pt x="1529645" y="739422"/>
                  <a:pt x="2030119" y="899348"/>
                  <a:pt x="2336800" y="846666"/>
                </a:cubicBezTo>
                <a:cubicBezTo>
                  <a:pt x="2643482" y="793985"/>
                  <a:pt x="2811874" y="538103"/>
                  <a:pt x="2980267" y="282222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/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blipFill>
                <a:blip r:embed="rId7"/>
                <a:stretch>
                  <a:fillRect l="-3571" r="-4464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5714C25-B15A-41C9-9D0B-6D8F1903EB28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752151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04A9A15-0594-45FF-BE61-4738A2691943}"/>
              </a:ext>
            </a:extLst>
          </p:cNvPr>
          <p:cNvCxnSpPr>
            <a:cxnSpLocks/>
          </p:cNvCxnSpPr>
          <p:nvPr/>
        </p:nvCxnSpPr>
        <p:spPr bwMode="auto">
          <a:xfrm>
            <a:off x="8049344" y="1661900"/>
            <a:ext cx="0" cy="39894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8D28535-0FB2-429C-A422-DCBECFD9007A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888446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B483738-16DC-4BFD-8A4D-51276FBAD3DA}"/>
              </a:ext>
            </a:extLst>
          </p:cNvPr>
          <p:cNvCxnSpPr>
            <a:cxnSpLocks/>
          </p:cNvCxnSpPr>
          <p:nvPr/>
        </p:nvCxnSpPr>
        <p:spPr bwMode="auto">
          <a:xfrm>
            <a:off x="5321895" y="1661900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/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blipFill>
                <a:blip r:embed="rId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/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/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/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/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blipFill>
                <a:blip r:embed="rId12"/>
                <a:stretch>
                  <a:fillRect l="-625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/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blipFill>
                <a:blip r:embed="rId13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7632CD1-382C-4626-9902-3402F91DA7C6}"/>
              </a:ext>
            </a:extLst>
          </p:cNvPr>
          <p:cNvCxnSpPr>
            <a:cxnSpLocks/>
          </p:cNvCxnSpPr>
          <p:nvPr/>
        </p:nvCxnSpPr>
        <p:spPr bwMode="auto">
          <a:xfrm flipV="1">
            <a:off x="6255060" y="1752152"/>
            <a:ext cx="582800" cy="42688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3AAFF60-9746-4849-BE32-BEDAEBA7C4D6}"/>
              </a:ext>
            </a:extLst>
          </p:cNvPr>
          <p:cNvCxnSpPr>
            <a:cxnSpLocks/>
          </p:cNvCxnSpPr>
          <p:nvPr/>
        </p:nvCxnSpPr>
        <p:spPr bwMode="auto">
          <a:xfrm flipH="1">
            <a:off x="8059487" y="1317264"/>
            <a:ext cx="422740" cy="62141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A5F56EC-BB1C-4A59-803A-7A5846F80587}"/>
                  </a:ext>
                </a:extLst>
              </p:cNvPr>
              <p:cNvSpPr txBox="1"/>
              <p:nvPr/>
            </p:nvSpPr>
            <p:spPr>
              <a:xfrm>
                <a:off x="58042" y="3421694"/>
                <a:ext cx="558313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假设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的情况，则取消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区间，令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/>
                  <a:t> 得到新的区间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，长度</a:t>
                </a:r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A5F56EC-BB1C-4A59-803A-7A5846F80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2" y="3421694"/>
                <a:ext cx="5583131" cy="1200329"/>
              </a:xfrm>
              <a:prstGeom prst="rect">
                <a:avLst/>
              </a:prstGeom>
              <a:blipFill>
                <a:blip r:embed="rId14"/>
                <a:stretch>
                  <a:fillRect l="-1749" t="-4061" r="-1639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B4F59D1-DFC6-496F-9ED4-A6FC88540A16}"/>
                  </a:ext>
                </a:extLst>
              </p:cNvPr>
              <p:cNvSpPr txBox="1"/>
              <p:nvPr/>
            </p:nvSpPr>
            <p:spPr>
              <a:xfrm>
                <a:off x="66270" y="4301800"/>
                <a:ext cx="630135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，新点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B4F59D1-DFC6-496F-9ED4-A6FC88540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0" y="4301800"/>
                <a:ext cx="6301354" cy="830997"/>
              </a:xfrm>
              <a:prstGeom prst="rect">
                <a:avLst/>
              </a:prstGeom>
              <a:blipFill>
                <a:blip r:embed="rId15"/>
                <a:stretch>
                  <a:fillRect l="-1547" t="-5882" b="-11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5DD54F0-77C9-4CEB-852D-58ED45F1FE07}"/>
              </a:ext>
            </a:extLst>
          </p:cNvPr>
          <p:cNvCxnSpPr>
            <a:cxnSpLocks/>
          </p:cNvCxnSpPr>
          <p:nvPr/>
        </p:nvCxnSpPr>
        <p:spPr bwMode="auto">
          <a:xfrm flipH="1">
            <a:off x="6846999" y="1994651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5EE8437-03B8-42DA-B861-AD61E973AE18}"/>
              </a:ext>
            </a:extLst>
          </p:cNvPr>
          <p:cNvCxnSpPr>
            <a:cxnSpLocks/>
          </p:cNvCxnSpPr>
          <p:nvPr/>
        </p:nvCxnSpPr>
        <p:spPr bwMode="auto">
          <a:xfrm flipH="1">
            <a:off x="9597101" y="2008037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4FEE117-55CE-470E-8FB2-C20C9F6530DA}"/>
              </a:ext>
            </a:extLst>
          </p:cNvPr>
          <p:cNvCxnSpPr>
            <a:cxnSpLocks/>
          </p:cNvCxnSpPr>
          <p:nvPr/>
        </p:nvCxnSpPr>
        <p:spPr bwMode="auto">
          <a:xfrm>
            <a:off x="6871364" y="2852936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8C45926-B155-4D42-BA4A-55362E8DDFE5}"/>
                  </a:ext>
                </a:extLst>
              </p:cNvPr>
              <p:cNvSpPr txBox="1"/>
              <p:nvPr/>
            </p:nvSpPr>
            <p:spPr>
              <a:xfrm>
                <a:off x="7929673" y="2465312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8C45926-B155-4D42-BA4A-55362E8DD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673" y="2465312"/>
                <a:ext cx="562099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E69D76A-86A9-4F85-AED9-AB3DDAD6F975}"/>
              </a:ext>
            </a:extLst>
          </p:cNvPr>
          <p:cNvCxnSpPr>
            <a:cxnSpLocks/>
          </p:cNvCxnSpPr>
          <p:nvPr/>
        </p:nvCxnSpPr>
        <p:spPr bwMode="auto">
          <a:xfrm>
            <a:off x="6843519" y="3941505"/>
            <a:ext cx="2752700" cy="1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BDD001E-6267-4834-8A32-A6C66F08319D}"/>
                  </a:ext>
                </a:extLst>
              </p:cNvPr>
              <p:cNvSpPr txBox="1"/>
              <p:nvPr/>
            </p:nvSpPr>
            <p:spPr>
              <a:xfrm>
                <a:off x="6546460" y="3625477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BDD001E-6267-4834-8A32-A6C66F083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460" y="3625477"/>
                <a:ext cx="390966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F94EAE-0890-4FB5-8FEE-6EEBC1E28856}"/>
                  </a:ext>
                </a:extLst>
              </p:cNvPr>
              <p:cNvSpPr txBox="1"/>
              <p:nvPr/>
            </p:nvSpPr>
            <p:spPr>
              <a:xfrm>
                <a:off x="9532601" y="3622456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F94EAE-0890-4FB5-8FEE-6EEBC1E28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601" y="3622456"/>
                <a:ext cx="390966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9586635-73EF-440F-B2D0-8C0F45C462AE}"/>
              </a:ext>
            </a:extLst>
          </p:cNvPr>
          <p:cNvSpPr/>
          <p:nvPr/>
        </p:nvSpPr>
        <p:spPr bwMode="auto">
          <a:xfrm>
            <a:off x="4714724" y="3050526"/>
            <a:ext cx="4881495" cy="792089"/>
          </a:xfrm>
          <a:custGeom>
            <a:avLst/>
            <a:gdLst>
              <a:gd name="connsiteX0" fmla="*/ 0 w 2980267"/>
              <a:gd name="connsiteY0" fmla="*/ 0 h 856948"/>
              <a:gd name="connsiteX1" fmla="*/ 1140178 w 2980267"/>
              <a:gd name="connsiteY1" fmla="*/ 598311 h 856948"/>
              <a:gd name="connsiteX2" fmla="*/ 2336800 w 2980267"/>
              <a:gd name="connsiteY2" fmla="*/ 846666 h 856948"/>
              <a:gd name="connsiteX3" fmla="*/ 2980267 w 2980267"/>
              <a:gd name="connsiteY3" fmla="*/ 282222 h 8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0267" h="856948">
                <a:moveTo>
                  <a:pt x="0" y="0"/>
                </a:moveTo>
                <a:cubicBezTo>
                  <a:pt x="375355" y="228600"/>
                  <a:pt x="750711" y="457200"/>
                  <a:pt x="1140178" y="598311"/>
                </a:cubicBezTo>
                <a:cubicBezTo>
                  <a:pt x="1529645" y="739422"/>
                  <a:pt x="2030119" y="899348"/>
                  <a:pt x="2336800" y="846666"/>
                </a:cubicBezTo>
                <a:cubicBezTo>
                  <a:pt x="2643482" y="793985"/>
                  <a:pt x="2811874" y="538103"/>
                  <a:pt x="2980267" y="282222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670F80B-D78B-4D05-BFF7-B92FD4A6CB20}"/>
              </a:ext>
            </a:extLst>
          </p:cNvPr>
          <p:cNvCxnSpPr>
            <a:cxnSpLocks/>
          </p:cNvCxnSpPr>
          <p:nvPr/>
        </p:nvCxnSpPr>
        <p:spPr bwMode="auto">
          <a:xfrm flipH="1">
            <a:off x="8049343" y="2043959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DF5039B-1715-424E-9055-452A858F28BC}"/>
                  </a:ext>
                </a:extLst>
              </p:cNvPr>
              <p:cNvSpPr txBox="1"/>
              <p:nvPr/>
            </p:nvSpPr>
            <p:spPr>
              <a:xfrm>
                <a:off x="7901012" y="3901690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DF5039B-1715-424E-9055-452A858F2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12" y="3901690"/>
                <a:ext cx="418083" cy="400110"/>
              </a:xfrm>
              <a:prstGeom prst="rect">
                <a:avLst/>
              </a:prstGeom>
              <a:blipFill>
                <a:blip r:embed="rId1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1CB95C7-C65F-4AC3-AD95-61639C0233B6}"/>
                  </a:ext>
                </a:extLst>
              </p:cNvPr>
              <p:cNvSpPr txBox="1"/>
              <p:nvPr/>
            </p:nvSpPr>
            <p:spPr>
              <a:xfrm>
                <a:off x="7254099" y="3046460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1CB95C7-C65F-4AC3-AD95-61639C023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099" y="3046460"/>
                <a:ext cx="388144" cy="400110"/>
              </a:xfrm>
              <a:prstGeom prst="rect">
                <a:avLst/>
              </a:prstGeom>
              <a:blipFill>
                <a:blip r:embed="rId20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DD7D918-8904-4626-B853-94D345F58690}"/>
              </a:ext>
            </a:extLst>
          </p:cNvPr>
          <p:cNvCxnSpPr>
            <a:cxnSpLocks/>
          </p:cNvCxnSpPr>
          <p:nvPr/>
        </p:nvCxnSpPr>
        <p:spPr bwMode="auto">
          <a:xfrm>
            <a:off x="7452180" y="3344978"/>
            <a:ext cx="575412" cy="47753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17533D7-1020-4D0C-9FA5-D3DDB95CBA62}"/>
              </a:ext>
            </a:extLst>
          </p:cNvPr>
          <p:cNvCxnSpPr>
            <a:cxnSpLocks/>
          </p:cNvCxnSpPr>
          <p:nvPr/>
        </p:nvCxnSpPr>
        <p:spPr bwMode="auto">
          <a:xfrm flipH="1">
            <a:off x="8474010" y="2016136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7B92FB5-8C84-4672-8DF1-F3680054F01D}"/>
                  </a:ext>
                </a:extLst>
              </p:cNvPr>
              <p:cNvSpPr txBox="1"/>
              <p:nvPr/>
            </p:nvSpPr>
            <p:spPr>
              <a:xfrm>
                <a:off x="8312153" y="391880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7B92FB5-8C84-4672-8DF1-F3680054F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153" y="3918807"/>
                <a:ext cx="418083" cy="400110"/>
              </a:xfrm>
              <a:prstGeom prst="rect">
                <a:avLst/>
              </a:prstGeom>
              <a:blipFill>
                <a:blip r:embed="rId21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A47293E-391F-431D-89F3-A89C5EE7A21A}"/>
                  </a:ext>
                </a:extLst>
              </p:cNvPr>
              <p:cNvSpPr txBox="1"/>
              <p:nvPr/>
            </p:nvSpPr>
            <p:spPr>
              <a:xfrm>
                <a:off x="8536164" y="3028890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A47293E-391F-431D-89F3-A89C5EE7A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164" y="3028890"/>
                <a:ext cx="388144" cy="400110"/>
              </a:xfrm>
              <a:prstGeom prst="rect">
                <a:avLst/>
              </a:prstGeom>
              <a:blipFill>
                <a:blip r:embed="rId22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7738BEF-2C07-4A33-AD15-9246EDF04F30}"/>
              </a:ext>
            </a:extLst>
          </p:cNvPr>
          <p:cNvCxnSpPr>
            <a:cxnSpLocks/>
            <a:endCxn id="47" idx="2"/>
          </p:cNvCxnSpPr>
          <p:nvPr/>
        </p:nvCxnSpPr>
        <p:spPr bwMode="auto">
          <a:xfrm flipH="1">
            <a:off x="8542259" y="3327408"/>
            <a:ext cx="191986" cy="50570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对话气泡: 矩形 52">
            <a:extLst>
              <a:ext uri="{FF2B5EF4-FFF2-40B4-BE49-F238E27FC236}">
                <a16:creationId xmlns:a16="http://schemas.microsoft.com/office/drawing/2014/main" id="{317A23BA-3580-40A6-BA5C-BC448031899B}"/>
              </a:ext>
            </a:extLst>
          </p:cNvPr>
          <p:cNvSpPr/>
          <p:nvPr/>
        </p:nvSpPr>
        <p:spPr bwMode="auto">
          <a:xfrm>
            <a:off x="5844368" y="4957397"/>
            <a:ext cx="3384376" cy="1624807"/>
          </a:xfrm>
          <a:prstGeom prst="wedgeRectCallout">
            <a:avLst>
              <a:gd name="adj1" fmla="val -51340"/>
              <a:gd name="adj2" fmla="val -63851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满足等比例缩减，也就是缩减比例必须为𝜆</a:t>
            </a:r>
            <a:endParaRPr lang="en-US" altLang="zh-CN" sz="2400" b="1" i="1" dirty="0">
              <a:solidFill>
                <a:srgbClr val="C00000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65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32" grpId="0"/>
      <p:bldP spid="41" grpId="0"/>
      <p:bldP spid="44" grpId="0"/>
      <p:bldP spid="45" grpId="0"/>
      <p:bldP spid="47" grpId="0" animBg="1"/>
      <p:bldP spid="49" grpId="0"/>
      <p:bldP spid="50" grpId="0"/>
      <p:bldP spid="56" grpId="0"/>
      <p:bldP spid="59" grpId="0"/>
      <p:bldP spid="5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FAC83921-8922-4D60-9674-F2A6B22264FC}"/>
              </a:ext>
            </a:extLst>
          </p:cNvPr>
          <p:cNvSpPr/>
          <p:nvPr/>
        </p:nvSpPr>
        <p:spPr bwMode="auto">
          <a:xfrm>
            <a:off x="8488100" y="3705882"/>
            <a:ext cx="1117258" cy="22460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33854E-7363-481C-A423-1E5EA189C103}"/>
              </a:ext>
            </a:extLst>
          </p:cNvPr>
          <p:cNvSpPr/>
          <p:nvPr/>
        </p:nvSpPr>
        <p:spPr bwMode="auto">
          <a:xfrm>
            <a:off x="5299275" y="1793499"/>
            <a:ext cx="1544244" cy="20115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E058B66-B890-4413-A0B8-0B076063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0.618</a:t>
            </a:r>
            <a:r>
              <a:rPr lang="zh-CN" altLang="en-US" dirty="0"/>
              <a:t>法原理分析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2E41A-CE76-4B8A-BD00-27ECA9A7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BB0F78-A545-4089-8D06-2811D4D1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113AFD-B3E9-4036-BB94-F57EA2DC181B}"/>
                  </a:ext>
                </a:extLst>
              </p:cNvPr>
              <p:cNvSpPr txBox="1"/>
              <p:nvPr/>
            </p:nvSpPr>
            <p:spPr>
              <a:xfrm>
                <a:off x="62276" y="1196752"/>
                <a:ext cx="44578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设函数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，初始化的单峰区间为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，区间长度为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113AFD-B3E9-4036-BB94-F57EA2DC1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6" y="1196752"/>
                <a:ext cx="4457847" cy="830997"/>
              </a:xfrm>
              <a:prstGeom prst="rect">
                <a:avLst/>
              </a:prstGeom>
              <a:blipFill>
                <a:blip r:embed="rId2"/>
                <a:stretch>
                  <a:fillRect l="-2052" t="-5839" r="-1915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975CC91-6299-460D-A8AD-5D1589CCDE57}"/>
              </a:ext>
            </a:extLst>
          </p:cNvPr>
          <p:cNvCxnSpPr>
            <a:cxnSpLocks/>
          </p:cNvCxnSpPr>
          <p:nvPr/>
        </p:nvCxnSpPr>
        <p:spPr bwMode="auto">
          <a:xfrm>
            <a:off x="5276621" y="2027749"/>
            <a:ext cx="4320480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E0141DE-7183-444D-B9A9-57FFF2BB2C33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649A5EB-B3AC-4AAE-9593-1874F1255DBB}"/>
              </a:ext>
            </a:extLst>
          </p:cNvPr>
          <p:cNvCxnSpPr>
            <a:cxnSpLocks/>
          </p:cNvCxnSpPr>
          <p:nvPr/>
        </p:nvCxnSpPr>
        <p:spPr bwMode="auto">
          <a:xfrm>
            <a:off x="959710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5D381B3-4B6E-407B-8E5F-07519904C3FB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409598"/>
            <a:ext cx="432048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/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9EF9E6C-C3F8-44B7-A230-C1185C13997A}"/>
                  </a:ext>
                </a:extLst>
              </p:cNvPr>
              <p:cNvSpPr txBox="1"/>
              <p:nvPr/>
            </p:nvSpPr>
            <p:spPr>
              <a:xfrm>
                <a:off x="58044" y="2132856"/>
                <a:ext cx="43188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内取两个对称点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9EF9E6C-C3F8-44B7-A230-C1185C139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2132856"/>
                <a:ext cx="4318892" cy="1200329"/>
              </a:xfrm>
              <a:prstGeom prst="rect">
                <a:avLst/>
              </a:prstGeom>
              <a:blipFill>
                <a:blip r:embed="rId4"/>
                <a:stretch>
                  <a:fillRect l="-2260" t="-4061" r="-989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/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/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9543E9C-5E1C-4B14-BD14-BBC98561B5D5}"/>
              </a:ext>
            </a:extLst>
          </p:cNvPr>
          <p:cNvSpPr/>
          <p:nvPr/>
        </p:nvSpPr>
        <p:spPr bwMode="auto">
          <a:xfrm>
            <a:off x="4844574" y="1159536"/>
            <a:ext cx="4881495" cy="792089"/>
          </a:xfrm>
          <a:custGeom>
            <a:avLst/>
            <a:gdLst>
              <a:gd name="connsiteX0" fmla="*/ 0 w 2980267"/>
              <a:gd name="connsiteY0" fmla="*/ 0 h 856948"/>
              <a:gd name="connsiteX1" fmla="*/ 1140178 w 2980267"/>
              <a:gd name="connsiteY1" fmla="*/ 598311 h 856948"/>
              <a:gd name="connsiteX2" fmla="*/ 2336800 w 2980267"/>
              <a:gd name="connsiteY2" fmla="*/ 846666 h 856948"/>
              <a:gd name="connsiteX3" fmla="*/ 2980267 w 2980267"/>
              <a:gd name="connsiteY3" fmla="*/ 282222 h 8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0267" h="856948">
                <a:moveTo>
                  <a:pt x="0" y="0"/>
                </a:moveTo>
                <a:cubicBezTo>
                  <a:pt x="375355" y="228600"/>
                  <a:pt x="750711" y="457200"/>
                  <a:pt x="1140178" y="598311"/>
                </a:cubicBezTo>
                <a:cubicBezTo>
                  <a:pt x="1529645" y="739422"/>
                  <a:pt x="2030119" y="899348"/>
                  <a:pt x="2336800" y="846666"/>
                </a:cubicBezTo>
                <a:cubicBezTo>
                  <a:pt x="2643482" y="793985"/>
                  <a:pt x="2811874" y="538103"/>
                  <a:pt x="2980267" y="282222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/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blipFill>
                <a:blip r:embed="rId7"/>
                <a:stretch>
                  <a:fillRect l="-3571" r="-4464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5714C25-B15A-41C9-9D0B-6D8F1903EB28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752151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04A9A15-0594-45FF-BE61-4738A2691943}"/>
              </a:ext>
            </a:extLst>
          </p:cNvPr>
          <p:cNvCxnSpPr>
            <a:cxnSpLocks/>
          </p:cNvCxnSpPr>
          <p:nvPr/>
        </p:nvCxnSpPr>
        <p:spPr bwMode="auto">
          <a:xfrm>
            <a:off x="8049344" y="1661900"/>
            <a:ext cx="0" cy="39894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8D28535-0FB2-429C-A422-DCBECFD9007A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888446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B483738-16DC-4BFD-8A4D-51276FBAD3DA}"/>
              </a:ext>
            </a:extLst>
          </p:cNvPr>
          <p:cNvCxnSpPr>
            <a:cxnSpLocks/>
          </p:cNvCxnSpPr>
          <p:nvPr/>
        </p:nvCxnSpPr>
        <p:spPr bwMode="auto">
          <a:xfrm>
            <a:off x="5321895" y="1661900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/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blipFill>
                <a:blip r:embed="rId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/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/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/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/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blipFill>
                <a:blip r:embed="rId12"/>
                <a:stretch>
                  <a:fillRect l="-625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/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blipFill>
                <a:blip r:embed="rId13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7632CD1-382C-4626-9902-3402F91DA7C6}"/>
              </a:ext>
            </a:extLst>
          </p:cNvPr>
          <p:cNvCxnSpPr>
            <a:cxnSpLocks/>
          </p:cNvCxnSpPr>
          <p:nvPr/>
        </p:nvCxnSpPr>
        <p:spPr bwMode="auto">
          <a:xfrm flipV="1">
            <a:off x="6255060" y="1752152"/>
            <a:ext cx="582800" cy="42688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3AAFF60-9746-4849-BE32-BEDAEBA7C4D6}"/>
              </a:ext>
            </a:extLst>
          </p:cNvPr>
          <p:cNvCxnSpPr>
            <a:cxnSpLocks/>
          </p:cNvCxnSpPr>
          <p:nvPr/>
        </p:nvCxnSpPr>
        <p:spPr bwMode="auto">
          <a:xfrm flipH="1">
            <a:off x="8059487" y="1317264"/>
            <a:ext cx="422740" cy="62141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A5F56EC-BB1C-4A59-803A-7A5846F80587}"/>
                  </a:ext>
                </a:extLst>
              </p:cNvPr>
              <p:cNvSpPr txBox="1"/>
              <p:nvPr/>
            </p:nvSpPr>
            <p:spPr>
              <a:xfrm>
                <a:off x="58042" y="3421694"/>
                <a:ext cx="562644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假设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的情况，则取消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区间，令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/>
                  <a:t> 得到新的区间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，长度</a:t>
                </a:r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A5F56EC-BB1C-4A59-803A-7A5846F80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2" y="3421694"/>
                <a:ext cx="5626443" cy="830997"/>
              </a:xfrm>
              <a:prstGeom prst="rect">
                <a:avLst/>
              </a:prstGeom>
              <a:blipFill>
                <a:blip r:embed="rId14"/>
                <a:stretch>
                  <a:fillRect l="-1735" t="-5839" r="-868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B4F59D1-DFC6-496F-9ED4-A6FC88540A16}"/>
                  </a:ext>
                </a:extLst>
              </p:cNvPr>
              <p:cNvSpPr txBox="1"/>
              <p:nvPr/>
            </p:nvSpPr>
            <p:spPr>
              <a:xfrm>
                <a:off x="66270" y="4301800"/>
                <a:ext cx="630135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，新点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B4F59D1-DFC6-496F-9ED4-A6FC88540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0" y="4301800"/>
                <a:ext cx="6301354" cy="830997"/>
              </a:xfrm>
              <a:prstGeom prst="rect">
                <a:avLst/>
              </a:prstGeom>
              <a:blipFill>
                <a:blip r:embed="rId15"/>
                <a:stretch>
                  <a:fillRect l="-1547" t="-5882" b="-11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5DD54F0-77C9-4CEB-852D-58ED45F1FE07}"/>
              </a:ext>
            </a:extLst>
          </p:cNvPr>
          <p:cNvCxnSpPr>
            <a:cxnSpLocks/>
          </p:cNvCxnSpPr>
          <p:nvPr/>
        </p:nvCxnSpPr>
        <p:spPr bwMode="auto">
          <a:xfrm flipH="1">
            <a:off x="6846999" y="1994651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5EE8437-03B8-42DA-B861-AD61E973AE18}"/>
              </a:ext>
            </a:extLst>
          </p:cNvPr>
          <p:cNvCxnSpPr>
            <a:cxnSpLocks/>
          </p:cNvCxnSpPr>
          <p:nvPr/>
        </p:nvCxnSpPr>
        <p:spPr bwMode="auto">
          <a:xfrm flipH="1">
            <a:off x="9597101" y="2008037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4FEE117-55CE-470E-8FB2-C20C9F6530DA}"/>
              </a:ext>
            </a:extLst>
          </p:cNvPr>
          <p:cNvCxnSpPr>
            <a:cxnSpLocks/>
          </p:cNvCxnSpPr>
          <p:nvPr/>
        </p:nvCxnSpPr>
        <p:spPr bwMode="auto">
          <a:xfrm>
            <a:off x="6871364" y="2852936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8C45926-B155-4D42-BA4A-55362E8DDFE5}"/>
                  </a:ext>
                </a:extLst>
              </p:cNvPr>
              <p:cNvSpPr txBox="1"/>
              <p:nvPr/>
            </p:nvSpPr>
            <p:spPr>
              <a:xfrm>
                <a:off x="7929673" y="2465312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8C45926-B155-4D42-BA4A-55362E8DD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673" y="2465312"/>
                <a:ext cx="562099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E69D76A-86A9-4F85-AED9-AB3DDAD6F975}"/>
              </a:ext>
            </a:extLst>
          </p:cNvPr>
          <p:cNvCxnSpPr>
            <a:cxnSpLocks/>
          </p:cNvCxnSpPr>
          <p:nvPr/>
        </p:nvCxnSpPr>
        <p:spPr bwMode="auto">
          <a:xfrm>
            <a:off x="6843519" y="3941505"/>
            <a:ext cx="2752700" cy="1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BDD001E-6267-4834-8A32-A6C66F08319D}"/>
                  </a:ext>
                </a:extLst>
              </p:cNvPr>
              <p:cNvSpPr txBox="1"/>
              <p:nvPr/>
            </p:nvSpPr>
            <p:spPr>
              <a:xfrm>
                <a:off x="6546460" y="3625477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BDD001E-6267-4834-8A32-A6C66F083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460" y="3625477"/>
                <a:ext cx="390966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F94EAE-0890-4FB5-8FEE-6EEBC1E28856}"/>
                  </a:ext>
                </a:extLst>
              </p:cNvPr>
              <p:cNvSpPr txBox="1"/>
              <p:nvPr/>
            </p:nvSpPr>
            <p:spPr>
              <a:xfrm>
                <a:off x="9532601" y="3622456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F94EAE-0890-4FB5-8FEE-6EEBC1E28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601" y="3622456"/>
                <a:ext cx="390966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9586635-73EF-440F-B2D0-8C0F45C462AE}"/>
              </a:ext>
            </a:extLst>
          </p:cNvPr>
          <p:cNvSpPr/>
          <p:nvPr/>
        </p:nvSpPr>
        <p:spPr bwMode="auto">
          <a:xfrm>
            <a:off x="4714724" y="3050526"/>
            <a:ext cx="4881495" cy="792089"/>
          </a:xfrm>
          <a:custGeom>
            <a:avLst/>
            <a:gdLst>
              <a:gd name="connsiteX0" fmla="*/ 0 w 2980267"/>
              <a:gd name="connsiteY0" fmla="*/ 0 h 856948"/>
              <a:gd name="connsiteX1" fmla="*/ 1140178 w 2980267"/>
              <a:gd name="connsiteY1" fmla="*/ 598311 h 856948"/>
              <a:gd name="connsiteX2" fmla="*/ 2336800 w 2980267"/>
              <a:gd name="connsiteY2" fmla="*/ 846666 h 856948"/>
              <a:gd name="connsiteX3" fmla="*/ 2980267 w 2980267"/>
              <a:gd name="connsiteY3" fmla="*/ 282222 h 8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0267" h="856948">
                <a:moveTo>
                  <a:pt x="0" y="0"/>
                </a:moveTo>
                <a:cubicBezTo>
                  <a:pt x="375355" y="228600"/>
                  <a:pt x="750711" y="457200"/>
                  <a:pt x="1140178" y="598311"/>
                </a:cubicBezTo>
                <a:cubicBezTo>
                  <a:pt x="1529645" y="739422"/>
                  <a:pt x="2030119" y="899348"/>
                  <a:pt x="2336800" y="846666"/>
                </a:cubicBezTo>
                <a:cubicBezTo>
                  <a:pt x="2643482" y="793985"/>
                  <a:pt x="2811874" y="538103"/>
                  <a:pt x="2980267" y="282222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670F80B-D78B-4D05-BFF7-B92FD4A6CB20}"/>
              </a:ext>
            </a:extLst>
          </p:cNvPr>
          <p:cNvCxnSpPr>
            <a:cxnSpLocks/>
          </p:cNvCxnSpPr>
          <p:nvPr/>
        </p:nvCxnSpPr>
        <p:spPr bwMode="auto">
          <a:xfrm flipH="1">
            <a:off x="8049343" y="2043959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DF5039B-1715-424E-9055-452A858F28BC}"/>
                  </a:ext>
                </a:extLst>
              </p:cNvPr>
              <p:cNvSpPr txBox="1"/>
              <p:nvPr/>
            </p:nvSpPr>
            <p:spPr>
              <a:xfrm>
                <a:off x="7901012" y="3901690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DF5039B-1715-424E-9055-452A858F2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12" y="3901690"/>
                <a:ext cx="418083" cy="400110"/>
              </a:xfrm>
              <a:prstGeom prst="rect">
                <a:avLst/>
              </a:prstGeom>
              <a:blipFill>
                <a:blip r:embed="rId1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1CB95C7-C65F-4AC3-AD95-61639C0233B6}"/>
                  </a:ext>
                </a:extLst>
              </p:cNvPr>
              <p:cNvSpPr txBox="1"/>
              <p:nvPr/>
            </p:nvSpPr>
            <p:spPr>
              <a:xfrm>
                <a:off x="7254099" y="3046460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1CB95C7-C65F-4AC3-AD95-61639C023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099" y="3046460"/>
                <a:ext cx="388144" cy="400110"/>
              </a:xfrm>
              <a:prstGeom prst="rect">
                <a:avLst/>
              </a:prstGeom>
              <a:blipFill>
                <a:blip r:embed="rId20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DD7D918-8904-4626-B853-94D345F58690}"/>
              </a:ext>
            </a:extLst>
          </p:cNvPr>
          <p:cNvCxnSpPr>
            <a:cxnSpLocks/>
          </p:cNvCxnSpPr>
          <p:nvPr/>
        </p:nvCxnSpPr>
        <p:spPr bwMode="auto">
          <a:xfrm>
            <a:off x="7452180" y="3344978"/>
            <a:ext cx="575412" cy="47753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17533D7-1020-4D0C-9FA5-D3DDB95CBA62}"/>
              </a:ext>
            </a:extLst>
          </p:cNvPr>
          <p:cNvCxnSpPr>
            <a:cxnSpLocks/>
          </p:cNvCxnSpPr>
          <p:nvPr/>
        </p:nvCxnSpPr>
        <p:spPr bwMode="auto">
          <a:xfrm flipH="1">
            <a:off x="8474010" y="2016136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7B92FB5-8C84-4672-8DF1-F3680054F01D}"/>
                  </a:ext>
                </a:extLst>
              </p:cNvPr>
              <p:cNvSpPr txBox="1"/>
              <p:nvPr/>
            </p:nvSpPr>
            <p:spPr>
              <a:xfrm>
                <a:off x="8312153" y="391880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7B92FB5-8C84-4672-8DF1-F3680054F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153" y="3918807"/>
                <a:ext cx="418083" cy="400110"/>
              </a:xfrm>
              <a:prstGeom prst="rect">
                <a:avLst/>
              </a:prstGeom>
              <a:blipFill>
                <a:blip r:embed="rId21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A47293E-391F-431D-89F3-A89C5EE7A21A}"/>
                  </a:ext>
                </a:extLst>
              </p:cNvPr>
              <p:cNvSpPr txBox="1"/>
              <p:nvPr/>
            </p:nvSpPr>
            <p:spPr>
              <a:xfrm>
                <a:off x="8536164" y="3028890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A47293E-391F-431D-89F3-A89C5EE7A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164" y="3028890"/>
                <a:ext cx="388144" cy="400110"/>
              </a:xfrm>
              <a:prstGeom prst="rect">
                <a:avLst/>
              </a:prstGeom>
              <a:blipFill>
                <a:blip r:embed="rId22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7738BEF-2C07-4A33-AD15-9246EDF04F30}"/>
              </a:ext>
            </a:extLst>
          </p:cNvPr>
          <p:cNvCxnSpPr>
            <a:cxnSpLocks/>
            <a:endCxn id="47" idx="2"/>
          </p:cNvCxnSpPr>
          <p:nvPr/>
        </p:nvCxnSpPr>
        <p:spPr bwMode="auto">
          <a:xfrm flipH="1">
            <a:off x="8542259" y="3327408"/>
            <a:ext cx="191986" cy="50570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AF3F2C90-3F6A-4D8F-A861-D95ACE67D044}"/>
                  </a:ext>
                </a:extLst>
              </p:cNvPr>
              <p:cNvSpPr txBox="1"/>
              <p:nvPr/>
            </p:nvSpPr>
            <p:spPr>
              <a:xfrm>
                <a:off x="80428" y="5301205"/>
                <a:ext cx="630135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同理继续缩小，假定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的情况，则得到新的区间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长度</a:t>
                </a:r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AF3F2C90-3F6A-4D8F-A861-D95ACE67D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8" y="5301205"/>
                <a:ext cx="6301354" cy="830997"/>
              </a:xfrm>
              <a:prstGeom prst="rect">
                <a:avLst/>
              </a:prstGeom>
              <a:blipFill>
                <a:blip r:embed="rId23"/>
                <a:stretch>
                  <a:fillRect l="-1451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3ABBCCDC-A962-460D-B448-89407C75C028}"/>
              </a:ext>
            </a:extLst>
          </p:cNvPr>
          <p:cNvCxnSpPr>
            <a:cxnSpLocks/>
          </p:cNvCxnSpPr>
          <p:nvPr/>
        </p:nvCxnSpPr>
        <p:spPr bwMode="auto">
          <a:xfrm>
            <a:off x="6846999" y="5099792"/>
            <a:ext cx="1644367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F418D2E0-B9EA-4932-97ED-6444F781DBB2}"/>
              </a:ext>
            </a:extLst>
          </p:cNvPr>
          <p:cNvCxnSpPr>
            <a:cxnSpLocks/>
          </p:cNvCxnSpPr>
          <p:nvPr/>
        </p:nvCxnSpPr>
        <p:spPr bwMode="auto">
          <a:xfrm>
            <a:off x="8474489" y="3864251"/>
            <a:ext cx="713" cy="12685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26FE74EB-E70B-42C8-AD84-44A509C28175}"/>
              </a:ext>
            </a:extLst>
          </p:cNvPr>
          <p:cNvCxnSpPr>
            <a:cxnSpLocks/>
          </p:cNvCxnSpPr>
          <p:nvPr/>
        </p:nvCxnSpPr>
        <p:spPr bwMode="auto">
          <a:xfrm>
            <a:off x="6849060" y="3855911"/>
            <a:ext cx="713" cy="12685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1ABED1C-4D73-443C-BF85-89F1A612B53B}"/>
              </a:ext>
            </a:extLst>
          </p:cNvPr>
          <p:cNvCxnSpPr>
            <a:cxnSpLocks/>
          </p:cNvCxnSpPr>
          <p:nvPr/>
        </p:nvCxnSpPr>
        <p:spPr bwMode="auto">
          <a:xfrm>
            <a:off x="6846999" y="4649550"/>
            <a:ext cx="161786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CB8AED7-B99E-48BA-B7AF-87B48B0A3EE3}"/>
                  </a:ext>
                </a:extLst>
              </p:cNvPr>
              <p:cNvSpPr txBox="1"/>
              <p:nvPr/>
            </p:nvSpPr>
            <p:spPr>
              <a:xfrm>
                <a:off x="7136139" y="4252691"/>
                <a:ext cx="117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CB8AED7-B99E-48BA-B7AF-87B48B0A3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139" y="4252691"/>
                <a:ext cx="1174971" cy="400110"/>
              </a:xfrm>
              <a:prstGeom prst="rect">
                <a:avLst/>
              </a:prstGeom>
              <a:blipFill>
                <a:blip r:embed="rId2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56E685FE-C353-4EA7-8F4C-CC8BDFE2E857}"/>
              </a:ext>
            </a:extLst>
          </p:cNvPr>
          <p:cNvSpPr txBox="1"/>
          <p:nvPr/>
        </p:nvSpPr>
        <p:spPr>
          <a:xfrm>
            <a:off x="7377587" y="4495393"/>
            <a:ext cx="5293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1475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53" grpId="0"/>
      <p:bldP spid="70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FAC83921-8922-4D60-9674-F2A6B22264FC}"/>
              </a:ext>
            </a:extLst>
          </p:cNvPr>
          <p:cNvSpPr/>
          <p:nvPr/>
        </p:nvSpPr>
        <p:spPr bwMode="auto">
          <a:xfrm>
            <a:off x="8488100" y="3705882"/>
            <a:ext cx="1117258" cy="22460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33854E-7363-481C-A423-1E5EA189C103}"/>
              </a:ext>
            </a:extLst>
          </p:cNvPr>
          <p:cNvSpPr/>
          <p:nvPr/>
        </p:nvSpPr>
        <p:spPr bwMode="auto">
          <a:xfrm>
            <a:off x="5299275" y="1793499"/>
            <a:ext cx="1544244" cy="20115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E058B66-B890-4413-A0B8-0B076063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0.618</a:t>
            </a:r>
            <a:r>
              <a:rPr lang="zh-CN" altLang="en-US" dirty="0"/>
              <a:t>法原理分析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2E41A-CE76-4B8A-BD00-27ECA9A7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BB0F78-A545-4089-8D06-2811D4D1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38</a:t>
            </a:fld>
            <a:endParaRPr lang="en-US" altLang="zh-CN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975CC91-6299-460D-A8AD-5D1589CCDE57}"/>
              </a:ext>
            </a:extLst>
          </p:cNvPr>
          <p:cNvCxnSpPr>
            <a:cxnSpLocks/>
          </p:cNvCxnSpPr>
          <p:nvPr/>
        </p:nvCxnSpPr>
        <p:spPr bwMode="auto">
          <a:xfrm>
            <a:off x="5276621" y="2027749"/>
            <a:ext cx="4320480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E0141DE-7183-444D-B9A9-57FFF2BB2C33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649A5EB-B3AC-4AAE-9593-1874F1255DBB}"/>
              </a:ext>
            </a:extLst>
          </p:cNvPr>
          <p:cNvCxnSpPr>
            <a:cxnSpLocks/>
          </p:cNvCxnSpPr>
          <p:nvPr/>
        </p:nvCxnSpPr>
        <p:spPr bwMode="auto">
          <a:xfrm>
            <a:off x="959710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5D381B3-4B6E-407B-8E5F-07519904C3FB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409598"/>
            <a:ext cx="432048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/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/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/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9543E9C-5E1C-4B14-BD14-BBC98561B5D5}"/>
              </a:ext>
            </a:extLst>
          </p:cNvPr>
          <p:cNvSpPr/>
          <p:nvPr/>
        </p:nvSpPr>
        <p:spPr bwMode="auto">
          <a:xfrm>
            <a:off x="4844574" y="1159536"/>
            <a:ext cx="4881495" cy="792089"/>
          </a:xfrm>
          <a:custGeom>
            <a:avLst/>
            <a:gdLst>
              <a:gd name="connsiteX0" fmla="*/ 0 w 2980267"/>
              <a:gd name="connsiteY0" fmla="*/ 0 h 856948"/>
              <a:gd name="connsiteX1" fmla="*/ 1140178 w 2980267"/>
              <a:gd name="connsiteY1" fmla="*/ 598311 h 856948"/>
              <a:gd name="connsiteX2" fmla="*/ 2336800 w 2980267"/>
              <a:gd name="connsiteY2" fmla="*/ 846666 h 856948"/>
              <a:gd name="connsiteX3" fmla="*/ 2980267 w 2980267"/>
              <a:gd name="connsiteY3" fmla="*/ 282222 h 8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0267" h="856948">
                <a:moveTo>
                  <a:pt x="0" y="0"/>
                </a:moveTo>
                <a:cubicBezTo>
                  <a:pt x="375355" y="228600"/>
                  <a:pt x="750711" y="457200"/>
                  <a:pt x="1140178" y="598311"/>
                </a:cubicBezTo>
                <a:cubicBezTo>
                  <a:pt x="1529645" y="739422"/>
                  <a:pt x="2030119" y="899348"/>
                  <a:pt x="2336800" y="846666"/>
                </a:cubicBezTo>
                <a:cubicBezTo>
                  <a:pt x="2643482" y="793985"/>
                  <a:pt x="2811874" y="538103"/>
                  <a:pt x="2980267" y="282222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/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blipFill>
                <a:blip r:embed="rId6"/>
                <a:stretch>
                  <a:fillRect l="-3571" r="-4464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5714C25-B15A-41C9-9D0B-6D8F1903EB28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752151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04A9A15-0594-45FF-BE61-4738A2691943}"/>
              </a:ext>
            </a:extLst>
          </p:cNvPr>
          <p:cNvCxnSpPr>
            <a:cxnSpLocks/>
          </p:cNvCxnSpPr>
          <p:nvPr/>
        </p:nvCxnSpPr>
        <p:spPr bwMode="auto">
          <a:xfrm>
            <a:off x="8049344" y="1661900"/>
            <a:ext cx="0" cy="39894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8D28535-0FB2-429C-A422-DCBECFD9007A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888446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B483738-16DC-4BFD-8A4D-51276FBAD3DA}"/>
              </a:ext>
            </a:extLst>
          </p:cNvPr>
          <p:cNvCxnSpPr>
            <a:cxnSpLocks/>
          </p:cNvCxnSpPr>
          <p:nvPr/>
        </p:nvCxnSpPr>
        <p:spPr bwMode="auto">
          <a:xfrm>
            <a:off x="5321895" y="1661900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/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/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/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/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/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blipFill>
                <a:blip r:embed="rId11"/>
                <a:stretch>
                  <a:fillRect l="-625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/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blipFill>
                <a:blip r:embed="rId12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7632CD1-382C-4626-9902-3402F91DA7C6}"/>
              </a:ext>
            </a:extLst>
          </p:cNvPr>
          <p:cNvCxnSpPr>
            <a:cxnSpLocks/>
          </p:cNvCxnSpPr>
          <p:nvPr/>
        </p:nvCxnSpPr>
        <p:spPr bwMode="auto">
          <a:xfrm flipV="1">
            <a:off x="6255060" y="1752152"/>
            <a:ext cx="582800" cy="42688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3AAFF60-9746-4849-BE32-BEDAEBA7C4D6}"/>
              </a:ext>
            </a:extLst>
          </p:cNvPr>
          <p:cNvCxnSpPr>
            <a:cxnSpLocks/>
          </p:cNvCxnSpPr>
          <p:nvPr/>
        </p:nvCxnSpPr>
        <p:spPr bwMode="auto">
          <a:xfrm flipH="1">
            <a:off x="8059487" y="1317264"/>
            <a:ext cx="422740" cy="62141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5DD54F0-77C9-4CEB-852D-58ED45F1FE07}"/>
              </a:ext>
            </a:extLst>
          </p:cNvPr>
          <p:cNvCxnSpPr>
            <a:cxnSpLocks/>
          </p:cNvCxnSpPr>
          <p:nvPr/>
        </p:nvCxnSpPr>
        <p:spPr bwMode="auto">
          <a:xfrm flipH="1">
            <a:off x="6846999" y="1994651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5EE8437-03B8-42DA-B861-AD61E973AE18}"/>
              </a:ext>
            </a:extLst>
          </p:cNvPr>
          <p:cNvCxnSpPr>
            <a:cxnSpLocks/>
          </p:cNvCxnSpPr>
          <p:nvPr/>
        </p:nvCxnSpPr>
        <p:spPr bwMode="auto">
          <a:xfrm flipH="1">
            <a:off x="9597101" y="2008037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4FEE117-55CE-470E-8FB2-C20C9F6530DA}"/>
              </a:ext>
            </a:extLst>
          </p:cNvPr>
          <p:cNvCxnSpPr>
            <a:cxnSpLocks/>
          </p:cNvCxnSpPr>
          <p:nvPr/>
        </p:nvCxnSpPr>
        <p:spPr bwMode="auto">
          <a:xfrm>
            <a:off x="6871364" y="2852936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8C45926-B155-4D42-BA4A-55362E8DDFE5}"/>
                  </a:ext>
                </a:extLst>
              </p:cNvPr>
              <p:cNvSpPr txBox="1"/>
              <p:nvPr/>
            </p:nvSpPr>
            <p:spPr>
              <a:xfrm>
                <a:off x="7929673" y="2465312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8C45926-B155-4D42-BA4A-55362E8DD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673" y="2465312"/>
                <a:ext cx="56209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E69D76A-86A9-4F85-AED9-AB3DDAD6F975}"/>
              </a:ext>
            </a:extLst>
          </p:cNvPr>
          <p:cNvCxnSpPr>
            <a:cxnSpLocks/>
          </p:cNvCxnSpPr>
          <p:nvPr/>
        </p:nvCxnSpPr>
        <p:spPr bwMode="auto">
          <a:xfrm>
            <a:off x="6843519" y="3941505"/>
            <a:ext cx="2752700" cy="1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BDD001E-6267-4834-8A32-A6C66F08319D}"/>
                  </a:ext>
                </a:extLst>
              </p:cNvPr>
              <p:cNvSpPr txBox="1"/>
              <p:nvPr/>
            </p:nvSpPr>
            <p:spPr>
              <a:xfrm>
                <a:off x="6546460" y="3625477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BDD001E-6267-4834-8A32-A6C66F083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460" y="3625477"/>
                <a:ext cx="39096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F94EAE-0890-4FB5-8FEE-6EEBC1E28856}"/>
                  </a:ext>
                </a:extLst>
              </p:cNvPr>
              <p:cNvSpPr txBox="1"/>
              <p:nvPr/>
            </p:nvSpPr>
            <p:spPr>
              <a:xfrm>
                <a:off x="9532601" y="3622456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F94EAE-0890-4FB5-8FEE-6EEBC1E28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601" y="3622456"/>
                <a:ext cx="390966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9586635-73EF-440F-B2D0-8C0F45C462AE}"/>
              </a:ext>
            </a:extLst>
          </p:cNvPr>
          <p:cNvSpPr/>
          <p:nvPr/>
        </p:nvSpPr>
        <p:spPr bwMode="auto">
          <a:xfrm>
            <a:off x="4714724" y="3050526"/>
            <a:ext cx="4881495" cy="792089"/>
          </a:xfrm>
          <a:custGeom>
            <a:avLst/>
            <a:gdLst>
              <a:gd name="connsiteX0" fmla="*/ 0 w 2980267"/>
              <a:gd name="connsiteY0" fmla="*/ 0 h 856948"/>
              <a:gd name="connsiteX1" fmla="*/ 1140178 w 2980267"/>
              <a:gd name="connsiteY1" fmla="*/ 598311 h 856948"/>
              <a:gd name="connsiteX2" fmla="*/ 2336800 w 2980267"/>
              <a:gd name="connsiteY2" fmla="*/ 846666 h 856948"/>
              <a:gd name="connsiteX3" fmla="*/ 2980267 w 2980267"/>
              <a:gd name="connsiteY3" fmla="*/ 282222 h 8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0267" h="856948">
                <a:moveTo>
                  <a:pt x="0" y="0"/>
                </a:moveTo>
                <a:cubicBezTo>
                  <a:pt x="375355" y="228600"/>
                  <a:pt x="750711" y="457200"/>
                  <a:pt x="1140178" y="598311"/>
                </a:cubicBezTo>
                <a:cubicBezTo>
                  <a:pt x="1529645" y="739422"/>
                  <a:pt x="2030119" y="899348"/>
                  <a:pt x="2336800" y="846666"/>
                </a:cubicBezTo>
                <a:cubicBezTo>
                  <a:pt x="2643482" y="793985"/>
                  <a:pt x="2811874" y="538103"/>
                  <a:pt x="2980267" y="282222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670F80B-D78B-4D05-BFF7-B92FD4A6CB20}"/>
              </a:ext>
            </a:extLst>
          </p:cNvPr>
          <p:cNvCxnSpPr>
            <a:cxnSpLocks/>
          </p:cNvCxnSpPr>
          <p:nvPr/>
        </p:nvCxnSpPr>
        <p:spPr bwMode="auto">
          <a:xfrm flipH="1">
            <a:off x="8049343" y="2043959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DF5039B-1715-424E-9055-452A858F28BC}"/>
                  </a:ext>
                </a:extLst>
              </p:cNvPr>
              <p:cNvSpPr txBox="1"/>
              <p:nvPr/>
            </p:nvSpPr>
            <p:spPr>
              <a:xfrm>
                <a:off x="7901012" y="3901690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DF5039B-1715-424E-9055-452A858F2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12" y="3901690"/>
                <a:ext cx="418083" cy="400110"/>
              </a:xfrm>
              <a:prstGeom prst="rect">
                <a:avLst/>
              </a:prstGeom>
              <a:blipFill>
                <a:blip r:embed="rId1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1CB95C7-C65F-4AC3-AD95-61639C0233B6}"/>
                  </a:ext>
                </a:extLst>
              </p:cNvPr>
              <p:cNvSpPr txBox="1"/>
              <p:nvPr/>
            </p:nvSpPr>
            <p:spPr>
              <a:xfrm>
                <a:off x="7254099" y="3046460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1CB95C7-C65F-4AC3-AD95-61639C023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099" y="3046460"/>
                <a:ext cx="388144" cy="400110"/>
              </a:xfrm>
              <a:prstGeom prst="rect">
                <a:avLst/>
              </a:prstGeom>
              <a:blipFill>
                <a:blip r:embed="rId17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DD7D918-8904-4626-B853-94D345F58690}"/>
              </a:ext>
            </a:extLst>
          </p:cNvPr>
          <p:cNvCxnSpPr>
            <a:cxnSpLocks/>
          </p:cNvCxnSpPr>
          <p:nvPr/>
        </p:nvCxnSpPr>
        <p:spPr bwMode="auto">
          <a:xfrm>
            <a:off x="7452180" y="3344978"/>
            <a:ext cx="575412" cy="47753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17533D7-1020-4D0C-9FA5-D3DDB95CBA62}"/>
              </a:ext>
            </a:extLst>
          </p:cNvPr>
          <p:cNvCxnSpPr>
            <a:cxnSpLocks/>
          </p:cNvCxnSpPr>
          <p:nvPr/>
        </p:nvCxnSpPr>
        <p:spPr bwMode="auto">
          <a:xfrm flipH="1">
            <a:off x="8474010" y="2016136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7B92FB5-8C84-4672-8DF1-F3680054F01D}"/>
                  </a:ext>
                </a:extLst>
              </p:cNvPr>
              <p:cNvSpPr txBox="1"/>
              <p:nvPr/>
            </p:nvSpPr>
            <p:spPr>
              <a:xfrm>
                <a:off x="8312153" y="391880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7B92FB5-8C84-4672-8DF1-F3680054F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153" y="3918807"/>
                <a:ext cx="418083" cy="400110"/>
              </a:xfrm>
              <a:prstGeom prst="rect">
                <a:avLst/>
              </a:prstGeom>
              <a:blipFill>
                <a:blip r:embed="rId1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A47293E-391F-431D-89F3-A89C5EE7A21A}"/>
                  </a:ext>
                </a:extLst>
              </p:cNvPr>
              <p:cNvSpPr txBox="1"/>
              <p:nvPr/>
            </p:nvSpPr>
            <p:spPr>
              <a:xfrm>
                <a:off x="8536164" y="3028890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A47293E-391F-431D-89F3-A89C5EE7A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164" y="3028890"/>
                <a:ext cx="388144" cy="400110"/>
              </a:xfrm>
              <a:prstGeom prst="rect">
                <a:avLst/>
              </a:prstGeom>
              <a:blipFill>
                <a:blip r:embed="rId19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7738BEF-2C07-4A33-AD15-9246EDF04F30}"/>
              </a:ext>
            </a:extLst>
          </p:cNvPr>
          <p:cNvCxnSpPr>
            <a:cxnSpLocks/>
            <a:endCxn id="47" idx="2"/>
          </p:cNvCxnSpPr>
          <p:nvPr/>
        </p:nvCxnSpPr>
        <p:spPr bwMode="auto">
          <a:xfrm flipH="1">
            <a:off x="8542259" y="3327408"/>
            <a:ext cx="191986" cy="50570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3ABBCCDC-A962-460D-B448-89407C75C028}"/>
              </a:ext>
            </a:extLst>
          </p:cNvPr>
          <p:cNvCxnSpPr>
            <a:cxnSpLocks/>
          </p:cNvCxnSpPr>
          <p:nvPr/>
        </p:nvCxnSpPr>
        <p:spPr bwMode="auto">
          <a:xfrm>
            <a:off x="6846999" y="5099792"/>
            <a:ext cx="1644367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F418D2E0-B9EA-4932-97ED-6444F781DBB2}"/>
              </a:ext>
            </a:extLst>
          </p:cNvPr>
          <p:cNvCxnSpPr>
            <a:cxnSpLocks/>
          </p:cNvCxnSpPr>
          <p:nvPr/>
        </p:nvCxnSpPr>
        <p:spPr bwMode="auto">
          <a:xfrm>
            <a:off x="8474489" y="3864251"/>
            <a:ext cx="713" cy="12685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26FE74EB-E70B-42C8-AD84-44A509C28175}"/>
              </a:ext>
            </a:extLst>
          </p:cNvPr>
          <p:cNvCxnSpPr>
            <a:cxnSpLocks/>
          </p:cNvCxnSpPr>
          <p:nvPr/>
        </p:nvCxnSpPr>
        <p:spPr bwMode="auto">
          <a:xfrm>
            <a:off x="6849060" y="3855911"/>
            <a:ext cx="713" cy="12685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1ABED1C-4D73-443C-BF85-89F1A612B53B}"/>
              </a:ext>
            </a:extLst>
          </p:cNvPr>
          <p:cNvCxnSpPr>
            <a:cxnSpLocks/>
          </p:cNvCxnSpPr>
          <p:nvPr/>
        </p:nvCxnSpPr>
        <p:spPr bwMode="auto">
          <a:xfrm>
            <a:off x="6846999" y="4649550"/>
            <a:ext cx="161786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CB8AED7-B99E-48BA-B7AF-87B48B0A3EE3}"/>
                  </a:ext>
                </a:extLst>
              </p:cNvPr>
              <p:cNvSpPr txBox="1"/>
              <p:nvPr/>
            </p:nvSpPr>
            <p:spPr>
              <a:xfrm>
                <a:off x="7187548" y="4608183"/>
                <a:ext cx="117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CB8AED7-B99E-48BA-B7AF-87B48B0A3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548" y="4608183"/>
                <a:ext cx="1174971" cy="400110"/>
              </a:xfrm>
              <a:prstGeom prst="rect">
                <a:avLst/>
              </a:prstGeom>
              <a:blipFill>
                <a:blip r:embed="rId2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017810C-3BC0-4703-862D-4D3B0F175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646494"/>
              </p:ext>
            </p:extLst>
          </p:nvPr>
        </p:nvGraphicFramePr>
        <p:xfrm>
          <a:off x="119562" y="1870987"/>
          <a:ext cx="176053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95000" imgH="177480" progId="Equation.DSMT4">
                  <p:embed/>
                </p:oleObj>
              </mc:Choice>
              <mc:Fallback>
                <p:oleObj name="Equation" r:id="rId21" imgW="4950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9562" y="1870987"/>
                        <a:ext cx="1760537" cy="631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175B66E2-4039-4E3B-B3AE-754D0C431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498612"/>
              </p:ext>
            </p:extLst>
          </p:nvPr>
        </p:nvGraphicFramePr>
        <p:xfrm>
          <a:off x="504825" y="2444750"/>
          <a:ext cx="266223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49160" imgH="177480" progId="Equation.DSMT4">
                  <p:embed/>
                </p:oleObj>
              </mc:Choice>
              <mc:Fallback>
                <p:oleObj name="Equation" r:id="rId23" imgW="749160" imgH="177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017810C-3BC0-4703-862D-4D3B0F1755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4825" y="2444750"/>
                        <a:ext cx="2662238" cy="631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196DC254-8B3B-4992-AF82-A8E686ABB2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516709"/>
              </p:ext>
            </p:extLst>
          </p:nvPr>
        </p:nvGraphicFramePr>
        <p:xfrm>
          <a:off x="508000" y="3041650"/>
          <a:ext cx="2662238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49160" imgH="520560" progId="Equation.DSMT4">
                  <p:embed/>
                </p:oleObj>
              </mc:Choice>
              <mc:Fallback>
                <p:oleObj name="Equation" r:id="rId25" imgW="749160" imgH="520560" progId="Equation.DSMT4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175B66E2-4039-4E3B-B3AE-754D0C431E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8000" y="3041650"/>
                        <a:ext cx="2662238" cy="1852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11D52F4-4F4E-40A5-A463-76E64B4380D7}"/>
                  </a:ext>
                </a:extLst>
              </p:cNvPr>
              <p:cNvSpPr txBox="1"/>
              <p:nvPr/>
            </p:nvSpPr>
            <p:spPr>
              <a:xfrm>
                <a:off x="209539" y="1317264"/>
                <a:ext cx="36770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/>
                  <a:t>假设新的区间长度为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11D52F4-4F4E-40A5-A463-76E64B438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39" y="1317264"/>
                <a:ext cx="3677032" cy="523220"/>
              </a:xfrm>
              <a:prstGeom prst="rect">
                <a:avLst/>
              </a:prstGeom>
              <a:blipFill>
                <a:blip r:embed="rId27"/>
                <a:stretch>
                  <a:fillRect l="-3311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2A141DA-CF90-4B0D-9F1B-FB678BC837CE}"/>
                  </a:ext>
                </a:extLst>
              </p:cNvPr>
              <p:cNvSpPr txBox="1"/>
              <p:nvPr/>
            </p:nvSpPr>
            <p:spPr>
              <a:xfrm>
                <a:off x="7004084" y="4317004"/>
                <a:ext cx="14143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2A141DA-CF90-4B0D-9F1B-FB678BC83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084" y="4317004"/>
                <a:ext cx="1414300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爆炸形: 14 pt  7">
                <a:extLst>
                  <a:ext uri="{FF2B5EF4-FFF2-40B4-BE49-F238E27FC236}">
                    <a16:creationId xmlns:a16="http://schemas.microsoft.com/office/drawing/2014/main" id="{25E089CE-8FDF-4CB0-98A6-29ACE75743E9}"/>
                  </a:ext>
                </a:extLst>
              </p:cNvPr>
              <p:cNvSpPr/>
              <p:nvPr/>
            </p:nvSpPr>
            <p:spPr bwMode="auto">
              <a:xfrm>
                <a:off x="469845" y="4401232"/>
                <a:ext cx="6164136" cy="2279007"/>
              </a:xfrm>
              <a:prstGeom prst="irregularSeal2">
                <a:avLst/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zh-CN" altLang="en-US" sz="3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的值如何确定</a:t>
                </a:r>
                <a:r>
                  <a:rPr lang="zh-CN" altLang="en-US" sz="240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？每次应该缩短原区间的多少？</a:t>
                </a:r>
                <a:endParaRPr kumimoji="0" lang="zh-CN" altLang="en-US" sz="24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爆炸形: 14 pt  7">
                <a:extLst>
                  <a:ext uri="{FF2B5EF4-FFF2-40B4-BE49-F238E27FC236}">
                    <a16:creationId xmlns:a16="http://schemas.microsoft.com/office/drawing/2014/main" id="{25E089CE-8FDF-4CB0-98A6-29ACE7574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845" y="4401232"/>
                <a:ext cx="6164136" cy="2279007"/>
              </a:xfrm>
              <a:prstGeom prst="irregularSeal2">
                <a:avLst/>
              </a:prstGeom>
              <a:blipFill>
                <a:blip r:embed="rId29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4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6" grpId="0"/>
      <p:bldP spid="75" grpId="0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FAC83921-8922-4D60-9674-F2A6B22264FC}"/>
              </a:ext>
            </a:extLst>
          </p:cNvPr>
          <p:cNvSpPr/>
          <p:nvPr/>
        </p:nvSpPr>
        <p:spPr bwMode="auto">
          <a:xfrm>
            <a:off x="8488100" y="3705882"/>
            <a:ext cx="1117258" cy="22460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33854E-7363-481C-A423-1E5EA189C103}"/>
              </a:ext>
            </a:extLst>
          </p:cNvPr>
          <p:cNvSpPr/>
          <p:nvPr/>
        </p:nvSpPr>
        <p:spPr bwMode="auto">
          <a:xfrm>
            <a:off x="5299275" y="1793499"/>
            <a:ext cx="1544244" cy="20115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E058B66-B890-4413-A0B8-0B076063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0.618</a:t>
            </a:r>
            <a:r>
              <a:rPr lang="zh-CN" altLang="en-US" dirty="0"/>
              <a:t>法原理分析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2E41A-CE76-4B8A-BD00-27ECA9A7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BB0F78-A545-4089-8D06-2811D4D1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39</a:t>
            </a:fld>
            <a:endParaRPr lang="en-US" altLang="zh-CN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975CC91-6299-460D-A8AD-5D1589CCDE57}"/>
              </a:ext>
            </a:extLst>
          </p:cNvPr>
          <p:cNvCxnSpPr>
            <a:cxnSpLocks/>
          </p:cNvCxnSpPr>
          <p:nvPr/>
        </p:nvCxnSpPr>
        <p:spPr bwMode="auto">
          <a:xfrm>
            <a:off x="5276621" y="2027749"/>
            <a:ext cx="4320480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E0141DE-7183-444D-B9A9-57FFF2BB2C33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649A5EB-B3AC-4AAE-9593-1874F1255DBB}"/>
              </a:ext>
            </a:extLst>
          </p:cNvPr>
          <p:cNvCxnSpPr>
            <a:cxnSpLocks/>
          </p:cNvCxnSpPr>
          <p:nvPr/>
        </p:nvCxnSpPr>
        <p:spPr bwMode="auto">
          <a:xfrm>
            <a:off x="9597101" y="1196752"/>
            <a:ext cx="0" cy="8309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5D381B3-4B6E-407B-8E5F-07519904C3FB}"/>
              </a:ext>
            </a:extLst>
          </p:cNvPr>
          <p:cNvCxnSpPr>
            <a:cxnSpLocks/>
          </p:cNvCxnSpPr>
          <p:nvPr/>
        </p:nvCxnSpPr>
        <p:spPr bwMode="auto">
          <a:xfrm>
            <a:off x="5276621" y="1409598"/>
            <a:ext cx="432048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/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36327-DCB2-4502-97BD-0564B34A1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612" y="987149"/>
                <a:ext cx="38249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/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FD9D25-4DA5-4080-B57A-43FAC8FCF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009" y="1778930"/>
                <a:ext cx="39096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/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84684A6-ADED-44F1-8151-3FB9A9F1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586" y="1778929"/>
                <a:ext cx="3909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9543E9C-5E1C-4B14-BD14-BBC98561B5D5}"/>
              </a:ext>
            </a:extLst>
          </p:cNvPr>
          <p:cNvSpPr/>
          <p:nvPr/>
        </p:nvSpPr>
        <p:spPr bwMode="auto">
          <a:xfrm>
            <a:off x="4844574" y="1159536"/>
            <a:ext cx="4881495" cy="792089"/>
          </a:xfrm>
          <a:custGeom>
            <a:avLst/>
            <a:gdLst>
              <a:gd name="connsiteX0" fmla="*/ 0 w 2980267"/>
              <a:gd name="connsiteY0" fmla="*/ 0 h 856948"/>
              <a:gd name="connsiteX1" fmla="*/ 1140178 w 2980267"/>
              <a:gd name="connsiteY1" fmla="*/ 598311 h 856948"/>
              <a:gd name="connsiteX2" fmla="*/ 2336800 w 2980267"/>
              <a:gd name="connsiteY2" fmla="*/ 846666 h 856948"/>
              <a:gd name="connsiteX3" fmla="*/ 2980267 w 2980267"/>
              <a:gd name="connsiteY3" fmla="*/ 282222 h 8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0267" h="856948">
                <a:moveTo>
                  <a:pt x="0" y="0"/>
                </a:moveTo>
                <a:cubicBezTo>
                  <a:pt x="375355" y="228600"/>
                  <a:pt x="750711" y="457200"/>
                  <a:pt x="1140178" y="598311"/>
                </a:cubicBezTo>
                <a:cubicBezTo>
                  <a:pt x="1529645" y="739422"/>
                  <a:pt x="2030119" y="899348"/>
                  <a:pt x="2336800" y="846666"/>
                </a:cubicBezTo>
                <a:cubicBezTo>
                  <a:pt x="2643482" y="793985"/>
                  <a:pt x="2811874" y="538103"/>
                  <a:pt x="2980267" y="282222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/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D2C6A8-724E-4D7D-8971-AA4E5FD12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870" y="1150585"/>
                <a:ext cx="679162" cy="400110"/>
              </a:xfrm>
              <a:prstGeom prst="rect">
                <a:avLst/>
              </a:prstGeom>
              <a:blipFill>
                <a:blip r:embed="rId6"/>
                <a:stretch>
                  <a:fillRect l="-3571" r="-4464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5714C25-B15A-41C9-9D0B-6D8F1903EB28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752151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04A9A15-0594-45FF-BE61-4738A2691943}"/>
              </a:ext>
            </a:extLst>
          </p:cNvPr>
          <p:cNvCxnSpPr>
            <a:cxnSpLocks/>
          </p:cNvCxnSpPr>
          <p:nvPr/>
        </p:nvCxnSpPr>
        <p:spPr bwMode="auto">
          <a:xfrm>
            <a:off x="8049344" y="1661900"/>
            <a:ext cx="0" cy="39894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8D28535-0FB2-429C-A422-DCBECFD9007A}"/>
              </a:ext>
            </a:extLst>
          </p:cNvPr>
          <p:cNvCxnSpPr>
            <a:cxnSpLocks/>
          </p:cNvCxnSpPr>
          <p:nvPr/>
        </p:nvCxnSpPr>
        <p:spPr bwMode="auto">
          <a:xfrm>
            <a:off x="6846999" y="1888446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B483738-16DC-4BFD-8A4D-51276FBAD3DA}"/>
              </a:ext>
            </a:extLst>
          </p:cNvPr>
          <p:cNvCxnSpPr>
            <a:cxnSpLocks/>
          </p:cNvCxnSpPr>
          <p:nvPr/>
        </p:nvCxnSpPr>
        <p:spPr bwMode="auto">
          <a:xfrm>
            <a:off x="5321895" y="1661900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/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C3D50DC-4BDE-495C-B366-8CCEAEFD7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74" y="1893179"/>
                <a:ext cx="418083" cy="400110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/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05B8EB2-6187-4A7D-A72C-AA70CE25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373" y="1885883"/>
                <a:ext cx="418083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/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7D1EAB1-7673-4D56-9386-E56304806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15" y="1317264"/>
                <a:ext cx="56209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/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E97C5E8-F06C-400D-A8A7-771B5C83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508" y="1506509"/>
                <a:ext cx="56209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/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790B6C-96A2-45F7-AD71-1EC47085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641" y="1016995"/>
                <a:ext cx="388144" cy="400110"/>
              </a:xfrm>
              <a:prstGeom prst="rect">
                <a:avLst/>
              </a:prstGeom>
              <a:blipFill>
                <a:blip r:embed="rId11"/>
                <a:stretch>
                  <a:fillRect l="-625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/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C07E558-8C2D-48F9-9B47-D336091B9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480" y="1978984"/>
                <a:ext cx="388144" cy="400110"/>
              </a:xfrm>
              <a:prstGeom prst="rect">
                <a:avLst/>
              </a:prstGeom>
              <a:blipFill>
                <a:blip r:embed="rId12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7632CD1-382C-4626-9902-3402F91DA7C6}"/>
              </a:ext>
            </a:extLst>
          </p:cNvPr>
          <p:cNvCxnSpPr>
            <a:cxnSpLocks/>
          </p:cNvCxnSpPr>
          <p:nvPr/>
        </p:nvCxnSpPr>
        <p:spPr bwMode="auto">
          <a:xfrm flipV="1">
            <a:off x="6255060" y="1752152"/>
            <a:ext cx="582800" cy="42688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3AAFF60-9746-4849-BE32-BEDAEBA7C4D6}"/>
              </a:ext>
            </a:extLst>
          </p:cNvPr>
          <p:cNvCxnSpPr>
            <a:cxnSpLocks/>
          </p:cNvCxnSpPr>
          <p:nvPr/>
        </p:nvCxnSpPr>
        <p:spPr bwMode="auto">
          <a:xfrm flipH="1">
            <a:off x="8059487" y="1317264"/>
            <a:ext cx="422740" cy="62141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5DD54F0-77C9-4CEB-852D-58ED45F1FE07}"/>
              </a:ext>
            </a:extLst>
          </p:cNvPr>
          <p:cNvCxnSpPr>
            <a:cxnSpLocks/>
          </p:cNvCxnSpPr>
          <p:nvPr/>
        </p:nvCxnSpPr>
        <p:spPr bwMode="auto">
          <a:xfrm flipH="1">
            <a:off x="6846999" y="1994651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5EE8437-03B8-42DA-B861-AD61E973AE18}"/>
              </a:ext>
            </a:extLst>
          </p:cNvPr>
          <p:cNvCxnSpPr>
            <a:cxnSpLocks/>
          </p:cNvCxnSpPr>
          <p:nvPr/>
        </p:nvCxnSpPr>
        <p:spPr bwMode="auto">
          <a:xfrm flipH="1">
            <a:off x="9597101" y="2008037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4FEE117-55CE-470E-8FB2-C20C9F6530DA}"/>
              </a:ext>
            </a:extLst>
          </p:cNvPr>
          <p:cNvCxnSpPr>
            <a:cxnSpLocks/>
          </p:cNvCxnSpPr>
          <p:nvPr/>
        </p:nvCxnSpPr>
        <p:spPr bwMode="auto">
          <a:xfrm>
            <a:off x="6871364" y="2852936"/>
            <a:ext cx="27274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8C45926-B155-4D42-BA4A-55362E8DDFE5}"/>
                  </a:ext>
                </a:extLst>
              </p:cNvPr>
              <p:cNvSpPr txBox="1"/>
              <p:nvPr/>
            </p:nvSpPr>
            <p:spPr>
              <a:xfrm>
                <a:off x="7929673" y="2465312"/>
                <a:ext cx="5620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8C45926-B155-4D42-BA4A-55362E8DD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673" y="2465312"/>
                <a:ext cx="56209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E69D76A-86A9-4F85-AED9-AB3DDAD6F975}"/>
              </a:ext>
            </a:extLst>
          </p:cNvPr>
          <p:cNvCxnSpPr>
            <a:cxnSpLocks/>
          </p:cNvCxnSpPr>
          <p:nvPr/>
        </p:nvCxnSpPr>
        <p:spPr bwMode="auto">
          <a:xfrm>
            <a:off x="6843519" y="3941505"/>
            <a:ext cx="2752700" cy="1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BDD001E-6267-4834-8A32-A6C66F08319D}"/>
                  </a:ext>
                </a:extLst>
              </p:cNvPr>
              <p:cNvSpPr txBox="1"/>
              <p:nvPr/>
            </p:nvSpPr>
            <p:spPr>
              <a:xfrm>
                <a:off x="6546460" y="3625477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BDD001E-6267-4834-8A32-A6C66F083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460" y="3625477"/>
                <a:ext cx="39096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F94EAE-0890-4FB5-8FEE-6EEBC1E28856}"/>
                  </a:ext>
                </a:extLst>
              </p:cNvPr>
              <p:cNvSpPr txBox="1"/>
              <p:nvPr/>
            </p:nvSpPr>
            <p:spPr>
              <a:xfrm>
                <a:off x="9532601" y="3622456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F94EAE-0890-4FB5-8FEE-6EEBC1E28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601" y="3622456"/>
                <a:ext cx="390966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9586635-73EF-440F-B2D0-8C0F45C462AE}"/>
              </a:ext>
            </a:extLst>
          </p:cNvPr>
          <p:cNvSpPr/>
          <p:nvPr/>
        </p:nvSpPr>
        <p:spPr bwMode="auto">
          <a:xfrm>
            <a:off x="4714724" y="3050526"/>
            <a:ext cx="4881495" cy="792089"/>
          </a:xfrm>
          <a:custGeom>
            <a:avLst/>
            <a:gdLst>
              <a:gd name="connsiteX0" fmla="*/ 0 w 2980267"/>
              <a:gd name="connsiteY0" fmla="*/ 0 h 856948"/>
              <a:gd name="connsiteX1" fmla="*/ 1140178 w 2980267"/>
              <a:gd name="connsiteY1" fmla="*/ 598311 h 856948"/>
              <a:gd name="connsiteX2" fmla="*/ 2336800 w 2980267"/>
              <a:gd name="connsiteY2" fmla="*/ 846666 h 856948"/>
              <a:gd name="connsiteX3" fmla="*/ 2980267 w 2980267"/>
              <a:gd name="connsiteY3" fmla="*/ 282222 h 8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0267" h="856948">
                <a:moveTo>
                  <a:pt x="0" y="0"/>
                </a:moveTo>
                <a:cubicBezTo>
                  <a:pt x="375355" y="228600"/>
                  <a:pt x="750711" y="457200"/>
                  <a:pt x="1140178" y="598311"/>
                </a:cubicBezTo>
                <a:cubicBezTo>
                  <a:pt x="1529645" y="739422"/>
                  <a:pt x="2030119" y="899348"/>
                  <a:pt x="2336800" y="846666"/>
                </a:cubicBezTo>
                <a:cubicBezTo>
                  <a:pt x="2643482" y="793985"/>
                  <a:pt x="2811874" y="538103"/>
                  <a:pt x="2980267" y="282222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670F80B-D78B-4D05-BFF7-B92FD4A6CB20}"/>
              </a:ext>
            </a:extLst>
          </p:cNvPr>
          <p:cNvCxnSpPr>
            <a:cxnSpLocks/>
          </p:cNvCxnSpPr>
          <p:nvPr/>
        </p:nvCxnSpPr>
        <p:spPr bwMode="auto">
          <a:xfrm flipH="1">
            <a:off x="8049343" y="2043959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DF5039B-1715-424E-9055-452A858F28BC}"/>
                  </a:ext>
                </a:extLst>
              </p:cNvPr>
              <p:cNvSpPr txBox="1"/>
              <p:nvPr/>
            </p:nvSpPr>
            <p:spPr>
              <a:xfrm>
                <a:off x="7901012" y="3901690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DF5039B-1715-424E-9055-452A858F2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12" y="3901690"/>
                <a:ext cx="418083" cy="400110"/>
              </a:xfrm>
              <a:prstGeom prst="rect">
                <a:avLst/>
              </a:prstGeom>
              <a:blipFill>
                <a:blip r:embed="rId1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1CB95C7-C65F-4AC3-AD95-61639C0233B6}"/>
                  </a:ext>
                </a:extLst>
              </p:cNvPr>
              <p:cNvSpPr txBox="1"/>
              <p:nvPr/>
            </p:nvSpPr>
            <p:spPr>
              <a:xfrm>
                <a:off x="7254099" y="3046460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1CB95C7-C65F-4AC3-AD95-61639C023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099" y="3046460"/>
                <a:ext cx="388144" cy="400110"/>
              </a:xfrm>
              <a:prstGeom prst="rect">
                <a:avLst/>
              </a:prstGeom>
              <a:blipFill>
                <a:blip r:embed="rId17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DD7D918-8904-4626-B853-94D345F58690}"/>
              </a:ext>
            </a:extLst>
          </p:cNvPr>
          <p:cNvCxnSpPr>
            <a:cxnSpLocks/>
          </p:cNvCxnSpPr>
          <p:nvPr/>
        </p:nvCxnSpPr>
        <p:spPr bwMode="auto">
          <a:xfrm>
            <a:off x="7452180" y="3344978"/>
            <a:ext cx="575412" cy="47753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17533D7-1020-4D0C-9FA5-D3DDB95CBA62}"/>
              </a:ext>
            </a:extLst>
          </p:cNvPr>
          <p:cNvCxnSpPr>
            <a:cxnSpLocks/>
          </p:cNvCxnSpPr>
          <p:nvPr/>
        </p:nvCxnSpPr>
        <p:spPr bwMode="auto">
          <a:xfrm flipH="1">
            <a:off x="8474010" y="2016136"/>
            <a:ext cx="1" cy="19384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7B92FB5-8C84-4672-8DF1-F3680054F01D}"/>
                  </a:ext>
                </a:extLst>
              </p:cNvPr>
              <p:cNvSpPr txBox="1"/>
              <p:nvPr/>
            </p:nvSpPr>
            <p:spPr>
              <a:xfrm>
                <a:off x="8312153" y="391880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7B92FB5-8C84-4672-8DF1-F3680054F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153" y="3918807"/>
                <a:ext cx="418083" cy="400110"/>
              </a:xfrm>
              <a:prstGeom prst="rect">
                <a:avLst/>
              </a:prstGeom>
              <a:blipFill>
                <a:blip r:embed="rId1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A47293E-391F-431D-89F3-A89C5EE7A21A}"/>
                  </a:ext>
                </a:extLst>
              </p:cNvPr>
              <p:cNvSpPr txBox="1"/>
              <p:nvPr/>
            </p:nvSpPr>
            <p:spPr>
              <a:xfrm>
                <a:off x="8536164" y="3028890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A47293E-391F-431D-89F3-A89C5EE7A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164" y="3028890"/>
                <a:ext cx="388144" cy="400110"/>
              </a:xfrm>
              <a:prstGeom prst="rect">
                <a:avLst/>
              </a:prstGeom>
              <a:blipFill>
                <a:blip r:embed="rId19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7738BEF-2C07-4A33-AD15-9246EDF04F30}"/>
              </a:ext>
            </a:extLst>
          </p:cNvPr>
          <p:cNvCxnSpPr>
            <a:cxnSpLocks/>
            <a:endCxn id="47" idx="2"/>
          </p:cNvCxnSpPr>
          <p:nvPr/>
        </p:nvCxnSpPr>
        <p:spPr bwMode="auto">
          <a:xfrm flipH="1">
            <a:off x="8542259" y="3327408"/>
            <a:ext cx="191986" cy="50570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3ABBCCDC-A962-460D-B448-89407C75C028}"/>
              </a:ext>
            </a:extLst>
          </p:cNvPr>
          <p:cNvCxnSpPr>
            <a:cxnSpLocks/>
          </p:cNvCxnSpPr>
          <p:nvPr/>
        </p:nvCxnSpPr>
        <p:spPr bwMode="auto">
          <a:xfrm>
            <a:off x="6846999" y="5099792"/>
            <a:ext cx="1644367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F418D2E0-B9EA-4932-97ED-6444F781DBB2}"/>
              </a:ext>
            </a:extLst>
          </p:cNvPr>
          <p:cNvCxnSpPr>
            <a:cxnSpLocks/>
          </p:cNvCxnSpPr>
          <p:nvPr/>
        </p:nvCxnSpPr>
        <p:spPr bwMode="auto">
          <a:xfrm>
            <a:off x="8474489" y="3864251"/>
            <a:ext cx="713" cy="12685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26FE74EB-E70B-42C8-AD84-44A509C28175}"/>
              </a:ext>
            </a:extLst>
          </p:cNvPr>
          <p:cNvCxnSpPr>
            <a:cxnSpLocks/>
          </p:cNvCxnSpPr>
          <p:nvPr/>
        </p:nvCxnSpPr>
        <p:spPr bwMode="auto">
          <a:xfrm>
            <a:off x="6849060" y="3855911"/>
            <a:ext cx="713" cy="12685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1ABED1C-4D73-443C-BF85-89F1A612B53B}"/>
              </a:ext>
            </a:extLst>
          </p:cNvPr>
          <p:cNvCxnSpPr>
            <a:cxnSpLocks/>
          </p:cNvCxnSpPr>
          <p:nvPr/>
        </p:nvCxnSpPr>
        <p:spPr bwMode="auto">
          <a:xfrm>
            <a:off x="6846999" y="4649550"/>
            <a:ext cx="161786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CB8AED7-B99E-48BA-B7AF-87B48B0A3EE3}"/>
                  </a:ext>
                </a:extLst>
              </p:cNvPr>
              <p:cNvSpPr txBox="1"/>
              <p:nvPr/>
            </p:nvSpPr>
            <p:spPr>
              <a:xfrm>
                <a:off x="7136139" y="4252691"/>
                <a:ext cx="117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CB8AED7-B99E-48BA-B7AF-87B48B0A3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139" y="4252691"/>
                <a:ext cx="1174971" cy="400110"/>
              </a:xfrm>
              <a:prstGeom prst="rect">
                <a:avLst/>
              </a:prstGeom>
              <a:blipFill>
                <a:blip r:embed="rId20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>
            <a:extLst>
              <a:ext uri="{FF2B5EF4-FFF2-40B4-BE49-F238E27FC236}">
                <a16:creationId xmlns:a16="http://schemas.microsoft.com/office/drawing/2014/main" id="{F3B39ED2-6A8A-4C1A-857E-81079E62E8D4}"/>
              </a:ext>
            </a:extLst>
          </p:cNvPr>
          <p:cNvSpPr txBox="1"/>
          <p:nvPr/>
        </p:nvSpPr>
        <p:spPr>
          <a:xfrm>
            <a:off x="209540" y="1317264"/>
            <a:ext cx="42555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0.618</a:t>
            </a:r>
            <a:r>
              <a:rPr lang="zh-CN" altLang="en-US" sz="2800" dirty="0"/>
              <a:t>法的思想：</a:t>
            </a:r>
            <a:r>
              <a:rPr lang="zh-CN" altLang="en-US" sz="2800" dirty="0">
                <a:solidFill>
                  <a:srgbClr val="0000FF"/>
                </a:solidFill>
              </a:rPr>
              <a:t>等比例缩短搜索区间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FCB96D3-2923-4496-8833-1AB8F7356CE2}"/>
              </a:ext>
            </a:extLst>
          </p:cNvPr>
          <p:cNvSpPr txBox="1"/>
          <p:nvPr/>
        </p:nvSpPr>
        <p:spPr>
          <a:xfrm>
            <a:off x="201795" y="2396481"/>
            <a:ext cx="4255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无论哪次迭代，</a:t>
            </a:r>
            <a:r>
              <a:rPr lang="zh-CN" altLang="en-US" sz="2800" dirty="0">
                <a:solidFill>
                  <a:srgbClr val="0000FF"/>
                </a:solidFill>
              </a:rPr>
              <a:t>缩短后的区间长度</a:t>
            </a:r>
            <a:r>
              <a:rPr lang="zh-CN" altLang="en-US" sz="2800" dirty="0"/>
              <a:t>与</a:t>
            </a:r>
            <a:r>
              <a:rPr lang="zh-CN" altLang="en-US" sz="2800" dirty="0">
                <a:solidFill>
                  <a:srgbClr val="C00000"/>
                </a:solidFill>
              </a:rPr>
              <a:t>原区间长度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7030A0"/>
                </a:solidFill>
              </a:rPr>
              <a:t>比值相等</a:t>
            </a:r>
          </a:p>
        </p:txBody>
      </p: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C7383D24-FD73-4015-AF8B-B3D792D9FB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331047"/>
              </p:ext>
            </p:extLst>
          </p:nvPr>
        </p:nvGraphicFramePr>
        <p:xfrm>
          <a:off x="3907290" y="3717880"/>
          <a:ext cx="1398587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93480" imgH="317160" progId="Equation.DSMT4">
                  <p:embed/>
                </p:oleObj>
              </mc:Choice>
              <mc:Fallback>
                <p:oleObj name="Equation" r:id="rId21" imgW="393480" imgH="317160" progId="Equation.DSMT4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196DC254-8B3B-4992-AF82-A8E686ABB2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907290" y="3717880"/>
                        <a:ext cx="1398587" cy="1128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76">
            <a:extLst>
              <a:ext uri="{FF2B5EF4-FFF2-40B4-BE49-F238E27FC236}">
                <a16:creationId xmlns:a16="http://schemas.microsoft.com/office/drawing/2014/main" id="{CD8B8072-18F9-4D28-8D56-14FF4A0882A5}"/>
              </a:ext>
            </a:extLst>
          </p:cNvPr>
          <p:cNvSpPr txBox="1"/>
          <p:nvPr/>
        </p:nvSpPr>
        <p:spPr>
          <a:xfrm>
            <a:off x="209540" y="4067167"/>
            <a:ext cx="36967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第一次区间缩减率</a:t>
            </a:r>
            <a:endParaRPr lang="zh-CN" altLang="en-US" sz="2800" dirty="0">
              <a:solidFill>
                <a:srgbClr val="7030A0"/>
              </a:solidFill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FA69426-FE85-4069-8BE2-BAAB0ED6E49E}"/>
              </a:ext>
            </a:extLst>
          </p:cNvPr>
          <p:cNvSpPr txBox="1"/>
          <p:nvPr/>
        </p:nvSpPr>
        <p:spPr>
          <a:xfrm>
            <a:off x="211110" y="5017516"/>
            <a:ext cx="369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zh-CN" altLang="en-US" sz="2800" dirty="0"/>
              <a:t>第二次区间缩减率</a:t>
            </a:r>
            <a:endParaRPr lang="zh-CN" altLang="en-US" sz="2800" dirty="0">
              <a:solidFill>
                <a:srgbClr val="7030A0"/>
              </a:solidFill>
            </a:endParaRPr>
          </a:p>
        </p:txBody>
      </p:sp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FAC675BE-0A4E-4FCF-8153-F85C54CA0A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689985"/>
              </p:ext>
            </p:extLst>
          </p:nvPr>
        </p:nvGraphicFramePr>
        <p:xfrm>
          <a:off x="3790560" y="4752995"/>
          <a:ext cx="2752725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74360" imgH="317160" progId="Equation.DSMT4">
                  <p:embed/>
                </p:oleObj>
              </mc:Choice>
              <mc:Fallback>
                <p:oleObj name="Equation" r:id="rId23" imgW="774360" imgH="31716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C7383D24-FD73-4015-AF8B-B3D792D9FB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790560" y="4752995"/>
                        <a:ext cx="2752725" cy="1128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0DF13BEC-E59A-4B45-AC79-1265B33153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839085"/>
              </p:ext>
            </p:extLst>
          </p:nvPr>
        </p:nvGraphicFramePr>
        <p:xfrm>
          <a:off x="2512528" y="5603635"/>
          <a:ext cx="4597400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95280" imgH="317160" progId="Equation.DSMT4">
                  <p:embed/>
                </p:oleObj>
              </mc:Choice>
              <mc:Fallback>
                <p:oleObj name="Equation" r:id="rId25" imgW="1295280" imgH="317160" progId="Equation.DSMT4">
                  <p:embed/>
                  <p:pic>
                    <p:nvPicPr>
                      <p:cNvPr id="79" name="对象 78">
                        <a:extLst>
                          <a:ext uri="{FF2B5EF4-FFF2-40B4-BE49-F238E27FC236}">
                            <a16:creationId xmlns:a16="http://schemas.microsoft.com/office/drawing/2014/main" id="{FAC675BE-0A4E-4FCF-8153-F85C54CA0A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512528" y="5603635"/>
                        <a:ext cx="4597400" cy="1128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09C05B14-C31C-4B31-9344-5D6749AB1636}"/>
                  </a:ext>
                </a:extLst>
              </p:cNvPr>
              <p:cNvSpPr txBox="1"/>
              <p:nvPr/>
            </p:nvSpPr>
            <p:spPr>
              <a:xfrm>
                <a:off x="211111" y="5893429"/>
                <a:ext cx="17895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式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式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2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09C05B14-C31C-4B31-9344-5D6749AB1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11" y="5893429"/>
                <a:ext cx="1789562" cy="523220"/>
              </a:xfrm>
              <a:prstGeom prst="rect">
                <a:avLst/>
              </a:prstGeom>
              <a:blipFill>
                <a:blip r:embed="rId27"/>
                <a:stretch>
                  <a:fillRect l="-1706" t="-13953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箭头: 右 6">
            <a:extLst>
              <a:ext uri="{FF2B5EF4-FFF2-40B4-BE49-F238E27FC236}">
                <a16:creationId xmlns:a16="http://schemas.microsoft.com/office/drawing/2014/main" id="{C1E68982-7C2D-4285-8107-3FECF6F8EF6A}"/>
              </a:ext>
            </a:extLst>
          </p:cNvPr>
          <p:cNvSpPr/>
          <p:nvPr/>
        </p:nvSpPr>
        <p:spPr bwMode="auto">
          <a:xfrm>
            <a:off x="2000673" y="5949280"/>
            <a:ext cx="511855" cy="44209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F6FF3249-3F01-4DFC-A4C1-82F082254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191581"/>
              </p:ext>
            </p:extLst>
          </p:nvPr>
        </p:nvGraphicFramePr>
        <p:xfrm>
          <a:off x="7179575" y="5334632"/>
          <a:ext cx="2423596" cy="747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95000" imgH="152280" progId="Equation.DSMT4">
                  <p:embed/>
                </p:oleObj>
              </mc:Choice>
              <mc:Fallback>
                <p:oleObj name="Equation" r:id="rId28" imgW="495000" imgH="152280" progId="Equation.DSMT4">
                  <p:embed/>
                  <p:pic>
                    <p:nvPicPr>
                      <p:cNvPr id="79" name="对象 78">
                        <a:extLst>
                          <a:ext uri="{FF2B5EF4-FFF2-40B4-BE49-F238E27FC236}">
                            <a16:creationId xmlns:a16="http://schemas.microsoft.com/office/drawing/2014/main" id="{FAC675BE-0A4E-4FCF-8153-F85C54CA0A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179575" y="5334632"/>
                        <a:ext cx="2423596" cy="747403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963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75" grpId="0"/>
      <p:bldP spid="77" grpId="0"/>
      <p:bldP spid="78" grpId="0"/>
      <p:bldP spid="81" grpId="0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10176-DA9B-48B8-8B52-3D76D3FE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0.618</a:t>
            </a:r>
            <a:r>
              <a:rPr lang="zh-CN" altLang="en-US" dirty="0"/>
              <a:t>法的迭代过程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DF5C2D-AE86-431B-8AD3-418E9F34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765DD0-D08E-4028-ACE8-91DFE5D6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40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FDD57C8-BF76-416B-BB30-085809801922}"/>
              </a:ext>
            </a:extLst>
          </p:cNvPr>
          <p:cNvCxnSpPr>
            <a:cxnSpLocks/>
          </p:cNvCxnSpPr>
          <p:nvPr/>
        </p:nvCxnSpPr>
        <p:spPr bwMode="auto">
          <a:xfrm>
            <a:off x="4953000" y="1493126"/>
            <a:ext cx="0" cy="26342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8631C1E-0C16-41C2-9C8C-11D2598C824F}"/>
                  </a:ext>
                </a:extLst>
              </p:cNvPr>
              <p:cNvSpPr/>
              <p:nvPr/>
            </p:nvSpPr>
            <p:spPr bwMode="auto">
              <a:xfrm>
                <a:off x="1487725" y="2442390"/>
                <a:ext cx="6912766" cy="338546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endChr m:val="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dirty="0"/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8631C1E-0C16-41C2-9C8C-11D2598C82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725" y="2442390"/>
                <a:ext cx="6912766" cy="338546"/>
              </a:xfrm>
              <a:prstGeom prst="rect">
                <a:avLst/>
              </a:prstGeom>
              <a:blipFill>
                <a:blip r:embed="rId2"/>
                <a:stretch>
                  <a:fillRect t="-149123" b="-23157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8277847A-4C2B-42C6-BD76-0E6121138ED6}"/>
                  </a:ext>
                </a:extLst>
              </p:cNvPr>
              <p:cNvSpPr/>
              <p:nvPr/>
            </p:nvSpPr>
            <p:spPr bwMode="auto">
              <a:xfrm>
                <a:off x="2720753" y="1729593"/>
                <a:ext cx="4536503" cy="314849"/>
              </a:xfrm>
              <a:prstGeom prst="parallelogram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输入</a:t>
                </a: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=0.618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0" lang="zh-CN" altLang="en-US" sz="20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8277847A-4C2B-42C6-BD76-0E6121138E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753" y="1729593"/>
                <a:ext cx="4536503" cy="314849"/>
              </a:xfrm>
              <a:prstGeom prst="parallelogram">
                <a:avLst/>
              </a:prstGeom>
              <a:blipFill>
                <a:blip r:embed="rId3"/>
                <a:stretch>
                  <a:fillRect t="-20755" b="-45283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E54B146-DD26-4C25-9AA0-4F44B02D9BEC}"/>
              </a:ext>
            </a:extLst>
          </p:cNvPr>
          <p:cNvCxnSpPr>
            <a:cxnSpLocks/>
            <a:stCxn id="8" idx="3"/>
            <a:endCxn id="7" idx="0"/>
          </p:cNvCxnSpPr>
          <p:nvPr/>
        </p:nvCxnSpPr>
        <p:spPr bwMode="auto">
          <a:xfrm flipH="1">
            <a:off x="4944108" y="2044442"/>
            <a:ext cx="5540" cy="397948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菱形 9">
                <a:extLst>
                  <a:ext uri="{FF2B5EF4-FFF2-40B4-BE49-F238E27FC236}">
                    <a16:creationId xmlns:a16="http://schemas.microsoft.com/office/drawing/2014/main" id="{72279765-8453-4724-9AC6-085534F4A3DE}"/>
                  </a:ext>
                </a:extLst>
              </p:cNvPr>
              <p:cNvSpPr/>
              <p:nvPr/>
            </p:nvSpPr>
            <p:spPr bwMode="auto">
              <a:xfrm>
                <a:off x="3797299" y="3205270"/>
                <a:ext cx="2311401" cy="432048"/>
              </a:xfrm>
              <a:prstGeom prst="diamond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0" lang="en-US" altLang="zh-CN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&gt;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?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0" name="菱形 9">
                <a:extLst>
                  <a:ext uri="{FF2B5EF4-FFF2-40B4-BE49-F238E27FC236}">
                    <a16:creationId xmlns:a16="http://schemas.microsoft.com/office/drawing/2014/main" id="{72279765-8453-4724-9AC6-085534F4A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7299" y="3205270"/>
                <a:ext cx="2311401" cy="432048"/>
              </a:xfrm>
              <a:prstGeom prst="diamond">
                <a:avLst/>
              </a:prstGeom>
              <a:blipFill>
                <a:blip r:embed="rId4"/>
                <a:stretch>
                  <a:fillRect t="-1370" b="-20548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4A97EC7-0F4C-483F-8B19-ABEC2F41974D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 bwMode="auto">
          <a:xfrm>
            <a:off x="4944108" y="2780936"/>
            <a:ext cx="8892" cy="424334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0FC2BC0F-B3EA-4610-86A3-027550D7DA3F}"/>
                  </a:ext>
                </a:extLst>
              </p:cNvPr>
              <p:cNvSpPr/>
              <p:nvPr/>
            </p:nvSpPr>
            <p:spPr bwMode="auto">
              <a:xfrm>
                <a:off x="3489585" y="4610258"/>
                <a:ext cx="3017435" cy="464199"/>
              </a:xfrm>
              <a:prstGeom prst="diamond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≤</m:t>
                    </m:r>
                    <m:r>
                      <a:rPr kumimoji="0" lang="zh-CN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?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0FC2BC0F-B3EA-4610-86A3-027550D7DA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585" y="4610258"/>
                <a:ext cx="3017435" cy="464199"/>
              </a:xfrm>
              <a:prstGeom prst="diamond">
                <a:avLst/>
              </a:prstGeom>
              <a:blipFill>
                <a:blip r:embed="rId5"/>
                <a:stretch>
                  <a:fillRect b="-1666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3A0DB22-7941-44AF-8A5C-BA568C5B64E6}"/>
              </a:ext>
            </a:extLst>
          </p:cNvPr>
          <p:cNvCxnSpPr>
            <a:cxnSpLocks/>
          </p:cNvCxnSpPr>
          <p:nvPr/>
        </p:nvCxnSpPr>
        <p:spPr bwMode="auto">
          <a:xfrm>
            <a:off x="6083648" y="3422634"/>
            <a:ext cx="373659" cy="6366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平行四边形 17">
                <a:extLst>
                  <a:ext uri="{FF2B5EF4-FFF2-40B4-BE49-F238E27FC236}">
                    <a16:creationId xmlns:a16="http://schemas.microsoft.com/office/drawing/2014/main" id="{98D3651E-0A7E-449D-AF54-F05A2BA4612F}"/>
                  </a:ext>
                </a:extLst>
              </p:cNvPr>
              <p:cNvSpPr/>
              <p:nvPr/>
            </p:nvSpPr>
            <p:spPr bwMode="auto">
              <a:xfrm>
                <a:off x="2741481" y="5482666"/>
                <a:ext cx="4104456" cy="338554"/>
              </a:xfrm>
              <a:prstGeom prst="parallelogram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输</a:t>
                </a:r>
                <a:r>
                  <a:rPr lang="zh-CN" altLang="en-US" sz="2000" dirty="0"/>
                  <a:t>出</a:t>
                </a: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  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zh-CN" altLang="en-US" sz="20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8" name="平行四边形 17">
                <a:extLst>
                  <a:ext uri="{FF2B5EF4-FFF2-40B4-BE49-F238E27FC236}">
                    <a16:creationId xmlns:a16="http://schemas.microsoft.com/office/drawing/2014/main" id="{98D3651E-0A7E-449D-AF54-F05A2BA46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1481" y="5482666"/>
                <a:ext cx="4104456" cy="338554"/>
              </a:xfrm>
              <a:prstGeom prst="parallelogram">
                <a:avLst/>
              </a:prstGeom>
              <a:blipFill>
                <a:blip r:embed="rId6"/>
                <a:stretch>
                  <a:fillRect t="-15517" b="-37931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8CD0AA7-BE9E-40A0-A1A0-8D3149CF0C99}"/>
              </a:ext>
            </a:extLst>
          </p:cNvPr>
          <p:cNvCxnSpPr/>
          <p:nvPr/>
        </p:nvCxnSpPr>
        <p:spPr bwMode="auto">
          <a:xfrm>
            <a:off x="4998302" y="5821220"/>
            <a:ext cx="0" cy="288032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E7B02761-4B8C-4044-BCB4-9535BCC42E3D}"/>
              </a:ext>
            </a:extLst>
          </p:cNvPr>
          <p:cNvSpPr/>
          <p:nvPr/>
        </p:nvSpPr>
        <p:spPr bwMode="auto">
          <a:xfrm>
            <a:off x="4484799" y="6076046"/>
            <a:ext cx="1008112" cy="4320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结束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66D48083-E0D9-4A91-BFF0-FCBDC128C570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 flipH="1" flipV="1">
            <a:off x="4998302" y="2924944"/>
            <a:ext cx="1508718" cy="1917414"/>
          </a:xfrm>
          <a:prstGeom prst="bentConnector4">
            <a:avLst>
              <a:gd name="adj1" fmla="val -205393"/>
              <a:gd name="adj2" fmla="val 100043"/>
            </a:avLst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67A8422-90B0-496B-8A38-1A3D84D10F3A}"/>
                  </a:ext>
                </a:extLst>
              </p:cNvPr>
              <p:cNvSpPr/>
              <p:nvPr/>
            </p:nvSpPr>
            <p:spPr bwMode="auto">
              <a:xfrm>
                <a:off x="6432255" y="3068960"/>
                <a:ext cx="2646382" cy="1023926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67A8422-90B0-496B-8A38-1A3D84D10F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2255" y="3068960"/>
                <a:ext cx="2646382" cy="10239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DC8A6AA-F0FF-40F1-8FD1-7A38DD90DCB9}"/>
              </a:ext>
            </a:extLst>
          </p:cNvPr>
          <p:cNvCxnSpPr>
            <a:cxnSpLocks/>
          </p:cNvCxnSpPr>
          <p:nvPr/>
        </p:nvCxnSpPr>
        <p:spPr bwMode="auto">
          <a:xfrm>
            <a:off x="4988855" y="5074457"/>
            <a:ext cx="0" cy="426524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5538FFBF-FBD6-4E34-832C-C551AE7C0893}"/>
              </a:ext>
            </a:extLst>
          </p:cNvPr>
          <p:cNvSpPr txBox="1"/>
          <p:nvPr/>
        </p:nvSpPr>
        <p:spPr>
          <a:xfrm>
            <a:off x="5880627" y="309280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A82A21-3989-4EE0-A0FA-279B22ABF79B}"/>
              </a:ext>
            </a:extLst>
          </p:cNvPr>
          <p:cNvSpPr txBox="1"/>
          <p:nvPr/>
        </p:nvSpPr>
        <p:spPr>
          <a:xfrm>
            <a:off x="4998302" y="507445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BA8F375-7684-436D-B9C9-ECD1A995D14B}"/>
              </a:ext>
            </a:extLst>
          </p:cNvPr>
          <p:cNvSpPr txBox="1"/>
          <p:nvPr/>
        </p:nvSpPr>
        <p:spPr>
          <a:xfrm>
            <a:off x="3828746" y="309172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否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BAEBAB2-4DD5-4036-80EF-DB0E086DE5A2}"/>
              </a:ext>
            </a:extLst>
          </p:cNvPr>
          <p:cNvSpPr txBox="1"/>
          <p:nvPr/>
        </p:nvSpPr>
        <p:spPr>
          <a:xfrm>
            <a:off x="6432255" y="486362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否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E4C5373-6AB2-4173-87DE-6FA9CAB313C6}"/>
              </a:ext>
            </a:extLst>
          </p:cNvPr>
          <p:cNvSpPr/>
          <p:nvPr/>
        </p:nvSpPr>
        <p:spPr bwMode="auto">
          <a:xfrm>
            <a:off x="4448944" y="1052736"/>
            <a:ext cx="1008112" cy="4320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开始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95CAA0F9-96A7-425D-AED2-77CBE3F0ADCF}"/>
                  </a:ext>
                </a:extLst>
              </p:cNvPr>
              <p:cNvSpPr/>
              <p:nvPr/>
            </p:nvSpPr>
            <p:spPr bwMode="auto">
              <a:xfrm>
                <a:off x="794320" y="3068831"/>
                <a:ext cx="2724728" cy="100823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95CAA0F9-96A7-425D-AED2-77CBE3F0AD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4320" y="3068831"/>
                <a:ext cx="2724728" cy="10082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AD671848-09C7-40F0-AF35-D09AA78C2930}"/>
              </a:ext>
            </a:extLst>
          </p:cNvPr>
          <p:cNvCxnSpPr>
            <a:cxnSpLocks/>
          </p:cNvCxnSpPr>
          <p:nvPr/>
        </p:nvCxnSpPr>
        <p:spPr bwMode="auto">
          <a:xfrm flipH="1">
            <a:off x="3497559" y="3429000"/>
            <a:ext cx="352678" cy="3183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DBDF987F-78F5-4F83-A4DE-82A01A063478}"/>
              </a:ext>
            </a:extLst>
          </p:cNvPr>
          <p:cNvCxnSpPr>
            <a:cxnSpLocks/>
            <a:stCxn id="67" idx="2"/>
            <a:endCxn id="14" idx="0"/>
          </p:cNvCxnSpPr>
          <p:nvPr/>
        </p:nvCxnSpPr>
        <p:spPr bwMode="auto">
          <a:xfrm rot="16200000" flipH="1">
            <a:off x="3310896" y="2922851"/>
            <a:ext cx="533194" cy="2841619"/>
          </a:xfrm>
          <a:prstGeom prst="bentConnector3">
            <a:avLst>
              <a:gd name="adj1" fmla="val 30945"/>
            </a:avLst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连接符: 肘形 115">
            <a:extLst>
              <a:ext uri="{FF2B5EF4-FFF2-40B4-BE49-F238E27FC236}">
                <a16:creationId xmlns:a16="http://schemas.microsoft.com/office/drawing/2014/main" id="{A3B32A8B-FC2A-4460-8138-4733BC9D8405}"/>
              </a:ext>
            </a:extLst>
          </p:cNvPr>
          <p:cNvCxnSpPr>
            <a:cxnSpLocks/>
            <a:stCxn id="25" idx="2"/>
          </p:cNvCxnSpPr>
          <p:nvPr/>
        </p:nvCxnSpPr>
        <p:spPr bwMode="auto">
          <a:xfrm rot="5400000">
            <a:off x="6253314" y="2858816"/>
            <a:ext cx="268063" cy="2736202"/>
          </a:xfrm>
          <a:prstGeom prst="bentConnector2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1" name="20 120">
            <a:extLst>
              <a:ext uri="{FF2B5EF4-FFF2-40B4-BE49-F238E27FC236}">
                <a16:creationId xmlns:a16="http://schemas.microsoft.com/office/drawing/2014/main" id="{0D84F1F0-2546-401A-9F28-3BB1F48840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5370" y="53852"/>
            <a:ext cx="4332586" cy="1353037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4A8EED09-7788-4351-A82B-C386C3A90CED}"/>
              </a:ext>
            </a:extLst>
          </p:cNvPr>
          <p:cNvCxnSpPr>
            <a:cxnSpLocks/>
          </p:cNvCxnSpPr>
          <p:nvPr/>
        </p:nvCxnSpPr>
        <p:spPr bwMode="auto">
          <a:xfrm>
            <a:off x="8355160" y="1456280"/>
            <a:ext cx="270248" cy="1722604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8" name="20 127">
            <a:extLst>
              <a:ext uri="{FF2B5EF4-FFF2-40B4-BE49-F238E27FC236}">
                <a16:creationId xmlns:a16="http://schemas.microsoft.com/office/drawing/2014/main" id="{098E0238-12E3-4339-8988-109DCAD366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44" y="4610258"/>
            <a:ext cx="2512142" cy="1147581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C2B3DC77-A299-4672-B4D9-940E56E0F78C}"/>
              </a:ext>
            </a:extLst>
          </p:cNvPr>
          <p:cNvCxnSpPr>
            <a:cxnSpLocks/>
          </p:cNvCxnSpPr>
          <p:nvPr/>
        </p:nvCxnSpPr>
        <p:spPr bwMode="auto">
          <a:xfrm flipV="1">
            <a:off x="1397023" y="3933056"/>
            <a:ext cx="80924" cy="618653"/>
          </a:xfrm>
          <a:prstGeom prst="straightConnector1">
            <a:avLst/>
          </a:prstGeom>
          <a:ln w="28575" cap="flat" cmpd="sng" algn="ctr">
            <a:solidFill>
              <a:srgbClr val="0000FF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9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4" grpId="0" animBg="1"/>
      <p:bldP spid="18" grpId="0" animBg="1"/>
      <p:bldP spid="22" grpId="0" animBg="1"/>
      <p:bldP spid="25" grpId="0" animBg="1"/>
      <p:bldP spid="32" grpId="0"/>
      <p:bldP spid="34" grpId="0"/>
      <p:bldP spid="35" grpId="0"/>
      <p:bldP spid="36" grpId="0"/>
      <p:bldP spid="38" grpId="0" animBg="1"/>
      <p:bldP spid="6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7DCC04-B1B2-4860-87CC-7BFFF13E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3. 0.618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55AE3C-B458-4922-B8A2-093268F66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P37</a:t>
                </a:r>
                <a:r>
                  <a:rPr lang="zh-CN" altLang="en-US" dirty="0"/>
                  <a:t>例</a:t>
                </a:r>
                <a:r>
                  <a:rPr lang="en-US" altLang="zh-CN" dirty="0"/>
                  <a:t>3-1</a:t>
                </a:r>
                <a:r>
                  <a:rPr lang="zh-CN" altLang="en-US" dirty="0"/>
                  <a:t>）：</a:t>
                </a:r>
                <a:r>
                  <a:rPr lang="en-US" altLang="zh-CN" dirty="0"/>
                  <a:t>0.618</a:t>
                </a:r>
                <a:r>
                  <a:rPr lang="zh-CN" altLang="en-US" dirty="0"/>
                  <a:t>法求极值点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用</a:t>
                </a:r>
                <a:r>
                  <a:rPr lang="en-US" altLang="zh-CN" dirty="0"/>
                  <a:t>0.618</a:t>
                </a:r>
                <a:r>
                  <a:rPr lang="zh-CN" altLang="en-US" dirty="0"/>
                  <a:t>法区域求下列函数的极小值点</a:t>
                </a:r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  <a:p>
                <a:pPr marL="914400" lvl="2" indent="0">
                  <a:buNone/>
                </a:pPr>
                <a:r>
                  <a:rPr lang="zh-CN" altLang="en-US" dirty="0"/>
                  <a:t>单峰区间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]=[−3,5], </m:t>
                    </m:r>
                  </m:oMath>
                </a14:m>
                <a:r>
                  <a:rPr lang="zh-CN" altLang="en-US" dirty="0"/>
                  <a:t>收敛精度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55AE3C-B458-4922-B8A2-093268F66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5216E-672C-46CE-92AA-8B84B71F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0E2DA0-8B87-44FE-B8BA-13DD0CF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6DD0ADE-31D8-4247-B3E0-5A94B4445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129266"/>
              </p:ext>
            </p:extLst>
          </p:nvPr>
        </p:nvGraphicFramePr>
        <p:xfrm>
          <a:off x="2380140" y="2683176"/>
          <a:ext cx="3268056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164880" progId="Equation.DSMT4">
                  <p:embed/>
                </p:oleObj>
              </mc:Choice>
              <mc:Fallback>
                <p:oleObj name="Equation" r:id="rId4" imgW="74916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0140" y="2683176"/>
                        <a:ext cx="3268056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503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71F124-EEFA-4987-8554-909BD4F80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65F2C6-D9EE-4AF4-89CE-5A2F216C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92C89-7969-481C-83F1-E78D2A5A7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9283BCE-09F8-45AB-8274-E82E3A826764}"/>
                  </a:ext>
                </a:extLst>
              </p:cNvPr>
              <p:cNvSpPr txBox="1"/>
              <p:nvPr/>
            </p:nvSpPr>
            <p:spPr>
              <a:xfrm>
                <a:off x="200472" y="1196752"/>
                <a:ext cx="9361040" cy="828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ea"/>
                  <a:buAutoNum type="circleNumDbPlain"/>
                </a:pPr>
                <a:r>
                  <a:rPr lang="zh-CN" altLang="en-US" sz="2800" dirty="0"/>
                  <a:t>求取对称点及其函数值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80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=5−0.618(5+3)=0.056</m:t>
                    </m:r>
                  </m:oMath>
                </a14:m>
                <a:r>
                  <a:rPr lang="en-US" altLang="zh-CN" sz="2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(0.056)=0.115</m:t>
                    </m:r>
                  </m:oMath>
                </a14:m>
                <a:r>
                  <a:rPr lang="en-US" altLang="zh-CN" sz="2800" dirty="0"/>
                  <a:t>,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80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endChr m:val=""/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2800" dirty="0"/>
                          <m:t>0.618(5+3)</m:t>
                        </m:r>
                      </m:e>
                    </m:d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=1.944</m:t>
                    </m:r>
                  </m:oMath>
                </a14:m>
                <a:r>
                  <a:rPr lang="en-US" altLang="zh-CN" sz="2800" dirty="0"/>
                  <a:t>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(1.944)=7.667</m:t>
                    </m:r>
                  </m:oMath>
                </a14:m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r>
                  <a:rPr lang="zh-CN" altLang="en-US" sz="2800" dirty="0"/>
                  <a:t>比较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800" dirty="0"/>
                  <a:t>大小：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800" dirty="0"/>
              </a:p>
              <a:p>
                <a:pPr lvl="1"/>
                <a:r>
                  <a:rPr lang="zh-CN" altLang="en-US" sz="2800" dirty="0"/>
                  <a:t>取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/>
                  <a:t>=[-3, 1.994]</a:t>
                </a:r>
                <a:r>
                  <a:rPr lang="zh-CN" altLang="en-US" sz="2800" dirty="0"/>
                  <a:t>为新区间，进行如下运算</a:t>
                </a:r>
                <a:endParaRPr lang="en-US" altLang="zh-CN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=1.994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=0.056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=0.115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             </m:t>
                            </m:r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zh-CN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=1.994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0.618</m:t>
                                </m:r>
                                <m:d>
                                  <m:d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1.994+3</m:t>
                                    </m:r>
                                  </m:e>
                                </m:d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=−1.111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8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sz="2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−1.111</m:t>
                                    </m:r>
                                  </m:e>
                                </m:d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=−0.988                                            </m:t>
                                </m:r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r>
                  <a:rPr lang="zh-CN" altLang="en-US" sz="2800" dirty="0"/>
                  <a:t>收敛精度判断：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 1.994 +3=4.994 &gt; 0.3</m:t>
                    </m:r>
                  </m:oMath>
                </a14:m>
                <a:endParaRPr lang="en-US" altLang="zh-CN" sz="2800" dirty="0"/>
              </a:p>
              <a:p>
                <a:pPr lvl="1"/>
                <a:r>
                  <a:rPr lang="zh-CN" altLang="en-US" sz="2800" dirty="0"/>
                  <a:t>不满足收敛条件，返回步骤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继续进行迭代</a:t>
                </a:r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endParaRPr lang="en-US" altLang="zh-CN" sz="2800" dirty="0"/>
              </a:p>
              <a:p>
                <a:pPr marL="514350" indent="-514350">
                  <a:buFont typeface="+mj-ea"/>
                  <a:buAutoNum type="circleNumDbPlain"/>
                </a:pPr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9283BCE-09F8-45AB-8274-E82E3A826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2" y="1196752"/>
                <a:ext cx="9361040" cy="8287525"/>
              </a:xfrm>
              <a:prstGeom prst="rect">
                <a:avLst/>
              </a:prstGeom>
              <a:blipFill>
                <a:blip r:embed="rId3"/>
                <a:stretch>
                  <a:fillRect l="-1564" t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2E400BA-99FE-4766-BD6F-1F00C91FCD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993538"/>
              </p:ext>
            </p:extLst>
          </p:nvPr>
        </p:nvGraphicFramePr>
        <p:xfrm>
          <a:off x="2864768" y="64920"/>
          <a:ext cx="4896543" cy="94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368280" progId="Equation.DSMT4">
                  <p:embed/>
                </p:oleObj>
              </mc:Choice>
              <mc:Fallback>
                <p:oleObj name="Equation" r:id="rId4" imgW="1917360" imgH="368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6DD0ADE-31D8-4247-B3E0-5A94B4445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64768" y="64920"/>
                        <a:ext cx="4896543" cy="941750"/>
                      </a:xfrm>
                      <a:prstGeom prst="rect">
                        <a:avLst/>
                      </a:prstGeom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215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6DF56-1A0C-45AD-A6D4-E70BFD05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760D38-A2C2-4661-BBF3-05F9BBC0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2256D0-1D2B-4933-A279-C2535CF3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43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B7615150-E21F-444B-BB77-D5909405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7" y="1300561"/>
            <a:ext cx="9906000" cy="483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2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9088</TotalTime>
  <Words>3585</Words>
  <Application>Microsoft Office PowerPoint</Application>
  <PresentationFormat>A4 纸张(210x297 毫米)</PresentationFormat>
  <Paragraphs>645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黑体</vt:lpstr>
      <vt:lpstr>宋体</vt:lpstr>
      <vt:lpstr>Arial</vt:lpstr>
      <vt:lpstr>Cambria Math</vt:lpstr>
      <vt:lpstr>Times New Roman</vt:lpstr>
      <vt:lpstr>Wingdings</vt:lpstr>
      <vt:lpstr>Presentation</vt:lpstr>
      <vt:lpstr>Equation</vt:lpstr>
      <vt:lpstr>最优化理论</vt:lpstr>
      <vt:lpstr>习题讲解</vt:lpstr>
      <vt:lpstr>PowerPoint 演示文稿</vt:lpstr>
      <vt:lpstr>一维搜索方法</vt:lpstr>
      <vt:lpstr>1.数值迭代法基本思想与迭代过程</vt:lpstr>
      <vt:lpstr>1.数值迭代法基本思想与迭代过程</vt:lpstr>
      <vt:lpstr>数值迭代的基本公式</vt:lpstr>
      <vt:lpstr>数值迭代的基本公式</vt:lpstr>
      <vt:lpstr>数值迭代的基本公式</vt:lpstr>
      <vt:lpstr>1.数值迭代法基本思想与迭代过程</vt:lpstr>
      <vt:lpstr>1.数值迭代法基本思想与迭代过程</vt:lpstr>
      <vt:lpstr>1.数值迭代法基本思想与迭代过程</vt:lpstr>
      <vt:lpstr>1.数值迭代法基本思想与迭代过程</vt:lpstr>
      <vt:lpstr>1.数值迭代法基本思想与迭代过程</vt:lpstr>
      <vt:lpstr>2. 一维搜索方法概述</vt:lpstr>
      <vt:lpstr>2. 一维搜索方法概述</vt:lpstr>
      <vt:lpstr>2. 一维搜索方法概述</vt:lpstr>
      <vt:lpstr>2. 一维搜索方法概述</vt:lpstr>
      <vt:lpstr>2. 一维搜索方法概述</vt:lpstr>
      <vt:lpstr>单峰区间确定过程</vt:lpstr>
      <vt:lpstr>单峰区间确定过程</vt:lpstr>
      <vt:lpstr>单峰区间确定过程</vt:lpstr>
      <vt:lpstr>单峰区间确定过程</vt:lpstr>
      <vt:lpstr>单峰区间确定过程</vt:lpstr>
      <vt:lpstr>单峰区间确定过程</vt:lpstr>
      <vt:lpstr>单峰区间确定过程</vt:lpstr>
      <vt:lpstr>单峰区间确定过程</vt:lpstr>
      <vt:lpstr>单峰区间确定过程</vt:lpstr>
      <vt:lpstr>单峰区间确定过程</vt:lpstr>
      <vt:lpstr>单峰区间确定过程</vt:lpstr>
      <vt:lpstr>2. 一维搜索方法概述</vt:lpstr>
      <vt:lpstr>区间消去法分析</vt:lpstr>
      <vt:lpstr>区间消去法分析</vt:lpstr>
      <vt:lpstr>3. 0.618法</vt:lpstr>
      <vt:lpstr>0.618法原理分析</vt:lpstr>
      <vt:lpstr>0.618法原理分析</vt:lpstr>
      <vt:lpstr>0.618法原理分析</vt:lpstr>
      <vt:lpstr>0.618法原理分析</vt:lpstr>
      <vt:lpstr>0.618法原理分析</vt:lpstr>
      <vt:lpstr>0.618法的迭代过程</vt:lpstr>
      <vt:lpstr>3. 0.618法</vt:lpstr>
      <vt:lpstr>例1：解</vt:lpstr>
      <vt:lpstr>例1：解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4479</cp:revision>
  <dcterms:created xsi:type="dcterms:W3CDTF">2016-10-01T05:27:09Z</dcterms:created>
  <dcterms:modified xsi:type="dcterms:W3CDTF">2022-10-04T13:01:10Z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