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12" r:id="rId4"/>
    <p:sldId id="313" r:id="rId5"/>
    <p:sldId id="314" r:id="rId6"/>
    <p:sldId id="315" r:id="rId7"/>
    <p:sldId id="298" r:id="rId8"/>
    <p:sldId id="297" r:id="rId9"/>
    <p:sldId id="299" r:id="rId10"/>
    <p:sldId id="300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311" r:id="rId19"/>
    <p:sldId id="316" r:id="rId20"/>
    <p:sldId id="317" r:id="rId21"/>
    <p:sldId id="318" r:id="rId22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312"/>
            <p14:sldId id="313"/>
            <p14:sldId id="314"/>
            <p14:sldId id="315"/>
            <p14:sldId id="298"/>
            <p14:sldId id="297"/>
            <p14:sldId id="299"/>
            <p14:sldId id="300"/>
            <p14:sldId id="301"/>
            <p14:sldId id="303"/>
            <p14:sldId id="304"/>
            <p14:sldId id="305"/>
            <p14:sldId id="306"/>
            <p14:sldId id="307"/>
            <p14:sldId id="308"/>
            <p14:sldId id="311"/>
            <p14:sldId id="316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CC3399"/>
    <a:srgbClr val="FFFFFF"/>
    <a:srgbClr val="30A040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3826" autoAdjust="0"/>
  </p:normalViewPr>
  <p:slideViewPr>
    <p:cSldViewPr>
      <p:cViewPr varScale="1">
        <p:scale>
          <a:sx n="63" d="100"/>
          <a:sy n="63" d="100"/>
        </p:scale>
        <p:origin x="1000" y="4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2022年10月4日星期二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2022年10月4日星期二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3.xml"/><Relationship Id="rId21" Type="http://schemas.openxmlformats.org/officeDocument/2006/relationships/image" Target="../media/image5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20.xml"/><Relationship Id="rId21" Type="http://schemas.openxmlformats.org/officeDocument/2006/relationships/image" Target="../media/image5.tmp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8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19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7.wmf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5" Type="http://schemas.openxmlformats.org/officeDocument/2006/relationships/image" Target="../media/image6.wmf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Relationship Id="rId1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oleObject" Target="../embeddings/oleObject3.bin"/><Relationship Id="rId3" Type="http://schemas.openxmlformats.org/officeDocument/2006/relationships/image" Target="../media/image172.png"/><Relationship Id="rId7" Type="http://schemas.openxmlformats.org/officeDocument/2006/relationships/image" Target="../media/image185.png"/><Relationship Id="rId1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212.png"/><Relationship Id="rId5" Type="http://schemas.openxmlformats.org/officeDocument/2006/relationships/image" Target="../media/image181.png"/><Relationship Id="rId10" Type="http://schemas.openxmlformats.org/officeDocument/2006/relationships/image" Target="../media/image211.png"/><Relationship Id="rId4" Type="http://schemas.openxmlformats.org/officeDocument/2006/relationships/image" Target="../media/image180.png"/><Relationship Id="rId9" Type="http://schemas.openxmlformats.org/officeDocument/2006/relationships/image" Target="../media/image210.png"/><Relationship Id="rId1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12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image" Target="../media/image217.png"/><Relationship Id="rId16" Type="http://schemas.openxmlformats.org/officeDocument/2006/relationships/image" Target="../media/image231.png"/><Relationship Id="rId20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19" Type="http://schemas.openxmlformats.org/officeDocument/2006/relationships/image" Target="../media/image234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42.png"/><Relationship Id="rId18" Type="http://schemas.openxmlformats.org/officeDocument/2006/relationships/image" Target="../media/image247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12" Type="http://schemas.openxmlformats.org/officeDocument/2006/relationships/image" Target="../media/image241.png"/><Relationship Id="rId17" Type="http://schemas.openxmlformats.org/officeDocument/2006/relationships/image" Target="../media/image246.png"/><Relationship Id="rId2" Type="http://schemas.openxmlformats.org/officeDocument/2006/relationships/image" Target="../media/image236.png"/><Relationship Id="rId16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11" Type="http://schemas.openxmlformats.org/officeDocument/2006/relationships/image" Target="../media/image240.png"/><Relationship Id="rId5" Type="http://schemas.openxmlformats.org/officeDocument/2006/relationships/image" Target="../media/image237.png"/><Relationship Id="rId15" Type="http://schemas.openxmlformats.org/officeDocument/2006/relationships/image" Target="../media/image244.png"/><Relationship Id="rId10" Type="http://schemas.openxmlformats.org/officeDocument/2006/relationships/image" Target="../media/image239.png"/><Relationship Id="rId19" Type="http://schemas.openxmlformats.org/officeDocument/2006/relationships/image" Target="../media/image248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42.png"/><Relationship Id="rId18" Type="http://schemas.openxmlformats.org/officeDocument/2006/relationships/image" Target="../media/image247.png"/><Relationship Id="rId3" Type="http://schemas.openxmlformats.org/officeDocument/2006/relationships/image" Target="../media/image250.png"/><Relationship Id="rId7" Type="http://schemas.openxmlformats.org/officeDocument/2006/relationships/image" Target="../media/image252.png"/><Relationship Id="rId12" Type="http://schemas.openxmlformats.org/officeDocument/2006/relationships/image" Target="../media/image254.png"/><Relationship Id="rId17" Type="http://schemas.openxmlformats.org/officeDocument/2006/relationships/image" Target="../media/image246.png"/><Relationship Id="rId2" Type="http://schemas.openxmlformats.org/officeDocument/2006/relationships/image" Target="../media/image249.png"/><Relationship Id="rId16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1" Type="http://schemas.openxmlformats.org/officeDocument/2006/relationships/image" Target="../media/image253.png"/><Relationship Id="rId5" Type="http://schemas.openxmlformats.org/officeDocument/2006/relationships/image" Target="../media/image219.png"/><Relationship Id="rId15" Type="http://schemas.openxmlformats.org/officeDocument/2006/relationships/image" Target="../media/image244.png"/><Relationship Id="rId10" Type="http://schemas.openxmlformats.org/officeDocument/2006/relationships/image" Target="../media/image224.png"/><Relationship Id="rId19" Type="http://schemas.openxmlformats.org/officeDocument/2006/relationships/image" Target="../media/image248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256.png"/><Relationship Id="rId7" Type="http://schemas.openxmlformats.org/officeDocument/2006/relationships/image" Target="../media/image258.png"/><Relationship Id="rId12" Type="http://schemas.openxmlformats.org/officeDocument/2006/relationships/image" Target="../media/image260.png"/><Relationship Id="rId17" Type="http://schemas.openxmlformats.org/officeDocument/2006/relationships/image" Target="../media/image232.png"/><Relationship Id="rId2" Type="http://schemas.openxmlformats.org/officeDocument/2006/relationships/image" Target="../media/image255.png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image" Target="../media/image259.png"/><Relationship Id="rId5" Type="http://schemas.openxmlformats.org/officeDocument/2006/relationships/image" Target="../media/image219.png"/><Relationship Id="rId15" Type="http://schemas.openxmlformats.org/officeDocument/2006/relationships/image" Target="../media/image230.png"/><Relationship Id="rId10" Type="http://schemas.openxmlformats.org/officeDocument/2006/relationships/image" Target="../media/image224.png"/><Relationship Id="rId19" Type="http://schemas.openxmlformats.org/officeDocument/2006/relationships/image" Target="../media/image234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330088" y="3877543"/>
            <a:ext cx="54938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一维搜索方法（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600" dirty="0"/>
              <a:t>二次插值法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2022年10月4日星期二</a:t>
            </a:fld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一维搜索方法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数值迭代法基本思想与迭代过程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一维搜索方法概述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>
                <a:solidFill>
                  <a:srgbClr val="FF0000"/>
                </a:solidFill>
              </a:rPr>
              <a:t>0.618</a:t>
            </a:r>
            <a:r>
              <a:rPr lang="zh-CN" altLang="en-US" b="0" dirty="0">
                <a:solidFill>
                  <a:srgbClr val="FF0000"/>
                </a:solidFill>
              </a:rPr>
              <a:t>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hlinkClick r:id="rId2" action="ppaction://hlinksldjump"/>
              </a:rPr>
              <a:t>二次插值法</a:t>
            </a: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A3E02-C3CA-63EE-CC40-D917CCFD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8AC5F8-C728-99B0-9FD7-05BA35F6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501BC1-24ED-B404-F7E2-871C7D93B94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90600" y="996220"/>
                <a:ext cx="7924800" cy="1769681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假设给定初始点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x=1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，初始化步长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h=1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，则对于函数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8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zh-CN" altLang="en-US" sz="2800" i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800" dirty="0"/>
                  <a:t>，采用进退法确定的单峰区间是（    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501BC1-24ED-B404-F7E2-871C7D93B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90600" y="996220"/>
                <a:ext cx="7924800" cy="1769681"/>
              </a:xfrm>
              <a:prstGeom prst="rect">
                <a:avLst/>
              </a:prstGeom>
              <a:blipFill>
                <a:blip r:embed="rId20"/>
                <a:stretch>
                  <a:fillRect l="-1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E1C3537-F64A-444F-0BF2-49B6C17527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81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[-1,2]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5818F3-4F09-F912-B324-33B0C8F0B65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81200" y="34718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[-1,1]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25B037-BCB9-B84F-FC39-94E6A510C9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81200" y="41576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[0,2]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764911-95B6-2907-1E0E-FA7D97176F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81200" y="48434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[0,1]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10F2016-51BE-4B45-B654-CD33C15CFA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287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891C36-93CC-AB6F-0BD8-19F3D3E758B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287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4DE8E5E-4A3B-6D64-AB8F-05BDC6A655D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287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0C9DD55-9FE4-7265-ADDC-F029000237B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287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1E2A18E-2F09-F642-0DAF-65F79DBED96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D15A035-22E2-CF45-A446-6FCBF840F78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DA1CFE05-4E67-5E9B-92B9-A072249AAC0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89C7250C-06F0-8A44-2706-ECB8566DDE4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393E2640-1113-E9A0-4429-04740B02669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95E9A445-7FDE-3D91-3FAD-DC2C980F8EB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5EEBAD5E-BC47-2A5D-1DDC-F045B676A2B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77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4825C-7EB0-4631-8A24-BB8F855B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768E0-9629-4722-9E96-EB8D0BD7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6B7E61-7AD4-44D5-B209-22A1FFEE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C4D679-0269-EA79-9DA2-1548D9B07DC8}"/>
                  </a:ext>
                </a:extLst>
              </p:cNvPr>
              <p:cNvSpPr txBox="1"/>
              <p:nvPr/>
            </p:nvSpPr>
            <p:spPr>
              <a:xfrm>
                <a:off x="5673080" y="39695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C4D679-0269-EA79-9DA2-1548D9B07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080" y="396959"/>
                <a:ext cx="352839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66CFC675-F1D2-C099-8705-8EC4EC6E5940}"/>
              </a:ext>
            </a:extLst>
          </p:cNvPr>
          <p:cNvSpPr txBox="1"/>
          <p:nvPr/>
        </p:nvSpPr>
        <p:spPr>
          <a:xfrm>
            <a:off x="1640632" y="467402"/>
            <a:ext cx="5049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初始点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x=1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，初始化步长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h=1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8727CC-20D9-9280-A5DF-E578028E1CBF}"/>
              </a:ext>
            </a:extLst>
          </p:cNvPr>
          <p:cNvSpPr txBox="1"/>
          <p:nvPr/>
        </p:nvSpPr>
        <p:spPr>
          <a:xfrm>
            <a:off x="401178" y="1263707"/>
            <a:ext cx="78983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a1=1,	a2=a1+h=1+1=2,	f1=0,	f2=13</a:t>
            </a:r>
          </a:p>
          <a:p>
            <a:r>
              <a:rPr lang="zh-CN" altLang="en-US" sz="2800" dirty="0"/>
              <a:t>因为</a:t>
            </a:r>
            <a:r>
              <a:rPr lang="en-US" altLang="zh-CN" sz="2800" dirty="0"/>
              <a:t> f1&lt;f2</a:t>
            </a:r>
            <a:r>
              <a:rPr lang="zh-CN" altLang="en-US" sz="2800" dirty="0"/>
              <a:t>，因此需要调换</a:t>
            </a:r>
            <a:r>
              <a:rPr lang="en-US" altLang="zh-CN" sz="2800" dirty="0"/>
              <a:t>a1</a:t>
            </a:r>
            <a:r>
              <a:rPr lang="zh-CN" altLang="en-US" sz="2800" dirty="0"/>
              <a:t>和</a:t>
            </a:r>
            <a:r>
              <a:rPr lang="en-US" altLang="zh-CN" sz="2800" dirty="0"/>
              <a:t>a2</a:t>
            </a:r>
          </a:p>
          <a:p>
            <a:r>
              <a:rPr lang="en-US" altLang="zh-CN" sz="2800" dirty="0"/>
              <a:t>a1=2, a2=1, f1=3, f2=0, h=-h=-1</a:t>
            </a:r>
          </a:p>
          <a:p>
            <a:r>
              <a:rPr lang="zh-CN" altLang="en-US" sz="2800" dirty="0"/>
              <a:t>计算</a:t>
            </a:r>
            <a:r>
              <a:rPr lang="en-US" altLang="zh-CN" sz="2800" dirty="0"/>
              <a:t>a3</a:t>
            </a:r>
            <a:r>
              <a:rPr lang="zh-CN" altLang="en-US" sz="2800" dirty="0"/>
              <a:t>和</a:t>
            </a:r>
            <a:r>
              <a:rPr lang="en-US" altLang="zh-CN" sz="2800" dirty="0"/>
              <a:t>f3</a:t>
            </a:r>
          </a:p>
          <a:p>
            <a:r>
              <a:rPr lang="en-US" altLang="zh-CN" sz="2800" dirty="0"/>
              <a:t>a3=a2+2h=1+2(-1)=-1, f3=4</a:t>
            </a:r>
          </a:p>
          <a:p>
            <a:r>
              <a:rPr lang="zh-CN" altLang="en-US" sz="2800" dirty="0"/>
              <a:t>因为</a:t>
            </a:r>
            <a:r>
              <a:rPr lang="en-US" altLang="zh-CN" sz="2800" dirty="0"/>
              <a:t>f3 &gt; f2 &lt; f1</a:t>
            </a:r>
            <a:r>
              <a:rPr lang="zh-CN" altLang="en-US" sz="2800" dirty="0"/>
              <a:t>，因此单峰区间找到，有因为</a:t>
            </a:r>
            <a:r>
              <a:rPr lang="en-US" altLang="zh-CN" sz="2800" dirty="0"/>
              <a:t>h&lt;0</a:t>
            </a:r>
          </a:p>
          <a:p>
            <a:r>
              <a:rPr lang="zh-CN" altLang="en-US" sz="2800" dirty="0"/>
              <a:t>因此，单峰区间为</a:t>
            </a:r>
            <a:r>
              <a:rPr lang="en-US" altLang="zh-CN" sz="2800" dirty="0"/>
              <a:t>[a3,a1]</a:t>
            </a:r>
            <a:r>
              <a:rPr lang="zh-CN" altLang="en-US" sz="2800" dirty="0"/>
              <a:t>，也就是</a:t>
            </a:r>
            <a:r>
              <a:rPr lang="en-US" altLang="zh-CN" sz="2800" dirty="0"/>
              <a:t>[-1,2]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8112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354FAA-9782-36BB-AE6B-812D0DB3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E1FADB-35A4-AE57-40BF-2C10AE63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A62748-8008-1BB0-4298-22B970495579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27212" y="826770"/>
                <a:ext cx="828288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假设用黄金分割法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(0.618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法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)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求解函数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/>
                  <a:t>的极小值，令初始化区间为</a:t>
                </a:r>
                <a:r>
                  <a:rPr lang="en-US" altLang="zh-CN" sz="2400" dirty="0"/>
                  <a:t>[-1,0]</a:t>
                </a:r>
                <a:r>
                  <a:rPr lang="zh-CN" altLang="en-US" sz="2400" dirty="0"/>
                  <a:t>，则请计算当进行第二轮迭代时的区间范围是（    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EA62748-8008-1BB0-4298-22B97049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627212" y="826770"/>
                <a:ext cx="8282880" cy="2143125"/>
              </a:xfrm>
              <a:prstGeom prst="rect">
                <a:avLst/>
              </a:prstGeom>
              <a:blipFill>
                <a:blip r:embed="rId20"/>
                <a:stretch>
                  <a:fillRect l="-1325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2568B7D-5DCF-CFEC-12FD-420710E85ED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81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[-0.618,0]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41CB96-CFA5-427A-4AC1-2BB4416DAEA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81200" y="36433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[-0.382,0]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38CF4-D0BE-5A4E-F1D6-DFC56A15F7A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81200" y="45005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[-1,-0.382]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6A460F-B884-BD09-E8D2-7818DD60E5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81200" y="53578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[-1,-0.618]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367104D-E332-94A8-9B58-680BEE6F797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287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E819C45-685A-4764-DCC8-EC052262069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287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65144AB-1A5B-A92E-1834-B5B3434D583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287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4E7BB8-5268-0FE6-9B57-785312DF18F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287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5FD756F-4938-9F64-CCED-464ADF55FDB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8A6374E-7963-0219-A354-1E4327D4A20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6F25D7F8-7C51-7709-13DE-7569AA05EE6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C558E7C9-662F-FCE5-7B0E-E4785A57645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BEA75675-FFE4-2669-7650-0D42EA66916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A097BE09-ECF6-516E-7FE0-0AAD2323184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AF07BF22-BBBF-FD2D-875D-AB6B7D3708A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307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4825C-7EB0-4631-8A24-BB8F855B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768E0-9629-4722-9E96-EB8D0BD7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6B7E61-7AD4-44D5-B209-22A1FFEE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CFC675-F1D2-C099-8705-8EC4EC6E5940}"/>
                  </a:ext>
                </a:extLst>
              </p:cNvPr>
              <p:cNvSpPr txBox="1"/>
              <p:nvPr/>
            </p:nvSpPr>
            <p:spPr>
              <a:xfrm>
                <a:off x="1856656" y="188640"/>
                <a:ext cx="770485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初始区间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[-1,0]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，黄金分割法求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/>
                  <a:t>在第二次迭代时的区间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CFC675-F1D2-C099-8705-8EC4EC6E5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656" y="188640"/>
                <a:ext cx="7704856" cy="830997"/>
              </a:xfrm>
              <a:prstGeom prst="rect">
                <a:avLst/>
              </a:prstGeom>
              <a:blipFill>
                <a:blip r:embed="rId2"/>
                <a:stretch>
                  <a:fillRect l="-1267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68727CC-20D9-9280-A5DF-E578028E1CBF}"/>
              </a:ext>
            </a:extLst>
          </p:cNvPr>
          <p:cNvSpPr txBox="1"/>
          <p:nvPr/>
        </p:nvSpPr>
        <p:spPr>
          <a:xfrm>
            <a:off x="401178" y="1263707"/>
            <a:ext cx="685155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k=1:</a:t>
            </a:r>
          </a:p>
          <a:p>
            <a:r>
              <a:rPr lang="en-US" altLang="zh-CN" sz="2800" dirty="0"/>
              <a:t>	a=-1,	b=0,	L=b-a=1</a:t>
            </a:r>
          </a:p>
          <a:p>
            <a:r>
              <a:rPr lang="en-US" altLang="zh-CN" sz="2800" dirty="0"/>
              <a:t>	x1=b-0.618L=-0.618</a:t>
            </a:r>
          </a:p>
          <a:p>
            <a:r>
              <a:rPr lang="en-US" altLang="zh-CN" sz="2800" dirty="0"/>
              <a:t>	x2=a+0.618L=-0.382</a:t>
            </a:r>
          </a:p>
          <a:p>
            <a:r>
              <a:rPr lang="en-US" altLang="zh-CN" sz="2800" dirty="0"/>
              <a:t>	f(x1) &lt; f(x2)</a:t>
            </a:r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因此，消去</a:t>
            </a:r>
            <a:r>
              <a:rPr lang="en-US" altLang="zh-CN" sz="2800" dirty="0"/>
              <a:t>[x2,b]</a:t>
            </a:r>
            <a:r>
              <a:rPr lang="zh-CN" altLang="en-US" sz="2800" dirty="0"/>
              <a:t>区间，</a:t>
            </a:r>
            <a:endParaRPr lang="en-US" altLang="zh-CN" sz="2800" dirty="0"/>
          </a:p>
          <a:p>
            <a:r>
              <a:rPr lang="en-US" altLang="zh-CN" sz="2800" dirty="0"/>
              <a:t>k=2:</a:t>
            </a:r>
          </a:p>
          <a:p>
            <a:r>
              <a:rPr lang="en-US" altLang="zh-CN" sz="2800" dirty="0"/>
              <a:t>	a=-1</a:t>
            </a:r>
            <a:r>
              <a:rPr lang="zh-CN" altLang="en-US" sz="2800" dirty="0"/>
              <a:t>，</a:t>
            </a:r>
            <a:r>
              <a:rPr lang="en-US" altLang="zh-CN" sz="2800" dirty="0"/>
              <a:t>b=x2=-0.382, x2=x1=-0.618</a:t>
            </a:r>
          </a:p>
          <a:p>
            <a:r>
              <a:rPr lang="zh-CN" altLang="en-US" sz="2800" dirty="0"/>
              <a:t>因此，当第二次迭代时，区间为</a:t>
            </a:r>
            <a:r>
              <a:rPr lang="en-US" altLang="zh-CN" sz="2800" dirty="0"/>
              <a:t>[-1,-0.382]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480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4825C-7EB0-4631-8A24-BB8F855B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3. 0.618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D689B4-8289-45E1-B00A-533C22F3CB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特点：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C00000"/>
                    </a:solidFill>
                  </a:rPr>
                  <a:t>等比例区间消去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2"/>
                <a:r>
                  <a:rPr lang="zh-CN" altLang="en-US" dirty="0"/>
                  <a:t>每次单峰区间缩短率相同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=0.618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>
                    <a:solidFill>
                      <a:srgbClr val="0000FF"/>
                    </a:solidFill>
                  </a:rPr>
                  <a:t>计算时间少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lvl="2"/>
                <a:r>
                  <a:rPr lang="zh-CN" altLang="en-US" dirty="0"/>
                  <a:t>每次都只需要计算一个新点及其函数值，另外一点利用上次迭代结果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7030A0"/>
                    </a:solidFill>
                  </a:rPr>
                  <a:t>方法简单，实用性强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zh-CN" altLang="en-US" dirty="0">
                    <a:solidFill>
                      <a:srgbClr val="CC3399"/>
                    </a:solidFill>
                  </a:rPr>
                  <a:t>收敛速度较慢</a:t>
                </a:r>
                <a:endParaRPr lang="en-US" altLang="zh-CN" dirty="0">
                  <a:solidFill>
                    <a:srgbClr val="CC3399"/>
                  </a:solidFill>
                </a:endParaRPr>
              </a:p>
              <a:p>
                <a:pPr lvl="2"/>
                <a:r>
                  <a:rPr lang="zh-CN" altLang="en-US" dirty="0"/>
                  <a:t>迭代过程与函数特性无关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D689B4-8289-45E1-B00A-533C22F3C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768E0-9629-4722-9E96-EB8D0BD7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6B7E61-7AD4-44D5-B209-22A1FFEE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72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241AB-649E-4631-816C-4DB48B6A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9D7CD-5A2E-47CE-A9A0-779B541C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zh-CN" altLang="en-US" dirty="0"/>
              <a:t>二次插值法属于插值法的一种（还有三次插值法等）：</a:t>
            </a:r>
            <a:endParaRPr lang="en-US" altLang="zh-CN" dirty="0"/>
          </a:p>
          <a:p>
            <a:pPr lvl="2"/>
            <a:r>
              <a:rPr lang="zh-CN" altLang="en-US" dirty="0"/>
              <a:t>方法特点是利用多项式</a:t>
            </a:r>
            <a:r>
              <a:rPr lang="zh-CN" altLang="en-US" dirty="0">
                <a:solidFill>
                  <a:srgbClr val="C00000"/>
                </a:solidFill>
              </a:rPr>
              <a:t>函数逼近</a:t>
            </a:r>
            <a:r>
              <a:rPr lang="zh-CN" altLang="en-US" dirty="0"/>
              <a:t>极值点</a:t>
            </a:r>
            <a:endParaRPr lang="en-US" altLang="zh-CN" dirty="0"/>
          </a:p>
          <a:p>
            <a:pPr lvl="3"/>
            <a:r>
              <a:rPr lang="zh-CN" altLang="en-US" dirty="0"/>
              <a:t>通过构造一个一元二次函数来实现极值点逼近</a:t>
            </a:r>
            <a:endParaRPr lang="en-US" altLang="zh-CN" dirty="0"/>
          </a:p>
          <a:p>
            <a:pPr lvl="2"/>
            <a:r>
              <a:rPr lang="zh-CN" altLang="en-US" dirty="0"/>
              <a:t>该方法操作简单、</a:t>
            </a:r>
            <a:r>
              <a:rPr lang="zh-CN" altLang="en-US" dirty="0">
                <a:solidFill>
                  <a:srgbClr val="0000FF"/>
                </a:solidFill>
              </a:rPr>
              <a:t>收敛速度快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5D026-D575-47AA-8BF8-98C55BC9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64A920-7092-473F-A9E8-6A87AFAB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510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15D2B5A-66BC-4A85-91B0-DE71618903F4}"/>
              </a:ext>
            </a:extLst>
          </p:cNvPr>
          <p:cNvCxnSpPr>
            <a:cxnSpLocks/>
          </p:cNvCxnSpPr>
          <p:nvPr/>
        </p:nvCxnSpPr>
        <p:spPr bwMode="auto">
          <a:xfrm>
            <a:off x="7019701" y="2946081"/>
            <a:ext cx="0" cy="21877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2BE241AB-649E-4631-816C-4DB48B6A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9D7CD-5A2E-47CE-A9A0-779B541C1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3"/>
            <a:ext cx="9719492" cy="720080"/>
          </a:xfrm>
        </p:spPr>
        <p:txBody>
          <a:bodyPr/>
          <a:lstStyle/>
          <a:p>
            <a:r>
              <a:rPr lang="zh-CN" altLang="en-US" dirty="0"/>
              <a:t>基本思想：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5D026-D575-47AA-8BF8-98C55BC9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64A920-7092-473F-A9E8-6A87AFAB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945893-8DC5-4915-B088-B471D5845423}"/>
                  </a:ext>
                </a:extLst>
              </p:cNvPr>
              <p:cNvSpPr txBox="1"/>
              <p:nvPr/>
            </p:nvSpPr>
            <p:spPr>
              <a:xfrm>
                <a:off x="122767" y="1922910"/>
                <a:ext cx="40398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的单峰区间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已经确定，在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之间取一点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对应的函数值分别为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945893-8DC5-4915-B088-B471D584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7" y="1922910"/>
                <a:ext cx="4039872" cy="1569660"/>
              </a:xfrm>
              <a:prstGeom prst="rect">
                <a:avLst/>
              </a:prstGeom>
              <a:blipFill>
                <a:blip r:embed="rId2"/>
                <a:stretch>
                  <a:fillRect l="-2262" t="-3101" b="-7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03C6DB5-FF54-43BC-B025-9798677C60C5}"/>
              </a:ext>
            </a:extLst>
          </p:cNvPr>
          <p:cNvCxnSpPr>
            <a:cxnSpLocks/>
          </p:cNvCxnSpPr>
          <p:nvPr/>
        </p:nvCxnSpPr>
        <p:spPr bwMode="auto">
          <a:xfrm>
            <a:off x="5276621" y="3184098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9A69B09-E08F-47B2-A603-B64381A8BC3F}"/>
              </a:ext>
            </a:extLst>
          </p:cNvPr>
          <p:cNvCxnSpPr>
            <a:cxnSpLocks/>
          </p:cNvCxnSpPr>
          <p:nvPr/>
        </p:nvCxnSpPr>
        <p:spPr bwMode="auto">
          <a:xfrm>
            <a:off x="5276621" y="2457682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06AB56A-2B3A-48C3-8D74-2776DA6341E4}"/>
              </a:ext>
            </a:extLst>
          </p:cNvPr>
          <p:cNvCxnSpPr>
            <a:cxnSpLocks/>
          </p:cNvCxnSpPr>
          <p:nvPr/>
        </p:nvCxnSpPr>
        <p:spPr bwMode="auto">
          <a:xfrm>
            <a:off x="8553400" y="1978810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5B58992-5FB1-4F69-BA08-E0B09FF5724C}"/>
                  </a:ext>
                </a:extLst>
              </p:cNvPr>
              <p:cNvSpPr txBox="1"/>
              <p:nvPr/>
            </p:nvSpPr>
            <p:spPr>
              <a:xfrm>
                <a:off x="5081137" y="3164853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5B58992-5FB1-4F69-BA08-E0B09FF5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37" y="3164853"/>
                <a:ext cx="390966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B85EF0E-9F86-4C7B-9AE7-7102DEF1B64B}"/>
              </a:ext>
            </a:extLst>
          </p:cNvPr>
          <p:cNvCxnSpPr>
            <a:cxnSpLocks/>
          </p:cNvCxnSpPr>
          <p:nvPr/>
        </p:nvCxnSpPr>
        <p:spPr bwMode="auto">
          <a:xfrm>
            <a:off x="6846999" y="2908500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B29A4C-70E2-46C1-B855-209DE82B5472}"/>
                  </a:ext>
                </a:extLst>
              </p:cNvPr>
              <p:cNvSpPr txBox="1"/>
              <p:nvPr/>
            </p:nvSpPr>
            <p:spPr>
              <a:xfrm>
                <a:off x="8391761" y="311869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B29A4C-70E2-46C1-B855-209DE82B5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761" y="3118699"/>
                <a:ext cx="418083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D177F2F-5F0A-4543-9589-864368D637BE}"/>
                  </a:ext>
                </a:extLst>
              </p:cNvPr>
              <p:cNvSpPr txBox="1"/>
              <p:nvPr/>
            </p:nvSpPr>
            <p:spPr>
              <a:xfrm>
                <a:off x="6600379" y="3147424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D177F2F-5F0A-4543-9589-864368D63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379" y="3147424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06689B-3264-4806-9826-C0AE0B205EF4}"/>
                  </a:ext>
                </a:extLst>
              </p:cNvPr>
              <p:cNvSpPr txBox="1"/>
              <p:nvPr/>
            </p:nvSpPr>
            <p:spPr>
              <a:xfrm>
                <a:off x="6540255" y="248296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06689B-3264-4806-9826-C0AE0B205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55" y="2482969"/>
                <a:ext cx="388144" cy="400110"/>
              </a:xfrm>
              <a:prstGeom prst="rect">
                <a:avLst/>
              </a:prstGeom>
              <a:blipFill>
                <a:blip r:embed="rId6"/>
                <a:stretch>
                  <a:fillRect l="-781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B94955A-937E-4FDE-86E2-82FB874E0955}"/>
                  </a:ext>
                </a:extLst>
              </p:cNvPr>
              <p:cNvSpPr txBox="1"/>
              <p:nvPr/>
            </p:nvSpPr>
            <p:spPr>
              <a:xfrm>
                <a:off x="5232986" y="26593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B94955A-937E-4FDE-86E2-82FB874E0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986" y="2659384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EAD89EC-357F-432C-97F1-D316335E5CF0}"/>
                  </a:ext>
                </a:extLst>
              </p:cNvPr>
              <p:cNvSpPr txBox="1"/>
              <p:nvPr/>
            </p:nvSpPr>
            <p:spPr>
              <a:xfrm>
                <a:off x="4999764" y="187802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EAD89EC-357F-432C-97F1-D316335E5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64" y="1878026"/>
                <a:ext cx="679162" cy="400110"/>
              </a:xfrm>
              <a:prstGeom prst="rect">
                <a:avLst/>
              </a:prstGeom>
              <a:blipFill>
                <a:blip r:embed="rId8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E3AC04A6-C1D9-4CC9-B200-1973D8299401}"/>
              </a:ext>
            </a:extLst>
          </p:cNvPr>
          <p:cNvSpPr/>
          <p:nvPr/>
        </p:nvSpPr>
        <p:spPr bwMode="auto">
          <a:xfrm>
            <a:off x="5069226" y="1771650"/>
            <a:ext cx="3801723" cy="117443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4F03065-8204-4AE4-8512-031D72FF1990}"/>
                  </a:ext>
                </a:extLst>
              </p:cNvPr>
              <p:cNvSpPr txBox="1"/>
              <p:nvPr/>
            </p:nvSpPr>
            <p:spPr>
              <a:xfrm>
                <a:off x="8174609" y="253807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4F03065-8204-4AE4-8512-031D72FF1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609" y="2538079"/>
                <a:ext cx="388144" cy="400110"/>
              </a:xfrm>
              <a:prstGeom prst="rect">
                <a:avLst/>
              </a:prstGeom>
              <a:blipFill>
                <a:blip r:embed="rId9"/>
                <a:stretch>
                  <a:fillRect l="-781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椭圆 34">
            <a:extLst>
              <a:ext uri="{FF2B5EF4-FFF2-40B4-BE49-F238E27FC236}">
                <a16:creationId xmlns:a16="http://schemas.microsoft.com/office/drawing/2014/main" id="{DBB42084-A122-4413-8B45-C223CDB0E759}"/>
              </a:ext>
            </a:extLst>
          </p:cNvPr>
          <p:cNvSpPr/>
          <p:nvPr/>
        </p:nvSpPr>
        <p:spPr bwMode="auto">
          <a:xfrm>
            <a:off x="6590556" y="2924944"/>
            <a:ext cx="72008" cy="6523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08089F-69B8-4401-9436-2C3A7BFD1735}"/>
                  </a:ext>
                </a:extLst>
              </p:cNvPr>
              <p:cNvSpPr txBox="1"/>
              <p:nvPr/>
            </p:nvSpPr>
            <p:spPr>
              <a:xfrm>
                <a:off x="122766" y="4012294"/>
                <a:ext cx="8916872" cy="1996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构造一个过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dirty="0"/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的一元二次函数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240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获取函数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的极值点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 。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比较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的值，进行区间消去（缩小）</a:t>
                </a:r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反复迭代，直到满足收敛精度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08089F-69B8-4401-9436-2C3A7BFD1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6" y="4012294"/>
                <a:ext cx="8916872" cy="1996059"/>
              </a:xfrm>
              <a:prstGeom prst="rect">
                <a:avLst/>
              </a:prstGeom>
              <a:blipFill>
                <a:blip r:embed="rId10"/>
                <a:stretch>
                  <a:fillRect l="-1230" t="-4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2EE12E2B-6C8B-4B68-8398-BC18B022C243}"/>
              </a:ext>
            </a:extLst>
          </p:cNvPr>
          <p:cNvSpPr/>
          <p:nvPr/>
        </p:nvSpPr>
        <p:spPr bwMode="auto">
          <a:xfrm rot="21037692">
            <a:off x="5052213" y="1969880"/>
            <a:ext cx="3934976" cy="966705"/>
          </a:xfrm>
          <a:custGeom>
            <a:avLst/>
            <a:gdLst>
              <a:gd name="connsiteX0" fmla="*/ 0 w 6553200"/>
              <a:gd name="connsiteY0" fmla="*/ 0 h 753595"/>
              <a:gd name="connsiteX1" fmla="*/ 3293534 w 6553200"/>
              <a:gd name="connsiteY1" fmla="*/ 753534 h 753595"/>
              <a:gd name="connsiteX2" fmla="*/ 6553200 w 6553200"/>
              <a:gd name="connsiteY2" fmla="*/ 42334 h 753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753595">
                <a:moveTo>
                  <a:pt x="0" y="0"/>
                </a:moveTo>
                <a:cubicBezTo>
                  <a:pt x="1100667" y="373239"/>
                  <a:pt x="2201334" y="746478"/>
                  <a:pt x="3293534" y="753534"/>
                </a:cubicBezTo>
                <a:cubicBezTo>
                  <a:pt x="4385734" y="760590"/>
                  <a:pt x="6029678" y="158045"/>
                  <a:pt x="6553200" y="42334"/>
                </a:cubicBezTo>
              </a:path>
            </a:pathLst>
          </a:custGeom>
          <a:noFill/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99B6221A-3473-442E-8FAE-DCCE74568C90}"/>
              </a:ext>
            </a:extLst>
          </p:cNvPr>
          <p:cNvSpPr/>
          <p:nvPr/>
        </p:nvSpPr>
        <p:spPr bwMode="auto">
          <a:xfrm>
            <a:off x="6983697" y="2915809"/>
            <a:ext cx="72008" cy="65237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81A6E35-2325-4A14-974B-6A350A70583D}"/>
                  </a:ext>
                </a:extLst>
              </p:cNvPr>
              <p:cNvSpPr txBox="1"/>
              <p:nvPr/>
            </p:nvSpPr>
            <p:spPr>
              <a:xfrm>
                <a:off x="6862448" y="3138289"/>
                <a:ext cx="57187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81A6E35-2325-4A14-974B-6A350A705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448" y="3138289"/>
                <a:ext cx="571870" cy="423770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B3C6A7B-F06A-44F2-9560-38335C794A5C}"/>
                  </a:ext>
                </a:extLst>
              </p:cNvPr>
              <p:cNvSpPr txBox="1"/>
              <p:nvPr/>
            </p:nvSpPr>
            <p:spPr>
              <a:xfrm>
                <a:off x="8531368" y="129233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B3C6A7B-F06A-44F2-9560-38335C794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368" y="1292336"/>
                <a:ext cx="679162" cy="400110"/>
              </a:xfrm>
              <a:prstGeom prst="rect">
                <a:avLst/>
              </a:prstGeom>
              <a:blipFill>
                <a:blip r:embed="rId12"/>
                <a:stretch>
                  <a:fillRect r="-450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85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8" grpId="0"/>
      <p:bldP spid="19" grpId="0"/>
      <p:bldP spid="22" grpId="0"/>
      <p:bldP spid="23" grpId="0"/>
      <p:bldP spid="26" grpId="0"/>
      <p:bldP spid="33" grpId="0" animBg="1"/>
      <p:bldP spid="34" grpId="0"/>
      <p:bldP spid="35" grpId="0" animBg="1"/>
      <p:bldP spid="36" grpId="0"/>
      <p:bldP spid="39" grpId="0" animBg="1"/>
      <p:bldP spid="40" grpId="0" animBg="1"/>
      <p:bldP spid="44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2D719-1C72-4337-9929-733141A3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原理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3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dirty="0"/>
                  <a:t>的计算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4500C-31FC-48F0-8146-F0AB656B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076B4A-B181-4F5B-A54E-BC57C454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5A0C3B8-1320-4739-B507-EFB175D76325}"/>
              </a:ext>
            </a:extLst>
          </p:cNvPr>
          <p:cNvCxnSpPr>
            <a:cxnSpLocks/>
          </p:cNvCxnSpPr>
          <p:nvPr/>
        </p:nvCxnSpPr>
        <p:spPr bwMode="auto">
          <a:xfrm>
            <a:off x="7514699" y="2946081"/>
            <a:ext cx="0" cy="21877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522AC0-45C7-4D2D-B568-C8E5EE9ACB46}"/>
              </a:ext>
            </a:extLst>
          </p:cNvPr>
          <p:cNvCxnSpPr>
            <a:cxnSpLocks/>
          </p:cNvCxnSpPr>
          <p:nvPr/>
        </p:nvCxnSpPr>
        <p:spPr bwMode="auto">
          <a:xfrm>
            <a:off x="5771619" y="3184098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95AC1F-5C12-4EC3-8F9C-E14809662164}"/>
              </a:ext>
            </a:extLst>
          </p:cNvPr>
          <p:cNvCxnSpPr>
            <a:cxnSpLocks/>
          </p:cNvCxnSpPr>
          <p:nvPr/>
        </p:nvCxnSpPr>
        <p:spPr bwMode="auto">
          <a:xfrm>
            <a:off x="5771619" y="2457682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AEC085-23A7-4A8A-BD66-C124E24FA016}"/>
              </a:ext>
            </a:extLst>
          </p:cNvPr>
          <p:cNvCxnSpPr>
            <a:cxnSpLocks/>
          </p:cNvCxnSpPr>
          <p:nvPr/>
        </p:nvCxnSpPr>
        <p:spPr bwMode="auto">
          <a:xfrm>
            <a:off x="9048398" y="1978810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/>
              <p:nvPr/>
            </p:nvSpPr>
            <p:spPr>
              <a:xfrm>
                <a:off x="5576135" y="3164853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135" y="3164853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D2B3F46-9E19-4C86-B686-26740E14AE36}"/>
              </a:ext>
            </a:extLst>
          </p:cNvPr>
          <p:cNvCxnSpPr>
            <a:cxnSpLocks/>
          </p:cNvCxnSpPr>
          <p:nvPr/>
        </p:nvCxnSpPr>
        <p:spPr bwMode="auto">
          <a:xfrm>
            <a:off x="7341997" y="2908500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/>
              <p:nvPr/>
            </p:nvSpPr>
            <p:spPr>
              <a:xfrm>
                <a:off x="8886759" y="311869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759" y="3118699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/>
              <p:nvPr/>
            </p:nvSpPr>
            <p:spPr>
              <a:xfrm>
                <a:off x="7095377" y="3147424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377" y="3147424"/>
                <a:ext cx="418083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/>
              <p:nvPr/>
            </p:nvSpPr>
            <p:spPr>
              <a:xfrm>
                <a:off x="7035253" y="248296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253" y="2482969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/>
              <p:nvPr/>
            </p:nvSpPr>
            <p:spPr>
              <a:xfrm>
                <a:off x="5727984" y="26593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84" y="2659384"/>
                <a:ext cx="388144" cy="400110"/>
              </a:xfrm>
              <a:prstGeom prst="rect">
                <a:avLst/>
              </a:prstGeom>
              <a:blipFill>
                <a:blip r:embed="rId8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/>
              <p:nvPr/>
            </p:nvSpPr>
            <p:spPr>
              <a:xfrm>
                <a:off x="5494762" y="187802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62" y="1878026"/>
                <a:ext cx="679162" cy="400110"/>
              </a:xfrm>
              <a:prstGeom prst="rect">
                <a:avLst/>
              </a:prstGeom>
              <a:blipFill>
                <a:blip r:embed="rId9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BF26A2F-9C98-4215-A0AE-502A99EF8EB4}"/>
              </a:ext>
            </a:extLst>
          </p:cNvPr>
          <p:cNvSpPr/>
          <p:nvPr/>
        </p:nvSpPr>
        <p:spPr bwMode="auto">
          <a:xfrm>
            <a:off x="5564224" y="1771650"/>
            <a:ext cx="3801723" cy="117443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/>
              <p:nvPr/>
            </p:nvSpPr>
            <p:spPr>
              <a:xfrm>
                <a:off x="8669607" y="253807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607" y="2538079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6BE7CEF9-03DA-4403-8FE7-4ADFA4E7590F}"/>
              </a:ext>
            </a:extLst>
          </p:cNvPr>
          <p:cNvSpPr/>
          <p:nvPr/>
        </p:nvSpPr>
        <p:spPr bwMode="auto">
          <a:xfrm>
            <a:off x="7085554" y="2924944"/>
            <a:ext cx="72008" cy="6523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90FF963-A9B6-4D7D-8C2C-926B0BCCAACF}"/>
              </a:ext>
            </a:extLst>
          </p:cNvPr>
          <p:cNvSpPr/>
          <p:nvPr/>
        </p:nvSpPr>
        <p:spPr bwMode="auto">
          <a:xfrm rot="21037692">
            <a:off x="5547211" y="1969880"/>
            <a:ext cx="3934976" cy="966705"/>
          </a:xfrm>
          <a:custGeom>
            <a:avLst/>
            <a:gdLst>
              <a:gd name="connsiteX0" fmla="*/ 0 w 6553200"/>
              <a:gd name="connsiteY0" fmla="*/ 0 h 753595"/>
              <a:gd name="connsiteX1" fmla="*/ 3293534 w 6553200"/>
              <a:gd name="connsiteY1" fmla="*/ 753534 h 753595"/>
              <a:gd name="connsiteX2" fmla="*/ 6553200 w 6553200"/>
              <a:gd name="connsiteY2" fmla="*/ 42334 h 753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753595">
                <a:moveTo>
                  <a:pt x="0" y="0"/>
                </a:moveTo>
                <a:cubicBezTo>
                  <a:pt x="1100667" y="373239"/>
                  <a:pt x="2201334" y="746478"/>
                  <a:pt x="3293534" y="753534"/>
                </a:cubicBezTo>
                <a:cubicBezTo>
                  <a:pt x="4385734" y="760590"/>
                  <a:pt x="6029678" y="158045"/>
                  <a:pt x="6553200" y="42334"/>
                </a:cubicBezTo>
              </a:path>
            </a:pathLst>
          </a:custGeom>
          <a:noFill/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229BB3B-CAB9-4780-9E5B-3A5A80C628A6}"/>
              </a:ext>
            </a:extLst>
          </p:cNvPr>
          <p:cNvSpPr/>
          <p:nvPr/>
        </p:nvSpPr>
        <p:spPr bwMode="auto">
          <a:xfrm>
            <a:off x="7478695" y="2915809"/>
            <a:ext cx="72008" cy="65237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/>
              <p:nvPr/>
            </p:nvSpPr>
            <p:spPr>
              <a:xfrm>
                <a:off x="7357446" y="3138289"/>
                <a:ext cx="57187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446" y="3138289"/>
                <a:ext cx="571870" cy="423770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/>
              <p:nvPr/>
            </p:nvSpPr>
            <p:spPr>
              <a:xfrm>
                <a:off x="9026366" y="129233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366" y="1292336"/>
                <a:ext cx="679162" cy="400110"/>
              </a:xfrm>
              <a:prstGeom prst="rect">
                <a:avLst/>
              </a:prstGeom>
              <a:blipFill>
                <a:blip r:embed="rId12"/>
                <a:stretch>
                  <a:fillRect r="-450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0AF08C9-8070-450C-B8A3-9EE1AC7FD591}"/>
                  </a:ext>
                </a:extLst>
              </p:cNvPr>
              <p:cNvSpPr txBox="1"/>
              <p:nvPr/>
            </p:nvSpPr>
            <p:spPr>
              <a:xfrm>
                <a:off x="68401" y="2587068"/>
                <a:ext cx="5658344" cy="3814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都过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dirty="0"/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对应的三个点。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极值点根据抛物线公式可求出：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解式</a:t>
                </a:r>
                <a:r>
                  <a:rPr lang="en-US" altLang="zh-CN" sz="2400" dirty="0"/>
                  <a:t>(1)</a:t>
                </a:r>
                <a:r>
                  <a:rPr lang="zh-CN" altLang="en-US" sz="2400" dirty="0"/>
                  <a:t>的方程组，求出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，带入式子</a:t>
                </a:r>
                <a:r>
                  <a:rPr lang="en-US" altLang="zh-CN" sz="2400" dirty="0"/>
                  <a:t>(2)</a:t>
                </a:r>
                <a:r>
                  <a:rPr lang="zh-CN" altLang="en-US" sz="2400" dirty="0"/>
                  <a:t>，得到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0AF08C9-8070-450C-B8A3-9EE1AC7FD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1" y="2587068"/>
                <a:ext cx="5658344" cy="3814186"/>
              </a:xfrm>
              <a:prstGeom prst="rect">
                <a:avLst/>
              </a:prstGeom>
              <a:blipFill>
                <a:blip r:embed="rId13"/>
                <a:stretch>
                  <a:fillRect l="-1940" t="-2236" r="-1293" b="-1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79C0B52-A62A-4E77-BD48-B9AD70601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972857"/>
              </p:ext>
            </p:extLst>
          </p:nvPr>
        </p:nvGraphicFramePr>
        <p:xfrm>
          <a:off x="495443" y="3318754"/>
          <a:ext cx="4312600" cy="159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280" imgH="558720" progId="Equation.DSMT4">
                  <p:embed/>
                </p:oleObj>
              </mc:Choice>
              <mc:Fallback>
                <p:oleObj name="Equation" r:id="rId14" imgW="15112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95443" y="3318754"/>
                        <a:ext cx="4312600" cy="159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C5757BF-84ED-480D-B841-48393A767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303244"/>
              </p:ext>
            </p:extLst>
          </p:nvPr>
        </p:nvGraphicFramePr>
        <p:xfrm>
          <a:off x="5419725" y="4574414"/>
          <a:ext cx="13779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20560" imgH="317160" progId="Equation.DSMT4">
                  <p:embed/>
                </p:oleObj>
              </mc:Choice>
              <mc:Fallback>
                <p:oleObj name="Equation" r:id="rId16" imgW="520560" imgH="3171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879C0B52-A62A-4E77-BD48-B9AD70601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19725" y="4574414"/>
                        <a:ext cx="1377950" cy="84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6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19" grpId="0" animBg="1"/>
      <p:bldP spid="20" grpId="0" animBg="1"/>
      <p:bldP spid="21" grpId="0" animBg="1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2D719-1C72-4337-9929-733141A3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原理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3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dirty="0"/>
                  <a:t>的计算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4500C-31FC-48F0-8146-F0AB656B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076B4A-B181-4F5B-A54E-BC57C454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5A0C3B8-1320-4739-B507-EFB175D76325}"/>
              </a:ext>
            </a:extLst>
          </p:cNvPr>
          <p:cNvCxnSpPr>
            <a:cxnSpLocks/>
          </p:cNvCxnSpPr>
          <p:nvPr/>
        </p:nvCxnSpPr>
        <p:spPr bwMode="auto">
          <a:xfrm>
            <a:off x="7404984" y="1862844"/>
            <a:ext cx="0" cy="21877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522AC0-45C7-4D2D-B568-C8E5EE9ACB46}"/>
              </a:ext>
            </a:extLst>
          </p:cNvPr>
          <p:cNvCxnSpPr>
            <a:cxnSpLocks/>
          </p:cNvCxnSpPr>
          <p:nvPr/>
        </p:nvCxnSpPr>
        <p:spPr bwMode="auto">
          <a:xfrm>
            <a:off x="5661904" y="2100861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95AC1F-5C12-4EC3-8F9C-E14809662164}"/>
              </a:ext>
            </a:extLst>
          </p:cNvPr>
          <p:cNvCxnSpPr>
            <a:cxnSpLocks/>
          </p:cNvCxnSpPr>
          <p:nvPr/>
        </p:nvCxnSpPr>
        <p:spPr bwMode="auto">
          <a:xfrm>
            <a:off x="5661904" y="1374445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AEC085-23A7-4A8A-BD66-C124E24FA016}"/>
              </a:ext>
            </a:extLst>
          </p:cNvPr>
          <p:cNvCxnSpPr>
            <a:cxnSpLocks/>
          </p:cNvCxnSpPr>
          <p:nvPr/>
        </p:nvCxnSpPr>
        <p:spPr bwMode="auto">
          <a:xfrm>
            <a:off x="8938683" y="895573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/>
              <p:nvPr/>
            </p:nvSpPr>
            <p:spPr>
              <a:xfrm>
                <a:off x="5466420" y="2081616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420" y="2081616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D2B3F46-9E19-4C86-B686-26740E14AE36}"/>
              </a:ext>
            </a:extLst>
          </p:cNvPr>
          <p:cNvCxnSpPr>
            <a:cxnSpLocks/>
          </p:cNvCxnSpPr>
          <p:nvPr/>
        </p:nvCxnSpPr>
        <p:spPr bwMode="auto">
          <a:xfrm>
            <a:off x="7232282" y="1825263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/>
              <p:nvPr/>
            </p:nvSpPr>
            <p:spPr>
              <a:xfrm>
                <a:off x="8777044" y="2035462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044" y="2035462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/>
              <p:nvPr/>
            </p:nvSpPr>
            <p:spPr>
              <a:xfrm>
                <a:off x="6985662" y="206418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662" y="2064187"/>
                <a:ext cx="418083" cy="400110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/>
              <p:nvPr/>
            </p:nvSpPr>
            <p:spPr>
              <a:xfrm>
                <a:off x="6925538" y="139973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538" y="1399732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/>
              <p:nvPr/>
            </p:nvSpPr>
            <p:spPr>
              <a:xfrm>
                <a:off x="5618269" y="1576147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269" y="1576147"/>
                <a:ext cx="388144" cy="400110"/>
              </a:xfrm>
              <a:prstGeom prst="rect">
                <a:avLst/>
              </a:prstGeom>
              <a:blipFill>
                <a:blip r:embed="rId8"/>
                <a:stretch>
                  <a:fillRect l="-7937" r="-158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/>
              <p:nvPr/>
            </p:nvSpPr>
            <p:spPr>
              <a:xfrm>
                <a:off x="5385047" y="794789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047" y="794789"/>
                <a:ext cx="679162" cy="400110"/>
              </a:xfrm>
              <a:prstGeom prst="rect">
                <a:avLst/>
              </a:prstGeom>
              <a:blipFill>
                <a:blip r:embed="rId9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BF26A2F-9C98-4215-A0AE-502A99EF8EB4}"/>
              </a:ext>
            </a:extLst>
          </p:cNvPr>
          <p:cNvSpPr/>
          <p:nvPr/>
        </p:nvSpPr>
        <p:spPr bwMode="auto">
          <a:xfrm>
            <a:off x="5454509" y="688413"/>
            <a:ext cx="3801723" cy="117443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/>
              <p:nvPr/>
            </p:nvSpPr>
            <p:spPr>
              <a:xfrm>
                <a:off x="8559892" y="145484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92" y="1454842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6BE7CEF9-03DA-4403-8FE7-4ADFA4E7590F}"/>
              </a:ext>
            </a:extLst>
          </p:cNvPr>
          <p:cNvSpPr/>
          <p:nvPr/>
        </p:nvSpPr>
        <p:spPr bwMode="auto">
          <a:xfrm>
            <a:off x="6975839" y="1841707"/>
            <a:ext cx="72008" cy="6523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90FF963-A9B6-4D7D-8C2C-926B0BCCAACF}"/>
              </a:ext>
            </a:extLst>
          </p:cNvPr>
          <p:cNvSpPr/>
          <p:nvPr/>
        </p:nvSpPr>
        <p:spPr bwMode="auto">
          <a:xfrm rot="21037692">
            <a:off x="5437496" y="886643"/>
            <a:ext cx="3934976" cy="966705"/>
          </a:xfrm>
          <a:custGeom>
            <a:avLst/>
            <a:gdLst>
              <a:gd name="connsiteX0" fmla="*/ 0 w 6553200"/>
              <a:gd name="connsiteY0" fmla="*/ 0 h 753595"/>
              <a:gd name="connsiteX1" fmla="*/ 3293534 w 6553200"/>
              <a:gd name="connsiteY1" fmla="*/ 753534 h 753595"/>
              <a:gd name="connsiteX2" fmla="*/ 6553200 w 6553200"/>
              <a:gd name="connsiteY2" fmla="*/ 42334 h 753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753595">
                <a:moveTo>
                  <a:pt x="0" y="0"/>
                </a:moveTo>
                <a:cubicBezTo>
                  <a:pt x="1100667" y="373239"/>
                  <a:pt x="2201334" y="746478"/>
                  <a:pt x="3293534" y="753534"/>
                </a:cubicBezTo>
                <a:cubicBezTo>
                  <a:pt x="4385734" y="760590"/>
                  <a:pt x="6029678" y="158045"/>
                  <a:pt x="6553200" y="42334"/>
                </a:cubicBezTo>
              </a:path>
            </a:pathLst>
          </a:custGeom>
          <a:noFill/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229BB3B-CAB9-4780-9E5B-3A5A80C628A6}"/>
              </a:ext>
            </a:extLst>
          </p:cNvPr>
          <p:cNvSpPr/>
          <p:nvPr/>
        </p:nvSpPr>
        <p:spPr bwMode="auto">
          <a:xfrm>
            <a:off x="7368980" y="1832572"/>
            <a:ext cx="72008" cy="65237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/>
              <p:nvPr/>
            </p:nvSpPr>
            <p:spPr>
              <a:xfrm>
                <a:off x="7247731" y="2055052"/>
                <a:ext cx="57187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31" y="2055052"/>
                <a:ext cx="571870" cy="423770"/>
              </a:xfrm>
              <a:prstGeom prst="rect">
                <a:avLst/>
              </a:prstGeom>
              <a:blipFill>
                <a:blip r:embed="rId1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/>
              <p:nvPr/>
            </p:nvSpPr>
            <p:spPr>
              <a:xfrm>
                <a:off x="8916651" y="209099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651" y="209099"/>
                <a:ext cx="679162" cy="400110"/>
              </a:xfrm>
              <a:prstGeom prst="rect">
                <a:avLst/>
              </a:prstGeom>
              <a:blipFill>
                <a:blip r:embed="rId12"/>
                <a:stretch>
                  <a:fillRect r="-450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EC3CF2F-ED78-4059-8B22-8305DC723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891474"/>
              </p:ext>
            </p:extLst>
          </p:nvPr>
        </p:nvGraphicFramePr>
        <p:xfrm>
          <a:off x="532063" y="3356992"/>
          <a:ext cx="8724169" cy="147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760" imgH="393480" progId="Equation.DSMT4">
                  <p:embed/>
                </p:oleObj>
              </mc:Choice>
              <mc:Fallback>
                <p:oleObj name="Equation" r:id="rId13" imgW="2336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2063" y="3356992"/>
                        <a:ext cx="8724169" cy="147119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40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2D719-1C72-4337-9929-733141A3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原理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区间缩短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比较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baseline="-25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的大小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令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dirty="0"/>
                  <a:t>分以下四种情况：</a:t>
                </a:r>
                <a:endParaRPr lang="en-US" altLang="zh-CN" dirty="0"/>
              </a:p>
              <a:p>
                <a:pPr lvl="4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pPr lvl="4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pPr lvl="4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pPr lvl="4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pPr lvl="4"/>
                <a:endParaRPr lang="en-US" altLang="zh-CN" dirty="0"/>
              </a:p>
              <a:p>
                <a:pPr lvl="4"/>
                <a:endParaRPr lang="en-US" altLang="zh-CN" dirty="0"/>
              </a:p>
              <a:p>
                <a:pPr lvl="4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E7AF08-75C8-4995-B0AD-6965DE366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4500C-31FC-48F0-8146-F0AB656B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076B4A-B181-4F5B-A54E-BC57C454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5A0C3B8-1320-4739-B507-EFB175D76325}"/>
              </a:ext>
            </a:extLst>
          </p:cNvPr>
          <p:cNvCxnSpPr>
            <a:cxnSpLocks/>
          </p:cNvCxnSpPr>
          <p:nvPr/>
        </p:nvCxnSpPr>
        <p:spPr bwMode="auto">
          <a:xfrm>
            <a:off x="7513460" y="2852936"/>
            <a:ext cx="1239" cy="31191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522AC0-45C7-4D2D-B568-C8E5EE9ACB46}"/>
              </a:ext>
            </a:extLst>
          </p:cNvPr>
          <p:cNvCxnSpPr>
            <a:cxnSpLocks/>
          </p:cNvCxnSpPr>
          <p:nvPr/>
        </p:nvCxnSpPr>
        <p:spPr bwMode="auto">
          <a:xfrm>
            <a:off x="5771619" y="3184098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95AC1F-5C12-4EC3-8F9C-E14809662164}"/>
              </a:ext>
            </a:extLst>
          </p:cNvPr>
          <p:cNvCxnSpPr>
            <a:cxnSpLocks/>
          </p:cNvCxnSpPr>
          <p:nvPr/>
        </p:nvCxnSpPr>
        <p:spPr bwMode="auto">
          <a:xfrm>
            <a:off x="5771619" y="2457682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AEC085-23A7-4A8A-BD66-C124E24FA016}"/>
              </a:ext>
            </a:extLst>
          </p:cNvPr>
          <p:cNvCxnSpPr>
            <a:cxnSpLocks/>
          </p:cNvCxnSpPr>
          <p:nvPr/>
        </p:nvCxnSpPr>
        <p:spPr bwMode="auto">
          <a:xfrm>
            <a:off x="9048398" y="1978810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/>
              <p:nvPr/>
            </p:nvSpPr>
            <p:spPr>
              <a:xfrm>
                <a:off x="5576135" y="3164853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D2B5D3-AB9E-4652-9943-FD922231C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135" y="3164853"/>
                <a:ext cx="390966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D2B3F46-9E19-4C86-B686-26740E14AE36}"/>
              </a:ext>
            </a:extLst>
          </p:cNvPr>
          <p:cNvCxnSpPr>
            <a:cxnSpLocks/>
          </p:cNvCxnSpPr>
          <p:nvPr/>
        </p:nvCxnSpPr>
        <p:spPr bwMode="auto">
          <a:xfrm>
            <a:off x="7341997" y="2908500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/>
              <p:nvPr/>
            </p:nvSpPr>
            <p:spPr>
              <a:xfrm>
                <a:off x="8886759" y="3118699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88E5C9-5AFB-4113-8CEA-76737DE2A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759" y="3118699"/>
                <a:ext cx="418083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/>
              <p:nvPr/>
            </p:nvSpPr>
            <p:spPr>
              <a:xfrm>
                <a:off x="7095377" y="3147424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88731C-FFE5-405B-8BC1-F20450506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377" y="3147424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/>
              <p:nvPr/>
            </p:nvSpPr>
            <p:spPr>
              <a:xfrm>
                <a:off x="7035253" y="248296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C3F08A-CA3B-438D-B617-85E804E9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253" y="2482969"/>
                <a:ext cx="388144" cy="400110"/>
              </a:xfrm>
              <a:prstGeom prst="rect">
                <a:avLst/>
              </a:prstGeom>
              <a:blipFill>
                <a:blip r:embed="rId6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/>
              <p:nvPr/>
            </p:nvSpPr>
            <p:spPr>
              <a:xfrm>
                <a:off x="5727984" y="26593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69500D-0F3E-474F-9DB9-1B7279F4A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84" y="2659384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/>
              <p:nvPr/>
            </p:nvSpPr>
            <p:spPr>
              <a:xfrm>
                <a:off x="5494762" y="187802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88113-4C3B-4BF0-8822-3D3CDB3B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62" y="1878026"/>
                <a:ext cx="679162" cy="400110"/>
              </a:xfrm>
              <a:prstGeom prst="rect">
                <a:avLst/>
              </a:prstGeom>
              <a:blipFill>
                <a:blip r:embed="rId8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BF26A2F-9C98-4215-A0AE-502A99EF8EB4}"/>
              </a:ext>
            </a:extLst>
          </p:cNvPr>
          <p:cNvSpPr/>
          <p:nvPr/>
        </p:nvSpPr>
        <p:spPr bwMode="auto">
          <a:xfrm>
            <a:off x="5564224" y="1771650"/>
            <a:ext cx="3801723" cy="117443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/>
              <p:nvPr/>
            </p:nvSpPr>
            <p:spPr>
              <a:xfrm>
                <a:off x="8669607" y="2538079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A67C7B-3A33-4033-B8D7-0CE580E90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607" y="2538079"/>
                <a:ext cx="388144" cy="400110"/>
              </a:xfrm>
              <a:prstGeom prst="rect">
                <a:avLst/>
              </a:prstGeom>
              <a:blipFill>
                <a:blip r:embed="rId9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6BE7CEF9-03DA-4403-8FE7-4ADFA4E7590F}"/>
              </a:ext>
            </a:extLst>
          </p:cNvPr>
          <p:cNvSpPr/>
          <p:nvPr/>
        </p:nvSpPr>
        <p:spPr bwMode="auto">
          <a:xfrm>
            <a:off x="7085554" y="2924944"/>
            <a:ext cx="72008" cy="6523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90FF963-A9B6-4D7D-8C2C-926B0BCCAACF}"/>
              </a:ext>
            </a:extLst>
          </p:cNvPr>
          <p:cNvSpPr/>
          <p:nvPr/>
        </p:nvSpPr>
        <p:spPr bwMode="auto">
          <a:xfrm rot="21037692">
            <a:off x="5547211" y="1969880"/>
            <a:ext cx="3934976" cy="966705"/>
          </a:xfrm>
          <a:custGeom>
            <a:avLst/>
            <a:gdLst>
              <a:gd name="connsiteX0" fmla="*/ 0 w 6553200"/>
              <a:gd name="connsiteY0" fmla="*/ 0 h 753595"/>
              <a:gd name="connsiteX1" fmla="*/ 3293534 w 6553200"/>
              <a:gd name="connsiteY1" fmla="*/ 753534 h 753595"/>
              <a:gd name="connsiteX2" fmla="*/ 6553200 w 6553200"/>
              <a:gd name="connsiteY2" fmla="*/ 42334 h 753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753595">
                <a:moveTo>
                  <a:pt x="0" y="0"/>
                </a:moveTo>
                <a:cubicBezTo>
                  <a:pt x="1100667" y="373239"/>
                  <a:pt x="2201334" y="746478"/>
                  <a:pt x="3293534" y="753534"/>
                </a:cubicBezTo>
                <a:cubicBezTo>
                  <a:pt x="4385734" y="760590"/>
                  <a:pt x="6029678" y="158045"/>
                  <a:pt x="6553200" y="42334"/>
                </a:cubicBezTo>
              </a:path>
            </a:pathLst>
          </a:custGeom>
          <a:noFill/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229BB3B-CAB9-4780-9E5B-3A5A80C628A6}"/>
              </a:ext>
            </a:extLst>
          </p:cNvPr>
          <p:cNvSpPr/>
          <p:nvPr/>
        </p:nvSpPr>
        <p:spPr bwMode="auto">
          <a:xfrm>
            <a:off x="7478695" y="2915809"/>
            <a:ext cx="72008" cy="65237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/>
              <p:nvPr/>
            </p:nvSpPr>
            <p:spPr>
              <a:xfrm>
                <a:off x="7357446" y="3138289"/>
                <a:ext cx="57187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C7F33C-A68D-402A-93D7-05246E43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446" y="3138289"/>
                <a:ext cx="571870" cy="423770"/>
              </a:xfrm>
              <a:prstGeom prst="rect">
                <a:avLst/>
              </a:prstGeom>
              <a:blipFill>
                <a:blip r:embed="rId1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/>
              <p:nvPr/>
            </p:nvSpPr>
            <p:spPr>
              <a:xfrm>
                <a:off x="9026366" y="1292336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CC339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64C293-1DFA-447B-9890-B93212435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366" y="1292336"/>
                <a:ext cx="679162" cy="400110"/>
              </a:xfrm>
              <a:prstGeom prst="rect">
                <a:avLst/>
              </a:prstGeom>
              <a:blipFill>
                <a:blip r:embed="rId11"/>
                <a:stretch>
                  <a:fillRect r="-450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F5A417D-845C-48E8-9B53-56CAF525E247}"/>
                  </a:ext>
                </a:extLst>
              </p:cNvPr>
              <p:cNvSpPr txBox="1"/>
              <p:nvPr/>
            </p:nvSpPr>
            <p:spPr>
              <a:xfrm>
                <a:off x="7396621" y="246844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F5A417D-845C-48E8-9B53-56CAF525E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621" y="2468444"/>
                <a:ext cx="388144" cy="400110"/>
              </a:xfrm>
              <a:prstGeom prst="rect">
                <a:avLst/>
              </a:prstGeom>
              <a:blipFill>
                <a:blip r:embed="rId12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34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19" grpId="0" animBg="1"/>
      <p:bldP spid="20" grpId="0" animBg="1"/>
      <p:bldP spid="21" grpId="0" animBg="1"/>
      <p:bldP spid="22" grpId="0"/>
      <p:bldP spid="23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72AE3-01EF-46E5-84CE-F6F55609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二次插值法区间缩短分析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A80C0-AFD7-40FC-9F01-4428C0D1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2CF14E-C102-405B-9A10-823A0CD3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FB5FF23-FEA3-438E-B29F-829DD111645D}"/>
              </a:ext>
            </a:extLst>
          </p:cNvPr>
          <p:cNvCxnSpPr>
            <a:cxnSpLocks/>
          </p:cNvCxnSpPr>
          <p:nvPr/>
        </p:nvCxnSpPr>
        <p:spPr bwMode="auto">
          <a:xfrm flipH="1">
            <a:off x="7787116" y="2244288"/>
            <a:ext cx="4416" cy="47501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3F8E869-DB99-4D85-A546-DCE48CDBE344}"/>
              </a:ext>
            </a:extLst>
          </p:cNvPr>
          <p:cNvCxnSpPr>
            <a:cxnSpLocks/>
          </p:cNvCxnSpPr>
          <p:nvPr/>
        </p:nvCxnSpPr>
        <p:spPr bwMode="auto">
          <a:xfrm>
            <a:off x="5517888" y="2724906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C0CCB04-5CB1-45FD-9E90-FBA0A60C7612}"/>
              </a:ext>
            </a:extLst>
          </p:cNvPr>
          <p:cNvCxnSpPr>
            <a:cxnSpLocks/>
          </p:cNvCxnSpPr>
          <p:nvPr/>
        </p:nvCxnSpPr>
        <p:spPr bwMode="auto">
          <a:xfrm>
            <a:off x="5517888" y="1998490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D64A6E2-670E-49F2-95DE-1FC9CC939491}"/>
              </a:ext>
            </a:extLst>
          </p:cNvPr>
          <p:cNvCxnSpPr>
            <a:cxnSpLocks/>
          </p:cNvCxnSpPr>
          <p:nvPr/>
        </p:nvCxnSpPr>
        <p:spPr bwMode="auto">
          <a:xfrm>
            <a:off x="8794667" y="151961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F60B97-E2C9-4D8E-BE82-CB4B2FE36219}"/>
                  </a:ext>
                </a:extLst>
              </p:cNvPr>
              <p:cNvSpPr txBox="1"/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F60B97-E2C9-4D8E-BE82-CB4B2FE36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32534DB-4050-42E6-BE76-CF1112B8CF03}"/>
              </a:ext>
            </a:extLst>
          </p:cNvPr>
          <p:cNvCxnSpPr>
            <a:cxnSpLocks/>
          </p:cNvCxnSpPr>
          <p:nvPr/>
        </p:nvCxnSpPr>
        <p:spPr bwMode="auto">
          <a:xfrm>
            <a:off x="6321152" y="2469569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21B961-1769-45D7-BBB4-FE3CA5F843CF}"/>
                  </a:ext>
                </a:extLst>
              </p:cNvPr>
              <p:cNvSpPr txBox="1"/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21B961-1769-45D7-BBB4-FE3CA5F8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1285A54-3D3E-463C-B7A9-D4963B72D536}"/>
                  </a:ext>
                </a:extLst>
              </p:cNvPr>
              <p:cNvSpPr txBox="1"/>
              <p:nvPr/>
            </p:nvSpPr>
            <p:spPr>
              <a:xfrm>
                <a:off x="6150343" y="2693615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1285A54-3D3E-463C-B7A9-D4963B72D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343" y="2693615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864F6D-2FD2-471C-A64B-6CB10400F69F}"/>
                  </a:ext>
                </a:extLst>
              </p:cNvPr>
              <p:cNvSpPr txBox="1"/>
              <p:nvPr/>
            </p:nvSpPr>
            <p:spPr>
              <a:xfrm>
                <a:off x="6165312" y="2074907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864F6D-2FD2-471C-A64B-6CB10400F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2" y="2074907"/>
                <a:ext cx="388144" cy="400110"/>
              </a:xfrm>
              <a:prstGeom prst="rect">
                <a:avLst/>
              </a:prstGeom>
              <a:blipFill>
                <a:blip r:embed="rId6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CDFCDCB-0A0C-4C03-A350-E355AFFEB59B}"/>
                  </a:ext>
                </a:extLst>
              </p:cNvPr>
              <p:cNvSpPr txBox="1"/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CDFCDCB-0A0C-4C03-A350-E355AFFEB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646358C-8D16-47A3-AE24-80E65F1612D9}"/>
                  </a:ext>
                </a:extLst>
              </p:cNvPr>
              <p:cNvSpPr txBox="1"/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646358C-8D16-47A3-AE24-80E65F161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blipFill>
                <a:blip r:embed="rId8"/>
                <a:stretch>
                  <a:fillRect l="-4505" r="-5405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7B1A84E-7245-4FEC-9E1E-152B7BDFF0A3}"/>
              </a:ext>
            </a:extLst>
          </p:cNvPr>
          <p:cNvSpPr/>
          <p:nvPr/>
        </p:nvSpPr>
        <p:spPr bwMode="auto">
          <a:xfrm>
            <a:off x="5429446" y="129958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287B0B1-7F71-48CF-86FD-E50D3219EA21}"/>
                  </a:ext>
                </a:extLst>
              </p:cNvPr>
              <p:cNvSpPr txBox="1"/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287B0B1-7F71-48CF-86FD-E50D3219E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blipFill>
                <a:blip r:embed="rId9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A540D5E-A7DE-4518-81BF-897F9103E801}"/>
                  </a:ext>
                </a:extLst>
              </p:cNvPr>
              <p:cNvSpPr txBox="1"/>
              <p:nvPr/>
            </p:nvSpPr>
            <p:spPr>
              <a:xfrm>
                <a:off x="7545194" y="1797788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A540D5E-A7DE-4518-81BF-897F9103E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194" y="1797788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E452574-B819-47F2-B6FF-C9FD2DE19EE8}"/>
                  </a:ext>
                </a:extLst>
              </p:cNvPr>
              <p:cNvSpPr txBox="1"/>
              <p:nvPr/>
            </p:nvSpPr>
            <p:spPr>
              <a:xfrm>
                <a:off x="7568773" y="2688232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E452574-B819-47F2-B6FF-C9FD2DE19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3" y="2688232"/>
                <a:ext cx="418083" cy="400110"/>
              </a:xfrm>
              <a:prstGeom prst="rect">
                <a:avLst/>
              </a:prstGeom>
              <a:blipFill>
                <a:blip r:embed="rId1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/>
              <p:nvPr/>
            </p:nvSpPr>
            <p:spPr>
              <a:xfrm>
                <a:off x="342185" y="2244288"/>
                <a:ext cx="2953053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消去区间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sz="2400" baseline="-250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形成新区间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85" y="2244288"/>
                <a:ext cx="2953053" cy="1938992"/>
              </a:xfrm>
              <a:prstGeom prst="rect">
                <a:avLst/>
              </a:prstGeom>
              <a:blipFill>
                <a:blip r:embed="rId12"/>
                <a:stretch>
                  <a:fillRect l="-3711" t="-4403" r="-825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1E4A713A-2A35-4DB9-870A-0AC65940A760}"/>
              </a:ext>
            </a:extLst>
          </p:cNvPr>
          <p:cNvSpPr/>
          <p:nvPr/>
        </p:nvSpPr>
        <p:spPr bwMode="auto">
          <a:xfrm>
            <a:off x="7814765" y="2257246"/>
            <a:ext cx="948460" cy="42464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491915A-3C86-47D2-A90C-F2E7B8B47772}"/>
              </a:ext>
            </a:extLst>
          </p:cNvPr>
          <p:cNvCxnSpPr>
            <a:cxnSpLocks/>
          </p:cNvCxnSpPr>
          <p:nvPr/>
        </p:nvCxnSpPr>
        <p:spPr bwMode="auto">
          <a:xfrm flipH="1">
            <a:off x="7851736" y="4947547"/>
            <a:ext cx="4416" cy="47501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C9E5A1F-B6F8-4985-8A1E-2E07FE002A6A}"/>
              </a:ext>
            </a:extLst>
          </p:cNvPr>
          <p:cNvCxnSpPr>
            <a:cxnSpLocks/>
          </p:cNvCxnSpPr>
          <p:nvPr/>
        </p:nvCxnSpPr>
        <p:spPr bwMode="auto">
          <a:xfrm>
            <a:off x="5582612" y="5445224"/>
            <a:ext cx="2259823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4E71856-BCCB-42B1-AD97-63CE36E9AA86}"/>
              </a:ext>
            </a:extLst>
          </p:cNvPr>
          <p:cNvCxnSpPr>
            <a:cxnSpLocks/>
          </p:cNvCxnSpPr>
          <p:nvPr/>
        </p:nvCxnSpPr>
        <p:spPr bwMode="auto">
          <a:xfrm>
            <a:off x="5582508" y="4701749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A4C14A7-B382-48DC-8192-BC3A77BDB35F}"/>
                  </a:ext>
                </a:extLst>
              </p:cNvPr>
              <p:cNvSpPr txBox="1"/>
              <p:nvPr/>
            </p:nvSpPr>
            <p:spPr>
              <a:xfrm>
                <a:off x="5387129" y="5391491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A4C14A7-B382-48DC-8192-BC3A77BDB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129" y="5391491"/>
                <a:ext cx="390966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BC91181-43E8-4028-B094-9CC2DCCE5DCA}"/>
              </a:ext>
            </a:extLst>
          </p:cNvPr>
          <p:cNvCxnSpPr>
            <a:cxnSpLocks/>
          </p:cNvCxnSpPr>
          <p:nvPr/>
        </p:nvCxnSpPr>
        <p:spPr bwMode="auto">
          <a:xfrm>
            <a:off x="6385772" y="5172828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9A15497-202F-46A1-A455-A2D7CAA28B65}"/>
                  </a:ext>
                </a:extLst>
              </p:cNvPr>
              <p:cNvSpPr txBox="1"/>
              <p:nvPr/>
            </p:nvSpPr>
            <p:spPr>
              <a:xfrm>
                <a:off x="6214963" y="5396874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9A15497-202F-46A1-A455-A2D7CAA28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963" y="5396874"/>
                <a:ext cx="418083" cy="400110"/>
              </a:xfrm>
              <a:prstGeom prst="rect">
                <a:avLst/>
              </a:prstGeom>
              <a:blipFill>
                <a:blip r:embed="rId1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E2F78FE-1CB4-43F9-ACEC-811BF8042451}"/>
                  </a:ext>
                </a:extLst>
              </p:cNvPr>
              <p:cNvSpPr txBox="1"/>
              <p:nvPr/>
            </p:nvSpPr>
            <p:spPr>
              <a:xfrm>
                <a:off x="6229932" y="477816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E2F78FE-1CB4-43F9-ACEC-811BF8042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32" y="4778166"/>
                <a:ext cx="388144" cy="400110"/>
              </a:xfrm>
              <a:prstGeom prst="rect">
                <a:avLst/>
              </a:prstGeom>
              <a:blipFill>
                <a:blip r:embed="rId15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49C1816-3C19-4DBE-8A36-D125CF559A5C}"/>
                  </a:ext>
                </a:extLst>
              </p:cNvPr>
              <p:cNvSpPr txBox="1"/>
              <p:nvPr/>
            </p:nvSpPr>
            <p:spPr>
              <a:xfrm>
                <a:off x="5234199" y="445934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49C1816-3C19-4DBE-8A36-D125CF559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199" y="4459345"/>
                <a:ext cx="388144" cy="400110"/>
              </a:xfrm>
              <a:prstGeom prst="rect">
                <a:avLst/>
              </a:prstGeom>
              <a:blipFill>
                <a:blip r:embed="rId16"/>
                <a:stretch>
                  <a:fillRect l="-7937" r="-158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A5B3DAD-5262-4A99-A857-ABE4F829A9C7}"/>
                  </a:ext>
                </a:extLst>
              </p:cNvPr>
              <p:cNvSpPr txBox="1"/>
              <p:nvPr/>
            </p:nvSpPr>
            <p:spPr>
              <a:xfrm>
                <a:off x="5305651" y="4122093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A5B3DAD-5262-4A99-A857-ABE4F829A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651" y="4122093"/>
                <a:ext cx="679162" cy="400110"/>
              </a:xfrm>
              <a:prstGeom prst="rect">
                <a:avLst/>
              </a:prstGeom>
              <a:blipFill>
                <a:blip r:embed="rId17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6D89734A-1775-4093-BC84-1C2DF74EEECF}"/>
              </a:ext>
            </a:extLst>
          </p:cNvPr>
          <p:cNvSpPr/>
          <p:nvPr/>
        </p:nvSpPr>
        <p:spPr bwMode="auto">
          <a:xfrm>
            <a:off x="5494066" y="4002846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EC14B74-7A5C-4390-99F7-79C3D906B872}"/>
                  </a:ext>
                </a:extLst>
              </p:cNvPr>
              <p:cNvSpPr txBox="1"/>
              <p:nvPr/>
            </p:nvSpPr>
            <p:spPr>
              <a:xfrm>
                <a:off x="7609814" y="4501047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EC14B74-7A5C-4390-99F7-79C3D906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814" y="4501047"/>
                <a:ext cx="388144" cy="400110"/>
              </a:xfrm>
              <a:prstGeom prst="rect">
                <a:avLst/>
              </a:prstGeom>
              <a:blipFill>
                <a:blip r:embed="rId18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12D1E61-AE42-4D56-ADD9-8E2FEF20FD4A}"/>
                  </a:ext>
                </a:extLst>
              </p:cNvPr>
              <p:cNvSpPr txBox="1"/>
              <p:nvPr/>
            </p:nvSpPr>
            <p:spPr>
              <a:xfrm>
                <a:off x="7633393" y="5391491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12D1E61-AE42-4D56-ADD9-8E2FEF20F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393" y="5391491"/>
                <a:ext cx="418083" cy="400110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箭头: 下 45">
            <a:extLst>
              <a:ext uri="{FF2B5EF4-FFF2-40B4-BE49-F238E27FC236}">
                <a16:creationId xmlns:a16="http://schemas.microsoft.com/office/drawing/2014/main" id="{31B4EA37-E48D-416E-B515-AC6C90EAB23B}"/>
              </a:ext>
            </a:extLst>
          </p:cNvPr>
          <p:cNvSpPr/>
          <p:nvPr/>
        </p:nvSpPr>
        <p:spPr bwMode="auto">
          <a:xfrm>
            <a:off x="6766696" y="3212976"/>
            <a:ext cx="567172" cy="92011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对话气泡: 圆角矩形 51">
                <a:extLst>
                  <a:ext uri="{FF2B5EF4-FFF2-40B4-BE49-F238E27FC236}">
                    <a16:creationId xmlns:a16="http://schemas.microsoft.com/office/drawing/2014/main" id="{64EA972F-6A33-4687-9BBD-2D7836B6CF8F}"/>
                  </a:ext>
                </a:extLst>
              </p:cNvPr>
              <p:cNvSpPr/>
              <p:nvPr/>
            </p:nvSpPr>
            <p:spPr bwMode="auto">
              <a:xfrm>
                <a:off x="632520" y="4522203"/>
                <a:ext cx="3207165" cy="1427077"/>
              </a:xfrm>
              <a:prstGeom prst="wedgeRoundRectCallout">
                <a:avLst>
                  <a:gd name="adj1" fmla="val 98854"/>
                  <a:gd name="adj2" fmla="val -122383"/>
                  <a:gd name="adj3" fmla="val 16667"/>
                </a:avLst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</a:rPr>
                  <a:t>为了迭代方便，新区间应该仍然保留原有的标注信息，即：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0000FF"/>
                        </a:solidFill>
                      </a:rPr>
                      <m:t>,</m:t>
                    </m:r>
                    <m:r>
                      <a:rPr lang="en-US" altLang="zh-CN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</a:rPr>
                  <a:t> </a:t>
                </a:r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</a:endParaRPr>
              </a:p>
              <a:p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</a:rPr>
                  <a:t>满足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baseline="-25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2" name="对话气泡: 圆角矩形 51">
                <a:extLst>
                  <a:ext uri="{FF2B5EF4-FFF2-40B4-BE49-F238E27FC236}">
                    <a16:creationId xmlns:a16="http://schemas.microsoft.com/office/drawing/2014/main" id="{64EA972F-6A33-4687-9BBD-2D7836B6C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520" y="4522203"/>
                <a:ext cx="3207165" cy="1427077"/>
              </a:xfrm>
              <a:prstGeom prst="wedgeRoundRectCallout">
                <a:avLst>
                  <a:gd name="adj1" fmla="val 98854"/>
                  <a:gd name="adj2" fmla="val -122383"/>
                  <a:gd name="adj3" fmla="val 16667"/>
                </a:avLst>
              </a:prstGeom>
              <a:blipFill>
                <a:blip r:embed="rId20"/>
                <a:stretch>
                  <a:fillRect b="-221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50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23" grpId="0"/>
      <p:bldP spid="24" grpId="0"/>
      <p:bldP spid="29" grpId="0" animBg="1"/>
      <p:bldP spid="34" grpId="0"/>
      <p:bldP spid="37" grpId="0"/>
      <p:bldP spid="38" grpId="0"/>
      <p:bldP spid="39" grpId="0"/>
      <p:bldP spid="40" grpId="0"/>
      <p:bldP spid="41" grpId="0" animBg="1"/>
      <p:bldP spid="43" grpId="0"/>
      <p:bldP spid="44" grpId="0"/>
      <p:bldP spid="46" grpId="0" animBg="1"/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72AE3-01EF-46E5-84CE-F6F55609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二次插值法区间缩短分析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A80C0-AFD7-40FC-9F01-4428C0D1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2CF14E-C102-405B-9A10-823A0CD3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FB5FF23-FEA3-438E-B29F-829DD111645D}"/>
              </a:ext>
            </a:extLst>
          </p:cNvPr>
          <p:cNvCxnSpPr>
            <a:cxnSpLocks/>
          </p:cNvCxnSpPr>
          <p:nvPr/>
        </p:nvCxnSpPr>
        <p:spPr bwMode="auto">
          <a:xfrm>
            <a:off x="7297878" y="2535718"/>
            <a:ext cx="1" cy="1708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3F8E869-DB99-4D85-A546-DCE48CDBE344}"/>
              </a:ext>
            </a:extLst>
          </p:cNvPr>
          <p:cNvCxnSpPr>
            <a:cxnSpLocks/>
          </p:cNvCxnSpPr>
          <p:nvPr/>
        </p:nvCxnSpPr>
        <p:spPr bwMode="auto">
          <a:xfrm>
            <a:off x="5517888" y="2724906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C0CCB04-5CB1-45FD-9E90-FBA0A60C7612}"/>
              </a:ext>
            </a:extLst>
          </p:cNvPr>
          <p:cNvCxnSpPr>
            <a:cxnSpLocks/>
          </p:cNvCxnSpPr>
          <p:nvPr/>
        </p:nvCxnSpPr>
        <p:spPr bwMode="auto">
          <a:xfrm>
            <a:off x="5517888" y="1998490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D64A6E2-670E-49F2-95DE-1FC9CC939491}"/>
              </a:ext>
            </a:extLst>
          </p:cNvPr>
          <p:cNvCxnSpPr>
            <a:cxnSpLocks/>
          </p:cNvCxnSpPr>
          <p:nvPr/>
        </p:nvCxnSpPr>
        <p:spPr bwMode="auto">
          <a:xfrm>
            <a:off x="8794667" y="151961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F60B97-E2C9-4D8E-BE82-CB4B2FE36219}"/>
                  </a:ext>
                </a:extLst>
              </p:cNvPr>
              <p:cNvSpPr txBox="1"/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F60B97-E2C9-4D8E-BE82-CB4B2FE36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32534DB-4050-42E6-BE76-CF1112B8CF03}"/>
              </a:ext>
            </a:extLst>
          </p:cNvPr>
          <p:cNvCxnSpPr>
            <a:cxnSpLocks/>
          </p:cNvCxnSpPr>
          <p:nvPr/>
        </p:nvCxnSpPr>
        <p:spPr bwMode="auto">
          <a:xfrm>
            <a:off x="5984813" y="2274962"/>
            <a:ext cx="0" cy="4555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21B961-1769-45D7-BBB4-FE3CA5F843CF}"/>
                  </a:ext>
                </a:extLst>
              </p:cNvPr>
              <p:cNvSpPr txBox="1"/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21B961-1769-45D7-BBB4-FE3CA5F8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1285A54-3D3E-463C-B7A9-D4963B72D536}"/>
                  </a:ext>
                </a:extLst>
              </p:cNvPr>
              <p:cNvSpPr txBox="1"/>
              <p:nvPr/>
            </p:nvSpPr>
            <p:spPr>
              <a:xfrm>
                <a:off x="5829259" y="2673588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1285A54-3D3E-463C-B7A9-D4963B72D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59" y="2673588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864F6D-2FD2-471C-A64B-6CB10400F69F}"/>
                  </a:ext>
                </a:extLst>
              </p:cNvPr>
              <p:cNvSpPr txBox="1"/>
              <p:nvPr/>
            </p:nvSpPr>
            <p:spPr>
              <a:xfrm>
                <a:off x="5807865" y="1883881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864F6D-2FD2-471C-A64B-6CB10400F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865" y="1883881"/>
                <a:ext cx="388144" cy="400110"/>
              </a:xfrm>
              <a:prstGeom prst="rect">
                <a:avLst/>
              </a:prstGeom>
              <a:blipFill>
                <a:blip r:embed="rId6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CDFCDCB-0A0C-4C03-A350-E355AFFEB59B}"/>
                  </a:ext>
                </a:extLst>
              </p:cNvPr>
              <p:cNvSpPr txBox="1"/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CDFCDCB-0A0C-4C03-A350-E355AFFEB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646358C-8D16-47A3-AE24-80E65F1612D9}"/>
                  </a:ext>
                </a:extLst>
              </p:cNvPr>
              <p:cNvSpPr txBox="1"/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646358C-8D16-47A3-AE24-80E65F161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blipFill>
                <a:blip r:embed="rId8"/>
                <a:stretch>
                  <a:fillRect l="-4505" r="-5405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7B1A84E-7245-4FEC-9E1E-152B7BDFF0A3}"/>
              </a:ext>
            </a:extLst>
          </p:cNvPr>
          <p:cNvSpPr/>
          <p:nvPr/>
        </p:nvSpPr>
        <p:spPr bwMode="auto">
          <a:xfrm>
            <a:off x="5429446" y="129958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287B0B1-7F71-48CF-86FD-E50D3219EA21}"/>
                  </a:ext>
                </a:extLst>
              </p:cNvPr>
              <p:cNvSpPr txBox="1"/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287B0B1-7F71-48CF-86FD-E50D3219E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blipFill>
                <a:blip r:embed="rId9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A540D5E-A7DE-4518-81BF-897F9103E801}"/>
                  </a:ext>
                </a:extLst>
              </p:cNvPr>
              <p:cNvSpPr txBox="1"/>
              <p:nvPr/>
            </p:nvSpPr>
            <p:spPr>
              <a:xfrm>
                <a:off x="7050282" y="212474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A540D5E-A7DE-4518-81BF-897F9103E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282" y="2124742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7937" r="-158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E452574-B819-47F2-B6FF-C9FD2DE19EE8}"/>
                  </a:ext>
                </a:extLst>
              </p:cNvPr>
              <p:cNvSpPr txBox="1"/>
              <p:nvPr/>
            </p:nvSpPr>
            <p:spPr>
              <a:xfrm>
                <a:off x="7127111" y="2673588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E452574-B819-47F2-B6FF-C9FD2DE19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111" y="2673588"/>
                <a:ext cx="418083" cy="400110"/>
              </a:xfrm>
              <a:prstGeom prst="rect">
                <a:avLst/>
              </a:prstGeom>
              <a:blipFill>
                <a:blip r:embed="rId1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/>
              <p:nvPr/>
            </p:nvSpPr>
            <p:spPr>
              <a:xfrm>
                <a:off x="342185" y="2244288"/>
                <a:ext cx="2953053" cy="2299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消去区间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baseline="-25000" dirty="0"/>
              </a:p>
              <a:p>
                <a:pPr lvl="1"/>
                <a:r>
                  <a:rPr lang="en-US" altLang="zh-CN" sz="2400" baseline="-25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sz="2400" baseline="-250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形成新区间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85" y="2244288"/>
                <a:ext cx="2953053" cy="2299797"/>
              </a:xfrm>
              <a:prstGeom prst="rect">
                <a:avLst/>
              </a:prstGeom>
              <a:blipFill>
                <a:blip r:embed="rId12"/>
                <a:stretch>
                  <a:fillRect l="-3711" t="-3714" r="-825" b="-6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1E4A713A-2A35-4DB9-870A-0AC65940A760}"/>
              </a:ext>
            </a:extLst>
          </p:cNvPr>
          <p:cNvSpPr/>
          <p:nvPr/>
        </p:nvSpPr>
        <p:spPr bwMode="auto">
          <a:xfrm>
            <a:off x="5518746" y="2284017"/>
            <a:ext cx="466067" cy="42464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31B4EA37-E48D-416E-B515-AC6C90EAB23B}"/>
              </a:ext>
            </a:extLst>
          </p:cNvPr>
          <p:cNvSpPr/>
          <p:nvPr/>
        </p:nvSpPr>
        <p:spPr bwMode="auto">
          <a:xfrm>
            <a:off x="6766696" y="3212976"/>
            <a:ext cx="567172" cy="92011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7321934-FF15-458C-AE2E-6EFD8A3F8742}"/>
              </a:ext>
            </a:extLst>
          </p:cNvPr>
          <p:cNvCxnSpPr>
            <a:cxnSpLocks/>
          </p:cNvCxnSpPr>
          <p:nvPr/>
        </p:nvCxnSpPr>
        <p:spPr bwMode="auto">
          <a:xfrm>
            <a:off x="7297878" y="5220488"/>
            <a:ext cx="1" cy="1708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901362B-E620-4D54-926E-9D0775121A5C}"/>
              </a:ext>
            </a:extLst>
          </p:cNvPr>
          <p:cNvCxnSpPr>
            <a:cxnSpLocks/>
          </p:cNvCxnSpPr>
          <p:nvPr/>
        </p:nvCxnSpPr>
        <p:spPr bwMode="auto">
          <a:xfrm flipV="1">
            <a:off x="5975664" y="5409676"/>
            <a:ext cx="2819003" cy="5606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A5E3BD1-1555-45DA-A698-D153EA79FC67}"/>
              </a:ext>
            </a:extLst>
          </p:cNvPr>
          <p:cNvCxnSpPr>
            <a:cxnSpLocks/>
          </p:cNvCxnSpPr>
          <p:nvPr/>
        </p:nvCxnSpPr>
        <p:spPr bwMode="auto">
          <a:xfrm>
            <a:off x="8794667" y="420438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6E01A7-E5E1-44E1-91B7-2F479AF61202}"/>
                  </a:ext>
                </a:extLst>
              </p:cNvPr>
              <p:cNvSpPr txBox="1"/>
              <p:nvPr/>
            </p:nvSpPr>
            <p:spPr>
              <a:xfrm>
                <a:off x="5856376" y="534292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6E01A7-E5E1-44E1-91B7-2F479AF61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376" y="5342920"/>
                <a:ext cx="390966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F57F31A-E61B-4787-823E-D23227DC6679}"/>
              </a:ext>
            </a:extLst>
          </p:cNvPr>
          <p:cNvCxnSpPr>
            <a:cxnSpLocks/>
          </p:cNvCxnSpPr>
          <p:nvPr/>
        </p:nvCxnSpPr>
        <p:spPr bwMode="auto">
          <a:xfrm>
            <a:off x="5984813" y="4959732"/>
            <a:ext cx="0" cy="4555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764A3AA-7226-42E0-860F-1CF4C0B6B81F}"/>
                  </a:ext>
                </a:extLst>
              </p:cNvPr>
              <p:cNvSpPr txBox="1"/>
              <p:nvPr/>
            </p:nvSpPr>
            <p:spPr>
              <a:xfrm>
                <a:off x="8633028" y="534427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764A3AA-7226-42E0-860F-1CF4C0B6B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5344277"/>
                <a:ext cx="418083" cy="400110"/>
              </a:xfrm>
              <a:prstGeom prst="rect">
                <a:avLst/>
              </a:prstGeom>
              <a:blipFill>
                <a:blip r:embed="rId1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67CFAC0-F476-4E99-99C6-04BB98968D18}"/>
                  </a:ext>
                </a:extLst>
              </p:cNvPr>
              <p:cNvSpPr txBox="1"/>
              <p:nvPr/>
            </p:nvSpPr>
            <p:spPr>
              <a:xfrm>
                <a:off x="7148389" y="534292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67CFAC0-F476-4E99-99C6-04BB98968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389" y="5342920"/>
                <a:ext cx="418083" cy="400110"/>
              </a:xfrm>
              <a:prstGeom prst="rect">
                <a:avLst/>
              </a:prstGeom>
              <a:blipFill>
                <a:blip r:embed="rId1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202F89-576B-4C5E-9A8A-6A80698D9940}"/>
                  </a:ext>
                </a:extLst>
              </p:cNvPr>
              <p:cNvSpPr txBox="1"/>
              <p:nvPr/>
            </p:nvSpPr>
            <p:spPr>
              <a:xfrm>
                <a:off x="7093458" y="47727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202F89-576B-4C5E-9A8A-6A80698D9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458" y="4772784"/>
                <a:ext cx="388144" cy="400110"/>
              </a:xfrm>
              <a:prstGeom prst="rect">
                <a:avLst/>
              </a:prstGeom>
              <a:blipFill>
                <a:blip r:embed="rId16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34FB6DC-7C51-4C04-9E35-790EF29D4CDF}"/>
                  </a:ext>
                </a:extLst>
              </p:cNvPr>
              <p:cNvSpPr txBox="1"/>
              <p:nvPr/>
            </p:nvSpPr>
            <p:spPr>
              <a:xfrm>
                <a:off x="5975664" y="464718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34FB6DC-7C51-4C04-9E35-790EF29D4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664" y="4647182"/>
                <a:ext cx="388144" cy="400110"/>
              </a:xfrm>
              <a:prstGeom prst="rect">
                <a:avLst/>
              </a:prstGeom>
              <a:blipFill>
                <a:blip r:embed="rId1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60B6FBB-5111-4348-9DCF-1A12DCF7DBE2}"/>
                  </a:ext>
                </a:extLst>
              </p:cNvPr>
              <p:cNvSpPr txBox="1"/>
              <p:nvPr/>
            </p:nvSpPr>
            <p:spPr>
              <a:xfrm>
                <a:off x="5241031" y="410360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60B6FBB-5111-4348-9DCF-1A12DCF7D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4103604"/>
                <a:ext cx="679162" cy="400110"/>
              </a:xfrm>
              <a:prstGeom prst="rect">
                <a:avLst/>
              </a:prstGeom>
              <a:blipFill>
                <a:blip r:embed="rId18"/>
                <a:stretch>
                  <a:fillRect l="-4505" r="-540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FAFE1070-F443-48E4-AB1E-5F90ABE26E44}"/>
              </a:ext>
            </a:extLst>
          </p:cNvPr>
          <p:cNvSpPr/>
          <p:nvPr/>
        </p:nvSpPr>
        <p:spPr bwMode="auto">
          <a:xfrm>
            <a:off x="5429446" y="398435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CA0DF54-DB65-4C96-AFC7-BF03FCD86BC2}"/>
                  </a:ext>
                </a:extLst>
              </p:cNvPr>
              <p:cNvSpPr txBox="1"/>
              <p:nvPr/>
            </p:nvSpPr>
            <p:spPr>
              <a:xfrm>
                <a:off x="8406523" y="381314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CA0DF54-DB65-4C96-AFC7-BF03FCD86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3813145"/>
                <a:ext cx="388144" cy="400110"/>
              </a:xfrm>
              <a:prstGeom prst="rect">
                <a:avLst/>
              </a:prstGeom>
              <a:blipFill>
                <a:blip r:embed="rId19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20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23" grpId="0"/>
      <p:bldP spid="24" grpId="0"/>
      <p:bldP spid="29" grpId="0" animBg="1"/>
      <p:bldP spid="46" grpId="0" animBg="1"/>
      <p:bldP spid="49" grpId="0"/>
      <p:bldP spid="51" grpId="0"/>
      <p:bldP spid="53" grpId="0"/>
      <p:bldP spid="54" grpId="0"/>
      <p:bldP spid="55" grpId="0"/>
      <p:bldP spid="56" grpId="0"/>
      <p:bldP spid="57" grpId="0" animBg="1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72AE3-01EF-46E5-84CE-F6F55609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二次插值法区间缩短分析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A80C0-AFD7-40FC-9F01-4428C0D1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2CF14E-C102-405B-9A10-823A0CD3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/>
              <p:nvPr/>
            </p:nvSpPr>
            <p:spPr>
              <a:xfrm>
                <a:off x="342185" y="2244288"/>
                <a:ext cx="2953053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消去区间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sz="2400" baseline="-250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形成新区间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85" y="2244288"/>
                <a:ext cx="2953053" cy="1938992"/>
              </a:xfrm>
              <a:prstGeom prst="rect">
                <a:avLst/>
              </a:prstGeom>
              <a:blipFill>
                <a:blip r:embed="rId3"/>
                <a:stretch>
                  <a:fillRect l="-3711" t="-4403" r="-825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9366F5F-35CA-4780-9CFE-6ACEF2D887FA}"/>
              </a:ext>
            </a:extLst>
          </p:cNvPr>
          <p:cNvCxnSpPr>
            <a:cxnSpLocks/>
          </p:cNvCxnSpPr>
          <p:nvPr/>
        </p:nvCxnSpPr>
        <p:spPr bwMode="auto">
          <a:xfrm>
            <a:off x="7297878" y="2535718"/>
            <a:ext cx="1" cy="1708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6C0441E-42A8-4B37-A23B-A9BF1BB18837}"/>
              </a:ext>
            </a:extLst>
          </p:cNvPr>
          <p:cNvCxnSpPr>
            <a:cxnSpLocks/>
          </p:cNvCxnSpPr>
          <p:nvPr/>
        </p:nvCxnSpPr>
        <p:spPr bwMode="auto">
          <a:xfrm>
            <a:off x="5517888" y="2724906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D9F190A-7621-4BC3-B54A-06AA38DBD92B}"/>
              </a:ext>
            </a:extLst>
          </p:cNvPr>
          <p:cNvCxnSpPr>
            <a:cxnSpLocks/>
          </p:cNvCxnSpPr>
          <p:nvPr/>
        </p:nvCxnSpPr>
        <p:spPr bwMode="auto">
          <a:xfrm>
            <a:off x="5517888" y="1998490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AD5F869-8F30-4054-B140-F153E2B54E1B}"/>
              </a:ext>
            </a:extLst>
          </p:cNvPr>
          <p:cNvCxnSpPr>
            <a:cxnSpLocks/>
          </p:cNvCxnSpPr>
          <p:nvPr/>
        </p:nvCxnSpPr>
        <p:spPr bwMode="auto">
          <a:xfrm>
            <a:off x="8794667" y="151961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B94F659-9E9C-4A5F-8A24-E3444D0C22C9}"/>
                  </a:ext>
                </a:extLst>
              </p:cNvPr>
              <p:cNvSpPr txBox="1"/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B94F659-9E9C-4A5F-8A24-E3444D0C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EB49925C-2BCC-419A-8DF5-E714B941F924}"/>
              </a:ext>
            </a:extLst>
          </p:cNvPr>
          <p:cNvCxnSpPr>
            <a:cxnSpLocks/>
          </p:cNvCxnSpPr>
          <p:nvPr/>
        </p:nvCxnSpPr>
        <p:spPr bwMode="auto">
          <a:xfrm>
            <a:off x="5984813" y="2274962"/>
            <a:ext cx="0" cy="4555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05FEBF-C216-4D93-815B-80E3A75B7EFA}"/>
                  </a:ext>
                </a:extLst>
              </p:cNvPr>
              <p:cNvSpPr txBox="1"/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05FEBF-C216-4D93-815B-80E3A75B7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C483DA7-A7FF-439C-A273-3F552EBE376E}"/>
                  </a:ext>
                </a:extLst>
              </p:cNvPr>
              <p:cNvSpPr txBox="1"/>
              <p:nvPr/>
            </p:nvSpPr>
            <p:spPr>
              <a:xfrm>
                <a:off x="5829259" y="2673588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C483DA7-A7FF-439C-A273-3F552EBE3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59" y="2673588"/>
                <a:ext cx="418083" cy="400110"/>
              </a:xfrm>
              <a:prstGeom prst="rect">
                <a:avLst/>
              </a:prstGeom>
              <a:blipFill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26C6859-E7A8-4398-9994-F78CBD841822}"/>
                  </a:ext>
                </a:extLst>
              </p:cNvPr>
              <p:cNvSpPr txBox="1"/>
              <p:nvPr/>
            </p:nvSpPr>
            <p:spPr>
              <a:xfrm>
                <a:off x="5807865" y="1883881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26C6859-E7A8-4398-9994-F78CBD841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865" y="1883881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07D2B52-08F8-42A0-88A9-542B0E5C271A}"/>
                  </a:ext>
                </a:extLst>
              </p:cNvPr>
              <p:cNvSpPr txBox="1"/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07D2B52-08F8-42A0-88A9-542B0E5C2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blipFill>
                <a:blip r:embed="rId8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7E97F41B-0D33-4196-B7B4-12CAC36844A9}"/>
                  </a:ext>
                </a:extLst>
              </p:cNvPr>
              <p:cNvSpPr txBox="1"/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7E97F41B-0D33-4196-B7B4-12CAC3684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blipFill>
                <a:blip r:embed="rId9"/>
                <a:stretch>
                  <a:fillRect l="-4505" r="-5405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02E1E079-7360-4CB9-AF2D-D867E23926EC}"/>
              </a:ext>
            </a:extLst>
          </p:cNvPr>
          <p:cNvSpPr/>
          <p:nvPr/>
        </p:nvSpPr>
        <p:spPr bwMode="auto">
          <a:xfrm>
            <a:off x="5429446" y="129958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77D2894-9E98-408A-9B1C-110BE3B8C44E}"/>
                  </a:ext>
                </a:extLst>
              </p:cNvPr>
              <p:cNvSpPr txBox="1"/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77D2894-9E98-408A-9B1C-110BE3B8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90A3CAD-4A3E-40A9-BBAD-4A130C8A5365}"/>
                  </a:ext>
                </a:extLst>
              </p:cNvPr>
              <p:cNvSpPr txBox="1"/>
              <p:nvPr/>
            </p:nvSpPr>
            <p:spPr>
              <a:xfrm>
                <a:off x="7050282" y="212474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90A3CAD-4A3E-40A9-BBAD-4A130C8A5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282" y="2124742"/>
                <a:ext cx="388144" cy="400110"/>
              </a:xfrm>
              <a:prstGeom prst="rect">
                <a:avLst/>
              </a:prstGeom>
              <a:blipFill>
                <a:blip r:embed="rId11"/>
                <a:stretch>
                  <a:fillRect l="-7937" r="-158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1BBCE38-70FD-4E9F-94F4-C6A3F32B79F3}"/>
                  </a:ext>
                </a:extLst>
              </p:cNvPr>
              <p:cNvSpPr txBox="1"/>
              <p:nvPr/>
            </p:nvSpPr>
            <p:spPr>
              <a:xfrm>
                <a:off x="7127111" y="2673588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1BBCE38-70FD-4E9F-94F4-C6A3F32B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111" y="2673588"/>
                <a:ext cx="418083" cy="400110"/>
              </a:xfrm>
              <a:prstGeom prst="rect">
                <a:avLst/>
              </a:prstGeom>
              <a:blipFill>
                <a:blip r:embed="rId1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>
            <a:extLst>
              <a:ext uri="{FF2B5EF4-FFF2-40B4-BE49-F238E27FC236}">
                <a16:creationId xmlns:a16="http://schemas.microsoft.com/office/drawing/2014/main" id="{71B689AC-2634-44AB-AB9F-1D9100CF9405}"/>
              </a:ext>
            </a:extLst>
          </p:cNvPr>
          <p:cNvSpPr/>
          <p:nvPr/>
        </p:nvSpPr>
        <p:spPr bwMode="auto">
          <a:xfrm>
            <a:off x="5518746" y="2284017"/>
            <a:ext cx="466067" cy="42464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A91ECC87-DB2C-4E78-A32C-35C96F29DDC9}"/>
              </a:ext>
            </a:extLst>
          </p:cNvPr>
          <p:cNvSpPr/>
          <p:nvPr/>
        </p:nvSpPr>
        <p:spPr bwMode="auto">
          <a:xfrm>
            <a:off x="6766696" y="3212976"/>
            <a:ext cx="567172" cy="92011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8A1D5230-51C4-431F-9002-DFE6A74B46D1}"/>
              </a:ext>
            </a:extLst>
          </p:cNvPr>
          <p:cNvCxnSpPr>
            <a:cxnSpLocks/>
          </p:cNvCxnSpPr>
          <p:nvPr/>
        </p:nvCxnSpPr>
        <p:spPr bwMode="auto">
          <a:xfrm>
            <a:off x="7297878" y="5220488"/>
            <a:ext cx="1" cy="1708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B9AFFEF5-B25C-41FA-AC66-5CC5B496263E}"/>
              </a:ext>
            </a:extLst>
          </p:cNvPr>
          <p:cNvCxnSpPr>
            <a:cxnSpLocks/>
          </p:cNvCxnSpPr>
          <p:nvPr/>
        </p:nvCxnSpPr>
        <p:spPr bwMode="auto">
          <a:xfrm flipV="1">
            <a:off x="5975664" y="5409676"/>
            <a:ext cx="2819003" cy="5606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64B9AEE0-03DF-4E07-B59E-3F081DB762C1}"/>
              </a:ext>
            </a:extLst>
          </p:cNvPr>
          <p:cNvCxnSpPr>
            <a:cxnSpLocks/>
          </p:cNvCxnSpPr>
          <p:nvPr/>
        </p:nvCxnSpPr>
        <p:spPr bwMode="auto">
          <a:xfrm>
            <a:off x="8794667" y="420438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09A8E25-DE60-48EC-BE8E-356A02155119}"/>
                  </a:ext>
                </a:extLst>
              </p:cNvPr>
              <p:cNvSpPr txBox="1"/>
              <p:nvPr/>
            </p:nvSpPr>
            <p:spPr>
              <a:xfrm>
                <a:off x="5856376" y="5342920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09A8E25-DE60-48EC-BE8E-356A0215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376" y="5342920"/>
                <a:ext cx="390966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EF4B4146-1029-49DA-8526-4EFAC6591182}"/>
              </a:ext>
            </a:extLst>
          </p:cNvPr>
          <p:cNvCxnSpPr>
            <a:cxnSpLocks/>
          </p:cNvCxnSpPr>
          <p:nvPr/>
        </p:nvCxnSpPr>
        <p:spPr bwMode="auto">
          <a:xfrm>
            <a:off x="5984813" y="4959732"/>
            <a:ext cx="0" cy="4555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12384E2-E4E2-403F-8DEC-8143F434C4F1}"/>
                  </a:ext>
                </a:extLst>
              </p:cNvPr>
              <p:cNvSpPr txBox="1"/>
              <p:nvPr/>
            </p:nvSpPr>
            <p:spPr>
              <a:xfrm>
                <a:off x="8633028" y="534427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12384E2-E4E2-403F-8DEC-8143F434C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5344277"/>
                <a:ext cx="418083" cy="400110"/>
              </a:xfrm>
              <a:prstGeom prst="rect">
                <a:avLst/>
              </a:prstGeom>
              <a:blipFill>
                <a:blip r:embed="rId1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9C80BF7-3880-4064-B2BB-0F260973C02F}"/>
                  </a:ext>
                </a:extLst>
              </p:cNvPr>
              <p:cNvSpPr txBox="1"/>
              <p:nvPr/>
            </p:nvSpPr>
            <p:spPr>
              <a:xfrm>
                <a:off x="7148389" y="5342920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9C80BF7-3880-4064-B2BB-0F260973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389" y="5342920"/>
                <a:ext cx="418083" cy="400110"/>
              </a:xfrm>
              <a:prstGeom prst="rect">
                <a:avLst/>
              </a:prstGeom>
              <a:blipFill>
                <a:blip r:embed="rId1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1363836F-D886-4B81-AE8A-BAB269C582F1}"/>
                  </a:ext>
                </a:extLst>
              </p:cNvPr>
              <p:cNvSpPr txBox="1"/>
              <p:nvPr/>
            </p:nvSpPr>
            <p:spPr>
              <a:xfrm>
                <a:off x="7093458" y="4772784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1363836F-D886-4B81-AE8A-BAB269C58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458" y="4772784"/>
                <a:ext cx="388144" cy="400110"/>
              </a:xfrm>
              <a:prstGeom prst="rect">
                <a:avLst/>
              </a:prstGeom>
              <a:blipFill>
                <a:blip r:embed="rId16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0BF0168-A709-42CB-A48E-B51B098319A7}"/>
                  </a:ext>
                </a:extLst>
              </p:cNvPr>
              <p:cNvSpPr txBox="1"/>
              <p:nvPr/>
            </p:nvSpPr>
            <p:spPr>
              <a:xfrm>
                <a:off x="5975664" y="4647182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0BF0168-A709-42CB-A48E-B51B098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664" y="4647182"/>
                <a:ext cx="388144" cy="400110"/>
              </a:xfrm>
              <a:prstGeom prst="rect">
                <a:avLst/>
              </a:prstGeom>
              <a:blipFill>
                <a:blip r:embed="rId1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397487C5-B9B4-476F-A445-42929D5674DD}"/>
                  </a:ext>
                </a:extLst>
              </p:cNvPr>
              <p:cNvSpPr txBox="1"/>
              <p:nvPr/>
            </p:nvSpPr>
            <p:spPr>
              <a:xfrm>
                <a:off x="5241031" y="410360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397487C5-B9B4-476F-A445-42929D567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4103604"/>
                <a:ext cx="679162" cy="400110"/>
              </a:xfrm>
              <a:prstGeom prst="rect">
                <a:avLst/>
              </a:prstGeom>
              <a:blipFill>
                <a:blip r:embed="rId18"/>
                <a:stretch>
                  <a:fillRect l="-4505" r="-540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01626917-D917-48D0-A76F-541E76C56F5B}"/>
              </a:ext>
            </a:extLst>
          </p:cNvPr>
          <p:cNvSpPr/>
          <p:nvPr/>
        </p:nvSpPr>
        <p:spPr bwMode="auto">
          <a:xfrm>
            <a:off x="5429446" y="398435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73CEA1DC-A494-41A5-8A70-7B3F8A28C373}"/>
                  </a:ext>
                </a:extLst>
              </p:cNvPr>
              <p:cNvSpPr txBox="1"/>
              <p:nvPr/>
            </p:nvSpPr>
            <p:spPr>
              <a:xfrm>
                <a:off x="8406523" y="381314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73CEA1DC-A494-41A5-8A70-7B3F8A28C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3813145"/>
                <a:ext cx="388144" cy="400110"/>
              </a:xfrm>
              <a:prstGeom prst="rect">
                <a:avLst/>
              </a:prstGeom>
              <a:blipFill>
                <a:blip r:embed="rId19"/>
                <a:stretch>
                  <a:fillRect l="-6250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91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9" grpId="0"/>
      <p:bldP spid="70" grpId="0"/>
      <p:bldP spid="71" grpId="0"/>
      <p:bldP spid="72" grpId="0"/>
      <p:bldP spid="73" grpId="0"/>
      <p:bldP spid="74" grpId="0" animBg="1"/>
      <p:bldP spid="75" grpId="0"/>
      <p:bldP spid="76" grpId="0"/>
      <p:bldP spid="77" grpId="0"/>
      <p:bldP spid="78" grpId="0" animBg="1"/>
      <p:bldP spid="79" grpId="0" animBg="1"/>
      <p:bldP spid="83" grpId="0"/>
      <p:bldP spid="85" grpId="0"/>
      <p:bldP spid="86" grpId="0"/>
      <p:bldP spid="87" grpId="0"/>
      <p:bldP spid="88" grpId="0"/>
      <p:bldP spid="89" grpId="0"/>
      <p:bldP spid="90" grpId="0" animBg="1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72AE3-01EF-46E5-84CE-F6F55609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二次插值法区间缩短分析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&amp;&amp;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baseline="-250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3F7E1C-94CE-4BF1-B475-4B32674FA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44" y="1196752"/>
                <a:ext cx="9719492" cy="792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A80C0-AFD7-40FC-9F01-4428C0D1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2CF14E-C102-405B-9A10-823A0CD3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/>
              <p:nvPr/>
            </p:nvSpPr>
            <p:spPr>
              <a:xfrm>
                <a:off x="342185" y="2244288"/>
                <a:ext cx="2953053" cy="2299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消去区间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baseline="-25000" dirty="0"/>
              </a:p>
              <a:p>
                <a:pPr lvl="1"/>
                <a:r>
                  <a:rPr lang="en-US" altLang="zh-CN" sz="2400" baseline="-25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zh-CN" sz="2400" baseline="-250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形成新区间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A0D43E4-ECA2-4B5F-BD27-F1945A45A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85" y="2244288"/>
                <a:ext cx="2953053" cy="2299797"/>
              </a:xfrm>
              <a:prstGeom prst="rect">
                <a:avLst/>
              </a:prstGeom>
              <a:blipFill>
                <a:blip r:embed="rId3"/>
                <a:stretch>
                  <a:fillRect l="-3711" t="-3714" r="-825" b="-6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4E04F5C-75A4-4688-BA54-695C60340706}"/>
              </a:ext>
            </a:extLst>
          </p:cNvPr>
          <p:cNvCxnSpPr>
            <a:cxnSpLocks/>
          </p:cNvCxnSpPr>
          <p:nvPr/>
        </p:nvCxnSpPr>
        <p:spPr bwMode="auto">
          <a:xfrm flipH="1">
            <a:off x="7787116" y="2244288"/>
            <a:ext cx="4416" cy="47501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3C703D9-EED4-4975-95B3-3F793D48AE02}"/>
              </a:ext>
            </a:extLst>
          </p:cNvPr>
          <p:cNvCxnSpPr>
            <a:cxnSpLocks/>
          </p:cNvCxnSpPr>
          <p:nvPr/>
        </p:nvCxnSpPr>
        <p:spPr bwMode="auto">
          <a:xfrm>
            <a:off x="5517888" y="2724906"/>
            <a:ext cx="3276779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446B94E-BC00-4D44-8EF7-ADBCDCD41689}"/>
              </a:ext>
            </a:extLst>
          </p:cNvPr>
          <p:cNvCxnSpPr>
            <a:cxnSpLocks/>
          </p:cNvCxnSpPr>
          <p:nvPr/>
        </p:nvCxnSpPr>
        <p:spPr bwMode="auto">
          <a:xfrm>
            <a:off x="5517888" y="1998490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45F1A0E-C5BD-4282-B66E-5995A2A4004D}"/>
              </a:ext>
            </a:extLst>
          </p:cNvPr>
          <p:cNvCxnSpPr>
            <a:cxnSpLocks/>
          </p:cNvCxnSpPr>
          <p:nvPr/>
        </p:nvCxnSpPr>
        <p:spPr bwMode="auto">
          <a:xfrm>
            <a:off x="8794667" y="1519618"/>
            <a:ext cx="0" cy="1210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8ECD2CF-398F-4F07-A866-9EF83C74F18D}"/>
                  </a:ext>
                </a:extLst>
              </p:cNvPr>
              <p:cNvSpPr txBox="1"/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8ECD2CF-398F-4F07-A866-9EF83C74F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509" y="2688232"/>
                <a:ext cx="3909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9956340-24EE-40C3-B744-7E4F6FC6EEA6}"/>
              </a:ext>
            </a:extLst>
          </p:cNvPr>
          <p:cNvCxnSpPr>
            <a:cxnSpLocks/>
          </p:cNvCxnSpPr>
          <p:nvPr/>
        </p:nvCxnSpPr>
        <p:spPr bwMode="auto">
          <a:xfrm>
            <a:off x="6321152" y="2469569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6F3D665-C9E9-489F-8C01-7ED3BF55E57E}"/>
                  </a:ext>
                </a:extLst>
              </p:cNvPr>
              <p:cNvSpPr txBox="1"/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6F3D665-C9E9-489F-8C01-7ED3BF55E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028" y="2659507"/>
                <a:ext cx="418083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BBFF6E5-07C7-4DF3-B62E-B4FCA5FFB36E}"/>
                  </a:ext>
                </a:extLst>
              </p:cNvPr>
              <p:cNvSpPr txBox="1"/>
              <p:nvPr/>
            </p:nvSpPr>
            <p:spPr>
              <a:xfrm>
                <a:off x="6150343" y="2693615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BBFF6E5-07C7-4DF3-B62E-B4FCA5FFB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343" y="2693615"/>
                <a:ext cx="418083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FDA3D5C-7804-4495-ADED-B078351D9448}"/>
                  </a:ext>
                </a:extLst>
              </p:cNvPr>
              <p:cNvSpPr txBox="1"/>
              <p:nvPr/>
            </p:nvSpPr>
            <p:spPr>
              <a:xfrm>
                <a:off x="6165312" y="2074907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FDA3D5C-7804-4495-ADED-B078351D9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2" y="2074907"/>
                <a:ext cx="388144" cy="400110"/>
              </a:xfrm>
              <a:prstGeom prst="rect">
                <a:avLst/>
              </a:prstGeom>
              <a:blipFill>
                <a:blip r:embed="rId7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DE045D-0B4A-4BAB-8D45-2CF60ED8DB98}"/>
                  </a:ext>
                </a:extLst>
              </p:cNvPr>
              <p:cNvSpPr txBox="1"/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DE045D-0B4A-4BAB-8D45-2CF60ED8D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79" y="1756086"/>
                <a:ext cx="388144" cy="400110"/>
              </a:xfrm>
              <a:prstGeom prst="rect">
                <a:avLst/>
              </a:prstGeom>
              <a:blipFill>
                <a:blip r:embed="rId8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7815316-AAE3-47DC-BDD4-809CC460ECD5}"/>
                  </a:ext>
                </a:extLst>
              </p:cNvPr>
              <p:cNvSpPr txBox="1"/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7815316-AAE3-47DC-BDD4-809CC460E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1" y="1418834"/>
                <a:ext cx="679162" cy="400110"/>
              </a:xfrm>
              <a:prstGeom prst="rect">
                <a:avLst/>
              </a:prstGeom>
              <a:blipFill>
                <a:blip r:embed="rId9"/>
                <a:stretch>
                  <a:fillRect l="-4505" r="-5405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33991750-5C03-4BF5-B4D3-AE133ED6D10A}"/>
              </a:ext>
            </a:extLst>
          </p:cNvPr>
          <p:cNvSpPr/>
          <p:nvPr/>
        </p:nvSpPr>
        <p:spPr bwMode="auto">
          <a:xfrm>
            <a:off x="5429446" y="1299587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9314649-9F9A-4156-9DF1-E452B1B41CAB}"/>
                  </a:ext>
                </a:extLst>
              </p:cNvPr>
              <p:cNvSpPr txBox="1"/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9314649-9F9A-4156-9DF1-E452B1B41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23" y="1128375"/>
                <a:ext cx="388144" cy="400110"/>
              </a:xfrm>
              <a:prstGeom prst="rect">
                <a:avLst/>
              </a:prstGeom>
              <a:blipFill>
                <a:blip r:embed="rId10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3C078EF-0CC5-4776-B786-F08469EC0E20}"/>
                  </a:ext>
                </a:extLst>
              </p:cNvPr>
              <p:cNvSpPr txBox="1"/>
              <p:nvPr/>
            </p:nvSpPr>
            <p:spPr>
              <a:xfrm>
                <a:off x="7545194" y="1797788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3C078EF-0CC5-4776-B786-F08469EC0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194" y="1797788"/>
                <a:ext cx="388144" cy="400110"/>
              </a:xfrm>
              <a:prstGeom prst="rect">
                <a:avLst/>
              </a:prstGeom>
              <a:blipFill>
                <a:blip r:embed="rId11"/>
                <a:stretch>
                  <a:fillRect l="-7937" r="-158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A1E1C35-C591-491A-A289-9F0AC07CF3A9}"/>
                  </a:ext>
                </a:extLst>
              </p:cNvPr>
              <p:cNvSpPr txBox="1"/>
              <p:nvPr/>
            </p:nvSpPr>
            <p:spPr>
              <a:xfrm>
                <a:off x="7568773" y="2688232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A1E1C35-C591-491A-A289-9F0AC07CF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3" y="2688232"/>
                <a:ext cx="418083" cy="400110"/>
              </a:xfrm>
              <a:prstGeom prst="rect">
                <a:avLst/>
              </a:prstGeom>
              <a:blipFill>
                <a:blip r:embed="rId12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>
            <a:extLst>
              <a:ext uri="{FF2B5EF4-FFF2-40B4-BE49-F238E27FC236}">
                <a16:creationId xmlns:a16="http://schemas.microsoft.com/office/drawing/2014/main" id="{04B2663B-A923-476E-A547-64E478EC3E1C}"/>
              </a:ext>
            </a:extLst>
          </p:cNvPr>
          <p:cNvSpPr/>
          <p:nvPr/>
        </p:nvSpPr>
        <p:spPr bwMode="auto">
          <a:xfrm>
            <a:off x="7820153" y="2292128"/>
            <a:ext cx="965213" cy="35253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5" name="箭头: 下 64">
            <a:extLst>
              <a:ext uri="{FF2B5EF4-FFF2-40B4-BE49-F238E27FC236}">
                <a16:creationId xmlns:a16="http://schemas.microsoft.com/office/drawing/2014/main" id="{553AF28C-D3BF-4611-BBE5-35F9F7C296FE}"/>
              </a:ext>
            </a:extLst>
          </p:cNvPr>
          <p:cNvSpPr/>
          <p:nvPr/>
        </p:nvSpPr>
        <p:spPr bwMode="auto">
          <a:xfrm>
            <a:off x="6766696" y="3212976"/>
            <a:ext cx="567172" cy="92011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5E9B9F2-F5DD-4750-AC70-B26FDF1CB84D}"/>
              </a:ext>
            </a:extLst>
          </p:cNvPr>
          <p:cNvCxnSpPr>
            <a:cxnSpLocks/>
          </p:cNvCxnSpPr>
          <p:nvPr/>
        </p:nvCxnSpPr>
        <p:spPr bwMode="auto">
          <a:xfrm flipH="1">
            <a:off x="7851736" y="4947547"/>
            <a:ext cx="4416" cy="47501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3510090-8731-44A5-BB23-1C65BFCE056D}"/>
              </a:ext>
            </a:extLst>
          </p:cNvPr>
          <p:cNvCxnSpPr>
            <a:cxnSpLocks/>
          </p:cNvCxnSpPr>
          <p:nvPr/>
        </p:nvCxnSpPr>
        <p:spPr bwMode="auto">
          <a:xfrm>
            <a:off x="5582612" y="5445224"/>
            <a:ext cx="2259823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D402214-97CF-4256-9423-9CCA0AD4A15A}"/>
              </a:ext>
            </a:extLst>
          </p:cNvPr>
          <p:cNvCxnSpPr>
            <a:cxnSpLocks/>
          </p:cNvCxnSpPr>
          <p:nvPr/>
        </p:nvCxnSpPr>
        <p:spPr bwMode="auto">
          <a:xfrm>
            <a:off x="5582508" y="4701749"/>
            <a:ext cx="0" cy="72641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E0B6E5A-DEC3-4085-B40B-4FB7D61EA6FC}"/>
                  </a:ext>
                </a:extLst>
              </p:cNvPr>
              <p:cNvSpPr txBox="1"/>
              <p:nvPr/>
            </p:nvSpPr>
            <p:spPr>
              <a:xfrm>
                <a:off x="5387129" y="5391491"/>
                <a:ext cx="3909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E0B6E5A-DEC3-4085-B40B-4FB7D61EA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129" y="5391491"/>
                <a:ext cx="390966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E7377B19-72EA-4DFA-AABA-A798ED002510}"/>
              </a:ext>
            </a:extLst>
          </p:cNvPr>
          <p:cNvCxnSpPr>
            <a:cxnSpLocks/>
          </p:cNvCxnSpPr>
          <p:nvPr/>
        </p:nvCxnSpPr>
        <p:spPr bwMode="auto">
          <a:xfrm>
            <a:off x="6385772" y="5172828"/>
            <a:ext cx="0" cy="27559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8617A4A-3CB4-4414-93A5-2FAAA5C2EC91}"/>
                  </a:ext>
                </a:extLst>
              </p:cNvPr>
              <p:cNvSpPr txBox="1"/>
              <p:nvPr/>
            </p:nvSpPr>
            <p:spPr>
              <a:xfrm>
                <a:off x="6214963" y="5396874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8617A4A-3CB4-4414-93A5-2FAAA5C2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963" y="5396874"/>
                <a:ext cx="418083" cy="400110"/>
              </a:xfrm>
              <a:prstGeom prst="rect">
                <a:avLst/>
              </a:prstGeom>
              <a:blipFill>
                <a:blip r:embed="rId1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3DA7B11-F2F5-4288-94B7-AF5FED85A0C2}"/>
                  </a:ext>
                </a:extLst>
              </p:cNvPr>
              <p:cNvSpPr txBox="1"/>
              <p:nvPr/>
            </p:nvSpPr>
            <p:spPr>
              <a:xfrm>
                <a:off x="6229932" y="4778166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3DA7B11-F2F5-4288-94B7-AF5FED85A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32" y="4778166"/>
                <a:ext cx="388144" cy="400110"/>
              </a:xfrm>
              <a:prstGeom prst="rect">
                <a:avLst/>
              </a:prstGeom>
              <a:blipFill>
                <a:blip r:embed="rId15"/>
                <a:stretch>
                  <a:fillRect l="-7813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BAFE410-B933-4B29-ABD1-626CF045C658}"/>
                  </a:ext>
                </a:extLst>
              </p:cNvPr>
              <p:cNvSpPr txBox="1"/>
              <p:nvPr/>
            </p:nvSpPr>
            <p:spPr>
              <a:xfrm>
                <a:off x="5234199" y="4459345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BAFE410-B933-4B29-ABD1-626CF045C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199" y="4459345"/>
                <a:ext cx="388144" cy="400110"/>
              </a:xfrm>
              <a:prstGeom prst="rect">
                <a:avLst/>
              </a:prstGeom>
              <a:blipFill>
                <a:blip r:embed="rId16"/>
                <a:stretch>
                  <a:fillRect l="-7937" r="-1587"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CFB4B7C-910F-4197-BBBE-8A74AB685B8A}"/>
                  </a:ext>
                </a:extLst>
              </p:cNvPr>
              <p:cNvSpPr txBox="1"/>
              <p:nvPr/>
            </p:nvSpPr>
            <p:spPr>
              <a:xfrm>
                <a:off x="5305651" y="4122093"/>
                <a:ext cx="6791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CFB4B7C-910F-4197-BBBE-8A74AB685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651" y="4122093"/>
                <a:ext cx="679162" cy="400110"/>
              </a:xfrm>
              <a:prstGeom prst="rect">
                <a:avLst/>
              </a:prstGeom>
              <a:blipFill>
                <a:blip r:embed="rId17"/>
                <a:stretch>
                  <a:fillRect l="-3571" r="-4464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B13E2E3-8E96-4B51-8D94-37C293C1B861}"/>
              </a:ext>
            </a:extLst>
          </p:cNvPr>
          <p:cNvSpPr/>
          <p:nvPr/>
        </p:nvSpPr>
        <p:spPr bwMode="auto">
          <a:xfrm>
            <a:off x="5494066" y="4002846"/>
            <a:ext cx="3591036" cy="1325651"/>
          </a:xfrm>
          <a:custGeom>
            <a:avLst/>
            <a:gdLst>
              <a:gd name="connsiteX0" fmla="*/ 0 w 3892550"/>
              <a:gd name="connsiteY0" fmla="*/ 469900 h 1174431"/>
              <a:gd name="connsiteX1" fmla="*/ 552450 w 3892550"/>
              <a:gd name="connsiteY1" fmla="*/ 863600 h 1174431"/>
              <a:gd name="connsiteX2" fmla="*/ 1866900 w 3892550"/>
              <a:gd name="connsiteY2" fmla="*/ 1136650 h 1174431"/>
              <a:gd name="connsiteX3" fmla="*/ 3892550 w 3892550"/>
              <a:gd name="connsiteY3" fmla="*/ 0 h 11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550" h="1174431">
                <a:moveTo>
                  <a:pt x="0" y="469900"/>
                </a:moveTo>
                <a:cubicBezTo>
                  <a:pt x="120650" y="611187"/>
                  <a:pt x="241300" y="752475"/>
                  <a:pt x="552450" y="863600"/>
                </a:cubicBezTo>
                <a:cubicBezTo>
                  <a:pt x="863600" y="974725"/>
                  <a:pt x="1310217" y="1280583"/>
                  <a:pt x="1866900" y="1136650"/>
                </a:cubicBezTo>
                <a:cubicBezTo>
                  <a:pt x="2423583" y="992717"/>
                  <a:pt x="3573992" y="177800"/>
                  <a:pt x="3892550" y="0"/>
                </a:cubicBez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8F792BB-A715-4B08-A478-9A08B0EA7F77}"/>
                  </a:ext>
                </a:extLst>
              </p:cNvPr>
              <p:cNvSpPr txBox="1"/>
              <p:nvPr/>
            </p:nvSpPr>
            <p:spPr>
              <a:xfrm>
                <a:off x="7609814" y="4501047"/>
                <a:ext cx="3881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8F792BB-A715-4B08-A478-9A08B0EA7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814" y="4501047"/>
                <a:ext cx="388144" cy="400110"/>
              </a:xfrm>
              <a:prstGeom prst="rect">
                <a:avLst/>
              </a:prstGeom>
              <a:blipFill>
                <a:blip r:embed="rId18"/>
                <a:stretch>
                  <a:fillRect l="-625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685D93E-4314-4A1F-B7FD-C2F92C000362}"/>
                  </a:ext>
                </a:extLst>
              </p:cNvPr>
              <p:cNvSpPr txBox="1"/>
              <p:nvPr/>
            </p:nvSpPr>
            <p:spPr>
              <a:xfrm>
                <a:off x="7633393" y="5391491"/>
                <a:ext cx="4180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685D93E-4314-4A1F-B7FD-C2F92C000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393" y="5391491"/>
                <a:ext cx="418083" cy="400110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206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4" grpId="0"/>
      <p:bldP spid="47" grpId="0"/>
      <p:bldP spid="52" grpId="0"/>
      <p:bldP spid="59" grpId="0"/>
      <p:bldP spid="60" grpId="0" animBg="1"/>
      <p:bldP spid="61" grpId="0"/>
      <p:bldP spid="62" grpId="0"/>
      <p:bldP spid="63" grpId="0"/>
      <p:bldP spid="64" grpId="0" animBg="1"/>
      <p:bldP spid="65" grpId="0" animBg="1"/>
      <p:bldP spid="81" grpId="0"/>
      <p:bldP spid="83" grpId="0"/>
      <p:bldP spid="84" grpId="0"/>
      <p:bldP spid="85" grpId="0"/>
      <p:bldP spid="86" grpId="0"/>
      <p:bldP spid="87" grpId="0" animBg="1"/>
      <p:bldP spid="88" grpId="0"/>
      <p:bldP spid="8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3985C-3848-40E5-9E50-DBA0C1B3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二次插值法的迭代过程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CF9C5-BBF2-4D43-9A61-86CD43A2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3"/>
            <a:ext cx="9719492" cy="720080"/>
          </a:xfrm>
        </p:spPr>
        <p:txBody>
          <a:bodyPr/>
          <a:lstStyle/>
          <a:p>
            <a:r>
              <a:rPr lang="zh-CN" altLang="en-US" dirty="0"/>
              <a:t>基本步骤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79B79-30C3-4A6A-9F99-4EA13230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A03431-B8C1-47AA-9A9C-8B798F4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B8E1C9C-2FCF-40A1-BEC9-A5318C0E5A30}"/>
                  </a:ext>
                </a:extLst>
              </p:cNvPr>
              <p:cNvSpPr txBox="1"/>
              <p:nvPr/>
            </p:nvSpPr>
            <p:spPr>
              <a:xfrm>
                <a:off x="344489" y="1925144"/>
                <a:ext cx="8340398" cy="310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给定初始化单峰区间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之间取一点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计算对应的函数值分别为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根据公式求出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如果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，则算法结束，输出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否则，判断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baseline="-25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的大小进行区间缩短 ，返回第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步继续进行迭代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B8E1C9C-2FCF-40A1-BEC9-A5318C0E5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9" y="1925144"/>
                <a:ext cx="8340398" cy="3104055"/>
              </a:xfrm>
              <a:prstGeom prst="rect">
                <a:avLst/>
              </a:prstGeom>
              <a:blipFill>
                <a:blip r:embed="rId3"/>
                <a:stretch>
                  <a:fillRect l="-1389" t="-2947" b="-3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5A89BFD-29AC-4406-A074-C2FBC866C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115236"/>
              </p:ext>
            </p:extLst>
          </p:nvPr>
        </p:nvGraphicFramePr>
        <p:xfrm>
          <a:off x="1221114" y="3497578"/>
          <a:ext cx="2807400" cy="58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0440" progId="Equation.DSMT4">
                  <p:embed/>
                </p:oleObj>
              </mc:Choice>
              <mc:Fallback>
                <p:oleObj name="Equation" r:id="rId4" imgW="9144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1114" y="3497578"/>
                        <a:ext cx="2807400" cy="58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90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A4DDE-4F43-43A2-9BF0-CD2BB613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二次插值法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A04603-580B-429A-9106-019068EF1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P41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3-2</a:t>
                </a:r>
                <a:r>
                  <a:rPr lang="zh-CN" altLang="en-US" dirty="0"/>
                  <a:t>）：二次插值法求解一维搜索问题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给定初始化搜索区间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[1,7]</m:t>
                    </m:r>
                  </m:oMath>
                </a14:m>
                <a:r>
                  <a:rPr lang="zh-CN" altLang="en-US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zh-CN" altLang="en-US" dirty="0"/>
                  <a:t>，用二次插值法求下列函数的极值点。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A04603-580B-429A-9106-019068EF1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9FE0F7-1AE1-4FE1-BDF8-6151CDF7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255CA5-5E36-4890-B762-7562C24B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B8CF9A5-3692-4D3E-A18D-2147CEC02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708741"/>
              </p:ext>
            </p:extLst>
          </p:nvPr>
        </p:nvGraphicFramePr>
        <p:xfrm>
          <a:off x="2864768" y="3717032"/>
          <a:ext cx="2561132" cy="640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177480" progId="Equation.DSMT4">
                  <p:embed/>
                </p:oleObj>
              </mc:Choice>
              <mc:Fallback>
                <p:oleObj name="Equation" r:id="rId4" imgW="711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64768" y="3717032"/>
                        <a:ext cx="2561132" cy="640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160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B63261-21B5-9E9B-93BC-4203D21DF081}"/>
                  </a:ext>
                </a:extLst>
              </p:cNvPr>
              <p:cNvSpPr txBox="1"/>
              <p:nvPr/>
            </p:nvSpPr>
            <p:spPr>
              <a:xfrm>
                <a:off x="192799" y="1196752"/>
                <a:ext cx="8340398" cy="492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给定初始化单峰区间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[1,7]</m:t>
                    </m:r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之间取一点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计算对应的函数值分别为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 sz="2400" dirty="0"/>
                  <a:t>根据公式求出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，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B63261-21B5-9E9B-93BC-4203D21DF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99" y="1196752"/>
                <a:ext cx="8340398" cy="4922181"/>
              </a:xfrm>
              <a:prstGeom prst="rect">
                <a:avLst/>
              </a:prstGeom>
              <a:blipFill>
                <a:blip r:embed="rId2"/>
                <a:stretch>
                  <a:fillRect l="-1389" t="-1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66B42DDF-FA22-9CBD-F528-9D118D11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EFD94-C068-BDEE-9E26-8ED4468A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D425A5-DC26-75B4-0040-8F7351EB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1D9E710-FEA6-9303-36A9-CD2E0E747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033386"/>
              </p:ext>
            </p:extLst>
          </p:nvPr>
        </p:nvGraphicFramePr>
        <p:xfrm>
          <a:off x="1213744" y="1681616"/>
          <a:ext cx="28987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228600" progId="Equation.DSMT4">
                  <p:embed/>
                </p:oleObj>
              </mc:Choice>
              <mc:Fallback>
                <p:oleObj name="Equation" r:id="rId3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3744" y="1681616"/>
                        <a:ext cx="2898775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C1C92CE-4B4B-F3B5-6740-08B0F10FC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705377"/>
              </p:ext>
            </p:extLst>
          </p:nvPr>
        </p:nvGraphicFramePr>
        <p:xfrm>
          <a:off x="1220094" y="4225163"/>
          <a:ext cx="7172325" cy="242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787320" progId="Equation.DSMT4">
                  <p:embed/>
                </p:oleObj>
              </mc:Choice>
              <mc:Fallback>
                <p:oleObj name="Equation" r:id="rId5" imgW="233676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5A89BFD-29AC-4406-A074-C2FBC866CC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0094" y="4225163"/>
                        <a:ext cx="7172325" cy="2420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9394922-360C-E880-F4CD-10F859420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698994"/>
              </p:ext>
            </p:extLst>
          </p:nvPr>
        </p:nvGraphicFramePr>
        <p:xfrm>
          <a:off x="1213744" y="2853432"/>
          <a:ext cx="5099051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23800" imgH="393480" progId="Equation.DSMT4">
                  <p:embed/>
                </p:oleObj>
              </mc:Choice>
              <mc:Fallback>
                <p:oleObj name="Equation" r:id="rId7" imgW="232380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1D9E710-FEA6-9303-36A9-CD2E0E7470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3744" y="2853432"/>
                        <a:ext cx="5099051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258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B63261-21B5-9E9B-93BC-4203D21DF081}"/>
                  </a:ext>
                </a:extLst>
              </p:cNvPr>
              <p:cNvSpPr txBox="1"/>
              <p:nvPr/>
            </p:nvSpPr>
            <p:spPr>
              <a:xfrm>
                <a:off x="192798" y="1196752"/>
                <a:ext cx="9080681" cy="4581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 startAt="4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baseline="-25000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4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，如果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，则算法结束，输出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r>
                  <a:rPr lang="zh-CN" altLang="en-US" sz="2400" dirty="0"/>
                  <a:t>不满足终止条件，判断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baseline="-25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的大小进行区间缩短 。</a:t>
                </a: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消去</a:t>
                </a:r>
                <a:r>
                  <a:rPr lang="en-US" altLang="zh-CN" sz="2400" dirty="0"/>
                  <a:t>[x2,x3]</a:t>
                </a:r>
              </a:p>
              <a:p>
                <a:pPr lvl="1"/>
                <a:r>
                  <a:rPr lang="en-US" altLang="zh-CN" sz="2400" dirty="0"/>
                  <a:t>	</a:t>
                </a:r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endParaRPr lang="en-US" altLang="zh-CN" sz="2400" dirty="0"/>
              </a:p>
              <a:p>
                <a:pPr marL="342900" indent="-342900">
                  <a:buFont typeface="+mj-ea"/>
                  <a:buAutoNum type="circleNumDbPlain" startAt="4"/>
                </a:pPr>
                <a:r>
                  <a:rPr lang="zh-CN" altLang="en-US" sz="2400" dirty="0"/>
                  <a:t>返回第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步继续进行迭代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5B63261-21B5-9E9B-93BC-4203D21DF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98" y="1196752"/>
                <a:ext cx="9080681" cy="4581382"/>
              </a:xfrm>
              <a:prstGeom prst="rect">
                <a:avLst/>
              </a:prstGeom>
              <a:blipFill>
                <a:blip r:embed="rId2"/>
                <a:stretch>
                  <a:fillRect l="-1276" t="-1862" b="-2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66B42DDF-FA22-9CBD-F528-9D118D11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EFD94-C068-BDEE-9E26-8ED4468A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D425A5-DC26-75B4-0040-8F7351EB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9394922-360C-E880-F4CD-10F859420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133659"/>
              </p:ext>
            </p:extLst>
          </p:nvPr>
        </p:nvGraphicFramePr>
        <p:xfrm>
          <a:off x="1372803" y="1733643"/>
          <a:ext cx="37084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253800" progId="Equation.DSMT4">
                  <p:embed/>
                </p:oleObj>
              </mc:Choice>
              <mc:Fallback>
                <p:oleObj name="Equation" r:id="rId3" imgW="168876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9394922-360C-E880-F4CD-10F859420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2803" y="1733643"/>
                        <a:ext cx="3708400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CB4C057-3C6B-F92F-741C-1F9AD3994E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880789"/>
              </p:ext>
            </p:extLst>
          </p:nvPr>
        </p:nvGraphicFramePr>
        <p:xfrm>
          <a:off x="1372803" y="2750562"/>
          <a:ext cx="35972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457200" progId="Equation.DSMT4">
                  <p:embed/>
                </p:oleObj>
              </mc:Choice>
              <mc:Fallback>
                <p:oleObj name="Equation" r:id="rId5" imgW="163800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9394922-360C-E880-F4CD-10F859420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2803" y="2750562"/>
                        <a:ext cx="3597275" cy="100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379296B-9E32-E8CD-763A-8AE3EB2895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906791"/>
              </p:ext>
            </p:extLst>
          </p:nvPr>
        </p:nvGraphicFramePr>
        <p:xfrm>
          <a:off x="729456" y="4494218"/>
          <a:ext cx="61356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960" imgH="228600" progId="Equation.DSMT4">
                  <p:embed/>
                </p:oleObj>
              </mc:Choice>
              <mc:Fallback>
                <p:oleObj name="Equation" r:id="rId7" imgW="2793960" imgH="228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CB4C057-3C6B-F92F-741C-1F9AD3994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9456" y="4494218"/>
                        <a:ext cx="6135688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193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4CF3B-8F1D-2D49-9E4C-FD752896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34BECF-8C65-B60B-056F-D987AE554D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800" dirty="0"/>
                  <a:t>1. </a:t>
                </a:r>
                <a:r>
                  <a:rPr lang="zh-CN" altLang="en-US" sz="2800" dirty="0"/>
                  <a:t>将单峰区间搜索算法、黄金分割法、二次插值法利用</a:t>
                </a:r>
                <a:r>
                  <a:rPr lang="en-US" altLang="zh-CN" sz="2800" dirty="0"/>
                  <a:t>C</a:t>
                </a:r>
                <a:r>
                  <a:rPr lang="zh-CN" altLang="en-US" sz="2800" dirty="0"/>
                  <a:t>语言实现，并且将它们分别封装到函数中调用，以供后续程序调用需求。</a:t>
                </a:r>
                <a:endParaRPr lang="en-US" altLang="zh-CN" sz="2800" dirty="0"/>
              </a:p>
              <a:p>
                <a:r>
                  <a:rPr lang="en-US" altLang="zh-CN" sz="2800" dirty="0"/>
                  <a:t>2. </a:t>
                </a:r>
                <a:r>
                  <a:rPr lang="zh-CN" altLang="en-US" sz="2800" dirty="0"/>
                  <a:t>给定初始点</a:t>
                </a:r>
                <a:r>
                  <a:rPr lang="en-US" altLang="zh-CN" sz="2800" dirty="0"/>
                  <a:t>a1=0, </a:t>
                </a:r>
                <a:r>
                  <a:rPr lang="zh-CN" altLang="en-US" sz="2800" dirty="0"/>
                  <a:t>步长</a:t>
                </a:r>
                <a:r>
                  <a:rPr lang="en-US" altLang="zh-CN" sz="2800" dirty="0"/>
                  <a:t>h=0.1</a:t>
                </a:r>
                <a:r>
                  <a:rPr lang="zh-CN" altLang="en-US" sz="2800" dirty="0"/>
                  <a:t>，使函数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zh-CN" altLang="en-US" sz="2800" dirty="0"/>
                  <a:t>的极小值，要求：</a:t>
                </a:r>
                <a:endParaRPr lang="en-US" altLang="zh-CN" sz="28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根据进退算法求出单峰区间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分别用黄金分割法和二次插值法写出两次迭代的计算过程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用编写的</a:t>
                </a:r>
                <a:r>
                  <a:rPr lang="en-US" altLang="zh-CN" sz="2400" dirty="0"/>
                  <a:t>C</a:t>
                </a:r>
                <a:r>
                  <a:rPr lang="zh-CN" altLang="en-US" sz="2400" dirty="0"/>
                  <a:t>语言程序验证计算过程是否正确，并且自己验证，在相同的精度条件夏，两种方法实际的极值点以及所需要的迭代次数。</a:t>
                </a:r>
                <a:endParaRPr lang="en-US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34BECF-8C65-B60B-056F-D987AE554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7" t="-1389" r="-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EC889-41D0-8B11-8D33-363A3CEB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2022年10月4日星期二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62A1E5-48D3-831D-AF2C-8595FB6A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71525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9472</TotalTime>
  <Words>1644</Words>
  <Application>Microsoft Office PowerPoint</Application>
  <PresentationFormat>A4 纸张(210x297 毫米)</PresentationFormat>
  <Paragraphs>318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黑体</vt:lpstr>
      <vt:lpstr>宋体</vt:lpstr>
      <vt:lpstr>Microsoft Yahei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一维搜索方法</vt:lpstr>
      <vt:lpstr>PowerPoint 演示文稿</vt:lpstr>
      <vt:lpstr>解析</vt:lpstr>
      <vt:lpstr>PowerPoint 演示文稿</vt:lpstr>
      <vt:lpstr>解析</vt:lpstr>
      <vt:lpstr>3. 0.618法</vt:lpstr>
      <vt:lpstr>4. 二次插值法</vt:lpstr>
      <vt:lpstr>4. 二次插值法</vt:lpstr>
      <vt:lpstr>4. 二次插值法</vt:lpstr>
      <vt:lpstr>4. 二次插值法</vt:lpstr>
      <vt:lpstr>4. 二次插值法</vt:lpstr>
      <vt:lpstr>二次插值法区间缩短分析</vt:lpstr>
      <vt:lpstr>二次插值法区间缩短分析</vt:lpstr>
      <vt:lpstr>二次插值法区间缩短分析</vt:lpstr>
      <vt:lpstr>二次插值法区间缩短分析</vt:lpstr>
      <vt:lpstr>二次插值法的迭代过程</vt:lpstr>
      <vt:lpstr>4. 二次插值法</vt:lpstr>
      <vt:lpstr>例2：解</vt:lpstr>
      <vt:lpstr>例2：解</vt:lpstr>
      <vt:lpstr>练习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4509</cp:revision>
  <dcterms:created xsi:type="dcterms:W3CDTF">2016-10-01T05:27:09Z</dcterms:created>
  <dcterms:modified xsi:type="dcterms:W3CDTF">2022-10-04T13:00:24Z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