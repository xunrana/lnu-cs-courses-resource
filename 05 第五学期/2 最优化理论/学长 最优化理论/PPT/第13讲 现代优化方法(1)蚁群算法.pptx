
<file path=[Content_Types].xml><?xml version="1.0" encoding="utf-8"?>
<Types xmlns="http://schemas.openxmlformats.org/package/2006/content-types">
  <Default Extension="bin" ContentType="application/vnd.openxmlformats-officedocument.oleObject"/>
  <Default Extension="jpeg" ContentType="image/jpeg"/>
  <Default Extension="jpg" ContentType="image/jpeg"/>
  <Default Extension="png" ContentType="image/png"/>
  <Default Extension="rels" ContentType="application/vnd.openxmlformats-package.relationships+xml"/>
  <Default Extension="wmf" ContentType="image/x-wmf"/>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bookmarkIdSeed="2">
  <p:sldMasterIdLst>
    <p:sldMasterId id="2147483657" r:id="rId1"/>
  </p:sldMasterIdLst>
  <p:notesMasterIdLst>
    <p:notesMasterId r:id="rId68"/>
  </p:notesMasterIdLst>
  <p:handoutMasterIdLst>
    <p:handoutMasterId r:id="rId69"/>
  </p:handoutMasterIdLst>
  <p:sldIdLst>
    <p:sldId id="256" r:id="rId2"/>
    <p:sldId id="257" r:id="rId3"/>
    <p:sldId id="258" r:id="rId4"/>
    <p:sldId id="296" r:id="rId5"/>
    <p:sldId id="297" r:id="rId6"/>
    <p:sldId id="298" r:id="rId7"/>
    <p:sldId id="299" r:id="rId8"/>
    <p:sldId id="300" r:id="rId9"/>
    <p:sldId id="303" r:id="rId10"/>
    <p:sldId id="304" r:id="rId11"/>
    <p:sldId id="305" r:id="rId12"/>
    <p:sldId id="306" r:id="rId13"/>
    <p:sldId id="307" r:id="rId14"/>
    <p:sldId id="309" r:id="rId15"/>
    <p:sldId id="301" r:id="rId16"/>
    <p:sldId id="302" r:id="rId17"/>
    <p:sldId id="259" r:id="rId18"/>
    <p:sldId id="260" r:id="rId19"/>
    <p:sldId id="261" r:id="rId20"/>
    <p:sldId id="262" r:id="rId21"/>
    <p:sldId id="266" r:id="rId22"/>
    <p:sldId id="268" r:id="rId23"/>
    <p:sldId id="267" r:id="rId24"/>
    <p:sldId id="269" r:id="rId25"/>
    <p:sldId id="270" r:id="rId26"/>
    <p:sldId id="263" r:id="rId27"/>
    <p:sldId id="264" r:id="rId28"/>
    <p:sldId id="271" r:id="rId29"/>
    <p:sldId id="272" r:id="rId30"/>
    <p:sldId id="265" r:id="rId31"/>
    <p:sldId id="273" r:id="rId32"/>
    <p:sldId id="274" r:id="rId33"/>
    <p:sldId id="275" r:id="rId34"/>
    <p:sldId id="276" r:id="rId35"/>
    <p:sldId id="277" r:id="rId36"/>
    <p:sldId id="278" r:id="rId37"/>
    <p:sldId id="279" r:id="rId38"/>
    <p:sldId id="281" r:id="rId39"/>
    <p:sldId id="283" r:id="rId40"/>
    <p:sldId id="282" r:id="rId41"/>
    <p:sldId id="284" r:id="rId42"/>
    <p:sldId id="280" r:id="rId43"/>
    <p:sldId id="287" r:id="rId44"/>
    <p:sldId id="288" r:id="rId45"/>
    <p:sldId id="289" r:id="rId46"/>
    <p:sldId id="290" r:id="rId47"/>
    <p:sldId id="291" r:id="rId48"/>
    <p:sldId id="292" r:id="rId49"/>
    <p:sldId id="293" r:id="rId50"/>
    <p:sldId id="294" r:id="rId51"/>
    <p:sldId id="285" r:id="rId52"/>
    <p:sldId id="310" r:id="rId53"/>
    <p:sldId id="311" r:id="rId54"/>
    <p:sldId id="312" r:id="rId55"/>
    <p:sldId id="313" r:id="rId56"/>
    <p:sldId id="314" r:id="rId57"/>
    <p:sldId id="315" r:id="rId58"/>
    <p:sldId id="316" r:id="rId59"/>
    <p:sldId id="317" r:id="rId60"/>
    <p:sldId id="318" r:id="rId61"/>
    <p:sldId id="319" r:id="rId62"/>
    <p:sldId id="320" r:id="rId63"/>
    <p:sldId id="321" r:id="rId64"/>
    <p:sldId id="322" r:id="rId65"/>
    <p:sldId id="323" r:id="rId66"/>
    <p:sldId id="324" r:id="rId67"/>
  </p:sldIdLst>
  <p:sldSz cx="9906000" cy="6858000" type="A4"/>
  <p:notesSz cx="7010400" cy="9296400"/>
  <p:defaultTextStyle>
    <a:defPPr>
      <a:defRPr lang="en-US"/>
    </a:defPPr>
    <a:lvl1pPr algn="l" rtl="0" eaLnBrk="0" fontAlgn="base" hangingPunct="0">
      <a:spcBef>
        <a:spcPct val="0"/>
      </a:spcBef>
      <a:spcAft>
        <a:spcPct val="0"/>
      </a:spcAft>
      <a:defRPr kern="1200">
        <a:solidFill>
          <a:schemeClr val="tx1"/>
        </a:solidFill>
        <a:latin typeface="Arial" charset="0"/>
        <a:ea typeface="+mn-ea"/>
        <a:cs typeface="+mn-cs"/>
      </a:defRPr>
    </a:lvl1pPr>
    <a:lvl2pPr marL="457200" algn="l" rtl="0" eaLnBrk="0" fontAlgn="base" hangingPunct="0">
      <a:spcBef>
        <a:spcPct val="0"/>
      </a:spcBef>
      <a:spcAft>
        <a:spcPct val="0"/>
      </a:spcAft>
      <a:defRPr kern="1200">
        <a:solidFill>
          <a:schemeClr val="tx1"/>
        </a:solidFill>
        <a:latin typeface="Arial" charset="0"/>
        <a:ea typeface="+mn-ea"/>
        <a:cs typeface="+mn-cs"/>
      </a:defRPr>
    </a:lvl2pPr>
    <a:lvl3pPr marL="914400" algn="l" rtl="0" eaLnBrk="0" fontAlgn="base" hangingPunct="0">
      <a:spcBef>
        <a:spcPct val="0"/>
      </a:spcBef>
      <a:spcAft>
        <a:spcPct val="0"/>
      </a:spcAft>
      <a:defRPr kern="1200">
        <a:solidFill>
          <a:schemeClr val="tx1"/>
        </a:solidFill>
        <a:latin typeface="Arial" charset="0"/>
        <a:ea typeface="+mn-ea"/>
        <a:cs typeface="+mn-cs"/>
      </a:defRPr>
    </a:lvl3pPr>
    <a:lvl4pPr marL="1371600" algn="l" rtl="0" eaLnBrk="0" fontAlgn="base" hangingPunct="0">
      <a:spcBef>
        <a:spcPct val="0"/>
      </a:spcBef>
      <a:spcAft>
        <a:spcPct val="0"/>
      </a:spcAft>
      <a:defRPr kern="1200">
        <a:solidFill>
          <a:schemeClr val="tx1"/>
        </a:solidFill>
        <a:latin typeface="Arial" charset="0"/>
        <a:ea typeface="+mn-ea"/>
        <a:cs typeface="+mn-cs"/>
      </a:defRPr>
    </a:lvl4pPr>
    <a:lvl5pPr marL="1828800" algn="l" rtl="0" eaLnBrk="0" fontAlgn="base" hangingPunct="0">
      <a:spcBef>
        <a:spcPct val="0"/>
      </a:spcBef>
      <a:spcAft>
        <a:spcPct val="0"/>
      </a:spcAft>
      <a:defRPr kern="1200">
        <a:solidFill>
          <a:schemeClr val="tx1"/>
        </a:solidFill>
        <a:latin typeface="Arial" charset="0"/>
        <a:ea typeface="+mn-ea"/>
        <a:cs typeface="+mn-cs"/>
      </a:defRPr>
    </a:lvl5pPr>
    <a:lvl6pPr marL="2286000" algn="l" defTabSz="914400" rtl="0" eaLnBrk="1" latinLnBrk="0" hangingPunct="1">
      <a:defRPr kern="1200">
        <a:solidFill>
          <a:schemeClr val="tx1"/>
        </a:solidFill>
        <a:latin typeface="Arial" charset="0"/>
        <a:ea typeface="+mn-ea"/>
        <a:cs typeface="+mn-cs"/>
      </a:defRPr>
    </a:lvl6pPr>
    <a:lvl7pPr marL="2743200" algn="l" defTabSz="914400" rtl="0" eaLnBrk="1" latinLnBrk="0" hangingPunct="1">
      <a:defRPr kern="1200">
        <a:solidFill>
          <a:schemeClr val="tx1"/>
        </a:solidFill>
        <a:latin typeface="Arial" charset="0"/>
        <a:ea typeface="+mn-ea"/>
        <a:cs typeface="+mn-cs"/>
      </a:defRPr>
    </a:lvl7pPr>
    <a:lvl8pPr marL="3200400" algn="l" defTabSz="914400" rtl="0" eaLnBrk="1" latinLnBrk="0" hangingPunct="1">
      <a:defRPr kern="1200">
        <a:solidFill>
          <a:schemeClr val="tx1"/>
        </a:solidFill>
        <a:latin typeface="Arial" charset="0"/>
        <a:ea typeface="+mn-ea"/>
        <a:cs typeface="+mn-cs"/>
      </a:defRPr>
    </a:lvl8pPr>
    <a:lvl9pPr marL="3657600" algn="l" defTabSz="914400" rtl="0" eaLnBrk="1" latinLnBrk="0" hangingPunct="1">
      <a:defRPr kern="1200">
        <a:solidFill>
          <a:schemeClr val="tx1"/>
        </a:solidFill>
        <a:latin typeface="Arial" charset="0"/>
        <a:ea typeface="+mn-ea"/>
        <a:cs typeface="+mn-cs"/>
      </a:defRPr>
    </a:lvl9pPr>
  </p:defaultTextStyle>
  <p:extLst>
    <p:ext uri="{521415D9-36F7-43E2-AB2F-B90AF26B5E84}">
      <p14:sectionLst xmlns:p14="http://schemas.microsoft.com/office/powerpoint/2010/main">
        <p14:section name="默认节" id="{FBF6BE6E-4B09-4148-9F0C-7F96FBD9B713}">
          <p14:sldIdLst>
            <p14:sldId id="256"/>
            <p14:sldId id="257"/>
            <p14:sldId id="258"/>
            <p14:sldId id="296"/>
            <p14:sldId id="297"/>
            <p14:sldId id="298"/>
            <p14:sldId id="299"/>
            <p14:sldId id="300"/>
            <p14:sldId id="303"/>
            <p14:sldId id="304"/>
            <p14:sldId id="305"/>
            <p14:sldId id="306"/>
            <p14:sldId id="307"/>
            <p14:sldId id="309"/>
            <p14:sldId id="301"/>
            <p14:sldId id="302"/>
            <p14:sldId id="259"/>
            <p14:sldId id="260"/>
            <p14:sldId id="261"/>
            <p14:sldId id="262"/>
            <p14:sldId id="266"/>
            <p14:sldId id="268"/>
            <p14:sldId id="267"/>
            <p14:sldId id="269"/>
            <p14:sldId id="270"/>
            <p14:sldId id="263"/>
            <p14:sldId id="264"/>
            <p14:sldId id="271"/>
            <p14:sldId id="272"/>
            <p14:sldId id="265"/>
            <p14:sldId id="273"/>
            <p14:sldId id="274"/>
            <p14:sldId id="275"/>
            <p14:sldId id="276"/>
            <p14:sldId id="277"/>
            <p14:sldId id="278"/>
            <p14:sldId id="279"/>
            <p14:sldId id="281"/>
            <p14:sldId id="283"/>
            <p14:sldId id="282"/>
            <p14:sldId id="284"/>
            <p14:sldId id="280"/>
            <p14:sldId id="287"/>
            <p14:sldId id="288"/>
            <p14:sldId id="289"/>
            <p14:sldId id="290"/>
            <p14:sldId id="291"/>
            <p14:sldId id="292"/>
            <p14:sldId id="293"/>
            <p14:sldId id="294"/>
            <p14:sldId id="285"/>
            <p14:sldId id="310"/>
            <p14:sldId id="311"/>
            <p14:sldId id="312"/>
            <p14:sldId id="313"/>
            <p14:sldId id="314"/>
            <p14:sldId id="315"/>
            <p14:sldId id="316"/>
            <p14:sldId id="317"/>
            <p14:sldId id="318"/>
            <p14:sldId id="319"/>
            <p14:sldId id="320"/>
            <p14:sldId id="321"/>
            <p14:sldId id="322"/>
            <p14:sldId id="323"/>
            <p14:sldId id="324"/>
          </p14:sldIdLst>
        </p14:section>
      </p14:sectionLst>
    </p:ext>
    <p:ext uri="{EFAFB233-063F-42B5-8137-9DF3F51BA10A}">
      <p15:sldGuideLst xmlns:p15="http://schemas.microsoft.com/office/powerpoint/2012/main">
        <p15:guide id="1" orient="horz" pos="2160">
          <p15:clr>
            <a:srgbClr val="A4A3A4"/>
          </p15:clr>
        </p15:guide>
        <p15:guide id="2" pos="3120">
          <p15:clr>
            <a:srgbClr val="A4A3A4"/>
          </p15:clr>
        </p15:guide>
      </p15:sldGuideLst>
    </p:ext>
    <p:ext uri="{2D200454-40CA-4A62-9FC3-DE9A4176ACB9}">
      <p15:notesGuideLst xmlns:p15="http://schemas.microsoft.com/office/powerpoint/2012/main">
        <p15:guide id="1" orient="horz" pos="2928">
          <p15:clr>
            <a:srgbClr val="A4A3A4"/>
          </p15:clr>
        </p15:guide>
        <p15:guide id="2" pos="2208">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99"/>
    <a:srgbClr val="0000FF"/>
    <a:srgbClr val="FFFF66"/>
    <a:srgbClr val="30A040"/>
    <a:srgbClr val="CC3399"/>
    <a:srgbClr val="FFFFFF"/>
    <a:srgbClr val="0000CC"/>
    <a:srgbClr val="333399"/>
    <a:srgbClr val="FF99FF"/>
    <a:srgbClr val="00FF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无样式，网格型">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2D5ABB26-0587-4C30-8999-92F81FD0307C}" styleName="无样式，无网格">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F5AB1C69-6EDB-4FF4-983F-18BD219EF322}" styleName="中度样式 2 - 强调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6092" autoAdjust="0"/>
    <p:restoredTop sz="93826" autoAdjust="0"/>
  </p:normalViewPr>
  <p:slideViewPr>
    <p:cSldViewPr>
      <p:cViewPr varScale="1">
        <p:scale>
          <a:sx n="67" d="100"/>
          <a:sy n="67" d="100"/>
        </p:scale>
        <p:origin x="1080" y="48"/>
      </p:cViewPr>
      <p:guideLst>
        <p:guide orient="horz" pos="2160"/>
        <p:guide pos="3120"/>
      </p:guideLst>
    </p:cSldViewPr>
  </p:slideViewPr>
  <p:outlineViewPr>
    <p:cViewPr>
      <p:scale>
        <a:sx n="33" d="100"/>
        <a:sy n="33" d="100"/>
      </p:scale>
      <p:origin x="0" y="0"/>
    </p:cViewPr>
  </p:outlineViewPr>
  <p:notesTextViewPr>
    <p:cViewPr>
      <p:scale>
        <a:sx n="3" d="2"/>
        <a:sy n="3" d="2"/>
      </p:scale>
      <p:origin x="0" y="0"/>
    </p:cViewPr>
  </p:notesTextViewPr>
  <p:notesViewPr>
    <p:cSldViewPr>
      <p:cViewPr>
        <p:scale>
          <a:sx n="56" d="100"/>
          <a:sy n="56" d="100"/>
        </p:scale>
        <p:origin x="-1830" y="-96"/>
      </p:cViewPr>
      <p:guideLst>
        <p:guide orient="horz" pos="2928"/>
        <p:guide pos="2208"/>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slide" Target="slides/slide62.xml"/><Relationship Id="rId68" Type="http://schemas.openxmlformats.org/officeDocument/2006/relationships/notesMaster" Target="notesMasters/notesMaster1.xml"/><Relationship Id="rId7" Type="http://schemas.openxmlformats.org/officeDocument/2006/relationships/slide" Target="slides/slide6.xml"/><Relationship Id="rId71"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61" Type="http://schemas.openxmlformats.org/officeDocument/2006/relationships/slide" Target="slides/slide60.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handoutMaster" Target="handoutMasters/handoutMaster1.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theme" Target="theme/theme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s>
</file>

<file path=ppt/charts/_rels/chart1.xml.rels><?xml version="1.0" encoding="UTF-8" standalone="yes"?>
<Relationships xmlns="http://schemas.openxmlformats.org/package/2006/relationships"><Relationship Id="rId3" Type="http://schemas.openxmlformats.org/officeDocument/2006/relationships/package" Target="../embeddings/Microsoft_Excel_Worksheet.xlsx"/><Relationship Id="rId2" Type="http://schemas.microsoft.com/office/2011/relationships/chartColorStyle" Target="colors1.xml"/><Relationship Id="rId1" Type="http://schemas.microsoft.com/office/2011/relationships/chartStyle" Target="style1.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pieChart>
        <c:varyColors val="1"/>
        <c:ser>
          <c:idx val="0"/>
          <c:order val="0"/>
          <c:tx>
            <c:strRef>
              <c:f>Sheet1!$B$1</c:f>
              <c:strCache>
                <c:ptCount val="1"/>
                <c:pt idx="0">
                  <c:v>销售额</c:v>
                </c:pt>
              </c:strCache>
            </c:strRef>
          </c:tx>
          <c:dPt>
            <c:idx val="0"/>
            <c:bubble3D val="0"/>
            <c:spPr>
              <a:solidFill>
                <a:srgbClr val="0000FF"/>
              </a:solidFill>
              <a:ln w="19050">
                <a:solidFill>
                  <a:schemeClr val="lt1"/>
                </a:solidFill>
              </a:ln>
              <a:effectLst/>
            </c:spPr>
            <c:extLst>
              <c:ext xmlns:c16="http://schemas.microsoft.com/office/drawing/2014/chart" uri="{C3380CC4-5D6E-409C-BE32-E72D297353CC}">
                <c16:uniqueId val="{00000001-A8DF-4E6E-8D23-5168119C08E0}"/>
              </c:ext>
            </c:extLst>
          </c:dPt>
          <c:dPt>
            <c:idx val="1"/>
            <c:bubble3D val="0"/>
            <c:spPr>
              <a:solidFill>
                <a:schemeClr val="accent4"/>
              </a:solidFill>
              <a:ln w="19050">
                <a:solidFill>
                  <a:schemeClr val="lt1"/>
                </a:solidFill>
              </a:ln>
              <a:effectLst/>
            </c:spPr>
            <c:extLst>
              <c:ext xmlns:c16="http://schemas.microsoft.com/office/drawing/2014/chart" uri="{C3380CC4-5D6E-409C-BE32-E72D297353CC}">
                <c16:uniqueId val="{00000003-A8DF-4E6E-8D23-5168119C08E0}"/>
              </c:ext>
            </c:extLst>
          </c:dPt>
          <c:dPt>
            <c:idx val="2"/>
            <c:bubble3D val="0"/>
            <c:spPr>
              <a:solidFill>
                <a:schemeClr val="accent6"/>
              </a:solidFill>
              <a:ln w="19050">
                <a:solidFill>
                  <a:schemeClr val="lt1"/>
                </a:solidFill>
              </a:ln>
              <a:effectLst/>
            </c:spPr>
            <c:extLst>
              <c:ext xmlns:c16="http://schemas.microsoft.com/office/drawing/2014/chart" uri="{C3380CC4-5D6E-409C-BE32-E72D297353CC}">
                <c16:uniqueId val="{00000005-A8DF-4E6E-8D23-5168119C08E0}"/>
              </c:ext>
            </c:extLst>
          </c:dPt>
          <c:dLbls>
            <c:dLbl>
              <c:idx val="0"/>
              <c:layout>
                <c:manualLayout>
                  <c:x val="-0.21852769733748395"/>
                  <c:y val="1.3512251562553987E-2"/>
                </c:manualLayout>
              </c:layout>
              <c:spPr>
                <a:noFill/>
                <a:ln>
                  <a:noFill/>
                </a:ln>
                <a:effectLst/>
              </c:spPr>
              <c:txPr>
                <a:bodyPr rot="0" spcFirstLastPara="1" vertOverflow="ellipsis" vert="horz" wrap="square" lIns="38100" tIns="19050" rIns="38100" bIns="19050" anchor="ctr" anchorCtr="1">
                  <a:spAutoFit/>
                </a:bodyPr>
                <a:lstStyle/>
                <a:p>
                  <a:pPr>
                    <a:defRPr sz="1800" b="0" i="0" u="none" strike="noStrike" kern="1200" baseline="0">
                      <a:solidFill>
                        <a:srgbClr val="0000FF"/>
                      </a:solidFill>
                      <a:latin typeface="+mn-lt"/>
                      <a:ea typeface="+mn-ea"/>
                      <a:cs typeface="+mn-cs"/>
                    </a:defRPr>
                  </a:pPr>
                  <a:endParaRPr lang="zh-CN"/>
                </a:p>
              </c:txPr>
              <c:dLblPos val="bestFit"/>
              <c:showLegendKey val="0"/>
              <c:showVal val="1"/>
              <c:showCatName val="0"/>
              <c:showSerName val="0"/>
              <c:showPercent val="0"/>
              <c:showBubbleSize val="0"/>
              <c:extLst>
                <c:ext xmlns:c15="http://schemas.microsoft.com/office/drawing/2012/chart" uri="{CE6537A1-D6FC-4f65-9D91-7224C49458BB}">
                  <c15:layout>
                    <c:manualLayout>
                      <c:w val="0.27581963170246071"/>
                      <c:h val="0.26328789561121474"/>
                    </c:manualLayout>
                  </c15:layout>
                </c:ext>
                <c:ext xmlns:c16="http://schemas.microsoft.com/office/drawing/2014/chart" uri="{C3380CC4-5D6E-409C-BE32-E72D297353CC}">
                  <c16:uniqueId val="{00000001-A8DF-4E6E-8D23-5168119C08E0}"/>
                </c:ext>
              </c:extLst>
            </c:dLbl>
            <c:dLbl>
              <c:idx val="1"/>
              <c:layout>
                <c:manualLayout>
                  <c:x val="7.0474742634512047E-2"/>
                  <c:y val="-5.465320313061765E-3"/>
                </c:manualLayout>
              </c:layout>
              <c:dLblPos val="bestFi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3-A8DF-4E6E-8D23-5168119C08E0}"/>
                </c:ext>
              </c:extLst>
            </c:dLbl>
            <c:dLbl>
              <c:idx val="2"/>
              <c:layout>
                <c:manualLayout>
                  <c:x val="0.17144514468558258"/>
                  <c:y val="-0.33042051916107223"/>
                </c:manualLayout>
              </c:layout>
              <c:dLblPos val="bestFit"/>
              <c:showLegendKey val="0"/>
              <c:showVal val="1"/>
              <c:showCatName val="0"/>
              <c:showSerName val="0"/>
              <c:showPercent val="0"/>
              <c:showBubbleSize val="0"/>
              <c:extLst>
                <c:ext xmlns:c15="http://schemas.microsoft.com/office/drawing/2012/chart" uri="{CE6537A1-D6FC-4f65-9D91-7224C49458BB}">
                  <c15:layout>
                    <c:manualLayout>
                      <c:w val="0.30825469055325722"/>
                      <c:h val="0.26328789561121474"/>
                    </c:manualLayout>
                  </c15:layout>
                </c:ext>
                <c:ext xmlns:c16="http://schemas.microsoft.com/office/drawing/2014/chart" uri="{C3380CC4-5D6E-409C-BE32-E72D297353CC}">
                  <c16:uniqueId val="{00000005-A8DF-4E6E-8D23-5168119C08E0}"/>
                </c:ext>
              </c:extLst>
            </c:dLbl>
            <c:spPr>
              <a:noFill/>
              <a:ln>
                <a:noFill/>
              </a:ln>
              <a:effectLst/>
            </c:spPr>
            <c:txPr>
              <a:bodyPr rot="0" spcFirstLastPara="1" vertOverflow="ellipsis" vert="horz" wrap="square" lIns="38100" tIns="19050" rIns="38100" bIns="19050" anchor="ctr" anchorCtr="1">
                <a:spAutoFit/>
              </a:bodyPr>
              <a:lstStyle/>
              <a:p>
                <a:pPr>
                  <a:defRPr sz="1800" b="0" i="0" u="none" strike="noStrike" kern="1200" baseline="0">
                    <a:solidFill>
                      <a:schemeClr val="tx1">
                        <a:lumMod val="75000"/>
                        <a:lumOff val="25000"/>
                      </a:schemeClr>
                    </a:solidFill>
                    <a:latin typeface="+mn-lt"/>
                    <a:ea typeface="+mn-ea"/>
                    <a:cs typeface="+mn-cs"/>
                  </a:defRPr>
                </a:pPr>
                <a:endParaRPr lang="zh-CN"/>
              </a:p>
            </c:txPr>
            <c:dLblPos val="bestFit"/>
            <c:showLegendKey val="0"/>
            <c:showVal val="1"/>
            <c:showCatName val="0"/>
            <c:showSerName val="0"/>
            <c:showPercent val="0"/>
            <c:showBubbleSize val="0"/>
            <c:showLeaderLines val="1"/>
            <c:leaderLines>
              <c:spPr>
                <a:ln w="9525" cap="flat" cmpd="sng" algn="ctr">
                  <a:solidFill>
                    <a:schemeClr val="tx1">
                      <a:lumMod val="35000"/>
                      <a:lumOff val="65000"/>
                    </a:schemeClr>
                  </a:solidFill>
                  <a:round/>
                </a:ln>
                <a:effectLst/>
              </c:spPr>
            </c:leaderLines>
            <c:extLst>
              <c:ext xmlns:c15="http://schemas.microsoft.com/office/drawing/2012/chart" uri="{CE6537A1-D6FC-4f65-9D91-7224C49458BB}"/>
            </c:extLst>
          </c:dLbls>
          <c:cat>
            <c:strRef>
              <c:f>Sheet1!$A$2:$A$4</c:f>
              <c:strCache>
                <c:ptCount val="3"/>
                <c:pt idx="0">
                  <c:v>到节点1</c:v>
                </c:pt>
                <c:pt idx="1">
                  <c:v>到节点3</c:v>
                </c:pt>
                <c:pt idx="2">
                  <c:v>到节点5</c:v>
                </c:pt>
              </c:strCache>
            </c:strRef>
          </c:cat>
          <c:val>
            <c:numRef>
              <c:f>Sheet1!$B$2:$B$4</c:f>
              <c:numCache>
                <c:formatCode>0.00%</c:formatCode>
                <c:ptCount val="3"/>
                <c:pt idx="0">
                  <c:v>3.8461538461538464E-2</c:v>
                </c:pt>
                <c:pt idx="1">
                  <c:v>3.8461538461538464E-2</c:v>
                </c:pt>
                <c:pt idx="2">
                  <c:v>0.92307692307692313</c:v>
                </c:pt>
              </c:numCache>
            </c:numRef>
          </c:val>
          <c:extLst>
            <c:ext xmlns:c16="http://schemas.microsoft.com/office/drawing/2014/chart" uri="{C3380CC4-5D6E-409C-BE32-E72D297353CC}">
              <c16:uniqueId val="{00000006-A8DF-4E6E-8D23-5168119C08E0}"/>
            </c:ext>
          </c:extLst>
        </c:ser>
        <c:dLbls>
          <c:showLegendKey val="0"/>
          <c:showVal val="0"/>
          <c:showCatName val="0"/>
          <c:showSerName val="0"/>
          <c:showPercent val="0"/>
          <c:showBubbleSize val="0"/>
          <c:showLeaderLines val="1"/>
        </c:dLbls>
        <c:firstSliceAng val="0"/>
      </c:pieChart>
      <c:spPr>
        <a:noFill/>
        <a:ln>
          <a:noFill/>
        </a:ln>
        <a:effectLst/>
      </c:spPr>
    </c:plotArea>
    <c:legend>
      <c:legendPos val="b"/>
      <c:overlay val="0"/>
      <c:spPr>
        <a:noFill/>
        <a:ln>
          <a:noFill/>
        </a:ln>
        <a:effectLst/>
      </c:spPr>
      <c:txPr>
        <a:bodyPr rot="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zh-CN"/>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zh-CN"/>
    </a:p>
  </c:txPr>
  <c:externalData r:id="rId3">
    <c:autoUpdate val="0"/>
  </c:externalData>
</c:chartSpace>
</file>

<file path=ppt/charts/colors1.xml><?xml version="1.0" encoding="utf-8"?>
<cs:colorStyle xmlns:cs="http://schemas.microsoft.com/office/drawing/2012/chartStyle" xmlns:a="http://schemas.openxmlformats.org/drawingml/2006/main" meth="cycle" id="12">
  <a:schemeClr val="accent2"/>
  <a:schemeClr val="accent4"/>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5602" name="Rectangle 2"/>
          <p:cNvSpPr>
            <a:spLocks noGrp="1" noChangeArrowheads="1"/>
          </p:cNvSpPr>
          <p:nvPr>
            <p:ph type="hdr" sz="quarter"/>
          </p:nvPr>
        </p:nvSpPr>
        <p:spPr bwMode="auto">
          <a:xfrm>
            <a:off x="0" y="0"/>
            <a:ext cx="3038475" cy="465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eaLnBrk="1" hangingPunct="1">
              <a:defRPr sz="1200">
                <a:latin typeface="宋体" pitchFamily="2" charset="-122"/>
              </a:defRPr>
            </a:lvl1pPr>
          </a:lstStyle>
          <a:p>
            <a:endParaRPr lang="zh-CN" altLang="en-US"/>
          </a:p>
        </p:txBody>
      </p:sp>
      <p:sp>
        <p:nvSpPr>
          <p:cNvPr id="25603" name="Rectangle 3"/>
          <p:cNvSpPr>
            <a:spLocks noGrp="1" noChangeArrowheads="1"/>
          </p:cNvSpPr>
          <p:nvPr>
            <p:ph type="dt" sz="quarter" idx="1"/>
          </p:nvPr>
        </p:nvSpPr>
        <p:spPr bwMode="auto">
          <a:xfrm>
            <a:off x="3970338" y="0"/>
            <a:ext cx="3038475" cy="465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r" eaLnBrk="1" hangingPunct="1">
              <a:defRPr sz="1200">
                <a:latin typeface="宋体" pitchFamily="2" charset="-122"/>
              </a:defRPr>
            </a:lvl1pPr>
          </a:lstStyle>
          <a:p>
            <a:endParaRPr lang="en-US" altLang="zh-CN" dirty="0"/>
          </a:p>
        </p:txBody>
      </p:sp>
      <p:sp>
        <p:nvSpPr>
          <p:cNvPr id="25604" name="Rectangle 4"/>
          <p:cNvSpPr>
            <a:spLocks noGrp="1" noChangeArrowheads="1"/>
          </p:cNvSpPr>
          <p:nvPr>
            <p:ph type="ftr" sz="quarter" idx="2"/>
          </p:nvPr>
        </p:nvSpPr>
        <p:spPr bwMode="auto">
          <a:xfrm>
            <a:off x="0" y="8829675"/>
            <a:ext cx="3038475" cy="465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eaLnBrk="1" hangingPunct="1">
              <a:defRPr sz="1200">
                <a:latin typeface="宋体" pitchFamily="2" charset="-122"/>
              </a:defRPr>
            </a:lvl1pPr>
          </a:lstStyle>
          <a:p>
            <a:endParaRPr lang="en-US" altLang="zh-CN" dirty="0"/>
          </a:p>
        </p:txBody>
      </p:sp>
      <p:sp>
        <p:nvSpPr>
          <p:cNvPr id="25605" name="Rectangle 5"/>
          <p:cNvSpPr>
            <a:spLocks noGrp="1" noChangeArrowheads="1"/>
          </p:cNvSpPr>
          <p:nvPr>
            <p:ph type="sldNum" sz="quarter" idx="3"/>
          </p:nvPr>
        </p:nvSpPr>
        <p:spPr bwMode="auto">
          <a:xfrm>
            <a:off x="3970338" y="8829675"/>
            <a:ext cx="3038475" cy="465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lgn="r" eaLnBrk="1" hangingPunct="1">
              <a:defRPr sz="1200">
                <a:latin typeface="宋体" pitchFamily="2" charset="-122"/>
              </a:defRPr>
            </a:lvl1pPr>
          </a:lstStyle>
          <a:p>
            <a:fld id="{E4C64EE1-592A-45A9-9E8D-8A110C604C90}" type="slidenum">
              <a:rPr lang="zh-CN" altLang="en-US"/>
              <a:pPr/>
              <a:t>‹#›</a:t>
            </a:fld>
            <a:endParaRPr lang="en-US" altLang="zh-CN" dirty="0"/>
          </a:p>
        </p:txBody>
      </p:sp>
    </p:spTree>
    <p:extLst>
      <p:ext uri="{BB962C8B-B14F-4D97-AF65-F5344CB8AC3E}">
        <p14:creationId xmlns:p14="http://schemas.microsoft.com/office/powerpoint/2010/main" val="3431277660"/>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3554" name="Rectangle 2"/>
          <p:cNvSpPr>
            <a:spLocks noGrp="1" noChangeArrowheads="1"/>
          </p:cNvSpPr>
          <p:nvPr>
            <p:ph type="hdr" sz="quarter"/>
          </p:nvPr>
        </p:nvSpPr>
        <p:spPr bwMode="auto">
          <a:xfrm>
            <a:off x="0" y="0"/>
            <a:ext cx="3038475" cy="465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eaLnBrk="1" hangingPunct="1">
              <a:defRPr sz="1200">
                <a:latin typeface="宋体" pitchFamily="2" charset="-122"/>
              </a:defRPr>
            </a:lvl1pPr>
          </a:lstStyle>
          <a:p>
            <a:endParaRPr lang="zh-CN" altLang="en-US"/>
          </a:p>
        </p:txBody>
      </p:sp>
      <p:sp>
        <p:nvSpPr>
          <p:cNvPr id="23555" name="Rectangle 3"/>
          <p:cNvSpPr>
            <a:spLocks noGrp="1" noChangeArrowheads="1"/>
          </p:cNvSpPr>
          <p:nvPr>
            <p:ph type="dt" idx="1"/>
          </p:nvPr>
        </p:nvSpPr>
        <p:spPr bwMode="auto">
          <a:xfrm>
            <a:off x="3970338" y="0"/>
            <a:ext cx="3038475" cy="465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r" eaLnBrk="1" hangingPunct="1">
              <a:defRPr sz="1200">
                <a:latin typeface="宋体" pitchFamily="2" charset="-122"/>
              </a:defRPr>
            </a:lvl1pPr>
          </a:lstStyle>
          <a:p>
            <a:endParaRPr lang="en-US" altLang="zh-CN" dirty="0"/>
          </a:p>
        </p:txBody>
      </p:sp>
      <p:sp>
        <p:nvSpPr>
          <p:cNvPr id="23556" name="Rectangle 4"/>
          <p:cNvSpPr>
            <a:spLocks noGrp="1" noRot="1" noChangeAspect="1" noChangeArrowheads="1" noTextEdit="1"/>
          </p:cNvSpPr>
          <p:nvPr>
            <p:ph type="sldImg" idx="2"/>
          </p:nvPr>
        </p:nvSpPr>
        <p:spPr bwMode="auto">
          <a:xfrm>
            <a:off x="987425" y="696913"/>
            <a:ext cx="5035550" cy="3486150"/>
          </a:xfrm>
          <a:prstGeom prst="rect">
            <a:avLst/>
          </a:prstGeom>
          <a:no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 uri="{53640926-AAD7-44D8-BBD7-CCE9431645EC}">
              <a14:shadowObscured xmlns:a14="http://schemas.microsoft.com/office/drawing/2010/main" val="1"/>
            </a:ext>
          </a:extLst>
        </p:spPr>
      </p:sp>
      <p:sp>
        <p:nvSpPr>
          <p:cNvPr id="23557" name="Rectangle 5"/>
          <p:cNvSpPr>
            <a:spLocks noGrp="1" noChangeArrowheads="1"/>
          </p:cNvSpPr>
          <p:nvPr>
            <p:ph type="body" sz="quarter" idx="3"/>
          </p:nvPr>
        </p:nvSpPr>
        <p:spPr bwMode="auto">
          <a:xfrm>
            <a:off x="701675" y="4416425"/>
            <a:ext cx="5607050" cy="41830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zh-CN" altLang="en-US"/>
              <a:t>单击此处编辑母版文本样式</a:t>
            </a:r>
            <a:endParaRPr lang="en-US" altLang="zh-CN"/>
          </a:p>
          <a:p>
            <a:pPr lvl="1"/>
            <a:r>
              <a:rPr lang="en-US" altLang="zh-CN"/>
              <a:t>5656</a:t>
            </a:r>
          </a:p>
          <a:p>
            <a:pPr lvl="2"/>
            <a:r>
              <a:rPr lang="zh-CN" altLang="en-US"/>
              <a:t>第三级</a:t>
            </a:r>
            <a:endParaRPr lang="en-US" altLang="zh-CN"/>
          </a:p>
          <a:p>
            <a:pPr lvl="3"/>
            <a:r>
              <a:rPr lang="zh-CN" altLang="en-US"/>
              <a:t>第四级</a:t>
            </a:r>
            <a:endParaRPr lang="en-US" altLang="zh-CN"/>
          </a:p>
          <a:p>
            <a:pPr lvl="4"/>
            <a:r>
              <a:rPr lang="zh-CN" altLang="en-US"/>
              <a:t>第五级</a:t>
            </a:r>
            <a:endParaRPr lang="en-US" altLang="zh-CN"/>
          </a:p>
        </p:txBody>
      </p:sp>
      <p:sp>
        <p:nvSpPr>
          <p:cNvPr id="23558" name="Rectangle 6"/>
          <p:cNvSpPr>
            <a:spLocks noGrp="1" noChangeArrowheads="1"/>
          </p:cNvSpPr>
          <p:nvPr>
            <p:ph type="ftr" sz="quarter" idx="4"/>
          </p:nvPr>
        </p:nvSpPr>
        <p:spPr bwMode="auto">
          <a:xfrm>
            <a:off x="0" y="8829675"/>
            <a:ext cx="3038475" cy="465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eaLnBrk="1" hangingPunct="1">
              <a:defRPr sz="1200">
                <a:latin typeface="宋体" pitchFamily="2" charset="-122"/>
              </a:defRPr>
            </a:lvl1pPr>
          </a:lstStyle>
          <a:p>
            <a:endParaRPr lang="en-US" altLang="zh-CN" dirty="0"/>
          </a:p>
        </p:txBody>
      </p:sp>
      <p:sp>
        <p:nvSpPr>
          <p:cNvPr id="23559" name="Rectangle 7"/>
          <p:cNvSpPr>
            <a:spLocks noGrp="1" noChangeArrowheads="1"/>
          </p:cNvSpPr>
          <p:nvPr>
            <p:ph type="sldNum" sz="quarter" idx="5"/>
          </p:nvPr>
        </p:nvSpPr>
        <p:spPr bwMode="auto">
          <a:xfrm>
            <a:off x="3970338" y="8829675"/>
            <a:ext cx="3038475" cy="465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lgn="r" eaLnBrk="1" hangingPunct="1">
              <a:defRPr sz="1200">
                <a:latin typeface="宋体" pitchFamily="2" charset="-122"/>
              </a:defRPr>
            </a:lvl1pPr>
          </a:lstStyle>
          <a:p>
            <a:fld id="{8DA2099C-E03D-4BEA-80BD-EC59252D8E32}" type="slidenum">
              <a:rPr lang="zh-CN" altLang="en-US"/>
              <a:pPr/>
              <a:t>‹#›</a:t>
            </a:fld>
            <a:endParaRPr lang="en-US" altLang="zh-CN" dirty="0"/>
          </a:p>
        </p:txBody>
      </p:sp>
    </p:spTree>
    <p:extLst>
      <p:ext uri="{BB962C8B-B14F-4D97-AF65-F5344CB8AC3E}">
        <p14:creationId xmlns:p14="http://schemas.microsoft.com/office/powerpoint/2010/main" val="215928488"/>
      </p:ext>
    </p:extLst>
  </p:cSld>
  <p:clrMap bg1="lt1" tx1="dk1" bg2="lt2" tx2="dk2" accent1="accent1" accent2="accent2" accent3="accent3" accent4="accent4" accent5="accent5" accent6="accent6" hlink="hlink" folHlink="folHlink"/>
  <p:notesStyle>
    <a:lvl1pPr algn="l" rtl="0" fontAlgn="base">
      <a:spcBef>
        <a:spcPct val="30000"/>
      </a:spcBef>
      <a:spcAft>
        <a:spcPct val="0"/>
      </a:spcAft>
      <a:defRPr sz="1200" kern="1200">
        <a:solidFill>
          <a:schemeClr val="tx1"/>
        </a:solidFill>
        <a:latin typeface="宋体" pitchFamily="2" charset="-122"/>
        <a:ea typeface="宋体" pitchFamily="2" charset="-122"/>
        <a:cs typeface="+mn-cs"/>
      </a:defRPr>
    </a:lvl1pPr>
    <a:lvl2pPr marL="457200" algn="l" rtl="0" fontAlgn="base">
      <a:spcBef>
        <a:spcPct val="30000"/>
      </a:spcBef>
      <a:spcAft>
        <a:spcPct val="0"/>
      </a:spcAft>
      <a:defRPr sz="1200" kern="1200">
        <a:solidFill>
          <a:schemeClr val="tx1"/>
        </a:solidFill>
        <a:latin typeface="宋体" pitchFamily="2" charset="-122"/>
        <a:ea typeface="宋体" pitchFamily="2" charset="-122"/>
        <a:cs typeface="+mn-cs"/>
      </a:defRPr>
    </a:lvl2pPr>
    <a:lvl3pPr marL="914400" algn="l" rtl="0" fontAlgn="base">
      <a:spcBef>
        <a:spcPct val="30000"/>
      </a:spcBef>
      <a:spcAft>
        <a:spcPct val="0"/>
      </a:spcAft>
      <a:defRPr sz="1200" kern="1200">
        <a:solidFill>
          <a:schemeClr val="tx1"/>
        </a:solidFill>
        <a:latin typeface="宋体" pitchFamily="2" charset="-122"/>
        <a:ea typeface="宋体" pitchFamily="2" charset="-122"/>
        <a:cs typeface="+mn-cs"/>
      </a:defRPr>
    </a:lvl3pPr>
    <a:lvl4pPr marL="1371600" algn="l" rtl="0" fontAlgn="base">
      <a:spcBef>
        <a:spcPct val="30000"/>
      </a:spcBef>
      <a:spcAft>
        <a:spcPct val="0"/>
      </a:spcAft>
      <a:defRPr sz="1200" kern="1200">
        <a:solidFill>
          <a:schemeClr val="tx1"/>
        </a:solidFill>
        <a:latin typeface="宋体" pitchFamily="2" charset="-122"/>
        <a:ea typeface="宋体" pitchFamily="2" charset="-122"/>
        <a:cs typeface="+mn-cs"/>
      </a:defRPr>
    </a:lvl4pPr>
    <a:lvl5pPr marL="1828800" algn="l" rtl="0" fontAlgn="base">
      <a:spcBef>
        <a:spcPct val="30000"/>
      </a:spcBef>
      <a:spcAft>
        <a:spcPct val="0"/>
      </a:spcAft>
      <a:defRPr sz="1200" kern="1200">
        <a:solidFill>
          <a:schemeClr val="tx1"/>
        </a:solidFill>
        <a:latin typeface="宋体" pitchFamily="2" charset="-122"/>
        <a:ea typeface="宋体"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D396C443-04BC-4639-B5F7-E14A7E3E0041}" type="slidenum">
              <a:rPr lang="zh-CN" altLang="en-US"/>
              <a:pPr/>
              <a:t>1</a:t>
            </a:fld>
            <a:endParaRPr lang="en-US" altLang="zh-CN" dirty="0"/>
          </a:p>
        </p:txBody>
      </p:sp>
      <p:sp>
        <p:nvSpPr>
          <p:cNvPr id="24578" name="Rectangle 2"/>
          <p:cNvSpPr>
            <a:spLocks noGrp="1" noRot="1" noChangeAspect="1" noChangeArrowheads="1" noTextEdit="1"/>
          </p:cNvSpPr>
          <p:nvPr>
            <p:ph type="sldImg"/>
          </p:nvPr>
        </p:nvSpPr>
        <p:spPr>
          <a:ln/>
        </p:spPr>
      </p:sp>
      <p:sp>
        <p:nvSpPr>
          <p:cNvPr id="24579" name="Rectangle 3"/>
          <p:cNvSpPr>
            <a:spLocks noGrp="1" noChangeArrowheads="1"/>
          </p:cNvSpPr>
          <p:nvPr>
            <p:ph type="body" idx="1"/>
          </p:nvPr>
        </p:nvSpPr>
        <p:spPr/>
        <p:txBody>
          <a:bodyPr/>
          <a:lstStyle/>
          <a:p>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2.jpg"/><Relationship Id="rId1" Type="http://schemas.openxmlformats.org/officeDocument/2006/relationships/slideMaster" Target="../slideMasters/slideMaster1.xml"/><Relationship Id="rId4" Type="http://schemas.openxmlformats.org/officeDocument/2006/relationships/image" Target="../media/image4.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标题幻灯片">
    <p:spTree>
      <p:nvGrpSpPr>
        <p:cNvPr id="1" name=""/>
        <p:cNvGrpSpPr/>
        <p:nvPr/>
      </p:nvGrpSpPr>
      <p:grpSpPr>
        <a:xfrm>
          <a:off x="0" y="0"/>
          <a:ext cx="0" cy="0"/>
          <a:chOff x="0" y="0"/>
          <a:chExt cx="0" cy="0"/>
        </a:xfrm>
      </p:grpSpPr>
      <p:pic>
        <p:nvPicPr>
          <p:cNvPr id="10" name="20 9">
            <a:extLst>
              <a:ext uri="{FF2B5EF4-FFF2-40B4-BE49-F238E27FC236}">
                <a16:creationId xmlns:a16="http://schemas.microsoft.com/office/drawing/2014/main" id="{DB875CB5-79D2-4F0D-AAEA-E38F8F1FB7FC}"/>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9894850" cy="2420888"/>
          </a:xfrm>
          <a:prstGeom prst="rect">
            <a:avLst/>
          </a:prstGeom>
        </p:spPr>
      </p:pic>
      <p:sp>
        <p:nvSpPr>
          <p:cNvPr id="11" name="标题 1">
            <a:extLst>
              <a:ext uri="{FF2B5EF4-FFF2-40B4-BE49-F238E27FC236}">
                <a16:creationId xmlns:a16="http://schemas.microsoft.com/office/drawing/2014/main" id="{3A371CBA-E3A3-49E4-BC50-D73E5519AF66}"/>
              </a:ext>
            </a:extLst>
          </p:cNvPr>
          <p:cNvSpPr>
            <a:spLocks noGrp="1"/>
          </p:cNvSpPr>
          <p:nvPr>
            <p:ph type="ctrTitle"/>
          </p:nvPr>
        </p:nvSpPr>
        <p:spPr>
          <a:xfrm>
            <a:off x="1208584" y="2620777"/>
            <a:ext cx="8016639" cy="1070582"/>
          </a:xfrm>
        </p:spPr>
        <p:txBody>
          <a:bodyPr anchor="ctr">
            <a:normAutofit fontScale="90000"/>
          </a:bodyPr>
          <a:lstStyle>
            <a:lvl1pPr algn="ctr">
              <a:defRPr sz="4400">
                <a:solidFill>
                  <a:schemeClr val="tx1"/>
                </a:solidFill>
              </a:defRPr>
            </a:lvl1pPr>
          </a:lstStyle>
          <a:p>
            <a:endParaRPr lang="zh-CN" altLang="en-US" sz="4800" dirty="0">
              <a:latin typeface="黑体" panose="02010609060101010101" pitchFamily="49" charset="-122"/>
              <a:ea typeface="黑体" panose="02010609060101010101" pitchFamily="49" charset="-122"/>
            </a:endParaRPr>
          </a:p>
        </p:txBody>
      </p:sp>
      <p:sp>
        <p:nvSpPr>
          <p:cNvPr id="12" name="副标题 2">
            <a:extLst>
              <a:ext uri="{FF2B5EF4-FFF2-40B4-BE49-F238E27FC236}">
                <a16:creationId xmlns:a16="http://schemas.microsoft.com/office/drawing/2014/main" id="{2E156885-70F0-4648-845E-265F364447B4}"/>
              </a:ext>
            </a:extLst>
          </p:cNvPr>
          <p:cNvSpPr>
            <a:spLocks noGrp="1"/>
          </p:cNvSpPr>
          <p:nvPr>
            <p:ph type="subTitle" idx="1"/>
          </p:nvPr>
        </p:nvSpPr>
        <p:spPr>
          <a:xfrm>
            <a:off x="1907282" y="4015551"/>
            <a:ext cx="6619242" cy="642776"/>
          </a:xfrm>
        </p:spPr>
        <p:txBody>
          <a:bodyPr>
            <a:normAutofit/>
          </a:bodyPr>
          <a:lstStyle>
            <a:lvl1pPr marL="0" indent="0" algn="ctr">
              <a:buNone/>
              <a:defRPr sz="3600"/>
            </a:lvl1pPr>
          </a:lstStyle>
          <a:p>
            <a:endParaRPr lang="zh-CN" altLang="en-US" b="1" dirty="0">
              <a:latin typeface="黑体" pitchFamily="49" charset="-122"/>
              <a:ea typeface="黑体" pitchFamily="49" charset="-122"/>
            </a:endParaRPr>
          </a:p>
        </p:txBody>
      </p:sp>
      <p:sp>
        <p:nvSpPr>
          <p:cNvPr id="17" name="矩形 16">
            <a:extLst>
              <a:ext uri="{FF2B5EF4-FFF2-40B4-BE49-F238E27FC236}">
                <a16:creationId xmlns:a16="http://schemas.microsoft.com/office/drawing/2014/main" id="{D001777F-61CF-42D4-943E-7A0268001DD7}"/>
              </a:ext>
            </a:extLst>
          </p:cNvPr>
          <p:cNvSpPr/>
          <p:nvPr userDrawn="1"/>
        </p:nvSpPr>
        <p:spPr>
          <a:xfrm>
            <a:off x="1" y="6415953"/>
            <a:ext cx="9906000" cy="442047"/>
          </a:xfrm>
          <a:prstGeom prst="rect">
            <a:avLst/>
          </a:prstGeom>
        </p:spPr>
        <p:style>
          <a:lnRef idx="3">
            <a:schemeClr val="lt1"/>
          </a:lnRef>
          <a:fillRef idx="1">
            <a:schemeClr val="accent2"/>
          </a:fillRef>
          <a:effectRef idx="1">
            <a:schemeClr val="accent2"/>
          </a:effectRef>
          <a:fontRef idx="minor">
            <a:schemeClr val="lt1"/>
          </a:fontRef>
        </p:style>
        <p:txBody>
          <a:bodyPr rtlCol="0" anchor="ctr"/>
          <a:lstStyle/>
          <a:p>
            <a:pPr algn="ctr"/>
            <a:endParaRPr lang="zh-CN" altLang="en-US"/>
          </a:p>
        </p:txBody>
      </p:sp>
      <p:pic>
        <p:nvPicPr>
          <p:cNvPr id="18" name="Picture 2">
            <a:extLst>
              <a:ext uri="{FF2B5EF4-FFF2-40B4-BE49-F238E27FC236}">
                <a16:creationId xmlns:a16="http://schemas.microsoft.com/office/drawing/2014/main" id="{FD28CC49-F75B-42A3-A246-3A936A3C1C54}"/>
              </a:ext>
            </a:extLst>
          </p:cNvPr>
          <p:cNvPicPr>
            <a:picLocks noChangeAspect="1" noChangeArrowheads="1"/>
          </p:cNvPicPr>
          <p:nvPr userDrawn="1"/>
        </p:nvPicPr>
        <p:blipFill>
          <a:blip r:embed="rId3" cstate="print">
            <a:extLst>
              <a:ext uri="{28A0092B-C50C-407E-A947-70E740481C1C}">
                <a14:useLocalDpi xmlns:a14="http://schemas.microsoft.com/office/drawing/2010/main" val="0"/>
              </a:ext>
            </a:extLst>
          </a:blip>
          <a:srcRect/>
          <a:stretch>
            <a:fillRect/>
          </a:stretch>
        </p:blipFill>
        <p:spPr bwMode="auto">
          <a:xfrm>
            <a:off x="6927" y="5577048"/>
            <a:ext cx="1938018" cy="1285552"/>
          </a:xfrm>
          <a:prstGeom prst="rect">
            <a:avLst/>
          </a:prstGeom>
          <a:noFill/>
          <a:extLst>
            <a:ext uri="{909E8E84-426E-40DD-AFC4-6F175D3DCCD1}">
              <a14:hiddenFill xmlns:a14="http://schemas.microsoft.com/office/drawing/2010/main">
                <a:solidFill>
                  <a:srgbClr val="FFFFFF"/>
                </a:solidFill>
              </a14:hiddenFill>
            </a:ext>
          </a:extLst>
        </p:spPr>
      </p:pic>
      <p:sp>
        <p:nvSpPr>
          <p:cNvPr id="19" name="日期占位符 12">
            <a:extLst>
              <a:ext uri="{FF2B5EF4-FFF2-40B4-BE49-F238E27FC236}">
                <a16:creationId xmlns:a16="http://schemas.microsoft.com/office/drawing/2014/main" id="{BF0374B4-E0FA-4D63-930E-15A90A36D5DA}"/>
              </a:ext>
            </a:extLst>
          </p:cNvPr>
          <p:cNvSpPr>
            <a:spLocks noGrp="1"/>
          </p:cNvSpPr>
          <p:nvPr>
            <p:ph type="dt" sz="half" idx="10"/>
          </p:nvPr>
        </p:nvSpPr>
        <p:spPr>
          <a:xfrm>
            <a:off x="1944945" y="6448251"/>
            <a:ext cx="2743200" cy="365125"/>
          </a:xfrm>
        </p:spPr>
        <p:txBody>
          <a:bodyPr/>
          <a:lstStyle/>
          <a:p>
            <a:fld id="{9BF28558-7B33-427A-B568-3609C5F68DFB}" type="datetime3">
              <a:rPr lang="zh-CN" altLang="en-US" sz="1600" smtClean="0"/>
              <a:t>2022年11月24日星期四</a:t>
            </a:fld>
            <a:endParaRPr lang="zh-CN" altLang="en-US" sz="1600" dirty="0"/>
          </a:p>
        </p:txBody>
      </p:sp>
      <p:pic>
        <p:nvPicPr>
          <p:cNvPr id="20" name="20 19">
            <a:extLst>
              <a:ext uri="{FF2B5EF4-FFF2-40B4-BE49-F238E27FC236}">
                <a16:creationId xmlns:a16="http://schemas.microsoft.com/office/drawing/2014/main" id="{92CA545C-BE9F-4FE0-8561-A177CAB1467F}"/>
              </a:ext>
            </a:extLst>
          </p:cNvPr>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8470610" y="6418253"/>
            <a:ext cx="1424240" cy="442047"/>
          </a:xfrm>
          <a:prstGeom prst="rect">
            <a:avLst/>
          </a:prstGeom>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58044" y="188640"/>
            <a:ext cx="9719492" cy="792088"/>
          </a:xfrm>
        </p:spPr>
        <p:txBody>
          <a:bodyPr/>
          <a:lstStyle>
            <a:lvl1pPr>
              <a:defRPr b="1">
                <a:solidFill>
                  <a:srgbClr val="333399"/>
                </a:solidFill>
                <a:latin typeface="+mn-lt"/>
                <a:ea typeface="黑体" pitchFamily="2" charset="-122"/>
              </a:defRPr>
            </a:lvl1pPr>
          </a:lstStyle>
          <a:p>
            <a:r>
              <a:rPr lang="zh-CN" altLang="en-US" dirty="0"/>
              <a:t>单击此处编辑母版标题样式</a:t>
            </a:r>
          </a:p>
        </p:txBody>
      </p:sp>
      <p:sp>
        <p:nvSpPr>
          <p:cNvPr id="3" name="内容占位符 2"/>
          <p:cNvSpPr>
            <a:spLocks noGrp="1"/>
          </p:cNvSpPr>
          <p:nvPr>
            <p:ph idx="1"/>
          </p:nvPr>
        </p:nvSpPr>
        <p:spPr>
          <a:xfrm>
            <a:off x="58044" y="1196752"/>
            <a:ext cx="9719492" cy="5264289"/>
          </a:xfrm>
        </p:spPr>
        <p:txBody>
          <a:bodyPr/>
          <a:lstStyle>
            <a:lvl1pPr>
              <a:lnSpc>
                <a:spcPct val="110000"/>
              </a:lnSpc>
              <a:spcBef>
                <a:spcPts val="600"/>
              </a:spcBef>
              <a:defRPr sz="3600" b="1">
                <a:solidFill>
                  <a:schemeClr val="tx1"/>
                </a:solidFill>
                <a:latin typeface="+mn-lt"/>
                <a:ea typeface="黑体" pitchFamily="2" charset="-122"/>
              </a:defRPr>
            </a:lvl1pPr>
            <a:lvl2pPr>
              <a:lnSpc>
                <a:spcPct val="110000"/>
              </a:lnSpc>
              <a:spcBef>
                <a:spcPts val="600"/>
              </a:spcBef>
              <a:defRPr sz="3200" b="1">
                <a:solidFill>
                  <a:schemeClr val="tx1"/>
                </a:solidFill>
                <a:latin typeface="+mn-lt"/>
                <a:ea typeface="黑体" pitchFamily="2" charset="-122"/>
              </a:defRPr>
            </a:lvl2pPr>
            <a:lvl3pPr>
              <a:lnSpc>
                <a:spcPct val="110000"/>
              </a:lnSpc>
              <a:spcBef>
                <a:spcPts val="600"/>
              </a:spcBef>
              <a:defRPr sz="2800" b="1">
                <a:solidFill>
                  <a:schemeClr val="tx1"/>
                </a:solidFill>
                <a:latin typeface="+mn-lt"/>
                <a:ea typeface="黑体" pitchFamily="2" charset="-122"/>
              </a:defRPr>
            </a:lvl3pPr>
            <a:lvl4pPr>
              <a:lnSpc>
                <a:spcPct val="110000"/>
              </a:lnSpc>
              <a:spcBef>
                <a:spcPts val="600"/>
              </a:spcBef>
              <a:defRPr sz="2400" b="1">
                <a:solidFill>
                  <a:schemeClr val="tx1"/>
                </a:solidFill>
                <a:latin typeface="+mn-lt"/>
                <a:ea typeface="黑体" pitchFamily="2" charset="-122"/>
              </a:defRPr>
            </a:lvl4pPr>
            <a:lvl5pPr>
              <a:lnSpc>
                <a:spcPct val="110000"/>
              </a:lnSpc>
              <a:spcBef>
                <a:spcPts val="600"/>
              </a:spcBef>
              <a:defRPr sz="2000" b="1">
                <a:solidFill>
                  <a:schemeClr val="tx1"/>
                </a:solidFill>
                <a:latin typeface="+mn-lt"/>
                <a:ea typeface="黑体" pitchFamily="2" charset="-122"/>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4" name="日期占位符 3"/>
          <p:cNvSpPr>
            <a:spLocks noGrp="1"/>
          </p:cNvSpPr>
          <p:nvPr>
            <p:ph type="dt" sz="half" idx="10"/>
          </p:nvPr>
        </p:nvSpPr>
        <p:spPr/>
        <p:txBody>
          <a:bodyPr/>
          <a:lstStyle>
            <a:lvl1pPr>
              <a:defRPr/>
            </a:lvl1pPr>
          </a:lstStyle>
          <a:p>
            <a:fld id="{A8B06C41-1E1E-4B9B-9644-5AFB8CB2AB3B}" type="datetime3">
              <a:rPr lang="zh-CN" altLang="en-US" smtClean="0"/>
              <a:t>2022年11月24日星期四</a:t>
            </a:fld>
            <a:endParaRPr lang="en-US" altLang="zh-CN" dirty="0"/>
          </a:p>
        </p:txBody>
      </p:sp>
      <p:sp>
        <p:nvSpPr>
          <p:cNvPr id="6" name="灯片编号占位符 5"/>
          <p:cNvSpPr>
            <a:spLocks noGrp="1"/>
          </p:cNvSpPr>
          <p:nvPr>
            <p:ph type="sldNum" sz="quarter" idx="12"/>
          </p:nvPr>
        </p:nvSpPr>
        <p:spPr/>
        <p:txBody>
          <a:bodyPr/>
          <a:lstStyle>
            <a:lvl1pPr>
              <a:defRPr/>
            </a:lvl1pPr>
          </a:lstStyle>
          <a:p>
            <a:fld id="{7AC79822-BC0D-4DE8-A7E5-90A3732A2B82}" type="slidenum">
              <a:rPr lang="zh-CN" altLang="en-US"/>
              <a:pPr/>
              <a:t>‹#›</a:t>
            </a:fld>
            <a:endParaRPr lang="en-US" altLang="zh-CN" dirty="0"/>
          </a:p>
        </p:txBody>
      </p:sp>
      <p:sp>
        <p:nvSpPr>
          <p:cNvPr id="7" name="Line 8"/>
          <p:cNvSpPr>
            <a:spLocks noChangeShapeType="1"/>
          </p:cNvSpPr>
          <p:nvPr userDrawn="1"/>
        </p:nvSpPr>
        <p:spPr bwMode="auto">
          <a:xfrm flipV="1">
            <a:off x="58044" y="1052735"/>
            <a:ext cx="9719492" cy="1"/>
          </a:xfrm>
          <a:prstGeom prst="line">
            <a:avLst/>
          </a:prstGeom>
          <a:noFill/>
          <a:ln w="28575">
            <a:solidFill>
              <a:srgbClr val="3333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Tree>
    <p:extLst>
      <p:ext uri="{BB962C8B-B14F-4D97-AF65-F5344CB8AC3E}">
        <p14:creationId xmlns:p14="http://schemas.microsoft.com/office/powerpoint/2010/main" val="265344607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82638" y="4406900"/>
            <a:ext cx="8634858" cy="1362075"/>
          </a:xfrm>
        </p:spPr>
        <p:txBody>
          <a:bodyPr anchor="t"/>
          <a:lstStyle>
            <a:lvl1pPr algn="l">
              <a:defRPr sz="4400" b="1" cap="all">
                <a:solidFill>
                  <a:srgbClr val="333399"/>
                </a:solidFill>
                <a:latin typeface="+mn-lt"/>
                <a:ea typeface="黑体" pitchFamily="2" charset="-122"/>
              </a:defRPr>
            </a:lvl1pPr>
          </a:lstStyle>
          <a:p>
            <a:r>
              <a:rPr lang="zh-CN" altLang="en-US" dirty="0"/>
              <a:t>单击此处编辑母版标题样式</a:t>
            </a:r>
          </a:p>
        </p:txBody>
      </p:sp>
      <p:sp>
        <p:nvSpPr>
          <p:cNvPr id="3" name="文本占位符 2"/>
          <p:cNvSpPr>
            <a:spLocks noGrp="1"/>
          </p:cNvSpPr>
          <p:nvPr>
            <p:ph type="body" idx="1"/>
          </p:nvPr>
        </p:nvSpPr>
        <p:spPr>
          <a:xfrm>
            <a:off x="782638" y="2906713"/>
            <a:ext cx="8634858"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p>
        </p:txBody>
      </p:sp>
      <p:sp>
        <p:nvSpPr>
          <p:cNvPr id="4" name="日期占位符 3"/>
          <p:cNvSpPr>
            <a:spLocks noGrp="1"/>
          </p:cNvSpPr>
          <p:nvPr>
            <p:ph type="dt" sz="half" idx="10"/>
          </p:nvPr>
        </p:nvSpPr>
        <p:spPr>
          <a:xfrm>
            <a:off x="495300" y="6381328"/>
            <a:ext cx="2311400" cy="432048"/>
          </a:xfrm>
        </p:spPr>
        <p:txBody>
          <a:bodyPr/>
          <a:lstStyle>
            <a:lvl1pPr>
              <a:defRPr sz="1600"/>
            </a:lvl1pPr>
          </a:lstStyle>
          <a:p>
            <a:fld id="{A3C8579E-F682-4174-8232-D943C000E3D7}" type="datetime3">
              <a:rPr lang="zh-CN" altLang="en-US" smtClean="0"/>
              <a:t>2022年11月24日星期四</a:t>
            </a:fld>
            <a:endParaRPr lang="en-US" altLang="zh-CN" dirty="0"/>
          </a:p>
        </p:txBody>
      </p:sp>
      <p:sp>
        <p:nvSpPr>
          <p:cNvPr id="6" name="灯片编号占位符 5"/>
          <p:cNvSpPr>
            <a:spLocks noGrp="1"/>
          </p:cNvSpPr>
          <p:nvPr>
            <p:ph type="sldNum" sz="quarter" idx="12"/>
          </p:nvPr>
        </p:nvSpPr>
        <p:spPr>
          <a:xfrm>
            <a:off x="3944367" y="6453336"/>
            <a:ext cx="2311400" cy="360040"/>
          </a:xfrm>
        </p:spPr>
        <p:txBody>
          <a:bodyPr/>
          <a:lstStyle>
            <a:lvl1pPr algn="ctr">
              <a:defRPr sz="1600"/>
            </a:lvl1pPr>
          </a:lstStyle>
          <a:p>
            <a:fld id="{C3F47B36-077D-42FE-9DED-0C77CB87E4B3}" type="slidenum">
              <a:rPr lang="zh-CN" altLang="en-US" smtClean="0"/>
              <a:pPr/>
              <a:t>‹#›</a:t>
            </a:fld>
            <a:endParaRPr lang="en-US" altLang="zh-CN" dirty="0"/>
          </a:p>
        </p:txBody>
      </p:sp>
      <p:pic>
        <p:nvPicPr>
          <p:cNvPr id="7" name="20 6">
            <a:extLst>
              <a:ext uri="{FF2B5EF4-FFF2-40B4-BE49-F238E27FC236}">
                <a16:creationId xmlns:a16="http://schemas.microsoft.com/office/drawing/2014/main" id="{E94A7FD3-B299-4610-AC83-3B451DCD065D}"/>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8980240" y="6542278"/>
            <a:ext cx="874512" cy="271098"/>
          </a:xfrm>
          <a:prstGeom prst="rect">
            <a:avLst/>
          </a:prstGeom>
        </p:spPr>
      </p:pic>
    </p:spTree>
    <p:extLst>
      <p:ext uri="{BB962C8B-B14F-4D97-AF65-F5344CB8AC3E}">
        <p14:creationId xmlns:p14="http://schemas.microsoft.com/office/powerpoint/2010/main" val="109813997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a:xfrm>
            <a:off x="495300" y="188640"/>
            <a:ext cx="9066212" cy="792088"/>
          </a:xfrm>
        </p:spPr>
        <p:txBody>
          <a:bodyPr/>
          <a:lstStyle>
            <a:lvl1pPr>
              <a:defRPr b="1">
                <a:solidFill>
                  <a:srgbClr val="333399"/>
                </a:solidFill>
                <a:latin typeface="+mn-lt"/>
                <a:ea typeface="黑体" pitchFamily="2" charset="-122"/>
              </a:defRPr>
            </a:lvl1pPr>
          </a:lstStyle>
          <a:p>
            <a:r>
              <a:rPr lang="zh-CN" altLang="en-US"/>
              <a:t>单击此处编辑母版标题样式</a:t>
            </a:r>
          </a:p>
        </p:txBody>
      </p:sp>
      <p:sp>
        <p:nvSpPr>
          <p:cNvPr id="3" name="内容占位符 2"/>
          <p:cNvSpPr>
            <a:spLocks noGrp="1"/>
          </p:cNvSpPr>
          <p:nvPr>
            <p:ph sz="half" idx="1"/>
          </p:nvPr>
        </p:nvSpPr>
        <p:spPr>
          <a:xfrm>
            <a:off x="495300" y="1196752"/>
            <a:ext cx="4460304" cy="4934173"/>
          </a:xfrm>
        </p:spPr>
        <p:txBody>
          <a:bodyPr/>
          <a:lstStyle>
            <a:lvl1pPr>
              <a:defRPr sz="2800" b="1">
                <a:solidFill>
                  <a:schemeClr val="tx1"/>
                </a:solidFill>
                <a:latin typeface="+mn-lt"/>
                <a:ea typeface="黑体" pitchFamily="2" charset="-122"/>
              </a:defRPr>
            </a:lvl1pPr>
            <a:lvl2pPr>
              <a:buClr>
                <a:schemeClr val="accent2"/>
              </a:buClr>
              <a:defRPr sz="2400" b="1">
                <a:solidFill>
                  <a:schemeClr val="tx1"/>
                </a:solidFill>
                <a:latin typeface="+mn-lt"/>
                <a:ea typeface="黑体" pitchFamily="2" charset="-122"/>
              </a:defRPr>
            </a:lvl2pPr>
            <a:lvl3pPr>
              <a:defRPr sz="2000" b="1">
                <a:solidFill>
                  <a:schemeClr val="tx1"/>
                </a:solidFill>
                <a:latin typeface="+mn-lt"/>
                <a:ea typeface="黑体" pitchFamily="2" charset="-122"/>
              </a:defRPr>
            </a:lvl3pPr>
            <a:lvl4pPr>
              <a:defRPr sz="1800" b="1">
                <a:solidFill>
                  <a:schemeClr val="tx1"/>
                </a:solidFill>
                <a:latin typeface="+mn-lt"/>
                <a:ea typeface="黑体" pitchFamily="2" charset="-122"/>
              </a:defRPr>
            </a:lvl4pPr>
            <a:lvl5pPr>
              <a:buClr>
                <a:srgbClr val="333399"/>
              </a:buClr>
              <a:defRPr sz="1800" b="1">
                <a:solidFill>
                  <a:schemeClr val="tx1"/>
                </a:solidFill>
                <a:latin typeface="+mn-lt"/>
                <a:ea typeface="黑体" pitchFamily="2" charset="-122"/>
              </a:defRPr>
            </a:lvl5pPr>
            <a:lvl6pPr>
              <a:defRPr sz="1800"/>
            </a:lvl6pPr>
            <a:lvl7pPr>
              <a:defRPr sz="1800"/>
            </a:lvl7pPr>
            <a:lvl8pPr>
              <a:defRPr sz="1800"/>
            </a:lvl8pPr>
            <a:lvl9pPr>
              <a:defRPr sz="1800"/>
            </a:lvl9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4" name="内容占位符 3"/>
          <p:cNvSpPr>
            <a:spLocks noGrp="1"/>
          </p:cNvSpPr>
          <p:nvPr>
            <p:ph sz="half" idx="2"/>
          </p:nvPr>
        </p:nvSpPr>
        <p:spPr>
          <a:xfrm>
            <a:off x="5101208" y="1196752"/>
            <a:ext cx="4460304" cy="4934173"/>
          </a:xfrm>
        </p:spPr>
        <p:txBody>
          <a:bodyPr/>
          <a:lstStyle>
            <a:lvl1pPr>
              <a:defRPr sz="2800" b="1">
                <a:solidFill>
                  <a:schemeClr val="tx1"/>
                </a:solidFill>
                <a:latin typeface="+mn-lt"/>
                <a:ea typeface="黑体" pitchFamily="2" charset="-122"/>
              </a:defRPr>
            </a:lvl1pPr>
            <a:lvl2pPr>
              <a:buClr>
                <a:schemeClr val="accent2"/>
              </a:buClr>
              <a:defRPr sz="2400" b="1">
                <a:solidFill>
                  <a:schemeClr val="tx1"/>
                </a:solidFill>
                <a:latin typeface="+mn-lt"/>
                <a:ea typeface="黑体" pitchFamily="2" charset="-122"/>
              </a:defRPr>
            </a:lvl2pPr>
            <a:lvl3pPr>
              <a:defRPr sz="2000" b="1">
                <a:solidFill>
                  <a:schemeClr val="tx1"/>
                </a:solidFill>
                <a:latin typeface="+mn-lt"/>
                <a:ea typeface="黑体" pitchFamily="2" charset="-122"/>
              </a:defRPr>
            </a:lvl3pPr>
            <a:lvl4pPr>
              <a:defRPr sz="1800" b="1">
                <a:solidFill>
                  <a:schemeClr val="tx1"/>
                </a:solidFill>
                <a:latin typeface="+mn-lt"/>
                <a:ea typeface="黑体" pitchFamily="2" charset="-122"/>
              </a:defRPr>
            </a:lvl4pPr>
            <a:lvl5pPr>
              <a:buClr>
                <a:srgbClr val="333399"/>
              </a:buClr>
              <a:defRPr sz="1800" b="1">
                <a:solidFill>
                  <a:schemeClr val="tx1"/>
                </a:solidFill>
                <a:latin typeface="+mn-lt"/>
                <a:ea typeface="黑体" pitchFamily="2" charset="-122"/>
              </a:defRPr>
            </a:lvl5pPr>
            <a:lvl6pPr>
              <a:defRPr sz="1800"/>
            </a:lvl6pPr>
            <a:lvl7pPr>
              <a:defRPr sz="1800"/>
            </a:lvl7pPr>
            <a:lvl8pPr>
              <a:defRPr sz="1800"/>
            </a:lvl8pPr>
            <a:lvl9pPr>
              <a:defRPr sz="1800"/>
            </a:lvl9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5" name="日期占位符 4"/>
          <p:cNvSpPr>
            <a:spLocks noGrp="1"/>
          </p:cNvSpPr>
          <p:nvPr>
            <p:ph type="dt" sz="half" idx="10"/>
          </p:nvPr>
        </p:nvSpPr>
        <p:spPr/>
        <p:txBody>
          <a:bodyPr/>
          <a:lstStyle>
            <a:lvl1pPr>
              <a:defRPr/>
            </a:lvl1pPr>
          </a:lstStyle>
          <a:p>
            <a:fld id="{5566F1B3-94A1-4D75-BEB5-A24ADF28504A}" type="datetime3">
              <a:rPr lang="zh-CN" altLang="en-US" smtClean="0"/>
              <a:t>2022年11月24日星期四</a:t>
            </a:fld>
            <a:endParaRPr lang="en-US" altLang="zh-CN" dirty="0"/>
          </a:p>
        </p:txBody>
      </p:sp>
      <p:sp>
        <p:nvSpPr>
          <p:cNvPr id="6" name="页脚占位符 5"/>
          <p:cNvSpPr>
            <a:spLocks noGrp="1"/>
          </p:cNvSpPr>
          <p:nvPr>
            <p:ph type="ftr" sz="quarter" idx="11"/>
          </p:nvPr>
        </p:nvSpPr>
        <p:spPr>
          <a:xfrm>
            <a:off x="3384550" y="6356176"/>
            <a:ext cx="3136900" cy="457200"/>
          </a:xfrm>
          <a:prstGeom prst="rect">
            <a:avLst/>
          </a:prstGeom>
        </p:spPr>
        <p:txBody>
          <a:bodyPr/>
          <a:lstStyle>
            <a:lvl1pPr>
              <a:defRPr/>
            </a:lvl1pPr>
          </a:lstStyle>
          <a:p>
            <a:endParaRPr lang="en-US" altLang="zh-CN" dirty="0"/>
          </a:p>
        </p:txBody>
      </p:sp>
      <p:sp>
        <p:nvSpPr>
          <p:cNvPr id="7" name="灯片编号占位符 6"/>
          <p:cNvSpPr>
            <a:spLocks noGrp="1"/>
          </p:cNvSpPr>
          <p:nvPr>
            <p:ph type="sldNum" sz="quarter" idx="12"/>
          </p:nvPr>
        </p:nvSpPr>
        <p:spPr/>
        <p:txBody>
          <a:bodyPr/>
          <a:lstStyle>
            <a:lvl1pPr>
              <a:defRPr/>
            </a:lvl1pPr>
          </a:lstStyle>
          <a:p>
            <a:fld id="{40B52295-AD8D-47A8-A4D5-D2F6B9F48E3F}" type="slidenum">
              <a:rPr lang="zh-CN" altLang="en-US"/>
              <a:pPr/>
              <a:t>‹#›</a:t>
            </a:fld>
            <a:endParaRPr lang="en-US" altLang="zh-CN" dirty="0"/>
          </a:p>
        </p:txBody>
      </p:sp>
      <p:sp>
        <p:nvSpPr>
          <p:cNvPr id="8" name="Line 8"/>
          <p:cNvSpPr>
            <a:spLocks noChangeShapeType="1"/>
          </p:cNvSpPr>
          <p:nvPr userDrawn="1"/>
        </p:nvSpPr>
        <p:spPr bwMode="auto">
          <a:xfrm>
            <a:off x="495300" y="1052736"/>
            <a:ext cx="9066212" cy="0"/>
          </a:xfrm>
          <a:prstGeom prst="line">
            <a:avLst/>
          </a:prstGeom>
          <a:noFill/>
          <a:ln w="28575">
            <a:solidFill>
              <a:srgbClr val="3333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Tree>
    <p:extLst>
      <p:ext uri="{BB962C8B-B14F-4D97-AF65-F5344CB8AC3E}">
        <p14:creationId xmlns:p14="http://schemas.microsoft.com/office/powerpoint/2010/main" val="345832440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95300" y="188640"/>
            <a:ext cx="9066212" cy="792088"/>
          </a:xfrm>
        </p:spPr>
        <p:txBody>
          <a:bodyPr/>
          <a:lstStyle>
            <a:lvl1pPr>
              <a:defRPr b="1">
                <a:solidFill>
                  <a:srgbClr val="333399"/>
                </a:solidFill>
                <a:latin typeface="+mn-lt"/>
                <a:ea typeface="黑体" pitchFamily="2" charset="-122"/>
              </a:defRPr>
            </a:lvl1pPr>
          </a:lstStyle>
          <a:p>
            <a:r>
              <a:rPr lang="zh-CN" altLang="en-US" dirty="0"/>
              <a:t>单击此处编辑母版标题样式</a:t>
            </a:r>
          </a:p>
        </p:txBody>
      </p:sp>
      <p:sp>
        <p:nvSpPr>
          <p:cNvPr id="3" name="文本占位符 2"/>
          <p:cNvSpPr>
            <a:spLocks noGrp="1"/>
          </p:cNvSpPr>
          <p:nvPr>
            <p:ph type="body" idx="1"/>
          </p:nvPr>
        </p:nvSpPr>
        <p:spPr>
          <a:xfrm>
            <a:off x="495299" y="1207874"/>
            <a:ext cx="4455513" cy="639762"/>
          </a:xfrm>
        </p:spPr>
        <p:txBody>
          <a:bodyPr anchor="b"/>
          <a:lstStyle>
            <a:lvl1pPr marL="0" indent="0">
              <a:buNone/>
              <a:defRPr sz="2800" b="1">
                <a:latin typeface="+mn-lt"/>
                <a:ea typeface="黑体" pitchFamily="2" charset="-122"/>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dirty="0"/>
              <a:t>单击此处编辑母版文本样式</a:t>
            </a:r>
          </a:p>
        </p:txBody>
      </p:sp>
      <p:sp>
        <p:nvSpPr>
          <p:cNvPr id="4" name="内容占位符 3"/>
          <p:cNvSpPr>
            <a:spLocks noGrp="1"/>
          </p:cNvSpPr>
          <p:nvPr>
            <p:ph sz="half" idx="2"/>
          </p:nvPr>
        </p:nvSpPr>
        <p:spPr>
          <a:xfrm>
            <a:off x="495299" y="1872534"/>
            <a:ext cx="4455513" cy="4292770"/>
          </a:xfrm>
        </p:spPr>
        <p:txBody>
          <a:bodyPr/>
          <a:lstStyle>
            <a:lvl1pPr>
              <a:defRPr sz="2800" b="1">
                <a:solidFill>
                  <a:schemeClr val="tx1"/>
                </a:solidFill>
                <a:latin typeface="+mn-lt"/>
                <a:ea typeface="黑体" pitchFamily="2" charset="-122"/>
              </a:defRPr>
            </a:lvl1pPr>
            <a:lvl2pPr>
              <a:defRPr sz="2400" b="1">
                <a:solidFill>
                  <a:schemeClr val="tx1"/>
                </a:solidFill>
                <a:latin typeface="+mn-lt"/>
                <a:ea typeface="黑体" pitchFamily="2" charset="-122"/>
              </a:defRPr>
            </a:lvl2pPr>
            <a:lvl3pPr>
              <a:defRPr sz="2000" b="1">
                <a:solidFill>
                  <a:schemeClr val="tx1"/>
                </a:solidFill>
                <a:latin typeface="+mn-lt"/>
                <a:ea typeface="黑体" pitchFamily="2" charset="-122"/>
              </a:defRPr>
            </a:lvl3pPr>
            <a:lvl4pPr>
              <a:defRPr sz="1800" b="1">
                <a:solidFill>
                  <a:schemeClr val="tx1"/>
                </a:solidFill>
                <a:latin typeface="+mn-lt"/>
                <a:ea typeface="黑体" pitchFamily="2" charset="-122"/>
              </a:defRPr>
            </a:lvl4pPr>
            <a:lvl5pPr>
              <a:defRPr sz="1800" b="1">
                <a:solidFill>
                  <a:schemeClr val="tx1"/>
                </a:solidFill>
                <a:latin typeface="+mn-lt"/>
                <a:ea typeface="黑体" pitchFamily="2" charset="-122"/>
              </a:defRPr>
            </a:lvl5pPr>
            <a:lvl6pPr>
              <a:defRPr sz="1600"/>
            </a:lvl6pPr>
            <a:lvl7pPr>
              <a:defRPr sz="1600"/>
            </a:lvl7pPr>
            <a:lvl8pPr>
              <a:defRPr sz="1600"/>
            </a:lvl8pPr>
            <a:lvl9pPr>
              <a:defRPr sz="1600"/>
            </a:lvl9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5" name="文本占位符 4"/>
          <p:cNvSpPr>
            <a:spLocks noGrp="1"/>
          </p:cNvSpPr>
          <p:nvPr>
            <p:ph type="body" sz="quarter" idx="3"/>
          </p:nvPr>
        </p:nvSpPr>
        <p:spPr>
          <a:xfrm>
            <a:off x="5104383" y="1207874"/>
            <a:ext cx="4457129" cy="639762"/>
          </a:xfrm>
        </p:spPr>
        <p:txBody>
          <a:bodyPr anchor="b"/>
          <a:lstStyle>
            <a:lvl1pPr marL="0" indent="0">
              <a:buNone/>
              <a:defRPr sz="2800" b="1">
                <a:latin typeface="+mn-lt"/>
                <a:ea typeface="黑体" pitchFamily="2" charset="-122"/>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dirty="0"/>
              <a:t>单击此处编辑母版文本样式</a:t>
            </a:r>
          </a:p>
        </p:txBody>
      </p:sp>
      <p:sp>
        <p:nvSpPr>
          <p:cNvPr id="6" name="内容占位符 5"/>
          <p:cNvSpPr>
            <a:spLocks noGrp="1"/>
          </p:cNvSpPr>
          <p:nvPr>
            <p:ph sz="quarter" idx="4"/>
          </p:nvPr>
        </p:nvSpPr>
        <p:spPr>
          <a:xfrm>
            <a:off x="5104383" y="1872534"/>
            <a:ext cx="4457129" cy="4292770"/>
          </a:xfrm>
        </p:spPr>
        <p:txBody>
          <a:bodyPr/>
          <a:lstStyle>
            <a:lvl1pPr>
              <a:defRPr sz="2800" b="1">
                <a:solidFill>
                  <a:schemeClr val="tx1"/>
                </a:solidFill>
                <a:latin typeface="+mn-lt"/>
                <a:ea typeface="黑体" pitchFamily="2" charset="-122"/>
              </a:defRPr>
            </a:lvl1pPr>
            <a:lvl2pPr>
              <a:defRPr sz="2400" b="1">
                <a:solidFill>
                  <a:schemeClr val="tx1"/>
                </a:solidFill>
                <a:latin typeface="+mn-lt"/>
                <a:ea typeface="黑体" pitchFamily="2" charset="-122"/>
              </a:defRPr>
            </a:lvl2pPr>
            <a:lvl3pPr>
              <a:defRPr sz="2000" b="1">
                <a:solidFill>
                  <a:schemeClr val="tx1"/>
                </a:solidFill>
                <a:latin typeface="+mn-lt"/>
                <a:ea typeface="黑体" pitchFamily="2" charset="-122"/>
              </a:defRPr>
            </a:lvl3pPr>
            <a:lvl4pPr>
              <a:defRPr sz="1800" b="1">
                <a:solidFill>
                  <a:schemeClr val="tx1"/>
                </a:solidFill>
                <a:latin typeface="+mn-lt"/>
                <a:ea typeface="黑体" pitchFamily="2" charset="-122"/>
              </a:defRPr>
            </a:lvl4pPr>
            <a:lvl5pPr>
              <a:defRPr sz="1800" b="1">
                <a:solidFill>
                  <a:schemeClr val="tx1"/>
                </a:solidFill>
                <a:latin typeface="+mn-lt"/>
                <a:ea typeface="黑体" pitchFamily="2" charset="-122"/>
              </a:defRPr>
            </a:lvl5pPr>
            <a:lvl6pPr>
              <a:defRPr sz="1600"/>
            </a:lvl6pPr>
            <a:lvl7pPr>
              <a:defRPr sz="1600"/>
            </a:lvl7pPr>
            <a:lvl8pPr>
              <a:defRPr sz="1600"/>
            </a:lvl8pPr>
            <a:lvl9pPr>
              <a:defRPr sz="1600"/>
            </a:lvl9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7" name="日期占位符 6"/>
          <p:cNvSpPr>
            <a:spLocks noGrp="1"/>
          </p:cNvSpPr>
          <p:nvPr>
            <p:ph type="dt" sz="half" idx="10"/>
          </p:nvPr>
        </p:nvSpPr>
        <p:spPr/>
        <p:txBody>
          <a:bodyPr/>
          <a:lstStyle>
            <a:lvl1pPr>
              <a:defRPr/>
            </a:lvl1pPr>
          </a:lstStyle>
          <a:p>
            <a:fld id="{EA960A4C-2E7A-4BC7-92BB-4811D8BBCCED}" type="datetime3">
              <a:rPr lang="zh-CN" altLang="en-US" smtClean="0"/>
              <a:t>2022年11月24日星期四</a:t>
            </a:fld>
            <a:endParaRPr lang="en-US" altLang="zh-CN" dirty="0"/>
          </a:p>
        </p:txBody>
      </p:sp>
      <p:sp>
        <p:nvSpPr>
          <p:cNvPr id="8" name="页脚占位符 7"/>
          <p:cNvSpPr>
            <a:spLocks noGrp="1"/>
          </p:cNvSpPr>
          <p:nvPr>
            <p:ph type="ftr" sz="quarter" idx="11"/>
          </p:nvPr>
        </p:nvSpPr>
        <p:spPr>
          <a:xfrm>
            <a:off x="3384550" y="6356176"/>
            <a:ext cx="3136900" cy="457200"/>
          </a:xfrm>
          <a:prstGeom prst="rect">
            <a:avLst/>
          </a:prstGeom>
        </p:spPr>
        <p:txBody>
          <a:bodyPr/>
          <a:lstStyle>
            <a:lvl1pPr>
              <a:defRPr/>
            </a:lvl1pPr>
          </a:lstStyle>
          <a:p>
            <a:endParaRPr lang="en-US" altLang="zh-CN" dirty="0"/>
          </a:p>
        </p:txBody>
      </p:sp>
      <p:sp>
        <p:nvSpPr>
          <p:cNvPr id="9" name="灯片编号占位符 8"/>
          <p:cNvSpPr>
            <a:spLocks noGrp="1"/>
          </p:cNvSpPr>
          <p:nvPr>
            <p:ph type="sldNum" sz="quarter" idx="12"/>
          </p:nvPr>
        </p:nvSpPr>
        <p:spPr/>
        <p:txBody>
          <a:bodyPr/>
          <a:lstStyle>
            <a:lvl1pPr>
              <a:defRPr/>
            </a:lvl1pPr>
          </a:lstStyle>
          <a:p>
            <a:fld id="{FAC03054-A18C-4CF4-8FEF-67B6C74EC7CF}" type="slidenum">
              <a:rPr lang="zh-CN" altLang="en-US"/>
              <a:pPr/>
              <a:t>‹#›</a:t>
            </a:fld>
            <a:endParaRPr lang="en-US" altLang="zh-CN" dirty="0"/>
          </a:p>
        </p:txBody>
      </p:sp>
      <p:sp>
        <p:nvSpPr>
          <p:cNvPr id="10" name="Line 8"/>
          <p:cNvSpPr>
            <a:spLocks noChangeShapeType="1"/>
          </p:cNvSpPr>
          <p:nvPr userDrawn="1"/>
        </p:nvSpPr>
        <p:spPr bwMode="auto">
          <a:xfrm>
            <a:off x="495300" y="1052736"/>
            <a:ext cx="9066212" cy="0"/>
          </a:xfrm>
          <a:prstGeom prst="line">
            <a:avLst/>
          </a:prstGeom>
          <a:noFill/>
          <a:ln w="28575">
            <a:solidFill>
              <a:srgbClr val="3333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Tree>
    <p:extLst>
      <p:ext uri="{BB962C8B-B14F-4D97-AF65-F5344CB8AC3E}">
        <p14:creationId xmlns:p14="http://schemas.microsoft.com/office/powerpoint/2010/main" val="104675307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1_比较">
    <p:spTree>
      <p:nvGrpSpPr>
        <p:cNvPr id="1" name=""/>
        <p:cNvGrpSpPr/>
        <p:nvPr/>
      </p:nvGrpSpPr>
      <p:grpSpPr>
        <a:xfrm>
          <a:off x="0" y="0"/>
          <a:ext cx="0" cy="0"/>
          <a:chOff x="0" y="0"/>
          <a:chExt cx="0" cy="0"/>
        </a:xfrm>
      </p:grpSpPr>
      <p:sp>
        <p:nvSpPr>
          <p:cNvPr id="2" name="标题 1"/>
          <p:cNvSpPr>
            <a:spLocks noGrp="1"/>
          </p:cNvSpPr>
          <p:nvPr>
            <p:ph type="title"/>
          </p:nvPr>
        </p:nvSpPr>
        <p:spPr>
          <a:xfrm>
            <a:off x="495300" y="188640"/>
            <a:ext cx="9066212" cy="792088"/>
          </a:xfrm>
        </p:spPr>
        <p:txBody>
          <a:bodyPr/>
          <a:lstStyle>
            <a:lvl1pPr>
              <a:defRPr b="1">
                <a:solidFill>
                  <a:srgbClr val="333399"/>
                </a:solidFill>
                <a:latin typeface="+mn-lt"/>
                <a:ea typeface="黑体" pitchFamily="2" charset="-122"/>
              </a:defRPr>
            </a:lvl1pPr>
          </a:lstStyle>
          <a:p>
            <a:r>
              <a:rPr lang="zh-CN" altLang="en-US" dirty="0"/>
              <a:t>单击此处编辑母版标题样式</a:t>
            </a:r>
          </a:p>
        </p:txBody>
      </p:sp>
      <p:sp>
        <p:nvSpPr>
          <p:cNvPr id="3" name="文本占位符 2"/>
          <p:cNvSpPr>
            <a:spLocks noGrp="1"/>
          </p:cNvSpPr>
          <p:nvPr>
            <p:ph type="body" idx="1"/>
          </p:nvPr>
        </p:nvSpPr>
        <p:spPr>
          <a:xfrm>
            <a:off x="495299" y="1207874"/>
            <a:ext cx="9066213" cy="639762"/>
          </a:xfrm>
        </p:spPr>
        <p:txBody>
          <a:bodyPr anchor="b"/>
          <a:lstStyle>
            <a:lvl1pPr marL="0" indent="0">
              <a:buNone/>
              <a:defRPr sz="3200" b="1">
                <a:latin typeface="+mn-lt"/>
                <a:ea typeface="黑体" pitchFamily="2" charset="-122"/>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dirty="0"/>
              <a:t>单击此处编辑母版文本样式</a:t>
            </a:r>
          </a:p>
        </p:txBody>
      </p:sp>
      <p:sp>
        <p:nvSpPr>
          <p:cNvPr id="4" name="内容占位符 3"/>
          <p:cNvSpPr>
            <a:spLocks noGrp="1"/>
          </p:cNvSpPr>
          <p:nvPr>
            <p:ph sz="half" idx="2"/>
          </p:nvPr>
        </p:nvSpPr>
        <p:spPr>
          <a:xfrm>
            <a:off x="495299" y="1872534"/>
            <a:ext cx="4455513" cy="4292770"/>
          </a:xfrm>
        </p:spPr>
        <p:txBody>
          <a:bodyPr/>
          <a:lstStyle>
            <a:lvl1pPr>
              <a:defRPr sz="2800" b="1">
                <a:solidFill>
                  <a:schemeClr val="tx1"/>
                </a:solidFill>
                <a:latin typeface="+mn-lt"/>
                <a:ea typeface="黑体" pitchFamily="2" charset="-122"/>
              </a:defRPr>
            </a:lvl1pPr>
            <a:lvl2pPr>
              <a:defRPr sz="2400" b="1">
                <a:solidFill>
                  <a:schemeClr val="tx1"/>
                </a:solidFill>
                <a:latin typeface="+mn-lt"/>
                <a:ea typeface="黑体" pitchFamily="2" charset="-122"/>
              </a:defRPr>
            </a:lvl2pPr>
            <a:lvl3pPr>
              <a:defRPr sz="2000" b="1">
                <a:solidFill>
                  <a:schemeClr val="tx1"/>
                </a:solidFill>
                <a:latin typeface="+mn-lt"/>
                <a:ea typeface="黑体" pitchFamily="2" charset="-122"/>
              </a:defRPr>
            </a:lvl3pPr>
            <a:lvl4pPr>
              <a:defRPr sz="1800" b="1">
                <a:solidFill>
                  <a:schemeClr val="tx1"/>
                </a:solidFill>
                <a:latin typeface="+mn-lt"/>
                <a:ea typeface="黑体" pitchFamily="2" charset="-122"/>
              </a:defRPr>
            </a:lvl4pPr>
            <a:lvl5pPr>
              <a:defRPr sz="1800" b="1">
                <a:solidFill>
                  <a:schemeClr val="tx1"/>
                </a:solidFill>
                <a:latin typeface="+mn-lt"/>
                <a:ea typeface="黑体" pitchFamily="2" charset="-122"/>
              </a:defRPr>
            </a:lvl5pPr>
            <a:lvl6pPr>
              <a:defRPr sz="1600"/>
            </a:lvl6pPr>
            <a:lvl7pPr>
              <a:defRPr sz="1600"/>
            </a:lvl7pPr>
            <a:lvl8pPr>
              <a:defRPr sz="1600"/>
            </a:lvl8pPr>
            <a:lvl9pPr>
              <a:defRPr sz="1600"/>
            </a:lvl9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6" name="内容占位符 5"/>
          <p:cNvSpPr>
            <a:spLocks noGrp="1"/>
          </p:cNvSpPr>
          <p:nvPr>
            <p:ph sz="quarter" idx="4"/>
          </p:nvPr>
        </p:nvSpPr>
        <p:spPr>
          <a:xfrm>
            <a:off x="5104383" y="1872534"/>
            <a:ext cx="4457129" cy="4292770"/>
          </a:xfrm>
        </p:spPr>
        <p:txBody>
          <a:bodyPr/>
          <a:lstStyle>
            <a:lvl1pPr>
              <a:defRPr sz="2800" b="1">
                <a:solidFill>
                  <a:schemeClr val="tx1"/>
                </a:solidFill>
                <a:latin typeface="+mn-lt"/>
                <a:ea typeface="黑体" pitchFamily="2" charset="-122"/>
              </a:defRPr>
            </a:lvl1pPr>
            <a:lvl2pPr>
              <a:defRPr sz="2400" b="1">
                <a:solidFill>
                  <a:schemeClr val="tx1"/>
                </a:solidFill>
                <a:latin typeface="+mn-lt"/>
                <a:ea typeface="黑体" pitchFamily="2" charset="-122"/>
              </a:defRPr>
            </a:lvl2pPr>
            <a:lvl3pPr>
              <a:defRPr sz="2000" b="1">
                <a:solidFill>
                  <a:schemeClr val="tx1"/>
                </a:solidFill>
                <a:latin typeface="+mn-lt"/>
                <a:ea typeface="黑体" pitchFamily="2" charset="-122"/>
              </a:defRPr>
            </a:lvl3pPr>
            <a:lvl4pPr>
              <a:defRPr sz="1800" b="1">
                <a:solidFill>
                  <a:schemeClr val="tx1"/>
                </a:solidFill>
                <a:latin typeface="+mn-lt"/>
                <a:ea typeface="黑体" pitchFamily="2" charset="-122"/>
              </a:defRPr>
            </a:lvl4pPr>
            <a:lvl5pPr>
              <a:defRPr sz="1800" b="1">
                <a:solidFill>
                  <a:schemeClr val="tx1"/>
                </a:solidFill>
                <a:latin typeface="+mn-lt"/>
                <a:ea typeface="黑体" pitchFamily="2" charset="-122"/>
              </a:defRPr>
            </a:lvl5pPr>
            <a:lvl6pPr>
              <a:defRPr sz="1600"/>
            </a:lvl6pPr>
            <a:lvl7pPr>
              <a:defRPr sz="1600"/>
            </a:lvl7pPr>
            <a:lvl8pPr>
              <a:defRPr sz="1600"/>
            </a:lvl8pPr>
            <a:lvl9pPr>
              <a:defRPr sz="1600"/>
            </a:lvl9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7" name="日期占位符 6"/>
          <p:cNvSpPr>
            <a:spLocks noGrp="1"/>
          </p:cNvSpPr>
          <p:nvPr>
            <p:ph type="dt" sz="half" idx="10"/>
          </p:nvPr>
        </p:nvSpPr>
        <p:spPr/>
        <p:txBody>
          <a:bodyPr/>
          <a:lstStyle>
            <a:lvl1pPr>
              <a:defRPr/>
            </a:lvl1pPr>
          </a:lstStyle>
          <a:p>
            <a:fld id="{E4D6D13C-CD6B-463A-856C-AE7EFF1CC60E}" type="datetime3">
              <a:rPr lang="zh-CN" altLang="en-US" smtClean="0"/>
              <a:t>2022年11月24日星期四</a:t>
            </a:fld>
            <a:endParaRPr lang="en-US" altLang="zh-CN" dirty="0"/>
          </a:p>
        </p:txBody>
      </p:sp>
      <p:sp>
        <p:nvSpPr>
          <p:cNvPr id="8" name="页脚占位符 7"/>
          <p:cNvSpPr>
            <a:spLocks noGrp="1"/>
          </p:cNvSpPr>
          <p:nvPr>
            <p:ph type="ftr" sz="quarter" idx="11"/>
          </p:nvPr>
        </p:nvSpPr>
        <p:spPr>
          <a:xfrm>
            <a:off x="3384550" y="6356176"/>
            <a:ext cx="3136900" cy="457200"/>
          </a:xfrm>
          <a:prstGeom prst="rect">
            <a:avLst/>
          </a:prstGeom>
        </p:spPr>
        <p:txBody>
          <a:bodyPr/>
          <a:lstStyle>
            <a:lvl1pPr>
              <a:defRPr/>
            </a:lvl1pPr>
          </a:lstStyle>
          <a:p>
            <a:endParaRPr lang="en-US" altLang="zh-CN" dirty="0"/>
          </a:p>
        </p:txBody>
      </p:sp>
      <p:sp>
        <p:nvSpPr>
          <p:cNvPr id="9" name="灯片编号占位符 8"/>
          <p:cNvSpPr>
            <a:spLocks noGrp="1"/>
          </p:cNvSpPr>
          <p:nvPr>
            <p:ph type="sldNum" sz="quarter" idx="12"/>
          </p:nvPr>
        </p:nvSpPr>
        <p:spPr/>
        <p:txBody>
          <a:bodyPr/>
          <a:lstStyle>
            <a:lvl1pPr>
              <a:defRPr/>
            </a:lvl1pPr>
          </a:lstStyle>
          <a:p>
            <a:fld id="{FAC03054-A18C-4CF4-8FEF-67B6C74EC7CF}" type="slidenum">
              <a:rPr lang="zh-CN" altLang="en-US"/>
              <a:pPr/>
              <a:t>‹#›</a:t>
            </a:fld>
            <a:endParaRPr lang="en-US" altLang="zh-CN" dirty="0"/>
          </a:p>
        </p:txBody>
      </p:sp>
      <p:sp>
        <p:nvSpPr>
          <p:cNvPr id="10" name="Line 8"/>
          <p:cNvSpPr>
            <a:spLocks noChangeShapeType="1"/>
          </p:cNvSpPr>
          <p:nvPr userDrawn="1"/>
        </p:nvSpPr>
        <p:spPr bwMode="auto">
          <a:xfrm>
            <a:off x="495300" y="1052736"/>
            <a:ext cx="9066212" cy="0"/>
          </a:xfrm>
          <a:prstGeom prst="line">
            <a:avLst/>
          </a:prstGeom>
          <a:noFill/>
          <a:ln w="28575">
            <a:solidFill>
              <a:srgbClr val="3333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Tree>
    <p:extLst>
      <p:ext uri="{BB962C8B-B14F-4D97-AF65-F5344CB8AC3E}">
        <p14:creationId xmlns:p14="http://schemas.microsoft.com/office/powerpoint/2010/main" val="205209088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b="1">
                <a:solidFill>
                  <a:srgbClr val="333399"/>
                </a:solidFill>
                <a:latin typeface="+mn-lt"/>
                <a:ea typeface="黑体" pitchFamily="2" charset="-122"/>
              </a:defRPr>
            </a:lvl1pPr>
          </a:lstStyle>
          <a:p>
            <a:r>
              <a:rPr lang="zh-CN" altLang="en-US"/>
              <a:t>单击此处编辑母版标题样式</a:t>
            </a:r>
          </a:p>
        </p:txBody>
      </p:sp>
      <p:sp>
        <p:nvSpPr>
          <p:cNvPr id="3" name="日期占位符 2"/>
          <p:cNvSpPr>
            <a:spLocks noGrp="1"/>
          </p:cNvSpPr>
          <p:nvPr>
            <p:ph type="dt" sz="half" idx="10"/>
          </p:nvPr>
        </p:nvSpPr>
        <p:spPr/>
        <p:txBody>
          <a:bodyPr/>
          <a:lstStyle>
            <a:lvl1pPr>
              <a:defRPr/>
            </a:lvl1pPr>
          </a:lstStyle>
          <a:p>
            <a:fld id="{41AAF49A-B9BF-4A20-9CBD-058DA3EDBF07}" type="datetime3">
              <a:rPr lang="zh-CN" altLang="en-US" smtClean="0"/>
              <a:t>2022年11月24日星期四</a:t>
            </a:fld>
            <a:endParaRPr lang="en-US" altLang="zh-CN" dirty="0"/>
          </a:p>
        </p:txBody>
      </p:sp>
      <p:sp>
        <p:nvSpPr>
          <p:cNvPr id="4" name="页脚占位符 3"/>
          <p:cNvSpPr>
            <a:spLocks noGrp="1"/>
          </p:cNvSpPr>
          <p:nvPr>
            <p:ph type="ftr" sz="quarter" idx="11"/>
          </p:nvPr>
        </p:nvSpPr>
        <p:spPr>
          <a:xfrm>
            <a:off x="3384550" y="6356176"/>
            <a:ext cx="3136900" cy="457200"/>
          </a:xfrm>
          <a:prstGeom prst="rect">
            <a:avLst/>
          </a:prstGeom>
        </p:spPr>
        <p:txBody>
          <a:bodyPr/>
          <a:lstStyle>
            <a:lvl1pPr>
              <a:defRPr/>
            </a:lvl1pPr>
          </a:lstStyle>
          <a:p>
            <a:endParaRPr lang="en-US" altLang="zh-CN" dirty="0"/>
          </a:p>
        </p:txBody>
      </p:sp>
      <p:sp>
        <p:nvSpPr>
          <p:cNvPr id="5" name="灯片编号占位符 4"/>
          <p:cNvSpPr>
            <a:spLocks noGrp="1"/>
          </p:cNvSpPr>
          <p:nvPr>
            <p:ph type="sldNum" sz="quarter" idx="12"/>
          </p:nvPr>
        </p:nvSpPr>
        <p:spPr/>
        <p:txBody>
          <a:bodyPr/>
          <a:lstStyle>
            <a:lvl1pPr>
              <a:defRPr/>
            </a:lvl1pPr>
          </a:lstStyle>
          <a:p>
            <a:fld id="{14338B79-8FD5-46F1-8A19-651A319ADB19}" type="slidenum">
              <a:rPr lang="zh-CN" altLang="en-US"/>
              <a:pPr/>
              <a:t>‹#›</a:t>
            </a:fld>
            <a:endParaRPr lang="en-US" altLang="zh-CN" dirty="0"/>
          </a:p>
        </p:txBody>
      </p:sp>
      <p:sp>
        <p:nvSpPr>
          <p:cNvPr id="6" name="Line 8"/>
          <p:cNvSpPr>
            <a:spLocks noChangeShapeType="1"/>
          </p:cNvSpPr>
          <p:nvPr userDrawn="1"/>
        </p:nvSpPr>
        <p:spPr bwMode="auto">
          <a:xfrm>
            <a:off x="495300" y="1052736"/>
            <a:ext cx="9066212" cy="0"/>
          </a:xfrm>
          <a:prstGeom prst="line">
            <a:avLst/>
          </a:prstGeom>
          <a:noFill/>
          <a:ln w="28575">
            <a:solidFill>
              <a:srgbClr val="3333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Tree>
    <p:extLst>
      <p:ext uri="{BB962C8B-B14F-4D97-AF65-F5344CB8AC3E}">
        <p14:creationId xmlns:p14="http://schemas.microsoft.com/office/powerpoint/2010/main" val="20813249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lvl1pPr>
              <a:defRPr/>
            </a:lvl1pPr>
          </a:lstStyle>
          <a:p>
            <a:fld id="{47B4B721-E592-4506-A42D-A485CD36D387}" type="datetime3">
              <a:rPr lang="zh-CN" altLang="en-US" smtClean="0"/>
              <a:t>2022年11月24日星期四</a:t>
            </a:fld>
            <a:endParaRPr lang="en-US" altLang="zh-CN" dirty="0"/>
          </a:p>
        </p:txBody>
      </p:sp>
      <p:sp>
        <p:nvSpPr>
          <p:cNvPr id="3" name="页脚占位符 2"/>
          <p:cNvSpPr>
            <a:spLocks noGrp="1"/>
          </p:cNvSpPr>
          <p:nvPr>
            <p:ph type="ftr" sz="quarter" idx="11"/>
          </p:nvPr>
        </p:nvSpPr>
        <p:spPr>
          <a:xfrm>
            <a:off x="3384550" y="6356176"/>
            <a:ext cx="3136900" cy="457200"/>
          </a:xfrm>
          <a:prstGeom prst="rect">
            <a:avLst/>
          </a:prstGeom>
        </p:spPr>
        <p:txBody>
          <a:bodyPr/>
          <a:lstStyle>
            <a:lvl1pPr>
              <a:defRPr/>
            </a:lvl1pPr>
          </a:lstStyle>
          <a:p>
            <a:endParaRPr lang="en-US" altLang="zh-CN" dirty="0"/>
          </a:p>
        </p:txBody>
      </p:sp>
      <p:sp>
        <p:nvSpPr>
          <p:cNvPr id="4" name="灯片编号占位符 3"/>
          <p:cNvSpPr>
            <a:spLocks noGrp="1"/>
          </p:cNvSpPr>
          <p:nvPr>
            <p:ph type="sldNum" sz="quarter" idx="12"/>
          </p:nvPr>
        </p:nvSpPr>
        <p:spPr/>
        <p:txBody>
          <a:bodyPr/>
          <a:lstStyle>
            <a:lvl1pPr>
              <a:defRPr/>
            </a:lvl1pPr>
          </a:lstStyle>
          <a:p>
            <a:fld id="{137DC1DE-D772-415A-B75D-6C2A3BBF0EE5}" type="slidenum">
              <a:rPr lang="zh-CN" altLang="en-US"/>
              <a:pPr/>
              <a:t>‹#›</a:t>
            </a:fld>
            <a:endParaRPr lang="en-US" altLang="zh-CN" dirty="0"/>
          </a:p>
        </p:txBody>
      </p:sp>
    </p:spTree>
    <p:extLst>
      <p:ext uri="{BB962C8B-B14F-4D97-AF65-F5344CB8AC3E}">
        <p14:creationId xmlns:p14="http://schemas.microsoft.com/office/powerpoint/2010/main" val="60705380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95300" y="273050"/>
            <a:ext cx="3259138" cy="1162050"/>
          </a:xfrm>
        </p:spPr>
        <p:txBody>
          <a:bodyPr/>
          <a:lstStyle>
            <a:lvl1pPr algn="l">
              <a:defRPr sz="2000" b="1"/>
            </a:lvl1pPr>
          </a:lstStyle>
          <a:p>
            <a:r>
              <a:rPr lang="zh-CN" altLang="en-US"/>
              <a:t>单击此处编辑母版标题样式</a:t>
            </a:r>
          </a:p>
        </p:txBody>
      </p:sp>
      <p:sp>
        <p:nvSpPr>
          <p:cNvPr id="3" name="内容占位符 2"/>
          <p:cNvSpPr>
            <a:spLocks noGrp="1"/>
          </p:cNvSpPr>
          <p:nvPr>
            <p:ph idx="1"/>
          </p:nvPr>
        </p:nvSpPr>
        <p:spPr>
          <a:xfrm>
            <a:off x="3873500" y="273050"/>
            <a:ext cx="5688012"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4" name="文本占位符 3"/>
          <p:cNvSpPr>
            <a:spLocks noGrp="1"/>
          </p:cNvSpPr>
          <p:nvPr>
            <p:ph type="body" sz="half" idx="2"/>
          </p:nvPr>
        </p:nvSpPr>
        <p:spPr>
          <a:xfrm>
            <a:off x="495300" y="1435100"/>
            <a:ext cx="3259138"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日期占位符 4"/>
          <p:cNvSpPr>
            <a:spLocks noGrp="1"/>
          </p:cNvSpPr>
          <p:nvPr>
            <p:ph type="dt" sz="half" idx="10"/>
          </p:nvPr>
        </p:nvSpPr>
        <p:spPr/>
        <p:txBody>
          <a:bodyPr/>
          <a:lstStyle>
            <a:lvl1pPr>
              <a:defRPr/>
            </a:lvl1pPr>
          </a:lstStyle>
          <a:p>
            <a:fld id="{A85F4B58-8D9C-4A13-BFBC-1BE0A361A717}" type="datetime3">
              <a:rPr lang="zh-CN" altLang="en-US" smtClean="0"/>
              <a:t>2022年11月24日星期四</a:t>
            </a:fld>
            <a:endParaRPr lang="en-US" altLang="zh-CN" dirty="0"/>
          </a:p>
        </p:txBody>
      </p:sp>
      <p:sp>
        <p:nvSpPr>
          <p:cNvPr id="6" name="页脚占位符 5"/>
          <p:cNvSpPr>
            <a:spLocks noGrp="1"/>
          </p:cNvSpPr>
          <p:nvPr>
            <p:ph type="ftr" sz="quarter" idx="11"/>
          </p:nvPr>
        </p:nvSpPr>
        <p:spPr>
          <a:xfrm>
            <a:off x="3384550" y="6356176"/>
            <a:ext cx="3136900" cy="457200"/>
          </a:xfrm>
          <a:prstGeom prst="rect">
            <a:avLst/>
          </a:prstGeom>
        </p:spPr>
        <p:txBody>
          <a:bodyPr/>
          <a:lstStyle>
            <a:lvl1pPr>
              <a:defRPr/>
            </a:lvl1pPr>
          </a:lstStyle>
          <a:p>
            <a:endParaRPr lang="en-US" altLang="zh-CN" dirty="0"/>
          </a:p>
        </p:txBody>
      </p:sp>
      <p:sp>
        <p:nvSpPr>
          <p:cNvPr id="7" name="灯片编号占位符 6"/>
          <p:cNvSpPr>
            <a:spLocks noGrp="1"/>
          </p:cNvSpPr>
          <p:nvPr>
            <p:ph type="sldNum" sz="quarter" idx="12"/>
          </p:nvPr>
        </p:nvSpPr>
        <p:spPr/>
        <p:txBody>
          <a:bodyPr/>
          <a:lstStyle>
            <a:lvl1pPr>
              <a:defRPr/>
            </a:lvl1pPr>
          </a:lstStyle>
          <a:p>
            <a:fld id="{DFB74B41-85B4-4984-A2A4-801BFDC62CF6}" type="slidenum">
              <a:rPr lang="zh-CN" altLang="en-US"/>
              <a:pPr/>
              <a:t>‹#›</a:t>
            </a:fld>
            <a:endParaRPr lang="en-US" altLang="zh-CN" dirty="0"/>
          </a:p>
        </p:txBody>
      </p:sp>
    </p:spTree>
    <p:extLst>
      <p:ext uri="{BB962C8B-B14F-4D97-AF65-F5344CB8AC3E}">
        <p14:creationId xmlns:p14="http://schemas.microsoft.com/office/powerpoint/2010/main" val="198255036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picTx" preserve="1">
  <p:cSld name="20与标题">
    <p:spTree>
      <p:nvGrpSpPr>
        <p:cNvPr id="1" name=""/>
        <p:cNvGrpSpPr/>
        <p:nvPr/>
      </p:nvGrpSpPr>
      <p:grpSpPr>
        <a:xfrm>
          <a:off x="0" y="0"/>
          <a:ext cx="0" cy="0"/>
          <a:chOff x="0" y="0"/>
          <a:chExt cx="0" cy="0"/>
        </a:xfrm>
      </p:grpSpPr>
      <p:sp>
        <p:nvSpPr>
          <p:cNvPr id="2" name="标题 1"/>
          <p:cNvSpPr>
            <a:spLocks noGrp="1"/>
          </p:cNvSpPr>
          <p:nvPr>
            <p:ph type="title"/>
          </p:nvPr>
        </p:nvSpPr>
        <p:spPr>
          <a:xfrm>
            <a:off x="1941513" y="4800600"/>
            <a:ext cx="5943600" cy="566738"/>
          </a:xfrm>
        </p:spPr>
        <p:txBody>
          <a:bodyPr/>
          <a:lstStyle>
            <a:lvl1pPr algn="l">
              <a:defRPr sz="2000" b="1"/>
            </a:lvl1pPr>
          </a:lstStyle>
          <a:p>
            <a:r>
              <a:rPr lang="zh-CN" altLang="en-US"/>
              <a:t>单击此处编辑母版标题样式</a:t>
            </a:r>
          </a:p>
        </p:txBody>
      </p:sp>
      <p:sp>
        <p:nvSpPr>
          <p:cNvPr id="3" name="20占位符 2"/>
          <p:cNvSpPr>
            <a:spLocks noGrp="1"/>
          </p:cNvSpPr>
          <p:nvPr>
            <p:ph type="pic" idx="1"/>
          </p:nvPr>
        </p:nvSpPr>
        <p:spPr>
          <a:xfrm>
            <a:off x="1941513" y="612775"/>
            <a:ext cx="59436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zh-CN" altLang="en-US"/>
              <a:t>单击图标添加20</a:t>
            </a:r>
          </a:p>
        </p:txBody>
      </p:sp>
      <p:sp>
        <p:nvSpPr>
          <p:cNvPr id="4" name="文本占位符 3"/>
          <p:cNvSpPr>
            <a:spLocks noGrp="1"/>
          </p:cNvSpPr>
          <p:nvPr>
            <p:ph type="body" sz="half" idx="2"/>
          </p:nvPr>
        </p:nvSpPr>
        <p:spPr>
          <a:xfrm>
            <a:off x="1941513" y="5367338"/>
            <a:ext cx="59436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日期占位符 4"/>
          <p:cNvSpPr>
            <a:spLocks noGrp="1"/>
          </p:cNvSpPr>
          <p:nvPr>
            <p:ph type="dt" sz="half" idx="10"/>
          </p:nvPr>
        </p:nvSpPr>
        <p:spPr/>
        <p:txBody>
          <a:bodyPr/>
          <a:lstStyle>
            <a:lvl1pPr>
              <a:defRPr/>
            </a:lvl1pPr>
          </a:lstStyle>
          <a:p>
            <a:fld id="{2460B875-7DB8-40C0-8DE9-C73D2B1839FC}" type="datetime3">
              <a:rPr lang="zh-CN" altLang="en-US" smtClean="0"/>
              <a:t>2022年11月24日星期四</a:t>
            </a:fld>
            <a:endParaRPr lang="en-US" altLang="zh-CN" dirty="0"/>
          </a:p>
        </p:txBody>
      </p:sp>
      <p:sp>
        <p:nvSpPr>
          <p:cNvPr id="6" name="页脚占位符 5"/>
          <p:cNvSpPr>
            <a:spLocks noGrp="1"/>
          </p:cNvSpPr>
          <p:nvPr>
            <p:ph type="ftr" sz="quarter" idx="11"/>
          </p:nvPr>
        </p:nvSpPr>
        <p:spPr>
          <a:xfrm>
            <a:off x="3384550" y="6356176"/>
            <a:ext cx="3136900" cy="457200"/>
          </a:xfrm>
          <a:prstGeom prst="rect">
            <a:avLst/>
          </a:prstGeom>
        </p:spPr>
        <p:txBody>
          <a:bodyPr/>
          <a:lstStyle>
            <a:lvl1pPr>
              <a:defRPr/>
            </a:lvl1pPr>
          </a:lstStyle>
          <a:p>
            <a:endParaRPr lang="en-US" altLang="zh-CN" dirty="0"/>
          </a:p>
        </p:txBody>
      </p:sp>
      <p:sp>
        <p:nvSpPr>
          <p:cNvPr id="7" name="灯片编号占位符 6"/>
          <p:cNvSpPr>
            <a:spLocks noGrp="1"/>
          </p:cNvSpPr>
          <p:nvPr>
            <p:ph type="sldNum" sz="quarter" idx="12"/>
          </p:nvPr>
        </p:nvSpPr>
        <p:spPr/>
        <p:txBody>
          <a:bodyPr/>
          <a:lstStyle>
            <a:lvl1pPr>
              <a:defRPr/>
            </a:lvl1pPr>
          </a:lstStyle>
          <a:p>
            <a:fld id="{24FEF2C3-09B7-48D6-BCFF-274B159605E4}" type="slidenum">
              <a:rPr lang="zh-CN" altLang="en-US"/>
              <a:pPr/>
              <a:t>‹#›</a:t>
            </a:fld>
            <a:endParaRPr lang="en-US" altLang="zh-CN" dirty="0"/>
          </a:p>
        </p:txBody>
      </p:sp>
    </p:spTree>
    <p:extLst>
      <p:ext uri="{BB962C8B-B14F-4D97-AF65-F5344CB8AC3E}">
        <p14:creationId xmlns:p14="http://schemas.microsoft.com/office/powerpoint/2010/main" val="188598755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b="1">
                <a:solidFill>
                  <a:srgbClr val="333399"/>
                </a:solidFill>
                <a:latin typeface="+mn-lt"/>
                <a:ea typeface="黑体" pitchFamily="2" charset="-122"/>
              </a:defRPr>
            </a:lvl1p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lvl1pPr>
              <a:defRPr/>
            </a:lvl1pPr>
          </a:lstStyle>
          <a:p>
            <a:fld id="{5999A547-F978-4B5E-95FF-4A25E1B63B3F}" type="datetime3">
              <a:rPr lang="zh-CN" altLang="en-US" smtClean="0"/>
              <a:t>2022年11月24日星期四</a:t>
            </a:fld>
            <a:endParaRPr lang="en-US" altLang="zh-CN" dirty="0"/>
          </a:p>
        </p:txBody>
      </p:sp>
      <p:sp>
        <p:nvSpPr>
          <p:cNvPr id="5" name="页脚占位符 4"/>
          <p:cNvSpPr>
            <a:spLocks noGrp="1"/>
          </p:cNvSpPr>
          <p:nvPr>
            <p:ph type="ftr" sz="quarter" idx="11"/>
          </p:nvPr>
        </p:nvSpPr>
        <p:spPr>
          <a:xfrm>
            <a:off x="3384550" y="6356176"/>
            <a:ext cx="3136900" cy="457200"/>
          </a:xfrm>
          <a:prstGeom prst="rect">
            <a:avLst/>
          </a:prstGeom>
        </p:spPr>
        <p:txBody>
          <a:bodyPr/>
          <a:lstStyle>
            <a:lvl1pPr>
              <a:defRPr/>
            </a:lvl1pPr>
          </a:lstStyle>
          <a:p>
            <a:endParaRPr lang="en-US" altLang="zh-CN" dirty="0"/>
          </a:p>
        </p:txBody>
      </p:sp>
      <p:sp>
        <p:nvSpPr>
          <p:cNvPr id="6" name="灯片编号占位符 5"/>
          <p:cNvSpPr>
            <a:spLocks noGrp="1"/>
          </p:cNvSpPr>
          <p:nvPr>
            <p:ph type="sldNum" sz="quarter" idx="12"/>
          </p:nvPr>
        </p:nvSpPr>
        <p:spPr/>
        <p:txBody>
          <a:bodyPr/>
          <a:lstStyle>
            <a:lvl1pPr>
              <a:defRPr/>
            </a:lvl1pPr>
          </a:lstStyle>
          <a:p>
            <a:fld id="{A2236A91-AB49-49FF-BD59-8386391FD12B}" type="slidenum">
              <a:rPr lang="zh-CN" altLang="en-US"/>
              <a:pPr/>
              <a:t>‹#›</a:t>
            </a:fld>
            <a:endParaRPr lang="en-US" altLang="zh-CN" dirty="0"/>
          </a:p>
        </p:txBody>
      </p:sp>
    </p:spTree>
    <p:extLst>
      <p:ext uri="{BB962C8B-B14F-4D97-AF65-F5344CB8AC3E}">
        <p14:creationId xmlns:p14="http://schemas.microsoft.com/office/powerpoint/2010/main" val="168464280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7181850" y="277813"/>
            <a:ext cx="2379662" cy="5853112"/>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495300" y="277813"/>
            <a:ext cx="6534150" cy="5853112"/>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lvl1pPr>
              <a:defRPr/>
            </a:lvl1pPr>
          </a:lstStyle>
          <a:p>
            <a:fld id="{DD4BF687-6B3E-44A6-8A17-B031BCEB5374}" type="datetime3">
              <a:rPr lang="zh-CN" altLang="en-US" smtClean="0"/>
              <a:t>2022年11月24日星期四</a:t>
            </a:fld>
            <a:endParaRPr lang="en-US" altLang="zh-CN" dirty="0"/>
          </a:p>
        </p:txBody>
      </p:sp>
      <p:sp>
        <p:nvSpPr>
          <p:cNvPr id="5" name="页脚占位符 4"/>
          <p:cNvSpPr>
            <a:spLocks noGrp="1"/>
          </p:cNvSpPr>
          <p:nvPr>
            <p:ph type="ftr" sz="quarter" idx="11"/>
          </p:nvPr>
        </p:nvSpPr>
        <p:spPr>
          <a:xfrm>
            <a:off x="3384550" y="6356176"/>
            <a:ext cx="3136900" cy="457200"/>
          </a:xfrm>
          <a:prstGeom prst="rect">
            <a:avLst/>
          </a:prstGeom>
        </p:spPr>
        <p:txBody>
          <a:bodyPr/>
          <a:lstStyle>
            <a:lvl1pPr>
              <a:defRPr/>
            </a:lvl1pPr>
          </a:lstStyle>
          <a:p>
            <a:endParaRPr lang="en-US" altLang="zh-CN" dirty="0"/>
          </a:p>
        </p:txBody>
      </p:sp>
      <p:sp>
        <p:nvSpPr>
          <p:cNvPr id="6" name="灯片编号占位符 5"/>
          <p:cNvSpPr>
            <a:spLocks noGrp="1"/>
          </p:cNvSpPr>
          <p:nvPr>
            <p:ph type="sldNum" sz="quarter" idx="12"/>
          </p:nvPr>
        </p:nvSpPr>
        <p:spPr/>
        <p:txBody>
          <a:bodyPr/>
          <a:lstStyle>
            <a:lvl1pPr>
              <a:defRPr/>
            </a:lvl1pPr>
          </a:lstStyle>
          <a:p>
            <a:fld id="{D98FACEB-921B-4428-A32E-7A6FF935A2DD}" type="slidenum">
              <a:rPr lang="zh-CN" altLang="en-US"/>
              <a:pPr/>
              <a:t>‹#›</a:t>
            </a:fld>
            <a:endParaRPr lang="en-US" altLang="zh-CN" dirty="0"/>
          </a:p>
        </p:txBody>
      </p:sp>
    </p:spTree>
    <p:extLst>
      <p:ext uri="{BB962C8B-B14F-4D97-AF65-F5344CB8AC3E}">
        <p14:creationId xmlns:p14="http://schemas.microsoft.com/office/powerpoint/2010/main" val="129182296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xAndTwoObj" preserve="1">
  <p:cSld name="标题，文本与两项内容">
    <p:spTree>
      <p:nvGrpSpPr>
        <p:cNvPr id="1" name=""/>
        <p:cNvGrpSpPr/>
        <p:nvPr/>
      </p:nvGrpSpPr>
      <p:grpSpPr>
        <a:xfrm>
          <a:off x="0" y="0"/>
          <a:ext cx="0" cy="0"/>
          <a:chOff x="0" y="0"/>
          <a:chExt cx="0" cy="0"/>
        </a:xfrm>
      </p:grpSpPr>
      <p:sp>
        <p:nvSpPr>
          <p:cNvPr id="2" name="标题 1"/>
          <p:cNvSpPr>
            <a:spLocks noGrp="1"/>
          </p:cNvSpPr>
          <p:nvPr>
            <p:ph type="title"/>
          </p:nvPr>
        </p:nvSpPr>
        <p:spPr>
          <a:xfrm>
            <a:off x="488504" y="188640"/>
            <a:ext cx="8915400" cy="792088"/>
          </a:xfrm>
        </p:spPr>
        <p:txBody>
          <a:bodyPr/>
          <a:lstStyle/>
          <a:p>
            <a:r>
              <a:rPr lang="zh-CN" altLang="en-US"/>
              <a:t>单击此处编辑母版标题样式</a:t>
            </a:r>
          </a:p>
        </p:txBody>
      </p:sp>
      <p:sp>
        <p:nvSpPr>
          <p:cNvPr id="3" name="文本占位符 2"/>
          <p:cNvSpPr>
            <a:spLocks noGrp="1"/>
          </p:cNvSpPr>
          <p:nvPr>
            <p:ph type="body" sz="half" idx="1"/>
          </p:nvPr>
        </p:nvSpPr>
        <p:spPr>
          <a:xfrm>
            <a:off x="495300" y="1196752"/>
            <a:ext cx="4381500" cy="4934173"/>
          </a:xfrm>
        </p:spPr>
        <p:txBody>
          <a:body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4" name="内容占位符 3"/>
          <p:cNvSpPr>
            <a:spLocks noGrp="1"/>
          </p:cNvSpPr>
          <p:nvPr>
            <p:ph sz="quarter" idx="2"/>
          </p:nvPr>
        </p:nvSpPr>
        <p:spPr>
          <a:xfrm>
            <a:off x="5029200" y="1196752"/>
            <a:ext cx="4381500" cy="2376587"/>
          </a:xfrm>
        </p:spPr>
        <p:txBody>
          <a:body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5" name="内容占位符 4"/>
          <p:cNvSpPr>
            <a:spLocks noGrp="1"/>
          </p:cNvSpPr>
          <p:nvPr>
            <p:ph sz="quarter" idx="3"/>
          </p:nvPr>
        </p:nvSpPr>
        <p:spPr>
          <a:xfrm>
            <a:off x="5029200" y="3754339"/>
            <a:ext cx="4381500" cy="2376586"/>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日期占位符 5"/>
          <p:cNvSpPr>
            <a:spLocks noGrp="1"/>
          </p:cNvSpPr>
          <p:nvPr>
            <p:ph type="dt" sz="half" idx="10"/>
          </p:nvPr>
        </p:nvSpPr>
        <p:spPr>
          <a:xfrm>
            <a:off x="495300" y="6248400"/>
            <a:ext cx="2311400" cy="457200"/>
          </a:xfrm>
        </p:spPr>
        <p:txBody>
          <a:bodyPr/>
          <a:lstStyle>
            <a:lvl1pPr>
              <a:defRPr/>
            </a:lvl1pPr>
          </a:lstStyle>
          <a:p>
            <a:fld id="{448BAC07-5643-4648-8B99-28E352517941}" type="datetime3">
              <a:rPr lang="zh-CN" altLang="en-US" smtClean="0"/>
              <a:t>2022年11月24日星期四</a:t>
            </a:fld>
            <a:endParaRPr lang="en-US" altLang="zh-CN" dirty="0"/>
          </a:p>
        </p:txBody>
      </p:sp>
      <p:sp>
        <p:nvSpPr>
          <p:cNvPr id="7" name="页脚占位符 6"/>
          <p:cNvSpPr>
            <a:spLocks noGrp="1"/>
          </p:cNvSpPr>
          <p:nvPr>
            <p:ph type="ftr" sz="quarter" idx="11"/>
          </p:nvPr>
        </p:nvSpPr>
        <p:spPr>
          <a:xfrm>
            <a:off x="3384550" y="6248400"/>
            <a:ext cx="3136900" cy="457200"/>
          </a:xfrm>
          <a:prstGeom prst="rect">
            <a:avLst/>
          </a:prstGeom>
        </p:spPr>
        <p:txBody>
          <a:bodyPr/>
          <a:lstStyle>
            <a:lvl1pPr>
              <a:defRPr/>
            </a:lvl1pPr>
          </a:lstStyle>
          <a:p>
            <a:endParaRPr lang="en-US" altLang="zh-CN" dirty="0"/>
          </a:p>
        </p:txBody>
      </p:sp>
      <p:sp>
        <p:nvSpPr>
          <p:cNvPr id="8" name="灯片编号占位符 7"/>
          <p:cNvSpPr>
            <a:spLocks noGrp="1"/>
          </p:cNvSpPr>
          <p:nvPr>
            <p:ph type="sldNum" sz="quarter" idx="12"/>
          </p:nvPr>
        </p:nvSpPr>
        <p:spPr>
          <a:xfrm>
            <a:off x="7099300" y="6248400"/>
            <a:ext cx="2311400" cy="457200"/>
          </a:xfrm>
        </p:spPr>
        <p:txBody>
          <a:bodyPr/>
          <a:lstStyle>
            <a:lvl1pPr>
              <a:defRPr/>
            </a:lvl1pPr>
          </a:lstStyle>
          <a:p>
            <a:fld id="{3C52F4D9-41EC-423B-B963-42D1C41ACCC5}" type="slidenum">
              <a:rPr lang="zh-CN" altLang="en-US"/>
              <a:pPr/>
              <a:t>‹#›</a:t>
            </a:fld>
            <a:endParaRPr lang="en-US" altLang="zh-CN" dirty="0"/>
          </a:p>
        </p:txBody>
      </p:sp>
      <p:sp>
        <p:nvSpPr>
          <p:cNvPr id="9" name="Line 8"/>
          <p:cNvSpPr>
            <a:spLocks noChangeShapeType="1"/>
          </p:cNvSpPr>
          <p:nvPr userDrawn="1"/>
        </p:nvSpPr>
        <p:spPr bwMode="auto">
          <a:xfrm>
            <a:off x="495300" y="1052736"/>
            <a:ext cx="9066212" cy="0"/>
          </a:xfrm>
          <a:prstGeom prst="line">
            <a:avLst/>
          </a:prstGeom>
          <a:noFill/>
          <a:ln w="28575">
            <a:solidFill>
              <a:srgbClr val="3333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Tree>
    <p:extLst>
      <p:ext uri="{BB962C8B-B14F-4D97-AF65-F5344CB8AC3E}">
        <p14:creationId xmlns:p14="http://schemas.microsoft.com/office/powerpoint/2010/main" val="46355094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xAndClipArt" preserve="1">
  <p:cSld name="标题，文本与剪贴画">
    <p:spTree>
      <p:nvGrpSpPr>
        <p:cNvPr id="1" name=""/>
        <p:cNvGrpSpPr/>
        <p:nvPr/>
      </p:nvGrpSpPr>
      <p:grpSpPr>
        <a:xfrm>
          <a:off x="0" y="0"/>
          <a:ext cx="0" cy="0"/>
          <a:chOff x="0" y="0"/>
          <a:chExt cx="0" cy="0"/>
        </a:xfrm>
      </p:grpSpPr>
      <p:sp>
        <p:nvSpPr>
          <p:cNvPr id="2" name="标题 1"/>
          <p:cNvSpPr>
            <a:spLocks noGrp="1"/>
          </p:cNvSpPr>
          <p:nvPr>
            <p:ph type="title"/>
          </p:nvPr>
        </p:nvSpPr>
        <p:spPr>
          <a:xfrm>
            <a:off x="495300" y="188641"/>
            <a:ext cx="8915400" cy="792087"/>
          </a:xfrm>
        </p:spPr>
        <p:txBody>
          <a:bodyPr/>
          <a:lstStyle/>
          <a:p>
            <a:r>
              <a:rPr lang="zh-CN" altLang="en-US"/>
              <a:t>单击此处编辑母版标题样式</a:t>
            </a:r>
          </a:p>
        </p:txBody>
      </p:sp>
      <p:sp>
        <p:nvSpPr>
          <p:cNvPr id="3" name="文本占位符 2"/>
          <p:cNvSpPr>
            <a:spLocks noGrp="1"/>
          </p:cNvSpPr>
          <p:nvPr>
            <p:ph type="body" sz="half" idx="1"/>
          </p:nvPr>
        </p:nvSpPr>
        <p:spPr>
          <a:xfrm>
            <a:off x="495300" y="1196752"/>
            <a:ext cx="4381500" cy="4934173"/>
          </a:xfrm>
        </p:spPr>
        <p:txBody>
          <a:body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4" name="剪贴画占位符 3"/>
          <p:cNvSpPr>
            <a:spLocks noGrp="1"/>
          </p:cNvSpPr>
          <p:nvPr>
            <p:ph type="clipArt" sz="half" idx="2"/>
          </p:nvPr>
        </p:nvSpPr>
        <p:spPr>
          <a:xfrm>
            <a:off x="5029200" y="1196752"/>
            <a:ext cx="4381500" cy="4934173"/>
          </a:xfrm>
        </p:spPr>
        <p:txBody>
          <a:bodyPr/>
          <a:lstStyle/>
          <a:p>
            <a:r>
              <a:rPr lang="zh-CN" altLang="en-US"/>
              <a:t>单击图标添加剪 贴画</a:t>
            </a:r>
          </a:p>
        </p:txBody>
      </p:sp>
      <p:sp>
        <p:nvSpPr>
          <p:cNvPr id="5" name="日期占位符 4"/>
          <p:cNvSpPr>
            <a:spLocks noGrp="1"/>
          </p:cNvSpPr>
          <p:nvPr>
            <p:ph type="dt" sz="half" idx="10"/>
          </p:nvPr>
        </p:nvSpPr>
        <p:spPr>
          <a:xfrm>
            <a:off x="495300" y="6248400"/>
            <a:ext cx="2311400" cy="457200"/>
          </a:xfrm>
        </p:spPr>
        <p:txBody>
          <a:bodyPr/>
          <a:lstStyle>
            <a:lvl1pPr>
              <a:defRPr/>
            </a:lvl1pPr>
          </a:lstStyle>
          <a:p>
            <a:fld id="{3D344004-1B03-4B97-88C0-C8765BDB0F88}" type="datetime3">
              <a:rPr lang="zh-CN" altLang="en-US" smtClean="0"/>
              <a:t>2022年11月24日星期四</a:t>
            </a:fld>
            <a:endParaRPr lang="en-US" altLang="zh-CN" dirty="0"/>
          </a:p>
        </p:txBody>
      </p:sp>
      <p:sp>
        <p:nvSpPr>
          <p:cNvPr id="6" name="页脚占位符 5"/>
          <p:cNvSpPr>
            <a:spLocks noGrp="1"/>
          </p:cNvSpPr>
          <p:nvPr>
            <p:ph type="ftr" sz="quarter" idx="11"/>
          </p:nvPr>
        </p:nvSpPr>
        <p:spPr>
          <a:xfrm>
            <a:off x="3384550" y="6248400"/>
            <a:ext cx="3136900" cy="457200"/>
          </a:xfrm>
          <a:prstGeom prst="rect">
            <a:avLst/>
          </a:prstGeom>
        </p:spPr>
        <p:txBody>
          <a:bodyPr/>
          <a:lstStyle>
            <a:lvl1pPr>
              <a:defRPr/>
            </a:lvl1pPr>
          </a:lstStyle>
          <a:p>
            <a:endParaRPr lang="en-US" altLang="zh-CN" dirty="0"/>
          </a:p>
        </p:txBody>
      </p:sp>
      <p:sp>
        <p:nvSpPr>
          <p:cNvPr id="7" name="灯片编号占位符 6"/>
          <p:cNvSpPr>
            <a:spLocks noGrp="1"/>
          </p:cNvSpPr>
          <p:nvPr>
            <p:ph type="sldNum" sz="quarter" idx="12"/>
          </p:nvPr>
        </p:nvSpPr>
        <p:spPr>
          <a:xfrm>
            <a:off x="7099300" y="6248400"/>
            <a:ext cx="2311400" cy="457200"/>
          </a:xfrm>
        </p:spPr>
        <p:txBody>
          <a:bodyPr/>
          <a:lstStyle>
            <a:lvl1pPr>
              <a:defRPr/>
            </a:lvl1pPr>
          </a:lstStyle>
          <a:p>
            <a:fld id="{966CAE82-64C7-4E5B-88D2-F38A61F120C5}" type="slidenum">
              <a:rPr lang="zh-CN" altLang="en-US"/>
              <a:pPr/>
              <a:t>‹#›</a:t>
            </a:fld>
            <a:endParaRPr lang="en-US" altLang="zh-CN" dirty="0"/>
          </a:p>
        </p:txBody>
      </p:sp>
      <p:sp>
        <p:nvSpPr>
          <p:cNvPr id="8" name="Line 8"/>
          <p:cNvSpPr>
            <a:spLocks noChangeShapeType="1"/>
          </p:cNvSpPr>
          <p:nvPr userDrawn="1"/>
        </p:nvSpPr>
        <p:spPr bwMode="auto">
          <a:xfrm>
            <a:off x="495300" y="1052736"/>
            <a:ext cx="9066212" cy="0"/>
          </a:xfrm>
          <a:prstGeom prst="line">
            <a:avLst/>
          </a:prstGeom>
          <a:noFill/>
          <a:ln w="28575">
            <a:solidFill>
              <a:srgbClr val="3333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Tree>
    <p:extLst>
      <p:ext uri="{BB962C8B-B14F-4D97-AF65-F5344CB8AC3E}">
        <p14:creationId xmlns:p14="http://schemas.microsoft.com/office/powerpoint/2010/main" val="275089009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5362" name="Rectangle 2"/>
          <p:cNvSpPr>
            <a:spLocks noGrp="1" noChangeArrowheads="1"/>
          </p:cNvSpPr>
          <p:nvPr>
            <p:ph type="title"/>
          </p:nvPr>
        </p:nvSpPr>
        <p:spPr bwMode="auto">
          <a:xfrm>
            <a:off x="58044" y="44624"/>
            <a:ext cx="9784456" cy="7920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p>
            <a:pPr lvl="0"/>
            <a:r>
              <a:rPr lang="zh-CN" altLang="en-US" dirty="0"/>
              <a:t>单击此处编辑母版标题样式</a:t>
            </a:r>
            <a:endParaRPr lang="en-US" altLang="zh-CN" dirty="0"/>
          </a:p>
        </p:txBody>
      </p:sp>
      <p:sp>
        <p:nvSpPr>
          <p:cNvPr id="15363" name="Rectangle 3"/>
          <p:cNvSpPr>
            <a:spLocks noGrp="1" noChangeArrowheads="1"/>
          </p:cNvSpPr>
          <p:nvPr>
            <p:ph type="body" idx="1"/>
          </p:nvPr>
        </p:nvSpPr>
        <p:spPr bwMode="auto">
          <a:xfrm>
            <a:off x="63500" y="1017862"/>
            <a:ext cx="9784456" cy="55146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zh-CN" altLang="en-US" dirty="0"/>
              <a:t>单击此处编辑母版文本样式</a:t>
            </a:r>
            <a:endParaRPr lang="en-US" altLang="zh-CN" dirty="0"/>
          </a:p>
          <a:p>
            <a:pPr lvl="1"/>
            <a:r>
              <a:rPr lang="zh-CN" altLang="en-US" dirty="0"/>
              <a:t>第二级</a:t>
            </a:r>
            <a:endParaRPr lang="en-US" altLang="zh-CN" dirty="0"/>
          </a:p>
          <a:p>
            <a:pPr lvl="2"/>
            <a:r>
              <a:rPr lang="zh-CN" altLang="en-US" dirty="0"/>
              <a:t>第三级</a:t>
            </a:r>
            <a:endParaRPr lang="en-US" altLang="zh-CN" dirty="0"/>
          </a:p>
          <a:p>
            <a:pPr lvl="3"/>
            <a:r>
              <a:rPr lang="zh-CN" altLang="en-US" dirty="0"/>
              <a:t>第四级</a:t>
            </a:r>
            <a:endParaRPr lang="en-US" altLang="zh-CN" dirty="0"/>
          </a:p>
          <a:p>
            <a:pPr lvl="4"/>
            <a:r>
              <a:rPr lang="zh-CN" altLang="en-US" dirty="0"/>
              <a:t>第五级</a:t>
            </a:r>
            <a:endParaRPr lang="en-US" altLang="zh-CN" dirty="0"/>
          </a:p>
        </p:txBody>
      </p:sp>
      <p:sp>
        <p:nvSpPr>
          <p:cNvPr id="15364" name="Rectangle 4"/>
          <p:cNvSpPr>
            <a:spLocks noGrp="1" noChangeArrowheads="1"/>
          </p:cNvSpPr>
          <p:nvPr>
            <p:ph type="dt" sz="half" idx="2"/>
          </p:nvPr>
        </p:nvSpPr>
        <p:spPr bwMode="auto">
          <a:xfrm>
            <a:off x="58044" y="6542278"/>
            <a:ext cx="2311400" cy="27109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eaLnBrk="1" hangingPunct="1">
              <a:defRPr sz="1400">
                <a:ea typeface="宋体" pitchFamily="2" charset="-122"/>
              </a:defRPr>
            </a:lvl1pPr>
          </a:lstStyle>
          <a:p>
            <a:fld id="{9505B10C-6225-4137-9473-CCC2B763FCE5}" type="datetime3">
              <a:rPr lang="zh-CN" altLang="en-US" smtClean="0"/>
              <a:pPr/>
              <a:t>2022年11月24日星期四</a:t>
            </a:fld>
            <a:endParaRPr lang="en-US" altLang="zh-CN" dirty="0"/>
          </a:p>
        </p:txBody>
      </p:sp>
      <p:sp>
        <p:nvSpPr>
          <p:cNvPr id="15366" name="Rectangle 6"/>
          <p:cNvSpPr>
            <a:spLocks noGrp="1" noChangeArrowheads="1"/>
          </p:cNvSpPr>
          <p:nvPr>
            <p:ph type="sldNum" sz="quarter" idx="4"/>
          </p:nvPr>
        </p:nvSpPr>
        <p:spPr bwMode="auto">
          <a:xfrm>
            <a:off x="3797300" y="6533050"/>
            <a:ext cx="2311400" cy="27109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ctr" eaLnBrk="1" hangingPunct="1">
              <a:defRPr sz="1400">
                <a:ea typeface="宋体" pitchFamily="2" charset="-122"/>
              </a:defRPr>
            </a:lvl1pPr>
          </a:lstStyle>
          <a:p>
            <a:fld id="{67B052E9-C54A-4603-AE2F-EB72B006DB6C}" type="slidenum">
              <a:rPr lang="zh-CN" altLang="en-US" smtClean="0"/>
              <a:pPr/>
              <a:t>‹#›</a:t>
            </a:fld>
            <a:endParaRPr lang="en-US" altLang="zh-CN" dirty="0"/>
          </a:p>
        </p:txBody>
      </p:sp>
      <p:sp>
        <p:nvSpPr>
          <p:cNvPr id="2" name="AutoShape 5" descr="https://publicrelationssydney.com.au/wp-content/uploads/2013/01/shutterstock_80434384.jpg"/>
          <p:cNvSpPr>
            <a:spLocks noChangeAspect="1" noChangeArrowheads="1"/>
          </p:cNvSpPr>
          <p:nvPr userDrawn="1"/>
        </p:nvSpPr>
        <p:spPr bwMode="auto">
          <a:xfrm>
            <a:off x="63500" y="-136525"/>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p>
        </p:txBody>
      </p:sp>
      <p:pic>
        <p:nvPicPr>
          <p:cNvPr id="12" name="20 11">
            <a:extLst>
              <a:ext uri="{FF2B5EF4-FFF2-40B4-BE49-F238E27FC236}">
                <a16:creationId xmlns:a16="http://schemas.microsoft.com/office/drawing/2014/main" id="{482E3178-F79E-4C1F-91C9-D07D79763864}"/>
              </a:ext>
            </a:extLst>
          </p:cNvPr>
          <p:cNvPicPr>
            <a:picLocks noChangeAspect="1"/>
          </p:cNvPicPr>
          <p:nvPr userDrawn="1"/>
        </p:nvPicPr>
        <p:blipFill>
          <a:blip r:embed="rId16" cstate="print">
            <a:extLst>
              <a:ext uri="{28A0092B-C50C-407E-A947-70E740481C1C}">
                <a14:useLocalDpi xmlns:a14="http://schemas.microsoft.com/office/drawing/2010/main" val="0"/>
              </a:ext>
            </a:extLst>
          </a:blip>
          <a:stretch>
            <a:fillRect/>
          </a:stretch>
        </p:blipFill>
        <p:spPr>
          <a:xfrm>
            <a:off x="8973444" y="6562880"/>
            <a:ext cx="874512" cy="271098"/>
          </a:xfrm>
          <a:prstGeom prst="rect">
            <a:avLst/>
          </a:prstGeom>
        </p:spPr>
      </p:pic>
    </p:spTree>
  </p:cSld>
  <p:clrMap bg1="lt1" tx1="dk1" bg2="lt2" tx2="dk2" accent1="accent1" accent2="accent2" accent3="accent3" accent4="accent4" accent5="accent5" accent6="accent6" hlink="hlink" folHlink="folHlink"/>
  <p:sldLayoutIdLst>
    <p:sldLayoutId id="2147483658" r:id="rId1"/>
    <p:sldLayoutId id="2147483659" r:id="rId2"/>
    <p:sldLayoutId id="2147483660" r:id="rId3"/>
    <p:sldLayoutId id="2147483661" r:id="rId4"/>
    <p:sldLayoutId id="2147483662" r:id="rId5"/>
    <p:sldLayoutId id="2147483671" r:id="rId6"/>
    <p:sldLayoutId id="2147483663" r:id="rId7"/>
    <p:sldLayoutId id="2147483664" r:id="rId8"/>
    <p:sldLayoutId id="2147483665" r:id="rId9"/>
    <p:sldLayoutId id="2147483666" r:id="rId10"/>
    <p:sldLayoutId id="2147483667" r:id="rId11"/>
    <p:sldLayoutId id="2147483668" r:id="rId12"/>
    <p:sldLayoutId id="2147483669" r:id="rId13"/>
    <p:sldLayoutId id="2147483670" r:id="rId14"/>
  </p:sldLayoutIdLst>
  <p:hf hdr="0" ftr="0"/>
  <p:txStyles>
    <p:titleStyle>
      <a:lvl1pPr algn="l" rtl="0" eaLnBrk="1" fontAlgn="base" hangingPunct="1">
        <a:spcBef>
          <a:spcPct val="0"/>
        </a:spcBef>
        <a:spcAft>
          <a:spcPct val="0"/>
        </a:spcAft>
        <a:defRPr sz="4400" b="1">
          <a:solidFill>
            <a:srgbClr val="333399"/>
          </a:solidFill>
          <a:latin typeface="+mn-lt"/>
          <a:ea typeface="黑体" pitchFamily="2" charset="-122"/>
          <a:cs typeface="+mj-cs"/>
        </a:defRPr>
      </a:lvl1pPr>
      <a:lvl2pPr algn="l" rtl="0" eaLnBrk="1" fontAlgn="base" hangingPunct="1">
        <a:spcBef>
          <a:spcPct val="0"/>
        </a:spcBef>
        <a:spcAft>
          <a:spcPct val="0"/>
        </a:spcAft>
        <a:defRPr sz="4400">
          <a:solidFill>
            <a:schemeClr val="tx2"/>
          </a:solidFill>
          <a:latin typeface="Times New Roman" pitchFamily="18" charset="0"/>
        </a:defRPr>
      </a:lvl2pPr>
      <a:lvl3pPr algn="l" rtl="0" eaLnBrk="1" fontAlgn="base" hangingPunct="1">
        <a:spcBef>
          <a:spcPct val="0"/>
        </a:spcBef>
        <a:spcAft>
          <a:spcPct val="0"/>
        </a:spcAft>
        <a:defRPr sz="4400">
          <a:solidFill>
            <a:schemeClr val="tx2"/>
          </a:solidFill>
          <a:latin typeface="Times New Roman" pitchFamily="18" charset="0"/>
        </a:defRPr>
      </a:lvl3pPr>
      <a:lvl4pPr algn="l" rtl="0" eaLnBrk="1" fontAlgn="base" hangingPunct="1">
        <a:spcBef>
          <a:spcPct val="0"/>
        </a:spcBef>
        <a:spcAft>
          <a:spcPct val="0"/>
        </a:spcAft>
        <a:defRPr sz="4400">
          <a:solidFill>
            <a:schemeClr val="tx2"/>
          </a:solidFill>
          <a:latin typeface="Times New Roman" pitchFamily="18" charset="0"/>
        </a:defRPr>
      </a:lvl4pPr>
      <a:lvl5pPr algn="l" rtl="0" eaLnBrk="1" fontAlgn="base" hangingPunct="1">
        <a:spcBef>
          <a:spcPct val="0"/>
        </a:spcBef>
        <a:spcAft>
          <a:spcPct val="0"/>
        </a:spcAft>
        <a:defRPr sz="4400">
          <a:solidFill>
            <a:schemeClr val="tx2"/>
          </a:solidFill>
          <a:latin typeface="Times New Roman" pitchFamily="18" charset="0"/>
        </a:defRPr>
      </a:lvl5pPr>
      <a:lvl6pPr marL="457200" algn="l" rtl="0" eaLnBrk="1" fontAlgn="base" hangingPunct="1">
        <a:spcBef>
          <a:spcPct val="0"/>
        </a:spcBef>
        <a:spcAft>
          <a:spcPct val="0"/>
        </a:spcAft>
        <a:defRPr sz="4400">
          <a:solidFill>
            <a:schemeClr val="tx2"/>
          </a:solidFill>
          <a:latin typeface="Times New Roman" pitchFamily="18" charset="0"/>
        </a:defRPr>
      </a:lvl6pPr>
      <a:lvl7pPr marL="914400" algn="l" rtl="0" eaLnBrk="1" fontAlgn="base" hangingPunct="1">
        <a:spcBef>
          <a:spcPct val="0"/>
        </a:spcBef>
        <a:spcAft>
          <a:spcPct val="0"/>
        </a:spcAft>
        <a:defRPr sz="4400">
          <a:solidFill>
            <a:schemeClr val="tx2"/>
          </a:solidFill>
          <a:latin typeface="Times New Roman" pitchFamily="18" charset="0"/>
        </a:defRPr>
      </a:lvl7pPr>
      <a:lvl8pPr marL="1371600" algn="l" rtl="0" eaLnBrk="1" fontAlgn="base" hangingPunct="1">
        <a:spcBef>
          <a:spcPct val="0"/>
        </a:spcBef>
        <a:spcAft>
          <a:spcPct val="0"/>
        </a:spcAft>
        <a:defRPr sz="4400">
          <a:solidFill>
            <a:schemeClr val="tx2"/>
          </a:solidFill>
          <a:latin typeface="Times New Roman" pitchFamily="18" charset="0"/>
        </a:defRPr>
      </a:lvl8pPr>
      <a:lvl9pPr marL="1828800" algn="l" rtl="0" eaLnBrk="1" fontAlgn="base" hangingPunct="1">
        <a:spcBef>
          <a:spcPct val="0"/>
        </a:spcBef>
        <a:spcAft>
          <a:spcPct val="0"/>
        </a:spcAft>
        <a:defRPr sz="4400">
          <a:solidFill>
            <a:schemeClr val="tx2"/>
          </a:solidFill>
          <a:latin typeface="Times New Roman" pitchFamily="18" charset="0"/>
        </a:defRPr>
      </a:lvl9pPr>
    </p:titleStyle>
    <p:bodyStyle>
      <a:lvl1pPr marL="342900" indent="-342900" algn="l" rtl="0" eaLnBrk="1" fontAlgn="base" hangingPunct="1">
        <a:spcBef>
          <a:spcPct val="20000"/>
        </a:spcBef>
        <a:spcAft>
          <a:spcPct val="0"/>
        </a:spcAft>
        <a:buClr>
          <a:srgbClr val="333399"/>
        </a:buClr>
        <a:buSzPct val="75000"/>
        <a:buFont typeface="Wingdings" panose="05000000000000000000" pitchFamily="2" charset="2"/>
        <a:buChar char=""/>
        <a:defRPr sz="3200" b="1">
          <a:solidFill>
            <a:schemeClr val="tx1"/>
          </a:solidFill>
          <a:latin typeface="+mn-lt"/>
          <a:ea typeface="黑体" pitchFamily="2" charset="-122"/>
          <a:cs typeface="+mn-cs"/>
        </a:defRPr>
      </a:lvl1pPr>
      <a:lvl2pPr marL="742950" indent="-285750" algn="l" rtl="0" eaLnBrk="1" fontAlgn="base" hangingPunct="1">
        <a:spcBef>
          <a:spcPct val="20000"/>
        </a:spcBef>
        <a:spcAft>
          <a:spcPct val="0"/>
        </a:spcAft>
        <a:buClr>
          <a:schemeClr val="accent2"/>
        </a:buClr>
        <a:buSzPct val="70000"/>
        <a:buFont typeface="Wingdings" panose="05000000000000000000" pitchFamily="2" charset="2"/>
        <a:buChar char=""/>
        <a:defRPr sz="2800" b="1">
          <a:solidFill>
            <a:schemeClr val="tx1"/>
          </a:solidFill>
          <a:latin typeface="+mn-lt"/>
          <a:ea typeface="黑体" pitchFamily="2" charset="-122"/>
        </a:defRPr>
      </a:lvl2pPr>
      <a:lvl3pPr marL="1143000" indent="-228600" algn="l" rtl="0" eaLnBrk="1" fontAlgn="base" hangingPunct="1">
        <a:spcBef>
          <a:spcPct val="20000"/>
        </a:spcBef>
        <a:spcAft>
          <a:spcPct val="0"/>
        </a:spcAft>
        <a:buClr>
          <a:srgbClr val="333399"/>
        </a:buClr>
        <a:buSzPct val="65000"/>
        <a:buFont typeface="Wingdings" panose="05000000000000000000" pitchFamily="2" charset="2"/>
        <a:buChar char=""/>
        <a:defRPr sz="2400" b="1">
          <a:solidFill>
            <a:schemeClr val="tx1"/>
          </a:solidFill>
          <a:latin typeface="+mn-lt"/>
          <a:ea typeface="黑体" pitchFamily="2" charset="-122"/>
        </a:defRPr>
      </a:lvl3pPr>
      <a:lvl4pPr marL="1600200" indent="-228600" algn="l" rtl="0" eaLnBrk="1" fontAlgn="base" hangingPunct="1">
        <a:spcBef>
          <a:spcPct val="20000"/>
        </a:spcBef>
        <a:spcAft>
          <a:spcPct val="0"/>
        </a:spcAft>
        <a:buClr>
          <a:schemeClr val="bg2"/>
        </a:buClr>
        <a:buSzPct val="65000"/>
        <a:buFont typeface="Wingdings" pitchFamily="2" charset="2"/>
        <a:buChar char="n"/>
        <a:defRPr sz="2000" b="1">
          <a:solidFill>
            <a:schemeClr val="tx1"/>
          </a:solidFill>
          <a:latin typeface="+mn-lt"/>
          <a:ea typeface="黑体" pitchFamily="2" charset="-122"/>
        </a:defRPr>
      </a:lvl4pPr>
      <a:lvl5pPr marL="2057400" indent="-228600" algn="l" rtl="0" eaLnBrk="1" fontAlgn="base" hangingPunct="1">
        <a:spcBef>
          <a:spcPct val="20000"/>
        </a:spcBef>
        <a:spcAft>
          <a:spcPct val="0"/>
        </a:spcAft>
        <a:buClr>
          <a:srgbClr val="333399"/>
        </a:buClr>
        <a:buSzPct val="60000"/>
        <a:buFont typeface="Wingdings" panose="05000000000000000000" pitchFamily="2" charset="2"/>
        <a:buChar char="Ø"/>
        <a:defRPr sz="2000" b="1">
          <a:solidFill>
            <a:schemeClr val="tx1"/>
          </a:solidFill>
          <a:latin typeface="+mn-lt"/>
          <a:ea typeface="黑体" pitchFamily="2" charset="-122"/>
        </a:defRPr>
      </a:lvl5pPr>
      <a:lvl6pPr marL="25146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defRPr>
      </a:lvl6pPr>
      <a:lvl7pPr marL="29718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defRPr>
      </a:lvl7pPr>
      <a:lvl8pPr marL="34290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defRPr>
      </a:lvl8pPr>
      <a:lvl9pPr marL="38862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5.wmf"/><Relationship Id="rId2" Type="http://schemas.openxmlformats.org/officeDocument/2006/relationships/oleObject" Target="../embeddings/oleObject1.bin"/><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6.wmf"/><Relationship Id="rId7" Type="http://schemas.openxmlformats.org/officeDocument/2006/relationships/image" Target="../media/image8.wmf"/><Relationship Id="rId2" Type="http://schemas.openxmlformats.org/officeDocument/2006/relationships/oleObject" Target="../embeddings/oleObject2.bin"/><Relationship Id="rId1" Type="http://schemas.openxmlformats.org/officeDocument/2006/relationships/slideLayout" Target="../slideLayouts/slideLayout2.xml"/><Relationship Id="rId6" Type="http://schemas.openxmlformats.org/officeDocument/2006/relationships/oleObject" Target="../embeddings/oleObject4.bin"/><Relationship Id="rId5" Type="http://schemas.openxmlformats.org/officeDocument/2006/relationships/image" Target="../media/image7.wmf"/><Relationship Id="rId4" Type="http://schemas.openxmlformats.org/officeDocument/2006/relationships/oleObject" Target="../embeddings/oleObject3.bin"/></Relationships>
</file>

<file path=ppt/slides/_rels/slide12.xml.rels><?xml version="1.0" encoding="UTF-8" standalone="yes"?>
<Relationships xmlns="http://schemas.openxmlformats.org/package/2006/relationships"><Relationship Id="rId3" Type="http://schemas.openxmlformats.org/officeDocument/2006/relationships/image" Target="../media/image9.wmf"/><Relationship Id="rId2" Type="http://schemas.openxmlformats.org/officeDocument/2006/relationships/oleObject" Target="../embeddings/oleObject5.bin"/><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0.wmf"/><Relationship Id="rId2" Type="http://schemas.openxmlformats.org/officeDocument/2006/relationships/oleObject" Target="../embeddings/oleObject6.bin"/><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1.wmf"/><Relationship Id="rId2" Type="http://schemas.openxmlformats.org/officeDocument/2006/relationships/oleObject" Target="../embeddings/oleObject7.bin"/><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image" Target="../media/image12.jp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14.wmf"/><Relationship Id="rId7" Type="http://schemas.openxmlformats.org/officeDocument/2006/relationships/oleObject" Target="../embeddings/oleObject11.bin"/><Relationship Id="rId2" Type="http://schemas.openxmlformats.org/officeDocument/2006/relationships/oleObject" Target="../embeddings/oleObject8.bin"/><Relationship Id="rId1" Type="http://schemas.openxmlformats.org/officeDocument/2006/relationships/slideLayout" Target="../slideLayouts/slideLayout2.xml"/><Relationship Id="rId6" Type="http://schemas.openxmlformats.org/officeDocument/2006/relationships/image" Target="../media/image15.wmf"/><Relationship Id="rId5" Type="http://schemas.openxmlformats.org/officeDocument/2006/relationships/oleObject" Target="../embeddings/oleObject10.bin"/><Relationship Id="rId4" Type="http://schemas.openxmlformats.org/officeDocument/2006/relationships/oleObject" Target="../embeddings/oleObject9.bin"/></Relationships>
</file>

<file path=ppt/slides/_rels/slide23.xml.rels><?xml version="1.0" encoding="UTF-8" standalone="yes"?>
<Relationships xmlns="http://schemas.openxmlformats.org/package/2006/relationships"><Relationship Id="rId8" Type="http://schemas.openxmlformats.org/officeDocument/2006/relationships/oleObject" Target="../embeddings/oleObject11.bin"/><Relationship Id="rId3" Type="http://schemas.openxmlformats.org/officeDocument/2006/relationships/oleObject" Target="../embeddings/oleObject8.bin"/><Relationship Id="rId7" Type="http://schemas.openxmlformats.org/officeDocument/2006/relationships/image" Target="../media/image15.wmf"/><Relationship Id="rId2" Type="http://schemas.openxmlformats.org/officeDocument/2006/relationships/image" Target="../media/image16.png"/><Relationship Id="rId1" Type="http://schemas.openxmlformats.org/officeDocument/2006/relationships/slideLayout" Target="../slideLayouts/slideLayout2.xml"/><Relationship Id="rId6" Type="http://schemas.openxmlformats.org/officeDocument/2006/relationships/oleObject" Target="../embeddings/oleObject10.bin"/><Relationship Id="rId5" Type="http://schemas.openxmlformats.org/officeDocument/2006/relationships/oleObject" Target="../embeddings/oleObject9.bin"/><Relationship Id="rId4" Type="http://schemas.openxmlformats.org/officeDocument/2006/relationships/image" Target="../media/image14.wmf"/></Relationships>
</file>

<file path=ppt/slides/_rels/slide24.xml.rels><?xml version="1.0" encoding="UTF-8" standalone="yes"?>
<Relationships xmlns="http://schemas.openxmlformats.org/package/2006/relationships"><Relationship Id="rId8" Type="http://schemas.openxmlformats.org/officeDocument/2006/relationships/oleObject" Target="../embeddings/oleObject11.bin"/><Relationship Id="rId3" Type="http://schemas.openxmlformats.org/officeDocument/2006/relationships/oleObject" Target="../embeddings/oleObject8.bin"/><Relationship Id="rId7" Type="http://schemas.openxmlformats.org/officeDocument/2006/relationships/image" Target="../media/image15.wmf"/><Relationship Id="rId2" Type="http://schemas.openxmlformats.org/officeDocument/2006/relationships/image" Target="../media/image16.png"/><Relationship Id="rId1" Type="http://schemas.openxmlformats.org/officeDocument/2006/relationships/slideLayout" Target="../slideLayouts/slideLayout2.xml"/><Relationship Id="rId6" Type="http://schemas.openxmlformats.org/officeDocument/2006/relationships/oleObject" Target="../embeddings/oleObject10.bin"/><Relationship Id="rId5" Type="http://schemas.openxmlformats.org/officeDocument/2006/relationships/oleObject" Target="../embeddings/oleObject9.bin"/><Relationship Id="rId4" Type="http://schemas.openxmlformats.org/officeDocument/2006/relationships/image" Target="../media/image14.wmf"/></Relationships>
</file>

<file path=ppt/slides/_rels/slide25.xml.rels><?xml version="1.0" encoding="UTF-8" standalone="yes"?>
<Relationships xmlns="http://schemas.openxmlformats.org/package/2006/relationships"><Relationship Id="rId3" Type="http://schemas.openxmlformats.org/officeDocument/2006/relationships/image" Target="../media/image14.wmf"/><Relationship Id="rId7" Type="http://schemas.openxmlformats.org/officeDocument/2006/relationships/oleObject" Target="../embeddings/oleObject11.bin"/><Relationship Id="rId2" Type="http://schemas.openxmlformats.org/officeDocument/2006/relationships/oleObject" Target="../embeddings/oleObject8.bin"/><Relationship Id="rId1" Type="http://schemas.openxmlformats.org/officeDocument/2006/relationships/slideLayout" Target="../slideLayouts/slideLayout2.xml"/><Relationship Id="rId6" Type="http://schemas.openxmlformats.org/officeDocument/2006/relationships/image" Target="../media/image15.wmf"/><Relationship Id="rId5" Type="http://schemas.openxmlformats.org/officeDocument/2006/relationships/oleObject" Target="../embeddings/oleObject10.bin"/><Relationship Id="rId4" Type="http://schemas.openxmlformats.org/officeDocument/2006/relationships/oleObject" Target="../embeddings/oleObject9.bin"/></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17.png"/><Relationship Id="rId1" Type="http://schemas.openxmlformats.org/officeDocument/2006/relationships/slideLayout" Target="../slideLayouts/slideLayout2.xml"/><Relationship Id="rId5" Type="http://schemas.openxmlformats.org/officeDocument/2006/relationships/image" Target="../media/image17.wmf"/><Relationship Id="rId4" Type="http://schemas.openxmlformats.org/officeDocument/2006/relationships/oleObject" Target="../embeddings/oleObject12.bin"/></Relationships>
</file>

<file path=ppt/slides/_rels/slide28.xml.rels><?xml version="1.0" encoding="UTF-8" standalone="yes"?>
<Relationships xmlns="http://schemas.openxmlformats.org/package/2006/relationships"><Relationship Id="rId3" Type="http://schemas.openxmlformats.org/officeDocument/2006/relationships/image" Target="../media/image17.wmf"/><Relationship Id="rId2" Type="http://schemas.openxmlformats.org/officeDocument/2006/relationships/oleObject" Target="../embeddings/oleObject13.bin"/><Relationship Id="rId1" Type="http://schemas.openxmlformats.org/officeDocument/2006/relationships/slideLayout" Target="../slideLayouts/slideLayout2.xml"/><Relationship Id="rId5" Type="http://schemas.openxmlformats.org/officeDocument/2006/relationships/image" Target="../media/image18.wmf"/><Relationship Id="rId4" Type="http://schemas.openxmlformats.org/officeDocument/2006/relationships/oleObject" Target="../embeddings/oleObject14.bin"/></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chart" Target="../charts/chart1.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19.wmf"/><Relationship Id="rId2" Type="http://schemas.openxmlformats.org/officeDocument/2006/relationships/oleObject" Target="../embeddings/oleObject15.bin"/><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19.wmf"/><Relationship Id="rId2" Type="http://schemas.openxmlformats.org/officeDocument/2006/relationships/oleObject" Target="../embeddings/oleObject16.bin"/><Relationship Id="rId1" Type="http://schemas.openxmlformats.org/officeDocument/2006/relationships/slideLayout" Target="../slideLayouts/slideLayout2.xml"/><Relationship Id="rId5" Type="http://schemas.openxmlformats.org/officeDocument/2006/relationships/image" Target="../media/image20.wmf"/><Relationship Id="rId4" Type="http://schemas.openxmlformats.org/officeDocument/2006/relationships/oleObject" Target="../embeddings/oleObject17.bin"/></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21.wmf"/><Relationship Id="rId2" Type="http://schemas.openxmlformats.org/officeDocument/2006/relationships/oleObject" Target="../embeddings/oleObject18.bin"/><Relationship Id="rId1" Type="http://schemas.openxmlformats.org/officeDocument/2006/relationships/slideLayout" Target="../slideLayouts/slideLayout2.xml"/><Relationship Id="rId5" Type="http://schemas.openxmlformats.org/officeDocument/2006/relationships/image" Target="../media/image22.wmf"/><Relationship Id="rId4" Type="http://schemas.openxmlformats.org/officeDocument/2006/relationships/oleObject" Target="../embeddings/oleObject19.bin"/></Relationships>
</file>

<file path=ppt/slides/_rels/slide36.xml.rels><?xml version="1.0" encoding="UTF-8" standalone="yes"?>
<Relationships xmlns="http://schemas.openxmlformats.org/package/2006/relationships"><Relationship Id="rId3" Type="http://schemas.openxmlformats.org/officeDocument/2006/relationships/image" Target="../media/image23.wmf"/><Relationship Id="rId2" Type="http://schemas.openxmlformats.org/officeDocument/2006/relationships/oleObject" Target="../embeddings/oleObject20.bin"/><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24.wmf"/><Relationship Id="rId2" Type="http://schemas.openxmlformats.org/officeDocument/2006/relationships/oleObject" Target="../embeddings/oleObject21.bin"/><Relationship Id="rId1" Type="http://schemas.openxmlformats.org/officeDocument/2006/relationships/slideLayout" Target="../slideLayouts/slideLayout2.xml"/><Relationship Id="rId5" Type="http://schemas.openxmlformats.org/officeDocument/2006/relationships/image" Target="../media/image25.wmf"/><Relationship Id="rId4" Type="http://schemas.openxmlformats.org/officeDocument/2006/relationships/oleObject" Target="../embeddings/oleObject22.bin"/></Relationships>
</file>

<file path=ppt/slides/_rels/slide38.xml.rels><?xml version="1.0" encoding="UTF-8" standalone="yes"?>
<Relationships xmlns="http://schemas.openxmlformats.org/package/2006/relationships"><Relationship Id="rId3" Type="http://schemas.openxmlformats.org/officeDocument/2006/relationships/image" Target="../media/image21.wmf"/><Relationship Id="rId2" Type="http://schemas.openxmlformats.org/officeDocument/2006/relationships/oleObject" Target="../embeddings/oleObject23.bin"/><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3" Type="http://schemas.openxmlformats.org/officeDocument/2006/relationships/image" Target="../media/image17.wmf"/><Relationship Id="rId2" Type="http://schemas.openxmlformats.org/officeDocument/2006/relationships/oleObject" Target="../embeddings/oleObject24.bin"/><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3" Type="http://schemas.openxmlformats.org/officeDocument/2006/relationships/image" Target="../media/image27.wmf"/><Relationship Id="rId2" Type="http://schemas.openxmlformats.org/officeDocument/2006/relationships/oleObject" Target="../embeddings/oleObject25.bin"/><Relationship Id="rId1" Type="http://schemas.openxmlformats.org/officeDocument/2006/relationships/slideLayout" Target="../slideLayouts/slideLayout2.xml"/><Relationship Id="rId5" Type="http://schemas.openxmlformats.org/officeDocument/2006/relationships/image" Target="../media/image19.wmf"/><Relationship Id="rId4" Type="http://schemas.openxmlformats.org/officeDocument/2006/relationships/oleObject" Target="../embeddings/oleObject26.bin"/></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3" Type="http://schemas.openxmlformats.org/officeDocument/2006/relationships/image" Target="../media/image28.wmf"/><Relationship Id="rId2" Type="http://schemas.openxmlformats.org/officeDocument/2006/relationships/oleObject" Target="../embeddings/oleObject27.bin"/><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3" Type="http://schemas.openxmlformats.org/officeDocument/2006/relationships/image" Target="../media/image29.wmf"/><Relationship Id="rId2" Type="http://schemas.openxmlformats.org/officeDocument/2006/relationships/oleObject" Target="../embeddings/oleObject28.bin"/><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3" Type="http://schemas.openxmlformats.org/officeDocument/2006/relationships/image" Target="../media/image30.wmf"/><Relationship Id="rId2" Type="http://schemas.openxmlformats.org/officeDocument/2006/relationships/oleObject" Target="../embeddings/oleObject29.bin"/><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3" Type="http://schemas.openxmlformats.org/officeDocument/2006/relationships/image" Target="../media/image17.wmf"/><Relationship Id="rId2" Type="http://schemas.openxmlformats.org/officeDocument/2006/relationships/oleObject" Target="../embeddings/oleObject30.bin"/><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3" Type="http://schemas.openxmlformats.org/officeDocument/2006/relationships/image" Target="../media/image27.wmf"/><Relationship Id="rId7" Type="http://schemas.openxmlformats.org/officeDocument/2006/relationships/image" Target="../media/image31.wmf"/><Relationship Id="rId2" Type="http://schemas.openxmlformats.org/officeDocument/2006/relationships/oleObject" Target="../embeddings/oleObject31.bin"/><Relationship Id="rId1" Type="http://schemas.openxmlformats.org/officeDocument/2006/relationships/slideLayout" Target="../slideLayouts/slideLayout2.xml"/><Relationship Id="rId6" Type="http://schemas.openxmlformats.org/officeDocument/2006/relationships/oleObject" Target="../embeddings/oleObject33.bin"/><Relationship Id="rId5" Type="http://schemas.openxmlformats.org/officeDocument/2006/relationships/image" Target="../media/image19.wmf"/><Relationship Id="rId4" Type="http://schemas.openxmlformats.org/officeDocument/2006/relationships/oleObject" Target="../embeddings/oleObject32.bin"/></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1">
            <a:extLst>
              <a:ext uri="{FF2B5EF4-FFF2-40B4-BE49-F238E27FC236}">
                <a16:creationId xmlns:a16="http://schemas.microsoft.com/office/drawing/2014/main" id="{E2B51CF4-66D4-4F19-97F3-24307D69E6EB}"/>
              </a:ext>
            </a:extLst>
          </p:cNvPr>
          <p:cNvSpPr>
            <a:spLocks noGrp="1"/>
          </p:cNvSpPr>
          <p:nvPr>
            <p:ph type="ctrTitle"/>
          </p:nvPr>
        </p:nvSpPr>
        <p:spPr>
          <a:xfrm>
            <a:off x="944680" y="2636912"/>
            <a:ext cx="8016639" cy="1070582"/>
          </a:xfrm>
        </p:spPr>
        <p:txBody>
          <a:bodyPr anchor="ctr">
            <a:normAutofit fontScale="90000"/>
          </a:bodyPr>
          <a:lstStyle/>
          <a:p>
            <a:r>
              <a:rPr lang="zh-CN" altLang="en-US" sz="7200" dirty="0">
                <a:latin typeface="黑体" panose="02010609060101010101" pitchFamily="49" charset="-122"/>
                <a:ea typeface="黑体" panose="02010609060101010101" pitchFamily="49" charset="-122"/>
              </a:rPr>
              <a:t>最优化理论</a:t>
            </a:r>
            <a:endParaRPr lang="zh-CN" altLang="en-US" sz="4800" dirty="0">
              <a:latin typeface="黑体" panose="02010609060101010101" pitchFamily="49" charset="-122"/>
              <a:ea typeface="黑体" panose="02010609060101010101" pitchFamily="49" charset="-122"/>
            </a:endParaRPr>
          </a:p>
        </p:txBody>
      </p:sp>
      <p:sp>
        <p:nvSpPr>
          <p:cNvPr id="6" name="矩形 5">
            <a:extLst>
              <a:ext uri="{FF2B5EF4-FFF2-40B4-BE49-F238E27FC236}">
                <a16:creationId xmlns:a16="http://schemas.microsoft.com/office/drawing/2014/main" id="{DB188F20-BD1A-4DBF-8204-5DEB489FF2A7}"/>
              </a:ext>
            </a:extLst>
          </p:cNvPr>
          <p:cNvSpPr/>
          <p:nvPr/>
        </p:nvSpPr>
        <p:spPr>
          <a:xfrm>
            <a:off x="2527949" y="3823025"/>
            <a:ext cx="5262979" cy="1200329"/>
          </a:xfrm>
          <a:prstGeom prst="rect">
            <a:avLst/>
          </a:prstGeom>
        </p:spPr>
        <p:txBody>
          <a:bodyPr wrap="none">
            <a:spAutoFit/>
          </a:bodyPr>
          <a:lstStyle/>
          <a:p>
            <a:r>
              <a:rPr lang="zh-CN" altLang="en-US" sz="3600" dirty="0">
                <a:latin typeface="黑体" panose="02010609060101010101" pitchFamily="49" charset="-122"/>
                <a:ea typeface="黑体" panose="02010609060101010101" pitchFamily="49" charset="-122"/>
              </a:rPr>
              <a:t>第</a:t>
            </a:r>
            <a:r>
              <a:rPr lang="en-US" altLang="zh-CN" sz="3600" dirty="0">
                <a:latin typeface="黑体" panose="02010609060101010101" pitchFamily="49" charset="-122"/>
                <a:ea typeface="黑体" panose="02010609060101010101" pitchFamily="49" charset="-122"/>
              </a:rPr>
              <a:t>13</a:t>
            </a:r>
            <a:r>
              <a:rPr lang="zh-CN" altLang="en-US" sz="3600" dirty="0">
                <a:latin typeface="黑体" panose="02010609060101010101" pitchFamily="49" charset="-122"/>
                <a:ea typeface="黑体" panose="02010609060101010101" pitchFamily="49" charset="-122"/>
              </a:rPr>
              <a:t>讲</a:t>
            </a:r>
            <a:r>
              <a:rPr lang="en-US" altLang="zh-CN" sz="3600" dirty="0">
                <a:latin typeface="黑体" panose="02010609060101010101" pitchFamily="49" charset="-122"/>
                <a:ea typeface="黑体" panose="02010609060101010101" pitchFamily="49" charset="-122"/>
              </a:rPr>
              <a:t> </a:t>
            </a:r>
            <a:r>
              <a:rPr lang="zh-CN" altLang="en-US" sz="3600" dirty="0">
                <a:latin typeface="黑体" panose="02010609060101010101" pitchFamily="49" charset="-122"/>
                <a:ea typeface="黑体" panose="02010609060101010101" pitchFamily="49" charset="-122"/>
              </a:rPr>
              <a:t>现代优化方法</a:t>
            </a:r>
            <a:r>
              <a:rPr lang="en-US" altLang="zh-CN" sz="3600" dirty="0">
                <a:latin typeface="黑体" panose="02010609060101010101" pitchFamily="49" charset="-122"/>
                <a:ea typeface="黑体" panose="02010609060101010101" pitchFamily="49" charset="-122"/>
              </a:rPr>
              <a:t>(1)</a:t>
            </a:r>
          </a:p>
          <a:p>
            <a:pPr algn="ctr"/>
            <a:r>
              <a:rPr lang="zh-CN" altLang="en-US" sz="3600" dirty="0"/>
              <a:t>蚁群算法</a:t>
            </a:r>
          </a:p>
        </p:txBody>
      </p:sp>
      <p:sp>
        <p:nvSpPr>
          <p:cNvPr id="7" name="副标题 2">
            <a:extLst>
              <a:ext uri="{FF2B5EF4-FFF2-40B4-BE49-F238E27FC236}">
                <a16:creationId xmlns:a16="http://schemas.microsoft.com/office/drawing/2014/main" id="{9D4C4213-E352-4C4A-BD9E-BD5380CE8F1C}"/>
              </a:ext>
            </a:extLst>
          </p:cNvPr>
          <p:cNvSpPr txBox="1">
            <a:spLocks/>
          </p:cNvSpPr>
          <p:nvPr/>
        </p:nvSpPr>
        <p:spPr bwMode="auto">
          <a:xfrm>
            <a:off x="2675163" y="5138885"/>
            <a:ext cx="4968552" cy="64277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normAutofit/>
          </a:bodyPr>
          <a:lstStyle>
            <a:lvl1pPr marL="342900" indent="-342900" algn="l" rtl="0" eaLnBrk="1" fontAlgn="base" hangingPunct="1">
              <a:spcBef>
                <a:spcPct val="20000"/>
              </a:spcBef>
              <a:spcAft>
                <a:spcPct val="0"/>
              </a:spcAft>
              <a:buClr>
                <a:srgbClr val="333399"/>
              </a:buClr>
              <a:buSzPct val="75000"/>
              <a:buFont typeface="Wingdings" pitchFamily="2" charset="2"/>
              <a:buChar char="n"/>
              <a:defRPr sz="3200" b="1">
                <a:solidFill>
                  <a:schemeClr val="tx1"/>
                </a:solidFill>
                <a:latin typeface="+mn-lt"/>
                <a:ea typeface="黑体" pitchFamily="2" charset="-122"/>
                <a:cs typeface="+mn-cs"/>
              </a:defRPr>
            </a:lvl1pPr>
            <a:lvl2pPr marL="742950" indent="-285750" algn="l" rtl="0" eaLnBrk="1" fontAlgn="base" hangingPunct="1">
              <a:spcBef>
                <a:spcPct val="20000"/>
              </a:spcBef>
              <a:spcAft>
                <a:spcPct val="0"/>
              </a:spcAft>
              <a:buClr>
                <a:schemeClr val="accent2"/>
              </a:buClr>
              <a:buSzPct val="70000"/>
              <a:buFont typeface="Wingdings" pitchFamily="2" charset="2"/>
              <a:buChar char="n"/>
              <a:defRPr sz="2800" b="1">
                <a:solidFill>
                  <a:schemeClr val="tx1"/>
                </a:solidFill>
                <a:latin typeface="+mn-lt"/>
                <a:ea typeface="黑体" pitchFamily="2" charset="-122"/>
              </a:defRPr>
            </a:lvl2pPr>
            <a:lvl3pPr marL="1143000" indent="-228600" algn="l" rtl="0" eaLnBrk="1" fontAlgn="base" hangingPunct="1">
              <a:spcBef>
                <a:spcPct val="20000"/>
              </a:spcBef>
              <a:spcAft>
                <a:spcPct val="0"/>
              </a:spcAft>
              <a:buClr>
                <a:srgbClr val="333399"/>
              </a:buClr>
              <a:buSzPct val="65000"/>
              <a:buFont typeface="Wingdings" pitchFamily="2" charset="2"/>
              <a:buChar char="p"/>
              <a:defRPr sz="2400" b="1">
                <a:solidFill>
                  <a:schemeClr val="tx1"/>
                </a:solidFill>
                <a:latin typeface="+mn-lt"/>
                <a:ea typeface="黑体" pitchFamily="2" charset="-122"/>
              </a:defRPr>
            </a:lvl3pPr>
            <a:lvl4pPr marL="1600200" indent="-228600" algn="l" rtl="0" eaLnBrk="1" fontAlgn="base" hangingPunct="1">
              <a:spcBef>
                <a:spcPct val="20000"/>
              </a:spcBef>
              <a:spcAft>
                <a:spcPct val="0"/>
              </a:spcAft>
              <a:buClr>
                <a:schemeClr val="bg2"/>
              </a:buClr>
              <a:buSzPct val="65000"/>
              <a:buFont typeface="Wingdings" pitchFamily="2" charset="2"/>
              <a:buChar char="n"/>
              <a:defRPr sz="2000" b="1">
                <a:solidFill>
                  <a:schemeClr val="tx1"/>
                </a:solidFill>
                <a:latin typeface="+mn-lt"/>
                <a:ea typeface="黑体" pitchFamily="2" charset="-122"/>
              </a:defRPr>
            </a:lvl4pPr>
            <a:lvl5pPr marL="2057400" indent="-228600" algn="l" rtl="0" eaLnBrk="1" fontAlgn="base" hangingPunct="1">
              <a:spcBef>
                <a:spcPct val="20000"/>
              </a:spcBef>
              <a:spcAft>
                <a:spcPct val="0"/>
              </a:spcAft>
              <a:buClr>
                <a:srgbClr val="333399"/>
              </a:buClr>
              <a:buSzPct val="60000"/>
              <a:buFont typeface="Wingdings" pitchFamily="2" charset="2"/>
              <a:buChar char="n"/>
              <a:defRPr sz="2000" b="1">
                <a:solidFill>
                  <a:schemeClr val="tx1"/>
                </a:solidFill>
                <a:latin typeface="+mn-lt"/>
                <a:ea typeface="黑体" pitchFamily="2" charset="-122"/>
              </a:defRPr>
            </a:lvl5pPr>
            <a:lvl6pPr marL="25146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defRPr>
            </a:lvl6pPr>
            <a:lvl7pPr marL="29718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defRPr>
            </a:lvl7pPr>
            <a:lvl8pPr marL="34290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defRPr>
            </a:lvl8pPr>
            <a:lvl9pPr marL="38862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defRPr>
            </a:lvl9pPr>
          </a:lstStyle>
          <a:p>
            <a:pPr marL="0" indent="0" algn="ctr">
              <a:buNone/>
            </a:pPr>
            <a:r>
              <a:rPr lang="zh-CN" altLang="en-US" sz="2400" kern="0" dirty="0">
                <a:latin typeface="黑体" pitchFamily="49" charset="-122"/>
                <a:ea typeface="黑体" pitchFamily="49" charset="-122"/>
              </a:rPr>
              <a:t>辽宁大学 信息学院</a:t>
            </a:r>
          </a:p>
          <a:p>
            <a:pPr algn="ctr"/>
            <a:endParaRPr lang="zh-CN" altLang="en-US" sz="2400" kern="0" dirty="0">
              <a:latin typeface="黑体" pitchFamily="49" charset="-122"/>
              <a:ea typeface="黑体" pitchFamily="49" charset="-122"/>
            </a:endParaRPr>
          </a:p>
        </p:txBody>
      </p:sp>
      <p:sp>
        <p:nvSpPr>
          <p:cNvPr id="3" name="日期占位符 2">
            <a:extLst>
              <a:ext uri="{FF2B5EF4-FFF2-40B4-BE49-F238E27FC236}">
                <a16:creationId xmlns:a16="http://schemas.microsoft.com/office/drawing/2014/main" id="{4C4A68E3-A51C-4F7D-918B-4EC486F2DD75}"/>
              </a:ext>
            </a:extLst>
          </p:cNvPr>
          <p:cNvSpPr>
            <a:spLocks noGrp="1"/>
          </p:cNvSpPr>
          <p:nvPr>
            <p:ph type="dt" sz="half" idx="10"/>
          </p:nvPr>
        </p:nvSpPr>
        <p:spPr/>
        <p:txBody>
          <a:bodyPr/>
          <a:lstStyle/>
          <a:p>
            <a:fld id="{C2039E4A-C161-4DC7-B97B-9882453A8887}" type="datetime3">
              <a:rPr lang="zh-CN" altLang="en-US" sz="1600" smtClean="0"/>
              <a:t>2022年11月24日星期四</a:t>
            </a:fld>
            <a:endParaRPr lang="zh-CN" altLang="en-US" sz="1600" dirty="0"/>
          </a:p>
        </p:txBody>
      </p:sp>
    </p:spTree>
  </p:cSld>
  <p:clrMapOvr>
    <a:masterClrMapping/>
  </p:clrMapOvr>
  <mc:AlternateContent xmlns:mc="http://schemas.openxmlformats.org/markup-compatibility/2006" xmlns:p14="http://schemas.microsoft.com/office/powerpoint/2010/main">
    <mc:Choice Requires="p14">
      <p:transition spd="slow" p14:dur="999"/>
    </mc:Choice>
    <mc:Fallback xmlns="">
      <p:transition spd="slow"/>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E6644AD-5B74-4F77-90AC-CBBA03CDE0DC}"/>
              </a:ext>
            </a:extLst>
          </p:cNvPr>
          <p:cNvSpPr>
            <a:spLocks noGrp="1"/>
          </p:cNvSpPr>
          <p:nvPr>
            <p:ph type="title"/>
          </p:nvPr>
        </p:nvSpPr>
        <p:spPr/>
        <p:txBody>
          <a:bodyPr/>
          <a:lstStyle/>
          <a:p>
            <a:r>
              <a:rPr lang="zh-CN" altLang="en-US" dirty="0"/>
              <a:t>现代优化方法</a:t>
            </a:r>
          </a:p>
        </p:txBody>
      </p:sp>
      <p:sp>
        <p:nvSpPr>
          <p:cNvPr id="3" name="内容占位符 2">
            <a:extLst>
              <a:ext uri="{FF2B5EF4-FFF2-40B4-BE49-F238E27FC236}">
                <a16:creationId xmlns:a16="http://schemas.microsoft.com/office/drawing/2014/main" id="{C00834F9-8C99-4AD0-87F5-67C4F1961F02}"/>
              </a:ext>
            </a:extLst>
          </p:cNvPr>
          <p:cNvSpPr>
            <a:spLocks noGrp="1"/>
          </p:cNvSpPr>
          <p:nvPr>
            <p:ph idx="1"/>
          </p:nvPr>
        </p:nvSpPr>
        <p:spPr/>
        <p:txBody>
          <a:bodyPr/>
          <a:lstStyle/>
          <a:p>
            <a:pPr marL="742950" indent="-742950">
              <a:buFont typeface="+mj-lt"/>
              <a:buAutoNum type="arabicPeriod"/>
            </a:pPr>
            <a:r>
              <a:rPr lang="zh-CN" altLang="en-US" b="0" dirty="0"/>
              <a:t>组合优化问题</a:t>
            </a:r>
            <a:endParaRPr lang="en-US" altLang="zh-CN" b="0" dirty="0"/>
          </a:p>
          <a:p>
            <a:pPr marL="742950" indent="-742950">
              <a:buFont typeface="+mj-lt"/>
              <a:buAutoNum type="arabicPeriod"/>
            </a:pPr>
            <a:r>
              <a:rPr lang="zh-CN" altLang="en-US" b="0" dirty="0"/>
              <a:t>启发式算法</a:t>
            </a:r>
            <a:endParaRPr lang="en-US" altLang="zh-CN" b="0" dirty="0"/>
          </a:p>
          <a:p>
            <a:pPr marL="1143000" lvl="1" indent="-742950">
              <a:buFont typeface="+mj-ea"/>
              <a:buAutoNum type="circleNumDbPlain"/>
            </a:pPr>
            <a:r>
              <a:rPr lang="zh-CN" altLang="en-US" b="0" dirty="0"/>
              <a:t>蚁群算法</a:t>
            </a:r>
            <a:endParaRPr lang="en-US" altLang="zh-CN" b="0" dirty="0"/>
          </a:p>
          <a:p>
            <a:pPr marL="1143000" lvl="1" indent="-742950">
              <a:buFont typeface="+mj-ea"/>
              <a:buAutoNum type="circleNumDbPlain"/>
            </a:pPr>
            <a:r>
              <a:rPr lang="zh-CN" altLang="en-US" b="0" dirty="0"/>
              <a:t>遗传算法</a:t>
            </a:r>
            <a:endParaRPr lang="en-US" altLang="zh-CN" b="0" dirty="0"/>
          </a:p>
          <a:p>
            <a:pPr marL="1143000" lvl="1" indent="-742950">
              <a:buFont typeface="+mj-ea"/>
              <a:buAutoNum type="circleNumDbPlain"/>
            </a:pPr>
            <a:r>
              <a:rPr lang="zh-CN" altLang="en-US" b="0" dirty="0"/>
              <a:t>模拟退火算法</a:t>
            </a:r>
            <a:endParaRPr lang="en-US" altLang="zh-CN" b="0" dirty="0"/>
          </a:p>
        </p:txBody>
      </p:sp>
      <p:sp>
        <p:nvSpPr>
          <p:cNvPr id="4" name="日期占位符 3">
            <a:extLst>
              <a:ext uri="{FF2B5EF4-FFF2-40B4-BE49-F238E27FC236}">
                <a16:creationId xmlns:a16="http://schemas.microsoft.com/office/drawing/2014/main" id="{9339445D-8EC3-46FB-97D7-EB56D5F4C87E}"/>
              </a:ext>
            </a:extLst>
          </p:cNvPr>
          <p:cNvSpPr>
            <a:spLocks noGrp="1"/>
          </p:cNvSpPr>
          <p:nvPr>
            <p:ph type="dt" sz="half" idx="10"/>
          </p:nvPr>
        </p:nvSpPr>
        <p:spPr/>
        <p:txBody>
          <a:bodyPr/>
          <a:lstStyle/>
          <a:p>
            <a:fld id="{A8B06C41-1E1E-4B9B-9644-5AFB8CB2AB3B}" type="datetime3">
              <a:rPr lang="zh-CN" altLang="en-US" smtClean="0"/>
              <a:t>2022年11月24日星期四</a:t>
            </a:fld>
            <a:endParaRPr lang="en-US" altLang="zh-CN" dirty="0"/>
          </a:p>
        </p:txBody>
      </p:sp>
      <p:sp>
        <p:nvSpPr>
          <p:cNvPr id="5" name="灯片编号占位符 4">
            <a:extLst>
              <a:ext uri="{FF2B5EF4-FFF2-40B4-BE49-F238E27FC236}">
                <a16:creationId xmlns:a16="http://schemas.microsoft.com/office/drawing/2014/main" id="{5F6E21FE-18DA-4C23-B22B-F5C45B33EF9D}"/>
              </a:ext>
            </a:extLst>
          </p:cNvPr>
          <p:cNvSpPr>
            <a:spLocks noGrp="1"/>
          </p:cNvSpPr>
          <p:nvPr>
            <p:ph type="sldNum" sz="quarter" idx="12"/>
          </p:nvPr>
        </p:nvSpPr>
        <p:spPr/>
        <p:txBody>
          <a:bodyPr/>
          <a:lstStyle/>
          <a:p>
            <a:fld id="{7AC79822-BC0D-4DE8-A7E5-90A3732A2B82}" type="slidenum">
              <a:rPr lang="zh-CN" altLang="en-US" smtClean="0"/>
              <a:pPr/>
              <a:t>2</a:t>
            </a:fld>
            <a:endParaRPr lang="en-US" altLang="zh-CN" dirty="0"/>
          </a:p>
        </p:txBody>
      </p:sp>
    </p:spTree>
    <p:extLst>
      <p:ext uri="{BB962C8B-B14F-4D97-AF65-F5344CB8AC3E}">
        <p14:creationId xmlns:p14="http://schemas.microsoft.com/office/powerpoint/2010/main" val="59797561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6" presetClass="entr" presetSubtype="21" fill="hold" nodeType="with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barn(inVertical)">
                                      <p:cBhvr>
                                        <p:cTn id="7" dur="500"/>
                                        <p:tgtEl>
                                          <p:spTgt spid="3">
                                            <p:txEl>
                                              <p:pRg st="0" end="0"/>
                                            </p:txEl>
                                          </p:spTgt>
                                        </p:tgtEl>
                                      </p:cBhvr>
                                    </p:animEffect>
                                  </p:childTnLst>
                                </p:cTn>
                              </p:par>
                              <p:par>
                                <p:cTn id="8" presetID="16" presetClass="entr" presetSubtype="21" fill="hold" nodeType="withEffect">
                                  <p:stCondLst>
                                    <p:cond delay="0"/>
                                  </p:stCondLst>
                                  <p:childTnLst>
                                    <p:set>
                                      <p:cBhvr>
                                        <p:cTn id="9" dur="1" fill="hold">
                                          <p:stCondLst>
                                            <p:cond delay="0"/>
                                          </p:stCondLst>
                                        </p:cTn>
                                        <p:tgtEl>
                                          <p:spTgt spid="3">
                                            <p:txEl>
                                              <p:pRg st="1" end="1"/>
                                            </p:txEl>
                                          </p:spTgt>
                                        </p:tgtEl>
                                        <p:attrNameLst>
                                          <p:attrName>style.visibility</p:attrName>
                                        </p:attrNameLst>
                                      </p:cBhvr>
                                      <p:to>
                                        <p:strVal val="visible"/>
                                      </p:to>
                                    </p:set>
                                    <p:animEffect transition="in" filter="barn(inVertical)">
                                      <p:cBhvr>
                                        <p:cTn id="10" dur="500"/>
                                        <p:tgtEl>
                                          <p:spTgt spid="3">
                                            <p:txEl>
                                              <p:pRg st="1" end="1"/>
                                            </p:txEl>
                                          </p:spTgt>
                                        </p:tgtEl>
                                      </p:cBhvr>
                                    </p:animEffect>
                                  </p:childTnLst>
                                </p:cTn>
                              </p:par>
                              <p:par>
                                <p:cTn id="11" presetID="16" presetClass="entr" presetSubtype="21" fill="hold" nodeType="with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animEffect transition="in" filter="barn(inVertical)">
                                      <p:cBhvr>
                                        <p:cTn id="13" dur="500"/>
                                        <p:tgtEl>
                                          <p:spTgt spid="3">
                                            <p:txEl>
                                              <p:pRg st="2" end="2"/>
                                            </p:txEl>
                                          </p:spTgt>
                                        </p:tgtEl>
                                      </p:cBhvr>
                                    </p:animEffect>
                                  </p:childTnLst>
                                </p:cTn>
                              </p:par>
                              <p:par>
                                <p:cTn id="14" presetID="16" presetClass="entr" presetSubtype="21" fill="hold" nodeType="withEffect">
                                  <p:stCondLst>
                                    <p:cond delay="0"/>
                                  </p:stCondLst>
                                  <p:childTnLst>
                                    <p:set>
                                      <p:cBhvr>
                                        <p:cTn id="15" dur="1" fill="hold">
                                          <p:stCondLst>
                                            <p:cond delay="0"/>
                                          </p:stCondLst>
                                        </p:cTn>
                                        <p:tgtEl>
                                          <p:spTgt spid="3">
                                            <p:txEl>
                                              <p:pRg st="3" end="3"/>
                                            </p:txEl>
                                          </p:spTgt>
                                        </p:tgtEl>
                                        <p:attrNameLst>
                                          <p:attrName>style.visibility</p:attrName>
                                        </p:attrNameLst>
                                      </p:cBhvr>
                                      <p:to>
                                        <p:strVal val="visible"/>
                                      </p:to>
                                    </p:set>
                                    <p:animEffect transition="in" filter="barn(inVertical)">
                                      <p:cBhvr>
                                        <p:cTn id="16" dur="500"/>
                                        <p:tgtEl>
                                          <p:spTgt spid="3">
                                            <p:txEl>
                                              <p:pRg st="3" end="3"/>
                                            </p:txEl>
                                          </p:spTgt>
                                        </p:tgtEl>
                                      </p:cBhvr>
                                    </p:animEffect>
                                  </p:childTnLst>
                                </p:cTn>
                              </p:par>
                              <p:par>
                                <p:cTn id="17" presetID="16" presetClass="entr" presetSubtype="21" fill="hold" nodeType="with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animEffect transition="in" filter="barn(inVertical)">
                                      <p:cBhvr>
                                        <p:cTn id="19" dur="5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3112FC0-F532-45AA-8AC9-8F31C51C687A}"/>
              </a:ext>
            </a:extLst>
          </p:cNvPr>
          <p:cNvSpPr>
            <a:spLocks noGrp="1"/>
          </p:cNvSpPr>
          <p:nvPr>
            <p:ph type="title"/>
          </p:nvPr>
        </p:nvSpPr>
        <p:spPr/>
        <p:txBody>
          <a:bodyPr/>
          <a:lstStyle/>
          <a:p>
            <a:r>
              <a:rPr lang="zh-CN" altLang="en-US" dirty="0"/>
              <a:t>组合优化问题</a:t>
            </a:r>
          </a:p>
        </p:txBody>
      </p:sp>
      <p:sp>
        <p:nvSpPr>
          <p:cNvPr id="3" name="内容占位符 2">
            <a:extLst>
              <a:ext uri="{FF2B5EF4-FFF2-40B4-BE49-F238E27FC236}">
                <a16:creationId xmlns:a16="http://schemas.microsoft.com/office/drawing/2014/main" id="{B73F2BF9-F166-4FF6-8263-4CEC79CAEFB4}"/>
              </a:ext>
            </a:extLst>
          </p:cNvPr>
          <p:cNvSpPr>
            <a:spLocks noGrp="1"/>
          </p:cNvSpPr>
          <p:nvPr>
            <p:ph idx="1"/>
          </p:nvPr>
        </p:nvSpPr>
        <p:spPr/>
        <p:txBody>
          <a:bodyPr/>
          <a:lstStyle/>
          <a:p>
            <a:r>
              <a:rPr lang="zh-CN" altLang="en-US" dirty="0"/>
              <a:t>组合优化问题是利用数学方法去寻找离散事件的最优化编排、调度、分组、排序以及筛选等相关问题。是目前计算机理论中非常重要的研究内容。</a:t>
            </a:r>
            <a:endParaRPr lang="en-US" altLang="zh-CN" dirty="0"/>
          </a:p>
          <a:p>
            <a:r>
              <a:rPr lang="zh-CN" altLang="en-US" dirty="0"/>
              <a:t>常见的组合优化问题：</a:t>
            </a:r>
            <a:endParaRPr lang="en-US" altLang="zh-CN" dirty="0"/>
          </a:p>
          <a:p>
            <a:pPr lvl="1"/>
            <a:r>
              <a:rPr lang="zh-CN" altLang="en-US" dirty="0"/>
              <a:t>旅行商问题（</a:t>
            </a:r>
            <a:r>
              <a:rPr lang="en-US" altLang="zh-CN" dirty="0"/>
              <a:t>Travelling salesman problem, TSP</a:t>
            </a:r>
            <a:r>
              <a:rPr lang="zh-CN" altLang="en-US" dirty="0"/>
              <a:t>）</a:t>
            </a:r>
            <a:endParaRPr lang="en-US" altLang="zh-CN" dirty="0"/>
          </a:p>
          <a:p>
            <a:pPr lvl="1"/>
            <a:r>
              <a:rPr lang="en-US" altLang="zh-CN" dirty="0"/>
              <a:t>0-1</a:t>
            </a:r>
            <a:r>
              <a:rPr lang="zh-CN" altLang="en-US" dirty="0"/>
              <a:t>背包问题（</a:t>
            </a:r>
            <a:r>
              <a:rPr lang="en-US" altLang="zh-CN" dirty="0"/>
              <a:t>Knapsack problem)</a:t>
            </a:r>
            <a:r>
              <a:rPr lang="zh-CN" altLang="en-US" dirty="0"/>
              <a:t> </a:t>
            </a:r>
            <a:endParaRPr lang="en-US" altLang="zh-CN" dirty="0"/>
          </a:p>
          <a:p>
            <a:pPr lvl="1"/>
            <a:r>
              <a:rPr lang="zh-CN" altLang="en-US" dirty="0"/>
              <a:t>图着色问题（</a:t>
            </a:r>
            <a:r>
              <a:rPr lang="en-US" altLang="zh-CN" dirty="0"/>
              <a:t>Graph Coloring Problem, GCP</a:t>
            </a:r>
            <a:r>
              <a:rPr lang="zh-CN" altLang="en-US" dirty="0"/>
              <a:t>）</a:t>
            </a:r>
          </a:p>
        </p:txBody>
      </p:sp>
      <p:sp>
        <p:nvSpPr>
          <p:cNvPr id="4" name="日期占位符 3">
            <a:extLst>
              <a:ext uri="{FF2B5EF4-FFF2-40B4-BE49-F238E27FC236}">
                <a16:creationId xmlns:a16="http://schemas.microsoft.com/office/drawing/2014/main" id="{6DA09468-BA98-42EF-AFC1-8446EBB7CFD9}"/>
              </a:ext>
            </a:extLst>
          </p:cNvPr>
          <p:cNvSpPr>
            <a:spLocks noGrp="1"/>
          </p:cNvSpPr>
          <p:nvPr>
            <p:ph type="dt" sz="half" idx="10"/>
          </p:nvPr>
        </p:nvSpPr>
        <p:spPr/>
        <p:txBody>
          <a:bodyPr/>
          <a:lstStyle/>
          <a:p>
            <a:fld id="{A8B06C41-1E1E-4B9B-9644-5AFB8CB2AB3B}" type="datetime3">
              <a:rPr lang="zh-CN" altLang="en-US" smtClean="0"/>
              <a:t>2022年11月24日星期四</a:t>
            </a:fld>
            <a:endParaRPr lang="en-US" altLang="zh-CN" dirty="0"/>
          </a:p>
        </p:txBody>
      </p:sp>
      <p:sp>
        <p:nvSpPr>
          <p:cNvPr id="5" name="灯片编号占位符 4">
            <a:extLst>
              <a:ext uri="{FF2B5EF4-FFF2-40B4-BE49-F238E27FC236}">
                <a16:creationId xmlns:a16="http://schemas.microsoft.com/office/drawing/2014/main" id="{46805EE4-5647-4CC6-B0B2-F4DF620DBF04}"/>
              </a:ext>
            </a:extLst>
          </p:cNvPr>
          <p:cNvSpPr>
            <a:spLocks noGrp="1"/>
          </p:cNvSpPr>
          <p:nvPr>
            <p:ph type="sldNum" sz="quarter" idx="12"/>
          </p:nvPr>
        </p:nvSpPr>
        <p:spPr/>
        <p:txBody>
          <a:bodyPr/>
          <a:lstStyle/>
          <a:p>
            <a:fld id="{7AC79822-BC0D-4DE8-A7E5-90A3732A2B82}" type="slidenum">
              <a:rPr lang="zh-CN" altLang="en-US" smtClean="0"/>
              <a:pPr/>
              <a:t>3</a:t>
            </a:fld>
            <a:endParaRPr lang="en-US" altLang="zh-CN" dirty="0"/>
          </a:p>
        </p:txBody>
      </p:sp>
    </p:spTree>
    <p:extLst>
      <p:ext uri="{BB962C8B-B14F-4D97-AF65-F5344CB8AC3E}">
        <p14:creationId xmlns:p14="http://schemas.microsoft.com/office/powerpoint/2010/main" val="138643180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4" fill="hold" nodeType="with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down)">
                                      <p:cBhvr>
                                        <p:cTn id="7" dur="500"/>
                                        <p:tgtEl>
                                          <p:spTgt spid="3">
                                            <p:txEl>
                                              <p:pRg st="0" end="0"/>
                                            </p:txEl>
                                          </p:spTgt>
                                        </p:tgtEl>
                                      </p:cBhvr>
                                    </p:animEffect>
                                  </p:childTnLst>
                                </p:cTn>
                              </p:par>
                              <p:par>
                                <p:cTn id="8" presetID="22" presetClass="entr" presetSubtype="4" fill="hold" nodeType="withEffect">
                                  <p:stCondLst>
                                    <p:cond delay="0"/>
                                  </p:stCondLst>
                                  <p:childTnLst>
                                    <p:set>
                                      <p:cBhvr>
                                        <p:cTn id="9" dur="1" fill="hold">
                                          <p:stCondLst>
                                            <p:cond delay="0"/>
                                          </p:stCondLst>
                                        </p:cTn>
                                        <p:tgtEl>
                                          <p:spTgt spid="3">
                                            <p:txEl>
                                              <p:pRg st="1" end="1"/>
                                            </p:txEl>
                                          </p:spTgt>
                                        </p:tgtEl>
                                        <p:attrNameLst>
                                          <p:attrName>style.visibility</p:attrName>
                                        </p:attrNameLst>
                                      </p:cBhvr>
                                      <p:to>
                                        <p:strVal val="visible"/>
                                      </p:to>
                                    </p:set>
                                    <p:animEffect transition="in" filter="wipe(down)">
                                      <p:cBhvr>
                                        <p:cTn id="10" dur="500"/>
                                        <p:tgtEl>
                                          <p:spTgt spid="3">
                                            <p:txEl>
                                              <p:pRg st="1" end="1"/>
                                            </p:txEl>
                                          </p:spTgt>
                                        </p:tgtEl>
                                      </p:cBhvr>
                                    </p:animEffect>
                                  </p:childTnLst>
                                </p:cTn>
                              </p:par>
                              <p:par>
                                <p:cTn id="11" presetID="22" presetClass="entr" presetSubtype="4" fill="hold" nodeType="with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animEffect transition="in" filter="wipe(down)">
                                      <p:cBhvr>
                                        <p:cTn id="13" dur="500"/>
                                        <p:tgtEl>
                                          <p:spTgt spid="3">
                                            <p:txEl>
                                              <p:pRg st="2" end="2"/>
                                            </p:txEl>
                                          </p:spTgt>
                                        </p:tgtEl>
                                      </p:cBhvr>
                                    </p:animEffect>
                                  </p:childTnLst>
                                </p:cTn>
                              </p:par>
                              <p:par>
                                <p:cTn id="14" presetID="22" presetClass="entr" presetSubtype="4" fill="hold" nodeType="withEffect">
                                  <p:stCondLst>
                                    <p:cond delay="0"/>
                                  </p:stCondLst>
                                  <p:childTnLst>
                                    <p:set>
                                      <p:cBhvr>
                                        <p:cTn id="15" dur="1" fill="hold">
                                          <p:stCondLst>
                                            <p:cond delay="0"/>
                                          </p:stCondLst>
                                        </p:cTn>
                                        <p:tgtEl>
                                          <p:spTgt spid="3">
                                            <p:txEl>
                                              <p:pRg st="3" end="3"/>
                                            </p:txEl>
                                          </p:spTgt>
                                        </p:tgtEl>
                                        <p:attrNameLst>
                                          <p:attrName>style.visibility</p:attrName>
                                        </p:attrNameLst>
                                      </p:cBhvr>
                                      <p:to>
                                        <p:strVal val="visible"/>
                                      </p:to>
                                    </p:set>
                                    <p:animEffect transition="in" filter="wipe(down)">
                                      <p:cBhvr>
                                        <p:cTn id="16" dur="500"/>
                                        <p:tgtEl>
                                          <p:spTgt spid="3">
                                            <p:txEl>
                                              <p:pRg st="3" end="3"/>
                                            </p:txEl>
                                          </p:spTgt>
                                        </p:tgtEl>
                                      </p:cBhvr>
                                    </p:animEffect>
                                  </p:childTnLst>
                                </p:cTn>
                              </p:par>
                              <p:par>
                                <p:cTn id="17" presetID="22" presetClass="entr" presetSubtype="4" fill="hold" nodeType="with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animEffect transition="in" filter="wipe(down)">
                                      <p:cBhvr>
                                        <p:cTn id="19" dur="5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6E55D54-6594-4DBF-8000-509CAF209899}"/>
              </a:ext>
            </a:extLst>
          </p:cNvPr>
          <p:cNvSpPr>
            <a:spLocks noGrp="1"/>
          </p:cNvSpPr>
          <p:nvPr>
            <p:ph type="title"/>
          </p:nvPr>
        </p:nvSpPr>
        <p:spPr/>
        <p:txBody>
          <a:bodyPr/>
          <a:lstStyle/>
          <a:p>
            <a:r>
              <a:rPr lang="zh-CN" altLang="en-US" dirty="0"/>
              <a:t>组合优化问题</a:t>
            </a:r>
          </a:p>
        </p:txBody>
      </p:sp>
      <p:sp>
        <p:nvSpPr>
          <p:cNvPr id="3" name="内容占位符 2">
            <a:extLst>
              <a:ext uri="{FF2B5EF4-FFF2-40B4-BE49-F238E27FC236}">
                <a16:creationId xmlns:a16="http://schemas.microsoft.com/office/drawing/2014/main" id="{02EE64AB-5EA0-4EA5-B208-E7A1820B205A}"/>
              </a:ext>
            </a:extLst>
          </p:cNvPr>
          <p:cNvSpPr>
            <a:spLocks noGrp="1"/>
          </p:cNvSpPr>
          <p:nvPr>
            <p:ph idx="1"/>
          </p:nvPr>
        </p:nvSpPr>
        <p:spPr/>
        <p:txBody>
          <a:bodyPr/>
          <a:lstStyle/>
          <a:p>
            <a:r>
              <a:rPr lang="zh-CN" altLang="en-US" dirty="0"/>
              <a:t>组合优化问题中主要研究对象为</a:t>
            </a:r>
            <a:r>
              <a:rPr lang="en-US" altLang="zh-CN" dirty="0"/>
              <a:t>NP</a:t>
            </a:r>
            <a:r>
              <a:rPr lang="zh-CN" altLang="en-US" dirty="0"/>
              <a:t>完全问题的求解。</a:t>
            </a:r>
            <a:endParaRPr lang="en-US" altLang="zh-CN" dirty="0"/>
          </a:p>
          <a:p>
            <a:pPr lvl="1"/>
            <a:r>
              <a:rPr lang="en-US" altLang="zh-CN" dirty="0"/>
              <a:t>P</a:t>
            </a:r>
            <a:r>
              <a:rPr lang="zh-CN" altLang="en-US" dirty="0"/>
              <a:t>问题</a:t>
            </a:r>
            <a:endParaRPr lang="en-US" altLang="zh-CN" dirty="0"/>
          </a:p>
          <a:p>
            <a:pPr lvl="1"/>
            <a:r>
              <a:rPr lang="en-US" altLang="zh-CN" dirty="0"/>
              <a:t>NP</a:t>
            </a:r>
            <a:r>
              <a:rPr lang="zh-CN" altLang="en-US" dirty="0"/>
              <a:t>问题</a:t>
            </a:r>
            <a:endParaRPr lang="en-US" altLang="zh-CN" dirty="0"/>
          </a:p>
          <a:p>
            <a:pPr lvl="1"/>
            <a:r>
              <a:rPr lang="en-US" altLang="zh-CN" dirty="0"/>
              <a:t>NPC</a:t>
            </a:r>
            <a:r>
              <a:rPr lang="zh-CN" altLang="en-US" dirty="0"/>
              <a:t>问题</a:t>
            </a:r>
            <a:endParaRPr lang="en-US" altLang="zh-CN" dirty="0"/>
          </a:p>
          <a:p>
            <a:pPr lvl="1"/>
            <a:r>
              <a:rPr lang="en-US" altLang="zh-CN" dirty="0"/>
              <a:t>NP-Hard</a:t>
            </a:r>
            <a:r>
              <a:rPr lang="zh-CN" altLang="en-US" dirty="0"/>
              <a:t>问题</a:t>
            </a:r>
            <a:endParaRPr lang="en-US" altLang="zh-CN" dirty="0"/>
          </a:p>
        </p:txBody>
      </p:sp>
      <p:sp>
        <p:nvSpPr>
          <p:cNvPr id="4" name="日期占位符 3">
            <a:extLst>
              <a:ext uri="{FF2B5EF4-FFF2-40B4-BE49-F238E27FC236}">
                <a16:creationId xmlns:a16="http://schemas.microsoft.com/office/drawing/2014/main" id="{399B67D9-4062-47A5-8CB8-9EF4CFDDDD42}"/>
              </a:ext>
            </a:extLst>
          </p:cNvPr>
          <p:cNvSpPr>
            <a:spLocks noGrp="1"/>
          </p:cNvSpPr>
          <p:nvPr>
            <p:ph type="dt" sz="half" idx="10"/>
          </p:nvPr>
        </p:nvSpPr>
        <p:spPr/>
        <p:txBody>
          <a:bodyPr/>
          <a:lstStyle/>
          <a:p>
            <a:fld id="{A8B06C41-1E1E-4B9B-9644-5AFB8CB2AB3B}" type="datetime3">
              <a:rPr lang="zh-CN" altLang="en-US" smtClean="0"/>
              <a:t>2022年11月24日星期四</a:t>
            </a:fld>
            <a:endParaRPr lang="en-US" altLang="zh-CN" dirty="0"/>
          </a:p>
        </p:txBody>
      </p:sp>
      <p:sp>
        <p:nvSpPr>
          <p:cNvPr id="5" name="灯片编号占位符 4">
            <a:extLst>
              <a:ext uri="{FF2B5EF4-FFF2-40B4-BE49-F238E27FC236}">
                <a16:creationId xmlns:a16="http://schemas.microsoft.com/office/drawing/2014/main" id="{FEDD5887-75C1-40CA-BC81-460C1685CA7B}"/>
              </a:ext>
            </a:extLst>
          </p:cNvPr>
          <p:cNvSpPr>
            <a:spLocks noGrp="1"/>
          </p:cNvSpPr>
          <p:nvPr>
            <p:ph type="sldNum" sz="quarter" idx="12"/>
          </p:nvPr>
        </p:nvSpPr>
        <p:spPr/>
        <p:txBody>
          <a:bodyPr/>
          <a:lstStyle/>
          <a:p>
            <a:fld id="{7AC79822-BC0D-4DE8-A7E5-90A3732A2B82}" type="slidenum">
              <a:rPr lang="zh-CN" altLang="en-US" smtClean="0"/>
              <a:pPr/>
              <a:t>4</a:t>
            </a:fld>
            <a:endParaRPr lang="en-US" altLang="zh-CN" dirty="0"/>
          </a:p>
        </p:txBody>
      </p:sp>
    </p:spTree>
    <p:extLst>
      <p:ext uri="{BB962C8B-B14F-4D97-AF65-F5344CB8AC3E}">
        <p14:creationId xmlns:p14="http://schemas.microsoft.com/office/powerpoint/2010/main" val="214927687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4" fill="hold" nodeType="with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down)">
                                      <p:cBhvr>
                                        <p:cTn id="7" dur="500"/>
                                        <p:tgtEl>
                                          <p:spTgt spid="3">
                                            <p:txEl>
                                              <p:pRg st="0" end="0"/>
                                            </p:txEl>
                                          </p:spTgt>
                                        </p:tgtEl>
                                      </p:cBhvr>
                                    </p:animEffect>
                                  </p:childTnLst>
                                </p:cTn>
                              </p:par>
                              <p:par>
                                <p:cTn id="8" presetID="22" presetClass="entr" presetSubtype="4" fill="hold" nodeType="withEffect">
                                  <p:stCondLst>
                                    <p:cond delay="0"/>
                                  </p:stCondLst>
                                  <p:childTnLst>
                                    <p:set>
                                      <p:cBhvr>
                                        <p:cTn id="9" dur="1" fill="hold">
                                          <p:stCondLst>
                                            <p:cond delay="0"/>
                                          </p:stCondLst>
                                        </p:cTn>
                                        <p:tgtEl>
                                          <p:spTgt spid="3">
                                            <p:txEl>
                                              <p:pRg st="1" end="1"/>
                                            </p:txEl>
                                          </p:spTgt>
                                        </p:tgtEl>
                                        <p:attrNameLst>
                                          <p:attrName>style.visibility</p:attrName>
                                        </p:attrNameLst>
                                      </p:cBhvr>
                                      <p:to>
                                        <p:strVal val="visible"/>
                                      </p:to>
                                    </p:set>
                                    <p:animEffect transition="in" filter="wipe(down)">
                                      <p:cBhvr>
                                        <p:cTn id="10" dur="500"/>
                                        <p:tgtEl>
                                          <p:spTgt spid="3">
                                            <p:txEl>
                                              <p:pRg st="1" end="1"/>
                                            </p:txEl>
                                          </p:spTgt>
                                        </p:tgtEl>
                                      </p:cBhvr>
                                    </p:animEffect>
                                  </p:childTnLst>
                                </p:cTn>
                              </p:par>
                              <p:par>
                                <p:cTn id="11" presetID="22" presetClass="entr" presetSubtype="4" fill="hold" nodeType="with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animEffect transition="in" filter="wipe(down)">
                                      <p:cBhvr>
                                        <p:cTn id="13" dur="500"/>
                                        <p:tgtEl>
                                          <p:spTgt spid="3">
                                            <p:txEl>
                                              <p:pRg st="2" end="2"/>
                                            </p:txEl>
                                          </p:spTgt>
                                        </p:tgtEl>
                                      </p:cBhvr>
                                    </p:animEffect>
                                  </p:childTnLst>
                                </p:cTn>
                              </p:par>
                              <p:par>
                                <p:cTn id="14" presetID="22" presetClass="entr" presetSubtype="4" fill="hold" nodeType="withEffect">
                                  <p:stCondLst>
                                    <p:cond delay="0"/>
                                  </p:stCondLst>
                                  <p:childTnLst>
                                    <p:set>
                                      <p:cBhvr>
                                        <p:cTn id="15" dur="1" fill="hold">
                                          <p:stCondLst>
                                            <p:cond delay="0"/>
                                          </p:stCondLst>
                                        </p:cTn>
                                        <p:tgtEl>
                                          <p:spTgt spid="3">
                                            <p:txEl>
                                              <p:pRg st="3" end="3"/>
                                            </p:txEl>
                                          </p:spTgt>
                                        </p:tgtEl>
                                        <p:attrNameLst>
                                          <p:attrName>style.visibility</p:attrName>
                                        </p:attrNameLst>
                                      </p:cBhvr>
                                      <p:to>
                                        <p:strVal val="visible"/>
                                      </p:to>
                                    </p:set>
                                    <p:animEffect transition="in" filter="wipe(down)">
                                      <p:cBhvr>
                                        <p:cTn id="16" dur="500"/>
                                        <p:tgtEl>
                                          <p:spTgt spid="3">
                                            <p:txEl>
                                              <p:pRg st="3" end="3"/>
                                            </p:txEl>
                                          </p:spTgt>
                                        </p:tgtEl>
                                      </p:cBhvr>
                                    </p:animEffect>
                                  </p:childTnLst>
                                </p:cTn>
                              </p:par>
                              <p:par>
                                <p:cTn id="17" presetID="22" presetClass="entr" presetSubtype="4" fill="hold" nodeType="with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animEffect transition="in" filter="wipe(down)">
                                      <p:cBhvr>
                                        <p:cTn id="19" dur="5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6E55D54-6594-4DBF-8000-509CAF209899}"/>
              </a:ext>
            </a:extLst>
          </p:cNvPr>
          <p:cNvSpPr>
            <a:spLocks noGrp="1"/>
          </p:cNvSpPr>
          <p:nvPr>
            <p:ph type="title"/>
          </p:nvPr>
        </p:nvSpPr>
        <p:spPr/>
        <p:txBody>
          <a:bodyPr/>
          <a:lstStyle/>
          <a:p>
            <a:r>
              <a:rPr lang="zh-CN" altLang="en-US" dirty="0"/>
              <a:t>组合优化问题</a:t>
            </a:r>
          </a:p>
        </p:txBody>
      </p:sp>
      <p:sp>
        <p:nvSpPr>
          <p:cNvPr id="3" name="内容占位符 2">
            <a:extLst>
              <a:ext uri="{FF2B5EF4-FFF2-40B4-BE49-F238E27FC236}">
                <a16:creationId xmlns:a16="http://schemas.microsoft.com/office/drawing/2014/main" id="{02EE64AB-5EA0-4EA5-B208-E7A1820B205A}"/>
              </a:ext>
            </a:extLst>
          </p:cNvPr>
          <p:cNvSpPr>
            <a:spLocks noGrp="1"/>
          </p:cNvSpPr>
          <p:nvPr>
            <p:ph idx="1"/>
          </p:nvPr>
        </p:nvSpPr>
        <p:spPr/>
        <p:txBody>
          <a:bodyPr/>
          <a:lstStyle/>
          <a:p>
            <a:r>
              <a:rPr lang="zh-CN" altLang="en-US" dirty="0"/>
              <a:t>计算复杂性理论</a:t>
            </a:r>
            <a:endParaRPr lang="en-US" altLang="zh-CN" dirty="0"/>
          </a:p>
          <a:p>
            <a:pPr lvl="1"/>
            <a:r>
              <a:rPr lang="zh-CN" altLang="en-US" dirty="0"/>
              <a:t>计算复杂性理论（ </a:t>
            </a:r>
            <a:r>
              <a:rPr lang="en-US" altLang="zh-CN" dirty="0"/>
              <a:t>Computational complexity theory</a:t>
            </a:r>
            <a:r>
              <a:rPr lang="zh-CN" altLang="en-US" dirty="0"/>
              <a:t>）研究计算问题时所需的资源，比如时间和空间，以及如何尽可能的节省这些资源。</a:t>
            </a:r>
          </a:p>
          <a:p>
            <a:pPr lvl="1"/>
            <a:r>
              <a:rPr lang="zh-CN" altLang="en-US" dirty="0"/>
              <a:t>时间复杂度和空间复杂度决定了算法的优劣</a:t>
            </a:r>
          </a:p>
          <a:p>
            <a:pPr lvl="1"/>
            <a:r>
              <a:rPr lang="zh-CN" altLang="en-US" dirty="0"/>
              <a:t>组合优化问题重点分析时间复杂度</a:t>
            </a:r>
            <a:endParaRPr lang="en-US" altLang="zh-CN" dirty="0"/>
          </a:p>
          <a:p>
            <a:pPr lvl="2"/>
            <a:r>
              <a:rPr lang="zh-CN" altLang="en-US" dirty="0"/>
              <a:t>其中复杂度的含义是随着问题规模的扩大，其时间的增长趋势，并非绝对的程序执行时间</a:t>
            </a:r>
          </a:p>
          <a:p>
            <a:pPr lvl="1"/>
            <a:endParaRPr lang="en-US" altLang="zh-CN" dirty="0"/>
          </a:p>
        </p:txBody>
      </p:sp>
      <p:sp>
        <p:nvSpPr>
          <p:cNvPr id="4" name="日期占位符 3">
            <a:extLst>
              <a:ext uri="{FF2B5EF4-FFF2-40B4-BE49-F238E27FC236}">
                <a16:creationId xmlns:a16="http://schemas.microsoft.com/office/drawing/2014/main" id="{399B67D9-4062-47A5-8CB8-9EF4CFDDDD42}"/>
              </a:ext>
            </a:extLst>
          </p:cNvPr>
          <p:cNvSpPr>
            <a:spLocks noGrp="1"/>
          </p:cNvSpPr>
          <p:nvPr>
            <p:ph type="dt" sz="half" idx="10"/>
          </p:nvPr>
        </p:nvSpPr>
        <p:spPr/>
        <p:txBody>
          <a:bodyPr/>
          <a:lstStyle/>
          <a:p>
            <a:fld id="{A8B06C41-1E1E-4B9B-9644-5AFB8CB2AB3B}" type="datetime3">
              <a:rPr lang="zh-CN" altLang="en-US" smtClean="0"/>
              <a:t>2022年11月24日星期四</a:t>
            </a:fld>
            <a:endParaRPr lang="en-US" altLang="zh-CN" dirty="0"/>
          </a:p>
        </p:txBody>
      </p:sp>
      <p:sp>
        <p:nvSpPr>
          <p:cNvPr id="5" name="灯片编号占位符 4">
            <a:extLst>
              <a:ext uri="{FF2B5EF4-FFF2-40B4-BE49-F238E27FC236}">
                <a16:creationId xmlns:a16="http://schemas.microsoft.com/office/drawing/2014/main" id="{FEDD5887-75C1-40CA-BC81-460C1685CA7B}"/>
              </a:ext>
            </a:extLst>
          </p:cNvPr>
          <p:cNvSpPr>
            <a:spLocks noGrp="1"/>
          </p:cNvSpPr>
          <p:nvPr>
            <p:ph type="sldNum" sz="quarter" idx="12"/>
          </p:nvPr>
        </p:nvSpPr>
        <p:spPr/>
        <p:txBody>
          <a:bodyPr/>
          <a:lstStyle/>
          <a:p>
            <a:fld id="{7AC79822-BC0D-4DE8-A7E5-90A3732A2B82}" type="slidenum">
              <a:rPr lang="zh-CN" altLang="en-US" smtClean="0"/>
              <a:pPr/>
              <a:t>5</a:t>
            </a:fld>
            <a:endParaRPr lang="en-US" altLang="zh-CN" dirty="0"/>
          </a:p>
        </p:txBody>
      </p:sp>
    </p:spTree>
    <p:extLst>
      <p:ext uri="{BB962C8B-B14F-4D97-AF65-F5344CB8AC3E}">
        <p14:creationId xmlns:p14="http://schemas.microsoft.com/office/powerpoint/2010/main" val="185683657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6" presetClass="entr" presetSubtype="21" fill="hold" nodeType="with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barn(inVertical)">
                                      <p:cBhvr>
                                        <p:cTn id="7" dur="500"/>
                                        <p:tgtEl>
                                          <p:spTgt spid="3">
                                            <p:txEl>
                                              <p:pRg st="0" end="0"/>
                                            </p:txEl>
                                          </p:spTgt>
                                        </p:tgtEl>
                                      </p:cBhvr>
                                    </p:animEffect>
                                  </p:childTnLst>
                                </p:cTn>
                              </p:par>
                              <p:par>
                                <p:cTn id="8" presetID="16" presetClass="entr" presetSubtype="21" fill="hold" nodeType="withEffect">
                                  <p:stCondLst>
                                    <p:cond delay="0"/>
                                  </p:stCondLst>
                                  <p:childTnLst>
                                    <p:set>
                                      <p:cBhvr>
                                        <p:cTn id="9" dur="1" fill="hold">
                                          <p:stCondLst>
                                            <p:cond delay="0"/>
                                          </p:stCondLst>
                                        </p:cTn>
                                        <p:tgtEl>
                                          <p:spTgt spid="3">
                                            <p:txEl>
                                              <p:pRg st="1" end="1"/>
                                            </p:txEl>
                                          </p:spTgt>
                                        </p:tgtEl>
                                        <p:attrNameLst>
                                          <p:attrName>style.visibility</p:attrName>
                                        </p:attrNameLst>
                                      </p:cBhvr>
                                      <p:to>
                                        <p:strVal val="visible"/>
                                      </p:to>
                                    </p:set>
                                    <p:animEffect transition="in" filter="barn(inVertical)">
                                      <p:cBhvr>
                                        <p:cTn id="10" dur="500"/>
                                        <p:tgtEl>
                                          <p:spTgt spid="3">
                                            <p:txEl>
                                              <p:pRg st="1" end="1"/>
                                            </p:txEl>
                                          </p:spTgt>
                                        </p:tgtEl>
                                      </p:cBhvr>
                                    </p:animEffect>
                                  </p:childTnLst>
                                </p:cTn>
                              </p:par>
                              <p:par>
                                <p:cTn id="11" presetID="16" presetClass="entr" presetSubtype="21" fill="hold" nodeType="with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animEffect transition="in" filter="barn(inVertical)">
                                      <p:cBhvr>
                                        <p:cTn id="13" dur="500"/>
                                        <p:tgtEl>
                                          <p:spTgt spid="3">
                                            <p:txEl>
                                              <p:pRg st="2" end="2"/>
                                            </p:txEl>
                                          </p:spTgt>
                                        </p:tgtEl>
                                      </p:cBhvr>
                                    </p:animEffect>
                                  </p:childTnLst>
                                </p:cTn>
                              </p:par>
                              <p:par>
                                <p:cTn id="14" presetID="16" presetClass="entr" presetSubtype="21" fill="hold" nodeType="withEffect">
                                  <p:stCondLst>
                                    <p:cond delay="0"/>
                                  </p:stCondLst>
                                  <p:childTnLst>
                                    <p:set>
                                      <p:cBhvr>
                                        <p:cTn id="15" dur="1" fill="hold">
                                          <p:stCondLst>
                                            <p:cond delay="0"/>
                                          </p:stCondLst>
                                        </p:cTn>
                                        <p:tgtEl>
                                          <p:spTgt spid="3">
                                            <p:txEl>
                                              <p:pRg st="3" end="3"/>
                                            </p:txEl>
                                          </p:spTgt>
                                        </p:tgtEl>
                                        <p:attrNameLst>
                                          <p:attrName>style.visibility</p:attrName>
                                        </p:attrNameLst>
                                      </p:cBhvr>
                                      <p:to>
                                        <p:strVal val="visible"/>
                                      </p:to>
                                    </p:set>
                                    <p:animEffect transition="in" filter="barn(inVertical)">
                                      <p:cBhvr>
                                        <p:cTn id="16" dur="500"/>
                                        <p:tgtEl>
                                          <p:spTgt spid="3">
                                            <p:txEl>
                                              <p:pRg st="3" end="3"/>
                                            </p:txEl>
                                          </p:spTgt>
                                        </p:tgtEl>
                                      </p:cBhvr>
                                    </p:animEffect>
                                  </p:childTnLst>
                                </p:cTn>
                              </p:par>
                              <p:par>
                                <p:cTn id="17" presetID="16" presetClass="entr" presetSubtype="21" fill="hold" nodeType="with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animEffect transition="in" filter="barn(inVertical)">
                                      <p:cBhvr>
                                        <p:cTn id="19" dur="5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6E55D54-6594-4DBF-8000-509CAF209899}"/>
              </a:ext>
            </a:extLst>
          </p:cNvPr>
          <p:cNvSpPr>
            <a:spLocks noGrp="1"/>
          </p:cNvSpPr>
          <p:nvPr>
            <p:ph type="title"/>
          </p:nvPr>
        </p:nvSpPr>
        <p:spPr/>
        <p:txBody>
          <a:bodyPr/>
          <a:lstStyle/>
          <a:p>
            <a:r>
              <a:rPr lang="zh-CN" altLang="en-US" dirty="0"/>
              <a:t>组合优化问题</a:t>
            </a:r>
          </a:p>
        </p:txBody>
      </p:sp>
      <p:sp>
        <p:nvSpPr>
          <p:cNvPr id="3" name="内容占位符 2">
            <a:extLst>
              <a:ext uri="{FF2B5EF4-FFF2-40B4-BE49-F238E27FC236}">
                <a16:creationId xmlns:a16="http://schemas.microsoft.com/office/drawing/2014/main" id="{02EE64AB-5EA0-4EA5-B208-E7A1820B205A}"/>
              </a:ext>
            </a:extLst>
          </p:cNvPr>
          <p:cNvSpPr>
            <a:spLocks noGrp="1"/>
          </p:cNvSpPr>
          <p:nvPr>
            <p:ph idx="1"/>
          </p:nvPr>
        </p:nvSpPr>
        <p:spPr/>
        <p:txBody>
          <a:bodyPr/>
          <a:lstStyle/>
          <a:p>
            <a:r>
              <a:rPr lang="zh-CN" altLang="en-US" dirty="0"/>
              <a:t>计算复杂性理论</a:t>
            </a:r>
            <a:endParaRPr lang="en-US" altLang="zh-CN" dirty="0"/>
          </a:p>
          <a:p>
            <a:pPr lvl="1"/>
            <a:r>
              <a:rPr lang="zh-CN" altLang="en-US" dirty="0"/>
              <a:t>多项式时间</a:t>
            </a:r>
            <a:endParaRPr lang="en-US" altLang="zh-CN" dirty="0"/>
          </a:p>
          <a:p>
            <a:pPr lvl="2"/>
            <a:r>
              <a:rPr lang="zh-CN" altLang="en-US" dirty="0"/>
              <a:t>多项式时间（</a:t>
            </a:r>
            <a:r>
              <a:rPr lang="en-US" altLang="zh-CN" dirty="0"/>
              <a:t>Polynomial time</a:t>
            </a:r>
            <a:r>
              <a:rPr lang="zh-CN" altLang="en-US" dirty="0"/>
              <a:t>）一般作为算法高效的标志</a:t>
            </a:r>
            <a:endParaRPr lang="en-US" altLang="zh-CN" dirty="0"/>
          </a:p>
          <a:p>
            <a:pPr lvl="2"/>
            <a:r>
              <a:rPr lang="zh-CN" altLang="en-US" dirty="0"/>
              <a:t>一个算法的时间复杂度是多项式时间可以表示为</a:t>
            </a:r>
            <a:r>
              <a:rPr lang="en-US" altLang="zh-CN" dirty="0"/>
              <a:t>O(p)</a:t>
            </a:r>
            <a:r>
              <a:rPr lang="zh-CN" altLang="en-US" dirty="0"/>
              <a:t>，其中</a:t>
            </a:r>
            <a:endParaRPr lang="en-US" altLang="zh-CN" dirty="0"/>
          </a:p>
          <a:p>
            <a:pPr marL="1371600" lvl="3" indent="0">
              <a:buNone/>
            </a:pPr>
            <a:endParaRPr lang="en-US" altLang="zh-CN" dirty="0"/>
          </a:p>
          <a:p>
            <a:pPr marL="1371600" lvl="3" indent="0">
              <a:buNone/>
            </a:pPr>
            <a:endParaRPr lang="en-US" altLang="zh-CN" dirty="0"/>
          </a:p>
          <a:p>
            <a:pPr marL="1371600" lvl="3" indent="0">
              <a:buNone/>
            </a:pPr>
            <a:r>
              <a:rPr lang="en-US" altLang="zh-CN" dirty="0"/>
              <a:t>k</a:t>
            </a:r>
            <a:r>
              <a:rPr lang="zh-CN" altLang="en-US" dirty="0"/>
              <a:t>为任意整数</a:t>
            </a:r>
          </a:p>
          <a:p>
            <a:pPr lvl="2"/>
            <a:endParaRPr lang="en-US" altLang="zh-CN" dirty="0"/>
          </a:p>
          <a:p>
            <a:pPr lvl="2"/>
            <a:endParaRPr lang="en-US" altLang="zh-CN" dirty="0"/>
          </a:p>
        </p:txBody>
      </p:sp>
      <p:sp>
        <p:nvSpPr>
          <p:cNvPr id="4" name="日期占位符 3">
            <a:extLst>
              <a:ext uri="{FF2B5EF4-FFF2-40B4-BE49-F238E27FC236}">
                <a16:creationId xmlns:a16="http://schemas.microsoft.com/office/drawing/2014/main" id="{399B67D9-4062-47A5-8CB8-9EF4CFDDDD42}"/>
              </a:ext>
            </a:extLst>
          </p:cNvPr>
          <p:cNvSpPr>
            <a:spLocks noGrp="1"/>
          </p:cNvSpPr>
          <p:nvPr>
            <p:ph type="dt" sz="half" idx="10"/>
          </p:nvPr>
        </p:nvSpPr>
        <p:spPr/>
        <p:txBody>
          <a:bodyPr/>
          <a:lstStyle/>
          <a:p>
            <a:fld id="{A8B06C41-1E1E-4B9B-9644-5AFB8CB2AB3B}" type="datetime3">
              <a:rPr lang="zh-CN" altLang="en-US" smtClean="0"/>
              <a:t>2022年11月24日星期四</a:t>
            </a:fld>
            <a:endParaRPr lang="en-US" altLang="zh-CN" dirty="0"/>
          </a:p>
        </p:txBody>
      </p:sp>
      <p:sp>
        <p:nvSpPr>
          <p:cNvPr id="5" name="灯片编号占位符 4">
            <a:extLst>
              <a:ext uri="{FF2B5EF4-FFF2-40B4-BE49-F238E27FC236}">
                <a16:creationId xmlns:a16="http://schemas.microsoft.com/office/drawing/2014/main" id="{FEDD5887-75C1-40CA-BC81-460C1685CA7B}"/>
              </a:ext>
            </a:extLst>
          </p:cNvPr>
          <p:cNvSpPr>
            <a:spLocks noGrp="1"/>
          </p:cNvSpPr>
          <p:nvPr>
            <p:ph type="sldNum" sz="quarter" idx="12"/>
          </p:nvPr>
        </p:nvSpPr>
        <p:spPr/>
        <p:txBody>
          <a:bodyPr/>
          <a:lstStyle/>
          <a:p>
            <a:fld id="{7AC79822-BC0D-4DE8-A7E5-90A3732A2B82}" type="slidenum">
              <a:rPr lang="zh-CN" altLang="en-US" smtClean="0"/>
              <a:pPr/>
              <a:t>6</a:t>
            </a:fld>
            <a:endParaRPr lang="en-US" altLang="zh-CN" dirty="0"/>
          </a:p>
        </p:txBody>
      </p:sp>
      <p:graphicFrame>
        <p:nvGraphicFramePr>
          <p:cNvPr id="6" name="对象 5">
            <a:extLst>
              <a:ext uri="{FF2B5EF4-FFF2-40B4-BE49-F238E27FC236}">
                <a16:creationId xmlns:a16="http://schemas.microsoft.com/office/drawing/2014/main" id="{CC2D572F-6668-8990-B26F-0752A92C3590}"/>
              </a:ext>
            </a:extLst>
          </p:cNvPr>
          <p:cNvGraphicFramePr>
            <a:graphicFrameLocks noChangeAspect="1"/>
          </p:cNvGraphicFramePr>
          <p:nvPr>
            <p:extLst>
              <p:ext uri="{D42A27DB-BD31-4B8C-83A1-F6EECF244321}">
                <p14:modId xmlns:p14="http://schemas.microsoft.com/office/powerpoint/2010/main" val="4075063174"/>
              </p:ext>
            </p:extLst>
          </p:nvPr>
        </p:nvGraphicFramePr>
        <p:xfrm>
          <a:off x="2337421" y="4149080"/>
          <a:ext cx="5030789" cy="1017463"/>
        </p:xfrm>
        <a:graphic>
          <a:graphicData uri="http://schemas.openxmlformats.org/presentationml/2006/ole">
            <mc:AlternateContent xmlns:mc="http://schemas.openxmlformats.org/markup-compatibility/2006">
              <mc:Choice xmlns:v="urn:schemas-microsoft-com:vml" Requires="v">
                <p:oleObj name="Equation" r:id="rId2" imgW="1130040" imgH="228600" progId="Equation.DSMT4">
                  <p:embed/>
                </p:oleObj>
              </mc:Choice>
              <mc:Fallback>
                <p:oleObj name="Equation" r:id="rId2" imgW="1130040" imgH="228600" progId="Equation.DSMT4">
                  <p:embed/>
                  <p:pic>
                    <p:nvPicPr>
                      <p:cNvPr id="0" name=""/>
                      <p:cNvPicPr/>
                      <p:nvPr/>
                    </p:nvPicPr>
                    <p:blipFill>
                      <a:blip r:embed="rId3"/>
                      <a:stretch>
                        <a:fillRect/>
                      </a:stretch>
                    </p:blipFill>
                    <p:spPr>
                      <a:xfrm>
                        <a:off x="2337421" y="4149080"/>
                        <a:ext cx="5030789" cy="1017463"/>
                      </a:xfrm>
                      <a:prstGeom prst="rect">
                        <a:avLst/>
                      </a:prstGeom>
                    </p:spPr>
                  </p:pic>
                </p:oleObj>
              </mc:Fallback>
            </mc:AlternateContent>
          </a:graphicData>
        </a:graphic>
      </p:graphicFrame>
    </p:spTree>
    <p:extLst>
      <p:ext uri="{BB962C8B-B14F-4D97-AF65-F5344CB8AC3E}">
        <p14:creationId xmlns:p14="http://schemas.microsoft.com/office/powerpoint/2010/main" val="74405692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4" fill="hold" nodeType="with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down)">
                                      <p:cBhvr>
                                        <p:cTn id="7" dur="500"/>
                                        <p:tgtEl>
                                          <p:spTgt spid="3">
                                            <p:txEl>
                                              <p:pRg st="0" end="0"/>
                                            </p:txEl>
                                          </p:spTgt>
                                        </p:tgtEl>
                                      </p:cBhvr>
                                    </p:animEffect>
                                  </p:childTnLst>
                                </p:cTn>
                              </p:par>
                              <p:par>
                                <p:cTn id="8" presetID="22" presetClass="entr" presetSubtype="4" fill="hold" nodeType="withEffect">
                                  <p:stCondLst>
                                    <p:cond delay="0"/>
                                  </p:stCondLst>
                                  <p:childTnLst>
                                    <p:set>
                                      <p:cBhvr>
                                        <p:cTn id="9" dur="1" fill="hold">
                                          <p:stCondLst>
                                            <p:cond delay="0"/>
                                          </p:stCondLst>
                                        </p:cTn>
                                        <p:tgtEl>
                                          <p:spTgt spid="3">
                                            <p:txEl>
                                              <p:pRg st="1" end="1"/>
                                            </p:txEl>
                                          </p:spTgt>
                                        </p:tgtEl>
                                        <p:attrNameLst>
                                          <p:attrName>style.visibility</p:attrName>
                                        </p:attrNameLst>
                                      </p:cBhvr>
                                      <p:to>
                                        <p:strVal val="visible"/>
                                      </p:to>
                                    </p:set>
                                    <p:animEffect transition="in" filter="wipe(down)">
                                      <p:cBhvr>
                                        <p:cTn id="10" dur="500"/>
                                        <p:tgtEl>
                                          <p:spTgt spid="3">
                                            <p:txEl>
                                              <p:pRg st="1" end="1"/>
                                            </p:txEl>
                                          </p:spTgt>
                                        </p:tgtEl>
                                      </p:cBhvr>
                                    </p:animEffect>
                                  </p:childTnLst>
                                </p:cTn>
                              </p:par>
                              <p:par>
                                <p:cTn id="11" presetID="22" presetClass="entr" presetSubtype="4" fill="hold" nodeType="with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animEffect transition="in" filter="wipe(down)">
                                      <p:cBhvr>
                                        <p:cTn id="13" dur="500"/>
                                        <p:tgtEl>
                                          <p:spTgt spid="3">
                                            <p:txEl>
                                              <p:pRg st="2" end="2"/>
                                            </p:txEl>
                                          </p:spTgt>
                                        </p:tgtEl>
                                      </p:cBhvr>
                                    </p:animEffect>
                                  </p:childTnLst>
                                </p:cTn>
                              </p:par>
                              <p:par>
                                <p:cTn id="14" presetID="22" presetClass="entr" presetSubtype="4" fill="hold" nodeType="withEffect">
                                  <p:stCondLst>
                                    <p:cond delay="0"/>
                                  </p:stCondLst>
                                  <p:childTnLst>
                                    <p:set>
                                      <p:cBhvr>
                                        <p:cTn id="15" dur="1" fill="hold">
                                          <p:stCondLst>
                                            <p:cond delay="0"/>
                                          </p:stCondLst>
                                        </p:cTn>
                                        <p:tgtEl>
                                          <p:spTgt spid="3">
                                            <p:txEl>
                                              <p:pRg st="3" end="3"/>
                                            </p:txEl>
                                          </p:spTgt>
                                        </p:tgtEl>
                                        <p:attrNameLst>
                                          <p:attrName>style.visibility</p:attrName>
                                        </p:attrNameLst>
                                      </p:cBhvr>
                                      <p:to>
                                        <p:strVal val="visible"/>
                                      </p:to>
                                    </p:set>
                                    <p:animEffect transition="in" filter="wipe(down)">
                                      <p:cBhvr>
                                        <p:cTn id="16" dur="500"/>
                                        <p:tgtEl>
                                          <p:spTgt spid="3">
                                            <p:txEl>
                                              <p:pRg st="3" end="3"/>
                                            </p:txEl>
                                          </p:spTgt>
                                        </p:tgtEl>
                                      </p:cBhvr>
                                    </p:animEffect>
                                  </p:childTnLst>
                                </p:cTn>
                              </p:par>
                              <p:par>
                                <p:cTn id="17" presetID="22" presetClass="entr" presetSubtype="4" fill="hold" nodeType="withEffect">
                                  <p:stCondLst>
                                    <p:cond delay="0"/>
                                  </p:stCondLst>
                                  <p:childTnLst>
                                    <p:set>
                                      <p:cBhvr>
                                        <p:cTn id="18" dur="1" fill="hold">
                                          <p:stCondLst>
                                            <p:cond delay="0"/>
                                          </p:stCondLst>
                                        </p:cTn>
                                        <p:tgtEl>
                                          <p:spTgt spid="3">
                                            <p:txEl>
                                              <p:pRg st="6" end="6"/>
                                            </p:txEl>
                                          </p:spTgt>
                                        </p:tgtEl>
                                        <p:attrNameLst>
                                          <p:attrName>style.visibility</p:attrName>
                                        </p:attrNameLst>
                                      </p:cBhvr>
                                      <p:to>
                                        <p:strVal val="visible"/>
                                      </p:to>
                                    </p:set>
                                    <p:animEffect transition="in" filter="wipe(down)">
                                      <p:cBhvr>
                                        <p:cTn id="19" dur="500"/>
                                        <p:tgtEl>
                                          <p:spTgt spid="3">
                                            <p:txEl>
                                              <p:pRg st="6" end="6"/>
                                            </p:txEl>
                                          </p:spTgt>
                                        </p:tgtEl>
                                      </p:cBhvr>
                                    </p:animEffect>
                                  </p:childTnLst>
                                </p:cTn>
                              </p:par>
                              <p:par>
                                <p:cTn id="20" presetID="16" presetClass="entr" presetSubtype="21" fill="hold" nodeType="withEffect">
                                  <p:stCondLst>
                                    <p:cond delay="0"/>
                                  </p:stCondLst>
                                  <p:childTnLst>
                                    <p:set>
                                      <p:cBhvr>
                                        <p:cTn id="21" dur="1" fill="hold">
                                          <p:stCondLst>
                                            <p:cond delay="0"/>
                                          </p:stCondLst>
                                        </p:cTn>
                                        <p:tgtEl>
                                          <p:spTgt spid="6"/>
                                        </p:tgtEl>
                                        <p:attrNameLst>
                                          <p:attrName>style.visibility</p:attrName>
                                        </p:attrNameLst>
                                      </p:cBhvr>
                                      <p:to>
                                        <p:strVal val="visible"/>
                                      </p:to>
                                    </p:set>
                                    <p:animEffect transition="in" filter="barn(inVertical)">
                                      <p:cBhvr>
                                        <p:cTn id="22"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6E55D54-6594-4DBF-8000-509CAF209899}"/>
              </a:ext>
            </a:extLst>
          </p:cNvPr>
          <p:cNvSpPr>
            <a:spLocks noGrp="1"/>
          </p:cNvSpPr>
          <p:nvPr>
            <p:ph type="title"/>
          </p:nvPr>
        </p:nvSpPr>
        <p:spPr/>
        <p:txBody>
          <a:bodyPr/>
          <a:lstStyle/>
          <a:p>
            <a:r>
              <a:rPr lang="zh-CN" altLang="en-US" dirty="0"/>
              <a:t>组合优化问题</a:t>
            </a:r>
          </a:p>
        </p:txBody>
      </p:sp>
      <p:sp>
        <p:nvSpPr>
          <p:cNvPr id="3" name="内容占位符 2">
            <a:extLst>
              <a:ext uri="{FF2B5EF4-FFF2-40B4-BE49-F238E27FC236}">
                <a16:creationId xmlns:a16="http://schemas.microsoft.com/office/drawing/2014/main" id="{02EE64AB-5EA0-4EA5-B208-E7A1820B205A}"/>
              </a:ext>
            </a:extLst>
          </p:cNvPr>
          <p:cNvSpPr>
            <a:spLocks noGrp="1"/>
          </p:cNvSpPr>
          <p:nvPr>
            <p:ph idx="1"/>
          </p:nvPr>
        </p:nvSpPr>
        <p:spPr/>
        <p:txBody>
          <a:bodyPr/>
          <a:lstStyle/>
          <a:p>
            <a:r>
              <a:rPr lang="zh-CN" altLang="en-US" dirty="0"/>
              <a:t>计算复杂性理论</a:t>
            </a:r>
            <a:endParaRPr lang="en-US" altLang="zh-CN" dirty="0"/>
          </a:p>
          <a:p>
            <a:pPr lvl="1"/>
            <a:r>
              <a:rPr lang="en-US" altLang="zh-CN" dirty="0"/>
              <a:t>P</a:t>
            </a:r>
            <a:r>
              <a:rPr lang="zh-CN" altLang="en-US" dirty="0"/>
              <a:t>问题（</a:t>
            </a:r>
            <a:r>
              <a:rPr lang="en-US" altLang="zh-CN" dirty="0"/>
              <a:t>Polynomial Problems</a:t>
            </a:r>
            <a:r>
              <a:rPr lang="zh-CN" altLang="en-US" dirty="0"/>
              <a:t>）指的是存在一个多项式时间算法的求解问题</a:t>
            </a:r>
            <a:endParaRPr lang="en-US" altLang="zh-CN" dirty="0"/>
          </a:p>
          <a:p>
            <a:pPr lvl="1"/>
            <a:r>
              <a:rPr lang="en-US" altLang="zh-CN" dirty="0"/>
              <a:t>NP</a:t>
            </a:r>
            <a:r>
              <a:rPr lang="zh-CN" altLang="en-US" dirty="0"/>
              <a:t>问题（</a:t>
            </a:r>
            <a:r>
              <a:rPr lang="en-US" altLang="zh-CN" dirty="0"/>
              <a:t>Non-Deterministic Polynomial Problems</a:t>
            </a:r>
            <a:r>
              <a:rPr lang="zh-CN" altLang="en-US" dirty="0"/>
              <a:t>）指的是可以在多项式时间内</a:t>
            </a:r>
            <a:r>
              <a:rPr lang="zh-CN" altLang="en-US" dirty="0">
                <a:solidFill>
                  <a:srgbClr val="FF0000"/>
                </a:solidFill>
              </a:rPr>
              <a:t>验证</a:t>
            </a:r>
            <a:r>
              <a:rPr lang="zh-CN" altLang="en-US" dirty="0"/>
              <a:t>它的解是否正确的问题</a:t>
            </a:r>
            <a:endParaRPr lang="en-US" altLang="zh-CN" dirty="0"/>
          </a:p>
          <a:p>
            <a:pPr lvl="1"/>
            <a:r>
              <a:rPr lang="en-US" altLang="zh-CN" dirty="0"/>
              <a:t>P </a:t>
            </a:r>
            <a:r>
              <a:rPr lang="zh-CN" altLang="en-US" dirty="0"/>
              <a:t>问题一定是一个</a:t>
            </a:r>
            <a:r>
              <a:rPr lang="en-US" altLang="zh-CN" dirty="0"/>
              <a:t>NP</a:t>
            </a:r>
            <a:r>
              <a:rPr lang="zh-CN" altLang="en-US" dirty="0"/>
              <a:t>问题，反之不一定</a:t>
            </a:r>
            <a:endParaRPr lang="en-US" altLang="zh-CN" dirty="0"/>
          </a:p>
          <a:p>
            <a:pPr lvl="2"/>
            <a:r>
              <a:rPr lang="en-US" altLang="zh-CN" dirty="0"/>
              <a:t>P=NP</a:t>
            </a:r>
            <a:r>
              <a:rPr lang="zh-CN" altLang="en-US" dirty="0"/>
              <a:t>？是一个未解之谜</a:t>
            </a:r>
            <a:endParaRPr lang="en-US" altLang="zh-CN" dirty="0"/>
          </a:p>
          <a:p>
            <a:pPr lvl="2"/>
            <a:endParaRPr lang="en-US" altLang="zh-CN" dirty="0"/>
          </a:p>
        </p:txBody>
      </p:sp>
      <p:sp>
        <p:nvSpPr>
          <p:cNvPr id="4" name="日期占位符 3">
            <a:extLst>
              <a:ext uri="{FF2B5EF4-FFF2-40B4-BE49-F238E27FC236}">
                <a16:creationId xmlns:a16="http://schemas.microsoft.com/office/drawing/2014/main" id="{399B67D9-4062-47A5-8CB8-9EF4CFDDDD42}"/>
              </a:ext>
            </a:extLst>
          </p:cNvPr>
          <p:cNvSpPr>
            <a:spLocks noGrp="1"/>
          </p:cNvSpPr>
          <p:nvPr>
            <p:ph type="dt" sz="half" idx="10"/>
          </p:nvPr>
        </p:nvSpPr>
        <p:spPr/>
        <p:txBody>
          <a:bodyPr/>
          <a:lstStyle/>
          <a:p>
            <a:fld id="{A8B06C41-1E1E-4B9B-9644-5AFB8CB2AB3B}" type="datetime3">
              <a:rPr lang="zh-CN" altLang="en-US" smtClean="0"/>
              <a:t>2022年11月24日星期四</a:t>
            </a:fld>
            <a:endParaRPr lang="en-US" altLang="zh-CN" dirty="0"/>
          </a:p>
        </p:txBody>
      </p:sp>
      <p:sp>
        <p:nvSpPr>
          <p:cNvPr id="5" name="灯片编号占位符 4">
            <a:extLst>
              <a:ext uri="{FF2B5EF4-FFF2-40B4-BE49-F238E27FC236}">
                <a16:creationId xmlns:a16="http://schemas.microsoft.com/office/drawing/2014/main" id="{FEDD5887-75C1-40CA-BC81-460C1685CA7B}"/>
              </a:ext>
            </a:extLst>
          </p:cNvPr>
          <p:cNvSpPr>
            <a:spLocks noGrp="1"/>
          </p:cNvSpPr>
          <p:nvPr>
            <p:ph type="sldNum" sz="quarter" idx="12"/>
          </p:nvPr>
        </p:nvSpPr>
        <p:spPr/>
        <p:txBody>
          <a:bodyPr/>
          <a:lstStyle/>
          <a:p>
            <a:fld id="{7AC79822-BC0D-4DE8-A7E5-90A3732A2B82}" type="slidenum">
              <a:rPr lang="zh-CN" altLang="en-US" smtClean="0"/>
              <a:pPr/>
              <a:t>7</a:t>
            </a:fld>
            <a:endParaRPr lang="en-US" altLang="zh-CN" dirty="0"/>
          </a:p>
        </p:txBody>
      </p:sp>
    </p:spTree>
    <p:extLst>
      <p:ext uri="{BB962C8B-B14F-4D97-AF65-F5344CB8AC3E}">
        <p14:creationId xmlns:p14="http://schemas.microsoft.com/office/powerpoint/2010/main" val="8661165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4" fill="hold" nodeType="with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wipe(down)">
                                      <p:cBhvr>
                                        <p:cTn id="7" dur="500"/>
                                        <p:tgtEl>
                                          <p:spTgt spid="3">
                                            <p:txEl>
                                              <p:pRg st="1" end="1"/>
                                            </p:txEl>
                                          </p:spTgt>
                                        </p:tgtEl>
                                      </p:cBhvr>
                                    </p:animEffect>
                                  </p:childTnLst>
                                </p:cTn>
                              </p:par>
                              <p:par>
                                <p:cTn id="8" presetID="22" presetClass="entr" presetSubtype="4" fill="hold" nodeType="withEffect">
                                  <p:stCondLst>
                                    <p:cond delay="0"/>
                                  </p:stCondLst>
                                  <p:childTnLst>
                                    <p:set>
                                      <p:cBhvr>
                                        <p:cTn id="9" dur="1" fill="hold">
                                          <p:stCondLst>
                                            <p:cond delay="0"/>
                                          </p:stCondLst>
                                        </p:cTn>
                                        <p:tgtEl>
                                          <p:spTgt spid="3">
                                            <p:txEl>
                                              <p:pRg st="2" end="2"/>
                                            </p:txEl>
                                          </p:spTgt>
                                        </p:tgtEl>
                                        <p:attrNameLst>
                                          <p:attrName>style.visibility</p:attrName>
                                        </p:attrNameLst>
                                      </p:cBhvr>
                                      <p:to>
                                        <p:strVal val="visible"/>
                                      </p:to>
                                    </p:set>
                                    <p:animEffect transition="in" filter="wipe(down)">
                                      <p:cBhvr>
                                        <p:cTn id="10" dur="500"/>
                                        <p:tgtEl>
                                          <p:spTgt spid="3">
                                            <p:txEl>
                                              <p:pRg st="2" end="2"/>
                                            </p:txEl>
                                          </p:spTgt>
                                        </p:tgtEl>
                                      </p:cBhvr>
                                    </p:animEffect>
                                  </p:childTnLst>
                                </p:cTn>
                              </p:par>
                              <p:par>
                                <p:cTn id="11" presetID="22" presetClass="entr" presetSubtype="4" fill="hold" nodeType="with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animEffect transition="in" filter="wipe(down)">
                                      <p:cBhvr>
                                        <p:cTn id="13" dur="500"/>
                                        <p:tgtEl>
                                          <p:spTgt spid="3">
                                            <p:txEl>
                                              <p:pRg st="3" end="3"/>
                                            </p:txEl>
                                          </p:spTgt>
                                        </p:tgtEl>
                                      </p:cBhvr>
                                    </p:animEffect>
                                  </p:childTnLst>
                                </p:cTn>
                              </p:par>
                              <p:par>
                                <p:cTn id="14" presetID="22" presetClass="entr" presetSubtype="4" fill="hold" nodeType="withEffect">
                                  <p:stCondLst>
                                    <p:cond delay="0"/>
                                  </p:stCondLst>
                                  <p:childTnLst>
                                    <p:set>
                                      <p:cBhvr>
                                        <p:cTn id="15" dur="1" fill="hold">
                                          <p:stCondLst>
                                            <p:cond delay="0"/>
                                          </p:stCondLst>
                                        </p:cTn>
                                        <p:tgtEl>
                                          <p:spTgt spid="3">
                                            <p:txEl>
                                              <p:pRg st="4" end="4"/>
                                            </p:txEl>
                                          </p:spTgt>
                                        </p:tgtEl>
                                        <p:attrNameLst>
                                          <p:attrName>style.visibility</p:attrName>
                                        </p:attrNameLst>
                                      </p:cBhvr>
                                      <p:to>
                                        <p:strVal val="visible"/>
                                      </p:to>
                                    </p:set>
                                    <p:animEffect transition="in" filter="wipe(down)">
                                      <p:cBhvr>
                                        <p:cTn id="16" dur="5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6E55D54-6594-4DBF-8000-509CAF209899}"/>
              </a:ext>
            </a:extLst>
          </p:cNvPr>
          <p:cNvSpPr>
            <a:spLocks noGrp="1"/>
          </p:cNvSpPr>
          <p:nvPr>
            <p:ph type="title"/>
          </p:nvPr>
        </p:nvSpPr>
        <p:spPr/>
        <p:txBody>
          <a:bodyPr/>
          <a:lstStyle/>
          <a:p>
            <a:r>
              <a:rPr lang="zh-CN" altLang="en-US" dirty="0"/>
              <a:t>组合优化问题</a:t>
            </a:r>
          </a:p>
        </p:txBody>
      </p:sp>
      <p:sp>
        <p:nvSpPr>
          <p:cNvPr id="3" name="内容占位符 2">
            <a:extLst>
              <a:ext uri="{FF2B5EF4-FFF2-40B4-BE49-F238E27FC236}">
                <a16:creationId xmlns:a16="http://schemas.microsoft.com/office/drawing/2014/main" id="{02EE64AB-5EA0-4EA5-B208-E7A1820B205A}"/>
              </a:ext>
            </a:extLst>
          </p:cNvPr>
          <p:cNvSpPr>
            <a:spLocks noGrp="1"/>
          </p:cNvSpPr>
          <p:nvPr>
            <p:ph idx="1"/>
          </p:nvPr>
        </p:nvSpPr>
        <p:spPr/>
        <p:txBody>
          <a:bodyPr/>
          <a:lstStyle/>
          <a:p>
            <a:r>
              <a:rPr lang="zh-CN" altLang="en-US" dirty="0"/>
              <a:t>计算复杂性理论</a:t>
            </a:r>
            <a:endParaRPr lang="en-US" altLang="zh-CN" dirty="0"/>
          </a:p>
          <a:p>
            <a:pPr lvl="1"/>
            <a:r>
              <a:rPr lang="en-US" altLang="zh-CN" dirty="0"/>
              <a:t>NP-Hard</a:t>
            </a:r>
            <a:r>
              <a:rPr lang="zh-CN" altLang="en-US" dirty="0"/>
              <a:t>问题指的是所有的</a:t>
            </a:r>
            <a:r>
              <a:rPr lang="en-US" altLang="zh-CN" dirty="0"/>
              <a:t>NP</a:t>
            </a:r>
            <a:r>
              <a:rPr lang="zh-CN" altLang="en-US" dirty="0"/>
              <a:t>问题都可以在多项式时间内规约（</a:t>
            </a:r>
            <a:r>
              <a:rPr lang="en-US" altLang="zh-CN" dirty="0"/>
              <a:t>Reduce</a:t>
            </a:r>
            <a:r>
              <a:rPr lang="zh-CN" altLang="en-US" dirty="0"/>
              <a:t>）到该问题。</a:t>
            </a:r>
            <a:endParaRPr lang="en-US" altLang="zh-CN" dirty="0"/>
          </a:p>
          <a:p>
            <a:pPr lvl="1"/>
            <a:r>
              <a:rPr lang="zh-CN" altLang="en-US" dirty="0"/>
              <a:t>如果一个</a:t>
            </a:r>
            <a:r>
              <a:rPr lang="en-US" altLang="zh-CN" dirty="0"/>
              <a:t>NP-Hard</a:t>
            </a:r>
            <a:r>
              <a:rPr lang="zh-CN" altLang="en-US" dirty="0"/>
              <a:t>问题还是一个</a:t>
            </a:r>
            <a:r>
              <a:rPr lang="en-US" altLang="zh-CN" dirty="0"/>
              <a:t>NP</a:t>
            </a:r>
            <a:r>
              <a:rPr lang="zh-CN" altLang="en-US" dirty="0"/>
              <a:t>问题，则这个问题就是</a:t>
            </a:r>
            <a:r>
              <a:rPr lang="en-US" altLang="zh-CN" dirty="0"/>
              <a:t>NP-Complete</a:t>
            </a:r>
            <a:r>
              <a:rPr lang="zh-CN" altLang="en-US" dirty="0"/>
              <a:t>（</a:t>
            </a:r>
            <a:r>
              <a:rPr lang="en-US" altLang="zh-CN" dirty="0"/>
              <a:t>NPC</a:t>
            </a:r>
            <a:r>
              <a:rPr lang="zh-CN" altLang="en-US" dirty="0"/>
              <a:t>），也就是</a:t>
            </a:r>
            <a:r>
              <a:rPr lang="en-US" altLang="zh-CN" dirty="0"/>
              <a:t>NP</a:t>
            </a:r>
            <a:r>
              <a:rPr lang="zh-CN" altLang="en-US" dirty="0"/>
              <a:t>完全问题。</a:t>
            </a:r>
            <a:endParaRPr lang="en-US" altLang="zh-CN" dirty="0"/>
          </a:p>
          <a:p>
            <a:pPr lvl="1"/>
            <a:r>
              <a:rPr lang="en-US" altLang="zh-CN" dirty="0"/>
              <a:t>NPC</a:t>
            </a:r>
            <a:r>
              <a:rPr lang="zh-CN" altLang="en-US" dirty="0"/>
              <a:t>问题一定是</a:t>
            </a:r>
            <a:r>
              <a:rPr lang="en-US" altLang="zh-CN" dirty="0"/>
              <a:t>NP-Hard</a:t>
            </a:r>
            <a:r>
              <a:rPr lang="zh-CN" altLang="en-US" dirty="0"/>
              <a:t>问题，反过来不成立。</a:t>
            </a:r>
            <a:endParaRPr lang="en-US" altLang="zh-CN" dirty="0"/>
          </a:p>
          <a:p>
            <a:pPr lvl="1"/>
            <a:endParaRPr lang="zh-CN" altLang="en-US" dirty="0"/>
          </a:p>
          <a:p>
            <a:pPr lvl="2"/>
            <a:endParaRPr lang="en-US" altLang="zh-CN" dirty="0"/>
          </a:p>
        </p:txBody>
      </p:sp>
      <p:sp>
        <p:nvSpPr>
          <p:cNvPr id="4" name="日期占位符 3">
            <a:extLst>
              <a:ext uri="{FF2B5EF4-FFF2-40B4-BE49-F238E27FC236}">
                <a16:creationId xmlns:a16="http://schemas.microsoft.com/office/drawing/2014/main" id="{399B67D9-4062-47A5-8CB8-9EF4CFDDDD42}"/>
              </a:ext>
            </a:extLst>
          </p:cNvPr>
          <p:cNvSpPr>
            <a:spLocks noGrp="1"/>
          </p:cNvSpPr>
          <p:nvPr>
            <p:ph type="dt" sz="half" idx="10"/>
          </p:nvPr>
        </p:nvSpPr>
        <p:spPr/>
        <p:txBody>
          <a:bodyPr/>
          <a:lstStyle/>
          <a:p>
            <a:fld id="{A8B06C41-1E1E-4B9B-9644-5AFB8CB2AB3B}" type="datetime3">
              <a:rPr lang="zh-CN" altLang="en-US" smtClean="0"/>
              <a:t>2022年11月24日星期四</a:t>
            </a:fld>
            <a:endParaRPr lang="en-US" altLang="zh-CN" dirty="0"/>
          </a:p>
        </p:txBody>
      </p:sp>
      <p:sp>
        <p:nvSpPr>
          <p:cNvPr id="5" name="灯片编号占位符 4">
            <a:extLst>
              <a:ext uri="{FF2B5EF4-FFF2-40B4-BE49-F238E27FC236}">
                <a16:creationId xmlns:a16="http://schemas.microsoft.com/office/drawing/2014/main" id="{FEDD5887-75C1-40CA-BC81-460C1685CA7B}"/>
              </a:ext>
            </a:extLst>
          </p:cNvPr>
          <p:cNvSpPr>
            <a:spLocks noGrp="1"/>
          </p:cNvSpPr>
          <p:nvPr>
            <p:ph type="sldNum" sz="quarter" idx="12"/>
          </p:nvPr>
        </p:nvSpPr>
        <p:spPr/>
        <p:txBody>
          <a:bodyPr/>
          <a:lstStyle/>
          <a:p>
            <a:fld id="{7AC79822-BC0D-4DE8-A7E5-90A3732A2B82}" type="slidenum">
              <a:rPr lang="zh-CN" altLang="en-US" smtClean="0"/>
              <a:pPr/>
              <a:t>8</a:t>
            </a:fld>
            <a:endParaRPr lang="en-US" altLang="zh-CN" dirty="0"/>
          </a:p>
        </p:txBody>
      </p:sp>
    </p:spTree>
    <p:extLst>
      <p:ext uri="{BB962C8B-B14F-4D97-AF65-F5344CB8AC3E}">
        <p14:creationId xmlns:p14="http://schemas.microsoft.com/office/powerpoint/2010/main" val="12083550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4" fill="hold" nodeType="with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wipe(down)">
                                      <p:cBhvr>
                                        <p:cTn id="7" dur="500"/>
                                        <p:tgtEl>
                                          <p:spTgt spid="3">
                                            <p:txEl>
                                              <p:pRg st="1" end="1"/>
                                            </p:txEl>
                                          </p:spTgt>
                                        </p:tgtEl>
                                      </p:cBhvr>
                                    </p:animEffect>
                                  </p:childTnLst>
                                </p:cTn>
                              </p:par>
                              <p:par>
                                <p:cTn id="8" presetID="22" presetClass="entr" presetSubtype="4" fill="hold" nodeType="withEffect">
                                  <p:stCondLst>
                                    <p:cond delay="0"/>
                                  </p:stCondLst>
                                  <p:childTnLst>
                                    <p:set>
                                      <p:cBhvr>
                                        <p:cTn id="9" dur="1" fill="hold">
                                          <p:stCondLst>
                                            <p:cond delay="0"/>
                                          </p:stCondLst>
                                        </p:cTn>
                                        <p:tgtEl>
                                          <p:spTgt spid="3">
                                            <p:txEl>
                                              <p:pRg st="2" end="2"/>
                                            </p:txEl>
                                          </p:spTgt>
                                        </p:tgtEl>
                                        <p:attrNameLst>
                                          <p:attrName>style.visibility</p:attrName>
                                        </p:attrNameLst>
                                      </p:cBhvr>
                                      <p:to>
                                        <p:strVal val="visible"/>
                                      </p:to>
                                    </p:set>
                                    <p:animEffect transition="in" filter="wipe(down)">
                                      <p:cBhvr>
                                        <p:cTn id="10" dur="500"/>
                                        <p:tgtEl>
                                          <p:spTgt spid="3">
                                            <p:txEl>
                                              <p:pRg st="2" end="2"/>
                                            </p:txEl>
                                          </p:spTgt>
                                        </p:tgtEl>
                                      </p:cBhvr>
                                    </p:animEffect>
                                  </p:childTnLst>
                                </p:cTn>
                              </p:par>
                              <p:par>
                                <p:cTn id="11" presetID="22" presetClass="entr" presetSubtype="4" fill="hold" nodeType="with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animEffect transition="in" filter="wipe(down)">
                                      <p:cBhvr>
                                        <p:cTn id="13" dur="500"/>
                                        <p:tgtEl>
                                          <p:spTgt spid="3">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4CD4CAF-B2A1-4490-B728-ED56AA175678}"/>
              </a:ext>
            </a:extLst>
          </p:cNvPr>
          <p:cNvSpPr>
            <a:spLocks noGrp="1"/>
          </p:cNvSpPr>
          <p:nvPr>
            <p:ph type="title"/>
          </p:nvPr>
        </p:nvSpPr>
        <p:spPr/>
        <p:txBody>
          <a:bodyPr/>
          <a:lstStyle/>
          <a:p>
            <a:r>
              <a:rPr lang="zh-CN" altLang="en-US" dirty="0"/>
              <a:t>组合优化问题</a:t>
            </a:r>
          </a:p>
        </p:txBody>
      </p:sp>
      <p:sp>
        <p:nvSpPr>
          <p:cNvPr id="3" name="内容占位符 2">
            <a:extLst>
              <a:ext uri="{FF2B5EF4-FFF2-40B4-BE49-F238E27FC236}">
                <a16:creationId xmlns:a16="http://schemas.microsoft.com/office/drawing/2014/main" id="{6B52919B-436A-40A9-8FD7-3EF28EDC74C5}"/>
              </a:ext>
            </a:extLst>
          </p:cNvPr>
          <p:cNvSpPr>
            <a:spLocks noGrp="1"/>
          </p:cNvSpPr>
          <p:nvPr>
            <p:ph idx="1"/>
          </p:nvPr>
        </p:nvSpPr>
        <p:spPr/>
        <p:txBody>
          <a:bodyPr/>
          <a:lstStyle/>
          <a:p>
            <a:r>
              <a:rPr lang="en-US" altLang="zh-CN" dirty="0"/>
              <a:t>TSP</a:t>
            </a:r>
            <a:r>
              <a:rPr lang="zh-CN" altLang="en-US" dirty="0"/>
              <a:t>问题</a:t>
            </a:r>
            <a:endParaRPr lang="en-US" altLang="zh-CN" dirty="0"/>
          </a:p>
          <a:p>
            <a:pPr lvl="1"/>
            <a:r>
              <a:rPr lang="zh-CN" altLang="en-US" dirty="0"/>
              <a:t>旅行商问题，即</a:t>
            </a:r>
            <a:r>
              <a:rPr lang="en-US" altLang="zh-CN" dirty="0"/>
              <a:t>TSP</a:t>
            </a:r>
            <a:r>
              <a:rPr lang="zh-CN" altLang="en-US" dirty="0"/>
              <a:t>问题（</a:t>
            </a:r>
            <a:r>
              <a:rPr lang="en-US" altLang="zh-CN" dirty="0"/>
              <a:t>Traveling Salesman Problem</a:t>
            </a:r>
            <a:r>
              <a:rPr lang="zh-CN" altLang="en-US" dirty="0"/>
              <a:t>）。假设有一个旅行商人要拜访</a:t>
            </a:r>
            <a:r>
              <a:rPr lang="en-US" altLang="zh-CN" dirty="0"/>
              <a:t>n</a:t>
            </a:r>
            <a:r>
              <a:rPr lang="zh-CN" altLang="en-US" dirty="0"/>
              <a:t>个城市，他必须选择所要走的路径，路径的限制是每个城市只能拜访一次，而且最后要回到原来出发的城市。路径的选择目标是要求得的路径路程为所有路径之中的最小值。</a:t>
            </a:r>
          </a:p>
        </p:txBody>
      </p:sp>
      <p:sp>
        <p:nvSpPr>
          <p:cNvPr id="4" name="日期占位符 3">
            <a:extLst>
              <a:ext uri="{FF2B5EF4-FFF2-40B4-BE49-F238E27FC236}">
                <a16:creationId xmlns:a16="http://schemas.microsoft.com/office/drawing/2014/main" id="{43E04178-95CD-437B-8C63-61D74E8105A3}"/>
              </a:ext>
            </a:extLst>
          </p:cNvPr>
          <p:cNvSpPr>
            <a:spLocks noGrp="1"/>
          </p:cNvSpPr>
          <p:nvPr>
            <p:ph type="dt" sz="half" idx="10"/>
          </p:nvPr>
        </p:nvSpPr>
        <p:spPr/>
        <p:txBody>
          <a:bodyPr/>
          <a:lstStyle/>
          <a:p>
            <a:fld id="{A8B06C41-1E1E-4B9B-9644-5AFB8CB2AB3B}" type="datetime3">
              <a:rPr lang="zh-CN" altLang="en-US" smtClean="0"/>
              <a:t>2022年11月24日星期四</a:t>
            </a:fld>
            <a:endParaRPr lang="en-US" altLang="zh-CN" dirty="0"/>
          </a:p>
        </p:txBody>
      </p:sp>
      <p:sp>
        <p:nvSpPr>
          <p:cNvPr id="5" name="灯片编号占位符 4">
            <a:extLst>
              <a:ext uri="{FF2B5EF4-FFF2-40B4-BE49-F238E27FC236}">
                <a16:creationId xmlns:a16="http://schemas.microsoft.com/office/drawing/2014/main" id="{1FBCC33D-0076-477A-B893-110D593A7C2B}"/>
              </a:ext>
            </a:extLst>
          </p:cNvPr>
          <p:cNvSpPr>
            <a:spLocks noGrp="1"/>
          </p:cNvSpPr>
          <p:nvPr>
            <p:ph type="sldNum" sz="quarter" idx="12"/>
          </p:nvPr>
        </p:nvSpPr>
        <p:spPr/>
        <p:txBody>
          <a:bodyPr/>
          <a:lstStyle/>
          <a:p>
            <a:fld id="{7AC79822-BC0D-4DE8-A7E5-90A3732A2B82}" type="slidenum">
              <a:rPr lang="zh-CN" altLang="en-US" smtClean="0"/>
              <a:pPr/>
              <a:t>9</a:t>
            </a:fld>
            <a:endParaRPr lang="en-US" altLang="zh-CN" dirty="0"/>
          </a:p>
        </p:txBody>
      </p:sp>
    </p:spTree>
    <p:extLst>
      <p:ext uri="{BB962C8B-B14F-4D97-AF65-F5344CB8AC3E}">
        <p14:creationId xmlns:p14="http://schemas.microsoft.com/office/powerpoint/2010/main" val="245875148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4" fill="hold" nodeType="with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wipe(down)">
                                      <p:cBhvr>
                                        <p:cTn id="7" dur="500"/>
                                        <p:tgtEl>
                                          <p:spTgt spid="3">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4CD4CAF-B2A1-4490-B728-ED56AA175678}"/>
              </a:ext>
            </a:extLst>
          </p:cNvPr>
          <p:cNvSpPr>
            <a:spLocks noGrp="1"/>
          </p:cNvSpPr>
          <p:nvPr>
            <p:ph type="title"/>
          </p:nvPr>
        </p:nvSpPr>
        <p:spPr/>
        <p:txBody>
          <a:bodyPr/>
          <a:lstStyle/>
          <a:p>
            <a:r>
              <a:rPr lang="zh-CN" altLang="en-US" dirty="0"/>
              <a:t>组合优化问题</a:t>
            </a:r>
          </a:p>
        </p:txBody>
      </p:sp>
      <p:sp>
        <p:nvSpPr>
          <p:cNvPr id="3" name="内容占位符 2">
            <a:extLst>
              <a:ext uri="{FF2B5EF4-FFF2-40B4-BE49-F238E27FC236}">
                <a16:creationId xmlns:a16="http://schemas.microsoft.com/office/drawing/2014/main" id="{6B52919B-436A-40A9-8FD7-3EF28EDC74C5}"/>
              </a:ext>
            </a:extLst>
          </p:cNvPr>
          <p:cNvSpPr>
            <a:spLocks noGrp="1"/>
          </p:cNvSpPr>
          <p:nvPr>
            <p:ph idx="1"/>
          </p:nvPr>
        </p:nvSpPr>
        <p:spPr/>
        <p:txBody>
          <a:bodyPr/>
          <a:lstStyle/>
          <a:p>
            <a:r>
              <a:rPr lang="en-US" altLang="zh-CN" dirty="0"/>
              <a:t>TSP</a:t>
            </a:r>
            <a:r>
              <a:rPr lang="zh-CN" altLang="en-US" dirty="0"/>
              <a:t>问题</a:t>
            </a:r>
            <a:endParaRPr lang="en-US" altLang="zh-CN" dirty="0"/>
          </a:p>
          <a:p>
            <a:pPr lvl="1"/>
            <a:r>
              <a:rPr lang="en-US" altLang="zh-CN" dirty="0"/>
              <a:t>TSP</a:t>
            </a:r>
            <a:r>
              <a:rPr lang="zh-CN" altLang="en-US" dirty="0"/>
              <a:t>问题已经被证明是一个</a:t>
            </a:r>
            <a:r>
              <a:rPr lang="en-US" altLang="zh-CN" dirty="0"/>
              <a:t>NPC</a:t>
            </a:r>
            <a:r>
              <a:rPr lang="zh-CN" altLang="en-US" dirty="0"/>
              <a:t>问题。</a:t>
            </a:r>
            <a:endParaRPr lang="en-US" altLang="zh-CN" dirty="0"/>
          </a:p>
          <a:p>
            <a:pPr lvl="1"/>
            <a:r>
              <a:rPr lang="en-US" altLang="zh-CN" dirty="0"/>
              <a:t>TSP</a:t>
            </a:r>
            <a:r>
              <a:rPr lang="zh-CN" altLang="en-US" dirty="0"/>
              <a:t>问题的优化模型描述为：</a:t>
            </a:r>
            <a:endParaRPr lang="en-US" altLang="zh-CN" dirty="0"/>
          </a:p>
          <a:p>
            <a:pPr lvl="2"/>
            <a:r>
              <a:rPr lang="zh-CN" altLang="en-US" dirty="0"/>
              <a:t>目标：走过的路径最小化</a:t>
            </a:r>
            <a:endParaRPr lang="en-US" altLang="zh-CN" dirty="0"/>
          </a:p>
          <a:p>
            <a:pPr lvl="2"/>
            <a:r>
              <a:rPr lang="zh-CN" altLang="en-US" dirty="0"/>
              <a:t>约束：</a:t>
            </a:r>
            <a:endParaRPr lang="en-US" altLang="zh-CN" dirty="0"/>
          </a:p>
          <a:p>
            <a:pPr lvl="3"/>
            <a:r>
              <a:rPr lang="en-US" altLang="zh-CN" dirty="0"/>
              <a:t>1. </a:t>
            </a:r>
            <a:r>
              <a:rPr lang="zh-CN" altLang="en-US" dirty="0"/>
              <a:t>一个城市只能走一次</a:t>
            </a:r>
            <a:endParaRPr lang="en-US" altLang="zh-CN" dirty="0"/>
          </a:p>
          <a:p>
            <a:pPr lvl="3"/>
            <a:r>
              <a:rPr lang="en-US" altLang="zh-CN" dirty="0"/>
              <a:t>2. </a:t>
            </a:r>
            <a:r>
              <a:rPr lang="zh-CN" altLang="en-US" dirty="0"/>
              <a:t>出发点和终点是相同的</a:t>
            </a:r>
            <a:endParaRPr lang="en-US" altLang="zh-CN" dirty="0"/>
          </a:p>
          <a:p>
            <a:pPr lvl="3"/>
            <a:r>
              <a:rPr lang="en-US" altLang="zh-CN" dirty="0"/>
              <a:t>3. </a:t>
            </a:r>
            <a:r>
              <a:rPr lang="zh-CN" altLang="en-US" dirty="0"/>
              <a:t>所有城市都需要走一遍</a:t>
            </a:r>
          </a:p>
        </p:txBody>
      </p:sp>
      <p:sp>
        <p:nvSpPr>
          <p:cNvPr id="4" name="日期占位符 3">
            <a:extLst>
              <a:ext uri="{FF2B5EF4-FFF2-40B4-BE49-F238E27FC236}">
                <a16:creationId xmlns:a16="http://schemas.microsoft.com/office/drawing/2014/main" id="{43E04178-95CD-437B-8C63-61D74E8105A3}"/>
              </a:ext>
            </a:extLst>
          </p:cNvPr>
          <p:cNvSpPr>
            <a:spLocks noGrp="1"/>
          </p:cNvSpPr>
          <p:nvPr>
            <p:ph type="dt" sz="half" idx="10"/>
          </p:nvPr>
        </p:nvSpPr>
        <p:spPr/>
        <p:txBody>
          <a:bodyPr/>
          <a:lstStyle/>
          <a:p>
            <a:fld id="{A8B06C41-1E1E-4B9B-9644-5AFB8CB2AB3B}" type="datetime3">
              <a:rPr lang="zh-CN" altLang="en-US" smtClean="0"/>
              <a:t>2022年11月24日星期四</a:t>
            </a:fld>
            <a:endParaRPr lang="en-US" altLang="zh-CN" dirty="0"/>
          </a:p>
        </p:txBody>
      </p:sp>
      <p:sp>
        <p:nvSpPr>
          <p:cNvPr id="5" name="灯片编号占位符 4">
            <a:extLst>
              <a:ext uri="{FF2B5EF4-FFF2-40B4-BE49-F238E27FC236}">
                <a16:creationId xmlns:a16="http://schemas.microsoft.com/office/drawing/2014/main" id="{1FBCC33D-0076-477A-B893-110D593A7C2B}"/>
              </a:ext>
            </a:extLst>
          </p:cNvPr>
          <p:cNvSpPr>
            <a:spLocks noGrp="1"/>
          </p:cNvSpPr>
          <p:nvPr>
            <p:ph type="sldNum" sz="quarter" idx="12"/>
          </p:nvPr>
        </p:nvSpPr>
        <p:spPr/>
        <p:txBody>
          <a:bodyPr/>
          <a:lstStyle/>
          <a:p>
            <a:fld id="{7AC79822-BC0D-4DE8-A7E5-90A3732A2B82}" type="slidenum">
              <a:rPr lang="zh-CN" altLang="en-US" smtClean="0"/>
              <a:pPr/>
              <a:t>10</a:t>
            </a:fld>
            <a:endParaRPr lang="en-US" altLang="zh-CN" dirty="0"/>
          </a:p>
        </p:txBody>
      </p:sp>
    </p:spTree>
    <p:extLst>
      <p:ext uri="{BB962C8B-B14F-4D97-AF65-F5344CB8AC3E}">
        <p14:creationId xmlns:p14="http://schemas.microsoft.com/office/powerpoint/2010/main" val="120346106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6" presetClass="entr" presetSubtype="21" fill="hold" nodeType="with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barn(inVertical)">
                                      <p:cBhvr>
                                        <p:cTn id="7" dur="500"/>
                                        <p:tgtEl>
                                          <p:spTgt spid="3">
                                            <p:txEl>
                                              <p:pRg st="1" end="1"/>
                                            </p:txEl>
                                          </p:spTgt>
                                        </p:tgtEl>
                                      </p:cBhvr>
                                    </p:animEffect>
                                  </p:childTnLst>
                                </p:cTn>
                              </p:par>
                              <p:par>
                                <p:cTn id="8" presetID="16" presetClass="entr" presetSubtype="21" fill="hold" nodeType="withEffect">
                                  <p:stCondLst>
                                    <p:cond delay="0"/>
                                  </p:stCondLst>
                                  <p:childTnLst>
                                    <p:set>
                                      <p:cBhvr>
                                        <p:cTn id="9" dur="1" fill="hold">
                                          <p:stCondLst>
                                            <p:cond delay="0"/>
                                          </p:stCondLst>
                                        </p:cTn>
                                        <p:tgtEl>
                                          <p:spTgt spid="3">
                                            <p:txEl>
                                              <p:pRg st="2" end="2"/>
                                            </p:txEl>
                                          </p:spTgt>
                                        </p:tgtEl>
                                        <p:attrNameLst>
                                          <p:attrName>style.visibility</p:attrName>
                                        </p:attrNameLst>
                                      </p:cBhvr>
                                      <p:to>
                                        <p:strVal val="visible"/>
                                      </p:to>
                                    </p:set>
                                    <p:animEffect transition="in" filter="barn(inVertical)">
                                      <p:cBhvr>
                                        <p:cTn id="10" dur="500"/>
                                        <p:tgtEl>
                                          <p:spTgt spid="3">
                                            <p:txEl>
                                              <p:pRg st="2" end="2"/>
                                            </p:txEl>
                                          </p:spTgt>
                                        </p:tgtEl>
                                      </p:cBhvr>
                                    </p:animEffect>
                                  </p:childTnLst>
                                </p:cTn>
                              </p:par>
                              <p:par>
                                <p:cTn id="11" presetID="16" presetClass="entr" presetSubtype="21" fill="hold" nodeType="with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animEffect transition="in" filter="barn(inVertical)">
                                      <p:cBhvr>
                                        <p:cTn id="13" dur="500"/>
                                        <p:tgtEl>
                                          <p:spTgt spid="3">
                                            <p:txEl>
                                              <p:pRg st="3" end="3"/>
                                            </p:txEl>
                                          </p:spTgt>
                                        </p:tgtEl>
                                      </p:cBhvr>
                                    </p:animEffect>
                                  </p:childTnLst>
                                </p:cTn>
                              </p:par>
                              <p:par>
                                <p:cTn id="14" presetID="16" presetClass="entr" presetSubtype="21" fill="hold" nodeType="withEffect">
                                  <p:stCondLst>
                                    <p:cond delay="0"/>
                                  </p:stCondLst>
                                  <p:childTnLst>
                                    <p:set>
                                      <p:cBhvr>
                                        <p:cTn id="15" dur="1" fill="hold">
                                          <p:stCondLst>
                                            <p:cond delay="0"/>
                                          </p:stCondLst>
                                        </p:cTn>
                                        <p:tgtEl>
                                          <p:spTgt spid="3">
                                            <p:txEl>
                                              <p:pRg st="4" end="4"/>
                                            </p:txEl>
                                          </p:spTgt>
                                        </p:tgtEl>
                                        <p:attrNameLst>
                                          <p:attrName>style.visibility</p:attrName>
                                        </p:attrNameLst>
                                      </p:cBhvr>
                                      <p:to>
                                        <p:strVal val="visible"/>
                                      </p:to>
                                    </p:set>
                                    <p:animEffect transition="in" filter="barn(inVertical)">
                                      <p:cBhvr>
                                        <p:cTn id="16" dur="500"/>
                                        <p:tgtEl>
                                          <p:spTgt spid="3">
                                            <p:txEl>
                                              <p:pRg st="4" end="4"/>
                                            </p:txEl>
                                          </p:spTgt>
                                        </p:tgtEl>
                                      </p:cBhvr>
                                    </p:animEffect>
                                  </p:childTnLst>
                                </p:cTn>
                              </p:par>
                              <p:par>
                                <p:cTn id="17" presetID="16" presetClass="entr" presetSubtype="21" fill="hold" nodeType="withEffect">
                                  <p:stCondLst>
                                    <p:cond delay="0"/>
                                  </p:stCondLst>
                                  <p:childTnLst>
                                    <p:set>
                                      <p:cBhvr>
                                        <p:cTn id="18" dur="1" fill="hold">
                                          <p:stCondLst>
                                            <p:cond delay="0"/>
                                          </p:stCondLst>
                                        </p:cTn>
                                        <p:tgtEl>
                                          <p:spTgt spid="3">
                                            <p:txEl>
                                              <p:pRg st="5" end="5"/>
                                            </p:txEl>
                                          </p:spTgt>
                                        </p:tgtEl>
                                        <p:attrNameLst>
                                          <p:attrName>style.visibility</p:attrName>
                                        </p:attrNameLst>
                                      </p:cBhvr>
                                      <p:to>
                                        <p:strVal val="visible"/>
                                      </p:to>
                                    </p:set>
                                    <p:animEffect transition="in" filter="barn(inVertical)">
                                      <p:cBhvr>
                                        <p:cTn id="19" dur="500"/>
                                        <p:tgtEl>
                                          <p:spTgt spid="3">
                                            <p:txEl>
                                              <p:pRg st="5" end="5"/>
                                            </p:txEl>
                                          </p:spTgt>
                                        </p:tgtEl>
                                      </p:cBhvr>
                                    </p:animEffect>
                                  </p:childTnLst>
                                </p:cTn>
                              </p:par>
                              <p:par>
                                <p:cTn id="20" presetID="16" presetClass="entr" presetSubtype="21" fill="hold" nodeType="withEffect">
                                  <p:stCondLst>
                                    <p:cond delay="0"/>
                                  </p:stCondLst>
                                  <p:childTnLst>
                                    <p:set>
                                      <p:cBhvr>
                                        <p:cTn id="21" dur="1" fill="hold">
                                          <p:stCondLst>
                                            <p:cond delay="0"/>
                                          </p:stCondLst>
                                        </p:cTn>
                                        <p:tgtEl>
                                          <p:spTgt spid="3">
                                            <p:txEl>
                                              <p:pRg st="6" end="6"/>
                                            </p:txEl>
                                          </p:spTgt>
                                        </p:tgtEl>
                                        <p:attrNameLst>
                                          <p:attrName>style.visibility</p:attrName>
                                        </p:attrNameLst>
                                      </p:cBhvr>
                                      <p:to>
                                        <p:strVal val="visible"/>
                                      </p:to>
                                    </p:set>
                                    <p:animEffect transition="in" filter="barn(inVertical)">
                                      <p:cBhvr>
                                        <p:cTn id="22" dur="500"/>
                                        <p:tgtEl>
                                          <p:spTgt spid="3">
                                            <p:txEl>
                                              <p:pRg st="6" end="6"/>
                                            </p:txEl>
                                          </p:spTgt>
                                        </p:tgtEl>
                                      </p:cBhvr>
                                    </p:animEffect>
                                  </p:childTnLst>
                                </p:cTn>
                              </p:par>
                              <p:par>
                                <p:cTn id="23" presetID="16" presetClass="entr" presetSubtype="21" fill="hold" nodeType="withEffect">
                                  <p:stCondLst>
                                    <p:cond delay="0"/>
                                  </p:stCondLst>
                                  <p:childTnLst>
                                    <p:set>
                                      <p:cBhvr>
                                        <p:cTn id="24" dur="1" fill="hold">
                                          <p:stCondLst>
                                            <p:cond delay="0"/>
                                          </p:stCondLst>
                                        </p:cTn>
                                        <p:tgtEl>
                                          <p:spTgt spid="3">
                                            <p:txEl>
                                              <p:pRg st="7" end="7"/>
                                            </p:txEl>
                                          </p:spTgt>
                                        </p:tgtEl>
                                        <p:attrNameLst>
                                          <p:attrName>style.visibility</p:attrName>
                                        </p:attrNameLst>
                                      </p:cBhvr>
                                      <p:to>
                                        <p:strVal val="visible"/>
                                      </p:to>
                                    </p:set>
                                    <p:animEffect transition="in" filter="barn(inVertical)">
                                      <p:cBhvr>
                                        <p:cTn id="25" dur="500"/>
                                        <p:tgtEl>
                                          <p:spTgt spid="3">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4CD4CAF-B2A1-4490-B728-ED56AA175678}"/>
              </a:ext>
            </a:extLst>
          </p:cNvPr>
          <p:cNvSpPr>
            <a:spLocks noGrp="1"/>
          </p:cNvSpPr>
          <p:nvPr>
            <p:ph type="title"/>
          </p:nvPr>
        </p:nvSpPr>
        <p:spPr/>
        <p:txBody>
          <a:bodyPr/>
          <a:lstStyle/>
          <a:p>
            <a:r>
              <a:rPr lang="zh-CN" altLang="en-US" dirty="0"/>
              <a:t>组合优化问题</a:t>
            </a:r>
          </a:p>
        </p:txBody>
      </p:sp>
      <p:sp>
        <p:nvSpPr>
          <p:cNvPr id="3" name="内容占位符 2">
            <a:extLst>
              <a:ext uri="{FF2B5EF4-FFF2-40B4-BE49-F238E27FC236}">
                <a16:creationId xmlns:a16="http://schemas.microsoft.com/office/drawing/2014/main" id="{6B52919B-436A-40A9-8FD7-3EF28EDC74C5}"/>
              </a:ext>
            </a:extLst>
          </p:cNvPr>
          <p:cNvSpPr>
            <a:spLocks noGrp="1"/>
          </p:cNvSpPr>
          <p:nvPr>
            <p:ph idx="1"/>
          </p:nvPr>
        </p:nvSpPr>
        <p:spPr/>
        <p:txBody>
          <a:bodyPr/>
          <a:lstStyle/>
          <a:p>
            <a:r>
              <a:rPr lang="en-US" altLang="zh-CN" dirty="0"/>
              <a:t>TSP</a:t>
            </a:r>
            <a:r>
              <a:rPr lang="zh-CN" altLang="en-US" dirty="0"/>
              <a:t>问题</a:t>
            </a:r>
            <a:endParaRPr lang="en-US" altLang="zh-CN" dirty="0"/>
          </a:p>
          <a:p>
            <a:pPr lvl="1"/>
            <a:r>
              <a:rPr lang="zh-CN" altLang="en-US" dirty="0"/>
              <a:t>目标：走过的路径最小化</a:t>
            </a:r>
            <a:endParaRPr lang="en-US" altLang="zh-CN" dirty="0"/>
          </a:p>
        </p:txBody>
      </p:sp>
      <p:sp>
        <p:nvSpPr>
          <p:cNvPr id="4" name="日期占位符 3">
            <a:extLst>
              <a:ext uri="{FF2B5EF4-FFF2-40B4-BE49-F238E27FC236}">
                <a16:creationId xmlns:a16="http://schemas.microsoft.com/office/drawing/2014/main" id="{43E04178-95CD-437B-8C63-61D74E8105A3}"/>
              </a:ext>
            </a:extLst>
          </p:cNvPr>
          <p:cNvSpPr>
            <a:spLocks noGrp="1"/>
          </p:cNvSpPr>
          <p:nvPr>
            <p:ph type="dt" sz="half" idx="10"/>
          </p:nvPr>
        </p:nvSpPr>
        <p:spPr/>
        <p:txBody>
          <a:bodyPr/>
          <a:lstStyle/>
          <a:p>
            <a:fld id="{A8B06C41-1E1E-4B9B-9644-5AFB8CB2AB3B}" type="datetime3">
              <a:rPr lang="zh-CN" altLang="en-US" smtClean="0"/>
              <a:t>2022年11月24日星期四</a:t>
            </a:fld>
            <a:endParaRPr lang="en-US" altLang="zh-CN" dirty="0"/>
          </a:p>
        </p:txBody>
      </p:sp>
      <p:sp>
        <p:nvSpPr>
          <p:cNvPr id="5" name="灯片编号占位符 4">
            <a:extLst>
              <a:ext uri="{FF2B5EF4-FFF2-40B4-BE49-F238E27FC236}">
                <a16:creationId xmlns:a16="http://schemas.microsoft.com/office/drawing/2014/main" id="{1FBCC33D-0076-477A-B893-110D593A7C2B}"/>
              </a:ext>
            </a:extLst>
          </p:cNvPr>
          <p:cNvSpPr>
            <a:spLocks noGrp="1"/>
          </p:cNvSpPr>
          <p:nvPr>
            <p:ph type="sldNum" sz="quarter" idx="12"/>
          </p:nvPr>
        </p:nvSpPr>
        <p:spPr/>
        <p:txBody>
          <a:bodyPr/>
          <a:lstStyle/>
          <a:p>
            <a:fld id="{7AC79822-BC0D-4DE8-A7E5-90A3732A2B82}" type="slidenum">
              <a:rPr lang="zh-CN" altLang="en-US" smtClean="0"/>
              <a:pPr/>
              <a:t>11</a:t>
            </a:fld>
            <a:endParaRPr lang="en-US" altLang="zh-CN" dirty="0"/>
          </a:p>
        </p:txBody>
      </p:sp>
      <p:graphicFrame>
        <p:nvGraphicFramePr>
          <p:cNvPr id="7" name="对象 6">
            <a:extLst>
              <a:ext uri="{FF2B5EF4-FFF2-40B4-BE49-F238E27FC236}">
                <a16:creationId xmlns:a16="http://schemas.microsoft.com/office/drawing/2014/main" id="{C1C8D4E8-BB31-4060-88D1-ABAA4EDBE1B7}"/>
              </a:ext>
            </a:extLst>
          </p:cNvPr>
          <p:cNvGraphicFramePr>
            <a:graphicFrameLocks noChangeAspect="1"/>
          </p:cNvGraphicFramePr>
          <p:nvPr>
            <p:extLst>
              <p:ext uri="{D42A27DB-BD31-4B8C-83A1-F6EECF244321}">
                <p14:modId xmlns:p14="http://schemas.microsoft.com/office/powerpoint/2010/main" val="3992138176"/>
              </p:ext>
            </p:extLst>
          </p:nvPr>
        </p:nvGraphicFramePr>
        <p:xfrm>
          <a:off x="632520" y="2636912"/>
          <a:ext cx="8155853" cy="576064"/>
        </p:xfrm>
        <a:graphic>
          <a:graphicData uri="http://schemas.openxmlformats.org/presentationml/2006/ole">
            <mc:AlternateContent xmlns:mc="http://schemas.openxmlformats.org/markup-compatibility/2006">
              <mc:Choice xmlns:v="urn:schemas-microsoft-com:vml" Requires="v">
                <p:oleObj name="Equation" r:id="rId2" imgW="3416040" imgH="241200" progId="Equation.DSMT4">
                  <p:embed/>
                </p:oleObj>
              </mc:Choice>
              <mc:Fallback>
                <p:oleObj name="Equation" r:id="rId2" imgW="3416040" imgH="241200" progId="Equation.DSMT4">
                  <p:embed/>
                  <p:pic>
                    <p:nvPicPr>
                      <p:cNvPr id="0" name=""/>
                      <p:cNvPicPr/>
                      <p:nvPr/>
                    </p:nvPicPr>
                    <p:blipFill>
                      <a:blip r:embed="rId3"/>
                      <a:stretch>
                        <a:fillRect/>
                      </a:stretch>
                    </p:blipFill>
                    <p:spPr>
                      <a:xfrm>
                        <a:off x="632520" y="2636912"/>
                        <a:ext cx="8155853" cy="576064"/>
                      </a:xfrm>
                      <a:prstGeom prst="rect">
                        <a:avLst/>
                      </a:prstGeom>
                    </p:spPr>
                  </p:pic>
                </p:oleObj>
              </mc:Fallback>
            </mc:AlternateContent>
          </a:graphicData>
        </a:graphic>
      </p:graphicFrame>
      <p:graphicFrame>
        <p:nvGraphicFramePr>
          <p:cNvPr id="8" name="对象 7">
            <a:extLst>
              <a:ext uri="{FF2B5EF4-FFF2-40B4-BE49-F238E27FC236}">
                <a16:creationId xmlns:a16="http://schemas.microsoft.com/office/drawing/2014/main" id="{0BFDAFF2-338F-42DF-8537-99397003B676}"/>
              </a:ext>
            </a:extLst>
          </p:cNvPr>
          <p:cNvGraphicFramePr>
            <a:graphicFrameLocks noChangeAspect="1"/>
          </p:cNvGraphicFramePr>
          <p:nvPr>
            <p:extLst>
              <p:ext uri="{D42A27DB-BD31-4B8C-83A1-F6EECF244321}">
                <p14:modId xmlns:p14="http://schemas.microsoft.com/office/powerpoint/2010/main" val="1604890181"/>
              </p:ext>
            </p:extLst>
          </p:nvPr>
        </p:nvGraphicFramePr>
        <p:xfrm>
          <a:off x="2576736" y="3171621"/>
          <a:ext cx="2623148" cy="1224136"/>
        </p:xfrm>
        <a:graphic>
          <a:graphicData uri="http://schemas.openxmlformats.org/presentationml/2006/ole">
            <mc:AlternateContent xmlns:mc="http://schemas.openxmlformats.org/markup-compatibility/2006">
              <mc:Choice xmlns:v="urn:schemas-microsoft-com:vml" Requires="v">
                <p:oleObj name="Equation" r:id="rId4" imgW="952200" imgH="444240" progId="Equation.DSMT4">
                  <p:embed/>
                </p:oleObj>
              </mc:Choice>
              <mc:Fallback>
                <p:oleObj name="Equation" r:id="rId4" imgW="952200" imgH="444240" progId="Equation.DSMT4">
                  <p:embed/>
                  <p:pic>
                    <p:nvPicPr>
                      <p:cNvPr id="0" name=""/>
                      <p:cNvPicPr/>
                      <p:nvPr/>
                    </p:nvPicPr>
                    <p:blipFill>
                      <a:blip r:embed="rId5"/>
                      <a:stretch>
                        <a:fillRect/>
                      </a:stretch>
                    </p:blipFill>
                    <p:spPr>
                      <a:xfrm>
                        <a:off x="2576736" y="3171621"/>
                        <a:ext cx="2623148" cy="1224136"/>
                      </a:xfrm>
                      <a:prstGeom prst="rect">
                        <a:avLst/>
                      </a:prstGeom>
                    </p:spPr>
                  </p:pic>
                </p:oleObj>
              </mc:Fallback>
            </mc:AlternateContent>
          </a:graphicData>
        </a:graphic>
      </p:graphicFrame>
      <p:graphicFrame>
        <p:nvGraphicFramePr>
          <p:cNvPr id="9" name="对象 8">
            <a:extLst>
              <a:ext uri="{FF2B5EF4-FFF2-40B4-BE49-F238E27FC236}">
                <a16:creationId xmlns:a16="http://schemas.microsoft.com/office/drawing/2014/main" id="{F99BA308-4BA3-4F40-961C-6940FFC272F1}"/>
              </a:ext>
            </a:extLst>
          </p:cNvPr>
          <p:cNvGraphicFramePr>
            <a:graphicFrameLocks noChangeAspect="1"/>
          </p:cNvGraphicFramePr>
          <p:nvPr>
            <p:extLst>
              <p:ext uri="{D42A27DB-BD31-4B8C-83A1-F6EECF244321}">
                <p14:modId xmlns:p14="http://schemas.microsoft.com/office/powerpoint/2010/main" val="1563537965"/>
              </p:ext>
            </p:extLst>
          </p:nvPr>
        </p:nvGraphicFramePr>
        <p:xfrm>
          <a:off x="2576736" y="4467144"/>
          <a:ext cx="4440238" cy="1327150"/>
        </p:xfrm>
        <a:graphic>
          <a:graphicData uri="http://schemas.openxmlformats.org/presentationml/2006/ole">
            <mc:AlternateContent xmlns:mc="http://schemas.openxmlformats.org/markup-compatibility/2006">
              <mc:Choice xmlns:v="urn:schemas-microsoft-com:vml" Requires="v">
                <p:oleObj name="Equation" r:id="rId6" imgW="1612800" imgH="482400" progId="Equation.DSMT4">
                  <p:embed/>
                </p:oleObj>
              </mc:Choice>
              <mc:Fallback>
                <p:oleObj name="Equation" r:id="rId6" imgW="1612800" imgH="482400" progId="Equation.DSMT4">
                  <p:embed/>
                  <p:pic>
                    <p:nvPicPr>
                      <p:cNvPr id="8" name="对象 7">
                        <a:extLst>
                          <a:ext uri="{FF2B5EF4-FFF2-40B4-BE49-F238E27FC236}">
                            <a16:creationId xmlns:a16="http://schemas.microsoft.com/office/drawing/2014/main" id="{0BFDAFF2-338F-42DF-8537-99397003B676}"/>
                          </a:ext>
                        </a:extLst>
                      </p:cNvPr>
                      <p:cNvPicPr/>
                      <p:nvPr/>
                    </p:nvPicPr>
                    <p:blipFill>
                      <a:blip r:embed="rId7"/>
                      <a:stretch>
                        <a:fillRect/>
                      </a:stretch>
                    </p:blipFill>
                    <p:spPr>
                      <a:xfrm>
                        <a:off x="2576736" y="4467144"/>
                        <a:ext cx="4440238" cy="1327150"/>
                      </a:xfrm>
                      <a:prstGeom prst="rect">
                        <a:avLst/>
                      </a:prstGeom>
                    </p:spPr>
                  </p:pic>
                </p:oleObj>
              </mc:Fallback>
            </mc:AlternateContent>
          </a:graphicData>
        </a:graphic>
      </p:graphicFrame>
    </p:spTree>
    <p:extLst>
      <p:ext uri="{BB962C8B-B14F-4D97-AF65-F5344CB8AC3E}">
        <p14:creationId xmlns:p14="http://schemas.microsoft.com/office/powerpoint/2010/main" val="203446600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6" presetClass="entr" presetSubtype="21" fill="hold" nodeType="with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barn(inVertical)">
                                      <p:cBhvr>
                                        <p:cTn id="7" dur="500"/>
                                        <p:tgtEl>
                                          <p:spTgt spid="3">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1" fill="hold" nodeType="click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barn(inVertical)">
                                      <p:cBhvr>
                                        <p:cTn id="12" dur="500"/>
                                        <p:tgtEl>
                                          <p:spTgt spid="7"/>
                                        </p:tgtEl>
                                      </p:cBhvr>
                                    </p:animEffect>
                                  </p:childTnLst>
                                </p:cTn>
                              </p:par>
                            </p:childTnLst>
                          </p:cTn>
                        </p:par>
                        <p:par>
                          <p:cTn id="13" fill="hold">
                            <p:stCondLst>
                              <p:cond delay="500"/>
                            </p:stCondLst>
                            <p:childTnLst>
                              <p:par>
                                <p:cTn id="14" presetID="2" presetClass="entr" presetSubtype="4" fill="hold" nodeType="afterEffect">
                                  <p:stCondLst>
                                    <p:cond delay="0"/>
                                  </p:stCondLst>
                                  <p:childTnLst>
                                    <p:set>
                                      <p:cBhvr>
                                        <p:cTn id="15" dur="1" fill="hold">
                                          <p:stCondLst>
                                            <p:cond delay="0"/>
                                          </p:stCondLst>
                                        </p:cTn>
                                        <p:tgtEl>
                                          <p:spTgt spid="8"/>
                                        </p:tgtEl>
                                        <p:attrNameLst>
                                          <p:attrName>style.visibility</p:attrName>
                                        </p:attrNameLst>
                                      </p:cBhvr>
                                      <p:to>
                                        <p:strVal val="visible"/>
                                      </p:to>
                                    </p:set>
                                    <p:anim calcmode="lin" valueType="num">
                                      <p:cBhvr additive="base">
                                        <p:cTn id="16" dur="500" fill="hold"/>
                                        <p:tgtEl>
                                          <p:spTgt spid="8"/>
                                        </p:tgtEl>
                                        <p:attrNameLst>
                                          <p:attrName>ppt_x</p:attrName>
                                        </p:attrNameLst>
                                      </p:cBhvr>
                                      <p:tavLst>
                                        <p:tav tm="0">
                                          <p:val>
                                            <p:strVal val="#ppt_x"/>
                                          </p:val>
                                        </p:tav>
                                        <p:tav tm="100000">
                                          <p:val>
                                            <p:strVal val="#ppt_x"/>
                                          </p:val>
                                        </p:tav>
                                      </p:tavLst>
                                    </p:anim>
                                    <p:anim calcmode="lin" valueType="num">
                                      <p:cBhvr additive="base">
                                        <p:cTn id="17" dur="500" fill="hold"/>
                                        <p:tgtEl>
                                          <p:spTgt spid="8"/>
                                        </p:tgtEl>
                                        <p:attrNameLst>
                                          <p:attrName>ppt_y</p:attrName>
                                        </p:attrNameLst>
                                      </p:cBhvr>
                                      <p:tavLst>
                                        <p:tav tm="0">
                                          <p:val>
                                            <p:strVal val="1+#ppt_h/2"/>
                                          </p:val>
                                        </p:tav>
                                        <p:tav tm="100000">
                                          <p:val>
                                            <p:strVal val="#ppt_y"/>
                                          </p:val>
                                        </p:tav>
                                      </p:tavLst>
                                    </p:anim>
                                  </p:childTnLst>
                                </p:cTn>
                              </p:par>
                            </p:childTnLst>
                          </p:cTn>
                        </p:par>
                        <p:par>
                          <p:cTn id="18" fill="hold">
                            <p:stCondLst>
                              <p:cond delay="1000"/>
                            </p:stCondLst>
                            <p:childTnLst>
                              <p:par>
                                <p:cTn id="19" presetID="22" presetClass="entr" presetSubtype="4" fill="hold" nodeType="afterEffect">
                                  <p:stCondLst>
                                    <p:cond delay="0"/>
                                  </p:stCondLst>
                                  <p:childTnLst>
                                    <p:set>
                                      <p:cBhvr>
                                        <p:cTn id="20" dur="1" fill="hold">
                                          <p:stCondLst>
                                            <p:cond delay="0"/>
                                          </p:stCondLst>
                                        </p:cTn>
                                        <p:tgtEl>
                                          <p:spTgt spid="9"/>
                                        </p:tgtEl>
                                        <p:attrNameLst>
                                          <p:attrName>style.visibility</p:attrName>
                                        </p:attrNameLst>
                                      </p:cBhvr>
                                      <p:to>
                                        <p:strVal val="visible"/>
                                      </p:to>
                                    </p:set>
                                    <p:animEffect transition="in" filter="wipe(down)">
                                      <p:cBhvr>
                                        <p:cTn id="21"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4CD4CAF-B2A1-4490-B728-ED56AA175678}"/>
              </a:ext>
            </a:extLst>
          </p:cNvPr>
          <p:cNvSpPr>
            <a:spLocks noGrp="1"/>
          </p:cNvSpPr>
          <p:nvPr>
            <p:ph type="title"/>
          </p:nvPr>
        </p:nvSpPr>
        <p:spPr/>
        <p:txBody>
          <a:bodyPr/>
          <a:lstStyle/>
          <a:p>
            <a:r>
              <a:rPr lang="zh-CN" altLang="en-US" dirty="0"/>
              <a:t>组合优化问题</a:t>
            </a:r>
          </a:p>
        </p:txBody>
      </p:sp>
      <p:sp>
        <p:nvSpPr>
          <p:cNvPr id="3" name="内容占位符 2">
            <a:extLst>
              <a:ext uri="{FF2B5EF4-FFF2-40B4-BE49-F238E27FC236}">
                <a16:creationId xmlns:a16="http://schemas.microsoft.com/office/drawing/2014/main" id="{6B52919B-436A-40A9-8FD7-3EF28EDC74C5}"/>
              </a:ext>
            </a:extLst>
          </p:cNvPr>
          <p:cNvSpPr>
            <a:spLocks noGrp="1"/>
          </p:cNvSpPr>
          <p:nvPr>
            <p:ph idx="1"/>
          </p:nvPr>
        </p:nvSpPr>
        <p:spPr/>
        <p:txBody>
          <a:bodyPr/>
          <a:lstStyle/>
          <a:p>
            <a:r>
              <a:rPr lang="en-US" altLang="zh-CN" dirty="0"/>
              <a:t>TSP</a:t>
            </a:r>
            <a:r>
              <a:rPr lang="zh-CN" altLang="en-US" dirty="0"/>
              <a:t>问题</a:t>
            </a:r>
            <a:endParaRPr lang="en-US" altLang="zh-CN" dirty="0"/>
          </a:p>
          <a:p>
            <a:pPr lvl="1"/>
            <a:r>
              <a:rPr lang="zh-CN" altLang="en-US" dirty="0"/>
              <a:t>约束</a:t>
            </a:r>
            <a:r>
              <a:rPr lang="en-US" altLang="zh-CN" dirty="0"/>
              <a:t>1</a:t>
            </a:r>
            <a:r>
              <a:rPr lang="zh-CN" altLang="en-US" dirty="0"/>
              <a:t>：一个城市只能走一次</a:t>
            </a:r>
            <a:endParaRPr lang="en-US" altLang="zh-CN" dirty="0"/>
          </a:p>
        </p:txBody>
      </p:sp>
      <p:sp>
        <p:nvSpPr>
          <p:cNvPr id="4" name="日期占位符 3">
            <a:extLst>
              <a:ext uri="{FF2B5EF4-FFF2-40B4-BE49-F238E27FC236}">
                <a16:creationId xmlns:a16="http://schemas.microsoft.com/office/drawing/2014/main" id="{43E04178-95CD-437B-8C63-61D74E8105A3}"/>
              </a:ext>
            </a:extLst>
          </p:cNvPr>
          <p:cNvSpPr>
            <a:spLocks noGrp="1"/>
          </p:cNvSpPr>
          <p:nvPr>
            <p:ph type="dt" sz="half" idx="10"/>
          </p:nvPr>
        </p:nvSpPr>
        <p:spPr/>
        <p:txBody>
          <a:bodyPr/>
          <a:lstStyle/>
          <a:p>
            <a:fld id="{A8B06C41-1E1E-4B9B-9644-5AFB8CB2AB3B}" type="datetime3">
              <a:rPr lang="zh-CN" altLang="en-US" smtClean="0"/>
              <a:t>2022年11月24日星期四</a:t>
            </a:fld>
            <a:endParaRPr lang="en-US" altLang="zh-CN" dirty="0"/>
          </a:p>
        </p:txBody>
      </p:sp>
      <p:sp>
        <p:nvSpPr>
          <p:cNvPr id="5" name="灯片编号占位符 4">
            <a:extLst>
              <a:ext uri="{FF2B5EF4-FFF2-40B4-BE49-F238E27FC236}">
                <a16:creationId xmlns:a16="http://schemas.microsoft.com/office/drawing/2014/main" id="{1FBCC33D-0076-477A-B893-110D593A7C2B}"/>
              </a:ext>
            </a:extLst>
          </p:cNvPr>
          <p:cNvSpPr>
            <a:spLocks noGrp="1"/>
          </p:cNvSpPr>
          <p:nvPr>
            <p:ph type="sldNum" sz="quarter" idx="12"/>
          </p:nvPr>
        </p:nvSpPr>
        <p:spPr/>
        <p:txBody>
          <a:bodyPr/>
          <a:lstStyle/>
          <a:p>
            <a:fld id="{7AC79822-BC0D-4DE8-A7E5-90A3732A2B82}" type="slidenum">
              <a:rPr lang="zh-CN" altLang="en-US" smtClean="0"/>
              <a:pPr/>
              <a:t>12</a:t>
            </a:fld>
            <a:endParaRPr lang="en-US" altLang="zh-CN" dirty="0"/>
          </a:p>
        </p:txBody>
      </p:sp>
      <p:graphicFrame>
        <p:nvGraphicFramePr>
          <p:cNvPr id="8" name="对象 7">
            <a:extLst>
              <a:ext uri="{FF2B5EF4-FFF2-40B4-BE49-F238E27FC236}">
                <a16:creationId xmlns:a16="http://schemas.microsoft.com/office/drawing/2014/main" id="{0BFDAFF2-338F-42DF-8537-99397003B676}"/>
              </a:ext>
            </a:extLst>
          </p:cNvPr>
          <p:cNvGraphicFramePr>
            <a:graphicFrameLocks noChangeAspect="1"/>
          </p:cNvGraphicFramePr>
          <p:nvPr>
            <p:extLst>
              <p:ext uri="{D42A27DB-BD31-4B8C-83A1-F6EECF244321}">
                <p14:modId xmlns:p14="http://schemas.microsoft.com/office/powerpoint/2010/main" val="1567233001"/>
              </p:ext>
            </p:extLst>
          </p:nvPr>
        </p:nvGraphicFramePr>
        <p:xfrm>
          <a:off x="1774825" y="2614613"/>
          <a:ext cx="3673475" cy="3846512"/>
        </p:xfrm>
        <a:graphic>
          <a:graphicData uri="http://schemas.openxmlformats.org/presentationml/2006/ole">
            <mc:AlternateContent xmlns:mc="http://schemas.openxmlformats.org/markup-compatibility/2006">
              <mc:Choice xmlns:v="urn:schemas-microsoft-com:vml" Requires="v">
                <p:oleObj name="Equation" r:id="rId2" imgW="1333440" imgH="1396800" progId="Equation.DSMT4">
                  <p:embed/>
                </p:oleObj>
              </mc:Choice>
              <mc:Fallback>
                <p:oleObj name="Equation" r:id="rId2" imgW="1333440" imgH="1396800" progId="Equation.DSMT4">
                  <p:embed/>
                  <p:pic>
                    <p:nvPicPr>
                      <p:cNvPr id="8" name="对象 7">
                        <a:extLst>
                          <a:ext uri="{FF2B5EF4-FFF2-40B4-BE49-F238E27FC236}">
                            <a16:creationId xmlns:a16="http://schemas.microsoft.com/office/drawing/2014/main" id="{0BFDAFF2-338F-42DF-8537-99397003B676}"/>
                          </a:ext>
                        </a:extLst>
                      </p:cNvPr>
                      <p:cNvPicPr/>
                      <p:nvPr/>
                    </p:nvPicPr>
                    <p:blipFill>
                      <a:blip r:embed="rId3"/>
                      <a:stretch>
                        <a:fillRect/>
                      </a:stretch>
                    </p:blipFill>
                    <p:spPr>
                      <a:xfrm>
                        <a:off x="1774825" y="2614613"/>
                        <a:ext cx="3673475" cy="3846512"/>
                      </a:xfrm>
                      <a:prstGeom prst="rect">
                        <a:avLst/>
                      </a:prstGeom>
                    </p:spPr>
                  </p:pic>
                </p:oleObj>
              </mc:Fallback>
            </mc:AlternateContent>
          </a:graphicData>
        </a:graphic>
      </p:graphicFrame>
      <p:sp>
        <p:nvSpPr>
          <p:cNvPr id="6" name="文本框 5">
            <a:extLst>
              <a:ext uri="{FF2B5EF4-FFF2-40B4-BE49-F238E27FC236}">
                <a16:creationId xmlns:a16="http://schemas.microsoft.com/office/drawing/2014/main" id="{AB1BF4D1-DCA0-4604-98A1-8B6A96A8BF47}"/>
              </a:ext>
            </a:extLst>
          </p:cNvPr>
          <p:cNvSpPr txBox="1"/>
          <p:nvPr/>
        </p:nvSpPr>
        <p:spPr>
          <a:xfrm>
            <a:off x="4941047" y="3356992"/>
            <a:ext cx="4536504" cy="830997"/>
          </a:xfrm>
          <a:prstGeom prst="rect">
            <a:avLst/>
          </a:prstGeom>
          <a:solidFill>
            <a:srgbClr val="FFFF00"/>
          </a:solidFill>
          <a:ln>
            <a:solidFill>
              <a:schemeClr val="tx1"/>
            </a:solidFill>
          </a:ln>
        </p:spPr>
        <p:txBody>
          <a:bodyPr wrap="square" rtlCol="0">
            <a:spAutoFit/>
          </a:bodyPr>
          <a:lstStyle/>
          <a:p>
            <a:r>
              <a:rPr lang="zh-CN" altLang="en-US" sz="2400" dirty="0">
                <a:solidFill>
                  <a:srgbClr val="C00000"/>
                </a:solidFill>
              </a:rPr>
              <a:t>这个条件也表示了约束</a:t>
            </a:r>
            <a:r>
              <a:rPr lang="en-US" altLang="zh-CN" sz="2400" dirty="0">
                <a:solidFill>
                  <a:srgbClr val="C00000"/>
                </a:solidFill>
              </a:rPr>
              <a:t>3</a:t>
            </a:r>
            <a:r>
              <a:rPr lang="zh-CN" altLang="en-US" sz="2400" dirty="0">
                <a:solidFill>
                  <a:srgbClr val="C00000"/>
                </a:solidFill>
              </a:rPr>
              <a:t>：所有城市都走一遍。</a:t>
            </a:r>
            <a:endParaRPr lang="en-US" altLang="zh-CN" sz="2400" dirty="0">
              <a:solidFill>
                <a:srgbClr val="C00000"/>
              </a:solidFill>
            </a:endParaRPr>
          </a:p>
        </p:txBody>
      </p:sp>
    </p:spTree>
    <p:extLst>
      <p:ext uri="{BB962C8B-B14F-4D97-AF65-F5344CB8AC3E}">
        <p14:creationId xmlns:p14="http://schemas.microsoft.com/office/powerpoint/2010/main" val="417660369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6" presetClass="entr" presetSubtype="21" fill="hold" nodeType="with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barn(inVertical)">
                                      <p:cBhvr>
                                        <p:cTn id="7" dur="500"/>
                                        <p:tgtEl>
                                          <p:spTgt spid="3">
                                            <p:txEl>
                                              <p:pRg st="1" end="1"/>
                                            </p:txEl>
                                          </p:spTgt>
                                        </p:tgtEl>
                                      </p:cBhvr>
                                    </p:animEffect>
                                  </p:childTnLst>
                                </p:cTn>
                              </p:par>
                            </p:childTnLst>
                          </p:cTn>
                        </p:par>
                        <p:par>
                          <p:cTn id="8" fill="hold">
                            <p:stCondLst>
                              <p:cond delay="500"/>
                            </p:stCondLst>
                            <p:childTnLst>
                              <p:par>
                                <p:cTn id="9" presetID="2" presetClass="entr" presetSubtype="4" fill="hold" nodeType="afterEffect">
                                  <p:stCondLst>
                                    <p:cond delay="0"/>
                                  </p:stCondLst>
                                  <p:childTnLst>
                                    <p:set>
                                      <p:cBhvr>
                                        <p:cTn id="10" dur="1" fill="hold">
                                          <p:stCondLst>
                                            <p:cond delay="0"/>
                                          </p:stCondLst>
                                        </p:cTn>
                                        <p:tgtEl>
                                          <p:spTgt spid="8"/>
                                        </p:tgtEl>
                                        <p:attrNameLst>
                                          <p:attrName>style.visibility</p:attrName>
                                        </p:attrNameLst>
                                      </p:cBhvr>
                                      <p:to>
                                        <p:strVal val="visible"/>
                                      </p:to>
                                    </p:set>
                                    <p:anim calcmode="lin" valueType="num">
                                      <p:cBhvr additive="base">
                                        <p:cTn id="11" dur="500" fill="hold"/>
                                        <p:tgtEl>
                                          <p:spTgt spid="8"/>
                                        </p:tgtEl>
                                        <p:attrNameLst>
                                          <p:attrName>ppt_x</p:attrName>
                                        </p:attrNameLst>
                                      </p:cBhvr>
                                      <p:tavLst>
                                        <p:tav tm="0">
                                          <p:val>
                                            <p:strVal val="#ppt_x"/>
                                          </p:val>
                                        </p:tav>
                                        <p:tav tm="100000">
                                          <p:val>
                                            <p:strVal val="#ppt_x"/>
                                          </p:val>
                                        </p:tav>
                                      </p:tavLst>
                                    </p:anim>
                                    <p:anim calcmode="lin" valueType="num">
                                      <p:cBhvr additive="base">
                                        <p:cTn id="12" dur="500" fill="hold"/>
                                        <p:tgtEl>
                                          <p:spTgt spid="8"/>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grpId="0" nodeType="clickEffect">
                                  <p:stCondLst>
                                    <p:cond delay="0"/>
                                  </p:stCondLst>
                                  <p:childTnLst>
                                    <p:set>
                                      <p:cBhvr>
                                        <p:cTn id="16" dur="1" fill="hold">
                                          <p:stCondLst>
                                            <p:cond delay="0"/>
                                          </p:stCondLst>
                                        </p:cTn>
                                        <p:tgtEl>
                                          <p:spTgt spid="6"/>
                                        </p:tgtEl>
                                        <p:attrNameLst>
                                          <p:attrName>style.visibility</p:attrName>
                                        </p:attrNameLst>
                                      </p:cBhvr>
                                      <p:to>
                                        <p:strVal val="visible"/>
                                      </p:to>
                                    </p:set>
                                    <p:animEffect transition="in" filter="wipe(down)">
                                      <p:cBhvr>
                                        <p:cTn id="1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4CD4CAF-B2A1-4490-B728-ED56AA175678}"/>
              </a:ext>
            </a:extLst>
          </p:cNvPr>
          <p:cNvSpPr>
            <a:spLocks noGrp="1"/>
          </p:cNvSpPr>
          <p:nvPr>
            <p:ph type="title"/>
          </p:nvPr>
        </p:nvSpPr>
        <p:spPr/>
        <p:txBody>
          <a:bodyPr/>
          <a:lstStyle/>
          <a:p>
            <a:r>
              <a:rPr lang="zh-CN" altLang="en-US" dirty="0"/>
              <a:t>组合优化问题</a:t>
            </a:r>
          </a:p>
        </p:txBody>
      </p:sp>
      <p:sp>
        <p:nvSpPr>
          <p:cNvPr id="3" name="内容占位符 2">
            <a:extLst>
              <a:ext uri="{FF2B5EF4-FFF2-40B4-BE49-F238E27FC236}">
                <a16:creationId xmlns:a16="http://schemas.microsoft.com/office/drawing/2014/main" id="{6B52919B-436A-40A9-8FD7-3EF28EDC74C5}"/>
              </a:ext>
            </a:extLst>
          </p:cNvPr>
          <p:cNvSpPr>
            <a:spLocks noGrp="1"/>
          </p:cNvSpPr>
          <p:nvPr>
            <p:ph idx="1"/>
          </p:nvPr>
        </p:nvSpPr>
        <p:spPr/>
        <p:txBody>
          <a:bodyPr/>
          <a:lstStyle/>
          <a:p>
            <a:r>
              <a:rPr lang="en-US" altLang="zh-CN" dirty="0"/>
              <a:t>TSP</a:t>
            </a:r>
            <a:r>
              <a:rPr lang="zh-CN" altLang="en-US" dirty="0"/>
              <a:t>问题</a:t>
            </a:r>
            <a:endParaRPr lang="en-US" altLang="zh-CN" dirty="0"/>
          </a:p>
          <a:p>
            <a:pPr lvl="1"/>
            <a:r>
              <a:rPr lang="zh-CN" altLang="en-US" dirty="0"/>
              <a:t>约束</a:t>
            </a:r>
            <a:r>
              <a:rPr lang="en-US" altLang="zh-CN" dirty="0"/>
              <a:t>2</a:t>
            </a:r>
            <a:r>
              <a:rPr lang="zh-CN" altLang="en-US" dirty="0"/>
              <a:t>：出发点和终点是相同的</a:t>
            </a:r>
            <a:endParaRPr lang="en-US" altLang="zh-CN" dirty="0"/>
          </a:p>
          <a:p>
            <a:pPr lvl="1"/>
            <a:endParaRPr lang="en-US" altLang="zh-CN" dirty="0"/>
          </a:p>
        </p:txBody>
      </p:sp>
      <p:sp>
        <p:nvSpPr>
          <p:cNvPr id="4" name="日期占位符 3">
            <a:extLst>
              <a:ext uri="{FF2B5EF4-FFF2-40B4-BE49-F238E27FC236}">
                <a16:creationId xmlns:a16="http://schemas.microsoft.com/office/drawing/2014/main" id="{43E04178-95CD-437B-8C63-61D74E8105A3}"/>
              </a:ext>
            </a:extLst>
          </p:cNvPr>
          <p:cNvSpPr>
            <a:spLocks noGrp="1"/>
          </p:cNvSpPr>
          <p:nvPr>
            <p:ph type="dt" sz="half" idx="10"/>
          </p:nvPr>
        </p:nvSpPr>
        <p:spPr/>
        <p:txBody>
          <a:bodyPr/>
          <a:lstStyle/>
          <a:p>
            <a:fld id="{A8B06C41-1E1E-4B9B-9644-5AFB8CB2AB3B}" type="datetime3">
              <a:rPr lang="zh-CN" altLang="en-US" smtClean="0"/>
              <a:t>2022年11月24日星期四</a:t>
            </a:fld>
            <a:endParaRPr lang="en-US" altLang="zh-CN" dirty="0"/>
          </a:p>
        </p:txBody>
      </p:sp>
      <p:sp>
        <p:nvSpPr>
          <p:cNvPr id="5" name="灯片编号占位符 4">
            <a:extLst>
              <a:ext uri="{FF2B5EF4-FFF2-40B4-BE49-F238E27FC236}">
                <a16:creationId xmlns:a16="http://schemas.microsoft.com/office/drawing/2014/main" id="{1FBCC33D-0076-477A-B893-110D593A7C2B}"/>
              </a:ext>
            </a:extLst>
          </p:cNvPr>
          <p:cNvSpPr>
            <a:spLocks noGrp="1"/>
          </p:cNvSpPr>
          <p:nvPr>
            <p:ph type="sldNum" sz="quarter" idx="12"/>
          </p:nvPr>
        </p:nvSpPr>
        <p:spPr/>
        <p:txBody>
          <a:bodyPr/>
          <a:lstStyle/>
          <a:p>
            <a:fld id="{7AC79822-BC0D-4DE8-A7E5-90A3732A2B82}" type="slidenum">
              <a:rPr lang="zh-CN" altLang="en-US" smtClean="0"/>
              <a:pPr/>
              <a:t>13</a:t>
            </a:fld>
            <a:endParaRPr lang="en-US" altLang="zh-CN" dirty="0"/>
          </a:p>
        </p:txBody>
      </p:sp>
      <p:graphicFrame>
        <p:nvGraphicFramePr>
          <p:cNvPr id="8" name="对象 7">
            <a:extLst>
              <a:ext uri="{FF2B5EF4-FFF2-40B4-BE49-F238E27FC236}">
                <a16:creationId xmlns:a16="http://schemas.microsoft.com/office/drawing/2014/main" id="{0BFDAFF2-338F-42DF-8537-99397003B676}"/>
              </a:ext>
            </a:extLst>
          </p:cNvPr>
          <p:cNvGraphicFramePr>
            <a:graphicFrameLocks noChangeAspect="1"/>
          </p:cNvGraphicFramePr>
          <p:nvPr>
            <p:extLst>
              <p:ext uri="{D42A27DB-BD31-4B8C-83A1-F6EECF244321}">
                <p14:modId xmlns:p14="http://schemas.microsoft.com/office/powerpoint/2010/main" val="2968573553"/>
              </p:ext>
            </p:extLst>
          </p:nvPr>
        </p:nvGraphicFramePr>
        <p:xfrm>
          <a:off x="1496616" y="2764631"/>
          <a:ext cx="5456238" cy="1328738"/>
        </p:xfrm>
        <a:graphic>
          <a:graphicData uri="http://schemas.openxmlformats.org/presentationml/2006/ole">
            <mc:AlternateContent xmlns:mc="http://schemas.openxmlformats.org/markup-compatibility/2006">
              <mc:Choice xmlns:v="urn:schemas-microsoft-com:vml" Requires="v">
                <p:oleObj name="Equation" r:id="rId2" imgW="1981080" imgH="482400" progId="Equation.DSMT4">
                  <p:embed/>
                </p:oleObj>
              </mc:Choice>
              <mc:Fallback>
                <p:oleObj name="Equation" r:id="rId2" imgW="1981080" imgH="482400" progId="Equation.DSMT4">
                  <p:embed/>
                  <p:pic>
                    <p:nvPicPr>
                      <p:cNvPr id="8" name="对象 7">
                        <a:extLst>
                          <a:ext uri="{FF2B5EF4-FFF2-40B4-BE49-F238E27FC236}">
                            <a16:creationId xmlns:a16="http://schemas.microsoft.com/office/drawing/2014/main" id="{0BFDAFF2-338F-42DF-8537-99397003B676}"/>
                          </a:ext>
                        </a:extLst>
                      </p:cNvPr>
                      <p:cNvPicPr/>
                      <p:nvPr/>
                    </p:nvPicPr>
                    <p:blipFill>
                      <a:blip r:embed="rId3"/>
                      <a:stretch>
                        <a:fillRect/>
                      </a:stretch>
                    </p:blipFill>
                    <p:spPr>
                      <a:xfrm>
                        <a:off x="1496616" y="2764631"/>
                        <a:ext cx="5456238" cy="1328738"/>
                      </a:xfrm>
                      <a:prstGeom prst="rect">
                        <a:avLst/>
                      </a:prstGeom>
                    </p:spPr>
                  </p:pic>
                </p:oleObj>
              </mc:Fallback>
            </mc:AlternateContent>
          </a:graphicData>
        </a:graphic>
      </p:graphicFrame>
      <p:sp>
        <p:nvSpPr>
          <p:cNvPr id="6" name="文本框 5">
            <a:extLst>
              <a:ext uri="{FF2B5EF4-FFF2-40B4-BE49-F238E27FC236}">
                <a16:creationId xmlns:a16="http://schemas.microsoft.com/office/drawing/2014/main" id="{CC8C5A47-18BC-0FDE-3C84-C3F3AC35EEAB}"/>
              </a:ext>
            </a:extLst>
          </p:cNvPr>
          <p:cNvSpPr txBox="1"/>
          <p:nvPr/>
        </p:nvSpPr>
        <p:spPr>
          <a:xfrm>
            <a:off x="561306" y="4143650"/>
            <a:ext cx="8712968" cy="1200329"/>
          </a:xfrm>
          <a:prstGeom prst="rect">
            <a:avLst/>
          </a:prstGeom>
          <a:solidFill>
            <a:srgbClr val="FFFF00"/>
          </a:solidFill>
          <a:ln>
            <a:solidFill>
              <a:schemeClr val="tx1"/>
            </a:solidFill>
          </a:ln>
        </p:spPr>
        <p:txBody>
          <a:bodyPr wrap="square" rtlCol="0">
            <a:spAutoFit/>
          </a:bodyPr>
          <a:lstStyle/>
          <a:p>
            <a:r>
              <a:rPr lang="zh-CN" altLang="en-US" sz="2400" b="1" dirty="0">
                <a:solidFill>
                  <a:srgbClr val="C00000"/>
                </a:solidFill>
              </a:rPr>
              <a:t>该约束来自于</a:t>
            </a:r>
            <a:r>
              <a:rPr lang="en-US" altLang="zh-CN" sz="2400" b="1" dirty="0">
                <a:solidFill>
                  <a:srgbClr val="C00000"/>
                </a:solidFill>
              </a:rPr>
              <a:t>TSP</a:t>
            </a:r>
            <a:r>
              <a:rPr lang="zh-CN" altLang="en-US" sz="2400" b="1" dirty="0">
                <a:solidFill>
                  <a:srgbClr val="C00000"/>
                </a:solidFill>
              </a:rPr>
              <a:t>的</a:t>
            </a:r>
            <a:r>
              <a:rPr lang="en-US" altLang="zh-CN" sz="2400" b="1" dirty="0">
                <a:solidFill>
                  <a:srgbClr val="C00000"/>
                </a:solidFill>
              </a:rPr>
              <a:t>MTZ</a:t>
            </a:r>
            <a:r>
              <a:rPr lang="zh-CN" altLang="en-US" sz="2400" b="1" dirty="0">
                <a:solidFill>
                  <a:srgbClr val="C00000"/>
                </a:solidFill>
              </a:rPr>
              <a:t>（</a:t>
            </a:r>
            <a:r>
              <a:rPr lang="en-US" altLang="zh-CN" sz="2400" b="1" dirty="0">
                <a:solidFill>
                  <a:srgbClr val="C00000"/>
                </a:solidFill>
              </a:rPr>
              <a:t> Miller-Tucker-</a:t>
            </a:r>
            <a:r>
              <a:rPr lang="en-US" altLang="zh-CN" sz="2400" b="1" dirty="0" err="1">
                <a:solidFill>
                  <a:srgbClr val="C00000"/>
                </a:solidFill>
              </a:rPr>
              <a:t>Zemlin</a:t>
            </a:r>
            <a:r>
              <a:rPr lang="en-US" altLang="zh-CN" sz="2400" b="1" dirty="0">
                <a:solidFill>
                  <a:srgbClr val="C00000"/>
                </a:solidFill>
              </a:rPr>
              <a:t> formulation </a:t>
            </a:r>
            <a:r>
              <a:rPr lang="zh-CN" altLang="en-US" sz="2400" b="1" dirty="0">
                <a:solidFill>
                  <a:srgbClr val="C00000"/>
                </a:solidFill>
              </a:rPr>
              <a:t>）模型。</a:t>
            </a:r>
            <a:endParaRPr lang="en-US" altLang="zh-CN" sz="2400" b="1" dirty="0">
              <a:solidFill>
                <a:srgbClr val="C00000"/>
              </a:solidFill>
            </a:endParaRPr>
          </a:p>
          <a:p>
            <a:r>
              <a:rPr lang="zh-CN" altLang="en-US" sz="2400" b="1" dirty="0">
                <a:solidFill>
                  <a:srgbClr val="C00000"/>
                </a:solidFill>
              </a:rPr>
              <a:t>通过对除首节点外消除子环来保证出发点和终点是相同的。</a:t>
            </a:r>
          </a:p>
        </p:txBody>
      </p:sp>
    </p:spTree>
    <p:extLst>
      <p:ext uri="{BB962C8B-B14F-4D97-AF65-F5344CB8AC3E}">
        <p14:creationId xmlns:p14="http://schemas.microsoft.com/office/powerpoint/2010/main" val="23294775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6" presetClass="entr" presetSubtype="21" fill="hold" nodeType="with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barn(inVertical)">
                                      <p:cBhvr>
                                        <p:cTn id="7" dur="500"/>
                                        <p:tgtEl>
                                          <p:spTgt spid="3">
                                            <p:txEl>
                                              <p:pRg st="1" end="1"/>
                                            </p:txEl>
                                          </p:spTgt>
                                        </p:tgtEl>
                                      </p:cBhvr>
                                    </p:animEffect>
                                  </p:childTnLst>
                                </p:cTn>
                              </p:par>
                            </p:childTnLst>
                          </p:cTn>
                        </p:par>
                        <p:par>
                          <p:cTn id="8" fill="hold">
                            <p:stCondLst>
                              <p:cond delay="500"/>
                            </p:stCondLst>
                            <p:childTnLst>
                              <p:par>
                                <p:cTn id="9" presetID="2" presetClass="entr" presetSubtype="4" fill="hold" nodeType="afterEffect">
                                  <p:stCondLst>
                                    <p:cond delay="0"/>
                                  </p:stCondLst>
                                  <p:childTnLst>
                                    <p:set>
                                      <p:cBhvr>
                                        <p:cTn id="10" dur="1" fill="hold">
                                          <p:stCondLst>
                                            <p:cond delay="0"/>
                                          </p:stCondLst>
                                        </p:cTn>
                                        <p:tgtEl>
                                          <p:spTgt spid="8"/>
                                        </p:tgtEl>
                                        <p:attrNameLst>
                                          <p:attrName>style.visibility</p:attrName>
                                        </p:attrNameLst>
                                      </p:cBhvr>
                                      <p:to>
                                        <p:strVal val="visible"/>
                                      </p:to>
                                    </p:set>
                                    <p:anim calcmode="lin" valueType="num">
                                      <p:cBhvr additive="base">
                                        <p:cTn id="11" dur="500" fill="hold"/>
                                        <p:tgtEl>
                                          <p:spTgt spid="8"/>
                                        </p:tgtEl>
                                        <p:attrNameLst>
                                          <p:attrName>ppt_x</p:attrName>
                                        </p:attrNameLst>
                                      </p:cBhvr>
                                      <p:tavLst>
                                        <p:tav tm="0">
                                          <p:val>
                                            <p:strVal val="#ppt_x"/>
                                          </p:val>
                                        </p:tav>
                                        <p:tav tm="100000">
                                          <p:val>
                                            <p:strVal val="#ppt_x"/>
                                          </p:val>
                                        </p:tav>
                                      </p:tavLst>
                                    </p:anim>
                                    <p:anim calcmode="lin" valueType="num">
                                      <p:cBhvr additive="base">
                                        <p:cTn id="12" dur="500" fill="hold"/>
                                        <p:tgtEl>
                                          <p:spTgt spid="8"/>
                                        </p:tgtEl>
                                        <p:attrNameLst>
                                          <p:attrName>ppt_y</p:attrName>
                                        </p:attrNameLst>
                                      </p:cBhvr>
                                      <p:tavLst>
                                        <p:tav tm="0">
                                          <p:val>
                                            <p:strVal val="1+#ppt_h/2"/>
                                          </p:val>
                                        </p:tav>
                                        <p:tav tm="100000">
                                          <p:val>
                                            <p:strVal val="#ppt_y"/>
                                          </p:val>
                                        </p:tav>
                                      </p:tavLst>
                                    </p:anim>
                                  </p:childTnLst>
                                </p:cTn>
                              </p:par>
                            </p:childTnLst>
                          </p:cTn>
                        </p:par>
                        <p:par>
                          <p:cTn id="13" fill="hold">
                            <p:stCondLst>
                              <p:cond delay="1000"/>
                            </p:stCondLst>
                            <p:childTnLst>
                              <p:par>
                                <p:cTn id="14" presetID="22" presetClass="entr" presetSubtype="4" fill="hold" grpId="0" nodeType="afterEffect">
                                  <p:stCondLst>
                                    <p:cond delay="0"/>
                                  </p:stCondLst>
                                  <p:childTnLst>
                                    <p:set>
                                      <p:cBhvr>
                                        <p:cTn id="15" dur="1" fill="hold">
                                          <p:stCondLst>
                                            <p:cond delay="0"/>
                                          </p:stCondLst>
                                        </p:cTn>
                                        <p:tgtEl>
                                          <p:spTgt spid="6"/>
                                        </p:tgtEl>
                                        <p:attrNameLst>
                                          <p:attrName>style.visibility</p:attrName>
                                        </p:attrNameLst>
                                      </p:cBhvr>
                                      <p:to>
                                        <p:strVal val="visible"/>
                                      </p:to>
                                    </p:set>
                                    <p:animEffect transition="in" filter="wipe(down)">
                                      <p:cBhvr>
                                        <p:cTn id="16"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4CD4CAF-B2A1-4490-B728-ED56AA175678}"/>
              </a:ext>
            </a:extLst>
          </p:cNvPr>
          <p:cNvSpPr>
            <a:spLocks noGrp="1"/>
          </p:cNvSpPr>
          <p:nvPr>
            <p:ph type="title"/>
          </p:nvPr>
        </p:nvSpPr>
        <p:spPr/>
        <p:txBody>
          <a:bodyPr/>
          <a:lstStyle/>
          <a:p>
            <a:r>
              <a:rPr lang="zh-CN" altLang="en-US" dirty="0"/>
              <a:t>组合优化问题</a:t>
            </a:r>
          </a:p>
        </p:txBody>
      </p:sp>
      <p:sp>
        <p:nvSpPr>
          <p:cNvPr id="3" name="内容占位符 2">
            <a:extLst>
              <a:ext uri="{FF2B5EF4-FFF2-40B4-BE49-F238E27FC236}">
                <a16:creationId xmlns:a16="http://schemas.microsoft.com/office/drawing/2014/main" id="{6B52919B-436A-40A9-8FD7-3EF28EDC74C5}"/>
              </a:ext>
            </a:extLst>
          </p:cNvPr>
          <p:cNvSpPr>
            <a:spLocks noGrp="1"/>
          </p:cNvSpPr>
          <p:nvPr>
            <p:ph idx="1"/>
          </p:nvPr>
        </p:nvSpPr>
        <p:spPr/>
        <p:txBody>
          <a:bodyPr/>
          <a:lstStyle/>
          <a:p>
            <a:r>
              <a:rPr lang="en-US" altLang="zh-CN" dirty="0"/>
              <a:t>TSP</a:t>
            </a:r>
            <a:r>
              <a:rPr lang="zh-CN" altLang="en-US" dirty="0"/>
              <a:t>问题</a:t>
            </a:r>
            <a:endParaRPr lang="en-US" altLang="zh-CN" dirty="0"/>
          </a:p>
          <a:p>
            <a:pPr lvl="1"/>
            <a:r>
              <a:rPr lang="zh-CN" altLang="en-US" dirty="0"/>
              <a:t>数学定义</a:t>
            </a:r>
            <a:endParaRPr lang="en-US" altLang="zh-CN" dirty="0"/>
          </a:p>
        </p:txBody>
      </p:sp>
      <p:sp>
        <p:nvSpPr>
          <p:cNvPr id="4" name="日期占位符 3">
            <a:extLst>
              <a:ext uri="{FF2B5EF4-FFF2-40B4-BE49-F238E27FC236}">
                <a16:creationId xmlns:a16="http://schemas.microsoft.com/office/drawing/2014/main" id="{43E04178-95CD-437B-8C63-61D74E8105A3}"/>
              </a:ext>
            </a:extLst>
          </p:cNvPr>
          <p:cNvSpPr>
            <a:spLocks noGrp="1"/>
          </p:cNvSpPr>
          <p:nvPr>
            <p:ph type="dt" sz="half" idx="10"/>
          </p:nvPr>
        </p:nvSpPr>
        <p:spPr/>
        <p:txBody>
          <a:bodyPr/>
          <a:lstStyle/>
          <a:p>
            <a:fld id="{A8B06C41-1E1E-4B9B-9644-5AFB8CB2AB3B}" type="datetime3">
              <a:rPr lang="zh-CN" altLang="en-US" smtClean="0"/>
              <a:t>2022年11月24日星期四</a:t>
            </a:fld>
            <a:endParaRPr lang="en-US" altLang="zh-CN" dirty="0"/>
          </a:p>
        </p:txBody>
      </p:sp>
      <p:sp>
        <p:nvSpPr>
          <p:cNvPr id="5" name="灯片编号占位符 4">
            <a:extLst>
              <a:ext uri="{FF2B5EF4-FFF2-40B4-BE49-F238E27FC236}">
                <a16:creationId xmlns:a16="http://schemas.microsoft.com/office/drawing/2014/main" id="{1FBCC33D-0076-477A-B893-110D593A7C2B}"/>
              </a:ext>
            </a:extLst>
          </p:cNvPr>
          <p:cNvSpPr>
            <a:spLocks noGrp="1"/>
          </p:cNvSpPr>
          <p:nvPr>
            <p:ph type="sldNum" sz="quarter" idx="12"/>
          </p:nvPr>
        </p:nvSpPr>
        <p:spPr/>
        <p:txBody>
          <a:bodyPr/>
          <a:lstStyle/>
          <a:p>
            <a:fld id="{7AC79822-BC0D-4DE8-A7E5-90A3732A2B82}" type="slidenum">
              <a:rPr lang="zh-CN" altLang="en-US" smtClean="0"/>
              <a:pPr/>
              <a:t>14</a:t>
            </a:fld>
            <a:endParaRPr lang="en-US" altLang="zh-CN" dirty="0"/>
          </a:p>
        </p:txBody>
      </p:sp>
      <p:graphicFrame>
        <p:nvGraphicFramePr>
          <p:cNvPr id="7" name="对象 6">
            <a:extLst>
              <a:ext uri="{FF2B5EF4-FFF2-40B4-BE49-F238E27FC236}">
                <a16:creationId xmlns:a16="http://schemas.microsoft.com/office/drawing/2014/main" id="{59D8547A-C83F-4064-B3DC-17153B5DBB04}"/>
              </a:ext>
            </a:extLst>
          </p:cNvPr>
          <p:cNvGraphicFramePr>
            <a:graphicFrameLocks noChangeAspect="1"/>
          </p:cNvGraphicFramePr>
          <p:nvPr>
            <p:extLst>
              <p:ext uri="{D42A27DB-BD31-4B8C-83A1-F6EECF244321}">
                <p14:modId xmlns:p14="http://schemas.microsoft.com/office/powerpoint/2010/main" val="2398040014"/>
              </p:ext>
            </p:extLst>
          </p:nvPr>
        </p:nvGraphicFramePr>
        <p:xfrm>
          <a:off x="2720752" y="1112836"/>
          <a:ext cx="4176464" cy="5354399"/>
        </p:xfrm>
        <a:graphic>
          <a:graphicData uri="http://schemas.openxmlformats.org/presentationml/2006/ole">
            <mc:AlternateContent xmlns:mc="http://schemas.openxmlformats.org/markup-compatibility/2006">
              <mc:Choice xmlns:v="urn:schemas-microsoft-com:vml" Requires="v">
                <p:oleObj name="Equation" r:id="rId2" imgW="2260440" imgH="2895480" progId="Equation.DSMT4">
                  <p:embed/>
                </p:oleObj>
              </mc:Choice>
              <mc:Fallback>
                <p:oleObj name="Equation" r:id="rId2" imgW="2260440" imgH="2895480" progId="Equation.DSMT4">
                  <p:embed/>
                  <p:pic>
                    <p:nvPicPr>
                      <p:cNvPr id="8" name="对象 7">
                        <a:extLst>
                          <a:ext uri="{FF2B5EF4-FFF2-40B4-BE49-F238E27FC236}">
                            <a16:creationId xmlns:a16="http://schemas.microsoft.com/office/drawing/2014/main" id="{0BFDAFF2-338F-42DF-8537-99397003B676}"/>
                          </a:ext>
                        </a:extLst>
                      </p:cNvPr>
                      <p:cNvPicPr/>
                      <p:nvPr/>
                    </p:nvPicPr>
                    <p:blipFill>
                      <a:blip r:embed="rId3"/>
                      <a:stretch>
                        <a:fillRect/>
                      </a:stretch>
                    </p:blipFill>
                    <p:spPr>
                      <a:xfrm>
                        <a:off x="2720752" y="1112836"/>
                        <a:ext cx="4176464" cy="5354399"/>
                      </a:xfrm>
                      <a:prstGeom prst="rect">
                        <a:avLst/>
                      </a:prstGeom>
                    </p:spPr>
                  </p:pic>
                </p:oleObj>
              </mc:Fallback>
            </mc:AlternateContent>
          </a:graphicData>
        </a:graphic>
      </p:graphicFrame>
    </p:spTree>
    <p:extLst>
      <p:ext uri="{BB962C8B-B14F-4D97-AF65-F5344CB8AC3E}">
        <p14:creationId xmlns:p14="http://schemas.microsoft.com/office/powerpoint/2010/main" val="76554918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nodeType="after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additive="base">
                                        <p:cTn id="7" dur="500" fill="hold"/>
                                        <p:tgtEl>
                                          <p:spTgt spid="7"/>
                                        </p:tgtEl>
                                        <p:attrNameLst>
                                          <p:attrName>ppt_x</p:attrName>
                                        </p:attrNameLst>
                                      </p:cBhvr>
                                      <p:tavLst>
                                        <p:tav tm="0">
                                          <p:val>
                                            <p:strVal val="#ppt_x"/>
                                          </p:val>
                                        </p:tav>
                                        <p:tav tm="100000">
                                          <p:val>
                                            <p:strVal val="#ppt_x"/>
                                          </p:val>
                                        </p:tav>
                                      </p:tavLst>
                                    </p:anim>
                                    <p:anim calcmode="lin" valueType="num">
                                      <p:cBhvr additive="base">
                                        <p:cTn id="8" dur="500" fill="hold"/>
                                        <p:tgtEl>
                                          <p:spTgt spid="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8ACBE8E-8372-43B9-A15D-4AEEBCB2B7A0}"/>
              </a:ext>
            </a:extLst>
          </p:cNvPr>
          <p:cNvSpPr>
            <a:spLocks noGrp="1"/>
          </p:cNvSpPr>
          <p:nvPr>
            <p:ph type="title"/>
          </p:nvPr>
        </p:nvSpPr>
        <p:spPr/>
        <p:txBody>
          <a:bodyPr/>
          <a:lstStyle/>
          <a:p>
            <a:r>
              <a:rPr lang="zh-CN" altLang="en-US" dirty="0"/>
              <a:t>组合优化问题</a:t>
            </a:r>
          </a:p>
        </p:txBody>
      </p:sp>
      <p:sp>
        <p:nvSpPr>
          <p:cNvPr id="3" name="内容占位符 2">
            <a:extLst>
              <a:ext uri="{FF2B5EF4-FFF2-40B4-BE49-F238E27FC236}">
                <a16:creationId xmlns:a16="http://schemas.microsoft.com/office/drawing/2014/main" id="{B68F44A9-16A8-4F94-8554-7A572278B600}"/>
              </a:ext>
            </a:extLst>
          </p:cNvPr>
          <p:cNvSpPr>
            <a:spLocks noGrp="1"/>
          </p:cNvSpPr>
          <p:nvPr>
            <p:ph idx="1"/>
          </p:nvPr>
        </p:nvSpPr>
        <p:spPr/>
        <p:txBody>
          <a:bodyPr/>
          <a:lstStyle/>
          <a:p>
            <a:r>
              <a:rPr lang="zh-CN" altLang="en-US" dirty="0"/>
              <a:t>组合优化问题求解思路</a:t>
            </a:r>
            <a:endParaRPr lang="en-US" altLang="zh-CN" dirty="0"/>
          </a:p>
          <a:p>
            <a:pPr lvl="1"/>
            <a:r>
              <a:rPr lang="zh-CN" altLang="en-US" dirty="0"/>
              <a:t>首先证明它是一个</a:t>
            </a:r>
            <a:r>
              <a:rPr lang="en-US" altLang="zh-CN" dirty="0"/>
              <a:t>NPC</a:t>
            </a:r>
            <a:r>
              <a:rPr lang="zh-CN" altLang="en-US" dirty="0"/>
              <a:t>问题或者</a:t>
            </a:r>
            <a:r>
              <a:rPr lang="en-US" altLang="zh-CN" dirty="0"/>
              <a:t>NP-Hard</a:t>
            </a:r>
            <a:r>
              <a:rPr lang="zh-CN" altLang="en-US" dirty="0"/>
              <a:t>问题</a:t>
            </a:r>
            <a:endParaRPr lang="en-US" altLang="zh-CN" dirty="0"/>
          </a:p>
          <a:p>
            <a:pPr lvl="1"/>
            <a:r>
              <a:rPr lang="zh-CN" altLang="en-US" dirty="0"/>
              <a:t>根据最优化四个基本算法思想进行算法设计</a:t>
            </a:r>
            <a:endParaRPr lang="en-US" altLang="zh-CN" dirty="0"/>
          </a:p>
          <a:p>
            <a:pPr lvl="2"/>
            <a:r>
              <a:rPr lang="en-US" altLang="zh-CN" dirty="0"/>
              <a:t>1.</a:t>
            </a:r>
            <a:r>
              <a:rPr lang="zh-CN" altLang="en-US" dirty="0"/>
              <a:t>动态规划</a:t>
            </a:r>
          </a:p>
          <a:p>
            <a:pPr lvl="2"/>
            <a:r>
              <a:rPr lang="en-US" altLang="zh-CN" dirty="0"/>
              <a:t>2.</a:t>
            </a:r>
            <a:r>
              <a:rPr lang="zh-CN" altLang="en-US" dirty="0"/>
              <a:t>分治</a:t>
            </a:r>
          </a:p>
          <a:p>
            <a:pPr lvl="2"/>
            <a:r>
              <a:rPr lang="en-US" altLang="zh-CN" dirty="0"/>
              <a:t>3.</a:t>
            </a:r>
            <a:r>
              <a:rPr lang="zh-CN" altLang="en-US" dirty="0"/>
              <a:t>贪心</a:t>
            </a:r>
          </a:p>
          <a:p>
            <a:pPr lvl="2"/>
            <a:r>
              <a:rPr lang="en-US" altLang="zh-CN" dirty="0"/>
              <a:t>4.</a:t>
            </a:r>
            <a:r>
              <a:rPr lang="zh-CN" altLang="en-US" dirty="0"/>
              <a:t>回溯</a:t>
            </a:r>
            <a:endParaRPr lang="en-US" altLang="zh-CN" dirty="0"/>
          </a:p>
          <a:p>
            <a:pPr lvl="1"/>
            <a:r>
              <a:rPr lang="zh-CN" altLang="en-US" dirty="0"/>
              <a:t>如果以上优化算法设计难度很大，则可以采用近似解算法来实现，启发式算法就是常用的方法。</a:t>
            </a:r>
          </a:p>
        </p:txBody>
      </p:sp>
      <p:sp>
        <p:nvSpPr>
          <p:cNvPr id="4" name="日期占位符 3">
            <a:extLst>
              <a:ext uri="{FF2B5EF4-FFF2-40B4-BE49-F238E27FC236}">
                <a16:creationId xmlns:a16="http://schemas.microsoft.com/office/drawing/2014/main" id="{F7E8B935-BD09-456F-BD8A-60E276EDBB37}"/>
              </a:ext>
            </a:extLst>
          </p:cNvPr>
          <p:cNvSpPr>
            <a:spLocks noGrp="1"/>
          </p:cNvSpPr>
          <p:nvPr>
            <p:ph type="dt" sz="half" idx="10"/>
          </p:nvPr>
        </p:nvSpPr>
        <p:spPr/>
        <p:txBody>
          <a:bodyPr/>
          <a:lstStyle/>
          <a:p>
            <a:fld id="{A8B06C41-1E1E-4B9B-9644-5AFB8CB2AB3B}" type="datetime3">
              <a:rPr lang="zh-CN" altLang="en-US" smtClean="0"/>
              <a:t>2022年11月24日星期四</a:t>
            </a:fld>
            <a:endParaRPr lang="en-US" altLang="zh-CN" dirty="0"/>
          </a:p>
        </p:txBody>
      </p:sp>
      <p:sp>
        <p:nvSpPr>
          <p:cNvPr id="5" name="灯片编号占位符 4">
            <a:extLst>
              <a:ext uri="{FF2B5EF4-FFF2-40B4-BE49-F238E27FC236}">
                <a16:creationId xmlns:a16="http://schemas.microsoft.com/office/drawing/2014/main" id="{B2E90237-D806-48ED-A5C8-4898D891C6F5}"/>
              </a:ext>
            </a:extLst>
          </p:cNvPr>
          <p:cNvSpPr>
            <a:spLocks noGrp="1"/>
          </p:cNvSpPr>
          <p:nvPr>
            <p:ph type="sldNum" sz="quarter" idx="12"/>
          </p:nvPr>
        </p:nvSpPr>
        <p:spPr/>
        <p:txBody>
          <a:bodyPr/>
          <a:lstStyle/>
          <a:p>
            <a:fld id="{7AC79822-BC0D-4DE8-A7E5-90A3732A2B82}" type="slidenum">
              <a:rPr lang="zh-CN" altLang="en-US" smtClean="0"/>
              <a:pPr/>
              <a:t>15</a:t>
            </a:fld>
            <a:endParaRPr lang="en-US" altLang="zh-CN" dirty="0"/>
          </a:p>
        </p:txBody>
      </p:sp>
    </p:spTree>
    <p:extLst>
      <p:ext uri="{BB962C8B-B14F-4D97-AF65-F5344CB8AC3E}">
        <p14:creationId xmlns:p14="http://schemas.microsoft.com/office/powerpoint/2010/main" val="12282654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4" fill="hold" nodeType="with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down)">
                                      <p:cBhvr>
                                        <p:cTn id="7" dur="500"/>
                                        <p:tgtEl>
                                          <p:spTgt spid="3">
                                            <p:txEl>
                                              <p:pRg st="0" end="0"/>
                                            </p:txEl>
                                          </p:spTgt>
                                        </p:tgtEl>
                                      </p:cBhvr>
                                    </p:animEffect>
                                  </p:childTnLst>
                                </p:cTn>
                              </p:par>
                              <p:par>
                                <p:cTn id="8" presetID="22" presetClass="entr" presetSubtype="4" fill="hold" nodeType="withEffect">
                                  <p:stCondLst>
                                    <p:cond delay="0"/>
                                  </p:stCondLst>
                                  <p:childTnLst>
                                    <p:set>
                                      <p:cBhvr>
                                        <p:cTn id="9" dur="1" fill="hold">
                                          <p:stCondLst>
                                            <p:cond delay="0"/>
                                          </p:stCondLst>
                                        </p:cTn>
                                        <p:tgtEl>
                                          <p:spTgt spid="3">
                                            <p:txEl>
                                              <p:pRg st="1" end="1"/>
                                            </p:txEl>
                                          </p:spTgt>
                                        </p:tgtEl>
                                        <p:attrNameLst>
                                          <p:attrName>style.visibility</p:attrName>
                                        </p:attrNameLst>
                                      </p:cBhvr>
                                      <p:to>
                                        <p:strVal val="visible"/>
                                      </p:to>
                                    </p:set>
                                    <p:animEffect transition="in" filter="wipe(down)">
                                      <p:cBhvr>
                                        <p:cTn id="10" dur="500"/>
                                        <p:tgtEl>
                                          <p:spTgt spid="3">
                                            <p:txEl>
                                              <p:pRg st="1" end="1"/>
                                            </p:txEl>
                                          </p:spTgt>
                                        </p:tgtEl>
                                      </p:cBhvr>
                                    </p:animEffect>
                                  </p:childTnLst>
                                </p:cTn>
                              </p:par>
                              <p:par>
                                <p:cTn id="11" presetID="22" presetClass="entr" presetSubtype="4" fill="hold" nodeType="with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animEffect transition="in" filter="wipe(down)">
                                      <p:cBhvr>
                                        <p:cTn id="13" dur="500"/>
                                        <p:tgtEl>
                                          <p:spTgt spid="3">
                                            <p:txEl>
                                              <p:pRg st="2" end="2"/>
                                            </p:txEl>
                                          </p:spTgt>
                                        </p:tgtEl>
                                      </p:cBhvr>
                                    </p:animEffect>
                                  </p:childTnLst>
                                </p:cTn>
                              </p:par>
                              <p:par>
                                <p:cTn id="14" presetID="22" presetClass="entr" presetSubtype="4" fill="hold" nodeType="withEffect">
                                  <p:stCondLst>
                                    <p:cond delay="0"/>
                                  </p:stCondLst>
                                  <p:childTnLst>
                                    <p:set>
                                      <p:cBhvr>
                                        <p:cTn id="15" dur="1" fill="hold">
                                          <p:stCondLst>
                                            <p:cond delay="0"/>
                                          </p:stCondLst>
                                        </p:cTn>
                                        <p:tgtEl>
                                          <p:spTgt spid="3">
                                            <p:txEl>
                                              <p:pRg st="3" end="3"/>
                                            </p:txEl>
                                          </p:spTgt>
                                        </p:tgtEl>
                                        <p:attrNameLst>
                                          <p:attrName>style.visibility</p:attrName>
                                        </p:attrNameLst>
                                      </p:cBhvr>
                                      <p:to>
                                        <p:strVal val="visible"/>
                                      </p:to>
                                    </p:set>
                                    <p:animEffect transition="in" filter="wipe(down)">
                                      <p:cBhvr>
                                        <p:cTn id="16" dur="500"/>
                                        <p:tgtEl>
                                          <p:spTgt spid="3">
                                            <p:txEl>
                                              <p:pRg st="3" end="3"/>
                                            </p:txEl>
                                          </p:spTgt>
                                        </p:tgtEl>
                                      </p:cBhvr>
                                    </p:animEffect>
                                  </p:childTnLst>
                                </p:cTn>
                              </p:par>
                              <p:par>
                                <p:cTn id="17" presetID="22" presetClass="entr" presetSubtype="4" fill="hold" nodeType="with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animEffect transition="in" filter="wipe(down)">
                                      <p:cBhvr>
                                        <p:cTn id="19" dur="500"/>
                                        <p:tgtEl>
                                          <p:spTgt spid="3">
                                            <p:txEl>
                                              <p:pRg st="4" end="4"/>
                                            </p:txEl>
                                          </p:spTgt>
                                        </p:tgtEl>
                                      </p:cBhvr>
                                    </p:animEffect>
                                  </p:childTnLst>
                                </p:cTn>
                              </p:par>
                              <p:par>
                                <p:cTn id="20" presetID="22" presetClass="entr" presetSubtype="4" fill="hold" nodeType="withEffect">
                                  <p:stCondLst>
                                    <p:cond delay="0"/>
                                  </p:stCondLst>
                                  <p:childTnLst>
                                    <p:set>
                                      <p:cBhvr>
                                        <p:cTn id="21" dur="1" fill="hold">
                                          <p:stCondLst>
                                            <p:cond delay="0"/>
                                          </p:stCondLst>
                                        </p:cTn>
                                        <p:tgtEl>
                                          <p:spTgt spid="3">
                                            <p:txEl>
                                              <p:pRg st="5" end="5"/>
                                            </p:txEl>
                                          </p:spTgt>
                                        </p:tgtEl>
                                        <p:attrNameLst>
                                          <p:attrName>style.visibility</p:attrName>
                                        </p:attrNameLst>
                                      </p:cBhvr>
                                      <p:to>
                                        <p:strVal val="visible"/>
                                      </p:to>
                                    </p:set>
                                    <p:animEffect transition="in" filter="wipe(down)">
                                      <p:cBhvr>
                                        <p:cTn id="22" dur="500"/>
                                        <p:tgtEl>
                                          <p:spTgt spid="3">
                                            <p:txEl>
                                              <p:pRg st="5" end="5"/>
                                            </p:txEl>
                                          </p:spTgt>
                                        </p:tgtEl>
                                      </p:cBhvr>
                                    </p:animEffect>
                                  </p:childTnLst>
                                </p:cTn>
                              </p:par>
                              <p:par>
                                <p:cTn id="23" presetID="22" presetClass="entr" presetSubtype="4" fill="hold" nodeType="withEffect">
                                  <p:stCondLst>
                                    <p:cond delay="0"/>
                                  </p:stCondLst>
                                  <p:childTnLst>
                                    <p:set>
                                      <p:cBhvr>
                                        <p:cTn id="24" dur="1" fill="hold">
                                          <p:stCondLst>
                                            <p:cond delay="0"/>
                                          </p:stCondLst>
                                        </p:cTn>
                                        <p:tgtEl>
                                          <p:spTgt spid="3">
                                            <p:txEl>
                                              <p:pRg st="6" end="6"/>
                                            </p:txEl>
                                          </p:spTgt>
                                        </p:tgtEl>
                                        <p:attrNameLst>
                                          <p:attrName>style.visibility</p:attrName>
                                        </p:attrNameLst>
                                      </p:cBhvr>
                                      <p:to>
                                        <p:strVal val="visible"/>
                                      </p:to>
                                    </p:set>
                                    <p:animEffect transition="in" filter="wipe(down)">
                                      <p:cBhvr>
                                        <p:cTn id="25" dur="500"/>
                                        <p:tgtEl>
                                          <p:spTgt spid="3">
                                            <p:txEl>
                                              <p:pRg st="6" end="6"/>
                                            </p:txEl>
                                          </p:spTgt>
                                        </p:tgtEl>
                                      </p:cBhvr>
                                    </p:animEffect>
                                  </p:childTnLst>
                                </p:cTn>
                              </p:par>
                              <p:par>
                                <p:cTn id="26" presetID="22" presetClass="entr" presetSubtype="4" fill="hold" nodeType="withEffect">
                                  <p:stCondLst>
                                    <p:cond delay="0"/>
                                  </p:stCondLst>
                                  <p:childTnLst>
                                    <p:set>
                                      <p:cBhvr>
                                        <p:cTn id="27" dur="1" fill="hold">
                                          <p:stCondLst>
                                            <p:cond delay="0"/>
                                          </p:stCondLst>
                                        </p:cTn>
                                        <p:tgtEl>
                                          <p:spTgt spid="3">
                                            <p:txEl>
                                              <p:pRg st="7" end="7"/>
                                            </p:txEl>
                                          </p:spTgt>
                                        </p:tgtEl>
                                        <p:attrNameLst>
                                          <p:attrName>style.visibility</p:attrName>
                                        </p:attrNameLst>
                                      </p:cBhvr>
                                      <p:to>
                                        <p:strVal val="visible"/>
                                      </p:to>
                                    </p:set>
                                    <p:animEffect transition="in" filter="wipe(down)">
                                      <p:cBhvr>
                                        <p:cTn id="28" dur="500"/>
                                        <p:tgtEl>
                                          <p:spTgt spid="3">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4D5C47A-D033-4456-8DA8-AF15EFB147F9}"/>
              </a:ext>
            </a:extLst>
          </p:cNvPr>
          <p:cNvSpPr>
            <a:spLocks noGrp="1"/>
          </p:cNvSpPr>
          <p:nvPr>
            <p:ph type="title"/>
          </p:nvPr>
        </p:nvSpPr>
        <p:spPr/>
        <p:txBody>
          <a:bodyPr/>
          <a:lstStyle/>
          <a:p>
            <a:r>
              <a:rPr lang="zh-CN" altLang="en-US" dirty="0"/>
              <a:t>组合优化问题</a:t>
            </a:r>
          </a:p>
        </p:txBody>
      </p:sp>
      <p:sp>
        <p:nvSpPr>
          <p:cNvPr id="3" name="内容占位符 2">
            <a:extLst>
              <a:ext uri="{FF2B5EF4-FFF2-40B4-BE49-F238E27FC236}">
                <a16:creationId xmlns:a16="http://schemas.microsoft.com/office/drawing/2014/main" id="{95A1F0F0-FD4D-4BA0-A075-A2998DB40089}"/>
              </a:ext>
            </a:extLst>
          </p:cNvPr>
          <p:cNvSpPr>
            <a:spLocks noGrp="1"/>
          </p:cNvSpPr>
          <p:nvPr>
            <p:ph idx="1"/>
          </p:nvPr>
        </p:nvSpPr>
        <p:spPr/>
        <p:txBody>
          <a:bodyPr/>
          <a:lstStyle/>
          <a:p>
            <a:r>
              <a:rPr lang="zh-CN" altLang="en-US" dirty="0"/>
              <a:t>启发式算法</a:t>
            </a:r>
            <a:endParaRPr lang="en-US" altLang="zh-CN" dirty="0"/>
          </a:p>
          <a:p>
            <a:pPr lvl="1"/>
            <a:r>
              <a:rPr lang="zh-CN" altLang="en-US" dirty="0"/>
              <a:t>通过启发式信息来进行求解，算法设计简单，通常得到的是近似解，但是可以解决工程问题。</a:t>
            </a:r>
            <a:endParaRPr lang="en-US" altLang="zh-CN" dirty="0"/>
          </a:p>
          <a:p>
            <a:pPr lvl="1"/>
            <a:r>
              <a:rPr lang="zh-CN" altLang="en-US" dirty="0"/>
              <a:t>分类：</a:t>
            </a:r>
          </a:p>
          <a:p>
            <a:pPr lvl="2"/>
            <a:r>
              <a:rPr lang="zh-CN" altLang="en-US" dirty="0"/>
              <a:t>蚁群算法</a:t>
            </a:r>
          </a:p>
          <a:p>
            <a:pPr lvl="2"/>
            <a:r>
              <a:rPr lang="zh-CN" altLang="en-US" dirty="0"/>
              <a:t>遗传算法</a:t>
            </a:r>
          </a:p>
          <a:p>
            <a:pPr lvl="2"/>
            <a:r>
              <a:rPr lang="zh-CN" altLang="en-US" dirty="0"/>
              <a:t>模拟退火算法</a:t>
            </a:r>
          </a:p>
          <a:p>
            <a:pPr lvl="2"/>
            <a:r>
              <a:rPr lang="zh-CN" altLang="en-US" dirty="0">
                <a:solidFill>
                  <a:srgbClr val="FF0000"/>
                </a:solidFill>
              </a:rPr>
              <a:t>神经网络算法</a:t>
            </a:r>
            <a:endParaRPr lang="en-US" altLang="zh-CN" dirty="0">
              <a:solidFill>
                <a:srgbClr val="FF0000"/>
              </a:solidFill>
            </a:endParaRPr>
          </a:p>
          <a:p>
            <a:pPr lvl="1"/>
            <a:endParaRPr lang="zh-CN" altLang="en-US" dirty="0"/>
          </a:p>
        </p:txBody>
      </p:sp>
      <p:sp>
        <p:nvSpPr>
          <p:cNvPr id="4" name="日期占位符 3">
            <a:extLst>
              <a:ext uri="{FF2B5EF4-FFF2-40B4-BE49-F238E27FC236}">
                <a16:creationId xmlns:a16="http://schemas.microsoft.com/office/drawing/2014/main" id="{3B31D9B2-9C71-43E2-AEA1-E0459DB75441}"/>
              </a:ext>
            </a:extLst>
          </p:cNvPr>
          <p:cNvSpPr>
            <a:spLocks noGrp="1"/>
          </p:cNvSpPr>
          <p:nvPr>
            <p:ph type="dt" sz="half" idx="10"/>
          </p:nvPr>
        </p:nvSpPr>
        <p:spPr/>
        <p:txBody>
          <a:bodyPr/>
          <a:lstStyle/>
          <a:p>
            <a:fld id="{A8B06C41-1E1E-4B9B-9644-5AFB8CB2AB3B}" type="datetime3">
              <a:rPr lang="zh-CN" altLang="en-US" smtClean="0"/>
              <a:t>2022年11月24日星期四</a:t>
            </a:fld>
            <a:endParaRPr lang="en-US" altLang="zh-CN" dirty="0"/>
          </a:p>
        </p:txBody>
      </p:sp>
      <p:sp>
        <p:nvSpPr>
          <p:cNvPr id="5" name="灯片编号占位符 4">
            <a:extLst>
              <a:ext uri="{FF2B5EF4-FFF2-40B4-BE49-F238E27FC236}">
                <a16:creationId xmlns:a16="http://schemas.microsoft.com/office/drawing/2014/main" id="{F9B94547-6AC2-454F-89B8-28FA78C239DD}"/>
              </a:ext>
            </a:extLst>
          </p:cNvPr>
          <p:cNvSpPr>
            <a:spLocks noGrp="1"/>
          </p:cNvSpPr>
          <p:nvPr>
            <p:ph type="sldNum" sz="quarter" idx="12"/>
          </p:nvPr>
        </p:nvSpPr>
        <p:spPr/>
        <p:txBody>
          <a:bodyPr/>
          <a:lstStyle/>
          <a:p>
            <a:fld id="{7AC79822-BC0D-4DE8-A7E5-90A3732A2B82}" type="slidenum">
              <a:rPr lang="zh-CN" altLang="en-US" smtClean="0"/>
              <a:pPr/>
              <a:t>16</a:t>
            </a:fld>
            <a:endParaRPr lang="en-US" altLang="zh-CN" dirty="0"/>
          </a:p>
        </p:txBody>
      </p:sp>
    </p:spTree>
    <p:extLst>
      <p:ext uri="{BB962C8B-B14F-4D97-AF65-F5344CB8AC3E}">
        <p14:creationId xmlns:p14="http://schemas.microsoft.com/office/powerpoint/2010/main" val="23699308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4" fill="hold" nodeType="with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down)">
                                      <p:cBhvr>
                                        <p:cTn id="7" dur="500"/>
                                        <p:tgtEl>
                                          <p:spTgt spid="3">
                                            <p:txEl>
                                              <p:pRg st="0" end="0"/>
                                            </p:txEl>
                                          </p:spTgt>
                                        </p:tgtEl>
                                      </p:cBhvr>
                                    </p:animEffect>
                                  </p:childTnLst>
                                </p:cTn>
                              </p:par>
                              <p:par>
                                <p:cTn id="8" presetID="22" presetClass="entr" presetSubtype="4" fill="hold" nodeType="withEffect">
                                  <p:stCondLst>
                                    <p:cond delay="0"/>
                                  </p:stCondLst>
                                  <p:childTnLst>
                                    <p:set>
                                      <p:cBhvr>
                                        <p:cTn id="9" dur="1" fill="hold">
                                          <p:stCondLst>
                                            <p:cond delay="0"/>
                                          </p:stCondLst>
                                        </p:cTn>
                                        <p:tgtEl>
                                          <p:spTgt spid="3">
                                            <p:txEl>
                                              <p:pRg st="1" end="1"/>
                                            </p:txEl>
                                          </p:spTgt>
                                        </p:tgtEl>
                                        <p:attrNameLst>
                                          <p:attrName>style.visibility</p:attrName>
                                        </p:attrNameLst>
                                      </p:cBhvr>
                                      <p:to>
                                        <p:strVal val="visible"/>
                                      </p:to>
                                    </p:set>
                                    <p:animEffect transition="in" filter="wipe(down)">
                                      <p:cBhvr>
                                        <p:cTn id="10" dur="500"/>
                                        <p:tgtEl>
                                          <p:spTgt spid="3">
                                            <p:txEl>
                                              <p:pRg st="1" end="1"/>
                                            </p:txEl>
                                          </p:spTgt>
                                        </p:tgtEl>
                                      </p:cBhvr>
                                    </p:animEffect>
                                  </p:childTnLst>
                                </p:cTn>
                              </p:par>
                              <p:par>
                                <p:cTn id="11" presetID="22" presetClass="entr" presetSubtype="4" fill="hold" nodeType="with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animEffect transition="in" filter="wipe(down)">
                                      <p:cBhvr>
                                        <p:cTn id="13" dur="500"/>
                                        <p:tgtEl>
                                          <p:spTgt spid="3">
                                            <p:txEl>
                                              <p:pRg st="2" end="2"/>
                                            </p:txEl>
                                          </p:spTgt>
                                        </p:tgtEl>
                                      </p:cBhvr>
                                    </p:animEffect>
                                  </p:childTnLst>
                                </p:cTn>
                              </p:par>
                              <p:par>
                                <p:cTn id="14" presetID="22" presetClass="entr" presetSubtype="4" fill="hold" nodeType="withEffect">
                                  <p:stCondLst>
                                    <p:cond delay="0"/>
                                  </p:stCondLst>
                                  <p:childTnLst>
                                    <p:set>
                                      <p:cBhvr>
                                        <p:cTn id="15" dur="1" fill="hold">
                                          <p:stCondLst>
                                            <p:cond delay="0"/>
                                          </p:stCondLst>
                                        </p:cTn>
                                        <p:tgtEl>
                                          <p:spTgt spid="3">
                                            <p:txEl>
                                              <p:pRg st="3" end="3"/>
                                            </p:txEl>
                                          </p:spTgt>
                                        </p:tgtEl>
                                        <p:attrNameLst>
                                          <p:attrName>style.visibility</p:attrName>
                                        </p:attrNameLst>
                                      </p:cBhvr>
                                      <p:to>
                                        <p:strVal val="visible"/>
                                      </p:to>
                                    </p:set>
                                    <p:animEffect transition="in" filter="wipe(down)">
                                      <p:cBhvr>
                                        <p:cTn id="16" dur="500"/>
                                        <p:tgtEl>
                                          <p:spTgt spid="3">
                                            <p:txEl>
                                              <p:pRg st="3" end="3"/>
                                            </p:txEl>
                                          </p:spTgt>
                                        </p:tgtEl>
                                      </p:cBhvr>
                                    </p:animEffect>
                                  </p:childTnLst>
                                </p:cTn>
                              </p:par>
                              <p:par>
                                <p:cTn id="17" presetID="22" presetClass="entr" presetSubtype="4" fill="hold" nodeType="with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animEffect transition="in" filter="wipe(down)">
                                      <p:cBhvr>
                                        <p:cTn id="19" dur="500"/>
                                        <p:tgtEl>
                                          <p:spTgt spid="3">
                                            <p:txEl>
                                              <p:pRg st="4" end="4"/>
                                            </p:txEl>
                                          </p:spTgt>
                                        </p:tgtEl>
                                      </p:cBhvr>
                                    </p:animEffect>
                                  </p:childTnLst>
                                </p:cTn>
                              </p:par>
                              <p:par>
                                <p:cTn id="20" presetID="22" presetClass="entr" presetSubtype="4" fill="hold" nodeType="withEffect">
                                  <p:stCondLst>
                                    <p:cond delay="0"/>
                                  </p:stCondLst>
                                  <p:childTnLst>
                                    <p:set>
                                      <p:cBhvr>
                                        <p:cTn id="21" dur="1" fill="hold">
                                          <p:stCondLst>
                                            <p:cond delay="0"/>
                                          </p:stCondLst>
                                        </p:cTn>
                                        <p:tgtEl>
                                          <p:spTgt spid="3">
                                            <p:txEl>
                                              <p:pRg st="5" end="5"/>
                                            </p:txEl>
                                          </p:spTgt>
                                        </p:tgtEl>
                                        <p:attrNameLst>
                                          <p:attrName>style.visibility</p:attrName>
                                        </p:attrNameLst>
                                      </p:cBhvr>
                                      <p:to>
                                        <p:strVal val="visible"/>
                                      </p:to>
                                    </p:set>
                                    <p:animEffect transition="in" filter="wipe(down)">
                                      <p:cBhvr>
                                        <p:cTn id="22" dur="500"/>
                                        <p:tgtEl>
                                          <p:spTgt spid="3">
                                            <p:txEl>
                                              <p:pRg st="5" end="5"/>
                                            </p:txEl>
                                          </p:spTgt>
                                        </p:tgtEl>
                                      </p:cBhvr>
                                    </p:animEffect>
                                  </p:childTnLst>
                                </p:cTn>
                              </p:par>
                              <p:par>
                                <p:cTn id="23" presetID="22" presetClass="entr" presetSubtype="4" fill="hold" nodeType="withEffect">
                                  <p:stCondLst>
                                    <p:cond delay="0"/>
                                  </p:stCondLst>
                                  <p:childTnLst>
                                    <p:set>
                                      <p:cBhvr>
                                        <p:cTn id="24" dur="1" fill="hold">
                                          <p:stCondLst>
                                            <p:cond delay="0"/>
                                          </p:stCondLst>
                                        </p:cTn>
                                        <p:tgtEl>
                                          <p:spTgt spid="3">
                                            <p:txEl>
                                              <p:pRg st="6" end="6"/>
                                            </p:txEl>
                                          </p:spTgt>
                                        </p:tgtEl>
                                        <p:attrNameLst>
                                          <p:attrName>style.visibility</p:attrName>
                                        </p:attrNameLst>
                                      </p:cBhvr>
                                      <p:to>
                                        <p:strVal val="visible"/>
                                      </p:to>
                                    </p:set>
                                    <p:animEffect transition="in" filter="wipe(down)">
                                      <p:cBhvr>
                                        <p:cTn id="25" dur="500"/>
                                        <p:tgtEl>
                                          <p:spTgt spid="3">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894B14C-73A9-420F-8162-2836979BDB8E}"/>
              </a:ext>
            </a:extLst>
          </p:cNvPr>
          <p:cNvSpPr>
            <a:spLocks noGrp="1"/>
          </p:cNvSpPr>
          <p:nvPr>
            <p:ph type="title"/>
          </p:nvPr>
        </p:nvSpPr>
        <p:spPr/>
        <p:txBody>
          <a:bodyPr/>
          <a:lstStyle/>
          <a:p>
            <a:r>
              <a:rPr lang="zh-CN" altLang="en-US" dirty="0"/>
              <a:t>启发式算法</a:t>
            </a:r>
            <a:r>
              <a:rPr lang="en-US" altLang="zh-CN" dirty="0"/>
              <a:t>—</a:t>
            </a:r>
            <a:r>
              <a:rPr lang="zh-CN" altLang="en-US" dirty="0"/>
              <a:t>蚁群算法</a:t>
            </a:r>
          </a:p>
        </p:txBody>
      </p:sp>
      <p:sp>
        <p:nvSpPr>
          <p:cNvPr id="3" name="内容占位符 2">
            <a:extLst>
              <a:ext uri="{FF2B5EF4-FFF2-40B4-BE49-F238E27FC236}">
                <a16:creationId xmlns:a16="http://schemas.microsoft.com/office/drawing/2014/main" id="{93EBEAE7-C99F-4641-A17B-4E51211FC08D}"/>
              </a:ext>
            </a:extLst>
          </p:cNvPr>
          <p:cNvSpPr>
            <a:spLocks noGrp="1"/>
          </p:cNvSpPr>
          <p:nvPr>
            <p:ph idx="1"/>
          </p:nvPr>
        </p:nvSpPr>
        <p:spPr/>
        <p:txBody>
          <a:bodyPr/>
          <a:lstStyle/>
          <a:p>
            <a:r>
              <a:rPr lang="zh-CN" altLang="zh-CN" dirty="0"/>
              <a:t>蚂蚁几乎没有视力，但他们却能够在黑暗的</a:t>
            </a:r>
            <a:r>
              <a:rPr lang="zh-CN" altLang="en-US" dirty="0"/>
              <a:t>环境下</a:t>
            </a:r>
            <a:r>
              <a:rPr lang="zh-CN" altLang="zh-CN" dirty="0"/>
              <a:t>找到食物，而且能够找到一条从洞穴到食物的</a:t>
            </a:r>
            <a:r>
              <a:rPr lang="zh-CN" altLang="zh-CN" dirty="0">
                <a:solidFill>
                  <a:srgbClr val="FF0000"/>
                </a:solidFill>
              </a:rPr>
              <a:t>最短路径</a:t>
            </a:r>
            <a:r>
              <a:rPr lang="zh-CN" altLang="zh-CN" dirty="0"/>
              <a:t>。它们是如何做到的呢？</a:t>
            </a:r>
          </a:p>
          <a:p>
            <a:endParaRPr lang="zh-CN" altLang="en-US" dirty="0"/>
          </a:p>
        </p:txBody>
      </p:sp>
      <p:sp>
        <p:nvSpPr>
          <p:cNvPr id="4" name="日期占位符 3">
            <a:extLst>
              <a:ext uri="{FF2B5EF4-FFF2-40B4-BE49-F238E27FC236}">
                <a16:creationId xmlns:a16="http://schemas.microsoft.com/office/drawing/2014/main" id="{D22F2518-4508-4994-97F1-25163516E8F8}"/>
              </a:ext>
            </a:extLst>
          </p:cNvPr>
          <p:cNvSpPr>
            <a:spLocks noGrp="1"/>
          </p:cNvSpPr>
          <p:nvPr>
            <p:ph type="dt" sz="half" idx="10"/>
          </p:nvPr>
        </p:nvSpPr>
        <p:spPr/>
        <p:txBody>
          <a:bodyPr/>
          <a:lstStyle/>
          <a:p>
            <a:fld id="{A8B06C41-1E1E-4B9B-9644-5AFB8CB2AB3B}" type="datetime3">
              <a:rPr lang="zh-CN" altLang="en-US" smtClean="0"/>
              <a:t>2022年11月24日星期四</a:t>
            </a:fld>
            <a:endParaRPr lang="en-US" altLang="zh-CN" dirty="0"/>
          </a:p>
        </p:txBody>
      </p:sp>
      <p:sp>
        <p:nvSpPr>
          <p:cNvPr id="5" name="灯片编号占位符 4">
            <a:extLst>
              <a:ext uri="{FF2B5EF4-FFF2-40B4-BE49-F238E27FC236}">
                <a16:creationId xmlns:a16="http://schemas.microsoft.com/office/drawing/2014/main" id="{00FF6769-9969-42FA-970A-983E21AD3DBB}"/>
              </a:ext>
            </a:extLst>
          </p:cNvPr>
          <p:cNvSpPr>
            <a:spLocks noGrp="1"/>
          </p:cNvSpPr>
          <p:nvPr>
            <p:ph type="sldNum" sz="quarter" idx="12"/>
          </p:nvPr>
        </p:nvSpPr>
        <p:spPr/>
        <p:txBody>
          <a:bodyPr/>
          <a:lstStyle/>
          <a:p>
            <a:fld id="{7AC79822-BC0D-4DE8-A7E5-90A3732A2B82}" type="slidenum">
              <a:rPr lang="zh-CN" altLang="en-US" smtClean="0"/>
              <a:pPr/>
              <a:t>17</a:t>
            </a:fld>
            <a:endParaRPr lang="en-US" altLang="zh-CN" dirty="0"/>
          </a:p>
        </p:txBody>
      </p:sp>
      <p:pic>
        <p:nvPicPr>
          <p:cNvPr id="7" name="20 6">
            <a:extLst>
              <a:ext uri="{FF2B5EF4-FFF2-40B4-BE49-F238E27FC236}">
                <a16:creationId xmlns:a16="http://schemas.microsoft.com/office/drawing/2014/main" id="{750DF3D8-2769-4EA2-B86A-D1733DBBC0A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622377" y="2995734"/>
            <a:ext cx="4752528" cy="3564396"/>
          </a:xfrm>
          <a:prstGeom prst="rect">
            <a:avLst/>
          </a:prstGeom>
        </p:spPr>
      </p:pic>
      <p:pic>
        <p:nvPicPr>
          <p:cNvPr id="1026" name="Picture 2" descr="https://gimg2.baidu.com/image_search/src=http%3A%2F%2Fi-3.yxdown.com%2F2015%2F12%2F8%2Ff888d8a7-638b-42b8-8905-62398a99c138.png&amp;refer=http%3A%2F%2Fi-3.yxdown.com&amp;app=2002&amp;size=f9999,10000&amp;q=a80&amp;n=0&amp;g=0n&amp;fmt=jpeg?sec=1640444541&amp;t=9c5fd0a255f890822b3abb4116d5eaf1">
            <a:extLst>
              <a:ext uri="{FF2B5EF4-FFF2-40B4-BE49-F238E27FC236}">
                <a16:creationId xmlns:a16="http://schemas.microsoft.com/office/drawing/2014/main" id="{56C44537-33B9-48E3-9E96-4A932AFF93D0}"/>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98103" y="3063432"/>
            <a:ext cx="3429000" cy="3429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81712690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4" fill="hold" nodeType="with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down)">
                                      <p:cBhvr>
                                        <p:cTn id="7" dur="500"/>
                                        <p:tgtEl>
                                          <p:spTgt spid="3">
                                            <p:txEl>
                                              <p:pRg st="0" end="0"/>
                                            </p:txEl>
                                          </p:spTgt>
                                        </p:tgtEl>
                                      </p:cBhvr>
                                    </p:animEffect>
                                  </p:childTnLst>
                                </p:cTn>
                              </p:par>
                            </p:childTnLst>
                          </p:cTn>
                        </p:par>
                        <p:par>
                          <p:cTn id="8" fill="hold">
                            <p:stCondLst>
                              <p:cond delay="500"/>
                            </p:stCondLst>
                            <p:childTnLst>
                              <p:par>
                                <p:cTn id="9" presetID="22" presetClass="entr" presetSubtype="4" fill="hold" nodeType="afterEffect">
                                  <p:stCondLst>
                                    <p:cond delay="0"/>
                                  </p:stCondLst>
                                  <p:childTnLst>
                                    <p:set>
                                      <p:cBhvr>
                                        <p:cTn id="10" dur="1" fill="hold">
                                          <p:stCondLst>
                                            <p:cond delay="0"/>
                                          </p:stCondLst>
                                        </p:cTn>
                                        <p:tgtEl>
                                          <p:spTgt spid="1026"/>
                                        </p:tgtEl>
                                        <p:attrNameLst>
                                          <p:attrName>style.visibility</p:attrName>
                                        </p:attrNameLst>
                                      </p:cBhvr>
                                      <p:to>
                                        <p:strVal val="visible"/>
                                      </p:to>
                                    </p:set>
                                    <p:animEffect transition="in" filter="wipe(down)">
                                      <p:cBhvr>
                                        <p:cTn id="11" dur="500"/>
                                        <p:tgtEl>
                                          <p:spTgt spid="1026"/>
                                        </p:tgtEl>
                                      </p:cBhvr>
                                    </p:animEffect>
                                  </p:childTnLst>
                                </p:cTn>
                              </p:par>
                              <p:par>
                                <p:cTn id="12" presetID="22" presetClass="entr" presetSubtype="4" fill="hold" nodeType="withEffect">
                                  <p:stCondLst>
                                    <p:cond delay="0"/>
                                  </p:stCondLst>
                                  <p:childTnLst>
                                    <p:set>
                                      <p:cBhvr>
                                        <p:cTn id="13" dur="1" fill="hold">
                                          <p:stCondLst>
                                            <p:cond delay="0"/>
                                          </p:stCondLst>
                                        </p:cTn>
                                        <p:tgtEl>
                                          <p:spTgt spid="7"/>
                                        </p:tgtEl>
                                        <p:attrNameLst>
                                          <p:attrName>style.visibility</p:attrName>
                                        </p:attrNameLst>
                                      </p:cBhvr>
                                      <p:to>
                                        <p:strVal val="visible"/>
                                      </p:to>
                                    </p:set>
                                    <p:animEffect transition="in" filter="wipe(down)">
                                      <p:cBhvr>
                                        <p:cTn id="14"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E8BDA22-EB48-498B-9E99-D98D3134919E}"/>
              </a:ext>
            </a:extLst>
          </p:cNvPr>
          <p:cNvSpPr>
            <a:spLocks noGrp="1"/>
          </p:cNvSpPr>
          <p:nvPr>
            <p:ph type="title"/>
          </p:nvPr>
        </p:nvSpPr>
        <p:spPr/>
        <p:txBody>
          <a:bodyPr/>
          <a:lstStyle/>
          <a:p>
            <a:r>
              <a:rPr lang="zh-CN" altLang="en-US" dirty="0"/>
              <a:t>启发式算法</a:t>
            </a:r>
            <a:r>
              <a:rPr lang="en-US" altLang="zh-CN" dirty="0"/>
              <a:t>—</a:t>
            </a:r>
            <a:r>
              <a:rPr lang="zh-CN" altLang="en-US" dirty="0"/>
              <a:t>蚁群算法</a:t>
            </a:r>
          </a:p>
        </p:txBody>
      </p:sp>
      <p:sp>
        <p:nvSpPr>
          <p:cNvPr id="3" name="内容占位符 2">
            <a:extLst>
              <a:ext uri="{FF2B5EF4-FFF2-40B4-BE49-F238E27FC236}">
                <a16:creationId xmlns:a16="http://schemas.microsoft.com/office/drawing/2014/main" id="{85E56780-737D-44B7-9740-806CB1FDF845}"/>
              </a:ext>
            </a:extLst>
          </p:cNvPr>
          <p:cNvSpPr>
            <a:spLocks noGrp="1"/>
          </p:cNvSpPr>
          <p:nvPr>
            <p:ph idx="1"/>
          </p:nvPr>
        </p:nvSpPr>
        <p:spPr/>
        <p:txBody>
          <a:bodyPr/>
          <a:lstStyle/>
          <a:p>
            <a:r>
              <a:rPr lang="zh-CN" altLang="zh-CN" dirty="0"/>
              <a:t>蚁群算法</a:t>
            </a:r>
            <a:r>
              <a:rPr lang="en-US" altLang="zh-CN" dirty="0"/>
              <a:t>(Ant </a:t>
            </a:r>
            <a:r>
              <a:rPr lang="en-US" altLang="zh-CN"/>
              <a:t>Colony Optimization</a:t>
            </a:r>
            <a:r>
              <a:rPr lang="en-US" altLang="zh-CN" dirty="0"/>
              <a:t>, ACO)</a:t>
            </a:r>
            <a:r>
              <a:rPr lang="zh-CN" altLang="zh-CN" dirty="0"/>
              <a:t>，又称蚂蚁算法，</a:t>
            </a:r>
            <a:r>
              <a:rPr lang="zh-CN" altLang="en-US" dirty="0"/>
              <a:t>由马克</a:t>
            </a:r>
            <a:r>
              <a:rPr lang="en-US" altLang="zh-CN" dirty="0"/>
              <a:t>.</a:t>
            </a:r>
            <a:r>
              <a:rPr lang="zh-CN" altLang="en-US" dirty="0"/>
              <a:t> 多里戈</a:t>
            </a:r>
            <a:r>
              <a:rPr lang="en-US" altLang="zh-CN" dirty="0"/>
              <a:t>(Marco Dorigo)</a:t>
            </a:r>
            <a:r>
              <a:rPr lang="zh-CN" altLang="en-US" dirty="0"/>
              <a:t>于</a:t>
            </a:r>
            <a:r>
              <a:rPr lang="en-US" altLang="zh-CN" dirty="0"/>
              <a:t>1992</a:t>
            </a:r>
            <a:r>
              <a:rPr lang="zh-CN" altLang="en-US" dirty="0"/>
              <a:t>年在他的博士论文中提出。</a:t>
            </a:r>
            <a:r>
              <a:rPr lang="zh-CN" altLang="zh-CN" dirty="0"/>
              <a:t>是一种用来在图中</a:t>
            </a:r>
            <a:r>
              <a:rPr lang="zh-CN" altLang="zh-CN" dirty="0">
                <a:solidFill>
                  <a:srgbClr val="FF0000"/>
                </a:solidFill>
              </a:rPr>
              <a:t>寻找优化路径</a:t>
            </a:r>
            <a:r>
              <a:rPr lang="zh-CN" altLang="zh-CN" dirty="0"/>
              <a:t>的机率型算法。</a:t>
            </a:r>
            <a:endParaRPr lang="en-US" altLang="zh-CN" dirty="0"/>
          </a:p>
          <a:p>
            <a:pPr lvl="1"/>
            <a:r>
              <a:rPr lang="zh-CN" altLang="zh-CN" dirty="0"/>
              <a:t>其灵感来源于蚂蚁在寻找食物过程中发现路径的行为。</a:t>
            </a:r>
            <a:endParaRPr lang="en-US" altLang="zh-CN" dirty="0"/>
          </a:p>
          <a:p>
            <a:pPr lvl="1"/>
            <a:r>
              <a:rPr lang="zh-CN" altLang="en-US" dirty="0"/>
              <a:t>最初用于解决</a:t>
            </a:r>
            <a:r>
              <a:rPr lang="zh-CN" altLang="zh-CN" dirty="0">
                <a:solidFill>
                  <a:srgbClr val="7030A0"/>
                </a:solidFill>
              </a:rPr>
              <a:t>旅行商问题</a:t>
            </a:r>
            <a:r>
              <a:rPr lang="en-US" altLang="zh-CN" dirty="0">
                <a:solidFill>
                  <a:srgbClr val="7030A0"/>
                </a:solidFill>
              </a:rPr>
              <a:t>(Traveling </a:t>
            </a:r>
            <a:r>
              <a:rPr lang="en-US" altLang="zh-CN" dirty="0" err="1">
                <a:solidFill>
                  <a:srgbClr val="7030A0"/>
                </a:solidFill>
              </a:rPr>
              <a:t>Saleman</a:t>
            </a:r>
            <a:r>
              <a:rPr lang="en-US" altLang="zh-CN" dirty="0">
                <a:solidFill>
                  <a:srgbClr val="7030A0"/>
                </a:solidFill>
              </a:rPr>
              <a:t> Problem</a:t>
            </a:r>
            <a:r>
              <a:rPr lang="zh-CN" altLang="zh-CN" dirty="0">
                <a:solidFill>
                  <a:srgbClr val="7030A0"/>
                </a:solidFill>
              </a:rPr>
              <a:t>，</a:t>
            </a:r>
            <a:r>
              <a:rPr lang="en-US" altLang="zh-CN" dirty="0">
                <a:solidFill>
                  <a:srgbClr val="7030A0"/>
                </a:solidFill>
              </a:rPr>
              <a:t>TSP)</a:t>
            </a:r>
            <a:r>
              <a:rPr lang="zh-CN" altLang="zh-CN" dirty="0"/>
              <a:t>。</a:t>
            </a:r>
          </a:p>
          <a:p>
            <a:pPr marL="0" indent="0">
              <a:buNone/>
            </a:pPr>
            <a:endParaRPr lang="zh-CN" altLang="en-US" dirty="0"/>
          </a:p>
        </p:txBody>
      </p:sp>
      <p:sp>
        <p:nvSpPr>
          <p:cNvPr id="4" name="日期占位符 3">
            <a:extLst>
              <a:ext uri="{FF2B5EF4-FFF2-40B4-BE49-F238E27FC236}">
                <a16:creationId xmlns:a16="http://schemas.microsoft.com/office/drawing/2014/main" id="{EF56C373-1F52-4F42-877E-5CC9FC2C51FD}"/>
              </a:ext>
            </a:extLst>
          </p:cNvPr>
          <p:cNvSpPr>
            <a:spLocks noGrp="1"/>
          </p:cNvSpPr>
          <p:nvPr>
            <p:ph type="dt" sz="half" idx="10"/>
          </p:nvPr>
        </p:nvSpPr>
        <p:spPr/>
        <p:txBody>
          <a:bodyPr/>
          <a:lstStyle/>
          <a:p>
            <a:fld id="{A8B06C41-1E1E-4B9B-9644-5AFB8CB2AB3B}" type="datetime3">
              <a:rPr lang="zh-CN" altLang="en-US" smtClean="0"/>
              <a:t>2022年11月24日星期四</a:t>
            </a:fld>
            <a:endParaRPr lang="en-US" altLang="zh-CN" dirty="0"/>
          </a:p>
        </p:txBody>
      </p:sp>
      <p:sp>
        <p:nvSpPr>
          <p:cNvPr id="5" name="灯片编号占位符 4">
            <a:extLst>
              <a:ext uri="{FF2B5EF4-FFF2-40B4-BE49-F238E27FC236}">
                <a16:creationId xmlns:a16="http://schemas.microsoft.com/office/drawing/2014/main" id="{A0D6F74B-F1D7-41FF-AFB7-FB4B8EFB6839}"/>
              </a:ext>
            </a:extLst>
          </p:cNvPr>
          <p:cNvSpPr>
            <a:spLocks noGrp="1"/>
          </p:cNvSpPr>
          <p:nvPr>
            <p:ph type="sldNum" sz="quarter" idx="12"/>
          </p:nvPr>
        </p:nvSpPr>
        <p:spPr/>
        <p:txBody>
          <a:bodyPr/>
          <a:lstStyle/>
          <a:p>
            <a:fld id="{7AC79822-BC0D-4DE8-A7E5-90A3732A2B82}" type="slidenum">
              <a:rPr lang="zh-CN" altLang="en-US" smtClean="0"/>
              <a:pPr/>
              <a:t>18</a:t>
            </a:fld>
            <a:endParaRPr lang="en-US" altLang="zh-CN" dirty="0"/>
          </a:p>
        </p:txBody>
      </p:sp>
    </p:spTree>
    <p:extLst>
      <p:ext uri="{BB962C8B-B14F-4D97-AF65-F5344CB8AC3E}">
        <p14:creationId xmlns:p14="http://schemas.microsoft.com/office/powerpoint/2010/main" val="160902467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4" fill="hold" nodeType="with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down)">
                                      <p:cBhvr>
                                        <p:cTn id="7" dur="500"/>
                                        <p:tgtEl>
                                          <p:spTgt spid="3">
                                            <p:txEl>
                                              <p:pRg st="0" end="0"/>
                                            </p:txEl>
                                          </p:spTgt>
                                        </p:tgtEl>
                                      </p:cBhvr>
                                    </p:animEffect>
                                  </p:childTnLst>
                                </p:cTn>
                              </p:par>
                              <p:par>
                                <p:cTn id="8" presetID="22" presetClass="entr" presetSubtype="4" fill="hold" nodeType="withEffect">
                                  <p:stCondLst>
                                    <p:cond delay="0"/>
                                  </p:stCondLst>
                                  <p:childTnLst>
                                    <p:set>
                                      <p:cBhvr>
                                        <p:cTn id="9" dur="1" fill="hold">
                                          <p:stCondLst>
                                            <p:cond delay="0"/>
                                          </p:stCondLst>
                                        </p:cTn>
                                        <p:tgtEl>
                                          <p:spTgt spid="3">
                                            <p:txEl>
                                              <p:pRg st="1" end="1"/>
                                            </p:txEl>
                                          </p:spTgt>
                                        </p:tgtEl>
                                        <p:attrNameLst>
                                          <p:attrName>style.visibility</p:attrName>
                                        </p:attrNameLst>
                                      </p:cBhvr>
                                      <p:to>
                                        <p:strVal val="visible"/>
                                      </p:to>
                                    </p:set>
                                    <p:animEffect transition="in" filter="wipe(down)">
                                      <p:cBhvr>
                                        <p:cTn id="10" dur="500"/>
                                        <p:tgtEl>
                                          <p:spTgt spid="3">
                                            <p:txEl>
                                              <p:pRg st="1" end="1"/>
                                            </p:txEl>
                                          </p:spTgt>
                                        </p:tgtEl>
                                      </p:cBhvr>
                                    </p:animEffect>
                                  </p:childTnLst>
                                </p:cTn>
                              </p:par>
                              <p:par>
                                <p:cTn id="11" presetID="22" presetClass="entr" presetSubtype="4" fill="hold" nodeType="with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animEffect transition="in" filter="wipe(down)">
                                      <p:cBhvr>
                                        <p:cTn id="13" dur="500"/>
                                        <p:tgtEl>
                                          <p:spTgt spid="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7C57908-52D9-422D-B21B-E77C1B19EA5F}"/>
              </a:ext>
            </a:extLst>
          </p:cNvPr>
          <p:cNvSpPr>
            <a:spLocks noGrp="1"/>
          </p:cNvSpPr>
          <p:nvPr>
            <p:ph type="title"/>
          </p:nvPr>
        </p:nvSpPr>
        <p:spPr/>
        <p:txBody>
          <a:bodyPr/>
          <a:lstStyle/>
          <a:p>
            <a:r>
              <a:rPr lang="zh-CN" altLang="en-US" dirty="0"/>
              <a:t>启发式算法</a:t>
            </a:r>
            <a:r>
              <a:rPr lang="en-US" altLang="zh-CN" dirty="0"/>
              <a:t>—</a:t>
            </a:r>
            <a:r>
              <a:rPr lang="zh-CN" altLang="en-US" dirty="0"/>
              <a:t>蚁群算法</a:t>
            </a:r>
          </a:p>
        </p:txBody>
      </p:sp>
      <p:sp>
        <p:nvSpPr>
          <p:cNvPr id="3" name="内容占位符 2">
            <a:extLst>
              <a:ext uri="{FF2B5EF4-FFF2-40B4-BE49-F238E27FC236}">
                <a16:creationId xmlns:a16="http://schemas.microsoft.com/office/drawing/2014/main" id="{81FD2591-44B4-4B13-A069-FFF558FA8720}"/>
              </a:ext>
            </a:extLst>
          </p:cNvPr>
          <p:cNvSpPr>
            <a:spLocks noGrp="1"/>
          </p:cNvSpPr>
          <p:nvPr>
            <p:ph idx="1"/>
          </p:nvPr>
        </p:nvSpPr>
        <p:spPr/>
        <p:txBody>
          <a:bodyPr/>
          <a:lstStyle/>
          <a:p>
            <a:r>
              <a:rPr lang="zh-CN" altLang="en-US" dirty="0"/>
              <a:t>蚁群优化算法最初用于解决</a:t>
            </a:r>
            <a:r>
              <a:rPr lang="en-US" altLang="zh-CN" dirty="0">
                <a:solidFill>
                  <a:srgbClr val="FF0000"/>
                </a:solidFill>
              </a:rPr>
              <a:t>TSP</a:t>
            </a:r>
            <a:r>
              <a:rPr lang="zh-CN" altLang="en-US" dirty="0">
                <a:solidFill>
                  <a:srgbClr val="FF0000"/>
                </a:solidFill>
              </a:rPr>
              <a:t>问题</a:t>
            </a:r>
            <a:r>
              <a:rPr lang="zh-CN" altLang="en-US" dirty="0"/>
              <a:t>，经过多年的发展，已经陆续渗透到其他领域中：</a:t>
            </a:r>
            <a:endParaRPr lang="en-US" altLang="zh-CN" dirty="0"/>
          </a:p>
          <a:p>
            <a:pPr lvl="1"/>
            <a:r>
              <a:rPr lang="zh-CN" altLang="en-US" dirty="0"/>
              <a:t>比如图着色问题、大规模集成电路设计、通讯网络中的路由问题以及负载平衡问题、车辆调度问题等。</a:t>
            </a:r>
            <a:endParaRPr lang="en-US" altLang="zh-CN" dirty="0"/>
          </a:p>
          <a:p>
            <a:pPr lvl="1"/>
            <a:r>
              <a:rPr lang="zh-CN" altLang="en-US" dirty="0"/>
              <a:t>蚁群算法在若干领域己获得成功的应用，其中最成功的是在组合优化问题中的应用</a:t>
            </a:r>
          </a:p>
          <a:p>
            <a:endParaRPr lang="zh-CN" altLang="en-US" dirty="0"/>
          </a:p>
        </p:txBody>
      </p:sp>
      <p:sp>
        <p:nvSpPr>
          <p:cNvPr id="4" name="日期占位符 3">
            <a:extLst>
              <a:ext uri="{FF2B5EF4-FFF2-40B4-BE49-F238E27FC236}">
                <a16:creationId xmlns:a16="http://schemas.microsoft.com/office/drawing/2014/main" id="{61218FA4-B75B-4086-9033-6E2A16FF6358}"/>
              </a:ext>
            </a:extLst>
          </p:cNvPr>
          <p:cNvSpPr>
            <a:spLocks noGrp="1"/>
          </p:cNvSpPr>
          <p:nvPr>
            <p:ph type="dt" sz="half" idx="10"/>
          </p:nvPr>
        </p:nvSpPr>
        <p:spPr/>
        <p:txBody>
          <a:bodyPr/>
          <a:lstStyle/>
          <a:p>
            <a:fld id="{A8B06C41-1E1E-4B9B-9644-5AFB8CB2AB3B}" type="datetime3">
              <a:rPr lang="zh-CN" altLang="en-US" smtClean="0"/>
              <a:t>2022年11月24日星期四</a:t>
            </a:fld>
            <a:endParaRPr lang="en-US" altLang="zh-CN" dirty="0"/>
          </a:p>
        </p:txBody>
      </p:sp>
      <p:sp>
        <p:nvSpPr>
          <p:cNvPr id="5" name="灯片编号占位符 4">
            <a:extLst>
              <a:ext uri="{FF2B5EF4-FFF2-40B4-BE49-F238E27FC236}">
                <a16:creationId xmlns:a16="http://schemas.microsoft.com/office/drawing/2014/main" id="{7F9466BB-12DA-4245-B159-6EFDF132E97A}"/>
              </a:ext>
            </a:extLst>
          </p:cNvPr>
          <p:cNvSpPr>
            <a:spLocks noGrp="1"/>
          </p:cNvSpPr>
          <p:nvPr>
            <p:ph type="sldNum" sz="quarter" idx="12"/>
          </p:nvPr>
        </p:nvSpPr>
        <p:spPr/>
        <p:txBody>
          <a:bodyPr/>
          <a:lstStyle/>
          <a:p>
            <a:fld id="{7AC79822-BC0D-4DE8-A7E5-90A3732A2B82}" type="slidenum">
              <a:rPr lang="zh-CN" altLang="en-US" smtClean="0"/>
              <a:pPr/>
              <a:t>19</a:t>
            </a:fld>
            <a:endParaRPr lang="en-US" altLang="zh-CN" dirty="0"/>
          </a:p>
        </p:txBody>
      </p:sp>
    </p:spTree>
    <p:extLst>
      <p:ext uri="{BB962C8B-B14F-4D97-AF65-F5344CB8AC3E}">
        <p14:creationId xmlns:p14="http://schemas.microsoft.com/office/powerpoint/2010/main" val="310590523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4" fill="hold" nodeType="with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down)">
                                      <p:cBhvr>
                                        <p:cTn id="7" dur="500"/>
                                        <p:tgtEl>
                                          <p:spTgt spid="3">
                                            <p:txEl>
                                              <p:pRg st="0" end="0"/>
                                            </p:txEl>
                                          </p:spTgt>
                                        </p:tgtEl>
                                      </p:cBhvr>
                                    </p:animEffect>
                                  </p:childTnLst>
                                </p:cTn>
                              </p:par>
                              <p:par>
                                <p:cTn id="8" presetID="22" presetClass="entr" presetSubtype="4" fill="hold" nodeType="withEffect">
                                  <p:stCondLst>
                                    <p:cond delay="0"/>
                                  </p:stCondLst>
                                  <p:childTnLst>
                                    <p:set>
                                      <p:cBhvr>
                                        <p:cTn id="9" dur="1" fill="hold">
                                          <p:stCondLst>
                                            <p:cond delay="0"/>
                                          </p:stCondLst>
                                        </p:cTn>
                                        <p:tgtEl>
                                          <p:spTgt spid="3">
                                            <p:txEl>
                                              <p:pRg st="1" end="1"/>
                                            </p:txEl>
                                          </p:spTgt>
                                        </p:tgtEl>
                                        <p:attrNameLst>
                                          <p:attrName>style.visibility</p:attrName>
                                        </p:attrNameLst>
                                      </p:cBhvr>
                                      <p:to>
                                        <p:strVal val="visible"/>
                                      </p:to>
                                    </p:set>
                                    <p:animEffect transition="in" filter="wipe(down)">
                                      <p:cBhvr>
                                        <p:cTn id="10" dur="500"/>
                                        <p:tgtEl>
                                          <p:spTgt spid="3">
                                            <p:txEl>
                                              <p:pRg st="1" end="1"/>
                                            </p:txEl>
                                          </p:spTgt>
                                        </p:tgtEl>
                                      </p:cBhvr>
                                    </p:animEffect>
                                  </p:childTnLst>
                                </p:cTn>
                              </p:par>
                              <p:par>
                                <p:cTn id="11" presetID="22" presetClass="entr" presetSubtype="4" fill="hold" nodeType="with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animEffect transition="in" filter="wipe(down)">
                                      <p:cBhvr>
                                        <p:cTn id="13" dur="500"/>
                                        <p:tgtEl>
                                          <p:spTgt spid="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2D3C375-AAEA-452E-A091-CFD5ED2E8B6C}"/>
              </a:ext>
            </a:extLst>
          </p:cNvPr>
          <p:cNvSpPr>
            <a:spLocks noGrp="1"/>
          </p:cNvSpPr>
          <p:nvPr>
            <p:ph type="title"/>
          </p:nvPr>
        </p:nvSpPr>
        <p:spPr/>
        <p:txBody>
          <a:bodyPr/>
          <a:lstStyle/>
          <a:p>
            <a:r>
              <a:rPr lang="zh-CN" altLang="en-US" dirty="0"/>
              <a:t>启发式算法</a:t>
            </a:r>
            <a:r>
              <a:rPr lang="en-US" altLang="zh-CN" dirty="0"/>
              <a:t>—</a:t>
            </a:r>
            <a:r>
              <a:rPr lang="zh-CN" altLang="en-US" dirty="0"/>
              <a:t>蚁群算法</a:t>
            </a:r>
          </a:p>
        </p:txBody>
      </p:sp>
      <p:sp>
        <p:nvSpPr>
          <p:cNvPr id="3" name="内容占位符 2">
            <a:extLst>
              <a:ext uri="{FF2B5EF4-FFF2-40B4-BE49-F238E27FC236}">
                <a16:creationId xmlns:a16="http://schemas.microsoft.com/office/drawing/2014/main" id="{30CFD546-0C48-416C-AB1E-66B74D726A06}"/>
              </a:ext>
            </a:extLst>
          </p:cNvPr>
          <p:cNvSpPr>
            <a:spLocks noGrp="1"/>
          </p:cNvSpPr>
          <p:nvPr>
            <p:ph idx="1"/>
          </p:nvPr>
        </p:nvSpPr>
        <p:spPr/>
        <p:txBody>
          <a:bodyPr/>
          <a:lstStyle/>
          <a:p>
            <a:r>
              <a:rPr lang="zh-CN" altLang="en-US" dirty="0"/>
              <a:t>基本原理</a:t>
            </a:r>
            <a:endParaRPr lang="en-US" altLang="zh-CN" dirty="0"/>
          </a:p>
          <a:p>
            <a:pPr lvl="1"/>
            <a:r>
              <a:rPr lang="zh-CN" altLang="en-US" dirty="0"/>
              <a:t>蚂蚁在行走过程中会释放一种称为</a:t>
            </a:r>
            <a:r>
              <a:rPr lang="zh-CN" altLang="en-US" dirty="0">
                <a:solidFill>
                  <a:srgbClr val="C00000"/>
                </a:solidFill>
              </a:rPr>
              <a:t>“信息素”</a:t>
            </a:r>
            <a:r>
              <a:rPr lang="zh-CN" altLang="en-US" dirty="0"/>
              <a:t>的物质，用来标识自己的行走路径。</a:t>
            </a:r>
          </a:p>
          <a:p>
            <a:pPr lvl="1"/>
            <a:r>
              <a:rPr lang="zh-CN" altLang="en-US" dirty="0"/>
              <a:t>在寻找食物的过程中，</a:t>
            </a:r>
            <a:r>
              <a:rPr lang="zh-CN" altLang="en-US" dirty="0">
                <a:solidFill>
                  <a:srgbClr val="C00000"/>
                </a:solidFill>
              </a:rPr>
              <a:t>根据信息素的浓度选择行走的方向</a:t>
            </a:r>
            <a:r>
              <a:rPr lang="zh-CN" altLang="en-US" dirty="0"/>
              <a:t>，并最终到达食物所在的地方。</a:t>
            </a:r>
          </a:p>
          <a:p>
            <a:pPr lvl="1"/>
            <a:r>
              <a:rPr lang="zh-CN" altLang="en-US" dirty="0">
                <a:solidFill>
                  <a:srgbClr val="000099"/>
                </a:solidFill>
              </a:rPr>
              <a:t>信息素会随着时间的推移而逐渐挥发</a:t>
            </a:r>
            <a:r>
              <a:rPr lang="zh-CN" altLang="en-US" dirty="0"/>
              <a:t>。</a:t>
            </a:r>
          </a:p>
          <a:p>
            <a:pPr lvl="1"/>
            <a:endParaRPr lang="en-US" altLang="zh-CN" dirty="0"/>
          </a:p>
        </p:txBody>
      </p:sp>
      <p:sp>
        <p:nvSpPr>
          <p:cNvPr id="4" name="日期占位符 3">
            <a:extLst>
              <a:ext uri="{FF2B5EF4-FFF2-40B4-BE49-F238E27FC236}">
                <a16:creationId xmlns:a16="http://schemas.microsoft.com/office/drawing/2014/main" id="{0E322202-3742-4212-B647-9EE5185D0479}"/>
              </a:ext>
            </a:extLst>
          </p:cNvPr>
          <p:cNvSpPr>
            <a:spLocks noGrp="1"/>
          </p:cNvSpPr>
          <p:nvPr>
            <p:ph type="dt" sz="half" idx="10"/>
          </p:nvPr>
        </p:nvSpPr>
        <p:spPr/>
        <p:txBody>
          <a:bodyPr/>
          <a:lstStyle/>
          <a:p>
            <a:fld id="{A8B06C41-1E1E-4B9B-9644-5AFB8CB2AB3B}" type="datetime3">
              <a:rPr lang="zh-CN" altLang="en-US" smtClean="0"/>
              <a:t>2022年11月24日星期四</a:t>
            </a:fld>
            <a:endParaRPr lang="en-US" altLang="zh-CN" dirty="0"/>
          </a:p>
        </p:txBody>
      </p:sp>
      <p:sp>
        <p:nvSpPr>
          <p:cNvPr id="5" name="灯片编号占位符 4">
            <a:extLst>
              <a:ext uri="{FF2B5EF4-FFF2-40B4-BE49-F238E27FC236}">
                <a16:creationId xmlns:a16="http://schemas.microsoft.com/office/drawing/2014/main" id="{876A87CC-4013-4242-82DB-6FE86BC3A39F}"/>
              </a:ext>
            </a:extLst>
          </p:cNvPr>
          <p:cNvSpPr>
            <a:spLocks noGrp="1"/>
          </p:cNvSpPr>
          <p:nvPr>
            <p:ph type="sldNum" sz="quarter" idx="12"/>
          </p:nvPr>
        </p:nvSpPr>
        <p:spPr/>
        <p:txBody>
          <a:bodyPr/>
          <a:lstStyle/>
          <a:p>
            <a:fld id="{7AC79822-BC0D-4DE8-A7E5-90A3732A2B82}" type="slidenum">
              <a:rPr lang="zh-CN" altLang="en-US" smtClean="0"/>
              <a:pPr/>
              <a:t>20</a:t>
            </a:fld>
            <a:endParaRPr lang="en-US" altLang="zh-CN" dirty="0"/>
          </a:p>
        </p:txBody>
      </p:sp>
    </p:spTree>
    <p:extLst>
      <p:ext uri="{BB962C8B-B14F-4D97-AF65-F5344CB8AC3E}">
        <p14:creationId xmlns:p14="http://schemas.microsoft.com/office/powerpoint/2010/main" val="403914365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4" fill="hold" nodeType="with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down)">
                                      <p:cBhvr>
                                        <p:cTn id="7" dur="500"/>
                                        <p:tgtEl>
                                          <p:spTgt spid="3">
                                            <p:txEl>
                                              <p:pRg st="0" end="0"/>
                                            </p:txEl>
                                          </p:spTgt>
                                        </p:tgtEl>
                                      </p:cBhvr>
                                    </p:animEffect>
                                  </p:childTnLst>
                                </p:cTn>
                              </p:par>
                              <p:par>
                                <p:cTn id="8" presetID="22" presetClass="entr" presetSubtype="4" fill="hold" nodeType="withEffect">
                                  <p:stCondLst>
                                    <p:cond delay="0"/>
                                  </p:stCondLst>
                                  <p:childTnLst>
                                    <p:set>
                                      <p:cBhvr>
                                        <p:cTn id="9" dur="1" fill="hold">
                                          <p:stCondLst>
                                            <p:cond delay="0"/>
                                          </p:stCondLst>
                                        </p:cTn>
                                        <p:tgtEl>
                                          <p:spTgt spid="3">
                                            <p:txEl>
                                              <p:pRg st="1" end="1"/>
                                            </p:txEl>
                                          </p:spTgt>
                                        </p:tgtEl>
                                        <p:attrNameLst>
                                          <p:attrName>style.visibility</p:attrName>
                                        </p:attrNameLst>
                                      </p:cBhvr>
                                      <p:to>
                                        <p:strVal val="visible"/>
                                      </p:to>
                                    </p:set>
                                    <p:animEffect transition="in" filter="wipe(down)">
                                      <p:cBhvr>
                                        <p:cTn id="10" dur="500"/>
                                        <p:tgtEl>
                                          <p:spTgt spid="3">
                                            <p:txEl>
                                              <p:pRg st="1" end="1"/>
                                            </p:txEl>
                                          </p:spTgt>
                                        </p:tgtEl>
                                      </p:cBhvr>
                                    </p:animEffect>
                                  </p:childTnLst>
                                </p:cTn>
                              </p:par>
                              <p:par>
                                <p:cTn id="11" presetID="22" presetClass="entr" presetSubtype="4" fill="hold" nodeType="with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animEffect transition="in" filter="wipe(down)">
                                      <p:cBhvr>
                                        <p:cTn id="13" dur="500"/>
                                        <p:tgtEl>
                                          <p:spTgt spid="3">
                                            <p:txEl>
                                              <p:pRg st="2" end="2"/>
                                            </p:txEl>
                                          </p:spTgt>
                                        </p:tgtEl>
                                      </p:cBhvr>
                                    </p:animEffect>
                                  </p:childTnLst>
                                </p:cTn>
                              </p:par>
                              <p:par>
                                <p:cTn id="14" presetID="22" presetClass="entr" presetSubtype="4" fill="hold" nodeType="withEffect">
                                  <p:stCondLst>
                                    <p:cond delay="0"/>
                                  </p:stCondLst>
                                  <p:childTnLst>
                                    <p:set>
                                      <p:cBhvr>
                                        <p:cTn id="15" dur="1" fill="hold">
                                          <p:stCondLst>
                                            <p:cond delay="0"/>
                                          </p:stCondLst>
                                        </p:cTn>
                                        <p:tgtEl>
                                          <p:spTgt spid="3">
                                            <p:txEl>
                                              <p:pRg st="3" end="3"/>
                                            </p:txEl>
                                          </p:spTgt>
                                        </p:tgtEl>
                                        <p:attrNameLst>
                                          <p:attrName>style.visibility</p:attrName>
                                        </p:attrNameLst>
                                      </p:cBhvr>
                                      <p:to>
                                        <p:strVal val="visible"/>
                                      </p:to>
                                    </p:set>
                                    <p:animEffect transition="in" filter="wipe(down)">
                                      <p:cBhvr>
                                        <p:cTn id="16" dur="500"/>
                                        <p:tgtEl>
                                          <p:spTgt spid="3">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888FDDF-E239-4569-BACF-1D67CF874AD0}"/>
              </a:ext>
            </a:extLst>
          </p:cNvPr>
          <p:cNvSpPr>
            <a:spLocks noGrp="1"/>
          </p:cNvSpPr>
          <p:nvPr>
            <p:ph type="title"/>
          </p:nvPr>
        </p:nvSpPr>
        <p:spPr/>
        <p:txBody>
          <a:bodyPr/>
          <a:lstStyle/>
          <a:p>
            <a:r>
              <a:rPr lang="zh-CN" altLang="en-US" dirty="0"/>
              <a:t>蚁群算法原理示意图</a:t>
            </a:r>
          </a:p>
        </p:txBody>
      </p:sp>
      <p:sp>
        <p:nvSpPr>
          <p:cNvPr id="4" name="日期占位符 3">
            <a:extLst>
              <a:ext uri="{FF2B5EF4-FFF2-40B4-BE49-F238E27FC236}">
                <a16:creationId xmlns:a16="http://schemas.microsoft.com/office/drawing/2014/main" id="{6F6A9891-8FEA-4ACB-BD75-F7BC8E6DB7F5}"/>
              </a:ext>
            </a:extLst>
          </p:cNvPr>
          <p:cNvSpPr>
            <a:spLocks noGrp="1"/>
          </p:cNvSpPr>
          <p:nvPr>
            <p:ph type="dt" sz="half" idx="10"/>
          </p:nvPr>
        </p:nvSpPr>
        <p:spPr/>
        <p:txBody>
          <a:bodyPr/>
          <a:lstStyle/>
          <a:p>
            <a:fld id="{A8B06C41-1E1E-4B9B-9644-5AFB8CB2AB3B}" type="datetime3">
              <a:rPr lang="zh-CN" altLang="en-US" smtClean="0"/>
              <a:t>2022年11月24日星期四</a:t>
            </a:fld>
            <a:endParaRPr lang="en-US" altLang="zh-CN" dirty="0"/>
          </a:p>
        </p:txBody>
      </p:sp>
      <p:sp>
        <p:nvSpPr>
          <p:cNvPr id="5" name="灯片编号占位符 4">
            <a:extLst>
              <a:ext uri="{FF2B5EF4-FFF2-40B4-BE49-F238E27FC236}">
                <a16:creationId xmlns:a16="http://schemas.microsoft.com/office/drawing/2014/main" id="{A0C19D16-75CA-4909-8B5D-BAA9AA835E12}"/>
              </a:ext>
            </a:extLst>
          </p:cNvPr>
          <p:cNvSpPr>
            <a:spLocks noGrp="1"/>
          </p:cNvSpPr>
          <p:nvPr>
            <p:ph type="sldNum" sz="quarter" idx="12"/>
          </p:nvPr>
        </p:nvSpPr>
        <p:spPr/>
        <p:txBody>
          <a:bodyPr/>
          <a:lstStyle/>
          <a:p>
            <a:fld id="{7AC79822-BC0D-4DE8-A7E5-90A3732A2B82}" type="slidenum">
              <a:rPr lang="zh-CN" altLang="en-US" smtClean="0"/>
              <a:pPr/>
              <a:t>21</a:t>
            </a:fld>
            <a:endParaRPr lang="en-US" altLang="zh-CN" dirty="0"/>
          </a:p>
        </p:txBody>
      </p:sp>
      <p:sp>
        <p:nvSpPr>
          <p:cNvPr id="6" name="椭圆 5">
            <a:extLst>
              <a:ext uri="{FF2B5EF4-FFF2-40B4-BE49-F238E27FC236}">
                <a16:creationId xmlns:a16="http://schemas.microsoft.com/office/drawing/2014/main" id="{719FDBC3-218C-409E-8B07-3F6C45731B33}"/>
              </a:ext>
            </a:extLst>
          </p:cNvPr>
          <p:cNvSpPr/>
          <p:nvPr/>
        </p:nvSpPr>
        <p:spPr bwMode="auto">
          <a:xfrm>
            <a:off x="7905328" y="1340767"/>
            <a:ext cx="504056" cy="504056"/>
          </a:xfrm>
          <a:prstGeom prst="ellipse">
            <a:avLst/>
          </a:prstGeom>
          <a:noFill/>
          <a:ln w="28575" cap="flat" cmpd="sng" algn="ctr">
            <a:solidFill>
              <a:schemeClr val="tx1"/>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kumimoji="0" lang="en-US" altLang="zh-CN" sz="2400" b="0" i="0" u="none" strike="noStrike" cap="none" normalizeH="0" baseline="0" dirty="0">
                <a:ln>
                  <a:noFill/>
                </a:ln>
                <a:solidFill>
                  <a:schemeClr val="tx1"/>
                </a:solidFill>
                <a:effectLst/>
                <a:latin typeface="Arial" charset="0"/>
              </a:rPr>
              <a:t>A</a:t>
            </a:r>
            <a:endParaRPr kumimoji="0" lang="zh-CN" altLang="en-US" sz="2400" b="0" i="0" u="none" strike="noStrike" cap="none" normalizeH="0" baseline="0" dirty="0">
              <a:ln>
                <a:noFill/>
              </a:ln>
              <a:solidFill>
                <a:schemeClr val="tx1"/>
              </a:solidFill>
              <a:effectLst/>
              <a:latin typeface="Arial" charset="0"/>
            </a:endParaRPr>
          </a:p>
        </p:txBody>
      </p:sp>
      <p:sp>
        <p:nvSpPr>
          <p:cNvPr id="7" name="椭圆 6">
            <a:extLst>
              <a:ext uri="{FF2B5EF4-FFF2-40B4-BE49-F238E27FC236}">
                <a16:creationId xmlns:a16="http://schemas.microsoft.com/office/drawing/2014/main" id="{78CB03C1-0E48-4C5B-B9C9-DB095C6CB2CE}"/>
              </a:ext>
            </a:extLst>
          </p:cNvPr>
          <p:cNvSpPr/>
          <p:nvPr/>
        </p:nvSpPr>
        <p:spPr bwMode="auto">
          <a:xfrm>
            <a:off x="7905328" y="6011107"/>
            <a:ext cx="504056" cy="504056"/>
          </a:xfrm>
          <a:prstGeom prst="ellipse">
            <a:avLst/>
          </a:prstGeom>
          <a:noFill/>
          <a:ln w="2857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r>
              <a:rPr kumimoji="0" lang="en-US" altLang="zh-CN" sz="1800" b="0" i="0" u="none" strike="noStrike" cap="none" normalizeH="0" baseline="0" dirty="0">
                <a:ln>
                  <a:noFill/>
                </a:ln>
                <a:solidFill>
                  <a:schemeClr val="tx1"/>
                </a:solidFill>
                <a:effectLst/>
                <a:latin typeface="Arial" charset="0"/>
              </a:rPr>
              <a:t>E</a:t>
            </a:r>
            <a:endParaRPr kumimoji="0" lang="zh-CN" altLang="en-US" sz="1800" b="0" i="0" u="none" strike="noStrike" cap="none" normalizeH="0" baseline="0" dirty="0">
              <a:ln>
                <a:noFill/>
              </a:ln>
              <a:solidFill>
                <a:schemeClr val="tx1"/>
              </a:solidFill>
              <a:effectLst/>
              <a:latin typeface="Arial" charset="0"/>
            </a:endParaRPr>
          </a:p>
        </p:txBody>
      </p:sp>
      <p:sp>
        <p:nvSpPr>
          <p:cNvPr id="8" name="椭圆 7">
            <a:extLst>
              <a:ext uri="{FF2B5EF4-FFF2-40B4-BE49-F238E27FC236}">
                <a16:creationId xmlns:a16="http://schemas.microsoft.com/office/drawing/2014/main" id="{62DBADF3-CD74-4381-AF4E-0419A229FB4F}"/>
              </a:ext>
            </a:extLst>
          </p:cNvPr>
          <p:cNvSpPr/>
          <p:nvPr/>
        </p:nvSpPr>
        <p:spPr bwMode="auto">
          <a:xfrm>
            <a:off x="7905328" y="2572130"/>
            <a:ext cx="504056" cy="504056"/>
          </a:xfrm>
          <a:prstGeom prst="ellipse">
            <a:avLst/>
          </a:prstGeom>
          <a:noFill/>
          <a:ln w="28575" cap="flat" cmpd="sng" algn="ctr">
            <a:solidFill>
              <a:schemeClr val="tx1"/>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kumimoji="0" lang="en-US" altLang="zh-CN" sz="2400" b="0" i="0" u="none" strike="noStrike" cap="none" normalizeH="0" baseline="0" dirty="0">
                <a:ln>
                  <a:noFill/>
                </a:ln>
                <a:solidFill>
                  <a:schemeClr val="tx1"/>
                </a:solidFill>
                <a:effectLst/>
                <a:latin typeface="Arial" charset="0"/>
              </a:rPr>
              <a:t>B</a:t>
            </a:r>
            <a:endParaRPr kumimoji="0" lang="zh-CN" altLang="en-US" sz="2400" b="0" i="0" u="none" strike="noStrike" cap="none" normalizeH="0" baseline="0" dirty="0">
              <a:ln>
                <a:noFill/>
              </a:ln>
              <a:solidFill>
                <a:schemeClr val="tx1"/>
              </a:solidFill>
              <a:effectLst/>
              <a:latin typeface="Arial" charset="0"/>
            </a:endParaRPr>
          </a:p>
        </p:txBody>
      </p:sp>
      <p:sp>
        <p:nvSpPr>
          <p:cNvPr id="9" name="椭圆 8">
            <a:extLst>
              <a:ext uri="{FF2B5EF4-FFF2-40B4-BE49-F238E27FC236}">
                <a16:creationId xmlns:a16="http://schemas.microsoft.com/office/drawing/2014/main" id="{6BEB99F3-72FB-432D-8F10-016A8F4980F3}"/>
              </a:ext>
            </a:extLst>
          </p:cNvPr>
          <p:cNvSpPr/>
          <p:nvPr/>
        </p:nvSpPr>
        <p:spPr bwMode="auto">
          <a:xfrm>
            <a:off x="7113240" y="3573016"/>
            <a:ext cx="504056" cy="504056"/>
          </a:xfrm>
          <a:prstGeom prst="ellipse">
            <a:avLst/>
          </a:prstGeom>
          <a:noFill/>
          <a:ln w="28575" cap="flat" cmpd="sng" algn="ctr">
            <a:solidFill>
              <a:schemeClr val="tx1"/>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lang="en-US" altLang="zh-CN" sz="2400" dirty="0"/>
              <a:t>C</a:t>
            </a:r>
            <a:endParaRPr kumimoji="0" lang="zh-CN" altLang="en-US" sz="2400" b="0" i="0" u="none" strike="noStrike" cap="none" normalizeH="0" baseline="0" dirty="0">
              <a:ln>
                <a:noFill/>
              </a:ln>
              <a:solidFill>
                <a:schemeClr val="tx1"/>
              </a:solidFill>
              <a:effectLst/>
              <a:latin typeface="Arial" charset="0"/>
            </a:endParaRPr>
          </a:p>
        </p:txBody>
      </p:sp>
      <p:sp>
        <p:nvSpPr>
          <p:cNvPr id="10" name="椭圆 9">
            <a:extLst>
              <a:ext uri="{FF2B5EF4-FFF2-40B4-BE49-F238E27FC236}">
                <a16:creationId xmlns:a16="http://schemas.microsoft.com/office/drawing/2014/main" id="{2E4411BC-13DC-4620-A78D-01A12A026DC2}"/>
              </a:ext>
            </a:extLst>
          </p:cNvPr>
          <p:cNvSpPr/>
          <p:nvPr/>
        </p:nvSpPr>
        <p:spPr bwMode="auto">
          <a:xfrm>
            <a:off x="9273480" y="3573016"/>
            <a:ext cx="504056" cy="504056"/>
          </a:xfrm>
          <a:prstGeom prst="ellipse">
            <a:avLst/>
          </a:prstGeom>
          <a:noFill/>
          <a:ln w="28575" cap="flat" cmpd="sng" algn="ctr">
            <a:solidFill>
              <a:schemeClr val="tx1"/>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kumimoji="0" lang="en-US" altLang="zh-CN" sz="2400" b="0" i="0" u="none" strike="noStrike" cap="none" normalizeH="0" baseline="0" dirty="0">
                <a:ln>
                  <a:noFill/>
                </a:ln>
                <a:solidFill>
                  <a:schemeClr val="tx1"/>
                </a:solidFill>
                <a:effectLst/>
                <a:latin typeface="Arial" charset="0"/>
              </a:rPr>
              <a:t>H</a:t>
            </a:r>
            <a:endParaRPr kumimoji="0" lang="zh-CN" altLang="en-US" sz="2400" b="0" i="0" u="none" strike="noStrike" cap="none" normalizeH="0" baseline="0" dirty="0">
              <a:ln>
                <a:noFill/>
              </a:ln>
              <a:solidFill>
                <a:schemeClr val="tx1"/>
              </a:solidFill>
              <a:effectLst/>
              <a:latin typeface="Arial" charset="0"/>
            </a:endParaRPr>
          </a:p>
        </p:txBody>
      </p:sp>
      <p:sp>
        <p:nvSpPr>
          <p:cNvPr id="11" name="椭圆 10">
            <a:extLst>
              <a:ext uri="{FF2B5EF4-FFF2-40B4-BE49-F238E27FC236}">
                <a16:creationId xmlns:a16="http://schemas.microsoft.com/office/drawing/2014/main" id="{07E0A4B6-B02C-489F-8564-406942E89921}"/>
              </a:ext>
            </a:extLst>
          </p:cNvPr>
          <p:cNvSpPr/>
          <p:nvPr/>
        </p:nvSpPr>
        <p:spPr bwMode="auto">
          <a:xfrm>
            <a:off x="7905328" y="4761149"/>
            <a:ext cx="504056" cy="504056"/>
          </a:xfrm>
          <a:prstGeom prst="ellipse">
            <a:avLst/>
          </a:prstGeom>
          <a:noFill/>
          <a:ln w="28575" cap="flat" cmpd="sng" algn="ctr">
            <a:solidFill>
              <a:schemeClr val="tx1"/>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lang="en-US" altLang="zh-CN" sz="2400" dirty="0"/>
              <a:t>D</a:t>
            </a:r>
            <a:endParaRPr kumimoji="0" lang="zh-CN" altLang="en-US" sz="2400" b="0" i="0" u="none" strike="noStrike" cap="none" normalizeH="0" baseline="0" dirty="0">
              <a:ln>
                <a:noFill/>
              </a:ln>
              <a:solidFill>
                <a:schemeClr val="tx1"/>
              </a:solidFill>
              <a:effectLst/>
              <a:latin typeface="Arial" charset="0"/>
            </a:endParaRPr>
          </a:p>
        </p:txBody>
      </p:sp>
      <p:cxnSp>
        <p:nvCxnSpPr>
          <p:cNvPr id="13" name="直接连接符 12">
            <a:extLst>
              <a:ext uri="{FF2B5EF4-FFF2-40B4-BE49-F238E27FC236}">
                <a16:creationId xmlns:a16="http://schemas.microsoft.com/office/drawing/2014/main" id="{6FC2888A-7D0B-45F3-8632-19517AB1A8ED}"/>
              </a:ext>
            </a:extLst>
          </p:cNvPr>
          <p:cNvCxnSpPr>
            <a:stCxn id="6" idx="4"/>
            <a:endCxn id="8" idx="0"/>
          </p:cNvCxnSpPr>
          <p:nvPr/>
        </p:nvCxnSpPr>
        <p:spPr bwMode="auto">
          <a:xfrm>
            <a:off x="8157356" y="1844823"/>
            <a:ext cx="0" cy="727307"/>
          </a:xfrm>
          <a:prstGeom prst="line">
            <a:avLst/>
          </a:prstGeom>
          <a:ln>
            <a:headEnd type="none" w="med" len="med"/>
            <a:tailEnd type="none" w="med" len="med"/>
          </a:ln>
          <a:extLst>
            <a:ext uri="{AF507438-7753-43E0-B8FC-AC1667EBCBE1}">
              <a14:hiddenEffects xmlns:a14="http://schemas.microsoft.com/office/drawing/2010/main">
                <a:effectLst>
                  <a:outerShdw dist="35921" dir="2700000" algn="ctr" rotWithShape="0">
                    <a:schemeClr val="bg2"/>
                  </a:outerShdw>
                </a:effectLst>
              </a14:hiddenEffects>
            </a:ext>
          </a:extLst>
        </p:spPr>
        <p:style>
          <a:lnRef idx="3">
            <a:schemeClr val="dk1"/>
          </a:lnRef>
          <a:fillRef idx="0">
            <a:schemeClr val="dk1"/>
          </a:fillRef>
          <a:effectRef idx="2">
            <a:schemeClr val="dk1"/>
          </a:effectRef>
          <a:fontRef idx="minor">
            <a:schemeClr val="tx1"/>
          </a:fontRef>
        </p:style>
      </p:cxnSp>
      <p:cxnSp>
        <p:nvCxnSpPr>
          <p:cNvPr id="14" name="直接连接符 13">
            <a:extLst>
              <a:ext uri="{FF2B5EF4-FFF2-40B4-BE49-F238E27FC236}">
                <a16:creationId xmlns:a16="http://schemas.microsoft.com/office/drawing/2014/main" id="{03416DEC-038E-4599-A9F3-D129A030A75F}"/>
              </a:ext>
            </a:extLst>
          </p:cNvPr>
          <p:cNvCxnSpPr>
            <a:cxnSpLocks/>
            <a:stCxn id="8" idx="3"/>
            <a:endCxn id="9" idx="0"/>
          </p:cNvCxnSpPr>
          <p:nvPr/>
        </p:nvCxnSpPr>
        <p:spPr bwMode="auto">
          <a:xfrm flipH="1">
            <a:off x="7365268" y="3002369"/>
            <a:ext cx="613877" cy="570647"/>
          </a:xfrm>
          <a:prstGeom prst="line">
            <a:avLst/>
          </a:prstGeom>
          <a:ln>
            <a:headEnd type="none" w="med" len="med"/>
            <a:tailEnd type="none" w="med" len="med"/>
          </a:ln>
          <a:extLst>
            <a:ext uri="{AF507438-7753-43E0-B8FC-AC1667EBCBE1}">
              <a14:hiddenEffects xmlns:a14="http://schemas.microsoft.com/office/drawing/2010/main">
                <a:effectLst>
                  <a:outerShdw dist="35921" dir="2700000" algn="ctr" rotWithShape="0">
                    <a:schemeClr val="bg2"/>
                  </a:outerShdw>
                </a:effectLst>
              </a14:hiddenEffects>
            </a:ext>
          </a:extLst>
        </p:spPr>
        <p:style>
          <a:lnRef idx="3">
            <a:schemeClr val="dk1"/>
          </a:lnRef>
          <a:fillRef idx="0">
            <a:schemeClr val="dk1"/>
          </a:fillRef>
          <a:effectRef idx="2">
            <a:schemeClr val="dk1"/>
          </a:effectRef>
          <a:fontRef idx="minor">
            <a:schemeClr val="tx1"/>
          </a:fontRef>
        </p:style>
      </p:cxnSp>
      <p:cxnSp>
        <p:nvCxnSpPr>
          <p:cNvPr id="17" name="直接连接符 16">
            <a:extLst>
              <a:ext uri="{FF2B5EF4-FFF2-40B4-BE49-F238E27FC236}">
                <a16:creationId xmlns:a16="http://schemas.microsoft.com/office/drawing/2014/main" id="{1B37A3C2-F3AD-4362-851D-8A78B4206E0D}"/>
              </a:ext>
            </a:extLst>
          </p:cNvPr>
          <p:cNvCxnSpPr>
            <a:cxnSpLocks/>
            <a:stCxn id="10" idx="1"/>
            <a:endCxn id="8" idx="5"/>
          </p:cNvCxnSpPr>
          <p:nvPr/>
        </p:nvCxnSpPr>
        <p:spPr bwMode="auto">
          <a:xfrm flipH="1" flipV="1">
            <a:off x="8335567" y="3002369"/>
            <a:ext cx="1011730" cy="644464"/>
          </a:xfrm>
          <a:prstGeom prst="line">
            <a:avLst/>
          </a:prstGeom>
          <a:ln>
            <a:headEnd type="none" w="med" len="med"/>
            <a:tailEnd type="none" w="med" len="med"/>
          </a:ln>
          <a:extLst>
            <a:ext uri="{AF507438-7753-43E0-B8FC-AC1667EBCBE1}">
              <a14:hiddenEffects xmlns:a14="http://schemas.microsoft.com/office/drawing/2010/main">
                <a:effectLst>
                  <a:outerShdw dist="35921" dir="2700000" algn="ctr" rotWithShape="0">
                    <a:schemeClr val="bg2"/>
                  </a:outerShdw>
                </a:effectLst>
              </a14:hiddenEffects>
            </a:ext>
          </a:extLst>
        </p:spPr>
        <p:style>
          <a:lnRef idx="3">
            <a:schemeClr val="dk1"/>
          </a:lnRef>
          <a:fillRef idx="0">
            <a:schemeClr val="dk1"/>
          </a:fillRef>
          <a:effectRef idx="2">
            <a:schemeClr val="dk1"/>
          </a:effectRef>
          <a:fontRef idx="minor">
            <a:schemeClr val="tx1"/>
          </a:fontRef>
        </p:style>
      </p:cxnSp>
      <p:cxnSp>
        <p:nvCxnSpPr>
          <p:cNvPr id="21" name="直接连接符 20">
            <a:extLst>
              <a:ext uri="{FF2B5EF4-FFF2-40B4-BE49-F238E27FC236}">
                <a16:creationId xmlns:a16="http://schemas.microsoft.com/office/drawing/2014/main" id="{11A6413E-E57A-4BEC-8778-FEBF9B0CA404}"/>
              </a:ext>
            </a:extLst>
          </p:cNvPr>
          <p:cNvCxnSpPr>
            <a:cxnSpLocks/>
            <a:stCxn id="11" idx="1"/>
            <a:endCxn id="9" idx="4"/>
          </p:cNvCxnSpPr>
          <p:nvPr/>
        </p:nvCxnSpPr>
        <p:spPr bwMode="auto">
          <a:xfrm flipH="1" flipV="1">
            <a:off x="7365268" y="4077072"/>
            <a:ext cx="613877" cy="757894"/>
          </a:xfrm>
          <a:prstGeom prst="line">
            <a:avLst/>
          </a:prstGeom>
          <a:ln>
            <a:headEnd type="none" w="med" len="med"/>
            <a:tailEnd type="none" w="med" len="med"/>
          </a:ln>
          <a:extLst>
            <a:ext uri="{AF507438-7753-43E0-B8FC-AC1667EBCBE1}">
              <a14:hiddenEffects xmlns:a14="http://schemas.microsoft.com/office/drawing/2010/main">
                <a:effectLst>
                  <a:outerShdw dist="35921" dir="2700000" algn="ctr" rotWithShape="0">
                    <a:schemeClr val="bg2"/>
                  </a:outerShdw>
                </a:effectLst>
              </a14:hiddenEffects>
            </a:ext>
          </a:extLst>
        </p:spPr>
        <p:style>
          <a:lnRef idx="3">
            <a:schemeClr val="dk1"/>
          </a:lnRef>
          <a:fillRef idx="0">
            <a:schemeClr val="dk1"/>
          </a:fillRef>
          <a:effectRef idx="2">
            <a:schemeClr val="dk1"/>
          </a:effectRef>
          <a:fontRef idx="minor">
            <a:schemeClr val="tx1"/>
          </a:fontRef>
        </p:style>
      </p:cxnSp>
      <p:cxnSp>
        <p:nvCxnSpPr>
          <p:cNvPr id="24" name="直接连接符 23">
            <a:extLst>
              <a:ext uri="{FF2B5EF4-FFF2-40B4-BE49-F238E27FC236}">
                <a16:creationId xmlns:a16="http://schemas.microsoft.com/office/drawing/2014/main" id="{BDBF825B-44AD-4EC9-85F8-C177D2766E93}"/>
              </a:ext>
            </a:extLst>
          </p:cNvPr>
          <p:cNvCxnSpPr>
            <a:cxnSpLocks/>
            <a:stCxn id="10" idx="3"/>
            <a:endCxn id="11" idx="7"/>
          </p:cNvCxnSpPr>
          <p:nvPr/>
        </p:nvCxnSpPr>
        <p:spPr bwMode="auto">
          <a:xfrm flipH="1">
            <a:off x="8335567" y="4003255"/>
            <a:ext cx="1011730" cy="831711"/>
          </a:xfrm>
          <a:prstGeom prst="line">
            <a:avLst/>
          </a:prstGeom>
          <a:ln>
            <a:headEnd type="none" w="med" len="med"/>
            <a:tailEnd type="none" w="med" len="med"/>
          </a:ln>
          <a:extLst>
            <a:ext uri="{AF507438-7753-43E0-B8FC-AC1667EBCBE1}">
              <a14:hiddenEffects xmlns:a14="http://schemas.microsoft.com/office/drawing/2010/main">
                <a:effectLst>
                  <a:outerShdw dist="35921" dir="2700000" algn="ctr" rotWithShape="0">
                    <a:schemeClr val="bg2"/>
                  </a:outerShdw>
                </a:effectLst>
              </a14:hiddenEffects>
            </a:ext>
          </a:extLst>
        </p:spPr>
        <p:style>
          <a:lnRef idx="3">
            <a:schemeClr val="dk1"/>
          </a:lnRef>
          <a:fillRef idx="0">
            <a:schemeClr val="dk1"/>
          </a:fillRef>
          <a:effectRef idx="2">
            <a:schemeClr val="dk1"/>
          </a:effectRef>
          <a:fontRef idx="minor">
            <a:schemeClr val="tx1"/>
          </a:fontRef>
        </p:style>
      </p:cxnSp>
      <p:cxnSp>
        <p:nvCxnSpPr>
          <p:cNvPr id="30" name="直接连接符 29">
            <a:extLst>
              <a:ext uri="{FF2B5EF4-FFF2-40B4-BE49-F238E27FC236}">
                <a16:creationId xmlns:a16="http://schemas.microsoft.com/office/drawing/2014/main" id="{00D916C3-FFF7-4A16-B9A4-420D4A388784}"/>
              </a:ext>
            </a:extLst>
          </p:cNvPr>
          <p:cNvCxnSpPr>
            <a:cxnSpLocks/>
            <a:stCxn id="11" idx="4"/>
            <a:endCxn id="7" idx="0"/>
          </p:cNvCxnSpPr>
          <p:nvPr/>
        </p:nvCxnSpPr>
        <p:spPr bwMode="auto">
          <a:xfrm>
            <a:off x="8157356" y="5265205"/>
            <a:ext cx="0" cy="745902"/>
          </a:xfrm>
          <a:prstGeom prst="line">
            <a:avLst/>
          </a:prstGeom>
          <a:ln>
            <a:headEnd type="none" w="med" len="med"/>
            <a:tailEnd type="none" w="med" len="med"/>
          </a:ln>
          <a:extLst>
            <a:ext uri="{AF507438-7753-43E0-B8FC-AC1667EBCBE1}">
              <a14:hiddenEffects xmlns:a14="http://schemas.microsoft.com/office/drawing/2010/main">
                <a:effectLst>
                  <a:outerShdw dist="35921" dir="2700000" algn="ctr" rotWithShape="0">
                    <a:schemeClr val="bg2"/>
                  </a:outerShdw>
                </a:effectLst>
              </a14:hiddenEffects>
            </a:ext>
          </a:extLst>
        </p:spPr>
        <p:style>
          <a:lnRef idx="3">
            <a:schemeClr val="dk1"/>
          </a:lnRef>
          <a:fillRef idx="0">
            <a:schemeClr val="dk1"/>
          </a:fillRef>
          <a:effectRef idx="2">
            <a:schemeClr val="dk1"/>
          </a:effectRef>
          <a:fontRef idx="minor">
            <a:schemeClr val="tx1"/>
          </a:fontRef>
        </p:style>
      </p:cxnSp>
      <p:sp>
        <p:nvSpPr>
          <p:cNvPr id="40" name="文本框 39">
            <a:extLst>
              <a:ext uri="{FF2B5EF4-FFF2-40B4-BE49-F238E27FC236}">
                <a16:creationId xmlns:a16="http://schemas.microsoft.com/office/drawing/2014/main" id="{682ED1D3-4BF5-45E3-8272-EACD1DF0C604}"/>
              </a:ext>
            </a:extLst>
          </p:cNvPr>
          <p:cNvSpPr txBox="1"/>
          <p:nvPr/>
        </p:nvSpPr>
        <p:spPr>
          <a:xfrm>
            <a:off x="8473261" y="1357800"/>
            <a:ext cx="800219" cy="461665"/>
          </a:xfrm>
          <a:prstGeom prst="rect">
            <a:avLst/>
          </a:prstGeom>
          <a:noFill/>
        </p:spPr>
        <p:txBody>
          <a:bodyPr wrap="none" rtlCol="0">
            <a:spAutoFit/>
          </a:bodyPr>
          <a:lstStyle/>
          <a:p>
            <a:r>
              <a:rPr lang="zh-CN" altLang="en-US" sz="2400" dirty="0"/>
              <a:t>蚁穴</a:t>
            </a:r>
          </a:p>
        </p:txBody>
      </p:sp>
      <p:sp>
        <p:nvSpPr>
          <p:cNvPr id="41" name="文本框 40">
            <a:extLst>
              <a:ext uri="{FF2B5EF4-FFF2-40B4-BE49-F238E27FC236}">
                <a16:creationId xmlns:a16="http://schemas.microsoft.com/office/drawing/2014/main" id="{DFA6DB5A-29B0-4D63-905B-34EA8605FB68}"/>
              </a:ext>
            </a:extLst>
          </p:cNvPr>
          <p:cNvSpPr txBox="1"/>
          <p:nvPr/>
        </p:nvSpPr>
        <p:spPr>
          <a:xfrm>
            <a:off x="8462924" y="6053498"/>
            <a:ext cx="1107996" cy="461665"/>
          </a:xfrm>
          <a:prstGeom prst="rect">
            <a:avLst/>
          </a:prstGeom>
          <a:noFill/>
        </p:spPr>
        <p:txBody>
          <a:bodyPr wrap="none" rtlCol="0">
            <a:spAutoFit/>
          </a:bodyPr>
          <a:lstStyle/>
          <a:p>
            <a:r>
              <a:rPr lang="zh-CN" altLang="en-US" sz="2400" dirty="0"/>
              <a:t>食物源</a:t>
            </a:r>
          </a:p>
        </p:txBody>
      </p:sp>
      <p:sp>
        <p:nvSpPr>
          <p:cNvPr id="3" name="文本框 2">
            <a:extLst>
              <a:ext uri="{FF2B5EF4-FFF2-40B4-BE49-F238E27FC236}">
                <a16:creationId xmlns:a16="http://schemas.microsoft.com/office/drawing/2014/main" id="{AA007711-6414-46A4-B3E6-AF76813B68FF}"/>
              </a:ext>
            </a:extLst>
          </p:cNvPr>
          <p:cNvSpPr txBox="1"/>
          <p:nvPr/>
        </p:nvSpPr>
        <p:spPr>
          <a:xfrm>
            <a:off x="272479" y="1269629"/>
            <a:ext cx="6478903" cy="4524315"/>
          </a:xfrm>
          <a:prstGeom prst="rect">
            <a:avLst/>
          </a:prstGeom>
          <a:noFill/>
        </p:spPr>
        <p:txBody>
          <a:bodyPr wrap="square" rtlCol="0">
            <a:spAutoFit/>
          </a:bodyPr>
          <a:lstStyle/>
          <a:p>
            <a:r>
              <a:rPr lang="zh-CN" altLang="en-US" sz="2400" dirty="0"/>
              <a:t>如图，假设有</a:t>
            </a:r>
            <a:r>
              <a:rPr lang="en-US" altLang="zh-CN" sz="2400" dirty="0"/>
              <a:t>A</a:t>
            </a:r>
            <a:r>
              <a:rPr lang="zh-CN" altLang="en-US" sz="2400" dirty="0"/>
              <a:t>，</a:t>
            </a:r>
            <a:r>
              <a:rPr lang="en-US" altLang="zh-CN" sz="2400" dirty="0"/>
              <a:t>B</a:t>
            </a:r>
            <a:r>
              <a:rPr lang="zh-CN" altLang="en-US" sz="2400" dirty="0"/>
              <a:t>，</a:t>
            </a:r>
            <a:r>
              <a:rPr lang="en-US" altLang="zh-CN" sz="2400" dirty="0"/>
              <a:t>C</a:t>
            </a:r>
            <a:r>
              <a:rPr lang="zh-CN" altLang="en-US" sz="2400" dirty="0"/>
              <a:t>，</a:t>
            </a:r>
            <a:r>
              <a:rPr lang="en-US" altLang="zh-CN" sz="2400" dirty="0"/>
              <a:t>D</a:t>
            </a:r>
            <a:r>
              <a:rPr lang="zh-CN" altLang="en-US" sz="2400" dirty="0"/>
              <a:t>，</a:t>
            </a:r>
            <a:r>
              <a:rPr lang="en-US" altLang="zh-CN" sz="2400" dirty="0"/>
              <a:t>E</a:t>
            </a:r>
            <a:r>
              <a:rPr lang="zh-CN" altLang="en-US" sz="2400" dirty="0"/>
              <a:t>，</a:t>
            </a:r>
            <a:r>
              <a:rPr lang="en-US" altLang="zh-CN" sz="2400" dirty="0"/>
              <a:t>H</a:t>
            </a:r>
            <a:r>
              <a:rPr lang="zh-CN" altLang="en-US" sz="2400" dirty="0"/>
              <a:t>五个节点，其中</a:t>
            </a:r>
            <a:r>
              <a:rPr lang="en-US" altLang="zh-CN" sz="2400" dirty="0"/>
              <a:t>A</a:t>
            </a:r>
            <a:r>
              <a:rPr lang="zh-CN" altLang="en-US" sz="2400" dirty="0"/>
              <a:t>为蚁穴，</a:t>
            </a:r>
            <a:r>
              <a:rPr lang="en-US" altLang="zh-CN" sz="2400" dirty="0"/>
              <a:t>E</a:t>
            </a:r>
            <a:r>
              <a:rPr lang="zh-CN" altLang="en-US" sz="2400" dirty="0"/>
              <a:t>为食物源。</a:t>
            </a:r>
            <a:r>
              <a:rPr lang="en-US" altLang="zh-CN" sz="2400" dirty="0"/>
              <a:t>B</a:t>
            </a:r>
            <a:r>
              <a:rPr lang="zh-CN" altLang="en-US" sz="2400" dirty="0"/>
              <a:t>，</a:t>
            </a:r>
            <a:r>
              <a:rPr lang="en-US" altLang="zh-CN" sz="2400" dirty="0"/>
              <a:t>C</a:t>
            </a:r>
            <a:r>
              <a:rPr lang="zh-CN" altLang="en-US" sz="2400" dirty="0"/>
              <a:t>，</a:t>
            </a:r>
            <a:r>
              <a:rPr lang="en-US" altLang="zh-CN" sz="2400" dirty="0"/>
              <a:t>D</a:t>
            </a:r>
            <a:r>
              <a:rPr lang="zh-CN" altLang="en-US" sz="2400" dirty="0"/>
              <a:t>，</a:t>
            </a:r>
            <a:r>
              <a:rPr lang="en-US" altLang="zh-CN" sz="2400" dirty="0"/>
              <a:t>H</a:t>
            </a:r>
            <a:r>
              <a:rPr lang="zh-CN" altLang="en-US" sz="2400" dirty="0"/>
              <a:t>四个点为路径上的途经点。</a:t>
            </a:r>
            <a:endParaRPr lang="en-US" altLang="zh-CN" sz="2400" dirty="0"/>
          </a:p>
          <a:p>
            <a:endParaRPr lang="en-US" altLang="zh-CN" sz="2400" dirty="0"/>
          </a:p>
          <a:p>
            <a:r>
              <a:rPr lang="zh-CN" altLang="en-US" sz="2400" dirty="0"/>
              <a:t>一只蚂蚁从</a:t>
            </a:r>
            <a:r>
              <a:rPr lang="en-US" altLang="zh-CN" sz="2400" dirty="0"/>
              <a:t>A</a:t>
            </a:r>
            <a:r>
              <a:rPr lang="zh-CN" altLang="en-US" sz="2400" dirty="0"/>
              <a:t>到</a:t>
            </a:r>
            <a:r>
              <a:rPr lang="en-US" altLang="zh-CN" sz="2400" dirty="0"/>
              <a:t>E</a:t>
            </a:r>
            <a:r>
              <a:rPr lang="zh-CN" altLang="en-US" sz="2400" dirty="0"/>
              <a:t>，只有两条路径可供选择：</a:t>
            </a:r>
            <a:endParaRPr lang="en-US" altLang="zh-CN" sz="2400" dirty="0"/>
          </a:p>
          <a:p>
            <a:r>
              <a:rPr lang="zh-CN" altLang="en-US" sz="2400" dirty="0"/>
              <a:t>路径</a:t>
            </a:r>
            <a:r>
              <a:rPr lang="en-US" altLang="zh-CN" sz="2400" dirty="0"/>
              <a:t>1</a:t>
            </a:r>
            <a:r>
              <a:rPr lang="zh-CN" altLang="en-US" sz="2400" dirty="0"/>
              <a:t>：</a:t>
            </a:r>
            <a:r>
              <a:rPr lang="en-US" altLang="zh-CN" sz="2400" dirty="0"/>
              <a:t>A-B-C-D-E</a:t>
            </a:r>
          </a:p>
          <a:p>
            <a:r>
              <a:rPr lang="zh-CN" altLang="en-US" sz="2400" dirty="0"/>
              <a:t>路径</a:t>
            </a:r>
            <a:r>
              <a:rPr lang="en-US" altLang="zh-CN" sz="2400" dirty="0"/>
              <a:t>2</a:t>
            </a:r>
            <a:r>
              <a:rPr lang="zh-CN" altLang="en-US" sz="2400" dirty="0"/>
              <a:t>：</a:t>
            </a:r>
            <a:r>
              <a:rPr lang="en-US" altLang="zh-CN" sz="2400" dirty="0"/>
              <a:t>A-B-H-D-E</a:t>
            </a:r>
          </a:p>
          <a:p>
            <a:endParaRPr lang="en-US" altLang="zh-CN" sz="2400" dirty="0"/>
          </a:p>
          <a:p>
            <a:r>
              <a:rPr lang="zh-CN" altLang="en-US" sz="2400" dirty="0"/>
              <a:t>从</a:t>
            </a:r>
            <a:r>
              <a:rPr lang="en-US" altLang="zh-CN" sz="2400" dirty="0"/>
              <a:t>E</a:t>
            </a:r>
            <a:r>
              <a:rPr lang="zh-CN" altLang="en-US" sz="2400" dirty="0"/>
              <a:t>点返回到</a:t>
            </a:r>
            <a:r>
              <a:rPr lang="en-US" altLang="zh-CN" sz="2400" dirty="0"/>
              <a:t>A</a:t>
            </a:r>
            <a:r>
              <a:rPr lang="zh-CN" altLang="en-US" sz="2400" dirty="0"/>
              <a:t>也同样只有两条路径可供选择：</a:t>
            </a:r>
            <a:endParaRPr lang="en-US" altLang="zh-CN" sz="2400" dirty="0"/>
          </a:p>
          <a:p>
            <a:r>
              <a:rPr lang="zh-CN" altLang="en-US" sz="2400" dirty="0"/>
              <a:t>路径</a:t>
            </a:r>
            <a:r>
              <a:rPr lang="en-US" altLang="zh-CN" sz="2400" dirty="0"/>
              <a:t>1</a:t>
            </a:r>
            <a:r>
              <a:rPr lang="zh-CN" altLang="en-US" sz="2400" dirty="0"/>
              <a:t>：</a:t>
            </a:r>
            <a:r>
              <a:rPr lang="en-US" altLang="zh-CN" sz="2400" dirty="0"/>
              <a:t>E-D-C-B-A</a:t>
            </a:r>
          </a:p>
          <a:p>
            <a:r>
              <a:rPr lang="zh-CN" altLang="en-US" sz="2400" dirty="0"/>
              <a:t>路径</a:t>
            </a:r>
            <a:r>
              <a:rPr lang="en-US" altLang="zh-CN" sz="2400" dirty="0"/>
              <a:t>2</a:t>
            </a:r>
            <a:r>
              <a:rPr lang="zh-CN" altLang="en-US" sz="2400" dirty="0"/>
              <a:t>：</a:t>
            </a:r>
            <a:r>
              <a:rPr lang="en-US" altLang="zh-CN" sz="2400" dirty="0"/>
              <a:t>E-D-H-B-A</a:t>
            </a:r>
          </a:p>
          <a:p>
            <a:endParaRPr lang="zh-CN" altLang="en-US" sz="2400" dirty="0"/>
          </a:p>
        </p:txBody>
      </p:sp>
      <p:cxnSp>
        <p:nvCxnSpPr>
          <p:cNvPr id="15" name="直接箭头连接符 14">
            <a:extLst>
              <a:ext uri="{FF2B5EF4-FFF2-40B4-BE49-F238E27FC236}">
                <a16:creationId xmlns:a16="http://schemas.microsoft.com/office/drawing/2014/main" id="{CA251711-9D2F-413B-BCD9-2CA87933E9F0}"/>
              </a:ext>
            </a:extLst>
          </p:cNvPr>
          <p:cNvCxnSpPr/>
          <p:nvPr/>
        </p:nvCxnSpPr>
        <p:spPr bwMode="auto">
          <a:xfrm>
            <a:off x="7979145" y="1988840"/>
            <a:ext cx="0" cy="504056"/>
          </a:xfrm>
          <a:prstGeom prst="straightConnector1">
            <a:avLst/>
          </a:prstGeom>
          <a:solidFill>
            <a:schemeClr val="accent1"/>
          </a:solidFill>
          <a:ln w="28575" cap="flat" cmpd="sng" algn="ctr">
            <a:solidFill>
              <a:srgbClr val="C00000"/>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6" name="直接箭头连接符 25">
            <a:extLst>
              <a:ext uri="{FF2B5EF4-FFF2-40B4-BE49-F238E27FC236}">
                <a16:creationId xmlns:a16="http://schemas.microsoft.com/office/drawing/2014/main" id="{576415AA-11C1-49C1-A47F-90E4B637E5D9}"/>
              </a:ext>
            </a:extLst>
          </p:cNvPr>
          <p:cNvCxnSpPr>
            <a:cxnSpLocks/>
          </p:cNvCxnSpPr>
          <p:nvPr/>
        </p:nvCxnSpPr>
        <p:spPr bwMode="auto">
          <a:xfrm flipH="1">
            <a:off x="7260874" y="2890463"/>
            <a:ext cx="576064" cy="521259"/>
          </a:xfrm>
          <a:prstGeom prst="straightConnector1">
            <a:avLst/>
          </a:prstGeom>
          <a:solidFill>
            <a:schemeClr val="accent1"/>
          </a:solidFill>
          <a:ln w="28575" cap="flat" cmpd="sng" algn="ctr">
            <a:solidFill>
              <a:srgbClr val="C00000"/>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8" name="直接箭头连接符 27">
            <a:extLst>
              <a:ext uri="{FF2B5EF4-FFF2-40B4-BE49-F238E27FC236}">
                <a16:creationId xmlns:a16="http://schemas.microsoft.com/office/drawing/2014/main" id="{7FD1FFC7-9482-4D26-A9CF-A8045907FE42}"/>
              </a:ext>
            </a:extLst>
          </p:cNvPr>
          <p:cNvCxnSpPr>
            <a:cxnSpLocks/>
          </p:cNvCxnSpPr>
          <p:nvPr/>
        </p:nvCxnSpPr>
        <p:spPr bwMode="auto">
          <a:xfrm>
            <a:off x="7272929" y="4240641"/>
            <a:ext cx="546528" cy="684075"/>
          </a:xfrm>
          <a:prstGeom prst="straightConnector1">
            <a:avLst/>
          </a:prstGeom>
          <a:solidFill>
            <a:schemeClr val="accent1"/>
          </a:solidFill>
          <a:ln w="28575" cap="flat" cmpd="sng" algn="ctr">
            <a:solidFill>
              <a:srgbClr val="C00000"/>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1" name="直接箭头连接符 30">
            <a:extLst>
              <a:ext uri="{FF2B5EF4-FFF2-40B4-BE49-F238E27FC236}">
                <a16:creationId xmlns:a16="http://schemas.microsoft.com/office/drawing/2014/main" id="{3E1345B8-8BF9-449C-A7DB-807542CBE7B4}"/>
              </a:ext>
            </a:extLst>
          </p:cNvPr>
          <p:cNvCxnSpPr/>
          <p:nvPr/>
        </p:nvCxnSpPr>
        <p:spPr bwMode="auto">
          <a:xfrm>
            <a:off x="7979145" y="5373216"/>
            <a:ext cx="0" cy="504056"/>
          </a:xfrm>
          <a:prstGeom prst="straightConnector1">
            <a:avLst/>
          </a:prstGeom>
          <a:solidFill>
            <a:schemeClr val="accent1"/>
          </a:solidFill>
          <a:ln w="28575" cap="flat" cmpd="sng" algn="ctr">
            <a:solidFill>
              <a:srgbClr val="C00000"/>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2" name="直接箭头连接符 31">
            <a:extLst>
              <a:ext uri="{FF2B5EF4-FFF2-40B4-BE49-F238E27FC236}">
                <a16:creationId xmlns:a16="http://schemas.microsoft.com/office/drawing/2014/main" id="{28FE8F47-D695-4CF1-9DEC-A66C795A526B}"/>
              </a:ext>
            </a:extLst>
          </p:cNvPr>
          <p:cNvCxnSpPr>
            <a:cxnSpLocks/>
          </p:cNvCxnSpPr>
          <p:nvPr/>
        </p:nvCxnSpPr>
        <p:spPr bwMode="auto">
          <a:xfrm>
            <a:off x="8532240" y="2913566"/>
            <a:ext cx="855426" cy="554443"/>
          </a:xfrm>
          <a:prstGeom prst="straightConnector1">
            <a:avLst/>
          </a:prstGeom>
          <a:solidFill>
            <a:schemeClr val="accent1"/>
          </a:solidFill>
          <a:ln w="28575" cap="flat" cmpd="sng" algn="ctr">
            <a:solidFill>
              <a:srgbClr val="C00000"/>
            </a:solidFill>
            <a:prstDash val="dash"/>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6" name="直接箭头连接符 35">
            <a:extLst>
              <a:ext uri="{FF2B5EF4-FFF2-40B4-BE49-F238E27FC236}">
                <a16:creationId xmlns:a16="http://schemas.microsoft.com/office/drawing/2014/main" id="{921F28E3-BA4C-419C-B811-B0C5AB234E4F}"/>
              </a:ext>
            </a:extLst>
          </p:cNvPr>
          <p:cNvCxnSpPr>
            <a:cxnSpLocks/>
          </p:cNvCxnSpPr>
          <p:nvPr/>
        </p:nvCxnSpPr>
        <p:spPr bwMode="auto">
          <a:xfrm flipH="1">
            <a:off x="8532240" y="4181428"/>
            <a:ext cx="885256" cy="765508"/>
          </a:xfrm>
          <a:prstGeom prst="straightConnector1">
            <a:avLst/>
          </a:prstGeom>
          <a:solidFill>
            <a:schemeClr val="accent1"/>
          </a:solidFill>
          <a:ln w="28575" cap="flat" cmpd="sng" algn="ctr">
            <a:solidFill>
              <a:srgbClr val="C00000"/>
            </a:solidFill>
            <a:prstDash val="dash"/>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42" name="直接箭头连接符 41">
            <a:extLst>
              <a:ext uri="{FF2B5EF4-FFF2-40B4-BE49-F238E27FC236}">
                <a16:creationId xmlns:a16="http://schemas.microsoft.com/office/drawing/2014/main" id="{72B71A75-6C9C-4DCF-99A1-AEF2944784B5}"/>
              </a:ext>
            </a:extLst>
          </p:cNvPr>
          <p:cNvCxnSpPr/>
          <p:nvPr/>
        </p:nvCxnSpPr>
        <p:spPr bwMode="auto">
          <a:xfrm>
            <a:off x="8365947" y="1970296"/>
            <a:ext cx="0" cy="504056"/>
          </a:xfrm>
          <a:prstGeom prst="straightConnector1">
            <a:avLst/>
          </a:prstGeom>
          <a:solidFill>
            <a:schemeClr val="accent1"/>
          </a:solidFill>
          <a:ln w="28575" cap="flat" cmpd="sng" algn="ctr">
            <a:solidFill>
              <a:srgbClr val="0000FF"/>
            </a:solidFill>
            <a:prstDash val="solid"/>
            <a:round/>
            <a:headEnd type="triangl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43" name="直接箭头连接符 42">
            <a:extLst>
              <a:ext uri="{FF2B5EF4-FFF2-40B4-BE49-F238E27FC236}">
                <a16:creationId xmlns:a16="http://schemas.microsoft.com/office/drawing/2014/main" id="{ABC08D98-CA49-4A4F-8EFC-F5087289C362}"/>
              </a:ext>
            </a:extLst>
          </p:cNvPr>
          <p:cNvCxnSpPr>
            <a:cxnSpLocks/>
          </p:cNvCxnSpPr>
          <p:nvPr/>
        </p:nvCxnSpPr>
        <p:spPr bwMode="auto">
          <a:xfrm flipH="1">
            <a:off x="7117990" y="2733614"/>
            <a:ext cx="576064" cy="521259"/>
          </a:xfrm>
          <a:prstGeom prst="straightConnector1">
            <a:avLst/>
          </a:prstGeom>
          <a:solidFill>
            <a:schemeClr val="accent1"/>
          </a:solidFill>
          <a:ln w="28575" cap="flat" cmpd="sng" algn="ctr">
            <a:solidFill>
              <a:srgbClr val="0000FF"/>
            </a:solidFill>
            <a:prstDash val="solid"/>
            <a:round/>
            <a:headEnd type="triangl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44" name="直接箭头连接符 43">
            <a:extLst>
              <a:ext uri="{FF2B5EF4-FFF2-40B4-BE49-F238E27FC236}">
                <a16:creationId xmlns:a16="http://schemas.microsoft.com/office/drawing/2014/main" id="{E5B03A11-B003-4E9B-9901-ED4DA1F2FDCD}"/>
              </a:ext>
            </a:extLst>
          </p:cNvPr>
          <p:cNvCxnSpPr>
            <a:cxnSpLocks/>
          </p:cNvCxnSpPr>
          <p:nvPr/>
        </p:nvCxnSpPr>
        <p:spPr bwMode="auto">
          <a:xfrm>
            <a:off x="7117990" y="4354438"/>
            <a:ext cx="546528" cy="684075"/>
          </a:xfrm>
          <a:prstGeom prst="straightConnector1">
            <a:avLst/>
          </a:prstGeom>
          <a:solidFill>
            <a:schemeClr val="accent1"/>
          </a:solidFill>
          <a:ln w="28575" cap="flat" cmpd="sng" algn="ctr">
            <a:solidFill>
              <a:srgbClr val="0000FF"/>
            </a:solidFill>
            <a:prstDash val="solid"/>
            <a:round/>
            <a:headEnd type="triangl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45" name="直接箭头连接符 44">
            <a:extLst>
              <a:ext uri="{FF2B5EF4-FFF2-40B4-BE49-F238E27FC236}">
                <a16:creationId xmlns:a16="http://schemas.microsoft.com/office/drawing/2014/main" id="{7CD58B4E-3CCB-4AE0-9A30-5A0DD1FE97D6}"/>
              </a:ext>
            </a:extLst>
          </p:cNvPr>
          <p:cNvCxnSpPr/>
          <p:nvPr/>
        </p:nvCxnSpPr>
        <p:spPr bwMode="auto">
          <a:xfrm>
            <a:off x="8365947" y="5373216"/>
            <a:ext cx="0" cy="504056"/>
          </a:xfrm>
          <a:prstGeom prst="straightConnector1">
            <a:avLst/>
          </a:prstGeom>
          <a:solidFill>
            <a:schemeClr val="accent1"/>
          </a:solidFill>
          <a:ln w="28575" cap="flat" cmpd="sng" algn="ctr">
            <a:solidFill>
              <a:srgbClr val="0000FF"/>
            </a:solidFill>
            <a:prstDash val="solid"/>
            <a:round/>
            <a:headEnd type="triangl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46" name="直接箭头连接符 45">
            <a:extLst>
              <a:ext uri="{FF2B5EF4-FFF2-40B4-BE49-F238E27FC236}">
                <a16:creationId xmlns:a16="http://schemas.microsoft.com/office/drawing/2014/main" id="{0269DEB2-F820-4CC5-8FAA-997DD6F771F4}"/>
              </a:ext>
            </a:extLst>
          </p:cNvPr>
          <p:cNvCxnSpPr>
            <a:cxnSpLocks/>
          </p:cNvCxnSpPr>
          <p:nvPr/>
        </p:nvCxnSpPr>
        <p:spPr bwMode="auto">
          <a:xfrm>
            <a:off x="8600961" y="2696950"/>
            <a:ext cx="855426" cy="554443"/>
          </a:xfrm>
          <a:prstGeom prst="straightConnector1">
            <a:avLst/>
          </a:prstGeom>
          <a:solidFill>
            <a:schemeClr val="accent1"/>
          </a:solidFill>
          <a:ln w="28575" cap="flat" cmpd="sng" algn="ctr">
            <a:solidFill>
              <a:srgbClr val="0000FF"/>
            </a:solidFill>
            <a:prstDash val="dash"/>
            <a:round/>
            <a:headEnd type="triangl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47" name="直接箭头连接符 46">
            <a:extLst>
              <a:ext uri="{FF2B5EF4-FFF2-40B4-BE49-F238E27FC236}">
                <a16:creationId xmlns:a16="http://schemas.microsoft.com/office/drawing/2014/main" id="{7AD4EF87-FD49-4DD0-8412-2B7FBEDA842C}"/>
              </a:ext>
            </a:extLst>
          </p:cNvPr>
          <p:cNvCxnSpPr>
            <a:cxnSpLocks/>
          </p:cNvCxnSpPr>
          <p:nvPr/>
        </p:nvCxnSpPr>
        <p:spPr bwMode="auto">
          <a:xfrm flipH="1">
            <a:off x="8697416" y="4282388"/>
            <a:ext cx="885256" cy="765508"/>
          </a:xfrm>
          <a:prstGeom prst="straightConnector1">
            <a:avLst/>
          </a:prstGeom>
          <a:solidFill>
            <a:schemeClr val="accent1"/>
          </a:solidFill>
          <a:ln w="28575" cap="flat" cmpd="sng" algn="ctr">
            <a:solidFill>
              <a:srgbClr val="0000FF"/>
            </a:solidFill>
            <a:prstDash val="dash"/>
            <a:round/>
            <a:headEnd type="triangl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Tree>
    <p:extLst>
      <p:ext uri="{BB962C8B-B14F-4D97-AF65-F5344CB8AC3E}">
        <p14:creationId xmlns:p14="http://schemas.microsoft.com/office/powerpoint/2010/main" val="370056435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4" fill="hold" nodeType="with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down)">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1" fill="hold" nodeType="click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animEffect transition="in" filter="barn(inVertical)">
                                      <p:cBhvr>
                                        <p:cTn id="12" dur="500"/>
                                        <p:tgtEl>
                                          <p:spTgt spid="3">
                                            <p:txEl>
                                              <p:pRg st="2" end="2"/>
                                            </p:txEl>
                                          </p:spTgt>
                                        </p:tgtEl>
                                      </p:cBhvr>
                                    </p:animEffect>
                                  </p:childTnLst>
                                </p:cTn>
                              </p:par>
                              <p:par>
                                <p:cTn id="13" presetID="16" presetClass="entr" presetSubtype="21" fill="hold" nodeType="with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animEffect transition="in" filter="barn(inVertical)">
                                      <p:cBhvr>
                                        <p:cTn id="15" dur="500"/>
                                        <p:tgtEl>
                                          <p:spTgt spid="3">
                                            <p:txEl>
                                              <p:pRg st="3" end="3"/>
                                            </p:txEl>
                                          </p:spTgt>
                                        </p:tgtEl>
                                      </p:cBhvr>
                                    </p:animEffect>
                                  </p:childTnLst>
                                </p:cTn>
                              </p:par>
                              <p:par>
                                <p:cTn id="16" presetID="16" presetClass="entr" presetSubtype="21" fill="hold" nodeType="withEffect">
                                  <p:stCondLst>
                                    <p:cond delay="0"/>
                                  </p:stCondLst>
                                  <p:childTnLst>
                                    <p:set>
                                      <p:cBhvr>
                                        <p:cTn id="17" dur="1" fill="hold">
                                          <p:stCondLst>
                                            <p:cond delay="0"/>
                                          </p:stCondLst>
                                        </p:cTn>
                                        <p:tgtEl>
                                          <p:spTgt spid="3">
                                            <p:txEl>
                                              <p:pRg st="4" end="4"/>
                                            </p:txEl>
                                          </p:spTgt>
                                        </p:tgtEl>
                                        <p:attrNameLst>
                                          <p:attrName>style.visibility</p:attrName>
                                        </p:attrNameLst>
                                      </p:cBhvr>
                                      <p:to>
                                        <p:strVal val="visible"/>
                                      </p:to>
                                    </p:set>
                                    <p:animEffect transition="in" filter="barn(inVertical)">
                                      <p:cBhvr>
                                        <p:cTn id="18" dur="500"/>
                                        <p:tgtEl>
                                          <p:spTgt spid="3">
                                            <p:txEl>
                                              <p:pRg st="4" end="4"/>
                                            </p:txEl>
                                          </p:spTgt>
                                        </p:tgtEl>
                                      </p:cBhvr>
                                    </p:animEffect>
                                  </p:childTnLst>
                                </p:cTn>
                              </p:par>
                            </p:childTnLst>
                          </p:cTn>
                        </p:par>
                        <p:par>
                          <p:cTn id="19" fill="hold">
                            <p:stCondLst>
                              <p:cond delay="500"/>
                            </p:stCondLst>
                            <p:childTnLst>
                              <p:par>
                                <p:cTn id="20" presetID="22" presetClass="entr" presetSubtype="1" fill="hold" nodeType="afterEffect">
                                  <p:stCondLst>
                                    <p:cond delay="0"/>
                                  </p:stCondLst>
                                  <p:childTnLst>
                                    <p:set>
                                      <p:cBhvr>
                                        <p:cTn id="21" dur="1" fill="hold">
                                          <p:stCondLst>
                                            <p:cond delay="0"/>
                                          </p:stCondLst>
                                        </p:cTn>
                                        <p:tgtEl>
                                          <p:spTgt spid="15"/>
                                        </p:tgtEl>
                                        <p:attrNameLst>
                                          <p:attrName>style.visibility</p:attrName>
                                        </p:attrNameLst>
                                      </p:cBhvr>
                                      <p:to>
                                        <p:strVal val="visible"/>
                                      </p:to>
                                    </p:set>
                                    <p:animEffect transition="in" filter="wipe(up)">
                                      <p:cBhvr>
                                        <p:cTn id="22" dur="500"/>
                                        <p:tgtEl>
                                          <p:spTgt spid="15"/>
                                        </p:tgtEl>
                                      </p:cBhvr>
                                    </p:animEffect>
                                  </p:childTnLst>
                                </p:cTn>
                              </p:par>
                            </p:childTnLst>
                          </p:cTn>
                        </p:par>
                        <p:par>
                          <p:cTn id="23" fill="hold">
                            <p:stCondLst>
                              <p:cond delay="1000"/>
                            </p:stCondLst>
                            <p:childTnLst>
                              <p:par>
                                <p:cTn id="24" presetID="22" presetClass="entr" presetSubtype="1" fill="hold" nodeType="afterEffect">
                                  <p:stCondLst>
                                    <p:cond delay="0"/>
                                  </p:stCondLst>
                                  <p:childTnLst>
                                    <p:set>
                                      <p:cBhvr>
                                        <p:cTn id="25" dur="1" fill="hold">
                                          <p:stCondLst>
                                            <p:cond delay="0"/>
                                          </p:stCondLst>
                                        </p:cTn>
                                        <p:tgtEl>
                                          <p:spTgt spid="26"/>
                                        </p:tgtEl>
                                        <p:attrNameLst>
                                          <p:attrName>style.visibility</p:attrName>
                                        </p:attrNameLst>
                                      </p:cBhvr>
                                      <p:to>
                                        <p:strVal val="visible"/>
                                      </p:to>
                                    </p:set>
                                    <p:animEffect transition="in" filter="wipe(up)">
                                      <p:cBhvr>
                                        <p:cTn id="26" dur="500"/>
                                        <p:tgtEl>
                                          <p:spTgt spid="26"/>
                                        </p:tgtEl>
                                      </p:cBhvr>
                                    </p:animEffect>
                                  </p:childTnLst>
                                </p:cTn>
                              </p:par>
                              <p:par>
                                <p:cTn id="27" presetID="22" presetClass="entr" presetSubtype="8" fill="hold" nodeType="withEffect">
                                  <p:stCondLst>
                                    <p:cond delay="0"/>
                                  </p:stCondLst>
                                  <p:childTnLst>
                                    <p:set>
                                      <p:cBhvr>
                                        <p:cTn id="28" dur="1" fill="hold">
                                          <p:stCondLst>
                                            <p:cond delay="0"/>
                                          </p:stCondLst>
                                        </p:cTn>
                                        <p:tgtEl>
                                          <p:spTgt spid="32"/>
                                        </p:tgtEl>
                                        <p:attrNameLst>
                                          <p:attrName>style.visibility</p:attrName>
                                        </p:attrNameLst>
                                      </p:cBhvr>
                                      <p:to>
                                        <p:strVal val="visible"/>
                                      </p:to>
                                    </p:set>
                                    <p:animEffect transition="in" filter="wipe(left)">
                                      <p:cBhvr>
                                        <p:cTn id="29" dur="500"/>
                                        <p:tgtEl>
                                          <p:spTgt spid="32"/>
                                        </p:tgtEl>
                                      </p:cBhvr>
                                    </p:animEffect>
                                  </p:childTnLst>
                                </p:cTn>
                              </p:par>
                            </p:childTnLst>
                          </p:cTn>
                        </p:par>
                        <p:par>
                          <p:cTn id="30" fill="hold">
                            <p:stCondLst>
                              <p:cond delay="1500"/>
                            </p:stCondLst>
                            <p:childTnLst>
                              <p:par>
                                <p:cTn id="31" presetID="22" presetClass="entr" presetSubtype="1" fill="hold" nodeType="afterEffect">
                                  <p:stCondLst>
                                    <p:cond delay="0"/>
                                  </p:stCondLst>
                                  <p:childTnLst>
                                    <p:set>
                                      <p:cBhvr>
                                        <p:cTn id="32" dur="1" fill="hold">
                                          <p:stCondLst>
                                            <p:cond delay="0"/>
                                          </p:stCondLst>
                                        </p:cTn>
                                        <p:tgtEl>
                                          <p:spTgt spid="28"/>
                                        </p:tgtEl>
                                        <p:attrNameLst>
                                          <p:attrName>style.visibility</p:attrName>
                                        </p:attrNameLst>
                                      </p:cBhvr>
                                      <p:to>
                                        <p:strVal val="visible"/>
                                      </p:to>
                                    </p:set>
                                    <p:animEffect transition="in" filter="wipe(up)">
                                      <p:cBhvr>
                                        <p:cTn id="33" dur="500"/>
                                        <p:tgtEl>
                                          <p:spTgt spid="28"/>
                                        </p:tgtEl>
                                      </p:cBhvr>
                                    </p:animEffect>
                                  </p:childTnLst>
                                </p:cTn>
                              </p:par>
                              <p:par>
                                <p:cTn id="34" presetID="22" presetClass="entr" presetSubtype="2" fill="hold" nodeType="withEffect">
                                  <p:stCondLst>
                                    <p:cond delay="0"/>
                                  </p:stCondLst>
                                  <p:childTnLst>
                                    <p:set>
                                      <p:cBhvr>
                                        <p:cTn id="35" dur="1" fill="hold">
                                          <p:stCondLst>
                                            <p:cond delay="0"/>
                                          </p:stCondLst>
                                        </p:cTn>
                                        <p:tgtEl>
                                          <p:spTgt spid="36"/>
                                        </p:tgtEl>
                                        <p:attrNameLst>
                                          <p:attrName>style.visibility</p:attrName>
                                        </p:attrNameLst>
                                      </p:cBhvr>
                                      <p:to>
                                        <p:strVal val="visible"/>
                                      </p:to>
                                    </p:set>
                                    <p:animEffect transition="in" filter="wipe(right)">
                                      <p:cBhvr>
                                        <p:cTn id="36" dur="500"/>
                                        <p:tgtEl>
                                          <p:spTgt spid="36"/>
                                        </p:tgtEl>
                                      </p:cBhvr>
                                    </p:animEffect>
                                  </p:childTnLst>
                                </p:cTn>
                              </p:par>
                            </p:childTnLst>
                          </p:cTn>
                        </p:par>
                        <p:par>
                          <p:cTn id="37" fill="hold">
                            <p:stCondLst>
                              <p:cond delay="2000"/>
                            </p:stCondLst>
                            <p:childTnLst>
                              <p:par>
                                <p:cTn id="38" presetID="22" presetClass="entr" presetSubtype="1" fill="hold" nodeType="afterEffect">
                                  <p:stCondLst>
                                    <p:cond delay="0"/>
                                  </p:stCondLst>
                                  <p:childTnLst>
                                    <p:set>
                                      <p:cBhvr>
                                        <p:cTn id="39" dur="1" fill="hold">
                                          <p:stCondLst>
                                            <p:cond delay="0"/>
                                          </p:stCondLst>
                                        </p:cTn>
                                        <p:tgtEl>
                                          <p:spTgt spid="31"/>
                                        </p:tgtEl>
                                        <p:attrNameLst>
                                          <p:attrName>style.visibility</p:attrName>
                                        </p:attrNameLst>
                                      </p:cBhvr>
                                      <p:to>
                                        <p:strVal val="visible"/>
                                      </p:to>
                                    </p:set>
                                    <p:animEffect transition="in" filter="wipe(up)">
                                      <p:cBhvr>
                                        <p:cTn id="40" dur="500"/>
                                        <p:tgtEl>
                                          <p:spTgt spid="31"/>
                                        </p:tgtEl>
                                      </p:cBhvr>
                                    </p:animEffect>
                                  </p:childTnLst>
                                </p:cTn>
                              </p:par>
                            </p:childTnLst>
                          </p:cTn>
                        </p:par>
                      </p:childTnLst>
                    </p:cTn>
                  </p:par>
                  <p:par>
                    <p:cTn id="41" fill="hold">
                      <p:stCondLst>
                        <p:cond delay="indefinite"/>
                      </p:stCondLst>
                      <p:childTnLst>
                        <p:par>
                          <p:cTn id="42" fill="hold">
                            <p:stCondLst>
                              <p:cond delay="0"/>
                            </p:stCondLst>
                            <p:childTnLst>
                              <p:par>
                                <p:cTn id="43" presetID="22" presetClass="entr" presetSubtype="4" fill="hold" nodeType="clickEffect">
                                  <p:stCondLst>
                                    <p:cond delay="0"/>
                                  </p:stCondLst>
                                  <p:childTnLst>
                                    <p:set>
                                      <p:cBhvr>
                                        <p:cTn id="44" dur="1" fill="hold">
                                          <p:stCondLst>
                                            <p:cond delay="0"/>
                                          </p:stCondLst>
                                        </p:cTn>
                                        <p:tgtEl>
                                          <p:spTgt spid="3">
                                            <p:txEl>
                                              <p:pRg st="6" end="6"/>
                                            </p:txEl>
                                          </p:spTgt>
                                        </p:tgtEl>
                                        <p:attrNameLst>
                                          <p:attrName>style.visibility</p:attrName>
                                        </p:attrNameLst>
                                      </p:cBhvr>
                                      <p:to>
                                        <p:strVal val="visible"/>
                                      </p:to>
                                    </p:set>
                                    <p:animEffect transition="in" filter="wipe(down)">
                                      <p:cBhvr>
                                        <p:cTn id="45" dur="500"/>
                                        <p:tgtEl>
                                          <p:spTgt spid="3">
                                            <p:txEl>
                                              <p:pRg st="6" end="6"/>
                                            </p:txEl>
                                          </p:spTgt>
                                        </p:tgtEl>
                                      </p:cBhvr>
                                    </p:animEffect>
                                  </p:childTnLst>
                                </p:cTn>
                              </p:par>
                              <p:par>
                                <p:cTn id="46" presetID="22" presetClass="entr" presetSubtype="4" fill="hold" nodeType="withEffect">
                                  <p:stCondLst>
                                    <p:cond delay="0"/>
                                  </p:stCondLst>
                                  <p:childTnLst>
                                    <p:set>
                                      <p:cBhvr>
                                        <p:cTn id="47" dur="1" fill="hold">
                                          <p:stCondLst>
                                            <p:cond delay="0"/>
                                          </p:stCondLst>
                                        </p:cTn>
                                        <p:tgtEl>
                                          <p:spTgt spid="3">
                                            <p:txEl>
                                              <p:pRg st="7" end="7"/>
                                            </p:txEl>
                                          </p:spTgt>
                                        </p:tgtEl>
                                        <p:attrNameLst>
                                          <p:attrName>style.visibility</p:attrName>
                                        </p:attrNameLst>
                                      </p:cBhvr>
                                      <p:to>
                                        <p:strVal val="visible"/>
                                      </p:to>
                                    </p:set>
                                    <p:animEffect transition="in" filter="wipe(down)">
                                      <p:cBhvr>
                                        <p:cTn id="48" dur="500"/>
                                        <p:tgtEl>
                                          <p:spTgt spid="3">
                                            <p:txEl>
                                              <p:pRg st="7" end="7"/>
                                            </p:txEl>
                                          </p:spTgt>
                                        </p:tgtEl>
                                      </p:cBhvr>
                                    </p:animEffect>
                                  </p:childTnLst>
                                </p:cTn>
                              </p:par>
                              <p:par>
                                <p:cTn id="49" presetID="22" presetClass="entr" presetSubtype="4" fill="hold" nodeType="withEffect">
                                  <p:stCondLst>
                                    <p:cond delay="0"/>
                                  </p:stCondLst>
                                  <p:childTnLst>
                                    <p:set>
                                      <p:cBhvr>
                                        <p:cTn id="50" dur="1" fill="hold">
                                          <p:stCondLst>
                                            <p:cond delay="0"/>
                                          </p:stCondLst>
                                        </p:cTn>
                                        <p:tgtEl>
                                          <p:spTgt spid="3">
                                            <p:txEl>
                                              <p:pRg st="8" end="8"/>
                                            </p:txEl>
                                          </p:spTgt>
                                        </p:tgtEl>
                                        <p:attrNameLst>
                                          <p:attrName>style.visibility</p:attrName>
                                        </p:attrNameLst>
                                      </p:cBhvr>
                                      <p:to>
                                        <p:strVal val="visible"/>
                                      </p:to>
                                    </p:set>
                                    <p:animEffect transition="in" filter="wipe(down)">
                                      <p:cBhvr>
                                        <p:cTn id="51" dur="500"/>
                                        <p:tgtEl>
                                          <p:spTgt spid="3">
                                            <p:txEl>
                                              <p:pRg st="8" end="8"/>
                                            </p:txEl>
                                          </p:spTgt>
                                        </p:tgtEl>
                                      </p:cBhvr>
                                    </p:animEffect>
                                  </p:childTnLst>
                                </p:cTn>
                              </p:par>
                            </p:childTnLst>
                          </p:cTn>
                        </p:par>
                        <p:par>
                          <p:cTn id="52" fill="hold">
                            <p:stCondLst>
                              <p:cond delay="500"/>
                            </p:stCondLst>
                            <p:childTnLst>
                              <p:par>
                                <p:cTn id="53" presetID="22" presetClass="entr" presetSubtype="4" fill="hold" nodeType="afterEffect">
                                  <p:stCondLst>
                                    <p:cond delay="0"/>
                                  </p:stCondLst>
                                  <p:childTnLst>
                                    <p:set>
                                      <p:cBhvr>
                                        <p:cTn id="54" dur="1" fill="hold">
                                          <p:stCondLst>
                                            <p:cond delay="0"/>
                                          </p:stCondLst>
                                        </p:cTn>
                                        <p:tgtEl>
                                          <p:spTgt spid="45"/>
                                        </p:tgtEl>
                                        <p:attrNameLst>
                                          <p:attrName>style.visibility</p:attrName>
                                        </p:attrNameLst>
                                      </p:cBhvr>
                                      <p:to>
                                        <p:strVal val="visible"/>
                                      </p:to>
                                    </p:set>
                                    <p:animEffect transition="in" filter="wipe(down)">
                                      <p:cBhvr>
                                        <p:cTn id="55" dur="500"/>
                                        <p:tgtEl>
                                          <p:spTgt spid="45"/>
                                        </p:tgtEl>
                                      </p:cBhvr>
                                    </p:animEffect>
                                  </p:childTnLst>
                                </p:cTn>
                              </p:par>
                            </p:childTnLst>
                          </p:cTn>
                        </p:par>
                        <p:par>
                          <p:cTn id="56" fill="hold">
                            <p:stCondLst>
                              <p:cond delay="1000"/>
                            </p:stCondLst>
                            <p:childTnLst>
                              <p:par>
                                <p:cTn id="57" presetID="22" presetClass="entr" presetSubtype="4" fill="hold" nodeType="afterEffect">
                                  <p:stCondLst>
                                    <p:cond delay="0"/>
                                  </p:stCondLst>
                                  <p:childTnLst>
                                    <p:set>
                                      <p:cBhvr>
                                        <p:cTn id="58" dur="1" fill="hold">
                                          <p:stCondLst>
                                            <p:cond delay="0"/>
                                          </p:stCondLst>
                                        </p:cTn>
                                        <p:tgtEl>
                                          <p:spTgt spid="47"/>
                                        </p:tgtEl>
                                        <p:attrNameLst>
                                          <p:attrName>style.visibility</p:attrName>
                                        </p:attrNameLst>
                                      </p:cBhvr>
                                      <p:to>
                                        <p:strVal val="visible"/>
                                      </p:to>
                                    </p:set>
                                    <p:animEffect transition="in" filter="wipe(down)">
                                      <p:cBhvr>
                                        <p:cTn id="59" dur="500"/>
                                        <p:tgtEl>
                                          <p:spTgt spid="47"/>
                                        </p:tgtEl>
                                      </p:cBhvr>
                                    </p:animEffect>
                                  </p:childTnLst>
                                </p:cTn>
                              </p:par>
                              <p:par>
                                <p:cTn id="60" presetID="22" presetClass="entr" presetSubtype="4" fill="hold" nodeType="withEffect">
                                  <p:stCondLst>
                                    <p:cond delay="0"/>
                                  </p:stCondLst>
                                  <p:childTnLst>
                                    <p:set>
                                      <p:cBhvr>
                                        <p:cTn id="61" dur="1" fill="hold">
                                          <p:stCondLst>
                                            <p:cond delay="0"/>
                                          </p:stCondLst>
                                        </p:cTn>
                                        <p:tgtEl>
                                          <p:spTgt spid="44"/>
                                        </p:tgtEl>
                                        <p:attrNameLst>
                                          <p:attrName>style.visibility</p:attrName>
                                        </p:attrNameLst>
                                      </p:cBhvr>
                                      <p:to>
                                        <p:strVal val="visible"/>
                                      </p:to>
                                    </p:set>
                                    <p:animEffect transition="in" filter="wipe(down)">
                                      <p:cBhvr>
                                        <p:cTn id="62" dur="500"/>
                                        <p:tgtEl>
                                          <p:spTgt spid="44"/>
                                        </p:tgtEl>
                                      </p:cBhvr>
                                    </p:animEffect>
                                  </p:childTnLst>
                                </p:cTn>
                              </p:par>
                            </p:childTnLst>
                          </p:cTn>
                        </p:par>
                        <p:par>
                          <p:cTn id="63" fill="hold">
                            <p:stCondLst>
                              <p:cond delay="1500"/>
                            </p:stCondLst>
                            <p:childTnLst>
                              <p:par>
                                <p:cTn id="64" presetID="22" presetClass="entr" presetSubtype="4" fill="hold" nodeType="afterEffect">
                                  <p:stCondLst>
                                    <p:cond delay="0"/>
                                  </p:stCondLst>
                                  <p:childTnLst>
                                    <p:set>
                                      <p:cBhvr>
                                        <p:cTn id="65" dur="1" fill="hold">
                                          <p:stCondLst>
                                            <p:cond delay="0"/>
                                          </p:stCondLst>
                                        </p:cTn>
                                        <p:tgtEl>
                                          <p:spTgt spid="43"/>
                                        </p:tgtEl>
                                        <p:attrNameLst>
                                          <p:attrName>style.visibility</p:attrName>
                                        </p:attrNameLst>
                                      </p:cBhvr>
                                      <p:to>
                                        <p:strVal val="visible"/>
                                      </p:to>
                                    </p:set>
                                    <p:animEffect transition="in" filter="wipe(down)">
                                      <p:cBhvr>
                                        <p:cTn id="66" dur="500"/>
                                        <p:tgtEl>
                                          <p:spTgt spid="43"/>
                                        </p:tgtEl>
                                      </p:cBhvr>
                                    </p:animEffect>
                                  </p:childTnLst>
                                </p:cTn>
                              </p:par>
                              <p:par>
                                <p:cTn id="67" presetID="22" presetClass="entr" presetSubtype="4" fill="hold" nodeType="withEffect">
                                  <p:stCondLst>
                                    <p:cond delay="0"/>
                                  </p:stCondLst>
                                  <p:childTnLst>
                                    <p:set>
                                      <p:cBhvr>
                                        <p:cTn id="68" dur="1" fill="hold">
                                          <p:stCondLst>
                                            <p:cond delay="0"/>
                                          </p:stCondLst>
                                        </p:cTn>
                                        <p:tgtEl>
                                          <p:spTgt spid="46"/>
                                        </p:tgtEl>
                                        <p:attrNameLst>
                                          <p:attrName>style.visibility</p:attrName>
                                        </p:attrNameLst>
                                      </p:cBhvr>
                                      <p:to>
                                        <p:strVal val="visible"/>
                                      </p:to>
                                    </p:set>
                                    <p:animEffect transition="in" filter="wipe(down)">
                                      <p:cBhvr>
                                        <p:cTn id="69" dur="500"/>
                                        <p:tgtEl>
                                          <p:spTgt spid="46"/>
                                        </p:tgtEl>
                                      </p:cBhvr>
                                    </p:animEffect>
                                  </p:childTnLst>
                                </p:cTn>
                              </p:par>
                            </p:childTnLst>
                          </p:cTn>
                        </p:par>
                        <p:par>
                          <p:cTn id="70" fill="hold">
                            <p:stCondLst>
                              <p:cond delay="2000"/>
                            </p:stCondLst>
                            <p:childTnLst>
                              <p:par>
                                <p:cTn id="71" presetID="22" presetClass="entr" presetSubtype="4" fill="hold" nodeType="afterEffect">
                                  <p:stCondLst>
                                    <p:cond delay="0"/>
                                  </p:stCondLst>
                                  <p:childTnLst>
                                    <p:set>
                                      <p:cBhvr>
                                        <p:cTn id="72" dur="1" fill="hold">
                                          <p:stCondLst>
                                            <p:cond delay="0"/>
                                          </p:stCondLst>
                                        </p:cTn>
                                        <p:tgtEl>
                                          <p:spTgt spid="42"/>
                                        </p:tgtEl>
                                        <p:attrNameLst>
                                          <p:attrName>style.visibility</p:attrName>
                                        </p:attrNameLst>
                                      </p:cBhvr>
                                      <p:to>
                                        <p:strVal val="visible"/>
                                      </p:to>
                                    </p:set>
                                    <p:animEffect transition="in" filter="wipe(down)">
                                      <p:cBhvr>
                                        <p:cTn id="73" dur="500"/>
                                        <p:tgtEl>
                                          <p:spTgt spid="4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888FDDF-E239-4569-BACF-1D67CF874AD0}"/>
              </a:ext>
            </a:extLst>
          </p:cNvPr>
          <p:cNvSpPr>
            <a:spLocks noGrp="1"/>
          </p:cNvSpPr>
          <p:nvPr>
            <p:ph type="title"/>
          </p:nvPr>
        </p:nvSpPr>
        <p:spPr/>
        <p:txBody>
          <a:bodyPr/>
          <a:lstStyle/>
          <a:p>
            <a:r>
              <a:rPr lang="zh-CN" altLang="en-US" dirty="0"/>
              <a:t>蚁群算法原理示意图</a:t>
            </a:r>
          </a:p>
        </p:txBody>
      </p:sp>
      <p:sp>
        <p:nvSpPr>
          <p:cNvPr id="4" name="日期占位符 3">
            <a:extLst>
              <a:ext uri="{FF2B5EF4-FFF2-40B4-BE49-F238E27FC236}">
                <a16:creationId xmlns:a16="http://schemas.microsoft.com/office/drawing/2014/main" id="{6F6A9891-8FEA-4ACB-BD75-F7BC8E6DB7F5}"/>
              </a:ext>
            </a:extLst>
          </p:cNvPr>
          <p:cNvSpPr>
            <a:spLocks noGrp="1"/>
          </p:cNvSpPr>
          <p:nvPr>
            <p:ph type="dt" sz="half" idx="10"/>
          </p:nvPr>
        </p:nvSpPr>
        <p:spPr/>
        <p:txBody>
          <a:bodyPr/>
          <a:lstStyle/>
          <a:p>
            <a:fld id="{A8B06C41-1E1E-4B9B-9644-5AFB8CB2AB3B}" type="datetime3">
              <a:rPr lang="zh-CN" altLang="en-US" smtClean="0"/>
              <a:t>2022年11月24日星期四</a:t>
            </a:fld>
            <a:endParaRPr lang="en-US" altLang="zh-CN" dirty="0"/>
          </a:p>
        </p:txBody>
      </p:sp>
      <p:sp>
        <p:nvSpPr>
          <p:cNvPr id="5" name="灯片编号占位符 4">
            <a:extLst>
              <a:ext uri="{FF2B5EF4-FFF2-40B4-BE49-F238E27FC236}">
                <a16:creationId xmlns:a16="http://schemas.microsoft.com/office/drawing/2014/main" id="{A0C19D16-75CA-4909-8B5D-BAA9AA835E12}"/>
              </a:ext>
            </a:extLst>
          </p:cNvPr>
          <p:cNvSpPr>
            <a:spLocks noGrp="1"/>
          </p:cNvSpPr>
          <p:nvPr>
            <p:ph type="sldNum" sz="quarter" idx="12"/>
          </p:nvPr>
        </p:nvSpPr>
        <p:spPr/>
        <p:txBody>
          <a:bodyPr/>
          <a:lstStyle/>
          <a:p>
            <a:fld id="{7AC79822-BC0D-4DE8-A7E5-90A3732A2B82}" type="slidenum">
              <a:rPr lang="zh-CN" altLang="en-US" smtClean="0"/>
              <a:pPr/>
              <a:t>22</a:t>
            </a:fld>
            <a:endParaRPr lang="en-US" altLang="zh-CN" dirty="0"/>
          </a:p>
        </p:txBody>
      </p:sp>
      <p:sp>
        <p:nvSpPr>
          <p:cNvPr id="6" name="椭圆 5">
            <a:extLst>
              <a:ext uri="{FF2B5EF4-FFF2-40B4-BE49-F238E27FC236}">
                <a16:creationId xmlns:a16="http://schemas.microsoft.com/office/drawing/2014/main" id="{719FDBC3-218C-409E-8B07-3F6C45731B33}"/>
              </a:ext>
            </a:extLst>
          </p:cNvPr>
          <p:cNvSpPr/>
          <p:nvPr/>
        </p:nvSpPr>
        <p:spPr bwMode="auto">
          <a:xfrm>
            <a:off x="7905328" y="1340767"/>
            <a:ext cx="504056" cy="504056"/>
          </a:xfrm>
          <a:prstGeom prst="ellipse">
            <a:avLst/>
          </a:prstGeom>
          <a:noFill/>
          <a:ln w="28575" cap="flat" cmpd="sng" algn="ctr">
            <a:solidFill>
              <a:schemeClr val="tx1"/>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kumimoji="0" lang="en-US" altLang="zh-CN" sz="2400" b="0" i="0" u="none" strike="noStrike" cap="none" normalizeH="0" baseline="0" dirty="0">
                <a:ln>
                  <a:noFill/>
                </a:ln>
                <a:solidFill>
                  <a:schemeClr val="tx1"/>
                </a:solidFill>
                <a:effectLst/>
                <a:latin typeface="Arial" charset="0"/>
              </a:rPr>
              <a:t>A</a:t>
            </a:r>
            <a:endParaRPr kumimoji="0" lang="zh-CN" altLang="en-US" sz="2400" b="0" i="0" u="none" strike="noStrike" cap="none" normalizeH="0" baseline="0" dirty="0">
              <a:ln>
                <a:noFill/>
              </a:ln>
              <a:solidFill>
                <a:schemeClr val="tx1"/>
              </a:solidFill>
              <a:effectLst/>
              <a:latin typeface="Arial" charset="0"/>
            </a:endParaRPr>
          </a:p>
        </p:txBody>
      </p:sp>
      <p:sp>
        <p:nvSpPr>
          <p:cNvPr id="7" name="椭圆 6">
            <a:extLst>
              <a:ext uri="{FF2B5EF4-FFF2-40B4-BE49-F238E27FC236}">
                <a16:creationId xmlns:a16="http://schemas.microsoft.com/office/drawing/2014/main" id="{78CB03C1-0E48-4C5B-B9C9-DB095C6CB2CE}"/>
              </a:ext>
            </a:extLst>
          </p:cNvPr>
          <p:cNvSpPr/>
          <p:nvPr/>
        </p:nvSpPr>
        <p:spPr bwMode="auto">
          <a:xfrm>
            <a:off x="7905328" y="6011107"/>
            <a:ext cx="504056" cy="504056"/>
          </a:xfrm>
          <a:prstGeom prst="ellipse">
            <a:avLst/>
          </a:prstGeom>
          <a:noFill/>
          <a:ln w="2857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r>
              <a:rPr kumimoji="0" lang="en-US" altLang="zh-CN" sz="1800" b="0" i="0" u="none" strike="noStrike" cap="none" normalizeH="0" baseline="0" dirty="0">
                <a:ln>
                  <a:noFill/>
                </a:ln>
                <a:solidFill>
                  <a:schemeClr val="tx1"/>
                </a:solidFill>
                <a:effectLst/>
                <a:latin typeface="Arial" charset="0"/>
              </a:rPr>
              <a:t>E</a:t>
            </a:r>
            <a:endParaRPr kumimoji="0" lang="zh-CN" altLang="en-US" sz="1800" b="0" i="0" u="none" strike="noStrike" cap="none" normalizeH="0" baseline="0" dirty="0">
              <a:ln>
                <a:noFill/>
              </a:ln>
              <a:solidFill>
                <a:schemeClr val="tx1"/>
              </a:solidFill>
              <a:effectLst/>
              <a:latin typeface="Arial" charset="0"/>
            </a:endParaRPr>
          </a:p>
        </p:txBody>
      </p:sp>
      <p:sp>
        <p:nvSpPr>
          <p:cNvPr id="8" name="椭圆 7">
            <a:extLst>
              <a:ext uri="{FF2B5EF4-FFF2-40B4-BE49-F238E27FC236}">
                <a16:creationId xmlns:a16="http://schemas.microsoft.com/office/drawing/2014/main" id="{62DBADF3-CD74-4381-AF4E-0419A229FB4F}"/>
              </a:ext>
            </a:extLst>
          </p:cNvPr>
          <p:cNvSpPr/>
          <p:nvPr/>
        </p:nvSpPr>
        <p:spPr bwMode="auto">
          <a:xfrm>
            <a:off x="7905328" y="2572130"/>
            <a:ext cx="504056" cy="504056"/>
          </a:xfrm>
          <a:prstGeom prst="ellipse">
            <a:avLst/>
          </a:prstGeom>
          <a:noFill/>
          <a:ln w="28575" cap="flat" cmpd="sng" algn="ctr">
            <a:solidFill>
              <a:schemeClr val="tx1"/>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kumimoji="0" lang="en-US" altLang="zh-CN" sz="2400" b="0" i="0" u="none" strike="noStrike" cap="none" normalizeH="0" baseline="0" dirty="0">
                <a:ln>
                  <a:noFill/>
                </a:ln>
                <a:solidFill>
                  <a:schemeClr val="tx1"/>
                </a:solidFill>
                <a:effectLst/>
                <a:latin typeface="Arial" charset="0"/>
              </a:rPr>
              <a:t>B</a:t>
            </a:r>
            <a:endParaRPr kumimoji="0" lang="zh-CN" altLang="en-US" sz="2400" b="0" i="0" u="none" strike="noStrike" cap="none" normalizeH="0" baseline="0" dirty="0">
              <a:ln>
                <a:noFill/>
              </a:ln>
              <a:solidFill>
                <a:schemeClr val="tx1"/>
              </a:solidFill>
              <a:effectLst/>
              <a:latin typeface="Arial" charset="0"/>
            </a:endParaRPr>
          </a:p>
        </p:txBody>
      </p:sp>
      <p:sp>
        <p:nvSpPr>
          <p:cNvPr id="9" name="椭圆 8">
            <a:extLst>
              <a:ext uri="{FF2B5EF4-FFF2-40B4-BE49-F238E27FC236}">
                <a16:creationId xmlns:a16="http://schemas.microsoft.com/office/drawing/2014/main" id="{6BEB99F3-72FB-432D-8F10-016A8F4980F3}"/>
              </a:ext>
            </a:extLst>
          </p:cNvPr>
          <p:cNvSpPr/>
          <p:nvPr/>
        </p:nvSpPr>
        <p:spPr bwMode="auto">
          <a:xfrm>
            <a:off x="7113240" y="3573016"/>
            <a:ext cx="504056" cy="504056"/>
          </a:xfrm>
          <a:prstGeom prst="ellipse">
            <a:avLst/>
          </a:prstGeom>
          <a:noFill/>
          <a:ln w="28575" cap="flat" cmpd="sng" algn="ctr">
            <a:solidFill>
              <a:schemeClr val="tx1"/>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lang="en-US" altLang="zh-CN" sz="2400" dirty="0"/>
              <a:t>C</a:t>
            </a:r>
            <a:endParaRPr kumimoji="0" lang="zh-CN" altLang="en-US" sz="2400" b="0" i="0" u="none" strike="noStrike" cap="none" normalizeH="0" baseline="0" dirty="0">
              <a:ln>
                <a:noFill/>
              </a:ln>
              <a:solidFill>
                <a:schemeClr val="tx1"/>
              </a:solidFill>
              <a:effectLst/>
              <a:latin typeface="Arial" charset="0"/>
            </a:endParaRPr>
          </a:p>
        </p:txBody>
      </p:sp>
      <p:sp>
        <p:nvSpPr>
          <p:cNvPr id="10" name="椭圆 9">
            <a:extLst>
              <a:ext uri="{FF2B5EF4-FFF2-40B4-BE49-F238E27FC236}">
                <a16:creationId xmlns:a16="http://schemas.microsoft.com/office/drawing/2014/main" id="{2E4411BC-13DC-4620-A78D-01A12A026DC2}"/>
              </a:ext>
            </a:extLst>
          </p:cNvPr>
          <p:cNvSpPr/>
          <p:nvPr/>
        </p:nvSpPr>
        <p:spPr bwMode="auto">
          <a:xfrm>
            <a:off x="9273480" y="3573016"/>
            <a:ext cx="504056" cy="504056"/>
          </a:xfrm>
          <a:prstGeom prst="ellipse">
            <a:avLst/>
          </a:prstGeom>
          <a:noFill/>
          <a:ln w="28575" cap="flat" cmpd="sng" algn="ctr">
            <a:solidFill>
              <a:schemeClr val="tx1"/>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kumimoji="0" lang="en-US" altLang="zh-CN" sz="2400" b="0" i="0" u="none" strike="noStrike" cap="none" normalizeH="0" baseline="0" dirty="0">
                <a:ln>
                  <a:noFill/>
                </a:ln>
                <a:solidFill>
                  <a:schemeClr val="tx1"/>
                </a:solidFill>
                <a:effectLst/>
                <a:latin typeface="Arial" charset="0"/>
              </a:rPr>
              <a:t>H</a:t>
            </a:r>
            <a:endParaRPr kumimoji="0" lang="zh-CN" altLang="en-US" sz="2400" b="0" i="0" u="none" strike="noStrike" cap="none" normalizeH="0" baseline="0" dirty="0">
              <a:ln>
                <a:noFill/>
              </a:ln>
              <a:solidFill>
                <a:schemeClr val="tx1"/>
              </a:solidFill>
              <a:effectLst/>
              <a:latin typeface="Arial" charset="0"/>
            </a:endParaRPr>
          </a:p>
        </p:txBody>
      </p:sp>
      <p:sp>
        <p:nvSpPr>
          <p:cNvPr id="11" name="椭圆 10">
            <a:extLst>
              <a:ext uri="{FF2B5EF4-FFF2-40B4-BE49-F238E27FC236}">
                <a16:creationId xmlns:a16="http://schemas.microsoft.com/office/drawing/2014/main" id="{07E0A4B6-B02C-489F-8564-406942E89921}"/>
              </a:ext>
            </a:extLst>
          </p:cNvPr>
          <p:cNvSpPr/>
          <p:nvPr/>
        </p:nvSpPr>
        <p:spPr bwMode="auto">
          <a:xfrm>
            <a:off x="7905328" y="4761149"/>
            <a:ext cx="504056" cy="504056"/>
          </a:xfrm>
          <a:prstGeom prst="ellipse">
            <a:avLst/>
          </a:prstGeom>
          <a:noFill/>
          <a:ln w="28575" cap="flat" cmpd="sng" algn="ctr">
            <a:solidFill>
              <a:schemeClr val="tx1"/>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lang="en-US" altLang="zh-CN" sz="2400" dirty="0"/>
              <a:t>D</a:t>
            </a:r>
            <a:endParaRPr kumimoji="0" lang="zh-CN" altLang="en-US" sz="2400" b="0" i="0" u="none" strike="noStrike" cap="none" normalizeH="0" baseline="0" dirty="0">
              <a:ln>
                <a:noFill/>
              </a:ln>
              <a:solidFill>
                <a:schemeClr val="tx1"/>
              </a:solidFill>
              <a:effectLst/>
              <a:latin typeface="Arial" charset="0"/>
            </a:endParaRPr>
          </a:p>
        </p:txBody>
      </p:sp>
      <p:cxnSp>
        <p:nvCxnSpPr>
          <p:cNvPr id="13" name="直接连接符 12">
            <a:extLst>
              <a:ext uri="{FF2B5EF4-FFF2-40B4-BE49-F238E27FC236}">
                <a16:creationId xmlns:a16="http://schemas.microsoft.com/office/drawing/2014/main" id="{6FC2888A-7D0B-45F3-8632-19517AB1A8ED}"/>
              </a:ext>
            </a:extLst>
          </p:cNvPr>
          <p:cNvCxnSpPr>
            <a:stCxn id="6" idx="4"/>
            <a:endCxn id="8" idx="0"/>
          </p:cNvCxnSpPr>
          <p:nvPr/>
        </p:nvCxnSpPr>
        <p:spPr bwMode="auto">
          <a:xfrm>
            <a:off x="8157356" y="1844823"/>
            <a:ext cx="0" cy="727307"/>
          </a:xfrm>
          <a:prstGeom prst="line">
            <a:avLst/>
          </a:prstGeom>
          <a:ln>
            <a:headEnd type="none" w="med" len="med"/>
            <a:tailEnd type="none" w="med" len="med"/>
          </a:ln>
          <a:extLst>
            <a:ext uri="{AF507438-7753-43E0-B8FC-AC1667EBCBE1}">
              <a14:hiddenEffects xmlns:a14="http://schemas.microsoft.com/office/drawing/2010/main">
                <a:effectLst>
                  <a:outerShdw dist="35921" dir="2700000" algn="ctr" rotWithShape="0">
                    <a:schemeClr val="bg2"/>
                  </a:outerShdw>
                </a:effectLst>
              </a14:hiddenEffects>
            </a:ext>
          </a:extLst>
        </p:spPr>
        <p:style>
          <a:lnRef idx="3">
            <a:schemeClr val="dk1"/>
          </a:lnRef>
          <a:fillRef idx="0">
            <a:schemeClr val="dk1"/>
          </a:fillRef>
          <a:effectRef idx="2">
            <a:schemeClr val="dk1"/>
          </a:effectRef>
          <a:fontRef idx="minor">
            <a:schemeClr val="tx1"/>
          </a:fontRef>
        </p:style>
      </p:cxnSp>
      <p:cxnSp>
        <p:nvCxnSpPr>
          <p:cNvPr id="14" name="直接连接符 13">
            <a:extLst>
              <a:ext uri="{FF2B5EF4-FFF2-40B4-BE49-F238E27FC236}">
                <a16:creationId xmlns:a16="http://schemas.microsoft.com/office/drawing/2014/main" id="{03416DEC-038E-4599-A9F3-D129A030A75F}"/>
              </a:ext>
            </a:extLst>
          </p:cNvPr>
          <p:cNvCxnSpPr>
            <a:cxnSpLocks/>
            <a:stCxn id="8" idx="3"/>
            <a:endCxn id="9" idx="0"/>
          </p:cNvCxnSpPr>
          <p:nvPr/>
        </p:nvCxnSpPr>
        <p:spPr bwMode="auto">
          <a:xfrm flipH="1">
            <a:off x="7365268" y="3002369"/>
            <a:ext cx="613877" cy="570647"/>
          </a:xfrm>
          <a:prstGeom prst="line">
            <a:avLst/>
          </a:prstGeom>
          <a:ln>
            <a:headEnd type="none" w="med" len="med"/>
            <a:tailEnd type="none" w="med" len="med"/>
          </a:ln>
          <a:extLst>
            <a:ext uri="{AF507438-7753-43E0-B8FC-AC1667EBCBE1}">
              <a14:hiddenEffects xmlns:a14="http://schemas.microsoft.com/office/drawing/2010/main">
                <a:effectLst>
                  <a:outerShdw dist="35921" dir="2700000" algn="ctr" rotWithShape="0">
                    <a:schemeClr val="bg2"/>
                  </a:outerShdw>
                </a:effectLst>
              </a14:hiddenEffects>
            </a:ext>
          </a:extLst>
        </p:spPr>
        <p:style>
          <a:lnRef idx="3">
            <a:schemeClr val="dk1"/>
          </a:lnRef>
          <a:fillRef idx="0">
            <a:schemeClr val="dk1"/>
          </a:fillRef>
          <a:effectRef idx="2">
            <a:schemeClr val="dk1"/>
          </a:effectRef>
          <a:fontRef idx="minor">
            <a:schemeClr val="tx1"/>
          </a:fontRef>
        </p:style>
      </p:cxnSp>
      <p:cxnSp>
        <p:nvCxnSpPr>
          <p:cNvPr id="17" name="直接连接符 16">
            <a:extLst>
              <a:ext uri="{FF2B5EF4-FFF2-40B4-BE49-F238E27FC236}">
                <a16:creationId xmlns:a16="http://schemas.microsoft.com/office/drawing/2014/main" id="{1B37A3C2-F3AD-4362-851D-8A78B4206E0D}"/>
              </a:ext>
            </a:extLst>
          </p:cNvPr>
          <p:cNvCxnSpPr>
            <a:cxnSpLocks/>
            <a:stCxn id="10" idx="1"/>
            <a:endCxn id="8" idx="5"/>
          </p:cNvCxnSpPr>
          <p:nvPr/>
        </p:nvCxnSpPr>
        <p:spPr bwMode="auto">
          <a:xfrm flipH="1" flipV="1">
            <a:off x="8335567" y="3002369"/>
            <a:ext cx="1011730" cy="644464"/>
          </a:xfrm>
          <a:prstGeom prst="line">
            <a:avLst/>
          </a:prstGeom>
          <a:ln>
            <a:headEnd type="none" w="med" len="med"/>
            <a:tailEnd type="none" w="med" len="med"/>
          </a:ln>
          <a:extLst>
            <a:ext uri="{AF507438-7753-43E0-B8FC-AC1667EBCBE1}">
              <a14:hiddenEffects xmlns:a14="http://schemas.microsoft.com/office/drawing/2010/main">
                <a:effectLst>
                  <a:outerShdw dist="35921" dir="2700000" algn="ctr" rotWithShape="0">
                    <a:schemeClr val="bg2"/>
                  </a:outerShdw>
                </a:effectLst>
              </a14:hiddenEffects>
            </a:ext>
          </a:extLst>
        </p:spPr>
        <p:style>
          <a:lnRef idx="3">
            <a:schemeClr val="dk1"/>
          </a:lnRef>
          <a:fillRef idx="0">
            <a:schemeClr val="dk1"/>
          </a:fillRef>
          <a:effectRef idx="2">
            <a:schemeClr val="dk1"/>
          </a:effectRef>
          <a:fontRef idx="minor">
            <a:schemeClr val="tx1"/>
          </a:fontRef>
        </p:style>
      </p:cxnSp>
      <p:cxnSp>
        <p:nvCxnSpPr>
          <p:cNvPr id="21" name="直接连接符 20">
            <a:extLst>
              <a:ext uri="{FF2B5EF4-FFF2-40B4-BE49-F238E27FC236}">
                <a16:creationId xmlns:a16="http://schemas.microsoft.com/office/drawing/2014/main" id="{11A6413E-E57A-4BEC-8778-FEBF9B0CA404}"/>
              </a:ext>
            </a:extLst>
          </p:cNvPr>
          <p:cNvCxnSpPr>
            <a:cxnSpLocks/>
            <a:stCxn id="11" idx="1"/>
            <a:endCxn id="9" idx="4"/>
          </p:cNvCxnSpPr>
          <p:nvPr/>
        </p:nvCxnSpPr>
        <p:spPr bwMode="auto">
          <a:xfrm flipH="1" flipV="1">
            <a:off x="7365268" y="4077072"/>
            <a:ext cx="613877" cy="757894"/>
          </a:xfrm>
          <a:prstGeom prst="line">
            <a:avLst/>
          </a:prstGeom>
          <a:ln>
            <a:headEnd type="none" w="med" len="med"/>
            <a:tailEnd type="none" w="med" len="med"/>
          </a:ln>
          <a:extLst>
            <a:ext uri="{AF507438-7753-43E0-B8FC-AC1667EBCBE1}">
              <a14:hiddenEffects xmlns:a14="http://schemas.microsoft.com/office/drawing/2010/main">
                <a:effectLst>
                  <a:outerShdw dist="35921" dir="2700000" algn="ctr" rotWithShape="0">
                    <a:schemeClr val="bg2"/>
                  </a:outerShdw>
                </a:effectLst>
              </a14:hiddenEffects>
            </a:ext>
          </a:extLst>
        </p:spPr>
        <p:style>
          <a:lnRef idx="3">
            <a:schemeClr val="dk1"/>
          </a:lnRef>
          <a:fillRef idx="0">
            <a:schemeClr val="dk1"/>
          </a:fillRef>
          <a:effectRef idx="2">
            <a:schemeClr val="dk1"/>
          </a:effectRef>
          <a:fontRef idx="minor">
            <a:schemeClr val="tx1"/>
          </a:fontRef>
        </p:style>
      </p:cxnSp>
      <p:cxnSp>
        <p:nvCxnSpPr>
          <p:cNvPr id="24" name="直接连接符 23">
            <a:extLst>
              <a:ext uri="{FF2B5EF4-FFF2-40B4-BE49-F238E27FC236}">
                <a16:creationId xmlns:a16="http://schemas.microsoft.com/office/drawing/2014/main" id="{BDBF825B-44AD-4EC9-85F8-C177D2766E93}"/>
              </a:ext>
            </a:extLst>
          </p:cNvPr>
          <p:cNvCxnSpPr>
            <a:cxnSpLocks/>
            <a:stCxn id="10" idx="3"/>
            <a:endCxn id="11" idx="7"/>
          </p:cNvCxnSpPr>
          <p:nvPr/>
        </p:nvCxnSpPr>
        <p:spPr bwMode="auto">
          <a:xfrm flipH="1">
            <a:off x="8335567" y="4003255"/>
            <a:ext cx="1011730" cy="831711"/>
          </a:xfrm>
          <a:prstGeom prst="line">
            <a:avLst/>
          </a:prstGeom>
          <a:ln>
            <a:headEnd type="none" w="med" len="med"/>
            <a:tailEnd type="none" w="med" len="med"/>
          </a:ln>
          <a:extLst>
            <a:ext uri="{AF507438-7753-43E0-B8FC-AC1667EBCBE1}">
              <a14:hiddenEffects xmlns:a14="http://schemas.microsoft.com/office/drawing/2010/main">
                <a:effectLst>
                  <a:outerShdw dist="35921" dir="2700000" algn="ctr" rotWithShape="0">
                    <a:schemeClr val="bg2"/>
                  </a:outerShdw>
                </a:effectLst>
              </a14:hiddenEffects>
            </a:ext>
          </a:extLst>
        </p:spPr>
        <p:style>
          <a:lnRef idx="3">
            <a:schemeClr val="dk1"/>
          </a:lnRef>
          <a:fillRef idx="0">
            <a:schemeClr val="dk1"/>
          </a:fillRef>
          <a:effectRef idx="2">
            <a:schemeClr val="dk1"/>
          </a:effectRef>
          <a:fontRef idx="minor">
            <a:schemeClr val="tx1"/>
          </a:fontRef>
        </p:style>
      </p:cxnSp>
      <p:cxnSp>
        <p:nvCxnSpPr>
          <p:cNvPr id="30" name="直接连接符 29">
            <a:extLst>
              <a:ext uri="{FF2B5EF4-FFF2-40B4-BE49-F238E27FC236}">
                <a16:creationId xmlns:a16="http://schemas.microsoft.com/office/drawing/2014/main" id="{00D916C3-FFF7-4A16-B9A4-420D4A388784}"/>
              </a:ext>
            </a:extLst>
          </p:cNvPr>
          <p:cNvCxnSpPr>
            <a:cxnSpLocks/>
            <a:stCxn id="11" idx="4"/>
            <a:endCxn id="7" idx="0"/>
          </p:cNvCxnSpPr>
          <p:nvPr/>
        </p:nvCxnSpPr>
        <p:spPr bwMode="auto">
          <a:xfrm>
            <a:off x="8157356" y="5265205"/>
            <a:ext cx="0" cy="745902"/>
          </a:xfrm>
          <a:prstGeom prst="line">
            <a:avLst/>
          </a:prstGeom>
          <a:ln>
            <a:headEnd type="none" w="med" len="med"/>
            <a:tailEnd type="none" w="med" len="med"/>
          </a:ln>
          <a:extLst>
            <a:ext uri="{AF507438-7753-43E0-B8FC-AC1667EBCBE1}">
              <a14:hiddenEffects xmlns:a14="http://schemas.microsoft.com/office/drawing/2010/main">
                <a:effectLst>
                  <a:outerShdw dist="35921" dir="2700000" algn="ctr" rotWithShape="0">
                    <a:schemeClr val="bg2"/>
                  </a:outerShdw>
                </a:effectLst>
              </a14:hiddenEffects>
            </a:ext>
          </a:extLst>
        </p:spPr>
        <p:style>
          <a:lnRef idx="3">
            <a:schemeClr val="dk1"/>
          </a:lnRef>
          <a:fillRef idx="0">
            <a:schemeClr val="dk1"/>
          </a:fillRef>
          <a:effectRef idx="2">
            <a:schemeClr val="dk1"/>
          </a:effectRef>
          <a:fontRef idx="minor">
            <a:schemeClr val="tx1"/>
          </a:fontRef>
        </p:style>
      </p:cxnSp>
      <p:graphicFrame>
        <p:nvGraphicFramePr>
          <p:cNvPr id="34" name="对象 33">
            <a:extLst>
              <a:ext uri="{FF2B5EF4-FFF2-40B4-BE49-F238E27FC236}">
                <a16:creationId xmlns:a16="http://schemas.microsoft.com/office/drawing/2014/main" id="{85BACB59-6962-49EB-AA86-94417456FB97}"/>
              </a:ext>
            </a:extLst>
          </p:cNvPr>
          <p:cNvGraphicFramePr>
            <a:graphicFrameLocks noChangeAspect="1"/>
          </p:cNvGraphicFramePr>
          <p:nvPr/>
        </p:nvGraphicFramePr>
        <p:xfrm>
          <a:off x="8731611" y="2831570"/>
          <a:ext cx="770288" cy="399408"/>
        </p:xfrm>
        <a:graphic>
          <a:graphicData uri="http://schemas.openxmlformats.org/presentationml/2006/ole">
            <mc:AlternateContent xmlns:mc="http://schemas.openxmlformats.org/markup-compatibility/2006">
              <mc:Choice xmlns:v="urn:schemas-microsoft-com:vml" Requires="v">
                <p:oleObj name="Equation" r:id="rId2" imgW="342720" imgH="177480" progId="Equation.DSMT4">
                  <p:embed/>
                </p:oleObj>
              </mc:Choice>
              <mc:Fallback>
                <p:oleObj name="Equation" r:id="rId2" imgW="342720" imgH="177480" progId="Equation.DSMT4">
                  <p:embed/>
                  <p:pic>
                    <p:nvPicPr>
                      <p:cNvPr id="34" name="对象 33">
                        <a:extLst>
                          <a:ext uri="{FF2B5EF4-FFF2-40B4-BE49-F238E27FC236}">
                            <a16:creationId xmlns:a16="http://schemas.microsoft.com/office/drawing/2014/main" id="{85BACB59-6962-49EB-AA86-94417456FB97}"/>
                          </a:ext>
                        </a:extLst>
                      </p:cNvPr>
                      <p:cNvPicPr/>
                      <p:nvPr/>
                    </p:nvPicPr>
                    <p:blipFill>
                      <a:blip r:embed="rId3"/>
                      <a:stretch>
                        <a:fillRect/>
                      </a:stretch>
                    </p:blipFill>
                    <p:spPr>
                      <a:xfrm>
                        <a:off x="8731611" y="2831570"/>
                        <a:ext cx="770288" cy="399408"/>
                      </a:xfrm>
                      <a:prstGeom prst="rect">
                        <a:avLst/>
                      </a:prstGeom>
                    </p:spPr>
                  </p:pic>
                </p:oleObj>
              </mc:Fallback>
            </mc:AlternateContent>
          </a:graphicData>
        </a:graphic>
      </p:graphicFrame>
      <p:graphicFrame>
        <p:nvGraphicFramePr>
          <p:cNvPr id="37" name="对象 36">
            <a:extLst>
              <a:ext uri="{FF2B5EF4-FFF2-40B4-BE49-F238E27FC236}">
                <a16:creationId xmlns:a16="http://schemas.microsoft.com/office/drawing/2014/main" id="{0AD43457-C483-477A-BD73-4C3C82D00F61}"/>
              </a:ext>
            </a:extLst>
          </p:cNvPr>
          <p:cNvGraphicFramePr>
            <a:graphicFrameLocks noChangeAspect="1"/>
          </p:cNvGraphicFramePr>
          <p:nvPr/>
        </p:nvGraphicFramePr>
        <p:xfrm>
          <a:off x="8686959" y="4476919"/>
          <a:ext cx="770288" cy="399408"/>
        </p:xfrm>
        <a:graphic>
          <a:graphicData uri="http://schemas.openxmlformats.org/presentationml/2006/ole">
            <mc:AlternateContent xmlns:mc="http://schemas.openxmlformats.org/markup-compatibility/2006">
              <mc:Choice xmlns:v="urn:schemas-microsoft-com:vml" Requires="v">
                <p:oleObj name="Equation" r:id="rId4" imgW="342720" imgH="177480" progId="Equation.DSMT4">
                  <p:embed/>
                </p:oleObj>
              </mc:Choice>
              <mc:Fallback>
                <p:oleObj name="Equation" r:id="rId4" imgW="342720" imgH="177480" progId="Equation.DSMT4">
                  <p:embed/>
                  <p:pic>
                    <p:nvPicPr>
                      <p:cNvPr id="37" name="对象 36">
                        <a:extLst>
                          <a:ext uri="{FF2B5EF4-FFF2-40B4-BE49-F238E27FC236}">
                            <a16:creationId xmlns:a16="http://schemas.microsoft.com/office/drawing/2014/main" id="{0AD43457-C483-477A-BD73-4C3C82D00F61}"/>
                          </a:ext>
                        </a:extLst>
                      </p:cNvPr>
                      <p:cNvPicPr/>
                      <p:nvPr/>
                    </p:nvPicPr>
                    <p:blipFill>
                      <a:blip r:embed="rId3"/>
                      <a:stretch>
                        <a:fillRect/>
                      </a:stretch>
                    </p:blipFill>
                    <p:spPr>
                      <a:xfrm>
                        <a:off x="8686959" y="4476919"/>
                        <a:ext cx="770288" cy="399408"/>
                      </a:xfrm>
                      <a:prstGeom prst="rect">
                        <a:avLst/>
                      </a:prstGeom>
                    </p:spPr>
                  </p:pic>
                </p:oleObj>
              </mc:Fallback>
            </mc:AlternateContent>
          </a:graphicData>
        </a:graphic>
      </p:graphicFrame>
      <p:graphicFrame>
        <p:nvGraphicFramePr>
          <p:cNvPr id="38" name="对象 37">
            <a:extLst>
              <a:ext uri="{FF2B5EF4-FFF2-40B4-BE49-F238E27FC236}">
                <a16:creationId xmlns:a16="http://schemas.microsoft.com/office/drawing/2014/main" id="{9294A2B9-BAF4-4260-8191-29148281E393}"/>
              </a:ext>
            </a:extLst>
          </p:cNvPr>
          <p:cNvGraphicFramePr>
            <a:graphicFrameLocks noChangeAspect="1"/>
          </p:cNvGraphicFramePr>
          <p:nvPr/>
        </p:nvGraphicFramePr>
        <p:xfrm>
          <a:off x="6658563" y="2926139"/>
          <a:ext cx="1084263" cy="398462"/>
        </p:xfrm>
        <a:graphic>
          <a:graphicData uri="http://schemas.openxmlformats.org/presentationml/2006/ole">
            <mc:AlternateContent xmlns:mc="http://schemas.openxmlformats.org/markup-compatibility/2006">
              <mc:Choice xmlns:v="urn:schemas-microsoft-com:vml" Requires="v">
                <p:oleObj name="Equation" r:id="rId5" imgW="482400" imgH="177480" progId="Equation.DSMT4">
                  <p:embed/>
                </p:oleObj>
              </mc:Choice>
              <mc:Fallback>
                <p:oleObj name="Equation" r:id="rId5" imgW="482400" imgH="177480" progId="Equation.DSMT4">
                  <p:embed/>
                  <p:pic>
                    <p:nvPicPr>
                      <p:cNvPr id="38" name="对象 37">
                        <a:extLst>
                          <a:ext uri="{FF2B5EF4-FFF2-40B4-BE49-F238E27FC236}">
                            <a16:creationId xmlns:a16="http://schemas.microsoft.com/office/drawing/2014/main" id="{9294A2B9-BAF4-4260-8191-29148281E393}"/>
                          </a:ext>
                        </a:extLst>
                      </p:cNvPr>
                      <p:cNvPicPr/>
                      <p:nvPr/>
                    </p:nvPicPr>
                    <p:blipFill>
                      <a:blip r:embed="rId6"/>
                      <a:stretch>
                        <a:fillRect/>
                      </a:stretch>
                    </p:blipFill>
                    <p:spPr>
                      <a:xfrm>
                        <a:off x="6658563" y="2926139"/>
                        <a:ext cx="1084263" cy="398462"/>
                      </a:xfrm>
                      <a:prstGeom prst="rect">
                        <a:avLst/>
                      </a:prstGeom>
                    </p:spPr>
                  </p:pic>
                </p:oleObj>
              </mc:Fallback>
            </mc:AlternateContent>
          </a:graphicData>
        </a:graphic>
      </p:graphicFrame>
      <p:graphicFrame>
        <p:nvGraphicFramePr>
          <p:cNvPr id="39" name="对象 38">
            <a:extLst>
              <a:ext uri="{FF2B5EF4-FFF2-40B4-BE49-F238E27FC236}">
                <a16:creationId xmlns:a16="http://schemas.microsoft.com/office/drawing/2014/main" id="{F78288CA-41A6-4CB8-BE51-6A2BD06CC17C}"/>
              </a:ext>
            </a:extLst>
          </p:cNvPr>
          <p:cNvGraphicFramePr>
            <a:graphicFrameLocks noChangeAspect="1"/>
          </p:cNvGraphicFramePr>
          <p:nvPr/>
        </p:nvGraphicFramePr>
        <p:xfrm>
          <a:off x="6606271" y="4397978"/>
          <a:ext cx="1084263" cy="398462"/>
        </p:xfrm>
        <a:graphic>
          <a:graphicData uri="http://schemas.openxmlformats.org/presentationml/2006/ole">
            <mc:AlternateContent xmlns:mc="http://schemas.openxmlformats.org/markup-compatibility/2006">
              <mc:Choice xmlns:v="urn:schemas-microsoft-com:vml" Requires="v">
                <p:oleObj name="Equation" r:id="rId7" imgW="482400" imgH="177480" progId="Equation.DSMT4">
                  <p:embed/>
                </p:oleObj>
              </mc:Choice>
              <mc:Fallback>
                <p:oleObj name="Equation" r:id="rId7" imgW="482400" imgH="177480" progId="Equation.DSMT4">
                  <p:embed/>
                  <p:pic>
                    <p:nvPicPr>
                      <p:cNvPr id="39" name="对象 38">
                        <a:extLst>
                          <a:ext uri="{FF2B5EF4-FFF2-40B4-BE49-F238E27FC236}">
                            <a16:creationId xmlns:a16="http://schemas.microsoft.com/office/drawing/2014/main" id="{F78288CA-41A6-4CB8-BE51-6A2BD06CC17C}"/>
                          </a:ext>
                        </a:extLst>
                      </p:cNvPr>
                      <p:cNvPicPr/>
                      <p:nvPr/>
                    </p:nvPicPr>
                    <p:blipFill>
                      <a:blip r:embed="rId6"/>
                      <a:stretch>
                        <a:fillRect/>
                      </a:stretch>
                    </p:blipFill>
                    <p:spPr>
                      <a:xfrm>
                        <a:off x="6606271" y="4397978"/>
                        <a:ext cx="1084263" cy="398462"/>
                      </a:xfrm>
                      <a:prstGeom prst="rect">
                        <a:avLst/>
                      </a:prstGeom>
                    </p:spPr>
                  </p:pic>
                </p:oleObj>
              </mc:Fallback>
            </mc:AlternateContent>
          </a:graphicData>
        </a:graphic>
      </p:graphicFrame>
      <p:sp>
        <p:nvSpPr>
          <p:cNvPr id="40" name="文本框 39">
            <a:extLst>
              <a:ext uri="{FF2B5EF4-FFF2-40B4-BE49-F238E27FC236}">
                <a16:creationId xmlns:a16="http://schemas.microsoft.com/office/drawing/2014/main" id="{682ED1D3-4BF5-45E3-8272-EACD1DF0C604}"/>
              </a:ext>
            </a:extLst>
          </p:cNvPr>
          <p:cNvSpPr txBox="1"/>
          <p:nvPr/>
        </p:nvSpPr>
        <p:spPr>
          <a:xfrm>
            <a:off x="8473261" y="1357800"/>
            <a:ext cx="800219" cy="461665"/>
          </a:xfrm>
          <a:prstGeom prst="rect">
            <a:avLst/>
          </a:prstGeom>
          <a:noFill/>
        </p:spPr>
        <p:txBody>
          <a:bodyPr wrap="none" rtlCol="0">
            <a:spAutoFit/>
          </a:bodyPr>
          <a:lstStyle/>
          <a:p>
            <a:r>
              <a:rPr lang="zh-CN" altLang="en-US" sz="2400" dirty="0"/>
              <a:t>蚁穴</a:t>
            </a:r>
          </a:p>
        </p:txBody>
      </p:sp>
      <p:sp>
        <p:nvSpPr>
          <p:cNvPr id="41" name="文本框 40">
            <a:extLst>
              <a:ext uri="{FF2B5EF4-FFF2-40B4-BE49-F238E27FC236}">
                <a16:creationId xmlns:a16="http://schemas.microsoft.com/office/drawing/2014/main" id="{DFA6DB5A-29B0-4D63-905B-34EA8605FB68}"/>
              </a:ext>
            </a:extLst>
          </p:cNvPr>
          <p:cNvSpPr txBox="1"/>
          <p:nvPr/>
        </p:nvSpPr>
        <p:spPr>
          <a:xfrm>
            <a:off x="8462924" y="6053498"/>
            <a:ext cx="1107996" cy="461665"/>
          </a:xfrm>
          <a:prstGeom prst="rect">
            <a:avLst/>
          </a:prstGeom>
          <a:noFill/>
        </p:spPr>
        <p:txBody>
          <a:bodyPr wrap="none" rtlCol="0">
            <a:spAutoFit/>
          </a:bodyPr>
          <a:lstStyle/>
          <a:p>
            <a:r>
              <a:rPr lang="zh-CN" altLang="en-US" sz="2400" dirty="0"/>
              <a:t>食物源</a:t>
            </a:r>
          </a:p>
        </p:txBody>
      </p:sp>
      <p:sp>
        <p:nvSpPr>
          <p:cNvPr id="27" name="文本框 26">
            <a:extLst>
              <a:ext uri="{FF2B5EF4-FFF2-40B4-BE49-F238E27FC236}">
                <a16:creationId xmlns:a16="http://schemas.microsoft.com/office/drawing/2014/main" id="{DAD1AF53-ED5A-40FE-9A68-CF8539E82459}"/>
              </a:ext>
            </a:extLst>
          </p:cNvPr>
          <p:cNvSpPr txBox="1"/>
          <p:nvPr/>
        </p:nvSpPr>
        <p:spPr>
          <a:xfrm>
            <a:off x="148538" y="1161770"/>
            <a:ext cx="6478903" cy="3046988"/>
          </a:xfrm>
          <a:prstGeom prst="rect">
            <a:avLst/>
          </a:prstGeom>
          <a:noFill/>
        </p:spPr>
        <p:txBody>
          <a:bodyPr wrap="square" rtlCol="0">
            <a:spAutoFit/>
          </a:bodyPr>
          <a:lstStyle/>
          <a:p>
            <a:r>
              <a:rPr lang="zh-CN" altLang="en-US" sz="2400" dirty="0"/>
              <a:t>假设不同路径的距离不同，图中</a:t>
            </a:r>
            <a:r>
              <a:rPr lang="en-US" altLang="zh-CN" sz="2400" dirty="0"/>
              <a:t>B-C</a:t>
            </a:r>
            <a:r>
              <a:rPr lang="zh-CN" altLang="en-US" sz="2400" dirty="0"/>
              <a:t>，</a:t>
            </a:r>
            <a:r>
              <a:rPr lang="en-US" altLang="zh-CN" sz="2400" dirty="0"/>
              <a:t>C-D</a:t>
            </a:r>
            <a:r>
              <a:rPr lang="zh-CN" altLang="en-US" sz="2400" dirty="0"/>
              <a:t>的路径长度为</a:t>
            </a:r>
            <a:r>
              <a:rPr lang="en-US" altLang="zh-CN" sz="2400" dirty="0"/>
              <a:t>0.5</a:t>
            </a:r>
            <a:r>
              <a:rPr lang="zh-CN" altLang="en-US" sz="2400" dirty="0"/>
              <a:t>个单位长度，而</a:t>
            </a:r>
            <a:r>
              <a:rPr lang="en-US" altLang="zh-CN" sz="2400" dirty="0"/>
              <a:t>B-H</a:t>
            </a:r>
            <a:r>
              <a:rPr lang="zh-CN" altLang="en-US" sz="2400" dirty="0"/>
              <a:t>，</a:t>
            </a:r>
            <a:r>
              <a:rPr lang="en-US" altLang="zh-CN" sz="2400" dirty="0"/>
              <a:t>H-D</a:t>
            </a:r>
            <a:r>
              <a:rPr lang="zh-CN" altLang="en-US" sz="2400" dirty="0"/>
              <a:t>的路径长度为</a:t>
            </a:r>
            <a:r>
              <a:rPr lang="en-US" altLang="zh-CN" sz="2400" dirty="0"/>
              <a:t>1</a:t>
            </a:r>
            <a:r>
              <a:rPr lang="zh-CN" altLang="en-US" sz="2400" dirty="0"/>
              <a:t>个单位长度。</a:t>
            </a:r>
            <a:endParaRPr lang="en-US" altLang="zh-CN" sz="2400" dirty="0"/>
          </a:p>
          <a:p>
            <a:endParaRPr lang="en-US" altLang="zh-CN" sz="2400" dirty="0"/>
          </a:p>
          <a:p>
            <a:r>
              <a:rPr lang="zh-CN" altLang="en-US" sz="2400" dirty="0"/>
              <a:t>假设每经过</a:t>
            </a:r>
            <a:r>
              <a:rPr lang="en-US" altLang="zh-CN" sz="2400" dirty="0"/>
              <a:t>1</a:t>
            </a:r>
            <a:r>
              <a:rPr lang="zh-CN" altLang="en-US" sz="2400" dirty="0"/>
              <a:t>个单位时刻，就有</a:t>
            </a:r>
            <a:r>
              <a:rPr lang="en-US" altLang="zh-CN" sz="2400" dirty="0"/>
              <a:t>30</a:t>
            </a:r>
            <a:r>
              <a:rPr lang="zh-CN" altLang="en-US" sz="2400" dirty="0"/>
              <a:t>只蚂蚁从</a:t>
            </a:r>
            <a:r>
              <a:rPr lang="en-US" altLang="zh-CN" sz="2400" dirty="0"/>
              <a:t>A</a:t>
            </a:r>
            <a:r>
              <a:rPr lang="zh-CN" altLang="en-US" sz="2400" dirty="0"/>
              <a:t>和</a:t>
            </a:r>
            <a:r>
              <a:rPr lang="en-US" altLang="zh-CN" sz="2400" dirty="0"/>
              <a:t>E</a:t>
            </a:r>
            <a:r>
              <a:rPr lang="zh-CN" altLang="en-US" sz="2400" dirty="0"/>
              <a:t>同时出发，它们的速度是每单位时刻行进</a:t>
            </a:r>
            <a:r>
              <a:rPr lang="en-US" altLang="zh-CN" sz="2400" dirty="0"/>
              <a:t>1</a:t>
            </a:r>
            <a:r>
              <a:rPr lang="zh-CN" altLang="en-US" sz="2400" dirty="0"/>
              <a:t>个单位长度。</a:t>
            </a:r>
            <a:endParaRPr lang="en-US" altLang="zh-CN" sz="2400" dirty="0"/>
          </a:p>
          <a:p>
            <a:endParaRPr lang="en-US" altLang="zh-CN" sz="2400" dirty="0"/>
          </a:p>
        </p:txBody>
      </p:sp>
    </p:spTree>
    <p:extLst>
      <p:ext uri="{BB962C8B-B14F-4D97-AF65-F5344CB8AC3E}">
        <p14:creationId xmlns:p14="http://schemas.microsoft.com/office/powerpoint/2010/main" val="148038301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4" fill="hold" nodeType="withEffect">
                                  <p:stCondLst>
                                    <p:cond delay="0"/>
                                  </p:stCondLst>
                                  <p:childTnLst>
                                    <p:set>
                                      <p:cBhvr>
                                        <p:cTn id="6" dur="1" fill="hold">
                                          <p:stCondLst>
                                            <p:cond delay="0"/>
                                          </p:stCondLst>
                                        </p:cTn>
                                        <p:tgtEl>
                                          <p:spTgt spid="27">
                                            <p:txEl>
                                              <p:pRg st="0" end="0"/>
                                            </p:txEl>
                                          </p:spTgt>
                                        </p:tgtEl>
                                        <p:attrNameLst>
                                          <p:attrName>style.visibility</p:attrName>
                                        </p:attrNameLst>
                                      </p:cBhvr>
                                      <p:to>
                                        <p:strVal val="visible"/>
                                      </p:to>
                                    </p:set>
                                    <p:animEffect transition="in" filter="wipe(down)">
                                      <p:cBhvr>
                                        <p:cTn id="7" dur="500"/>
                                        <p:tgtEl>
                                          <p:spTgt spid="27">
                                            <p:txEl>
                                              <p:pRg st="0" end="0"/>
                                            </p:txEl>
                                          </p:spTgt>
                                        </p:tgtEl>
                                      </p:cBhvr>
                                    </p:animEffect>
                                  </p:childTnLst>
                                </p:cTn>
                              </p:par>
                              <p:par>
                                <p:cTn id="8" presetID="22" presetClass="entr" presetSubtype="4" fill="hold" nodeType="withEffect">
                                  <p:stCondLst>
                                    <p:cond delay="0"/>
                                  </p:stCondLst>
                                  <p:childTnLst>
                                    <p:set>
                                      <p:cBhvr>
                                        <p:cTn id="9" dur="1" fill="hold">
                                          <p:stCondLst>
                                            <p:cond delay="0"/>
                                          </p:stCondLst>
                                        </p:cTn>
                                        <p:tgtEl>
                                          <p:spTgt spid="27">
                                            <p:txEl>
                                              <p:pRg st="2" end="2"/>
                                            </p:txEl>
                                          </p:spTgt>
                                        </p:tgtEl>
                                        <p:attrNameLst>
                                          <p:attrName>style.visibility</p:attrName>
                                        </p:attrNameLst>
                                      </p:cBhvr>
                                      <p:to>
                                        <p:strVal val="visible"/>
                                      </p:to>
                                    </p:set>
                                    <p:animEffect transition="in" filter="wipe(down)">
                                      <p:cBhvr>
                                        <p:cTn id="10" dur="500"/>
                                        <p:tgtEl>
                                          <p:spTgt spid="27">
                                            <p:txEl>
                                              <p:pRg st="2" end="2"/>
                                            </p:txEl>
                                          </p:spTgt>
                                        </p:tgtEl>
                                      </p:cBhvr>
                                    </p:animEffect>
                                  </p:childTnLst>
                                </p:cTn>
                              </p:par>
                            </p:childTnLst>
                          </p:cTn>
                        </p:par>
                        <p:par>
                          <p:cTn id="11" fill="hold">
                            <p:stCondLst>
                              <p:cond delay="500"/>
                            </p:stCondLst>
                            <p:childTnLst>
                              <p:par>
                                <p:cTn id="12" presetID="22" presetClass="entr" presetSubtype="4" fill="hold" nodeType="afterEffect">
                                  <p:stCondLst>
                                    <p:cond delay="0"/>
                                  </p:stCondLst>
                                  <p:childTnLst>
                                    <p:set>
                                      <p:cBhvr>
                                        <p:cTn id="13" dur="1" fill="hold">
                                          <p:stCondLst>
                                            <p:cond delay="0"/>
                                          </p:stCondLst>
                                        </p:cTn>
                                        <p:tgtEl>
                                          <p:spTgt spid="38"/>
                                        </p:tgtEl>
                                        <p:attrNameLst>
                                          <p:attrName>style.visibility</p:attrName>
                                        </p:attrNameLst>
                                      </p:cBhvr>
                                      <p:to>
                                        <p:strVal val="visible"/>
                                      </p:to>
                                    </p:set>
                                    <p:animEffect transition="in" filter="wipe(down)">
                                      <p:cBhvr>
                                        <p:cTn id="14" dur="500"/>
                                        <p:tgtEl>
                                          <p:spTgt spid="38"/>
                                        </p:tgtEl>
                                      </p:cBhvr>
                                    </p:animEffect>
                                  </p:childTnLst>
                                </p:cTn>
                              </p:par>
                              <p:par>
                                <p:cTn id="15" presetID="22" presetClass="entr" presetSubtype="4" fill="hold" nodeType="withEffect">
                                  <p:stCondLst>
                                    <p:cond delay="0"/>
                                  </p:stCondLst>
                                  <p:childTnLst>
                                    <p:set>
                                      <p:cBhvr>
                                        <p:cTn id="16" dur="1" fill="hold">
                                          <p:stCondLst>
                                            <p:cond delay="0"/>
                                          </p:stCondLst>
                                        </p:cTn>
                                        <p:tgtEl>
                                          <p:spTgt spid="39"/>
                                        </p:tgtEl>
                                        <p:attrNameLst>
                                          <p:attrName>style.visibility</p:attrName>
                                        </p:attrNameLst>
                                      </p:cBhvr>
                                      <p:to>
                                        <p:strVal val="visible"/>
                                      </p:to>
                                    </p:set>
                                    <p:animEffect transition="in" filter="wipe(down)">
                                      <p:cBhvr>
                                        <p:cTn id="17" dur="500"/>
                                        <p:tgtEl>
                                          <p:spTgt spid="39"/>
                                        </p:tgtEl>
                                      </p:cBhvr>
                                    </p:animEffect>
                                  </p:childTnLst>
                                </p:cTn>
                              </p:par>
                              <p:par>
                                <p:cTn id="18" presetID="22" presetClass="entr" presetSubtype="4" fill="hold" nodeType="withEffect">
                                  <p:stCondLst>
                                    <p:cond delay="0"/>
                                  </p:stCondLst>
                                  <p:childTnLst>
                                    <p:set>
                                      <p:cBhvr>
                                        <p:cTn id="19" dur="1" fill="hold">
                                          <p:stCondLst>
                                            <p:cond delay="0"/>
                                          </p:stCondLst>
                                        </p:cTn>
                                        <p:tgtEl>
                                          <p:spTgt spid="34"/>
                                        </p:tgtEl>
                                        <p:attrNameLst>
                                          <p:attrName>style.visibility</p:attrName>
                                        </p:attrNameLst>
                                      </p:cBhvr>
                                      <p:to>
                                        <p:strVal val="visible"/>
                                      </p:to>
                                    </p:set>
                                    <p:animEffect transition="in" filter="wipe(down)">
                                      <p:cBhvr>
                                        <p:cTn id="20" dur="500"/>
                                        <p:tgtEl>
                                          <p:spTgt spid="34"/>
                                        </p:tgtEl>
                                      </p:cBhvr>
                                    </p:animEffect>
                                  </p:childTnLst>
                                </p:cTn>
                              </p:par>
                              <p:par>
                                <p:cTn id="21" presetID="22" presetClass="entr" presetSubtype="4" fill="hold" nodeType="withEffect">
                                  <p:stCondLst>
                                    <p:cond delay="0"/>
                                  </p:stCondLst>
                                  <p:childTnLst>
                                    <p:set>
                                      <p:cBhvr>
                                        <p:cTn id="22" dur="1" fill="hold">
                                          <p:stCondLst>
                                            <p:cond delay="0"/>
                                          </p:stCondLst>
                                        </p:cTn>
                                        <p:tgtEl>
                                          <p:spTgt spid="37"/>
                                        </p:tgtEl>
                                        <p:attrNameLst>
                                          <p:attrName>style.visibility</p:attrName>
                                        </p:attrNameLst>
                                      </p:cBhvr>
                                      <p:to>
                                        <p:strVal val="visible"/>
                                      </p:to>
                                    </p:set>
                                    <p:animEffect transition="in" filter="wipe(down)">
                                      <p:cBhvr>
                                        <p:cTn id="23" dur="500"/>
                                        <p:tgtEl>
                                          <p:spTgt spid="3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2" name="20 41">
            <a:extLst>
              <a:ext uri="{FF2B5EF4-FFF2-40B4-BE49-F238E27FC236}">
                <a16:creationId xmlns:a16="http://schemas.microsoft.com/office/drawing/2014/main" id="{C45B794D-0DE5-450A-B4F4-8F972F556B5E}"/>
              </a:ext>
            </a:extLst>
          </p:cNvPr>
          <p:cNvPicPr>
            <a:picLocks noChangeAspect="1"/>
          </p:cNvPicPr>
          <p:nvPr/>
        </p:nvPicPr>
        <p:blipFill>
          <a:blip r:embed="rId2"/>
          <a:stretch>
            <a:fillRect/>
          </a:stretch>
        </p:blipFill>
        <p:spPr>
          <a:xfrm>
            <a:off x="7617296" y="2099075"/>
            <a:ext cx="462809" cy="461666"/>
          </a:xfrm>
          <a:prstGeom prst="rect">
            <a:avLst/>
          </a:prstGeom>
        </p:spPr>
      </p:pic>
      <p:sp>
        <p:nvSpPr>
          <p:cNvPr id="2" name="标题 1">
            <a:extLst>
              <a:ext uri="{FF2B5EF4-FFF2-40B4-BE49-F238E27FC236}">
                <a16:creationId xmlns:a16="http://schemas.microsoft.com/office/drawing/2014/main" id="{4888FDDF-E239-4569-BACF-1D67CF874AD0}"/>
              </a:ext>
            </a:extLst>
          </p:cNvPr>
          <p:cNvSpPr>
            <a:spLocks noGrp="1"/>
          </p:cNvSpPr>
          <p:nvPr>
            <p:ph type="title"/>
          </p:nvPr>
        </p:nvSpPr>
        <p:spPr/>
        <p:txBody>
          <a:bodyPr/>
          <a:lstStyle/>
          <a:p>
            <a:r>
              <a:rPr lang="zh-CN" altLang="en-US" dirty="0"/>
              <a:t>蚁群算法原理示意图</a:t>
            </a:r>
          </a:p>
        </p:txBody>
      </p:sp>
      <p:sp>
        <p:nvSpPr>
          <p:cNvPr id="4" name="日期占位符 3">
            <a:extLst>
              <a:ext uri="{FF2B5EF4-FFF2-40B4-BE49-F238E27FC236}">
                <a16:creationId xmlns:a16="http://schemas.microsoft.com/office/drawing/2014/main" id="{6F6A9891-8FEA-4ACB-BD75-F7BC8E6DB7F5}"/>
              </a:ext>
            </a:extLst>
          </p:cNvPr>
          <p:cNvSpPr>
            <a:spLocks noGrp="1"/>
          </p:cNvSpPr>
          <p:nvPr>
            <p:ph type="dt" sz="half" idx="10"/>
          </p:nvPr>
        </p:nvSpPr>
        <p:spPr/>
        <p:txBody>
          <a:bodyPr/>
          <a:lstStyle/>
          <a:p>
            <a:fld id="{A8B06C41-1E1E-4B9B-9644-5AFB8CB2AB3B}" type="datetime3">
              <a:rPr lang="zh-CN" altLang="en-US" smtClean="0"/>
              <a:t>2022年11月24日星期四</a:t>
            </a:fld>
            <a:endParaRPr lang="en-US" altLang="zh-CN" dirty="0"/>
          </a:p>
        </p:txBody>
      </p:sp>
      <p:sp>
        <p:nvSpPr>
          <p:cNvPr id="5" name="灯片编号占位符 4">
            <a:extLst>
              <a:ext uri="{FF2B5EF4-FFF2-40B4-BE49-F238E27FC236}">
                <a16:creationId xmlns:a16="http://schemas.microsoft.com/office/drawing/2014/main" id="{A0C19D16-75CA-4909-8B5D-BAA9AA835E12}"/>
              </a:ext>
            </a:extLst>
          </p:cNvPr>
          <p:cNvSpPr>
            <a:spLocks noGrp="1"/>
          </p:cNvSpPr>
          <p:nvPr>
            <p:ph type="sldNum" sz="quarter" idx="12"/>
          </p:nvPr>
        </p:nvSpPr>
        <p:spPr/>
        <p:txBody>
          <a:bodyPr/>
          <a:lstStyle/>
          <a:p>
            <a:fld id="{7AC79822-BC0D-4DE8-A7E5-90A3732A2B82}" type="slidenum">
              <a:rPr lang="zh-CN" altLang="en-US" smtClean="0"/>
              <a:pPr/>
              <a:t>23</a:t>
            </a:fld>
            <a:endParaRPr lang="en-US" altLang="zh-CN" dirty="0"/>
          </a:p>
        </p:txBody>
      </p:sp>
      <p:sp>
        <p:nvSpPr>
          <p:cNvPr id="6" name="椭圆 5">
            <a:extLst>
              <a:ext uri="{FF2B5EF4-FFF2-40B4-BE49-F238E27FC236}">
                <a16:creationId xmlns:a16="http://schemas.microsoft.com/office/drawing/2014/main" id="{719FDBC3-218C-409E-8B07-3F6C45731B33}"/>
              </a:ext>
            </a:extLst>
          </p:cNvPr>
          <p:cNvSpPr/>
          <p:nvPr/>
        </p:nvSpPr>
        <p:spPr bwMode="auto">
          <a:xfrm>
            <a:off x="7905328" y="1340767"/>
            <a:ext cx="504056" cy="504056"/>
          </a:xfrm>
          <a:prstGeom prst="ellipse">
            <a:avLst/>
          </a:prstGeom>
          <a:noFill/>
          <a:ln w="28575" cap="flat" cmpd="sng" algn="ctr">
            <a:solidFill>
              <a:schemeClr val="tx1"/>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kumimoji="0" lang="en-US" altLang="zh-CN" sz="2400" b="0" i="0" u="none" strike="noStrike" cap="none" normalizeH="0" baseline="0" dirty="0">
                <a:ln>
                  <a:noFill/>
                </a:ln>
                <a:solidFill>
                  <a:schemeClr val="tx1"/>
                </a:solidFill>
                <a:effectLst/>
                <a:latin typeface="Arial" charset="0"/>
              </a:rPr>
              <a:t>A</a:t>
            </a:r>
            <a:endParaRPr kumimoji="0" lang="zh-CN" altLang="en-US" sz="2400" b="0" i="0" u="none" strike="noStrike" cap="none" normalizeH="0" baseline="0" dirty="0">
              <a:ln>
                <a:noFill/>
              </a:ln>
              <a:solidFill>
                <a:schemeClr val="tx1"/>
              </a:solidFill>
              <a:effectLst/>
              <a:latin typeface="Arial" charset="0"/>
            </a:endParaRPr>
          </a:p>
        </p:txBody>
      </p:sp>
      <p:sp>
        <p:nvSpPr>
          <p:cNvPr id="7" name="椭圆 6">
            <a:extLst>
              <a:ext uri="{FF2B5EF4-FFF2-40B4-BE49-F238E27FC236}">
                <a16:creationId xmlns:a16="http://schemas.microsoft.com/office/drawing/2014/main" id="{78CB03C1-0E48-4C5B-B9C9-DB095C6CB2CE}"/>
              </a:ext>
            </a:extLst>
          </p:cNvPr>
          <p:cNvSpPr/>
          <p:nvPr/>
        </p:nvSpPr>
        <p:spPr bwMode="auto">
          <a:xfrm>
            <a:off x="7905328" y="6011107"/>
            <a:ext cx="504056" cy="504056"/>
          </a:xfrm>
          <a:prstGeom prst="ellipse">
            <a:avLst/>
          </a:prstGeom>
          <a:noFill/>
          <a:ln w="2857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r>
              <a:rPr kumimoji="0" lang="en-US" altLang="zh-CN" sz="1800" b="0" i="0" u="none" strike="noStrike" cap="none" normalizeH="0" baseline="0" dirty="0">
                <a:ln>
                  <a:noFill/>
                </a:ln>
                <a:solidFill>
                  <a:schemeClr val="tx1"/>
                </a:solidFill>
                <a:effectLst/>
                <a:latin typeface="Arial" charset="0"/>
              </a:rPr>
              <a:t>E</a:t>
            </a:r>
            <a:endParaRPr kumimoji="0" lang="zh-CN" altLang="en-US" sz="1800" b="0" i="0" u="none" strike="noStrike" cap="none" normalizeH="0" baseline="0" dirty="0">
              <a:ln>
                <a:noFill/>
              </a:ln>
              <a:solidFill>
                <a:schemeClr val="tx1"/>
              </a:solidFill>
              <a:effectLst/>
              <a:latin typeface="Arial" charset="0"/>
            </a:endParaRPr>
          </a:p>
        </p:txBody>
      </p:sp>
      <p:sp>
        <p:nvSpPr>
          <p:cNvPr id="8" name="椭圆 7">
            <a:extLst>
              <a:ext uri="{FF2B5EF4-FFF2-40B4-BE49-F238E27FC236}">
                <a16:creationId xmlns:a16="http://schemas.microsoft.com/office/drawing/2014/main" id="{62DBADF3-CD74-4381-AF4E-0419A229FB4F}"/>
              </a:ext>
            </a:extLst>
          </p:cNvPr>
          <p:cNvSpPr/>
          <p:nvPr/>
        </p:nvSpPr>
        <p:spPr bwMode="auto">
          <a:xfrm>
            <a:off x="7905328" y="2572130"/>
            <a:ext cx="504056" cy="504056"/>
          </a:xfrm>
          <a:prstGeom prst="ellipse">
            <a:avLst/>
          </a:prstGeom>
          <a:noFill/>
          <a:ln w="28575" cap="flat" cmpd="sng" algn="ctr">
            <a:solidFill>
              <a:schemeClr val="tx1"/>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kumimoji="0" lang="en-US" altLang="zh-CN" sz="2400" b="0" i="0" u="none" strike="noStrike" cap="none" normalizeH="0" baseline="0" dirty="0">
                <a:ln>
                  <a:noFill/>
                </a:ln>
                <a:solidFill>
                  <a:schemeClr val="tx1"/>
                </a:solidFill>
                <a:effectLst/>
                <a:latin typeface="Arial" charset="0"/>
              </a:rPr>
              <a:t>B</a:t>
            </a:r>
            <a:endParaRPr kumimoji="0" lang="zh-CN" altLang="en-US" sz="2400" b="0" i="0" u="none" strike="noStrike" cap="none" normalizeH="0" baseline="0" dirty="0">
              <a:ln>
                <a:noFill/>
              </a:ln>
              <a:solidFill>
                <a:schemeClr val="tx1"/>
              </a:solidFill>
              <a:effectLst/>
              <a:latin typeface="Arial" charset="0"/>
            </a:endParaRPr>
          </a:p>
        </p:txBody>
      </p:sp>
      <p:sp>
        <p:nvSpPr>
          <p:cNvPr id="9" name="椭圆 8">
            <a:extLst>
              <a:ext uri="{FF2B5EF4-FFF2-40B4-BE49-F238E27FC236}">
                <a16:creationId xmlns:a16="http://schemas.microsoft.com/office/drawing/2014/main" id="{6BEB99F3-72FB-432D-8F10-016A8F4980F3}"/>
              </a:ext>
            </a:extLst>
          </p:cNvPr>
          <p:cNvSpPr/>
          <p:nvPr/>
        </p:nvSpPr>
        <p:spPr bwMode="auto">
          <a:xfrm>
            <a:off x="7113240" y="3573016"/>
            <a:ext cx="504056" cy="504056"/>
          </a:xfrm>
          <a:prstGeom prst="ellipse">
            <a:avLst/>
          </a:prstGeom>
          <a:noFill/>
          <a:ln w="28575" cap="flat" cmpd="sng" algn="ctr">
            <a:solidFill>
              <a:schemeClr val="tx1"/>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lang="en-US" altLang="zh-CN" sz="2400" dirty="0"/>
              <a:t>C</a:t>
            </a:r>
            <a:endParaRPr kumimoji="0" lang="zh-CN" altLang="en-US" sz="2400" b="0" i="0" u="none" strike="noStrike" cap="none" normalizeH="0" baseline="0" dirty="0">
              <a:ln>
                <a:noFill/>
              </a:ln>
              <a:solidFill>
                <a:schemeClr val="tx1"/>
              </a:solidFill>
              <a:effectLst/>
              <a:latin typeface="Arial" charset="0"/>
            </a:endParaRPr>
          </a:p>
        </p:txBody>
      </p:sp>
      <p:sp>
        <p:nvSpPr>
          <p:cNvPr id="10" name="椭圆 9">
            <a:extLst>
              <a:ext uri="{FF2B5EF4-FFF2-40B4-BE49-F238E27FC236}">
                <a16:creationId xmlns:a16="http://schemas.microsoft.com/office/drawing/2014/main" id="{2E4411BC-13DC-4620-A78D-01A12A026DC2}"/>
              </a:ext>
            </a:extLst>
          </p:cNvPr>
          <p:cNvSpPr/>
          <p:nvPr/>
        </p:nvSpPr>
        <p:spPr bwMode="auto">
          <a:xfrm>
            <a:off x="9273480" y="3573016"/>
            <a:ext cx="504056" cy="504056"/>
          </a:xfrm>
          <a:prstGeom prst="ellipse">
            <a:avLst/>
          </a:prstGeom>
          <a:noFill/>
          <a:ln w="28575" cap="flat" cmpd="sng" algn="ctr">
            <a:solidFill>
              <a:schemeClr val="tx1"/>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kumimoji="0" lang="en-US" altLang="zh-CN" sz="2400" b="0" i="0" u="none" strike="noStrike" cap="none" normalizeH="0" baseline="0" dirty="0">
                <a:ln>
                  <a:noFill/>
                </a:ln>
                <a:solidFill>
                  <a:schemeClr val="tx1"/>
                </a:solidFill>
                <a:effectLst/>
                <a:latin typeface="Arial" charset="0"/>
              </a:rPr>
              <a:t>H</a:t>
            </a:r>
            <a:endParaRPr kumimoji="0" lang="zh-CN" altLang="en-US" sz="2400" b="0" i="0" u="none" strike="noStrike" cap="none" normalizeH="0" baseline="0" dirty="0">
              <a:ln>
                <a:noFill/>
              </a:ln>
              <a:solidFill>
                <a:schemeClr val="tx1"/>
              </a:solidFill>
              <a:effectLst/>
              <a:latin typeface="Arial" charset="0"/>
            </a:endParaRPr>
          </a:p>
        </p:txBody>
      </p:sp>
      <p:sp>
        <p:nvSpPr>
          <p:cNvPr id="11" name="椭圆 10">
            <a:extLst>
              <a:ext uri="{FF2B5EF4-FFF2-40B4-BE49-F238E27FC236}">
                <a16:creationId xmlns:a16="http://schemas.microsoft.com/office/drawing/2014/main" id="{07E0A4B6-B02C-489F-8564-406942E89921}"/>
              </a:ext>
            </a:extLst>
          </p:cNvPr>
          <p:cNvSpPr/>
          <p:nvPr/>
        </p:nvSpPr>
        <p:spPr bwMode="auto">
          <a:xfrm>
            <a:off x="7905328" y="4761149"/>
            <a:ext cx="504056" cy="504056"/>
          </a:xfrm>
          <a:prstGeom prst="ellipse">
            <a:avLst/>
          </a:prstGeom>
          <a:noFill/>
          <a:ln w="28575" cap="flat" cmpd="sng" algn="ctr">
            <a:solidFill>
              <a:schemeClr val="tx1"/>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lang="en-US" altLang="zh-CN" sz="2400" dirty="0"/>
              <a:t>D</a:t>
            </a:r>
            <a:endParaRPr kumimoji="0" lang="zh-CN" altLang="en-US" sz="2400" b="0" i="0" u="none" strike="noStrike" cap="none" normalizeH="0" baseline="0" dirty="0">
              <a:ln>
                <a:noFill/>
              </a:ln>
              <a:solidFill>
                <a:schemeClr val="tx1"/>
              </a:solidFill>
              <a:effectLst/>
              <a:latin typeface="Arial" charset="0"/>
            </a:endParaRPr>
          </a:p>
        </p:txBody>
      </p:sp>
      <p:cxnSp>
        <p:nvCxnSpPr>
          <p:cNvPr id="13" name="直接连接符 12">
            <a:extLst>
              <a:ext uri="{FF2B5EF4-FFF2-40B4-BE49-F238E27FC236}">
                <a16:creationId xmlns:a16="http://schemas.microsoft.com/office/drawing/2014/main" id="{6FC2888A-7D0B-45F3-8632-19517AB1A8ED}"/>
              </a:ext>
            </a:extLst>
          </p:cNvPr>
          <p:cNvCxnSpPr>
            <a:stCxn id="6" idx="4"/>
            <a:endCxn id="8" idx="0"/>
          </p:cNvCxnSpPr>
          <p:nvPr/>
        </p:nvCxnSpPr>
        <p:spPr bwMode="auto">
          <a:xfrm>
            <a:off x="8157356" y="1844823"/>
            <a:ext cx="0" cy="727307"/>
          </a:xfrm>
          <a:prstGeom prst="line">
            <a:avLst/>
          </a:prstGeom>
          <a:ln>
            <a:headEnd type="none" w="med" len="med"/>
            <a:tailEnd type="none" w="med" len="med"/>
          </a:ln>
          <a:extLst>
            <a:ext uri="{AF507438-7753-43E0-B8FC-AC1667EBCBE1}">
              <a14:hiddenEffects xmlns:a14="http://schemas.microsoft.com/office/drawing/2010/main">
                <a:effectLst>
                  <a:outerShdw dist="35921" dir="2700000" algn="ctr" rotWithShape="0">
                    <a:schemeClr val="bg2"/>
                  </a:outerShdw>
                </a:effectLst>
              </a14:hiddenEffects>
            </a:ext>
          </a:extLst>
        </p:spPr>
        <p:style>
          <a:lnRef idx="3">
            <a:schemeClr val="dk1"/>
          </a:lnRef>
          <a:fillRef idx="0">
            <a:schemeClr val="dk1"/>
          </a:fillRef>
          <a:effectRef idx="2">
            <a:schemeClr val="dk1"/>
          </a:effectRef>
          <a:fontRef idx="minor">
            <a:schemeClr val="tx1"/>
          </a:fontRef>
        </p:style>
      </p:cxnSp>
      <p:cxnSp>
        <p:nvCxnSpPr>
          <p:cNvPr id="14" name="直接连接符 13">
            <a:extLst>
              <a:ext uri="{FF2B5EF4-FFF2-40B4-BE49-F238E27FC236}">
                <a16:creationId xmlns:a16="http://schemas.microsoft.com/office/drawing/2014/main" id="{03416DEC-038E-4599-A9F3-D129A030A75F}"/>
              </a:ext>
            </a:extLst>
          </p:cNvPr>
          <p:cNvCxnSpPr>
            <a:cxnSpLocks/>
            <a:stCxn id="8" idx="3"/>
            <a:endCxn id="9" idx="0"/>
          </p:cNvCxnSpPr>
          <p:nvPr/>
        </p:nvCxnSpPr>
        <p:spPr bwMode="auto">
          <a:xfrm flipH="1">
            <a:off x="7365268" y="3002369"/>
            <a:ext cx="613877" cy="570647"/>
          </a:xfrm>
          <a:prstGeom prst="line">
            <a:avLst/>
          </a:prstGeom>
          <a:ln>
            <a:headEnd type="none" w="med" len="med"/>
            <a:tailEnd type="none" w="med" len="med"/>
          </a:ln>
          <a:extLst>
            <a:ext uri="{AF507438-7753-43E0-B8FC-AC1667EBCBE1}">
              <a14:hiddenEffects xmlns:a14="http://schemas.microsoft.com/office/drawing/2010/main">
                <a:effectLst>
                  <a:outerShdw dist="35921" dir="2700000" algn="ctr" rotWithShape="0">
                    <a:schemeClr val="bg2"/>
                  </a:outerShdw>
                </a:effectLst>
              </a14:hiddenEffects>
            </a:ext>
          </a:extLst>
        </p:spPr>
        <p:style>
          <a:lnRef idx="3">
            <a:schemeClr val="dk1"/>
          </a:lnRef>
          <a:fillRef idx="0">
            <a:schemeClr val="dk1"/>
          </a:fillRef>
          <a:effectRef idx="2">
            <a:schemeClr val="dk1"/>
          </a:effectRef>
          <a:fontRef idx="minor">
            <a:schemeClr val="tx1"/>
          </a:fontRef>
        </p:style>
      </p:cxnSp>
      <p:cxnSp>
        <p:nvCxnSpPr>
          <p:cNvPr id="17" name="直接连接符 16">
            <a:extLst>
              <a:ext uri="{FF2B5EF4-FFF2-40B4-BE49-F238E27FC236}">
                <a16:creationId xmlns:a16="http://schemas.microsoft.com/office/drawing/2014/main" id="{1B37A3C2-F3AD-4362-851D-8A78B4206E0D}"/>
              </a:ext>
            </a:extLst>
          </p:cNvPr>
          <p:cNvCxnSpPr>
            <a:cxnSpLocks/>
            <a:stCxn id="10" idx="1"/>
            <a:endCxn id="8" idx="5"/>
          </p:cNvCxnSpPr>
          <p:nvPr/>
        </p:nvCxnSpPr>
        <p:spPr bwMode="auto">
          <a:xfrm flipH="1" flipV="1">
            <a:off x="8335567" y="3002369"/>
            <a:ext cx="1011730" cy="644464"/>
          </a:xfrm>
          <a:prstGeom prst="line">
            <a:avLst/>
          </a:prstGeom>
          <a:ln>
            <a:headEnd type="none" w="med" len="med"/>
            <a:tailEnd type="none" w="med" len="med"/>
          </a:ln>
          <a:extLst>
            <a:ext uri="{AF507438-7753-43E0-B8FC-AC1667EBCBE1}">
              <a14:hiddenEffects xmlns:a14="http://schemas.microsoft.com/office/drawing/2010/main">
                <a:effectLst>
                  <a:outerShdw dist="35921" dir="2700000" algn="ctr" rotWithShape="0">
                    <a:schemeClr val="bg2"/>
                  </a:outerShdw>
                </a:effectLst>
              </a14:hiddenEffects>
            </a:ext>
          </a:extLst>
        </p:spPr>
        <p:style>
          <a:lnRef idx="3">
            <a:schemeClr val="dk1"/>
          </a:lnRef>
          <a:fillRef idx="0">
            <a:schemeClr val="dk1"/>
          </a:fillRef>
          <a:effectRef idx="2">
            <a:schemeClr val="dk1"/>
          </a:effectRef>
          <a:fontRef idx="minor">
            <a:schemeClr val="tx1"/>
          </a:fontRef>
        </p:style>
      </p:cxnSp>
      <p:cxnSp>
        <p:nvCxnSpPr>
          <p:cNvPr id="21" name="直接连接符 20">
            <a:extLst>
              <a:ext uri="{FF2B5EF4-FFF2-40B4-BE49-F238E27FC236}">
                <a16:creationId xmlns:a16="http://schemas.microsoft.com/office/drawing/2014/main" id="{11A6413E-E57A-4BEC-8778-FEBF9B0CA404}"/>
              </a:ext>
            </a:extLst>
          </p:cNvPr>
          <p:cNvCxnSpPr>
            <a:cxnSpLocks/>
            <a:stCxn id="11" idx="1"/>
            <a:endCxn id="9" idx="4"/>
          </p:cNvCxnSpPr>
          <p:nvPr/>
        </p:nvCxnSpPr>
        <p:spPr bwMode="auto">
          <a:xfrm flipH="1" flipV="1">
            <a:off x="7365268" y="4077072"/>
            <a:ext cx="613877" cy="757894"/>
          </a:xfrm>
          <a:prstGeom prst="line">
            <a:avLst/>
          </a:prstGeom>
          <a:ln>
            <a:headEnd type="none" w="med" len="med"/>
            <a:tailEnd type="none" w="med" len="med"/>
          </a:ln>
          <a:extLst>
            <a:ext uri="{AF507438-7753-43E0-B8FC-AC1667EBCBE1}">
              <a14:hiddenEffects xmlns:a14="http://schemas.microsoft.com/office/drawing/2010/main">
                <a:effectLst>
                  <a:outerShdw dist="35921" dir="2700000" algn="ctr" rotWithShape="0">
                    <a:schemeClr val="bg2"/>
                  </a:outerShdw>
                </a:effectLst>
              </a14:hiddenEffects>
            </a:ext>
          </a:extLst>
        </p:spPr>
        <p:style>
          <a:lnRef idx="3">
            <a:schemeClr val="dk1"/>
          </a:lnRef>
          <a:fillRef idx="0">
            <a:schemeClr val="dk1"/>
          </a:fillRef>
          <a:effectRef idx="2">
            <a:schemeClr val="dk1"/>
          </a:effectRef>
          <a:fontRef idx="minor">
            <a:schemeClr val="tx1"/>
          </a:fontRef>
        </p:style>
      </p:cxnSp>
      <p:cxnSp>
        <p:nvCxnSpPr>
          <p:cNvPr id="24" name="直接连接符 23">
            <a:extLst>
              <a:ext uri="{FF2B5EF4-FFF2-40B4-BE49-F238E27FC236}">
                <a16:creationId xmlns:a16="http://schemas.microsoft.com/office/drawing/2014/main" id="{BDBF825B-44AD-4EC9-85F8-C177D2766E93}"/>
              </a:ext>
            </a:extLst>
          </p:cNvPr>
          <p:cNvCxnSpPr>
            <a:cxnSpLocks/>
            <a:stCxn id="10" idx="3"/>
            <a:endCxn id="11" idx="7"/>
          </p:cNvCxnSpPr>
          <p:nvPr/>
        </p:nvCxnSpPr>
        <p:spPr bwMode="auto">
          <a:xfrm flipH="1">
            <a:off x="8335567" y="4003255"/>
            <a:ext cx="1011730" cy="831711"/>
          </a:xfrm>
          <a:prstGeom prst="line">
            <a:avLst/>
          </a:prstGeom>
          <a:ln>
            <a:headEnd type="none" w="med" len="med"/>
            <a:tailEnd type="none" w="med" len="med"/>
          </a:ln>
          <a:extLst>
            <a:ext uri="{AF507438-7753-43E0-B8FC-AC1667EBCBE1}">
              <a14:hiddenEffects xmlns:a14="http://schemas.microsoft.com/office/drawing/2010/main">
                <a:effectLst>
                  <a:outerShdw dist="35921" dir="2700000" algn="ctr" rotWithShape="0">
                    <a:schemeClr val="bg2"/>
                  </a:outerShdw>
                </a:effectLst>
              </a14:hiddenEffects>
            </a:ext>
          </a:extLst>
        </p:spPr>
        <p:style>
          <a:lnRef idx="3">
            <a:schemeClr val="dk1"/>
          </a:lnRef>
          <a:fillRef idx="0">
            <a:schemeClr val="dk1"/>
          </a:fillRef>
          <a:effectRef idx="2">
            <a:schemeClr val="dk1"/>
          </a:effectRef>
          <a:fontRef idx="minor">
            <a:schemeClr val="tx1"/>
          </a:fontRef>
        </p:style>
      </p:cxnSp>
      <p:cxnSp>
        <p:nvCxnSpPr>
          <p:cNvPr id="30" name="直接连接符 29">
            <a:extLst>
              <a:ext uri="{FF2B5EF4-FFF2-40B4-BE49-F238E27FC236}">
                <a16:creationId xmlns:a16="http://schemas.microsoft.com/office/drawing/2014/main" id="{00D916C3-FFF7-4A16-B9A4-420D4A388784}"/>
              </a:ext>
            </a:extLst>
          </p:cNvPr>
          <p:cNvCxnSpPr>
            <a:cxnSpLocks/>
            <a:stCxn id="11" idx="4"/>
            <a:endCxn id="7" idx="0"/>
          </p:cNvCxnSpPr>
          <p:nvPr/>
        </p:nvCxnSpPr>
        <p:spPr bwMode="auto">
          <a:xfrm>
            <a:off x="8157356" y="5265205"/>
            <a:ext cx="0" cy="745902"/>
          </a:xfrm>
          <a:prstGeom prst="line">
            <a:avLst/>
          </a:prstGeom>
          <a:ln>
            <a:headEnd type="none" w="med" len="med"/>
            <a:tailEnd type="none" w="med" len="med"/>
          </a:ln>
          <a:extLst>
            <a:ext uri="{AF507438-7753-43E0-B8FC-AC1667EBCBE1}">
              <a14:hiddenEffects xmlns:a14="http://schemas.microsoft.com/office/drawing/2010/main">
                <a:effectLst>
                  <a:outerShdw dist="35921" dir="2700000" algn="ctr" rotWithShape="0">
                    <a:schemeClr val="bg2"/>
                  </a:outerShdw>
                </a:effectLst>
              </a14:hiddenEffects>
            </a:ext>
          </a:extLst>
        </p:spPr>
        <p:style>
          <a:lnRef idx="3">
            <a:schemeClr val="dk1"/>
          </a:lnRef>
          <a:fillRef idx="0">
            <a:schemeClr val="dk1"/>
          </a:fillRef>
          <a:effectRef idx="2">
            <a:schemeClr val="dk1"/>
          </a:effectRef>
          <a:fontRef idx="minor">
            <a:schemeClr val="tx1"/>
          </a:fontRef>
        </p:style>
      </p:cxnSp>
      <p:graphicFrame>
        <p:nvGraphicFramePr>
          <p:cNvPr id="34" name="对象 33">
            <a:extLst>
              <a:ext uri="{FF2B5EF4-FFF2-40B4-BE49-F238E27FC236}">
                <a16:creationId xmlns:a16="http://schemas.microsoft.com/office/drawing/2014/main" id="{85BACB59-6962-49EB-AA86-94417456FB97}"/>
              </a:ext>
            </a:extLst>
          </p:cNvPr>
          <p:cNvGraphicFramePr>
            <a:graphicFrameLocks noChangeAspect="1"/>
          </p:cNvGraphicFramePr>
          <p:nvPr/>
        </p:nvGraphicFramePr>
        <p:xfrm>
          <a:off x="8731611" y="2831570"/>
          <a:ext cx="770288" cy="399408"/>
        </p:xfrm>
        <a:graphic>
          <a:graphicData uri="http://schemas.openxmlformats.org/presentationml/2006/ole">
            <mc:AlternateContent xmlns:mc="http://schemas.openxmlformats.org/markup-compatibility/2006">
              <mc:Choice xmlns:v="urn:schemas-microsoft-com:vml" Requires="v">
                <p:oleObj name="Equation" r:id="rId3" imgW="342720" imgH="177480" progId="Equation.DSMT4">
                  <p:embed/>
                </p:oleObj>
              </mc:Choice>
              <mc:Fallback>
                <p:oleObj name="Equation" r:id="rId3" imgW="342720" imgH="177480" progId="Equation.DSMT4">
                  <p:embed/>
                  <p:pic>
                    <p:nvPicPr>
                      <p:cNvPr id="34" name="对象 33">
                        <a:extLst>
                          <a:ext uri="{FF2B5EF4-FFF2-40B4-BE49-F238E27FC236}">
                            <a16:creationId xmlns:a16="http://schemas.microsoft.com/office/drawing/2014/main" id="{85BACB59-6962-49EB-AA86-94417456FB97}"/>
                          </a:ext>
                        </a:extLst>
                      </p:cNvPr>
                      <p:cNvPicPr/>
                      <p:nvPr/>
                    </p:nvPicPr>
                    <p:blipFill>
                      <a:blip r:embed="rId4"/>
                      <a:stretch>
                        <a:fillRect/>
                      </a:stretch>
                    </p:blipFill>
                    <p:spPr>
                      <a:xfrm>
                        <a:off x="8731611" y="2831570"/>
                        <a:ext cx="770288" cy="399408"/>
                      </a:xfrm>
                      <a:prstGeom prst="rect">
                        <a:avLst/>
                      </a:prstGeom>
                    </p:spPr>
                  </p:pic>
                </p:oleObj>
              </mc:Fallback>
            </mc:AlternateContent>
          </a:graphicData>
        </a:graphic>
      </p:graphicFrame>
      <p:graphicFrame>
        <p:nvGraphicFramePr>
          <p:cNvPr id="37" name="对象 36">
            <a:extLst>
              <a:ext uri="{FF2B5EF4-FFF2-40B4-BE49-F238E27FC236}">
                <a16:creationId xmlns:a16="http://schemas.microsoft.com/office/drawing/2014/main" id="{0AD43457-C483-477A-BD73-4C3C82D00F61}"/>
              </a:ext>
            </a:extLst>
          </p:cNvPr>
          <p:cNvGraphicFramePr>
            <a:graphicFrameLocks noChangeAspect="1"/>
          </p:cNvGraphicFramePr>
          <p:nvPr/>
        </p:nvGraphicFramePr>
        <p:xfrm>
          <a:off x="8686959" y="4476919"/>
          <a:ext cx="770288" cy="399408"/>
        </p:xfrm>
        <a:graphic>
          <a:graphicData uri="http://schemas.openxmlformats.org/presentationml/2006/ole">
            <mc:AlternateContent xmlns:mc="http://schemas.openxmlformats.org/markup-compatibility/2006">
              <mc:Choice xmlns:v="urn:schemas-microsoft-com:vml" Requires="v">
                <p:oleObj name="Equation" r:id="rId5" imgW="342720" imgH="177480" progId="Equation.DSMT4">
                  <p:embed/>
                </p:oleObj>
              </mc:Choice>
              <mc:Fallback>
                <p:oleObj name="Equation" r:id="rId5" imgW="342720" imgH="177480" progId="Equation.DSMT4">
                  <p:embed/>
                  <p:pic>
                    <p:nvPicPr>
                      <p:cNvPr id="37" name="对象 36">
                        <a:extLst>
                          <a:ext uri="{FF2B5EF4-FFF2-40B4-BE49-F238E27FC236}">
                            <a16:creationId xmlns:a16="http://schemas.microsoft.com/office/drawing/2014/main" id="{0AD43457-C483-477A-BD73-4C3C82D00F61}"/>
                          </a:ext>
                        </a:extLst>
                      </p:cNvPr>
                      <p:cNvPicPr/>
                      <p:nvPr/>
                    </p:nvPicPr>
                    <p:blipFill>
                      <a:blip r:embed="rId4"/>
                      <a:stretch>
                        <a:fillRect/>
                      </a:stretch>
                    </p:blipFill>
                    <p:spPr>
                      <a:xfrm>
                        <a:off x="8686959" y="4476919"/>
                        <a:ext cx="770288" cy="399408"/>
                      </a:xfrm>
                      <a:prstGeom prst="rect">
                        <a:avLst/>
                      </a:prstGeom>
                    </p:spPr>
                  </p:pic>
                </p:oleObj>
              </mc:Fallback>
            </mc:AlternateContent>
          </a:graphicData>
        </a:graphic>
      </p:graphicFrame>
      <p:graphicFrame>
        <p:nvGraphicFramePr>
          <p:cNvPr id="38" name="对象 37">
            <a:extLst>
              <a:ext uri="{FF2B5EF4-FFF2-40B4-BE49-F238E27FC236}">
                <a16:creationId xmlns:a16="http://schemas.microsoft.com/office/drawing/2014/main" id="{9294A2B9-BAF4-4260-8191-29148281E393}"/>
              </a:ext>
            </a:extLst>
          </p:cNvPr>
          <p:cNvGraphicFramePr>
            <a:graphicFrameLocks noChangeAspect="1"/>
          </p:cNvGraphicFramePr>
          <p:nvPr/>
        </p:nvGraphicFramePr>
        <p:xfrm>
          <a:off x="6658563" y="2926139"/>
          <a:ext cx="1084263" cy="398462"/>
        </p:xfrm>
        <a:graphic>
          <a:graphicData uri="http://schemas.openxmlformats.org/presentationml/2006/ole">
            <mc:AlternateContent xmlns:mc="http://schemas.openxmlformats.org/markup-compatibility/2006">
              <mc:Choice xmlns:v="urn:schemas-microsoft-com:vml" Requires="v">
                <p:oleObj name="Equation" r:id="rId6" imgW="482400" imgH="177480" progId="Equation.DSMT4">
                  <p:embed/>
                </p:oleObj>
              </mc:Choice>
              <mc:Fallback>
                <p:oleObj name="Equation" r:id="rId6" imgW="482400" imgH="177480" progId="Equation.DSMT4">
                  <p:embed/>
                  <p:pic>
                    <p:nvPicPr>
                      <p:cNvPr id="38" name="对象 37">
                        <a:extLst>
                          <a:ext uri="{FF2B5EF4-FFF2-40B4-BE49-F238E27FC236}">
                            <a16:creationId xmlns:a16="http://schemas.microsoft.com/office/drawing/2014/main" id="{9294A2B9-BAF4-4260-8191-29148281E393}"/>
                          </a:ext>
                        </a:extLst>
                      </p:cNvPr>
                      <p:cNvPicPr/>
                      <p:nvPr/>
                    </p:nvPicPr>
                    <p:blipFill>
                      <a:blip r:embed="rId7"/>
                      <a:stretch>
                        <a:fillRect/>
                      </a:stretch>
                    </p:blipFill>
                    <p:spPr>
                      <a:xfrm>
                        <a:off x="6658563" y="2926139"/>
                        <a:ext cx="1084263" cy="398462"/>
                      </a:xfrm>
                      <a:prstGeom prst="rect">
                        <a:avLst/>
                      </a:prstGeom>
                    </p:spPr>
                  </p:pic>
                </p:oleObj>
              </mc:Fallback>
            </mc:AlternateContent>
          </a:graphicData>
        </a:graphic>
      </p:graphicFrame>
      <p:graphicFrame>
        <p:nvGraphicFramePr>
          <p:cNvPr id="39" name="对象 38">
            <a:extLst>
              <a:ext uri="{FF2B5EF4-FFF2-40B4-BE49-F238E27FC236}">
                <a16:creationId xmlns:a16="http://schemas.microsoft.com/office/drawing/2014/main" id="{F78288CA-41A6-4CB8-BE51-6A2BD06CC17C}"/>
              </a:ext>
            </a:extLst>
          </p:cNvPr>
          <p:cNvGraphicFramePr>
            <a:graphicFrameLocks noChangeAspect="1"/>
          </p:cNvGraphicFramePr>
          <p:nvPr/>
        </p:nvGraphicFramePr>
        <p:xfrm>
          <a:off x="6606271" y="4397978"/>
          <a:ext cx="1084263" cy="398462"/>
        </p:xfrm>
        <a:graphic>
          <a:graphicData uri="http://schemas.openxmlformats.org/presentationml/2006/ole">
            <mc:AlternateContent xmlns:mc="http://schemas.openxmlformats.org/markup-compatibility/2006">
              <mc:Choice xmlns:v="urn:schemas-microsoft-com:vml" Requires="v">
                <p:oleObj name="Equation" r:id="rId8" imgW="482400" imgH="177480" progId="Equation.DSMT4">
                  <p:embed/>
                </p:oleObj>
              </mc:Choice>
              <mc:Fallback>
                <p:oleObj name="Equation" r:id="rId8" imgW="482400" imgH="177480" progId="Equation.DSMT4">
                  <p:embed/>
                  <p:pic>
                    <p:nvPicPr>
                      <p:cNvPr id="39" name="对象 38">
                        <a:extLst>
                          <a:ext uri="{FF2B5EF4-FFF2-40B4-BE49-F238E27FC236}">
                            <a16:creationId xmlns:a16="http://schemas.microsoft.com/office/drawing/2014/main" id="{F78288CA-41A6-4CB8-BE51-6A2BD06CC17C}"/>
                          </a:ext>
                        </a:extLst>
                      </p:cNvPr>
                      <p:cNvPicPr/>
                      <p:nvPr/>
                    </p:nvPicPr>
                    <p:blipFill>
                      <a:blip r:embed="rId7"/>
                      <a:stretch>
                        <a:fillRect/>
                      </a:stretch>
                    </p:blipFill>
                    <p:spPr>
                      <a:xfrm>
                        <a:off x="6606271" y="4397978"/>
                        <a:ext cx="1084263" cy="398462"/>
                      </a:xfrm>
                      <a:prstGeom prst="rect">
                        <a:avLst/>
                      </a:prstGeom>
                    </p:spPr>
                  </p:pic>
                </p:oleObj>
              </mc:Fallback>
            </mc:AlternateContent>
          </a:graphicData>
        </a:graphic>
      </p:graphicFrame>
      <p:sp>
        <p:nvSpPr>
          <p:cNvPr id="40" name="文本框 39">
            <a:extLst>
              <a:ext uri="{FF2B5EF4-FFF2-40B4-BE49-F238E27FC236}">
                <a16:creationId xmlns:a16="http://schemas.microsoft.com/office/drawing/2014/main" id="{682ED1D3-4BF5-45E3-8272-EACD1DF0C604}"/>
              </a:ext>
            </a:extLst>
          </p:cNvPr>
          <p:cNvSpPr txBox="1"/>
          <p:nvPr/>
        </p:nvSpPr>
        <p:spPr>
          <a:xfrm>
            <a:off x="8473261" y="1357800"/>
            <a:ext cx="800219" cy="461665"/>
          </a:xfrm>
          <a:prstGeom prst="rect">
            <a:avLst/>
          </a:prstGeom>
          <a:noFill/>
        </p:spPr>
        <p:txBody>
          <a:bodyPr wrap="none" rtlCol="0">
            <a:spAutoFit/>
          </a:bodyPr>
          <a:lstStyle/>
          <a:p>
            <a:r>
              <a:rPr lang="zh-CN" altLang="en-US" sz="2400" dirty="0"/>
              <a:t>蚁穴</a:t>
            </a:r>
          </a:p>
        </p:txBody>
      </p:sp>
      <p:sp>
        <p:nvSpPr>
          <p:cNvPr id="41" name="文本框 40">
            <a:extLst>
              <a:ext uri="{FF2B5EF4-FFF2-40B4-BE49-F238E27FC236}">
                <a16:creationId xmlns:a16="http://schemas.microsoft.com/office/drawing/2014/main" id="{DFA6DB5A-29B0-4D63-905B-34EA8605FB68}"/>
              </a:ext>
            </a:extLst>
          </p:cNvPr>
          <p:cNvSpPr txBox="1"/>
          <p:nvPr/>
        </p:nvSpPr>
        <p:spPr>
          <a:xfrm>
            <a:off x="8462924" y="6053498"/>
            <a:ext cx="1107996" cy="461665"/>
          </a:xfrm>
          <a:prstGeom prst="rect">
            <a:avLst/>
          </a:prstGeom>
          <a:noFill/>
        </p:spPr>
        <p:txBody>
          <a:bodyPr wrap="none" rtlCol="0">
            <a:spAutoFit/>
          </a:bodyPr>
          <a:lstStyle/>
          <a:p>
            <a:r>
              <a:rPr lang="zh-CN" altLang="en-US" sz="2400" dirty="0"/>
              <a:t>食物源</a:t>
            </a:r>
          </a:p>
        </p:txBody>
      </p:sp>
      <p:sp>
        <p:nvSpPr>
          <p:cNvPr id="43" name="文本框 42">
            <a:extLst>
              <a:ext uri="{FF2B5EF4-FFF2-40B4-BE49-F238E27FC236}">
                <a16:creationId xmlns:a16="http://schemas.microsoft.com/office/drawing/2014/main" id="{305FAA06-A078-4CD5-ABFE-15AAA87A4CF0}"/>
              </a:ext>
            </a:extLst>
          </p:cNvPr>
          <p:cNvSpPr txBox="1"/>
          <p:nvPr/>
        </p:nvSpPr>
        <p:spPr>
          <a:xfrm>
            <a:off x="6848642" y="2147737"/>
            <a:ext cx="835485" cy="461665"/>
          </a:xfrm>
          <a:prstGeom prst="rect">
            <a:avLst/>
          </a:prstGeom>
          <a:noFill/>
        </p:spPr>
        <p:txBody>
          <a:bodyPr wrap="none" rtlCol="0">
            <a:spAutoFit/>
          </a:bodyPr>
          <a:lstStyle/>
          <a:p>
            <a:r>
              <a:rPr lang="en-US" altLang="zh-CN" sz="2400" dirty="0">
                <a:solidFill>
                  <a:srgbClr val="FF0000"/>
                </a:solidFill>
              </a:rPr>
              <a:t>30</a:t>
            </a:r>
            <a:r>
              <a:rPr lang="zh-CN" altLang="en-US" sz="2400" dirty="0">
                <a:solidFill>
                  <a:srgbClr val="FF0000"/>
                </a:solidFill>
              </a:rPr>
              <a:t>只</a:t>
            </a:r>
          </a:p>
        </p:txBody>
      </p:sp>
      <p:pic>
        <p:nvPicPr>
          <p:cNvPr id="44" name="20 43">
            <a:extLst>
              <a:ext uri="{FF2B5EF4-FFF2-40B4-BE49-F238E27FC236}">
                <a16:creationId xmlns:a16="http://schemas.microsoft.com/office/drawing/2014/main" id="{E6BEA372-CE59-4072-886C-5E1BAB96883B}"/>
              </a:ext>
            </a:extLst>
          </p:cNvPr>
          <p:cNvPicPr>
            <a:picLocks noChangeAspect="1"/>
          </p:cNvPicPr>
          <p:nvPr/>
        </p:nvPicPr>
        <p:blipFill>
          <a:blip r:embed="rId2"/>
          <a:stretch>
            <a:fillRect/>
          </a:stretch>
        </p:blipFill>
        <p:spPr>
          <a:xfrm>
            <a:off x="7667639" y="5286400"/>
            <a:ext cx="462809" cy="461666"/>
          </a:xfrm>
          <a:prstGeom prst="rect">
            <a:avLst/>
          </a:prstGeom>
        </p:spPr>
      </p:pic>
      <p:sp>
        <p:nvSpPr>
          <p:cNvPr id="45" name="文本框 44">
            <a:extLst>
              <a:ext uri="{FF2B5EF4-FFF2-40B4-BE49-F238E27FC236}">
                <a16:creationId xmlns:a16="http://schemas.microsoft.com/office/drawing/2014/main" id="{4FCC86C6-3D2D-4E78-96ED-9AA5264C6D01}"/>
              </a:ext>
            </a:extLst>
          </p:cNvPr>
          <p:cNvSpPr txBox="1"/>
          <p:nvPr/>
        </p:nvSpPr>
        <p:spPr>
          <a:xfrm>
            <a:off x="6898985" y="5335062"/>
            <a:ext cx="835485" cy="461665"/>
          </a:xfrm>
          <a:prstGeom prst="rect">
            <a:avLst/>
          </a:prstGeom>
          <a:noFill/>
        </p:spPr>
        <p:txBody>
          <a:bodyPr wrap="none" rtlCol="0">
            <a:spAutoFit/>
          </a:bodyPr>
          <a:lstStyle/>
          <a:p>
            <a:r>
              <a:rPr lang="en-US" altLang="zh-CN" sz="2400" dirty="0">
                <a:solidFill>
                  <a:srgbClr val="0000FF"/>
                </a:solidFill>
              </a:rPr>
              <a:t>30</a:t>
            </a:r>
            <a:r>
              <a:rPr lang="zh-CN" altLang="en-US" sz="2400" dirty="0">
                <a:solidFill>
                  <a:srgbClr val="0000FF"/>
                </a:solidFill>
              </a:rPr>
              <a:t>只</a:t>
            </a:r>
          </a:p>
        </p:txBody>
      </p:sp>
      <p:sp>
        <p:nvSpPr>
          <p:cNvPr id="27" name="文本框 26">
            <a:extLst>
              <a:ext uri="{FF2B5EF4-FFF2-40B4-BE49-F238E27FC236}">
                <a16:creationId xmlns:a16="http://schemas.microsoft.com/office/drawing/2014/main" id="{DAD1AF53-ED5A-40FE-9A68-CF8539E82459}"/>
              </a:ext>
            </a:extLst>
          </p:cNvPr>
          <p:cNvSpPr txBox="1"/>
          <p:nvPr/>
        </p:nvSpPr>
        <p:spPr>
          <a:xfrm>
            <a:off x="148538" y="1161770"/>
            <a:ext cx="6478903" cy="3785652"/>
          </a:xfrm>
          <a:prstGeom prst="rect">
            <a:avLst/>
          </a:prstGeom>
          <a:noFill/>
        </p:spPr>
        <p:txBody>
          <a:bodyPr wrap="square" rtlCol="0">
            <a:spAutoFit/>
          </a:bodyPr>
          <a:lstStyle/>
          <a:p>
            <a:r>
              <a:rPr lang="zh-CN" altLang="en-US" sz="2400" dirty="0"/>
              <a:t>时刻</a:t>
            </a:r>
            <a:r>
              <a:rPr lang="en-US" altLang="zh-CN" sz="2400" dirty="0"/>
              <a:t>1</a:t>
            </a:r>
          </a:p>
          <a:p>
            <a:endParaRPr lang="en-US" altLang="zh-CN" sz="2400" dirty="0"/>
          </a:p>
          <a:p>
            <a:r>
              <a:rPr lang="en-US" altLang="zh-CN" sz="2400" dirty="0"/>
              <a:t>30</a:t>
            </a:r>
            <a:r>
              <a:rPr lang="zh-CN" altLang="en-US" sz="2400" dirty="0"/>
              <a:t>只蚂蚁从</a:t>
            </a:r>
            <a:r>
              <a:rPr lang="en-US" altLang="zh-CN" sz="2400" dirty="0"/>
              <a:t>A</a:t>
            </a:r>
            <a:r>
              <a:rPr lang="zh-CN" altLang="en-US" sz="2400" dirty="0"/>
              <a:t>出发行进到</a:t>
            </a:r>
            <a:r>
              <a:rPr lang="en-US" altLang="zh-CN" sz="2400" dirty="0"/>
              <a:t>B</a:t>
            </a:r>
          </a:p>
          <a:p>
            <a:r>
              <a:rPr lang="en-US" altLang="zh-CN" sz="2400" dirty="0"/>
              <a:t>30</a:t>
            </a:r>
            <a:r>
              <a:rPr lang="zh-CN" altLang="en-US" sz="2400" dirty="0"/>
              <a:t>只蚂蚁从</a:t>
            </a:r>
            <a:r>
              <a:rPr lang="en-US" altLang="zh-CN" sz="2400" dirty="0"/>
              <a:t>E</a:t>
            </a:r>
            <a:r>
              <a:rPr lang="zh-CN" altLang="en-US" sz="2400" dirty="0"/>
              <a:t>出发行进到</a:t>
            </a:r>
            <a:r>
              <a:rPr lang="en-US" altLang="zh-CN" sz="2400" dirty="0"/>
              <a:t>D</a:t>
            </a:r>
          </a:p>
          <a:p>
            <a:endParaRPr lang="en-US" altLang="zh-CN" sz="2400" dirty="0"/>
          </a:p>
          <a:p>
            <a:r>
              <a:rPr lang="zh-CN" altLang="en-US" sz="2400" dirty="0"/>
              <a:t>在</a:t>
            </a:r>
            <a:r>
              <a:rPr lang="en-US" altLang="zh-CN" sz="2400" dirty="0"/>
              <a:t>B</a:t>
            </a:r>
            <a:r>
              <a:rPr lang="zh-CN" altLang="en-US" sz="2400" dirty="0"/>
              <a:t>点，由于当前两条备选路径都没有任何参照物（信息素</a:t>
            </a:r>
            <a:r>
              <a:rPr lang="en-US" altLang="zh-CN" sz="2400" dirty="0"/>
              <a:t>)</a:t>
            </a:r>
            <a:r>
              <a:rPr lang="zh-CN" altLang="en-US" sz="2400" dirty="0"/>
              <a:t>，因此蚂蚁选路是完全随机的。</a:t>
            </a:r>
            <a:endParaRPr lang="en-US" altLang="zh-CN" sz="2400" dirty="0"/>
          </a:p>
          <a:p>
            <a:r>
              <a:rPr lang="en-US" altLang="zh-CN" sz="2400" dirty="0"/>
              <a:t>15</a:t>
            </a:r>
            <a:r>
              <a:rPr lang="zh-CN" altLang="en-US" sz="2400" dirty="0"/>
              <a:t>只走</a:t>
            </a:r>
            <a:r>
              <a:rPr lang="en-US" altLang="zh-CN" sz="2400" dirty="0"/>
              <a:t>BCD, 15</a:t>
            </a:r>
            <a:r>
              <a:rPr lang="zh-CN" altLang="en-US" sz="2400" dirty="0"/>
              <a:t>只走</a:t>
            </a:r>
            <a:r>
              <a:rPr lang="en-US" altLang="zh-CN" sz="2400" dirty="0"/>
              <a:t>BHD</a:t>
            </a:r>
          </a:p>
          <a:p>
            <a:endParaRPr lang="en-US" altLang="zh-CN" sz="2400" dirty="0"/>
          </a:p>
          <a:p>
            <a:r>
              <a:rPr lang="zh-CN" altLang="en-US" sz="2400" dirty="0"/>
              <a:t>同理，在</a:t>
            </a:r>
            <a:r>
              <a:rPr lang="en-US" altLang="zh-CN" sz="2400" dirty="0"/>
              <a:t>D</a:t>
            </a:r>
            <a:r>
              <a:rPr lang="zh-CN" altLang="en-US" sz="2400" dirty="0"/>
              <a:t>点，</a:t>
            </a:r>
            <a:r>
              <a:rPr lang="en-US" altLang="zh-CN" sz="2400" dirty="0"/>
              <a:t>15</a:t>
            </a:r>
            <a:r>
              <a:rPr lang="zh-CN" altLang="en-US" sz="2400" dirty="0"/>
              <a:t>只走</a:t>
            </a:r>
            <a:r>
              <a:rPr lang="en-US" altLang="zh-CN" sz="2400" dirty="0"/>
              <a:t>DCB</a:t>
            </a:r>
            <a:r>
              <a:rPr lang="zh-CN" altLang="en-US" sz="2400" dirty="0"/>
              <a:t>，</a:t>
            </a:r>
            <a:r>
              <a:rPr lang="en-US" altLang="zh-CN" sz="2400" dirty="0"/>
              <a:t>15</a:t>
            </a:r>
            <a:r>
              <a:rPr lang="zh-CN" altLang="en-US" sz="2400" dirty="0"/>
              <a:t>只走</a:t>
            </a:r>
            <a:r>
              <a:rPr lang="en-US" altLang="zh-CN" sz="2400" dirty="0"/>
              <a:t>DHB</a:t>
            </a:r>
          </a:p>
        </p:txBody>
      </p:sp>
    </p:spTree>
    <p:extLst>
      <p:ext uri="{BB962C8B-B14F-4D97-AF65-F5344CB8AC3E}">
        <p14:creationId xmlns:p14="http://schemas.microsoft.com/office/powerpoint/2010/main" val="383911022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4" fill="hold" nodeType="withEffect">
                                  <p:stCondLst>
                                    <p:cond delay="0"/>
                                  </p:stCondLst>
                                  <p:childTnLst>
                                    <p:set>
                                      <p:cBhvr>
                                        <p:cTn id="6" dur="1" fill="hold">
                                          <p:stCondLst>
                                            <p:cond delay="0"/>
                                          </p:stCondLst>
                                        </p:cTn>
                                        <p:tgtEl>
                                          <p:spTgt spid="27">
                                            <p:txEl>
                                              <p:pRg st="0" end="0"/>
                                            </p:txEl>
                                          </p:spTgt>
                                        </p:tgtEl>
                                        <p:attrNameLst>
                                          <p:attrName>style.visibility</p:attrName>
                                        </p:attrNameLst>
                                      </p:cBhvr>
                                      <p:to>
                                        <p:strVal val="visible"/>
                                      </p:to>
                                    </p:set>
                                    <p:animEffect transition="in" filter="wipe(down)">
                                      <p:cBhvr>
                                        <p:cTn id="7" dur="500"/>
                                        <p:tgtEl>
                                          <p:spTgt spid="27">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nodeType="clickEffect">
                                  <p:stCondLst>
                                    <p:cond delay="0"/>
                                  </p:stCondLst>
                                  <p:childTnLst>
                                    <p:set>
                                      <p:cBhvr>
                                        <p:cTn id="11" dur="1" fill="hold">
                                          <p:stCondLst>
                                            <p:cond delay="0"/>
                                          </p:stCondLst>
                                        </p:cTn>
                                        <p:tgtEl>
                                          <p:spTgt spid="27">
                                            <p:txEl>
                                              <p:pRg st="2" end="2"/>
                                            </p:txEl>
                                          </p:spTgt>
                                        </p:tgtEl>
                                        <p:attrNameLst>
                                          <p:attrName>style.visibility</p:attrName>
                                        </p:attrNameLst>
                                      </p:cBhvr>
                                      <p:to>
                                        <p:strVal val="visible"/>
                                      </p:to>
                                    </p:set>
                                    <p:animEffect transition="in" filter="wipe(down)">
                                      <p:cBhvr>
                                        <p:cTn id="12" dur="500"/>
                                        <p:tgtEl>
                                          <p:spTgt spid="27">
                                            <p:txEl>
                                              <p:pRg st="2" end="2"/>
                                            </p:txEl>
                                          </p:spTgt>
                                        </p:tgtEl>
                                      </p:cBhvr>
                                    </p:animEffect>
                                  </p:childTnLst>
                                </p:cTn>
                              </p:par>
                              <p:par>
                                <p:cTn id="13" presetID="22" presetClass="entr" presetSubtype="4" fill="hold" nodeType="withEffect">
                                  <p:stCondLst>
                                    <p:cond delay="0"/>
                                  </p:stCondLst>
                                  <p:childTnLst>
                                    <p:set>
                                      <p:cBhvr>
                                        <p:cTn id="14" dur="1" fill="hold">
                                          <p:stCondLst>
                                            <p:cond delay="0"/>
                                          </p:stCondLst>
                                        </p:cTn>
                                        <p:tgtEl>
                                          <p:spTgt spid="27">
                                            <p:txEl>
                                              <p:pRg st="3" end="3"/>
                                            </p:txEl>
                                          </p:spTgt>
                                        </p:tgtEl>
                                        <p:attrNameLst>
                                          <p:attrName>style.visibility</p:attrName>
                                        </p:attrNameLst>
                                      </p:cBhvr>
                                      <p:to>
                                        <p:strVal val="visible"/>
                                      </p:to>
                                    </p:set>
                                    <p:animEffect transition="in" filter="wipe(down)">
                                      <p:cBhvr>
                                        <p:cTn id="15" dur="500"/>
                                        <p:tgtEl>
                                          <p:spTgt spid="27">
                                            <p:txEl>
                                              <p:pRg st="3" end="3"/>
                                            </p:txEl>
                                          </p:spTgt>
                                        </p:tgtEl>
                                      </p:cBhvr>
                                    </p:animEffect>
                                  </p:childTnLst>
                                </p:cTn>
                              </p:par>
                            </p:childTnLst>
                          </p:cTn>
                        </p:par>
                        <p:par>
                          <p:cTn id="16" fill="hold">
                            <p:stCondLst>
                              <p:cond delay="500"/>
                            </p:stCondLst>
                            <p:childTnLst>
                              <p:par>
                                <p:cTn id="17" presetID="16" presetClass="entr" presetSubtype="21" fill="hold" nodeType="afterEffect">
                                  <p:stCondLst>
                                    <p:cond delay="0"/>
                                  </p:stCondLst>
                                  <p:childTnLst>
                                    <p:set>
                                      <p:cBhvr>
                                        <p:cTn id="18" dur="1" fill="hold">
                                          <p:stCondLst>
                                            <p:cond delay="0"/>
                                          </p:stCondLst>
                                        </p:cTn>
                                        <p:tgtEl>
                                          <p:spTgt spid="42"/>
                                        </p:tgtEl>
                                        <p:attrNameLst>
                                          <p:attrName>style.visibility</p:attrName>
                                        </p:attrNameLst>
                                      </p:cBhvr>
                                      <p:to>
                                        <p:strVal val="visible"/>
                                      </p:to>
                                    </p:set>
                                    <p:animEffect transition="in" filter="barn(inVertical)">
                                      <p:cBhvr>
                                        <p:cTn id="19" dur="500"/>
                                        <p:tgtEl>
                                          <p:spTgt spid="42"/>
                                        </p:tgtEl>
                                      </p:cBhvr>
                                    </p:animEffect>
                                  </p:childTnLst>
                                </p:cTn>
                              </p:par>
                              <p:par>
                                <p:cTn id="20" presetID="16" presetClass="entr" presetSubtype="21" fill="hold" grpId="0" nodeType="withEffect">
                                  <p:stCondLst>
                                    <p:cond delay="0"/>
                                  </p:stCondLst>
                                  <p:childTnLst>
                                    <p:set>
                                      <p:cBhvr>
                                        <p:cTn id="21" dur="1" fill="hold">
                                          <p:stCondLst>
                                            <p:cond delay="0"/>
                                          </p:stCondLst>
                                        </p:cTn>
                                        <p:tgtEl>
                                          <p:spTgt spid="43"/>
                                        </p:tgtEl>
                                        <p:attrNameLst>
                                          <p:attrName>style.visibility</p:attrName>
                                        </p:attrNameLst>
                                      </p:cBhvr>
                                      <p:to>
                                        <p:strVal val="visible"/>
                                      </p:to>
                                    </p:set>
                                    <p:animEffect transition="in" filter="barn(inVertical)">
                                      <p:cBhvr>
                                        <p:cTn id="22" dur="500"/>
                                        <p:tgtEl>
                                          <p:spTgt spid="43"/>
                                        </p:tgtEl>
                                      </p:cBhvr>
                                    </p:animEffect>
                                  </p:childTnLst>
                                </p:cTn>
                              </p:par>
                              <p:par>
                                <p:cTn id="23" presetID="16" presetClass="entr" presetSubtype="21" fill="hold" grpId="0" nodeType="withEffect">
                                  <p:stCondLst>
                                    <p:cond delay="0"/>
                                  </p:stCondLst>
                                  <p:childTnLst>
                                    <p:set>
                                      <p:cBhvr>
                                        <p:cTn id="24" dur="1" fill="hold">
                                          <p:stCondLst>
                                            <p:cond delay="0"/>
                                          </p:stCondLst>
                                        </p:cTn>
                                        <p:tgtEl>
                                          <p:spTgt spid="45"/>
                                        </p:tgtEl>
                                        <p:attrNameLst>
                                          <p:attrName>style.visibility</p:attrName>
                                        </p:attrNameLst>
                                      </p:cBhvr>
                                      <p:to>
                                        <p:strVal val="visible"/>
                                      </p:to>
                                    </p:set>
                                    <p:animEffect transition="in" filter="barn(inVertical)">
                                      <p:cBhvr>
                                        <p:cTn id="25" dur="500"/>
                                        <p:tgtEl>
                                          <p:spTgt spid="45"/>
                                        </p:tgtEl>
                                      </p:cBhvr>
                                    </p:animEffect>
                                  </p:childTnLst>
                                </p:cTn>
                              </p:par>
                              <p:par>
                                <p:cTn id="26" presetID="16" presetClass="entr" presetSubtype="21" fill="hold" nodeType="withEffect">
                                  <p:stCondLst>
                                    <p:cond delay="0"/>
                                  </p:stCondLst>
                                  <p:childTnLst>
                                    <p:set>
                                      <p:cBhvr>
                                        <p:cTn id="27" dur="1" fill="hold">
                                          <p:stCondLst>
                                            <p:cond delay="0"/>
                                          </p:stCondLst>
                                        </p:cTn>
                                        <p:tgtEl>
                                          <p:spTgt spid="44"/>
                                        </p:tgtEl>
                                        <p:attrNameLst>
                                          <p:attrName>style.visibility</p:attrName>
                                        </p:attrNameLst>
                                      </p:cBhvr>
                                      <p:to>
                                        <p:strVal val="visible"/>
                                      </p:to>
                                    </p:set>
                                    <p:animEffect transition="in" filter="barn(inVertical)">
                                      <p:cBhvr>
                                        <p:cTn id="28" dur="500"/>
                                        <p:tgtEl>
                                          <p:spTgt spid="44"/>
                                        </p:tgtEl>
                                      </p:cBhvr>
                                    </p:animEffect>
                                  </p:childTnLst>
                                </p:cTn>
                              </p:par>
                            </p:childTnLst>
                          </p:cTn>
                        </p:par>
                      </p:childTnLst>
                    </p:cTn>
                  </p:par>
                  <p:par>
                    <p:cTn id="29" fill="hold">
                      <p:stCondLst>
                        <p:cond delay="indefinite"/>
                      </p:stCondLst>
                      <p:childTnLst>
                        <p:par>
                          <p:cTn id="30" fill="hold">
                            <p:stCondLst>
                              <p:cond delay="0"/>
                            </p:stCondLst>
                            <p:childTnLst>
                              <p:par>
                                <p:cTn id="31" presetID="2" presetClass="entr" presetSubtype="4" fill="hold" nodeType="clickEffect">
                                  <p:stCondLst>
                                    <p:cond delay="0"/>
                                  </p:stCondLst>
                                  <p:childTnLst>
                                    <p:set>
                                      <p:cBhvr>
                                        <p:cTn id="32" dur="1" fill="hold">
                                          <p:stCondLst>
                                            <p:cond delay="0"/>
                                          </p:stCondLst>
                                        </p:cTn>
                                        <p:tgtEl>
                                          <p:spTgt spid="27">
                                            <p:txEl>
                                              <p:pRg st="5" end="5"/>
                                            </p:txEl>
                                          </p:spTgt>
                                        </p:tgtEl>
                                        <p:attrNameLst>
                                          <p:attrName>style.visibility</p:attrName>
                                        </p:attrNameLst>
                                      </p:cBhvr>
                                      <p:to>
                                        <p:strVal val="visible"/>
                                      </p:to>
                                    </p:set>
                                    <p:anim calcmode="lin" valueType="num">
                                      <p:cBhvr additive="base">
                                        <p:cTn id="33" dur="500" fill="hold"/>
                                        <p:tgtEl>
                                          <p:spTgt spid="27">
                                            <p:txEl>
                                              <p:pRg st="5" end="5"/>
                                            </p:txEl>
                                          </p:spTgt>
                                        </p:tgtEl>
                                        <p:attrNameLst>
                                          <p:attrName>ppt_x</p:attrName>
                                        </p:attrNameLst>
                                      </p:cBhvr>
                                      <p:tavLst>
                                        <p:tav tm="0">
                                          <p:val>
                                            <p:strVal val="#ppt_x"/>
                                          </p:val>
                                        </p:tav>
                                        <p:tav tm="100000">
                                          <p:val>
                                            <p:strVal val="#ppt_x"/>
                                          </p:val>
                                        </p:tav>
                                      </p:tavLst>
                                    </p:anim>
                                    <p:anim calcmode="lin" valueType="num">
                                      <p:cBhvr additive="base">
                                        <p:cTn id="34" dur="500" fill="hold"/>
                                        <p:tgtEl>
                                          <p:spTgt spid="27">
                                            <p:txEl>
                                              <p:pRg st="5" end="5"/>
                                            </p:txEl>
                                          </p:spTgt>
                                        </p:tgtEl>
                                        <p:attrNameLst>
                                          <p:attrName>ppt_y</p:attrName>
                                        </p:attrNameLst>
                                      </p:cBhvr>
                                      <p:tavLst>
                                        <p:tav tm="0">
                                          <p:val>
                                            <p:strVal val="1+#ppt_h/2"/>
                                          </p:val>
                                        </p:tav>
                                        <p:tav tm="100000">
                                          <p:val>
                                            <p:strVal val="#ppt_y"/>
                                          </p:val>
                                        </p:tav>
                                      </p:tavLst>
                                    </p:anim>
                                  </p:childTnLst>
                                </p:cTn>
                              </p:par>
                              <p:par>
                                <p:cTn id="35" presetID="2" presetClass="entr" presetSubtype="4" fill="hold" nodeType="withEffect">
                                  <p:stCondLst>
                                    <p:cond delay="0"/>
                                  </p:stCondLst>
                                  <p:childTnLst>
                                    <p:set>
                                      <p:cBhvr>
                                        <p:cTn id="36" dur="1" fill="hold">
                                          <p:stCondLst>
                                            <p:cond delay="0"/>
                                          </p:stCondLst>
                                        </p:cTn>
                                        <p:tgtEl>
                                          <p:spTgt spid="27">
                                            <p:txEl>
                                              <p:pRg st="6" end="6"/>
                                            </p:txEl>
                                          </p:spTgt>
                                        </p:tgtEl>
                                        <p:attrNameLst>
                                          <p:attrName>style.visibility</p:attrName>
                                        </p:attrNameLst>
                                      </p:cBhvr>
                                      <p:to>
                                        <p:strVal val="visible"/>
                                      </p:to>
                                    </p:set>
                                    <p:anim calcmode="lin" valueType="num">
                                      <p:cBhvr additive="base">
                                        <p:cTn id="37" dur="500" fill="hold"/>
                                        <p:tgtEl>
                                          <p:spTgt spid="27">
                                            <p:txEl>
                                              <p:pRg st="6" end="6"/>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27">
                                            <p:txEl>
                                              <p:pRg st="6" end="6"/>
                                            </p:txEl>
                                          </p:spTgt>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4" fill="hold" nodeType="clickEffect">
                                  <p:stCondLst>
                                    <p:cond delay="0"/>
                                  </p:stCondLst>
                                  <p:childTnLst>
                                    <p:set>
                                      <p:cBhvr>
                                        <p:cTn id="42" dur="1" fill="hold">
                                          <p:stCondLst>
                                            <p:cond delay="0"/>
                                          </p:stCondLst>
                                        </p:cTn>
                                        <p:tgtEl>
                                          <p:spTgt spid="27">
                                            <p:txEl>
                                              <p:pRg st="8" end="8"/>
                                            </p:txEl>
                                          </p:spTgt>
                                        </p:tgtEl>
                                        <p:attrNameLst>
                                          <p:attrName>style.visibility</p:attrName>
                                        </p:attrNameLst>
                                      </p:cBhvr>
                                      <p:to>
                                        <p:strVal val="visible"/>
                                      </p:to>
                                    </p:set>
                                    <p:anim calcmode="lin" valueType="num">
                                      <p:cBhvr additive="base">
                                        <p:cTn id="43" dur="500" fill="hold"/>
                                        <p:tgtEl>
                                          <p:spTgt spid="27">
                                            <p:txEl>
                                              <p:pRg st="8" end="8"/>
                                            </p:txEl>
                                          </p:spTgt>
                                        </p:tgtEl>
                                        <p:attrNameLst>
                                          <p:attrName>ppt_x</p:attrName>
                                        </p:attrNameLst>
                                      </p:cBhvr>
                                      <p:tavLst>
                                        <p:tav tm="0">
                                          <p:val>
                                            <p:strVal val="#ppt_x"/>
                                          </p:val>
                                        </p:tav>
                                        <p:tav tm="100000">
                                          <p:val>
                                            <p:strVal val="#ppt_x"/>
                                          </p:val>
                                        </p:tav>
                                      </p:tavLst>
                                    </p:anim>
                                    <p:anim calcmode="lin" valueType="num">
                                      <p:cBhvr additive="base">
                                        <p:cTn id="44" dur="500" fill="hold"/>
                                        <p:tgtEl>
                                          <p:spTgt spid="27">
                                            <p:txEl>
                                              <p:pRg st="8" end="8"/>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3" grpId="0"/>
      <p:bldP spid="45" grpId="0"/>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2" name="20 41">
            <a:extLst>
              <a:ext uri="{FF2B5EF4-FFF2-40B4-BE49-F238E27FC236}">
                <a16:creationId xmlns:a16="http://schemas.microsoft.com/office/drawing/2014/main" id="{C45B794D-0DE5-450A-B4F4-8F972F556B5E}"/>
              </a:ext>
            </a:extLst>
          </p:cNvPr>
          <p:cNvPicPr>
            <a:picLocks noChangeAspect="1"/>
          </p:cNvPicPr>
          <p:nvPr/>
        </p:nvPicPr>
        <p:blipFill>
          <a:blip r:embed="rId2"/>
          <a:stretch>
            <a:fillRect/>
          </a:stretch>
        </p:blipFill>
        <p:spPr>
          <a:xfrm>
            <a:off x="9415808" y="3023584"/>
            <a:ext cx="462809" cy="461666"/>
          </a:xfrm>
          <a:prstGeom prst="rect">
            <a:avLst/>
          </a:prstGeom>
        </p:spPr>
      </p:pic>
      <p:sp>
        <p:nvSpPr>
          <p:cNvPr id="2" name="标题 1">
            <a:extLst>
              <a:ext uri="{FF2B5EF4-FFF2-40B4-BE49-F238E27FC236}">
                <a16:creationId xmlns:a16="http://schemas.microsoft.com/office/drawing/2014/main" id="{4888FDDF-E239-4569-BACF-1D67CF874AD0}"/>
              </a:ext>
            </a:extLst>
          </p:cNvPr>
          <p:cNvSpPr>
            <a:spLocks noGrp="1"/>
          </p:cNvSpPr>
          <p:nvPr>
            <p:ph type="title"/>
          </p:nvPr>
        </p:nvSpPr>
        <p:spPr/>
        <p:txBody>
          <a:bodyPr/>
          <a:lstStyle/>
          <a:p>
            <a:r>
              <a:rPr lang="zh-CN" altLang="en-US" dirty="0"/>
              <a:t>蚁群算法原理示意图</a:t>
            </a:r>
          </a:p>
        </p:txBody>
      </p:sp>
      <p:sp>
        <p:nvSpPr>
          <p:cNvPr id="4" name="日期占位符 3">
            <a:extLst>
              <a:ext uri="{FF2B5EF4-FFF2-40B4-BE49-F238E27FC236}">
                <a16:creationId xmlns:a16="http://schemas.microsoft.com/office/drawing/2014/main" id="{6F6A9891-8FEA-4ACB-BD75-F7BC8E6DB7F5}"/>
              </a:ext>
            </a:extLst>
          </p:cNvPr>
          <p:cNvSpPr>
            <a:spLocks noGrp="1"/>
          </p:cNvSpPr>
          <p:nvPr>
            <p:ph type="dt" sz="half" idx="10"/>
          </p:nvPr>
        </p:nvSpPr>
        <p:spPr/>
        <p:txBody>
          <a:bodyPr/>
          <a:lstStyle/>
          <a:p>
            <a:fld id="{A8B06C41-1E1E-4B9B-9644-5AFB8CB2AB3B}" type="datetime3">
              <a:rPr lang="zh-CN" altLang="en-US" smtClean="0"/>
              <a:t>2022年11月24日星期四</a:t>
            </a:fld>
            <a:endParaRPr lang="en-US" altLang="zh-CN" dirty="0"/>
          </a:p>
        </p:txBody>
      </p:sp>
      <p:sp>
        <p:nvSpPr>
          <p:cNvPr id="5" name="灯片编号占位符 4">
            <a:extLst>
              <a:ext uri="{FF2B5EF4-FFF2-40B4-BE49-F238E27FC236}">
                <a16:creationId xmlns:a16="http://schemas.microsoft.com/office/drawing/2014/main" id="{A0C19D16-75CA-4909-8B5D-BAA9AA835E12}"/>
              </a:ext>
            </a:extLst>
          </p:cNvPr>
          <p:cNvSpPr>
            <a:spLocks noGrp="1"/>
          </p:cNvSpPr>
          <p:nvPr>
            <p:ph type="sldNum" sz="quarter" idx="12"/>
          </p:nvPr>
        </p:nvSpPr>
        <p:spPr/>
        <p:txBody>
          <a:bodyPr/>
          <a:lstStyle/>
          <a:p>
            <a:fld id="{7AC79822-BC0D-4DE8-A7E5-90A3732A2B82}" type="slidenum">
              <a:rPr lang="zh-CN" altLang="en-US" smtClean="0"/>
              <a:pPr/>
              <a:t>24</a:t>
            </a:fld>
            <a:endParaRPr lang="en-US" altLang="zh-CN" dirty="0"/>
          </a:p>
        </p:txBody>
      </p:sp>
      <p:sp>
        <p:nvSpPr>
          <p:cNvPr id="6" name="椭圆 5">
            <a:extLst>
              <a:ext uri="{FF2B5EF4-FFF2-40B4-BE49-F238E27FC236}">
                <a16:creationId xmlns:a16="http://schemas.microsoft.com/office/drawing/2014/main" id="{719FDBC3-218C-409E-8B07-3F6C45731B33}"/>
              </a:ext>
            </a:extLst>
          </p:cNvPr>
          <p:cNvSpPr/>
          <p:nvPr/>
        </p:nvSpPr>
        <p:spPr bwMode="auto">
          <a:xfrm>
            <a:off x="7905328" y="1340767"/>
            <a:ext cx="504056" cy="504056"/>
          </a:xfrm>
          <a:prstGeom prst="ellipse">
            <a:avLst/>
          </a:prstGeom>
          <a:noFill/>
          <a:ln w="28575" cap="flat" cmpd="sng" algn="ctr">
            <a:solidFill>
              <a:schemeClr val="tx1"/>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kumimoji="0" lang="en-US" altLang="zh-CN" sz="2400" b="0" i="0" u="none" strike="noStrike" cap="none" normalizeH="0" baseline="0" dirty="0">
                <a:ln>
                  <a:noFill/>
                </a:ln>
                <a:solidFill>
                  <a:schemeClr val="tx1"/>
                </a:solidFill>
                <a:effectLst/>
                <a:latin typeface="Arial" charset="0"/>
              </a:rPr>
              <a:t>A</a:t>
            </a:r>
            <a:endParaRPr kumimoji="0" lang="zh-CN" altLang="en-US" sz="2400" b="0" i="0" u="none" strike="noStrike" cap="none" normalizeH="0" baseline="0" dirty="0">
              <a:ln>
                <a:noFill/>
              </a:ln>
              <a:solidFill>
                <a:schemeClr val="tx1"/>
              </a:solidFill>
              <a:effectLst/>
              <a:latin typeface="Arial" charset="0"/>
            </a:endParaRPr>
          </a:p>
        </p:txBody>
      </p:sp>
      <p:sp>
        <p:nvSpPr>
          <p:cNvPr id="7" name="椭圆 6">
            <a:extLst>
              <a:ext uri="{FF2B5EF4-FFF2-40B4-BE49-F238E27FC236}">
                <a16:creationId xmlns:a16="http://schemas.microsoft.com/office/drawing/2014/main" id="{78CB03C1-0E48-4C5B-B9C9-DB095C6CB2CE}"/>
              </a:ext>
            </a:extLst>
          </p:cNvPr>
          <p:cNvSpPr/>
          <p:nvPr/>
        </p:nvSpPr>
        <p:spPr bwMode="auto">
          <a:xfrm>
            <a:off x="7905328" y="6011107"/>
            <a:ext cx="504056" cy="504056"/>
          </a:xfrm>
          <a:prstGeom prst="ellipse">
            <a:avLst/>
          </a:prstGeom>
          <a:noFill/>
          <a:ln w="2857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r>
              <a:rPr kumimoji="0" lang="en-US" altLang="zh-CN" sz="1800" b="0" i="0" u="none" strike="noStrike" cap="none" normalizeH="0" baseline="0" dirty="0">
                <a:ln>
                  <a:noFill/>
                </a:ln>
                <a:solidFill>
                  <a:schemeClr val="tx1"/>
                </a:solidFill>
                <a:effectLst/>
                <a:latin typeface="Arial" charset="0"/>
              </a:rPr>
              <a:t>E</a:t>
            </a:r>
            <a:endParaRPr kumimoji="0" lang="zh-CN" altLang="en-US" sz="1800" b="0" i="0" u="none" strike="noStrike" cap="none" normalizeH="0" baseline="0" dirty="0">
              <a:ln>
                <a:noFill/>
              </a:ln>
              <a:solidFill>
                <a:schemeClr val="tx1"/>
              </a:solidFill>
              <a:effectLst/>
              <a:latin typeface="Arial" charset="0"/>
            </a:endParaRPr>
          </a:p>
        </p:txBody>
      </p:sp>
      <p:sp>
        <p:nvSpPr>
          <p:cNvPr id="8" name="椭圆 7">
            <a:extLst>
              <a:ext uri="{FF2B5EF4-FFF2-40B4-BE49-F238E27FC236}">
                <a16:creationId xmlns:a16="http://schemas.microsoft.com/office/drawing/2014/main" id="{62DBADF3-CD74-4381-AF4E-0419A229FB4F}"/>
              </a:ext>
            </a:extLst>
          </p:cNvPr>
          <p:cNvSpPr/>
          <p:nvPr/>
        </p:nvSpPr>
        <p:spPr bwMode="auto">
          <a:xfrm>
            <a:off x="7905328" y="2572130"/>
            <a:ext cx="504056" cy="504056"/>
          </a:xfrm>
          <a:prstGeom prst="ellipse">
            <a:avLst/>
          </a:prstGeom>
          <a:noFill/>
          <a:ln w="28575" cap="flat" cmpd="sng" algn="ctr">
            <a:solidFill>
              <a:schemeClr val="tx1"/>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kumimoji="0" lang="en-US" altLang="zh-CN" sz="2400" b="0" i="0" u="none" strike="noStrike" cap="none" normalizeH="0" baseline="0" dirty="0">
                <a:ln>
                  <a:noFill/>
                </a:ln>
                <a:solidFill>
                  <a:schemeClr val="tx1"/>
                </a:solidFill>
                <a:effectLst/>
                <a:latin typeface="Arial" charset="0"/>
              </a:rPr>
              <a:t>B</a:t>
            </a:r>
            <a:endParaRPr kumimoji="0" lang="zh-CN" altLang="en-US" sz="2400" b="0" i="0" u="none" strike="noStrike" cap="none" normalizeH="0" baseline="0" dirty="0">
              <a:ln>
                <a:noFill/>
              </a:ln>
              <a:solidFill>
                <a:schemeClr val="tx1"/>
              </a:solidFill>
              <a:effectLst/>
              <a:latin typeface="Arial" charset="0"/>
            </a:endParaRPr>
          </a:p>
        </p:txBody>
      </p:sp>
      <p:sp>
        <p:nvSpPr>
          <p:cNvPr id="9" name="椭圆 8">
            <a:extLst>
              <a:ext uri="{FF2B5EF4-FFF2-40B4-BE49-F238E27FC236}">
                <a16:creationId xmlns:a16="http://schemas.microsoft.com/office/drawing/2014/main" id="{6BEB99F3-72FB-432D-8F10-016A8F4980F3}"/>
              </a:ext>
            </a:extLst>
          </p:cNvPr>
          <p:cNvSpPr/>
          <p:nvPr/>
        </p:nvSpPr>
        <p:spPr bwMode="auto">
          <a:xfrm>
            <a:off x="7113240" y="3573016"/>
            <a:ext cx="504056" cy="504056"/>
          </a:xfrm>
          <a:prstGeom prst="ellipse">
            <a:avLst/>
          </a:prstGeom>
          <a:noFill/>
          <a:ln w="28575" cap="flat" cmpd="sng" algn="ctr">
            <a:solidFill>
              <a:schemeClr val="tx1"/>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lang="en-US" altLang="zh-CN" sz="2400" dirty="0"/>
              <a:t>C</a:t>
            </a:r>
            <a:endParaRPr kumimoji="0" lang="zh-CN" altLang="en-US" sz="2400" b="0" i="0" u="none" strike="noStrike" cap="none" normalizeH="0" baseline="0" dirty="0">
              <a:ln>
                <a:noFill/>
              </a:ln>
              <a:solidFill>
                <a:schemeClr val="tx1"/>
              </a:solidFill>
              <a:effectLst/>
              <a:latin typeface="Arial" charset="0"/>
            </a:endParaRPr>
          </a:p>
        </p:txBody>
      </p:sp>
      <p:sp>
        <p:nvSpPr>
          <p:cNvPr id="10" name="椭圆 9">
            <a:extLst>
              <a:ext uri="{FF2B5EF4-FFF2-40B4-BE49-F238E27FC236}">
                <a16:creationId xmlns:a16="http://schemas.microsoft.com/office/drawing/2014/main" id="{2E4411BC-13DC-4620-A78D-01A12A026DC2}"/>
              </a:ext>
            </a:extLst>
          </p:cNvPr>
          <p:cNvSpPr/>
          <p:nvPr/>
        </p:nvSpPr>
        <p:spPr bwMode="auto">
          <a:xfrm>
            <a:off x="9273480" y="3573016"/>
            <a:ext cx="504056" cy="504056"/>
          </a:xfrm>
          <a:prstGeom prst="ellipse">
            <a:avLst/>
          </a:prstGeom>
          <a:noFill/>
          <a:ln w="28575" cap="flat" cmpd="sng" algn="ctr">
            <a:solidFill>
              <a:schemeClr val="tx1"/>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kumimoji="0" lang="en-US" altLang="zh-CN" sz="2400" b="0" i="0" u="none" strike="noStrike" cap="none" normalizeH="0" baseline="0" dirty="0">
                <a:ln>
                  <a:noFill/>
                </a:ln>
                <a:solidFill>
                  <a:schemeClr val="tx1"/>
                </a:solidFill>
                <a:effectLst/>
                <a:latin typeface="Arial" charset="0"/>
              </a:rPr>
              <a:t>H</a:t>
            </a:r>
            <a:endParaRPr kumimoji="0" lang="zh-CN" altLang="en-US" sz="2400" b="0" i="0" u="none" strike="noStrike" cap="none" normalizeH="0" baseline="0" dirty="0">
              <a:ln>
                <a:noFill/>
              </a:ln>
              <a:solidFill>
                <a:schemeClr val="tx1"/>
              </a:solidFill>
              <a:effectLst/>
              <a:latin typeface="Arial" charset="0"/>
            </a:endParaRPr>
          </a:p>
        </p:txBody>
      </p:sp>
      <p:sp>
        <p:nvSpPr>
          <p:cNvPr id="11" name="椭圆 10">
            <a:extLst>
              <a:ext uri="{FF2B5EF4-FFF2-40B4-BE49-F238E27FC236}">
                <a16:creationId xmlns:a16="http://schemas.microsoft.com/office/drawing/2014/main" id="{07E0A4B6-B02C-489F-8564-406942E89921}"/>
              </a:ext>
            </a:extLst>
          </p:cNvPr>
          <p:cNvSpPr/>
          <p:nvPr/>
        </p:nvSpPr>
        <p:spPr bwMode="auto">
          <a:xfrm>
            <a:off x="7905328" y="4761149"/>
            <a:ext cx="504056" cy="504056"/>
          </a:xfrm>
          <a:prstGeom prst="ellipse">
            <a:avLst/>
          </a:prstGeom>
          <a:noFill/>
          <a:ln w="28575" cap="flat" cmpd="sng" algn="ctr">
            <a:solidFill>
              <a:schemeClr val="tx1"/>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lang="en-US" altLang="zh-CN" sz="2400" dirty="0"/>
              <a:t>D</a:t>
            </a:r>
            <a:endParaRPr kumimoji="0" lang="zh-CN" altLang="en-US" sz="2400" b="0" i="0" u="none" strike="noStrike" cap="none" normalizeH="0" baseline="0" dirty="0">
              <a:ln>
                <a:noFill/>
              </a:ln>
              <a:solidFill>
                <a:schemeClr val="tx1"/>
              </a:solidFill>
              <a:effectLst/>
              <a:latin typeface="Arial" charset="0"/>
            </a:endParaRPr>
          </a:p>
        </p:txBody>
      </p:sp>
      <p:cxnSp>
        <p:nvCxnSpPr>
          <p:cNvPr id="13" name="直接连接符 12">
            <a:extLst>
              <a:ext uri="{FF2B5EF4-FFF2-40B4-BE49-F238E27FC236}">
                <a16:creationId xmlns:a16="http://schemas.microsoft.com/office/drawing/2014/main" id="{6FC2888A-7D0B-45F3-8632-19517AB1A8ED}"/>
              </a:ext>
            </a:extLst>
          </p:cNvPr>
          <p:cNvCxnSpPr>
            <a:stCxn id="6" idx="4"/>
            <a:endCxn id="8" idx="0"/>
          </p:cNvCxnSpPr>
          <p:nvPr/>
        </p:nvCxnSpPr>
        <p:spPr bwMode="auto">
          <a:xfrm>
            <a:off x="8157356" y="1844823"/>
            <a:ext cx="0" cy="727307"/>
          </a:xfrm>
          <a:prstGeom prst="line">
            <a:avLst/>
          </a:prstGeom>
          <a:ln>
            <a:headEnd type="none" w="med" len="med"/>
            <a:tailEnd type="none" w="med" len="med"/>
          </a:ln>
          <a:extLst>
            <a:ext uri="{AF507438-7753-43E0-B8FC-AC1667EBCBE1}">
              <a14:hiddenEffects xmlns:a14="http://schemas.microsoft.com/office/drawing/2010/main">
                <a:effectLst>
                  <a:outerShdw dist="35921" dir="2700000" algn="ctr" rotWithShape="0">
                    <a:schemeClr val="bg2"/>
                  </a:outerShdw>
                </a:effectLst>
              </a14:hiddenEffects>
            </a:ext>
          </a:extLst>
        </p:spPr>
        <p:style>
          <a:lnRef idx="3">
            <a:schemeClr val="dk1"/>
          </a:lnRef>
          <a:fillRef idx="0">
            <a:schemeClr val="dk1"/>
          </a:fillRef>
          <a:effectRef idx="2">
            <a:schemeClr val="dk1"/>
          </a:effectRef>
          <a:fontRef idx="minor">
            <a:schemeClr val="tx1"/>
          </a:fontRef>
        </p:style>
      </p:cxnSp>
      <p:cxnSp>
        <p:nvCxnSpPr>
          <p:cNvPr id="14" name="直接连接符 13">
            <a:extLst>
              <a:ext uri="{FF2B5EF4-FFF2-40B4-BE49-F238E27FC236}">
                <a16:creationId xmlns:a16="http://schemas.microsoft.com/office/drawing/2014/main" id="{03416DEC-038E-4599-A9F3-D129A030A75F}"/>
              </a:ext>
            </a:extLst>
          </p:cNvPr>
          <p:cNvCxnSpPr>
            <a:cxnSpLocks/>
            <a:stCxn id="8" idx="3"/>
            <a:endCxn id="9" idx="0"/>
          </p:cNvCxnSpPr>
          <p:nvPr/>
        </p:nvCxnSpPr>
        <p:spPr bwMode="auto">
          <a:xfrm flipH="1">
            <a:off x="7365268" y="3002369"/>
            <a:ext cx="613877" cy="570647"/>
          </a:xfrm>
          <a:prstGeom prst="line">
            <a:avLst/>
          </a:prstGeom>
          <a:ln>
            <a:headEnd type="none" w="med" len="med"/>
            <a:tailEnd type="none" w="med" len="med"/>
          </a:ln>
          <a:extLst>
            <a:ext uri="{AF507438-7753-43E0-B8FC-AC1667EBCBE1}">
              <a14:hiddenEffects xmlns:a14="http://schemas.microsoft.com/office/drawing/2010/main">
                <a:effectLst>
                  <a:outerShdw dist="35921" dir="2700000" algn="ctr" rotWithShape="0">
                    <a:schemeClr val="bg2"/>
                  </a:outerShdw>
                </a:effectLst>
              </a14:hiddenEffects>
            </a:ext>
          </a:extLst>
        </p:spPr>
        <p:style>
          <a:lnRef idx="3">
            <a:schemeClr val="dk1"/>
          </a:lnRef>
          <a:fillRef idx="0">
            <a:schemeClr val="dk1"/>
          </a:fillRef>
          <a:effectRef idx="2">
            <a:schemeClr val="dk1"/>
          </a:effectRef>
          <a:fontRef idx="minor">
            <a:schemeClr val="tx1"/>
          </a:fontRef>
        </p:style>
      </p:cxnSp>
      <p:cxnSp>
        <p:nvCxnSpPr>
          <p:cNvPr id="17" name="直接连接符 16">
            <a:extLst>
              <a:ext uri="{FF2B5EF4-FFF2-40B4-BE49-F238E27FC236}">
                <a16:creationId xmlns:a16="http://schemas.microsoft.com/office/drawing/2014/main" id="{1B37A3C2-F3AD-4362-851D-8A78B4206E0D}"/>
              </a:ext>
            </a:extLst>
          </p:cNvPr>
          <p:cNvCxnSpPr>
            <a:cxnSpLocks/>
            <a:stCxn id="10" idx="1"/>
            <a:endCxn id="8" idx="5"/>
          </p:cNvCxnSpPr>
          <p:nvPr/>
        </p:nvCxnSpPr>
        <p:spPr bwMode="auto">
          <a:xfrm flipH="1" flipV="1">
            <a:off x="8335567" y="3002369"/>
            <a:ext cx="1011730" cy="644464"/>
          </a:xfrm>
          <a:prstGeom prst="line">
            <a:avLst/>
          </a:prstGeom>
          <a:ln>
            <a:headEnd type="none" w="med" len="med"/>
            <a:tailEnd type="none" w="med" len="med"/>
          </a:ln>
          <a:extLst>
            <a:ext uri="{AF507438-7753-43E0-B8FC-AC1667EBCBE1}">
              <a14:hiddenEffects xmlns:a14="http://schemas.microsoft.com/office/drawing/2010/main">
                <a:effectLst>
                  <a:outerShdw dist="35921" dir="2700000" algn="ctr" rotWithShape="0">
                    <a:schemeClr val="bg2"/>
                  </a:outerShdw>
                </a:effectLst>
              </a14:hiddenEffects>
            </a:ext>
          </a:extLst>
        </p:spPr>
        <p:style>
          <a:lnRef idx="3">
            <a:schemeClr val="dk1"/>
          </a:lnRef>
          <a:fillRef idx="0">
            <a:schemeClr val="dk1"/>
          </a:fillRef>
          <a:effectRef idx="2">
            <a:schemeClr val="dk1"/>
          </a:effectRef>
          <a:fontRef idx="minor">
            <a:schemeClr val="tx1"/>
          </a:fontRef>
        </p:style>
      </p:cxnSp>
      <p:cxnSp>
        <p:nvCxnSpPr>
          <p:cNvPr id="21" name="直接连接符 20">
            <a:extLst>
              <a:ext uri="{FF2B5EF4-FFF2-40B4-BE49-F238E27FC236}">
                <a16:creationId xmlns:a16="http://schemas.microsoft.com/office/drawing/2014/main" id="{11A6413E-E57A-4BEC-8778-FEBF9B0CA404}"/>
              </a:ext>
            </a:extLst>
          </p:cNvPr>
          <p:cNvCxnSpPr>
            <a:cxnSpLocks/>
            <a:stCxn id="11" idx="1"/>
            <a:endCxn id="9" idx="4"/>
          </p:cNvCxnSpPr>
          <p:nvPr/>
        </p:nvCxnSpPr>
        <p:spPr bwMode="auto">
          <a:xfrm flipH="1" flipV="1">
            <a:off x="7365268" y="4077072"/>
            <a:ext cx="613877" cy="757894"/>
          </a:xfrm>
          <a:prstGeom prst="line">
            <a:avLst/>
          </a:prstGeom>
          <a:ln>
            <a:headEnd type="none" w="med" len="med"/>
            <a:tailEnd type="none" w="med" len="med"/>
          </a:ln>
          <a:extLst>
            <a:ext uri="{AF507438-7753-43E0-B8FC-AC1667EBCBE1}">
              <a14:hiddenEffects xmlns:a14="http://schemas.microsoft.com/office/drawing/2010/main">
                <a:effectLst>
                  <a:outerShdw dist="35921" dir="2700000" algn="ctr" rotWithShape="0">
                    <a:schemeClr val="bg2"/>
                  </a:outerShdw>
                </a:effectLst>
              </a14:hiddenEffects>
            </a:ext>
          </a:extLst>
        </p:spPr>
        <p:style>
          <a:lnRef idx="3">
            <a:schemeClr val="dk1"/>
          </a:lnRef>
          <a:fillRef idx="0">
            <a:schemeClr val="dk1"/>
          </a:fillRef>
          <a:effectRef idx="2">
            <a:schemeClr val="dk1"/>
          </a:effectRef>
          <a:fontRef idx="minor">
            <a:schemeClr val="tx1"/>
          </a:fontRef>
        </p:style>
      </p:cxnSp>
      <p:cxnSp>
        <p:nvCxnSpPr>
          <p:cNvPr id="24" name="直接连接符 23">
            <a:extLst>
              <a:ext uri="{FF2B5EF4-FFF2-40B4-BE49-F238E27FC236}">
                <a16:creationId xmlns:a16="http://schemas.microsoft.com/office/drawing/2014/main" id="{BDBF825B-44AD-4EC9-85F8-C177D2766E93}"/>
              </a:ext>
            </a:extLst>
          </p:cNvPr>
          <p:cNvCxnSpPr>
            <a:cxnSpLocks/>
            <a:stCxn id="10" idx="3"/>
            <a:endCxn id="11" idx="7"/>
          </p:cNvCxnSpPr>
          <p:nvPr/>
        </p:nvCxnSpPr>
        <p:spPr bwMode="auto">
          <a:xfrm flipH="1">
            <a:off x="8335567" y="4003255"/>
            <a:ext cx="1011730" cy="831711"/>
          </a:xfrm>
          <a:prstGeom prst="line">
            <a:avLst/>
          </a:prstGeom>
          <a:ln>
            <a:headEnd type="none" w="med" len="med"/>
            <a:tailEnd type="none" w="med" len="med"/>
          </a:ln>
          <a:extLst>
            <a:ext uri="{AF507438-7753-43E0-B8FC-AC1667EBCBE1}">
              <a14:hiddenEffects xmlns:a14="http://schemas.microsoft.com/office/drawing/2010/main">
                <a:effectLst>
                  <a:outerShdw dist="35921" dir="2700000" algn="ctr" rotWithShape="0">
                    <a:schemeClr val="bg2"/>
                  </a:outerShdw>
                </a:effectLst>
              </a14:hiddenEffects>
            </a:ext>
          </a:extLst>
        </p:spPr>
        <p:style>
          <a:lnRef idx="3">
            <a:schemeClr val="dk1"/>
          </a:lnRef>
          <a:fillRef idx="0">
            <a:schemeClr val="dk1"/>
          </a:fillRef>
          <a:effectRef idx="2">
            <a:schemeClr val="dk1"/>
          </a:effectRef>
          <a:fontRef idx="minor">
            <a:schemeClr val="tx1"/>
          </a:fontRef>
        </p:style>
      </p:cxnSp>
      <p:cxnSp>
        <p:nvCxnSpPr>
          <p:cNvPr id="30" name="直接连接符 29">
            <a:extLst>
              <a:ext uri="{FF2B5EF4-FFF2-40B4-BE49-F238E27FC236}">
                <a16:creationId xmlns:a16="http://schemas.microsoft.com/office/drawing/2014/main" id="{00D916C3-FFF7-4A16-B9A4-420D4A388784}"/>
              </a:ext>
            </a:extLst>
          </p:cNvPr>
          <p:cNvCxnSpPr>
            <a:cxnSpLocks/>
            <a:stCxn id="11" idx="4"/>
            <a:endCxn id="7" idx="0"/>
          </p:cNvCxnSpPr>
          <p:nvPr/>
        </p:nvCxnSpPr>
        <p:spPr bwMode="auto">
          <a:xfrm>
            <a:off x="8157356" y="5265205"/>
            <a:ext cx="0" cy="745902"/>
          </a:xfrm>
          <a:prstGeom prst="line">
            <a:avLst/>
          </a:prstGeom>
          <a:ln>
            <a:headEnd type="none" w="med" len="med"/>
            <a:tailEnd type="none" w="med" len="med"/>
          </a:ln>
          <a:extLst>
            <a:ext uri="{AF507438-7753-43E0-B8FC-AC1667EBCBE1}">
              <a14:hiddenEffects xmlns:a14="http://schemas.microsoft.com/office/drawing/2010/main">
                <a:effectLst>
                  <a:outerShdw dist="35921" dir="2700000" algn="ctr" rotWithShape="0">
                    <a:schemeClr val="bg2"/>
                  </a:outerShdw>
                </a:effectLst>
              </a14:hiddenEffects>
            </a:ext>
          </a:extLst>
        </p:spPr>
        <p:style>
          <a:lnRef idx="3">
            <a:schemeClr val="dk1"/>
          </a:lnRef>
          <a:fillRef idx="0">
            <a:schemeClr val="dk1"/>
          </a:fillRef>
          <a:effectRef idx="2">
            <a:schemeClr val="dk1"/>
          </a:effectRef>
          <a:fontRef idx="minor">
            <a:schemeClr val="tx1"/>
          </a:fontRef>
        </p:style>
      </p:cxnSp>
      <p:graphicFrame>
        <p:nvGraphicFramePr>
          <p:cNvPr id="34" name="对象 33">
            <a:extLst>
              <a:ext uri="{FF2B5EF4-FFF2-40B4-BE49-F238E27FC236}">
                <a16:creationId xmlns:a16="http://schemas.microsoft.com/office/drawing/2014/main" id="{85BACB59-6962-49EB-AA86-94417456FB97}"/>
              </a:ext>
            </a:extLst>
          </p:cNvPr>
          <p:cNvGraphicFramePr>
            <a:graphicFrameLocks noChangeAspect="1"/>
          </p:cNvGraphicFramePr>
          <p:nvPr/>
        </p:nvGraphicFramePr>
        <p:xfrm>
          <a:off x="8731611" y="2831570"/>
          <a:ext cx="770288" cy="399408"/>
        </p:xfrm>
        <a:graphic>
          <a:graphicData uri="http://schemas.openxmlformats.org/presentationml/2006/ole">
            <mc:AlternateContent xmlns:mc="http://schemas.openxmlformats.org/markup-compatibility/2006">
              <mc:Choice xmlns:v="urn:schemas-microsoft-com:vml" Requires="v">
                <p:oleObj name="Equation" r:id="rId3" imgW="342720" imgH="177480" progId="Equation.DSMT4">
                  <p:embed/>
                </p:oleObj>
              </mc:Choice>
              <mc:Fallback>
                <p:oleObj name="Equation" r:id="rId3" imgW="342720" imgH="177480" progId="Equation.DSMT4">
                  <p:embed/>
                  <p:pic>
                    <p:nvPicPr>
                      <p:cNvPr id="34" name="对象 33">
                        <a:extLst>
                          <a:ext uri="{FF2B5EF4-FFF2-40B4-BE49-F238E27FC236}">
                            <a16:creationId xmlns:a16="http://schemas.microsoft.com/office/drawing/2014/main" id="{85BACB59-6962-49EB-AA86-94417456FB97}"/>
                          </a:ext>
                        </a:extLst>
                      </p:cNvPr>
                      <p:cNvPicPr/>
                      <p:nvPr/>
                    </p:nvPicPr>
                    <p:blipFill>
                      <a:blip r:embed="rId4"/>
                      <a:stretch>
                        <a:fillRect/>
                      </a:stretch>
                    </p:blipFill>
                    <p:spPr>
                      <a:xfrm>
                        <a:off x="8731611" y="2831570"/>
                        <a:ext cx="770288" cy="399408"/>
                      </a:xfrm>
                      <a:prstGeom prst="rect">
                        <a:avLst/>
                      </a:prstGeom>
                    </p:spPr>
                  </p:pic>
                </p:oleObj>
              </mc:Fallback>
            </mc:AlternateContent>
          </a:graphicData>
        </a:graphic>
      </p:graphicFrame>
      <p:graphicFrame>
        <p:nvGraphicFramePr>
          <p:cNvPr id="37" name="对象 36">
            <a:extLst>
              <a:ext uri="{FF2B5EF4-FFF2-40B4-BE49-F238E27FC236}">
                <a16:creationId xmlns:a16="http://schemas.microsoft.com/office/drawing/2014/main" id="{0AD43457-C483-477A-BD73-4C3C82D00F61}"/>
              </a:ext>
            </a:extLst>
          </p:cNvPr>
          <p:cNvGraphicFramePr>
            <a:graphicFrameLocks noChangeAspect="1"/>
          </p:cNvGraphicFramePr>
          <p:nvPr/>
        </p:nvGraphicFramePr>
        <p:xfrm>
          <a:off x="8686959" y="4476919"/>
          <a:ext cx="770288" cy="399408"/>
        </p:xfrm>
        <a:graphic>
          <a:graphicData uri="http://schemas.openxmlformats.org/presentationml/2006/ole">
            <mc:AlternateContent xmlns:mc="http://schemas.openxmlformats.org/markup-compatibility/2006">
              <mc:Choice xmlns:v="urn:schemas-microsoft-com:vml" Requires="v">
                <p:oleObj name="Equation" r:id="rId5" imgW="342720" imgH="177480" progId="Equation.DSMT4">
                  <p:embed/>
                </p:oleObj>
              </mc:Choice>
              <mc:Fallback>
                <p:oleObj name="Equation" r:id="rId5" imgW="342720" imgH="177480" progId="Equation.DSMT4">
                  <p:embed/>
                  <p:pic>
                    <p:nvPicPr>
                      <p:cNvPr id="37" name="对象 36">
                        <a:extLst>
                          <a:ext uri="{FF2B5EF4-FFF2-40B4-BE49-F238E27FC236}">
                            <a16:creationId xmlns:a16="http://schemas.microsoft.com/office/drawing/2014/main" id="{0AD43457-C483-477A-BD73-4C3C82D00F61}"/>
                          </a:ext>
                        </a:extLst>
                      </p:cNvPr>
                      <p:cNvPicPr/>
                      <p:nvPr/>
                    </p:nvPicPr>
                    <p:blipFill>
                      <a:blip r:embed="rId4"/>
                      <a:stretch>
                        <a:fillRect/>
                      </a:stretch>
                    </p:blipFill>
                    <p:spPr>
                      <a:xfrm>
                        <a:off x="8686959" y="4476919"/>
                        <a:ext cx="770288" cy="399408"/>
                      </a:xfrm>
                      <a:prstGeom prst="rect">
                        <a:avLst/>
                      </a:prstGeom>
                    </p:spPr>
                  </p:pic>
                </p:oleObj>
              </mc:Fallback>
            </mc:AlternateContent>
          </a:graphicData>
        </a:graphic>
      </p:graphicFrame>
      <p:graphicFrame>
        <p:nvGraphicFramePr>
          <p:cNvPr id="38" name="对象 37">
            <a:extLst>
              <a:ext uri="{FF2B5EF4-FFF2-40B4-BE49-F238E27FC236}">
                <a16:creationId xmlns:a16="http://schemas.microsoft.com/office/drawing/2014/main" id="{9294A2B9-BAF4-4260-8191-29148281E393}"/>
              </a:ext>
            </a:extLst>
          </p:cNvPr>
          <p:cNvGraphicFramePr>
            <a:graphicFrameLocks noChangeAspect="1"/>
          </p:cNvGraphicFramePr>
          <p:nvPr/>
        </p:nvGraphicFramePr>
        <p:xfrm>
          <a:off x="6658563" y="2926139"/>
          <a:ext cx="1084263" cy="398462"/>
        </p:xfrm>
        <a:graphic>
          <a:graphicData uri="http://schemas.openxmlformats.org/presentationml/2006/ole">
            <mc:AlternateContent xmlns:mc="http://schemas.openxmlformats.org/markup-compatibility/2006">
              <mc:Choice xmlns:v="urn:schemas-microsoft-com:vml" Requires="v">
                <p:oleObj name="Equation" r:id="rId6" imgW="482400" imgH="177480" progId="Equation.DSMT4">
                  <p:embed/>
                </p:oleObj>
              </mc:Choice>
              <mc:Fallback>
                <p:oleObj name="Equation" r:id="rId6" imgW="482400" imgH="177480" progId="Equation.DSMT4">
                  <p:embed/>
                  <p:pic>
                    <p:nvPicPr>
                      <p:cNvPr id="38" name="对象 37">
                        <a:extLst>
                          <a:ext uri="{FF2B5EF4-FFF2-40B4-BE49-F238E27FC236}">
                            <a16:creationId xmlns:a16="http://schemas.microsoft.com/office/drawing/2014/main" id="{9294A2B9-BAF4-4260-8191-29148281E393}"/>
                          </a:ext>
                        </a:extLst>
                      </p:cNvPr>
                      <p:cNvPicPr/>
                      <p:nvPr/>
                    </p:nvPicPr>
                    <p:blipFill>
                      <a:blip r:embed="rId7"/>
                      <a:stretch>
                        <a:fillRect/>
                      </a:stretch>
                    </p:blipFill>
                    <p:spPr>
                      <a:xfrm>
                        <a:off x="6658563" y="2926139"/>
                        <a:ext cx="1084263" cy="398462"/>
                      </a:xfrm>
                      <a:prstGeom prst="rect">
                        <a:avLst/>
                      </a:prstGeom>
                    </p:spPr>
                  </p:pic>
                </p:oleObj>
              </mc:Fallback>
            </mc:AlternateContent>
          </a:graphicData>
        </a:graphic>
      </p:graphicFrame>
      <p:graphicFrame>
        <p:nvGraphicFramePr>
          <p:cNvPr id="39" name="对象 38">
            <a:extLst>
              <a:ext uri="{FF2B5EF4-FFF2-40B4-BE49-F238E27FC236}">
                <a16:creationId xmlns:a16="http://schemas.microsoft.com/office/drawing/2014/main" id="{F78288CA-41A6-4CB8-BE51-6A2BD06CC17C}"/>
              </a:ext>
            </a:extLst>
          </p:cNvPr>
          <p:cNvGraphicFramePr>
            <a:graphicFrameLocks noChangeAspect="1"/>
          </p:cNvGraphicFramePr>
          <p:nvPr/>
        </p:nvGraphicFramePr>
        <p:xfrm>
          <a:off x="6606271" y="4397978"/>
          <a:ext cx="1084263" cy="398462"/>
        </p:xfrm>
        <a:graphic>
          <a:graphicData uri="http://schemas.openxmlformats.org/presentationml/2006/ole">
            <mc:AlternateContent xmlns:mc="http://schemas.openxmlformats.org/markup-compatibility/2006">
              <mc:Choice xmlns:v="urn:schemas-microsoft-com:vml" Requires="v">
                <p:oleObj name="Equation" r:id="rId8" imgW="482400" imgH="177480" progId="Equation.DSMT4">
                  <p:embed/>
                </p:oleObj>
              </mc:Choice>
              <mc:Fallback>
                <p:oleObj name="Equation" r:id="rId8" imgW="482400" imgH="177480" progId="Equation.DSMT4">
                  <p:embed/>
                  <p:pic>
                    <p:nvPicPr>
                      <p:cNvPr id="39" name="对象 38">
                        <a:extLst>
                          <a:ext uri="{FF2B5EF4-FFF2-40B4-BE49-F238E27FC236}">
                            <a16:creationId xmlns:a16="http://schemas.microsoft.com/office/drawing/2014/main" id="{F78288CA-41A6-4CB8-BE51-6A2BD06CC17C}"/>
                          </a:ext>
                        </a:extLst>
                      </p:cNvPr>
                      <p:cNvPicPr/>
                      <p:nvPr/>
                    </p:nvPicPr>
                    <p:blipFill>
                      <a:blip r:embed="rId7"/>
                      <a:stretch>
                        <a:fillRect/>
                      </a:stretch>
                    </p:blipFill>
                    <p:spPr>
                      <a:xfrm>
                        <a:off x="6606271" y="4397978"/>
                        <a:ext cx="1084263" cy="398462"/>
                      </a:xfrm>
                      <a:prstGeom prst="rect">
                        <a:avLst/>
                      </a:prstGeom>
                    </p:spPr>
                  </p:pic>
                </p:oleObj>
              </mc:Fallback>
            </mc:AlternateContent>
          </a:graphicData>
        </a:graphic>
      </p:graphicFrame>
      <p:sp>
        <p:nvSpPr>
          <p:cNvPr id="40" name="文本框 39">
            <a:extLst>
              <a:ext uri="{FF2B5EF4-FFF2-40B4-BE49-F238E27FC236}">
                <a16:creationId xmlns:a16="http://schemas.microsoft.com/office/drawing/2014/main" id="{682ED1D3-4BF5-45E3-8272-EACD1DF0C604}"/>
              </a:ext>
            </a:extLst>
          </p:cNvPr>
          <p:cNvSpPr txBox="1"/>
          <p:nvPr/>
        </p:nvSpPr>
        <p:spPr>
          <a:xfrm>
            <a:off x="8473261" y="1357800"/>
            <a:ext cx="800219" cy="461665"/>
          </a:xfrm>
          <a:prstGeom prst="rect">
            <a:avLst/>
          </a:prstGeom>
          <a:noFill/>
        </p:spPr>
        <p:txBody>
          <a:bodyPr wrap="none" rtlCol="0">
            <a:spAutoFit/>
          </a:bodyPr>
          <a:lstStyle/>
          <a:p>
            <a:r>
              <a:rPr lang="zh-CN" altLang="en-US" sz="2400" dirty="0"/>
              <a:t>蚁穴</a:t>
            </a:r>
          </a:p>
        </p:txBody>
      </p:sp>
      <p:sp>
        <p:nvSpPr>
          <p:cNvPr id="41" name="文本框 40">
            <a:extLst>
              <a:ext uri="{FF2B5EF4-FFF2-40B4-BE49-F238E27FC236}">
                <a16:creationId xmlns:a16="http://schemas.microsoft.com/office/drawing/2014/main" id="{DFA6DB5A-29B0-4D63-905B-34EA8605FB68}"/>
              </a:ext>
            </a:extLst>
          </p:cNvPr>
          <p:cNvSpPr txBox="1"/>
          <p:nvPr/>
        </p:nvSpPr>
        <p:spPr>
          <a:xfrm>
            <a:off x="8462924" y="6053498"/>
            <a:ext cx="1107996" cy="461665"/>
          </a:xfrm>
          <a:prstGeom prst="rect">
            <a:avLst/>
          </a:prstGeom>
          <a:noFill/>
        </p:spPr>
        <p:txBody>
          <a:bodyPr wrap="none" rtlCol="0">
            <a:spAutoFit/>
          </a:bodyPr>
          <a:lstStyle/>
          <a:p>
            <a:r>
              <a:rPr lang="zh-CN" altLang="en-US" sz="2400" dirty="0"/>
              <a:t>食物源</a:t>
            </a:r>
          </a:p>
        </p:txBody>
      </p:sp>
      <p:sp>
        <p:nvSpPr>
          <p:cNvPr id="43" name="文本框 42">
            <a:extLst>
              <a:ext uri="{FF2B5EF4-FFF2-40B4-BE49-F238E27FC236}">
                <a16:creationId xmlns:a16="http://schemas.microsoft.com/office/drawing/2014/main" id="{305FAA06-A078-4CD5-ABFE-15AAA87A4CF0}"/>
              </a:ext>
            </a:extLst>
          </p:cNvPr>
          <p:cNvSpPr txBox="1"/>
          <p:nvPr/>
        </p:nvSpPr>
        <p:spPr>
          <a:xfrm>
            <a:off x="8709912" y="3049345"/>
            <a:ext cx="835485" cy="461665"/>
          </a:xfrm>
          <a:prstGeom prst="rect">
            <a:avLst/>
          </a:prstGeom>
          <a:noFill/>
        </p:spPr>
        <p:txBody>
          <a:bodyPr wrap="none" rtlCol="0">
            <a:spAutoFit/>
          </a:bodyPr>
          <a:lstStyle/>
          <a:p>
            <a:r>
              <a:rPr lang="en-US" altLang="zh-CN" sz="2400" dirty="0">
                <a:solidFill>
                  <a:srgbClr val="FF0000"/>
                </a:solidFill>
              </a:rPr>
              <a:t>15</a:t>
            </a:r>
            <a:r>
              <a:rPr lang="zh-CN" altLang="en-US" sz="2400" dirty="0">
                <a:solidFill>
                  <a:srgbClr val="FF0000"/>
                </a:solidFill>
              </a:rPr>
              <a:t>只</a:t>
            </a:r>
            <a:endParaRPr lang="zh-CN" altLang="en-US" sz="2400" dirty="0">
              <a:solidFill>
                <a:srgbClr val="0000FF"/>
              </a:solidFill>
            </a:endParaRPr>
          </a:p>
        </p:txBody>
      </p:sp>
      <p:pic>
        <p:nvPicPr>
          <p:cNvPr id="44" name="20 43">
            <a:extLst>
              <a:ext uri="{FF2B5EF4-FFF2-40B4-BE49-F238E27FC236}">
                <a16:creationId xmlns:a16="http://schemas.microsoft.com/office/drawing/2014/main" id="{E6BEA372-CE59-4072-886C-5E1BAB96883B}"/>
              </a:ext>
            </a:extLst>
          </p:cNvPr>
          <p:cNvPicPr>
            <a:picLocks noChangeAspect="1"/>
          </p:cNvPicPr>
          <p:nvPr/>
        </p:nvPicPr>
        <p:blipFill>
          <a:blip r:embed="rId2"/>
          <a:stretch>
            <a:fillRect/>
          </a:stretch>
        </p:blipFill>
        <p:spPr>
          <a:xfrm>
            <a:off x="7596601" y="2054266"/>
            <a:ext cx="462809" cy="461666"/>
          </a:xfrm>
          <a:prstGeom prst="rect">
            <a:avLst/>
          </a:prstGeom>
        </p:spPr>
      </p:pic>
      <p:sp>
        <p:nvSpPr>
          <p:cNvPr id="45" name="文本框 44">
            <a:extLst>
              <a:ext uri="{FF2B5EF4-FFF2-40B4-BE49-F238E27FC236}">
                <a16:creationId xmlns:a16="http://schemas.microsoft.com/office/drawing/2014/main" id="{4FCC86C6-3D2D-4E78-96ED-9AA5264C6D01}"/>
              </a:ext>
            </a:extLst>
          </p:cNvPr>
          <p:cNvSpPr txBox="1"/>
          <p:nvPr/>
        </p:nvSpPr>
        <p:spPr>
          <a:xfrm>
            <a:off x="6836362" y="2114108"/>
            <a:ext cx="835485" cy="461665"/>
          </a:xfrm>
          <a:prstGeom prst="rect">
            <a:avLst/>
          </a:prstGeom>
          <a:noFill/>
        </p:spPr>
        <p:txBody>
          <a:bodyPr wrap="none" rtlCol="0">
            <a:spAutoFit/>
          </a:bodyPr>
          <a:lstStyle/>
          <a:p>
            <a:r>
              <a:rPr lang="en-US" altLang="zh-CN" sz="2400" dirty="0">
                <a:solidFill>
                  <a:srgbClr val="0000FF"/>
                </a:solidFill>
              </a:rPr>
              <a:t>15</a:t>
            </a:r>
            <a:r>
              <a:rPr lang="zh-CN" altLang="en-US" sz="2400" dirty="0">
                <a:solidFill>
                  <a:srgbClr val="0000FF"/>
                </a:solidFill>
              </a:rPr>
              <a:t>只</a:t>
            </a:r>
          </a:p>
        </p:txBody>
      </p:sp>
      <p:sp>
        <p:nvSpPr>
          <p:cNvPr id="27" name="文本框 26">
            <a:extLst>
              <a:ext uri="{FF2B5EF4-FFF2-40B4-BE49-F238E27FC236}">
                <a16:creationId xmlns:a16="http://schemas.microsoft.com/office/drawing/2014/main" id="{DAD1AF53-ED5A-40FE-9A68-CF8539E82459}"/>
              </a:ext>
            </a:extLst>
          </p:cNvPr>
          <p:cNvSpPr txBox="1"/>
          <p:nvPr/>
        </p:nvSpPr>
        <p:spPr>
          <a:xfrm>
            <a:off x="148538" y="1161770"/>
            <a:ext cx="6478903" cy="4893647"/>
          </a:xfrm>
          <a:prstGeom prst="rect">
            <a:avLst/>
          </a:prstGeom>
          <a:noFill/>
        </p:spPr>
        <p:txBody>
          <a:bodyPr wrap="square" rtlCol="0">
            <a:spAutoFit/>
          </a:bodyPr>
          <a:lstStyle/>
          <a:p>
            <a:r>
              <a:rPr lang="zh-CN" altLang="en-US" sz="2400" dirty="0"/>
              <a:t>时刻</a:t>
            </a:r>
            <a:r>
              <a:rPr lang="en-US" altLang="zh-CN" sz="2400" dirty="0"/>
              <a:t>2</a:t>
            </a:r>
          </a:p>
          <a:p>
            <a:endParaRPr lang="en-US" altLang="zh-CN" sz="2400" dirty="0"/>
          </a:p>
          <a:p>
            <a:r>
              <a:rPr lang="zh-CN" altLang="en-US" sz="2400" dirty="0"/>
              <a:t>从</a:t>
            </a:r>
            <a:r>
              <a:rPr lang="en-US" altLang="zh-CN" sz="2400" dirty="0"/>
              <a:t>B</a:t>
            </a:r>
            <a:r>
              <a:rPr lang="zh-CN" altLang="en-US" sz="2400" dirty="0"/>
              <a:t>点出发走</a:t>
            </a:r>
            <a:r>
              <a:rPr lang="en-US" altLang="zh-CN" sz="2400" dirty="0"/>
              <a:t>BCD</a:t>
            </a:r>
            <a:r>
              <a:rPr lang="zh-CN" altLang="en-US" sz="2400" dirty="0"/>
              <a:t>的</a:t>
            </a:r>
            <a:r>
              <a:rPr lang="en-US" altLang="zh-CN" sz="2400" dirty="0"/>
              <a:t>15</a:t>
            </a:r>
            <a:r>
              <a:rPr lang="zh-CN" altLang="en-US" sz="2400" dirty="0"/>
              <a:t>只蚂蚁到达了</a:t>
            </a:r>
            <a:r>
              <a:rPr lang="en-US" altLang="zh-CN" sz="2400" dirty="0"/>
              <a:t>D, </a:t>
            </a:r>
            <a:r>
              <a:rPr lang="zh-CN" altLang="en-US" sz="2400" dirty="0"/>
              <a:t>另外</a:t>
            </a:r>
            <a:r>
              <a:rPr lang="en-US" altLang="zh-CN" sz="2400" dirty="0"/>
              <a:t>15</a:t>
            </a:r>
            <a:r>
              <a:rPr lang="zh-CN" altLang="en-US" sz="2400" dirty="0"/>
              <a:t>只走</a:t>
            </a:r>
            <a:r>
              <a:rPr lang="en-US" altLang="zh-CN" sz="2400" dirty="0"/>
              <a:t>BHD</a:t>
            </a:r>
            <a:r>
              <a:rPr lang="zh-CN" altLang="en-US" sz="2400" dirty="0"/>
              <a:t>的到达了</a:t>
            </a:r>
            <a:r>
              <a:rPr lang="en-US" altLang="zh-CN" sz="2400" dirty="0"/>
              <a:t>H</a:t>
            </a:r>
            <a:r>
              <a:rPr lang="zh-CN" altLang="en-US" sz="2400" dirty="0"/>
              <a:t>。</a:t>
            </a:r>
            <a:endParaRPr lang="en-US" altLang="zh-CN" sz="2400" dirty="0"/>
          </a:p>
          <a:p>
            <a:r>
              <a:rPr lang="zh-CN" altLang="en-US" sz="2400" dirty="0"/>
              <a:t>同理，</a:t>
            </a:r>
            <a:r>
              <a:rPr lang="en-US" altLang="zh-CN" sz="2400" dirty="0"/>
              <a:t>D</a:t>
            </a:r>
            <a:r>
              <a:rPr lang="zh-CN" altLang="en-US" sz="2400" dirty="0"/>
              <a:t>点出发走</a:t>
            </a:r>
            <a:r>
              <a:rPr lang="en-US" altLang="zh-CN" sz="2400" dirty="0"/>
              <a:t>DCB</a:t>
            </a:r>
            <a:r>
              <a:rPr lang="zh-CN" altLang="en-US" sz="2400" dirty="0"/>
              <a:t>的</a:t>
            </a:r>
            <a:r>
              <a:rPr lang="en-US" altLang="zh-CN" sz="2400" dirty="0"/>
              <a:t>15</a:t>
            </a:r>
            <a:r>
              <a:rPr lang="zh-CN" altLang="en-US" sz="2400" dirty="0"/>
              <a:t>只蚂蚁到了</a:t>
            </a:r>
            <a:r>
              <a:rPr lang="en-US" altLang="zh-CN" sz="2400" dirty="0"/>
              <a:t>B</a:t>
            </a:r>
            <a:r>
              <a:rPr lang="zh-CN" altLang="en-US" sz="2400" dirty="0"/>
              <a:t>，另外</a:t>
            </a:r>
            <a:r>
              <a:rPr lang="en-US" altLang="zh-CN" sz="2400" dirty="0"/>
              <a:t>15</a:t>
            </a:r>
            <a:r>
              <a:rPr lang="zh-CN" altLang="en-US" sz="2400" dirty="0"/>
              <a:t>只走</a:t>
            </a:r>
            <a:r>
              <a:rPr lang="en-US" altLang="zh-CN" sz="2400" dirty="0"/>
              <a:t>DHB</a:t>
            </a:r>
            <a:r>
              <a:rPr lang="zh-CN" altLang="en-US" sz="2400" dirty="0"/>
              <a:t>的到达了</a:t>
            </a:r>
            <a:r>
              <a:rPr lang="en-US" altLang="zh-CN" sz="2400" dirty="0"/>
              <a:t>H</a:t>
            </a:r>
            <a:r>
              <a:rPr lang="zh-CN" altLang="en-US" sz="2400" dirty="0"/>
              <a:t>。</a:t>
            </a:r>
            <a:endParaRPr lang="en-US" altLang="zh-CN" sz="2400" dirty="0"/>
          </a:p>
          <a:p>
            <a:r>
              <a:rPr lang="zh-CN" altLang="en-US" sz="2400" dirty="0"/>
              <a:t>因此，这些蚂蚁分别给路径</a:t>
            </a:r>
            <a:r>
              <a:rPr lang="en-US" altLang="zh-CN" sz="2400" dirty="0"/>
              <a:t>B-C</a:t>
            </a:r>
            <a:r>
              <a:rPr lang="zh-CN" altLang="en-US" sz="2400" dirty="0"/>
              <a:t>，</a:t>
            </a:r>
            <a:r>
              <a:rPr lang="en-US" altLang="zh-CN" sz="2400" dirty="0"/>
              <a:t>C-D</a:t>
            </a:r>
            <a:r>
              <a:rPr lang="zh-CN" altLang="en-US" sz="2400" dirty="0"/>
              <a:t>，</a:t>
            </a:r>
            <a:r>
              <a:rPr lang="en-US" altLang="zh-CN" sz="2400" dirty="0"/>
              <a:t>B-H</a:t>
            </a:r>
            <a:r>
              <a:rPr lang="zh-CN" altLang="en-US" sz="2400" dirty="0"/>
              <a:t>、</a:t>
            </a:r>
            <a:r>
              <a:rPr lang="en-US" altLang="zh-CN" sz="2400" dirty="0"/>
              <a:t>HD</a:t>
            </a:r>
            <a:r>
              <a:rPr lang="zh-CN" altLang="en-US" sz="2400" dirty="0"/>
              <a:t>释放了一份信息素，具体如下：</a:t>
            </a:r>
            <a:endParaRPr lang="en-US" altLang="zh-CN" sz="2400" dirty="0"/>
          </a:p>
          <a:p>
            <a:r>
              <a:rPr lang="en-US" altLang="zh-CN" sz="2400" dirty="0"/>
              <a:t>B-C</a:t>
            </a:r>
            <a:r>
              <a:rPr lang="zh-CN" altLang="en-US" sz="2400" dirty="0"/>
              <a:t>信息素：</a:t>
            </a:r>
            <a:r>
              <a:rPr lang="en-US" altLang="zh-CN" sz="2400" dirty="0"/>
              <a:t>15</a:t>
            </a:r>
            <a:r>
              <a:rPr lang="zh-CN" altLang="en-US" sz="2400" dirty="0"/>
              <a:t>份</a:t>
            </a:r>
            <a:r>
              <a:rPr lang="en-US" altLang="zh-CN" sz="2400" dirty="0"/>
              <a:t>+15</a:t>
            </a:r>
            <a:r>
              <a:rPr lang="zh-CN" altLang="en-US" sz="2400" dirty="0"/>
              <a:t>分</a:t>
            </a:r>
            <a:r>
              <a:rPr lang="en-US" altLang="zh-CN" sz="2400" dirty="0"/>
              <a:t>=30</a:t>
            </a:r>
            <a:r>
              <a:rPr lang="zh-CN" altLang="en-US" sz="2400" dirty="0"/>
              <a:t>份</a:t>
            </a:r>
            <a:endParaRPr lang="en-US" altLang="zh-CN" sz="2400" dirty="0"/>
          </a:p>
          <a:p>
            <a:r>
              <a:rPr lang="en-US" altLang="zh-CN" sz="2400" dirty="0"/>
              <a:t>C-D</a:t>
            </a:r>
            <a:r>
              <a:rPr lang="zh-CN" altLang="en-US" sz="2400" dirty="0"/>
              <a:t>信息素：</a:t>
            </a:r>
            <a:r>
              <a:rPr lang="en-US" altLang="zh-CN" sz="2400" dirty="0"/>
              <a:t>15</a:t>
            </a:r>
            <a:r>
              <a:rPr lang="zh-CN" altLang="en-US" sz="2400" dirty="0"/>
              <a:t>份</a:t>
            </a:r>
            <a:r>
              <a:rPr lang="en-US" altLang="zh-CN" sz="2400" dirty="0"/>
              <a:t>+15</a:t>
            </a:r>
            <a:r>
              <a:rPr lang="zh-CN" altLang="en-US" sz="2400" dirty="0"/>
              <a:t>分</a:t>
            </a:r>
            <a:r>
              <a:rPr lang="en-US" altLang="zh-CN" sz="2400" dirty="0"/>
              <a:t>=30</a:t>
            </a:r>
            <a:r>
              <a:rPr lang="zh-CN" altLang="en-US" sz="2400" dirty="0"/>
              <a:t>份</a:t>
            </a:r>
            <a:endParaRPr lang="en-US" altLang="zh-CN" sz="2400" dirty="0"/>
          </a:p>
          <a:p>
            <a:r>
              <a:rPr lang="en-US" altLang="zh-CN" sz="2400" dirty="0"/>
              <a:t>B-H</a:t>
            </a:r>
            <a:r>
              <a:rPr lang="zh-CN" altLang="en-US" sz="2400" dirty="0"/>
              <a:t>信息素：</a:t>
            </a:r>
            <a:r>
              <a:rPr lang="en-US" altLang="zh-CN" sz="2400" dirty="0"/>
              <a:t>15</a:t>
            </a:r>
            <a:r>
              <a:rPr lang="zh-CN" altLang="en-US" sz="2400" dirty="0"/>
              <a:t>份</a:t>
            </a:r>
            <a:endParaRPr lang="en-US" altLang="zh-CN" sz="2400" dirty="0"/>
          </a:p>
          <a:p>
            <a:r>
              <a:rPr lang="en-US" altLang="zh-CN" sz="2400" dirty="0"/>
              <a:t>H-D</a:t>
            </a:r>
            <a:r>
              <a:rPr lang="zh-CN" altLang="en-US" sz="2400" dirty="0"/>
              <a:t>信息素：</a:t>
            </a:r>
            <a:r>
              <a:rPr lang="en-US" altLang="zh-CN" sz="2400" dirty="0"/>
              <a:t>15</a:t>
            </a:r>
            <a:r>
              <a:rPr lang="zh-CN" altLang="en-US" sz="2400" dirty="0"/>
              <a:t>份</a:t>
            </a:r>
            <a:endParaRPr lang="en-US" altLang="zh-CN" sz="2400" dirty="0"/>
          </a:p>
          <a:p>
            <a:endParaRPr lang="en-US" altLang="zh-CN" sz="2400" dirty="0"/>
          </a:p>
        </p:txBody>
      </p:sp>
      <p:pic>
        <p:nvPicPr>
          <p:cNvPr id="28" name="20 27">
            <a:extLst>
              <a:ext uri="{FF2B5EF4-FFF2-40B4-BE49-F238E27FC236}">
                <a16:creationId xmlns:a16="http://schemas.microsoft.com/office/drawing/2014/main" id="{F993C398-C785-404C-91AB-79AC0E82EE47}"/>
              </a:ext>
            </a:extLst>
          </p:cNvPr>
          <p:cNvPicPr>
            <a:picLocks noChangeAspect="1"/>
          </p:cNvPicPr>
          <p:nvPr/>
        </p:nvPicPr>
        <p:blipFill>
          <a:blip r:embed="rId2"/>
          <a:stretch>
            <a:fillRect/>
          </a:stretch>
        </p:blipFill>
        <p:spPr>
          <a:xfrm>
            <a:off x="7398277" y="4771786"/>
            <a:ext cx="462809" cy="461666"/>
          </a:xfrm>
          <a:prstGeom prst="rect">
            <a:avLst/>
          </a:prstGeom>
        </p:spPr>
      </p:pic>
      <p:sp>
        <p:nvSpPr>
          <p:cNvPr id="29" name="文本框 28">
            <a:extLst>
              <a:ext uri="{FF2B5EF4-FFF2-40B4-BE49-F238E27FC236}">
                <a16:creationId xmlns:a16="http://schemas.microsoft.com/office/drawing/2014/main" id="{8D264C4C-A66F-438C-9F4D-9BD504DD4527}"/>
              </a:ext>
            </a:extLst>
          </p:cNvPr>
          <p:cNvSpPr txBox="1"/>
          <p:nvPr/>
        </p:nvSpPr>
        <p:spPr>
          <a:xfrm>
            <a:off x="6629623" y="4820448"/>
            <a:ext cx="835485" cy="461665"/>
          </a:xfrm>
          <a:prstGeom prst="rect">
            <a:avLst/>
          </a:prstGeom>
          <a:noFill/>
        </p:spPr>
        <p:txBody>
          <a:bodyPr wrap="none" rtlCol="0">
            <a:spAutoFit/>
          </a:bodyPr>
          <a:lstStyle/>
          <a:p>
            <a:r>
              <a:rPr lang="en-US" altLang="zh-CN" sz="2400" dirty="0">
                <a:solidFill>
                  <a:srgbClr val="FF0000"/>
                </a:solidFill>
              </a:rPr>
              <a:t>15</a:t>
            </a:r>
            <a:r>
              <a:rPr lang="zh-CN" altLang="en-US" sz="2400" dirty="0">
                <a:solidFill>
                  <a:srgbClr val="FF0000"/>
                </a:solidFill>
              </a:rPr>
              <a:t>只</a:t>
            </a:r>
          </a:p>
        </p:txBody>
      </p:sp>
      <p:cxnSp>
        <p:nvCxnSpPr>
          <p:cNvPr id="31" name="直接箭头连接符 30">
            <a:extLst>
              <a:ext uri="{FF2B5EF4-FFF2-40B4-BE49-F238E27FC236}">
                <a16:creationId xmlns:a16="http://schemas.microsoft.com/office/drawing/2014/main" id="{92C72A69-6513-4D14-8FB8-3E355F534442}"/>
              </a:ext>
            </a:extLst>
          </p:cNvPr>
          <p:cNvCxnSpPr>
            <a:cxnSpLocks/>
          </p:cNvCxnSpPr>
          <p:nvPr/>
        </p:nvCxnSpPr>
        <p:spPr bwMode="auto">
          <a:xfrm flipH="1">
            <a:off x="7528878" y="3049345"/>
            <a:ext cx="576064" cy="521259"/>
          </a:xfrm>
          <a:prstGeom prst="straightConnector1">
            <a:avLst/>
          </a:prstGeom>
          <a:solidFill>
            <a:schemeClr val="accent1"/>
          </a:solidFill>
          <a:ln w="28575" cap="flat" cmpd="sng" algn="ctr">
            <a:solidFill>
              <a:srgbClr val="C00000"/>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2" name="直接箭头连接符 31">
            <a:extLst>
              <a:ext uri="{FF2B5EF4-FFF2-40B4-BE49-F238E27FC236}">
                <a16:creationId xmlns:a16="http://schemas.microsoft.com/office/drawing/2014/main" id="{DD13FD9E-112E-4D32-97E8-EB30B6D6E446}"/>
              </a:ext>
            </a:extLst>
          </p:cNvPr>
          <p:cNvCxnSpPr>
            <a:cxnSpLocks/>
          </p:cNvCxnSpPr>
          <p:nvPr/>
        </p:nvCxnSpPr>
        <p:spPr bwMode="auto">
          <a:xfrm>
            <a:off x="7495444" y="4070503"/>
            <a:ext cx="546528" cy="684075"/>
          </a:xfrm>
          <a:prstGeom prst="straightConnector1">
            <a:avLst/>
          </a:prstGeom>
          <a:solidFill>
            <a:schemeClr val="accent1"/>
          </a:solidFill>
          <a:ln w="28575" cap="flat" cmpd="sng" algn="ctr">
            <a:solidFill>
              <a:srgbClr val="C00000"/>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3" name="直接箭头连接符 32">
            <a:extLst>
              <a:ext uri="{FF2B5EF4-FFF2-40B4-BE49-F238E27FC236}">
                <a16:creationId xmlns:a16="http://schemas.microsoft.com/office/drawing/2014/main" id="{111E5796-5F20-44B8-817A-C49A0E6FA896}"/>
              </a:ext>
            </a:extLst>
          </p:cNvPr>
          <p:cNvCxnSpPr>
            <a:cxnSpLocks/>
          </p:cNvCxnSpPr>
          <p:nvPr/>
        </p:nvCxnSpPr>
        <p:spPr bwMode="auto">
          <a:xfrm>
            <a:off x="8338237" y="3125386"/>
            <a:ext cx="855426" cy="554443"/>
          </a:xfrm>
          <a:prstGeom prst="straightConnector1">
            <a:avLst/>
          </a:prstGeom>
          <a:solidFill>
            <a:schemeClr val="accent1"/>
          </a:solidFill>
          <a:ln w="28575" cap="flat" cmpd="sng" algn="ctr">
            <a:solidFill>
              <a:srgbClr val="C00000"/>
            </a:solidFill>
            <a:prstDash val="dash"/>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5" name="直接箭头连接符 34">
            <a:extLst>
              <a:ext uri="{FF2B5EF4-FFF2-40B4-BE49-F238E27FC236}">
                <a16:creationId xmlns:a16="http://schemas.microsoft.com/office/drawing/2014/main" id="{AD76073F-6E3B-426C-ADA3-ADCD84606A05}"/>
              </a:ext>
            </a:extLst>
          </p:cNvPr>
          <p:cNvCxnSpPr>
            <a:cxnSpLocks/>
          </p:cNvCxnSpPr>
          <p:nvPr/>
        </p:nvCxnSpPr>
        <p:spPr bwMode="auto">
          <a:xfrm flipH="1">
            <a:off x="7617296" y="3124848"/>
            <a:ext cx="576064" cy="521259"/>
          </a:xfrm>
          <a:prstGeom prst="straightConnector1">
            <a:avLst/>
          </a:prstGeom>
          <a:solidFill>
            <a:schemeClr val="accent1"/>
          </a:solidFill>
          <a:ln w="28575" cap="flat" cmpd="sng" algn="ctr">
            <a:solidFill>
              <a:srgbClr val="0000FF"/>
            </a:solidFill>
            <a:prstDash val="solid"/>
            <a:round/>
            <a:headEnd type="triangl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6" name="直接箭头连接符 35">
            <a:extLst>
              <a:ext uri="{FF2B5EF4-FFF2-40B4-BE49-F238E27FC236}">
                <a16:creationId xmlns:a16="http://schemas.microsoft.com/office/drawing/2014/main" id="{8E4409C1-8C12-4270-9E4B-873152D235B3}"/>
              </a:ext>
            </a:extLst>
          </p:cNvPr>
          <p:cNvCxnSpPr>
            <a:cxnSpLocks/>
          </p:cNvCxnSpPr>
          <p:nvPr/>
        </p:nvCxnSpPr>
        <p:spPr bwMode="auto">
          <a:xfrm>
            <a:off x="7579118" y="3961791"/>
            <a:ext cx="546528" cy="684075"/>
          </a:xfrm>
          <a:prstGeom prst="straightConnector1">
            <a:avLst/>
          </a:prstGeom>
          <a:solidFill>
            <a:schemeClr val="accent1"/>
          </a:solidFill>
          <a:ln w="28575" cap="flat" cmpd="sng" algn="ctr">
            <a:solidFill>
              <a:srgbClr val="0000FF"/>
            </a:solidFill>
            <a:prstDash val="solid"/>
            <a:round/>
            <a:headEnd type="triangl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46" name="直接箭头连接符 45">
            <a:extLst>
              <a:ext uri="{FF2B5EF4-FFF2-40B4-BE49-F238E27FC236}">
                <a16:creationId xmlns:a16="http://schemas.microsoft.com/office/drawing/2014/main" id="{E86098F1-2D30-463D-830D-2579E1328323}"/>
              </a:ext>
            </a:extLst>
          </p:cNvPr>
          <p:cNvCxnSpPr>
            <a:cxnSpLocks/>
          </p:cNvCxnSpPr>
          <p:nvPr/>
        </p:nvCxnSpPr>
        <p:spPr bwMode="auto">
          <a:xfrm flipH="1">
            <a:off x="8272162" y="3961791"/>
            <a:ext cx="885256" cy="765508"/>
          </a:xfrm>
          <a:prstGeom prst="straightConnector1">
            <a:avLst/>
          </a:prstGeom>
          <a:solidFill>
            <a:schemeClr val="accent1"/>
          </a:solidFill>
          <a:ln w="28575" cap="flat" cmpd="sng" algn="ctr">
            <a:solidFill>
              <a:srgbClr val="0000FF"/>
            </a:solidFill>
            <a:prstDash val="dash"/>
            <a:round/>
            <a:headEnd type="triangl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pic>
        <p:nvPicPr>
          <p:cNvPr id="47" name="20 46">
            <a:extLst>
              <a:ext uri="{FF2B5EF4-FFF2-40B4-BE49-F238E27FC236}">
                <a16:creationId xmlns:a16="http://schemas.microsoft.com/office/drawing/2014/main" id="{1F5D177F-5BBF-475E-BF7E-4ED71338486A}"/>
              </a:ext>
            </a:extLst>
          </p:cNvPr>
          <p:cNvPicPr>
            <a:picLocks noChangeAspect="1"/>
          </p:cNvPicPr>
          <p:nvPr/>
        </p:nvPicPr>
        <p:blipFill>
          <a:blip r:embed="rId2"/>
          <a:stretch>
            <a:fillRect/>
          </a:stretch>
        </p:blipFill>
        <p:spPr>
          <a:xfrm>
            <a:off x="9410096" y="4174995"/>
            <a:ext cx="462809" cy="461666"/>
          </a:xfrm>
          <a:prstGeom prst="rect">
            <a:avLst/>
          </a:prstGeom>
        </p:spPr>
      </p:pic>
      <p:sp>
        <p:nvSpPr>
          <p:cNvPr id="48" name="文本框 47">
            <a:extLst>
              <a:ext uri="{FF2B5EF4-FFF2-40B4-BE49-F238E27FC236}">
                <a16:creationId xmlns:a16="http://schemas.microsoft.com/office/drawing/2014/main" id="{8FC9C35E-A9C2-4355-BEF9-DA82ACDD010C}"/>
              </a:ext>
            </a:extLst>
          </p:cNvPr>
          <p:cNvSpPr txBox="1"/>
          <p:nvPr/>
        </p:nvSpPr>
        <p:spPr>
          <a:xfrm>
            <a:off x="8704200" y="4200756"/>
            <a:ext cx="835485" cy="461665"/>
          </a:xfrm>
          <a:prstGeom prst="rect">
            <a:avLst/>
          </a:prstGeom>
          <a:noFill/>
        </p:spPr>
        <p:txBody>
          <a:bodyPr wrap="none" rtlCol="0">
            <a:spAutoFit/>
          </a:bodyPr>
          <a:lstStyle/>
          <a:p>
            <a:r>
              <a:rPr lang="en-US" altLang="zh-CN" sz="2400" dirty="0">
                <a:solidFill>
                  <a:srgbClr val="0000FF"/>
                </a:solidFill>
              </a:rPr>
              <a:t>15</a:t>
            </a:r>
            <a:r>
              <a:rPr lang="zh-CN" altLang="en-US" sz="2400" dirty="0">
                <a:solidFill>
                  <a:srgbClr val="0000FF"/>
                </a:solidFill>
              </a:rPr>
              <a:t>只</a:t>
            </a:r>
          </a:p>
        </p:txBody>
      </p:sp>
    </p:spTree>
    <p:extLst>
      <p:ext uri="{BB962C8B-B14F-4D97-AF65-F5344CB8AC3E}">
        <p14:creationId xmlns:p14="http://schemas.microsoft.com/office/powerpoint/2010/main" val="116065830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4" fill="hold" nodeType="withEffect">
                                  <p:stCondLst>
                                    <p:cond delay="0"/>
                                  </p:stCondLst>
                                  <p:childTnLst>
                                    <p:set>
                                      <p:cBhvr>
                                        <p:cTn id="6" dur="1" fill="hold">
                                          <p:stCondLst>
                                            <p:cond delay="0"/>
                                          </p:stCondLst>
                                        </p:cTn>
                                        <p:tgtEl>
                                          <p:spTgt spid="27">
                                            <p:txEl>
                                              <p:pRg st="0" end="0"/>
                                            </p:txEl>
                                          </p:spTgt>
                                        </p:tgtEl>
                                        <p:attrNameLst>
                                          <p:attrName>style.visibility</p:attrName>
                                        </p:attrNameLst>
                                      </p:cBhvr>
                                      <p:to>
                                        <p:strVal val="visible"/>
                                      </p:to>
                                    </p:set>
                                    <p:animEffect transition="in" filter="wipe(down)">
                                      <p:cBhvr>
                                        <p:cTn id="7" dur="500"/>
                                        <p:tgtEl>
                                          <p:spTgt spid="27">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nodeType="clickEffect">
                                  <p:stCondLst>
                                    <p:cond delay="0"/>
                                  </p:stCondLst>
                                  <p:childTnLst>
                                    <p:set>
                                      <p:cBhvr>
                                        <p:cTn id="11" dur="1" fill="hold">
                                          <p:stCondLst>
                                            <p:cond delay="0"/>
                                          </p:stCondLst>
                                        </p:cTn>
                                        <p:tgtEl>
                                          <p:spTgt spid="27">
                                            <p:txEl>
                                              <p:pRg st="2" end="2"/>
                                            </p:txEl>
                                          </p:spTgt>
                                        </p:tgtEl>
                                        <p:attrNameLst>
                                          <p:attrName>style.visibility</p:attrName>
                                        </p:attrNameLst>
                                      </p:cBhvr>
                                      <p:to>
                                        <p:strVal val="visible"/>
                                      </p:to>
                                    </p:set>
                                    <p:anim calcmode="lin" valueType="num">
                                      <p:cBhvr additive="base">
                                        <p:cTn id="12" dur="500" fill="hold"/>
                                        <p:tgtEl>
                                          <p:spTgt spid="27">
                                            <p:txEl>
                                              <p:pRg st="2" end="2"/>
                                            </p:txEl>
                                          </p:spTgt>
                                        </p:tgtEl>
                                        <p:attrNameLst>
                                          <p:attrName>ppt_x</p:attrName>
                                        </p:attrNameLst>
                                      </p:cBhvr>
                                      <p:tavLst>
                                        <p:tav tm="0">
                                          <p:val>
                                            <p:strVal val="#ppt_x"/>
                                          </p:val>
                                        </p:tav>
                                        <p:tav tm="100000">
                                          <p:val>
                                            <p:strVal val="#ppt_x"/>
                                          </p:val>
                                        </p:tav>
                                      </p:tavLst>
                                    </p:anim>
                                    <p:anim calcmode="lin" valueType="num">
                                      <p:cBhvr additive="base">
                                        <p:cTn id="13" dur="500" fill="hold"/>
                                        <p:tgtEl>
                                          <p:spTgt spid="27">
                                            <p:txEl>
                                              <p:pRg st="2" end="2"/>
                                            </p:txEl>
                                          </p:spTgt>
                                        </p:tgtEl>
                                        <p:attrNameLst>
                                          <p:attrName>ppt_y</p:attrName>
                                        </p:attrNameLst>
                                      </p:cBhvr>
                                      <p:tavLst>
                                        <p:tav tm="0">
                                          <p:val>
                                            <p:strVal val="1+#ppt_h/2"/>
                                          </p:val>
                                        </p:tav>
                                        <p:tav tm="100000">
                                          <p:val>
                                            <p:strVal val="#ppt_y"/>
                                          </p:val>
                                        </p:tav>
                                      </p:tavLst>
                                    </p:anim>
                                  </p:childTnLst>
                                </p:cTn>
                              </p:par>
                            </p:childTnLst>
                          </p:cTn>
                        </p:par>
                        <p:par>
                          <p:cTn id="14" fill="hold">
                            <p:stCondLst>
                              <p:cond delay="500"/>
                            </p:stCondLst>
                            <p:childTnLst>
                              <p:par>
                                <p:cTn id="15" presetID="22" presetClass="entr" presetSubtype="1" fill="hold" nodeType="afterEffect">
                                  <p:stCondLst>
                                    <p:cond delay="0"/>
                                  </p:stCondLst>
                                  <p:childTnLst>
                                    <p:set>
                                      <p:cBhvr>
                                        <p:cTn id="16" dur="1" fill="hold">
                                          <p:stCondLst>
                                            <p:cond delay="0"/>
                                          </p:stCondLst>
                                        </p:cTn>
                                        <p:tgtEl>
                                          <p:spTgt spid="31"/>
                                        </p:tgtEl>
                                        <p:attrNameLst>
                                          <p:attrName>style.visibility</p:attrName>
                                        </p:attrNameLst>
                                      </p:cBhvr>
                                      <p:to>
                                        <p:strVal val="visible"/>
                                      </p:to>
                                    </p:set>
                                    <p:animEffect transition="in" filter="wipe(up)">
                                      <p:cBhvr>
                                        <p:cTn id="17" dur="500"/>
                                        <p:tgtEl>
                                          <p:spTgt spid="31"/>
                                        </p:tgtEl>
                                      </p:cBhvr>
                                    </p:animEffect>
                                  </p:childTnLst>
                                </p:cTn>
                              </p:par>
                            </p:childTnLst>
                          </p:cTn>
                        </p:par>
                        <p:par>
                          <p:cTn id="18" fill="hold">
                            <p:stCondLst>
                              <p:cond delay="1000"/>
                            </p:stCondLst>
                            <p:childTnLst>
                              <p:par>
                                <p:cTn id="19" presetID="22" presetClass="entr" presetSubtype="1" fill="hold" nodeType="afterEffect">
                                  <p:stCondLst>
                                    <p:cond delay="0"/>
                                  </p:stCondLst>
                                  <p:childTnLst>
                                    <p:set>
                                      <p:cBhvr>
                                        <p:cTn id="20" dur="1" fill="hold">
                                          <p:stCondLst>
                                            <p:cond delay="0"/>
                                          </p:stCondLst>
                                        </p:cTn>
                                        <p:tgtEl>
                                          <p:spTgt spid="32"/>
                                        </p:tgtEl>
                                        <p:attrNameLst>
                                          <p:attrName>style.visibility</p:attrName>
                                        </p:attrNameLst>
                                      </p:cBhvr>
                                      <p:to>
                                        <p:strVal val="visible"/>
                                      </p:to>
                                    </p:set>
                                    <p:animEffect transition="in" filter="wipe(up)">
                                      <p:cBhvr>
                                        <p:cTn id="21" dur="500"/>
                                        <p:tgtEl>
                                          <p:spTgt spid="32"/>
                                        </p:tgtEl>
                                      </p:cBhvr>
                                    </p:animEffect>
                                  </p:childTnLst>
                                </p:cTn>
                              </p:par>
                            </p:childTnLst>
                          </p:cTn>
                        </p:par>
                        <p:par>
                          <p:cTn id="22" fill="hold">
                            <p:stCondLst>
                              <p:cond delay="1500"/>
                            </p:stCondLst>
                            <p:childTnLst>
                              <p:par>
                                <p:cTn id="23" presetID="16" presetClass="entr" presetSubtype="21" fill="hold" nodeType="afterEffect">
                                  <p:stCondLst>
                                    <p:cond delay="0"/>
                                  </p:stCondLst>
                                  <p:childTnLst>
                                    <p:set>
                                      <p:cBhvr>
                                        <p:cTn id="24" dur="1" fill="hold">
                                          <p:stCondLst>
                                            <p:cond delay="0"/>
                                          </p:stCondLst>
                                        </p:cTn>
                                        <p:tgtEl>
                                          <p:spTgt spid="28"/>
                                        </p:tgtEl>
                                        <p:attrNameLst>
                                          <p:attrName>style.visibility</p:attrName>
                                        </p:attrNameLst>
                                      </p:cBhvr>
                                      <p:to>
                                        <p:strVal val="visible"/>
                                      </p:to>
                                    </p:set>
                                    <p:animEffect transition="in" filter="barn(inVertical)">
                                      <p:cBhvr>
                                        <p:cTn id="25" dur="500"/>
                                        <p:tgtEl>
                                          <p:spTgt spid="28"/>
                                        </p:tgtEl>
                                      </p:cBhvr>
                                    </p:animEffect>
                                  </p:childTnLst>
                                </p:cTn>
                              </p:par>
                              <p:par>
                                <p:cTn id="26" presetID="16" presetClass="entr" presetSubtype="21" fill="hold" grpId="0" nodeType="withEffect">
                                  <p:stCondLst>
                                    <p:cond delay="0"/>
                                  </p:stCondLst>
                                  <p:childTnLst>
                                    <p:set>
                                      <p:cBhvr>
                                        <p:cTn id="27" dur="1" fill="hold">
                                          <p:stCondLst>
                                            <p:cond delay="0"/>
                                          </p:stCondLst>
                                        </p:cTn>
                                        <p:tgtEl>
                                          <p:spTgt spid="29"/>
                                        </p:tgtEl>
                                        <p:attrNameLst>
                                          <p:attrName>style.visibility</p:attrName>
                                        </p:attrNameLst>
                                      </p:cBhvr>
                                      <p:to>
                                        <p:strVal val="visible"/>
                                      </p:to>
                                    </p:set>
                                    <p:animEffect transition="in" filter="barn(inVertical)">
                                      <p:cBhvr>
                                        <p:cTn id="28" dur="500"/>
                                        <p:tgtEl>
                                          <p:spTgt spid="29"/>
                                        </p:tgtEl>
                                      </p:cBhvr>
                                    </p:animEffect>
                                  </p:childTnLst>
                                </p:cTn>
                              </p:par>
                            </p:childTnLst>
                          </p:cTn>
                        </p:par>
                        <p:par>
                          <p:cTn id="29" fill="hold">
                            <p:stCondLst>
                              <p:cond delay="2000"/>
                            </p:stCondLst>
                            <p:childTnLst>
                              <p:par>
                                <p:cTn id="30" presetID="22" presetClass="entr" presetSubtype="8" fill="hold" nodeType="afterEffect">
                                  <p:stCondLst>
                                    <p:cond delay="0"/>
                                  </p:stCondLst>
                                  <p:childTnLst>
                                    <p:set>
                                      <p:cBhvr>
                                        <p:cTn id="31" dur="1" fill="hold">
                                          <p:stCondLst>
                                            <p:cond delay="0"/>
                                          </p:stCondLst>
                                        </p:cTn>
                                        <p:tgtEl>
                                          <p:spTgt spid="33"/>
                                        </p:tgtEl>
                                        <p:attrNameLst>
                                          <p:attrName>style.visibility</p:attrName>
                                        </p:attrNameLst>
                                      </p:cBhvr>
                                      <p:to>
                                        <p:strVal val="visible"/>
                                      </p:to>
                                    </p:set>
                                    <p:animEffect transition="in" filter="wipe(left)">
                                      <p:cBhvr>
                                        <p:cTn id="32" dur="500"/>
                                        <p:tgtEl>
                                          <p:spTgt spid="33"/>
                                        </p:tgtEl>
                                      </p:cBhvr>
                                    </p:animEffect>
                                  </p:childTnLst>
                                </p:cTn>
                              </p:par>
                            </p:childTnLst>
                          </p:cTn>
                        </p:par>
                        <p:par>
                          <p:cTn id="33" fill="hold">
                            <p:stCondLst>
                              <p:cond delay="2500"/>
                            </p:stCondLst>
                            <p:childTnLst>
                              <p:par>
                                <p:cTn id="34" presetID="16" presetClass="entr" presetSubtype="21" fill="hold" nodeType="afterEffect">
                                  <p:stCondLst>
                                    <p:cond delay="0"/>
                                  </p:stCondLst>
                                  <p:childTnLst>
                                    <p:set>
                                      <p:cBhvr>
                                        <p:cTn id="35" dur="1" fill="hold">
                                          <p:stCondLst>
                                            <p:cond delay="0"/>
                                          </p:stCondLst>
                                        </p:cTn>
                                        <p:tgtEl>
                                          <p:spTgt spid="42"/>
                                        </p:tgtEl>
                                        <p:attrNameLst>
                                          <p:attrName>style.visibility</p:attrName>
                                        </p:attrNameLst>
                                      </p:cBhvr>
                                      <p:to>
                                        <p:strVal val="visible"/>
                                      </p:to>
                                    </p:set>
                                    <p:animEffect transition="in" filter="barn(inVertical)">
                                      <p:cBhvr>
                                        <p:cTn id="36" dur="500"/>
                                        <p:tgtEl>
                                          <p:spTgt spid="42"/>
                                        </p:tgtEl>
                                      </p:cBhvr>
                                    </p:animEffect>
                                  </p:childTnLst>
                                </p:cTn>
                              </p:par>
                              <p:par>
                                <p:cTn id="37" presetID="16" presetClass="entr" presetSubtype="21" fill="hold" grpId="0" nodeType="withEffect">
                                  <p:stCondLst>
                                    <p:cond delay="0"/>
                                  </p:stCondLst>
                                  <p:childTnLst>
                                    <p:set>
                                      <p:cBhvr>
                                        <p:cTn id="38" dur="1" fill="hold">
                                          <p:stCondLst>
                                            <p:cond delay="0"/>
                                          </p:stCondLst>
                                        </p:cTn>
                                        <p:tgtEl>
                                          <p:spTgt spid="43"/>
                                        </p:tgtEl>
                                        <p:attrNameLst>
                                          <p:attrName>style.visibility</p:attrName>
                                        </p:attrNameLst>
                                      </p:cBhvr>
                                      <p:to>
                                        <p:strVal val="visible"/>
                                      </p:to>
                                    </p:set>
                                    <p:animEffect transition="in" filter="barn(inVertical)">
                                      <p:cBhvr>
                                        <p:cTn id="39" dur="500"/>
                                        <p:tgtEl>
                                          <p:spTgt spid="43"/>
                                        </p:tgtEl>
                                      </p:cBhvr>
                                    </p:animEffect>
                                  </p:childTnLst>
                                </p:cTn>
                              </p:par>
                            </p:childTnLst>
                          </p:cTn>
                        </p:par>
                      </p:childTnLst>
                    </p:cTn>
                  </p:par>
                  <p:par>
                    <p:cTn id="40" fill="hold">
                      <p:stCondLst>
                        <p:cond delay="indefinite"/>
                      </p:stCondLst>
                      <p:childTnLst>
                        <p:par>
                          <p:cTn id="41" fill="hold">
                            <p:stCondLst>
                              <p:cond delay="0"/>
                            </p:stCondLst>
                            <p:childTnLst>
                              <p:par>
                                <p:cTn id="42" presetID="2" presetClass="entr" presetSubtype="4" fill="hold" nodeType="clickEffect">
                                  <p:stCondLst>
                                    <p:cond delay="0"/>
                                  </p:stCondLst>
                                  <p:childTnLst>
                                    <p:set>
                                      <p:cBhvr>
                                        <p:cTn id="43" dur="1" fill="hold">
                                          <p:stCondLst>
                                            <p:cond delay="0"/>
                                          </p:stCondLst>
                                        </p:cTn>
                                        <p:tgtEl>
                                          <p:spTgt spid="27">
                                            <p:txEl>
                                              <p:pRg st="3" end="3"/>
                                            </p:txEl>
                                          </p:spTgt>
                                        </p:tgtEl>
                                        <p:attrNameLst>
                                          <p:attrName>style.visibility</p:attrName>
                                        </p:attrNameLst>
                                      </p:cBhvr>
                                      <p:to>
                                        <p:strVal val="visible"/>
                                      </p:to>
                                    </p:set>
                                    <p:anim calcmode="lin" valueType="num">
                                      <p:cBhvr additive="base">
                                        <p:cTn id="44" dur="500" fill="hold"/>
                                        <p:tgtEl>
                                          <p:spTgt spid="27">
                                            <p:txEl>
                                              <p:pRg st="3" end="3"/>
                                            </p:txEl>
                                          </p:spTgt>
                                        </p:tgtEl>
                                        <p:attrNameLst>
                                          <p:attrName>ppt_x</p:attrName>
                                        </p:attrNameLst>
                                      </p:cBhvr>
                                      <p:tavLst>
                                        <p:tav tm="0">
                                          <p:val>
                                            <p:strVal val="#ppt_x"/>
                                          </p:val>
                                        </p:tav>
                                        <p:tav tm="100000">
                                          <p:val>
                                            <p:strVal val="#ppt_x"/>
                                          </p:val>
                                        </p:tav>
                                      </p:tavLst>
                                    </p:anim>
                                    <p:anim calcmode="lin" valueType="num">
                                      <p:cBhvr additive="base">
                                        <p:cTn id="45" dur="500" fill="hold"/>
                                        <p:tgtEl>
                                          <p:spTgt spid="27">
                                            <p:txEl>
                                              <p:pRg st="3" end="3"/>
                                            </p:txEl>
                                          </p:spTgt>
                                        </p:tgtEl>
                                        <p:attrNameLst>
                                          <p:attrName>ppt_y</p:attrName>
                                        </p:attrNameLst>
                                      </p:cBhvr>
                                      <p:tavLst>
                                        <p:tav tm="0">
                                          <p:val>
                                            <p:strVal val="1+#ppt_h/2"/>
                                          </p:val>
                                        </p:tav>
                                        <p:tav tm="100000">
                                          <p:val>
                                            <p:strVal val="#ppt_y"/>
                                          </p:val>
                                        </p:tav>
                                      </p:tavLst>
                                    </p:anim>
                                  </p:childTnLst>
                                </p:cTn>
                              </p:par>
                              <p:par>
                                <p:cTn id="46" presetID="22" presetClass="entr" presetSubtype="4" fill="hold" nodeType="withEffect">
                                  <p:stCondLst>
                                    <p:cond delay="0"/>
                                  </p:stCondLst>
                                  <p:childTnLst>
                                    <p:set>
                                      <p:cBhvr>
                                        <p:cTn id="47" dur="1" fill="hold">
                                          <p:stCondLst>
                                            <p:cond delay="0"/>
                                          </p:stCondLst>
                                        </p:cTn>
                                        <p:tgtEl>
                                          <p:spTgt spid="36"/>
                                        </p:tgtEl>
                                        <p:attrNameLst>
                                          <p:attrName>style.visibility</p:attrName>
                                        </p:attrNameLst>
                                      </p:cBhvr>
                                      <p:to>
                                        <p:strVal val="visible"/>
                                      </p:to>
                                    </p:set>
                                    <p:animEffect transition="in" filter="wipe(down)">
                                      <p:cBhvr>
                                        <p:cTn id="48" dur="500"/>
                                        <p:tgtEl>
                                          <p:spTgt spid="36"/>
                                        </p:tgtEl>
                                      </p:cBhvr>
                                    </p:animEffect>
                                  </p:childTnLst>
                                </p:cTn>
                              </p:par>
                            </p:childTnLst>
                          </p:cTn>
                        </p:par>
                        <p:par>
                          <p:cTn id="49" fill="hold">
                            <p:stCondLst>
                              <p:cond delay="500"/>
                            </p:stCondLst>
                            <p:childTnLst>
                              <p:par>
                                <p:cTn id="50" presetID="22" presetClass="entr" presetSubtype="4" fill="hold" nodeType="afterEffect">
                                  <p:stCondLst>
                                    <p:cond delay="0"/>
                                  </p:stCondLst>
                                  <p:childTnLst>
                                    <p:set>
                                      <p:cBhvr>
                                        <p:cTn id="51" dur="1" fill="hold">
                                          <p:stCondLst>
                                            <p:cond delay="0"/>
                                          </p:stCondLst>
                                        </p:cTn>
                                        <p:tgtEl>
                                          <p:spTgt spid="35"/>
                                        </p:tgtEl>
                                        <p:attrNameLst>
                                          <p:attrName>style.visibility</p:attrName>
                                        </p:attrNameLst>
                                      </p:cBhvr>
                                      <p:to>
                                        <p:strVal val="visible"/>
                                      </p:to>
                                    </p:set>
                                    <p:animEffect transition="in" filter="wipe(down)">
                                      <p:cBhvr>
                                        <p:cTn id="52" dur="500"/>
                                        <p:tgtEl>
                                          <p:spTgt spid="35"/>
                                        </p:tgtEl>
                                      </p:cBhvr>
                                    </p:animEffect>
                                  </p:childTnLst>
                                </p:cTn>
                              </p:par>
                              <p:par>
                                <p:cTn id="53" presetID="16" presetClass="entr" presetSubtype="21" fill="hold" grpId="0" nodeType="withEffect">
                                  <p:stCondLst>
                                    <p:cond delay="0"/>
                                  </p:stCondLst>
                                  <p:childTnLst>
                                    <p:set>
                                      <p:cBhvr>
                                        <p:cTn id="54" dur="1" fill="hold">
                                          <p:stCondLst>
                                            <p:cond delay="0"/>
                                          </p:stCondLst>
                                        </p:cTn>
                                        <p:tgtEl>
                                          <p:spTgt spid="45"/>
                                        </p:tgtEl>
                                        <p:attrNameLst>
                                          <p:attrName>style.visibility</p:attrName>
                                        </p:attrNameLst>
                                      </p:cBhvr>
                                      <p:to>
                                        <p:strVal val="visible"/>
                                      </p:to>
                                    </p:set>
                                    <p:animEffect transition="in" filter="barn(inVertical)">
                                      <p:cBhvr>
                                        <p:cTn id="55" dur="500"/>
                                        <p:tgtEl>
                                          <p:spTgt spid="45"/>
                                        </p:tgtEl>
                                      </p:cBhvr>
                                    </p:animEffect>
                                  </p:childTnLst>
                                </p:cTn>
                              </p:par>
                              <p:par>
                                <p:cTn id="56" presetID="16" presetClass="entr" presetSubtype="21" fill="hold" nodeType="withEffect">
                                  <p:stCondLst>
                                    <p:cond delay="0"/>
                                  </p:stCondLst>
                                  <p:childTnLst>
                                    <p:set>
                                      <p:cBhvr>
                                        <p:cTn id="57" dur="1" fill="hold">
                                          <p:stCondLst>
                                            <p:cond delay="0"/>
                                          </p:stCondLst>
                                        </p:cTn>
                                        <p:tgtEl>
                                          <p:spTgt spid="44"/>
                                        </p:tgtEl>
                                        <p:attrNameLst>
                                          <p:attrName>style.visibility</p:attrName>
                                        </p:attrNameLst>
                                      </p:cBhvr>
                                      <p:to>
                                        <p:strVal val="visible"/>
                                      </p:to>
                                    </p:set>
                                    <p:animEffect transition="in" filter="barn(inVertical)">
                                      <p:cBhvr>
                                        <p:cTn id="58" dur="500"/>
                                        <p:tgtEl>
                                          <p:spTgt spid="44"/>
                                        </p:tgtEl>
                                      </p:cBhvr>
                                    </p:animEffect>
                                  </p:childTnLst>
                                </p:cTn>
                              </p:par>
                            </p:childTnLst>
                          </p:cTn>
                        </p:par>
                        <p:par>
                          <p:cTn id="59" fill="hold">
                            <p:stCondLst>
                              <p:cond delay="1000"/>
                            </p:stCondLst>
                            <p:childTnLst>
                              <p:par>
                                <p:cTn id="60" presetID="22" presetClass="entr" presetSubtype="4" fill="hold" nodeType="afterEffect">
                                  <p:stCondLst>
                                    <p:cond delay="0"/>
                                  </p:stCondLst>
                                  <p:childTnLst>
                                    <p:set>
                                      <p:cBhvr>
                                        <p:cTn id="61" dur="1" fill="hold">
                                          <p:stCondLst>
                                            <p:cond delay="0"/>
                                          </p:stCondLst>
                                        </p:cTn>
                                        <p:tgtEl>
                                          <p:spTgt spid="46"/>
                                        </p:tgtEl>
                                        <p:attrNameLst>
                                          <p:attrName>style.visibility</p:attrName>
                                        </p:attrNameLst>
                                      </p:cBhvr>
                                      <p:to>
                                        <p:strVal val="visible"/>
                                      </p:to>
                                    </p:set>
                                    <p:animEffect transition="in" filter="wipe(down)">
                                      <p:cBhvr>
                                        <p:cTn id="62" dur="500"/>
                                        <p:tgtEl>
                                          <p:spTgt spid="46"/>
                                        </p:tgtEl>
                                      </p:cBhvr>
                                    </p:animEffect>
                                  </p:childTnLst>
                                </p:cTn>
                              </p:par>
                            </p:childTnLst>
                          </p:cTn>
                        </p:par>
                        <p:par>
                          <p:cTn id="63" fill="hold">
                            <p:stCondLst>
                              <p:cond delay="1500"/>
                            </p:stCondLst>
                            <p:childTnLst>
                              <p:par>
                                <p:cTn id="64" presetID="16" presetClass="entr" presetSubtype="21" fill="hold" nodeType="afterEffect">
                                  <p:stCondLst>
                                    <p:cond delay="0"/>
                                  </p:stCondLst>
                                  <p:childTnLst>
                                    <p:set>
                                      <p:cBhvr>
                                        <p:cTn id="65" dur="1" fill="hold">
                                          <p:stCondLst>
                                            <p:cond delay="0"/>
                                          </p:stCondLst>
                                        </p:cTn>
                                        <p:tgtEl>
                                          <p:spTgt spid="47"/>
                                        </p:tgtEl>
                                        <p:attrNameLst>
                                          <p:attrName>style.visibility</p:attrName>
                                        </p:attrNameLst>
                                      </p:cBhvr>
                                      <p:to>
                                        <p:strVal val="visible"/>
                                      </p:to>
                                    </p:set>
                                    <p:animEffect transition="in" filter="barn(inVertical)">
                                      <p:cBhvr>
                                        <p:cTn id="66" dur="500"/>
                                        <p:tgtEl>
                                          <p:spTgt spid="47"/>
                                        </p:tgtEl>
                                      </p:cBhvr>
                                    </p:animEffect>
                                  </p:childTnLst>
                                </p:cTn>
                              </p:par>
                              <p:par>
                                <p:cTn id="67" presetID="16" presetClass="entr" presetSubtype="21" fill="hold" grpId="0" nodeType="withEffect">
                                  <p:stCondLst>
                                    <p:cond delay="0"/>
                                  </p:stCondLst>
                                  <p:childTnLst>
                                    <p:set>
                                      <p:cBhvr>
                                        <p:cTn id="68" dur="1" fill="hold">
                                          <p:stCondLst>
                                            <p:cond delay="0"/>
                                          </p:stCondLst>
                                        </p:cTn>
                                        <p:tgtEl>
                                          <p:spTgt spid="48"/>
                                        </p:tgtEl>
                                        <p:attrNameLst>
                                          <p:attrName>style.visibility</p:attrName>
                                        </p:attrNameLst>
                                      </p:cBhvr>
                                      <p:to>
                                        <p:strVal val="visible"/>
                                      </p:to>
                                    </p:set>
                                    <p:animEffect transition="in" filter="barn(inVertical)">
                                      <p:cBhvr>
                                        <p:cTn id="69" dur="500"/>
                                        <p:tgtEl>
                                          <p:spTgt spid="48"/>
                                        </p:tgtEl>
                                      </p:cBhvr>
                                    </p:animEffect>
                                  </p:childTnLst>
                                </p:cTn>
                              </p:par>
                            </p:childTnLst>
                          </p:cTn>
                        </p:par>
                      </p:childTnLst>
                    </p:cTn>
                  </p:par>
                  <p:par>
                    <p:cTn id="70" fill="hold">
                      <p:stCondLst>
                        <p:cond delay="indefinite"/>
                      </p:stCondLst>
                      <p:childTnLst>
                        <p:par>
                          <p:cTn id="71" fill="hold">
                            <p:stCondLst>
                              <p:cond delay="0"/>
                            </p:stCondLst>
                            <p:childTnLst>
                              <p:par>
                                <p:cTn id="72" presetID="2" presetClass="entr" presetSubtype="4" fill="hold" nodeType="clickEffect">
                                  <p:stCondLst>
                                    <p:cond delay="0"/>
                                  </p:stCondLst>
                                  <p:childTnLst>
                                    <p:set>
                                      <p:cBhvr>
                                        <p:cTn id="73" dur="1" fill="hold">
                                          <p:stCondLst>
                                            <p:cond delay="0"/>
                                          </p:stCondLst>
                                        </p:cTn>
                                        <p:tgtEl>
                                          <p:spTgt spid="27">
                                            <p:txEl>
                                              <p:pRg st="4" end="4"/>
                                            </p:txEl>
                                          </p:spTgt>
                                        </p:tgtEl>
                                        <p:attrNameLst>
                                          <p:attrName>style.visibility</p:attrName>
                                        </p:attrNameLst>
                                      </p:cBhvr>
                                      <p:to>
                                        <p:strVal val="visible"/>
                                      </p:to>
                                    </p:set>
                                    <p:anim calcmode="lin" valueType="num">
                                      <p:cBhvr additive="base">
                                        <p:cTn id="74" dur="500" fill="hold"/>
                                        <p:tgtEl>
                                          <p:spTgt spid="27">
                                            <p:txEl>
                                              <p:pRg st="4" end="4"/>
                                            </p:txEl>
                                          </p:spTgt>
                                        </p:tgtEl>
                                        <p:attrNameLst>
                                          <p:attrName>ppt_x</p:attrName>
                                        </p:attrNameLst>
                                      </p:cBhvr>
                                      <p:tavLst>
                                        <p:tav tm="0">
                                          <p:val>
                                            <p:strVal val="#ppt_x"/>
                                          </p:val>
                                        </p:tav>
                                        <p:tav tm="100000">
                                          <p:val>
                                            <p:strVal val="#ppt_x"/>
                                          </p:val>
                                        </p:tav>
                                      </p:tavLst>
                                    </p:anim>
                                    <p:anim calcmode="lin" valueType="num">
                                      <p:cBhvr additive="base">
                                        <p:cTn id="75" dur="500" fill="hold"/>
                                        <p:tgtEl>
                                          <p:spTgt spid="27">
                                            <p:txEl>
                                              <p:pRg st="4" end="4"/>
                                            </p:txEl>
                                          </p:spTgt>
                                        </p:tgtEl>
                                        <p:attrNameLst>
                                          <p:attrName>ppt_y</p:attrName>
                                        </p:attrNameLst>
                                      </p:cBhvr>
                                      <p:tavLst>
                                        <p:tav tm="0">
                                          <p:val>
                                            <p:strVal val="1+#ppt_h/2"/>
                                          </p:val>
                                        </p:tav>
                                        <p:tav tm="100000">
                                          <p:val>
                                            <p:strVal val="#ppt_y"/>
                                          </p:val>
                                        </p:tav>
                                      </p:tavLst>
                                    </p:anim>
                                  </p:childTnLst>
                                </p:cTn>
                              </p:par>
                              <p:par>
                                <p:cTn id="76" presetID="2" presetClass="entr" presetSubtype="4" fill="hold" nodeType="withEffect">
                                  <p:stCondLst>
                                    <p:cond delay="0"/>
                                  </p:stCondLst>
                                  <p:childTnLst>
                                    <p:set>
                                      <p:cBhvr>
                                        <p:cTn id="77" dur="1" fill="hold">
                                          <p:stCondLst>
                                            <p:cond delay="0"/>
                                          </p:stCondLst>
                                        </p:cTn>
                                        <p:tgtEl>
                                          <p:spTgt spid="27">
                                            <p:txEl>
                                              <p:pRg st="5" end="5"/>
                                            </p:txEl>
                                          </p:spTgt>
                                        </p:tgtEl>
                                        <p:attrNameLst>
                                          <p:attrName>style.visibility</p:attrName>
                                        </p:attrNameLst>
                                      </p:cBhvr>
                                      <p:to>
                                        <p:strVal val="visible"/>
                                      </p:to>
                                    </p:set>
                                    <p:anim calcmode="lin" valueType="num">
                                      <p:cBhvr additive="base">
                                        <p:cTn id="78" dur="500" fill="hold"/>
                                        <p:tgtEl>
                                          <p:spTgt spid="27">
                                            <p:txEl>
                                              <p:pRg st="5" end="5"/>
                                            </p:txEl>
                                          </p:spTgt>
                                        </p:tgtEl>
                                        <p:attrNameLst>
                                          <p:attrName>ppt_x</p:attrName>
                                        </p:attrNameLst>
                                      </p:cBhvr>
                                      <p:tavLst>
                                        <p:tav tm="0">
                                          <p:val>
                                            <p:strVal val="#ppt_x"/>
                                          </p:val>
                                        </p:tav>
                                        <p:tav tm="100000">
                                          <p:val>
                                            <p:strVal val="#ppt_x"/>
                                          </p:val>
                                        </p:tav>
                                      </p:tavLst>
                                    </p:anim>
                                    <p:anim calcmode="lin" valueType="num">
                                      <p:cBhvr additive="base">
                                        <p:cTn id="79" dur="500" fill="hold"/>
                                        <p:tgtEl>
                                          <p:spTgt spid="27">
                                            <p:txEl>
                                              <p:pRg st="5" end="5"/>
                                            </p:txEl>
                                          </p:spTgt>
                                        </p:tgtEl>
                                        <p:attrNameLst>
                                          <p:attrName>ppt_y</p:attrName>
                                        </p:attrNameLst>
                                      </p:cBhvr>
                                      <p:tavLst>
                                        <p:tav tm="0">
                                          <p:val>
                                            <p:strVal val="1+#ppt_h/2"/>
                                          </p:val>
                                        </p:tav>
                                        <p:tav tm="100000">
                                          <p:val>
                                            <p:strVal val="#ppt_y"/>
                                          </p:val>
                                        </p:tav>
                                      </p:tavLst>
                                    </p:anim>
                                  </p:childTnLst>
                                </p:cTn>
                              </p:par>
                              <p:par>
                                <p:cTn id="80" presetID="2" presetClass="entr" presetSubtype="4" fill="hold" nodeType="withEffect">
                                  <p:stCondLst>
                                    <p:cond delay="0"/>
                                  </p:stCondLst>
                                  <p:childTnLst>
                                    <p:set>
                                      <p:cBhvr>
                                        <p:cTn id="81" dur="1" fill="hold">
                                          <p:stCondLst>
                                            <p:cond delay="0"/>
                                          </p:stCondLst>
                                        </p:cTn>
                                        <p:tgtEl>
                                          <p:spTgt spid="27">
                                            <p:txEl>
                                              <p:pRg st="6" end="6"/>
                                            </p:txEl>
                                          </p:spTgt>
                                        </p:tgtEl>
                                        <p:attrNameLst>
                                          <p:attrName>style.visibility</p:attrName>
                                        </p:attrNameLst>
                                      </p:cBhvr>
                                      <p:to>
                                        <p:strVal val="visible"/>
                                      </p:to>
                                    </p:set>
                                    <p:anim calcmode="lin" valueType="num">
                                      <p:cBhvr additive="base">
                                        <p:cTn id="82" dur="500" fill="hold"/>
                                        <p:tgtEl>
                                          <p:spTgt spid="27">
                                            <p:txEl>
                                              <p:pRg st="6" end="6"/>
                                            </p:txEl>
                                          </p:spTgt>
                                        </p:tgtEl>
                                        <p:attrNameLst>
                                          <p:attrName>ppt_x</p:attrName>
                                        </p:attrNameLst>
                                      </p:cBhvr>
                                      <p:tavLst>
                                        <p:tav tm="0">
                                          <p:val>
                                            <p:strVal val="#ppt_x"/>
                                          </p:val>
                                        </p:tav>
                                        <p:tav tm="100000">
                                          <p:val>
                                            <p:strVal val="#ppt_x"/>
                                          </p:val>
                                        </p:tav>
                                      </p:tavLst>
                                    </p:anim>
                                    <p:anim calcmode="lin" valueType="num">
                                      <p:cBhvr additive="base">
                                        <p:cTn id="83" dur="500" fill="hold"/>
                                        <p:tgtEl>
                                          <p:spTgt spid="27">
                                            <p:txEl>
                                              <p:pRg st="6" end="6"/>
                                            </p:txEl>
                                          </p:spTgt>
                                        </p:tgtEl>
                                        <p:attrNameLst>
                                          <p:attrName>ppt_y</p:attrName>
                                        </p:attrNameLst>
                                      </p:cBhvr>
                                      <p:tavLst>
                                        <p:tav tm="0">
                                          <p:val>
                                            <p:strVal val="1+#ppt_h/2"/>
                                          </p:val>
                                        </p:tav>
                                        <p:tav tm="100000">
                                          <p:val>
                                            <p:strVal val="#ppt_y"/>
                                          </p:val>
                                        </p:tav>
                                      </p:tavLst>
                                    </p:anim>
                                  </p:childTnLst>
                                </p:cTn>
                              </p:par>
                              <p:par>
                                <p:cTn id="84" presetID="2" presetClass="entr" presetSubtype="4" fill="hold" nodeType="withEffect">
                                  <p:stCondLst>
                                    <p:cond delay="0"/>
                                  </p:stCondLst>
                                  <p:childTnLst>
                                    <p:set>
                                      <p:cBhvr>
                                        <p:cTn id="85" dur="1" fill="hold">
                                          <p:stCondLst>
                                            <p:cond delay="0"/>
                                          </p:stCondLst>
                                        </p:cTn>
                                        <p:tgtEl>
                                          <p:spTgt spid="27">
                                            <p:txEl>
                                              <p:pRg st="7" end="7"/>
                                            </p:txEl>
                                          </p:spTgt>
                                        </p:tgtEl>
                                        <p:attrNameLst>
                                          <p:attrName>style.visibility</p:attrName>
                                        </p:attrNameLst>
                                      </p:cBhvr>
                                      <p:to>
                                        <p:strVal val="visible"/>
                                      </p:to>
                                    </p:set>
                                    <p:anim calcmode="lin" valueType="num">
                                      <p:cBhvr additive="base">
                                        <p:cTn id="86" dur="500" fill="hold"/>
                                        <p:tgtEl>
                                          <p:spTgt spid="27">
                                            <p:txEl>
                                              <p:pRg st="7" end="7"/>
                                            </p:txEl>
                                          </p:spTgt>
                                        </p:tgtEl>
                                        <p:attrNameLst>
                                          <p:attrName>ppt_x</p:attrName>
                                        </p:attrNameLst>
                                      </p:cBhvr>
                                      <p:tavLst>
                                        <p:tav tm="0">
                                          <p:val>
                                            <p:strVal val="#ppt_x"/>
                                          </p:val>
                                        </p:tav>
                                        <p:tav tm="100000">
                                          <p:val>
                                            <p:strVal val="#ppt_x"/>
                                          </p:val>
                                        </p:tav>
                                      </p:tavLst>
                                    </p:anim>
                                    <p:anim calcmode="lin" valueType="num">
                                      <p:cBhvr additive="base">
                                        <p:cTn id="87" dur="500" fill="hold"/>
                                        <p:tgtEl>
                                          <p:spTgt spid="27">
                                            <p:txEl>
                                              <p:pRg st="7" end="7"/>
                                            </p:txEl>
                                          </p:spTgt>
                                        </p:tgtEl>
                                        <p:attrNameLst>
                                          <p:attrName>ppt_y</p:attrName>
                                        </p:attrNameLst>
                                      </p:cBhvr>
                                      <p:tavLst>
                                        <p:tav tm="0">
                                          <p:val>
                                            <p:strVal val="1+#ppt_h/2"/>
                                          </p:val>
                                        </p:tav>
                                        <p:tav tm="100000">
                                          <p:val>
                                            <p:strVal val="#ppt_y"/>
                                          </p:val>
                                        </p:tav>
                                      </p:tavLst>
                                    </p:anim>
                                  </p:childTnLst>
                                </p:cTn>
                              </p:par>
                              <p:par>
                                <p:cTn id="88" presetID="2" presetClass="entr" presetSubtype="4" fill="hold" nodeType="withEffect">
                                  <p:stCondLst>
                                    <p:cond delay="0"/>
                                  </p:stCondLst>
                                  <p:childTnLst>
                                    <p:set>
                                      <p:cBhvr>
                                        <p:cTn id="89" dur="1" fill="hold">
                                          <p:stCondLst>
                                            <p:cond delay="0"/>
                                          </p:stCondLst>
                                        </p:cTn>
                                        <p:tgtEl>
                                          <p:spTgt spid="27">
                                            <p:txEl>
                                              <p:pRg st="8" end="8"/>
                                            </p:txEl>
                                          </p:spTgt>
                                        </p:tgtEl>
                                        <p:attrNameLst>
                                          <p:attrName>style.visibility</p:attrName>
                                        </p:attrNameLst>
                                      </p:cBhvr>
                                      <p:to>
                                        <p:strVal val="visible"/>
                                      </p:to>
                                    </p:set>
                                    <p:anim calcmode="lin" valueType="num">
                                      <p:cBhvr additive="base">
                                        <p:cTn id="90" dur="500" fill="hold"/>
                                        <p:tgtEl>
                                          <p:spTgt spid="27">
                                            <p:txEl>
                                              <p:pRg st="8" end="8"/>
                                            </p:txEl>
                                          </p:spTgt>
                                        </p:tgtEl>
                                        <p:attrNameLst>
                                          <p:attrName>ppt_x</p:attrName>
                                        </p:attrNameLst>
                                      </p:cBhvr>
                                      <p:tavLst>
                                        <p:tav tm="0">
                                          <p:val>
                                            <p:strVal val="#ppt_x"/>
                                          </p:val>
                                        </p:tav>
                                        <p:tav tm="100000">
                                          <p:val>
                                            <p:strVal val="#ppt_x"/>
                                          </p:val>
                                        </p:tav>
                                      </p:tavLst>
                                    </p:anim>
                                    <p:anim calcmode="lin" valueType="num">
                                      <p:cBhvr additive="base">
                                        <p:cTn id="91" dur="500" fill="hold"/>
                                        <p:tgtEl>
                                          <p:spTgt spid="27">
                                            <p:txEl>
                                              <p:pRg st="8" end="8"/>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3" grpId="0"/>
      <p:bldP spid="45" grpId="0"/>
      <p:bldP spid="29" grpId="0"/>
      <p:bldP spid="48" grpId="0"/>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888FDDF-E239-4569-BACF-1D67CF874AD0}"/>
              </a:ext>
            </a:extLst>
          </p:cNvPr>
          <p:cNvSpPr>
            <a:spLocks noGrp="1"/>
          </p:cNvSpPr>
          <p:nvPr>
            <p:ph type="title"/>
          </p:nvPr>
        </p:nvSpPr>
        <p:spPr/>
        <p:txBody>
          <a:bodyPr/>
          <a:lstStyle/>
          <a:p>
            <a:r>
              <a:rPr lang="zh-CN" altLang="en-US" dirty="0"/>
              <a:t>蚁群算法原理示意图</a:t>
            </a:r>
          </a:p>
        </p:txBody>
      </p:sp>
      <p:sp>
        <p:nvSpPr>
          <p:cNvPr id="4" name="日期占位符 3">
            <a:extLst>
              <a:ext uri="{FF2B5EF4-FFF2-40B4-BE49-F238E27FC236}">
                <a16:creationId xmlns:a16="http://schemas.microsoft.com/office/drawing/2014/main" id="{6F6A9891-8FEA-4ACB-BD75-F7BC8E6DB7F5}"/>
              </a:ext>
            </a:extLst>
          </p:cNvPr>
          <p:cNvSpPr>
            <a:spLocks noGrp="1"/>
          </p:cNvSpPr>
          <p:nvPr>
            <p:ph type="dt" sz="half" idx="10"/>
          </p:nvPr>
        </p:nvSpPr>
        <p:spPr/>
        <p:txBody>
          <a:bodyPr/>
          <a:lstStyle/>
          <a:p>
            <a:fld id="{A8B06C41-1E1E-4B9B-9644-5AFB8CB2AB3B}" type="datetime3">
              <a:rPr lang="zh-CN" altLang="en-US" smtClean="0"/>
              <a:t>2022年11月24日星期四</a:t>
            </a:fld>
            <a:endParaRPr lang="en-US" altLang="zh-CN" dirty="0"/>
          </a:p>
        </p:txBody>
      </p:sp>
      <p:sp>
        <p:nvSpPr>
          <p:cNvPr id="5" name="灯片编号占位符 4">
            <a:extLst>
              <a:ext uri="{FF2B5EF4-FFF2-40B4-BE49-F238E27FC236}">
                <a16:creationId xmlns:a16="http://schemas.microsoft.com/office/drawing/2014/main" id="{A0C19D16-75CA-4909-8B5D-BAA9AA835E12}"/>
              </a:ext>
            </a:extLst>
          </p:cNvPr>
          <p:cNvSpPr>
            <a:spLocks noGrp="1"/>
          </p:cNvSpPr>
          <p:nvPr>
            <p:ph type="sldNum" sz="quarter" idx="12"/>
          </p:nvPr>
        </p:nvSpPr>
        <p:spPr/>
        <p:txBody>
          <a:bodyPr/>
          <a:lstStyle/>
          <a:p>
            <a:fld id="{7AC79822-BC0D-4DE8-A7E5-90A3732A2B82}" type="slidenum">
              <a:rPr lang="zh-CN" altLang="en-US" smtClean="0"/>
              <a:pPr/>
              <a:t>25</a:t>
            </a:fld>
            <a:endParaRPr lang="en-US" altLang="zh-CN" dirty="0"/>
          </a:p>
        </p:txBody>
      </p:sp>
      <p:sp>
        <p:nvSpPr>
          <p:cNvPr id="6" name="椭圆 5">
            <a:extLst>
              <a:ext uri="{FF2B5EF4-FFF2-40B4-BE49-F238E27FC236}">
                <a16:creationId xmlns:a16="http://schemas.microsoft.com/office/drawing/2014/main" id="{719FDBC3-218C-409E-8B07-3F6C45731B33}"/>
              </a:ext>
            </a:extLst>
          </p:cNvPr>
          <p:cNvSpPr/>
          <p:nvPr/>
        </p:nvSpPr>
        <p:spPr bwMode="auto">
          <a:xfrm>
            <a:off x="7905328" y="1340767"/>
            <a:ext cx="504056" cy="504056"/>
          </a:xfrm>
          <a:prstGeom prst="ellipse">
            <a:avLst/>
          </a:prstGeom>
          <a:noFill/>
          <a:ln w="28575" cap="flat" cmpd="sng" algn="ctr">
            <a:solidFill>
              <a:schemeClr val="tx1"/>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kumimoji="0" lang="en-US" altLang="zh-CN" sz="2400" b="0" i="0" u="none" strike="noStrike" cap="none" normalizeH="0" baseline="0" dirty="0">
                <a:ln>
                  <a:noFill/>
                </a:ln>
                <a:solidFill>
                  <a:schemeClr val="tx1"/>
                </a:solidFill>
                <a:effectLst/>
                <a:latin typeface="Arial" charset="0"/>
              </a:rPr>
              <a:t>A</a:t>
            </a:r>
            <a:endParaRPr kumimoji="0" lang="zh-CN" altLang="en-US" sz="2400" b="0" i="0" u="none" strike="noStrike" cap="none" normalizeH="0" baseline="0" dirty="0">
              <a:ln>
                <a:noFill/>
              </a:ln>
              <a:solidFill>
                <a:schemeClr val="tx1"/>
              </a:solidFill>
              <a:effectLst/>
              <a:latin typeface="Arial" charset="0"/>
            </a:endParaRPr>
          </a:p>
        </p:txBody>
      </p:sp>
      <p:sp>
        <p:nvSpPr>
          <p:cNvPr id="7" name="椭圆 6">
            <a:extLst>
              <a:ext uri="{FF2B5EF4-FFF2-40B4-BE49-F238E27FC236}">
                <a16:creationId xmlns:a16="http://schemas.microsoft.com/office/drawing/2014/main" id="{78CB03C1-0E48-4C5B-B9C9-DB095C6CB2CE}"/>
              </a:ext>
            </a:extLst>
          </p:cNvPr>
          <p:cNvSpPr/>
          <p:nvPr/>
        </p:nvSpPr>
        <p:spPr bwMode="auto">
          <a:xfrm>
            <a:off x="7905328" y="6011107"/>
            <a:ext cx="504056" cy="504056"/>
          </a:xfrm>
          <a:prstGeom prst="ellipse">
            <a:avLst/>
          </a:prstGeom>
          <a:noFill/>
          <a:ln w="2857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r>
              <a:rPr kumimoji="0" lang="en-US" altLang="zh-CN" sz="1800" b="0" i="0" u="none" strike="noStrike" cap="none" normalizeH="0" baseline="0" dirty="0">
                <a:ln>
                  <a:noFill/>
                </a:ln>
                <a:solidFill>
                  <a:schemeClr val="tx1"/>
                </a:solidFill>
                <a:effectLst/>
                <a:latin typeface="Arial" charset="0"/>
              </a:rPr>
              <a:t>E</a:t>
            </a:r>
            <a:endParaRPr kumimoji="0" lang="zh-CN" altLang="en-US" sz="1800" b="0" i="0" u="none" strike="noStrike" cap="none" normalizeH="0" baseline="0" dirty="0">
              <a:ln>
                <a:noFill/>
              </a:ln>
              <a:solidFill>
                <a:schemeClr val="tx1"/>
              </a:solidFill>
              <a:effectLst/>
              <a:latin typeface="Arial" charset="0"/>
            </a:endParaRPr>
          </a:p>
        </p:txBody>
      </p:sp>
      <p:sp>
        <p:nvSpPr>
          <p:cNvPr id="8" name="椭圆 7">
            <a:extLst>
              <a:ext uri="{FF2B5EF4-FFF2-40B4-BE49-F238E27FC236}">
                <a16:creationId xmlns:a16="http://schemas.microsoft.com/office/drawing/2014/main" id="{62DBADF3-CD74-4381-AF4E-0419A229FB4F}"/>
              </a:ext>
            </a:extLst>
          </p:cNvPr>
          <p:cNvSpPr/>
          <p:nvPr/>
        </p:nvSpPr>
        <p:spPr bwMode="auto">
          <a:xfrm>
            <a:off x="7905328" y="2572130"/>
            <a:ext cx="504056" cy="504056"/>
          </a:xfrm>
          <a:prstGeom prst="ellipse">
            <a:avLst/>
          </a:prstGeom>
          <a:noFill/>
          <a:ln w="28575" cap="flat" cmpd="sng" algn="ctr">
            <a:solidFill>
              <a:schemeClr val="tx1"/>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kumimoji="0" lang="en-US" altLang="zh-CN" sz="2400" b="0" i="0" u="none" strike="noStrike" cap="none" normalizeH="0" baseline="0" dirty="0">
                <a:ln>
                  <a:noFill/>
                </a:ln>
                <a:solidFill>
                  <a:schemeClr val="tx1"/>
                </a:solidFill>
                <a:effectLst/>
                <a:latin typeface="Arial" charset="0"/>
              </a:rPr>
              <a:t>B</a:t>
            </a:r>
            <a:endParaRPr kumimoji="0" lang="zh-CN" altLang="en-US" sz="2400" b="0" i="0" u="none" strike="noStrike" cap="none" normalizeH="0" baseline="0" dirty="0">
              <a:ln>
                <a:noFill/>
              </a:ln>
              <a:solidFill>
                <a:schemeClr val="tx1"/>
              </a:solidFill>
              <a:effectLst/>
              <a:latin typeface="Arial" charset="0"/>
            </a:endParaRPr>
          </a:p>
        </p:txBody>
      </p:sp>
      <p:sp>
        <p:nvSpPr>
          <p:cNvPr id="9" name="椭圆 8">
            <a:extLst>
              <a:ext uri="{FF2B5EF4-FFF2-40B4-BE49-F238E27FC236}">
                <a16:creationId xmlns:a16="http://schemas.microsoft.com/office/drawing/2014/main" id="{6BEB99F3-72FB-432D-8F10-016A8F4980F3}"/>
              </a:ext>
            </a:extLst>
          </p:cNvPr>
          <p:cNvSpPr/>
          <p:nvPr/>
        </p:nvSpPr>
        <p:spPr bwMode="auto">
          <a:xfrm>
            <a:off x="7113240" y="3573016"/>
            <a:ext cx="504056" cy="504056"/>
          </a:xfrm>
          <a:prstGeom prst="ellipse">
            <a:avLst/>
          </a:prstGeom>
          <a:noFill/>
          <a:ln w="28575" cap="flat" cmpd="sng" algn="ctr">
            <a:solidFill>
              <a:schemeClr val="tx1"/>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lang="en-US" altLang="zh-CN" sz="2400" dirty="0"/>
              <a:t>C</a:t>
            </a:r>
            <a:endParaRPr kumimoji="0" lang="zh-CN" altLang="en-US" sz="2400" b="0" i="0" u="none" strike="noStrike" cap="none" normalizeH="0" baseline="0" dirty="0">
              <a:ln>
                <a:noFill/>
              </a:ln>
              <a:solidFill>
                <a:schemeClr val="tx1"/>
              </a:solidFill>
              <a:effectLst/>
              <a:latin typeface="Arial" charset="0"/>
            </a:endParaRPr>
          </a:p>
        </p:txBody>
      </p:sp>
      <p:sp>
        <p:nvSpPr>
          <p:cNvPr id="10" name="椭圆 9">
            <a:extLst>
              <a:ext uri="{FF2B5EF4-FFF2-40B4-BE49-F238E27FC236}">
                <a16:creationId xmlns:a16="http://schemas.microsoft.com/office/drawing/2014/main" id="{2E4411BC-13DC-4620-A78D-01A12A026DC2}"/>
              </a:ext>
            </a:extLst>
          </p:cNvPr>
          <p:cNvSpPr/>
          <p:nvPr/>
        </p:nvSpPr>
        <p:spPr bwMode="auto">
          <a:xfrm>
            <a:off x="9273480" y="3573016"/>
            <a:ext cx="504056" cy="504056"/>
          </a:xfrm>
          <a:prstGeom prst="ellipse">
            <a:avLst/>
          </a:prstGeom>
          <a:noFill/>
          <a:ln w="28575" cap="flat" cmpd="sng" algn="ctr">
            <a:solidFill>
              <a:schemeClr val="tx1"/>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kumimoji="0" lang="en-US" altLang="zh-CN" sz="2400" b="0" i="0" u="none" strike="noStrike" cap="none" normalizeH="0" baseline="0" dirty="0">
                <a:ln>
                  <a:noFill/>
                </a:ln>
                <a:solidFill>
                  <a:schemeClr val="tx1"/>
                </a:solidFill>
                <a:effectLst/>
                <a:latin typeface="Arial" charset="0"/>
              </a:rPr>
              <a:t>H</a:t>
            </a:r>
            <a:endParaRPr kumimoji="0" lang="zh-CN" altLang="en-US" sz="2400" b="0" i="0" u="none" strike="noStrike" cap="none" normalizeH="0" baseline="0" dirty="0">
              <a:ln>
                <a:noFill/>
              </a:ln>
              <a:solidFill>
                <a:schemeClr val="tx1"/>
              </a:solidFill>
              <a:effectLst/>
              <a:latin typeface="Arial" charset="0"/>
            </a:endParaRPr>
          </a:p>
        </p:txBody>
      </p:sp>
      <p:sp>
        <p:nvSpPr>
          <p:cNvPr id="11" name="椭圆 10">
            <a:extLst>
              <a:ext uri="{FF2B5EF4-FFF2-40B4-BE49-F238E27FC236}">
                <a16:creationId xmlns:a16="http://schemas.microsoft.com/office/drawing/2014/main" id="{07E0A4B6-B02C-489F-8564-406942E89921}"/>
              </a:ext>
            </a:extLst>
          </p:cNvPr>
          <p:cNvSpPr/>
          <p:nvPr/>
        </p:nvSpPr>
        <p:spPr bwMode="auto">
          <a:xfrm>
            <a:off x="7905328" y="4761149"/>
            <a:ext cx="504056" cy="504056"/>
          </a:xfrm>
          <a:prstGeom prst="ellipse">
            <a:avLst/>
          </a:prstGeom>
          <a:noFill/>
          <a:ln w="28575" cap="flat" cmpd="sng" algn="ctr">
            <a:solidFill>
              <a:schemeClr val="tx1"/>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lang="en-US" altLang="zh-CN" sz="2400" dirty="0"/>
              <a:t>D</a:t>
            </a:r>
            <a:endParaRPr kumimoji="0" lang="zh-CN" altLang="en-US" sz="2400" b="0" i="0" u="none" strike="noStrike" cap="none" normalizeH="0" baseline="0" dirty="0">
              <a:ln>
                <a:noFill/>
              </a:ln>
              <a:solidFill>
                <a:schemeClr val="tx1"/>
              </a:solidFill>
              <a:effectLst/>
              <a:latin typeface="Arial" charset="0"/>
            </a:endParaRPr>
          </a:p>
        </p:txBody>
      </p:sp>
      <p:cxnSp>
        <p:nvCxnSpPr>
          <p:cNvPr id="13" name="直接连接符 12">
            <a:extLst>
              <a:ext uri="{FF2B5EF4-FFF2-40B4-BE49-F238E27FC236}">
                <a16:creationId xmlns:a16="http://schemas.microsoft.com/office/drawing/2014/main" id="{6FC2888A-7D0B-45F3-8632-19517AB1A8ED}"/>
              </a:ext>
            </a:extLst>
          </p:cNvPr>
          <p:cNvCxnSpPr>
            <a:stCxn id="6" idx="4"/>
            <a:endCxn id="8" idx="0"/>
          </p:cNvCxnSpPr>
          <p:nvPr/>
        </p:nvCxnSpPr>
        <p:spPr bwMode="auto">
          <a:xfrm>
            <a:off x="8157356" y="1844823"/>
            <a:ext cx="0" cy="727307"/>
          </a:xfrm>
          <a:prstGeom prst="line">
            <a:avLst/>
          </a:prstGeom>
          <a:ln>
            <a:headEnd type="none" w="med" len="med"/>
            <a:tailEnd type="none" w="med" len="med"/>
          </a:ln>
          <a:extLst>
            <a:ext uri="{AF507438-7753-43E0-B8FC-AC1667EBCBE1}">
              <a14:hiddenEffects xmlns:a14="http://schemas.microsoft.com/office/drawing/2010/main">
                <a:effectLst>
                  <a:outerShdw dist="35921" dir="2700000" algn="ctr" rotWithShape="0">
                    <a:schemeClr val="bg2"/>
                  </a:outerShdw>
                </a:effectLst>
              </a14:hiddenEffects>
            </a:ext>
          </a:extLst>
        </p:spPr>
        <p:style>
          <a:lnRef idx="3">
            <a:schemeClr val="dk1"/>
          </a:lnRef>
          <a:fillRef idx="0">
            <a:schemeClr val="dk1"/>
          </a:fillRef>
          <a:effectRef idx="2">
            <a:schemeClr val="dk1"/>
          </a:effectRef>
          <a:fontRef idx="minor">
            <a:schemeClr val="tx1"/>
          </a:fontRef>
        </p:style>
      </p:cxnSp>
      <p:cxnSp>
        <p:nvCxnSpPr>
          <p:cNvPr id="14" name="直接连接符 13">
            <a:extLst>
              <a:ext uri="{FF2B5EF4-FFF2-40B4-BE49-F238E27FC236}">
                <a16:creationId xmlns:a16="http://schemas.microsoft.com/office/drawing/2014/main" id="{03416DEC-038E-4599-A9F3-D129A030A75F}"/>
              </a:ext>
            </a:extLst>
          </p:cNvPr>
          <p:cNvCxnSpPr>
            <a:cxnSpLocks/>
            <a:stCxn id="8" idx="3"/>
            <a:endCxn id="9" idx="0"/>
          </p:cNvCxnSpPr>
          <p:nvPr/>
        </p:nvCxnSpPr>
        <p:spPr bwMode="auto">
          <a:xfrm flipH="1">
            <a:off x="7365268" y="3002369"/>
            <a:ext cx="613877" cy="570647"/>
          </a:xfrm>
          <a:prstGeom prst="line">
            <a:avLst/>
          </a:prstGeom>
          <a:ln>
            <a:headEnd type="none" w="med" len="med"/>
            <a:tailEnd type="none" w="med" len="med"/>
          </a:ln>
          <a:extLst>
            <a:ext uri="{AF507438-7753-43E0-B8FC-AC1667EBCBE1}">
              <a14:hiddenEffects xmlns:a14="http://schemas.microsoft.com/office/drawing/2010/main">
                <a:effectLst>
                  <a:outerShdw dist="35921" dir="2700000" algn="ctr" rotWithShape="0">
                    <a:schemeClr val="bg2"/>
                  </a:outerShdw>
                </a:effectLst>
              </a14:hiddenEffects>
            </a:ext>
          </a:extLst>
        </p:spPr>
        <p:style>
          <a:lnRef idx="3">
            <a:schemeClr val="dk1"/>
          </a:lnRef>
          <a:fillRef idx="0">
            <a:schemeClr val="dk1"/>
          </a:fillRef>
          <a:effectRef idx="2">
            <a:schemeClr val="dk1"/>
          </a:effectRef>
          <a:fontRef idx="minor">
            <a:schemeClr val="tx1"/>
          </a:fontRef>
        </p:style>
      </p:cxnSp>
      <p:cxnSp>
        <p:nvCxnSpPr>
          <p:cNvPr id="17" name="直接连接符 16">
            <a:extLst>
              <a:ext uri="{FF2B5EF4-FFF2-40B4-BE49-F238E27FC236}">
                <a16:creationId xmlns:a16="http://schemas.microsoft.com/office/drawing/2014/main" id="{1B37A3C2-F3AD-4362-851D-8A78B4206E0D}"/>
              </a:ext>
            </a:extLst>
          </p:cNvPr>
          <p:cNvCxnSpPr>
            <a:cxnSpLocks/>
            <a:stCxn id="10" idx="1"/>
            <a:endCxn id="8" idx="5"/>
          </p:cNvCxnSpPr>
          <p:nvPr/>
        </p:nvCxnSpPr>
        <p:spPr bwMode="auto">
          <a:xfrm flipH="1" flipV="1">
            <a:off x="8335567" y="3002369"/>
            <a:ext cx="1011730" cy="644464"/>
          </a:xfrm>
          <a:prstGeom prst="line">
            <a:avLst/>
          </a:prstGeom>
          <a:ln>
            <a:headEnd type="none" w="med" len="med"/>
            <a:tailEnd type="none" w="med" len="med"/>
          </a:ln>
          <a:extLst>
            <a:ext uri="{AF507438-7753-43E0-B8FC-AC1667EBCBE1}">
              <a14:hiddenEffects xmlns:a14="http://schemas.microsoft.com/office/drawing/2010/main">
                <a:effectLst>
                  <a:outerShdw dist="35921" dir="2700000" algn="ctr" rotWithShape="0">
                    <a:schemeClr val="bg2"/>
                  </a:outerShdw>
                </a:effectLst>
              </a14:hiddenEffects>
            </a:ext>
          </a:extLst>
        </p:spPr>
        <p:style>
          <a:lnRef idx="3">
            <a:schemeClr val="dk1"/>
          </a:lnRef>
          <a:fillRef idx="0">
            <a:schemeClr val="dk1"/>
          </a:fillRef>
          <a:effectRef idx="2">
            <a:schemeClr val="dk1"/>
          </a:effectRef>
          <a:fontRef idx="minor">
            <a:schemeClr val="tx1"/>
          </a:fontRef>
        </p:style>
      </p:cxnSp>
      <p:cxnSp>
        <p:nvCxnSpPr>
          <p:cNvPr id="21" name="直接连接符 20">
            <a:extLst>
              <a:ext uri="{FF2B5EF4-FFF2-40B4-BE49-F238E27FC236}">
                <a16:creationId xmlns:a16="http://schemas.microsoft.com/office/drawing/2014/main" id="{11A6413E-E57A-4BEC-8778-FEBF9B0CA404}"/>
              </a:ext>
            </a:extLst>
          </p:cNvPr>
          <p:cNvCxnSpPr>
            <a:cxnSpLocks/>
            <a:stCxn id="11" idx="1"/>
            <a:endCxn id="9" idx="4"/>
          </p:cNvCxnSpPr>
          <p:nvPr/>
        </p:nvCxnSpPr>
        <p:spPr bwMode="auto">
          <a:xfrm flipH="1" flipV="1">
            <a:off x="7365268" y="4077072"/>
            <a:ext cx="613877" cy="757894"/>
          </a:xfrm>
          <a:prstGeom prst="line">
            <a:avLst/>
          </a:prstGeom>
          <a:ln>
            <a:headEnd type="none" w="med" len="med"/>
            <a:tailEnd type="none" w="med" len="med"/>
          </a:ln>
          <a:extLst>
            <a:ext uri="{AF507438-7753-43E0-B8FC-AC1667EBCBE1}">
              <a14:hiddenEffects xmlns:a14="http://schemas.microsoft.com/office/drawing/2010/main">
                <a:effectLst>
                  <a:outerShdw dist="35921" dir="2700000" algn="ctr" rotWithShape="0">
                    <a:schemeClr val="bg2"/>
                  </a:outerShdw>
                </a:effectLst>
              </a14:hiddenEffects>
            </a:ext>
          </a:extLst>
        </p:spPr>
        <p:style>
          <a:lnRef idx="3">
            <a:schemeClr val="dk1"/>
          </a:lnRef>
          <a:fillRef idx="0">
            <a:schemeClr val="dk1"/>
          </a:fillRef>
          <a:effectRef idx="2">
            <a:schemeClr val="dk1"/>
          </a:effectRef>
          <a:fontRef idx="minor">
            <a:schemeClr val="tx1"/>
          </a:fontRef>
        </p:style>
      </p:cxnSp>
      <p:cxnSp>
        <p:nvCxnSpPr>
          <p:cNvPr id="24" name="直接连接符 23">
            <a:extLst>
              <a:ext uri="{FF2B5EF4-FFF2-40B4-BE49-F238E27FC236}">
                <a16:creationId xmlns:a16="http://schemas.microsoft.com/office/drawing/2014/main" id="{BDBF825B-44AD-4EC9-85F8-C177D2766E93}"/>
              </a:ext>
            </a:extLst>
          </p:cNvPr>
          <p:cNvCxnSpPr>
            <a:cxnSpLocks/>
            <a:stCxn id="10" idx="3"/>
            <a:endCxn id="11" idx="7"/>
          </p:cNvCxnSpPr>
          <p:nvPr/>
        </p:nvCxnSpPr>
        <p:spPr bwMode="auto">
          <a:xfrm flipH="1">
            <a:off x="8335567" y="4003255"/>
            <a:ext cx="1011730" cy="831711"/>
          </a:xfrm>
          <a:prstGeom prst="line">
            <a:avLst/>
          </a:prstGeom>
          <a:ln>
            <a:headEnd type="none" w="med" len="med"/>
            <a:tailEnd type="none" w="med" len="med"/>
          </a:ln>
          <a:extLst>
            <a:ext uri="{AF507438-7753-43E0-B8FC-AC1667EBCBE1}">
              <a14:hiddenEffects xmlns:a14="http://schemas.microsoft.com/office/drawing/2010/main">
                <a:effectLst>
                  <a:outerShdw dist="35921" dir="2700000" algn="ctr" rotWithShape="0">
                    <a:schemeClr val="bg2"/>
                  </a:outerShdw>
                </a:effectLst>
              </a14:hiddenEffects>
            </a:ext>
          </a:extLst>
        </p:spPr>
        <p:style>
          <a:lnRef idx="3">
            <a:schemeClr val="dk1"/>
          </a:lnRef>
          <a:fillRef idx="0">
            <a:schemeClr val="dk1"/>
          </a:fillRef>
          <a:effectRef idx="2">
            <a:schemeClr val="dk1"/>
          </a:effectRef>
          <a:fontRef idx="minor">
            <a:schemeClr val="tx1"/>
          </a:fontRef>
        </p:style>
      </p:cxnSp>
      <p:cxnSp>
        <p:nvCxnSpPr>
          <p:cNvPr id="30" name="直接连接符 29">
            <a:extLst>
              <a:ext uri="{FF2B5EF4-FFF2-40B4-BE49-F238E27FC236}">
                <a16:creationId xmlns:a16="http://schemas.microsoft.com/office/drawing/2014/main" id="{00D916C3-FFF7-4A16-B9A4-420D4A388784}"/>
              </a:ext>
            </a:extLst>
          </p:cNvPr>
          <p:cNvCxnSpPr>
            <a:cxnSpLocks/>
            <a:stCxn id="11" idx="4"/>
            <a:endCxn id="7" idx="0"/>
          </p:cNvCxnSpPr>
          <p:nvPr/>
        </p:nvCxnSpPr>
        <p:spPr bwMode="auto">
          <a:xfrm>
            <a:off x="8157356" y="5265205"/>
            <a:ext cx="0" cy="745902"/>
          </a:xfrm>
          <a:prstGeom prst="line">
            <a:avLst/>
          </a:prstGeom>
          <a:ln>
            <a:headEnd type="none" w="med" len="med"/>
            <a:tailEnd type="none" w="med" len="med"/>
          </a:ln>
          <a:extLst>
            <a:ext uri="{AF507438-7753-43E0-B8FC-AC1667EBCBE1}">
              <a14:hiddenEffects xmlns:a14="http://schemas.microsoft.com/office/drawing/2010/main">
                <a:effectLst>
                  <a:outerShdw dist="35921" dir="2700000" algn="ctr" rotWithShape="0">
                    <a:schemeClr val="bg2"/>
                  </a:outerShdw>
                </a:effectLst>
              </a14:hiddenEffects>
            </a:ext>
          </a:extLst>
        </p:spPr>
        <p:style>
          <a:lnRef idx="3">
            <a:schemeClr val="dk1"/>
          </a:lnRef>
          <a:fillRef idx="0">
            <a:schemeClr val="dk1"/>
          </a:fillRef>
          <a:effectRef idx="2">
            <a:schemeClr val="dk1"/>
          </a:effectRef>
          <a:fontRef idx="minor">
            <a:schemeClr val="tx1"/>
          </a:fontRef>
        </p:style>
      </p:cxnSp>
      <p:graphicFrame>
        <p:nvGraphicFramePr>
          <p:cNvPr id="34" name="对象 33">
            <a:extLst>
              <a:ext uri="{FF2B5EF4-FFF2-40B4-BE49-F238E27FC236}">
                <a16:creationId xmlns:a16="http://schemas.microsoft.com/office/drawing/2014/main" id="{85BACB59-6962-49EB-AA86-94417456FB97}"/>
              </a:ext>
            </a:extLst>
          </p:cNvPr>
          <p:cNvGraphicFramePr>
            <a:graphicFrameLocks noChangeAspect="1"/>
          </p:cNvGraphicFramePr>
          <p:nvPr/>
        </p:nvGraphicFramePr>
        <p:xfrm>
          <a:off x="8731611" y="2831570"/>
          <a:ext cx="770288" cy="399408"/>
        </p:xfrm>
        <a:graphic>
          <a:graphicData uri="http://schemas.openxmlformats.org/presentationml/2006/ole">
            <mc:AlternateContent xmlns:mc="http://schemas.openxmlformats.org/markup-compatibility/2006">
              <mc:Choice xmlns:v="urn:schemas-microsoft-com:vml" Requires="v">
                <p:oleObj name="Equation" r:id="rId2" imgW="342720" imgH="177480" progId="Equation.DSMT4">
                  <p:embed/>
                </p:oleObj>
              </mc:Choice>
              <mc:Fallback>
                <p:oleObj name="Equation" r:id="rId2" imgW="342720" imgH="177480" progId="Equation.DSMT4">
                  <p:embed/>
                  <p:pic>
                    <p:nvPicPr>
                      <p:cNvPr id="34" name="对象 33">
                        <a:extLst>
                          <a:ext uri="{FF2B5EF4-FFF2-40B4-BE49-F238E27FC236}">
                            <a16:creationId xmlns:a16="http://schemas.microsoft.com/office/drawing/2014/main" id="{85BACB59-6962-49EB-AA86-94417456FB97}"/>
                          </a:ext>
                        </a:extLst>
                      </p:cNvPr>
                      <p:cNvPicPr/>
                      <p:nvPr/>
                    </p:nvPicPr>
                    <p:blipFill>
                      <a:blip r:embed="rId3"/>
                      <a:stretch>
                        <a:fillRect/>
                      </a:stretch>
                    </p:blipFill>
                    <p:spPr>
                      <a:xfrm>
                        <a:off x="8731611" y="2831570"/>
                        <a:ext cx="770288" cy="399408"/>
                      </a:xfrm>
                      <a:prstGeom prst="rect">
                        <a:avLst/>
                      </a:prstGeom>
                    </p:spPr>
                  </p:pic>
                </p:oleObj>
              </mc:Fallback>
            </mc:AlternateContent>
          </a:graphicData>
        </a:graphic>
      </p:graphicFrame>
      <p:graphicFrame>
        <p:nvGraphicFramePr>
          <p:cNvPr id="37" name="对象 36">
            <a:extLst>
              <a:ext uri="{FF2B5EF4-FFF2-40B4-BE49-F238E27FC236}">
                <a16:creationId xmlns:a16="http://schemas.microsoft.com/office/drawing/2014/main" id="{0AD43457-C483-477A-BD73-4C3C82D00F61}"/>
              </a:ext>
            </a:extLst>
          </p:cNvPr>
          <p:cNvGraphicFramePr>
            <a:graphicFrameLocks noChangeAspect="1"/>
          </p:cNvGraphicFramePr>
          <p:nvPr/>
        </p:nvGraphicFramePr>
        <p:xfrm>
          <a:off x="8686959" y="4476919"/>
          <a:ext cx="770288" cy="399408"/>
        </p:xfrm>
        <a:graphic>
          <a:graphicData uri="http://schemas.openxmlformats.org/presentationml/2006/ole">
            <mc:AlternateContent xmlns:mc="http://schemas.openxmlformats.org/markup-compatibility/2006">
              <mc:Choice xmlns:v="urn:schemas-microsoft-com:vml" Requires="v">
                <p:oleObj name="Equation" r:id="rId4" imgW="342720" imgH="177480" progId="Equation.DSMT4">
                  <p:embed/>
                </p:oleObj>
              </mc:Choice>
              <mc:Fallback>
                <p:oleObj name="Equation" r:id="rId4" imgW="342720" imgH="177480" progId="Equation.DSMT4">
                  <p:embed/>
                  <p:pic>
                    <p:nvPicPr>
                      <p:cNvPr id="37" name="对象 36">
                        <a:extLst>
                          <a:ext uri="{FF2B5EF4-FFF2-40B4-BE49-F238E27FC236}">
                            <a16:creationId xmlns:a16="http://schemas.microsoft.com/office/drawing/2014/main" id="{0AD43457-C483-477A-BD73-4C3C82D00F61}"/>
                          </a:ext>
                        </a:extLst>
                      </p:cNvPr>
                      <p:cNvPicPr/>
                      <p:nvPr/>
                    </p:nvPicPr>
                    <p:blipFill>
                      <a:blip r:embed="rId3"/>
                      <a:stretch>
                        <a:fillRect/>
                      </a:stretch>
                    </p:blipFill>
                    <p:spPr>
                      <a:xfrm>
                        <a:off x="8686959" y="4476919"/>
                        <a:ext cx="770288" cy="399408"/>
                      </a:xfrm>
                      <a:prstGeom prst="rect">
                        <a:avLst/>
                      </a:prstGeom>
                    </p:spPr>
                  </p:pic>
                </p:oleObj>
              </mc:Fallback>
            </mc:AlternateContent>
          </a:graphicData>
        </a:graphic>
      </p:graphicFrame>
      <p:graphicFrame>
        <p:nvGraphicFramePr>
          <p:cNvPr id="38" name="对象 37">
            <a:extLst>
              <a:ext uri="{FF2B5EF4-FFF2-40B4-BE49-F238E27FC236}">
                <a16:creationId xmlns:a16="http://schemas.microsoft.com/office/drawing/2014/main" id="{9294A2B9-BAF4-4260-8191-29148281E393}"/>
              </a:ext>
            </a:extLst>
          </p:cNvPr>
          <p:cNvGraphicFramePr>
            <a:graphicFrameLocks noChangeAspect="1"/>
          </p:cNvGraphicFramePr>
          <p:nvPr/>
        </p:nvGraphicFramePr>
        <p:xfrm>
          <a:off x="6658563" y="2926139"/>
          <a:ext cx="1084263" cy="398462"/>
        </p:xfrm>
        <a:graphic>
          <a:graphicData uri="http://schemas.openxmlformats.org/presentationml/2006/ole">
            <mc:AlternateContent xmlns:mc="http://schemas.openxmlformats.org/markup-compatibility/2006">
              <mc:Choice xmlns:v="urn:schemas-microsoft-com:vml" Requires="v">
                <p:oleObj name="Equation" r:id="rId5" imgW="482400" imgH="177480" progId="Equation.DSMT4">
                  <p:embed/>
                </p:oleObj>
              </mc:Choice>
              <mc:Fallback>
                <p:oleObj name="Equation" r:id="rId5" imgW="482400" imgH="177480" progId="Equation.DSMT4">
                  <p:embed/>
                  <p:pic>
                    <p:nvPicPr>
                      <p:cNvPr id="38" name="对象 37">
                        <a:extLst>
                          <a:ext uri="{FF2B5EF4-FFF2-40B4-BE49-F238E27FC236}">
                            <a16:creationId xmlns:a16="http://schemas.microsoft.com/office/drawing/2014/main" id="{9294A2B9-BAF4-4260-8191-29148281E393}"/>
                          </a:ext>
                        </a:extLst>
                      </p:cNvPr>
                      <p:cNvPicPr/>
                      <p:nvPr/>
                    </p:nvPicPr>
                    <p:blipFill>
                      <a:blip r:embed="rId6"/>
                      <a:stretch>
                        <a:fillRect/>
                      </a:stretch>
                    </p:blipFill>
                    <p:spPr>
                      <a:xfrm>
                        <a:off x="6658563" y="2926139"/>
                        <a:ext cx="1084263" cy="398462"/>
                      </a:xfrm>
                      <a:prstGeom prst="rect">
                        <a:avLst/>
                      </a:prstGeom>
                    </p:spPr>
                  </p:pic>
                </p:oleObj>
              </mc:Fallback>
            </mc:AlternateContent>
          </a:graphicData>
        </a:graphic>
      </p:graphicFrame>
      <p:graphicFrame>
        <p:nvGraphicFramePr>
          <p:cNvPr id="39" name="对象 38">
            <a:extLst>
              <a:ext uri="{FF2B5EF4-FFF2-40B4-BE49-F238E27FC236}">
                <a16:creationId xmlns:a16="http://schemas.microsoft.com/office/drawing/2014/main" id="{F78288CA-41A6-4CB8-BE51-6A2BD06CC17C}"/>
              </a:ext>
            </a:extLst>
          </p:cNvPr>
          <p:cNvGraphicFramePr>
            <a:graphicFrameLocks noChangeAspect="1"/>
          </p:cNvGraphicFramePr>
          <p:nvPr/>
        </p:nvGraphicFramePr>
        <p:xfrm>
          <a:off x="6606271" y="4397978"/>
          <a:ext cx="1084263" cy="398462"/>
        </p:xfrm>
        <a:graphic>
          <a:graphicData uri="http://schemas.openxmlformats.org/presentationml/2006/ole">
            <mc:AlternateContent xmlns:mc="http://schemas.openxmlformats.org/markup-compatibility/2006">
              <mc:Choice xmlns:v="urn:schemas-microsoft-com:vml" Requires="v">
                <p:oleObj name="Equation" r:id="rId7" imgW="482400" imgH="177480" progId="Equation.DSMT4">
                  <p:embed/>
                </p:oleObj>
              </mc:Choice>
              <mc:Fallback>
                <p:oleObj name="Equation" r:id="rId7" imgW="482400" imgH="177480" progId="Equation.DSMT4">
                  <p:embed/>
                  <p:pic>
                    <p:nvPicPr>
                      <p:cNvPr id="39" name="对象 38">
                        <a:extLst>
                          <a:ext uri="{FF2B5EF4-FFF2-40B4-BE49-F238E27FC236}">
                            <a16:creationId xmlns:a16="http://schemas.microsoft.com/office/drawing/2014/main" id="{F78288CA-41A6-4CB8-BE51-6A2BD06CC17C}"/>
                          </a:ext>
                        </a:extLst>
                      </p:cNvPr>
                      <p:cNvPicPr/>
                      <p:nvPr/>
                    </p:nvPicPr>
                    <p:blipFill>
                      <a:blip r:embed="rId6"/>
                      <a:stretch>
                        <a:fillRect/>
                      </a:stretch>
                    </p:blipFill>
                    <p:spPr>
                      <a:xfrm>
                        <a:off x="6606271" y="4397978"/>
                        <a:ext cx="1084263" cy="398462"/>
                      </a:xfrm>
                      <a:prstGeom prst="rect">
                        <a:avLst/>
                      </a:prstGeom>
                    </p:spPr>
                  </p:pic>
                </p:oleObj>
              </mc:Fallback>
            </mc:AlternateContent>
          </a:graphicData>
        </a:graphic>
      </p:graphicFrame>
      <p:sp>
        <p:nvSpPr>
          <p:cNvPr id="40" name="文本框 39">
            <a:extLst>
              <a:ext uri="{FF2B5EF4-FFF2-40B4-BE49-F238E27FC236}">
                <a16:creationId xmlns:a16="http://schemas.microsoft.com/office/drawing/2014/main" id="{682ED1D3-4BF5-45E3-8272-EACD1DF0C604}"/>
              </a:ext>
            </a:extLst>
          </p:cNvPr>
          <p:cNvSpPr txBox="1"/>
          <p:nvPr/>
        </p:nvSpPr>
        <p:spPr>
          <a:xfrm>
            <a:off x="8473261" y="1357800"/>
            <a:ext cx="800219" cy="461665"/>
          </a:xfrm>
          <a:prstGeom prst="rect">
            <a:avLst/>
          </a:prstGeom>
          <a:noFill/>
        </p:spPr>
        <p:txBody>
          <a:bodyPr wrap="none" rtlCol="0">
            <a:spAutoFit/>
          </a:bodyPr>
          <a:lstStyle/>
          <a:p>
            <a:r>
              <a:rPr lang="zh-CN" altLang="en-US" sz="2400" dirty="0"/>
              <a:t>蚁穴</a:t>
            </a:r>
          </a:p>
        </p:txBody>
      </p:sp>
      <p:sp>
        <p:nvSpPr>
          <p:cNvPr id="41" name="文本框 40">
            <a:extLst>
              <a:ext uri="{FF2B5EF4-FFF2-40B4-BE49-F238E27FC236}">
                <a16:creationId xmlns:a16="http://schemas.microsoft.com/office/drawing/2014/main" id="{DFA6DB5A-29B0-4D63-905B-34EA8605FB68}"/>
              </a:ext>
            </a:extLst>
          </p:cNvPr>
          <p:cNvSpPr txBox="1"/>
          <p:nvPr/>
        </p:nvSpPr>
        <p:spPr>
          <a:xfrm>
            <a:off x="8462924" y="6053498"/>
            <a:ext cx="1107996" cy="461665"/>
          </a:xfrm>
          <a:prstGeom prst="rect">
            <a:avLst/>
          </a:prstGeom>
          <a:noFill/>
        </p:spPr>
        <p:txBody>
          <a:bodyPr wrap="none" rtlCol="0">
            <a:spAutoFit/>
          </a:bodyPr>
          <a:lstStyle/>
          <a:p>
            <a:r>
              <a:rPr lang="zh-CN" altLang="en-US" sz="2400" dirty="0"/>
              <a:t>食物源</a:t>
            </a:r>
          </a:p>
        </p:txBody>
      </p:sp>
      <p:sp>
        <p:nvSpPr>
          <p:cNvPr id="27" name="文本框 26">
            <a:extLst>
              <a:ext uri="{FF2B5EF4-FFF2-40B4-BE49-F238E27FC236}">
                <a16:creationId xmlns:a16="http://schemas.microsoft.com/office/drawing/2014/main" id="{DAD1AF53-ED5A-40FE-9A68-CF8539E82459}"/>
              </a:ext>
            </a:extLst>
          </p:cNvPr>
          <p:cNvSpPr txBox="1"/>
          <p:nvPr/>
        </p:nvSpPr>
        <p:spPr>
          <a:xfrm>
            <a:off x="148538" y="1161770"/>
            <a:ext cx="6478903" cy="4893647"/>
          </a:xfrm>
          <a:prstGeom prst="rect">
            <a:avLst/>
          </a:prstGeom>
          <a:noFill/>
        </p:spPr>
        <p:txBody>
          <a:bodyPr wrap="square" rtlCol="0">
            <a:spAutoFit/>
          </a:bodyPr>
          <a:lstStyle/>
          <a:p>
            <a:r>
              <a:rPr lang="zh-CN" altLang="en-US" sz="2400" dirty="0"/>
              <a:t>时刻</a:t>
            </a:r>
            <a:r>
              <a:rPr lang="en-US" altLang="zh-CN" sz="2400" dirty="0"/>
              <a:t>2</a:t>
            </a:r>
          </a:p>
          <a:p>
            <a:endParaRPr lang="en-US" altLang="zh-CN" sz="2400" dirty="0"/>
          </a:p>
          <a:p>
            <a:r>
              <a:rPr lang="en-US" altLang="zh-CN" sz="2400" dirty="0"/>
              <a:t>B-C</a:t>
            </a:r>
            <a:r>
              <a:rPr lang="zh-CN" altLang="en-US" sz="2400" dirty="0"/>
              <a:t>信息素：</a:t>
            </a:r>
            <a:r>
              <a:rPr lang="en-US" altLang="zh-CN" sz="2400" dirty="0"/>
              <a:t>15</a:t>
            </a:r>
            <a:r>
              <a:rPr lang="zh-CN" altLang="en-US" sz="2400" dirty="0"/>
              <a:t>份</a:t>
            </a:r>
            <a:r>
              <a:rPr lang="en-US" altLang="zh-CN" sz="2400" dirty="0"/>
              <a:t>+15</a:t>
            </a:r>
            <a:r>
              <a:rPr lang="zh-CN" altLang="en-US" sz="2400" dirty="0"/>
              <a:t>分</a:t>
            </a:r>
            <a:r>
              <a:rPr lang="en-US" altLang="zh-CN" sz="2400" dirty="0"/>
              <a:t>=30</a:t>
            </a:r>
            <a:r>
              <a:rPr lang="zh-CN" altLang="en-US" sz="2400" dirty="0"/>
              <a:t>份</a:t>
            </a:r>
            <a:endParaRPr lang="en-US" altLang="zh-CN" sz="2400" dirty="0"/>
          </a:p>
          <a:p>
            <a:r>
              <a:rPr lang="en-US" altLang="zh-CN" sz="2400" dirty="0"/>
              <a:t>C-D</a:t>
            </a:r>
            <a:r>
              <a:rPr lang="zh-CN" altLang="en-US" sz="2400" dirty="0"/>
              <a:t>信息素：</a:t>
            </a:r>
            <a:r>
              <a:rPr lang="en-US" altLang="zh-CN" sz="2400" dirty="0"/>
              <a:t>15</a:t>
            </a:r>
            <a:r>
              <a:rPr lang="zh-CN" altLang="en-US" sz="2400" dirty="0"/>
              <a:t>份</a:t>
            </a:r>
            <a:r>
              <a:rPr lang="en-US" altLang="zh-CN" sz="2400" dirty="0"/>
              <a:t>+15</a:t>
            </a:r>
            <a:r>
              <a:rPr lang="zh-CN" altLang="en-US" sz="2400" dirty="0"/>
              <a:t>分</a:t>
            </a:r>
            <a:r>
              <a:rPr lang="en-US" altLang="zh-CN" sz="2400" dirty="0"/>
              <a:t>=30</a:t>
            </a:r>
            <a:r>
              <a:rPr lang="zh-CN" altLang="en-US" sz="2400" dirty="0"/>
              <a:t>份</a:t>
            </a:r>
            <a:endParaRPr lang="en-US" altLang="zh-CN" sz="2400" dirty="0"/>
          </a:p>
          <a:p>
            <a:r>
              <a:rPr lang="en-US" altLang="zh-CN" sz="2400" dirty="0"/>
              <a:t>B-H</a:t>
            </a:r>
            <a:r>
              <a:rPr lang="zh-CN" altLang="en-US" sz="2400" dirty="0"/>
              <a:t>信息素：</a:t>
            </a:r>
            <a:r>
              <a:rPr lang="en-US" altLang="zh-CN" sz="2400" dirty="0"/>
              <a:t>15</a:t>
            </a:r>
            <a:r>
              <a:rPr lang="zh-CN" altLang="en-US" sz="2400" dirty="0"/>
              <a:t>份</a:t>
            </a:r>
            <a:endParaRPr lang="en-US" altLang="zh-CN" sz="2400" dirty="0"/>
          </a:p>
          <a:p>
            <a:r>
              <a:rPr lang="en-US" altLang="zh-CN" sz="2400" dirty="0"/>
              <a:t>H-D</a:t>
            </a:r>
            <a:r>
              <a:rPr lang="zh-CN" altLang="en-US" sz="2400" dirty="0"/>
              <a:t>信息素：</a:t>
            </a:r>
            <a:r>
              <a:rPr lang="en-US" altLang="zh-CN" sz="2400" dirty="0"/>
              <a:t>15</a:t>
            </a:r>
            <a:r>
              <a:rPr lang="zh-CN" altLang="en-US" sz="2400" dirty="0"/>
              <a:t>份</a:t>
            </a:r>
            <a:endParaRPr lang="en-US" altLang="zh-CN" sz="2400" dirty="0"/>
          </a:p>
          <a:p>
            <a:endParaRPr lang="en-US" altLang="zh-CN" sz="2400" dirty="0"/>
          </a:p>
          <a:p>
            <a:r>
              <a:rPr lang="zh-CN" altLang="en-US" sz="2400" dirty="0"/>
              <a:t>此时，又有</a:t>
            </a:r>
            <a:r>
              <a:rPr lang="en-US" altLang="zh-CN" sz="2400" dirty="0"/>
              <a:t>30</a:t>
            </a:r>
            <a:r>
              <a:rPr lang="zh-CN" altLang="en-US" sz="2400" dirty="0"/>
              <a:t>只蚂蚁到达</a:t>
            </a:r>
            <a:r>
              <a:rPr lang="en-US" altLang="zh-CN" sz="2400" dirty="0"/>
              <a:t>B</a:t>
            </a:r>
            <a:r>
              <a:rPr lang="zh-CN" altLang="en-US" sz="2400" dirty="0"/>
              <a:t>和</a:t>
            </a:r>
            <a:r>
              <a:rPr lang="en-US" altLang="zh-CN" sz="2400" dirty="0"/>
              <a:t>D</a:t>
            </a:r>
            <a:r>
              <a:rPr lang="zh-CN" altLang="en-US" sz="2400" dirty="0"/>
              <a:t>，则它们会根据现有的浓度进行选择，经过多次迭代以后，</a:t>
            </a:r>
            <a:r>
              <a:rPr lang="en-US" altLang="zh-CN" sz="2400" dirty="0"/>
              <a:t>BCD</a:t>
            </a:r>
            <a:r>
              <a:rPr lang="zh-CN" altLang="en-US" sz="2400" dirty="0"/>
              <a:t>上的信息素浓度越来越大，</a:t>
            </a:r>
            <a:r>
              <a:rPr lang="en-US" altLang="zh-CN" sz="2400" dirty="0"/>
              <a:t>BHD</a:t>
            </a:r>
            <a:r>
              <a:rPr lang="zh-CN" altLang="en-US" sz="2400" dirty="0"/>
              <a:t>上的信息素随着挥发越来越小，直到为</a:t>
            </a:r>
            <a:r>
              <a:rPr lang="en-US" altLang="zh-CN" sz="2400" dirty="0"/>
              <a:t>0</a:t>
            </a:r>
            <a:r>
              <a:rPr lang="zh-CN" altLang="en-US" sz="2400" dirty="0"/>
              <a:t>。最后所有的蚂蚁都会选择</a:t>
            </a:r>
            <a:r>
              <a:rPr lang="en-US" altLang="zh-CN" sz="2400" dirty="0"/>
              <a:t>BCD</a:t>
            </a:r>
            <a:r>
              <a:rPr lang="zh-CN" altLang="en-US" sz="2400" dirty="0"/>
              <a:t>进行食物搬运</a:t>
            </a:r>
            <a:endParaRPr lang="en-US" altLang="zh-CN" sz="2400" dirty="0"/>
          </a:p>
          <a:p>
            <a:endParaRPr lang="en-US" altLang="zh-CN" sz="2400" dirty="0"/>
          </a:p>
        </p:txBody>
      </p:sp>
      <p:sp>
        <p:nvSpPr>
          <p:cNvPr id="49" name="文本框 48">
            <a:extLst>
              <a:ext uri="{FF2B5EF4-FFF2-40B4-BE49-F238E27FC236}">
                <a16:creationId xmlns:a16="http://schemas.microsoft.com/office/drawing/2014/main" id="{8548CEB6-2C36-4DC5-A98F-9C393397AA6B}"/>
              </a:ext>
            </a:extLst>
          </p:cNvPr>
          <p:cNvSpPr txBox="1"/>
          <p:nvPr/>
        </p:nvSpPr>
        <p:spPr>
          <a:xfrm>
            <a:off x="7556273" y="3220174"/>
            <a:ext cx="527709" cy="461665"/>
          </a:xfrm>
          <a:prstGeom prst="rect">
            <a:avLst/>
          </a:prstGeom>
          <a:noFill/>
        </p:spPr>
        <p:txBody>
          <a:bodyPr wrap="none" rtlCol="0">
            <a:spAutoFit/>
          </a:bodyPr>
          <a:lstStyle/>
          <a:p>
            <a:r>
              <a:rPr lang="en-US" altLang="zh-CN" sz="2400" dirty="0">
                <a:solidFill>
                  <a:srgbClr val="FF0000"/>
                </a:solidFill>
              </a:rPr>
              <a:t>30</a:t>
            </a:r>
            <a:endParaRPr lang="zh-CN" altLang="en-US" sz="2400" dirty="0">
              <a:solidFill>
                <a:srgbClr val="FF0000"/>
              </a:solidFill>
            </a:endParaRPr>
          </a:p>
        </p:txBody>
      </p:sp>
      <p:sp>
        <p:nvSpPr>
          <p:cNvPr id="50" name="文本框 49">
            <a:extLst>
              <a:ext uri="{FF2B5EF4-FFF2-40B4-BE49-F238E27FC236}">
                <a16:creationId xmlns:a16="http://schemas.microsoft.com/office/drawing/2014/main" id="{BA3CF6E1-E894-4D31-9720-65EA052FEEC7}"/>
              </a:ext>
            </a:extLst>
          </p:cNvPr>
          <p:cNvSpPr txBox="1"/>
          <p:nvPr/>
        </p:nvSpPr>
        <p:spPr>
          <a:xfrm>
            <a:off x="7576901" y="4047456"/>
            <a:ext cx="527709" cy="461665"/>
          </a:xfrm>
          <a:prstGeom prst="rect">
            <a:avLst/>
          </a:prstGeom>
          <a:noFill/>
        </p:spPr>
        <p:txBody>
          <a:bodyPr wrap="none" rtlCol="0">
            <a:spAutoFit/>
          </a:bodyPr>
          <a:lstStyle/>
          <a:p>
            <a:r>
              <a:rPr lang="en-US" altLang="zh-CN" sz="2400" dirty="0">
                <a:solidFill>
                  <a:srgbClr val="FF0000"/>
                </a:solidFill>
              </a:rPr>
              <a:t>30</a:t>
            </a:r>
            <a:endParaRPr lang="zh-CN" altLang="en-US" sz="2400" dirty="0">
              <a:solidFill>
                <a:srgbClr val="FF0000"/>
              </a:solidFill>
            </a:endParaRPr>
          </a:p>
        </p:txBody>
      </p:sp>
      <p:sp>
        <p:nvSpPr>
          <p:cNvPr id="51" name="文本框 50">
            <a:extLst>
              <a:ext uri="{FF2B5EF4-FFF2-40B4-BE49-F238E27FC236}">
                <a16:creationId xmlns:a16="http://schemas.microsoft.com/office/drawing/2014/main" id="{42638599-B434-4213-8DD3-09CA4E8229C8}"/>
              </a:ext>
            </a:extLst>
          </p:cNvPr>
          <p:cNvSpPr txBox="1"/>
          <p:nvPr/>
        </p:nvSpPr>
        <p:spPr>
          <a:xfrm>
            <a:off x="8422178" y="3245200"/>
            <a:ext cx="527709" cy="461665"/>
          </a:xfrm>
          <a:prstGeom prst="rect">
            <a:avLst/>
          </a:prstGeom>
          <a:noFill/>
        </p:spPr>
        <p:txBody>
          <a:bodyPr wrap="none" rtlCol="0">
            <a:spAutoFit/>
          </a:bodyPr>
          <a:lstStyle/>
          <a:p>
            <a:r>
              <a:rPr lang="en-US" altLang="zh-CN" sz="2400" dirty="0">
                <a:solidFill>
                  <a:srgbClr val="FF0000"/>
                </a:solidFill>
              </a:rPr>
              <a:t>15</a:t>
            </a:r>
            <a:endParaRPr lang="zh-CN" altLang="en-US" sz="2400" dirty="0">
              <a:solidFill>
                <a:srgbClr val="FF0000"/>
              </a:solidFill>
            </a:endParaRPr>
          </a:p>
        </p:txBody>
      </p:sp>
      <p:sp>
        <p:nvSpPr>
          <p:cNvPr id="52" name="文本框 51">
            <a:extLst>
              <a:ext uri="{FF2B5EF4-FFF2-40B4-BE49-F238E27FC236}">
                <a16:creationId xmlns:a16="http://schemas.microsoft.com/office/drawing/2014/main" id="{98BAB828-1035-4E79-97C7-FB04D58DFFC2}"/>
              </a:ext>
            </a:extLst>
          </p:cNvPr>
          <p:cNvSpPr txBox="1"/>
          <p:nvPr/>
        </p:nvSpPr>
        <p:spPr>
          <a:xfrm>
            <a:off x="8485789" y="4012250"/>
            <a:ext cx="527709" cy="461665"/>
          </a:xfrm>
          <a:prstGeom prst="rect">
            <a:avLst/>
          </a:prstGeom>
          <a:noFill/>
        </p:spPr>
        <p:txBody>
          <a:bodyPr wrap="none" rtlCol="0">
            <a:spAutoFit/>
          </a:bodyPr>
          <a:lstStyle/>
          <a:p>
            <a:r>
              <a:rPr lang="en-US" altLang="zh-CN" sz="2400" dirty="0">
                <a:solidFill>
                  <a:srgbClr val="FF0000"/>
                </a:solidFill>
              </a:rPr>
              <a:t>15</a:t>
            </a:r>
            <a:endParaRPr lang="zh-CN" altLang="en-US" sz="2400" dirty="0">
              <a:solidFill>
                <a:srgbClr val="FF0000"/>
              </a:solidFill>
            </a:endParaRPr>
          </a:p>
        </p:txBody>
      </p:sp>
    </p:spTree>
    <p:extLst>
      <p:ext uri="{BB962C8B-B14F-4D97-AF65-F5344CB8AC3E}">
        <p14:creationId xmlns:p14="http://schemas.microsoft.com/office/powerpoint/2010/main" val="31016458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6" presetClass="entr" presetSubtype="21" fill="hold" grpId="0" nodeType="withEffect">
                                  <p:stCondLst>
                                    <p:cond delay="0"/>
                                  </p:stCondLst>
                                  <p:childTnLst>
                                    <p:set>
                                      <p:cBhvr>
                                        <p:cTn id="6" dur="1" fill="hold">
                                          <p:stCondLst>
                                            <p:cond delay="0"/>
                                          </p:stCondLst>
                                        </p:cTn>
                                        <p:tgtEl>
                                          <p:spTgt spid="49"/>
                                        </p:tgtEl>
                                        <p:attrNameLst>
                                          <p:attrName>style.visibility</p:attrName>
                                        </p:attrNameLst>
                                      </p:cBhvr>
                                      <p:to>
                                        <p:strVal val="visible"/>
                                      </p:to>
                                    </p:set>
                                    <p:animEffect transition="in" filter="barn(inVertical)">
                                      <p:cBhvr>
                                        <p:cTn id="7" dur="500"/>
                                        <p:tgtEl>
                                          <p:spTgt spid="49"/>
                                        </p:tgtEl>
                                      </p:cBhvr>
                                    </p:animEffect>
                                  </p:childTnLst>
                                </p:cTn>
                              </p:par>
                              <p:par>
                                <p:cTn id="8" presetID="16" presetClass="entr" presetSubtype="21" fill="hold" grpId="0" nodeType="withEffect">
                                  <p:stCondLst>
                                    <p:cond delay="0"/>
                                  </p:stCondLst>
                                  <p:childTnLst>
                                    <p:set>
                                      <p:cBhvr>
                                        <p:cTn id="9" dur="1" fill="hold">
                                          <p:stCondLst>
                                            <p:cond delay="0"/>
                                          </p:stCondLst>
                                        </p:cTn>
                                        <p:tgtEl>
                                          <p:spTgt spid="50"/>
                                        </p:tgtEl>
                                        <p:attrNameLst>
                                          <p:attrName>style.visibility</p:attrName>
                                        </p:attrNameLst>
                                      </p:cBhvr>
                                      <p:to>
                                        <p:strVal val="visible"/>
                                      </p:to>
                                    </p:set>
                                    <p:animEffect transition="in" filter="barn(inVertical)">
                                      <p:cBhvr>
                                        <p:cTn id="10" dur="500"/>
                                        <p:tgtEl>
                                          <p:spTgt spid="50"/>
                                        </p:tgtEl>
                                      </p:cBhvr>
                                    </p:animEffect>
                                  </p:childTnLst>
                                </p:cTn>
                              </p:par>
                              <p:par>
                                <p:cTn id="11" presetID="16" presetClass="entr" presetSubtype="21" fill="hold" grpId="0" nodeType="withEffect">
                                  <p:stCondLst>
                                    <p:cond delay="0"/>
                                  </p:stCondLst>
                                  <p:childTnLst>
                                    <p:set>
                                      <p:cBhvr>
                                        <p:cTn id="12" dur="1" fill="hold">
                                          <p:stCondLst>
                                            <p:cond delay="0"/>
                                          </p:stCondLst>
                                        </p:cTn>
                                        <p:tgtEl>
                                          <p:spTgt spid="51"/>
                                        </p:tgtEl>
                                        <p:attrNameLst>
                                          <p:attrName>style.visibility</p:attrName>
                                        </p:attrNameLst>
                                      </p:cBhvr>
                                      <p:to>
                                        <p:strVal val="visible"/>
                                      </p:to>
                                    </p:set>
                                    <p:animEffect transition="in" filter="barn(inVertical)">
                                      <p:cBhvr>
                                        <p:cTn id="13" dur="500"/>
                                        <p:tgtEl>
                                          <p:spTgt spid="51"/>
                                        </p:tgtEl>
                                      </p:cBhvr>
                                    </p:animEffect>
                                  </p:childTnLst>
                                </p:cTn>
                              </p:par>
                              <p:par>
                                <p:cTn id="14" presetID="16" presetClass="entr" presetSubtype="21" fill="hold" grpId="0" nodeType="withEffect">
                                  <p:stCondLst>
                                    <p:cond delay="0"/>
                                  </p:stCondLst>
                                  <p:childTnLst>
                                    <p:set>
                                      <p:cBhvr>
                                        <p:cTn id="15" dur="1" fill="hold">
                                          <p:stCondLst>
                                            <p:cond delay="0"/>
                                          </p:stCondLst>
                                        </p:cTn>
                                        <p:tgtEl>
                                          <p:spTgt spid="52"/>
                                        </p:tgtEl>
                                        <p:attrNameLst>
                                          <p:attrName>style.visibility</p:attrName>
                                        </p:attrNameLst>
                                      </p:cBhvr>
                                      <p:to>
                                        <p:strVal val="visible"/>
                                      </p:to>
                                    </p:set>
                                    <p:animEffect transition="in" filter="barn(inVertical)">
                                      <p:cBhvr>
                                        <p:cTn id="16" dur="500"/>
                                        <p:tgtEl>
                                          <p:spTgt spid="52"/>
                                        </p:tgtEl>
                                      </p:cBhvr>
                                    </p:animEffect>
                                  </p:childTnLst>
                                </p:cTn>
                              </p:par>
                            </p:childTnLst>
                          </p:cTn>
                        </p:par>
                      </p:childTnLst>
                    </p:cTn>
                  </p:par>
                  <p:par>
                    <p:cTn id="17" fill="hold">
                      <p:stCondLst>
                        <p:cond delay="indefinite"/>
                      </p:stCondLst>
                      <p:childTnLst>
                        <p:par>
                          <p:cTn id="18" fill="hold">
                            <p:stCondLst>
                              <p:cond delay="0"/>
                            </p:stCondLst>
                            <p:childTnLst>
                              <p:par>
                                <p:cTn id="19" presetID="22" presetClass="entr" presetSubtype="4" fill="hold" nodeType="clickEffect">
                                  <p:stCondLst>
                                    <p:cond delay="0"/>
                                  </p:stCondLst>
                                  <p:childTnLst>
                                    <p:set>
                                      <p:cBhvr>
                                        <p:cTn id="20" dur="1" fill="hold">
                                          <p:stCondLst>
                                            <p:cond delay="0"/>
                                          </p:stCondLst>
                                        </p:cTn>
                                        <p:tgtEl>
                                          <p:spTgt spid="27">
                                            <p:txEl>
                                              <p:pRg st="7" end="7"/>
                                            </p:txEl>
                                          </p:spTgt>
                                        </p:tgtEl>
                                        <p:attrNameLst>
                                          <p:attrName>style.visibility</p:attrName>
                                        </p:attrNameLst>
                                      </p:cBhvr>
                                      <p:to>
                                        <p:strVal val="visible"/>
                                      </p:to>
                                    </p:set>
                                    <p:animEffect transition="in" filter="wipe(down)">
                                      <p:cBhvr>
                                        <p:cTn id="21" dur="500"/>
                                        <p:tgtEl>
                                          <p:spTgt spid="27">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9" grpId="0"/>
      <p:bldP spid="50" grpId="0"/>
      <p:bldP spid="51" grpId="0"/>
      <p:bldP spid="52" grpId="0"/>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0921CAA-1405-461D-BA96-C95A6425E9B8}"/>
              </a:ext>
            </a:extLst>
          </p:cNvPr>
          <p:cNvSpPr>
            <a:spLocks noGrp="1"/>
          </p:cNvSpPr>
          <p:nvPr>
            <p:ph type="title"/>
          </p:nvPr>
        </p:nvSpPr>
        <p:spPr/>
        <p:txBody>
          <a:bodyPr/>
          <a:lstStyle/>
          <a:p>
            <a:r>
              <a:rPr lang="zh-CN" altLang="en-US" dirty="0"/>
              <a:t>启发式算法</a:t>
            </a:r>
            <a:r>
              <a:rPr lang="en-US" altLang="zh-CN" dirty="0"/>
              <a:t>—</a:t>
            </a:r>
            <a:r>
              <a:rPr lang="zh-CN" altLang="en-US" dirty="0"/>
              <a:t>蚁群算法</a:t>
            </a:r>
          </a:p>
        </p:txBody>
      </p:sp>
      <p:sp>
        <p:nvSpPr>
          <p:cNvPr id="3" name="内容占位符 2">
            <a:extLst>
              <a:ext uri="{FF2B5EF4-FFF2-40B4-BE49-F238E27FC236}">
                <a16:creationId xmlns:a16="http://schemas.microsoft.com/office/drawing/2014/main" id="{EC970A6E-1342-439B-ADFD-B7624559CF7E}"/>
              </a:ext>
            </a:extLst>
          </p:cNvPr>
          <p:cNvSpPr>
            <a:spLocks noGrp="1"/>
          </p:cNvSpPr>
          <p:nvPr>
            <p:ph idx="1"/>
          </p:nvPr>
        </p:nvSpPr>
        <p:spPr/>
        <p:txBody>
          <a:bodyPr/>
          <a:lstStyle/>
          <a:p>
            <a:r>
              <a:rPr lang="zh-CN" altLang="en-US" dirty="0"/>
              <a:t>技术难点</a:t>
            </a:r>
            <a:endParaRPr lang="en-US" altLang="zh-CN" dirty="0"/>
          </a:p>
          <a:p>
            <a:pPr lvl="1"/>
            <a:r>
              <a:rPr lang="zh-CN" altLang="en-US" dirty="0">
                <a:solidFill>
                  <a:srgbClr val="C00000"/>
                </a:solidFill>
              </a:rPr>
              <a:t>如何选择路径</a:t>
            </a:r>
            <a:endParaRPr lang="en-US" altLang="zh-CN" dirty="0">
              <a:solidFill>
                <a:srgbClr val="C00000"/>
              </a:solidFill>
            </a:endParaRPr>
          </a:p>
          <a:p>
            <a:pPr lvl="2"/>
            <a:r>
              <a:rPr lang="zh-CN" altLang="en-US" dirty="0"/>
              <a:t>选择的依据是信息素浓度还是局部化的路径长度？</a:t>
            </a:r>
            <a:endParaRPr lang="en-US" altLang="zh-CN" dirty="0"/>
          </a:p>
          <a:p>
            <a:pPr lvl="1"/>
            <a:r>
              <a:rPr lang="zh-CN" altLang="en-US" dirty="0">
                <a:solidFill>
                  <a:srgbClr val="0000FF"/>
                </a:solidFill>
              </a:rPr>
              <a:t>如何更新信息素</a:t>
            </a:r>
            <a:endParaRPr lang="en-US" altLang="zh-CN" dirty="0">
              <a:solidFill>
                <a:srgbClr val="0000FF"/>
              </a:solidFill>
            </a:endParaRPr>
          </a:p>
          <a:p>
            <a:pPr lvl="2"/>
            <a:r>
              <a:rPr lang="zh-CN" altLang="en-US" dirty="0"/>
              <a:t>如何确新增加信息素和挥发信息素之间的关系？</a:t>
            </a:r>
          </a:p>
        </p:txBody>
      </p:sp>
      <p:sp>
        <p:nvSpPr>
          <p:cNvPr id="4" name="日期占位符 3">
            <a:extLst>
              <a:ext uri="{FF2B5EF4-FFF2-40B4-BE49-F238E27FC236}">
                <a16:creationId xmlns:a16="http://schemas.microsoft.com/office/drawing/2014/main" id="{0EE1242E-42CF-4070-8B66-22E4AA03A1B5}"/>
              </a:ext>
            </a:extLst>
          </p:cNvPr>
          <p:cNvSpPr>
            <a:spLocks noGrp="1"/>
          </p:cNvSpPr>
          <p:nvPr>
            <p:ph type="dt" sz="half" idx="10"/>
          </p:nvPr>
        </p:nvSpPr>
        <p:spPr/>
        <p:txBody>
          <a:bodyPr/>
          <a:lstStyle/>
          <a:p>
            <a:fld id="{A8B06C41-1E1E-4B9B-9644-5AFB8CB2AB3B}" type="datetime3">
              <a:rPr lang="zh-CN" altLang="en-US" smtClean="0"/>
              <a:t>2022年11月24日星期四</a:t>
            </a:fld>
            <a:endParaRPr lang="en-US" altLang="zh-CN" dirty="0"/>
          </a:p>
        </p:txBody>
      </p:sp>
      <p:sp>
        <p:nvSpPr>
          <p:cNvPr id="5" name="灯片编号占位符 4">
            <a:extLst>
              <a:ext uri="{FF2B5EF4-FFF2-40B4-BE49-F238E27FC236}">
                <a16:creationId xmlns:a16="http://schemas.microsoft.com/office/drawing/2014/main" id="{DBC88019-D24B-4FCA-B321-BE3644E49E89}"/>
              </a:ext>
            </a:extLst>
          </p:cNvPr>
          <p:cNvSpPr>
            <a:spLocks noGrp="1"/>
          </p:cNvSpPr>
          <p:nvPr>
            <p:ph type="sldNum" sz="quarter" idx="12"/>
          </p:nvPr>
        </p:nvSpPr>
        <p:spPr/>
        <p:txBody>
          <a:bodyPr/>
          <a:lstStyle/>
          <a:p>
            <a:fld id="{7AC79822-BC0D-4DE8-A7E5-90A3732A2B82}" type="slidenum">
              <a:rPr lang="zh-CN" altLang="en-US" smtClean="0"/>
              <a:pPr/>
              <a:t>26</a:t>
            </a:fld>
            <a:endParaRPr lang="en-US" altLang="zh-CN" dirty="0"/>
          </a:p>
        </p:txBody>
      </p:sp>
    </p:spTree>
    <p:extLst>
      <p:ext uri="{BB962C8B-B14F-4D97-AF65-F5344CB8AC3E}">
        <p14:creationId xmlns:p14="http://schemas.microsoft.com/office/powerpoint/2010/main" val="135943363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4" fill="hold" nodeType="with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down)">
                                      <p:cBhvr>
                                        <p:cTn id="7" dur="500"/>
                                        <p:tgtEl>
                                          <p:spTgt spid="3">
                                            <p:txEl>
                                              <p:pRg st="0" end="0"/>
                                            </p:txEl>
                                          </p:spTgt>
                                        </p:tgtEl>
                                      </p:cBhvr>
                                    </p:animEffect>
                                  </p:childTnLst>
                                </p:cTn>
                              </p:par>
                              <p:par>
                                <p:cTn id="8" presetID="22" presetClass="entr" presetSubtype="4" fill="hold" nodeType="withEffect">
                                  <p:stCondLst>
                                    <p:cond delay="0"/>
                                  </p:stCondLst>
                                  <p:childTnLst>
                                    <p:set>
                                      <p:cBhvr>
                                        <p:cTn id="9" dur="1" fill="hold">
                                          <p:stCondLst>
                                            <p:cond delay="0"/>
                                          </p:stCondLst>
                                        </p:cTn>
                                        <p:tgtEl>
                                          <p:spTgt spid="3">
                                            <p:txEl>
                                              <p:pRg st="1" end="1"/>
                                            </p:txEl>
                                          </p:spTgt>
                                        </p:tgtEl>
                                        <p:attrNameLst>
                                          <p:attrName>style.visibility</p:attrName>
                                        </p:attrNameLst>
                                      </p:cBhvr>
                                      <p:to>
                                        <p:strVal val="visible"/>
                                      </p:to>
                                    </p:set>
                                    <p:animEffect transition="in" filter="wipe(down)">
                                      <p:cBhvr>
                                        <p:cTn id="10" dur="500"/>
                                        <p:tgtEl>
                                          <p:spTgt spid="3">
                                            <p:txEl>
                                              <p:pRg st="1" end="1"/>
                                            </p:txEl>
                                          </p:spTgt>
                                        </p:tgtEl>
                                      </p:cBhvr>
                                    </p:animEffect>
                                  </p:childTnLst>
                                </p:cTn>
                              </p:par>
                              <p:par>
                                <p:cTn id="11" presetID="22" presetClass="entr" presetSubtype="4" fill="hold" nodeType="with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animEffect transition="in" filter="wipe(down)">
                                      <p:cBhvr>
                                        <p:cTn id="13" dur="500"/>
                                        <p:tgtEl>
                                          <p:spTgt spid="3">
                                            <p:txEl>
                                              <p:pRg st="2" end="2"/>
                                            </p:txEl>
                                          </p:spTgt>
                                        </p:tgtEl>
                                      </p:cBhvr>
                                    </p:animEffect>
                                  </p:childTnLst>
                                </p:cTn>
                              </p:par>
                              <p:par>
                                <p:cTn id="14" presetID="22" presetClass="entr" presetSubtype="4" fill="hold" nodeType="withEffect">
                                  <p:stCondLst>
                                    <p:cond delay="0"/>
                                  </p:stCondLst>
                                  <p:childTnLst>
                                    <p:set>
                                      <p:cBhvr>
                                        <p:cTn id="15" dur="1" fill="hold">
                                          <p:stCondLst>
                                            <p:cond delay="0"/>
                                          </p:stCondLst>
                                        </p:cTn>
                                        <p:tgtEl>
                                          <p:spTgt spid="3">
                                            <p:txEl>
                                              <p:pRg st="3" end="3"/>
                                            </p:txEl>
                                          </p:spTgt>
                                        </p:tgtEl>
                                        <p:attrNameLst>
                                          <p:attrName>style.visibility</p:attrName>
                                        </p:attrNameLst>
                                      </p:cBhvr>
                                      <p:to>
                                        <p:strVal val="visible"/>
                                      </p:to>
                                    </p:set>
                                    <p:animEffect transition="in" filter="wipe(down)">
                                      <p:cBhvr>
                                        <p:cTn id="16" dur="500"/>
                                        <p:tgtEl>
                                          <p:spTgt spid="3">
                                            <p:txEl>
                                              <p:pRg st="3" end="3"/>
                                            </p:txEl>
                                          </p:spTgt>
                                        </p:tgtEl>
                                      </p:cBhvr>
                                    </p:animEffect>
                                  </p:childTnLst>
                                </p:cTn>
                              </p:par>
                              <p:par>
                                <p:cTn id="17" presetID="22" presetClass="entr" presetSubtype="4" fill="hold" nodeType="with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animEffect transition="in" filter="wipe(down)">
                                      <p:cBhvr>
                                        <p:cTn id="19" dur="5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176E38B-A1B7-42EC-BF65-BE836579975F}"/>
              </a:ext>
            </a:extLst>
          </p:cNvPr>
          <p:cNvSpPr>
            <a:spLocks noGrp="1"/>
          </p:cNvSpPr>
          <p:nvPr>
            <p:ph type="title"/>
          </p:nvPr>
        </p:nvSpPr>
        <p:spPr/>
        <p:txBody>
          <a:bodyPr/>
          <a:lstStyle/>
          <a:p>
            <a:r>
              <a:rPr lang="zh-CN" altLang="en-US" dirty="0"/>
              <a:t>启发式算法</a:t>
            </a:r>
            <a:r>
              <a:rPr lang="en-US" altLang="zh-CN" dirty="0"/>
              <a:t>—</a:t>
            </a:r>
            <a:r>
              <a:rPr lang="zh-CN" altLang="en-US" dirty="0"/>
              <a:t>蚁群算法</a:t>
            </a:r>
          </a:p>
        </p:txBody>
      </p:sp>
      <mc:AlternateContent xmlns:mc="http://schemas.openxmlformats.org/markup-compatibility/2006" xmlns:a14="http://schemas.microsoft.com/office/drawing/2010/main">
        <mc:Choice Requires="a14">
          <p:sp>
            <p:nvSpPr>
              <p:cNvPr id="3" name="内容占位符 2">
                <a:extLst>
                  <a:ext uri="{FF2B5EF4-FFF2-40B4-BE49-F238E27FC236}">
                    <a16:creationId xmlns:a16="http://schemas.microsoft.com/office/drawing/2014/main" id="{7B9C130F-BF61-4A17-A325-878332C19CD7}"/>
                  </a:ext>
                </a:extLst>
              </p:cNvPr>
              <p:cNvSpPr>
                <a:spLocks noGrp="1"/>
              </p:cNvSpPr>
              <p:nvPr>
                <p:ph idx="1"/>
              </p:nvPr>
            </p:nvSpPr>
            <p:spPr/>
            <p:txBody>
              <a:bodyPr/>
              <a:lstStyle/>
              <a:p>
                <a:r>
                  <a:rPr lang="zh-CN" altLang="en-US" dirty="0"/>
                  <a:t>如何选择路径</a:t>
                </a:r>
                <a:endParaRPr lang="en-US" altLang="zh-CN" dirty="0"/>
              </a:p>
              <a:p>
                <a:pPr lvl="1"/>
                <a:r>
                  <a:rPr lang="zh-CN" altLang="en-US" dirty="0"/>
                  <a:t>假设在</a:t>
                </a:r>
                <a14:m>
                  <m:oMath xmlns:m="http://schemas.openxmlformats.org/officeDocument/2006/math">
                    <m:r>
                      <a:rPr lang="en-US" altLang="zh-CN" i="1" dirty="0" smtClean="0">
                        <a:latin typeface="Cambria Math" panose="02040503050406030204" pitchFamily="18" charset="0"/>
                      </a:rPr>
                      <m:t>𝑡</m:t>
                    </m:r>
                  </m:oMath>
                </a14:m>
                <a:r>
                  <a:rPr lang="zh-CN" altLang="en-US" dirty="0"/>
                  <a:t>时刻，第</a:t>
                </a:r>
                <a14:m>
                  <m:oMath xmlns:m="http://schemas.openxmlformats.org/officeDocument/2006/math">
                    <m:r>
                      <a:rPr lang="en-US" altLang="zh-CN" i="1" dirty="0" smtClean="0">
                        <a:latin typeface="Cambria Math" panose="02040503050406030204" pitchFamily="18" charset="0"/>
                      </a:rPr>
                      <m:t>𝑘</m:t>
                    </m:r>
                  </m:oMath>
                </a14:m>
                <a:r>
                  <a:rPr lang="zh-CN" altLang="en-US" dirty="0"/>
                  <a:t>只蚂蚁从节点</a:t>
                </a:r>
                <a14:m>
                  <m:oMath xmlns:m="http://schemas.openxmlformats.org/officeDocument/2006/math">
                    <m:r>
                      <a:rPr lang="en-US" altLang="zh-CN" i="1" dirty="0" smtClean="0">
                        <a:solidFill>
                          <a:srgbClr val="C00000"/>
                        </a:solidFill>
                        <a:latin typeface="Cambria Math" panose="02040503050406030204" pitchFamily="18" charset="0"/>
                      </a:rPr>
                      <m:t>𝑖</m:t>
                    </m:r>
                  </m:oMath>
                </a14:m>
                <a:r>
                  <a:rPr lang="zh-CN" altLang="en-US" dirty="0"/>
                  <a:t>出发，则它选择下一个节点</a:t>
                </a:r>
                <a14:m>
                  <m:oMath xmlns:m="http://schemas.openxmlformats.org/officeDocument/2006/math">
                    <m:r>
                      <a:rPr lang="en-US" altLang="zh-CN" i="1" dirty="0" smtClean="0">
                        <a:solidFill>
                          <a:srgbClr val="0000FF"/>
                        </a:solidFill>
                        <a:latin typeface="Cambria Math" panose="02040503050406030204" pitchFamily="18" charset="0"/>
                      </a:rPr>
                      <m:t>𝑗</m:t>
                    </m:r>
                  </m:oMath>
                </a14:m>
                <a:r>
                  <a:rPr lang="zh-CN" altLang="en-US" dirty="0"/>
                  <a:t>的概率用如下公式表示：</a:t>
                </a:r>
                <a:endParaRPr lang="en-US" altLang="zh-CN" dirty="0"/>
              </a:p>
              <a:p>
                <a:endParaRPr lang="zh-CN" altLang="en-US" dirty="0"/>
              </a:p>
            </p:txBody>
          </p:sp>
        </mc:Choice>
        <mc:Fallback xmlns="">
          <p:sp>
            <p:nvSpPr>
              <p:cNvPr id="3" name="内容占位符 2">
                <a:extLst>
                  <a:ext uri="{FF2B5EF4-FFF2-40B4-BE49-F238E27FC236}">
                    <a16:creationId xmlns:a16="http://schemas.microsoft.com/office/drawing/2014/main" id="{7B9C130F-BF61-4A17-A325-878332C19CD7}"/>
                  </a:ext>
                </a:extLst>
              </p:cNvPr>
              <p:cNvSpPr>
                <a:spLocks noGrp="1" noRot="1" noChangeAspect="1" noMove="1" noResize="1" noEditPoints="1" noAdjustHandles="1" noChangeArrowheads="1" noChangeShapeType="1" noTextEdit="1"/>
              </p:cNvSpPr>
              <p:nvPr>
                <p:ph idx="1"/>
              </p:nvPr>
            </p:nvSpPr>
            <p:spPr>
              <a:blipFill>
                <a:blip r:embed="rId3"/>
                <a:stretch>
                  <a:fillRect l="-1066" t="-2083" r="-941"/>
                </a:stretch>
              </a:blipFill>
            </p:spPr>
            <p:txBody>
              <a:bodyPr/>
              <a:lstStyle/>
              <a:p>
                <a:r>
                  <a:rPr lang="zh-CN" altLang="en-US">
                    <a:noFill/>
                  </a:rPr>
                  <a:t> </a:t>
                </a:r>
              </a:p>
            </p:txBody>
          </p:sp>
        </mc:Fallback>
      </mc:AlternateContent>
      <p:sp>
        <p:nvSpPr>
          <p:cNvPr id="4" name="日期占位符 3">
            <a:extLst>
              <a:ext uri="{FF2B5EF4-FFF2-40B4-BE49-F238E27FC236}">
                <a16:creationId xmlns:a16="http://schemas.microsoft.com/office/drawing/2014/main" id="{3571675B-E557-4A13-8259-EA356DB6B47D}"/>
              </a:ext>
            </a:extLst>
          </p:cNvPr>
          <p:cNvSpPr>
            <a:spLocks noGrp="1"/>
          </p:cNvSpPr>
          <p:nvPr>
            <p:ph type="dt" sz="half" idx="10"/>
          </p:nvPr>
        </p:nvSpPr>
        <p:spPr/>
        <p:txBody>
          <a:bodyPr/>
          <a:lstStyle/>
          <a:p>
            <a:fld id="{A8B06C41-1E1E-4B9B-9644-5AFB8CB2AB3B}" type="datetime3">
              <a:rPr lang="zh-CN" altLang="en-US" smtClean="0"/>
              <a:t>2022年11月24日星期四</a:t>
            </a:fld>
            <a:endParaRPr lang="en-US" altLang="zh-CN" dirty="0"/>
          </a:p>
        </p:txBody>
      </p:sp>
      <p:sp>
        <p:nvSpPr>
          <p:cNvPr id="5" name="灯片编号占位符 4">
            <a:extLst>
              <a:ext uri="{FF2B5EF4-FFF2-40B4-BE49-F238E27FC236}">
                <a16:creationId xmlns:a16="http://schemas.microsoft.com/office/drawing/2014/main" id="{6CE90ECE-418B-44FA-928A-0553B209F950}"/>
              </a:ext>
            </a:extLst>
          </p:cNvPr>
          <p:cNvSpPr>
            <a:spLocks noGrp="1"/>
          </p:cNvSpPr>
          <p:nvPr>
            <p:ph type="sldNum" sz="quarter" idx="12"/>
          </p:nvPr>
        </p:nvSpPr>
        <p:spPr/>
        <p:txBody>
          <a:bodyPr/>
          <a:lstStyle/>
          <a:p>
            <a:fld id="{7AC79822-BC0D-4DE8-A7E5-90A3732A2B82}" type="slidenum">
              <a:rPr lang="zh-CN" altLang="en-US" smtClean="0"/>
              <a:pPr/>
              <a:t>27</a:t>
            </a:fld>
            <a:endParaRPr lang="en-US" altLang="zh-CN" dirty="0"/>
          </a:p>
        </p:txBody>
      </p:sp>
      <p:graphicFrame>
        <p:nvGraphicFramePr>
          <p:cNvPr id="7" name="对象 6">
            <a:extLst>
              <a:ext uri="{FF2B5EF4-FFF2-40B4-BE49-F238E27FC236}">
                <a16:creationId xmlns:a16="http://schemas.microsoft.com/office/drawing/2014/main" id="{04CD9522-7C05-4F46-BBFE-D898339E99FB}"/>
              </a:ext>
            </a:extLst>
          </p:cNvPr>
          <p:cNvGraphicFramePr>
            <a:graphicFrameLocks noChangeAspect="1"/>
          </p:cNvGraphicFramePr>
          <p:nvPr>
            <p:extLst>
              <p:ext uri="{D42A27DB-BD31-4B8C-83A1-F6EECF244321}">
                <p14:modId xmlns:p14="http://schemas.microsoft.com/office/powerpoint/2010/main" val="759541443"/>
              </p:ext>
            </p:extLst>
          </p:nvPr>
        </p:nvGraphicFramePr>
        <p:xfrm>
          <a:off x="1568624" y="2996952"/>
          <a:ext cx="6129337" cy="2232025"/>
        </p:xfrm>
        <a:graphic>
          <a:graphicData uri="http://schemas.openxmlformats.org/presentationml/2006/ole">
            <mc:AlternateContent xmlns:mc="http://schemas.openxmlformats.org/markup-compatibility/2006">
              <mc:Choice xmlns:v="urn:schemas-microsoft-com:vml" Requires="v">
                <p:oleObj name="Equation" r:id="rId4" imgW="1917360" imgH="698400" progId="Equation.DSMT4">
                  <p:embed/>
                </p:oleObj>
              </mc:Choice>
              <mc:Fallback>
                <p:oleObj name="Equation" r:id="rId4" imgW="1917360" imgH="698400" progId="Equation.DSMT4">
                  <p:embed/>
                  <p:pic>
                    <p:nvPicPr>
                      <p:cNvPr id="6" name="对象 5">
                        <a:extLst>
                          <a:ext uri="{FF2B5EF4-FFF2-40B4-BE49-F238E27FC236}">
                            <a16:creationId xmlns:a16="http://schemas.microsoft.com/office/drawing/2014/main" id="{C33E362F-A971-4BE5-84F6-55C7FFFD620E}"/>
                          </a:ext>
                        </a:extLst>
                      </p:cNvPr>
                      <p:cNvPicPr/>
                      <p:nvPr/>
                    </p:nvPicPr>
                    <p:blipFill>
                      <a:blip r:embed="rId5"/>
                      <a:stretch>
                        <a:fillRect/>
                      </a:stretch>
                    </p:blipFill>
                    <p:spPr>
                      <a:xfrm>
                        <a:off x="1568624" y="2996952"/>
                        <a:ext cx="6129337" cy="2232025"/>
                      </a:xfrm>
                      <a:prstGeom prst="rect">
                        <a:avLst/>
                      </a:prstGeom>
                    </p:spPr>
                  </p:pic>
                </p:oleObj>
              </mc:Fallback>
            </mc:AlternateContent>
          </a:graphicData>
        </a:graphic>
      </p:graphicFrame>
    </p:spTree>
    <p:extLst>
      <p:ext uri="{BB962C8B-B14F-4D97-AF65-F5344CB8AC3E}">
        <p14:creationId xmlns:p14="http://schemas.microsoft.com/office/powerpoint/2010/main" val="74288636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4" fill="hold" nodeType="with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down)">
                                      <p:cBhvr>
                                        <p:cTn id="7" dur="500"/>
                                        <p:tgtEl>
                                          <p:spTgt spid="3">
                                            <p:txEl>
                                              <p:pRg st="0" end="0"/>
                                            </p:txEl>
                                          </p:spTgt>
                                        </p:tgtEl>
                                      </p:cBhvr>
                                    </p:animEffect>
                                  </p:childTnLst>
                                </p:cTn>
                              </p:par>
                              <p:par>
                                <p:cTn id="8" presetID="22" presetClass="entr" presetSubtype="4" fill="hold" nodeType="withEffect">
                                  <p:stCondLst>
                                    <p:cond delay="0"/>
                                  </p:stCondLst>
                                  <p:childTnLst>
                                    <p:set>
                                      <p:cBhvr>
                                        <p:cTn id="9" dur="1" fill="hold">
                                          <p:stCondLst>
                                            <p:cond delay="0"/>
                                          </p:stCondLst>
                                        </p:cTn>
                                        <p:tgtEl>
                                          <p:spTgt spid="3">
                                            <p:txEl>
                                              <p:pRg st="1" end="1"/>
                                            </p:txEl>
                                          </p:spTgt>
                                        </p:tgtEl>
                                        <p:attrNameLst>
                                          <p:attrName>style.visibility</p:attrName>
                                        </p:attrNameLst>
                                      </p:cBhvr>
                                      <p:to>
                                        <p:strVal val="visible"/>
                                      </p:to>
                                    </p:set>
                                    <p:animEffect transition="in" filter="wipe(down)">
                                      <p:cBhvr>
                                        <p:cTn id="10" dur="500"/>
                                        <p:tgtEl>
                                          <p:spTgt spid="3">
                                            <p:txEl>
                                              <p:pRg st="1" end="1"/>
                                            </p:txEl>
                                          </p:spTgt>
                                        </p:tgtEl>
                                      </p:cBhvr>
                                    </p:animEffect>
                                  </p:childTnLst>
                                </p:cTn>
                              </p:par>
                            </p:childTnLst>
                          </p:cTn>
                        </p:par>
                        <p:par>
                          <p:cTn id="11" fill="hold">
                            <p:stCondLst>
                              <p:cond delay="500"/>
                            </p:stCondLst>
                            <p:childTnLst>
                              <p:par>
                                <p:cTn id="12" presetID="16" presetClass="entr" presetSubtype="21" fill="hold" nodeType="afterEffect">
                                  <p:stCondLst>
                                    <p:cond delay="0"/>
                                  </p:stCondLst>
                                  <p:childTnLst>
                                    <p:set>
                                      <p:cBhvr>
                                        <p:cTn id="13" dur="1" fill="hold">
                                          <p:stCondLst>
                                            <p:cond delay="0"/>
                                          </p:stCondLst>
                                        </p:cTn>
                                        <p:tgtEl>
                                          <p:spTgt spid="7"/>
                                        </p:tgtEl>
                                        <p:attrNameLst>
                                          <p:attrName>style.visibility</p:attrName>
                                        </p:attrNameLst>
                                      </p:cBhvr>
                                      <p:to>
                                        <p:strVal val="visible"/>
                                      </p:to>
                                    </p:set>
                                    <p:animEffect transition="in" filter="barn(inVertical)">
                                      <p:cBhvr>
                                        <p:cTn id="14"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1B2AA5E-548C-4B08-922C-4E69AD6D811B}"/>
              </a:ext>
            </a:extLst>
          </p:cNvPr>
          <p:cNvSpPr>
            <a:spLocks noGrp="1"/>
          </p:cNvSpPr>
          <p:nvPr>
            <p:ph type="title"/>
          </p:nvPr>
        </p:nvSpPr>
        <p:spPr/>
        <p:txBody>
          <a:bodyPr/>
          <a:lstStyle/>
          <a:p>
            <a:r>
              <a:rPr lang="zh-CN" altLang="en-US" dirty="0"/>
              <a:t>蚁群算法选路概率公式</a:t>
            </a:r>
          </a:p>
        </p:txBody>
      </p:sp>
      <p:sp>
        <p:nvSpPr>
          <p:cNvPr id="4" name="日期占位符 3">
            <a:extLst>
              <a:ext uri="{FF2B5EF4-FFF2-40B4-BE49-F238E27FC236}">
                <a16:creationId xmlns:a16="http://schemas.microsoft.com/office/drawing/2014/main" id="{D5C5FA22-EFFA-4336-9560-7D862542684D}"/>
              </a:ext>
            </a:extLst>
          </p:cNvPr>
          <p:cNvSpPr>
            <a:spLocks noGrp="1"/>
          </p:cNvSpPr>
          <p:nvPr>
            <p:ph type="dt" sz="half" idx="10"/>
          </p:nvPr>
        </p:nvSpPr>
        <p:spPr/>
        <p:txBody>
          <a:bodyPr/>
          <a:lstStyle/>
          <a:p>
            <a:fld id="{A8B06C41-1E1E-4B9B-9644-5AFB8CB2AB3B}" type="datetime3">
              <a:rPr lang="zh-CN" altLang="en-US" smtClean="0"/>
              <a:t>2022年11月24日星期四</a:t>
            </a:fld>
            <a:endParaRPr lang="en-US" altLang="zh-CN" dirty="0"/>
          </a:p>
        </p:txBody>
      </p:sp>
      <p:sp>
        <p:nvSpPr>
          <p:cNvPr id="5" name="灯片编号占位符 4">
            <a:extLst>
              <a:ext uri="{FF2B5EF4-FFF2-40B4-BE49-F238E27FC236}">
                <a16:creationId xmlns:a16="http://schemas.microsoft.com/office/drawing/2014/main" id="{FDB2A720-BD59-4377-B317-6BEF88A4610D}"/>
              </a:ext>
            </a:extLst>
          </p:cNvPr>
          <p:cNvSpPr>
            <a:spLocks noGrp="1"/>
          </p:cNvSpPr>
          <p:nvPr>
            <p:ph type="sldNum" sz="quarter" idx="12"/>
          </p:nvPr>
        </p:nvSpPr>
        <p:spPr/>
        <p:txBody>
          <a:bodyPr/>
          <a:lstStyle/>
          <a:p>
            <a:fld id="{7AC79822-BC0D-4DE8-A7E5-90A3732A2B82}" type="slidenum">
              <a:rPr lang="zh-CN" altLang="en-US" smtClean="0"/>
              <a:pPr/>
              <a:t>28</a:t>
            </a:fld>
            <a:endParaRPr lang="en-US" altLang="zh-CN" dirty="0"/>
          </a:p>
        </p:txBody>
      </p:sp>
      <p:graphicFrame>
        <p:nvGraphicFramePr>
          <p:cNvPr id="6" name="对象 5">
            <a:extLst>
              <a:ext uri="{FF2B5EF4-FFF2-40B4-BE49-F238E27FC236}">
                <a16:creationId xmlns:a16="http://schemas.microsoft.com/office/drawing/2014/main" id="{C33E362F-A971-4BE5-84F6-55C7FFFD620E}"/>
              </a:ext>
            </a:extLst>
          </p:cNvPr>
          <p:cNvGraphicFramePr>
            <a:graphicFrameLocks noChangeAspect="1"/>
          </p:cNvGraphicFramePr>
          <p:nvPr>
            <p:extLst>
              <p:ext uri="{D42A27DB-BD31-4B8C-83A1-F6EECF244321}">
                <p14:modId xmlns:p14="http://schemas.microsoft.com/office/powerpoint/2010/main" val="1797105571"/>
              </p:ext>
            </p:extLst>
          </p:nvPr>
        </p:nvGraphicFramePr>
        <p:xfrm>
          <a:off x="1500188" y="1052513"/>
          <a:ext cx="6129337" cy="2232025"/>
        </p:xfrm>
        <a:graphic>
          <a:graphicData uri="http://schemas.openxmlformats.org/presentationml/2006/ole">
            <mc:AlternateContent xmlns:mc="http://schemas.openxmlformats.org/markup-compatibility/2006">
              <mc:Choice xmlns:v="urn:schemas-microsoft-com:vml" Requires="v">
                <p:oleObj name="Equation" r:id="rId2" imgW="1917360" imgH="698400" progId="Equation.DSMT4">
                  <p:embed/>
                </p:oleObj>
              </mc:Choice>
              <mc:Fallback>
                <p:oleObj name="Equation" r:id="rId2" imgW="1917360" imgH="698400" progId="Equation.DSMT4">
                  <p:embed/>
                  <p:pic>
                    <p:nvPicPr>
                      <p:cNvPr id="6" name="对象 5">
                        <a:extLst>
                          <a:ext uri="{FF2B5EF4-FFF2-40B4-BE49-F238E27FC236}">
                            <a16:creationId xmlns:a16="http://schemas.microsoft.com/office/drawing/2014/main" id="{14565826-8B8F-4A44-BF79-62A134BFC631}"/>
                          </a:ext>
                        </a:extLst>
                      </p:cNvPr>
                      <p:cNvPicPr/>
                      <p:nvPr/>
                    </p:nvPicPr>
                    <p:blipFill>
                      <a:blip r:embed="rId3"/>
                      <a:stretch>
                        <a:fillRect/>
                      </a:stretch>
                    </p:blipFill>
                    <p:spPr>
                      <a:xfrm>
                        <a:off x="1500188" y="1052513"/>
                        <a:ext cx="6129337" cy="2232025"/>
                      </a:xfrm>
                      <a:prstGeom prst="rect">
                        <a:avLst/>
                      </a:prstGeom>
                    </p:spPr>
                  </p:pic>
                </p:oleObj>
              </mc:Fallback>
            </mc:AlternateContent>
          </a:graphicData>
        </a:graphic>
      </p:graphicFrame>
      <p:graphicFrame>
        <p:nvGraphicFramePr>
          <p:cNvPr id="8" name="对象 7">
            <a:extLst>
              <a:ext uri="{FF2B5EF4-FFF2-40B4-BE49-F238E27FC236}">
                <a16:creationId xmlns:a16="http://schemas.microsoft.com/office/drawing/2014/main" id="{900C13F6-13EF-43B8-8B63-7117D0A35650}"/>
              </a:ext>
            </a:extLst>
          </p:cNvPr>
          <p:cNvGraphicFramePr>
            <a:graphicFrameLocks noChangeAspect="1"/>
          </p:cNvGraphicFramePr>
          <p:nvPr>
            <p:extLst>
              <p:ext uri="{D42A27DB-BD31-4B8C-83A1-F6EECF244321}">
                <p14:modId xmlns:p14="http://schemas.microsoft.com/office/powerpoint/2010/main" val="2138736184"/>
              </p:ext>
            </p:extLst>
          </p:nvPr>
        </p:nvGraphicFramePr>
        <p:xfrm>
          <a:off x="363538" y="3340249"/>
          <a:ext cx="9178925" cy="3113087"/>
        </p:xfrm>
        <a:graphic>
          <a:graphicData uri="http://schemas.openxmlformats.org/presentationml/2006/ole">
            <mc:AlternateContent xmlns:mc="http://schemas.openxmlformats.org/markup-compatibility/2006">
              <mc:Choice xmlns:v="urn:schemas-microsoft-com:vml" Requires="v">
                <p:oleObj name="Equation" r:id="rId4" imgW="4343400" imgH="1473120" progId="Equation.DSMT4">
                  <p:embed/>
                </p:oleObj>
              </mc:Choice>
              <mc:Fallback>
                <p:oleObj name="Equation" r:id="rId4" imgW="4343400" imgH="1473120" progId="Equation.DSMT4">
                  <p:embed/>
                  <p:pic>
                    <p:nvPicPr>
                      <p:cNvPr id="6" name="对象 5">
                        <a:extLst>
                          <a:ext uri="{FF2B5EF4-FFF2-40B4-BE49-F238E27FC236}">
                            <a16:creationId xmlns:a16="http://schemas.microsoft.com/office/drawing/2014/main" id="{C33E362F-A971-4BE5-84F6-55C7FFFD620E}"/>
                          </a:ext>
                        </a:extLst>
                      </p:cNvPr>
                      <p:cNvPicPr/>
                      <p:nvPr/>
                    </p:nvPicPr>
                    <p:blipFill>
                      <a:blip r:embed="rId5"/>
                      <a:stretch>
                        <a:fillRect/>
                      </a:stretch>
                    </p:blipFill>
                    <p:spPr>
                      <a:xfrm>
                        <a:off x="363538" y="3340249"/>
                        <a:ext cx="9178925" cy="3113087"/>
                      </a:xfrm>
                      <a:prstGeom prst="rect">
                        <a:avLst/>
                      </a:prstGeom>
                      <a:noFill/>
                      <a:ln w="28575">
                        <a:solidFill>
                          <a:srgbClr val="C00000"/>
                        </a:solidFill>
                        <a:prstDash val="dash"/>
                      </a:ln>
                    </p:spPr>
                  </p:pic>
                </p:oleObj>
              </mc:Fallback>
            </mc:AlternateContent>
          </a:graphicData>
        </a:graphic>
      </p:graphicFrame>
    </p:spTree>
    <p:extLst>
      <p:ext uri="{BB962C8B-B14F-4D97-AF65-F5344CB8AC3E}">
        <p14:creationId xmlns:p14="http://schemas.microsoft.com/office/powerpoint/2010/main" val="5997323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6" presetClass="entr" presetSubtype="21" fill="hold" nodeType="after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barn(inVertical)">
                                      <p:cBhvr>
                                        <p:cTn id="7" dur="500"/>
                                        <p:tgtEl>
                                          <p:spTgt spid="6"/>
                                        </p:tgtEl>
                                      </p:cBhvr>
                                    </p:animEffect>
                                  </p:childTnLst>
                                </p:cTn>
                              </p:par>
                            </p:childTnLst>
                          </p:cTn>
                        </p:par>
                        <p:par>
                          <p:cTn id="8" fill="hold">
                            <p:stCondLst>
                              <p:cond delay="500"/>
                            </p:stCondLst>
                            <p:childTnLst>
                              <p:par>
                                <p:cTn id="9" presetID="16" presetClass="entr" presetSubtype="21" fill="hold" nodeType="afterEffect">
                                  <p:stCondLst>
                                    <p:cond delay="0"/>
                                  </p:stCondLst>
                                  <p:childTnLst>
                                    <p:set>
                                      <p:cBhvr>
                                        <p:cTn id="10" dur="1" fill="hold">
                                          <p:stCondLst>
                                            <p:cond delay="0"/>
                                          </p:stCondLst>
                                        </p:cTn>
                                        <p:tgtEl>
                                          <p:spTgt spid="8"/>
                                        </p:tgtEl>
                                        <p:attrNameLst>
                                          <p:attrName>style.visibility</p:attrName>
                                        </p:attrNameLst>
                                      </p:cBhvr>
                                      <p:to>
                                        <p:strVal val="visible"/>
                                      </p:to>
                                    </p:set>
                                    <p:animEffect transition="in" filter="barn(inVertical)">
                                      <p:cBhvr>
                                        <p:cTn id="11"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176E38B-A1B7-42EC-BF65-BE836579975F}"/>
              </a:ext>
            </a:extLst>
          </p:cNvPr>
          <p:cNvSpPr>
            <a:spLocks noGrp="1"/>
          </p:cNvSpPr>
          <p:nvPr>
            <p:ph type="title"/>
          </p:nvPr>
        </p:nvSpPr>
        <p:spPr/>
        <p:txBody>
          <a:bodyPr/>
          <a:lstStyle/>
          <a:p>
            <a:r>
              <a:rPr lang="zh-CN" altLang="en-US" dirty="0"/>
              <a:t>启发式算法</a:t>
            </a:r>
            <a:r>
              <a:rPr lang="en-US" altLang="zh-CN" dirty="0"/>
              <a:t>—</a:t>
            </a:r>
            <a:r>
              <a:rPr lang="zh-CN" altLang="en-US" dirty="0"/>
              <a:t>蚁群算法</a:t>
            </a:r>
          </a:p>
        </p:txBody>
      </p:sp>
      <p:sp>
        <p:nvSpPr>
          <p:cNvPr id="3" name="内容占位符 2">
            <a:extLst>
              <a:ext uri="{FF2B5EF4-FFF2-40B4-BE49-F238E27FC236}">
                <a16:creationId xmlns:a16="http://schemas.microsoft.com/office/drawing/2014/main" id="{7B9C130F-BF61-4A17-A325-878332C19CD7}"/>
              </a:ext>
            </a:extLst>
          </p:cNvPr>
          <p:cNvSpPr>
            <a:spLocks noGrp="1"/>
          </p:cNvSpPr>
          <p:nvPr>
            <p:ph idx="1"/>
          </p:nvPr>
        </p:nvSpPr>
        <p:spPr/>
        <p:txBody>
          <a:bodyPr/>
          <a:lstStyle/>
          <a:p>
            <a:r>
              <a:rPr lang="zh-CN" altLang="en-US" dirty="0"/>
              <a:t>如何选择路径</a:t>
            </a:r>
            <a:endParaRPr lang="en-US" altLang="zh-CN" dirty="0"/>
          </a:p>
          <a:p>
            <a:pPr lvl="1"/>
            <a:r>
              <a:rPr lang="zh-CN" altLang="en-US" dirty="0"/>
              <a:t>系统产生一个随机数，这个随机数根据选路的概率来最终确定走哪一条路径。</a:t>
            </a:r>
            <a:endParaRPr lang="en-US" altLang="zh-CN" dirty="0"/>
          </a:p>
          <a:p>
            <a:pPr lvl="2"/>
            <a:r>
              <a:rPr lang="zh-CN" altLang="en-US" dirty="0"/>
              <a:t>注：不是一定选择概率最高的那一条</a:t>
            </a:r>
          </a:p>
        </p:txBody>
      </p:sp>
      <p:sp>
        <p:nvSpPr>
          <p:cNvPr id="4" name="日期占位符 3">
            <a:extLst>
              <a:ext uri="{FF2B5EF4-FFF2-40B4-BE49-F238E27FC236}">
                <a16:creationId xmlns:a16="http://schemas.microsoft.com/office/drawing/2014/main" id="{3571675B-E557-4A13-8259-EA356DB6B47D}"/>
              </a:ext>
            </a:extLst>
          </p:cNvPr>
          <p:cNvSpPr>
            <a:spLocks noGrp="1"/>
          </p:cNvSpPr>
          <p:nvPr>
            <p:ph type="dt" sz="half" idx="10"/>
          </p:nvPr>
        </p:nvSpPr>
        <p:spPr/>
        <p:txBody>
          <a:bodyPr/>
          <a:lstStyle/>
          <a:p>
            <a:fld id="{A8B06C41-1E1E-4B9B-9644-5AFB8CB2AB3B}" type="datetime3">
              <a:rPr lang="zh-CN" altLang="en-US" smtClean="0"/>
              <a:t>2022年11月24日星期四</a:t>
            </a:fld>
            <a:endParaRPr lang="en-US" altLang="zh-CN" dirty="0"/>
          </a:p>
        </p:txBody>
      </p:sp>
      <p:sp>
        <p:nvSpPr>
          <p:cNvPr id="5" name="灯片编号占位符 4">
            <a:extLst>
              <a:ext uri="{FF2B5EF4-FFF2-40B4-BE49-F238E27FC236}">
                <a16:creationId xmlns:a16="http://schemas.microsoft.com/office/drawing/2014/main" id="{6CE90ECE-418B-44FA-928A-0553B209F950}"/>
              </a:ext>
            </a:extLst>
          </p:cNvPr>
          <p:cNvSpPr>
            <a:spLocks noGrp="1"/>
          </p:cNvSpPr>
          <p:nvPr>
            <p:ph type="sldNum" sz="quarter" idx="12"/>
          </p:nvPr>
        </p:nvSpPr>
        <p:spPr/>
        <p:txBody>
          <a:bodyPr/>
          <a:lstStyle/>
          <a:p>
            <a:fld id="{7AC79822-BC0D-4DE8-A7E5-90A3732A2B82}" type="slidenum">
              <a:rPr lang="zh-CN" altLang="en-US" smtClean="0"/>
              <a:pPr/>
              <a:t>29</a:t>
            </a:fld>
            <a:endParaRPr lang="en-US" altLang="zh-CN" dirty="0"/>
          </a:p>
        </p:txBody>
      </p:sp>
    </p:spTree>
    <p:extLst>
      <p:ext uri="{BB962C8B-B14F-4D97-AF65-F5344CB8AC3E}">
        <p14:creationId xmlns:p14="http://schemas.microsoft.com/office/powerpoint/2010/main" val="68980072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4" fill="hold" nodeType="with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down)">
                                      <p:cBhvr>
                                        <p:cTn id="7" dur="500"/>
                                        <p:tgtEl>
                                          <p:spTgt spid="3">
                                            <p:txEl>
                                              <p:pRg st="0" end="0"/>
                                            </p:txEl>
                                          </p:spTgt>
                                        </p:tgtEl>
                                      </p:cBhvr>
                                    </p:animEffect>
                                  </p:childTnLst>
                                </p:cTn>
                              </p:par>
                              <p:par>
                                <p:cTn id="8" presetID="22" presetClass="entr" presetSubtype="4" fill="hold" nodeType="withEffect">
                                  <p:stCondLst>
                                    <p:cond delay="0"/>
                                  </p:stCondLst>
                                  <p:childTnLst>
                                    <p:set>
                                      <p:cBhvr>
                                        <p:cTn id="9" dur="1" fill="hold">
                                          <p:stCondLst>
                                            <p:cond delay="0"/>
                                          </p:stCondLst>
                                        </p:cTn>
                                        <p:tgtEl>
                                          <p:spTgt spid="3">
                                            <p:txEl>
                                              <p:pRg st="1" end="1"/>
                                            </p:txEl>
                                          </p:spTgt>
                                        </p:tgtEl>
                                        <p:attrNameLst>
                                          <p:attrName>style.visibility</p:attrName>
                                        </p:attrNameLst>
                                      </p:cBhvr>
                                      <p:to>
                                        <p:strVal val="visible"/>
                                      </p:to>
                                    </p:set>
                                    <p:animEffect transition="in" filter="wipe(down)">
                                      <p:cBhvr>
                                        <p:cTn id="10" dur="500"/>
                                        <p:tgtEl>
                                          <p:spTgt spid="3">
                                            <p:txEl>
                                              <p:pRg st="1" end="1"/>
                                            </p:txEl>
                                          </p:spTgt>
                                        </p:tgtEl>
                                      </p:cBhvr>
                                    </p:animEffect>
                                  </p:childTnLst>
                                </p:cTn>
                              </p:par>
                              <p:par>
                                <p:cTn id="11" presetID="22" presetClass="entr" presetSubtype="4" fill="hold" nodeType="with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animEffect transition="in" filter="wipe(down)">
                                      <p:cBhvr>
                                        <p:cTn id="13" dur="500"/>
                                        <p:tgtEl>
                                          <p:spTgt spid="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924E2CF-7C1C-4EA9-9A66-E3E909BA1E3E}"/>
              </a:ext>
            </a:extLst>
          </p:cNvPr>
          <p:cNvSpPr>
            <a:spLocks noGrp="1"/>
          </p:cNvSpPr>
          <p:nvPr>
            <p:ph type="title"/>
          </p:nvPr>
        </p:nvSpPr>
        <p:spPr/>
        <p:txBody>
          <a:bodyPr/>
          <a:lstStyle/>
          <a:p>
            <a:r>
              <a:rPr lang="zh-CN" altLang="en-US" dirty="0"/>
              <a:t>蚁群算法路径选择示例</a:t>
            </a:r>
          </a:p>
        </p:txBody>
      </p:sp>
      <p:sp>
        <p:nvSpPr>
          <p:cNvPr id="4" name="日期占位符 3">
            <a:extLst>
              <a:ext uri="{FF2B5EF4-FFF2-40B4-BE49-F238E27FC236}">
                <a16:creationId xmlns:a16="http://schemas.microsoft.com/office/drawing/2014/main" id="{ECDD5E4B-FA5D-4113-AB03-9FB833BA5E3E}"/>
              </a:ext>
            </a:extLst>
          </p:cNvPr>
          <p:cNvSpPr>
            <a:spLocks noGrp="1"/>
          </p:cNvSpPr>
          <p:nvPr>
            <p:ph type="dt" sz="half" idx="10"/>
          </p:nvPr>
        </p:nvSpPr>
        <p:spPr/>
        <p:txBody>
          <a:bodyPr/>
          <a:lstStyle/>
          <a:p>
            <a:fld id="{A8B06C41-1E1E-4B9B-9644-5AFB8CB2AB3B}" type="datetime3">
              <a:rPr lang="zh-CN" altLang="en-US" smtClean="0"/>
              <a:t>2022年11月24日星期四</a:t>
            </a:fld>
            <a:endParaRPr lang="en-US" altLang="zh-CN" dirty="0"/>
          </a:p>
        </p:txBody>
      </p:sp>
      <p:sp>
        <p:nvSpPr>
          <p:cNvPr id="5" name="灯片编号占位符 4">
            <a:extLst>
              <a:ext uri="{FF2B5EF4-FFF2-40B4-BE49-F238E27FC236}">
                <a16:creationId xmlns:a16="http://schemas.microsoft.com/office/drawing/2014/main" id="{694D586C-2514-477B-BC06-287958E49154}"/>
              </a:ext>
            </a:extLst>
          </p:cNvPr>
          <p:cNvSpPr>
            <a:spLocks noGrp="1"/>
          </p:cNvSpPr>
          <p:nvPr>
            <p:ph type="sldNum" sz="quarter" idx="12"/>
          </p:nvPr>
        </p:nvSpPr>
        <p:spPr/>
        <p:txBody>
          <a:bodyPr/>
          <a:lstStyle/>
          <a:p>
            <a:fld id="{7AC79822-BC0D-4DE8-A7E5-90A3732A2B82}" type="slidenum">
              <a:rPr lang="zh-CN" altLang="en-US" smtClean="0"/>
              <a:pPr/>
              <a:t>30</a:t>
            </a:fld>
            <a:endParaRPr lang="en-US" altLang="zh-CN" dirty="0"/>
          </a:p>
        </p:txBody>
      </p:sp>
      <p:sp>
        <p:nvSpPr>
          <p:cNvPr id="7" name="椭圆 6">
            <a:extLst>
              <a:ext uri="{FF2B5EF4-FFF2-40B4-BE49-F238E27FC236}">
                <a16:creationId xmlns:a16="http://schemas.microsoft.com/office/drawing/2014/main" id="{464448A2-ED18-4069-9CAF-9EC6FDED2BBA}"/>
              </a:ext>
            </a:extLst>
          </p:cNvPr>
          <p:cNvSpPr/>
          <p:nvPr/>
        </p:nvSpPr>
        <p:spPr bwMode="auto">
          <a:xfrm>
            <a:off x="8265368" y="1268181"/>
            <a:ext cx="504056" cy="504056"/>
          </a:xfrm>
          <a:prstGeom prst="ellipse">
            <a:avLst/>
          </a:prstGeom>
          <a:no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kumimoji="0" lang="en-US" altLang="zh-CN" sz="2400" b="0" i="0" u="none" strike="noStrike" cap="none" normalizeH="0" baseline="0" dirty="0">
                <a:ln>
                  <a:noFill/>
                </a:ln>
                <a:solidFill>
                  <a:schemeClr val="tx1"/>
                </a:solidFill>
                <a:effectLst/>
                <a:latin typeface="Arial" charset="0"/>
              </a:rPr>
              <a:t>1</a:t>
            </a:r>
            <a:endParaRPr kumimoji="0" lang="zh-CN" altLang="en-US" sz="2400" b="0" i="0" u="none" strike="noStrike" cap="none" normalizeH="0" baseline="0" dirty="0">
              <a:ln>
                <a:noFill/>
              </a:ln>
              <a:solidFill>
                <a:schemeClr val="tx1"/>
              </a:solidFill>
              <a:effectLst/>
              <a:latin typeface="Arial" charset="0"/>
            </a:endParaRPr>
          </a:p>
        </p:txBody>
      </p:sp>
      <p:sp>
        <p:nvSpPr>
          <p:cNvPr id="8" name="椭圆 7">
            <a:extLst>
              <a:ext uri="{FF2B5EF4-FFF2-40B4-BE49-F238E27FC236}">
                <a16:creationId xmlns:a16="http://schemas.microsoft.com/office/drawing/2014/main" id="{9BEEC921-C743-43E7-8080-3E71733CB314}"/>
              </a:ext>
            </a:extLst>
          </p:cNvPr>
          <p:cNvSpPr/>
          <p:nvPr/>
        </p:nvSpPr>
        <p:spPr bwMode="auto">
          <a:xfrm>
            <a:off x="8265368" y="4077072"/>
            <a:ext cx="504056" cy="504056"/>
          </a:xfrm>
          <a:prstGeom prst="ellipse">
            <a:avLst/>
          </a:prstGeom>
          <a:no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kumimoji="0" lang="en-US" altLang="zh-CN" sz="2400" b="0" i="0" u="none" strike="noStrike" cap="none" normalizeH="0" baseline="0" dirty="0">
                <a:ln>
                  <a:noFill/>
                </a:ln>
                <a:solidFill>
                  <a:schemeClr val="tx1"/>
                </a:solidFill>
                <a:effectLst/>
                <a:latin typeface="Arial" charset="0"/>
              </a:rPr>
              <a:t>3</a:t>
            </a:r>
            <a:endParaRPr kumimoji="0" lang="zh-CN" altLang="en-US" sz="2400" b="0" i="0" u="none" strike="noStrike" cap="none" normalizeH="0" baseline="0" dirty="0">
              <a:ln>
                <a:noFill/>
              </a:ln>
              <a:solidFill>
                <a:schemeClr val="tx1"/>
              </a:solidFill>
              <a:effectLst/>
              <a:latin typeface="Arial" charset="0"/>
            </a:endParaRPr>
          </a:p>
        </p:txBody>
      </p:sp>
      <p:sp>
        <p:nvSpPr>
          <p:cNvPr id="9" name="椭圆 8">
            <a:extLst>
              <a:ext uri="{FF2B5EF4-FFF2-40B4-BE49-F238E27FC236}">
                <a16:creationId xmlns:a16="http://schemas.microsoft.com/office/drawing/2014/main" id="{C1EED94E-06C2-4F52-B1EB-856C6E120787}"/>
              </a:ext>
            </a:extLst>
          </p:cNvPr>
          <p:cNvSpPr/>
          <p:nvPr/>
        </p:nvSpPr>
        <p:spPr bwMode="auto">
          <a:xfrm>
            <a:off x="9273480" y="5013176"/>
            <a:ext cx="504056" cy="504056"/>
          </a:xfrm>
          <a:prstGeom prst="ellipse">
            <a:avLst/>
          </a:prstGeom>
          <a:no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kumimoji="0" lang="en-US" altLang="zh-CN" sz="2400" b="0" i="0" u="none" strike="noStrike" cap="none" normalizeH="0" baseline="0" dirty="0">
                <a:ln>
                  <a:noFill/>
                </a:ln>
                <a:solidFill>
                  <a:schemeClr val="tx1"/>
                </a:solidFill>
                <a:effectLst/>
                <a:latin typeface="Arial" charset="0"/>
              </a:rPr>
              <a:t>6</a:t>
            </a:r>
            <a:endParaRPr kumimoji="0" lang="zh-CN" altLang="en-US" sz="2400" b="0" i="0" u="none" strike="noStrike" cap="none" normalizeH="0" baseline="0" dirty="0">
              <a:ln>
                <a:noFill/>
              </a:ln>
              <a:solidFill>
                <a:schemeClr val="tx1"/>
              </a:solidFill>
              <a:effectLst/>
              <a:latin typeface="Arial" charset="0"/>
            </a:endParaRPr>
          </a:p>
        </p:txBody>
      </p:sp>
      <p:sp>
        <p:nvSpPr>
          <p:cNvPr id="10" name="椭圆 9">
            <a:extLst>
              <a:ext uri="{FF2B5EF4-FFF2-40B4-BE49-F238E27FC236}">
                <a16:creationId xmlns:a16="http://schemas.microsoft.com/office/drawing/2014/main" id="{13FD1691-C6D2-4E3F-963F-82F6892E2E8D}"/>
              </a:ext>
            </a:extLst>
          </p:cNvPr>
          <p:cNvSpPr/>
          <p:nvPr/>
        </p:nvSpPr>
        <p:spPr bwMode="auto">
          <a:xfrm>
            <a:off x="7545288" y="5013176"/>
            <a:ext cx="504056" cy="504056"/>
          </a:xfrm>
          <a:prstGeom prst="ellipse">
            <a:avLst/>
          </a:prstGeom>
          <a:no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kumimoji="0" lang="en-US" altLang="zh-CN" sz="2400" b="0" i="0" u="none" strike="noStrike" cap="none" normalizeH="0" baseline="0" dirty="0">
                <a:ln>
                  <a:noFill/>
                </a:ln>
                <a:solidFill>
                  <a:schemeClr val="tx1"/>
                </a:solidFill>
                <a:effectLst/>
                <a:latin typeface="Arial" charset="0"/>
              </a:rPr>
              <a:t>5</a:t>
            </a:r>
            <a:endParaRPr kumimoji="0" lang="zh-CN" altLang="en-US" sz="2400" b="0" i="0" u="none" strike="noStrike" cap="none" normalizeH="0" baseline="0" dirty="0">
              <a:ln>
                <a:noFill/>
              </a:ln>
              <a:solidFill>
                <a:schemeClr val="tx1"/>
              </a:solidFill>
              <a:effectLst/>
              <a:latin typeface="Arial" charset="0"/>
            </a:endParaRPr>
          </a:p>
        </p:txBody>
      </p:sp>
      <p:sp>
        <p:nvSpPr>
          <p:cNvPr id="11" name="椭圆 10">
            <a:extLst>
              <a:ext uri="{FF2B5EF4-FFF2-40B4-BE49-F238E27FC236}">
                <a16:creationId xmlns:a16="http://schemas.microsoft.com/office/drawing/2014/main" id="{A253F3F9-E8F2-45F7-B18D-A60D5AEF23AF}"/>
              </a:ext>
            </a:extLst>
          </p:cNvPr>
          <p:cNvSpPr/>
          <p:nvPr/>
        </p:nvSpPr>
        <p:spPr bwMode="auto">
          <a:xfrm>
            <a:off x="7545288" y="2492896"/>
            <a:ext cx="504056" cy="504056"/>
          </a:xfrm>
          <a:prstGeom prst="ellipse">
            <a:avLst/>
          </a:prstGeom>
          <a:no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kumimoji="0" lang="en-US" altLang="zh-CN" sz="2400" b="0" i="0" u="none" strike="noStrike" cap="none" normalizeH="0" baseline="0" dirty="0">
                <a:ln>
                  <a:noFill/>
                </a:ln>
                <a:solidFill>
                  <a:schemeClr val="tx1"/>
                </a:solidFill>
                <a:effectLst/>
                <a:latin typeface="Arial" charset="0"/>
              </a:rPr>
              <a:t>2</a:t>
            </a:r>
            <a:endParaRPr kumimoji="0" lang="zh-CN" altLang="en-US" sz="2400" b="0" i="0" u="none" strike="noStrike" cap="none" normalizeH="0" baseline="0" dirty="0">
              <a:ln>
                <a:noFill/>
              </a:ln>
              <a:solidFill>
                <a:schemeClr val="tx1"/>
              </a:solidFill>
              <a:effectLst/>
              <a:latin typeface="Arial" charset="0"/>
            </a:endParaRPr>
          </a:p>
        </p:txBody>
      </p:sp>
      <p:sp>
        <p:nvSpPr>
          <p:cNvPr id="12" name="椭圆 11">
            <a:extLst>
              <a:ext uri="{FF2B5EF4-FFF2-40B4-BE49-F238E27FC236}">
                <a16:creationId xmlns:a16="http://schemas.microsoft.com/office/drawing/2014/main" id="{9F26B72C-CFA6-48B2-B54D-6C958EE2CD30}"/>
              </a:ext>
            </a:extLst>
          </p:cNvPr>
          <p:cNvSpPr/>
          <p:nvPr/>
        </p:nvSpPr>
        <p:spPr bwMode="auto">
          <a:xfrm>
            <a:off x="9273480" y="2420888"/>
            <a:ext cx="504056" cy="504056"/>
          </a:xfrm>
          <a:prstGeom prst="ellipse">
            <a:avLst/>
          </a:prstGeom>
          <a:no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lang="en-US" altLang="zh-CN" sz="2400" dirty="0"/>
              <a:t>4</a:t>
            </a:r>
            <a:endParaRPr kumimoji="0" lang="zh-CN" altLang="en-US" sz="2400" b="0" i="0" u="none" strike="noStrike" cap="none" normalizeH="0" baseline="0" dirty="0">
              <a:ln>
                <a:noFill/>
              </a:ln>
              <a:solidFill>
                <a:schemeClr val="tx1"/>
              </a:solidFill>
              <a:effectLst/>
              <a:latin typeface="Arial" charset="0"/>
            </a:endParaRPr>
          </a:p>
        </p:txBody>
      </p:sp>
      <p:cxnSp>
        <p:nvCxnSpPr>
          <p:cNvPr id="14" name="直接连接符 13">
            <a:extLst>
              <a:ext uri="{FF2B5EF4-FFF2-40B4-BE49-F238E27FC236}">
                <a16:creationId xmlns:a16="http://schemas.microsoft.com/office/drawing/2014/main" id="{31BC69C0-C539-4E4A-8C33-615E6998E393}"/>
              </a:ext>
            </a:extLst>
          </p:cNvPr>
          <p:cNvCxnSpPr>
            <a:stCxn id="7" idx="3"/>
            <a:endCxn id="11" idx="0"/>
          </p:cNvCxnSpPr>
          <p:nvPr/>
        </p:nvCxnSpPr>
        <p:spPr bwMode="auto">
          <a:xfrm flipH="1">
            <a:off x="7797316" y="1698420"/>
            <a:ext cx="541869" cy="794476"/>
          </a:xfrm>
          <a:prstGeom prst="line">
            <a:avLst/>
          </a:prstGeom>
          <a:ln>
            <a:headEnd type="none" w="med" len="med"/>
            <a:tailEnd type="none" w="med" len="med"/>
          </a:ln>
          <a:extLst>
            <a:ext uri="{AF507438-7753-43E0-B8FC-AC1667EBCBE1}">
              <a14:hiddenEffects xmlns:a14="http://schemas.microsoft.com/office/drawing/2010/main">
                <a:effectLst>
                  <a:outerShdw dist="35921" dir="2700000" algn="ctr" rotWithShape="0">
                    <a:schemeClr val="bg2"/>
                  </a:outerShdw>
                </a:effectLst>
              </a14:hiddenEffects>
            </a:ext>
          </a:extLst>
        </p:spPr>
        <p:style>
          <a:lnRef idx="3">
            <a:schemeClr val="dk1"/>
          </a:lnRef>
          <a:fillRef idx="0">
            <a:schemeClr val="dk1"/>
          </a:fillRef>
          <a:effectRef idx="2">
            <a:schemeClr val="dk1"/>
          </a:effectRef>
          <a:fontRef idx="minor">
            <a:schemeClr val="tx1"/>
          </a:fontRef>
        </p:style>
      </p:cxnSp>
      <p:cxnSp>
        <p:nvCxnSpPr>
          <p:cNvPr id="15" name="直接连接符 14">
            <a:extLst>
              <a:ext uri="{FF2B5EF4-FFF2-40B4-BE49-F238E27FC236}">
                <a16:creationId xmlns:a16="http://schemas.microsoft.com/office/drawing/2014/main" id="{90B849ED-979A-4B1E-8033-EFE6BC0EF49B}"/>
              </a:ext>
            </a:extLst>
          </p:cNvPr>
          <p:cNvCxnSpPr>
            <a:cxnSpLocks/>
            <a:stCxn id="7" idx="5"/>
            <a:endCxn id="12" idx="1"/>
          </p:cNvCxnSpPr>
          <p:nvPr/>
        </p:nvCxnSpPr>
        <p:spPr bwMode="auto">
          <a:xfrm>
            <a:off x="8695607" y="1698420"/>
            <a:ext cx="651690" cy="796285"/>
          </a:xfrm>
          <a:prstGeom prst="line">
            <a:avLst/>
          </a:prstGeom>
          <a:ln>
            <a:headEnd type="none" w="med" len="med"/>
            <a:tailEnd type="none" w="med" len="med"/>
          </a:ln>
          <a:extLst>
            <a:ext uri="{AF507438-7753-43E0-B8FC-AC1667EBCBE1}">
              <a14:hiddenEffects xmlns:a14="http://schemas.microsoft.com/office/drawing/2010/main">
                <a:effectLst>
                  <a:outerShdw dist="35921" dir="2700000" algn="ctr" rotWithShape="0">
                    <a:schemeClr val="bg2"/>
                  </a:outerShdw>
                </a:effectLst>
              </a14:hiddenEffects>
            </a:ext>
          </a:extLst>
        </p:spPr>
        <p:style>
          <a:lnRef idx="3">
            <a:schemeClr val="dk1"/>
          </a:lnRef>
          <a:fillRef idx="0">
            <a:schemeClr val="dk1"/>
          </a:fillRef>
          <a:effectRef idx="2">
            <a:schemeClr val="dk1"/>
          </a:effectRef>
          <a:fontRef idx="minor">
            <a:schemeClr val="tx1"/>
          </a:fontRef>
        </p:style>
      </p:cxnSp>
      <p:cxnSp>
        <p:nvCxnSpPr>
          <p:cNvPr id="18" name="直接连接符 17">
            <a:extLst>
              <a:ext uri="{FF2B5EF4-FFF2-40B4-BE49-F238E27FC236}">
                <a16:creationId xmlns:a16="http://schemas.microsoft.com/office/drawing/2014/main" id="{D8219E89-B619-4426-96A3-F2C9523C792D}"/>
              </a:ext>
            </a:extLst>
          </p:cNvPr>
          <p:cNvCxnSpPr>
            <a:cxnSpLocks/>
            <a:endCxn id="8" idx="1"/>
          </p:cNvCxnSpPr>
          <p:nvPr/>
        </p:nvCxnSpPr>
        <p:spPr bwMode="auto">
          <a:xfrm>
            <a:off x="7885516" y="2996952"/>
            <a:ext cx="453669" cy="1153937"/>
          </a:xfrm>
          <a:prstGeom prst="line">
            <a:avLst/>
          </a:prstGeom>
          <a:ln>
            <a:headEnd type="none" w="med" len="med"/>
            <a:tailEnd type="none" w="med" len="med"/>
          </a:ln>
          <a:extLst>
            <a:ext uri="{AF507438-7753-43E0-B8FC-AC1667EBCBE1}">
              <a14:hiddenEffects xmlns:a14="http://schemas.microsoft.com/office/drawing/2010/main">
                <a:effectLst>
                  <a:outerShdw dist="35921" dir="2700000" algn="ctr" rotWithShape="0">
                    <a:schemeClr val="bg2"/>
                  </a:outerShdw>
                </a:effectLst>
              </a14:hiddenEffects>
            </a:ext>
          </a:extLst>
        </p:spPr>
        <p:style>
          <a:lnRef idx="3">
            <a:schemeClr val="dk1"/>
          </a:lnRef>
          <a:fillRef idx="0">
            <a:schemeClr val="dk1"/>
          </a:fillRef>
          <a:effectRef idx="2">
            <a:schemeClr val="dk1"/>
          </a:effectRef>
          <a:fontRef idx="minor">
            <a:schemeClr val="tx1"/>
          </a:fontRef>
        </p:style>
      </p:cxnSp>
      <p:cxnSp>
        <p:nvCxnSpPr>
          <p:cNvPr id="21" name="直接连接符 20">
            <a:extLst>
              <a:ext uri="{FF2B5EF4-FFF2-40B4-BE49-F238E27FC236}">
                <a16:creationId xmlns:a16="http://schemas.microsoft.com/office/drawing/2014/main" id="{FCC06D4D-01E2-4D2D-88E0-2FCD2C3D4843}"/>
              </a:ext>
            </a:extLst>
          </p:cNvPr>
          <p:cNvCxnSpPr>
            <a:cxnSpLocks/>
            <a:stCxn id="12" idx="3"/>
            <a:endCxn id="8" idx="7"/>
          </p:cNvCxnSpPr>
          <p:nvPr/>
        </p:nvCxnSpPr>
        <p:spPr bwMode="auto">
          <a:xfrm flipH="1">
            <a:off x="8695607" y="2851127"/>
            <a:ext cx="651690" cy="1299762"/>
          </a:xfrm>
          <a:prstGeom prst="line">
            <a:avLst/>
          </a:prstGeom>
          <a:ln>
            <a:headEnd type="none" w="med" len="med"/>
            <a:tailEnd type="none" w="med" len="med"/>
          </a:ln>
          <a:extLst>
            <a:ext uri="{AF507438-7753-43E0-B8FC-AC1667EBCBE1}">
              <a14:hiddenEffects xmlns:a14="http://schemas.microsoft.com/office/drawing/2010/main">
                <a:effectLst>
                  <a:outerShdw dist="35921" dir="2700000" algn="ctr" rotWithShape="0">
                    <a:schemeClr val="bg2"/>
                  </a:outerShdw>
                </a:effectLst>
              </a14:hiddenEffects>
            </a:ext>
          </a:extLst>
        </p:spPr>
        <p:style>
          <a:lnRef idx="3">
            <a:schemeClr val="dk1"/>
          </a:lnRef>
          <a:fillRef idx="0">
            <a:schemeClr val="dk1"/>
          </a:fillRef>
          <a:effectRef idx="2">
            <a:schemeClr val="dk1"/>
          </a:effectRef>
          <a:fontRef idx="minor">
            <a:schemeClr val="tx1"/>
          </a:fontRef>
        </p:style>
      </p:cxnSp>
      <p:cxnSp>
        <p:nvCxnSpPr>
          <p:cNvPr id="24" name="直接连接符 23">
            <a:extLst>
              <a:ext uri="{FF2B5EF4-FFF2-40B4-BE49-F238E27FC236}">
                <a16:creationId xmlns:a16="http://schemas.microsoft.com/office/drawing/2014/main" id="{2C569169-B85B-4302-9DD0-2C0493321C65}"/>
              </a:ext>
            </a:extLst>
          </p:cNvPr>
          <p:cNvCxnSpPr>
            <a:cxnSpLocks/>
            <a:stCxn id="7" idx="4"/>
            <a:endCxn id="8" idx="0"/>
          </p:cNvCxnSpPr>
          <p:nvPr/>
        </p:nvCxnSpPr>
        <p:spPr bwMode="auto">
          <a:xfrm>
            <a:off x="8517396" y="1772237"/>
            <a:ext cx="0" cy="2304835"/>
          </a:xfrm>
          <a:prstGeom prst="line">
            <a:avLst/>
          </a:prstGeom>
          <a:ln>
            <a:headEnd type="none" w="med" len="med"/>
            <a:tailEnd type="none" w="med" len="med"/>
          </a:ln>
          <a:extLst>
            <a:ext uri="{AF507438-7753-43E0-B8FC-AC1667EBCBE1}">
              <a14:hiddenEffects xmlns:a14="http://schemas.microsoft.com/office/drawing/2010/main">
                <a:effectLst>
                  <a:outerShdw dist="35921" dir="2700000" algn="ctr" rotWithShape="0">
                    <a:schemeClr val="bg2"/>
                  </a:outerShdw>
                </a:effectLst>
              </a14:hiddenEffects>
            </a:ext>
          </a:extLst>
        </p:spPr>
        <p:style>
          <a:lnRef idx="3">
            <a:schemeClr val="dk1"/>
          </a:lnRef>
          <a:fillRef idx="0">
            <a:schemeClr val="dk1"/>
          </a:fillRef>
          <a:effectRef idx="2">
            <a:schemeClr val="dk1"/>
          </a:effectRef>
          <a:fontRef idx="minor">
            <a:schemeClr val="tx1"/>
          </a:fontRef>
        </p:style>
      </p:cxnSp>
      <p:cxnSp>
        <p:nvCxnSpPr>
          <p:cNvPr id="28" name="直接连接符 27">
            <a:extLst>
              <a:ext uri="{FF2B5EF4-FFF2-40B4-BE49-F238E27FC236}">
                <a16:creationId xmlns:a16="http://schemas.microsoft.com/office/drawing/2014/main" id="{BC15BEE4-0B93-4253-B24C-C2EE4270C57B}"/>
              </a:ext>
            </a:extLst>
          </p:cNvPr>
          <p:cNvCxnSpPr>
            <a:cxnSpLocks/>
            <a:endCxn id="10" idx="7"/>
          </p:cNvCxnSpPr>
          <p:nvPr/>
        </p:nvCxnSpPr>
        <p:spPr bwMode="auto">
          <a:xfrm flipH="1">
            <a:off x="7975527" y="4509120"/>
            <a:ext cx="387856" cy="577873"/>
          </a:xfrm>
          <a:prstGeom prst="line">
            <a:avLst/>
          </a:prstGeom>
          <a:ln>
            <a:headEnd type="none" w="med" len="med"/>
            <a:tailEnd type="none" w="med" len="med"/>
          </a:ln>
          <a:extLst>
            <a:ext uri="{AF507438-7753-43E0-B8FC-AC1667EBCBE1}">
              <a14:hiddenEffects xmlns:a14="http://schemas.microsoft.com/office/drawing/2010/main">
                <a:effectLst>
                  <a:outerShdw dist="35921" dir="2700000" algn="ctr" rotWithShape="0">
                    <a:schemeClr val="bg2"/>
                  </a:outerShdw>
                </a:effectLst>
              </a14:hiddenEffects>
            </a:ext>
          </a:extLst>
        </p:spPr>
        <p:style>
          <a:lnRef idx="3">
            <a:schemeClr val="dk1"/>
          </a:lnRef>
          <a:fillRef idx="0">
            <a:schemeClr val="dk1"/>
          </a:fillRef>
          <a:effectRef idx="2">
            <a:schemeClr val="dk1"/>
          </a:effectRef>
          <a:fontRef idx="minor">
            <a:schemeClr val="tx1"/>
          </a:fontRef>
        </p:style>
      </p:cxnSp>
      <p:cxnSp>
        <p:nvCxnSpPr>
          <p:cNvPr id="30" name="直接连接符 29">
            <a:extLst>
              <a:ext uri="{FF2B5EF4-FFF2-40B4-BE49-F238E27FC236}">
                <a16:creationId xmlns:a16="http://schemas.microsoft.com/office/drawing/2014/main" id="{BCA76F38-BFD2-4F6F-9AAA-D3339F1554E3}"/>
              </a:ext>
            </a:extLst>
          </p:cNvPr>
          <p:cNvCxnSpPr>
            <a:cxnSpLocks/>
            <a:stCxn id="9" idx="1"/>
            <a:endCxn id="8" idx="5"/>
          </p:cNvCxnSpPr>
          <p:nvPr/>
        </p:nvCxnSpPr>
        <p:spPr bwMode="auto">
          <a:xfrm flipH="1" flipV="1">
            <a:off x="8695607" y="4507311"/>
            <a:ext cx="651690" cy="579682"/>
          </a:xfrm>
          <a:prstGeom prst="line">
            <a:avLst/>
          </a:prstGeom>
          <a:ln>
            <a:headEnd type="none" w="med" len="med"/>
            <a:tailEnd type="none" w="med" len="med"/>
          </a:ln>
          <a:extLst>
            <a:ext uri="{AF507438-7753-43E0-B8FC-AC1667EBCBE1}">
              <a14:hiddenEffects xmlns:a14="http://schemas.microsoft.com/office/drawing/2010/main">
                <a:effectLst>
                  <a:outerShdw dist="35921" dir="2700000" algn="ctr" rotWithShape="0">
                    <a:schemeClr val="bg2"/>
                  </a:outerShdw>
                </a:effectLst>
              </a14:hiddenEffects>
            </a:ext>
          </a:extLst>
        </p:spPr>
        <p:style>
          <a:lnRef idx="3">
            <a:schemeClr val="dk1"/>
          </a:lnRef>
          <a:fillRef idx="0">
            <a:schemeClr val="dk1"/>
          </a:fillRef>
          <a:effectRef idx="2">
            <a:schemeClr val="dk1"/>
          </a:effectRef>
          <a:fontRef idx="minor">
            <a:schemeClr val="tx1"/>
          </a:fontRef>
        </p:style>
      </p:cxnSp>
      <p:cxnSp>
        <p:nvCxnSpPr>
          <p:cNvPr id="33" name="直接连接符 32">
            <a:extLst>
              <a:ext uri="{FF2B5EF4-FFF2-40B4-BE49-F238E27FC236}">
                <a16:creationId xmlns:a16="http://schemas.microsoft.com/office/drawing/2014/main" id="{42C270A3-4996-446A-AFB7-0280A4A20C3C}"/>
              </a:ext>
            </a:extLst>
          </p:cNvPr>
          <p:cNvCxnSpPr>
            <a:cxnSpLocks/>
            <a:stCxn id="11" idx="4"/>
            <a:endCxn id="10" idx="0"/>
          </p:cNvCxnSpPr>
          <p:nvPr/>
        </p:nvCxnSpPr>
        <p:spPr bwMode="auto">
          <a:xfrm>
            <a:off x="7797316" y="2996952"/>
            <a:ext cx="0" cy="2016224"/>
          </a:xfrm>
          <a:prstGeom prst="line">
            <a:avLst/>
          </a:prstGeom>
          <a:ln>
            <a:headEnd type="none" w="med" len="med"/>
            <a:tailEnd type="none" w="med" len="med"/>
          </a:ln>
          <a:extLst>
            <a:ext uri="{AF507438-7753-43E0-B8FC-AC1667EBCBE1}">
              <a14:hiddenEffects xmlns:a14="http://schemas.microsoft.com/office/drawing/2010/main">
                <a:effectLst>
                  <a:outerShdw dist="35921" dir="2700000" algn="ctr" rotWithShape="0">
                    <a:schemeClr val="bg2"/>
                  </a:outerShdw>
                </a:effectLst>
              </a14:hiddenEffects>
            </a:ext>
          </a:extLst>
        </p:spPr>
        <p:style>
          <a:lnRef idx="3">
            <a:schemeClr val="dk1"/>
          </a:lnRef>
          <a:fillRef idx="0">
            <a:schemeClr val="dk1"/>
          </a:fillRef>
          <a:effectRef idx="2">
            <a:schemeClr val="dk1"/>
          </a:effectRef>
          <a:fontRef idx="minor">
            <a:schemeClr val="tx1"/>
          </a:fontRef>
        </p:style>
      </p:cxnSp>
      <p:cxnSp>
        <p:nvCxnSpPr>
          <p:cNvPr id="36" name="直接连接符 35">
            <a:extLst>
              <a:ext uri="{FF2B5EF4-FFF2-40B4-BE49-F238E27FC236}">
                <a16:creationId xmlns:a16="http://schemas.microsoft.com/office/drawing/2014/main" id="{FE92F4F4-178E-42CC-A7B5-CEDFF1776CDB}"/>
              </a:ext>
            </a:extLst>
          </p:cNvPr>
          <p:cNvCxnSpPr>
            <a:cxnSpLocks/>
            <a:stCxn id="12" idx="4"/>
            <a:endCxn id="9" idx="0"/>
          </p:cNvCxnSpPr>
          <p:nvPr/>
        </p:nvCxnSpPr>
        <p:spPr bwMode="auto">
          <a:xfrm>
            <a:off x="9525508" y="2924944"/>
            <a:ext cx="0" cy="2088232"/>
          </a:xfrm>
          <a:prstGeom prst="line">
            <a:avLst/>
          </a:prstGeom>
          <a:ln>
            <a:headEnd type="none" w="med" len="med"/>
            <a:tailEnd type="none" w="med" len="med"/>
          </a:ln>
          <a:extLst>
            <a:ext uri="{AF507438-7753-43E0-B8FC-AC1667EBCBE1}">
              <a14:hiddenEffects xmlns:a14="http://schemas.microsoft.com/office/drawing/2010/main">
                <a:effectLst>
                  <a:outerShdw dist="35921" dir="2700000" algn="ctr" rotWithShape="0">
                    <a:schemeClr val="bg2"/>
                  </a:outerShdw>
                </a:effectLst>
              </a14:hiddenEffects>
            </a:ext>
          </a:extLst>
        </p:spPr>
        <p:style>
          <a:lnRef idx="3">
            <a:schemeClr val="dk1"/>
          </a:lnRef>
          <a:fillRef idx="0">
            <a:schemeClr val="dk1"/>
          </a:fillRef>
          <a:effectRef idx="2">
            <a:schemeClr val="dk1"/>
          </a:effectRef>
          <a:fontRef idx="minor">
            <a:schemeClr val="tx1"/>
          </a:fontRef>
        </p:style>
      </p:cxnSp>
      <p:sp>
        <p:nvSpPr>
          <p:cNvPr id="39" name="文本框 38">
            <a:extLst>
              <a:ext uri="{FF2B5EF4-FFF2-40B4-BE49-F238E27FC236}">
                <a16:creationId xmlns:a16="http://schemas.microsoft.com/office/drawing/2014/main" id="{EFD562F6-BE77-4330-9DC9-E568DC32C1A3}"/>
              </a:ext>
            </a:extLst>
          </p:cNvPr>
          <p:cNvSpPr txBox="1"/>
          <p:nvPr/>
        </p:nvSpPr>
        <p:spPr>
          <a:xfrm>
            <a:off x="7728703" y="1779203"/>
            <a:ext cx="356188" cy="461665"/>
          </a:xfrm>
          <a:prstGeom prst="rect">
            <a:avLst/>
          </a:prstGeom>
          <a:noFill/>
        </p:spPr>
        <p:txBody>
          <a:bodyPr wrap="none" rtlCol="0">
            <a:spAutoFit/>
          </a:bodyPr>
          <a:lstStyle/>
          <a:p>
            <a:r>
              <a:rPr lang="en-US" altLang="zh-CN" sz="2400" dirty="0">
                <a:solidFill>
                  <a:srgbClr val="FF0000"/>
                </a:solidFill>
              </a:rPr>
              <a:t>6</a:t>
            </a:r>
            <a:endParaRPr lang="zh-CN" altLang="en-US" sz="2400" dirty="0">
              <a:solidFill>
                <a:srgbClr val="FF0000"/>
              </a:solidFill>
            </a:endParaRPr>
          </a:p>
        </p:txBody>
      </p:sp>
      <p:sp>
        <p:nvSpPr>
          <p:cNvPr id="40" name="文本框 39">
            <a:extLst>
              <a:ext uri="{FF2B5EF4-FFF2-40B4-BE49-F238E27FC236}">
                <a16:creationId xmlns:a16="http://schemas.microsoft.com/office/drawing/2014/main" id="{0EDB641F-7917-4CC9-BE51-E920651677B2}"/>
              </a:ext>
            </a:extLst>
          </p:cNvPr>
          <p:cNvSpPr txBox="1"/>
          <p:nvPr/>
        </p:nvSpPr>
        <p:spPr>
          <a:xfrm>
            <a:off x="8920280" y="1697982"/>
            <a:ext cx="356188" cy="461665"/>
          </a:xfrm>
          <a:prstGeom prst="rect">
            <a:avLst/>
          </a:prstGeom>
          <a:noFill/>
        </p:spPr>
        <p:txBody>
          <a:bodyPr wrap="none" rtlCol="0">
            <a:spAutoFit/>
          </a:bodyPr>
          <a:lstStyle/>
          <a:p>
            <a:r>
              <a:rPr lang="en-US" altLang="zh-CN" sz="2400" dirty="0">
                <a:solidFill>
                  <a:srgbClr val="FF0000"/>
                </a:solidFill>
              </a:rPr>
              <a:t>1</a:t>
            </a:r>
            <a:endParaRPr lang="zh-CN" altLang="en-US" sz="2400" dirty="0">
              <a:solidFill>
                <a:srgbClr val="FF0000"/>
              </a:solidFill>
            </a:endParaRPr>
          </a:p>
        </p:txBody>
      </p:sp>
      <p:sp>
        <p:nvSpPr>
          <p:cNvPr id="41" name="文本框 40">
            <a:extLst>
              <a:ext uri="{FF2B5EF4-FFF2-40B4-BE49-F238E27FC236}">
                <a16:creationId xmlns:a16="http://schemas.microsoft.com/office/drawing/2014/main" id="{D3578B0A-99F9-4907-A1D4-06C42CC0D0D6}"/>
              </a:ext>
            </a:extLst>
          </p:cNvPr>
          <p:cNvSpPr txBox="1"/>
          <p:nvPr/>
        </p:nvSpPr>
        <p:spPr>
          <a:xfrm>
            <a:off x="7452069" y="3689224"/>
            <a:ext cx="356188" cy="461665"/>
          </a:xfrm>
          <a:prstGeom prst="rect">
            <a:avLst/>
          </a:prstGeom>
          <a:noFill/>
        </p:spPr>
        <p:txBody>
          <a:bodyPr wrap="square" rtlCol="0">
            <a:spAutoFit/>
          </a:bodyPr>
          <a:lstStyle/>
          <a:p>
            <a:r>
              <a:rPr lang="en-US" altLang="zh-CN" sz="2400" dirty="0">
                <a:solidFill>
                  <a:srgbClr val="FF0000"/>
                </a:solidFill>
              </a:rPr>
              <a:t>3</a:t>
            </a:r>
            <a:endParaRPr lang="zh-CN" altLang="en-US" sz="2400" dirty="0">
              <a:solidFill>
                <a:srgbClr val="FF0000"/>
              </a:solidFill>
            </a:endParaRPr>
          </a:p>
        </p:txBody>
      </p:sp>
      <p:sp>
        <p:nvSpPr>
          <p:cNvPr id="42" name="文本框 41">
            <a:extLst>
              <a:ext uri="{FF2B5EF4-FFF2-40B4-BE49-F238E27FC236}">
                <a16:creationId xmlns:a16="http://schemas.microsoft.com/office/drawing/2014/main" id="{F8A31A44-7839-4C37-B453-DF3114209F54}"/>
              </a:ext>
            </a:extLst>
          </p:cNvPr>
          <p:cNvSpPr txBox="1"/>
          <p:nvPr/>
        </p:nvSpPr>
        <p:spPr>
          <a:xfrm>
            <a:off x="8490703" y="2263364"/>
            <a:ext cx="356188" cy="461665"/>
          </a:xfrm>
          <a:prstGeom prst="rect">
            <a:avLst/>
          </a:prstGeom>
          <a:noFill/>
        </p:spPr>
        <p:txBody>
          <a:bodyPr wrap="none" rtlCol="0">
            <a:spAutoFit/>
          </a:bodyPr>
          <a:lstStyle/>
          <a:p>
            <a:r>
              <a:rPr lang="en-US" altLang="zh-CN" sz="2400" dirty="0">
                <a:solidFill>
                  <a:srgbClr val="FF0000"/>
                </a:solidFill>
              </a:rPr>
              <a:t>2</a:t>
            </a:r>
            <a:endParaRPr lang="zh-CN" altLang="en-US" sz="2400" dirty="0">
              <a:solidFill>
                <a:srgbClr val="FF0000"/>
              </a:solidFill>
            </a:endParaRPr>
          </a:p>
        </p:txBody>
      </p:sp>
      <p:sp>
        <p:nvSpPr>
          <p:cNvPr id="43" name="文本框 42">
            <a:extLst>
              <a:ext uri="{FF2B5EF4-FFF2-40B4-BE49-F238E27FC236}">
                <a16:creationId xmlns:a16="http://schemas.microsoft.com/office/drawing/2014/main" id="{715DB839-87A2-4C96-AF1C-59CAD0E50D82}"/>
              </a:ext>
            </a:extLst>
          </p:cNvPr>
          <p:cNvSpPr txBox="1"/>
          <p:nvPr/>
        </p:nvSpPr>
        <p:spPr>
          <a:xfrm>
            <a:off x="8014500" y="3257176"/>
            <a:ext cx="356188" cy="461665"/>
          </a:xfrm>
          <a:prstGeom prst="rect">
            <a:avLst/>
          </a:prstGeom>
          <a:noFill/>
        </p:spPr>
        <p:txBody>
          <a:bodyPr wrap="none" rtlCol="0">
            <a:spAutoFit/>
          </a:bodyPr>
          <a:lstStyle/>
          <a:p>
            <a:r>
              <a:rPr lang="en-US" altLang="zh-CN" sz="2400" dirty="0">
                <a:solidFill>
                  <a:srgbClr val="FF0000"/>
                </a:solidFill>
              </a:rPr>
              <a:t>6</a:t>
            </a:r>
            <a:endParaRPr lang="zh-CN" altLang="en-US" sz="2400" dirty="0">
              <a:solidFill>
                <a:srgbClr val="FF0000"/>
              </a:solidFill>
            </a:endParaRPr>
          </a:p>
        </p:txBody>
      </p:sp>
      <p:sp>
        <p:nvSpPr>
          <p:cNvPr id="44" name="文本框 43">
            <a:extLst>
              <a:ext uri="{FF2B5EF4-FFF2-40B4-BE49-F238E27FC236}">
                <a16:creationId xmlns:a16="http://schemas.microsoft.com/office/drawing/2014/main" id="{A0528111-F620-4AD4-948F-E6F49D91F771}"/>
              </a:ext>
            </a:extLst>
          </p:cNvPr>
          <p:cNvSpPr txBox="1"/>
          <p:nvPr/>
        </p:nvSpPr>
        <p:spPr>
          <a:xfrm>
            <a:off x="8087392" y="4708526"/>
            <a:ext cx="356188" cy="461665"/>
          </a:xfrm>
          <a:prstGeom prst="rect">
            <a:avLst/>
          </a:prstGeom>
          <a:noFill/>
        </p:spPr>
        <p:txBody>
          <a:bodyPr wrap="none" rtlCol="0">
            <a:spAutoFit/>
          </a:bodyPr>
          <a:lstStyle/>
          <a:p>
            <a:r>
              <a:rPr lang="en-US" altLang="zh-CN" sz="2400" dirty="0">
                <a:solidFill>
                  <a:srgbClr val="FF0000"/>
                </a:solidFill>
              </a:rPr>
              <a:t>2</a:t>
            </a:r>
            <a:endParaRPr lang="zh-CN" altLang="en-US" sz="2400" dirty="0">
              <a:solidFill>
                <a:srgbClr val="FF0000"/>
              </a:solidFill>
            </a:endParaRPr>
          </a:p>
        </p:txBody>
      </p:sp>
      <p:sp>
        <p:nvSpPr>
          <p:cNvPr id="45" name="文本框 44">
            <a:extLst>
              <a:ext uri="{FF2B5EF4-FFF2-40B4-BE49-F238E27FC236}">
                <a16:creationId xmlns:a16="http://schemas.microsoft.com/office/drawing/2014/main" id="{E159E4F4-9EA1-4346-B048-3E0142C6C309}"/>
              </a:ext>
            </a:extLst>
          </p:cNvPr>
          <p:cNvSpPr txBox="1"/>
          <p:nvPr/>
        </p:nvSpPr>
        <p:spPr>
          <a:xfrm>
            <a:off x="8742186" y="3149947"/>
            <a:ext cx="356188" cy="461665"/>
          </a:xfrm>
          <a:prstGeom prst="rect">
            <a:avLst/>
          </a:prstGeom>
          <a:noFill/>
        </p:spPr>
        <p:txBody>
          <a:bodyPr wrap="none" rtlCol="0">
            <a:spAutoFit/>
          </a:bodyPr>
          <a:lstStyle/>
          <a:p>
            <a:r>
              <a:rPr lang="en-US" altLang="zh-CN" sz="2400" dirty="0">
                <a:solidFill>
                  <a:srgbClr val="FF0000"/>
                </a:solidFill>
              </a:rPr>
              <a:t>2</a:t>
            </a:r>
            <a:endParaRPr lang="zh-CN" altLang="en-US" sz="2400" dirty="0">
              <a:solidFill>
                <a:srgbClr val="FF0000"/>
              </a:solidFill>
            </a:endParaRPr>
          </a:p>
        </p:txBody>
      </p:sp>
      <p:sp>
        <p:nvSpPr>
          <p:cNvPr id="46" name="文本框 45">
            <a:extLst>
              <a:ext uri="{FF2B5EF4-FFF2-40B4-BE49-F238E27FC236}">
                <a16:creationId xmlns:a16="http://schemas.microsoft.com/office/drawing/2014/main" id="{C564FFBC-EF2C-4A68-854F-21A81752EED8}"/>
              </a:ext>
            </a:extLst>
          </p:cNvPr>
          <p:cNvSpPr txBox="1"/>
          <p:nvPr/>
        </p:nvSpPr>
        <p:spPr>
          <a:xfrm>
            <a:off x="8766429" y="4710064"/>
            <a:ext cx="356188" cy="461665"/>
          </a:xfrm>
          <a:prstGeom prst="rect">
            <a:avLst/>
          </a:prstGeom>
          <a:noFill/>
        </p:spPr>
        <p:txBody>
          <a:bodyPr wrap="none" rtlCol="0">
            <a:spAutoFit/>
          </a:bodyPr>
          <a:lstStyle/>
          <a:p>
            <a:r>
              <a:rPr lang="en-US" altLang="zh-CN" sz="2400" dirty="0">
                <a:solidFill>
                  <a:srgbClr val="FF0000"/>
                </a:solidFill>
              </a:rPr>
              <a:t>4</a:t>
            </a:r>
            <a:endParaRPr lang="zh-CN" altLang="en-US" sz="2400" dirty="0">
              <a:solidFill>
                <a:srgbClr val="FF0000"/>
              </a:solidFill>
            </a:endParaRPr>
          </a:p>
        </p:txBody>
      </p:sp>
      <p:sp>
        <p:nvSpPr>
          <p:cNvPr id="47" name="文本框 46">
            <a:extLst>
              <a:ext uri="{FF2B5EF4-FFF2-40B4-BE49-F238E27FC236}">
                <a16:creationId xmlns:a16="http://schemas.microsoft.com/office/drawing/2014/main" id="{78869615-EBCA-46EC-8DC4-5D12AE80453A}"/>
              </a:ext>
            </a:extLst>
          </p:cNvPr>
          <p:cNvSpPr txBox="1"/>
          <p:nvPr/>
        </p:nvSpPr>
        <p:spPr>
          <a:xfrm>
            <a:off x="9206228" y="4000558"/>
            <a:ext cx="356188" cy="461665"/>
          </a:xfrm>
          <a:prstGeom prst="rect">
            <a:avLst/>
          </a:prstGeom>
          <a:noFill/>
        </p:spPr>
        <p:txBody>
          <a:bodyPr wrap="none" rtlCol="0">
            <a:spAutoFit/>
          </a:bodyPr>
          <a:lstStyle/>
          <a:p>
            <a:r>
              <a:rPr lang="en-US" altLang="zh-CN" sz="2400" dirty="0">
                <a:solidFill>
                  <a:srgbClr val="FF0000"/>
                </a:solidFill>
              </a:rPr>
              <a:t>5</a:t>
            </a:r>
            <a:endParaRPr lang="zh-CN" altLang="en-US" sz="2400" dirty="0">
              <a:solidFill>
                <a:srgbClr val="FF0000"/>
              </a:solidFill>
            </a:endParaRPr>
          </a:p>
        </p:txBody>
      </p:sp>
      <p:cxnSp>
        <p:nvCxnSpPr>
          <p:cNvPr id="48" name="直接连接符 47">
            <a:extLst>
              <a:ext uri="{FF2B5EF4-FFF2-40B4-BE49-F238E27FC236}">
                <a16:creationId xmlns:a16="http://schemas.microsoft.com/office/drawing/2014/main" id="{B4FFC905-C469-4961-8877-A41E8B6FE967}"/>
              </a:ext>
            </a:extLst>
          </p:cNvPr>
          <p:cNvCxnSpPr>
            <a:cxnSpLocks/>
            <a:stCxn id="9" idx="2"/>
            <a:endCxn id="10" idx="6"/>
          </p:cNvCxnSpPr>
          <p:nvPr/>
        </p:nvCxnSpPr>
        <p:spPr bwMode="auto">
          <a:xfrm flipH="1">
            <a:off x="8049344" y="5265204"/>
            <a:ext cx="1224136" cy="0"/>
          </a:xfrm>
          <a:prstGeom prst="line">
            <a:avLst/>
          </a:prstGeom>
          <a:ln>
            <a:headEnd type="none" w="med" len="med"/>
            <a:tailEnd type="none" w="med" len="med"/>
          </a:ln>
          <a:extLst>
            <a:ext uri="{AF507438-7753-43E0-B8FC-AC1667EBCBE1}">
              <a14:hiddenEffects xmlns:a14="http://schemas.microsoft.com/office/drawing/2010/main">
                <a:effectLst>
                  <a:outerShdw dist="35921" dir="2700000" algn="ctr" rotWithShape="0">
                    <a:schemeClr val="bg2"/>
                  </a:outerShdw>
                </a:effectLst>
              </a14:hiddenEffects>
            </a:ext>
          </a:extLst>
        </p:spPr>
        <p:style>
          <a:lnRef idx="3">
            <a:schemeClr val="dk1"/>
          </a:lnRef>
          <a:fillRef idx="0">
            <a:schemeClr val="dk1"/>
          </a:fillRef>
          <a:effectRef idx="2">
            <a:schemeClr val="dk1"/>
          </a:effectRef>
          <a:fontRef idx="minor">
            <a:schemeClr val="tx1"/>
          </a:fontRef>
        </p:style>
      </p:cxnSp>
      <p:sp>
        <p:nvSpPr>
          <p:cNvPr id="51" name="文本框 50">
            <a:extLst>
              <a:ext uri="{FF2B5EF4-FFF2-40B4-BE49-F238E27FC236}">
                <a16:creationId xmlns:a16="http://schemas.microsoft.com/office/drawing/2014/main" id="{7A0DF945-46FC-45B9-907D-8770027EA734}"/>
              </a:ext>
            </a:extLst>
          </p:cNvPr>
          <p:cNvSpPr txBox="1"/>
          <p:nvPr/>
        </p:nvSpPr>
        <p:spPr>
          <a:xfrm>
            <a:off x="8443360" y="5265204"/>
            <a:ext cx="356188" cy="461665"/>
          </a:xfrm>
          <a:prstGeom prst="rect">
            <a:avLst/>
          </a:prstGeom>
          <a:noFill/>
        </p:spPr>
        <p:txBody>
          <a:bodyPr wrap="none" rtlCol="0">
            <a:spAutoFit/>
          </a:bodyPr>
          <a:lstStyle/>
          <a:p>
            <a:r>
              <a:rPr lang="en-US" altLang="zh-CN" sz="2400" dirty="0">
                <a:solidFill>
                  <a:srgbClr val="FF0000"/>
                </a:solidFill>
              </a:rPr>
              <a:t>3</a:t>
            </a:r>
            <a:endParaRPr lang="zh-CN" altLang="en-US" sz="2400" dirty="0">
              <a:solidFill>
                <a:srgbClr val="FF0000"/>
              </a:solidFill>
            </a:endParaRPr>
          </a:p>
        </p:txBody>
      </p:sp>
      <mc:AlternateContent xmlns:mc="http://schemas.openxmlformats.org/markup-compatibility/2006" xmlns:a14="http://schemas.microsoft.com/office/drawing/2010/main">
        <mc:Choice Requires="a14">
          <p:sp>
            <p:nvSpPr>
              <p:cNvPr id="54" name="文本框 53">
                <a:extLst>
                  <a:ext uri="{FF2B5EF4-FFF2-40B4-BE49-F238E27FC236}">
                    <a16:creationId xmlns:a16="http://schemas.microsoft.com/office/drawing/2014/main" id="{20AAC8FB-4A31-43C6-830E-0684A0DFFEF6}"/>
                  </a:ext>
                </a:extLst>
              </p:cNvPr>
              <p:cNvSpPr txBox="1"/>
              <p:nvPr/>
            </p:nvSpPr>
            <p:spPr>
              <a:xfrm>
                <a:off x="106296" y="1225328"/>
                <a:ext cx="7402085" cy="4510787"/>
              </a:xfrm>
              <a:prstGeom prst="rect">
                <a:avLst/>
              </a:prstGeom>
              <a:noFill/>
            </p:spPr>
            <p:txBody>
              <a:bodyPr wrap="square" rtlCol="0">
                <a:spAutoFit/>
              </a:bodyPr>
              <a:lstStyle/>
              <a:p>
                <a:r>
                  <a:rPr lang="zh-CN" altLang="en-US" sz="2400" dirty="0"/>
                  <a:t>如图可知每条路径上的数字代表每条路径的距离</a:t>
                </a:r>
                <a14:m>
                  <m:oMath xmlns:m="http://schemas.openxmlformats.org/officeDocument/2006/math">
                    <m:sSub>
                      <m:sSubPr>
                        <m:ctrlPr>
                          <a:rPr lang="en-US" altLang="zh-CN" sz="2400" i="1">
                            <a:latin typeface="Cambria Math" panose="02040503050406030204" pitchFamily="18" charset="0"/>
                          </a:rPr>
                        </m:ctrlPr>
                      </m:sSubPr>
                      <m:e>
                        <m:r>
                          <a:rPr lang="en-US" altLang="zh-CN" sz="2400" i="1">
                            <a:latin typeface="Cambria Math" panose="02040503050406030204" pitchFamily="18" charset="0"/>
                          </a:rPr>
                          <m:t>𝑑</m:t>
                        </m:r>
                      </m:e>
                      <m:sub>
                        <m:r>
                          <a:rPr lang="en-US" altLang="zh-CN" sz="2400" i="1">
                            <a:latin typeface="Cambria Math" panose="02040503050406030204" pitchFamily="18" charset="0"/>
                          </a:rPr>
                          <m:t>𝑖𝑗</m:t>
                        </m:r>
                      </m:sub>
                    </m:sSub>
                    <m:r>
                      <a:rPr lang="zh-CN" altLang="en-US" sz="2400" i="1" smtClean="0">
                        <a:latin typeface="Cambria Math" panose="02040503050406030204" pitchFamily="18" charset="0"/>
                      </a:rPr>
                      <m:t>。</m:t>
                    </m:r>
                  </m:oMath>
                </a14:m>
                <a:endParaRPr lang="en-US" altLang="zh-CN" sz="2400" dirty="0"/>
              </a:p>
              <a:p>
                <a:r>
                  <a:rPr lang="zh-CN" altLang="en-US" sz="2400" dirty="0"/>
                  <a:t>假设初始时每条路径上的信息素浓度均为</a:t>
                </a:r>
                <a:r>
                  <a:rPr lang="en-US" altLang="zh-CN" sz="2400" dirty="0"/>
                  <a:t>1</a:t>
                </a:r>
                <a:r>
                  <a:rPr lang="zh-CN" altLang="en-US" sz="2400" dirty="0"/>
                  <a:t>，信息素因子</a:t>
                </a:r>
                <a:r>
                  <a:rPr lang="en-US" altLang="zh-CN" sz="2400" dirty="0"/>
                  <a:t>ɑ</a:t>
                </a:r>
                <a:r>
                  <a:rPr lang="zh-CN" altLang="en-US" sz="2400" dirty="0"/>
                  <a:t>为</a:t>
                </a:r>
                <a:r>
                  <a:rPr lang="en-US" altLang="zh-CN" sz="2400" dirty="0"/>
                  <a:t>2</a:t>
                </a:r>
                <a:r>
                  <a:rPr lang="zh-CN" altLang="en-US" sz="2400" dirty="0"/>
                  <a:t>，启发函数因子</a:t>
                </a:r>
                <a14:m>
                  <m:oMath xmlns:m="http://schemas.openxmlformats.org/officeDocument/2006/math">
                    <m:r>
                      <a:rPr lang="zh-CN" altLang="en-US" sz="2400">
                        <a:latin typeface="Cambria Math" panose="02040503050406030204" pitchFamily="18" charset="0"/>
                      </a:rPr>
                      <m:t>𝛽</m:t>
                    </m:r>
                  </m:oMath>
                </a14:m>
                <a:r>
                  <a:rPr lang="zh-CN" altLang="en-US" sz="2400" dirty="0"/>
                  <a:t>为</a:t>
                </a:r>
                <a:r>
                  <a:rPr lang="en-US" altLang="zh-CN" sz="2400" dirty="0"/>
                  <a:t>3</a:t>
                </a:r>
              </a:p>
              <a:p>
                <a:r>
                  <a:rPr lang="zh-CN" altLang="en-US" sz="2400" dirty="0"/>
                  <a:t>由一只蚂蚁</a:t>
                </a:r>
                <a:r>
                  <a:rPr lang="en-US" altLang="zh-CN" sz="2400" dirty="0"/>
                  <a:t>k</a:t>
                </a:r>
                <a:r>
                  <a:rPr lang="zh-CN" altLang="en-US" sz="2400" dirty="0"/>
                  <a:t>的起点为城市</a:t>
                </a:r>
                <a:r>
                  <a:rPr lang="en-US" altLang="zh-CN" sz="2400" dirty="0"/>
                  <a:t>2</a:t>
                </a:r>
                <a:r>
                  <a:rPr lang="zh-CN" altLang="en-US" sz="2400" dirty="0"/>
                  <a:t>到下一个城市</a:t>
                </a:r>
                <a:r>
                  <a:rPr lang="en-US" altLang="zh-CN" sz="2400" dirty="0"/>
                  <a:t>j</a:t>
                </a:r>
                <a:r>
                  <a:rPr lang="zh-CN" altLang="en-US" sz="2400" dirty="0"/>
                  <a:t>的概率分别为：</a:t>
                </a:r>
                <a:endParaRPr lang="en-US" altLang="zh-CN" sz="2400" dirty="0"/>
              </a:p>
              <a:p>
                <a14:m>
                  <m:oMath xmlns:m="http://schemas.openxmlformats.org/officeDocument/2006/math">
                    <m:sSubSup>
                      <m:sSubSupPr>
                        <m:ctrlPr>
                          <a:rPr lang="en-US" altLang="zh-CN" sz="2400" i="1" smtClean="0">
                            <a:latin typeface="Cambria Math" panose="02040503050406030204" pitchFamily="18" charset="0"/>
                          </a:rPr>
                        </m:ctrlPr>
                      </m:sSubSupPr>
                      <m:e>
                        <m:r>
                          <a:rPr lang="en-US" altLang="zh-CN" sz="2400" b="0" i="1" smtClean="0">
                            <a:latin typeface="Cambria Math" panose="02040503050406030204" pitchFamily="18" charset="0"/>
                          </a:rPr>
                          <m:t>𝑃</m:t>
                        </m:r>
                      </m:e>
                      <m:sub>
                        <m:r>
                          <a:rPr lang="en-US" altLang="zh-CN" sz="2400" b="0" i="1" smtClean="0">
                            <a:latin typeface="Cambria Math" panose="02040503050406030204" pitchFamily="18" charset="0"/>
                          </a:rPr>
                          <m:t>21</m:t>
                        </m:r>
                      </m:sub>
                      <m:sup>
                        <m:r>
                          <a:rPr lang="en-US" altLang="zh-CN" sz="2400" b="0" i="1" smtClean="0">
                            <a:latin typeface="Cambria Math" panose="02040503050406030204" pitchFamily="18" charset="0"/>
                          </a:rPr>
                          <m:t>𝑘</m:t>
                        </m:r>
                      </m:sup>
                    </m:sSubSup>
                    <m:r>
                      <a:rPr lang="en-US" altLang="zh-CN" sz="2400" b="0" i="1" smtClean="0">
                        <a:latin typeface="Cambria Math" panose="02040503050406030204" pitchFamily="18" charset="0"/>
                      </a:rPr>
                      <m:t>=</m:t>
                    </m:r>
                  </m:oMath>
                </a14:m>
                <a:r>
                  <a:rPr lang="en-US" altLang="zh-CN" sz="2400" dirty="0"/>
                  <a:t> </a:t>
                </a:r>
                <a14:m>
                  <m:oMath xmlns:m="http://schemas.openxmlformats.org/officeDocument/2006/math">
                    <m:f>
                      <m:fPr>
                        <m:ctrlPr>
                          <a:rPr lang="en-US" altLang="zh-CN" sz="2400" i="1">
                            <a:latin typeface="Cambria Math" panose="02040503050406030204" pitchFamily="18" charset="0"/>
                          </a:rPr>
                        </m:ctrlPr>
                      </m:fPr>
                      <m:num>
                        <m:sSubSup>
                          <m:sSubSupPr>
                            <m:ctrlPr>
                              <a:rPr lang="en-US" altLang="zh-CN" sz="2400" i="1">
                                <a:latin typeface="Cambria Math" panose="02040503050406030204" pitchFamily="18" charset="0"/>
                              </a:rPr>
                            </m:ctrlPr>
                          </m:sSubSupPr>
                          <m:e>
                            <m:r>
                              <a:rPr lang="zh-CN" altLang="en-US" sz="2400" i="1">
                                <a:latin typeface="Cambria Math" panose="02040503050406030204" pitchFamily="18" charset="0"/>
                              </a:rPr>
                              <m:t>𝜏</m:t>
                            </m:r>
                          </m:e>
                          <m:sub>
                            <m:r>
                              <a:rPr lang="en-US" altLang="zh-CN" sz="2400" b="0" i="1" smtClean="0">
                                <a:latin typeface="Cambria Math" panose="02040503050406030204" pitchFamily="18" charset="0"/>
                              </a:rPr>
                              <m:t>2</m:t>
                            </m:r>
                            <m:r>
                              <a:rPr lang="en-US" altLang="zh-CN" sz="2400" i="1">
                                <a:latin typeface="Cambria Math" panose="02040503050406030204" pitchFamily="18" charset="0"/>
                              </a:rPr>
                              <m:t>𝑗</m:t>
                            </m:r>
                          </m:sub>
                          <m:sup>
                            <m:r>
                              <a:rPr lang="en-US" altLang="zh-CN" sz="2400" i="1" smtClean="0">
                                <a:latin typeface="Cambria Math" panose="02040503050406030204" pitchFamily="18" charset="0"/>
                              </a:rPr>
                              <m:t>2</m:t>
                            </m:r>
                          </m:sup>
                        </m:sSubSup>
                        <m:d>
                          <m:dPr>
                            <m:ctrlPr>
                              <a:rPr lang="en-US" altLang="zh-CN" sz="2400" i="1">
                                <a:latin typeface="Cambria Math" panose="02040503050406030204" pitchFamily="18" charset="0"/>
                              </a:rPr>
                            </m:ctrlPr>
                          </m:dPr>
                          <m:e>
                            <m:r>
                              <a:rPr lang="en-US" altLang="zh-CN" sz="2400" i="1">
                                <a:latin typeface="Cambria Math" panose="02040503050406030204" pitchFamily="18" charset="0"/>
                              </a:rPr>
                              <m:t>𝑡</m:t>
                            </m:r>
                          </m:e>
                        </m:d>
                        <m:r>
                          <a:rPr lang="en-US" altLang="zh-CN" sz="2400" i="1">
                            <a:latin typeface="Cambria Math" panose="02040503050406030204" pitchFamily="18" charset="0"/>
                            <a:ea typeface="Cambria Math" panose="02040503050406030204" pitchFamily="18" charset="0"/>
                          </a:rPr>
                          <m:t>∗</m:t>
                        </m:r>
                        <m:sSubSup>
                          <m:sSubSupPr>
                            <m:ctrlPr>
                              <a:rPr lang="en-US" altLang="zh-CN" sz="2400" i="1">
                                <a:latin typeface="Cambria Math" panose="02040503050406030204" pitchFamily="18" charset="0"/>
                                <a:ea typeface="Cambria Math" panose="02040503050406030204" pitchFamily="18" charset="0"/>
                              </a:rPr>
                            </m:ctrlPr>
                          </m:sSubSupPr>
                          <m:e>
                            <m:r>
                              <a:rPr lang="en-US" altLang="zh-CN" sz="2400" i="1">
                                <a:latin typeface="Cambria Math" panose="02040503050406030204" pitchFamily="18" charset="0"/>
                                <a:ea typeface="Cambria Math" panose="02040503050406030204" pitchFamily="18" charset="0"/>
                              </a:rPr>
                              <m:t>𝜂</m:t>
                            </m:r>
                          </m:e>
                          <m:sub>
                            <m:r>
                              <a:rPr lang="en-US" altLang="zh-CN" sz="2400" b="0" i="1" smtClean="0">
                                <a:latin typeface="Cambria Math" panose="02040503050406030204" pitchFamily="18" charset="0"/>
                                <a:ea typeface="Cambria Math" panose="02040503050406030204" pitchFamily="18" charset="0"/>
                              </a:rPr>
                              <m:t>2</m:t>
                            </m:r>
                            <m:r>
                              <a:rPr lang="en-US" altLang="zh-CN" sz="2400" i="1">
                                <a:latin typeface="Cambria Math" panose="02040503050406030204" pitchFamily="18" charset="0"/>
                                <a:ea typeface="Cambria Math" panose="02040503050406030204" pitchFamily="18" charset="0"/>
                              </a:rPr>
                              <m:t>𝑗</m:t>
                            </m:r>
                          </m:sub>
                          <m:sup>
                            <m:r>
                              <a:rPr lang="en-US" altLang="zh-CN" sz="2400" i="1" smtClean="0">
                                <a:latin typeface="Cambria Math" panose="02040503050406030204" pitchFamily="18" charset="0"/>
                                <a:ea typeface="Cambria Math" panose="02040503050406030204" pitchFamily="18" charset="0"/>
                              </a:rPr>
                              <m:t>3</m:t>
                            </m:r>
                          </m:sup>
                        </m:sSubSup>
                        <m:r>
                          <a:rPr lang="en-US" altLang="zh-CN" sz="2400" i="1">
                            <a:latin typeface="Cambria Math" panose="02040503050406030204" pitchFamily="18" charset="0"/>
                            <a:ea typeface="Cambria Math" panose="02040503050406030204" pitchFamily="18" charset="0"/>
                          </a:rPr>
                          <m:t>(</m:t>
                        </m:r>
                        <m:r>
                          <a:rPr lang="en-US" altLang="zh-CN" sz="2400" i="1">
                            <a:latin typeface="Cambria Math" panose="02040503050406030204" pitchFamily="18" charset="0"/>
                            <a:ea typeface="Cambria Math" panose="02040503050406030204" pitchFamily="18" charset="0"/>
                          </a:rPr>
                          <m:t>𝑡</m:t>
                        </m:r>
                        <m:r>
                          <a:rPr lang="en-US" altLang="zh-CN" sz="2400" i="1">
                            <a:latin typeface="Cambria Math" panose="02040503050406030204" pitchFamily="18" charset="0"/>
                            <a:ea typeface="Cambria Math" panose="02040503050406030204" pitchFamily="18" charset="0"/>
                          </a:rPr>
                          <m:t>)</m:t>
                        </m:r>
                      </m:num>
                      <m:den>
                        <m:nary>
                          <m:naryPr>
                            <m:chr m:val="∑"/>
                            <m:supHide m:val="on"/>
                            <m:ctrlPr>
                              <a:rPr lang="en-US" altLang="zh-CN" sz="2400" i="1">
                                <a:latin typeface="Cambria Math" panose="02040503050406030204" pitchFamily="18" charset="0"/>
                              </a:rPr>
                            </m:ctrlPr>
                          </m:naryPr>
                          <m:sub>
                            <m:r>
                              <m:rPr>
                                <m:sty m:val="p"/>
                                <m:brk m:alnAt="7"/>
                              </m:rPr>
                              <a:rPr lang="en-US" altLang="zh-CN" sz="2400" i="1">
                                <a:latin typeface="Cambria Math" panose="02040503050406030204" pitchFamily="18" charset="0"/>
                              </a:rPr>
                              <m:t>s</m:t>
                            </m:r>
                            <m:r>
                              <a:rPr lang="en-US" altLang="zh-CN" sz="2400" i="1">
                                <a:latin typeface="Cambria Math" panose="02040503050406030204" pitchFamily="18" charset="0"/>
                                <a:ea typeface="Cambria Math" panose="02040503050406030204" pitchFamily="18" charset="0"/>
                              </a:rPr>
                              <m:t>∈</m:t>
                            </m:r>
                            <m:sSub>
                              <m:sSubPr>
                                <m:ctrlPr>
                                  <a:rPr lang="en-US" altLang="zh-CN" sz="2400" i="1">
                                    <a:latin typeface="Cambria Math" panose="02040503050406030204" pitchFamily="18" charset="0"/>
                                    <a:ea typeface="Cambria Math" panose="02040503050406030204" pitchFamily="18" charset="0"/>
                                  </a:rPr>
                                </m:ctrlPr>
                              </m:sSubPr>
                              <m:e>
                                <m:r>
                                  <a:rPr lang="en-US" altLang="zh-CN" sz="2400" b="0" i="1" smtClean="0">
                                    <a:latin typeface="Cambria Math" panose="02040503050406030204" pitchFamily="18" charset="0"/>
                                    <a:ea typeface="Cambria Math" panose="02040503050406030204" pitchFamily="18" charset="0"/>
                                  </a:rPr>
                                  <m:t>𝑁</m:t>
                                </m:r>
                              </m:e>
                              <m:sub>
                                <m:r>
                                  <a:rPr lang="en-US" altLang="zh-CN" sz="2400" i="1">
                                    <a:latin typeface="Cambria Math" panose="02040503050406030204" pitchFamily="18" charset="0"/>
                                    <a:ea typeface="Cambria Math" panose="02040503050406030204" pitchFamily="18" charset="0"/>
                                  </a:rPr>
                                  <m:t>𝑘</m:t>
                                </m:r>
                              </m:sub>
                            </m:sSub>
                          </m:sub>
                          <m:sup/>
                          <m:e>
                            <m:sSubSup>
                              <m:sSubSupPr>
                                <m:ctrlPr>
                                  <a:rPr lang="en-US" altLang="zh-CN" sz="2400" i="1">
                                    <a:latin typeface="Cambria Math" panose="02040503050406030204" pitchFamily="18" charset="0"/>
                                  </a:rPr>
                                </m:ctrlPr>
                              </m:sSubSupPr>
                              <m:e>
                                <m:r>
                                  <a:rPr lang="zh-CN" altLang="en-US" sz="2400" i="1">
                                    <a:latin typeface="Cambria Math" panose="02040503050406030204" pitchFamily="18" charset="0"/>
                                  </a:rPr>
                                  <m:t>𝜏</m:t>
                                </m:r>
                              </m:e>
                              <m:sub>
                                <m:r>
                                  <a:rPr lang="en-US" altLang="zh-CN" sz="2400" b="0" i="1" smtClean="0">
                                    <a:latin typeface="Cambria Math" panose="02040503050406030204" pitchFamily="18" charset="0"/>
                                  </a:rPr>
                                  <m:t>2</m:t>
                                </m:r>
                                <m:r>
                                  <a:rPr lang="en-US" altLang="zh-CN" sz="2400" i="1">
                                    <a:latin typeface="Cambria Math" panose="02040503050406030204" pitchFamily="18" charset="0"/>
                                  </a:rPr>
                                  <m:t>𝑗</m:t>
                                </m:r>
                              </m:sub>
                              <m:sup>
                                <m:r>
                                  <a:rPr lang="en-US" altLang="zh-CN" sz="2400" i="1">
                                    <a:latin typeface="Cambria Math" panose="02040503050406030204" pitchFamily="18" charset="0"/>
                                  </a:rPr>
                                  <m:t>2</m:t>
                                </m:r>
                              </m:sup>
                            </m:sSubSup>
                            <m:d>
                              <m:dPr>
                                <m:ctrlPr>
                                  <a:rPr lang="en-US" altLang="zh-CN" sz="2400" i="1">
                                    <a:latin typeface="Cambria Math" panose="02040503050406030204" pitchFamily="18" charset="0"/>
                                  </a:rPr>
                                </m:ctrlPr>
                              </m:dPr>
                              <m:e>
                                <m:r>
                                  <a:rPr lang="en-US" altLang="zh-CN" sz="2400" i="1">
                                    <a:latin typeface="Cambria Math" panose="02040503050406030204" pitchFamily="18" charset="0"/>
                                  </a:rPr>
                                  <m:t>𝑡</m:t>
                                </m:r>
                              </m:e>
                            </m:d>
                            <m:r>
                              <a:rPr lang="en-US" altLang="zh-CN" sz="2400" i="1">
                                <a:latin typeface="Cambria Math" panose="02040503050406030204" pitchFamily="18" charset="0"/>
                                <a:ea typeface="Cambria Math" panose="02040503050406030204" pitchFamily="18" charset="0"/>
                              </a:rPr>
                              <m:t>∗</m:t>
                            </m:r>
                            <m:sSubSup>
                              <m:sSubSupPr>
                                <m:ctrlPr>
                                  <a:rPr lang="en-US" altLang="zh-CN" sz="2400" i="1">
                                    <a:latin typeface="Cambria Math" panose="02040503050406030204" pitchFamily="18" charset="0"/>
                                    <a:ea typeface="Cambria Math" panose="02040503050406030204" pitchFamily="18" charset="0"/>
                                  </a:rPr>
                                </m:ctrlPr>
                              </m:sSubSupPr>
                              <m:e>
                                <m:r>
                                  <a:rPr lang="en-US" altLang="zh-CN" sz="2400" i="1">
                                    <a:latin typeface="Cambria Math" panose="02040503050406030204" pitchFamily="18" charset="0"/>
                                    <a:ea typeface="Cambria Math" panose="02040503050406030204" pitchFamily="18" charset="0"/>
                                  </a:rPr>
                                  <m:t>𝜂</m:t>
                                </m:r>
                              </m:e>
                              <m:sub>
                                <m:r>
                                  <a:rPr lang="en-US" altLang="zh-CN" sz="2400" b="0" i="1" smtClean="0">
                                    <a:latin typeface="Cambria Math" panose="02040503050406030204" pitchFamily="18" charset="0"/>
                                    <a:ea typeface="Cambria Math" panose="02040503050406030204" pitchFamily="18" charset="0"/>
                                  </a:rPr>
                                  <m:t>2</m:t>
                                </m:r>
                                <m:r>
                                  <a:rPr lang="en-US" altLang="zh-CN" sz="2400" i="1">
                                    <a:latin typeface="Cambria Math" panose="02040503050406030204" pitchFamily="18" charset="0"/>
                                    <a:ea typeface="Cambria Math" panose="02040503050406030204" pitchFamily="18" charset="0"/>
                                  </a:rPr>
                                  <m:t>𝑗</m:t>
                                </m:r>
                              </m:sub>
                              <m:sup>
                                <m:r>
                                  <a:rPr lang="en-US" altLang="zh-CN" sz="2400" i="1">
                                    <a:latin typeface="Cambria Math" panose="02040503050406030204" pitchFamily="18" charset="0"/>
                                    <a:ea typeface="Cambria Math" panose="02040503050406030204" pitchFamily="18" charset="0"/>
                                  </a:rPr>
                                  <m:t>3</m:t>
                                </m:r>
                              </m:sup>
                            </m:sSubSup>
                            <m:r>
                              <a:rPr lang="en-US" altLang="zh-CN" sz="2400" i="1">
                                <a:latin typeface="Cambria Math" panose="02040503050406030204" pitchFamily="18" charset="0"/>
                                <a:ea typeface="Cambria Math" panose="02040503050406030204" pitchFamily="18" charset="0"/>
                              </a:rPr>
                              <m:t>(</m:t>
                            </m:r>
                            <m:r>
                              <a:rPr lang="en-US" altLang="zh-CN" sz="2400" i="1">
                                <a:latin typeface="Cambria Math" panose="02040503050406030204" pitchFamily="18" charset="0"/>
                                <a:ea typeface="Cambria Math" panose="02040503050406030204" pitchFamily="18" charset="0"/>
                              </a:rPr>
                              <m:t>𝑡</m:t>
                            </m:r>
                            <m:r>
                              <a:rPr lang="en-US" altLang="zh-CN" sz="2400" i="1">
                                <a:latin typeface="Cambria Math" panose="02040503050406030204" pitchFamily="18" charset="0"/>
                                <a:ea typeface="Cambria Math" panose="02040503050406030204" pitchFamily="18" charset="0"/>
                              </a:rPr>
                              <m:t>)</m:t>
                            </m:r>
                          </m:e>
                        </m:nary>
                      </m:den>
                    </m:f>
                    <m:r>
                      <a:rPr lang="en-US" altLang="zh-CN" sz="2400" b="0" i="1" smtClean="0">
                        <a:latin typeface="Cambria Math" panose="02040503050406030204" pitchFamily="18" charset="0"/>
                        <a:ea typeface="Cambria Math" panose="02040503050406030204" pitchFamily="18" charset="0"/>
                      </a:rPr>
                      <m:t>=</m:t>
                    </m:r>
                    <m:f>
                      <m:fPr>
                        <m:ctrlPr>
                          <a:rPr lang="en-US" altLang="zh-CN" sz="2400" b="0" i="1" smtClean="0">
                            <a:latin typeface="Cambria Math" panose="02040503050406030204" pitchFamily="18" charset="0"/>
                            <a:ea typeface="Cambria Math" panose="02040503050406030204" pitchFamily="18" charset="0"/>
                          </a:rPr>
                        </m:ctrlPr>
                      </m:fPr>
                      <m:num>
                        <m:sSup>
                          <m:sSupPr>
                            <m:ctrlPr>
                              <a:rPr lang="en-US" altLang="zh-CN" sz="2400" b="0" i="1" smtClean="0">
                                <a:latin typeface="Cambria Math" panose="02040503050406030204" pitchFamily="18" charset="0"/>
                                <a:ea typeface="Cambria Math" panose="02040503050406030204" pitchFamily="18" charset="0"/>
                              </a:rPr>
                            </m:ctrlPr>
                          </m:sSupPr>
                          <m:e>
                            <m:r>
                              <a:rPr lang="en-US" altLang="zh-CN" sz="2400" b="0" i="1" smtClean="0">
                                <a:latin typeface="Cambria Math" panose="02040503050406030204" pitchFamily="18" charset="0"/>
                                <a:ea typeface="Cambria Math" panose="02040503050406030204" pitchFamily="18" charset="0"/>
                              </a:rPr>
                              <m:t>1</m:t>
                            </m:r>
                          </m:e>
                          <m:sup>
                            <m:r>
                              <a:rPr lang="en-US" altLang="zh-CN" sz="2400" b="0" i="1" smtClean="0">
                                <a:latin typeface="Cambria Math" panose="02040503050406030204" pitchFamily="18" charset="0"/>
                                <a:ea typeface="Cambria Math" panose="02040503050406030204" pitchFamily="18" charset="0"/>
                              </a:rPr>
                              <m:t>2</m:t>
                            </m:r>
                          </m:sup>
                        </m:sSup>
                        <m:r>
                          <a:rPr lang="en-US" altLang="zh-CN" sz="2400" b="0" i="1" smtClean="0">
                            <a:latin typeface="Cambria Math" panose="02040503050406030204" pitchFamily="18" charset="0"/>
                            <a:ea typeface="Cambria Math" panose="02040503050406030204" pitchFamily="18" charset="0"/>
                          </a:rPr>
                          <m:t>/</m:t>
                        </m:r>
                        <m:sSup>
                          <m:sSupPr>
                            <m:ctrlPr>
                              <a:rPr lang="en-US" altLang="zh-CN" sz="2400" b="0" i="1" smtClean="0">
                                <a:latin typeface="Cambria Math" panose="02040503050406030204" pitchFamily="18" charset="0"/>
                                <a:ea typeface="Cambria Math" panose="02040503050406030204" pitchFamily="18" charset="0"/>
                              </a:rPr>
                            </m:ctrlPr>
                          </m:sSupPr>
                          <m:e>
                            <m:r>
                              <a:rPr lang="en-US" altLang="zh-CN" sz="2400" b="0" i="1" smtClean="0">
                                <a:latin typeface="Cambria Math" panose="02040503050406030204" pitchFamily="18" charset="0"/>
                                <a:ea typeface="Cambria Math" panose="02040503050406030204" pitchFamily="18" charset="0"/>
                              </a:rPr>
                              <m:t>6</m:t>
                            </m:r>
                          </m:e>
                          <m:sup>
                            <m:r>
                              <a:rPr lang="en-US" altLang="zh-CN" sz="2400" b="0" i="1" smtClean="0">
                                <a:latin typeface="Cambria Math" panose="02040503050406030204" pitchFamily="18" charset="0"/>
                                <a:ea typeface="Cambria Math" panose="02040503050406030204" pitchFamily="18" charset="0"/>
                              </a:rPr>
                              <m:t>3</m:t>
                            </m:r>
                          </m:sup>
                        </m:sSup>
                      </m:num>
                      <m:den>
                        <m:f>
                          <m:fPr>
                            <m:ctrlPr>
                              <a:rPr lang="en-US" altLang="zh-CN" sz="2400" b="0" i="1" smtClean="0">
                                <a:latin typeface="Cambria Math" panose="02040503050406030204" pitchFamily="18" charset="0"/>
                                <a:ea typeface="Cambria Math" panose="02040503050406030204" pitchFamily="18" charset="0"/>
                              </a:rPr>
                            </m:ctrlPr>
                          </m:fPr>
                          <m:num>
                            <m:sSup>
                              <m:sSupPr>
                                <m:ctrlPr>
                                  <a:rPr lang="en-US" altLang="zh-CN" sz="2400" i="1">
                                    <a:latin typeface="Cambria Math" panose="02040503050406030204" pitchFamily="18" charset="0"/>
                                    <a:ea typeface="Cambria Math" panose="02040503050406030204" pitchFamily="18" charset="0"/>
                                  </a:rPr>
                                </m:ctrlPr>
                              </m:sSupPr>
                              <m:e>
                                <m:r>
                                  <a:rPr lang="en-US" altLang="zh-CN" sz="2400" i="1">
                                    <a:latin typeface="Cambria Math" panose="02040503050406030204" pitchFamily="18" charset="0"/>
                                    <a:ea typeface="Cambria Math" panose="02040503050406030204" pitchFamily="18" charset="0"/>
                                  </a:rPr>
                                  <m:t>1</m:t>
                                </m:r>
                              </m:e>
                              <m:sup>
                                <m:r>
                                  <a:rPr lang="en-US" altLang="zh-CN" sz="2400" i="1">
                                    <a:latin typeface="Cambria Math" panose="02040503050406030204" pitchFamily="18" charset="0"/>
                                    <a:ea typeface="Cambria Math" panose="02040503050406030204" pitchFamily="18" charset="0"/>
                                  </a:rPr>
                                  <m:t>2</m:t>
                                </m:r>
                              </m:sup>
                            </m:sSup>
                          </m:num>
                          <m:den>
                            <m:sSup>
                              <m:sSupPr>
                                <m:ctrlPr>
                                  <a:rPr lang="en-US" altLang="zh-CN" sz="2400" i="1">
                                    <a:latin typeface="Cambria Math" panose="02040503050406030204" pitchFamily="18" charset="0"/>
                                    <a:ea typeface="Cambria Math" panose="02040503050406030204" pitchFamily="18" charset="0"/>
                                  </a:rPr>
                                </m:ctrlPr>
                              </m:sSupPr>
                              <m:e>
                                <m:r>
                                  <a:rPr lang="en-US" altLang="zh-CN" sz="2400" i="1">
                                    <a:latin typeface="Cambria Math" panose="02040503050406030204" pitchFamily="18" charset="0"/>
                                    <a:ea typeface="Cambria Math" panose="02040503050406030204" pitchFamily="18" charset="0"/>
                                  </a:rPr>
                                  <m:t>6</m:t>
                                </m:r>
                              </m:e>
                              <m:sup>
                                <m:r>
                                  <a:rPr lang="en-US" altLang="zh-CN" sz="2400" i="1">
                                    <a:latin typeface="Cambria Math" panose="02040503050406030204" pitchFamily="18" charset="0"/>
                                    <a:ea typeface="Cambria Math" panose="02040503050406030204" pitchFamily="18" charset="0"/>
                                  </a:rPr>
                                  <m:t>3</m:t>
                                </m:r>
                              </m:sup>
                            </m:sSup>
                          </m:den>
                        </m:f>
                        <m:r>
                          <a:rPr lang="en-US" altLang="zh-CN" sz="2400" b="0" i="1" smtClean="0">
                            <a:latin typeface="Cambria Math" panose="02040503050406030204" pitchFamily="18" charset="0"/>
                            <a:ea typeface="Cambria Math" panose="02040503050406030204" pitchFamily="18" charset="0"/>
                          </a:rPr>
                          <m:t>+</m:t>
                        </m:r>
                        <m:f>
                          <m:fPr>
                            <m:ctrlPr>
                              <a:rPr lang="en-US" altLang="zh-CN" sz="2400" b="0" i="1" smtClean="0">
                                <a:latin typeface="Cambria Math" panose="02040503050406030204" pitchFamily="18" charset="0"/>
                                <a:ea typeface="Cambria Math" panose="02040503050406030204" pitchFamily="18" charset="0"/>
                              </a:rPr>
                            </m:ctrlPr>
                          </m:fPr>
                          <m:num>
                            <m:sSup>
                              <m:sSupPr>
                                <m:ctrlPr>
                                  <a:rPr lang="en-US" altLang="zh-CN" sz="2400" b="0" i="1" smtClean="0">
                                    <a:latin typeface="Cambria Math" panose="02040503050406030204" pitchFamily="18" charset="0"/>
                                    <a:ea typeface="Cambria Math" panose="02040503050406030204" pitchFamily="18" charset="0"/>
                                  </a:rPr>
                                </m:ctrlPr>
                              </m:sSupPr>
                              <m:e>
                                <m:r>
                                  <a:rPr lang="en-US" altLang="zh-CN" sz="2400" b="0" i="1" smtClean="0">
                                    <a:latin typeface="Cambria Math" panose="02040503050406030204" pitchFamily="18" charset="0"/>
                                    <a:ea typeface="Cambria Math" panose="02040503050406030204" pitchFamily="18" charset="0"/>
                                  </a:rPr>
                                  <m:t>1</m:t>
                                </m:r>
                              </m:e>
                              <m:sup>
                                <m:r>
                                  <a:rPr lang="en-US" altLang="zh-CN" sz="2400" b="0" i="1" smtClean="0">
                                    <a:latin typeface="Cambria Math" panose="02040503050406030204" pitchFamily="18" charset="0"/>
                                    <a:ea typeface="Cambria Math" panose="02040503050406030204" pitchFamily="18" charset="0"/>
                                  </a:rPr>
                                  <m:t>2</m:t>
                                </m:r>
                              </m:sup>
                            </m:sSup>
                          </m:num>
                          <m:den>
                            <m:sSup>
                              <m:sSupPr>
                                <m:ctrlPr>
                                  <a:rPr lang="en-US" altLang="zh-CN" sz="2400" b="0" i="1" smtClean="0">
                                    <a:latin typeface="Cambria Math" panose="02040503050406030204" pitchFamily="18" charset="0"/>
                                    <a:ea typeface="Cambria Math" panose="02040503050406030204" pitchFamily="18" charset="0"/>
                                  </a:rPr>
                                </m:ctrlPr>
                              </m:sSupPr>
                              <m:e>
                                <m:r>
                                  <a:rPr lang="en-US" altLang="zh-CN" sz="2400" b="0" i="1" smtClean="0">
                                    <a:latin typeface="Cambria Math" panose="02040503050406030204" pitchFamily="18" charset="0"/>
                                    <a:ea typeface="Cambria Math" panose="02040503050406030204" pitchFamily="18" charset="0"/>
                                  </a:rPr>
                                  <m:t>6</m:t>
                                </m:r>
                              </m:e>
                              <m:sup>
                                <m:r>
                                  <a:rPr lang="en-US" altLang="zh-CN" sz="2400" b="0" i="1" smtClean="0">
                                    <a:latin typeface="Cambria Math" panose="02040503050406030204" pitchFamily="18" charset="0"/>
                                    <a:ea typeface="Cambria Math" panose="02040503050406030204" pitchFamily="18" charset="0"/>
                                  </a:rPr>
                                  <m:t>3</m:t>
                                </m:r>
                              </m:sup>
                            </m:sSup>
                          </m:den>
                        </m:f>
                        <m:r>
                          <a:rPr lang="en-US" altLang="zh-CN" sz="2400" b="0" i="1" smtClean="0">
                            <a:latin typeface="Cambria Math" panose="02040503050406030204" pitchFamily="18" charset="0"/>
                            <a:ea typeface="Cambria Math" panose="02040503050406030204" pitchFamily="18" charset="0"/>
                          </a:rPr>
                          <m:t>+</m:t>
                        </m:r>
                        <m:f>
                          <m:fPr>
                            <m:ctrlPr>
                              <a:rPr lang="en-US" altLang="zh-CN" sz="2400" b="0" i="1" smtClean="0">
                                <a:latin typeface="Cambria Math" panose="02040503050406030204" pitchFamily="18" charset="0"/>
                                <a:ea typeface="Cambria Math" panose="02040503050406030204" pitchFamily="18" charset="0"/>
                              </a:rPr>
                            </m:ctrlPr>
                          </m:fPr>
                          <m:num>
                            <m:sSup>
                              <m:sSupPr>
                                <m:ctrlPr>
                                  <a:rPr lang="en-US" altLang="zh-CN" sz="2400" b="0" i="1" smtClean="0">
                                    <a:latin typeface="Cambria Math" panose="02040503050406030204" pitchFamily="18" charset="0"/>
                                    <a:ea typeface="Cambria Math" panose="02040503050406030204" pitchFamily="18" charset="0"/>
                                  </a:rPr>
                                </m:ctrlPr>
                              </m:sSupPr>
                              <m:e>
                                <m:r>
                                  <a:rPr lang="en-US" altLang="zh-CN" sz="2400" b="0" i="1" smtClean="0">
                                    <a:latin typeface="Cambria Math" panose="02040503050406030204" pitchFamily="18" charset="0"/>
                                    <a:ea typeface="Cambria Math" panose="02040503050406030204" pitchFamily="18" charset="0"/>
                                  </a:rPr>
                                  <m:t>1</m:t>
                                </m:r>
                              </m:e>
                              <m:sup>
                                <m:r>
                                  <a:rPr lang="en-US" altLang="zh-CN" sz="2400" b="0" i="1" smtClean="0">
                                    <a:latin typeface="Cambria Math" panose="02040503050406030204" pitchFamily="18" charset="0"/>
                                    <a:ea typeface="Cambria Math" panose="02040503050406030204" pitchFamily="18" charset="0"/>
                                  </a:rPr>
                                  <m:t>2</m:t>
                                </m:r>
                              </m:sup>
                            </m:sSup>
                          </m:num>
                          <m:den>
                            <m:sSup>
                              <m:sSupPr>
                                <m:ctrlPr>
                                  <a:rPr lang="en-US" altLang="zh-CN" sz="2400" b="0" i="1" smtClean="0">
                                    <a:latin typeface="Cambria Math" panose="02040503050406030204" pitchFamily="18" charset="0"/>
                                    <a:ea typeface="Cambria Math" panose="02040503050406030204" pitchFamily="18" charset="0"/>
                                  </a:rPr>
                                </m:ctrlPr>
                              </m:sSupPr>
                              <m:e>
                                <m:r>
                                  <a:rPr lang="en-US" altLang="zh-CN" sz="2400" b="0" i="1" smtClean="0">
                                    <a:latin typeface="Cambria Math" panose="02040503050406030204" pitchFamily="18" charset="0"/>
                                    <a:ea typeface="Cambria Math" panose="02040503050406030204" pitchFamily="18" charset="0"/>
                                  </a:rPr>
                                  <m:t>3</m:t>
                                </m:r>
                              </m:e>
                              <m:sup>
                                <m:r>
                                  <a:rPr lang="en-US" altLang="zh-CN" sz="2400" b="0" i="1" smtClean="0">
                                    <a:latin typeface="Cambria Math" panose="02040503050406030204" pitchFamily="18" charset="0"/>
                                    <a:ea typeface="Cambria Math" panose="02040503050406030204" pitchFamily="18" charset="0"/>
                                  </a:rPr>
                                  <m:t>3</m:t>
                                </m:r>
                              </m:sup>
                            </m:sSup>
                          </m:den>
                        </m:f>
                      </m:den>
                    </m:f>
                    <m:r>
                      <a:rPr lang="en-US" altLang="zh-CN" sz="2400" b="0" i="1" smtClean="0">
                        <a:latin typeface="Cambria Math" panose="02040503050406030204" pitchFamily="18" charset="0"/>
                        <a:ea typeface="Cambria Math" panose="02040503050406030204" pitchFamily="18" charset="0"/>
                      </a:rPr>
                      <m:t>=</m:t>
                    </m:r>
                    <m:f>
                      <m:fPr>
                        <m:ctrlPr>
                          <a:rPr lang="en-US" altLang="zh-CN" sz="2400" b="0" i="1" smtClean="0">
                            <a:latin typeface="Cambria Math" panose="02040503050406030204" pitchFamily="18" charset="0"/>
                            <a:ea typeface="Cambria Math" panose="02040503050406030204" pitchFamily="18" charset="0"/>
                          </a:rPr>
                        </m:ctrlPr>
                      </m:fPr>
                      <m:num>
                        <m:r>
                          <a:rPr lang="en-US" altLang="zh-CN" sz="2400" b="0" i="1" smtClean="0">
                            <a:latin typeface="Cambria Math" panose="02040503050406030204" pitchFamily="18" charset="0"/>
                            <a:ea typeface="Cambria Math" panose="02040503050406030204" pitchFamily="18" charset="0"/>
                          </a:rPr>
                          <m:t>1</m:t>
                        </m:r>
                      </m:num>
                      <m:den>
                        <m:r>
                          <a:rPr lang="en-US" altLang="zh-CN" sz="2400" b="0" i="1" smtClean="0">
                            <a:latin typeface="Cambria Math" panose="02040503050406030204" pitchFamily="18" charset="0"/>
                            <a:ea typeface="Cambria Math" panose="02040503050406030204" pitchFamily="18" charset="0"/>
                          </a:rPr>
                          <m:t>26</m:t>
                        </m:r>
                      </m:den>
                    </m:f>
                  </m:oMath>
                </a14:m>
                <a:endParaRPr lang="en-US" altLang="zh-CN" sz="2400" dirty="0"/>
              </a:p>
              <a:p>
                <a14:m>
                  <m:oMath xmlns:m="http://schemas.openxmlformats.org/officeDocument/2006/math">
                    <m:sSubSup>
                      <m:sSubSupPr>
                        <m:ctrlPr>
                          <a:rPr lang="en-US" altLang="zh-CN" sz="2400" i="1">
                            <a:latin typeface="Cambria Math" panose="02040503050406030204" pitchFamily="18" charset="0"/>
                          </a:rPr>
                        </m:ctrlPr>
                      </m:sSubSupPr>
                      <m:e>
                        <m:r>
                          <a:rPr lang="en-US" altLang="zh-CN" sz="2400" i="1">
                            <a:latin typeface="Cambria Math" panose="02040503050406030204" pitchFamily="18" charset="0"/>
                          </a:rPr>
                          <m:t>𝑃</m:t>
                        </m:r>
                      </m:e>
                      <m:sub>
                        <m:r>
                          <a:rPr lang="en-US" altLang="zh-CN" sz="2400" b="0" i="1" smtClean="0">
                            <a:latin typeface="Cambria Math" panose="02040503050406030204" pitchFamily="18" charset="0"/>
                          </a:rPr>
                          <m:t>23</m:t>
                        </m:r>
                      </m:sub>
                      <m:sup>
                        <m:r>
                          <a:rPr lang="en-US" altLang="zh-CN" sz="2400" i="1">
                            <a:latin typeface="Cambria Math" panose="02040503050406030204" pitchFamily="18" charset="0"/>
                          </a:rPr>
                          <m:t>𝑘</m:t>
                        </m:r>
                      </m:sup>
                    </m:sSubSup>
                    <m:r>
                      <a:rPr lang="en-US" altLang="zh-CN" sz="2400" i="1">
                        <a:latin typeface="Cambria Math" panose="02040503050406030204" pitchFamily="18" charset="0"/>
                      </a:rPr>
                      <m:t>=</m:t>
                    </m:r>
                  </m:oMath>
                </a14:m>
                <a:r>
                  <a:rPr lang="en-US" altLang="zh-CN" sz="2400" dirty="0"/>
                  <a:t> </a:t>
                </a:r>
                <a14:m>
                  <m:oMath xmlns:m="http://schemas.openxmlformats.org/officeDocument/2006/math">
                    <m:f>
                      <m:fPr>
                        <m:ctrlPr>
                          <a:rPr lang="en-US" altLang="zh-CN" sz="2400" i="1">
                            <a:latin typeface="Cambria Math" panose="02040503050406030204" pitchFamily="18" charset="0"/>
                          </a:rPr>
                        </m:ctrlPr>
                      </m:fPr>
                      <m:num>
                        <m:sSubSup>
                          <m:sSubSupPr>
                            <m:ctrlPr>
                              <a:rPr lang="en-US" altLang="zh-CN" sz="2400" i="1">
                                <a:latin typeface="Cambria Math" panose="02040503050406030204" pitchFamily="18" charset="0"/>
                              </a:rPr>
                            </m:ctrlPr>
                          </m:sSubSupPr>
                          <m:e>
                            <m:r>
                              <a:rPr lang="zh-CN" altLang="en-US" sz="2400" i="1">
                                <a:latin typeface="Cambria Math" panose="02040503050406030204" pitchFamily="18" charset="0"/>
                              </a:rPr>
                              <m:t>𝜏</m:t>
                            </m:r>
                          </m:e>
                          <m:sub>
                            <m:r>
                              <a:rPr lang="en-US" altLang="zh-CN" sz="2400" b="0" i="1" smtClean="0">
                                <a:latin typeface="Cambria Math" panose="02040503050406030204" pitchFamily="18" charset="0"/>
                              </a:rPr>
                              <m:t>2</m:t>
                            </m:r>
                            <m:r>
                              <a:rPr lang="en-US" altLang="zh-CN" sz="2400" i="1">
                                <a:latin typeface="Cambria Math" panose="02040503050406030204" pitchFamily="18" charset="0"/>
                              </a:rPr>
                              <m:t>𝑗</m:t>
                            </m:r>
                          </m:sub>
                          <m:sup>
                            <m:r>
                              <a:rPr lang="en-US" altLang="zh-CN" sz="2400" i="1">
                                <a:latin typeface="Cambria Math" panose="02040503050406030204" pitchFamily="18" charset="0"/>
                              </a:rPr>
                              <m:t>2</m:t>
                            </m:r>
                          </m:sup>
                        </m:sSubSup>
                        <m:d>
                          <m:dPr>
                            <m:ctrlPr>
                              <a:rPr lang="en-US" altLang="zh-CN" sz="2400" i="1">
                                <a:latin typeface="Cambria Math" panose="02040503050406030204" pitchFamily="18" charset="0"/>
                              </a:rPr>
                            </m:ctrlPr>
                          </m:dPr>
                          <m:e>
                            <m:r>
                              <a:rPr lang="en-US" altLang="zh-CN" sz="2400" i="1">
                                <a:latin typeface="Cambria Math" panose="02040503050406030204" pitchFamily="18" charset="0"/>
                              </a:rPr>
                              <m:t>𝑡</m:t>
                            </m:r>
                          </m:e>
                        </m:d>
                        <m:r>
                          <a:rPr lang="en-US" altLang="zh-CN" sz="2400" i="1">
                            <a:latin typeface="Cambria Math" panose="02040503050406030204" pitchFamily="18" charset="0"/>
                            <a:ea typeface="Cambria Math" panose="02040503050406030204" pitchFamily="18" charset="0"/>
                          </a:rPr>
                          <m:t>∗</m:t>
                        </m:r>
                        <m:sSubSup>
                          <m:sSubSupPr>
                            <m:ctrlPr>
                              <a:rPr lang="en-US" altLang="zh-CN" sz="2400" i="1">
                                <a:latin typeface="Cambria Math" panose="02040503050406030204" pitchFamily="18" charset="0"/>
                                <a:ea typeface="Cambria Math" panose="02040503050406030204" pitchFamily="18" charset="0"/>
                              </a:rPr>
                            </m:ctrlPr>
                          </m:sSubSupPr>
                          <m:e>
                            <m:r>
                              <a:rPr lang="en-US" altLang="zh-CN" sz="2400" i="1">
                                <a:latin typeface="Cambria Math" panose="02040503050406030204" pitchFamily="18" charset="0"/>
                                <a:ea typeface="Cambria Math" panose="02040503050406030204" pitchFamily="18" charset="0"/>
                              </a:rPr>
                              <m:t>𝜂</m:t>
                            </m:r>
                          </m:e>
                          <m:sub>
                            <m:r>
                              <a:rPr lang="en-US" altLang="zh-CN" sz="2400" b="0" i="1" smtClean="0">
                                <a:latin typeface="Cambria Math" panose="02040503050406030204" pitchFamily="18" charset="0"/>
                                <a:ea typeface="Cambria Math" panose="02040503050406030204" pitchFamily="18" charset="0"/>
                              </a:rPr>
                              <m:t>2</m:t>
                            </m:r>
                            <m:r>
                              <a:rPr lang="en-US" altLang="zh-CN" sz="2400" i="1">
                                <a:latin typeface="Cambria Math" panose="02040503050406030204" pitchFamily="18" charset="0"/>
                                <a:ea typeface="Cambria Math" panose="02040503050406030204" pitchFamily="18" charset="0"/>
                              </a:rPr>
                              <m:t>𝑗</m:t>
                            </m:r>
                          </m:sub>
                          <m:sup>
                            <m:r>
                              <a:rPr lang="en-US" altLang="zh-CN" sz="2400" i="1">
                                <a:latin typeface="Cambria Math" panose="02040503050406030204" pitchFamily="18" charset="0"/>
                                <a:ea typeface="Cambria Math" panose="02040503050406030204" pitchFamily="18" charset="0"/>
                              </a:rPr>
                              <m:t>3</m:t>
                            </m:r>
                          </m:sup>
                        </m:sSubSup>
                        <m:r>
                          <a:rPr lang="en-US" altLang="zh-CN" sz="2400" i="1">
                            <a:latin typeface="Cambria Math" panose="02040503050406030204" pitchFamily="18" charset="0"/>
                            <a:ea typeface="Cambria Math" panose="02040503050406030204" pitchFamily="18" charset="0"/>
                          </a:rPr>
                          <m:t>(</m:t>
                        </m:r>
                        <m:r>
                          <a:rPr lang="en-US" altLang="zh-CN" sz="2400" i="1">
                            <a:latin typeface="Cambria Math" panose="02040503050406030204" pitchFamily="18" charset="0"/>
                            <a:ea typeface="Cambria Math" panose="02040503050406030204" pitchFamily="18" charset="0"/>
                          </a:rPr>
                          <m:t>𝑡</m:t>
                        </m:r>
                        <m:r>
                          <a:rPr lang="en-US" altLang="zh-CN" sz="2400" i="1">
                            <a:latin typeface="Cambria Math" panose="02040503050406030204" pitchFamily="18" charset="0"/>
                            <a:ea typeface="Cambria Math" panose="02040503050406030204" pitchFamily="18" charset="0"/>
                          </a:rPr>
                          <m:t>)</m:t>
                        </m:r>
                      </m:num>
                      <m:den>
                        <m:nary>
                          <m:naryPr>
                            <m:chr m:val="∑"/>
                            <m:supHide m:val="on"/>
                            <m:ctrlPr>
                              <a:rPr lang="en-US" altLang="zh-CN" sz="2400" i="1">
                                <a:latin typeface="Cambria Math" panose="02040503050406030204" pitchFamily="18" charset="0"/>
                              </a:rPr>
                            </m:ctrlPr>
                          </m:naryPr>
                          <m:sub>
                            <m:r>
                              <m:rPr>
                                <m:sty m:val="p"/>
                                <m:brk m:alnAt="7"/>
                              </m:rPr>
                              <a:rPr lang="en-US" altLang="zh-CN" sz="2400" i="1">
                                <a:latin typeface="Cambria Math" panose="02040503050406030204" pitchFamily="18" charset="0"/>
                              </a:rPr>
                              <m:t>s</m:t>
                            </m:r>
                            <m:r>
                              <a:rPr lang="en-US" altLang="zh-CN" sz="2400" i="1">
                                <a:latin typeface="Cambria Math" panose="02040503050406030204" pitchFamily="18" charset="0"/>
                                <a:ea typeface="Cambria Math" panose="02040503050406030204" pitchFamily="18" charset="0"/>
                              </a:rPr>
                              <m:t>∈</m:t>
                            </m:r>
                            <m:sSub>
                              <m:sSubPr>
                                <m:ctrlPr>
                                  <a:rPr lang="en-US" altLang="zh-CN" sz="2400" i="1">
                                    <a:latin typeface="Cambria Math" panose="02040503050406030204" pitchFamily="18" charset="0"/>
                                    <a:ea typeface="Cambria Math" panose="02040503050406030204" pitchFamily="18" charset="0"/>
                                  </a:rPr>
                                </m:ctrlPr>
                              </m:sSubPr>
                              <m:e>
                                <m:r>
                                  <a:rPr lang="en-US" altLang="zh-CN" sz="2400" b="0" i="1" smtClean="0">
                                    <a:latin typeface="Cambria Math" panose="02040503050406030204" pitchFamily="18" charset="0"/>
                                    <a:ea typeface="Cambria Math" panose="02040503050406030204" pitchFamily="18" charset="0"/>
                                  </a:rPr>
                                  <m:t>𝑁</m:t>
                                </m:r>
                              </m:e>
                              <m:sub>
                                <m:r>
                                  <a:rPr lang="en-US" altLang="zh-CN" sz="2400" i="1">
                                    <a:latin typeface="Cambria Math" panose="02040503050406030204" pitchFamily="18" charset="0"/>
                                    <a:ea typeface="Cambria Math" panose="02040503050406030204" pitchFamily="18" charset="0"/>
                                  </a:rPr>
                                  <m:t>𝑘</m:t>
                                </m:r>
                              </m:sub>
                            </m:sSub>
                          </m:sub>
                          <m:sup/>
                          <m:e>
                            <m:sSubSup>
                              <m:sSubSupPr>
                                <m:ctrlPr>
                                  <a:rPr lang="en-US" altLang="zh-CN" sz="2400" i="1">
                                    <a:latin typeface="Cambria Math" panose="02040503050406030204" pitchFamily="18" charset="0"/>
                                  </a:rPr>
                                </m:ctrlPr>
                              </m:sSubSupPr>
                              <m:e>
                                <m:r>
                                  <a:rPr lang="zh-CN" altLang="en-US" sz="2400" i="1">
                                    <a:latin typeface="Cambria Math" panose="02040503050406030204" pitchFamily="18" charset="0"/>
                                  </a:rPr>
                                  <m:t>𝜏</m:t>
                                </m:r>
                              </m:e>
                              <m:sub>
                                <m:r>
                                  <a:rPr lang="en-US" altLang="zh-CN" sz="2400" b="0" i="1" smtClean="0">
                                    <a:latin typeface="Cambria Math" panose="02040503050406030204" pitchFamily="18" charset="0"/>
                                  </a:rPr>
                                  <m:t>2</m:t>
                                </m:r>
                                <m:r>
                                  <a:rPr lang="en-US" altLang="zh-CN" sz="2400" i="1">
                                    <a:latin typeface="Cambria Math" panose="02040503050406030204" pitchFamily="18" charset="0"/>
                                  </a:rPr>
                                  <m:t>𝑗</m:t>
                                </m:r>
                              </m:sub>
                              <m:sup>
                                <m:r>
                                  <a:rPr lang="en-US" altLang="zh-CN" sz="2400" i="1">
                                    <a:latin typeface="Cambria Math" panose="02040503050406030204" pitchFamily="18" charset="0"/>
                                  </a:rPr>
                                  <m:t>2</m:t>
                                </m:r>
                              </m:sup>
                            </m:sSubSup>
                            <m:d>
                              <m:dPr>
                                <m:ctrlPr>
                                  <a:rPr lang="en-US" altLang="zh-CN" sz="2400" i="1">
                                    <a:latin typeface="Cambria Math" panose="02040503050406030204" pitchFamily="18" charset="0"/>
                                  </a:rPr>
                                </m:ctrlPr>
                              </m:dPr>
                              <m:e>
                                <m:r>
                                  <a:rPr lang="en-US" altLang="zh-CN" sz="2400" i="1">
                                    <a:latin typeface="Cambria Math" panose="02040503050406030204" pitchFamily="18" charset="0"/>
                                  </a:rPr>
                                  <m:t>𝑡</m:t>
                                </m:r>
                              </m:e>
                            </m:d>
                            <m:r>
                              <a:rPr lang="en-US" altLang="zh-CN" sz="2400" i="1">
                                <a:latin typeface="Cambria Math" panose="02040503050406030204" pitchFamily="18" charset="0"/>
                                <a:ea typeface="Cambria Math" panose="02040503050406030204" pitchFamily="18" charset="0"/>
                              </a:rPr>
                              <m:t>∗</m:t>
                            </m:r>
                            <m:sSubSup>
                              <m:sSubSupPr>
                                <m:ctrlPr>
                                  <a:rPr lang="en-US" altLang="zh-CN" sz="2400" i="1">
                                    <a:latin typeface="Cambria Math" panose="02040503050406030204" pitchFamily="18" charset="0"/>
                                    <a:ea typeface="Cambria Math" panose="02040503050406030204" pitchFamily="18" charset="0"/>
                                  </a:rPr>
                                </m:ctrlPr>
                              </m:sSubSupPr>
                              <m:e>
                                <m:r>
                                  <a:rPr lang="en-US" altLang="zh-CN" sz="2400" i="1">
                                    <a:latin typeface="Cambria Math" panose="02040503050406030204" pitchFamily="18" charset="0"/>
                                    <a:ea typeface="Cambria Math" panose="02040503050406030204" pitchFamily="18" charset="0"/>
                                  </a:rPr>
                                  <m:t>𝜂</m:t>
                                </m:r>
                              </m:e>
                              <m:sub>
                                <m:r>
                                  <a:rPr lang="en-US" altLang="zh-CN" sz="2400" b="0" i="1" smtClean="0">
                                    <a:latin typeface="Cambria Math" panose="02040503050406030204" pitchFamily="18" charset="0"/>
                                    <a:ea typeface="Cambria Math" panose="02040503050406030204" pitchFamily="18" charset="0"/>
                                  </a:rPr>
                                  <m:t>2</m:t>
                                </m:r>
                                <m:r>
                                  <a:rPr lang="en-US" altLang="zh-CN" sz="2400" i="1">
                                    <a:latin typeface="Cambria Math" panose="02040503050406030204" pitchFamily="18" charset="0"/>
                                    <a:ea typeface="Cambria Math" panose="02040503050406030204" pitchFamily="18" charset="0"/>
                                  </a:rPr>
                                  <m:t>𝑗</m:t>
                                </m:r>
                              </m:sub>
                              <m:sup>
                                <m:r>
                                  <a:rPr lang="en-US" altLang="zh-CN" sz="2400" i="1">
                                    <a:latin typeface="Cambria Math" panose="02040503050406030204" pitchFamily="18" charset="0"/>
                                    <a:ea typeface="Cambria Math" panose="02040503050406030204" pitchFamily="18" charset="0"/>
                                  </a:rPr>
                                  <m:t>3</m:t>
                                </m:r>
                              </m:sup>
                            </m:sSubSup>
                            <m:r>
                              <a:rPr lang="en-US" altLang="zh-CN" sz="2400" i="1">
                                <a:latin typeface="Cambria Math" panose="02040503050406030204" pitchFamily="18" charset="0"/>
                                <a:ea typeface="Cambria Math" panose="02040503050406030204" pitchFamily="18" charset="0"/>
                              </a:rPr>
                              <m:t>(</m:t>
                            </m:r>
                            <m:r>
                              <a:rPr lang="en-US" altLang="zh-CN" sz="2400" i="1">
                                <a:latin typeface="Cambria Math" panose="02040503050406030204" pitchFamily="18" charset="0"/>
                                <a:ea typeface="Cambria Math" panose="02040503050406030204" pitchFamily="18" charset="0"/>
                              </a:rPr>
                              <m:t>𝑡</m:t>
                            </m:r>
                            <m:r>
                              <a:rPr lang="en-US" altLang="zh-CN" sz="2400" i="1">
                                <a:latin typeface="Cambria Math" panose="02040503050406030204" pitchFamily="18" charset="0"/>
                                <a:ea typeface="Cambria Math" panose="02040503050406030204" pitchFamily="18" charset="0"/>
                              </a:rPr>
                              <m:t>)</m:t>
                            </m:r>
                          </m:e>
                        </m:nary>
                      </m:den>
                    </m:f>
                    <m:r>
                      <a:rPr lang="en-US" altLang="zh-CN" sz="2400" i="1">
                        <a:latin typeface="Cambria Math" panose="02040503050406030204" pitchFamily="18" charset="0"/>
                        <a:ea typeface="Cambria Math" panose="02040503050406030204" pitchFamily="18" charset="0"/>
                      </a:rPr>
                      <m:t>=</m:t>
                    </m:r>
                    <m:f>
                      <m:fPr>
                        <m:ctrlPr>
                          <a:rPr lang="en-US" altLang="zh-CN" sz="2400" i="1">
                            <a:latin typeface="Cambria Math" panose="02040503050406030204" pitchFamily="18" charset="0"/>
                            <a:ea typeface="Cambria Math" panose="02040503050406030204" pitchFamily="18" charset="0"/>
                          </a:rPr>
                        </m:ctrlPr>
                      </m:fPr>
                      <m:num>
                        <m:sSup>
                          <m:sSupPr>
                            <m:ctrlPr>
                              <a:rPr lang="en-US" altLang="zh-CN" sz="2400" i="1">
                                <a:latin typeface="Cambria Math" panose="02040503050406030204" pitchFamily="18" charset="0"/>
                                <a:ea typeface="Cambria Math" panose="02040503050406030204" pitchFamily="18" charset="0"/>
                              </a:rPr>
                            </m:ctrlPr>
                          </m:sSupPr>
                          <m:e>
                            <m:r>
                              <a:rPr lang="en-US" altLang="zh-CN" sz="2400" i="1">
                                <a:latin typeface="Cambria Math" panose="02040503050406030204" pitchFamily="18" charset="0"/>
                                <a:ea typeface="Cambria Math" panose="02040503050406030204" pitchFamily="18" charset="0"/>
                              </a:rPr>
                              <m:t>1</m:t>
                            </m:r>
                          </m:e>
                          <m:sup>
                            <m:r>
                              <a:rPr lang="en-US" altLang="zh-CN" sz="2400" i="1">
                                <a:latin typeface="Cambria Math" panose="02040503050406030204" pitchFamily="18" charset="0"/>
                                <a:ea typeface="Cambria Math" panose="02040503050406030204" pitchFamily="18" charset="0"/>
                              </a:rPr>
                              <m:t>2</m:t>
                            </m:r>
                          </m:sup>
                        </m:sSup>
                        <m:r>
                          <a:rPr lang="en-US" altLang="zh-CN" sz="2400" i="1">
                            <a:latin typeface="Cambria Math" panose="02040503050406030204" pitchFamily="18" charset="0"/>
                            <a:ea typeface="Cambria Math" panose="02040503050406030204" pitchFamily="18" charset="0"/>
                          </a:rPr>
                          <m:t>/</m:t>
                        </m:r>
                        <m:sSup>
                          <m:sSupPr>
                            <m:ctrlPr>
                              <a:rPr lang="en-US" altLang="zh-CN" sz="2400" i="1">
                                <a:latin typeface="Cambria Math" panose="02040503050406030204" pitchFamily="18" charset="0"/>
                                <a:ea typeface="Cambria Math" panose="02040503050406030204" pitchFamily="18" charset="0"/>
                              </a:rPr>
                            </m:ctrlPr>
                          </m:sSupPr>
                          <m:e>
                            <m:r>
                              <a:rPr lang="en-US" altLang="zh-CN" sz="2400" b="0" i="1" smtClean="0">
                                <a:latin typeface="Cambria Math" panose="02040503050406030204" pitchFamily="18" charset="0"/>
                                <a:ea typeface="Cambria Math" panose="02040503050406030204" pitchFamily="18" charset="0"/>
                              </a:rPr>
                              <m:t>6</m:t>
                            </m:r>
                          </m:e>
                          <m:sup>
                            <m:r>
                              <a:rPr lang="en-US" altLang="zh-CN" sz="2400" i="1">
                                <a:latin typeface="Cambria Math" panose="02040503050406030204" pitchFamily="18" charset="0"/>
                                <a:ea typeface="Cambria Math" panose="02040503050406030204" pitchFamily="18" charset="0"/>
                              </a:rPr>
                              <m:t>3</m:t>
                            </m:r>
                          </m:sup>
                        </m:sSup>
                      </m:num>
                      <m:den>
                        <m:f>
                          <m:fPr>
                            <m:ctrlPr>
                              <a:rPr lang="en-US" altLang="zh-CN" sz="2400" i="1">
                                <a:latin typeface="Cambria Math" panose="02040503050406030204" pitchFamily="18" charset="0"/>
                                <a:ea typeface="Cambria Math" panose="02040503050406030204" pitchFamily="18" charset="0"/>
                              </a:rPr>
                            </m:ctrlPr>
                          </m:fPr>
                          <m:num>
                            <m:sSup>
                              <m:sSupPr>
                                <m:ctrlPr>
                                  <a:rPr lang="en-US" altLang="zh-CN" sz="2400" i="1">
                                    <a:latin typeface="Cambria Math" panose="02040503050406030204" pitchFamily="18" charset="0"/>
                                    <a:ea typeface="Cambria Math" panose="02040503050406030204" pitchFamily="18" charset="0"/>
                                  </a:rPr>
                                </m:ctrlPr>
                              </m:sSupPr>
                              <m:e>
                                <m:r>
                                  <a:rPr lang="en-US" altLang="zh-CN" sz="2400" i="1">
                                    <a:latin typeface="Cambria Math" panose="02040503050406030204" pitchFamily="18" charset="0"/>
                                    <a:ea typeface="Cambria Math" panose="02040503050406030204" pitchFamily="18" charset="0"/>
                                  </a:rPr>
                                  <m:t>1</m:t>
                                </m:r>
                              </m:e>
                              <m:sup>
                                <m:r>
                                  <a:rPr lang="en-US" altLang="zh-CN" sz="2400" i="1">
                                    <a:latin typeface="Cambria Math" panose="02040503050406030204" pitchFamily="18" charset="0"/>
                                    <a:ea typeface="Cambria Math" panose="02040503050406030204" pitchFamily="18" charset="0"/>
                                  </a:rPr>
                                  <m:t>2</m:t>
                                </m:r>
                              </m:sup>
                            </m:sSup>
                          </m:num>
                          <m:den>
                            <m:sSup>
                              <m:sSupPr>
                                <m:ctrlPr>
                                  <a:rPr lang="en-US" altLang="zh-CN" sz="2400" i="1">
                                    <a:latin typeface="Cambria Math" panose="02040503050406030204" pitchFamily="18" charset="0"/>
                                    <a:ea typeface="Cambria Math" panose="02040503050406030204" pitchFamily="18" charset="0"/>
                                  </a:rPr>
                                </m:ctrlPr>
                              </m:sSupPr>
                              <m:e>
                                <m:r>
                                  <a:rPr lang="en-US" altLang="zh-CN" sz="2400" i="1">
                                    <a:latin typeface="Cambria Math" panose="02040503050406030204" pitchFamily="18" charset="0"/>
                                    <a:ea typeface="Cambria Math" panose="02040503050406030204" pitchFamily="18" charset="0"/>
                                  </a:rPr>
                                  <m:t>6</m:t>
                                </m:r>
                              </m:e>
                              <m:sup>
                                <m:r>
                                  <a:rPr lang="en-US" altLang="zh-CN" sz="2400" i="1">
                                    <a:latin typeface="Cambria Math" panose="02040503050406030204" pitchFamily="18" charset="0"/>
                                    <a:ea typeface="Cambria Math" panose="02040503050406030204" pitchFamily="18" charset="0"/>
                                  </a:rPr>
                                  <m:t>3</m:t>
                                </m:r>
                              </m:sup>
                            </m:sSup>
                          </m:den>
                        </m:f>
                        <m:r>
                          <a:rPr lang="en-US" altLang="zh-CN" sz="2400" i="1">
                            <a:latin typeface="Cambria Math" panose="02040503050406030204" pitchFamily="18" charset="0"/>
                            <a:ea typeface="Cambria Math" panose="02040503050406030204" pitchFamily="18" charset="0"/>
                          </a:rPr>
                          <m:t>+</m:t>
                        </m:r>
                        <m:f>
                          <m:fPr>
                            <m:ctrlPr>
                              <a:rPr lang="en-US" altLang="zh-CN" sz="2400" i="1">
                                <a:latin typeface="Cambria Math" panose="02040503050406030204" pitchFamily="18" charset="0"/>
                                <a:ea typeface="Cambria Math" panose="02040503050406030204" pitchFamily="18" charset="0"/>
                              </a:rPr>
                            </m:ctrlPr>
                          </m:fPr>
                          <m:num>
                            <m:sSup>
                              <m:sSupPr>
                                <m:ctrlPr>
                                  <a:rPr lang="en-US" altLang="zh-CN" sz="2400" i="1">
                                    <a:latin typeface="Cambria Math" panose="02040503050406030204" pitchFamily="18" charset="0"/>
                                    <a:ea typeface="Cambria Math" panose="02040503050406030204" pitchFamily="18" charset="0"/>
                                  </a:rPr>
                                </m:ctrlPr>
                              </m:sSupPr>
                              <m:e>
                                <m:r>
                                  <a:rPr lang="en-US" altLang="zh-CN" sz="2400" i="1">
                                    <a:latin typeface="Cambria Math" panose="02040503050406030204" pitchFamily="18" charset="0"/>
                                    <a:ea typeface="Cambria Math" panose="02040503050406030204" pitchFamily="18" charset="0"/>
                                  </a:rPr>
                                  <m:t>1</m:t>
                                </m:r>
                              </m:e>
                              <m:sup>
                                <m:r>
                                  <a:rPr lang="en-US" altLang="zh-CN" sz="2400" i="1">
                                    <a:latin typeface="Cambria Math" panose="02040503050406030204" pitchFamily="18" charset="0"/>
                                    <a:ea typeface="Cambria Math" panose="02040503050406030204" pitchFamily="18" charset="0"/>
                                  </a:rPr>
                                  <m:t>2</m:t>
                                </m:r>
                              </m:sup>
                            </m:sSup>
                          </m:num>
                          <m:den>
                            <m:sSup>
                              <m:sSupPr>
                                <m:ctrlPr>
                                  <a:rPr lang="en-US" altLang="zh-CN" sz="2400" i="1">
                                    <a:latin typeface="Cambria Math" panose="02040503050406030204" pitchFamily="18" charset="0"/>
                                    <a:ea typeface="Cambria Math" panose="02040503050406030204" pitchFamily="18" charset="0"/>
                                  </a:rPr>
                                </m:ctrlPr>
                              </m:sSupPr>
                              <m:e>
                                <m:r>
                                  <a:rPr lang="en-US" altLang="zh-CN" sz="2400" i="1">
                                    <a:latin typeface="Cambria Math" panose="02040503050406030204" pitchFamily="18" charset="0"/>
                                    <a:ea typeface="Cambria Math" panose="02040503050406030204" pitchFamily="18" charset="0"/>
                                  </a:rPr>
                                  <m:t>6</m:t>
                                </m:r>
                              </m:e>
                              <m:sup>
                                <m:r>
                                  <a:rPr lang="en-US" altLang="zh-CN" sz="2400" i="1">
                                    <a:latin typeface="Cambria Math" panose="02040503050406030204" pitchFamily="18" charset="0"/>
                                    <a:ea typeface="Cambria Math" panose="02040503050406030204" pitchFamily="18" charset="0"/>
                                  </a:rPr>
                                  <m:t>3</m:t>
                                </m:r>
                              </m:sup>
                            </m:sSup>
                          </m:den>
                        </m:f>
                        <m:r>
                          <a:rPr lang="en-US" altLang="zh-CN" sz="2400" i="1">
                            <a:latin typeface="Cambria Math" panose="02040503050406030204" pitchFamily="18" charset="0"/>
                            <a:ea typeface="Cambria Math" panose="02040503050406030204" pitchFamily="18" charset="0"/>
                          </a:rPr>
                          <m:t>+</m:t>
                        </m:r>
                        <m:f>
                          <m:fPr>
                            <m:ctrlPr>
                              <a:rPr lang="en-US" altLang="zh-CN" sz="2400" i="1">
                                <a:latin typeface="Cambria Math" panose="02040503050406030204" pitchFamily="18" charset="0"/>
                                <a:ea typeface="Cambria Math" panose="02040503050406030204" pitchFamily="18" charset="0"/>
                              </a:rPr>
                            </m:ctrlPr>
                          </m:fPr>
                          <m:num>
                            <m:sSup>
                              <m:sSupPr>
                                <m:ctrlPr>
                                  <a:rPr lang="en-US" altLang="zh-CN" sz="2400" i="1">
                                    <a:latin typeface="Cambria Math" panose="02040503050406030204" pitchFamily="18" charset="0"/>
                                    <a:ea typeface="Cambria Math" panose="02040503050406030204" pitchFamily="18" charset="0"/>
                                  </a:rPr>
                                </m:ctrlPr>
                              </m:sSupPr>
                              <m:e>
                                <m:r>
                                  <a:rPr lang="en-US" altLang="zh-CN" sz="2400" i="1">
                                    <a:latin typeface="Cambria Math" panose="02040503050406030204" pitchFamily="18" charset="0"/>
                                    <a:ea typeface="Cambria Math" panose="02040503050406030204" pitchFamily="18" charset="0"/>
                                  </a:rPr>
                                  <m:t>1</m:t>
                                </m:r>
                              </m:e>
                              <m:sup>
                                <m:r>
                                  <a:rPr lang="en-US" altLang="zh-CN" sz="2400" i="1">
                                    <a:latin typeface="Cambria Math" panose="02040503050406030204" pitchFamily="18" charset="0"/>
                                    <a:ea typeface="Cambria Math" panose="02040503050406030204" pitchFamily="18" charset="0"/>
                                  </a:rPr>
                                  <m:t>2</m:t>
                                </m:r>
                              </m:sup>
                            </m:sSup>
                          </m:num>
                          <m:den>
                            <m:sSup>
                              <m:sSupPr>
                                <m:ctrlPr>
                                  <a:rPr lang="en-US" altLang="zh-CN" sz="2400" i="1">
                                    <a:latin typeface="Cambria Math" panose="02040503050406030204" pitchFamily="18" charset="0"/>
                                    <a:ea typeface="Cambria Math" panose="02040503050406030204" pitchFamily="18" charset="0"/>
                                  </a:rPr>
                                </m:ctrlPr>
                              </m:sSupPr>
                              <m:e>
                                <m:r>
                                  <a:rPr lang="en-US" altLang="zh-CN" sz="2400" i="1">
                                    <a:latin typeface="Cambria Math" panose="02040503050406030204" pitchFamily="18" charset="0"/>
                                    <a:ea typeface="Cambria Math" panose="02040503050406030204" pitchFamily="18" charset="0"/>
                                  </a:rPr>
                                  <m:t>3</m:t>
                                </m:r>
                              </m:e>
                              <m:sup>
                                <m:r>
                                  <a:rPr lang="en-US" altLang="zh-CN" sz="2400" i="1">
                                    <a:latin typeface="Cambria Math" panose="02040503050406030204" pitchFamily="18" charset="0"/>
                                    <a:ea typeface="Cambria Math" panose="02040503050406030204" pitchFamily="18" charset="0"/>
                                  </a:rPr>
                                  <m:t>3</m:t>
                                </m:r>
                              </m:sup>
                            </m:sSup>
                          </m:den>
                        </m:f>
                      </m:den>
                    </m:f>
                    <m:r>
                      <a:rPr lang="en-US" altLang="zh-CN" sz="2400" i="1">
                        <a:latin typeface="Cambria Math" panose="02040503050406030204" pitchFamily="18" charset="0"/>
                        <a:ea typeface="Cambria Math" panose="02040503050406030204" pitchFamily="18" charset="0"/>
                      </a:rPr>
                      <m:t>=</m:t>
                    </m:r>
                    <m:f>
                      <m:fPr>
                        <m:ctrlPr>
                          <a:rPr lang="en-US" altLang="zh-CN" sz="2400" i="1" smtClean="0">
                            <a:latin typeface="Cambria Math" panose="02040503050406030204" pitchFamily="18" charset="0"/>
                            <a:ea typeface="Cambria Math" panose="02040503050406030204" pitchFamily="18" charset="0"/>
                          </a:rPr>
                        </m:ctrlPr>
                      </m:fPr>
                      <m:num>
                        <m:r>
                          <a:rPr lang="en-US" altLang="zh-CN" sz="2400" b="0" i="1" smtClean="0">
                            <a:latin typeface="Cambria Math" panose="02040503050406030204" pitchFamily="18" charset="0"/>
                            <a:ea typeface="Cambria Math" panose="02040503050406030204" pitchFamily="18" charset="0"/>
                          </a:rPr>
                          <m:t>1</m:t>
                        </m:r>
                      </m:num>
                      <m:den>
                        <m:r>
                          <a:rPr lang="en-US" altLang="zh-CN" sz="2400" b="0" i="1" smtClean="0">
                            <a:latin typeface="Cambria Math" panose="02040503050406030204" pitchFamily="18" charset="0"/>
                            <a:ea typeface="Cambria Math" panose="02040503050406030204" pitchFamily="18" charset="0"/>
                          </a:rPr>
                          <m:t>26</m:t>
                        </m:r>
                      </m:den>
                    </m:f>
                  </m:oMath>
                </a14:m>
                <a:endParaRPr lang="en-US" altLang="zh-CN" sz="2400" dirty="0">
                  <a:ea typeface="Cambria Math" panose="02040503050406030204" pitchFamily="18" charset="0"/>
                </a:endParaRPr>
              </a:p>
              <a:p>
                <a14:m>
                  <m:oMath xmlns:m="http://schemas.openxmlformats.org/officeDocument/2006/math">
                    <m:sSubSup>
                      <m:sSubSupPr>
                        <m:ctrlPr>
                          <a:rPr lang="en-US" altLang="zh-CN" sz="2400" i="1">
                            <a:latin typeface="Cambria Math" panose="02040503050406030204" pitchFamily="18" charset="0"/>
                          </a:rPr>
                        </m:ctrlPr>
                      </m:sSubSupPr>
                      <m:e>
                        <m:r>
                          <a:rPr lang="en-US" altLang="zh-CN" sz="2400" i="1">
                            <a:latin typeface="Cambria Math" panose="02040503050406030204" pitchFamily="18" charset="0"/>
                          </a:rPr>
                          <m:t>𝑃</m:t>
                        </m:r>
                      </m:e>
                      <m:sub>
                        <m:r>
                          <a:rPr lang="en-US" altLang="zh-CN" sz="2400" i="1">
                            <a:latin typeface="Cambria Math" panose="02040503050406030204" pitchFamily="18" charset="0"/>
                          </a:rPr>
                          <m:t>25</m:t>
                        </m:r>
                      </m:sub>
                      <m:sup>
                        <m:r>
                          <a:rPr lang="en-US" altLang="zh-CN" sz="2400" i="1">
                            <a:latin typeface="Cambria Math" panose="02040503050406030204" pitchFamily="18" charset="0"/>
                          </a:rPr>
                          <m:t>𝑘</m:t>
                        </m:r>
                      </m:sup>
                    </m:sSubSup>
                    <m:r>
                      <a:rPr lang="en-US" altLang="zh-CN" sz="2400" i="1">
                        <a:latin typeface="Cambria Math" panose="02040503050406030204" pitchFamily="18" charset="0"/>
                      </a:rPr>
                      <m:t>=</m:t>
                    </m:r>
                  </m:oMath>
                </a14:m>
                <a:r>
                  <a:rPr lang="en-US" altLang="zh-CN" sz="2400" dirty="0"/>
                  <a:t> </a:t>
                </a:r>
                <a14:m>
                  <m:oMath xmlns:m="http://schemas.openxmlformats.org/officeDocument/2006/math">
                    <m:f>
                      <m:fPr>
                        <m:ctrlPr>
                          <a:rPr lang="en-US" altLang="zh-CN" sz="2400" i="1">
                            <a:latin typeface="Cambria Math" panose="02040503050406030204" pitchFamily="18" charset="0"/>
                          </a:rPr>
                        </m:ctrlPr>
                      </m:fPr>
                      <m:num>
                        <m:sSubSup>
                          <m:sSubSupPr>
                            <m:ctrlPr>
                              <a:rPr lang="en-US" altLang="zh-CN" sz="2400" i="1">
                                <a:latin typeface="Cambria Math" panose="02040503050406030204" pitchFamily="18" charset="0"/>
                              </a:rPr>
                            </m:ctrlPr>
                          </m:sSubSupPr>
                          <m:e>
                            <m:r>
                              <a:rPr lang="zh-CN" altLang="en-US" sz="2400" i="1">
                                <a:latin typeface="Cambria Math" panose="02040503050406030204" pitchFamily="18" charset="0"/>
                              </a:rPr>
                              <m:t>𝜏</m:t>
                            </m:r>
                          </m:e>
                          <m:sub>
                            <m:r>
                              <a:rPr lang="en-US" altLang="zh-CN" sz="2400" i="1">
                                <a:latin typeface="Cambria Math" panose="02040503050406030204" pitchFamily="18" charset="0"/>
                              </a:rPr>
                              <m:t>2</m:t>
                            </m:r>
                            <m:r>
                              <a:rPr lang="en-US" altLang="zh-CN" sz="2400" i="1">
                                <a:latin typeface="Cambria Math" panose="02040503050406030204" pitchFamily="18" charset="0"/>
                              </a:rPr>
                              <m:t>𝑗</m:t>
                            </m:r>
                          </m:sub>
                          <m:sup>
                            <m:r>
                              <a:rPr lang="en-US" altLang="zh-CN" sz="2400" i="1">
                                <a:latin typeface="Cambria Math" panose="02040503050406030204" pitchFamily="18" charset="0"/>
                              </a:rPr>
                              <m:t>2</m:t>
                            </m:r>
                          </m:sup>
                        </m:sSubSup>
                        <m:d>
                          <m:dPr>
                            <m:ctrlPr>
                              <a:rPr lang="en-US" altLang="zh-CN" sz="2400" i="1">
                                <a:latin typeface="Cambria Math" panose="02040503050406030204" pitchFamily="18" charset="0"/>
                              </a:rPr>
                            </m:ctrlPr>
                          </m:dPr>
                          <m:e>
                            <m:r>
                              <a:rPr lang="en-US" altLang="zh-CN" sz="2400" i="1">
                                <a:latin typeface="Cambria Math" panose="02040503050406030204" pitchFamily="18" charset="0"/>
                              </a:rPr>
                              <m:t>𝑡</m:t>
                            </m:r>
                          </m:e>
                        </m:d>
                        <m:r>
                          <a:rPr lang="en-US" altLang="zh-CN" sz="2400" i="1">
                            <a:latin typeface="Cambria Math" panose="02040503050406030204" pitchFamily="18" charset="0"/>
                            <a:ea typeface="Cambria Math" panose="02040503050406030204" pitchFamily="18" charset="0"/>
                          </a:rPr>
                          <m:t>∗</m:t>
                        </m:r>
                        <m:sSubSup>
                          <m:sSubSupPr>
                            <m:ctrlPr>
                              <a:rPr lang="en-US" altLang="zh-CN" sz="2400" i="1">
                                <a:latin typeface="Cambria Math" panose="02040503050406030204" pitchFamily="18" charset="0"/>
                                <a:ea typeface="Cambria Math" panose="02040503050406030204" pitchFamily="18" charset="0"/>
                              </a:rPr>
                            </m:ctrlPr>
                          </m:sSubSupPr>
                          <m:e>
                            <m:r>
                              <a:rPr lang="en-US" altLang="zh-CN" sz="2400" i="1">
                                <a:latin typeface="Cambria Math" panose="02040503050406030204" pitchFamily="18" charset="0"/>
                                <a:ea typeface="Cambria Math" panose="02040503050406030204" pitchFamily="18" charset="0"/>
                              </a:rPr>
                              <m:t>𝜂</m:t>
                            </m:r>
                          </m:e>
                          <m:sub>
                            <m:r>
                              <a:rPr lang="en-US" altLang="zh-CN" sz="2400" i="1">
                                <a:latin typeface="Cambria Math" panose="02040503050406030204" pitchFamily="18" charset="0"/>
                                <a:ea typeface="Cambria Math" panose="02040503050406030204" pitchFamily="18" charset="0"/>
                              </a:rPr>
                              <m:t>2</m:t>
                            </m:r>
                            <m:r>
                              <a:rPr lang="en-US" altLang="zh-CN" sz="2400" i="1">
                                <a:latin typeface="Cambria Math" panose="02040503050406030204" pitchFamily="18" charset="0"/>
                                <a:ea typeface="Cambria Math" panose="02040503050406030204" pitchFamily="18" charset="0"/>
                              </a:rPr>
                              <m:t>𝑗</m:t>
                            </m:r>
                          </m:sub>
                          <m:sup>
                            <m:r>
                              <a:rPr lang="en-US" altLang="zh-CN" sz="2400" i="1">
                                <a:latin typeface="Cambria Math" panose="02040503050406030204" pitchFamily="18" charset="0"/>
                                <a:ea typeface="Cambria Math" panose="02040503050406030204" pitchFamily="18" charset="0"/>
                              </a:rPr>
                              <m:t>3</m:t>
                            </m:r>
                          </m:sup>
                        </m:sSubSup>
                        <m:r>
                          <a:rPr lang="en-US" altLang="zh-CN" sz="2400" i="1">
                            <a:latin typeface="Cambria Math" panose="02040503050406030204" pitchFamily="18" charset="0"/>
                            <a:ea typeface="Cambria Math" panose="02040503050406030204" pitchFamily="18" charset="0"/>
                          </a:rPr>
                          <m:t>(</m:t>
                        </m:r>
                        <m:r>
                          <a:rPr lang="en-US" altLang="zh-CN" sz="2400" i="1">
                            <a:latin typeface="Cambria Math" panose="02040503050406030204" pitchFamily="18" charset="0"/>
                            <a:ea typeface="Cambria Math" panose="02040503050406030204" pitchFamily="18" charset="0"/>
                          </a:rPr>
                          <m:t>𝑡</m:t>
                        </m:r>
                        <m:r>
                          <a:rPr lang="en-US" altLang="zh-CN" sz="2400" i="1">
                            <a:latin typeface="Cambria Math" panose="02040503050406030204" pitchFamily="18" charset="0"/>
                            <a:ea typeface="Cambria Math" panose="02040503050406030204" pitchFamily="18" charset="0"/>
                          </a:rPr>
                          <m:t>)</m:t>
                        </m:r>
                      </m:num>
                      <m:den>
                        <m:nary>
                          <m:naryPr>
                            <m:chr m:val="∑"/>
                            <m:supHide m:val="on"/>
                            <m:ctrlPr>
                              <a:rPr lang="en-US" altLang="zh-CN" sz="2400" i="1">
                                <a:latin typeface="Cambria Math" panose="02040503050406030204" pitchFamily="18" charset="0"/>
                              </a:rPr>
                            </m:ctrlPr>
                          </m:naryPr>
                          <m:sub>
                            <m:r>
                              <m:rPr>
                                <m:sty m:val="p"/>
                                <m:brk m:alnAt="7"/>
                              </m:rPr>
                              <a:rPr lang="en-US" altLang="zh-CN" sz="2400" i="1">
                                <a:latin typeface="Cambria Math" panose="02040503050406030204" pitchFamily="18" charset="0"/>
                              </a:rPr>
                              <m:t>s</m:t>
                            </m:r>
                            <m:r>
                              <a:rPr lang="en-US" altLang="zh-CN" sz="2400" i="1">
                                <a:latin typeface="Cambria Math" panose="02040503050406030204" pitchFamily="18" charset="0"/>
                                <a:ea typeface="Cambria Math" panose="02040503050406030204" pitchFamily="18" charset="0"/>
                              </a:rPr>
                              <m:t>∈</m:t>
                            </m:r>
                            <m:sSub>
                              <m:sSubPr>
                                <m:ctrlPr>
                                  <a:rPr lang="en-US" altLang="zh-CN" sz="2400" i="1">
                                    <a:latin typeface="Cambria Math" panose="02040503050406030204" pitchFamily="18" charset="0"/>
                                    <a:ea typeface="Cambria Math" panose="02040503050406030204" pitchFamily="18" charset="0"/>
                                  </a:rPr>
                                </m:ctrlPr>
                              </m:sSubPr>
                              <m:e>
                                <m:r>
                                  <a:rPr lang="en-US" altLang="zh-CN" sz="2400" b="0" i="1" smtClean="0">
                                    <a:latin typeface="Cambria Math" panose="02040503050406030204" pitchFamily="18" charset="0"/>
                                    <a:ea typeface="Cambria Math" panose="02040503050406030204" pitchFamily="18" charset="0"/>
                                  </a:rPr>
                                  <m:t>𝑁</m:t>
                                </m:r>
                              </m:e>
                              <m:sub>
                                <m:r>
                                  <a:rPr lang="en-US" altLang="zh-CN" sz="2400" i="1">
                                    <a:latin typeface="Cambria Math" panose="02040503050406030204" pitchFamily="18" charset="0"/>
                                    <a:ea typeface="Cambria Math" panose="02040503050406030204" pitchFamily="18" charset="0"/>
                                  </a:rPr>
                                  <m:t>𝑘</m:t>
                                </m:r>
                              </m:sub>
                            </m:sSub>
                          </m:sub>
                          <m:sup/>
                          <m:e>
                            <m:sSubSup>
                              <m:sSubSupPr>
                                <m:ctrlPr>
                                  <a:rPr lang="en-US" altLang="zh-CN" sz="2400" i="1">
                                    <a:latin typeface="Cambria Math" panose="02040503050406030204" pitchFamily="18" charset="0"/>
                                  </a:rPr>
                                </m:ctrlPr>
                              </m:sSubSupPr>
                              <m:e>
                                <m:r>
                                  <a:rPr lang="zh-CN" altLang="en-US" sz="2400" i="1">
                                    <a:latin typeface="Cambria Math" panose="02040503050406030204" pitchFamily="18" charset="0"/>
                                  </a:rPr>
                                  <m:t>𝜏</m:t>
                                </m:r>
                              </m:e>
                              <m:sub>
                                <m:r>
                                  <a:rPr lang="en-US" altLang="zh-CN" sz="2400" i="1">
                                    <a:latin typeface="Cambria Math" panose="02040503050406030204" pitchFamily="18" charset="0"/>
                                  </a:rPr>
                                  <m:t>2</m:t>
                                </m:r>
                                <m:r>
                                  <a:rPr lang="en-US" altLang="zh-CN" sz="2400" i="1">
                                    <a:latin typeface="Cambria Math" panose="02040503050406030204" pitchFamily="18" charset="0"/>
                                  </a:rPr>
                                  <m:t>𝑗</m:t>
                                </m:r>
                              </m:sub>
                              <m:sup>
                                <m:r>
                                  <a:rPr lang="en-US" altLang="zh-CN" sz="2400" i="1">
                                    <a:latin typeface="Cambria Math" panose="02040503050406030204" pitchFamily="18" charset="0"/>
                                  </a:rPr>
                                  <m:t>2</m:t>
                                </m:r>
                              </m:sup>
                            </m:sSubSup>
                            <m:d>
                              <m:dPr>
                                <m:ctrlPr>
                                  <a:rPr lang="en-US" altLang="zh-CN" sz="2400" i="1">
                                    <a:latin typeface="Cambria Math" panose="02040503050406030204" pitchFamily="18" charset="0"/>
                                  </a:rPr>
                                </m:ctrlPr>
                              </m:dPr>
                              <m:e>
                                <m:r>
                                  <a:rPr lang="en-US" altLang="zh-CN" sz="2400" i="1">
                                    <a:latin typeface="Cambria Math" panose="02040503050406030204" pitchFamily="18" charset="0"/>
                                  </a:rPr>
                                  <m:t>𝑡</m:t>
                                </m:r>
                              </m:e>
                            </m:d>
                            <m:r>
                              <a:rPr lang="en-US" altLang="zh-CN" sz="2400" i="1">
                                <a:latin typeface="Cambria Math" panose="02040503050406030204" pitchFamily="18" charset="0"/>
                                <a:ea typeface="Cambria Math" panose="02040503050406030204" pitchFamily="18" charset="0"/>
                              </a:rPr>
                              <m:t>∗</m:t>
                            </m:r>
                            <m:sSubSup>
                              <m:sSubSupPr>
                                <m:ctrlPr>
                                  <a:rPr lang="en-US" altLang="zh-CN" sz="2400" i="1">
                                    <a:latin typeface="Cambria Math" panose="02040503050406030204" pitchFamily="18" charset="0"/>
                                    <a:ea typeface="Cambria Math" panose="02040503050406030204" pitchFamily="18" charset="0"/>
                                  </a:rPr>
                                </m:ctrlPr>
                              </m:sSubSupPr>
                              <m:e>
                                <m:r>
                                  <a:rPr lang="en-US" altLang="zh-CN" sz="2400" i="1">
                                    <a:latin typeface="Cambria Math" panose="02040503050406030204" pitchFamily="18" charset="0"/>
                                    <a:ea typeface="Cambria Math" panose="02040503050406030204" pitchFamily="18" charset="0"/>
                                  </a:rPr>
                                  <m:t>𝜂</m:t>
                                </m:r>
                              </m:e>
                              <m:sub>
                                <m:r>
                                  <a:rPr lang="en-US" altLang="zh-CN" sz="2400" i="1">
                                    <a:latin typeface="Cambria Math" panose="02040503050406030204" pitchFamily="18" charset="0"/>
                                    <a:ea typeface="Cambria Math" panose="02040503050406030204" pitchFamily="18" charset="0"/>
                                  </a:rPr>
                                  <m:t>2</m:t>
                                </m:r>
                                <m:r>
                                  <a:rPr lang="en-US" altLang="zh-CN" sz="2400" i="1">
                                    <a:latin typeface="Cambria Math" panose="02040503050406030204" pitchFamily="18" charset="0"/>
                                    <a:ea typeface="Cambria Math" panose="02040503050406030204" pitchFamily="18" charset="0"/>
                                  </a:rPr>
                                  <m:t>𝑗</m:t>
                                </m:r>
                              </m:sub>
                              <m:sup>
                                <m:r>
                                  <a:rPr lang="en-US" altLang="zh-CN" sz="2400" i="1">
                                    <a:latin typeface="Cambria Math" panose="02040503050406030204" pitchFamily="18" charset="0"/>
                                    <a:ea typeface="Cambria Math" panose="02040503050406030204" pitchFamily="18" charset="0"/>
                                  </a:rPr>
                                  <m:t>3</m:t>
                                </m:r>
                              </m:sup>
                            </m:sSubSup>
                            <m:r>
                              <a:rPr lang="en-US" altLang="zh-CN" sz="2400" i="1">
                                <a:latin typeface="Cambria Math" panose="02040503050406030204" pitchFamily="18" charset="0"/>
                                <a:ea typeface="Cambria Math" panose="02040503050406030204" pitchFamily="18" charset="0"/>
                              </a:rPr>
                              <m:t>(</m:t>
                            </m:r>
                            <m:r>
                              <a:rPr lang="en-US" altLang="zh-CN" sz="2400" i="1">
                                <a:latin typeface="Cambria Math" panose="02040503050406030204" pitchFamily="18" charset="0"/>
                                <a:ea typeface="Cambria Math" panose="02040503050406030204" pitchFamily="18" charset="0"/>
                              </a:rPr>
                              <m:t>𝑡</m:t>
                            </m:r>
                            <m:r>
                              <a:rPr lang="en-US" altLang="zh-CN" sz="2400" i="1">
                                <a:latin typeface="Cambria Math" panose="02040503050406030204" pitchFamily="18" charset="0"/>
                                <a:ea typeface="Cambria Math" panose="02040503050406030204" pitchFamily="18" charset="0"/>
                              </a:rPr>
                              <m:t>)</m:t>
                            </m:r>
                          </m:e>
                        </m:nary>
                      </m:den>
                    </m:f>
                    <m:r>
                      <a:rPr lang="en-US" altLang="zh-CN" sz="2400" i="1">
                        <a:latin typeface="Cambria Math" panose="02040503050406030204" pitchFamily="18" charset="0"/>
                        <a:ea typeface="Cambria Math" panose="02040503050406030204" pitchFamily="18" charset="0"/>
                      </a:rPr>
                      <m:t>=</m:t>
                    </m:r>
                    <m:f>
                      <m:fPr>
                        <m:ctrlPr>
                          <a:rPr lang="en-US" altLang="zh-CN" sz="2400" i="1">
                            <a:latin typeface="Cambria Math" panose="02040503050406030204" pitchFamily="18" charset="0"/>
                            <a:ea typeface="Cambria Math" panose="02040503050406030204" pitchFamily="18" charset="0"/>
                          </a:rPr>
                        </m:ctrlPr>
                      </m:fPr>
                      <m:num>
                        <m:sSup>
                          <m:sSupPr>
                            <m:ctrlPr>
                              <a:rPr lang="en-US" altLang="zh-CN" sz="2400" i="1">
                                <a:latin typeface="Cambria Math" panose="02040503050406030204" pitchFamily="18" charset="0"/>
                                <a:ea typeface="Cambria Math" panose="02040503050406030204" pitchFamily="18" charset="0"/>
                              </a:rPr>
                            </m:ctrlPr>
                          </m:sSupPr>
                          <m:e>
                            <m:r>
                              <a:rPr lang="en-US" altLang="zh-CN" sz="2400" i="1">
                                <a:latin typeface="Cambria Math" panose="02040503050406030204" pitchFamily="18" charset="0"/>
                                <a:ea typeface="Cambria Math" panose="02040503050406030204" pitchFamily="18" charset="0"/>
                              </a:rPr>
                              <m:t>1</m:t>
                            </m:r>
                          </m:e>
                          <m:sup>
                            <m:r>
                              <a:rPr lang="en-US" altLang="zh-CN" sz="2400" i="1">
                                <a:latin typeface="Cambria Math" panose="02040503050406030204" pitchFamily="18" charset="0"/>
                                <a:ea typeface="Cambria Math" panose="02040503050406030204" pitchFamily="18" charset="0"/>
                              </a:rPr>
                              <m:t>2</m:t>
                            </m:r>
                          </m:sup>
                        </m:sSup>
                        <m:r>
                          <a:rPr lang="en-US" altLang="zh-CN" sz="2400" i="1">
                            <a:latin typeface="Cambria Math" panose="02040503050406030204" pitchFamily="18" charset="0"/>
                            <a:ea typeface="Cambria Math" panose="02040503050406030204" pitchFamily="18" charset="0"/>
                          </a:rPr>
                          <m:t>/</m:t>
                        </m:r>
                        <m:sSup>
                          <m:sSupPr>
                            <m:ctrlPr>
                              <a:rPr lang="en-US" altLang="zh-CN" sz="2400" i="1">
                                <a:latin typeface="Cambria Math" panose="02040503050406030204" pitchFamily="18" charset="0"/>
                                <a:ea typeface="Cambria Math" panose="02040503050406030204" pitchFamily="18" charset="0"/>
                              </a:rPr>
                            </m:ctrlPr>
                          </m:sSupPr>
                          <m:e>
                            <m:r>
                              <a:rPr lang="en-US" altLang="zh-CN" sz="2400" b="0" i="1" smtClean="0">
                                <a:latin typeface="Cambria Math" panose="02040503050406030204" pitchFamily="18" charset="0"/>
                                <a:ea typeface="Cambria Math" panose="02040503050406030204" pitchFamily="18" charset="0"/>
                              </a:rPr>
                              <m:t>3</m:t>
                            </m:r>
                          </m:e>
                          <m:sup>
                            <m:r>
                              <a:rPr lang="en-US" altLang="zh-CN" sz="2400" i="1">
                                <a:latin typeface="Cambria Math" panose="02040503050406030204" pitchFamily="18" charset="0"/>
                                <a:ea typeface="Cambria Math" panose="02040503050406030204" pitchFamily="18" charset="0"/>
                              </a:rPr>
                              <m:t>3</m:t>
                            </m:r>
                          </m:sup>
                        </m:sSup>
                      </m:num>
                      <m:den>
                        <m:f>
                          <m:fPr>
                            <m:ctrlPr>
                              <a:rPr lang="en-US" altLang="zh-CN" sz="2400" i="1">
                                <a:latin typeface="Cambria Math" panose="02040503050406030204" pitchFamily="18" charset="0"/>
                                <a:ea typeface="Cambria Math" panose="02040503050406030204" pitchFamily="18" charset="0"/>
                              </a:rPr>
                            </m:ctrlPr>
                          </m:fPr>
                          <m:num>
                            <m:sSup>
                              <m:sSupPr>
                                <m:ctrlPr>
                                  <a:rPr lang="en-US" altLang="zh-CN" sz="2400" i="1">
                                    <a:latin typeface="Cambria Math" panose="02040503050406030204" pitchFamily="18" charset="0"/>
                                    <a:ea typeface="Cambria Math" panose="02040503050406030204" pitchFamily="18" charset="0"/>
                                  </a:rPr>
                                </m:ctrlPr>
                              </m:sSupPr>
                              <m:e>
                                <m:r>
                                  <a:rPr lang="en-US" altLang="zh-CN" sz="2400" i="1">
                                    <a:latin typeface="Cambria Math" panose="02040503050406030204" pitchFamily="18" charset="0"/>
                                    <a:ea typeface="Cambria Math" panose="02040503050406030204" pitchFamily="18" charset="0"/>
                                  </a:rPr>
                                  <m:t>1</m:t>
                                </m:r>
                              </m:e>
                              <m:sup>
                                <m:r>
                                  <a:rPr lang="en-US" altLang="zh-CN" sz="2400" i="1">
                                    <a:latin typeface="Cambria Math" panose="02040503050406030204" pitchFamily="18" charset="0"/>
                                    <a:ea typeface="Cambria Math" panose="02040503050406030204" pitchFamily="18" charset="0"/>
                                  </a:rPr>
                                  <m:t>2</m:t>
                                </m:r>
                              </m:sup>
                            </m:sSup>
                          </m:num>
                          <m:den>
                            <m:sSup>
                              <m:sSupPr>
                                <m:ctrlPr>
                                  <a:rPr lang="en-US" altLang="zh-CN" sz="2400" i="1">
                                    <a:latin typeface="Cambria Math" panose="02040503050406030204" pitchFamily="18" charset="0"/>
                                    <a:ea typeface="Cambria Math" panose="02040503050406030204" pitchFamily="18" charset="0"/>
                                  </a:rPr>
                                </m:ctrlPr>
                              </m:sSupPr>
                              <m:e>
                                <m:r>
                                  <a:rPr lang="en-US" altLang="zh-CN" sz="2400" i="1">
                                    <a:latin typeface="Cambria Math" panose="02040503050406030204" pitchFamily="18" charset="0"/>
                                    <a:ea typeface="Cambria Math" panose="02040503050406030204" pitchFamily="18" charset="0"/>
                                  </a:rPr>
                                  <m:t>6</m:t>
                                </m:r>
                              </m:e>
                              <m:sup>
                                <m:r>
                                  <a:rPr lang="en-US" altLang="zh-CN" sz="2400" i="1">
                                    <a:latin typeface="Cambria Math" panose="02040503050406030204" pitchFamily="18" charset="0"/>
                                    <a:ea typeface="Cambria Math" panose="02040503050406030204" pitchFamily="18" charset="0"/>
                                  </a:rPr>
                                  <m:t>3</m:t>
                                </m:r>
                              </m:sup>
                            </m:sSup>
                          </m:den>
                        </m:f>
                        <m:r>
                          <a:rPr lang="en-US" altLang="zh-CN" sz="2400" i="1">
                            <a:latin typeface="Cambria Math" panose="02040503050406030204" pitchFamily="18" charset="0"/>
                            <a:ea typeface="Cambria Math" panose="02040503050406030204" pitchFamily="18" charset="0"/>
                          </a:rPr>
                          <m:t>+</m:t>
                        </m:r>
                        <m:f>
                          <m:fPr>
                            <m:ctrlPr>
                              <a:rPr lang="en-US" altLang="zh-CN" sz="2400" i="1">
                                <a:latin typeface="Cambria Math" panose="02040503050406030204" pitchFamily="18" charset="0"/>
                                <a:ea typeface="Cambria Math" panose="02040503050406030204" pitchFamily="18" charset="0"/>
                              </a:rPr>
                            </m:ctrlPr>
                          </m:fPr>
                          <m:num>
                            <m:sSup>
                              <m:sSupPr>
                                <m:ctrlPr>
                                  <a:rPr lang="en-US" altLang="zh-CN" sz="2400" i="1">
                                    <a:latin typeface="Cambria Math" panose="02040503050406030204" pitchFamily="18" charset="0"/>
                                    <a:ea typeface="Cambria Math" panose="02040503050406030204" pitchFamily="18" charset="0"/>
                                  </a:rPr>
                                </m:ctrlPr>
                              </m:sSupPr>
                              <m:e>
                                <m:r>
                                  <a:rPr lang="en-US" altLang="zh-CN" sz="2400" i="1">
                                    <a:latin typeface="Cambria Math" panose="02040503050406030204" pitchFamily="18" charset="0"/>
                                    <a:ea typeface="Cambria Math" panose="02040503050406030204" pitchFamily="18" charset="0"/>
                                  </a:rPr>
                                  <m:t>1</m:t>
                                </m:r>
                              </m:e>
                              <m:sup>
                                <m:r>
                                  <a:rPr lang="en-US" altLang="zh-CN" sz="2400" i="1">
                                    <a:latin typeface="Cambria Math" panose="02040503050406030204" pitchFamily="18" charset="0"/>
                                    <a:ea typeface="Cambria Math" panose="02040503050406030204" pitchFamily="18" charset="0"/>
                                  </a:rPr>
                                  <m:t>2</m:t>
                                </m:r>
                              </m:sup>
                            </m:sSup>
                          </m:num>
                          <m:den>
                            <m:sSup>
                              <m:sSupPr>
                                <m:ctrlPr>
                                  <a:rPr lang="en-US" altLang="zh-CN" sz="2400" i="1">
                                    <a:latin typeface="Cambria Math" panose="02040503050406030204" pitchFamily="18" charset="0"/>
                                    <a:ea typeface="Cambria Math" panose="02040503050406030204" pitchFamily="18" charset="0"/>
                                  </a:rPr>
                                </m:ctrlPr>
                              </m:sSupPr>
                              <m:e>
                                <m:r>
                                  <a:rPr lang="en-US" altLang="zh-CN" sz="2400" i="1">
                                    <a:latin typeface="Cambria Math" panose="02040503050406030204" pitchFamily="18" charset="0"/>
                                    <a:ea typeface="Cambria Math" panose="02040503050406030204" pitchFamily="18" charset="0"/>
                                  </a:rPr>
                                  <m:t>6</m:t>
                                </m:r>
                              </m:e>
                              <m:sup>
                                <m:r>
                                  <a:rPr lang="en-US" altLang="zh-CN" sz="2400" i="1">
                                    <a:latin typeface="Cambria Math" panose="02040503050406030204" pitchFamily="18" charset="0"/>
                                    <a:ea typeface="Cambria Math" panose="02040503050406030204" pitchFamily="18" charset="0"/>
                                  </a:rPr>
                                  <m:t>3</m:t>
                                </m:r>
                              </m:sup>
                            </m:sSup>
                          </m:den>
                        </m:f>
                        <m:r>
                          <a:rPr lang="en-US" altLang="zh-CN" sz="2400" i="1">
                            <a:latin typeface="Cambria Math" panose="02040503050406030204" pitchFamily="18" charset="0"/>
                            <a:ea typeface="Cambria Math" panose="02040503050406030204" pitchFamily="18" charset="0"/>
                          </a:rPr>
                          <m:t>+</m:t>
                        </m:r>
                        <m:f>
                          <m:fPr>
                            <m:ctrlPr>
                              <a:rPr lang="en-US" altLang="zh-CN" sz="2400" i="1">
                                <a:latin typeface="Cambria Math" panose="02040503050406030204" pitchFamily="18" charset="0"/>
                                <a:ea typeface="Cambria Math" panose="02040503050406030204" pitchFamily="18" charset="0"/>
                              </a:rPr>
                            </m:ctrlPr>
                          </m:fPr>
                          <m:num>
                            <m:sSup>
                              <m:sSupPr>
                                <m:ctrlPr>
                                  <a:rPr lang="en-US" altLang="zh-CN" sz="2400" i="1">
                                    <a:latin typeface="Cambria Math" panose="02040503050406030204" pitchFamily="18" charset="0"/>
                                    <a:ea typeface="Cambria Math" panose="02040503050406030204" pitchFamily="18" charset="0"/>
                                  </a:rPr>
                                </m:ctrlPr>
                              </m:sSupPr>
                              <m:e>
                                <m:r>
                                  <a:rPr lang="en-US" altLang="zh-CN" sz="2400" i="1">
                                    <a:latin typeface="Cambria Math" panose="02040503050406030204" pitchFamily="18" charset="0"/>
                                    <a:ea typeface="Cambria Math" panose="02040503050406030204" pitchFamily="18" charset="0"/>
                                  </a:rPr>
                                  <m:t>1</m:t>
                                </m:r>
                              </m:e>
                              <m:sup>
                                <m:r>
                                  <a:rPr lang="en-US" altLang="zh-CN" sz="2400" i="1">
                                    <a:latin typeface="Cambria Math" panose="02040503050406030204" pitchFamily="18" charset="0"/>
                                    <a:ea typeface="Cambria Math" panose="02040503050406030204" pitchFamily="18" charset="0"/>
                                  </a:rPr>
                                  <m:t>2</m:t>
                                </m:r>
                              </m:sup>
                            </m:sSup>
                          </m:num>
                          <m:den>
                            <m:sSup>
                              <m:sSupPr>
                                <m:ctrlPr>
                                  <a:rPr lang="en-US" altLang="zh-CN" sz="2400" i="1">
                                    <a:latin typeface="Cambria Math" panose="02040503050406030204" pitchFamily="18" charset="0"/>
                                    <a:ea typeface="Cambria Math" panose="02040503050406030204" pitchFamily="18" charset="0"/>
                                  </a:rPr>
                                </m:ctrlPr>
                              </m:sSupPr>
                              <m:e>
                                <m:r>
                                  <a:rPr lang="en-US" altLang="zh-CN" sz="2400" i="1">
                                    <a:latin typeface="Cambria Math" panose="02040503050406030204" pitchFamily="18" charset="0"/>
                                    <a:ea typeface="Cambria Math" panose="02040503050406030204" pitchFamily="18" charset="0"/>
                                  </a:rPr>
                                  <m:t>3</m:t>
                                </m:r>
                              </m:e>
                              <m:sup>
                                <m:r>
                                  <a:rPr lang="en-US" altLang="zh-CN" sz="2400" i="1">
                                    <a:latin typeface="Cambria Math" panose="02040503050406030204" pitchFamily="18" charset="0"/>
                                    <a:ea typeface="Cambria Math" panose="02040503050406030204" pitchFamily="18" charset="0"/>
                                  </a:rPr>
                                  <m:t>3</m:t>
                                </m:r>
                              </m:sup>
                            </m:sSup>
                          </m:den>
                        </m:f>
                      </m:den>
                    </m:f>
                    <m:r>
                      <a:rPr lang="en-US" altLang="zh-CN" sz="2400" i="1">
                        <a:latin typeface="Cambria Math" panose="02040503050406030204" pitchFamily="18" charset="0"/>
                        <a:ea typeface="Cambria Math" panose="02040503050406030204" pitchFamily="18" charset="0"/>
                      </a:rPr>
                      <m:t>=</m:t>
                    </m:r>
                    <m:f>
                      <m:fPr>
                        <m:ctrlPr>
                          <a:rPr lang="en-US" altLang="zh-CN" sz="2400" i="1" smtClean="0">
                            <a:latin typeface="Cambria Math" panose="02040503050406030204" pitchFamily="18" charset="0"/>
                            <a:ea typeface="Cambria Math" panose="02040503050406030204" pitchFamily="18" charset="0"/>
                          </a:rPr>
                        </m:ctrlPr>
                      </m:fPr>
                      <m:num>
                        <m:r>
                          <a:rPr lang="en-US" altLang="zh-CN" sz="2400" b="0" i="1" smtClean="0">
                            <a:latin typeface="Cambria Math" panose="02040503050406030204" pitchFamily="18" charset="0"/>
                            <a:ea typeface="Cambria Math" panose="02040503050406030204" pitchFamily="18" charset="0"/>
                          </a:rPr>
                          <m:t>24</m:t>
                        </m:r>
                      </m:num>
                      <m:den>
                        <m:r>
                          <a:rPr lang="en-US" altLang="zh-CN" sz="2400" b="0" i="1" smtClean="0">
                            <a:latin typeface="Cambria Math" panose="02040503050406030204" pitchFamily="18" charset="0"/>
                            <a:ea typeface="Cambria Math" panose="02040503050406030204" pitchFamily="18" charset="0"/>
                          </a:rPr>
                          <m:t>26</m:t>
                        </m:r>
                      </m:den>
                    </m:f>
                  </m:oMath>
                </a14:m>
                <a:endParaRPr lang="en-US" altLang="zh-CN" sz="2400" dirty="0">
                  <a:ea typeface="Cambria Math" panose="02040503050406030204" pitchFamily="18" charset="0"/>
                </a:endParaRPr>
              </a:p>
            </p:txBody>
          </p:sp>
        </mc:Choice>
        <mc:Fallback xmlns="">
          <p:sp>
            <p:nvSpPr>
              <p:cNvPr id="54" name="文本框 53">
                <a:extLst>
                  <a:ext uri="{FF2B5EF4-FFF2-40B4-BE49-F238E27FC236}">
                    <a16:creationId xmlns:a16="http://schemas.microsoft.com/office/drawing/2014/main" id="{20AAC8FB-4A31-43C6-830E-0684A0DFFEF6}"/>
                  </a:ext>
                </a:extLst>
              </p:cNvPr>
              <p:cNvSpPr txBox="1">
                <a:spLocks noRot="1" noChangeAspect="1" noMove="1" noResize="1" noEditPoints="1" noAdjustHandles="1" noChangeArrowheads="1" noChangeShapeType="1" noTextEdit="1"/>
              </p:cNvSpPr>
              <p:nvPr/>
            </p:nvSpPr>
            <p:spPr>
              <a:xfrm>
                <a:off x="106296" y="1225328"/>
                <a:ext cx="7402085" cy="4510787"/>
              </a:xfrm>
              <a:prstGeom prst="rect">
                <a:avLst/>
              </a:prstGeom>
              <a:blipFill>
                <a:blip r:embed="rId2"/>
                <a:stretch>
                  <a:fillRect l="-1235" t="-1081" r="-741"/>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129519552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4" fill="hold" grpId="0" nodeType="withEffect">
                                  <p:stCondLst>
                                    <p:cond delay="0"/>
                                  </p:stCondLst>
                                  <p:childTnLst>
                                    <p:set>
                                      <p:cBhvr>
                                        <p:cTn id="6" dur="1" fill="hold">
                                          <p:stCondLst>
                                            <p:cond delay="0"/>
                                          </p:stCondLst>
                                        </p:cTn>
                                        <p:tgtEl>
                                          <p:spTgt spid="39"/>
                                        </p:tgtEl>
                                        <p:attrNameLst>
                                          <p:attrName>style.visibility</p:attrName>
                                        </p:attrNameLst>
                                      </p:cBhvr>
                                      <p:to>
                                        <p:strVal val="visible"/>
                                      </p:to>
                                    </p:set>
                                    <p:animEffect transition="in" filter="wipe(down)">
                                      <p:cBhvr>
                                        <p:cTn id="7" dur="500"/>
                                        <p:tgtEl>
                                          <p:spTgt spid="39"/>
                                        </p:tgtEl>
                                      </p:cBhvr>
                                    </p:animEffect>
                                  </p:childTnLst>
                                </p:cTn>
                              </p:par>
                              <p:par>
                                <p:cTn id="8" presetID="22" presetClass="entr" presetSubtype="4" fill="hold" grpId="0" nodeType="withEffect">
                                  <p:stCondLst>
                                    <p:cond delay="0"/>
                                  </p:stCondLst>
                                  <p:childTnLst>
                                    <p:set>
                                      <p:cBhvr>
                                        <p:cTn id="9" dur="1" fill="hold">
                                          <p:stCondLst>
                                            <p:cond delay="0"/>
                                          </p:stCondLst>
                                        </p:cTn>
                                        <p:tgtEl>
                                          <p:spTgt spid="40"/>
                                        </p:tgtEl>
                                        <p:attrNameLst>
                                          <p:attrName>style.visibility</p:attrName>
                                        </p:attrNameLst>
                                      </p:cBhvr>
                                      <p:to>
                                        <p:strVal val="visible"/>
                                      </p:to>
                                    </p:set>
                                    <p:animEffect transition="in" filter="wipe(down)">
                                      <p:cBhvr>
                                        <p:cTn id="10" dur="500"/>
                                        <p:tgtEl>
                                          <p:spTgt spid="40"/>
                                        </p:tgtEl>
                                      </p:cBhvr>
                                    </p:animEffect>
                                  </p:childTnLst>
                                </p:cTn>
                              </p:par>
                              <p:par>
                                <p:cTn id="11" presetID="22" presetClass="entr" presetSubtype="4" fill="hold" grpId="0" nodeType="withEffect">
                                  <p:stCondLst>
                                    <p:cond delay="0"/>
                                  </p:stCondLst>
                                  <p:childTnLst>
                                    <p:set>
                                      <p:cBhvr>
                                        <p:cTn id="12" dur="1" fill="hold">
                                          <p:stCondLst>
                                            <p:cond delay="0"/>
                                          </p:stCondLst>
                                        </p:cTn>
                                        <p:tgtEl>
                                          <p:spTgt spid="41"/>
                                        </p:tgtEl>
                                        <p:attrNameLst>
                                          <p:attrName>style.visibility</p:attrName>
                                        </p:attrNameLst>
                                      </p:cBhvr>
                                      <p:to>
                                        <p:strVal val="visible"/>
                                      </p:to>
                                    </p:set>
                                    <p:animEffect transition="in" filter="wipe(down)">
                                      <p:cBhvr>
                                        <p:cTn id="13" dur="500"/>
                                        <p:tgtEl>
                                          <p:spTgt spid="41"/>
                                        </p:tgtEl>
                                      </p:cBhvr>
                                    </p:animEffect>
                                  </p:childTnLst>
                                </p:cTn>
                              </p:par>
                              <p:par>
                                <p:cTn id="14" presetID="22" presetClass="entr" presetSubtype="4" fill="hold" grpId="0" nodeType="withEffect">
                                  <p:stCondLst>
                                    <p:cond delay="0"/>
                                  </p:stCondLst>
                                  <p:childTnLst>
                                    <p:set>
                                      <p:cBhvr>
                                        <p:cTn id="15" dur="1" fill="hold">
                                          <p:stCondLst>
                                            <p:cond delay="0"/>
                                          </p:stCondLst>
                                        </p:cTn>
                                        <p:tgtEl>
                                          <p:spTgt spid="42"/>
                                        </p:tgtEl>
                                        <p:attrNameLst>
                                          <p:attrName>style.visibility</p:attrName>
                                        </p:attrNameLst>
                                      </p:cBhvr>
                                      <p:to>
                                        <p:strVal val="visible"/>
                                      </p:to>
                                    </p:set>
                                    <p:animEffect transition="in" filter="wipe(down)">
                                      <p:cBhvr>
                                        <p:cTn id="16" dur="500"/>
                                        <p:tgtEl>
                                          <p:spTgt spid="42"/>
                                        </p:tgtEl>
                                      </p:cBhvr>
                                    </p:animEffect>
                                  </p:childTnLst>
                                </p:cTn>
                              </p:par>
                              <p:par>
                                <p:cTn id="17" presetID="22" presetClass="entr" presetSubtype="4" fill="hold" grpId="0" nodeType="withEffect">
                                  <p:stCondLst>
                                    <p:cond delay="0"/>
                                  </p:stCondLst>
                                  <p:childTnLst>
                                    <p:set>
                                      <p:cBhvr>
                                        <p:cTn id="18" dur="1" fill="hold">
                                          <p:stCondLst>
                                            <p:cond delay="0"/>
                                          </p:stCondLst>
                                        </p:cTn>
                                        <p:tgtEl>
                                          <p:spTgt spid="43"/>
                                        </p:tgtEl>
                                        <p:attrNameLst>
                                          <p:attrName>style.visibility</p:attrName>
                                        </p:attrNameLst>
                                      </p:cBhvr>
                                      <p:to>
                                        <p:strVal val="visible"/>
                                      </p:to>
                                    </p:set>
                                    <p:animEffect transition="in" filter="wipe(down)">
                                      <p:cBhvr>
                                        <p:cTn id="19" dur="500"/>
                                        <p:tgtEl>
                                          <p:spTgt spid="43"/>
                                        </p:tgtEl>
                                      </p:cBhvr>
                                    </p:animEffect>
                                  </p:childTnLst>
                                </p:cTn>
                              </p:par>
                              <p:par>
                                <p:cTn id="20" presetID="22" presetClass="entr" presetSubtype="4" fill="hold" grpId="0" nodeType="withEffect">
                                  <p:stCondLst>
                                    <p:cond delay="0"/>
                                  </p:stCondLst>
                                  <p:childTnLst>
                                    <p:set>
                                      <p:cBhvr>
                                        <p:cTn id="21" dur="1" fill="hold">
                                          <p:stCondLst>
                                            <p:cond delay="0"/>
                                          </p:stCondLst>
                                        </p:cTn>
                                        <p:tgtEl>
                                          <p:spTgt spid="44"/>
                                        </p:tgtEl>
                                        <p:attrNameLst>
                                          <p:attrName>style.visibility</p:attrName>
                                        </p:attrNameLst>
                                      </p:cBhvr>
                                      <p:to>
                                        <p:strVal val="visible"/>
                                      </p:to>
                                    </p:set>
                                    <p:animEffect transition="in" filter="wipe(down)">
                                      <p:cBhvr>
                                        <p:cTn id="22" dur="500"/>
                                        <p:tgtEl>
                                          <p:spTgt spid="44"/>
                                        </p:tgtEl>
                                      </p:cBhvr>
                                    </p:animEffect>
                                  </p:childTnLst>
                                </p:cTn>
                              </p:par>
                              <p:par>
                                <p:cTn id="23" presetID="22" presetClass="entr" presetSubtype="4" fill="hold" grpId="0" nodeType="withEffect">
                                  <p:stCondLst>
                                    <p:cond delay="0"/>
                                  </p:stCondLst>
                                  <p:childTnLst>
                                    <p:set>
                                      <p:cBhvr>
                                        <p:cTn id="24" dur="1" fill="hold">
                                          <p:stCondLst>
                                            <p:cond delay="0"/>
                                          </p:stCondLst>
                                        </p:cTn>
                                        <p:tgtEl>
                                          <p:spTgt spid="45"/>
                                        </p:tgtEl>
                                        <p:attrNameLst>
                                          <p:attrName>style.visibility</p:attrName>
                                        </p:attrNameLst>
                                      </p:cBhvr>
                                      <p:to>
                                        <p:strVal val="visible"/>
                                      </p:to>
                                    </p:set>
                                    <p:animEffect transition="in" filter="wipe(down)">
                                      <p:cBhvr>
                                        <p:cTn id="25" dur="500"/>
                                        <p:tgtEl>
                                          <p:spTgt spid="45"/>
                                        </p:tgtEl>
                                      </p:cBhvr>
                                    </p:animEffect>
                                  </p:childTnLst>
                                </p:cTn>
                              </p:par>
                              <p:par>
                                <p:cTn id="26" presetID="22" presetClass="entr" presetSubtype="4" fill="hold" grpId="0" nodeType="withEffect">
                                  <p:stCondLst>
                                    <p:cond delay="0"/>
                                  </p:stCondLst>
                                  <p:childTnLst>
                                    <p:set>
                                      <p:cBhvr>
                                        <p:cTn id="27" dur="1" fill="hold">
                                          <p:stCondLst>
                                            <p:cond delay="0"/>
                                          </p:stCondLst>
                                        </p:cTn>
                                        <p:tgtEl>
                                          <p:spTgt spid="46"/>
                                        </p:tgtEl>
                                        <p:attrNameLst>
                                          <p:attrName>style.visibility</p:attrName>
                                        </p:attrNameLst>
                                      </p:cBhvr>
                                      <p:to>
                                        <p:strVal val="visible"/>
                                      </p:to>
                                    </p:set>
                                    <p:animEffect transition="in" filter="wipe(down)">
                                      <p:cBhvr>
                                        <p:cTn id="28" dur="500"/>
                                        <p:tgtEl>
                                          <p:spTgt spid="46"/>
                                        </p:tgtEl>
                                      </p:cBhvr>
                                    </p:animEffect>
                                  </p:childTnLst>
                                </p:cTn>
                              </p:par>
                              <p:par>
                                <p:cTn id="29" presetID="22" presetClass="entr" presetSubtype="4" fill="hold" grpId="0" nodeType="withEffect">
                                  <p:stCondLst>
                                    <p:cond delay="0"/>
                                  </p:stCondLst>
                                  <p:childTnLst>
                                    <p:set>
                                      <p:cBhvr>
                                        <p:cTn id="30" dur="1" fill="hold">
                                          <p:stCondLst>
                                            <p:cond delay="0"/>
                                          </p:stCondLst>
                                        </p:cTn>
                                        <p:tgtEl>
                                          <p:spTgt spid="47"/>
                                        </p:tgtEl>
                                        <p:attrNameLst>
                                          <p:attrName>style.visibility</p:attrName>
                                        </p:attrNameLst>
                                      </p:cBhvr>
                                      <p:to>
                                        <p:strVal val="visible"/>
                                      </p:to>
                                    </p:set>
                                    <p:animEffect transition="in" filter="wipe(down)">
                                      <p:cBhvr>
                                        <p:cTn id="31" dur="500"/>
                                        <p:tgtEl>
                                          <p:spTgt spid="47"/>
                                        </p:tgtEl>
                                      </p:cBhvr>
                                    </p:animEffect>
                                  </p:childTnLst>
                                </p:cTn>
                              </p:par>
                              <p:par>
                                <p:cTn id="32" presetID="22" presetClass="entr" presetSubtype="4" fill="hold" grpId="0" nodeType="withEffect">
                                  <p:stCondLst>
                                    <p:cond delay="0"/>
                                  </p:stCondLst>
                                  <p:childTnLst>
                                    <p:set>
                                      <p:cBhvr>
                                        <p:cTn id="33" dur="1" fill="hold">
                                          <p:stCondLst>
                                            <p:cond delay="0"/>
                                          </p:stCondLst>
                                        </p:cTn>
                                        <p:tgtEl>
                                          <p:spTgt spid="51"/>
                                        </p:tgtEl>
                                        <p:attrNameLst>
                                          <p:attrName>style.visibility</p:attrName>
                                        </p:attrNameLst>
                                      </p:cBhvr>
                                      <p:to>
                                        <p:strVal val="visible"/>
                                      </p:to>
                                    </p:set>
                                    <p:animEffect transition="in" filter="wipe(down)">
                                      <p:cBhvr>
                                        <p:cTn id="34" dur="500"/>
                                        <p:tgtEl>
                                          <p:spTgt spid="51"/>
                                        </p:tgtEl>
                                      </p:cBhvr>
                                    </p:animEffect>
                                  </p:childTnLst>
                                </p:cTn>
                              </p:par>
                              <p:par>
                                <p:cTn id="35" presetID="22" presetClass="entr" presetSubtype="4" fill="hold" grpId="0" nodeType="withEffect">
                                  <p:stCondLst>
                                    <p:cond delay="0"/>
                                  </p:stCondLst>
                                  <p:childTnLst>
                                    <p:set>
                                      <p:cBhvr>
                                        <p:cTn id="36" dur="1" fill="hold">
                                          <p:stCondLst>
                                            <p:cond delay="0"/>
                                          </p:stCondLst>
                                        </p:cTn>
                                        <p:tgtEl>
                                          <p:spTgt spid="7"/>
                                        </p:tgtEl>
                                        <p:attrNameLst>
                                          <p:attrName>style.visibility</p:attrName>
                                        </p:attrNameLst>
                                      </p:cBhvr>
                                      <p:to>
                                        <p:strVal val="visible"/>
                                      </p:to>
                                    </p:set>
                                    <p:animEffect transition="in" filter="wipe(down)">
                                      <p:cBhvr>
                                        <p:cTn id="37" dur="500"/>
                                        <p:tgtEl>
                                          <p:spTgt spid="7"/>
                                        </p:tgtEl>
                                      </p:cBhvr>
                                    </p:animEffect>
                                  </p:childTnLst>
                                </p:cTn>
                              </p:par>
                              <p:par>
                                <p:cTn id="38" presetID="22" presetClass="entr" presetSubtype="4" fill="hold" grpId="0" nodeType="withEffect">
                                  <p:stCondLst>
                                    <p:cond delay="0"/>
                                  </p:stCondLst>
                                  <p:childTnLst>
                                    <p:set>
                                      <p:cBhvr>
                                        <p:cTn id="39" dur="1" fill="hold">
                                          <p:stCondLst>
                                            <p:cond delay="0"/>
                                          </p:stCondLst>
                                        </p:cTn>
                                        <p:tgtEl>
                                          <p:spTgt spid="8"/>
                                        </p:tgtEl>
                                        <p:attrNameLst>
                                          <p:attrName>style.visibility</p:attrName>
                                        </p:attrNameLst>
                                      </p:cBhvr>
                                      <p:to>
                                        <p:strVal val="visible"/>
                                      </p:to>
                                    </p:set>
                                    <p:animEffect transition="in" filter="wipe(down)">
                                      <p:cBhvr>
                                        <p:cTn id="40" dur="500"/>
                                        <p:tgtEl>
                                          <p:spTgt spid="8"/>
                                        </p:tgtEl>
                                      </p:cBhvr>
                                    </p:animEffect>
                                  </p:childTnLst>
                                </p:cTn>
                              </p:par>
                              <p:par>
                                <p:cTn id="41" presetID="22" presetClass="entr" presetSubtype="4" fill="hold" grpId="0" nodeType="withEffect">
                                  <p:stCondLst>
                                    <p:cond delay="0"/>
                                  </p:stCondLst>
                                  <p:childTnLst>
                                    <p:set>
                                      <p:cBhvr>
                                        <p:cTn id="42" dur="1" fill="hold">
                                          <p:stCondLst>
                                            <p:cond delay="0"/>
                                          </p:stCondLst>
                                        </p:cTn>
                                        <p:tgtEl>
                                          <p:spTgt spid="9"/>
                                        </p:tgtEl>
                                        <p:attrNameLst>
                                          <p:attrName>style.visibility</p:attrName>
                                        </p:attrNameLst>
                                      </p:cBhvr>
                                      <p:to>
                                        <p:strVal val="visible"/>
                                      </p:to>
                                    </p:set>
                                    <p:animEffect transition="in" filter="wipe(down)">
                                      <p:cBhvr>
                                        <p:cTn id="43" dur="500"/>
                                        <p:tgtEl>
                                          <p:spTgt spid="9"/>
                                        </p:tgtEl>
                                      </p:cBhvr>
                                    </p:animEffect>
                                  </p:childTnLst>
                                </p:cTn>
                              </p:par>
                              <p:par>
                                <p:cTn id="44" presetID="22" presetClass="entr" presetSubtype="4" fill="hold" grpId="0" nodeType="withEffect">
                                  <p:stCondLst>
                                    <p:cond delay="0"/>
                                  </p:stCondLst>
                                  <p:childTnLst>
                                    <p:set>
                                      <p:cBhvr>
                                        <p:cTn id="45" dur="1" fill="hold">
                                          <p:stCondLst>
                                            <p:cond delay="0"/>
                                          </p:stCondLst>
                                        </p:cTn>
                                        <p:tgtEl>
                                          <p:spTgt spid="10"/>
                                        </p:tgtEl>
                                        <p:attrNameLst>
                                          <p:attrName>style.visibility</p:attrName>
                                        </p:attrNameLst>
                                      </p:cBhvr>
                                      <p:to>
                                        <p:strVal val="visible"/>
                                      </p:to>
                                    </p:set>
                                    <p:animEffect transition="in" filter="wipe(down)">
                                      <p:cBhvr>
                                        <p:cTn id="46" dur="500"/>
                                        <p:tgtEl>
                                          <p:spTgt spid="10"/>
                                        </p:tgtEl>
                                      </p:cBhvr>
                                    </p:animEffect>
                                  </p:childTnLst>
                                </p:cTn>
                              </p:par>
                              <p:par>
                                <p:cTn id="47" presetID="22" presetClass="entr" presetSubtype="4" fill="hold" grpId="0" nodeType="withEffect">
                                  <p:stCondLst>
                                    <p:cond delay="0"/>
                                  </p:stCondLst>
                                  <p:childTnLst>
                                    <p:set>
                                      <p:cBhvr>
                                        <p:cTn id="48" dur="1" fill="hold">
                                          <p:stCondLst>
                                            <p:cond delay="0"/>
                                          </p:stCondLst>
                                        </p:cTn>
                                        <p:tgtEl>
                                          <p:spTgt spid="11"/>
                                        </p:tgtEl>
                                        <p:attrNameLst>
                                          <p:attrName>style.visibility</p:attrName>
                                        </p:attrNameLst>
                                      </p:cBhvr>
                                      <p:to>
                                        <p:strVal val="visible"/>
                                      </p:to>
                                    </p:set>
                                    <p:animEffect transition="in" filter="wipe(down)">
                                      <p:cBhvr>
                                        <p:cTn id="49" dur="500"/>
                                        <p:tgtEl>
                                          <p:spTgt spid="11"/>
                                        </p:tgtEl>
                                      </p:cBhvr>
                                    </p:animEffect>
                                  </p:childTnLst>
                                </p:cTn>
                              </p:par>
                              <p:par>
                                <p:cTn id="50" presetID="22" presetClass="entr" presetSubtype="4" fill="hold" grpId="0" nodeType="withEffect">
                                  <p:stCondLst>
                                    <p:cond delay="0"/>
                                  </p:stCondLst>
                                  <p:childTnLst>
                                    <p:set>
                                      <p:cBhvr>
                                        <p:cTn id="51" dur="1" fill="hold">
                                          <p:stCondLst>
                                            <p:cond delay="0"/>
                                          </p:stCondLst>
                                        </p:cTn>
                                        <p:tgtEl>
                                          <p:spTgt spid="12"/>
                                        </p:tgtEl>
                                        <p:attrNameLst>
                                          <p:attrName>style.visibility</p:attrName>
                                        </p:attrNameLst>
                                      </p:cBhvr>
                                      <p:to>
                                        <p:strVal val="visible"/>
                                      </p:to>
                                    </p:set>
                                    <p:animEffect transition="in" filter="wipe(down)">
                                      <p:cBhvr>
                                        <p:cTn id="52" dur="500"/>
                                        <p:tgtEl>
                                          <p:spTgt spid="12"/>
                                        </p:tgtEl>
                                      </p:cBhvr>
                                    </p:animEffect>
                                  </p:childTnLst>
                                </p:cTn>
                              </p:par>
                              <p:par>
                                <p:cTn id="53" presetID="22" presetClass="entr" presetSubtype="4" fill="hold" nodeType="withEffect">
                                  <p:stCondLst>
                                    <p:cond delay="0"/>
                                  </p:stCondLst>
                                  <p:childTnLst>
                                    <p:set>
                                      <p:cBhvr>
                                        <p:cTn id="54" dur="1" fill="hold">
                                          <p:stCondLst>
                                            <p:cond delay="0"/>
                                          </p:stCondLst>
                                        </p:cTn>
                                        <p:tgtEl>
                                          <p:spTgt spid="14"/>
                                        </p:tgtEl>
                                        <p:attrNameLst>
                                          <p:attrName>style.visibility</p:attrName>
                                        </p:attrNameLst>
                                      </p:cBhvr>
                                      <p:to>
                                        <p:strVal val="visible"/>
                                      </p:to>
                                    </p:set>
                                    <p:animEffect transition="in" filter="wipe(down)">
                                      <p:cBhvr>
                                        <p:cTn id="55" dur="500"/>
                                        <p:tgtEl>
                                          <p:spTgt spid="14"/>
                                        </p:tgtEl>
                                      </p:cBhvr>
                                    </p:animEffect>
                                  </p:childTnLst>
                                </p:cTn>
                              </p:par>
                              <p:par>
                                <p:cTn id="56" presetID="22" presetClass="entr" presetSubtype="4" fill="hold" nodeType="withEffect">
                                  <p:stCondLst>
                                    <p:cond delay="0"/>
                                  </p:stCondLst>
                                  <p:childTnLst>
                                    <p:set>
                                      <p:cBhvr>
                                        <p:cTn id="57" dur="1" fill="hold">
                                          <p:stCondLst>
                                            <p:cond delay="0"/>
                                          </p:stCondLst>
                                        </p:cTn>
                                        <p:tgtEl>
                                          <p:spTgt spid="15"/>
                                        </p:tgtEl>
                                        <p:attrNameLst>
                                          <p:attrName>style.visibility</p:attrName>
                                        </p:attrNameLst>
                                      </p:cBhvr>
                                      <p:to>
                                        <p:strVal val="visible"/>
                                      </p:to>
                                    </p:set>
                                    <p:animEffect transition="in" filter="wipe(down)">
                                      <p:cBhvr>
                                        <p:cTn id="58" dur="500"/>
                                        <p:tgtEl>
                                          <p:spTgt spid="15"/>
                                        </p:tgtEl>
                                      </p:cBhvr>
                                    </p:animEffect>
                                  </p:childTnLst>
                                </p:cTn>
                              </p:par>
                              <p:par>
                                <p:cTn id="59" presetID="22" presetClass="entr" presetSubtype="4" fill="hold" nodeType="withEffect">
                                  <p:stCondLst>
                                    <p:cond delay="0"/>
                                  </p:stCondLst>
                                  <p:childTnLst>
                                    <p:set>
                                      <p:cBhvr>
                                        <p:cTn id="60" dur="1" fill="hold">
                                          <p:stCondLst>
                                            <p:cond delay="0"/>
                                          </p:stCondLst>
                                        </p:cTn>
                                        <p:tgtEl>
                                          <p:spTgt spid="18"/>
                                        </p:tgtEl>
                                        <p:attrNameLst>
                                          <p:attrName>style.visibility</p:attrName>
                                        </p:attrNameLst>
                                      </p:cBhvr>
                                      <p:to>
                                        <p:strVal val="visible"/>
                                      </p:to>
                                    </p:set>
                                    <p:animEffect transition="in" filter="wipe(down)">
                                      <p:cBhvr>
                                        <p:cTn id="61" dur="500"/>
                                        <p:tgtEl>
                                          <p:spTgt spid="18"/>
                                        </p:tgtEl>
                                      </p:cBhvr>
                                    </p:animEffect>
                                  </p:childTnLst>
                                </p:cTn>
                              </p:par>
                              <p:par>
                                <p:cTn id="62" presetID="22" presetClass="entr" presetSubtype="4" fill="hold" nodeType="withEffect">
                                  <p:stCondLst>
                                    <p:cond delay="0"/>
                                  </p:stCondLst>
                                  <p:childTnLst>
                                    <p:set>
                                      <p:cBhvr>
                                        <p:cTn id="63" dur="1" fill="hold">
                                          <p:stCondLst>
                                            <p:cond delay="0"/>
                                          </p:stCondLst>
                                        </p:cTn>
                                        <p:tgtEl>
                                          <p:spTgt spid="21"/>
                                        </p:tgtEl>
                                        <p:attrNameLst>
                                          <p:attrName>style.visibility</p:attrName>
                                        </p:attrNameLst>
                                      </p:cBhvr>
                                      <p:to>
                                        <p:strVal val="visible"/>
                                      </p:to>
                                    </p:set>
                                    <p:animEffect transition="in" filter="wipe(down)">
                                      <p:cBhvr>
                                        <p:cTn id="64" dur="500"/>
                                        <p:tgtEl>
                                          <p:spTgt spid="21"/>
                                        </p:tgtEl>
                                      </p:cBhvr>
                                    </p:animEffect>
                                  </p:childTnLst>
                                </p:cTn>
                              </p:par>
                              <p:par>
                                <p:cTn id="65" presetID="22" presetClass="entr" presetSubtype="4" fill="hold" nodeType="withEffect">
                                  <p:stCondLst>
                                    <p:cond delay="0"/>
                                  </p:stCondLst>
                                  <p:childTnLst>
                                    <p:set>
                                      <p:cBhvr>
                                        <p:cTn id="66" dur="1" fill="hold">
                                          <p:stCondLst>
                                            <p:cond delay="0"/>
                                          </p:stCondLst>
                                        </p:cTn>
                                        <p:tgtEl>
                                          <p:spTgt spid="24"/>
                                        </p:tgtEl>
                                        <p:attrNameLst>
                                          <p:attrName>style.visibility</p:attrName>
                                        </p:attrNameLst>
                                      </p:cBhvr>
                                      <p:to>
                                        <p:strVal val="visible"/>
                                      </p:to>
                                    </p:set>
                                    <p:animEffect transition="in" filter="wipe(down)">
                                      <p:cBhvr>
                                        <p:cTn id="67" dur="500"/>
                                        <p:tgtEl>
                                          <p:spTgt spid="24"/>
                                        </p:tgtEl>
                                      </p:cBhvr>
                                    </p:animEffect>
                                  </p:childTnLst>
                                </p:cTn>
                              </p:par>
                              <p:par>
                                <p:cTn id="68" presetID="22" presetClass="entr" presetSubtype="4" fill="hold" nodeType="withEffect">
                                  <p:stCondLst>
                                    <p:cond delay="0"/>
                                  </p:stCondLst>
                                  <p:childTnLst>
                                    <p:set>
                                      <p:cBhvr>
                                        <p:cTn id="69" dur="1" fill="hold">
                                          <p:stCondLst>
                                            <p:cond delay="0"/>
                                          </p:stCondLst>
                                        </p:cTn>
                                        <p:tgtEl>
                                          <p:spTgt spid="28"/>
                                        </p:tgtEl>
                                        <p:attrNameLst>
                                          <p:attrName>style.visibility</p:attrName>
                                        </p:attrNameLst>
                                      </p:cBhvr>
                                      <p:to>
                                        <p:strVal val="visible"/>
                                      </p:to>
                                    </p:set>
                                    <p:animEffect transition="in" filter="wipe(down)">
                                      <p:cBhvr>
                                        <p:cTn id="70" dur="500"/>
                                        <p:tgtEl>
                                          <p:spTgt spid="28"/>
                                        </p:tgtEl>
                                      </p:cBhvr>
                                    </p:animEffect>
                                  </p:childTnLst>
                                </p:cTn>
                              </p:par>
                              <p:par>
                                <p:cTn id="71" presetID="22" presetClass="entr" presetSubtype="4" fill="hold" nodeType="withEffect">
                                  <p:stCondLst>
                                    <p:cond delay="0"/>
                                  </p:stCondLst>
                                  <p:childTnLst>
                                    <p:set>
                                      <p:cBhvr>
                                        <p:cTn id="72" dur="1" fill="hold">
                                          <p:stCondLst>
                                            <p:cond delay="0"/>
                                          </p:stCondLst>
                                        </p:cTn>
                                        <p:tgtEl>
                                          <p:spTgt spid="30"/>
                                        </p:tgtEl>
                                        <p:attrNameLst>
                                          <p:attrName>style.visibility</p:attrName>
                                        </p:attrNameLst>
                                      </p:cBhvr>
                                      <p:to>
                                        <p:strVal val="visible"/>
                                      </p:to>
                                    </p:set>
                                    <p:animEffect transition="in" filter="wipe(down)">
                                      <p:cBhvr>
                                        <p:cTn id="73" dur="500"/>
                                        <p:tgtEl>
                                          <p:spTgt spid="30"/>
                                        </p:tgtEl>
                                      </p:cBhvr>
                                    </p:animEffect>
                                  </p:childTnLst>
                                </p:cTn>
                              </p:par>
                              <p:par>
                                <p:cTn id="74" presetID="22" presetClass="entr" presetSubtype="4" fill="hold" nodeType="withEffect">
                                  <p:stCondLst>
                                    <p:cond delay="0"/>
                                  </p:stCondLst>
                                  <p:childTnLst>
                                    <p:set>
                                      <p:cBhvr>
                                        <p:cTn id="75" dur="1" fill="hold">
                                          <p:stCondLst>
                                            <p:cond delay="0"/>
                                          </p:stCondLst>
                                        </p:cTn>
                                        <p:tgtEl>
                                          <p:spTgt spid="33"/>
                                        </p:tgtEl>
                                        <p:attrNameLst>
                                          <p:attrName>style.visibility</p:attrName>
                                        </p:attrNameLst>
                                      </p:cBhvr>
                                      <p:to>
                                        <p:strVal val="visible"/>
                                      </p:to>
                                    </p:set>
                                    <p:animEffect transition="in" filter="wipe(down)">
                                      <p:cBhvr>
                                        <p:cTn id="76" dur="500"/>
                                        <p:tgtEl>
                                          <p:spTgt spid="33"/>
                                        </p:tgtEl>
                                      </p:cBhvr>
                                    </p:animEffect>
                                  </p:childTnLst>
                                </p:cTn>
                              </p:par>
                              <p:par>
                                <p:cTn id="77" presetID="22" presetClass="entr" presetSubtype="4" fill="hold" nodeType="withEffect">
                                  <p:stCondLst>
                                    <p:cond delay="0"/>
                                  </p:stCondLst>
                                  <p:childTnLst>
                                    <p:set>
                                      <p:cBhvr>
                                        <p:cTn id="78" dur="1" fill="hold">
                                          <p:stCondLst>
                                            <p:cond delay="0"/>
                                          </p:stCondLst>
                                        </p:cTn>
                                        <p:tgtEl>
                                          <p:spTgt spid="36"/>
                                        </p:tgtEl>
                                        <p:attrNameLst>
                                          <p:attrName>style.visibility</p:attrName>
                                        </p:attrNameLst>
                                      </p:cBhvr>
                                      <p:to>
                                        <p:strVal val="visible"/>
                                      </p:to>
                                    </p:set>
                                    <p:animEffect transition="in" filter="wipe(down)">
                                      <p:cBhvr>
                                        <p:cTn id="79" dur="500"/>
                                        <p:tgtEl>
                                          <p:spTgt spid="36"/>
                                        </p:tgtEl>
                                      </p:cBhvr>
                                    </p:animEffect>
                                  </p:childTnLst>
                                </p:cTn>
                              </p:par>
                              <p:par>
                                <p:cTn id="80" presetID="22" presetClass="entr" presetSubtype="4" fill="hold" nodeType="withEffect">
                                  <p:stCondLst>
                                    <p:cond delay="0"/>
                                  </p:stCondLst>
                                  <p:childTnLst>
                                    <p:set>
                                      <p:cBhvr>
                                        <p:cTn id="81" dur="1" fill="hold">
                                          <p:stCondLst>
                                            <p:cond delay="0"/>
                                          </p:stCondLst>
                                        </p:cTn>
                                        <p:tgtEl>
                                          <p:spTgt spid="48"/>
                                        </p:tgtEl>
                                        <p:attrNameLst>
                                          <p:attrName>style.visibility</p:attrName>
                                        </p:attrNameLst>
                                      </p:cBhvr>
                                      <p:to>
                                        <p:strVal val="visible"/>
                                      </p:to>
                                    </p:set>
                                    <p:animEffect transition="in" filter="wipe(down)">
                                      <p:cBhvr>
                                        <p:cTn id="82" dur="500"/>
                                        <p:tgtEl>
                                          <p:spTgt spid="48"/>
                                        </p:tgtEl>
                                      </p:cBhvr>
                                    </p:animEffect>
                                  </p:childTnLst>
                                </p:cTn>
                              </p:par>
                              <p:par>
                                <p:cTn id="83" presetID="22" presetClass="entr" presetSubtype="4" fill="hold" nodeType="withEffect">
                                  <p:stCondLst>
                                    <p:cond delay="0"/>
                                  </p:stCondLst>
                                  <p:childTnLst>
                                    <p:set>
                                      <p:cBhvr>
                                        <p:cTn id="84" dur="1" fill="hold">
                                          <p:stCondLst>
                                            <p:cond delay="0"/>
                                          </p:stCondLst>
                                        </p:cTn>
                                        <p:tgtEl>
                                          <p:spTgt spid="54">
                                            <p:txEl>
                                              <p:pRg st="0" end="0"/>
                                            </p:txEl>
                                          </p:spTgt>
                                        </p:tgtEl>
                                        <p:attrNameLst>
                                          <p:attrName>style.visibility</p:attrName>
                                        </p:attrNameLst>
                                      </p:cBhvr>
                                      <p:to>
                                        <p:strVal val="visible"/>
                                      </p:to>
                                    </p:set>
                                    <p:animEffect transition="in" filter="wipe(down)">
                                      <p:cBhvr>
                                        <p:cTn id="85" dur="500"/>
                                        <p:tgtEl>
                                          <p:spTgt spid="54">
                                            <p:txEl>
                                              <p:pRg st="0" end="0"/>
                                            </p:txEl>
                                          </p:spTgt>
                                        </p:tgtEl>
                                      </p:cBhvr>
                                    </p:animEffect>
                                  </p:childTnLst>
                                </p:cTn>
                              </p:par>
                              <p:par>
                                <p:cTn id="86" presetID="22" presetClass="entr" presetSubtype="4" fill="hold" nodeType="withEffect">
                                  <p:stCondLst>
                                    <p:cond delay="0"/>
                                  </p:stCondLst>
                                  <p:childTnLst>
                                    <p:set>
                                      <p:cBhvr>
                                        <p:cTn id="87" dur="1" fill="hold">
                                          <p:stCondLst>
                                            <p:cond delay="0"/>
                                          </p:stCondLst>
                                        </p:cTn>
                                        <p:tgtEl>
                                          <p:spTgt spid="54">
                                            <p:txEl>
                                              <p:pRg st="1" end="1"/>
                                            </p:txEl>
                                          </p:spTgt>
                                        </p:tgtEl>
                                        <p:attrNameLst>
                                          <p:attrName>style.visibility</p:attrName>
                                        </p:attrNameLst>
                                      </p:cBhvr>
                                      <p:to>
                                        <p:strVal val="visible"/>
                                      </p:to>
                                    </p:set>
                                    <p:animEffect transition="in" filter="wipe(down)">
                                      <p:cBhvr>
                                        <p:cTn id="88" dur="500"/>
                                        <p:tgtEl>
                                          <p:spTgt spid="54">
                                            <p:txEl>
                                              <p:pRg st="1" end="1"/>
                                            </p:txEl>
                                          </p:spTgt>
                                        </p:tgtEl>
                                      </p:cBhvr>
                                    </p:animEffect>
                                  </p:childTnLst>
                                </p:cTn>
                              </p:par>
                              <p:par>
                                <p:cTn id="89" presetID="10" presetClass="entr" presetSubtype="0" fill="hold" nodeType="withEffect">
                                  <p:stCondLst>
                                    <p:cond delay="0"/>
                                  </p:stCondLst>
                                  <p:childTnLst>
                                    <p:set>
                                      <p:cBhvr>
                                        <p:cTn id="90" dur="1" fill="hold">
                                          <p:stCondLst>
                                            <p:cond delay="0"/>
                                          </p:stCondLst>
                                        </p:cTn>
                                        <p:tgtEl>
                                          <p:spTgt spid="54">
                                            <p:txEl>
                                              <p:pRg st="2" end="2"/>
                                            </p:txEl>
                                          </p:spTgt>
                                        </p:tgtEl>
                                        <p:attrNameLst>
                                          <p:attrName>style.visibility</p:attrName>
                                        </p:attrNameLst>
                                      </p:cBhvr>
                                      <p:to>
                                        <p:strVal val="visible"/>
                                      </p:to>
                                    </p:set>
                                    <p:animEffect transition="in" filter="fade">
                                      <p:cBhvr>
                                        <p:cTn id="91" dur="500"/>
                                        <p:tgtEl>
                                          <p:spTgt spid="54">
                                            <p:txEl>
                                              <p:pRg st="2" end="2"/>
                                            </p:txEl>
                                          </p:spTgt>
                                        </p:tgtEl>
                                      </p:cBhvr>
                                    </p:animEffect>
                                  </p:childTnLst>
                                </p:cTn>
                              </p:par>
                            </p:childTnLst>
                          </p:cTn>
                        </p:par>
                      </p:childTnLst>
                    </p:cTn>
                  </p:par>
                  <p:par>
                    <p:cTn id="92" fill="hold">
                      <p:stCondLst>
                        <p:cond delay="indefinite"/>
                      </p:stCondLst>
                      <p:childTnLst>
                        <p:par>
                          <p:cTn id="93" fill="hold">
                            <p:stCondLst>
                              <p:cond delay="0"/>
                            </p:stCondLst>
                            <p:childTnLst>
                              <p:par>
                                <p:cTn id="94" presetID="22" presetClass="entr" presetSubtype="4" fill="hold" nodeType="clickEffect">
                                  <p:stCondLst>
                                    <p:cond delay="0"/>
                                  </p:stCondLst>
                                  <p:childTnLst>
                                    <p:set>
                                      <p:cBhvr>
                                        <p:cTn id="95" dur="1" fill="hold">
                                          <p:stCondLst>
                                            <p:cond delay="0"/>
                                          </p:stCondLst>
                                        </p:cTn>
                                        <p:tgtEl>
                                          <p:spTgt spid="54">
                                            <p:txEl>
                                              <p:pRg st="3" end="3"/>
                                            </p:txEl>
                                          </p:spTgt>
                                        </p:tgtEl>
                                        <p:attrNameLst>
                                          <p:attrName>style.visibility</p:attrName>
                                        </p:attrNameLst>
                                      </p:cBhvr>
                                      <p:to>
                                        <p:strVal val="visible"/>
                                      </p:to>
                                    </p:set>
                                    <p:animEffect transition="in" filter="wipe(down)">
                                      <p:cBhvr>
                                        <p:cTn id="96" dur="500"/>
                                        <p:tgtEl>
                                          <p:spTgt spid="54">
                                            <p:txEl>
                                              <p:pRg st="3" end="3"/>
                                            </p:txEl>
                                          </p:spTgt>
                                        </p:tgtEl>
                                      </p:cBhvr>
                                    </p:animEffect>
                                  </p:childTnLst>
                                </p:cTn>
                              </p:par>
                            </p:childTnLst>
                          </p:cTn>
                        </p:par>
                      </p:childTnLst>
                    </p:cTn>
                  </p:par>
                  <p:par>
                    <p:cTn id="97" fill="hold">
                      <p:stCondLst>
                        <p:cond delay="indefinite"/>
                      </p:stCondLst>
                      <p:childTnLst>
                        <p:par>
                          <p:cTn id="98" fill="hold">
                            <p:stCondLst>
                              <p:cond delay="0"/>
                            </p:stCondLst>
                            <p:childTnLst>
                              <p:par>
                                <p:cTn id="99" presetID="22" presetClass="entr" presetSubtype="4" fill="hold" nodeType="clickEffect">
                                  <p:stCondLst>
                                    <p:cond delay="0"/>
                                  </p:stCondLst>
                                  <p:childTnLst>
                                    <p:set>
                                      <p:cBhvr>
                                        <p:cTn id="100" dur="1" fill="hold">
                                          <p:stCondLst>
                                            <p:cond delay="0"/>
                                          </p:stCondLst>
                                        </p:cTn>
                                        <p:tgtEl>
                                          <p:spTgt spid="54">
                                            <p:txEl>
                                              <p:pRg st="4" end="4"/>
                                            </p:txEl>
                                          </p:spTgt>
                                        </p:tgtEl>
                                        <p:attrNameLst>
                                          <p:attrName>style.visibility</p:attrName>
                                        </p:attrNameLst>
                                      </p:cBhvr>
                                      <p:to>
                                        <p:strVal val="visible"/>
                                      </p:to>
                                    </p:set>
                                    <p:animEffect transition="in" filter="wipe(down)">
                                      <p:cBhvr>
                                        <p:cTn id="101" dur="500"/>
                                        <p:tgtEl>
                                          <p:spTgt spid="54">
                                            <p:txEl>
                                              <p:pRg st="4" end="4"/>
                                            </p:txEl>
                                          </p:spTgt>
                                        </p:tgtEl>
                                      </p:cBhvr>
                                    </p:animEffect>
                                  </p:childTnLst>
                                </p:cTn>
                              </p:par>
                            </p:childTnLst>
                          </p:cTn>
                        </p:par>
                      </p:childTnLst>
                    </p:cTn>
                  </p:par>
                  <p:par>
                    <p:cTn id="102" fill="hold">
                      <p:stCondLst>
                        <p:cond delay="indefinite"/>
                      </p:stCondLst>
                      <p:childTnLst>
                        <p:par>
                          <p:cTn id="103" fill="hold">
                            <p:stCondLst>
                              <p:cond delay="0"/>
                            </p:stCondLst>
                            <p:childTnLst>
                              <p:par>
                                <p:cTn id="104" presetID="22" presetClass="entr" presetSubtype="4" fill="hold" nodeType="clickEffect">
                                  <p:stCondLst>
                                    <p:cond delay="0"/>
                                  </p:stCondLst>
                                  <p:childTnLst>
                                    <p:set>
                                      <p:cBhvr>
                                        <p:cTn id="105" dur="1" fill="hold">
                                          <p:stCondLst>
                                            <p:cond delay="0"/>
                                          </p:stCondLst>
                                        </p:cTn>
                                        <p:tgtEl>
                                          <p:spTgt spid="54">
                                            <p:txEl>
                                              <p:pRg st="5" end="5"/>
                                            </p:txEl>
                                          </p:spTgt>
                                        </p:tgtEl>
                                        <p:attrNameLst>
                                          <p:attrName>style.visibility</p:attrName>
                                        </p:attrNameLst>
                                      </p:cBhvr>
                                      <p:to>
                                        <p:strVal val="visible"/>
                                      </p:to>
                                    </p:set>
                                    <p:animEffect transition="in" filter="wipe(down)">
                                      <p:cBhvr>
                                        <p:cTn id="106" dur="500"/>
                                        <p:tgtEl>
                                          <p:spTgt spid="54">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animBg="1"/>
      <p:bldP spid="9" grpId="0" animBg="1"/>
      <p:bldP spid="10" grpId="0" animBg="1"/>
      <p:bldP spid="11" grpId="0" animBg="1"/>
      <p:bldP spid="12" grpId="0" animBg="1"/>
      <p:bldP spid="39" grpId="0"/>
      <p:bldP spid="40" grpId="0"/>
      <p:bldP spid="41" grpId="0"/>
      <p:bldP spid="42" grpId="0"/>
      <p:bldP spid="43" grpId="0"/>
      <p:bldP spid="44" grpId="0"/>
      <p:bldP spid="45" grpId="0"/>
      <p:bldP spid="46" grpId="0"/>
      <p:bldP spid="47" grpId="0"/>
      <p:bldP spid="51" grpId="0"/>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7A011CB-1A3D-4B7B-B42B-30E28726A50A}"/>
              </a:ext>
            </a:extLst>
          </p:cNvPr>
          <p:cNvSpPr>
            <a:spLocks noGrp="1"/>
          </p:cNvSpPr>
          <p:nvPr>
            <p:ph type="title"/>
          </p:nvPr>
        </p:nvSpPr>
        <p:spPr/>
        <p:txBody>
          <a:bodyPr/>
          <a:lstStyle/>
          <a:p>
            <a:r>
              <a:rPr lang="zh-CN" altLang="en-US" dirty="0"/>
              <a:t>蚁群算法路径选择示例</a:t>
            </a:r>
          </a:p>
        </p:txBody>
      </p:sp>
      <p:sp>
        <p:nvSpPr>
          <p:cNvPr id="4" name="日期占位符 3">
            <a:extLst>
              <a:ext uri="{FF2B5EF4-FFF2-40B4-BE49-F238E27FC236}">
                <a16:creationId xmlns:a16="http://schemas.microsoft.com/office/drawing/2014/main" id="{C8FF5ED8-6C82-4136-8DDF-CC0DE10F1D2C}"/>
              </a:ext>
            </a:extLst>
          </p:cNvPr>
          <p:cNvSpPr>
            <a:spLocks noGrp="1"/>
          </p:cNvSpPr>
          <p:nvPr>
            <p:ph type="dt" sz="half" idx="10"/>
          </p:nvPr>
        </p:nvSpPr>
        <p:spPr/>
        <p:txBody>
          <a:bodyPr/>
          <a:lstStyle/>
          <a:p>
            <a:fld id="{A8B06C41-1E1E-4B9B-9644-5AFB8CB2AB3B}" type="datetime3">
              <a:rPr lang="zh-CN" altLang="en-US" smtClean="0"/>
              <a:t>2022年11月24日星期四</a:t>
            </a:fld>
            <a:endParaRPr lang="en-US" altLang="zh-CN" dirty="0"/>
          </a:p>
        </p:txBody>
      </p:sp>
      <p:sp>
        <p:nvSpPr>
          <p:cNvPr id="5" name="灯片编号占位符 4">
            <a:extLst>
              <a:ext uri="{FF2B5EF4-FFF2-40B4-BE49-F238E27FC236}">
                <a16:creationId xmlns:a16="http://schemas.microsoft.com/office/drawing/2014/main" id="{A28B5E12-4342-49BE-A1C9-A0D742EA0649}"/>
              </a:ext>
            </a:extLst>
          </p:cNvPr>
          <p:cNvSpPr>
            <a:spLocks noGrp="1"/>
          </p:cNvSpPr>
          <p:nvPr>
            <p:ph type="sldNum" sz="quarter" idx="12"/>
          </p:nvPr>
        </p:nvSpPr>
        <p:spPr/>
        <p:txBody>
          <a:bodyPr/>
          <a:lstStyle/>
          <a:p>
            <a:fld id="{7AC79822-BC0D-4DE8-A7E5-90A3732A2B82}" type="slidenum">
              <a:rPr lang="zh-CN" altLang="en-US" smtClean="0"/>
              <a:pPr/>
              <a:t>31</a:t>
            </a:fld>
            <a:endParaRPr lang="en-US" altLang="zh-CN" dirty="0"/>
          </a:p>
        </p:txBody>
      </p:sp>
      <p:graphicFrame>
        <p:nvGraphicFramePr>
          <p:cNvPr id="6" name="图表 5">
            <a:extLst>
              <a:ext uri="{FF2B5EF4-FFF2-40B4-BE49-F238E27FC236}">
                <a16:creationId xmlns:a16="http://schemas.microsoft.com/office/drawing/2014/main" id="{0B2E3D32-AC04-4582-BE04-173AEFD6712E}"/>
              </a:ext>
            </a:extLst>
          </p:cNvPr>
          <p:cNvGraphicFramePr/>
          <p:nvPr>
            <p:extLst>
              <p:ext uri="{D42A27DB-BD31-4B8C-83A1-F6EECF244321}">
                <p14:modId xmlns:p14="http://schemas.microsoft.com/office/powerpoint/2010/main" val="1105354980"/>
              </p:ext>
            </p:extLst>
          </p:nvPr>
        </p:nvGraphicFramePr>
        <p:xfrm>
          <a:off x="-177604" y="1422053"/>
          <a:ext cx="3132413" cy="2141686"/>
        </p:xfrm>
        <a:graphic>
          <a:graphicData uri="http://schemas.openxmlformats.org/drawingml/2006/chart">
            <c:chart xmlns:c="http://schemas.openxmlformats.org/drawingml/2006/chart" xmlns:r="http://schemas.openxmlformats.org/officeDocument/2006/relationships" r:id="rId2"/>
          </a:graphicData>
        </a:graphic>
      </p:graphicFrame>
      <p:sp>
        <p:nvSpPr>
          <p:cNvPr id="7" name="椭圆 6">
            <a:extLst>
              <a:ext uri="{FF2B5EF4-FFF2-40B4-BE49-F238E27FC236}">
                <a16:creationId xmlns:a16="http://schemas.microsoft.com/office/drawing/2014/main" id="{585699A0-D0FD-42B3-BF81-6E31FBBBE722}"/>
              </a:ext>
            </a:extLst>
          </p:cNvPr>
          <p:cNvSpPr/>
          <p:nvPr/>
        </p:nvSpPr>
        <p:spPr bwMode="auto">
          <a:xfrm>
            <a:off x="8265368" y="1268181"/>
            <a:ext cx="504056" cy="504056"/>
          </a:xfrm>
          <a:prstGeom prst="ellipse">
            <a:avLst/>
          </a:prstGeom>
          <a:no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kumimoji="0" lang="en-US" altLang="zh-CN" sz="2400" b="0" i="0" u="none" strike="noStrike" cap="none" normalizeH="0" baseline="0" dirty="0">
                <a:ln>
                  <a:noFill/>
                </a:ln>
                <a:solidFill>
                  <a:schemeClr val="tx1"/>
                </a:solidFill>
                <a:effectLst/>
                <a:latin typeface="Arial" charset="0"/>
              </a:rPr>
              <a:t>1</a:t>
            </a:r>
            <a:endParaRPr kumimoji="0" lang="zh-CN" altLang="en-US" sz="2400" b="0" i="0" u="none" strike="noStrike" cap="none" normalizeH="0" baseline="0" dirty="0">
              <a:ln>
                <a:noFill/>
              </a:ln>
              <a:solidFill>
                <a:schemeClr val="tx1"/>
              </a:solidFill>
              <a:effectLst/>
              <a:latin typeface="Arial" charset="0"/>
            </a:endParaRPr>
          </a:p>
        </p:txBody>
      </p:sp>
      <p:sp>
        <p:nvSpPr>
          <p:cNvPr id="8" name="椭圆 7">
            <a:extLst>
              <a:ext uri="{FF2B5EF4-FFF2-40B4-BE49-F238E27FC236}">
                <a16:creationId xmlns:a16="http://schemas.microsoft.com/office/drawing/2014/main" id="{479BEA2E-AF02-4E0B-B749-0AC1FC97D91F}"/>
              </a:ext>
            </a:extLst>
          </p:cNvPr>
          <p:cNvSpPr/>
          <p:nvPr/>
        </p:nvSpPr>
        <p:spPr bwMode="auto">
          <a:xfrm>
            <a:off x="8265368" y="4077072"/>
            <a:ext cx="504056" cy="504056"/>
          </a:xfrm>
          <a:prstGeom prst="ellipse">
            <a:avLst/>
          </a:prstGeom>
          <a:no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kumimoji="0" lang="en-US" altLang="zh-CN" sz="2400" b="0" i="0" u="none" strike="noStrike" cap="none" normalizeH="0" baseline="0" dirty="0">
                <a:ln>
                  <a:noFill/>
                </a:ln>
                <a:solidFill>
                  <a:schemeClr val="tx1"/>
                </a:solidFill>
                <a:effectLst/>
                <a:latin typeface="Arial" charset="0"/>
              </a:rPr>
              <a:t>3</a:t>
            </a:r>
            <a:endParaRPr kumimoji="0" lang="zh-CN" altLang="en-US" sz="2400" b="0" i="0" u="none" strike="noStrike" cap="none" normalizeH="0" baseline="0" dirty="0">
              <a:ln>
                <a:noFill/>
              </a:ln>
              <a:solidFill>
                <a:schemeClr val="tx1"/>
              </a:solidFill>
              <a:effectLst/>
              <a:latin typeface="Arial" charset="0"/>
            </a:endParaRPr>
          </a:p>
        </p:txBody>
      </p:sp>
      <p:sp>
        <p:nvSpPr>
          <p:cNvPr id="9" name="椭圆 8">
            <a:extLst>
              <a:ext uri="{FF2B5EF4-FFF2-40B4-BE49-F238E27FC236}">
                <a16:creationId xmlns:a16="http://schemas.microsoft.com/office/drawing/2014/main" id="{30D462FF-4CC4-41A4-996D-2E6EFEDED080}"/>
              </a:ext>
            </a:extLst>
          </p:cNvPr>
          <p:cNvSpPr/>
          <p:nvPr/>
        </p:nvSpPr>
        <p:spPr bwMode="auto">
          <a:xfrm>
            <a:off x="9273480" y="5013176"/>
            <a:ext cx="504056" cy="504056"/>
          </a:xfrm>
          <a:prstGeom prst="ellipse">
            <a:avLst/>
          </a:prstGeom>
          <a:no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kumimoji="0" lang="en-US" altLang="zh-CN" sz="2400" b="0" i="0" u="none" strike="noStrike" cap="none" normalizeH="0" baseline="0" dirty="0">
                <a:ln>
                  <a:noFill/>
                </a:ln>
                <a:solidFill>
                  <a:schemeClr val="tx1"/>
                </a:solidFill>
                <a:effectLst/>
                <a:latin typeface="Arial" charset="0"/>
              </a:rPr>
              <a:t>6</a:t>
            </a:r>
            <a:endParaRPr kumimoji="0" lang="zh-CN" altLang="en-US" sz="2400" b="0" i="0" u="none" strike="noStrike" cap="none" normalizeH="0" baseline="0" dirty="0">
              <a:ln>
                <a:noFill/>
              </a:ln>
              <a:solidFill>
                <a:schemeClr val="tx1"/>
              </a:solidFill>
              <a:effectLst/>
              <a:latin typeface="Arial" charset="0"/>
            </a:endParaRPr>
          </a:p>
        </p:txBody>
      </p:sp>
      <p:sp>
        <p:nvSpPr>
          <p:cNvPr id="10" name="椭圆 9">
            <a:extLst>
              <a:ext uri="{FF2B5EF4-FFF2-40B4-BE49-F238E27FC236}">
                <a16:creationId xmlns:a16="http://schemas.microsoft.com/office/drawing/2014/main" id="{B6A8D01D-022A-4610-AF10-0765998E8419}"/>
              </a:ext>
            </a:extLst>
          </p:cNvPr>
          <p:cNvSpPr/>
          <p:nvPr/>
        </p:nvSpPr>
        <p:spPr bwMode="auto">
          <a:xfrm>
            <a:off x="7545288" y="5013176"/>
            <a:ext cx="504056" cy="504056"/>
          </a:xfrm>
          <a:prstGeom prst="ellipse">
            <a:avLst/>
          </a:prstGeom>
          <a:no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kumimoji="0" lang="en-US" altLang="zh-CN" sz="2400" b="0" i="0" u="none" strike="noStrike" cap="none" normalizeH="0" baseline="0" dirty="0">
                <a:ln>
                  <a:noFill/>
                </a:ln>
                <a:solidFill>
                  <a:schemeClr val="tx1"/>
                </a:solidFill>
                <a:effectLst/>
                <a:latin typeface="Arial" charset="0"/>
              </a:rPr>
              <a:t>5</a:t>
            </a:r>
            <a:endParaRPr kumimoji="0" lang="zh-CN" altLang="en-US" sz="2400" b="0" i="0" u="none" strike="noStrike" cap="none" normalizeH="0" baseline="0" dirty="0">
              <a:ln>
                <a:noFill/>
              </a:ln>
              <a:solidFill>
                <a:schemeClr val="tx1"/>
              </a:solidFill>
              <a:effectLst/>
              <a:latin typeface="Arial" charset="0"/>
            </a:endParaRPr>
          </a:p>
        </p:txBody>
      </p:sp>
      <p:sp>
        <p:nvSpPr>
          <p:cNvPr id="11" name="椭圆 10">
            <a:extLst>
              <a:ext uri="{FF2B5EF4-FFF2-40B4-BE49-F238E27FC236}">
                <a16:creationId xmlns:a16="http://schemas.microsoft.com/office/drawing/2014/main" id="{34647C51-FF2F-413B-B179-CCB10D49A71A}"/>
              </a:ext>
            </a:extLst>
          </p:cNvPr>
          <p:cNvSpPr/>
          <p:nvPr/>
        </p:nvSpPr>
        <p:spPr bwMode="auto">
          <a:xfrm>
            <a:off x="7545288" y="2492896"/>
            <a:ext cx="504056" cy="504056"/>
          </a:xfrm>
          <a:prstGeom prst="ellipse">
            <a:avLst/>
          </a:prstGeom>
          <a:no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kumimoji="0" lang="en-US" altLang="zh-CN" sz="2400" b="0" i="0" u="none" strike="noStrike" cap="none" normalizeH="0" baseline="0" dirty="0">
                <a:ln>
                  <a:noFill/>
                </a:ln>
                <a:solidFill>
                  <a:schemeClr val="tx1"/>
                </a:solidFill>
                <a:effectLst/>
                <a:latin typeface="Arial" charset="0"/>
              </a:rPr>
              <a:t>2</a:t>
            </a:r>
            <a:endParaRPr kumimoji="0" lang="zh-CN" altLang="en-US" sz="2400" b="0" i="0" u="none" strike="noStrike" cap="none" normalizeH="0" baseline="0" dirty="0">
              <a:ln>
                <a:noFill/>
              </a:ln>
              <a:solidFill>
                <a:schemeClr val="tx1"/>
              </a:solidFill>
              <a:effectLst/>
              <a:latin typeface="Arial" charset="0"/>
            </a:endParaRPr>
          </a:p>
        </p:txBody>
      </p:sp>
      <p:sp>
        <p:nvSpPr>
          <p:cNvPr id="12" name="椭圆 11">
            <a:extLst>
              <a:ext uri="{FF2B5EF4-FFF2-40B4-BE49-F238E27FC236}">
                <a16:creationId xmlns:a16="http://schemas.microsoft.com/office/drawing/2014/main" id="{D4905336-0D24-4F5B-B3B6-777AC5838F18}"/>
              </a:ext>
            </a:extLst>
          </p:cNvPr>
          <p:cNvSpPr/>
          <p:nvPr/>
        </p:nvSpPr>
        <p:spPr bwMode="auto">
          <a:xfrm>
            <a:off x="9273480" y="2420888"/>
            <a:ext cx="504056" cy="504056"/>
          </a:xfrm>
          <a:prstGeom prst="ellipse">
            <a:avLst/>
          </a:prstGeom>
          <a:no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lang="en-US" altLang="zh-CN" sz="2400" dirty="0"/>
              <a:t>4</a:t>
            </a:r>
            <a:endParaRPr kumimoji="0" lang="zh-CN" altLang="en-US" sz="2400" b="0" i="0" u="none" strike="noStrike" cap="none" normalizeH="0" baseline="0" dirty="0">
              <a:ln>
                <a:noFill/>
              </a:ln>
              <a:solidFill>
                <a:schemeClr val="tx1"/>
              </a:solidFill>
              <a:effectLst/>
              <a:latin typeface="Arial" charset="0"/>
            </a:endParaRPr>
          </a:p>
        </p:txBody>
      </p:sp>
      <p:cxnSp>
        <p:nvCxnSpPr>
          <p:cNvPr id="13" name="直接连接符 12">
            <a:extLst>
              <a:ext uri="{FF2B5EF4-FFF2-40B4-BE49-F238E27FC236}">
                <a16:creationId xmlns:a16="http://schemas.microsoft.com/office/drawing/2014/main" id="{8EDE9FE5-D0F3-496A-815B-20042BFE064C}"/>
              </a:ext>
            </a:extLst>
          </p:cNvPr>
          <p:cNvCxnSpPr>
            <a:stCxn id="7" idx="3"/>
            <a:endCxn id="11" idx="0"/>
          </p:cNvCxnSpPr>
          <p:nvPr/>
        </p:nvCxnSpPr>
        <p:spPr bwMode="auto">
          <a:xfrm flipH="1">
            <a:off x="7797316" y="1698420"/>
            <a:ext cx="541869" cy="794476"/>
          </a:xfrm>
          <a:prstGeom prst="line">
            <a:avLst/>
          </a:prstGeom>
          <a:ln>
            <a:headEnd type="none" w="med" len="med"/>
            <a:tailEnd type="none" w="med" len="med"/>
          </a:ln>
          <a:extLst>
            <a:ext uri="{AF507438-7753-43E0-B8FC-AC1667EBCBE1}">
              <a14:hiddenEffects xmlns:a14="http://schemas.microsoft.com/office/drawing/2010/main">
                <a:effectLst>
                  <a:outerShdw dist="35921" dir="2700000" algn="ctr" rotWithShape="0">
                    <a:schemeClr val="bg2"/>
                  </a:outerShdw>
                </a:effectLst>
              </a14:hiddenEffects>
            </a:ext>
          </a:extLst>
        </p:spPr>
        <p:style>
          <a:lnRef idx="3">
            <a:schemeClr val="dk1"/>
          </a:lnRef>
          <a:fillRef idx="0">
            <a:schemeClr val="dk1"/>
          </a:fillRef>
          <a:effectRef idx="2">
            <a:schemeClr val="dk1"/>
          </a:effectRef>
          <a:fontRef idx="minor">
            <a:schemeClr val="tx1"/>
          </a:fontRef>
        </p:style>
      </p:cxnSp>
      <p:cxnSp>
        <p:nvCxnSpPr>
          <p:cNvPr id="14" name="直接连接符 13">
            <a:extLst>
              <a:ext uri="{FF2B5EF4-FFF2-40B4-BE49-F238E27FC236}">
                <a16:creationId xmlns:a16="http://schemas.microsoft.com/office/drawing/2014/main" id="{C22F8403-AAB7-44BF-B184-E4DE5A913472}"/>
              </a:ext>
            </a:extLst>
          </p:cNvPr>
          <p:cNvCxnSpPr>
            <a:cxnSpLocks/>
            <a:stCxn id="7" idx="5"/>
            <a:endCxn id="12" idx="1"/>
          </p:cNvCxnSpPr>
          <p:nvPr/>
        </p:nvCxnSpPr>
        <p:spPr bwMode="auto">
          <a:xfrm>
            <a:off x="8695607" y="1698420"/>
            <a:ext cx="651690" cy="796285"/>
          </a:xfrm>
          <a:prstGeom prst="line">
            <a:avLst/>
          </a:prstGeom>
          <a:ln>
            <a:headEnd type="none" w="med" len="med"/>
            <a:tailEnd type="none" w="med" len="med"/>
          </a:ln>
          <a:extLst>
            <a:ext uri="{AF507438-7753-43E0-B8FC-AC1667EBCBE1}">
              <a14:hiddenEffects xmlns:a14="http://schemas.microsoft.com/office/drawing/2010/main">
                <a:effectLst>
                  <a:outerShdw dist="35921" dir="2700000" algn="ctr" rotWithShape="0">
                    <a:schemeClr val="bg2"/>
                  </a:outerShdw>
                </a:effectLst>
              </a14:hiddenEffects>
            </a:ext>
          </a:extLst>
        </p:spPr>
        <p:style>
          <a:lnRef idx="3">
            <a:schemeClr val="dk1"/>
          </a:lnRef>
          <a:fillRef idx="0">
            <a:schemeClr val="dk1"/>
          </a:fillRef>
          <a:effectRef idx="2">
            <a:schemeClr val="dk1"/>
          </a:effectRef>
          <a:fontRef idx="minor">
            <a:schemeClr val="tx1"/>
          </a:fontRef>
        </p:style>
      </p:cxnSp>
      <p:cxnSp>
        <p:nvCxnSpPr>
          <p:cNvPr id="15" name="直接连接符 14">
            <a:extLst>
              <a:ext uri="{FF2B5EF4-FFF2-40B4-BE49-F238E27FC236}">
                <a16:creationId xmlns:a16="http://schemas.microsoft.com/office/drawing/2014/main" id="{4D8FBF45-E39B-45F3-8C0C-4A4BA1608F15}"/>
              </a:ext>
            </a:extLst>
          </p:cNvPr>
          <p:cNvCxnSpPr>
            <a:cxnSpLocks/>
            <a:endCxn id="8" idx="1"/>
          </p:cNvCxnSpPr>
          <p:nvPr/>
        </p:nvCxnSpPr>
        <p:spPr bwMode="auto">
          <a:xfrm>
            <a:off x="7885516" y="2996952"/>
            <a:ext cx="453669" cy="1153937"/>
          </a:xfrm>
          <a:prstGeom prst="line">
            <a:avLst/>
          </a:prstGeom>
          <a:ln>
            <a:headEnd type="none" w="med" len="med"/>
            <a:tailEnd type="none" w="med" len="med"/>
          </a:ln>
          <a:extLst>
            <a:ext uri="{AF507438-7753-43E0-B8FC-AC1667EBCBE1}">
              <a14:hiddenEffects xmlns:a14="http://schemas.microsoft.com/office/drawing/2010/main">
                <a:effectLst>
                  <a:outerShdw dist="35921" dir="2700000" algn="ctr" rotWithShape="0">
                    <a:schemeClr val="bg2"/>
                  </a:outerShdw>
                </a:effectLst>
              </a14:hiddenEffects>
            </a:ext>
          </a:extLst>
        </p:spPr>
        <p:style>
          <a:lnRef idx="3">
            <a:schemeClr val="dk1"/>
          </a:lnRef>
          <a:fillRef idx="0">
            <a:schemeClr val="dk1"/>
          </a:fillRef>
          <a:effectRef idx="2">
            <a:schemeClr val="dk1"/>
          </a:effectRef>
          <a:fontRef idx="minor">
            <a:schemeClr val="tx1"/>
          </a:fontRef>
        </p:style>
      </p:cxnSp>
      <p:cxnSp>
        <p:nvCxnSpPr>
          <p:cNvPr id="16" name="直接连接符 15">
            <a:extLst>
              <a:ext uri="{FF2B5EF4-FFF2-40B4-BE49-F238E27FC236}">
                <a16:creationId xmlns:a16="http://schemas.microsoft.com/office/drawing/2014/main" id="{B50B9669-9E57-4E62-BBD2-4AAD9224912B}"/>
              </a:ext>
            </a:extLst>
          </p:cNvPr>
          <p:cNvCxnSpPr>
            <a:cxnSpLocks/>
            <a:stCxn id="12" idx="3"/>
            <a:endCxn id="8" idx="7"/>
          </p:cNvCxnSpPr>
          <p:nvPr/>
        </p:nvCxnSpPr>
        <p:spPr bwMode="auto">
          <a:xfrm flipH="1">
            <a:off x="8695607" y="2851127"/>
            <a:ext cx="651690" cy="1299762"/>
          </a:xfrm>
          <a:prstGeom prst="line">
            <a:avLst/>
          </a:prstGeom>
          <a:ln>
            <a:headEnd type="none" w="med" len="med"/>
            <a:tailEnd type="none" w="med" len="med"/>
          </a:ln>
          <a:extLst>
            <a:ext uri="{AF507438-7753-43E0-B8FC-AC1667EBCBE1}">
              <a14:hiddenEffects xmlns:a14="http://schemas.microsoft.com/office/drawing/2010/main">
                <a:effectLst>
                  <a:outerShdw dist="35921" dir="2700000" algn="ctr" rotWithShape="0">
                    <a:schemeClr val="bg2"/>
                  </a:outerShdw>
                </a:effectLst>
              </a14:hiddenEffects>
            </a:ext>
          </a:extLst>
        </p:spPr>
        <p:style>
          <a:lnRef idx="3">
            <a:schemeClr val="dk1"/>
          </a:lnRef>
          <a:fillRef idx="0">
            <a:schemeClr val="dk1"/>
          </a:fillRef>
          <a:effectRef idx="2">
            <a:schemeClr val="dk1"/>
          </a:effectRef>
          <a:fontRef idx="minor">
            <a:schemeClr val="tx1"/>
          </a:fontRef>
        </p:style>
      </p:cxnSp>
      <p:cxnSp>
        <p:nvCxnSpPr>
          <p:cNvPr id="17" name="直接连接符 16">
            <a:extLst>
              <a:ext uri="{FF2B5EF4-FFF2-40B4-BE49-F238E27FC236}">
                <a16:creationId xmlns:a16="http://schemas.microsoft.com/office/drawing/2014/main" id="{54D70C10-61E9-4691-9E2B-BF9F39FE9230}"/>
              </a:ext>
            </a:extLst>
          </p:cNvPr>
          <p:cNvCxnSpPr>
            <a:cxnSpLocks/>
            <a:stCxn id="7" idx="4"/>
            <a:endCxn id="8" idx="0"/>
          </p:cNvCxnSpPr>
          <p:nvPr/>
        </p:nvCxnSpPr>
        <p:spPr bwMode="auto">
          <a:xfrm>
            <a:off x="8517396" y="1772237"/>
            <a:ext cx="0" cy="2304835"/>
          </a:xfrm>
          <a:prstGeom prst="line">
            <a:avLst/>
          </a:prstGeom>
          <a:ln>
            <a:headEnd type="none" w="med" len="med"/>
            <a:tailEnd type="none" w="med" len="med"/>
          </a:ln>
          <a:extLst>
            <a:ext uri="{AF507438-7753-43E0-B8FC-AC1667EBCBE1}">
              <a14:hiddenEffects xmlns:a14="http://schemas.microsoft.com/office/drawing/2010/main">
                <a:effectLst>
                  <a:outerShdw dist="35921" dir="2700000" algn="ctr" rotWithShape="0">
                    <a:schemeClr val="bg2"/>
                  </a:outerShdw>
                </a:effectLst>
              </a14:hiddenEffects>
            </a:ext>
          </a:extLst>
        </p:spPr>
        <p:style>
          <a:lnRef idx="3">
            <a:schemeClr val="dk1"/>
          </a:lnRef>
          <a:fillRef idx="0">
            <a:schemeClr val="dk1"/>
          </a:fillRef>
          <a:effectRef idx="2">
            <a:schemeClr val="dk1"/>
          </a:effectRef>
          <a:fontRef idx="minor">
            <a:schemeClr val="tx1"/>
          </a:fontRef>
        </p:style>
      </p:cxnSp>
      <p:cxnSp>
        <p:nvCxnSpPr>
          <p:cNvPr id="18" name="直接连接符 17">
            <a:extLst>
              <a:ext uri="{FF2B5EF4-FFF2-40B4-BE49-F238E27FC236}">
                <a16:creationId xmlns:a16="http://schemas.microsoft.com/office/drawing/2014/main" id="{B3D64038-92D0-43FD-A5D4-8C183F9DF3F6}"/>
              </a:ext>
            </a:extLst>
          </p:cNvPr>
          <p:cNvCxnSpPr>
            <a:cxnSpLocks/>
            <a:endCxn id="10" idx="7"/>
          </p:cNvCxnSpPr>
          <p:nvPr/>
        </p:nvCxnSpPr>
        <p:spPr bwMode="auto">
          <a:xfrm flipH="1">
            <a:off x="7975527" y="4509120"/>
            <a:ext cx="387856" cy="577873"/>
          </a:xfrm>
          <a:prstGeom prst="line">
            <a:avLst/>
          </a:prstGeom>
          <a:ln>
            <a:headEnd type="none" w="med" len="med"/>
            <a:tailEnd type="none" w="med" len="med"/>
          </a:ln>
          <a:extLst>
            <a:ext uri="{AF507438-7753-43E0-B8FC-AC1667EBCBE1}">
              <a14:hiddenEffects xmlns:a14="http://schemas.microsoft.com/office/drawing/2010/main">
                <a:effectLst>
                  <a:outerShdw dist="35921" dir="2700000" algn="ctr" rotWithShape="0">
                    <a:schemeClr val="bg2"/>
                  </a:outerShdw>
                </a:effectLst>
              </a14:hiddenEffects>
            </a:ext>
          </a:extLst>
        </p:spPr>
        <p:style>
          <a:lnRef idx="3">
            <a:schemeClr val="dk1"/>
          </a:lnRef>
          <a:fillRef idx="0">
            <a:schemeClr val="dk1"/>
          </a:fillRef>
          <a:effectRef idx="2">
            <a:schemeClr val="dk1"/>
          </a:effectRef>
          <a:fontRef idx="minor">
            <a:schemeClr val="tx1"/>
          </a:fontRef>
        </p:style>
      </p:cxnSp>
      <p:cxnSp>
        <p:nvCxnSpPr>
          <p:cNvPr id="19" name="直接连接符 18">
            <a:extLst>
              <a:ext uri="{FF2B5EF4-FFF2-40B4-BE49-F238E27FC236}">
                <a16:creationId xmlns:a16="http://schemas.microsoft.com/office/drawing/2014/main" id="{6FAE40A7-9F50-41FF-B9E5-227CA0CAB91E}"/>
              </a:ext>
            </a:extLst>
          </p:cNvPr>
          <p:cNvCxnSpPr>
            <a:cxnSpLocks/>
            <a:stCxn id="9" idx="1"/>
            <a:endCxn id="8" idx="5"/>
          </p:cNvCxnSpPr>
          <p:nvPr/>
        </p:nvCxnSpPr>
        <p:spPr bwMode="auto">
          <a:xfrm flipH="1" flipV="1">
            <a:off x="8695607" y="4507311"/>
            <a:ext cx="651690" cy="579682"/>
          </a:xfrm>
          <a:prstGeom prst="line">
            <a:avLst/>
          </a:prstGeom>
          <a:ln>
            <a:headEnd type="none" w="med" len="med"/>
            <a:tailEnd type="none" w="med" len="med"/>
          </a:ln>
          <a:extLst>
            <a:ext uri="{AF507438-7753-43E0-B8FC-AC1667EBCBE1}">
              <a14:hiddenEffects xmlns:a14="http://schemas.microsoft.com/office/drawing/2010/main">
                <a:effectLst>
                  <a:outerShdw dist="35921" dir="2700000" algn="ctr" rotWithShape="0">
                    <a:schemeClr val="bg2"/>
                  </a:outerShdw>
                </a:effectLst>
              </a14:hiddenEffects>
            </a:ext>
          </a:extLst>
        </p:spPr>
        <p:style>
          <a:lnRef idx="3">
            <a:schemeClr val="dk1"/>
          </a:lnRef>
          <a:fillRef idx="0">
            <a:schemeClr val="dk1"/>
          </a:fillRef>
          <a:effectRef idx="2">
            <a:schemeClr val="dk1"/>
          </a:effectRef>
          <a:fontRef idx="minor">
            <a:schemeClr val="tx1"/>
          </a:fontRef>
        </p:style>
      </p:cxnSp>
      <p:cxnSp>
        <p:nvCxnSpPr>
          <p:cNvPr id="20" name="直接连接符 19">
            <a:extLst>
              <a:ext uri="{FF2B5EF4-FFF2-40B4-BE49-F238E27FC236}">
                <a16:creationId xmlns:a16="http://schemas.microsoft.com/office/drawing/2014/main" id="{93F7150B-3AAC-4860-A762-3AF48BEA9AE6}"/>
              </a:ext>
            </a:extLst>
          </p:cNvPr>
          <p:cNvCxnSpPr>
            <a:cxnSpLocks/>
            <a:stCxn id="11" idx="4"/>
            <a:endCxn id="10" idx="0"/>
          </p:cNvCxnSpPr>
          <p:nvPr/>
        </p:nvCxnSpPr>
        <p:spPr bwMode="auto">
          <a:xfrm>
            <a:off x="7797316" y="2996952"/>
            <a:ext cx="0" cy="2016224"/>
          </a:xfrm>
          <a:prstGeom prst="line">
            <a:avLst/>
          </a:prstGeom>
          <a:ln>
            <a:headEnd type="none" w="med" len="med"/>
            <a:tailEnd type="none" w="med" len="med"/>
          </a:ln>
          <a:extLst>
            <a:ext uri="{AF507438-7753-43E0-B8FC-AC1667EBCBE1}">
              <a14:hiddenEffects xmlns:a14="http://schemas.microsoft.com/office/drawing/2010/main">
                <a:effectLst>
                  <a:outerShdw dist="35921" dir="2700000" algn="ctr" rotWithShape="0">
                    <a:schemeClr val="bg2"/>
                  </a:outerShdw>
                </a:effectLst>
              </a14:hiddenEffects>
            </a:ext>
          </a:extLst>
        </p:spPr>
        <p:style>
          <a:lnRef idx="3">
            <a:schemeClr val="dk1"/>
          </a:lnRef>
          <a:fillRef idx="0">
            <a:schemeClr val="dk1"/>
          </a:fillRef>
          <a:effectRef idx="2">
            <a:schemeClr val="dk1"/>
          </a:effectRef>
          <a:fontRef idx="minor">
            <a:schemeClr val="tx1"/>
          </a:fontRef>
        </p:style>
      </p:cxnSp>
      <p:cxnSp>
        <p:nvCxnSpPr>
          <p:cNvPr id="21" name="直接连接符 20">
            <a:extLst>
              <a:ext uri="{FF2B5EF4-FFF2-40B4-BE49-F238E27FC236}">
                <a16:creationId xmlns:a16="http://schemas.microsoft.com/office/drawing/2014/main" id="{D58642EB-232A-4E32-BA4D-B17A9A6747BF}"/>
              </a:ext>
            </a:extLst>
          </p:cNvPr>
          <p:cNvCxnSpPr>
            <a:cxnSpLocks/>
            <a:stCxn id="12" idx="4"/>
            <a:endCxn id="9" idx="0"/>
          </p:cNvCxnSpPr>
          <p:nvPr/>
        </p:nvCxnSpPr>
        <p:spPr bwMode="auto">
          <a:xfrm>
            <a:off x="9525508" y="2924944"/>
            <a:ext cx="0" cy="2088232"/>
          </a:xfrm>
          <a:prstGeom prst="line">
            <a:avLst/>
          </a:prstGeom>
          <a:ln>
            <a:headEnd type="none" w="med" len="med"/>
            <a:tailEnd type="none" w="med" len="med"/>
          </a:ln>
          <a:extLst>
            <a:ext uri="{AF507438-7753-43E0-B8FC-AC1667EBCBE1}">
              <a14:hiddenEffects xmlns:a14="http://schemas.microsoft.com/office/drawing/2010/main">
                <a:effectLst>
                  <a:outerShdw dist="35921" dir="2700000" algn="ctr" rotWithShape="0">
                    <a:schemeClr val="bg2"/>
                  </a:outerShdw>
                </a:effectLst>
              </a14:hiddenEffects>
            </a:ext>
          </a:extLst>
        </p:spPr>
        <p:style>
          <a:lnRef idx="3">
            <a:schemeClr val="dk1"/>
          </a:lnRef>
          <a:fillRef idx="0">
            <a:schemeClr val="dk1"/>
          </a:fillRef>
          <a:effectRef idx="2">
            <a:schemeClr val="dk1"/>
          </a:effectRef>
          <a:fontRef idx="minor">
            <a:schemeClr val="tx1"/>
          </a:fontRef>
        </p:style>
      </p:cxnSp>
      <p:sp>
        <p:nvSpPr>
          <p:cNvPr id="22" name="文本框 21">
            <a:extLst>
              <a:ext uri="{FF2B5EF4-FFF2-40B4-BE49-F238E27FC236}">
                <a16:creationId xmlns:a16="http://schemas.microsoft.com/office/drawing/2014/main" id="{A7E6621A-51D8-4FED-B6E0-D57B1D60B3BA}"/>
              </a:ext>
            </a:extLst>
          </p:cNvPr>
          <p:cNvSpPr txBox="1"/>
          <p:nvPr/>
        </p:nvSpPr>
        <p:spPr>
          <a:xfrm>
            <a:off x="7728703" y="1779203"/>
            <a:ext cx="356188" cy="461665"/>
          </a:xfrm>
          <a:prstGeom prst="rect">
            <a:avLst/>
          </a:prstGeom>
          <a:noFill/>
        </p:spPr>
        <p:txBody>
          <a:bodyPr wrap="none" rtlCol="0">
            <a:spAutoFit/>
          </a:bodyPr>
          <a:lstStyle/>
          <a:p>
            <a:r>
              <a:rPr lang="en-US" altLang="zh-CN" sz="2400" dirty="0">
                <a:solidFill>
                  <a:srgbClr val="FF0000"/>
                </a:solidFill>
              </a:rPr>
              <a:t>6</a:t>
            </a:r>
            <a:endParaRPr lang="zh-CN" altLang="en-US" sz="2400" dirty="0">
              <a:solidFill>
                <a:srgbClr val="FF0000"/>
              </a:solidFill>
            </a:endParaRPr>
          </a:p>
        </p:txBody>
      </p:sp>
      <p:sp>
        <p:nvSpPr>
          <p:cNvPr id="23" name="文本框 22">
            <a:extLst>
              <a:ext uri="{FF2B5EF4-FFF2-40B4-BE49-F238E27FC236}">
                <a16:creationId xmlns:a16="http://schemas.microsoft.com/office/drawing/2014/main" id="{F949FDB7-D4B4-4890-8306-F13F15CDC446}"/>
              </a:ext>
            </a:extLst>
          </p:cNvPr>
          <p:cNvSpPr txBox="1"/>
          <p:nvPr/>
        </p:nvSpPr>
        <p:spPr>
          <a:xfrm>
            <a:off x="8920280" y="1697982"/>
            <a:ext cx="356188" cy="461665"/>
          </a:xfrm>
          <a:prstGeom prst="rect">
            <a:avLst/>
          </a:prstGeom>
          <a:noFill/>
        </p:spPr>
        <p:txBody>
          <a:bodyPr wrap="none" rtlCol="0">
            <a:spAutoFit/>
          </a:bodyPr>
          <a:lstStyle/>
          <a:p>
            <a:r>
              <a:rPr lang="en-US" altLang="zh-CN" sz="2400" dirty="0">
                <a:solidFill>
                  <a:srgbClr val="FF0000"/>
                </a:solidFill>
              </a:rPr>
              <a:t>1</a:t>
            </a:r>
            <a:endParaRPr lang="zh-CN" altLang="en-US" sz="2400" dirty="0">
              <a:solidFill>
                <a:srgbClr val="FF0000"/>
              </a:solidFill>
            </a:endParaRPr>
          </a:p>
        </p:txBody>
      </p:sp>
      <p:sp>
        <p:nvSpPr>
          <p:cNvPr id="24" name="文本框 23">
            <a:extLst>
              <a:ext uri="{FF2B5EF4-FFF2-40B4-BE49-F238E27FC236}">
                <a16:creationId xmlns:a16="http://schemas.microsoft.com/office/drawing/2014/main" id="{4632F11D-8F7E-4D86-98BA-FF7DA8880415}"/>
              </a:ext>
            </a:extLst>
          </p:cNvPr>
          <p:cNvSpPr txBox="1"/>
          <p:nvPr/>
        </p:nvSpPr>
        <p:spPr>
          <a:xfrm>
            <a:off x="7452069" y="3689224"/>
            <a:ext cx="356188" cy="461665"/>
          </a:xfrm>
          <a:prstGeom prst="rect">
            <a:avLst/>
          </a:prstGeom>
          <a:noFill/>
        </p:spPr>
        <p:txBody>
          <a:bodyPr wrap="square" rtlCol="0">
            <a:spAutoFit/>
          </a:bodyPr>
          <a:lstStyle/>
          <a:p>
            <a:r>
              <a:rPr lang="en-US" altLang="zh-CN" sz="2400" dirty="0">
                <a:solidFill>
                  <a:srgbClr val="FF0000"/>
                </a:solidFill>
              </a:rPr>
              <a:t>3</a:t>
            </a:r>
            <a:endParaRPr lang="zh-CN" altLang="en-US" sz="2400" dirty="0">
              <a:solidFill>
                <a:srgbClr val="FF0000"/>
              </a:solidFill>
            </a:endParaRPr>
          </a:p>
        </p:txBody>
      </p:sp>
      <p:sp>
        <p:nvSpPr>
          <p:cNvPr id="25" name="文本框 24">
            <a:extLst>
              <a:ext uri="{FF2B5EF4-FFF2-40B4-BE49-F238E27FC236}">
                <a16:creationId xmlns:a16="http://schemas.microsoft.com/office/drawing/2014/main" id="{87517FB9-A9CA-4DD7-A439-9BE9CA909D93}"/>
              </a:ext>
            </a:extLst>
          </p:cNvPr>
          <p:cNvSpPr txBox="1"/>
          <p:nvPr/>
        </p:nvSpPr>
        <p:spPr>
          <a:xfrm>
            <a:off x="8490703" y="2263364"/>
            <a:ext cx="356188" cy="461665"/>
          </a:xfrm>
          <a:prstGeom prst="rect">
            <a:avLst/>
          </a:prstGeom>
          <a:noFill/>
        </p:spPr>
        <p:txBody>
          <a:bodyPr wrap="none" rtlCol="0">
            <a:spAutoFit/>
          </a:bodyPr>
          <a:lstStyle/>
          <a:p>
            <a:r>
              <a:rPr lang="en-US" altLang="zh-CN" sz="2400" dirty="0">
                <a:solidFill>
                  <a:srgbClr val="FF0000"/>
                </a:solidFill>
              </a:rPr>
              <a:t>2</a:t>
            </a:r>
            <a:endParaRPr lang="zh-CN" altLang="en-US" sz="2400" dirty="0">
              <a:solidFill>
                <a:srgbClr val="FF0000"/>
              </a:solidFill>
            </a:endParaRPr>
          </a:p>
        </p:txBody>
      </p:sp>
      <p:sp>
        <p:nvSpPr>
          <p:cNvPr id="26" name="文本框 25">
            <a:extLst>
              <a:ext uri="{FF2B5EF4-FFF2-40B4-BE49-F238E27FC236}">
                <a16:creationId xmlns:a16="http://schemas.microsoft.com/office/drawing/2014/main" id="{B40D6475-F4C1-47E4-94D8-1F117E879D82}"/>
              </a:ext>
            </a:extLst>
          </p:cNvPr>
          <p:cNvSpPr txBox="1"/>
          <p:nvPr/>
        </p:nvSpPr>
        <p:spPr>
          <a:xfrm>
            <a:off x="8014500" y="3257176"/>
            <a:ext cx="356188" cy="461665"/>
          </a:xfrm>
          <a:prstGeom prst="rect">
            <a:avLst/>
          </a:prstGeom>
          <a:noFill/>
        </p:spPr>
        <p:txBody>
          <a:bodyPr wrap="none" rtlCol="0">
            <a:spAutoFit/>
          </a:bodyPr>
          <a:lstStyle/>
          <a:p>
            <a:r>
              <a:rPr lang="en-US" altLang="zh-CN" sz="2400" dirty="0">
                <a:solidFill>
                  <a:srgbClr val="FF0000"/>
                </a:solidFill>
              </a:rPr>
              <a:t>6</a:t>
            </a:r>
            <a:endParaRPr lang="zh-CN" altLang="en-US" sz="2400" dirty="0">
              <a:solidFill>
                <a:srgbClr val="FF0000"/>
              </a:solidFill>
            </a:endParaRPr>
          </a:p>
        </p:txBody>
      </p:sp>
      <p:sp>
        <p:nvSpPr>
          <p:cNvPr id="27" name="文本框 26">
            <a:extLst>
              <a:ext uri="{FF2B5EF4-FFF2-40B4-BE49-F238E27FC236}">
                <a16:creationId xmlns:a16="http://schemas.microsoft.com/office/drawing/2014/main" id="{52FB7C85-E0D6-48FB-926F-0F1C4ECF9081}"/>
              </a:ext>
            </a:extLst>
          </p:cNvPr>
          <p:cNvSpPr txBox="1"/>
          <p:nvPr/>
        </p:nvSpPr>
        <p:spPr>
          <a:xfrm>
            <a:off x="8087392" y="4708526"/>
            <a:ext cx="356188" cy="461665"/>
          </a:xfrm>
          <a:prstGeom prst="rect">
            <a:avLst/>
          </a:prstGeom>
          <a:noFill/>
        </p:spPr>
        <p:txBody>
          <a:bodyPr wrap="none" rtlCol="0">
            <a:spAutoFit/>
          </a:bodyPr>
          <a:lstStyle/>
          <a:p>
            <a:r>
              <a:rPr lang="en-US" altLang="zh-CN" sz="2400" dirty="0">
                <a:solidFill>
                  <a:srgbClr val="FF0000"/>
                </a:solidFill>
              </a:rPr>
              <a:t>2</a:t>
            </a:r>
            <a:endParaRPr lang="zh-CN" altLang="en-US" sz="2400" dirty="0">
              <a:solidFill>
                <a:srgbClr val="FF0000"/>
              </a:solidFill>
            </a:endParaRPr>
          </a:p>
        </p:txBody>
      </p:sp>
      <p:sp>
        <p:nvSpPr>
          <p:cNvPr id="28" name="文本框 27">
            <a:extLst>
              <a:ext uri="{FF2B5EF4-FFF2-40B4-BE49-F238E27FC236}">
                <a16:creationId xmlns:a16="http://schemas.microsoft.com/office/drawing/2014/main" id="{684B018D-B79C-4143-8739-F05120162A0F}"/>
              </a:ext>
            </a:extLst>
          </p:cNvPr>
          <p:cNvSpPr txBox="1"/>
          <p:nvPr/>
        </p:nvSpPr>
        <p:spPr>
          <a:xfrm>
            <a:off x="8742186" y="3149947"/>
            <a:ext cx="356188" cy="461665"/>
          </a:xfrm>
          <a:prstGeom prst="rect">
            <a:avLst/>
          </a:prstGeom>
          <a:noFill/>
        </p:spPr>
        <p:txBody>
          <a:bodyPr wrap="none" rtlCol="0">
            <a:spAutoFit/>
          </a:bodyPr>
          <a:lstStyle/>
          <a:p>
            <a:r>
              <a:rPr lang="en-US" altLang="zh-CN" sz="2400" dirty="0">
                <a:solidFill>
                  <a:srgbClr val="FF0000"/>
                </a:solidFill>
              </a:rPr>
              <a:t>2</a:t>
            </a:r>
            <a:endParaRPr lang="zh-CN" altLang="en-US" sz="2400" dirty="0">
              <a:solidFill>
                <a:srgbClr val="FF0000"/>
              </a:solidFill>
            </a:endParaRPr>
          </a:p>
        </p:txBody>
      </p:sp>
      <p:sp>
        <p:nvSpPr>
          <p:cNvPr id="29" name="文本框 28">
            <a:extLst>
              <a:ext uri="{FF2B5EF4-FFF2-40B4-BE49-F238E27FC236}">
                <a16:creationId xmlns:a16="http://schemas.microsoft.com/office/drawing/2014/main" id="{29839E2A-3D1C-41A4-93F4-2456C17F7113}"/>
              </a:ext>
            </a:extLst>
          </p:cNvPr>
          <p:cNvSpPr txBox="1"/>
          <p:nvPr/>
        </p:nvSpPr>
        <p:spPr>
          <a:xfrm>
            <a:off x="8766429" y="4710064"/>
            <a:ext cx="356188" cy="461665"/>
          </a:xfrm>
          <a:prstGeom prst="rect">
            <a:avLst/>
          </a:prstGeom>
          <a:noFill/>
        </p:spPr>
        <p:txBody>
          <a:bodyPr wrap="none" rtlCol="0">
            <a:spAutoFit/>
          </a:bodyPr>
          <a:lstStyle/>
          <a:p>
            <a:r>
              <a:rPr lang="en-US" altLang="zh-CN" sz="2400" dirty="0">
                <a:solidFill>
                  <a:srgbClr val="FF0000"/>
                </a:solidFill>
              </a:rPr>
              <a:t>4</a:t>
            </a:r>
            <a:endParaRPr lang="zh-CN" altLang="en-US" sz="2400" dirty="0">
              <a:solidFill>
                <a:srgbClr val="FF0000"/>
              </a:solidFill>
            </a:endParaRPr>
          </a:p>
        </p:txBody>
      </p:sp>
      <p:sp>
        <p:nvSpPr>
          <p:cNvPr id="30" name="文本框 29">
            <a:extLst>
              <a:ext uri="{FF2B5EF4-FFF2-40B4-BE49-F238E27FC236}">
                <a16:creationId xmlns:a16="http://schemas.microsoft.com/office/drawing/2014/main" id="{EA68233E-C7B0-4D89-84E7-2014B25A50FB}"/>
              </a:ext>
            </a:extLst>
          </p:cNvPr>
          <p:cNvSpPr txBox="1"/>
          <p:nvPr/>
        </p:nvSpPr>
        <p:spPr>
          <a:xfrm>
            <a:off x="9206228" y="4000558"/>
            <a:ext cx="356188" cy="461665"/>
          </a:xfrm>
          <a:prstGeom prst="rect">
            <a:avLst/>
          </a:prstGeom>
          <a:noFill/>
        </p:spPr>
        <p:txBody>
          <a:bodyPr wrap="none" rtlCol="0">
            <a:spAutoFit/>
          </a:bodyPr>
          <a:lstStyle/>
          <a:p>
            <a:r>
              <a:rPr lang="en-US" altLang="zh-CN" sz="2400" dirty="0">
                <a:solidFill>
                  <a:srgbClr val="FF0000"/>
                </a:solidFill>
              </a:rPr>
              <a:t>5</a:t>
            </a:r>
            <a:endParaRPr lang="zh-CN" altLang="en-US" sz="2400" dirty="0">
              <a:solidFill>
                <a:srgbClr val="FF0000"/>
              </a:solidFill>
            </a:endParaRPr>
          </a:p>
        </p:txBody>
      </p:sp>
      <p:cxnSp>
        <p:nvCxnSpPr>
          <p:cNvPr id="31" name="直接连接符 30">
            <a:extLst>
              <a:ext uri="{FF2B5EF4-FFF2-40B4-BE49-F238E27FC236}">
                <a16:creationId xmlns:a16="http://schemas.microsoft.com/office/drawing/2014/main" id="{16C66151-C5F5-4BC7-A249-CC110619823B}"/>
              </a:ext>
            </a:extLst>
          </p:cNvPr>
          <p:cNvCxnSpPr>
            <a:cxnSpLocks/>
            <a:stCxn id="9" idx="2"/>
            <a:endCxn id="10" idx="6"/>
          </p:cNvCxnSpPr>
          <p:nvPr/>
        </p:nvCxnSpPr>
        <p:spPr bwMode="auto">
          <a:xfrm flipH="1">
            <a:off x="8049344" y="5265204"/>
            <a:ext cx="1224136" cy="0"/>
          </a:xfrm>
          <a:prstGeom prst="line">
            <a:avLst/>
          </a:prstGeom>
          <a:ln>
            <a:headEnd type="none" w="med" len="med"/>
            <a:tailEnd type="none" w="med" len="med"/>
          </a:ln>
          <a:extLst>
            <a:ext uri="{AF507438-7753-43E0-B8FC-AC1667EBCBE1}">
              <a14:hiddenEffects xmlns:a14="http://schemas.microsoft.com/office/drawing/2010/main">
                <a:effectLst>
                  <a:outerShdw dist="35921" dir="2700000" algn="ctr" rotWithShape="0">
                    <a:schemeClr val="bg2"/>
                  </a:outerShdw>
                </a:effectLst>
              </a14:hiddenEffects>
            </a:ext>
          </a:extLst>
        </p:spPr>
        <p:style>
          <a:lnRef idx="3">
            <a:schemeClr val="dk1"/>
          </a:lnRef>
          <a:fillRef idx="0">
            <a:schemeClr val="dk1"/>
          </a:fillRef>
          <a:effectRef idx="2">
            <a:schemeClr val="dk1"/>
          </a:effectRef>
          <a:fontRef idx="minor">
            <a:schemeClr val="tx1"/>
          </a:fontRef>
        </p:style>
      </p:cxnSp>
      <p:sp>
        <p:nvSpPr>
          <p:cNvPr id="32" name="文本框 31">
            <a:extLst>
              <a:ext uri="{FF2B5EF4-FFF2-40B4-BE49-F238E27FC236}">
                <a16:creationId xmlns:a16="http://schemas.microsoft.com/office/drawing/2014/main" id="{ACC80D1D-4EB0-475D-B27C-59918198DD26}"/>
              </a:ext>
            </a:extLst>
          </p:cNvPr>
          <p:cNvSpPr txBox="1"/>
          <p:nvPr/>
        </p:nvSpPr>
        <p:spPr>
          <a:xfrm>
            <a:off x="8443360" y="5265204"/>
            <a:ext cx="356188" cy="461665"/>
          </a:xfrm>
          <a:prstGeom prst="rect">
            <a:avLst/>
          </a:prstGeom>
          <a:noFill/>
        </p:spPr>
        <p:txBody>
          <a:bodyPr wrap="none" rtlCol="0">
            <a:spAutoFit/>
          </a:bodyPr>
          <a:lstStyle/>
          <a:p>
            <a:r>
              <a:rPr lang="en-US" altLang="zh-CN" sz="2400" dirty="0">
                <a:solidFill>
                  <a:srgbClr val="FF0000"/>
                </a:solidFill>
              </a:rPr>
              <a:t>3</a:t>
            </a:r>
            <a:endParaRPr lang="zh-CN" altLang="en-US" sz="2400" dirty="0">
              <a:solidFill>
                <a:srgbClr val="FF0000"/>
              </a:solidFill>
            </a:endParaRPr>
          </a:p>
        </p:txBody>
      </p:sp>
      <p:sp>
        <p:nvSpPr>
          <p:cNvPr id="33" name="矩形 32">
            <a:extLst>
              <a:ext uri="{FF2B5EF4-FFF2-40B4-BE49-F238E27FC236}">
                <a16:creationId xmlns:a16="http://schemas.microsoft.com/office/drawing/2014/main" id="{DE31A1EA-4A1C-4797-A911-543019F6EC41}"/>
              </a:ext>
            </a:extLst>
          </p:cNvPr>
          <p:cNvSpPr/>
          <p:nvPr/>
        </p:nvSpPr>
        <p:spPr>
          <a:xfrm>
            <a:off x="1262216" y="3544270"/>
            <a:ext cx="6132209" cy="1569660"/>
          </a:xfrm>
          <a:prstGeom prst="rect">
            <a:avLst/>
          </a:prstGeom>
        </p:spPr>
        <p:txBody>
          <a:bodyPr wrap="square">
            <a:spAutoFit/>
          </a:bodyPr>
          <a:lstStyle/>
          <a:p>
            <a:r>
              <a:rPr lang="zh-CN" altLang="en-US" sz="2400" dirty="0"/>
              <a:t>产生一个随机数：</a:t>
            </a:r>
            <a:endParaRPr lang="en-US" altLang="zh-CN" sz="2400" dirty="0"/>
          </a:p>
          <a:p>
            <a:r>
              <a:rPr lang="zh-CN" altLang="en-US" sz="2400" dirty="0"/>
              <a:t>若为</a:t>
            </a:r>
            <a:r>
              <a:rPr lang="en-US" altLang="zh-CN" sz="2400" dirty="0"/>
              <a:t>0.03</a:t>
            </a:r>
            <a:r>
              <a:rPr lang="zh-CN" altLang="en-US" sz="2400" dirty="0"/>
              <a:t>，则选择节点</a:t>
            </a:r>
            <a:r>
              <a:rPr lang="en-US" altLang="zh-CN" sz="2400" dirty="0"/>
              <a:t>1</a:t>
            </a:r>
            <a:r>
              <a:rPr lang="zh-CN" altLang="en-US" sz="2400" dirty="0"/>
              <a:t>。</a:t>
            </a:r>
            <a:endParaRPr lang="en-US" altLang="zh-CN" sz="2400" dirty="0"/>
          </a:p>
          <a:p>
            <a:r>
              <a:rPr lang="zh-CN" altLang="en-US" sz="2400" dirty="0"/>
              <a:t>若为</a:t>
            </a:r>
            <a:r>
              <a:rPr lang="en-US" altLang="zh-CN" sz="2400" dirty="0"/>
              <a:t>0.05</a:t>
            </a:r>
            <a:r>
              <a:rPr lang="zh-CN" altLang="en-US" sz="2400" dirty="0"/>
              <a:t>，则选择节点</a:t>
            </a:r>
            <a:r>
              <a:rPr lang="en-US" altLang="zh-CN" sz="2400" dirty="0"/>
              <a:t>3</a:t>
            </a:r>
            <a:r>
              <a:rPr lang="zh-CN" altLang="en-US" sz="2400" dirty="0"/>
              <a:t>。</a:t>
            </a:r>
            <a:endParaRPr lang="en-US" altLang="zh-CN" sz="2400" dirty="0"/>
          </a:p>
          <a:p>
            <a:r>
              <a:rPr lang="zh-CN" altLang="en-US" sz="2400" dirty="0"/>
              <a:t>若为</a:t>
            </a:r>
            <a:r>
              <a:rPr lang="en-US" altLang="zh-CN" sz="2400" dirty="0"/>
              <a:t>0.20</a:t>
            </a:r>
            <a:r>
              <a:rPr lang="zh-CN" altLang="en-US" sz="2400" dirty="0"/>
              <a:t>，则选择节点</a:t>
            </a:r>
            <a:r>
              <a:rPr lang="en-US" altLang="zh-CN" sz="2400" dirty="0"/>
              <a:t>5</a:t>
            </a:r>
            <a:r>
              <a:rPr lang="zh-CN" altLang="en-US" sz="2400" dirty="0"/>
              <a:t>。</a:t>
            </a:r>
          </a:p>
        </p:txBody>
      </p:sp>
      <p:sp>
        <p:nvSpPr>
          <p:cNvPr id="3" name="文本框 2">
            <a:extLst>
              <a:ext uri="{FF2B5EF4-FFF2-40B4-BE49-F238E27FC236}">
                <a16:creationId xmlns:a16="http://schemas.microsoft.com/office/drawing/2014/main" id="{FBB9B726-7FCD-FC21-07C9-AD4E9A3E00AB}"/>
              </a:ext>
            </a:extLst>
          </p:cNvPr>
          <p:cNvSpPr txBox="1"/>
          <p:nvPr/>
        </p:nvSpPr>
        <p:spPr>
          <a:xfrm>
            <a:off x="3223588" y="1268181"/>
            <a:ext cx="2521500" cy="1569660"/>
          </a:xfrm>
          <a:prstGeom prst="rect">
            <a:avLst/>
          </a:prstGeom>
          <a:noFill/>
        </p:spPr>
        <p:txBody>
          <a:bodyPr wrap="square" rtlCol="0">
            <a:spAutoFit/>
          </a:bodyPr>
          <a:lstStyle/>
          <a:p>
            <a:r>
              <a:rPr lang="zh-CN" altLang="en-US" sz="2400" dirty="0"/>
              <a:t>轮盘赌法：</a:t>
            </a:r>
            <a:endParaRPr lang="en-US" altLang="zh-CN" sz="2400" dirty="0"/>
          </a:p>
          <a:p>
            <a:pPr marL="342900" indent="-342900">
              <a:buAutoNum type="arabicPeriod"/>
            </a:pPr>
            <a:r>
              <a:rPr lang="en-US" altLang="zh-CN" sz="2400" dirty="0"/>
              <a:t>[0-0.0384]</a:t>
            </a:r>
          </a:p>
          <a:p>
            <a:pPr marL="342900" indent="-342900">
              <a:buAutoNum type="arabicPeriod"/>
            </a:pPr>
            <a:r>
              <a:rPr lang="en-US" altLang="zh-CN" sz="2400" dirty="0"/>
              <a:t>[0.0385-0.076]</a:t>
            </a:r>
          </a:p>
          <a:p>
            <a:pPr marL="342900" indent="-342900">
              <a:buAutoNum type="arabicPeriod"/>
            </a:pPr>
            <a:r>
              <a:rPr lang="en-US" altLang="zh-CN" sz="2400" dirty="0"/>
              <a:t>[0.077-1)</a:t>
            </a:r>
          </a:p>
        </p:txBody>
      </p:sp>
    </p:spTree>
    <p:extLst>
      <p:ext uri="{BB962C8B-B14F-4D97-AF65-F5344CB8AC3E}">
        <p14:creationId xmlns:p14="http://schemas.microsoft.com/office/powerpoint/2010/main" val="338596269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4" fill="hold" grpId="0" nodeType="with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wipe(down)">
                                      <p:cBhvr>
                                        <p:cTn id="7" dur="500"/>
                                        <p:tgtEl>
                                          <p:spTgt spid="6"/>
                                        </p:tgtEl>
                                      </p:cBhvr>
                                    </p:animEffect>
                                  </p:childTnLst>
                                </p:cTn>
                              </p:par>
                              <p:par>
                                <p:cTn id="8" presetID="22" presetClass="entr" presetSubtype="4" fill="hold" grpId="0" nodeType="withEffect">
                                  <p:stCondLst>
                                    <p:cond delay="0"/>
                                  </p:stCondLst>
                                  <p:childTnLst>
                                    <p:set>
                                      <p:cBhvr>
                                        <p:cTn id="9" dur="1" fill="hold">
                                          <p:stCondLst>
                                            <p:cond delay="0"/>
                                          </p:stCondLst>
                                        </p:cTn>
                                        <p:tgtEl>
                                          <p:spTgt spid="33"/>
                                        </p:tgtEl>
                                        <p:attrNameLst>
                                          <p:attrName>style.visibility</p:attrName>
                                        </p:attrNameLst>
                                      </p:cBhvr>
                                      <p:to>
                                        <p:strVal val="visible"/>
                                      </p:to>
                                    </p:set>
                                    <p:animEffect transition="in" filter="wipe(down)">
                                      <p:cBhvr>
                                        <p:cTn id="10" dur="500"/>
                                        <p:tgtEl>
                                          <p:spTgt spid="33"/>
                                        </p:tgtEl>
                                      </p:cBhvr>
                                    </p:animEffect>
                                  </p:childTnLst>
                                </p:cTn>
                              </p:par>
                              <p:par>
                                <p:cTn id="11" presetID="22" presetClass="entr" presetSubtype="4" fill="hold" grpId="0" nodeType="withEffect">
                                  <p:stCondLst>
                                    <p:cond delay="0"/>
                                  </p:stCondLst>
                                  <p:childTnLst>
                                    <p:set>
                                      <p:cBhvr>
                                        <p:cTn id="12" dur="1" fill="hold">
                                          <p:stCondLst>
                                            <p:cond delay="0"/>
                                          </p:stCondLst>
                                        </p:cTn>
                                        <p:tgtEl>
                                          <p:spTgt spid="3"/>
                                        </p:tgtEl>
                                        <p:attrNameLst>
                                          <p:attrName>style.visibility</p:attrName>
                                        </p:attrNameLst>
                                      </p:cBhvr>
                                      <p:to>
                                        <p:strVal val="visible"/>
                                      </p:to>
                                    </p:set>
                                    <p:animEffect transition="in" filter="wipe(down)">
                                      <p:cBhvr>
                                        <p:cTn id="13"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6" grpId="0">
        <p:bldAsOne/>
      </p:bldGraphic>
      <p:bldP spid="33" grpId="0"/>
      <p:bldP spid="3" grpId="0"/>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176E38B-A1B7-42EC-BF65-BE836579975F}"/>
              </a:ext>
            </a:extLst>
          </p:cNvPr>
          <p:cNvSpPr>
            <a:spLocks noGrp="1"/>
          </p:cNvSpPr>
          <p:nvPr>
            <p:ph type="title"/>
          </p:nvPr>
        </p:nvSpPr>
        <p:spPr/>
        <p:txBody>
          <a:bodyPr/>
          <a:lstStyle/>
          <a:p>
            <a:r>
              <a:rPr lang="zh-CN" altLang="en-US" dirty="0"/>
              <a:t>启发式算法</a:t>
            </a:r>
            <a:r>
              <a:rPr lang="en-US" altLang="zh-CN" dirty="0"/>
              <a:t>—</a:t>
            </a:r>
            <a:r>
              <a:rPr lang="zh-CN" altLang="en-US" dirty="0"/>
              <a:t>蚁群算法</a:t>
            </a:r>
          </a:p>
        </p:txBody>
      </p:sp>
      <p:sp>
        <p:nvSpPr>
          <p:cNvPr id="3" name="内容占位符 2">
            <a:extLst>
              <a:ext uri="{FF2B5EF4-FFF2-40B4-BE49-F238E27FC236}">
                <a16:creationId xmlns:a16="http://schemas.microsoft.com/office/drawing/2014/main" id="{7B9C130F-BF61-4A17-A325-878332C19CD7}"/>
              </a:ext>
            </a:extLst>
          </p:cNvPr>
          <p:cNvSpPr>
            <a:spLocks noGrp="1"/>
          </p:cNvSpPr>
          <p:nvPr>
            <p:ph idx="1"/>
          </p:nvPr>
        </p:nvSpPr>
        <p:spPr/>
        <p:txBody>
          <a:bodyPr/>
          <a:lstStyle/>
          <a:p>
            <a:r>
              <a:rPr lang="zh-CN" altLang="en-US" dirty="0"/>
              <a:t>如何更新信息素</a:t>
            </a:r>
            <a:endParaRPr lang="en-US" altLang="zh-CN" dirty="0"/>
          </a:p>
          <a:p>
            <a:pPr lvl="1"/>
            <a:r>
              <a:rPr lang="zh-CN" altLang="en-US" dirty="0"/>
              <a:t>为了避免过多信息素残留引起的浓度淹没启发式信息的问题，要进行挥发，公式如下：</a:t>
            </a:r>
            <a:endParaRPr lang="en-US" altLang="zh-CN" dirty="0"/>
          </a:p>
          <a:p>
            <a:endParaRPr lang="zh-CN" altLang="en-US" dirty="0"/>
          </a:p>
        </p:txBody>
      </p:sp>
      <p:sp>
        <p:nvSpPr>
          <p:cNvPr id="4" name="日期占位符 3">
            <a:extLst>
              <a:ext uri="{FF2B5EF4-FFF2-40B4-BE49-F238E27FC236}">
                <a16:creationId xmlns:a16="http://schemas.microsoft.com/office/drawing/2014/main" id="{3571675B-E557-4A13-8259-EA356DB6B47D}"/>
              </a:ext>
            </a:extLst>
          </p:cNvPr>
          <p:cNvSpPr>
            <a:spLocks noGrp="1"/>
          </p:cNvSpPr>
          <p:nvPr>
            <p:ph type="dt" sz="half" idx="10"/>
          </p:nvPr>
        </p:nvSpPr>
        <p:spPr/>
        <p:txBody>
          <a:bodyPr/>
          <a:lstStyle/>
          <a:p>
            <a:fld id="{A8B06C41-1E1E-4B9B-9644-5AFB8CB2AB3B}" type="datetime3">
              <a:rPr lang="zh-CN" altLang="en-US" smtClean="0"/>
              <a:t>2022年11月24日星期四</a:t>
            </a:fld>
            <a:endParaRPr lang="en-US" altLang="zh-CN" dirty="0"/>
          </a:p>
        </p:txBody>
      </p:sp>
      <p:sp>
        <p:nvSpPr>
          <p:cNvPr id="5" name="灯片编号占位符 4">
            <a:extLst>
              <a:ext uri="{FF2B5EF4-FFF2-40B4-BE49-F238E27FC236}">
                <a16:creationId xmlns:a16="http://schemas.microsoft.com/office/drawing/2014/main" id="{6CE90ECE-418B-44FA-928A-0553B209F950}"/>
              </a:ext>
            </a:extLst>
          </p:cNvPr>
          <p:cNvSpPr>
            <a:spLocks noGrp="1"/>
          </p:cNvSpPr>
          <p:nvPr>
            <p:ph type="sldNum" sz="quarter" idx="12"/>
          </p:nvPr>
        </p:nvSpPr>
        <p:spPr/>
        <p:txBody>
          <a:bodyPr/>
          <a:lstStyle/>
          <a:p>
            <a:fld id="{7AC79822-BC0D-4DE8-A7E5-90A3732A2B82}" type="slidenum">
              <a:rPr lang="zh-CN" altLang="en-US" smtClean="0"/>
              <a:pPr/>
              <a:t>32</a:t>
            </a:fld>
            <a:endParaRPr lang="en-US" altLang="zh-CN" dirty="0"/>
          </a:p>
        </p:txBody>
      </p:sp>
      <p:graphicFrame>
        <p:nvGraphicFramePr>
          <p:cNvPr id="8" name="对象 7">
            <a:extLst>
              <a:ext uri="{FF2B5EF4-FFF2-40B4-BE49-F238E27FC236}">
                <a16:creationId xmlns:a16="http://schemas.microsoft.com/office/drawing/2014/main" id="{C3BCBD8C-AB8A-4574-A5C5-FE1778C2DDFF}"/>
              </a:ext>
            </a:extLst>
          </p:cNvPr>
          <p:cNvGraphicFramePr>
            <a:graphicFrameLocks noChangeAspect="1"/>
          </p:cNvGraphicFramePr>
          <p:nvPr>
            <p:extLst>
              <p:ext uri="{D42A27DB-BD31-4B8C-83A1-F6EECF244321}">
                <p14:modId xmlns:p14="http://schemas.microsoft.com/office/powerpoint/2010/main" val="805498565"/>
              </p:ext>
            </p:extLst>
          </p:nvPr>
        </p:nvGraphicFramePr>
        <p:xfrm>
          <a:off x="1424608" y="3068960"/>
          <a:ext cx="6535738" cy="1381125"/>
        </p:xfrm>
        <a:graphic>
          <a:graphicData uri="http://schemas.openxmlformats.org/presentationml/2006/ole">
            <mc:AlternateContent xmlns:mc="http://schemas.openxmlformats.org/markup-compatibility/2006">
              <mc:Choice xmlns:v="urn:schemas-microsoft-com:vml" Requires="v">
                <p:oleObj name="Equation" r:id="rId2" imgW="2044440" imgH="431640" progId="Equation.DSMT4">
                  <p:embed/>
                </p:oleObj>
              </mc:Choice>
              <mc:Fallback>
                <p:oleObj name="Equation" r:id="rId2" imgW="2044440" imgH="431640" progId="Equation.DSMT4">
                  <p:embed/>
                  <p:pic>
                    <p:nvPicPr>
                      <p:cNvPr id="7" name="对象 6">
                        <a:extLst>
                          <a:ext uri="{FF2B5EF4-FFF2-40B4-BE49-F238E27FC236}">
                            <a16:creationId xmlns:a16="http://schemas.microsoft.com/office/drawing/2014/main" id="{04CD9522-7C05-4F46-BBFE-D898339E99FB}"/>
                          </a:ext>
                        </a:extLst>
                      </p:cNvPr>
                      <p:cNvPicPr/>
                      <p:nvPr/>
                    </p:nvPicPr>
                    <p:blipFill>
                      <a:blip r:embed="rId3"/>
                      <a:stretch>
                        <a:fillRect/>
                      </a:stretch>
                    </p:blipFill>
                    <p:spPr>
                      <a:xfrm>
                        <a:off x="1424608" y="3068960"/>
                        <a:ext cx="6535738" cy="1381125"/>
                      </a:xfrm>
                      <a:prstGeom prst="rect">
                        <a:avLst/>
                      </a:prstGeom>
                    </p:spPr>
                  </p:pic>
                </p:oleObj>
              </mc:Fallback>
            </mc:AlternateContent>
          </a:graphicData>
        </a:graphic>
      </p:graphicFrame>
    </p:spTree>
    <p:extLst>
      <p:ext uri="{BB962C8B-B14F-4D97-AF65-F5344CB8AC3E}">
        <p14:creationId xmlns:p14="http://schemas.microsoft.com/office/powerpoint/2010/main" val="16282757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4" fill="hold" nodeType="with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down)">
                                      <p:cBhvr>
                                        <p:cTn id="7" dur="500"/>
                                        <p:tgtEl>
                                          <p:spTgt spid="3">
                                            <p:txEl>
                                              <p:pRg st="0" end="0"/>
                                            </p:txEl>
                                          </p:spTgt>
                                        </p:tgtEl>
                                      </p:cBhvr>
                                    </p:animEffect>
                                  </p:childTnLst>
                                </p:cTn>
                              </p:par>
                              <p:par>
                                <p:cTn id="8" presetID="22" presetClass="entr" presetSubtype="4" fill="hold" nodeType="withEffect">
                                  <p:stCondLst>
                                    <p:cond delay="0"/>
                                  </p:stCondLst>
                                  <p:childTnLst>
                                    <p:set>
                                      <p:cBhvr>
                                        <p:cTn id="9" dur="1" fill="hold">
                                          <p:stCondLst>
                                            <p:cond delay="0"/>
                                          </p:stCondLst>
                                        </p:cTn>
                                        <p:tgtEl>
                                          <p:spTgt spid="3">
                                            <p:txEl>
                                              <p:pRg st="1" end="1"/>
                                            </p:txEl>
                                          </p:spTgt>
                                        </p:tgtEl>
                                        <p:attrNameLst>
                                          <p:attrName>style.visibility</p:attrName>
                                        </p:attrNameLst>
                                      </p:cBhvr>
                                      <p:to>
                                        <p:strVal val="visible"/>
                                      </p:to>
                                    </p:set>
                                    <p:animEffect transition="in" filter="wipe(down)">
                                      <p:cBhvr>
                                        <p:cTn id="10" dur="500"/>
                                        <p:tgtEl>
                                          <p:spTgt spid="3">
                                            <p:txEl>
                                              <p:pRg st="1" end="1"/>
                                            </p:txEl>
                                          </p:spTgt>
                                        </p:tgtEl>
                                      </p:cBhvr>
                                    </p:animEffect>
                                  </p:childTnLst>
                                </p:cTn>
                              </p:par>
                            </p:childTnLst>
                          </p:cTn>
                        </p:par>
                        <p:par>
                          <p:cTn id="11" fill="hold">
                            <p:stCondLst>
                              <p:cond delay="500"/>
                            </p:stCondLst>
                            <p:childTnLst>
                              <p:par>
                                <p:cTn id="12" presetID="16" presetClass="entr" presetSubtype="21" fill="hold" nodeType="afterEffect">
                                  <p:stCondLst>
                                    <p:cond delay="0"/>
                                  </p:stCondLst>
                                  <p:childTnLst>
                                    <p:set>
                                      <p:cBhvr>
                                        <p:cTn id="13" dur="1" fill="hold">
                                          <p:stCondLst>
                                            <p:cond delay="0"/>
                                          </p:stCondLst>
                                        </p:cTn>
                                        <p:tgtEl>
                                          <p:spTgt spid="8"/>
                                        </p:tgtEl>
                                        <p:attrNameLst>
                                          <p:attrName>style.visibility</p:attrName>
                                        </p:attrNameLst>
                                      </p:cBhvr>
                                      <p:to>
                                        <p:strVal val="visible"/>
                                      </p:to>
                                    </p:set>
                                    <p:animEffect transition="in" filter="barn(inVertical)">
                                      <p:cBhvr>
                                        <p:cTn id="14"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B65DEA1-B78B-404E-B21A-53827DE3B889}"/>
              </a:ext>
            </a:extLst>
          </p:cNvPr>
          <p:cNvSpPr>
            <a:spLocks noGrp="1"/>
          </p:cNvSpPr>
          <p:nvPr>
            <p:ph type="title"/>
          </p:nvPr>
        </p:nvSpPr>
        <p:spPr/>
        <p:txBody>
          <a:bodyPr/>
          <a:lstStyle/>
          <a:p>
            <a:r>
              <a:rPr lang="zh-CN" altLang="en-US" dirty="0"/>
              <a:t>蚁群算法信息素更新公式</a:t>
            </a:r>
          </a:p>
        </p:txBody>
      </p:sp>
      <p:sp>
        <p:nvSpPr>
          <p:cNvPr id="4" name="日期占位符 3">
            <a:extLst>
              <a:ext uri="{FF2B5EF4-FFF2-40B4-BE49-F238E27FC236}">
                <a16:creationId xmlns:a16="http://schemas.microsoft.com/office/drawing/2014/main" id="{ADE44F3D-DDC2-43A3-8EA0-07089B947390}"/>
              </a:ext>
            </a:extLst>
          </p:cNvPr>
          <p:cNvSpPr>
            <a:spLocks noGrp="1"/>
          </p:cNvSpPr>
          <p:nvPr>
            <p:ph type="dt" sz="half" idx="10"/>
          </p:nvPr>
        </p:nvSpPr>
        <p:spPr/>
        <p:txBody>
          <a:bodyPr/>
          <a:lstStyle/>
          <a:p>
            <a:fld id="{A8B06C41-1E1E-4B9B-9644-5AFB8CB2AB3B}" type="datetime3">
              <a:rPr lang="zh-CN" altLang="en-US" smtClean="0"/>
              <a:t>2022年11月24日星期四</a:t>
            </a:fld>
            <a:endParaRPr lang="en-US" altLang="zh-CN" dirty="0"/>
          </a:p>
        </p:txBody>
      </p:sp>
      <p:sp>
        <p:nvSpPr>
          <p:cNvPr id="5" name="灯片编号占位符 4">
            <a:extLst>
              <a:ext uri="{FF2B5EF4-FFF2-40B4-BE49-F238E27FC236}">
                <a16:creationId xmlns:a16="http://schemas.microsoft.com/office/drawing/2014/main" id="{5613A32D-3E78-41BC-AC3D-A5E2C66FD0DC}"/>
              </a:ext>
            </a:extLst>
          </p:cNvPr>
          <p:cNvSpPr>
            <a:spLocks noGrp="1"/>
          </p:cNvSpPr>
          <p:nvPr>
            <p:ph type="sldNum" sz="quarter" idx="12"/>
          </p:nvPr>
        </p:nvSpPr>
        <p:spPr/>
        <p:txBody>
          <a:bodyPr/>
          <a:lstStyle/>
          <a:p>
            <a:fld id="{7AC79822-BC0D-4DE8-A7E5-90A3732A2B82}" type="slidenum">
              <a:rPr lang="zh-CN" altLang="en-US" smtClean="0"/>
              <a:pPr/>
              <a:t>33</a:t>
            </a:fld>
            <a:endParaRPr lang="en-US" altLang="zh-CN" dirty="0"/>
          </a:p>
        </p:txBody>
      </p:sp>
      <p:graphicFrame>
        <p:nvGraphicFramePr>
          <p:cNvPr id="6" name="对象 5">
            <a:extLst>
              <a:ext uri="{FF2B5EF4-FFF2-40B4-BE49-F238E27FC236}">
                <a16:creationId xmlns:a16="http://schemas.microsoft.com/office/drawing/2014/main" id="{B8C54921-D2B4-4235-8BC6-5B7F539BF0B4}"/>
              </a:ext>
            </a:extLst>
          </p:cNvPr>
          <p:cNvGraphicFramePr>
            <a:graphicFrameLocks noChangeAspect="1"/>
          </p:cNvGraphicFramePr>
          <p:nvPr>
            <p:extLst>
              <p:ext uri="{D42A27DB-BD31-4B8C-83A1-F6EECF244321}">
                <p14:modId xmlns:p14="http://schemas.microsoft.com/office/powerpoint/2010/main" val="1582424049"/>
              </p:ext>
            </p:extLst>
          </p:nvPr>
        </p:nvGraphicFramePr>
        <p:xfrm>
          <a:off x="1352600" y="999778"/>
          <a:ext cx="6535738" cy="1381125"/>
        </p:xfrm>
        <a:graphic>
          <a:graphicData uri="http://schemas.openxmlformats.org/presentationml/2006/ole">
            <mc:AlternateContent xmlns:mc="http://schemas.openxmlformats.org/markup-compatibility/2006">
              <mc:Choice xmlns:v="urn:schemas-microsoft-com:vml" Requires="v">
                <p:oleObj name="Equation" r:id="rId2" imgW="2044440" imgH="431640" progId="Equation.DSMT4">
                  <p:embed/>
                </p:oleObj>
              </mc:Choice>
              <mc:Fallback>
                <p:oleObj name="Equation" r:id="rId2" imgW="2044440" imgH="431640" progId="Equation.DSMT4">
                  <p:embed/>
                  <p:pic>
                    <p:nvPicPr>
                      <p:cNvPr id="8" name="对象 7">
                        <a:extLst>
                          <a:ext uri="{FF2B5EF4-FFF2-40B4-BE49-F238E27FC236}">
                            <a16:creationId xmlns:a16="http://schemas.microsoft.com/office/drawing/2014/main" id="{C3BCBD8C-AB8A-4574-A5C5-FE1778C2DDFF}"/>
                          </a:ext>
                        </a:extLst>
                      </p:cNvPr>
                      <p:cNvPicPr/>
                      <p:nvPr/>
                    </p:nvPicPr>
                    <p:blipFill>
                      <a:blip r:embed="rId3"/>
                      <a:stretch>
                        <a:fillRect/>
                      </a:stretch>
                    </p:blipFill>
                    <p:spPr>
                      <a:xfrm>
                        <a:off x="1352600" y="999778"/>
                        <a:ext cx="6535738" cy="1381125"/>
                      </a:xfrm>
                      <a:prstGeom prst="rect">
                        <a:avLst/>
                      </a:prstGeom>
                    </p:spPr>
                  </p:pic>
                </p:oleObj>
              </mc:Fallback>
            </mc:AlternateContent>
          </a:graphicData>
        </a:graphic>
      </p:graphicFrame>
      <p:graphicFrame>
        <p:nvGraphicFramePr>
          <p:cNvPr id="7" name="对象 6">
            <a:extLst>
              <a:ext uri="{FF2B5EF4-FFF2-40B4-BE49-F238E27FC236}">
                <a16:creationId xmlns:a16="http://schemas.microsoft.com/office/drawing/2014/main" id="{C6E38F2C-7639-4CC4-A982-7AD4543D8F21}"/>
              </a:ext>
            </a:extLst>
          </p:cNvPr>
          <p:cNvGraphicFramePr>
            <a:graphicFrameLocks noChangeAspect="1"/>
          </p:cNvGraphicFramePr>
          <p:nvPr>
            <p:extLst>
              <p:ext uri="{D42A27DB-BD31-4B8C-83A1-F6EECF244321}">
                <p14:modId xmlns:p14="http://schemas.microsoft.com/office/powerpoint/2010/main" val="1455371394"/>
              </p:ext>
            </p:extLst>
          </p:nvPr>
        </p:nvGraphicFramePr>
        <p:xfrm>
          <a:off x="128302" y="2564904"/>
          <a:ext cx="9578975" cy="3030538"/>
        </p:xfrm>
        <a:graphic>
          <a:graphicData uri="http://schemas.openxmlformats.org/presentationml/2006/ole">
            <mc:AlternateContent xmlns:mc="http://schemas.openxmlformats.org/markup-compatibility/2006">
              <mc:Choice xmlns:v="urn:schemas-microsoft-com:vml" Requires="v">
                <p:oleObj name="Equation" r:id="rId4" imgW="4533840" imgH="1434960" progId="Equation.DSMT4">
                  <p:embed/>
                </p:oleObj>
              </mc:Choice>
              <mc:Fallback>
                <p:oleObj name="Equation" r:id="rId4" imgW="4533840" imgH="1434960" progId="Equation.DSMT4">
                  <p:embed/>
                  <p:pic>
                    <p:nvPicPr>
                      <p:cNvPr id="8" name="对象 7">
                        <a:extLst>
                          <a:ext uri="{FF2B5EF4-FFF2-40B4-BE49-F238E27FC236}">
                            <a16:creationId xmlns:a16="http://schemas.microsoft.com/office/drawing/2014/main" id="{900C13F6-13EF-43B8-8B63-7117D0A35650}"/>
                          </a:ext>
                        </a:extLst>
                      </p:cNvPr>
                      <p:cNvPicPr/>
                      <p:nvPr/>
                    </p:nvPicPr>
                    <p:blipFill>
                      <a:blip r:embed="rId5"/>
                      <a:stretch>
                        <a:fillRect/>
                      </a:stretch>
                    </p:blipFill>
                    <p:spPr>
                      <a:xfrm>
                        <a:off x="128302" y="2564904"/>
                        <a:ext cx="9578975" cy="3030538"/>
                      </a:xfrm>
                      <a:prstGeom prst="rect">
                        <a:avLst/>
                      </a:prstGeom>
                      <a:noFill/>
                      <a:ln w="28575">
                        <a:solidFill>
                          <a:srgbClr val="C00000"/>
                        </a:solidFill>
                        <a:prstDash val="dash"/>
                      </a:ln>
                    </p:spPr>
                  </p:pic>
                </p:oleObj>
              </mc:Fallback>
            </mc:AlternateContent>
          </a:graphicData>
        </a:graphic>
      </p:graphicFrame>
    </p:spTree>
    <p:extLst>
      <p:ext uri="{BB962C8B-B14F-4D97-AF65-F5344CB8AC3E}">
        <p14:creationId xmlns:p14="http://schemas.microsoft.com/office/powerpoint/2010/main" val="325702847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6" presetClass="entr" presetSubtype="21" fill="hold" nodeType="after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barn(inVertical)">
                                      <p:cBhvr>
                                        <p:cTn id="7" dur="500"/>
                                        <p:tgtEl>
                                          <p:spTgt spid="6"/>
                                        </p:tgtEl>
                                      </p:cBhvr>
                                    </p:animEffect>
                                  </p:childTnLst>
                                </p:cTn>
                              </p:par>
                            </p:childTnLst>
                          </p:cTn>
                        </p:par>
                        <p:par>
                          <p:cTn id="8" fill="hold">
                            <p:stCondLst>
                              <p:cond delay="500"/>
                            </p:stCondLst>
                            <p:childTnLst>
                              <p:par>
                                <p:cTn id="9" presetID="16" presetClass="entr" presetSubtype="21" fill="hold" nodeType="afterEffect">
                                  <p:stCondLst>
                                    <p:cond delay="0"/>
                                  </p:stCondLst>
                                  <p:childTnLst>
                                    <p:set>
                                      <p:cBhvr>
                                        <p:cTn id="10" dur="1" fill="hold">
                                          <p:stCondLst>
                                            <p:cond delay="0"/>
                                          </p:stCondLst>
                                        </p:cTn>
                                        <p:tgtEl>
                                          <p:spTgt spid="7"/>
                                        </p:tgtEl>
                                        <p:attrNameLst>
                                          <p:attrName>style.visibility</p:attrName>
                                        </p:attrNameLst>
                                      </p:cBhvr>
                                      <p:to>
                                        <p:strVal val="visible"/>
                                      </p:to>
                                    </p:set>
                                    <p:animEffect transition="in" filter="barn(inVertical)">
                                      <p:cBhvr>
                                        <p:cTn id="11"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176E38B-A1B7-42EC-BF65-BE836579975F}"/>
              </a:ext>
            </a:extLst>
          </p:cNvPr>
          <p:cNvSpPr>
            <a:spLocks noGrp="1"/>
          </p:cNvSpPr>
          <p:nvPr>
            <p:ph type="title"/>
          </p:nvPr>
        </p:nvSpPr>
        <p:spPr/>
        <p:txBody>
          <a:bodyPr/>
          <a:lstStyle/>
          <a:p>
            <a:r>
              <a:rPr lang="zh-CN" altLang="en-US" dirty="0"/>
              <a:t>启发式算法</a:t>
            </a:r>
            <a:r>
              <a:rPr lang="en-US" altLang="zh-CN" dirty="0"/>
              <a:t>—</a:t>
            </a:r>
            <a:r>
              <a:rPr lang="zh-CN" altLang="en-US" dirty="0"/>
              <a:t>蚁群算法</a:t>
            </a:r>
          </a:p>
        </p:txBody>
      </p:sp>
      <p:sp>
        <p:nvSpPr>
          <p:cNvPr id="3" name="内容占位符 2">
            <a:extLst>
              <a:ext uri="{FF2B5EF4-FFF2-40B4-BE49-F238E27FC236}">
                <a16:creationId xmlns:a16="http://schemas.microsoft.com/office/drawing/2014/main" id="{7B9C130F-BF61-4A17-A325-878332C19CD7}"/>
              </a:ext>
            </a:extLst>
          </p:cNvPr>
          <p:cNvSpPr>
            <a:spLocks noGrp="1"/>
          </p:cNvSpPr>
          <p:nvPr>
            <p:ph idx="1"/>
          </p:nvPr>
        </p:nvSpPr>
        <p:spPr/>
        <p:txBody>
          <a:bodyPr/>
          <a:lstStyle/>
          <a:p>
            <a:r>
              <a:rPr lang="zh-CN" altLang="en-US" dirty="0"/>
              <a:t>如何更新信息素</a:t>
            </a:r>
            <a:endParaRPr lang="en-US" altLang="zh-CN" dirty="0"/>
          </a:p>
          <a:p>
            <a:pPr lvl="1"/>
            <a:r>
              <a:rPr lang="zh-CN" altLang="en-US" dirty="0"/>
              <a:t>根据不同的规则我们可以将蚁群算法分为三种模型：</a:t>
            </a:r>
            <a:endParaRPr lang="en-US" altLang="zh-CN" dirty="0"/>
          </a:p>
          <a:p>
            <a:pPr lvl="2"/>
            <a:r>
              <a:rPr lang="zh-CN" altLang="en-US" dirty="0"/>
              <a:t>蚁周模型</a:t>
            </a:r>
            <a:r>
              <a:rPr lang="en-US" altLang="zh-CN" dirty="0"/>
              <a:t>(Ant-Cycle)</a:t>
            </a:r>
          </a:p>
          <a:p>
            <a:pPr lvl="2"/>
            <a:endParaRPr lang="en-US" altLang="zh-CN" dirty="0"/>
          </a:p>
          <a:p>
            <a:pPr lvl="2"/>
            <a:r>
              <a:rPr lang="zh-CN" altLang="en-US" dirty="0"/>
              <a:t>蚁密模型</a:t>
            </a:r>
            <a:r>
              <a:rPr lang="en-US" altLang="zh-CN" dirty="0"/>
              <a:t>(Ant-Density)</a:t>
            </a:r>
          </a:p>
          <a:p>
            <a:pPr lvl="2"/>
            <a:endParaRPr lang="en-US" altLang="zh-CN" dirty="0"/>
          </a:p>
          <a:p>
            <a:pPr lvl="2"/>
            <a:r>
              <a:rPr lang="zh-CN" altLang="en-US" dirty="0"/>
              <a:t>蚁量模型</a:t>
            </a:r>
            <a:r>
              <a:rPr lang="en-US" altLang="zh-CN" dirty="0"/>
              <a:t>(Ant-Quantity)</a:t>
            </a:r>
          </a:p>
          <a:p>
            <a:pPr lvl="2"/>
            <a:endParaRPr lang="zh-CN" altLang="en-US" dirty="0"/>
          </a:p>
          <a:p>
            <a:pPr lvl="1"/>
            <a:endParaRPr lang="zh-CN" altLang="en-US" dirty="0"/>
          </a:p>
          <a:p>
            <a:endParaRPr lang="zh-CN" altLang="en-US" dirty="0"/>
          </a:p>
        </p:txBody>
      </p:sp>
      <p:sp>
        <p:nvSpPr>
          <p:cNvPr id="4" name="日期占位符 3">
            <a:extLst>
              <a:ext uri="{FF2B5EF4-FFF2-40B4-BE49-F238E27FC236}">
                <a16:creationId xmlns:a16="http://schemas.microsoft.com/office/drawing/2014/main" id="{3571675B-E557-4A13-8259-EA356DB6B47D}"/>
              </a:ext>
            </a:extLst>
          </p:cNvPr>
          <p:cNvSpPr>
            <a:spLocks noGrp="1"/>
          </p:cNvSpPr>
          <p:nvPr>
            <p:ph type="dt" sz="half" idx="10"/>
          </p:nvPr>
        </p:nvSpPr>
        <p:spPr/>
        <p:txBody>
          <a:bodyPr/>
          <a:lstStyle/>
          <a:p>
            <a:fld id="{A8B06C41-1E1E-4B9B-9644-5AFB8CB2AB3B}" type="datetime3">
              <a:rPr lang="zh-CN" altLang="en-US" smtClean="0"/>
              <a:t>2022年11月24日星期四</a:t>
            </a:fld>
            <a:endParaRPr lang="en-US" altLang="zh-CN" dirty="0"/>
          </a:p>
        </p:txBody>
      </p:sp>
      <p:sp>
        <p:nvSpPr>
          <p:cNvPr id="5" name="灯片编号占位符 4">
            <a:extLst>
              <a:ext uri="{FF2B5EF4-FFF2-40B4-BE49-F238E27FC236}">
                <a16:creationId xmlns:a16="http://schemas.microsoft.com/office/drawing/2014/main" id="{6CE90ECE-418B-44FA-928A-0553B209F950}"/>
              </a:ext>
            </a:extLst>
          </p:cNvPr>
          <p:cNvSpPr>
            <a:spLocks noGrp="1"/>
          </p:cNvSpPr>
          <p:nvPr>
            <p:ph type="sldNum" sz="quarter" idx="12"/>
          </p:nvPr>
        </p:nvSpPr>
        <p:spPr/>
        <p:txBody>
          <a:bodyPr/>
          <a:lstStyle/>
          <a:p>
            <a:fld id="{7AC79822-BC0D-4DE8-A7E5-90A3732A2B82}" type="slidenum">
              <a:rPr lang="zh-CN" altLang="en-US" smtClean="0"/>
              <a:pPr/>
              <a:t>34</a:t>
            </a:fld>
            <a:endParaRPr lang="en-US" altLang="zh-CN" dirty="0"/>
          </a:p>
        </p:txBody>
      </p:sp>
    </p:spTree>
    <p:extLst>
      <p:ext uri="{BB962C8B-B14F-4D97-AF65-F5344CB8AC3E}">
        <p14:creationId xmlns:p14="http://schemas.microsoft.com/office/powerpoint/2010/main" val="109173527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4" fill="hold" nodeType="with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down)">
                                      <p:cBhvr>
                                        <p:cTn id="7" dur="500"/>
                                        <p:tgtEl>
                                          <p:spTgt spid="3">
                                            <p:txEl>
                                              <p:pRg st="0" end="0"/>
                                            </p:txEl>
                                          </p:spTgt>
                                        </p:tgtEl>
                                      </p:cBhvr>
                                    </p:animEffect>
                                  </p:childTnLst>
                                </p:cTn>
                              </p:par>
                            </p:childTnLst>
                          </p:cTn>
                        </p:par>
                        <p:par>
                          <p:cTn id="8" fill="hold">
                            <p:stCondLst>
                              <p:cond delay="500"/>
                            </p:stCondLst>
                            <p:childTnLst>
                              <p:par>
                                <p:cTn id="9" presetID="22" presetClass="entr" presetSubtype="4" fill="hold" nodeType="after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animEffect transition="in" filter="wipe(down)">
                                      <p:cBhvr>
                                        <p:cTn id="11" dur="500"/>
                                        <p:tgtEl>
                                          <p:spTgt spid="3">
                                            <p:txEl>
                                              <p:pRg st="1" end="1"/>
                                            </p:txEl>
                                          </p:spTgt>
                                        </p:tgtEl>
                                      </p:cBhvr>
                                    </p:animEffect>
                                  </p:childTnLst>
                                </p:cTn>
                              </p:par>
                            </p:childTnLst>
                          </p:cTn>
                        </p:par>
                        <p:par>
                          <p:cTn id="12" fill="hold">
                            <p:stCondLst>
                              <p:cond delay="1000"/>
                            </p:stCondLst>
                            <p:childTnLst>
                              <p:par>
                                <p:cTn id="13" presetID="22" presetClass="entr" presetSubtype="4" fill="hold" nodeType="after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animEffect transition="in" filter="wipe(down)">
                                      <p:cBhvr>
                                        <p:cTn id="15" dur="500"/>
                                        <p:tgtEl>
                                          <p:spTgt spid="3">
                                            <p:txEl>
                                              <p:pRg st="2" end="2"/>
                                            </p:txEl>
                                          </p:spTgt>
                                        </p:tgtEl>
                                      </p:cBhvr>
                                    </p:animEffect>
                                  </p:childTnLst>
                                </p:cTn>
                              </p:par>
                            </p:childTnLst>
                          </p:cTn>
                        </p:par>
                        <p:par>
                          <p:cTn id="16" fill="hold">
                            <p:stCondLst>
                              <p:cond delay="1500"/>
                            </p:stCondLst>
                            <p:childTnLst>
                              <p:par>
                                <p:cTn id="17" presetID="22" presetClass="entr" presetSubtype="4" fill="hold" nodeType="after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animEffect transition="in" filter="wipe(down)">
                                      <p:cBhvr>
                                        <p:cTn id="19" dur="500"/>
                                        <p:tgtEl>
                                          <p:spTgt spid="3">
                                            <p:txEl>
                                              <p:pRg st="4" end="4"/>
                                            </p:txEl>
                                          </p:spTgt>
                                        </p:tgtEl>
                                      </p:cBhvr>
                                    </p:animEffect>
                                  </p:childTnLst>
                                </p:cTn>
                              </p:par>
                            </p:childTnLst>
                          </p:cTn>
                        </p:par>
                        <p:par>
                          <p:cTn id="20" fill="hold">
                            <p:stCondLst>
                              <p:cond delay="2000"/>
                            </p:stCondLst>
                            <p:childTnLst>
                              <p:par>
                                <p:cTn id="21" presetID="22" presetClass="entr" presetSubtype="4" fill="hold" nodeType="afterEffect">
                                  <p:stCondLst>
                                    <p:cond delay="0"/>
                                  </p:stCondLst>
                                  <p:childTnLst>
                                    <p:set>
                                      <p:cBhvr>
                                        <p:cTn id="22" dur="1" fill="hold">
                                          <p:stCondLst>
                                            <p:cond delay="0"/>
                                          </p:stCondLst>
                                        </p:cTn>
                                        <p:tgtEl>
                                          <p:spTgt spid="3">
                                            <p:txEl>
                                              <p:pRg st="6" end="6"/>
                                            </p:txEl>
                                          </p:spTgt>
                                        </p:tgtEl>
                                        <p:attrNameLst>
                                          <p:attrName>style.visibility</p:attrName>
                                        </p:attrNameLst>
                                      </p:cBhvr>
                                      <p:to>
                                        <p:strVal val="visible"/>
                                      </p:to>
                                    </p:set>
                                    <p:animEffect transition="in" filter="wipe(down)">
                                      <p:cBhvr>
                                        <p:cTn id="23" dur="500"/>
                                        <p:tgtEl>
                                          <p:spTgt spid="3">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176E38B-A1B7-42EC-BF65-BE836579975F}"/>
              </a:ext>
            </a:extLst>
          </p:cNvPr>
          <p:cNvSpPr>
            <a:spLocks noGrp="1"/>
          </p:cNvSpPr>
          <p:nvPr>
            <p:ph type="title"/>
          </p:nvPr>
        </p:nvSpPr>
        <p:spPr/>
        <p:txBody>
          <a:bodyPr/>
          <a:lstStyle/>
          <a:p>
            <a:r>
              <a:rPr lang="zh-CN" altLang="en-US" dirty="0"/>
              <a:t>启发式算法</a:t>
            </a:r>
            <a:r>
              <a:rPr lang="en-US" altLang="zh-CN" dirty="0"/>
              <a:t>—</a:t>
            </a:r>
            <a:r>
              <a:rPr lang="zh-CN" altLang="en-US" dirty="0"/>
              <a:t>蚁群算法</a:t>
            </a:r>
          </a:p>
        </p:txBody>
      </p:sp>
      <p:sp>
        <p:nvSpPr>
          <p:cNvPr id="3" name="内容占位符 2">
            <a:extLst>
              <a:ext uri="{FF2B5EF4-FFF2-40B4-BE49-F238E27FC236}">
                <a16:creationId xmlns:a16="http://schemas.microsoft.com/office/drawing/2014/main" id="{7B9C130F-BF61-4A17-A325-878332C19CD7}"/>
              </a:ext>
            </a:extLst>
          </p:cNvPr>
          <p:cNvSpPr>
            <a:spLocks noGrp="1"/>
          </p:cNvSpPr>
          <p:nvPr>
            <p:ph idx="1"/>
          </p:nvPr>
        </p:nvSpPr>
        <p:spPr/>
        <p:txBody>
          <a:bodyPr/>
          <a:lstStyle/>
          <a:p>
            <a:r>
              <a:rPr lang="zh-CN" altLang="en-US" dirty="0"/>
              <a:t>如何更新信息素</a:t>
            </a:r>
            <a:endParaRPr lang="en-US" altLang="zh-CN" dirty="0"/>
          </a:p>
          <a:p>
            <a:pPr lvl="1"/>
            <a:r>
              <a:rPr lang="zh-CN" altLang="en-US" dirty="0"/>
              <a:t>根据不同的规则我们可以将蚁群算法分为三种模型：</a:t>
            </a:r>
            <a:endParaRPr lang="en-US" altLang="zh-CN" dirty="0"/>
          </a:p>
          <a:p>
            <a:pPr lvl="2"/>
            <a:r>
              <a:rPr lang="zh-CN" altLang="en-US" dirty="0"/>
              <a:t>蚁周模型</a:t>
            </a:r>
            <a:r>
              <a:rPr lang="en-US" altLang="zh-CN" dirty="0"/>
              <a:t>(Ant-Cycle)</a:t>
            </a:r>
          </a:p>
          <a:p>
            <a:pPr lvl="3"/>
            <a:r>
              <a:rPr lang="zh-CN" altLang="en-US" dirty="0"/>
              <a:t>如果在一次循环中，蚂蚁</a:t>
            </a:r>
            <a:r>
              <a:rPr lang="en-US" altLang="zh-CN" dirty="0"/>
              <a:t>k</a:t>
            </a:r>
            <a:r>
              <a:rPr lang="zh-CN" altLang="en-US" dirty="0"/>
              <a:t>经过路径</a:t>
            </a:r>
            <a:r>
              <a:rPr lang="en-US" altLang="zh-CN" dirty="0" err="1"/>
              <a:t>ij</a:t>
            </a:r>
            <a:r>
              <a:rPr lang="zh-CN" altLang="en-US" dirty="0"/>
              <a:t>，则</a:t>
            </a:r>
            <a:endParaRPr lang="en-US" altLang="zh-CN" dirty="0"/>
          </a:p>
          <a:p>
            <a:pPr lvl="1"/>
            <a:endParaRPr lang="en-US" altLang="zh-CN" dirty="0"/>
          </a:p>
          <a:p>
            <a:pPr lvl="3"/>
            <a:endParaRPr lang="en-US" altLang="zh-CN" dirty="0"/>
          </a:p>
          <a:p>
            <a:pPr lvl="3"/>
            <a:endParaRPr lang="en-US" altLang="zh-CN" dirty="0"/>
          </a:p>
          <a:p>
            <a:pPr lvl="3"/>
            <a:r>
              <a:rPr lang="zh-CN" altLang="en-US" dirty="0"/>
              <a:t>更新原则：所有</a:t>
            </a:r>
            <a:r>
              <a:rPr lang="en-US" altLang="zh-CN" dirty="0"/>
              <a:t>m</a:t>
            </a:r>
            <a:r>
              <a:rPr lang="zh-CN" altLang="en-US" dirty="0"/>
              <a:t>只蚂蚁都走完所有节点后进行更新</a:t>
            </a:r>
          </a:p>
          <a:p>
            <a:endParaRPr lang="zh-CN" altLang="en-US" dirty="0"/>
          </a:p>
        </p:txBody>
      </p:sp>
      <p:sp>
        <p:nvSpPr>
          <p:cNvPr id="4" name="日期占位符 3">
            <a:extLst>
              <a:ext uri="{FF2B5EF4-FFF2-40B4-BE49-F238E27FC236}">
                <a16:creationId xmlns:a16="http://schemas.microsoft.com/office/drawing/2014/main" id="{3571675B-E557-4A13-8259-EA356DB6B47D}"/>
              </a:ext>
            </a:extLst>
          </p:cNvPr>
          <p:cNvSpPr>
            <a:spLocks noGrp="1"/>
          </p:cNvSpPr>
          <p:nvPr>
            <p:ph type="dt" sz="half" idx="10"/>
          </p:nvPr>
        </p:nvSpPr>
        <p:spPr/>
        <p:txBody>
          <a:bodyPr/>
          <a:lstStyle/>
          <a:p>
            <a:fld id="{A8B06C41-1E1E-4B9B-9644-5AFB8CB2AB3B}" type="datetime3">
              <a:rPr lang="zh-CN" altLang="en-US" smtClean="0"/>
              <a:t>2022年11月24日星期四</a:t>
            </a:fld>
            <a:endParaRPr lang="en-US" altLang="zh-CN" dirty="0"/>
          </a:p>
        </p:txBody>
      </p:sp>
      <p:sp>
        <p:nvSpPr>
          <p:cNvPr id="5" name="灯片编号占位符 4">
            <a:extLst>
              <a:ext uri="{FF2B5EF4-FFF2-40B4-BE49-F238E27FC236}">
                <a16:creationId xmlns:a16="http://schemas.microsoft.com/office/drawing/2014/main" id="{6CE90ECE-418B-44FA-928A-0553B209F950}"/>
              </a:ext>
            </a:extLst>
          </p:cNvPr>
          <p:cNvSpPr>
            <a:spLocks noGrp="1"/>
          </p:cNvSpPr>
          <p:nvPr>
            <p:ph type="sldNum" sz="quarter" idx="12"/>
          </p:nvPr>
        </p:nvSpPr>
        <p:spPr/>
        <p:txBody>
          <a:bodyPr/>
          <a:lstStyle/>
          <a:p>
            <a:fld id="{7AC79822-BC0D-4DE8-A7E5-90A3732A2B82}" type="slidenum">
              <a:rPr lang="zh-CN" altLang="en-US" smtClean="0"/>
              <a:pPr/>
              <a:t>35</a:t>
            </a:fld>
            <a:endParaRPr lang="en-US" altLang="zh-CN" dirty="0"/>
          </a:p>
        </p:txBody>
      </p:sp>
      <p:graphicFrame>
        <p:nvGraphicFramePr>
          <p:cNvPr id="6" name="对象 5">
            <a:extLst>
              <a:ext uri="{FF2B5EF4-FFF2-40B4-BE49-F238E27FC236}">
                <a16:creationId xmlns:a16="http://schemas.microsoft.com/office/drawing/2014/main" id="{33BD0BA8-1B5D-4611-9F42-C4BA5DD58A50}"/>
              </a:ext>
            </a:extLst>
          </p:cNvPr>
          <p:cNvGraphicFramePr>
            <a:graphicFrameLocks noChangeAspect="1"/>
          </p:cNvGraphicFramePr>
          <p:nvPr>
            <p:extLst>
              <p:ext uri="{D42A27DB-BD31-4B8C-83A1-F6EECF244321}">
                <p14:modId xmlns:p14="http://schemas.microsoft.com/office/powerpoint/2010/main" val="2216903167"/>
              </p:ext>
            </p:extLst>
          </p:nvPr>
        </p:nvGraphicFramePr>
        <p:xfrm>
          <a:off x="2936776" y="4149080"/>
          <a:ext cx="2016224" cy="1399932"/>
        </p:xfrm>
        <a:graphic>
          <a:graphicData uri="http://schemas.openxmlformats.org/presentationml/2006/ole">
            <mc:AlternateContent xmlns:mc="http://schemas.openxmlformats.org/markup-compatibility/2006">
              <mc:Choice xmlns:v="urn:schemas-microsoft-com:vml" Requires="v">
                <p:oleObj name="Equation" r:id="rId2" imgW="622080" imgH="431640" progId="Equation.DSMT4">
                  <p:embed/>
                </p:oleObj>
              </mc:Choice>
              <mc:Fallback>
                <p:oleObj name="Equation" r:id="rId2" imgW="622080" imgH="431640" progId="Equation.DSMT4">
                  <p:embed/>
                  <p:pic>
                    <p:nvPicPr>
                      <p:cNvPr id="6" name="对象 5">
                        <a:extLst>
                          <a:ext uri="{FF2B5EF4-FFF2-40B4-BE49-F238E27FC236}">
                            <a16:creationId xmlns:a16="http://schemas.microsoft.com/office/drawing/2014/main" id="{B8C54921-D2B4-4235-8BC6-5B7F539BF0B4}"/>
                          </a:ext>
                        </a:extLst>
                      </p:cNvPr>
                      <p:cNvPicPr/>
                      <p:nvPr/>
                    </p:nvPicPr>
                    <p:blipFill>
                      <a:blip r:embed="rId3"/>
                      <a:stretch>
                        <a:fillRect/>
                      </a:stretch>
                    </p:blipFill>
                    <p:spPr>
                      <a:xfrm>
                        <a:off x="2936776" y="4149080"/>
                        <a:ext cx="2016224" cy="1399932"/>
                      </a:xfrm>
                      <a:prstGeom prst="rect">
                        <a:avLst/>
                      </a:prstGeom>
                    </p:spPr>
                  </p:pic>
                </p:oleObj>
              </mc:Fallback>
            </mc:AlternateContent>
          </a:graphicData>
        </a:graphic>
      </p:graphicFrame>
      <p:graphicFrame>
        <p:nvGraphicFramePr>
          <p:cNvPr id="7" name="对象 6">
            <a:extLst>
              <a:ext uri="{FF2B5EF4-FFF2-40B4-BE49-F238E27FC236}">
                <a16:creationId xmlns:a16="http://schemas.microsoft.com/office/drawing/2014/main" id="{C82AE9ED-F249-4FD6-9792-C597EF766678}"/>
              </a:ext>
            </a:extLst>
          </p:cNvPr>
          <p:cNvGraphicFramePr>
            <a:graphicFrameLocks noChangeAspect="1"/>
          </p:cNvGraphicFramePr>
          <p:nvPr>
            <p:extLst>
              <p:ext uri="{D42A27DB-BD31-4B8C-83A1-F6EECF244321}">
                <p14:modId xmlns:p14="http://schemas.microsoft.com/office/powerpoint/2010/main" val="777186088"/>
              </p:ext>
            </p:extLst>
          </p:nvPr>
        </p:nvGraphicFramePr>
        <p:xfrm>
          <a:off x="5529064" y="4416091"/>
          <a:ext cx="3003798" cy="865910"/>
        </p:xfrm>
        <a:graphic>
          <a:graphicData uri="http://schemas.openxmlformats.org/presentationml/2006/ole">
            <mc:AlternateContent xmlns:mc="http://schemas.openxmlformats.org/markup-compatibility/2006">
              <mc:Choice xmlns:v="urn:schemas-microsoft-com:vml" Requires="v">
                <p:oleObj name="Equation" r:id="rId4" imgW="1587240" imgH="457200" progId="Equation.DSMT4">
                  <p:embed/>
                </p:oleObj>
              </mc:Choice>
              <mc:Fallback>
                <p:oleObj name="Equation" r:id="rId4" imgW="1587240" imgH="457200" progId="Equation.DSMT4">
                  <p:embed/>
                  <p:pic>
                    <p:nvPicPr>
                      <p:cNvPr id="6" name="对象 5">
                        <a:extLst>
                          <a:ext uri="{FF2B5EF4-FFF2-40B4-BE49-F238E27FC236}">
                            <a16:creationId xmlns:a16="http://schemas.microsoft.com/office/drawing/2014/main" id="{33BD0BA8-1B5D-4611-9F42-C4BA5DD58A50}"/>
                          </a:ext>
                        </a:extLst>
                      </p:cNvPr>
                      <p:cNvPicPr/>
                      <p:nvPr/>
                    </p:nvPicPr>
                    <p:blipFill>
                      <a:blip r:embed="rId5"/>
                      <a:stretch>
                        <a:fillRect/>
                      </a:stretch>
                    </p:blipFill>
                    <p:spPr>
                      <a:xfrm>
                        <a:off x="5529064" y="4416091"/>
                        <a:ext cx="3003798" cy="865910"/>
                      </a:xfrm>
                      <a:prstGeom prst="rect">
                        <a:avLst/>
                      </a:prstGeom>
                      <a:ln>
                        <a:solidFill>
                          <a:srgbClr val="C00000"/>
                        </a:solidFill>
                      </a:ln>
                    </p:spPr>
                  </p:pic>
                </p:oleObj>
              </mc:Fallback>
            </mc:AlternateContent>
          </a:graphicData>
        </a:graphic>
      </p:graphicFrame>
    </p:spTree>
    <p:extLst>
      <p:ext uri="{BB962C8B-B14F-4D97-AF65-F5344CB8AC3E}">
        <p14:creationId xmlns:p14="http://schemas.microsoft.com/office/powerpoint/2010/main" val="17948751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6" presetClass="entr" presetSubtype="21" fill="hold" nodeType="withEffect">
                                  <p:stCondLst>
                                    <p:cond delay="0"/>
                                  </p:stCondLst>
                                  <p:childTnLst>
                                    <p:set>
                                      <p:cBhvr>
                                        <p:cTn id="6" dur="1" fill="hold">
                                          <p:stCondLst>
                                            <p:cond delay="0"/>
                                          </p:stCondLst>
                                        </p:cTn>
                                        <p:tgtEl>
                                          <p:spTgt spid="3">
                                            <p:txEl>
                                              <p:pRg st="3" end="3"/>
                                            </p:txEl>
                                          </p:spTgt>
                                        </p:tgtEl>
                                        <p:attrNameLst>
                                          <p:attrName>style.visibility</p:attrName>
                                        </p:attrNameLst>
                                      </p:cBhvr>
                                      <p:to>
                                        <p:strVal val="visible"/>
                                      </p:to>
                                    </p:set>
                                    <p:animEffect transition="in" filter="barn(inVertical)">
                                      <p:cBhvr>
                                        <p:cTn id="7" dur="500"/>
                                        <p:tgtEl>
                                          <p:spTgt spid="3">
                                            <p:txEl>
                                              <p:pRg st="3" end="3"/>
                                            </p:txEl>
                                          </p:spTgt>
                                        </p:tgtEl>
                                      </p:cBhvr>
                                    </p:animEffect>
                                  </p:childTnLst>
                                </p:cTn>
                              </p:par>
                            </p:childTnLst>
                          </p:cTn>
                        </p:par>
                        <p:par>
                          <p:cTn id="8" fill="hold">
                            <p:stCondLst>
                              <p:cond delay="500"/>
                            </p:stCondLst>
                            <p:childTnLst>
                              <p:par>
                                <p:cTn id="9" presetID="16" presetClass="entr" presetSubtype="21" fill="hold" nodeType="afterEffect">
                                  <p:stCondLst>
                                    <p:cond delay="0"/>
                                  </p:stCondLst>
                                  <p:childTnLst>
                                    <p:set>
                                      <p:cBhvr>
                                        <p:cTn id="10" dur="1" fill="hold">
                                          <p:stCondLst>
                                            <p:cond delay="0"/>
                                          </p:stCondLst>
                                        </p:cTn>
                                        <p:tgtEl>
                                          <p:spTgt spid="6"/>
                                        </p:tgtEl>
                                        <p:attrNameLst>
                                          <p:attrName>style.visibility</p:attrName>
                                        </p:attrNameLst>
                                      </p:cBhvr>
                                      <p:to>
                                        <p:strVal val="visible"/>
                                      </p:to>
                                    </p:set>
                                    <p:animEffect transition="in" filter="barn(inVertical)">
                                      <p:cBhvr>
                                        <p:cTn id="11" dur="500"/>
                                        <p:tgtEl>
                                          <p:spTgt spid="6"/>
                                        </p:tgtEl>
                                      </p:cBhvr>
                                    </p:animEffect>
                                  </p:childTnLst>
                                </p:cTn>
                              </p:par>
                            </p:childTnLst>
                          </p:cTn>
                        </p:par>
                        <p:par>
                          <p:cTn id="12" fill="hold">
                            <p:stCondLst>
                              <p:cond delay="1000"/>
                            </p:stCondLst>
                            <p:childTnLst>
                              <p:par>
                                <p:cTn id="13" presetID="16" presetClass="entr" presetSubtype="21" fill="hold" nodeType="afterEffect">
                                  <p:stCondLst>
                                    <p:cond delay="0"/>
                                  </p:stCondLst>
                                  <p:childTnLst>
                                    <p:set>
                                      <p:cBhvr>
                                        <p:cTn id="14" dur="1" fill="hold">
                                          <p:stCondLst>
                                            <p:cond delay="0"/>
                                          </p:stCondLst>
                                        </p:cTn>
                                        <p:tgtEl>
                                          <p:spTgt spid="7"/>
                                        </p:tgtEl>
                                        <p:attrNameLst>
                                          <p:attrName>style.visibility</p:attrName>
                                        </p:attrNameLst>
                                      </p:cBhvr>
                                      <p:to>
                                        <p:strVal val="visible"/>
                                      </p:to>
                                    </p:set>
                                    <p:animEffect transition="in" filter="barn(inVertical)">
                                      <p:cBhvr>
                                        <p:cTn id="15" dur="500"/>
                                        <p:tgtEl>
                                          <p:spTgt spid="7"/>
                                        </p:tgtEl>
                                      </p:cBhvr>
                                    </p:animEffect>
                                  </p:childTnLst>
                                </p:cTn>
                              </p:par>
                            </p:childTnLst>
                          </p:cTn>
                        </p:par>
                        <p:par>
                          <p:cTn id="16" fill="hold">
                            <p:stCondLst>
                              <p:cond delay="1500"/>
                            </p:stCondLst>
                            <p:childTnLst>
                              <p:par>
                                <p:cTn id="17" presetID="22" presetClass="entr" presetSubtype="4" fill="hold" nodeType="afterEffect">
                                  <p:stCondLst>
                                    <p:cond delay="0"/>
                                  </p:stCondLst>
                                  <p:childTnLst>
                                    <p:set>
                                      <p:cBhvr>
                                        <p:cTn id="18" dur="1" fill="hold">
                                          <p:stCondLst>
                                            <p:cond delay="0"/>
                                          </p:stCondLst>
                                        </p:cTn>
                                        <p:tgtEl>
                                          <p:spTgt spid="3">
                                            <p:txEl>
                                              <p:pRg st="7" end="7"/>
                                            </p:txEl>
                                          </p:spTgt>
                                        </p:tgtEl>
                                        <p:attrNameLst>
                                          <p:attrName>style.visibility</p:attrName>
                                        </p:attrNameLst>
                                      </p:cBhvr>
                                      <p:to>
                                        <p:strVal val="visible"/>
                                      </p:to>
                                    </p:set>
                                    <p:animEffect transition="in" filter="wipe(down)">
                                      <p:cBhvr>
                                        <p:cTn id="19" dur="500"/>
                                        <p:tgtEl>
                                          <p:spTgt spid="3">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176E38B-A1B7-42EC-BF65-BE836579975F}"/>
              </a:ext>
            </a:extLst>
          </p:cNvPr>
          <p:cNvSpPr>
            <a:spLocks noGrp="1"/>
          </p:cNvSpPr>
          <p:nvPr>
            <p:ph type="title"/>
          </p:nvPr>
        </p:nvSpPr>
        <p:spPr/>
        <p:txBody>
          <a:bodyPr/>
          <a:lstStyle/>
          <a:p>
            <a:r>
              <a:rPr lang="zh-CN" altLang="en-US" dirty="0"/>
              <a:t>启发式算法</a:t>
            </a:r>
            <a:r>
              <a:rPr lang="en-US" altLang="zh-CN" dirty="0"/>
              <a:t>—</a:t>
            </a:r>
            <a:r>
              <a:rPr lang="zh-CN" altLang="en-US" dirty="0"/>
              <a:t>蚁群算法</a:t>
            </a:r>
          </a:p>
        </p:txBody>
      </p:sp>
      <p:sp>
        <p:nvSpPr>
          <p:cNvPr id="3" name="内容占位符 2">
            <a:extLst>
              <a:ext uri="{FF2B5EF4-FFF2-40B4-BE49-F238E27FC236}">
                <a16:creationId xmlns:a16="http://schemas.microsoft.com/office/drawing/2014/main" id="{7B9C130F-BF61-4A17-A325-878332C19CD7}"/>
              </a:ext>
            </a:extLst>
          </p:cNvPr>
          <p:cNvSpPr>
            <a:spLocks noGrp="1"/>
          </p:cNvSpPr>
          <p:nvPr>
            <p:ph idx="1"/>
          </p:nvPr>
        </p:nvSpPr>
        <p:spPr/>
        <p:txBody>
          <a:bodyPr/>
          <a:lstStyle/>
          <a:p>
            <a:r>
              <a:rPr lang="zh-CN" altLang="en-US" dirty="0"/>
              <a:t>如何更新信息素</a:t>
            </a:r>
            <a:endParaRPr lang="en-US" altLang="zh-CN" dirty="0"/>
          </a:p>
          <a:p>
            <a:pPr lvl="1"/>
            <a:r>
              <a:rPr lang="zh-CN" altLang="en-US" dirty="0"/>
              <a:t>根据不同的规则我们可以将蚁群算法分为三种模型：</a:t>
            </a:r>
            <a:endParaRPr lang="en-US" altLang="zh-CN" dirty="0"/>
          </a:p>
          <a:p>
            <a:pPr lvl="2"/>
            <a:r>
              <a:rPr lang="zh-CN" altLang="en-US" dirty="0"/>
              <a:t>蚁密模型</a:t>
            </a:r>
            <a:r>
              <a:rPr lang="en-US" altLang="zh-CN" dirty="0"/>
              <a:t>(Ant-Density)</a:t>
            </a:r>
          </a:p>
          <a:p>
            <a:pPr lvl="3"/>
            <a:r>
              <a:rPr lang="zh-CN" altLang="en-US" dirty="0"/>
              <a:t>如果从</a:t>
            </a:r>
            <a:r>
              <a:rPr lang="en-US" altLang="zh-CN" dirty="0"/>
              <a:t>t</a:t>
            </a:r>
            <a:r>
              <a:rPr lang="zh-CN" altLang="en-US" dirty="0"/>
              <a:t>到</a:t>
            </a:r>
            <a:r>
              <a:rPr lang="en-US" altLang="zh-CN" dirty="0"/>
              <a:t>t+1</a:t>
            </a:r>
            <a:r>
              <a:rPr lang="zh-CN" altLang="en-US" dirty="0"/>
              <a:t>时刻，蚂蚁</a:t>
            </a:r>
            <a:r>
              <a:rPr lang="en-US" altLang="zh-CN" dirty="0"/>
              <a:t>k</a:t>
            </a:r>
            <a:r>
              <a:rPr lang="zh-CN" altLang="en-US" dirty="0"/>
              <a:t>经过路径</a:t>
            </a:r>
            <a:r>
              <a:rPr lang="en-US" altLang="zh-CN" dirty="0" err="1"/>
              <a:t>ij</a:t>
            </a:r>
            <a:r>
              <a:rPr lang="zh-CN" altLang="en-US" dirty="0"/>
              <a:t>，则</a:t>
            </a:r>
            <a:endParaRPr lang="en-US" altLang="zh-CN" dirty="0"/>
          </a:p>
          <a:p>
            <a:pPr lvl="1"/>
            <a:endParaRPr lang="en-US" altLang="zh-CN" dirty="0"/>
          </a:p>
          <a:p>
            <a:pPr lvl="3"/>
            <a:endParaRPr lang="en-US" altLang="zh-CN" dirty="0"/>
          </a:p>
          <a:p>
            <a:pPr lvl="3"/>
            <a:r>
              <a:rPr lang="zh-CN" altLang="en-US" dirty="0"/>
              <a:t>更新原则：第</a:t>
            </a:r>
            <a:r>
              <a:rPr lang="en-US" altLang="zh-CN" dirty="0"/>
              <a:t>k</a:t>
            </a:r>
            <a:r>
              <a:rPr lang="zh-CN" altLang="en-US" dirty="0"/>
              <a:t>只蚂蚁走完一个路径就更新</a:t>
            </a:r>
          </a:p>
          <a:p>
            <a:endParaRPr lang="zh-CN" altLang="en-US" dirty="0"/>
          </a:p>
        </p:txBody>
      </p:sp>
      <p:sp>
        <p:nvSpPr>
          <p:cNvPr id="4" name="日期占位符 3">
            <a:extLst>
              <a:ext uri="{FF2B5EF4-FFF2-40B4-BE49-F238E27FC236}">
                <a16:creationId xmlns:a16="http://schemas.microsoft.com/office/drawing/2014/main" id="{3571675B-E557-4A13-8259-EA356DB6B47D}"/>
              </a:ext>
            </a:extLst>
          </p:cNvPr>
          <p:cNvSpPr>
            <a:spLocks noGrp="1"/>
          </p:cNvSpPr>
          <p:nvPr>
            <p:ph type="dt" sz="half" idx="10"/>
          </p:nvPr>
        </p:nvSpPr>
        <p:spPr/>
        <p:txBody>
          <a:bodyPr/>
          <a:lstStyle/>
          <a:p>
            <a:fld id="{A8B06C41-1E1E-4B9B-9644-5AFB8CB2AB3B}" type="datetime3">
              <a:rPr lang="zh-CN" altLang="en-US" smtClean="0"/>
              <a:t>2022年11月24日星期四</a:t>
            </a:fld>
            <a:endParaRPr lang="en-US" altLang="zh-CN" dirty="0"/>
          </a:p>
        </p:txBody>
      </p:sp>
      <p:sp>
        <p:nvSpPr>
          <p:cNvPr id="5" name="灯片编号占位符 4">
            <a:extLst>
              <a:ext uri="{FF2B5EF4-FFF2-40B4-BE49-F238E27FC236}">
                <a16:creationId xmlns:a16="http://schemas.microsoft.com/office/drawing/2014/main" id="{6CE90ECE-418B-44FA-928A-0553B209F950}"/>
              </a:ext>
            </a:extLst>
          </p:cNvPr>
          <p:cNvSpPr>
            <a:spLocks noGrp="1"/>
          </p:cNvSpPr>
          <p:nvPr>
            <p:ph type="sldNum" sz="quarter" idx="12"/>
          </p:nvPr>
        </p:nvSpPr>
        <p:spPr/>
        <p:txBody>
          <a:bodyPr/>
          <a:lstStyle/>
          <a:p>
            <a:fld id="{7AC79822-BC0D-4DE8-A7E5-90A3732A2B82}" type="slidenum">
              <a:rPr lang="zh-CN" altLang="en-US" smtClean="0"/>
              <a:pPr/>
              <a:t>36</a:t>
            </a:fld>
            <a:endParaRPr lang="en-US" altLang="zh-CN" dirty="0"/>
          </a:p>
        </p:txBody>
      </p:sp>
      <p:graphicFrame>
        <p:nvGraphicFramePr>
          <p:cNvPr id="6" name="对象 5">
            <a:extLst>
              <a:ext uri="{FF2B5EF4-FFF2-40B4-BE49-F238E27FC236}">
                <a16:creationId xmlns:a16="http://schemas.microsoft.com/office/drawing/2014/main" id="{33BD0BA8-1B5D-4611-9F42-C4BA5DD58A50}"/>
              </a:ext>
            </a:extLst>
          </p:cNvPr>
          <p:cNvGraphicFramePr>
            <a:graphicFrameLocks noChangeAspect="1"/>
          </p:cNvGraphicFramePr>
          <p:nvPr>
            <p:extLst>
              <p:ext uri="{D42A27DB-BD31-4B8C-83A1-F6EECF244321}">
                <p14:modId xmlns:p14="http://schemas.microsoft.com/office/powerpoint/2010/main" val="1196810501"/>
              </p:ext>
            </p:extLst>
          </p:nvPr>
        </p:nvGraphicFramePr>
        <p:xfrm>
          <a:off x="3041650" y="4292600"/>
          <a:ext cx="1768475" cy="823913"/>
        </p:xfrm>
        <a:graphic>
          <a:graphicData uri="http://schemas.openxmlformats.org/presentationml/2006/ole">
            <mc:AlternateContent xmlns:mc="http://schemas.openxmlformats.org/markup-compatibility/2006">
              <mc:Choice xmlns:v="urn:schemas-microsoft-com:vml" Requires="v">
                <p:oleObj name="Equation" r:id="rId2" imgW="545760" imgH="253800" progId="Equation.DSMT4">
                  <p:embed/>
                </p:oleObj>
              </mc:Choice>
              <mc:Fallback>
                <p:oleObj name="Equation" r:id="rId2" imgW="545760" imgH="253800" progId="Equation.DSMT4">
                  <p:embed/>
                  <p:pic>
                    <p:nvPicPr>
                      <p:cNvPr id="6" name="对象 5">
                        <a:extLst>
                          <a:ext uri="{FF2B5EF4-FFF2-40B4-BE49-F238E27FC236}">
                            <a16:creationId xmlns:a16="http://schemas.microsoft.com/office/drawing/2014/main" id="{33BD0BA8-1B5D-4611-9F42-C4BA5DD58A50}"/>
                          </a:ext>
                        </a:extLst>
                      </p:cNvPr>
                      <p:cNvPicPr/>
                      <p:nvPr/>
                    </p:nvPicPr>
                    <p:blipFill>
                      <a:blip r:embed="rId3"/>
                      <a:stretch>
                        <a:fillRect/>
                      </a:stretch>
                    </p:blipFill>
                    <p:spPr>
                      <a:xfrm>
                        <a:off x="3041650" y="4292600"/>
                        <a:ext cx="1768475" cy="823913"/>
                      </a:xfrm>
                      <a:prstGeom prst="rect">
                        <a:avLst/>
                      </a:prstGeom>
                    </p:spPr>
                  </p:pic>
                </p:oleObj>
              </mc:Fallback>
            </mc:AlternateContent>
          </a:graphicData>
        </a:graphic>
      </p:graphicFrame>
    </p:spTree>
    <p:extLst>
      <p:ext uri="{BB962C8B-B14F-4D97-AF65-F5344CB8AC3E}">
        <p14:creationId xmlns:p14="http://schemas.microsoft.com/office/powerpoint/2010/main" val="137649883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4" fill="hold" nodeType="withEffect">
                                  <p:stCondLst>
                                    <p:cond delay="0"/>
                                  </p:stCondLst>
                                  <p:childTnLst>
                                    <p:set>
                                      <p:cBhvr>
                                        <p:cTn id="6" dur="1" fill="hold">
                                          <p:stCondLst>
                                            <p:cond delay="0"/>
                                          </p:stCondLst>
                                        </p:cTn>
                                        <p:tgtEl>
                                          <p:spTgt spid="3">
                                            <p:txEl>
                                              <p:pRg st="3" end="3"/>
                                            </p:txEl>
                                          </p:spTgt>
                                        </p:tgtEl>
                                        <p:attrNameLst>
                                          <p:attrName>style.visibility</p:attrName>
                                        </p:attrNameLst>
                                      </p:cBhvr>
                                      <p:to>
                                        <p:strVal val="visible"/>
                                      </p:to>
                                    </p:set>
                                    <p:animEffect transition="in" filter="wipe(down)">
                                      <p:cBhvr>
                                        <p:cTn id="7" dur="500"/>
                                        <p:tgtEl>
                                          <p:spTgt spid="3">
                                            <p:txEl>
                                              <p:pRg st="3" end="3"/>
                                            </p:txEl>
                                          </p:spTgt>
                                        </p:tgtEl>
                                      </p:cBhvr>
                                    </p:animEffect>
                                  </p:childTnLst>
                                </p:cTn>
                              </p:par>
                            </p:childTnLst>
                          </p:cTn>
                        </p:par>
                        <p:par>
                          <p:cTn id="8" fill="hold">
                            <p:stCondLst>
                              <p:cond delay="500"/>
                            </p:stCondLst>
                            <p:childTnLst>
                              <p:par>
                                <p:cTn id="9" presetID="16" presetClass="entr" presetSubtype="21" fill="hold" nodeType="afterEffect">
                                  <p:stCondLst>
                                    <p:cond delay="0"/>
                                  </p:stCondLst>
                                  <p:childTnLst>
                                    <p:set>
                                      <p:cBhvr>
                                        <p:cTn id="10" dur="1" fill="hold">
                                          <p:stCondLst>
                                            <p:cond delay="0"/>
                                          </p:stCondLst>
                                        </p:cTn>
                                        <p:tgtEl>
                                          <p:spTgt spid="6"/>
                                        </p:tgtEl>
                                        <p:attrNameLst>
                                          <p:attrName>style.visibility</p:attrName>
                                        </p:attrNameLst>
                                      </p:cBhvr>
                                      <p:to>
                                        <p:strVal val="visible"/>
                                      </p:to>
                                    </p:set>
                                    <p:animEffect transition="in" filter="barn(inVertical)">
                                      <p:cBhvr>
                                        <p:cTn id="11" dur="500"/>
                                        <p:tgtEl>
                                          <p:spTgt spid="6"/>
                                        </p:tgtEl>
                                      </p:cBhvr>
                                    </p:animEffect>
                                  </p:childTnLst>
                                </p:cTn>
                              </p:par>
                            </p:childTnLst>
                          </p:cTn>
                        </p:par>
                        <p:par>
                          <p:cTn id="12" fill="hold">
                            <p:stCondLst>
                              <p:cond delay="1000"/>
                            </p:stCondLst>
                            <p:childTnLst>
                              <p:par>
                                <p:cTn id="13" presetID="22" presetClass="entr" presetSubtype="4" fill="hold" nodeType="afterEffect">
                                  <p:stCondLst>
                                    <p:cond delay="0"/>
                                  </p:stCondLst>
                                  <p:childTnLst>
                                    <p:set>
                                      <p:cBhvr>
                                        <p:cTn id="14" dur="1" fill="hold">
                                          <p:stCondLst>
                                            <p:cond delay="0"/>
                                          </p:stCondLst>
                                        </p:cTn>
                                        <p:tgtEl>
                                          <p:spTgt spid="3">
                                            <p:txEl>
                                              <p:pRg st="6" end="6"/>
                                            </p:txEl>
                                          </p:spTgt>
                                        </p:tgtEl>
                                        <p:attrNameLst>
                                          <p:attrName>style.visibility</p:attrName>
                                        </p:attrNameLst>
                                      </p:cBhvr>
                                      <p:to>
                                        <p:strVal val="visible"/>
                                      </p:to>
                                    </p:set>
                                    <p:animEffect transition="in" filter="wipe(down)">
                                      <p:cBhvr>
                                        <p:cTn id="15" dur="500"/>
                                        <p:tgtEl>
                                          <p:spTgt spid="3">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176E38B-A1B7-42EC-BF65-BE836579975F}"/>
              </a:ext>
            </a:extLst>
          </p:cNvPr>
          <p:cNvSpPr>
            <a:spLocks noGrp="1"/>
          </p:cNvSpPr>
          <p:nvPr>
            <p:ph type="title"/>
          </p:nvPr>
        </p:nvSpPr>
        <p:spPr/>
        <p:txBody>
          <a:bodyPr/>
          <a:lstStyle/>
          <a:p>
            <a:r>
              <a:rPr lang="zh-CN" altLang="en-US" dirty="0"/>
              <a:t>启发式算法</a:t>
            </a:r>
            <a:r>
              <a:rPr lang="en-US" altLang="zh-CN" dirty="0"/>
              <a:t>—</a:t>
            </a:r>
            <a:r>
              <a:rPr lang="zh-CN" altLang="en-US" dirty="0"/>
              <a:t>蚁群算法</a:t>
            </a:r>
          </a:p>
        </p:txBody>
      </p:sp>
      <p:sp>
        <p:nvSpPr>
          <p:cNvPr id="3" name="内容占位符 2">
            <a:extLst>
              <a:ext uri="{FF2B5EF4-FFF2-40B4-BE49-F238E27FC236}">
                <a16:creationId xmlns:a16="http://schemas.microsoft.com/office/drawing/2014/main" id="{7B9C130F-BF61-4A17-A325-878332C19CD7}"/>
              </a:ext>
            </a:extLst>
          </p:cNvPr>
          <p:cNvSpPr>
            <a:spLocks noGrp="1"/>
          </p:cNvSpPr>
          <p:nvPr>
            <p:ph idx="1"/>
          </p:nvPr>
        </p:nvSpPr>
        <p:spPr/>
        <p:txBody>
          <a:bodyPr/>
          <a:lstStyle/>
          <a:p>
            <a:r>
              <a:rPr lang="zh-CN" altLang="en-US" dirty="0"/>
              <a:t>如何更新信息素</a:t>
            </a:r>
            <a:endParaRPr lang="en-US" altLang="zh-CN" dirty="0"/>
          </a:p>
          <a:p>
            <a:pPr lvl="1"/>
            <a:r>
              <a:rPr lang="zh-CN" altLang="en-US" dirty="0"/>
              <a:t>根据不同的规则我们可以将蚁群算法分为三种模型：</a:t>
            </a:r>
            <a:endParaRPr lang="en-US" altLang="zh-CN" dirty="0"/>
          </a:p>
          <a:p>
            <a:pPr lvl="2"/>
            <a:r>
              <a:rPr lang="zh-CN" altLang="en-US" dirty="0"/>
              <a:t>蚁量模型</a:t>
            </a:r>
            <a:r>
              <a:rPr lang="en-US" altLang="zh-CN" dirty="0"/>
              <a:t>(Ant-Quantity)</a:t>
            </a:r>
          </a:p>
          <a:p>
            <a:pPr lvl="3"/>
            <a:r>
              <a:rPr lang="zh-CN" altLang="en-US" dirty="0"/>
              <a:t>如果从</a:t>
            </a:r>
            <a:r>
              <a:rPr lang="en-US" altLang="zh-CN" dirty="0"/>
              <a:t>t</a:t>
            </a:r>
            <a:r>
              <a:rPr lang="zh-CN" altLang="en-US" dirty="0"/>
              <a:t>到</a:t>
            </a:r>
            <a:r>
              <a:rPr lang="en-US" altLang="zh-CN" dirty="0"/>
              <a:t>t+1</a:t>
            </a:r>
            <a:r>
              <a:rPr lang="zh-CN" altLang="en-US" dirty="0"/>
              <a:t>时刻，蚂蚁</a:t>
            </a:r>
            <a:r>
              <a:rPr lang="en-US" altLang="zh-CN" dirty="0"/>
              <a:t>k</a:t>
            </a:r>
            <a:r>
              <a:rPr lang="zh-CN" altLang="en-US" dirty="0"/>
              <a:t>经过路径</a:t>
            </a:r>
            <a:r>
              <a:rPr lang="en-US" altLang="zh-CN" dirty="0" err="1"/>
              <a:t>ij</a:t>
            </a:r>
            <a:r>
              <a:rPr lang="zh-CN" altLang="en-US" dirty="0"/>
              <a:t>，则</a:t>
            </a:r>
            <a:endParaRPr lang="en-US" altLang="zh-CN" dirty="0"/>
          </a:p>
          <a:p>
            <a:pPr lvl="1"/>
            <a:endParaRPr lang="en-US" altLang="zh-CN" dirty="0"/>
          </a:p>
          <a:p>
            <a:pPr lvl="3"/>
            <a:endParaRPr lang="en-US" altLang="zh-CN" dirty="0"/>
          </a:p>
          <a:p>
            <a:pPr lvl="3"/>
            <a:r>
              <a:rPr lang="zh-CN" altLang="en-US" dirty="0"/>
              <a:t>更新原则：第</a:t>
            </a:r>
            <a:r>
              <a:rPr lang="en-US" altLang="zh-CN" dirty="0"/>
              <a:t>k</a:t>
            </a:r>
            <a:r>
              <a:rPr lang="zh-CN" altLang="en-US" dirty="0"/>
              <a:t>只蚂蚁走完一个路径就更新</a:t>
            </a:r>
          </a:p>
          <a:p>
            <a:endParaRPr lang="zh-CN" altLang="en-US" dirty="0"/>
          </a:p>
        </p:txBody>
      </p:sp>
      <p:sp>
        <p:nvSpPr>
          <p:cNvPr id="4" name="日期占位符 3">
            <a:extLst>
              <a:ext uri="{FF2B5EF4-FFF2-40B4-BE49-F238E27FC236}">
                <a16:creationId xmlns:a16="http://schemas.microsoft.com/office/drawing/2014/main" id="{3571675B-E557-4A13-8259-EA356DB6B47D}"/>
              </a:ext>
            </a:extLst>
          </p:cNvPr>
          <p:cNvSpPr>
            <a:spLocks noGrp="1"/>
          </p:cNvSpPr>
          <p:nvPr>
            <p:ph type="dt" sz="half" idx="10"/>
          </p:nvPr>
        </p:nvSpPr>
        <p:spPr/>
        <p:txBody>
          <a:bodyPr/>
          <a:lstStyle/>
          <a:p>
            <a:fld id="{A8B06C41-1E1E-4B9B-9644-5AFB8CB2AB3B}" type="datetime3">
              <a:rPr lang="zh-CN" altLang="en-US" smtClean="0"/>
              <a:t>2022年11月24日星期四</a:t>
            </a:fld>
            <a:endParaRPr lang="en-US" altLang="zh-CN" dirty="0"/>
          </a:p>
        </p:txBody>
      </p:sp>
      <p:sp>
        <p:nvSpPr>
          <p:cNvPr id="5" name="灯片编号占位符 4">
            <a:extLst>
              <a:ext uri="{FF2B5EF4-FFF2-40B4-BE49-F238E27FC236}">
                <a16:creationId xmlns:a16="http://schemas.microsoft.com/office/drawing/2014/main" id="{6CE90ECE-418B-44FA-928A-0553B209F950}"/>
              </a:ext>
            </a:extLst>
          </p:cNvPr>
          <p:cNvSpPr>
            <a:spLocks noGrp="1"/>
          </p:cNvSpPr>
          <p:nvPr>
            <p:ph type="sldNum" sz="quarter" idx="12"/>
          </p:nvPr>
        </p:nvSpPr>
        <p:spPr/>
        <p:txBody>
          <a:bodyPr/>
          <a:lstStyle/>
          <a:p>
            <a:fld id="{7AC79822-BC0D-4DE8-A7E5-90A3732A2B82}" type="slidenum">
              <a:rPr lang="zh-CN" altLang="en-US" smtClean="0"/>
              <a:pPr/>
              <a:t>37</a:t>
            </a:fld>
            <a:endParaRPr lang="en-US" altLang="zh-CN" dirty="0"/>
          </a:p>
        </p:txBody>
      </p:sp>
      <p:graphicFrame>
        <p:nvGraphicFramePr>
          <p:cNvPr id="6" name="对象 5">
            <a:extLst>
              <a:ext uri="{FF2B5EF4-FFF2-40B4-BE49-F238E27FC236}">
                <a16:creationId xmlns:a16="http://schemas.microsoft.com/office/drawing/2014/main" id="{33BD0BA8-1B5D-4611-9F42-C4BA5DD58A50}"/>
              </a:ext>
            </a:extLst>
          </p:cNvPr>
          <p:cNvGraphicFramePr>
            <a:graphicFrameLocks noChangeAspect="1"/>
          </p:cNvGraphicFramePr>
          <p:nvPr>
            <p:extLst>
              <p:ext uri="{D42A27DB-BD31-4B8C-83A1-F6EECF244321}">
                <p14:modId xmlns:p14="http://schemas.microsoft.com/office/powerpoint/2010/main" val="2021940254"/>
              </p:ext>
            </p:extLst>
          </p:nvPr>
        </p:nvGraphicFramePr>
        <p:xfrm>
          <a:off x="2898725" y="3933056"/>
          <a:ext cx="1910259" cy="1339394"/>
        </p:xfrm>
        <a:graphic>
          <a:graphicData uri="http://schemas.openxmlformats.org/presentationml/2006/ole">
            <mc:AlternateContent xmlns:mc="http://schemas.openxmlformats.org/markup-compatibility/2006">
              <mc:Choice xmlns:v="urn:schemas-microsoft-com:vml" Requires="v">
                <p:oleObj name="Equation" r:id="rId2" imgW="634680" imgH="444240" progId="Equation.DSMT4">
                  <p:embed/>
                </p:oleObj>
              </mc:Choice>
              <mc:Fallback>
                <p:oleObj name="Equation" r:id="rId2" imgW="634680" imgH="444240" progId="Equation.DSMT4">
                  <p:embed/>
                  <p:pic>
                    <p:nvPicPr>
                      <p:cNvPr id="6" name="对象 5">
                        <a:extLst>
                          <a:ext uri="{FF2B5EF4-FFF2-40B4-BE49-F238E27FC236}">
                            <a16:creationId xmlns:a16="http://schemas.microsoft.com/office/drawing/2014/main" id="{33BD0BA8-1B5D-4611-9F42-C4BA5DD58A50}"/>
                          </a:ext>
                        </a:extLst>
                      </p:cNvPr>
                      <p:cNvPicPr/>
                      <p:nvPr/>
                    </p:nvPicPr>
                    <p:blipFill>
                      <a:blip r:embed="rId3"/>
                      <a:stretch>
                        <a:fillRect/>
                      </a:stretch>
                    </p:blipFill>
                    <p:spPr>
                      <a:xfrm>
                        <a:off x="2898725" y="3933056"/>
                        <a:ext cx="1910259" cy="1339394"/>
                      </a:xfrm>
                      <a:prstGeom prst="rect">
                        <a:avLst/>
                      </a:prstGeom>
                    </p:spPr>
                  </p:pic>
                </p:oleObj>
              </mc:Fallback>
            </mc:AlternateContent>
          </a:graphicData>
        </a:graphic>
      </p:graphicFrame>
      <p:graphicFrame>
        <p:nvGraphicFramePr>
          <p:cNvPr id="7" name="对象 6">
            <a:extLst>
              <a:ext uri="{FF2B5EF4-FFF2-40B4-BE49-F238E27FC236}">
                <a16:creationId xmlns:a16="http://schemas.microsoft.com/office/drawing/2014/main" id="{706AA439-6F3E-4046-B739-8E12341D1045}"/>
              </a:ext>
            </a:extLst>
          </p:cNvPr>
          <p:cNvGraphicFramePr>
            <a:graphicFrameLocks noChangeAspect="1"/>
          </p:cNvGraphicFramePr>
          <p:nvPr>
            <p:extLst>
              <p:ext uri="{D42A27DB-BD31-4B8C-83A1-F6EECF244321}">
                <p14:modId xmlns:p14="http://schemas.microsoft.com/office/powerpoint/2010/main" val="70965005"/>
              </p:ext>
            </p:extLst>
          </p:nvPr>
        </p:nvGraphicFramePr>
        <p:xfrm>
          <a:off x="5805488" y="4373563"/>
          <a:ext cx="2306637" cy="457200"/>
        </p:xfrm>
        <a:graphic>
          <a:graphicData uri="http://schemas.openxmlformats.org/presentationml/2006/ole">
            <mc:AlternateContent xmlns:mc="http://schemas.openxmlformats.org/markup-compatibility/2006">
              <mc:Choice xmlns:v="urn:schemas-microsoft-com:vml" Requires="v">
                <p:oleObj name="Equation" r:id="rId4" imgW="1218960" imgH="241200" progId="Equation.DSMT4">
                  <p:embed/>
                </p:oleObj>
              </mc:Choice>
              <mc:Fallback>
                <p:oleObj name="Equation" r:id="rId4" imgW="1218960" imgH="241200" progId="Equation.DSMT4">
                  <p:embed/>
                  <p:pic>
                    <p:nvPicPr>
                      <p:cNvPr id="7" name="对象 6">
                        <a:extLst>
                          <a:ext uri="{FF2B5EF4-FFF2-40B4-BE49-F238E27FC236}">
                            <a16:creationId xmlns:a16="http://schemas.microsoft.com/office/drawing/2014/main" id="{C82AE9ED-F249-4FD6-9792-C597EF766678}"/>
                          </a:ext>
                        </a:extLst>
                      </p:cNvPr>
                      <p:cNvPicPr/>
                      <p:nvPr/>
                    </p:nvPicPr>
                    <p:blipFill>
                      <a:blip r:embed="rId5"/>
                      <a:stretch>
                        <a:fillRect/>
                      </a:stretch>
                    </p:blipFill>
                    <p:spPr>
                      <a:xfrm>
                        <a:off x="5805488" y="4373563"/>
                        <a:ext cx="2306637" cy="457200"/>
                      </a:xfrm>
                      <a:prstGeom prst="rect">
                        <a:avLst/>
                      </a:prstGeom>
                      <a:ln>
                        <a:solidFill>
                          <a:srgbClr val="C00000"/>
                        </a:solidFill>
                      </a:ln>
                    </p:spPr>
                  </p:pic>
                </p:oleObj>
              </mc:Fallback>
            </mc:AlternateContent>
          </a:graphicData>
        </a:graphic>
      </p:graphicFrame>
    </p:spTree>
    <p:extLst>
      <p:ext uri="{BB962C8B-B14F-4D97-AF65-F5344CB8AC3E}">
        <p14:creationId xmlns:p14="http://schemas.microsoft.com/office/powerpoint/2010/main" val="359544803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4" fill="hold" nodeType="withEffect">
                                  <p:stCondLst>
                                    <p:cond delay="0"/>
                                  </p:stCondLst>
                                  <p:childTnLst>
                                    <p:set>
                                      <p:cBhvr>
                                        <p:cTn id="6" dur="1" fill="hold">
                                          <p:stCondLst>
                                            <p:cond delay="0"/>
                                          </p:stCondLst>
                                        </p:cTn>
                                        <p:tgtEl>
                                          <p:spTgt spid="3">
                                            <p:txEl>
                                              <p:pRg st="3" end="3"/>
                                            </p:txEl>
                                          </p:spTgt>
                                        </p:tgtEl>
                                        <p:attrNameLst>
                                          <p:attrName>style.visibility</p:attrName>
                                        </p:attrNameLst>
                                      </p:cBhvr>
                                      <p:to>
                                        <p:strVal val="visible"/>
                                      </p:to>
                                    </p:set>
                                    <p:animEffect transition="in" filter="wipe(down)">
                                      <p:cBhvr>
                                        <p:cTn id="7" dur="500"/>
                                        <p:tgtEl>
                                          <p:spTgt spid="3">
                                            <p:txEl>
                                              <p:pRg st="3" end="3"/>
                                            </p:txEl>
                                          </p:spTgt>
                                        </p:tgtEl>
                                      </p:cBhvr>
                                    </p:animEffect>
                                  </p:childTnLst>
                                </p:cTn>
                              </p:par>
                            </p:childTnLst>
                          </p:cTn>
                        </p:par>
                        <p:par>
                          <p:cTn id="8" fill="hold">
                            <p:stCondLst>
                              <p:cond delay="500"/>
                            </p:stCondLst>
                            <p:childTnLst>
                              <p:par>
                                <p:cTn id="9" presetID="16" presetClass="entr" presetSubtype="21" fill="hold" nodeType="afterEffect">
                                  <p:stCondLst>
                                    <p:cond delay="0"/>
                                  </p:stCondLst>
                                  <p:childTnLst>
                                    <p:set>
                                      <p:cBhvr>
                                        <p:cTn id="10" dur="1" fill="hold">
                                          <p:stCondLst>
                                            <p:cond delay="0"/>
                                          </p:stCondLst>
                                        </p:cTn>
                                        <p:tgtEl>
                                          <p:spTgt spid="6"/>
                                        </p:tgtEl>
                                        <p:attrNameLst>
                                          <p:attrName>style.visibility</p:attrName>
                                        </p:attrNameLst>
                                      </p:cBhvr>
                                      <p:to>
                                        <p:strVal val="visible"/>
                                      </p:to>
                                    </p:set>
                                    <p:animEffect transition="in" filter="barn(inVertical)">
                                      <p:cBhvr>
                                        <p:cTn id="11" dur="500"/>
                                        <p:tgtEl>
                                          <p:spTgt spid="6"/>
                                        </p:tgtEl>
                                      </p:cBhvr>
                                    </p:animEffect>
                                  </p:childTnLst>
                                </p:cTn>
                              </p:par>
                            </p:childTnLst>
                          </p:cTn>
                        </p:par>
                        <p:par>
                          <p:cTn id="12" fill="hold">
                            <p:stCondLst>
                              <p:cond delay="1000"/>
                            </p:stCondLst>
                            <p:childTnLst>
                              <p:par>
                                <p:cTn id="13" presetID="16" presetClass="entr" presetSubtype="21" fill="hold" nodeType="afterEffect">
                                  <p:stCondLst>
                                    <p:cond delay="0"/>
                                  </p:stCondLst>
                                  <p:childTnLst>
                                    <p:set>
                                      <p:cBhvr>
                                        <p:cTn id="14" dur="1" fill="hold">
                                          <p:stCondLst>
                                            <p:cond delay="0"/>
                                          </p:stCondLst>
                                        </p:cTn>
                                        <p:tgtEl>
                                          <p:spTgt spid="7"/>
                                        </p:tgtEl>
                                        <p:attrNameLst>
                                          <p:attrName>style.visibility</p:attrName>
                                        </p:attrNameLst>
                                      </p:cBhvr>
                                      <p:to>
                                        <p:strVal val="visible"/>
                                      </p:to>
                                    </p:set>
                                    <p:animEffect transition="in" filter="barn(inVertical)">
                                      <p:cBhvr>
                                        <p:cTn id="15" dur="500"/>
                                        <p:tgtEl>
                                          <p:spTgt spid="7"/>
                                        </p:tgtEl>
                                      </p:cBhvr>
                                    </p:animEffect>
                                  </p:childTnLst>
                                </p:cTn>
                              </p:par>
                            </p:childTnLst>
                          </p:cTn>
                        </p:par>
                        <p:par>
                          <p:cTn id="16" fill="hold">
                            <p:stCondLst>
                              <p:cond delay="1500"/>
                            </p:stCondLst>
                            <p:childTnLst>
                              <p:par>
                                <p:cTn id="17" presetID="22" presetClass="entr" presetSubtype="4" fill="hold" nodeType="afterEffect">
                                  <p:stCondLst>
                                    <p:cond delay="0"/>
                                  </p:stCondLst>
                                  <p:childTnLst>
                                    <p:set>
                                      <p:cBhvr>
                                        <p:cTn id="18" dur="1" fill="hold">
                                          <p:stCondLst>
                                            <p:cond delay="0"/>
                                          </p:stCondLst>
                                        </p:cTn>
                                        <p:tgtEl>
                                          <p:spTgt spid="3">
                                            <p:txEl>
                                              <p:pRg st="6" end="6"/>
                                            </p:txEl>
                                          </p:spTgt>
                                        </p:tgtEl>
                                        <p:attrNameLst>
                                          <p:attrName>style.visibility</p:attrName>
                                        </p:attrNameLst>
                                      </p:cBhvr>
                                      <p:to>
                                        <p:strVal val="visible"/>
                                      </p:to>
                                    </p:set>
                                    <p:animEffect transition="in" filter="wipe(down)">
                                      <p:cBhvr>
                                        <p:cTn id="19" dur="500"/>
                                        <p:tgtEl>
                                          <p:spTgt spid="3">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176E38B-A1B7-42EC-BF65-BE836579975F}"/>
              </a:ext>
            </a:extLst>
          </p:cNvPr>
          <p:cNvSpPr>
            <a:spLocks noGrp="1"/>
          </p:cNvSpPr>
          <p:nvPr>
            <p:ph type="title"/>
          </p:nvPr>
        </p:nvSpPr>
        <p:spPr/>
        <p:txBody>
          <a:bodyPr/>
          <a:lstStyle/>
          <a:p>
            <a:r>
              <a:rPr lang="zh-CN" altLang="en-US" dirty="0"/>
              <a:t>启发式算法</a:t>
            </a:r>
            <a:r>
              <a:rPr lang="en-US" altLang="zh-CN" dirty="0"/>
              <a:t>—</a:t>
            </a:r>
            <a:r>
              <a:rPr lang="zh-CN" altLang="en-US" dirty="0"/>
              <a:t>蚁群算法</a:t>
            </a:r>
          </a:p>
        </p:txBody>
      </p:sp>
      <p:sp>
        <p:nvSpPr>
          <p:cNvPr id="3" name="内容占位符 2">
            <a:extLst>
              <a:ext uri="{FF2B5EF4-FFF2-40B4-BE49-F238E27FC236}">
                <a16:creationId xmlns:a16="http://schemas.microsoft.com/office/drawing/2014/main" id="{7B9C130F-BF61-4A17-A325-878332C19CD7}"/>
              </a:ext>
            </a:extLst>
          </p:cNvPr>
          <p:cNvSpPr>
            <a:spLocks noGrp="1"/>
          </p:cNvSpPr>
          <p:nvPr>
            <p:ph idx="1"/>
          </p:nvPr>
        </p:nvSpPr>
        <p:spPr/>
        <p:txBody>
          <a:bodyPr/>
          <a:lstStyle/>
          <a:p>
            <a:r>
              <a:rPr lang="zh-CN" altLang="en-US" dirty="0"/>
              <a:t>如何更新信息素</a:t>
            </a:r>
            <a:endParaRPr lang="en-US" altLang="zh-CN" dirty="0"/>
          </a:p>
          <a:p>
            <a:pPr lvl="1"/>
            <a:r>
              <a:rPr lang="zh-CN" altLang="en-US" dirty="0"/>
              <a:t>经过测试，蚁周模型</a:t>
            </a:r>
            <a:r>
              <a:rPr lang="en-US" altLang="zh-CN" dirty="0"/>
              <a:t>(Ant-Cycle)</a:t>
            </a:r>
            <a:r>
              <a:rPr lang="zh-CN" altLang="en-US" dirty="0"/>
              <a:t>效果更好，特别是在</a:t>
            </a:r>
            <a:r>
              <a:rPr lang="en-US" altLang="zh-CN" dirty="0"/>
              <a:t>TSP</a:t>
            </a:r>
            <a:r>
              <a:rPr lang="zh-CN" altLang="en-US" dirty="0"/>
              <a:t>问题中。</a:t>
            </a:r>
            <a:endParaRPr lang="en-US" altLang="zh-CN" dirty="0"/>
          </a:p>
          <a:p>
            <a:pPr lvl="2"/>
            <a:endParaRPr lang="en-US" altLang="zh-CN" dirty="0"/>
          </a:p>
          <a:p>
            <a:pPr lvl="1"/>
            <a:endParaRPr lang="zh-CN" altLang="en-US" dirty="0"/>
          </a:p>
          <a:p>
            <a:endParaRPr lang="zh-CN" altLang="en-US" dirty="0"/>
          </a:p>
        </p:txBody>
      </p:sp>
      <p:sp>
        <p:nvSpPr>
          <p:cNvPr id="4" name="日期占位符 3">
            <a:extLst>
              <a:ext uri="{FF2B5EF4-FFF2-40B4-BE49-F238E27FC236}">
                <a16:creationId xmlns:a16="http://schemas.microsoft.com/office/drawing/2014/main" id="{3571675B-E557-4A13-8259-EA356DB6B47D}"/>
              </a:ext>
            </a:extLst>
          </p:cNvPr>
          <p:cNvSpPr>
            <a:spLocks noGrp="1"/>
          </p:cNvSpPr>
          <p:nvPr>
            <p:ph type="dt" sz="half" idx="10"/>
          </p:nvPr>
        </p:nvSpPr>
        <p:spPr/>
        <p:txBody>
          <a:bodyPr/>
          <a:lstStyle/>
          <a:p>
            <a:fld id="{A8B06C41-1E1E-4B9B-9644-5AFB8CB2AB3B}" type="datetime3">
              <a:rPr lang="zh-CN" altLang="en-US" smtClean="0"/>
              <a:t>2022年11月24日星期四</a:t>
            </a:fld>
            <a:endParaRPr lang="en-US" altLang="zh-CN" dirty="0"/>
          </a:p>
        </p:txBody>
      </p:sp>
      <p:sp>
        <p:nvSpPr>
          <p:cNvPr id="5" name="灯片编号占位符 4">
            <a:extLst>
              <a:ext uri="{FF2B5EF4-FFF2-40B4-BE49-F238E27FC236}">
                <a16:creationId xmlns:a16="http://schemas.microsoft.com/office/drawing/2014/main" id="{6CE90ECE-418B-44FA-928A-0553B209F950}"/>
              </a:ext>
            </a:extLst>
          </p:cNvPr>
          <p:cNvSpPr>
            <a:spLocks noGrp="1"/>
          </p:cNvSpPr>
          <p:nvPr>
            <p:ph type="sldNum" sz="quarter" idx="12"/>
          </p:nvPr>
        </p:nvSpPr>
        <p:spPr/>
        <p:txBody>
          <a:bodyPr/>
          <a:lstStyle/>
          <a:p>
            <a:fld id="{7AC79822-BC0D-4DE8-A7E5-90A3732A2B82}" type="slidenum">
              <a:rPr lang="zh-CN" altLang="en-US" smtClean="0"/>
              <a:pPr/>
              <a:t>38</a:t>
            </a:fld>
            <a:endParaRPr lang="en-US" altLang="zh-CN" dirty="0"/>
          </a:p>
        </p:txBody>
      </p:sp>
      <p:graphicFrame>
        <p:nvGraphicFramePr>
          <p:cNvPr id="6" name="对象 5">
            <a:extLst>
              <a:ext uri="{FF2B5EF4-FFF2-40B4-BE49-F238E27FC236}">
                <a16:creationId xmlns:a16="http://schemas.microsoft.com/office/drawing/2014/main" id="{A7D4B6CA-CD93-45B8-B7CD-BAB2A75A93B1}"/>
              </a:ext>
            </a:extLst>
          </p:cNvPr>
          <p:cNvGraphicFramePr>
            <a:graphicFrameLocks noChangeAspect="1"/>
          </p:cNvGraphicFramePr>
          <p:nvPr>
            <p:extLst>
              <p:ext uri="{D42A27DB-BD31-4B8C-83A1-F6EECF244321}">
                <p14:modId xmlns:p14="http://schemas.microsoft.com/office/powerpoint/2010/main" val="1887895834"/>
              </p:ext>
            </p:extLst>
          </p:nvPr>
        </p:nvGraphicFramePr>
        <p:xfrm>
          <a:off x="2901566" y="3212976"/>
          <a:ext cx="2016224" cy="1399932"/>
        </p:xfrm>
        <a:graphic>
          <a:graphicData uri="http://schemas.openxmlformats.org/presentationml/2006/ole">
            <mc:AlternateContent xmlns:mc="http://schemas.openxmlformats.org/markup-compatibility/2006">
              <mc:Choice xmlns:v="urn:schemas-microsoft-com:vml" Requires="v">
                <p:oleObj name="Equation" r:id="rId2" imgW="622080" imgH="431640" progId="Equation.DSMT4">
                  <p:embed/>
                </p:oleObj>
              </mc:Choice>
              <mc:Fallback>
                <p:oleObj name="Equation" r:id="rId2" imgW="622080" imgH="431640" progId="Equation.DSMT4">
                  <p:embed/>
                  <p:pic>
                    <p:nvPicPr>
                      <p:cNvPr id="6" name="对象 5">
                        <a:extLst>
                          <a:ext uri="{FF2B5EF4-FFF2-40B4-BE49-F238E27FC236}">
                            <a16:creationId xmlns:a16="http://schemas.microsoft.com/office/drawing/2014/main" id="{33BD0BA8-1B5D-4611-9F42-C4BA5DD58A50}"/>
                          </a:ext>
                        </a:extLst>
                      </p:cNvPr>
                      <p:cNvPicPr/>
                      <p:nvPr/>
                    </p:nvPicPr>
                    <p:blipFill>
                      <a:blip r:embed="rId3"/>
                      <a:stretch>
                        <a:fillRect/>
                      </a:stretch>
                    </p:blipFill>
                    <p:spPr>
                      <a:xfrm>
                        <a:off x="2901566" y="3212976"/>
                        <a:ext cx="2016224" cy="1399932"/>
                      </a:xfrm>
                      <a:prstGeom prst="rect">
                        <a:avLst/>
                      </a:prstGeom>
                    </p:spPr>
                  </p:pic>
                </p:oleObj>
              </mc:Fallback>
            </mc:AlternateContent>
          </a:graphicData>
        </a:graphic>
      </p:graphicFrame>
    </p:spTree>
    <p:extLst>
      <p:ext uri="{BB962C8B-B14F-4D97-AF65-F5344CB8AC3E}">
        <p14:creationId xmlns:p14="http://schemas.microsoft.com/office/powerpoint/2010/main" val="108560867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4" fill="hold" nodeType="with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down)">
                                      <p:cBhvr>
                                        <p:cTn id="7" dur="500"/>
                                        <p:tgtEl>
                                          <p:spTgt spid="3">
                                            <p:txEl>
                                              <p:pRg st="0" end="0"/>
                                            </p:txEl>
                                          </p:spTgt>
                                        </p:tgtEl>
                                      </p:cBhvr>
                                    </p:animEffect>
                                  </p:childTnLst>
                                </p:cTn>
                              </p:par>
                            </p:childTnLst>
                          </p:cTn>
                        </p:par>
                        <p:par>
                          <p:cTn id="8" fill="hold">
                            <p:stCondLst>
                              <p:cond delay="500"/>
                            </p:stCondLst>
                            <p:childTnLst>
                              <p:par>
                                <p:cTn id="9" presetID="22" presetClass="entr" presetSubtype="4" fill="hold" nodeType="after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animEffect transition="in" filter="wipe(down)">
                                      <p:cBhvr>
                                        <p:cTn id="11" dur="500"/>
                                        <p:tgtEl>
                                          <p:spTgt spid="3">
                                            <p:txEl>
                                              <p:pRg st="1" end="1"/>
                                            </p:txEl>
                                          </p:spTgt>
                                        </p:tgtEl>
                                      </p:cBhvr>
                                    </p:animEffect>
                                  </p:childTnLst>
                                </p:cTn>
                              </p:par>
                            </p:childTnLst>
                          </p:cTn>
                        </p:par>
                        <p:par>
                          <p:cTn id="12" fill="hold">
                            <p:stCondLst>
                              <p:cond delay="1000"/>
                            </p:stCondLst>
                            <p:childTnLst>
                              <p:par>
                                <p:cTn id="13" presetID="16" presetClass="entr" presetSubtype="21" fill="hold" nodeType="afterEffect">
                                  <p:stCondLst>
                                    <p:cond delay="0"/>
                                  </p:stCondLst>
                                  <p:childTnLst>
                                    <p:set>
                                      <p:cBhvr>
                                        <p:cTn id="14" dur="1" fill="hold">
                                          <p:stCondLst>
                                            <p:cond delay="0"/>
                                          </p:stCondLst>
                                        </p:cTn>
                                        <p:tgtEl>
                                          <p:spTgt spid="6"/>
                                        </p:tgtEl>
                                        <p:attrNameLst>
                                          <p:attrName>style.visibility</p:attrName>
                                        </p:attrNameLst>
                                      </p:cBhvr>
                                      <p:to>
                                        <p:strVal val="visible"/>
                                      </p:to>
                                    </p:set>
                                    <p:animEffect transition="in" filter="barn(inVertical)">
                                      <p:cBhvr>
                                        <p:cTn id="15"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6B7D6A2-8FF3-4B58-B872-6A417A2C6245}"/>
              </a:ext>
            </a:extLst>
          </p:cNvPr>
          <p:cNvSpPr>
            <a:spLocks noGrp="1"/>
          </p:cNvSpPr>
          <p:nvPr>
            <p:ph type="title"/>
          </p:nvPr>
        </p:nvSpPr>
        <p:spPr/>
        <p:txBody>
          <a:bodyPr/>
          <a:lstStyle/>
          <a:p>
            <a:r>
              <a:rPr lang="zh-CN" altLang="en-US" dirty="0"/>
              <a:t>蚁群算法信息素更新示例</a:t>
            </a:r>
          </a:p>
        </p:txBody>
      </p:sp>
      <p:sp>
        <p:nvSpPr>
          <p:cNvPr id="4" name="日期占位符 3">
            <a:extLst>
              <a:ext uri="{FF2B5EF4-FFF2-40B4-BE49-F238E27FC236}">
                <a16:creationId xmlns:a16="http://schemas.microsoft.com/office/drawing/2014/main" id="{F6864FA1-5828-4690-880C-B900F520BFA1}"/>
              </a:ext>
            </a:extLst>
          </p:cNvPr>
          <p:cNvSpPr>
            <a:spLocks noGrp="1"/>
          </p:cNvSpPr>
          <p:nvPr>
            <p:ph type="dt" sz="half" idx="10"/>
          </p:nvPr>
        </p:nvSpPr>
        <p:spPr/>
        <p:txBody>
          <a:bodyPr/>
          <a:lstStyle/>
          <a:p>
            <a:fld id="{A8B06C41-1E1E-4B9B-9644-5AFB8CB2AB3B}" type="datetime3">
              <a:rPr lang="zh-CN" altLang="en-US" smtClean="0"/>
              <a:t>2022年11月24日星期四</a:t>
            </a:fld>
            <a:endParaRPr lang="en-US" altLang="zh-CN" dirty="0"/>
          </a:p>
        </p:txBody>
      </p:sp>
      <p:sp>
        <p:nvSpPr>
          <p:cNvPr id="5" name="灯片编号占位符 4">
            <a:extLst>
              <a:ext uri="{FF2B5EF4-FFF2-40B4-BE49-F238E27FC236}">
                <a16:creationId xmlns:a16="http://schemas.microsoft.com/office/drawing/2014/main" id="{27BB8674-86D1-4CA1-A74F-E68297C452C5}"/>
              </a:ext>
            </a:extLst>
          </p:cNvPr>
          <p:cNvSpPr>
            <a:spLocks noGrp="1"/>
          </p:cNvSpPr>
          <p:nvPr>
            <p:ph type="sldNum" sz="quarter" idx="12"/>
          </p:nvPr>
        </p:nvSpPr>
        <p:spPr/>
        <p:txBody>
          <a:bodyPr/>
          <a:lstStyle/>
          <a:p>
            <a:fld id="{7AC79822-BC0D-4DE8-A7E5-90A3732A2B82}" type="slidenum">
              <a:rPr lang="zh-CN" altLang="en-US" smtClean="0"/>
              <a:pPr/>
              <a:t>39</a:t>
            </a:fld>
            <a:endParaRPr lang="en-US" altLang="zh-CN" dirty="0"/>
          </a:p>
        </p:txBody>
      </p:sp>
      <p:graphicFrame>
        <p:nvGraphicFramePr>
          <p:cNvPr id="6" name="表格 6">
            <a:extLst>
              <a:ext uri="{FF2B5EF4-FFF2-40B4-BE49-F238E27FC236}">
                <a16:creationId xmlns:a16="http://schemas.microsoft.com/office/drawing/2014/main" id="{DC1400E1-2EA6-4B75-87C0-8488AB592B29}"/>
              </a:ext>
            </a:extLst>
          </p:cNvPr>
          <p:cNvGraphicFramePr>
            <a:graphicFrameLocks noGrp="1"/>
          </p:cNvGraphicFramePr>
          <p:nvPr>
            <p:ph idx="1"/>
          </p:nvPr>
        </p:nvGraphicFramePr>
        <p:xfrm>
          <a:off x="126927" y="1530683"/>
          <a:ext cx="3605371" cy="2773680"/>
        </p:xfrm>
        <a:graphic>
          <a:graphicData uri="http://schemas.openxmlformats.org/drawingml/2006/table">
            <a:tbl>
              <a:tblPr firstRow="1" bandRow="1">
                <a:tableStyleId>{5940675A-B579-460E-94D1-54222C63F5DA}</a:tableStyleId>
              </a:tblPr>
              <a:tblGrid>
                <a:gridCol w="515053">
                  <a:extLst>
                    <a:ext uri="{9D8B030D-6E8A-4147-A177-3AD203B41FA5}">
                      <a16:colId xmlns:a16="http://schemas.microsoft.com/office/drawing/2014/main" val="2382911012"/>
                    </a:ext>
                  </a:extLst>
                </a:gridCol>
                <a:gridCol w="515053">
                  <a:extLst>
                    <a:ext uri="{9D8B030D-6E8A-4147-A177-3AD203B41FA5}">
                      <a16:colId xmlns:a16="http://schemas.microsoft.com/office/drawing/2014/main" val="315559393"/>
                    </a:ext>
                  </a:extLst>
                </a:gridCol>
                <a:gridCol w="515053">
                  <a:extLst>
                    <a:ext uri="{9D8B030D-6E8A-4147-A177-3AD203B41FA5}">
                      <a16:colId xmlns:a16="http://schemas.microsoft.com/office/drawing/2014/main" val="2973804191"/>
                    </a:ext>
                  </a:extLst>
                </a:gridCol>
                <a:gridCol w="515053">
                  <a:extLst>
                    <a:ext uri="{9D8B030D-6E8A-4147-A177-3AD203B41FA5}">
                      <a16:colId xmlns:a16="http://schemas.microsoft.com/office/drawing/2014/main" val="3325440957"/>
                    </a:ext>
                  </a:extLst>
                </a:gridCol>
                <a:gridCol w="515053">
                  <a:extLst>
                    <a:ext uri="{9D8B030D-6E8A-4147-A177-3AD203B41FA5}">
                      <a16:colId xmlns:a16="http://schemas.microsoft.com/office/drawing/2014/main" val="1201587515"/>
                    </a:ext>
                  </a:extLst>
                </a:gridCol>
                <a:gridCol w="515053">
                  <a:extLst>
                    <a:ext uri="{9D8B030D-6E8A-4147-A177-3AD203B41FA5}">
                      <a16:colId xmlns:a16="http://schemas.microsoft.com/office/drawing/2014/main" val="1248111960"/>
                    </a:ext>
                  </a:extLst>
                </a:gridCol>
                <a:gridCol w="515053">
                  <a:extLst>
                    <a:ext uri="{9D8B030D-6E8A-4147-A177-3AD203B41FA5}">
                      <a16:colId xmlns:a16="http://schemas.microsoft.com/office/drawing/2014/main" val="61919927"/>
                    </a:ext>
                  </a:extLst>
                </a:gridCol>
              </a:tblGrid>
              <a:tr h="351917">
                <a:tc>
                  <a:txBody>
                    <a:bodyPr/>
                    <a:lstStyle/>
                    <a:p>
                      <a:pPr algn="ctr"/>
                      <a:endParaRPr lang="zh-CN" altLang="en-US" sz="2000" dirty="0"/>
                    </a:p>
                  </a:txBody>
                  <a:tcPr anchor="ctr">
                    <a:solidFill>
                      <a:srgbClr val="FFFF66"/>
                    </a:solidFill>
                  </a:tcPr>
                </a:tc>
                <a:tc>
                  <a:txBody>
                    <a:bodyPr/>
                    <a:lstStyle/>
                    <a:p>
                      <a:pPr algn="ctr"/>
                      <a:r>
                        <a:rPr lang="en-US" altLang="zh-CN" sz="2000" dirty="0"/>
                        <a:t>1</a:t>
                      </a:r>
                      <a:endParaRPr lang="zh-CN" altLang="en-US" sz="2000" dirty="0"/>
                    </a:p>
                  </a:txBody>
                  <a:tcPr anchor="ctr">
                    <a:solidFill>
                      <a:srgbClr val="FFFF66"/>
                    </a:solidFill>
                  </a:tcPr>
                </a:tc>
                <a:tc>
                  <a:txBody>
                    <a:bodyPr/>
                    <a:lstStyle/>
                    <a:p>
                      <a:pPr algn="ctr"/>
                      <a:r>
                        <a:rPr lang="en-US" altLang="zh-CN" sz="2000" dirty="0"/>
                        <a:t>2</a:t>
                      </a:r>
                      <a:endParaRPr lang="zh-CN" altLang="en-US" sz="2000" dirty="0"/>
                    </a:p>
                  </a:txBody>
                  <a:tcPr anchor="ctr">
                    <a:solidFill>
                      <a:srgbClr val="FFFF66"/>
                    </a:solidFill>
                  </a:tcPr>
                </a:tc>
                <a:tc>
                  <a:txBody>
                    <a:bodyPr/>
                    <a:lstStyle/>
                    <a:p>
                      <a:pPr algn="ctr"/>
                      <a:r>
                        <a:rPr lang="en-US" altLang="zh-CN" sz="2000" dirty="0"/>
                        <a:t>3</a:t>
                      </a:r>
                      <a:endParaRPr lang="zh-CN" altLang="en-US" sz="2000" dirty="0"/>
                    </a:p>
                  </a:txBody>
                  <a:tcPr anchor="ctr">
                    <a:solidFill>
                      <a:srgbClr val="FFFF66"/>
                    </a:solidFill>
                  </a:tcPr>
                </a:tc>
                <a:tc>
                  <a:txBody>
                    <a:bodyPr/>
                    <a:lstStyle/>
                    <a:p>
                      <a:pPr algn="ctr"/>
                      <a:r>
                        <a:rPr lang="en-US" altLang="zh-CN" sz="2000" dirty="0"/>
                        <a:t>4</a:t>
                      </a:r>
                      <a:endParaRPr lang="zh-CN" altLang="en-US" sz="2000" dirty="0"/>
                    </a:p>
                  </a:txBody>
                  <a:tcPr anchor="ctr">
                    <a:solidFill>
                      <a:srgbClr val="FFFF66"/>
                    </a:solidFill>
                  </a:tcPr>
                </a:tc>
                <a:tc>
                  <a:txBody>
                    <a:bodyPr/>
                    <a:lstStyle/>
                    <a:p>
                      <a:pPr algn="ctr"/>
                      <a:r>
                        <a:rPr lang="en-US" altLang="zh-CN" sz="2000" dirty="0"/>
                        <a:t>5</a:t>
                      </a:r>
                      <a:endParaRPr lang="zh-CN" altLang="en-US" sz="2000" dirty="0"/>
                    </a:p>
                  </a:txBody>
                  <a:tcPr anchor="ctr">
                    <a:solidFill>
                      <a:srgbClr val="FFFF66"/>
                    </a:solidFill>
                  </a:tcPr>
                </a:tc>
                <a:tc>
                  <a:txBody>
                    <a:bodyPr/>
                    <a:lstStyle/>
                    <a:p>
                      <a:pPr algn="ctr"/>
                      <a:r>
                        <a:rPr lang="en-US" altLang="zh-CN" sz="2000" dirty="0"/>
                        <a:t>6</a:t>
                      </a:r>
                      <a:endParaRPr lang="zh-CN" altLang="en-US" sz="2000" dirty="0"/>
                    </a:p>
                  </a:txBody>
                  <a:tcPr anchor="ctr">
                    <a:solidFill>
                      <a:srgbClr val="FFFF66"/>
                    </a:solidFill>
                  </a:tcPr>
                </a:tc>
                <a:extLst>
                  <a:ext uri="{0D108BD9-81ED-4DB2-BD59-A6C34878D82A}">
                    <a16:rowId xmlns:a16="http://schemas.microsoft.com/office/drawing/2014/main" val="4163121477"/>
                  </a:ext>
                </a:extLst>
              </a:tr>
              <a:tr h="351917">
                <a:tc>
                  <a:txBody>
                    <a:bodyPr/>
                    <a:lstStyle/>
                    <a:p>
                      <a:pPr algn="ctr"/>
                      <a:r>
                        <a:rPr lang="en-US" altLang="zh-CN" sz="2000" dirty="0"/>
                        <a:t>1</a:t>
                      </a:r>
                      <a:endParaRPr lang="zh-CN" altLang="en-US" sz="2000" dirty="0"/>
                    </a:p>
                  </a:txBody>
                  <a:tcPr anchor="ctr">
                    <a:solidFill>
                      <a:srgbClr val="FFFF66"/>
                    </a:solidFill>
                  </a:tcPr>
                </a:tc>
                <a:tc>
                  <a:txBody>
                    <a:bodyPr/>
                    <a:lstStyle/>
                    <a:p>
                      <a:pPr algn="ctr"/>
                      <a:r>
                        <a:rPr lang="en-US" altLang="zh-CN" sz="2000" dirty="0"/>
                        <a:t>0</a:t>
                      </a:r>
                      <a:endParaRPr lang="zh-CN" altLang="en-US" sz="2000" dirty="0"/>
                    </a:p>
                  </a:txBody>
                  <a:tcPr anchor="ctr"/>
                </a:tc>
                <a:tc>
                  <a:txBody>
                    <a:bodyPr/>
                    <a:lstStyle/>
                    <a:p>
                      <a:pPr algn="ctr"/>
                      <a:r>
                        <a:rPr lang="en-US" altLang="zh-CN" sz="2000" dirty="0"/>
                        <a:t>10</a:t>
                      </a:r>
                      <a:endParaRPr lang="zh-CN" altLang="en-US" sz="2000" dirty="0"/>
                    </a:p>
                  </a:txBody>
                  <a:tcPr anchor="ctr"/>
                </a:tc>
                <a:tc>
                  <a:txBody>
                    <a:bodyPr/>
                    <a:lstStyle/>
                    <a:p>
                      <a:pPr algn="ctr"/>
                      <a:r>
                        <a:rPr lang="en-US" altLang="zh-CN" sz="2000" dirty="0"/>
                        <a:t>10</a:t>
                      </a:r>
                      <a:endParaRPr lang="zh-CN" altLang="en-US" sz="2000" dirty="0"/>
                    </a:p>
                  </a:txBody>
                  <a:tcPr anchor="ctr"/>
                </a:tc>
                <a:tc>
                  <a:txBody>
                    <a:bodyPr/>
                    <a:lstStyle/>
                    <a:p>
                      <a:pPr algn="ctr"/>
                      <a:r>
                        <a:rPr lang="en-US" altLang="zh-CN" sz="2000" dirty="0"/>
                        <a:t>10</a:t>
                      </a:r>
                      <a:endParaRPr lang="zh-CN" altLang="en-US" sz="2000" dirty="0"/>
                    </a:p>
                  </a:txBody>
                  <a:tcPr anchor="ctr"/>
                </a:tc>
                <a:tc>
                  <a:txBody>
                    <a:bodyPr/>
                    <a:lstStyle/>
                    <a:p>
                      <a:pPr algn="ctr"/>
                      <a:r>
                        <a:rPr lang="en-US" altLang="zh-CN" sz="2000" dirty="0"/>
                        <a:t>10</a:t>
                      </a:r>
                      <a:endParaRPr lang="zh-CN" altLang="en-US" sz="2000" dirty="0"/>
                    </a:p>
                  </a:txBody>
                  <a:tcPr anchor="ctr"/>
                </a:tc>
                <a:tc>
                  <a:txBody>
                    <a:bodyPr/>
                    <a:lstStyle/>
                    <a:p>
                      <a:pPr algn="ctr"/>
                      <a:r>
                        <a:rPr lang="en-US" altLang="zh-CN" sz="2000" dirty="0"/>
                        <a:t>10</a:t>
                      </a:r>
                      <a:endParaRPr lang="zh-CN" altLang="en-US" sz="2000" dirty="0"/>
                    </a:p>
                  </a:txBody>
                  <a:tcPr anchor="ctr"/>
                </a:tc>
                <a:extLst>
                  <a:ext uri="{0D108BD9-81ED-4DB2-BD59-A6C34878D82A}">
                    <a16:rowId xmlns:a16="http://schemas.microsoft.com/office/drawing/2014/main" val="1883987914"/>
                  </a:ext>
                </a:extLst>
              </a:tr>
              <a:tr h="351917">
                <a:tc>
                  <a:txBody>
                    <a:bodyPr/>
                    <a:lstStyle/>
                    <a:p>
                      <a:pPr algn="ctr"/>
                      <a:r>
                        <a:rPr lang="en-US" altLang="zh-CN" sz="2000" dirty="0"/>
                        <a:t>2</a:t>
                      </a:r>
                      <a:endParaRPr lang="zh-CN" altLang="en-US" sz="2000" dirty="0"/>
                    </a:p>
                  </a:txBody>
                  <a:tcPr anchor="ctr">
                    <a:solidFill>
                      <a:srgbClr val="FFFF66"/>
                    </a:solidFill>
                  </a:tcPr>
                </a:tc>
                <a:tc>
                  <a:txBody>
                    <a:bodyPr/>
                    <a:lstStyle/>
                    <a:p>
                      <a:pPr algn="ctr"/>
                      <a:r>
                        <a:rPr lang="en-US" altLang="zh-CN" sz="2000" dirty="0"/>
                        <a:t>10</a:t>
                      </a:r>
                      <a:endParaRPr lang="zh-CN" altLang="en-US" sz="2000" dirty="0"/>
                    </a:p>
                  </a:txBody>
                  <a:tcPr anchor="ctr"/>
                </a:tc>
                <a:tc>
                  <a:txBody>
                    <a:bodyPr/>
                    <a:lstStyle/>
                    <a:p>
                      <a:pPr algn="ctr"/>
                      <a:r>
                        <a:rPr lang="en-US" altLang="zh-CN" sz="2000" dirty="0"/>
                        <a:t>0</a:t>
                      </a:r>
                      <a:endParaRPr lang="zh-CN" altLang="en-US" sz="2000" dirty="0"/>
                    </a:p>
                  </a:txBody>
                  <a:tcPr anchor="ctr"/>
                </a:tc>
                <a:tc>
                  <a:txBody>
                    <a:bodyPr/>
                    <a:lstStyle/>
                    <a:p>
                      <a:pPr algn="ctr"/>
                      <a:r>
                        <a:rPr lang="en-US" altLang="zh-CN" sz="2000" dirty="0"/>
                        <a:t>10</a:t>
                      </a:r>
                      <a:endParaRPr lang="zh-CN" altLang="en-US" sz="2000" dirty="0"/>
                    </a:p>
                  </a:txBody>
                  <a:tcPr anchor="ctr"/>
                </a:tc>
                <a:tc>
                  <a:txBody>
                    <a:bodyPr/>
                    <a:lstStyle/>
                    <a:p>
                      <a:pPr algn="ctr"/>
                      <a:r>
                        <a:rPr lang="en-US" altLang="zh-CN" sz="2000" dirty="0"/>
                        <a:t>10</a:t>
                      </a:r>
                      <a:endParaRPr lang="zh-CN" altLang="en-US" sz="2000" dirty="0"/>
                    </a:p>
                  </a:txBody>
                  <a:tcPr anchor="ctr"/>
                </a:tc>
                <a:tc>
                  <a:txBody>
                    <a:bodyPr/>
                    <a:lstStyle/>
                    <a:p>
                      <a:pPr algn="ctr"/>
                      <a:r>
                        <a:rPr lang="en-US" altLang="zh-CN" sz="2000" dirty="0"/>
                        <a:t>10</a:t>
                      </a:r>
                      <a:endParaRPr lang="zh-CN" altLang="en-US" sz="2000" dirty="0"/>
                    </a:p>
                  </a:txBody>
                  <a:tcPr anchor="ctr"/>
                </a:tc>
                <a:tc>
                  <a:txBody>
                    <a:bodyPr/>
                    <a:lstStyle/>
                    <a:p>
                      <a:pPr algn="ctr"/>
                      <a:r>
                        <a:rPr lang="en-US" altLang="zh-CN" sz="2000" dirty="0"/>
                        <a:t>10</a:t>
                      </a:r>
                      <a:endParaRPr lang="zh-CN" altLang="en-US" sz="2000" dirty="0"/>
                    </a:p>
                  </a:txBody>
                  <a:tcPr anchor="ctr"/>
                </a:tc>
                <a:extLst>
                  <a:ext uri="{0D108BD9-81ED-4DB2-BD59-A6C34878D82A}">
                    <a16:rowId xmlns:a16="http://schemas.microsoft.com/office/drawing/2014/main" val="649247349"/>
                  </a:ext>
                </a:extLst>
              </a:tr>
              <a:tr h="351917">
                <a:tc>
                  <a:txBody>
                    <a:bodyPr/>
                    <a:lstStyle/>
                    <a:p>
                      <a:pPr algn="ctr"/>
                      <a:r>
                        <a:rPr lang="en-US" altLang="zh-CN" sz="2000" dirty="0"/>
                        <a:t>3</a:t>
                      </a:r>
                      <a:endParaRPr lang="zh-CN" altLang="en-US" sz="2000" dirty="0"/>
                    </a:p>
                  </a:txBody>
                  <a:tcPr anchor="ctr">
                    <a:solidFill>
                      <a:srgbClr val="FFFF66"/>
                    </a:solidFill>
                  </a:tcPr>
                </a:tc>
                <a:tc>
                  <a:txBody>
                    <a:bodyPr/>
                    <a:lstStyle/>
                    <a:p>
                      <a:pPr algn="ctr"/>
                      <a:r>
                        <a:rPr lang="en-US" altLang="zh-CN" sz="2000" dirty="0"/>
                        <a:t>10</a:t>
                      </a:r>
                      <a:endParaRPr lang="zh-CN" altLang="en-US" sz="2000" dirty="0"/>
                    </a:p>
                  </a:txBody>
                  <a:tcPr anchor="ctr"/>
                </a:tc>
                <a:tc>
                  <a:txBody>
                    <a:bodyPr/>
                    <a:lstStyle/>
                    <a:p>
                      <a:pPr algn="ctr"/>
                      <a:r>
                        <a:rPr lang="en-US" altLang="zh-CN" sz="2000" dirty="0"/>
                        <a:t>10</a:t>
                      </a:r>
                      <a:endParaRPr lang="zh-CN" altLang="en-US" sz="2000" dirty="0"/>
                    </a:p>
                  </a:txBody>
                  <a:tcPr anchor="ctr"/>
                </a:tc>
                <a:tc>
                  <a:txBody>
                    <a:bodyPr/>
                    <a:lstStyle/>
                    <a:p>
                      <a:pPr algn="ctr"/>
                      <a:r>
                        <a:rPr lang="en-US" altLang="zh-CN" sz="2000" dirty="0"/>
                        <a:t>0</a:t>
                      </a:r>
                      <a:endParaRPr lang="zh-CN" altLang="en-US" sz="2000" dirty="0"/>
                    </a:p>
                  </a:txBody>
                  <a:tcPr anchor="ctr"/>
                </a:tc>
                <a:tc>
                  <a:txBody>
                    <a:bodyPr/>
                    <a:lstStyle/>
                    <a:p>
                      <a:pPr algn="ctr"/>
                      <a:r>
                        <a:rPr lang="en-US" altLang="zh-CN" sz="2000" dirty="0"/>
                        <a:t>10</a:t>
                      </a:r>
                      <a:endParaRPr lang="zh-CN" altLang="en-US" sz="2000" dirty="0"/>
                    </a:p>
                  </a:txBody>
                  <a:tcPr anchor="ctr"/>
                </a:tc>
                <a:tc>
                  <a:txBody>
                    <a:bodyPr/>
                    <a:lstStyle/>
                    <a:p>
                      <a:pPr algn="ctr"/>
                      <a:r>
                        <a:rPr lang="en-US" altLang="zh-CN" sz="2000" dirty="0"/>
                        <a:t>10</a:t>
                      </a:r>
                      <a:endParaRPr lang="zh-CN" altLang="en-US" sz="2000" dirty="0"/>
                    </a:p>
                  </a:txBody>
                  <a:tcPr anchor="ctr"/>
                </a:tc>
                <a:tc>
                  <a:txBody>
                    <a:bodyPr/>
                    <a:lstStyle/>
                    <a:p>
                      <a:pPr algn="ctr"/>
                      <a:r>
                        <a:rPr lang="en-US" altLang="zh-CN" sz="2000" dirty="0"/>
                        <a:t>10</a:t>
                      </a:r>
                      <a:endParaRPr lang="zh-CN" altLang="en-US" sz="2000" dirty="0"/>
                    </a:p>
                  </a:txBody>
                  <a:tcPr anchor="ctr"/>
                </a:tc>
                <a:extLst>
                  <a:ext uri="{0D108BD9-81ED-4DB2-BD59-A6C34878D82A}">
                    <a16:rowId xmlns:a16="http://schemas.microsoft.com/office/drawing/2014/main" val="3818988150"/>
                  </a:ext>
                </a:extLst>
              </a:tr>
              <a:tr h="351917">
                <a:tc>
                  <a:txBody>
                    <a:bodyPr/>
                    <a:lstStyle/>
                    <a:p>
                      <a:pPr algn="ctr"/>
                      <a:r>
                        <a:rPr lang="en-US" altLang="zh-CN" sz="2000" dirty="0"/>
                        <a:t>4</a:t>
                      </a:r>
                      <a:endParaRPr lang="zh-CN" altLang="en-US" sz="2000" dirty="0"/>
                    </a:p>
                  </a:txBody>
                  <a:tcPr anchor="ctr">
                    <a:solidFill>
                      <a:srgbClr val="FFFF66"/>
                    </a:solidFill>
                  </a:tcPr>
                </a:tc>
                <a:tc>
                  <a:txBody>
                    <a:bodyPr/>
                    <a:lstStyle/>
                    <a:p>
                      <a:pPr algn="ctr"/>
                      <a:r>
                        <a:rPr lang="en-US" altLang="zh-CN" sz="2000" dirty="0"/>
                        <a:t>10</a:t>
                      </a:r>
                      <a:endParaRPr lang="zh-CN" altLang="en-US" sz="2000" dirty="0"/>
                    </a:p>
                  </a:txBody>
                  <a:tcPr anchor="ctr"/>
                </a:tc>
                <a:tc>
                  <a:txBody>
                    <a:bodyPr/>
                    <a:lstStyle/>
                    <a:p>
                      <a:pPr algn="ctr"/>
                      <a:r>
                        <a:rPr lang="en-US" altLang="zh-CN" sz="2000" dirty="0"/>
                        <a:t>10</a:t>
                      </a:r>
                      <a:endParaRPr lang="zh-CN" altLang="en-US" sz="2000" dirty="0"/>
                    </a:p>
                  </a:txBody>
                  <a:tcPr anchor="ctr"/>
                </a:tc>
                <a:tc>
                  <a:txBody>
                    <a:bodyPr/>
                    <a:lstStyle/>
                    <a:p>
                      <a:pPr algn="ctr"/>
                      <a:r>
                        <a:rPr lang="en-US" altLang="zh-CN" sz="2000" dirty="0"/>
                        <a:t>10</a:t>
                      </a:r>
                      <a:endParaRPr lang="zh-CN" altLang="en-US" sz="2000" dirty="0"/>
                    </a:p>
                  </a:txBody>
                  <a:tcPr anchor="ctr"/>
                </a:tc>
                <a:tc>
                  <a:txBody>
                    <a:bodyPr/>
                    <a:lstStyle/>
                    <a:p>
                      <a:pPr algn="ctr"/>
                      <a:r>
                        <a:rPr lang="en-US" altLang="zh-CN" sz="2000" dirty="0"/>
                        <a:t>0</a:t>
                      </a:r>
                      <a:endParaRPr lang="zh-CN" altLang="en-US" sz="2000" dirty="0"/>
                    </a:p>
                  </a:txBody>
                  <a:tcPr anchor="ctr"/>
                </a:tc>
                <a:tc>
                  <a:txBody>
                    <a:bodyPr/>
                    <a:lstStyle/>
                    <a:p>
                      <a:pPr algn="ctr"/>
                      <a:r>
                        <a:rPr lang="en-US" altLang="zh-CN" sz="2000" dirty="0"/>
                        <a:t>10</a:t>
                      </a:r>
                      <a:endParaRPr lang="zh-CN" altLang="en-US" sz="2000" dirty="0"/>
                    </a:p>
                  </a:txBody>
                  <a:tcPr anchor="ctr"/>
                </a:tc>
                <a:tc>
                  <a:txBody>
                    <a:bodyPr/>
                    <a:lstStyle/>
                    <a:p>
                      <a:pPr algn="ctr"/>
                      <a:r>
                        <a:rPr lang="en-US" altLang="zh-CN" sz="2000" dirty="0"/>
                        <a:t>10</a:t>
                      </a:r>
                      <a:endParaRPr lang="zh-CN" altLang="en-US" sz="2000" dirty="0"/>
                    </a:p>
                  </a:txBody>
                  <a:tcPr anchor="ctr"/>
                </a:tc>
                <a:extLst>
                  <a:ext uri="{0D108BD9-81ED-4DB2-BD59-A6C34878D82A}">
                    <a16:rowId xmlns:a16="http://schemas.microsoft.com/office/drawing/2014/main" val="2080514197"/>
                  </a:ext>
                </a:extLst>
              </a:tr>
              <a:tr h="351917">
                <a:tc>
                  <a:txBody>
                    <a:bodyPr/>
                    <a:lstStyle/>
                    <a:p>
                      <a:pPr algn="ctr"/>
                      <a:r>
                        <a:rPr lang="en-US" altLang="zh-CN" sz="2000" dirty="0"/>
                        <a:t>5</a:t>
                      </a:r>
                      <a:endParaRPr lang="zh-CN" altLang="en-US" sz="2000" dirty="0"/>
                    </a:p>
                  </a:txBody>
                  <a:tcPr anchor="ctr">
                    <a:solidFill>
                      <a:srgbClr val="FFFF66"/>
                    </a:solidFill>
                  </a:tcPr>
                </a:tc>
                <a:tc>
                  <a:txBody>
                    <a:bodyPr/>
                    <a:lstStyle/>
                    <a:p>
                      <a:pPr algn="ctr"/>
                      <a:r>
                        <a:rPr lang="en-US" altLang="zh-CN" sz="2000" dirty="0"/>
                        <a:t>10</a:t>
                      </a:r>
                      <a:endParaRPr lang="zh-CN" altLang="en-US" sz="2000" dirty="0"/>
                    </a:p>
                  </a:txBody>
                  <a:tcPr anchor="ctr"/>
                </a:tc>
                <a:tc>
                  <a:txBody>
                    <a:bodyPr/>
                    <a:lstStyle/>
                    <a:p>
                      <a:pPr algn="ctr"/>
                      <a:r>
                        <a:rPr lang="en-US" altLang="zh-CN" sz="2000" dirty="0"/>
                        <a:t>10</a:t>
                      </a:r>
                      <a:endParaRPr lang="zh-CN" altLang="en-US" sz="2000" dirty="0"/>
                    </a:p>
                  </a:txBody>
                  <a:tcPr anchor="ctr"/>
                </a:tc>
                <a:tc>
                  <a:txBody>
                    <a:bodyPr/>
                    <a:lstStyle/>
                    <a:p>
                      <a:pPr algn="ctr"/>
                      <a:r>
                        <a:rPr lang="en-US" altLang="zh-CN" sz="2000" dirty="0"/>
                        <a:t>10</a:t>
                      </a:r>
                      <a:endParaRPr lang="zh-CN" altLang="en-US" sz="2000" dirty="0"/>
                    </a:p>
                  </a:txBody>
                  <a:tcPr anchor="ctr"/>
                </a:tc>
                <a:tc>
                  <a:txBody>
                    <a:bodyPr/>
                    <a:lstStyle/>
                    <a:p>
                      <a:pPr algn="ctr"/>
                      <a:r>
                        <a:rPr lang="en-US" altLang="zh-CN" sz="2000" dirty="0"/>
                        <a:t>10</a:t>
                      </a:r>
                      <a:endParaRPr lang="zh-CN" altLang="en-US" sz="2000" dirty="0"/>
                    </a:p>
                  </a:txBody>
                  <a:tcPr anchor="ctr"/>
                </a:tc>
                <a:tc>
                  <a:txBody>
                    <a:bodyPr/>
                    <a:lstStyle/>
                    <a:p>
                      <a:pPr algn="ctr"/>
                      <a:r>
                        <a:rPr lang="en-US" altLang="zh-CN" sz="2000" dirty="0"/>
                        <a:t>0</a:t>
                      </a:r>
                      <a:endParaRPr lang="zh-CN" altLang="en-US" sz="2000" dirty="0"/>
                    </a:p>
                  </a:txBody>
                  <a:tcPr anchor="ctr"/>
                </a:tc>
                <a:tc>
                  <a:txBody>
                    <a:bodyPr/>
                    <a:lstStyle/>
                    <a:p>
                      <a:pPr algn="ctr"/>
                      <a:r>
                        <a:rPr lang="en-US" altLang="zh-CN" sz="2000" dirty="0"/>
                        <a:t>10</a:t>
                      </a:r>
                      <a:endParaRPr lang="zh-CN" altLang="en-US" sz="2000" dirty="0"/>
                    </a:p>
                  </a:txBody>
                  <a:tcPr anchor="ctr"/>
                </a:tc>
                <a:extLst>
                  <a:ext uri="{0D108BD9-81ED-4DB2-BD59-A6C34878D82A}">
                    <a16:rowId xmlns:a16="http://schemas.microsoft.com/office/drawing/2014/main" val="67961740"/>
                  </a:ext>
                </a:extLst>
              </a:tr>
              <a:tr h="351917">
                <a:tc>
                  <a:txBody>
                    <a:bodyPr/>
                    <a:lstStyle/>
                    <a:p>
                      <a:pPr algn="ctr"/>
                      <a:r>
                        <a:rPr lang="en-US" altLang="zh-CN" sz="2000" dirty="0"/>
                        <a:t>6</a:t>
                      </a:r>
                      <a:endParaRPr lang="zh-CN" altLang="en-US" sz="2000" dirty="0"/>
                    </a:p>
                  </a:txBody>
                  <a:tcPr anchor="ctr">
                    <a:solidFill>
                      <a:srgbClr val="FFFF66"/>
                    </a:solidFill>
                  </a:tcPr>
                </a:tc>
                <a:tc>
                  <a:txBody>
                    <a:bodyPr/>
                    <a:lstStyle/>
                    <a:p>
                      <a:pPr algn="ctr"/>
                      <a:r>
                        <a:rPr lang="en-US" altLang="zh-CN" sz="2000" dirty="0"/>
                        <a:t>10</a:t>
                      </a:r>
                      <a:endParaRPr lang="zh-CN" altLang="en-US" sz="2000" dirty="0"/>
                    </a:p>
                  </a:txBody>
                  <a:tcPr anchor="ctr"/>
                </a:tc>
                <a:tc>
                  <a:txBody>
                    <a:bodyPr/>
                    <a:lstStyle/>
                    <a:p>
                      <a:pPr algn="ctr"/>
                      <a:r>
                        <a:rPr lang="en-US" altLang="zh-CN" sz="2000" dirty="0"/>
                        <a:t>10</a:t>
                      </a:r>
                      <a:endParaRPr lang="zh-CN" altLang="en-US" sz="2000" dirty="0"/>
                    </a:p>
                  </a:txBody>
                  <a:tcPr anchor="ctr"/>
                </a:tc>
                <a:tc>
                  <a:txBody>
                    <a:bodyPr/>
                    <a:lstStyle/>
                    <a:p>
                      <a:pPr algn="ctr"/>
                      <a:r>
                        <a:rPr lang="en-US" altLang="zh-CN" sz="2000" dirty="0"/>
                        <a:t>10</a:t>
                      </a:r>
                      <a:endParaRPr lang="zh-CN" altLang="en-US" sz="2000" dirty="0"/>
                    </a:p>
                  </a:txBody>
                  <a:tcPr anchor="ctr"/>
                </a:tc>
                <a:tc>
                  <a:txBody>
                    <a:bodyPr/>
                    <a:lstStyle/>
                    <a:p>
                      <a:pPr algn="ctr"/>
                      <a:r>
                        <a:rPr lang="en-US" altLang="zh-CN" sz="2000" dirty="0"/>
                        <a:t>10</a:t>
                      </a:r>
                      <a:endParaRPr lang="zh-CN" altLang="en-US" sz="2000" dirty="0"/>
                    </a:p>
                  </a:txBody>
                  <a:tcPr anchor="ctr"/>
                </a:tc>
                <a:tc>
                  <a:txBody>
                    <a:bodyPr/>
                    <a:lstStyle/>
                    <a:p>
                      <a:pPr algn="ctr"/>
                      <a:r>
                        <a:rPr lang="en-US" altLang="zh-CN" sz="2000" dirty="0"/>
                        <a:t>10</a:t>
                      </a:r>
                      <a:endParaRPr lang="zh-CN" altLang="en-US" sz="2000" dirty="0"/>
                    </a:p>
                  </a:txBody>
                  <a:tcPr anchor="ctr"/>
                </a:tc>
                <a:tc>
                  <a:txBody>
                    <a:bodyPr/>
                    <a:lstStyle/>
                    <a:p>
                      <a:pPr algn="ctr"/>
                      <a:r>
                        <a:rPr lang="en-US" altLang="zh-CN" sz="2000" dirty="0"/>
                        <a:t>0</a:t>
                      </a:r>
                      <a:endParaRPr lang="zh-CN" altLang="en-US" sz="2000" dirty="0"/>
                    </a:p>
                  </a:txBody>
                  <a:tcPr anchor="ctr"/>
                </a:tc>
                <a:extLst>
                  <a:ext uri="{0D108BD9-81ED-4DB2-BD59-A6C34878D82A}">
                    <a16:rowId xmlns:a16="http://schemas.microsoft.com/office/drawing/2014/main" val="1100255337"/>
                  </a:ext>
                </a:extLst>
              </a:tr>
            </a:tbl>
          </a:graphicData>
        </a:graphic>
      </p:graphicFrame>
      <mc:AlternateContent xmlns:mc="http://schemas.openxmlformats.org/markup-compatibility/2006" xmlns:a14="http://schemas.microsoft.com/office/drawing/2010/main">
        <mc:Choice Requires="a14">
          <p:sp>
            <p:nvSpPr>
              <p:cNvPr id="9" name="文本框 8">
                <a:extLst>
                  <a:ext uri="{FF2B5EF4-FFF2-40B4-BE49-F238E27FC236}">
                    <a16:creationId xmlns:a16="http://schemas.microsoft.com/office/drawing/2014/main" id="{DBA75811-512C-4122-BE18-EA3BC2334E7D}"/>
                  </a:ext>
                </a:extLst>
              </p:cNvPr>
              <p:cNvSpPr txBox="1"/>
              <p:nvPr/>
            </p:nvSpPr>
            <p:spPr>
              <a:xfrm>
                <a:off x="58044" y="4528011"/>
                <a:ext cx="6911180" cy="1271758"/>
              </a:xfrm>
              <a:prstGeom prst="rect">
                <a:avLst/>
              </a:prstGeom>
              <a:noFill/>
            </p:spPr>
            <p:txBody>
              <a:bodyPr wrap="square" rtlCol="0">
                <a:spAutoFit/>
              </a:bodyPr>
              <a:lstStyle/>
              <a:p>
                <a:r>
                  <a:rPr lang="zh-CN" altLang="en-US" sz="2400" dirty="0"/>
                  <a:t>假设蚂蚁</a:t>
                </a:r>
                <a:r>
                  <a:rPr lang="en-US" altLang="zh-CN" sz="2400" dirty="0"/>
                  <a:t>k</a:t>
                </a:r>
                <a:r>
                  <a:rPr lang="zh-CN" altLang="en-US" sz="2400" dirty="0"/>
                  <a:t>走过的路径为</a:t>
                </a:r>
                <a:r>
                  <a:rPr lang="en-US" altLang="zh-CN" sz="2400" dirty="0"/>
                  <a:t>1-&gt;2-&gt;5-&gt;6-&gt;3-&gt;4-&gt;1</a:t>
                </a:r>
              </a:p>
              <a:p>
                <a:r>
                  <a:rPr lang="zh-CN" altLang="en-US" sz="2400" dirty="0"/>
                  <a:t>则总路径长度</a:t>
                </a:r>
                <a14:m>
                  <m:oMath xmlns:m="http://schemas.openxmlformats.org/officeDocument/2006/math">
                    <m:sSub>
                      <m:sSubPr>
                        <m:ctrlPr>
                          <a:rPr lang="en-US" altLang="zh-CN" sz="2400" i="1">
                            <a:latin typeface="Cambria Math" panose="02040503050406030204" pitchFamily="18" charset="0"/>
                          </a:rPr>
                        </m:ctrlPr>
                      </m:sSubPr>
                      <m:e>
                        <m:r>
                          <a:rPr lang="en-US" altLang="zh-CN" sz="2400" i="1">
                            <a:latin typeface="Cambria Math" panose="02040503050406030204" pitchFamily="18" charset="0"/>
                          </a:rPr>
                          <m:t>𝐿</m:t>
                        </m:r>
                      </m:e>
                      <m:sub>
                        <m:r>
                          <a:rPr lang="en-US" altLang="zh-CN" sz="2400" i="1">
                            <a:latin typeface="Cambria Math" panose="02040503050406030204" pitchFamily="18" charset="0"/>
                          </a:rPr>
                          <m:t>𝑘</m:t>
                        </m:r>
                      </m:sub>
                    </m:sSub>
                  </m:oMath>
                </a14:m>
                <a:r>
                  <a:rPr lang="en-US" altLang="zh-CN" sz="2400" dirty="0"/>
                  <a:t>=6+3+3+4+2+1=19</a:t>
                </a:r>
              </a:p>
              <a:p>
                <a:r>
                  <a:rPr lang="zh-CN" altLang="en-US" sz="2400" dirty="0"/>
                  <a:t>假设信息素常量</a:t>
                </a:r>
                <a:r>
                  <a:rPr lang="en-US" altLang="zh-CN" sz="2400" dirty="0"/>
                  <a:t>Q</a:t>
                </a:r>
                <a:r>
                  <a:rPr lang="zh-CN" altLang="en-US" sz="2400" dirty="0"/>
                  <a:t>为</a:t>
                </a:r>
                <a:r>
                  <a:rPr lang="en-US" altLang="zh-CN" sz="2400" dirty="0"/>
                  <a:t>38,</a:t>
                </a:r>
                <a:r>
                  <a:rPr lang="zh-CN" altLang="en-US" sz="2400" dirty="0"/>
                  <a:t>则</a:t>
                </a:r>
                <a14:m>
                  <m:oMath xmlns:m="http://schemas.openxmlformats.org/officeDocument/2006/math">
                    <m:r>
                      <a:rPr lang="zh-CN" altLang="en-US" sz="2400" i="1">
                        <a:latin typeface="Cambria Math" panose="02040503050406030204" pitchFamily="18" charset="0"/>
                      </a:rPr>
                      <m:t>∆</m:t>
                    </m:r>
                    <m:sSubSup>
                      <m:sSubSupPr>
                        <m:ctrlPr>
                          <a:rPr lang="en-US" altLang="zh-CN" sz="2400" i="1">
                            <a:latin typeface="Cambria Math" panose="02040503050406030204" pitchFamily="18" charset="0"/>
                          </a:rPr>
                        </m:ctrlPr>
                      </m:sSubSupPr>
                      <m:e>
                        <m:r>
                          <a:rPr lang="zh-CN" altLang="en-US" sz="2400" i="1">
                            <a:latin typeface="Cambria Math" panose="02040503050406030204" pitchFamily="18" charset="0"/>
                          </a:rPr>
                          <m:t>𝜏</m:t>
                        </m:r>
                      </m:e>
                      <m:sub>
                        <m:r>
                          <a:rPr lang="en-US" altLang="zh-CN" sz="2400" i="1">
                            <a:latin typeface="Cambria Math" panose="02040503050406030204" pitchFamily="18" charset="0"/>
                          </a:rPr>
                          <m:t>𝑖𝑗</m:t>
                        </m:r>
                      </m:sub>
                      <m:sup>
                        <m:r>
                          <a:rPr lang="en-US" altLang="zh-CN" sz="2400" i="1">
                            <a:latin typeface="Cambria Math" panose="02040503050406030204" pitchFamily="18" charset="0"/>
                          </a:rPr>
                          <m:t>𝑘</m:t>
                        </m:r>
                      </m:sup>
                    </m:sSubSup>
                  </m:oMath>
                </a14:m>
                <a:r>
                  <a:rPr lang="en-US" altLang="zh-CN" sz="2400" dirty="0"/>
                  <a:t>=38/19=2</a:t>
                </a:r>
              </a:p>
            </p:txBody>
          </p:sp>
        </mc:Choice>
        <mc:Fallback xmlns="">
          <p:sp>
            <p:nvSpPr>
              <p:cNvPr id="9" name="文本框 8">
                <a:extLst>
                  <a:ext uri="{FF2B5EF4-FFF2-40B4-BE49-F238E27FC236}">
                    <a16:creationId xmlns:a16="http://schemas.microsoft.com/office/drawing/2014/main" id="{DBA75811-512C-4122-BE18-EA3BC2334E7D}"/>
                  </a:ext>
                </a:extLst>
              </p:cNvPr>
              <p:cNvSpPr txBox="1">
                <a:spLocks noRot="1" noChangeAspect="1" noMove="1" noResize="1" noEditPoints="1" noAdjustHandles="1" noChangeArrowheads="1" noChangeShapeType="1" noTextEdit="1"/>
              </p:cNvSpPr>
              <p:nvPr/>
            </p:nvSpPr>
            <p:spPr>
              <a:xfrm>
                <a:off x="58044" y="4528011"/>
                <a:ext cx="6911180" cy="1271758"/>
              </a:xfrm>
              <a:prstGeom prst="rect">
                <a:avLst/>
              </a:prstGeom>
              <a:blipFill>
                <a:blip r:embed="rId2"/>
                <a:stretch>
                  <a:fillRect l="-1412" t="-3846" b="-6731"/>
                </a:stretch>
              </a:blipFill>
            </p:spPr>
            <p:txBody>
              <a:bodyPr/>
              <a:lstStyle/>
              <a:p>
                <a:r>
                  <a:rPr lang="zh-CN" altLang="en-US">
                    <a:noFill/>
                  </a:rPr>
                  <a:t> </a:t>
                </a:r>
              </a:p>
            </p:txBody>
          </p:sp>
        </mc:Fallback>
      </mc:AlternateContent>
      <p:sp>
        <p:nvSpPr>
          <p:cNvPr id="13" name="文本框 12">
            <a:extLst>
              <a:ext uri="{FF2B5EF4-FFF2-40B4-BE49-F238E27FC236}">
                <a16:creationId xmlns:a16="http://schemas.microsoft.com/office/drawing/2014/main" id="{B5FD4A25-53E0-43A7-A3E6-15999AE0B066}"/>
              </a:ext>
            </a:extLst>
          </p:cNvPr>
          <p:cNvSpPr txBox="1"/>
          <p:nvPr/>
        </p:nvSpPr>
        <p:spPr>
          <a:xfrm>
            <a:off x="272480" y="1086619"/>
            <a:ext cx="3753934" cy="461665"/>
          </a:xfrm>
          <a:prstGeom prst="rect">
            <a:avLst/>
          </a:prstGeom>
          <a:noFill/>
        </p:spPr>
        <p:txBody>
          <a:bodyPr wrap="square" rtlCol="0">
            <a:spAutoFit/>
          </a:bodyPr>
          <a:lstStyle/>
          <a:p>
            <a:r>
              <a:rPr lang="en-US" altLang="zh-CN" sz="2400" dirty="0"/>
              <a:t>t</a:t>
            </a:r>
            <a:r>
              <a:rPr lang="zh-CN" altLang="en-US" sz="2400" dirty="0"/>
              <a:t>次循环之后的信息素矩阵</a:t>
            </a:r>
          </a:p>
        </p:txBody>
      </p:sp>
      <p:sp>
        <p:nvSpPr>
          <p:cNvPr id="14" name="椭圆 13">
            <a:extLst>
              <a:ext uri="{FF2B5EF4-FFF2-40B4-BE49-F238E27FC236}">
                <a16:creationId xmlns:a16="http://schemas.microsoft.com/office/drawing/2014/main" id="{31734DF9-8DF8-4BC4-B57E-7D3F7B2ABF4A}"/>
              </a:ext>
            </a:extLst>
          </p:cNvPr>
          <p:cNvSpPr/>
          <p:nvPr/>
        </p:nvSpPr>
        <p:spPr bwMode="auto">
          <a:xfrm>
            <a:off x="8265368" y="1268181"/>
            <a:ext cx="504056" cy="504056"/>
          </a:xfrm>
          <a:prstGeom prst="ellipse">
            <a:avLst/>
          </a:prstGeom>
          <a:no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kumimoji="0" lang="en-US" altLang="zh-CN" sz="2400" b="0" i="0" u="none" strike="noStrike" cap="none" normalizeH="0" baseline="0" dirty="0">
                <a:ln>
                  <a:noFill/>
                </a:ln>
                <a:solidFill>
                  <a:schemeClr val="tx1"/>
                </a:solidFill>
                <a:effectLst/>
                <a:latin typeface="Arial" charset="0"/>
              </a:rPr>
              <a:t>1</a:t>
            </a:r>
            <a:endParaRPr kumimoji="0" lang="zh-CN" altLang="en-US" sz="2400" b="0" i="0" u="none" strike="noStrike" cap="none" normalizeH="0" baseline="0" dirty="0">
              <a:ln>
                <a:noFill/>
              </a:ln>
              <a:solidFill>
                <a:schemeClr val="tx1"/>
              </a:solidFill>
              <a:effectLst/>
              <a:latin typeface="Arial" charset="0"/>
            </a:endParaRPr>
          </a:p>
        </p:txBody>
      </p:sp>
      <p:sp>
        <p:nvSpPr>
          <p:cNvPr id="15" name="椭圆 14">
            <a:extLst>
              <a:ext uri="{FF2B5EF4-FFF2-40B4-BE49-F238E27FC236}">
                <a16:creationId xmlns:a16="http://schemas.microsoft.com/office/drawing/2014/main" id="{E58070C1-ABF4-4723-851B-5321BF3C97A8}"/>
              </a:ext>
            </a:extLst>
          </p:cNvPr>
          <p:cNvSpPr/>
          <p:nvPr/>
        </p:nvSpPr>
        <p:spPr bwMode="auto">
          <a:xfrm>
            <a:off x="8265368" y="4077072"/>
            <a:ext cx="504056" cy="504056"/>
          </a:xfrm>
          <a:prstGeom prst="ellipse">
            <a:avLst/>
          </a:prstGeom>
          <a:no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kumimoji="0" lang="en-US" altLang="zh-CN" sz="2400" b="0" i="0" u="none" strike="noStrike" cap="none" normalizeH="0" baseline="0" dirty="0">
                <a:ln>
                  <a:noFill/>
                </a:ln>
                <a:solidFill>
                  <a:schemeClr val="tx1"/>
                </a:solidFill>
                <a:effectLst/>
                <a:latin typeface="Arial" charset="0"/>
              </a:rPr>
              <a:t>3</a:t>
            </a:r>
            <a:endParaRPr kumimoji="0" lang="zh-CN" altLang="en-US" sz="2400" b="0" i="0" u="none" strike="noStrike" cap="none" normalizeH="0" baseline="0" dirty="0">
              <a:ln>
                <a:noFill/>
              </a:ln>
              <a:solidFill>
                <a:schemeClr val="tx1"/>
              </a:solidFill>
              <a:effectLst/>
              <a:latin typeface="Arial" charset="0"/>
            </a:endParaRPr>
          </a:p>
        </p:txBody>
      </p:sp>
      <p:sp>
        <p:nvSpPr>
          <p:cNvPr id="16" name="椭圆 15">
            <a:extLst>
              <a:ext uri="{FF2B5EF4-FFF2-40B4-BE49-F238E27FC236}">
                <a16:creationId xmlns:a16="http://schemas.microsoft.com/office/drawing/2014/main" id="{A84E047A-D5BF-4DBE-86F6-12F9896D0224}"/>
              </a:ext>
            </a:extLst>
          </p:cNvPr>
          <p:cNvSpPr/>
          <p:nvPr/>
        </p:nvSpPr>
        <p:spPr bwMode="auto">
          <a:xfrm>
            <a:off x="9273480" y="5013176"/>
            <a:ext cx="504056" cy="504056"/>
          </a:xfrm>
          <a:prstGeom prst="ellipse">
            <a:avLst/>
          </a:prstGeom>
          <a:no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kumimoji="0" lang="en-US" altLang="zh-CN" sz="2400" b="0" i="0" u="none" strike="noStrike" cap="none" normalizeH="0" baseline="0" dirty="0">
                <a:ln>
                  <a:noFill/>
                </a:ln>
                <a:solidFill>
                  <a:schemeClr val="tx1"/>
                </a:solidFill>
                <a:effectLst/>
                <a:latin typeface="Arial" charset="0"/>
              </a:rPr>
              <a:t>6</a:t>
            </a:r>
            <a:endParaRPr kumimoji="0" lang="zh-CN" altLang="en-US" sz="2400" b="0" i="0" u="none" strike="noStrike" cap="none" normalizeH="0" baseline="0" dirty="0">
              <a:ln>
                <a:noFill/>
              </a:ln>
              <a:solidFill>
                <a:schemeClr val="tx1"/>
              </a:solidFill>
              <a:effectLst/>
              <a:latin typeface="Arial" charset="0"/>
            </a:endParaRPr>
          </a:p>
        </p:txBody>
      </p:sp>
      <p:sp>
        <p:nvSpPr>
          <p:cNvPr id="17" name="椭圆 16">
            <a:extLst>
              <a:ext uri="{FF2B5EF4-FFF2-40B4-BE49-F238E27FC236}">
                <a16:creationId xmlns:a16="http://schemas.microsoft.com/office/drawing/2014/main" id="{E71746A3-A31A-46CA-95D6-F03161EA7955}"/>
              </a:ext>
            </a:extLst>
          </p:cNvPr>
          <p:cNvSpPr/>
          <p:nvPr/>
        </p:nvSpPr>
        <p:spPr bwMode="auto">
          <a:xfrm>
            <a:off x="7545288" y="5013176"/>
            <a:ext cx="504056" cy="504056"/>
          </a:xfrm>
          <a:prstGeom prst="ellipse">
            <a:avLst/>
          </a:prstGeom>
          <a:no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kumimoji="0" lang="en-US" altLang="zh-CN" sz="2400" b="0" i="0" u="none" strike="noStrike" cap="none" normalizeH="0" baseline="0" dirty="0">
                <a:ln>
                  <a:noFill/>
                </a:ln>
                <a:solidFill>
                  <a:schemeClr val="tx1"/>
                </a:solidFill>
                <a:effectLst/>
                <a:latin typeface="Arial" charset="0"/>
              </a:rPr>
              <a:t>5</a:t>
            </a:r>
            <a:endParaRPr kumimoji="0" lang="zh-CN" altLang="en-US" sz="2400" b="0" i="0" u="none" strike="noStrike" cap="none" normalizeH="0" baseline="0" dirty="0">
              <a:ln>
                <a:noFill/>
              </a:ln>
              <a:solidFill>
                <a:schemeClr val="tx1"/>
              </a:solidFill>
              <a:effectLst/>
              <a:latin typeface="Arial" charset="0"/>
            </a:endParaRPr>
          </a:p>
        </p:txBody>
      </p:sp>
      <p:sp>
        <p:nvSpPr>
          <p:cNvPr id="18" name="椭圆 17">
            <a:extLst>
              <a:ext uri="{FF2B5EF4-FFF2-40B4-BE49-F238E27FC236}">
                <a16:creationId xmlns:a16="http://schemas.microsoft.com/office/drawing/2014/main" id="{5E43F13A-A624-4126-9100-05C58F5A2C05}"/>
              </a:ext>
            </a:extLst>
          </p:cNvPr>
          <p:cNvSpPr/>
          <p:nvPr/>
        </p:nvSpPr>
        <p:spPr bwMode="auto">
          <a:xfrm>
            <a:off x="7545288" y="2492896"/>
            <a:ext cx="504056" cy="504056"/>
          </a:xfrm>
          <a:prstGeom prst="ellipse">
            <a:avLst/>
          </a:prstGeom>
          <a:no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kumimoji="0" lang="en-US" altLang="zh-CN" sz="2400" b="0" i="0" u="none" strike="noStrike" cap="none" normalizeH="0" baseline="0" dirty="0">
                <a:ln>
                  <a:noFill/>
                </a:ln>
                <a:solidFill>
                  <a:schemeClr val="tx1"/>
                </a:solidFill>
                <a:effectLst/>
                <a:latin typeface="Arial" charset="0"/>
              </a:rPr>
              <a:t>2</a:t>
            </a:r>
            <a:endParaRPr kumimoji="0" lang="zh-CN" altLang="en-US" sz="2400" b="0" i="0" u="none" strike="noStrike" cap="none" normalizeH="0" baseline="0" dirty="0">
              <a:ln>
                <a:noFill/>
              </a:ln>
              <a:solidFill>
                <a:schemeClr val="tx1"/>
              </a:solidFill>
              <a:effectLst/>
              <a:latin typeface="Arial" charset="0"/>
            </a:endParaRPr>
          </a:p>
        </p:txBody>
      </p:sp>
      <p:sp>
        <p:nvSpPr>
          <p:cNvPr id="19" name="椭圆 18">
            <a:extLst>
              <a:ext uri="{FF2B5EF4-FFF2-40B4-BE49-F238E27FC236}">
                <a16:creationId xmlns:a16="http://schemas.microsoft.com/office/drawing/2014/main" id="{476010D9-8D12-489D-9DE5-DED72693D261}"/>
              </a:ext>
            </a:extLst>
          </p:cNvPr>
          <p:cNvSpPr/>
          <p:nvPr/>
        </p:nvSpPr>
        <p:spPr bwMode="auto">
          <a:xfrm>
            <a:off x="9273480" y="2420888"/>
            <a:ext cx="504056" cy="504056"/>
          </a:xfrm>
          <a:prstGeom prst="ellipse">
            <a:avLst/>
          </a:prstGeom>
          <a:no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lang="en-US" altLang="zh-CN" sz="2400" dirty="0"/>
              <a:t>4</a:t>
            </a:r>
            <a:endParaRPr kumimoji="0" lang="zh-CN" altLang="en-US" sz="2400" b="0" i="0" u="none" strike="noStrike" cap="none" normalizeH="0" baseline="0" dirty="0">
              <a:ln>
                <a:noFill/>
              </a:ln>
              <a:solidFill>
                <a:schemeClr val="tx1"/>
              </a:solidFill>
              <a:effectLst/>
              <a:latin typeface="Arial" charset="0"/>
            </a:endParaRPr>
          </a:p>
        </p:txBody>
      </p:sp>
      <p:cxnSp>
        <p:nvCxnSpPr>
          <p:cNvPr id="20" name="直接连接符 19">
            <a:extLst>
              <a:ext uri="{FF2B5EF4-FFF2-40B4-BE49-F238E27FC236}">
                <a16:creationId xmlns:a16="http://schemas.microsoft.com/office/drawing/2014/main" id="{7D1EAB26-C42D-4499-B22A-764914F83DA2}"/>
              </a:ext>
            </a:extLst>
          </p:cNvPr>
          <p:cNvCxnSpPr>
            <a:stCxn id="14" idx="3"/>
            <a:endCxn id="18" idx="0"/>
          </p:cNvCxnSpPr>
          <p:nvPr/>
        </p:nvCxnSpPr>
        <p:spPr bwMode="auto">
          <a:xfrm flipH="1">
            <a:off x="7797316" y="1698420"/>
            <a:ext cx="541869" cy="794476"/>
          </a:xfrm>
          <a:prstGeom prst="line">
            <a:avLst/>
          </a:prstGeom>
          <a:ln>
            <a:headEnd type="none" w="med" len="med"/>
            <a:tailEnd type="none" w="med" len="med"/>
          </a:ln>
          <a:extLst>
            <a:ext uri="{AF507438-7753-43E0-B8FC-AC1667EBCBE1}">
              <a14:hiddenEffects xmlns:a14="http://schemas.microsoft.com/office/drawing/2010/main">
                <a:effectLst>
                  <a:outerShdw dist="35921" dir="2700000" algn="ctr" rotWithShape="0">
                    <a:schemeClr val="bg2"/>
                  </a:outerShdw>
                </a:effectLst>
              </a14:hiddenEffects>
            </a:ext>
          </a:extLst>
        </p:spPr>
        <p:style>
          <a:lnRef idx="3">
            <a:schemeClr val="dk1"/>
          </a:lnRef>
          <a:fillRef idx="0">
            <a:schemeClr val="dk1"/>
          </a:fillRef>
          <a:effectRef idx="2">
            <a:schemeClr val="dk1"/>
          </a:effectRef>
          <a:fontRef idx="minor">
            <a:schemeClr val="tx1"/>
          </a:fontRef>
        </p:style>
      </p:cxnSp>
      <p:cxnSp>
        <p:nvCxnSpPr>
          <p:cNvPr id="21" name="直接连接符 20">
            <a:extLst>
              <a:ext uri="{FF2B5EF4-FFF2-40B4-BE49-F238E27FC236}">
                <a16:creationId xmlns:a16="http://schemas.microsoft.com/office/drawing/2014/main" id="{D36B9006-E83C-4362-82FA-20C9B43F303D}"/>
              </a:ext>
            </a:extLst>
          </p:cNvPr>
          <p:cNvCxnSpPr>
            <a:cxnSpLocks/>
            <a:stCxn id="14" idx="5"/>
            <a:endCxn id="19" idx="1"/>
          </p:cNvCxnSpPr>
          <p:nvPr/>
        </p:nvCxnSpPr>
        <p:spPr bwMode="auto">
          <a:xfrm>
            <a:off x="8695607" y="1698420"/>
            <a:ext cx="651690" cy="796285"/>
          </a:xfrm>
          <a:prstGeom prst="line">
            <a:avLst/>
          </a:prstGeom>
          <a:ln>
            <a:headEnd type="none" w="med" len="med"/>
            <a:tailEnd type="none" w="med" len="med"/>
          </a:ln>
          <a:extLst>
            <a:ext uri="{AF507438-7753-43E0-B8FC-AC1667EBCBE1}">
              <a14:hiddenEffects xmlns:a14="http://schemas.microsoft.com/office/drawing/2010/main">
                <a:effectLst>
                  <a:outerShdw dist="35921" dir="2700000" algn="ctr" rotWithShape="0">
                    <a:schemeClr val="bg2"/>
                  </a:outerShdw>
                </a:effectLst>
              </a14:hiddenEffects>
            </a:ext>
          </a:extLst>
        </p:spPr>
        <p:style>
          <a:lnRef idx="3">
            <a:schemeClr val="dk1"/>
          </a:lnRef>
          <a:fillRef idx="0">
            <a:schemeClr val="dk1"/>
          </a:fillRef>
          <a:effectRef idx="2">
            <a:schemeClr val="dk1"/>
          </a:effectRef>
          <a:fontRef idx="minor">
            <a:schemeClr val="tx1"/>
          </a:fontRef>
        </p:style>
      </p:cxnSp>
      <p:cxnSp>
        <p:nvCxnSpPr>
          <p:cNvPr id="22" name="直接连接符 21">
            <a:extLst>
              <a:ext uri="{FF2B5EF4-FFF2-40B4-BE49-F238E27FC236}">
                <a16:creationId xmlns:a16="http://schemas.microsoft.com/office/drawing/2014/main" id="{BB287539-9D6F-4289-BD11-6E8E00E7404A}"/>
              </a:ext>
            </a:extLst>
          </p:cNvPr>
          <p:cNvCxnSpPr>
            <a:cxnSpLocks/>
            <a:endCxn id="15" idx="1"/>
          </p:cNvCxnSpPr>
          <p:nvPr/>
        </p:nvCxnSpPr>
        <p:spPr bwMode="auto">
          <a:xfrm>
            <a:off x="7885516" y="2996952"/>
            <a:ext cx="453669" cy="1153937"/>
          </a:xfrm>
          <a:prstGeom prst="line">
            <a:avLst/>
          </a:prstGeom>
          <a:ln>
            <a:headEnd type="none" w="med" len="med"/>
            <a:tailEnd type="none" w="med" len="med"/>
          </a:ln>
          <a:extLst>
            <a:ext uri="{AF507438-7753-43E0-B8FC-AC1667EBCBE1}">
              <a14:hiddenEffects xmlns:a14="http://schemas.microsoft.com/office/drawing/2010/main">
                <a:effectLst>
                  <a:outerShdw dist="35921" dir="2700000" algn="ctr" rotWithShape="0">
                    <a:schemeClr val="bg2"/>
                  </a:outerShdw>
                </a:effectLst>
              </a14:hiddenEffects>
            </a:ext>
          </a:extLst>
        </p:spPr>
        <p:style>
          <a:lnRef idx="3">
            <a:schemeClr val="dk1"/>
          </a:lnRef>
          <a:fillRef idx="0">
            <a:schemeClr val="dk1"/>
          </a:fillRef>
          <a:effectRef idx="2">
            <a:schemeClr val="dk1"/>
          </a:effectRef>
          <a:fontRef idx="minor">
            <a:schemeClr val="tx1"/>
          </a:fontRef>
        </p:style>
      </p:cxnSp>
      <p:cxnSp>
        <p:nvCxnSpPr>
          <p:cNvPr id="23" name="直接连接符 22">
            <a:extLst>
              <a:ext uri="{FF2B5EF4-FFF2-40B4-BE49-F238E27FC236}">
                <a16:creationId xmlns:a16="http://schemas.microsoft.com/office/drawing/2014/main" id="{E71A7FE2-126B-4665-B690-6E437CE5E298}"/>
              </a:ext>
            </a:extLst>
          </p:cNvPr>
          <p:cNvCxnSpPr>
            <a:cxnSpLocks/>
            <a:stCxn id="19" idx="3"/>
            <a:endCxn id="15" idx="7"/>
          </p:cNvCxnSpPr>
          <p:nvPr/>
        </p:nvCxnSpPr>
        <p:spPr bwMode="auto">
          <a:xfrm flipH="1">
            <a:off x="8695607" y="2851127"/>
            <a:ext cx="651690" cy="1299762"/>
          </a:xfrm>
          <a:prstGeom prst="line">
            <a:avLst/>
          </a:prstGeom>
          <a:ln>
            <a:headEnd type="none" w="med" len="med"/>
            <a:tailEnd type="none" w="med" len="med"/>
          </a:ln>
          <a:extLst>
            <a:ext uri="{AF507438-7753-43E0-B8FC-AC1667EBCBE1}">
              <a14:hiddenEffects xmlns:a14="http://schemas.microsoft.com/office/drawing/2010/main">
                <a:effectLst>
                  <a:outerShdw dist="35921" dir="2700000" algn="ctr" rotWithShape="0">
                    <a:schemeClr val="bg2"/>
                  </a:outerShdw>
                </a:effectLst>
              </a14:hiddenEffects>
            </a:ext>
          </a:extLst>
        </p:spPr>
        <p:style>
          <a:lnRef idx="3">
            <a:schemeClr val="dk1"/>
          </a:lnRef>
          <a:fillRef idx="0">
            <a:schemeClr val="dk1"/>
          </a:fillRef>
          <a:effectRef idx="2">
            <a:schemeClr val="dk1"/>
          </a:effectRef>
          <a:fontRef idx="minor">
            <a:schemeClr val="tx1"/>
          </a:fontRef>
        </p:style>
      </p:cxnSp>
      <p:cxnSp>
        <p:nvCxnSpPr>
          <p:cNvPr id="24" name="直接连接符 23">
            <a:extLst>
              <a:ext uri="{FF2B5EF4-FFF2-40B4-BE49-F238E27FC236}">
                <a16:creationId xmlns:a16="http://schemas.microsoft.com/office/drawing/2014/main" id="{9280A9D3-0D28-463C-B00C-B834C7AEB032}"/>
              </a:ext>
            </a:extLst>
          </p:cNvPr>
          <p:cNvCxnSpPr>
            <a:cxnSpLocks/>
            <a:stCxn id="14" idx="4"/>
            <a:endCxn id="15" idx="0"/>
          </p:cNvCxnSpPr>
          <p:nvPr/>
        </p:nvCxnSpPr>
        <p:spPr bwMode="auto">
          <a:xfrm>
            <a:off x="8517396" y="1772237"/>
            <a:ext cx="0" cy="2304835"/>
          </a:xfrm>
          <a:prstGeom prst="line">
            <a:avLst/>
          </a:prstGeom>
          <a:ln>
            <a:headEnd type="none" w="med" len="med"/>
            <a:tailEnd type="none" w="med" len="med"/>
          </a:ln>
          <a:extLst>
            <a:ext uri="{AF507438-7753-43E0-B8FC-AC1667EBCBE1}">
              <a14:hiddenEffects xmlns:a14="http://schemas.microsoft.com/office/drawing/2010/main">
                <a:effectLst>
                  <a:outerShdw dist="35921" dir="2700000" algn="ctr" rotWithShape="0">
                    <a:schemeClr val="bg2"/>
                  </a:outerShdw>
                </a:effectLst>
              </a14:hiddenEffects>
            </a:ext>
          </a:extLst>
        </p:spPr>
        <p:style>
          <a:lnRef idx="3">
            <a:schemeClr val="dk1"/>
          </a:lnRef>
          <a:fillRef idx="0">
            <a:schemeClr val="dk1"/>
          </a:fillRef>
          <a:effectRef idx="2">
            <a:schemeClr val="dk1"/>
          </a:effectRef>
          <a:fontRef idx="minor">
            <a:schemeClr val="tx1"/>
          </a:fontRef>
        </p:style>
      </p:cxnSp>
      <p:cxnSp>
        <p:nvCxnSpPr>
          <p:cNvPr id="25" name="直接连接符 24">
            <a:extLst>
              <a:ext uri="{FF2B5EF4-FFF2-40B4-BE49-F238E27FC236}">
                <a16:creationId xmlns:a16="http://schemas.microsoft.com/office/drawing/2014/main" id="{C0BCD8FF-C331-4946-98E2-7682DDEED16D}"/>
              </a:ext>
            </a:extLst>
          </p:cNvPr>
          <p:cNvCxnSpPr>
            <a:cxnSpLocks/>
            <a:endCxn id="17" idx="7"/>
          </p:cNvCxnSpPr>
          <p:nvPr/>
        </p:nvCxnSpPr>
        <p:spPr bwMode="auto">
          <a:xfrm flipH="1">
            <a:off x="7975527" y="4509120"/>
            <a:ext cx="387856" cy="577873"/>
          </a:xfrm>
          <a:prstGeom prst="line">
            <a:avLst/>
          </a:prstGeom>
          <a:ln>
            <a:headEnd type="none" w="med" len="med"/>
            <a:tailEnd type="none" w="med" len="med"/>
          </a:ln>
          <a:extLst>
            <a:ext uri="{AF507438-7753-43E0-B8FC-AC1667EBCBE1}">
              <a14:hiddenEffects xmlns:a14="http://schemas.microsoft.com/office/drawing/2010/main">
                <a:effectLst>
                  <a:outerShdw dist="35921" dir="2700000" algn="ctr" rotWithShape="0">
                    <a:schemeClr val="bg2"/>
                  </a:outerShdw>
                </a:effectLst>
              </a14:hiddenEffects>
            </a:ext>
          </a:extLst>
        </p:spPr>
        <p:style>
          <a:lnRef idx="3">
            <a:schemeClr val="dk1"/>
          </a:lnRef>
          <a:fillRef idx="0">
            <a:schemeClr val="dk1"/>
          </a:fillRef>
          <a:effectRef idx="2">
            <a:schemeClr val="dk1"/>
          </a:effectRef>
          <a:fontRef idx="minor">
            <a:schemeClr val="tx1"/>
          </a:fontRef>
        </p:style>
      </p:cxnSp>
      <p:cxnSp>
        <p:nvCxnSpPr>
          <p:cNvPr id="26" name="直接连接符 25">
            <a:extLst>
              <a:ext uri="{FF2B5EF4-FFF2-40B4-BE49-F238E27FC236}">
                <a16:creationId xmlns:a16="http://schemas.microsoft.com/office/drawing/2014/main" id="{8716D5E3-D981-4CC8-85AD-7D2C82DF2D43}"/>
              </a:ext>
            </a:extLst>
          </p:cNvPr>
          <p:cNvCxnSpPr>
            <a:cxnSpLocks/>
            <a:stCxn id="16" idx="1"/>
            <a:endCxn id="15" idx="5"/>
          </p:cNvCxnSpPr>
          <p:nvPr/>
        </p:nvCxnSpPr>
        <p:spPr bwMode="auto">
          <a:xfrm flipH="1" flipV="1">
            <a:off x="8695607" y="4507311"/>
            <a:ext cx="651690" cy="579682"/>
          </a:xfrm>
          <a:prstGeom prst="line">
            <a:avLst/>
          </a:prstGeom>
          <a:ln>
            <a:headEnd type="none" w="med" len="med"/>
            <a:tailEnd type="none" w="med" len="med"/>
          </a:ln>
          <a:extLst>
            <a:ext uri="{AF507438-7753-43E0-B8FC-AC1667EBCBE1}">
              <a14:hiddenEffects xmlns:a14="http://schemas.microsoft.com/office/drawing/2010/main">
                <a:effectLst>
                  <a:outerShdw dist="35921" dir="2700000" algn="ctr" rotWithShape="0">
                    <a:schemeClr val="bg2"/>
                  </a:outerShdw>
                </a:effectLst>
              </a14:hiddenEffects>
            </a:ext>
          </a:extLst>
        </p:spPr>
        <p:style>
          <a:lnRef idx="3">
            <a:schemeClr val="dk1"/>
          </a:lnRef>
          <a:fillRef idx="0">
            <a:schemeClr val="dk1"/>
          </a:fillRef>
          <a:effectRef idx="2">
            <a:schemeClr val="dk1"/>
          </a:effectRef>
          <a:fontRef idx="minor">
            <a:schemeClr val="tx1"/>
          </a:fontRef>
        </p:style>
      </p:cxnSp>
      <p:cxnSp>
        <p:nvCxnSpPr>
          <p:cNvPr id="27" name="直接连接符 26">
            <a:extLst>
              <a:ext uri="{FF2B5EF4-FFF2-40B4-BE49-F238E27FC236}">
                <a16:creationId xmlns:a16="http://schemas.microsoft.com/office/drawing/2014/main" id="{BED48E2A-9A13-4D83-ABE7-6CD6984F4C1A}"/>
              </a:ext>
            </a:extLst>
          </p:cNvPr>
          <p:cNvCxnSpPr>
            <a:cxnSpLocks/>
            <a:stCxn id="18" idx="4"/>
            <a:endCxn id="17" idx="0"/>
          </p:cNvCxnSpPr>
          <p:nvPr/>
        </p:nvCxnSpPr>
        <p:spPr bwMode="auto">
          <a:xfrm>
            <a:off x="7797316" y="2996952"/>
            <a:ext cx="0" cy="2016224"/>
          </a:xfrm>
          <a:prstGeom prst="line">
            <a:avLst/>
          </a:prstGeom>
          <a:ln>
            <a:headEnd type="none" w="med" len="med"/>
            <a:tailEnd type="none" w="med" len="med"/>
          </a:ln>
          <a:extLst>
            <a:ext uri="{AF507438-7753-43E0-B8FC-AC1667EBCBE1}">
              <a14:hiddenEffects xmlns:a14="http://schemas.microsoft.com/office/drawing/2010/main">
                <a:effectLst>
                  <a:outerShdw dist="35921" dir="2700000" algn="ctr" rotWithShape="0">
                    <a:schemeClr val="bg2"/>
                  </a:outerShdw>
                </a:effectLst>
              </a14:hiddenEffects>
            </a:ext>
          </a:extLst>
        </p:spPr>
        <p:style>
          <a:lnRef idx="3">
            <a:schemeClr val="dk1"/>
          </a:lnRef>
          <a:fillRef idx="0">
            <a:schemeClr val="dk1"/>
          </a:fillRef>
          <a:effectRef idx="2">
            <a:schemeClr val="dk1"/>
          </a:effectRef>
          <a:fontRef idx="minor">
            <a:schemeClr val="tx1"/>
          </a:fontRef>
        </p:style>
      </p:cxnSp>
      <p:cxnSp>
        <p:nvCxnSpPr>
          <p:cNvPr id="28" name="直接连接符 27">
            <a:extLst>
              <a:ext uri="{FF2B5EF4-FFF2-40B4-BE49-F238E27FC236}">
                <a16:creationId xmlns:a16="http://schemas.microsoft.com/office/drawing/2014/main" id="{8699181E-5735-41E3-8584-E121E04751CA}"/>
              </a:ext>
            </a:extLst>
          </p:cNvPr>
          <p:cNvCxnSpPr>
            <a:cxnSpLocks/>
            <a:stCxn id="19" idx="4"/>
            <a:endCxn id="16" idx="0"/>
          </p:cNvCxnSpPr>
          <p:nvPr/>
        </p:nvCxnSpPr>
        <p:spPr bwMode="auto">
          <a:xfrm>
            <a:off x="9525508" y="2924944"/>
            <a:ext cx="0" cy="2088232"/>
          </a:xfrm>
          <a:prstGeom prst="line">
            <a:avLst/>
          </a:prstGeom>
          <a:ln>
            <a:headEnd type="none" w="med" len="med"/>
            <a:tailEnd type="none" w="med" len="med"/>
          </a:ln>
          <a:extLst>
            <a:ext uri="{AF507438-7753-43E0-B8FC-AC1667EBCBE1}">
              <a14:hiddenEffects xmlns:a14="http://schemas.microsoft.com/office/drawing/2010/main">
                <a:effectLst>
                  <a:outerShdw dist="35921" dir="2700000" algn="ctr" rotWithShape="0">
                    <a:schemeClr val="bg2"/>
                  </a:outerShdw>
                </a:effectLst>
              </a14:hiddenEffects>
            </a:ext>
          </a:extLst>
        </p:spPr>
        <p:style>
          <a:lnRef idx="3">
            <a:schemeClr val="dk1"/>
          </a:lnRef>
          <a:fillRef idx="0">
            <a:schemeClr val="dk1"/>
          </a:fillRef>
          <a:effectRef idx="2">
            <a:schemeClr val="dk1"/>
          </a:effectRef>
          <a:fontRef idx="minor">
            <a:schemeClr val="tx1"/>
          </a:fontRef>
        </p:style>
      </p:cxnSp>
      <p:sp>
        <p:nvSpPr>
          <p:cNvPr id="29" name="文本框 28">
            <a:extLst>
              <a:ext uri="{FF2B5EF4-FFF2-40B4-BE49-F238E27FC236}">
                <a16:creationId xmlns:a16="http://schemas.microsoft.com/office/drawing/2014/main" id="{4C38F8C5-6F73-430D-8C7B-64F3047E0793}"/>
              </a:ext>
            </a:extLst>
          </p:cNvPr>
          <p:cNvSpPr txBox="1"/>
          <p:nvPr/>
        </p:nvSpPr>
        <p:spPr>
          <a:xfrm>
            <a:off x="7728703" y="1779203"/>
            <a:ext cx="356188" cy="461665"/>
          </a:xfrm>
          <a:prstGeom prst="rect">
            <a:avLst/>
          </a:prstGeom>
          <a:noFill/>
        </p:spPr>
        <p:txBody>
          <a:bodyPr wrap="none" rtlCol="0">
            <a:spAutoFit/>
          </a:bodyPr>
          <a:lstStyle/>
          <a:p>
            <a:r>
              <a:rPr lang="en-US" altLang="zh-CN" sz="2400" dirty="0">
                <a:solidFill>
                  <a:srgbClr val="FF0000"/>
                </a:solidFill>
              </a:rPr>
              <a:t>6</a:t>
            </a:r>
            <a:endParaRPr lang="zh-CN" altLang="en-US" sz="2400" dirty="0">
              <a:solidFill>
                <a:srgbClr val="FF0000"/>
              </a:solidFill>
            </a:endParaRPr>
          </a:p>
        </p:txBody>
      </p:sp>
      <p:sp>
        <p:nvSpPr>
          <p:cNvPr id="30" name="文本框 29">
            <a:extLst>
              <a:ext uri="{FF2B5EF4-FFF2-40B4-BE49-F238E27FC236}">
                <a16:creationId xmlns:a16="http://schemas.microsoft.com/office/drawing/2014/main" id="{FEAC75E5-2405-416F-87E3-76F71DCFD91D}"/>
              </a:ext>
            </a:extLst>
          </p:cNvPr>
          <p:cNvSpPr txBox="1"/>
          <p:nvPr/>
        </p:nvSpPr>
        <p:spPr>
          <a:xfrm>
            <a:off x="8920280" y="1697982"/>
            <a:ext cx="356188" cy="461665"/>
          </a:xfrm>
          <a:prstGeom prst="rect">
            <a:avLst/>
          </a:prstGeom>
          <a:noFill/>
        </p:spPr>
        <p:txBody>
          <a:bodyPr wrap="none" rtlCol="0">
            <a:spAutoFit/>
          </a:bodyPr>
          <a:lstStyle/>
          <a:p>
            <a:r>
              <a:rPr lang="en-US" altLang="zh-CN" sz="2400" dirty="0">
                <a:solidFill>
                  <a:srgbClr val="FF0000"/>
                </a:solidFill>
              </a:rPr>
              <a:t>1</a:t>
            </a:r>
            <a:endParaRPr lang="zh-CN" altLang="en-US" sz="2400" dirty="0">
              <a:solidFill>
                <a:srgbClr val="FF0000"/>
              </a:solidFill>
            </a:endParaRPr>
          </a:p>
        </p:txBody>
      </p:sp>
      <p:sp>
        <p:nvSpPr>
          <p:cNvPr id="31" name="文本框 30">
            <a:extLst>
              <a:ext uri="{FF2B5EF4-FFF2-40B4-BE49-F238E27FC236}">
                <a16:creationId xmlns:a16="http://schemas.microsoft.com/office/drawing/2014/main" id="{F3D34F74-2B8E-4D1C-94ED-E5EC5B1E9534}"/>
              </a:ext>
            </a:extLst>
          </p:cNvPr>
          <p:cNvSpPr txBox="1"/>
          <p:nvPr/>
        </p:nvSpPr>
        <p:spPr>
          <a:xfrm>
            <a:off x="7452069" y="3689224"/>
            <a:ext cx="356188" cy="461665"/>
          </a:xfrm>
          <a:prstGeom prst="rect">
            <a:avLst/>
          </a:prstGeom>
          <a:noFill/>
        </p:spPr>
        <p:txBody>
          <a:bodyPr wrap="square" rtlCol="0">
            <a:spAutoFit/>
          </a:bodyPr>
          <a:lstStyle/>
          <a:p>
            <a:r>
              <a:rPr lang="en-US" altLang="zh-CN" sz="2400" dirty="0">
                <a:solidFill>
                  <a:srgbClr val="FF0000"/>
                </a:solidFill>
              </a:rPr>
              <a:t>3</a:t>
            </a:r>
            <a:endParaRPr lang="zh-CN" altLang="en-US" sz="2400" dirty="0">
              <a:solidFill>
                <a:srgbClr val="FF0000"/>
              </a:solidFill>
            </a:endParaRPr>
          </a:p>
        </p:txBody>
      </p:sp>
      <p:sp>
        <p:nvSpPr>
          <p:cNvPr id="32" name="文本框 31">
            <a:extLst>
              <a:ext uri="{FF2B5EF4-FFF2-40B4-BE49-F238E27FC236}">
                <a16:creationId xmlns:a16="http://schemas.microsoft.com/office/drawing/2014/main" id="{69C24A68-DA85-41DF-B646-C543FB40784F}"/>
              </a:ext>
            </a:extLst>
          </p:cNvPr>
          <p:cNvSpPr txBox="1"/>
          <p:nvPr/>
        </p:nvSpPr>
        <p:spPr>
          <a:xfrm>
            <a:off x="8490703" y="2263364"/>
            <a:ext cx="356188" cy="461665"/>
          </a:xfrm>
          <a:prstGeom prst="rect">
            <a:avLst/>
          </a:prstGeom>
          <a:noFill/>
        </p:spPr>
        <p:txBody>
          <a:bodyPr wrap="none" rtlCol="0">
            <a:spAutoFit/>
          </a:bodyPr>
          <a:lstStyle/>
          <a:p>
            <a:r>
              <a:rPr lang="en-US" altLang="zh-CN" sz="2400" dirty="0">
                <a:solidFill>
                  <a:srgbClr val="FF0000"/>
                </a:solidFill>
              </a:rPr>
              <a:t>2</a:t>
            </a:r>
            <a:endParaRPr lang="zh-CN" altLang="en-US" sz="2400" dirty="0">
              <a:solidFill>
                <a:srgbClr val="FF0000"/>
              </a:solidFill>
            </a:endParaRPr>
          </a:p>
        </p:txBody>
      </p:sp>
      <p:sp>
        <p:nvSpPr>
          <p:cNvPr id="33" name="文本框 32">
            <a:extLst>
              <a:ext uri="{FF2B5EF4-FFF2-40B4-BE49-F238E27FC236}">
                <a16:creationId xmlns:a16="http://schemas.microsoft.com/office/drawing/2014/main" id="{F01D4854-D339-4954-8829-BF63374A7A41}"/>
              </a:ext>
            </a:extLst>
          </p:cNvPr>
          <p:cNvSpPr txBox="1"/>
          <p:nvPr/>
        </p:nvSpPr>
        <p:spPr>
          <a:xfrm>
            <a:off x="8014500" y="3257176"/>
            <a:ext cx="356188" cy="461665"/>
          </a:xfrm>
          <a:prstGeom prst="rect">
            <a:avLst/>
          </a:prstGeom>
          <a:noFill/>
        </p:spPr>
        <p:txBody>
          <a:bodyPr wrap="none" rtlCol="0">
            <a:spAutoFit/>
          </a:bodyPr>
          <a:lstStyle/>
          <a:p>
            <a:r>
              <a:rPr lang="en-US" altLang="zh-CN" sz="2400" dirty="0">
                <a:solidFill>
                  <a:srgbClr val="FF0000"/>
                </a:solidFill>
              </a:rPr>
              <a:t>6</a:t>
            </a:r>
            <a:endParaRPr lang="zh-CN" altLang="en-US" sz="2400" dirty="0">
              <a:solidFill>
                <a:srgbClr val="FF0000"/>
              </a:solidFill>
            </a:endParaRPr>
          </a:p>
        </p:txBody>
      </p:sp>
      <p:sp>
        <p:nvSpPr>
          <p:cNvPr id="34" name="文本框 33">
            <a:extLst>
              <a:ext uri="{FF2B5EF4-FFF2-40B4-BE49-F238E27FC236}">
                <a16:creationId xmlns:a16="http://schemas.microsoft.com/office/drawing/2014/main" id="{5C4278D7-EECB-438D-AE55-067790AA70E5}"/>
              </a:ext>
            </a:extLst>
          </p:cNvPr>
          <p:cNvSpPr txBox="1"/>
          <p:nvPr/>
        </p:nvSpPr>
        <p:spPr>
          <a:xfrm>
            <a:off x="8087392" y="4708526"/>
            <a:ext cx="356188" cy="461665"/>
          </a:xfrm>
          <a:prstGeom prst="rect">
            <a:avLst/>
          </a:prstGeom>
          <a:noFill/>
        </p:spPr>
        <p:txBody>
          <a:bodyPr wrap="none" rtlCol="0">
            <a:spAutoFit/>
          </a:bodyPr>
          <a:lstStyle/>
          <a:p>
            <a:r>
              <a:rPr lang="en-US" altLang="zh-CN" sz="2400" dirty="0">
                <a:solidFill>
                  <a:srgbClr val="FF0000"/>
                </a:solidFill>
              </a:rPr>
              <a:t>2</a:t>
            </a:r>
            <a:endParaRPr lang="zh-CN" altLang="en-US" sz="2400" dirty="0">
              <a:solidFill>
                <a:srgbClr val="FF0000"/>
              </a:solidFill>
            </a:endParaRPr>
          </a:p>
        </p:txBody>
      </p:sp>
      <p:sp>
        <p:nvSpPr>
          <p:cNvPr id="35" name="文本框 34">
            <a:extLst>
              <a:ext uri="{FF2B5EF4-FFF2-40B4-BE49-F238E27FC236}">
                <a16:creationId xmlns:a16="http://schemas.microsoft.com/office/drawing/2014/main" id="{8D0F0882-3EEF-42C8-BFAE-A5A4B390D5AC}"/>
              </a:ext>
            </a:extLst>
          </p:cNvPr>
          <p:cNvSpPr txBox="1"/>
          <p:nvPr/>
        </p:nvSpPr>
        <p:spPr>
          <a:xfrm>
            <a:off x="8742186" y="3149947"/>
            <a:ext cx="356188" cy="461665"/>
          </a:xfrm>
          <a:prstGeom prst="rect">
            <a:avLst/>
          </a:prstGeom>
          <a:noFill/>
        </p:spPr>
        <p:txBody>
          <a:bodyPr wrap="none" rtlCol="0">
            <a:spAutoFit/>
          </a:bodyPr>
          <a:lstStyle/>
          <a:p>
            <a:r>
              <a:rPr lang="en-US" altLang="zh-CN" sz="2400" dirty="0">
                <a:solidFill>
                  <a:srgbClr val="FF0000"/>
                </a:solidFill>
              </a:rPr>
              <a:t>2</a:t>
            </a:r>
            <a:endParaRPr lang="zh-CN" altLang="en-US" sz="2400" dirty="0">
              <a:solidFill>
                <a:srgbClr val="FF0000"/>
              </a:solidFill>
            </a:endParaRPr>
          </a:p>
        </p:txBody>
      </p:sp>
      <p:sp>
        <p:nvSpPr>
          <p:cNvPr id="36" name="文本框 35">
            <a:extLst>
              <a:ext uri="{FF2B5EF4-FFF2-40B4-BE49-F238E27FC236}">
                <a16:creationId xmlns:a16="http://schemas.microsoft.com/office/drawing/2014/main" id="{0C2343F0-FFBD-410C-8636-15920863EB73}"/>
              </a:ext>
            </a:extLst>
          </p:cNvPr>
          <p:cNvSpPr txBox="1"/>
          <p:nvPr/>
        </p:nvSpPr>
        <p:spPr>
          <a:xfrm>
            <a:off x="8766429" y="4710064"/>
            <a:ext cx="356188" cy="461665"/>
          </a:xfrm>
          <a:prstGeom prst="rect">
            <a:avLst/>
          </a:prstGeom>
          <a:noFill/>
        </p:spPr>
        <p:txBody>
          <a:bodyPr wrap="none" rtlCol="0">
            <a:spAutoFit/>
          </a:bodyPr>
          <a:lstStyle/>
          <a:p>
            <a:r>
              <a:rPr lang="en-US" altLang="zh-CN" sz="2400" dirty="0">
                <a:solidFill>
                  <a:srgbClr val="FF0000"/>
                </a:solidFill>
              </a:rPr>
              <a:t>4</a:t>
            </a:r>
            <a:endParaRPr lang="zh-CN" altLang="en-US" sz="2400" dirty="0">
              <a:solidFill>
                <a:srgbClr val="FF0000"/>
              </a:solidFill>
            </a:endParaRPr>
          </a:p>
        </p:txBody>
      </p:sp>
      <p:sp>
        <p:nvSpPr>
          <p:cNvPr id="37" name="文本框 36">
            <a:extLst>
              <a:ext uri="{FF2B5EF4-FFF2-40B4-BE49-F238E27FC236}">
                <a16:creationId xmlns:a16="http://schemas.microsoft.com/office/drawing/2014/main" id="{C58388EC-1C27-4FF1-878B-D49B66622459}"/>
              </a:ext>
            </a:extLst>
          </p:cNvPr>
          <p:cNvSpPr txBox="1"/>
          <p:nvPr/>
        </p:nvSpPr>
        <p:spPr>
          <a:xfrm>
            <a:off x="9206228" y="4000558"/>
            <a:ext cx="356188" cy="461665"/>
          </a:xfrm>
          <a:prstGeom prst="rect">
            <a:avLst/>
          </a:prstGeom>
          <a:noFill/>
        </p:spPr>
        <p:txBody>
          <a:bodyPr wrap="none" rtlCol="0">
            <a:spAutoFit/>
          </a:bodyPr>
          <a:lstStyle/>
          <a:p>
            <a:r>
              <a:rPr lang="en-US" altLang="zh-CN" sz="2400" dirty="0">
                <a:solidFill>
                  <a:srgbClr val="FF0000"/>
                </a:solidFill>
              </a:rPr>
              <a:t>5</a:t>
            </a:r>
            <a:endParaRPr lang="zh-CN" altLang="en-US" sz="2400" dirty="0">
              <a:solidFill>
                <a:srgbClr val="FF0000"/>
              </a:solidFill>
            </a:endParaRPr>
          </a:p>
        </p:txBody>
      </p:sp>
      <p:cxnSp>
        <p:nvCxnSpPr>
          <p:cNvPr id="38" name="直接连接符 37">
            <a:extLst>
              <a:ext uri="{FF2B5EF4-FFF2-40B4-BE49-F238E27FC236}">
                <a16:creationId xmlns:a16="http://schemas.microsoft.com/office/drawing/2014/main" id="{180AB08F-10FA-4E57-9E2C-171DF3CAD8A4}"/>
              </a:ext>
            </a:extLst>
          </p:cNvPr>
          <p:cNvCxnSpPr>
            <a:cxnSpLocks/>
            <a:stCxn id="16" idx="2"/>
            <a:endCxn id="17" idx="6"/>
          </p:cNvCxnSpPr>
          <p:nvPr/>
        </p:nvCxnSpPr>
        <p:spPr bwMode="auto">
          <a:xfrm flipH="1">
            <a:off x="8049344" y="5265204"/>
            <a:ext cx="1224136" cy="0"/>
          </a:xfrm>
          <a:prstGeom prst="line">
            <a:avLst/>
          </a:prstGeom>
          <a:ln>
            <a:headEnd type="none" w="med" len="med"/>
            <a:tailEnd type="none" w="med" len="med"/>
          </a:ln>
          <a:extLst>
            <a:ext uri="{AF507438-7753-43E0-B8FC-AC1667EBCBE1}">
              <a14:hiddenEffects xmlns:a14="http://schemas.microsoft.com/office/drawing/2010/main">
                <a:effectLst>
                  <a:outerShdw dist="35921" dir="2700000" algn="ctr" rotWithShape="0">
                    <a:schemeClr val="bg2"/>
                  </a:outerShdw>
                </a:effectLst>
              </a14:hiddenEffects>
            </a:ext>
          </a:extLst>
        </p:spPr>
        <p:style>
          <a:lnRef idx="3">
            <a:schemeClr val="dk1"/>
          </a:lnRef>
          <a:fillRef idx="0">
            <a:schemeClr val="dk1"/>
          </a:fillRef>
          <a:effectRef idx="2">
            <a:schemeClr val="dk1"/>
          </a:effectRef>
          <a:fontRef idx="minor">
            <a:schemeClr val="tx1"/>
          </a:fontRef>
        </p:style>
      </p:cxnSp>
      <p:sp>
        <p:nvSpPr>
          <p:cNvPr id="39" name="文本框 38">
            <a:extLst>
              <a:ext uri="{FF2B5EF4-FFF2-40B4-BE49-F238E27FC236}">
                <a16:creationId xmlns:a16="http://schemas.microsoft.com/office/drawing/2014/main" id="{472F26B4-BED0-4AF3-BADF-6C897FA9E77F}"/>
              </a:ext>
            </a:extLst>
          </p:cNvPr>
          <p:cNvSpPr txBox="1"/>
          <p:nvPr/>
        </p:nvSpPr>
        <p:spPr>
          <a:xfrm>
            <a:off x="8443360" y="5265204"/>
            <a:ext cx="356188" cy="461665"/>
          </a:xfrm>
          <a:prstGeom prst="rect">
            <a:avLst/>
          </a:prstGeom>
          <a:noFill/>
        </p:spPr>
        <p:txBody>
          <a:bodyPr wrap="none" rtlCol="0">
            <a:spAutoFit/>
          </a:bodyPr>
          <a:lstStyle/>
          <a:p>
            <a:r>
              <a:rPr lang="en-US" altLang="zh-CN" sz="2400" dirty="0">
                <a:solidFill>
                  <a:srgbClr val="FF0000"/>
                </a:solidFill>
              </a:rPr>
              <a:t>3</a:t>
            </a:r>
            <a:endParaRPr lang="zh-CN" altLang="en-US" sz="2400" dirty="0">
              <a:solidFill>
                <a:srgbClr val="FF0000"/>
              </a:solidFill>
            </a:endParaRPr>
          </a:p>
        </p:txBody>
      </p:sp>
    </p:spTree>
    <p:extLst>
      <p:ext uri="{BB962C8B-B14F-4D97-AF65-F5344CB8AC3E}">
        <p14:creationId xmlns:p14="http://schemas.microsoft.com/office/powerpoint/2010/main" val="277014708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4" fill="hold" nodeType="with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wipe(down)">
                                      <p:cBhvr>
                                        <p:cTn id="7" dur="500"/>
                                        <p:tgtEl>
                                          <p:spTgt spid="6"/>
                                        </p:tgtEl>
                                      </p:cBhvr>
                                    </p:animEffect>
                                  </p:childTnLst>
                                </p:cTn>
                              </p:par>
                              <p:par>
                                <p:cTn id="8" presetID="22" presetClass="entr" presetSubtype="4" fill="hold" grpId="0" nodeType="withEffect">
                                  <p:stCondLst>
                                    <p:cond delay="0"/>
                                  </p:stCondLst>
                                  <p:childTnLst>
                                    <p:set>
                                      <p:cBhvr>
                                        <p:cTn id="9" dur="1" fill="hold">
                                          <p:stCondLst>
                                            <p:cond delay="0"/>
                                          </p:stCondLst>
                                        </p:cTn>
                                        <p:tgtEl>
                                          <p:spTgt spid="13"/>
                                        </p:tgtEl>
                                        <p:attrNameLst>
                                          <p:attrName>style.visibility</p:attrName>
                                        </p:attrNameLst>
                                      </p:cBhvr>
                                      <p:to>
                                        <p:strVal val="visible"/>
                                      </p:to>
                                    </p:set>
                                    <p:animEffect transition="in" filter="wipe(down)">
                                      <p:cBhvr>
                                        <p:cTn id="10" dur="500"/>
                                        <p:tgtEl>
                                          <p:spTgt spid="13"/>
                                        </p:tgtEl>
                                      </p:cBhvr>
                                    </p:animEffect>
                                  </p:childTnLst>
                                </p:cTn>
                              </p:par>
                              <p:par>
                                <p:cTn id="11" presetID="22" presetClass="entr" presetSubtype="4" fill="hold" grpId="0" nodeType="withEffect">
                                  <p:stCondLst>
                                    <p:cond delay="0"/>
                                  </p:stCondLst>
                                  <p:childTnLst>
                                    <p:set>
                                      <p:cBhvr>
                                        <p:cTn id="12" dur="1" fill="hold">
                                          <p:stCondLst>
                                            <p:cond delay="0"/>
                                          </p:stCondLst>
                                        </p:cTn>
                                        <p:tgtEl>
                                          <p:spTgt spid="14"/>
                                        </p:tgtEl>
                                        <p:attrNameLst>
                                          <p:attrName>style.visibility</p:attrName>
                                        </p:attrNameLst>
                                      </p:cBhvr>
                                      <p:to>
                                        <p:strVal val="visible"/>
                                      </p:to>
                                    </p:set>
                                    <p:animEffect transition="in" filter="wipe(down)">
                                      <p:cBhvr>
                                        <p:cTn id="13" dur="500"/>
                                        <p:tgtEl>
                                          <p:spTgt spid="14"/>
                                        </p:tgtEl>
                                      </p:cBhvr>
                                    </p:animEffect>
                                  </p:childTnLst>
                                </p:cTn>
                              </p:par>
                              <p:par>
                                <p:cTn id="14" presetID="22" presetClass="entr" presetSubtype="4" fill="hold" grpId="0" nodeType="withEffect">
                                  <p:stCondLst>
                                    <p:cond delay="0"/>
                                  </p:stCondLst>
                                  <p:childTnLst>
                                    <p:set>
                                      <p:cBhvr>
                                        <p:cTn id="15" dur="1" fill="hold">
                                          <p:stCondLst>
                                            <p:cond delay="0"/>
                                          </p:stCondLst>
                                        </p:cTn>
                                        <p:tgtEl>
                                          <p:spTgt spid="15"/>
                                        </p:tgtEl>
                                        <p:attrNameLst>
                                          <p:attrName>style.visibility</p:attrName>
                                        </p:attrNameLst>
                                      </p:cBhvr>
                                      <p:to>
                                        <p:strVal val="visible"/>
                                      </p:to>
                                    </p:set>
                                    <p:animEffect transition="in" filter="wipe(down)">
                                      <p:cBhvr>
                                        <p:cTn id="16" dur="500"/>
                                        <p:tgtEl>
                                          <p:spTgt spid="15"/>
                                        </p:tgtEl>
                                      </p:cBhvr>
                                    </p:animEffect>
                                  </p:childTnLst>
                                </p:cTn>
                              </p:par>
                              <p:par>
                                <p:cTn id="17" presetID="22" presetClass="entr" presetSubtype="4" fill="hold" grpId="0" nodeType="withEffect">
                                  <p:stCondLst>
                                    <p:cond delay="0"/>
                                  </p:stCondLst>
                                  <p:childTnLst>
                                    <p:set>
                                      <p:cBhvr>
                                        <p:cTn id="18" dur="1" fill="hold">
                                          <p:stCondLst>
                                            <p:cond delay="0"/>
                                          </p:stCondLst>
                                        </p:cTn>
                                        <p:tgtEl>
                                          <p:spTgt spid="16"/>
                                        </p:tgtEl>
                                        <p:attrNameLst>
                                          <p:attrName>style.visibility</p:attrName>
                                        </p:attrNameLst>
                                      </p:cBhvr>
                                      <p:to>
                                        <p:strVal val="visible"/>
                                      </p:to>
                                    </p:set>
                                    <p:animEffect transition="in" filter="wipe(down)">
                                      <p:cBhvr>
                                        <p:cTn id="19" dur="500"/>
                                        <p:tgtEl>
                                          <p:spTgt spid="16"/>
                                        </p:tgtEl>
                                      </p:cBhvr>
                                    </p:animEffect>
                                  </p:childTnLst>
                                </p:cTn>
                              </p:par>
                              <p:par>
                                <p:cTn id="20" presetID="22" presetClass="entr" presetSubtype="4" fill="hold" grpId="0" nodeType="withEffect">
                                  <p:stCondLst>
                                    <p:cond delay="0"/>
                                  </p:stCondLst>
                                  <p:childTnLst>
                                    <p:set>
                                      <p:cBhvr>
                                        <p:cTn id="21" dur="1" fill="hold">
                                          <p:stCondLst>
                                            <p:cond delay="0"/>
                                          </p:stCondLst>
                                        </p:cTn>
                                        <p:tgtEl>
                                          <p:spTgt spid="17"/>
                                        </p:tgtEl>
                                        <p:attrNameLst>
                                          <p:attrName>style.visibility</p:attrName>
                                        </p:attrNameLst>
                                      </p:cBhvr>
                                      <p:to>
                                        <p:strVal val="visible"/>
                                      </p:to>
                                    </p:set>
                                    <p:animEffect transition="in" filter="wipe(down)">
                                      <p:cBhvr>
                                        <p:cTn id="22" dur="500"/>
                                        <p:tgtEl>
                                          <p:spTgt spid="17"/>
                                        </p:tgtEl>
                                      </p:cBhvr>
                                    </p:animEffect>
                                  </p:childTnLst>
                                </p:cTn>
                              </p:par>
                              <p:par>
                                <p:cTn id="23" presetID="22" presetClass="entr" presetSubtype="4" fill="hold" grpId="0" nodeType="withEffect">
                                  <p:stCondLst>
                                    <p:cond delay="0"/>
                                  </p:stCondLst>
                                  <p:childTnLst>
                                    <p:set>
                                      <p:cBhvr>
                                        <p:cTn id="24" dur="1" fill="hold">
                                          <p:stCondLst>
                                            <p:cond delay="0"/>
                                          </p:stCondLst>
                                        </p:cTn>
                                        <p:tgtEl>
                                          <p:spTgt spid="18"/>
                                        </p:tgtEl>
                                        <p:attrNameLst>
                                          <p:attrName>style.visibility</p:attrName>
                                        </p:attrNameLst>
                                      </p:cBhvr>
                                      <p:to>
                                        <p:strVal val="visible"/>
                                      </p:to>
                                    </p:set>
                                    <p:animEffect transition="in" filter="wipe(down)">
                                      <p:cBhvr>
                                        <p:cTn id="25" dur="500"/>
                                        <p:tgtEl>
                                          <p:spTgt spid="18"/>
                                        </p:tgtEl>
                                      </p:cBhvr>
                                    </p:animEffect>
                                  </p:childTnLst>
                                </p:cTn>
                              </p:par>
                              <p:par>
                                <p:cTn id="26" presetID="22" presetClass="entr" presetSubtype="4" fill="hold" grpId="0" nodeType="withEffect">
                                  <p:stCondLst>
                                    <p:cond delay="0"/>
                                  </p:stCondLst>
                                  <p:childTnLst>
                                    <p:set>
                                      <p:cBhvr>
                                        <p:cTn id="27" dur="1" fill="hold">
                                          <p:stCondLst>
                                            <p:cond delay="0"/>
                                          </p:stCondLst>
                                        </p:cTn>
                                        <p:tgtEl>
                                          <p:spTgt spid="19"/>
                                        </p:tgtEl>
                                        <p:attrNameLst>
                                          <p:attrName>style.visibility</p:attrName>
                                        </p:attrNameLst>
                                      </p:cBhvr>
                                      <p:to>
                                        <p:strVal val="visible"/>
                                      </p:to>
                                    </p:set>
                                    <p:animEffect transition="in" filter="wipe(down)">
                                      <p:cBhvr>
                                        <p:cTn id="28" dur="500"/>
                                        <p:tgtEl>
                                          <p:spTgt spid="19"/>
                                        </p:tgtEl>
                                      </p:cBhvr>
                                    </p:animEffect>
                                  </p:childTnLst>
                                </p:cTn>
                              </p:par>
                              <p:par>
                                <p:cTn id="29" presetID="22" presetClass="entr" presetSubtype="4" fill="hold" nodeType="withEffect">
                                  <p:stCondLst>
                                    <p:cond delay="0"/>
                                  </p:stCondLst>
                                  <p:childTnLst>
                                    <p:set>
                                      <p:cBhvr>
                                        <p:cTn id="30" dur="1" fill="hold">
                                          <p:stCondLst>
                                            <p:cond delay="0"/>
                                          </p:stCondLst>
                                        </p:cTn>
                                        <p:tgtEl>
                                          <p:spTgt spid="20"/>
                                        </p:tgtEl>
                                        <p:attrNameLst>
                                          <p:attrName>style.visibility</p:attrName>
                                        </p:attrNameLst>
                                      </p:cBhvr>
                                      <p:to>
                                        <p:strVal val="visible"/>
                                      </p:to>
                                    </p:set>
                                    <p:animEffect transition="in" filter="wipe(down)">
                                      <p:cBhvr>
                                        <p:cTn id="31" dur="500"/>
                                        <p:tgtEl>
                                          <p:spTgt spid="20"/>
                                        </p:tgtEl>
                                      </p:cBhvr>
                                    </p:animEffect>
                                  </p:childTnLst>
                                </p:cTn>
                              </p:par>
                              <p:par>
                                <p:cTn id="32" presetID="22" presetClass="entr" presetSubtype="4" fill="hold" nodeType="withEffect">
                                  <p:stCondLst>
                                    <p:cond delay="0"/>
                                  </p:stCondLst>
                                  <p:childTnLst>
                                    <p:set>
                                      <p:cBhvr>
                                        <p:cTn id="33" dur="1" fill="hold">
                                          <p:stCondLst>
                                            <p:cond delay="0"/>
                                          </p:stCondLst>
                                        </p:cTn>
                                        <p:tgtEl>
                                          <p:spTgt spid="21"/>
                                        </p:tgtEl>
                                        <p:attrNameLst>
                                          <p:attrName>style.visibility</p:attrName>
                                        </p:attrNameLst>
                                      </p:cBhvr>
                                      <p:to>
                                        <p:strVal val="visible"/>
                                      </p:to>
                                    </p:set>
                                    <p:animEffect transition="in" filter="wipe(down)">
                                      <p:cBhvr>
                                        <p:cTn id="34" dur="500"/>
                                        <p:tgtEl>
                                          <p:spTgt spid="21"/>
                                        </p:tgtEl>
                                      </p:cBhvr>
                                    </p:animEffect>
                                  </p:childTnLst>
                                </p:cTn>
                              </p:par>
                              <p:par>
                                <p:cTn id="35" presetID="22" presetClass="entr" presetSubtype="4" fill="hold" nodeType="withEffect">
                                  <p:stCondLst>
                                    <p:cond delay="0"/>
                                  </p:stCondLst>
                                  <p:childTnLst>
                                    <p:set>
                                      <p:cBhvr>
                                        <p:cTn id="36" dur="1" fill="hold">
                                          <p:stCondLst>
                                            <p:cond delay="0"/>
                                          </p:stCondLst>
                                        </p:cTn>
                                        <p:tgtEl>
                                          <p:spTgt spid="22"/>
                                        </p:tgtEl>
                                        <p:attrNameLst>
                                          <p:attrName>style.visibility</p:attrName>
                                        </p:attrNameLst>
                                      </p:cBhvr>
                                      <p:to>
                                        <p:strVal val="visible"/>
                                      </p:to>
                                    </p:set>
                                    <p:animEffect transition="in" filter="wipe(down)">
                                      <p:cBhvr>
                                        <p:cTn id="37" dur="500"/>
                                        <p:tgtEl>
                                          <p:spTgt spid="22"/>
                                        </p:tgtEl>
                                      </p:cBhvr>
                                    </p:animEffect>
                                  </p:childTnLst>
                                </p:cTn>
                              </p:par>
                              <p:par>
                                <p:cTn id="38" presetID="22" presetClass="entr" presetSubtype="4" fill="hold" nodeType="withEffect">
                                  <p:stCondLst>
                                    <p:cond delay="0"/>
                                  </p:stCondLst>
                                  <p:childTnLst>
                                    <p:set>
                                      <p:cBhvr>
                                        <p:cTn id="39" dur="1" fill="hold">
                                          <p:stCondLst>
                                            <p:cond delay="0"/>
                                          </p:stCondLst>
                                        </p:cTn>
                                        <p:tgtEl>
                                          <p:spTgt spid="23"/>
                                        </p:tgtEl>
                                        <p:attrNameLst>
                                          <p:attrName>style.visibility</p:attrName>
                                        </p:attrNameLst>
                                      </p:cBhvr>
                                      <p:to>
                                        <p:strVal val="visible"/>
                                      </p:to>
                                    </p:set>
                                    <p:animEffect transition="in" filter="wipe(down)">
                                      <p:cBhvr>
                                        <p:cTn id="40" dur="500"/>
                                        <p:tgtEl>
                                          <p:spTgt spid="23"/>
                                        </p:tgtEl>
                                      </p:cBhvr>
                                    </p:animEffect>
                                  </p:childTnLst>
                                </p:cTn>
                              </p:par>
                              <p:par>
                                <p:cTn id="41" presetID="22" presetClass="entr" presetSubtype="4" fill="hold" nodeType="withEffect">
                                  <p:stCondLst>
                                    <p:cond delay="0"/>
                                  </p:stCondLst>
                                  <p:childTnLst>
                                    <p:set>
                                      <p:cBhvr>
                                        <p:cTn id="42" dur="1" fill="hold">
                                          <p:stCondLst>
                                            <p:cond delay="0"/>
                                          </p:stCondLst>
                                        </p:cTn>
                                        <p:tgtEl>
                                          <p:spTgt spid="24"/>
                                        </p:tgtEl>
                                        <p:attrNameLst>
                                          <p:attrName>style.visibility</p:attrName>
                                        </p:attrNameLst>
                                      </p:cBhvr>
                                      <p:to>
                                        <p:strVal val="visible"/>
                                      </p:to>
                                    </p:set>
                                    <p:animEffect transition="in" filter="wipe(down)">
                                      <p:cBhvr>
                                        <p:cTn id="43" dur="500"/>
                                        <p:tgtEl>
                                          <p:spTgt spid="24"/>
                                        </p:tgtEl>
                                      </p:cBhvr>
                                    </p:animEffect>
                                  </p:childTnLst>
                                </p:cTn>
                              </p:par>
                              <p:par>
                                <p:cTn id="44" presetID="22" presetClass="entr" presetSubtype="4" fill="hold" nodeType="withEffect">
                                  <p:stCondLst>
                                    <p:cond delay="0"/>
                                  </p:stCondLst>
                                  <p:childTnLst>
                                    <p:set>
                                      <p:cBhvr>
                                        <p:cTn id="45" dur="1" fill="hold">
                                          <p:stCondLst>
                                            <p:cond delay="0"/>
                                          </p:stCondLst>
                                        </p:cTn>
                                        <p:tgtEl>
                                          <p:spTgt spid="25"/>
                                        </p:tgtEl>
                                        <p:attrNameLst>
                                          <p:attrName>style.visibility</p:attrName>
                                        </p:attrNameLst>
                                      </p:cBhvr>
                                      <p:to>
                                        <p:strVal val="visible"/>
                                      </p:to>
                                    </p:set>
                                    <p:animEffect transition="in" filter="wipe(down)">
                                      <p:cBhvr>
                                        <p:cTn id="46" dur="500"/>
                                        <p:tgtEl>
                                          <p:spTgt spid="25"/>
                                        </p:tgtEl>
                                      </p:cBhvr>
                                    </p:animEffect>
                                  </p:childTnLst>
                                </p:cTn>
                              </p:par>
                              <p:par>
                                <p:cTn id="47" presetID="22" presetClass="entr" presetSubtype="4" fill="hold" nodeType="withEffect">
                                  <p:stCondLst>
                                    <p:cond delay="0"/>
                                  </p:stCondLst>
                                  <p:childTnLst>
                                    <p:set>
                                      <p:cBhvr>
                                        <p:cTn id="48" dur="1" fill="hold">
                                          <p:stCondLst>
                                            <p:cond delay="0"/>
                                          </p:stCondLst>
                                        </p:cTn>
                                        <p:tgtEl>
                                          <p:spTgt spid="26"/>
                                        </p:tgtEl>
                                        <p:attrNameLst>
                                          <p:attrName>style.visibility</p:attrName>
                                        </p:attrNameLst>
                                      </p:cBhvr>
                                      <p:to>
                                        <p:strVal val="visible"/>
                                      </p:to>
                                    </p:set>
                                    <p:animEffect transition="in" filter="wipe(down)">
                                      <p:cBhvr>
                                        <p:cTn id="49" dur="500"/>
                                        <p:tgtEl>
                                          <p:spTgt spid="26"/>
                                        </p:tgtEl>
                                      </p:cBhvr>
                                    </p:animEffect>
                                  </p:childTnLst>
                                </p:cTn>
                              </p:par>
                              <p:par>
                                <p:cTn id="50" presetID="22" presetClass="entr" presetSubtype="4" fill="hold" nodeType="withEffect">
                                  <p:stCondLst>
                                    <p:cond delay="0"/>
                                  </p:stCondLst>
                                  <p:childTnLst>
                                    <p:set>
                                      <p:cBhvr>
                                        <p:cTn id="51" dur="1" fill="hold">
                                          <p:stCondLst>
                                            <p:cond delay="0"/>
                                          </p:stCondLst>
                                        </p:cTn>
                                        <p:tgtEl>
                                          <p:spTgt spid="27"/>
                                        </p:tgtEl>
                                        <p:attrNameLst>
                                          <p:attrName>style.visibility</p:attrName>
                                        </p:attrNameLst>
                                      </p:cBhvr>
                                      <p:to>
                                        <p:strVal val="visible"/>
                                      </p:to>
                                    </p:set>
                                    <p:animEffect transition="in" filter="wipe(down)">
                                      <p:cBhvr>
                                        <p:cTn id="52" dur="500"/>
                                        <p:tgtEl>
                                          <p:spTgt spid="27"/>
                                        </p:tgtEl>
                                      </p:cBhvr>
                                    </p:animEffect>
                                  </p:childTnLst>
                                </p:cTn>
                              </p:par>
                              <p:par>
                                <p:cTn id="53" presetID="22" presetClass="entr" presetSubtype="4" fill="hold" nodeType="withEffect">
                                  <p:stCondLst>
                                    <p:cond delay="0"/>
                                  </p:stCondLst>
                                  <p:childTnLst>
                                    <p:set>
                                      <p:cBhvr>
                                        <p:cTn id="54" dur="1" fill="hold">
                                          <p:stCondLst>
                                            <p:cond delay="0"/>
                                          </p:stCondLst>
                                        </p:cTn>
                                        <p:tgtEl>
                                          <p:spTgt spid="28"/>
                                        </p:tgtEl>
                                        <p:attrNameLst>
                                          <p:attrName>style.visibility</p:attrName>
                                        </p:attrNameLst>
                                      </p:cBhvr>
                                      <p:to>
                                        <p:strVal val="visible"/>
                                      </p:to>
                                    </p:set>
                                    <p:animEffect transition="in" filter="wipe(down)">
                                      <p:cBhvr>
                                        <p:cTn id="55" dur="500"/>
                                        <p:tgtEl>
                                          <p:spTgt spid="28"/>
                                        </p:tgtEl>
                                      </p:cBhvr>
                                    </p:animEffect>
                                  </p:childTnLst>
                                </p:cTn>
                              </p:par>
                              <p:par>
                                <p:cTn id="56" presetID="22" presetClass="entr" presetSubtype="4" fill="hold" grpId="0" nodeType="withEffect">
                                  <p:stCondLst>
                                    <p:cond delay="0"/>
                                  </p:stCondLst>
                                  <p:childTnLst>
                                    <p:set>
                                      <p:cBhvr>
                                        <p:cTn id="57" dur="1" fill="hold">
                                          <p:stCondLst>
                                            <p:cond delay="0"/>
                                          </p:stCondLst>
                                        </p:cTn>
                                        <p:tgtEl>
                                          <p:spTgt spid="29"/>
                                        </p:tgtEl>
                                        <p:attrNameLst>
                                          <p:attrName>style.visibility</p:attrName>
                                        </p:attrNameLst>
                                      </p:cBhvr>
                                      <p:to>
                                        <p:strVal val="visible"/>
                                      </p:to>
                                    </p:set>
                                    <p:animEffect transition="in" filter="wipe(down)">
                                      <p:cBhvr>
                                        <p:cTn id="58" dur="500"/>
                                        <p:tgtEl>
                                          <p:spTgt spid="29"/>
                                        </p:tgtEl>
                                      </p:cBhvr>
                                    </p:animEffect>
                                  </p:childTnLst>
                                </p:cTn>
                              </p:par>
                              <p:par>
                                <p:cTn id="59" presetID="22" presetClass="entr" presetSubtype="4" fill="hold" grpId="0" nodeType="withEffect">
                                  <p:stCondLst>
                                    <p:cond delay="0"/>
                                  </p:stCondLst>
                                  <p:childTnLst>
                                    <p:set>
                                      <p:cBhvr>
                                        <p:cTn id="60" dur="1" fill="hold">
                                          <p:stCondLst>
                                            <p:cond delay="0"/>
                                          </p:stCondLst>
                                        </p:cTn>
                                        <p:tgtEl>
                                          <p:spTgt spid="30"/>
                                        </p:tgtEl>
                                        <p:attrNameLst>
                                          <p:attrName>style.visibility</p:attrName>
                                        </p:attrNameLst>
                                      </p:cBhvr>
                                      <p:to>
                                        <p:strVal val="visible"/>
                                      </p:to>
                                    </p:set>
                                    <p:animEffect transition="in" filter="wipe(down)">
                                      <p:cBhvr>
                                        <p:cTn id="61" dur="500"/>
                                        <p:tgtEl>
                                          <p:spTgt spid="30"/>
                                        </p:tgtEl>
                                      </p:cBhvr>
                                    </p:animEffect>
                                  </p:childTnLst>
                                </p:cTn>
                              </p:par>
                              <p:par>
                                <p:cTn id="62" presetID="22" presetClass="entr" presetSubtype="4" fill="hold" grpId="0" nodeType="withEffect">
                                  <p:stCondLst>
                                    <p:cond delay="0"/>
                                  </p:stCondLst>
                                  <p:childTnLst>
                                    <p:set>
                                      <p:cBhvr>
                                        <p:cTn id="63" dur="1" fill="hold">
                                          <p:stCondLst>
                                            <p:cond delay="0"/>
                                          </p:stCondLst>
                                        </p:cTn>
                                        <p:tgtEl>
                                          <p:spTgt spid="31"/>
                                        </p:tgtEl>
                                        <p:attrNameLst>
                                          <p:attrName>style.visibility</p:attrName>
                                        </p:attrNameLst>
                                      </p:cBhvr>
                                      <p:to>
                                        <p:strVal val="visible"/>
                                      </p:to>
                                    </p:set>
                                    <p:animEffect transition="in" filter="wipe(down)">
                                      <p:cBhvr>
                                        <p:cTn id="64" dur="500"/>
                                        <p:tgtEl>
                                          <p:spTgt spid="31"/>
                                        </p:tgtEl>
                                      </p:cBhvr>
                                    </p:animEffect>
                                  </p:childTnLst>
                                </p:cTn>
                              </p:par>
                              <p:par>
                                <p:cTn id="65" presetID="22" presetClass="entr" presetSubtype="4" fill="hold" grpId="0" nodeType="withEffect">
                                  <p:stCondLst>
                                    <p:cond delay="0"/>
                                  </p:stCondLst>
                                  <p:childTnLst>
                                    <p:set>
                                      <p:cBhvr>
                                        <p:cTn id="66" dur="1" fill="hold">
                                          <p:stCondLst>
                                            <p:cond delay="0"/>
                                          </p:stCondLst>
                                        </p:cTn>
                                        <p:tgtEl>
                                          <p:spTgt spid="32"/>
                                        </p:tgtEl>
                                        <p:attrNameLst>
                                          <p:attrName>style.visibility</p:attrName>
                                        </p:attrNameLst>
                                      </p:cBhvr>
                                      <p:to>
                                        <p:strVal val="visible"/>
                                      </p:to>
                                    </p:set>
                                    <p:animEffect transition="in" filter="wipe(down)">
                                      <p:cBhvr>
                                        <p:cTn id="67" dur="500"/>
                                        <p:tgtEl>
                                          <p:spTgt spid="32"/>
                                        </p:tgtEl>
                                      </p:cBhvr>
                                    </p:animEffect>
                                  </p:childTnLst>
                                </p:cTn>
                              </p:par>
                              <p:par>
                                <p:cTn id="68" presetID="22" presetClass="entr" presetSubtype="4" fill="hold" grpId="0" nodeType="withEffect">
                                  <p:stCondLst>
                                    <p:cond delay="0"/>
                                  </p:stCondLst>
                                  <p:childTnLst>
                                    <p:set>
                                      <p:cBhvr>
                                        <p:cTn id="69" dur="1" fill="hold">
                                          <p:stCondLst>
                                            <p:cond delay="0"/>
                                          </p:stCondLst>
                                        </p:cTn>
                                        <p:tgtEl>
                                          <p:spTgt spid="33"/>
                                        </p:tgtEl>
                                        <p:attrNameLst>
                                          <p:attrName>style.visibility</p:attrName>
                                        </p:attrNameLst>
                                      </p:cBhvr>
                                      <p:to>
                                        <p:strVal val="visible"/>
                                      </p:to>
                                    </p:set>
                                    <p:animEffect transition="in" filter="wipe(down)">
                                      <p:cBhvr>
                                        <p:cTn id="70" dur="500"/>
                                        <p:tgtEl>
                                          <p:spTgt spid="33"/>
                                        </p:tgtEl>
                                      </p:cBhvr>
                                    </p:animEffect>
                                  </p:childTnLst>
                                </p:cTn>
                              </p:par>
                              <p:par>
                                <p:cTn id="71" presetID="22" presetClass="entr" presetSubtype="4" fill="hold" grpId="0" nodeType="withEffect">
                                  <p:stCondLst>
                                    <p:cond delay="0"/>
                                  </p:stCondLst>
                                  <p:childTnLst>
                                    <p:set>
                                      <p:cBhvr>
                                        <p:cTn id="72" dur="1" fill="hold">
                                          <p:stCondLst>
                                            <p:cond delay="0"/>
                                          </p:stCondLst>
                                        </p:cTn>
                                        <p:tgtEl>
                                          <p:spTgt spid="34"/>
                                        </p:tgtEl>
                                        <p:attrNameLst>
                                          <p:attrName>style.visibility</p:attrName>
                                        </p:attrNameLst>
                                      </p:cBhvr>
                                      <p:to>
                                        <p:strVal val="visible"/>
                                      </p:to>
                                    </p:set>
                                    <p:animEffect transition="in" filter="wipe(down)">
                                      <p:cBhvr>
                                        <p:cTn id="73" dur="500"/>
                                        <p:tgtEl>
                                          <p:spTgt spid="34"/>
                                        </p:tgtEl>
                                      </p:cBhvr>
                                    </p:animEffect>
                                  </p:childTnLst>
                                </p:cTn>
                              </p:par>
                              <p:par>
                                <p:cTn id="74" presetID="22" presetClass="entr" presetSubtype="4" fill="hold" grpId="0" nodeType="withEffect">
                                  <p:stCondLst>
                                    <p:cond delay="0"/>
                                  </p:stCondLst>
                                  <p:childTnLst>
                                    <p:set>
                                      <p:cBhvr>
                                        <p:cTn id="75" dur="1" fill="hold">
                                          <p:stCondLst>
                                            <p:cond delay="0"/>
                                          </p:stCondLst>
                                        </p:cTn>
                                        <p:tgtEl>
                                          <p:spTgt spid="35"/>
                                        </p:tgtEl>
                                        <p:attrNameLst>
                                          <p:attrName>style.visibility</p:attrName>
                                        </p:attrNameLst>
                                      </p:cBhvr>
                                      <p:to>
                                        <p:strVal val="visible"/>
                                      </p:to>
                                    </p:set>
                                    <p:animEffect transition="in" filter="wipe(down)">
                                      <p:cBhvr>
                                        <p:cTn id="76" dur="500"/>
                                        <p:tgtEl>
                                          <p:spTgt spid="35"/>
                                        </p:tgtEl>
                                      </p:cBhvr>
                                    </p:animEffect>
                                  </p:childTnLst>
                                </p:cTn>
                              </p:par>
                              <p:par>
                                <p:cTn id="77" presetID="22" presetClass="entr" presetSubtype="4" fill="hold" grpId="0" nodeType="withEffect">
                                  <p:stCondLst>
                                    <p:cond delay="0"/>
                                  </p:stCondLst>
                                  <p:childTnLst>
                                    <p:set>
                                      <p:cBhvr>
                                        <p:cTn id="78" dur="1" fill="hold">
                                          <p:stCondLst>
                                            <p:cond delay="0"/>
                                          </p:stCondLst>
                                        </p:cTn>
                                        <p:tgtEl>
                                          <p:spTgt spid="36"/>
                                        </p:tgtEl>
                                        <p:attrNameLst>
                                          <p:attrName>style.visibility</p:attrName>
                                        </p:attrNameLst>
                                      </p:cBhvr>
                                      <p:to>
                                        <p:strVal val="visible"/>
                                      </p:to>
                                    </p:set>
                                    <p:animEffect transition="in" filter="wipe(down)">
                                      <p:cBhvr>
                                        <p:cTn id="79" dur="500"/>
                                        <p:tgtEl>
                                          <p:spTgt spid="36"/>
                                        </p:tgtEl>
                                      </p:cBhvr>
                                    </p:animEffect>
                                  </p:childTnLst>
                                </p:cTn>
                              </p:par>
                              <p:par>
                                <p:cTn id="80" presetID="22" presetClass="entr" presetSubtype="4" fill="hold" grpId="0" nodeType="withEffect">
                                  <p:stCondLst>
                                    <p:cond delay="0"/>
                                  </p:stCondLst>
                                  <p:childTnLst>
                                    <p:set>
                                      <p:cBhvr>
                                        <p:cTn id="81" dur="1" fill="hold">
                                          <p:stCondLst>
                                            <p:cond delay="0"/>
                                          </p:stCondLst>
                                        </p:cTn>
                                        <p:tgtEl>
                                          <p:spTgt spid="37"/>
                                        </p:tgtEl>
                                        <p:attrNameLst>
                                          <p:attrName>style.visibility</p:attrName>
                                        </p:attrNameLst>
                                      </p:cBhvr>
                                      <p:to>
                                        <p:strVal val="visible"/>
                                      </p:to>
                                    </p:set>
                                    <p:animEffect transition="in" filter="wipe(down)">
                                      <p:cBhvr>
                                        <p:cTn id="82" dur="500"/>
                                        <p:tgtEl>
                                          <p:spTgt spid="37"/>
                                        </p:tgtEl>
                                      </p:cBhvr>
                                    </p:animEffect>
                                  </p:childTnLst>
                                </p:cTn>
                              </p:par>
                              <p:par>
                                <p:cTn id="83" presetID="22" presetClass="entr" presetSubtype="4" fill="hold" nodeType="withEffect">
                                  <p:stCondLst>
                                    <p:cond delay="0"/>
                                  </p:stCondLst>
                                  <p:childTnLst>
                                    <p:set>
                                      <p:cBhvr>
                                        <p:cTn id="84" dur="1" fill="hold">
                                          <p:stCondLst>
                                            <p:cond delay="0"/>
                                          </p:stCondLst>
                                        </p:cTn>
                                        <p:tgtEl>
                                          <p:spTgt spid="38"/>
                                        </p:tgtEl>
                                        <p:attrNameLst>
                                          <p:attrName>style.visibility</p:attrName>
                                        </p:attrNameLst>
                                      </p:cBhvr>
                                      <p:to>
                                        <p:strVal val="visible"/>
                                      </p:to>
                                    </p:set>
                                    <p:animEffect transition="in" filter="wipe(down)">
                                      <p:cBhvr>
                                        <p:cTn id="85" dur="500"/>
                                        <p:tgtEl>
                                          <p:spTgt spid="38"/>
                                        </p:tgtEl>
                                      </p:cBhvr>
                                    </p:animEffect>
                                  </p:childTnLst>
                                </p:cTn>
                              </p:par>
                              <p:par>
                                <p:cTn id="86" presetID="22" presetClass="entr" presetSubtype="4" fill="hold" grpId="0" nodeType="withEffect">
                                  <p:stCondLst>
                                    <p:cond delay="0"/>
                                  </p:stCondLst>
                                  <p:childTnLst>
                                    <p:set>
                                      <p:cBhvr>
                                        <p:cTn id="87" dur="1" fill="hold">
                                          <p:stCondLst>
                                            <p:cond delay="0"/>
                                          </p:stCondLst>
                                        </p:cTn>
                                        <p:tgtEl>
                                          <p:spTgt spid="39"/>
                                        </p:tgtEl>
                                        <p:attrNameLst>
                                          <p:attrName>style.visibility</p:attrName>
                                        </p:attrNameLst>
                                      </p:cBhvr>
                                      <p:to>
                                        <p:strVal val="visible"/>
                                      </p:to>
                                    </p:set>
                                    <p:animEffect transition="in" filter="wipe(down)">
                                      <p:cBhvr>
                                        <p:cTn id="88" dur="500"/>
                                        <p:tgtEl>
                                          <p:spTgt spid="39"/>
                                        </p:tgtEl>
                                      </p:cBhvr>
                                    </p:animEffect>
                                  </p:childTnLst>
                                </p:cTn>
                              </p:par>
                            </p:childTnLst>
                          </p:cTn>
                        </p:par>
                      </p:childTnLst>
                    </p:cTn>
                  </p:par>
                  <p:par>
                    <p:cTn id="89" fill="hold">
                      <p:stCondLst>
                        <p:cond delay="indefinite"/>
                      </p:stCondLst>
                      <p:childTnLst>
                        <p:par>
                          <p:cTn id="90" fill="hold">
                            <p:stCondLst>
                              <p:cond delay="0"/>
                            </p:stCondLst>
                            <p:childTnLst>
                              <p:par>
                                <p:cTn id="91" presetID="2" presetClass="entr" presetSubtype="4" fill="hold" nodeType="clickEffect">
                                  <p:stCondLst>
                                    <p:cond delay="0"/>
                                  </p:stCondLst>
                                  <p:childTnLst>
                                    <p:set>
                                      <p:cBhvr>
                                        <p:cTn id="92" dur="1" fill="hold">
                                          <p:stCondLst>
                                            <p:cond delay="0"/>
                                          </p:stCondLst>
                                        </p:cTn>
                                        <p:tgtEl>
                                          <p:spTgt spid="9">
                                            <p:txEl>
                                              <p:pRg st="0" end="0"/>
                                            </p:txEl>
                                          </p:spTgt>
                                        </p:tgtEl>
                                        <p:attrNameLst>
                                          <p:attrName>style.visibility</p:attrName>
                                        </p:attrNameLst>
                                      </p:cBhvr>
                                      <p:to>
                                        <p:strVal val="visible"/>
                                      </p:to>
                                    </p:set>
                                    <p:anim calcmode="lin" valueType="num">
                                      <p:cBhvr additive="base">
                                        <p:cTn id="93" dur="500" fill="hold"/>
                                        <p:tgtEl>
                                          <p:spTgt spid="9">
                                            <p:txEl>
                                              <p:pRg st="0" end="0"/>
                                            </p:txEl>
                                          </p:spTgt>
                                        </p:tgtEl>
                                        <p:attrNameLst>
                                          <p:attrName>ppt_x</p:attrName>
                                        </p:attrNameLst>
                                      </p:cBhvr>
                                      <p:tavLst>
                                        <p:tav tm="0">
                                          <p:val>
                                            <p:strVal val="#ppt_x"/>
                                          </p:val>
                                        </p:tav>
                                        <p:tav tm="100000">
                                          <p:val>
                                            <p:strVal val="#ppt_x"/>
                                          </p:val>
                                        </p:tav>
                                      </p:tavLst>
                                    </p:anim>
                                    <p:anim calcmode="lin" valueType="num">
                                      <p:cBhvr additive="base">
                                        <p:cTn id="94" dur="500" fill="hold"/>
                                        <p:tgtEl>
                                          <p:spTgt spid="9">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5" fill="hold">
                      <p:stCondLst>
                        <p:cond delay="indefinite"/>
                      </p:stCondLst>
                      <p:childTnLst>
                        <p:par>
                          <p:cTn id="96" fill="hold">
                            <p:stCondLst>
                              <p:cond delay="0"/>
                            </p:stCondLst>
                            <p:childTnLst>
                              <p:par>
                                <p:cTn id="97" presetID="2" presetClass="entr" presetSubtype="4" fill="hold" nodeType="clickEffect">
                                  <p:stCondLst>
                                    <p:cond delay="0"/>
                                  </p:stCondLst>
                                  <p:childTnLst>
                                    <p:set>
                                      <p:cBhvr>
                                        <p:cTn id="98" dur="1" fill="hold">
                                          <p:stCondLst>
                                            <p:cond delay="0"/>
                                          </p:stCondLst>
                                        </p:cTn>
                                        <p:tgtEl>
                                          <p:spTgt spid="9">
                                            <p:txEl>
                                              <p:pRg st="1" end="1"/>
                                            </p:txEl>
                                          </p:spTgt>
                                        </p:tgtEl>
                                        <p:attrNameLst>
                                          <p:attrName>style.visibility</p:attrName>
                                        </p:attrNameLst>
                                      </p:cBhvr>
                                      <p:to>
                                        <p:strVal val="visible"/>
                                      </p:to>
                                    </p:set>
                                    <p:anim calcmode="lin" valueType="num">
                                      <p:cBhvr additive="base">
                                        <p:cTn id="99" dur="500" fill="hold"/>
                                        <p:tgtEl>
                                          <p:spTgt spid="9">
                                            <p:txEl>
                                              <p:pRg st="1" end="1"/>
                                            </p:txEl>
                                          </p:spTgt>
                                        </p:tgtEl>
                                        <p:attrNameLst>
                                          <p:attrName>ppt_x</p:attrName>
                                        </p:attrNameLst>
                                      </p:cBhvr>
                                      <p:tavLst>
                                        <p:tav tm="0">
                                          <p:val>
                                            <p:strVal val="#ppt_x"/>
                                          </p:val>
                                        </p:tav>
                                        <p:tav tm="100000">
                                          <p:val>
                                            <p:strVal val="#ppt_x"/>
                                          </p:val>
                                        </p:tav>
                                      </p:tavLst>
                                    </p:anim>
                                    <p:anim calcmode="lin" valueType="num">
                                      <p:cBhvr additive="base">
                                        <p:cTn id="100" dur="500" fill="hold"/>
                                        <p:tgtEl>
                                          <p:spTgt spid="9">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01" fill="hold">
                      <p:stCondLst>
                        <p:cond delay="indefinite"/>
                      </p:stCondLst>
                      <p:childTnLst>
                        <p:par>
                          <p:cTn id="102" fill="hold">
                            <p:stCondLst>
                              <p:cond delay="0"/>
                            </p:stCondLst>
                            <p:childTnLst>
                              <p:par>
                                <p:cTn id="103" presetID="2" presetClass="entr" presetSubtype="4" fill="hold" nodeType="clickEffect">
                                  <p:stCondLst>
                                    <p:cond delay="0"/>
                                  </p:stCondLst>
                                  <p:childTnLst>
                                    <p:set>
                                      <p:cBhvr>
                                        <p:cTn id="104" dur="1" fill="hold">
                                          <p:stCondLst>
                                            <p:cond delay="0"/>
                                          </p:stCondLst>
                                        </p:cTn>
                                        <p:tgtEl>
                                          <p:spTgt spid="9">
                                            <p:txEl>
                                              <p:pRg st="2" end="2"/>
                                            </p:txEl>
                                          </p:spTgt>
                                        </p:tgtEl>
                                        <p:attrNameLst>
                                          <p:attrName>style.visibility</p:attrName>
                                        </p:attrNameLst>
                                      </p:cBhvr>
                                      <p:to>
                                        <p:strVal val="visible"/>
                                      </p:to>
                                    </p:set>
                                    <p:anim calcmode="lin" valueType="num">
                                      <p:cBhvr additive="base">
                                        <p:cTn id="105" dur="500" fill="hold"/>
                                        <p:tgtEl>
                                          <p:spTgt spid="9">
                                            <p:txEl>
                                              <p:pRg st="2" end="2"/>
                                            </p:txEl>
                                          </p:spTgt>
                                        </p:tgtEl>
                                        <p:attrNameLst>
                                          <p:attrName>ppt_x</p:attrName>
                                        </p:attrNameLst>
                                      </p:cBhvr>
                                      <p:tavLst>
                                        <p:tav tm="0">
                                          <p:val>
                                            <p:strVal val="#ppt_x"/>
                                          </p:val>
                                        </p:tav>
                                        <p:tav tm="100000">
                                          <p:val>
                                            <p:strVal val="#ppt_x"/>
                                          </p:val>
                                        </p:tav>
                                      </p:tavLst>
                                    </p:anim>
                                    <p:anim calcmode="lin" valueType="num">
                                      <p:cBhvr additive="base">
                                        <p:cTn id="106" dur="500" fill="hold"/>
                                        <p:tgtEl>
                                          <p:spTgt spid="9">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p:bldP spid="14" grpId="0" animBg="1"/>
      <p:bldP spid="15" grpId="0" animBg="1"/>
      <p:bldP spid="16" grpId="0" animBg="1"/>
      <p:bldP spid="17" grpId="0" animBg="1"/>
      <p:bldP spid="18" grpId="0" animBg="1"/>
      <p:bldP spid="19" grpId="0" animBg="1"/>
      <p:bldP spid="29" grpId="0"/>
      <p:bldP spid="30" grpId="0"/>
      <p:bldP spid="31" grpId="0"/>
      <p:bldP spid="32" grpId="0"/>
      <p:bldP spid="33" grpId="0"/>
      <p:bldP spid="34" grpId="0"/>
      <p:bldP spid="35" grpId="0"/>
      <p:bldP spid="36" grpId="0"/>
      <p:bldP spid="37" grpId="0"/>
      <p:bldP spid="39" grpId="0"/>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6B7D6A2-8FF3-4B58-B872-6A417A2C6245}"/>
              </a:ext>
            </a:extLst>
          </p:cNvPr>
          <p:cNvSpPr>
            <a:spLocks noGrp="1"/>
          </p:cNvSpPr>
          <p:nvPr>
            <p:ph type="title"/>
          </p:nvPr>
        </p:nvSpPr>
        <p:spPr/>
        <p:txBody>
          <a:bodyPr/>
          <a:lstStyle/>
          <a:p>
            <a:r>
              <a:rPr lang="zh-CN" altLang="en-US" dirty="0"/>
              <a:t>蚁群算法信息素更新示例</a:t>
            </a:r>
          </a:p>
        </p:txBody>
      </p:sp>
      <p:sp>
        <p:nvSpPr>
          <p:cNvPr id="4" name="日期占位符 3">
            <a:extLst>
              <a:ext uri="{FF2B5EF4-FFF2-40B4-BE49-F238E27FC236}">
                <a16:creationId xmlns:a16="http://schemas.microsoft.com/office/drawing/2014/main" id="{F6864FA1-5828-4690-880C-B900F520BFA1}"/>
              </a:ext>
            </a:extLst>
          </p:cNvPr>
          <p:cNvSpPr>
            <a:spLocks noGrp="1"/>
          </p:cNvSpPr>
          <p:nvPr>
            <p:ph type="dt" sz="half" idx="10"/>
          </p:nvPr>
        </p:nvSpPr>
        <p:spPr/>
        <p:txBody>
          <a:bodyPr/>
          <a:lstStyle/>
          <a:p>
            <a:fld id="{A8B06C41-1E1E-4B9B-9644-5AFB8CB2AB3B}" type="datetime3">
              <a:rPr lang="zh-CN" altLang="en-US" smtClean="0"/>
              <a:t>2022年11月24日星期四</a:t>
            </a:fld>
            <a:endParaRPr lang="en-US" altLang="zh-CN" dirty="0"/>
          </a:p>
        </p:txBody>
      </p:sp>
      <p:sp>
        <p:nvSpPr>
          <p:cNvPr id="5" name="灯片编号占位符 4">
            <a:extLst>
              <a:ext uri="{FF2B5EF4-FFF2-40B4-BE49-F238E27FC236}">
                <a16:creationId xmlns:a16="http://schemas.microsoft.com/office/drawing/2014/main" id="{27BB8674-86D1-4CA1-A74F-E68297C452C5}"/>
              </a:ext>
            </a:extLst>
          </p:cNvPr>
          <p:cNvSpPr>
            <a:spLocks noGrp="1"/>
          </p:cNvSpPr>
          <p:nvPr>
            <p:ph type="sldNum" sz="quarter" idx="12"/>
          </p:nvPr>
        </p:nvSpPr>
        <p:spPr/>
        <p:txBody>
          <a:bodyPr/>
          <a:lstStyle/>
          <a:p>
            <a:fld id="{7AC79822-BC0D-4DE8-A7E5-90A3732A2B82}" type="slidenum">
              <a:rPr lang="zh-CN" altLang="en-US" smtClean="0"/>
              <a:pPr/>
              <a:t>40</a:t>
            </a:fld>
            <a:endParaRPr lang="en-US" altLang="zh-CN" dirty="0"/>
          </a:p>
        </p:txBody>
      </p:sp>
      <p:graphicFrame>
        <p:nvGraphicFramePr>
          <p:cNvPr id="6" name="表格 6">
            <a:extLst>
              <a:ext uri="{FF2B5EF4-FFF2-40B4-BE49-F238E27FC236}">
                <a16:creationId xmlns:a16="http://schemas.microsoft.com/office/drawing/2014/main" id="{DC1400E1-2EA6-4B75-87C0-8488AB592B29}"/>
              </a:ext>
            </a:extLst>
          </p:cNvPr>
          <p:cNvGraphicFramePr>
            <a:graphicFrameLocks noGrp="1"/>
          </p:cNvGraphicFramePr>
          <p:nvPr>
            <p:ph idx="1"/>
            <p:extLst>
              <p:ext uri="{D42A27DB-BD31-4B8C-83A1-F6EECF244321}">
                <p14:modId xmlns:p14="http://schemas.microsoft.com/office/powerpoint/2010/main" val="3583398210"/>
              </p:ext>
            </p:extLst>
          </p:nvPr>
        </p:nvGraphicFramePr>
        <p:xfrm>
          <a:off x="126927" y="1530683"/>
          <a:ext cx="3605371" cy="2773680"/>
        </p:xfrm>
        <a:graphic>
          <a:graphicData uri="http://schemas.openxmlformats.org/drawingml/2006/table">
            <a:tbl>
              <a:tblPr firstRow="1" bandRow="1">
                <a:tableStyleId>{5940675A-B579-460E-94D1-54222C63F5DA}</a:tableStyleId>
              </a:tblPr>
              <a:tblGrid>
                <a:gridCol w="515053">
                  <a:extLst>
                    <a:ext uri="{9D8B030D-6E8A-4147-A177-3AD203B41FA5}">
                      <a16:colId xmlns:a16="http://schemas.microsoft.com/office/drawing/2014/main" val="2382911012"/>
                    </a:ext>
                  </a:extLst>
                </a:gridCol>
                <a:gridCol w="515053">
                  <a:extLst>
                    <a:ext uri="{9D8B030D-6E8A-4147-A177-3AD203B41FA5}">
                      <a16:colId xmlns:a16="http://schemas.microsoft.com/office/drawing/2014/main" val="315559393"/>
                    </a:ext>
                  </a:extLst>
                </a:gridCol>
                <a:gridCol w="515053">
                  <a:extLst>
                    <a:ext uri="{9D8B030D-6E8A-4147-A177-3AD203B41FA5}">
                      <a16:colId xmlns:a16="http://schemas.microsoft.com/office/drawing/2014/main" val="2973804191"/>
                    </a:ext>
                  </a:extLst>
                </a:gridCol>
                <a:gridCol w="515053">
                  <a:extLst>
                    <a:ext uri="{9D8B030D-6E8A-4147-A177-3AD203B41FA5}">
                      <a16:colId xmlns:a16="http://schemas.microsoft.com/office/drawing/2014/main" val="3325440957"/>
                    </a:ext>
                  </a:extLst>
                </a:gridCol>
                <a:gridCol w="515053">
                  <a:extLst>
                    <a:ext uri="{9D8B030D-6E8A-4147-A177-3AD203B41FA5}">
                      <a16:colId xmlns:a16="http://schemas.microsoft.com/office/drawing/2014/main" val="1201587515"/>
                    </a:ext>
                  </a:extLst>
                </a:gridCol>
                <a:gridCol w="515053">
                  <a:extLst>
                    <a:ext uri="{9D8B030D-6E8A-4147-A177-3AD203B41FA5}">
                      <a16:colId xmlns:a16="http://schemas.microsoft.com/office/drawing/2014/main" val="1248111960"/>
                    </a:ext>
                  </a:extLst>
                </a:gridCol>
                <a:gridCol w="515053">
                  <a:extLst>
                    <a:ext uri="{9D8B030D-6E8A-4147-A177-3AD203B41FA5}">
                      <a16:colId xmlns:a16="http://schemas.microsoft.com/office/drawing/2014/main" val="61919927"/>
                    </a:ext>
                  </a:extLst>
                </a:gridCol>
              </a:tblGrid>
              <a:tr h="351917">
                <a:tc>
                  <a:txBody>
                    <a:bodyPr/>
                    <a:lstStyle/>
                    <a:p>
                      <a:pPr algn="ctr"/>
                      <a:endParaRPr lang="zh-CN" altLang="en-US" sz="2000" dirty="0"/>
                    </a:p>
                  </a:txBody>
                  <a:tcPr anchor="ctr">
                    <a:solidFill>
                      <a:srgbClr val="FFFF66"/>
                    </a:solidFill>
                  </a:tcPr>
                </a:tc>
                <a:tc>
                  <a:txBody>
                    <a:bodyPr/>
                    <a:lstStyle/>
                    <a:p>
                      <a:pPr algn="ctr"/>
                      <a:r>
                        <a:rPr lang="en-US" altLang="zh-CN" sz="2000" dirty="0"/>
                        <a:t>1</a:t>
                      </a:r>
                      <a:endParaRPr lang="zh-CN" altLang="en-US" sz="2000" dirty="0"/>
                    </a:p>
                  </a:txBody>
                  <a:tcPr anchor="ctr">
                    <a:solidFill>
                      <a:srgbClr val="FFFF66"/>
                    </a:solidFill>
                  </a:tcPr>
                </a:tc>
                <a:tc>
                  <a:txBody>
                    <a:bodyPr/>
                    <a:lstStyle/>
                    <a:p>
                      <a:pPr algn="ctr"/>
                      <a:r>
                        <a:rPr lang="en-US" altLang="zh-CN" sz="2000" dirty="0"/>
                        <a:t>2</a:t>
                      </a:r>
                      <a:endParaRPr lang="zh-CN" altLang="en-US" sz="2000" dirty="0"/>
                    </a:p>
                  </a:txBody>
                  <a:tcPr anchor="ctr">
                    <a:solidFill>
                      <a:srgbClr val="FFFF66"/>
                    </a:solidFill>
                  </a:tcPr>
                </a:tc>
                <a:tc>
                  <a:txBody>
                    <a:bodyPr/>
                    <a:lstStyle/>
                    <a:p>
                      <a:pPr algn="ctr"/>
                      <a:r>
                        <a:rPr lang="en-US" altLang="zh-CN" sz="2000" dirty="0"/>
                        <a:t>3</a:t>
                      </a:r>
                      <a:endParaRPr lang="zh-CN" altLang="en-US" sz="2000" dirty="0"/>
                    </a:p>
                  </a:txBody>
                  <a:tcPr anchor="ctr">
                    <a:solidFill>
                      <a:srgbClr val="FFFF66"/>
                    </a:solidFill>
                  </a:tcPr>
                </a:tc>
                <a:tc>
                  <a:txBody>
                    <a:bodyPr/>
                    <a:lstStyle/>
                    <a:p>
                      <a:pPr algn="ctr"/>
                      <a:r>
                        <a:rPr lang="en-US" altLang="zh-CN" sz="2000" dirty="0"/>
                        <a:t>4</a:t>
                      </a:r>
                      <a:endParaRPr lang="zh-CN" altLang="en-US" sz="2000" dirty="0"/>
                    </a:p>
                  </a:txBody>
                  <a:tcPr anchor="ctr">
                    <a:solidFill>
                      <a:srgbClr val="FFFF66"/>
                    </a:solidFill>
                  </a:tcPr>
                </a:tc>
                <a:tc>
                  <a:txBody>
                    <a:bodyPr/>
                    <a:lstStyle/>
                    <a:p>
                      <a:pPr algn="ctr"/>
                      <a:r>
                        <a:rPr lang="en-US" altLang="zh-CN" sz="2000" dirty="0"/>
                        <a:t>5</a:t>
                      </a:r>
                      <a:endParaRPr lang="zh-CN" altLang="en-US" sz="2000" dirty="0"/>
                    </a:p>
                  </a:txBody>
                  <a:tcPr anchor="ctr">
                    <a:solidFill>
                      <a:srgbClr val="FFFF66"/>
                    </a:solidFill>
                  </a:tcPr>
                </a:tc>
                <a:tc>
                  <a:txBody>
                    <a:bodyPr/>
                    <a:lstStyle/>
                    <a:p>
                      <a:pPr algn="ctr"/>
                      <a:r>
                        <a:rPr lang="en-US" altLang="zh-CN" sz="2000" dirty="0"/>
                        <a:t>6</a:t>
                      </a:r>
                      <a:endParaRPr lang="zh-CN" altLang="en-US" sz="2000" dirty="0"/>
                    </a:p>
                  </a:txBody>
                  <a:tcPr anchor="ctr">
                    <a:solidFill>
                      <a:srgbClr val="FFFF66"/>
                    </a:solidFill>
                  </a:tcPr>
                </a:tc>
                <a:extLst>
                  <a:ext uri="{0D108BD9-81ED-4DB2-BD59-A6C34878D82A}">
                    <a16:rowId xmlns:a16="http://schemas.microsoft.com/office/drawing/2014/main" val="4163121477"/>
                  </a:ext>
                </a:extLst>
              </a:tr>
              <a:tr h="351917">
                <a:tc>
                  <a:txBody>
                    <a:bodyPr/>
                    <a:lstStyle/>
                    <a:p>
                      <a:pPr algn="ctr"/>
                      <a:r>
                        <a:rPr lang="en-US" altLang="zh-CN" sz="2000" dirty="0"/>
                        <a:t>1</a:t>
                      </a:r>
                      <a:endParaRPr lang="zh-CN" altLang="en-US" sz="2000" dirty="0"/>
                    </a:p>
                  </a:txBody>
                  <a:tcPr anchor="ctr">
                    <a:solidFill>
                      <a:srgbClr val="FFFF66"/>
                    </a:solidFill>
                  </a:tcPr>
                </a:tc>
                <a:tc>
                  <a:txBody>
                    <a:bodyPr/>
                    <a:lstStyle/>
                    <a:p>
                      <a:pPr algn="ctr"/>
                      <a:r>
                        <a:rPr lang="en-US" altLang="zh-CN" sz="2000" dirty="0"/>
                        <a:t>0</a:t>
                      </a:r>
                      <a:endParaRPr lang="zh-CN" altLang="en-US" sz="2000" dirty="0"/>
                    </a:p>
                  </a:txBody>
                  <a:tcPr anchor="ctr"/>
                </a:tc>
                <a:tc>
                  <a:txBody>
                    <a:bodyPr/>
                    <a:lstStyle/>
                    <a:p>
                      <a:pPr algn="ctr"/>
                      <a:r>
                        <a:rPr lang="en-US" altLang="zh-CN" sz="2000" dirty="0"/>
                        <a:t>10</a:t>
                      </a:r>
                      <a:endParaRPr lang="zh-CN" altLang="en-US" sz="2000" dirty="0"/>
                    </a:p>
                  </a:txBody>
                  <a:tcPr anchor="ctr"/>
                </a:tc>
                <a:tc>
                  <a:txBody>
                    <a:bodyPr/>
                    <a:lstStyle/>
                    <a:p>
                      <a:pPr algn="ctr"/>
                      <a:r>
                        <a:rPr lang="en-US" altLang="zh-CN" sz="2000" dirty="0"/>
                        <a:t>10</a:t>
                      </a:r>
                      <a:endParaRPr lang="zh-CN" altLang="en-US" sz="2000" dirty="0"/>
                    </a:p>
                  </a:txBody>
                  <a:tcPr anchor="ctr"/>
                </a:tc>
                <a:tc>
                  <a:txBody>
                    <a:bodyPr/>
                    <a:lstStyle/>
                    <a:p>
                      <a:pPr algn="ctr"/>
                      <a:r>
                        <a:rPr lang="en-US" altLang="zh-CN" sz="2000" dirty="0"/>
                        <a:t>10</a:t>
                      </a:r>
                      <a:endParaRPr lang="zh-CN" altLang="en-US" sz="2000" dirty="0"/>
                    </a:p>
                  </a:txBody>
                  <a:tcPr anchor="ctr"/>
                </a:tc>
                <a:tc>
                  <a:txBody>
                    <a:bodyPr/>
                    <a:lstStyle/>
                    <a:p>
                      <a:pPr algn="ctr"/>
                      <a:r>
                        <a:rPr lang="en-US" altLang="zh-CN" sz="2000" dirty="0"/>
                        <a:t>10</a:t>
                      </a:r>
                      <a:endParaRPr lang="zh-CN" altLang="en-US" sz="2000" dirty="0"/>
                    </a:p>
                  </a:txBody>
                  <a:tcPr anchor="ctr"/>
                </a:tc>
                <a:tc>
                  <a:txBody>
                    <a:bodyPr/>
                    <a:lstStyle/>
                    <a:p>
                      <a:pPr algn="ctr"/>
                      <a:r>
                        <a:rPr lang="en-US" altLang="zh-CN" sz="2000" dirty="0"/>
                        <a:t>10</a:t>
                      </a:r>
                      <a:endParaRPr lang="zh-CN" altLang="en-US" sz="2000" dirty="0"/>
                    </a:p>
                  </a:txBody>
                  <a:tcPr anchor="ctr"/>
                </a:tc>
                <a:extLst>
                  <a:ext uri="{0D108BD9-81ED-4DB2-BD59-A6C34878D82A}">
                    <a16:rowId xmlns:a16="http://schemas.microsoft.com/office/drawing/2014/main" val="1883987914"/>
                  </a:ext>
                </a:extLst>
              </a:tr>
              <a:tr h="351917">
                <a:tc>
                  <a:txBody>
                    <a:bodyPr/>
                    <a:lstStyle/>
                    <a:p>
                      <a:pPr algn="ctr"/>
                      <a:r>
                        <a:rPr lang="en-US" altLang="zh-CN" sz="2000" dirty="0"/>
                        <a:t>2</a:t>
                      </a:r>
                      <a:endParaRPr lang="zh-CN" altLang="en-US" sz="2000" dirty="0"/>
                    </a:p>
                  </a:txBody>
                  <a:tcPr anchor="ctr">
                    <a:solidFill>
                      <a:srgbClr val="FFFF66"/>
                    </a:solidFill>
                  </a:tcPr>
                </a:tc>
                <a:tc>
                  <a:txBody>
                    <a:bodyPr/>
                    <a:lstStyle/>
                    <a:p>
                      <a:pPr algn="ctr"/>
                      <a:r>
                        <a:rPr lang="en-US" altLang="zh-CN" sz="2000" dirty="0"/>
                        <a:t>10</a:t>
                      </a:r>
                      <a:endParaRPr lang="zh-CN" altLang="en-US" sz="2000" dirty="0"/>
                    </a:p>
                  </a:txBody>
                  <a:tcPr anchor="ctr"/>
                </a:tc>
                <a:tc>
                  <a:txBody>
                    <a:bodyPr/>
                    <a:lstStyle/>
                    <a:p>
                      <a:pPr algn="ctr"/>
                      <a:r>
                        <a:rPr lang="en-US" altLang="zh-CN" sz="2000" dirty="0"/>
                        <a:t>0</a:t>
                      </a:r>
                      <a:endParaRPr lang="zh-CN" altLang="en-US" sz="2000" dirty="0"/>
                    </a:p>
                  </a:txBody>
                  <a:tcPr anchor="ctr"/>
                </a:tc>
                <a:tc>
                  <a:txBody>
                    <a:bodyPr/>
                    <a:lstStyle/>
                    <a:p>
                      <a:pPr algn="ctr"/>
                      <a:r>
                        <a:rPr lang="en-US" altLang="zh-CN" sz="2000" dirty="0"/>
                        <a:t>10</a:t>
                      </a:r>
                      <a:endParaRPr lang="zh-CN" altLang="en-US" sz="2000" dirty="0"/>
                    </a:p>
                  </a:txBody>
                  <a:tcPr anchor="ctr"/>
                </a:tc>
                <a:tc>
                  <a:txBody>
                    <a:bodyPr/>
                    <a:lstStyle/>
                    <a:p>
                      <a:pPr algn="ctr"/>
                      <a:r>
                        <a:rPr lang="en-US" altLang="zh-CN" sz="2000" dirty="0"/>
                        <a:t>10</a:t>
                      </a:r>
                      <a:endParaRPr lang="zh-CN" altLang="en-US" sz="2000" dirty="0"/>
                    </a:p>
                  </a:txBody>
                  <a:tcPr anchor="ctr"/>
                </a:tc>
                <a:tc>
                  <a:txBody>
                    <a:bodyPr/>
                    <a:lstStyle/>
                    <a:p>
                      <a:pPr algn="ctr"/>
                      <a:r>
                        <a:rPr lang="en-US" altLang="zh-CN" sz="2000" dirty="0"/>
                        <a:t>10</a:t>
                      </a:r>
                      <a:endParaRPr lang="zh-CN" altLang="en-US" sz="2000" dirty="0"/>
                    </a:p>
                  </a:txBody>
                  <a:tcPr anchor="ctr"/>
                </a:tc>
                <a:tc>
                  <a:txBody>
                    <a:bodyPr/>
                    <a:lstStyle/>
                    <a:p>
                      <a:pPr algn="ctr"/>
                      <a:r>
                        <a:rPr lang="en-US" altLang="zh-CN" sz="2000" dirty="0"/>
                        <a:t>10</a:t>
                      </a:r>
                      <a:endParaRPr lang="zh-CN" altLang="en-US" sz="2000" dirty="0"/>
                    </a:p>
                  </a:txBody>
                  <a:tcPr anchor="ctr"/>
                </a:tc>
                <a:extLst>
                  <a:ext uri="{0D108BD9-81ED-4DB2-BD59-A6C34878D82A}">
                    <a16:rowId xmlns:a16="http://schemas.microsoft.com/office/drawing/2014/main" val="649247349"/>
                  </a:ext>
                </a:extLst>
              </a:tr>
              <a:tr h="351917">
                <a:tc>
                  <a:txBody>
                    <a:bodyPr/>
                    <a:lstStyle/>
                    <a:p>
                      <a:pPr algn="ctr"/>
                      <a:r>
                        <a:rPr lang="en-US" altLang="zh-CN" sz="2000" dirty="0"/>
                        <a:t>3</a:t>
                      </a:r>
                      <a:endParaRPr lang="zh-CN" altLang="en-US" sz="2000" dirty="0"/>
                    </a:p>
                  </a:txBody>
                  <a:tcPr anchor="ctr">
                    <a:solidFill>
                      <a:srgbClr val="FFFF66"/>
                    </a:solidFill>
                  </a:tcPr>
                </a:tc>
                <a:tc>
                  <a:txBody>
                    <a:bodyPr/>
                    <a:lstStyle/>
                    <a:p>
                      <a:pPr algn="ctr"/>
                      <a:r>
                        <a:rPr lang="en-US" altLang="zh-CN" sz="2000" dirty="0"/>
                        <a:t>10</a:t>
                      </a:r>
                      <a:endParaRPr lang="zh-CN" altLang="en-US" sz="2000" dirty="0"/>
                    </a:p>
                  </a:txBody>
                  <a:tcPr anchor="ctr"/>
                </a:tc>
                <a:tc>
                  <a:txBody>
                    <a:bodyPr/>
                    <a:lstStyle/>
                    <a:p>
                      <a:pPr algn="ctr"/>
                      <a:r>
                        <a:rPr lang="en-US" altLang="zh-CN" sz="2000" dirty="0"/>
                        <a:t>10</a:t>
                      </a:r>
                      <a:endParaRPr lang="zh-CN" altLang="en-US" sz="2000" dirty="0"/>
                    </a:p>
                  </a:txBody>
                  <a:tcPr anchor="ctr"/>
                </a:tc>
                <a:tc>
                  <a:txBody>
                    <a:bodyPr/>
                    <a:lstStyle/>
                    <a:p>
                      <a:pPr algn="ctr"/>
                      <a:r>
                        <a:rPr lang="en-US" altLang="zh-CN" sz="2000" dirty="0"/>
                        <a:t>0</a:t>
                      </a:r>
                      <a:endParaRPr lang="zh-CN" altLang="en-US" sz="2000" dirty="0"/>
                    </a:p>
                  </a:txBody>
                  <a:tcPr anchor="ctr"/>
                </a:tc>
                <a:tc>
                  <a:txBody>
                    <a:bodyPr/>
                    <a:lstStyle/>
                    <a:p>
                      <a:pPr algn="ctr"/>
                      <a:r>
                        <a:rPr lang="en-US" altLang="zh-CN" sz="2000" dirty="0"/>
                        <a:t>10</a:t>
                      </a:r>
                      <a:endParaRPr lang="zh-CN" altLang="en-US" sz="2000" dirty="0"/>
                    </a:p>
                  </a:txBody>
                  <a:tcPr anchor="ctr"/>
                </a:tc>
                <a:tc>
                  <a:txBody>
                    <a:bodyPr/>
                    <a:lstStyle/>
                    <a:p>
                      <a:pPr algn="ctr"/>
                      <a:r>
                        <a:rPr lang="en-US" altLang="zh-CN" sz="2000" dirty="0"/>
                        <a:t>10</a:t>
                      </a:r>
                      <a:endParaRPr lang="zh-CN" altLang="en-US" sz="2000" dirty="0"/>
                    </a:p>
                  </a:txBody>
                  <a:tcPr anchor="ctr"/>
                </a:tc>
                <a:tc>
                  <a:txBody>
                    <a:bodyPr/>
                    <a:lstStyle/>
                    <a:p>
                      <a:pPr algn="ctr"/>
                      <a:r>
                        <a:rPr lang="en-US" altLang="zh-CN" sz="2000" dirty="0"/>
                        <a:t>10</a:t>
                      </a:r>
                      <a:endParaRPr lang="zh-CN" altLang="en-US" sz="2000" dirty="0"/>
                    </a:p>
                  </a:txBody>
                  <a:tcPr anchor="ctr"/>
                </a:tc>
                <a:extLst>
                  <a:ext uri="{0D108BD9-81ED-4DB2-BD59-A6C34878D82A}">
                    <a16:rowId xmlns:a16="http://schemas.microsoft.com/office/drawing/2014/main" val="3818988150"/>
                  </a:ext>
                </a:extLst>
              </a:tr>
              <a:tr h="351917">
                <a:tc>
                  <a:txBody>
                    <a:bodyPr/>
                    <a:lstStyle/>
                    <a:p>
                      <a:pPr algn="ctr"/>
                      <a:r>
                        <a:rPr lang="en-US" altLang="zh-CN" sz="2000" dirty="0"/>
                        <a:t>4</a:t>
                      </a:r>
                      <a:endParaRPr lang="zh-CN" altLang="en-US" sz="2000" dirty="0"/>
                    </a:p>
                  </a:txBody>
                  <a:tcPr anchor="ctr">
                    <a:solidFill>
                      <a:srgbClr val="FFFF66"/>
                    </a:solidFill>
                  </a:tcPr>
                </a:tc>
                <a:tc>
                  <a:txBody>
                    <a:bodyPr/>
                    <a:lstStyle/>
                    <a:p>
                      <a:pPr algn="ctr"/>
                      <a:r>
                        <a:rPr lang="en-US" altLang="zh-CN" sz="2000" dirty="0"/>
                        <a:t>10</a:t>
                      </a:r>
                      <a:endParaRPr lang="zh-CN" altLang="en-US" sz="2000" dirty="0"/>
                    </a:p>
                  </a:txBody>
                  <a:tcPr anchor="ctr"/>
                </a:tc>
                <a:tc>
                  <a:txBody>
                    <a:bodyPr/>
                    <a:lstStyle/>
                    <a:p>
                      <a:pPr algn="ctr"/>
                      <a:r>
                        <a:rPr lang="en-US" altLang="zh-CN" sz="2000" dirty="0"/>
                        <a:t>10</a:t>
                      </a:r>
                      <a:endParaRPr lang="zh-CN" altLang="en-US" sz="2000" dirty="0"/>
                    </a:p>
                  </a:txBody>
                  <a:tcPr anchor="ctr"/>
                </a:tc>
                <a:tc>
                  <a:txBody>
                    <a:bodyPr/>
                    <a:lstStyle/>
                    <a:p>
                      <a:pPr algn="ctr"/>
                      <a:r>
                        <a:rPr lang="en-US" altLang="zh-CN" sz="2000" dirty="0"/>
                        <a:t>10</a:t>
                      </a:r>
                      <a:endParaRPr lang="zh-CN" altLang="en-US" sz="2000" dirty="0"/>
                    </a:p>
                  </a:txBody>
                  <a:tcPr anchor="ctr"/>
                </a:tc>
                <a:tc>
                  <a:txBody>
                    <a:bodyPr/>
                    <a:lstStyle/>
                    <a:p>
                      <a:pPr algn="ctr"/>
                      <a:r>
                        <a:rPr lang="en-US" altLang="zh-CN" sz="2000" dirty="0"/>
                        <a:t>0</a:t>
                      </a:r>
                      <a:endParaRPr lang="zh-CN" altLang="en-US" sz="2000" dirty="0"/>
                    </a:p>
                  </a:txBody>
                  <a:tcPr anchor="ctr"/>
                </a:tc>
                <a:tc>
                  <a:txBody>
                    <a:bodyPr/>
                    <a:lstStyle/>
                    <a:p>
                      <a:pPr algn="ctr"/>
                      <a:r>
                        <a:rPr lang="en-US" altLang="zh-CN" sz="2000" dirty="0"/>
                        <a:t>10</a:t>
                      </a:r>
                      <a:endParaRPr lang="zh-CN" altLang="en-US" sz="2000" dirty="0"/>
                    </a:p>
                  </a:txBody>
                  <a:tcPr anchor="ctr"/>
                </a:tc>
                <a:tc>
                  <a:txBody>
                    <a:bodyPr/>
                    <a:lstStyle/>
                    <a:p>
                      <a:pPr algn="ctr"/>
                      <a:r>
                        <a:rPr lang="en-US" altLang="zh-CN" sz="2000" dirty="0"/>
                        <a:t>10</a:t>
                      </a:r>
                      <a:endParaRPr lang="zh-CN" altLang="en-US" sz="2000" dirty="0"/>
                    </a:p>
                  </a:txBody>
                  <a:tcPr anchor="ctr"/>
                </a:tc>
                <a:extLst>
                  <a:ext uri="{0D108BD9-81ED-4DB2-BD59-A6C34878D82A}">
                    <a16:rowId xmlns:a16="http://schemas.microsoft.com/office/drawing/2014/main" val="2080514197"/>
                  </a:ext>
                </a:extLst>
              </a:tr>
              <a:tr h="351917">
                <a:tc>
                  <a:txBody>
                    <a:bodyPr/>
                    <a:lstStyle/>
                    <a:p>
                      <a:pPr algn="ctr"/>
                      <a:r>
                        <a:rPr lang="en-US" altLang="zh-CN" sz="2000" dirty="0"/>
                        <a:t>5</a:t>
                      </a:r>
                      <a:endParaRPr lang="zh-CN" altLang="en-US" sz="2000" dirty="0"/>
                    </a:p>
                  </a:txBody>
                  <a:tcPr anchor="ctr">
                    <a:solidFill>
                      <a:srgbClr val="FFFF66"/>
                    </a:solidFill>
                  </a:tcPr>
                </a:tc>
                <a:tc>
                  <a:txBody>
                    <a:bodyPr/>
                    <a:lstStyle/>
                    <a:p>
                      <a:pPr algn="ctr"/>
                      <a:r>
                        <a:rPr lang="en-US" altLang="zh-CN" sz="2000" dirty="0"/>
                        <a:t>10</a:t>
                      </a:r>
                      <a:endParaRPr lang="zh-CN" altLang="en-US" sz="2000" dirty="0"/>
                    </a:p>
                  </a:txBody>
                  <a:tcPr anchor="ctr"/>
                </a:tc>
                <a:tc>
                  <a:txBody>
                    <a:bodyPr/>
                    <a:lstStyle/>
                    <a:p>
                      <a:pPr algn="ctr"/>
                      <a:r>
                        <a:rPr lang="en-US" altLang="zh-CN" sz="2000" dirty="0"/>
                        <a:t>10</a:t>
                      </a:r>
                      <a:endParaRPr lang="zh-CN" altLang="en-US" sz="2000" dirty="0"/>
                    </a:p>
                  </a:txBody>
                  <a:tcPr anchor="ctr"/>
                </a:tc>
                <a:tc>
                  <a:txBody>
                    <a:bodyPr/>
                    <a:lstStyle/>
                    <a:p>
                      <a:pPr algn="ctr"/>
                      <a:r>
                        <a:rPr lang="en-US" altLang="zh-CN" sz="2000" dirty="0"/>
                        <a:t>10</a:t>
                      </a:r>
                      <a:endParaRPr lang="zh-CN" altLang="en-US" sz="2000" dirty="0"/>
                    </a:p>
                  </a:txBody>
                  <a:tcPr anchor="ctr"/>
                </a:tc>
                <a:tc>
                  <a:txBody>
                    <a:bodyPr/>
                    <a:lstStyle/>
                    <a:p>
                      <a:pPr algn="ctr"/>
                      <a:r>
                        <a:rPr lang="en-US" altLang="zh-CN" sz="2000" dirty="0"/>
                        <a:t>10</a:t>
                      </a:r>
                      <a:endParaRPr lang="zh-CN" altLang="en-US" sz="2000" dirty="0"/>
                    </a:p>
                  </a:txBody>
                  <a:tcPr anchor="ctr"/>
                </a:tc>
                <a:tc>
                  <a:txBody>
                    <a:bodyPr/>
                    <a:lstStyle/>
                    <a:p>
                      <a:pPr algn="ctr"/>
                      <a:r>
                        <a:rPr lang="en-US" altLang="zh-CN" sz="2000" dirty="0"/>
                        <a:t>0</a:t>
                      </a:r>
                      <a:endParaRPr lang="zh-CN" altLang="en-US" sz="2000" dirty="0"/>
                    </a:p>
                  </a:txBody>
                  <a:tcPr anchor="ctr"/>
                </a:tc>
                <a:tc>
                  <a:txBody>
                    <a:bodyPr/>
                    <a:lstStyle/>
                    <a:p>
                      <a:pPr algn="ctr"/>
                      <a:r>
                        <a:rPr lang="en-US" altLang="zh-CN" sz="2000" dirty="0"/>
                        <a:t>10</a:t>
                      </a:r>
                      <a:endParaRPr lang="zh-CN" altLang="en-US" sz="2000" dirty="0"/>
                    </a:p>
                  </a:txBody>
                  <a:tcPr anchor="ctr"/>
                </a:tc>
                <a:extLst>
                  <a:ext uri="{0D108BD9-81ED-4DB2-BD59-A6C34878D82A}">
                    <a16:rowId xmlns:a16="http://schemas.microsoft.com/office/drawing/2014/main" val="67961740"/>
                  </a:ext>
                </a:extLst>
              </a:tr>
              <a:tr h="351917">
                <a:tc>
                  <a:txBody>
                    <a:bodyPr/>
                    <a:lstStyle/>
                    <a:p>
                      <a:pPr algn="ctr"/>
                      <a:r>
                        <a:rPr lang="en-US" altLang="zh-CN" sz="2000" dirty="0"/>
                        <a:t>6</a:t>
                      </a:r>
                      <a:endParaRPr lang="zh-CN" altLang="en-US" sz="2000" dirty="0"/>
                    </a:p>
                  </a:txBody>
                  <a:tcPr anchor="ctr">
                    <a:solidFill>
                      <a:srgbClr val="FFFF66"/>
                    </a:solidFill>
                  </a:tcPr>
                </a:tc>
                <a:tc>
                  <a:txBody>
                    <a:bodyPr/>
                    <a:lstStyle/>
                    <a:p>
                      <a:pPr algn="ctr"/>
                      <a:r>
                        <a:rPr lang="en-US" altLang="zh-CN" sz="2000" dirty="0"/>
                        <a:t>10</a:t>
                      </a:r>
                      <a:endParaRPr lang="zh-CN" altLang="en-US" sz="2000" dirty="0"/>
                    </a:p>
                  </a:txBody>
                  <a:tcPr anchor="ctr"/>
                </a:tc>
                <a:tc>
                  <a:txBody>
                    <a:bodyPr/>
                    <a:lstStyle/>
                    <a:p>
                      <a:pPr algn="ctr"/>
                      <a:r>
                        <a:rPr lang="en-US" altLang="zh-CN" sz="2000" dirty="0"/>
                        <a:t>10</a:t>
                      </a:r>
                      <a:endParaRPr lang="zh-CN" altLang="en-US" sz="2000" dirty="0"/>
                    </a:p>
                  </a:txBody>
                  <a:tcPr anchor="ctr"/>
                </a:tc>
                <a:tc>
                  <a:txBody>
                    <a:bodyPr/>
                    <a:lstStyle/>
                    <a:p>
                      <a:pPr algn="ctr"/>
                      <a:r>
                        <a:rPr lang="en-US" altLang="zh-CN" sz="2000" dirty="0"/>
                        <a:t>10</a:t>
                      </a:r>
                      <a:endParaRPr lang="zh-CN" altLang="en-US" sz="2000" dirty="0"/>
                    </a:p>
                  </a:txBody>
                  <a:tcPr anchor="ctr"/>
                </a:tc>
                <a:tc>
                  <a:txBody>
                    <a:bodyPr/>
                    <a:lstStyle/>
                    <a:p>
                      <a:pPr algn="ctr"/>
                      <a:r>
                        <a:rPr lang="en-US" altLang="zh-CN" sz="2000" dirty="0"/>
                        <a:t>10</a:t>
                      </a:r>
                      <a:endParaRPr lang="zh-CN" altLang="en-US" sz="2000" dirty="0"/>
                    </a:p>
                  </a:txBody>
                  <a:tcPr anchor="ctr"/>
                </a:tc>
                <a:tc>
                  <a:txBody>
                    <a:bodyPr/>
                    <a:lstStyle/>
                    <a:p>
                      <a:pPr algn="ctr"/>
                      <a:r>
                        <a:rPr lang="en-US" altLang="zh-CN" sz="2000" dirty="0"/>
                        <a:t>10</a:t>
                      </a:r>
                      <a:endParaRPr lang="zh-CN" altLang="en-US" sz="2000" dirty="0"/>
                    </a:p>
                  </a:txBody>
                  <a:tcPr anchor="ctr"/>
                </a:tc>
                <a:tc>
                  <a:txBody>
                    <a:bodyPr/>
                    <a:lstStyle/>
                    <a:p>
                      <a:pPr algn="ctr"/>
                      <a:r>
                        <a:rPr lang="en-US" altLang="zh-CN" sz="2000" dirty="0"/>
                        <a:t>0</a:t>
                      </a:r>
                      <a:endParaRPr lang="zh-CN" altLang="en-US" sz="2000" dirty="0"/>
                    </a:p>
                  </a:txBody>
                  <a:tcPr anchor="ctr"/>
                </a:tc>
                <a:extLst>
                  <a:ext uri="{0D108BD9-81ED-4DB2-BD59-A6C34878D82A}">
                    <a16:rowId xmlns:a16="http://schemas.microsoft.com/office/drawing/2014/main" val="1100255337"/>
                  </a:ext>
                </a:extLst>
              </a:tr>
            </a:tbl>
          </a:graphicData>
        </a:graphic>
      </p:graphicFrame>
      <mc:AlternateContent xmlns:mc="http://schemas.openxmlformats.org/markup-compatibility/2006" xmlns:a14="http://schemas.microsoft.com/office/drawing/2010/main">
        <mc:Choice Requires="a14">
          <p:sp>
            <p:nvSpPr>
              <p:cNvPr id="7" name="箭头: 右 6">
                <a:extLst>
                  <a:ext uri="{FF2B5EF4-FFF2-40B4-BE49-F238E27FC236}">
                    <a16:creationId xmlns:a16="http://schemas.microsoft.com/office/drawing/2014/main" id="{57529D98-F458-41DC-ADE0-A33A2CBC83D2}"/>
                  </a:ext>
                </a:extLst>
              </p:cNvPr>
              <p:cNvSpPr/>
              <p:nvPr/>
            </p:nvSpPr>
            <p:spPr>
              <a:xfrm>
                <a:off x="3808001" y="1857714"/>
                <a:ext cx="2168538" cy="1787310"/>
              </a:xfrm>
              <a:prstGeom prst="rightArrow">
                <a:avLst/>
              </a:prstGeom>
              <a:solidFill>
                <a:srgbClr val="FFFF6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sz="2000" dirty="0">
                    <a:solidFill>
                      <a:schemeClr val="tx1"/>
                    </a:solidFill>
                  </a:rPr>
                  <a:t>信息素挥发</a:t>
                </a:r>
                <a:endParaRPr lang="en-US" altLang="zh-CN" sz="2000" dirty="0">
                  <a:solidFill>
                    <a:schemeClr val="tx1"/>
                  </a:solidFill>
                </a:endParaRPr>
              </a:p>
              <a:p>
                <a:r>
                  <a:rPr lang="zh-CN" altLang="en-US" sz="2000" dirty="0">
                    <a:solidFill>
                      <a:schemeClr val="tx1"/>
                    </a:solidFill>
                  </a:rPr>
                  <a:t>挥发因子</a:t>
                </a:r>
                <a14:m>
                  <m:oMath xmlns:m="http://schemas.openxmlformats.org/officeDocument/2006/math">
                    <m:r>
                      <a:rPr lang="zh-CN" altLang="en-US" sz="2000" i="1" smtClean="0">
                        <a:solidFill>
                          <a:schemeClr val="tx1"/>
                        </a:solidFill>
                        <a:latin typeface="Cambria Math" panose="02040503050406030204" pitchFamily="18" charset="0"/>
                      </a:rPr>
                      <m:t>𝜌</m:t>
                    </m:r>
                    <m:r>
                      <a:rPr lang="en-US" altLang="zh-CN" sz="2000" i="1">
                        <a:solidFill>
                          <a:schemeClr val="tx1"/>
                        </a:solidFill>
                        <a:latin typeface="Cambria Math" panose="02040503050406030204" pitchFamily="18" charset="0"/>
                      </a:rPr>
                      <m:t>=</m:t>
                    </m:r>
                  </m:oMath>
                </a14:m>
                <a:r>
                  <a:rPr lang="en-US" altLang="zh-CN" sz="2000" dirty="0">
                    <a:solidFill>
                      <a:schemeClr val="tx1"/>
                    </a:solidFill>
                  </a:rPr>
                  <a:t>0.7</a:t>
                </a:r>
                <a:endParaRPr lang="zh-CN" altLang="en-US" sz="2000" dirty="0">
                  <a:solidFill>
                    <a:schemeClr val="tx1"/>
                  </a:solidFill>
                </a:endParaRPr>
              </a:p>
            </p:txBody>
          </p:sp>
        </mc:Choice>
        <mc:Fallback xmlns="">
          <p:sp>
            <p:nvSpPr>
              <p:cNvPr id="7" name="箭头: 右 6">
                <a:extLst>
                  <a:ext uri="{FF2B5EF4-FFF2-40B4-BE49-F238E27FC236}">
                    <a16:creationId xmlns:a16="http://schemas.microsoft.com/office/drawing/2014/main" id="{57529D98-F458-41DC-ADE0-A33A2CBC83D2}"/>
                  </a:ext>
                </a:extLst>
              </p:cNvPr>
              <p:cNvSpPr>
                <a:spLocks noRot="1" noChangeAspect="1" noMove="1" noResize="1" noEditPoints="1" noAdjustHandles="1" noChangeArrowheads="1" noChangeShapeType="1" noTextEdit="1"/>
              </p:cNvSpPr>
              <p:nvPr/>
            </p:nvSpPr>
            <p:spPr>
              <a:xfrm>
                <a:off x="3808001" y="1857714"/>
                <a:ext cx="2168538" cy="1787310"/>
              </a:xfrm>
              <a:prstGeom prst="rightArrow">
                <a:avLst/>
              </a:prstGeom>
              <a:blipFill>
                <a:blip r:embed="rId2"/>
                <a:stretch>
                  <a:fillRect l="-2500"/>
                </a:stretch>
              </a:blipFill>
            </p:spPr>
            <p:txBody>
              <a:bodyPr/>
              <a:lstStyle/>
              <a:p>
                <a:r>
                  <a:rPr lang="zh-CN" altLang="en-US">
                    <a:noFill/>
                  </a:rPr>
                  <a:t> </a:t>
                </a:r>
              </a:p>
            </p:txBody>
          </p:sp>
        </mc:Fallback>
      </mc:AlternateContent>
      <p:graphicFrame>
        <p:nvGraphicFramePr>
          <p:cNvPr id="8" name="表格 6">
            <a:extLst>
              <a:ext uri="{FF2B5EF4-FFF2-40B4-BE49-F238E27FC236}">
                <a16:creationId xmlns:a16="http://schemas.microsoft.com/office/drawing/2014/main" id="{CDA7DB80-06F1-4C61-B996-030F86D9EA43}"/>
              </a:ext>
            </a:extLst>
          </p:cNvPr>
          <p:cNvGraphicFramePr>
            <a:graphicFrameLocks/>
          </p:cNvGraphicFramePr>
          <p:nvPr>
            <p:extLst>
              <p:ext uri="{D42A27DB-BD31-4B8C-83A1-F6EECF244321}">
                <p14:modId xmlns:p14="http://schemas.microsoft.com/office/powerpoint/2010/main" val="4164075230"/>
              </p:ext>
            </p:extLst>
          </p:nvPr>
        </p:nvGraphicFramePr>
        <p:xfrm>
          <a:off x="5978511" y="1124744"/>
          <a:ext cx="2900730" cy="2773680"/>
        </p:xfrm>
        <a:graphic>
          <a:graphicData uri="http://schemas.openxmlformats.org/drawingml/2006/table">
            <a:tbl>
              <a:tblPr firstRow="1" bandRow="1">
                <a:tableStyleId>{5940675A-B579-460E-94D1-54222C63F5DA}</a:tableStyleId>
              </a:tblPr>
              <a:tblGrid>
                <a:gridCol w="414390">
                  <a:extLst>
                    <a:ext uri="{9D8B030D-6E8A-4147-A177-3AD203B41FA5}">
                      <a16:colId xmlns:a16="http://schemas.microsoft.com/office/drawing/2014/main" val="2382911012"/>
                    </a:ext>
                  </a:extLst>
                </a:gridCol>
                <a:gridCol w="414390">
                  <a:extLst>
                    <a:ext uri="{9D8B030D-6E8A-4147-A177-3AD203B41FA5}">
                      <a16:colId xmlns:a16="http://schemas.microsoft.com/office/drawing/2014/main" val="315559393"/>
                    </a:ext>
                  </a:extLst>
                </a:gridCol>
                <a:gridCol w="414390">
                  <a:extLst>
                    <a:ext uri="{9D8B030D-6E8A-4147-A177-3AD203B41FA5}">
                      <a16:colId xmlns:a16="http://schemas.microsoft.com/office/drawing/2014/main" val="2973804191"/>
                    </a:ext>
                  </a:extLst>
                </a:gridCol>
                <a:gridCol w="414390">
                  <a:extLst>
                    <a:ext uri="{9D8B030D-6E8A-4147-A177-3AD203B41FA5}">
                      <a16:colId xmlns:a16="http://schemas.microsoft.com/office/drawing/2014/main" val="3325440957"/>
                    </a:ext>
                  </a:extLst>
                </a:gridCol>
                <a:gridCol w="414390">
                  <a:extLst>
                    <a:ext uri="{9D8B030D-6E8A-4147-A177-3AD203B41FA5}">
                      <a16:colId xmlns:a16="http://schemas.microsoft.com/office/drawing/2014/main" val="1201587515"/>
                    </a:ext>
                  </a:extLst>
                </a:gridCol>
                <a:gridCol w="414390">
                  <a:extLst>
                    <a:ext uri="{9D8B030D-6E8A-4147-A177-3AD203B41FA5}">
                      <a16:colId xmlns:a16="http://schemas.microsoft.com/office/drawing/2014/main" val="1248111960"/>
                    </a:ext>
                  </a:extLst>
                </a:gridCol>
                <a:gridCol w="414390">
                  <a:extLst>
                    <a:ext uri="{9D8B030D-6E8A-4147-A177-3AD203B41FA5}">
                      <a16:colId xmlns:a16="http://schemas.microsoft.com/office/drawing/2014/main" val="61919927"/>
                    </a:ext>
                  </a:extLst>
                </a:gridCol>
              </a:tblGrid>
              <a:tr h="352708">
                <a:tc>
                  <a:txBody>
                    <a:bodyPr/>
                    <a:lstStyle/>
                    <a:p>
                      <a:pPr algn="ctr"/>
                      <a:endParaRPr lang="zh-CN" altLang="en-US" sz="2000" dirty="0"/>
                    </a:p>
                  </a:txBody>
                  <a:tcPr anchor="ctr">
                    <a:solidFill>
                      <a:srgbClr val="FFFF66"/>
                    </a:solidFill>
                  </a:tcPr>
                </a:tc>
                <a:tc>
                  <a:txBody>
                    <a:bodyPr/>
                    <a:lstStyle/>
                    <a:p>
                      <a:pPr algn="ctr"/>
                      <a:r>
                        <a:rPr lang="en-US" altLang="zh-CN" sz="2000" dirty="0"/>
                        <a:t>1</a:t>
                      </a:r>
                      <a:endParaRPr lang="zh-CN" altLang="en-US" sz="2000" dirty="0"/>
                    </a:p>
                  </a:txBody>
                  <a:tcPr anchor="ctr">
                    <a:solidFill>
                      <a:srgbClr val="FFFF66"/>
                    </a:solidFill>
                  </a:tcPr>
                </a:tc>
                <a:tc>
                  <a:txBody>
                    <a:bodyPr/>
                    <a:lstStyle/>
                    <a:p>
                      <a:pPr algn="ctr"/>
                      <a:r>
                        <a:rPr lang="en-US" altLang="zh-CN" sz="2000" dirty="0"/>
                        <a:t>2</a:t>
                      </a:r>
                      <a:endParaRPr lang="zh-CN" altLang="en-US" sz="2000" dirty="0"/>
                    </a:p>
                  </a:txBody>
                  <a:tcPr anchor="ctr">
                    <a:solidFill>
                      <a:srgbClr val="FFFF66"/>
                    </a:solidFill>
                  </a:tcPr>
                </a:tc>
                <a:tc>
                  <a:txBody>
                    <a:bodyPr/>
                    <a:lstStyle/>
                    <a:p>
                      <a:pPr algn="ctr"/>
                      <a:r>
                        <a:rPr lang="en-US" altLang="zh-CN" sz="2000" dirty="0"/>
                        <a:t>3</a:t>
                      </a:r>
                      <a:endParaRPr lang="zh-CN" altLang="en-US" sz="2000" dirty="0"/>
                    </a:p>
                  </a:txBody>
                  <a:tcPr anchor="ctr">
                    <a:solidFill>
                      <a:srgbClr val="FFFF66"/>
                    </a:solidFill>
                  </a:tcPr>
                </a:tc>
                <a:tc>
                  <a:txBody>
                    <a:bodyPr/>
                    <a:lstStyle/>
                    <a:p>
                      <a:pPr algn="ctr"/>
                      <a:r>
                        <a:rPr lang="en-US" altLang="zh-CN" sz="2000" dirty="0"/>
                        <a:t>4</a:t>
                      </a:r>
                      <a:endParaRPr lang="zh-CN" altLang="en-US" sz="2000" dirty="0"/>
                    </a:p>
                  </a:txBody>
                  <a:tcPr anchor="ctr">
                    <a:solidFill>
                      <a:srgbClr val="FFFF66"/>
                    </a:solidFill>
                  </a:tcPr>
                </a:tc>
                <a:tc>
                  <a:txBody>
                    <a:bodyPr/>
                    <a:lstStyle/>
                    <a:p>
                      <a:pPr algn="ctr"/>
                      <a:r>
                        <a:rPr lang="en-US" altLang="zh-CN" sz="2000" dirty="0"/>
                        <a:t>5</a:t>
                      </a:r>
                      <a:endParaRPr lang="zh-CN" altLang="en-US" sz="2000" dirty="0"/>
                    </a:p>
                  </a:txBody>
                  <a:tcPr anchor="ctr">
                    <a:solidFill>
                      <a:srgbClr val="FFFF66"/>
                    </a:solidFill>
                  </a:tcPr>
                </a:tc>
                <a:tc>
                  <a:txBody>
                    <a:bodyPr/>
                    <a:lstStyle/>
                    <a:p>
                      <a:pPr algn="ctr"/>
                      <a:r>
                        <a:rPr lang="en-US" altLang="zh-CN" sz="2000" dirty="0"/>
                        <a:t>6</a:t>
                      </a:r>
                      <a:endParaRPr lang="zh-CN" altLang="en-US" sz="2000" dirty="0"/>
                    </a:p>
                  </a:txBody>
                  <a:tcPr anchor="ctr">
                    <a:solidFill>
                      <a:srgbClr val="FFFF66"/>
                    </a:solidFill>
                  </a:tcPr>
                </a:tc>
                <a:extLst>
                  <a:ext uri="{0D108BD9-81ED-4DB2-BD59-A6C34878D82A}">
                    <a16:rowId xmlns:a16="http://schemas.microsoft.com/office/drawing/2014/main" val="4163121477"/>
                  </a:ext>
                </a:extLst>
              </a:tr>
              <a:tr h="352708">
                <a:tc>
                  <a:txBody>
                    <a:bodyPr/>
                    <a:lstStyle/>
                    <a:p>
                      <a:pPr algn="ctr"/>
                      <a:r>
                        <a:rPr lang="en-US" altLang="zh-CN" sz="2000" dirty="0"/>
                        <a:t>1</a:t>
                      </a:r>
                      <a:endParaRPr lang="zh-CN" altLang="en-US" sz="2000" dirty="0"/>
                    </a:p>
                  </a:txBody>
                  <a:tcPr anchor="ctr">
                    <a:solidFill>
                      <a:srgbClr val="FFFF66"/>
                    </a:solidFill>
                  </a:tcPr>
                </a:tc>
                <a:tc>
                  <a:txBody>
                    <a:bodyPr/>
                    <a:lstStyle/>
                    <a:p>
                      <a:pPr algn="ctr"/>
                      <a:r>
                        <a:rPr lang="en-US" altLang="zh-CN" sz="2000" dirty="0"/>
                        <a:t>0</a:t>
                      </a:r>
                      <a:endParaRPr lang="zh-CN" altLang="en-US" sz="2000" dirty="0"/>
                    </a:p>
                  </a:txBody>
                  <a:tcPr anchor="ctr"/>
                </a:tc>
                <a:tc>
                  <a:txBody>
                    <a:bodyPr/>
                    <a:lstStyle/>
                    <a:p>
                      <a:pPr algn="ctr"/>
                      <a:r>
                        <a:rPr lang="en-US" altLang="zh-CN" sz="2000" dirty="0"/>
                        <a:t>3</a:t>
                      </a:r>
                      <a:endParaRPr lang="zh-CN" altLang="en-US" sz="2000" dirty="0"/>
                    </a:p>
                  </a:txBody>
                  <a:tcPr anchor="ctr"/>
                </a:tc>
                <a:tc>
                  <a:txBody>
                    <a:bodyPr/>
                    <a:lstStyle/>
                    <a:p>
                      <a:pPr algn="ctr"/>
                      <a:r>
                        <a:rPr lang="en-US" altLang="zh-CN" sz="2000" dirty="0"/>
                        <a:t>3</a:t>
                      </a:r>
                      <a:endParaRPr lang="zh-CN" altLang="en-US" sz="200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2000" dirty="0"/>
                        <a:t>3</a:t>
                      </a:r>
                      <a:endParaRPr lang="zh-CN" altLang="en-US" sz="200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2000" dirty="0"/>
                        <a:t>3</a:t>
                      </a:r>
                      <a:endParaRPr lang="zh-CN" altLang="en-US" sz="200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2000" dirty="0"/>
                        <a:t>3</a:t>
                      </a:r>
                      <a:endParaRPr lang="zh-CN" altLang="en-US" sz="2000" dirty="0"/>
                    </a:p>
                  </a:txBody>
                  <a:tcPr anchor="ctr"/>
                </a:tc>
                <a:extLst>
                  <a:ext uri="{0D108BD9-81ED-4DB2-BD59-A6C34878D82A}">
                    <a16:rowId xmlns:a16="http://schemas.microsoft.com/office/drawing/2014/main" val="1883987914"/>
                  </a:ext>
                </a:extLst>
              </a:tr>
              <a:tr h="352708">
                <a:tc>
                  <a:txBody>
                    <a:bodyPr/>
                    <a:lstStyle/>
                    <a:p>
                      <a:pPr algn="ctr"/>
                      <a:r>
                        <a:rPr lang="en-US" altLang="zh-CN" sz="2000" dirty="0"/>
                        <a:t>2</a:t>
                      </a:r>
                      <a:endParaRPr lang="zh-CN" altLang="en-US" sz="2000" dirty="0"/>
                    </a:p>
                  </a:txBody>
                  <a:tcPr anchor="ctr">
                    <a:solidFill>
                      <a:srgbClr val="FFFF66"/>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2000" dirty="0"/>
                        <a:t>3</a:t>
                      </a:r>
                      <a:endParaRPr lang="zh-CN" altLang="en-US" sz="2000" dirty="0"/>
                    </a:p>
                  </a:txBody>
                  <a:tcPr anchor="ctr"/>
                </a:tc>
                <a:tc>
                  <a:txBody>
                    <a:bodyPr/>
                    <a:lstStyle/>
                    <a:p>
                      <a:pPr algn="ctr"/>
                      <a:r>
                        <a:rPr lang="en-US" altLang="zh-CN" sz="2000" dirty="0"/>
                        <a:t>0</a:t>
                      </a:r>
                      <a:endParaRPr lang="zh-CN" altLang="en-US" sz="200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2000" dirty="0"/>
                        <a:t>3</a:t>
                      </a:r>
                      <a:endParaRPr lang="zh-CN" altLang="en-US" sz="200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2000" dirty="0"/>
                        <a:t>3</a:t>
                      </a:r>
                      <a:endParaRPr lang="zh-CN" altLang="en-US" sz="200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2000" dirty="0"/>
                        <a:t>3</a:t>
                      </a:r>
                      <a:endParaRPr lang="zh-CN" altLang="en-US" sz="200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2000" dirty="0"/>
                        <a:t>3</a:t>
                      </a:r>
                      <a:endParaRPr lang="zh-CN" altLang="en-US" sz="2000" dirty="0"/>
                    </a:p>
                  </a:txBody>
                  <a:tcPr anchor="ctr"/>
                </a:tc>
                <a:extLst>
                  <a:ext uri="{0D108BD9-81ED-4DB2-BD59-A6C34878D82A}">
                    <a16:rowId xmlns:a16="http://schemas.microsoft.com/office/drawing/2014/main" val="649247349"/>
                  </a:ext>
                </a:extLst>
              </a:tr>
              <a:tr h="352708">
                <a:tc>
                  <a:txBody>
                    <a:bodyPr/>
                    <a:lstStyle/>
                    <a:p>
                      <a:pPr algn="ctr"/>
                      <a:r>
                        <a:rPr lang="en-US" altLang="zh-CN" sz="2000" dirty="0"/>
                        <a:t>3</a:t>
                      </a:r>
                      <a:endParaRPr lang="zh-CN" altLang="en-US" sz="2000" dirty="0"/>
                    </a:p>
                  </a:txBody>
                  <a:tcPr anchor="ctr">
                    <a:solidFill>
                      <a:srgbClr val="FFFF66"/>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2000" dirty="0"/>
                        <a:t>3</a:t>
                      </a:r>
                      <a:endParaRPr lang="zh-CN" altLang="en-US" sz="200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2000" dirty="0"/>
                        <a:t>3</a:t>
                      </a:r>
                      <a:endParaRPr lang="zh-CN" altLang="en-US" sz="2000" dirty="0"/>
                    </a:p>
                  </a:txBody>
                  <a:tcPr anchor="ctr"/>
                </a:tc>
                <a:tc>
                  <a:txBody>
                    <a:bodyPr/>
                    <a:lstStyle/>
                    <a:p>
                      <a:pPr algn="ctr"/>
                      <a:r>
                        <a:rPr lang="en-US" altLang="zh-CN" sz="2000" dirty="0"/>
                        <a:t>0</a:t>
                      </a:r>
                      <a:endParaRPr lang="zh-CN" altLang="en-US" sz="200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2000" dirty="0"/>
                        <a:t>3</a:t>
                      </a:r>
                      <a:endParaRPr lang="zh-CN" altLang="en-US" sz="200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2000" dirty="0"/>
                        <a:t>3</a:t>
                      </a:r>
                      <a:endParaRPr lang="zh-CN" altLang="en-US" sz="200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2000" dirty="0"/>
                        <a:t>3</a:t>
                      </a:r>
                      <a:endParaRPr lang="zh-CN" altLang="en-US" sz="2000" dirty="0"/>
                    </a:p>
                  </a:txBody>
                  <a:tcPr anchor="ctr"/>
                </a:tc>
                <a:extLst>
                  <a:ext uri="{0D108BD9-81ED-4DB2-BD59-A6C34878D82A}">
                    <a16:rowId xmlns:a16="http://schemas.microsoft.com/office/drawing/2014/main" val="3818988150"/>
                  </a:ext>
                </a:extLst>
              </a:tr>
              <a:tr h="352708">
                <a:tc>
                  <a:txBody>
                    <a:bodyPr/>
                    <a:lstStyle/>
                    <a:p>
                      <a:pPr algn="ctr"/>
                      <a:r>
                        <a:rPr lang="en-US" altLang="zh-CN" sz="2000" dirty="0"/>
                        <a:t>4</a:t>
                      </a:r>
                      <a:endParaRPr lang="zh-CN" altLang="en-US" sz="2000" dirty="0"/>
                    </a:p>
                  </a:txBody>
                  <a:tcPr anchor="ctr">
                    <a:solidFill>
                      <a:srgbClr val="FFFF66"/>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2000" dirty="0"/>
                        <a:t>3</a:t>
                      </a:r>
                      <a:endParaRPr lang="zh-CN" altLang="en-US" sz="200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2000" dirty="0"/>
                        <a:t>3</a:t>
                      </a:r>
                      <a:endParaRPr lang="zh-CN" altLang="en-US" sz="200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2000" dirty="0"/>
                        <a:t>3</a:t>
                      </a:r>
                      <a:endParaRPr lang="zh-CN" altLang="en-US" sz="2000" dirty="0"/>
                    </a:p>
                  </a:txBody>
                  <a:tcPr anchor="ctr"/>
                </a:tc>
                <a:tc>
                  <a:txBody>
                    <a:bodyPr/>
                    <a:lstStyle/>
                    <a:p>
                      <a:pPr algn="ctr"/>
                      <a:r>
                        <a:rPr lang="en-US" altLang="zh-CN" sz="2000" dirty="0"/>
                        <a:t>0</a:t>
                      </a:r>
                      <a:endParaRPr lang="zh-CN" altLang="en-US" sz="200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2000" dirty="0"/>
                        <a:t>3</a:t>
                      </a:r>
                      <a:endParaRPr lang="zh-CN" altLang="en-US" sz="200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2000" dirty="0"/>
                        <a:t>3</a:t>
                      </a:r>
                      <a:endParaRPr lang="zh-CN" altLang="en-US" sz="2000" dirty="0"/>
                    </a:p>
                  </a:txBody>
                  <a:tcPr anchor="ctr"/>
                </a:tc>
                <a:extLst>
                  <a:ext uri="{0D108BD9-81ED-4DB2-BD59-A6C34878D82A}">
                    <a16:rowId xmlns:a16="http://schemas.microsoft.com/office/drawing/2014/main" val="2080514197"/>
                  </a:ext>
                </a:extLst>
              </a:tr>
              <a:tr h="352708">
                <a:tc>
                  <a:txBody>
                    <a:bodyPr/>
                    <a:lstStyle/>
                    <a:p>
                      <a:pPr algn="ctr"/>
                      <a:r>
                        <a:rPr lang="en-US" altLang="zh-CN" sz="2000" dirty="0"/>
                        <a:t>5</a:t>
                      </a:r>
                      <a:endParaRPr lang="zh-CN" altLang="en-US" sz="2000" dirty="0"/>
                    </a:p>
                  </a:txBody>
                  <a:tcPr anchor="ctr">
                    <a:solidFill>
                      <a:srgbClr val="FFFF66"/>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2000" dirty="0"/>
                        <a:t>3</a:t>
                      </a:r>
                      <a:endParaRPr lang="zh-CN" altLang="en-US" sz="200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2000" dirty="0"/>
                        <a:t>3</a:t>
                      </a:r>
                      <a:endParaRPr lang="zh-CN" altLang="en-US" sz="200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2000" dirty="0"/>
                        <a:t>3</a:t>
                      </a:r>
                      <a:endParaRPr lang="zh-CN" altLang="en-US" sz="200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2000" dirty="0"/>
                        <a:t>3</a:t>
                      </a:r>
                      <a:endParaRPr lang="zh-CN" altLang="en-US" sz="2000" dirty="0"/>
                    </a:p>
                  </a:txBody>
                  <a:tcPr anchor="ctr"/>
                </a:tc>
                <a:tc>
                  <a:txBody>
                    <a:bodyPr/>
                    <a:lstStyle/>
                    <a:p>
                      <a:pPr algn="ctr"/>
                      <a:r>
                        <a:rPr lang="en-US" altLang="zh-CN" sz="2000" dirty="0"/>
                        <a:t>0</a:t>
                      </a:r>
                      <a:endParaRPr lang="zh-CN" altLang="en-US" sz="200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2000" dirty="0"/>
                        <a:t>3</a:t>
                      </a:r>
                      <a:endParaRPr lang="zh-CN" altLang="en-US" sz="2000" dirty="0"/>
                    </a:p>
                  </a:txBody>
                  <a:tcPr anchor="ctr"/>
                </a:tc>
                <a:extLst>
                  <a:ext uri="{0D108BD9-81ED-4DB2-BD59-A6C34878D82A}">
                    <a16:rowId xmlns:a16="http://schemas.microsoft.com/office/drawing/2014/main" val="67961740"/>
                  </a:ext>
                </a:extLst>
              </a:tr>
              <a:tr h="352708">
                <a:tc>
                  <a:txBody>
                    <a:bodyPr/>
                    <a:lstStyle/>
                    <a:p>
                      <a:pPr algn="ctr"/>
                      <a:r>
                        <a:rPr lang="en-US" altLang="zh-CN" sz="2000" dirty="0"/>
                        <a:t>6</a:t>
                      </a:r>
                      <a:endParaRPr lang="zh-CN" altLang="en-US" sz="2000" dirty="0"/>
                    </a:p>
                  </a:txBody>
                  <a:tcPr anchor="ctr">
                    <a:solidFill>
                      <a:srgbClr val="FFFF66"/>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2000" dirty="0"/>
                        <a:t>3</a:t>
                      </a:r>
                      <a:endParaRPr lang="zh-CN" altLang="en-US" sz="200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2000" dirty="0"/>
                        <a:t>3</a:t>
                      </a:r>
                      <a:endParaRPr lang="zh-CN" altLang="en-US" sz="200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2000" dirty="0"/>
                        <a:t>3</a:t>
                      </a:r>
                      <a:endParaRPr lang="zh-CN" altLang="en-US" sz="200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2000" dirty="0"/>
                        <a:t>3</a:t>
                      </a:r>
                      <a:endParaRPr lang="zh-CN" altLang="en-US" sz="200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2000" dirty="0"/>
                        <a:t>3</a:t>
                      </a:r>
                      <a:endParaRPr lang="zh-CN" altLang="en-US" sz="2000" dirty="0"/>
                    </a:p>
                  </a:txBody>
                  <a:tcPr anchor="ctr"/>
                </a:tc>
                <a:tc>
                  <a:txBody>
                    <a:bodyPr/>
                    <a:lstStyle/>
                    <a:p>
                      <a:pPr algn="ctr"/>
                      <a:r>
                        <a:rPr lang="en-US" altLang="zh-CN" sz="2000" dirty="0"/>
                        <a:t>0</a:t>
                      </a:r>
                      <a:endParaRPr lang="zh-CN" altLang="en-US" sz="2000" dirty="0"/>
                    </a:p>
                  </a:txBody>
                  <a:tcPr anchor="ctr"/>
                </a:tc>
                <a:extLst>
                  <a:ext uri="{0D108BD9-81ED-4DB2-BD59-A6C34878D82A}">
                    <a16:rowId xmlns:a16="http://schemas.microsoft.com/office/drawing/2014/main" val="1100255337"/>
                  </a:ext>
                </a:extLst>
              </a:tr>
            </a:tbl>
          </a:graphicData>
        </a:graphic>
      </p:graphicFrame>
      <mc:AlternateContent xmlns:mc="http://schemas.openxmlformats.org/markup-compatibility/2006" xmlns:a14="http://schemas.microsoft.com/office/drawing/2010/main">
        <mc:Choice Requires="a14">
          <p:sp>
            <p:nvSpPr>
              <p:cNvPr id="9" name="文本框 8">
                <a:extLst>
                  <a:ext uri="{FF2B5EF4-FFF2-40B4-BE49-F238E27FC236}">
                    <a16:creationId xmlns:a16="http://schemas.microsoft.com/office/drawing/2014/main" id="{DBA75811-512C-4122-BE18-EA3BC2334E7D}"/>
                  </a:ext>
                </a:extLst>
              </p:cNvPr>
              <p:cNvSpPr txBox="1"/>
              <p:nvPr/>
            </p:nvSpPr>
            <p:spPr>
              <a:xfrm>
                <a:off x="58044" y="4528011"/>
                <a:ext cx="6911180" cy="1271758"/>
              </a:xfrm>
              <a:prstGeom prst="rect">
                <a:avLst/>
              </a:prstGeom>
              <a:noFill/>
            </p:spPr>
            <p:txBody>
              <a:bodyPr wrap="square" rtlCol="0">
                <a:spAutoFit/>
              </a:bodyPr>
              <a:lstStyle/>
              <a:p>
                <a:r>
                  <a:rPr lang="zh-CN" altLang="en-US" sz="2400" dirty="0"/>
                  <a:t>假设蚂蚁</a:t>
                </a:r>
                <a:r>
                  <a:rPr lang="en-US" altLang="zh-CN" sz="2400" dirty="0"/>
                  <a:t>k</a:t>
                </a:r>
                <a:r>
                  <a:rPr lang="zh-CN" altLang="en-US" sz="2400" dirty="0"/>
                  <a:t>走过的路径为</a:t>
                </a:r>
                <a:r>
                  <a:rPr lang="en-US" altLang="zh-CN" sz="2400" dirty="0"/>
                  <a:t>1-&gt;2-&gt;5-&gt;6-&gt;3-&gt;4-&gt;1</a:t>
                </a:r>
              </a:p>
              <a:p>
                <a:r>
                  <a:rPr lang="zh-CN" altLang="en-US" sz="2400" dirty="0"/>
                  <a:t>则总路径长度</a:t>
                </a:r>
                <a14:m>
                  <m:oMath xmlns:m="http://schemas.openxmlformats.org/officeDocument/2006/math">
                    <m:sSub>
                      <m:sSubPr>
                        <m:ctrlPr>
                          <a:rPr lang="en-US" altLang="zh-CN" sz="2400" i="1">
                            <a:latin typeface="Cambria Math" panose="02040503050406030204" pitchFamily="18" charset="0"/>
                          </a:rPr>
                        </m:ctrlPr>
                      </m:sSubPr>
                      <m:e>
                        <m:r>
                          <a:rPr lang="en-US" altLang="zh-CN" sz="2400" i="1">
                            <a:latin typeface="Cambria Math" panose="02040503050406030204" pitchFamily="18" charset="0"/>
                          </a:rPr>
                          <m:t>𝐿</m:t>
                        </m:r>
                      </m:e>
                      <m:sub>
                        <m:r>
                          <a:rPr lang="en-US" altLang="zh-CN" sz="2400" i="1">
                            <a:latin typeface="Cambria Math" panose="02040503050406030204" pitchFamily="18" charset="0"/>
                          </a:rPr>
                          <m:t>𝑘</m:t>
                        </m:r>
                      </m:sub>
                    </m:sSub>
                  </m:oMath>
                </a14:m>
                <a:r>
                  <a:rPr lang="en-US" altLang="zh-CN" sz="2400" dirty="0"/>
                  <a:t>=19</a:t>
                </a:r>
              </a:p>
              <a:p>
                <a:r>
                  <a:rPr lang="zh-CN" altLang="en-US" sz="2400" dirty="0"/>
                  <a:t>信息素常量</a:t>
                </a:r>
                <a:r>
                  <a:rPr lang="en-US" altLang="zh-CN" sz="2400" dirty="0"/>
                  <a:t>Q</a:t>
                </a:r>
                <a:r>
                  <a:rPr lang="zh-CN" altLang="en-US" sz="2400" dirty="0"/>
                  <a:t>为</a:t>
                </a:r>
                <a:r>
                  <a:rPr lang="en-US" altLang="zh-CN" sz="2400" dirty="0"/>
                  <a:t>38,</a:t>
                </a:r>
                <a:r>
                  <a:rPr lang="zh-CN" altLang="en-US" sz="2400" dirty="0"/>
                  <a:t>则</a:t>
                </a:r>
                <a14:m>
                  <m:oMath xmlns:m="http://schemas.openxmlformats.org/officeDocument/2006/math">
                    <m:r>
                      <a:rPr lang="zh-CN" altLang="en-US" sz="2400" i="1">
                        <a:latin typeface="Cambria Math" panose="02040503050406030204" pitchFamily="18" charset="0"/>
                      </a:rPr>
                      <m:t>∆</m:t>
                    </m:r>
                    <m:sSubSup>
                      <m:sSubSupPr>
                        <m:ctrlPr>
                          <a:rPr lang="en-US" altLang="zh-CN" sz="2400" i="1">
                            <a:latin typeface="Cambria Math" panose="02040503050406030204" pitchFamily="18" charset="0"/>
                          </a:rPr>
                        </m:ctrlPr>
                      </m:sSubSupPr>
                      <m:e>
                        <m:r>
                          <a:rPr lang="zh-CN" altLang="en-US" sz="2400" i="1">
                            <a:latin typeface="Cambria Math" panose="02040503050406030204" pitchFamily="18" charset="0"/>
                          </a:rPr>
                          <m:t>𝜏</m:t>
                        </m:r>
                      </m:e>
                      <m:sub>
                        <m:r>
                          <a:rPr lang="en-US" altLang="zh-CN" sz="2400" i="1">
                            <a:latin typeface="Cambria Math" panose="02040503050406030204" pitchFamily="18" charset="0"/>
                          </a:rPr>
                          <m:t>𝑖𝑗</m:t>
                        </m:r>
                      </m:sub>
                      <m:sup>
                        <m:r>
                          <a:rPr lang="en-US" altLang="zh-CN" sz="2400" i="1">
                            <a:latin typeface="Cambria Math" panose="02040503050406030204" pitchFamily="18" charset="0"/>
                          </a:rPr>
                          <m:t>𝑘</m:t>
                        </m:r>
                      </m:sup>
                    </m:sSubSup>
                  </m:oMath>
                </a14:m>
                <a:r>
                  <a:rPr lang="en-US" altLang="zh-CN" sz="2400" dirty="0"/>
                  <a:t>=2</a:t>
                </a:r>
              </a:p>
            </p:txBody>
          </p:sp>
        </mc:Choice>
        <mc:Fallback xmlns="">
          <p:sp>
            <p:nvSpPr>
              <p:cNvPr id="9" name="文本框 8">
                <a:extLst>
                  <a:ext uri="{FF2B5EF4-FFF2-40B4-BE49-F238E27FC236}">
                    <a16:creationId xmlns:a16="http://schemas.microsoft.com/office/drawing/2014/main" id="{DBA75811-512C-4122-BE18-EA3BC2334E7D}"/>
                  </a:ext>
                </a:extLst>
              </p:cNvPr>
              <p:cNvSpPr txBox="1">
                <a:spLocks noRot="1" noChangeAspect="1" noMove="1" noResize="1" noEditPoints="1" noAdjustHandles="1" noChangeArrowheads="1" noChangeShapeType="1" noTextEdit="1"/>
              </p:cNvSpPr>
              <p:nvPr/>
            </p:nvSpPr>
            <p:spPr>
              <a:xfrm>
                <a:off x="58044" y="4528011"/>
                <a:ext cx="6911180" cy="1271758"/>
              </a:xfrm>
              <a:prstGeom prst="rect">
                <a:avLst/>
              </a:prstGeom>
              <a:blipFill>
                <a:blip r:embed="rId3"/>
                <a:stretch>
                  <a:fillRect l="-1412" t="-3846" b="-6731"/>
                </a:stretch>
              </a:blipFill>
            </p:spPr>
            <p:txBody>
              <a:bodyPr/>
              <a:lstStyle/>
              <a:p>
                <a:r>
                  <a:rPr lang="zh-CN" altLang="en-US">
                    <a:noFill/>
                  </a:rPr>
                  <a:t> </a:t>
                </a:r>
              </a:p>
            </p:txBody>
          </p:sp>
        </mc:Fallback>
      </mc:AlternateContent>
      <p:graphicFrame>
        <p:nvGraphicFramePr>
          <p:cNvPr id="10" name="表格 6">
            <a:extLst>
              <a:ext uri="{FF2B5EF4-FFF2-40B4-BE49-F238E27FC236}">
                <a16:creationId xmlns:a16="http://schemas.microsoft.com/office/drawing/2014/main" id="{7EC6E61A-C543-4D8E-A261-E7DBC57ED9C3}"/>
              </a:ext>
            </a:extLst>
          </p:cNvPr>
          <p:cNvGraphicFramePr>
            <a:graphicFrameLocks/>
          </p:cNvGraphicFramePr>
          <p:nvPr>
            <p:extLst>
              <p:ext uri="{D42A27DB-BD31-4B8C-83A1-F6EECF244321}">
                <p14:modId xmlns:p14="http://schemas.microsoft.com/office/powerpoint/2010/main" val="526953307"/>
              </p:ext>
            </p:extLst>
          </p:nvPr>
        </p:nvGraphicFramePr>
        <p:xfrm>
          <a:off x="6413974" y="3961716"/>
          <a:ext cx="3311707" cy="2773680"/>
        </p:xfrm>
        <a:graphic>
          <a:graphicData uri="http://schemas.openxmlformats.org/drawingml/2006/table">
            <a:tbl>
              <a:tblPr firstRow="1" bandRow="1">
                <a:tableStyleId>{5C22544A-7EE6-4342-B048-85BDC9FD1C3A}</a:tableStyleId>
              </a:tblPr>
              <a:tblGrid>
                <a:gridCol w="473101">
                  <a:extLst>
                    <a:ext uri="{9D8B030D-6E8A-4147-A177-3AD203B41FA5}">
                      <a16:colId xmlns:a16="http://schemas.microsoft.com/office/drawing/2014/main" val="2382911012"/>
                    </a:ext>
                  </a:extLst>
                </a:gridCol>
                <a:gridCol w="473101">
                  <a:extLst>
                    <a:ext uri="{9D8B030D-6E8A-4147-A177-3AD203B41FA5}">
                      <a16:colId xmlns:a16="http://schemas.microsoft.com/office/drawing/2014/main" val="315559393"/>
                    </a:ext>
                  </a:extLst>
                </a:gridCol>
                <a:gridCol w="473101">
                  <a:extLst>
                    <a:ext uri="{9D8B030D-6E8A-4147-A177-3AD203B41FA5}">
                      <a16:colId xmlns:a16="http://schemas.microsoft.com/office/drawing/2014/main" val="2973804191"/>
                    </a:ext>
                  </a:extLst>
                </a:gridCol>
                <a:gridCol w="473101">
                  <a:extLst>
                    <a:ext uri="{9D8B030D-6E8A-4147-A177-3AD203B41FA5}">
                      <a16:colId xmlns:a16="http://schemas.microsoft.com/office/drawing/2014/main" val="3325440957"/>
                    </a:ext>
                  </a:extLst>
                </a:gridCol>
                <a:gridCol w="473101">
                  <a:extLst>
                    <a:ext uri="{9D8B030D-6E8A-4147-A177-3AD203B41FA5}">
                      <a16:colId xmlns:a16="http://schemas.microsoft.com/office/drawing/2014/main" val="1201587515"/>
                    </a:ext>
                  </a:extLst>
                </a:gridCol>
                <a:gridCol w="473101">
                  <a:extLst>
                    <a:ext uri="{9D8B030D-6E8A-4147-A177-3AD203B41FA5}">
                      <a16:colId xmlns:a16="http://schemas.microsoft.com/office/drawing/2014/main" val="1248111960"/>
                    </a:ext>
                  </a:extLst>
                </a:gridCol>
                <a:gridCol w="473101">
                  <a:extLst>
                    <a:ext uri="{9D8B030D-6E8A-4147-A177-3AD203B41FA5}">
                      <a16:colId xmlns:a16="http://schemas.microsoft.com/office/drawing/2014/main" val="61919927"/>
                    </a:ext>
                  </a:extLst>
                </a:gridCol>
              </a:tblGrid>
              <a:tr h="365760">
                <a:tc>
                  <a:txBody>
                    <a:bodyPr/>
                    <a:lstStyle/>
                    <a:p>
                      <a:pPr algn="ctr"/>
                      <a:endParaRPr lang="zh-CN" altLang="en-US" sz="2000" dirty="0"/>
                    </a:p>
                  </a:txBody>
                  <a:tcPr anchor="ctr"/>
                </a:tc>
                <a:tc>
                  <a:txBody>
                    <a:bodyPr/>
                    <a:lstStyle/>
                    <a:p>
                      <a:pPr algn="ctr"/>
                      <a:r>
                        <a:rPr lang="en-US" altLang="zh-CN" sz="2000" dirty="0"/>
                        <a:t>1</a:t>
                      </a:r>
                      <a:endParaRPr lang="zh-CN" altLang="en-US" sz="2000" dirty="0"/>
                    </a:p>
                  </a:txBody>
                  <a:tcPr anchor="ctr"/>
                </a:tc>
                <a:tc>
                  <a:txBody>
                    <a:bodyPr/>
                    <a:lstStyle/>
                    <a:p>
                      <a:pPr algn="ctr"/>
                      <a:r>
                        <a:rPr lang="en-US" altLang="zh-CN" sz="2000" dirty="0"/>
                        <a:t>2</a:t>
                      </a:r>
                      <a:endParaRPr lang="zh-CN" altLang="en-US" sz="2000" dirty="0"/>
                    </a:p>
                  </a:txBody>
                  <a:tcPr anchor="ctr"/>
                </a:tc>
                <a:tc>
                  <a:txBody>
                    <a:bodyPr/>
                    <a:lstStyle/>
                    <a:p>
                      <a:pPr algn="ctr"/>
                      <a:r>
                        <a:rPr lang="en-US" altLang="zh-CN" sz="2000" dirty="0"/>
                        <a:t>3</a:t>
                      </a:r>
                      <a:endParaRPr lang="zh-CN" altLang="en-US" sz="2000" dirty="0"/>
                    </a:p>
                  </a:txBody>
                  <a:tcPr anchor="ctr"/>
                </a:tc>
                <a:tc>
                  <a:txBody>
                    <a:bodyPr/>
                    <a:lstStyle/>
                    <a:p>
                      <a:pPr algn="ctr"/>
                      <a:r>
                        <a:rPr lang="en-US" altLang="zh-CN" sz="2000" dirty="0"/>
                        <a:t>4</a:t>
                      </a:r>
                      <a:endParaRPr lang="zh-CN" altLang="en-US" sz="2000" dirty="0"/>
                    </a:p>
                  </a:txBody>
                  <a:tcPr anchor="ctr"/>
                </a:tc>
                <a:tc>
                  <a:txBody>
                    <a:bodyPr/>
                    <a:lstStyle/>
                    <a:p>
                      <a:pPr algn="ctr"/>
                      <a:r>
                        <a:rPr lang="en-US" altLang="zh-CN" sz="2000" dirty="0"/>
                        <a:t>5</a:t>
                      </a:r>
                      <a:endParaRPr lang="zh-CN" altLang="en-US" sz="2000" dirty="0"/>
                    </a:p>
                  </a:txBody>
                  <a:tcPr anchor="ctr"/>
                </a:tc>
                <a:tc>
                  <a:txBody>
                    <a:bodyPr/>
                    <a:lstStyle/>
                    <a:p>
                      <a:pPr algn="ctr"/>
                      <a:r>
                        <a:rPr lang="en-US" altLang="zh-CN" sz="2000" dirty="0"/>
                        <a:t>6</a:t>
                      </a:r>
                      <a:endParaRPr lang="zh-CN" altLang="en-US" sz="2000" dirty="0"/>
                    </a:p>
                  </a:txBody>
                  <a:tcPr anchor="ctr"/>
                </a:tc>
                <a:extLst>
                  <a:ext uri="{0D108BD9-81ED-4DB2-BD59-A6C34878D82A}">
                    <a16:rowId xmlns:a16="http://schemas.microsoft.com/office/drawing/2014/main" val="4163121477"/>
                  </a:ext>
                </a:extLst>
              </a:tr>
              <a:tr h="365760">
                <a:tc>
                  <a:txBody>
                    <a:bodyPr/>
                    <a:lstStyle/>
                    <a:p>
                      <a:pPr algn="ctr"/>
                      <a:r>
                        <a:rPr lang="en-US" altLang="zh-CN" sz="2000" dirty="0"/>
                        <a:t>1</a:t>
                      </a:r>
                      <a:endParaRPr lang="zh-CN" altLang="en-US" sz="2000" dirty="0"/>
                    </a:p>
                  </a:txBody>
                  <a:tcPr anchor="ctr"/>
                </a:tc>
                <a:tc>
                  <a:txBody>
                    <a:bodyPr/>
                    <a:lstStyle/>
                    <a:p>
                      <a:pPr algn="ctr"/>
                      <a:r>
                        <a:rPr lang="en-US" altLang="zh-CN" sz="2000" dirty="0"/>
                        <a:t>0</a:t>
                      </a:r>
                      <a:endParaRPr lang="zh-CN" altLang="en-US" sz="2000" dirty="0"/>
                    </a:p>
                  </a:txBody>
                  <a:tcPr anchor="ctr"/>
                </a:tc>
                <a:tc>
                  <a:txBody>
                    <a:bodyPr/>
                    <a:lstStyle/>
                    <a:p>
                      <a:pPr algn="ctr"/>
                      <a:r>
                        <a:rPr lang="en-US" altLang="zh-CN" sz="2000" dirty="0">
                          <a:solidFill>
                            <a:srgbClr val="FF0000"/>
                          </a:solidFill>
                        </a:rPr>
                        <a:t>5</a:t>
                      </a:r>
                      <a:endParaRPr lang="zh-CN" altLang="en-US" sz="2000" dirty="0">
                        <a:solidFill>
                          <a:srgbClr val="FF0000"/>
                        </a:solidFill>
                      </a:endParaRPr>
                    </a:p>
                  </a:txBody>
                  <a:tcPr anchor="ctr"/>
                </a:tc>
                <a:tc>
                  <a:txBody>
                    <a:bodyPr/>
                    <a:lstStyle/>
                    <a:p>
                      <a:pPr algn="ctr"/>
                      <a:r>
                        <a:rPr lang="en-US" altLang="zh-CN" sz="2000" dirty="0"/>
                        <a:t>3</a:t>
                      </a:r>
                      <a:endParaRPr lang="zh-CN" altLang="en-US" sz="200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2000" dirty="0">
                          <a:solidFill>
                            <a:srgbClr val="FF0000"/>
                          </a:solidFill>
                        </a:rPr>
                        <a:t>5</a:t>
                      </a:r>
                      <a:endParaRPr lang="zh-CN" altLang="en-US" sz="2000" dirty="0">
                        <a:solidFill>
                          <a:srgbClr val="FF0000"/>
                        </a:solidFill>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2000" dirty="0"/>
                        <a:t>3</a:t>
                      </a:r>
                      <a:endParaRPr lang="zh-CN" altLang="en-US" sz="200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2000" dirty="0"/>
                        <a:t>3</a:t>
                      </a:r>
                      <a:endParaRPr lang="zh-CN" altLang="en-US" sz="2000" dirty="0"/>
                    </a:p>
                  </a:txBody>
                  <a:tcPr anchor="ctr"/>
                </a:tc>
                <a:extLst>
                  <a:ext uri="{0D108BD9-81ED-4DB2-BD59-A6C34878D82A}">
                    <a16:rowId xmlns:a16="http://schemas.microsoft.com/office/drawing/2014/main" val="1883987914"/>
                  </a:ext>
                </a:extLst>
              </a:tr>
              <a:tr h="365760">
                <a:tc>
                  <a:txBody>
                    <a:bodyPr/>
                    <a:lstStyle/>
                    <a:p>
                      <a:pPr algn="ctr"/>
                      <a:r>
                        <a:rPr lang="en-US" altLang="zh-CN" sz="2000" dirty="0"/>
                        <a:t>2</a:t>
                      </a:r>
                      <a:endParaRPr lang="zh-CN" altLang="en-US" sz="200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2000" dirty="0">
                          <a:solidFill>
                            <a:srgbClr val="FF0000"/>
                          </a:solidFill>
                        </a:rPr>
                        <a:t>5</a:t>
                      </a:r>
                      <a:endParaRPr lang="zh-CN" altLang="en-US" sz="2000" dirty="0">
                        <a:solidFill>
                          <a:srgbClr val="FF0000"/>
                        </a:solidFill>
                      </a:endParaRPr>
                    </a:p>
                  </a:txBody>
                  <a:tcPr anchor="ctr"/>
                </a:tc>
                <a:tc>
                  <a:txBody>
                    <a:bodyPr/>
                    <a:lstStyle/>
                    <a:p>
                      <a:pPr algn="ctr"/>
                      <a:r>
                        <a:rPr lang="en-US" altLang="zh-CN" sz="2000" dirty="0"/>
                        <a:t>0</a:t>
                      </a:r>
                      <a:endParaRPr lang="zh-CN" altLang="en-US" sz="200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2000" dirty="0"/>
                        <a:t>3</a:t>
                      </a:r>
                      <a:endParaRPr lang="zh-CN" altLang="en-US" sz="200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2000" dirty="0"/>
                        <a:t>3</a:t>
                      </a:r>
                      <a:endParaRPr lang="zh-CN" altLang="en-US" sz="200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2000" dirty="0">
                          <a:solidFill>
                            <a:srgbClr val="FF0000"/>
                          </a:solidFill>
                        </a:rPr>
                        <a:t>5</a:t>
                      </a:r>
                      <a:endParaRPr lang="zh-CN" altLang="en-US" sz="2000" dirty="0">
                        <a:solidFill>
                          <a:srgbClr val="FF0000"/>
                        </a:solidFill>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2000" dirty="0"/>
                        <a:t>3</a:t>
                      </a:r>
                      <a:endParaRPr lang="zh-CN" altLang="en-US" sz="2000" dirty="0"/>
                    </a:p>
                  </a:txBody>
                  <a:tcPr anchor="ctr"/>
                </a:tc>
                <a:extLst>
                  <a:ext uri="{0D108BD9-81ED-4DB2-BD59-A6C34878D82A}">
                    <a16:rowId xmlns:a16="http://schemas.microsoft.com/office/drawing/2014/main" val="649247349"/>
                  </a:ext>
                </a:extLst>
              </a:tr>
              <a:tr h="365760">
                <a:tc>
                  <a:txBody>
                    <a:bodyPr/>
                    <a:lstStyle/>
                    <a:p>
                      <a:pPr algn="ctr"/>
                      <a:r>
                        <a:rPr lang="en-US" altLang="zh-CN" sz="2000" dirty="0"/>
                        <a:t>3</a:t>
                      </a:r>
                      <a:endParaRPr lang="zh-CN" altLang="en-US" sz="200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2000" dirty="0"/>
                        <a:t>3</a:t>
                      </a:r>
                      <a:endParaRPr lang="zh-CN" altLang="en-US" sz="200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2000" dirty="0"/>
                        <a:t>3</a:t>
                      </a:r>
                      <a:endParaRPr lang="zh-CN" altLang="en-US" sz="2000" dirty="0"/>
                    </a:p>
                  </a:txBody>
                  <a:tcPr anchor="ctr"/>
                </a:tc>
                <a:tc>
                  <a:txBody>
                    <a:bodyPr/>
                    <a:lstStyle/>
                    <a:p>
                      <a:pPr algn="ctr"/>
                      <a:r>
                        <a:rPr lang="en-US" altLang="zh-CN" sz="2000" dirty="0"/>
                        <a:t>0</a:t>
                      </a:r>
                      <a:endParaRPr lang="zh-CN" altLang="en-US" sz="200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2000" dirty="0">
                          <a:solidFill>
                            <a:srgbClr val="FF0000"/>
                          </a:solidFill>
                        </a:rPr>
                        <a:t>5</a:t>
                      </a:r>
                      <a:endParaRPr lang="zh-CN" altLang="en-US" sz="2000" dirty="0">
                        <a:solidFill>
                          <a:srgbClr val="FF0000"/>
                        </a:solidFill>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2000" dirty="0"/>
                        <a:t>3</a:t>
                      </a:r>
                      <a:endParaRPr lang="zh-CN" altLang="en-US" sz="200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2000" dirty="0">
                          <a:solidFill>
                            <a:srgbClr val="FF0000"/>
                          </a:solidFill>
                        </a:rPr>
                        <a:t>5</a:t>
                      </a:r>
                      <a:endParaRPr lang="zh-CN" altLang="en-US" sz="2000" dirty="0">
                        <a:solidFill>
                          <a:srgbClr val="FF0000"/>
                        </a:solidFill>
                      </a:endParaRPr>
                    </a:p>
                  </a:txBody>
                  <a:tcPr anchor="ctr"/>
                </a:tc>
                <a:extLst>
                  <a:ext uri="{0D108BD9-81ED-4DB2-BD59-A6C34878D82A}">
                    <a16:rowId xmlns:a16="http://schemas.microsoft.com/office/drawing/2014/main" val="3818988150"/>
                  </a:ext>
                </a:extLst>
              </a:tr>
              <a:tr h="365760">
                <a:tc>
                  <a:txBody>
                    <a:bodyPr/>
                    <a:lstStyle/>
                    <a:p>
                      <a:pPr algn="ctr"/>
                      <a:r>
                        <a:rPr lang="en-US" altLang="zh-CN" sz="2000" dirty="0"/>
                        <a:t>4</a:t>
                      </a:r>
                      <a:endParaRPr lang="zh-CN" altLang="en-US" sz="200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2000" dirty="0">
                          <a:solidFill>
                            <a:srgbClr val="FF0000"/>
                          </a:solidFill>
                        </a:rPr>
                        <a:t>5</a:t>
                      </a:r>
                      <a:endParaRPr lang="zh-CN" altLang="en-US" sz="2000" dirty="0">
                        <a:solidFill>
                          <a:srgbClr val="FF0000"/>
                        </a:solidFill>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2000" dirty="0">
                          <a:solidFill>
                            <a:schemeClr val="tx1"/>
                          </a:solidFill>
                        </a:rPr>
                        <a:t>3</a:t>
                      </a:r>
                      <a:endParaRPr lang="zh-CN" altLang="en-US" sz="2000" dirty="0">
                        <a:solidFill>
                          <a:schemeClr val="tx1"/>
                        </a:solidFill>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2000" dirty="0">
                          <a:solidFill>
                            <a:srgbClr val="FF0000"/>
                          </a:solidFill>
                        </a:rPr>
                        <a:t>5</a:t>
                      </a:r>
                      <a:endParaRPr lang="zh-CN" altLang="en-US" sz="2000" dirty="0">
                        <a:solidFill>
                          <a:srgbClr val="FF0000"/>
                        </a:solidFill>
                      </a:endParaRPr>
                    </a:p>
                  </a:txBody>
                  <a:tcPr anchor="ctr"/>
                </a:tc>
                <a:tc>
                  <a:txBody>
                    <a:bodyPr/>
                    <a:lstStyle/>
                    <a:p>
                      <a:pPr algn="ctr"/>
                      <a:r>
                        <a:rPr lang="en-US" altLang="zh-CN" sz="2000" dirty="0"/>
                        <a:t>0</a:t>
                      </a:r>
                      <a:endParaRPr lang="zh-CN" altLang="en-US" sz="200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2000" dirty="0"/>
                        <a:t>3</a:t>
                      </a:r>
                      <a:endParaRPr lang="zh-CN" altLang="en-US" sz="200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2000" dirty="0"/>
                        <a:t>3</a:t>
                      </a:r>
                      <a:endParaRPr lang="zh-CN" altLang="en-US" sz="2000" dirty="0"/>
                    </a:p>
                  </a:txBody>
                  <a:tcPr anchor="ctr"/>
                </a:tc>
                <a:extLst>
                  <a:ext uri="{0D108BD9-81ED-4DB2-BD59-A6C34878D82A}">
                    <a16:rowId xmlns:a16="http://schemas.microsoft.com/office/drawing/2014/main" val="2080514197"/>
                  </a:ext>
                </a:extLst>
              </a:tr>
              <a:tr h="365760">
                <a:tc>
                  <a:txBody>
                    <a:bodyPr/>
                    <a:lstStyle/>
                    <a:p>
                      <a:pPr algn="ctr"/>
                      <a:r>
                        <a:rPr lang="en-US" altLang="zh-CN" sz="2000" dirty="0"/>
                        <a:t>5</a:t>
                      </a:r>
                      <a:endParaRPr lang="zh-CN" altLang="en-US" sz="200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2000" dirty="0"/>
                        <a:t>3</a:t>
                      </a:r>
                      <a:endParaRPr lang="zh-CN" altLang="en-US" sz="200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2000" dirty="0">
                          <a:solidFill>
                            <a:srgbClr val="FF0000"/>
                          </a:solidFill>
                        </a:rPr>
                        <a:t>5</a:t>
                      </a:r>
                      <a:endParaRPr lang="zh-CN" altLang="en-US" sz="2000" dirty="0">
                        <a:solidFill>
                          <a:srgbClr val="FF0000"/>
                        </a:solidFill>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2000" dirty="0"/>
                        <a:t>3</a:t>
                      </a:r>
                      <a:endParaRPr lang="zh-CN" altLang="en-US" sz="200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2000" dirty="0"/>
                        <a:t>3</a:t>
                      </a:r>
                      <a:endParaRPr lang="zh-CN" altLang="en-US" sz="2000" dirty="0"/>
                    </a:p>
                  </a:txBody>
                  <a:tcPr anchor="ctr"/>
                </a:tc>
                <a:tc>
                  <a:txBody>
                    <a:bodyPr/>
                    <a:lstStyle/>
                    <a:p>
                      <a:pPr algn="ctr"/>
                      <a:r>
                        <a:rPr lang="en-US" altLang="zh-CN" sz="2000" dirty="0"/>
                        <a:t>0</a:t>
                      </a:r>
                      <a:endParaRPr lang="zh-CN" altLang="en-US" sz="200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2000" dirty="0">
                          <a:solidFill>
                            <a:srgbClr val="FF0000"/>
                          </a:solidFill>
                        </a:rPr>
                        <a:t>5</a:t>
                      </a:r>
                      <a:endParaRPr lang="zh-CN" altLang="en-US" sz="2000" dirty="0">
                        <a:solidFill>
                          <a:srgbClr val="FF0000"/>
                        </a:solidFill>
                      </a:endParaRPr>
                    </a:p>
                  </a:txBody>
                  <a:tcPr anchor="ctr"/>
                </a:tc>
                <a:extLst>
                  <a:ext uri="{0D108BD9-81ED-4DB2-BD59-A6C34878D82A}">
                    <a16:rowId xmlns:a16="http://schemas.microsoft.com/office/drawing/2014/main" val="67961740"/>
                  </a:ext>
                </a:extLst>
              </a:tr>
              <a:tr h="365760">
                <a:tc>
                  <a:txBody>
                    <a:bodyPr/>
                    <a:lstStyle/>
                    <a:p>
                      <a:pPr algn="ctr"/>
                      <a:r>
                        <a:rPr lang="en-US" altLang="zh-CN" sz="2000" dirty="0"/>
                        <a:t>6</a:t>
                      </a:r>
                      <a:endParaRPr lang="zh-CN" altLang="en-US" sz="200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2000" dirty="0"/>
                        <a:t>3</a:t>
                      </a:r>
                      <a:endParaRPr lang="zh-CN" altLang="en-US" sz="200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2000" dirty="0"/>
                        <a:t>3</a:t>
                      </a:r>
                      <a:endParaRPr lang="zh-CN" altLang="en-US" sz="200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2000" dirty="0">
                          <a:solidFill>
                            <a:srgbClr val="FF0000"/>
                          </a:solidFill>
                        </a:rPr>
                        <a:t>5</a:t>
                      </a:r>
                      <a:endParaRPr lang="zh-CN" altLang="en-US" sz="2000" dirty="0">
                        <a:solidFill>
                          <a:srgbClr val="FF0000"/>
                        </a:solidFill>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2000" dirty="0"/>
                        <a:t>3</a:t>
                      </a:r>
                      <a:endParaRPr lang="zh-CN" altLang="en-US" sz="200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2000" dirty="0">
                          <a:solidFill>
                            <a:srgbClr val="FF0000"/>
                          </a:solidFill>
                        </a:rPr>
                        <a:t>5</a:t>
                      </a:r>
                      <a:endParaRPr lang="zh-CN" altLang="en-US" sz="2000" dirty="0">
                        <a:solidFill>
                          <a:srgbClr val="FF0000"/>
                        </a:solidFill>
                      </a:endParaRPr>
                    </a:p>
                  </a:txBody>
                  <a:tcPr anchor="ctr"/>
                </a:tc>
                <a:tc>
                  <a:txBody>
                    <a:bodyPr/>
                    <a:lstStyle/>
                    <a:p>
                      <a:pPr algn="ctr"/>
                      <a:r>
                        <a:rPr lang="en-US" altLang="zh-CN" sz="2000" dirty="0"/>
                        <a:t>0</a:t>
                      </a:r>
                      <a:endParaRPr lang="zh-CN" altLang="en-US" sz="2000" dirty="0"/>
                    </a:p>
                  </a:txBody>
                  <a:tcPr anchor="ctr"/>
                </a:tc>
                <a:extLst>
                  <a:ext uri="{0D108BD9-81ED-4DB2-BD59-A6C34878D82A}">
                    <a16:rowId xmlns:a16="http://schemas.microsoft.com/office/drawing/2014/main" val="1100255337"/>
                  </a:ext>
                </a:extLst>
              </a:tr>
            </a:tbl>
          </a:graphicData>
        </a:graphic>
      </p:graphicFrame>
      <p:sp>
        <p:nvSpPr>
          <p:cNvPr id="11" name="箭头: 圆角右 10">
            <a:extLst>
              <a:ext uri="{FF2B5EF4-FFF2-40B4-BE49-F238E27FC236}">
                <a16:creationId xmlns:a16="http://schemas.microsoft.com/office/drawing/2014/main" id="{61BD5BEC-42B0-44CA-AC70-6D7D96E2CCFA}"/>
              </a:ext>
            </a:extLst>
          </p:cNvPr>
          <p:cNvSpPr/>
          <p:nvPr/>
        </p:nvSpPr>
        <p:spPr>
          <a:xfrm rot="5400000">
            <a:off x="8738294" y="2917120"/>
            <a:ext cx="1210309" cy="898295"/>
          </a:xfrm>
          <a:prstGeom prst="bentArrow">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endParaRPr>
          </a:p>
        </p:txBody>
      </p:sp>
      <p:sp>
        <p:nvSpPr>
          <p:cNvPr id="12" name="文本框 11">
            <a:extLst>
              <a:ext uri="{FF2B5EF4-FFF2-40B4-BE49-F238E27FC236}">
                <a16:creationId xmlns:a16="http://schemas.microsoft.com/office/drawing/2014/main" id="{D89D767C-D343-44D6-9559-5A1A3ECDECB9}"/>
              </a:ext>
            </a:extLst>
          </p:cNvPr>
          <p:cNvSpPr txBox="1"/>
          <p:nvPr/>
        </p:nvSpPr>
        <p:spPr>
          <a:xfrm>
            <a:off x="8971709" y="1044020"/>
            <a:ext cx="920552" cy="1754326"/>
          </a:xfrm>
          <a:prstGeom prst="rect">
            <a:avLst/>
          </a:prstGeom>
          <a:noFill/>
        </p:spPr>
        <p:txBody>
          <a:bodyPr wrap="square" rtlCol="0">
            <a:spAutoFit/>
          </a:bodyPr>
          <a:lstStyle/>
          <a:p>
            <a:r>
              <a:rPr lang="zh-CN" altLang="en-US" dirty="0"/>
              <a:t>添加第</a:t>
            </a:r>
            <a:r>
              <a:rPr lang="en-US" altLang="zh-CN" dirty="0"/>
              <a:t>k</a:t>
            </a:r>
            <a:r>
              <a:rPr lang="zh-CN" altLang="en-US" dirty="0"/>
              <a:t>只蚂蚁的在路径上释放的信息素</a:t>
            </a:r>
          </a:p>
        </p:txBody>
      </p:sp>
      <p:sp>
        <p:nvSpPr>
          <p:cNvPr id="13" name="文本框 12">
            <a:extLst>
              <a:ext uri="{FF2B5EF4-FFF2-40B4-BE49-F238E27FC236}">
                <a16:creationId xmlns:a16="http://schemas.microsoft.com/office/drawing/2014/main" id="{B5FD4A25-53E0-43A7-A3E6-15999AE0B066}"/>
              </a:ext>
            </a:extLst>
          </p:cNvPr>
          <p:cNvSpPr txBox="1"/>
          <p:nvPr/>
        </p:nvSpPr>
        <p:spPr>
          <a:xfrm>
            <a:off x="272480" y="1086619"/>
            <a:ext cx="3753934" cy="461665"/>
          </a:xfrm>
          <a:prstGeom prst="rect">
            <a:avLst/>
          </a:prstGeom>
          <a:noFill/>
        </p:spPr>
        <p:txBody>
          <a:bodyPr wrap="square" rtlCol="0">
            <a:spAutoFit/>
          </a:bodyPr>
          <a:lstStyle/>
          <a:p>
            <a:r>
              <a:rPr lang="en-US" altLang="zh-CN" sz="2400" dirty="0"/>
              <a:t>t</a:t>
            </a:r>
            <a:r>
              <a:rPr lang="zh-CN" altLang="en-US" sz="2400" dirty="0"/>
              <a:t>次循环之后的信息素矩阵</a:t>
            </a:r>
          </a:p>
        </p:txBody>
      </p:sp>
    </p:spTree>
    <p:extLst>
      <p:ext uri="{BB962C8B-B14F-4D97-AF65-F5344CB8AC3E}">
        <p14:creationId xmlns:p14="http://schemas.microsoft.com/office/powerpoint/2010/main" val="286739217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with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wipe(left)">
                                      <p:cBhvr>
                                        <p:cTn id="7" dur="500"/>
                                        <p:tgtEl>
                                          <p:spTgt spid="7"/>
                                        </p:tgtEl>
                                      </p:cBhvr>
                                    </p:animEffect>
                                  </p:childTnLst>
                                </p:cTn>
                              </p:par>
                            </p:childTnLst>
                          </p:cTn>
                        </p:par>
                        <p:par>
                          <p:cTn id="8" fill="hold">
                            <p:stCondLst>
                              <p:cond delay="500"/>
                            </p:stCondLst>
                            <p:childTnLst>
                              <p:par>
                                <p:cTn id="9" presetID="22" presetClass="entr" presetSubtype="4" fill="hold" nodeType="afterEffect">
                                  <p:stCondLst>
                                    <p:cond delay="0"/>
                                  </p:stCondLst>
                                  <p:childTnLst>
                                    <p:set>
                                      <p:cBhvr>
                                        <p:cTn id="10" dur="1" fill="hold">
                                          <p:stCondLst>
                                            <p:cond delay="0"/>
                                          </p:stCondLst>
                                        </p:cTn>
                                        <p:tgtEl>
                                          <p:spTgt spid="8"/>
                                        </p:tgtEl>
                                        <p:attrNameLst>
                                          <p:attrName>style.visibility</p:attrName>
                                        </p:attrNameLst>
                                      </p:cBhvr>
                                      <p:to>
                                        <p:strVal val="visible"/>
                                      </p:to>
                                    </p:set>
                                    <p:animEffect transition="in" filter="wipe(down)">
                                      <p:cBhvr>
                                        <p:cTn id="11" dur="500"/>
                                        <p:tgtEl>
                                          <p:spTgt spid="8"/>
                                        </p:tgtEl>
                                      </p:cBhvr>
                                    </p:animEffect>
                                  </p:childTnLst>
                                </p:cTn>
                              </p:par>
                            </p:childTnLst>
                          </p:cTn>
                        </p:par>
                      </p:childTnLst>
                    </p:cTn>
                  </p:par>
                  <p:par>
                    <p:cTn id="12" fill="hold">
                      <p:stCondLst>
                        <p:cond delay="indefinite"/>
                      </p:stCondLst>
                      <p:childTnLst>
                        <p:par>
                          <p:cTn id="13" fill="hold">
                            <p:stCondLst>
                              <p:cond delay="0"/>
                            </p:stCondLst>
                            <p:childTnLst>
                              <p:par>
                                <p:cTn id="14" presetID="22" presetClass="entr" presetSubtype="4" fill="hold" grpId="0" nodeType="clickEffect">
                                  <p:stCondLst>
                                    <p:cond delay="0"/>
                                  </p:stCondLst>
                                  <p:childTnLst>
                                    <p:set>
                                      <p:cBhvr>
                                        <p:cTn id="15" dur="1" fill="hold">
                                          <p:stCondLst>
                                            <p:cond delay="0"/>
                                          </p:stCondLst>
                                        </p:cTn>
                                        <p:tgtEl>
                                          <p:spTgt spid="12"/>
                                        </p:tgtEl>
                                        <p:attrNameLst>
                                          <p:attrName>style.visibility</p:attrName>
                                        </p:attrNameLst>
                                      </p:cBhvr>
                                      <p:to>
                                        <p:strVal val="visible"/>
                                      </p:to>
                                    </p:set>
                                    <p:animEffect transition="in" filter="wipe(down)">
                                      <p:cBhvr>
                                        <p:cTn id="16" dur="500"/>
                                        <p:tgtEl>
                                          <p:spTgt spid="12"/>
                                        </p:tgtEl>
                                      </p:cBhvr>
                                    </p:animEffect>
                                  </p:childTnLst>
                                </p:cTn>
                              </p:par>
                            </p:childTnLst>
                          </p:cTn>
                        </p:par>
                        <p:par>
                          <p:cTn id="17" fill="hold">
                            <p:stCondLst>
                              <p:cond delay="500"/>
                            </p:stCondLst>
                            <p:childTnLst>
                              <p:par>
                                <p:cTn id="18" presetID="22" presetClass="entr" presetSubtype="1" fill="hold" grpId="0" nodeType="afterEffect">
                                  <p:stCondLst>
                                    <p:cond delay="0"/>
                                  </p:stCondLst>
                                  <p:childTnLst>
                                    <p:set>
                                      <p:cBhvr>
                                        <p:cTn id="19" dur="1" fill="hold">
                                          <p:stCondLst>
                                            <p:cond delay="0"/>
                                          </p:stCondLst>
                                        </p:cTn>
                                        <p:tgtEl>
                                          <p:spTgt spid="11"/>
                                        </p:tgtEl>
                                        <p:attrNameLst>
                                          <p:attrName>style.visibility</p:attrName>
                                        </p:attrNameLst>
                                      </p:cBhvr>
                                      <p:to>
                                        <p:strVal val="visible"/>
                                      </p:to>
                                    </p:set>
                                    <p:animEffect transition="in" filter="wipe(up)">
                                      <p:cBhvr>
                                        <p:cTn id="20" dur="500"/>
                                        <p:tgtEl>
                                          <p:spTgt spid="11"/>
                                        </p:tgtEl>
                                      </p:cBhvr>
                                    </p:animEffect>
                                  </p:childTnLst>
                                </p:cTn>
                              </p:par>
                            </p:childTnLst>
                          </p:cTn>
                        </p:par>
                        <p:par>
                          <p:cTn id="21" fill="hold">
                            <p:stCondLst>
                              <p:cond delay="1000"/>
                            </p:stCondLst>
                            <p:childTnLst>
                              <p:par>
                                <p:cTn id="22" presetID="2" presetClass="entr" presetSubtype="4" fill="hold" nodeType="afterEffect">
                                  <p:stCondLst>
                                    <p:cond delay="0"/>
                                  </p:stCondLst>
                                  <p:childTnLst>
                                    <p:set>
                                      <p:cBhvr>
                                        <p:cTn id="23" dur="1" fill="hold">
                                          <p:stCondLst>
                                            <p:cond delay="0"/>
                                          </p:stCondLst>
                                        </p:cTn>
                                        <p:tgtEl>
                                          <p:spTgt spid="10"/>
                                        </p:tgtEl>
                                        <p:attrNameLst>
                                          <p:attrName>style.visibility</p:attrName>
                                        </p:attrNameLst>
                                      </p:cBhvr>
                                      <p:to>
                                        <p:strVal val="visible"/>
                                      </p:to>
                                    </p:set>
                                    <p:anim calcmode="lin" valueType="num">
                                      <p:cBhvr additive="base">
                                        <p:cTn id="24" dur="500" fill="hold"/>
                                        <p:tgtEl>
                                          <p:spTgt spid="10"/>
                                        </p:tgtEl>
                                        <p:attrNameLst>
                                          <p:attrName>ppt_x</p:attrName>
                                        </p:attrNameLst>
                                      </p:cBhvr>
                                      <p:tavLst>
                                        <p:tav tm="0">
                                          <p:val>
                                            <p:strVal val="#ppt_x"/>
                                          </p:val>
                                        </p:tav>
                                        <p:tav tm="100000">
                                          <p:val>
                                            <p:strVal val="#ppt_x"/>
                                          </p:val>
                                        </p:tav>
                                      </p:tavLst>
                                    </p:anim>
                                    <p:anim calcmode="lin" valueType="num">
                                      <p:cBhvr additive="base">
                                        <p:cTn id="25" dur="500" fill="hold"/>
                                        <p:tgtEl>
                                          <p:spTgt spid="10"/>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11" grpId="0" animBg="1"/>
      <p:bldP spid="12" grpId="0"/>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946EA79-1C8A-4E46-A08C-22BEC975A93F}"/>
              </a:ext>
            </a:extLst>
          </p:cNvPr>
          <p:cNvSpPr>
            <a:spLocks noGrp="1"/>
          </p:cNvSpPr>
          <p:nvPr>
            <p:ph type="title"/>
          </p:nvPr>
        </p:nvSpPr>
        <p:spPr/>
        <p:txBody>
          <a:bodyPr/>
          <a:lstStyle/>
          <a:p>
            <a:r>
              <a:rPr lang="zh-CN" altLang="en-US" dirty="0"/>
              <a:t>启发式算法</a:t>
            </a:r>
            <a:r>
              <a:rPr lang="en-US" altLang="zh-CN" dirty="0"/>
              <a:t>—</a:t>
            </a:r>
            <a:r>
              <a:rPr lang="zh-CN" altLang="en-US" dirty="0"/>
              <a:t>蚁群算法</a:t>
            </a:r>
          </a:p>
        </p:txBody>
      </p:sp>
      <p:sp>
        <p:nvSpPr>
          <p:cNvPr id="3" name="内容占位符 2">
            <a:extLst>
              <a:ext uri="{FF2B5EF4-FFF2-40B4-BE49-F238E27FC236}">
                <a16:creationId xmlns:a16="http://schemas.microsoft.com/office/drawing/2014/main" id="{EA184B9D-2475-4FDF-BD63-CFA4872C9600}"/>
              </a:ext>
            </a:extLst>
          </p:cNvPr>
          <p:cNvSpPr>
            <a:spLocks noGrp="1"/>
          </p:cNvSpPr>
          <p:nvPr>
            <p:ph idx="1"/>
          </p:nvPr>
        </p:nvSpPr>
        <p:spPr/>
        <p:txBody>
          <a:bodyPr/>
          <a:lstStyle/>
          <a:p>
            <a:r>
              <a:rPr lang="zh-CN" altLang="en-US" dirty="0"/>
              <a:t>算法流程</a:t>
            </a:r>
            <a:endParaRPr lang="en-US" altLang="zh-CN" dirty="0"/>
          </a:p>
          <a:p>
            <a:pPr lvl="1"/>
            <a:endParaRPr lang="en-US" altLang="zh-CN" dirty="0"/>
          </a:p>
          <a:p>
            <a:endParaRPr lang="zh-CN" altLang="en-US" dirty="0"/>
          </a:p>
        </p:txBody>
      </p:sp>
      <p:sp>
        <p:nvSpPr>
          <p:cNvPr id="4" name="日期占位符 3">
            <a:extLst>
              <a:ext uri="{FF2B5EF4-FFF2-40B4-BE49-F238E27FC236}">
                <a16:creationId xmlns:a16="http://schemas.microsoft.com/office/drawing/2014/main" id="{EACBE9B2-1C09-4A27-B89B-923947BEFDEB}"/>
              </a:ext>
            </a:extLst>
          </p:cNvPr>
          <p:cNvSpPr>
            <a:spLocks noGrp="1"/>
          </p:cNvSpPr>
          <p:nvPr>
            <p:ph type="dt" sz="half" idx="10"/>
          </p:nvPr>
        </p:nvSpPr>
        <p:spPr/>
        <p:txBody>
          <a:bodyPr/>
          <a:lstStyle/>
          <a:p>
            <a:fld id="{A8B06C41-1E1E-4B9B-9644-5AFB8CB2AB3B}" type="datetime3">
              <a:rPr lang="zh-CN" altLang="en-US" smtClean="0"/>
              <a:t>2022年11月24日星期四</a:t>
            </a:fld>
            <a:endParaRPr lang="en-US" altLang="zh-CN" dirty="0"/>
          </a:p>
        </p:txBody>
      </p:sp>
      <p:sp>
        <p:nvSpPr>
          <p:cNvPr id="5" name="灯片编号占位符 4">
            <a:extLst>
              <a:ext uri="{FF2B5EF4-FFF2-40B4-BE49-F238E27FC236}">
                <a16:creationId xmlns:a16="http://schemas.microsoft.com/office/drawing/2014/main" id="{BB719D07-C23B-4210-A855-B215712CBF97}"/>
              </a:ext>
            </a:extLst>
          </p:cNvPr>
          <p:cNvSpPr>
            <a:spLocks noGrp="1"/>
          </p:cNvSpPr>
          <p:nvPr>
            <p:ph type="sldNum" sz="quarter" idx="12"/>
          </p:nvPr>
        </p:nvSpPr>
        <p:spPr/>
        <p:txBody>
          <a:bodyPr/>
          <a:lstStyle/>
          <a:p>
            <a:fld id="{7AC79822-BC0D-4DE8-A7E5-90A3732A2B82}" type="slidenum">
              <a:rPr lang="zh-CN" altLang="en-US" smtClean="0"/>
              <a:pPr/>
              <a:t>41</a:t>
            </a:fld>
            <a:endParaRPr lang="en-US" altLang="zh-CN" dirty="0"/>
          </a:p>
        </p:txBody>
      </p:sp>
      <p:sp>
        <p:nvSpPr>
          <p:cNvPr id="6" name="文本占位符 3">
            <a:extLst>
              <a:ext uri="{FF2B5EF4-FFF2-40B4-BE49-F238E27FC236}">
                <a16:creationId xmlns:a16="http://schemas.microsoft.com/office/drawing/2014/main" id="{92A9DCC9-4169-4B45-A6AF-0C50C5626711}"/>
              </a:ext>
            </a:extLst>
          </p:cNvPr>
          <p:cNvSpPr txBox="1">
            <a:spLocks/>
          </p:cNvSpPr>
          <p:nvPr/>
        </p:nvSpPr>
        <p:spPr>
          <a:xfrm>
            <a:off x="272480" y="1881965"/>
            <a:ext cx="4824536" cy="3563259"/>
          </a:xfrm>
          <a:prstGeom prst="rect">
            <a:avLst/>
          </a:prstGeom>
        </p:spPr>
        <p:txBody>
          <a:bodyPr/>
          <a:lstStyle>
            <a:lvl1pPr marL="342900" indent="-342900" algn="l" rtl="0" eaLnBrk="1" fontAlgn="base" hangingPunct="1">
              <a:spcBef>
                <a:spcPct val="20000"/>
              </a:spcBef>
              <a:spcAft>
                <a:spcPct val="0"/>
              </a:spcAft>
              <a:buClr>
                <a:srgbClr val="333399"/>
              </a:buClr>
              <a:buSzPct val="75000"/>
              <a:buFont typeface="Wingdings" panose="05000000000000000000" pitchFamily="2" charset="2"/>
              <a:buChar char=""/>
              <a:defRPr sz="3200" b="1">
                <a:solidFill>
                  <a:schemeClr val="tx1"/>
                </a:solidFill>
                <a:latin typeface="+mn-lt"/>
                <a:ea typeface="黑体" pitchFamily="2" charset="-122"/>
                <a:cs typeface="+mn-cs"/>
              </a:defRPr>
            </a:lvl1pPr>
            <a:lvl2pPr marL="742950" indent="-285750" algn="l" rtl="0" eaLnBrk="1" fontAlgn="base" hangingPunct="1">
              <a:spcBef>
                <a:spcPct val="20000"/>
              </a:spcBef>
              <a:spcAft>
                <a:spcPct val="0"/>
              </a:spcAft>
              <a:buClr>
                <a:schemeClr val="accent2"/>
              </a:buClr>
              <a:buSzPct val="70000"/>
              <a:buFont typeface="Wingdings" panose="05000000000000000000" pitchFamily="2" charset="2"/>
              <a:buChar char=""/>
              <a:defRPr sz="2800" b="1">
                <a:solidFill>
                  <a:schemeClr val="tx1"/>
                </a:solidFill>
                <a:latin typeface="+mn-lt"/>
                <a:ea typeface="黑体" pitchFamily="2" charset="-122"/>
              </a:defRPr>
            </a:lvl2pPr>
            <a:lvl3pPr marL="1143000" indent="-228600" algn="l" rtl="0" eaLnBrk="1" fontAlgn="base" hangingPunct="1">
              <a:spcBef>
                <a:spcPct val="20000"/>
              </a:spcBef>
              <a:spcAft>
                <a:spcPct val="0"/>
              </a:spcAft>
              <a:buClr>
                <a:srgbClr val="333399"/>
              </a:buClr>
              <a:buSzPct val="65000"/>
              <a:buFont typeface="Wingdings" panose="05000000000000000000" pitchFamily="2" charset="2"/>
              <a:buChar char=""/>
              <a:defRPr sz="2400" b="1">
                <a:solidFill>
                  <a:schemeClr val="tx1"/>
                </a:solidFill>
                <a:latin typeface="+mn-lt"/>
                <a:ea typeface="黑体" pitchFamily="2" charset="-122"/>
              </a:defRPr>
            </a:lvl3pPr>
            <a:lvl4pPr marL="1600200" indent="-228600" algn="l" rtl="0" eaLnBrk="1" fontAlgn="base" hangingPunct="1">
              <a:spcBef>
                <a:spcPct val="20000"/>
              </a:spcBef>
              <a:spcAft>
                <a:spcPct val="0"/>
              </a:spcAft>
              <a:buClr>
                <a:schemeClr val="bg2"/>
              </a:buClr>
              <a:buSzPct val="65000"/>
              <a:buFont typeface="Wingdings" pitchFamily="2" charset="2"/>
              <a:buChar char="n"/>
              <a:defRPr sz="2000" b="1">
                <a:solidFill>
                  <a:schemeClr val="tx1"/>
                </a:solidFill>
                <a:latin typeface="+mn-lt"/>
                <a:ea typeface="黑体" pitchFamily="2" charset="-122"/>
              </a:defRPr>
            </a:lvl4pPr>
            <a:lvl5pPr marL="2057400" indent="-228600" algn="l" rtl="0" eaLnBrk="1" fontAlgn="base" hangingPunct="1">
              <a:spcBef>
                <a:spcPct val="20000"/>
              </a:spcBef>
              <a:spcAft>
                <a:spcPct val="0"/>
              </a:spcAft>
              <a:buClr>
                <a:srgbClr val="333399"/>
              </a:buClr>
              <a:buSzPct val="60000"/>
              <a:buFont typeface="Wingdings" panose="05000000000000000000" pitchFamily="2" charset="2"/>
              <a:buChar char="Ø"/>
              <a:defRPr sz="2000" b="1">
                <a:solidFill>
                  <a:schemeClr val="tx1"/>
                </a:solidFill>
                <a:latin typeface="+mn-lt"/>
                <a:ea typeface="黑体" pitchFamily="2" charset="-122"/>
              </a:defRPr>
            </a:lvl5pPr>
            <a:lvl6pPr marL="25146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defRPr>
            </a:lvl6pPr>
            <a:lvl7pPr marL="29718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defRPr>
            </a:lvl7pPr>
            <a:lvl8pPr marL="34290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defRPr>
            </a:lvl8pPr>
            <a:lvl9pPr marL="38862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defRPr>
            </a:lvl9pPr>
          </a:lstStyle>
          <a:p>
            <a:pPr marL="457200" indent="-457200">
              <a:buFont typeface="+mj-lt"/>
              <a:buAutoNum type="arabicPeriod"/>
            </a:pPr>
            <a:r>
              <a:rPr lang="zh-CN" altLang="en-US" sz="2400" kern="0" dirty="0">
                <a:solidFill>
                  <a:srgbClr val="C00000"/>
                </a:solidFill>
                <a:latin typeface="黑体" panose="02010609060101010101" pitchFamily="49" charset="-122"/>
                <a:ea typeface="黑体" panose="02010609060101010101" pitchFamily="49" charset="-122"/>
              </a:rPr>
              <a:t>初始化</a:t>
            </a:r>
            <a:r>
              <a:rPr lang="en-US" altLang="zh-CN" sz="2400" kern="0" dirty="0">
                <a:solidFill>
                  <a:srgbClr val="C00000"/>
                </a:solidFill>
                <a:latin typeface="黑体" panose="02010609060101010101" pitchFamily="49" charset="-122"/>
                <a:ea typeface="黑体" panose="02010609060101010101" pitchFamily="49" charset="-122"/>
              </a:rPr>
              <a:t>(</a:t>
            </a:r>
            <a:r>
              <a:rPr lang="zh-CN" altLang="en-US" sz="2400" kern="0" dirty="0">
                <a:solidFill>
                  <a:srgbClr val="C00000"/>
                </a:solidFill>
                <a:latin typeface="黑体" panose="02010609060101010101" pitchFamily="49" charset="-122"/>
                <a:ea typeface="黑体" panose="02010609060101010101" pitchFamily="49" charset="-122"/>
              </a:rPr>
              <a:t>各个参数</a:t>
            </a:r>
            <a:r>
              <a:rPr lang="en-US" altLang="zh-CN" sz="2400" kern="0" dirty="0">
                <a:solidFill>
                  <a:srgbClr val="C00000"/>
                </a:solidFill>
                <a:latin typeface="黑体" panose="02010609060101010101" pitchFamily="49" charset="-122"/>
                <a:ea typeface="黑体" panose="02010609060101010101" pitchFamily="49" charset="-122"/>
              </a:rPr>
              <a:t>):</a:t>
            </a:r>
          </a:p>
          <a:p>
            <a:pPr marL="400050" lvl="1" indent="0">
              <a:buNone/>
            </a:pPr>
            <a:r>
              <a:rPr lang="zh-CN" altLang="en-US" sz="2400" kern="0" dirty="0">
                <a:latin typeface="黑体" panose="02010609060101010101" pitchFamily="49" charset="-122"/>
                <a:ea typeface="黑体" panose="02010609060101010101" pitchFamily="49" charset="-122"/>
              </a:rPr>
              <a:t>对各个参数进行初始化</a:t>
            </a:r>
            <a:endParaRPr lang="en-US" altLang="zh-CN" sz="2400" kern="0" dirty="0">
              <a:latin typeface="黑体" panose="02010609060101010101" pitchFamily="49" charset="-122"/>
              <a:ea typeface="黑体" panose="02010609060101010101" pitchFamily="49" charset="-122"/>
            </a:endParaRPr>
          </a:p>
          <a:p>
            <a:pPr marL="457200" indent="-457200">
              <a:buFont typeface="+mj-lt"/>
              <a:buAutoNum type="arabicPeriod"/>
            </a:pPr>
            <a:r>
              <a:rPr lang="zh-CN" altLang="en-US" sz="2400" kern="0" dirty="0">
                <a:solidFill>
                  <a:srgbClr val="7030A0"/>
                </a:solidFill>
                <a:latin typeface="黑体" panose="02010609060101010101" pitchFamily="49" charset="-122"/>
                <a:ea typeface="黑体" panose="02010609060101010101" pitchFamily="49" charset="-122"/>
              </a:rPr>
              <a:t>构建解空间：</a:t>
            </a:r>
            <a:endParaRPr lang="en-US" altLang="zh-CN" sz="2400" kern="0" dirty="0">
              <a:solidFill>
                <a:srgbClr val="7030A0"/>
              </a:solidFill>
              <a:latin typeface="黑体" panose="02010609060101010101" pitchFamily="49" charset="-122"/>
              <a:ea typeface="黑体" panose="02010609060101010101" pitchFamily="49" charset="-122"/>
            </a:endParaRPr>
          </a:p>
          <a:p>
            <a:pPr marL="400050" lvl="1" indent="0">
              <a:buNone/>
            </a:pPr>
            <a:r>
              <a:rPr lang="zh-CN" altLang="en-US" sz="2400" kern="0" dirty="0">
                <a:latin typeface="黑体" panose="02010609060101010101" pitchFamily="49" charset="-122"/>
                <a:ea typeface="黑体" panose="02010609060101010101" pitchFamily="49" charset="-122"/>
              </a:rPr>
              <a:t>蚂蚁路径选择</a:t>
            </a:r>
            <a:endParaRPr lang="en-US" altLang="zh-CN" sz="2400" kern="0" dirty="0">
              <a:latin typeface="黑体" panose="02010609060101010101" pitchFamily="49" charset="-122"/>
              <a:ea typeface="黑体" panose="02010609060101010101" pitchFamily="49" charset="-122"/>
            </a:endParaRPr>
          </a:p>
          <a:p>
            <a:pPr marL="457200" indent="-457200">
              <a:buFont typeface="+mj-lt"/>
              <a:buAutoNum type="arabicPeriod"/>
            </a:pPr>
            <a:r>
              <a:rPr lang="zh-CN" altLang="en-US" sz="2400" kern="0" dirty="0">
                <a:solidFill>
                  <a:srgbClr val="0000FF"/>
                </a:solidFill>
                <a:latin typeface="黑体" panose="02010609060101010101" pitchFamily="49" charset="-122"/>
                <a:ea typeface="黑体" panose="02010609060101010101" pitchFamily="49" charset="-122"/>
              </a:rPr>
              <a:t>更新信息素：</a:t>
            </a:r>
            <a:endParaRPr lang="en-US" altLang="zh-CN" sz="2400" kern="0" dirty="0">
              <a:solidFill>
                <a:srgbClr val="0000FF"/>
              </a:solidFill>
              <a:latin typeface="黑体" panose="02010609060101010101" pitchFamily="49" charset="-122"/>
              <a:ea typeface="黑体" panose="02010609060101010101" pitchFamily="49" charset="-122"/>
            </a:endParaRPr>
          </a:p>
          <a:p>
            <a:pPr marL="400050" lvl="1" indent="0">
              <a:buNone/>
            </a:pPr>
            <a:r>
              <a:rPr lang="zh-CN" altLang="en-US" sz="2400" kern="0" dirty="0">
                <a:latin typeface="黑体" panose="02010609060101010101" pitchFamily="49" charset="-122"/>
                <a:ea typeface="黑体" panose="02010609060101010101" pitchFamily="49" charset="-122"/>
              </a:rPr>
              <a:t>路径选择后，进行信息素更新</a:t>
            </a:r>
            <a:endParaRPr lang="en-US" altLang="zh-CN" sz="2400" kern="0" dirty="0">
              <a:latin typeface="黑体" panose="02010609060101010101" pitchFamily="49" charset="-122"/>
              <a:ea typeface="黑体" panose="02010609060101010101" pitchFamily="49" charset="-122"/>
            </a:endParaRPr>
          </a:p>
          <a:p>
            <a:pPr marL="457200" indent="-457200">
              <a:buFont typeface="+mj-lt"/>
              <a:buAutoNum type="arabicPeriod"/>
            </a:pPr>
            <a:r>
              <a:rPr lang="zh-CN" altLang="en-US" sz="2400" kern="0" dirty="0">
                <a:solidFill>
                  <a:schemeClr val="accent5">
                    <a:lumMod val="25000"/>
                  </a:schemeClr>
                </a:solidFill>
                <a:latin typeface="黑体" panose="02010609060101010101" pitchFamily="49" charset="-122"/>
                <a:ea typeface="黑体" panose="02010609060101010101" pitchFamily="49" charset="-122"/>
              </a:rPr>
              <a:t>判断是否终止：</a:t>
            </a:r>
            <a:endParaRPr lang="en-US" altLang="zh-CN" sz="2400" kern="0" dirty="0">
              <a:solidFill>
                <a:schemeClr val="accent5">
                  <a:lumMod val="25000"/>
                </a:schemeClr>
              </a:solidFill>
              <a:latin typeface="黑体" panose="02010609060101010101" pitchFamily="49" charset="-122"/>
              <a:ea typeface="黑体" panose="02010609060101010101" pitchFamily="49" charset="-122"/>
            </a:endParaRPr>
          </a:p>
          <a:p>
            <a:pPr marL="400050" lvl="1" indent="0">
              <a:buNone/>
            </a:pPr>
            <a:r>
              <a:rPr lang="zh-CN" altLang="en-US" sz="2400" kern="0" dirty="0">
                <a:latin typeface="黑体" panose="02010609060101010101" pitchFamily="49" charset="-122"/>
                <a:ea typeface="黑体" panose="02010609060101010101" pitchFamily="49" charset="-122"/>
              </a:rPr>
              <a:t>判断是否结束寻找</a:t>
            </a:r>
            <a:endParaRPr lang="en-US" altLang="zh-CN" sz="2400" kern="0" dirty="0">
              <a:latin typeface="黑体" panose="02010609060101010101" pitchFamily="49" charset="-122"/>
              <a:ea typeface="黑体" panose="02010609060101010101" pitchFamily="49" charset="-122"/>
            </a:endParaRPr>
          </a:p>
          <a:p>
            <a:pPr marL="0" indent="0">
              <a:buNone/>
            </a:pPr>
            <a:endParaRPr lang="en-US" altLang="zh-CN" sz="2400" kern="0" dirty="0">
              <a:solidFill>
                <a:schemeClr val="tx1">
                  <a:lumMod val="65000"/>
                  <a:lumOff val="35000"/>
                </a:schemeClr>
              </a:solidFill>
              <a:latin typeface="黑体" panose="02010609060101010101" pitchFamily="49" charset="-122"/>
              <a:ea typeface="黑体" panose="02010609060101010101" pitchFamily="49" charset="-122"/>
            </a:endParaRPr>
          </a:p>
          <a:p>
            <a:pPr marL="0" indent="0">
              <a:buNone/>
            </a:pPr>
            <a:endParaRPr lang="en-US" altLang="zh-CN" sz="2400" kern="0" dirty="0">
              <a:solidFill>
                <a:schemeClr val="tx1">
                  <a:lumMod val="65000"/>
                  <a:lumOff val="35000"/>
                </a:schemeClr>
              </a:solidFill>
              <a:latin typeface="黑体" panose="02010609060101010101" pitchFamily="49" charset="-122"/>
              <a:ea typeface="黑体" panose="02010609060101010101" pitchFamily="49" charset="-122"/>
            </a:endParaRPr>
          </a:p>
        </p:txBody>
      </p:sp>
      <p:pic>
        <p:nvPicPr>
          <p:cNvPr id="7" name="20 6">
            <a:extLst>
              <a:ext uri="{FF2B5EF4-FFF2-40B4-BE49-F238E27FC236}">
                <a16:creationId xmlns:a16="http://schemas.microsoft.com/office/drawing/2014/main" id="{8F609457-AB95-4A83-970A-E063227F77E1}"/>
              </a:ext>
            </a:extLst>
          </p:cNvPr>
          <p:cNvPicPr/>
          <p:nvPr/>
        </p:nvPicPr>
        <p:blipFill>
          <a:blip r:embed="rId2">
            <a:extLst>
              <a:ext uri="{28A0092B-C50C-407E-A947-70E740481C1C}">
                <a14:useLocalDpi xmlns:a14="http://schemas.microsoft.com/office/drawing/2010/main" val="0"/>
              </a:ext>
            </a:extLst>
          </a:blip>
          <a:srcRect/>
          <a:stretch>
            <a:fillRect/>
          </a:stretch>
        </p:blipFill>
        <p:spPr bwMode="auto">
          <a:xfrm>
            <a:off x="5097016" y="1115515"/>
            <a:ext cx="4104456" cy="5301579"/>
          </a:xfrm>
          <a:prstGeom prst="rect">
            <a:avLst/>
          </a:prstGeom>
          <a:noFill/>
          <a:ln>
            <a:noFill/>
          </a:ln>
        </p:spPr>
      </p:pic>
    </p:spTree>
    <p:extLst>
      <p:ext uri="{BB962C8B-B14F-4D97-AF65-F5344CB8AC3E}">
        <p14:creationId xmlns:p14="http://schemas.microsoft.com/office/powerpoint/2010/main" val="189960230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4" fill="hold" grpId="0" nodeType="with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wipe(down)">
                                      <p:cBhvr>
                                        <p:cTn id="7" dur="500"/>
                                        <p:tgtEl>
                                          <p:spTgt spid="6"/>
                                        </p:tgtEl>
                                      </p:cBhvr>
                                    </p:animEffect>
                                  </p:childTnLst>
                                </p:cTn>
                              </p:par>
                            </p:childTnLst>
                          </p:cTn>
                        </p:par>
                        <p:par>
                          <p:cTn id="8" fill="hold">
                            <p:stCondLst>
                              <p:cond delay="500"/>
                            </p:stCondLst>
                            <p:childTnLst>
                              <p:par>
                                <p:cTn id="9" presetID="22" presetClass="entr" presetSubtype="4" fill="hold" nodeType="afterEffect">
                                  <p:stCondLst>
                                    <p:cond delay="0"/>
                                  </p:stCondLst>
                                  <p:childTnLst>
                                    <p:set>
                                      <p:cBhvr>
                                        <p:cTn id="10" dur="1" fill="hold">
                                          <p:stCondLst>
                                            <p:cond delay="0"/>
                                          </p:stCondLst>
                                        </p:cTn>
                                        <p:tgtEl>
                                          <p:spTgt spid="7"/>
                                        </p:tgtEl>
                                        <p:attrNameLst>
                                          <p:attrName>style.visibility</p:attrName>
                                        </p:attrNameLst>
                                      </p:cBhvr>
                                      <p:to>
                                        <p:strVal val="visible"/>
                                      </p:to>
                                    </p:set>
                                    <p:animEffect transition="in" filter="wipe(down)">
                                      <p:cBhvr>
                                        <p:cTn id="11"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946EA79-1C8A-4E46-A08C-22BEC975A93F}"/>
              </a:ext>
            </a:extLst>
          </p:cNvPr>
          <p:cNvSpPr>
            <a:spLocks noGrp="1"/>
          </p:cNvSpPr>
          <p:nvPr>
            <p:ph type="title"/>
          </p:nvPr>
        </p:nvSpPr>
        <p:spPr/>
        <p:txBody>
          <a:bodyPr/>
          <a:lstStyle/>
          <a:p>
            <a:r>
              <a:rPr lang="zh-CN" altLang="en-US" dirty="0"/>
              <a:t>蚁群算法流程</a:t>
            </a:r>
          </a:p>
        </p:txBody>
      </p:sp>
      <p:sp>
        <p:nvSpPr>
          <p:cNvPr id="4" name="日期占位符 3">
            <a:extLst>
              <a:ext uri="{FF2B5EF4-FFF2-40B4-BE49-F238E27FC236}">
                <a16:creationId xmlns:a16="http://schemas.microsoft.com/office/drawing/2014/main" id="{EACBE9B2-1C09-4A27-B89B-923947BEFDEB}"/>
              </a:ext>
            </a:extLst>
          </p:cNvPr>
          <p:cNvSpPr>
            <a:spLocks noGrp="1"/>
          </p:cNvSpPr>
          <p:nvPr>
            <p:ph type="dt" sz="half" idx="10"/>
          </p:nvPr>
        </p:nvSpPr>
        <p:spPr/>
        <p:txBody>
          <a:bodyPr/>
          <a:lstStyle/>
          <a:p>
            <a:fld id="{A8B06C41-1E1E-4B9B-9644-5AFB8CB2AB3B}" type="datetime3">
              <a:rPr lang="zh-CN" altLang="en-US" smtClean="0"/>
              <a:t>2022年11月24日星期四</a:t>
            </a:fld>
            <a:endParaRPr lang="en-US" altLang="zh-CN" dirty="0"/>
          </a:p>
        </p:txBody>
      </p:sp>
      <p:sp>
        <p:nvSpPr>
          <p:cNvPr id="5" name="灯片编号占位符 4">
            <a:extLst>
              <a:ext uri="{FF2B5EF4-FFF2-40B4-BE49-F238E27FC236}">
                <a16:creationId xmlns:a16="http://schemas.microsoft.com/office/drawing/2014/main" id="{BB719D07-C23B-4210-A855-B215712CBF97}"/>
              </a:ext>
            </a:extLst>
          </p:cNvPr>
          <p:cNvSpPr>
            <a:spLocks noGrp="1"/>
          </p:cNvSpPr>
          <p:nvPr>
            <p:ph type="sldNum" sz="quarter" idx="12"/>
          </p:nvPr>
        </p:nvSpPr>
        <p:spPr/>
        <p:txBody>
          <a:bodyPr/>
          <a:lstStyle/>
          <a:p>
            <a:fld id="{7AC79822-BC0D-4DE8-A7E5-90A3732A2B82}" type="slidenum">
              <a:rPr lang="zh-CN" altLang="en-US" smtClean="0"/>
              <a:pPr/>
              <a:t>42</a:t>
            </a:fld>
            <a:endParaRPr lang="en-US" altLang="zh-CN" dirty="0"/>
          </a:p>
        </p:txBody>
      </p:sp>
      <p:sp>
        <p:nvSpPr>
          <p:cNvPr id="6" name="文本占位符 3">
            <a:extLst>
              <a:ext uri="{FF2B5EF4-FFF2-40B4-BE49-F238E27FC236}">
                <a16:creationId xmlns:a16="http://schemas.microsoft.com/office/drawing/2014/main" id="{92A9DCC9-4169-4B45-A6AF-0C50C5626711}"/>
              </a:ext>
            </a:extLst>
          </p:cNvPr>
          <p:cNvSpPr txBox="1">
            <a:spLocks/>
          </p:cNvSpPr>
          <p:nvPr/>
        </p:nvSpPr>
        <p:spPr>
          <a:xfrm>
            <a:off x="128464" y="1124744"/>
            <a:ext cx="7857628" cy="1702338"/>
          </a:xfrm>
          <a:prstGeom prst="rect">
            <a:avLst/>
          </a:prstGeom>
        </p:spPr>
        <p:txBody>
          <a:bodyPr/>
          <a:lstStyle>
            <a:lvl1pPr marL="342900" indent="-342900" algn="l" rtl="0" eaLnBrk="1" fontAlgn="base" hangingPunct="1">
              <a:spcBef>
                <a:spcPct val="20000"/>
              </a:spcBef>
              <a:spcAft>
                <a:spcPct val="0"/>
              </a:spcAft>
              <a:buClr>
                <a:srgbClr val="333399"/>
              </a:buClr>
              <a:buSzPct val="75000"/>
              <a:buFont typeface="Wingdings" panose="05000000000000000000" pitchFamily="2" charset="2"/>
              <a:buChar char=""/>
              <a:defRPr sz="3200" b="1">
                <a:solidFill>
                  <a:schemeClr val="tx1"/>
                </a:solidFill>
                <a:latin typeface="+mn-lt"/>
                <a:ea typeface="黑体" pitchFamily="2" charset="-122"/>
                <a:cs typeface="+mn-cs"/>
              </a:defRPr>
            </a:lvl1pPr>
            <a:lvl2pPr marL="742950" indent="-285750" algn="l" rtl="0" eaLnBrk="1" fontAlgn="base" hangingPunct="1">
              <a:spcBef>
                <a:spcPct val="20000"/>
              </a:spcBef>
              <a:spcAft>
                <a:spcPct val="0"/>
              </a:spcAft>
              <a:buClr>
                <a:schemeClr val="accent2"/>
              </a:buClr>
              <a:buSzPct val="70000"/>
              <a:buFont typeface="Wingdings" panose="05000000000000000000" pitchFamily="2" charset="2"/>
              <a:buChar char=""/>
              <a:defRPr sz="2800" b="1">
                <a:solidFill>
                  <a:schemeClr val="tx1"/>
                </a:solidFill>
                <a:latin typeface="+mn-lt"/>
                <a:ea typeface="黑体" pitchFamily="2" charset="-122"/>
              </a:defRPr>
            </a:lvl2pPr>
            <a:lvl3pPr marL="1143000" indent="-228600" algn="l" rtl="0" eaLnBrk="1" fontAlgn="base" hangingPunct="1">
              <a:spcBef>
                <a:spcPct val="20000"/>
              </a:spcBef>
              <a:spcAft>
                <a:spcPct val="0"/>
              </a:spcAft>
              <a:buClr>
                <a:srgbClr val="333399"/>
              </a:buClr>
              <a:buSzPct val="65000"/>
              <a:buFont typeface="Wingdings" panose="05000000000000000000" pitchFamily="2" charset="2"/>
              <a:buChar char=""/>
              <a:defRPr sz="2400" b="1">
                <a:solidFill>
                  <a:schemeClr val="tx1"/>
                </a:solidFill>
                <a:latin typeface="+mn-lt"/>
                <a:ea typeface="黑体" pitchFamily="2" charset="-122"/>
              </a:defRPr>
            </a:lvl3pPr>
            <a:lvl4pPr marL="1600200" indent="-228600" algn="l" rtl="0" eaLnBrk="1" fontAlgn="base" hangingPunct="1">
              <a:spcBef>
                <a:spcPct val="20000"/>
              </a:spcBef>
              <a:spcAft>
                <a:spcPct val="0"/>
              </a:spcAft>
              <a:buClr>
                <a:schemeClr val="bg2"/>
              </a:buClr>
              <a:buSzPct val="65000"/>
              <a:buFont typeface="Wingdings" pitchFamily="2" charset="2"/>
              <a:buChar char="n"/>
              <a:defRPr sz="2000" b="1">
                <a:solidFill>
                  <a:schemeClr val="tx1"/>
                </a:solidFill>
                <a:latin typeface="+mn-lt"/>
                <a:ea typeface="黑体" pitchFamily="2" charset="-122"/>
              </a:defRPr>
            </a:lvl4pPr>
            <a:lvl5pPr marL="2057400" indent="-228600" algn="l" rtl="0" eaLnBrk="1" fontAlgn="base" hangingPunct="1">
              <a:spcBef>
                <a:spcPct val="20000"/>
              </a:spcBef>
              <a:spcAft>
                <a:spcPct val="0"/>
              </a:spcAft>
              <a:buClr>
                <a:srgbClr val="333399"/>
              </a:buClr>
              <a:buSzPct val="60000"/>
              <a:buFont typeface="Wingdings" panose="05000000000000000000" pitchFamily="2" charset="2"/>
              <a:buChar char="Ø"/>
              <a:defRPr sz="2000" b="1">
                <a:solidFill>
                  <a:schemeClr val="tx1"/>
                </a:solidFill>
                <a:latin typeface="+mn-lt"/>
                <a:ea typeface="黑体" pitchFamily="2" charset="-122"/>
              </a:defRPr>
            </a:lvl5pPr>
            <a:lvl6pPr marL="25146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defRPr>
            </a:lvl6pPr>
            <a:lvl7pPr marL="29718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defRPr>
            </a:lvl7pPr>
            <a:lvl8pPr marL="34290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defRPr>
            </a:lvl8pPr>
            <a:lvl9pPr marL="38862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defRPr>
            </a:lvl9pPr>
          </a:lstStyle>
          <a:p>
            <a:pPr marL="0" indent="0">
              <a:buNone/>
            </a:pPr>
            <a:r>
              <a:rPr lang="en-US" altLang="zh-CN" sz="2400" kern="0" dirty="0">
                <a:latin typeface="黑体" panose="02010609060101010101" pitchFamily="49" charset="-122"/>
                <a:ea typeface="黑体" panose="02010609060101010101" pitchFamily="49" charset="-122"/>
              </a:rPr>
              <a:t>1. </a:t>
            </a:r>
            <a:r>
              <a:rPr lang="zh-CN" altLang="en-US" sz="2400" kern="0" dirty="0">
                <a:latin typeface="黑体" panose="02010609060101010101" pitchFamily="49" charset="-122"/>
                <a:ea typeface="黑体" panose="02010609060101010101" pitchFamily="49" charset="-122"/>
              </a:rPr>
              <a:t>初始化</a:t>
            </a:r>
            <a:r>
              <a:rPr lang="en-US" altLang="zh-CN" sz="2400" kern="0" dirty="0">
                <a:latin typeface="黑体" panose="02010609060101010101" pitchFamily="49" charset="-122"/>
                <a:ea typeface="黑体" panose="02010609060101010101" pitchFamily="49" charset="-122"/>
              </a:rPr>
              <a:t>(</a:t>
            </a:r>
            <a:r>
              <a:rPr lang="zh-CN" altLang="en-US" sz="2400" kern="0" dirty="0">
                <a:latin typeface="黑体" panose="02010609060101010101" pitchFamily="49" charset="-122"/>
                <a:ea typeface="黑体" panose="02010609060101010101" pitchFamily="49" charset="-122"/>
              </a:rPr>
              <a:t>各个参数</a:t>
            </a:r>
            <a:r>
              <a:rPr lang="en-US" altLang="zh-CN" sz="2400" kern="0" dirty="0">
                <a:latin typeface="黑体" panose="02010609060101010101" pitchFamily="49" charset="-122"/>
                <a:ea typeface="黑体" panose="02010609060101010101" pitchFamily="49" charset="-122"/>
              </a:rPr>
              <a:t>):</a:t>
            </a:r>
          </a:p>
          <a:p>
            <a:pPr marL="0" indent="0">
              <a:buNone/>
            </a:pPr>
            <a:r>
              <a:rPr lang="zh-CN" altLang="en-US" sz="2400" b="0" kern="0" dirty="0">
                <a:latin typeface="黑体" panose="02010609060101010101" pitchFamily="49" charset="-122"/>
                <a:ea typeface="黑体" panose="02010609060101010101" pitchFamily="49" charset="-122"/>
              </a:rPr>
              <a:t>在计算之初需要对相关的参数进行初始化，如蚂蚁数量</a:t>
            </a:r>
            <a:r>
              <a:rPr lang="en-US" altLang="zh-CN" sz="2400" b="0" kern="0" dirty="0">
                <a:latin typeface="黑体" panose="02010609060101010101" pitchFamily="49" charset="-122"/>
                <a:ea typeface="黑体" panose="02010609060101010101" pitchFamily="49" charset="-122"/>
              </a:rPr>
              <a:t>m</a:t>
            </a:r>
            <a:r>
              <a:rPr lang="zh-CN" altLang="en-US" sz="2400" b="0" kern="0" dirty="0">
                <a:latin typeface="黑体" panose="02010609060101010101" pitchFamily="49" charset="-122"/>
                <a:ea typeface="黑体" panose="02010609060101010101" pitchFamily="49" charset="-122"/>
              </a:rPr>
              <a:t>、信息素因子</a:t>
            </a:r>
            <a:r>
              <a:rPr lang="el-GR" altLang="zh-CN" sz="2400" b="0" kern="0" dirty="0">
                <a:latin typeface="黑体" panose="02010609060101010101" pitchFamily="49" charset="-122"/>
                <a:ea typeface="黑体" panose="02010609060101010101" pitchFamily="49" charset="-122"/>
              </a:rPr>
              <a:t>α</a:t>
            </a:r>
            <a:r>
              <a:rPr lang="zh-CN" altLang="en-US" sz="2400" b="0" kern="0" dirty="0">
                <a:latin typeface="黑体" panose="02010609060101010101" pitchFamily="49" charset="-122"/>
                <a:ea typeface="黑体" panose="02010609060101010101" pitchFamily="49" charset="-122"/>
              </a:rPr>
              <a:t>、启发函数因子</a:t>
            </a:r>
            <a:r>
              <a:rPr lang="en-US" altLang="zh-CN" sz="2400" b="0" kern="0" dirty="0">
                <a:latin typeface="黑体" panose="02010609060101010101" pitchFamily="49" charset="-122"/>
                <a:ea typeface="黑体" panose="02010609060101010101" pitchFamily="49" charset="-122"/>
              </a:rPr>
              <a:t>β</a:t>
            </a:r>
            <a:r>
              <a:rPr lang="zh-CN" altLang="en-US" sz="2400" b="0" kern="0" dirty="0">
                <a:latin typeface="黑体" panose="02010609060101010101" pitchFamily="49" charset="-122"/>
                <a:ea typeface="黑体" panose="02010609060101010101" pitchFamily="49" charset="-122"/>
              </a:rPr>
              <a:t>、信息素挥发因子</a:t>
            </a:r>
            <a:r>
              <a:rPr lang="en-US" altLang="zh-CN" sz="2400" b="0" kern="0" dirty="0">
                <a:latin typeface="黑体" panose="02010609060101010101" pitchFamily="49" charset="-122"/>
                <a:ea typeface="黑体" panose="02010609060101010101" pitchFamily="49" charset="-122"/>
              </a:rPr>
              <a:t>ρ</a:t>
            </a:r>
            <a:r>
              <a:rPr lang="zh-CN" altLang="en-US" sz="2400" b="0" kern="0" dirty="0">
                <a:latin typeface="黑体" panose="02010609060101010101" pitchFamily="49" charset="-122"/>
                <a:ea typeface="黑体" panose="02010609060101010101" pitchFamily="49" charset="-122"/>
              </a:rPr>
              <a:t>、信息素常数</a:t>
            </a:r>
            <a:r>
              <a:rPr lang="en-US" altLang="zh-CN" sz="2400" b="0" kern="0" dirty="0">
                <a:latin typeface="黑体" panose="02010609060101010101" pitchFamily="49" charset="-122"/>
                <a:ea typeface="黑体" panose="02010609060101010101" pitchFamily="49" charset="-122"/>
              </a:rPr>
              <a:t>Q</a:t>
            </a:r>
            <a:r>
              <a:rPr lang="zh-CN" altLang="en-US" sz="2400" b="0" kern="0" dirty="0">
                <a:latin typeface="黑体" panose="02010609060101010101" pitchFamily="49" charset="-122"/>
                <a:ea typeface="黑体" panose="02010609060101010101" pitchFamily="49" charset="-122"/>
              </a:rPr>
              <a:t>、最大迭代次数</a:t>
            </a:r>
            <a:r>
              <a:rPr lang="en-US" altLang="zh-CN" sz="2400" b="0" kern="0" dirty="0">
                <a:latin typeface="黑体" panose="02010609060101010101" pitchFamily="49" charset="-122"/>
                <a:ea typeface="黑体" panose="02010609060101010101" pitchFamily="49" charset="-122"/>
              </a:rPr>
              <a:t>t</a:t>
            </a:r>
            <a:r>
              <a:rPr lang="zh-CN" altLang="en-US" sz="2400" b="0" kern="0" dirty="0">
                <a:latin typeface="黑体" panose="02010609060101010101" pitchFamily="49" charset="-122"/>
                <a:ea typeface="黑体" panose="02010609060101010101" pitchFamily="49" charset="-122"/>
              </a:rPr>
              <a:t>等等。</a:t>
            </a:r>
            <a:endParaRPr lang="en-US" altLang="zh-CN" sz="2400" kern="0" dirty="0">
              <a:solidFill>
                <a:schemeClr val="tx1">
                  <a:lumMod val="65000"/>
                  <a:lumOff val="35000"/>
                </a:schemeClr>
              </a:solidFill>
              <a:latin typeface="黑体" panose="02010609060101010101" pitchFamily="49" charset="-122"/>
              <a:ea typeface="黑体" panose="02010609060101010101" pitchFamily="49" charset="-122"/>
            </a:endParaRPr>
          </a:p>
          <a:p>
            <a:pPr marL="0" indent="0">
              <a:buNone/>
            </a:pPr>
            <a:endParaRPr lang="en-US" altLang="zh-CN" sz="2400" kern="0" dirty="0">
              <a:solidFill>
                <a:schemeClr val="tx1">
                  <a:lumMod val="65000"/>
                  <a:lumOff val="35000"/>
                </a:schemeClr>
              </a:solidFill>
              <a:latin typeface="黑体" panose="02010609060101010101" pitchFamily="49" charset="-122"/>
              <a:ea typeface="黑体" panose="02010609060101010101" pitchFamily="49" charset="-122"/>
            </a:endParaRPr>
          </a:p>
        </p:txBody>
      </p:sp>
      <p:sp>
        <p:nvSpPr>
          <p:cNvPr id="26" name="文本框 25">
            <a:extLst>
              <a:ext uri="{FF2B5EF4-FFF2-40B4-BE49-F238E27FC236}">
                <a16:creationId xmlns:a16="http://schemas.microsoft.com/office/drawing/2014/main" id="{0E64A4E8-F704-40B0-A7E8-14DA448F964B}"/>
              </a:ext>
            </a:extLst>
          </p:cNvPr>
          <p:cNvSpPr txBox="1"/>
          <p:nvPr/>
        </p:nvSpPr>
        <p:spPr>
          <a:xfrm>
            <a:off x="272481" y="2996952"/>
            <a:ext cx="9217023" cy="2677656"/>
          </a:xfrm>
          <a:prstGeom prst="rect">
            <a:avLst/>
          </a:prstGeom>
          <a:noFill/>
        </p:spPr>
        <p:txBody>
          <a:bodyPr wrap="square" rtlCol="0">
            <a:spAutoFit/>
          </a:bodyPr>
          <a:lstStyle/>
          <a:p>
            <a:pPr marL="342900" indent="-342900">
              <a:buFont typeface="Wingdings" panose="05000000000000000000" pitchFamily="2" charset="2"/>
              <a:buChar char="p"/>
            </a:pPr>
            <a:r>
              <a:rPr lang="zh-CN" altLang="en-US" sz="2400" dirty="0"/>
              <a:t>蚂蚁数量</a:t>
            </a:r>
            <a:r>
              <a:rPr lang="en-US" altLang="zh-CN" sz="2400" dirty="0"/>
              <a:t>m:</a:t>
            </a:r>
          </a:p>
          <a:p>
            <a:pPr marL="285750" indent="-285750">
              <a:buFont typeface="Arial" panose="020B0604020202020204" pitchFamily="34" charset="0"/>
              <a:buChar char="•"/>
            </a:pPr>
            <a:r>
              <a:rPr lang="zh-CN" altLang="en-US" sz="2400" dirty="0"/>
              <a:t>过大</a:t>
            </a:r>
            <a:r>
              <a:rPr lang="en-US" altLang="zh-CN" sz="2400" dirty="0"/>
              <a:t>——</a:t>
            </a:r>
            <a:r>
              <a:rPr lang="zh-CN" altLang="en-US" sz="2400" dirty="0"/>
              <a:t>每条路径上信息素趋于平均，正反馈作用减弱，从而导致收敛速度减慢</a:t>
            </a:r>
          </a:p>
          <a:p>
            <a:pPr marL="285750" indent="-285750">
              <a:buFont typeface="Arial" panose="020B0604020202020204" pitchFamily="34" charset="0"/>
              <a:buChar char="•"/>
            </a:pPr>
            <a:endParaRPr lang="en-US" altLang="zh-CN" sz="2400" dirty="0"/>
          </a:p>
          <a:p>
            <a:pPr marL="285750" indent="-285750">
              <a:buFont typeface="Arial" panose="020B0604020202020204" pitchFamily="34" charset="0"/>
              <a:buChar char="•"/>
            </a:pPr>
            <a:r>
              <a:rPr lang="zh-CN" altLang="en-US" sz="2400" dirty="0"/>
              <a:t>过小</a:t>
            </a:r>
            <a:r>
              <a:rPr lang="en-US" altLang="zh-CN" sz="2400" dirty="0"/>
              <a:t>——</a:t>
            </a:r>
            <a:r>
              <a:rPr lang="zh-CN" altLang="en-US" sz="2400" dirty="0"/>
              <a:t>可能导致一些从未搜索过的路径信息素浓度减小为</a:t>
            </a:r>
            <a:r>
              <a:rPr lang="en-US" altLang="zh-CN" sz="2400" dirty="0"/>
              <a:t>0</a:t>
            </a:r>
            <a:r>
              <a:rPr lang="zh-CN" altLang="en-US" sz="2400" dirty="0"/>
              <a:t>，导致过早收敛，解的全局最优性降低</a:t>
            </a:r>
          </a:p>
          <a:p>
            <a:pPr marL="285750" indent="-285750">
              <a:buFont typeface="Arial" panose="020B0604020202020204" pitchFamily="34" charset="0"/>
              <a:buChar char="•"/>
            </a:pPr>
            <a:endParaRPr lang="zh-CN" altLang="en-US" sz="2400" dirty="0"/>
          </a:p>
        </p:txBody>
      </p:sp>
      <p:sp>
        <p:nvSpPr>
          <p:cNvPr id="27" name="矩形 26">
            <a:extLst>
              <a:ext uri="{FF2B5EF4-FFF2-40B4-BE49-F238E27FC236}">
                <a16:creationId xmlns:a16="http://schemas.microsoft.com/office/drawing/2014/main" id="{350CEB86-0F6F-422F-B7E7-02CB214F287C}"/>
              </a:ext>
            </a:extLst>
          </p:cNvPr>
          <p:cNvSpPr/>
          <p:nvPr/>
        </p:nvSpPr>
        <p:spPr>
          <a:xfrm>
            <a:off x="1645099" y="5502423"/>
            <a:ext cx="6545382" cy="461665"/>
          </a:xfrm>
          <a:prstGeom prst="rect">
            <a:avLst/>
          </a:prstGeom>
          <a:solidFill>
            <a:srgbClr val="FFFF00"/>
          </a:solidFill>
          <a:ln>
            <a:solidFill>
              <a:schemeClr val="tx1"/>
            </a:solidFill>
          </a:ln>
        </p:spPr>
        <p:txBody>
          <a:bodyPr wrap="none">
            <a:spAutoFit/>
          </a:bodyPr>
          <a:lstStyle/>
          <a:p>
            <a:r>
              <a:rPr lang="zh-CN" altLang="en-US" sz="2400" dirty="0">
                <a:solidFill>
                  <a:srgbClr val="C00000"/>
                </a:solidFill>
              </a:rPr>
              <a:t>蚂蚁数量一般设置为目标数的</a:t>
            </a:r>
            <a:r>
              <a:rPr lang="en-US" altLang="zh-CN" sz="2400" dirty="0">
                <a:solidFill>
                  <a:srgbClr val="C00000"/>
                </a:solidFill>
              </a:rPr>
              <a:t>1.5</a:t>
            </a:r>
            <a:r>
              <a:rPr lang="zh-CN" altLang="en-US" sz="2400" dirty="0">
                <a:solidFill>
                  <a:srgbClr val="C00000"/>
                </a:solidFill>
              </a:rPr>
              <a:t>倍较为稳妥。 </a:t>
            </a:r>
          </a:p>
        </p:txBody>
      </p:sp>
    </p:spTree>
    <p:extLst>
      <p:ext uri="{BB962C8B-B14F-4D97-AF65-F5344CB8AC3E}">
        <p14:creationId xmlns:p14="http://schemas.microsoft.com/office/powerpoint/2010/main" val="49499204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4" fill="hold" nodeType="with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animEffect transition="in" filter="wipe(down)">
                                      <p:cBhvr>
                                        <p:cTn id="7" dur="500"/>
                                        <p:tgtEl>
                                          <p:spTgt spid="6">
                                            <p:txEl>
                                              <p:pRg st="0" end="0"/>
                                            </p:txEl>
                                          </p:spTgt>
                                        </p:tgtEl>
                                      </p:cBhvr>
                                    </p:animEffect>
                                  </p:childTnLst>
                                </p:cTn>
                              </p:par>
                              <p:par>
                                <p:cTn id="8" presetID="22" presetClass="entr" presetSubtype="4" fill="hold" nodeType="withEffect">
                                  <p:stCondLst>
                                    <p:cond delay="0"/>
                                  </p:stCondLst>
                                  <p:childTnLst>
                                    <p:set>
                                      <p:cBhvr>
                                        <p:cTn id="9" dur="1" fill="hold">
                                          <p:stCondLst>
                                            <p:cond delay="0"/>
                                          </p:stCondLst>
                                        </p:cTn>
                                        <p:tgtEl>
                                          <p:spTgt spid="6">
                                            <p:txEl>
                                              <p:pRg st="1" end="1"/>
                                            </p:txEl>
                                          </p:spTgt>
                                        </p:tgtEl>
                                        <p:attrNameLst>
                                          <p:attrName>style.visibility</p:attrName>
                                        </p:attrNameLst>
                                      </p:cBhvr>
                                      <p:to>
                                        <p:strVal val="visible"/>
                                      </p:to>
                                    </p:set>
                                    <p:animEffect transition="in" filter="wipe(down)">
                                      <p:cBhvr>
                                        <p:cTn id="10" dur="500"/>
                                        <p:tgtEl>
                                          <p:spTgt spid="6">
                                            <p:txEl>
                                              <p:pRg st="1" end="1"/>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22" presetClass="entr" presetSubtype="4" fill="hold" grpId="0" nodeType="clickEffect">
                                  <p:stCondLst>
                                    <p:cond delay="0"/>
                                  </p:stCondLst>
                                  <p:childTnLst>
                                    <p:set>
                                      <p:cBhvr>
                                        <p:cTn id="14" dur="1" fill="hold">
                                          <p:stCondLst>
                                            <p:cond delay="0"/>
                                          </p:stCondLst>
                                        </p:cTn>
                                        <p:tgtEl>
                                          <p:spTgt spid="26"/>
                                        </p:tgtEl>
                                        <p:attrNameLst>
                                          <p:attrName>style.visibility</p:attrName>
                                        </p:attrNameLst>
                                      </p:cBhvr>
                                      <p:to>
                                        <p:strVal val="visible"/>
                                      </p:to>
                                    </p:set>
                                    <p:animEffect transition="in" filter="wipe(down)">
                                      <p:cBhvr>
                                        <p:cTn id="15" dur="500"/>
                                        <p:tgtEl>
                                          <p:spTgt spid="26"/>
                                        </p:tgtEl>
                                      </p:cBhvr>
                                    </p:animEffect>
                                  </p:childTnLst>
                                </p:cTn>
                              </p:par>
                            </p:childTnLst>
                          </p:cTn>
                        </p:par>
                        <p:par>
                          <p:cTn id="16" fill="hold">
                            <p:stCondLst>
                              <p:cond delay="500"/>
                            </p:stCondLst>
                            <p:childTnLst>
                              <p:par>
                                <p:cTn id="17" presetID="22" presetClass="entr" presetSubtype="4" fill="hold" grpId="0" nodeType="afterEffect">
                                  <p:stCondLst>
                                    <p:cond delay="0"/>
                                  </p:stCondLst>
                                  <p:childTnLst>
                                    <p:set>
                                      <p:cBhvr>
                                        <p:cTn id="18" dur="1" fill="hold">
                                          <p:stCondLst>
                                            <p:cond delay="0"/>
                                          </p:stCondLst>
                                        </p:cTn>
                                        <p:tgtEl>
                                          <p:spTgt spid="27"/>
                                        </p:tgtEl>
                                        <p:attrNameLst>
                                          <p:attrName>style.visibility</p:attrName>
                                        </p:attrNameLst>
                                      </p:cBhvr>
                                      <p:to>
                                        <p:strVal val="visible"/>
                                      </p:to>
                                    </p:set>
                                    <p:animEffect transition="in" filter="wipe(down)">
                                      <p:cBhvr>
                                        <p:cTn id="19" dur="500"/>
                                        <p:tgtEl>
                                          <p:spTgt spid="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 grpId="0"/>
      <p:bldP spid="27" grpId="0" animBg="1"/>
    </p:bld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946EA79-1C8A-4E46-A08C-22BEC975A93F}"/>
              </a:ext>
            </a:extLst>
          </p:cNvPr>
          <p:cNvSpPr>
            <a:spLocks noGrp="1"/>
          </p:cNvSpPr>
          <p:nvPr>
            <p:ph type="title"/>
          </p:nvPr>
        </p:nvSpPr>
        <p:spPr/>
        <p:txBody>
          <a:bodyPr/>
          <a:lstStyle/>
          <a:p>
            <a:r>
              <a:rPr lang="zh-CN" altLang="en-US" dirty="0"/>
              <a:t>蚁群算法流程</a:t>
            </a:r>
          </a:p>
        </p:txBody>
      </p:sp>
      <p:sp>
        <p:nvSpPr>
          <p:cNvPr id="4" name="日期占位符 3">
            <a:extLst>
              <a:ext uri="{FF2B5EF4-FFF2-40B4-BE49-F238E27FC236}">
                <a16:creationId xmlns:a16="http://schemas.microsoft.com/office/drawing/2014/main" id="{EACBE9B2-1C09-4A27-B89B-923947BEFDEB}"/>
              </a:ext>
            </a:extLst>
          </p:cNvPr>
          <p:cNvSpPr>
            <a:spLocks noGrp="1"/>
          </p:cNvSpPr>
          <p:nvPr>
            <p:ph type="dt" sz="half" idx="10"/>
          </p:nvPr>
        </p:nvSpPr>
        <p:spPr/>
        <p:txBody>
          <a:bodyPr/>
          <a:lstStyle/>
          <a:p>
            <a:fld id="{A8B06C41-1E1E-4B9B-9644-5AFB8CB2AB3B}" type="datetime3">
              <a:rPr lang="zh-CN" altLang="en-US" smtClean="0"/>
              <a:t>2022年11月24日星期四</a:t>
            </a:fld>
            <a:endParaRPr lang="en-US" altLang="zh-CN" dirty="0"/>
          </a:p>
        </p:txBody>
      </p:sp>
      <p:sp>
        <p:nvSpPr>
          <p:cNvPr id="5" name="灯片编号占位符 4">
            <a:extLst>
              <a:ext uri="{FF2B5EF4-FFF2-40B4-BE49-F238E27FC236}">
                <a16:creationId xmlns:a16="http://schemas.microsoft.com/office/drawing/2014/main" id="{BB719D07-C23B-4210-A855-B215712CBF97}"/>
              </a:ext>
            </a:extLst>
          </p:cNvPr>
          <p:cNvSpPr>
            <a:spLocks noGrp="1"/>
          </p:cNvSpPr>
          <p:nvPr>
            <p:ph type="sldNum" sz="quarter" idx="12"/>
          </p:nvPr>
        </p:nvSpPr>
        <p:spPr/>
        <p:txBody>
          <a:bodyPr/>
          <a:lstStyle/>
          <a:p>
            <a:fld id="{7AC79822-BC0D-4DE8-A7E5-90A3732A2B82}" type="slidenum">
              <a:rPr lang="zh-CN" altLang="en-US" smtClean="0"/>
              <a:pPr/>
              <a:t>43</a:t>
            </a:fld>
            <a:endParaRPr lang="en-US" altLang="zh-CN" dirty="0"/>
          </a:p>
        </p:txBody>
      </p:sp>
      <p:sp>
        <p:nvSpPr>
          <p:cNvPr id="6" name="文本占位符 3">
            <a:extLst>
              <a:ext uri="{FF2B5EF4-FFF2-40B4-BE49-F238E27FC236}">
                <a16:creationId xmlns:a16="http://schemas.microsoft.com/office/drawing/2014/main" id="{92A9DCC9-4169-4B45-A6AF-0C50C5626711}"/>
              </a:ext>
            </a:extLst>
          </p:cNvPr>
          <p:cNvSpPr txBox="1">
            <a:spLocks/>
          </p:cNvSpPr>
          <p:nvPr/>
        </p:nvSpPr>
        <p:spPr>
          <a:xfrm>
            <a:off x="128464" y="1124744"/>
            <a:ext cx="7857628" cy="1702338"/>
          </a:xfrm>
          <a:prstGeom prst="rect">
            <a:avLst/>
          </a:prstGeom>
        </p:spPr>
        <p:txBody>
          <a:bodyPr/>
          <a:lstStyle>
            <a:lvl1pPr marL="342900" indent="-342900" algn="l" rtl="0" eaLnBrk="1" fontAlgn="base" hangingPunct="1">
              <a:spcBef>
                <a:spcPct val="20000"/>
              </a:spcBef>
              <a:spcAft>
                <a:spcPct val="0"/>
              </a:spcAft>
              <a:buClr>
                <a:srgbClr val="333399"/>
              </a:buClr>
              <a:buSzPct val="75000"/>
              <a:buFont typeface="Wingdings" panose="05000000000000000000" pitchFamily="2" charset="2"/>
              <a:buChar char=""/>
              <a:defRPr sz="3200" b="1">
                <a:solidFill>
                  <a:schemeClr val="tx1"/>
                </a:solidFill>
                <a:latin typeface="+mn-lt"/>
                <a:ea typeface="黑体" pitchFamily="2" charset="-122"/>
                <a:cs typeface="+mn-cs"/>
              </a:defRPr>
            </a:lvl1pPr>
            <a:lvl2pPr marL="742950" indent="-285750" algn="l" rtl="0" eaLnBrk="1" fontAlgn="base" hangingPunct="1">
              <a:spcBef>
                <a:spcPct val="20000"/>
              </a:spcBef>
              <a:spcAft>
                <a:spcPct val="0"/>
              </a:spcAft>
              <a:buClr>
                <a:schemeClr val="accent2"/>
              </a:buClr>
              <a:buSzPct val="70000"/>
              <a:buFont typeface="Wingdings" panose="05000000000000000000" pitchFamily="2" charset="2"/>
              <a:buChar char=""/>
              <a:defRPr sz="2800" b="1">
                <a:solidFill>
                  <a:schemeClr val="tx1"/>
                </a:solidFill>
                <a:latin typeface="+mn-lt"/>
                <a:ea typeface="黑体" pitchFamily="2" charset="-122"/>
              </a:defRPr>
            </a:lvl2pPr>
            <a:lvl3pPr marL="1143000" indent="-228600" algn="l" rtl="0" eaLnBrk="1" fontAlgn="base" hangingPunct="1">
              <a:spcBef>
                <a:spcPct val="20000"/>
              </a:spcBef>
              <a:spcAft>
                <a:spcPct val="0"/>
              </a:spcAft>
              <a:buClr>
                <a:srgbClr val="333399"/>
              </a:buClr>
              <a:buSzPct val="65000"/>
              <a:buFont typeface="Wingdings" panose="05000000000000000000" pitchFamily="2" charset="2"/>
              <a:buChar char=""/>
              <a:defRPr sz="2400" b="1">
                <a:solidFill>
                  <a:schemeClr val="tx1"/>
                </a:solidFill>
                <a:latin typeface="+mn-lt"/>
                <a:ea typeface="黑体" pitchFamily="2" charset="-122"/>
              </a:defRPr>
            </a:lvl3pPr>
            <a:lvl4pPr marL="1600200" indent="-228600" algn="l" rtl="0" eaLnBrk="1" fontAlgn="base" hangingPunct="1">
              <a:spcBef>
                <a:spcPct val="20000"/>
              </a:spcBef>
              <a:spcAft>
                <a:spcPct val="0"/>
              </a:spcAft>
              <a:buClr>
                <a:schemeClr val="bg2"/>
              </a:buClr>
              <a:buSzPct val="65000"/>
              <a:buFont typeface="Wingdings" pitchFamily="2" charset="2"/>
              <a:buChar char="n"/>
              <a:defRPr sz="2000" b="1">
                <a:solidFill>
                  <a:schemeClr val="tx1"/>
                </a:solidFill>
                <a:latin typeface="+mn-lt"/>
                <a:ea typeface="黑体" pitchFamily="2" charset="-122"/>
              </a:defRPr>
            </a:lvl4pPr>
            <a:lvl5pPr marL="2057400" indent="-228600" algn="l" rtl="0" eaLnBrk="1" fontAlgn="base" hangingPunct="1">
              <a:spcBef>
                <a:spcPct val="20000"/>
              </a:spcBef>
              <a:spcAft>
                <a:spcPct val="0"/>
              </a:spcAft>
              <a:buClr>
                <a:srgbClr val="333399"/>
              </a:buClr>
              <a:buSzPct val="60000"/>
              <a:buFont typeface="Wingdings" panose="05000000000000000000" pitchFamily="2" charset="2"/>
              <a:buChar char="Ø"/>
              <a:defRPr sz="2000" b="1">
                <a:solidFill>
                  <a:schemeClr val="tx1"/>
                </a:solidFill>
                <a:latin typeface="+mn-lt"/>
                <a:ea typeface="黑体" pitchFamily="2" charset="-122"/>
              </a:defRPr>
            </a:lvl5pPr>
            <a:lvl6pPr marL="25146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defRPr>
            </a:lvl6pPr>
            <a:lvl7pPr marL="29718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defRPr>
            </a:lvl7pPr>
            <a:lvl8pPr marL="34290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defRPr>
            </a:lvl8pPr>
            <a:lvl9pPr marL="38862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defRPr>
            </a:lvl9pPr>
          </a:lstStyle>
          <a:p>
            <a:pPr marL="0" indent="0">
              <a:buNone/>
            </a:pPr>
            <a:r>
              <a:rPr lang="en-US" altLang="zh-CN" sz="2400" kern="0" dirty="0">
                <a:latin typeface="黑体" panose="02010609060101010101" pitchFamily="49" charset="-122"/>
                <a:ea typeface="黑体" panose="02010609060101010101" pitchFamily="49" charset="-122"/>
              </a:rPr>
              <a:t>1. </a:t>
            </a:r>
            <a:r>
              <a:rPr lang="zh-CN" altLang="en-US" sz="2400" kern="0" dirty="0">
                <a:latin typeface="黑体" panose="02010609060101010101" pitchFamily="49" charset="-122"/>
                <a:ea typeface="黑体" panose="02010609060101010101" pitchFamily="49" charset="-122"/>
              </a:rPr>
              <a:t>初始化</a:t>
            </a:r>
            <a:r>
              <a:rPr lang="en-US" altLang="zh-CN" sz="2400" kern="0" dirty="0">
                <a:latin typeface="黑体" panose="02010609060101010101" pitchFamily="49" charset="-122"/>
                <a:ea typeface="黑体" panose="02010609060101010101" pitchFamily="49" charset="-122"/>
              </a:rPr>
              <a:t>(</a:t>
            </a:r>
            <a:r>
              <a:rPr lang="zh-CN" altLang="en-US" sz="2400" kern="0" dirty="0">
                <a:latin typeface="黑体" panose="02010609060101010101" pitchFamily="49" charset="-122"/>
                <a:ea typeface="黑体" panose="02010609060101010101" pitchFamily="49" charset="-122"/>
              </a:rPr>
              <a:t>各个参数</a:t>
            </a:r>
            <a:r>
              <a:rPr lang="en-US" altLang="zh-CN" sz="2400" kern="0" dirty="0">
                <a:latin typeface="黑体" panose="02010609060101010101" pitchFamily="49" charset="-122"/>
                <a:ea typeface="黑体" panose="02010609060101010101" pitchFamily="49" charset="-122"/>
              </a:rPr>
              <a:t>):</a:t>
            </a:r>
          </a:p>
          <a:p>
            <a:pPr marL="0" indent="0">
              <a:buNone/>
            </a:pPr>
            <a:r>
              <a:rPr lang="zh-CN" altLang="en-US" sz="2400" b="0" kern="0" dirty="0">
                <a:latin typeface="黑体" panose="02010609060101010101" pitchFamily="49" charset="-122"/>
                <a:ea typeface="黑体" panose="02010609060101010101" pitchFamily="49" charset="-122"/>
              </a:rPr>
              <a:t>在计算之初需要对相关的参数进行初始化，如蚂蚁数量</a:t>
            </a:r>
            <a:r>
              <a:rPr lang="en-US" altLang="zh-CN" sz="2400" b="0" kern="0" dirty="0">
                <a:latin typeface="黑体" panose="02010609060101010101" pitchFamily="49" charset="-122"/>
                <a:ea typeface="黑体" panose="02010609060101010101" pitchFamily="49" charset="-122"/>
              </a:rPr>
              <a:t>m</a:t>
            </a:r>
            <a:r>
              <a:rPr lang="zh-CN" altLang="en-US" sz="2400" b="0" kern="0" dirty="0">
                <a:latin typeface="黑体" panose="02010609060101010101" pitchFamily="49" charset="-122"/>
                <a:ea typeface="黑体" panose="02010609060101010101" pitchFamily="49" charset="-122"/>
              </a:rPr>
              <a:t>、信息素因子</a:t>
            </a:r>
            <a:r>
              <a:rPr lang="el-GR" altLang="zh-CN" sz="2400" b="0" kern="0" dirty="0">
                <a:latin typeface="黑体" panose="02010609060101010101" pitchFamily="49" charset="-122"/>
                <a:ea typeface="黑体" panose="02010609060101010101" pitchFamily="49" charset="-122"/>
              </a:rPr>
              <a:t>α</a:t>
            </a:r>
            <a:r>
              <a:rPr lang="zh-CN" altLang="en-US" sz="2400" b="0" kern="0" dirty="0">
                <a:latin typeface="黑体" panose="02010609060101010101" pitchFamily="49" charset="-122"/>
                <a:ea typeface="黑体" panose="02010609060101010101" pitchFamily="49" charset="-122"/>
              </a:rPr>
              <a:t>、启发函数因子</a:t>
            </a:r>
            <a:r>
              <a:rPr lang="en-US" altLang="zh-CN" sz="2400" b="0" kern="0" dirty="0">
                <a:latin typeface="黑体" panose="02010609060101010101" pitchFamily="49" charset="-122"/>
                <a:ea typeface="黑体" panose="02010609060101010101" pitchFamily="49" charset="-122"/>
              </a:rPr>
              <a:t>β</a:t>
            </a:r>
            <a:r>
              <a:rPr lang="zh-CN" altLang="en-US" sz="2400" b="0" kern="0" dirty="0">
                <a:latin typeface="黑体" panose="02010609060101010101" pitchFamily="49" charset="-122"/>
                <a:ea typeface="黑体" panose="02010609060101010101" pitchFamily="49" charset="-122"/>
              </a:rPr>
              <a:t>、信息素挥发因子</a:t>
            </a:r>
            <a:r>
              <a:rPr lang="en-US" altLang="zh-CN" sz="2400" b="0" kern="0" dirty="0">
                <a:latin typeface="黑体" panose="02010609060101010101" pitchFamily="49" charset="-122"/>
                <a:ea typeface="黑体" panose="02010609060101010101" pitchFamily="49" charset="-122"/>
              </a:rPr>
              <a:t>ρ</a:t>
            </a:r>
            <a:r>
              <a:rPr lang="zh-CN" altLang="en-US" sz="2400" b="0" kern="0" dirty="0">
                <a:latin typeface="黑体" panose="02010609060101010101" pitchFamily="49" charset="-122"/>
                <a:ea typeface="黑体" panose="02010609060101010101" pitchFamily="49" charset="-122"/>
              </a:rPr>
              <a:t>、信息素常数</a:t>
            </a:r>
            <a:r>
              <a:rPr lang="en-US" altLang="zh-CN" sz="2400" b="0" kern="0" dirty="0">
                <a:latin typeface="黑体" panose="02010609060101010101" pitchFamily="49" charset="-122"/>
                <a:ea typeface="黑体" panose="02010609060101010101" pitchFamily="49" charset="-122"/>
              </a:rPr>
              <a:t>Q</a:t>
            </a:r>
            <a:r>
              <a:rPr lang="zh-CN" altLang="en-US" sz="2400" b="0" kern="0" dirty="0">
                <a:latin typeface="黑体" panose="02010609060101010101" pitchFamily="49" charset="-122"/>
                <a:ea typeface="黑体" panose="02010609060101010101" pitchFamily="49" charset="-122"/>
              </a:rPr>
              <a:t>、最大迭代次数</a:t>
            </a:r>
            <a:r>
              <a:rPr lang="en-US" altLang="zh-CN" sz="2400" b="0" kern="0" dirty="0">
                <a:latin typeface="黑体" panose="02010609060101010101" pitchFamily="49" charset="-122"/>
                <a:ea typeface="黑体" panose="02010609060101010101" pitchFamily="49" charset="-122"/>
              </a:rPr>
              <a:t>t</a:t>
            </a:r>
            <a:r>
              <a:rPr lang="zh-CN" altLang="en-US" sz="2400" b="0" kern="0" dirty="0">
                <a:latin typeface="黑体" panose="02010609060101010101" pitchFamily="49" charset="-122"/>
                <a:ea typeface="黑体" panose="02010609060101010101" pitchFamily="49" charset="-122"/>
              </a:rPr>
              <a:t>等等。</a:t>
            </a:r>
            <a:endParaRPr lang="en-US" altLang="zh-CN" sz="2400" kern="0" dirty="0">
              <a:solidFill>
                <a:schemeClr val="tx1">
                  <a:lumMod val="65000"/>
                  <a:lumOff val="35000"/>
                </a:schemeClr>
              </a:solidFill>
              <a:latin typeface="黑体" panose="02010609060101010101" pitchFamily="49" charset="-122"/>
              <a:ea typeface="黑体" panose="02010609060101010101" pitchFamily="49" charset="-122"/>
            </a:endParaRPr>
          </a:p>
          <a:p>
            <a:pPr marL="0" indent="0">
              <a:buNone/>
            </a:pPr>
            <a:endParaRPr lang="en-US" altLang="zh-CN" sz="2400" kern="0" dirty="0">
              <a:solidFill>
                <a:schemeClr val="tx1">
                  <a:lumMod val="65000"/>
                  <a:lumOff val="35000"/>
                </a:schemeClr>
              </a:solidFill>
              <a:latin typeface="黑体" panose="02010609060101010101" pitchFamily="49" charset="-122"/>
              <a:ea typeface="黑体" panose="02010609060101010101" pitchFamily="49" charset="-122"/>
            </a:endParaRPr>
          </a:p>
        </p:txBody>
      </p:sp>
      <p:sp>
        <p:nvSpPr>
          <p:cNvPr id="26" name="文本框 25">
            <a:extLst>
              <a:ext uri="{FF2B5EF4-FFF2-40B4-BE49-F238E27FC236}">
                <a16:creationId xmlns:a16="http://schemas.microsoft.com/office/drawing/2014/main" id="{0E64A4E8-F704-40B0-A7E8-14DA448F964B}"/>
              </a:ext>
            </a:extLst>
          </p:cNvPr>
          <p:cNvSpPr txBox="1"/>
          <p:nvPr/>
        </p:nvSpPr>
        <p:spPr>
          <a:xfrm>
            <a:off x="272481" y="2996952"/>
            <a:ext cx="9217023" cy="2677656"/>
          </a:xfrm>
          <a:prstGeom prst="rect">
            <a:avLst/>
          </a:prstGeom>
          <a:noFill/>
        </p:spPr>
        <p:txBody>
          <a:bodyPr wrap="square" rtlCol="0">
            <a:spAutoFit/>
          </a:bodyPr>
          <a:lstStyle/>
          <a:p>
            <a:pPr marL="342900" indent="-342900">
              <a:buFont typeface="Wingdings" panose="05000000000000000000" pitchFamily="2" charset="2"/>
              <a:buChar char="p"/>
            </a:pPr>
            <a:r>
              <a:rPr lang="zh-CN" altLang="en-US" sz="2400" dirty="0"/>
              <a:t>信息素常量</a:t>
            </a:r>
            <a:r>
              <a:rPr lang="en-US" altLang="zh-CN" sz="2400" dirty="0"/>
              <a:t>Q:</a:t>
            </a:r>
          </a:p>
          <a:p>
            <a:pPr marL="285750" indent="-285750">
              <a:buFont typeface="Arial" panose="020B0604020202020204" pitchFamily="34" charset="0"/>
              <a:buChar char="•"/>
            </a:pPr>
            <a:r>
              <a:rPr lang="zh-CN" altLang="en-US" sz="2400" dirty="0"/>
              <a:t>过大</a:t>
            </a:r>
            <a:r>
              <a:rPr lang="en-US" altLang="zh-CN" sz="2400" dirty="0"/>
              <a:t>——</a:t>
            </a:r>
            <a:r>
              <a:rPr lang="zh-CN" altLang="en-US" sz="2400" dirty="0"/>
              <a:t>会使蚁群的搜索范围减小容易过早的收敛，使种群陷入局部最优。</a:t>
            </a:r>
          </a:p>
          <a:p>
            <a:pPr marL="285750" indent="-285750">
              <a:buFont typeface="Arial" panose="020B0604020202020204" pitchFamily="34" charset="0"/>
              <a:buChar char="•"/>
            </a:pPr>
            <a:endParaRPr lang="en-US" altLang="zh-CN" sz="2400" dirty="0"/>
          </a:p>
          <a:p>
            <a:pPr marL="285750" indent="-285750">
              <a:buFont typeface="Arial" panose="020B0604020202020204" pitchFamily="34" charset="0"/>
              <a:buChar char="•"/>
            </a:pPr>
            <a:r>
              <a:rPr lang="zh-CN" altLang="en-US" sz="2400" dirty="0"/>
              <a:t>过小</a:t>
            </a:r>
            <a:r>
              <a:rPr lang="en-US" altLang="zh-CN" sz="2400" dirty="0"/>
              <a:t>——</a:t>
            </a:r>
            <a:r>
              <a:rPr lang="zh-CN" altLang="en-US" sz="2400" dirty="0"/>
              <a:t>每条路径上信息含量差别较小，容易陷入混沌状态</a:t>
            </a:r>
          </a:p>
          <a:p>
            <a:pPr marL="285750" indent="-285750">
              <a:buFont typeface="Arial" panose="020B0604020202020204" pitchFamily="34" charset="0"/>
              <a:buChar char="•"/>
            </a:pPr>
            <a:endParaRPr lang="zh-CN" altLang="en-US" sz="2400" dirty="0"/>
          </a:p>
          <a:p>
            <a:pPr marL="285750" indent="-285750">
              <a:buFont typeface="Arial" panose="020B0604020202020204" pitchFamily="34" charset="0"/>
              <a:buChar char="•"/>
            </a:pPr>
            <a:endParaRPr lang="zh-CN" altLang="en-US" sz="2400" dirty="0"/>
          </a:p>
        </p:txBody>
      </p:sp>
      <p:sp>
        <p:nvSpPr>
          <p:cNvPr id="3" name="矩形 2">
            <a:extLst>
              <a:ext uri="{FF2B5EF4-FFF2-40B4-BE49-F238E27FC236}">
                <a16:creationId xmlns:a16="http://schemas.microsoft.com/office/drawing/2014/main" id="{BC5A2E2C-9822-44DB-8BC8-4F5FE5848429}"/>
              </a:ext>
            </a:extLst>
          </p:cNvPr>
          <p:cNvSpPr/>
          <p:nvPr/>
        </p:nvSpPr>
        <p:spPr>
          <a:xfrm>
            <a:off x="1496616" y="5212943"/>
            <a:ext cx="6048672" cy="461665"/>
          </a:xfrm>
          <a:prstGeom prst="rect">
            <a:avLst/>
          </a:prstGeom>
          <a:solidFill>
            <a:srgbClr val="FFFF00"/>
          </a:solidFill>
          <a:ln>
            <a:solidFill>
              <a:schemeClr val="tx1"/>
            </a:solidFill>
          </a:ln>
        </p:spPr>
        <p:txBody>
          <a:bodyPr wrap="square">
            <a:spAutoFit/>
          </a:bodyPr>
          <a:lstStyle/>
          <a:p>
            <a:r>
              <a:rPr lang="zh-CN" altLang="en-US" sz="2400" dirty="0">
                <a:solidFill>
                  <a:srgbClr val="C00000"/>
                </a:solidFill>
              </a:rPr>
              <a:t>信息素常量根据经验一般取值在</a:t>
            </a:r>
            <a:r>
              <a:rPr lang="en-US" altLang="zh-CN" sz="2400" dirty="0">
                <a:solidFill>
                  <a:srgbClr val="C00000"/>
                </a:solidFill>
              </a:rPr>
              <a:t>[10,1000]</a:t>
            </a:r>
            <a:r>
              <a:rPr lang="zh-CN" altLang="en-US" sz="2400" dirty="0">
                <a:solidFill>
                  <a:srgbClr val="C00000"/>
                </a:solidFill>
              </a:rPr>
              <a:t>。</a:t>
            </a:r>
            <a:endParaRPr lang="en-US" altLang="zh-CN" sz="2400" dirty="0">
              <a:solidFill>
                <a:srgbClr val="C00000"/>
              </a:solidFill>
            </a:endParaRPr>
          </a:p>
        </p:txBody>
      </p:sp>
    </p:spTree>
    <p:extLst>
      <p:ext uri="{BB962C8B-B14F-4D97-AF65-F5344CB8AC3E}">
        <p14:creationId xmlns:p14="http://schemas.microsoft.com/office/powerpoint/2010/main" val="377908115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6" presetClass="entr" presetSubtype="21" fill="hold" grpId="0" nodeType="withEffect">
                                  <p:stCondLst>
                                    <p:cond delay="0"/>
                                  </p:stCondLst>
                                  <p:childTnLst>
                                    <p:set>
                                      <p:cBhvr>
                                        <p:cTn id="6" dur="1" fill="hold">
                                          <p:stCondLst>
                                            <p:cond delay="0"/>
                                          </p:stCondLst>
                                        </p:cTn>
                                        <p:tgtEl>
                                          <p:spTgt spid="26"/>
                                        </p:tgtEl>
                                        <p:attrNameLst>
                                          <p:attrName>style.visibility</p:attrName>
                                        </p:attrNameLst>
                                      </p:cBhvr>
                                      <p:to>
                                        <p:strVal val="visible"/>
                                      </p:to>
                                    </p:set>
                                    <p:animEffect transition="in" filter="barn(inVertical)">
                                      <p:cBhvr>
                                        <p:cTn id="7" dur="500"/>
                                        <p:tgtEl>
                                          <p:spTgt spid="26"/>
                                        </p:tgtEl>
                                      </p:cBhvr>
                                    </p:animEffect>
                                  </p:childTnLst>
                                </p:cTn>
                              </p:par>
                            </p:childTnLst>
                          </p:cTn>
                        </p:par>
                        <p:par>
                          <p:cTn id="8" fill="hold">
                            <p:stCondLst>
                              <p:cond delay="500"/>
                            </p:stCondLst>
                            <p:childTnLst>
                              <p:par>
                                <p:cTn id="9" presetID="22" presetClass="entr" presetSubtype="4" fill="hold" grpId="0" nodeType="afterEffect">
                                  <p:stCondLst>
                                    <p:cond delay="0"/>
                                  </p:stCondLst>
                                  <p:childTnLst>
                                    <p:set>
                                      <p:cBhvr>
                                        <p:cTn id="10" dur="1" fill="hold">
                                          <p:stCondLst>
                                            <p:cond delay="0"/>
                                          </p:stCondLst>
                                        </p:cTn>
                                        <p:tgtEl>
                                          <p:spTgt spid="3"/>
                                        </p:tgtEl>
                                        <p:attrNameLst>
                                          <p:attrName>style.visibility</p:attrName>
                                        </p:attrNameLst>
                                      </p:cBhvr>
                                      <p:to>
                                        <p:strVal val="visible"/>
                                      </p:to>
                                    </p:set>
                                    <p:animEffect transition="in" filter="wipe(down)">
                                      <p:cBhvr>
                                        <p:cTn id="11"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 grpId="0"/>
      <p:bldP spid="3" grpId="0" animBg="1"/>
    </p:bld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946EA79-1C8A-4E46-A08C-22BEC975A93F}"/>
              </a:ext>
            </a:extLst>
          </p:cNvPr>
          <p:cNvSpPr>
            <a:spLocks noGrp="1"/>
          </p:cNvSpPr>
          <p:nvPr>
            <p:ph type="title"/>
          </p:nvPr>
        </p:nvSpPr>
        <p:spPr/>
        <p:txBody>
          <a:bodyPr/>
          <a:lstStyle/>
          <a:p>
            <a:r>
              <a:rPr lang="zh-CN" altLang="en-US" dirty="0"/>
              <a:t>蚁群算法流程</a:t>
            </a:r>
          </a:p>
        </p:txBody>
      </p:sp>
      <p:sp>
        <p:nvSpPr>
          <p:cNvPr id="4" name="日期占位符 3">
            <a:extLst>
              <a:ext uri="{FF2B5EF4-FFF2-40B4-BE49-F238E27FC236}">
                <a16:creationId xmlns:a16="http://schemas.microsoft.com/office/drawing/2014/main" id="{EACBE9B2-1C09-4A27-B89B-923947BEFDEB}"/>
              </a:ext>
            </a:extLst>
          </p:cNvPr>
          <p:cNvSpPr>
            <a:spLocks noGrp="1"/>
          </p:cNvSpPr>
          <p:nvPr>
            <p:ph type="dt" sz="half" idx="10"/>
          </p:nvPr>
        </p:nvSpPr>
        <p:spPr/>
        <p:txBody>
          <a:bodyPr/>
          <a:lstStyle/>
          <a:p>
            <a:fld id="{A8B06C41-1E1E-4B9B-9644-5AFB8CB2AB3B}" type="datetime3">
              <a:rPr lang="zh-CN" altLang="en-US" smtClean="0"/>
              <a:t>2022年11月24日星期四</a:t>
            </a:fld>
            <a:endParaRPr lang="en-US" altLang="zh-CN" dirty="0"/>
          </a:p>
        </p:txBody>
      </p:sp>
      <p:sp>
        <p:nvSpPr>
          <p:cNvPr id="5" name="灯片编号占位符 4">
            <a:extLst>
              <a:ext uri="{FF2B5EF4-FFF2-40B4-BE49-F238E27FC236}">
                <a16:creationId xmlns:a16="http://schemas.microsoft.com/office/drawing/2014/main" id="{BB719D07-C23B-4210-A855-B215712CBF97}"/>
              </a:ext>
            </a:extLst>
          </p:cNvPr>
          <p:cNvSpPr>
            <a:spLocks noGrp="1"/>
          </p:cNvSpPr>
          <p:nvPr>
            <p:ph type="sldNum" sz="quarter" idx="12"/>
          </p:nvPr>
        </p:nvSpPr>
        <p:spPr/>
        <p:txBody>
          <a:bodyPr/>
          <a:lstStyle/>
          <a:p>
            <a:fld id="{7AC79822-BC0D-4DE8-A7E5-90A3732A2B82}" type="slidenum">
              <a:rPr lang="zh-CN" altLang="en-US" smtClean="0"/>
              <a:pPr/>
              <a:t>44</a:t>
            </a:fld>
            <a:endParaRPr lang="en-US" altLang="zh-CN" dirty="0"/>
          </a:p>
        </p:txBody>
      </p:sp>
      <p:sp>
        <p:nvSpPr>
          <p:cNvPr id="6" name="文本占位符 3">
            <a:extLst>
              <a:ext uri="{FF2B5EF4-FFF2-40B4-BE49-F238E27FC236}">
                <a16:creationId xmlns:a16="http://schemas.microsoft.com/office/drawing/2014/main" id="{92A9DCC9-4169-4B45-A6AF-0C50C5626711}"/>
              </a:ext>
            </a:extLst>
          </p:cNvPr>
          <p:cNvSpPr txBox="1">
            <a:spLocks/>
          </p:cNvSpPr>
          <p:nvPr/>
        </p:nvSpPr>
        <p:spPr>
          <a:xfrm>
            <a:off x="128464" y="1124744"/>
            <a:ext cx="7857628" cy="1702338"/>
          </a:xfrm>
          <a:prstGeom prst="rect">
            <a:avLst/>
          </a:prstGeom>
        </p:spPr>
        <p:txBody>
          <a:bodyPr/>
          <a:lstStyle>
            <a:lvl1pPr marL="342900" indent="-342900" algn="l" rtl="0" eaLnBrk="1" fontAlgn="base" hangingPunct="1">
              <a:spcBef>
                <a:spcPct val="20000"/>
              </a:spcBef>
              <a:spcAft>
                <a:spcPct val="0"/>
              </a:spcAft>
              <a:buClr>
                <a:srgbClr val="333399"/>
              </a:buClr>
              <a:buSzPct val="75000"/>
              <a:buFont typeface="Wingdings" panose="05000000000000000000" pitchFamily="2" charset="2"/>
              <a:buChar char=""/>
              <a:defRPr sz="3200" b="1">
                <a:solidFill>
                  <a:schemeClr val="tx1"/>
                </a:solidFill>
                <a:latin typeface="+mn-lt"/>
                <a:ea typeface="黑体" pitchFamily="2" charset="-122"/>
                <a:cs typeface="+mn-cs"/>
              </a:defRPr>
            </a:lvl1pPr>
            <a:lvl2pPr marL="742950" indent="-285750" algn="l" rtl="0" eaLnBrk="1" fontAlgn="base" hangingPunct="1">
              <a:spcBef>
                <a:spcPct val="20000"/>
              </a:spcBef>
              <a:spcAft>
                <a:spcPct val="0"/>
              </a:spcAft>
              <a:buClr>
                <a:schemeClr val="accent2"/>
              </a:buClr>
              <a:buSzPct val="70000"/>
              <a:buFont typeface="Wingdings" panose="05000000000000000000" pitchFamily="2" charset="2"/>
              <a:buChar char=""/>
              <a:defRPr sz="2800" b="1">
                <a:solidFill>
                  <a:schemeClr val="tx1"/>
                </a:solidFill>
                <a:latin typeface="+mn-lt"/>
                <a:ea typeface="黑体" pitchFamily="2" charset="-122"/>
              </a:defRPr>
            </a:lvl2pPr>
            <a:lvl3pPr marL="1143000" indent="-228600" algn="l" rtl="0" eaLnBrk="1" fontAlgn="base" hangingPunct="1">
              <a:spcBef>
                <a:spcPct val="20000"/>
              </a:spcBef>
              <a:spcAft>
                <a:spcPct val="0"/>
              </a:spcAft>
              <a:buClr>
                <a:srgbClr val="333399"/>
              </a:buClr>
              <a:buSzPct val="65000"/>
              <a:buFont typeface="Wingdings" panose="05000000000000000000" pitchFamily="2" charset="2"/>
              <a:buChar char=""/>
              <a:defRPr sz="2400" b="1">
                <a:solidFill>
                  <a:schemeClr val="tx1"/>
                </a:solidFill>
                <a:latin typeface="+mn-lt"/>
                <a:ea typeface="黑体" pitchFamily="2" charset="-122"/>
              </a:defRPr>
            </a:lvl3pPr>
            <a:lvl4pPr marL="1600200" indent="-228600" algn="l" rtl="0" eaLnBrk="1" fontAlgn="base" hangingPunct="1">
              <a:spcBef>
                <a:spcPct val="20000"/>
              </a:spcBef>
              <a:spcAft>
                <a:spcPct val="0"/>
              </a:spcAft>
              <a:buClr>
                <a:schemeClr val="bg2"/>
              </a:buClr>
              <a:buSzPct val="65000"/>
              <a:buFont typeface="Wingdings" pitchFamily="2" charset="2"/>
              <a:buChar char="n"/>
              <a:defRPr sz="2000" b="1">
                <a:solidFill>
                  <a:schemeClr val="tx1"/>
                </a:solidFill>
                <a:latin typeface="+mn-lt"/>
                <a:ea typeface="黑体" pitchFamily="2" charset="-122"/>
              </a:defRPr>
            </a:lvl4pPr>
            <a:lvl5pPr marL="2057400" indent="-228600" algn="l" rtl="0" eaLnBrk="1" fontAlgn="base" hangingPunct="1">
              <a:spcBef>
                <a:spcPct val="20000"/>
              </a:spcBef>
              <a:spcAft>
                <a:spcPct val="0"/>
              </a:spcAft>
              <a:buClr>
                <a:srgbClr val="333399"/>
              </a:buClr>
              <a:buSzPct val="60000"/>
              <a:buFont typeface="Wingdings" panose="05000000000000000000" pitchFamily="2" charset="2"/>
              <a:buChar char="Ø"/>
              <a:defRPr sz="2000" b="1">
                <a:solidFill>
                  <a:schemeClr val="tx1"/>
                </a:solidFill>
                <a:latin typeface="+mn-lt"/>
                <a:ea typeface="黑体" pitchFamily="2" charset="-122"/>
              </a:defRPr>
            </a:lvl5pPr>
            <a:lvl6pPr marL="25146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defRPr>
            </a:lvl6pPr>
            <a:lvl7pPr marL="29718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defRPr>
            </a:lvl7pPr>
            <a:lvl8pPr marL="34290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defRPr>
            </a:lvl8pPr>
            <a:lvl9pPr marL="38862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defRPr>
            </a:lvl9pPr>
          </a:lstStyle>
          <a:p>
            <a:pPr marL="0" indent="0">
              <a:buNone/>
            </a:pPr>
            <a:r>
              <a:rPr lang="en-US" altLang="zh-CN" sz="2400" kern="0" dirty="0">
                <a:latin typeface="黑体" panose="02010609060101010101" pitchFamily="49" charset="-122"/>
                <a:ea typeface="黑体" panose="02010609060101010101" pitchFamily="49" charset="-122"/>
              </a:rPr>
              <a:t>1. </a:t>
            </a:r>
            <a:r>
              <a:rPr lang="zh-CN" altLang="en-US" sz="2400" kern="0" dirty="0">
                <a:latin typeface="黑体" panose="02010609060101010101" pitchFamily="49" charset="-122"/>
                <a:ea typeface="黑体" panose="02010609060101010101" pitchFamily="49" charset="-122"/>
              </a:rPr>
              <a:t>初始化</a:t>
            </a:r>
            <a:r>
              <a:rPr lang="en-US" altLang="zh-CN" sz="2400" kern="0" dirty="0">
                <a:latin typeface="黑体" panose="02010609060101010101" pitchFamily="49" charset="-122"/>
                <a:ea typeface="黑体" panose="02010609060101010101" pitchFamily="49" charset="-122"/>
              </a:rPr>
              <a:t>(</a:t>
            </a:r>
            <a:r>
              <a:rPr lang="zh-CN" altLang="en-US" sz="2400" kern="0" dirty="0">
                <a:latin typeface="黑体" panose="02010609060101010101" pitchFamily="49" charset="-122"/>
                <a:ea typeface="黑体" panose="02010609060101010101" pitchFamily="49" charset="-122"/>
              </a:rPr>
              <a:t>各个参数</a:t>
            </a:r>
            <a:r>
              <a:rPr lang="en-US" altLang="zh-CN" sz="2400" kern="0" dirty="0">
                <a:latin typeface="黑体" panose="02010609060101010101" pitchFamily="49" charset="-122"/>
                <a:ea typeface="黑体" panose="02010609060101010101" pitchFamily="49" charset="-122"/>
              </a:rPr>
              <a:t>):</a:t>
            </a:r>
          </a:p>
          <a:p>
            <a:pPr marL="0" indent="0">
              <a:buNone/>
            </a:pPr>
            <a:r>
              <a:rPr lang="zh-CN" altLang="en-US" sz="2400" b="0" kern="0" dirty="0">
                <a:latin typeface="黑体" panose="02010609060101010101" pitchFamily="49" charset="-122"/>
                <a:ea typeface="黑体" panose="02010609060101010101" pitchFamily="49" charset="-122"/>
              </a:rPr>
              <a:t>在计算之初需要对相关的参数进行初始化，如蚂蚁数量</a:t>
            </a:r>
            <a:r>
              <a:rPr lang="en-US" altLang="zh-CN" sz="2400" b="0" kern="0" dirty="0">
                <a:latin typeface="黑体" panose="02010609060101010101" pitchFamily="49" charset="-122"/>
                <a:ea typeface="黑体" panose="02010609060101010101" pitchFamily="49" charset="-122"/>
              </a:rPr>
              <a:t>m</a:t>
            </a:r>
            <a:r>
              <a:rPr lang="zh-CN" altLang="en-US" sz="2400" b="0" kern="0" dirty="0">
                <a:latin typeface="黑体" panose="02010609060101010101" pitchFamily="49" charset="-122"/>
                <a:ea typeface="黑体" panose="02010609060101010101" pitchFamily="49" charset="-122"/>
              </a:rPr>
              <a:t>、信息素因子</a:t>
            </a:r>
            <a:r>
              <a:rPr lang="el-GR" altLang="zh-CN" sz="2400" b="0" kern="0" dirty="0">
                <a:latin typeface="黑体" panose="02010609060101010101" pitchFamily="49" charset="-122"/>
                <a:ea typeface="黑体" panose="02010609060101010101" pitchFamily="49" charset="-122"/>
              </a:rPr>
              <a:t>α</a:t>
            </a:r>
            <a:r>
              <a:rPr lang="zh-CN" altLang="en-US" sz="2400" b="0" kern="0" dirty="0">
                <a:latin typeface="黑体" panose="02010609060101010101" pitchFamily="49" charset="-122"/>
                <a:ea typeface="黑体" panose="02010609060101010101" pitchFamily="49" charset="-122"/>
              </a:rPr>
              <a:t>、启发函数因子</a:t>
            </a:r>
            <a:r>
              <a:rPr lang="en-US" altLang="zh-CN" sz="2400" b="0" kern="0" dirty="0">
                <a:latin typeface="黑体" panose="02010609060101010101" pitchFamily="49" charset="-122"/>
                <a:ea typeface="黑体" panose="02010609060101010101" pitchFamily="49" charset="-122"/>
              </a:rPr>
              <a:t>β</a:t>
            </a:r>
            <a:r>
              <a:rPr lang="zh-CN" altLang="en-US" sz="2400" b="0" kern="0" dirty="0">
                <a:latin typeface="黑体" panose="02010609060101010101" pitchFamily="49" charset="-122"/>
                <a:ea typeface="黑体" panose="02010609060101010101" pitchFamily="49" charset="-122"/>
              </a:rPr>
              <a:t>、信息素挥发因子</a:t>
            </a:r>
            <a:r>
              <a:rPr lang="en-US" altLang="zh-CN" sz="2400" b="0" kern="0" dirty="0">
                <a:latin typeface="黑体" panose="02010609060101010101" pitchFamily="49" charset="-122"/>
                <a:ea typeface="黑体" panose="02010609060101010101" pitchFamily="49" charset="-122"/>
              </a:rPr>
              <a:t>ρ</a:t>
            </a:r>
            <a:r>
              <a:rPr lang="zh-CN" altLang="en-US" sz="2400" b="0" kern="0" dirty="0">
                <a:latin typeface="黑体" panose="02010609060101010101" pitchFamily="49" charset="-122"/>
                <a:ea typeface="黑体" panose="02010609060101010101" pitchFamily="49" charset="-122"/>
              </a:rPr>
              <a:t>、信息素常数</a:t>
            </a:r>
            <a:r>
              <a:rPr lang="en-US" altLang="zh-CN" sz="2400" b="0" kern="0" dirty="0">
                <a:latin typeface="黑体" panose="02010609060101010101" pitchFamily="49" charset="-122"/>
                <a:ea typeface="黑体" panose="02010609060101010101" pitchFamily="49" charset="-122"/>
              </a:rPr>
              <a:t>Q</a:t>
            </a:r>
            <a:r>
              <a:rPr lang="zh-CN" altLang="en-US" sz="2400" b="0" kern="0" dirty="0">
                <a:latin typeface="黑体" panose="02010609060101010101" pitchFamily="49" charset="-122"/>
                <a:ea typeface="黑体" panose="02010609060101010101" pitchFamily="49" charset="-122"/>
              </a:rPr>
              <a:t>、最大迭代次数</a:t>
            </a:r>
            <a:r>
              <a:rPr lang="en-US" altLang="zh-CN" sz="2400" b="0" kern="0" dirty="0">
                <a:latin typeface="黑体" panose="02010609060101010101" pitchFamily="49" charset="-122"/>
                <a:ea typeface="黑体" panose="02010609060101010101" pitchFamily="49" charset="-122"/>
              </a:rPr>
              <a:t>t</a:t>
            </a:r>
            <a:r>
              <a:rPr lang="zh-CN" altLang="en-US" sz="2400" b="0" kern="0" dirty="0">
                <a:latin typeface="黑体" panose="02010609060101010101" pitchFamily="49" charset="-122"/>
                <a:ea typeface="黑体" panose="02010609060101010101" pitchFamily="49" charset="-122"/>
              </a:rPr>
              <a:t>等等。</a:t>
            </a:r>
            <a:endParaRPr lang="en-US" altLang="zh-CN" sz="2400" kern="0" dirty="0">
              <a:solidFill>
                <a:schemeClr val="tx1">
                  <a:lumMod val="65000"/>
                  <a:lumOff val="35000"/>
                </a:schemeClr>
              </a:solidFill>
              <a:latin typeface="黑体" panose="02010609060101010101" pitchFamily="49" charset="-122"/>
              <a:ea typeface="黑体" panose="02010609060101010101" pitchFamily="49" charset="-122"/>
            </a:endParaRPr>
          </a:p>
          <a:p>
            <a:pPr marL="0" indent="0">
              <a:buNone/>
            </a:pPr>
            <a:endParaRPr lang="en-US" altLang="zh-CN" sz="2400" kern="0" dirty="0">
              <a:solidFill>
                <a:schemeClr val="tx1">
                  <a:lumMod val="65000"/>
                  <a:lumOff val="35000"/>
                </a:schemeClr>
              </a:solidFill>
              <a:latin typeface="黑体" panose="02010609060101010101" pitchFamily="49" charset="-122"/>
              <a:ea typeface="黑体" panose="02010609060101010101" pitchFamily="49" charset="-122"/>
            </a:endParaRPr>
          </a:p>
        </p:txBody>
      </p:sp>
      <p:sp>
        <p:nvSpPr>
          <p:cNvPr id="26" name="文本框 25">
            <a:extLst>
              <a:ext uri="{FF2B5EF4-FFF2-40B4-BE49-F238E27FC236}">
                <a16:creationId xmlns:a16="http://schemas.microsoft.com/office/drawing/2014/main" id="{0E64A4E8-F704-40B0-A7E8-14DA448F964B}"/>
              </a:ext>
            </a:extLst>
          </p:cNvPr>
          <p:cNvSpPr txBox="1"/>
          <p:nvPr/>
        </p:nvSpPr>
        <p:spPr>
          <a:xfrm>
            <a:off x="272481" y="2996952"/>
            <a:ext cx="9217023" cy="2677656"/>
          </a:xfrm>
          <a:prstGeom prst="rect">
            <a:avLst/>
          </a:prstGeom>
          <a:noFill/>
        </p:spPr>
        <p:txBody>
          <a:bodyPr wrap="square" rtlCol="0">
            <a:spAutoFit/>
          </a:bodyPr>
          <a:lstStyle/>
          <a:p>
            <a:pPr marL="342900" indent="-342900">
              <a:buFont typeface="Wingdings" panose="05000000000000000000" pitchFamily="2" charset="2"/>
              <a:buChar char="p"/>
            </a:pPr>
            <a:r>
              <a:rPr lang="zh-CN" altLang="en-US" sz="2400" dirty="0"/>
              <a:t>迭代次数</a:t>
            </a:r>
            <a:r>
              <a:rPr lang="en-US" altLang="zh-CN" sz="2400" dirty="0"/>
              <a:t>t:</a:t>
            </a:r>
          </a:p>
          <a:p>
            <a:pPr marL="285750" indent="-285750">
              <a:buFont typeface="Arial" panose="020B0604020202020204" pitchFamily="34" charset="0"/>
              <a:buChar char="•"/>
            </a:pPr>
            <a:r>
              <a:rPr lang="zh-CN" altLang="en-US" sz="2400" dirty="0"/>
              <a:t>过大</a:t>
            </a:r>
            <a:r>
              <a:rPr lang="en-US" altLang="zh-CN" sz="2400" dirty="0"/>
              <a:t>——</a:t>
            </a:r>
            <a:r>
              <a:rPr lang="zh-CN" altLang="en-US" sz="2400" dirty="0"/>
              <a:t>运算时间过长</a:t>
            </a:r>
          </a:p>
          <a:p>
            <a:pPr marL="285750" indent="-285750">
              <a:buFont typeface="Arial" panose="020B0604020202020204" pitchFamily="34" charset="0"/>
              <a:buChar char="•"/>
            </a:pPr>
            <a:endParaRPr lang="en-US" altLang="zh-CN" sz="2400" dirty="0"/>
          </a:p>
          <a:p>
            <a:pPr marL="285750" indent="-285750">
              <a:buFont typeface="Arial" panose="020B0604020202020204" pitchFamily="34" charset="0"/>
              <a:buChar char="•"/>
            </a:pPr>
            <a:r>
              <a:rPr lang="zh-CN" altLang="en-US" sz="2400" dirty="0"/>
              <a:t>过小</a:t>
            </a:r>
            <a:r>
              <a:rPr lang="en-US" altLang="zh-CN" sz="2400" dirty="0"/>
              <a:t>——</a:t>
            </a:r>
            <a:r>
              <a:rPr lang="zh-CN" altLang="en-US" sz="2400" dirty="0"/>
              <a:t>可选路径较少，使种群陷入局部最优。</a:t>
            </a:r>
          </a:p>
          <a:p>
            <a:pPr marL="285750" indent="-285750">
              <a:buFont typeface="Arial" panose="020B0604020202020204" pitchFamily="34" charset="0"/>
              <a:buChar char="•"/>
            </a:pPr>
            <a:endParaRPr lang="zh-CN" altLang="en-US" sz="2400" dirty="0"/>
          </a:p>
          <a:p>
            <a:pPr marL="285750" indent="-285750">
              <a:buFont typeface="Arial" panose="020B0604020202020204" pitchFamily="34" charset="0"/>
              <a:buChar char="•"/>
            </a:pPr>
            <a:endParaRPr lang="zh-CN" altLang="en-US" sz="2400" dirty="0"/>
          </a:p>
          <a:p>
            <a:pPr marL="285750" indent="-285750">
              <a:buFont typeface="Arial" panose="020B0604020202020204" pitchFamily="34" charset="0"/>
              <a:buChar char="•"/>
            </a:pPr>
            <a:endParaRPr lang="zh-CN" altLang="en-US" sz="2400" dirty="0"/>
          </a:p>
        </p:txBody>
      </p:sp>
      <p:sp>
        <p:nvSpPr>
          <p:cNvPr id="3" name="矩形 2">
            <a:extLst>
              <a:ext uri="{FF2B5EF4-FFF2-40B4-BE49-F238E27FC236}">
                <a16:creationId xmlns:a16="http://schemas.microsoft.com/office/drawing/2014/main" id="{BC5A2E2C-9822-44DB-8BC8-4F5FE5848429}"/>
              </a:ext>
            </a:extLst>
          </p:cNvPr>
          <p:cNvSpPr/>
          <p:nvPr/>
        </p:nvSpPr>
        <p:spPr>
          <a:xfrm>
            <a:off x="1496616" y="5212943"/>
            <a:ext cx="6489476" cy="461665"/>
          </a:xfrm>
          <a:prstGeom prst="rect">
            <a:avLst/>
          </a:prstGeom>
          <a:solidFill>
            <a:srgbClr val="FFFF00"/>
          </a:solidFill>
          <a:ln>
            <a:solidFill>
              <a:schemeClr val="tx1"/>
            </a:solidFill>
          </a:ln>
        </p:spPr>
        <p:txBody>
          <a:bodyPr wrap="square">
            <a:spAutoFit/>
          </a:bodyPr>
          <a:lstStyle/>
          <a:p>
            <a:r>
              <a:rPr lang="zh-CN" altLang="en-US" sz="2400" dirty="0">
                <a:solidFill>
                  <a:srgbClr val="C00000"/>
                </a:solidFill>
              </a:rPr>
              <a:t>最大迭代次数一般取</a:t>
            </a:r>
            <a:r>
              <a:rPr lang="en-US" altLang="zh-CN" sz="2400" dirty="0">
                <a:solidFill>
                  <a:srgbClr val="C00000"/>
                </a:solidFill>
              </a:rPr>
              <a:t>[100,500], </a:t>
            </a:r>
            <a:r>
              <a:rPr lang="zh-CN" altLang="en-US" sz="2400" dirty="0">
                <a:solidFill>
                  <a:srgbClr val="C00000"/>
                </a:solidFill>
              </a:rPr>
              <a:t>例如常取</a:t>
            </a:r>
            <a:r>
              <a:rPr lang="en-US" altLang="zh-CN" sz="2400" dirty="0">
                <a:solidFill>
                  <a:srgbClr val="C00000"/>
                </a:solidFill>
              </a:rPr>
              <a:t>200.</a:t>
            </a:r>
          </a:p>
        </p:txBody>
      </p:sp>
    </p:spTree>
    <p:extLst>
      <p:ext uri="{BB962C8B-B14F-4D97-AF65-F5344CB8AC3E}">
        <p14:creationId xmlns:p14="http://schemas.microsoft.com/office/powerpoint/2010/main" val="344364950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6" presetClass="entr" presetSubtype="21" fill="hold" grpId="0" nodeType="withEffect">
                                  <p:stCondLst>
                                    <p:cond delay="0"/>
                                  </p:stCondLst>
                                  <p:childTnLst>
                                    <p:set>
                                      <p:cBhvr>
                                        <p:cTn id="6" dur="1" fill="hold">
                                          <p:stCondLst>
                                            <p:cond delay="0"/>
                                          </p:stCondLst>
                                        </p:cTn>
                                        <p:tgtEl>
                                          <p:spTgt spid="26"/>
                                        </p:tgtEl>
                                        <p:attrNameLst>
                                          <p:attrName>style.visibility</p:attrName>
                                        </p:attrNameLst>
                                      </p:cBhvr>
                                      <p:to>
                                        <p:strVal val="visible"/>
                                      </p:to>
                                    </p:set>
                                    <p:animEffect transition="in" filter="barn(inVertical)">
                                      <p:cBhvr>
                                        <p:cTn id="7" dur="500"/>
                                        <p:tgtEl>
                                          <p:spTgt spid="26"/>
                                        </p:tgtEl>
                                      </p:cBhvr>
                                    </p:animEffect>
                                  </p:childTnLst>
                                </p:cTn>
                              </p:par>
                            </p:childTnLst>
                          </p:cTn>
                        </p:par>
                        <p:par>
                          <p:cTn id="8" fill="hold">
                            <p:stCondLst>
                              <p:cond delay="500"/>
                            </p:stCondLst>
                            <p:childTnLst>
                              <p:par>
                                <p:cTn id="9" presetID="22" presetClass="entr" presetSubtype="4" fill="hold" grpId="0" nodeType="afterEffect">
                                  <p:stCondLst>
                                    <p:cond delay="0"/>
                                  </p:stCondLst>
                                  <p:childTnLst>
                                    <p:set>
                                      <p:cBhvr>
                                        <p:cTn id="10" dur="1" fill="hold">
                                          <p:stCondLst>
                                            <p:cond delay="0"/>
                                          </p:stCondLst>
                                        </p:cTn>
                                        <p:tgtEl>
                                          <p:spTgt spid="3"/>
                                        </p:tgtEl>
                                        <p:attrNameLst>
                                          <p:attrName>style.visibility</p:attrName>
                                        </p:attrNameLst>
                                      </p:cBhvr>
                                      <p:to>
                                        <p:strVal val="visible"/>
                                      </p:to>
                                    </p:set>
                                    <p:animEffect transition="in" filter="wipe(down)">
                                      <p:cBhvr>
                                        <p:cTn id="11"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 grpId="0"/>
      <p:bldP spid="3" grpId="0" animBg="1"/>
    </p:bld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946EA79-1C8A-4E46-A08C-22BEC975A93F}"/>
              </a:ext>
            </a:extLst>
          </p:cNvPr>
          <p:cNvSpPr>
            <a:spLocks noGrp="1"/>
          </p:cNvSpPr>
          <p:nvPr>
            <p:ph type="title"/>
          </p:nvPr>
        </p:nvSpPr>
        <p:spPr/>
        <p:txBody>
          <a:bodyPr/>
          <a:lstStyle/>
          <a:p>
            <a:r>
              <a:rPr lang="zh-CN" altLang="en-US" dirty="0"/>
              <a:t>蚁群算法流程</a:t>
            </a:r>
          </a:p>
        </p:txBody>
      </p:sp>
      <p:sp>
        <p:nvSpPr>
          <p:cNvPr id="4" name="日期占位符 3">
            <a:extLst>
              <a:ext uri="{FF2B5EF4-FFF2-40B4-BE49-F238E27FC236}">
                <a16:creationId xmlns:a16="http://schemas.microsoft.com/office/drawing/2014/main" id="{EACBE9B2-1C09-4A27-B89B-923947BEFDEB}"/>
              </a:ext>
            </a:extLst>
          </p:cNvPr>
          <p:cNvSpPr>
            <a:spLocks noGrp="1"/>
          </p:cNvSpPr>
          <p:nvPr>
            <p:ph type="dt" sz="half" idx="10"/>
          </p:nvPr>
        </p:nvSpPr>
        <p:spPr/>
        <p:txBody>
          <a:bodyPr/>
          <a:lstStyle/>
          <a:p>
            <a:fld id="{A8B06C41-1E1E-4B9B-9644-5AFB8CB2AB3B}" type="datetime3">
              <a:rPr lang="zh-CN" altLang="en-US" smtClean="0"/>
              <a:t>2022年11月24日星期四</a:t>
            </a:fld>
            <a:endParaRPr lang="en-US" altLang="zh-CN" dirty="0"/>
          </a:p>
        </p:txBody>
      </p:sp>
      <p:sp>
        <p:nvSpPr>
          <p:cNvPr id="5" name="灯片编号占位符 4">
            <a:extLst>
              <a:ext uri="{FF2B5EF4-FFF2-40B4-BE49-F238E27FC236}">
                <a16:creationId xmlns:a16="http://schemas.microsoft.com/office/drawing/2014/main" id="{BB719D07-C23B-4210-A855-B215712CBF97}"/>
              </a:ext>
            </a:extLst>
          </p:cNvPr>
          <p:cNvSpPr>
            <a:spLocks noGrp="1"/>
          </p:cNvSpPr>
          <p:nvPr>
            <p:ph type="sldNum" sz="quarter" idx="12"/>
          </p:nvPr>
        </p:nvSpPr>
        <p:spPr/>
        <p:txBody>
          <a:bodyPr/>
          <a:lstStyle/>
          <a:p>
            <a:fld id="{7AC79822-BC0D-4DE8-A7E5-90A3732A2B82}" type="slidenum">
              <a:rPr lang="zh-CN" altLang="en-US" smtClean="0"/>
              <a:pPr/>
              <a:t>45</a:t>
            </a:fld>
            <a:endParaRPr lang="en-US" altLang="zh-CN" dirty="0"/>
          </a:p>
        </p:txBody>
      </p:sp>
      <p:sp>
        <p:nvSpPr>
          <p:cNvPr id="6" name="文本占位符 3">
            <a:extLst>
              <a:ext uri="{FF2B5EF4-FFF2-40B4-BE49-F238E27FC236}">
                <a16:creationId xmlns:a16="http://schemas.microsoft.com/office/drawing/2014/main" id="{92A9DCC9-4169-4B45-A6AF-0C50C5626711}"/>
              </a:ext>
            </a:extLst>
          </p:cNvPr>
          <p:cNvSpPr txBox="1">
            <a:spLocks/>
          </p:cNvSpPr>
          <p:nvPr/>
        </p:nvSpPr>
        <p:spPr>
          <a:xfrm>
            <a:off x="128464" y="1124744"/>
            <a:ext cx="7857628" cy="1702338"/>
          </a:xfrm>
          <a:prstGeom prst="rect">
            <a:avLst/>
          </a:prstGeom>
        </p:spPr>
        <p:txBody>
          <a:bodyPr/>
          <a:lstStyle>
            <a:lvl1pPr marL="342900" indent="-342900" algn="l" rtl="0" eaLnBrk="1" fontAlgn="base" hangingPunct="1">
              <a:spcBef>
                <a:spcPct val="20000"/>
              </a:spcBef>
              <a:spcAft>
                <a:spcPct val="0"/>
              </a:spcAft>
              <a:buClr>
                <a:srgbClr val="333399"/>
              </a:buClr>
              <a:buSzPct val="75000"/>
              <a:buFont typeface="Wingdings" panose="05000000000000000000" pitchFamily="2" charset="2"/>
              <a:buChar char=""/>
              <a:defRPr sz="3200" b="1">
                <a:solidFill>
                  <a:schemeClr val="tx1"/>
                </a:solidFill>
                <a:latin typeface="+mn-lt"/>
                <a:ea typeface="黑体" pitchFamily="2" charset="-122"/>
                <a:cs typeface="+mn-cs"/>
              </a:defRPr>
            </a:lvl1pPr>
            <a:lvl2pPr marL="742950" indent="-285750" algn="l" rtl="0" eaLnBrk="1" fontAlgn="base" hangingPunct="1">
              <a:spcBef>
                <a:spcPct val="20000"/>
              </a:spcBef>
              <a:spcAft>
                <a:spcPct val="0"/>
              </a:spcAft>
              <a:buClr>
                <a:schemeClr val="accent2"/>
              </a:buClr>
              <a:buSzPct val="70000"/>
              <a:buFont typeface="Wingdings" panose="05000000000000000000" pitchFamily="2" charset="2"/>
              <a:buChar char=""/>
              <a:defRPr sz="2800" b="1">
                <a:solidFill>
                  <a:schemeClr val="tx1"/>
                </a:solidFill>
                <a:latin typeface="+mn-lt"/>
                <a:ea typeface="黑体" pitchFamily="2" charset="-122"/>
              </a:defRPr>
            </a:lvl2pPr>
            <a:lvl3pPr marL="1143000" indent="-228600" algn="l" rtl="0" eaLnBrk="1" fontAlgn="base" hangingPunct="1">
              <a:spcBef>
                <a:spcPct val="20000"/>
              </a:spcBef>
              <a:spcAft>
                <a:spcPct val="0"/>
              </a:spcAft>
              <a:buClr>
                <a:srgbClr val="333399"/>
              </a:buClr>
              <a:buSzPct val="65000"/>
              <a:buFont typeface="Wingdings" panose="05000000000000000000" pitchFamily="2" charset="2"/>
              <a:buChar char=""/>
              <a:defRPr sz="2400" b="1">
                <a:solidFill>
                  <a:schemeClr val="tx1"/>
                </a:solidFill>
                <a:latin typeface="+mn-lt"/>
                <a:ea typeface="黑体" pitchFamily="2" charset="-122"/>
              </a:defRPr>
            </a:lvl3pPr>
            <a:lvl4pPr marL="1600200" indent="-228600" algn="l" rtl="0" eaLnBrk="1" fontAlgn="base" hangingPunct="1">
              <a:spcBef>
                <a:spcPct val="20000"/>
              </a:spcBef>
              <a:spcAft>
                <a:spcPct val="0"/>
              </a:spcAft>
              <a:buClr>
                <a:schemeClr val="bg2"/>
              </a:buClr>
              <a:buSzPct val="65000"/>
              <a:buFont typeface="Wingdings" pitchFamily="2" charset="2"/>
              <a:buChar char="n"/>
              <a:defRPr sz="2000" b="1">
                <a:solidFill>
                  <a:schemeClr val="tx1"/>
                </a:solidFill>
                <a:latin typeface="+mn-lt"/>
                <a:ea typeface="黑体" pitchFamily="2" charset="-122"/>
              </a:defRPr>
            </a:lvl4pPr>
            <a:lvl5pPr marL="2057400" indent="-228600" algn="l" rtl="0" eaLnBrk="1" fontAlgn="base" hangingPunct="1">
              <a:spcBef>
                <a:spcPct val="20000"/>
              </a:spcBef>
              <a:spcAft>
                <a:spcPct val="0"/>
              </a:spcAft>
              <a:buClr>
                <a:srgbClr val="333399"/>
              </a:buClr>
              <a:buSzPct val="60000"/>
              <a:buFont typeface="Wingdings" panose="05000000000000000000" pitchFamily="2" charset="2"/>
              <a:buChar char="Ø"/>
              <a:defRPr sz="2000" b="1">
                <a:solidFill>
                  <a:schemeClr val="tx1"/>
                </a:solidFill>
                <a:latin typeface="+mn-lt"/>
                <a:ea typeface="黑体" pitchFamily="2" charset="-122"/>
              </a:defRPr>
            </a:lvl5pPr>
            <a:lvl6pPr marL="25146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defRPr>
            </a:lvl6pPr>
            <a:lvl7pPr marL="29718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defRPr>
            </a:lvl7pPr>
            <a:lvl8pPr marL="34290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defRPr>
            </a:lvl8pPr>
            <a:lvl9pPr marL="38862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defRPr>
            </a:lvl9pPr>
          </a:lstStyle>
          <a:p>
            <a:pPr marL="0" indent="0">
              <a:buNone/>
            </a:pPr>
            <a:r>
              <a:rPr lang="en-US" altLang="zh-CN" sz="2400" kern="0" dirty="0">
                <a:latin typeface="黑体" panose="02010609060101010101" pitchFamily="49" charset="-122"/>
                <a:ea typeface="黑体" panose="02010609060101010101" pitchFamily="49" charset="-122"/>
              </a:rPr>
              <a:t>1. </a:t>
            </a:r>
            <a:r>
              <a:rPr lang="zh-CN" altLang="en-US" sz="2400" kern="0" dirty="0">
                <a:latin typeface="黑体" panose="02010609060101010101" pitchFamily="49" charset="-122"/>
                <a:ea typeface="黑体" panose="02010609060101010101" pitchFamily="49" charset="-122"/>
              </a:rPr>
              <a:t>初始化</a:t>
            </a:r>
            <a:r>
              <a:rPr lang="en-US" altLang="zh-CN" sz="2400" kern="0" dirty="0">
                <a:latin typeface="黑体" panose="02010609060101010101" pitchFamily="49" charset="-122"/>
                <a:ea typeface="黑体" panose="02010609060101010101" pitchFamily="49" charset="-122"/>
              </a:rPr>
              <a:t>(</a:t>
            </a:r>
            <a:r>
              <a:rPr lang="zh-CN" altLang="en-US" sz="2400" kern="0" dirty="0">
                <a:latin typeface="黑体" panose="02010609060101010101" pitchFamily="49" charset="-122"/>
                <a:ea typeface="黑体" panose="02010609060101010101" pitchFamily="49" charset="-122"/>
              </a:rPr>
              <a:t>各个参数</a:t>
            </a:r>
            <a:r>
              <a:rPr lang="en-US" altLang="zh-CN" sz="2400" kern="0" dirty="0">
                <a:latin typeface="黑体" panose="02010609060101010101" pitchFamily="49" charset="-122"/>
                <a:ea typeface="黑体" panose="02010609060101010101" pitchFamily="49" charset="-122"/>
              </a:rPr>
              <a:t>):</a:t>
            </a:r>
          </a:p>
          <a:p>
            <a:pPr marL="0" indent="0">
              <a:buNone/>
            </a:pPr>
            <a:r>
              <a:rPr lang="zh-CN" altLang="en-US" sz="2400" b="0" kern="0" dirty="0">
                <a:latin typeface="黑体" panose="02010609060101010101" pitchFamily="49" charset="-122"/>
                <a:ea typeface="黑体" panose="02010609060101010101" pitchFamily="49" charset="-122"/>
              </a:rPr>
              <a:t>在计算之初需要对相关的参数进行初始化，如蚂蚁数量</a:t>
            </a:r>
            <a:r>
              <a:rPr lang="en-US" altLang="zh-CN" sz="2400" b="0" kern="0" dirty="0">
                <a:latin typeface="黑体" panose="02010609060101010101" pitchFamily="49" charset="-122"/>
                <a:ea typeface="黑体" panose="02010609060101010101" pitchFamily="49" charset="-122"/>
              </a:rPr>
              <a:t>m</a:t>
            </a:r>
            <a:r>
              <a:rPr lang="zh-CN" altLang="en-US" sz="2400" b="0" kern="0" dirty="0">
                <a:latin typeface="黑体" panose="02010609060101010101" pitchFamily="49" charset="-122"/>
                <a:ea typeface="黑体" panose="02010609060101010101" pitchFamily="49" charset="-122"/>
              </a:rPr>
              <a:t>、信息素因子</a:t>
            </a:r>
            <a:r>
              <a:rPr lang="el-GR" altLang="zh-CN" sz="2400" b="0" kern="0" dirty="0">
                <a:latin typeface="黑体" panose="02010609060101010101" pitchFamily="49" charset="-122"/>
                <a:ea typeface="黑体" panose="02010609060101010101" pitchFamily="49" charset="-122"/>
              </a:rPr>
              <a:t>α</a:t>
            </a:r>
            <a:r>
              <a:rPr lang="zh-CN" altLang="en-US" sz="2400" b="0" kern="0" dirty="0">
                <a:latin typeface="黑体" panose="02010609060101010101" pitchFamily="49" charset="-122"/>
                <a:ea typeface="黑体" panose="02010609060101010101" pitchFamily="49" charset="-122"/>
              </a:rPr>
              <a:t>、启发函数因子</a:t>
            </a:r>
            <a:r>
              <a:rPr lang="en-US" altLang="zh-CN" sz="2400" b="0" kern="0" dirty="0">
                <a:latin typeface="黑体" panose="02010609060101010101" pitchFamily="49" charset="-122"/>
                <a:ea typeface="黑体" panose="02010609060101010101" pitchFamily="49" charset="-122"/>
              </a:rPr>
              <a:t>β</a:t>
            </a:r>
            <a:r>
              <a:rPr lang="zh-CN" altLang="en-US" sz="2400" b="0" kern="0" dirty="0">
                <a:latin typeface="黑体" panose="02010609060101010101" pitchFamily="49" charset="-122"/>
                <a:ea typeface="黑体" panose="02010609060101010101" pitchFamily="49" charset="-122"/>
              </a:rPr>
              <a:t>、信息素挥发因子</a:t>
            </a:r>
            <a:r>
              <a:rPr lang="en-US" altLang="zh-CN" sz="2400" b="0" kern="0" dirty="0">
                <a:latin typeface="黑体" panose="02010609060101010101" pitchFamily="49" charset="-122"/>
                <a:ea typeface="黑体" panose="02010609060101010101" pitchFamily="49" charset="-122"/>
              </a:rPr>
              <a:t>ρ</a:t>
            </a:r>
            <a:r>
              <a:rPr lang="zh-CN" altLang="en-US" sz="2400" b="0" kern="0" dirty="0">
                <a:latin typeface="黑体" panose="02010609060101010101" pitchFamily="49" charset="-122"/>
                <a:ea typeface="黑体" panose="02010609060101010101" pitchFamily="49" charset="-122"/>
              </a:rPr>
              <a:t>、信息素常数</a:t>
            </a:r>
            <a:r>
              <a:rPr lang="en-US" altLang="zh-CN" sz="2400" b="0" kern="0" dirty="0">
                <a:latin typeface="黑体" panose="02010609060101010101" pitchFamily="49" charset="-122"/>
                <a:ea typeface="黑体" panose="02010609060101010101" pitchFamily="49" charset="-122"/>
              </a:rPr>
              <a:t>Q</a:t>
            </a:r>
            <a:r>
              <a:rPr lang="zh-CN" altLang="en-US" sz="2400" b="0" kern="0" dirty="0">
                <a:latin typeface="黑体" panose="02010609060101010101" pitchFamily="49" charset="-122"/>
                <a:ea typeface="黑体" panose="02010609060101010101" pitchFamily="49" charset="-122"/>
              </a:rPr>
              <a:t>、最大迭代次数</a:t>
            </a:r>
            <a:r>
              <a:rPr lang="en-US" altLang="zh-CN" sz="2400" b="0" kern="0" dirty="0">
                <a:latin typeface="黑体" panose="02010609060101010101" pitchFamily="49" charset="-122"/>
                <a:ea typeface="黑体" panose="02010609060101010101" pitchFamily="49" charset="-122"/>
              </a:rPr>
              <a:t>t</a:t>
            </a:r>
            <a:r>
              <a:rPr lang="zh-CN" altLang="en-US" sz="2400" b="0" kern="0" dirty="0">
                <a:latin typeface="黑体" panose="02010609060101010101" pitchFamily="49" charset="-122"/>
                <a:ea typeface="黑体" panose="02010609060101010101" pitchFamily="49" charset="-122"/>
              </a:rPr>
              <a:t>等等。</a:t>
            </a:r>
            <a:endParaRPr lang="en-US" altLang="zh-CN" sz="2400" kern="0" dirty="0">
              <a:solidFill>
                <a:schemeClr val="tx1">
                  <a:lumMod val="65000"/>
                  <a:lumOff val="35000"/>
                </a:schemeClr>
              </a:solidFill>
              <a:latin typeface="黑体" panose="02010609060101010101" pitchFamily="49" charset="-122"/>
              <a:ea typeface="黑体" panose="02010609060101010101" pitchFamily="49" charset="-122"/>
            </a:endParaRPr>
          </a:p>
          <a:p>
            <a:pPr marL="0" indent="0">
              <a:buNone/>
            </a:pPr>
            <a:endParaRPr lang="en-US" altLang="zh-CN" sz="2400" kern="0" dirty="0">
              <a:solidFill>
                <a:schemeClr val="tx1">
                  <a:lumMod val="65000"/>
                  <a:lumOff val="35000"/>
                </a:schemeClr>
              </a:solidFill>
              <a:latin typeface="黑体" panose="02010609060101010101" pitchFamily="49" charset="-122"/>
              <a:ea typeface="黑体" panose="02010609060101010101" pitchFamily="49" charset="-122"/>
            </a:endParaRPr>
          </a:p>
        </p:txBody>
      </p:sp>
      <p:sp>
        <p:nvSpPr>
          <p:cNvPr id="26" name="文本框 25">
            <a:extLst>
              <a:ext uri="{FF2B5EF4-FFF2-40B4-BE49-F238E27FC236}">
                <a16:creationId xmlns:a16="http://schemas.microsoft.com/office/drawing/2014/main" id="{0E64A4E8-F704-40B0-A7E8-14DA448F964B}"/>
              </a:ext>
            </a:extLst>
          </p:cNvPr>
          <p:cNvSpPr txBox="1"/>
          <p:nvPr/>
        </p:nvSpPr>
        <p:spPr>
          <a:xfrm>
            <a:off x="272481" y="2996952"/>
            <a:ext cx="9217023" cy="3046988"/>
          </a:xfrm>
          <a:prstGeom prst="rect">
            <a:avLst/>
          </a:prstGeom>
          <a:noFill/>
        </p:spPr>
        <p:txBody>
          <a:bodyPr wrap="square" rtlCol="0">
            <a:spAutoFit/>
          </a:bodyPr>
          <a:lstStyle/>
          <a:p>
            <a:pPr marL="342900" indent="-342900">
              <a:buFont typeface="Wingdings" panose="05000000000000000000" pitchFamily="2" charset="2"/>
              <a:buChar char="p"/>
            </a:pPr>
            <a:r>
              <a:rPr lang="zh-CN" altLang="en-US" sz="2400" kern="0" dirty="0">
                <a:latin typeface="黑体" panose="02010609060101010101" pitchFamily="49" charset="-122"/>
                <a:ea typeface="黑体" panose="02010609060101010101" pitchFamily="49" charset="-122"/>
              </a:rPr>
              <a:t>信息素因子</a:t>
            </a:r>
            <a:r>
              <a:rPr lang="el-GR" altLang="zh-CN" sz="2400" kern="0" dirty="0">
                <a:latin typeface="黑体" panose="02010609060101010101" pitchFamily="49" charset="-122"/>
                <a:ea typeface="黑体" panose="02010609060101010101" pitchFamily="49" charset="-122"/>
              </a:rPr>
              <a:t>α</a:t>
            </a:r>
            <a:r>
              <a:rPr lang="en-US" altLang="zh-CN" sz="2400" dirty="0"/>
              <a:t>:</a:t>
            </a:r>
          </a:p>
          <a:p>
            <a:pPr marL="285750" indent="-285750">
              <a:buFont typeface="Arial" panose="020B0604020202020204" pitchFamily="34" charset="0"/>
              <a:buChar char="•"/>
            </a:pPr>
            <a:r>
              <a:rPr lang="zh-CN" altLang="en-US" sz="2400" dirty="0"/>
              <a:t>过大</a:t>
            </a:r>
            <a:r>
              <a:rPr lang="en-US" altLang="zh-CN" sz="2400" dirty="0"/>
              <a:t>——</a:t>
            </a:r>
            <a:r>
              <a:rPr lang="zh-CN" altLang="en-US" sz="2400" dirty="0"/>
              <a:t>蚂蚁选择以前已经走过的路可能性较大，容易使随机搜索性减弱。</a:t>
            </a:r>
          </a:p>
          <a:p>
            <a:pPr marL="285750" indent="-285750">
              <a:buFont typeface="Arial" panose="020B0604020202020204" pitchFamily="34" charset="0"/>
              <a:buChar char="•"/>
            </a:pPr>
            <a:endParaRPr lang="en-US" altLang="zh-CN" sz="2400" dirty="0"/>
          </a:p>
          <a:p>
            <a:pPr marL="285750" indent="-285750">
              <a:buFont typeface="Arial" panose="020B0604020202020204" pitchFamily="34" charset="0"/>
              <a:buChar char="•"/>
            </a:pPr>
            <a:r>
              <a:rPr lang="zh-CN" altLang="en-US" sz="2400" dirty="0"/>
              <a:t>过小</a:t>
            </a:r>
            <a:r>
              <a:rPr lang="en-US" altLang="zh-CN" sz="2400" dirty="0"/>
              <a:t>——</a:t>
            </a:r>
            <a:r>
              <a:rPr lang="zh-CN" altLang="zh-CN" sz="2400" dirty="0"/>
              <a:t>蚁群易陷入纯粹的随机搜索，</a:t>
            </a:r>
            <a:r>
              <a:rPr lang="zh-CN" altLang="en-US" sz="2400" dirty="0"/>
              <a:t>使种群陷入局部最优。</a:t>
            </a:r>
          </a:p>
          <a:p>
            <a:pPr marL="285750" indent="-285750">
              <a:buFont typeface="Arial" panose="020B0604020202020204" pitchFamily="34" charset="0"/>
              <a:buChar char="•"/>
            </a:pPr>
            <a:endParaRPr lang="zh-CN" altLang="en-US" sz="2400" dirty="0"/>
          </a:p>
          <a:p>
            <a:pPr marL="285750" indent="-285750">
              <a:buFont typeface="Arial" panose="020B0604020202020204" pitchFamily="34" charset="0"/>
              <a:buChar char="•"/>
            </a:pPr>
            <a:endParaRPr lang="zh-CN" altLang="en-US" sz="2400" dirty="0"/>
          </a:p>
          <a:p>
            <a:pPr marL="285750" indent="-285750">
              <a:buFont typeface="Arial" panose="020B0604020202020204" pitchFamily="34" charset="0"/>
              <a:buChar char="•"/>
            </a:pPr>
            <a:endParaRPr lang="zh-CN" altLang="en-US" sz="2400" dirty="0"/>
          </a:p>
        </p:txBody>
      </p:sp>
      <p:sp>
        <p:nvSpPr>
          <p:cNvPr id="3" name="矩形 2">
            <a:extLst>
              <a:ext uri="{FF2B5EF4-FFF2-40B4-BE49-F238E27FC236}">
                <a16:creationId xmlns:a16="http://schemas.microsoft.com/office/drawing/2014/main" id="{BC5A2E2C-9822-44DB-8BC8-4F5FE5848429}"/>
              </a:ext>
            </a:extLst>
          </p:cNvPr>
          <p:cNvSpPr/>
          <p:nvPr/>
        </p:nvSpPr>
        <p:spPr>
          <a:xfrm>
            <a:off x="1496616" y="5212943"/>
            <a:ext cx="6489476" cy="461665"/>
          </a:xfrm>
          <a:prstGeom prst="rect">
            <a:avLst/>
          </a:prstGeom>
          <a:solidFill>
            <a:srgbClr val="FFFF00"/>
          </a:solidFill>
          <a:ln>
            <a:solidFill>
              <a:schemeClr val="tx1"/>
            </a:solidFill>
          </a:ln>
        </p:spPr>
        <p:txBody>
          <a:bodyPr wrap="square">
            <a:spAutoFit/>
          </a:bodyPr>
          <a:lstStyle/>
          <a:p>
            <a:pPr algn="ctr"/>
            <a:r>
              <a:rPr lang="zh-CN" altLang="en-US" sz="2400" dirty="0">
                <a:solidFill>
                  <a:srgbClr val="C00000"/>
                </a:solidFill>
              </a:rPr>
              <a:t>信息素因子</a:t>
            </a:r>
            <a:r>
              <a:rPr lang="el-GR" altLang="zh-CN" sz="2400" dirty="0">
                <a:solidFill>
                  <a:srgbClr val="C00000"/>
                </a:solidFill>
              </a:rPr>
              <a:t>α</a:t>
            </a:r>
            <a:r>
              <a:rPr lang="zh-CN" altLang="en-US" sz="2400" dirty="0">
                <a:solidFill>
                  <a:srgbClr val="C00000"/>
                </a:solidFill>
              </a:rPr>
              <a:t>取值范围通常在</a:t>
            </a:r>
            <a:r>
              <a:rPr lang="en-US" altLang="zh-CN" sz="2400" dirty="0">
                <a:solidFill>
                  <a:srgbClr val="C00000"/>
                </a:solidFill>
              </a:rPr>
              <a:t>[1, 4]</a:t>
            </a:r>
            <a:r>
              <a:rPr lang="zh-CN" altLang="en-US" sz="2400" dirty="0">
                <a:solidFill>
                  <a:srgbClr val="C00000"/>
                </a:solidFill>
              </a:rPr>
              <a:t>之间。</a:t>
            </a:r>
          </a:p>
        </p:txBody>
      </p:sp>
    </p:spTree>
    <p:extLst>
      <p:ext uri="{BB962C8B-B14F-4D97-AF65-F5344CB8AC3E}">
        <p14:creationId xmlns:p14="http://schemas.microsoft.com/office/powerpoint/2010/main" val="316783958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6" presetClass="entr" presetSubtype="21" fill="hold" grpId="0" nodeType="withEffect">
                                  <p:stCondLst>
                                    <p:cond delay="0"/>
                                  </p:stCondLst>
                                  <p:childTnLst>
                                    <p:set>
                                      <p:cBhvr>
                                        <p:cTn id="6" dur="1" fill="hold">
                                          <p:stCondLst>
                                            <p:cond delay="0"/>
                                          </p:stCondLst>
                                        </p:cTn>
                                        <p:tgtEl>
                                          <p:spTgt spid="26"/>
                                        </p:tgtEl>
                                        <p:attrNameLst>
                                          <p:attrName>style.visibility</p:attrName>
                                        </p:attrNameLst>
                                      </p:cBhvr>
                                      <p:to>
                                        <p:strVal val="visible"/>
                                      </p:to>
                                    </p:set>
                                    <p:animEffect transition="in" filter="barn(inVertical)">
                                      <p:cBhvr>
                                        <p:cTn id="7" dur="500"/>
                                        <p:tgtEl>
                                          <p:spTgt spid="26"/>
                                        </p:tgtEl>
                                      </p:cBhvr>
                                    </p:animEffect>
                                  </p:childTnLst>
                                </p:cTn>
                              </p:par>
                            </p:childTnLst>
                          </p:cTn>
                        </p:par>
                        <p:par>
                          <p:cTn id="8" fill="hold">
                            <p:stCondLst>
                              <p:cond delay="500"/>
                            </p:stCondLst>
                            <p:childTnLst>
                              <p:par>
                                <p:cTn id="9" presetID="22" presetClass="entr" presetSubtype="4" fill="hold" grpId="0" nodeType="afterEffect">
                                  <p:stCondLst>
                                    <p:cond delay="0"/>
                                  </p:stCondLst>
                                  <p:childTnLst>
                                    <p:set>
                                      <p:cBhvr>
                                        <p:cTn id="10" dur="1" fill="hold">
                                          <p:stCondLst>
                                            <p:cond delay="0"/>
                                          </p:stCondLst>
                                        </p:cTn>
                                        <p:tgtEl>
                                          <p:spTgt spid="3"/>
                                        </p:tgtEl>
                                        <p:attrNameLst>
                                          <p:attrName>style.visibility</p:attrName>
                                        </p:attrNameLst>
                                      </p:cBhvr>
                                      <p:to>
                                        <p:strVal val="visible"/>
                                      </p:to>
                                    </p:set>
                                    <p:animEffect transition="in" filter="wipe(down)">
                                      <p:cBhvr>
                                        <p:cTn id="11"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 grpId="0"/>
      <p:bldP spid="3" grpId="0" animBg="1"/>
    </p:bld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946EA79-1C8A-4E46-A08C-22BEC975A93F}"/>
              </a:ext>
            </a:extLst>
          </p:cNvPr>
          <p:cNvSpPr>
            <a:spLocks noGrp="1"/>
          </p:cNvSpPr>
          <p:nvPr>
            <p:ph type="title"/>
          </p:nvPr>
        </p:nvSpPr>
        <p:spPr/>
        <p:txBody>
          <a:bodyPr/>
          <a:lstStyle/>
          <a:p>
            <a:r>
              <a:rPr lang="zh-CN" altLang="en-US" dirty="0"/>
              <a:t>蚁群算法流程</a:t>
            </a:r>
          </a:p>
        </p:txBody>
      </p:sp>
      <p:sp>
        <p:nvSpPr>
          <p:cNvPr id="4" name="日期占位符 3">
            <a:extLst>
              <a:ext uri="{FF2B5EF4-FFF2-40B4-BE49-F238E27FC236}">
                <a16:creationId xmlns:a16="http://schemas.microsoft.com/office/drawing/2014/main" id="{EACBE9B2-1C09-4A27-B89B-923947BEFDEB}"/>
              </a:ext>
            </a:extLst>
          </p:cNvPr>
          <p:cNvSpPr>
            <a:spLocks noGrp="1"/>
          </p:cNvSpPr>
          <p:nvPr>
            <p:ph type="dt" sz="half" idx="10"/>
          </p:nvPr>
        </p:nvSpPr>
        <p:spPr/>
        <p:txBody>
          <a:bodyPr/>
          <a:lstStyle/>
          <a:p>
            <a:fld id="{A8B06C41-1E1E-4B9B-9644-5AFB8CB2AB3B}" type="datetime3">
              <a:rPr lang="zh-CN" altLang="en-US" smtClean="0"/>
              <a:t>2022年11月24日星期四</a:t>
            </a:fld>
            <a:endParaRPr lang="en-US" altLang="zh-CN" dirty="0"/>
          </a:p>
        </p:txBody>
      </p:sp>
      <p:sp>
        <p:nvSpPr>
          <p:cNvPr id="5" name="灯片编号占位符 4">
            <a:extLst>
              <a:ext uri="{FF2B5EF4-FFF2-40B4-BE49-F238E27FC236}">
                <a16:creationId xmlns:a16="http://schemas.microsoft.com/office/drawing/2014/main" id="{BB719D07-C23B-4210-A855-B215712CBF97}"/>
              </a:ext>
            </a:extLst>
          </p:cNvPr>
          <p:cNvSpPr>
            <a:spLocks noGrp="1"/>
          </p:cNvSpPr>
          <p:nvPr>
            <p:ph type="sldNum" sz="quarter" idx="12"/>
          </p:nvPr>
        </p:nvSpPr>
        <p:spPr/>
        <p:txBody>
          <a:bodyPr/>
          <a:lstStyle/>
          <a:p>
            <a:fld id="{7AC79822-BC0D-4DE8-A7E5-90A3732A2B82}" type="slidenum">
              <a:rPr lang="zh-CN" altLang="en-US" smtClean="0"/>
              <a:pPr/>
              <a:t>46</a:t>
            </a:fld>
            <a:endParaRPr lang="en-US" altLang="zh-CN" dirty="0"/>
          </a:p>
        </p:txBody>
      </p:sp>
      <p:sp>
        <p:nvSpPr>
          <p:cNvPr id="6" name="文本占位符 3">
            <a:extLst>
              <a:ext uri="{FF2B5EF4-FFF2-40B4-BE49-F238E27FC236}">
                <a16:creationId xmlns:a16="http://schemas.microsoft.com/office/drawing/2014/main" id="{92A9DCC9-4169-4B45-A6AF-0C50C5626711}"/>
              </a:ext>
            </a:extLst>
          </p:cNvPr>
          <p:cNvSpPr txBox="1">
            <a:spLocks/>
          </p:cNvSpPr>
          <p:nvPr/>
        </p:nvSpPr>
        <p:spPr>
          <a:xfrm>
            <a:off x="128464" y="1124744"/>
            <a:ext cx="7857628" cy="1702338"/>
          </a:xfrm>
          <a:prstGeom prst="rect">
            <a:avLst/>
          </a:prstGeom>
        </p:spPr>
        <p:txBody>
          <a:bodyPr/>
          <a:lstStyle>
            <a:lvl1pPr marL="342900" indent="-342900" algn="l" rtl="0" eaLnBrk="1" fontAlgn="base" hangingPunct="1">
              <a:spcBef>
                <a:spcPct val="20000"/>
              </a:spcBef>
              <a:spcAft>
                <a:spcPct val="0"/>
              </a:spcAft>
              <a:buClr>
                <a:srgbClr val="333399"/>
              </a:buClr>
              <a:buSzPct val="75000"/>
              <a:buFont typeface="Wingdings" panose="05000000000000000000" pitchFamily="2" charset="2"/>
              <a:buChar char=""/>
              <a:defRPr sz="3200" b="1">
                <a:solidFill>
                  <a:schemeClr val="tx1"/>
                </a:solidFill>
                <a:latin typeface="+mn-lt"/>
                <a:ea typeface="黑体" pitchFamily="2" charset="-122"/>
                <a:cs typeface="+mn-cs"/>
              </a:defRPr>
            </a:lvl1pPr>
            <a:lvl2pPr marL="742950" indent="-285750" algn="l" rtl="0" eaLnBrk="1" fontAlgn="base" hangingPunct="1">
              <a:spcBef>
                <a:spcPct val="20000"/>
              </a:spcBef>
              <a:spcAft>
                <a:spcPct val="0"/>
              </a:spcAft>
              <a:buClr>
                <a:schemeClr val="accent2"/>
              </a:buClr>
              <a:buSzPct val="70000"/>
              <a:buFont typeface="Wingdings" panose="05000000000000000000" pitchFamily="2" charset="2"/>
              <a:buChar char=""/>
              <a:defRPr sz="2800" b="1">
                <a:solidFill>
                  <a:schemeClr val="tx1"/>
                </a:solidFill>
                <a:latin typeface="+mn-lt"/>
                <a:ea typeface="黑体" pitchFamily="2" charset="-122"/>
              </a:defRPr>
            </a:lvl2pPr>
            <a:lvl3pPr marL="1143000" indent="-228600" algn="l" rtl="0" eaLnBrk="1" fontAlgn="base" hangingPunct="1">
              <a:spcBef>
                <a:spcPct val="20000"/>
              </a:spcBef>
              <a:spcAft>
                <a:spcPct val="0"/>
              </a:spcAft>
              <a:buClr>
                <a:srgbClr val="333399"/>
              </a:buClr>
              <a:buSzPct val="65000"/>
              <a:buFont typeface="Wingdings" panose="05000000000000000000" pitchFamily="2" charset="2"/>
              <a:buChar char=""/>
              <a:defRPr sz="2400" b="1">
                <a:solidFill>
                  <a:schemeClr val="tx1"/>
                </a:solidFill>
                <a:latin typeface="+mn-lt"/>
                <a:ea typeface="黑体" pitchFamily="2" charset="-122"/>
              </a:defRPr>
            </a:lvl3pPr>
            <a:lvl4pPr marL="1600200" indent="-228600" algn="l" rtl="0" eaLnBrk="1" fontAlgn="base" hangingPunct="1">
              <a:spcBef>
                <a:spcPct val="20000"/>
              </a:spcBef>
              <a:spcAft>
                <a:spcPct val="0"/>
              </a:spcAft>
              <a:buClr>
                <a:schemeClr val="bg2"/>
              </a:buClr>
              <a:buSzPct val="65000"/>
              <a:buFont typeface="Wingdings" pitchFamily="2" charset="2"/>
              <a:buChar char="n"/>
              <a:defRPr sz="2000" b="1">
                <a:solidFill>
                  <a:schemeClr val="tx1"/>
                </a:solidFill>
                <a:latin typeface="+mn-lt"/>
                <a:ea typeface="黑体" pitchFamily="2" charset="-122"/>
              </a:defRPr>
            </a:lvl4pPr>
            <a:lvl5pPr marL="2057400" indent="-228600" algn="l" rtl="0" eaLnBrk="1" fontAlgn="base" hangingPunct="1">
              <a:spcBef>
                <a:spcPct val="20000"/>
              </a:spcBef>
              <a:spcAft>
                <a:spcPct val="0"/>
              </a:spcAft>
              <a:buClr>
                <a:srgbClr val="333399"/>
              </a:buClr>
              <a:buSzPct val="60000"/>
              <a:buFont typeface="Wingdings" panose="05000000000000000000" pitchFamily="2" charset="2"/>
              <a:buChar char="Ø"/>
              <a:defRPr sz="2000" b="1">
                <a:solidFill>
                  <a:schemeClr val="tx1"/>
                </a:solidFill>
                <a:latin typeface="+mn-lt"/>
                <a:ea typeface="黑体" pitchFamily="2" charset="-122"/>
              </a:defRPr>
            </a:lvl5pPr>
            <a:lvl6pPr marL="25146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defRPr>
            </a:lvl6pPr>
            <a:lvl7pPr marL="29718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defRPr>
            </a:lvl7pPr>
            <a:lvl8pPr marL="34290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defRPr>
            </a:lvl8pPr>
            <a:lvl9pPr marL="38862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defRPr>
            </a:lvl9pPr>
          </a:lstStyle>
          <a:p>
            <a:pPr marL="0" indent="0">
              <a:buNone/>
            </a:pPr>
            <a:r>
              <a:rPr lang="en-US" altLang="zh-CN" sz="2400" kern="0" dirty="0">
                <a:latin typeface="黑体" panose="02010609060101010101" pitchFamily="49" charset="-122"/>
                <a:ea typeface="黑体" panose="02010609060101010101" pitchFamily="49" charset="-122"/>
              </a:rPr>
              <a:t>1. </a:t>
            </a:r>
            <a:r>
              <a:rPr lang="zh-CN" altLang="en-US" sz="2400" kern="0" dirty="0">
                <a:latin typeface="黑体" panose="02010609060101010101" pitchFamily="49" charset="-122"/>
                <a:ea typeface="黑体" panose="02010609060101010101" pitchFamily="49" charset="-122"/>
              </a:rPr>
              <a:t>初始化</a:t>
            </a:r>
            <a:r>
              <a:rPr lang="en-US" altLang="zh-CN" sz="2400" kern="0" dirty="0">
                <a:latin typeface="黑体" panose="02010609060101010101" pitchFamily="49" charset="-122"/>
                <a:ea typeface="黑体" panose="02010609060101010101" pitchFamily="49" charset="-122"/>
              </a:rPr>
              <a:t>(</a:t>
            </a:r>
            <a:r>
              <a:rPr lang="zh-CN" altLang="en-US" sz="2400" kern="0" dirty="0">
                <a:latin typeface="黑体" panose="02010609060101010101" pitchFamily="49" charset="-122"/>
                <a:ea typeface="黑体" panose="02010609060101010101" pitchFamily="49" charset="-122"/>
              </a:rPr>
              <a:t>各个参数</a:t>
            </a:r>
            <a:r>
              <a:rPr lang="en-US" altLang="zh-CN" sz="2400" kern="0" dirty="0">
                <a:latin typeface="黑体" panose="02010609060101010101" pitchFamily="49" charset="-122"/>
                <a:ea typeface="黑体" panose="02010609060101010101" pitchFamily="49" charset="-122"/>
              </a:rPr>
              <a:t>):</a:t>
            </a:r>
          </a:p>
          <a:p>
            <a:pPr marL="0" indent="0">
              <a:buNone/>
            </a:pPr>
            <a:r>
              <a:rPr lang="zh-CN" altLang="en-US" sz="2400" b="0" kern="0" dirty="0">
                <a:latin typeface="黑体" panose="02010609060101010101" pitchFamily="49" charset="-122"/>
                <a:ea typeface="黑体" panose="02010609060101010101" pitchFamily="49" charset="-122"/>
              </a:rPr>
              <a:t>在计算之初需要对相关的参数进行初始化，如蚂蚁数量</a:t>
            </a:r>
            <a:r>
              <a:rPr lang="en-US" altLang="zh-CN" sz="2400" b="0" kern="0" dirty="0">
                <a:latin typeface="黑体" panose="02010609060101010101" pitchFamily="49" charset="-122"/>
                <a:ea typeface="黑体" panose="02010609060101010101" pitchFamily="49" charset="-122"/>
              </a:rPr>
              <a:t>m</a:t>
            </a:r>
            <a:r>
              <a:rPr lang="zh-CN" altLang="en-US" sz="2400" b="0" kern="0" dirty="0">
                <a:latin typeface="黑体" panose="02010609060101010101" pitchFamily="49" charset="-122"/>
                <a:ea typeface="黑体" panose="02010609060101010101" pitchFamily="49" charset="-122"/>
              </a:rPr>
              <a:t>、信息素因子</a:t>
            </a:r>
            <a:r>
              <a:rPr lang="el-GR" altLang="zh-CN" sz="2400" b="0" kern="0" dirty="0">
                <a:latin typeface="黑体" panose="02010609060101010101" pitchFamily="49" charset="-122"/>
                <a:ea typeface="黑体" panose="02010609060101010101" pitchFamily="49" charset="-122"/>
              </a:rPr>
              <a:t>α</a:t>
            </a:r>
            <a:r>
              <a:rPr lang="zh-CN" altLang="en-US" sz="2400" b="0" kern="0" dirty="0">
                <a:latin typeface="黑体" panose="02010609060101010101" pitchFamily="49" charset="-122"/>
                <a:ea typeface="黑体" panose="02010609060101010101" pitchFamily="49" charset="-122"/>
              </a:rPr>
              <a:t>、启发函数因子</a:t>
            </a:r>
            <a:r>
              <a:rPr lang="en-US" altLang="zh-CN" sz="2400" b="0" kern="0" dirty="0">
                <a:latin typeface="黑体" panose="02010609060101010101" pitchFamily="49" charset="-122"/>
                <a:ea typeface="黑体" panose="02010609060101010101" pitchFamily="49" charset="-122"/>
              </a:rPr>
              <a:t>β</a:t>
            </a:r>
            <a:r>
              <a:rPr lang="zh-CN" altLang="en-US" sz="2400" b="0" kern="0" dirty="0">
                <a:latin typeface="黑体" panose="02010609060101010101" pitchFamily="49" charset="-122"/>
                <a:ea typeface="黑体" panose="02010609060101010101" pitchFamily="49" charset="-122"/>
              </a:rPr>
              <a:t>、信息素挥发因子</a:t>
            </a:r>
            <a:r>
              <a:rPr lang="en-US" altLang="zh-CN" sz="2400" b="0" kern="0" dirty="0">
                <a:latin typeface="黑体" panose="02010609060101010101" pitchFamily="49" charset="-122"/>
                <a:ea typeface="黑体" panose="02010609060101010101" pitchFamily="49" charset="-122"/>
              </a:rPr>
              <a:t>ρ</a:t>
            </a:r>
            <a:r>
              <a:rPr lang="zh-CN" altLang="en-US" sz="2400" b="0" kern="0" dirty="0">
                <a:latin typeface="黑体" panose="02010609060101010101" pitchFamily="49" charset="-122"/>
                <a:ea typeface="黑体" panose="02010609060101010101" pitchFamily="49" charset="-122"/>
              </a:rPr>
              <a:t>、信息素常数</a:t>
            </a:r>
            <a:r>
              <a:rPr lang="en-US" altLang="zh-CN" sz="2400" b="0" kern="0" dirty="0">
                <a:latin typeface="黑体" panose="02010609060101010101" pitchFamily="49" charset="-122"/>
                <a:ea typeface="黑体" panose="02010609060101010101" pitchFamily="49" charset="-122"/>
              </a:rPr>
              <a:t>Q</a:t>
            </a:r>
            <a:r>
              <a:rPr lang="zh-CN" altLang="en-US" sz="2400" b="0" kern="0" dirty="0">
                <a:latin typeface="黑体" panose="02010609060101010101" pitchFamily="49" charset="-122"/>
                <a:ea typeface="黑体" panose="02010609060101010101" pitchFamily="49" charset="-122"/>
              </a:rPr>
              <a:t>、最大迭代次数</a:t>
            </a:r>
            <a:r>
              <a:rPr lang="en-US" altLang="zh-CN" sz="2400" b="0" kern="0" dirty="0">
                <a:latin typeface="黑体" panose="02010609060101010101" pitchFamily="49" charset="-122"/>
                <a:ea typeface="黑体" panose="02010609060101010101" pitchFamily="49" charset="-122"/>
              </a:rPr>
              <a:t>t</a:t>
            </a:r>
            <a:r>
              <a:rPr lang="zh-CN" altLang="en-US" sz="2400" b="0" kern="0" dirty="0">
                <a:latin typeface="黑体" panose="02010609060101010101" pitchFamily="49" charset="-122"/>
                <a:ea typeface="黑体" panose="02010609060101010101" pitchFamily="49" charset="-122"/>
              </a:rPr>
              <a:t>等等。</a:t>
            </a:r>
            <a:endParaRPr lang="en-US" altLang="zh-CN" sz="2400" kern="0" dirty="0">
              <a:solidFill>
                <a:schemeClr val="tx1">
                  <a:lumMod val="65000"/>
                  <a:lumOff val="35000"/>
                </a:schemeClr>
              </a:solidFill>
              <a:latin typeface="黑体" panose="02010609060101010101" pitchFamily="49" charset="-122"/>
              <a:ea typeface="黑体" panose="02010609060101010101" pitchFamily="49" charset="-122"/>
            </a:endParaRPr>
          </a:p>
          <a:p>
            <a:pPr marL="0" indent="0">
              <a:buNone/>
            </a:pPr>
            <a:endParaRPr lang="en-US" altLang="zh-CN" sz="2400" kern="0" dirty="0">
              <a:solidFill>
                <a:schemeClr val="tx1">
                  <a:lumMod val="65000"/>
                  <a:lumOff val="35000"/>
                </a:schemeClr>
              </a:solidFill>
              <a:latin typeface="黑体" panose="02010609060101010101" pitchFamily="49" charset="-122"/>
              <a:ea typeface="黑体" panose="02010609060101010101" pitchFamily="49" charset="-122"/>
            </a:endParaRPr>
          </a:p>
        </p:txBody>
      </p:sp>
      <p:sp>
        <p:nvSpPr>
          <p:cNvPr id="26" name="文本框 25">
            <a:extLst>
              <a:ext uri="{FF2B5EF4-FFF2-40B4-BE49-F238E27FC236}">
                <a16:creationId xmlns:a16="http://schemas.microsoft.com/office/drawing/2014/main" id="{0E64A4E8-F704-40B0-A7E8-14DA448F964B}"/>
              </a:ext>
            </a:extLst>
          </p:cNvPr>
          <p:cNvSpPr txBox="1"/>
          <p:nvPr/>
        </p:nvSpPr>
        <p:spPr>
          <a:xfrm>
            <a:off x="272481" y="2996952"/>
            <a:ext cx="9217023" cy="2308324"/>
          </a:xfrm>
          <a:prstGeom prst="rect">
            <a:avLst/>
          </a:prstGeom>
          <a:noFill/>
        </p:spPr>
        <p:txBody>
          <a:bodyPr wrap="square" rtlCol="0">
            <a:spAutoFit/>
          </a:bodyPr>
          <a:lstStyle/>
          <a:p>
            <a:pPr marL="342900" indent="-342900">
              <a:buFont typeface="Wingdings" panose="05000000000000000000" pitchFamily="2" charset="2"/>
              <a:buChar char="p"/>
            </a:pPr>
            <a:r>
              <a:rPr lang="zh-CN" altLang="en-US" sz="2400" kern="0" dirty="0">
                <a:latin typeface="黑体" panose="02010609060101010101" pitchFamily="49" charset="-122"/>
                <a:ea typeface="黑体" panose="02010609060101010101" pitchFamily="49" charset="-122"/>
              </a:rPr>
              <a:t>启发函数因子</a:t>
            </a:r>
            <a:r>
              <a:rPr lang="en-US" altLang="zh-CN" sz="2400" kern="0" dirty="0">
                <a:latin typeface="黑体" panose="02010609060101010101" pitchFamily="49" charset="-122"/>
                <a:ea typeface="黑体" panose="02010609060101010101" pitchFamily="49" charset="-122"/>
              </a:rPr>
              <a:t>β</a:t>
            </a:r>
            <a:r>
              <a:rPr lang="en-US" altLang="zh-CN" sz="2400" dirty="0"/>
              <a:t>:</a:t>
            </a:r>
          </a:p>
          <a:p>
            <a:pPr marL="285750" indent="-285750">
              <a:buFont typeface="Arial" panose="020B0604020202020204" pitchFamily="34" charset="0"/>
              <a:buChar char="•"/>
            </a:pPr>
            <a:r>
              <a:rPr lang="zh-CN" altLang="en-US" sz="2400" dirty="0"/>
              <a:t>过大</a:t>
            </a:r>
            <a:r>
              <a:rPr lang="en-US" altLang="zh-CN" sz="2400" dirty="0"/>
              <a:t>——</a:t>
            </a:r>
            <a:r>
              <a:rPr lang="zh-CN" altLang="en-US" sz="2400" dirty="0"/>
              <a:t>虽然收敛速度加快，但是易陷入局部最优。</a:t>
            </a:r>
          </a:p>
          <a:p>
            <a:pPr marL="285750" indent="-285750">
              <a:buFont typeface="Arial" panose="020B0604020202020204" pitchFamily="34" charset="0"/>
              <a:buChar char="•"/>
            </a:pPr>
            <a:endParaRPr lang="en-US" altLang="zh-CN" sz="2400" dirty="0"/>
          </a:p>
          <a:p>
            <a:pPr marL="285750" indent="-285750">
              <a:buFont typeface="Arial" panose="020B0604020202020204" pitchFamily="34" charset="0"/>
              <a:buChar char="•"/>
            </a:pPr>
            <a:r>
              <a:rPr lang="zh-CN" altLang="en-US" sz="2400" dirty="0"/>
              <a:t>过小</a:t>
            </a:r>
            <a:r>
              <a:rPr lang="en-US" altLang="zh-CN" sz="2400" dirty="0"/>
              <a:t>——</a:t>
            </a:r>
            <a:r>
              <a:rPr lang="zh-CN" altLang="en-US" sz="2400" dirty="0"/>
              <a:t>蚁群易陷入纯粹的随机搜索，很难找到最优解。</a:t>
            </a:r>
          </a:p>
          <a:p>
            <a:pPr marL="285750" indent="-285750">
              <a:buFont typeface="Arial" panose="020B0604020202020204" pitchFamily="34" charset="0"/>
              <a:buChar char="•"/>
            </a:pPr>
            <a:endParaRPr lang="zh-CN" altLang="en-US" sz="2400" dirty="0"/>
          </a:p>
          <a:p>
            <a:pPr marL="285750" indent="-285750">
              <a:buFont typeface="Arial" panose="020B0604020202020204" pitchFamily="34" charset="0"/>
              <a:buChar char="•"/>
            </a:pPr>
            <a:endParaRPr lang="zh-CN" altLang="en-US" sz="2400" dirty="0"/>
          </a:p>
        </p:txBody>
      </p:sp>
      <p:sp>
        <p:nvSpPr>
          <p:cNvPr id="3" name="矩形 2">
            <a:extLst>
              <a:ext uri="{FF2B5EF4-FFF2-40B4-BE49-F238E27FC236}">
                <a16:creationId xmlns:a16="http://schemas.microsoft.com/office/drawing/2014/main" id="{BC5A2E2C-9822-44DB-8BC8-4F5FE5848429}"/>
              </a:ext>
            </a:extLst>
          </p:cNvPr>
          <p:cNvSpPr/>
          <p:nvPr/>
        </p:nvSpPr>
        <p:spPr>
          <a:xfrm>
            <a:off x="1496616" y="5212943"/>
            <a:ext cx="6489476" cy="461665"/>
          </a:xfrm>
          <a:prstGeom prst="rect">
            <a:avLst/>
          </a:prstGeom>
          <a:solidFill>
            <a:srgbClr val="FFFF00"/>
          </a:solidFill>
          <a:ln>
            <a:solidFill>
              <a:schemeClr val="tx1"/>
            </a:solidFill>
          </a:ln>
        </p:spPr>
        <p:txBody>
          <a:bodyPr wrap="square">
            <a:spAutoFit/>
          </a:bodyPr>
          <a:lstStyle/>
          <a:p>
            <a:pPr algn="ctr"/>
            <a:r>
              <a:rPr lang="zh-CN" altLang="en-US" sz="2400" dirty="0">
                <a:solidFill>
                  <a:srgbClr val="C00000"/>
                </a:solidFill>
              </a:rPr>
              <a:t>启发函数因子</a:t>
            </a:r>
            <a:r>
              <a:rPr lang="en-US" altLang="zh-CN" sz="2400" dirty="0">
                <a:solidFill>
                  <a:srgbClr val="C00000"/>
                </a:solidFill>
              </a:rPr>
              <a:t>β</a:t>
            </a:r>
            <a:r>
              <a:rPr lang="zh-CN" altLang="en-US" sz="2400" dirty="0">
                <a:solidFill>
                  <a:srgbClr val="C00000"/>
                </a:solidFill>
              </a:rPr>
              <a:t>取值范围通常在</a:t>
            </a:r>
            <a:r>
              <a:rPr lang="en-US" altLang="zh-CN" sz="2400" dirty="0">
                <a:solidFill>
                  <a:srgbClr val="C00000"/>
                </a:solidFill>
              </a:rPr>
              <a:t>[0, 5]</a:t>
            </a:r>
            <a:r>
              <a:rPr lang="zh-CN" altLang="en-US" sz="2400" dirty="0">
                <a:solidFill>
                  <a:srgbClr val="C00000"/>
                </a:solidFill>
              </a:rPr>
              <a:t>之间。</a:t>
            </a:r>
          </a:p>
        </p:txBody>
      </p:sp>
    </p:spTree>
    <p:extLst>
      <p:ext uri="{BB962C8B-B14F-4D97-AF65-F5344CB8AC3E}">
        <p14:creationId xmlns:p14="http://schemas.microsoft.com/office/powerpoint/2010/main" val="75110991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6" presetClass="entr" presetSubtype="21" fill="hold" grpId="0" nodeType="withEffect">
                                  <p:stCondLst>
                                    <p:cond delay="0"/>
                                  </p:stCondLst>
                                  <p:childTnLst>
                                    <p:set>
                                      <p:cBhvr>
                                        <p:cTn id="6" dur="1" fill="hold">
                                          <p:stCondLst>
                                            <p:cond delay="0"/>
                                          </p:stCondLst>
                                        </p:cTn>
                                        <p:tgtEl>
                                          <p:spTgt spid="26"/>
                                        </p:tgtEl>
                                        <p:attrNameLst>
                                          <p:attrName>style.visibility</p:attrName>
                                        </p:attrNameLst>
                                      </p:cBhvr>
                                      <p:to>
                                        <p:strVal val="visible"/>
                                      </p:to>
                                    </p:set>
                                    <p:animEffect transition="in" filter="barn(inVertical)">
                                      <p:cBhvr>
                                        <p:cTn id="7" dur="500"/>
                                        <p:tgtEl>
                                          <p:spTgt spid="26"/>
                                        </p:tgtEl>
                                      </p:cBhvr>
                                    </p:animEffect>
                                  </p:childTnLst>
                                </p:cTn>
                              </p:par>
                            </p:childTnLst>
                          </p:cTn>
                        </p:par>
                        <p:par>
                          <p:cTn id="8" fill="hold">
                            <p:stCondLst>
                              <p:cond delay="500"/>
                            </p:stCondLst>
                            <p:childTnLst>
                              <p:par>
                                <p:cTn id="9" presetID="22" presetClass="entr" presetSubtype="4" fill="hold" grpId="0" nodeType="afterEffect">
                                  <p:stCondLst>
                                    <p:cond delay="0"/>
                                  </p:stCondLst>
                                  <p:childTnLst>
                                    <p:set>
                                      <p:cBhvr>
                                        <p:cTn id="10" dur="1" fill="hold">
                                          <p:stCondLst>
                                            <p:cond delay="0"/>
                                          </p:stCondLst>
                                        </p:cTn>
                                        <p:tgtEl>
                                          <p:spTgt spid="3"/>
                                        </p:tgtEl>
                                        <p:attrNameLst>
                                          <p:attrName>style.visibility</p:attrName>
                                        </p:attrNameLst>
                                      </p:cBhvr>
                                      <p:to>
                                        <p:strVal val="visible"/>
                                      </p:to>
                                    </p:set>
                                    <p:animEffect transition="in" filter="wipe(down)">
                                      <p:cBhvr>
                                        <p:cTn id="11"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 grpId="0"/>
      <p:bldP spid="3" grpId="0" animBg="1"/>
    </p:bld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946EA79-1C8A-4E46-A08C-22BEC975A93F}"/>
              </a:ext>
            </a:extLst>
          </p:cNvPr>
          <p:cNvSpPr>
            <a:spLocks noGrp="1"/>
          </p:cNvSpPr>
          <p:nvPr>
            <p:ph type="title"/>
          </p:nvPr>
        </p:nvSpPr>
        <p:spPr/>
        <p:txBody>
          <a:bodyPr/>
          <a:lstStyle/>
          <a:p>
            <a:r>
              <a:rPr lang="zh-CN" altLang="en-US" dirty="0"/>
              <a:t>蚁群算法流程</a:t>
            </a:r>
          </a:p>
        </p:txBody>
      </p:sp>
      <p:sp>
        <p:nvSpPr>
          <p:cNvPr id="4" name="日期占位符 3">
            <a:extLst>
              <a:ext uri="{FF2B5EF4-FFF2-40B4-BE49-F238E27FC236}">
                <a16:creationId xmlns:a16="http://schemas.microsoft.com/office/drawing/2014/main" id="{EACBE9B2-1C09-4A27-B89B-923947BEFDEB}"/>
              </a:ext>
            </a:extLst>
          </p:cNvPr>
          <p:cNvSpPr>
            <a:spLocks noGrp="1"/>
          </p:cNvSpPr>
          <p:nvPr>
            <p:ph type="dt" sz="half" idx="10"/>
          </p:nvPr>
        </p:nvSpPr>
        <p:spPr/>
        <p:txBody>
          <a:bodyPr/>
          <a:lstStyle/>
          <a:p>
            <a:fld id="{A8B06C41-1E1E-4B9B-9644-5AFB8CB2AB3B}" type="datetime3">
              <a:rPr lang="zh-CN" altLang="en-US" smtClean="0"/>
              <a:t>2022年11月24日星期四</a:t>
            </a:fld>
            <a:endParaRPr lang="en-US" altLang="zh-CN" dirty="0"/>
          </a:p>
        </p:txBody>
      </p:sp>
      <p:sp>
        <p:nvSpPr>
          <p:cNvPr id="5" name="灯片编号占位符 4">
            <a:extLst>
              <a:ext uri="{FF2B5EF4-FFF2-40B4-BE49-F238E27FC236}">
                <a16:creationId xmlns:a16="http://schemas.microsoft.com/office/drawing/2014/main" id="{BB719D07-C23B-4210-A855-B215712CBF97}"/>
              </a:ext>
            </a:extLst>
          </p:cNvPr>
          <p:cNvSpPr>
            <a:spLocks noGrp="1"/>
          </p:cNvSpPr>
          <p:nvPr>
            <p:ph type="sldNum" sz="quarter" idx="12"/>
          </p:nvPr>
        </p:nvSpPr>
        <p:spPr/>
        <p:txBody>
          <a:bodyPr/>
          <a:lstStyle/>
          <a:p>
            <a:fld id="{7AC79822-BC0D-4DE8-A7E5-90A3732A2B82}" type="slidenum">
              <a:rPr lang="zh-CN" altLang="en-US" smtClean="0"/>
              <a:pPr/>
              <a:t>47</a:t>
            </a:fld>
            <a:endParaRPr lang="en-US" altLang="zh-CN" dirty="0"/>
          </a:p>
        </p:txBody>
      </p:sp>
      <p:sp>
        <p:nvSpPr>
          <p:cNvPr id="6" name="文本占位符 3">
            <a:extLst>
              <a:ext uri="{FF2B5EF4-FFF2-40B4-BE49-F238E27FC236}">
                <a16:creationId xmlns:a16="http://schemas.microsoft.com/office/drawing/2014/main" id="{92A9DCC9-4169-4B45-A6AF-0C50C5626711}"/>
              </a:ext>
            </a:extLst>
          </p:cNvPr>
          <p:cNvSpPr txBox="1">
            <a:spLocks/>
          </p:cNvSpPr>
          <p:nvPr/>
        </p:nvSpPr>
        <p:spPr>
          <a:xfrm>
            <a:off x="128464" y="1124744"/>
            <a:ext cx="7857628" cy="1702338"/>
          </a:xfrm>
          <a:prstGeom prst="rect">
            <a:avLst/>
          </a:prstGeom>
        </p:spPr>
        <p:txBody>
          <a:bodyPr/>
          <a:lstStyle>
            <a:lvl1pPr marL="342900" indent="-342900" algn="l" rtl="0" eaLnBrk="1" fontAlgn="base" hangingPunct="1">
              <a:spcBef>
                <a:spcPct val="20000"/>
              </a:spcBef>
              <a:spcAft>
                <a:spcPct val="0"/>
              </a:spcAft>
              <a:buClr>
                <a:srgbClr val="333399"/>
              </a:buClr>
              <a:buSzPct val="75000"/>
              <a:buFont typeface="Wingdings" panose="05000000000000000000" pitchFamily="2" charset="2"/>
              <a:buChar char=""/>
              <a:defRPr sz="3200" b="1">
                <a:solidFill>
                  <a:schemeClr val="tx1"/>
                </a:solidFill>
                <a:latin typeface="+mn-lt"/>
                <a:ea typeface="黑体" pitchFamily="2" charset="-122"/>
                <a:cs typeface="+mn-cs"/>
              </a:defRPr>
            </a:lvl1pPr>
            <a:lvl2pPr marL="742950" indent="-285750" algn="l" rtl="0" eaLnBrk="1" fontAlgn="base" hangingPunct="1">
              <a:spcBef>
                <a:spcPct val="20000"/>
              </a:spcBef>
              <a:spcAft>
                <a:spcPct val="0"/>
              </a:spcAft>
              <a:buClr>
                <a:schemeClr val="accent2"/>
              </a:buClr>
              <a:buSzPct val="70000"/>
              <a:buFont typeface="Wingdings" panose="05000000000000000000" pitchFamily="2" charset="2"/>
              <a:buChar char=""/>
              <a:defRPr sz="2800" b="1">
                <a:solidFill>
                  <a:schemeClr val="tx1"/>
                </a:solidFill>
                <a:latin typeface="+mn-lt"/>
                <a:ea typeface="黑体" pitchFamily="2" charset="-122"/>
              </a:defRPr>
            </a:lvl2pPr>
            <a:lvl3pPr marL="1143000" indent="-228600" algn="l" rtl="0" eaLnBrk="1" fontAlgn="base" hangingPunct="1">
              <a:spcBef>
                <a:spcPct val="20000"/>
              </a:spcBef>
              <a:spcAft>
                <a:spcPct val="0"/>
              </a:spcAft>
              <a:buClr>
                <a:srgbClr val="333399"/>
              </a:buClr>
              <a:buSzPct val="65000"/>
              <a:buFont typeface="Wingdings" panose="05000000000000000000" pitchFamily="2" charset="2"/>
              <a:buChar char=""/>
              <a:defRPr sz="2400" b="1">
                <a:solidFill>
                  <a:schemeClr val="tx1"/>
                </a:solidFill>
                <a:latin typeface="+mn-lt"/>
                <a:ea typeface="黑体" pitchFamily="2" charset="-122"/>
              </a:defRPr>
            </a:lvl3pPr>
            <a:lvl4pPr marL="1600200" indent="-228600" algn="l" rtl="0" eaLnBrk="1" fontAlgn="base" hangingPunct="1">
              <a:spcBef>
                <a:spcPct val="20000"/>
              </a:spcBef>
              <a:spcAft>
                <a:spcPct val="0"/>
              </a:spcAft>
              <a:buClr>
                <a:schemeClr val="bg2"/>
              </a:buClr>
              <a:buSzPct val="65000"/>
              <a:buFont typeface="Wingdings" pitchFamily="2" charset="2"/>
              <a:buChar char="n"/>
              <a:defRPr sz="2000" b="1">
                <a:solidFill>
                  <a:schemeClr val="tx1"/>
                </a:solidFill>
                <a:latin typeface="+mn-lt"/>
                <a:ea typeface="黑体" pitchFamily="2" charset="-122"/>
              </a:defRPr>
            </a:lvl4pPr>
            <a:lvl5pPr marL="2057400" indent="-228600" algn="l" rtl="0" eaLnBrk="1" fontAlgn="base" hangingPunct="1">
              <a:spcBef>
                <a:spcPct val="20000"/>
              </a:spcBef>
              <a:spcAft>
                <a:spcPct val="0"/>
              </a:spcAft>
              <a:buClr>
                <a:srgbClr val="333399"/>
              </a:buClr>
              <a:buSzPct val="60000"/>
              <a:buFont typeface="Wingdings" panose="05000000000000000000" pitchFamily="2" charset="2"/>
              <a:buChar char="Ø"/>
              <a:defRPr sz="2000" b="1">
                <a:solidFill>
                  <a:schemeClr val="tx1"/>
                </a:solidFill>
                <a:latin typeface="+mn-lt"/>
                <a:ea typeface="黑体" pitchFamily="2" charset="-122"/>
              </a:defRPr>
            </a:lvl5pPr>
            <a:lvl6pPr marL="25146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defRPr>
            </a:lvl6pPr>
            <a:lvl7pPr marL="29718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defRPr>
            </a:lvl7pPr>
            <a:lvl8pPr marL="34290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defRPr>
            </a:lvl8pPr>
            <a:lvl9pPr marL="38862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defRPr>
            </a:lvl9pPr>
          </a:lstStyle>
          <a:p>
            <a:pPr marL="0" indent="0">
              <a:buNone/>
            </a:pPr>
            <a:r>
              <a:rPr lang="en-US" altLang="zh-CN" sz="2400" kern="0" dirty="0">
                <a:latin typeface="黑体" panose="02010609060101010101" pitchFamily="49" charset="-122"/>
                <a:ea typeface="黑体" panose="02010609060101010101" pitchFamily="49" charset="-122"/>
              </a:rPr>
              <a:t>1. </a:t>
            </a:r>
            <a:r>
              <a:rPr lang="zh-CN" altLang="en-US" sz="2400" kern="0" dirty="0">
                <a:latin typeface="黑体" panose="02010609060101010101" pitchFamily="49" charset="-122"/>
                <a:ea typeface="黑体" panose="02010609060101010101" pitchFamily="49" charset="-122"/>
              </a:rPr>
              <a:t>初始化</a:t>
            </a:r>
            <a:r>
              <a:rPr lang="en-US" altLang="zh-CN" sz="2400" kern="0" dirty="0">
                <a:latin typeface="黑体" panose="02010609060101010101" pitchFamily="49" charset="-122"/>
                <a:ea typeface="黑体" panose="02010609060101010101" pitchFamily="49" charset="-122"/>
              </a:rPr>
              <a:t>(</a:t>
            </a:r>
            <a:r>
              <a:rPr lang="zh-CN" altLang="en-US" sz="2400" kern="0" dirty="0">
                <a:latin typeface="黑体" panose="02010609060101010101" pitchFamily="49" charset="-122"/>
                <a:ea typeface="黑体" panose="02010609060101010101" pitchFamily="49" charset="-122"/>
              </a:rPr>
              <a:t>各个参数</a:t>
            </a:r>
            <a:r>
              <a:rPr lang="en-US" altLang="zh-CN" sz="2400" kern="0" dirty="0">
                <a:latin typeface="黑体" panose="02010609060101010101" pitchFamily="49" charset="-122"/>
                <a:ea typeface="黑体" panose="02010609060101010101" pitchFamily="49" charset="-122"/>
              </a:rPr>
              <a:t>):</a:t>
            </a:r>
          </a:p>
          <a:p>
            <a:pPr marL="0" indent="0">
              <a:buNone/>
            </a:pPr>
            <a:r>
              <a:rPr lang="zh-CN" altLang="en-US" sz="2400" b="0" kern="0" dirty="0">
                <a:latin typeface="黑体" panose="02010609060101010101" pitchFamily="49" charset="-122"/>
                <a:ea typeface="黑体" panose="02010609060101010101" pitchFamily="49" charset="-122"/>
              </a:rPr>
              <a:t>在计算之初需要对相关的参数进行初始化，如蚂蚁数量</a:t>
            </a:r>
            <a:r>
              <a:rPr lang="en-US" altLang="zh-CN" sz="2400" b="0" kern="0" dirty="0">
                <a:latin typeface="黑体" panose="02010609060101010101" pitchFamily="49" charset="-122"/>
                <a:ea typeface="黑体" panose="02010609060101010101" pitchFamily="49" charset="-122"/>
              </a:rPr>
              <a:t>m</a:t>
            </a:r>
            <a:r>
              <a:rPr lang="zh-CN" altLang="en-US" sz="2400" b="0" kern="0" dirty="0">
                <a:latin typeface="黑体" panose="02010609060101010101" pitchFamily="49" charset="-122"/>
                <a:ea typeface="黑体" panose="02010609060101010101" pitchFamily="49" charset="-122"/>
              </a:rPr>
              <a:t>、信息素因子</a:t>
            </a:r>
            <a:r>
              <a:rPr lang="el-GR" altLang="zh-CN" sz="2400" b="0" kern="0" dirty="0">
                <a:latin typeface="黑体" panose="02010609060101010101" pitchFamily="49" charset="-122"/>
                <a:ea typeface="黑体" panose="02010609060101010101" pitchFamily="49" charset="-122"/>
              </a:rPr>
              <a:t>α</a:t>
            </a:r>
            <a:r>
              <a:rPr lang="zh-CN" altLang="en-US" sz="2400" b="0" kern="0" dirty="0">
                <a:latin typeface="黑体" panose="02010609060101010101" pitchFamily="49" charset="-122"/>
                <a:ea typeface="黑体" panose="02010609060101010101" pitchFamily="49" charset="-122"/>
              </a:rPr>
              <a:t>、启发函数因子</a:t>
            </a:r>
            <a:r>
              <a:rPr lang="en-US" altLang="zh-CN" sz="2400" b="0" kern="0" dirty="0">
                <a:latin typeface="黑体" panose="02010609060101010101" pitchFamily="49" charset="-122"/>
                <a:ea typeface="黑体" panose="02010609060101010101" pitchFamily="49" charset="-122"/>
              </a:rPr>
              <a:t>β</a:t>
            </a:r>
            <a:r>
              <a:rPr lang="zh-CN" altLang="en-US" sz="2400" b="0" kern="0" dirty="0">
                <a:latin typeface="黑体" panose="02010609060101010101" pitchFamily="49" charset="-122"/>
                <a:ea typeface="黑体" panose="02010609060101010101" pitchFamily="49" charset="-122"/>
              </a:rPr>
              <a:t>、信息素挥发因子</a:t>
            </a:r>
            <a:r>
              <a:rPr lang="en-US" altLang="zh-CN" sz="2400" b="0" kern="0" dirty="0">
                <a:latin typeface="黑体" panose="02010609060101010101" pitchFamily="49" charset="-122"/>
                <a:ea typeface="黑体" panose="02010609060101010101" pitchFamily="49" charset="-122"/>
              </a:rPr>
              <a:t>ρ</a:t>
            </a:r>
            <a:r>
              <a:rPr lang="zh-CN" altLang="en-US" sz="2400" b="0" kern="0" dirty="0">
                <a:latin typeface="黑体" panose="02010609060101010101" pitchFamily="49" charset="-122"/>
                <a:ea typeface="黑体" panose="02010609060101010101" pitchFamily="49" charset="-122"/>
              </a:rPr>
              <a:t>、信息素常数</a:t>
            </a:r>
            <a:r>
              <a:rPr lang="en-US" altLang="zh-CN" sz="2400" b="0" kern="0" dirty="0">
                <a:latin typeface="黑体" panose="02010609060101010101" pitchFamily="49" charset="-122"/>
                <a:ea typeface="黑体" panose="02010609060101010101" pitchFamily="49" charset="-122"/>
              </a:rPr>
              <a:t>Q</a:t>
            </a:r>
            <a:r>
              <a:rPr lang="zh-CN" altLang="en-US" sz="2400" b="0" kern="0" dirty="0">
                <a:latin typeface="黑体" panose="02010609060101010101" pitchFamily="49" charset="-122"/>
                <a:ea typeface="黑体" panose="02010609060101010101" pitchFamily="49" charset="-122"/>
              </a:rPr>
              <a:t>、最大迭代次数</a:t>
            </a:r>
            <a:r>
              <a:rPr lang="en-US" altLang="zh-CN" sz="2400" b="0" kern="0" dirty="0">
                <a:latin typeface="黑体" panose="02010609060101010101" pitchFamily="49" charset="-122"/>
                <a:ea typeface="黑体" panose="02010609060101010101" pitchFamily="49" charset="-122"/>
              </a:rPr>
              <a:t>t</a:t>
            </a:r>
            <a:r>
              <a:rPr lang="zh-CN" altLang="en-US" sz="2400" b="0" kern="0" dirty="0">
                <a:latin typeface="黑体" panose="02010609060101010101" pitchFamily="49" charset="-122"/>
                <a:ea typeface="黑体" panose="02010609060101010101" pitchFamily="49" charset="-122"/>
              </a:rPr>
              <a:t>等等。</a:t>
            </a:r>
            <a:endParaRPr lang="en-US" altLang="zh-CN" sz="2400" kern="0" dirty="0">
              <a:latin typeface="黑体" panose="02010609060101010101" pitchFamily="49" charset="-122"/>
              <a:ea typeface="黑体" panose="02010609060101010101" pitchFamily="49" charset="-122"/>
            </a:endParaRPr>
          </a:p>
          <a:p>
            <a:pPr marL="0" indent="0">
              <a:buNone/>
            </a:pPr>
            <a:endParaRPr lang="en-US" altLang="zh-CN" sz="2400" kern="0" dirty="0">
              <a:solidFill>
                <a:schemeClr val="tx1">
                  <a:lumMod val="65000"/>
                  <a:lumOff val="35000"/>
                </a:schemeClr>
              </a:solidFill>
              <a:latin typeface="黑体" panose="02010609060101010101" pitchFamily="49" charset="-122"/>
              <a:ea typeface="黑体" panose="02010609060101010101" pitchFamily="49" charset="-122"/>
            </a:endParaRPr>
          </a:p>
        </p:txBody>
      </p:sp>
      <p:sp>
        <p:nvSpPr>
          <p:cNvPr id="26" name="文本框 25">
            <a:extLst>
              <a:ext uri="{FF2B5EF4-FFF2-40B4-BE49-F238E27FC236}">
                <a16:creationId xmlns:a16="http://schemas.microsoft.com/office/drawing/2014/main" id="{0E64A4E8-F704-40B0-A7E8-14DA448F964B}"/>
              </a:ext>
            </a:extLst>
          </p:cNvPr>
          <p:cNvSpPr txBox="1"/>
          <p:nvPr/>
        </p:nvSpPr>
        <p:spPr>
          <a:xfrm>
            <a:off x="272481" y="2996952"/>
            <a:ext cx="9217023" cy="2308324"/>
          </a:xfrm>
          <a:prstGeom prst="rect">
            <a:avLst/>
          </a:prstGeom>
          <a:noFill/>
        </p:spPr>
        <p:txBody>
          <a:bodyPr wrap="square" rtlCol="0">
            <a:spAutoFit/>
          </a:bodyPr>
          <a:lstStyle/>
          <a:p>
            <a:pPr marL="342900" indent="-342900">
              <a:buFont typeface="Wingdings" panose="05000000000000000000" pitchFamily="2" charset="2"/>
              <a:buChar char="p"/>
            </a:pPr>
            <a:r>
              <a:rPr lang="zh-CN" altLang="en-US" sz="2400" kern="0" dirty="0">
                <a:latin typeface="黑体" panose="02010609060101010101" pitchFamily="49" charset="-122"/>
                <a:ea typeface="黑体" panose="02010609060101010101" pitchFamily="49" charset="-122"/>
              </a:rPr>
              <a:t>信息素挥发因子</a:t>
            </a:r>
            <a:r>
              <a:rPr lang="en-US" altLang="zh-CN" sz="2400" kern="0" dirty="0">
                <a:latin typeface="黑体" panose="02010609060101010101" pitchFamily="49" charset="-122"/>
                <a:ea typeface="黑体" panose="02010609060101010101" pitchFamily="49" charset="-122"/>
              </a:rPr>
              <a:t>ρ </a:t>
            </a:r>
            <a:r>
              <a:rPr lang="en-US" altLang="zh-CN" sz="2400" dirty="0"/>
              <a:t>:</a:t>
            </a:r>
          </a:p>
          <a:p>
            <a:pPr marL="285750" indent="-285750">
              <a:buFont typeface="Arial" panose="020B0604020202020204" pitchFamily="34" charset="0"/>
              <a:buChar char="•"/>
            </a:pPr>
            <a:r>
              <a:rPr lang="zh-CN" altLang="en-US" sz="2400" dirty="0"/>
              <a:t>过大</a:t>
            </a:r>
            <a:r>
              <a:rPr lang="en-US" altLang="zh-CN" sz="2400" dirty="0"/>
              <a:t>——</a:t>
            </a:r>
            <a:r>
              <a:rPr lang="zh-CN" altLang="en-US" sz="2400" dirty="0"/>
              <a:t>信息素挥发较快，容易导致较优路径被排除。</a:t>
            </a:r>
          </a:p>
          <a:p>
            <a:pPr marL="285750" indent="-285750">
              <a:buFont typeface="Arial" panose="020B0604020202020204" pitchFamily="34" charset="0"/>
              <a:buChar char="•"/>
            </a:pPr>
            <a:endParaRPr lang="en-US" altLang="zh-CN" sz="2400" dirty="0"/>
          </a:p>
          <a:p>
            <a:pPr marL="285750" indent="-285750">
              <a:buFont typeface="Arial" panose="020B0604020202020204" pitchFamily="34" charset="0"/>
              <a:buChar char="•"/>
            </a:pPr>
            <a:r>
              <a:rPr lang="zh-CN" altLang="en-US" sz="2400" dirty="0"/>
              <a:t>过小</a:t>
            </a:r>
            <a:r>
              <a:rPr lang="en-US" altLang="zh-CN" sz="2400" dirty="0"/>
              <a:t>——</a:t>
            </a:r>
            <a:r>
              <a:rPr lang="zh-CN" altLang="en-US" sz="2400" dirty="0"/>
              <a:t>各路径上信息素含量差别较小，收敛速度降低。。</a:t>
            </a:r>
          </a:p>
          <a:p>
            <a:pPr marL="285750" indent="-285750">
              <a:buFont typeface="Arial" panose="020B0604020202020204" pitchFamily="34" charset="0"/>
              <a:buChar char="•"/>
            </a:pPr>
            <a:endParaRPr lang="zh-CN" altLang="en-US" sz="2400" dirty="0"/>
          </a:p>
          <a:p>
            <a:pPr marL="285750" indent="-285750">
              <a:buFont typeface="Arial" panose="020B0604020202020204" pitchFamily="34" charset="0"/>
              <a:buChar char="•"/>
            </a:pPr>
            <a:endParaRPr lang="zh-CN" altLang="en-US" sz="2400" dirty="0"/>
          </a:p>
        </p:txBody>
      </p:sp>
      <p:sp>
        <p:nvSpPr>
          <p:cNvPr id="3" name="矩形 2">
            <a:extLst>
              <a:ext uri="{FF2B5EF4-FFF2-40B4-BE49-F238E27FC236}">
                <a16:creationId xmlns:a16="http://schemas.microsoft.com/office/drawing/2014/main" id="{BC5A2E2C-9822-44DB-8BC8-4F5FE5848429}"/>
              </a:ext>
            </a:extLst>
          </p:cNvPr>
          <p:cNvSpPr/>
          <p:nvPr/>
        </p:nvSpPr>
        <p:spPr>
          <a:xfrm>
            <a:off x="1496616" y="5212943"/>
            <a:ext cx="6489476" cy="830997"/>
          </a:xfrm>
          <a:prstGeom prst="rect">
            <a:avLst/>
          </a:prstGeom>
          <a:solidFill>
            <a:srgbClr val="FFFF00"/>
          </a:solidFill>
          <a:ln>
            <a:solidFill>
              <a:schemeClr val="tx1"/>
            </a:solidFill>
          </a:ln>
        </p:spPr>
        <p:txBody>
          <a:bodyPr wrap="square">
            <a:spAutoFit/>
          </a:bodyPr>
          <a:lstStyle/>
          <a:p>
            <a:pPr algn="ctr"/>
            <a:r>
              <a:rPr lang="zh-CN" altLang="en-US" sz="2400" dirty="0">
                <a:solidFill>
                  <a:srgbClr val="C00000"/>
                </a:solidFill>
              </a:rPr>
              <a:t>信息素挥发因子</a:t>
            </a:r>
            <a:r>
              <a:rPr lang="en-US" altLang="zh-CN" sz="2400" dirty="0">
                <a:solidFill>
                  <a:srgbClr val="C00000"/>
                </a:solidFill>
              </a:rPr>
              <a:t>ρ</a:t>
            </a:r>
            <a:r>
              <a:rPr lang="zh-CN" altLang="en-US" sz="2400" dirty="0">
                <a:solidFill>
                  <a:srgbClr val="C00000"/>
                </a:solidFill>
              </a:rPr>
              <a:t>取值范围通常在</a:t>
            </a:r>
            <a:r>
              <a:rPr lang="en-US" altLang="zh-CN" sz="2400" dirty="0">
                <a:solidFill>
                  <a:srgbClr val="C00000"/>
                </a:solidFill>
              </a:rPr>
              <a:t>[0.2, 0.5]</a:t>
            </a:r>
            <a:r>
              <a:rPr lang="zh-CN" altLang="en-US" sz="2400" dirty="0">
                <a:solidFill>
                  <a:srgbClr val="C00000"/>
                </a:solidFill>
              </a:rPr>
              <a:t>之间。</a:t>
            </a:r>
          </a:p>
        </p:txBody>
      </p:sp>
    </p:spTree>
    <p:extLst>
      <p:ext uri="{BB962C8B-B14F-4D97-AF65-F5344CB8AC3E}">
        <p14:creationId xmlns:p14="http://schemas.microsoft.com/office/powerpoint/2010/main" val="1975434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6" presetClass="entr" presetSubtype="21" fill="hold" grpId="0" nodeType="withEffect">
                                  <p:stCondLst>
                                    <p:cond delay="0"/>
                                  </p:stCondLst>
                                  <p:childTnLst>
                                    <p:set>
                                      <p:cBhvr>
                                        <p:cTn id="6" dur="1" fill="hold">
                                          <p:stCondLst>
                                            <p:cond delay="0"/>
                                          </p:stCondLst>
                                        </p:cTn>
                                        <p:tgtEl>
                                          <p:spTgt spid="26"/>
                                        </p:tgtEl>
                                        <p:attrNameLst>
                                          <p:attrName>style.visibility</p:attrName>
                                        </p:attrNameLst>
                                      </p:cBhvr>
                                      <p:to>
                                        <p:strVal val="visible"/>
                                      </p:to>
                                    </p:set>
                                    <p:animEffect transition="in" filter="barn(inVertical)">
                                      <p:cBhvr>
                                        <p:cTn id="7" dur="500"/>
                                        <p:tgtEl>
                                          <p:spTgt spid="26"/>
                                        </p:tgtEl>
                                      </p:cBhvr>
                                    </p:animEffect>
                                  </p:childTnLst>
                                </p:cTn>
                              </p:par>
                            </p:childTnLst>
                          </p:cTn>
                        </p:par>
                        <p:par>
                          <p:cTn id="8" fill="hold">
                            <p:stCondLst>
                              <p:cond delay="500"/>
                            </p:stCondLst>
                            <p:childTnLst>
                              <p:par>
                                <p:cTn id="9" presetID="22" presetClass="entr" presetSubtype="4" fill="hold" grpId="0" nodeType="afterEffect">
                                  <p:stCondLst>
                                    <p:cond delay="0"/>
                                  </p:stCondLst>
                                  <p:childTnLst>
                                    <p:set>
                                      <p:cBhvr>
                                        <p:cTn id="10" dur="1" fill="hold">
                                          <p:stCondLst>
                                            <p:cond delay="0"/>
                                          </p:stCondLst>
                                        </p:cTn>
                                        <p:tgtEl>
                                          <p:spTgt spid="3"/>
                                        </p:tgtEl>
                                        <p:attrNameLst>
                                          <p:attrName>style.visibility</p:attrName>
                                        </p:attrNameLst>
                                      </p:cBhvr>
                                      <p:to>
                                        <p:strVal val="visible"/>
                                      </p:to>
                                    </p:set>
                                    <p:animEffect transition="in" filter="wipe(down)">
                                      <p:cBhvr>
                                        <p:cTn id="11"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 grpId="0"/>
      <p:bldP spid="3" grpId="0" animBg="1"/>
    </p:bld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946EA79-1C8A-4E46-A08C-22BEC975A93F}"/>
              </a:ext>
            </a:extLst>
          </p:cNvPr>
          <p:cNvSpPr>
            <a:spLocks noGrp="1"/>
          </p:cNvSpPr>
          <p:nvPr>
            <p:ph type="title"/>
          </p:nvPr>
        </p:nvSpPr>
        <p:spPr/>
        <p:txBody>
          <a:bodyPr/>
          <a:lstStyle/>
          <a:p>
            <a:r>
              <a:rPr lang="zh-CN" altLang="en-US" dirty="0"/>
              <a:t>蚁群算法流程</a:t>
            </a:r>
          </a:p>
        </p:txBody>
      </p:sp>
      <p:sp>
        <p:nvSpPr>
          <p:cNvPr id="4" name="日期占位符 3">
            <a:extLst>
              <a:ext uri="{FF2B5EF4-FFF2-40B4-BE49-F238E27FC236}">
                <a16:creationId xmlns:a16="http://schemas.microsoft.com/office/drawing/2014/main" id="{EACBE9B2-1C09-4A27-B89B-923947BEFDEB}"/>
              </a:ext>
            </a:extLst>
          </p:cNvPr>
          <p:cNvSpPr>
            <a:spLocks noGrp="1"/>
          </p:cNvSpPr>
          <p:nvPr>
            <p:ph type="dt" sz="half" idx="10"/>
          </p:nvPr>
        </p:nvSpPr>
        <p:spPr/>
        <p:txBody>
          <a:bodyPr/>
          <a:lstStyle/>
          <a:p>
            <a:fld id="{A8B06C41-1E1E-4B9B-9644-5AFB8CB2AB3B}" type="datetime3">
              <a:rPr lang="zh-CN" altLang="en-US" smtClean="0"/>
              <a:t>2022年11月24日星期四</a:t>
            </a:fld>
            <a:endParaRPr lang="en-US" altLang="zh-CN" dirty="0"/>
          </a:p>
        </p:txBody>
      </p:sp>
      <p:sp>
        <p:nvSpPr>
          <p:cNvPr id="5" name="灯片编号占位符 4">
            <a:extLst>
              <a:ext uri="{FF2B5EF4-FFF2-40B4-BE49-F238E27FC236}">
                <a16:creationId xmlns:a16="http://schemas.microsoft.com/office/drawing/2014/main" id="{BB719D07-C23B-4210-A855-B215712CBF97}"/>
              </a:ext>
            </a:extLst>
          </p:cNvPr>
          <p:cNvSpPr>
            <a:spLocks noGrp="1"/>
          </p:cNvSpPr>
          <p:nvPr>
            <p:ph type="sldNum" sz="quarter" idx="12"/>
          </p:nvPr>
        </p:nvSpPr>
        <p:spPr/>
        <p:txBody>
          <a:bodyPr/>
          <a:lstStyle/>
          <a:p>
            <a:fld id="{7AC79822-BC0D-4DE8-A7E5-90A3732A2B82}" type="slidenum">
              <a:rPr lang="zh-CN" altLang="en-US" smtClean="0"/>
              <a:pPr/>
              <a:t>48</a:t>
            </a:fld>
            <a:endParaRPr lang="en-US" altLang="zh-CN" dirty="0"/>
          </a:p>
        </p:txBody>
      </p:sp>
      <p:sp>
        <p:nvSpPr>
          <p:cNvPr id="6" name="文本占位符 3">
            <a:extLst>
              <a:ext uri="{FF2B5EF4-FFF2-40B4-BE49-F238E27FC236}">
                <a16:creationId xmlns:a16="http://schemas.microsoft.com/office/drawing/2014/main" id="{92A9DCC9-4169-4B45-A6AF-0C50C5626711}"/>
              </a:ext>
            </a:extLst>
          </p:cNvPr>
          <p:cNvSpPr txBox="1">
            <a:spLocks/>
          </p:cNvSpPr>
          <p:nvPr/>
        </p:nvSpPr>
        <p:spPr>
          <a:xfrm>
            <a:off x="128464" y="1124744"/>
            <a:ext cx="7857628" cy="1702338"/>
          </a:xfrm>
          <a:prstGeom prst="rect">
            <a:avLst/>
          </a:prstGeom>
        </p:spPr>
        <p:txBody>
          <a:bodyPr/>
          <a:lstStyle>
            <a:lvl1pPr marL="342900" indent="-342900" algn="l" rtl="0" eaLnBrk="1" fontAlgn="base" hangingPunct="1">
              <a:spcBef>
                <a:spcPct val="20000"/>
              </a:spcBef>
              <a:spcAft>
                <a:spcPct val="0"/>
              </a:spcAft>
              <a:buClr>
                <a:srgbClr val="333399"/>
              </a:buClr>
              <a:buSzPct val="75000"/>
              <a:buFont typeface="Wingdings" panose="05000000000000000000" pitchFamily="2" charset="2"/>
              <a:buChar char=""/>
              <a:defRPr sz="3200" b="1">
                <a:solidFill>
                  <a:schemeClr val="tx1"/>
                </a:solidFill>
                <a:latin typeface="+mn-lt"/>
                <a:ea typeface="黑体" pitchFamily="2" charset="-122"/>
                <a:cs typeface="+mn-cs"/>
              </a:defRPr>
            </a:lvl1pPr>
            <a:lvl2pPr marL="742950" indent="-285750" algn="l" rtl="0" eaLnBrk="1" fontAlgn="base" hangingPunct="1">
              <a:spcBef>
                <a:spcPct val="20000"/>
              </a:spcBef>
              <a:spcAft>
                <a:spcPct val="0"/>
              </a:spcAft>
              <a:buClr>
                <a:schemeClr val="accent2"/>
              </a:buClr>
              <a:buSzPct val="70000"/>
              <a:buFont typeface="Wingdings" panose="05000000000000000000" pitchFamily="2" charset="2"/>
              <a:buChar char=""/>
              <a:defRPr sz="2800" b="1">
                <a:solidFill>
                  <a:schemeClr val="tx1"/>
                </a:solidFill>
                <a:latin typeface="+mn-lt"/>
                <a:ea typeface="黑体" pitchFamily="2" charset="-122"/>
              </a:defRPr>
            </a:lvl2pPr>
            <a:lvl3pPr marL="1143000" indent="-228600" algn="l" rtl="0" eaLnBrk="1" fontAlgn="base" hangingPunct="1">
              <a:spcBef>
                <a:spcPct val="20000"/>
              </a:spcBef>
              <a:spcAft>
                <a:spcPct val="0"/>
              </a:spcAft>
              <a:buClr>
                <a:srgbClr val="333399"/>
              </a:buClr>
              <a:buSzPct val="65000"/>
              <a:buFont typeface="Wingdings" panose="05000000000000000000" pitchFamily="2" charset="2"/>
              <a:buChar char=""/>
              <a:defRPr sz="2400" b="1">
                <a:solidFill>
                  <a:schemeClr val="tx1"/>
                </a:solidFill>
                <a:latin typeface="+mn-lt"/>
                <a:ea typeface="黑体" pitchFamily="2" charset="-122"/>
              </a:defRPr>
            </a:lvl3pPr>
            <a:lvl4pPr marL="1600200" indent="-228600" algn="l" rtl="0" eaLnBrk="1" fontAlgn="base" hangingPunct="1">
              <a:spcBef>
                <a:spcPct val="20000"/>
              </a:spcBef>
              <a:spcAft>
                <a:spcPct val="0"/>
              </a:spcAft>
              <a:buClr>
                <a:schemeClr val="bg2"/>
              </a:buClr>
              <a:buSzPct val="65000"/>
              <a:buFont typeface="Wingdings" pitchFamily="2" charset="2"/>
              <a:buChar char="n"/>
              <a:defRPr sz="2000" b="1">
                <a:solidFill>
                  <a:schemeClr val="tx1"/>
                </a:solidFill>
                <a:latin typeface="+mn-lt"/>
                <a:ea typeface="黑体" pitchFamily="2" charset="-122"/>
              </a:defRPr>
            </a:lvl4pPr>
            <a:lvl5pPr marL="2057400" indent="-228600" algn="l" rtl="0" eaLnBrk="1" fontAlgn="base" hangingPunct="1">
              <a:spcBef>
                <a:spcPct val="20000"/>
              </a:spcBef>
              <a:spcAft>
                <a:spcPct val="0"/>
              </a:spcAft>
              <a:buClr>
                <a:srgbClr val="333399"/>
              </a:buClr>
              <a:buSzPct val="60000"/>
              <a:buFont typeface="Wingdings" panose="05000000000000000000" pitchFamily="2" charset="2"/>
              <a:buChar char="Ø"/>
              <a:defRPr sz="2000" b="1">
                <a:solidFill>
                  <a:schemeClr val="tx1"/>
                </a:solidFill>
                <a:latin typeface="+mn-lt"/>
                <a:ea typeface="黑体" pitchFamily="2" charset="-122"/>
              </a:defRPr>
            </a:lvl5pPr>
            <a:lvl6pPr marL="25146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defRPr>
            </a:lvl6pPr>
            <a:lvl7pPr marL="29718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defRPr>
            </a:lvl7pPr>
            <a:lvl8pPr marL="34290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defRPr>
            </a:lvl8pPr>
            <a:lvl9pPr marL="38862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defRPr>
            </a:lvl9pPr>
          </a:lstStyle>
          <a:p>
            <a:pPr marL="0" indent="0">
              <a:buNone/>
            </a:pPr>
            <a:r>
              <a:rPr lang="en-US" altLang="zh-CN" sz="2400" kern="0" dirty="0">
                <a:latin typeface="黑体" panose="02010609060101010101" pitchFamily="49" charset="-122"/>
                <a:ea typeface="黑体" panose="02010609060101010101" pitchFamily="49" charset="-122"/>
              </a:rPr>
              <a:t>2.</a:t>
            </a:r>
            <a:r>
              <a:rPr lang="zh-CN" altLang="en-US" sz="2400" kern="0" dirty="0">
                <a:latin typeface="黑体" panose="02010609060101010101" pitchFamily="49" charset="-122"/>
                <a:ea typeface="黑体" panose="02010609060101010101" pitchFamily="49" charset="-122"/>
              </a:rPr>
              <a:t>构建解空间：</a:t>
            </a:r>
            <a:endParaRPr lang="en-US" altLang="zh-CN" sz="2400" kern="0" dirty="0">
              <a:latin typeface="黑体" panose="02010609060101010101" pitchFamily="49" charset="-122"/>
              <a:ea typeface="黑体" panose="02010609060101010101" pitchFamily="49" charset="-122"/>
            </a:endParaRPr>
          </a:p>
          <a:p>
            <a:pPr marL="0" indent="0">
              <a:buNone/>
            </a:pPr>
            <a:r>
              <a:rPr lang="zh-CN" altLang="en-US" sz="2400" b="0" kern="0" dirty="0">
                <a:latin typeface="黑体" panose="02010609060101010101" pitchFamily="49" charset="-122"/>
                <a:ea typeface="黑体" panose="02010609060101010101" pitchFamily="49" charset="-122"/>
              </a:rPr>
              <a:t>将各个蚂蚁随机地放置于不同的出发点，对每个蚂蚁</a:t>
            </a:r>
            <a:r>
              <a:rPr lang="en-US" altLang="zh-CN" sz="2400" b="0" kern="0" dirty="0">
                <a:latin typeface="黑体" panose="02010609060101010101" pitchFamily="49" charset="-122"/>
                <a:ea typeface="黑体" panose="02010609060101010101" pitchFamily="49" charset="-122"/>
              </a:rPr>
              <a:t>k</a:t>
            </a:r>
            <a:r>
              <a:rPr lang="zh-CN" altLang="en-US" sz="2400" b="0" kern="0" dirty="0">
                <a:latin typeface="黑体" panose="02010609060101010101" pitchFamily="49" charset="-122"/>
                <a:ea typeface="黑体" panose="02010609060101010101" pitchFamily="49" charset="-122"/>
              </a:rPr>
              <a:t>（</a:t>
            </a:r>
            <a:r>
              <a:rPr lang="en-US" altLang="zh-CN" sz="2400" b="0" kern="0" dirty="0">
                <a:latin typeface="黑体" panose="02010609060101010101" pitchFamily="49" charset="-122"/>
                <a:ea typeface="黑体" panose="02010609060101010101" pitchFamily="49" charset="-122"/>
              </a:rPr>
              <a:t>k=1</a:t>
            </a:r>
            <a:r>
              <a:rPr lang="zh-CN" altLang="en-US" sz="2400" b="0" kern="0" dirty="0">
                <a:latin typeface="黑体" panose="02010609060101010101" pitchFamily="49" charset="-122"/>
                <a:ea typeface="黑体" panose="02010609060101010101" pitchFamily="49" charset="-122"/>
              </a:rPr>
              <a:t>，</a:t>
            </a:r>
            <a:r>
              <a:rPr lang="en-US" altLang="zh-CN" sz="2400" b="0" kern="0" dirty="0">
                <a:latin typeface="黑体" panose="02010609060101010101" pitchFamily="49" charset="-122"/>
                <a:ea typeface="黑体" panose="02010609060101010101" pitchFamily="49" charset="-122"/>
              </a:rPr>
              <a:t>2</a:t>
            </a:r>
            <a:r>
              <a:rPr lang="zh-CN" altLang="en-US" sz="2400" b="0" kern="0" dirty="0">
                <a:latin typeface="黑体" panose="02010609060101010101" pitchFamily="49" charset="-122"/>
                <a:ea typeface="黑体" panose="02010609060101010101" pitchFamily="49" charset="-122"/>
              </a:rPr>
              <a:t>，</a:t>
            </a:r>
            <a:r>
              <a:rPr lang="en-US" altLang="zh-CN" sz="2400" b="0" kern="0" dirty="0">
                <a:latin typeface="黑体" panose="02010609060101010101" pitchFamily="49" charset="-122"/>
                <a:ea typeface="黑体" panose="02010609060101010101" pitchFamily="49" charset="-122"/>
              </a:rPr>
              <a:t>……</a:t>
            </a:r>
            <a:r>
              <a:rPr lang="zh-CN" altLang="en-US" sz="2400" b="0" kern="0" dirty="0">
                <a:latin typeface="黑体" panose="02010609060101010101" pitchFamily="49" charset="-122"/>
                <a:ea typeface="黑体" panose="02010609060101010101" pitchFamily="49" charset="-122"/>
              </a:rPr>
              <a:t>，</a:t>
            </a:r>
            <a:r>
              <a:rPr lang="en-US" altLang="zh-CN" sz="2400" b="0" kern="0" dirty="0">
                <a:latin typeface="黑体" panose="02010609060101010101" pitchFamily="49" charset="-122"/>
                <a:ea typeface="黑体" panose="02010609060101010101" pitchFamily="49" charset="-122"/>
              </a:rPr>
              <a:t>m</a:t>
            </a:r>
            <a:r>
              <a:rPr lang="zh-CN" altLang="en-US" sz="2400" b="0" kern="0" dirty="0">
                <a:latin typeface="黑体" panose="02010609060101010101" pitchFamily="49" charset="-122"/>
                <a:ea typeface="黑体" panose="02010609060101010101" pitchFamily="49" charset="-122"/>
              </a:rPr>
              <a:t>），计算其下一个待访问的城市，直到</a:t>
            </a:r>
            <a:r>
              <a:rPr lang="zh-CN" altLang="en-US" sz="2400" b="0" kern="0" dirty="0">
                <a:solidFill>
                  <a:srgbClr val="FF0000"/>
                </a:solidFill>
                <a:latin typeface="黑体" panose="02010609060101010101" pitchFamily="49" charset="-122"/>
                <a:ea typeface="黑体" panose="02010609060101010101" pitchFamily="49" charset="-122"/>
              </a:rPr>
              <a:t>所有蚂蚁访问完所有的城市。</a:t>
            </a:r>
            <a:endParaRPr lang="en-US" altLang="zh-CN" sz="2400" b="0" kern="0" dirty="0">
              <a:solidFill>
                <a:schemeClr val="tx1">
                  <a:lumMod val="65000"/>
                  <a:lumOff val="35000"/>
                </a:schemeClr>
              </a:solidFill>
              <a:latin typeface="黑体" panose="02010609060101010101" pitchFamily="49" charset="-122"/>
              <a:ea typeface="黑体" panose="02010609060101010101" pitchFamily="49" charset="-122"/>
            </a:endParaRPr>
          </a:p>
        </p:txBody>
      </p:sp>
      <p:graphicFrame>
        <p:nvGraphicFramePr>
          <p:cNvPr id="8" name="对象 7">
            <a:extLst>
              <a:ext uri="{FF2B5EF4-FFF2-40B4-BE49-F238E27FC236}">
                <a16:creationId xmlns:a16="http://schemas.microsoft.com/office/drawing/2014/main" id="{C70A835F-80F1-42A0-9F6B-D05C94B3A9BE}"/>
              </a:ext>
            </a:extLst>
          </p:cNvPr>
          <p:cNvGraphicFramePr>
            <a:graphicFrameLocks noChangeAspect="1"/>
          </p:cNvGraphicFramePr>
          <p:nvPr>
            <p:extLst>
              <p:ext uri="{D42A27DB-BD31-4B8C-83A1-F6EECF244321}">
                <p14:modId xmlns:p14="http://schemas.microsoft.com/office/powerpoint/2010/main" val="444658893"/>
              </p:ext>
            </p:extLst>
          </p:nvPr>
        </p:nvGraphicFramePr>
        <p:xfrm>
          <a:off x="1213744" y="3068960"/>
          <a:ext cx="6129337" cy="2232025"/>
        </p:xfrm>
        <a:graphic>
          <a:graphicData uri="http://schemas.openxmlformats.org/presentationml/2006/ole">
            <mc:AlternateContent xmlns:mc="http://schemas.openxmlformats.org/markup-compatibility/2006">
              <mc:Choice xmlns:v="urn:schemas-microsoft-com:vml" Requires="v">
                <p:oleObj name="Equation" r:id="rId2" imgW="1917360" imgH="698400" progId="Equation.DSMT4">
                  <p:embed/>
                </p:oleObj>
              </mc:Choice>
              <mc:Fallback>
                <p:oleObj name="Equation" r:id="rId2" imgW="1917360" imgH="698400" progId="Equation.DSMT4">
                  <p:embed/>
                  <p:pic>
                    <p:nvPicPr>
                      <p:cNvPr id="7" name="对象 6">
                        <a:extLst>
                          <a:ext uri="{FF2B5EF4-FFF2-40B4-BE49-F238E27FC236}">
                            <a16:creationId xmlns:a16="http://schemas.microsoft.com/office/drawing/2014/main" id="{04CD9522-7C05-4F46-BBFE-D898339E99FB}"/>
                          </a:ext>
                        </a:extLst>
                      </p:cNvPr>
                      <p:cNvPicPr/>
                      <p:nvPr/>
                    </p:nvPicPr>
                    <p:blipFill>
                      <a:blip r:embed="rId3"/>
                      <a:stretch>
                        <a:fillRect/>
                      </a:stretch>
                    </p:blipFill>
                    <p:spPr>
                      <a:xfrm>
                        <a:off x="1213744" y="3068960"/>
                        <a:ext cx="6129337" cy="2232025"/>
                      </a:xfrm>
                      <a:prstGeom prst="rect">
                        <a:avLst/>
                      </a:prstGeom>
                    </p:spPr>
                  </p:pic>
                </p:oleObj>
              </mc:Fallback>
            </mc:AlternateContent>
          </a:graphicData>
        </a:graphic>
      </p:graphicFrame>
    </p:spTree>
    <p:extLst>
      <p:ext uri="{BB962C8B-B14F-4D97-AF65-F5344CB8AC3E}">
        <p14:creationId xmlns:p14="http://schemas.microsoft.com/office/powerpoint/2010/main" val="315058235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4" fill="hold" nodeType="with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animEffect transition="in" filter="wipe(down)">
                                      <p:cBhvr>
                                        <p:cTn id="7" dur="500"/>
                                        <p:tgtEl>
                                          <p:spTgt spid="6">
                                            <p:txEl>
                                              <p:pRg st="0" end="0"/>
                                            </p:txEl>
                                          </p:spTgt>
                                        </p:tgtEl>
                                      </p:cBhvr>
                                    </p:animEffect>
                                  </p:childTnLst>
                                </p:cTn>
                              </p:par>
                              <p:par>
                                <p:cTn id="8" presetID="22" presetClass="entr" presetSubtype="4" fill="hold" nodeType="withEffect">
                                  <p:stCondLst>
                                    <p:cond delay="0"/>
                                  </p:stCondLst>
                                  <p:childTnLst>
                                    <p:set>
                                      <p:cBhvr>
                                        <p:cTn id="9" dur="1" fill="hold">
                                          <p:stCondLst>
                                            <p:cond delay="0"/>
                                          </p:stCondLst>
                                        </p:cTn>
                                        <p:tgtEl>
                                          <p:spTgt spid="6">
                                            <p:txEl>
                                              <p:pRg st="1" end="1"/>
                                            </p:txEl>
                                          </p:spTgt>
                                        </p:tgtEl>
                                        <p:attrNameLst>
                                          <p:attrName>style.visibility</p:attrName>
                                        </p:attrNameLst>
                                      </p:cBhvr>
                                      <p:to>
                                        <p:strVal val="visible"/>
                                      </p:to>
                                    </p:set>
                                    <p:animEffect transition="in" filter="wipe(down)">
                                      <p:cBhvr>
                                        <p:cTn id="10" dur="500"/>
                                        <p:tgtEl>
                                          <p:spTgt spid="6">
                                            <p:txEl>
                                              <p:pRg st="1" end="1"/>
                                            </p:txEl>
                                          </p:spTgt>
                                        </p:tgtEl>
                                      </p:cBhvr>
                                    </p:animEffect>
                                  </p:childTnLst>
                                </p:cTn>
                              </p:par>
                            </p:childTnLst>
                          </p:cTn>
                        </p:par>
                        <p:par>
                          <p:cTn id="11" fill="hold">
                            <p:stCondLst>
                              <p:cond delay="500"/>
                            </p:stCondLst>
                            <p:childTnLst>
                              <p:par>
                                <p:cTn id="12" presetID="16" presetClass="entr" presetSubtype="21" fill="hold" nodeType="afterEffect">
                                  <p:stCondLst>
                                    <p:cond delay="0"/>
                                  </p:stCondLst>
                                  <p:childTnLst>
                                    <p:set>
                                      <p:cBhvr>
                                        <p:cTn id="13" dur="1" fill="hold">
                                          <p:stCondLst>
                                            <p:cond delay="0"/>
                                          </p:stCondLst>
                                        </p:cTn>
                                        <p:tgtEl>
                                          <p:spTgt spid="8"/>
                                        </p:tgtEl>
                                        <p:attrNameLst>
                                          <p:attrName>style.visibility</p:attrName>
                                        </p:attrNameLst>
                                      </p:cBhvr>
                                      <p:to>
                                        <p:strVal val="visible"/>
                                      </p:to>
                                    </p:set>
                                    <p:animEffect transition="in" filter="barn(inVertical)">
                                      <p:cBhvr>
                                        <p:cTn id="14"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946EA79-1C8A-4E46-A08C-22BEC975A93F}"/>
              </a:ext>
            </a:extLst>
          </p:cNvPr>
          <p:cNvSpPr>
            <a:spLocks noGrp="1"/>
          </p:cNvSpPr>
          <p:nvPr>
            <p:ph type="title"/>
          </p:nvPr>
        </p:nvSpPr>
        <p:spPr/>
        <p:txBody>
          <a:bodyPr/>
          <a:lstStyle/>
          <a:p>
            <a:r>
              <a:rPr lang="zh-CN" altLang="en-US" dirty="0"/>
              <a:t>蚁群算法流程</a:t>
            </a:r>
          </a:p>
        </p:txBody>
      </p:sp>
      <p:sp>
        <p:nvSpPr>
          <p:cNvPr id="4" name="日期占位符 3">
            <a:extLst>
              <a:ext uri="{FF2B5EF4-FFF2-40B4-BE49-F238E27FC236}">
                <a16:creationId xmlns:a16="http://schemas.microsoft.com/office/drawing/2014/main" id="{EACBE9B2-1C09-4A27-B89B-923947BEFDEB}"/>
              </a:ext>
            </a:extLst>
          </p:cNvPr>
          <p:cNvSpPr>
            <a:spLocks noGrp="1"/>
          </p:cNvSpPr>
          <p:nvPr>
            <p:ph type="dt" sz="half" idx="10"/>
          </p:nvPr>
        </p:nvSpPr>
        <p:spPr/>
        <p:txBody>
          <a:bodyPr/>
          <a:lstStyle/>
          <a:p>
            <a:fld id="{A8B06C41-1E1E-4B9B-9644-5AFB8CB2AB3B}" type="datetime3">
              <a:rPr lang="zh-CN" altLang="en-US" smtClean="0"/>
              <a:t>2022年11月24日星期四</a:t>
            </a:fld>
            <a:endParaRPr lang="en-US" altLang="zh-CN" dirty="0"/>
          </a:p>
        </p:txBody>
      </p:sp>
      <p:sp>
        <p:nvSpPr>
          <p:cNvPr id="5" name="灯片编号占位符 4">
            <a:extLst>
              <a:ext uri="{FF2B5EF4-FFF2-40B4-BE49-F238E27FC236}">
                <a16:creationId xmlns:a16="http://schemas.microsoft.com/office/drawing/2014/main" id="{BB719D07-C23B-4210-A855-B215712CBF97}"/>
              </a:ext>
            </a:extLst>
          </p:cNvPr>
          <p:cNvSpPr>
            <a:spLocks noGrp="1"/>
          </p:cNvSpPr>
          <p:nvPr>
            <p:ph type="sldNum" sz="quarter" idx="12"/>
          </p:nvPr>
        </p:nvSpPr>
        <p:spPr/>
        <p:txBody>
          <a:bodyPr/>
          <a:lstStyle/>
          <a:p>
            <a:fld id="{7AC79822-BC0D-4DE8-A7E5-90A3732A2B82}" type="slidenum">
              <a:rPr lang="zh-CN" altLang="en-US" smtClean="0"/>
              <a:pPr/>
              <a:t>49</a:t>
            </a:fld>
            <a:endParaRPr lang="en-US" altLang="zh-CN" dirty="0"/>
          </a:p>
        </p:txBody>
      </p:sp>
      <p:sp>
        <p:nvSpPr>
          <p:cNvPr id="6" name="文本占位符 3">
            <a:extLst>
              <a:ext uri="{FF2B5EF4-FFF2-40B4-BE49-F238E27FC236}">
                <a16:creationId xmlns:a16="http://schemas.microsoft.com/office/drawing/2014/main" id="{92A9DCC9-4169-4B45-A6AF-0C50C5626711}"/>
              </a:ext>
            </a:extLst>
          </p:cNvPr>
          <p:cNvSpPr txBox="1">
            <a:spLocks/>
          </p:cNvSpPr>
          <p:nvPr/>
        </p:nvSpPr>
        <p:spPr>
          <a:xfrm>
            <a:off x="128464" y="1124744"/>
            <a:ext cx="8064896" cy="1702338"/>
          </a:xfrm>
          <a:prstGeom prst="rect">
            <a:avLst/>
          </a:prstGeom>
        </p:spPr>
        <p:txBody>
          <a:bodyPr/>
          <a:lstStyle>
            <a:lvl1pPr marL="342900" indent="-342900" algn="l" rtl="0" eaLnBrk="1" fontAlgn="base" hangingPunct="1">
              <a:spcBef>
                <a:spcPct val="20000"/>
              </a:spcBef>
              <a:spcAft>
                <a:spcPct val="0"/>
              </a:spcAft>
              <a:buClr>
                <a:srgbClr val="333399"/>
              </a:buClr>
              <a:buSzPct val="75000"/>
              <a:buFont typeface="Wingdings" panose="05000000000000000000" pitchFamily="2" charset="2"/>
              <a:buChar char=""/>
              <a:defRPr sz="3200" b="1">
                <a:solidFill>
                  <a:schemeClr val="tx1"/>
                </a:solidFill>
                <a:latin typeface="+mn-lt"/>
                <a:ea typeface="黑体" pitchFamily="2" charset="-122"/>
                <a:cs typeface="+mn-cs"/>
              </a:defRPr>
            </a:lvl1pPr>
            <a:lvl2pPr marL="742950" indent="-285750" algn="l" rtl="0" eaLnBrk="1" fontAlgn="base" hangingPunct="1">
              <a:spcBef>
                <a:spcPct val="20000"/>
              </a:spcBef>
              <a:spcAft>
                <a:spcPct val="0"/>
              </a:spcAft>
              <a:buClr>
                <a:schemeClr val="accent2"/>
              </a:buClr>
              <a:buSzPct val="70000"/>
              <a:buFont typeface="Wingdings" panose="05000000000000000000" pitchFamily="2" charset="2"/>
              <a:buChar char=""/>
              <a:defRPr sz="2800" b="1">
                <a:solidFill>
                  <a:schemeClr val="tx1"/>
                </a:solidFill>
                <a:latin typeface="+mn-lt"/>
                <a:ea typeface="黑体" pitchFamily="2" charset="-122"/>
              </a:defRPr>
            </a:lvl2pPr>
            <a:lvl3pPr marL="1143000" indent="-228600" algn="l" rtl="0" eaLnBrk="1" fontAlgn="base" hangingPunct="1">
              <a:spcBef>
                <a:spcPct val="20000"/>
              </a:spcBef>
              <a:spcAft>
                <a:spcPct val="0"/>
              </a:spcAft>
              <a:buClr>
                <a:srgbClr val="333399"/>
              </a:buClr>
              <a:buSzPct val="65000"/>
              <a:buFont typeface="Wingdings" panose="05000000000000000000" pitchFamily="2" charset="2"/>
              <a:buChar char=""/>
              <a:defRPr sz="2400" b="1">
                <a:solidFill>
                  <a:schemeClr val="tx1"/>
                </a:solidFill>
                <a:latin typeface="+mn-lt"/>
                <a:ea typeface="黑体" pitchFamily="2" charset="-122"/>
              </a:defRPr>
            </a:lvl3pPr>
            <a:lvl4pPr marL="1600200" indent="-228600" algn="l" rtl="0" eaLnBrk="1" fontAlgn="base" hangingPunct="1">
              <a:spcBef>
                <a:spcPct val="20000"/>
              </a:spcBef>
              <a:spcAft>
                <a:spcPct val="0"/>
              </a:spcAft>
              <a:buClr>
                <a:schemeClr val="bg2"/>
              </a:buClr>
              <a:buSzPct val="65000"/>
              <a:buFont typeface="Wingdings" pitchFamily="2" charset="2"/>
              <a:buChar char="n"/>
              <a:defRPr sz="2000" b="1">
                <a:solidFill>
                  <a:schemeClr val="tx1"/>
                </a:solidFill>
                <a:latin typeface="+mn-lt"/>
                <a:ea typeface="黑体" pitchFamily="2" charset="-122"/>
              </a:defRPr>
            </a:lvl4pPr>
            <a:lvl5pPr marL="2057400" indent="-228600" algn="l" rtl="0" eaLnBrk="1" fontAlgn="base" hangingPunct="1">
              <a:spcBef>
                <a:spcPct val="20000"/>
              </a:spcBef>
              <a:spcAft>
                <a:spcPct val="0"/>
              </a:spcAft>
              <a:buClr>
                <a:srgbClr val="333399"/>
              </a:buClr>
              <a:buSzPct val="60000"/>
              <a:buFont typeface="Wingdings" panose="05000000000000000000" pitchFamily="2" charset="2"/>
              <a:buChar char="Ø"/>
              <a:defRPr sz="2000" b="1">
                <a:solidFill>
                  <a:schemeClr val="tx1"/>
                </a:solidFill>
                <a:latin typeface="+mn-lt"/>
                <a:ea typeface="黑体" pitchFamily="2" charset="-122"/>
              </a:defRPr>
            </a:lvl5pPr>
            <a:lvl6pPr marL="25146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defRPr>
            </a:lvl6pPr>
            <a:lvl7pPr marL="29718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defRPr>
            </a:lvl7pPr>
            <a:lvl8pPr marL="34290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defRPr>
            </a:lvl8pPr>
            <a:lvl9pPr marL="38862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defRPr>
            </a:lvl9pPr>
          </a:lstStyle>
          <a:p>
            <a:pPr marL="0" indent="0">
              <a:buNone/>
            </a:pPr>
            <a:r>
              <a:rPr lang="en-US" altLang="zh-CN" sz="2400" kern="0" dirty="0">
                <a:latin typeface="黑体" panose="02010609060101010101" pitchFamily="49" charset="-122"/>
                <a:ea typeface="黑体" panose="02010609060101010101" pitchFamily="49" charset="-122"/>
              </a:rPr>
              <a:t>3.</a:t>
            </a:r>
            <a:r>
              <a:rPr lang="zh-CN" altLang="en-US" sz="2400" kern="0" dirty="0">
                <a:latin typeface="黑体" panose="02010609060101010101" pitchFamily="49" charset="-122"/>
                <a:ea typeface="黑体" panose="02010609060101010101" pitchFamily="49" charset="-122"/>
              </a:rPr>
              <a:t>更新信息素：</a:t>
            </a:r>
            <a:endParaRPr lang="en-US" altLang="zh-CN" sz="2400" kern="0" dirty="0">
              <a:latin typeface="黑体" panose="02010609060101010101" pitchFamily="49" charset="-122"/>
              <a:ea typeface="黑体" panose="02010609060101010101" pitchFamily="49" charset="-122"/>
            </a:endParaRPr>
          </a:p>
          <a:p>
            <a:pPr marL="0" indent="0">
              <a:buNone/>
            </a:pPr>
            <a:r>
              <a:rPr lang="zh-CN" altLang="en-US" sz="2400" b="0" kern="0" dirty="0">
                <a:latin typeface="黑体" panose="02010609060101010101" pitchFamily="49" charset="-122"/>
                <a:ea typeface="黑体" panose="02010609060101010101" pitchFamily="49" charset="-122"/>
              </a:rPr>
              <a:t>计算各个蚂蚁经过的路径长度</a:t>
            </a:r>
            <a:r>
              <a:rPr lang="en-US" altLang="zh-CN" sz="2400" b="0" kern="0" dirty="0">
                <a:latin typeface="黑体" panose="02010609060101010101" pitchFamily="49" charset="-122"/>
                <a:ea typeface="黑体" panose="02010609060101010101" pitchFamily="49" charset="-122"/>
              </a:rPr>
              <a:t>L</a:t>
            </a:r>
            <a:r>
              <a:rPr lang="zh-CN" altLang="en-US" sz="2400" b="0" kern="0" dirty="0">
                <a:latin typeface="黑体" panose="02010609060101010101" pitchFamily="49" charset="-122"/>
                <a:ea typeface="黑体" panose="02010609060101010101" pitchFamily="49" charset="-122"/>
              </a:rPr>
              <a:t>，记录当前迭代次数中的最优解（最短路径）。同时，对各个城市连接路径上的</a:t>
            </a:r>
            <a:r>
              <a:rPr lang="zh-CN" altLang="en-US" sz="2400" b="0" kern="0" dirty="0">
                <a:solidFill>
                  <a:srgbClr val="FF0000"/>
                </a:solidFill>
                <a:latin typeface="黑体" panose="02010609060101010101" pitchFamily="49" charset="-122"/>
                <a:ea typeface="黑体" panose="02010609060101010101" pitchFamily="49" charset="-122"/>
              </a:rPr>
              <a:t>信息素浓度</a:t>
            </a:r>
            <a:r>
              <a:rPr lang="zh-CN" altLang="en-US" sz="2400" b="0" kern="0" dirty="0">
                <a:latin typeface="黑体" panose="02010609060101010101" pitchFamily="49" charset="-122"/>
                <a:ea typeface="黑体" panose="02010609060101010101" pitchFamily="49" charset="-122"/>
              </a:rPr>
              <a:t>进行</a:t>
            </a:r>
            <a:r>
              <a:rPr lang="zh-CN" altLang="en-US" sz="2400" b="0" kern="0" dirty="0">
                <a:solidFill>
                  <a:srgbClr val="FF0000"/>
                </a:solidFill>
                <a:latin typeface="黑体" panose="02010609060101010101" pitchFamily="49" charset="-122"/>
                <a:ea typeface="黑体" panose="02010609060101010101" pitchFamily="49" charset="-122"/>
              </a:rPr>
              <a:t>更新</a:t>
            </a:r>
            <a:r>
              <a:rPr lang="zh-CN" altLang="en-US" sz="2400" b="0" kern="0" dirty="0">
                <a:solidFill>
                  <a:schemeClr val="tx1">
                    <a:lumMod val="65000"/>
                    <a:lumOff val="35000"/>
                  </a:schemeClr>
                </a:solidFill>
                <a:latin typeface="黑体" panose="02010609060101010101" pitchFamily="49" charset="-122"/>
                <a:ea typeface="黑体" panose="02010609060101010101" pitchFamily="49" charset="-122"/>
              </a:rPr>
              <a:t>。</a:t>
            </a:r>
            <a:endParaRPr lang="en-US" altLang="zh-CN" sz="2400" b="0" kern="0" dirty="0">
              <a:solidFill>
                <a:schemeClr val="tx1">
                  <a:lumMod val="65000"/>
                  <a:lumOff val="35000"/>
                </a:schemeClr>
              </a:solidFill>
              <a:latin typeface="黑体" panose="02010609060101010101" pitchFamily="49" charset="-122"/>
              <a:ea typeface="黑体" panose="02010609060101010101" pitchFamily="49" charset="-122"/>
            </a:endParaRPr>
          </a:p>
        </p:txBody>
      </p:sp>
      <p:graphicFrame>
        <p:nvGraphicFramePr>
          <p:cNvPr id="7" name="对象 6">
            <a:extLst>
              <a:ext uri="{FF2B5EF4-FFF2-40B4-BE49-F238E27FC236}">
                <a16:creationId xmlns:a16="http://schemas.microsoft.com/office/drawing/2014/main" id="{EFD5E8B0-C51B-477D-AB85-1982AE17835F}"/>
              </a:ext>
            </a:extLst>
          </p:cNvPr>
          <p:cNvGraphicFramePr>
            <a:graphicFrameLocks noChangeAspect="1"/>
          </p:cNvGraphicFramePr>
          <p:nvPr>
            <p:extLst>
              <p:ext uri="{D42A27DB-BD31-4B8C-83A1-F6EECF244321}">
                <p14:modId xmlns:p14="http://schemas.microsoft.com/office/powerpoint/2010/main" val="1321057480"/>
              </p:ext>
            </p:extLst>
          </p:nvPr>
        </p:nvGraphicFramePr>
        <p:xfrm>
          <a:off x="2369444" y="4085733"/>
          <a:ext cx="4412878" cy="1780145"/>
        </p:xfrm>
        <a:graphic>
          <a:graphicData uri="http://schemas.openxmlformats.org/presentationml/2006/ole">
            <mc:AlternateContent xmlns:mc="http://schemas.openxmlformats.org/markup-compatibility/2006">
              <mc:Choice xmlns:v="urn:schemas-microsoft-com:vml" Requires="v">
                <p:oleObj name="Equation" r:id="rId2" imgW="1701720" imgH="685800" progId="Equation.DSMT4">
                  <p:embed/>
                </p:oleObj>
              </mc:Choice>
              <mc:Fallback>
                <p:oleObj name="Equation" r:id="rId2" imgW="1701720" imgH="685800" progId="Equation.DSMT4">
                  <p:embed/>
                  <p:pic>
                    <p:nvPicPr>
                      <p:cNvPr id="6" name="对象 5">
                        <a:extLst>
                          <a:ext uri="{FF2B5EF4-FFF2-40B4-BE49-F238E27FC236}">
                            <a16:creationId xmlns:a16="http://schemas.microsoft.com/office/drawing/2014/main" id="{A7D4B6CA-CD93-45B8-B7CD-BAB2A75A93B1}"/>
                          </a:ext>
                        </a:extLst>
                      </p:cNvPr>
                      <p:cNvPicPr/>
                      <p:nvPr/>
                    </p:nvPicPr>
                    <p:blipFill>
                      <a:blip r:embed="rId3"/>
                      <a:stretch>
                        <a:fillRect/>
                      </a:stretch>
                    </p:blipFill>
                    <p:spPr>
                      <a:xfrm>
                        <a:off x="2369444" y="4085733"/>
                        <a:ext cx="4412878" cy="1780145"/>
                      </a:xfrm>
                      <a:prstGeom prst="rect">
                        <a:avLst/>
                      </a:prstGeom>
                    </p:spPr>
                  </p:pic>
                </p:oleObj>
              </mc:Fallback>
            </mc:AlternateContent>
          </a:graphicData>
        </a:graphic>
      </p:graphicFrame>
      <p:graphicFrame>
        <p:nvGraphicFramePr>
          <p:cNvPr id="9" name="对象 8">
            <a:extLst>
              <a:ext uri="{FF2B5EF4-FFF2-40B4-BE49-F238E27FC236}">
                <a16:creationId xmlns:a16="http://schemas.microsoft.com/office/drawing/2014/main" id="{B7B48383-0FAF-4FD7-95FD-7E3D85D1966C}"/>
              </a:ext>
            </a:extLst>
          </p:cNvPr>
          <p:cNvGraphicFramePr>
            <a:graphicFrameLocks noChangeAspect="1"/>
          </p:cNvGraphicFramePr>
          <p:nvPr>
            <p:extLst>
              <p:ext uri="{D42A27DB-BD31-4B8C-83A1-F6EECF244321}">
                <p14:modId xmlns:p14="http://schemas.microsoft.com/office/powerpoint/2010/main" val="756054850"/>
              </p:ext>
            </p:extLst>
          </p:nvPr>
        </p:nvGraphicFramePr>
        <p:xfrm>
          <a:off x="1352600" y="2704608"/>
          <a:ext cx="6535738" cy="1381125"/>
        </p:xfrm>
        <a:graphic>
          <a:graphicData uri="http://schemas.openxmlformats.org/presentationml/2006/ole">
            <mc:AlternateContent xmlns:mc="http://schemas.openxmlformats.org/markup-compatibility/2006">
              <mc:Choice xmlns:v="urn:schemas-microsoft-com:vml" Requires="v">
                <p:oleObj name="Equation" r:id="rId4" imgW="2044440" imgH="431640" progId="Equation.DSMT4">
                  <p:embed/>
                </p:oleObj>
              </mc:Choice>
              <mc:Fallback>
                <p:oleObj name="Equation" r:id="rId4" imgW="2044440" imgH="431640" progId="Equation.DSMT4">
                  <p:embed/>
                  <p:pic>
                    <p:nvPicPr>
                      <p:cNvPr id="8" name="对象 7">
                        <a:extLst>
                          <a:ext uri="{FF2B5EF4-FFF2-40B4-BE49-F238E27FC236}">
                            <a16:creationId xmlns:a16="http://schemas.microsoft.com/office/drawing/2014/main" id="{C3BCBD8C-AB8A-4574-A5C5-FE1778C2DDFF}"/>
                          </a:ext>
                        </a:extLst>
                      </p:cNvPr>
                      <p:cNvPicPr/>
                      <p:nvPr/>
                    </p:nvPicPr>
                    <p:blipFill>
                      <a:blip r:embed="rId5"/>
                      <a:stretch>
                        <a:fillRect/>
                      </a:stretch>
                    </p:blipFill>
                    <p:spPr>
                      <a:xfrm>
                        <a:off x="1352600" y="2704608"/>
                        <a:ext cx="6535738" cy="1381125"/>
                      </a:xfrm>
                      <a:prstGeom prst="rect">
                        <a:avLst/>
                      </a:prstGeom>
                    </p:spPr>
                  </p:pic>
                </p:oleObj>
              </mc:Fallback>
            </mc:AlternateContent>
          </a:graphicData>
        </a:graphic>
      </p:graphicFrame>
    </p:spTree>
    <p:extLst>
      <p:ext uri="{BB962C8B-B14F-4D97-AF65-F5344CB8AC3E}">
        <p14:creationId xmlns:p14="http://schemas.microsoft.com/office/powerpoint/2010/main" val="7415468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4" fill="hold" nodeType="with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animEffect transition="in" filter="wipe(down)">
                                      <p:cBhvr>
                                        <p:cTn id="7" dur="500"/>
                                        <p:tgtEl>
                                          <p:spTgt spid="6">
                                            <p:txEl>
                                              <p:pRg st="0" end="0"/>
                                            </p:txEl>
                                          </p:spTgt>
                                        </p:tgtEl>
                                      </p:cBhvr>
                                    </p:animEffect>
                                  </p:childTnLst>
                                </p:cTn>
                              </p:par>
                              <p:par>
                                <p:cTn id="8" presetID="22" presetClass="entr" presetSubtype="4" fill="hold" nodeType="withEffect">
                                  <p:stCondLst>
                                    <p:cond delay="0"/>
                                  </p:stCondLst>
                                  <p:childTnLst>
                                    <p:set>
                                      <p:cBhvr>
                                        <p:cTn id="9" dur="1" fill="hold">
                                          <p:stCondLst>
                                            <p:cond delay="0"/>
                                          </p:stCondLst>
                                        </p:cTn>
                                        <p:tgtEl>
                                          <p:spTgt spid="6">
                                            <p:txEl>
                                              <p:pRg st="1" end="1"/>
                                            </p:txEl>
                                          </p:spTgt>
                                        </p:tgtEl>
                                        <p:attrNameLst>
                                          <p:attrName>style.visibility</p:attrName>
                                        </p:attrNameLst>
                                      </p:cBhvr>
                                      <p:to>
                                        <p:strVal val="visible"/>
                                      </p:to>
                                    </p:set>
                                    <p:animEffect transition="in" filter="wipe(down)">
                                      <p:cBhvr>
                                        <p:cTn id="10" dur="500"/>
                                        <p:tgtEl>
                                          <p:spTgt spid="6">
                                            <p:txEl>
                                              <p:pRg st="1" end="1"/>
                                            </p:txEl>
                                          </p:spTgt>
                                        </p:tgtEl>
                                      </p:cBhvr>
                                    </p:animEffect>
                                  </p:childTnLst>
                                </p:cTn>
                              </p:par>
                            </p:childTnLst>
                          </p:cTn>
                        </p:par>
                        <p:par>
                          <p:cTn id="11" fill="hold">
                            <p:stCondLst>
                              <p:cond delay="500"/>
                            </p:stCondLst>
                            <p:childTnLst>
                              <p:par>
                                <p:cTn id="12" presetID="16" presetClass="entr" presetSubtype="21" fill="hold" nodeType="afterEffect">
                                  <p:stCondLst>
                                    <p:cond delay="0"/>
                                  </p:stCondLst>
                                  <p:childTnLst>
                                    <p:set>
                                      <p:cBhvr>
                                        <p:cTn id="13" dur="1" fill="hold">
                                          <p:stCondLst>
                                            <p:cond delay="0"/>
                                          </p:stCondLst>
                                        </p:cTn>
                                        <p:tgtEl>
                                          <p:spTgt spid="9"/>
                                        </p:tgtEl>
                                        <p:attrNameLst>
                                          <p:attrName>style.visibility</p:attrName>
                                        </p:attrNameLst>
                                      </p:cBhvr>
                                      <p:to>
                                        <p:strVal val="visible"/>
                                      </p:to>
                                    </p:set>
                                    <p:animEffect transition="in" filter="barn(inVertical)">
                                      <p:cBhvr>
                                        <p:cTn id="14" dur="500"/>
                                        <p:tgtEl>
                                          <p:spTgt spid="9"/>
                                        </p:tgtEl>
                                      </p:cBhvr>
                                    </p:animEffect>
                                  </p:childTnLst>
                                </p:cTn>
                              </p:par>
                            </p:childTnLst>
                          </p:cTn>
                        </p:par>
                        <p:par>
                          <p:cTn id="15" fill="hold">
                            <p:stCondLst>
                              <p:cond delay="1000"/>
                            </p:stCondLst>
                            <p:childTnLst>
                              <p:par>
                                <p:cTn id="16" presetID="16" presetClass="entr" presetSubtype="21" fill="hold" nodeType="afterEffect">
                                  <p:stCondLst>
                                    <p:cond delay="0"/>
                                  </p:stCondLst>
                                  <p:childTnLst>
                                    <p:set>
                                      <p:cBhvr>
                                        <p:cTn id="17" dur="1" fill="hold">
                                          <p:stCondLst>
                                            <p:cond delay="0"/>
                                          </p:stCondLst>
                                        </p:cTn>
                                        <p:tgtEl>
                                          <p:spTgt spid="7"/>
                                        </p:tgtEl>
                                        <p:attrNameLst>
                                          <p:attrName>style.visibility</p:attrName>
                                        </p:attrNameLst>
                                      </p:cBhvr>
                                      <p:to>
                                        <p:strVal val="visible"/>
                                      </p:to>
                                    </p:set>
                                    <p:animEffect transition="in" filter="barn(inVertical)">
                                      <p:cBhvr>
                                        <p:cTn id="18"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946EA79-1C8A-4E46-A08C-22BEC975A93F}"/>
              </a:ext>
            </a:extLst>
          </p:cNvPr>
          <p:cNvSpPr>
            <a:spLocks noGrp="1"/>
          </p:cNvSpPr>
          <p:nvPr>
            <p:ph type="title"/>
          </p:nvPr>
        </p:nvSpPr>
        <p:spPr/>
        <p:txBody>
          <a:bodyPr/>
          <a:lstStyle/>
          <a:p>
            <a:r>
              <a:rPr lang="zh-CN" altLang="en-US" dirty="0"/>
              <a:t>蚁群算法流程</a:t>
            </a:r>
          </a:p>
        </p:txBody>
      </p:sp>
      <p:sp>
        <p:nvSpPr>
          <p:cNvPr id="4" name="日期占位符 3">
            <a:extLst>
              <a:ext uri="{FF2B5EF4-FFF2-40B4-BE49-F238E27FC236}">
                <a16:creationId xmlns:a16="http://schemas.microsoft.com/office/drawing/2014/main" id="{EACBE9B2-1C09-4A27-B89B-923947BEFDEB}"/>
              </a:ext>
            </a:extLst>
          </p:cNvPr>
          <p:cNvSpPr>
            <a:spLocks noGrp="1"/>
          </p:cNvSpPr>
          <p:nvPr>
            <p:ph type="dt" sz="half" idx="10"/>
          </p:nvPr>
        </p:nvSpPr>
        <p:spPr/>
        <p:txBody>
          <a:bodyPr/>
          <a:lstStyle/>
          <a:p>
            <a:fld id="{A8B06C41-1E1E-4B9B-9644-5AFB8CB2AB3B}" type="datetime3">
              <a:rPr lang="zh-CN" altLang="en-US" smtClean="0"/>
              <a:t>2022年11月24日星期四</a:t>
            </a:fld>
            <a:endParaRPr lang="en-US" altLang="zh-CN" dirty="0"/>
          </a:p>
        </p:txBody>
      </p:sp>
      <p:sp>
        <p:nvSpPr>
          <p:cNvPr id="5" name="灯片编号占位符 4">
            <a:extLst>
              <a:ext uri="{FF2B5EF4-FFF2-40B4-BE49-F238E27FC236}">
                <a16:creationId xmlns:a16="http://schemas.microsoft.com/office/drawing/2014/main" id="{BB719D07-C23B-4210-A855-B215712CBF97}"/>
              </a:ext>
            </a:extLst>
          </p:cNvPr>
          <p:cNvSpPr>
            <a:spLocks noGrp="1"/>
          </p:cNvSpPr>
          <p:nvPr>
            <p:ph type="sldNum" sz="quarter" idx="12"/>
          </p:nvPr>
        </p:nvSpPr>
        <p:spPr/>
        <p:txBody>
          <a:bodyPr/>
          <a:lstStyle/>
          <a:p>
            <a:fld id="{7AC79822-BC0D-4DE8-A7E5-90A3732A2B82}" type="slidenum">
              <a:rPr lang="zh-CN" altLang="en-US" smtClean="0"/>
              <a:pPr/>
              <a:t>50</a:t>
            </a:fld>
            <a:endParaRPr lang="en-US" altLang="zh-CN" dirty="0"/>
          </a:p>
        </p:txBody>
      </p:sp>
      <p:sp>
        <p:nvSpPr>
          <p:cNvPr id="6" name="文本占位符 3">
            <a:extLst>
              <a:ext uri="{FF2B5EF4-FFF2-40B4-BE49-F238E27FC236}">
                <a16:creationId xmlns:a16="http://schemas.microsoft.com/office/drawing/2014/main" id="{92A9DCC9-4169-4B45-A6AF-0C50C5626711}"/>
              </a:ext>
            </a:extLst>
          </p:cNvPr>
          <p:cNvSpPr txBox="1">
            <a:spLocks/>
          </p:cNvSpPr>
          <p:nvPr/>
        </p:nvSpPr>
        <p:spPr>
          <a:xfrm>
            <a:off x="128464" y="1124744"/>
            <a:ext cx="8064896" cy="1702338"/>
          </a:xfrm>
          <a:prstGeom prst="rect">
            <a:avLst/>
          </a:prstGeom>
        </p:spPr>
        <p:txBody>
          <a:bodyPr/>
          <a:lstStyle>
            <a:lvl1pPr marL="342900" indent="-342900" algn="l" rtl="0" eaLnBrk="1" fontAlgn="base" hangingPunct="1">
              <a:spcBef>
                <a:spcPct val="20000"/>
              </a:spcBef>
              <a:spcAft>
                <a:spcPct val="0"/>
              </a:spcAft>
              <a:buClr>
                <a:srgbClr val="333399"/>
              </a:buClr>
              <a:buSzPct val="75000"/>
              <a:buFont typeface="Wingdings" panose="05000000000000000000" pitchFamily="2" charset="2"/>
              <a:buChar char=""/>
              <a:defRPr sz="3200" b="1">
                <a:solidFill>
                  <a:schemeClr val="tx1"/>
                </a:solidFill>
                <a:latin typeface="+mn-lt"/>
                <a:ea typeface="黑体" pitchFamily="2" charset="-122"/>
                <a:cs typeface="+mn-cs"/>
              </a:defRPr>
            </a:lvl1pPr>
            <a:lvl2pPr marL="742950" indent="-285750" algn="l" rtl="0" eaLnBrk="1" fontAlgn="base" hangingPunct="1">
              <a:spcBef>
                <a:spcPct val="20000"/>
              </a:spcBef>
              <a:spcAft>
                <a:spcPct val="0"/>
              </a:spcAft>
              <a:buClr>
                <a:schemeClr val="accent2"/>
              </a:buClr>
              <a:buSzPct val="70000"/>
              <a:buFont typeface="Wingdings" panose="05000000000000000000" pitchFamily="2" charset="2"/>
              <a:buChar char=""/>
              <a:defRPr sz="2800" b="1">
                <a:solidFill>
                  <a:schemeClr val="tx1"/>
                </a:solidFill>
                <a:latin typeface="+mn-lt"/>
                <a:ea typeface="黑体" pitchFamily="2" charset="-122"/>
              </a:defRPr>
            </a:lvl2pPr>
            <a:lvl3pPr marL="1143000" indent="-228600" algn="l" rtl="0" eaLnBrk="1" fontAlgn="base" hangingPunct="1">
              <a:spcBef>
                <a:spcPct val="20000"/>
              </a:spcBef>
              <a:spcAft>
                <a:spcPct val="0"/>
              </a:spcAft>
              <a:buClr>
                <a:srgbClr val="333399"/>
              </a:buClr>
              <a:buSzPct val="65000"/>
              <a:buFont typeface="Wingdings" panose="05000000000000000000" pitchFamily="2" charset="2"/>
              <a:buChar char=""/>
              <a:defRPr sz="2400" b="1">
                <a:solidFill>
                  <a:schemeClr val="tx1"/>
                </a:solidFill>
                <a:latin typeface="+mn-lt"/>
                <a:ea typeface="黑体" pitchFamily="2" charset="-122"/>
              </a:defRPr>
            </a:lvl3pPr>
            <a:lvl4pPr marL="1600200" indent="-228600" algn="l" rtl="0" eaLnBrk="1" fontAlgn="base" hangingPunct="1">
              <a:spcBef>
                <a:spcPct val="20000"/>
              </a:spcBef>
              <a:spcAft>
                <a:spcPct val="0"/>
              </a:spcAft>
              <a:buClr>
                <a:schemeClr val="bg2"/>
              </a:buClr>
              <a:buSzPct val="65000"/>
              <a:buFont typeface="Wingdings" pitchFamily="2" charset="2"/>
              <a:buChar char="n"/>
              <a:defRPr sz="2000" b="1">
                <a:solidFill>
                  <a:schemeClr val="tx1"/>
                </a:solidFill>
                <a:latin typeface="+mn-lt"/>
                <a:ea typeface="黑体" pitchFamily="2" charset="-122"/>
              </a:defRPr>
            </a:lvl4pPr>
            <a:lvl5pPr marL="2057400" indent="-228600" algn="l" rtl="0" eaLnBrk="1" fontAlgn="base" hangingPunct="1">
              <a:spcBef>
                <a:spcPct val="20000"/>
              </a:spcBef>
              <a:spcAft>
                <a:spcPct val="0"/>
              </a:spcAft>
              <a:buClr>
                <a:srgbClr val="333399"/>
              </a:buClr>
              <a:buSzPct val="60000"/>
              <a:buFont typeface="Wingdings" panose="05000000000000000000" pitchFamily="2" charset="2"/>
              <a:buChar char="Ø"/>
              <a:defRPr sz="2000" b="1">
                <a:solidFill>
                  <a:schemeClr val="tx1"/>
                </a:solidFill>
                <a:latin typeface="+mn-lt"/>
                <a:ea typeface="黑体" pitchFamily="2" charset="-122"/>
              </a:defRPr>
            </a:lvl5pPr>
            <a:lvl6pPr marL="25146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defRPr>
            </a:lvl6pPr>
            <a:lvl7pPr marL="29718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defRPr>
            </a:lvl7pPr>
            <a:lvl8pPr marL="34290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defRPr>
            </a:lvl8pPr>
            <a:lvl9pPr marL="38862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defRPr>
            </a:lvl9pPr>
          </a:lstStyle>
          <a:p>
            <a:pPr marL="0" indent="0">
              <a:buNone/>
            </a:pPr>
            <a:r>
              <a:rPr lang="en-US" altLang="zh-CN" sz="2400" kern="0" dirty="0">
                <a:latin typeface="黑体" panose="02010609060101010101" pitchFamily="49" charset="-122"/>
                <a:ea typeface="黑体" panose="02010609060101010101" pitchFamily="49" charset="-122"/>
              </a:rPr>
              <a:t>4.</a:t>
            </a:r>
            <a:r>
              <a:rPr lang="zh-CN" altLang="en-US" sz="2400" kern="0" dirty="0">
                <a:latin typeface="黑体" panose="02010609060101010101" pitchFamily="49" charset="-122"/>
                <a:ea typeface="黑体" panose="02010609060101010101" pitchFamily="49" charset="-122"/>
              </a:rPr>
              <a:t>判断是否终止：</a:t>
            </a:r>
            <a:endParaRPr lang="en-US" altLang="zh-CN" sz="2400" kern="0" dirty="0">
              <a:latin typeface="黑体" panose="02010609060101010101" pitchFamily="49" charset="-122"/>
              <a:ea typeface="黑体" panose="02010609060101010101" pitchFamily="49" charset="-122"/>
            </a:endParaRPr>
          </a:p>
          <a:p>
            <a:pPr marL="0" indent="0">
              <a:buNone/>
            </a:pPr>
            <a:r>
              <a:rPr lang="zh-CN" altLang="en-US" sz="2400" b="0" kern="0" dirty="0">
                <a:latin typeface="黑体" panose="02010609060101010101" pitchFamily="49" charset="-122"/>
                <a:ea typeface="黑体" panose="02010609060101010101" pitchFamily="49" charset="-122"/>
              </a:rPr>
              <a:t>若迭代次数小于</a:t>
            </a:r>
            <a:r>
              <a:rPr lang="zh-CN" altLang="en-US" sz="2400" b="0" kern="0" dirty="0">
                <a:solidFill>
                  <a:srgbClr val="FF0000"/>
                </a:solidFill>
                <a:latin typeface="黑体" panose="02010609060101010101" pitchFamily="49" charset="-122"/>
                <a:ea typeface="黑体" panose="02010609060101010101" pitchFamily="49" charset="-122"/>
              </a:rPr>
              <a:t>最大迭代次数</a:t>
            </a:r>
            <a:r>
              <a:rPr lang="zh-CN" altLang="en-US" sz="2400" b="0" kern="0" dirty="0">
                <a:latin typeface="黑体" panose="02010609060101010101" pitchFamily="49" charset="-122"/>
                <a:ea typeface="黑体" panose="02010609060101010101" pitchFamily="49" charset="-122"/>
              </a:rPr>
              <a:t>则迭代次数加一，清空蚂蚁经过路径的记录表，并返回步骤二；否则终止计算，输出最优解。</a:t>
            </a:r>
            <a:endParaRPr lang="en-US" altLang="zh-CN" sz="2400" b="0" kern="0" dirty="0">
              <a:latin typeface="黑体" panose="02010609060101010101" pitchFamily="49" charset="-122"/>
              <a:ea typeface="黑体" panose="02010609060101010101" pitchFamily="49" charset="-122"/>
            </a:endParaRPr>
          </a:p>
          <a:p>
            <a:pPr marL="0" indent="0">
              <a:buNone/>
            </a:pPr>
            <a:endParaRPr lang="en-US" altLang="zh-CN" sz="2400" b="0" kern="0" dirty="0">
              <a:latin typeface="黑体" panose="02010609060101010101" pitchFamily="49" charset="-122"/>
              <a:ea typeface="黑体" panose="02010609060101010101" pitchFamily="49" charset="-122"/>
            </a:endParaRPr>
          </a:p>
          <a:p>
            <a:pPr marL="0" indent="0">
              <a:buNone/>
            </a:pPr>
            <a:r>
              <a:rPr lang="zh-CN" altLang="en-US" sz="2400" dirty="0"/>
              <a:t>蚁群算法中的终止条件：</a:t>
            </a:r>
            <a:r>
              <a:rPr lang="zh-CN" altLang="en-US" sz="2400" dirty="0">
                <a:solidFill>
                  <a:srgbClr val="FF0000"/>
                </a:solidFill>
              </a:rPr>
              <a:t>是否达到迭代次数。</a:t>
            </a:r>
            <a:endParaRPr lang="en-US" altLang="zh-CN" sz="2400" dirty="0">
              <a:solidFill>
                <a:srgbClr val="FF0000"/>
              </a:solidFill>
            </a:endParaRPr>
          </a:p>
          <a:p>
            <a:pPr marL="0" indent="0">
              <a:buNone/>
            </a:pPr>
            <a:r>
              <a:rPr lang="zh-CN" altLang="en-US" sz="2400" dirty="0"/>
              <a:t>一次迭代就是指</a:t>
            </a:r>
            <a:r>
              <a:rPr lang="en-US" altLang="zh-CN" sz="2400" dirty="0"/>
              <a:t>m</a:t>
            </a:r>
            <a:r>
              <a:rPr lang="zh-CN" altLang="en-US" sz="2400" dirty="0"/>
              <a:t>只蚂蚁都走完所有的城市，即存在</a:t>
            </a:r>
            <a:r>
              <a:rPr lang="en-US" altLang="zh-CN" sz="2400" dirty="0"/>
              <a:t>m</a:t>
            </a:r>
            <a:r>
              <a:rPr lang="zh-CN" altLang="en-US" sz="2400" dirty="0"/>
              <a:t>个搜索路径。</a:t>
            </a:r>
            <a:endParaRPr lang="en-US" altLang="zh-CN" sz="2400" dirty="0"/>
          </a:p>
          <a:p>
            <a:pPr marL="0" indent="0">
              <a:buNone/>
            </a:pPr>
            <a:r>
              <a:rPr lang="zh-CN" altLang="en-US" sz="2400" dirty="0"/>
              <a:t>将所有路径进行比较，选择长度最短的路径，做出这一次迭代的可视化结果，同时迭代次数加</a:t>
            </a:r>
            <a:r>
              <a:rPr lang="en-US" altLang="zh-CN" sz="2400" dirty="0"/>
              <a:t>1.</a:t>
            </a:r>
          </a:p>
          <a:p>
            <a:pPr marL="0" indent="0">
              <a:buNone/>
            </a:pPr>
            <a:r>
              <a:rPr lang="zh-CN" altLang="en-US" sz="2400" dirty="0"/>
              <a:t>然后判断当前迭代次数是否等于设置的迭代次数。如果等于则停止迭代，否则进行下一次迭代。</a:t>
            </a:r>
            <a:endParaRPr lang="en-US" altLang="zh-CN" sz="2400" dirty="0"/>
          </a:p>
          <a:p>
            <a:pPr marL="0" indent="0">
              <a:buNone/>
            </a:pPr>
            <a:endParaRPr lang="zh-CN" altLang="en-US" sz="2400" b="0" kern="0" dirty="0">
              <a:latin typeface="黑体" panose="02010609060101010101" pitchFamily="49" charset="-122"/>
              <a:ea typeface="黑体" panose="02010609060101010101" pitchFamily="49" charset="-122"/>
            </a:endParaRPr>
          </a:p>
        </p:txBody>
      </p:sp>
    </p:spTree>
    <p:extLst>
      <p:ext uri="{BB962C8B-B14F-4D97-AF65-F5344CB8AC3E}">
        <p14:creationId xmlns:p14="http://schemas.microsoft.com/office/powerpoint/2010/main" val="119475071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4" fill="hold" nodeType="with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animEffect transition="in" filter="wipe(down)">
                                      <p:cBhvr>
                                        <p:cTn id="7" dur="500"/>
                                        <p:tgtEl>
                                          <p:spTgt spid="6">
                                            <p:txEl>
                                              <p:pRg st="0" end="0"/>
                                            </p:txEl>
                                          </p:spTgt>
                                        </p:tgtEl>
                                      </p:cBhvr>
                                    </p:animEffect>
                                  </p:childTnLst>
                                </p:cTn>
                              </p:par>
                              <p:par>
                                <p:cTn id="8" presetID="22" presetClass="entr" presetSubtype="4" fill="hold" nodeType="withEffect">
                                  <p:stCondLst>
                                    <p:cond delay="0"/>
                                  </p:stCondLst>
                                  <p:childTnLst>
                                    <p:set>
                                      <p:cBhvr>
                                        <p:cTn id="9" dur="1" fill="hold">
                                          <p:stCondLst>
                                            <p:cond delay="0"/>
                                          </p:stCondLst>
                                        </p:cTn>
                                        <p:tgtEl>
                                          <p:spTgt spid="6">
                                            <p:txEl>
                                              <p:pRg st="1" end="1"/>
                                            </p:txEl>
                                          </p:spTgt>
                                        </p:tgtEl>
                                        <p:attrNameLst>
                                          <p:attrName>style.visibility</p:attrName>
                                        </p:attrNameLst>
                                      </p:cBhvr>
                                      <p:to>
                                        <p:strVal val="visible"/>
                                      </p:to>
                                    </p:set>
                                    <p:animEffect transition="in" filter="wipe(down)">
                                      <p:cBhvr>
                                        <p:cTn id="10" dur="500"/>
                                        <p:tgtEl>
                                          <p:spTgt spid="6">
                                            <p:txEl>
                                              <p:pRg st="1" end="1"/>
                                            </p:txEl>
                                          </p:spTgt>
                                        </p:tgtEl>
                                      </p:cBhvr>
                                    </p:animEffect>
                                  </p:childTnLst>
                                </p:cTn>
                              </p:par>
                              <p:par>
                                <p:cTn id="11" presetID="22" presetClass="entr" presetSubtype="4" fill="hold" nodeType="withEffect">
                                  <p:stCondLst>
                                    <p:cond delay="0"/>
                                  </p:stCondLst>
                                  <p:childTnLst>
                                    <p:set>
                                      <p:cBhvr>
                                        <p:cTn id="12" dur="1" fill="hold">
                                          <p:stCondLst>
                                            <p:cond delay="0"/>
                                          </p:stCondLst>
                                        </p:cTn>
                                        <p:tgtEl>
                                          <p:spTgt spid="6">
                                            <p:txEl>
                                              <p:pRg st="3" end="3"/>
                                            </p:txEl>
                                          </p:spTgt>
                                        </p:tgtEl>
                                        <p:attrNameLst>
                                          <p:attrName>style.visibility</p:attrName>
                                        </p:attrNameLst>
                                      </p:cBhvr>
                                      <p:to>
                                        <p:strVal val="visible"/>
                                      </p:to>
                                    </p:set>
                                    <p:animEffect transition="in" filter="wipe(down)">
                                      <p:cBhvr>
                                        <p:cTn id="13" dur="500"/>
                                        <p:tgtEl>
                                          <p:spTgt spid="6">
                                            <p:txEl>
                                              <p:pRg st="3" end="3"/>
                                            </p:txEl>
                                          </p:spTgt>
                                        </p:tgtEl>
                                      </p:cBhvr>
                                    </p:animEffect>
                                  </p:childTnLst>
                                </p:cTn>
                              </p:par>
                              <p:par>
                                <p:cTn id="14" presetID="22" presetClass="entr" presetSubtype="4" fill="hold" nodeType="withEffect">
                                  <p:stCondLst>
                                    <p:cond delay="0"/>
                                  </p:stCondLst>
                                  <p:childTnLst>
                                    <p:set>
                                      <p:cBhvr>
                                        <p:cTn id="15" dur="1" fill="hold">
                                          <p:stCondLst>
                                            <p:cond delay="0"/>
                                          </p:stCondLst>
                                        </p:cTn>
                                        <p:tgtEl>
                                          <p:spTgt spid="6">
                                            <p:txEl>
                                              <p:pRg st="4" end="4"/>
                                            </p:txEl>
                                          </p:spTgt>
                                        </p:tgtEl>
                                        <p:attrNameLst>
                                          <p:attrName>style.visibility</p:attrName>
                                        </p:attrNameLst>
                                      </p:cBhvr>
                                      <p:to>
                                        <p:strVal val="visible"/>
                                      </p:to>
                                    </p:set>
                                    <p:animEffect transition="in" filter="wipe(down)">
                                      <p:cBhvr>
                                        <p:cTn id="16" dur="500"/>
                                        <p:tgtEl>
                                          <p:spTgt spid="6">
                                            <p:txEl>
                                              <p:pRg st="4" end="4"/>
                                            </p:txEl>
                                          </p:spTgt>
                                        </p:tgtEl>
                                      </p:cBhvr>
                                    </p:animEffect>
                                  </p:childTnLst>
                                </p:cTn>
                              </p:par>
                              <p:par>
                                <p:cTn id="17" presetID="22" presetClass="entr" presetSubtype="4" fill="hold" nodeType="withEffect">
                                  <p:stCondLst>
                                    <p:cond delay="0"/>
                                  </p:stCondLst>
                                  <p:childTnLst>
                                    <p:set>
                                      <p:cBhvr>
                                        <p:cTn id="18" dur="1" fill="hold">
                                          <p:stCondLst>
                                            <p:cond delay="0"/>
                                          </p:stCondLst>
                                        </p:cTn>
                                        <p:tgtEl>
                                          <p:spTgt spid="6">
                                            <p:txEl>
                                              <p:pRg st="5" end="5"/>
                                            </p:txEl>
                                          </p:spTgt>
                                        </p:tgtEl>
                                        <p:attrNameLst>
                                          <p:attrName>style.visibility</p:attrName>
                                        </p:attrNameLst>
                                      </p:cBhvr>
                                      <p:to>
                                        <p:strVal val="visible"/>
                                      </p:to>
                                    </p:set>
                                    <p:animEffect transition="in" filter="wipe(down)">
                                      <p:cBhvr>
                                        <p:cTn id="19" dur="500"/>
                                        <p:tgtEl>
                                          <p:spTgt spid="6">
                                            <p:txEl>
                                              <p:pRg st="5" end="5"/>
                                            </p:txEl>
                                          </p:spTgt>
                                        </p:tgtEl>
                                      </p:cBhvr>
                                    </p:animEffect>
                                  </p:childTnLst>
                                </p:cTn>
                              </p:par>
                              <p:par>
                                <p:cTn id="20" presetID="22" presetClass="entr" presetSubtype="4" fill="hold" nodeType="withEffect">
                                  <p:stCondLst>
                                    <p:cond delay="0"/>
                                  </p:stCondLst>
                                  <p:childTnLst>
                                    <p:set>
                                      <p:cBhvr>
                                        <p:cTn id="21" dur="1" fill="hold">
                                          <p:stCondLst>
                                            <p:cond delay="0"/>
                                          </p:stCondLst>
                                        </p:cTn>
                                        <p:tgtEl>
                                          <p:spTgt spid="6">
                                            <p:txEl>
                                              <p:pRg st="6" end="6"/>
                                            </p:txEl>
                                          </p:spTgt>
                                        </p:tgtEl>
                                        <p:attrNameLst>
                                          <p:attrName>style.visibility</p:attrName>
                                        </p:attrNameLst>
                                      </p:cBhvr>
                                      <p:to>
                                        <p:strVal val="visible"/>
                                      </p:to>
                                    </p:set>
                                    <p:animEffect transition="in" filter="wipe(down)">
                                      <p:cBhvr>
                                        <p:cTn id="22" dur="500"/>
                                        <p:tgtEl>
                                          <p:spTgt spid="6">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946EA79-1C8A-4E46-A08C-22BEC975A93F}"/>
              </a:ext>
            </a:extLst>
          </p:cNvPr>
          <p:cNvSpPr>
            <a:spLocks noGrp="1"/>
          </p:cNvSpPr>
          <p:nvPr>
            <p:ph type="title"/>
          </p:nvPr>
        </p:nvSpPr>
        <p:spPr/>
        <p:txBody>
          <a:bodyPr/>
          <a:lstStyle/>
          <a:p>
            <a:r>
              <a:rPr lang="zh-CN" altLang="en-US" dirty="0"/>
              <a:t>启发式算法</a:t>
            </a:r>
            <a:r>
              <a:rPr lang="en-US" altLang="zh-CN" dirty="0"/>
              <a:t>—</a:t>
            </a:r>
            <a:r>
              <a:rPr lang="zh-CN" altLang="en-US" dirty="0"/>
              <a:t>蚁群算法</a:t>
            </a:r>
          </a:p>
        </p:txBody>
      </p:sp>
      <p:sp>
        <p:nvSpPr>
          <p:cNvPr id="3" name="内容占位符 2">
            <a:extLst>
              <a:ext uri="{FF2B5EF4-FFF2-40B4-BE49-F238E27FC236}">
                <a16:creationId xmlns:a16="http://schemas.microsoft.com/office/drawing/2014/main" id="{EA184B9D-2475-4FDF-BD63-CFA4872C9600}"/>
              </a:ext>
            </a:extLst>
          </p:cNvPr>
          <p:cNvSpPr>
            <a:spLocks noGrp="1"/>
          </p:cNvSpPr>
          <p:nvPr>
            <p:ph idx="1"/>
          </p:nvPr>
        </p:nvSpPr>
        <p:spPr/>
        <p:txBody>
          <a:bodyPr/>
          <a:lstStyle/>
          <a:p>
            <a:r>
              <a:rPr lang="zh-CN" altLang="en-US" dirty="0"/>
              <a:t>算法特点</a:t>
            </a:r>
            <a:endParaRPr lang="en-US" altLang="zh-CN" dirty="0"/>
          </a:p>
          <a:p>
            <a:pPr lvl="1"/>
            <a:r>
              <a:rPr lang="zh-CN" altLang="en-US" dirty="0"/>
              <a:t>自组织</a:t>
            </a:r>
            <a:endParaRPr lang="en-US" altLang="zh-CN" dirty="0"/>
          </a:p>
          <a:p>
            <a:pPr lvl="2"/>
            <a:r>
              <a:rPr lang="zh-CN" altLang="en-US" dirty="0"/>
              <a:t>算法执行由内部多个蚂蚁自行组织</a:t>
            </a:r>
            <a:endParaRPr lang="en-US" altLang="zh-CN" dirty="0"/>
          </a:p>
          <a:p>
            <a:pPr lvl="1"/>
            <a:r>
              <a:rPr lang="zh-CN" altLang="en-US" dirty="0"/>
              <a:t>并行计算</a:t>
            </a:r>
            <a:endParaRPr lang="en-US" altLang="zh-CN" dirty="0"/>
          </a:p>
          <a:p>
            <a:pPr lvl="2"/>
            <a:r>
              <a:rPr lang="zh-CN" altLang="en-US" dirty="0"/>
              <a:t>由多个蚂蚁同时进行路径寻找，属于分布式计算</a:t>
            </a:r>
            <a:endParaRPr lang="en-US" altLang="zh-CN" dirty="0"/>
          </a:p>
          <a:p>
            <a:pPr lvl="1"/>
            <a:r>
              <a:rPr lang="zh-CN" altLang="en-US" dirty="0"/>
              <a:t>鲁棒性好</a:t>
            </a:r>
            <a:endParaRPr lang="en-US" altLang="zh-CN" dirty="0"/>
          </a:p>
          <a:p>
            <a:pPr lvl="2"/>
            <a:r>
              <a:rPr lang="zh-CN" altLang="en-US" dirty="0"/>
              <a:t>可以修改适用于求解其他问题</a:t>
            </a:r>
            <a:endParaRPr lang="en-US" altLang="zh-CN" dirty="0"/>
          </a:p>
          <a:p>
            <a:pPr lvl="1"/>
            <a:endParaRPr lang="en-US" altLang="zh-CN" dirty="0"/>
          </a:p>
          <a:p>
            <a:endParaRPr lang="zh-CN" altLang="en-US" dirty="0"/>
          </a:p>
        </p:txBody>
      </p:sp>
      <p:sp>
        <p:nvSpPr>
          <p:cNvPr id="4" name="日期占位符 3">
            <a:extLst>
              <a:ext uri="{FF2B5EF4-FFF2-40B4-BE49-F238E27FC236}">
                <a16:creationId xmlns:a16="http://schemas.microsoft.com/office/drawing/2014/main" id="{EACBE9B2-1C09-4A27-B89B-923947BEFDEB}"/>
              </a:ext>
            </a:extLst>
          </p:cNvPr>
          <p:cNvSpPr>
            <a:spLocks noGrp="1"/>
          </p:cNvSpPr>
          <p:nvPr>
            <p:ph type="dt" sz="half" idx="10"/>
          </p:nvPr>
        </p:nvSpPr>
        <p:spPr/>
        <p:txBody>
          <a:bodyPr/>
          <a:lstStyle/>
          <a:p>
            <a:fld id="{A8B06C41-1E1E-4B9B-9644-5AFB8CB2AB3B}" type="datetime3">
              <a:rPr lang="zh-CN" altLang="en-US" smtClean="0"/>
              <a:t>2022年11月24日星期四</a:t>
            </a:fld>
            <a:endParaRPr lang="en-US" altLang="zh-CN" dirty="0"/>
          </a:p>
        </p:txBody>
      </p:sp>
      <p:sp>
        <p:nvSpPr>
          <p:cNvPr id="5" name="灯片编号占位符 4">
            <a:extLst>
              <a:ext uri="{FF2B5EF4-FFF2-40B4-BE49-F238E27FC236}">
                <a16:creationId xmlns:a16="http://schemas.microsoft.com/office/drawing/2014/main" id="{BB719D07-C23B-4210-A855-B215712CBF97}"/>
              </a:ext>
            </a:extLst>
          </p:cNvPr>
          <p:cNvSpPr>
            <a:spLocks noGrp="1"/>
          </p:cNvSpPr>
          <p:nvPr>
            <p:ph type="sldNum" sz="quarter" idx="12"/>
          </p:nvPr>
        </p:nvSpPr>
        <p:spPr/>
        <p:txBody>
          <a:bodyPr/>
          <a:lstStyle/>
          <a:p>
            <a:fld id="{7AC79822-BC0D-4DE8-A7E5-90A3732A2B82}" type="slidenum">
              <a:rPr lang="zh-CN" altLang="en-US" smtClean="0"/>
              <a:pPr/>
              <a:t>51</a:t>
            </a:fld>
            <a:endParaRPr lang="en-US" altLang="zh-CN" dirty="0"/>
          </a:p>
        </p:txBody>
      </p:sp>
      <p:sp>
        <p:nvSpPr>
          <p:cNvPr id="6" name="文本占位符 3">
            <a:extLst>
              <a:ext uri="{FF2B5EF4-FFF2-40B4-BE49-F238E27FC236}">
                <a16:creationId xmlns:a16="http://schemas.microsoft.com/office/drawing/2014/main" id="{92A9DCC9-4169-4B45-A6AF-0C50C5626711}"/>
              </a:ext>
            </a:extLst>
          </p:cNvPr>
          <p:cNvSpPr txBox="1">
            <a:spLocks/>
          </p:cNvSpPr>
          <p:nvPr/>
        </p:nvSpPr>
        <p:spPr>
          <a:xfrm>
            <a:off x="488504" y="1870678"/>
            <a:ext cx="7857628" cy="4795100"/>
          </a:xfrm>
          <a:prstGeom prst="rect">
            <a:avLst/>
          </a:prstGeom>
        </p:spPr>
        <p:txBody>
          <a:bodyPr/>
          <a:lstStyle>
            <a:lvl1pPr marL="342900" indent="-342900" algn="l" rtl="0" eaLnBrk="1" fontAlgn="base" hangingPunct="1">
              <a:spcBef>
                <a:spcPct val="20000"/>
              </a:spcBef>
              <a:spcAft>
                <a:spcPct val="0"/>
              </a:spcAft>
              <a:buClr>
                <a:srgbClr val="333399"/>
              </a:buClr>
              <a:buSzPct val="75000"/>
              <a:buFont typeface="Wingdings" panose="05000000000000000000" pitchFamily="2" charset="2"/>
              <a:buChar char=""/>
              <a:defRPr sz="3200" b="1">
                <a:solidFill>
                  <a:schemeClr val="tx1"/>
                </a:solidFill>
                <a:latin typeface="+mn-lt"/>
                <a:ea typeface="黑体" pitchFamily="2" charset="-122"/>
                <a:cs typeface="+mn-cs"/>
              </a:defRPr>
            </a:lvl1pPr>
            <a:lvl2pPr marL="742950" indent="-285750" algn="l" rtl="0" eaLnBrk="1" fontAlgn="base" hangingPunct="1">
              <a:spcBef>
                <a:spcPct val="20000"/>
              </a:spcBef>
              <a:spcAft>
                <a:spcPct val="0"/>
              </a:spcAft>
              <a:buClr>
                <a:schemeClr val="accent2"/>
              </a:buClr>
              <a:buSzPct val="70000"/>
              <a:buFont typeface="Wingdings" panose="05000000000000000000" pitchFamily="2" charset="2"/>
              <a:buChar char=""/>
              <a:defRPr sz="2800" b="1">
                <a:solidFill>
                  <a:schemeClr val="tx1"/>
                </a:solidFill>
                <a:latin typeface="+mn-lt"/>
                <a:ea typeface="黑体" pitchFamily="2" charset="-122"/>
              </a:defRPr>
            </a:lvl2pPr>
            <a:lvl3pPr marL="1143000" indent="-228600" algn="l" rtl="0" eaLnBrk="1" fontAlgn="base" hangingPunct="1">
              <a:spcBef>
                <a:spcPct val="20000"/>
              </a:spcBef>
              <a:spcAft>
                <a:spcPct val="0"/>
              </a:spcAft>
              <a:buClr>
                <a:srgbClr val="333399"/>
              </a:buClr>
              <a:buSzPct val="65000"/>
              <a:buFont typeface="Wingdings" panose="05000000000000000000" pitchFamily="2" charset="2"/>
              <a:buChar char=""/>
              <a:defRPr sz="2400" b="1">
                <a:solidFill>
                  <a:schemeClr val="tx1"/>
                </a:solidFill>
                <a:latin typeface="+mn-lt"/>
                <a:ea typeface="黑体" pitchFamily="2" charset="-122"/>
              </a:defRPr>
            </a:lvl3pPr>
            <a:lvl4pPr marL="1600200" indent="-228600" algn="l" rtl="0" eaLnBrk="1" fontAlgn="base" hangingPunct="1">
              <a:spcBef>
                <a:spcPct val="20000"/>
              </a:spcBef>
              <a:spcAft>
                <a:spcPct val="0"/>
              </a:spcAft>
              <a:buClr>
                <a:schemeClr val="bg2"/>
              </a:buClr>
              <a:buSzPct val="65000"/>
              <a:buFont typeface="Wingdings" pitchFamily="2" charset="2"/>
              <a:buChar char="n"/>
              <a:defRPr sz="2000" b="1">
                <a:solidFill>
                  <a:schemeClr val="tx1"/>
                </a:solidFill>
                <a:latin typeface="+mn-lt"/>
                <a:ea typeface="黑体" pitchFamily="2" charset="-122"/>
              </a:defRPr>
            </a:lvl4pPr>
            <a:lvl5pPr marL="2057400" indent="-228600" algn="l" rtl="0" eaLnBrk="1" fontAlgn="base" hangingPunct="1">
              <a:spcBef>
                <a:spcPct val="20000"/>
              </a:spcBef>
              <a:spcAft>
                <a:spcPct val="0"/>
              </a:spcAft>
              <a:buClr>
                <a:srgbClr val="333399"/>
              </a:buClr>
              <a:buSzPct val="60000"/>
              <a:buFont typeface="Wingdings" panose="05000000000000000000" pitchFamily="2" charset="2"/>
              <a:buChar char="Ø"/>
              <a:defRPr sz="2000" b="1">
                <a:solidFill>
                  <a:schemeClr val="tx1"/>
                </a:solidFill>
                <a:latin typeface="+mn-lt"/>
                <a:ea typeface="黑体" pitchFamily="2" charset="-122"/>
              </a:defRPr>
            </a:lvl5pPr>
            <a:lvl6pPr marL="25146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defRPr>
            </a:lvl6pPr>
            <a:lvl7pPr marL="29718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defRPr>
            </a:lvl7pPr>
            <a:lvl8pPr marL="34290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defRPr>
            </a:lvl8pPr>
            <a:lvl9pPr marL="38862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defRPr>
            </a:lvl9pPr>
          </a:lstStyle>
          <a:p>
            <a:pPr marL="0" indent="0">
              <a:buNone/>
            </a:pPr>
            <a:endParaRPr lang="en-US" altLang="zh-CN" sz="2400" kern="0" dirty="0">
              <a:solidFill>
                <a:schemeClr val="tx1">
                  <a:lumMod val="65000"/>
                  <a:lumOff val="35000"/>
                </a:schemeClr>
              </a:solidFill>
              <a:latin typeface="黑体" panose="02010609060101010101" pitchFamily="49" charset="-122"/>
              <a:ea typeface="黑体" panose="02010609060101010101" pitchFamily="49" charset="-122"/>
            </a:endParaRPr>
          </a:p>
          <a:p>
            <a:pPr marL="0" indent="0">
              <a:buNone/>
            </a:pPr>
            <a:endParaRPr lang="en-US" altLang="zh-CN" sz="2400" kern="0" dirty="0">
              <a:solidFill>
                <a:schemeClr val="tx1">
                  <a:lumMod val="65000"/>
                  <a:lumOff val="35000"/>
                </a:schemeClr>
              </a:solidFill>
              <a:latin typeface="黑体" panose="02010609060101010101" pitchFamily="49" charset="-122"/>
              <a:ea typeface="黑体" panose="02010609060101010101" pitchFamily="49" charset="-122"/>
            </a:endParaRPr>
          </a:p>
        </p:txBody>
      </p:sp>
    </p:spTree>
    <p:extLst>
      <p:ext uri="{BB962C8B-B14F-4D97-AF65-F5344CB8AC3E}">
        <p14:creationId xmlns:p14="http://schemas.microsoft.com/office/powerpoint/2010/main" val="3372171278"/>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1692599-CCDA-4C17-8F28-B1F885D652FD}"/>
              </a:ext>
            </a:extLst>
          </p:cNvPr>
          <p:cNvSpPr>
            <a:spLocks noGrp="1"/>
          </p:cNvSpPr>
          <p:nvPr>
            <p:ph type="title"/>
          </p:nvPr>
        </p:nvSpPr>
        <p:spPr/>
        <p:txBody>
          <a:bodyPr/>
          <a:lstStyle/>
          <a:p>
            <a:r>
              <a:rPr lang="zh-CN" altLang="en-US" dirty="0"/>
              <a:t>蚁群算法求解其他组合优化问题</a:t>
            </a:r>
          </a:p>
        </p:txBody>
      </p:sp>
      <p:sp>
        <p:nvSpPr>
          <p:cNvPr id="3" name="内容占位符 2">
            <a:extLst>
              <a:ext uri="{FF2B5EF4-FFF2-40B4-BE49-F238E27FC236}">
                <a16:creationId xmlns:a16="http://schemas.microsoft.com/office/drawing/2014/main" id="{DB2C61DA-4F7F-4754-9787-0450B05A6CD1}"/>
              </a:ext>
            </a:extLst>
          </p:cNvPr>
          <p:cNvSpPr>
            <a:spLocks noGrp="1"/>
          </p:cNvSpPr>
          <p:nvPr>
            <p:ph idx="1"/>
          </p:nvPr>
        </p:nvSpPr>
        <p:spPr/>
        <p:txBody>
          <a:bodyPr/>
          <a:lstStyle/>
          <a:p>
            <a:r>
              <a:rPr lang="en-US" altLang="zh-CN" dirty="0"/>
              <a:t> 0-1</a:t>
            </a:r>
            <a:r>
              <a:rPr lang="zh-CN" altLang="en-US" dirty="0"/>
              <a:t>背包问题</a:t>
            </a:r>
            <a:endParaRPr lang="en-US" altLang="zh-CN" dirty="0"/>
          </a:p>
          <a:p>
            <a:pPr lvl="1"/>
            <a:r>
              <a:rPr lang="zh-CN" altLang="en-US" dirty="0"/>
              <a:t>目标：背包内装的物品价值最大</a:t>
            </a:r>
            <a:endParaRPr lang="en-US" altLang="zh-CN" dirty="0"/>
          </a:p>
        </p:txBody>
      </p:sp>
      <p:sp>
        <p:nvSpPr>
          <p:cNvPr id="4" name="日期占位符 3">
            <a:extLst>
              <a:ext uri="{FF2B5EF4-FFF2-40B4-BE49-F238E27FC236}">
                <a16:creationId xmlns:a16="http://schemas.microsoft.com/office/drawing/2014/main" id="{27338113-85AF-4784-B155-FABCBD868AEF}"/>
              </a:ext>
            </a:extLst>
          </p:cNvPr>
          <p:cNvSpPr>
            <a:spLocks noGrp="1"/>
          </p:cNvSpPr>
          <p:nvPr>
            <p:ph type="dt" sz="half" idx="10"/>
          </p:nvPr>
        </p:nvSpPr>
        <p:spPr/>
        <p:txBody>
          <a:bodyPr/>
          <a:lstStyle/>
          <a:p>
            <a:fld id="{A8B06C41-1E1E-4B9B-9644-5AFB8CB2AB3B}" type="datetime3">
              <a:rPr lang="zh-CN" altLang="en-US" smtClean="0"/>
              <a:t>2022年11月24日星期四</a:t>
            </a:fld>
            <a:endParaRPr lang="en-US" altLang="zh-CN" dirty="0"/>
          </a:p>
        </p:txBody>
      </p:sp>
      <p:sp>
        <p:nvSpPr>
          <p:cNvPr id="5" name="灯片编号占位符 4">
            <a:extLst>
              <a:ext uri="{FF2B5EF4-FFF2-40B4-BE49-F238E27FC236}">
                <a16:creationId xmlns:a16="http://schemas.microsoft.com/office/drawing/2014/main" id="{F9F1954E-B577-4018-8738-F3B981337628}"/>
              </a:ext>
            </a:extLst>
          </p:cNvPr>
          <p:cNvSpPr>
            <a:spLocks noGrp="1"/>
          </p:cNvSpPr>
          <p:nvPr>
            <p:ph type="sldNum" sz="quarter" idx="12"/>
          </p:nvPr>
        </p:nvSpPr>
        <p:spPr/>
        <p:txBody>
          <a:bodyPr/>
          <a:lstStyle/>
          <a:p>
            <a:fld id="{7AC79822-BC0D-4DE8-A7E5-90A3732A2B82}" type="slidenum">
              <a:rPr lang="zh-CN" altLang="en-US" smtClean="0"/>
              <a:pPr/>
              <a:t>52</a:t>
            </a:fld>
            <a:endParaRPr lang="en-US" altLang="zh-CN" dirty="0"/>
          </a:p>
        </p:txBody>
      </p:sp>
      <p:graphicFrame>
        <p:nvGraphicFramePr>
          <p:cNvPr id="6" name="对象 5">
            <a:extLst>
              <a:ext uri="{FF2B5EF4-FFF2-40B4-BE49-F238E27FC236}">
                <a16:creationId xmlns:a16="http://schemas.microsoft.com/office/drawing/2014/main" id="{C4C20D6B-1C39-4CFE-9B9A-07850EEB5C74}"/>
              </a:ext>
            </a:extLst>
          </p:cNvPr>
          <p:cNvGraphicFramePr>
            <a:graphicFrameLocks noChangeAspect="1"/>
          </p:cNvGraphicFramePr>
          <p:nvPr/>
        </p:nvGraphicFramePr>
        <p:xfrm>
          <a:off x="2625222" y="2636912"/>
          <a:ext cx="3808423" cy="2304256"/>
        </p:xfrm>
        <a:graphic>
          <a:graphicData uri="http://schemas.openxmlformats.org/presentationml/2006/ole">
            <mc:AlternateContent xmlns:mc="http://schemas.openxmlformats.org/markup-compatibility/2006">
              <mc:Choice xmlns:v="urn:schemas-microsoft-com:vml" Requires="v">
                <p:oleObj name="Equation" r:id="rId2" imgW="1511280" imgH="914400" progId="Equation.DSMT4">
                  <p:embed/>
                </p:oleObj>
              </mc:Choice>
              <mc:Fallback>
                <p:oleObj name="Equation" r:id="rId2" imgW="1511280" imgH="914400" progId="Equation.DSMT4">
                  <p:embed/>
                  <p:pic>
                    <p:nvPicPr>
                      <p:cNvPr id="6" name="对象 5">
                        <a:extLst>
                          <a:ext uri="{FF2B5EF4-FFF2-40B4-BE49-F238E27FC236}">
                            <a16:creationId xmlns:a16="http://schemas.microsoft.com/office/drawing/2014/main" id="{C4C20D6B-1C39-4CFE-9B9A-07850EEB5C74}"/>
                          </a:ext>
                        </a:extLst>
                      </p:cNvPr>
                      <p:cNvPicPr/>
                      <p:nvPr/>
                    </p:nvPicPr>
                    <p:blipFill>
                      <a:blip r:embed="rId3"/>
                      <a:stretch>
                        <a:fillRect/>
                      </a:stretch>
                    </p:blipFill>
                    <p:spPr>
                      <a:xfrm>
                        <a:off x="2625222" y="2636912"/>
                        <a:ext cx="3808423" cy="2304256"/>
                      </a:xfrm>
                      <a:prstGeom prst="rect">
                        <a:avLst/>
                      </a:prstGeom>
                    </p:spPr>
                  </p:pic>
                </p:oleObj>
              </mc:Fallback>
            </mc:AlternateContent>
          </a:graphicData>
        </a:graphic>
      </p:graphicFrame>
    </p:spTree>
    <p:extLst>
      <p:ext uri="{BB962C8B-B14F-4D97-AF65-F5344CB8AC3E}">
        <p14:creationId xmlns:p14="http://schemas.microsoft.com/office/powerpoint/2010/main" val="198551531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6" presetClass="entr" presetSubtype="21" fill="hold" nodeType="with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barn(inVertical)">
                                      <p:cBhvr>
                                        <p:cTn id="7" dur="500"/>
                                        <p:tgtEl>
                                          <p:spTgt spid="3">
                                            <p:txEl>
                                              <p:pRg st="0" end="0"/>
                                            </p:txEl>
                                          </p:spTgt>
                                        </p:tgtEl>
                                      </p:cBhvr>
                                    </p:animEffect>
                                  </p:childTnLst>
                                </p:cTn>
                              </p:par>
                              <p:par>
                                <p:cTn id="8" presetID="16" presetClass="entr" presetSubtype="21" fill="hold" nodeType="withEffect">
                                  <p:stCondLst>
                                    <p:cond delay="0"/>
                                  </p:stCondLst>
                                  <p:childTnLst>
                                    <p:set>
                                      <p:cBhvr>
                                        <p:cTn id="9" dur="1" fill="hold">
                                          <p:stCondLst>
                                            <p:cond delay="0"/>
                                          </p:stCondLst>
                                        </p:cTn>
                                        <p:tgtEl>
                                          <p:spTgt spid="3">
                                            <p:txEl>
                                              <p:pRg st="1" end="1"/>
                                            </p:txEl>
                                          </p:spTgt>
                                        </p:tgtEl>
                                        <p:attrNameLst>
                                          <p:attrName>style.visibility</p:attrName>
                                        </p:attrNameLst>
                                      </p:cBhvr>
                                      <p:to>
                                        <p:strVal val="visible"/>
                                      </p:to>
                                    </p:set>
                                    <p:animEffect transition="in" filter="barn(inVertical)">
                                      <p:cBhvr>
                                        <p:cTn id="10" dur="500"/>
                                        <p:tgtEl>
                                          <p:spTgt spid="3">
                                            <p:txEl>
                                              <p:pRg st="1" end="1"/>
                                            </p:txEl>
                                          </p:spTgt>
                                        </p:tgtEl>
                                      </p:cBhvr>
                                    </p:animEffect>
                                  </p:childTnLst>
                                </p:cTn>
                              </p:par>
                            </p:childTnLst>
                          </p:cTn>
                        </p:par>
                        <p:par>
                          <p:cTn id="11" fill="hold">
                            <p:stCondLst>
                              <p:cond delay="500"/>
                            </p:stCondLst>
                            <p:childTnLst>
                              <p:par>
                                <p:cTn id="12" presetID="2" presetClass="entr" presetSubtype="4" fill="hold" nodeType="afterEffect">
                                  <p:stCondLst>
                                    <p:cond delay="0"/>
                                  </p:stCondLst>
                                  <p:childTnLst>
                                    <p:set>
                                      <p:cBhvr>
                                        <p:cTn id="13" dur="1" fill="hold">
                                          <p:stCondLst>
                                            <p:cond delay="0"/>
                                          </p:stCondLst>
                                        </p:cTn>
                                        <p:tgtEl>
                                          <p:spTgt spid="6"/>
                                        </p:tgtEl>
                                        <p:attrNameLst>
                                          <p:attrName>style.visibility</p:attrName>
                                        </p:attrNameLst>
                                      </p:cBhvr>
                                      <p:to>
                                        <p:strVal val="visible"/>
                                      </p:to>
                                    </p:set>
                                    <p:anim calcmode="lin" valueType="num">
                                      <p:cBhvr additive="base">
                                        <p:cTn id="14" dur="500" fill="hold"/>
                                        <p:tgtEl>
                                          <p:spTgt spid="6"/>
                                        </p:tgtEl>
                                        <p:attrNameLst>
                                          <p:attrName>ppt_x</p:attrName>
                                        </p:attrNameLst>
                                      </p:cBhvr>
                                      <p:tavLst>
                                        <p:tav tm="0">
                                          <p:val>
                                            <p:strVal val="#ppt_x"/>
                                          </p:val>
                                        </p:tav>
                                        <p:tav tm="100000">
                                          <p:val>
                                            <p:strVal val="#ppt_x"/>
                                          </p:val>
                                        </p:tav>
                                      </p:tavLst>
                                    </p:anim>
                                    <p:anim calcmode="lin" valueType="num">
                                      <p:cBhvr additive="base">
                                        <p:cTn id="15" dur="500" fill="hold"/>
                                        <p:tgtEl>
                                          <p:spTgt spid="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1692599-CCDA-4C17-8F28-B1F885D652FD}"/>
              </a:ext>
            </a:extLst>
          </p:cNvPr>
          <p:cNvSpPr>
            <a:spLocks noGrp="1"/>
          </p:cNvSpPr>
          <p:nvPr>
            <p:ph type="title"/>
          </p:nvPr>
        </p:nvSpPr>
        <p:spPr/>
        <p:txBody>
          <a:bodyPr/>
          <a:lstStyle/>
          <a:p>
            <a:r>
              <a:rPr lang="zh-CN" altLang="en-US" dirty="0"/>
              <a:t>蚁群算法求解其他组合优化问题</a:t>
            </a:r>
          </a:p>
        </p:txBody>
      </p:sp>
      <p:sp>
        <p:nvSpPr>
          <p:cNvPr id="3" name="内容占位符 2">
            <a:extLst>
              <a:ext uri="{FF2B5EF4-FFF2-40B4-BE49-F238E27FC236}">
                <a16:creationId xmlns:a16="http://schemas.microsoft.com/office/drawing/2014/main" id="{DB2C61DA-4F7F-4754-9787-0450B05A6CD1}"/>
              </a:ext>
            </a:extLst>
          </p:cNvPr>
          <p:cNvSpPr>
            <a:spLocks noGrp="1"/>
          </p:cNvSpPr>
          <p:nvPr>
            <p:ph idx="1"/>
          </p:nvPr>
        </p:nvSpPr>
        <p:spPr/>
        <p:txBody>
          <a:bodyPr/>
          <a:lstStyle/>
          <a:p>
            <a:r>
              <a:rPr lang="en-US" altLang="zh-CN" dirty="0"/>
              <a:t> 0-1</a:t>
            </a:r>
            <a:r>
              <a:rPr lang="zh-CN" altLang="en-US" dirty="0"/>
              <a:t>背包问题</a:t>
            </a:r>
            <a:endParaRPr lang="en-US" altLang="zh-CN" dirty="0"/>
          </a:p>
          <a:p>
            <a:pPr lvl="1"/>
            <a:r>
              <a:rPr lang="zh-CN" altLang="en-US" dirty="0"/>
              <a:t>约束：</a:t>
            </a:r>
            <a:endParaRPr lang="en-US" altLang="zh-CN" dirty="0"/>
          </a:p>
          <a:p>
            <a:pPr lvl="2"/>
            <a:r>
              <a:rPr lang="en-US" altLang="zh-CN" dirty="0"/>
              <a:t>1. </a:t>
            </a:r>
            <a:r>
              <a:rPr lang="zh-CN" altLang="en-US" dirty="0"/>
              <a:t>背包选择的物品总重量不能超过背包容量</a:t>
            </a:r>
            <a:endParaRPr lang="en-US" altLang="zh-CN" dirty="0"/>
          </a:p>
          <a:p>
            <a:pPr lvl="2"/>
            <a:r>
              <a:rPr lang="en-US" altLang="zh-CN" dirty="0"/>
              <a:t>2.</a:t>
            </a:r>
            <a:r>
              <a:rPr lang="zh-CN" altLang="en-US" dirty="0"/>
              <a:t> 物品不可拆分（只能选择装或者不装）</a:t>
            </a:r>
          </a:p>
        </p:txBody>
      </p:sp>
      <p:sp>
        <p:nvSpPr>
          <p:cNvPr id="4" name="日期占位符 3">
            <a:extLst>
              <a:ext uri="{FF2B5EF4-FFF2-40B4-BE49-F238E27FC236}">
                <a16:creationId xmlns:a16="http://schemas.microsoft.com/office/drawing/2014/main" id="{27338113-85AF-4784-B155-FABCBD868AEF}"/>
              </a:ext>
            </a:extLst>
          </p:cNvPr>
          <p:cNvSpPr>
            <a:spLocks noGrp="1"/>
          </p:cNvSpPr>
          <p:nvPr>
            <p:ph type="dt" sz="half" idx="10"/>
          </p:nvPr>
        </p:nvSpPr>
        <p:spPr/>
        <p:txBody>
          <a:bodyPr/>
          <a:lstStyle/>
          <a:p>
            <a:fld id="{A8B06C41-1E1E-4B9B-9644-5AFB8CB2AB3B}" type="datetime3">
              <a:rPr lang="zh-CN" altLang="en-US" smtClean="0"/>
              <a:t>2022年11月24日星期四</a:t>
            </a:fld>
            <a:endParaRPr lang="en-US" altLang="zh-CN" dirty="0"/>
          </a:p>
        </p:txBody>
      </p:sp>
      <p:sp>
        <p:nvSpPr>
          <p:cNvPr id="5" name="灯片编号占位符 4">
            <a:extLst>
              <a:ext uri="{FF2B5EF4-FFF2-40B4-BE49-F238E27FC236}">
                <a16:creationId xmlns:a16="http://schemas.microsoft.com/office/drawing/2014/main" id="{F9F1954E-B577-4018-8738-F3B981337628}"/>
              </a:ext>
            </a:extLst>
          </p:cNvPr>
          <p:cNvSpPr>
            <a:spLocks noGrp="1"/>
          </p:cNvSpPr>
          <p:nvPr>
            <p:ph type="sldNum" sz="quarter" idx="12"/>
          </p:nvPr>
        </p:nvSpPr>
        <p:spPr/>
        <p:txBody>
          <a:bodyPr/>
          <a:lstStyle/>
          <a:p>
            <a:fld id="{7AC79822-BC0D-4DE8-A7E5-90A3732A2B82}" type="slidenum">
              <a:rPr lang="zh-CN" altLang="en-US" smtClean="0"/>
              <a:pPr/>
              <a:t>53</a:t>
            </a:fld>
            <a:endParaRPr lang="en-US" altLang="zh-CN" dirty="0"/>
          </a:p>
        </p:txBody>
      </p:sp>
      <p:graphicFrame>
        <p:nvGraphicFramePr>
          <p:cNvPr id="6" name="对象 5">
            <a:extLst>
              <a:ext uri="{FF2B5EF4-FFF2-40B4-BE49-F238E27FC236}">
                <a16:creationId xmlns:a16="http://schemas.microsoft.com/office/drawing/2014/main" id="{0E97E8EF-0BA8-4EE2-A8F9-ED9FA2C2961B}"/>
              </a:ext>
            </a:extLst>
          </p:cNvPr>
          <p:cNvGraphicFramePr>
            <a:graphicFrameLocks noChangeAspect="1"/>
          </p:cNvGraphicFramePr>
          <p:nvPr/>
        </p:nvGraphicFramePr>
        <p:xfrm>
          <a:off x="2576736" y="3645024"/>
          <a:ext cx="3808423" cy="2304256"/>
        </p:xfrm>
        <a:graphic>
          <a:graphicData uri="http://schemas.openxmlformats.org/presentationml/2006/ole">
            <mc:AlternateContent xmlns:mc="http://schemas.openxmlformats.org/markup-compatibility/2006">
              <mc:Choice xmlns:v="urn:schemas-microsoft-com:vml" Requires="v">
                <p:oleObj name="Equation" r:id="rId2" imgW="1511280" imgH="914400" progId="Equation.DSMT4">
                  <p:embed/>
                </p:oleObj>
              </mc:Choice>
              <mc:Fallback>
                <p:oleObj name="Equation" r:id="rId2" imgW="1511280" imgH="914400" progId="Equation.DSMT4">
                  <p:embed/>
                  <p:pic>
                    <p:nvPicPr>
                      <p:cNvPr id="6" name="对象 5">
                        <a:extLst>
                          <a:ext uri="{FF2B5EF4-FFF2-40B4-BE49-F238E27FC236}">
                            <a16:creationId xmlns:a16="http://schemas.microsoft.com/office/drawing/2014/main" id="{0E97E8EF-0BA8-4EE2-A8F9-ED9FA2C2961B}"/>
                          </a:ext>
                        </a:extLst>
                      </p:cNvPr>
                      <p:cNvPicPr/>
                      <p:nvPr/>
                    </p:nvPicPr>
                    <p:blipFill>
                      <a:blip r:embed="rId3"/>
                      <a:stretch>
                        <a:fillRect/>
                      </a:stretch>
                    </p:blipFill>
                    <p:spPr>
                      <a:xfrm>
                        <a:off x="2576736" y="3645024"/>
                        <a:ext cx="3808423" cy="2304256"/>
                      </a:xfrm>
                      <a:prstGeom prst="rect">
                        <a:avLst/>
                      </a:prstGeom>
                    </p:spPr>
                  </p:pic>
                </p:oleObj>
              </mc:Fallback>
            </mc:AlternateContent>
          </a:graphicData>
        </a:graphic>
      </p:graphicFrame>
    </p:spTree>
    <p:extLst>
      <p:ext uri="{BB962C8B-B14F-4D97-AF65-F5344CB8AC3E}">
        <p14:creationId xmlns:p14="http://schemas.microsoft.com/office/powerpoint/2010/main" val="24417360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4" fill="hold" nodeType="with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down)">
                                      <p:cBhvr>
                                        <p:cTn id="7" dur="500"/>
                                        <p:tgtEl>
                                          <p:spTgt spid="3">
                                            <p:txEl>
                                              <p:pRg st="0" end="0"/>
                                            </p:txEl>
                                          </p:spTgt>
                                        </p:tgtEl>
                                      </p:cBhvr>
                                    </p:animEffect>
                                  </p:childTnLst>
                                </p:cTn>
                              </p:par>
                              <p:par>
                                <p:cTn id="8" presetID="22" presetClass="entr" presetSubtype="4" fill="hold" nodeType="withEffect">
                                  <p:stCondLst>
                                    <p:cond delay="0"/>
                                  </p:stCondLst>
                                  <p:childTnLst>
                                    <p:set>
                                      <p:cBhvr>
                                        <p:cTn id="9" dur="1" fill="hold">
                                          <p:stCondLst>
                                            <p:cond delay="0"/>
                                          </p:stCondLst>
                                        </p:cTn>
                                        <p:tgtEl>
                                          <p:spTgt spid="3">
                                            <p:txEl>
                                              <p:pRg st="1" end="1"/>
                                            </p:txEl>
                                          </p:spTgt>
                                        </p:tgtEl>
                                        <p:attrNameLst>
                                          <p:attrName>style.visibility</p:attrName>
                                        </p:attrNameLst>
                                      </p:cBhvr>
                                      <p:to>
                                        <p:strVal val="visible"/>
                                      </p:to>
                                    </p:set>
                                    <p:animEffect transition="in" filter="wipe(down)">
                                      <p:cBhvr>
                                        <p:cTn id="10" dur="500"/>
                                        <p:tgtEl>
                                          <p:spTgt spid="3">
                                            <p:txEl>
                                              <p:pRg st="1" end="1"/>
                                            </p:txEl>
                                          </p:spTgt>
                                        </p:tgtEl>
                                      </p:cBhvr>
                                    </p:animEffect>
                                  </p:childTnLst>
                                </p:cTn>
                              </p:par>
                              <p:par>
                                <p:cTn id="11" presetID="22" presetClass="entr" presetSubtype="4" fill="hold" nodeType="with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animEffect transition="in" filter="wipe(down)">
                                      <p:cBhvr>
                                        <p:cTn id="13" dur="500"/>
                                        <p:tgtEl>
                                          <p:spTgt spid="3">
                                            <p:txEl>
                                              <p:pRg st="2" end="2"/>
                                            </p:txEl>
                                          </p:spTgt>
                                        </p:tgtEl>
                                      </p:cBhvr>
                                    </p:animEffect>
                                  </p:childTnLst>
                                </p:cTn>
                              </p:par>
                              <p:par>
                                <p:cTn id="14" presetID="22" presetClass="entr" presetSubtype="4" fill="hold" nodeType="withEffect">
                                  <p:stCondLst>
                                    <p:cond delay="0"/>
                                  </p:stCondLst>
                                  <p:childTnLst>
                                    <p:set>
                                      <p:cBhvr>
                                        <p:cTn id="15" dur="1" fill="hold">
                                          <p:stCondLst>
                                            <p:cond delay="0"/>
                                          </p:stCondLst>
                                        </p:cTn>
                                        <p:tgtEl>
                                          <p:spTgt spid="3">
                                            <p:txEl>
                                              <p:pRg st="3" end="3"/>
                                            </p:txEl>
                                          </p:spTgt>
                                        </p:tgtEl>
                                        <p:attrNameLst>
                                          <p:attrName>style.visibility</p:attrName>
                                        </p:attrNameLst>
                                      </p:cBhvr>
                                      <p:to>
                                        <p:strVal val="visible"/>
                                      </p:to>
                                    </p:set>
                                    <p:animEffect transition="in" filter="wipe(down)">
                                      <p:cBhvr>
                                        <p:cTn id="16" dur="500"/>
                                        <p:tgtEl>
                                          <p:spTgt spid="3">
                                            <p:txEl>
                                              <p:pRg st="3" end="3"/>
                                            </p:txEl>
                                          </p:spTgt>
                                        </p:tgtEl>
                                      </p:cBhvr>
                                    </p:animEffect>
                                  </p:childTnLst>
                                </p:cTn>
                              </p:par>
                            </p:childTnLst>
                          </p:cTn>
                        </p:par>
                        <p:par>
                          <p:cTn id="17" fill="hold">
                            <p:stCondLst>
                              <p:cond delay="500"/>
                            </p:stCondLst>
                            <p:childTnLst>
                              <p:par>
                                <p:cTn id="18" presetID="16" presetClass="entr" presetSubtype="21" fill="hold" nodeType="afterEffect">
                                  <p:stCondLst>
                                    <p:cond delay="0"/>
                                  </p:stCondLst>
                                  <p:childTnLst>
                                    <p:set>
                                      <p:cBhvr>
                                        <p:cTn id="19" dur="1" fill="hold">
                                          <p:stCondLst>
                                            <p:cond delay="0"/>
                                          </p:stCondLst>
                                        </p:cTn>
                                        <p:tgtEl>
                                          <p:spTgt spid="6"/>
                                        </p:tgtEl>
                                        <p:attrNameLst>
                                          <p:attrName>style.visibility</p:attrName>
                                        </p:attrNameLst>
                                      </p:cBhvr>
                                      <p:to>
                                        <p:strVal val="visible"/>
                                      </p:to>
                                    </p:set>
                                    <p:animEffect transition="in" filter="barn(inVertical)">
                                      <p:cBhvr>
                                        <p:cTn id="20"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1692599-CCDA-4C17-8F28-B1F885D652FD}"/>
              </a:ext>
            </a:extLst>
          </p:cNvPr>
          <p:cNvSpPr>
            <a:spLocks noGrp="1"/>
          </p:cNvSpPr>
          <p:nvPr>
            <p:ph type="title"/>
          </p:nvPr>
        </p:nvSpPr>
        <p:spPr/>
        <p:txBody>
          <a:bodyPr/>
          <a:lstStyle/>
          <a:p>
            <a:r>
              <a:rPr lang="zh-CN" altLang="en-US" dirty="0"/>
              <a:t>蚁群算法求解其他组合优化问题</a:t>
            </a:r>
          </a:p>
        </p:txBody>
      </p:sp>
      <p:sp>
        <p:nvSpPr>
          <p:cNvPr id="3" name="内容占位符 2">
            <a:extLst>
              <a:ext uri="{FF2B5EF4-FFF2-40B4-BE49-F238E27FC236}">
                <a16:creationId xmlns:a16="http://schemas.microsoft.com/office/drawing/2014/main" id="{DB2C61DA-4F7F-4754-9787-0450B05A6CD1}"/>
              </a:ext>
            </a:extLst>
          </p:cNvPr>
          <p:cNvSpPr>
            <a:spLocks noGrp="1"/>
          </p:cNvSpPr>
          <p:nvPr>
            <p:ph idx="1"/>
          </p:nvPr>
        </p:nvSpPr>
        <p:spPr/>
        <p:txBody>
          <a:bodyPr/>
          <a:lstStyle/>
          <a:p>
            <a:r>
              <a:rPr lang="en-US" altLang="zh-CN" dirty="0"/>
              <a:t> 0-1</a:t>
            </a:r>
            <a:r>
              <a:rPr lang="zh-CN" altLang="en-US" dirty="0"/>
              <a:t>背包问题</a:t>
            </a:r>
            <a:endParaRPr lang="en-US" altLang="zh-CN" dirty="0"/>
          </a:p>
          <a:p>
            <a:pPr lvl="1"/>
            <a:r>
              <a:rPr lang="zh-CN" altLang="en-US" dirty="0"/>
              <a:t>数学模型：</a:t>
            </a:r>
            <a:endParaRPr lang="en-US" altLang="zh-CN" dirty="0"/>
          </a:p>
        </p:txBody>
      </p:sp>
      <p:sp>
        <p:nvSpPr>
          <p:cNvPr id="4" name="日期占位符 3">
            <a:extLst>
              <a:ext uri="{FF2B5EF4-FFF2-40B4-BE49-F238E27FC236}">
                <a16:creationId xmlns:a16="http://schemas.microsoft.com/office/drawing/2014/main" id="{27338113-85AF-4784-B155-FABCBD868AEF}"/>
              </a:ext>
            </a:extLst>
          </p:cNvPr>
          <p:cNvSpPr>
            <a:spLocks noGrp="1"/>
          </p:cNvSpPr>
          <p:nvPr>
            <p:ph type="dt" sz="half" idx="10"/>
          </p:nvPr>
        </p:nvSpPr>
        <p:spPr/>
        <p:txBody>
          <a:bodyPr/>
          <a:lstStyle/>
          <a:p>
            <a:fld id="{A8B06C41-1E1E-4B9B-9644-5AFB8CB2AB3B}" type="datetime3">
              <a:rPr lang="zh-CN" altLang="en-US" smtClean="0"/>
              <a:t>2022年11月24日星期四</a:t>
            </a:fld>
            <a:endParaRPr lang="en-US" altLang="zh-CN" dirty="0"/>
          </a:p>
        </p:txBody>
      </p:sp>
      <p:sp>
        <p:nvSpPr>
          <p:cNvPr id="5" name="灯片编号占位符 4">
            <a:extLst>
              <a:ext uri="{FF2B5EF4-FFF2-40B4-BE49-F238E27FC236}">
                <a16:creationId xmlns:a16="http://schemas.microsoft.com/office/drawing/2014/main" id="{F9F1954E-B577-4018-8738-F3B981337628}"/>
              </a:ext>
            </a:extLst>
          </p:cNvPr>
          <p:cNvSpPr>
            <a:spLocks noGrp="1"/>
          </p:cNvSpPr>
          <p:nvPr>
            <p:ph type="sldNum" sz="quarter" idx="12"/>
          </p:nvPr>
        </p:nvSpPr>
        <p:spPr/>
        <p:txBody>
          <a:bodyPr/>
          <a:lstStyle/>
          <a:p>
            <a:fld id="{7AC79822-BC0D-4DE8-A7E5-90A3732A2B82}" type="slidenum">
              <a:rPr lang="zh-CN" altLang="en-US" smtClean="0"/>
              <a:pPr/>
              <a:t>54</a:t>
            </a:fld>
            <a:endParaRPr lang="en-US" altLang="zh-CN" dirty="0"/>
          </a:p>
        </p:txBody>
      </p:sp>
      <p:graphicFrame>
        <p:nvGraphicFramePr>
          <p:cNvPr id="7" name="对象 6">
            <a:extLst>
              <a:ext uri="{FF2B5EF4-FFF2-40B4-BE49-F238E27FC236}">
                <a16:creationId xmlns:a16="http://schemas.microsoft.com/office/drawing/2014/main" id="{F9DAB4FE-2D41-4312-8268-98D098070069}"/>
              </a:ext>
            </a:extLst>
          </p:cNvPr>
          <p:cNvGraphicFramePr>
            <a:graphicFrameLocks noChangeAspect="1"/>
          </p:cNvGraphicFramePr>
          <p:nvPr/>
        </p:nvGraphicFramePr>
        <p:xfrm>
          <a:off x="2792760" y="1750065"/>
          <a:ext cx="4606925" cy="4157662"/>
        </p:xfrm>
        <a:graphic>
          <a:graphicData uri="http://schemas.openxmlformats.org/presentationml/2006/ole">
            <mc:AlternateContent xmlns:mc="http://schemas.openxmlformats.org/markup-compatibility/2006">
              <mc:Choice xmlns:v="urn:schemas-microsoft-com:vml" Requires="v">
                <p:oleObj name="Equation" r:id="rId2" imgW="1828800" imgH="1650960" progId="Equation.DSMT4">
                  <p:embed/>
                </p:oleObj>
              </mc:Choice>
              <mc:Fallback>
                <p:oleObj name="Equation" r:id="rId2" imgW="1828800" imgH="1650960" progId="Equation.DSMT4">
                  <p:embed/>
                  <p:pic>
                    <p:nvPicPr>
                      <p:cNvPr id="7" name="对象 6">
                        <a:extLst>
                          <a:ext uri="{FF2B5EF4-FFF2-40B4-BE49-F238E27FC236}">
                            <a16:creationId xmlns:a16="http://schemas.microsoft.com/office/drawing/2014/main" id="{F9DAB4FE-2D41-4312-8268-98D098070069}"/>
                          </a:ext>
                        </a:extLst>
                      </p:cNvPr>
                      <p:cNvPicPr/>
                      <p:nvPr/>
                    </p:nvPicPr>
                    <p:blipFill>
                      <a:blip r:embed="rId3"/>
                      <a:stretch>
                        <a:fillRect/>
                      </a:stretch>
                    </p:blipFill>
                    <p:spPr>
                      <a:xfrm>
                        <a:off x="2792760" y="1750065"/>
                        <a:ext cx="4606925" cy="4157662"/>
                      </a:xfrm>
                      <a:prstGeom prst="rect">
                        <a:avLst/>
                      </a:prstGeom>
                    </p:spPr>
                  </p:pic>
                </p:oleObj>
              </mc:Fallback>
            </mc:AlternateContent>
          </a:graphicData>
        </a:graphic>
      </p:graphicFrame>
    </p:spTree>
    <p:extLst>
      <p:ext uri="{BB962C8B-B14F-4D97-AF65-F5344CB8AC3E}">
        <p14:creationId xmlns:p14="http://schemas.microsoft.com/office/powerpoint/2010/main" val="171589348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6" presetClass="entr" presetSubtype="21" fill="hold" nodeType="with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barn(inVertical)">
                                      <p:cBhvr>
                                        <p:cTn id="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1692599-CCDA-4C17-8F28-B1F885D652FD}"/>
              </a:ext>
            </a:extLst>
          </p:cNvPr>
          <p:cNvSpPr>
            <a:spLocks noGrp="1"/>
          </p:cNvSpPr>
          <p:nvPr>
            <p:ph type="title"/>
          </p:nvPr>
        </p:nvSpPr>
        <p:spPr/>
        <p:txBody>
          <a:bodyPr/>
          <a:lstStyle/>
          <a:p>
            <a:r>
              <a:rPr lang="zh-CN" altLang="en-US" dirty="0"/>
              <a:t>蚁群算法求解其他组合优化问题</a:t>
            </a:r>
          </a:p>
        </p:txBody>
      </p:sp>
      <p:sp>
        <p:nvSpPr>
          <p:cNvPr id="3" name="内容占位符 2">
            <a:extLst>
              <a:ext uri="{FF2B5EF4-FFF2-40B4-BE49-F238E27FC236}">
                <a16:creationId xmlns:a16="http://schemas.microsoft.com/office/drawing/2014/main" id="{DB2C61DA-4F7F-4754-9787-0450B05A6CD1}"/>
              </a:ext>
            </a:extLst>
          </p:cNvPr>
          <p:cNvSpPr>
            <a:spLocks noGrp="1"/>
          </p:cNvSpPr>
          <p:nvPr>
            <p:ph idx="1"/>
          </p:nvPr>
        </p:nvSpPr>
        <p:spPr/>
        <p:txBody>
          <a:bodyPr/>
          <a:lstStyle/>
          <a:p>
            <a:r>
              <a:rPr lang="en-US" altLang="zh-CN" dirty="0"/>
              <a:t> </a:t>
            </a:r>
            <a:r>
              <a:rPr lang="zh-CN" altLang="en-US" dirty="0"/>
              <a:t>蚁群算法求解</a:t>
            </a:r>
            <a:r>
              <a:rPr lang="en-US" altLang="zh-CN" dirty="0"/>
              <a:t>0-1</a:t>
            </a:r>
            <a:r>
              <a:rPr lang="zh-CN" altLang="en-US" dirty="0"/>
              <a:t>背包问题</a:t>
            </a:r>
            <a:endParaRPr lang="en-US" altLang="zh-CN" dirty="0"/>
          </a:p>
          <a:p>
            <a:pPr lvl="1"/>
            <a:r>
              <a:rPr lang="zh-CN" altLang="en-US" dirty="0"/>
              <a:t>基本思想</a:t>
            </a:r>
            <a:endParaRPr lang="en-US" altLang="zh-CN" dirty="0"/>
          </a:p>
          <a:p>
            <a:pPr lvl="2"/>
            <a:r>
              <a:rPr lang="zh-CN" altLang="en-US" dirty="0"/>
              <a:t>将</a:t>
            </a:r>
            <a:r>
              <a:rPr lang="en-US" altLang="zh-CN" dirty="0"/>
              <a:t>N</a:t>
            </a:r>
            <a:r>
              <a:rPr lang="zh-CN" altLang="en-US" dirty="0"/>
              <a:t>个物品理解为蚁群觅食的路径上的点（</a:t>
            </a:r>
            <a:r>
              <a:rPr lang="en-US" altLang="zh-CN" dirty="0"/>
              <a:t>TSP</a:t>
            </a:r>
            <a:r>
              <a:rPr lang="zh-CN" altLang="en-US" dirty="0"/>
              <a:t>问题中的城市）。</a:t>
            </a:r>
            <a:endParaRPr lang="en-US" altLang="zh-CN" dirty="0"/>
          </a:p>
          <a:p>
            <a:pPr lvl="2"/>
            <a:r>
              <a:rPr lang="zh-CN" altLang="en-US" dirty="0"/>
              <a:t>蚂蚁每选择一个物品，则在该物品上留下信息素。</a:t>
            </a:r>
            <a:endParaRPr lang="en-US" altLang="zh-CN" dirty="0"/>
          </a:p>
          <a:p>
            <a:pPr lvl="2"/>
            <a:r>
              <a:rPr lang="zh-CN" altLang="en-US" dirty="0"/>
              <a:t>在物品选择时，利用蚁群路径选择公式进行计算，将其中的路径长度换成物品的价值。</a:t>
            </a:r>
            <a:endParaRPr lang="en-US" altLang="zh-CN" dirty="0"/>
          </a:p>
          <a:p>
            <a:pPr lvl="2"/>
            <a:r>
              <a:rPr lang="zh-CN" altLang="en-US" dirty="0"/>
              <a:t>蚂蚁每次遍历时，不再考虑回到原点，而是随机的不重复访问每个物品，在总重量小于背包的约束下得到一组解。</a:t>
            </a:r>
            <a:endParaRPr lang="en-US" altLang="zh-CN" dirty="0"/>
          </a:p>
        </p:txBody>
      </p:sp>
      <p:sp>
        <p:nvSpPr>
          <p:cNvPr id="4" name="日期占位符 3">
            <a:extLst>
              <a:ext uri="{FF2B5EF4-FFF2-40B4-BE49-F238E27FC236}">
                <a16:creationId xmlns:a16="http://schemas.microsoft.com/office/drawing/2014/main" id="{27338113-85AF-4784-B155-FABCBD868AEF}"/>
              </a:ext>
            </a:extLst>
          </p:cNvPr>
          <p:cNvSpPr>
            <a:spLocks noGrp="1"/>
          </p:cNvSpPr>
          <p:nvPr>
            <p:ph type="dt" sz="half" idx="10"/>
          </p:nvPr>
        </p:nvSpPr>
        <p:spPr/>
        <p:txBody>
          <a:bodyPr/>
          <a:lstStyle/>
          <a:p>
            <a:fld id="{A8B06C41-1E1E-4B9B-9644-5AFB8CB2AB3B}" type="datetime3">
              <a:rPr lang="zh-CN" altLang="en-US" smtClean="0"/>
              <a:t>2022年11月24日星期四</a:t>
            </a:fld>
            <a:endParaRPr lang="en-US" altLang="zh-CN" dirty="0"/>
          </a:p>
        </p:txBody>
      </p:sp>
      <p:sp>
        <p:nvSpPr>
          <p:cNvPr id="5" name="灯片编号占位符 4">
            <a:extLst>
              <a:ext uri="{FF2B5EF4-FFF2-40B4-BE49-F238E27FC236}">
                <a16:creationId xmlns:a16="http://schemas.microsoft.com/office/drawing/2014/main" id="{F9F1954E-B577-4018-8738-F3B981337628}"/>
              </a:ext>
            </a:extLst>
          </p:cNvPr>
          <p:cNvSpPr>
            <a:spLocks noGrp="1"/>
          </p:cNvSpPr>
          <p:nvPr>
            <p:ph type="sldNum" sz="quarter" idx="12"/>
          </p:nvPr>
        </p:nvSpPr>
        <p:spPr/>
        <p:txBody>
          <a:bodyPr/>
          <a:lstStyle/>
          <a:p>
            <a:fld id="{7AC79822-BC0D-4DE8-A7E5-90A3732A2B82}" type="slidenum">
              <a:rPr lang="zh-CN" altLang="en-US" smtClean="0"/>
              <a:pPr/>
              <a:t>55</a:t>
            </a:fld>
            <a:endParaRPr lang="en-US" altLang="zh-CN" dirty="0"/>
          </a:p>
        </p:txBody>
      </p:sp>
    </p:spTree>
    <p:extLst>
      <p:ext uri="{BB962C8B-B14F-4D97-AF65-F5344CB8AC3E}">
        <p14:creationId xmlns:p14="http://schemas.microsoft.com/office/powerpoint/2010/main" val="21686835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4" fill="hold" nodeType="with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down)">
                                      <p:cBhvr>
                                        <p:cTn id="7" dur="500"/>
                                        <p:tgtEl>
                                          <p:spTgt spid="3">
                                            <p:txEl>
                                              <p:pRg st="0" end="0"/>
                                            </p:txEl>
                                          </p:spTgt>
                                        </p:tgtEl>
                                      </p:cBhvr>
                                    </p:animEffect>
                                  </p:childTnLst>
                                </p:cTn>
                              </p:par>
                              <p:par>
                                <p:cTn id="8" presetID="22" presetClass="entr" presetSubtype="4" fill="hold" nodeType="withEffect">
                                  <p:stCondLst>
                                    <p:cond delay="0"/>
                                  </p:stCondLst>
                                  <p:childTnLst>
                                    <p:set>
                                      <p:cBhvr>
                                        <p:cTn id="9" dur="1" fill="hold">
                                          <p:stCondLst>
                                            <p:cond delay="0"/>
                                          </p:stCondLst>
                                        </p:cTn>
                                        <p:tgtEl>
                                          <p:spTgt spid="3">
                                            <p:txEl>
                                              <p:pRg st="1" end="1"/>
                                            </p:txEl>
                                          </p:spTgt>
                                        </p:tgtEl>
                                        <p:attrNameLst>
                                          <p:attrName>style.visibility</p:attrName>
                                        </p:attrNameLst>
                                      </p:cBhvr>
                                      <p:to>
                                        <p:strVal val="visible"/>
                                      </p:to>
                                    </p:set>
                                    <p:animEffect transition="in" filter="wipe(down)">
                                      <p:cBhvr>
                                        <p:cTn id="10" dur="500"/>
                                        <p:tgtEl>
                                          <p:spTgt spid="3">
                                            <p:txEl>
                                              <p:pRg st="1" end="1"/>
                                            </p:txEl>
                                          </p:spTgt>
                                        </p:tgtEl>
                                      </p:cBhvr>
                                    </p:animEffect>
                                  </p:childTnLst>
                                </p:cTn>
                              </p:par>
                              <p:par>
                                <p:cTn id="11" presetID="22" presetClass="entr" presetSubtype="4" fill="hold" nodeType="with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animEffect transition="in" filter="wipe(down)">
                                      <p:cBhvr>
                                        <p:cTn id="13" dur="500"/>
                                        <p:tgtEl>
                                          <p:spTgt spid="3">
                                            <p:txEl>
                                              <p:pRg st="2" end="2"/>
                                            </p:txEl>
                                          </p:spTgt>
                                        </p:tgtEl>
                                      </p:cBhvr>
                                    </p:animEffect>
                                  </p:childTnLst>
                                </p:cTn>
                              </p:par>
                              <p:par>
                                <p:cTn id="14" presetID="22" presetClass="entr" presetSubtype="4" fill="hold" nodeType="withEffect">
                                  <p:stCondLst>
                                    <p:cond delay="0"/>
                                  </p:stCondLst>
                                  <p:childTnLst>
                                    <p:set>
                                      <p:cBhvr>
                                        <p:cTn id="15" dur="1" fill="hold">
                                          <p:stCondLst>
                                            <p:cond delay="0"/>
                                          </p:stCondLst>
                                        </p:cTn>
                                        <p:tgtEl>
                                          <p:spTgt spid="3">
                                            <p:txEl>
                                              <p:pRg st="3" end="3"/>
                                            </p:txEl>
                                          </p:spTgt>
                                        </p:tgtEl>
                                        <p:attrNameLst>
                                          <p:attrName>style.visibility</p:attrName>
                                        </p:attrNameLst>
                                      </p:cBhvr>
                                      <p:to>
                                        <p:strVal val="visible"/>
                                      </p:to>
                                    </p:set>
                                    <p:animEffect transition="in" filter="wipe(down)">
                                      <p:cBhvr>
                                        <p:cTn id="16" dur="500"/>
                                        <p:tgtEl>
                                          <p:spTgt spid="3">
                                            <p:txEl>
                                              <p:pRg st="3" end="3"/>
                                            </p:txEl>
                                          </p:spTgt>
                                        </p:tgtEl>
                                      </p:cBhvr>
                                    </p:animEffect>
                                  </p:childTnLst>
                                </p:cTn>
                              </p:par>
                              <p:par>
                                <p:cTn id="17" presetID="22" presetClass="entr" presetSubtype="4" fill="hold" nodeType="with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animEffect transition="in" filter="wipe(down)">
                                      <p:cBhvr>
                                        <p:cTn id="19" dur="500"/>
                                        <p:tgtEl>
                                          <p:spTgt spid="3">
                                            <p:txEl>
                                              <p:pRg st="4" end="4"/>
                                            </p:txEl>
                                          </p:spTgt>
                                        </p:tgtEl>
                                      </p:cBhvr>
                                    </p:animEffect>
                                  </p:childTnLst>
                                </p:cTn>
                              </p:par>
                              <p:par>
                                <p:cTn id="20" presetID="22" presetClass="entr" presetSubtype="4" fill="hold" nodeType="withEffect">
                                  <p:stCondLst>
                                    <p:cond delay="0"/>
                                  </p:stCondLst>
                                  <p:childTnLst>
                                    <p:set>
                                      <p:cBhvr>
                                        <p:cTn id="21" dur="1" fill="hold">
                                          <p:stCondLst>
                                            <p:cond delay="0"/>
                                          </p:stCondLst>
                                        </p:cTn>
                                        <p:tgtEl>
                                          <p:spTgt spid="3">
                                            <p:txEl>
                                              <p:pRg st="5" end="5"/>
                                            </p:txEl>
                                          </p:spTgt>
                                        </p:tgtEl>
                                        <p:attrNameLst>
                                          <p:attrName>style.visibility</p:attrName>
                                        </p:attrNameLst>
                                      </p:cBhvr>
                                      <p:to>
                                        <p:strVal val="visible"/>
                                      </p:to>
                                    </p:set>
                                    <p:animEffect transition="in" filter="wipe(down)">
                                      <p:cBhvr>
                                        <p:cTn id="22" dur="500"/>
                                        <p:tgtEl>
                                          <p:spTgt spid="3">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1692599-CCDA-4C17-8F28-B1F885D652FD}"/>
              </a:ext>
            </a:extLst>
          </p:cNvPr>
          <p:cNvSpPr>
            <a:spLocks noGrp="1"/>
          </p:cNvSpPr>
          <p:nvPr>
            <p:ph type="title"/>
          </p:nvPr>
        </p:nvSpPr>
        <p:spPr/>
        <p:txBody>
          <a:bodyPr/>
          <a:lstStyle/>
          <a:p>
            <a:r>
              <a:rPr lang="zh-CN" altLang="en-US" dirty="0"/>
              <a:t>蚁群算法求解其他组合优化问题</a:t>
            </a:r>
          </a:p>
        </p:txBody>
      </p:sp>
      <p:sp>
        <p:nvSpPr>
          <p:cNvPr id="3" name="内容占位符 2">
            <a:extLst>
              <a:ext uri="{FF2B5EF4-FFF2-40B4-BE49-F238E27FC236}">
                <a16:creationId xmlns:a16="http://schemas.microsoft.com/office/drawing/2014/main" id="{DB2C61DA-4F7F-4754-9787-0450B05A6CD1}"/>
              </a:ext>
            </a:extLst>
          </p:cNvPr>
          <p:cNvSpPr>
            <a:spLocks noGrp="1"/>
          </p:cNvSpPr>
          <p:nvPr>
            <p:ph idx="1"/>
          </p:nvPr>
        </p:nvSpPr>
        <p:spPr/>
        <p:txBody>
          <a:bodyPr/>
          <a:lstStyle/>
          <a:p>
            <a:r>
              <a:rPr lang="en-US" altLang="zh-CN" dirty="0"/>
              <a:t> </a:t>
            </a:r>
            <a:r>
              <a:rPr lang="zh-CN" altLang="en-US" dirty="0"/>
              <a:t>蚁群算法求解</a:t>
            </a:r>
            <a:r>
              <a:rPr lang="en-US" altLang="zh-CN" dirty="0"/>
              <a:t>0-1</a:t>
            </a:r>
            <a:r>
              <a:rPr lang="zh-CN" altLang="en-US" dirty="0"/>
              <a:t>背包问题</a:t>
            </a:r>
            <a:endParaRPr lang="en-US" altLang="zh-CN" dirty="0"/>
          </a:p>
          <a:p>
            <a:pPr lvl="1"/>
            <a:r>
              <a:rPr lang="zh-CN" altLang="en-US" dirty="0"/>
              <a:t>基本思想</a:t>
            </a:r>
            <a:endParaRPr lang="en-US" altLang="zh-CN" dirty="0"/>
          </a:p>
          <a:p>
            <a:pPr lvl="2"/>
            <a:r>
              <a:rPr lang="zh-CN" altLang="en-US" dirty="0"/>
              <a:t>将</a:t>
            </a:r>
            <a:r>
              <a:rPr lang="en-US" altLang="zh-CN" dirty="0"/>
              <a:t>N</a:t>
            </a:r>
            <a:r>
              <a:rPr lang="zh-CN" altLang="en-US" dirty="0"/>
              <a:t>个物品理解为蚁群觅食的路径上的点（</a:t>
            </a:r>
            <a:r>
              <a:rPr lang="en-US" altLang="zh-CN" dirty="0"/>
              <a:t>TSP</a:t>
            </a:r>
            <a:r>
              <a:rPr lang="zh-CN" altLang="en-US" dirty="0"/>
              <a:t>问题中的城市）。</a:t>
            </a:r>
            <a:endParaRPr lang="en-US" altLang="zh-CN" dirty="0"/>
          </a:p>
          <a:p>
            <a:pPr lvl="2"/>
            <a:r>
              <a:rPr lang="zh-CN" altLang="en-US" dirty="0"/>
              <a:t>蚂蚁每选择一个物品，则在该物品上留下信息素。</a:t>
            </a:r>
            <a:endParaRPr lang="en-US" altLang="zh-CN" dirty="0"/>
          </a:p>
          <a:p>
            <a:pPr lvl="2"/>
            <a:r>
              <a:rPr lang="zh-CN" altLang="en-US" dirty="0"/>
              <a:t>在物品选择时，利用蚁群路径选择公式进行计算，将其中的路径长度换成物品的价值。</a:t>
            </a:r>
            <a:endParaRPr lang="en-US" altLang="zh-CN" dirty="0"/>
          </a:p>
          <a:p>
            <a:pPr lvl="2"/>
            <a:r>
              <a:rPr lang="zh-CN" altLang="en-US" dirty="0"/>
              <a:t>蚂蚁每次遍历时，不再考虑回到原点，而是随机的不重复访问每个物品，在总重量小于背包的约束下得到一组解。</a:t>
            </a:r>
            <a:endParaRPr lang="en-US" altLang="zh-CN" dirty="0"/>
          </a:p>
        </p:txBody>
      </p:sp>
      <p:sp>
        <p:nvSpPr>
          <p:cNvPr id="4" name="日期占位符 3">
            <a:extLst>
              <a:ext uri="{FF2B5EF4-FFF2-40B4-BE49-F238E27FC236}">
                <a16:creationId xmlns:a16="http://schemas.microsoft.com/office/drawing/2014/main" id="{27338113-85AF-4784-B155-FABCBD868AEF}"/>
              </a:ext>
            </a:extLst>
          </p:cNvPr>
          <p:cNvSpPr>
            <a:spLocks noGrp="1"/>
          </p:cNvSpPr>
          <p:nvPr>
            <p:ph type="dt" sz="half" idx="10"/>
          </p:nvPr>
        </p:nvSpPr>
        <p:spPr/>
        <p:txBody>
          <a:bodyPr/>
          <a:lstStyle/>
          <a:p>
            <a:fld id="{A8B06C41-1E1E-4B9B-9644-5AFB8CB2AB3B}" type="datetime3">
              <a:rPr lang="zh-CN" altLang="en-US" smtClean="0"/>
              <a:t>2022年11月24日星期四</a:t>
            </a:fld>
            <a:endParaRPr lang="en-US" altLang="zh-CN" dirty="0"/>
          </a:p>
        </p:txBody>
      </p:sp>
      <p:sp>
        <p:nvSpPr>
          <p:cNvPr id="5" name="灯片编号占位符 4">
            <a:extLst>
              <a:ext uri="{FF2B5EF4-FFF2-40B4-BE49-F238E27FC236}">
                <a16:creationId xmlns:a16="http://schemas.microsoft.com/office/drawing/2014/main" id="{F9F1954E-B577-4018-8738-F3B981337628}"/>
              </a:ext>
            </a:extLst>
          </p:cNvPr>
          <p:cNvSpPr>
            <a:spLocks noGrp="1"/>
          </p:cNvSpPr>
          <p:nvPr>
            <p:ph type="sldNum" sz="quarter" idx="12"/>
          </p:nvPr>
        </p:nvSpPr>
        <p:spPr/>
        <p:txBody>
          <a:bodyPr/>
          <a:lstStyle/>
          <a:p>
            <a:fld id="{7AC79822-BC0D-4DE8-A7E5-90A3732A2B82}" type="slidenum">
              <a:rPr lang="zh-CN" altLang="en-US" smtClean="0"/>
              <a:pPr/>
              <a:t>56</a:t>
            </a:fld>
            <a:endParaRPr lang="en-US" altLang="zh-CN" dirty="0"/>
          </a:p>
        </p:txBody>
      </p:sp>
    </p:spTree>
    <p:extLst>
      <p:ext uri="{BB962C8B-B14F-4D97-AF65-F5344CB8AC3E}">
        <p14:creationId xmlns:p14="http://schemas.microsoft.com/office/powerpoint/2010/main" val="52059012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4" fill="hold" nodeType="with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down)">
                                      <p:cBhvr>
                                        <p:cTn id="7" dur="500"/>
                                        <p:tgtEl>
                                          <p:spTgt spid="3">
                                            <p:txEl>
                                              <p:pRg st="0" end="0"/>
                                            </p:txEl>
                                          </p:spTgt>
                                        </p:tgtEl>
                                      </p:cBhvr>
                                    </p:animEffect>
                                  </p:childTnLst>
                                </p:cTn>
                              </p:par>
                              <p:par>
                                <p:cTn id="8" presetID="22" presetClass="entr" presetSubtype="4" fill="hold" nodeType="withEffect">
                                  <p:stCondLst>
                                    <p:cond delay="0"/>
                                  </p:stCondLst>
                                  <p:childTnLst>
                                    <p:set>
                                      <p:cBhvr>
                                        <p:cTn id="9" dur="1" fill="hold">
                                          <p:stCondLst>
                                            <p:cond delay="0"/>
                                          </p:stCondLst>
                                        </p:cTn>
                                        <p:tgtEl>
                                          <p:spTgt spid="3">
                                            <p:txEl>
                                              <p:pRg st="1" end="1"/>
                                            </p:txEl>
                                          </p:spTgt>
                                        </p:tgtEl>
                                        <p:attrNameLst>
                                          <p:attrName>style.visibility</p:attrName>
                                        </p:attrNameLst>
                                      </p:cBhvr>
                                      <p:to>
                                        <p:strVal val="visible"/>
                                      </p:to>
                                    </p:set>
                                    <p:animEffect transition="in" filter="wipe(down)">
                                      <p:cBhvr>
                                        <p:cTn id="10" dur="500"/>
                                        <p:tgtEl>
                                          <p:spTgt spid="3">
                                            <p:txEl>
                                              <p:pRg st="1" end="1"/>
                                            </p:txEl>
                                          </p:spTgt>
                                        </p:tgtEl>
                                      </p:cBhvr>
                                    </p:animEffect>
                                  </p:childTnLst>
                                </p:cTn>
                              </p:par>
                              <p:par>
                                <p:cTn id="11" presetID="22" presetClass="entr" presetSubtype="4" fill="hold" nodeType="with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animEffect transition="in" filter="wipe(down)">
                                      <p:cBhvr>
                                        <p:cTn id="13" dur="500"/>
                                        <p:tgtEl>
                                          <p:spTgt spid="3">
                                            <p:txEl>
                                              <p:pRg st="2" end="2"/>
                                            </p:txEl>
                                          </p:spTgt>
                                        </p:tgtEl>
                                      </p:cBhvr>
                                    </p:animEffect>
                                  </p:childTnLst>
                                </p:cTn>
                              </p:par>
                              <p:par>
                                <p:cTn id="14" presetID="22" presetClass="entr" presetSubtype="4" fill="hold" nodeType="withEffect">
                                  <p:stCondLst>
                                    <p:cond delay="0"/>
                                  </p:stCondLst>
                                  <p:childTnLst>
                                    <p:set>
                                      <p:cBhvr>
                                        <p:cTn id="15" dur="1" fill="hold">
                                          <p:stCondLst>
                                            <p:cond delay="0"/>
                                          </p:stCondLst>
                                        </p:cTn>
                                        <p:tgtEl>
                                          <p:spTgt spid="3">
                                            <p:txEl>
                                              <p:pRg st="3" end="3"/>
                                            </p:txEl>
                                          </p:spTgt>
                                        </p:tgtEl>
                                        <p:attrNameLst>
                                          <p:attrName>style.visibility</p:attrName>
                                        </p:attrNameLst>
                                      </p:cBhvr>
                                      <p:to>
                                        <p:strVal val="visible"/>
                                      </p:to>
                                    </p:set>
                                    <p:animEffect transition="in" filter="wipe(down)">
                                      <p:cBhvr>
                                        <p:cTn id="16" dur="500"/>
                                        <p:tgtEl>
                                          <p:spTgt spid="3">
                                            <p:txEl>
                                              <p:pRg st="3" end="3"/>
                                            </p:txEl>
                                          </p:spTgt>
                                        </p:tgtEl>
                                      </p:cBhvr>
                                    </p:animEffect>
                                  </p:childTnLst>
                                </p:cTn>
                              </p:par>
                              <p:par>
                                <p:cTn id="17" presetID="22" presetClass="entr" presetSubtype="4" fill="hold" nodeType="with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animEffect transition="in" filter="wipe(down)">
                                      <p:cBhvr>
                                        <p:cTn id="19" dur="500"/>
                                        <p:tgtEl>
                                          <p:spTgt spid="3">
                                            <p:txEl>
                                              <p:pRg st="4" end="4"/>
                                            </p:txEl>
                                          </p:spTgt>
                                        </p:tgtEl>
                                      </p:cBhvr>
                                    </p:animEffect>
                                  </p:childTnLst>
                                </p:cTn>
                              </p:par>
                              <p:par>
                                <p:cTn id="20" presetID="22" presetClass="entr" presetSubtype="4" fill="hold" nodeType="withEffect">
                                  <p:stCondLst>
                                    <p:cond delay="0"/>
                                  </p:stCondLst>
                                  <p:childTnLst>
                                    <p:set>
                                      <p:cBhvr>
                                        <p:cTn id="21" dur="1" fill="hold">
                                          <p:stCondLst>
                                            <p:cond delay="0"/>
                                          </p:stCondLst>
                                        </p:cTn>
                                        <p:tgtEl>
                                          <p:spTgt spid="3">
                                            <p:txEl>
                                              <p:pRg st="5" end="5"/>
                                            </p:txEl>
                                          </p:spTgt>
                                        </p:tgtEl>
                                        <p:attrNameLst>
                                          <p:attrName>style.visibility</p:attrName>
                                        </p:attrNameLst>
                                      </p:cBhvr>
                                      <p:to>
                                        <p:strVal val="visible"/>
                                      </p:to>
                                    </p:set>
                                    <p:animEffect transition="in" filter="wipe(down)">
                                      <p:cBhvr>
                                        <p:cTn id="22" dur="500"/>
                                        <p:tgtEl>
                                          <p:spTgt spid="3">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3CB3613-6C0F-4C1D-A675-C37A5C13FD5D}"/>
              </a:ext>
            </a:extLst>
          </p:cNvPr>
          <p:cNvSpPr>
            <a:spLocks noGrp="1"/>
          </p:cNvSpPr>
          <p:nvPr>
            <p:ph type="title"/>
          </p:nvPr>
        </p:nvSpPr>
        <p:spPr/>
        <p:txBody>
          <a:bodyPr/>
          <a:lstStyle/>
          <a:p>
            <a:r>
              <a:rPr lang="zh-CN" altLang="en-US" dirty="0"/>
              <a:t>蚁群算法求解</a:t>
            </a:r>
            <a:r>
              <a:rPr lang="en-US" altLang="zh-CN" dirty="0"/>
              <a:t>0-1</a:t>
            </a:r>
            <a:r>
              <a:rPr lang="zh-CN" altLang="en-US" dirty="0"/>
              <a:t>背包问题主要步骤</a:t>
            </a:r>
          </a:p>
        </p:txBody>
      </p:sp>
      <p:sp>
        <p:nvSpPr>
          <p:cNvPr id="4" name="日期占位符 3">
            <a:extLst>
              <a:ext uri="{FF2B5EF4-FFF2-40B4-BE49-F238E27FC236}">
                <a16:creationId xmlns:a16="http://schemas.microsoft.com/office/drawing/2014/main" id="{3E2BB2EE-6EEB-4C2E-A8F0-42DF55393453}"/>
              </a:ext>
            </a:extLst>
          </p:cNvPr>
          <p:cNvSpPr>
            <a:spLocks noGrp="1"/>
          </p:cNvSpPr>
          <p:nvPr>
            <p:ph type="dt" sz="half" idx="10"/>
          </p:nvPr>
        </p:nvSpPr>
        <p:spPr/>
        <p:txBody>
          <a:bodyPr/>
          <a:lstStyle/>
          <a:p>
            <a:fld id="{A8B06C41-1E1E-4B9B-9644-5AFB8CB2AB3B}" type="datetime3">
              <a:rPr lang="zh-CN" altLang="en-US" smtClean="0"/>
              <a:t>2022年11月24日星期四</a:t>
            </a:fld>
            <a:endParaRPr lang="en-US" altLang="zh-CN" dirty="0"/>
          </a:p>
        </p:txBody>
      </p:sp>
      <p:sp>
        <p:nvSpPr>
          <p:cNvPr id="5" name="灯片编号占位符 4">
            <a:extLst>
              <a:ext uri="{FF2B5EF4-FFF2-40B4-BE49-F238E27FC236}">
                <a16:creationId xmlns:a16="http://schemas.microsoft.com/office/drawing/2014/main" id="{77290CBB-9F08-4633-A34F-9CB4CDFDC628}"/>
              </a:ext>
            </a:extLst>
          </p:cNvPr>
          <p:cNvSpPr>
            <a:spLocks noGrp="1"/>
          </p:cNvSpPr>
          <p:nvPr>
            <p:ph type="sldNum" sz="quarter" idx="12"/>
          </p:nvPr>
        </p:nvSpPr>
        <p:spPr/>
        <p:txBody>
          <a:bodyPr/>
          <a:lstStyle/>
          <a:p>
            <a:fld id="{7AC79822-BC0D-4DE8-A7E5-90A3732A2B82}" type="slidenum">
              <a:rPr lang="zh-CN" altLang="en-US" smtClean="0"/>
              <a:pPr/>
              <a:t>57</a:t>
            </a:fld>
            <a:endParaRPr lang="en-US" altLang="zh-CN" dirty="0"/>
          </a:p>
        </p:txBody>
      </p:sp>
      <p:sp>
        <p:nvSpPr>
          <p:cNvPr id="6" name="文本占位符 3">
            <a:extLst>
              <a:ext uri="{FF2B5EF4-FFF2-40B4-BE49-F238E27FC236}">
                <a16:creationId xmlns:a16="http://schemas.microsoft.com/office/drawing/2014/main" id="{96273EA2-DD61-418B-A336-0BF6982887BE}"/>
              </a:ext>
            </a:extLst>
          </p:cNvPr>
          <p:cNvSpPr txBox="1">
            <a:spLocks/>
          </p:cNvSpPr>
          <p:nvPr/>
        </p:nvSpPr>
        <p:spPr>
          <a:xfrm>
            <a:off x="128464" y="1124744"/>
            <a:ext cx="9649072" cy="1440160"/>
          </a:xfrm>
          <a:prstGeom prst="rect">
            <a:avLst/>
          </a:prstGeom>
        </p:spPr>
        <p:txBody>
          <a:bodyPr/>
          <a:lstStyle>
            <a:lvl1pPr marL="342900" indent="-342900" algn="l" rtl="0" eaLnBrk="1" fontAlgn="base" hangingPunct="1">
              <a:spcBef>
                <a:spcPct val="20000"/>
              </a:spcBef>
              <a:spcAft>
                <a:spcPct val="0"/>
              </a:spcAft>
              <a:buClr>
                <a:srgbClr val="333399"/>
              </a:buClr>
              <a:buSzPct val="75000"/>
              <a:buFont typeface="Wingdings" panose="05000000000000000000" pitchFamily="2" charset="2"/>
              <a:buChar char=""/>
              <a:defRPr sz="3200" b="1">
                <a:solidFill>
                  <a:schemeClr val="tx1"/>
                </a:solidFill>
                <a:latin typeface="+mn-lt"/>
                <a:ea typeface="黑体" pitchFamily="2" charset="-122"/>
                <a:cs typeface="+mn-cs"/>
              </a:defRPr>
            </a:lvl1pPr>
            <a:lvl2pPr marL="742950" indent="-285750" algn="l" rtl="0" eaLnBrk="1" fontAlgn="base" hangingPunct="1">
              <a:spcBef>
                <a:spcPct val="20000"/>
              </a:spcBef>
              <a:spcAft>
                <a:spcPct val="0"/>
              </a:spcAft>
              <a:buClr>
                <a:schemeClr val="accent2"/>
              </a:buClr>
              <a:buSzPct val="70000"/>
              <a:buFont typeface="Wingdings" panose="05000000000000000000" pitchFamily="2" charset="2"/>
              <a:buChar char=""/>
              <a:defRPr sz="2800" b="1">
                <a:solidFill>
                  <a:schemeClr val="tx1"/>
                </a:solidFill>
                <a:latin typeface="+mn-lt"/>
                <a:ea typeface="黑体" pitchFamily="2" charset="-122"/>
              </a:defRPr>
            </a:lvl2pPr>
            <a:lvl3pPr marL="1143000" indent="-228600" algn="l" rtl="0" eaLnBrk="1" fontAlgn="base" hangingPunct="1">
              <a:spcBef>
                <a:spcPct val="20000"/>
              </a:spcBef>
              <a:spcAft>
                <a:spcPct val="0"/>
              </a:spcAft>
              <a:buClr>
                <a:srgbClr val="333399"/>
              </a:buClr>
              <a:buSzPct val="65000"/>
              <a:buFont typeface="Wingdings" panose="05000000000000000000" pitchFamily="2" charset="2"/>
              <a:buChar char=""/>
              <a:defRPr sz="2400" b="1">
                <a:solidFill>
                  <a:schemeClr val="tx1"/>
                </a:solidFill>
                <a:latin typeface="+mn-lt"/>
                <a:ea typeface="黑体" pitchFamily="2" charset="-122"/>
              </a:defRPr>
            </a:lvl3pPr>
            <a:lvl4pPr marL="1600200" indent="-228600" algn="l" rtl="0" eaLnBrk="1" fontAlgn="base" hangingPunct="1">
              <a:spcBef>
                <a:spcPct val="20000"/>
              </a:spcBef>
              <a:spcAft>
                <a:spcPct val="0"/>
              </a:spcAft>
              <a:buClr>
                <a:schemeClr val="bg2"/>
              </a:buClr>
              <a:buSzPct val="65000"/>
              <a:buFont typeface="Wingdings" pitchFamily="2" charset="2"/>
              <a:buChar char="n"/>
              <a:defRPr sz="2000" b="1">
                <a:solidFill>
                  <a:schemeClr val="tx1"/>
                </a:solidFill>
                <a:latin typeface="+mn-lt"/>
                <a:ea typeface="黑体" pitchFamily="2" charset="-122"/>
              </a:defRPr>
            </a:lvl4pPr>
            <a:lvl5pPr marL="2057400" indent="-228600" algn="l" rtl="0" eaLnBrk="1" fontAlgn="base" hangingPunct="1">
              <a:spcBef>
                <a:spcPct val="20000"/>
              </a:spcBef>
              <a:spcAft>
                <a:spcPct val="0"/>
              </a:spcAft>
              <a:buClr>
                <a:srgbClr val="333399"/>
              </a:buClr>
              <a:buSzPct val="60000"/>
              <a:buFont typeface="Wingdings" panose="05000000000000000000" pitchFamily="2" charset="2"/>
              <a:buChar char="Ø"/>
              <a:defRPr sz="2000" b="1">
                <a:solidFill>
                  <a:schemeClr val="tx1"/>
                </a:solidFill>
                <a:latin typeface="+mn-lt"/>
                <a:ea typeface="黑体" pitchFamily="2" charset="-122"/>
              </a:defRPr>
            </a:lvl5pPr>
            <a:lvl6pPr marL="25146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defRPr>
            </a:lvl6pPr>
            <a:lvl7pPr marL="29718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defRPr>
            </a:lvl7pPr>
            <a:lvl8pPr marL="34290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defRPr>
            </a:lvl8pPr>
            <a:lvl9pPr marL="38862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defRPr>
            </a:lvl9pPr>
          </a:lstStyle>
          <a:p>
            <a:pPr marL="0" indent="0">
              <a:buNone/>
            </a:pPr>
            <a:r>
              <a:rPr lang="en-US" altLang="zh-CN" sz="2400" kern="0" dirty="0">
                <a:latin typeface="黑体" panose="02010609060101010101" pitchFamily="49" charset="-122"/>
                <a:ea typeface="黑体" panose="02010609060101010101" pitchFamily="49" charset="-122"/>
              </a:rPr>
              <a:t>1. </a:t>
            </a:r>
            <a:r>
              <a:rPr lang="zh-CN" altLang="en-US" sz="2400" kern="0" dirty="0">
                <a:latin typeface="黑体" panose="02010609060101010101" pitchFamily="49" charset="-122"/>
                <a:ea typeface="黑体" panose="02010609060101010101" pitchFamily="49" charset="-122"/>
              </a:rPr>
              <a:t>初始化</a:t>
            </a:r>
            <a:r>
              <a:rPr lang="en-US" altLang="zh-CN" sz="2400" kern="0" dirty="0">
                <a:latin typeface="黑体" panose="02010609060101010101" pitchFamily="49" charset="-122"/>
                <a:ea typeface="黑体" panose="02010609060101010101" pitchFamily="49" charset="-122"/>
              </a:rPr>
              <a:t>(</a:t>
            </a:r>
            <a:r>
              <a:rPr lang="zh-CN" altLang="en-US" sz="2400" kern="0" dirty="0">
                <a:latin typeface="黑体" panose="02010609060101010101" pitchFamily="49" charset="-122"/>
                <a:ea typeface="黑体" panose="02010609060101010101" pitchFamily="49" charset="-122"/>
              </a:rPr>
              <a:t>各个参数</a:t>
            </a:r>
            <a:r>
              <a:rPr lang="en-US" altLang="zh-CN" sz="2400" kern="0" dirty="0">
                <a:latin typeface="黑体" panose="02010609060101010101" pitchFamily="49" charset="-122"/>
                <a:ea typeface="黑体" panose="02010609060101010101" pitchFamily="49" charset="-122"/>
              </a:rPr>
              <a:t>):</a:t>
            </a:r>
          </a:p>
          <a:p>
            <a:pPr marL="0" indent="0">
              <a:buNone/>
            </a:pPr>
            <a:r>
              <a:rPr lang="zh-CN" altLang="en-US" sz="2400" b="0" kern="0" dirty="0">
                <a:latin typeface="黑体" panose="02010609060101010101" pitchFamily="49" charset="-122"/>
                <a:ea typeface="黑体" panose="02010609060101010101" pitchFamily="49" charset="-122"/>
              </a:rPr>
              <a:t>对相关的参数进行初始化，如蚂蚁数量</a:t>
            </a:r>
            <a:r>
              <a:rPr lang="en-US" altLang="zh-CN" sz="2400" b="0" kern="0" dirty="0">
                <a:latin typeface="黑体" panose="02010609060101010101" pitchFamily="49" charset="-122"/>
                <a:ea typeface="黑体" panose="02010609060101010101" pitchFamily="49" charset="-122"/>
              </a:rPr>
              <a:t>m</a:t>
            </a:r>
            <a:r>
              <a:rPr lang="zh-CN" altLang="en-US" sz="2400" b="0" kern="0" dirty="0">
                <a:latin typeface="黑体" panose="02010609060101010101" pitchFamily="49" charset="-122"/>
                <a:ea typeface="黑体" panose="02010609060101010101" pitchFamily="49" charset="-122"/>
              </a:rPr>
              <a:t>、信息素因子</a:t>
            </a:r>
            <a:r>
              <a:rPr lang="el-GR" altLang="zh-CN" sz="2400" b="0" kern="0" dirty="0">
                <a:latin typeface="黑体" panose="02010609060101010101" pitchFamily="49" charset="-122"/>
                <a:ea typeface="黑体" panose="02010609060101010101" pitchFamily="49" charset="-122"/>
              </a:rPr>
              <a:t>α</a:t>
            </a:r>
            <a:r>
              <a:rPr lang="zh-CN" altLang="en-US" sz="2400" b="0" kern="0" dirty="0">
                <a:latin typeface="黑体" panose="02010609060101010101" pitchFamily="49" charset="-122"/>
                <a:ea typeface="黑体" panose="02010609060101010101" pitchFamily="49" charset="-122"/>
              </a:rPr>
              <a:t>、启发函数因子</a:t>
            </a:r>
            <a:r>
              <a:rPr lang="en-US" altLang="zh-CN" sz="2400" b="0" kern="0" dirty="0">
                <a:latin typeface="黑体" panose="02010609060101010101" pitchFamily="49" charset="-122"/>
                <a:ea typeface="黑体" panose="02010609060101010101" pitchFamily="49" charset="-122"/>
              </a:rPr>
              <a:t>β</a:t>
            </a:r>
            <a:r>
              <a:rPr lang="zh-CN" altLang="en-US" sz="2400" b="0" kern="0" dirty="0">
                <a:latin typeface="黑体" panose="02010609060101010101" pitchFamily="49" charset="-122"/>
                <a:ea typeface="黑体" panose="02010609060101010101" pitchFamily="49" charset="-122"/>
              </a:rPr>
              <a:t>、信息素挥发因子</a:t>
            </a:r>
            <a:r>
              <a:rPr lang="en-US" altLang="zh-CN" sz="2400" b="0" kern="0" dirty="0">
                <a:latin typeface="黑体" panose="02010609060101010101" pitchFamily="49" charset="-122"/>
                <a:ea typeface="黑体" panose="02010609060101010101" pitchFamily="49" charset="-122"/>
              </a:rPr>
              <a:t>ρ</a:t>
            </a:r>
            <a:r>
              <a:rPr lang="zh-CN" altLang="en-US" sz="2400" b="0" kern="0" dirty="0">
                <a:latin typeface="黑体" panose="02010609060101010101" pitchFamily="49" charset="-122"/>
                <a:ea typeface="黑体" panose="02010609060101010101" pitchFamily="49" charset="-122"/>
              </a:rPr>
              <a:t>、信息素常数</a:t>
            </a:r>
            <a:r>
              <a:rPr lang="en-US" altLang="zh-CN" sz="2400" b="0" kern="0" dirty="0">
                <a:latin typeface="黑体" panose="02010609060101010101" pitchFamily="49" charset="-122"/>
                <a:ea typeface="黑体" panose="02010609060101010101" pitchFamily="49" charset="-122"/>
              </a:rPr>
              <a:t>Q</a:t>
            </a:r>
            <a:r>
              <a:rPr lang="zh-CN" altLang="en-US" sz="2400" b="0" kern="0" dirty="0">
                <a:latin typeface="黑体" panose="02010609060101010101" pitchFamily="49" charset="-122"/>
                <a:ea typeface="黑体" panose="02010609060101010101" pitchFamily="49" charset="-122"/>
              </a:rPr>
              <a:t>、最大迭代次数</a:t>
            </a:r>
            <a:r>
              <a:rPr lang="en-US" altLang="zh-CN" sz="2400" b="0" kern="0" dirty="0">
                <a:latin typeface="黑体" panose="02010609060101010101" pitchFamily="49" charset="-122"/>
                <a:ea typeface="黑体" panose="02010609060101010101" pitchFamily="49" charset="-122"/>
              </a:rPr>
              <a:t>t</a:t>
            </a:r>
            <a:r>
              <a:rPr lang="zh-CN" altLang="en-US" sz="2400" b="0" kern="0" dirty="0">
                <a:latin typeface="黑体" panose="02010609060101010101" pitchFamily="49" charset="-122"/>
                <a:ea typeface="黑体" panose="02010609060101010101" pitchFamily="49" charset="-122"/>
              </a:rPr>
              <a:t>等等。</a:t>
            </a:r>
            <a:endParaRPr lang="en-US" altLang="zh-CN" sz="2400" b="0" kern="0" dirty="0">
              <a:latin typeface="黑体" panose="02010609060101010101" pitchFamily="49" charset="-122"/>
              <a:ea typeface="黑体" panose="02010609060101010101" pitchFamily="49" charset="-122"/>
            </a:endParaRPr>
          </a:p>
          <a:p>
            <a:pPr marL="0" indent="0">
              <a:buNone/>
            </a:pPr>
            <a:endParaRPr lang="en-US" altLang="zh-CN" sz="2400" kern="0" dirty="0">
              <a:solidFill>
                <a:schemeClr val="tx1">
                  <a:lumMod val="65000"/>
                  <a:lumOff val="35000"/>
                </a:schemeClr>
              </a:solidFill>
              <a:latin typeface="黑体" panose="02010609060101010101" pitchFamily="49" charset="-122"/>
              <a:ea typeface="黑体" panose="02010609060101010101" pitchFamily="49" charset="-122"/>
            </a:endParaRPr>
          </a:p>
          <a:p>
            <a:pPr marL="0" indent="0">
              <a:buNone/>
            </a:pPr>
            <a:endParaRPr lang="en-US" altLang="zh-CN" sz="2400" kern="0" dirty="0">
              <a:solidFill>
                <a:schemeClr val="tx1">
                  <a:lumMod val="65000"/>
                  <a:lumOff val="35000"/>
                </a:schemeClr>
              </a:solidFill>
              <a:latin typeface="黑体" panose="02010609060101010101" pitchFamily="49" charset="-122"/>
              <a:ea typeface="黑体" panose="02010609060101010101" pitchFamily="49" charset="-122"/>
            </a:endParaRPr>
          </a:p>
        </p:txBody>
      </p:sp>
      <p:sp>
        <p:nvSpPr>
          <p:cNvPr id="7" name="文本框 6">
            <a:extLst>
              <a:ext uri="{FF2B5EF4-FFF2-40B4-BE49-F238E27FC236}">
                <a16:creationId xmlns:a16="http://schemas.microsoft.com/office/drawing/2014/main" id="{CE301053-040D-4F33-BDB5-BD7FAF168752}"/>
              </a:ext>
            </a:extLst>
          </p:cNvPr>
          <p:cNvSpPr txBox="1"/>
          <p:nvPr/>
        </p:nvSpPr>
        <p:spPr>
          <a:xfrm>
            <a:off x="632520" y="2564904"/>
            <a:ext cx="7816263" cy="2677656"/>
          </a:xfrm>
          <a:prstGeom prst="rect">
            <a:avLst/>
          </a:prstGeom>
          <a:noFill/>
        </p:spPr>
        <p:txBody>
          <a:bodyPr wrap="square" rtlCol="0">
            <a:spAutoFit/>
          </a:bodyPr>
          <a:lstStyle/>
          <a:p>
            <a:r>
              <a:rPr lang="zh-CN" altLang="en-US" sz="2400" dirty="0"/>
              <a:t>对于</a:t>
            </a:r>
            <a:r>
              <a:rPr lang="en-US" altLang="zh-CN" sz="2400" dirty="0"/>
              <a:t>0-1</a:t>
            </a:r>
            <a:r>
              <a:rPr lang="zh-CN" altLang="en-US" sz="2400" dirty="0"/>
              <a:t>背包问题，在这一步还需要对以下参数（变量进行初始化）：</a:t>
            </a:r>
            <a:endParaRPr lang="en-US" altLang="zh-CN" sz="2400" dirty="0"/>
          </a:p>
          <a:p>
            <a:pPr marL="342900" indent="-342900">
              <a:buFont typeface="+mj-ea"/>
              <a:buAutoNum type="circleNumDbPlain"/>
            </a:pPr>
            <a:r>
              <a:rPr lang="zh-CN" altLang="en-US" sz="2400" dirty="0"/>
              <a:t>物品数量</a:t>
            </a:r>
            <a:r>
              <a:rPr lang="en-US" altLang="zh-CN" sz="2400" dirty="0"/>
              <a:t>N</a:t>
            </a:r>
          </a:p>
          <a:p>
            <a:pPr marL="342900" indent="-342900">
              <a:buFont typeface="+mj-ea"/>
              <a:buAutoNum type="circleNumDbPlain"/>
            </a:pPr>
            <a:r>
              <a:rPr lang="zh-CN" altLang="en-US" sz="2400" dirty="0"/>
              <a:t>物品价格</a:t>
            </a:r>
            <a:r>
              <a:rPr lang="en-US" altLang="zh-CN" sz="2400" dirty="0" err="1"/>
              <a:t>wi</a:t>
            </a:r>
            <a:r>
              <a:rPr lang="en-US" altLang="zh-CN" sz="2400" dirty="0"/>
              <a:t>, </a:t>
            </a:r>
            <a:r>
              <a:rPr lang="zh-CN" altLang="en-US" sz="2400" dirty="0"/>
              <a:t>和物品价值</a:t>
            </a:r>
            <a:r>
              <a:rPr lang="en-US" altLang="zh-CN" sz="2400" dirty="0"/>
              <a:t>vi.   </a:t>
            </a:r>
            <a:r>
              <a:rPr lang="en-US" altLang="zh-CN" sz="2400" dirty="0" err="1"/>
              <a:t>i</a:t>
            </a:r>
            <a:r>
              <a:rPr lang="en-US" altLang="zh-CN" sz="2400" dirty="0"/>
              <a:t>={0,1,2..,N-1}</a:t>
            </a:r>
          </a:p>
          <a:p>
            <a:pPr marL="342900" indent="-342900">
              <a:buFont typeface="+mj-ea"/>
              <a:buAutoNum type="circleNumDbPlain"/>
            </a:pPr>
            <a:r>
              <a:rPr lang="zh-CN" altLang="en-US" sz="2400" dirty="0"/>
              <a:t>背包容量</a:t>
            </a:r>
            <a:r>
              <a:rPr lang="en-US" altLang="zh-CN" sz="2400" dirty="0"/>
              <a:t>C</a:t>
            </a:r>
          </a:p>
          <a:p>
            <a:pPr marL="342900" indent="-342900">
              <a:buFont typeface="+mj-ea"/>
              <a:buAutoNum type="circleNumDbPlain"/>
            </a:pPr>
            <a:r>
              <a:rPr lang="zh-CN" altLang="en-US" sz="2400" dirty="0"/>
              <a:t>蚁群路径记录函数</a:t>
            </a:r>
            <a:r>
              <a:rPr lang="en-US" altLang="zh-CN" sz="2400" dirty="0"/>
              <a:t>xi. </a:t>
            </a:r>
            <a:r>
              <a:rPr lang="en-US" altLang="zh-CN" sz="2400" dirty="0" err="1"/>
              <a:t>i</a:t>
            </a:r>
            <a:r>
              <a:rPr lang="en-US" altLang="zh-CN" sz="2400" dirty="0"/>
              <a:t>={0,1,2..,N-1}</a:t>
            </a:r>
          </a:p>
          <a:p>
            <a:r>
              <a:rPr lang="zh-CN" altLang="en-US" sz="2400" dirty="0"/>
              <a:t>实际编程时，还需要其他很多变量，这里不一一列举</a:t>
            </a:r>
            <a:endParaRPr lang="en-US" altLang="zh-CN" sz="2400" dirty="0"/>
          </a:p>
        </p:txBody>
      </p:sp>
    </p:spTree>
    <p:extLst>
      <p:ext uri="{BB962C8B-B14F-4D97-AF65-F5344CB8AC3E}">
        <p14:creationId xmlns:p14="http://schemas.microsoft.com/office/powerpoint/2010/main" val="53196047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4" fill="hold" nodeType="with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animEffect transition="in" filter="wipe(down)">
                                      <p:cBhvr>
                                        <p:cTn id="7" dur="500"/>
                                        <p:tgtEl>
                                          <p:spTgt spid="6">
                                            <p:txEl>
                                              <p:pRg st="0" end="0"/>
                                            </p:txEl>
                                          </p:spTgt>
                                        </p:tgtEl>
                                      </p:cBhvr>
                                    </p:animEffect>
                                  </p:childTnLst>
                                </p:cTn>
                              </p:par>
                              <p:par>
                                <p:cTn id="8" presetID="22" presetClass="entr" presetSubtype="4" fill="hold" nodeType="withEffect">
                                  <p:stCondLst>
                                    <p:cond delay="0"/>
                                  </p:stCondLst>
                                  <p:childTnLst>
                                    <p:set>
                                      <p:cBhvr>
                                        <p:cTn id="9" dur="1" fill="hold">
                                          <p:stCondLst>
                                            <p:cond delay="0"/>
                                          </p:stCondLst>
                                        </p:cTn>
                                        <p:tgtEl>
                                          <p:spTgt spid="6">
                                            <p:txEl>
                                              <p:pRg st="1" end="1"/>
                                            </p:txEl>
                                          </p:spTgt>
                                        </p:tgtEl>
                                        <p:attrNameLst>
                                          <p:attrName>style.visibility</p:attrName>
                                        </p:attrNameLst>
                                      </p:cBhvr>
                                      <p:to>
                                        <p:strVal val="visible"/>
                                      </p:to>
                                    </p:set>
                                    <p:animEffect transition="in" filter="wipe(down)">
                                      <p:cBhvr>
                                        <p:cTn id="10" dur="500"/>
                                        <p:tgtEl>
                                          <p:spTgt spid="6">
                                            <p:txEl>
                                              <p:pRg st="1" end="1"/>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22" presetClass="entr" presetSubtype="4" fill="hold" grpId="0" nodeType="clickEffect">
                                  <p:stCondLst>
                                    <p:cond delay="0"/>
                                  </p:stCondLst>
                                  <p:childTnLst>
                                    <p:set>
                                      <p:cBhvr>
                                        <p:cTn id="14" dur="1" fill="hold">
                                          <p:stCondLst>
                                            <p:cond delay="0"/>
                                          </p:stCondLst>
                                        </p:cTn>
                                        <p:tgtEl>
                                          <p:spTgt spid="7"/>
                                        </p:tgtEl>
                                        <p:attrNameLst>
                                          <p:attrName>style.visibility</p:attrName>
                                        </p:attrNameLst>
                                      </p:cBhvr>
                                      <p:to>
                                        <p:strVal val="visible"/>
                                      </p:to>
                                    </p:set>
                                    <p:animEffect transition="in" filter="wipe(down)">
                                      <p:cBhvr>
                                        <p:cTn id="15"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3CB3613-6C0F-4C1D-A675-C37A5C13FD5D}"/>
              </a:ext>
            </a:extLst>
          </p:cNvPr>
          <p:cNvSpPr>
            <a:spLocks noGrp="1"/>
          </p:cNvSpPr>
          <p:nvPr>
            <p:ph type="title"/>
          </p:nvPr>
        </p:nvSpPr>
        <p:spPr/>
        <p:txBody>
          <a:bodyPr/>
          <a:lstStyle/>
          <a:p>
            <a:r>
              <a:rPr lang="zh-CN" altLang="en-US" dirty="0"/>
              <a:t>蚁群算法求解</a:t>
            </a:r>
            <a:r>
              <a:rPr lang="en-US" altLang="zh-CN" dirty="0"/>
              <a:t>0-1</a:t>
            </a:r>
            <a:r>
              <a:rPr lang="zh-CN" altLang="en-US" dirty="0"/>
              <a:t>背包问题主要步骤</a:t>
            </a:r>
          </a:p>
        </p:txBody>
      </p:sp>
      <p:sp>
        <p:nvSpPr>
          <p:cNvPr id="4" name="日期占位符 3">
            <a:extLst>
              <a:ext uri="{FF2B5EF4-FFF2-40B4-BE49-F238E27FC236}">
                <a16:creationId xmlns:a16="http://schemas.microsoft.com/office/drawing/2014/main" id="{3E2BB2EE-6EEB-4C2E-A8F0-42DF55393453}"/>
              </a:ext>
            </a:extLst>
          </p:cNvPr>
          <p:cNvSpPr>
            <a:spLocks noGrp="1"/>
          </p:cNvSpPr>
          <p:nvPr>
            <p:ph type="dt" sz="half" idx="10"/>
          </p:nvPr>
        </p:nvSpPr>
        <p:spPr/>
        <p:txBody>
          <a:bodyPr/>
          <a:lstStyle/>
          <a:p>
            <a:fld id="{A8B06C41-1E1E-4B9B-9644-5AFB8CB2AB3B}" type="datetime3">
              <a:rPr lang="zh-CN" altLang="en-US" smtClean="0"/>
              <a:t>2022年11月24日星期四</a:t>
            </a:fld>
            <a:endParaRPr lang="en-US" altLang="zh-CN" dirty="0"/>
          </a:p>
        </p:txBody>
      </p:sp>
      <p:sp>
        <p:nvSpPr>
          <p:cNvPr id="5" name="灯片编号占位符 4">
            <a:extLst>
              <a:ext uri="{FF2B5EF4-FFF2-40B4-BE49-F238E27FC236}">
                <a16:creationId xmlns:a16="http://schemas.microsoft.com/office/drawing/2014/main" id="{77290CBB-9F08-4633-A34F-9CB4CDFDC628}"/>
              </a:ext>
            </a:extLst>
          </p:cNvPr>
          <p:cNvSpPr>
            <a:spLocks noGrp="1"/>
          </p:cNvSpPr>
          <p:nvPr>
            <p:ph type="sldNum" sz="quarter" idx="12"/>
          </p:nvPr>
        </p:nvSpPr>
        <p:spPr/>
        <p:txBody>
          <a:bodyPr/>
          <a:lstStyle/>
          <a:p>
            <a:fld id="{7AC79822-BC0D-4DE8-A7E5-90A3732A2B82}" type="slidenum">
              <a:rPr lang="zh-CN" altLang="en-US" smtClean="0"/>
              <a:pPr/>
              <a:t>58</a:t>
            </a:fld>
            <a:endParaRPr lang="en-US" altLang="zh-CN" dirty="0"/>
          </a:p>
        </p:txBody>
      </p:sp>
      <p:sp>
        <p:nvSpPr>
          <p:cNvPr id="6" name="文本占位符 3">
            <a:extLst>
              <a:ext uri="{FF2B5EF4-FFF2-40B4-BE49-F238E27FC236}">
                <a16:creationId xmlns:a16="http://schemas.microsoft.com/office/drawing/2014/main" id="{96273EA2-DD61-418B-A336-0BF6982887BE}"/>
              </a:ext>
            </a:extLst>
          </p:cNvPr>
          <p:cNvSpPr txBox="1">
            <a:spLocks/>
          </p:cNvSpPr>
          <p:nvPr/>
        </p:nvSpPr>
        <p:spPr>
          <a:xfrm>
            <a:off x="128464" y="1124744"/>
            <a:ext cx="9649072" cy="1440160"/>
          </a:xfrm>
          <a:prstGeom prst="rect">
            <a:avLst/>
          </a:prstGeom>
        </p:spPr>
        <p:txBody>
          <a:bodyPr/>
          <a:lstStyle>
            <a:lvl1pPr marL="342900" indent="-342900" algn="l" rtl="0" eaLnBrk="1" fontAlgn="base" hangingPunct="1">
              <a:spcBef>
                <a:spcPct val="20000"/>
              </a:spcBef>
              <a:spcAft>
                <a:spcPct val="0"/>
              </a:spcAft>
              <a:buClr>
                <a:srgbClr val="333399"/>
              </a:buClr>
              <a:buSzPct val="75000"/>
              <a:buFont typeface="Wingdings" panose="05000000000000000000" pitchFamily="2" charset="2"/>
              <a:buChar char=""/>
              <a:defRPr sz="3200" b="1">
                <a:solidFill>
                  <a:schemeClr val="tx1"/>
                </a:solidFill>
                <a:latin typeface="+mn-lt"/>
                <a:ea typeface="黑体" pitchFamily="2" charset="-122"/>
                <a:cs typeface="+mn-cs"/>
              </a:defRPr>
            </a:lvl1pPr>
            <a:lvl2pPr marL="742950" indent="-285750" algn="l" rtl="0" eaLnBrk="1" fontAlgn="base" hangingPunct="1">
              <a:spcBef>
                <a:spcPct val="20000"/>
              </a:spcBef>
              <a:spcAft>
                <a:spcPct val="0"/>
              </a:spcAft>
              <a:buClr>
                <a:schemeClr val="accent2"/>
              </a:buClr>
              <a:buSzPct val="70000"/>
              <a:buFont typeface="Wingdings" panose="05000000000000000000" pitchFamily="2" charset="2"/>
              <a:buChar char=""/>
              <a:defRPr sz="2800" b="1">
                <a:solidFill>
                  <a:schemeClr val="tx1"/>
                </a:solidFill>
                <a:latin typeface="+mn-lt"/>
                <a:ea typeface="黑体" pitchFamily="2" charset="-122"/>
              </a:defRPr>
            </a:lvl2pPr>
            <a:lvl3pPr marL="1143000" indent="-228600" algn="l" rtl="0" eaLnBrk="1" fontAlgn="base" hangingPunct="1">
              <a:spcBef>
                <a:spcPct val="20000"/>
              </a:spcBef>
              <a:spcAft>
                <a:spcPct val="0"/>
              </a:spcAft>
              <a:buClr>
                <a:srgbClr val="333399"/>
              </a:buClr>
              <a:buSzPct val="65000"/>
              <a:buFont typeface="Wingdings" panose="05000000000000000000" pitchFamily="2" charset="2"/>
              <a:buChar char=""/>
              <a:defRPr sz="2400" b="1">
                <a:solidFill>
                  <a:schemeClr val="tx1"/>
                </a:solidFill>
                <a:latin typeface="+mn-lt"/>
                <a:ea typeface="黑体" pitchFamily="2" charset="-122"/>
              </a:defRPr>
            </a:lvl3pPr>
            <a:lvl4pPr marL="1600200" indent="-228600" algn="l" rtl="0" eaLnBrk="1" fontAlgn="base" hangingPunct="1">
              <a:spcBef>
                <a:spcPct val="20000"/>
              </a:spcBef>
              <a:spcAft>
                <a:spcPct val="0"/>
              </a:spcAft>
              <a:buClr>
                <a:schemeClr val="bg2"/>
              </a:buClr>
              <a:buSzPct val="65000"/>
              <a:buFont typeface="Wingdings" pitchFamily="2" charset="2"/>
              <a:buChar char="n"/>
              <a:defRPr sz="2000" b="1">
                <a:solidFill>
                  <a:schemeClr val="tx1"/>
                </a:solidFill>
                <a:latin typeface="+mn-lt"/>
                <a:ea typeface="黑体" pitchFamily="2" charset="-122"/>
              </a:defRPr>
            </a:lvl4pPr>
            <a:lvl5pPr marL="2057400" indent="-228600" algn="l" rtl="0" eaLnBrk="1" fontAlgn="base" hangingPunct="1">
              <a:spcBef>
                <a:spcPct val="20000"/>
              </a:spcBef>
              <a:spcAft>
                <a:spcPct val="0"/>
              </a:spcAft>
              <a:buClr>
                <a:srgbClr val="333399"/>
              </a:buClr>
              <a:buSzPct val="60000"/>
              <a:buFont typeface="Wingdings" panose="05000000000000000000" pitchFamily="2" charset="2"/>
              <a:buChar char="Ø"/>
              <a:defRPr sz="2000" b="1">
                <a:solidFill>
                  <a:schemeClr val="tx1"/>
                </a:solidFill>
                <a:latin typeface="+mn-lt"/>
                <a:ea typeface="黑体" pitchFamily="2" charset="-122"/>
              </a:defRPr>
            </a:lvl5pPr>
            <a:lvl6pPr marL="25146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defRPr>
            </a:lvl6pPr>
            <a:lvl7pPr marL="29718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defRPr>
            </a:lvl7pPr>
            <a:lvl8pPr marL="34290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defRPr>
            </a:lvl8pPr>
            <a:lvl9pPr marL="38862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defRPr>
            </a:lvl9pPr>
          </a:lstStyle>
          <a:p>
            <a:pPr marL="0" indent="0">
              <a:buNone/>
            </a:pPr>
            <a:r>
              <a:rPr lang="en-US" altLang="zh-CN" sz="2400" kern="0" dirty="0">
                <a:latin typeface="黑体" panose="02010609060101010101" pitchFamily="49" charset="-122"/>
                <a:ea typeface="黑体" panose="02010609060101010101" pitchFamily="49" charset="-122"/>
              </a:rPr>
              <a:t>2.</a:t>
            </a:r>
            <a:r>
              <a:rPr lang="zh-CN" altLang="en-US" sz="2400" kern="0" dirty="0">
                <a:latin typeface="黑体" panose="02010609060101010101" pitchFamily="49" charset="-122"/>
                <a:ea typeface="黑体" panose="02010609060101010101" pitchFamily="49" charset="-122"/>
              </a:rPr>
              <a:t>构建解空间：</a:t>
            </a:r>
            <a:endParaRPr lang="en-US" altLang="zh-CN" sz="2400" kern="0" dirty="0">
              <a:latin typeface="黑体" panose="02010609060101010101" pitchFamily="49" charset="-122"/>
              <a:ea typeface="黑体" panose="02010609060101010101" pitchFamily="49" charset="-122"/>
            </a:endParaRPr>
          </a:p>
          <a:p>
            <a:pPr marL="0" indent="0">
              <a:buNone/>
            </a:pPr>
            <a:r>
              <a:rPr lang="zh-CN" altLang="en-US" sz="2400" b="0" kern="0" dirty="0">
                <a:latin typeface="黑体" panose="02010609060101010101" pitchFamily="49" charset="-122"/>
                <a:ea typeface="黑体" panose="02010609060101010101" pitchFamily="49" charset="-122"/>
              </a:rPr>
              <a:t>将各个蚂蚁随机地放置于不同的出发点，对每个蚂蚁</a:t>
            </a:r>
            <a:r>
              <a:rPr lang="en-US" altLang="zh-CN" sz="2400" b="0" kern="0" dirty="0">
                <a:latin typeface="黑体" panose="02010609060101010101" pitchFamily="49" charset="-122"/>
                <a:ea typeface="黑体" panose="02010609060101010101" pitchFamily="49" charset="-122"/>
              </a:rPr>
              <a:t>k</a:t>
            </a:r>
            <a:r>
              <a:rPr lang="zh-CN" altLang="en-US" sz="2400" b="0" kern="0" dirty="0">
                <a:latin typeface="黑体" panose="02010609060101010101" pitchFamily="49" charset="-122"/>
                <a:ea typeface="黑体" panose="02010609060101010101" pitchFamily="49" charset="-122"/>
              </a:rPr>
              <a:t>（</a:t>
            </a:r>
            <a:r>
              <a:rPr lang="en-US" altLang="zh-CN" sz="2400" b="0" kern="0" dirty="0">
                <a:latin typeface="黑体" panose="02010609060101010101" pitchFamily="49" charset="-122"/>
                <a:ea typeface="黑体" panose="02010609060101010101" pitchFamily="49" charset="-122"/>
              </a:rPr>
              <a:t>k=1</a:t>
            </a:r>
            <a:r>
              <a:rPr lang="zh-CN" altLang="en-US" sz="2400" b="0" kern="0" dirty="0">
                <a:latin typeface="黑体" panose="02010609060101010101" pitchFamily="49" charset="-122"/>
                <a:ea typeface="黑体" panose="02010609060101010101" pitchFamily="49" charset="-122"/>
              </a:rPr>
              <a:t>，</a:t>
            </a:r>
            <a:r>
              <a:rPr lang="en-US" altLang="zh-CN" sz="2400" b="0" kern="0" dirty="0">
                <a:latin typeface="黑体" panose="02010609060101010101" pitchFamily="49" charset="-122"/>
                <a:ea typeface="黑体" panose="02010609060101010101" pitchFamily="49" charset="-122"/>
              </a:rPr>
              <a:t>2</a:t>
            </a:r>
            <a:r>
              <a:rPr lang="zh-CN" altLang="en-US" sz="2400" b="0" kern="0" dirty="0">
                <a:latin typeface="黑体" panose="02010609060101010101" pitchFamily="49" charset="-122"/>
                <a:ea typeface="黑体" panose="02010609060101010101" pitchFamily="49" charset="-122"/>
              </a:rPr>
              <a:t>，</a:t>
            </a:r>
            <a:r>
              <a:rPr lang="en-US" altLang="zh-CN" sz="2400" b="0" kern="0" dirty="0">
                <a:latin typeface="黑体" panose="02010609060101010101" pitchFamily="49" charset="-122"/>
                <a:ea typeface="黑体" panose="02010609060101010101" pitchFamily="49" charset="-122"/>
              </a:rPr>
              <a:t>……</a:t>
            </a:r>
            <a:r>
              <a:rPr lang="zh-CN" altLang="en-US" sz="2400" b="0" kern="0" dirty="0">
                <a:latin typeface="黑体" panose="02010609060101010101" pitchFamily="49" charset="-122"/>
                <a:ea typeface="黑体" panose="02010609060101010101" pitchFamily="49" charset="-122"/>
              </a:rPr>
              <a:t>，</a:t>
            </a:r>
            <a:r>
              <a:rPr lang="en-US" altLang="zh-CN" sz="2400" b="0" kern="0" dirty="0">
                <a:latin typeface="黑体" panose="02010609060101010101" pitchFamily="49" charset="-122"/>
                <a:ea typeface="黑体" panose="02010609060101010101" pitchFamily="49" charset="-122"/>
              </a:rPr>
              <a:t>m</a:t>
            </a:r>
            <a:r>
              <a:rPr lang="zh-CN" altLang="en-US" sz="2400" b="0" kern="0" dirty="0">
                <a:latin typeface="黑体" panose="02010609060101010101" pitchFamily="49" charset="-122"/>
                <a:ea typeface="黑体" panose="02010609060101010101" pitchFamily="49" charset="-122"/>
              </a:rPr>
              <a:t>），计算其下一个待访问的城市，直到</a:t>
            </a:r>
            <a:r>
              <a:rPr lang="zh-CN" altLang="en-US" sz="2400" b="0" kern="0" dirty="0">
                <a:solidFill>
                  <a:srgbClr val="FF0000"/>
                </a:solidFill>
                <a:latin typeface="黑体" panose="02010609060101010101" pitchFamily="49" charset="-122"/>
                <a:ea typeface="黑体" panose="02010609060101010101" pitchFamily="49" charset="-122"/>
              </a:rPr>
              <a:t>所有蚂蚁访问完所有的城市。</a:t>
            </a:r>
            <a:endParaRPr lang="en-US" altLang="zh-CN" sz="2400" b="0" kern="0" dirty="0">
              <a:solidFill>
                <a:schemeClr val="tx1">
                  <a:lumMod val="65000"/>
                  <a:lumOff val="35000"/>
                </a:schemeClr>
              </a:solidFill>
              <a:latin typeface="黑体" panose="02010609060101010101" pitchFamily="49" charset="-122"/>
              <a:ea typeface="黑体" panose="02010609060101010101" pitchFamily="49" charset="-122"/>
            </a:endParaRPr>
          </a:p>
          <a:p>
            <a:pPr marL="0" indent="0">
              <a:buNone/>
            </a:pPr>
            <a:endParaRPr lang="en-US" altLang="zh-CN" sz="2400" kern="0" dirty="0">
              <a:solidFill>
                <a:schemeClr val="tx1">
                  <a:lumMod val="65000"/>
                  <a:lumOff val="35000"/>
                </a:schemeClr>
              </a:solidFill>
              <a:latin typeface="黑体" panose="02010609060101010101" pitchFamily="49" charset="-122"/>
              <a:ea typeface="黑体" panose="02010609060101010101" pitchFamily="49" charset="-122"/>
            </a:endParaRPr>
          </a:p>
        </p:txBody>
      </p:sp>
      <p:sp>
        <p:nvSpPr>
          <p:cNvPr id="7" name="文本框 6">
            <a:extLst>
              <a:ext uri="{FF2B5EF4-FFF2-40B4-BE49-F238E27FC236}">
                <a16:creationId xmlns:a16="http://schemas.microsoft.com/office/drawing/2014/main" id="{CE301053-040D-4F33-BDB5-BD7FAF168752}"/>
              </a:ext>
            </a:extLst>
          </p:cNvPr>
          <p:cNvSpPr txBox="1"/>
          <p:nvPr/>
        </p:nvSpPr>
        <p:spPr>
          <a:xfrm>
            <a:off x="632520" y="2564904"/>
            <a:ext cx="7816263" cy="3046988"/>
          </a:xfrm>
          <a:prstGeom prst="rect">
            <a:avLst/>
          </a:prstGeom>
          <a:noFill/>
        </p:spPr>
        <p:txBody>
          <a:bodyPr wrap="square" rtlCol="0">
            <a:spAutoFit/>
          </a:bodyPr>
          <a:lstStyle/>
          <a:p>
            <a:r>
              <a:rPr lang="zh-CN" altLang="en-US" sz="2400" dirty="0"/>
              <a:t>对于</a:t>
            </a:r>
            <a:r>
              <a:rPr lang="en-US" altLang="zh-CN" sz="2400" dirty="0"/>
              <a:t>0-1</a:t>
            </a:r>
            <a:r>
              <a:rPr lang="zh-CN" altLang="en-US" sz="2400" dirty="0"/>
              <a:t>背包问题，在这一步需要作如下改变：</a:t>
            </a:r>
            <a:endParaRPr lang="en-US" altLang="zh-CN" sz="2400" dirty="0"/>
          </a:p>
          <a:p>
            <a:pPr marL="457200" indent="-457200">
              <a:buFont typeface="+mj-ea"/>
              <a:buAutoNum type="circleNumDbPlain"/>
            </a:pPr>
            <a:r>
              <a:rPr lang="zh-CN" altLang="en-US" sz="2400" dirty="0"/>
              <a:t>由于不需要寻找一个回到起点的路径，因此，蚂蚁的初始点是相同的，都是一个虚拟的，无意义的出发点</a:t>
            </a:r>
            <a:endParaRPr lang="en-US" altLang="zh-CN" sz="2400" dirty="0"/>
          </a:p>
          <a:p>
            <a:pPr marL="457200" indent="-457200">
              <a:buFont typeface="+mj-ea"/>
              <a:buAutoNum type="circleNumDbPlain"/>
            </a:pPr>
            <a:r>
              <a:rPr lang="zh-CN" altLang="en-US" sz="2400" dirty="0"/>
              <a:t>下一个选择的城市这里就变成了下一个选择的物品</a:t>
            </a:r>
            <a:endParaRPr lang="en-US" altLang="zh-CN" sz="2400" dirty="0"/>
          </a:p>
          <a:p>
            <a:pPr marL="457200" indent="-457200">
              <a:buFont typeface="+mj-ea"/>
              <a:buAutoNum type="circleNumDbPlain"/>
            </a:pPr>
            <a:r>
              <a:rPr lang="zh-CN" altLang="en-US" sz="2400" dirty="0"/>
              <a:t>蚂蚁根据背包容量的约束选择物品，当所有物品都遍历完成后，实际装入背包的就是它此次迭代的可行解（注意：有可能一个物品都没有装入）</a:t>
            </a:r>
            <a:endParaRPr lang="en-US" altLang="zh-CN" sz="2400" dirty="0"/>
          </a:p>
          <a:p>
            <a:pPr marL="457200" indent="-457200">
              <a:buFont typeface="+mj-ea"/>
              <a:buAutoNum type="circleNumDbPlain"/>
            </a:pPr>
            <a:endParaRPr lang="en-US" altLang="zh-CN" sz="2400" dirty="0"/>
          </a:p>
        </p:txBody>
      </p:sp>
    </p:spTree>
    <p:extLst>
      <p:ext uri="{BB962C8B-B14F-4D97-AF65-F5344CB8AC3E}">
        <p14:creationId xmlns:p14="http://schemas.microsoft.com/office/powerpoint/2010/main" val="247408609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4" fill="hold" nodeType="with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animEffect transition="in" filter="wipe(down)">
                                      <p:cBhvr>
                                        <p:cTn id="7" dur="500"/>
                                        <p:tgtEl>
                                          <p:spTgt spid="6">
                                            <p:txEl>
                                              <p:pRg st="0" end="0"/>
                                            </p:txEl>
                                          </p:spTgt>
                                        </p:tgtEl>
                                      </p:cBhvr>
                                    </p:animEffect>
                                  </p:childTnLst>
                                </p:cTn>
                              </p:par>
                              <p:par>
                                <p:cTn id="8" presetID="22" presetClass="entr" presetSubtype="4" fill="hold" nodeType="withEffect">
                                  <p:stCondLst>
                                    <p:cond delay="0"/>
                                  </p:stCondLst>
                                  <p:childTnLst>
                                    <p:set>
                                      <p:cBhvr>
                                        <p:cTn id="9" dur="1" fill="hold">
                                          <p:stCondLst>
                                            <p:cond delay="0"/>
                                          </p:stCondLst>
                                        </p:cTn>
                                        <p:tgtEl>
                                          <p:spTgt spid="6">
                                            <p:txEl>
                                              <p:pRg st="1" end="1"/>
                                            </p:txEl>
                                          </p:spTgt>
                                        </p:tgtEl>
                                        <p:attrNameLst>
                                          <p:attrName>style.visibility</p:attrName>
                                        </p:attrNameLst>
                                      </p:cBhvr>
                                      <p:to>
                                        <p:strVal val="visible"/>
                                      </p:to>
                                    </p:set>
                                    <p:animEffect transition="in" filter="wipe(down)">
                                      <p:cBhvr>
                                        <p:cTn id="10" dur="500"/>
                                        <p:tgtEl>
                                          <p:spTgt spid="6">
                                            <p:txEl>
                                              <p:pRg st="1" end="1"/>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2" presetClass="entr" presetSubtype="4" fill="hold" grpId="0" nodeType="clickEffect">
                                  <p:stCondLst>
                                    <p:cond delay="0"/>
                                  </p:stCondLst>
                                  <p:childTnLst>
                                    <p:set>
                                      <p:cBhvr>
                                        <p:cTn id="14" dur="1" fill="hold">
                                          <p:stCondLst>
                                            <p:cond delay="0"/>
                                          </p:stCondLst>
                                        </p:cTn>
                                        <p:tgtEl>
                                          <p:spTgt spid="7"/>
                                        </p:tgtEl>
                                        <p:attrNameLst>
                                          <p:attrName>style.visibility</p:attrName>
                                        </p:attrNameLst>
                                      </p:cBhvr>
                                      <p:to>
                                        <p:strVal val="visible"/>
                                      </p:to>
                                    </p:set>
                                    <p:anim calcmode="lin" valueType="num">
                                      <p:cBhvr additive="base">
                                        <p:cTn id="15" dur="500" fill="hold"/>
                                        <p:tgtEl>
                                          <p:spTgt spid="7"/>
                                        </p:tgtEl>
                                        <p:attrNameLst>
                                          <p:attrName>ppt_x</p:attrName>
                                        </p:attrNameLst>
                                      </p:cBhvr>
                                      <p:tavLst>
                                        <p:tav tm="0">
                                          <p:val>
                                            <p:strVal val="#ppt_x"/>
                                          </p:val>
                                        </p:tav>
                                        <p:tav tm="100000">
                                          <p:val>
                                            <p:strVal val="#ppt_x"/>
                                          </p:val>
                                        </p:tav>
                                      </p:tavLst>
                                    </p:anim>
                                    <p:anim calcmode="lin" valueType="num">
                                      <p:cBhvr additive="base">
                                        <p:cTn id="16" dur="500" fill="hold"/>
                                        <p:tgtEl>
                                          <p:spTgt spid="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3CB3613-6C0F-4C1D-A675-C37A5C13FD5D}"/>
              </a:ext>
            </a:extLst>
          </p:cNvPr>
          <p:cNvSpPr>
            <a:spLocks noGrp="1"/>
          </p:cNvSpPr>
          <p:nvPr>
            <p:ph type="title"/>
          </p:nvPr>
        </p:nvSpPr>
        <p:spPr/>
        <p:txBody>
          <a:bodyPr/>
          <a:lstStyle/>
          <a:p>
            <a:r>
              <a:rPr lang="zh-CN" altLang="en-US" dirty="0"/>
              <a:t>蚁群算法求解</a:t>
            </a:r>
            <a:r>
              <a:rPr lang="en-US" altLang="zh-CN" dirty="0"/>
              <a:t>0-1</a:t>
            </a:r>
            <a:r>
              <a:rPr lang="zh-CN" altLang="en-US" dirty="0"/>
              <a:t>背包问题主要步骤</a:t>
            </a:r>
          </a:p>
        </p:txBody>
      </p:sp>
      <p:sp>
        <p:nvSpPr>
          <p:cNvPr id="4" name="日期占位符 3">
            <a:extLst>
              <a:ext uri="{FF2B5EF4-FFF2-40B4-BE49-F238E27FC236}">
                <a16:creationId xmlns:a16="http://schemas.microsoft.com/office/drawing/2014/main" id="{3E2BB2EE-6EEB-4C2E-A8F0-42DF55393453}"/>
              </a:ext>
            </a:extLst>
          </p:cNvPr>
          <p:cNvSpPr>
            <a:spLocks noGrp="1"/>
          </p:cNvSpPr>
          <p:nvPr>
            <p:ph type="dt" sz="half" idx="10"/>
          </p:nvPr>
        </p:nvSpPr>
        <p:spPr/>
        <p:txBody>
          <a:bodyPr/>
          <a:lstStyle/>
          <a:p>
            <a:fld id="{A8B06C41-1E1E-4B9B-9644-5AFB8CB2AB3B}" type="datetime3">
              <a:rPr lang="zh-CN" altLang="en-US" smtClean="0"/>
              <a:t>2022年11月24日星期四</a:t>
            </a:fld>
            <a:endParaRPr lang="en-US" altLang="zh-CN" dirty="0"/>
          </a:p>
        </p:txBody>
      </p:sp>
      <p:sp>
        <p:nvSpPr>
          <p:cNvPr id="5" name="灯片编号占位符 4">
            <a:extLst>
              <a:ext uri="{FF2B5EF4-FFF2-40B4-BE49-F238E27FC236}">
                <a16:creationId xmlns:a16="http://schemas.microsoft.com/office/drawing/2014/main" id="{77290CBB-9F08-4633-A34F-9CB4CDFDC628}"/>
              </a:ext>
            </a:extLst>
          </p:cNvPr>
          <p:cNvSpPr>
            <a:spLocks noGrp="1"/>
          </p:cNvSpPr>
          <p:nvPr>
            <p:ph type="sldNum" sz="quarter" idx="12"/>
          </p:nvPr>
        </p:nvSpPr>
        <p:spPr/>
        <p:txBody>
          <a:bodyPr/>
          <a:lstStyle/>
          <a:p>
            <a:fld id="{7AC79822-BC0D-4DE8-A7E5-90A3732A2B82}" type="slidenum">
              <a:rPr lang="zh-CN" altLang="en-US" smtClean="0"/>
              <a:pPr/>
              <a:t>59</a:t>
            </a:fld>
            <a:endParaRPr lang="en-US" altLang="zh-CN" dirty="0"/>
          </a:p>
        </p:txBody>
      </p:sp>
      <p:sp>
        <p:nvSpPr>
          <p:cNvPr id="6" name="文本占位符 3">
            <a:extLst>
              <a:ext uri="{FF2B5EF4-FFF2-40B4-BE49-F238E27FC236}">
                <a16:creationId xmlns:a16="http://schemas.microsoft.com/office/drawing/2014/main" id="{96273EA2-DD61-418B-A336-0BF6982887BE}"/>
              </a:ext>
            </a:extLst>
          </p:cNvPr>
          <p:cNvSpPr txBox="1">
            <a:spLocks/>
          </p:cNvSpPr>
          <p:nvPr/>
        </p:nvSpPr>
        <p:spPr>
          <a:xfrm>
            <a:off x="128464" y="1124744"/>
            <a:ext cx="9649072" cy="1440160"/>
          </a:xfrm>
          <a:prstGeom prst="rect">
            <a:avLst/>
          </a:prstGeom>
        </p:spPr>
        <p:txBody>
          <a:bodyPr/>
          <a:lstStyle>
            <a:lvl1pPr marL="342900" indent="-342900" algn="l" rtl="0" eaLnBrk="1" fontAlgn="base" hangingPunct="1">
              <a:spcBef>
                <a:spcPct val="20000"/>
              </a:spcBef>
              <a:spcAft>
                <a:spcPct val="0"/>
              </a:spcAft>
              <a:buClr>
                <a:srgbClr val="333399"/>
              </a:buClr>
              <a:buSzPct val="75000"/>
              <a:buFont typeface="Wingdings" panose="05000000000000000000" pitchFamily="2" charset="2"/>
              <a:buChar char=""/>
              <a:defRPr sz="3200" b="1">
                <a:solidFill>
                  <a:schemeClr val="tx1"/>
                </a:solidFill>
                <a:latin typeface="+mn-lt"/>
                <a:ea typeface="黑体" pitchFamily="2" charset="-122"/>
                <a:cs typeface="+mn-cs"/>
              </a:defRPr>
            </a:lvl1pPr>
            <a:lvl2pPr marL="742950" indent="-285750" algn="l" rtl="0" eaLnBrk="1" fontAlgn="base" hangingPunct="1">
              <a:spcBef>
                <a:spcPct val="20000"/>
              </a:spcBef>
              <a:spcAft>
                <a:spcPct val="0"/>
              </a:spcAft>
              <a:buClr>
                <a:schemeClr val="accent2"/>
              </a:buClr>
              <a:buSzPct val="70000"/>
              <a:buFont typeface="Wingdings" panose="05000000000000000000" pitchFamily="2" charset="2"/>
              <a:buChar char=""/>
              <a:defRPr sz="2800" b="1">
                <a:solidFill>
                  <a:schemeClr val="tx1"/>
                </a:solidFill>
                <a:latin typeface="+mn-lt"/>
                <a:ea typeface="黑体" pitchFamily="2" charset="-122"/>
              </a:defRPr>
            </a:lvl2pPr>
            <a:lvl3pPr marL="1143000" indent="-228600" algn="l" rtl="0" eaLnBrk="1" fontAlgn="base" hangingPunct="1">
              <a:spcBef>
                <a:spcPct val="20000"/>
              </a:spcBef>
              <a:spcAft>
                <a:spcPct val="0"/>
              </a:spcAft>
              <a:buClr>
                <a:srgbClr val="333399"/>
              </a:buClr>
              <a:buSzPct val="65000"/>
              <a:buFont typeface="Wingdings" panose="05000000000000000000" pitchFamily="2" charset="2"/>
              <a:buChar char=""/>
              <a:defRPr sz="2400" b="1">
                <a:solidFill>
                  <a:schemeClr val="tx1"/>
                </a:solidFill>
                <a:latin typeface="+mn-lt"/>
                <a:ea typeface="黑体" pitchFamily="2" charset="-122"/>
              </a:defRPr>
            </a:lvl3pPr>
            <a:lvl4pPr marL="1600200" indent="-228600" algn="l" rtl="0" eaLnBrk="1" fontAlgn="base" hangingPunct="1">
              <a:spcBef>
                <a:spcPct val="20000"/>
              </a:spcBef>
              <a:spcAft>
                <a:spcPct val="0"/>
              </a:spcAft>
              <a:buClr>
                <a:schemeClr val="bg2"/>
              </a:buClr>
              <a:buSzPct val="65000"/>
              <a:buFont typeface="Wingdings" pitchFamily="2" charset="2"/>
              <a:buChar char="n"/>
              <a:defRPr sz="2000" b="1">
                <a:solidFill>
                  <a:schemeClr val="tx1"/>
                </a:solidFill>
                <a:latin typeface="+mn-lt"/>
                <a:ea typeface="黑体" pitchFamily="2" charset="-122"/>
              </a:defRPr>
            </a:lvl4pPr>
            <a:lvl5pPr marL="2057400" indent="-228600" algn="l" rtl="0" eaLnBrk="1" fontAlgn="base" hangingPunct="1">
              <a:spcBef>
                <a:spcPct val="20000"/>
              </a:spcBef>
              <a:spcAft>
                <a:spcPct val="0"/>
              </a:spcAft>
              <a:buClr>
                <a:srgbClr val="333399"/>
              </a:buClr>
              <a:buSzPct val="60000"/>
              <a:buFont typeface="Wingdings" panose="05000000000000000000" pitchFamily="2" charset="2"/>
              <a:buChar char="Ø"/>
              <a:defRPr sz="2000" b="1">
                <a:solidFill>
                  <a:schemeClr val="tx1"/>
                </a:solidFill>
                <a:latin typeface="+mn-lt"/>
                <a:ea typeface="黑体" pitchFamily="2" charset="-122"/>
              </a:defRPr>
            </a:lvl5pPr>
            <a:lvl6pPr marL="25146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defRPr>
            </a:lvl6pPr>
            <a:lvl7pPr marL="29718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defRPr>
            </a:lvl7pPr>
            <a:lvl8pPr marL="34290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defRPr>
            </a:lvl8pPr>
            <a:lvl9pPr marL="38862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defRPr>
            </a:lvl9pPr>
          </a:lstStyle>
          <a:p>
            <a:pPr marL="0" indent="0">
              <a:buNone/>
            </a:pPr>
            <a:r>
              <a:rPr lang="en-US" altLang="zh-CN" sz="2400" kern="0" dirty="0">
                <a:latin typeface="黑体" panose="02010609060101010101" pitchFamily="49" charset="-122"/>
                <a:ea typeface="黑体" panose="02010609060101010101" pitchFamily="49" charset="-122"/>
              </a:rPr>
              <a:t>2.</a:t>
            </a:r>
            <a:r>
              <a:rPr lang="zh-CN" altLang="en-US" sz="2400" kern="0" dirty="0">
                <a:latin typeface="黑体" panose="02010609060101010101" pitchFamily="49" charset="-122"/>
                <a:ea typeface="黑体" panose="02010609060101010101" pitchFamily="49" charset="-122"/>
              </a:rPr>
              <a:t>构建解空间：</a:t>
            </a:r>
            <a:endParaRPr lang="en-US" altLang="zh-CN" sz="2400" kern="0" dirty="0">
              <a:latin typeface="黑体" panose="02010609060101010101" pitchFamily="49" charset="-122"/>
              <a:ea typeface="黑体" panose="02010609060101010101" pitchFamily="49" charset="-122"/>
            </a:endParaRPr>
          </a:p>
          <a:p>
            <a:pPr marL="0" indent="0">
              <a:buNone/>
            </a:pPr>
            <a:endParaRPr lang="en-US" altLang="zh-CN" sz="2400" kern="0" dirty="0">
              <a:solidFill>
                <a:schemeClr val="tx1">
                  <a:lumMod val="65000"/>
                  <a:lumOff val="35000"/>
                </a:schemeClr>
              </a:solidFill>
              <a:latin typeface="黑体" panose="02010609060101010101" pitchFamily="49" charset="-122"/>
              <a:ea typeface="黑体" panose="02010609060101010101" pitchFamily="49" charset="-122"/>
            </a:endParaRPr>
          </a:p>
        </p:txBody>
      </p:sp>
      <p:sp>
        <p:nvSpPr>
          <p:cNvPr id="7" name="文本框 6">
            <a:extLst>
              <a:ext uri="{FF2B5EF4-FFF2-40B4-BE49-F238E27FC236}">
                <a16:creationId xmlns:a16="http://schemas.microsoft.com/office/drawing/2014/main" id="{CE301053-040D-4F33-BDB5-BD7FAF168752}"/>
              </a:ext>
            </a:extLst>
          </p:cNvPr>
          <p:cNvSpPr txBox="1"/>
          <p:nvPr/>
        </p:nvSpPr>
        <p:spPr>
          <a:xfrm>
            <a:off x="704528" y="1556792"/>
            <a:ext cx="7816263" cy="3046988"/>
          </a:xfrm>
          <a:prstGeom prst="rect">
            <a:avLst/>
          </a:prstGeom>
          <a:noFill/>
        </p:spPr>
        <p:txBody>
          <a:bodyPr wrap="square" rtlCol="0">
            <a:spAutoFit/>
          </a:bodyPr>
          <a:lstStyle/>
          <a:p>
            <a:r>
              <a:rPr lang="zh-CN" altLang="en-US" sz="2400" dirty="0"/>
              <a:t>对于</a:t>
            </a:r>
            <a:r>
              <a:rPr lang="en-US" altLang="zh-CN" sz="2400" dirty="0"/>
              <a:t>0-1</a:t>
            </a:r>
            <a:r>
              <a:rPr lang="zh-CN" altLang="en-US" sz="2400" dirty="0"/>
              <a:t>背包问题，在这一步需要作如下改变：</a:t>
            </a:r>
            <a:endParaRPr lang="en-US" altLang="zh-CN" sz="2400" dirty="0"/>
          </a:p>
          <a:p>
            <a:pPr marL="457200" indent="-457200">
              <a:buFont typeface="+mj-ea"/>
              <a:buAutoNum type="circleNumDbPlain"/>
            </a:pPr>
            <a:r>
              <a:rPr lang="zh-CN" altLang="en-US" sz="2400" dirty="0"/>
              <a:t>由于不需要寻找一个回到起点的路径，因此，蚂蚁的初始点是相同的，都是一个虚拟的，无意义的出发点</a:t>
            </a:r>
            <a:endParaRPr lang="en-US" altLang="zh-CN" sz="2400" dirty="0"/>
          </a:p>
          <a:p>
            <a:pPr marL="457200" indent="-457200">
              <a:buFont typeface="+mj-ea"/>
              <a:buAutoNum type="circleNumDbPlain"/>
            </a:pPr>
            <a:r>
              <a:rPr lang="zh-CN" altLang="en-US" sz="2400" dirty="0"/>
              <a:t>下一个选择的城市这里就变成了下一个选择的物品</a:t>
            </a:r>
            <a:endParaRPr lang="en-US" altLang="zh-CN" sz="2400" dirty="0"/>
          </a:p>
          <a:p>
            <a:pPr marL="457200" indent="-457200">
              <a:buFont typeface="+mj-ea"/>
              <a:buAutoNum type="circleNumDbPlain"/>
            </a:pPr>
            <a:r>
              <a:rPr lang="zh-CN" altLang="en-US" sz="2400" dirty="0"/>
              <a:t>蚂蚁根据背包容量的约束选择物品，当所有物品都遍历完成后，实际装入背包的就是它此次迭代的可行解（注意：有可能一个物品都没有装入）</a:t>
            </a:r>
            <a:endParaRPr lang="en-US" altLang="zh-CN" sz="2400" dirty="0"/>
          </a:p>
          <a:p>
            <a:pPr marL="457200" indent="-457200">
              <a:buFont typeface="+mj-ea"/>
              <a:buAutoNum type="circleNumDbPlain"/>
            </a:pPr>
            <a:endParaRPr lang="en-US" altLang="zh-CN" sz="2400" dirty="0"/>
          </a:p>
        </p:txBody>
      </p:sp>
      <p:graphicFrame>
        <p:nvGraphicFramePr>
          <p:cNvPr id="8" name="对象 7">
            <a:extLst>
              <a:ext uri="{FF2B5EF4-FFF2-40B4-BE49-F238E27FC236}">
                <a16:creationId xmlns:a16="http://schemas.microsoft.com/office/drawing/2014/main" id="{19F8392E-7BEB-4975-8DED-FBDECF2D2350}"/>
              </a:ext>
            </a:extLst>
          </p:cNvPr>
          <p:cNvGraphicFramePr>
            <a:graphicFrameLocks noChangeAspect="1"/>
          </p:cNvGraphicFramePr>
          <p:nvPr/>
        </p:nvGraphicFramePr>
        <p:xfrm>
          <a:off x="1064568" y="4235384"/>
          <a:ext cx="6129337" cy="2232025"/>
        </p:xfrm>
        <a:graphic>
          <a:graphicData uri="http://schemas.openxmlformats.org/presentationml/2006/ole">
            <mc:AlternateContent xmlns:mc="http://schemas.openxmlformats.org/markup-compatibility/2006">
              <mc:Choice xmlns:v="urn:schemas-microsoft-com:vml" Requires="v">
                <p:oleObj name="Equation" r:id="rId2" imgW="1917360" imgH="698400" progId="Equation.DSMT4">
                  <p:embed/>
                </p:oleObj>
              </mc:Choice>
              <mc:Fallback>
                <p:oleObj name="Equation" r:id="rId2" imgW="1917360" imgH="698400" progId="Equation.DSMT4">
                  <p:embed/>
                  <p:pic>
                    <p:nvPicPr>
                      <p:cNvPr id="8" name="对象 7">
                        <a:extLst>
                          <a:ext uri="{FF2B5EF4-FFF2-40B4-BE49-F238E27FC236}">
                            <a16:creationId xmlns:a16="http://schemas.microsoft.com/office/drawing/2014/main" id="{19F8392E-7BEB-4975-8DED-FBDECF2D2350}"/>
                          </a:ext>
                        </a:extLst>
                      </p:cNvPr>
                      <p:cNvPicPr/>
                      <p:nvPr/>
                    </p:nvPicPr>
                    <p:blipFill>
                      <a:blip r:embed="rId3"/>
                      <a:stretch>
                        <a:fillRect/>
                      </a:stretch>
                    </p:blipFill>
                    <p:spPr>
                      <a:xfrm>
                        <a:off x="1064568" y="4235384"/>
                        <a:ext cx="6129337" cy="2232025"/>
                      </a:xfrm>
                      <a:prstGeom prst="rect">
                        <a:avLst/>
                      </a:prstGeom>
                    </p:spPr>
                  </p:pic>
                </p:oleObj>
              </mc:Fallback>
            </mc:AlternateContent>
          </a:graphicData>
        </a:graphic>
      </p:graphicFrame>
      <p:sp>
        <p:nvSpPr>
          <p:cNvPr id="3" name="矩形 2">
            <a:extLst>
              <a:ext uri="{FF2B5EF4-FFF2-40B4-BE49-F238E27FC236}">
                <a16:creationId xmlns:a16="http://schemas.microsoft.com/office/drawing/2014/main" id="{655DB6F9-1115-487A-A74D-23A34FC80C7A}"/>
              </a:ext>
            </a:extLst>
          </p:cNvPr>
          <p:cNvSpPr/>
          <p:nvPr/>
        </p:nvSpPr>
        <p:spPr bwMode="auto">
          <a:xfrm>
            <a:off x="7761312" y="4202496"/>
            <a:ext cx="1728192" cy="620535"/>
          </a:xfrm>
          <a:prstGeom prst="rect">
            <a:avLst/>
          </a:prstGeom>
          <a:solidFill>
            <a:srgbClr val="FFFF00"/>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r>
              <a:rPr kumimoji="0" lang="zh-CN" altLang="en-US" sz="2400" b="0" i="0" u="none" strike="noStrike" cap="none" normalizeH="0" baseline="0" dirty="0">
                <a:ln>
                  <a:noFill/>
                </a:ln>
                <a:solidFill>
                  <a:schemeClr val="tx1"/>
                </a:solidFill>
                <a:effectLst/>
                <a:latin typeface="Arial" charset="0"/>
              </a:rPr>
              <a:t>物品的价值</a:t>
            </a:r>
          </a:p>
        </p:txBody>
      </p:sp>
      <p:cxnSp>
        <p:nvCxnSpPr>
          <p:cNvPr id="10" name="直接箭头连接符 9">
            <a:extLst>
              <a:ext uri="{FF2B5EF4-FFF2-40B4-BE49-F238E27FC236}">
                <a16:creationId xmlns:a16="http://schemas.microsoft.com/office/drawing/2014/main" id="{1EBBADFC-E3EE-49F9-B95F-73CD182566AA}"/>
              </a:ext>
            </a:extLst>
          </p:cNvPr>
          <p:cNvCxnSpPr/>
          <p:nvPr/>
        </p:nvCxnSpPr>
        <p:spPr bwMode="auto">
          <a:xfrm flipH="1">
            <a:off x="5961112" y="4553591"/>
            <a:ext cx="1728192" cy="459585"/>
          </a:xfrm>
          <a:prstGeom prst="straightConnector1">
            <a:avLst/>
          </a:prstGeom>
          <a:solidFill>
            <a:schemeClr val="accent1"/>
          </a:solidFill>
          <a:ln w="9525" cap="flat" cmpd="sng" algn="ctr">
            <a:solidFill>
              <a:schemeClr val="tx1"/>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Tree>
    <p:extLst>
      <p:ext uri="{BB962C8B-B14F-4D97-AF65-F5344CB8AC3E}">
        <p14:creationId xmlns:p14="http://schemas.microsoft.com/office/powerpoint/2010/main" val="107249130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6" presetClass="entr" presetSubtype="21" fill="hold" nodeType="after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barn(inVertical)">
                                      <p:cBhvr>
                                        <p:cTn id="7" dur="500"/>
                                        <p:tgtEl>
                                          <p:spTgt spid="8"/>
                                        </p:tgtEl>
                                      </p:cBhvr>
                                    </p:animEffect>
                                  </p:childTnLst>
                                </p:cTn>
                              </p:par>
                            </p:childTnLst>
                          </p:cTn>
                        </p:par>
                        <p:par>
                          <p:cTn id="8" fill="hold">
                            <p:stCondLst>
                              <p:cond delay="500"/>
                            </p:stCondLst>
                            <p:childTnLst>
                              <p:par>
                                <p:cTn id="9" presetID="22" presetClass="entr" presetSubtype="4" fill="hold" grpId="0" nodeType="afterEffect">
                                  <p:stCondLst>
                                    <p:cond delay="0"/>
                                  </p:stCondLst>
                                  <p:childTnLst>
                                    <p:set>
                                      <p:cBhvr>
                                        <p:cTn id="10" dur="1" fill="hold">
                                          <p:stCondLst>
                                            <p:cond delay="0"/>
                                          </p:stCondLst>
                                        </p:cTn>
                                        <p:tgtEl>
                                          <p:spTgt spid="3"/>
                                        </p:tgtEl>
                                        <p:attrNameLst>
                                          <p:attrName>style.visibility</p:attrName>
                                        </p:attrNameLst>
                                      </p:cBhvr>
                                      <p:to>
                                        <p:strVal val="visible"/>
                                      </p:to>
                                    </p:set>
                                    <p:animEffect transition="in" filter="wipe(down)">
                                      <p:cBhvr>
                                        <p:cTn id="11" dur="500"/>
                                        <p:tgtEl>
                                          <p:spTgt spid="3"/>
                                        </p:tgtEl>
                                      </p:cBhvr>
                                    </p:animEffect>
                                  </p:childTnLst>
                                </p:cTn>
                              </p:par>
                            </p:childTnLst>
                          </p:cTn>
                        </p:par>
                        <p:par>
                          <p:cTn id="12" fill="hold">
                            <p:stCondLst>
                              <p:cond delay="1000"/>
                            </p:stCondLst>
                            <p:childTnLst>
                              <p:par>
                                <p:cTn id="13" presetID="22" presetClass="entr" presetSubtype="4" fill="hold" nodeType="afterEffect">
                                  <p:stCondLst>
                                    <p:cond delay="0"/>
                                  </p:stCondLst>
                                  <p:childTnLst>
                                    <p:set>
                                      <p:cBhvr>
                                        <p:cTn id="14" dur="1" fill="hold">
                                          <p:stCondLst>
                                            <p:cond delay="0"/>
                                          </p:stCondLst>
                                        </p:cTn>
                                        <p:tgtEl>
                                          <p:spTgt spid="10"/>
                                        </p:tgtEl>
                                        <p:attrNameLst>
                                          <p:attrName>style.visibility</p:attrName>
                                        </p:attrNameLst>
                                      </p:cBhvr>
                                      <p:to>
                                        <p:strVal val="visible"/>
                                      </p:to>
                                    </p:set>
                                    <p:animEffect transition="in" filter="wipe(down)">
                                      <p:cBhvr>
                                        <p:cTn id="15"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3CB3613-6C0F-4C1D-A675-C37A5C13FD5D}"/>
              </a:ext>
            </a:extLst>
          </p:cNvPr>
          <p:cNvSpPr>
            <a:spLocks noGrp="1"/>
          </p:cNvSpPr>
          <p:nvPr>
            <p:ph type="title"/>
          </p:nvPr>
        </p:nvSpPr>
        <p:spPr/>
        <p:txBody>
          <a:bodyPr/>
          <a:lstStyle/>
          <a:p>
            <a:r>
              <a:rPr lang="zh-CN" altLang="en-US" dirty="0"/>
              <a:t>蚁群算法求解</a:t>
            </a:r>
            <a:r>
              <a:rPr lang="en-US" altLang="zh-CN" dirty="0"/>
              <a:t>0-1</a:t>
            </a:r>
            <a:r>
              <a:rPr lang="zh-CN" altLang="en-US" dirty="0"/>
              <a:t>背包问题主要步骤</a:t>
            </a:r>
          </a:p>
        </p:txBody>
      </p:sp>
      <p:sp>
        <p:nvSpPr>
          <p:cNvPr id="4" name="日期占位符 3">
            <a:extLst>
              <a:ext uri="{FF2B5EF4-FFF2-40B4-BE49-F238E27FC236}">
                <a16:creationId xmlns:a16="http://schemas.microsoft.com/office/drawing/2014/main" id="{3E2BB2EE-6EEB-4C2E-A8F0-42DF55393453}"/>
              </a:ext>
            </a:extLst>
          </p:cNvPr>
          <p:cNvSpPr>
            <a:spLocks noGrp="1"/>
          </p:cNvSpPr>
          <p:nvPr>
            <p:ph type="dt" sz="half" idx="10"/>
          </p:nvPr>
        </p:nvSpPr>
        <p:spPr/>
        <p:txBody>
          <a:bodyPr/>
          <a:lstStyle/>
          <a:p>
            <a:fld id="{A8B06C41-1E1E-4B9B-9644-5AFB8CB2AB3B}" type="datetime3">
              <a:rPr lang="zh-CN" altLang="en-US" smtClean="0"/>
              <a:t>2022年11月24日星期四</a:t>
            </a:fld>
            <a:endParaRPr lang="en-US" altLang="zh-CN" dirty="0"/>
          </a:p>
        </p:txBody>
      </p:sp>
      <p:sp>
        <p:nvSpPr>
          <p:cNvPr id="5" name="灯片编号占位符 4">
            <a:extLst>
              <a:ext uri="{FF2B5EF4-FFF2-40B4-BE49-F238E27FC236}">
                <a16:creationId xmlns:a16="http://schemas.microsoft.com/office/drawing/2014/main" id="{77290CBB-9F08-4633-A34F-9CB4CDFDC628}"/>
              </a:ext>
            </a:extLst>
          </p:cNvPr>
          <p:cNvSpPr>
            <a:spLocks noGrp="1"/>
          </p:cNvSpPr>
          <p:nvPr>
            <p:ph type="sldNum" sz="quarter" idx="12"/>
          </p:nvPr>
        </p:nvSpPr>
        <p:spPr/>
        <p:txBody>
          <a:bodyPr/>
          <a:lstStyle/>
          <a:p>
            <a:fld id="{7AC79822-BC0D-4DE8-A7E5-90A3732A2B82}" type="slidenum">
              <a:rPr lang="zh-CN" altLang="en-US" smtClean="0"/>
              <a:pPr/>
              <a:t>60</a:t>
            </a:fld>
            <a:endParaRPr lang="en-US" altLang="zh-CN" dirty="0"/>
          </a:p>
        </p:txBody>
      </p:sp>
      <p:sp>
        <p:nvSpPr>
          <p:cNvPr id="6" name="文本占位符 3">
            <a:extLst>
              <a:ext uri="{FF2B5EF4-FFF2-40B4-BE49-F238E27FC236}">
                <a16:creationId xmlns:a16="http://schemas.microsoft.com/office/drawing/2014/main" id="{96273EA2-DD61-418B-A336-0BF6982887BE}"/>
              </a:ext>
            </a:extLst>
          </p:cNvPr>
          <p:cNvSpPr txBox="1">
            <a:spLocks/>
          </p:cNvSpPr>
          <p:nvPr/>
        </p:nvSpPr>
        <p:spPr>
          <a:xfrm>
            <a:off x="128464" y="1124744"/>
            <a:ext cx="9649072" cy="1440160"/>
          </a:xfrm>
          <a:prstGeom prst="rect">
            <a:avLst/>
          </a:prstGeom>
        </p:spPr>
        <p:txBody>
          <a:bodyPr/>
          <a:lstStyle>
            <a:lvl1pPr marL="342900" indent="-342900" algn="l" rtl="0" eaLnBrk="1" fontAlgn="base" hangingPunct="1">
              <a:spcBef>
                <a:spcPct val="20000"/>
              </a:spcBef>
              <a:spcAft>
                <a:spcPct val="0"/>
              </a:spcAft>
              <a:buClr>
                <a:srgbClr val="333399"/>
              </a:buClr>
              <a:buSzPct val="75000"/>
              <a:buFont typeface="Wingdings" panose="05000000000000000000" pitchFamily="2" charset="2"/>
              <a:buChar char=""/>
              <a:defRPr sz="3200" b="1">
                <a:solidFill>
                  <a:schemeClr val="tx1"/>
                </a:solidFill>
                <a:latin typeface="+mn-lt"/>
                <a:ea typeface="黑体" pitchFamily="2" charset="-122"/>
                <a:cs typeface="+mn-cs"/>
              </a:defRPr>
            </a:lvl1pPr>
            <a:lvl2pPr marL="742950" indent="-285750" algn="l" rtl="0" eaLnBrk="1" fontAlgn="base" hangingPunct="1">
              <a:spcBef>
                <a:spcPct val="20000"/>
              </a:spcBef>
              <a:spcAft>
                <a:spcPct val="0"/>
              </a:spcAft>
              <a:buClr>
                <a:schemeClr val="accent2"/>
              </a:buClr>
              <a:buSzPct val="70000"/>
              <a:buFont typeface="Wingdings" panose="05000000000000000000" pitchFamily="2" charset="2"/>
              <a:buChar char=""/>
              <a:defRPr sz="2800" b="1">
                <a:solidFill>
                  <a:schemeClr val="tx1"/>
                </a:solidFill>
                <a:latin typeface="+mn-lt"/>
                <a:ea typeface="黑体" pitchFamily="2" charset="-122"/>
              </a:defRPr>
            </a:lvl2pPr>
            <a:lvl3pPr marL="1143000" indent="-228600" algn="l" rtl="0" eaLnBrk="1" fontAlgn="base" hangingPunct="1">
              <a:spcBef>
                <a:spcPct val="20000"/>
              </a:spcBef>
              <a:spcAft>
                <a:spcPct val="0"/>
              </a:spcAft>
              <a:buClr>
                <a:srgbClr val="333399"/>
              </a:buClr>
              <a:buSzPct val="65000"/>
              <a:buFont typeface="Wingdings" panose="05000000000000000000" pitchFamily="2" charset="2"/>
              <a:buChar char=""/>
              <a:defRPr sz="2400" b="1">
                <a:solidFill>
                  <a:schemeClr val="tx1"/>
                </a:solidFill>
                <a:latin typeface="+mn-lt"/>
                <a:ea typeface="黑体" pitchFamily="2" charset="-122"/>
              </a:defRPr>
            </a:lvl3pPr>
            <a:lvl4pPr marL="1600200" indent="-228600" algn="l" rtl="0" eaLnBrk="1" fontAlgn="base" hangingPunct="1">
              <a:spcBef>
                <a:spcPct val="20000"/>
              </a:spcBef>
              <a:spcAft>
                <a:spcPct val="0"/>
              </a:spcAft>
              <a:buClr>
                <a:schemeClr val="bg2"/>
              </a:buClr>
              <a:buSzPct val="65000"/>
              <a:buFont typeface="Wingdings" pitchFamily="2" charset="2"/>
              <a:buChar char="n"/>
              <a:defRPr sz="2000" b="1">
                <a:solidFill>
                  <a:schemeClr val="tx1"/>
                </a:solidFill>
                <a:latin typeface="+mn-lt"/>
                <a:ea typeface="黑体" pitchFamily="2" charset="-122"/>
              </a:defRPr>
            </a:lvl4pPr>
            <a:lvl5pPr marL="2057400" indent="-228600" algn="l" rtl="0" eaLnBrk="1" fontAlgn="base" hangingPunct="1">
              <a:spcBef>
                <a:spcPct val="20000"/>
              </a:spcBef>
              <a:spcAft>
                <a:spcPct val="0"/>
              </a:spcAft>
              <a:buClr>
                <a:srgbClr val="333399"/>
              </a:buClr>
              <a:buSzPct val="60000"/>
              <a:buFont typeface="Wingdings" panose="05000000000000000000" pitchFamily="2" charset="2"/>
              <a:buChar char="Ø"/>
              <a:defRPr sz="2000" b="1">
                <a:solidFill>
                  <a:schemeClr val="tx1"/>
                </a:solidFill>
                <a:latin typeface="+mn-lt"/>
                <a:ea typeface="黑体" pitchFamily="2" charset="-122"/>
              </a:defRPr>
            </a:lvl5pPr>
            <a:lvl6pPr marL="25146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defRPr>
            </a:lvl6pPr>
            <a:lvl7pPr marL="29718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defRPr>
            </a:lvl7pPr>
            <a:lvl8pPr marL="34290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defRPr>
            </a:lvl8pPr>
            <a:lvl9pPr marL="38862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defRPr>
            </a:lvl9pPr>
          </a:lstStyle>
          <a:p>
            <a:pPr marL="0" indent="0">
              <a:buNone/>
            </a:pPr>
            <a:r>
              <a:rPr lang="en-US" altLang="zh-CN" sz="2400" kern="0" dirty="0">
                <a:latin typeface="黑体" panose="02010609060101010101" pitchFamily="49" charset="-122"/>
                <a:ea typeface="黑体" panose="02010609060101010101" pitchFamily="49" charset="-122"/>
              </a:rPr>
              <a:t>3.</a:t>
            </a:r>
            <a:r>
              <a:rPr lang="zh-CN" altLang="en-US" sz="2400" kern="0" dirty="0">
                <a:latin typeface="黑体" panose="02010609060101010101" pitchFamily="49" charset="-122"/>
                <a:ea typeface="黑体" panose="02010609060101010101" pitchFamily="49" charset="-122"/>
              </a:rPr>
              <a:t>更新信息素：</a:t>
            </a:r>
            <a:endParaRPr lang="en-US" altLang="zh-CN" sz="2400" kern="0" dirty="0">
              <a:latin typeface="黑体" panose="02010609060101010101" pitchFamily="49" charset="-122"/>
              <a:ea typeface="黑体" panose="02010609060101010101" pitchFamily="49" charset="-122"/>
            </a:endParaRPr>
          </a:p>
          <a:p>
            <a:pPr marL="0" indent="0">
              <a:buNone/>
            </a:pPr>
            <a:r>
              <a:rPr lang="zh-CN" altLang="en-US" sz="2400" b="0" kern="0" dirty="0">
                <a:latin typeface="黑体" panose="02010609060101010101" pitchFamily="49" charset="-122"/>
                <a:ea typeface="黑体" panose="02010609060101010101" pitchFamily="49" charset="-122"/>
              </a:rPr>
              <a:t>计算各个蚂蚁经过的路径长度</a:t>
            </a:r>
            <a:r>
              <a:rPr lang="en-US" altLang="zh-CN" sz="2400" b="0" kern="0" dirty="0">
                <a:latin typeface="黑体" panose="02010609060101010101" pitchFamily="49" charset="-122"/>
                <a:ea typeface="黑体" panose="02010609060101010101" pitchFamily="49" charset="-122"/>
              </a:rPr>
              <a:t>L</a:t>
            </a:r>
            <a:r>
              <a:rPr lang="zh-CN" altLang="en-US" sz="2400" b="0" kern="0" dirty="0">
                <a:latin typeface="黑体" panose="02010609060101010101" pitchFamily="49" charset="-122"/>
                <a:ea typeface="黑体" panose="02010609060101010101" pitchFamily="49" charset="-122"/>
              </a:rPr>
              <a:t>，记录当前迭代次数中的最优解（最短路径）。同时，对各个城市连接路径上的</a:t>
            </a:r>
            <a:r>
              <a:rPr lang="zh-CN" altLang="en-US" sz="2400" b="0" kern="0" dirty="0">
                <a:solidFill>
                  <a:srgbClr val="FF0000"/>
                </a:solidFill>
                <a:latin typeface="黑体" panose="02010609060101010101" pitchFamily="49" charset="-122"/>
                <a:ea typeface="黑体" panose="02010609060101010101" pitchFamily="49" charset="-122"/>
              </a:rPr>
              <a:t>信息素浓度</a:t>
            </a:r>
            <a:r>
              <a:rPr lang="zh-CN" altLang="en-US" sz="2400" b="0" kern="0" dirty="0">
                <a:latin typeface="黑体" panose="02010609060101010101" pitchFamily="49" charset="-122"/>
                <a:ea typeface="黑体" panose="02010609060101010101" pitchFamily="49" charset="-122"/>
              </a:rPr>
              <a:t>进行</a:t>
            </a:r>
            <a:r>
              <a:rPr lang="zh-CN" altLang="en-US" sz="2400" b="0" kern="0" dirty="0">
                <a:solidFill>
                  <a:srgbClr val="FF0000"/>
                </a:solidFill>
                <a:latin typeface="黑体" panose="02010609060101010101" pitchFamily="49" charset="-122"/>
                <a:ea typeface="黑体" panose="02010609060101010101" pitchFamily="49" charset="-122"/>
              </a:rPr>
              <a:t>更新</a:t>
            </a:r>
            <a:r>
              <a:rPr lang="zh-CN" altLang="en-US" sz="2400" b="0" kern="0" dirty="0">
                <a:solidFill>
                  <a:schemeClr val="tx1">
                    <a:lumMod val="65000"/>
                    <a:lumOff val="35000"/>
                  </a:schemeClr>
                </a:solidFill>
                <a:latin typeface="黑体" panose="02010609060101010101" pitchFamily="49" charset="-122"/>
                <a:ea typeface="黑体" panose="02010609060101010101" pitchFamily="49" charset="-122"/>
              </a:rPr>
              <a:t>。</a:t>
            </a:r>
            <a:endParaRPr lang="en-US" altLang="zh-CN" sz="2400" b="0" kern="0" dirty="0">
              <a:solidFill>
                <a:schemeClr val="tx1">
                  <a:lumMod val="65000"/>
                  <a:lumOff val="35000"/>
                </a:schemeClr>
              </a:solidFill>
              <a:latin typeface="黑体" panose="02010609060101010101" pitchFamily="49" charset="-122"/>
              <a:ea typeface="黑体" panose="02010609060101010101" pitchFamily="49" charset="-122"/>
            </a:endParaRPr>
          </a:p>
          <a:p>
            <a:pPr marL="0" indent="0">
              <a:buNone/>
            </a:pPr>
            <a:endParaRPr lang="en-US" altLang="zh-CN" sz="2400" kern="0" dirty="0">
              <a:solidFill>
                <a:schemeClr val="tx1">
                  <a:lumMod val="65000"/>
                  <a:lumOff val="35000"/>
                </a:schemeClr>
              </a:solidFill>
              <a:latin typeface="黑体" panose="02010609060101010101" pitchFamily="49" charset="-122"/>
              <a:ea typeface="黑体" panose="02010609060101010101" pitchFamily="49" charset="-122"/>
            </a:endParaRPr>
          </a:p>
        </p:txBody>
      </p:sp>
      <p:sp>
        <p:nvSpPr>
          <p:cNvPr id="7" name="文本框 6">
            <a:extLst>
              <a:ext uri="{FF2B5EF4-FFF2-40B4-BE49-F238E27FC236}">
                <a16:creationId xmlns:a16="http://schemas.microsoft.com/office/drawing/2014/main" id="{CE301053-040D-4F33-BDB5-BD7FAF168752}"/>
              </a:ext>
            </a:extLst>
          </p:cNvPr>
          <p:cNvSpPr txBox="1"/>
          <p:nvPr/>
        </p:nvSpPr>
        <p:spPr>
          <a:xfrm>
            <a:off x="685852" y="4748548"/>
            <a:ext cx="7816263" cy="1569660"/>
          </a:xfrm>
          <a:prstGeom prst="rect">
            <a:avLst/>
          </a:prstGeom>
          <a:noFill/>
        </p:spPr>
        <p:txBody>
          <a:bodyPr wrap="square" rtlCol="0">
            <a:spAutoFit/>
          </a:bodyPr>
          <a:lstStyle/>
          <a:p>
            <a:r>
              <a:rPr lang="zh-CN" altLang="en-US" sz="2400" dirty="0"/>
              <a:t>对于</a:t>
            </a:r>
            <a:r>
              <a:rPr lang="en-US" altLang="zh-CN" sz="2400" dirty="0"/>
              <a:t>0-1</a:t>
            </a:r>
            <a:r>
              <a:rPr lang="zh-CN" altLang="en-US" sz="2400" dirty="0"/>
              <a:t>背包问题，在这一步需要作如下改变：</a:t>
            </a:r>
            <a:endParaRPr lang="en-US" altLang="zh-CN" sz="2400" dirty="0"/>
          </a:p>
          <a:p>
            <a:pPr marL="457200" indent="-457200">
              <a:buFont typeface="+mj-ea"/>
              <a:buAutoNum type="circleNumDbPlain"/>
            </a:pPr>
            <a:r>
              <a:rPr lang="zh-CN" altLang="en-US" sz="2400" dirty="0"/>
              <a:t>所有蚂蚁都完成本次迭代后，进行更新，采用的是蚁周模型，记录总价值最大的蚂蚁编号</a:t>
            </a:r>
            <a:endParaRPr lang="en-US" altLang="zh-CN" sz="2400" dirty="0"/>
          </a:p>
          <a:p>
            <a:pPr marL="457200" indent="-457200">
              <a:buFont typeface="+mj-ea"/>
              <a:buAutoNum type="circleNumDbPlain"/>
            </a:pPr>
            <a:r>
              <a:rPr lang="zh-CN" altLang="en-US" sz="2400" dirty="0"/>
              <a:t>信息素浓度计算公式需要改进为</a:t>
            </a:r>
            <a:endParaRPr lang="en-US" altLang="zh-CN" sz="2400" dirty="0"/>
          </a:p>
        </p:txBody>
      </p:sp>
      <p:graphicFrame>
        <p:nvGraphicFramePr>
          <p:cNvPr id="8" name="对象 7">
            <a:extLst>
              <a:ext uri="{FF2B5EF4-FFF2-40B4-BE49-F238E27FC236}">
                <a16:creationId xmlns:a16="http://schemas.microsoft.com/office/drawing/2014/main" id="{C1F5A8CA-7B86-4EB4-9EBD-C8774503B38E}"/>
              </a:ext>
            </a:extLst>
          </p:cNvPr>
          <p:cNvGraphicFramePr>
            <a:graphicFrameLocks noChangeAspect="1"/>
          </p:cNvGraphicFramePr>
          <p:nvPr/>
        </p:nvGraphicFramePr>
        <p:xfrm>
          <a:off x="2387545" y="2968403"/>
          <a:ext cx="4412878" cy="1780145"/>
        </p:xfrm>
        <a:graphic>
          <a:graphicData uri="http://schemas.openxmlformats.org/presentationml/2006/ole">
            <mc:AlternateContent xmlns:mc="http://schemas.openxmlformats.org/markup-compatibility/2006">
              <mc:Choice xmlns:v="urn:schemas-microsoft-com:vml" Requires="v">
                <p:oleObj name="Equation" r:id="rId2" imgW="1701720" imgH="685800" progId="Equation.DSMT4">
                  <p:embed/>
                </p:oleObj>
              </mc:Choice>
              <mc:Fallback>
                <p:oleObj name="Equation" r:id="rId2" imgW="1701720" imgH="685800" progId="Equation.DSMT4">
                  <p:embed/>
                  <p:pic>
                    <p:nvPicPr>
                      <p:cNvPr id="8" name="对象 7">
                        <a:extLst>
                          <a:ext uri="{FF2B5EF4-FFF2-40B4-BE49-F238E27FC236}">
                            <a16:creationId xmlns:a16="http://schemas.microsoft.com/office/drawing/2014/main" id="{C1F5A8CA-7B86-4EB4-9EBD-C8774503B38E}"/>
                          </a:ext>
                        </a:extLst>
                      </p:cNvPr>
                      <p:cNvPicPr/>
                      <p:nvPr/>
                    </p:nvPicPr>
                    <p:blipFill>
                      <a:blip r:embed="rId3"/>
                      <a:stretch>
                        <a:fillRect/>
                      </a:stretch>
                    </p:blipFill>
                    <p:spPr>
                      <a:xfrm>
                        <a:off x="2387545" y="2968403"/>
                        <a:ext cx="4412878" cy="1780145"/>
                      </a:xfrm>
                      <a:prstGeom prst="rect">
                        <a:avLst/>
                      </a:prstGeom>
                    </p:spPr>
                  </p:pic>
                </p:oleObj>
              </mc:Fallback>
            </mc:AlternateContent>
          </a:graphicData>
        </a:graphic>
      </p:graphicFrame>
      <p:graphicFrame>
        <p:nvGraphicFramePr>
          <p:cNvPr id="9" name="对象 8">
            <a:extLst>
              <a:ext uri="{FF2B5EF4-FFF2-40B4-BE49-F238E27FC236}">
                <a16:creationId xmlns:a16="http://schemas.microsoft.com/office/drawing/2014/main" id="{45FA6358-662A-4EE0-8046-11A0785D4AEB}"/>
              </a:ext>
            </a:extLst>
          </p:cNvPr>
          <p:cNvGraphicFramePr>
            <a:graphicFrameLocks noChangeAspect="1"/>
          </p:cNvGraphicFramePr>
          <p:nvPr/>
        </p:nvGraphicFramePr>
        <p:xfrm>
          <a:off x="1424608" y="2047875"/>
          <a:ext cx="6535738" cy="1381125"/>
        </p:xfrm>
        <a:graphic>
          <a:graphicData uri="http://schemas.openxmlformats.org/presentationml/2006/ole">
            <mc:AlternateContent xmlns:mc="http://schemas.openxmlformats.org/markup-compatibility/2006">
              <mc:Choice xmlns:v="urn:schemas-microsoft-com:vml" Requires="v">
                <p:oleObj name="Equation" r:id="rId4" imgW="2044440" imgH="431640" progId="Equation.DSMT4">
                  <p:embed/>
                </p:oleObj>
              </mc:Choice>
              <mc:Fallback>
                <p:oleObj name="Equation" r:id="rId4" imgW="2044440" imgH="431640" progId="Equation.DSMT4">
                  <p:embed/>
                  <p:pic>
                    <p:nvPicPr>
                      <p:cNvPr id="9" name="对象 8">
                        <a:extLst>
                          <a:ext uri="{FF2B5EF4-FFF2-40B4-BE49-F238E27FC236}">
                            <a16:creationId xmlns:a16="http://schemas.microsoft.com/office/drawing/2014/main" id="{45FA6358-662A-4EE0-8046-11A0785D4AEB}"/>
                          </a:ext>
                        </a:extLst>
                      </p:cNvPr>
                      <p:cNvPicPr/>
                      <p:nvPr/>
                    </p:nvPicPr>
                    <p:blipFill>
                      <a:blip r:embed="rId5"/>
                      <a:stretch>
                        <a:fillRect/>
                      </a:stretch>
                    </p:blipFill>
                    <p:spPr>
                      <a:xfrm>
                        <a:off x="1424608" y="2047875"/>
                        <a:ext cx="6535738" cy="1381125"/>
                      </a:xfrm>
                      <a:prstGeom prst="rect">
                        <a:avLst/>
                      </a:prstGeom>
                    </p:spPr>
                  </p:pic>
                </p:oleObj>
              </mc:Fallback>
            </mc:AlternateContent>
          </a:graphicData>
        </a:graphic>
      </p:graphicFrame>
      <p:graphicFrame>
        <p:nvGraphicFramePr>
          <p:cNvPr id="10" name="对象 9">
            <a:extLst>
              <a:ext uri="{FF2B5EF4-FFF2-40B4-BE49-F238E27FC236}">
                <a16:creationId xmlns:a16="http://schemas.microsoft.com/office/drawing/2014/main" id="{3CF4204D-27B8-421D-ACFD-F4B80583D6C2}"/>
              </a:ext>
            </a:extLst>
          </p:cNvPr>
          <p:cNvGraphicFramePr>
            <a:graphicFrameLocks noChangeAspect="1"/>
          </p:cNvGraphicFramePr>
          <p:nvPr/>
        </p:nvGraphicFramePr>
        <p:xfrm>
          <a:off x="5745088" y="5766816"/>
          <a:ext cx="1744662" cy="658813"/>
        </p:xfrm>
        <a:graphic>
          <a:graphicData uri="http://schemas.openxmlformats.org/presentationml/2006/ole">
            <mc:AlternateContent xmlns:mc="http://schemas.openxmlformats.org/markup-compatibility/2006">
              <mc:Choice xmlns:v="urn:schemas-microsoft-com:vml" Requires="v">
                <p:oleObj name="Equation" r:id="rId6" imgW="672840" imgH="253800" progId="Equation.DSMT4">
                  <p:embed/>
                </p:oleObj>
              </mc:Choice>
              <mc:Fallback>
                <p:oleObj name="Equation" r:id="rId6" imgW="672840" imgH="253800" progId="Equation.DSMT4">
                  <p:embed/>
                  <p:pic>
                    <p:nvPicPr>
                      <p:cNvPr id="10" name="对象 9">
                        <a:extLst>
                          <a:ext uri="{FF2B5EF4-FFF2-40B4-BE49-F238E27FC236}">
                            <a16:creationId xmlns:a16="http://schemas.microsoft.com/office/drawing/2014/main" id="{3CF4204D-27B8-421D-ACFD-F4B80583D6C2}"/>
                          </a:ext>
                        </a:extLst>
                      </p:cNvPr>
                      <p:cNvPicPr/>
                      <p:nvPr/>
                    </p:nvPicPr>
                    <p:blipFill>
                      <a:blip r:embed="rId7"/>
                      <a:stretch>
                        <a:fillRect/>
                      </a:stretch>
                    </p:blipFill>
                    <p:spPr>
                      <a:xfrm>
                        <a:off x="5745088" y="5766816"/>
                        <a:ext cx="1744662" cy="658813"/>
                      </a:xfrm>
                      <a:prstGeom prst="rect">
                        <a:avLst/>
                      </a:prstGeom>
                    </p:spPr>
                  </p:pic>
                </p:oleObj>
              </mc:Fallback>
            </mc:AlternateContent>
          </a:graphicData>
        </a:graphic>
      </p:graphicFrame>
      <p:sp>
        <p:nvSpPr>
          <p:cNvPr id="11" name="矩形 10">
            <a:extLst>
              <a:ext uri="{FF2B5EF4-FFF2-40B4-BE49-F238E27FC236}">
                <a16:creationId xmlns:a16="http://schemas.microsoft.com/office/drawing/2014/main" id="{5C89DA91-94D7-4470-B450-1E2190CD0417}"/>
              </a:ext>
            </a:extLst>
          </p:cNvPr>
          <p:cNvSpPr/>
          <p:nvPr/>
        </p:nvSpPr>
        <p:spPr bwMode="auto">
          <a:xfrm>
            <a:off x="8049344" y="5565613"/>
            <a:ext cx="1728192" cy="898834"/>
          </a:xfrm>
          <a:prstGeom prst="rect">
            <a:avLst/>
          </a:prstGeom>
          <a:solidFill>
            <a:srgbClr val="FFFF00"/>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r>
              <a:rPr kumimoji="0" lang="zh-CN" altLang="en-US" sz="2400" b="0" i="0" u="none" strike="noStrike" cap="none" normalizeH="0" baseline="0" dirty="0">
                <a:ln>
                  <a:noFill/>
                </a:ln>
                <a:solidFill>
                  <a:schemeClr val="tx1"/>
                </a:solidFill>
                <a:effectLst/>
                <a:latin typeface="Arial" charset="0"/>
              </a:rPr>
              <a:t>蚂蚁</a:t>
            </a:r>
            <a:r>
              <a:rPr kumimoji="0" lang="en-US" altLang="zh-CN" sz="2400" b="0" i="0" u="none" strike="noStrike" cap="none" normalizeH="0" baseline="0" dirty="0">
                <a:ln>
                  <a:noFill/>
                </a:ln>
                <a:solidFill>
                  <a:schemeClr val="tx1"/>
                </a:solidFill>
                <a:effectLst/>
                <a:latin typeface="Arial" charset="0"/>
              </a:rPr>
              <a:t>k</a:t>
            </a:r>
            <a:r>
              <a:rPr kumimoji="0" lang="zh-CN" altLang="en-US" sz="2400" b="0" i="0" u="none" strike="noStrike" cap="none" normalizeH="0" baseline="0" dirty="0">
                <a:ln>
                  <a:noFill/>
                </a:ln>
                <a:solidFill>
                  <a:schemeClr val="tx1"/>
                </a:solidFill>
                <a:effectLst/>
                <a:latin typeface="Arial" charset="0"/>
              </a:rPr>
              <a:t>装入物品总价值</a:t>
            </a:r>
          </a:p>
        </p:txBody>
      </p:sp>
      <p:cxnSp>
        <p:nvCxnSpPr>
          <p:cNvPr id="12" name="直接箭头连接符 11">
            <a:extLst>
              <a:ext uri="{FF2B5EF4-FFF2-40B4-BE49-F238E27FC236}">
                <a16:creationId xmlns:a16="http://schemas.microsoft.com/office/drawing/2014/main" id="{9CBE6B84-004B-4469-A168-1A6B75E7A564}"/>
              </a:ext>
            </a:extLst>
          </p:cNvPr>
          <p:cNvCxnSpPr>
            <a:cxnSpLocks/>
          </p:cNvCxnSpPr>
          <p:nvPr/>
        </p:nvCxnSpPr>
        <p:spPr bwMode="auto">
          <a:xfrm flipH="1">
            <a:off x="7329264" y="6045230"/>
            <a:ext cx="609345" cy="0"/>
          </a:xfrm>
          <a:prstGeom prst="straightConnector1">
            <a:avLst/>
          </a:prstGeom>
          <a:solidFill>
            <a:schemeClr val="accent1"/>
          </a:solidFill>
          <a:ln w="9525" cap="flat" cmpd="sng" algn="ctr">
            <a:solidFill>
              <a:schemeClr val="tx1"/>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Tree>
    <p:extLst>
      <p:ext uri="{BB962C8B-B14F-4D97-AF65-F5344CB8AC3E}">
        <p14:creationId xmlns:p14="http://schemas.microsoft.com/office/powerpoint/2010/main" val="40304850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4" fill="hold" nodeType="with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animEffect transition="in" filter="wipe(down)">
                                      <p:cBhvr>
                                        <p:cTn id="7" dur="500"/>
                                        <p:tgtEl>
                                          <p:spTgt spid="6">
                                            <p:txEl>
                                              <p:pRg st="0" end="0"/>
                                            </p:txEl>
                                          </p:spTgt>
                                        </p:tgtEl>
                                      </p:cBhvr>
                                    </p:animEffect>
                                  </p:childTnLst>
                                </p:cTn>
                              </p:par>
                              <p:par>
                                <p:cTn id="8" presetID="22" presetClass="entr" presetSubtype="4" fill="hold" nodeType="withEffect">
                                  <p:stCondLst>
                                    <p:cond delay="0"/>
                                  </p:stCondLst>
                                  <p:childTnLst>
                                    <p:set>
                                      <p:cBhvr>
                                        <p:cTn id="9" dur="1" fill="hold">
                                          <p:stCondLst>
                                            <p:cond delay="0"/>
                                          </p:stCondLst>
                                        </p:cTn>
                                        <p:tgtEl>
                                          <p:spTgt spid="6">
                                            <p:txEl>
                                              <p:pRg st="1" end="1"/>
                                            </p:txEl>
                                          </p:spTgt>
                                        </p:tgtEl>
                                        <p:attrNameLst>
                                          <p:attrName>style.visibility</p:attrName>
                                        </p:attrNameLst>
                                      </p:cBhvr>
                                      <p:to>
                                        <p:strVal val="visible"/>
                                      </p:to>
                                    </p:set>
                                    <p:animEffect transition="in" filter="wipe(down)">
                                      <p:cBhvr>
                                        <p:cTn id="10" dur="500"/>
                                        <p:tgtEl>
                                          <p:spTgt spid="6">
                                            <p:txEl>
                                              <p:pRg st="1" end="1"/>
                                            </p:txEl>
                                          </p:spTgt>
                                        </p:tgtEl>
                                      </p:cBhvr>
                                    </p:animEffect>
                                  </p:childTnLst>
                                </p:cTn>
                              </p:par>
                            </p:childTnLst>
                          </p:cTn>
                        </p:par>
                        <p:par>
                          <p:cTn id="11" fill="hold">
                            <p:stCondLst>
                              <p:cond delay="500"/>
                            </p:stCondLst>
                            <p:childTnLst>
                              <p:par>
                                <p:cTn id="12" presetID="16" presetClass="entr" presetSubtype="21" fill="hold" nodeType="afterEffect">
                                  <p:stCondLst>
                                    <p:cond delay="0"/>
                                  </p:stCondLst>
                                  <p:childTnLst>
                                    <p:set>
                                      <p:cBhvr>
                                        <p:cTn id="13" dur="1" fill="hold">
                                          <p:stCondLst>
                                            <p:cond delay="0"/>
                                          </p:stCondLst>
                                        </p:cTn>
                                        <p:tgtEl>
                                          <p:spTgt spid="9"/>
                                        </p:tgtEl>
                                        <p:attrNameLst>
                                          <p:attrName>style.visibility</p:attrName>
                                        </p:attrNameLst>
                                      </p:cBhvr>
                                      <p:to>
                                        <p:strVal val="visible"/>
                                      </p:to>
                                    </p:set>
                                    <p:animEffect transition="in" filter="barn(inVertical)">
                                      <p:cBhvr>
                                        <p:cTn id="14" dur="500"/>
                                        <p:tgtEl>
                                          <p:spTgt spid="9"/>
                                        </p:tgtEl>
                                      </p:cBhvr>
                                    </p:animEffect>
                                  </p:childTnLst>
                                </p:cTn>
                              </p:par>
                            </p:childTnLst>
                          </p:cTn>
                        </p:par>
                        <p:par>
                          <p:cTn id="15" fill="hold">
                            <p:stCondLst>
                              <p:cond delay="1000"/>
                            </p:stCondLst>
                            <p:childTnLst>
                              <p:par>
                                <p:cTn id="16" presetID="16" presetClass="entr" presetSubtype="21" fill="hold" nodeType="afterEffect">
                                  <p:stCondLst>
                                    <p:cond delay="0"/>
                                  </p:stCondLst>
                                  <p:childTnLst>
                                    <p:set>
                                      <p:cBhvr>
                                        <p:cTn id="17" dur="1" fill="hold">
                                          <p:stCondLst>
                                            <p:cond delay="0"/>
                                          </p:stCondLst>
                                        </p:cTn>
                                        <p:tgtEl>
                                          <p:spTgt spid="8"/>
                                        </p:tgtEl>
                                        <p:attrNameLst>
                                          <p:attrName>style.visibility</p:attrName>
                                        </p:attrNameLst>
                                      </p:cBhvr>
                                      <p:to>
                                        <p:strVal val="visible"/>
                                      </p:to>
                                    </p:set>
                                    <p:animEffect transition="in" filter="barn(inVertical)">
                                      <p:cBhvr>
                                        <p:cTn id="18" dur="500"/>
                                        <p:tgtEl>
                                          <p:spTgt spid="8"/>
                                        </p:tgtEl>
                                      </p:cBhvr>
                                    </p:animEffect>
                                  </p:childTnLst>
                                </p:cTn>
                              </p:par>
                            </p:childTnLst>
                          </p:cTn>
                        </p:par>
                      </p:childTnLst>
                    </p:cTn>
                  </p:par>
                  <p:par>
                    <p:cTn id="19" fill="hold">
                      <p:stCondLst>
                        <p:cond delay="indefinite"/>
                      </p:stCondLst>
                      <p:childTnLst>
                        <p:par>
                          <p:cTn id="20" fill="hold">
                            <p:stCondLst>
                              <p:cond delay="0"/>
                            </p:stCondLst>
                            <p:childTnLst>
                              <p:par>
                                <p:cTn id="21" presetID="2" presetClass="entr" presetSubtype="4" fill="hold" grpId="0" nodeType="clickEffect">
                                  <p:stCondLst>
                                    <p:cond delay="0"/>
                                  </p:stCondLst>
                                  <p:childTnLst>
                                    <p:set>
                                      <p:cBhvr>
                                        <p:cTn id="22" dur="1" fill="hold">
                                          <p:stCondLst>
                                            <p:cond delay="0"/>
                                          </p:stCondLst>
                                        </p:cTn>
                                        <p:tgtEl>
                                          <p:spTgt spid="7"/>
                                        </p:tgtEl>
                                        <p:attrNameLst>
                                          <p:attrName>style.visibility</p:attrName>
                                        </p:attrNameLst>
                                      </p:cBhvr>
                                      <p:to>
                                        <p:strVal val="visible"/>
                                      </p:to>
                                    </p:set>
                                    <p:anim calcmode="lin" valueType="num">
                                      <p:cBhvr additive="base">
                                        <p:cTn id="23" dur="500" fill="hold"/>
                                        <p:tgtEl>
                                          <p:spTgt spid="7"/>
                                        </p:tgtEl>
                                        <p:attrNameLst>
                                          <p:attrName>ppt_x</p:attrName>
                                        </p:attrNameLst>
                                      </p:cBhvr>
                                      <p:tavLst>
                                        <p:tav tm="0">
                                          <p:val>
                                            <p:strVal val="#ppt_x"/>
                                          </p:val>
                                        </p:tav>
                                        <p:tav tm="100000">
                                          <p:val>
                                            <p:strVal val="#ppt_x"/>
                                          </p:val>
                                        </p:tav>
                                      </p:tavLst>
                                    </p:anim>
                                    <p:anim calcmode="lin" valueType="num">
                                      <p:cBhvr additive="base">
                                        <p:cTn id="24" dur="500" fill="hold"/>
                                        <p:tgtEl>
                                          <p:spTgt spid="7"/>
                                        </p:tgtEl>
                                        <p:attrNameLst>
                                          <p:attrName>ppt_y</p:attrName>
                                        </p:attrNameLst>
                                      </p:cBhvr>
                                      <p:tavLst>
                                        <p:tav tm="0">
                                          <p:val>
                                            <p:strVal val="1+#ppt_h/2"/>
                                          </p:val>
                                        </p:tav>
                                        <p:tav tm="100000">
                                          <p:val>
                                            <p:strVal val="#ppt_y"/>
                                          </p:val>
                                        </p:tav>
                                      </p:tavLst>
                                    </p:anim>
                                  </p:childTnLst>
                                </p:cTn>
                              </p:par>
                            </p:childTnLst>
                          </p:cTn>
                        </p:par>
                        <p:par>
                          <p:cTn id="25" fill="hold">
                            <p:stCondLst>
                              <p:cond delay="500"/>
                            </p:stCondLst>
                            <p:childTnLst>
                              <p:par>
                                <p:cTn id="26" presetID="16" presetClass="entr" presetSubtype="21" fill="hold" nodeType="afterEffect">
                                  <p:stCondLst>
                                    <p:cond delay="0"/>
                                  </p:stCondLst>
                                  <p:childTnLst>
                                    <p:set>
                                      <p:cBhvr>
                                        <p:cTn id="27" dur="1" fill="hold">
                                          <p:stCondLst>
                                            <p:cond delay="0"/>
                                          </p:stCondLst>
                                        </p:cTn>
                                        <p:tgtEl>
                                          <p:spTgt spid="10"/>
                                        </p:tgtEl>
                                        <p:attrNameLst>
                                          <p:attrName>style.visibility</p:attrName>
                                        </p:attrNameLst>
                                      </p:cBhvr>
                                      <p:to>
                                        <p:strVal val="visible"/>
                                      </p:to>
                                    </p:set>
                                    <p:animEffect transition="in" filter="barn(inVertical)">
                                      <p:cBhvr>
                                        <p:cTn id="28" dur="500"/>
                                        <p:tgtEl>
                                          <p:spTgt spid="10"/>
                                        </p:tgtEl>
                                      </p:cBhvr>
                                    </p:animEffect>
                                  </p:childTnLst>
                                </p:cTn>
                              </p:par>
                            </p:childTnLst>
                          </p:cTn>
                        </p:par>
                        <p:par>
                          <p:cTn id="29" fill="hold">
                            <p:stCondLst>
                              <p:cond delay="1000"/>
                            </p:stCondLst>
                            <p:childTnLst>
                              <p:par>
                                <p:cTn id="30" presetID="22" presetClass="entr" presetSubtype="4" fill="hold" nodeType="afterEffect">
                                  <p:stCondLst>
                                    <p:cond delay="0"/>
                                  </p:stCondLst>
                                  <p:childTnLst>
                                    <p:set>
                                      <p:cBhvr>
                                        <p:cTn id="31" dur="1" fill="hold">
                                          <p:stCondLst>
                                            <p:cond delay="0"/>
                                          </p:stCondLst>
                                        </p:cTn>
                                        <p:tgtEl>
                                          <p:spTgt spid="12"/>
                                        </p:tgtEl>
                                        <p:attrNameLst>
                                          <p:attrName>style.visibility</p:attrName>
                                        </p:attrNameLst>
                                      </p:cBhvr>
                                      <p:to>
                                        <p:strVal val="visible"/>
                                      </p:to>
                                    </p:set>
                                    <p:animEffect transition="in" filter="wipe(down)">
                                      <p:cBhvr>
                                        <p:cTn id="32" dur="500"/>
                                        <p:tgtEl>
                                          <p:spTgt spid="12"/>
                                        </p:tgtEl>
                                      </p:cBhvr>
                                    </p:animEffect>
                                  </p:childTnLst>
                                </p:cTn>
                              </p:par>
                            </p:childTnLst>
                          </p:cTn>
                        </p:par>
                        <p:par>
                          <p:cTn id="33" fill="hold">
                            <p:stCondLst>
                              <p:cond delay="1500"/>
                            </p:stCondLst>
                            <p:childTnLst>
                              <p:par>
                                <p:cTn id="34" presetID="22" presetClass="entr" presetSubtype="4" fill="hold" grpId="0" nodeType="afterEffect">
                                  <p:stCondLst>
                                    <p:cond delay="0"/>
                                  </p:stCondLst>
                                  <p:childTnLst>
                                    <p:set>
                                      <p:cBhvr>
                                        <p:cTn id="35" dur="1" fill="hold">
                                          <p:stCondLst>
                                            <p:cond delay="0"/>
                                          </p:stCondLst>
                                        </p:cTn>
                                        <p:tgtEl>
                                          <p:spTgt spid="11"/>
                                        </p:tgtEl>
                                        <p:attrNameLst>
                                          <p:attrName>style.visibility</p:attrName>
                                        </p:attrNameLst>
                                      </p:cBhvr>
                                      <p:to>
                                        <p:strVal val="visible"/>
                                      </p:to>
                                    </p:set>
                                    <p:animEffect transition="in" filter="wipe(down)">
                                      <p:cBhvr>
                                        <p:cTn id="36"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11" grpId="0" animBg="1"/>
    </p:bld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3CB3613-6C0F-4C1D-A675-C37A5C13FD5D}"/>
              </a:ext>
            </a:extLst>
          </p:cNvPr>
          <p:cNvSpPr>
            <a:spLocks noGrp="1"/>
          </p:cNvSpPr>
          <p:nvPr>
            <p:ph type="title"/>
          </p:nvPr>
        </p:nvSpPr>
        <p:spPr/>
        <p:txBody>
          <a:bodyPr/>
          <a:lstStyle/>
          <a:p>
            <a:r>
              <a:rPr lang="zh-CN" altLang="en-US" dirty="0"/>
              <a:t>蚁群算法求解</a:t>
            </a:r>
            <a:r>
              <a:rPr lang="en-US" altLang="zh-CN" dirty="0"/>
              <a:t>0-1</a:t>
            </a:r>
            <a:r>
              <a:rPr lang="zh-CN" altLang="en-US" dirty="0"/>
              <a:t>背包问题主要步骤</a:t>
            </a:r>
          </a:p>
        </p:txBody>
      </p:sp>
      <p:sp>
        <p:nvSpPr>
          <p:cNvPr id="4" name="日期占位符 3">
            <a:extLst>
              <a:ext uri="{FF2B5EF4-FFF2-40B4-BE49-F238E27FC236}">
                <a16:creationId xmlns:a16="http://schemas.microsoft.com/office/drawing/2014/main" id="{3E2BB2EE-6EEB-4C2E-A8F0-42DF55393453}"/>
              </a:ext>
            </a:extLst>
          </p:cNvPr>
          <p:cNvSpPr>
            <a:spLocks noGrp="1"/>
          </p:cNvSpPr>
          <p:nvPr>
            <p:ph type="dt" sz="half" idx="10"/>
          </p:nvPr>
        </p:nvSpPr>
        <p:spPr/>
        <p:txBody>
          <a:bodyPr/>
          <a:lstStyle/>
          <a:p>
            <a:fld id="{A8B06C41-1E1E-4B9B-9644-5AFB8CB2AB3B}" type="datetime3">
              <a:rPr lang="zh-CN" altLang="en-US" smtClean="0"/>
              <a:t>2022年11月24日星期四</a:t>
            </a:fld>
            <a:endParaRPr lang="en-US" altLang="zh-CN" dirty="0"/>
          </a:p>
        </p:txBody>
      </p:sp>
      <p:sp>
        <p:nvSpPr>
          <p:cNvPr id="5" name="灯片编号占位符 4">
            <a:extLst>
              <a:ext uri="{FF2B5EF4-FFF2-40B4-BE49-F238E27FC236}">
                <a16:creationId xmlns:a16="http://schemas.microsoft.com/office/drawing/2014/main" id="{77290CBB-9F08-4633-A34F-9CB4CDFDC628}"/>
              </a:ext>
            </a:extLst>
          </p:cNvPr>
          <p:cNvSpPr>
            <a:spLocks noGrp="1"/>
          </p:cNvSpPr>
          <p:nvPr>
            <p:ph type="sldNum" sz="quarter" idx="12"/>
          </p:nvPr>
        </p:nvSpPr>
        <p:spPr/>
        <p:txBody>
          <a:bodyPr/>
          <a:lstStyle/>
          <a:p>
            <a:fld id="{7AC79822-BC0D-4DE8-A7E5-90A3732A2B82}" type="slidenum">
              <a:rPr lang="zh-CN" altLang="en-US" smtClean="0"/>
              <a:pPr/>
              <a:t>61</a:t>
            </a:fld>
            <a:endParaRPr lang="en-US" altLang="zh-CN" dirty="0"/>
          </a:p>
        </p:txBody>
      </p:sp>
      <p:sp>
        <p:nvSpPr>
          <p:cNvPr id="6" name="文本占位符 3">
            <a:extLst>
              <a:ext uri="{FF2B5EF4-FFF2-40B4-BE49-F238E27FC236}">
                <a16:creationId xmlns:a16="http://schemas.microsoft.com/office/drawing/2014/main" id="{96273EA2-DD61-418B-A336-0BF6982887BE}"/>
              </a:ext>
            </a:extLst>
          </p:cNvPr>
          <p:cNvSpPr txBox="1">
            <a:spLocks/>
          </p:cNvSpPr>
          <p:nvPr/>
        </p:nvSpPr>
        <p:spPr>
          <a:xfrm>
            <a:off x="128464" y="1124744"/>
            <a:ext cx="9649072" cy="1440160"/>
          </a:xfrm>
          <a:prstGeom prst="rect">
            <a:avLst/>
          </a:prstGeom>
        </p:spPr>
        <p:txBody>
          <a:bodyPr/>
          <a:lstStyle>
            <a:lvl1pPr marL="342900" indent="-342900" algn="l" rtl="0" eaLnBrk="1" fontAlgn="base" hangingPunct="1">
              <a:spcBef>
                <a:spcPct val="20000"/>
              </a:spcBef>
              <a:spcAft>
                <a:spcPct val="0"/>
              </a:spcAft>
              <a:buClr>
                <a:srgbClr val="333399"/>
              </a:buClr>
              <a:buSzPct val="75000"/>
              <a:buFont typeface="Wingdings" panose="05000000000000000000" pitchFamily="2" charset="2"/>
              <a:buChar char=""/>
              <a:defRPr sz="3200" b="1">
                <a:solidFill>
                  <a:schemeClr val="tx1"/>
                </a:solidFill>
                <a:latin typeface="+mn-lt"/>
                <a:ea typeface="黑体" pitchFamily="2" charset="-122"/>
                <a:cs typeface="+mn-cs"/>
              </a:defRPr>
            </a:lvl1pPr>
            <a:lvl2pPr marL="742950" indent="-285750" algn="l" rtl="0" eaLnBrk="1" fontAlgn="base" hangingPunct="1">
              <a:spcBef>
                <a:spcPct val="20000"/>
              </a:spcBef>
              <a:spcAft>
                <a:spcPct val="0"/>
              </a:spcAft>
              <a:buClr>
                <a:schemeClr val="accent2"/>
              </a:buClr>
              <a:buSzPct val="70000"/>
              <a:buFont typeface="Wingdings" panose="05000000000000000000" pitchFamily="2" charset="2"/>
              <a:buChar char=""/>
              <a:defRPr sz="2800" b="1">
                <a:solidFill>
                  <a:schemeClr val="tx1"/>
                </a:solidFill>
                <a:latin typeface="+mn-lt"/>
                <a:ea typeface="黑体" pitchFamily="2" charset="-122"/>
              </a:defRPr>
            </a:lvl2pPr>
            <a:lvl3pPr marL="1143000" indent="-228600" algn="l" rtl="0" eaLnBrk="1" fontAlgn="base" hangingPunct="1">
              <a:spcBef>
                <a:spcPct val="20000"/>
              </a:spcBef>
              <a:spcAft>
                <a:spcPct val="0"/>
              </a:spcAft>
              <a:buClr>
                <a:srgbClr val="333399"/>
              </a:buClr>
              <a:buSzPct val="65000"/>
              <a:buFont typeface="Wingdings" panose="05000000000000000000" pitchFamily="2" charset="2"/>
              <a:buChar char=""/>
              <a:defRPr sz="2400" b="1">
                <a:solidFill>
                  <a:schemeClr val="tx1"/>
                </a:solidFill>
                <a:latin typeface="+mn-lt"/>
                <a:ea typeface="黑体" pitchFamily="2" charset="-122"/>
              </a:defRPr>
            </a:lvl3pPr>
            <a:lvl4pPr marL="1600200" indent="-228600" algn="l" rtl="0" eaLnBrk="1" fontAlgn="base" hangingPunct="1">
              <a:spcBef>
                <a:spcPct val="20000"/>
              </a:spcBef>
              <a:spcAft>
                <a:spcPct val="0"/>
              </a:spcAft>
              <a:buClr>
                <a:schemeClr val="bg2"/>
              </a:buClr>
              <a:buSzPct val="65000"/>
              <a:buFont typeface="Wingdings" pitchFamily="2" charset="2"/>
              <a:buChar char="n"/>
              <a:defRPr sz="2000" b="1">
                <a:solidFill>
                  <a:schemeClr val="tx1"/>
                </a:solidFill>
                <a:latin typeface="+mn-lt"/>
                <a:ea typeface="黑体" pitchFamily="2" charset="-122"/>
              </a:defRPr>
            </a:lvl4pPr>
            <a:lvl5pPr marL="2057400" indent="-228600" algn="l" rtl="0" eaLnBrk="1" fontAlgn="base" hangingPunct="1">
              <a:spcBef>
                <a:spcPct val="20000"/>
              </a:spcBef>
              <a:spcAft>
                <a:spcPct val="0"/>
              </a:spcAft>
              <a:buClr>
                <a:srgbClr val="333399"/>
              </a:buClr>
              <a:buSzPct val="60000"/>
              <a:buFont typeface="Wingdings" panose="05000000000000000000" pitchFamily="2" charset="2"/>
              <a:buChar char="Ø"/>
              <a:defRPr sz="2000" b="1">
                <a:solidFill>
                  <a:schemeClr val="tx1"/>
                </a:solidFill>
                <a:latin typeface="+mn-lt"/>
                <a:ea typeface="黑体" pitchFamily="2" charset="-122"/>
              </a:defRPr>
            </a:lvl5pPr>
            <a:lvl6pPr marL="25146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defRPr>
            </a:lvl6pPr>
            <a:lvl7pPr marL="29718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defRPr>
            </a:lvl7pPr>
            <a:lvl8pPr marL="34290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defRPr>
            </a:lvl8pPr>
            <a:lvl9pPr marL="38862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defRPr>
            </a:lvl9pPr>
          </a:lstStyle>
          <a:p>
            <a:pPr marL="0" indent="0">
              <a:buNone/>
            </a:pPr>
            <a:r>
              <a:rPr lang="en-US" altLang="zh-CN" sz="2400" kern="0" dirty="0">
                <a:latin typeface="黑体" panose="02010609060101010101" pitchFamily="49" charset="-122"/>
                <a:ea typeface="黑体" panose="02010609060101010101" pitchFamily="49" charset="-122"/>
              </a:rPr>
              <a:t>4.</a:t>
            </a:r>
            <a:r>
              <a:rPr lang="zh-CN" altLang="en-US" sz="2400" kern="0" dirty="0">
                <a:latin typeface="黑体" panose="02010609060101010101" pitchFamily="49" charset="-122"/>
                <a:ea typeface="黑体" panose="02010609060101010101" pitchFamily="49" charset="-122"/>
              </a:rPr>
              <a:t>判断是否终止：</a:t>
            </a:r>
            <a:endParaRPr lang="en-US" altLang="zh-CN" sz="2400" kern="0" dirty="0">
              <a:latin typeface="黑体" panose="02010609060101010101" pitchFamily="49" charset="-122"/>
              <a:ea typeface="黑体" panose="02010609060101010101" pitchFamily="49" charset="-122"/>
            </a:endParaRPr>
          </a:p>
          <a:p>
            <a:pPr marL="0" indent="0">
              <a:buNone/>
            </a:pPr>
            <a:r>
              <a:rPr lang="zh-CN" altLang="en-US" sz="2400" b="0" kern="0" dirty="0">
                <a:latin typeface="黑体" panose="02010609060101010101" pitchFamily="49" charset="-122"/>
                <a:ea typeface="黑体" panose="02010609060101010101" pitchFamily="49" charset="-122"/>
              </a:rPr>
              <a:t>若迭代次数小于</a:t>
            </a:r>
            <a:r>
              <a:rPr lang="zh-CN" altLang="en-US" sz="2400" b="0" kern="0" dirty="0">
                <a:solidFill>
                  <a:srgbClr val="FF0000"/>
                </a:solidFill>
                <a:latin typeface="黑体" panose="02010609060101010101" pitchFamily="49" charset="-122"/>
                <a:ea typeface="黑体" panose="02010609060101010101" pitchFamily="49" charset="-122"/>
              </a:rPr>
              <a:t>最大迭代次数</a:t>
            </a:r>
            <a:r>
              <a:rPr lang="zh-CN" altLang="en-US" sz="2400" b="0" kern="0" dirty="0">
                <a:latin typeface="黑体" panose="02010609060101010101" pitchFamily="49" charset="-122"/>
                <a:ea typeface="黑体" panose="02010609060101010101" pitchFamily="49" charset="-122"/>
              </a:rPr>
              <a:t>则迭代次数加一，清空蚂蚁经过路径的记录表，并返回步骤二；否则终止计算，输出最优解。</a:t>
            </a:r>
            <a:endParaRPr lang="en-US" altLang="zh-CN" sz="2400" b="0" kern="0" dirty="0">
              <a:latin typeface="黑体" panose="02010609060101010101" pitchFamily="49" charset="-122"/>
              <a:ea typeface="黑体" panose="02010609060101010101" pitchFamily="49" charset="-122"/>
            </a:endParaRPr>
          </a:p>
          <a:p>
            <a:pPr marL="0" indent="0">
              <a:buNone/>
            </a:pPr>
            <a:endParaRPr lang="en-US" altLang="zh-CN" sz="2400" kern="0" dirty="0">
              <a:solidFill>
                <a:schemeClr val="tx1">
                  <a:lumMod val="65000"/>
                  <a:lumOff val="35000"/>
                </a:schemeClr>
              </a:solidFill>
              <a:latin typeface="黑体" panose="02010609060101010101" pitchFamily="49" charset="-122"/>
              <a:ea typeface="黑体" panose="02010609060101010101" pitchFamily="49" charset="-122"/>
            </a:endParaRPr>
          </a:p>
        </p:txBody>
      </p:sp>
      <p:sp>
        <p:nvSpPr>
          <p:cNvPr id="7" name="文本框 6">
            <a:extLst>
              <a:ext uri="{FF2B5EF4-FFF2-40B4-BE49-F238E27FC236}">
                <a16:creationId xmlns:a16="http://schemas.microsoft.com/office/drawing/2014/main" id="{CE301053-040D-4F33-BDB5-BD7FAF168752}"/>
              </a:ext>
            </a:extLst>
          </p:cNvPr>
          <p:cNvSpPr txBox="1"/>
          <p:nvPr/>
        </p:nvSpPr>
        <p:spPr>
          <a:xfrm>
            <a:off x="632520" y="2564904"/>
            <a:ext cx="7816263" cy="1569660"/>
          </a:xfrm>
          <a:prstGeom prst="rect">
            <a:avLst/>
          </a:prstGeom>
          <a:noFill/>
        </p:spPr>
        <p:txBody>
          <a:bodyPr wrap="square" rtlCol="0">
            <a:spAutoFit/>
          </a:bodyPr>
          <a:lstStyle/>
          <a:p>
            <a:r>
              <a:rPr lang="zh-CN" altLang="en-US" sz="2400" dirty="0"/>
              <a:t>对于</a:t>
            </a:r>
            <a:r>
              <a:rPr lang="en-US" altLang="zh-CN" sz="2400" dirty="0"/>
              <a:t>0-1</a:t>
            </a:r>
            <a:r>
              <a:rPr lang="zh-CN" altLang="en-US" sz="2400" dirty="0"/>
              <a:t>背包问题，在这一步需要作如下改变：</a:t>
            </a:r>
            <a:endParaRPr lang="en-US" altLang="zh-CN" sz="2400" dirty="0"/>
          </a:p>
          <a:p>
            <a:pPr marL="457200" indent="-457200">
              <a:buFont typeface="+mj-ea"/>
              <a:buAutoNum type="circleNumDbPlain"/>
            </a:pPr>
            <a:r>
              <a:rPr lang="zh-CN" altLang="en-US" sz="2400" dirty="0"/>
              <a:t>迭代结束后，选择最后一次迭代背包装入总价值最大的那只蚂蚁的路径作为最优解</a:t>
            </a:r>
            <a:endParaRPr lang="en-US" altLang="zh-CN" sz="2400" dirty="0"/>
          </a:p>
          <a:p>
            <a:pPr marL="457200" indent="-457200">
              <a:buFont typeface="+mj-ea"/>
              <a:buAutoNum type="circleNumDbPlain"/>
            </a:pPr>
            <a:endParaRPr lang="en-US" altLang="zh-CN" sz="2400" dirty="0"/>
          </a:p>
        </p:txBody>
      </p:sp>
    </p:spTree>
    <p:extLst>
      <p:ext uri="{BB962C8B-B14F-4D97-AF65-F5344CB8AC3E}">
        <p14:creationId xmlns:p14="http://schemas.microsoft.com/office/powerpoint/2010/main" val="333524077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4" fill="hold" nodeType="with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animEffect transition="in" filter="wipe(down)">
                                      <p:cBhvr>
                                        <p:cTn id="7" dur="500"/>
                                        <p:tgtEl>
                                          <p:spTgt spid="6">
                                            <p:txEl>
                                              <p:pRg st="0" end="0"/>
                                            </p:txEl>
                                          </p:spTgt>
                                        </p:tgtEl>
                                      </p:cBhvr>
                                    </p:animEffect>
                                  </p:childTnLst>
                                </p:cTn>
                              </p:par>
                              <p:par>
                                <p:cTn id="8" presetID="22" presetClass="entr" presetSubtype="4" fill="hold" nodeType="withEffect">
                                  <p:stCondLst>
                                    <p:cond delay="0"/>
                                  </p:stCondLst>
                                  <p:childTnLst>
                                    <p:set>
                                      <p:cBhvr>
                                        <p:cTn id="9" dur="1" fill="hold">
                                          <p:stCondLst>
                                            <p:cond delay="0"/>
                                          </p:stCondLst>
                                        </p:cTn>
                                        <p:tgtEl>
                                          <p:spTgt spid="6">
                                            <p:txEl>
                                              <p:pRg st="1" end="1"/>
                                            </p:txEl>
                                          </p:spTgt>
                                        </p:tgtEl>
                                        <p:attrNameLst>
                                          <p:attrName>style.visibility</p:attrName>
                                        </p:attrNameLst>
                                      </p:cBhvr>
                                      <p:to>
                                        <p:strVal val="visible"/>
                                      </p:to>
                                    </p:set>
                                    <p:animEffect transition="in" filter="wipe(down)">
                                      <p:cBhvr>
                                        <p:cTn id="10" dur="500"/>
                                        <p:tgtEl>
                                          <p:spTgt spid="6">
                                            <p:txEl>
                                              <p:pRg st="1" end="1"/>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2" presetClass="entr" presetSubtype="4" fill="hold" grpId="0" nodeType="clickEffect">
                                  <p:stCondLst>
                                    <p:cond delay="0"/>
                                  </p:stCondLst>
                                  <p:childTnLst>
                                    <p:set>
                                      <p:cBhvr>
                                        <p:cTn id="14" dur="1" fill="hold">
                                          <p:stCondLst>
                                            <p:cond delay="0"/>
                                          </p:stCondLst>
                                        </p:cTn>
                                        <p:tgtEl>
                                          <p:spTgt spid="7"/>
                                        </p:tgtEl>
                                        <p:attrNameLst>
                                          <p:attrName>style.visibility</p:attrName>
                                        </p:attrNameLst>
                                      </p:cBhvr>
                                      <p:to>
                                        <p:strVal val="visible"/>
                                      </p:to>
                                    </p:set>
                                    <p:anim calcmode="lin" valueType="num">
                                      <p:cBhvr additive="base">
                                        <p:cTn id="15" dur="500" fill="hold"/>
                                        <p:tgtEl>
                                          <p:spTgt spid="7"/>
                                        </p:tgtEl>
                                        <p:attrNameLst>
                                          <p:attrName>ppt_x</p:attrName>
                                        </p:attrNameLst>
                                      </p:cBhvr>
                                      <p:tavLst>
                                        <p:tav tm="0">
                                          <p:val>
                                            <p:strVal val="#ppt_x"/>
                                          </p:val>
                                        </p:tav>
                                        <p:tav tm="100000">
                                          <p:val>
                                            <p:strVal val="#ppt_x"/>
                                          </p:val>
                                        </p:tav>
                                      </p:tavLst>
                                    </p:anim>
                                    <p:anim calcmode="lin" valueType="num">
                                      <p:cBhvr additive="base">
                                        <p:cTn id="16" dur="500" fill="hold"/>
                                        <p:tgtEl>
                                          <p:spTgt spid="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6F1847A-D9EA-4952-9EAB-546E7C33711D}"/>
              </a:ext>
            </a:extLst>
          </p:cNvPr>
          <p:cNvSpPr>
            <a:spLocks noGrp="1"/>
          </p:cNvSpPr>
          <p:nvPr>
            <p:ph type="title"/>
          </p:nvPr>
        </p:nvSpPr>
        <p:spPr/>
        <p:txBody>
          <a:bodyPr/>
          <a:lstStyle/>
          <a:p>
            <a:r>
              <a:rPr lang="zh-CN" altLang="en-US" dirty="0"/>
              <a:t>启发式算法</a:t>
            </a:r>
            <a:r>
              <a:rPr lang="en-US" altLang="zh-CN" dirty="0"/>
              <a:t>—</a:t>
            </a:r>
            <a:r>
              <a:rPr lang="zh-CN" altLang="en-US" dirty="0"/>
              <a:t>蚁群算法</a:t>
            </a:r>
          </a:p>
        </p:txBody>
      </p:sp>
      <p:sp>
        <p:nvSpPr>
          <p:cNvPr id="3" name="内容占位符 2">
            <a:extLst>
              <a:ext uri="{FF2B5EF4-FFF2-40B4-BE49-F238E27FC236}">
                <a16:creationId xmlns:a16="http://schemas.microsoft.com/office/drawing/2014/main" id="{829A3CAE-6B9C-4C76-A27A-E18511CFCBD0}"/>
              </a:ext>
            </a:extLst>
          </p:cNvPr>
          <p:cNvSpPr>
            <a:spLocks noGrp="1"/>
          </p:cNvSpPr>
          <p:nvPr>
            <p:ph idx="1"/>
          </p:nvPr>
        </p:nvSpPr>
        <p:spPr/>
        <p:txBody>
          <a:bodyPr/>
          <a:lstStyle/>
          <a:p>
            <a:r>
              <a:rPr lang="zh-CN" altLang="en-US" dirty="0"/>
              <a:t>缺点和不足</a:t>
            </a:r>
            <a:endParaRPr lang="en-US" altLang="zh-CN" dirty="0"/>
          </a:p>
          <a:p>
            <a:pPr lvl="1"/>
            <a:r>
              <a:rPr lang="zh-CN" altLang="en-US" dirty="0"/>
              <a:t>1</a:t>
            </a:r>
            <a:r>
              <a:rPr lang="en-US" altLang="zh-CN" dirty="0"/>
              <a:t>.</a:t>
            </a:r>
            <a:r>
              <a:rPr lang="zh-CN" altLang="en-US" dirty="0"/>
              <a:t>收敛速度慢</a:t>
            </a:r>
            <a:endParaRPr lang="en-US" altLang="zh-CN" dirty="0"/>
          </a:p>
          <a:p>
            <a:pPr lvl="2"/>
            <a:r>
              <a:rPr lang="zh-CN" altLang="en-US" sz="2400" dirty="0"/>
              <a:t>蚁群算法中信息素初值相同，选择下一个节点时倾向于随机选择。虽然随机选择能探索更大的任务空间，有助于找到潜在的全局最优解，但是需要较长时间才能发挥正反馈的作用，导致算法初期收敛速度较慢。</a:t>
            </a:r>
            <a:endParaRPr lang="en-US" altLang="zh-CN" sz="2400" dirty="0"/>
          </a:p>
          <a:p>
            <a:pPr lvl="1"/>
            <a:endParaRPr lang="zh-CN" altLang="en-US" dirty="0"/>
          </a:p>
        </p:txBody>
      </p:sp>
      <p:sp>
        <p:nvSpPr>
          <p:cNvPr id="4" name="日期占位符 3">
            <a:extLst>
              <a:ext uri="{FF2B5EF4-FFF2-40B4-BE49-F238E27FC236}">
                <a16:creationId xmlns:a16="http://schemas.microsoft.com/office/drawing/2014/main" id="{6FB4FBD2-BB4B-4274-A867-A11620D30F5E}"/>
              </a:ext>
            </a:extLst>
          </p:cNvPr>
          <p:cNvSpPr>
            <a:spLocks noGrp="1"/>
          </p:cNvSpPr>
          <p:nvPr>
            <p:ph type="dt" sz="half" idx="10"/>
          </p:nvPr>
        </p:nvSpPr>
        <p:spPr/>
        <p:txBody>
          <a:bodyPr/>
          <a:lstStyle/>
          <a:p>
            <a:fld id="{A8B06C41-1E1E-4B9B-9644-5AFB8CB2AB3B}" type="datetime3">
              <a:rPr lang="zh-CN" altLang="en-US" smtClean="0"/>
              <a:t>2022年11月24日星期四</a:t>
            </a:fld>
            <a:endParaRPr lang="en-US" altLang="zh-CN" dirty="0"/>
          </a:p>
        </p:txBody>
      </p:sp>
      <p:sp>
        <p:nvSpPr>
          <p:cNvPr id="5" name="灯片编号占位符 4">
            <a:extLst>
              <a:ext uri="{FF2B5EF4-FFF2-40B4-BE49-F238E27FC236}">
                <a16:creationId xmlns:a16="http://schemas.microsoft.com/office/drawing/2014/main" id="{B8399F92-555C-4277-B01D-1A0DF7C9962F}"/>
              </a:ext>
            </a:extLst>
          </p:cNvPr>
          <p:cNvSpPr>
            <a:spLocks noGrp="1"/>
          </p:cNvSpPr>
          <p:nvPr>
            <p:ph type="sldNum" sz="quarter" idx="12"/>
          </p:nvPr>
        </p:nvSpPr>
        <p:spPr/>
        <p:txBody>
          <a:bodyPr/>
          <a:lstStyle/>
          <a:p>
            <a:fld id="{7AC79822-BC0D-4DE8-A7E5-90A3732A2B82}" type="slidenum">
              <a:rPr lang="zh-CN" altLang="en-US" smtClean="0"/>
              <a:pPr/>
              <a:t>62</a:t>
            </a:fld>
            <a:endParaRPr lang="en-US" altLang="zh-CN" dirty="0"/>
          </a:p>
        </p:txBody>
      </p:sp>
    </p:spTree>
    <p:extLst>
      <p:ext uri="{BB962C8B-B14F-4D97-AF65-F5344CB8AC3E}">
        <p14:creationId xmlns:p14="http://schemas.microsoft.com/office/powerpoint/2010/main" val="68356325"/>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6F1847A-D9EA-4952-9EAB-546E7C33711D}"/>
              </a:ext>
            </a:extLst>
          </p:cNvPr>
          <p:cNvSpPr>
            <a:spLocks noGrp="1"/>
          </p:cNvSpPr>
          <p:nvPr>
            <p:ph type="title"/>
          </p:nvPr>
        </p:nvSpPr>
        <p:spPr/>
        <p:txBody>
          <a:bodyPr/>
          <a:lstStyle/>
          <a:p>
            <a:r>
              <a:rPr lang="zh-CN" altLang="en-US" dirty="0"/>
              <a:t>启发式算法</a:t>
            </a:r>
            <a:r>
              <a:rPr lang="en-US" altLang="zh-CN" dirty="0"/>
              <a:t>—</a:t>
            </a:r>
            <a:r>
              <a:rPr lang="zh-CN" altLang="en-US" dirty="0"/>
              <a:t>蚁群算法</a:t>
            </a:r>
          </a:p>
        </p:txBody>
      </p:sp>
      <p:sp>
        <p:nvSpPr>
          <p:cNvPr id="3" name="内容占位符 2">
            <a:extLst>
              <a:ext uri="{FF2B5EF4-FFF2-40B4-BE49-F238E27FC236}">
                <a16:creationId xmlns:a16="http://schemas.microsoft.com/office/drawing/2014/main" id="{829A3CAE-6B9C-4C76-A27A-E18511CFCBD0}"/>
              </a:ext>
            </a:extLst>
          </p:cNvPr>
          <p:cNvSpPr>
            <a:spLocks noGrp="1"/>
          </p:cNvSpPr>
          <p:nvPr>
            <p:ph idx="1"/>
          </p:nvPr>
        </p:nvSpPr>
        <p:spPr/>
        <p:txBody>
          <a:bodyPr/>
          <a:lstStyle/>
          <a:p>
            <a:r>
              <a:rPr lang="zh-CN" altLang="en-US" dirty="0"/>
              <a:t>缺点和不足</a:t>
            </a:r>
            <a:endParaRPr lang="en-US" altLang="zh-CN" dirty="0"/>
          </a:p>
          <a:p>
            <a:pPr lvl="1"/>
            <a:r>
              <a:rPr lang="en-US" altLang="zh-CN" dirty="0"/>
              <a:t>2.</a:t>
            </a:r>
            <a:r>
              <a:rPr lang="zh-CN" altLang="en-US" dirty="0"/>
              <a:t> 局部最优问题。</a:t>
            </a:r>
            <a:endParaRPr lang="en-US" altLang="zh-CN" dirty="0"/>
          </a:p>
          <a:p>
            <a:pPr lvl="2"/>
            <a:r>
              <a:rPr lang="zh-CN" altLang="en-US" sz="2400" dirty="0"/>
              <a:t>蚁群算法具有正反馈的特点，初始时刻环境中的信息素完全相同，蚂蚁几乎按随机方式完成解的构建，这些解必然会存在优劣之分。在信息素更新时，蚁群算法在较优解经过的路径上留下更多的信息激素，而更多的信息激素又吸引了更多的蚂蚁，这个正反馈的过程迅速地扩大初始的差异，引导整个系统向最优解的方向进化。虽然正反馈使算法具有较好的收敛速度，但是如果算法开始得到的较优解为次优解， 那么正反馈会使次优解很快占据优势，使算法陷入局部最优，且难以跳出局部最优。</a:t>
            </a:r>
          </a:p>
        </p:txBody>
      </p:sp>
      <p:sp>
        <p:nvSpPr>
          <p:cNvPr id="4" name="日期占位符 3">
            <a:extLst>
              <a:ext uri="{FF2B5EF4-FFF2-40B4-BE49-F238E27FC236}">
                <a16:creationId xmlns:a16="http://schemas.microsoft.com/office/drawing/2014/main" id="{6FB4FBD2-BB4B-4274-A867-A11620D30F5E}"/>
              </a:ext>
            </a:extLst>
          </p:cNvPr>
          <p:cNvSpPr>
            <a:spLocks noGrp="1"/>
          </p:cNvSpPr>
          <p:nvPr>
            <p:ph type="dt" sz="half" idx="10"/>
          </p:nvPr>
        </p:nvSpPr>
        <p:spPr/>
        <p:txBody>
          <a:bodyPr/>
          <a:lstStyle/>
          <a:p>
            <a:fld id="{A8B06C41-1E1E-4B9B-9644-5AFB8CB2AB3B}" type="datetime3">
              <a:rPr lang="zh-CN" altLang="en-US" smtClean="0"/>
              <a:t>2022年11月24日星期四</a:t>
            </a:fld>
            <a:endParaRPr lang="en-US" altLang="zh-CN" dirty="0"/>
          </a:p>
        </p:txBody>
      </p:sp>
      <p:sp>
        <p:nvSpPr>
          <p:cNvPr id="5" name="灯片编号占位符 4">
            <a:extLst>
              <a:ext uri="{FF2B5EF4-FFF2-40B4-BE49-F238E27FC236}">
                <a16:creationId xmlns:a16="http://schemas.microsoft.com/office/drawing/2014/main" id="{B8399F92-555C-4277-B01D-1A0DF7C9962F}"/>
              </a:ext>
            </a:extLst>
          </p:cNvPr>
          <p:cNvSpPr>
            <a:spLocks noGrp="1"/>
          </p:cNvSpPr>
          <p:nvPr>
            <p:ph type="sldNum" sz="quarter" idx="12"/>
          </p:nvPr>
        </p:nvSpPr>
        <p:spPr/>
        <p:txBody>
          <a:bodyPr/>
          <a:lstStyle/>
          <a:p>
            <a:fld id="{7AC79822-BC0D-4DE8-A7E5-90A3732A2B82}" type="slidenum">
              <a:rPr lang="zh-CN" altLang="en-US" smtClean="0"/>
              <a:pPr/>
              <a:t>63</a:t>
            </a:fld>
            <a:endParaRPr lang="en-US" altLang="zh-CN" dirty="0"/>
          </a:p>
        </p:txBody>
      </p:sp>
    </p:spTree>
    <p:extLst>
      <p:ext uri="{BB962C8B-B14F-4D97-AF65-F5344CB8AC3E}">
        <p14:creationId xmlns:p14="http://schemas.microsoft.com/office/powerpoint/2010/main" val="3332837399"/>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6F1847A-D9EA-4952-9EAB-546E7C33711D}"/>
              </a:ext>
            </a:extLst>
          </p:cNvPr>
          <p:cNvSpPr>
            <a:spLocks noGrp="1"/>
          </p:cNvSpPr>
          <p:nvPr>
            <p:ph type="title"/>
          </p:nvPr>
        </p:nvSpPr>
        <p:spPr/>
        <p:txBody>
          <a:bodyPr/>
          <a:lstStyle/>
          <a:p>
            <a:r>
              <a:rPr lang="zh-CN" altLang="en-US" dirty="0"/>
              <a:t>启发式算法</a:t>
            </a:r>
            <a:r>
              <a:rPr lang="en-US" altLang="zh-CN" dirty="0"/>
              <a:t>—</a:t>
            </a:r>
            <a:r>
              <a:rPr lang="zh-CN" altLang="en-US" dirty="0"/>
              <a:t>蚁群算法</a:t>
            </a:r>
          </a:p>
        </p:txBody>
      </p:sp>
      <p:sp>
        <p:nvSpPr>
          <p:cNvPr id="3" name="内容占位符 2">
            <a:extLst>
              <a:ext uri="{FF2B5EF4-FFF2-40B4-BE49-F238E27FC236}">
                <a16:creationId xmlns:a16="http://schemas.microsoft.com/office/drawing/2014/main" id="{829A3CAE-6B9C-4C76-A27A-E18511CFCBD0}"/>
              </a:ext>
            </a:extLst>
          </p:cNvPr>
          <p:cNvSpPr>
            <a:spLocks noGrp="1"/>
          </p:cNvSpPr>
          <p:nvPr>
            <p:ph idx="1"/>
          </p:nvPr>
        </p:nvSpPr>
        <p:spPr/>
        <p:txBody>
          <a:bodyPr/>
          <a:lstStyle/>
          <a:p>
            <a:r>
              <a:rPr lang="zh-CN" altLang="en-US" dirty="0"/>
              <a:t>缺点和不足</a:t>
            </a:r>
            <a:endParaRPr lang="en-US" altLang="zh-CN" dirty="0"/>
          </a:p>
          <a:p>
            <a:pPr lvl="1"/>
            <a:r>
              <a:rPr lang="en-US" altLang="zh-CN" dirty="0"/>
              <a:t>3.</a:t>
            </a:r>
            <a:r>
              <a:rPr lang="zh-CN" altLang="en-US" dirty="0"/>
              <a:t> 优化能力问题。</a:t>
            </a:r>
            <a:endParaRPr lang="en-US" altLang="zh-CN" dirty="0"/>
          </a:p>
          <a:p>
            <a:pPr lvl="2"/>
            <a:r>
              <a:rPr lang="zh-CN" altLang="en-US" sz="2400" dirty="0"/>
              <a:t>蚁群算法中参数众多并且具有一定的关联性，虽然蚁群算法在很多领域都有广泛应用，但是参数选择更多是依赖经验和试错，不恰当的初始参数会减弱算法的寻优能力。当进行路径规划时，为避免形成环形路径或者重复访问某些节点在算法中设置禁忌表，但是禁忌表很容易造成“死锁”现象，减少种群中的有效蚂蚁数量，降低算法的优化效率。</a:t>
            </a:r>
          </a:p>
        </p:txBody>
      </p:sp>
      <p:sp>
        <p:nvSpPr>
          <p:cNvPr id="4" name="日期占位符 3">
            <a:extLst>
              <a:ext uri="{FF2B5EF4-FFF2-40B4-BE49-F238E27FC236}">
                <a16:creationId xmlns:a16="http://schemas.microsoft.com/office/drawing/2014/main" id="{6FB4FBD2-BB4B-4274-A867-A11620D30F5E}"/>
              </a:ext>
            </a:extLst>
          </p:cNvPr>
          <p:cNvSpPr>
            <a:spLocks noGrp="1"/>
          </p:cNvSpPr>
          <p:nvPr>
            <p:ph type="dt" sz="half" idx="10"/>
          </p:nvPr>
        </p:nvSpPr>
        <p:spPr/>
        <p:txBody>
          <a:bodyPr/>
          <a:lstStyle/>
          <a:p>
            <a:fld id="{A8B06C41-1E1E-4B9B-9644-5AFB8CB2AB3B}" type="datetime3">
              <a:rPr lang="zh-CN" altLang="en-US" smtClean="0"/>
              <a:t>2022年11月24日星期四</a:t>
            </a:fld>
            <a:endParaRPr lang="en-US" altLang="zh-CN" dirty="0"/>
          </a:p>
        </p:txBody>
      </p:sp>
      <p:sp>
        <p:nvSpPr>
          <p:cNvPr id="5" name="灯片编号占位符 4">
            <a:extLst>
              <a:ext uri="{FF2B5EF4-FFF2-40B4-BE49-F238E27FC236}">
                <a16:creationId xmlns:a16="http://schemas.microsoft.com/office/drawing/2014/main" id="{B8399F92-555C-4277-B01D-1A0DF7C9962F}"/>
              </a:ext>
            </a:extLst>
          </p:cNvPr>
          <p:cNvSpPr>
            <a:spLocks noGrp="1"/>
          </p:cNvSpPr>
          <p:nvPr>
            <p:ph type="sldNum" sz="quarter" idx="12"/>
          </p:nvPr>
        </p:nvSpPr>
        <p:spPr/>
        <p:txBody>
          <a:bodyPr/>
          <a:lstStyle/>
          <a:p>
            <a:fld id="{7AC79822-BC0D-4DE8-A7E5-90A3732A2B82}" type="slidenum">
              <a:rPr lang="zh-CN" altLang="en-US" smtClean="0"/>
              <a:pPr/>
              <a:t>64</a:t>
            </a:fld>
            <a:endParaRPr lang="en-US" altLang="zh-CN" dirty="0"/>
          </a:p>
        </p:txBody>
      </p:sp>
    </p:spTree>
    <p:extLst>
      <p:ext uri="{BB962C8B-B14F-4D97-AF65-F5344CB8AC3E}">
        <p14:creationId xmlns:p14="http://schemas.microsoft.com/office/powerpoint/2010/main" val="950865361"/>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6F1847A-D9EA-4952-9EAB-546E7C33711D}"/>
              </a:ext>
            </a:extLst>
          </p:cNvPr>
          <p:cNvSpPr>
            <a:spLocks noGrp="1"/>
          </p:cNvSpPr>
          <p:nvPr>
            <p:ph type="title"/>
          </p:nvPr>
        </p:nvSpPr>
        <p:spPr/>
        <p:txBody>
          <a:bodyPr/>
          <a:lstStyle/>
          <a:p>
            <a:r>
              <a:rPr lang="zh-CN" altLang="en-US" dirty="0"/>
              <a:t>启发式算法</a:t>
            </a:r>
            <a:r>
              <a:rPr lang="en-US" altLang="zh-CN" dirty="0"/>
              <a:t>—</a:t>
            </a:r>
            <a:r>
              <a:rPr lang="zh-CN" altLang="en-US" dirty="0"/>
              <a:t>蚁群算法</a:t>
            </a:r>
          </a:p>
        </p:txBody>
      </p:sp>
      <p:sp>
        <p:nvSpPr>
          <p:cNvPr id="3" name="内容占位符 2">
            <a:extLst>
              <a:ext uri="{FF2B5EF4-FFF2-40B4-BE49-F238E27FC236}">
                <a16:creationId xmlns:a16="http://schemas.microsoft.com/office/drawing/2014/main" id="{829A3CAE-6B9C-4C76-A27A-E18511CFCBD0}"/>
              </a:ext>
            </a:extLst>
          </p:cNvPr>
          <p:cNvSpPr>
            <a:spLocks noGrp="1"/>
          </p:cNvSpPr>
          <p:nvPr>
            <p:ph idx="1"/>
          </p:nvPr>
        </p:nvSpPr>
        <p:spPr/>
        <p:txBody>
          <a:bodyPr/>
          <a:lstStyle/>
          <a:p>
            <a:r>
              <a:rPr lang="zh-CN" altLang="en-US" dirty="0"/>
              <a:t>缺点和不足</a:t>
            </a:r>
            <a:endParaRPr lang="en-US" altLang="zh-CN" dirty="0"/>
          </a:p>
          <a:p>
            <a:pPr lvl="1"/>
            <a:r>
              <a:rPr lang="en-US" altLang="zh-CN" dirty="0"/>
              <a:t>4.</a:t>
            </a:r>
            <a:r>
              <a:rPr lang="zh-CN" altLang="en-US" dirty="0"/>
              <a:t> 种群多样性与收敛速度的矛盾</a:t>
            </a:r>
            <a:endParaRPr lang="en-US" altLang="zh-CN" dirty="0"/>
          </a:p>
          <a:p>
            <a:pPr lvl="2"/>
            <a:r>
              <a:rPr lang="zh-CN" altLang="en-US" sz="2400" dirty="0"/>
              <a:t>种群多样性对应于候选解在问题空间的分布。个体分布越均匀，种群多样性就越好，得到全局最优解的概率就越大，但是寻优时间就越长；个体分布越集中，种群多样性就越差，不利于发挥算法的探索能力。正反馈加快了蚁群算法的收敛速度，却使算法较早地集中于部分候选解，因此正反馈降低了种群的多样性，也不利于提高算法的全局寻优能力。。</a:t>
            </a:r>
          </a:p>
        </p:txBody>
      </p:sp>
      <p:sp>
        <p:nvSpPr>
          <p:cNvPr id="4" name="日期占位符 3">
            <a:extLst>
              <a:ext uri="{FF2B5EF4-FFF2-40B4-BE49-F238E27FC236}">
                <a16:creationId xmlns:a16="http://schemas.microsoft.com/office/drawing/2014/main" id="{6FB4FBD2-BB4B-4274-A867-A11620D30F5E}"/>
              </a:ext>
            </a:extLst>
          </p:cNvPr>
          <p:cNvSpPr>
            <a:spLocks noGrp="1"/>
          </p:cNvSpPr>
          <p:nvPr>
            <p:ph type="dt" sz="half" idx="10"/>
          </p:nvPr>
        </p:nvSpPr>
        <p:spPr/>
        <p:txBody>
          <a:bodyPr/>
          <a:lstStyle/>
          <a:p>
            <a:fld id="{A8B06C41-1E1E-4B9B-9644-5AFB8CB2AB3B}" type="datetime3">
              <a:rPr lang="zh-CN" altLang="en-US" smtClean="0"/>
              <a:t>2022年11月24日星期四</a:t>
            </a:fld>
            <a:endParaRPr lang="en-US" altLang="zh-CN" dirty="0"/>
          </a:p>
        </p:txBody>
      </p:sp>
      <p:sp>
        <p:nvSpPr>
          <p:cNvPr id="5" name="灯片编号占位符 4">
            <a:extLst>
              <a:ext uri="{FF2B5EF4-FFF2-40B4-BE49-F238E27FC236}">
                <a16:creationId xmlns:a16="http://schemas.microsoft.com/office/drawing/2014/main" id="{B8399F92-555C-4277-B01D-1A0DF7C9962F}"/>
              </a:ext>
            </a:extLst>
          </p:cNvPr>
          <p:cNvSpPr>
            <a:spLocks noGrp="1"/>
          </p:cNvSpPr>
          <p:nvPr>
            <p:ph type="sldNum" sz="quarter" idx="12"/>
          </p:nvPr>
        </p:nvSpPr>
        <p:spPr/>
        <p:txBody>
          <a:bodyPr/>
          <a:lstStyle/>
          <a:p>
            <a:fld id="{7AC79822-BC0D-4DE8-A7E5-90A3732A2B82}" type="slidenum">
              <a:rPr lang="zh-CN" altLang="en-US" smtClean="0"/>
              <a:pPr/>
              <a:t>65</a:t>
            </a:fld>
            <a:endParaRPr lang="en-US" altLang="zh-CN" dirty="0"/>
          </a:p>
        </p:txBody>
      </p:sp>
    </p:spTree>
    <p:extLst>
      <p:ext uri="{BB962C8B-B14F-4D97-AF65-F5344CB8AC3E}">
        <p14:creationId xmlns:p14="http://schemas.microsoft.com/office/powerpoint/2010/main" val="3631712327"/>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AB71E88-BD11-442F-9999-7F4246548140}"/>
              </a:ext>
            </a:extLst>
          </p:cNvPr>
          <p:cNvSpPr>
            <a:spLocks noGrp="1"/>
          </p:cNvSpPr>
          <p:nvPr>
            <p:ph type="title"/>
          </p:nvPr>
        </p:nvSpPr>
        <p:spPr/>
        <p:txBody>
          <a:bodyPr/>
          <a:lstStyle/>
          <a:p>
            <a:r>
              <a:rPr lang="zh-CN" altLang="en-US" dirty="0"/>
              <a:t>启发式算法</a:t>
            </a:r>
            <a:r>
              <a:rPr lang="en-US" altLang="zh-CN" dirty="0"/>
              <a:t>—</a:t>
            </a:r>
            <a:r>
              <a:rPr lang="zh-CN" altLang="en-US" dirty="0"/>
              <a:t>蚁群算法</a:t>
            </a:r>
          </a:p>
        </p:txBody>
      </p:sp>
      <p:sp>
        <p:nvSpPr>
          <p:cNvPr id="3" name="内容占位符 2">
            <a:extLst>
              <a:ext uri="{FF2B5EF4-FFF2-40B4-BE49-F238E27FC236}">
                <a16:creationId xmlns:a16="http://schemas.microsoft.com/office/drawing/2014/main" id="{872C8AB4-A22E-46FA-93A8-6A0803C81620}"/>
              </a:ext>
            </a:extLst>
          </p:cNvPr>
          <p:cNvSpPr>
            <a:spLocks noGrp="1"/>
          </p:cNvSpPr>
          <p:nvPr>
            <p:ph idx="1"/>
          </p:nvPr>
        </p:nvSpPr>
        <p:spPr/>
        <p:txBody>
          <a:bodyPr/>
          <a:lstStyle/>
          <a:p>
            <a:r>
              <a:rPr lang="zh-CN" altLang="en-US" dirty="0"/>
              <a:t>动手试一试</a:t>
            </a:r>
            <a:endParaRPr lang="en-US" altLang="zh-CN" dirty="0"/>
          </a:p>
          <a:p>
            <a:pPr lvl="1"/>
            <a:r>
              <a:rPr lang="zh-CN" altLang="en-US" dirty="0"/>
              <a:t>用任意编程语言实现蚁群算法解决</a:t>
            </a:r>
            <a:r>
              <a:rPr lang="en-US" altLang="zh-CN" dirty="0"/>
              <a:t>0-1</a:t>
            </a:r>
            <a:r>
              <a:rPr lang="zh-CN" altLang="en-US" dirty="0"/>
              <a:t>背包问题。</a:t>
            </a:r>
          </a:p>
        </p:txBody>
      </p:sp>
      <p:sp>
        <p:nvSpPr>
          <p:cNvPr id="4" name="日期占位符 3">
            <a:extLst>
              <a:ext uri="{FF2B5EF4-FFF2-40B4-BE49-F238E27FC236}">
                <a16:creationId xmlns:a16="http://schemas.microsoft.com/office/drawing/2014/main" id="{F1605A11-96FD-4FE2-81CA-673F52EF3906}"/>
              </a:ext>
            </a:extLst>
          </p:cNvPr>
          <p:cNvSpPr>
            <a:spLocks noGrp="1"/>
          </p:cNvSpPr>
          <p:nvPr>
            <p:ph type="dt" sz="half" idx="10"/>
          </p:nvPr>
        </p:nvSpPr>
        <p:spPr/>
        <p:txBody>
          <a:bodyPr/>
          <a:lstStyle/>
          <a:p>
            <a:fld id="{A8B06C41-1E1E-4B9B-9644-5AFB8CB2AB3B}" type="datetime3">
              <a:rPr lang="zh-CN" altLang="en-US" smtClean="0"/>
              <a:t>2022年11月24日星期四</a:t>
            </a:fld>
            <a:endParaRPr lang="en-US" altLang="zh-CN" dirty="0"/>
          </a:p>
        </p:txBody>
      </p:sp>
      <p:sp>
        <p:nvSpPr>
          <p:cNvPr id="5" name="灯片编号占位符 4">
            <a:extLst>
              <a:ext uri="{FF2B5EF4-FFF2-40B4-BE49-F238E27FC236}">
                <a16:creationId xmlns:a16="http://schemas.microsoft.com/office/drawing/2014/main" id="{3246C733-9438-48E6-9E0D-4FEE514B214E}"/>
              </a:ext>
            </a:extLst>
          </p:cNvPr>
          <p:cNvSpPr>
            <a:spLocks noGrp="1"/>
          </p:cNvSpPr>
          <p:nvPr>
            <p:ph type="sldNum" sz="quarter" idx="12"/>
          </p:nvPr>
        </p:nvSpPr>
        <p:spPr/>
        <p:txBody>
          <a:bodyPr/>
          <a:lstStyle/>
          <a:p>
            <a:fld id="{7AC79822-BC0D-4DE8-A7E5-90A3732A2B82}" type="slidenum">
              <a:rPr lang="zh-CN" altLang="en-US" smtClean="0"/>
              <a:pPr/>
              <a:t>66</a:t>
            </a:fld>
            <a:endParaRPr lang="en-US" altLang="zh-CN" dirty="0"/>
          </a:p>
        </p:txBody>
      </p:sp>
    </p:spTree>
    <p:extLst>
      <p:ext uri="{BB962C8B-B14F-4D97-AF65-F5344CB8AC3E}">
        <p14:creationId xmlns:p14="http://schemas.microsoft.com/office/powerpoint/2010/main" val="1783425666"/>
      </p:ext>
    </p:extLst>
  </p:cSld>
  <p:clrMapOvr>
    <a:masterClrMapping/>
  </p:clrMapOvr>
</p:sld>
</file>

<file path=ppt/theme/theme1.xml><?xml version="1.0" encoding="utf-8"?>
<a:theme xmlns:a="http://schemas.openxmlformats.org/drawingml/2006/main" name="Presentation">
  <a:themeElements>
    <a:clrScheme name="演示稿（水平） 9">
      <a:dk1>
        <a:srgbClr val="000000"/>
      </a:dk1>
      <a:lt1>
        <a:srgbClr val="FFFFFF"/>
      </a:lt1>
      <a:dk2>
        <a:srgbClr val="666699"/>
      </a:dk2>
      <a:lt2>
        <a:srgbClr val="FFCC00"/>
      </a:lt2>
      <a:accent1>
        <a:srgbClr val="FF9900"/>
      </a:accent1>
      <a:accent2>
        <a:srgbClr val="FF9900"/>
      </a:accent2>
      <a:accent3>
        <a:srgbClr val="FFFFFF"/>
      </a:accent3>
      <a:accent4>
        <a:srgbClr val="000000"/>
      </a:accent4>
      <a:accent5>
        <a:srgbClr val="FFCAAA"/>
      </a:accent5>
      <a:accent6>
        <a:srgbClr val="E78A00"/>
      </a:accent6>
      <a:hlink>
        <a:srgbClr val="666699"/>
      </a:hlink>
      <a:folHlink>
        <a:srgbClr val="999966"/>
      </a:folHlink>
    </a:clrScheme>
    <a:fontScheme name="演示稿（水平）">
      <a:majorFont>
        <a:latin typeface="Times New Roman"/>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1800" b="0" i="0" u="none" strike="noStrike" cap="none" normalizeH="0" baseline="0" smtClean="0">
            <a:ln>
              <a:noFill/>
            </a:ln>
            <a:solidFill>
              <a:schemeClr val="tx1"/>
            </a:solidFill>
            <a:effectLst/>
            <a:latin typeface="Arial"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1800" b="0" i="0" u="none" strike="noStrike" cap="none" normalizeH="0" baseline="0" smtClean="0">
            <a:ln>
              <a:noFill/>
            </a:ln>
            <a:solidFill>
              <a:schemeClr val="tx1"/>
            </a:solidFill>
            <a:effectLst/>
            <a:latin typeface="Arial" charset="0"/>
          </a:defRPr>
        </a:defPPr>
      </a:lstStyle>
    </a:lnDef>
  </a:objectDefaults>
  <a:extraClrSchemeLst>
    <a:extraClrScheme>
      <a:clrScheme name="演示稿（水平） 1">
        <a:dk1>
          <a:srgbClr val="006699"/>
        </a:dk1>
        <a:lt1>
          <a:srgbClr val="FFFFFF"/>
        </a:lt1>
        <a:dk2>
          <a:srgbClr val="000000"/>
        </a:dk2>
        <a:lt2>
          <a:srgbClr val="99FF99"/>
        </a:lt2>
        <a:accent1>
          <a:srgbClr val="00CC99"/>
        </a:accent1>
        <a:accent2>
          <a:srgbClr val="009999"/>
        </a:accent2>
        <a:accent3>
          <a:srgbClr val="AAAAAA"/>
        </a:accent3>
        <a:accent4>
          <a:srgbClr val="DADADA"/>
        </a:accent4>
        <a:accent5>
          <a:srgbClr val="AAE2CA"/>
        </a:accent5>
        <a:accent6>
          <a:srgbClr val="008A8A"/>
        </a:accent6>
        <a:hlink>
          <a:srgbClr val="0066FF"/>
        </a:hlink>
        <a:folHlink>
          <a:srgbClr val="989CBA"/>
        </a:folHlink>
      </a:clrScheme>
      <a:clrMap bg1="dk2" tx1="lt1" bg2="dk1" tx2="lt2" accent1="accent1" accent2="accent2" accent3="accent3" accent4="accent4" accent5="accent5" accent6="accent6" hlink="hlink" folHlink="folHlink"/>
    </a:extraClrScheme>
    <a:extraClrScheme>
      <a:clrScheme name="演示稿（水平） 2">
        <a:dk1>
          <a:srgbClr val="808000"/>
        </a:dk1>
        <a:lt1>
          <a:srgbClr val="FFFFFF"/>
        </a:lt1>
        <a:dk2>
          <a:srgbClr val="5C271E"/>
        </a:dk2>
        <a:lt2>
          <a:srgbClr val="FFDD89"/>
        </a:lt2>
        <a:accent1>
          <a:srgbClr val="CC6600"/>
        </a:accent1>
        <a:accent2>
          <a:srgbClr val="CC9900"/>
        </a:accent2>
        <a:accent3>
          <a:srgbClr val="B5ACAB"/>
        </a:accent3>
        <a:accent4>
          <a:srgbClr val="DADADA"/>
        </a:accent4>
        <a:accent5>
          <a:srgbClr val="E2B8AA"/>
        </a:accent5>
        <a:accent6>
          <a:srgbClr val="B98A00"/>
        </a:accent6>
        <a:hlink>
          <a:srgbClr val="669900"/>
        </a:hlink>
        <a:folHlink>
          <a:srgbClr val="A3A274"/>
        </a:folHlink>
      </a:clrScheme>
      <a:clrMap bg1="dk2" tx1="lt1" bg2="dk1" tx2="lt2" accent1="accent1" accent2="accent2" accent3="accent3" accent4="accent4" accent5="accent5" accent6="accent6" hlink="hlink" folHlink="folHlink"/>
    </a:extraClrScheme>
    <a:extraClrScheme>
      <a:clrScheme name="演示稿（水平） 3">
        <a:dk1>
          <a:srgbClr val="763B00"/>
        </a:dk1>
        <a:lt1>
          <a:srgbClr val="FFFFFF"/>
        </a:lt1>
        <a:dk2>
          <a:srgbClr val="330000"/>
        </a:dk2>
        <a:lt2>
          <a:srgbClr val="CC9900"/>
        </a:lt2>
        <a:accent1>
          <a:srgbClr val="FFCC00"/>
        </a:accent1>
        <a:accent2>
          <a:srgbClr val="CC3300"/>
        </a:accent2>
        <a:accent3>
          <a:srgbClr val="ADAAAA"/>
        </a:accent3>
        <a:accent4>
          <a:srgbClr val="DADADA"/>
        </a:accent4>
        <a:accent5>
          <a:srgbClr val="FFE2AA"/>
        </a:accent5>
        <a:accent6>
          <a:srgbClr val="B92D00"/>
        </a:accent6>
        <a:hlink>
          <a:srgbClr val="666699"/>
        </a:hlink>
        <a:folHlink>
          <a:srgbClr val="999966"/>
        </a:folHlink>
      </a:clrScheme>
      <a:clrMap bg1="dk2" tx1="lt1" bg2="dk1" tx2="lt2" accent1="accent1" accent2="accent2" accent3="accent3" accent4="accent4" accent5="accent5" accent6="accent6" hlink="hlink" folHlink="folHlink"/>
    </a:extraClrScheme>
    <a:extraClrScheme>
      <a:clrScheme name="演示稿（水平） 4">
        <a:dk1>
          <a:srgbClr val="6D3696"/>
        </a:dk1>
        <a:lt1>
          <a:srgbClr val="FFFFFF"/>
        </a:lt1>
        <a:dk2>
          <a:srgbClr val="51255D"/>
        </a:dk2>
        <a:lt2>
          <a:srgbClr val="FFFFCC"/>
        </a:lt2>
        <a:accent1>
          <a:srgbClr val="666699"/>
        </a:accent1>
        <a:accent2>
          <a:srgbClr val="800080"/>
        </a:accent2>
        <a:accent3>
          <a:srgbClr val="B3ACB6"/>
        </a:accent3>
        <a:accent4>
          <a:srgbClr val="DADADA"/>
        </a:accent4>
        <a:accent5>
          <a:srgbClr val="B8B8CA"/>
        </a:accent5>
        <a:accent6>
          <a:srgbClr val="730073"/>
        </a:accent6>
        <a:hlink>
          <a:srgbClr val="CCCC00"/>
        </a:hlink>
        <a:folHlink>
          <a:srgbClr val="A3A274"/>
        </a:folHlink>
      </a:clrScheme>
      <a:clrMap bg1="dk2" tx1="lt1" bg2="dk1" tx2="lt2" accent1="accent1" accent2="accent2" accent3="accent3" accent4="accent4" accent5="accent5" accent6="accent6" hlink="hlink" folHlink="folHlink"/>
    </a:extraClrScheme>
    <a:extraClrScheme>
      <a:clrScheme name="演示稿（水平） 5">
        <a:dk1>
          <a:srgbClr val="CC6600"/>
        </a:dk1>
        <a:lt1>
          <a:srgbClr val="FFFFFF"/>
        </a:lt1>
        <a:dk2>
          <a:srgbClr val="4A553B"/>
        </a:dk2>
        <a:lt2>
          <a:srgbClr val="FFBF1F"/>
        </a:lt2>
        <a:accent1>
          <a:srgbClr val="FFCC00"/>
        </a:accent1>
        <a:accent2>
          <a:srgbClr val="CC9900"/>
        </a:accent2>
        <a:accent3>
          <a:srgbClr val="B1B4AF"/>
        </a:accent3>
        <a:accent4>
          <a:srgbClr val="DADADA"/>
        </a:accent4>
        <a:accent5>
          <a:srgbClr val="FFE2AA"/>
        </a:accent5>
        <a:accent6>
          <a:srgbClr val="B98A00"/>
        </a:accent6>
        <a:hlink>
          <a:srgbClr val="669900"/>
        </a:hlink>
        <a:folHlink>
          <a:srgbClr val="A3A274"/>
        </a:folHlink>
      </a:clrScheme>
      <a:clrMap bg1="dk2" tx1="lt1" bg2="dk1" tx2="lt2" accent1="accent1" accent2="accent2" accent3="accent3" accent4="accent4" accent5="accent5" accent6="accent6" hlink="hlink" folHlink="folHlink"/>
    </a:extraClrScheme>
    <a:extraClrScheme>
      <a:clrScheme name="演示稿（水平） 6">
        <a:dk1>
          <a:srgbClr val="000000"/>
        </a:dk1>
        <a:lt1>
          <a:srgbClr val="FFFFFF"/>
        </a:lt1>
        <a:dk2>
          <a:srgbClr val="666699"/>
        </a:dk2>
        <a:lt2>
          <a:srgbClr val="FFCC00"/>
        </a:lt2>
        <a:accent1>
          <a:srgbClr val="FF9900"/>
        </a:accent1>
        <a:accent2>
          <a:srgbClr val="FF0000"/>
        </a:accent2>
        <a:accent3>
          <a:srgbClr val="FFFFFF"/>
        </a:accent3>
        <a:accent4>
          <a:srgbClr val="000000"/>
        </a:accent4>
        <a:accent5>
          <a:srgbClr val="FFCAAA"/>
        </a:accent5>
        <a:accent6>
          <a:srgbClr val="E70000"/>
        </a:accent6>
        <a:hlink>
          <a:srgbClr val="666699"/>
        </a:hlink>
        <a:folHlink>
          <a:srgbClr val="999966"/>
        </a:folHlink>
      </a:clrScheme>
      <a:clrMap bg1="lt1" tx1="dk1" bg2="lt2" tx2="dk2" accent1="accent1" accent2="accent2" accent3="accent3" accent4="accent4" accent5="accent5" accent6="accent6" hlink="hlink" folHlink="folHlink"/>
    </a:extraClrScheme>
    <a:extraClrScheme>
      <a:clrScheme name="演示稿（水平） 7">
        <a:dk1>
          <a:srgbClr val="000000"/>
        </a:dk1>
        <a:lt1>
          <a:srgbClr val="FFFFFF"/>
        </a:lt1>
        <a:dk2>
          <a:srgbClr val="CC3300"/>
        </a:dk2>
        <a:lt2>
          <a:srgbClr val="663300"/>
        </a:lt2>
        <a:accent1>
          <a:srgbClr val="FFCC00"/>
        </a:accent1>
        <a:accent2>
          <a:srgbClr val="CC6600"/>
        </a:accent2>
        <a:accent3>
          <a:srgbClr val="FFFFFF"/>
        </a:accent3>
        <a:accent4>
          <a:srgbClr val="000000"/>
        </a:accent4>
        <a:accent5>
          <a:srgbClr val="FFE2AA"/>
        </a:accent5>
        <a:accent6>
          <a:srgbClr val="B95C00"/>
        </a:accent6>
        <a:hlink>
          <a:srgbClr val="CC9900"/>
        </a:hlink>
        <a:folHlink>
          <a:srgbClr val="996633"/>
        </a:folHlink>
      </a:clrScheme>
      <a:clrMap bg1="lt1" tx1="dk1" bg2="lt2" tx2="dk2" accent1="accent1" accent2="accent2" accent3="accent3" accent4="accent4" accent5="accent5" accent6="accent6" hlink="hlink" folHlink="folHlink"/>
    </a:extraClrScheme>
    <a:extraClrScheme>
      <a:clrScheme name="演示稿（水平） 8">
        <a:dk1>
          <a:srgbClr val="000000"/>
        </a:dk1>
        <a:lt1>
          <a:srgbClr val="FFFFFF"/>
        </a:lt1>
        <a:dk2>
          <a:srgbClr val="999900"/>
        </a:dk2>
        <a:lt2>
          <a:srgbClr val="666600"/>
        </a:lt2>
        <a:accent1>
          <a:srgbClr val="99CC00"/>
        </a:accent1>
        <a:accent2>
          <a:srgbClr val="CCCC66"/>
        </a:accent2>
        <a:accent3>
          <a:srgbClr val="FFFFFF"/>
        </a:accent3>
        <a:accent4>
          <a:srgbClr val="000000"/>
        </a:accent4>
        <a:accent5>
          <a:srgbClr val="CAE2AA"/>
        </a:accent5>
        <a:accent6>
          <a:srgbClr val="B9B95C"/>
        </a:accent6>
        <a:hlink>
          <a:srgbClr val="FFCC00"/>
        </a:hlink>
        <a:folHlink>
          <a:srgbClr val="CC9900"/>
        </a:folHlink>
      </a:clrScheme>
      <a:clrMap bg1="lt1" tx1="dk1" bg2="lt2" tx2="dk2" accent1="accent1" accent2="accent2" accent3="accent3" accent4="accent4" accent5="accent5" accent6="accent6" hlink="hlink" folHlink="folHlink"/>
    </a:extraClrScheme>
    <a:extraClrScheme>
      <a:clrScheme name="演示稿（水平） 9">
        <a:dk1>
          <a:srgbClr val="000000"/>
        </a:dk1>
        <a:lt1>
          <a:srgbClr val="FFFFFF"/>
        </a:lt1>
        <a:dk2>
          <a:srgbClr val="666699"/>
        </a:dk2>
        <a:lt2>
          <a:srgbClr val="FFCC00"/>
        </a:lt2>
        <a:accent1>
          <a:srgbClr val="FF9900"/>
        </a:accent1>
        <a:accent2>
          <a:srgbClr val="FF9900"/>
        </a:accent2>
        <a:accent3>
          <a:srgbClr val="FFFFFF"/>
        </a:accent3>
        <a:accent4>
          <a:srgbClr val="000000"/>
        </a:accent4>
        <a:accent5>
          <a:srgbClr val="FFCAAA"/>
        </a:accent5>
        <a:accent6>
          <a:srgbClr val="E78A00"/>
        </a:accent6>
        <a:hlink>
          <a:srgbClr val="666699"/>
        </a:hlink>
        <a:folHlink>
          <a:srgbClr val="999966"/>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Presentation</Template>
  <TotalTime>10016</TotalTime>
  <Words>4783</Words>
  <Application>Microsoft Office PowerPoint</Application>
  <PresentationFormat>A4 纸张(210x297 毫米)</PresentationFormat>
  <Paragraphs>817</Paragraphs>
  <Slides>66</Slides>
  <Notes>1</Notes>
  <HiddenSlides>0</HiddenSlides>
  <MMClips>0</MMClips>
  <ScaleCrop>false</ScaleCrop>
  <HeadingPairs>
    <vt:vector size="8" baseType="variant">
      <vt:variant>
        <vt:lpstr>已用的字体</vt:lpstr>
      </vt:variant>
      <vt:variant>
        <vt:i4>6</vt:i4>
      </vt:variant>
      <vt:variant>
        <vt:lpstr>主题</vt:lpstr>
      </vt:variant>
      <vt:variant>
        <vt:i4>1</vt:i4>
      </vt:variant>
      <vt:variant>
        <vt:lpstr>嵌入 OLE 服务器</vt:lpstr>
      </vt:variant>
      <vt:variant>
        <vt:i4>1</vt:i4>
      </vt:variant>
      <vt:variant>
        <vt:lpstr>幻灯片标题</vt:lpstr>
      </vt:variant>
      <vt:variant>
        <vt:i4>66</vt:i4>
      </vt:variant>
    </vt:vector>
  </HeadingPairs>
  <TitlesOfParts>
    <vt:vector size="74" baseType="lpstr">
      <vt:lpstr>黑体</vt:lpstr>
      <vt:lpstr>宋体</vt:lpstr>
      <vt:lpstr>Arial</vt:lpstr>
      <vt:lpstr>Cambria Math</vt:lpstr>
      <vt:lpstr>Times New Roman</vt:lpstr>
      <vt:lpstr>Wingdings</vt:lpstr>
      <vt:lpstr>Presentation</vt:lpstr>
      <vt:lpstr>Equation</vt:lpstr>
      <vt:lpstr>最优化理论</vt:lpstr>
      <vt:lpstr>现代优化方法</vt:lpstr>
      <vt:lpstr>组合优化问题</vt:lpstr>
      <vt:lpstr>组合优化问题</vt:lpstr>
      <vt:lpstr>组合优化问题</vt:lpstr>
      <vt:lpstr>组合优化问题</vt:lpstr>
      <vt:lpstr>组合优化问题</vt:lpstr>
      <vt:lpstr>组合优化问题</vt:lpstr>
      <vt:lpstr>组合优化问题</vt:lpstr>
      <vt:lpstr>组合优化问题</vt:lpstr>
      <vt:lpstr>组合优化问题</vt:lpstr>
      <vt:lpstr>组合优化问题</vt:lpstr>
      <vt:lpstr>组合优化问题</vt:lpstr>
      <vt:lpstr>组合优化问题</vt:lpstr>
      <vt:lpstr>组合优化问题</vt:lpstr>
      <vt:lpstr>组合优化问题</vt:lpstr>
      <vt:lpstr>启发式算法—蚁群算法</vt:lpstr>
      <vt:lpstr>启发式算法—蚁群算法</vt:lpstr>
      <vt:lpstr>启发式算法—蚁群算法</vt:lpstr>
      <vt:lpstr>启发式算法—蚁群算法</vt:lpstr>
      <vt:lpstr>蚁群算法原理示意图</vt:lpstr>
      <vt:lpstr>蚁群算法原理示意图</vt:lpstr>
      <vt:lpstr>蚁群算法原理示意图</vt:lpstr>
      <vt:lpstr>蚁群算法原理示意图</vt:lpstr>
      <vt:lpstr>蚁群算法原理示意图</vt:lpstr>
      <vt:lpstr>启发式算法—蚁群算法</vt:lpstr>
      <vt:lpstr>启发式算法—蚁群算法</vt:lpstr>
      <vt:lpstr>蚁群算法选路概率公式</vt:lpstr>
      <vt:lpstr>启发式算法—蚁群算法</vt:lpstr>
      <vt:lpstr>蚁群算法路径选择示例</vt:lpstr>
      <vt:lpstr>蚁群算法路径选择示例</vt:lpstr>
      <vt:lpstr>启发式算法—蚁群算法</vt:lpstr>
      <vt:lpstr>蚁群算法信息素更新公式</vt:lpstr>
      <vt:lpstr>启发式算法—蚁群算法</vt:lpstr>
      <vt:lpstr>启发式算法—蚁群算法</vt:lpstr>
      <vt:lpstr>启发式算法—蚁群算法</vt:lpstr>
      <vt:lpstr>启发式算法—蚁群算法</vt:lpstr>
      <vt:lpstr>启发式算法—蚁群算法</vt:lpstr>
      <vt:lpstr>蚁群算法信息素更新示例</vt:lpstr>
      <vt:lpstr>蚁群算法信息素更新示例</vt:lpstr>
      <vt:lpstr>启发式算法—蚁群算法</vt:lpstr>
      <vt:lpstr>蚁群算法流程</vt:lpstr>
      <vt:lpstr>蚁群算法流程</vt:lpstr>
      <vt:lpstr>蚁群算法流程</vt:lpstr>
      <vt:lpstr>蚁群算法流程</vt:lpstr>
      <vt:lpstr>蚁群算法流程</vt:lpstr>
      <vt:lpstr>蚁群算法流程</vt:lpstr>
      <vt:lpstr>蚁群算法流程</vt:lpstr>
      <vt:lpstr>蚁群算法流程</vt:lpstr>
      <vt:lpstr>蚁群算法流程</vt:lpstr>
      <vt:lpstr>启发式算法—蚁群算法</vt:lpstr>
      <vt:lpstr>蚁群算法求解其他组合优化问题</vt:lpstr>
      <vt:lpstr>蚁群算法求解其他组合优化问题</vt:lpstr>
      <vt:lpstr>蚁群算法求解其他组合优化问题</vt:lpstr>
      <vt:lpstr>蚁群算法求解其他组合优化问题</vt:lpstr>
      <vt:lpstr>蚁群算法求解其他组合优化问题</vt:lpstr>
      <vt:lpstr>蚁群算法求解0-1背包问题主要步骤</vt:lpstr>
      <vt:lpstr>蚁群算法求解0-1背包问题主要步骤</vt:lpstr>
      <vt:lpstr>蚁群算法求解0-1背包问题主要步骤</vt:lpstr>
      <vt:lpstr>蚁群算法求解0-1背包问题主要步骤</vt:lpstr>
      <vt:lpstr>蚁群算法求解0-1背包问题主要步骤</vt:lpstr>
      <vt:lpstr>启发式算法—蚁群算法</vt:lpstr>
      <vt:lpstr>启发式算法—蚁群算法</vt:lpstr>
      <vt:lpstr>启发式算法—蚁群算法</vt:lpstr>
      <vt:lpstr>启发式算法—蚁群算法</vt:lpstr>
      <vt:lpstr>启发式算法—蚁群算法</vt:lpstr>
    </vt:vector>
  </TitlesOfParts>
  <Company>920</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920</dc:creator>
  <cp:lastModifiedBy>Administrator</cp:lastModifiedBy>
  <cp:revision>5249</cp:revision>
  <dcterms:created xsi:type="dcterms:W3CDTF">2016-10-01T05:27:09Z</dcterms:created>
  <dcterms:modified xsi:type="dcterms:W3CDTF">2022-11-24T12:53:05Z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_TemplateID">
    <vt:lpwstr>TC060874522052</vt:lpwstr>
  </property>
</Properties>
</file>