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7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73" r:id="rId13"/>
    <p:sldId id="269" r:id="rId14"/>
    <p:sldId id="270" r:id="rId15"/>
    <p:sldId id="271" r:id="rId16"/>
    <p:sldId id="268" r:id="rId17"/>
    <p:sldId id="274" r:id="rId18"/>
    <p:sldId id="266" r:id="rId19"/>
    <p:sldId id="267" r:id="rId20"/>
    <p:sldId id="275" r:id="rId21"/>
    <p:sldId id="296" r:id="rId22"/>
    <p:sldId id="277" r:id="rId23"/>
    <p:sldId id="279" r:id="rId24"/>
    <p:sldId id="280" r:id="rId25"/>
    <p:sldId id="281" r:id="rId26"/>
    <p:sldId id="283" r:id="rId27"/>
    <p:sldId id="285" r:id="rId28"/>
    <p:sldId id="284" r:id="rId29"/>
    <p:sldId id="286" r:id="rId30"/>
    <p:sldId id="287" r:id="rId31"/>
    <p:sldId id="288" r:id="rId32"/>
    <p:sldId id="289" r:id="rId33"/>
    <p:sldId id="292" r:id="rId34"/>
    <p:sldId id="290" r:id="rId35"/>
    <p:sldId id="291" r:id="rId36"/>
    <p:sldId id="293" r:id="rId37"/>
    <p:sldId id="294" r:id="rId38"/>
    <p:sldId id="295" r:id="rId39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0000FF"/>
    <a:srgbClr val="FF99FF"/>
    <a:srgbClr val="00FF00"/>
    <a:srgbClr val="66FF66"/>
    <a:srgbClr val="333399"/>
    <a:srgbClr val="00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30" autoAdjust="0"/>
    <p:restoredTop sz="93826" autoAdjust="0"/>
  </p:normalViewPr>
  <p:slideViewPr>
    <p:cSldViewPr>
      <p:cViewPr>
        <p:scale>
          <a:sx n="100" d="100"/>
          <a:sy n="100" d="100"/>
        </p:scale>
        <p:origin x="168" y="-28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20 9">
            <a:extLst>
              <a:ext uri="{FF2B5EF4-FFF2-40B4-BE49-F238E27FC236}">
                <a16:creationId xmlns:a16="http://schemas.microsoft.com/office/drawing/2014/main" id="{DB875CB5-79D2-4F0D-AAEA-E38F8F1FB7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4850" cy="2420888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A371CBA-E3A3-49E4-BC50-D73E5519A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584" y="2620777"/>
            <a:ext cx="8016639" cy="1070582"/>
          </a:xfrm>
        </p:spPr>
        <p:txBody>
          <a:bodyPr anchor="ctr">
            <a:normAutofit fontScale="90000"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2E156885-70F0-4648-845E-265F3644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282" y="4015551"/>
            <a:ext cx="6619242" cy="642776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</a:lstStyle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1777F-61CF-42D4-943E-7A0268001DD7}"/>
              </a:ext>
            </a:extLst>
          </p:cNvPr>
          <p:cNvSpPr/>
          <p:nvPr userDrawn="1"/>
        </p:nvSpPr>
        <p:spPr>
          <a:xfrm>
            <a:off x="1" y="6415953"/>
            <a:ext cx="9906000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28CC49-F75B-42A3-A246-3A936A3C1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日期占位符 12">
            <a:extLst>
              <a:ext uri="{FF2B5EF4-FFF2-40B4-BE49-F238E27FC236}">
                <a16:creationId xmlns:a16="http://schemas.microsoft.com/office/drawing/2014/main" id="{BF0374B4-E0FA-4D63-930E-15A90A36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48251"/>
            <a:ext cx="2743200" cy="365125"/>
          </a:xfrm>
        </p:spPr>
        <p:txBody>
          <a:bodyPr/>
          <a:lstStyle/>
          <a:p>
            <a:fld id="{9BF28558-7B33-427A-B568-3609C5F68DFB}" type="datetime3">
              <a:rPr lang="zh-CN" altLang="en-US" sz="1600" smtClean="0"/>
              <a:t>2022年9月2日星期五</a:t>
            </a:fld>
            <a:endParaRPr lang="zh-CN" altLang="en-US" sz="1600" dirty="0"/>
          </a:p>
        </p:txBody>
      </p:sp>
      <p:pic>
        <p:nvPicPr>
          <p:cNvPr id="20" name="20 19">
            <a:extLst>
              <a:ext uri="{FF2B5EF4-FFF2-40B4-BE49-F238E27FC236}">
                <a16:creationId xmlns:a16="http://schemas.microsoft.com/office/drawing/2014/main" id="{92CA545C-BE9F-4FE0-8561-A177CAB14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10" y="6418253"/>
            <a:ext cx="1424240" cy="442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6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58044" y="1052735"/>
            <a:ext cx="9719492" cy="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300" y="6381328"/>
            <a:ext cx="2311400" cy="432048"/>
          </a:xfrm>
        </p:spPr>
        <p:txBody>
          <a:bodyPr/>
          <a:lstStyle>
            <a:lvl1pPr>
              <a:defRPr sz="1600"/>
            </a:lvl1pPr>
          </a:lstStyle>
          <a:p>
            <a:fld id="{A3C8579E-F682-4174-8232-D943C000E3D7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44367" y="6453336"/>
            <a:ext cx="2311400" cy="360040"/>
          </a:xfrm>
        </p:spPr>
        <p:txBody>
          <a:bodyPr/>
          <a:lstStyle>
            <a:lvl1pPr algn="ctr">
              <a:defRPr sz="1600"/>
            </a:lvl1pPr>
          </a:lstStyle>
          <a:p>
            <a:fld id="{C3F47B36-077D-42FE-9DED-0C77CB87E4B3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E94A7FD3-B299-4610-AC83-3B451DCD0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40" y="6542278"/>
            <a:ext cx="874512" cy="2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66F1B3-94A1-4D75-BEB5-A24ADF28504A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60A4C-2E7A-4BC7-92BB-4811D8BBCCED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6D13C-CD6B-463A-856C-AE7EFF1CC60E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AAF49A-B9BF-4A20-9CBD-058DA3EDBF07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4B721-E592-4506-A42D-A485CD36D387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F4B58-8D9C-4A13-BFBC-1BE0A361A717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0B875-7DB8-40C0-8DE9-C73D2B1839FC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99A547-F978-4B5E-95FF-4A25E1B63B3F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4BF687-6B3E-44A6-8A17-B031BCEB5374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48BAC07-5643-4648-8B99-28E352517941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D344004-1B03-4B97-88C0-C8765BDB0F88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044" y="44624"/>
            <a:ext cx="978445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1017862"/>
            <a:ext cx="9784456" cy="551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044" y="6542278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fld id="{9505B10C-6225-4137-9473-CCC2B763FCE5}" type="datetime3">
              <a:rPr lang="zh-CN" altLang="en-US" smtClean="0"/>
              <a:pPr/>
              <a:t>2022年9月2日星期五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97300" y="6533050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20 11">
            <a:extLst>
              <a:ext uri="{FF2B5EF4-FFF2-40B4-BE49-F238E27FC236}">
                <a16:creationId xmlns:a16="http://schemas.microsoft.com/office/drawing/2014/main" id="{482E3178-F79E-4C1F-91C9-D07D797638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444" y="6562880"/>
            <a:ext cx="874512" cy="271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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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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9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6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7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9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3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4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5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2B51CF4-66D4-4F19-97F3-24307D69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680" y="2636912"/>
            <a:ext cx="8016639" cy="1070582"/>
          </a:xfrm>
        </p:spPr>
        <p:txBody>
          <a:bodyPr anchor="ctr">
            <a:normAutofit fontScale="90000"/>
          </a:bodyPr>
          <a:lstStyle/>
          <a:p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188F20-BD1A-4DBF-8204-5DEB489FF2A7}"/>
              </a:ext>
            </a:extLst>
          </p:cNvPr>
          <p:cNvSpPr/>
          <p:nvPr/>
        </p:nvSpPr>
        <p:spPr>
          <a:xfrm>
            <a:off x="2552342" y="3933056"/>
            <a:ext cx="48013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讲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最优化理论概述</a:t>
            </a:r>
            <a:endParaRPr lang="zh-CN" altLang="en-US" sz="3600" dirty="0"/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9D4C4213-E352-4C4A-BD9E-BD5380CE8F1C}"/>
              </a:ext>
            </a:extLst>
          </p:cNvPr>
          <p:cNvSpPr txBox="1">
            <a:spLocks/>
          </p:cNvSpPr>
          <p:nvPr/>
        </p:nvSpPr>
        <p:spPr bwMode="auto">
          <a:xfrm>
            <a:off x="2360712" y="5157192"/>
            <a:ext cx="4968552" cy="64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zh-CN" altLang="en-US" sz="2400" kern="0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pPr algn="ctr"/>
            <a:endParaRPr lang="zh-CN" altLang="en-US" sz="2400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4A68E3-A51C-4F7D-918B-4EC486F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E4A-C161-4DC7-B97B-9882453A8887}" type="datetime3">
              <a:rPr lang="zh-CN" altLang="en-US" sz="1600" smtClean="0"/>
              <a:t>2022年9月2日星期五</a:t>
            </a:fld>
            <a:endParaRPr lang="zh-CN" altLang="en-US" sz="16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F9A16-F17C-4802-95F3-0FEFF45F5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最优化理论概述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37ED-7826-4472-A99D-F7FEC05D2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6795410" cy="5264289"/>
          </a:xfrm>
        </p:spPr>
        <p:txBody>
          <a:bodyPr/>
          <a:lstStyle/>
          <a:p>
            <a:r>
              <a:rPr lang="zh-CN" altLang="en-US" dirty="0"/>
              <a:t>最优化定义</a:t>
            </a:r>
            <a:endParaRPr lang="en-US" altLang="zh-CN" dirty="0"/>
          </a:p>
          <a:p>
            <a:pPr lvl="1"/>
            <a:r>
              <a:rPr lang="zh-CN" altLang="en-US" dirty="0"/>
              <a:t>最优化是从</a:t>
            </a:r>
            <a:r>
              <a:rPr lang="zh-CN" altLang="en-US" dirty="0">
                <a:solidFill>
                  <a:srgbClr val="FF0000"/>
                </a:solidFill>
              </a:rPr>
              <a:t>所有可能的方案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0000FF"/>
                </a:solidFill>
              </a:rPr>
              <a:t>选择最合理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一种方案</a:t>
            </a:r>
            <a:r>
              <a:rPr lang="zh-CN" altLang="en-US" dirty="0"/>
              <a:t>，以达到</a:t>
            </a:r>
            <a:r>
              <a:rPr lang="zh-CN" altLang="en-US" dirty="0">
                <a:solidFill>
                  <a:srgbClr val="0000FF"/>
                </a:solidFill>
              </a:rPr>
              <a:t>最佳目标</a:t>
            </a:r>
            <a:r>
              <a:rPr lang="zh-CN" altLang="en-US" dirty="0"/>
              <a:t>的科学。</a:t>
            </a:r>
            <a:endParaRPr lang="en-US" altLang="zh-CN" dirty="0"/>
          </a:p>
          <a:p>
            <a:pPr lvl="2"/>
            <a:r>
              <a:rPr lang="zh-CN" altLang="en-US" dirty="0"/>
              <a:t>最优化解决的目标系统应该</a:t>
            </a:r>
            <a:r>
              <a:rPr lang="zh-CN" altLang="en-US" dirty="0">
                <a:solidFill>
                  <a:srgbClr val="FF0000"/>
                </a:solidFill>
              </a:rPr>
              <a:t>包含多个可行性</a:t>
            </a:r>
            <a:r>
              <a:rPr lang="zh-CN" altLang="en-US" dirty="0"/>
              <a:t>的方案</a:t>
            </a:r>
            <a:endParaRPr lang="en-US" altLang="zh-CN" dirty="0"/>
          </a:p>
          <a:p>
            <a:pPr lvl="2"/>
            <a:r>
              <a:rPr lang="zh-CN" altLang="en-US" dirty="0"/>
              <a:t>现实生活中很多问题都是最优化问题：</a:t>
            </a:r>
            <a:endParaRPr lang="en-US" altLang="zh-CN" dirty="0"/>
          </a:p>
          <a:p>
            <a:pPr lvl="3"/>
            <a:r>
              <a:rPr lang="zh-CN" altLang="en-US" dirty="0"/>
              <a:t>销售决策、车载导航、企业投资、运输问题，车辆调度，员工安排等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FA8D06-0134-4B21-89B6-CA51F654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A45D20-4D3E-48EE-A0EA-C0294763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770A09EB-2C90-42E0-8C93-FA326B130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4" y="70281"/>
            <a:ext cx="2924082" cy="649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0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F9A16-F17C-4802-95F3-0FEFF45F5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最优化理论概述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37ED-7826-4472-A99D-F7FEC05D2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最优化方法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经典数学方法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0000FF"/>
                </a:solidFill>
              </a:rPr>
              <a:t>微分法</a:t>
            </a:r>
            <a:r>
              <a:rPr lang="zh-CN" altLang="en-US" dirty="0"/>
              <a:t>、拉格朗日乘数法等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数学规划方法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线性规划、整数规划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动态规划、多目标规划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7030A0"/>
                </a:solidFill>
              </a:rPr>
              <a:t>现代优化方法</a:t>
            </a:r>
            <a:endParaRPr lang="en-US" altLang="zh-CN" dirty="0">
              <a:solidFill>
                <a:srgbClr val="7030A0"/>
              </a:solidFill>
            </a:endParaRPr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优化算法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dirty="0"/>
              <a:t>贪心算法、回溯算法、分治算法、动态规划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0000FF"/>
                </a:solidFill>
              </a:rPr>
              <a:t>启发式算法</a:t>
            </a:r>
            <a:endParaRPr lang="en-US" altLang="zh-CN" dirty="0">
              <a:solidFill>
                <a:srgbClr val="0000FF"/>
              </a:solidFill>
            </a:endParaRPr>
          </a:p>
          <a:p>
            <a:pPr lvl="3"/>
            <a:r>
              <a:rPr lang="zh-CN" altLang="en-US" dirty="0">
                <a:solidFill>
                  <a:srgbClr val="C00000"/>
                </a:solidFill>
              </a:rPr>
              <a:t>蚁群算法、遗传算法、模拟退火算法</a:t>
            </a:r>
            <a:r>
              <a:rPr lang="zh-CN" altLang="en-US" dirty="0"/>
              <a:t>、人工智能算法。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FA8D06-0134-4B21-89B6-CA51F654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A45D20-4D3E-48EE-A0EA-C0294763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86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F9A16-F17C-4802-95F3-0FEFF45F5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最优化理论概述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37ED-7826-4472-A99D-F7FEC05D2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最优化设计步骤</a:t>
            </a:r>
            <a:endParaRPr lang="en-US" altLang="zh-CN" dirty="0"/>
          </a:p>
          <a:p>
            <a:pPr lvl="1"/>
            <a:r>
              <a:rPr lang="zh-CN" altLang="en-US" dirty="0"/>
              <a:t>确立目标</a:t>
            </a:r>
            <a:endParaRPr lang="en-US" altLang="zh-CN" dirty="0"/>
          </a:p>
          <a:p>
            <a:pPr lvl="2"/>
            <a:r>
              <a:rPr lang="zh-CN" altLang="en-US" dirty="0"/>
              <a:t>根据实际需求，确定最优化的目标（最大</a:t>
            </a:r>
            <a:r>
              <a:rPr lang="en-US" altLang="zh-CN" dirty="0"/>
              <a:t>/</a:t>
            </a:r>
            <a:r>
              <a:rPr lang="zh-CN" altLang="en-US" dirty="0"/>
              <a:t>最小）</a:t>
            </a:r>
            <a:endParaRPr lang="en-US" altLang="zh-CN" dirty="0"/>
          </a:p>
          <a:p>
            <a:pPr lvl="1"/>
            <a:r>
              <a:rPr lang="zh-CN" altLang="en-US" dirty="0"/>
              <a:t>数学建模</a:t>
            </a:r>
            <a:endParaRPr lang="en-US" altLang="zh-CN" dirty="0"/>
          </a:p>
          <a:p>
            <a:pPr lvl="2"/>
            <a:r>
              <a:rPr lang="zh-CN" altLang="en-US" dirty="0"/>
              <a:t>设计</a:t>
            </a:r>
            <a:r>
              <a:rPr lang="zh-CN" altLang="en-US" dirty="0">
                <a:solidFill>
                  <a:srgbClr val="C00000"/>
                </a:solidFill>
              </a:rPr>
              <a:t>目标函数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00FF"/>
                </a:solidFill>
              </a:rPr>
              <a:t>设计变量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7030A0"/>
                </a:solidFill>
              </a:rPr>
              <a:t>相关约束</a:t>
            </a:r>
            <a:r>
              <a:rPr lang="zh-CN" altLang="en-US" dirty="0"/>
              <a:t>的数学表达形式</a:t>
            </a:r>
            <a:endParaRPr lang="en-US" altLang="zh-CN" dirty="0"/>
          </a:p>
          <a:p>
            <a:pPr lvl="1"/>
            <a:r>
              <a:rPr lang="zh-CN" altLang="en-US" dirty="0"/>
              <a:t>设计方案</a:t>
            </a:r>
            <a:endParaRPr lang="en-US" altLang="zh-CN" dirty="0"/>
          </a:p>
          <a:p>
            <a:pPr lvl="2"/>
            <a:r>
              <a:rPr lang="zh-CN" altLang="en-US" dirty="0"/>
              <a:t>基于数学规划</a:t>
            </a:r>
            <a:r>
              <a:rPr lang="en-US" altLang="zh-CN" dirty="0"/>
              <a:t>/</a:t>
            </a:r>
            <a:r>
              <a:rPr lang="zh-CN" altLang="en-US" dirty="0"/>
              <a:t>智能算法等设计解决方案</a:t>
            </a:r>
            <a:endParaRPr lang="en-US" altLang="zh-CN" dirty="0"/>
          </a:p>
          <a:p>
            <a:pPr lvl="1"/>
            <a:r>
              <a:rPr lang="zh-CN" altLang="en-US" dirty="0"/>
              <a:t>优化求解</a:t>
            </a:r>
            <a:endParaRPr lang="en-US" altLang="zh-CN" dirty="0"/>
          </a:p>
          <a:p>
            <a:pPr lvl="2"/>
            <a:r>
              <a:rPr lang="zh-CN" altLang="en-US" dirty="0"/>
              <a:t>进行数学计算或通过计算机来实现对应的算法，求解问题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FA8D06-0134-4B21-89B6-CA51F654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A45D20-4D3E-48EE-A0EA-C0294763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11635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40670-6EB9-4245-A17A-642FCDEF0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最优化问题实例分析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9B8D6-F890-40E7-A4EC-A88B8D339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将一段长度为</a:t>
            </a:r>
            <a:r>
              <a:rPr lang="en-US" altLang="zh-CN" dirty="0"/>
              <a:t>12</a:t>
            </a:r>
            <a:r>
              <a:rPr lang="zh-CN" altLang="en-US" dirty="0"/>
              <a:t>米的铁丝围成一个矩形，则如何设定长</a:t>
            </a:r>
            <a:r>
              <a:rPr lang="en-US" altLang="zh-CN" dirty="0"/>
              <a:t>x</a:t>
            </a:r>
            <a:r>
              <a:rPr lang="zh-CN" altLang="en-US" dirty="0"/>
              <a:t>和宽</a:t>
            </a:r>
            <a:r>
              <a:rPr lang="en-US" altLang="zh-CN" dirty="0"/>
              <a:t>y</a:t>
            </a:r>
            <a:r>
              <a:rPr lang="zh-CN" altLang="en-US" dirty="0"/>
              <a:t>，使得该矩形的面积最大。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125FD7-0504-480B-8E47-FDF2BCBB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0E8EDD-D9D6-4CD5-B3C0-4CADB545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</a:t>
            </a:fld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3DF63B-E728-45CD-84A8-079D3603D67C}"/>
              </a:ext>
            </a:extLst>
          </p:cNvPr>
          <p:cNvSpPr/>
          <p:nvPr/>
        </p:nvSpPr>
        <p:spPr bwMode="auto">
          <a:xfrm>
            <a:off x="3797300" y="4509120"/>
            <a:ext cx="2367044" cy="1442617"/>
          </a:xfrm>
          <a:prstGeom prst="rect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9E54FFC-E9F9-46D7-88FA-8A0510E22AC3}"/>
              </a:ext>
            </a:extLst>
          </p:cNvPr>
          <p:cNvCxnSpPr/>
          <p:nvPr/>
        </p:nvCxnSpPr>
        <p:spPr bwMode="auto">
          <a:xfrm>
            <a:off x="2648744" y="3429000"/>
            <a:ext cx="4608512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2E36BBF-A859-46D8-95D7-25E3FD0FD4AF}"/>
              </a:ext>
            </a:extLst>
          </p:cNvPr>
          <p:cNvSpPr txBox="1"/>
          <p:nvPr/>
        </p:nvSpPr>
        <p:spPr>
          <a:xfrm>
            <a:off x="4460717" y="2905780"/>
            <a:ext cx="984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12 m</a:t>
            </a:r>
            <a:endParaRPr lang="zh-CN" altLang="en-US" sz="2800" dirty="0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C3CFA50B-69A1-44B8-BFC0-7B32DF09386F}"/>
              </a:ext>
            </a:extLst>
          </p:cNvPr>
          <p:cNvSpPr/>
          <p:nvPr/>
        </p:nvSpPr>
        <p:spPr bwMode="auto">
          <a:xfrm>
            <a:off x="4736976" y="3717032"/>
            <a:ext cx="432048" cy="570815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7E4DD0-DEC7-464B-A4C1-051FB3E4A161}"/>
              </a:ext>
            </a:extLst>
          </p:cNvPr>
          <p:cNvSpPr txBox="1"/>
          <p:nvPr/>
        </p:nvSpPr>
        <p:spPr>
          <a:xfrm>
            <a:off x="4770898" y="44179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x</a:t>
            </a:r>
            <a:endParaRPr lang="zh-CN" altLang="en-US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A3223F-FE39-46D8-8779-34EEC964A9D0}"/>
              </a:ext>
            </a:extLst>
          </p:cNvPr>
          <p:cNvSpPr txBox="1"/>
          <p:nvPr/>
        </p:nvSpPr>
        <p:spPr>
          <a:xfrm>
            <a:off x="5800142" y="51128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y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9208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0" grpId="0" animBg="1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9ABD5-A222-494C-8D86-EAD14C4E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493BC6-3A7C-4796-9AA6-FFE7AA6FF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目标：面积最大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约束：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求解方法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dirty="0"/>
              <a:t>将目标函数</a:t>
            </a:r>
            <a:r>
              <a:rPr lang="en-US" altLang="zh-CN" dirty="0"/>
              <a:t>f(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变成一个只包含</a:t>
            </a:r>
            <a:r>
              <a:rPr lang="en-US" altLang="zh-CN" dirty="0"/>
              <a:t>x</a:t>
            </a:r>
            <a:r>
              <a:rPr lang="zh-CN" altLang="en-US" dirty="0"/>
              <a:t>的一元函数</a:t>
            </a:r>
            <a:endParaRPr lang="en-US" altLang="zh-CN" dirty="0"/>
          </a:p>
          <a:p>
            <a:pPr lvl="1"/>
            <a:r>
              <a:rPr lang="zh-CN" altLang="en-US" dirty="0"/>
              <a:t>通过导数法求出极值点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275A2D-A813-48F9-972A-B264A3D3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A5B09D-BC2C-4B9B-B15D-3894D5D7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6</a:t>
            </a:fld>
            <a:endParaRPr lang="en-US" altLang="zh-CN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CDD4943-19EE-4624-85B2-93FF7AF5CA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188025"/>
              </p:ext>
            </p:extLst>
          </p:nvPr>
        </p:nvGraphicFramePr>
        <p:xfrm>
          <a:off x="1979617" y="1856758"/>
          <a:ext cx="389096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Equation" r:id="rId3" imgW="1231560" imgH="203040" progId="Equation.DSMT4">
                  <p:embed/>
                </p:oleObj>
              </mc:Choice>
              <mc:Fallback>
                <p:oleObj name="Equation" r:id="rId3" imgW="1231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617" y="1856758"/>
                        <a:ext cx="3890962" cy="642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C8AFBD3-4095-4F74-98B3-702129B99B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797098"/>
              </p:ext>
            </p:extLst>
          </p:nvPr>
        </p:nvGraphicFramePr>
        <p:xfrm>
          <a:off x="1984375" y="2584450"/>
          <a:ext cx="2376488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Equation" r:id="rId5" imgW="799920" imgH="431640" progId="Equation.DSMT4">
                  <p:embed/>
                </p:oleObj>
              </mc:Choice>
              <mc:Fallback>
                <p:oleObj name="Equation" r:id="rId5" imgW="7999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84375" y="2584450"/>
                        <a:ext cx="2376488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4139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9ABD5-A222-494C-8D86-EAD14C4E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493BC6-3A7C-4796-9AA6-FFE7AA6FF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知识回顾：导数</a:t>
            </a:r>
            <a:endParaRPr lang="en-US" altLang="zh-CN" dirty="0"/>
          </a:p>
          <a:p>
            <a:pPr lvl="1"/>
            <a:r>
              <a:rPr lang="zh-CN" altLang="en-US" dirty="0"/>
              <a:t>导数定义：</a:t>
            </a:r>
            <a:endParaRPr lang="en-US" altLang="zh-CN" dirty="0"/>
          </a:p>
          <a:p>
            <a:pPr lvl="2"/>
            <a:r>
              <a:rPr lang="zh-CN" altLang="en-US" dirty="0"/>
              <a:t>对于函数</a:t>
            </a:r>
            <a:r>
              <a:rPr lang="en-US" altLang="zh-CN" dirty="0"/>
              <a:t>f(x)</a:t>
            </a:r>
            <a:r>
              <a:rPr lang="zh-CN" altLang="en-US" dirty="0"/>
              <a:t> ，在点</a:t>
            </a: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zh-CN" altLang="en-US" dirty="0"/>
              <a:t>的某个领域内有定义，当自变量</a:t>
            </a:r>
            <a:r>
              <a:rPr lang="en-US" altLang="zh-CN" dirty="0"/>
              <a:t>x</a:t>
            </a:r>
            <a:r>
              <a:rPr lang="zh-CN" altLang="en-US" dirty="0"/>
              <a:t>在</a:t>
            </a: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zh-CN" altLang="en-US" dirty="0"/>
              <a:t>处有增量</a:t>
            </a:r>
            <a:r>
              <a:rPr lang="zh-CN" altLang="en-US" dirty="0">
                <a:sym typeface="Symbol" panose="05050102010706020507" pitchFamily="18" charset="2"/>
              </a:rPr>
              <a:t></a:t>
            </a:r>
            <a:r>
              <a:rPr lang="en-US" altLang="zh-CN" dirty="0"/>
              <a:t>x</a:t>
            </a:r>
            <a:r>
              <a:rPr lang="zh-CN" altLang="en-US" dirty="0"/>
              <a:t>，且</a:t>
            </a:r>
            <a:r>
              <a:rPr lang="en-US" altLang="zh-CN" dirty="0"/>
              <a:t>(x</a:t>
            </a:r>
            <a:r>
              <a:rPr lang="en-US" altLang="zh-CN" baseline="-25000" dirty="0"/>
              <a:t>0</a:t>
            </a:r>
            <a:r>
              <a:rPr lang="en-US" altLang="zh-CN" dirty="0"/>
              <a:t>+</a:t>
            </a:r>
            <a:r>
              <a:rPr lang="zh-CN" altLang="en-US" dirty="0">
                <a:sym typeface="Symbol" panose="05050102010706020507" pitchFamily="18" charset="2"/>
              </a:rPr>
              <a:t></a:t>
            </a:r>
            <a:r>
              <a:rPr lang="en-US" altLang="zh-CN" dirty="0"/>
              <a:t>x)</a:t>
            </a:r>
            <a:r>
              <a:rPr lang="zh-CN" altLang="en-US" dirty="0"/>
              <a:t>也在该邻域内，函数增量为</a:t>
            </a:r>
            <a:r>
              <a:rPr lang="zh-CN" altLang="en-US" dirty="0">
                <a:sym typeface="Symbol" panose="05050102010706020507" pitchFamily="18" charset="2"/>
              </a:rPr>
              <a:t></a:t>
            </a:r>
            <a:r>
              <a:rPr lang="en-US" altLang="zh-CN" dirty="0">
                <a:sym typeface="Symbol" panose="05050102010706020507" pitchFamily="18" charset="2"/>
              </a:rPr>
              <a:t>y=f(</a:t>
            </a: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en-US" altLang="zh-CN" dirty="0"/>
              <a:t>+</a:t>
            </a:r>
            <a:r>
              <a:rPr lang="zh-CN" altLang="en-US" dirty="0">
                <a:sym typeface="Symbol" panose="05050102010706020507" pitchFamily="18" charset="2"/>
              </a:rPr>
              <a:t></a:t>
            </a:r>
            <a:r>
              <a:rPr lang="en-US" altLang="zh-CN" dirty="0"/>
              <a:t>x</a:t>
            </a:r>
            <a:r>
              <a:rPr lang="en-US" altLang="zh-CN" dirty="0">
                <a:sym typeface="Symbol" panose="05050102010706020507" pitchFamily="18" charset="2"/>
              </a:rPr>
              <a:t>)-f(</a:t>
            </a: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；如果</a:t>
            </a:r>
            <a:r>
              <a:rPr lang="en-US" altLang="zh-CN" dirty="0"/>
              <a:t>y</a:t>
            </a:r>
            <a:r>
              <a:rPr lang="zh-CN" altLang="en-US" dirty="0"/>
              <a:t>与</a:t>
            </a:r>
            <a:r>
              <a:rPr lang="zh-CN" altLang="en-US" dirty="0">
                <a:sym typeface="Symbol" panose="05050102010706020507" pitchFamily="18" charset="2"/>
              </a:rPr>
              <a:t>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的比值当</a:t>
            </a:r>
            <a:r>
              <a:rPr lang="en-US" altLang="zh-CN" dirty="0">
                <a:sym typeface="Symbol" panose="05050102010706020507" pitchFamily="18" charset="2"/>
              </a:rPr>
              <a:t>x→0</a:t>
            </a:r>
            <a:r>
              <a:rPr lang="zh-CN" altLang="en-US" dirty="0">
                <a:sym typeface="Symbol" panose="05050102010706020507" pitchFamily="18" charset="2"/>
              </a:rPr>
              <a:t>时的极限存在，则称</a:t>
            </a:r>
            <a:r>
              <a:rPr lang="en-US" altLang="zh-CN" dirty="0">
                <a:sym typeface="Symbol" panose="05050102010706020507" pitchFamily="18" charset="2"/>
              </a:rPr>
              <a:t>f(x)</a:t>
            </a:r>
            <a:r>
              <a:rPr lang="zh-CN" altLang="en-US" dirty="0">
                <a:sym typeface="Symbol" panose="05050102010706020507" pitchFamily="18" charset="2"/>
              </a:rPr>
              <a:t>在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zh-CN" altLang="en-US" dirty="0">
                <a:sym typeface="Symbol" panose="05050102010706020507" pitchFamily="18" charset="2"/>
              </a:rPr>
              <a:t>处可导，并且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称           极限           为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f(x)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在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处的导数</a:t>
            </a:r>
            <a:r>
              <a:rPr lang="zh-CN" altLang="en-US" dirty="0">
                <a:sym typeface="Symbol" panose="05050102010706020507" pitchFamily="18" charset="2"/>
              </a:rPr>
              <a:t>，记为</a:t>
            </a:r>
            <a:r>
              <a:rPr lang="en-US" altLang="zh-CN" dirty="0">
                <a:sym typeface="Symbol" panose="05050102010706020507" pitchFamily="18" charset="2"/>
              </a:rPr>
              <a:t>f’(x)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en-US" altLang="zh-CN" dirty="0">
              <a:sym typeface="Symbol" panose="05050102010706020507" pitchFamily="18" charset="2"/>
            </a:endParaRPr>
          </a:p>
          <a:p>
            <a:pPr lvl="2"/>
            <a:r>
              <a:rPr lang="zh-CN" altLang="en-US" dirty="0"/>
              <a:t>函数</a:t>
            </a:r>
            <a:r>
              <a:rPr lang="en-US" altLang="zh-CN" dirty="0"/>
              <a:t>f(x)</a:t>
            </a:r>
            <a:r>
              <a:rPr lang="zh-CN" altLang="en-US" dirty="0"/>
              <a:t>的导函数定义为：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275A2D-A813-48F9-972A-B264A3D3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A5B09D-BC2C-4B9B-B15D-3894D5D7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7</a:t>
            </a:fld>
            <a:endParaRPr lang="en-US" altLang="zh-CN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0E5DCDF-6C25-479B-8C7D-CE46511BC8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211605"/>
              </p:ext>
            </p:extLst>
          </p:nvPr>
        </p:nvGraphicFramePr>
        <p:xfrm>
          <a:off x="2000672" y="4236117"/>
          <a:ext cx="1083692" cy="839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" name="Equation" r:id="rId3" imgW="507960" imgH="393480" progId="Equation.DSMT4">
                  <p:embed/>
                </p:oleObj>
              </mc:Choice>
              <mc:Fallback>
                <p:oleObj name="Equation" r:id="rId3" imgW="507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0672" y="4236117"/>
                        <a:ext cx="1083692" cy="8398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F007E8B-53A0-421C-A131-16C3A4BDCD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818965"/>
              </p:ext>
            </p:extLst>
          </p:nvPr>
        </p:nvGraphicFramePr>
        <p:xfrm>
          <a:off x="2216696" y="5445224"/>
          <a:ext cx="52578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Equation" r:id="rId5" imgW="2463480" imgH="393480" progId="Equation.DSMT4">
                  <p:embed/>
                </p:oleObj>
              </mc:Choice>
              <mc:Fallback>
                <p:oleObj name="Equation" r:id="rId5" imgW="2463480" imgH="393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0E5DCDF-6C25-479B-8C7D-CE46511BC8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16696" y="5445224"/>
                        <a:ext cx="5257800" cy="839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2920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9ABD5-A222-494C-8D86-EAD14C4E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493BC6-3A7C-4796-9AA6-FFE7AA6FF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知识回顾：导数</a:t>
            </a:r>
            <a:endParaRPr lang="en-US" altLang="zh-CN" dirty="0"/>
          </a:p>
          <a:p>
            <a:pPr lvl="1"/>
            <a:r>
              <a:rPr lang="zh-CN" altLang="en-US" dirty="0"/>
              <a:t>导数的几何意义：</a:t>
            </a:r>
            <a:endParaRPr lang="en-US" altLang="zh-CN" dirty="0"/>
          </a:p>
          <a:p>
            <a:pPr lvl="2"/>
            <a:r>
              <a:rPr lang="zh-CN" altLang="en-US" dirty="0"/>
              <a:t>函数</a:t>
            </a:r>
            <a:r>
              <a:rPr lang="en-US" altLang="zh-CN" dirty="0"/>
              <a:t>y=f(x)</a:t>
            </a:r>
            <a:r>
              <a:rPr lang="zh-CN" altLang="en-US" dirty="0"/>
              <a:t>在</a:t>
            </a: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zh-CN" altLang="en-US" dirty="0"/>
              <a:t>点的导数</a:t>
            </a:r>
            <a:r>
              <a:rPr lang="en-US" altLang="zh-CN" dirty="0"/>
              <a:t>f’(x</a:t>
            </a:r>
            <a:r>
              <a:rPr lang="en-US" altLang="zh-CN" baseline="-25000" dirty="0"/>
              <a:t>0</a:t>
            </a:r>
            <a:r>
              <a:rPr lang="en-US" altLang="zh-CN" dirty="0"/>
              <a:t>)</a:t>
            </a:r>
            <a:r>
              <a:rPr lang="zh-CN" altLang="en-US" dirty="0"/>
              <a:t>的几何意义：表示函数曲线在点</a:t>
            </a:r>
            <a:r>
              <a:rPr lang="en-US" altLang="zh-CN" dirty="0"/>
              <a:t>P</a:t>
            </a:r>
            <a:r>
              <a:rPr lang="en-US" altLang="zh-CN" baseline="-25000" dirty="0"/>
              <a:t>0</a:t>
            </a:r>
            <a:r>
              <a:rPr lang="en-US" altLang="zh-CN" dirty="0"/>
              <a:t>(x</a:t>
            </a:r>
            <a:r>
              <a:rPr lang="en-US" altLang="zh-CN" baseline="-25000" dirty="0"/>
              <a:t>0</a:t>
            </a:r>
            <a:r>
              <a:rPr lang="en-US" altLang="zh-CN" dirty="0"/>
              <a:t>,f(x</a:t>
            </a:r>
            <a:r>
              <a:rPr lang="en-US" altLang="zh-CN" baseline="-25000" dirty="0"/>
              <a:t>0</a:t>
            </a:r>
            <a:r>
              <a:rPr lang="en-US" altLang="zh-CN" dirty="0"/>
              <a:t>))</a:t>
            </a:r>
            <a:r>
              <a:rPr lang="zh-CN" altLang="en-US" dirty="0"/>
              <a:t>处的切线的斜率。</a:t>
            </a:r>
            <a:endParaRPr lang="en-US" altLang="zh-CN" dirty="0"/>
          </a:p>
          <a:p>
            <a:pPr lvl="3"/>
            <a:r>
              <a:rPr lang="zh-CN" altLang="en-US" dirty="0"/>
              <a:t>使得一阶导数为</a:t>
            </a:r>
            <a:r>
              <a:rPr lang="en-US" altLang="zh-CN" dirty="0"/>
              <a:t>0</a:t>
            </a:r>
            <a:r>
              <a:rPr lang="zh-CN" altLang="en-US" dirty="0"/>
              <a:t>的点为极值点</a:t>
            </a:r>
            <a:endParaRPr lang="en-US" altLang="zh-CN" dirty="0"/>
          </a:p>
          <a:p>
            <a:pPr lvl="4"/>
            <a:r>
              <a:rPr lang="zh-CN" altLang="en-US" dirty="0"/>
              <a:t>如果二阶导数</a:t>
            </a:r>
            <a:r>
              <a:rPr lang="en-US" altLang="zh-CN" dirty="0"/>
              <a:t>&gt;0</a:t>
            </a:r>
            <a:r>
              <a:rPr lang="zh-CN" altLang="en-US" dirty="0"/>
              <a:t>，则为极小值点</a:t>
            </a:r>
            <a:endParaRPr lang="en-US" altLang="zh-CN" dirty="0"/>
          </a:p>
          <a:p>
            <a:pPr lvl="4"/>
            <a:r>
              <a:rPr lang="zh-CN" altLang="en-US" dirty="0"/>
              <a:t>如果二阶导数</a:t>
            </a:r>
            <a:r>
              <a:rPr lang="en-US" altLang="zh-CN" dirty="0"/>
              <a:t>&lt;0</a:t>
            </a:r>
            <a:r>
              <a:rPr lang="zh-CN" altLang="en-US" dirty="0"/>
              <a:t>，则为极大值点</a:t>
            </a:r>
            <a:endParaRPr lang="en-US" altLang="zh-CN" dirty="0"/>
          </a:p>
          <a:p>
            <a:pPr lvl="4"/>
            <a:r>
              <a:rPr lang="zh-CN" altLang="en-US" dirty="0"/>
              <a:t>如果二阶导数</a:t>
            </a:r>
            <a:r>
              <a:rPr lang="en-US" altLang="zh-CN" dirty="0"/>
              <a:t>=0</a:t>
            </a:r>
            <a:r>
              <a:rPr lang="zh-CN" altLang="en-US" dirty="0"/>
              <a:t>，则为拐点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275A2D-A813-48F9-972A-B264A3D3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A5B09D-BC2C-4B9B-B15D-3894D5D7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8</a:t>
            </a:fld>
            <a:endParaRPr lang="en-US" altLang="zh-CN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E2BE186-EFE9-4AF8-B8A0-A4759C5F40E5}"/>
              </a:ext>
            </a:extLst>
          </p:cNvPr>
          <p:cNvCxnSpPr>
            <a:cxnSpLocks/>
          </p:cNvCxnSpPr>
          <p:nvPr/>
        </p:nvCxnSpPr>
        <p:spPr bwMode="auto">
          <a:xfrm>
            <a:off x="6753200" y="5613686"/>
            <a:ext cx="29523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18604AE-F111-4589-8B6C-4D4D0CD4C515}"/>
              </a:ext>
            </a:extLst>
          </p:cNvPr>
          <p:cNvCxnSpPr>
            <a:cxnSpLocks/>
          </p:cNvCxnSpPr>
          <p:nvPr/>
        </p:nvCxnSpPr>
        <p:spPr bwMode="auto">
          <a:xfrm flipV="1">
            <a:off x="6753200" y="3669470"/>
            <a:ext cx="0" cy="19442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弧形 9">
            <a:extLst>
              <a:ext uri="{FF2B5EF4-FFF2-40B4-BE49-F238E27FC236}">
                <a16:creationId xmlns:a16="http://schemas.microsoft.com/office/drawing/2014/main" id="{91578797-9694-40B7-8093-58BF329F5F96}"/>
              </a:ext>
            </a:extLst>
          </p:cNvPr>
          <p:cNvSpPr/>
          <p:nvPr/>
        </p:nvSpPr>
        <p:spPr bwMode="auto">
          <a:xfrm>
            <a:off x="5399815" y="5085185"/>
            <a:ext cx="2706767" cy="1008111"/>
          </a:xfrm>
          <a:prstGeom prst="arc">
            <a:avLst>
              <a:gd name="adj1" fmla="val 16199994"/>
              <a:gd name="adj2" fmla="val 211352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BCE3D0C-1A20-4C59-BB20-BE840030613D}"/>
              </a:ext>
            </a:extLst>
          </p:cNvPr>
          <p:cNvCxnSpPr>
            <a:cxnSpLocks/>
          </p:cNvCxnSpPr>
          <p:nvPr/>
        </p:nvCxnSpPr>
        <p:spPr bwMode="auto">
          <a:xfrm>
            <a:off x="6321152" y="4509120"/>
            <a:ext cx="2376264" cy="122413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EA66265-EC2A-4364-8236-681E6A1CA2D3}"/>
              </a:ext>
            </a:extLst>
          </p:cNvPr>
          <p:cNvCxnSpPr>
            <a:cxnSpLocks/>
          </p:cNvCxnSpPr>
          <p:nvPr/>
        </p:nvCxnSpPr>
        <p:spPr bwMode="auto">
          <a:xfrm>
            <a:off x="7833320" y="5325654"/>
            <a:ext cx="0" cy="2880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5A40BC2-C135-4E21-8AC8-CE232FB2E891}"/>
              </a:ext>
            </a:extLst>
          </p:cNvPr>
          <p:cNvSpPr txBox="1"/>
          <p:nvPr/>
        </p:nvSpPr>
        <p:spPr>
          <a:xfrm>
            <a:off x="7746546" y="6342695"/>
            <a:ext cx="512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r>
              <a:rPr lang="en-US" altLang="zh-CN" sz="2400" baseline="-25000" dirty="0"/>
              <a:t>0</a:t>
            </a:r>
            <a:endParaRPr lang="zh-CN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95563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9ABD5-A222-494C-8D86-EAD14C4E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493BC6-3A7C-4796-9AA6-FFE7AA6FF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知识回顾：导数</a:t>
            </a:r>
            <a:endParaRPr lang="en-US" altLang="zh-CN" dirty="0"/>
          </a:p>
          <a:p>
            <a:pPr lvl="1"/>
            <a:r>
              <a:rPr lang="zh-CN" altLang="en-US" dirty="0"/>
              <a:t>导数公式：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275A2D-A813-48F9-972A-B264A3D3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A5B09D-BC2C-4B9B-B15D-3894D5D7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9</a:t>
            </a:fld>
            <a:endParaRPr lang="en-US" altLang="zh-CN" dirty="0"/>
          </a:p>
        </p:txBody>
      </p:sp>
      <p:pic>
        <p:nvPicPr>
          <p:cNvPr id="13" name="20 12">
            <a:extLst>
              <a:ext uri="{FF2B5EF4-FFF2-40B4-BE49-F238E27FC236}">
                <a16:creationId xmlns:a16="http://schemas.microsoft.com/office/drawing/2014/main" id="{FA88D337-3E23-430C-AD0A-155205E25B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62013" y="1075870"/>
            <a:ext cx="5963677" cy="510334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BE85CFE-5DFE-4E9D-A4AF-4948A25700D1}"/>
              </a:ext>
            </a:extLst>
          </p:cNvPr>
          <p:cNvSpPr txBox="1"/>
          <p:nvPr/>
        </p:nvSpPr>
        <p:spPr>
          <a:xfrm>
            <a:off x="97305" y="2628567"/>
            <a:ext cx="3690599" cy="2400657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ts val="18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常为零，幂降次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ts val="18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对倒数（</a:t>
            </a:r>
            <a:r>
              <a:rPr lang="en-US" altLang="zh-CN" sz="1800" i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lang="zh-CN" altLang="zh-CN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为底时直接倒数，</a:t>
            </a:r>
            <a:r>
              <a:rPr lang="en-US" altLang="zh-CN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为底时乘以</a:t>
            </a:r>
            <a:r>
              <a:rPr lang="en-US" altLang="zh-CN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1/</a:t>
            </a:r>
            <a:r>
              <a:rPr lang="en-US" altLang="zh-CN" sz="18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lna</a:t>
            </a:r>
            <a:r>
              <a:rPr lang="zh-CN" altLang="zh-CN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ts val="18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指不变（</a:t>
            </a:r>
            <a:r>
              <a:rPr lang="zh-CN" altLang="zh-CN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特别的，自然对数的指数函数完全不变，一般的指数函数须乘以</a:t>
            </a:r>
            <a:r>
              <a:rPr lang="en-US" altLang="zh-CN" sz="18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lna</a:t>
            </a:r>
            <a:r>
              <a:rPr lang="zh-CN" altLang="zh-CN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ts val="18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正变余，余变正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ts val="18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切割方（</a:t>
            </a:r>
            <a:r>
              <a:rPr lang="zh-CN" altLang="zh-CN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切函数是相应割函数（切函数的倒数）的平方</a:t>
            </a:r>
            <a:r>
              <a:rPr lang="zh-CN" altLang="zh-CN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ts val="18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割乘切，反分式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7540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20 7">
            <a:extLst>
              <a:ext uri="{FF2B5EF4-FFF2-40B4-BE49-F238E27FC236}">
                <a16:creationId xmlns:a16="http://schemas.microsoft.com/office/drawing/2014/main" id="{6F6A5D85-82B0-460F-8713-AD1716EAE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008" y="2798930"/>
            <a:ext cx="4776530" cy="358239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8E9ABD5-A222-494C-8D86-EAD14C4E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275A2D-A813-48F9-972A-B264A3D3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A5B09D-BC2C-4B9B-B15D-3894D5D7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10</a:t>
            </a:fld>
            <a:endParaRPr lang="en-US" altLang="zh-CN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0211381-20EF-40AA-A215-D680491797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886960"/>
              </p:ext>
            </p:extLst>
          </p:nvPr>
        </p:nvGraphicFramePr>
        <p:xfrm>
          <a:off x="200473" y="1221025"/>
          <a:ext cx="5472608" cy="2649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Equation" r:id="rId4" imgW="2438280" imgH="1180800" progId="Equation.DSMT4">
                  <p:embed/>
                </p:oleObj>
              </mc:Choice>
              <mc:Fallback>
                <p:oleObj name="Equation" r:id="rId4" imgW="2438280" imgH="1180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0211381-20EF-40AA-A215-D680491797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0473" y="1221025"/>
                        <a:ext cx="5472608" cy="2649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4062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40670-6EB9-4245-A17A-642FCDEF0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最优化问题实例分析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9B8D6-F890-40E7-A4EC-A88B8D339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54" y="1238064"/>
            <a:ext cx="9719492" cy="5264289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把半径为</a:t>
            </a:r>
            <a:r>
              <a:rPr lang="en-US" altLang="zh-CN" dirty="0"/>
              <a:t>1</a:t>
            </a:r>
            <a:r>
              <a:rPr lang="zh-CN" altLang="en-US" dirty="0"/>
              <a:t>的实心金属球熔化后，浇筑成一个实心圆柱体，则圆柱体的底边半径</a:t>
            </a:r>
            <a:r>
              <a:rPr lang="en-US" altLang="zh-CN" dirty="0"/>
              <a:t>r</a:t>
            </a:r>
            <a:r>
              <a:rPr lang="zh-CN" altLang="en-US" dirty="0"/>
              <a:t>和高</a:t>
            </a:r>
            <a:r>
              <a:rPr lang="en-US" altLang="zh-CN" dirty="0"/>
              <a:t>h</a:t>
            </a:r>
            <a:r>
              <a:rPr lang="zh-CN" altLang="en-US" dirty="0"/>
              <a:t>取何值才能使其表面积最小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125FD7-0504-480B-8E47-FDF2BCBB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0E8EDD-D9D6-4CD5-B3C0-4CADB545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11</a:t>
            </a:fld>
            <a:endParaRPr lang="en-US" altLang="zh-CN" dirty="0"/>
          </a:p>
        </p:txBody>
      </p:sp>
      <p:sp>
        <p:nvSpPr>
          <p:cNvPr id="6" name="圆柱体 5">
            <a:extLst>
              <a:ext uri="{FF2B5EF4-FFF2-40B4-BE49-F238E27FC236}">
                <a16:creationId xmlns:a16="http://schemas.microsoft.com/office/drawing/2014/main" id="{A3ACF51C-2A54-4879-A03B-588022F91FD1}"/>
              </a:ext>
            </a:extLst>
          </p:cNvPr>
          <p:cNvSpPr/>
          <p:nvPr/>
        </p:nvSpPr>
        <p:spPr bwMode="auto">
          <a:xfrm>
            <a:off x="5313040" y="3838185"/>
            <a:ext cx="2232248" cy="2304256"/>
          </a:xfrm>
          <a:prstGeom prst="can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13BCD41-E500-4C1B-98AE-D52177597ABE}"/>
              </a:ext>
            </a:extLst>
          </p:cNvPr>
          <p:cNvCxnSpPr/>
          <p:nvPr/>
        </p:nvCxnSpPr>
        <p:spPr bwMode="auto">
          <a:xfrm>
            <a:off x="6429164" y="4077072"/>
            <a:ext cx="11161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43B2700-5F99-4058-B1FE-4977C2F323F5}"/>
              </a:ext>
            </a:extLst>
          </p:cNvPr>
          <p:cNvCxnSpPr/>
          <p:nvPr/>
        </p:nvCxnSpPr>
        <p:spPr bwMode="auto">
          <a:xfrm flipV="1">
            <a:off x="6987226" y="3284984"/>
            <a:ext cx="558062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6611CA4-A8D5-4DD9-8933-4C8E2F375998}"/>
              </a:ext>
            </a:extLst>
          </p:cNvPr>
          <p:cNvSpPr txBox="1"/>
          <p:nvPr/>
        </p:nvSpPr>
        <p:spPr>
          <a:xfrm>
            <a:off x="7545288" y="4869160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高 </a:t>
            </a:r>
            <a:r>
              <a:rPr lang="en-US" altLang="zh-CN" sz="2400" dirty="0"/>
              <a:t>h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1BC310-E430-4D75-A6EE-C90BCC5BF908}"/>
              </a:ext>
            </a:extLst>
          </p:cNvPr>
          <p:cNvSpPr txBox="1"/>
          <p:nvPr/>
        </p:nvSpPr>
        <p:spPr>
          <a:xfrm>
            <a:off x="7545288" y="3099919"/>
            <a:ext cx="987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半径 </a:t>
            </a:r>
            <a:r>
              <a:rPr lang="en-US" altLang="zh-CN" sz="2400" dirty="0"/>
              <a:t>r</a:t>
            </a:r>
            <a:endParaRPr lang="zh-CN" altLang="en-US" sz="2400" dirty="0"/>
          </a:p>
        </p:txBody>
      </p:sp>
      <p:sp>
        <p:nvSpPr>
          <p:cNvPr id="18" name="流程图: 接点 17">
            <a:extLst>
              <a:ext uri="{FF2B5EF4-FFF2-40B4-BE49-F238E27FC236}">
                <a16:creationId xmlns:a16="http://schemas.microsoft.com/office/drawing/2014/main" id="{B6E116E8-0EE5-4B94-A190-97FC26633440}"/>
              </a:ext>
            </a:extLst>
          </p:cNvPr>
          <p:cNvSpPr/>
          <p:nvPr/>
        </p:nvSpPr>
        <p:spPr bwMode="auto">
          <a:xfrm>
            <a:off x="992560" y="3870208"/>
            <a:ext cx="2376264" cy="2151080"/>
          </a:xfrm>
          <a:prstGeom prst="flowChartConnector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08EEC0F-DF2E-4484-976F-80FABA6A2D8C}"/>
              </a:ext>
            </a:extLst>
          </p:cNvPr>
          <p:cNvCxnSpPr/>
          <p:nvPr/>
        </p:nvCxnSpPr>
        <p:spPr bwMode="auto">
          <a:xfrm>
            <a:off x="2252700" y="5013176"/>
            <a:ext cx="11161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89C2239-E8FF-4F20-800C-E90EDAA16638}"/>
              </a:ext>
            </a:extLst>
          </p:cNvPr>
          <p:cNvSpPr txBox="1"/>
          <p:nvPr/>
        </p:nvSpPr>
        <p:spPr>
          <a:xfrm>
            <a:off x="2310051" y="4551511"/>
            <a:ext cx="1056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半径 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3FB1D528-4237-49A7-A873-E24D8F27989D}"/>
              </a:ext>
            </a:extLst>
          </p:cNvPr>
          <p:cNvSpPr/>
          <p:nvPr/>
        </p:nvSpPr>
        <p:spPr bwMode="auto">
          <a:xfrm>
            <a:off x="3944888" y="4782343"/>
            <a:ext cx="739354" cy="54848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32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9B102-73EA-4E64-B83D-297CB10B0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28557-8B8B-4EC9-9636-5B53D1BEA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目标：圆柱体表面积最小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约束：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求解方法：拉格朗日乘数法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36FDC5-99C4-4191-9B8A-F0FB5B548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8B1CAB-B0F2-4ED2-A6B8-14970F99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EC870FC-E96D-477A-8438-144085A883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861312"/>
              </p:ext>
            </p:extLst>
          </p:nvPr>
        </p:nvGraphicFramePr>
        <p:xfrm>
          <a:off x="1900698" y="1789118"/>
          <a:ext cx="553243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name="Equation" r:id="rId3" imgW="1676160" imgH="228600" progId="Equation.DSMT4">
                  <p:embed/>
                </p:oleObj>
              </mc:Choice>
              <mc:Fallback>
                <p:oleObj name="Equation" r:id="rId3" imgW="167616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EC870FC-E96D-477A-8438-144085A88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0698" y="1789118"/>
                        <a:ext cx="5532437" cy="754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C9D9F19-314C-4361-9A31-B588DAAB8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467248"/>
              </p:ext>
            </p:extLst>
          </p:nvPr>
        </p:nvGraphicFramePr>
        <p:xfrm>
          <a:off x="1900698" y="2692899"/>
          <a:ext cx="4684712" cy="251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5" imgW="1587240" imgH="850680" progId="Equation.DSMT4">
                  <p:embed/>
                </p:oleObj>
              </mc:Choice>
              <mc:Fallback>
                <p:oleObj name="Equation" r:id="rId5" imgW="1587240" imgH="8506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C9D9F19-314C-4361-9A31-B588DAAB8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0698" y="2692899"/>
                        <a:ext cx="4684712" cy="2511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6260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29CB1-8623-4BE0-810C-CDCE9591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426B06-A0DB-4986-AF42-E0F7EE426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知识回顾：偏导数</a:t>
            </a:r>
            <a:endParaRPr lang="en-US" altLang="zh-CN" dirty="0"/>
          </a:p>
          <a:p>
            <a:pPr lvl="1"/>
            <a:r>
              <a:rPr lang="zh-CN" altLang="en-US" dirty="0"/>
              <a:t>定义：一个多变量的函数的偏导数，就是它关于</a:t>
            </a:r>
            <a:r>
              <a:rPr lang="zh-CN" altLang="en-US" dirty="0">
                <a:solidFill>
                  <a:srgbClr val="FF0000"/>
                </a:solidFill>
              </a:rPr>
              <a:t>其中一个变量的导数而保持其他变量恒定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对于二元函数</a:t>
            </a:r>
            <a:r>
              <a:rPr lang="en-US" altLang="zh-CN" dirty="0"/>
              <a:t>f(</a:t>
            </a:r>
            <a:r>
              <a:rPr lang="en-US" altLang="zh-CN" dirty="0" err="1"/>
              <a:t>x,y</a:t>
            </a:r>
            <a:r>
              <a:rPr lang="en-US" altLang="zh-CN" dirty="0"/>
              <a:t>) </a:t>
            </a:r>
            <a:r>
              <a:rPr lang="zh-CN" altLang="en-US" dirty="0"/>
              <a:t>，对于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的偏导数表示沿着平行于 </a:t>
            </a:r>
            <a:r>
              <a:rPr lang="en-US" altLang="zh-CN" dirty="0"/>
              <a:t>x </a:t>
            </a:r>
            <a:r>
              <a:rPr lang="zh-CN" altLang="en-US" dirty="0"/>
              <a:t>轴和平行于 </a:t>
            </a:r>
            <a:r>
              <a:rPr lang="en-US" altLang="zh-CN" dirty="0"/>
              <a:t>y </a:t>
            </a:r>
            <a:r>
              <a:rPr lang="zh-CN" altLang="en-US" dirty="0"/>
              <a:t>轴两个特殊方位变动时，</a:t>
            </a:r>
            <a:r>
              <a:rPr lang="en-US" altLang="zh-CN" dirty="0"/>
              <a:t>f(</a:t>
            </a:r>
            <a:r>
              <a:rPr lang="en-US" altLang="zh-CN" dirty="0" err="1"/>
              <a:t>x,y</a:t>
            </a:r>
            <a:r>
              <a:rPr lang="en-US" altLang="zh-CN" dirty="0"/>
              <a:t>) </a:t>
            </a:r>
            <a:r>
              <a:rPr lang="zh-CN" altLang="en-US" dirty="0"/>
              <a:t>的变化率。</a:t>
            </a:r>
            <a:endParaRPr lang="en-US" altLang="zh-CN" dirty="0"/>
          </a:p>
          <a:p>
            <a:pPr lvl="2"/>
            <a:r>
              <a:rPr lang="zh-CN" altLang="en-US" dirty="0"/>
              <a:t>偏导数的符号为</a:t>
            </a:r>
            <a:endParaRPr lang="en-US" altLang="zh-CN" dirty="0"/>
          </a:p>
          <a:p>
            <a:pPr lvl="2"/>
            <a:r>
              <a:rPr lang="zh-CN" altLang="en-US" dirty="0"/>
              <a:t>在二元函数中，偏导数反映的是函数沿坐标轴正方向的变化率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66A888-2E0D-412F-AF69-E450ED7F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4080F0-AF91-494D-9BF4-74B1ACF1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1F3E0DA-38C0-435D-8642-C97473CD71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05340"/>
              </p:ext>
            </p:extLst>
          </p:nvPr>
        </p:nvGraphicFramePr>
        <p:xfrm>
          <a:off x="3797300" y="4581128"/>
          <a:ext cx="308606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3" imgW="126720" imgH="177480" progId="Equation.DSMT4">
                  <p:embed/>
                </p:oleObj>
              </mc:Choice>
              <mc:Fallback>
                <p:oleObj name="Equation" r:id="rId3" imgW="126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7300" y="4581128"/>
                        <a:ext cx="308606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1705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F7C88-D350-4328-9A7E-E511DA9C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5AB5DA-6D0F-4D1B-82D4-40ACAE42E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知识回顾：偏导数</a:t>
            </a:r>
            <a:endParaRPr lang="en-US" altLang="zh-CN" dirty="0"/>
          </a:p>
          <a:p>
            <a:pPr lvl="1"/>
            <a:r>
              <a:rPr lang="zh-CN" altLang="en-US" dirty="0"/>
              <a:t>偏导数的数学含义：</a:t>
            </a:r>
            <a:endParaRPr lang="en-US" altLang="zh-CN" dirty="0"/>
          </a:p>
          <a:p>
            <a:pPr lvl="2"/>
            <a:r>
              <a:rPr lang="zh-CN" altLang="en-US" dirty="0"/>
              <a:t>一个多元函数</a:t>
            </a:r>
            <a:r>
              <a:rPr lang="en-US" altLang="zh-CN" dirty="0"/>
              <a:t>f(x</a:t>
            </a:r>
            <a:r>
              <a:rPr lang="en-US" altLang="zh-CN" baseline="-25000" dirty="0"/>
              <a:t>1</a:t>
            </a:r>
            <a:r>
              <a:rPr lang="en-US" altLang="zh-CN" dirty="0"/>
              <a:t>,x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/>
              <a:t>)</a:t>
            </a:r>
            <a:r>
              <a:rPr lang="zh-CN" altLang="en-US" dirty="0"/>
              <a:t>，对任意变量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en-US" altLang="zh-CN" dirty="0"/>
              <a:t>(1&lt;=</a:t>
            </a:r>
            <a:r>
              <a:rPr lang="en-US" altLang="zh-CN" dirty="0" err="1"/>
              <a:t>i</a:t>
            </a:r>
            <a:r>
              <a:rPr lang="en-US" altLang="zh-CN" dirty="0"/>
              <a:t>&lt;=n)</a:t>
            </a:r>
            <a:r>
              <a:rPr lang="zh-CN" altLang="en-US" dirty="0"/>
              <a:t>，其偏导数表示为：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51F732-ACD4-4BBC-B8C9-A9862AC9B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51391E-027E-4146-BFD0-DC1A00DE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14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34404D0-75E4-43D2-8E70-F6F90EA0D1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04950"/>
              </p:ext>
            </p:extLst>
          </p:nvPr>
        </p:nvGraphicFramePr>
        <p:xfrm>
          <a:off x="1017588" y="3573463"/>
          <a:ext cx="8523287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Equation" r:id="rId3" imgW="3720960" imgH="660240" progId="Equation.DSMT4">
                  <p:embed/>
                </p:oleObj>
              </mc:Choice>
              <mc:Fallback>
                <p:oleObj name="Equation" r:id="rId3" imgW="372096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7588" y="3573463"/>
                        <a:ext cx="8523287" cy="151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7941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20 5">
            <a:extLst>
              <a:ext uri="{FF2B5EF4-FFF2-40B4-BE49-F238E27FC236}">
                <a16:creationId xmlns:a16="http://schemas.microsoft.com/office/drawing/2014/main" id="{0F644AE1-BC97-4E7A-BA69-A8FA594DF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864" y="1334214"/>
            <a:ext cx="6119092" cy="529038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BE262D-FDE2-461F-8EBA-35C366AE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9E69C6-924F-4727-8409-4783E6BA8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知识回顾：偏导数</a:t>
            </a:r>
            <a:endParaRPr lang="en-US" altLang="zh-CN" dirty="0"/>
          </a:p>
          <a:p>
            <a:pPr lvl="1"/>
            <a:r>
              <a:rPr lang="zh-CN" altLang="en-US" dirty="0"/>
              <a:t>偏导数的几何含义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0C8A0-DE5E-4B46-A7A0-8B095C7BA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9E1036-AD5D-4D97-A614-DCA6ECBA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15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EAFC470-762D-40E6-9BE3-9B82B52C6C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960719"/>
              </p:ext>
            </p:extLst>
          </p:nvPr>
        </p:nvGraphicFramePr>
        <p:xfrm>
          <a:off x="244788" y="2803875"/>
          <a:ext cx="4249311" cy="2719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Equation" r:id="rId4" imgW="1790640" imgH="1143000" progId="Equation.DSMT4">
                  <p:embed/>
                </p:oleObj>
              </mc:Choice>
              <mc:Fallback>
                <p:oleObj name="Equation" r:id="rId4" imgW="179064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788" y="2803875"/>
                        <a:ext cx="4249311" cy="27199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882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5B0F57-9D4A-4D26-B518-8CBFF638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DF455-A981-4589-BCDB-DB71A2937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知识回顾：拉格朗日乘数法</a:t>
            </a:r>
            <a:endParaRPr lang="en-US" altLang="zh-CN" dirty="0"/>
          </a:p>
          <a:p>
            <a:pPr lvl="1"/>
            <a:r>
              <a:rPr lang="zh-CN" altLang="en-US" dirty="0"/>
              <a:t>定义：假设一个二元函数</a:t>
            </a:r>
            <a:r>
              <a:rPr lang="en-US" altLang="zh-CN" dirty="0"/>
              <a:t>z=f(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和约束条件</a:t>
            </a:r>
            <a:r>
              <a:rPr lang="en-US" altLang="zh-CN" dirty="0"/>
              <a:t>g(</a:t>
            </a:r>
            <a:r>
              <a:rPr lang="en-US" altLang="zh-CN" dirty="0" err="1"/>
              <a:t>x,y</a:t>
            </a:r>
            <a:r>
              <a:rPr lang="en-US" altLang="zh-CN" dirty="0"/>
              <a:t>)=0</a:t>
            </a:r>
            <a:r>
              <a:rPr lang="zh-CN" altLang="en-US" dirty="0"/>
              <a:t>。则令</a:t>
            </a:r>
            <a:r>
              <a:rPr lang="en-US" altLang="zh-CN" dirty="0"/>
              <a:t>F(</a:t>
            </a:r>
            <a:r>
              <a:rPr lang="en-US" altLang="zh-CN" dirty="0" err="1"/>
              <a:t>x,y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</a:t>
            </a:r>
            <a:r>
              <a:rPr lang="en-US" altLang="zh-CN" dirty="0"/>
              <a:t>)=f(</a:t>
            </a:r>
            <a:r>
              <a:rPr lang="en-US" altLang="zh-CN" dirty="0" err="1"/>
              <a:t>x,y</a:t>
            </a:r>
            <a:r>
              <a:rPr lang="en-US" altLang="zh-CN" dirty="0"/>
              <a:t>)+</a:t>
            </a:r>
            <a:r>
              <a:rPr lang="en-US" altLang="zh-CN" dirty="0">
                <a:sym typeface="Symbol" panose="05050102010706020507" pitchFamily="18" charset="2"/>
              </a:rPr>
              <a:t>g(</a:t>
            </a:r>
            <a:r>
              <a:rPr lang="en-US" altLang="zh-CN" dirty="0" err="1">
                <a:sym typeface="Symbol" panose="05050102010706020507" pitchFamily="18" charset="2"/>
              </a:rPr>
              <a:t>x,y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</a:t>
            </a:r>
            <a:r>
              <a:rPr lang="zh-CN" altLang="en-US" dirty="0">
                <a:sym typeface="Symbol" panose="05050102010706020507" pitchFamily="18" charset="2"/>
              </a:rPr>
              <a:t>为参数。则：</a:t>
            </a:r>
            <a:endParaRPr lang="en-US" altLang="zh-CN" dirty="0">
              <a:sym typeface="Symbol" panose="05050102010706020507" pitchFamily="18" charset="2"/>
            </a:endParaRPr>
          </a:p>
          <a:p>
            <a:pPr lvl="2"/>
            <a:r>
              <a:rPr lang="zh-CN" altLang="en-US" dirty="0">
                <a:sym typeface="Symbol" panose="05050102010706020507" pitchFamily="18" charset="2"/>
              </a:rPr>
              <a:t>分别对</a:t>
            </a:r>
            <a:r>
              <a:rPr lang="en-US" altLang="zh-CN" dirty="0"/>
              <a:t>F(</a:t>
            </a:r>
            <a:r>
              <a:rPr lang="en-US" altLang="zh-CN" dirty="0" err="1"/>
              <a:t>x,y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</a:t>
            </a:r>
            <a:r>
              <a:rPr lang="en-US" altLang="zh-CN" dirty="0"/>
              <a:t>)</a:t>
            </a:r>
            <a:r>
              <a:rPr lang="zh-CN" altLang="en-US" dirty="0"/>
              <a:t>求</a:t>
            </a:r>
            <a:r>
              <a:rPr lang="en-US" altLang="zh-CN" dirty="0" err="1"/>
              <a:t>x,y</a:t>
            </a:r>
            <a:r>
              <a:rPr lang="zh-CN" altLang="en-US" dirty="0"/>
              <a:t>和</a:t>
            </a:r>
            <a:r>
              <a:rPr lang="en-US" altLang="zh-CN" dirty="0">
                <a:sym typeface="Symbol" panose="05050102010706020507" pitchFamily="18" charset="2"/>
              </a:rPr>
              <a:t></a:t>
            </a:r>
            <a:r>
              <a:rPr lang="zh-CN" altLang="en-US" dirty="0">
                <a:sym typeface="Symbol" panose="05050102010706020507" pitchFamily="18" charset="2"/>
              </a:rPr>
              <a:t>的偏导数，令其等于</a:t>
            </a:r>
            <a:r>
              <a:rPr lang="en-US" altLang="zh-CN" dirty="0">
                <a:sym typeface="Symbol" panose="05050102010706020507" pitchFamily="18" charset="2"/>
              </a:rPr>
              <a:t>0.</a:t>
            </a:r>
          </a:p>
          <a:p>
            <a:pPr lvl="2"/>
            <a:r>
              <a:rPr lang="zh-CN" altLang="en-US" dirty="0"/>
              <a:t>求解得到的三个方程的方程组，得到</a:t>
            </a:r>
            <a:r>
              <a:rPr lang="en-US" altLang="zh-CN" dirty="0"/>
              <a:t>x, y, </a:t>
            </a:r>
            <a:r>
              <a:rPr lang="en-US" altLang="zh-CN" dirty="0">
                <a:sym typeface="Symbol" panose="05050102010706020507" pitchFamily="18" charset="2"/>
              </a:rPr>
              <a:t>.</a:t>
            </a:r>
          </a:p>
          <a:p>
            <a:pPr lvl="2"/>
            <a:r>
              <a:rPr lang="zh-CN" altLang="en-US" dirty="0"/>
              <a:t>如果得到满足条件的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y,</a:t>
            </a:r>
            <a:r>
              <a:rPr lang="zh-CN" altLang="en-US" dirty="0"/>
              <a:t>则这就是目标极值点。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FD22AD-A580-4103-9E2A-7285051A6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A86993-4BCA-4589-943C-2D3F980C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0814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DC8B8-D723-4C9C-AE81-E691CF6ED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212443-6C3A-4379-9CF8-B2E1401E7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D9CF51-8D42-45C4-805E-012157FF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17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5C383BA-22E0-474C-8D03-37291D05AE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801977"/>
              </p:ext>
            </p:extLst>
          </p:nvPr>
        </p:nvGraphicFramePr>
        <p:xfrm>
          <a:off x="200472" y="1194987"/>
          <a:ext cx="7429698" cy="4976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8" name="Equation" r:id="rId3" imgW="2425680" imgH="1625400" progId="Equation.DSMT4">
                  <p:embed/>
                </p:oleObj>
              </mc:Choice>
              <mc:Fallback>
                <p:oleObj name="Equation" r:id="rId3" imgW="2425680" imgH="1625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EC870FC-E96D-477A-8438-144085A88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472" y="1194987"/>
                        <a:ext cx="7429698" cy="4976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大括号 7">
            <a:extLst>
              <a:ext uri="{FF2B5EF4-FFF2-40B4-BE49-F238E27FC236}">
                <a16:creationId xmlns:a16="http://schemas.microsoft.com/office/drawing/2014/main" id="{67B1D0A8-FD82-42AE-95EC-B876A0A8D0FF}"/>
              </a:ext>
            </a:extLst>
          </p:cNvPr>
          <p:cNvSpPr/>
          <p:nvPr/>
        </p:nvSpPr>
        <p:spPr bwMode="auto">
          <a:xfrm>
            <a:off x="6897216" y="2924944"/>
            <a:ext cx="936104" cy="3096344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30C9E9E-C220-4664-8D3E-F1B81DB20D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946024"/>
              </p:ext>
            </p:extLst>
          </p:nvPr>
        </p:nvGraphicFramePr>
        <p:xfrm>
          <a:off x="8049344" y="3140968"/>
          <a:ext cx="1584176" cy="2464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9" name="Equation" r:id="rId5" imgW="571320" imgH="888840" progId="Equation.DSMT4">
                  <p:embed/>
                </p:oleObj>
              </mc:Choice>
              <mc:Fallback>
                <p:oleObj name="Equation" r:id="rId5" imgW="57132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49344" y="3140968"/>
                        <a:ext cx="1584176" cy="24642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0058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40670-6EB9-4245-A17A-642FCDEF0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最优化问题实例分析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9B8D6-F890-40E7-A4EC-A88B8D339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54" y="1238064"/>
            <a:ext cx="9719492" cy="5264289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（</a:t>
            </a:r>
            <a:r>
              <a:rPr lang="en-US" altLang="zh-CN" dirty="0"/>
              <a:t>P3</a:t>
            </a:r>
            <a:r>
              <a:rPr lang="zh-CN" altLang="en-US" dirty="0"/>
              <a:t>例</a:t>
            </a:r>
            <a:r>
              <a:rPr lang="en-US" altLang="zh-CN" dirty="0"/>
              <a:t>1-1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要制作一个体积为</a:t>
            </a:r>
            <a:r>
              <a:rPr lang="en-US" altLang="zh-CN" dirty="0"/>
              <a:t>5</a:t>
            </a:r>
            <a:r>
              <a:rPr lang="zh-CN" altLang="en-US" dirty="0"/>
              <a:t>立方米的无盖货箱，由于运输要求，其长度不得小于</a:t>
            </a:r>
            <a:r>
              <a:rPr lang="en-US" altLang="zh-CN" dirty="0"/>
              <a:t>4</a:t>
            </a:r>
            <a:r>
              <a:rPr lang="zh-CN" altLang="en-US" dirty="0"/>
              <a:t>米，则如何设定长，宽和高，以保证用料最省。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125FD7-0504-480B-8E47-FDF2BCBB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0E8EDD-D9D6-4CD5-B3C0-4CADB545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18</a:t>
            </a:fld>
            <a:endParaRPr lang="en-US" altLang="zh-CN" dirty="0"/>
          </a:p>
        </p:txBody>
      </p:sp>
      <p:sp>
        <p:nvSpPr>
          <p:cNvPr id="7" name="立方体 6">
            <a:extLst>
              <a:ext uri="{FF2B5EF4-FFF2-40B4-BE49-F238E27FC236}">
                <a16:creationId xmlns:a16="http://schemas.microsoft.com/office/drawing/2014/main" id="{7D9F8FFC-3DF6-4779-8F4D-C8C1B98CBDEE}"/>
              </a:ext>
            </a:extLst>
          </p:cNvPr>
          <p:cNvSpPr/>
          <p:nvPr/>
        </p:nvSpPr>
        <p:spPr bwMode="auto">
          <a:xfrm>
            <a:off x="2216696" y="3870209"/>
            <a:ext cx="4176464" cy="1512168"/>
          </a:xfrm>
          <a:prstGeom prst="cub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C2C572-E0EC-486D-B361-91A302E15861}"/>
              </a:ext>
            </a:extLst>
          </p:cNvPr>
          <p:cNvSpPr txBox="1"/>
          <p:nvPr/>
        </p:nvSpPr>
        <p:spPr>
          <a:xfrm>
            <a:off x="3656856" y="5393987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长 </a:t>
            </a:r>
            <a:r>
              <a:rPr lang="en-US" altLang="zh-CN" sz="2400" dirty="0"/>
              <a:t>x1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8596DE-CE40-46E2-BD5D-ADEE8AEE01A3}"/>
              </a:ext>
            </a:extLst>
          </p:cNvPr>
          <p:cNvSpPr txBox="1"/>
          <p:nvPr/>
        </p:nvSpPr>
        <p:spPr>
          <a:xfrm>
            <a:off x="6108700" y="5129468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宽 </a:t>
            </a:r>
            <a:r>
              <a:rPr lang="en-US" altLang="zh-CN" sz="2400" dirty="0"/>
              <a:t>x2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F4C1D5-82AC-47A8-972A-F64E53CA7A4E}"/>
              </a:ext>
            </a:extLst>
          </p:cNvPr>
          <p:cNvSpPr txBox="1"/>
          <p:nvPr/>
        </p:nvSpPr>
        <p:spPr>
          <a:xfrm>
            <a:off x="6428381" y="4028727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高 </a:t>
            </a:r>
            <a:r>
              <a:rPr lang="en-US" altLang="zh-CN" sz="2400" dirty="0"/>
              <a:t>x3</a:t>
            </a:r>
            <a:endParaRPr lang="zh-CN" altLang="en-US" sz="2400" dirty="0"/>
          </a:p>
        </p:txBody>
      </p:sp>
      <p:sp>
        <p:nvSpPr>
          <p:cNvPr id="16" name="爆炸形: 14 pt  15">
            <a:extLst>
              <a:ext uri="{FF2B5EF4-FFF2-40B4-BE49-F238E27FC236}">
                <a16:creationId xmlns:a16="http://schemas.microsoft.com/office/drawing/2014/main" id="{368406FE-9FDB-41DA-AFF2-6CC94DA9B311}"/>
              </a:ext>
            </a:extLst>
          </p:cNvPr>
          <p:cNvSpPr/>
          <p:nvPr/>
        </p:nvSpPr>
        <p:spPr bwMode="auto">
          <a:xfrm>
            <a:off x="6978135" y="4525044"/>
            <a:ext cx="2978627" cy="1565191"/>
          </a:xfrm>
          <a:prstGeom prst="irregularSeal2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FF0000"/>
                </a:solidFill>
              </a:rPr>
              <a:t>铁皮面积最小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3506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9B102-73EA-4E64-B83D-297CB10B0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28557-8B8B-4EC9-9636-5B53D1BEA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目标：铁皮面积最小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约束：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求解方法：拉格朗日乘数法？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36FDC5-99C4-4191-9B8A-F0FB5B548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8B1CAB-B0F2-4ED2-A6B8-14970F99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19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EC870FC-E96D-477A-8438-144085A883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871234"/>
              </p:ext>
            </p:extLst>
          </p:nvPr>
        </p:nvGraphicFramePr>
        <p:xfrm>
          <a:off x="992560" y="1844824"/>
          <a:ext cx="7920880" cy="670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2" name="Equation" r:id="rId3" imgW="2400120" imgH="203040" progId="Equation.DSMT4">
                  <p:embed/>
                </p:oleObj>
              </mc:Choice>
              <mc:Fallback>
                <p:oleObj name="Equation" r:id="rId3" imgW="24001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2560" y="1844824"/>
                        <a:ext cx="7920880" cy="670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C9D9F19-314C-4361-9A31-B588DAAB8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700866"/>
              </p:ext>
            </p:extLst>
          </p:nvPr>
        </p:nvGraphicFramePr>
        <p:xfrm>
          <a:off x="1900698" y="2624418"/>
          <a:ext cx="1874154" cy="2548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3" name="Equation" r:id="rId5" imgW="634680" imgH="863280" progId="Equation.DSMT4">
                  <p:embed/>
                </p:oleObj>
              </mc:Choice>
              <mc:Fallback>
                <p:oleObj name="Equation" r:id="rId5" imgW="6346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0698" y="2624418"/>
                        <a:ext cx="1874154" cy="2548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爆炸形: 14 pt  7">
            <a:extLst>
              <a:ext uri="{FF2B5EF4-FFF2-40B4-BE49-F238E27FC236}">
                <a16:creationId xmlns:a16="http://schemas.microsoft.com/office/drawing/2014/main" id="{AD669603-19F3-4700-B101-21739D7596D5}"/>
              </a:ext>
            </a:extLst>
          </p:cNvPr>
          <p:cNvSpPr/>
          <p:nvPr/>
        </p:nvSpPr>
        <p:spPr bwMode="auto">
          <a:xfrm>
            <a:off x="4808984" y="3046300"/>
            <a:ext cx="4392488" cy="1894868"/>
          </a:xfrm>
          <a:prstGeom prst="irregularSeal2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FF0000"/>
                </a:solidFill>
              </a:rPr>
              <a:t>计算困难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FF0000"/>
                </a:solidFill>
              </a:rPr>
              <a:t>求不出解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533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40670-6EB9-4245-A17A-642FCDEF0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最优化问题实例分析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9B8D6-F890-40E7-A4EC-A88B8D339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54" y="1238064"/>
            <a:ext cx="9719492" cy="5264289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有编号分别为</a:t>
            </a:r>
            <a:r>
              <a:rPr lang="en-US" altLang="zh-CN" dirty="0" err="1"/>
              <a:t>a,b,c,d,e</a:t>
            </a:r>
            <a:r>
              <a:rPr lang="zh-CN" altLang="en-US" dirty="0"/>
              <a:t>的</a:t>
            </a:r>
            <a:r>
              <a:rPr lang="en-US" altLang="zh-CN" dirty="0"/>
              <a:t>5</a:t>
            </a:r>
            <a:r>
              <a:rPr lang="zh-CN" altLang="en-US" dirty="0"/>
              <a:t>件物品，它们的重量分别是</a:t>
            </a:r>
            <a:r>
              <a:rPr lang="en-US" altLang="zh-CN" dirty="0"/>
              <a:t>2,2,6,5,4</a:t>
            </a:r>
            <a:r>
              <a:rPr lang="zh-CN" altLang="en-US" dirty="0"/>
              <a:t>，它们的价值分别是</a:t>
            </a:r>
            <a:r>
              <a:rPr lang="en-US" altLang="zh-CN" dirty="0"/>
              <a:t>6,3,5,4,6</a:t>
            </a:r>
            <a:r>
              <a:rPr lang="zh-CN" altLang="en-US" dirty="0"/>
              <a:t>，现在给你个承重为</a:t>
            </a:r>
            <a:r>
              <a:rPr lang="en-US" altLang="zh-CN" dirty="0"/>
              <a:t>10</a:t>
            </a:r>
            <a:r>
              <a:rPr lang="zh-CN" altLang="en-US" dirty="0"/>
              <a:t>的背包，假设物品不可拆分，则如何选择合适的物品装入背包，在保证总容量不超过</a:t>
            </a:r>
            <a:r>
              <a:rPr lang="en-US" altLang="zh-CN" dirty="0"/>
              <a:t>10</a:t>
            </a:r>
            <a:r>
              <a:rPr lang="zh-CN" altLang="en-US" dirty="0"/>
              <a:t>的情况下，使得背包内物品具有最大的价值总和？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125FD7-0504-480B-8E47-FDF2BCBB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0E8EDD-D9D6-4CD5-B3C0-4CADB545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0040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31CA8B-CBEE-41EF-B3B0-777A854F1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06524B-83F5-43F8-86E7-532337C9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42693D-9D6B-4A2E-8872-D484A3CA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E051124-A3D4-4220-A64F-D50360954A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52"/>
              </p:ext>
            </p:extLst>
          </p:nvPr>
        </p:nvGraphicFramePr>
        <p:xfrm>
          <a:off x="776536" y="1350169"/>
          <a:ext cx="4896544" cy="441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3" imgW="1828800" imgH="1650960" progId="Equation.DSMT4">
                  <p:embed/>
                </p:oleObj>
              </mc:Choice>
              <mc:Fallback>
                <p:oleObj name="Equation" r:id="rId3" imgW="1828800" imgH="1650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9DAB4FE-2D41-4312-8268-98D098070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6536" y="1350169"/>
                        <a:ext cx="4896544" cy="4419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6DE5C0D-1BFC-4FF4-98E1-7AB0313AE95B}"/>
              </a:ext>
            </a:extLst>
          </p:cNvPr>
          <p:cNvSpPr txBox="1"/>
          <p:nvPr/>
        </p:nvSpPr>
        <p:spPr>
          <a:xfrm>
            <a:off x="5889104" y="17445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目标函数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F52ACF-EC53-4E1B-AA5A-A41B01555694}"/>
              </a:ext>
            </a:extLst>
          </p:cNvPr>
          <p:cNvSpPr txBox="1"/>
          <p:nvPr/>
        </p:nvSpPr>
        <p:spPr>
          <a:xfrm>
            <a:off x="5889104" y="352605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约束条件</a:t>
            </a:r>
          </a:p>
        </p:txBody>
      </p:sp>
      <p:sp>
        <p:nvSpPr>
          <p:cNvPr id="9" name="爆炸形: 14 pt  8">
            <a:extLst>
              <a:ext uri="{FF2B5EF4-FFF2-40B4-BE49-F238E27FC236}">
                <a16:creationId xmlns:a16="http://schemas.microsoft.com/office/drawing/2014/main" id="{A340EAF2-CFE4-4C8F-AFB8-26E29C0BCA1F}"/>
              </a:ext>
            </a:extLst>
          </p:cNvPr>
          <p:cNvSpPr/>
          <p:nvPr/>
        </p:nvSpPr>
        <p:spPr bwMode="auto">
          <a:xfrm>
            <a:off x="4985124" y="4263127"/>
            <a:ext cx="4896543" cy="1894868"/>
          </a:xfrm>
          <a:prstGeom prst="irregularSeal2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FF0000"/>
                </a:solidFill>
              </a:rPr>
              <a:t>动态规划等现代优化方法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9320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A0C66-4D9F-4359-9DE5-2C7211B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最优化的数学模型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3CD4F-44B0-4075-ACEE-432EA9E1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最优化问题的数学表达方式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A1D5-E93B-4AB7-B1F3-C4062ADE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E51AC-B9BC-4C09-8F90-B048AEFE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A5B78ED-8F60-4B99-B852-FE145D9286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861173"/>
              </p:ext>
            </p:extLst>
          </p:nvPr>
        </p:nvGraphicFramePr>
        <p:xfrm>
          <a:off x="1030394" y="2537821"/>
          <a:ext cx="6981115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Equation" r:id="rId3" imgW="2793960" imgH="749160" progId="Equation.DSMT4">
                  <p:embed/>
                </p:oleObj>
              </mc:Choice>
              <mc:Fallback>
                <p:oleObj name="Equation" r:id="rId3" imgW="279396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0394" y="2537821"/>
                        <a:ext cx="6981115" cy="1872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思想气泡: 云 6">
            <a:extLst>
              <a:ext uri="{FF2B5EF4-FFF2-40B4-BE49-F238E27FC236}">
                <a16:creationId xmlns:a16="http://schemas.microsoft.com/office/drawing/2014/main" id="{61BEFBFB-EA65-4E81-AF2F-FB112AF04F4F}"/>
              </a:ext>
            </a:extLst>
          </p:cNvPr>
          <p:cNvSpPr/>
          <p:nvPr/>
        </p:nvSpPr>
        <p:spPr bwMode="auto">
          <a:xfrm>
            <a:off x="6461507" y="1781705"/>
            <a:ext cx="2880320" cy="576064"/>
          </a:xfrm>
          <a:prstGeom prst="cloudCallout">
            <a:avLst>
              <a:gd name="adj1" fmla="val -67250"/>
              <a:gd name="adj2" fmla="val 82065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目标函数</a:t>
            </a:r>
          </a:p>
        </p:txBody>
      </p:sp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2B350C34-EB70-42E5-B2AF-F2B6FA371673}"/>
              </a:ext>
            </a:extLst>
          </p:cNvPr>
          <p:cNvSpPr/>
          <p:nvPr/>
        </p:nvSpPr>
        <p:spPr bwMode="auto">
          <a:xfrm>
            <a:off x="344488" y="4973466"/>
            <a:ext cx="2774139" cy="1161357"/>
          </a:xfrm>
          <a:prstGeom prst="cloudCallout">
            <a:avLst>
              <a:gd name="adj1" fmla="val -16061"/>
              <a:gd name="adj2" fmla="val -157389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/>
              <a:t>subject to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受限于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64BD2-B637-4128-B016-9B14427E2962}"/>
              </a:ext>
            </a:extLst>
          </p:cNvPr>
          <p:cNvSpPr/>
          <p:nvPr/>
        </p:nvSpPr>
        <p:spPr bwMode="auto">
          <a:xfrm>
            <a:off x="1784648" y="3271881"/>
            <a:ext cx="6336704" cy="1161357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思想气泡: 云 10">
            <a:extLst>
              <a:ext uri="{FF2B5EF4-FFF2-40B4-BE49-F238E27FC236}">
                <a16:creationId xmlns:a16="http://schemas.microsoft.com/office/drawing/2014/main" id="{7B1F2AA0-9D81-4BA6-B13A-538B674E0A79}"/>
              </a:ext>
            </a:extLst>
          </p:cNvPr>
          <p:cNvSpPr/>
          <p:nvPr/>
        </p:nvSpPr>
        <p:spPr bwMode="auto">
          <a:xfrm>
            <a:off x="4917790" y="4973466"/>
            <a:ext cx="3851634" cy="1047822"/>
          </a:xfrm>
          <a:prstGeom prst="cloudCallout">
            <a:avLst>
              <a:gd name="adj1" fmla="val -31345"/>
              <a:gd name="adj2" fmla="val -99078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约束条件，包含若干个等式或者不等式</a:t>
            </a:r>
            <a:endParaRPr lang="en-US" altLang="zh-CN" dirty="0"/>
          </a:p>
        </p:txBody>
      </p:sp>
      <p:sp>
        <p:nvSpPr>
          <p:cNvPr id="12" name="思想气泡: 云 11">
            <a:extLst>
              <a:ext uri="{FF2B5EF4-FFF2-40B4-BE49-F238E27FC236}">
                <a16:creationId xmlns:a16="http://schemas.microsoft.com/office/drawing/2014/main" id="{D972D338-F40B-4A0B-81F4-06172E9FADEE}"/>
              </a:ext>
            </a:extLst>
          </p:cNvPr>
          <p:cNvSpPr/>
          <p:nvPr/>
        </p:nvSpPr>
        <p:spPr bwMode="auto">
          <a:xfrm>
            <a:off x="564173" y="1732198"/>
            <a:ext cx="2774138" cy="565931"/>
          </a:xfrm>
          <a:prstGeom prst="cloudCallout">
            <a:avLst>
              <a:gd name="adj1" fmla="val 48694"/>
              <a:gd name="adj2" fmla="val 128115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设计变量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64EA86-4898-4DF9-90C2-E8CEFEE6157A}"/>
              </a:ext>
            </a:extLst>
          </p:cNvPr>
          <p:cNvSpPr/>
          <p:nvPr/>
        </p:nvSpPr>
        <p:spPr bwMode="auto">
          <a:xfrm>
            <a:off x="1784648" y="2609965"/>
            <a:ext cx="6336704" cy="580679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36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A0C66-4D9F-4359-9DE5-2C7211B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最优化的数学模型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3CD4F-44B0-4075-ACEE-432EA9E1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设计变量</a:t>
            </a:r>
            <a:endParaRPr lang="en-US" altLang="zh-CN" dirty="0"/>
          </a:p>
          <a:p>
            <a:pPr lvl="1"/>
            <a:r>
              <a:rPr lang="zh-CN" altLang="en-US" dirty="0"/>
              <a:t>多维的设计变量</a:t>
            </a:r>
            <a:endParaRPr lang="en-US" altLang="zh-CN" dirty="0"/>
          </a:p>
          <a:p>
            <a:pPr lvl="2"/>
            <a:r>
              <a:rPr lang="zh-CN" altLang="en-US" dirty="0"/>
              <a:t>工程应用中，设计变量通常表示一组参数，用于表示一个设计方案。</a:t>
            </a:r>
            <a:endParaRPr lang="en-US" altLang="zh-CN" dirty="0"/>
          </a:p>
          <a:p>
            <a:pPr lvl="2"/>
            <a:endParaRPr lang="en-US" altLang="zh-CN" dirty="0"/>
          </a:p>
          <a:p>
            <a:pPr lvl="3"/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是一个向量，包含</a:t>
            </a:r>
            <a:r>
              <a:rPr lang="en-US" altLang="zh-CN" dirty="0"/>
              <a:t>n</a:t>
            </a:r>
            <a:r>
              <a:rPr lang="zh-CN" altLang="en-US" dirty="0"/>
              <a:t>个参数（特征），</a:t>
            </a:r>
            <a:r>
              <a:rPr lang="en-US" altLang="zh-CN" dirty="0">
                <a:solidFill>
                  <a:srgbClr val="0000FF"/>
                </a:solidFill>
              </a:rPr>
              <a:t>R</a:t>
            </a:r>
            <a:r>
              <a:rPr lang="en-US" altLang="zh-CN" baseline="30000" dirty="0">
                <a:solidFill>
                  <a:srgbClr val="0000FF"/>
                </a:solidFill>
              </a:rPr>
              <a:t>n</a:t>
            </a:r>
            <a:r>
              <a:rPr lang="zh-CN" altLang="en-US" dirty="0"/>
              <a:t>表示一个</a:t>
            </a:r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zh-CN" altLang="en-US" dirty="0">
                <a:solidFill>
                  <a:srgbClr val="0000FF"/>
                </a:solidFill>
              </a:rPr>
              <a:t>维</a:t>
            </a:r>
            <a:r>
              <a:rPr lang="zh-CN" altLang="en-US" dirty="0"/>
              <a:t>的实欧式空间，也称之为设计空间</a:t>
            </a:r>
            <a:endParaRPr lang="en-US" altLang="zh-CN" dirty="0"/>
          </a:p>
          <a:p>
            <a:pPr lvl="3"/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zh-CN" altLang="en-US" dirty="0"/>
              <a:t>又称为优化设计的</a:t>
            </a:r>
            <a:r>
              <a:rPr lang="zh-CN" altLang="en-US" dirty="0">
                <a:solidFill>
                  <a:srgbClr val="0000FF"/>
                </a:solidFill>
              </a:rPr>
              <a:t>自由度</a:t>
            </a:r>
            <a:endParaRPr lang="en-US" altLang="zh-CN" dirty="0">
              <a:solidFill>
                <a:srgbClr val="0000FF"/>
              </a:solidFill>
            </a:endParaRPr>
          </a:p>
          <a:p>
            <a:pPr lvl="4"/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越大</a:t>
            </a:r>
            <a:r>
              <a:rPr lang="zh-CN" altLang="en-US" dirty="0"/>
              <a:t>，说明设计变量多，</a:t>
            </a:r>
            <a:r>
              <a:rPr lang="zh-CN" altLang="en-US" dirty="0">
                <a:solidFill>
                  <a:srgbClr val="FF0000"/>
                </a:solidFill>
              </a:rPr>
              <a:t>设计灵活，但是计算复杂</a:t>
            </a:r>
            <a:endParaRPr lang="en-US" altLang="zh-CN" dirty="0">
              <a:solidFill>
                <a:srgbClr val="FF0000"/>
              </a:solidFill>
            </a:endParaRPr>
          </a:p>
          <a:p>
            <a:pPr lvl="4"/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zh-CN" altLang="en-US" dirty="0">
                <a:solidFill>
                  <a:srgbClr val="0000FF"/>
                </a:solidFill>
              </a:rPr>
              <a:t>越小</a:t>
            </a:r>
            <a:r>
              <a:rPr lang="zh-CN" altLang="en-US" dirty="0"/>
              <a:t>，说明设计变量少，</a:t>
            </a:r>
            <a:r>
              <a:rPr lang="zh-CN" altLang="en-US" dirty="0">
                <a:solidFill>
                  <a:srgbClr val="0000FF"/>
                </a:solidFill>
              </a:rPr>
              <a:t>计算简单，但是设计灵活性较差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A1D5-E93B-4AB7-B1F3-C4062ADE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E51AC-B9BC-4C09-8F90-B048AEFE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A5B78ED-8F60-4B99-B852-FE145D9286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4928" y="3284984"/>
          <a:ext cx="168116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" name="Equation" r:id="rId3" imgW="672840" imgH="279360" progId="Equation.DSMT4">
                  <p:embed/>
                </p:oleObj>
              </mc:Choice>
              <mc:Fallback>
                <p:oleObj name="Equation" r:id="rId3" imgW="67284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A5B78ED-8F60-4B99-B852-FE145D9286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04928" y="3284984"/>
                        <a:ext cx="1681162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思想气泡: 云 6">
            <a:extLst>
              <a:ext uri="{FF2B5EF4-FFF2-40B4-BE49-F238E27FC236}">
                <a16:creationId xmlns:a16="http://schemas.microsoft.com/office/drawing/2014/main" id="{B4578D50-9696-4E89-AB59-DDEC0CCCEC11}"/>
              </a:ext>
            </a:extLst>
          </p:cNvPr>
          <p:cNvSpPr/>
          <p:nvPr/>
        </p:nvSpPr>
        <p:spPr bwMode="auto">
          <a:xfrm>
            <a:off x="4088904" y="1268760"/>
            <a:ext cx="5400600" cy="1296144"/>
          </a:xfrm>
          <a:prstGeom prst="cloudCallout">
            <a:avLst>
              <a:gd name="adj1" fmla="val -37174"/>
              <a:gd name="adj2" fmla="val 236408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在满足需求的前提下，合理的减少</a:t>
            </a:r>
            <a:r>
              <a:rPr lang="en-US" altLang="zh-CN" sz="2400" dirty="0">
                <a:solidFill>
                  <a:srgbClr val="C00000"/>
                </a:solidFill>
              </a:rPr>
              <a:t>n</a:t>
            </a:r>
            <a:r>
              <a:rPr lang="zh-CN" altLang="en-US" sz="2400" dirty="0">
                <a:solidFill>
                  <a:srgbClr val="C00000"/>
                </a:solidFill>
              </a:rPr>
              <a:t>的值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8135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A0C66-4D9F-4359-9DE5-2C7211B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最优化的数学模型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3CD4F-44B0-4075-ACEE-432EA9E1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设计变量</a:t>
            </a:r>
            <a:endParaRPr lang="en-US" altLang="zh-CN" dirty="0"/>
          </a:p>
          <a:p>
            <a:pPr lvl="1"/>
            <a:r>
              <a:rPr lang="zh-CN" altLang="en-US" dirty="0"/>
              <a:t>设计变量的向量表示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一组设计变量表示设计空间中的一点，也就是一个设计方案。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A1D5-E93B-4AB7-B1F3-C4062ADE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E51AC-B9BC-4C09-8F90-B048AEFE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24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E07A679-8ACD-4193-8B55-48A9AE8863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649198"/>
              </p:ext>
            </p:extLst>
          </p:nvPr>
        </p:nvGraphicFramePr>
        <p:xfrm>
          <a:off x="2936776" y="2492896"/>
          <a:ext cx="3743300" cy="2233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Equation" r:id="rId3" imgW="1574640" imgH="939600" progId="Equation.DSMT4">
                  <p:embed/>
                </p:oleObj>
              </mc:Choice>
              <mc:Fallback>
                <p:oleObj name="Equation" r:id="rId3" imgW="15746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36776" y="2492896"/>
                        <a:ext cx="3743300" cy="2233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6693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F50284-C832-4F9A-9EC7-9B8394DB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设计向量的几何表示意义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8D49E-965D-431B-8C46-AF5B2A0BC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ED0FFE-1D61-45E1-957D-C458B096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25</a:t>
            </a:fld>
            <a:endParaRPr lang="en-US" altLang="zh-CN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0130AA5-68B8-4A1D-8FA8-EB83EACB6DBB}"/>
              </a:ext>
            </a:extLst>
          </p:cNvPr>
          <p:cNvCxnSpPr>
            <a:cxnSpLocks/>
          </p:cNvCxnSpPr>
          <p:nvPr/>
        </p:nvCxnSpPr>
        <p:spPr bwMode="auto">
          <a:xfrm>
            <a:off x="560512" y="3140968"/>
            <a:ext cx="200749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30C5DB1-3302-4DE7-A8D3-E513C74CCF6B}"/>
              </a:ext>
            </a:extLst>
          </p:cNvPr>
          <p:cNvCxnSpPr>
            <a:cxnSpLocks/>
          </p:cNvCxnSpPr>
          <p:nvPr/>
        </p:nvCxnSpPr>
        <p:spPr bwMode="auto">
          <a:xfrm flipV="1">
            <a:off x="560512" y="1340768"/>
            <a:ext cx="0" cy="1800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71D9832-9C3D-457B-A6B6-F0353281BCE2}"/>
              </a:ext>
            </a:extLst>
          </p:cNvPr>
          <p:cNvCxnSpPr>
            <a:cxnSpLocks/>
          </p:cNvCxnSpPr>
          <p:nvPr/>
        </p:nvCxnSpPr>
        <p:spPr bwMode="auto">
          <a:xfrm flipV="1">
            <a:off x="560512" y="2348880"/>
            <a:ext cx="792088" cy="79208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93FE5BD-665B-4635-9159-976B1DD67CE5}"/>
              </a:ext>
            </a:extLst>
          </p:cNvPr>
          <p:cNvSpPr txBox="1"/>
          <p:nvPr/>
        </p:nvSpPr>
        <p:spPr>
          <a:xfrm>
            <a:off x="336589" y="4299804"/>
            <a:ext cx="24553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n=2</a:t>
            </a:r>
            <a:r>
              <a:rPr lang="zh-CN" altLang="en-US" sz="2400" dirty="0"/>
              <a:t>时，设计向量</a:t>
            </a:r>
            <a:r>
              <a:rPr lang="en-US" altLang="zh-CN" sz="2400" dirty="0"/>
              <a:t>X=(x1,x2) </a:t>
            </a:r>
            <a:r>
              <a:rPr lang="zh-CN" altLang="en-US" sz="2400" dirty="0"/>
              <a:t>表示一个二维设计平面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430DF9C-62A2-43AF-B884-79B0AC3318D6}"/>
              </a:ext>
            </a:extLst>
          </p:cNvPr>
          <p:cNvCxnSpPr>
            <a:cxnSpLocks/>
          </p:cNvCxnSpPr>
          <p:nvPr/>
        </p:nvCxnSpPr>
        <p:spPr bwMode="auto">
          <a:xfrm>
            <a:off x="1352600" y="2348880"/>
            <a:ext cx="0" cy="7920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59966F1-858F-43AA-BD5A-2FE209CDA4B4}"/>
              </a:ext>
            </a:extLst>
          </p:cNvPr>
          <p:cNvCxnSpPr>
            <a:cxnSpLocks/>
          </p:cNvCxnSpPr>
          <p:nvPr/>
        </p:nvCxnSpPr>
        <p:spPr bwMode="auto">
          <a:xfrm flipH="1">
            <a:off x="560512" y="2348880"/>
            <a:ext cx="79208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CA7C054-8F93-47DB-83E3-D7D2217CD663}"/>
              </a:ext>
            </a:extLst>
          </p:cNvPr>
          <p:cNvSpPr txBox="1"/>
          <p:nvPr/>
        </p:nvSpPr>
        <p:spPr>
          <a:xfrm>
            <a:off x="2101210" y="3257659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AC685E-D3FB-4EF4-9D04-12A34C135B10}"/>
              </a:ext>
            </a:extLst>
          </p:cNvPr>
          <p:cNvSpPr txBox="1"/>
          <p:nvPr/>
        </p:nvSpPr>
        <p:spPr>
          <a:xfrm>
            <a:off x="560512" y="1398607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954A401-7DCD-4567-88B4-0B6908D1CEBD}"/>
              </a:ext>
            </a:extLst>
          </p:cNvPr>
          <p:cNvCxnSpPr/>
          <p:nvPr/>
        </p:nvCxnSpPr>
        <p:spPr bwMode="auto">
          <a:xfrm>
            <a:off x="5797298" y="3140968"/>
            <a:ext cx="200749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03B85F6-3171-4ACE-944F-948AC5D50129}"/>
              </a:ext>
            </a:extLst>
          </p:cNvPr>
          <p:cNvCxnSpPr/>
          <p:nvPr/>
        </p:nvCxnSpPr>
        <p:spPr bwMode="auto">
          <a:xfrm flipV="1">
            <a:off x="5797298" y="1340768"/>
            <a:ext cx="0" cy="1800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0F3B579-1DEA-46F1-8574-7B249D6D7924}"/>
              </a:ext>
            </a:extLst>
          </p:cNvPr>
          <p:cNvCxnSpPr>
            <a:cxnSpLocks/>
          </p:cNvCxnSpPr>
          <p:nvPr/>
        </p:nvCxnSpPr>
        <p:spPr bwMode="auto">
          <a:xfrm flipV="1">
            <a:off x="5797298" y="2636912"/>
            <a:ext cx="879509" cy="5040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4F84471-94D8-4621-8B02-C8AAFD745741}"/>
              </a:ext>
            </a:extLst>
          </p:cNvPr>
          <p:cNvCxnSpPr/>
          <p:nvPr/>
        </p:nvCxnSpPr>
        <p:spPr bwMode="auto">
          <a:xfrm>
            <a:off x="6676807" y="2650237"/>
            <a:ext cx="0" cy="7920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1EB6B6A-66A1-4685-A24A-7BFDA4212A2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811233" y="2368217"/>
            <a:ext cx="778152" cy="2686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4B28CA18-1BAA-49D7-A4A3-30E5DDCC19F4}"/>
              </a:ext>
            </a:extLst>
          </p:cNvPr>
          <p:cNvSpPr txBox="1"/>
          <p:nvPr/>
        </p:nvSpPr>
        <p:spPr>
          <a:xfrm>
            <a:off x="7337996" y="325765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CD2AB3C-287F-4E39-A675-98C9DB39DC48}"/>
              </a:ext>
            </a:extLst>
          </p:cNvPr>
          <p:cNvSpPr txBox="1"/>
          <p:nvPr/>
        </p:nvSpPr>
        <p:spPr>
          <a:xfrm>
            <a:off x="5797298" y="139860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BBACE77-42DA-409B-8563-E4BD1A8A5450}"/>
              </a:ext>
            </a:extLst>
          </p:cNvPr>
          <p:cNvCxnSpPr/>
          <p:nvPr/>
        </p:nvCxnSpPr>
        <p:spPr bwMode="auto">
          <a:xfrm flipH="1">
            <a:off x="4917790" y="3109156"/>
            <a:ext cx="907377" cy="6078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0A66449-901F-4A99-A6AD-DB5648C273CD}"/>
              </a:ext>
            </a:extLst>
          </p:cNvPr>
          <p:cNvCxnSpPr>
            <a:cxnSpLocks/>
          </p:cNvCxnSpPr>
          <p:nvPr/>
        </p:nvCxnSpPr>
        <p:spPr bwMode="auto">
          <a:xfrm>
            <a:off x="5811233" y="3152858"/>
            <a:ext cx="894405" cy="25680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43C895D-895C-49EC-AB42-84D051D96012}"/>
              </a:ext>
            </a:extLst>
          </p:cNvPr>
          <p:cNvCxnSpPr>
            <a:cxnSpLocks/>
          </p:cNvCxnSpPr>
          <p:nvPr/>
        </p:nvCxnSpPr>
        <p:spPr bwMode="auto">
          <a:xfrm flipH="1">
            <a:off x="6718610" y="3152858"/>
            <a:ext cx="322623" cy="2568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0B110D6-28B4-4579-8F1E-B4F9F6B55A02}"/>
              </a:ext>
            </a:extLst>
          </p:cNvPr>
          <p:cNvCxnSpPr>
            <a:cxnSpLocks/>
          </p:cNvCxnSpPr>
          <p:nvPr/>
        </p:nvCxnSpPr>
        <p:spPr bwMode="auto">
          <a:xfrm>
            <a:off x="5447740" y="3409663"/>
            <a:ext cx="1147743" cy="1933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CB4DA30-8D47-49C3-91A9-C5BDABCF45A4}"/>
              </a:ext>
            </a:extLst>
          </p:cNvPr>
          <p:cNvCxnSpPr/>
          <p:nvPr/>
        </p:nvCxnSpPr>
        <p:spPr bwMode="auto">
          <a:xfrm>
            <a:off x="7041233" y="2390704"/>
            <a:ext cx="0" cy="7920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73DA688-F76A-40A8-8345-D973E47689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697709" y="2368217"/>
            <a:ext cx="322623" cy="2568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0230F38-5A8C-475B-A14C-9C8E27B8A6F6}"/>
              </a:ext>
            </a:extLst>
          </p:cNvPr>
          <p:cNvCxnSpPr>
            <a:cxnSpLocks/>
          </p:cNvCxnSpPr>
          <p:nvPr/>
        </p:nvCxnSpPr>
        <p:spPr bwMode="auto">
          <a:xfrm>
            <a:off x="5392459" y="2685588"/>
            <a:ext cx="1" cy="72407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D8622C9D-462B-43E8-A368-BE54EE736AD6}"/>
              </a:ext>
            </a:extLst>
          </p:cNvPr>
          <p:cNvCxnSpPr>
            <a:cxnSpLocks/>
          </p:cNvCxnSpPr>
          <p:nvPr/>
        </p:nvCxnSpPr>
        <p:spPr bwMode="auto">
          <a:xfrm>
            <a:off x="5392461" y="2666251"/>
            <a:ext cx="1147743" cy="1933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F75423CD-8AC9-47A1-9E2B-307BC332049B}"/>
              </a:ext>
            </a:extLst>
          </p:cNvPr>
          <p:cNvSpPr txBox="1"/>
          <p:nvPr/>
        </p:nvSpPr>
        <p:spPr>
          <a:xfrm>
            <a:off x="5392459" y="4206393"/>
            <a:ext cx="24553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n=3</a:t>
            </a:r>
            <a:r>
              <a:rPr lang="zh-CN" altLang="en-US" sz="2400" dirty="0"/>
              <a:t>时，设计向量</a:t>
            </a:r>
            <a:r>
              <a:rPr lang="en-US" altLang="zh-CN" sz="2400" dirty="0"/>
              <a:t>X=(x1,x2,x3) </a:t>
            </a:r>
            <a:r>
              <a:rPr lang="zh-CN" altLang="en-US" sz="2400" dirty="0"/>
              <a:t>表示一个三维设计空间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C9C86F7-90E7-401F-8811-4396C34F7BCC}"/>
              </a:ext>
            </a:extLst>
          </p:cNvPr>
          <p:cNvSpPr txBox="1"/>
          <p:nvPr/>
        </p:nvSpPr>
        <p:spPr>
          <a:xfrm>
            <a:off x="4626497" y="33477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1783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A0C66-4D9F-4359-9DE5-2C7211B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最优化的数学模型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3CD4F-44B0-4075-ACEE-432EA9E1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目标函数</a:t>
            </a:r>
            <a:endParaRPr lang="en-US" altLang="zh-CN" dirty="0"/>
          </a:p>
          <a:p>
            <a:pPr lvl="1"/>
            <a:r>
              <a:rPr lang="zh-CN" altLang="en-US" dirty="0"/>
              <a:t>目标函数的意义</a:t>
            </a:r>
            <a:endParaRPr lang="en-US" altLang="zh-CN" dirty="0"/>
          </a:p>
          <a:p>
            <a:pPr lvl="2"/>
            <a:r>
              <a:rPr lang="zh-CN" altLang="en-US" dirty="0"/>
              <a:t>工程应用中，目标函数是用于</a:t>
            </a:r>
            <a:r>
              <a:rPr lang="zh-CN" altLang="en-US" dirty="0">
                <a:solidFill>
                  <a:srgbClr val="C00000"/>
                </a:solidFill>
              </a:rPr>
              <a:t>评价一个设计方案优劣的数学表达式</a:t>
            </a:r>
            <a:r>
              <a:rPr lang="zh-CN" altLang="en-US" dirty="0"/>
              <a:t>，又称为</a:t>
            </a:r>
            <a:r>
              <a:rPr lang="zh-CN" altLang="en-US" dirty="0">
                <a:solidFill>
                  <a:srgbClr val="0000FF"/>
                </a:solidFill>
              </a:rPr>
              <a:t>评价函数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endParaRPr lang="en-US" altLang="zh-CN" dirty="0"/>
          </a:p>
          <a:p>
            <a:pPr lvl="3"/>
            <a:r>
              <a:rPr lang="zh-CN" altLang="en-US" dirty="0"/>
              <a:t>工程应用中存在着最大值和最小值两种目标：</a:t>
            </a:r>
            <a:endParaRPr lang="en-US" altLang="zh-CN" dirty="0"/>
          </a:p>
          <a:p>
            <a:pPr lvl="4"/>
            <a:r>
              <a:rPr lang="zh-CN" altLang="en-US" dirty="0"/>
              <a:t>为了方便，本课程统一将优化目标设置为最小值（</a:t>
            </a:r>
            <a:r>
              <a:rPr lang="en-US" altLang="zh-CN" dirty="0"/>
              <a:t>min</a:t>
            </a:r>
            <a:r>
              <a:rPr lang="zh-CN" altLang="en-US" dirty="0"/>
              <a:t>）</a:t>
            </a:r>
            <a:endParaRPr lang="en-US" altLang="zh-CN" dirty="0"/>
          </a:p>
          <a:p>
            <a:pPr lvl="4"/>
            <a:r>
              <a:rPr lang="zh-CN" altLang="en-US" dirty="0"/>
              <a:t>如果实际问题是求最大值，则表示如下：</a:t>
            </a:r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A1D5-E93B-4AB7-B1F3-C4062ADE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E51AC-B9BC-4C09-8F90-B048AEFE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26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A5B78ED-8F60-4B99-B852-FE145D9286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336101"/>
              </p:ext>
            </p:extLst>
          </p:nvPr>
        </p:nvGraphicFramePr>
        <p:xfrm>
          <a:off x="4232920" y="3429000"/>
          <a:ext cx="168116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2" name="Equation" r:id="rId3" imgW="672840" imgH="279360" progId="Equation.DSMT4">
                  <p:embed/>
                </p:oleObj>
              </mc:Choice>
              <mc:Fallback>
                <p:oleObj name="Equation" r:id="rId3" imgW="67284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A5B78ED-8F60-4B99-B852-FE145D9286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32920" y="3429000"/>
                        <a:ext cx="1681162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284476A-36EA-49C1-A900-24A86FC94F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714321"/>
              </p:ext>
            </p:extLst>
          </p:nvPr>
        </p:nvGraphicFramePr>
        <p:xfrm>
          <a:off x="3944888" y="5381171"/>
          <a:ext cx="2862436" cy="1215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3" name="Equation" r:id="rId5" imgW="1676160" imgH="711000" progId="Equation.DSMT4">
                  <p:embed/>
                </p:oleObj>
              </mc:Choice>
              <mc:Fallback>
                <p:oleObj name="Equation" r:id="rId5" imgW="1676160" imgH="7110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A5B78ED-8F60-4B99-B852-FE145D9286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44888" y="5381171"/>
                        <a:ext cx="2862436" cy="12157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6910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A0C66-4D9F-4359-9DE5-2C7211B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最优化的数学模型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3CD4F-44B0-4075-ACEE-432EA9E1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目标函数</a:t>
            </a:r>
            <a:endParaRPr lang="en-US" altLang="zh-CN" dirty="0"/>
          </a:p>
          <a:p>
            <a:pPr lvl="1"/>
            <a:r>
              <a:rPr lang="zh-CN" altLang="en-US" dirty="0"/>
              <a:t>目标函数的分类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单目标优化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dirty="0"/>
              <a:t>若设计指标只有一项，则为单目标优化，例如企业效益问题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0000FF"/>
                </a:solidFill>
              </a:rPr>
              <a:t>多目标优化</a:t>
            </a:r>
            <a:endParaRPr lang="en-US" altLang="zh-CN" dirty="0">
              <a:solidFill>
                <a:srgbClr val="0000FF"/>
              </a:solidFill>
            </a:endParaRPr>
          </a:p>
          <a:p>
            <a:pPr lvl="3"/>
            <a:r>
              <a:rPr lang="zh-CN" altLang="en-US" dirty="0"/>
              <a:t>若设计指标有多项，则为多目标优化，例如学生奖学金评定问题</a:t>
            </a:r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A1D5-E93B-4AB7-B1F3-C4062ADE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E51AC-B9BC-4C09-8F90-B048AEFE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27</a:t>
            </a:fld>
            <a:endParaRPr lang="en-US" altLang="zh-CN" dirty="0"/>
          </a:p>
        </p:txBody>
      </p:sp>
      <p:sp>
        <p:nvSpPr>
          <p:cNvPr id="6" name="思想气泡: 云 5">
            <a:extLst>
              <a:ext uri="{FF2B5EF4-FFF2-40B4-BE49-F238E27FC236}">
                <a16:creationId xmlns:a16="http://schemas.microsoft.com/office/drawing/2014/main" id="{E155B8A7-C9A0-4165-BA06-5BA194D5F1AF}"/>
              </a:ext>
            </a:extLst>
          </p:cNvPr>
          <p:cNvSpPr/>
          <p:nvPr/>
        </p:nvSpPr>
        <p:spPr bwMode="auto">
          <a:xfrm>
            <a:off x="4953000" y="1268760"/>
            <a:ext cx="4176464" cy="1008112"/>
          </a:xfrm>
          <a:prstGeom prst="cloudCallout">
            <a:avLst>
              <a:gd name="adj1" fmla="val -89047"/>
              <a:gd name="adj2" fmla="val 94845"/>
            </a:avLst>
          </a:prstGeom>
          <a:solidFill>
            <a:srgbClr val="FFFF66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本课程研究重点</a:t>
            </a:r>
          </a:p>
        </p:txBody>
      </p:sp>
    </p:spTree>
    <p:extLst>
      <p:ext uri="{BB962C8B-B14F-4D97-AF65-F5344CB8AC3E}">
        <p14:creationId xmlns:p14="http://schemas.microsoft.com/office/powerpoint/2010/main" val="2656844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A0C66-4D9F-4359-9DE5-2C7211B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最优化的数学模型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3CD4F-44B0-4075-ACEE-432EA9E1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目标函数等值线</a:t>
            </a:r>
            <a:endParaRPr lang="en-US" altLang="zh-CN" dirty="0"/>
          </a:p>
          <a:p>
            <a:pPr lvl="1"/>
            <a:r>
              <a:rPr lang="zh-CN" altLang="en-US" dirty="0"/>
              <a:t>等值线的表达方式</a:t>
            </a:r>
            <a:endParaRPr lang="en-US" altLang="zh-CN" dirty="0"/>
          </a:p>
          <a:p>
            <a:pPr lvl="2"/>
            <a:r>
              <a:rPr lang="zh-CN" altLang="en-US" dirty="0"/>
              <a:t>对于一个设计向量</a:t>
            </a:r>
            <a:r>
              <a:rPr lang="en-US" altLang="zh-CN" dirty="0"/>
              <a:t>X, </a:t>
            </a:r>
            <a:r>
              <a:rPr lang="zh-CN" altLang="en-US" dirty="0"/>
              <a:t>给定常量</a:t>
            </a:r>
            <a:r>
              <a:rPr lang="en-US" altLang="zh-CN" dirty="0"/>
              <a:t>C</a:t>
            </a:r>
            <a:r>
              <a:rPr lang="zh-CN" altLang="en-US" dirty="0"/>
              <a:t>，则称函数                是目标函数的等值线</a:t>
            </a:r>
            <a:endParaRPr lang="en-US" altLang="zh-CN" dirty="0"/>
          </a:p>
          <a:p>
            <a:pPr lvl="3"/>
            <a:r>
              <a:rPr lang="zh-CN" altLang="en-US" dirty="0"/>
              <a:t>等目标函数值恒等于</a:t>
            </a:r>
            <a:r>
              <a:rPr lang="en-US" altLang="zh-CN" dirty="0"/>
              <a:t>C</a:t>
            </a:r>
            <a:r>
              <a:rPr lang="zh-CN" altLang="en-US" dirty="0"/>
              <a:t>时，设计向量</a:t>
            </a:r>
            <a:r>
              <a:rPr lang="en-US" altLang="zh-CN" dirty="0"/>
              <a:t>X</a:t>
            </a:r>
            <a:r>
              <a:rPr lang="zh-CN" altLang="en-US" dirty="0"/>
              <a:t>有多个可以满足条件的设计点与之相对应。</a:t>
            </a:r>
            <a:endParaRPr lang="en-US" altLang="zh-CN" dirty="0"/>
          </a:p>
          <a:p>
            <a:pPr lvl="4"/>
            <a:r>
              <a:rPr lang="zh-CN" altLang="en-US" dirty="0"/>
              <a:t>如果</a:t>
            </a:r>
            <a:r>
              <a:rPr lang="en-US" altLang="zh-CN" dirty="0">
                <a:solidFill>
                  <a:srgbClr val="FF0000"/>
                </a:solidFill>
              </a:rPr>
              <a:t>n=2</a:t>
            </a:r>
            <a:r>
              <a:rPr lang="zh-CN" altLang="en-US" dirty="0"/>
              <a:t>，则满足条件的设计点构成的曲面是</a:t>
            </a:r>
            <a:r>
              <a:rPr lang="zh-CN" altLang="en-US" dirty="0">
                <a:solidFill>
                  <a:srgbClr val="FF0000"/>
                </a:solidFill>
              </a:rPr>
              <a:t>等值曲线</a:t>
            </a:r>
            <a:endParaRPr lang="en-US" altLang="zh-CN" dirty="0">
              <a:solidFill>
                <a:srgbClr val="FF0000"/>
              </a:solidFill>
            </a:endParaRPr>
          </a:p>
          <a:p>
            <a:pPr lvl="4"/>
            <a:r>
              <a:rPr lang="zh-CN" altLang="en-US" dirty="0"/>
              <a:t>如果</a:t>
            </a:r>
            <a:r>
              <a:rPr lang="en-US" altLang="zh-CN" dirty="0">
                <a:solidFill>
                  <a:srgbClr val="0000FF"/>
                </a:solidFill>
              </a:rPr>
              <a:t>n=3</a:t>
            </a:r>
            <a:r>
              <a:rPr lang="zh-CN" altLang="en-US" dirty="0"/>
              <a:t>，则满足条件的设计点构成的曲面是</a:t>
            </a:r>
            <a:r>
              <a:rPr lang="zh-CN" altLang="en-US" dirty="0">
                <a:solidFill>
                  <a:srgbClr val="0000FF"/>
                </a:solidFill>
              </a:rPr>
              <a:t>等值曲面</a:t>
            </a:r>
            <a:endParaRPr lang="en-US" altLang="zh-CN" dirty="0">
              <a:solidFill>
                <a:srgbClr val="0000FF"/>
              </a:solidFill>
            </a:endParaRPr>
          </a:p>
          <a:p>
            <a:pPr lvl="4"/>
            <a:r>
              <a:rPr lang="zh-CN" altLang="en-US" dirty="0"/>
              <a:t>如果</a:t>
            </a:r>
            <a:r>
              <a:rPr lang="en-US" altLang="zh-CN" dirty="0">
                <a:solidFill>
                  <a:srgbClr val="7030A0"/>
                </a:solidFill>
              </a:rPr>
              <a:t>n&gt;3</a:t>
            </a:r>
            <a:r>
              <a:rPr lang="zh-CN" altLang="en-US" dirty="0"/>
              <a:t>，称为</a:t>
            </a:r>
            <a:r>
              <a:rPr lang="zh-CN" altLang="en-US" dirty="0">
                <a:solidFill>
                  <a:srgbClr val="7030A0"/>
                </a:solidFill>
              </a:rPr>
              <a:t>等值超曲面</a:t>
            </a:r>
            <a:r>
              <a:rPr lang="zh-CN" altLang="en-US" dirty="0"/>
              <a:t>（无法画出）</a:t>
            </a:r>
            <a:endParaRPr lang="en-US" altLang="zh-CN" dirty="0"/>
          </a:p>
          <a:p>
            <a:pPr lvl="4"/>
            <a:endParaRPr lang="en-US" altLang="zh-CN" dirty="0"/>
          </a:p>
          <a:p>
            <a:pPr lvl="4"/>
            <a:endParaRPr lang="en-US" altLang="zh-CN" dirty="0"/>
          </a:p>
          <a:p>
            <a:pPr lvl="4"/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A1D5-E93B-4AB7-B1F3-C4062ADE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E51AC-B9BC-4C09-8F90-B048AEFE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28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4FB09BB-B621-4F2B-8C91-53BA978D7A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692537"/>
              </p:ext>
            </p:extLst>
          </p:nvPr>
        </p:nvGraphicFramePr>
        <p:xfrm>
          <a:off x="8049344" y="2564904"/>
          <a:ext cx="1600189" cy="50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Equation" r:id="rId3" imgW="647640" imgH="203040" progId="Equation.DSMT4">
                  <p:embed/>
                </p:oleObj>
              </mc:Choice>
              <mc:Fallback>
                <p:oleObj name="Equation" r:id="rId3" imgW="647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49344" y="2564904"/>
                        <a:ext cx="1600189" cy="502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5260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523E679-11BF-4A09-B17A-ECA51F8838B6}"/>
              </a:ext>
            </a:extLst>
          </p:cNvPr>
          <p:cNvCxnSpPr/>
          <p:nvPr/>
        </p:nvCxnSpPr>
        <p:spPr bwMode="auto">
          <a:xfrm flipV="1">
            <a:off x="6874901" y="2348880"/>
            <a:ext cx="12790" cy="29859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C45A0C66-4D9F-4359-9DE5-2C7211B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等值线的几何意义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A1D5-E93B-4AB7-B1F3-C4062ADE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E51AC-B9BC-4C09-8F90-B048AEFE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29</a:t>
            </a:fld>
            <a:endParaRPr lang="en-US" altLang="zh-CN" dirty="0"/>
          </a:p>
        </p:txBody>
      </p:sp>
      <p:pic>
        <p:nvPicPr>
          <p:cNvPr id="8" name="Picture 17">
            <a:extLst>
              <a:ext uri="{FF2B5EF4-FFF2-40B4-BE49-F238E27FC236}">
                <a16:creationId xmlns:a16="http://schemas.microsoft.com/office/drawing/2014/main" id="{70DD754F-E879-48DD-B1C7-5161A051B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3188442"/>
            <a:ext cx="3098800" cy="331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8">
            <a:extLst>
              <a:ext uri="{FF2B5EF4-FFF2-40B4-BE49-F238E27FC236}">
                <a16:creationId xmlns:a16="http://schemas.microsoft.com/office/drawing/2014/main" id="{B916B8CC-F83D-4754-AC4C-4B0A802A1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531" y="1965188"/>
            <a:ext cx="3098800" cy="229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0AF6921-F618-4A6E-B07B-94EB40F12FD9}"/>
                  </a:ext>
                </a:extLst>
              </p:cNvPr>
              <p:cNvSpPr txBox="1"/>
              <p:nvPr/>
            </p:nvSpPr>
            <p:spPr>
              <a:xfrm>
                <a:off x="1496616" y="1286774"/>
                <a:ext cx="55446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0AF6921-F618-4A6E-B07B-94EB40F1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616" y="1286774"/>
                <a:ext cx="5544616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926905B-D830-4C71-8B9B-FEE5BF2362D3}"/>
              </a:ext>
            </a:extLst>
          </p:cNvPr>
          <p:cNvCxnSpPr>
            <a:endCxn id="8" idx="3"/>
          </p:cNvCxnSpPr>
          <p:nvPr/>
        </p:nvCxnSpPr>
        <p:spPr bwMode="auto">
          <a:xfrm>
            <a:off x="2711152" y="4765032"/>
            <a:ext cx="1086148" cy="79966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流程图: 数据 14">
            <a:extLst>
              <a:ext uri="{FF2B5EF4-FFF2-40B4-BE49-F238E27FC236}">
                <a16:creationId xmlns:a16="http://schemas.microsoft.com/office/drawing/2014/main" id="{190242E9-BF75-492A-AA4B-7F22CFBF6966}"/>
              </a:ext>
            </a:extLst>
          </p:cNvPr>
          <p:cNvSpPr/>
          <p:nvPr/>
        </p:nvSpPr>
        <p:spPr bwMode="auto">
          <a:xfrm>
            <a:off x="6604041" y="4182415"/>
            <a:ext cx="2222031" cy="230163"/>
          </a:xfrm>
          <a:prstGeom prst="flowChartInputOutpu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0DA61C-322E-4E34-B620-5C84696AFF31}"/>
              </a:ext>
            </a:extLst>
          </p:cNvPr>
          <p:cNvSpPr txBox="1"/>
          <p:nvPr/>
        </p:nvSpPr>
        <p:spPr>
          <a:xfrm>
            <a:off x="3663722" y="492489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等值线</a:t>
            </a:r>
          </a:p>
        </p:txBody>
      </p:sp>
      <p:sp>
        <p:nvSpPr>
          <p:cNvPr id="35" name="流程图: 存储数据 34">
            <a:extLst>
              <a:ext uri="{FF2B5EF4-FFF2-40B4-BE49-F238E27FC236}">
                <a16:creationId xmlns:a16="http://schemas.microsoft.com/office/drawing/2014/main" id="{DB6650C1-F61B-4400-B187-76CBF96E9A66}"/>
              </a:ext>
            </a:extLst>
          </p:cNvPr>
          <p:cNvSpPr/>
          <p:nvPr/>
        </p:nvSpPr>
        <p:spPr bwMode="auto">
          <a:xfrm rot="16200000">
            <a:off x="6820882" y="4198869"/>
            <a:ext cx="1501402" cy="383311"/>
          </a:xfrm>
          <a:prstGeom prst="flowChartOnlineStorag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直角三角形 35">
            <a:extLst>
              <a:ext uri="{FF2B5EF4-FFF2-40B4-BE49-F238E27FC236}">
                <a16:creationId xmlns:a16="http://schemas.microsoft.com/office/drawing/2014/main" id="{776F625C-33C6-46D6-93BC-350232AB733D}"/>
              </a:ext>
            </a:extLst>
          </p:cNvPr>
          <p:cNvSpPr/>
          <p:nvPr/>
        </p:nvSpPr>
        <p:spPr bwMode="auto">
          <a:xfrm rot="10800000">
            <a:off x="6710483" y="3697195"/>
            <a:ext cx="717624" cy="1368153"/>
          </a:xfrm>
          <a:prstGeom prst="rtTriangl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直角三角形 36">
            <a:extLst>
              <a:ext uri="{FF2B5EF4-FFF2-40B4-BE49-F238E27FC236}">
                <a16:creationId xmlns:a16="http://schemas.microsoft.com/office/drawing/2014/main" id="{E97C438F-3FC8-446C-BF4A-691F7366DB55}"/>
              </a:ext>
            </a:extLst>
          </p:cNvPr>
          <p:cNvSpPr/>
          <p:nvPr/>
        </p:nvSpPr>
        <p:spPr bwMode="auto">
          <a:xfrm rot="10800000" flipH="1">
            <a:off x="7715057" y="3696460"/>
            <a:ext cx="659708" cy="1368152"/>
          </a:xfrm>
          <a:prstGeom prst="rtTriangl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流程图: 接点 37">
            <a:extLst>
              <a:ext uri="{FF2B5EF4-FFF2-40B4-BE49-F238E27FC236}">
                <a16:creationId xmlns:a16="http://schemas.microsoft.com/office/drawing/2014/main" id="{B6EFC39C-F7B7-46A2-8E2A-5B1CB4D474E5}"/>
              </a:ext>
            </a:extLst>
          </p:cNvPr>
          <p:cNvSpPr/>
          <p:nvPr/>
        </p:nvSpPr>
        <p:spPr bwMode="auto">
          <a:xfrm>
            <a:off x="6710482" y="3374659"/>
            <a:ext cx="1664283" cy="596772"/>
          </a:xfrm>
          <a:prstGeom prst="flowChartConnector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流程图: 数据 47">
            <a:extLst>
              <a:ext uri="{FF2B5EF4-FFF2-40B4-BE49-F238E27FC236}">
                <a16:creationId xmlns:a16="http://schemas.microsoft.com/office/drawing/2014/main" id="{526E5C7E-6012-4DFB-8CE4-B39694811888}"/>
              </a:ext>
            </a:extLst>
          </p:cNvPr>
          <p:cNvSpPr/>
          <p:nvPr/>
        </p:nvSpPr>
        <p:spPr bwMode="auto">
          <a:xfrm>
            <a:off x="6152733" y="4412578"/>
            <a:ext cx="2222031" cy="230163"/>
          </a:xfrm>
          <a:prstGeom prst="flowChartInputOutpu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流程图: 接点 50">
            <a:extLst>
              <a:ext uri="{FF2B5EF4-FFF2-40B4-BE49-F238E27FC236}">
                <a16:creationId xmlns:a16="http://schemas.microsoft.com/office/drawing/2014/main" id="{6A36D525-B3FB-433B-91E0-306984D995EB}"/>
              </a:ext>
            </a:extLst>
          </p:cNvPr>
          <p:cNvSpPr/>
          <p:nvPr/>
        </p:nvSpPr>
        <p:spPr bwMode="auto">
          <a:xfrm>
            <a:off x="7069295" y="4227420"/>
            <a:ext cx="955648" cy="328479"/>
          </a:xfrm>
          <a:prstGeom prst="flowChartConnector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C2C9C09A-16F6-4E65-9205-C77A6B1F4CCE}"/>
              </a:ext>
            </a:extLst>
          </p:cNvPr>
          <p:cNvCxnSpPr/>
          <p:nvPr/>
        </p:nvCxnSpPr>
        <p:spPr bwMode="auto">
          <a:xfrm flipV="1">
            <a:off x="6898415" y="5349193"/>
            <a:ext cx="2062631" cy="49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52AEEF9C-A16A-42FB-9411-A7DBF4A49BB6}"/>
              </a:ext>
            </a:extLst>
          </p:cNvPr>
          <p:cNvCxnSpPr/>
          <p:nvPr/>
        </p:nvCxnSpPr>
        <p:spPr bwMode="auto">
          <a:xfrm flipH="1">
            <a:off x="5589841" y="5349193"/>
            <a:ext cx="1291455" cy="6799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AEA46858-7780-4505-92FC-F2D90227080E}"/>
              </a:ext>
            </a:extLst>
          </p:cNvPr>
          <p:cNvCxnSpPr/>
          <p:nvPr/>
        </p:nvCxnSpPr>
        <p:spPr bwMode="auto">
          <a:xfrm>
            <a:off x="6152733" y="4642741"/>
            <a:ext cx="0" cy="10905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50325D7F-F742-4F4C-9446-43535236FAA1}"/>
              </a:ext>
            </a:extLst>
          </p:cNvPr>
          <p:cNvCxnSpPr/>
          <p:nvPr/>
        </p:nvCxnSpPr>
        <p:spPr bwMode="auto">
          <a:xfrm>
            <a:off x="7952934" y="4653136"/>
            <a:ext cx="0" cy="10905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124D2C13-55FA-4296-90A2-88A54CE7E722}"/>
              </a:ext>
            </a:extLst>
          </p:cNvPr>
          <p:cNvCxnSpPr/>
          <p:nvPr/>
        </p:nvCxnSpPr>
        <p:spPr bwMode="auto">
          <a:xfrm>
            <a:off x="8826072" y="4244327"/>
            <a:ext cx="0" cy="10905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B8DC8192-1E51-4209-9963-8F1EF20509E1}"/>
              </a:ext>
            </a:extLst>
          </p:cNvPr>
          <p:cNvCxnSpPr/>
          <p:nvPr/>
        </p:nvCxnSpPr>
        <p:spPr bwMode="auto">
          <a:xfrm flipH="1">
            <a:off x="7952934" y="5349193"/>
            <a:ext cx="873138" cy="39445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39A2B080-4F9F-4B0F-8FFE-83A0D16BC653}"/>
              </a:ext>
            </a:extLst>
          </p:cNvPr>
          <p:cNvCxnSpPr/>
          <p:nvPr/>
        </p:nvCxnSpPr>
        <p:spPr bwMode="auto">
          <a:xfrm>
            <a:off x="6152733" y="5733256"/>
            <a:ext cx="1776997" cy="103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06E31A2A-BDA6-40DC-A176-D9ADB47E493C}"/>
              </a:ext>
            </a:extLst>
          </p:cNvPr>
          <p:cNvCxnSpPr>
            <a:cxnSpLocks/>
          </p:cNvCxnSpPr>
          <p:nvPr/>
        </p:nvCxnSpPr>
        <p:spPr bwMode="auto">
          <a:xfrm flipH="1">
            <a:off x="4248607" y="3841861"/>
            <a:ext cx="289721" cy="1003137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40326CF7-CB56-4C06-A83E-7462BAEDFB1E}"/>
              </a:ext>
            </a:extLst>
          </p:cNvPr>
          <p:cNvCxnSpPr>
            <a:cxnSpLocks/>
          </p:cNvCxnSpPr>
          <p:nvPr/>
        </p:nvCxnSpPr>
        <p:spPr bwMode="auto">
          <a:xfrm flipH="1">
            <a:off x="4519467" y="4410534"/>
            <a:ext cx="2560035" cy="586676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" name="思想气泡: 云 91">
            <a:extLst>
              <a:ext uri="{FF2B5EF4-FFF2-40B4-BE49-F238E27FC236}">
                <a16:creationId xmlns:a16="http://schemas.microsoft.com/office/drawing/2014/main" id="{47DB912C-6014-4F8E-912F-A403CA1113B5}"/>
              </a:ext>
            </a:extLst>
          </p:cNvPr>
          <p:cNvSpPr/>
          <p:nvPr/>
        </p:nvSpPr>
        <p:spPr bwMode="auto">
          <a:xfrm>
            <a:off x="3328730" y="6122724"/>
            <a:ext cx="3077601" cy="627164"/>
          </a:xfrm>
          <a:prstGeom prst="cloudCallout">
            <a:avLst>
              <a:gd name="adj1" fmla="val -85896"/>
              <a:gd name="adj2" fmla="val -154174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b="1" dirty="0">
                <a:solidFill>
                  <a:srgbClr val="FF0000"/>
                </a:solidFill>
              </a:rPr>
              <a:t>极小值点</a:t>
            </a:r>
            <a:r>
              <a:rPr lang="en-US" altLang="zh-CN" sz="2000" b="1" dirty="0">
                <a:solidFill>
                  <a:srgbClr val="FF0000"/>
                </a:solidFill>
              </a:rPr>
              <a:t>(2,-1)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76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20 5">
            <a:extLst>
              <a:ext uri="{FF2B5EF4-FFF2-40B4-BE49-F238E27FC236}">
                <a16:creationId xmlns:a16="http://schemas.microsoft.com/office/drawing/2014/main" id="{3B150624-D1AD-4CF3-8C88-DE6EF1DEA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016" y="163313"/>
            <a:ext cx="4317162" cy="253823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45A0C66-4D9F-4359-9DE5-2C7211B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最优化的数学模型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3CD4F-44B0-4075-ACEE-432EA9E1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目标函数等值线</a:t>
            </a:r>
            <a:endParaRPr lang="en-US" altLang="zh-CN" dirty="0"/>
          </a:p>
          <a:p>
            <a:pPr lvl="1"/>
            <a:r>
              <a:rPr lang="zh-CN" altLang="en-US" dirty="0"/>
              <a:t>等值线的性质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等值线清晰表达了函数的变化情况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dirty="0"/>
              <a:t>越靠近内层函数值越小（约定极小值）</a:t>
            </a:r>
            <a:endParaRPr lang="en-US" altLang="zh-CN" dirty="0"/>
          </a:p>
          <a:p>
            <a:pPr lvl="3"/>
            <a:r>
              <a:rPr lang="zh-CN" altLang="en-US" dirty="0"/>
              <a:t>等值线约稠密，函数值变化越快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0000FF"/>
                </a:solidFill>
              </a:rPr>
              <a:t>不同的等值线（面）不相交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/>
              <a:t>在目标极值点</a:t>
            </a:r>
            <a:r>
              <a:rPr lang="en-US" altLang="zh-CN" dirty="0"/>
              <a:t>X</a:t>
            </a:r>
            <a:r>
              <a:rPr lang="zh-CN" altLang="en-US" baseline="30000" dirty="0"/>
              <a:t>*</a:t>
            </a:r>
            <a:r>
              <a:rPr lang="zh-CN" altLang="en-US" dirty="0"/>
              <a:t>附件的等值线形成类似同心椭圆，其中心就是极值点</a:t>
            </a:r>
            <a:endParaRPr lang="en-US" altLang="zh-CN" dirty="0"/>
          </a:p>
          <a:p>
            <a:pPr lvl="2"/>
            <a:endParaRPr lang="en-US" altLang="zh-CN" dirty="0"/>
          </a:p>
          <a:p>
            <a:pPr lvl="4"/>
            <a:endParaRPr lang="en-US" altLang="zh-CN" dirty="0"/>
          </a:p>
          <a:p>
            <a:pPr lvl="4"/>
            <a:endParaRPr lang="en-US" altLang="zh-CN" dirty="0"/>
          </a:p>
          <a:p>
            <a:pPr lvl="4"/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A1D5-E93B-4AB7-B1F3-C4062ADE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E51AC-B9BC-4C09-8F90-B048AEFE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4261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A0C66-4D9F-4359-9DE5-2C7211B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最优化的数学模型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3CD4F-44B0-4075-ACEE-432EA9E1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约束条件</a:t>
            </a:r>
            <a:endParaRPr lang="en-US" altLang="zh-CN" dirty="0"/>
          </a:p>
          <a:p>
            <a:pPr lvl="1"/>
            <a:r>
              <a:rPr lang="zh-CN" altLang="en-US" dirty="0"/>
              <a:t>约束条件定义</a:t>
            </a:r>
            <a:endParaRPr lang="en-US" altLang="zh-CN" dirty="0"/>
          </a:p>
          <a:p>
            <a:pPr lvl="2"/>
            <a:r>
              <a:rPr lang="zh-CN" altLang="en-US" dirty="0"/>
              <a:t>对</a:t>
            </a:r>
            <a:r>
              <a:rPr lang="zh-CN" altLang="en-US" dirty="0">
                <a:solidFill>
                  <a:srgbClr val="FF0000"/>
                </a:solidFill>
              </a:rPr>
              <a:t>设计变量</a:t>
            </a:r>
            <a:r>
              <a:rPr lang="zh-CN" altLang="en-US" dirty="0"/>
              <a:t>的取值所</a:t>
            </a:r>
            <a:r>
              <a:rPr lang="zh-CN" altLang="en-US" dirty="0">
                <a:solidFill>
                  <a:srgbClr val="0000FF"/>
                </a:solidFill>
              </a:rPr>
              <a:t>附加的某些限制条件</a:t>
            </a:r>
            <a:r>
              <a:rPr lang="zh-CN" altLang="en-US" dirty="0"/>
              <a:t>称为约束条件。</a:t>
            </a:r>
            <a:endParaRPr lang="en-US" altLang="zh-CN" dirty="0"/>
          </a:p>
          <a:p>
            <a:pPr lvl="2"/>
            <a:endParaRPr lang="en-US" altLang="zh-CN" dirty="0"/>
          </a:p>
          <a:p>
            <a:pPr lvl="3"/>
            <a:endParaRPr lang="en-US" altLang="zh-CN" dirty="0"/>
          </a:p>
          <a:p>
            <a:pPr lvl="3"/>
            <a:r>
              <a:rPr lang="zh-CN" altLang="en-US" dirty="0"/>
              <a:t>统一将不等式约束条件写成</a:t>
            </a:r>
            <a:r>
              <a:rPr lang="en-US" altLang="zh-CN" dirty="0"/>
              <a:t>&lt;=</a:t>
            </a:r>
            <a:r>
              <a:rPr lang="zh-CN" altLang="en-US" dirty="0"/>
              <a:t>的形式，</a:t>
            </a:r>
            <a:r>
              <a:rPr lang="en-US" altLang="zh-CN" dirty="0"/>
              <a:t>m</a:t>
            </a:r>
            <a:r>
              <a:rPr lang="zh-CN" altLang="en-US" dirty="0"/>
              <a:t>是不等式约束的个数</a:t>
            </a:r>
            <a:endParaRPr lang="en-US" altLang="zh-CN" dirty="0"/>
          </a:p>
          <a:p>
            <a:pPr lvl="3"/>
            <a:r>
              <a:rPr lang="en-US" altLang="zh-CN" dirty="0"/>
              <a:t>p</a:t>
            </a:r>
            <a:r>
              <a:rPr lang="zh-CN" altLang="en-US" dirty="0"/>
              <a:t>是等式约束条件的个数，要求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zh-CN" altLang="en-US" dirty="0">
                <a:solidFill>
                  <a:srgbClr val="FF0000"/>
                </a:solidFill>
              </a:rPr>
              <a:t>小于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</a:p>
          <a:p>
            <a:pPr lvl="4"/>
            <a:endParaRPr lang="en-US" altLang="zh-CN" dirty="0"/>
          </a:p>
          <a:p>
            <a:pPr lvl="4"/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A1D5-E93B-4AB7-B1F3-C4062ADE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E51AC-B9BC-4C09-8F90-B048AEFE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31</a:t>
            </a:fld>
            <a:endParaRPr lang="en-US" altLang="zh-CN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299C3E6-DFBA-4241-B670-821FA62AF8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187467"/>
              </p:ext>
            </p:extLst>
          </p:nvPr>
        </p:nvGraphicFramePr>
        <p:xfrm>
          <a:off x="2060210" y="3429000"/>
          <a:ext cx="5785579" cy="1107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Equation" r:id="rId3" imgW="2387520" imgH="457200" progId="Equation.DSMT4">
                  <p:embed/>
                </p:oleObj>
              </mc:Choice>
              <mc:Fallback>
                <p:oleObj name="Equation" r:id="rId3" imgW="23875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0210" y="3429000"/>
                        <a:ext cx="5785579" cy="1107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5630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A0C66-4D9F-4359-9DE5-2C7211B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约束条件的几何意义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A1D5-E93B-4AB7-B1F3-C4062ADE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z="2000" smtClean="0"/>
              <a:t>2022年9月2日星期五</a:t>
            </a:fld>
            <a:endParaRPr lang="en-US" altLang="zh-CN" sz="20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E51AC-B9BC-4C09-8F90-B048AEFE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z="2000" smtClean="0"/>
              <a:pPr/>
              <a:t>32</a:t>
            </a:fld>
            <a:endParaRPr lang="en-US" altLang="zh-CN" sz="20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93E1414-6BFC-4062-B9FF-F289B8036C19}"/>
              </a:ext>
            </a:extLst>
          </p:cNvPr>
          <p:cNvCxnSpPr>
            <a:cxnSpLocks/>
          </p:cNvCxnSpPr>
          <p:nvPr/>
        </p:nvCxnSpPr>
        <p:spPr bwMode="auto">
          <a:xfrm>
            <a:off x="560512" y="3140968"/>
            <a:ext cx="200749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D2D9DF0-A49D-4392-AABE-C77FF31567C7}"/>
              </a:ext>
            </a:extLst>
          </p:cNvPr>
          <p:cNvCxnSpPr>
            <a:cxnSpLocks/>
          </p:cNvCxnSpPr>
          <p:nvPr/>
        </p:nvCxnSpPr>
        <p:spPr bwMode="auto">
          <a:xfrm flipV="1">
            <a:off x="560512" y="1340768"/>
            <a:ext cx="0" cy="1800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93D75DD-4CFE-4826-995D-0B91C82B81A0}"/>
              </a:ext>
            </a:extLst>
          </p:cNvPr>
          <p:cNvSpPr txBox="1"/>
          <p:nvPr/>
        </p:nvSpPr>
        <p:spPr>
          <a:xfrm>
            <a:off x="2101210" y="3257659"/>
            <a:ext cx="533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x1</a:t>
            </a:r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8E335F-8732-4BF3-9E5F-D84E9D34A567}"/>
              </a:ext>
            </a:extLst>
          </p:cNvPr>
          <p:cNvSpPr txBox="1"/>
          <p:nvPr/>
        </p:nvSpPr>
        <p:spPr>
          <a:xfrm>
            <a:off x="560512" y="1398607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x2</a:t>
            </a:r>
            <a:endParaRPr lang="zh-CN" altLang="en-US" sz="2000" dirty="0"/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9479034D-6AD1-4F4D-8777-A68DE99B32A2}"/>
              </a:ext>
            </a:extLst>
          </p:cNvPr>
          <p:cNvSpPr/>
          <p:nvPr/>
        </p:nvSpPr>
        <p:spPr bwMode="auto">
          <a:xfrm>
            <a:off x="-32391" y="1828417"/>
            <a:ext cx="2311397" cy="2030390"/>
          </a:xfrm>
          <a:prstGeom prst="arc">
            <a:avLst>
              <a:gd name="adj1" fmla="val 15003590"/>
              <a:gd name="adj2" fmla="val 547200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EA0556C-EAEB-4C88-AEC3-187940C095E1}"/>
              </a:ext>
            </a:extLst>
          </p:cNvPr>
          <p:cNvCxnSpPr/>
          <p:nvPr/>
        </p:nvCxnSpPr>
        <p:spPr bwMode="auto">
          <a:xfrm flipV="1">
            <a:off x="970678" y="1649412"/>
            <a:ext cx="0" cy="1846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C246737-7714-4E82-B675-60DCF174B525}"/>
              </a:ext>
            </a:extLst>
          </p:cNvPr>
          <p:cNvCxnSpPr/>
          <p:nvPr/>
        </p:nvCxnSpPr>
        <p:spPr bwMode="auto">
          <a:xfrm flipV="1">
            <a:off x="1213744" y="1583273"/>
            <a:ext cx="0" cy="2451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EA7AC10-E7D7-4874-9E70-92DBAF348D49}"/>
              </a:ext>
            </a:extLst>
          </p:cNvPr>
          <p:cNvCxnSpPr/>
          <p:nvPr/>
        </p:nvCxnSpPr>
        <p:spPr bwMode="auto">
          <a:xfrm flipV="1">
            <a:off x="1442959" y="1654126"/>
            <a:ext cx="72008" cy="1902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62490E5-5101-4C2D-AB87-7E51D4AA64F7}"/>
              </a:ext>
            </a:extLst>
          </p:cNvPr>
          <p:cNvCxnSpPr/>
          <p:nvPr/>
        </p:nvCxnSpPr>
        <p:spPr bwMode="auto">
          <a:xfrm flipV="1">
            <a:off x="1692192" y="1828417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E2EBC10-C288-435D-B77F-03327AE54DFD}"/>
              </a:ext>
            </a:extLst>
          </p:cNvPr>
          <p:cNvCxnSpPr/>
          <p:nvPr/>
        </p:nvCxnSpPr>
        <p:spPr bwMode="auto">
          <a:xfrm flipV="1">
            <a:off x="2111711" y="2140468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44F04C5-AA47-42F1-9DCA-156C2A89CBE6}"/>
              </a:ext>
            </a:extLst>
          </p:cNvPr>
          <p:cNvCxnSpPr/>
          <p:nvPr/>
        </p:nvCxnSpPr>
        <p:spPr bwMode="auto">
          <a:xfrm flipV="1">
            <a:off x="2241180" y="2377843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55A30B3-7521-45C0-8EE8-8143CAA073A0}"/>
              </a:ext>
            </a:extLst>
          </p:cNvPr>
          <p:cNvCxnSpPr/>
          <p:nvPr/>
        </p:nvCxnSpPr>
        <p:spPr bwMode="auto">
          <a:xfrm flipV="1">
            <a:off x="2299296" y="2658739"/>
            <a:ext cx="214161" cy="118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A6BCC81-C7A0-4951-B8A5-6C961F318DAD}"/>
              </a:ext>
            </a:extLst>
          </p:cNvPr>
          <p:cNvCxnSpPr/>
          <p:nvPr/>
        </p:nvCxnSpPr>
        <p:spPr bwMode="auto">
          <a:xfrm flipV="1">
            <a:off x="1943608" y="1963897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4452EFDD-9680-4C1C-8148-21766A97C032}"/>
              </a:ext>
            </a:extLst>
          </p:cNvPr>
          <p:cNvSpPr txBox="1"/>
          <p:nvPr/>
        </p:nvSpPr>
        <p:spPr>
          <a:xfrm>
            <a:off x="323555" y="3085693"/>
            <a:ext cx="4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205AB1A-2E0D-4198-A957-9896D62E1410}"/>
              </a:ext>
            </a:extLst>
          </p:cNvPr>
          <p:cNvSpPr txBox="1"/>
          <p:nvPr/>
        </p:nvSpPr>
        <p:spPr>
          <a:xfrm>
            <a:off x="2241180" y="2708811"/>
            <a:ext cx="9172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g(x)=0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0568127-ED00-480F-95CE-6D8E5138BABB}"/>
              </a:ext>
            </a:extLst>
          </p:cNvPr>
          <p:cNvSpPr txBox="1"/>
          <p:nvPr/>
        </p:nvSpPr>
        <p:spPr>
          <a:xfrm>
            <a:off x="812758" y="1973008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g(x)&lt;0</a:t>
            </a:r>
          </a:p>
          <a:p>
            <a:r>
              <a:rPr lang="zh-CN" altLang="en-US" sz="2000" dirty="0"/>
              <a:t>可行域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5E775D7-E98A-4353-9E46-AC096825586D}"/>
              </a:ext>
            </a:extLst>
          </p:cNvPr>
          <p:cNvSpPr txBox="1"/>
          <p:nvPr/>
        </p:nvSpPr>
        <p:spPr>
          <a:xfrm>
            <a:off x="2367792" y="1438723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g(x)&gt;0</a:t>
            </a:r>
          </a:p>
          <a:p>
            <a:r>
              <a:rPr lang="zh-CN" altLang="en-US" sz="2000" dirty="0"/>
              <a:t>非可行域</a:t>
            </a:r>
          </a:p>
        </p:txBody>
      </p:sp>
      <p:sp>
        <p:nvSpPr>
          <p:cNvPr id="33" name="思想气泡: 云 32">
            <a:extLst>
              <a:ext uri="{FF2B5EF4-FFF2-40B4-BE49-F238E27FC236}">
                <a16:creationId xmlns:a16="http://schemas.microsoft.com/office/drawing/2014/main" id="{76F8BC3A-AB03-4211-93A7-666430B3AEEE}"/>
              </a:ext>
            </a:extLst>
          </p:cNvPr>
          <p:cNvSpPr/>
          <p:nvPr/>
        </p:nvSpPr>
        <p:spPr bwMode="auto">
          <a:xfrm>
            <a:off x="58044" y="4242640"/>
            <a:ext cx="2884801" cy="1322763"/>
          </a:xfrm>
          <a:prstGeom prst="cloudCallout">
            <a:avLst>
              <a:gd name="adj1" fmla="val 22028"/>
              <a:gd name="adj2" fmla="val -187283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rgbClr val="FF0000"/>
                </a:solidFill>
              </a:rPr>
              <a:t>g(x) = 0</a:t>
            </a:r>
            <a:r>
              <a:rPr lang="zh-CN" altLang="en-US" sz="2400" dirty="0">
                <a:solidFill>
                  <a:srgbClr val="FF0000"/>
                </a:solidFill>
              </a:rPr>
              <a:t>称为约束线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CB97CF7-9C9B-410E-8A9C-92608817969F}"/>
              </a:ext>
            </a:extLst>
          </p:cNvPr>
          <p:cNvCxnSpPr/>
          <p:nvPr/>
        </p:nvCxnSpPr>
        <p:spPr bwMode="auto">
          <a:xfrm>
            <a:off x="5040201" y="1981228"/>
            <a:ext cx="3816424" cy="358417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弧形 35">
            <a:extLst>
              <a:ext uri="{FF2B5EF4-FFF2-40B4-BE49-F238E27FC236}">
                <a16:creationId xmlns:a16="http://schemas.microsoft.com/office/drawing/2014/main" id="{EFB24539-C0BD-440F-BD93-A9B5C00F2E62}"/>
              </a:ext>
            </a:extLst>
          </p:cNvPr>
          <p:cNvSpPr/>
          <p:nvPr/>
        </p:nvSpPr>
        <p:spPr bwMode="auto">
          <a:xfrm rot="19641207">
            <a:off x="5432105" y="1673695"/>
            <a:ext cx="3096344" cy="1800200"/>
          </a:xfrm>
          <a:prstGeom prst="arc">
            <a:avLst>
              <a:gd name="adj1" fmla="val 11414526"/>
              <a:gd name="adj2" fmla="val 20630555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C98BAEDB-1624-423D-9097-491F80F131CD}"/>
              </a:ext>
            </a:extLst>
          </p:cNvPr>
          <p:cNvSpPr/>
          <p:nvPr/>
        </p:nvSpPr>
        <p:spPr bwMode="auto">
          <a:xfrm rot="1962781">
            <a:off x="5037957" y="1890285"/>
            <a:ext cx="4379126" cy="1800200"/>
          </a:xfrm>
          <a:prstGeom prst="arc">
            <a:avLst>
              <a:gd name="adj1" fmla="val 12561504"/>
              <a:gd name="adj2" fmla="val 20990983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EE782084-4701-455D-928F-BB2C53D8C6A2}"/>
              </a:ext>
            </a:extLst>
          </p:cNvPr>
          <p:cNvSpPr/>
          <p:nvPr/>
        </p:nvSpPr>
        <p:spPr bwMode="auto">
          <a:xfrm rot="9294284">
            <a:off x="6089934" y="2200452"/>
            <a:ext cx="3096344" cy="1800200"/>
          </a:xfrm>
          <a:prstGeom prst="arc">
            <a:avLst>
              <a:gd name="adj1" fmla="val 11414526"/>
              <a:gd name="adj2" fmla="val 20630555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弧形 38">
            <a:extLst>
              <a:ext uri="{FF2B5EF4-FFF2-40B4-BE49-F238E27FC236}">
                <a16:creationId xmlns:a16="http://schemas.microsoft.com/office/drawing/2014/main" id="{E760EE38-1DE3-43A5-B3F2-4DD3A13A0BBD}"/>
              </a:ext>
            </a:extLst>
          </p:cNvPr>
          <p:cNvSpPr/>
          <p:nvPr/>
        </p:nvSpPr>
        <p:spPr bwMode="auto">
          <a:xfrm rot="2202240">
            <a:off x="4790248" y="2428844"/>
            <a:ext cx="4125772" cy="1800200"/>
          </a:xfrm>
          <a:prstGeom prst="arc">
            <a:avLst>
              <a:gd name="adj1" fmla="val 11414526"/>
              <a:gd name="adj2" fmla="val 21201424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弧形 39">
            <a:extLst>
              <a:ext uri="{FF2B5EF4-FFF2-40B4-BE49-F238E27FC236}">
                <a16:creationId xmlns:a16="http://schemas.microsoft.com/office/drawing/2014/main" id="{015A3B3F-8873-436B-985E-99C60F1DB334}"/>
              </a:ext>
            </a:extLst>
          </p:cNvPr>
          <p:cNvSpPr/>
          <p:nvPr/>
        </p:nvSpPr>
        <p:spPr bwMode="auto">
          <a:xfrm rot="19749825">
            <a:off x="5569734" y="2717686"/>
            <a:ext cx="3674978" cy="969540"/>
          </a:xfrm>
          <a:prstGeom prst="arc">
            <a:avLst>
              <a:gd name="adj1" fmla="val 11414526"/>
              <a:gd name="adj2" fmla="val 21414734"/>
            </a:avLst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流程图: 接点 40">
            <a:extLst>
              <a:ext uri="{FF2B5EF4-FFF2-40B4-BE49-F238E27FC236}">
                <a16:creationId xmlns:a16="http://schemas.microsoft.com/office/drawing/2014/main" id="{525F7BBD-5F02-4B11-8146-0DC5B200AF26}"/>
              </a:ext>
            </a:extLst>
          </p:cNvPr>
          <p:cNvSpPr/>
          <p:nvPr/>
        </p:nvSpPr>
        <p:spPr bwMode="auto">
          <a:xfrm>
            <a:off x="7298497" y="2526869"/>
            <a:ext cx="217452" cy="190894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4717D93-C9D2-4917-99B3-513071D40F5E}"/>
              </a:ext>
            </a:extLst>
          </p:cNvPr>
          <p:cNvCxnSpPr/>
          <p:nvPr/>
        </p:nvCxnSpPr>
        <p:spPr bwMode="auto">
          <a:xfrm flipV="1">
            <a:off x="5472249" y="25649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9C94E7E-9650-43DF-A4F9-9A5F30412CE4}"/>
              </a:ext>
            </a:extLst>
          </p:cNvPr>
          <p:cNvCxnSpPr/>
          <p:nvPr/>
        </p:nvCxnSpPr>
        <p:spPr bwMode="auto">
          <a:xfrm flipV="1">
            <a:off x="5624649" y="27173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03B2431E-EFEA-4C0F-8745-DBB21100DAF4}"/>
              </a:ext>
            </a:extLst>
          </p:cNvPr>
          <p:cNvCxnSpPr/>
          <p:nvPr/>
        </p:nvCxnSpPr>
        <p:spPr bwMode="auto">
          <a:xfrm flipV="1">
            <a:off x="5777049" y="28697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580924A-0B39-412F-B0B8-86DAAC0FF0B4}"/>
              </a:ext>
            </a:extLst>
          </p:cNvPr>
          <p:cNvCxnSpPr/>
          <p:nvPr/>
        </p:nvCxnSpPr>
        <p:spPr bwMode="auto">
          <a:xfrm flipV="1">
            <a:off x="5929449" y="30221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2DC335B-3BE3-488C-9B3A-B183E58EED3D}"/>
              </a:ext>
            </a:extLst>
          </p:cNvPr>
          <p:cNvCxnSpPr/>
          <p:nvPr/>
        </p:nvCxnSpPr>
        <p:spPr bwMode="auto">
          <a:xfrm flipV="1">
            <a:off x="6081849" y="31745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29BED3BE-E180-4B95-BA08-241FB6BAA27E}"/>
              </a:ext>
            </a:extLst>
          </p:cNvPr>
          <p:cNvCxnSpPr/>
          <p:nvPr/>
        </p:nvCxnSpPr>
        <p:spPr bwMode="auto">
          <a:xfrm flipV="1">
            <a:off x="6234249" y="33269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C2AD6BD-8114-411E-8BCA-ED6975809F0D}"/>
              </a:ext>
            </a:extLst>
          </p:cNvPr>
          <p:cNvCxnSpPr/>
          <p:nvPr/>
        </p:nvCxnSpPr>
        <p:spPr bwMode="auto">
          <a:xfrm flipV="1">
            <a:off x="6386649" y="34793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813CBF6-4FE3-4CAB-BAF6-ACA8585A68F6}"/>
              </a:ext>
            </a:extLst>
          </p:cNvPr>
          <p:cNvCxnSpPr/>
          <p:nvPr/>
        </p:nvCxnSpPr>
        <p:spPr bwMode="auto">
          <a:xfrm flipV="1">
            <a:off x="6539049" y="36317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C66F229-662C-47B2-80A6-74AF36611A99}"/>
              </a:ext>
            </a:extLst>
          </p:cNvPr>
          <p:cNvCxnSpPr/>
          <p:nvPr/>
        </p:nvCxnSpPr>
        <p:spPr bwMode="auto">
          <a:xfrm flipV="1">
            <a:off x="6691449" y="37841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255F1C7-6545-4E85-89AE-A53314D1FA17}"/>
              </a:ext>
            </a:extLst>
          </p:cNvPr>
          <p:cNvCxnSpPr/>
          <p:nvPr/>
        </p:nvCxnSpPr>
        <p:spPr bwMode="auto">
          <a:xfrm flipV="1">
            <a:off x="6843849" y="39365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6D9B1467-9392-4B06-9C8A-E12686D9CA51}"/>
              </a:ext>
            </a:extLst>
          </p:cNvPr>
          <p:cNvCxnSpPr/>
          <p:nvPr/>
        </p:nvCxnSpPr>
        <p:spPr bwMode="auto">
          <a:xfrm flipV="1">
            <a:off x="6996249" y="40889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879456BD-B93B-41F9-9B6B-AC8BBB001150}"/>
              </a:ext>
            </a:extLst>
          </p:cNvPr>
          <p:cNvCxnSpPr/>
          <p:nvPr/>
        </p:nvCxnSpPr>
        <p:spPr bwMode="auto">
          <a:xfrm flipV="1">
            <a:off x="7148649" y="42413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53FB93C-C793-4B26-8659-BC72033707FD}"/>
              </a:ext>
            </a:extLst>
          </p:cNvPr>
          <p:cNvCxnSpPr/>
          <p:nvPr/>
        </p:nvCxnSpPr>
        <p:spPr bwMode="auto">
          <a:xfrm flipV="1">
            <a:off x="7301049" y="4393704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AD3AB6F2-3859-49C9-88F0-9319EFBEF154}"/>
              </a:ext>
            </a:extLst>
          </p:cNvPr>
          <p:cNvCxnSpPr/>
          <p:nvPr/>
        </p:nvCxnSpPr>
        <p:spPr bwMode="auto">
          <a:xfrm>
            <a:off x="5620631" y="2195483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9F00640-7931-41A6-8C8B-3B745EAEE278}"/>
              </a:ext>
            </a:extLst>
          </p:cNvPr>
          <p:cNvCxnSpPr/>
          <p:nvPr/>
        </p:nvCxnSpPr>
        <p:spPr bwMode="auto">
          <a:xfrm>
            <a:off x="5730688" y="2030157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02842753-75C8-4198-9D69-0175E0989319}"/>
              </a:ext>
            </a:extLst>
          </p:cNvPr>
          <p:cNvCxnSpPr/>
          <p:nvPr/>
        </p:nvCxnSpPr>
        <p:spPr bwMode="auto">
          <a:xfrm>
            <a:off x="5866784" y="1902953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EB395C2E-230E-438F-94DC-1D7A0BCFE512}"/>
              </a:ext>
            </a:extLst>
          </p:cNvPr>
          <p:cNvCxnSpPr/>
          <p:nvPr/>
        </p:nvCxnSpPr>
        <p:spPr bwMode="auto">
          <a:xfrm>
            <a:off x="6021551" y="1777132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33F4BDE7-3E1B-49DA-99F4-C7E98BB9006E}"/>
              </a:ext>
            </a:extLst>
          </p:cNvPr>
          <p:cNvCxnSpPr/>
          <p:nvPr/>
        </p:nvCxnSpPr>
        <p:spPr bwMode="auto">
          <a:xfrm>
            <a:off x="6210000" y="1624041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4A5296AE-68E8-4E78-B784-15E70752F2EB}"/>
              </a:ext>
            </a:extLst>
          </p:cNvPr>
          <p:cNvCxnSpPr/>
          <p:nvPr/>
        </p:nvCxnSpPr>
        <p:spPr bwMode="auto">
          <a:xfrm>
            <a:off x="6410769" y="1508012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855B3EE-AA9D-4E84-B24D-C0FF61C51C22}"/>
              </a:ext>
            </a:extLst>
          </p:cNvPr>
          <p:cNvCxnSpPr/>
          <p:nvPr/>
        </p:nvCxnSpPr>
        <p:spPr bwMode="auto">
          <a:xfrm>
            <a:off x="7703520" y="4050300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1B09C8C9-9674-4365-AE0A-544031F860B6}"/>
              </a:ext>
            </a:extLst>
          </p:cNvPr>
          <p:cNvCxnSpPr/>
          <p:nvPr/>
        </p:nvCxnSpPr>
        <p:spPr bwMode="auto">
          <a:xfrm>
            <a:off x="7992306" y="3973408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C5CEF58-76F2-4A9C-9762-C33A84A2DCD9}"/>
              </a:ext>
            </a:extLst>
          </p:cNvPr>
          <p:cNvCxnSpPr/>
          <p:nvPr/>
        </p:nvCxnSpPr>
        <p:spPr bwMode="auto">
          <a:xfrm>
            <a:off x="8191240" y="3883338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9BA93D3A-47BC-4DA7-B931-7B93759B0D92}"/>
              </a:ext>
            </a:extLst>
          </p:cNvPr>
          <p:cNvCxnSpPr/>
          <p:nvPr/>
        </p:nvCxnSpPr>
        <p:spPr bwMode="auto">
          <a:xfrm>
            <a:off x="8371282" y="3809300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CF7F13E7-D9A6-4E05-AF11-CBCBC427A25D}"/>
              </a:ext>
            </a:extLst>
          </p:cNvPr>
          <p:cNvCxnSpPr/>
          <p:nvPr/>
        </p:nvCxnSpPr>
        <p:spPr bwMode="auto">
          <a:xfrm>
            <a:off x="8559731" y="3656209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BCEFCE6-2296-4AD9-85A0-3E8AD49ED07F}"/>
              </a:ext>
            </a:extLst>
          </p:cNvPr>
          <p:cNvCxnSpPr/>
          <p:nvPr/>
        </p:nvCxnSpPr>
        <p:spPr bwMode="auto">
          <a:xfrm>
            <a:off x="8760500" y="3540180"/>
            <a:ext cx="246996" cy="1537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0D06041C-F0C5-49B6-8EFF-95C7EFDA6856}"/>
              </a:ext>
            </a:extLst>
          </p:cNvPr>
          <p:cNvCxnSpPr/>
          <p:nvPr/>
        </p:nvCxnSpPr>
        <p:spPr bwMode="auto">
          <a:xfrm flipV="1">
            <a:off x="7407223" y="1610372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785F7724-A0BC-4C01-B483-E14A58692F3D}"/>
              </a:ext>
            </a:extLst>
          </p:cNvPr>
          <p:cNvCxnSpPr/>
          <p:nvPr/>
        </p:nvCxnSpPr>
        <p:spPr bwMode="auto">
          <a:xfrm flipV="1">
            <a:off x="7573832" y="1686651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8DBD40B-BD1B-4C74-8D53-C22A41142F34}"/>
              </a:ext>
            </a:extLst>
          </p:cNvPr>
          <p:cNvCxnSpPr/>
          <p:nvPr/>
        </p:nvCxnSpPr>
        <p:spPr bwMode="auto">
          <a:xfrm flipV="1">
            <a:off x="7735819" y="1777132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7C0F4412-2BD6-4E04-875C-4D06A8D31B32}"/>
              </a:ext>
            </a:extLst>
          </p:cNvPr>
          <p:cNvCxnSpPr/>
          <p:nvPr/>
        </p:nvCxnSpPr>
        <p:spPr bwMode="auto">
          <a:xfrm flipV="1">
            <a:off x="7913211" y="1903438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7342E544-C582-46C9-BC09-B8E06E568F6B}"/>
              </a:ext>
            </a:extLst>
          </p:cNvPr>
          <p:cNvCxnSpPr/>
          <p:nvPr/>
        </p:nvCxnSpPr>
        <p:spPr bwMode="auto">
          <a:xfrm flipV="1">
            <a:off x="8090603" y="2056249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5FBBEDEF-6D69-4487-8339-8CFE502B7E7C}"/>
              </a:ext>
            </a:extLst>
          </p:cNvPr>
          <p:cNvCxnSpPr/>
          <p:nvPr/>
        </p:nvCxnSpPr>
        <p:spPr bwMode="auto">
          <a:xfrm flipV="1">
            <a:off x="8279985" y="2183910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505FBE98-0268-4938-96E3-CDA451CA395D}"/>
              </a:ext>
            </a:extLst>
          </p:cNvPr>
          <p:cNvCxnSpPr/>
          <p:nvPr/>
        </p:nvCxnSpPr>
        <p:spPr bwMode="auto">
          <a:xfrm flipV="1">
            <a:off x="8434038" y="2335169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6F4EC530-3B4A-4CCA-9CF6-4C0F435B477C}"/>
              </a:ext>
            </a:extLst>
          </p:cNvPr>
          <p:cNvCxnSpPr/>
          <p:nvPr/>
        </p:nvCxnSpPr>
        <p:spPr bwMode="auto">
          <a:xfrm flipV="1">
            <a:off x="8610874" y="2462413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DA17A43A-19B5-45AC-B5ED-375D96CF28B4}"/>
              </a:ext>
            </a:extLst>
          </p:cNvPr>
          <p:cNvCxnSpPr/>
          <p:nvPr/>
        </p:nvCxnSpPr>
        <p:spPr bwMode="auto">
          <a:xfrm flipV="1">
            <a:off x="8776403" y="2589502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5AF0746-D48B-4CD4-8E5B-D7BFAF944AD5}"/>
              </a:ext>
            </a:extLst>
          </p:cNvPr>
          <p:cNvCxnSpPr/>
          <p:nvPr/>
        </p:nvCxnSpPr>
        <p:spPr bwMode="auto">
          <a:xfrm flipV="1">
            <a:off x="8891238" y="2716375"/>
            <a:ext cx="148382" cy="152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9ED464B4-0565-4281-9E67-11128E27715F}"/>
              </a:ext>
            </a:extLst>
          </p:cNvPr>
          <p:cNvSpPr txBox="1"/>
          <p:nvPr/>
        </p:nvSpPr>
        <p:spPr>
          <a:xfrm>
            <a:off x="8861646" y="5410580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g1(x)=0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B1AD984-0A29-4465-A15E-6CD5F1473F4B}"/>
              </a:ext>
            </a:extLst>
          </p:cNvPr>
          <p:cNvSpPr txBox="1"/>
          <p:nvPr/>
        </p:nvSpPr>
        <p:spPr>
          <a:xfrm>
            <a:off x="3128120" y="3403309"/>
            <a:ext cx="22579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例：</a:t>
            </a:r>
            <a:r>
              <a:rPr lang="en-US" altLang="zh-CN" sz="2400" dirty="0"/>
              <a:t>n=2</a:t>
            </a:r>
            <a:r>
              <a:rPr lang="zh-CN" altLang="en-US" sz="2400" dirty="0"/>
              <a:t>时，存在</a:t>
            </a:r>
            <a:r>
              <a:rPr lang="en-US" altLang="zh-CN" sz="2400" dirty="0"/>
              <a:t>4</a:t>
            </a:r>
            <a:r>
              <a:rPr lang="zh-CN" altLang="en-US" sz="2400" dirty="0"/>
              <a:t>个不等式约束和</a:t>
            </a:r>
            <a:r>
              <a:rPr lang="en-US" altLang="zh-CN" sz="2400" dirty="0"/>
              <a:t>2</a:t>
            </a:r>
            <a:r>
              <a:rPr lang="zh-CN" altLang="en-US" sz="2400" dirty="0"/>
              <a:t>个等式约束</a:t>
            </a:r>
            <a:endParaRPr lang="en-US" altLang="zh-CN" sz="2400" dirty="0"/>
          </a:p>
          <a:p>
            <a:pPr marL="457200" indent="-457200">
              <a:buFont typeface="+mj-ea"/>
              <a:buAutoNum type="circleNumDbPlain"/>
            </a:pPr>
            <a:endParaRPr lang="en-US" altLang="zh-CN" sz="24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9AE66B1-BC11-489F-A4AB-33EDC0D50806}"/>
              </a:ext>
            </a:extLst>
          </p:cNvPr>
          <p:cNvSpPr txBox="1"/>
          <p:nvPr/>
        </p:nvSpPr>
        <p:spPr>
          <a:xfrm>
            <a:off x="7793135" y="1153243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g2(x)=0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C0D8AB4-D4A1-4312-A902-21FB32759D56}"/>
              </a:ext>
            </a:extLst>
          </p:cNvPr>
          <p:cNvSpPr txBox="1"/>
          <p:nvPr/>
        </p:nvSpPr>
        <p:spPr>
          <a:xfrm>
            <a:off x="8912736" y="3414290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g3(x)=0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4DF2BBAB-F1F6-4CB2-89A0-DF03B98198DF}"/>
              </a:ext>
            </a:extLst>
          </p:cNvPr>
          <p:cNvSpPr txBox="1"/>
          <p:nvPr/>
        </p:nvSpPr>
        <p:spPr>
          <a:xfrm>
            <a:off x="5630752" y="3919995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g4(x)=0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C7887A2-C354-4D29-8DAE-3361BFAD257E}"/>
              </a:ext>
            </a:extLst>
          </p:cNvPr>
          <p:cNvSpPr txBox="1"/>
          <p:nvPr/>
        </p:nvSpPr>
        <p:spPr>
          <a:xfrm>
            <a:off x="8354045" y="4229230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h1(x)=0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1A783FF-CAF7-4B3B-B3EB-859BC1B7F07D}"/>
              </a:ext>
            </a:extLst>
          </p:cNvPr>
          <p:cNvSpPr txBox="1"/>
          <p:nvPr/>
        </p:nvSpPr>
        <p:spPr>
          <a:xfrm>
            <a:off x="8543300" y="1816813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h2(x)=0</a:t>
            </a:r>
          </a:p>
        </p:txBody>
      </p:sp>
      <p:sp>
        <p:nvSpPr>
          <p:cNvPr id="91" name="思想气泡: 云 90">
            <a:extLst>
              <a:ext uri="{FF2B5EF4-FFF2-40B4-BE49-F238E27FC236}">
                <a16:creationId xmlns:a16="http://schemas.microsoft.com/office/drawing/2014/main" id="{F3715DE6-9729-463B-BB84-992C0359EFA1}"/>
              </a:ext>
            </a:extLst>
          </p:cNvPr>
          <p:cNvSpPr/>
          <p:nvPr/>
        </p:nvSpPr>
        <p:spPr bwMode="auto">
          <a:xfrm>
            <a:off x="5122352" y="5208992"/>
            <a:ext cx="2884801" cy="1322763"/>
          </a:xfrm>
          <a:prstGeom prst="cloudCallout">
            <a:avLst>
              <a:gd name="adj1" fmla="val 28191"/>
              <a:gd name="adj2" fmla="val -235289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FF0000"/>
                </a:solidFill>
              </a:rPr>
              <a:t>等式约束的个数要小于</a:t>
            </a:r>
            <a:r>
              <a:rPr lang="en-US" altLang="zh-CN" sz="2400" dirty="0">
                <a:solidFill>
                  <a:srgbClr val="FF0000"/>
                </a:solidFill>
              </a:rPr>
              <a:t>n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042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00"/>
                            </p:stCondLst>
                            <p:childTnLst>
                              <p:par>
                                <p:cTn id="2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2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500"/>
                            </p:stCondLst>
                            <p:childTnLst>
                              <p:par>
                                <p:cTn id="25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500"/>
                            </p:stCondLst>
                            <p:childTnLst>
                              <p:par>
                                <p:cTn id="2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000"/>
                            </p:stCondLst>
                            <p:childTnLst>
                              <p:par>
                                <p:cTn id="2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2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6" grpId="0" animBg="1"/>
      <p:bldP spid="29" grpId="0"/>
      <p:bldP spid="30" grpId="0"/>
      <p:bldP spid="31" grpId="0"/>
      <p:bldP spid="32" grpId="0"/>
      <p:bldP spid="33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81" grpId="0"/>
      <p:bldP spid="83" grpId="0"/>
      <p:bldP spid="84" grpId="0"/>
      <p:bldP spid="85" grpId="0"/>
      <p:bldP spid="86" grpId="0"/>
      <p:bldP spid="87" grpId="0"/>
      <p:bldP spid="88" grpId="0"/>
      <p:bldP spid="9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A0C66-4D9F-4359-9DE5-2C7211B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最优化的数学模型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3CD4F-44B0-4075-ACEE-432EA9E1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最优化问题分类</a:t>
            </a:r>
            <a:endParaRPr lang="en-US" altLang="zh-CN" dirty="0"/>
          </a:p>
          <a:p>
            <a:pPr lvl="1"/>
            <a:r>
              <a:rPr lang="zh-CN" altLang="en-US" dirty="0"/>
              <a:t>有约束规划</a:t>
            </a:r>
            <a:endParaRPr lang="en-US" altLang="zh-CN" dirty="0"/>
          </a:p>
          <a:p>
            <a:pPr lvl="2"/>
            <a:r>
              <a:rPr lang="zh-CN" altLang="en-US" dirty="0"/>
              <a:t>线性规划</a:t>
            </a:r>
            <a:endParaRPr lang="en-US" altLang="zh-CN" dirty="0"/>
          </a:p>
          <a:p>
            <a:pPr lvl="3"/>
            <a:r>
              <a:rPr lang="zh-CN" altLang="en-US" dirty="0"/>
              <a:t>约束函数都是线性的</a:t>
            </a:r>
            <a:endParaRPr lang="en-US" altLang="zh-CN" dirty="0"/>
          </a:p>
          <a:p>
            <a:pPr lvl="2"/>
            <a:r>
              <a:rPr lang="zh-CN" altLang="en-US" dirty="0"/>
              <a:t>非线性规划</a:t>
            </a:r>
            <a:endParaRPr lang="en-US" altLang="zh-CN" dirty="0"/>
          </a:p>
          <a:p>
            <a:pPr lvl="3"/>
            <a:r>
              <a:rPr lang="zh-CN" altLang="en-US" dirty="0"/>
              <a:t>存在非线性的约束函数</a:t>
            </a:r>
            <a:endParaRPr lang="en-US" altLang="zh-CN" dirty="0"/>
          </a:p>
          <a:p>
            <a:pPr lvl="1"/>
            <a:r>
              <a:rPr lang="zh-CN" altLang="en-US" dirty="0"/>
              <a:t>无约束规划</a:t>
            </a:r>
            <a:endParaRPr lang="en-US" altLang="zh-CN" dirty="0"/>
          </a:p>
          <a:p>
            <a:pPr lvl="2"/>
            <a:r>
              <a:rPr lang="zh-CN" altLang="en-US" dirty="0"/>
              <a:t>一维问题</a:t>
            </a:r>
            <a:endParaRPr lang="en-US" altLang="zh-CN" dirty="0"/>
          </a:p>
          <a:p>
            <a:pPr lvl="2"/>
            <a:r>
              <a:rPr lang="zh-CN" altLang="en-US" dirty="0"/>
              <a:t>二维问题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A1D5-E93B-4AB7-B1F3-C4062ADE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E51AC-B9BC-4C09-8F90-B048AEFE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3444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DF58D-6602-47E9-B06E-1A8D4649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二维优化问题的图解法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38731E-3EC0-46BB-8D83-EA91D05E1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基本思想：</a:t>
            </a:r>
            <a:endParaRPr lang="en-US" altLang="zh-CN" dirty="0"/>
          </a:p>
          <a:p>
            <a:pPr lvl="1"/>
            <a:r>
              <a:rPr lang="zh-CN" altLang="en-US" dirty="0"/>
              <a:t>在二维平面上画出可行域</a:t>
            </a:r>
            <a:endParaRPr lang="en-US" altLang="zh-CN" dirty="0"/>
          </a:p>
          <a:p>
            <a:pPr lvl="1"/>
            <a:r>
              <a:rPr lang="zh-CN" altLang="en-US" dirty="0"/>
              <a:t>画出目标函数等值线是平面曲线</a:t>
            </a:r>
            <a:endParaRPr lang="en-US" altLang="zh-CN" dirty="0"/>
          </a:p>
          <a:p>
            <a:pPr lvl="1"/>
            <a:r>
              <a:rPr lang="zh-CN" altLang="en-US" dirty="0"/>
              <a:t>通过可行域与等值线的相互关系可以最终确定最优化的解。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48F461-7EF9-4D4F-8676-B2643561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7B26A9-2916-4B07-9248-374782A9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670619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DF58D-6602-47E9-B06E-1A8D4649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二维优化问题的图解法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38731E-3EC0-46BB-8D83-EA91D05E1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4</a:t>
            </a:r>
            <a:r>
              <a:rPr lang="zh-CN" altLang="en-US" dirty="0"/>
              <a:t>（</a:t>
            </a:r>
            <a:r>
              <a:rPr lang="en-US" altLang="zh-CN" dirty="0"/>
              <a:t>P10</a:t>
            </a:r>
            <a:r>
              <a:rPr lang="zh-CN" altLang="en-US" dirty="0"/>
              <a:t>例</a:t>
            </a:r>
            <a:r>
              <a:rPr lang="en-US" altLang="zh-CN" dirty="0"/>
              <a:t>1-7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用图解法求解下列优化问题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48F461-7EF9-4D4F-8676-B2643561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7B26A9-2916-4B07-9248-374782A9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35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933A949-55C9-465A-8C9E-F2B97F5F26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759472"/>
              </p:ext>
            </p:extLst>
          </p:nvPr>
        </p:nvGraphicFramePr>
        <p:xfrm>
          <a:off x="1856656" y="2636912"/>
          <a:ext cx="4919672" cy="2443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Equation" r:id="rId3" imgW="1892160" imgH="939600" progId="Equation.DSMT4">
                  <p:embed/>
                </p:oleObj>
              </mc:Choice>
              <mc:Fallback>
                <p:oleObj name="Equation" r:id="rId3" imgW="189216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56656" y="2636912"/>
                        <a:ext cx="4919672" cy="2443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87302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DF58D-6602-47E9-B06E-1A8D4649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38731E-3EC0-46BB-8D83-EA91D05E1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画出可行域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48F461-7EF9-4D4F-8676-B2643561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7B26A9-2916-4B07-9248-374782A9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36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933A949-55C9-465A-8C9E-F2B97F5F26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112010"/>
              </p:ext>
            </p:extLst>
          </p:nvPr>
        </p:nvGraphicFramePr>
        <p:xfrm>
          <a:off x="4160912" y="1162968"/>
          <a:ext cx="4919672" cy="2443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6" name="Equation" r:id="rId3" imgW="1892160" imgH="939600" progId="Equation.DSMT4">
                  <p:embed/>
                </p:oleObj>
              </mc:Choice>
              <mc:Fallback>
                <p:oleObj name="Equation" r:id="rId3" imgW="1892160" imgH="939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933A949-55C9-465A-8C9E-F2B97F5F2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60912" y="1162968"/>
                        <a:ext cx="4919672" cy="2443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A48B871-5A5E-400B-9001-4FA847F76901}"/>
              </a:ext>
            </a:extLst>
          </p:cNvPr>
          <p:cNvCxnSpPr>
            <a:cxnSpLocks/>
          </p:cNvCxnSpPr>
          <p:nvPr/>
        </p:nvCxnSpPr>
        <p:spPr bwMode="auto">
          <a:xfrm>
            <a:off x="344488" y="4869160"/>
            <a:ext cx="391223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97B87F8-9CDC-4F85-A6C8-343999DA7C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249228" y="2384631"/>
            <a:ext cx="0" cy="41576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2525F2C-8613-48B4-8571-1D7A771AD3A7}"/>
              </a:ext>
            </a:extLst>
          </p:cNvPr>
          <p:cNvSpPr txBox="1"/>
          <p:nvPr/>
        </p:nvSpPr>
        <p:spPr>
          <a:xfrm>
            <a:off x="2249228" y="2093457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x2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73F624-1978-464B-9C62-B4DD634F78C3}"/>
              </a:ext>
            </a:extLst>
          </p:cNvPr>
          <p:cNvSpPr txBox="1"/>
          <p:nvPr/>
        </p:nvSpPr>
        <p:spPr>
          <a:xfrm>
            <a:off x="1932390" y="4813885"/>
            <a:ext cx="4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54D18D-65C4-4522-9C47-613350517FCB}"/>
              </a:ext>
            </a:extLst>
          </p:cNvPr>
          <p:cNvSpPr txBox="1"/>
          <p:nvPr/>
        </p:nvSpPr>
        <p:spPr>
          <a:xfrm>
            <a:off x="4077917" y="4885130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x1</a:t>
            </a:r>
            <a:endParaRPr lang="zh-CN" altLang="en-US" sz="2000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48202D8-177D-4024-A00D-E35E7569BE80}"/>
              </a:ext>
            </a:extLst>
          </p:cNvPr>
          <p:cNvCxnSpPr/>
          <p:nvPr/>
        </p:nvCxnSpPr>
        <p:spPr bwMode="auto">
          <a:xfrm flipH="1">
            <a:off x="344488" y="2924944"/>
            <a:ext cx="2952328" cy="302433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A821DEAF-6651-4D14-9021-45B0A05D78D7}"/>
              </a:ext>
            </a:extLst>
          </p:cNvPr>
          <p:cNvSpPr txBox="1"/>
          <p:nvPr/>
        </p:nvSpPr>
        <p:spPr>
          <a:xfrm>
            <a:off x="2175027" y="3878545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B2F17F1-BDAB-4BC8-BEF5-A869BE97A2CD}"/>
              </a:ext>
            </a:extLst>
          </p:cNvPr>
          <p:cNvSpPr txBox="1"/>
          <p:nvPr/>
        </p:nvSpPr>
        <p:spPr>
          <a:xfrm>
            <a:off x="1289324" y="4818697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-2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1C29D-D491-47DC-A5C9-A97EB23CB66F}"/>
              </a:ext>
            </a:extLst>
          </p:cNvPr>
          <p:cNvSpPr txBox="1"/>
          <p:nvPr/>
        </p:nvSpPr>
        <p:spPr>
          <a:xfrm>
            <a:off x="2816543" y="4803758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92D08C9-11C6-4501-9977-A11EFCE4B0D1}"/>
              </a:ext>
            </a:extLst>
          </p:cNvPr>
          <p:cNvSpPr txBox="1"/>
          <p:nvPr/>
        </p:nvSpPr>
        <p:spPr>
          <a:xfrm>
            <a:off x="3520653" y="4813885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4D472B2-7A63-446F-8746-2D0A53E54C0B}"/>
              </a:ext>
            </a:extLst>
          </p:cNvPr>
          <p:cNvSpPr txBox="1"/>
          <p:nvPr/>
        </p:nvSpPr>
        <p:spPr>
          <a:xfrm>
            <a:off x="2759766" y="2605209"/>
            <a:ext cx="1213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g1(x)=0</a:t>
            </a:r>
            <a:endParaRPr lang="zh-CN" altLang="en-US" sz="2000" dirty="0"/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26F94E6F-DF81-4795-865C-DE8B1EE1FE09}"/>
              </a:ext>
            </a:extLst>
          </p:cNvPr>
          <p:cNvSpPr/>
          <p:nvPr/>
        </p:nvSpPr>
        <p:spPr bwMode="auto">
          <a:xfrm rot="5400000">
            <a:off x="888945" y="2679609"/>
            <a:ext cx="2720564" cy="1051009"/>
          </a:xfrm>
          <a:prstGeom prst="arc">
            <a:avLst>
              <a:gd name="adj1" fmla="val 16319839"/>
              <a:gd name="adj2" fmla="val 5431377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8541F82-8A0C-46F2-A61C-15BB12E4B3B9}"/>
              </a:ext>
            </a:extLst>
          </p:cNvPr>
          <p:cNvSpPr txBox="1"/>
          <p:nvPr/>
        </p:nvSpPr>
        <p:spPr>
          <a:xfrm>
            <a:off x="2606660" y="3862576"/>
            <a:ext cx="1213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g2(x)=0</a:t>
            </a:r>
            <a:endParaRPr lang="zh-CN" altLang="en-US" sz="2000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D9CF40A-C4E7-4018-9283-F5C717D2B5B2}"/>
              </a:ext>
            </a:extLst>
          </p:cNvPr>
          <p:cNvCxnSpPr/>
          <p:nvPr/>
        </p:nvCxnSpPr>
        <p:spPr bwMode="auto">
          <a:xfrm flipH="1" flipV="1">
            <a:off x="1365036" y="4477641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F315E273-F514-4EE6-A2C5-48CAB3240806}"/>
              </a:ext>
            </a:extLst>
          </p:cNvPr>
          <p:cNvCxnSpPr/>
          <p:nvPr/>
        </p:nvCxnSpPr>
        <p:spPr bwMode="auto">
          <a:xfrm flipH="1" flipV="1">
            <a:off x="1507617" y="4313682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EBBA33D-2BF5-49C1-A961-C7DF7FA4843C}"/>
              </a:ext>
            </a:extLst>
          </p:cNvPr>
          <p:cNvCxnSpPr/>
          <p:nvPr/>
        </p:nvCxnSpPr>
        <p:spPr bwMode="auto">
          <a:xfrm flipH="1" flipV="1">
            <a:off x="1682361" y="4135648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C8117B6-CD3E-43DA-999E-784DEA0AD945}"/>
              </a:ext>
            </a:extLst>
          </p:cNvPr>
          <p:cNvCxnSpPr/>
          <p:nvPr/>
        </p:nvCxnSpPr>
        <p:spPr bwMode="auto">
          <a:xfrm flipH="1" flipV="1">
            <a:off x="1824942" y="3971689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62666A3-F1A3-4553-A68F-ABC3D216FD34}"/>
              </a:ext>
            </a:extLst>
          </p:cNvPr>
          <p:cNvCxnSpPr/>
          <p:nvPr/>
        </p:nvCxnSpPr>
        <p:spPr bwMode="auto">
          <a:xfrm flipH="1" flipV="1">
            <a:off x="1990873" y="3803970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CD6D7B33-99F1-463E-B389-00022401EB3A}"/>
              </a:ext>
            </a:extLst>
          </p:cNvPr>
          <p:cNvCxnSpPr/>
          <p:nvPr/>
        </p:nvCxnSpPr>
        <p:spPr bwMode="auto">
          <a:xfrm flipH="1" flipV="1">
            <a:off x="2133454" y="3640011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234341CA-8E0E-449F-957F-09AD0A6DFA18}"/>
              </a:ext>
            </a:extLst>
          </p:cNvPr>
          <p:cNvCxnSpPr/>
          <p:nvPr/>
        </p:nvCxnSpPr>
        <p:spPr bwMode="auto">
          <a:xfrm flipH="1" flipV="1">
            <a:off x="2278497" y="3486259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3113F48-0C46-4BB3-97DC-1CB09B4E2BF2}"/>
              </a:ext>
            </a:extLst>
          </p:cNvPr>
          <p:cNvCxnSpPr/>
          <p:nvPr/>
        </p:nvCxnSpPr>
        <p:spPr bwMode="auto">
          <a:xfrm flipH="1" flipV="1">
            <a:off x="2421078" y="3322300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FDEB517-B197-4A43-9A02-53C800F6EC82}"/>
              </a:ext>
            </a:extLst>
          </p:cNvPr>
          <p:cNvCxnSpPr/>
          <p:nvPr/>
        </p:nvCxnSpPr>
        <p:spPr bwMode="auto">
          <a:xfrm flipV="1">
            <a:off x="1850737" y="4465465"/>
            <a:ext cx="135738" cy="14501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E5FA0F0B-69CA-42A8-A578-45A7AA394CEF}"/>
              </a:ext>
            </a:extLst>
          </p:cNvPr>
          <p:cNvCxnSpPr/>
          <p:nvPr/>
        </p:nvCxnSpPr>
        <p:spPr bwMode="auto">
          <a:xfrm flipH="1" flipV="1">
            <a:off x="2113490" y="4555126"/>
            <a:ext cx="7676" cy="19601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EE4F25C8-7C60-4E87-8BFC-BFB9D23249CD}"/>
              </a:ext>
            </a:extLst>
          </p:cNvPr>
          <p:cNvCxnSpPr/>
          <p:nvPr/>
        </p:nvCxnSpPr>
        <p:spPr bwMode="auto">
          <a:xfrm flipH="1" flipV="1">
            <a:off x="2379225" y="4541793"/>
            <a:ext cx="7676" cy="19601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9940A19-A1CA-418F-B12F-444798EBD242}"/>
              </a:ext>
            </a:extLst>
          </p:cNvPr>
          <p:cNvCxnSpPr/>
          <p:nvPr/>
        </p:nvCxnSpPr>
        <p:spPr bwMode="auto">
          <a:xfrm flipH="1" flipV="1">
            <a:off x="2557313" y="4390409"/>
            <a:ext cx="221837" cy="1960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5E9CCDCC-3E22-4974-82FB-437C669D5CFB}"/>
              </a:ext>
            </a:extLst>
          </p:cNvPr>
          <p:cNvCxnSpPr/>
          <p:nvPr/>
        </p:nvCxnSpPr>
        <p:spPr bwMode="auto">
          <a:xfrm flipH="1" flipV="1">
            <a:off x="2658935" y="4264698"/>
            <a:ext cx="221837" cy="1960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948B0D00-8B15-44A8-BA36-6A506CFCEF15}"/>
              </a:ext>
            </a:extLst>
          </p:cNvPr>
          <p:cNvCxnSpPr/>
          <p:nvPr/>
        </p:nvCxnSpPr>
        <p:spPr bwMode="auto">
          <a:xfrm flipH="1">
            <a:off x="1980170" y="4235794"/>
            <a:ext cx="2569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B6027A7B-1908-4901-89C2-C218B51F3055}"/>
              </a:ext>
            </a:extLst>
          </p:cNvPr>
          <p:cNvCxnSpPr/>
          <p:nvPr/>
        </p:nvCxnSpPr>
        <p:spPr bwMode="auto">
          <a:xfrm flipH="1">
            <a:off x="1991107" y="4377132"/>
            <a:ext cx="2569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49EF1E81-D374-425A-AC14-5F545FA8E2AD}"/>
              </a:ext>
            </a:extLst>
          </p:cNvPr>
          <p:cNvCxnSpPr/>
          <p:nvPr/>
        </p:nvCxnSpPr>
        <p:spPr bwMode="auto">
          <a:xfrm flipH="1">
            <a:off x="1991705" y="4488418"/>
            <a:ext cx="2569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6418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1" grpId="0"/>
      <p:bldP spid="30" grpId="0"/>
      <p:bldP spid="31" grpId="0"/>
      <p:bldP spid="32" grpId="0"/>
      <p:bldP spid="33" grpId="0"/>
      <p:bldP spid="35" grpId="0"/>
      <p:bldP spid="36" grpId="0" animBg="1"/>
      <p:bldP spid="3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DF58D-6602-47E9-B06E-1A8D4649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38731E-3EC0-46BB-8D83-EA91D05E1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画出等值线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48F461-7EF9-4D4F-8676-B2643561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7B26A9-2916-4B07-9248-374782A9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37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933A949-55C9-465A-8C9E-F2B97F5F26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0912" y="1162968"/>
          <a:ext cx="4919672" cy="2443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0" name="Equation" r:id="rId3" imgW="1892160" imgH="939600" progId="Equation.DSMT4">
                  <p:embed/>
                </p:oleObj>
              </mc:Choice>
              <mc:Fallback>
                <p:oleObj name="Equation" r:id="rId3" imgW="1892160" imgH="939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933A949-55C9-465A-8C9E-F2B97F5F2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60912" y="1162968"/>
                        <a:ext cx="4919672" cy="2443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A48B871-5A5E-400B-9001-4FA847F76901}"/>
              </a:ext>
            </a:extLst>
          </p:cNvPr>
          <p:cNvCxnSpPr>
            <a:cxnSpLocks/>
          </p:cNvCxnSpPr>
          <p:nvPr/>
        </p:nvCxnSpPr>
        <p:spPr bwMode="auto">
          <a:xfrm>
            <a:off x="344488" y="4869160"/>
            <a:ext cx="391223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97B87F8-9CDC-4F85-A6C8-343999DA7C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249228" y="2384631"/>
            <a:ext cx="0" cy="41576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2525F2C-8613-48B4-8571-1D7A771AD3A7}"/>
              </a:ext>
            </a:extLst>
          </p:cNvPr>
          <p:cNvSpPr txBox="1"/>
          <p:nvPr/>
        </p:nvSpPr>
        <p:spPr>
          <a:xfrm>
            <a:off x="2249228" y="2093457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x2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73F624-1978-464B-9C62-B4DD634F78C3}"/>
              </a:ext>
            </a:extLst>
          </p:cNvPr>
          <p:cNvSpPr txBox="1"/>
          <p:nvPr/>
        </p:nvSpPr>
        <p:spPr>
          <a:xfrm>
            <a:off x="1932390" y="4813885"/>
            <a:ext cx="4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54D18D-65C4-4522-9C47-613350517FCB}"/>
              </a:ext>
            </a:extLst>
          </p:cNvPr>
          <p:cNvSpPr txBox="1"/>
          <p:nvPr/>
        </p:nvSpPr>
        <p:spPr>
          <a:xfrm>
            <a:off x="4077917" y="4885130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x1</a:t>
            </a:r>
            <a:endParaRPr lang="zh-CN" altLang="en-US" sz="2000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48202D8-177D-4024-A00D-E35E7569BE80}"/>
              </a:ext>
            </a:extLst>
          </p:cNvPr>
          <p:cNvCxnSpPr/>
          <p:nvPr/>
        </p:nvCxnSpPr>
        <p:spPr bwMode="auto">
          <a:xfrm flipH="1">
            <a:off x="344488" y="2924944"/>
            <a:ext cx="2952328" cy="302433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A821DEAF-6651-4D14-9021-45B0A05D78D7}"/>
              </a:ext>
            </a:extLst>
          </p:cNvPr>
          <p:cNvSpPr txBox="1"/>
          <p:nvPr/>
        </p:nvSpPr>
        <p:spPr>
          <a:xfrm>
            <a:off x="2175027" y="3878545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B2F17F1-BDAB-4BC8-BEF5-A869BE97A2CD}"/>
              </a:ext>
            </a:extLst>
          </p:cNvPr>
          <p:cNvSpPr txBox="1"/>
          <p:nvPr/>
        </p:nvSpPr>
        <p:spPr>
          <a:xfrm>
            <a:off x="1289324" y="4818697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-2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1C29D-D491-47DC-A5C9-A97EB23CB66F}"/>
              </a:ext>
            </a:extLst>
          </p:cNvPr>
          <p:cNvSpPr txBox="1"/>
          <p:nvPr/>
        </p:nvSpPr>
        <p:spPr>
          <a:xfrm>
            <a:off x="2816543" y="4803758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92D08C9-11C6-4501-9977-A11EFCE4B0D1}"/>
              </a:ext>
            </a:extLst>
          </p:cNvPr>
          <p:cNvSpPr txBox="1"/>
          <p:nvPr/>
        </p:nvSpPr>
        <p:spPr>
          <a:xfrm>
            <a:off x="3520653" y="4813885"/>
            <a:ext cx="5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4D472B2-7A63-446F-8746-2D0A53E54C0B}"/>
              </a:ext>
            </a:extLst>
          </p:cNvPr>
          <p:cNvSpPr txBox="1"/>
          <p:nvPr/>
        </p:nvSpPr>
        <p:spPr>
          <a:xfrm>
            <a:off x="2759766" y="2605209"/>
            <a:ext cx="1213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g1(x)=0</a:t>
            </a:r>
            <a:endParaRPr lang="zh-CN" altLang="en-US" sz="2000" dirty="0"/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26F94E6F-DF81-4795-865C-DE8B1EE1FE09}"/>
              </a:ext>
            </a:extLst>
          </p:cNvPr>
          <p:cNvSpPr/>
          <p:nvPr/>
        </p:nvSpPr>
        <p:spPr bwMode="auto">
          <a:xfrm rot="5400000">
            <a:off x="888945" y="2679609"/>
            <a:ext cx="2720564" cy="1051009"/>
          </a:xfrm>
          <a:prstGeom prst="arc">
            <a:avLst>
              <a:gd name="adj1" fmla="val 16319839"/>
              <a:gd name="adj2" fmla="val 5431377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8541F82-8A0C-46F2-A61C-15BB12E4B3B9}"/>
              </a:ext>
            </a:extLst>
          </p:cNvPr>
          <p:cNvSpPr txBox="1"/>
          <p:nvPr/>
        </p:nvSpPr>
        <p:spPr>
          <a:xfrm>
            <a:off x="2606660" y="3862576"/>
            <a:ext cx="1213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g2(x)=0</a:t>
            </a:r>
            <a:endParaRPr lang="zh-CN" altLang="en-US" sz="2000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D9CF40A-C4E7-4018-9283-F5C717D2B5B2}"/>
              </a:ext>
            </a:extLst>
          </p:cNvPr>
          <p:cNvCxnSpPr/>
          <p:nvPr/>
        </p:nvCxnSpPr>
        <p:spPr bwMode="auto">
          <a:xfrm flipH="1" flipV="1">
            <a:off x="1365036" y="4477641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F315E273-F514-4EE6-A2C5-48CAB3240806}"/>
              </a:ext>
            </a:extLst>
          </p:cNvPr>
          <p:cNvCxnSpPr/>
          <p:nvPr/>
        </p:nvCxnSpPr>
        <p:spPr bwMode="auto">
          <a:xfrm flipH="1" flipV="1">
            <a:off x="1507617" y="4313682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EBBA33D-2BF5-49C1-A961-C7DF7FA4843C}"/>
              </a:ext>
            </a:extLst>
          </p:cNvPr>
          <p:cNvCxnSpPr/>
          <p:nvPr/>
        </p:nvCxnSpPr>
        <p:spPr bwMode="auto">
          <a:xfrm flipH="1" flipV="1">
            <a:off x="1682361" y="4135648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C8117B6-CD3E-43DA-999E-784DEA0AD945}"/>
              </a:ext>
            </a:extLst>
          </p:cNvPr>
          <p:cNvCxnSpPr/>
          <p:nvPr/>
        </p:nvCxnSpPr>
        <p:spPr bwMode="auto">
          <a:xfrm flipH="1" flipV="1">
            <a:off x="1824942" y="3971689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62666A3-F1A3-4553-A68F-ABC3D216FD34}"/>
              </a:ext>
            </a:extLst>
          </p:cNvPr>
          <p:cNvCxnSpPr/>
          <p:nvPr/>
        </p:nvCxnSpPr>
        <p:spPr bwMode="auto">
          <a:xfrm flipH="1" flipV="1">
            <a:off x="1990873" y="3803970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CD6D7B33-99F1-463E-B389-00022401EB3A}"/>
              </a:ext>
            </a:extLst>
          </p:cNvPr>
          <p:cNvCxnSpPr/>
          <p:nvPr/>
        </p:nvCxnSpPr>
        <p:spPr bwMode="auto">
          <a:xfrm flipH="1" flipV="1">
            <a:off x="2133454" y="3640011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234341CA-8E0E-449F-957F-09AD0A6DFA18}"/>
              </a:ext>
            </a:extLst>
          </p:cNvPr>
          <p:cNvCxnSpPr/>
          <p:nvPr/>
        </p:nvCxnSpPr>
        <p:spPr bwMode="auto">
          <a:xfrm flipH="1" flipV="1">
            <a:off x="2278497" y="3486259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3113F48-0C46-4BB3-97DC-1CB09B4E2BF2}"/>
              </a:ext>
            </a:extLst>
          </p:cNvPr>
          <p:cNvCxnSpPr/>
          <p:nvPr/>
        </p:nvCxnSpPr>
        <p:spPr bwMode="auto">
          <a:xfrm flipH="1" flipV="1">
            <a:off x="2421078" y="3322300"/>
            <a:ext cx="207292" cy="2002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FDEB517-B197-4A43-9A02-53C800F6EC82}"/>
              </a:ext>
            </a:extLst>
          </p:cNvPr>
          <p:cNvCxnSpPr/>
          <p:nvPr/>
        </p:nvCxnSpPr>
        <p:spPr bwMode="auto">
          <a:xfrm flipV="1">
            <a:off x="1850737" y="4465465"/>
            <a:ext cx="135738" cy="14501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E5FA0F0B-69CA-42A8-A578-45A7AA394CEF}"/>
              </a:ext>
            </a:extLst>
          </p:cNvPr>
          <p:cNvCxnSpPr/>
          <p:nvPr/>
        </p:nvCxnSpPr>
        <p:spPr bwMode="auto">
          <a:xfrm flipH="1" flipV="1">
            <a:off x="2113490" y="4555126"/>
            <a:ext cx="7676" cy="19601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EE4F25C8-7C60-4E87-8BFC-BFB9D23249CD}"/>
              </a:ext>
            </a:extLst>
          </p:cNvPr>
          <p:cNvCxnSpPr/>
          <p:nvPr/>
        </p:nvCxnSpPr>
        <p:spPr bwMode="auto">
          <a:xfrm flipH="1" flipV="1">
            <a:off x="2379225" y="4541793"/>
            <a:ext cx="7676" cy="19601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9940A19-A1CA-418F-B12F-444798EBD242}"/>
              </a:ext>
            </a:extLst>
          </p:cNvPr>
          <p:cNvCxnSpPr/>
          <p:nvPr/>
        </p:nvCxnSpPr>
        <p:spPr bwMode="auto">
          <a:xfrm flipH="1" flipV="1">
            <a:off x="2557313" y="4390409"/>
            <a:ext cx="221837" cy="1960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5E9CCDCC-3E22-4974-82FB-437C669D5CFB}"/>
              </a:ext>
            </a:extLst>
          </p:cNvPr>
          <p:cNvCxnSpPr/>
          <p:nvPr/>
        </p:nvCxnSpPr>
        <p:spPr bwMode="auto">
          <a:xfrm flipH="1" flipV="1">
            <a:off x="2658935" y="4264698"/>
            <a:ext cx="221837" cy="1960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948B0D00-8B15-44A8-BA36-6A506CFCEF15}"/>
              </a:ext>
            </a:extLst>
          </p:cNvPr>
          <p:cNvCxnSpPr/>
          <p:nvPr/>
        </p:nvCxnSpPr>
        <p:spPr bwMode="auto">
          <a:xfrm flipH="1">
            <a:off x="1980170" y="4235794"/>
            <a:ext cx="2569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B6027A7B-1908-4901-89C2-C218B51F3055}"/>
              </a:ext>
            </a:extLst>
          </p:cNvPr>
          <p:cNvCxnSpPr/>
          <p:nvPr/>
        </p:nvCxnSpPr>
        <p:spPr bwMode="auto">
          <a:xfrm flipH="1">
            <a:off x="1991107" y="4377132"/>
            <a:ext cx="2569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49EF1E81-D374-425A-AC14-5F545FA8E2AD}"/>
              </a:ext>
            </a:extLst>
          </p:cNvPr>
          <p:cNvCxnSpPr/>
          <p:nvPr/>
        </p:nvCxnSpPr>
        <p:spPr bwMode="auto">
          <a:xfrm flipH="1">
            <a:off x="1991705" y="4488418"/>
            <a:ext cx="2569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C3C1B5A6-19D7-4AB7-81AD-E4A58305563F}"/>
              </a:ext>
            </a:extLst>
          </p:cNvPr>
          <p:cNvSpPr/>
          <p:nvPr/>
        </p:nvSpPr>
        <p:spPr bwMode="auto">
          <a:xfrm>
            <a:off x="2531066" y="4420903"/>
            <a:ext cx="917144" cy="895461"/>
          </a:xfrm>
          <a:prstGeom prst="flowChartConnector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流程图: 接点 37">
            <a:extLst>
              <a:ext uri="{FF2B5EF4-FFF2-40B4-BE49-F238E27FC236}">
                <a16:creationId xmlns:a16="http://schemas.microsoft.com/office/drawing/2014/main" id="{A39EE271-5CFF-4F37-8834-3F70126DD80F}"/>
              </a:ext>
            </a:extLst>
          </p:cNvPr>
          <p:cNvSpPr/>
          <p:nvPr/>
        </p:nvSpPr>
        <p:spPr bwMode="auto">
          <a:xfrm>
            <a:off x="2327617" y="4197352"/>
            <a:ext cx="1313501" cy="1332701"/>
          </a:xfrm>
          <a:prstGeom prst="flowChartConnector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流程图: 接点 40">
            <a:extLst>
              <a:ext uri="{FF2B5EF4-FFF2-40B4-BE49-F238E27FC236}">
                <a16:creationId xmlns:a16="http://schemas.microsoft.com/office/drawing/2014/main" id="{7E6AB6AC-2BDA-4EFE-9587-072F432FACAE}"/>
              </a:ext>
            </a:extLst>
          </p:cNvPr>
          <p:cNvSpPr/>
          <p:nvPr/>
        </p:nvSpPr>
        <p:spPr bwMode="auto">
          <a:xfrm>
            <a:off x="2683466" y="4573303"/>
            <a:ext cx="613350" cy="627015"/>
          </a:xfrm>
          <a:prstGeom prst="flowChartConnector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思想气泡: 云 10">
            <a:extLst>
              <a:ext uri="{FF2B5EF4-FFF2-40B4-BE49-F238E27FC236}">
                <a16:creationId xmlns:a16="http://schemas.microsoft.com/office/drawing/2014/main" id="{E37E5282-E1D7-46AB-9236-170156DDC30E}"/>
              </a:ext>
            </a:extLst>
          </p:cNvPr>
          <p:cNvSpPr/>
          <p:nvPr/>
        </p:nvSpPr>
        <p:spPr bwMode="auto">
          <a:xfrm>
            <a:off x="4953000" y="4135648"/>
            <a:ext cx="3912232" cy="1813632"/>
          </a:xfrm>
          <a:prstGeom prst="cloudCallout">
            <a:avLst>
              <a:gd name="adj1" fmla="val -110754"/>
              <a:gd name="adj2" fmla="val -36236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FF0000"/>
                </a:solidFill>
              </a:rPr>
              <a:t>圆形与抛物线相切点即为目标最优化点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21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8" grpId="0" animBg="1"/>
      <p:bldP spid="41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85752-8E81-4F93-9915-5A5D976D7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E426C4-A725-48C0-8DA6-2E3E3D7F7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20131"/>
            <a:ext cx="9719492" cy="5264289"/>
          </a:xfrm>
        </p:spPr>
        <p:txBody>
          <a:bodyPr/>
          <a:lstStyle/>
          <a:p>
            <a:r>
              <a:rPr lang="zh-CN" altLang="en-US" dirty="0"/>
              <a:t>用图解法求解下列最优化问题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60A0C4-FD05-49A0-AD1C-92E3FB63B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2022年9月2日星期五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7E47B3-9B8B-4DDC-AF63-57079262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38</a:t>
            </a:fld>
            <a:endParaRPr lang="en-US" altLang="zh-CN" dirty="0"/>
          </a:p>
        </p:txBody>
      </p:sp>
      <p:pic>
        <p:nvPicPr>
          <p:cNvPr id="6" name="20 5">
            <a:extLst>
              <a:ext uri="{FF2B5EF4-FFF2-40B4-BE49-F238E27FC236}">
                <a16:creationId xmlns:a16="http://schemas.microsoft.com/office/drawing/2014/main" id="{98568D81-1441-4C09-80BD-A72492619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50" y="1772816"/>
            <a:ext cx="4324350" cy="2171700"/>
          </a:xfrm>
          <a:prstGeom prst="rect">
            <a:avLst/>
          </a:prstGeom>
        </p:spPr>
      </p:pic>
      <p:pic>
        <p:nvPicPr>
          <p:cNvPr id="7" name="20 6">
            <a:extLst>
              <a:ext uri="{FF2B5EF4-FFF2-40B4-BE49-F238E27FC236}">
                <a16:creationId xmlns:a16="http://schemas.microsoft.com/office/drawing/2014/main" id="{AD5F1A24-B243-4F09-A7D6-90C55CCBA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317" y="4610764"/>
            <a:ext cx="27717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6278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5544</TotalTime>
  <Words>1939</Words>
  <Application>Microsoft Office PowerPoint</Application>
  <PresentationFormat>A4 纸张(210x297 毫米)</PresentationFormat>
  <Paragraphs>350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48" baseType="lpstr">
      <vt:lpstr>黑体</vt:lpstr>
      <vt:lpstr>宋体</vt:lpstr>
      <vt:lpstr>Arial</vt:lpstr>
      <vt:lpstr>Cambria Math</vt:lpstr>
      <vt:lpstr>Symbol</vt:lpstr>
      <vt:lpstr>Times New Roman</vt:lpstr>
      <vt:lpstr>Wingdings</vt:lpstr>
      <vt:lpstr>Presentation</vt:lpstr>
      <vt:lpstr>Equation</vt:lpstr>
      <vt:lpstr>MathType 6.0 Equation</vt:lpstr>
      <vt:lpstr>最优化理论</vt:lpstr>
      <vt:lpstr>最优化理论概述</vt:lpstr>
      <vt:lpstr>最优化理论概述</vt:lpstr>
      <vt:lpstr>最优化理论概述</vt:lpstr>
      <vt:lpstr>最优化问题实例分析</vt:lpstr>
      <vt:lpstr>例1</vt:lpstr>
      <vt:lpstr>例1</vt:lpstr>
      <vt:lpstr>例1</vt:lpstr>
      <vt:lpstr>例1</vt:lpstr>
      <vt:lpstr>例1</vt:lpstr>
      <vt:lpstr>最优化问题实例分析</vt:lpstr>
      <vt:lpstr>例2</vt:lpstr>
      <vt:lpstr>例2</vt:lpstr>
      <vt:lpstr>例2</vt:lpstr>
      <vt:lpstr>例2</vt:lpstr>
      <vt:lpstr>例2</vt:lpstr>
      <vt:lpstr>例2</vt:lpstr>
      <vt:lpstr>最优化问题实例分析</vt:lpstr>
      <vt:lpstr>例3</vt:lpstr>
      <vt:lpstr>最优化问题实例分析</vt:lpstr>
      <vt:lpstr>例4</vt:lpstr>
      <vt:lpstr> 最优化的数学模型</vt:lpstr>
      <vt:lpstr> 最优化的数学模型</vt:lpstr>
      <vt:lpstr> 最优化的数学模型</vt:lpstr>
      <vt:lpstr>设计向量的几何表示意义</vt:lpstr>
      <vt:lpstr> 最优化的数学模型</vt:lpstr>
      <vt:lpstr> 最优化的数学模型</vt:lpstr>
      <vt:lpstr> 最优化的数学模型</vt:lpstr>
      <vt:lpstr> 等值线的几何意义</vt:lpstr>
      <vt:lpstr> 最优化的数学模型</vt:lpstr>
      <vt:lpstr> 最优化的数学模型</vt:lpstr>
      <vt:lpstr>约束条件的几何意义</vt:lpstr>
      <vt:lpstr> 最优化的数学模型</vt:lpstr>
      <vt:lpstr>二维优化问题的图解法</vt:lpstr>
      <vt:lpstr>二维优化问题的图解法</vt:lpstr>
      <vt:lpstr>例4</vt:lpstr>
      <vt:lpstr>例4</vt:lpstr>
      <vt:lpstr>课后练习题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Administrator</cp:lastModifiedBy>
  <cp:revision>2809</cp:revision>
  <dcterms:created xsi:type="dcterms:W3CDTF">2016-10-01T05:27:09Z</dcterms:created>
  <dcterms:modified xsi:type="dcterms:W3CDTF">2022-09-02T07:24:45Z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