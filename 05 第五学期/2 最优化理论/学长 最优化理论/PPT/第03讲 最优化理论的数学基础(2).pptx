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57" r:id="rId1"/>
  </p:sldMasterIdLst>
  <p:notesMasterIdLst>
    <p:notesMasterId r:id="rId55"/>
  </p:notesMasterIdLst>
  <p:handoutMasterIdLst>
    <p:handoutMasterId r:id="rId56"/>
  </p:handoutMasterIdLst>
  <p:sldIdLst>
    <p:sldId id="256" r:id="rId2"/>
    <p:sldId id="312" r:id="rId3"/>
    <p:sldId id="257" r:id="rId4"/>
    <p:sldId id="258" r:id="rId5"/>
    <p:sldId id="259" r:id="rId6"/>
    <p:sldId id="262" r:id="rId7"/>
    <p:sldId id="261" r:id="rId8"/>
    <p:sldId id="260" r:id="rId9"/>
    <p:sldId id="263" r:id="rId10"/>
    <p:sldId id="304" r:id="rId11"/>
    <p:sldId id="305" r:id="rId12"/>
    <p:sldId id="306" r:id="rId13"/>
    <p:sldId id="307" r:id="rId14"/>
    <p:sldId id="265" r:id="rId15"/>
    <p:sldId id="266" r:id="rId16"/>
    <p:sldId id="267" r:id="rId17"/>
    <p:sldId id="268" r:id="rId18"/>
    <p:sldId id="30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4" r:id="rId34"/>
    <p:sldId id="283" r:id="rId35"/>
    <p:sldId id="285" r:id="rId36"/>
    <p:sldId id="286" r:id="rId37"/>
    <p:sldId id="288" r:id="rId38"/>
    <p:sldId id="289" r:id="rId39"/>
    <p:sldId id="290" r:id="rId40"/>
    <p:sldId id="291" r:id="rId41"/>
    <p:sldId id="292" r:id="rId42"/>
    <p:sldId id="294" r:id="rId43"/>
    <p:sldId id="293" r:id="rId44"/>
    <p:sldId id="295" r:id="rId45"/>
    <p:sldId id="296" r:id="rId46"/>
    <p:sldId id="297" r:id="rId47"/>
    <p:sldId id="298" r:id="rId48"/>
    <p:sldId id="310" r:id="rId49"/>
    <p:sldId id="300" r:id="rId50"/>
    <p:sldId id="301" r:id="rId51"/>
    <p:sldId id="302" r:id="rId52"/>
    <p:sldId id="309" r:id="rId53"/>
    <p:sldId id="311" r:id="rId54"/>
  </p:sldIdLst>
  <p:sldSz cx="9906000" cy="6858000" type="A4"/>
  <p:notesSz cx="70104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默认节" id="{FBF6BE6E-4B09-4148-9F0C-7F96FBD9B713}">
          <p14:sldIdLst>
            <p14:sldId id="256"/>
            <p14:sldId id="312"/>
            <p14:sldId id="257"/>
            <p14:sldId id="258"/>
            <p14:sldId id="259"/>
            <p14:sldId id="262"/>
            <p14:sldId id="261"/>
            <p14:sldId id="260"/>
            <p14:sldId id="263"/>
            <p14:sldId id="304"/>
            <p14:sldId id="305"/>
            <p14:sldId id="306"/>
            <p14:sldId id="307"/>
            <p14:sldId id="265"/>
            <p14:sldId id="266"/>
            <p14:sldId id="267"/>
            <p14:sldId id="268"/>
            <p14:sldId id="308"/>
            <p14:sldId id="269"/>
            <p14:sldId id="270"/>
            <p14:sldId id="271"/>
            <p14:sldId id="272"/>
            <p14:sldId id="273"/>
            <p14:sldId id="274"/>
            <p14:sldId id="275"/>
            <p14:sldId id="276"/>
            <p14:sldId id="277"/>
            <p14:sldId id="278"/>
            <p14:sldId id="279"/>
            <p14:sldId id="280"/>
            <p14:sldId id="281"/>
            <p14:sldId id="282"/>
            <p14:sldId id="284"/>
            <p14:sldId id="283"/>
            <p14:sldId id="285"/>
            <p14:sldId id="286"/>
            <p14:sldId id="288"/>
            <p14:sldId id="289"/>
            <p14:sldId id="290"/>
            <p14:sldId id="291"/>
            <p14:sldId id="292"/>
            <p14:sldId id="294"/>
            <p14:sldId id="293"/>
            <p14:sldId id="295"/>
            <p14:sldId id="296"/>
            <p14:sldId id="297"/>
            <p14:sldId id="298"/>
            <p14:sldId id="310"/>
            <p14:sldId id="300"/>
            <p14:sldId id="301"/>
            <p14:sldId id="302"/>
            <p14:sldId id="309"/>
            <p14:sldId id="311"/>
          </p14:sldIdLst>
        </p14:section>
      </p14:sectionLst>
    </p:ex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a:srgbClr val="0000FF"/>
    <a:srgbClr val="30A040"/>
    <a:srgbClr val="FFFFFF"/>
    <a:srgbClr val="0000CC"/>
    <a:srgbClr val="333399"/>
    <a:srgbClr val="000099"/>
    <a:srgbClr val="FF99FF"/>
    <a:srgbClr val="00FF00"/>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630" autoAdjust="0"/>
    <p:restoredTop sz="93826" autoAdjust="0"/>
  </p:normalViewPr>
  <p:slideViewPr>
    <p:cSldViewPr>
      <p:cViewPr varScale="1">
        <p:scale>
          <a:sx n="67" d="100"/>
          <a:sy n="67" d="100"/>
        </p:scale>
        <p:origin x="868" y="32"/>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56" d="100"/>
          <a:sy n="56" d="100"/>
        </p:scale>
        <p:origin x="-1830" y="-96"/>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dirty="0"/>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dirty="0"/>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E4C64EE1-592A-45A9-9E8D-8A110C604C90}" type="slidenum">
              <a:rPr lang="zh-CN" altLang="en-US"/>
              <a:pPr/>
              <a:t>‹#›</a:t>
            </a:fld>
            <a:endParaRPr lang="en-US" altLang="zh-CN" dirty="0"/>
          </a:p>
        </p:txBody>
      </p:sp>
    </p:spTree>
    <p:extLst>
      <p:ext uri="{BB962C8B-B14F-4D97-AF65-F5344CB8AC3E}">
        <p14:creationId xmlns:p14="http://schemas.microsoft.com/office/powerpoint/2010/main" val="3431277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dirty="0"/>
          </a:p>
        </p:txBody>
      </p:sp>
      <p:sp>
        <p:nvSpPr>
          <p:cNvPr id="23556" name="Rectangle 4"/>
          <p:cNvSpPr>
            <a:spLocks noGrp="1" noRot="1" noChangeAspect="1" noChangeArrowheads="1" noTextEdit="1"/>
          </p:cNvSpPr>
          <p:nvPr>
            <p:ph type="sldImg" idx="2"/>
          </p:nvPr>
        </p:nvSpPr>
        <p:spPr bwMode="auto">
          <a:xfrm>
            <a:off x="987425" y="696913"/>
            <a:ext cx="503555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endParaRPr lang="en-US" altLang="zh-CN"/>
          </a:p>
          <a:p>
            <a:pPr lvl="1"/>
            <a:r>
              <a:rPr lang="en-US" altLang="zh-CN"/>
              <a:t>5656</a:t>
            </a:r>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dirty="0"/>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8DA2099C-E03D-4BEA-80BD-EC59252D8E32}" type="slidenum">
              <a:rPr lang="zh-CN" altLang="en-US"/>
              <a:pPr/>
              <a:t>‹#›</a:t>
            </a:fld>
            <a:endParaRPr lang="en-US" altLang="zh-CN" dirty="0"/>
          </a:p>
        </p:txBody>
      </p:sp>
    </p:spTree>
    <p:extLst>
      <p:ext uri="{BB962C8B-B14F-4D97-AF65-F5344CB8AC3E}">
        <p14:creationId xmlns:p14="http://schemas.microsoft.com/office/powerpoint/2010/main" val="21592848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itchFamily="2" charset="-122"/>
        <a:ea typeface="宋体" pitchFamily="2" charset="-122"/>
        <a:cs typeface="+mn-cs"/>
      </a:defRPr>
    </a:lvl1pPr>
    <a:lvl2pPr marL="457200" algn="l" rtl="0" fontAlgn="base">
      <a:spcBef>
        <a:spcPct val="30000"/>
      </a:spcBef>
      <a:spcAft>
        <a:spcPct val="0"/>
      </a:spcAft>
      <a:defRPr sz="1200" kern="1200">
        <a:solidFill>
          <a:schemeClr val="tx1"/>
        </a:solidFill>
        <a:latin typeface="宋体" pitchFamily="2" charset="-122"/>
        <a:ea typeface="宋体" pitchFamily="2" charset="-122"/>
        <a:cs typeface="+mn-cs"/>
      </a:defRPr>
    </a:lvl2pPr>
    <a:lvl3pPr marL="914400" algn="l" rtl="0" fontAlgn="base">
      <a:spcBef>
        <a:spcPct val="30000"/>
      </a:spcBef>
      <a:spcAft>
        <a:spcPct val="0"/>
      </a:spcAft>
      <a:defRPr sz="1200" kern="1200">
        <a:solidFill>
          <a:schemeClr val="tx1"/>
        </a:solidFill>
        <a:latin typeface="宋体" pitchFamily="2" charset="-122"/>
        <a:ea typeface="宋体" pitchFamily="2" charset="-122"/>
        <a:cs typeface="+mn-cs"/>
      </a:defRPr>
    </a:lvl3pPr>
    <a:lvl4pPr marL="1371600" algn="l" rtl="0" fontAlgn="base">
      <a:spcBef>
        <a:spcPct val="30000"/>
      </a:spcBef>
      <a:spcAft>
        <a:spcPct val="0"/>
      </a:spcAft>
      <a:defRPr sz="1200" kern="1200">
        <a:solidFill>
          <a:schemeClr val="tx1"/>
        </a:solidFill>
        <a:latin typeface="宋体" pitchFamily="2" charset="-122"/>
        <a:ea typeface="宋体" pitchFamily="2" charset="-122"/>
        <a:cs typeface="+mn-cs"/>
      </a:defRPr>
    </a:lvl4pPr>
    <a:lvl5pPr marL="1828800" algn="l" rtl="0" fontAlgn="base">
      <a:spcBef>
        <a:spcPct val="30000"/>
      </a:spcBef>
      <a:spcAft>
        <a:spcPct val="0"/>
      </a:spcAft>
      <a:defRPr sz="1200" kern="1200">
        <a:solidFill>
          <a:schemeClr val="tx1"/>
        </a:solidFill>
        <a:latin typeface="宋体" pitchFamily="2" charset="-122"/>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96C443-04BC-4639-B5F7-E14A7E3E0041}" type="slidenum">
              <a:rPr lang="zh-CN" altLang="en-US"/>
              <a:pPr/>
              <a:t>1</a:t>
            </a:fld>
            <a:endParaRPr lang="en-US" altLang="zh-CN" dirty="0"/>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10" name="20 9">
            <a:extLst>
              <a:ext uri="{FF2B5EF4-FFF2-40B4-BE49-F238E27FC236}">
                <a16:creationId xmlns:a16="http://schemas.microsoft.com/office/drawing/2014/main" id="{DB875CB5-79D2-4F0D-AAEA-E38F8F1FB7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894850" cy="2420888"/>
          </a:xfrm>
          <a:prstGeom prst="rect">
            <a:avLst/>
          </a:prstGeom>
        </p:spPr>
      </p:pic>
      <p:sp>
        <p:nvSpPr>
          <p:cNvPr id="11" name="标题 1">
            <a:extLst>
              <a:ext uri="{FF2B5EF4-FFF2-40B4-BE49-F238E27FC236}">
                <a16:creationId xmlns:a16="http://schemas.microsoft.com/office/drawing/2014/main" id="{3A371CBA-E3A3-49E4-BC50-D73E5519AF66}"/>
              </a:ext>
            </a:extLst>
          </p:cNvPr>
          <p:cNvSpPr>
            <a:spLocks noGrp="1"/>
          </p:cNvSpPr>
          <p:nvPr>
            <p:ph type="ctrTitle"/>
          </p:nvPr>
        </p:nvSpPr>
        <p:spPr>
          <a:xfrm>
            <a:off x="1208584" y="2620777"/>
            <a:ext cx="8016639" cy="1070582"/>
          </a:xfrm>
        </p:spPr>
        <p:txBody>
          <a:bodyPr anchor="ctr">
            <a:normAutofit fontScale="90000"/>
          </a:bodyPr>
          <a:lstStyle>
            <a:lvl1pPr algn="ctr">
              <a:defRPr sz="4400">
                <a:solidFill>
                  <a:schemeClr val="tx1"/>
                </a:solidFill>
              </a:defRPr>
            </a:lvl1pPr>
          </a:lstStyle>
          <a:p>
            <a:endParaRPr lang="zh-CN" altLang="en-US" sz="4800" dirty="0">
              <a:latin typeface="黑体" panose="02010609060101010101" pitchFamily="49" charset="-122"/>
              <a:ea typeface="黑体" panose="02010609060101010101" pitchFamily="49" charset="-122"/>
            </a:endParaRPr>
          </a:p>
        </p:txBody>
      </p:sp>
      <p:sp>
        <p:nvSpPr>
          <p:cNvPr id="12" name="副标题 2">
            <a:extLst>
              <a:ext uri="{FF2B5EF4-FFF2-40B4-BE49-F238E27FC236}">
                <a16:creationId xmlns:a16="http://schemas.microsoft.com/office/drawing/2014/main" id="{2E156885-70F0-4648-845E-265F364447B4}"/>
              </a:ext>
            </a:extLst>
          </p:cNvPr>
          <p:cNvSpPr>
            <a:spLocks noGrp="1"/>
          </p:cNvSpPr>
          <p:nvPr>
            <p:ph type="subTitle" idx="1"/>
          </p:nvPr>
        </p:nvSpPr>
        <p:spPr>
          <a:xfrm>
            <a:off x="1907282" y="4015551"/>
            <a:ext cx="6619242" cy="642776"/>
          </a:xfrm>
        </p:spPr>
        <p:txBody>
          <a:bodyPr>
            <a:normAutofit/>
          </a:bodyPr>
          <a:lstStyle>
            <a:lvl1pPr marL="0" indent="0" algn="ctr">
              <a:buNone/>
              <a:defRPr sz="3600"/>
            </a:lvl1pPr>
          </a:lstStyle>
          <a:p>
            <a:endParaRPr lang="zh-CN" altLang="en-US" b="1" dirty="0">
              <a:latin typeface="黑体" pitchFamily="49" charset="-122"/>
              <a:ea typeface="黑体" pitchFamily="49" charset="-122"/>
            </a:endParaRPr>
          </a:p>
        </p:txBody>
      </p:sp>
      <p:sp>
        <p:nvSpPr>
          <p:cNvPr id="17" name="矩形 16">
            <a:extLst>
              <a:ext uri="{FF2B5EF4-FFF2-40B4-BE49-F238E27FC236}">
                <a16:creationId xmlns:a16="http://schemas.microsoft.com/office/drawing/2014/main" id="{D001777F-61CF-42D4-943E-7A0268001DD7}"/>
              </a:ext>
            </a:extLst>
          </p:cNvPr>
          <p:cNvSpPr/>
          <p:nvPr userDrawn="1"/>
        </p:nvSpPr>
        <p:spPr>
          <a:xfrm>
            <a:off x="1" y="6415953"/>
            <a:ext cx="9906000" cy="44204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pic>
        <p:nvPicPr>
          <p:cNvPr id="18" name="Picture 2">
            <a:extLst>
              <a:ext uri="{FF2B5EF4-FFF2-40B4-BE49-F238E27FC236}">
                <a16:creationId xmlns:a16="http://schemas.microsoft.com/office/drawing/2014/main" id="{FD28CC49-F75B-42A3-A246-3A936A3C1C54}"/>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927" y="5577048"/>
            <a:ext cx="1938018" cy="1285552"/>
          </a:xfrm>
          <a:prstGeom prst="rect">
            <a:avLst/>
          </a:prstGeom>
          <a:noFill/>
          <a:extLst>
            <a:ext uri="{909E8E84-426E-40DD-AFC4-6F175D3DCCD1}">
              <a14:hiddenFill xmlns:a14="http://schemas.microsoft.com/office/drawing/2010/main">
                <a:solidFill>
                  <a:srgbClr val="FFFFFF"/>
                </a:solidFill>
              </a14:hiddenFill>
            </a:ext>
          </a:extLst>
        </p:spPr>
      </p:pic>
      <p:sp>
        <p:nvSpPr>
          <p:cNvPr id="19" name="日期占位符 12">
            <a:extLst>
              <a:ext uri="{FF2B5EF4-FFF2-40B4-BE49-F238E27FC236}">
                <a16:creationId xmlns:a16="http://schemas.microsoft.com/office/drawing/2014/main" id="{BF0374B4-E0FA-4D63-930E-15A90A36D5DA}"/>
              </a:ext>
            </a:extLst>
          </p:cNvPr>
          <p:cNvSpPr>
            <a:spLocks noGrp="1"/>
          </p:cNvSpPr>
          <p:nvPr>
            <p:ph type="dt" sz="half" idx="10"/>
          </p:nvPr>
        </p:nvSpPr>
        <p:spPr>
          <a:xfrm>
            <a:off x="1944945" y="6448251"/>
            <a:ext cx="2743200" cy="365125"/>
          </a:xfrm>
        </p:spPr>
        <p:txBody>
          <a:bodyPr/>
          <a:lstStyle/>
          <a:p>
            <a:fld id="{9BF28558-7B33-427A-B568-3609C5F68DFB}" type="datetime3">
              <a:rPr lang="zh-CN" altLang="en-US" sz="1600" smtClean="0"/>
              <a:t>2022年12月2日星期五</a:t>
            </a:fld>
            <a:endParaRPr lang="zh-CN" altLang="en-US" sz="1600" dirty="0"/>
          </a:p>
        </p:txBody>
      </p:sp>
      <p:pic>
        <p:nvPicPr>
          <p:cNvPr id="20" name="20 19">
            <a:extLst>
              <a:ext uri="{FF2B5EF4-FFF2-40B4-BE49-F238E27FC236}">
                <a16:creationId xmlns:a16="http://schemas.microsoft.com/office/drawing/2014/main" id="{92CA545C-BE9F-4FE0-8561-A177CAB1467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70610" y="6418253"/>
            <a:ext cx="1424240" cy="44204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8044" y="188640"/>
            <a:ext cx="9719492" cy="792088"/>
          </a:xfrm>
        </p:spPr>
        <p:txBody>
          <a:bodyPr/>
          <a:lstStyle>
            <a:lvl1pPr>
              <a:defRPr b="1">
                <a:solidFill>
                  <a:srgbClr val="333399"/>
                </a:solidFill>
                <a:latin typeface="+mn-lt"/>
                <a:ea typeface="黑体" pitchFamily="2" charset="-122"/>
              </a:defRPr>
            </a:lvl1pPr>
          </a:lstStyle>
          <a:p>
            <a:r>
              <a:rPr lang="zh-CN" altLang="en-US" dirty="0"/>
              <a:t>单击此处编辑母版标题样式</a:t>
            </a:r>
          </a:p>
        </p:txBody>
      </p:sp>
      <p:sp>
        <p:nvSpPr>
          <p:cNvPr id="3" name="内容占位符 2"/>
          <p:cNvSpPr>
            <a:spLocks noGrp="1"/>
          </p:cNvSpPr>
          <p:nvPr>
            <p:ph idx="1"/>
          </p:nvPr>
        </p:nvSpPr>
        <p:spPr>
          <a:xfrm>
            <a:off x="58044" y="1196752"/>
            <a:ext cx="9719492" cy="5264289"/>
          </a:xfrm>
        </p:spPr>
        <p:txBody>
          <a:bodyPr/>
          <a:lstStyle>
            <a:lvl1pPr>
              <a:lnSpc>
                <a:spcPct val="110000"/>
              </a:lnSpc>
              <a:spcBef>
                <a:spcPts val="600"/>
              </a:spcBef>
              <a:defRPr sz="3600" b="1">
                <a:solidFill>
                  <a:schemeClr val="tx1"/>
                </a:solidFill>
                <a:latin typeface="+mn-lt"/>
                <a:ea typeface="黑体" pitchFamily="2" charset="-122"/>
              </a:defRPr>
            </a:lvl1pPr>
            <a:lvl2pPr>
              <a:lnSpc>
                <a:spcPct val="110000"/>
              </a:lnSpc>
              <a:spcBef>
                <a:spcPts val="600"/>
              </a:spcBef>
              <a:defRPr sz="3200" b="1">
                <a:solidFill>
                  <a:schemeClr val="tx1"/>
                </a:solidFill>
                <a:latin typeface="+mn-lt"/>
                <a:ea typeface="黑体" pitchFamily="2" charset="-122"/>
              </a:defRPr>
            </a:lvl2pPr>
            <a:lvl3pPr>
              <a:lnSpc>
                <a:spcPct val="110000"/>
              </a:lnSpc>
              <a:spcBef>
                <a:spcPts val="600"/>
              </a:spcBef>
              <a:defRPr sz="2800" b="1">
                <a:solidFill>
                  <a:schemeClr val="tx1"/>
                </a:solidFill>
                <a:latin typeface="+mn-lt"/>
                <a:ea typeface="黑体" pitchFamily="2" charset="-122"/>
              </a:defRPr>
            </a:lvl3pPr>
            <a:lvl4pPr>
              <a:lnSpc>
                <a:spcPct val="110000"/>
              </a:lnSpc>
              <a:spcBef>
                <a:spcPts val="600"/>
              </a:spcBef>
              <a:defRPr sz="2400" b="1">
                <a:solidFill>
                  <a:schemeClr val="tx1"/>
                </a:solidFill>
                <a:latin typeface="+mn-lt"/>
                <a:ea typeface="黑体" pitchFamily="2" charset="-122"/>
              </a:defRPr>
            </a:lvl4pPr>
            <a:lvl5pPr>
              <a:lnSpc>
                <a:spcPct val="110000"/>
              </a:lnSpc>
              <a:spcBef>
                <a:spcPts val="600"/>
              </a:spcBef>
              <a:defRPr sz="2000" b="1">
                <a:solidFill>
                  <a:schemeClr val="tx1"/>
                </a:solidFill>
                <a:latin typeface="+mn-lt"/>
                <a:ea typeface="黑体"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lvl1pPr>
              <a:defRPr/>
            </a:lvl1pPr>
          </a:lstStyle>
          <a:p>
            <a:fld id="{A8B06C41-1E1E-4B9B-9644-5AFB8CB2AB3B}" type="datetime3">
              <a:rPr lang="zh-CN" altLang="en-US" smtClean="0"/>
              <a:t>2022年12月2日星期五</a:t>
            </a:fld>
            <a:endParaRPr lang="en-US" altLang="zh-CN" dirty="0"/>
          </a:p>
        </p:txBody>
      </p:sp>
      <p:sp>
        <p:nvSpPr>
          <p:cNvPr id="6" name="灯片编号占位符 5"/>
          <p:cNvSpPr>
            <a:spLocks noGrp="1"/>
          </p:cNvSpPr>
          <p:nvPr>
            <p:ph type="sldNum" sz="quarter" idx="12"/>
          </p:nvPr>
        </p:nvSpPr>
        <p:spPr/>
        <p:txBody>
          <a:bodyPr/>
          <a:lstStyle>
            <a:lvl1pPr>
              <a:defRPr/>
            </a:lvl1pPr>
          </a:lstStyle>
          <a:p>
            <a:fld id="{7AC79822-BC0D-4DE8-A7E5-90A3732A2B82}" type="slidenum">
              <a:rPr lang="zh-CN" altLang="en-US"/>
              <a:pPr/>
              <a:t>‹#›</a:t>
            </a:fld>
            <a:endParaRPr lang="en-US" altLang="zh-CN" dirty="0"/>
          </a:p>
        </p:txBody>
      </p:sp>
      <p:sp>
        <p:nvSpPr>
          <p:cNvPr id="7" name="Line 8"/>
          <p:cNvSpPr>
            <a:spLocks noChangeShapeType="1"/>
          </p:cNvSpPr>
          <p:nvPr userDrawn="1"/>
        </p:nvSpPr>
        <p:spPr bwMode="auto">
          <a:xfrm flipV="1">
            <a:off x="58044" y="1052735"/>
            <a:ext cx="9719492" cy="1"/>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653446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a:xfrm>
            <a:off x="495300" y="6381328"/>
            <a:ext cx="2311400" cy="432048"/>
          </a:xfrm>
        </p:spPr>
        <p:txBody>
          <a:bodyPr/>
          <a:lstStyle>
            <a:lvl1pPr>
              <a:defRPr sz="1600"/>
            </a:lvl1pPr>
          </a:lstStyle>
          <a:p>
            <a:fld id="{A3C8579E-F682-4174-8232-D943C000E3D7}" type="datetime3">
              <a:rPr lang="zh-CN" altLang="en-US" smtClean="0"/>
              <a:t>2022年12月2日星期五</a:t>
            </a:fld>
            <a:endParaRPr lang="en-US" altLang="zh-CN" dirty="0"/>
          </a:p>
        </p:txBody>
      </p:sp>
      <p:sp>
        <p:nvSpPr>
          <p:cNvPr id="6" name="灯片编号占位符 5"/>
          <p:cNvSpPr>
            <a:spLocks noGrp="1"/>
          </p:cNvSpPr>
          <p:nvPr>
            <p:ph type="sldNum" sz="quarter" idx="12"/>
          </p:nvPr>
        </p:nvSpPr>
        <p:spPr>
          <a:xfrm>
            <a:off x="3944367" y="6453336"/>
            <a:ext cx="2311400" cy="360040"/>
          </a:xfrm>
        </p:spPr>
        <p:txBody>
          <a:bodyPr/>
          <a:lstStyle>
            <a:lvl1pPr algn="ctr">
              <a:defRPr sz="1600"/>
            </a:lvl1pPr>
          </a:lstStyle>
          <a:p>
            <a:fld id="{C3F47B36-077D-42FE-9DED-0C77CB87E4B3}" type="slidenum">
              <a:rPr lang="zh-CN" altLang="en-US" smtClean="0"/>
              <a:pPr/>
              <a:t>‹#›</a:t>
            </a:fld>
            <a:endParaRPr lang="en-US" altLang="zh-CN" dirty="0"/>
          </a:p>
        </p:txBody>
      </p:sp>
      <p:pic>
        <p:nvPicPr>
          <p:cNvPr id="7" name="20 6">
            <a:extLst>
              <a:ext uri="{FF2B5EF4-FFF2-40B4-BE49-F238E27FC236}">
                <a16:creationId xmlns:a16="http://schemas.microsoft.com/office/drawing/2014/main" id="{E94A7FD3-B299-4610-AC83-3B451DCD065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80240" y="6542278"/>
            <a:ext cx="874512" cy="271098"/>
          </a:xfrm>
          <a:prstGeom prst="rect">
            <a:avLst/>
          </a:prstGeom>
        </p:spPr>
      </p:pic>
    </p:spTree>
    <p:extLst>
      <p:ext uri="{BB962C8B-B14F-4D97-AF65-F5344CB8AC3E}">
        <p14:creationId xmlns:p14="http://schemas.microsoft.com/office/powerpoint/2010/main" val="109813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itchFamily="2" charset="-122"/>
              </a:defRPr>
            </a:lvl1pPr>
            <a:lvl2pPr>
              <a:buClr>
                <a:schemeClr val="accent2"/>
              </a:buCl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buClr>
                <a:srgbClr val="333399"/>
              </a:buClr>
              <a:defRPr sz="18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itchFamily="2" charset="-122"/>
              </a:defRPr>
            </a:lvl1pPr>
            <a:lvl2pPr>
              <a:buClr>
                <a:schemeClr val="accent2"/>
              </a:buCl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buClr>
                <a:srgbClr val="333399"/>
              </a:buClr>
              <a:defRPr sz="18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lvl1pPr>
              <a:defRPr/>
            </a:lvl1pPr>
          </a:lstStyle>
          <a:p>
            <a:fld id="{5566F1B3-94A1-4D75-BEB5-A24ADF28504A}" type="datetime3">
              <a:rPr lang="zh-CN" altLang="en-US" smtClean="0"/>
              <a:t>2022年12月2日星期五</a:t>
            </a:fld>
            <a:endParaRPr lang="en-US" altLang="zh-CN" dirty="0"/>
          </a:p>
        </p:txBody>
      </p:sp>
      <p:sp>
        <p:nvSpPr>
          <p:cNvPr id="6" name="页脚占位符 5"/>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p:txBody>
          <a:bodyPr/>
          <a:lstStyle>
            <a:lvl1pPr>
              <a:defRPr/>
            </a:lvl1pPr>
          </a:lstStyle>
          <a:p>
            <a:fld id="{40B52295-AD8D-47A8-A4D5-D2F6B9F48E3F}" type="slidenum">
              <a:rPr lang="zh-CN" altLang="en-US"/>
              <a:pPr/>
              <a:t>‹#›</a:t>
            </a:fld>
            <a:endParaRPr lang="en-US" altLang="zh-CN" dirty="0"/>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3458324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lvl1pPr>
              <a:defRPr/>
            </a:lvl1pPr>
          </a:lstStyle>
          <a:p>
            <a:fld id="{EA960A4C-2E7A-4BC7-92BB-4811D8BBCCED}" type="datetime3">
              <a:rPr lang="zh-CN" altLang="en-US" smtClean="0"/>
              <a:t>2022年12月2日星期五</a:t>
            </a:fld>
            <a:endParaRPr lang="en-US" altLang="zh-CN" dirty="0"/>
          </a:p>
        </p:txBody>
      </p:sp>
      <p:sp>
        <p:nvSpPr>
          <p:cNvPr id="8" name="页脚占位符 7"/>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pPr/>
              <a:t>‹#›</a:t>
            </a:fld>
            <a:endParaRPr lang="en-US" altLang="zh-CN" dirty="0"/>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046753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lvl1pPr>
              <a:defRPr/>
            </a:lvl1pPr>
          </a:lstStyle>
          <a:p>
            <a:fld id="{E4D6D13C-CD6B-463A-856C-AE7EFF1CC60E}" type="datetime3">
              <a:rPr lang="zh-CN" altLang="en-US" smtClean="0"/>
              <a:t>2022年12月2日星期五</a:t>
            </a:fld>
            <a:endParaRPr lang="en-US" altLang="zh-CN" dirty="0"/>
          </a:p>
        </p:txBody>
      </p:sp>
      <p:sp>
        <p:nvSpPr>
          <p:cNvPr id="8" name="页脚占位符 7"/>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pPr/>
              <a:t>‹#›</a:t>
            </a:fld>
            <a:endParaRPr lang="en-US" altLang="zh-CN" dirty="0"/>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052090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41AAF49A-B9BF-4A20-9CBD-058DA3EDBF07}" type="datetime3">
              <a:rPr lang="zh-CN" altLang="en-US" smtClean="0"/>
              <a:t>2022年12月2日星期五</a:t>
            </a:fld>
            <a:endParaRPr lang="en-US" altLang="zh-CN" dirty="0"/>
          </a:p>
        </p:txBody>
      </p:sp>
      <p:sp>
        <p:nvSpPr>
          <p:cNvPr id="4" name="页脚占位符 3"/>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5" name="灯片编号占位符 4"/>
          <p:cNvSpPr>
            <a:spLocks noGrp="1"/>
          </p:cNvSpPr>
          <p:nvPr>
            <p:ph type="sldNum" sz="quarter" idx="12"/>
          </p:nvPr>
        </p:nvSpPr>
        <p:spPr/>
        <p:txBody>
          <a:bodyPr/>
          <a:lstStyle>
            <a:lvl1pPr>
              <a:defRPr/>
            </a:lvl1pPr>
          </a:lstStyle>
          <a:p>
            <a:fld id="{14338B79-8FD5-46F1-8A19-651A319ADB19}" type="slidenum">
              <a:rPr lang="zh-CN" altLang="en-US"/>
              <a:pPr/>
              <a:t>‹#›</a:t>
            </a:fld>
            <a:endParaRPr lang="en-US" altLang="zh-CN" dirty="0"/>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08132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47B4B721-E592-4506-A42D-A485CD36D387}" type="datetime3">
              <a:rPr lang="zh-CN" altLang="en-US" smtClean="0"/>
              <a:t>2022年12月2日星期五</a:t>
            </a:fld>
            <a:endParaRPr lang="en-US" altLang="zh-CN" dirty="0"/>
          </a:p>
        </p:txBody>
      </p:sp>
      <p:sp>
        <p:nvSpPr>
          <p:cNvPr id="3" name="页脚占位符 2"/>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4" name="灯片编号占位符 3"/>
          <p:cNvSpPr>
            <a:spLocks noGrp="1"/>
          </p:cNvSpPr>
          <p:nvPr>
            <p:ph type="sldNum" sz="quarter" idx="12"/>
          </p:nvPr>
        </p:nvSpPr>
        <p:spPr/>
        <p:txBody>
          <a:bodyPr/>
          <a:lstStyle>
            <a:lvl1pPr>
              <a:defRPr/>
            </a:lvl1pPr>
          </a:lstStyle>
          <a:p>
            <a:fld id="{137DC1DE-D772-415A-B75D-6C2A3BBF0EE5}" type="slidenum">
              <a:rPr lang="zh-CN" altLang="en-US"/>
              <a:pPr/>
              <a:t>‹#›</a:t>
            </a:fld>
            <a:endParaRPr lang="en-US" altLang="zh-CN" dirty="0"/>
          </a:p>
        </p:txBody>
      </p:sp>
    </p:spTree>
    <p:extLst>
      <p:ext uri="{BB962C8B-B14F-4D97-AF65-F5344CB8AC3E}">
        <p14:creationId xmlns:p14="http://schemas.microsoft.com/office/powerpoint/2010/main" val="607053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A85F4B58-8D9C-4A13-BFBC-1BE0A361A717}" type="datetime3">
              <a:rPr lang="zh-CN" altLang="en-US" smtClean="0"/>
              <a:t>2022年12月2日星期五</a:t>
            </a:fld>
            <a:endParaRPr lang="en-US" altLang="zh-CN" dirty="0"/>
          </a:p>
        </p:txBody>
      </p:sp>
      <p:sp>
        <p:nvSpPr>
          <p:cNvPr id="6" name="页脚占位符 5"/>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p:txBody>
          <a:bodyPr/>
          <a:lstStyle>
            <a:lvl1pPr>
              <a:defRPr/>
            </a:lvl1pPr>
          </a:lstStyle>
          <a:p>
            <a:fld id="{DFB74B41-85B4-4984-A2A4-801BFDC62CF6}" type="slidenum">
              <a:rPr lang="zh-CN" altLang="en-US"/>
              <a:pPr/>
              <a:t>‹#›</a:t>
            </a:fld>
            <a:endParaRPr lang="en-US" altLang="zh-CN" dirty="0"/>
          </a:p>
        </p:txBody>
      </p:sp>
    </p:spTree>
    <p:extLst>
      <p:ext uri="{BB962C8B-B14F-4D97-AF65-F5344CB8AC3E}">
        <p14:creationId xmlns:p14="http://schemas.microsoft.com/office/powerpoint/2010/main" val="1982550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20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单击图标添加20</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2460B875-7DB8-40C0-8DE9-C73D2B1839FC}" type="datetime3">
              <a:rPr lang="zh-CN" altLang="en-US" smtClean="0"/>
              <a:t>2022年12月2日星期五</a:t>
            </a:fld>
            <a:endParaRPr lang="en-US" altLang="zh-CN" dirty="0"/>
          </a:p>
        </p:txBody>
      </p:sp>
      <p:sp>
        <p:nvSpPr>
          <p:cNvPr id="6" name="页脚占位符 5"/>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p:txBody>
          <a:bodyPr/>
          <a:lstStyle>
            <a:lvl1pPr>
              <a:defRPr/>
            </a:lvl1pPr>
          </a:lstStyle>
          <a:p>
            <a:fld id="{24FEF2C3-09B7-48D6-BCFF-274B159605E4}" type="slidenum">
              <a:rPr lang="zh-CN" altLang="en-US"/>
              <a:pPr/>
              <a:t>‹#›</a:t>
            </a:fld>
            <a:endParaRPr lang="en-US" altLang="zh-CN" dirty="0"/>
          </a:p>
        </p:txBody>
      </p:sp>
    </p:spTree>
    <p:extLst>
      <p:ext uri="{BB962C8B-B14F-4D97-AF65-F5344CB8AC3E}">
        <p14:creationId xmlns:p14="http://schemas.microsoft.com/office/powerpoint/2010/main" val="1885987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5999A547-F978-4B5E-95FF-4A25E1B63B3F}" type="datetime3">
              <a:rPr lang="zh-CN" altLang="en-US" smtClean="0"/>
              <a:t>2022年12月2日星期五</a:t>
            </a:fld>
            <a:endParaRPr lang="en-US" altLang="zh-CN" dirty="0"/>
          </a:p>
        </p:txBody>
      </p:sp>
      <p:sp>
        <p:nvSpPr>
          <p:cNvPr id="5" name="页脚占位符 4"/>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6" name="灯片编号占位符 5"/>
          <p:cNvSpPr>
            <a:spLocks noGrp="1"/>
          </p:cNvSpPr>
          <p:nvPr>
            <p:ph type="sldNum" sz="quarter" idx="12"/>
          </p:nvPr>
        </p:nvSpPr>
        <p:spPr/>
        <p:txBody>
          <a:bodyPr/>
          <a:lstStyle>
            <a:lvl1pPr>
              <a:defRPr/>
            </a:lvl1pPr>
          </a:lstStyle>
          <a:p>
            <a:fld id="{A2236A91-AB49-49FF-BD59-8386391FD12B}" type="slidenum">
              <a:rPr lang="zh-CN" altLang="en-US"/>
              <a:pPr/>
              <a:t>‹#›</a:t>
            </a:fld>
            <a:endParaRPr lang="en-US" altLang="zh-CN" dirty="0"/>
          </a:p>
        </p:txBody>
      </p:sp>
    </p:spTree>
    <p:extLst>
      <p:ext uri="{BB962C8B-B14F-4D97-AF65-F5344CB8AC3E}">
        <p14:creationId xmlns:p14="http://schemas.microsoft.com/office/powerpoint/2010/main" val="16846428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DD4BF687-6B3E-44A6-8A17-B031BCEB5374}" type="datetime3">
              <a:rPr lang="zh-CN" altLang="en-US" smtClean="0"/>
              <a:t>2022年12月2日星期五</a:t>
            </a:fld>
            <a:endParaRPr lang="en-US" altLang="zh-CN" dirty="0"/>
          </a:p>
        </p:txBody>
      </p:sp>
      <p:sp>
        <p:nvSpPr>
          <p:cNvPr id="5" name="页脚占位符 4"/>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6" name="灯片编号占位符 5"/>
          <p:cNvSpPr>
            <a:spLocks noGrp="1"/>
          </p:cNvSpPr>
          <p:nvPr>
            <p:ph type="sldNum" sz="quarter" idx="12"/>
          </p:nvPr>
        </p:nvSpPr>
        <p:spPr/>
        <p:txBody>
          <a:bodyPr/>
          <a:lstStyle>
            <a:lvl1pPr>
              <a:defRPr/>
            </a:lvl1pPr>
          </a:lstStyle>
          <a:p>
            <a:fld id="{D98FACEB-921B-4428-A32E-7A6FF935A2DD}" type="slidenum">
              <a:rPr lang="zh-CN" altLang="en-US"/>
              <a:pPr/>
              <a:t>‹#›</a:t>
            </a:fld>
            <a:endParaRPr lang="en-US" altLang="zh-CN" dirty="0"/>
          </a:p>
        </p:txBody>
      </p:sp>
    </p:spTree>
    <p:extLst>
      <p:ext uri="{BB962C8B-B14F-4D97-AF65-F5344CB8AC3E}">
        <p14:creationId xmlns:p14="http://schemas.microsoft.com/office/powerpoint/2010/main" val="1291822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88504" y="188640"/>
            <a:ext cx="8915400" cy="792088"/>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95300" y="6248400"/>
            <a:ext cx="2311400" cy="457200"/>
          </a:xfrm>
        </p:spPr>
        <p:txBody>
          <a:bodyPr/>
          <a:lstStyle>
            <a:lvl1pPr>
              <a:defRPr/>
            </a:lvl1pPr>
          </a:lstStyle>
          <a:p>
            <a:fld id="{448BAC07-5643-4648-8B99-28E352517941}" type="datetime3">
              <a:rPr lang="zh-CN" altLang="en-US" smtClean="0"/>
              <a:t>2022年12月2日星期五</a:t>
            </a:fld>
            <a:endParaRPr lang="en-US" altLang="zh-CN" dirty="0"/>
          </a:p>
        </p:txBody>
      </p:sp>
      <p:sp>
        <p:nvSpPr>
          <p:cNvPr id="7" name="页脚占位符 6"/>
          <p:cNvSpPr>
            <a:spLocks noGrp="1"/>
          </p:cNvSpPr>
          <p:nvPr>
            <p:ph type="ftr" sz="quarter" idx="11"/>
          </p:nvPr>
        </p:nvSpPr>
        <p:spPr>
          <a:xfrm>
            <a:off x="3384550" y="6248400"/>
            <a:ext cx="3136900" cy="457200"/>
          </a:xfrm>
          <a:prstGeom prst="rect">
            <a:avLst/>
          </a:prstGeom>
        </p:spPr>
        <p:txBody>
          <a:bodyPr/>
          <a:lstStyle>
            <a:lvl1pPr>
              <a:defRPr/>
            </a:lvl1pPr>
          </a:lstStyle>
          <a:p>
            <a:endParaRPr lang="en-US" altLang="zh-CN" dirty="0"/>
          </a:p>
        </p:txBody>
      </p:sp>
      <p:sp>
        <p:nvSpPr>
          <p:cNvPr id="8" name="灯片编号占位符 7"/>
          <p:cNvSpPr>
            <a:spLocks noGrp="1"/>
          </p:cNvSpPr>
          <p:nvPr>
            <p:ph type="sldNum" sz="quarter" idx="12"/>
          </p:nvPr>
        </p:nvSpPr>
        <p:spPr>
          <a:xfrm>
            <a:off x="7099300" y="6248400"/>
            <a:ext cx="2311400" cy="457200"/>
          </a:xfrm>
        </p:spPr>
        <p:txBody>
          <a:bodyPr/>
          <a:lstStyle>
            <a:lvl1pPr>
              <a:defRPr/>
            </a:lvl1pPr>
          </a:lstStyle>
          <a:p>
            <a:fld id="{3C52F4D9-41EC-423B-B963-42D1C41ACCC5}" type="slidenum">
              <a:rPr lang="zh-CN" altLang="en-US"/>
              <a:pPr/>
              <a:t>‹#›</a:t>
            </a:fld>
            <a:endParaRPr lang="en-US" altLang="zh-CN" dirty="0"/>
          </a:p>
        </p:txBody>
      </p:sp>
      <p:sp>
        <p:nvSpPr>
          <p:cNvPr id="9"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463550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1"/>
            <a:ext cx="8915400" cy="792087"/>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剪贴画占位符 3"/>
          <p:cNvSpPr>
            <a:spLocks noGrp="1"/>
          </p:cNvSpPr>
          <p:nvPr>
            <p:ph type="clipArt" sz="half" idx="2"/>
          </p:nvPr>
        </p:nvSpPr>
        <p:spPr>
          <a:xfrm>
            <a:off x="5029200" y="1196752"/>
            <a:ext cx="4381500" cy="4934173"/>
          </a:xfrm>
        </p:spPr>
        <p:txBody>
          <a:bodyPr/>
          <a:lstStyle/>
          <a:p>
            <a:r>
              <a:rPr lang="zh-CN" altLang="en-US"/>
              <a:t>单击图标添加剪 贴画</a:t>
            </a:r>
          </a:p>
        </p:txBody>
      </p:sp>
      <p:sp>
        <p:nvSpPr>
          <p:cNvPr id="5" name="日期占位符 4"/>
          <p:cNvSpPr>
            <a:spLocks noGrp="1"/>
          </p:cNvSpPr>
          <p:nvPr>
            <p:ph type="dt" sz="half" idx="10"/>
          </p:nvPr>
        </p:nvSpPr>
        <p:spPr>
          <a:xfrm>
            <a:off x="495300" y="6248400"/>
            <a:ext cx="2311400" cy="457200"/>
          </a:xfrm>
        </p:spPr>
        <p:txBody>
          <a:bodyPr/>
          <a:lstStyle>
            <a:lvl1pPr>
              <a:defRPr/>
            </a:lvl1pPr>
          </a:lstStyle>
          <a:p>
            <a:fld id="{3D344004-1B03-4B97-88C0-C8765BDB0F88}" type="datetime3">
              <a:rPr lang="zh-CN" altLang="en-US" smtClean="0"/>
              <a:t>2022年12月2日星期五</a:t>
            </a:fld>
            <a:endParaRPr lang="en-US" altLang="zh-CN" dirty="0"/>
          </a:p>
        </p:txBody>
      </p:sp>
      <p:sp>
        <p:nvSpPr>
          <p:cNvPr id="6" name="页脚占位符 5"/>
          <p:cNvSpPr>
            <a:spLocks noGrp="1"/>
          </p:cNvSpPr>
          <p:nvPr>
            <p:ph type="ftr" sz="quarter" idx="11"/>
          </p:nvPr>
        </p:nvSpPr>
        <p:spPr>
          <a:xfrm>
            <a:off x="3384550" y="6248400"/>
            <a:ext cx="31369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a:xfrm>
            <a:off x="7099300" y="6248400"/>
            <a:ext cx="2311400" cy="457200"/>
          </a:xfrm>
        </p:spPr>
        <p:txBody>
          <a:bodyPr/>
          <a:lstStyle>
            <a:lvl1pPr>
              <a:defRPr/>
            </a:lvl1pPr>
          </a:lstStyle>
          <a:p>
            <a:fld id="{966CAE82-64C7-4E5B-88D2-F38A61F120C5}" type="slidenum">
              <a:rPr lang="zh-CN" altLang="en-US"/>
              <a:pPr/>
              <a:t>‹#›</a:t>
            </a:fld>
            <a:endParaRPr lang="en-US" altLang="zh-CN" dirty="0"/>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750890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58044" y="44624"/>
            <a:ext cx="9784456"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endParaRPr lang="en-US" altLang="zh-CN" dirty="0"/>
          </a:p>
        </p:txBody>
      </p:sp>
      <p:sp>
        <p:nvSpPr>
          <p:cNvPr id="15363" name="Rectangle 3"/>
          <p:cNvSpPr>
            <a:spLocks noGrp="1" noChangeArrowheads="1"/>
          </p:cNvSpPr>
          <p:nvPr>
            <p:ph type="body" idx="1"/>
          </p:nvPr>
        </p:nvSpPr>
        <p:spPr bwMode="auto">
          <a:xfrm>
            <a:off x="63500" y="1017862"/>
            <a:ext cx="9784456" cy="5514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4"/>
            <a:r>
              <a:rPr lang="zh-CN" altLang="en-US" dirty="0"/>
              <a:t>第五级</a:t>
            </a:r>
            <a:endParaRPr lang="en-US" altLang="zh-CN" dirty="0"/>
          </a:p>
        </p:txBody>
      </p:sp>
      <p:sp>
        <p:nvSpPr>
          <p:cNvPr id="15364" name="Rectangle 4"/>
          <p:cNvSpPr>
            <a:spLocks noGrp="1" noChangeArrowheads="1"/>
          </p:cNvSpPr>
          <p:nvPr>
            <p:ph type="dt" sz="half" idx="2"/>
          </p:nvPr>
        </p:nvSpPr>
        <p:spPr bwMode="auto">
          <a:xfrm>
            <a:off x="58044" y="6542278"/>
            <a:ext cx="2311400" cy="271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ea typeface="宋体" pitchFamily="2" charset="-122"/>
              </a:defRPr>
            </a:lvl1pPr>
          </a:lstStyle>
          <a:p>
            <a:fld id="{9505B10C-6225-4137-9473-CCC2B763FCE5}" type="datetime3">
              <a:rPr lang="zh-CN" altLang="en-US" smtClean="0"/>
              <a:pPr/>
              <a:t>2022年12月2日星期五</a:t>
            </a:fld>
            <a:endParaRPr lang="en-US" altLang="zh-CN" dirty="0"/>
          </a:p>
        </p:txBody>
      </p:sp>
      <p:sp>
        <p:nvSpPr>
          <p:cNvPr id="15366" name="Rectangle 6"/>
          <p:cNvSpPr>
            <a:spLocks noGrp="1" noChangeArrowheads="1"/>
          </p:cNvSpPr>
          <p:nvPr>
            <p:ph type="sldNum" sz="quarter" idx="4"/>
          </p:nvPr>
        </p:nvSpPr>
        <p:spPr bwMode="auto">
          <a:xfrm>
            <a:off x="3797300" y="6533050"/>
            <a:ext cx="2311400" cy="271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ea typeface="宋体" pitchFamily="2" charset="-122"/>
              </a:defRPr>
            </a:lvl1pPr>
          </a:lstStyle>
          <a:p>
            <a:fld id="{67B052E9-C54A-4603-AE2F-EB72B006DB6C}" type="slidenum">
              <a:rPr lang="zh-CN" altLang="en-US" smtClean="0"/>
              <a:pPr/>
              <a:t>‹#›</a:t>
            </a:fld>
            <a:endParaRPr lang="en-US" altLang="zh-CN" dirty="0"/>
          </a:p>
        </p:txBody>
      </p:sp>
      <p:sp>
        <p:nvSpPr>
          <p:cNvPr id="2"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2" name="20 11">
            <a:extLst>
              <a:ext uri="{FF2B5EF4-FFF2-40B4-BE49-F238E27FC236}">
                <a16:creationId xmlns:a16="http://schemas.microsoft.com/office/drawing/2014/main" id="{482E3178-F79E-4C1F-91C9-D07D79763864}"/>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973444" y="6562880"/>
            <a:ext cx="874512" cy="271098"/>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71"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Lst>
  <p:hf hdr="0" ftr="0"/>
  <p:txStyles>
    <p:titleStyle>
      <a:lvl1pPr algn="l" rtl="0" eaLnBrk="1" fontAlgn="base" hangingPunct="1">
        <a:spcBef>
          <a:spcPct val="0"/>
        </a:spcBef>
        <a:spcAft>
          <a:spcPct val="0"/>
        </a:spcAft>
        <a:defRPr sz="4400" b="1">
          <a:solidFill>
            <a:srgbClr val="333399"/>
          </a:solidFill>
          <a:latin typeface="+mn-lt"/>
          <a:ea typeface="黑体" pitchFamily="2" charset="-122"/>
          <a:cs typeface="+mj-cs"/>
        </a:defRPr>
      </a:lvl1pPr>
      <a:lvl2pPr algn="l" rtl="0" eaLnBrk="1" fontAlgn="base" hangingPunct="1">
        <a:spcBef>
          <a:spcPct val="0"/>
        </a:spcBef>
        <a:spcAft>
          <a:spcPct val="0"/>
        </a:spcAft>
        <a:defRPr sz="4400">
          <a:solidFill>
            <a:schemeClr val="tx2"/>
          </a:solidFill>
          <a:latin typeface="Times New Roman" pitchFamily="18" charset="0"/>
        </a:defRPr>
      </a:lvl2pPr>
      <a:lvl3pPr algn="l" rtl="0" eaLnBrk="1" fontAlgn="base" hangingPunct="1">
        <a:spcBef>
          <a:spcPct val="0"/>
        </a:spcBef>
        <a:spcAft>
          <a:spcPct val="0"/>
        </a:spcAft>
        <a:defRPr sz="4400">
          <a:solidFill>
            <a:schemeClr val="tx2"/>
          </a:solidFill>
          <a:latin typeface="Times New Roman" pitchFamily="18" charset="0"/>
        </a:defRPr>
      </a:lvl3pPr>
      <a:lvl4pPr algn="l" rtl="0" eaLnBrk="1" fontAlgn="base" hangingPunct="1">
        <a:spcBef>
          <a:spcPct val="0"/>
        </a:spcBef>
        <a:spcAft>
          <a:spcPct val="0"/>
        </a:spcAft>
        <a:defRPr sz="4400">
          <a:solidFill>
            <a:schemeClr val="tx2"/>
          </a:solidFill>
          <a:latin typeface="Times New Roman" pitchFamily="18" charset="0"/>
        </a:defRPr>
      </a:lvl4pPr>
      <a:lvl5pPr algn="l" rtl="0" eaLnBrk="1" fontAlgn="base" hangingPunct="1">
        <a:spcBef>
          <a:spcPct val="0"/>
        </a:spcBef>
        <a:spcAft>
          <a:spcPct val="0"/>
        </a:spcAft>
        <a:defRPr sz="4400">
          <a:solidFill>
            <a:schemeClr val="tx2"/>
          </a:solidFill>
          <a:latin typeface="Times New Roman" pitchFamily="18" charset="0"/>
        </a:defRPr>
      </a:lvl5pPr>
      <a:lvl6pPr marL="457200" algn="l" rtl="0" eaLnBrk="1" fontAlgn="base" hangingPunct="1">
        <a:spcBef>
          <a:spcPct val="0"/>
        </a:spcBef>
        <a:spcAft>
          <a:spcPct val="0"/>
        </a:spcAft>
        <a:defRPr sz="4400">
          <a:solidFill>
            <a:schemeClr val="tx2"/>
          </a:solidFill>
          <a:latin typeface="Times New Roman" pitchFamily="18" charset="0"/>
        </a:defRPr>
      </a:lvl6pPr>
      <a:lvl7pPr marL="914400" algn="l" rtl="0" eaLnBrk="1" fontAlgn="base" hangingPunct="1">
        <a:spcBef>
          <a:spcPct val="0"/>
        </a:spcBef>
        <a:spcAft>
          <a:spcPct val="0"/>
        </a:spcAft>
        <a:defRPr sz="4400">
          <a:solidFill>
            <a:schemeClr val="tx2"/>
          </a:solidFill>
          <a:latin typeface="Times New Roman" pitchFamily="18" charset="0"/>
        </a:defRPr>
      </a:lvl7pPr>
      <a:lvl8pPr marL="1371600" algn="l" rtl="0" eaLnBrk="1" fontAlgn="base" hangingPunct="1">
        <a:spcBef>
          <a:spcPct val="0"/>
        </a:spcBef>
        <a:spcAft>
          <a:spcPct val="0"/>
        </a:spcAft>
        <a:defRPr sz="4400">
          <a:solidFill>
            <a:schemeClr val="tx2"/>
          </a:solidFill>
          <a:latin typeface="Times New Roman" pitchFamily="18" charset="0"/>
        </a:defRPr>
      </a:lvl8pPr>
      <a:lvl9pPr marL="1828800" algn="l"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8.wmf"/><Relationship Id="rId18" Type="http://schemas.openxmlformats.org/officeDocument/2006/relationships/oleObject" Target="../embeddings/oleObject7.bin"/><Relationship Id="rId3" Type="http://schemas.openxmlformats.org/officeDocument/2006/relationships/image" Target="../media/image9.png"/><Relationship Id="rId21" Type="http://schemas.openxmlformats.org/officeDocument/2006/relationships/image" Target="../media/image12.wmf"/><Relationship Id="rId7" Type="http://schemas.openxmlformats.org/officeDocument/2006/relationships/image" Target="../media/image12.png"/><Relationship Id="rId12" Type="http://schemas.openxmlformats.org/officeDocument/2006/relationships/oleObject" Target="../embeddings/oleObject4.bin"/><Relationship Id="rId17" Type="http://schemas.openxmlformats.org/officeDocument/2006/relationships/image" Target="../media/image10.wmf"/><Relationship Id="rId16" Type="http://schemas.openxmlformats.org/officeDocument/2006/relationships/oleObject" Target="../embeddings/oleObject6.bin"/><Relationship Id="rId20"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image" Target="../media/image6.wmf"/><Relationship Id="rId11" Type="http://schemas.openxmlformats.org/officeDocument/2006/relationships/image" Target="../media/image7.wmf"/><Relationship Id="rId24" Type="http://schemas.openxmlformats.org/officeDocument/2006/relationships/image" Target="../media/image13.wmf"/><Relationship Id="rId5" Type="http://schemas.openxmlformats.org/officeDocument/2006/relationships/oleObject" Target="../embeddings/oleObject2.bin"/><Relationship Id="rId15" Type="http://schemas.openxmlformats.org/officeDocument/2006/relationships/image" Target="../media/image9.wmf"/><Relationship Id="rId23" Type="http://schemas.openxmlformats.org/officeDocument/2006/relationships/oleObject" Target="../embeddings/oleObject10.bin"/><Relationship Id="rId10" Type="http://schemas.openxmlformats.org/officeDocument/2006/relationships/oleObject" Target="../embeddings/oleObject3.bin"/><Relationship Id="rId19" Type="http://schemas.openxmlformats.org/officeDocument/2006/relationships/image" Target="../media/image11.wmf"/><Relationship Id="rId4" Type="http://schemas.openxmlformats.org/officeDocument/2006/relationships/image" Target="../media/image10.png"/><Relationship Id="rId9" Type="http://schemas.openxmlformats.org/officeDocument/2006/relationships/image" Target="../media/image14.png"/><Relationship Id="rId14" Type="http://schemas.openxmlformats.org/officeDocument/2006/relationships/oleObject" Target="../embeddings/oleObject5.bin"/><Relationship Id="rId22" Type="http://schemas.openxmlformats.org/officeDocument/2006/relationships/oleObject" Target="../embeddings/oleObject9.bin"/></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14.wmf"/><Relationship Id="rId4" Type="http://schemas.openxmlformats.org/officeDocument/2006/relationships/oleObject" Target="../embeddings/oleObject11.bin"/></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5.wmf"/><Relationship Id="rId4" Type="http://schemas.openxmlformats.org/officeDocument/2006/relationships/oleObject" Target="../embeddings/oleObject12.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9.wmf"/><Relationship Id="rId18" Type="http://schemas.openxmlformats.org/officeDocument/2006/relationships/image" Target="../media/image36.png"/><Relationship Id="rId26" Type="http://schemas.openxmlformats.org/officeDocument/2006/relationships/image" Target="../media/image37.png"/><Relationship Id="rId3" Type="http://schemas.openxmlformats.org/officeDocument/2006/relationships/image" Target="../media/image31.png"/><Relationship Id="rId21" Type="http://schemas.openxmlformats.org/officeDocument/2006/relationships/oleObject" Target="../embeddings/oleObject18.bin"/><Relationship Id="rId7" Type="http://schemas.openxmlformats.org/officeDocument/2006/relationships/image" Target="../media/image35.png"/><Relationship Id="rId12" Type="http://schemas.openxmlformats.org/officeDocument/2006/relationships/oleObject" Target="../embeddings/oleObject5.bin"/><Relationship Id="rId17" Type="http://schemas.openxmlformats.org/officeDocument/2006/relationships/image" Target="../media/image19.wmf"/><Relationship Id="rId25" Type="http://schemas.openxmlformats.org/officeDocument/2006/relationships/image" Target="../media/image22.wmf"/><Relationship Id="rId16" Type="http://schemas.openxmlformats.org/officeDocument/2006/relationships/oleObject" Target="../embeddings/oleObject16.bin"/><Relationship Id="rId20" Type="http://schemas.openxmlformats.org/officeDocument/2006/relationships/image" Target="../media/image20.wmf"/><Relationship Id="rId29"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image" Target="../media/image17.wmf"/><Relationship Id="rId24" Type="http://schemas.openxmlformats.org/officeDocument/2006/relationships/oleObject" Target="../embeddings/oleObject20.bin"/><Relationship Id="rId5" Type="http://schemas.openxmlformats.org/officeDocument/2006/relationships/image" Target="../media/image33.png"/><Relationship Id="rId15" Type="http://schemas.openxmlformats.org/officeDocument/2006/relationships/image" Target="../media/image18.wmf"/><Relationship Id="rId23" Type="http://schemas.openxmlformats.org/officeDocument/2006/relationships/image" Target="../media/image21.wmf"/><Relationship Id="rId28" Type="http://schemas.openxmlformats.org/officeDocument/2006/relationships/image" Target="../media/image39.png"/><Relationship Id="rId10" Type="http://schemas.openxmlformats.org/officeDocument/2006/relationships/oleObject" Target="../embeddings/oleObject14.bin"/><Relationship Id="rId19" Type="http://schemas.openxmlformats.org/officeDocument/2006/relationships/oleObject" Target="../embeddings/oleObject17.bin"/><Relationship Id="rId31" Type="http://schemas.openxmlformats.org/officeDocument/2006/relationships/image" Target="../media/image42.png"/><Relationship Id="rId4" Type="http://schemas.openxmlformats.org/officeDocument/2006/relationships/image" Target="../media/image32.png"/><Relationship Id="rId9" Type="http://schemas.openxmlformats.org/officeDocument/2006/relationships/image" Target="../media/image16.wmf"/><Relationship Id="rId14" Type="http://schemas.openxmlformats.org/officeDocument/2006/relationships/oleObject" Target="../embeddings/oleObject15.bin"/><Relationship Id="rId22" Type="http://schemas.openxmlformats.org/officeDocument/2006/relationships/oleObject" Target="../embeddings/oleObject19.bin"/><Relationship Id="rId27" Type="http://schemas.openxmlformats.org/officeDocument/2006/relationships/image" Target="../media/image38.png"/><Relationship Id="rId30" Type="http://schemas.openxmlformats.org/officeDocument/2006/relationships/image" Target="../media/image41.png"/></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31.png"/><Relationship Id="rId18" Type="http://schemas.openxmlformats.org/officeDocument/2006/relationships/image" Target="../media/image36.png"/><Relationship Id="rId3" Type="http://schemas.openxmlformats.org/officeDocument/2006/relationships/image" Target="../media/image16.wmf"/><Relationship Id="rId21" Type="http://schemas.openxmlformats.org/officeDocument/2006/relationships/image" Target="../media/image39.png"/><Relationship Id="rId7" Type="http://schemas.openxmlformats.org/officeDocument/2006/relationships/image" Target="../media/image24.wmf"/><Relationship Id="rId17" Type="http://schemas.openxmlformats.org/officeDocument/2006/relationships/image" Target="../media/image35.png"/><Relationship Id="rId2" Type="http://schemas.openxmlformats.org/officeDocument/2006/relationships/oleObject" Target="../embeddings/oleObject21.bin"/><Relationship Id="rId16" Type="http://schemas.openxmlformats.org/officeDocument/2006/relationships/image" Target="../media/image34.png"/><Relationship Id="rId20"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oleObject" Target="../embeddings/oleObject23.bin"/><Relationship Id="rId11" Type="http://schemas.openxmlformats.org/officeDocument/2006/relationships/image" Target="../media/image15.wmf"/><Relationship Id="rId24" Type="http://schemas.openxmlformats.org/officeDocument/2006/relationships/image" Target="../media/image42.png"/><Relationship Id="rId5" Type="http://schemas.openxmlformats.org/officeDocument/2006/relationships/image" Target="../media/image23.wmf"/><Relationship Id="rId15" Type="http://schemas.openxmlformats.org/officeDocument/2006/relationships/image" Target="../media/image33.png"/><Relationship Id="rId23" Type="http://schemas.openxmlformats.org/officeDocument/2006/relationships/image" Target="../media/image41.png"/><Relationship Id="rId10" Type="http://schemas.openxmlformats.org/officeDocument/2006/relationships/oleObject" Target="../embeddings/oleObject25.bin"/><Relationship Id="rId19" Type="http://schemas.openxmlformats.org/officeDocument/2006/relationships/image" Target="../media/image37.png"/><Relationship Id="rId4" Type="http://schemas.openxmlformats.org/officeDocument/2006/relationships/oleObject" Target="../embeddings/oleObject22.bin"/><Relationship Id="rId9" Type="http://schemas.openxmlformats.org/officeDocument/2006/relationships/image" Target="../media/image25.wmf"/><Relationship Id="rId14" Type="http://schemas.openxmlformats.org/officeDocument/2006/relationships/image" Target="../media/image32.png"/><Relationship Id="rId22"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26.wmf"/><Relationship Id="rId7" Type="http://schemas.openxmlformats.org/officeDocument/2006/relationships/image" Target="../media/image28.wmf"/><Relationship Id="rId2" Type="http://schemas.openxmlformats.org/officeDocument/2006/relationships/oleObject" Target="../embeddings/oleObject26.bin"/><Relationship Id="rId1" Type="http://schemas.openxmlformats.org/officeDocument/2006/relationships/slideLayout" Target="../slideLayouts/slideLayout2.xml"/><Relationship Id="rId6" Type="http://schemas.openxmlformats.org/officeDocument/2006/relationships/oleObject" Target="../embeddings/oleObject28.bin"/><Relationship Id="rId5" Type="http://schemas.openxmlformats.org/officeDocument/2006/relationships/image" Target="../media/image27.wmf"/><Relationship Id="rId4" Type="http://schemas.openxmlformats.org/officeDocument/2006/relationships/oleObject" Target="../embeddings/oleObject27.bin"/></Relationships>
</file>

<file path=ppt/slides/_rels/slide14.xml.rels><?xml version="1.0" encoding="UTF-8" standalone="yes"?>
<Relationships xmlns="http://schemas.openxmlformats.org/package/2006/relationships"><Relationship Id="rId3"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29.wmf"/><Relationship Id="rId4" Type="http://schemas.openxmlformats.org/officeDocument/2006/relationships/oleObject" Target="../embeddings/oleObject29.bin"/></Relationships>
</file>

<file path=ppt/slides/_rels/slide1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30.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image" Target="../media/image57.png"/><Relationship Id="rId3" Type="http://schemas.openxmlformats.org/officeDocument/2006/relationships/image" Target="../media/image30.wmf"/><Relationship Id="rId7" Type="http://schemas.openxmlformats.org/officeDocument/2006/relationships/image" Target="../media/image32.wmf"/><Relationship Id="rId2" Type="http://schemas.openxmlformats.org/officeDocument/2006/relationships/oleObject" Target="../embeddings/oleObject31.bin"/><Relationship Id="rId1" Type="http://schemas.openxmlformats.org/officeDocument/2006/relationships/slideLayout" Target="../slideLayouts/slideLayout2.xml"/><Relationship Id="rId6" Type="http://schemas.openxmlformats.org/officeDocument/2006/relationships/oleObject" Target="../embeddings/oleObject33.bin"/><Relationship Id="rId11" Type="http://schemas.openxmlformats.org/officeDocument/2006/relationships/image" Target="../media/image34.wmf"/><Relationship Id="rId5" Type="http://schemas.openxmlformats.org/officeDocument/2006/relationships/image" Target="../media/image31.wmf"/><Relationship Id="rId10" Type="http://schemas.openxmlformats.org/officeDocument/2006/relationships/oleObject" Target="../embeddings/oleObject35.bin"/><Relationship Id="rId4" Type="http://schemas.openxmlformats.org/officeDocument/2006/relationships/oleObject" Target="../embeddings/oleObject32.bin"/><Relationship Id="rId9" Type="http://schemas.openxmlformats.org/officeDocument/2006/relationships/image" Target="../media/image33.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9.bin"/><Relationship Id="rId3" Type="http://schemas.openxmlformats.org/officeDocument/2006/relationships/image" Target="../media/image35.wmf"/><Relationship Id="rId7" Type="http://schemas.openxmlformats.org/officeDocument/2006/relationships/image" Target="../media/image37.wmf"/><Relationship Id="rId2" Type="http://schemas.openxmlformats.org/officeDocument/2006/relationships/oleObject" Target="../embeddings/oleObject36.bin"/><Relationship Id="rId1" Type="http://schemas.openxmlformats.org/officeDocument/2006/relationships/slideLayout" Target="../slideLayouts/slideLayout2.xml"/><Relationship Id="rId6" Type="http://schemas.openxmlformats.org/officeDocument/2006/relationships/oleObject" Target="../embeddings/oleObject38.bin"/><Relationship Id="rId11" Type="http://schemas.openxmlformats.org/officeDocument/2006/relationships/image" Target="../media/image39.wmf"/><Relationship Id="rId5" Type="http://schemas.openxmlformats.org/officeDocument/2006/relationships/image" Target="../media/image36.wmf"/><Relationship Id="rId10" Type="http://schemas.openxmlformats.org/officeDocument/2006/relationships/oleObject" Target="../embeddings/oleObject40.bin"/><Relationship Id="rId4" Type="http://schemas.openxmlformats.org/officeDocument/2006/relationships/oleObject" Target="../embeddings/oleObject37.bin"/><Relationship Id="rId9" Type="http://schemas.openxmlformats.org/officeDocument/2006/relationships/image" Target="../media/image38.wmf"/></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40.wmf"/><Relationship Id="rId4" Type="http://schemas.openxmlformats.org/officeDocument/2006/relationships/oleObject" Target="../embeddings/oleObject41.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42.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oleObject" Target="../embeddings/oleObject43.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44.bin"/><Relationship Id="rId1" Type="http://schemas.openxmlformats.org/officeDocument/2006/relationships/slideLayout" Target="../slideLayouts/slideLayout2.xml"/><Relationship Id="rId5" Type="http://schemas.openxmlformats.org/officeDocument/2006/relationships/image" Target="../media/image320.png"/></Relationships>
</file>

<file path=ppt/slides/_rels/slide28.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oleObject" Target="../embeddings/oleObject45.bin"/><Relationship Id="rId1" Type="http://schemas.openxmlformats.org/officeDocument/2006/relationships/slideLayout" Target="../slideLayouts/slideLayout2.xml"/><Relationship Id="rId5" Type="http://schemas.openxmlformats.org/officeDocument/2006/relationships/image" Target="../media/image330.png"/></Relationships>
</file>

<file path=ppt/slides/_rels/slide29.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46.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wmf"/><Relationship Id="rId7" Type="http://schemas.openxmlformats.org/officeDocument/2006/relationships/image" Target="../media/image45.wmf"/><Relationship Id="rId2" Type="http://schemas.openxmlformats.org/officeDocument/2006/relationships/oleObject" Target="../embeddings/oleObject47.bin"/><Relationship Id="rId1" Type="http://schemas.openxmlformats.org/officeDocument/2006/relationships/slideLayout" Target="../slideLayouts/slideLayout2.xml"/><Relationship Id="rId6" Type="http://schemas.openxmlformats.org/officeDocument/2006/relationships/oleObject" Target="../embeddings/oleObject48.bin"/><Relationship Id="rId5" Type="http://schemas.openxmlformats.org/officeDocument/2006/relationships/image" Target="../media/image350.png"/></Relationships>
</file>

<file path=ppt/slides/_rels/slide31.xml.rels><?xml version="1.0" encoding="UTF-8" standalone="yes"?>
<Relationships xmlns="http://schemas.openxmlformats.org/package/2006/relationships"><Relationship Id="rId3" Type="http://schemas.openxmlformats.org/officeDocument/2006/relationships/image" Target="../media/image46.wmf"/><Relationship Id="rId7" Type="http://schemas.openxmlformats.org/officeDocument/2006/relationships/image" Target="../media/image48.wmf"/><Relationship Id="rId2" Type="http://schemas.openxmlformats.org/officeDocument/2006/relationships/oleObject" Target="../embeddings/oleObject49.bin"/><Relationship Id="rId1" Type="http://schemas.openxmlformats.org/officeDocument/2006/relationships/slideLayout" Target="../slideLayouts/slideLayout2.xml"/><Relationship Id="rId6" Type="http://schemas.openxmlformats.org/officeDocument/2006/relationships/oleObject" Target="../embeddings/oleObject51.bin"/><Relationship Id="rId5" Type="http://schemas.openxmlformats.org/officeDocument/2006/relationships/image" Target="../media/image47.wmf"/><Relationship Id="rId4" Type="http://schemas.openxmlformats.org/officeDocument/2006/relationships/oleObject" Target="../embeddings/oleObject50.bin"/></Relationships>
</file>

<file path=ppt/slides/_rels/slide32.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52.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0.wmf"/><Relationship Id="rId7" Type="http://schemas.openxmlformats.org/officeDocument/2006/relationships/image" Target="../media/image51.wmf"/><Relationship Id="rId2" Type="http://schemas.openxmlformats.org/officeDocument/2006/relationships/oleObject" Target="../embeddings/oleObject53.bin"/><Relationship Id="rId1" Type="http://schemas.openxmlformats.org/officeDocument/2006/relationships/slideLayout" Target="../slideLayouts/slideLayout2.xml"/><Relationship Id="rId6" Type="http://schemas.openxmlformats.org/officeDocument/2006/relationships/oleObject" Target="../embeddings/oleObject54.bin"/><Relationship Id="rId5" Type="http://schemas.openxmlformats.org/officeDocument/2006/relationships/image" Target="../media/image340.png"/></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57.bin"/><Relationship Id="rId3" Type="http://schemas.openxmlformats.org/officeDocument/2006/relationships/image" Target="../media/image51.wmf"/><Relationship Id="rId7" Type="http://schemas.openxmlformats.org/officeDocument/2006/relationships/image" Target="../media/image52.wmf"/><Relationship Id="rId2" Type="http://schemas.openxmlformats.org/officeDocument/2006/relationships/oleObject" Target="../embeddings/oleObject55.bin"/><Relationship Id="rId1" Type="http://schemas.openxmlformats.org/officeDocument/2006/relationships/slideLayout" Target="../slideLayouts/slideLayout2.xml"/><Relationship Id="rId6" Type="http://schemas.openxmlformats.org/officeDocument/2006/relationships/oleObject" Target="../embeddings/oleObject56.bin"/><Relationship Id="rId5" Type="http://schemas.openxmlformats.org/officeDocument/2006/relationships/image" Target="../media/image360.png"/><Relationship Id="rId9" Type="http://schemas.openxmlformats.org/officeDocument/2006/relationships/image" Target="../media/image53.wmf"/></Relationships>
</file>

<file path=ppt/slides/_rels/slide35.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58.bin"/><Relationship Id="rId7" Type="http://schemas.openxmlformats.org/officeDocument/2006/relationships/oleObject" Target="../embeddings/oleObject59.bin"/><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410.png"/><Relationship Id="rId10" Type="http://schemas.openxmlformats.org/officeDocument/2006/relationships/image" Target="../media/image57.wmf"/><Relationship Id="rId4" Type="http://schemas.openxmlformats.org/officeDocument/2006/relationships/image" Target="../media/image55.wmf"/><Relationship Id="rId9" Type="http://schemas.openxmlformats.org/officeDocument/2006/relationships/oleObject" Target="../embeddings/oleObject60.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63.bin"/><Relationship Id="rId3" Type="http://schemas.openxmlformats.org/officeDocument/2006/relationships/image" Target="../media/image55.wmf"/><Relationship Id="rId7" Type="http://schemas.openxmlformats.org/officeDocument/2006/relationships/image" Target="../media/image58.wmf"/><Relationship Id="rId2" Type="http://schemas.openxmlformats.org/officeDocument/2006/relationships/oleObject" Target="../embeddings/oleObject61.bin"/><Relationship Id="rId1" Type="http://schemas.openxmlformats.org/officeDocument/2006/relationships/slideLayout" Target="../slideLayouts/slideLayout2.xml"/><Relationship Id="rId6" Type="http://schemas.openxmlformats.org/officeDocument/2006/relationships/oleObject" Target="../embeddings/oleObject62.bin"/><Relationship Id="rId5" Type="http://schemas.openxmlformats.org/officeDocument/2006/relationships/image" Target="../media/image44.png"/><Relationship Id="rId10" Type="http://schemas.openxmlformats.org/officeDocument/2006/relationships/image" Target="../media/image59.png"/><Relationship Id="rId9" Type="http://schemas.openxmlformats.org/officeDocument/2006/relationships/image" Target="../media/image57.w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66.bin"/><Relationship Id="rId3" Type="http://schemas.openxmlformats.org/officeDocument/2006/relationships/image" Target="../media/image55.wmf"/><Relationship Id="rId7" Type="http://schemas.openxmlformats.org/officeDocument/2006/relationships/image" Target="../media/image60.wmf"/><Relationship Id="rId2" Type="http://schemas.openxmlformats.org/officeDocument/2006/relationships/oleObject" Target="../embeddings/oleObject64.bin"/><Relationship Id="rId1" Type="http://schemas.openxmlformats.org/officeDocument/2006/relationships/slideLayout" Target="../slideLayouts/slideLayout2.xml"/><Relationship Id="rId6" Type="http://schemas.openxmlformats.org/officeDocument/2006/relationships/oleObject" Target="../embeddings/oleObject65.bin"/><Relationship Id="rId5" Type="http://schemas.openxmlformats.org/officeDocument/2006/relationships/image" Target="../media/image47.png"/><Relationship Id="rId10" Type="http://schemas.openxmlformats.org/officeDocument/2006/relationships/image" Target="../media/image62.png"/><Relationship Id="rId9" Type="http://schemas.openxmlformats.org/officeDocument/2006/relationships/image" Target="../media/image61.wmf"/></Relationships>
</file>

<file path=ppt/slides/_rels/slide38.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oleObject" Target="../embeddings/oleObject67.bin"/><Relationship Id="rId1" Type="http://schemas.openxmlformats.org/officeDocument/2006/relationships/slideLayout" Target="../slideLayouts/slideLayout2.xml"/><Relationship Id="rId5" Type="http://schemas.openxmlformats.org/officeDocument/2006/relationships/image" Target="../media/image49.wmf"/><Relationship Id="rId4" Type="http://schemas.openxmlformats.org/officeDocument/2006/relationships/oleObject" Target="../embeddings/oleObject68.bin"/></Relationships>
</file>

<file path=ppt/slides/_rels/slide3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oleObject" Target="../embeddings/oleObject69.bin"/><Relationship Id="rId1" Type="http://schemas.openxmlformats.org/officeDocument/2006/relationships/slideLayout" Target="../slideLayouts/slideLayout2.xml"/><Relationship Id="rId5" Type="http://schemas.openxmlformats.org/officeDocument/2006/relationships/image" Target="../media/image65.wmf"/><Relationship Id="rId4" Type="http://schemas.openxmlformats.org/officeDocument/2006/relationships/oleObject" Target="../embeddings/oleObject70.bin"/></Relationships>
</file>

<file path=ppt/slides/_rels/slide41.xml.rels><?xml version="1.0" encoding="UTF-8" standalone="yes"?>
<Relationships xmlns="http://schemas.openxmlformats.org/package/2006/relationships"><Relationship Id="rId3" Type="http://schemas.openxmlformats.org/officeDocument/2006/relationships/image" Target="../media/image64.wmf"/><Relationship Id="rId7" Type="http://schemas.openxmlformats.org/officeDocument/2006/relationships/image" Target="../media/image66.wmf"/><Relationship Id="rId2" Type="http://schemas.openxmlformats.org/officeDocument/2006/relationships/oleObject" Target="../embeddings/oleObject71.bin"/><Relationship Id="rId1" Type="http://schemas.openxmlformats.org/officeDocument/2006/relationships/slideLayout" Target="../slideLayouts/slideLayout2.xml"/><Relationship Id="rId6" Type="http://schemas.openxmlformats.org/officeDocument/2006/relationships/oleObject" Target="../embeddings/oleObject73.bin"/><Relationship Id="rId5" Type="http://schemas.openxmlformats.org/officeDocument/2006/relationships/image" Target="../media/image65.wmf"/><Relationship Id="rId4" Type="http://schemas.openxmlformats.org/officeDocument/2006/relationships/oleObject" Target="../embeddings/oleObject72.bin"/></Relationships>
</file>

<file path=ppt/slides/_rels/slide42.xml.rels><?xml version="1.0" encoding="UTF-8" standalone="yes"?>
<Relationships xmlns="http://schemas.openxmlformats.org/package/2006/relationships"><Relationship Id="rId3" Type="http://schemas.openxmlformats.org/officeDocument/2006/relationships/image" Target="../media/image64.wmf"/><Relationship Id="rId7" Type="http://schemas.openxmlformats.org/officeDocument/2006/relationships/image" Target="../media/image68.wmf"/><Relationship Id="rId2" Type="http://schemas.openxmlformats.org/officeDocument/2006/relationships/oleObject" Target="../embeddings/oleObject74.bin"/><Relationship Id="rId1" Type="http://schemas.openxmlformats.org/officeDocument/2006/relationships/slideLayout" Target="../slideLayouts/slideLayout2.xml"/><Relationship Id="rId6" Type="http://schemas.openxmlformats.org/officeDocument/2006/relationships/oleObject" Target="../embeddings/oleObject76.bin"/><Relationship Id="rId5" Type="http://schemas.openxmlformats.org/officeDocument/2006/relationships/image" Target="../media/image67.wmf"/><Relationship Id="rId4" Type="http://schemas.openxmlformats.org/officeDocument/2006/relationships/oleObject" Target="../embeddings/oleObject75.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80.bin"/><Relationship Id="rId3" Type="http://schemas.openxmlformats.org/officeDocument/2006/relationships/image" Target="../media/image64.wmf"/><Relationship Id="rId7" Type="http://schemas.openxmlformats.org/officeDocument/2006/relationships/image" Target="../media/image68.wmf"/><Relationship Id="rId2" Type="http://schemas.openxmlformats.org/officeDocument/2006/relationships/oleObject" Target="../embeddings/oleObject77.bin"/><Relationship Id="rId1" Type="http://schemas.openxmlformats.org/officeDocument/2006/relationships/slideLayout" Target="../slideLayouts/slideLayout2.xml"/><Relationship Id="rId6" Type="http://schemas.openxmlformats.org/officeDocument/2006/relationships/oleObject" Target="../embeddings/oleObject79.bin"/><Relationship Id="rId5" Type="http://schemas.openxmlformats.org/officeDocument/2006/relationships/image" Target="../media/image65.wmf"/><Relationship Id="rId4" Type="http://schemas.openxmlformats.org/officeDocument/2006/relationships/oleObject" Target="../embeddings/oleObject78.bin"/><Relationship Id="rId9" Type="http://schemas.openxmlformats.org/officeDocument/2006/relationships/image" Target="../media/image69.wmf"/></Relationships>
</file>

<file path=ppt/slides/_rels/slide44.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oleObject" Target="../embeddings/oleObject81.bin"/><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1.wmf"/><Relationship Id="rId7" Type="http://schemas.openxmlformats.org/officeDocument/2006/relationships/image" Target="../media/image620.png"/><Relationship Id="rId2" Type="http://schemas.openxmlformats.org/officeDocument/2006/relationships/oleObject" Target="../embeddings/oleObject82.bin"/><Relationship Id="rId1" Type="http://schemas.openxmlformats.org/officeDocument/2006/relationships/slideLayout" Target="../slideLayouts/slideLayout2.xml"/><Relationship Id="rId5" Type="http://schemas.openxmlformats.org/officeDocument/2006/relationships/image" Target="../media/image72.wmf"/><Relationship Id="rId4" Type="http://schemas.openxmlformats.org/officeDocument/2006/relationships/oleObject" Target="../embeddings/oleObject83.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30.png"/><Relationship Id="rId1" Type="http://schemas.openxmlformats.org/officeDocument/2006/relationships/slideLayout" Target="../slideLayouts/slideLayout2.xml"/><Relationship Id="rId5" Type="http://schemas.openxmlformats.org/officeDocument/2006/relationships/image" Target="../media/image73.wmf"/><Relationship Id="rId4" Type="http://schemas.openxmlformats.org/officeDocument/2006/relationships/oleObject" Target="../embeddings/oleObject84.bin"/></Relationships>
</file>

<file path=ppt/slides/_rels/slide48.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oleObject" Target="../embeddings/oleObject84.bin"/><Relationship Id="rId1" Type="http://schemas.openxmlformats.org/officeDocument/2006/relationships/slideLayout" Target="../slideLayouts/slideLayout2.xml"/><Relationship Id="rId5" Type="http://schemas.openxmlformats.org/officeDocument/2006/relationships/image" Target="../media/image74.wmf"/><Relationship Id="rId4" Type="http://schemas.openxmlformats.org/officeDocument/2006/relationships/oleObject" Target="../embeddings/oleObject85.bin"/></Relationships>
</file>

<file path=ppt/slides/_rels/slide49.xml.rels><?xml version="1.0" encoding="UTF-8" standalone="yes"?>
<Relationships xmlns="http://schemas.openxmlformats.org/package/2006/relationships"><Relationship Id="rId3" Type="http://schemas.openxmlformats.org/officeDocument/2006/relationships/image" Target="../media/image77.png"/><Relationship Id="rId7" Type="http://schemas.openxmlformats.org/officeDocument/2006/relationships/image" Target="../media/image73.wmf"/><Relationship Id="rId1" Type="http://schemas.openxmlformats.org/officeDocument/2006/relationships/slideLayout" Target="../slideLayouts/slideLayout2.xml"/><Relationship Id="rId6" Type="http://schemas.openxmlformats.org/officeDocument/2006/relationships/oleObject" Target="../embeddings/oleObject84.bin"/><Relationship Id="rId5" Type="http://schemas.openxmlformats.org/officeDocument/2006/relationships/image" Target="../media/image75.wmf"/><Relationship Id="rId4" Type="http://schemas.openxmlformats.org/officeDocument/2006/relationships/oleObject" Target="../embeddings/oleObject86.bin"/></Relationships>
</file>

<file path=ppt/slides/_rels/slide50.xml.rels><?xml version="1.0" encoding="UTF-8" standalone="yes"?>
<Relationships xmlns="http://schemas.openxmlformats.org/package/2006/relationships"><Relationship Id="rId3" Type="http://schemas.openxmlformats.org/officeDocument/2006/relationships/image" Target="../media/image73.wmf"/><Relationship Id="rId7" Type="http://schemas.openxmlformats.org/officeDocument/2006/relationships/image" Target="../media/image76.wmf"/><Relationship Id="rId2" Type="http://schemas.openxmlformats.org/officeDocument/2006/relationships/oleObject" Target="../embeddings/oleObject84.bin"/><Relationship Id="rId1" Type="http://schemas.openxmlformats.org/officeDocument/2006/relationships/slideLayout" Target="../slideLayouts/slideLayout2.xml"/><Relationship Id="rId6" Type="http://schemas.openxmlformats.org/officeDocument/2006/relationships/oleObject" Target="../embeddings/oleObject87.bin"/><Relationship Id="rId5" Type="http://schemas.openxmlformats.org/officeDocument/2006/relationships/image" Target="../media/image79.png"/></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90.bin"/><Relationship Id="rId3" Type="http://schemas.openxmlformats.org/officeDocument/2006/relationships/image" Target="../media/image73.wmf"/><Relationship Id="rId7" Type="http://schemas.openxmlformats.org/officeDocument/2006/relationships/image" Target="../media/image78.wmf"/><Relationship Id="rId2" Type="http://schemas.openxmlformats.org/officeDocument/2006/relationships/oleObject" Target="../embeddings/oleObject84.bin"/><Relationship Id="rId1" Type="http://schemas.openxmlformats.org/officeDocument/2006/relationships/slideLayout" Target="../slideLayouts/slideLayout2.xml"/><Relationship Id="rId6" Type="http://schemas.openxmlformats.org/officeDocument/2006/relationships/oleObject" Target="../embeddings/oleObject89.bin"/><Relationship Id="rId5" Type="http://schemas.openxmlformats.org/officeDocument/2006/relationships/image" Target="../media/image77.wmf"/><Relationship Id="rId4" Type="http://schemas.openxmlformats.org/officeDocument/2006/relationships/oleObject" Target="../embeddings/oleObject88.bin"/><Relationship Id="rId9" Type="http://schemas.openxmlformats.org/officeDocument/2006/relationships/image" Target="../media/image79.wmf"/></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93.bin"/><Relationship Id="rId3" Type="http://schemas.openxmlformats.org/officeDocument/2006/relationships/image" Target="../media/image73.wmf"/><Relationship Id="rId7" Type="http://schemas.openxmlformats.org/officeDocument/2006/relationships/image" Target="../media/image80.wmf"/><Relationship Id="rId2" Type="http://schemas.openxmlformats.org/officeDocument/2006/relationships/oleObject" Target="../embeddings/oleObject84.bin"/><Relationship Id="rId1" Type="http://schemas.openxmlformats.org/officeDocument/2006/relationships/slideLayout" Target="../slideLayouts/slideLayout2.xml"/><Relationship Id="rId6" Type="http://schemas.openxmlformats.org/officeDocument/2006/relationships/oleObject" Target="../embeddings/oleObject92.bin"/><Relationship Id="rId11" Type="http://schemas.openxmlformats.org/officeDocument/2006/relationships/image" Target="../media/image85.png"/><Relationship Id="rId5" Type="http://schemas.openxmlformats.org/officeDocument/2006/relationships/image" Target="../media/image79.wmf"/><Relationship Id="rId4" Type="http://schemas.openxmlformats.org/officeDocument/2006/relationships/oleObject" Target="../embeddings/oleObject91.bin"/><Relationship Id="rId9" Type="http://schemas.openxmlformats.org/officeDocument/2006/relationships/image" Target="../media/image81.wmf"/></Relationships>
</file>

<file path=ppt/slides/_rels/slide53.x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oleObject" Target="../embeddings/oleObject94.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E2B51CF4-66D4-4F19-97F3-24307D69E6EB}"/>
              </a:ext>
            </a:extLst>
          </p:cNvPr>
          <p:cNvSpPr>
            <a:spLocks noGrp="1"/>
          </p:cNvSpPr>
          <p:nvPr>
            <p:ph type="ctrTitle"/>
          </p:nvPr>
        </p:nvSpPr>
        <p:spPr>
          <a:xfrm>
            <a:off x="944680" y="2636912"/>
            <a:ext cx="8016639" cy="1070582"/>
          </a:xfrm>
        </p:spPr>
        <p:txBody>
          <a:bodyPr anchor="ctr">
            <a:normAutofit fontScale="90000"/>
          </a:bodyPr>
          <a:lstStyle/>
          <a:p>
            <a:r>
              <a:rPr lang="zh-CN" altLang="en-US" sz="7200" dirty="0">
                <a:latin typeface="黑体" panose="02010609060101010101" pitchFamily="49" charset="-122"/>
                <a:ea typeface="黑体" panose="02010609060101010101" pitchFamily="49" charset="-122"/>
              </a:rPr>
              <a:t>最优化理论</a:t>
            </a:r>
            <a:endParaRPr lang="zh-CN" altLang="en-US" sz="4800" dirty="0">
              <a:latin typeface="黑体" panose="02010609060101010101" pitchFamily="49" charset="-122"/>
              <a:ea typeface="黑体" panose="02010609060101010101" pitchFamily="49" charset="-122"/>
            </a:endParaRPr>
          </a:p>
        </p:txBody>
      </p:sp>
      <p:sp>
        <p:nvSpPr>
          <p:cNvPr id="6" name="矩形 5">
            <a:extLst>
              <a:ext uri="{FF2B5EF4-FFF2-40B4-BE49-F238E27FC236}">
                <a16:creationId xmlns:a16="http://schemas.microsoft.com/office/drawing/2014/main" id="{DB188F20-BD1A-4DBF-8204-5DEB489FF2A7}"/>
              </a:ext>
            </a:extLst>
          </p:cNvPr>
          <p:cNvSpPr/>
          <p:nvPr/>
        </p:nvSpPr>
        <p:spPr>
          <a:xfrm>
            <a:off x="1568624" y="4090499"/>
            <a:ext cx="6878806" cy="646331"/>
          </a:xfrm>
          <a:prstGeom prst="rect">
            <a:avLst/>
          </a:prstGeom>
        </p:spPr>
        <p:txBody>
          <a:bodyPr wrap="none">
            <a:spAutoFit/>
          </a:bodyPr>
          <a:lstStyle/>
          <a:p>
            <a:r>
              <a:rPr lang="zh-CN" altLang="en-US" sz="3600" dirty="0">
                <a:latin typeface="黑体" panose="02010609060101010101" pitchFamily="49" charset="-122"/>
                <a:ea typeface="黑体" panose="02010609060101010101" pitchFamily="49" charset="-122"/>
              </a:rPr>
              <a:t>第</a:t>
            </a:r>
            <a:r>
              <a:rPr lang="en-US" altLang="zh-CN" sz="3600" dirty="0">
                <a:latin typeface="黑体" panose="02010609060101010101" pitchFamily="49" charset="-122"/>
                <a:ea typeface="黑体" panose="02010609060101010101" pitchFamily="49" charset="-122"/>
              </a:rPr>
              <a:t>3</a:t>
            </a:r>
            <a:r>
              <a:rPr lang="zh-CN" altLang="en-US" sz="3600" dirty="0">
                <a:latin typeface="黑体" panose="02010609060101010101" pitchFamily="49" charset="-122"/>
                <a:ea typeface="黑体" panose="02010609060101010101" pitchFamily="49" charset="-122"/>
              </a:rPr>
              <a:t>讲</a:t>
            </a:r>
            <a:r>
              <a:rPr lang="en-US" altLang="zh-CN" sz="3600" dirty="0">
                <a:latin typeface="黑体" panose="02010609060101010101" pitchFamily="49" charset="-122"/>
                <a:ea typeface="黑体" panose="02010609060101010101" pitchFamily="49" charset="-122"/>
              </a:rPr>
              <a:t> </a:t>
            </a:r>
            <a:r>
              <a:rPr lang="zh-CN" altLang="en-US" sz="3600" dirty="0">
                <a:latin typeface="黑体" panose="02010609060101010101" pitchFamily="49" charset="-122"/>
                <a:ea typeface="黑体" panose="02010609060101010101" pitchFamily="49" charset="-122"/>
              </a:rPr>
              <a:t>最优化理论的数学基础</a:t>
            </a:r>
            <a:r>
              <a:rPr lang="en-US" altLang="zh-CN" sz="3600" dirty="0">
                <a:latin typeface="黑体" panose="02010609060101010101" pitchFamily="49" charset="-122"/>
                <a:ea typeface="黑体" panose="02010609060101010101" pitchFamily="49" charset="-122"/>
              </a:rPr>
              <a:t>(2)</a:t>
            </a:r>
            <a:endParaRPr lang="zh-CN" altLang="en-US" sz="3600" dirty="0"/>
          </a:p>
        </p:txBody>
      </p:sp>
      <p:sp>
        <p:nvSpPr>
          <p:cNvPr id="7" name="副标题 2">
            <a:extLst>
              <a:ext uri="{FF2B5EF4-FFF2-40B4-BE49-F238E27FC236}">
                <a16:creationId xmlns:a16="http://schemas.microsoft.com/office/drawing/2014/main" id="{9D4C4213-E352-4C4A-BD9E-BD5380CE8F1C}"/>
              </a:ext>
            </a:extLst>
          </p:cNvPr>
          <p:cNvSpPr txBox="1">
            <a:spLocks/>
          </p:cNvSpPr>
          <p:nvPr/>
        </p:nvSpPr>
        <p:spPr bwMode="auto">
          <a:xfrm>
            <a:off x="2360712" y="5157192"/>
            <a:ext cx="4968552" cy="642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lvl1pPr marL="342900" indent="-342900" algn="l" rtl="0" eaLnBrk="1" fontAlgn="base" hangingPunct="1">
              <a:spcBef>
                <a:spcPct val="20000"/>
              </a:spcBef>
              <a:spcAft>
                <a:spcPct val="0"/>
              </a:spcAft>
              <a:buClr>
                <a:srgbClr val="333399"/>
              </a:buClr>
              <a:buSzPct val="75000"/>
              <a:buFont typeface="Wingdings" pitchFamily="2" charset="2"/>
              <a:buChar char="n"/>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itchFamily="2" charset="2"/>
              <a:buChar char="n"/>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itchFamily="2" charset="2"/>
              <a:buChar char="p"/>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itchFamily="2" charset="2"/>
              <a:buChar char="n"/>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lgn="ctr">
              <a:buNone/>
            </a:pPr>
            <a:r>
              <a:rPr lang="zh-CN" altLang="en-US" sz="2400" kern="0" dirty="0">
                <a:latin typeface="黑体" pitchFamily="49" charset="-122"/>
                <a:ea typeface="黑体" pitchFamily="49" charset="-122"/>
              </a:rPr>
              <a:t>辽宁大学 信息学院</a:t>
            </a:r>
          </a:p>
          <a:p>
            <a:pPr algn="ctr"/>
            <a:endParaRPr lang="zh-CN" altLang="en-US" sz="2400" kern="0" dirty="0">
              <a:latin typeface="黑体" pitchFamily="49" charset="-122"/>
              <a:ea typeface="黑体" pitchFamily="49" charset="-122"/>
            </a:endParaRPr>
          </a:p>
        </p:txBody>
      </p:sp>
      <p:sp>
        <p:nvSpPr>
          <p:cNvPr id="3" name="日期占位符 2">
            <a:extLst>
              <a:ext uri="{FF2B5EF4-FFF2-40B4-BE49-F238E27FC236}">
                <a16:creationId xmlns:a16="http://schemas.microsoft.com/office/drawing/2014/main" id="{4C4A68E3-A51C-4F7D-918B-4EC486F2DD75}"/>
              </a:ext>
            </a:extLst>
          </p:cNvPr>
          <p:cNvSpPr>
            <a:spLocks noGrp="1"/>
          </p:cNvSpPr>
          <p:nvPr>
            <p:ph type="dt" sz="half" idx="10"/>
          </p:nvPr>
        </p:nvSpPr>
        <p:spPr/>
        <p:txBody>
          <a:bodyPr/>
          <a:lstStyle/>
          <a:p>
            <a:fld id="{C2039E4A-C161-4DC7-B97B-9882453A8887}" type="datetime3">
              <a:rPr lang="zh-CN" altLang="en-US" sz="1600" smtClean="0"/>
              <a:t>2022年12月2日星期五</a:t>
            </a:fld>
            <a:endParaRPr lang="zh-CN" altLang="en-US" sz="16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885C83-043D-4A0A-AA9D-9B90DB40175E}"/>
              </a:ext>
            </a:extLst>
          </p:cNvPr>
          <p:cNvSpPr>
            <a:spLocks noGrp="1"/>
          </p:cNvSpPr>
          <p:nvPr>
            <p:ph type="title"/>
          </p:nvPr>
        </p:nvSpPr>
        <p:spPr/>
        <p:txBody>
          <a:bodyPr/>
          <a:lstStyle/>
          <a:p>
            <a:r>
              <a:rPr lang="zh-CN" altLang="en-US" dirty="0"/>
              <a:t>习题讲解：求下列函数极值点</a:t>
            </a:r>
          </a:p>
        </p:txBody>
      </p:sp>
      <p:sp>
        <p:nvSpPr>
          <p:cNvPr id="4" name="日期占位符 3">
            <a:extLst>
              <a:ext uri="{FF2B5EF4-FFF2-40B4-BE49-F238E27FC236}">
                <a16:creationId xmlns:a16="http://schemas.microsoft.com/office/drawing/2014/main" id="{E899588F-5F0E-40E3-A0F1-F2E5472D053A}"/>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EFF216CB-E472-4A07-9806-635900EDB7EB}"/>
              </a:ext>
            </a:extLst>
          </p:cNvPr>
          <p:cNvSpPr>
            <a:spLocks noGrp="1"/>
          </p:cNvSpPr>
          <p:nvPr>
            <p:ph type="sldNum" sz="quarter" idx="12"/>
          </p:nvPr>
        </p:nvSpPr>
        <p:spPr/>
        <p:txBody>
          <a:bodyPr/>
          <a:lstStyle/>
          <a:p>
            <a:fld id="{7AC79822-BC0D-4DE8-A7E5-90A3732A2B82}" type="slidenum">
              <a:rPr lang="zh-CN" altLang="en-US" smtClean="0"/>
              <a:pPr/>
              <a:t>2</a:t>
            </a:fld>
            <a:endParaRPr lang="en-US" altLang="zh-CN" dirty="0"/>
          </a:p>
        </p:txBody>
      </p:sp>
      <p:graphicFrame>
        <p:nvGraphicFramePr>
          <p:cNvPr id="6" name="对象 5">
            <a:extLst>
              <a:ext uri="{FF2B5EF4-FFF2-40B4-BE49-F238E27FC236}">
                <a16:creationId xmlns:a16="http://schemas.microsoft.com/office/drawing/2014/main" id="{AECF827C-C7FF-4717-9D78-60025EAC07F9}"/>
              </a:ext>
            </a:extLst>
          </p:cNvPr>
          <p:cNvGraphicFramePr>
            <a:graphicFrameLocks noChangeAspect="1"/>
          </p:cNvGraphicFramePr>
          <p:nvPr>
            <p:extLst>
              <p:ext uri="{D42A27DB-BD31-4B8C-83A1-F6EECF244321}">
                <p14:modId xmlns:p14="http://schemas.microsoft.com/office/powerpoint/2010/main" val="1846008824"/>
              </p:ext>
            </p:extLst>
          </p:nvPr>
        </p:nvGraphicFramePr>
        <p:xfrm>
          <a:off x="488504" y="1124744"/>
          <a:ext cx="5112568" cy="1133328"/>
        </p:xfrm>
        <a:graphic>
          <a:graphicData uri="http://schemas.openxmlformats.org/presentationml/2006/ole">
            <mc:AlternateContent xmlns:mc="http://schemas.openxmlformats.org/markup-compatibility/2006">
              <mc:Choice xmlns:v="urn:schemas-microsoft-com:vml" Requires="v">
                <p:oleObj name="Equation" r:id="rId2" imgW="1777680" imgH="393480" progId="Equation.DSMT4">
                  <p:embed/>
                </p:oleObj>
              </mc:Choice>
              <mc:Fallback>
                <p:oleObj name="Equation" r:id="rId2" imgW="1777680" imgH="393480" progId="Equation.DSMT4">
                  <p:embed/>
                  <p:pic>
                    <p:nvPicPr>
                      <p:cNvPr id="10" name="对象 9">
                        <a:extLst>
                          <a:ext uri="{FF2B5EF4-FFF2-40B4-BE49-F238E27FC236}">
                            <a16:creationId xmlns:a16="http://schemas.microsoft.com/office/drawing/2014/main" id="{67183463-6131-42C9-96EA-62078D3EF29B}"/>
                          </a:ext>
                        </a:extLst>
                      </p:cNvPr>
                      <p:cNvPicPr/>
                      <p:nvPr/>
                    </p:nvPicPr>
                    <p:blipFill>
                      <a:blip r:embed="rId3"/>
                      <a:stretch>
                        <a:fillRect/>
                      </a:stretch>
                    </p:blipFill>
                    <p:spPr>
                      <a:xfrm>
                        <a:off x="488504" y="1124744"/>
                        <a:ext cx="5112568" cy="1133328"/>
                      </a:xfrm>
                      <a:prstGeom prst="rect">
                        <a:avLst/>
                      </a:prstGeom>
                    </p:spPr>
                  </p:pic>
                </p:oleObj>
              </mc:Fallback>
            </mc:AlternateContent>
          </a:graphicData>
        </a:graphic>
      </p:graphicFrame>
    </p:spTree>
    <p:extLst>
      <p:ext uri="{BB962C8B-B14F-4D97-AF65-F5344CB8AC3E}">
        <p14:creationId xmlns:p14="http://schemas.microsoft.com/office/powerpoint/2010/main" val="3656684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6644AD-5B74-4F77-90AC-CBBA03CDE0DC}"/>
              </a:ext>
            </a:extLst>
          </p:cNvPr>
          <p:cNvSpPr>
            <a:spLocks noGrp="1"/>
          </p:cNvSpPr>
          <p:nvPr>
            <p:ph type="title"/>
          </p:nvPr>
        </p:nvSpPr>
        <p:spPr/>
        <p:txBody>
          <a:bodyPr/>
          <a:lstStyle/>
          <a:p>
            <a:r>
              <a:rPr lang="zh-CN" altLang="en-US" dirty="0"/>
              <a:t>最优化理论的数学基础</a:t>
            </a:r>
          </a:p>
        </p:txBody>
      </p:sp>
      <p:sp>
        <p:nvSpPr>
          <p:cNvPr id="3" name="内容占位符 2">
            <a:extLst>
              <a:ext uri="{FF2B5EF4-FFF2-40B4-BE49-F238E27FC236}">
                <a16:creationId xmlns:a16="http://schemas.microsoft.com/office/drawing/2014/main" id="{C00834F9-8C99-4AD0-87F5-67C4F1961F02}"/>
              </a:ext>
            </a:extLst>
          </p:cNvPr>
          <p:cNvSpPr>
            <a:spLocks noGrp="1"/>
          </p:cNvSpPr>
          <p:nvPr>
            <p:ph idx="1"/>
          </p:nvPr>
        </p:nvSpPr>
        <p:spPr/>
        <p:txBody>
          <a:bodyPr/>
          <a:lstStyle/>
          <a:p>
            <a:r>
              <a:rPr lang="zh-CN" altLang="en-US" dirty="0">
                <a:solidFill>
                  <a:srgbClr val="0000FF"/>
                </a:solidFill>
              </a:rPr>
              <a:t>函数梯度</a:t>
            </a:r>
            <a:endParaRPr lang="en-US" altLang="zh-CN" dirty="0">
              <a:solidFill>
                <a:srgbClr val="0000FF"/>
              </a:solidFill>
            </a:endParaRPr>
          </a:p>
          <a:p>
            <a:r>
              <a:rPr lang="zh-CN" altLang="en-US" dirty="0">
                <a:solidFill>
                  <a:srgbClr val="0000FF"/>
                </a:solidFill>
              </a:rPr>
              <a:t>多元函数的泰勒展开式</a:t>
            </a:r>
            <a:endParaRPr lang="en-US" altLang="zh-CN" dirty="0">
              <a:solidFill>
                <a:srgbClr val="0000FF"/>
              </a:solidFill>
            </a:endParaRPr>
          </a:p>
          <a:p>
            <a:r>
              <a:rPr lang="zh-CN" altLang="en-US" dirty="0">
                <a:solidFill>
                  <a:srgbClr val="0000FF"/>
                </a:solidFill>
              </a:rPr>
              <a:t>二次函数</a:t>
            </a:r>
            <a:endParaRPr lang="en-US" altLang="zh-CN" dirty="0">
              <a:solidFill>
                <a:srgbClr val="0000FF"/>
              </a:solidFill>
            </a:endParaRPr>
          </a:p>
          <a:p>
            <a:r>
              <a:rPr lang="zh-CN" altLang="en-US" dirty="0">
                <a:solidFill>
                  <a:srgbClr val="0000FF"/>
                </a:solidFill>
              </a:rPr>
              <a:t>无约束优化问题的极值条件</a:t>
            </a:r>
            <a:endParaRPr lang="en-US" altLang="zh-CN" dirty="0">
              <a:solidFill>
                <a:srgbClr val="0000FF"/>
              </a:solidFill>
            </a:endParaRPr>
          </a:p>
          <a:p>
            <a:r>
              <a:rPr lang="zh-CN" altLang="en-US" dirty="0"/>
              <a:t>凸函数与凸规划</a:t>
            </a:r>
            <a:endParaRPr lang="en-US" altLang="zh-CN" dirty="0"/>
          </a:p>
          <a:p>
            <a:r>
              <a:rPr lang="zh-CN" altLang="en-US" dirty="0"/>
              <a:t>约束优化问题的极值条件</a:t>
            </a:r>
            <a:endParaRPr lang="en-US" altLang="zh-CN" dirty="0"/>
          </a:p>
          <a:p>
            <a:r>
              <a:rPr lang="zh-CN" altLang="en-US" dirty="0">
                <a:solidFill>
                  <a:srgbClr val="FF0000"/>
                </a:solidFill>
              </a:rPr>
              <a:t>优化设计方法的基本思想与迭代终止准则</a:t>
            </a:r>
          </a:p>
        </p:txBody>
      </p:sp>
      <p:sp>
        <p:nvSpPr>
          <p:cNvPr id="4" name="日期占位符 3">
            <a:extLst>
              <a:ext uri="{FF2B5EF4-FFF2-40B4-BE49-F238E27FC236}">
                <a16:creationId xmlns:a16="http://schemas.microsoft.com/office/drawing/2014/main" id="{9339445D-8EC3-46FB-97D7-EB56D5F4C87E}"/>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5F6E21FE-18DA-4C23-B22B-F5C45B33EF9D}"/>
              </a:ext>
            </a:extLst>
          </p:cNvPr>
          <p:cNvSpPr>
            <a:spLocks noGrp="1"/>
          </p:cNvSpPr>
          <p:nvPr>
            <p:ph type="sldNum" sz="quarter" idx="12"/>
          </p:nvPr>
        </p:nvSpPr>
        <p:spPr/>
        <p:txBody>
          <a:bodyPr/>
          <a:lstStyle/>
          <a:p>
            <a:fld id="{7AC79822-BC0D-4DE8-A7E5-90A3732A2B82}" type="slidenum">
              <a:rPr lang="zh-CN" altLang="en-US" smtClean="0"/>
              <a:pPr/>
              <a:t>3</a:t>
            </a:fld>
            <a:endParaRPr lang="en-US" altLang="zh-CN" dirty="0"/>
          </a:p>
        </p:txBody>
      </p:sp>
    </p:spTree>
    <p:extLst>
      <p:ext uri="{BB962C8B-B14F-4D97-AF65-F5344CB8AC3E}">
        <p14:creationId xmlns:p14="http://schemas.microsoft.com/office/powerpoint/2010/main" val="597975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E23A7A-1FE2-44C0-B6F4-312934B3824E}"/>
              </a:ext>
            </a:extLst>
          </p:cNvPr>
          <p:cNvSpPr>
            <a:spLocks noGrp="1"/>
          </p:cNvSpPr>
          <p:nvPr>
            <p:ph type="title"/>
          </p:nvPr>
        </p:nvSpPr>
        <p:spPr/>
        <p:txBody>
          <a:bodyPr/>
          <a:lstStyle/>
          <a:p>
            <a:r>
              <a:rPr lang="en-US" altLang="zh-CN" dirty="0"/>
              <a:t>5. </a:t>
            </a:r>
            <a:r>
              <a:rPr lang="zh-CN" altLang="en-US" dirty="0"/>
              <a:t>优化约束的极值条件</a:t>
            </a:r>
          </a:p>
        </p:txBody>
      </p:sp>
      <p:sp>
        <p:nvSpPr>
          <p:cNvPr id="3" name="内容占位符 2">
            <a:extLst>
              <a:ext uri="{FF2B5EF4-FFF2-40B4-BE49-F238E27FC236}">
                <a16:creationId xmlns:a16="http://schemas.microsoft.com/office/drawing/2014/main" id="{3CEDE81A-F9E3-4995-9383-DEF8281BCB44}"/>
              </a:ext>
            </a:extLst>
          </p:cNvPr>
          <p:cNvSpPr>
            <a:spLocks noGrp="1"/>
          </p:cNvSpPr>
          <p:nvPr>
            <p:ph idx="1"/>
          </p:nvPr>
        </p:nvSpPr>
        <p:spPr/>
        <p:txBody>
          <a:bodyPr/>
          <a:lstStyle/>
          <a:p>
            <a:r>
              <a:rPr lang="zh-CN" altLang="en-US" dirty="0"/>
              <a:t>极值点与最值点</a:t>
            </a:r>
            <a:endParaRPr lang="en-US" altLang="zh-CN" dirty="0"/>
          </a:p>
          <a:p>
            <a:pPr lvl="1"/>
            <a:r>
              <a:rPr lang="zh-CN" altLang="en-US" dirty="0">
                <a:solidFill>
                  <a:srgbClr val="C00000"/>
                </a:solidFill>
              </a:rPr>
              <a:t>极值点：</a:t>
            </a:r>
            <a:endParaRPr lang="en-US" altLang="zh-CN" dirty="0">
              <a:solidFill>
                <a:srgbClr val="C00000"/>
              </a:solidFill>
            </a:endParaRPr>
          </a:p>
          <a:p>
            <a:pPr lvl="2"/>
            <a:r>
              <a:rPr lang="zh-CN" altLang="en-US" dirty="0"/>
              <a:t>若</a:t>
            </a:r>
            <a:r>
              <a:rPr lang="en-US" altLang="zh-CN" dirty="0"/>
              <a:t>f(a)</a:t>
            </a:r>
            <a:r>
              <a:rPr lang="zh-CN" altLang="en-US" dirty="0"/>
              <a:t>是函数</a:t>
            </a:r>
            <a:r>
              <a:rPr lang="en-US" altLang="zh-CN" dirty="0"/>
              <a:t>f(x)</a:t>
            </a:r>
            <a:r>
              <a:rPr lang="zh-CN" altLang="en-US" dirty="0"/>
              <a:t>的极大值或极小值，则</a:t>
            </a:r>
            <a:r>
              <a:rPr lang="en-US" altLang="zh-CN" dirty="0"/>
              <a:t>a</a:t>
            </a:r>
            <a:r>
              <a:rPr lang="zh-CN" altLang="en-US" dirty="0"/>
              <a:t>为函数</a:t>
            </a:r>
            <a:r>
              <a:rPr lang="en-US" altLang="zh-CN" dirty="0"/>
              <a:t>f(x)</a:t>
            </a:r>
            <a:r>
              <a:rPr lang="zh-CN" altLang="en-US" dirty="0"/>
              <a:t>的极值点，极大值点与极小值点统称为</a:t>
            </a:r>
            <a:r>
              <a:rPr lang="zh-CN" altLang="en-US" dirty="0">
                <a:solidFill>
                  <a:srgbClr val="0000FF"/>
                </a:solidFill>
              </a:rPr>
              <a:t>极值点</a:t>
            </a:r>
            <a:r>
              <a:rPr lang="zh-CN" altLang="en-US" dirty="0"/>
              <a:t>。</a:t>
            </a:r>
            <a:endParaRPr lang="en-US" altLang="zh-CN" dirty="0"/>
          </a:p>
          <a:p>
            <a:pPr lvl="3"/>
            <a:r>
              <a:rPr lang="zh-CN" altLang="en-US" dirty="0"/>
              <a:t>极值点不唯一，一个函数可能有多个极值点</a:t>
            </a:r>
            <a:endParaRPr lang="en-US" altLang="zh-CN" dirty="0"/>
          </a:p>
          <a:p>
            <a:pPr lvl="3"/>
            <a:r>
              <a:rPr lang="zh-CN" altLang="en-US" dirty="0"/>
              <a:t>极值点仅仅表示</a:t>
            </a:r>
            <a:r>
              <a:rPr lang="zh-CN" altLang="en-US" dirty="0">
                <a:solidFill>
                  <a:srgbClr val="0000FF"/>
                </a:solidFill>
              </a:rPr>
              <a:t>局部范围内的</a:t>
            </a:r>
            <a:r>
              <a:rPr lang="zh-CN" altLang="en-US" dirty="0">
                <a:solidFill>
                  <a:srgbClr val="FF0000"/>
                </a:solidFill>
              </a:rPr>
              <a:t>最大</a:t>
            </a:r>
            <a:r>
              <a:rPr lang="en-US" altLang="zh-CN" dirty="0">
                <a:solidFill>
                  <a:srgbClr val="0000FF"/>
                </a:solidFill>
              </a:rPr>
              <a:t>/</a:t>
            </a:r>
            <a:r>
              <a:rPr lang="zh-CN" altLang="en-US" dirty="0">
                <a:solidFill>
                  <a:srgbClr val="0000FF"/>
                </a:solidFill>
              </a:rPr>
              <a:t>最小值</a:t>
            </a:r>
            <a:endParaRPr lang="en-US" altLang="zh-CN" dirty="0">
              <a:solidFill>
                <a:srgbClr val="0000FF"/>
              </a:solidFill>
            </a:endParaRPr>
          </a:p>
        </p:txBody>
      </p:sp>
      <p:sp>
        <p:nvSpPr>
          <p:cNvPr id="4" name="日期占位符 3">
            <a:extLst>
              <a:ext uri="{FF2B5EF4-FFF2-40B4-BE49-F238E27FC236}">
                <a16:creationId xmlns:a16="http://schemas.microsoft.com/office/drawing/2014/main" id="{617467A5-8C5A-47A4-ACFA-6A16351C8012}"/>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5BD0D730-ADCB-4A9D-8745-41E1D9DA396C}"/>
              </a:ext>
            </a:extLst>
          </p:cNvPr>
          <p:cNvSpPr>
            <a:spLocks noGrp="1"/>
          </p:cNvSpPr>
          <p:nvPr>
            <p:ph type="sldNum" sz="quarter" idx="12"/>
          </p:nvPr>
        </p:nvSpPr>
        <p:spPr>
          <a:xfrm>
            <a:off x="3834091" y="6564419"/>
            <a:ext cx="2311400" cy="271098"/>
          </a:xfrm>
        </p:spPr>
        <p:txBody>
          <a:bodyPr/>
          <a:lstStyle/>
          <a:p>
            <a:fld id="{7AC79822-BC0D-4DE8-A7E5-90A3732A2B82}" type="slidenum">
              <a:rPr lang="zh-CN" altLang="en-US" smtClean="0"/>
              <a:pPr/>
              <a:t>4</a:t>
            </a:fld>
            <a:endParaRPr lang="en-US" altLang="zh-CN" dirty="0"/>
          </a:p>
        </p:txBody>
      </p:sp>
      <p:sp>
        <p:nvSpPr>
          <p:cNvPr id="8" name="任意多边形: 形状 7">
            <a:extLst>
              <a:ext uri="{FF2B5EF4-FFF2-40B4-BE49-F238E27FC236}">
                <a16:creationId xmlns:a16="http://schemas.microsoft.com/office/drawing/2014/main" id="{CC544C3B-E900-4C7A-81D6-CB73CBD28994}"/>
              </a:ext>
            </a:extLst>
          </p:cNvPr>
          <p:cNvSpPr/>
          <p:nvPr/>
        </p:nvSpPr>
        <p:spPr bwMode="auto">
          <a:xfrm>
            <a:off x="2864768" y="4725144"/>
            <a:ext cx="3419475" cy="1489902"/>
          </a:xfrm>
          <a:custGeom>
            <a:avLst/>
            <a:gdLst>
              <a:gd name="connsiteX0" fmla="*/ 0 w 3419475"/>
              <a:gd name="connsiteY0" fmla="*/ 1209702 h 1489902"/>
              <a:gd name="connsiteX1" fmla="*/ 638175 w 3419475"/>
              <a:gd name="connsiteY1" fmla="*/ 27 h 1489902"/>
              <a:gd name="connsiteX2" fmla="*/ 1457325 w 3419475"/>
              <a:gd name="connsiteY2" fmla="*/ 1171602 h 1489902"/>
              <a:gd name="connsiteX3" fmla="*/ 2066925 w 3419475"/>
              <a:gd name="connsiteY3" fmla="*/ 590577 h 1489902"/>
              <a:gd name="connsiteX4" fmla="*/ 2667000 w 3419475"/>
              <a:gd name="connsiteY4" fmla="*/ 1485927 h 1489902"/>
              <a:gd name="connsiteX5" fmla="*/ 3419475 w 3419475"/>
              <a:gd name="connsiteY5" fmla="*/ 161952 h 1489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9475" h="1489902">
                <a:moveTo>
                  <a:pt x="0" y="1209702"/>
                </a:moveTo>
                <a:cubicBezTo>
                  <a:pt x="197644" y="608039"/>
                  <a:pt x="395288" y="6377"/>
                  <a:pt x="638175" y="27"/>
                </a:cubicBezTo>
                <a:cubicBezTo>
                  <a:pt x="881062" y="-6323"/>
                  <a:pt x="1219200" y="1073177"/>
                  <a:pt x="1457325" y="1171602"/>
                </a:cubicBezTo>
                <a:cubicBezTo>
                  <a:pt x="1695450" y="1270027"/>
                  <a:pt x="1865313" y="538190"/>
                  <a:pt x="2066925" y="590577"/>
                </a:cubicBezTo>
                <a:cubicBezTo>
                  <a:pt x="2268537" y="642964"/>
                  <a:pt x="2441575" y="1557364"/>
                  <a:pt x="2667000" y="1485927"/>
                </a:cubicBezTo>
                <a:cubicBezTo>
                  <a:pt x="2892425" y="1414490"/>
                  <a:pt x="3155950" y="788221"/>
                  <a:pt x="3419475" y="161952"/>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10" name="直接箭头连接符 9">
            <a:extLst>
              <a:ext uri="{FF2B5EF4-FFF2-40B4-BE49-F238E27FC236}">
                <a16:creationId xmlns:a16="http://schemas.microsoft.com/office/drawing/2014/main" id="{219D5D05-28D0-4F81-8E04-4248B1E99AB8}"/>
              </a:ext>
            </a:extLst>
          </p:cNvPr>
          <p:cNvCxnSpPr/>
          <p:nvPr/>
        </p:nvCxnSpPr>
        <p:spPr bwMode="auto">
          <a:xfrm>
            <a:off x="2720752" y="6215046"/>
            <a:ext cx="4680520"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箭头连接符 10">
            <a:extLst>
              <a:ext uri="{FF2B5EF4-FFF2-40B4-BE49-F238E27FC236}">
                <a16:creationId xmlns:a16="http://schemas.microsoft.com/office/drawing/2014/main" id="{94D8633D-2EA5-43FA-AE0C-3A7252EC55AF}"/>
              </a:ext>
            </a:extLst>
          </p:cNvPr>
          <p:cNvCxnSpPr/>
          <p:nvPr/>
        </p:nvCxnSpPr>
        <p:spPr bwMode="auto">
          <a:xfrm flipV="1">
            <a:off x="2720752" y="4437112"/>
            <a:ext cx="0" cy="177793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流程图: 接点 12">
            <a:extLst>
              <a:ext uri="{FF2B5EF4-FFF2-40B4-BE49-F238E27FC236}">
                <a16:creationId xmlns:a16="http://schemas.microsoft.com/office/drawing/2014/main" id="{35813299-1BDD-4E0E-A42D-D51E9DB0C170}"/>
              </a:ext>
            </a:extLst>
          </p:cNvPr>
          <p:cNvSpPr/>
          <p:nvPr/>
        </p:nvSpPr>
        <p:spPr bwMode="auto">
          <a:xfrm>
            <a:off x="3440832" y="4679425"/>
            <a:ext cx="144002" cy="117727"/>
          </a:xfrm>
          <a:prstGeom prst="flowChartConnector">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4" name="流程图: 接点 13">
            <a:extLst>
              <a:ext uri="{FF2B5EF4-FFF2-40B4-BE49-F238E27FC236}">
                <a16:creationId xmlns:a16="http://schemas.microsoft.com/office/drawing/2014/main" id="{EB0D40CF-B604-43E3-8303-016810D31447}"/>
              </a:ext>
            </a:extLst>
          </p:cNvPr>
          <p:cNvSpPr/>
          <p:nvPr/>
        </p:nvSpPr>
        <p:spPr bwMode="auto">
          <a:xfrm>
            <a:off x="4845789" y="5231373"/>
            <a:ext cx="144002" cy="117727"/>
          </a:xfrm>
          <a:prstGeom prst="flowChartConnector">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5" name="流程图: 接点 14">
            <a:extLst>
              <a:ext uri="{FF2B5EF4-FFF2-40B4-BE49-F238E27FC236}">
                <a16:creationId xmlns:a16="http://schemas.microsoft.com/office/drawing/2014/main" id="{613DE50C-48B4-4B01-95D9-75EA2AB3767A}"/>
              </a:ext>
            </a:extLst>
          </p:cNvPr>
          <p:cNvSpPr/>
          <p:nvPr/>
        </p:nvSpPr>
        <p:spPr bwMode="auto">
          <a:xfrm>
            <a:off x="4323397" y="5825007"/>
            <a:ext cx="144002" cy="117727"/>
          </a:xfrm>
          <a:prstGeom prst="flowChartConnector">
            <a:avLst/>
          </a:prstGeom>
          <a:solidFill>
            <a:srgbClr val="0000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rgbClr val="0000FF"/>
              </a:solidFill>
              <a:effectLst/>
              <a:latin typeface="Arial" charset="0"/>
            </a:endParaRPr>
          </a:p>
        </p:txBody>
      </p:sp>
      <p:sp>
        <p:nvSpPr>
          <p:cNvPr id="16" name="流程图: 接点 15">
            <a:extLst>
              <a:ext uri="{FF2B5EF4-FFF2-40B4-BE49-F238E27FC236}">
                <a16:creationId xmlns:a16="http://schemas.microsoft.com/office/drawing/2014/main" id="{AB92A64A-036B-449C-9F87-A8B574DCF8D2}"/>
              </a:ext>
            </a:extLst>
          </p:cNvPr>
          <p:cNvSpPr/>
          <p:nvPr/>
        </p:nvSpPr>
        <p:spPr bwMode="auto">
          <a:xfrm>
            <a:off x="5457056" y="6120828"/>
            <a:ext cx="144002" cy="117727"/>
          </a:xfrm>
          <a:prstGeom prst="flowChartConnector">
            <a:avLst/>
          </a:prstGeom>
          <a:solidFill>
            <a:srgbClr val="0000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7" name="文本框 16">
            <a:extLst>
              <a:ext uri="{FF2B5EF4-FFF2-40B4-BE49-F238E27FC236}">
                <a16:creationId xmlns:a16="http://schemas.microsoft.com/office/drawing/2014/main" id="{DEDFF69B-0CA0-49DD-8546-EAEB65636B04}"/>
              </a:ext>
            </a:extLst>
          </p:cNvPr>
          <p:cNvSpPr txBox="1"/>
          <p:nvPr/>
        </p:nvSpPr>
        <p:spPr>
          <a:xfrm>
            <a:off x="3310013" y="4738288"/>
            <a:ext cx="389850" cy="461665"/>
          </a:xfrm>
          <a:prstGeom prst="rect">
            <a:avLst/>
          </a:prstGeom>
          <a:noFill/>
        </p:spPr>
        <p:txBody>
          <a:bodyPr wrap="none" rtlCol="0">
            <a:spAutoFit/>
          </a:bodyPr>
          <a:lstStyle/>
          <a:p>
            <a:r>
              <a:rPr lang="en-US" altLang="zh-CN" sz="2400" dirty="0"/>
              <a:t>A</a:t>
            </a:r>
            <a:endParaRPr lang="zh-CN" altLang="en-US" sz="2400" dirty="0"/>
          </a:p>
        </p:txBody>
      </p:sp>
      <p:sp>
        <p:nvSpPr>
          <p:cNvPr id="19" name="文本框 18">
            <a:extLst>
              <a:ext uri="{FF2B5EF4-FFF2-40B4-BE49-F238E27FC236}">
                <a16:creationId xmlns:a16="http://schemas.microsoft.com/office/drawing/2014/main" id="{A203DD1A-6093-495C-BEC3-460B3DB28410}"/>
              </a:ext>
            </a:extLst>
          </p:cNvPr>
          <p:cNvSpPr txBox="1"/>
          <p:nvPr/>
        </p:nvSpPr>
        <p:spPr>
          <a:xfrm>
            <a:off x="4177884" y="5348180"/>
            <a:ext cx="389850" cy="461665"/>
          </a:xfrm>
          <a:prstGeom prst="rect">
            <a:avLst/>
          </a:prstGeom>
          <a:noFill/>
        </p:spPr>
        <p:txBody>
          <a:bodyPr wrap="none" rtlCol="0">
            <a:spAutoFit/>
          </a:bodyPr>
          <a:lstStyle/>
          <a:p>
            <a:r>
              <a:rPr lang="en-US" altLang="zh-CN" sz="2400" dirty="0"/>
              <a:t>B</a:t>
            </a:r>
            <a:endParaRPr lang="zh-CN" altLang="en-US" sz="2400" dirty="0"/>
          </a:p>
        </p:txBody>
      </p:sp>
      <p:sp>
        <p:nvSpPr>
          <p:cNvPr id="20" name="文本框 19">
            <a:extLst>
              <a:ext uri="{FF2B5EF4-FFF2-40B4-BE49-F238E27FC236}">
                <a16:creationId xmlns:a16="http://schemas.microsoft.com/office/drawing/2014/main" id="{6C7DBD0F-2657-41C5-B067-F8356E6F977D}"/>
              </a:ext>
            </a:extLst>
          </p:cNvPr>
          <p:cNvSpPr txBox="1"/>
          <p:nvPr/>
        </p:nvSpPr>
        <p:spPr>
          <a:xfrm>
            <a:off x="4714048" y="4828571"/>
            <a:ext cx="407484" cy="461665"/>
          </a:xfrm>
          <a:prstGeom prst="rect">
            <a:avLst/>
          </a:prstGeom>
          <a:noFill/>
        </p:spPr>
        <p:txBody>
          <a:bodyPr wrap="none" rtlCol="0">
            <a:spAutoFit/>
          </a:bodyPr>
          <a:lstStyle/>
          <a:p>
            <a:r>
              <a:rPr lang="en-US" altLang="zh-CN" sz="2400" dirty="0"/>
              <a:t>C</a:t>
            </a:r>
            <a:endParaRPr lang="zh-CN" altLang="en-US" sz="2400" dirty="0"/>
          </a:p>
        </p:txBody>
      </p:sp>
      <p:sp>
        <p:nvSpPr>
          <p:cNvPr id="21" name="文本框 20">
            <a:extLst>
              <a:ext uri="{FF2B5EF4-FFF2-40B4-BE49-F238E27FC236}">
                <a16:creationId xmlns:a16="http://schemas.microsoft.com/office/drawing/2014/main" id="{F576A00B-F608-4638-BCE1-9F943536AFCC}"/>
              </a:ext>
            </a:extLst>
          </p:cNvPr>
          <p:cNvSpPr txBox="1"/>
          <p:nvPr/>
        </p:nvSpPr>
        <p:spPr>
          <a:xfrm>
            <a:off x="5325315" y="5718026"/>
            <a:ext cx="407484" cy="461665"/>
          </a:xfrm>
          <a:prstGeom prst="rect">
            <a:avLst/>
          </a:prstGeom>
          <a:noFill/>
        </p:spPr>
        <p:txBody>
          <a:bodyPr wrap="none" rtlCol="0">
            <a:spAutoFit/>
          </a:bodyPr>
          <a:lstStyle/>
          <a:p>
            <a:r>
              <a:rPr lang="en-US" altLang="zh-CN" sz="2400" dirty="0"/>
              <a:t>D</a:t>
            </a:r>
            <a:endParaRPr lang="zh-CN" altLang="en-US" sz="2400" dirty="0"/>
          </a:p>
        </p:txBody>
      </p:sp>
    </p:spTree>
    <p:extLst>
      <p:ext uri="{BB962C8B-B14F-4D97-AF65-F5344CB8AC3E}">
        <p14:creationId xmlns:p14="http://schemas.microsoft.com/office/powerpoint/2010/main" val="766675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wipe(down)">
                                      <p:cBhvr>
                                        <p:cTn id="11" dur="500"/>
                                        <p:tgtEl>
                                          <p:spTgt spid="3">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 calcmode="lin" valueType="num">
                                      <p:cBhvr additive="base">
                                        <p:cTn id="16"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18" fill="hold">
                            <p:stCondLst>
                              <p:cond delay="500"/>
                            </p:stCondLst>
                            <p:childTnLst>
                              <p:par>
                                <p:cTn id="19" presetID="2" presetClass="entr" presetSubtype="4" fill="hold" nodeType="after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23" fill="hold">
                            <p:stCondLst>
                              <p:cond delay="1000"/>
                            </p:stCondLst>
                            <p:childTnLst>
                              <p:par>
                                <p:cTn id="24" presetID="53" presetClass="entr" presetSubtype="16"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Effect transition="in" filter="fade">
                                      <p:cBhvr>
                                        <p:cTn id="28" dur="500"/>
                                        <p:tgtEl>
                                          <p:spTgt spid="8"/>
                                        </p:tgtEl>
                                      </p:cBhvr>
                                    </p:animEffect>
                                  </p:childTnLst>
                                </p:cTn>
                              </p:par>
                              <p:par>
                                <p:cTn id="29" presetID="53" presetClass="entr" presetSubtype="16"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00" fill="hold"/>
                                        <p:tgtEl>
                                          <p:spTgt spid="10"/>
                                        </p:tgtEl>
                                        <p:attrNameLst>
                                          <p:attrName>ppt_w</p:attrName>
                                        </p:attrNameLst>
                                      </p:cBhvr>
                                      <p:tavLst>
                                        <p:tav tm="0">
                                          <p:val>
                                            <p:fltVal val="0"/>
                                          </p:val>
                                        </p:tav>
                                        <p:tav tm="100000">
                                          <p:val>
                                            <p:strVal val="#ppt_w"/>
                                          </p:val>
                                        </p:tav>
                                      </p:tavLst>
                                    </p:anim>
                                    <p:anim calcmode="lin" valueType="num">
                                      <p:cBhvr>
                                        <p:cTn id="32" dur="500" fill="hold"/>
                                        <p:tgtEl>
                                          <p:spTgt spid="10"/>
                                        </p:tgtEl>
                                        <p:attrNameLst>
                                          <p:attrName>ppt_h</p:attrName>
                                        </p:attrNameLst>
                                      </p:cBhvr>
                                      <p:tavLst>
                                        <p:tav tm="0">
                                          <p:val>
                                            <p:fltVal val="0"/>
                                          </p:val>
                                        </p:tav>
                                        <p:tav tm="100000">
                                          <p:val>
                                            <p:strVal val="#ppt_h"/>
                                          </p:val>
                                        </p:tav>
                                      </p:tavLst>
                                    </p:anim>
                                    <p:animEffect transition="in" filter="fade">
                                      <p:cBhvr>
                                        <p:cTn id="33" dur="500"/>
                                        <p:tgtEl>
                                          <p:spTgt spid="10"/>
                                        </p:tgtEl>
                                      </p:cBhvr>
                                    </p:animEffect>
                                  </p:childTnLst>
                                </p:cTn>
                              </p:par>
                              <p:par>
                                <p:cTn id="34" presetID="53" presetClass="entr" presetSubtype="16" fill="hold" nodeType="with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p:cTn id="36" dur="500" fill="hold"/>
                                        <p:tgtEl>
                                          <p:spTgt spid="11"/>
                                        </p:tgtEl>
                                        <p:attrNameLst>
                                          <p:attrName>ppt_w</p:attrName>
                                        </p:attrNameLst>
                                      </p:cBhvr>
                                      <p:tavLst>
                                        <p:tav tm="0">
                                          <p:val>
                                            <p:fltVal val="0"/>
                                          </p:val>
                                        </p:tav>
                                        <p:tav tm="100000">
                                          <p:val>
                                            <p:strVal val="#ppt_w"/>
                                          </p:val>
                                        </p:tav>
                                      </p:tavLst>
                                    </p:anim>
                                    <p:anim calcmode="lin" valueType="num">
                                      <p:cBhvr>
                                        <p:cTn id="37" dur="500" fill="hold"/>
                                        <p:tgtEl>
                                          <p:spTgt spid="11"/>
                                        </p:tgtEl>
                                        <p:attrNameLst>
                                          <p:attrName>ppt_h</p:attrName>
                                        </p:attrNameLst>
                                      </p:cBhvr>
                                      <p:tavLst>
                                        <p:tav tm="0">
                                          <p:val>
                                            <p:fltVal val="0"/>
                                          </p:val>
                                        </p:tav>
                                        <p:tav tm="100000">
                                          <p:val>
                                            <p:strVal val="#ppt_h"/>
                                          </p:val>
                                        </p:tav>
                                      </p:tavLst>
                                    </p:anim>
                                    <p:animEffect transition="in" filter="fade">
                                      <p:cBhvr>
                                        <p:cTn id="38" dur="500"/>
                                        <p:tgtEl>
                                          <p:spTgt spid="11"/>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p:cTn id="41" dur="500" fill="hold"/>
                                        <p:tgtEl>
                                          <p:spTgt spid="13"/>
                                        </p:tgtEl>
                                        <p:attrNameLst>
                                          <p:attrName>ppt_w</p:attrName>
                                        </p:attrNameLst>
                                      </p:cBhvr>
                                      <p:tavLst>
                                        <p:tav tm="0">
                                          <p:val>
                                            <p:fltVal val="0"/>
                                          </p:val>
                                        </p:tav>
                                        <p:tav tm="100000">
                                          <p:val>
                                            <p:strVal val="#ppt_w"/>
                                          </p:val>
                                        </p:tav>
                                      </p:tavLst>
                                    </p:anim>
                                    <p:anim calcmode="lin" valueType="num">
                                      <p:cBhvr>
                                        <p:cTn id="42" dur="500" fill="hold"/>
                                        <p:tgtEl>
                                          <p:spTgt spid="13"/>
                                        </p:tgtEl>
                                        <p:attrNameLst>
                                          <p:attrName>ppt_h</p:attrName>
                                        </p:attrNameLst>
                                      </p:cBhvr>
                                      <p:tavLst>
                                        <p:tav tm="0">
                                          <p:val>
                                            <p:fltVal val="0"/>
                                          </p:val>
                                        </p:tav>
                                        <p:tav tm="100000">
                                          <p:val>
                                            <p:strVal val="#ppt_h"/>
                                          </p:val>
                                        </p:tav>
                                      </p:tavLst>
                                    </p:anim>
                                    <p:animEffect transition="in" filter="fade">
                                      <p:cBhvr>
                                        <p:cTn id="43" dur="500"/>
                                        <p:tgtEl>
                                          <p:spTgt spid="13"/>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p:cTn id="46" dur="500" fill="hold"/>
                                        <p:tgtEl>
                                          <p:spTgt spid="14"/>
                                        </p:tgtEl>
                                        <p:attrNameLst>
                                          <p:attrName>ppt_w</p:attrName>
                                        </p:attrNameLst>
                                      </p:cBhvr>
                                      <p:tavLst>
                                        <p:tav tm="0">
                                          <p:val>
                                            <p:fltVal val="0"/>
                                          </p:val>
                                        </p:tav>
                                        <p:tav tm="100000">
                                          <p:val>
                                            <p:strVal val="#ppt_w"/>
                                          </p:val>
                                        </p:tav>
                                      </p:tavLst>
                                    </p:anim>
                                    <p:anim calcmode="lin" valueType="num">
                                      <p:cBhvr>
                                        <p:cTn id="47" dur="500" fill="hold"/>
                                        <p:tgtEl>
                                          <p:spTgt spid="14"/>
                                        </p:tgtEl>
                                        <p:attrNameLst>
                                          <p:attrName>ppt_h</p:attrName>
                                        </p:attrNameLst>
                                      </p:cBhvr>
                                      <p:tavLst>
                                        <p:tav tm="0">
                                          <p:val>
                                            <p:fltVal val="0"/>
                                          </p:val>
                                        </p:tav>
                                        <p:tav tm="100000">
                                          <p:val>
                                            <p:strVal val="#ppt_h"/>
                                          </p:val>
                                        </p:tav>
                                      </p:tavLst>
                                    </p:anim>
                                    <p:animEffect transition="in" filter="fade">
                                      <p:cBhvr>
                                        <p:cTn id="48" dur="500"/>
                                        <p:tgtEl>
                                          <p:spTgt spid="14"/>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p:cTn id="51" dur="500" fill="hold"/>
                                        <p:tgtEl>
                                          <p:spTgt spid="15"/>
                                        </p:tgtEl>
                                        <p:attrNameLst>
                                          <p:attrName>ppt_w</p:attrName>
                                        </p:attrNameLst>
                                      </p:cBhvr>
                                      <p:tavLst>
                                        <p:tav tm="0">
                                          <p:val>
                                            <p:fltVal val="0"/>
                                          </p:val>
                                        </p:tav>
                                        <p:tav tm="100000">
                                          <p:val>
                                            <p:strVal val="#ppt_w"/>
                                          </p:val>
                                        </p:tav>
                                      </p:tavLst>
                                    </p:anim>
                                    <p:anim calcmode="lin" valueType="num">
                                      <p:cBhvr>
                                        <p:cTn id="52" dur="500" fill="hold"/>
                                        <p:tgtEl>
                                          <p:spTgt spid="15"/>
                                        </p:tgtEl>
                                        <p:attrNameLst>
                                          <p:attrName>ppt_h</p:attrName>
                                        </p:attrNameLst>
                                      </p:cBhvr>
                                      <p:tavLst>
                                        <p:tav tm="0">
                                          <p:val>
                                            <p:fltVal val="0"/>
                                          </p:val>
                                        </p:tav>
                                        <p:tav tm="100000">
                                          <p:val>
                                            <p:strVal val="#ppt_h"/>
                                          </p:val>
                                        </p:tav>
                                      </p:tavLst>
                                    </p:anim>
                                    <p:animEffect transition="in" filter="fade">
                                      <p:cBhvr>
                                        <p:cTn id="53" dur="500"/>
                                        <p:tgtEl>
                                          <p:spTgt spid="15"/>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16"/>
                                        </p:tgtEl>
                                        <p:attrNameLst>
                                          <p:attrName>style.visibility</p:attrName>
                                        </p:attrNameLst>
                                      </p:cBhvr>
                                      <p:to>
                                        <p:strVal val="visible"/>
                                      </p:to>
                                    </p:set>
                                    <p:anim calcmode="lin" valueType="num">
                                      <p:cBhvr>
                                        <p:cTn id="56" dur="500" fill="hold"/>
                                        <p:tgtEl>
                                          <p:spTgt spid="16"/>
                                        </p:tgtEl>
                                        <p:attrNameLst>
                                          <p:attrName>ppt_w</p:attrName>
                                        </p:attrNameLst>
                                      </p:cBhvr>
                                      <p:tavLst>
                                        <p:tav tm="0">
                                          <p:val>
                                            <p:fltVal val="0"/>
                                          </p:val>
                                        </p:tav>
                                        <p:tav tm="100000">
                                          <p:val>
                                            <p:strVal val="#ppt_w"/>
                                          </p:val>
                                        </p:tav>
                                      </p:tavLst>
                                    </p:anim>
                                    <p:anim calcmode="lin" valueType="num">
                                      <p:cBhvr>
                                        <p:cTn id="57" dur="500" fill="hold"/>
                                        <p:tgtEl>
                                          <p:spTgt spid="16"/>
                                        </p:tgtEl>
                                        <p:attrNameLst>
                                          <p:attrName>ppt_h</p:attrName>
                                        </p:attrNameLst>
                                      </p:cBhvr>
                                      <p:tavLst>
                                        <p:tav tm="0">
                                          <p:val>
                                            <p:fltVal val="0"/>
                                          </p:val>
                                        </p:tav>
                                        <p:tav tm="100000">
                                          <p:val>
                                            <p:strVal val="#ppt_h"/>
                                          </p:val>
                                        </p:tav>
                                      </p:tavLst>
                                    </p:anim>
                                    <p:animEffect transition="in" filter="fade">
                                      <p:cBhvr>
                                        <p:cTn id="58" dur="500"/>
                                        <p:tgtEl>
                                          <p:spTgt spid="16"/>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p:cTn id="61" dur="500" fill="hold"/>
                                        <p:tgtEl>
                                          <p:spTgt spid="17"/>
                                        </p:tgtEl>
                                        <p:attrNameLst>
                                          <p:attrName>ppt_w</p:attrName>
                                        </p:attrNameLst>
                                      </p:cBhvr>
                                      <p:tavLst>
                                        <p:tav tm="0">
                                          <p:val>
                                            <p:fltVal val="0"/>
                                          </p:val>
                                        </p:tav>
                                        <p:tav tm="100000">
                                          <p:val>
                                            <p:strVal val="#ppt_w"/>
                                          </p:val>
                                        </p:tav>
                                      </p:tavLst>
                                    </p:anim>
                                    <p:anim calcmode="lin" valueType="num">
                                      <p:cBhvr>
                                        <p:cTn id="62" dur="500" fill="hold"/>
                                        <p:tgtEl>
                                          <p:spTgt spid="17"/>
                                        </p:tgtEl>
                                        <p:attrNameLst>
                                          <p:attrName>ppt_h</p:attrName>
                                        </p:attrNameLst>
                                      </p:cBhvr>
                                      <p:tavLst>
                                        <p:tav tm="0">
                                          <p:val>
                                            <p:fltVal val="0"/>
                                          </p:val>
                                        </p:tav>
                                        <p:tav tm="100000">
                                          <p:val>
                                            <p:strVal val="#ppt_h"/>
                                          </p:val>
                                        </p:tav>
                                      </p:tavLst>
                                    </p:anim>
                                    <p:animEffect transition="in" filter="fade">
                                      <p:cBhvr>
                                        <p:cTn id="63" dur="500"/>
                                        <p:tgtEl>
                                          <p:spTgt spid="17"/>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9"/>
                                        </p:tgtEl>
                                        <p:attrNameLst>
                                          <p:attrName>style.visibility</p:attrName>
                                        </p:attrNameLst>
                                      </p:cBhvr>
                                      <p:to>
                                        <p:strVal val="visible"/>
                                      </p:to>
                                    </p:set>
                                    <p:anim calcmode="lin" valueType="num">
                                      <p:cBhvr>
                                        <p:cTn id="66" dur="500" fill="hold"/>
                                        <p:tgtEl>
                                          <p:spTgt spid="19"/>
                                        </p:tgtEl>
                                        <p:attrNameLst>
                                          <p:attrName>ppt_w</p:attrName>
                                        </p:attrNameLst>
                                      </p:cBhvr>
                                      <p:tavLst>
                                        <p:tav tm="0">
                                          <p:val>
                                            <p:fltVal val="0"/>
                                          </p:val>
                                        </p:tav>
                                        <p:tav tm="100000">
                                          <p:val>
                                            <p:strVal val="#ppt_w"/>
                                          </p:val>
                                        </p:tav>
                                      </p:tavLst>
                                    </p:anim>
                                    <p:anim calcmode="lin" valueType="num">
                                      <p:cBhvr>
                                        <p:cTn id="67" dur="500" fill="hold"/>
                                        <p:tgtEl>
                                          <p:spTgt spid="19"/>
                                        </p:tgtEl>
                                        <p:attrNameLst>
                                          <p:attrName>ppt_h</p:attrName>
                                        </p:attrNameLst>
                                      </p:cBhvr>
                                      <p:tavLst>
                                        <p:tav tm="0">
                                          <p:val>
                                            <p:fltVal val="0"/>
                                          </p:val>
                                        </p:tav>
                                        <p:tav tm="100000">
                                          <p:val>
                                            <p:strVal val="#ppt_h"/>
                                          </p:val>
                                        </p:tav>
                                      </p:tavLst>
                                    </p:anim>
                                    <p:animEffect transition="in" filter="fade">
                                      <p:cBhvr>
                                        <p:cTn id="68" dur="500"/>
                                        <p:tgtEl>
                                          <p:spTgt spid="19"/>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p:cTn id="71" dur="500" fill="hold"/>
                                        <p:tgtEl>
                                          <p:spTgt spid="20"/>
                                        </p:tgtEl>
                                        <p:attrNameLst>
                                          <p:attrName>ppt_w</p:attrName>
                                        </p:attrNameLst>
                                      </p:cBhvr>
                                      <p:tavLst>
                                        <p:tav tm="0">
                                          <p:val>
                                            <p:fltVal val="0"/>
                                          </p:val>
                                        </p:tav>
                                        <p:tav tm="100000">
                                          <p:val>
                                            <p:strVal val="#ppt_w"/>
                                          </p:val>
                                        </p:tav>
                                      </p:tavLst>
                                    </p:anim>
                                    <p:anim calcmode="lin" valueType="num">
                                      <p:cBhvr>
                                        <p:cTn id="72" dur="500" fill="hold"/>
                                        <p:tgtEl>
                                          <p:spTgt spid="20"/>
                                        </p:tgtEl>
                                        <p:attrNameLst>
                                          <p:attrName>ppt_h</p:attrName>
                                        </p:attrNameLst>
                                      </p:cBhvr>
                                      <p:tavLst>
                                        <p:tav tm="0">
                                          <p:val>
                                            <p:fltVal val="0"/>
                                          </p:val>
                                        </p:tav>
                                        <p:tav tm="100000">
                                          <p:val>
                                            <p:strVal val="#ppt_h"/>
                                          </p:val>
                                        </p:tav>
                                      </p:tavLst>
                                    </p:anim>
                                    <p:animEffect transition="in" filter="fade">
                                      <p:cBhvr>
                                        <p:cTn id="73" dur="500"/>
                                        <p:tgtEl>
                                          <p:spTgt spid="20"/>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21"/>
                                        </p:tgtEl>
                                        <p:attrNameLst>
                                          <p:attrName>style.visibility</p:attrName>
                                        </p:attrNameLst>
                                      </p:cBhvr>
                                      <p:to>
                                        <p:strVal val="visible"/>
                                      </p:to>
                                    </p:set>
                                    <p:anim calcmode="lin" valueType="num">
                                      <p:cBhvr>
                                        <p:cTn id="76" dur="500" fill="hold"/>
                                        <p:tgtEl>
                                          <p:spTgt spid="21"/>
                                        </p:tgtEl>
                                        <p:attrNameLst>
                                          <p:attrName>ppt_w</p:attrName>
                                        </p:attrNameLst>
                                      </p:cBhvr>
                                      <p:tavLst>
                                        <p:tav tm="0">
                                          <p:val>
                                            <p:fltVal val="0"/>
                                          </p:val>
                                        </p:tav>
                                        <p:tav tm="100000">
                                          <p:val>
                                            <p:strVal val="#ppt_w"/>
                                          </p:val>
                                        </p:tav>
                                      </p:tavLst>
                                    </p:anim>
                                    <p:anim calcmode="lin" valueType="num">
                                      <p:cBhvr>
                                        <p:cTn id="77" dur="500" fill="hold"/>
                                        <p:tgtEl>
                                          <p:spTgt spid="21"/>
                                        </p:tgtEl>
                                        <p:attrNameLst>
                                          <p:attrName>ppt_h</p:attrName>
                                        </p:attrNameLst>
                                      </p:cBhvr>
                                      <p:tavLst>
                                        <p:tav tm="0">
                                          <p:val>
                                            <p:fltVal val="0"/>
                                          </p:val>
                                        </p:tav>
                                        <p:tav tm="100000">
                                          <p:val>
                                            <p:strVal val="#ppt_h"/>
                                          </p:val>
                                        </p:tav>
                                      </p:tavLst>
                                    </p:anim>
                                    <p:animEffect transition="in" filter="fade">
                                      <p:cBhvr>
                                        <p:cTn id="7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4" grpId="0" animBg="1"/>
      <p:bldP spid="15" grpId="0" animBg="1"/>
      <p:bldP spid="16" grpId="0" animBg="1"/>
      <p:bldP spid="17" grpId="0"/>
      <p:bldP spid="19" grpId="0"/>
      <p:bldP spid="20"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E23A7A-1FE2-44C0-B6F4-312934B3824E}"/>
              </a:ext>
            </a:extLst>
          </p:cNvPr>
          <p:cNvSpPr>
            <a:spLocks noGrp="1"/>
          </p:cNvSpPr>
          <p:nvPr>
            <p:ph type="title"/>
          </p:nvPr>
        </p:nvSpPr>
        <p:spPr/>
        <p:txBody>
          <a:bodyPr/>
          <a:lstStyle/>
          <a:p>
            <a:r>
              <a:rPr lang="en-US" altLang="zh-CN" dirty="0"/>
              <a:t>5. </a:t>
            </a:r>
            <a:r>
              <a:rPr lang="zh-CN" altLang="en-US" dirty="0"/>
              <a:t>优化约束的极值条件</a:t>
            </a:r>
          </a:p>
        </p:txBody>
      </p:sp>
      <p:sp>
        <p:nvSpPr>
          <p:cNvPr id="3" name="内容占位符 2">
            <a:extLst>
              <a:ext uri="{FF2B5EF4-FFF2-40B4-BE49-F238E27FC236}">
                <a16:creationId xmlns:a16="http://schemas.microsoft.com/office/drawing/2014/main" id="{3CEDE81A-F9E3-4995-9383-DEF8281BCB44}"/>
              </a:ext>
            </a:extLst>
          </p:cNvPr>
          <p:cNvSpPr>
            <a:spLocks noGrp="1"/>
          </p:cNvSpPr>
          <p:nvPr>
            <p:ph idx="1"/>
          </p:nvPr>
        </p:nvSpPr>
        <p:spPr/>
        <p:txBody>
          <a:bodyPr/>
          <a:lstStyle/>
          <a:p>
            <a:r>
              <a:rPr lang="zh-CN" altLang="en-US" dirty="0"/>
              <a:t>极值点与最值点</a:t>
            </a:r>
            <a:endParaRPr lang="en-US" altLang="zh-CN" dirty="0"/>
          </a:p>
          <a:p>
            <a:pPr lvl="1"/>
            <a:r>
              <a:rPr lang="zh-CN" altLang="en-US" dirty="0">
                <a:solidFill>
                  <a:srgbClr val="0000FF"/>
                </a:solidFill>
              </a:rPr>
              <a:t>最值点：</a:t>
            </a:r>
            <a:endParaRPr lang="en-US" altLang="zh-CN" dirty="0">
              <a:solidFill>
                <a:srgbClr val="0000FF"/>
              </a:solidFill>
            </a:endParaRPr>
          </a:p>
          <a:p>
            <a:pPr lvl="2"/>
            <a:r>
              <a:rPr lang="zh-CN" altLang="en-US" dirty="0"/>
              <a:t>若</a:t>
            </a:r>
            <a:r>
              <a:rPr lang="en-US" altLang="zh-CN" dirty="0"/>
              <a:t>f(a)</a:t>
            </a:r>
            <a:r>
              <a:rPr lang="zh-CN" altLang="en-US" dirty="0"/>
              <a:t>是函数</a:t>
            </a:r>
            <a:r>
              <a:rPr lang="en-US" altLang="zh-CN" dirty="0"/>
              <a:t>f(x)</a:t>
            </a:r>
            <a:r>
              <a:rPr lang="zh-CN" altLang="en-US" dirty="0"/>
              <a:t>定义域内的最大值或最小值，则</a:t>
            </a:r>
            <a:r>
              <a:rPr lang="en-US" altLang="zh-CN" dirty="0"/>
              <a:t>a</a:t>
            </a:r>
            <a:r>
              <a:rPr lang="zh-CN" altLang="en-US" dirty="0"/>
              <a:t>为函数</a:t>
            </a:r>
            <a:r>
              <a:rPr lang="en-US" altLang="zh-CN" dirty="0"/>
              <a:t>f(x)</a:t>
            </a:r>
            <a:r>
              <a:rPr lang="zh-CN" altLang="en-US" dirty="0"/>
              <a:t>的</a:t>
            </a:r>
            <a:r>
              <a:rPr lang="zh-CN" altLang="en-US" dirty="0">
                <a:solidFill>
                  <a:srgbClr val="C00000"/>
                </a:solidFill>
              </a:rPr>
              <a:t>最值点</a:t>
            </a:r>
            <a:r>
              <a:rPr lang="zh-CN" altLang="en-US" dirty="0"/>
              <a:t>。</a:t>
            </a:r>
            <a:endParaRPr lang="en-US" altLang="zh-CN" dirty="0"/>
          </a:p>
          <a:p>
            <a:pPr lvl="3"/>
            <a:r>
              <a:rPr lang="zh-CN" altLang="en-US" dirty="0"/>
              <a:t>最值点不唯一，一个函数可能有多个最值点</a:t>
            </a:r>
            <a:endParaRPr lang="en-US" altLang="zh-CN" dirty="0"/>
          </a:p>
          <a:p>
            <a:pPr lvl="3"/>
            <a:r>
              <a:rPr lang="zh-CN" altLang="en-US" dirty="0"/>
              <a:t>最值点仅仅表示</a:t>
            </a:r>
            <a:r>
              <a:rPr lang="zh-CN" altLang="en-US" dirty="0">
                <a:solidFill>
                  <a:srgbClr val="0000FF"/>
                </a:solidFill>
              </a:rPr>
              <a:t>全局范围内的</a:t>
            </a:r>
            <a:r>
              <a:rPr lang="zh-CN" altLang="en-US" dirty="0">
                <a:solidFill>
                  <a:srgbClr val="FF0000"/>
                </a:solidFill>
              </a:rPr>
              <a:t>最大</a:t>
            </a:r>
            <a:r>
              <a:rPr lang="en-US" altLang="zh-CN" dirty="0">
                <a:solidFill>
                  <a:srgbClr val="0000FF"/>
                </a:solidFill>
              </a:rPr>
              <a:t>/</a:t>
            </a:r>
            <a:r>
              <a:rPr lang="zh-CN" altLang="en-US" dirty="0">
                <a:solidFill>
                  <a:srgbClr val="0000FF"/>
                </a:solidFill>
              </a:rPr>
              <a:t>最小值</a:t>
            </a:r>
            <a:endParaRPr lang="en-US" altLang="zh-CN" dirty="0">
              <a:solidFill>
                <a:srgbClr val="0000FF"/>
              </a:solidFill>
            </a:endParaRPr>
          </a:p>
        </p:txBody>
      </p:sp>
      <p:sp>
        <p:nvSpPr>
          <p:cNvPr id="4" name="日期占位符 3">
            <a:extLst>
              <a:ext uri="{FF2B5EF4-FFF2-40B4-BE49-F238E27FC236}">
                <a16:creationId xmlns:a16="http://schemas.microsoft.com/office/drawing/2014/main" id="{617467A5-8C5A-47A4-ACFA-6A16351C8012}"/>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5BD0D730-ADCB-4A9D-8745-41E1D9DA396C}"/>
              </a:ext>
            </a:extLst>
          </p:cNvPr>
          <p:cNvSpPr>
            <a:spLocks noGrp="1"/>
          </p:cNvSpPr>
          <p:nvPr>
            <p:ph type="sldNum" sz="quarter" idx="12"/>
          </p:nvPr>
        </p:nvSpPr>
        <p:spPr/>
        <p:txBody>
          <a:bodyPr/>
          <a:lstStyle/>
          <a:p>
            <a:fld id="{7AC79822-BC0D-4DE8-A7E5-90A3732A2B82}" type="slidenum">
              <a:rPr lang="zh-CN" altLang="en-US" smtClean="0"/>
              <a:pPr/>
              <a:t>5</a:t>
            </a:fld>
            <a:endParaRPr lang="en-US" altLang="zh-CN" dirty="0"/>
          </a:p>
        </p:txBody>
      </p:sp>
      <p:sp>
        <p:nvSpPr>
          <p:cNvPr id="8" name="任意多边形: 形状 7">
            <a:extLst>
              <a:ext uri="{FF2B5EF4-FFF2-40B4-BE49-F238E27FC236}">
                <a16:creationId xmlns:a16="http://schemas.microsoft.com/office/drawing/2014/main" id="{CC544C3B-E900-4C7A-81D6-CB73CBD28994}"/>
              </a:ext>
            </a:extLst>
          </p:cNvPr>
          <p:cNvSpPr/>
          <p:nvPr/>
        </p:nvSpPr>
        <p:spPr bwMode="auto">
          <a:xfrm>
            <a:off x="2864768" y="4725144"/>
            <a:ext cx="3419475" cy="1489902"/>
          </a:xfrm>
          <a:custGeom>
            <a:avLst/>
            <a:gdLst>
              <a:gd name="connsiteX0" fmla="*/ 0 w 3419475"/>
              <a:gd name="connsiteY0" fmla="*/ 1209702 h 1489902"/>
              <a:gd name="connsiteX1" fmla="*/ 638175 w 3419475"/>
              <a:gd name="connsiteY1" fmla="*/ 27 h 1489902"/>
              <a:gd name="connsiteX2" fmla="*/ 1457325 w 3419475"/>
              <a:gd name="connsiteY2" fmla="*/ 1171602 h 1489902"/>
              <a:gd name="connsiteX3" fmla="*/ 2066925 w 3419475"/>
              <a:gd name="connsiteY3" fmla="*/ 590577 h 1489902"/>
              <a:gd name="connsiteX4" fmla="*/ 2667000 w 3419475"/>
              <a:gd name="connsiteY4" fmla="*/ 1485927 h 1489902"/>
              <a:gd name="connsiteX5" fmla="*/ 3419475 w 3419475"/>
              <a:gd name="connsiteY5" fmla="*/ 161952 h 1489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9475" h="1489902">
                <a:moveTo>
                  <a:pt x="0" y="1209702"/>
                </a:moveTo>
                <a:cubicBezTo>
                  <a:pt x="197644" y="608039"/>
                  <a:pt x="395288" y="6377"/>
                  <a:pt x="638175" y="27"/>
                </a:cubicBezTo>
                <a:cubicBezTo>
                  <a:pt x="881062" y="-6323"/>
                  <a:pt x="1219200" y="1073177"/>
                  <a:pt x="1457325" y="1171602"/>
                </a:cubicBezTo>
                <a:cubicBezTo>
                  <a:pt x="1695450" y="1270027"/>
                  <a:pt x="1865313" y="538190"/>
                  <a:pt x="2066925" y="590577"/>
                </a:cubicBezTo>
                <a:cubicBezTo>
                  <a:pt x="2268537" y="642964"/>
                  <a:pt x="2441575" y="1557364"/>
                  <a:pt x="2667000" y="1485927"/>
                </a:cubicBezTo>
                <a:cubicBezTo>
                  <a:pt x="2892425" y="1414490"/>
                  <a:pt x="3155950" y="788221"/>
                  <a:pt x="3419475" y="161952"/>
                </a:cubicBez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10" name="直接箭头连接符 9">
            <a:extLst>
              <a:ext uri="{FF2B5EF4-FFF2-40B4-BE49-F238E27FC236}">
                <a16:creationId xmlns:a16="http://schemas.microsoft.com/office/drawing/2014/main" id="{219D5D05-28D0-4F81-8E04-4248B1E99AB8}"/>
              </a:ext>
            </a:extLst>
          </p:cNvPr>
          <p:cNvCxnSpPr/>
          <p:nvPr/>
        </p:nvCxnSpPr>
        <p:spPr bwMode="auto">
          <a:xfrm>
            <a:off x="2720752" y="6215046"/>
            <a:ext cx="4680520"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箭头连接符 10">
            <a:extLst>
              <a:ext uri="{FF2B5EF4-FFF2-40B4-BE49-F238E27FC236}">
                <a16:creationId xmlns:a16="http://schemas.microsoft.com/office/drawing/2014/main" id="{94D8633D-2EA5-43FA-AE0C-3A7252EC55AF}"/>
              </a:ext>
            </a:extLst>
          </p:cNvPr>
          <p:cNvCxnSpPr/>
          <p:nvPr/>
        </p:nvCxnSpPr>
        <p:spPr bwMode="auto">
          <a:xfrm flipV="1">
            <a:off x="2720752" y="4437112"/>
            <a:ext cx="0" cy="177793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流程图: 接点 12">
            <a:extLst>
              <a:ext uri="{FF2B5EF4-FFF2-40B4-BE49-F238E27FC236}">
                <a16:creationId xmlns:a16="http://schemas.microsoft.com/office/drawing/2014/main" id="{35813299-1BDD-4E0E-A42D-D51E9DB0C170}"/>
              </a:ext>
            </a:extLst>
          </p:cNvPr>
          <p:cNvSpPr/>
          <p:nvPr/>
        </p:nvSpPr>
        <p:spPr bwMode="auto">
          <a:xfrm>
            <a:off x="3440832" y="4679425"/>
            <a:ext cx="144002" cy="117727"/>
          </a:xfrm>
          <a:prstGeom prst="flowChartConnector">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4" name="流程图: 接点 13">
            <a:extLst>
              <a:ext uri="{FF2B5EF4-FFF2-40B4-BE49-F238E27FC236}">
                <a16:creationId xmlns:a16="http://schemas.microsoft.com/office/drawing/2014/main" id="{EB0D40CF-B604-43E3-8303-016810D31447}"/>
              </a:ext>
            </a:extLst>
          </p:cNvPr>
          <p:cNvSpPr/>
          <p:nvPr/>
        </p:nvSpPr>
        <p:spPr bwMode="auto">
          <a:xfrm>
            <a:off x="4845789" y="5231373"/>
            <a:ext cx="144002" cy="117727"/>
          </a:xfrm>
          <a:prstGeom prst="flowChartConnector">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5" name="流程图: 接点 14">
            <a:extLst>
              <a:ext uri="{FF2B5EF4-FFF2-40B4-BE49-F238E27FC236}">
                <a16:creationId xmlns:a16="http://schemas.microsoft.com/office/drawing/2014/main" id="{613DE50C-48B4-4B01-95D9-75EA2AB3767A}"/>
              </a:ext>
            </a:extLst>
          </p:cNvPr>
          <p:cNvSpPr/>
          <p:nvPr/>
        </p:nvSpPr>
        <p:spPr bwMode="auto">
          <a:xfrm>
            <a:off x="4323397" y="5825007"/>
            <a:ext cx="144002" cy="117727"/>
          </a:xfrm>
          <a:prstGeom prst="flowChartConnector">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6" name="流程图: 接点 15">
            <a:extLst>
              <a:ext uri="{FF2B5EF4-FFF2-40B4-BE49-F238E27FC236}">
                <a16:creationId xmlns:a16="http://schemas.microsoft.com/office/drawing/2014/main" id="{AB92A64A-036B-449C-9F87-A8B574DCF8D2}"/>
              </a:ext>
            </a:extLst>
          </p:cNvPr>
          <p:cNvSpPr/>
          <p:nvPr/>
        </p:nvSpPr>
        <p:spPr bwMode="auto">
          <a:xfrm>
            <a:off x="5457056" y="6120828"/>
            <a:ext cx="144002" cy="117727"/>
          </a:xfrm>
          <a:prstGeom prst="flowChartConnector">
            <a:avLst/>
          </a:prstGeom>
          <a:solidFill>
            <a:srgbClr val="0000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7" name="文本框 16">
            <a:extLst>
              <a:ext uri="{FF2B5EF4-FFF2-40B4-BE49-F238E27FC236}">
                <a16:creationId xmlns:a16="http://schemas.microsoft.com/office/drawing/2014/main" id="{DEDFF69B-0CA0-49DD-8546-EAEB65636B04}"/>
              </a:ext>
            </a:extLst>
          </p:cNvPr>
          <p:cNvSpPr txBox="1"/>
          <p:nvPr/>
        </p:nvSpPr>
        <p:spPr>
          <a:xfrm>
            <a:off x="3310013" y="4738288"/>
            <a:ext cx="389850" cy="461665"/>
          </a:xfrm>
          <a:prstGeom prst="rect">
            <a:avLst/>
          </a:prstGeom>
          <a:noFill/>
        </p:spPr>
        <p:txBody>
          <a:bodyPr wrap="none" rtlCol="0">
            <a:spAutoFit/>
          </a:bodyPr>
          <a:lstStyle/>
          <a:p>
            <a:r>
              <a:rPr lang="en-US" altLang="zh-CN" sz="2400" dirty="0"/>
              <a:t>A</a:t>
            </a:r>
            <a:endParaRPr lang="zh-CN" altLang="en-US" sz="2400" dirty="0"/>
          </a:p>
        </p:txBody>
      </p:sp>
      <p:sp>
        <p:nvSpPr>
          <p:cNvPr id="19" name="文本框 18">
            <a:extLst>
              <a:ext uri="{FF2B5EF4-FFF2-40B4-BE49-F238E27FC236}">
                <a16:creationId xmlns:a16="http://schemas.microsoft.com/office/drawing/2014/main" id="{A203DD1A-6093-495C-BEC3-460B3DB28410}"/>
              </a:ext>
            </a:extLst>
          </p:cNvPr>
          <p:cNvSpPr txBox="1"/>
          <p:nvPr/>
        </p:nvSpPr>
        <p:spPr>
          <a:xfrm>
            <a:off x="4177884" y="5348180"/>
            <a:ext cx="389850" cy="461665"/>
          </a:xfrm>
          <a:prstGeom prst="rect">
            <a:avLst/>
          </a:prstGeom>
          <a:noFill/>
        </p:spPr>
        <p:txBody>
          <a:bodyPr wrap="none" rtlCol="0">
            <a:spAutoFit/>
          </a:bodyPr>
          <a:lstStyle/>
          <a:p>
            <a:r>
              <a:rPr lang="en-US" altLang="zh-CN" sz="2400" dirty="0"/>
              <a:t>B</a:t>
            </a:r>
            <a:endParaRPr lang="zh-CN" altLang="en-US" sz="2400" dirty="0"/>
          </a:p>
        </p:txBody>
      </p:sp>
      <p:sp>
        <p:nvSpPr>
          <p:cNvPr id="20" name="文本框 19">
            <a:extLst>
              <a:ext uri="{FF2B5EF4-FFF2-40B4-BE49-F238E27FC236}">
                <a16:creationId xmlns:a16="http://schemas.microsoft.com/office/drawing/2014/main" id="{6C7DBD0F-2657-41C5-B067-F8356E6F977D}"/>
              </a:ext>
            </a:extLst>
          </p:cNvPr>
          <p:cNvSpPr txBox="1"/>
          <p:nvPr/>
        </p:nvSpPr>
        <p:spPr>
          <a:xfrm>
            <a:off x="4714048" y="4828571"/>
            <a:ext cx="407484" cy="461665"/>
          </a:xfrm>
          <a:prstGeom prst="rect">
            <a:avLst/>
          </a:prstGeom>
          <a:noFill/>
        </p:spPr>
        <p:txBody>
          <a:bodyPr wrap="none" rtlCol="0">
            <a:spAutoFit/>
          </a:bodyPr>
          <a:lstStyle/>
          <a:p>
            <a:r>
              <a:rPr lang="en-US" altLang="zh-CN" sz="2400" dirty="0"/>
              <a:t>C</a:t>
            </a:r>
            <a:endParaRPr lang="zh-CN" altLang="en-US" sz="2400" dirty="0"/>
          </a:p>
        </p:txBody>
      </p:sp>
      <p:sp>
        <p:nvSpPr>
          <p:cNvPr id="21" name="文本框 20">
            <a:extLst>
              <a:ext uri="{FF2B5EF4-FFF2-40B4-BE49-F238E27FC236}">
                <a16:creationId xmlns:a16="http://schemas.microsoft.com/office/drawing/2014/main" id="{F576A00B-F608-4638-BCE1-9F943536AFCC}"/>
              </a:ext>
            </a:extLst>
          </p:cNvPr>
          <p:cNvSpPr txBox="1"/>
          <p:nvPr/>
        </p:nvSpPr>
        <p:spPr>
          <a:xfrm>
            <a:off x="5325315" y="5718026"/>
            <a:ext cx="407484" cy="461665"/>
          </a:xfrm>
          <a:prstGeom prst="rect">
            <a:avLst/>
          </a:prstGeom>
          <a:noFill/>
        </p:spPr>
        <p:txBody>
          <a:bodyPr wrap="none" rtlCol="0">
            <a:spAutoFit/>
          </a:bodyPr>
          <a:lstStyle/>
          <a:p>
            <a:r>
              <a:rPr lang="en-US" altLang="zh-CN" sz="2400" dirty="0"/>
              <a:t>D</a:t>
            </a:r>
            <a:endParaRPr lang="zh-CN" altLang="en-US" sz="2400" dirty="0"/>
          </a:p>
        </p:txBody>
      </p:sp>
      <p:sp>
        <p:nvSpPr>
          <p:cNvPr id="6" name="对话气泡: 矩形 5">
            <a:extLst>
              <a:ext uri="{FF2B5EF4-FFF2-40B4-BE49-F238E27FC236}">
                <a16:creationId xmlns:a16="http://schemas.microsoft.com/office/drawing/2014/main" id="{394C1DD4-7200-4278-9120-8836894993E8}"/>
              </a:ext>
            </a:extLst>
          </p:cNvPr>
          <p:cNvSpPr/>
          <p:nvPr/>
        </p:nvSpPr>
        <p:spPr bwMode="auto">
          <a:xfrm>
            <a:off x="3728612" y="1153998"/>
            <a:ext cx="5832648" cy="1316631"/>
          </a:xfrm>
          <a:prstGeom prst="wedgeRectCallout">
            <a:avLst>
              <a:gd name="adj1" fmla="val -23609"/>
              <a:gd name="adj2" fmla="val 58910"/>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2000" dirty="0">
                <a:solidFill>
                  <a:srgbClr val="C00000"/>
                </a:solidFill>
              </a:rPr>
              <a:t>最优化设计的目标就是求最值点，而最优化理论中通常定义最值点为（以最小值为目标）：对于函数</a:t>
            </a:r>
            <a:r>
              <a:rPr lang="en-US" altLang="zh-CN" sz="2000" dirty="0">
                <a:solidFill>
                  <a:srgbClr val="C00000"/>
                </a:solidFill>
              </a:rPr>
              <a:t>f(X)</a:t>
            </a:r>
            <a:r>
              <a:rPr lang="zh-CN" altLang="en-US" sz="2000" dirty="0">
                <a:solidFill>
                  <a:srgbClr val="C00000"/>
                </a:solidFill>
              </a:rPr>
              <a:t>的一个最值点</a:t>
            </a:r>
            <a:r>
              <a:rPr lang="en-US" altLang="zh-CN" sz="2000" dirty="0">
                <a:solidFill>
                  <a:srgbClr val="C00000"/>
                </a:solidFill>
              </a:rPr>
              <a:t>A</a:t>
            </a:r>
            <a:r>
              <a:rPr lang="zh-CN" altLang="en-US" sz="2000" dirty="0">
                <a:solidFill>
                  <a:srgbClr val="C00000"/>
                </a:solidFill>
              </a:rPr>
              <a:t>，不存在其他任何的</a:t>
            </a:r>
            <a:r>
              <a:rPr lang="en-US" altLang="zh-CN" sz="2000" dirty="0">
                <a:solidFill>
                  <a:srgbClr val="C00000"/>
                </a:solidFill>
              </a:rPr>
              <a:t>x, </a:t>
            </a:r>
            <a:r>
              <a:rPr lang="zh-CN" altLang="en-US" sz="2000" dirty="0">
                <a:solidFill>
                  <a:srgbClr val="C00000"/>
                </a:solidFill>
              </a:rPr>
              <a:t>使得</a:t>
            </a:r>
            <a:r>
              <a:rPr lang="en-US" altLang="zh-CN" sz="2000" dirty="0">
                <a:solidFill>
                  <a:srgbClr val="C00000"/>
                </a:solidFill>
              </a:rPr>
              <a:t>f(x) &lt; f(A) </a:t>
            </a:r>
            <a:endParaRPr kumimoji="0" lang="zh-CN" altLang="en-US" sz="2000" b="0" i="0" u="none" strike="noStrike" cap="none" normalizeH="0" baseline="0" dirty="0">
              <a:ln>
                <a:noFill/>
              </a:ln>
              <a:solidFill>
                <a:srgbClr val="C00000"/>
              </a:solidFill>
              <a:effectLst/>
              <a:latin typeface="Arial" charset="0"/>
            </a:endParaRPr>
          </a:p>
        </p:txBody>
      </p:sp>
    </p:spTree>
    <p:extLst>
      <p:ext uri="{BB962C8B-B14F-4D97-AF65-F5344CB8AC3E}">
        <p14:creationId xmlns:p14="http://schemas.microsoft.com/office/powerpoint/2010/main" val="1369921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wipe(down)">
                                      <p:cBhvr>
                                        <p:cTn id="11" dur="500"/>
                                        <p:tgtEl>
                                          <p:spTgt spid="3">
                                            <p:txEl>
                                              <p:pRg st="2" end="2"/>
                                            </p:txEl>
                                          </p:spTgt>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par>
                          <p:cTn id="15" fill="hold">
                            <p:stCondLst>
                              <p:cond delay="1000"/>
                            </p:stCondLst>
                            <p:childTnLst>
                              <p:par>
                                <p:cTn id="16" presetID="1" presetClass="entr" presetSubtype="0" fill="hold" nodeType="after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par>
                          <p:cTn id="18" fill="hold">
                            <p:stCondLst>
                              <p:cond delay="1000"/>
                            </p:stCondLst>
                            <p:childTnLst>
                              <p:par>
                                <p:cTn id="19" presetID="1" presetClass="entr" presetSubtype="0" fill="hold" nodeType="after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par>
                          <p:cTn id="21" fill="hold">
                            <p:stCondLst>
                              <p:cond delay="1000"/>
                            </p:stCondLst>
                            <p:childTnLst>
                              <p:par>
                                <p:cTn id="22" presetID="1"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par>
                          <p:cTn id="24" fill="hold">
                            <p:stCondLst>
                              <p:cond delay="1000"/>
                            </p:stCondLst>
                            <p:childTnLst>
                              <p:par>
                                <p:cTn id="25" presetID="1" presetClass="entr" presetSubtype="0"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par>
                          <p:cTn id="27" fill="hold">
                            <p:stCondLst>
                              <p:cond delay="1000"/>
                            </p:stCondLst>
                            <p:childTnLst>
                              <p:par>
                                <p:cTn id="28" presetID="1" presetClass="entr" presetSubtype="0" fill="hold" grpId="0" nodeType="after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childTnLst>
                          </p:cTn>
                        </p:par>
                        <p:par>
                          <p:cTn id="30" fill="hold">
                            <p:stCondLst>
                              <p:cond delay="1000"/>
                            </p:stCondLst>
                            <p:childTnLst>
                              <p:par>
                                <p:cTn id="31" presetID="1" presetClass="entr" presetSubtype="0"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par>
                          <p:cTn id="33" fill="hold">
                            <p:stCondLst>
                              <p:cond delay="1000"/>
                            </p:stCondLst>
                            <p:childTnLst>
                              <p:par>
                                <p:cTn id="34" presetID="1" presetClass="entr" presetSubtype="0" fill="hold" grpId="0" nodeType="after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childTnLst>
                          </p:cTn>
                        </p:par>
                        <p:par>
                          <p:cTn id="36" fill="hold">
                            <p:stCondLst>
                              <p:cond delay="1000"/>
                            </p:stCondLst>
                            <p:childTnLst>
                              <p:par>
                                <p:cTn id="37" presetID="1" presetClass="entr" presetSubtype="0" fill="hold" grpId="0" nodeType="after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par>
                          <p:cTn id="39" fill="hold">
                            <p:stCondLst>
                              <p:cond delay="1000"/>
                            </p:stCondLst>
                            <p:childTnLst>
                              <p:par>
                                <p:cTn id="40" presetID="1" presetClass="entr" presetSubtype="0" fill="hold" grpId="0" nodeType="afterEffect">
                                  <p:stCondLst>
                                    <p:cond delay="0"/>
                                  </p:stCondLst>
                                  <p:childTnLst>
                                    <p:set>
                                      <p:cBhvr>
                                        <p:cTn id="41" dur="1" fill="hold">
                                          <p:stCondLst>
                                            <p:cond delay="0"/>
                                          </p:stCondLst>
                                        </p:cTn>
                                        <p:tgtEl>
                                          <p:spTgt spid="20"/>
                                        </p:tgtEl>
                                        <p:attrNameLst>
                                          <p:attrName>style.visibility</p:attrName>
                                        </p:attrNameLst>
                                      </p:cBhvr>
                                      <p:to>
                                        <p:strVal val="visible"/>
                                      </p:to>
                                    </p:set>
                                  </p:childTnLst>
                                </p:cTn>
                              </p:par>
                            </p:childTnLst>
                          </p:cTn>
                        </p:par>
                        <p:par>
                          <p:cTn id="42" fill="hold">
                            <p:stCondLst>
                              <p:cond delay="1000"/>
                            </p:stCondLst>
                            <p:childTnLst>
                              <p:par>
                                <p:cTn id="43" presetID="1" presetClass="entr" presetSubtype="0" fill="hold" grpId="0" nodeType="after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3" end="3"/>
                                            </p:txEl>
                                          </p:spTgt>
                                        </p:tgtEl>
                                        <p:attrNameLst>
                                          <p:attrName>style.visibility</p:attrName>
                                        </p:attrNameLst>
                                      </p:cBhvr>
                                      <p:to>
                                        <p:strVal val="visible"/>
                                      </p:to>
                                    </p:set>
                                    <p:anim calcmode="lin" valueType="num">
                                      <p:cBhvr additive="base">
                                        <p:cTn id="4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51" fill="hold">
                            <p:stCondLst>
                              <p:cond delay="500"/>
                            </p:stCondLst>
                            <p:childTnLst>
                              <p:par>
                                <p:cTn id="52" presetID="2" presetClass="entr" presetSubtype="4" fill="hold" nodeType="afterEffect">
                                  <p:stCondLst>
                                    <p:cond delay="0"/>
                                  </p:stCondLst>
                                  <p:childTnLst>
                                    <p:set>
                                      <p:cBhvr>
                                        <p:cTn id="53" dur="1" fill="hold">
                                          <p:stCondLst>
                                            <p:cond delay="0"/>
                                          </p:stCondLst>
                                        </p:cTn>
                                        <p:tgtEl>
                                          <p:spTgt spid="3">
                                            <p:txEl>
                                              <p:pRg st="4" end="4"/>
                                            </p:txEl>
                                          </p:spTgt>
                                        </p:tgtEl>
                                        <p:attrNameLst>
                                          <p:attrName>style.visibility</p:attrName>
                                        </p:attrNameLst>
                                      </p:cBhvr>
                                      <p:to>
                                        <p:strVal val="visible"/>
                                      </p:to>
                                    </p:set>
                                    <p:anim calcmode="lin" valueType="num">
                                      <p:cBhvr additive="base">
                                        <p:cTn id="5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grpId="0" nodeType="click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barn(inVertical)">
                                      <p:cBhvr>
                                        <p:cTn id="6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4" grpId="0" animBg="1"/>
      <p:bldP spid="15" grpId="0" animBg="1"/>
      <p:bldP spid="16" grpId="0" animBg="1"/>
      <p:bldP spid="17" grpId="0"/>
      <p:bldP spid="19" grpId="0"/>
      <p:bldP spid="20" grpId="0"/>
      <p:bldP spid="21" grpId="0"/>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6E0586-837F-4B51-80C5-27E5BE6FB873}"/>
              </a:ext>
            </a:extLst>
          </p:cNvPr>
          <p:cNvSpPr>
            <a:spLocks noGrp="1"/>
          </p:cNvSpPr>
          <p:nvPr>
            <p:ph type="title"/>
          </p:nvPr>
        </p:nvSpPr>
        <p:spPr/>
        <p:txBody>
          <a:bodyPr/>
          <a:lstStyle/>
          <a:p>
            <a:r>
              <a:rPr lang="en-US" altLang="zh-CN" dirty="0"/>
              <a:t>5. </a:t>
            </a:r>
            <a:r>
              <a:rPr lang="zh-CN" altLang="en-US"/>
              <a:t>优化约束的极值条件</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C2241FE-B1BC-45BE-B32A-EE08B6408376}"/>
                  </a:ext>
                </a:extLst>
              </p:cNvPr>
              <p:cNvSpPr>
                <a:spLocks noGrp="1"/>
              </p:cNvSpPr>
              <p:nvPr>
                <p:ph idx="1"/>
              </p:nvPr>
            </p:nvSpPr>
            <p:spPr/>
            <p:txBody>
              <a:bodyPr/>
              <a:lstStyle/>
              <a:p>
                <a:r>
                  <a:rPr lang="zh-CN" altLang="en-US" dirty="0"/>
                  <a:t>凸函数</a:t>
                </a:r>
                <a:endParaRPr lang="en-US" altLang="zh-CN" dirty="0"/>
              </a:p>
              <a:p>
                <a:pPr lvl="1"/>
                <a:r>
                  <a:rPr lang="zh-CN" altLang="en-US" dirty="0"/>
                  <a:t>一元凸函数</a:t>
                </a:r>
                <a:endParaRPr lang="en-US" altLang="zh-CN" dirty="0"/>
              </a:p>
              <a:p>
                <a:pPr lvl="2"/>
                <a:r>
                  <a:rPr lang="zh-CN" altLang="en-US" dirty="0"/>
                  <a:t>几何定义：如果一元函数</a:t>
                </a:r>
                <a14:m>
                  <m:oMath xmlns:m="http://schemas.openxmlformats.org/officeDocument/2006/math">
                    <m:r>
                      <a:rPr lang="en-US" altLang="zh-CN" i="1" dirty="0" smtClean="0">
                        <a:latin typeface="Cambria Math" panose="02040503050406030204" pitchFamily="18" charset="0"/>
                      </a:rPr>
                      <m:t>𝑓</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𝑥</m:t>
                    </m:r>
                    <m:r>
                      <a:rPr lang="en-US" altLang="zh-CN" i="1" dirty="0" smtClean="0">
                        <a:latin typeface="Cambria Math" panose="02040503050406030204" pitchFamily="18" charset="0"/>
                      </a:rPr>
                      <m:t>)</m:t>
                    </m:r>
                  </m:oMath>
                </a14:m>
                <a:r>
                  <a:rPr lang="zh-CN" altLang="en-US" dirty="0">
                    <a:solidFill>
                      <a:srgbClr val="FF0000"/>
                    </a:solidFill>
                  </a:rPr>
                  <a:t>曲线上任意两点的连线</a:t>
                </a:r>
                <a:r>
                  <a:rPr lang="zh-CN" altLang="en-US" dirty="0">
                    <a:solidFill>
                      <a:srgbClr val="0000FF"/>
                    </a:solidFill>
                  </a:rPr>
                  <a:t>永远不在</a:t>
                </a:r>
                <a14:m>
                  <m:oMath xmlns:m="http://schemas.openxmlformats.org/officeDocument/2006/math">
                    <m:r>
                      <a:rPr lang="en-US" altLang="zh-CN" i="1" dirty="0" smtClean="0">
                        <a:solidFill>
                          <a:srgbClr val="0000FF"/>
                        </a:solidFill>
                        <a:latin typeface="Cambria Math" panose="02040503050406030204" pitchFamily="18" charset="0"/>
                      </a:rPr>
                      <m:t>𝑓</m:t>
                    </m:r>
                    <m:r>
                      <a:rPr lang="en-US" altLang="zh-CN" i="1" dirty="0" smtClean="0">
                        <a:solidFill>
                          <a:srgbClr val="0000FF"/>
                        </a:solidFill>
                        <a:latin typeface="Cambria Math" panose="02040503050406030204" pitchFamily="18" charset="0"/>
                      </a:rPr>
                      <m:t>(</m:t>
                    </m:r>
                    <m:r>
                      <a:rPr lang="en-US" altLang="zh-CN" i="1" dirty="0" smtClean="0">
                        <a:solidFill>
                          <a:srgbClr val="0000FF"/>
                        </a:solidFill>
                        <a:latin typeface="Cambria Math" panose="02040503050406030204" pitchFamily="18" charset="0"/>
                      </a:rPr>
                      <m:t>𝑥</m:t>
                    </m:r>
                    <m:r>
                      <a:rPr lang="en-US" altLang="zh-CN" i="1" dirty="0" smtClean="0">
                        <a:solidFill>
                          <a:srgbClr val="0000FF"/>
                        </a:solidFill>
                        <a:latin typeface="Cambria Math" panose="02040503050406030204" pitchFamily="18" charset="0"/>
                      </a:rPr>
                      <m:t>)</m:t>
                    </m:r>
                  </m:oMath>
                </a14:m>
                <a:r>
                  <a:rPr lang="zh-CN" altLang="en-US" dirty="0">
                    <a:solidFill>
                      <a:srgbClr val="0000FF"/>
                    </a:solidFill>
                  </a:rPr>
                  <a:t>这条曲线的下方</a:t>
                </a:r>
                <a:r>
                  <a:rPr lang="zh-CN" altLang="en-US" dirty="0"/>
                  <a:t>，则称</a:t>
                </a:r>
                <a14:m>
                  <m:oMath xmlns:m="http://schemas.openxmlformats.org/officeDocument/2006/math">
                    <m:r>
                      <a:rPr lang="en-US" altLang="zh-CN" i="1" dirty="0" smtClean="0">
                        <a:latin typeface="Cambria Math" panose="02040503050406030204" pitchFamily="18" charset="0"/>
                      </a:rPr>
                      <m:t>𝑓</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𝑥</m:t>
                    </m:r>
                    <m:r>
                      <a:rPr lang="en-US" altLang="zh-CN" i="1" dirty="0" smtClean="0">
                        <a:latin typeface="Cambria Math" panose="02040503050406030204" pitchFamily="18" charset="0"/>
                      </a:rPr>
                      <m:t>)</m:t>
                    </m:r>
                  </m:oMath>
                </a14:m>
                <a:r>
                  <a:rPr lang="zh-CN" altLang="en-US" dirty="0"/>
                  <a:t>为</a:t>
                </a:r>
                <a:r>
                  <a:rPr lang="zh-CN" altLang="en-US" dirty="0">
                    <a:solidFill>
                      <a:srgbClr val="C00000"/>
                    </a:solidFill>
                  </a:rPr>
                  <a:t>凸函数</a:t>
                </a:r>
                <a:r>
                  <a:rPr lang="zh-CN" altLang="en-US" dirty="0"/>
                  <a:t>。</a:t>
                </a:r>
                <a:endParaRPr lang="en-US" altLang="zh-CN" dirty="0"/>
              </a:p>
              <a:p>
                <a:pPr lvl="2"/>
                <a:endParaRPr lang="en-US" altLang="zh-CN" dirty="0"/>
              </a:p>
            </p:txBody>
          </p:sp>
        </mc:Choice>
        <mc:Fallback xmlns="">
          <p:sp>
            <p:nvSpPr>
              <p:cNvPr id="3" name="内容占位符 2">
                <a:extLst>
                  <a:ext uri="{FF2B5EF4-FFF2-40B4-BE49-F238E27FC236}">
                    <a16:creationId xmlns:a16="http://schemas.microsoft.com/office/drawing/2014/main" id="{8C2241FE-B1BC-45BE-B32A-EE08B6408376}"/>
                  </a:ext>
                </a:extLst>
              </p:cNvPr>
              <p:cNvSpPr>
                <a:spLocks noGrp="1" noRot="1" noChangeAspect="1" noMove="1" noResize="1" noEditPoints="1" noAdjustHandles="1" noChangeArrowheads="1" noChangeShapeType="1" noTextEdit="1"/>
              </p:cNvSpPr>
              <p:nvPr>
                <p:ph idx="1"/>
              </p:nvPr>
            </p:nvSpPr>
            <p:spPr>
              <a:blipFill>
                <a:blip r:embed="rId2"/>
                <a:stretch>
                  <a:fillRect l="-1066" t="-2083"/>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775DFFD2-4785-472E-B251-C089EF92002D}"/>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51830338-929F-495E-BB4B-E9F732A01113}"/>
              </a:ext>
            </a:extLst>
          </p:cNvPr>
          <p:cNvSpPr>
            <a:spLocks noGrp="1"/>
          </p:cNvSpPr>
          <p:nvPr>
            <p:ph type="sldNum" sz="quarter" idx="12"/>
          </p:nvPr>
        </p:nvSpPr>
        <p:spPr/>
        <p:txBody>
          <a:bodyPr/>
          <a:lstStyle/>
          <a:p>
            <a:fld id="{7AC79822-BC0D-4DE8-A7E5-90A3732A2B82}" type="slidenum">
              <a:rPr lang="zh-CN" altLang="en-US" smtClean="0"/>
              <a:pPr/>
              <a:t>6</a:t>
            </a:fld>
            <a:endParaRPr lang="en-US" altLang="zh-CN" dirty="0"/>
          </a:p>
        </p:txBody>
      </p:sp>
      <p:cxnSp>
        <p:nvCxnSpPr>
          <p:cNvPr id="7" name="直接箭头连接符 6">
            <a:extLst>
              <a:ext uri="{FF2B5EF4-FFF2-40B4-BE49-F238E27FC236}">
                <a16:creationId xmlns:a16="http://schemas.microsoft.com/office/drawing/2014/main" id="{78829A25-55F9-4A90-B125-C91B07B9110E}"/>
              </a:ext>
            </a:extLst>
          </p:cNvPr>
          <p:cNvCxnSpPr/>
          <p:nvPr/>
        </p:nvCxnSpPr>
        <p:spPr bwMode="auto">
          <a:xfrm>
            <a:off x="2585120" y="6229606"/>
            <a:ext cx="4392488" cy="0"/>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 name="直接箭头连接符 8">
            <a:extLst>
              <a:ext uri="{FF2B5EF4-FFF2-40B4-BE49-F238E27FC236}">
                <a16:creationId xmlns:a16="http://schemas.microsoft.com/office/drawing/2014/main" id="{E2315276-2E86-46BA-9522-AA4A3DF3C5FC}"/>
              </a:ext>
            </a:extLst>
          </p:cNvPr>
          <p:cNvCxnSpPr>
            <a:cxnSpLocks/>
          </p:cNvCxnSpPr>
          <p:nvPr/>
        </p:nvCxnSpPr>
        <p:spPr bwMode="auto">
          <a:xfrm flipV="1">
            <a:off x="3080792" y="3709326"/>
            <a:ext cx="0" cy="2888026"/>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任意多边形: 形状 14">
            <a:extLst>
              <a:ext uri="{FF2B5EF4-FFF2-40B4-BE49-F238E27FC236}">
                <a16:creationId xmlns:a16="http://schemas.microsoft.com/office/drawing/2014/main" id="{2B12EAC3-F443-4376-B675-6223F699427E}"/>
              </a:ext>
            </a:extLst>
          </p:cNvPr>
          <p:cNvSpPr/>
          <p:nvPr/>
        </p:nvSpPr>
        <p:spPr bwMode="auto">
          <a:xfrm rot="21199161">
            <a:off x="3467100" y="3806798"/>
            <a:ext cx="2971800" cy="2025387"/>
          </a:xfrm>
          <a:custGeom>
            <a:avLst/>
            <a:gdLst>
              <a:gd name="connsiteX0" fmla="*/ 0 w 2971800"/>
              <a:gd name="connsiteY0" fmla="*/ 942975 h 2025387"/>
              <a:gd name="connsiteX1" fmla="*/ 1790700 w 2971800"/>
              <a:gd name="connsiteY1" fmla="*/ 2000250 h 2025387"/>
              <a:gd name="connsiteX2" fmla="*/ 2971800 w 2971800"/>
              <a:gd name="connsiteY2" fmla="*/ 0 h 2025387"/>
            </a:gdLst>
            <a:ahLst/>
            <a:cxnLst>
              <a:cxn ang="0">
                <a:pos x="connsiteX0" y="connsiteY0"/>
              </a:cxn>
              <a:cxn ang="0">
                <a:pos x="connsiteX1" y="connsiteY1"/>
              </a:cxn>
              <a:cxn ang="0">
                <a:pos x="connsiteX2" y="connsiteY2"/>
              </a:cxn>
            </a:cxnLst>
            <a:rect l="l" t="t" r="r" b="b"/>
            <a:pathLst>
              <a:path w="2971800" h="2025387">
                <a:moveTo>
                  <a:pt x="0" y="942975"/>
                </a:moveTo>
                <a:cubicBezTo>
                  <a:pt x="647700" y="1550194"/>
                  <a:pt x="1295400" y="2157413"/>
                  <a:pt x="1790700" y="2000250"/>
                </a:cubicBezTo>
                <a:cubicBezTo>
                  <a:pt x="2286000" y="1843088"/>
                  <a:pt x="2971800" y="0"/>
                  <a:pt x="2971800" y="0"/>
                </a:cubicBezTo>
              </a:path>
            </a:pathLst>
          </a:custGeom>
          <a:no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E6EBD006-7637-4690-838C-B7DBA5B9F7A0}"/>
                  </a:ext>
                </a:extLst>
              </p:cNvPr>
              <p:cNvSpPr txBox="1"/>
              <p:nvPr/>
            </p:nvSpPr>
            <p:spPr>
              <a:xfrm>
                <a:off x="6249144" y="3581309"/>
                <a:ext cx="87786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rPr>
                        <m:t>𝑓</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𝑥</m:t>
                      </m:r>
                      <m:r>
                        <a:rPr lang="en-US" altLang="zh-CN" sz="2400" i="1" dirty="0" smtClean="0">
                          <a:latin typeface="Cambria Math" panose="02040503050406030204" pitchFamily="18" charset="0"/>
                        </a:rPr>
                        <m:t>)</m:t>
                      </m:r>
                    </m:oMath>
                  </m:oMathPara>
                </a14:m>
                <a:endParaRPr lang="zh-CN" altLang="en-US" sz="2400" dirty="0"/>
              </a:p>
            </p:txBody>
          </p:sp>
        </mc:Choice>
        <mc:Fallback xmlns="">
          <p:sp>
            <p:nvSpPr>
              <p:cNvPr id="16" name="文本框 15">
                <a:extLst>
                  <a:ext uri="{FF2B5EF4-FFF2-40B4-BE49-F238E27FC236}">
                    <a16:creationId xmlns:a16="http://schemas.microsoft.com/office/drawing/2014/main" id="{E6EBD006-7637-4690-838C-B7DBA5B9F7A0}"/>
                  </a:ext>
                </a:extLst>
              </p:cNvPr>
              <p:cNvSpPr txBox="1">
                <a:spLocks noRot="1" noChangeAspect="1" noMove="1" noResize="1" noEditPoints="1" noAdjustHandles="1" noChangeArrowheads="1" noChangeShapeType="1" noTextEdit="1"/>
              </p:cNvSpPr>
              <p:nvPr/>
            </p:nvSpPr>
            <p:spPr>
              <a:xfrm>
                <a:off x="6249144" y="3581309"/>
                <a:ext cx="877869" cy="461665"/>
              </a:xfrm>
              <a:prstGeom prst="rect">
                <a:avLst/>
              </a:prstGeom>
              <a:blipFill>
                <a:blip r:embed="rId3"/>
                <a:stretch>
                  <a:fillRect l="-694" r="-694" b="-19737"/>
                </a:stretch>
              </a:blipFill>
            </p:spPr>
            <p:txBody>
              <a:bodyPr/>
              <a:lstStyle/>
              <a:p>
                <a:r>
                  <a:rPr lang="zh-CN" altLang="en-US">
                    <a:noFill/>
                  </a:rPr>
                  <a:t> </a:t>
                </a:r>
              </a:p>
            </p:txBody>
          </p:sp>
        </mc:Fallback>
      </mc:AlternateContent>
      <p:sp>
        <p:nvSpPr>
          <p:cNvPr id="17" name="椭圆 16">
            <a:extLst>
              <a:ext uri="{FF2B5EF4-FFF2-40B4-BE49-F238E27FC236}">
                <a16:creationId xmlns:a16="http://schemas.microsoft.com/office/drawing/2014/main" id="{854FDF53-FE20-4440-9318-EFFEE25EAFEB}"/>
              </a:ext>
            </a:extLst>
          </p:cNvPr>
          <p:cNvSpPr/>
          <p:nvPr/>
        </p:nvSpPr>
        <p:spPr bwMode="auto">
          <a:xfrm>
            <a:off x="3720135" y="5064282"/>
            <a:ext cx="144012" cy="14401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8" name="椭圆 17">
            <a:extLst>
              <a:ext uri="{FF2B5EF4-FFF2-40B4-BE49-F238E27FC236}">
                <a16:creationId xmlns:a16="http://schemas.microsoft.com/office/drawing/2014/main" id="{940916A1-856D-4416-92E3-6EFA70A65EBA}"/>
              </a:ext>
            </a:extLst>
          </p:cNvPr>
          <p:cNvSpPr/>
          <p:nvPr/>
        </p:nvSpPr>
        <p:spPr bwMode="auto">
          <a:xfrm>
            <a:off x="5959529" y="4509120"/>
            <a:ext cx="144012" cy="14401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20" name="直接连接符 19">
            <a:extLst>
              <a:ext uri="{FF2B5EF4-FFF2-40B4-BE49-F238E27FC236}">
                <a16:creationId xmlns:a16="http://schemas.microsoft.com/office/drawing/2014/main" id="{CA33C33F-D6EC-4F34-A984-8DE001CC1DDC}"/>
              </a:ext>
            </a:extLst>
          </p:cNvPr>
          <p:cNvCxnSpPr/>
          <p:nvPr/>
        </p:nvCxnSpPr>
        <p:spPr bwMode="auto">
          <a:xfrm flipV="1">
            <a:off x="2288704" y="4293096"/>
            <a:ext cx="4838309" cy="1224136"/>
          </a:xfrm>
          <a:prstGeom prst="line">
            <a:avLst/>
          </a:prstGeom>
          <a:ln>
            <a:solidFill>
              <a:srgbClr val="0000FF"/>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EF71F3D0-93AF-433B-A1B0-4F6C9548E043}"/>
                  </a:ext>
                </a:extLst>
              </p:cNvPr>
              <p:cNvSpPr txBox="1"/>
              <p:nvPr/>
            </p:nvSpPr>
            <p:spPr>
              <a:xfrm>
                <a:off x="3569211" y="6144215"/>
                <a:ext cx="519693"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rPr>
                        <m:t>𝑥</m:t>
                      </m:r>
                      <m:r>
                        <a:rPr lang="en-US" altLang="zh-CN" sz="2400" b="0" i="1" baseline="-25000" dirty="0" smtClean="0">
                          <a:latin typeface="Cambria Math" panose="02040503050406030204" pitchFamily="18" charset="0"/>
                        </a:rPr>
                        <m:t>1</m:t>
                      </m:r>
                    </m:oMath>
                  </m:oMathPara>
                </a14:m>
                <a:endParaRPr lang="zh-CN" altLang="en-US" sz="2400" baseline="-25000" dirty="0"/>
              </a:p>
            </p:txBody>
          </p:sp>
        </mc:Choice>
        <mc:Fallback xmlns="">
          <p:sp>
            <p:nvSpPr>
              <p:cNvPr id="21" name="文本框 20">
                <a:extLst>
                  <a:ext uri="{FF2B5EF4-FFF2-40B4-BE49-F238E27FC236}">
                    <a16:creationId xmlns:a16="http://schemas.microsoft.com/office/drawing/2014/main" id="{EF71F3D0-93AF-433B-A1B0-4F6C9548E043}"/>
                  </a:ext>
                </a:extLst>
              </p:cNvPr>
              <p:cNvSpPr txBox="1">
                <a:spLocks noRot="1" noChangeAspect="1" noMove="1" noResize="1" noEditPoints="1" noAdjustHandles="1" noChangeArrowheads="1" noChangeShapeType="1" noTextEdit="1"/>
              </p:cNvSpPr>
              <p:nvPr/>
            </p:nvSpPr>
            <p:spPr>
              <a:xfrm>
                <a:off x="3569211" y="6144215"/>
                <a:ext cx="519693" cy="453137"/>
              </a:xfrm>
              <a:prstGeom prst="rect">
                <a:avLst/>
              </a:prstGeom>
              <a:blipFill>
                <a:blip r:embed="rId4"/>
                <a:stretch>
                  <a:fillRect b="-67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B38A8092-47E5-4FB8-AFA4-715840FF101F}"/>
                  </a:ext>
                </a:extLst>
              </p:cNvPr>
              <p:cNvSpPr txBox="1"/>
              <p:nvPr/>
            </p:nvSpPr>
            <p:spPr>
              <a:xfrm>
                <a:off x="5801459" y="6144215"/>
                <a:ext cx="519693"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dirty="0" smtClean="0">
                          <a:latin typeface="Cambria Math" panose="02040503050406030204" pitchFamily="18" charset="0"/>
                        </a:rPr>
                        <m:t>𝑥</m:t>
                      </m:r>
                      <m:r>
                        <a:rPr lang="en-US" altLang="zh-CN" sz="2400" b="0" i="1" baseline="-25000" dirty="0" smtClean="0">
                          <a:latin typeface="Cambria Math" panose="02040503050406030204" pitchFamily="18" charset="0"/>
                        </a:rPr>
                        <m:t>2</m:t>
                      </m:r>
                    </m:oMath>
                  </m:oMathPara>
                </a14:m>
                <a:endParaRPr lang="zh-CN" altLang="en-US" sz="2400" baseline="-25000" dirty="0"/>
              </a:p>
            </p:txBody>
          </p:sp>
        </mc:Choice>
        <mc:Fallback xmlns="">
          <p:sp>
            <p:nvSpPr>
              <p:cNvPr id="22" name="文本框 21">
                <a:extLst>
                  <a:ext uri="{FF2B5EF4-FFF2-40B4-BE49-F238E27FC236}">
                    <a16:creationId xmlns:a16="http://schemas.microsoft.com/office/drawing/2014/main" id="{B38A8092-47E5-4FB8-AFA4-715840FF101F}"/>
                  </a:ext>
                </a:extLst>
              </p:cNvPr>
              <p:cNvSpPr txBox="1">
                <a:spLocks noRot="1" noChangeAspect="1" noMove="1" noResize="1" noEditPoints="1" noAdjustHandles="1" noChangeArrowheads="1" noChangeShapeType="1" noTextEdit="1"/>
              </p:cNvSpPr>
              <p:nvPr/>
            </p:nvSpPr>
            <p:spPr>
              <a:xfrm>
                <a:off x="5801459" y="6144215"/>
                <a:ext cx="519693" cy="453137"/>
              </a:xfrm>
              <a:prstGeom prst="rect">
                <a:avLst/>
              </a:prstGeom>
              <a:blipFill>
                <a:blip r:embed="rId5"/>
                <a:stretch>
                  <a:fillRect b="-6757"/>
                </a:stretch>
              </a:blipFill>
            </p:spPr>
            <p:txBody>
              <a:bodyPr/>
              <a:lstStyle/>
              <a:p>
                <a:r>
                  <a:rPr lang="zh-CN" altLang="en-US">
                    <a:noFill/>
                  </a:rPr>
                  <a:t> </a:t>
                </a:r>
              </a:p>
            </p:txBody>
          </p:sp>
        </mc:Fallback>
      </mc:AlternateContent>
      <p:cxnSp>
        <p:nvCxnSpPr>
          <p:cNvPr id="24" name="直接连接符 23">
            <a:extLst>
              <a:ext uri="{FF2B5EF4-FFF2-40B4-BE49-F238E27FC236}">
                <a16:creationId xmlns:a16="http://schemas.microsoft.com/office/drawing/2014/main" id="{355B311C-B89E-427A-8CBE-12059D7257E4}"/>
              </a:ext>
            </a:extLst>
          </p:cNvPr>
          <p:cNvCxnSpPr>
            <a:cxnSpLocks/>
            <a:stCxn id="17" idx="4"/>
          </p:cNvCxnSpPr>
          <p:nvPr/>
        </p:nvCxnSpPr>
        <p:spPr bwMode="auto">
          <a:xfrm>
            <a:off x="3792141" y="5208298"/>
            <a:ext cx="0" cy="102901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直接连接符 28">
            <a:extLst>
              <a:ext uri="{FF2B5EF4-FFF2-40B4-BE49-F238E27FC236}">
                <a16:creationId xmlns:a16="http://schemas.microsoft.com/office/drawing/2014/main" id="{EA7E86CA-8BE1-4E99-B229-C50FB56FD43B}"/>
              </a:ext>
            </a:extLst>
          </p:cNvPr>
          <p:cNvCxnSpPr>
            <a:cxnSpLocks/>
            <a:stCxn id="18" idx="4"/>
          </p:cNvCxnSpPr>
          <p:nvPr/>
        </p:nvCxnSpPr>
        <p:spPr bwMode="auto">
          <a:xfrm>
            <a:off x="6031535" y="4653136"/>
            <a:ext cx="1190" cy="1563087"/>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4" name="直接连接符 33">
            <a:extLst>
              <a:ext uri="{FF2B5EF4-FFF2-40B4-BE49-F238E27FC236}">
                <a16:creationId xmlns:a16="http://schemas.microsoft.com/office/drawing/2014/main" id="{A3A33A6D-4612-44EC-B914-3FFF010BAB18}"/>
              </a:ext>
            </a:extLst>
          </p:cNvPr>
          <p:cNvCxnSpPr>
            <a:cxnSpLocks/>
          </p:cNvCxnSpPr>
          <p:nvPr/>
        </p:nvCxnSpPr>
        <p:spPr bwMode="auto">
          <a:xfrm flipV="1">
            <a:off x="3872881" y="4581128"/>
            <a:ext cx="2113692" cy="533094"/>
          </a:xfrm>
          <a:prstGeom prst="line">
            <a:avLst/>
          </a:prstGeom>
          <a:ln w="76200">
            <a:headEnd type="none" w="med" len="med"/>
            <a:tailEnd type="none" w="med" len="med"/>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574622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barn(inVertical)">
                                      <p:cBhvr>
                                        <p:cTn id="11" dur="500"/>
                                        <p:tgtEl>
                                          <p:spTgt spid="3">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7" presetClass="entr" presetSubtype="1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strVal val="#ppt_h"/>
                                          </p:val>
                                        </p:tav>
                                        <p:tav tm="100000">
                                          <p:val>
                                            <p:strVal val="#ppt_h"/>
                                          </p:val>
                                        </p:tav>
                                      </p:tavLst>
                                    </p:anim>
                                  </p:childTnLst>
                                </p:cTn>
                              </p:par>
                            </p:childTnLst>
                          </p:cTn>
                        </p:par>
                        <p:par>
                          <p:cTn id="18" fill="hold">
                            <p:stCondLst>
                              <p:cond delay="500"/>
                            </p:stCondLst>
                            <p:childTnLst>
                              <p:par>
                                <p:cTn id="19" presetID="17" presetClass="entr" presetSubtype="10"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strVal val="#ppt_h"/>
                                          </p:val>
                                        </p:tav>
                                        <p:tav tm="100000">
                                          <p:val>
                                            <p:strVal val="#ppt_h"/>
                                          </p:val>
                                        </p:tav>
                                      </p:tavLst>
                                    </p:anim>
                                  </p:childTnLst>
                                </p:cTn>
                              </p:par>
                            </p:childTnLst>
                          </p:cTn>
                        </p:par>
                        <p:par>
                          <p:cTn id="23" fill="hold">
                            <p:stCondLst>
                              <p:cond delay="1000"/>
                            </p:stCondLst>
                            <p:childTnLst>
                              <p:par>
                                <p:cTn id="24" presetID="17" presetClass="entr" presetSubtype="10" fill="hold" grpId="0" nodeType="after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p:cTn id="26" dur="500" fill="hold"/>
                                        <p:tgtEl>
                                          <p:spTgt spid="15"/>
                                        </p:tgtEl>
                                        <p:attrNameLst>
                                          <p:attrName>ppt_w</p:attrName>
                                        </p:attrNameLst>
                                      </p:cBhvr>
                                      <p:tavLst>
                                        <p:tav tm="0">
                                          <p:val>
                                            <p:fltVal val="0"/>
                                          </p:val>
                                        </p:tav>
                                        <p:tav tm="100000">
                                          <p:val>
                                            <p:strVal val="#ppt_w"/>
                                          </p:val>
                                        </p:tav>
                                      </p:tavLst>
                                    </p:anim>
                                    <p:anim calcmode="lin" valueType="num">
                                      <p:cBhvr>
                                        <p:cTn id="27" dur="500" fill="hold"/>
                                        <p:tgtEl>
                                          <p:spTgt spid="15"/>
                                        </p:tgtEl>
                                        <p:attrNameLst>
                                          <p:attrName>ppt_h</p:attrName>
                                        </p:attrNameLst>
                                      </p:cBhvr>
                                      <p:tavLst>
                                        <p:tav tm="0">
                                          <p:val>
                                            <p:strVal val="#ppt_h"/>
                                          </p:val>
                                        </p:tav>
                                        <p:tav tm="100000">
                                          <p:val>
                                            <p:strVal val="#ppt_h"/>
                                          </p:val>
                                        </p:tav>
                                      </p:tavLst>
                                    </p:anim>
                                  </p:childTnLst>
                                </p:cTn>
                              </p:par>
                            </p:childTnLst>
                          </p:cTn>
                        </p:par>
                        <p:par>
                          <p:cTn id="28" fill="hold">
                            <p:stCondLst>
                              <p:cond delay="1500"/>
                            </p:stCondLst>
                            <p:childTnLst>
                              <p:par>
                                <p:cTn id="29" presetID="22" presetClass="entr" presetSubtype="4"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down)">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childTnLst>
                          </p:cTn>
                        </p:par>
                        <p:par>
                          <p:cTn id="37" fill="hold">
                            <p:stCondLst>
                              <p:cond delay="500"/>
                            </p:stCondLst>
                            <p:childTnLst>
                              <p:par>
                                <p:cTn id="38" presetID="16" presetClass="entr" presetSubtype="21" fill="hold" nodeType="after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barn(inVertical)">
                                      <p:cBhvr>
                                        <p:cTn id="40" dur="500"/>
                                        <p:tgtEl>
                                          <p:spTgt spid="24"/>
                                        </p:tgtEl>
                                      </p:cBhvr>
                                    </p:animEffect>
                                  </p:childTnLst>
                                </p:cTn>
                              </p:par>
                            </p:childTnLst>
                          </p:cTn>
                        </p:par>
                        <p:par>
                          <p:cTn id="41" fill="hold">
                            <p:stCondLst>
                              <p:cond delay="1000"/>
                            </p:stCondLst>
                            <p:childTnLst>
                              <p:par>
                                <p:cTn id="42" presetID="22" presetClass="entr" presetSubtype="4" fill="hold" grpId="0" nodeType="after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wipe(down)">
                                      <p:cBhvr>
                                        <p:cTn id="44" dur="500"/>
                                        <p:tgtEl>
                                          <p:spTgt spid="2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1500"/>
                            </p:stCondLst>
                            <p:childTnLst>
                              <p:par>
                                <p:cTn id="49" presetID="16" presetClass="entr" presetSubtype="21" fill="hold" nodeType="after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barn(inVertical)">
                                      <p:cBhvr>
                                        <p:cTn id="51" dur="500"/>
                                        <p:tgtEl>
                                          <p:spTgt spid="29"/>
                                        </p:tgtEl>
                                      </p:cBhvr>
                                    </p:animEffect>
                                  </p:childTnLst>
                                </p:cTn>
                              </p:par>
                            </p:childTnLst>
                          </p:cTn>
                        </p:par>
                        <p:par>
                          <p:cTn id="52" fill="hold">
                            <p:stCondLst>
                              <p:cond delay="2000"/>
                            </p:stCondLst>
                            <p:childTnLst>
                              <p:par>
                                <p:cTn id="53" presetID="22" presetClass="entr" presetSubtype="4" fill="hold" grpId="0" nodeType="after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down)">
                                      <p:cBhvr>
                                        <p:cTn id="55" dur="500"/>
                                        <p:tgtEl>
                                          <p:spTgt spid="22"/>
                                        </p:tgtEl>
                                      </p:cBhvr>
                                    </p:animEffect>
                                  </p:childTnLst>
                                </p:cTn>
                              </p:par>
                            </p:childTnLst>
                          </p:cTn>
                        </p:par>
                        <p:par>
                          <p:cTn id="56" fill="hold">
                            <p:stCondLst>
                              <p:cond delay="2500"/>
                            </p:stCondLst>
                            <p:childTnLst>
                              <p:par>
                                <p:cTn id="57" presetID="16" presetClass="entr" presetSubtype="21" fill="hold"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barn(inVertical)">
                                      <p:cBhvr>
                                        <p:cTn id="59" dur="500"/>
                                        <p:tgtEl>
                                          <p:spTgt spid="20"/>
                                        </p:tgtEl>
                                      </p:cBhvr>
                                    </p:animEffect>
                                  </p:childTnLst>
                                </p:cTn>
                              </p:par>
                            </p:childTnLst>
                          </p:cTn>
                        </p:par>
                        <p:par>
                          <p:cTn id="60" fill="hold">
                            <p:stCondLst>
                              <p:cond delay="3000"/>
                            </p:stCondLst>
                            <p:childTnLst>
                              <p:par>
                                <p:cTn id="61" presetID="16" presetClass="entr" presetSubtype="21" fill="hold" nodeType="after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barn(inVertical)">
                                      <p:cBhvr>
                                        <p:cTn id="6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animBg="1"/>
      <p:bldP spid="18" grpId="0" animBg="1"/>
      <p:bldP spid="21"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6E0586-837F-4B51-80C5-27E5BE6FB873}"/>
              </a:ext>
            </a:extLst>
          </p:cNvPr>
          <p:cNvSpPr>
            <a:spLocks noGrp="1"/>
          </p:cNvSpPr>
          <p:nvPr>
            <p:ph type="title"/>
          </p:nvPr>
        </p:nvSpPr>
        <p:spPr/>
        <p:txBody>
          <a:bodyPr/>
          <a:lstStyle/>
          <a:p>
            <a:r>
              <a:rPr lang="zh-CN" altLang="en-US" dirty="0"/>
              <a:t>一元函数凸函数的数学表达式推导</a:t>
            </a:r>
          </a:p>
        </p:txBody>
      </p:sp>
      <p:sp>
        <p:nvSpPr>
          <p:cNvPr id="4" name="日期占位符 3">
            <a:extLst>
              <a:ext uri="{FF2B5EF4-FFF2-40B4-BE49-F238E27FC236}">
                <a16:creationId xmlns:a16="http://schemas.microsoft.com/office/drawing/2014/main" id="{775DFFD2-4785-472E-B251-C089EF92002D}"/>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51830338-929F-495E-BB4B-E9F732A01113}"/>
              </a:ext>
            </a:extLst>
          </p:cNvPr>
          <p:cNvSpPr>
            <a:spLocks noGrp="1"/>
          </p:cNvSpPr>
          <p:nvPr>
            <p:ph type="sldNum" sz="quarter" idx="12"/>
          </p:nvPr>
        </p:nvSpPr>
        <p:spPr/>
        <p:txBody>
          <a:bodyPr/>
          <a:lstStyle/>
          <a:p>
            <a:fld id="{7AC79822-BC0D-4DE8-A7E5-90A3732A2B82}" type="slidenum">
              <a:rPr lang="zh-CN" altLang="en-US" smtClean="0"/>
              <a:pPr/>
              <a:t>7</a:t>
            </a:fld>
            <a:endParaRPr lang="en-US" altLang="zh-CN" dirty="0"/>
          </a:p>
        </p:txBody>
      </p:sp>
      <p:cxnSp>
        <p:nvCxnSpPr>
          <p:cNvPr id="7" name="直接箭头连接符 6">
            <a:extLst>
              <a:ext uri="{FF2B5EF4-FFF2-40B4-BE49-F238E27FC236}">
                <a16:creationId xmlns:a16="http://schemas.microsoft.com/office/drawing/2014/main" id="{78829A25-55F9-4A90-B125-C91B07B9110E}"/>
              </a:ext>
            </a:extLst>
          </p:cNvPr>
          <p:cNvCxnSpPr/>
          <p:nvPr/>
        </p:nvCxnSpPr>
        <p:spPr bwMode="auto">
          <a:xfrm>
            <a:off x="5235643" y="3845049"/>
            <a:ext cx="4392488" cy="0"/>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 name="直接箭头连接符 8">
            <a:extLst>
              <a:ext uri="{FF2B5EF4-FFF2-40B4-BE49-F238E27FC236}">
                <a16:creationId xmlns:a16="http://schemas.microsoft.com/office/drawing/2014/main" id="{E2315276-2E86-46BA-9522-AA4A3DF3C5FC}"/>
              </a:ext>
            </a:extLst>
          </p:cNvPr>
          <p:cNvCxnSpPr>
            <a:cxnSpLocks/>
          </p:cNvCxnSpPr>
          <p:nvPr/>
        </p:nvCxnSpPr>
        <p:spPr bwMode="auto">
          <a:xfrm flipV="1">
            <a:off x="5731315" y="1324769"/>
            <a:ext cx="0" cy="2888026"/>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任意多边形: 形状 14">
            <a:extLst>
              <a:ext uri="{FF2B5EF4-FFF2-40B4-BE49-F238E27FC236}">
                <a16:creationId xmlns:a16="http://schemas.microsoft.com/office/drawing/2014/main" id="{2B12EAC3-F443-4376-B675-6223F699427E}"/>
              </a:ext>
            </a:extLst>
          </p:cNvPr>
          <p:cNvSpPr/>
          <p:nvPr/>
        </p:nvSpPr>
        <p:spPr bwMode="auto">
          <a:xfrm rot="21199161">
            <a:off x="6117623" y="1422241"/>
            <a:ext cx="2971800" cy="2025387"/>
          </a:xfrm>
          <a:custGeom>
            <a:avLst/>
            <a:gdLst>
              <a:gd name="connsiteX0" fmla="*/ 0 w 2971800"/>
              <a:gd name="connsiteY0" fmla="*/ 942975 h 2025387"/>
              <a:gd name="connsiteX1" fmla="*/ 1790700 w 2971800"/>
              <a:gd name="connsiteY1" fmla="*/ 2000250 h 2025387"/>
              <a:gd name="connsiteX2" fmla="*/ 2971800 w 2971800"/>
              <a:gd name="connsiteY2" fmla="*/ 0 h 2025387"/>
            </a:gdLst>
            <a:ahLst/>
            <a:cxnLst>
              <a:cxn ang="0">
                <a:pos x="connsiteX0" y="connsiteY0"/>
              </a:cxn>
              <a:cxn ang="0">
                <a:pos x="connsiteX1" y="connsiteY1"/>
              </a:cxn>
              <a:cxn ang="0">
                <a:pos x="connsiteX2" y="connsiteY2"/>
              </a:cxn>
            </a:cxnLst>
            <a:rect l="l" t="t" r="r" b="b"/>
            <a:pathLst>
              <a:path w="2971800" h="2025387">
                <a:moveTo>
                  <a:pt x="0" y="942975"/>
                </a:moveTo>
                <a:cubicBezTo>
                  <a:pt x="647700" y="1550194"/>
                  <a:pt x="1295400" y="2157413"/>
                  <a:pt x="1790700" y="2000250"/>
                </a:cubicBezTo>
                <a:cubicBezTo>
                  <a:pt x="2286000" y="1843088"/>
                  <a:pt x="2971800" y="0"/>
                  <a:pt x="2971800" y="0"/>
                </a:cubicBezTo>
              </a:path>
            </a:pathLst>
          </a:custGeom>
          <a:no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7" name="椭圆 16">
            <a:extLst>
              <a:ext uri="{FF2B5EF4-FFF2-40B4-BE49-F238E27FC236}">
                <a16:creationId xmlns:a16="http://schemas.microsoft.com/office/drawing/2014/main" id="{854FDF53-FE20-4440-9318-EFFEE25EAFEB}"/>
              </a:ext>
            </a:extLst>
          </p:cNvPr>
          <p:cNvSpPr/>
          <p:nvPr/>
        </p:nvSpPr>
        <p:spPr bwMode="auto">
          <a:xfrm>
            <a:off x="6370658" y="2679725"/>
            <a:ext cx="144012" cy="14401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8" name="椭圆 17">
            <a:extLst>
              <a:ext uri="{FF2B5EF4-FFF2-40B4-BE49-F238E27FC236}">
                <a16:creationId xmlns:a16="http://schemas.microsoft.com/office/drawing/2014/main" id="{940916A1-856D-4416-92E3-6EFA70A65EBA}"/>
              </a:ext>
            </a:extLst>
          </p:cNvPr>
          <p:cNvSpPr/>
          <p:nvPr/>
        </p:nvSpPr>
        <p:spPr bwMode="auto">
          <a:xfrm>
            <a:off x="8610052" y="2124563"/>
            <a:ext cx="144012" cy="14401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20" name="直接连接符 19">
            <a:extLst>
              <a:ext uri="{FF2B5EF4-FFF2-40B4-BE49-F238E27FC236}">
                <a16:creationId xmlns:a16="http://schemas.microsoft.com/office/drawing/2014/main" id="{CA33C33F-D6EC-4F34-A984-8DE001CC1DDC}"/>
              </a:ext>
            </a:extLst>
          </p:cNvPr>
          <p:cNvCxnSpPr/>
          <p:nvPr/>
        </p:nvCxnSpPr>
        <p:spPr bwMode="auto">
          <a:xfrm flipV="1">
            <a:off x="4939227" y="1908539"/>
            <a:ext cx="4838309" cy="1224136"/>
          </a:xfrm>
          <a:prstGeom prst="line">
            <a:avLst/>
          </a:prstGeom>
          <a:ln>
            <a:solidFill>
              <a:srgbClr val="0000FF"/>
            </a:solidFill>
            <a:headEnd type="none" w="med" len="med"/>
            <a:tailEnd type="none" w="med" len="med"/>
          </a:ln>
          <a:effectLst/>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EF71F3D0-93AF-433B-A1B0-4F6C9548E043}"/>
                  </a:ext>
                </a:extLst>
              </p:cNvPr>
              <p:cNvSpPr txBox="1"/>
              <p:nvPr/>
            </p:nvSpPr>
            <p:spPr>
              <a:xfrm>
                <a:off x="6219734" y="3759658"/>
                <a:ext cx="519693"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rPr>
                        <m:t>𝑥</m:t>
                      </m:r>
                      <m:r>
                        <a:rPr lang="en-US" altLang="zh-CN" sz="2400" b="0" i="1" baseline="-25000" dirty="0" smtClean="0">
                          <a:latin typeface="Cambria Math" panose="02040503050406030204" pitchFamily="18" charset="0"/>
                        </a:rPr>
                        <m:t>1</m:t>
                      </m:r>
                    </m:oMath>
                  </m:oMathPara>
                </a14:m>
                <a:endParaRPr lang="zh-CN" altLang="en-US" sz="2400" baseline="-25000" dirty="0"/>
              </a:p>
            </p:txBody>
          </p:sp>
        </mc:Choice>
        <mc:Fallback xmlns="">
          <p:sp>
            <p:nvSpPr>
              <p:cNvPr id="21" name="文本框 20">
                <a:extLst>
                  <a:ext uri="{FF2B5EF4-FFF2-40B4-BE49-F238E27FC236}">
                    <a16:creationId xmlns:a16="http://schemas.microsoft.com/office/drawing/2014/main" id="{EF71F3D0-93AF-433B-A1B0-4F6C9548E043}"/>
                  </a:ext>
                </a:extLst>
              </p:cNvPr>
              <p:cNvSpPr txBox="1">
                <a:spLocks noRot="1" noChangeAspect="1" noMove="1" noResize="1" noEditPoints="1" noAdjustHandles="1" noChangeArrowheads="1" noChangeShapeType="1" noTextEdit="1"/>
              </p:cNvSpPr>
              <p:nvPr/>
            </p:nvSpPr>
            <p:spPr>
              <a:xfrm>
                <a:off x="6219734" y="3759658"/>
                <a:ext cx="519693" cy="453137"/>
              </a:xfrm>
              <a:prstGeom prst="rect">
                <a:avLst/>
              </a:prstGeom>
              <a:blipFill>
                <a:blip r:embed="rId3"/>
                <a:stretch>
                  <a:fillRect b="-67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B38A8092-47E5-4FB8-AFA4-715840FF101F}"/>
                  </a:ext>
                </a:extLst>
              </p:cNvPr>
              <p:cNvSpPr txBox="1"/>
              <p:nvPr/>
            </p:nvSpPr>
            <p:spPr>
              <a:xfrm>
                <a:off x="8451982" y="3759658"/>
                <a:ext cx="519693"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dirty="0" smtClean="0">
                          <a:latin typeface="Cambria Math" panose="02040503050406030204" pitchFamily="18" charset="0"/>
                        </a:rPr>
                        <m:t>𝑥</m:t>
                      </m:r>
                      <m:r>
                        <a:rPr lang="en-US" altLang="zh-CN" sz="2400" b="0" i="1" baseline="-25000" dirty="0" smtClean="0">
                          <a:latin typeface="Cambria Math" panose="02040503050406030204" pitchFamily="18" charset="0"/>
                        </a:rPr>
                        <m:t>2</m:t>
                      </m:r>
                    </m:oMath>
                  </m:oMathPara>
                </a14:m>
                <a:endParaRPr lang="zh-CN" altLang="en-US" sz="2400" baseline="-25000" dirty="0"/>
              </a:p>
            </p:txBody>
          </p:sp>
        </mc:Choice>
        <mc:Fallback xmlns="">
          <p:sp>
            <p:nvSpPr>
              <p:cNvPr id="22" name="文本框 21">
                <a:extLst>
                  <a:ext uri="{FF2B5EF4-FFF2-40B4-BE49-F238E27FC236}">
                    <a16:creationId xmlns:a16="http://schemas.microsoft.com/office/drawing/2014/main" id="{B38A8092-47E5-4FB8-AFA4-715840FF101F}"/>
                  </a:ext>
                </a:extLst>
              </p:cNvPr>
              <p:cNvSpPr txBox="1">
                <a:spLocks noRot="1" noChangeAspect="1" noMove="1" noResize="1" noEditPoints="1" noAdjustHandles="1" noChangeArrowheads="1" noChangeShapeType="1" noTextEdit="1"/>
              </p:cNvSpPr>
              <p:nvPr/>
            </p:nvSpPr>
            <p:spPr>
              <a:xfrm>
                <a:off x="8451982" y="3759658"/>
                <a:ext cx="519693" cy="453137"/>
              </a:xfrm>
              <a:prstGeom prst="rect">
                <a:avLst/>
              </a:prstGeom>
              <a:blipFill>
                <a:blip r:embed="rId4"/>
                <a:stretch>
                  <a:fillRect b="-6757"/>
                </a:stretch>
              </a:blipFill>
            </p:spPr>
            <p:txBody>
              <a:bodyPr/>
              <a:lstStyle/>
              <a:p>
                <a:r>
                  <a:rPr lang="zh-CN" altLang="en-US">
                    <a:noFill/>
                  </a:rPr>
                  <a:t> </a:t>
                </a:r>
              </a:p>
            </p:txBody>
          </p:sp>
        </mc:Fallback>
      </mc:AlternateContent>
      <p:cxnSp>
        <p:nvCxnSpPr>
          <p:cNvPr id="24" name="直接连接符 23">
            <a:extLst>
              <a:ext uri="{FF2B5EF4-FFF2-40B4-BE49-F238E27FC236}">
                <a16:creationId xmlns:a16="http://schemas.microsoft.com/office/drawing/2014/main" id="{355B311C-B89E-427A-8CBE-12059D7257E4}"/>
              </a:ext>
            </a:extLst>
          </p:cNvPr>
          <p:cNvCxnSpPr>
            <a:cxnSpLocks/>
            <a:stCxn id="17" idx="4"/>
          </p:cNvCxnSpPr>
          <p:nvPr/>
        </p:nvCxnSpPr>
        <p:spPr bwMode="auto">
          <a:xfrm>
            <a:off x="6442664" y="2823741"/>
            <a:ext cx="0" cy="102901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直接连接符 28">
            <a:extLst>
              <a:ext uri="{FF2B5EF4-FFF2-40B4-BE49-F238E27FC236}">
                <a16:creationId xmlns:a16="http://schemas.microsoft.com/office/drawing/2014/main" id="{EA7E86CA-8BE1-4E99-B229-C50FB56FD43B}"/>
              </a:ext>
            </a:extLst>
          </p:cNvPr>
          <p:cNvCxnSpPr>
            <a:cxnSpLocks/>
            <a:stCxn id="18" idx="4"/>
          </p:cNvCxnSpPr>
          <p:nvPr/>
        </p:nvCxnSpPr>
        <p:spPr bwMode="auto">
          <a:xfrm>
            <a:off x="8682058" y="2268579"/>
            <a:ext cx="1190" cy="1563087"/>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aphicFrame>
        <p:nvGraphicFramePr>
          <p:cNvPr id="36" name="对象 35">
            <a:extLst>
              <a:ext uri="{FF2B5EF4-FFF2-40B4-BE49-F238E27FC236}">
                <a16:creationId xmlns:a16="http://schemas.microsoft.com/office/drawing/2014/main" id="{C7D048C4-65EF-4D8C-AA53-2CA11FE30CCB}"/>
              </a:ext>
            </a:extLst>
          </p:cNvPr>
          <p:cNvGraphicFramePr>
            <a:graphicFrameLocks noChangeAspect="1"/>
          </p:cNvGraphicFramePr>
          <p:nvPr>
            <p:extLst>
              <p:ext uri="{D42A27DB-BD31-4B8C-83A1-F6EECF244321}">
                <p14:modId xmlns:p14="http://schemas.microsoft.com/office/powerpoint/2010/main" val="859511146"/>
              </p:ext>
            </p:extLst>
          </p:nvPr>
        </p:nvGraphicFramePr>
        <p:xfrm>
          <a:off x="4521200" y="2225675"/>
          <a:ext cx="101600" cy="139700"/>
        </p:xfrm>
        <a:graphic>
          <a:graphicData uri="http://schemas.openxmlformats.org/presentationml/2006/ole">
            <mc:AlternateContent xmlns:mc="http://schemas.openxmlformats.org/markup-compatibility/2006">
              <mc:Choice xmlns:v="urn:schemas-microsoft-com:vml" Requires="v">
                <p:oleObj name="Equation" r:id="rId5" imgW="101520" imgH="139680" progId="Equation.DSMT4">
                  <p:embed/>
                </p:oleObj>
              </mc:Choice>
              <mc:Fallback>
                <p:oleObj name="Equation" r:id="rId5" imgW="101520" imgH="139680" progId="Equation.DSMT4">
                  <p:embed/>
                  <p:pic>
                    <p:nvPicPr>
                      <p:cNvPr id="0" name=""/>
                      <p:cNvPicPr/>
                      <p:nvPr/>
                    </p:nvPicPr>
                    <p:blipFill>
                      <a:blip r:embed="rId6"/>
                      <a:stretch>
                        <a:fillRect/>
                      </a:stretch>
                    </p:blipFill>
                    <p:spPr>
                      <a:xfrm>
                        <a:off x="4521200" y="2225675"/>
                        <a:ext cx="101600" cy="139700"/>
                      </a:xfrm>
                      <a:prstGeom prst="rect">
                        <a:avLst/>
                      </a:prstGeom>
                    </p:spPr>
                  </p:pic>
                </p:oleObj>
              </mc:Fallback>
            </mc:AlternateContent>
          </a:graphicData>
        </a:graphic>
      </p:graphicFrame>
      <p:sp>
        <p:nvSpPr>
          <p:cNvPr id="37" name="椭圆 36">
            <a:extLst>
              <a:ext uri="{FF2B5EF4-FFF2-40B4-BE49-F238E27FC236}">
                <a16:creationId xmlns:a16="http://schemas.microsoft.com/office/drawing/2014/main" id="{4FA03947-A375-4CF2-8491-C5795C1A0F4A}"/>
              </a:ext>
            </a:extLst>
          </p:cNvPr>
          <p:cNvSpPr/>
          <p:nvPr/>
        </p:nvSpPr>
        <p:spPr bwMode="auto">
          <a:xfrm>
            <a:off x="7463779" y="2420888"/>
            <a:ext cx="144012" cy="14401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38" name="直接连接符 37">
            <a:extLst>
              <a:ext uri="{FF2B5EF4-FFF2-40B4-BE49-F238E27FC236}">
                <a16:creationId xmlns:a16="http://schemas.microsoft.com/office/drawing/2014/main" id="{859B3F37-E4F8-4C6F-9AFE-4DF38FFF1F03}"/>
              </a:ext>
            </a:extLst>
          </p:cNvPr>
          <p:cNvCxnSpPr>
            <a:cxnSpLocks/>
          </p:cNvCxnSpPr>
          <p:nvPr/>
        </p:nvCxnSpPr>
        <p:spPr bwMode="auto">
          <a:xfrm>
            <a:off x="7549074" y="2559163"/>
            <a:ext cx="0" cy="129359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1B7E211C-AD0F-421A-8439-A5584671BAB7}"/>
                  </a:ext>
                </a:extLst>
              </p:cNvPr>
              <p:cNvSpPr txBox="1"/>
              <p:nvPr/>
            </p:nvSpPr>
            <p:spPr>
              <a:xfrm>
                <a:off x="7365797" y="3751890"/>
                <a:ext cx="415178"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rPr>
                        <m:t>𝑥</m:t>
                      </m:r>
                    </m:oMath>
                  </m:oMathPara>
                </a14:m>
                <a:endParaRPr lang="zh-CN" altLang="en-US" sz="2400" baseline="-25000" dirty="0"/>
              </a:p>
            </p:txBody>
          </p:sp>
        </mc:Choice>
        <mc:Fallback xmlns="">
          <p:sp>
            <p:nvSpPr>
              <p:cNvPr id="40" name="文本框 39">
                <a:extLst>
                  <a:ext uri="{FF2B5EF4-FFF2-40B4-BE49-F238E27FC236}">
                    <a16:creationId xmlns:a16="http://schemas.microsoft.com/office/drawing/2014/main" id="{1B7E211C-AD0F-421A-8439-A5584671BAB7}"/>
                  </a:ext>
                </a:extLst>
              </p:cNvPr>
              <p:cNvSpPr txBox="1">
                <a:spLocks noRot="1" noChangeAspect="1" noMove="1" noResize="1" noEditPoints="1" noAdjustHandles="1" noChangeArrowheads="1" noChangeShapeType="1" noTextEdit="1"/>
              </p:cNvSpPr>
              <p:nvPr/>
            </p:nvSpPr>
            <p:spPr>
              <a:xfrm>
                <a:off x="7365797" y="3751890"/>
                <a:ext cx="415178" cy="453137"/>
              </a:xfrm>
              <a:prstGeom prst="rect">
                <a:avLst/>
              </a:prstGeom>
              <a:blipFill>
                <a:blip r:embed="rId7"/>
                <a:stretch>
                  <a:fillRect/>
                </a:stretch>
              </a:blipFill>
            </p:spPr>
            <p:txBody>
              <a:bodyPr/>
              <a:lstStyle/>
              <a:p>
                <a:r>
                  <a:rPr lang="zh-CN" altLang="en-US">
                    <a:noFill/>
                  </a:rPr>
                  <a:t> </a:t>
                </a:r>
              </a:p>
            </p:txBody>
          </p:sp>
        </mc:Fallback>
      </mc:AlternateContent>
      <p:sp>
        <p:nvSpPr>
          <p:cNvPr id="41" name="椭圆 40">
            <a:extLst>
              <a:ext uri="{FF2B5EF4-FFF2-40B4-BE49-F238E27FC236}">
                <a16:creationId xmlns:a16="http://schemas.microsoft.com/office/drawing/2014/main" id="{A406ED48-B83B-4021-AA22-59E9AD88F15E}"/>
              </a:ext>
            </a:extLst>
          </p:cNvPr>
          <p:cNvSpPr/>
          <p:nvPr/>
        </p:nvSpPr>
        <p:spPr bwMode="auto">
          <a:xfrm>
            <a:off x="7463779" y="3327610"/>
            <a:ext cx="144012" cy="14401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42" name="直接连接符 41">
            <a:extLst>
              <a:ext uri="{FF2B5EF4-FFF2-40B4-BE49-F238E27FC236}">
                <a16:creationId xmlns:a16="http://schemas.microsoft.com/office/drawing/2014/main" id="{EDF3959E-CABB-40DF-A267-F00B12BED828}"/>
              </a:ext>
            </a:extLst>
          </p:cNvPr>
          <p:cNvCxnSpPr>
            <a:cxnSpLocks/>
            <a:stCxn id="41" idx="2"/>
          </p:cNvCxnSpPr>
          <p:nvPr/>
        </p:nvCxnSpPr>
        <p:spPr bwMode="auto">
          <a:xfrm flipH="1">
            <a:off x="5731315" y="3399618"/>
            <a:ext cx="1732464" cy="8583"/>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B1DA869D-58DF-47B6-9406-DC0E8C6AF4BA}"/>
                  </a:ext>
                </a:extLst>
              </p:cNvPr>
              <p:cNvSpPr txBox="1"/>
              <p:nvPr/>
            </p:nvSpPr>
            <p:spPr>
              <a:xfrm>
                <a:off x="4929462" y="3198167"/>
                <a:ext cx="87786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rPr>
                        <m:t>𝑓</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𝑥</m:t>
                      </m:r>
                      <m:r>
                        <a:rPr lang="en-US" altLang="zh-CN" sz="2400" i="1" dirty="0" smtClean="0">
                          <a:latin typeface="Cambria Math" panose="02040503050406030204" pitchFamily="18" charset="0"/>
                        </a:rPr>
                        <m:t>)</m:t>
                      </m:r>
                    </m:oMath>
                  </m:oMathPara>
                </a14:m>
                <a:endParaRPr lang="zh-CN" altLang="en-US" sz="2400" dirty="0"/>
              </a:p>
            </p:txBody>
          </p:sp>
        </mc:Choice>
        <mc:Fallback xmlns="">
          <p:sp>
            <p:nvSpPr>
              <p:cNvPr id="47" name="文本框 46">
                <a:extLst>
                  <a:ext uri="{FF2B5EF4-FFF2-40B4-BE49-F238E27FC236}">
                    <a16:creationId xmlns:a16="http://schemas.microsoft.com/office/drawing/2014/main" id="{B1DA869D-58DF-47B6-9406-DC0E8C6AF4BA}"/>
                  </a:ext>
                </a:extLst>
              </p:cNvPr>
              <p:cNvSpPr txBox="1">
                <a:spLocks noRot="1" noChangeAspect="1" noMove="1" noResize="1" noEditPoints="1" noAdjustHandles="1" noChangeArrowheads="1" noChangeShapeType="1" noTextEdit="1"/>
              </p:cNvSpPr>
              <p:nvPr/>
            </p:nvSpPr>
            <p:spPr>
              <a:xfrm>
                <a:off x="4929462" y="3198167"/>
                <a:ext cx="877869" cy="461665"/>
              </a:xfrm>
              <a:prstGeom prst="rect">
                <a:avLst/>
              </a:prstGeom>
              <a:blipFill>
                <a:blip r:embed="rId8"/>
                <a:stretch>
                  <a:fillRect l="-1389" b="-2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0A6776F3-F23F-4CFC-BCD4-8DB97AC34C6B}"/>
                  </a:ext>
                </a:extLst>
              </p:cNvPr>
              <p:cNvSpPr txBox="1"/>
              <p:nvPr/>
            </p:nvSpPr>
            <p:spPr>
              <a:xfrm>
                <a:off x="5235643" y="2226154"/>
                <a:ext cx="46307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dirty="0" smtClean="0">
                          <a:latin typeface="Cambria Math" panose="02040503050406030204" pitchFamily="18" charset="0"/>
                        </a:rPr>
                        <m:t>𝑌</m:t>
                      </m:r>
                    </m:oMath>
                  </m:oMathPara>
                </a14:m>
                <a:endParaRPr lang="zh-CN" altLang="en-US" sz="2400" dirty="0"/>
              </a:p>
            </p:txBody>
          </p:sp>
        </mc:Choice>
        <mc:Fallback xmlns="">
          <p:sp>
            <p:nvSpPr>
              <p:cNvPr id="48" name="文本框 47">
                <a:extLst>
                  <a:ext uri="{FF2B5EF4-FFF2-40B4-BE49-F238E27FC236}">
                    <a16:creationId xmlns:a16="http://schemas.microsoft.com/office/drawing/2014/main" id="{0A6776F3-F23F-4CFC-BCD4-8DB97AC34C6B}"/>
                  </a:ext>
                </a:extLst>
              </p:cNvPr>
              <p:cNvSpPr txBox="1">
                <a:spLocks noRot="1" noChangeAspect="1" noMove="1" noResize="1" noEditPoints="1" noAdjustHandles="1" noChangeArrowheads="1" noChangeShapeType="1" noTextEdit="1"/>
              </p:cNvSpPr>
              <p:nvPr/>
            </p:nvSpPr>
            <p:spPr>
              <a:xfrm>
                <a:off x="5235643" y="2226154"/>
                <a:ext cx="463075" cy="461665"/>
              </a:xfrm>
              <a:prstGeom prst="rect">
                <a:avLst/>
              </a:prstGeom>
              <a:blipFill>
                <a:blip r:embed="rId9"/>
                <a:stretch>
                  <a:fillRect/>
                </a:stretch>
              </a:blipFill>
            </p:spPr>
            <p:txBody>
              <a:bodyPr/>
              <a:lstStyle/>
              <a:p>
                <a:r>
                  <a:rPr lang="zh-CN" altLang="en-US">
                    <a:noFill/>
                  </a:rPr>
                  <a:t> </a:t>
                </a:r>
              </a:p>
            </p:txBody>
          </p:sp>
        </mc:Fallback>
      </mc:AlternateContent>
      <p:cxnSp>
        <p:nvCxnSpPr>
          <p:cNvPr id="49" name="直接连接符 48">
            <a:extLst>
              <a:ext uri="{FF2B5EF4-FFF2-40B4-BE49-F238E27FC236}">
                <a16:creationId xmlns:a16="http://schemas.microsoft.com/office/drawing/2014/main" id="{BAB1AE2A-314C-4709-9DF6-7A83BC8A8A1C}"/>
              </a:ext>
            </a:extLst>
          </p:cNvPr>
          <p:cNvCxnSpPr>
            <a:cxnSpLocks/>
          </p:cNvCxnSpPr>
          <p:nvPr/>
        </p:nvCxnSpPr>
        <p:spPr bwMode="auto">
          <a:xfrm flipH="1">
            <a:off x="5760708" y="2447413"/>
            <a:ext cx="1732464" cy="8583"/>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aphicFrame>
        <p:nvGraphicFramePr>
          <p:cNvPr id="50" name="对象 49">
            <a:extLst>
              <a:ext uri="{FF2B5EF4-FFF2-40B4-BE49-F238E27FC236}">
                <a16:creationId xmlns:a16="http://schemas.microsoft.com/office/drawing/2014/main" id="{0AB442B5-53D9-40D8-A79B-E8A559C34D69}"/>
              </a:ext>
            </a:extLst>
          </p:cNvPr>
          <p:cNvGraphicFramePr>
            <a:graphicFrameLocks noChangeAspect="1"/>
          </p:cNvGraphicFramePr>
          <p:nvPr>
            <p:extLst>
              <p:ext uri="{D42A27DB-BD31-4B8C-83A1-F6EECF244321}">
                <p14:modId xmlns:p14="http://schemas.microsoft.com/office/powerpoint/2010/main" val="4242649721"/>
              </p:ext>
            </p:extLst>
          </p:nvPr>
        </p:nvGraphicFramePr>
        <p:xfrm>
          <a:off x="560512" y="1411885"/>
          <a:ext cx="1584176" cy="572064"/>
        </p:xfrm>
        <a:graphic>
          <a:graphicData uri="http://schemas.openxmlformats.org/presentationml/2006/ole">
            <mc:AlternateContent xmlns:mc="http://schemas.openxmlformats.org/markup-compatibility/2006">
              <mc:Choice xmlns:v="urn:schemas-microsoft-com:vml" Requires="v">
                <p:oleObj name="Equation" r:id="rId10" imgW="457200" imgH="164880" progId="Equation.DSMT4">
                  <p:embed/>
                </p:oleObj>
              </mc:Choice>
              <mc:Fallback>
                <p:oleObj name="Equation" r:id="rId10" imgW="457200" imgH="164880" progId="Equation.DSMT4">
                  <p:embed/>
                  <p:pic>
                    <p:nvPicPr>
                      <p:cNvPr id="0" name=""/>
                      <p:cNvPicPr/>
                      <p:nvPr/>
                    </p:nvPicPr>
                    <p:blipFill>
                      <a:blip r:embed="rId11"/>
                      <a:stretch>
                        <a:fillRect/>
                      </a:stretch>
                    </p:blipFill>
                    <p:spPr>
                      <a:xfrm>
                        <a:off x="560512" y="1411885"/>
                        <a:ext cx="1584176" cy="572064"/>
                      </a:xfrm>
                      <a:prstGeom prst="rect">
                        <a:avLst/>
                      </a:prstGeom>
                    </p:spPr>
                  </p:pic>
                </p:oleObj>
              </mc:Fallback>
            </mc:AlternateContent>
          </a:graphicData>
        </a:graphic>
      </p:graphicFrame>
      <p:graphicFrame>
        <p:nvGraphicFramePr>
          <p:cNvPr id="51" name="对象 50">
            <a:extLst>
              <a:ext uri="{FF2B5EF4-FFF2-40B4-BE49-F238E27FC236}">
                <a16:creationId xmlns:a16="http://schemas.microsoft.com/office/drawing/2014/main" id="{F85CA467-E0FD-4FD9-8F69-6F1865732EE1}"/>
              </a:ext>
            </a:extLst>
          </p:cNvPr>
          <p:cNvGraphicFramePr>
            <a:graphicFrameLocks noChangeAspect="1"/>
          </p:cNvGraphicFramePr>
          <p:nvPr>
            <p:extLst>
              <p:ext uri="{D42A27DB-BD31-4B8C-83A1-F6EECF244321}">
                <p14:modId xmlns:p14="http://schemas.microsoft.com/office/powerpoint/2010/main" val="639872988"/>
              </p:ext>
            </p:extLst>
          </p:nvPr>
        </p:nvGraphicFramePr>
        <p:xfrm>
          <a:off x="428675" y="2220751"/>
          <a:ext cx="1847850" cy="1187450"/>
        </p:xfrm>
        <a:graphic>
          <a:graphicData uri="http://schemas.openxmlformats.org/presentationml/2006/ole">
            <mc:AlternateContent xmlns:mc="http://schemas.openxmlformats.org/markup-compatibility/2006">
              <mc:Choice xmlns:v="urn:schemas-microsoft-com:vml" Requires="v">
                <p:oleObj name="Equation" r:id="rId12" imgW="533160" imgH="342720" progId="Equation.DSMT4">
                  <p:embed/>
                </p:oleObj>
              </mc:Choice>
              <mc:Fallback>
                <p:oleObj name="Equation" r:id="rId12" imgW="533160" imgH="342720" progId="Equation.DSMT4">
                  <p:embed/>
                  <p:pic>
                    <p:nvPicPr>
                      <p:cNvPr id="50" name="对象 49">
                        <a:extLst>
                          <a:ext uri="{FF2B5EF4-FFF2-40B4-BE49-F238E27FC236}">
                            <a16:creationId xmlns:a16="http://schemas.microsoft.com/office/drawing/2014/main" id="{0AB442B5-53D9-40D8-A79B-E8A559C34D69}"/>
                          </a:ext>
                        </a:extLst>
                      </p:cNvPr>
                      <p:cNvPicPr/>
                      <p:nvPr/>
                    </p:nvPicPr>
                    <p:blipFill>
                      <a:blip r:embed="rId13"/>
                      <a:stretch>
                        <a:fillRect/>
                      </a:stretch>
                    </p:blipFill>
                    <p:spPr>
                      <a:xfrm>
                        <a:off x="428675" y="2220751"/>
                        <a:ext cx="1847850" cy="1187450"/>
                      </a:xfrm>
                      <a:prstGeom prst="rect">
                        <a:avLst/>
                      </a:prstGeom>
                    </p:spPr>
                  </p:pic>
                </p:oleObj>
              </mc:Fallback>
            </mc:AlternateContent>
          </a:graphicData>
        </a:graphic>
      </p:graphicFrame>
      <p:sp>
        <p:nvSpPr>
          <p:cNvPr id="52" name="箭头: 右 51">
            <a:extLst>
              <a:ext uri="{FF2B5EF4-FFF2-40B4-BE49-F238E27FC236}">
                <a16:creationId xmlns:a16="http://schemas.microsoft.com/office/drawing/2014/main" id="{3E52427D-AB89-44E7-BE50-4BB997372C6E}"/>
              </a:ext>
            </a:extLst>
          </p:cNvPr>
          <p:cNvSpPr/>
          <p:nvPr/>
        </p:nvSpPr>
        <p:spPr bwMode="auto">
          <a:xfrm>
            <a:off x="2415365" y="2632438"/>
            <a:ext cx="645658" cy="30913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aphicFrame>
        <p:nvGraphicFramePr>
          <p:cNvPr id="53" name="对象 52">
            <a:extLst>
              <a:ext uri="{FF2B5EF4-FFF2-40B4-BE49-F238E27FC236}">
                <a16:creationId xmlns:a16="http://schemas.microsoft.com/office/drawing/2014/main" id="{10A5B17F-0D21-4BBF-BCB8-AD5EFC180DC4}"/>
              </a:ext>
            </a:extLst>
          </p:cNvPr>
          <p:cNvGraphicFramePr>
            <a:graphicFrameLocks noChangeAspect="1"/>
          </p:cNvGraphicFramePr>
          <p:nvPr>
            <p:extLst>
              <p:ext uri="{D42A27DB-BD31-4B8C-83A1-F6EECF244321}">
                <p14:modId xmlns:p14="http://schemas.microsoft.com/office/powerpoint/2010/main" val="2660722342"/>
              </p:ext>
            </p:extLst>
          </p:nvPr>
        </p:nvGraphicFramePr>
        <p:xfrm>
          <a:off x="3099192" y="2537515"/>
          <a:ext cx="1539875" cy="527050"/>
        </p:xfrm>
        <a:graphic>
          <a:graphicData uri="http://schemas.openxmlformats.org/presentationml/2006/ole">
            <mc:AlternateContent xmlns:mc="http://schemas.openxmlformats.org/markup-compatibility/2006">
              <mc:Choice xmlns:v="urn:schemas-microsoft-com:vml" Requires="v">
                <p:oleObj name="Equation" r:id="rId14" imgW="444240" imgH="152280" progId="Equation.DSMT4">
                  <p:embed/>
                </p:oleObj>
              </mc:Choice>
              <mc:Fallback>
                <p:oleObj name="Equation" r:id="rId14" imgW="444240" imgH="152280" progId="Equation.DSMT4">
                  <p:embed/>
                  <p:pic>
                    <p:nvPicPr>
                      <p:cNvPr id="51" name="对象 50">
                        <a:extLst>
                          <a:ext uri="{FF2B5EF4-FFF2-40B4-BE49-F238E27FC236}">
                            <a16:creationId xmlns:a16="http://schemas.microsoft.com/office/drawing/2014/main" id="{F85CA467-E0FD-4FD9-8F69-6F1865732EE1}"/>
                          </a:ext>
                        </a:extLst>
                      </p:cNvPr>
                      <p:cNvPicPr/>
                      <p:nvPr/>
                    </p:nvPicPr>
                    <p:blipFill>
                      <a:blip r:embed="rId15"/>
                      <a:stretch>
                        <a:fillRect/>
                      </a:stretch>
                    </p:blipFill>
                    <p:spPr>
                      <a:xfrm>
                        <a:off x="3099192" y="2537515"/>
                        <a:ext cx="1539875" cy="527050"/>
                      </a:xfrm>
                      <a:prstGeom prst="rect">
                        <a:avLst/>
                      </a:prstGeom>
                    </p:spPr>
                  </p:pic>
                </p:oleObj>
              </mc:Fallback>
            </mc:AlternateContent>
          </a:graphicData>
        </a:graphic>
      </p:graphicFrame>
      <p:graphicFrame>
        <p:nvGraphicFramePr>
          <p:cNvPr id="54" name="对象 53">
            <a:extLst>
              <a:ext uri="{FF2B5EF4-FFF2-40B4-BE49-F238E27FC236}">
                <a16:creationId xmlns:a16="http://schemas.microsoft.com/office/drawing/2014/main" id="{4E61D9C5-5680-4588-A78D-7D128E63065D}"/>
              </a:ext>
            </a:extLst>
          </p:cNvPr>
          <p:cNvGraphicFramePr>
            <a:graphicFrameLocks noChangeAspect="1"/>
          </p:cNvGraphicFramePr>
          <p:nvPr>
            <p:extLst>
              <p:ext uri="{D42A27DB-BD31-4B8C-83A1-F6EECF244321}">
                <p14:modId xmlns:p14="http://schemas.microsoft.com/office/powerpoint/2010/main" val="237651742"/>
              </p:ext>
            </p:extLst>
          </p:nvPr>
        </p:nvGraphicFramePr>
        <p:xfrm>
          <a:off x="473071" y="3603378"/>
          <a:ext cx="2992438" cy="615950"/>
        </p:xfrm>
        <a:graphic>
          <a:graphicData uri="http://schemas.openxmlformats.org/presentationml/2006/ole">
            <mc:AlternateContent xmlns:mc="http://schemas.openxmlformats.org/markup-compatibility/2006">
              <mc:Choice xmlns:v="urn:schemas-microsoft-com:vml" Requires="v">
                <p:oleObj name="Equation" r:id="rId16" imgW="863280" imgH="177480" progId="Equation.DSMT4">
                  <p:embed/>
                </p:oleObj>
              </mc:Choice>
              <mc:Fallback>
                <p:oleObj name="Equation" r:id="rId16" imgW="863280" imgH="177480" progId="Equation.DSMT4">
                  <p:embed/>
                  <p:pic>
                    <p:nvPicPr>
                      <p:cNvPr id="51" name="对象 50">
                        <a:extLst>
                          <a:ext uri="{FF2B5EF4-FFF2-40B4-BE49-F238E27FC236}">
                            <a16:creationId xmlns:a16="http://schemas.microsoft.com/office/drawing/2014/main" id="{F85CA467-E0FD-4FD9-8F69-6F1865732EE1}"/>
                          </a:ext>
                        </a:extLst>
                      </p:cNvPr>
                      <p:cNvPicPr/>
                      <p:nvPr/>
                    </p:nvPicPr>
                    <p:blipFill>
                      <a:blip r:embed="rId17"/>
                      <a:stretch>
                        <a:fillRect/>
                      </a:stretch>
                    </p:blipFill>
                    <p:spPr>
                      <a:xfrm>
                        <a:off x="473071" y="3603378"/>
                        <a:ext cx="2992438" cy="615950"/>
                      </a:xfrm>
                      <a:prstGeom prst="rect">
                        <a:avLst/>
                      </a:prstGeom>
                    </p:spPr>
                  </p:pic>
                </p:oleObj>
              </mc:Fallback>
            </mc:AlternateContent>
          </a:graphicData>
        </a:graphic>
      </p:graphicFrame>
      <p:graphicFrame>
        <p:nvGraphicFramePr>
          <p:cNvPr id="55" name="对象 54">
            <a:extLst>
              <a:ext uri="{FF2B5EF4-FFF2-40B4-BE49-F238E27FC236}">
                <a16:creationId xmlns:a16="http://schemas.microsoft.com/office/drawing/2014/main" id="{9795EA10-DBD0-4B9C-865F-10D159C965E8}"/>
              </a:ext>
            </a:extLst>
          </p:cNvPr>
          <p:cNvGraphicFramePr>
            <a:graphicFrameLocks noChangeAspect="1"/>
          </p:cNvGraphicFramePr>
          <p:nvPr>
            <p:extLst>
              <p:ext uri="{D42A27DB-BD31-4B8C-83A1-F6EECF244321}">
                <p14:modId xmlns:p14="http://schemas.microsoft.com/office/powerpoint/2010/main" val="127449792"/>
              </p:ext>
            </p:extLst>
          </p:nvPr>
        </p:nvGraphicFramePr>
        <p:xfrm>
          <a:off x="426749" y="4312002"/>
          <a:ext cx="4445001" cy="1187450"/>
        </p:xfrm>
        <a:graphic>
          <a:graphicData uri="http://schemas.openxmlformats.org/presentationml/2006/ole">
            <mc:AlternateContent xmlns:mc="http://schemas.openxmlformats.org/markup-compatibility/2006">
              <mc:Choice xmlns:v="urn:schemas-microsoft-com:vml" Requires="v">
                <p:oleObj name="Equation" r:id="rId18" imgW="1282680" imgH="342720" progId="Equation.DSMT4">
                  <p:embed/>
                </p:oleObj>
              </mc:Choice>
              <mc:Fallback>
                <p:oleObj name="Equation" r:id="rId18" imgW="1282680" imgH="342720" progId="Equation.DSMT4">
                  <p:embed/>
                  <p:pic>
                    <p:nvPicPr>
                      <p:cNvPr id="51" name="对象 50">
                        <a:extLst>
                          <a:ext uri="{FF2B5EF4-FFF2-40B4-BE49-F238E27FC236}">
                            <a16:creationId xmlns:a16="http://schemas.microsoft.com/office/drawing/2014/main" id="{F85CA467-E0FD-4FD9-8F69-6F1865732EE1}"/>
                          </a:ext>
                        </a:extLst>
                      </p:cNvPr>
                      <p:cNvPicPr/>
                      <p:nvPr/>
                    </p:nvPicPr>
                    <p:blipFill>
                      <a:blip r:embed="rId19"/>
                      <a:stretch>
                        <a:fillRect/>
                      </a:stretch>
                    </p:blipFill>
                    <p:spPr>
                      <a:xfrm>
                        <a:off x="426749" y="4312002"/>
                        <a:ext cx="4445001" cy="1187450"/>
                      </a:xfrm>
                      <a:prstGeom prst="rect">
                        <a:avLst/>
                      </a:prstGeom>
                    </p:spPr>
                  </p:pic>
                </p:oleObj>
              </mc:Fallback>
            </mc:AlternateContent>
          </a:graphicData>
        </a:graphic>
      </p:graphicFrame>
      <p:cxnSp>
        <p:nvCxnSpPr>
          <p:cNvPr id="56" name="直接连接符 55">
            <a:extLst>
              <a:ext uri="{FF2B5EF4-FFF2-40B4-BE49-F238E27FC236}">
                <a16:creationId xmlns:a16="http://schemas.microsoft.com/office/drawing/2014/main" id="{F50C6A0E-94DD-41CC-97CB-E20BC21546AD}"/>
              </a:ext>
            </a:extLst>
          </p:cNvPr>
          <p:cNvCxnSpPr>
            <a:cxnSpLocks/>
          </p:cNvCxnSpPr>
          <p:nvPr/>
        </p:nvCxnSpPr>
        <p:spPr bwMode="auto">
          <a:xfrm flipH="1">
            <a:off x="6499054" y="2780928"/>
            <a:ext cx="2183004" cy="2399"/>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直接连接符 58">
            <a:extLst>
              <a:ext uri="{FF2B5EF4-FFF2-40B4-BE49-F238E27FC236}">
                <a16:creationId xmlns:a16="http://schemas.microsoft.com/office/drawing/2014/main" id="{FA588C0D-9A0B-46F4-A7D3-6B086E57FF85}"/>
              </a:ext>
            </a:extLst>
          </p:cNvPr>
          <p:cNvCxnSpPr>
            <a:cxnSpLocks/>
          </p:cNvCxnSpPr>
          <p:nvPr/>
        </p:nvCxnSpPr>
        <p:spPr bwMode="auto">
          <a:xfrm flipH="1">
            <a:off x="7590556" y="2492896"/>
            <a:ext cx="1091502"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63" name="箭头: 右 62">
            <a:extLst>
              <a:ext uri="{FF2B5EF4-FFF2-40B4-BE49-F238E27FC236}">
                <a16:creationId xmlns:a16="http://schemas.microsoft.com/office/drawing/2014/main" id="{35FF1516-97BD-498D-904A-C4CA571A24E8}"/>
              </a:ext>
            </a:extLst>
          </p:cNvPr>
          <p:cNvSpPr/>
          <p:nvPr/>
        </p:nvSpPr>
        <p:spPr bwMode="auto">
          <a:xfrm>
            <a:off x="4876782" y="4704043"/>
            <a:ext cx="645658" cy="30913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aphicFrame>
        <p:nvGraphicFramePr>
          <p:cNvPr id="64" name="对象 63">
            <a:extLst>
              <a:ext uri="{FF2B5EF4-FFF2-40B4-BE49-F238E27FC236}">
                <a16:creationId xmlns:a16="http://schemas.microsoft.com/office/drawing/2014/main" id="{5166C393-545F-45A9-B5BF-9CA4429EC182}"/>
              </a:ext>
            </a:extLst>
          </p:cNvPr>
          <p:cNvGraphicFramePr>
            <a:graphicFrameLocks noChangeAspect="1"/>
          </p:cNvGraphicFramePr>
          <p:nvPr>
            <p:extLst>
              <p:ext uri="{D42A27DB-BD31-4B8C-83A1-F6EECF244321}">
                <p14:modId xmlns:p14="http://schemas.microsoft.com/office/powerpoint/2010/main" val="2154998369"/>
              </p:ext>
            </p:extLst>
          </p:nvPr>
        </p:nvGraphicFramePr>
        <p:xfrm>
          <a:off x="5597649" y="4577184"/>
          <a:ext cx="4179887" cy="615950"/>
        </p:xfrm>
        <a:graphic>
          <a:graphicData uri="http://schemas.openxmlformats.org/presentationml/2006/ole">
            <mc:AlternateContent xmlns:mc="http://schemas.openxmlformats.org/markup-compatibility/2006">
              <mc:Choice xmlns:v="urn:schemas-microsoft-com:vml" Requires="v">
                <p:oleObj name="Equation" r:id="rId20" imgW="1206360" imgH="177480" progId="Equation.DSMT4">
                  <p:embed/>
                </p:oleObj>
              </mc:Choice>
              <mc:Fallback>
                <p:oleObj name="Equation" r:id="rId20" imgW="1206360" imgH="177480" progId="Equation.DSMT4">
                  <p:embed/>
                  <p:pic>
                    <p:nvPicPr>
                      <p:cNvPr id="54" name="对象 53">
                        <a:extLst>
                          <a:ext uri="{FF2B5EF4-FFF2-40B4-BE49-F238E27FC236}">
                            <a16:creationId xmlns:a16="http://schemas.microsoft.com/office/drawing/2014/main" id="{4E61D9C5-5680-4588-A78D-7D128E63065D}"/>
                          </a:ext>
                        </a:extLst>
                      </p:cNvPr>
                      <p:cNvPicPr/>
                      <p:nvPr/>
                    </p:nvPicPr>
                    <p:blipFill>
                      <a:blip r:embed="rId21"/>
                      <a:stretch>
                        <a:fillRect/>
                      </a:stretch>
                    </p:blipFill>
                    <p:spPr>
                      <a:xfrm>
                        <a:off x="5597649" y="4577184"/>
                        <a:ext cx="4179887" cy="615950"/>
                      </a:xfrm>
                      <a:prstGeom prst="rect">
                        <a:avLst/>
                      </a:prstGeom>
                    </p:spPr>
                  </p:pic>
                </p:oleObj>
              </mc:Fallback>
            </mc:AlternateContent>
          </a:graphicData>
        </a:graphic>
      </p:graphicFrame>
      <p:graphicFrame>
        <p:nvGraphicFramePr>
          <p:cNvPr id="65" name="对象 64">
            <a:extLst>
              <a:ext uri="{FF2B5EF4-FFF2-40B4-BE49-F238E27FC236}">
                <a16:creationId xmlns:a16="http://schemas.microsoft.com/office/drawing/2014/main" id="{BC882FAC-BEE2-47E2-8E4E-CC8D2E070017}"/>
              </a:ext>
            </a:extLst>
          </p:cNvPr>
          <p:cNvGraphicFramePr>
            <a:graphicFrameLocks noChangeAspect="1"/>
          </p:cNvGraphicFramePr>
          <p:nvPr>
            <p:extLst>
              <p:ext uri="{D42A27DB-BD31-4B8C-83A1-F6EECF244321}">
                <p14:modId xmlns:p14="http://schemas.microsoft.com/office/powerpoint/2010/main" val="909228557"/>
              </p:ext>
            </p:extLst>
          </p:nvPr>
        </p:nvGraphicFramePr>
        <p:xfrm>
          <a:off x="272480" y="5730219"/>
          <a:ext cx="1584176" cy="572064"/>
        </p:xfrm>
        <a:graphic>
          <a:graphicData uri="http://schemas.openxmlformats.org/presentationml/2006/ole">
            <mc:AlternateContent xmlns:mc="http://schemas.openxmlformats.org/markup-compatibility/2006">
              <mc:Choice xmlns:v="urn:schemas-microsoft-com:vml" Requires="v">
                <p:oleObj name="Equation" r:id="rId22" imgW="457200" imgH="164880" progId="Equation.DSMT4">
                  <p:embed/>
                </p:oleObj>
              </mc:Choice>
              <mc:Fallback>
                <p:oleObj name="Equation" r:id="rId22" imgW="457200" imgH="164880" progId="Equation.DSMT4">
                  <p:embed/>
                  <p:pic>
                    <p:nvPicPr>
                      <p:cNvPr id="50" name="对象 49">
                        <a:extLst>
                          <a:ext uri="{FF2B5EF4-FFF2-40B4-BE49-F238E27FC236}">
                            <a16:creationId xmlns:a16="http://schemas.microsoft.com/office/drawing/2014/main" id="{0AB442B5-53D9-40D8-A79B-E8A559C34D69}"/>
                          </a:ext>
                        </a:extLst>
                      </p:cNvPr>
                      <p:cNvPicPr/>
                      <p:nvPr/>
                    </p:nvPicPr>
                    <p:blipFill>
                      <a:blip r:embed="rId11"/>
                      <a:stretch>
                        <a:fillRect/>
                      </a:stretch>
                    </p:blipFill>
                    <p:spPr>
                      <a:xfrm>
                        <a:off x="272480" y="5730219"/>
                        <a:ext cx="1584176" cy="572064"/>
                      </a:xfrm>
                      <a:prstGeom prst="rect">
                        <a:avLst/>
                      </a:prstGeom>
                    </p:spPr>
                  </p:pic>
                </p:oleObj>
              </mc:Fallback>
            </mc:AlternateContent>
          </a:graphicData>
        </a:graphic>
      </p:graphicFrame>
      <p:sp>
        <p:nvSpPr>
          <p:cNvPr id="66" name="箭头: 右 65">
            <a:extLst>
              <a:ext uri="{FF2B5EF4-FFF2-40B4-BE49-F238E27FC236}">
                <a16:creationId xmlns:a16="http://schemas.microsoft.com/office/drawing/2014/main" id="{52458EC1-EA18-439A-93D3-1EDB047C97F2}"/>
              </a:ext>
            </a:extLst>
          </p:cNvPr>
          <p:cNvSpPr/>
          <p:nvPr/>
        </p:nvSpPr>
        <p:spPr bwMode="auto">
          <a:xfrm>
            <a:off x="1915633" y="5861684"/>
            <a:ext cx="645658" cy="30913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aphicFrame>
        <p:nvGraphicFramePr>
          <p:cNvPr id="67" name="对象 66">
            <a:extLst>
              <a:ext uri="{FF2B5EF4-FFF2-40B4-BE49-F238E27FC236}">
                <a16:creationId xmlns:a16="http://schemas.microsoft.com/office/drawing/2014/main" id="{C5F7BC35-3B4F-46B1-8D0A-A98AB8729674}"/>
              </a:ext>
            </a:extLst>
          </p:cNvPr>
          <p:cNvGraphicFramePr>
            <a:graphicFrameLocks noChangeAspect="1"/>
          </p:cNvGraphicFramePr>
          <p:nvPr>
            <p:extLst>
              <p:ext uri="{D42A27DB-BD31-4B8C-83A1-F6EECF244321}">
                <p14:modId xmlns:p14="http://schemas.microsoft.com/office/powerpoint/2010/main" val="3399087377"/>
              </p:ext>
            </p:extLst>
          </p:nvPr>
        </p:nvGraphicFramePr>
        <p:xfrm>
          <a:off x="2770785" y="5708801"/>
          <a:ext cx="6731000" cy="615950"/>
        </p:xfrm>
        <a:graphic>
          <a:graphicData uri="http://schemas.openxmlformats.org/presentationml/2006/ole">
            <mc:AlternateContent xmlns:mc="http://schemas.openxmlformats.org/markup-compatibility/2006">
              <mc:Choice xmlns:v="urn:schemas-microsoft-com:vml" Requires="v">
                <p:oleObj name="Equation" r:id="rId23" imgW="1942920" imgH="177480" progId="Equation.DSMT4">
                  <p:embed/>
                </p:oleObj>
              </mc:Choice>
              <mc:Fallback>
                <p:oleObj name="Equation" r:id="rId23" imgW="1942920" imgH="177480" progId="Equation.DSMT4">
                  <p:embed/>
                  <p:pic>
                    <p:nvPicPr>
                      <p:cNvPr id="64" name="对象 63">
                        <a:extLst>
                          <a:ext uri="{FF2B5EF4-FFF2-40B4-BE49-F238E27FC236}">
                            <a16:creationId xmlns:a16="http://schemas.microsoft.com/office/drawing/2014/main" id="{5166C393-545F-45A9-B5BF-9CA4429EC182}"/>
                          </a:ext>
                        </a:extLst>
                      </p:cNvPr>
                      <p:cNvPicPr/>
                      <p:nvPr/>
                    </p:nvPicPr>
                    <p:blipFill>
                      <a:blip r:embed="rId24"/>
                      <a:stretch>
                        <a:fillRect/>
                      </a:stretch>
                    </p:blipFill>
                    <p:spPr>
                      <a:xfrm>
                        <a:off x="2770785" y="5708801"/>
                        <a:ext cx="6731000" cy="615950"/>
                      </a:xfrm>
                      <a:prstGeom prst="rect">
                        <a:avLst/>
                      </a:prstGeom>
                      <a:ln w="28575">
                        <a:solidFill>
                          <a:srgbClr val="C00000"/>
                        </a:solidFill>
                      </a:ln>
                    </p:spPr>
                  </p:pic>
                </p:oleObj>
              </mc:Fallback>
            </mc:AlternateContent>
          </a:graphicData>
        </a:graphic>
      </p:graphicFrame>
    </p:spTree>
    <p:extLst>
      <p:ext uri="{BB962C8B-B14F-4D97-AF65-F5344CB8AC3E}">
        <p14:creationId xmlns:p14="http://schemas.microsoft.com/office/powerpoint/2010/main" val="1416751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par>
                                <p:cTn id="29" presetID="10"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500"/>
                                        <p:tgtEl>
                                          <p:spTgt spid="29"/>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fade">
                                      <p:cBhvr>
                                        <p:cTn id="41" dur="500"/>
                                        <p:tgtEl>
                                          <p:spTgt spid="3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500"/>
                                        <p:tgtEl>
                                          <p:spTgt spid="40"/>
                                        </p:tgtEl>
                                      </p:cBhvr>
                                    </p:animEffect>
                                  </p:childTnLst>
                                </p:cTn>
                              </p:par>
                            </p:childTnLst>
                          </p:cTn>
                        </p:par>
                        <p:par>
                          <p:cTn id="45" fill="hold">
                            <p:stCondLst>
                              <p:cond delay="1000"/>
                            </p:stCondLst>
                            <p:childTnLst>
                              <p:par>
                                <p:cTn id="46" presetID="10" presetClass="entr" presetSubtype="0" fill="hold" grpId="0" nodeType="after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fade">
                                      <p:cBhvr>
                                        <p:cTn id="48" dur="500"/>
                                        <p:tgtEl>
                                          <p:spTgt spid="41"/>
                                        </p:tgtEl>
                                      </p:cBhvr>
                                    </p:animEffect>
                                  </p:childTnLst>
                                </p:cTn>
                              </p:par>
                              <p:par>
                                <p:cTn id="49" presetID="10" presetClass="entr" presetSubtype="0" fill="hold" nodeType="withEffect">
                                  <p:stCondLst>
                                    <p:cond delay="0"/>
                                  </p:stCondLst>
                                  <p:childTnLst>
                                    <p:set>
                                      <p:cBhvr>
                                        <p:cTn id="50" dur="1" fill="hold">
                                          <p:stCondLst>
                                            <p:cond delay="0"/>
                                          </p:stCondLst>
                                        </p:cTn>
                                        <p:tgtEl>
                                          <p:spTgt spid="42"/>
                                        </p:tgtEl>
                                        <p:attrNameLst>
                                          <p:attrName>style.visibility</p:attrName>
                                        </p:attrNameLst>
                                      </p:cBhvr>
                                      <p:to>
                                        <p:strVal val="visible"/>
                                      </p:to>
                                    </p:set>
                                    <p:animEffect transition="in" filter="fade">
                                      <p:cBhvr>
                                        <p:cTn id="51" dur="500"/>
                                        <p:tgtEl>
                                          <p:spTgt spid="4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7"/>
                                        </p:tgtEl>
                                        <p:attrNameLst>
                                          <p:attrName>style.visibility</p:attrName>
                                        </p:attrNameLst>
                                      </p:cBhvr>
                                      <p:to>
                                        <p:strVal val="visible"/>
                                      </p:to>
                                    </p:set>
                                    <p:animEffect transition="in" filter="fade">
                                      <p:cBhvr>
                                        <p:cTn id="54" dur="500"/>
                                        <p:tgtEl>
                                          <p:spTgt spid="4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8"/>
                                        </p:tgtEl>
                                        <p:attrNameLst>
                                          <p:attrName>style.visibility</p:attrName>
                                        </p:attrNameLst>
                                      </p:cBhvr>
                                      <p:to>
                                        <p:strVal val="visible"/>
                                      </p:to>
                                    </p:set>
                                    <p:animEffect transition="in" filter="fade">
                                      <p:cBhvr>
                                        <p:cTn id="57" dur="500"/>
                                        <p:tgtEl>
                                          <p:spTgt spid="48"/>
                                        </p:tgtEl>
                                      </p:cBhvr>
                                    </p:animEffect>
                                  </p:childTnLst>
                                </p:cTn>
                              </p:par>
                              <p:par>
                                <p:cTn id="58" presetID="10" presetClass="entr" presetSubtype="0" fill="hold" nodeType="withEffect">
                                  <p:stCondLst>
                                    <p:cond delay="0"/>
                                  </p:stCondLst>
                                  <p:childTnLst>
                                    <p:set>
                                      <p:cBhvr>
                                        <p:cTn id="59" dur="1" fill="hold">
                                          <p:stCondLst>
                                            <p:cond delay="0"/>
                                          </p:stCondLst>
                                        </p:cTn>
                                        <p:tgtEl>
                                          <p:spTgt spid="49"/>
                                        </p:tgtEl>
                                        <p:attrNameLst>
                                          <p:attrName>style.visibility</p:attrName>
                                        </p:attrNameLst>
                                      </p:cBhvr>
                                      <p:to>
                                        <p:strVal val="visible"/>
                                      </p:to>
                                    </p:set>
                                    <p:animEffect transition="in" filter="fade">
                                      <p:cBhvr>
                                        <p:cTn id="60" dur="500"/>
                                        <p:tgtEl>
                                          <p:spTgt spid="49"/>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nodeType="clickEffect">
                                  <p:stCondLst>
                                    <p:cond delay="0"/>
                                  </p:stCondLst>
                                  <p:childTnLst>
                                    <p:set>
                                      <p:cBhvr>
                                        <p:cTn id="64" dur="1" fill="hold">
                                          <p:stCondLst>
                                            <p:cond delay="0"/>
                                          </p:stCondLst>
                                        </p:cTn>
                                        <p:tgtEl>
                                          <p:spTgt spid="50"/>
                                        </p:tgtEl>
                                        <p:attrNameLst>
                                          <p:attrName>style.visibility</p:attrName>
                                        </p:attrNameLst>
                                      </p:cBhvr>
                                      <p:to>
                                        <p:strVal val="visible"/>
                                      </p:to>
                                    </p:set>
                                    <p:animEffect transition="in" filter="barn(inVertical)">
                                      <p:cBhvr>
                                        <p:cTn id="65" dur="500"/>
                                        <p:tgtEl>
                                          <p:spTgt spid="50"/>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nodeType="clickEffect">
                                  <p:stCondLst>
                                    <p:cond delay="0"/>
                                  </p:stCondLst>
                                  <p:childTnLst>
                                    <p:set>
                                      <p:cBhvr>
                                        <p:cTn id="69" dur="1" fill="hold">
                                          <p:stCondLst>
                                            <p:cond delay="0"/>
                                          </p:stCondLst>
                                        </p:cTn>
                                        <p:tgtEl>
                                          <p:spTgt spid="51"/>
                                        </p:tgtEl>
                                        <p:attrNameLst>
                                          <p:attrName>style.visibility</p:attrName>
                                        </p:attrNameLst>
                                      </p:cBhvr>
                                      <p:to>
                                        <p:strVal val="visible"/>
                                      </p:to>
                                    </p:set>
                                    <p:animEffect transition="in" filter="barn(inVertical)">
                                      <p:cBhvr>
                                        <p:cTn id="70" dur="500"/>
                                        <p:tgtEl>
                                          <p:spTgt spid="51"/>
                                        </p:tgtEl>
                                      </p:cBhvr>
                                    </p:animEffect>
                                  </p:childTnLst>
                                </p:cTn>
                              </p:par>
                            </p:childTnLst>
                          </p:cTn>
                        </p:par>
                        <p:par>
                          <p:cTn id="71" fill="hold">
                            <p:stCondLst>
                              <p:cond delay="500"/>
                            </p:stCondLst>
                            <p:childTnLst>
                              <p:par>
                                <p:cTn id="72" presetID="16" presetClass="entr" presetSubtype="21" fill="hold" grpId="0" nodeType="afterEffect">
                                  <p:stCondLst>
                                    <p:cond delay="0"/>
                                  </p:stCondLst>
                                  <p:childTnLst>
                                    <p:set>
                                      <p:cBhvr>
                                        <p:cTn id="73" dur="1" fill="hold">
                                          <p:stCondLst>
                                            <p:cond delay="0"/>
                                          </p:stCondLst>
                                        </p:cTn>
                                        <p:tgtEl>
                                          <p:spTgt spid="52"/>
                                        </p:tgtEl>
                                        <p:attrNameLst>
                                          <p:attrName>style.visibility</p:attrName>
                                        </p:attrNameLst>
                                      </p:cBhvr>
                                      <p:to>
                                        <p:strVal val="visible"/>
                                      </p:to>
                                    </p:set>
                                    <p:animEffect transition="in" filter="barn(inVertical)">
                                      <p:cBhvr>
                                        <p:cTn id="74" dur="500"/>
                                        <p:tgtEl>
                                          <p:spTgt spid="52"/>
                                        </p:tgtEl>
                                      </p:cBhvr>
                                    </p:animEffect>
                                  </p:childTnLst>
                                </p:cTn>
                              </p:par>
                            </p:childTnLst>
                          </p:cTn>
                        </p:par>
                        <p:par>
                          <p:cTn id="75" fill="hold">
                            <p:stCondLst>
                              <p:cond delay="1000"/>
                            </p:stCondLst>
                            <p:childTnLst>
                              <p:par>
                                <p:cTn id="76" presetID="16" presetClass="entr" presetSubtype="21" fill="hold" nodeType="afterEffect">
                                  <p:stCondLst>
                                    <p:cond delay="0"/>
                                  </p:stCondLst>
                                  <p:childTnLst>
                                    <p:set>
                                      <p:cBhvr>
                                        <p:cTn id="77" dur="1" fill="hold">
                                          <p:stCondLst>
                                            <p:cond delay="0"/>
                                          </p:stCondLst>
                                        </p:cTn>
                                        <p:tgtEl>
                                          <p:spTgt spid="53"/>
                                        </p:tgtEl>
                                        <p:attrNameLst>
                                          <p:attrName>style.visibility</p:attrName>
                                        </p:attrNameLst>
                                      </p:cBhvr>
                                      <p:to>
                                        <p:strVal val="visible"/>
                                      </p:to>
                                    </p:set>
                                    <p:animEffect transition="in" filter="barn(inVertical)">
                                      <p:cBhvr>
                                        <p:cTn id="78" dur="500"/>
                                        <p:tgtEl>
                                          <p:spTgt spid="53"/>
                                        </p:tgtEl>
                                      </p:cBhvr>
                                    </p:animEffect>
                                  </p:childTnLst>
                                </p:cTn>
                              </p:par>
                            </p:childTnLst>
                          </p:cTn>
                        </p:par>
                      </p:childTnLst>
                    </p:cTn>
                  </p:par>
                  <p:par>
                    <p:cTn id="79" fill="hold">
                      <p:stCondLst>
                        <p:cond delay="indefinite"/>
                      </p:stCondLst>
                      <p:childTnLst>
                        <p:par>
                          <p:cTn id="80" fill="hold">
                            <p:stCondLst>
                              <p:cond delay="0"/>
                            </p:stCondLst>
                            <p:childTnLst>
                              <p:par>
                                <p:cTn id="81" presetID="16" presetClass="entr" presetSubtype="21" fill="hold" nodeType="clickEffect">
                                  <p:stCondLst>
                                    <p:cond delay="0"/>
                                  </p:stCondLst>
                                  <p:childTnLst>
                                    <p:set>
                                      <p:cBhvr>
                                        <p:cTn id="82" dur="1" fill="hold">
                                          <p:stCondLst>
                                            <p:cond delay="0"/>
                                          </p:stCondLst>
                                        </p:cTn>
                                        <p:tgtEl>
                                          <p:spTgt spid="54"/>
                                        </p:tgtEl>
                                        <p:attrNameLst>
                                          <p:attrName>style.visibility</p:attrName>
                                        </p:attrNameLst>
                                      </p:cBhvr>
                                      <p:to>
                                        <p:strVal val="visible"/>
                                      </p:to>
                                    </p:set>
                                    <p:animEffect transition="in" filter="barn(inVertical)">
                                      <p:cBhvr>
                                        <p:cTn id="83" dur="500"/>
                                        <p:tgtEl>
                                          <p:spTgt spid="54"/>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56"/>
                                        </p:tgtEl>
                                        <p:attrNameLst>
                                          <p:attrName>style.visibility</p:attrName>
                                        </p:attrNameLst>
                                      </p:cBhvr>
                                      <p:to>
                                        <p:strVal val="visible"/>
                                      </p:to>
                                    </p:set>
                                    <p:animEffect transition="in" filter="fade">
                                      <p:cBhvr>
                                        <p:cTn id="88" dur="500"/>
                                        <p:tgtEl>
                                          <p:spTgt spid="56"/>
                                        </p:tgtEl>
                                      </p:cBhvr>
                                    </p:animEffect>
                                  </p:childTnLst>
                                </p:cTn>
                              </p:par>
                              <p:par>
                                <p:cTn id="89" presetID="10" presetClass="entr" presetSubtype="0" fill="hold" nodeType="withEffect">
                                  <p:stCondLst>
                                    <p:cond delay="0"/>
                                  </p:stCondLst>
                                  <p:childTnLst>
                                    <p:set>
                                      <p:cBhvr>
                                        <p:cTn id="90" dur="1" fill="hold">
                                          <p:stCondLst>
                                            <p:cond delay="0"/>
                                          </p:stCondLst>
                                        </p:cTn>
                                        <p:tgtEl>
                                          <p:spTgt spid="59"/>
                                        </p:tgtEl>
                                        <p:attrNameLst>
                                          <p:attrName>style.visibility</p:attrName>
                                        </p:attrNameLst>
                                      </p:cBhvr>
                                      <p:to>
                                        <p:strVal val="visible"/>
                                      </p:to>
                                    </p:set>
                                    <p:animEffect transition="in" filter="fade">
                                      <p:cBhvr>
                                        <p:cTn id="91" dur="500"/>
                                        <p:tgtEl>
                                          <p:spTgt spid="59"/>
                                        </p:tgtEl>
                                      </p:cBhvr>
                                    </p:animEffect>
                                  </p:childTnLst>
                                </p:cTn>
                              </p:par>
                            </p:childTnLst>
                          </p:cTn>
                        </p:par>
                        <p:par>
                          <p:cTn id="92" fill="hold">
                            <p:stCondLst>
                              <p:cond delay="500"/>
                            </p:stCondLst>
                            <p:childTnLst>
                              <p:par>
                                <p:cTn id="93" presetID="16" presetClass="entr" presetSubtype="21" fill="hold" nodeType="afterEffect">
                                  <p:stCondLst>
                                    <p:cond delay="0"/>
                                  </p:stCondLst>
                                  <p:childTnLst>
                                    <p:set>
                                      <p:cBhvr>
                                        <p:cTn id="94" dur="1" fill="hold">
                                          <p:stCondLst>
                                            <p:cond delay="0"/>
                                          </p:stCondLst>
                                        </p:cTn>
                                        <p:tgtEl>
                                          <p:spTgt spid="55"/>
                                        </p:tgtEl>
                                        <p:attrNameLst>
                                          <p:attrName>style.visibility</p:attrName>
                                        </p:attrNameLst>
                                      </p:cBhvr>
                                      <p:to>
                                        <p:strVal val="visible"/>
                                      </p:to>
                                    </p:set>
                                    <p:animEffect transition="in" filter="barn(inVertical)">
                                      <p:cBhvr>
                                        <p:cTn id="95" dur="500"/>
                                        <p:tgtEl>
                                          <p:spTgt spid="55"/>
                                        </p:tgtEl>
                                      </p:cBhvr>
                                    </p:animEffect>
                                  </p:childTnLst>
                                </p:cTn>
                              </p:par>
                            </p:childTnLst>
                          </p:cTn>
                        </p:par>
                      </p:childTnLst>
                    </p:cTn>
                  </p:par>
                  <p:par>
                    <p:cTn id="96" fill="hold">
                      <p:stCondLst>
                        <p:cond delay="indefinite"/>
                      </p:stCondLst>
                      <p:childTnLst>
                        <p:par>
                          <p:cTn id="97" fill="hold">
                            <p:stCondLst>
                              <p:cond delay="0"/>
                            </p:stCondLst>
                            <p:childTnLst>
                              <p:par>
                                <p:cTn id="98" presetID="16" presetClass="entr" presetSubtype="21" fill="hold" grpId="0" nodeType="clickEffect">
                                  <p:stCondLst>
                                    <p:cond delay="0"/>
                                  </p:stCondLst>
                                  <p:childTnLst>
                                    <p:set>
                                      <p:cBhvr>
                                        <p:cTn id="99" dur="1" fill="hold">
                                          <p:stCondLst>
                                            <p:cond delay="0"/>
                                          </p:stCondLst>
                                        </p:cTn>
                                        <p:tgtEl>
                                          <p:spTgt spid="63"/>
                                        </p:tgtEl>
                                        <p:attrNameLst>
                                          <p:attrName>style.visibility</p:attrName>
                                        </p:attrNameLst>
                                      </p:cBhvr>
                                      <p:to>
                                        <p:strVal val="visible"/>
                                      </p:to>
                                    </p:set>
                                    <p:animEffect transition="in" filter="barn(inVertical)">
                                      <p:cBhvr>
                                        <p:cTn id="100" dur="500"/>
                                        <p:tgtEl>
                                          <p:spTgt spid="63"/>
                                        </p:tgtEl>
                                      </p:cBhvr>
                                    </p:animEffect>
                                  </p:childTnLst>
                                </p:cTn>
                              </p:par>
                            </p:childTnLst>
                          </p:cTn>
                        </p:par>
                        <p:par>
                          <p:cTn id="101" fill="hold">
                            <p:stCondLst>
                              <p:cond delay="500"/>
                            </p:stCondLst>
                            <p:childTnLst>
                              <p:par>
                                <p:cTn id="102" presetID="16" presetClass="entr" presetSubtype="21" fill="hold" nodeType="afterEffect">
                                  <p:stCondLst>
                                    <p:cond delay="0"/>
                                  </p:stCondLst>
                                  <p:childTnLst>
                                    <p:set>
                                      <p:cBhvr>
                                        <p:cTn id="103" dur="1" fill="hold">
                                          <p:stCondLst>
                                            <p:cond delay="0"/>
                                          </p:stCondLst>
                                        </p:cTn>
                                        <p:tgtEl>
                                          <p:spTgt spid="64"/>
                                        </p:tgtEl>
                                        <p:attrNameLst>
                                          <p:attrName>style.visibility</p:attrName>
                                        </p:attrNameLst>
                                      </p:cBhvr>
                                      <p:to>
                                        <p:strVal val="visible"/>
                                      </p:to>
                                    </p:set>
                                    <p:animEffect transition="in" filter="barn(inVertical)">
                                      <p:cBhvr>
                                        <p:cTn id="104" dur="500"/>
                                        <p:tgtEl>
                                          <p:spTgt spid="64"/>
                                        </p:tgtEl>
                                      </p:cBhvr>
                                    </p:animEffect>
                                  </p:childTnLst>
                                </p:cTn>
                              </p:par>
                            </p:childTnLst>
                          </p:cTn>
                        </p:par>
                      </p:childTnLst>
                    </p:cTn>
                  </p:par>
                  <p:par>
                    <p:cTn id="105" fill="hold">
                      <p:stCondLst>
                        <p:cond delay="indefinite"/>
                      </p:stCondLst>
                      <p:childTnLst>
                        <p:par>
                          <p:cTn id="106" fill="hold">
                            <p:stCondLst>
                              <p:cond delay="0"/>
                            </p:stCondLst>
                            <p:childTnLst>
                              <p:par>
                                <p:cTn id="107" presetID="16" presetClass="entr" presetSubtype="21" fill="hold" nodeType="clickEffect">
                                  <p:stCondLst>
                                    <p:cond delay="0"/>
                                  </p:stCondLst>
                                  <p:childTnLst>
                                    <p:set>
                                      <p:cBhvr>
                                        <p:cTn id="108" dur="1" fill="hold">
                                          <p:stCondLst>
                                            <p:cond delay="0"/>
                                          </p:stCondLst>
                                        </p:cTn>
                                        <p:tgtEl>
                                          <p:spTgt spid="65"/>
                                        </p:tgtEl>
                                        <p:attrNameLst>
                                          <p:attrName>style.visibility</p:attrName>
                                        </p:attrNameLst>
                                      </p:cBhvr>
                                      <p:to>
                                        <p:strVal val="visible"/>
                                      </p:to>
                                    </p:set>
                                    <p:animEffect transition="in" filter="barn(inVertical)">
                                      <p:cBhvr>
                                        <p:cTn id="109" dur="500"/>
                                        <p:tgtEl>
                                          <p:spTgt spid="65"/>
                                        </p:tgtEl>
                                      </p:cBhvr>
                                    </p:animEffect>
                                  </p:childTnLst>
                                </p:cTn>
                              </p:par>
                            </p:childTnLst>
                          </p:cTn>
                        </p:par>
                        <p:par>
                          <p:cTn id="110" fill="hold">
                            <p:stCondLst>
                              <p:cond delay="500"/>
                            </p:stCondLst>
                            <p:childTnLst>
                              <p:par>
                                <p:cTn id="111" presetID="16" presetClass="entr" presetSubtype="21" fill="hold" grpId="0" nodeType="afterEffect">
                                  <p:stCondLst>
                                    <p:cond delay="0"/>
                                  </p:stCondLst>
                                  <p:childTnLst>
                                    <p:set>
                                      <p:cBhvr>
                                        <p:cTn id="112" dur="1" fill="hold">
                                          <p:stCondLst>
                                            <p:cond delay="0"/>
                                          </p:stCondLst>
                                        </p:cTn>
                                        <p:tgtEl>
                                          <p:spTgt spid="66"/>
                                        </p:tgtEl>
                                        <p:attrNameLst>
                                          <p:attrName>style.visibility</p:attrName>
                                        </p:attrNameLst>
                                      </p:cBhvr>
                                      <p:to>
                                        <p:strVal val="visible"/>
                                      </p:to>
                                    </p:set>
                                    <p:animEffect transition="in" filter="barn(inVertical)">
                                      <p:cBhvr>
                                        <p:cTn id="113" dur="500"/>
                                        <p:tgtEl>
                                          <p:spTgt spid="66"/>
                                        </p:tgtEl>
                                      </p:cBhvr>
                                    </p:animEffect>
                                  </p:childTnLst>
                                </p:cTn>
                              </p:par>
                            </p:childTnLst>
                          </p:cTn>
                        </p:par>
                        <p:par>
                          <p:cTn id="114" fill="hold">
                            <p:stCondLst>
                              <p:cond delay="1000"/>
                            </p:stCondLst>
                            <p:childTnLst>
                              <p:par>
                                <p:cTn id="115" presetID="16" presetClass="entr" presetSubtype="21" fill="hold" nodeType="afterEffect">
                                  <p:stCondLst>
                                    <p:cond delay="0"/>
                                  </p:stCondLst>
                                  <p:childTnLst>
                                    <p:set>
                                      <p:cBhvr>
                                        <p:cTn id="116" dur="1" fill="hold">
                                          <p:stCondLst>
                                            <p:cond delay="0"/>
                                          </p:stCondLst>
                                        </p:cTn>
                                        <p:tgtEl>
                                          <p:spTgt spid="67"/>
                                        </p:tgtEl>
                                        <p:attrNameLst>
                                          <p:attrName>style.visibility</p:attrName>
                                        </p:attrNameLst>
                                      </p:cBhvr>
                                      <p:to>
                                        <p:strVal val="visible"/>
                                      </p:to>
                                    </p:set>
                                    <p:animEffect transition="in" filter="barn(inVertical)">
                                      <p:cBhvr>
                                        <p:cTn id="117"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P spid="21" grpId="0"/>
      <p:bldP spid="22" grpId="0"/>
      <p:bldP spid="37" grpId="0" animBg="1"/>
      <p:bldP spid="40" grpId="0"/>
      <p:bldP spid="41" grpId="0" animBg="1"/>
      <p:bldP spid="47" grpId="0"/>
      <p:bldP spid="48" grpId="0"/>
      <p:bldP spid="52" grpId="0" animBg="1"/>
      <p:bldP spid="63" grpId="0" animBg="1"/>
      <p:bldP spid="6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6E0586-837F-4B51-80C5-27E5BE6FB873}"/>
              </a:ext>
            </a:extLst>
          </p:cNvPr>
          <p:cNvSpPr>
            <a:spLocks noGrp="1"/>
          </p:cNvSpPr>
          <p:nvPr>
            <p:ph type="title"/>
          </p:nvPr>
        </p:nvSpPr>
        <p:spPr/>
        <p:txBody>
          <a:bodyPr/>
          <a:lstStyle/>
          <a:p>
            <a:r>
              <a:rPr lang="en-US" altLang="zh-CN" dirty="0"/>
              <a:t>5. </a:t>
            </a:r>
            <a:r>
              <a:rPr lang="zh-CN" altLang="en-US"/>
              <a:t>优化约束的极值条件</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C2241FE-B1BC-45BE-B32A-EE08B6408376}"/>
                  </a:ext>
                </a:extLst>
              </p:cNvPr>
              <p:cNvSpPr>
                <a:spLocks noGrp="1"/>
              </p:cNvSpPr>
              <p:nvPr>
                <p:ph idx="1"/>
              </p:nvPr>
            </p:nvSpPr>
            <p:spPr/>
            <p:txBody>
              <a:bodyPr/>
              <a:lstStyle/>
              <a:p>
                <a:r>
                  <a:rPr lang="zh-CN" altLang="en-US" dirty="0"/>
                  <a:t>凸函数</a:t>
                </a:r>
                <a:endParaRPr lang="en-US" altLang="zh-CN" dirty="0"/>
              </a:p>
              <a:p>
                <a:pPr lvl="1"/>
                <a:r>
                  <a:rPr lang="zh-CN" altLang="en-US" dirty="0"/>
                  <a:t>一元凸函数</a:t>
                </a:r>
                <a:endParaRPr lang="en-US" altLang="zh-CN" dirty="0"/>
              </a:p>
              <a:p>
                <a:pPr lvl="2"/>
                <a:r>
                  <a:rPr lang="zh-CN" altLang="en-US" dirty="0"/>
                  <a:t>数学定义：对于函数</a:t>
                </a:r>
                <a14:m>
                  <m:oMath xmlns:m="http://schemas.openxmlformats.org/officeDocument/2006/math">
                    <m:r>
                      <a:rPr lang="en-US" altLang="zh-CN" i="1" dirty="0" smtClean="0">
                        <a:latin typeface="Cambria Math" panose="02040503050406030204" pitchFamily="18" charset="0"/>
                      </a:rPr>
                      <m:t>𝑓</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𝑥</m:t>
                    </m:r>
                    <m:r>
                      <a:rPr lang="en-US" altLang="zh-CN" i="1" dirty="0" smtClean="0">
                        <a:latin typeface="Cambria Math" panose="02040503050406030204" pitchFamily="18" charset="0"/>
                      </a:rPr>
                      <m:t>)</m:t>
                    </m:r>
                  </m:oMath>
                </a14:m>
                <a:r>
                  <a:rPr lang="zh-CN" altLang="en-US" dirty="0"/>
                  <a:t>，定义域内的任意两点</a:t>
                </a:r>
                <a14:m>
                  <m:oMath xmlns:m="http://schemas.openxmlformats.org/officeDocument/2006/math">
                    <m:r>
                      <a:rPr lang="en-US" altLang="zh-CN" i="1" dirty="0" smtClean="0">
                        <a:latin typeface="Cambria Math" panose="02040503050406030204" pitchFamily="18" charset="0"/>
                      </a:rPr>
                      <m:t>𝑥</m:t>
                    </m:r>
                    <m:r>
                      <a:rPr lang="en-US" altLang="zh-CN" i="1" baseline="-25000" dirty="0">
                        <a:latin typeface="Cambria Math" panose="02040503050406030204" pitchFamily="18" charset="0"/>
                      </a:rPr>
                      <m:t>1</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𝑥</m:t>
                    </m:r>
                    <m:r>
                      <a:rPr lang="en-US" altLang="zh-CN" i="1" baseline="-25000" dirty="0" smtClean="0">
                        <a:latin typeface="Cambria Math" panose="02040503050406030204" pitchFamily="18" charset="0"/>
                      </a:rPr>
                      <m:t>2</m:t>
                    </m:r>
                  </m:oMath>
                </a14:m>
                <a:r>
                  <a:rPr lang="zh-CN" altLang="en-US" dirty="0"/>
                  <a:t>，给定任意的实数</a:t>
                </a:r>
                <a14:m>
                  <m:oMath xmlns:m="http://schemas.openxmlformats.org/officeDocument/2006/math">
                    <m:r>
                      <a:rPr lang="zh-CN" altLang="en-US" i="1" dirty="0" smtClean="0">
                        <a:latin typeface="Cambria Math" panose="02040503050406030204" pitchFamily="18" charset="0"/>
                      </a:rPr>
                      <m:t>𝝀</m:t>
                    </m:r>
                    <m:r>
                      <a:rPr lang="en-US" altLang="zh-CN" b="1" i="0" dirty="0" smtClean="0">
                        <a:latin typeface="Cambria Math" panose="02040503050406030204" pitchFamily="18" charset="0"/>
                      </a:rPr>
                      <m:t>(</m:t>
                    </m:r>
                    <m:r>
                      <a:rPr lang="en-US" altLang="zh-CN" b="1" i="1" dirty="0" smtClean="0">
                        <a:latin typeface="Cambria Math" panose="02040503050406030204" pitchFamily="18" charset="0"/>
                      </a:rPr>
                      <m:t>𝟎</m:t>
                    </m:r>
                    <m:r>
                      <a:rPr lang="en-US" altLang="zh-CN" b="1" i="1" dirty="0" smtClean="0">
                        <a:latin typeface="Cambria Math" panose="02040503050406030204" pitchFamily="18" charset="0"/>
                        <a:ea typeface="Cambria Math" panose="02040503050406030204" pitchFamily="18" charset="0"/>
                      </a:rPr>
                      <m:t>≤</m:t>
                    </m:r>
                    <m:r>
                      <a:rPr lang="zh-CN" altLang="en-US" b="1" i="1" dirty="0" smtClean="0">
                        <a:latin typeface="Cambria Math" panose="02040503050406030204" pitchFamily="18" charset="0"/>
                        <a:ea typeface="Cambria Math" panose="02040503050406030204" pitchFamily="18" charset="0"/>
                      </a:rPr>
                      <m:t>𝛌</m:t>
                    </m:r>
                    <m:r>
                      <a:rPr lang="zh-CN" altLang="en-US" b="1" i="1" dirty="0" smtClean="0">
                        <a:latin typeface="Cambria Math" panose="02040503050406030204" pitchFamily="18" charset="0"/>
                        <a:ea typeface="Cambria Math" panose="02040503050406030204" pitchFamily="18" charset="0"/>
                      </a:rPr>
                      <m:t>≤</m:t>
                    </m:r>
                    <m:r>
                      <a:rPr lang="en-US" altLang="zh-CN" b="1" i="0" dirty="0" smtClean="0">
                        <a:latin typeface="Cambria Math" panose="02040503050406030204" pitchFamily="18" charset="0"/>
                        <a:ea typeface="Cambria Math" panose="02040503050406030204" pitchFamily="18" charset="0"/>
                      </a:rPr>
                      <m:t>𝟏</m:t>
                    </m:r>
                    <m:r>
                      <a:rPr lang="en-US" altLang="zh-CN" b="1" i="0" dirty="0" smtClean="0">
                        <a:latin typeface="Cambria Math" panose="02040503050406030204" pitchFamily="18" charset="0"/>
                      </a:rPr>
                      <m:t>)</m:t>
                    </m:r>
                  </m:oMath>
                </a14:m>
                <a:r>
                  <a:rPr lang="zh-CN" altLang="en-US" dirty="0"/>
                  <a:t>，如果满足</a:t>
                </a:r>
                <a:endParaRPr lang="en-US" altLang="zh-CN" dirty="0"/>
              </a:p>
              <a:p>
                <a:pPr lvl="2"/>
                <a:endParaRPr lang="en-US" altLang="zh-CN" dirty="0"/>
              </a:p>
              <a:p>
                <a:pPr lvl="2"/>
                <a:endParaRPr lang="en-US" altLang="zh-CN" dirty="0"/>
              </a:p>
              <a:p>
                <a:pPr marL="914400" lvl="2" indent="0">
                  <a:buNone/>
                </a:pPr>
                <a:r>
                  <a:rPr lang="zh-CN" altLang="en-US" dirty="0"/>
                  <a:t>  那么称这个函数</a:t>
                </a:r>
                <a14:m>
                  <m:oMath xmlns:m="http://schemas.openxmlformats.org/officeDocument/2006/math">
                    <m:r>
                      <a:rPr lang="en-US" altLang="zh-CN" i="1" dirty="0" smtClean="0">
                        <a:latin typeface="Cambria Math" panose="02040503050406030204" pitchFamily="18" charset="0"/>
                      </a:rPr>
                      <m:t>𝑓</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𝑥</m:t>
                    </m:r>
                    <m:r>
                      <a:rPr lang="en-US" altLang="zh-CN" i="1" dirty="0" smtClean="0">
                        <a:latin typeface="Cambria Math" panose="02040503050406030204" pitchFamily="18" charset="0"/>
                      </a:rPr>
                      <m:t>)</m:t>
                    </m:r>
                  </m:oMath>
                </a14:m>
                <a:r>
                  <a:rPr lang="zh-CN" altLang="en-US" dirty="0"/>
                  <a:t>为</a:t>
                </a:r>
                <a:r>
                  <a:rPr lang="zh-CN" altLang="en-US" dirty="0">
                    <a:solidFill>
                      <a:srgbClr val="FF0000"/>
                    </a:solidFill>
                  </a:rPr>
                  <a:t>凸函数</a:t>
                </a:r>
              </a:p>
            </p:txBody>
          </p:sp>
        </mc:Choice>
        <mc:Fallback xmlns="">
          <p:sp>
            <p:nvSpPr>
              <p:cNvPr id="3" name="内容占位符 2">
                <a:extLst>
                  <a:ext uri="{FF2B5EF4-FFF2-40B4-BE49-F238E27FC236}">
                    <a16:creationId xmlns:a16="http://schemas.microsoft.com/office/drawing/2014/main" id="{8C2241FE-B1BC-45BE-B32A-EE08B6408376}"/>
                  </a:ext>
                </a:extLst>
              </p:cNvPr>
              <p:cNvSpPr>
                <a:spLocks noGrp="1" noRot="1" noChangeAspect="1" noMove="1" noResize="1" noEditPoints="1" noAdjustHandles="1" noChangeArrowheads="1" noChangeShapeType="1" noTextEdit="1"/>
              </p:cNvSpPr>
              <p:nvPr>
                <p:ph idx="1"/>
              </p:nvPr>
            </p:nvSpPr>
            <p:spPr>
              <a:blipFill>
                <a:blip r:embed="rId3"/>
                <a:stretch>
                  <a:fillRect l="-1066" t="-2083" r="-4893"/>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775DFFD2-4785-472E-B251-C089EF92002D}"/>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51830338-929F-495E-BB4B-E9F732A01113}"/>
              </a:ext>
            </a:extLst>
          </p:cNvPr>
          <p:cNvSpPr>
            <a:spLocks noGrp="1"/>
          </p:cNvSpPr>
          <p:nvPr>
            <p:ph type="sldNum" sz="quarter" idx="12"/>
          </p:nvPr>
        </p:nvSpPr>
        <p:spPr/>
        <p:txBody>
          <a:bodyPr/>
          <a:lstStyle/>
          <a:p>
            <a:fld id="{7AC79822-BC0D-4DE8-A7E5-90A3732A2B82}" type="slidenum">
              <a:rPr lang="zh-CN" altLang="en-US" smtClean="0"/>
              <a:pPr/>
              <a:t>8</a:t>
            </a:fld>
            <a:endParaRPr lang="en-US" altLang="zh-CN" dirty="0"/>
          </a:p>
        </p:txBody>
      </p:sp>
      <p:graphicFrame>
        <p:nvGraphicFramePr>
          <p:cNvPr id="12" name="对象 11">
            <a:extLst>
              <a:ext uri="{FF2B5EF4-FFF2-40B4-BE49-F238E27FC236}">
                <a16:creationId xmlns:a16="http://schemas.microsoft.com/office/drawing/2014/main" id="{2EC7A56A-BF83-4190-BF17-85E2E9308335}"/>
              </a:ext>
            </a:extLst>
          </p:cNvPr>
          <p:cNvGraphicFramePr>
            <a:graphicFrameLocks noChangeAspect="1"/>
          </p:cNvGraphicFramePr>
          <p:nvPr>
            <p:extLst>
              <p:ext uri="{D42A27DB-BD31-4B8C-83A1-F6EECF244321}">
                <p14:modId xmlns:p14="http://schemas.microsoft.com/office/powerpoint/2010/main" val="564743766"/>
              </p:ext>
            </p:extLst>
          </p:nvPr>
        </p:nvGraphicFramePr>
        <p:xfrm>
          <a:off x="1213743" y="3717032"/>
          <a:ext cx="7869445" cy="720080"/>
        </p:xfrm>
        <a:graphic>
          <a:graphicData uri="http://schemas.openxmlformats.org/presentationml/2006/ole">
            <mc:AlternateContent xmlns:mc="http://schemas.openxmlformats.org/markup-compatibility/2006">
              <mc:Choice xmlns:v="urn:schemas-microsoft-com:vml" Requires="v">
                <p:oleObj name="Equation" r:id="rId4" imgW="1942920" imgH="177480" progId="Equation.DSMT4">
                  <p:embed/>
                </p:oleObj>
              </mc:Choice>
              <mc:Fallback>
                <p:oleObj name="Equation" r:id="rId4" imgW="1942920" imgH="177480" progId="Equation.DSMT4">
                  <p:embed/>
                  <p:pic>
                    <p:nvPicPr>
                      <p:cNvPr id="0" name=""/>
                      <p:cNvPicPr/>
                      <p:nvPr/>
                    </p:nvPicPr>
                    <p:blipFill>
                      <a:blip r:embed="rId5"/>
                      <a:stretch>
                        <a:fillRect/>
                      </a:stretch>
                    </p:blipFill>
                    <p:spPr>
                      <a:xfrm>
                        <a:off x="1213743" y="3717032"/>
                        <a:ext cx="7869445" cy="720080"/>
                      </a:xfrm>
                      <a:prstGeom prst="rect">
                        <a:avLst/>
                      </a:prstGeom>
                      <a:ln w="28575">
                        <a:solidFill>
                          <a:srgbClr val="C00000"/>
                        </a:solidFill>
                      </a:ln>
                    </p:spPr>
                  </p:pic>
                </p:oleObj>
              </mc:Fallback>
            </mc:AlternateContent>
          </a:graphicData>
        </a:graphic>
      </p:graphicFrame>
    </p:spTree>
    <p:extLst>
      <p:ext uri="{BB962C8B-B14F-4D97-AF65-F5344CB8AC3E}">
        <p14:creationId xmlns:p14="http://schemas.microsoft.com/office/powerpoint/2010/main" val="44966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arn(inVertical)">
                                      <p:cBhvr>
                                        <p:cTn id="10" dur="500"/>
                                        <p:tgtEl>
                                          <p:spTgt spid="3">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arn(inVertical)">
                                      <p:cBhvr>
                                        <p:cTn id="13" dur="500"/>
                                        <p:tgtEl>
                                          <p:spTgt spid="3">
                                            <p:txEl>
                                              <p:pRg st="5" end="5"/>
                                            </p:txEl>
                                          </p:spTgt>
                                        </p:tgtEl>
                                      </p:cBhvr>
                                    </p:animEffect>
                                  </p:childTnLst>
                                </p:cTn>
                              </p:par>
                            </p:childTnLst>
                          </p:cTn>
                        </p:par>
                        <p:par>
                          <p:cTn id="14" fill="hold">
                            <p:stCondLst>
                              <p:cond delay="500"/>
                            </p:stCondLst>
                            <p:childTnLst>
                              <p:par>
                                <p:cTn id="15" presetID="16" presetClass="entr" presetSubtype="21" fill="hold"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arn(inVertical)">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6E0586-837F-4B51-80C5-27E5BE6FB873}"/>
              </a:ext>
            </a:extLst>
          </p:cNvPr>
          <p:cNvSpPr>
            <a:spLocks noGrp="1"/>
          </p:cNvSpPr>
          <p:nvPr>
            <p:ph type="title"/>
          </p:nvPr>
        </p:nvSpPr>
        <p:spPr/>
        <p:txBody>
          <a:bodyPr/>
          <a:lstStyle/>
          <a:p>
            <a:r>
              <a:rPr lang="en-US" altLang="zh-CN" dirty="0"/>
              <a:t>5. </a:t>
            </a:r>
            <a:r>
              <a:rPr lang="zh-CN" altLang="en-US" dirty="0"/>
              <a:t>优化约束的极值条件</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C2241FE-B1BC-45BE-B32A-EE08B6408376}"/>
                  </a:ext>
                </a:extLst>
              </p:cNvPr>
              <p:cNvSpPr>
                <a:spLocks noGrp="1"/>
              </p:cNvSpPr>
              <p:nvPr>
                <p:ph idx="1"/>
              </p:nvPr>
            </p:nvSpPr>
            <p:spPr/>
            <p:txBody>
              <a:bodyPr/>
              <a:lstStyle/>
              <a:p>
                <a:r>
                  <a:rPr lang="zh-CN" altLang="en-US" dirty="0"/>
                  <a:t>凸函数</a:t>
                </a:r>
                <a:endParaRPr lang="en-US" altLang="zh-CN" dirty="0"/>
              </a:p>
              <a:p>
                <a:pPr lvl="1"/>
                <a:r>
                  <a:rPr lang="zh-CN" altLang="en-US" dirty="0"/>
                  <a:t>多元凸函数</a:t>
                </a:r>
                <a:endParaRPr lang="en-US" altLang="zh-CN" dirty="0"/>
              </a:p>
              <a:p>
                <a:pPr lvl="2"/>
                <a:r>
                  <a:rPr lang="zh-CN" altLang="en-US" dirty="0">
                    <a:solidFill>
                      <a:srgbClr val="C00000"/>
                    </a:solidFill>
                  </a:rPr>
                  <a:t>凸集：几何定义</a:t>
                </a:r>
                <a:r>
                  <a:rPr lang="en-US" altLang="zh-CN" dirty="0">
                    <a:solidFill>
                      <a:srgbClr val="C00000"/>
                    </a:solidFill>
                  </a:rPr>
                  <a:t>-</a:t>
                </a:r>
                <a:r>
                  <a:rPr lang="zh-CN" altLang="en-US" dirty="0"/>
                  <a:t>设</a:t>
                </a:r>
                <a14:m>
                  <m:oMath xmlns:m="http://schemas.openxmlformats.org/officeDocument/2006/math">
                    <m:r>
                      <a:rPr lang="en-US" altLang="zh-CN" i="1" dirty="0" smtClean="0">
                        <a:latin typeface="Cambria Math" panose="02040503050406030204" pitchFamily="18" charset="0"/>
                      </a:rPr>
                      <m:t>𝐷</m:t>
                    </m:r>
                  </m:oMath>
                </a14:m>
                <a:r>
                  <a:rPr lang="zh-CN" altLang="en-US" dirty="0"/>
                  <a:t>为</a:t>
                </a:r>
                <a14:m>
                  <m:oMath xmlns:m="http://schemas.openxmlformats.org/officeDocument/2006/math">
                    <m:r>
                      <m:rPr>
                        <m:sty m:val="p"/>
                      </m:rPr>
                      <a:rPr lang="en-US" altLang="zh-CN" i="0" dirty="0" smtClean="0">
                        <a:latin typeface="Cambria Math" panose="02040503050406030204" pitchFamily="18" charset="0"/>
                      </a:rPr>
                      <m:t>R</m:t>
                    </m:r>
                    <m:r>
                      <a:rPr lang="en-US" altLang="zh-CN" i="1" baseline="30000" dirty="0" smtClean="0">
                        <a:latin typeface="Cambria Math" panose="02040503050406030204" pitchFamily="18" charset="0"/>
                      </a:rPr>
                      <m:t>𝑛</m:t>
                    </m:r>
                  </m:oMath>
                </a14:m>
                <a:r>
                  <a:rPr lang="zh-CN" altLang="en-US" dirty="0"/>
                  <a:t>的一个集合，若对</a:t>
                </a:r>
                <a14:m>
                  <m:oMath xmlns:m="http://schemas.openxmlformats.org/officeDocument/2006/math">
                    <m:r>
                      <a:rPr lang="en-US" altLang="zh-CN" i="1" dirty="0" smtClean="0">
                        <a:latin typeface="Cambria Math" panose="02040503050406030204" pitchFamily="18" charset="0"/>
                      </a:rPr>
                      <m:t>𝐷</m:t>
                    </m:r>
                  </m:oMath>
                </a14:m>
                <a:r>
                  <a:rPr lang="zh-CN" altLang="en-US" dirty="0"/>
                  <a:t>中任意两点</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𝑋</m:t>
                        </m:r>
                      </m:e>
                      <m:sup>
                        <m:r>
                          <a:rPr lang="en-US" altLang="zh-CN" i="1" dirty="0">
                            <a:latin typeface="Cambria Math" panose="02040503050406030204" pitchFamily="18" charset="0"/>
                          </a:rPr>
                          <m:t>(</m:t>
                        </m:r>
                        <m:r>
                          <a:rPr lang="en-US" altLang="zh-CN" i="1" dirty="0">
                            <a:latin typeface="Cambria Math" panose="02040503050406030204" pitchFamily="18" charset="0"/>
                          </a:rPr>
                          <m:t>𝟏</m:t>
                        </m:r>
                        <m:r>
                          <a:rPr lang="en-US" altLang="zh-CN" i="1" dirty="0">
                            <a:latin typeface="Cambria Math" panose="02040503050406030204" pitchFamily="18" charset="0"/>
                          </a:rPr>
                          <m:t>)</m:t>
                        </m:r>
                      </m:sup>
                    </m:sSup>
                  </m:oMath>
                </a14:m>
                <a:r>
                  <a:rPr lang="zh-CN" altLang="en-US" dirty="0"/>
                  <a:t>，</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𝑋</m:t>
                        </m:r>
                      </m:e>
                      <m:sup>
                        <m:r>
                          <a:rPr lang="en-US" altLang="zh-CN" i="1" dirty="0">
                            <a:latin typeface="Cambria Math" panose="02040503050406030204" pitchFamily="18" charset="0"/>
                          </a:rPr>
                          <m:t>(</m:t>
                        </m:r>
                        <m:r>
                          <a:rPr lang="en-US" altLang="zh-CN" b="1" i="1" dirty="0" smtClean="0">
                            <a:latin typeface="Cambria Math" panose="02040503050406030204" pitchFamily="18" charset="0"/>
                          </a:rPr>
                          <m:t>𝟐</m:t>
                        </m:r>
                        <m:r>
                          <a:rPr lang="en-US" altLang="zh-CN" i="1" dirty="0">
                            <a:latin typeface="Cambria Math" panose="02040503050406030204" pitchFamily="18" charset="0"/>
                          </a:rPr>
                          <m:t>)</m:t>
                        </m:r>
                      </m:sup>
                    </m:sSup>
                  </m:oMath>
                </a14:m>
                <a:r>
                  <a:rPr lang="zh-CN" altLang="en-US" dirty="0"/>
                  <a:t>的连线仍在</a:t>
                </a:r>
                <a14:m>
                  <m:oMath xmlns:m="http://schemas.openxmlformats.org/officeDocument/2006/math">
                    <m:r>
                      <a:rPr lang="en-US" altLang="zh-CN" i="1" dirty="0" smtClean="0">
                        <a:latin typeface="Cambria Math" panose="02040503050406030204" pitchFamily="18" charset="0"/>
                      </a:rPr>
                      <m:t>𝐷</m:t>
                    </m:r>
                  </m:oMath>
                </a14:m>
                <a:r>
                  <a:rPr lang="zh-CN" altLang="en-US" dirty="0"/>
                  <a:t>中，则称</a:t>
                </a:r>
                <a14:m>
                  <m:oMath xmlns:m="http://schemas.openxmlformats.org/officeDocument/2006/math">
                    <m:r>
                      <a:rPr lang="en-US" altLang="zh-CN" i="1" dirty="0" smtClean="0">
                        <a:latin typeface="Cambria Math" panose="02040503050406030204" pitchFamily="18" charset="0"/>
                      </a:rPr>
                      <m:t>𝐷</m:t>
                    </m:r>
                  </m:oMath>
                </a14:m>
                <a:r>
                  <a:rPr lang="zh-CN" altLang="en-US" dirty="0"/>
                  <a:t>为</a:t>
                </a:r>
                <a14:m>
                  <m:oMath xmlns:m="http://schemas.openxmlformats.org/officeDocument/2006/math">
                    <m:r>
                      <m:rPr>
                        <m:sty m:val="p"/>
                      </m:rPr>
                      <a:rPr lang="en-US" altLang="zh-CN" dirty="0">
                        <a:latin typeface="Cambria Math" panose="02040503050406030204" pitchFamily="18" charset="0"/>
                      </a:rPr>
                      <m:t>R</m:t>
                    </m:r>
                    <m:r>
                      <a:rPr lang="en-US" altLang="zh-CN" i="1" baseline="30000" dirty="0">
                        <a:latin typeface="Cambria Math" panose="02040503050406030204" pitchFamily="18" charset="0"/>
                      </a:rPr>
                      <m:t>𝑛</m:t>
                    </m:r>
                  </m:oMath>
                </a14:m>
                <a:r>
                  <a:rPr lang="zh-CN" altLang="en-US" dirty="0"/>
                  <a:t>的凸集。</a:t>
                </a:r>
                <a:endParaRPr lang="en-US" altLang="zh-CN" dirty="0"/>
              </a:p>
            </p:txBody>
          </p:sp>
        </mc:Choice>
        <mc:Fallback xmlns="">
          <p:sp>
            <p:nvSpPr>
              <p:cNvPr id="3" name="内容占位符 2">
                <a:extLst>
                  <a:ext uri="{FF2B5EF4-FFF2-40B4-BE49-F238E27FC236}">
                    <a16:creationId xmlns:a16="http://schemas.microsoft.com/office/drawing/2014/main" id="{8C2241FE-B1BC-45BE-B32A-EE08B6408376}"/>
                  </a:ext>
                </a:extLst>
              </p:cNvPr>
              <p:cNvSpPr>
                <a:spLocks noGrp="1" noRot="1" noChangeAspect="1" noMove="1" noResize="1" noEditPoints="1" noAdjustHandles="1" noChangeArrowheads="1" noChangeShapeType="1" noTextEdit="1"/>
              </p:cNvSpPr>
              <p:nvPr>
                <p:ph idx="1"/>
              </p:nvPr>
            </p:nvSpPr>
            <p:spPr>
              <a:blipFill>
                <a:blip r:embed="rId2"/>
                <a:stretch>
                  <a:fillRect l="-1066" t="-2083"/>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775DFFD2-4785-472E-B251-C089EF92002D}"/>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51830338-929F-495E-BB4B-E9F732A01113}"/>
              </a:ext>
            </a:extLst>
          </p:cNvPr>
          <p:cNvSpPr>
            <a:spLocks noGrp="1"/>
          </p:cNvSpPr>
          <p:nvPr>
            <p:ph type="sldNum" sz="quarter" idx="12"/>
          </p:nvPr>
        </p:nvSpPr>
        <p:spPr/>
        <p:txBody>
          <a:bodyPr/>
          <a:lstStyle/>
          <a:p>
            <a:fld id="{7AC79822-BC0D-4DE8-A7E5-90A3732A2B82}" type="slidenum">
              <a:rPr lang="zh-CN" altLang="en-US" smtClean="0"/>
              <a:pPr/>
              <a:t>9</a:t>
            </a:fld>
            <a:endParaRPr lang="en-US" altLang="zh-CN" dirty="0"/>
          </a:p>
        </p:txBody>
      </p:sp>
      <p:cxnSp>
        <p:nvCxnSpPr>
          <p:cNvPr id="7" name="直接箭头连接符 6">
            <a:extLst>
              <a:ext uri="{FF2B5EF4-FFF2-40B4-BE49-F238E27FC236}">
                <a16:creationId xmlns:a16="http://schemas.microsoft.com/office/drawing/2014/main" id="{D3AEF76B-818B-4787-B1CF-919A24A05B17}"/>
              </a:ext>
            </a:extLst>
          </p:cNvPr>
          <p:cNvCxnSpPr>
            <a:cxnSpLocks/>
          </p:cNvCxnSpPr>
          <p:nvPr/>
        </p:nvCxnSpPr>
        <p:spPr bwMode="auto">
          <a:xfrm>
            <a:off x="998873" y="5912790"/>
            <a:ext cx="2799928" cy="0"/>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 name="直接箭头连接符 7">
            <a:extLst>
              <a:ext uri="{FF2B5EF4-FFF2-40B4-BE49-F238E27FC236}">
                <a16:creationId xmlns:a16="http://schemas.microsoft.com/office/drawing/2014/main" id="{534B5597-A1C9-45FC-B4A0-62DB7FA32FF4}"/>
              </a:ext>
            </a:extLst>
          </p:cNvPr>
          <p:cNvCxnSpPr>
            <a:cxnSpLocks/>
          </p:cNvCxnSpPr>
          <p:nvPr/>
        </p:nvCxnSpPr>
        <p:spPr bwMode="auto">
          <a:xfrm flipV="1">
            <a:off x="1494545" y="3904272"/>
            <a:ext cx="0" cy="2376264"/>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0987B483-7E8D-4812-A884-72369F26E35B}"/>
                  </a:ext>
                </a:extLst>
              </p:cNvPr>
              <p:cNvSpPr txBox="1"/>
              <p:nvPr/>
            </p:nvSpPr>
            <p:spPr>
              <a:xfrm>
                <a:off x="3774780" y="5686221"/>
                <a:ext cx="519693"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rPr>
                        <m:t>𝑥</m:t>
                      </m:r>
                      <m:r>
                        <a:rPr lang="en-US" altLang="zh-CN" sz="2400" b="0" i="1" baseline="-25000" dirty="0" smtClean="0">
                          <a:latin typeface="Cambria Math" panose="02040503050406030204" pitchFamily="18" charset="0"/>
                        </a:rPr>
                        <m:t>1</m:t>
                      </m:r>
                    </m:oMath>
                  </m:oMathPara>
                </a14:m>
                <a:endParaRPr lang="zh-CN" altLang="en-US" sz="2400" baseline="-25000" dirty="0"/>
              </a:p>
            </p:txBody>
          </p:sp>
        </mc:Choice>
        <mc:Fallback xmlns="">
          <p:sp>
            <p:nvSpPr>
              <p:cNvPr id="15" name="文本框 14">
                <a:extLst>
                  <a:ext uri="{FF2B5EF4-FFF2-40B4-BE49-F238E27FC236}">
                    <a16:creationId xmlns:a16="http://schemas.microsoft.com/office/drawing/2014/main" id="{0987B483-7E8D-4812-A884-72369F26E35B}"/>
                  </a:ext>
                </a:extLst>
              </p:cNvPr>
              <p:cNvSpPr txBox="1">
                <a:spLocks noRot="1" noChangeAspect="1" noMove="1" noResize="1" noEditPoints="1" noAdjustHandles="1" noChangeArrowheads="1" noChangeShapeType="1" noTextEdit="1"/>
              </p:cNvSpPr>
              <p:nvPr/>
            </p:nvSpPr>
            <p:spPr>
              <a:xfrm>
                <a:off x="3774780" y="5686221"/>
                <a:ext cx="519693" cy="453137"/>
              </a:xfrm>
              <a:prstGeom prst="rect">
                <a:avLst/>
              </a:prstGeom>
              <a:blipFill>
                <a:blip r:embed="rId3"/>
                <a:stretch>
                  <a:fillRect b="-67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4057004-6031-4C32-8D03-3574AC4A7581}"/>
                  </a:ext>
                </a:extLst>
              </p:cNvPr>
              <p:cNvSpPr txBox="1"/>
              <p:nvPr/>
            </p:nvSpPr>
            <p:spPr>
              <a:xfrm>
                <a:off x="998873" y="3904272"/>
                <a:ext cx="519693"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dirty="0" smtClean="0">
                          <a:latin typeface="Cambria Math" panose="02040503050406030204" pitchFamily="18" charset="0"/>
                        </a:rPr>
                        <m:t>𝑥</m:t>
                      </m:r>
                      <m:r>
                        <a:rPr lang="en-US" altLang="zh-CN" sz="2400" b="0" i="1" baseline="-25000" dirty="0" smtClean="0">
                          <a:latin typeface="Cambria Math" panose="02040503050406030204" pitchFamily="18" charset="0"/>
                        </a:rPr>
                        <m:t>2</m:t>
                      </m:r>
                    </m:oMath>
                  </m:oMathPara>
                </a14:m>
                <a:endParaRPr lang="zh-CN" altLang="en-US" sz="2400" baseline="-25000" dirty="0"/>
              </a:p>
            </p:txBody>
          </p:sp>
        </mc:Choice>
        <mc:Fallback xmlns="">
          <p:sp>
            <p:nvSpPr>
              <p:cNvPr id="16" name="文本框 15">
                <a:extLst>
                  <a:ext uri="{FF2B5EF4-FFF2-40B4-BE49-F238E27FC236}">
                    <a16:creationId xmlns:a16="http://schemas.microsoft.com/office/drawing/2014/main" id="{54057004-6031-4C32-8D03-3574AC4A7581}"/>
                  </a:ext>
                </a:extLst>
              </p:cNvPr>
              <p:cNvSpPr txBox="1">
                <a:spLocks noRot="1" noChangeAspect="1" noMove="1" noResize="1" noEditPoints="1" noAdjustHandles="1" noChangeArrowheads="1" noChangeShapeType="1" noTextEdit="1"/>
              </p:cNvSpPr>
              <p:nvPr/>
            </p:nvSpPr>
            <p:spPr>
              <a:xfrm>
                <a:off x="998873" y="3904272"/>
                <a:ext cx="519693" cy="453137"/>
              </a:xfrm>
              <a:prstGeom prst="rect">
                <a:avLst/>
              </a:prstGeom>
              <a:blipFill>
                <a:blip r:embed="rId4"/>
                <a:stretch>
                  <a:fillRect b="-5333"/>
                </a:stretch>
              </a:blipFill>
            </p:spPr>
            <p:txBody>
              <a:bodyPr/>
              <a:lstStyle/>
              <a:p>
                <a:r>
                  <a:rPr lang="zh-CN" altLang="en-US">
                    <a:noFill/>
                  </a:rPr>
                  <a:t> </a:t>
                </a:r>
              </a:p>
            </p:txBody>
          </p:sp>
        </mc:Fallback>
      </mc:AlternateContent>
      <p:cxnSp>
        <p:nvCxnSpPr>
          <p:cNvPr id="21" name="直接箭头连接符 20">
            <a:extLst>
              <a:ext uri="{FF2B5EF4-FFF2-40B4-BE49-F238E27FC236}">
                <a16:creationId xmlns:a16="http://schemas.microsoft.com/office/drawing/2014/main" id="{9C421EE7-D279-4887-9AF5-F03F259C3104}"/>
              </a:ext>
            </a:extLst>
          </p:cNvPr>
          <p:cNvCxnSpPr>
            <a:cxnSpLocks/>
          </p:cNvCxnSpPr>
          <p:nvPr/>
        </p:nvCxnSpPr>
        <p:spPr bwMode="auto">
          <a:xfrm>
            <a:off x="5529064" y="5912790"/>
            <a:ext cx="2799928" cy="0"/>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直接箭头连接符 21">
            <a:extLst>
              <a:ext uri="{FF2B5EF4-FFF2-40B4-BE49-F238E27FC236}">
                <a16:creationId xmlns:a16="http://schemas.microsoft.com/office/drawing/2014/main" id="{4C8A3180-9315-4C10-9843-29C567B7B130}"/>
              </a:ext>
            </a:extLst>
          </p:cNvPr>
          <p:cNvCxnSpPr>
            <a:cxnSpLocks/>
          </p:cNvCxnSpPr>
          <p:nvPr/>
        </p:nvCxnSpPr>
        <p:spPr bwMode="auto">
          <a:xfrm flipV="1">
            <a:off x="6024736" y="3904272"/>
            <a:ext cx="0" cy="2376264"/>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6F8EDE1D-7650-4D52-84E6-D3160C8AFC56}"/>
                  </a:ext>
                </a:extLst>
              </p:cNvPr>
              <p:cNvSpPr txBox="1"/>
              <p:nvPr/>
            </p:nvSpPr>
            <p:spPr>
              <a:xfrm>
                <a:off x="8272888" y="5661248"/>
                <a:ext cx="519693"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rPr>
                        <m:t>𝑥</m:t>
                      </m:r>
                      <m:r>
                        <a:rPr lang="en-US" altLang="zh-CN" sz="2400" b="0" i="1" baseline="-25000" dirty="0" smtClean="0">
                          <a:latin typeface="Cambria Math" panose="02040503050406030204" pitchFamily="18" charset="0"/>
                        </a:rPr>
                        <m:t>1</m:t>
                      </m:r>
                    </m:oMath>
                  </m:oMathPara>
                </a14:m>
                <a:endParaRPr lang="zh-CN" altLang="en-US" sz="2400" baseline="-25000" dirty="0"/>
              </a:p>
            </p:txBody>
          </p:sp>
        </mc:Choice>
        <mc:Fallback xmlns="">
          <p:sp>
            <p:nvSpPr>
              <p:cNvPr id="23" name="文本框 22">
                <a:extLst>
                  <a:ext uri="{FF2B5EF4-FFF2-40B4-BE49-F238E27FC236}">
                    <a16:creationId xmlns:a16="http://schemas.microsoft.com/office/drawing/2014/main" id="{6F8EDE1D-7650-4D52-84E6-D3160C8AFC56}"/>
                  </a:ext>
                </a:extLst>
              </p:cNvPr>
              <p:cNvSpPr txBox="1">
                <a:spLocks noRot="1" noChangeAspect="1" noMove="1" noResize="1" noEditPoints="1" noAdjustHandles="1" noChangeArrowheads="1" noChangeShapeType="1" noTextEdit="1"/>
              </p:cNvSpPr>
              <p:nvPr/>
            </p:nvSpPr>
            <p:spPr>
              <a:xfrm>
                <a:off x="8272888" y="5661248"/>
                <a:ext cx="519693" cy="453137"/>
              </a:xfrm>
              <a:prstGeom prst="rect">
                <a:avLst/>
              </a:prstGeom>
              <a:blipFill>
                <a:blip r:embed="rId5"/>
                <a:stretch>
                  <a:fillRect b="-67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DBF144DD-03F0-49C6-8A43-051A186595F4}"/>
                  </a:ext>
                </a:extLst>
              </p:cNvPr>
              <p:cNvSpPr txBox="1"/>
              <p:nvPr/>
            </p:nvSpPr>
            <p:spPr>
              <a:xfrm>
                <a:off x="5529064" y="3904272"/>
                <a:ext cx="519693" cy="4531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dirty="0" smtClean="0">
                          <a:latin typeface="Cambria Math" panose="02040503050406030204" pitchFamily="18" charset="0"/>
                        </a:rPr>
                        <m:t>𝑥</m:t>
                      </m:r>
                      <m:r>
                        <a:rPr lang="en-US" altLang="zh-CN" sz="2400" b="0" i="1" baseline="-25000" dirty="0" smtClean="0">
                          <a:latin typeface="Cambria Math" panose="02040503050406030204" pitchFamily="18" charset="0"/>
                        </a:rPr>
                        <m:t>2</m:t>
                      </m:r>
                    </m:oMath>
                  </m:oMathPara>
                </a14:m>
                <a:endParaRPr lang="zh-CN" altLang="en-US" sz="2400" baseline="-25000" dirty="0"/>
              </a:p>
            </p:txBody>
          </p:sp>
        </mc:Choice>
        <mc:Fallback xmlns="">
          <p:sp>
            <p:nvSpPr>
              <p:cNvPr id="24" name="文本框 23">
                <a:extLst>
                  <a:ext uri="{FF2B5EF4-FFF2-40B4-BE49-F238E27FC236}">
                    <a16:creationId xmlns:a16="http://schemas.microsoft.com/office/drawing/2014/main" id="{DBF144DD-03F0-49C6-8A43-051A186595F4}"/>
                  </a:ext>
                </a:extLst>
              </p:cNvPr>
              <p:cNvSpPr txBox="1">
                <a:spLocks noRot="1" noChangeAspect="1" noMove="1" noResize="1" noEditPoints="1" noAdjustHandles="1" noChangeArrowheads="1" noChangeShapeType="1" noTextEdit="1"/>
              </p:cNvSpPr>
              <p:nvPr/>
            </p:nvSpPr>
            <p:spPr>
              <a:xfrm>
                <a:off x="5529064" y="3904272"/>
                <a:ext cx="519693" cy="453137"/>
              </a:xfrm>
              <a:prstGeom prst="rect">
                <a:avLst/>
              </a:prstGeom>
              <a:blipFill>
                <a:blip r:embed="rId6"/>
                <a:stretch>
                  <a:fillRect b="-5333"/>
                </a:stretch>
              </a:blipFill>
            </p:spPr>
            <p:txBody>
              <a:bodyPr/>
              <a:lstStyle/>
              <a:p>
                <a:r>
                  <a:rPr lang="zh-CN" altLang="en-US">
                    <a:noFill/>
                  </a:rPr>
                  <a:t> </a:t>
                </a:r>
              </a:p>
            </p:txBody>
          </p:sp>
        </mc:Fallback>
      </mc:AlternateContent>
      <p:sp>
        <p:nvSpPr>
          <p:cNvPr id="26" name="任意多边形: 形状 25">
            <a:extLst>
              <a:ext uri="{FF2B5EF4-FFF2-40B4-BE49-F238E27FC236}">
                <a16:creationId xmlns:a16="http://schemas.microsoft.com/office/drawing/2014/main" id="{D74B7C34-6558-4F92-84EA-C03D25BEE371}"/>
              </a:ext>
            </a:extLst>
          </p:cNvPr>
          <p:cNvSpPr/>
          <p:nvPr/>
        </p:nvSpPr>
        <p:spPr bwMode="auto">
          <a:xfrm>
            <a:off x="1746608" y="4086092"/>
            <a:ext cx="1917124" cy="1553003"/>
          </a:xfrm>
          <a:custGeom>
            <a:avLst/>
            <a:gdLst>
              <a:gd name="connsiteX0" fmla="*/ 5992 w 1917124"/>
              <a:gd name="connsiteY0" fmla="*/ 933583 h 1553003"/>
              <a:gd name="connsiteX1" fmla="*/ 1168042 w 1917124"/>
              <a:gd name="connsiteY1" fmla="*/ 133 h 1553003"/>
              <a:gd name="connsiteX2" fmla="*/ 1910992 w 1917124"/>
              <a:gd name="connsiteY2" fmla="*/ 1000258 h 1553003"/>
              <a:gd name="connsiteX3" fmla="*/ 767992 w 1917124"/>
              <a:gd name="connsiteY3" fmla="*/ 1552708 h 1553003"/>
              <a:gd name="connsiteX4" fmla="*/ 5992 w 1917124"/>
              <a:gd name="connsiteY4" fmla="*/ 933583 h 1553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124" h="1553003">
                <a:moveTo>
                  <a:pt x="5992" y="933583"/>
                </a:moveTo>
                <a:cubicBezTo>
                  <a:pt x="72667" y="674820"/>
                  <a:pt x="850542" y="-10980"/>
                  <a:pt x="1168042" y="133"/>
                </a:cubicBezTo>
                <a:cubicBezTo>
                  <a:pt x="1485542" y="11245"/>
                  <a:pt x="1977667" y="741495"/>
                  <a:pt x="1910992" y="1000258"/>
                </a:cubicBezTo>
                <a:cubicBezTo>
                  <a:pt x="1844317" y="1259021"/>
                  <a:pt x="1091842" y="1563821"/>
                  <a:pt x="767992" y="1552708"/>
                </a:cubicBezTo>
                <a:cubicBezTo>
                  <a:pt x="444142" y="1541596"/>
                  <a:pt x="-60683" y="1192346"/>
                  <a:pt x="5992" y="933583"/>
                </a:cubicBezTo>
                <a:close/>
              </a:path>
            </a:pathLst>
          </a:cu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A2B85FB6-F95F-4E12-A934-785E3A57BC68}"/>
                  </a:ext>
                </a:extLst>
              </p:cNvPr>
              <p:cNvSpPr txBox="1"/>
              <p:nvPr/>
            </p:nvSpPr>
            <p:spPr>
              <a:xfrm>
                <a:off x="2490239" y="4172743"/>
                <a:ext cx="60315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𝐷</m:t>
                      </m:r>
                    </m:oMath>
                  </m:oMathPara>
                </a14:m>
                <a:endParaRPr lang="zh-CN" altLang="en-US" dirty="0"/>
              </a:p>
            </p:txBody>
          </p:sp>
        </mc:Choice>
        <mc:Fallback xmlns="">
          <p:sp>
            <p:nvSpPr>
              <p:cNvPr id="28" name="文本框 27">
                <a:extLst>
                  <a:ext uri="{FF2B5EF4-FFF2-40B4-BE49-F238E27FC236}">
                    <a16:creationId xmlns:a16="http://schemas.microsoft.com/office/drawing/2014/main" id="{A2B85FB6-F95F-4E12-A934-785E3A57BC68}"/>
                  </a:ext>
                </a:extLst>
              </p:cNvPr>
              <p:cNvSpPr txBox="1">
                <a:spLocks noRot="1" noChangeAspect="1" noMove="1" noResize="1" noEditPoints="1" noAdjustHandles="1" noChangeArrowheads="1" noChangeShapeType="1" noTextEdit="1"/>
              </p:cNvSpPr>
              <p:nvPr/>
            </p:nvSpPr>
            <p:spPr>
              <a:xfrm>
                <a:off x="2490239" y="4172743"/>
                <a:ext cx="603151" cy="369332"/>
              </a:xfrm>
              <a:prstGeom prst="rect">
                <a:avLst/>
              </a:prstGeom>
              <a:blipFill>
                <a:blip r:embed="rId7"/>
                <a:stretch>
                  <a:fillRect/>
                </a:stretch>
              </a:blipFill>
            </p:spPr>
            <p:txBody>
              <a:bodyPr/>
              <a:lstStyle/>
              <a:p>
                <a:r>
                  <a:rPr lang="zh-CN" altLang="en-US">
                    <a:noFill/>
                  </a:rPr>
                  <a:t> </a:t>
                </a:r>
              </a:p>
            </p:txBody>
          </p:sp>
        </mc:Fallback>
      </mc:AlternateContent>
      <p:sp>
        <p:nvSpPr>
          <p:cNvPr id="29" name="椭圆 28">
            <a:extLst>
              <a:ext uri="{FF2B5EF4-FFF2-40B4-BE49-F238E27FC236}">
                <a16:creationId xmlns:a16="http://schemas.microsoft.com/office/drawing/2014/main" id="{6C192FEA-2B28-4672-9959-DCE93766FC68}"/>
              </a:ext>
            </a:extLst>
          </p:cNvPr>
          <p:cNvSpPr/>
          <p:nvPr/>
        </p:nvSpPr>
        <p:spPr bwMode="auto">
          <a:xfrm>
            <a:off x="1942693" y="5032377"/>
            <a:ext cx="144012" cy="14401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0" name="椭圆 29">
            <a:extLst>
              <a:ext uri="{FF2B5EF4-FFF2-40B4-BE49-F238E27FC236}">
                <a16:creationId xmlns:a16="http://schemas.microsoft.com/office/drawing/2014/main" id="{EC13880F-2981-4FEA-A144-89A727E4AB7D}"/>
              </a:ext>
            </a:extLst>
          </p:cNvPr>
          <p:cNvSpPr/>
          <p:nvPr/>
        </p:nvSpPr>
        <p:spPr bwMode="auto">
          <a:xfrm>
            <a:off x="3033394" y="4477215"/>
            <a:ext cx="144012" cy="14401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31" name="直接连接符 30">
            <a:extLst>
              <a:ext uri="{FF2B5EF4-FFF2-40B4-BE49-F238E27FC236}">
                <a16:creationId xmlns:a16="http://schemas.microsoft.com/office/drawing/2014/main" id="{07D8C35A-7199-45BD-A0EF-5C260214FD31}"/>
              </a:ext>
            </a:extLst>
          </p:cNvPr>
          <p:cNvCxnSpPr>
            <a:cxnSpLocks/>
          </p:cNvCxnSpPr>
          <p:nvPr/>
        </p:nvCxnSpPr>
        <p:spPr bwMode="auto">
          <a:xfrm flipV="1">
            <a:off x="2086705" y="4575167"/>
            <a:ext cx="959045" cy="482178"/>
          </a:xfrm>
          <a:prstGeom prst="line">
            <a:avLst/>
          </a:prstGeom>
          <a:ln w="76200">
            <a:headEnd type="none" w="med" len="med"/>
            <a:tailEnd type="none" w="med" len="med"/>
          </a:ln>
        </p:spPr>
        <p:style>
          <a:lnRef idx="3">
            <a:schemeClr val="accent6"/>
          </a:lnRef>
          <a:fillRef idx="0">
            <a:schemeClr val="accent6"/>
          </a:fillRef>
          <a:effectRef idx="2">
            <a:schemeClr val="accent6"/>
          </a:effectRef>
          <a:fontRef idx="minor">
            <a:schemeClr val="tx1"/>
          </a:fontRef>
        </p:style>
      </p:cxnSp>
      <p:sp>
        <p:nvSpPr>
          <p:cNvPr id="33" name="任意多边形: 形状 32">
            <a:extLst>
              <a:ext uri="{FF2B5EF4-FFF2-40B4-BE49-F238E27FC236}">
                <a16:creationId xmlns:a16="http://schemas.microsoft.com/office/drawing/2014/main" id="{737B677F-E273-40F4-B305-14AFC35D76B2}"/>
              </a:ext>
            </a:extLst>
          </p:cNvPr>
          <p:cNvSpPr/>
          <p:nvPr/>
        </p:nvSpPr>
        <p:spPr bwMode="auto">
          <a:xfrm rot="1442464">
            <a:off x="6379071" y="4010940"/>
            <a:ext cx="1659329" cy="1703309"/>
          </a:xfrm>
          <a:custGeom>
            <a:avLst/>
            <a:gdLst>
              <a:gd name="connsiteX0" fmla="*/ 101363 w 1659329"/>
              <a:gd name="connsiteY0" fmla="*/ 1069995 h 1703309"/>
              <a:gd name="connsiteX1" fmla="*/ 634763 w 1659329"/>
              <a:gd name="connsiteY1" fmla="*/ 850920 h 1703309"/>
              <a:gd name="connsiteX2" fmla="*/ 549038 w 1659329"/>
              <a:gd name="connsiteY2" fmla="*/ 50820 h 1703309"/>
              <a:gd name="connsiteX3" fmla="*/ 1558688 w 1659329"/>
              <a:gd name="connsiteY3" fmla="*/ 241320 h 1703309"/>
              <a:gd name="connsiteX4" fmla="*/ 1501538 w 1659329"/>
              <a:gd name="connsiteY4" fmla="*/ 1536720 h 1703309"/>
              <a:gd name="connsiteX5" fmla="*/ 482363 w 1659329"/>
              <a:gd name="connsiteY5" fmla="*/ 1670070 h 1703309"/>
              <a:gd name="connsiteX6" fmla="*/ 34688 w 1659329"/>
              <a:gd name="connsiteY6" fmla="*/ 1384320 h 1703309"/>
              <a:gd name="connsiteX7" fmla="*/ 101363 w 1659329"/>
              <a:gd name="connsiteY7" fmla="*/ 1069995 h 1703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59329" h="1703309">
                <a:moveTo>
                  <a:pt x="101363" y="1069995"/>
                </a:moveTo>
                <a:cubicBezTo>
                  <a:pt x="201376" y="981095"/>
                  <a:pt x="560151" y="1020782"/>
                  <a:pt x="634763" y="850920"/>
                </a:cubicBezTo>
                <a:cubicBezTo>
                  <a:pt x="709375" y="681058"/>
                  <a:pt x="395051" y="152420"/>
                  <a:pt x="549038" y="50820"/>
                </a:cubicBezTo>
                <a:cubicBezTo>
                  <a:pt x="703025" y="-50780"/>
                  <a:pt x="1399938" y="-6330"/>
                  <a:pt x="1558688" y="241320"/>
                </a:cubicBezTo>
                <a:cubicBezTo>
                  <a:pt x="1717438" y="488970"/>
                  <a:pt x="1680925" y="1298595"/>
                  <a:pt x="1501538" y="1536720"/>
                </a:cubicBezTo>
                <a:cubicBezTo>
                  <a:pt x="1322151" y="1774845"/>
                  <a:pt x="726838" y="1695470"/>
                  <a:pt x="482363" y="1670070"/>
                </a:cubicBezTo>
                <a:cubicBezTo>
                  <a:pt x="237888" y="1644670"/>
                  <a:pt x="101363" y="1485920"/>
                  <a:pt x="34688" y="1384320"/>
                </a:cubicBezTo>
                <a:cubicBezTo>
                  <a:pt x="-31987" y="1282720"/>
                  <a:pt x="1350" y="1158895"/>
                  <a:pt x="101363" y="1069995"/>
                </a:cubicBezTo>
                <a:close/>
              </a:path>
            </a:pathLst>
          </a:custGeom>
          <a:noFill/>
          <a:ln w="2857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F978F125-2EF9-4C7A-9635-B1C61E62CDC5}"/>
                  </a:ext>
                </a:extLst>
              </p:cNvPr>
              <p:cNvSpPr txBox="1"/>
              <p:nvPr/>
            </p:nvSpPr>
            <p:spPr>
              <a:xfrm>
                <a:off x="6877785" y="5152410"/>
                <a:ext cx="60315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𝐷</m:t>
                      </m:r>
                    </m:oMath>
                  </m:oMathPara>
                </a14:m>
                <a:endParaRPr lang="zh-CN" altLang="en-US" dirty="0"/>
              </a:p>
            </p:txBody>
          </p:sp>
        </mc:Choice>
        <mc:Fallback xmlns="">
          <p:sp>
            <p:nvSpPr>
              <p:cNvPr id="34" name="文本框 33">
                <a:extLst>
                  <a:ext uri="{FF2B5EF4-FFF2-40B4-BE49-F238E27FC236}">
                    <a16:creationId xmlns:a16="http://schemas.microsoft.com/office/drawing/2014/main" id="{F978F125-2EF9-4C7A-9635-B1C61E62CDC5}"/>
                  </a:ext>
                </a:extLst>
              </p:cNvPr>
              <p:cNvSpPr txBox="1">
                <a:spLocks noRot="1" noChangeAspect="1" noMove="1" noResize="1" noEditPoints="1" noAdjustHandles="1" noChangeArrowheads="1" noChangeShapeType="1" noTextEdit="1"/>
              </p:cNvSpPr>
              <p:nvPr/>
            </p:nvSpPr>
            <p:spPr>
              <a:xfrm>
                <a:off x="6877785" y="5152410"/>
                <a:ext cx="603151" cy="369332"/>
              </a:xfrm>
              <a:prstGeom prst="rect">
                <a:avLst/>
              </a:prstGeom>
              <a:blipFill>
                <a:blip r:embed="rId8"/>
                <a:stretch>
                  <a:fillRect/>
                </a:stretch>
              </a:blipFill>
            </p:spPr>
            <p:txBody>
              <a:bodyPr/>
              <a:lstStyle/>
              <a:p>
                <a:r>
                  <a:rPr lang="zh-CN" altLang="en-US">
                    <a:noFill/>
                  </a:rPr>
                  <a:t> </a:t>
                </a:r>
              </a:p>
            </p:txBody>
          </p:sp>
        </mc:Fallback>
      </mc:AlternateContent>
      <p:sp>
        <p:nvSpPr>
          <p:cNvPr id="35" name="椭圆 34">
            <a:extLst>
              <a:ext uri="{FF2B5EF4-FFF2-40B4-BE49-F238E27FC236}">
                <a16:creationId xmlns:a16="http://schemas.microsoft.com/office/drawing/2014/main" id="{D2530B62-3FE4-4512-AF5B-4E14D598D2A3}"/>
              </a:ext>
            </a:extLst>
          </p:cNvPr>
          <p:cNvSpPr/>
          <p:nvPr/>
        </p:nvSpPr>
        <p:spPr bwMode="auto">
          <a:xfrm>
            <a:off x="6377879" y="4912571"/>
            <a:ext cx="144012" cy="14401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6" name="椭圆 35">
            <a:extLst>
              <a:ext uri="{FF2B5EF4-FFF2-40B4-BE49-F238E27FC236}">
                <a16:creationId xmlns:a16="http://schemas.microsoft.com/office/drawing/2014/main" id="{9D09283A-1CB7-4596-84C4-A2365EAC1121}"/>
              </a:ext>
            </a:extLst>
          </p:cNvPr>
          <p:cNvSpPr/>
          <p:nvPr/>
        </p:nvSpPr>
        <p:spPr bwMode="auto">
          <a:xfrm>
            <a:off x="7468580" y="4357409"/>
            <a:ext cx="144012" cy="14401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37" name="直接连接符 36">
            <a:extLst>
              <a:ext uri="{FF2B5EF4-FFF2-40B4-BE49-F238E27FC236}">
                <a16:creationId xmlns:a16="http://schemas.microsoft.com/office/drawing/2014/main" id="{A98E3FB3-57D4-46F1-B826-149A4A782AE4}"/>
              </a:ext>
            </a:extLst>
          </p:cNvPr>
          <p:cNvCxnSpPr>
            <a:cxnSpLocks/>
          </p:cNvCxnSpPr>
          <p:nvPr/>
        </p:nvCxnSpPr>
        <p:spPr bwMode="auto">
          <a:xfrm flipV="1">
            <a:off x="6521891" y="4455361"/>
            <a:ext cx="959045" cy="482178"/>
          </a:xfrm>
          <a:prstGeom prst="line">
            <a:avLst/>
          </a:prstGeom>
          <a:ln w="76200">
            <a:headEnd type="none" w="med" len="med"/>
            <a:tailEnd type="none" w="med" len="med"/>
          </a:ln>
        </p:spPr>
        <p:style>
          <a:lnRef idx="3">
            <a:schemeClr val="accent6"/>
          </a:lnRef>
          <a:fillRef idx="0">
            <a:schemeClr val="accent6"/>
          </a:fillRef>
          <a:effectRef idx="2">
            <a:schemeClr val="accent6"/>
          </a:effectRef>
          <a:fontRef idx="minor">
            <a:schemeClr val="tx1"/>
          </a:fontRef>
        </p:style>
      </p:cxnSp>
      <p:sp>
        <p:nvSpPr>
          <p:cNvPr id="38" name="思想气泡: 云 37">
            <a:extLst>
              <a:ext uri="{FF2B5EF4-FFF2-40B4-BE49-F238E27FC236}">
                <a16:creationId xmlns:a16="http://schemas.microsoft.com/office/drawing/2014/main" id="{94879CA1-042E-485B-B346-F81D7D9BD2DF}"/>
              </a:ext>
            </a:extLst>
          </p:cNvPr>
          <p:cNvSpPr/>
          <p:nvPr/>
        </p:nvSpPr>
        <p:spPr bwMode="auto">
          <a:xfrm>
            <a:off x="3612369" y="3893419"/>
            <a:ext cx="1373873" cy="716958"/>
          </a:xfrm>
          <a:prstGeom prst="cloudCallout">
            <a:avLst>
              <a:gd name="adj1" fmla="val -86696"/>
              <a:gd name="adj2" fmla="val -11898"/>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C00000"/>
                </a:solidFill>
                <a:effectLst/>
                <a:latin typeface="Arial" charset="0"/>
              </a:rPr>
              <a:t>凸集</a:t>
            </a:r>
          </a:p>
        </p:txBody>
      </p:sp>
      <p:sp>
        <p:nvSpPr>
          <p:cNvPr id="39" name="思想气泡: 云 38">
            <a:extLst>
              <a:ext uri="{FF2B5EF4-FFF2-40B4-BE49-F238E27FC236}">
                <a16:creationId xmlns:a16="http://schemas.microsoft.com/office/drawing/2014/main" id="{C580A341-FC4C-47E6-9666-564BEB2C13BE}"/>
              </a:ext>
            </a:extLst>
          </p:cNvPr>
          <p:cNvSpPr/>
          <p:nvPr/>
        </p:nvSpPr>
        <p:spPr bwMode="auto">
          <a:xfrm>
            <a:off x="7468580" y="3001153"/>
            <a:ext cx="1806972" cy="716958"/>
          </a:xfrm>
          <a:prstGeom prst="cloudCallout">
            <a:avLst>
              <a:gd name="adj1" fmla="val -49020"/>
              <a:gd name="adj2" fmla="val 109736"/>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C00000"/>
                </a:solidFill>
                <a:effectLst/>
                <a:latin typeface="Arial" charset="0"/>
              </a:rPr>
              <a:t>非凸集</a:t>
            </a:r>
          </a:p>
        </p:txBody>
      </p:sp>
    </p:spTree>
    <p:extLst>
      <p:ext uri="{BB962C8B-B14F-4D97-AF65-F5344CB8AC3E}">
        <p14:creationId xmlns:p14="http://schemas.microsoft.com/office/powerpoint/2010/main" val="238286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500"/>
                                        <p:tgtEl>
                                          <p:spTgt spid="30"/>
                                        </p:tgtEl>
                                      </p:cBhvr>
                                    </p:animEffect>
                                  </p:childTnLst>
                                </p:cTn>
                              </p:par>
                            </p:childTnLst>
                          </p:cTn>
                        </p:par>
                        <p:par>
                          <p:cTn id="31" fill="hold">
                            <p:stCondLst>
                              <p:cond delay="500"/>
                            </p:stCondLst>
                            <p:childTnLst>
                              <p:par>
                                <p:cTn id="32" presetID="16" presetClass="entr" presetSubtype="21" fill="hold" nodeType="after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barn(inVertical)">
                                      <p:cBhvr>
                                        <p:cTn id="34" dur="500"/>
                                        <p:tgtEl>
                                          <p:spTgt spid="31"/>
                                        </p:tgtEl>
                                      </p:cBhvr>
                                    </p:animEffect>
                                  </p:childTnLst>
                                </p:cTn>
                              </p:par>
                            </p:childTnLst>
                          </p:cTn>
                        </p:par>
                        <p:par>
                          <p:cTn id="35" fill="hold">
                            <p:stCondLst>
                              <p:cond delay="1000"/>
                            </p:stCondLst>
                            <p:childTnLst>
                              <p:par>
                                <p:cTn id="36" presetID="22" presetClass="entr" presetSubtype="4" fill="hold" grpId="0" nodeType="after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wipe(down)">
                                      <p:cBhvr>
                                        <p:cTn id="38" dur="500"/>
                                        <p:tgtEl>
                                          <p:spTgt spid="38"/>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barn(inVertical)">
                                      <p:cBhvr>
                                        <p:cTn id="43" dur="500"/>
                                        <p:tgtEl>
                                          <p:spTgt spid="21"/>
                                        </p:tgtEl>
                                      </p:cBhvr>
                                    </p:animEffect>
                                  </p:childTnLst>
                                </p:cTn>
                              </p:par>
                              <p:par>
                                <p:cTn id="44" presetID="16" presetClass="entr" presetSubtype="21"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barn(inVertical)">
                                      <p:cBhvr>
                                        <p:cTn id="46" dur="500"/>
                                        <p:tgtEl>
                                          <p:spTgt spid="22"/>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barn(inVertical)">
                                      <p:cBhvr>
                                        <p:cTn id="49" dur="500"/>
                                        <p:tgtEl>
                                          <p:spTgt spid="23"/>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barn(inVertical)">
                                      <p:cBhvr>
                                        <p:cTn id="52" dur="500"/>
                                        <p:tgtEl>
                                          <p:spTgt spid="24"/>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barn(inVertical)">
                                      <p:cBhvr>
                                        <p:cTn id="55" dur="500"/>
                                        <p:tgtEl>
                                          <p:spTgt spid="34"/>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barn(inVertical)">
                                      <p:cBhvr>
                                        <p:cTn id="58" dur="500"/>
                                        <p:tgtEl>
                                          <p:spTgt spid="3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fade">
                                      <p:cBhvr>
                                        <p:cTn id="63" dur="500"/>
                                        <p:tgtEl>
                                          <p:spTgt spid="3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fade">
                                      <p:cBhvr>
                                        <p:cTn id="66" dur="500"/>
                                        <p:tgtEl>
                                          <p:spTgt spid="36"/>
                                        </p:tgtEl>
                                      </p:cBhvr>
                                    </p:animEffect>
                                  </p:childTnLst>
                                </p:cTn>
                              </p:par>
                            </p:childTnLst>
                          </p:cTn>
                        </p:par>
                        <p:par>
                          <p:cTn id="67" fill="hold">
                            <p:stCondLst>
                              <p:cond delay="500"/>
                            </p:stCondLst>
                            <p:childTnLst>
                              <p:par>
                                <p:cTn id="68" presetID="16" presetClass="entr" presetSubtype="21" fill="hold" nodeType="afterEffect">
                                  <p:stCondLst>
                                    <p:cond delay="0"/>
                                  </p:stCondLst>
                                  <p:childTnLst>
                                    <p:set>
                                      <p:cBhvr>
                                        <p:cTn id="69" dur="1" fill="hold">
                                          <p:stCondLst>
                                            <p:cond delay="0"/>
                                          </p:stCondLst>
                                        </p:cTn>
                                        <p:tgtEl>
                                          <p:spTgt spid="37"/>
                                        </p:tgtEl>
                                        <p:attrNameLst>
                                          <p:attrName>style.visibility</p:attrName>
                                        </p:attrNameLst>
                                      </p:cBhvr>
                                      <p:to>
                                        <p:strVal val="visible"/>
                                      </p:to>
                                    </p:set>
                                    <p:animEffect transition="in" filter="barn(inVertical)">
                                      <p:cBhvr>
                                        <p:cTn id="70" dur="500"/>
                                        <p:tgtEl>
                                          <p:spTgt spid="37"/>
                                        </p:tgtEl>
                                      </p:cBhvr>
                                    </p:animEffect>
                                  </p:childTnLst>
                                </p:cTn>
                              </p:par>
                            </p:childTnLst>
                          </p:cTn>
                        </p:par>
                        <p:par>
                          <p:cTn id="71" fill="hold">
                            <p:stCondLst>
                              <p:cond delay="1000"/>
                            </p:stCondLst>
                            <p:childTnLst>
                              <p:par>
                                <p:cTn id="72" presetID="22" presetClass="entr" presetSubtype="4" fill="hold" grpId="0" nodeType="after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wipe(down)">
                                      <p:cBhvr>
                                        <p:cTn id="7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3" grpId="0"/>
      <p:bldP spid="24" grpId="0"/>
      <p:bldP spid="26" grpId="0" animBg="1"/>
      <p:bldP spid="28" grpId="0"/>
      <p:bldP spid="29" grpId="0" animBg="1"/>
      <p:bldP spid="30" grpId="0" animBg="1"/>
      <p:bldP spid="33" grpId="0" animBg="1"/>
      <p:bldP spid="34" grpId="0"/>
      <p:bldP spid="35" grpId="0" animBg="1"/>
      <p:bldP spid="36" grpId="0" animBg="1"/>
      <p:bldP spid="38" grpId="0" animBg="1"/>
      <p:bldP spid="3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6E0586-837F-4B51-80C5-27E5BE6FB873}"/>
              </a:ext>
            </a:extLst>
          </p:cNvPr>
          <p:cNvSpPr>
            <a:spLocks noGrp="1"/>
          </p:cNvSpPr>
          <p:nvPr>
            <p:ph type="title"/>
          </p:nvPr>
        </p:nvSpPr>
        <p:spPr/>
        <p:txBody>
          <a:bodyPr/>
          <a:lstStyle/>
          <a:p>
            <a:r>
              <a:rPr lang="en-US" altLang="zh-CN" dirty="0"/>
              <a:t>5. </a:t>
            </a:r>
            <a:r>
              <a:rPr lang="zh-CN" altLang="en-US" dirty="0"/>
              <a:t>优化约束的极值条件</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C2241FE-B1BC-45BE-B32A-EE08B6408376}"/>
                  </a:ext>
                </a:extLst>
              </p:cNvPr>
              <p:cNvSpPr>
                <a:spLocks noGrp="1"/>
              </p:cNvSpPr>
              <p:nvPr>
                <p:ph idx="1"/>
              </p:nvPr>
            </p:nvSpPr>
            <p:spPr>
              <a:xfrm>
                <a:off x="58044" y="1196752"/>
                <a:ext cx="9719492" cy="5264289"/>
              </a:xfrm>
            </p:spPr>
            <p:txBody>
              <a:bodyPr/>
              <a:lstStyle/>
              <a:p>
                <a:r>
                  <a:rPr lang="zh-CN" altLang="en-US" dirty="0"/>
                  <a:t>凸函数</a:t>
                </a:r>
                <a:endParaRPr lang="en-US" altLang="zh-CN" dirty="0"/>
              </a:p>
              <a:p>
                <a:pPr lvl="1"/>
                <a:r>
                  <a:rPr lang="zh-CN" altLang="en-US" dirty="0"/>
                  <a:t>多元凸函数</a:t>
                </a:r>
                <a:endParaRPr lang="en-US" altLang="zh-CN" dirty="0"/>
              </a:p>
              <a:p>
                <a:pPr lvl="2"/>
                <a:r>
                  <a:rPr lang="zh-CN" altLang="en-US" dirty="0">
                    <a:solidFill>
                      <a:srgbClr val="C00000"/>
                    </a:solidFill>
                  </a:rPr>
                  <a:t>凸集：数学定义</a:t>
                </a:r>
                <a:r>
                  <a:rPr lang="en-US" altLang="zh-CN" dirty="0">
                    <a:solidFill>
                      <a:srgbClr val="C00000"/>
                    </a:solidFill>
                  </a:rPr>
                  <a:t>-</a:t>
                </a:r>
                <a:r>
                  <a:rPr lang="zh-CN" altLang="en-US" dirty="0"/>
                  <a:t>设</a:t>
                </a:r>
                <a14:m>
                  <m:oMath xmlns:m="http://schemas.openxmlformats.org/officeDocument/2006/math">
                    <m:r>
                      <a:rPr lang="en-US" altLang="zh-CN" i="1" dirty="0" smtClean="0">
                        <a:latin typeface="Cambria Math" panose="02040503050406030204" pitchFamily="18" charset="0"/>
                      </a:rPr>
                      <m:t>𝐷</m:t>
                    </m:r>
                  </m:oMath>
                </a14:m>
                <a:r>
                  <a:rPr lang="zh-CN" altLang="en-US" dirty="0"/>
                  <a:t>为</a:t>
                </a:r>
                <a14:m>
                  <m:oMath xmlns:m="http://schemas.openxmlformats.org/officeDocument/2006/math">
                    <m:r>
                      <m:rPr>
                        <m:sty m:val="p"/>
                      </m:rPr>
                      <a:rPr lang="en-US" altLang="zh-CN" i="0" dirty="0" smtClean="0">
                        <a:latin typeface="Cambria Math" panose="02040503050406030204" pitchFamily="18" charset="0"/>
                      </a:rPr>
                      <m:t>R</m:t>
                    </m:r>
                    <m:r>
                      <a:rPr lang="en-US" altLang="zh-CN" i="1" baseline="30000" dirty="0" smtClean="0">
                        <a:latin typeface="Cambria Math" panose="02040503050406030204" pitchFamily="18" charset="0"/>
                      </a:rPr>
                      <m:t>𝑛</m:t>
                    </m:r>
                  </m:oMath>
                </a14:m>
                <a:r>
                  <a:rPr lang="zh-CN" altLang="en-US" dirty="0"/>
                  <a:t>的一个集合，若对</a:t>
                </a:r>
                <a14:m>
                  <m:oMath xmlns:m="http://schemas.openxmlformats.org/officeDocument/2006/math">
                    <m:r>
                      <a:rPr lang="en-US" altLang="zh-CN" i="1" dirty="0" smtClean="0">
                        <a:latin typeface="Cambria Math" panose="02040503050406030204" pitchFamily="18" charset="0"/>
                      </a:rPr>
                      <m:t>𝐷</m:t>
                    </m:r>
                  </m:oMath>
                </a14:m>
                <a:r>
                  <a:rPr lang="zh-CN" altLang="en-US" dirty="0"/>
                  <a:t>中任意两点</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𝑋</m:t>
                        </m:r>
                      </m:e>
                      <m:sup>
                        <m:r>
                          <a:rPr lang="en-US" altLang="zh-CN" i="1" dirty="0">
                            <a:latin typeface="Cambria Math" panose="02040503050406030204" pitchFamily="18" charset="0"/>
                          </a:rPr>
                          <m:t>(</m:t>
                        </m:r>
                        <m:r>
                          <a:rPr lang="en-US" altLang="zh-CN" i="1" dirty="0">
                            <a:latin typeface="Cambria Math" panose="02040503050406030204" pitchFamily="18" charset="0"/>
                          </a:rPr>
                          <m:t>𝟏</m:t>
                        </m:r>
                        <m:r>
                          <a:rPr lang="en-US" altLang="zh-CN" i="1" dirty="0">
                            <a:latin typeface="Cambria Math" panose="02040503050406030204" pitchFamily="18" charset="0"/>
                          </a:rPr>
                          <m:t>)</m:t>
                        </m:r>
                      </m:sup>
                    </m:sSup>
                  </m:oMath>
                </a14:m>
                <a:r>
                  <a:rPr lang="zh-CN" altLang="en-US" dirty="0"/>
                  <a:t>，</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𝑋</m:t>
                        </m:r>
                      </m:e>
                      <m:sup>
                        <m:r>
                          <a:rPr lang="en-US" altLang="zh-CN" i="1" dirty="0">
                            <a:latin typeface="Cambria Math" panose="02040503050406030204" pitchFamily="18" charset="0"/>
                          </a:rPr>
                          <m:t>(</m:t>
                        </m:r>
                        <m:r>
                          <a:rPr lang="en-US" altLang="zh-CN" b="1" i="1" dirty="0" smtClean="0">
                            <a:latin typeface="Cambria Math" panose="02040503050406030204" pitchFamily="18" charset="0"/>
                          </a:rPr>
                          <m:t>𝟐</m:t>
                        </m:r>
                        <m:r>
                          <a:rPr lang="en-US" altLang="zh-CN" i="1" dirty="0">
                            <a:latin typeface="Cambria Math" panose="02040503050406030204" pitchFamily="18" charset="0"/>
                          </a:rPr>
                          <m:t>)</m:t>
                        </m:r>
                      </m:sup>
                    </m:sSup>
                  </m:oMath>
                </a14:m>
                <a:r>
                  <a:rPr lang="zh-CN" altLang="en-US" dirty="0"/>
                  <a:t>，给定任意的实数</a:t>
                </a:r>
                <a14:m>
                  <m:oMath xmlns:m="http://schemas.openxmlformats.org/officeDocument/2006/math">
                    <m:r>
                      <a:rPr lang="zh-CN" altLang="en-US" i="1" dirty="0">
                        <a:latin typeface="Cambria Math" panose="02040503050406030204" pitchFamily="18" charset="0"/>
                      </a:rPr>
                      <m:t>𝝀</m:t>
                    </m:r>
                    <m:r>
                      <a:rPr lang="en-US" altLang="zh-CN" dirty="0">
                        <a:latin typeface="Cambria Math" panose="02040503050406030204" pitchFamily="18" charset="0"/>
                      </a:rPr>
                      <m:t>(</m:t>
                    </m:r>
                    <m:r>
                      <a:rPr lang="en-US" altLang="zh-CN" i="1" dirty="0">
                        <a:latin typeface="Cambria Math" panose="02040503050406030204" pitchFamily="18" charset="0"/>
                      </a:rPr>
                      <m:t>𝟎</m:t>
                    </m:r>
                    <m:r>
                      <a:rPr lang="en-US" altLang="zh-CN" i="1" dirty="0">
                        <a:latin typeface="Cambria Math" panose="02040503050406030204" pitchFamily="18" charset="0"/>
                        <a:ea typeface="Cambria Math" panose="02040503050406030204" pitchFamily="18" charset="0"/>
                      </a:rPr>
                      <m:t>≤</m:t>
                    </m:r>
                    <m:r>
                      <a:rPr lang="zh-CN" altLang="en-US" i="1" dirty="0">
                        <a:latin typeface="Cambria Math" panose="02040503050406030204" pitchFamily="18" charset="0"/>
                        <a:ea typeface="Cambria Math" panose="02040503050406030204" pitchFamily="18" charset="0"/>
                      </a:rPr>
                      <m:t>𝛌</m:t>
                    </m:r>
                    <m:r>
                      <a:rPr lang="zh-CN" altLang="en-US" i="1" dirty="0">
                        <a:latin typeface="Cambria Math" panose="02040503050406030204" pitchFamily="18" charset="0"/>
                        <a:ea typeface="Cambria Math" panose="02040503050406030204" pitchFamily="18" charset="0"/>
                      </a:rPr>
                      <m:t>≤</m:t>
                    </m:r>
                    <m:r>
                      <a:rPr lang="en-US" altLang="zh-CN" dirty="0">
                        <a:latin typeface="Cambria Math" panose="02040503050406030204" pitchFamily="18" charset="0"/>
                        <a:ea typeface="Cambria Math" panose="02040503050406030204" pitchFamily="18" charset="0"/>
                      </a:rPr>
                      <m:t>𝟏</m:t>
                    </m:r>
                    <m:r>
                      <a:rPr lang="en-US" altLang="zh-CN" dirty="0">
                        <a:latin typeface="Cambria Math" panose="02040503050406030204" pitchFamily="18" charset="0"/>
                      </a:rPr>
                      <m:t>)</m:t>
                    </m:r>
                  </m:oMath>
                </a14:m>
                <a:r>
                  <a:rPr lang="zh-CN" altLang="en-US" dirty="0"/>
                  <a:t>，如果满足：</a:t>
                </a:r>
                <a:endParaRPr lang="en-US" altLang="zh-CN" dirty="0"/>
              </a:p>
            </p:txBody>
          </p:sp>
        </mc:Choice>
        <mc:Fallback xmlns="">
          <p:sp>
            <p:nvSpPr>
              <p:cNvPr id="3" name="内容占位符 2">
                <a:extLst>
                  <a:ext uri="{FF2B5EF4-FFF2-40B4-BE49-F238E27FC236}">
                    <a16:creationId xmlns:a16="http://schemas.microsoft.com/office/drawing/2014/main" id="{8C2241FE-B1BC-45BE-B32A-EE08B6408376}"/>
                  </a:ext>
                </a:extLst>
              </p:cNvPr>
              <p:cNvSpPr>
                <a:spLocks noGrp="1" noRot="1" noChangeAspect="1" noMove="1" noResize="1" noEditPoints="1" noAdjustHandles="1" noChangeArrowheads="1" noChangeShapeType="1" noTextEdit="1"/>
              </p:cNvSpPr>
              <p:nvPr>
                <p:ph idx="1"/>
              </p:nvPr>
            </p:nvSpPr>
            <p:spPr>
              <a:xfrm>
                <a:off x="58044" y="1196752"/>
                <a:ext cx="9719492" cy="5264289"/>
              </a:xfrm>
              <a:blipFill>
                <a:blip r:embed="rId3"/>
                <a:stretch>
                  <a:fillRect l="-1066" t="-2083" r="-502"/>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775DFFD2-4785-472E-B251-C089EF92002D}"/>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51830338-929F-495E-BB4B-E9F732A01113}"/>
              </a:ext>
            </a:extLst>
          </p:cNvPr>
          <p:cNvSpPr>
            <a:spLocks noGrp="1"/>
          </p:cNvSpPr>
          <p:nvPr>
            <p:ph type="sldNum" sz="quarter" idx="12"/>
          </p:nvPr>
        </p:nvSpPr>
        <p:spPr/>
        <p:txBody>
          <a:bodyPr/>
          <a:lstStyle/>
          <a:p>
            <a:fld id="{7AC79822-BC0D-4DE8-A7E5-90A3732A2B82}" type="slidenum">
              <a:rPr lang="zh-CN" altLang="en-US" smtClean="0"/>
              <a:pPr/>
              <a:t>10</a:t>
            </a:fld>
            <a:endParaRPr lang="en-US" altLang="zh-CN" dirty="0"/>
          </a:p>
        </p:txBody>
      </p:sp>
      <p:graphicFrame>
        <p:nvGraphicFramePr>
          <p:cNvPr id="32" name="对象 31">
            <a:extLst>
              <a:ext uri="{FF2B5EF4-FFF2-40B4-BE49-F238E27FC236}">
                <a16:creationId xmlns:a16="http://schemas.microsoft.com/office/drawing/2014/main" id="{1F5BBA07-866C-4ACA-95CC-DD06129C912F}"/>
              </a:ext>
            </a:extLst>
          </p:cNvPr>
          <p:cNvGraphicFramePr>
            <a:graphicFrameLocks noChangeAspect="1"/>
          </p:cNvGraphicFramePr>
          <p:nvPr>
            <p:extLst>
              <p:ext uri="{D42A27DB-BD31-4B8C-83A1-F6EECF244321}">
                <p14:modId xmlns:p14="http://schemas.microsoft.com/office/powerpoint/2010/main" val="3980281715"/>
              </p:ext>
            </p:extLst>
          </p:nvPr>
        </p:nvGraphicFramePr>
        <p:xfrm>
          <a:off x="2648744" y="3989083"/>
          <a:ext cx="4319587" cy="720725"/>
        </p:xfrm>
        <a:graphic>
          <a:graphicData uri="http://schemas.openxmlformats.org/presentationml/2006/ole">
            <mc:AlternateContent xmlns:mc="http://schemas.openxmlformats.org/markup-compatibility/2006">
              <mc:Choice xmlns:v="urn:schemas-microsoft-com:vml" Requires="v">
                <p:oleObj name="Equation" r:id="rId4" imgW="1066680" imgH="177480" progId="Equation.DSMT4">
                  <p:embed/>
                </p:oleObj>
              </mc:Choice>
              <mc:Fallback>
                <p:oleObj name="Equation" r:id="rId4" imgW="1066680" imgH="177480" progId="Equation.DSMT4">
                  <p:embed/>
                  <p:pic>
                    <p:nvPicPr>
                      <p:cNvPr id="6" name="对象 5">
                        <a:extLst>
                          <a:ext uri="{FF2B5EF4-FFF2-40B4-BE49-F238E27FC236}">
                            <a16:creationId xmlns:a16="http://schemas.microsoft.com/office/drawing/2014/main" id="{BC6C7B6E-CF54-48B6-A871-4CEE7B0AE859}"/>
                          </a:ext>
                        </a:extLst>
                      </p:cNvPr>
                      <p:cNvPicPr/>
                      <p:nvPr/>
                    </p:nvPicPr>
                    <p:blipFill>
                      <a:blip r:embed="rId5"/>
                      <a:stretch>
                        <a:fillRect/>
                      </a:stretch>
                    </p:blipFill>
                    <p:spPr>
                      <a:xfrm>
                        <a:off x="2648744" y="3989083"/>
                        <a:ext cx="4319587" cy="720725"/>
                      </a:xfrm>
                      <a:prstGeom prst="rect">
                        <a:avLst/>
                      </a:prstGeom>
                      <a:ln w="28575">
                        <a:solidFill>
                          <a:srgbClr val="C00000"/>
                        </a:solidFill>
                      </a:ln>
                    </p:spPr>
                  </p:pic>
                </p:oleObj>
              </mc:Fallback>
            </mc:AlternateContent>
          </a:graphicData>
        </a:graphic>
      </p:graphicFrame>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521A0D68-DF60-48D1-BC02-EE5635BAC60F}"/>
                  </a:ext>
                </a:extLst>
              </p:cNvPr>
              <p:cNvSpPr/>
              <p:nvPr/>
            </p:nvSpPr>
            <p:spPr>
              <a:xfrm>
                <a:off x="1270119" y="4925832"/>
                <a:ext cx="3335208" cy="523220"/>
              </a:xfrm>
              <a:prstGeom prst="rect">
                <a:avLst/>
              </a:prstGeom>
            </p:spPr>
            <p:txBody>
              <a:bodyPr wrap="none">
                <a:spAutoFit/>
              </a:bodyPr>
              <a:lstStyle/>
              <a:p>
                <a:r>
                  <a:rPr lang="zh-CN" altLang="en-US" sz="2800" b="1" dirty="0">
                    <a:latin typeface="+mn-lt"/>
                    <a:ea typeface="黑体" pitchFamily="2" charset="-122"/>
                  </a:rPr>
                  <a:t>则称</a:t>
                </a:r>
                <a14:m>
                  <m:oMath xmlns:m="http://schemas.openxmlformats.org/officeDocument/2006/math">
                    <m:r>
                      <a:rPr lang="en-US" altLang="zh-CN" sz="2800" b="1" dirty="0">
                        <a:latin typeface="Cambria Math" panose="02040503050406030204" pitchFamily="18" charset="0"/>
                        <a:ea typeface="黑体" pitchFamily="2" charset="-122"/>
                      </a:rPr>
                      <m:t>𝐷</m:t>
                    </m:r>
                  </m:oMath>
                </a14:m>
                <a:r>
                  <a:rPr lang="zh-CN" altLang="en-US" sz="2800" b="1" dirty="0">
                    <a:latin typeface="+mn-lt"/>
                    <a:ea typeface="黑体" pitchFamily="2" charset="-122"/>
                  </a:rPr>
                  <a:t>为</a:t>
                </a:r>
                <a14:m>
                  <m:oMath xmlns:m="http://schemas.openxmlformats.org/officeDocument/2006/math">
                    <m:r>
                      <m:rPr>
                        <m:sty m:val="p"/>
                      </m:rPr>
                      <a:rPr lang="en-US" altLang="zh-CN" sz="2800" dirty="0">
                        <a:latin typeface="Cambria Math" panose="02040503050406030204" pitchFamily="18" charset="0"/>
                      </a:rPr>
                      <m:t>R</m:t>
                    </m:r>
                    <m:r>
                      <a:rPr lang="en-US" altLang="zh-CN" sz="2800" i="1" baseline="30000" dirty="0">
                        <a:latin typeface="Cambria Math" panose="02040503050406030204" pitchFamily="18" charset="0"/>
                      </a:rPr>
                      <m:t>𝑛</m:t>
                    </m:r>
                  </m:oMath>
                </a14:m>
                <a:r>
                  <a:rPr lang="zh-CN" altLang="en-US" sz="2800" b="1" dirty="0">
                    <a:latin typeface="+mn-lt"/>
                    <a:ea typeface="黑体" pitchFamily="2" charset="-122"/>
                  </a:rPr>
                  <a:t>的凸集。</a:t>
                </a:r>
              </a:p>
            </p:txBody>
          </p:sp>
        </mc:Choice>
        <mc:Fallback xmlns="">
          <p:sp>
            <p:nvSpPr>
              <p:cNvPr id="6" name="矩形 5">
                <a:extLst>
                  <a:ext uri="{FF2B5EF4-FFF2-40B4-BE49-F238E27FC236}">
                    <a16:creationId xmlns:a16="http://schemas.microsoft.com/office/drawing/2014/main" id="{521A0D68-DF60-48D1-BC02-EE5635BAC60F}"/>
                  </a:ext>
                </a:extLst>
              </p:cNvPr>
              <p:cNvSpPr>
                <a:spLocks noRot="1" noChangeAspect="1" noMove="1" noResize="1" noEditPoints="1" noAdjustHandles="1" noChangeArrowheads="1" noChangeShapeType="1" noTextEdit="1"/>
              </p:cNvSpPr>
              <p:nvPr/>
            </p:nvSpPr>
            <p:spPr>
              <a:xfrm>
                <a:off x="1270119" y="4925832"/>
                <a:ext cx="3335208" cy="523220"/>
              </a:xfrm>
              <a:prstGeom prst="rect">
                <a:avLst/>
              </a:prstGeom>
              <a:blipFill>
                <a:blip r:embed="rId6"/>
                <a:stretch>
                  <a:fillRect l="-3656" t="-15116" r="-2925" b="-279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56742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arn(inVertical)">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3DA431-D60A-4789-B79A-9CFFABBAAEF8}"/>
              </a:ext>
            </a:extLst>
          </p:cNvPr>
          <p:cNvSpPr>
            <a:spLocks noGrp="1"/>
          </p:cNvSpPr>
          <p:nvPr>
            <p:ph type="title"/>
          </p:nvPr>
        </p:nvSpPr>
        <p:spPr/>
        <p:txBody>
          <a:bodyPr/>
          <a:lstStyle/>
          <a:p>
            <a:r>
              <a:rPr lang="zh-CN" altLang="en-US" dirty="0"/>
              <a:t>凸集数学定义推导</a:t>
            </a:r>
          </a:p>
        </p:txBody>
      </p:sp>
      <p:sp>
        <p:nvSpPr>
          <p:cNvPr id="4" name="日期占位符 3">
            <a:extLst>
              <a:ext uri="{FF2B5EF4-FFF2-40B4-BE49-F238E27FC236}">
                <a16:creationId xmlns:a16="http://schemas.microsoft.com/office/drawing/2014/main" id="{50E4B4E1-AA21-47FE-A1E4-4BDD33843DEA}"/>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BDE78928-D398-4A7E-912C-A3EBB6869CF8}"/>
              </a:ext>
            </a:extLst>
          </p:cNvPr>
          <p:cNvSpPr>
            <a:spLocks noGrp="1"/>
          </p:cNvSpPr>
          <p:nvPr>
            <p:ph type="sldNum" sz="quarter" idx="12"/>
          </p:nvPr>
        </p:nvSpPr>
        <p:spPr/>
        <p:txBody>
          <a:bodyPr/>
          <a:lstStyle/>
          <a:p>
            <a:fld id="{7AC79822-BC0D-4DE8-A7E5-90A3732A2B82}" type="slidenum">
              <a:rPr lang="zh-CN" altLang="en-US" smtClean="0"/>
              <a:pPr/>
              <a:t>11</a:t>
            </a:fld>
            <a:endParaRPr lang="en-US" altLang="zh-CN"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40BBF70-D26A-4D0C-A09E-7E729A74F234}"/>
                  </a:ext>
                </a:extLst>
              </p:cNvPr>
              <p:cNvSpPr txBox="1"/>
              <p:nvPr/>
            </p:nvSpPr>
            <p:spPr>
              <a:xfrm>
                <a:off x="9280585" y="3835947"/>
                <a:ext cx="612343" cy="5734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3200" i="1" dirty="0" smtClean="0">
                          <a:latin typeface="Cambria Math" panose="02040503050406030204" pitchFamily="18" charset="0"/>
                        </a:rPr>
                        <m:t>𝑥</m:t>
                      </m:r>
                      <m:r>
                        <a:rPr lang="en-US" altLang="zh-CN" sz="3200" b="0" i="1" baseline="-25000" dirty="0" smtClean="0">
                          <a:latin typeface="Cambria Math" panose="02040503050406030204" pitchFamily="18" charset="0"/>
                        </a:rPr>
                        <m:t>1</m:t>
                      </m:r>
                    </m:oMath>
                  </m:oMathPara>
                </a14:m>
                <a:endParaRPr lang="zh-CN" altLang="en-US" sz="3200" baseline="-25000" dirty="0"/>
              </a:p>
            </p:txBody>
          </p:sp>
        </mc:Choice>
        <mc:Fallback xmlns="">
          <p:sp>
            <p:nvSpPr>
              <p:cNvPr id="8" name="文本框 7">
                <a:extLst>
                  <a:ext uri="{FF2B5EF4-FFF2-40B4-BE49-F238E27FC236}">
                    <a16:creationId xmlns:a16="http://schemas.microsoft.com/office/drawing/2014/main" id="{540BBF70-D26A-4D0C-A09E-7E729A74F234}"/>
                  </a:ext>
                </a:extLst>
              </p:cNvPr>
              <p:cNvSpPr txBox="1">
                <a:spLocks noRot="1" noChangeAspect="1" noMove="1" noResize="1" noEditPoints="1" noAdjustHandles="1" noChangeArrowheads="1" noChangeShapeType="1" noTextEdit="1"/>
              </p:cNvSpPr>
              <p:nvPr/>
            </p:nvSpPr>
            <p:spPr>
              <a:xfrm>
                <a:off x="9280585" y="3835947"/>
                <a:ext cx="612343" cy="57342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12AEE0BF-A831-4A87-B0B6-29C1AF9AE817}"/>
                  </a:ext>
                </a:extLst>
              </p:cNvPr>
              <p:cNvSpPr txBox="1"/>
              <p:nvPr/>
            </p:nvSpPr>
            <p:spPr>
              <a:xfrm>
                <a:off x="5220653" y="1130970"/>
                <a:ext cx="519693" cy="5734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3200" b="0" i="1" dirty="0" smtClean="0">
                          <a:latin typeface="Cambria Math" panose="02040503050406030204" pitchFamily="18" charset="0"/>
                        </a:rPr>
                        <m:t>𝑥</m:t>
                      </m:r>
                      <m:r>
                        <a:rPr lang="en-US" altLang="zh-CN" sz="3200" b="0" i="1" baseline="-25000" dirty="0" smtClean="0">
                          <a:latin typeface="Cambria Math" panose="02040503050406030204" pitchFamily="18" charset="0"/>
                        </a:rPr>
                        <m:t>2</m:t>
                      </m:r>
                    </m:oMath>
                  </m:oMathPara>
                </a14:m>
                <a:endParaRPr lang="zh-CN" altLang="en-US" sz="3200" baseline="-25000" dirty="0"/>
              </a:p>
            </p:txBody>
          </p:sp>
        </mc:Choice>
        <mc:Fallback xmlns="">
          <p:sp>
            <p:nvSpPr>
              <p:cNvPr id="9" name="文本框 8">
                <a:extLst>
                  <a:ext uri="{FF2B5EF4-FFF2-40B4-BE49-F238E27FC236}">
                    <a16:creationId xmlns:a16="http://schemas.microsoft.com/office/drawing/2014/main" id="{12AEE0BF-A831-4A87-B0B6-29C1AF9AE817}"/>
                  </a:ext>
                </a:extLst>
              </p:cNvPr>
              <p:cNvSpPr txBox="1">
                <a:spLocks noRot="1" noChangeAspect="1" noMove="1" noResize="1" noEditPoints="1" noAdjustHandles="1" noChangeArrowheads="1" noChangeShapeType="1" noTextEdit="1"/>
              </p:cNvSpPr>
              <p:nvPr/>
            </p:nvSpPr>
            <p:spPr>
              <a:xfrm>
                <a:off x="5220653" y="1130970"/>
                <a:ext cx="519693" cy="573427"/>
              </a:xfrm>
              <a:prstGeom prst="rect">
                <a:avLst/>
              </a:prstGeom>
              <a:blipFill>
                <a:blip r:embed="rId4"/>
                <a:stretch>
                  <a:fillRect/>
                </a:stretch>
              </a:blipFill>
            </p:spPr>
            <p:txBody>
              <a:bodyPr/>
              <a:lstStyle/>
              <a:p>
                <a:r>
                  <a:rPr lang="zh-CN" altLang="en-US">
                    <a:noFill/>
                  </a:rPr>
                  <a:t> </a:t>
                </a:r>
              </a:p>
            </p:txBody>
          </p:sp>
        </mc:Fallback>
      </mc:AlternateContent>
      <p:sp>
        <p:nvSpPr>
          <p:cNvPr id="10" name="任意多边形: 形状 9">
            <a:extLst>
              <a:ext uri="{FF2B5EF4-FFF2-40B4-BE49-F238E27FC236}">
                <a16:creationId xmlns:a16="http://schemas.microsoft.com/office/drawing/2014/main" id="{F6065B74-C1F3-4D4D-B9B4-4732507262DF}"/>
              </a:ext>
            </a:extLst>
          </p:cNvPr>
          <p:cNvSpPr/>
          <p:nvPr/>
        </p:nvSpPr>
        <p:spPr bwMode="auto">
          <a:xfrm>
            <a:off x="5729958" y="1556792"/>
            <a:ext cx="3228693" cy="1987830"/>
          </a:xfrm>
          <a:custGeom>
            <a:avLst/>
            <a:gdLst>
              <a:gd name="connsiteX0" fmla="*/ 5992 w 1917124"/>
              <a:gd name="connsiteY0" fmla="*/ 933583 h 1553003"/>
              <a:gd name="connsiteX1" fmla="*/ 1168042 w 1917124"/>
              <a:gd name="connsiteY1" fmla="*/ 133 h 1553003"/>
              <a:gd name="connsiteX2" fmla="*/ 1910992 w 1917124"/>
              <a:gd name="connsiteY2" fmla="*/ 1000258 h 1553003"/>
              <a:gd name="connsiteX3" fmla="*/ 767992 w 1917124"/>
              <a:gd name="connsiteY3" fmla="*/ 1552708 h 1553003"/>
              <a:gd name="connsiteX4" fmla="*/ 5992 w 1917124"/>
              <a:gd name="connsiteY4" fmla="*/ 933583 h 1553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124" h="1553003">
                <a:moveTo>
                  <a:pt x="5992" y="933583"/>
                </a:moveTo>
                <a:cubicBezTo>
                  <a:pt x="72667" y="674820"/>
                  <a:pt x="850542" y="-10980"/>
                  <a:pt x="1168042" y="133"/>
                </a:cubicBezTo>
                <a:cubicBezTo>
                  <a:pt x="1485542" y="11245"/>
                  <a:pt x="1977667" y="741495"/>
                  <a:pt x="1910992" y="1000258"/>
                </a:cubicBezTo>
                <a:cubicBezTo>
                  <a:pt x="1844317" y="1259021"/>
                  <a:pt x="1091842" y="1563821"/>
                  <a:pt x="767992" y="1552708"/>
                </a:cubicBezTo>
                <a:cubicBezTo>
                  <a:pt x="444142" y="1541596"/>
                  <a:pt x="-60683" y="1192346"/>
                  <a:pt x="5992" y="933583"/>
                </a:cubicBezTo>
                <a:close/>
              </a:path>
            </a:pathLst>
          </a:cu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14" name="直接连接符 13">
            <a:extLst>
              <a:ext uri="{FF2B5EF4-FFF2-40B4-BE49-F238E27FC236}">
                <a16:creationId xmlns:a16="http://schemas.microsoft.com/office/drawing/2014/main" id="{7D86F7F2-C984-455A-8F74-6B75A8857F3D}"/>
              </a:ext>
            </a:extLst>
          </p:cNvPr>
          <p:cNvCxnSpPr>
            <a:cxnSpLocks/>
            <a:endCxn id="22" idx="6"/>
          </p:cNvCxnSpPr>
          <p:nvPr/>
        </p:nvCxnSpPr>
        <p:spPr bwMode="auto">
          <a:xfrm flipV="1">
            <a:off x="6198259" y="2503181"/>
            <a:ext cx="2316089" cy="548354"/>
          </a:xfrm>
          <a:prstGeom prst="line">
            <a:avLst/>
          </a:prstGeom>
          <a:ln w="76200">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18" name="直接箭头连接符 17">
            <a:extLst>
              <a:ext uri="{FF2B5EF4-FFF2-40B4-BE49-F238E27FC236}">
                <a16:creationId xmlns:a16="http://schemas.microsoft.com/office/drawing/2014/main" id="{F1CA3A09-41CB-4BA7-A141-06E25ED2463A}"/>
              </a:ext>
            </a:extLst>
          </p:cNvPr>
          <p:cNvCxnSpPr/>
          <p:nvPr/>
        </p:nvCxnSpPr>
        <p:spPr bwMode="auto">
          <a:xfrm>
            <a:off x="4995927" y="4151659"/>
            <a:ext cx="4392488" cy="0"/>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直接箭头连接符 18">
            <a:extLst>
              <a:ext uri="{FF2B5EF4-FFF2-40B4-BE49-F238E27FC236}">
                <a16:creationId xmlns:a16="http://schemas.microsoft.com/office/drawing/2014/main" id="{A628B09C-0DA7-49B5-84A6-BB8C5162BF2C}"/>
              </a:ext>
            </a:extLst>
          </p:cNvPr>
          <p:cNvCxnSpPr>
            <a:cxnSpLocks/>
          </p:cNvCxnSpPr>
          <p:nvPr/>
        </p:nvCxnSpPr>
        <p:spPr bwMode="auto">
          <a:xfrm flipV="1">
            <a:off x="5491599" y="1631379"/>
            <a:ext cx="0" cy="2888026"/>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 name="椭圆 20">
            <a:extLst>
              <a:ext uri="{FF2B5EF4-FFF2-40B4-BE49-F238E27FC236}">
                <a16:creationId xmlns:a16="http://schemas.microsoft.com/office/drawing/2014/main" id="{CF9BE65E-079D-43B1-AABB-81D4F4956C0B}"/>
              </a:ext>
            </a:extLst>
          </p:cNvPr>
          <p:cNvSpPr/>
          <p:nvPr/>
        </p:nvSpPr>
        <p:spPr bwMode="auto">
          <a:xfrm>
            <a:off x="6130942" y="2986335"/>
            <a:ext cx="144012" cy="14401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22" name="椭圆 21">
            <a:extLst>
              <a:ext uri="{FF2B5EF4-FFF2-40B4-BE49-F238E27FC236}">
                <a16:creationId xmlns:a16="http://schemas.microsoft.com/office/drawing/2014/main" id="{792B3970-5041-4667-B814-39418F57879A}"/>
              </a:ext>
            </a:extLst>
          </p:cNvPr>
          <p:cNvSpPr/>
          <p:nvPr/>
        </p:nvSpPr>
        <p:spPr bwMode="auto">
          <a:xfrm>
            <a:off x="8370336" y="2431173"/>
            <a:ext cx="144012" cy="14401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25" name="直接连接符 24">
            <a:extLst>
              <a:ext uri="{FF2B5EF4-FFF2-40B4-BE49-F238E27FC236}">
                <a16:creationId xmlns:a16="http://schemas.microsoft.com/office/drawing/2014/main" id="{62930EF8-40AF-408F-9BD0-C3C3BEC9ABDD}"/>
              </a:ext>
            </a:extLst>
          </p:cNvPr>
          <p:cNvCxnSpPr>
            <a:cxnSpLocks/>
            <a:stCxn id="21" idx="4"/>
          </p:cNvCxnSpPr>
          <p:nvPr/>
        </p:nvCxnSpPr>
        <p:spPr bwMode="auto">
          <a:xfrm>
            <a:off x="6202948" y="3130351"/>
            <a:ext cx="0" cy="102901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直接连接符 25">
            <a:extLst>
              <a:ext uri="{FF2B5EF4-FFF2-40B4-BE49-F238E27FC236}">
                <a16:creationId xmlns:a16="http://schemas.microsoft.com/office/drawing/2014/main" id="{2B68173D-D4C8-4102-B5AD-A1EA14237826}"/>
              </a:ext>
            </a:extLst>
          </p:cNvPr>
          <p:cNvCxnSpPr>
            <a:cxnSpLocks/>
            <a:stCxn id="22" idx="4"/>
          </p:cNvCxnSpPr>
          <p:nvPr/>
        </p:nvCxnSpPr>
        <p:spPr bwMode="auto">
          <a:xfrm>
            <a:off x="8442342" y="2575189"/>
            <a:ext cx="1190" cy="1563087"/>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7" name="椭圆 26">
            <a:extLst>
              <a:ext uri="{FF2B5EF4-FFF2-40B4-BE49-F238E27FC236}">
                <a16:creationId xmlns:a16="http://schemas.microsoft.com/office/drawing/2014/main" id="{37AB87F4-CA67-48AD-8B1A-019933DAEE07}"/>
              </a:ext>
            </a:extLst>
          </p:cNvPr>
          <p:cNvSpPr/>
          <p:nvPr/>
        </p:nvSpPr>
        <p:spPr bwMode="auto">
          <a:xfrm>
            <a:off x="7224063" y="2727498"/>
            <a:ext cx="144012" cy="14401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28" name="直接连接符 27">
            <a:extLst>
              <a:ext uri="{FF2B5EF4-FFF2-40B4-BE49-F238E27FC236}">
                <a16:creationId xmlns:a16="http://schemas.microsoft.com/office/drawing/2014/main" id="{DCFB78B6-3DC3-4362-BEEB-FEAA2C964632}"/>
              </a:ext>
            </a:extLst>
          </p:cNvPr>
          <p:cNvCxnSpPr>
            <a:cxnSpLocks/>
          </p:cNvCxnSpPr>
          <p:nvPr/>
        </p:nvCxnSpPr>
        <p:spPr bwMode="auto">
          <a:xfrm>
            <a:off x="7309358" y="2865773"/>
            <a:ext cx="0" cy="129359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直接连接符 32">
            <a:extLst>
              <a:ext uri="{FF2B5EF4-FFF2-40B4-BE49-F238E27FC236}">
                <a16:creationId xmlns:a16="http://schemas.microsoft.com/office/drawing/2014/main" id="{6A3971F3-D446-4D54-B1EA-74A0F6500CDB}"/>
              </a:ext>
            </a:extLst>
          </p:cNvPr>
          <p:cNvCxnSpPr>
            <a:cxnSpLocks/>
            <a:stCxn id="27" idx="2"/>
          </p:cNvCxnSpPr>
          <p:nvPr/>
        </p:nvCxnSpPr>
        <p:spPr bwMode="auto">
          <a:xfrm flipH="1">
            <a:off x="5520994" y="2799506"/>
            <a:ext cx="1703069"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4" name="直接连接符 33">
            <a:extLst>
              <a:ext uri="{FF2B5EF4-FFF2-40B4-BE49-F238E27FC236}">
                <a16:creationId xmlns:a16="http://schemas.microsoft.com/office/drawing/2014/main" id="{400B20B4-C5B9-4560-86B9-6F953C3D69E6}"/>
              </a:ext>
            </a:extLst>
          </p:cNvPr>
          <p:cNvCxnSpPr>
            <a:cxnSpLocks/>
          </p:cNvCxnSpPr>
          <p:nvPr/>
        </p:nvCxnSpPr>
        <p:spPr bwMode="auto">
          <a:xfrm flipH="1">
            <a:off x="6259338" y="3087538"/>
            <a:ext cx="2183004" cy="2399"/>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直接连接符 34">
            <a:extLst>
              <a:ext uri="{FF2B5EF4-FFF2-40B4-BE49-F238E27FC236}">
                <a16:creationId xmlns:a16="http://schemas.microsoft.com/office/drawing/2014/main" id="{0FE3DCB6-FDEA-4699-979B-2F844413C3B2}"/>
              </a:ext>
            </a:extLst>
          </p:cNvPr>
          <p:cNvCxnSpPr>
            <a:cxnSpLocks/>
          </p:cNvCxnSpPr>
          <p:nvPr/>
        </p:nvCxnSpPr>
        <p:spPr bwMode="auto">
          <a:xfrm flipH="1">
            <a:off x="7350840" y="2799506"/>
            <a:ext cx="1091502"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9" name="直接连接符 38">
            <a:extLst>
              <a:ext uri="{FF2B5EF4-FFF2-40B4-BE49-F238E27FC236}">
                <a16:creationId xmlns:a16="http://schemas.microsoft.com/office/drawing/2014/main" id="{5E63609F-207A-46BC-B10A-810013C56203}"/>
              </a:ext>
            </a:extLst>
          </p:cNvPr>
          <p:cNvCxnSpPr>
            <a:cxnSpLocks/>
          </p:cNvCxnSpPr>
          <p:nvPr/>
        </p:nvCxnSpPr>
        <p:spPr bwMode="auto">
          <a:xfrm flipH="1">
            <a:off x="5520994" y="3087538"/>
            <a:ext cx="677266"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1" name="直接连接符 40">
            <a:extLst>
              <a:ext uri="{FF2B5EF4-FFF2-40B4-BE49-F238E27FC236}">
                <a16:creationId xmlns:a16="http://schemas.microsoft.com/office/drawing/2014/main" id="{FEF270F7-4A25-4FE3-A1FC-E6CB0863B031}"/>
              </a:ext>
            </a:extLst>
          </p:cNvPr>
          <p:cNvCxnSpPr>
            <a:cxnSpLocks/>
          </p:cNvCxnSpPr>
          <p:nvPr/>
        </p:nvCxnSpPr>
        <p:spPr bwMode="auto">
          <a:xfrm flipH="1">
            <a:off x="5491599" y="2489605"/>
            <a:ext cx="2985605" cy="1357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id="{0EA62081-B691-44F0-9955-EDB5057BB214}"/>
                  </a:ext>
                </a:extLst>
              </p:cNvPr>
              <p:cNvSpPr/>
              <p:nvPr/>
            </p:nvSpPr>
            <p:spPr>
              <a:xfrm>
                <a:off x="5877653" y="2725019"/>
                <a:ext cx="660501" cy="3808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i="1" dirty="0" smtClean="0">
                              <a:latin typeface="Cambria Math" panose="02040503050406030204" pitchFamily="18" charset="0"/>
                            </a:rPr>
                          </m:ctrlPr>
                        </m:sSupPr>
                        <m:e>
                          <m:r>
                            <a:rPr lang="en-US" altLang="zh-CN" i="1" dirty="0">
                              <a:latin typeface="Cambria Math" panose="02040503050406030204" pitchFamily="18" charset="0"/>
                            </a:rPr>
                            <m:t>𝑋</m:t>
                          </m:r>
                        </m:e>
                        <m:sup>
                          <m:r>
                            <a:rPr lang="en-US" altLang="zh-CN" i="1" dirty="0">
                              <a:latin typeface="Cambria Math" panose="02040503050406030204" pitchFamily="18" charset="0"/>
                            </a:rPr>
                            <m:t>(</m:t>
                          </m:r>
                          <m:r>
                            <a:rPr lang="en-US" altLang="zh-CN" i="1" dirty="0">
                              <a:latin typeface="Cambria Math" panose="02040503050406030204" pitchFamily="18" charset="0"/>
                            </a:rPr>
                            <m:t>𝟏</m:t>
                          </m:r>
                          <m:r>
                            <a:rPr lang="en-US" altLang="zh-CN" i="1" dirty="0">
                              <a:latin typeface="Cambria Math" panose="02040503050406030204" pitchFamily="18" charset="0"/>
                            </a:rPr>
                            <m:t>)</m:t>
                          </m:r>
                        </m:sup>
                      </m:sSup>
                    </m:oMath>
                  </m:oMathPara>
                </a14:m>
                <a:endParaRPr lang="zh-CN" altLang="en-US" dirty="0"/>
              </a:p>
            </p:txBody>
          </p:sp>
        </mc:Choice>
        <mc:Fallback xmlns="">
          <p:sp>
            <p:nvSpPr>
              <p:cNvPr id="46" name="矩形 45">
                <a:extLst>
                  <a:ext uri="{FF2B5EF4-FFF2-40B4-BE49-F238E27FC236}">
                    <a16:creationId xmlns:a16="http://schemas.microsoft.com/office/drawing/2014/main" id="{0EA62081-B691-44F0-9955-EDB5057BB214}"/>
                  </a:ext>
                </a:extLst>
              </p:cNvPr>
              <p:cNvSpPr>
                <a:spLocks noRot="1" noChangeAspect="1" noMove="1" noResize="1" noEditPoints="1" noAdjustHandles="1" noChangeArrowheads="1" noChangeShapeType="1" noTextEdit="1"/>
              </p:cNvSpPr>
              <p:nvPr/>
            </p:nvSpPr>
            <p:spPr>
              <a:xfrm>
                <a:off x="5877653" y="2725019"/>
                <a:ext cx="660501" cy="38081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矩形 46">
                <a:extLst>
                  <a:ext uri="{FF2B5EF4-FFF2-40B4-BE49-F238E27FC236}">
                    <a16:creationId xmlns:a16="http://schemas.microsoft.com/office/drawing/2014/main" id="{A2712F5C-D072-4D86-A6E3-A6C14133087F}"/>
                  </a:ext>
                </a:extLst>
              </p:cNvPr>
              <p:cNvSpPr/>
              <p:nvPr/>
            </p:nvSpPr>
            <p:spPr>
              <a:xfrm>
                <a:off x="8137309" y="2129468"/>
                <a:ext cx="660501" cy="3808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i="1" dirty="0" smtClean="0">
                              <a:latin typeface="Cambria Math" panose="02040503050406030204" pitchFamily="18" charset="0"/>
                            </a:rPr>
                          </m:ctrlPr>
                        </m:sSupPr>
                        <m:e>
                          <m:r>
                            <a:rPr lang="en-US" altLang="zh-CN" i="1" dirty="0">
                              <a:latin typeface="Cambria Math" panose="02040503050406030204" pitchFamily="18" charset="0"/>
                            </a:rPr>
                            <m:t>𝑋</m:t>
                          </m:r>
                        </m:e>
                        <m:sup>
                          <m:r>
                            <a:rPr lang="en-US" altLang="zh-CN" i="1" dirty="0">
                              <a:latin typeface="Cambria Math" panose="02040503050406030204" pitchFamily="18" charset="0"/>
                            </a:rPr>
                            <m:t>(</m:t>
                          </m:r>
                          <m:r>
                            <a:rPr lang="en-US" altLang="zh-CN" b="0" i="1" dirty="0" smtClean="0">
                              <a:latin typeface="Cambria Math" panose="02040503050406030204" pitchFamily="18" charset="0"/>
                            </a:rPr>
                            <m:t>2</m:t>
                          </m:r>
                          <m:r>
                            <a:rPr lang="en-US" altLang="zh-CN" i="1" dirty="0">
                              <a:latin typeface="Cambria Math" panose="02040503050406030204" pitchFamily="18" charset="0"/>
                            </a:rPr>
                            <m:t>)</m:t>
                          </m:r>
                        </m:sup>
                      </m:sSup>
                    </m:oMath>
                  </m:oMathPara>
                </a14:m>
                <a:endParaRPr lang="zh-CN" altLang="en-US" dirty="0"/>
              </a:p>
            </p:txBody>
          </p:sp>
        </mc:Choice>
        <mc:Fallback xmlns="">
          <p:sp>
            <p:nvSpPr>
              <p:cNvPr id="47" name="矩形 46">
                <a:extLst>
                  <a:ext uri="{FF2B5EF4-FFF2-40B4-BE49-F238E27FC236}">
                    <a16:creationId xmlns:a16="http://schemas.microsoft.com/office/drawing/2014/main" id="{A2712F5C-D072-4D86-A6E3-A6C14133087F}"/>
                  </a:ext>
                </a:extLst>
              </p:cNvPr>
              <p:cNvSpPr>
                <a:spLocks noRot="1" noChangeAspect="1" noMove="1" noResize="1" noEditPoints="1" noAdjustHandles="1" noChangeArrowheads="1" noChangeShapeType="1" noTextEdit="1"/>
              </p:cNvSpPr>
              <p:nvPr/>
            </p:nvSpPr>
            <p:spPr>
              <a:xfrm>
                <a:off x="8137309" y="2129468"/>
                <a:ext cx="660501" cy="38081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a:extLst>
                  <a:ext uri="{FF2B5EF4-FFF2-40B4-BE49-F238E27FC236}">
                    <a16:creationId xmlns:a16="http://schemas.microsoft.com/office/drawing/2014/main" id="{CCAEFDAF-5182-44CB-9BB8-AE45D3470AFA}"/>
                  </a:ext>
                </a:extLst>
              </p:cNvPr>
              <p:cNvSpPr/>
              <p:nvPr/>
            </p:nvSpPr>
            <p:spPr>
              <a:xfrm>
                <a:off x="7053616" y="2408177"/>
                <a:ext cx="641266" cy="3808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i="1" dirty="0" smtClean="0">
                              <a:latin typeface="Cambria Math" panose="02040503050406030204" pitchFamily="18" charset="0"/>
                            </a:rPr>
                          </m:ctrlPr>
                        </m:sSupPr>
                        <m:e>
                          <m:r>
                            <a:rPr lang="en-US" altLang="zh-CN" i="1" dirty="0">
                              <a:latin typeface="Cambria Math" panose="02040503050406030204" pitchFamily="18" charset="0"/>
                            </a:rPr>
                            <m:t>𝑋</m:t>
                          </m:r>
                        </m:e>
                        <m:sup>
                          <m:r>
                            <a:rPr lang="en-US" altLang="zh-CN" i="1" dirty="0">
                              <a:latin typeface="Cambria Math" panose="02040503050406030204" pitchFamily="18" charset="0"/>
                            </a:rPr>
                            <m:t>(</m:t>
                          </m:r>
                          <m:r>
                            <a:rPr lang="en-US" altLang="zh-CN" b="0" i="1" dirty="0" smtClean="0">
                              <a:latin typeface="Cambria Math" panose="02040503050406030204" pitchFamily="18" charset="0"/>
                            </a:rPr>
                            <m:t>∗</m:t>
                          </m:r>
                          <m:r>
                            <a:rPr lang="en-US" altLang="zh-CN" i="1" dirty="0">
                              <a:latin typeface="Cambria Math" panose="02040503050406030204" pitchFamily="18" charset="0"/>
                            </a:rPr>
                            <m:t>)</m:t>
                          </m:r>
                        </m:sup>
                      </m:sSup>
                    </m:oMath>
                  </m:oMathPara>
                </a14:m>
                <a:endParaRPr lang="zh-CN" altLang="en-US" dirty="0"/>
              </a:p>
            </p:txBody>
          </p:sp>
        </mc:Choice>
        <mc:Fallback xmlns="">
          <p:sp>
            <p:nvSpPr>
              <p:cNvPr id="48" name="矩形 47">
                <a:extLst>
                  <a:ext uri="{FF2B5EF4-FFF2-40B4-BE49-F238E27FC236}">
                    <a16:creationId xmlns:a16="http://schemas.microsoft.com/office/drawing/2014/main" id="{CCAEFDAF-5182-44CB-9BB8-AE45D3470AFA}"/>
                  </a:ext>
                </a:extLst>
              </p:cNvPr>
              <p:cNvSpPr>
                <a:spLocks noRot="1" noChangeAspect="1" noMove="1" noResize="1" noEditPoints="1" noAdjustHandles="1" noChangeArrowheads="1" noChangeShapeType="1" noTextEdit="1"/>
              </p:cNvSpPr>
              <p:nvPr/>
            </p:nvSpPr>
            <p:spPr>
              <a:xfrm>
                <a:off x="7053616" y="2408177"/>
                <a:ext cx="641266" cy="380810"/>
              </a:xfrm>
              <a:prstGeom prst="rect">
                <a:avLst/>
              </a:prstGeom>
              <a:blipFill>
                <a:blip r:embed="rId7"/>
                <a:stretch>
                  <a:fillRect/>
                </a:stretch>
              </a:blipFill>
            </p:spPr>
            <p:txBody>
              <a:bodyPr/>
              <a:lstStyle/>
              <a:p>
                <a:r>
                  <a:rPr lang="zh-CN" altLang="en-US">
                    <a:noFill/>
                  </a:rPr>
                  <a:t> </a:t>
                </a:r>
              </a:p>
            </p:txBody>
          </p:sp>
        </mc:Fallback>
      </mc:AlternateContent>
      <p:graphicFrame>
        <p:nvGraphicFramePr>
          <p:cNvPr id="50" name="对象 49">
            <a:extLst>
              <a:ext uri="{FF2B5EF4-FFF2-40B4-BE49-F238E27FC236}">
                <a16:creationId xmlns:a16="http://schemas.microsoft.com/office/drawing/2014/main" id="{A7614AF2-36F9-40F6-A612-5A6B7C24E8C0}"/>
              </a:ext>
            </a:extLst>
          </p:cNvPr>
          <p:cNvGraphicFramePr>
            <a:graphicFrameLocks noChangeAspect="1"/>
          </p:cNvGraphicFramePr>
          <p:nvPr>
            <p:extLst>
              <p:ext uri="{D42A27DB-BD31-4B8C-83A1-F6EECF244321}">
                <p14:modId xmlns:p14="http://schemas.microsoft.com/office/powerpoint/2010/main" val="2409240207"/>
              </p:ext>
            </p:extLst>
          </p:nvPr>
        </p:nvGraphicFramePr>
        <p:xfrm>
          <a:off x="222202" y="1121494"/>
          <a:ext cx="1450975" cy="528637"/>
        </p:xfrm>
        <a:graphic>
          <a:graphicData uri="http://schemas.openxmlformats.org/presentationml/2006/ole">
            <mc:AlternateContent xmlns:mc="http://schemas.openxmlformats.org/markup-compatibility/2006">
              <mc:Choice xmlns:v="urn:schemas-microsoft-com:vml" Requires="v">
                <p:oleObj name="Equation" r:id="rId8" imgW="419040" imgH="152280" progId="Equation.DSMT4">
                  <p:embed/>
                </p:oleObj>
              </mc:Choice>
              <mc:Fallback>
                <p:oleObj name="Equation" r:id="rId8" imgW="419040" imgH="152280" progId="Equation.DSMT4">
                  <p:embed/>
                  <p:pic>
                    <p:nvPicPr>
                      <p:cNvPr id="50" name="对象 49">
                        <a:extLst>
                          <a:ext uri="{FF2B5EF4-FFF2-40B4-BE49-F238E27FC236}">
                            <a16:creationId xmlns:a16="http://schemas.microsoft.com/office/drawing/2014/main" id="{0AB442B5-53D9-40D8-A79B-E8A559C34D69}"/>
                          </a:ext>
                        </a:extLst>
                      </p:cNvPr>
                      <p:cNvPicPr/>
                      <p:nvPr/>
                    </p:nvPicPr>
                    <p:blipFill>
                      <a:blip r:embed="rId9"/>
                      <a:stretch>
                        <a:fillRect/>
                      </a:stretch>
                    </p:blipFill>
                    <p:spPr>
                      <a:xfrm>
                        <a:off x="222202" y="1121494"/>
                        <a:ext cx="1450975" cy="528637"/>
                      </a:xfrm>
                      <a:prstGeom prst="rect">
                        <a:avLst/>
                      </a:prstGeom>
                    </p:spPr>
                  </p:pic>
                </p:oleObj>
              </mc:Fallback>
            </mc:AlternateContent>
          </a:graphicData>
        </a:graphic>
      </p:graphicFrame>
      <p:graphicFrame>
        <p:nvGraphicFramePr>
          <p:cNvPr id="51" name="对象 50">
            <a:extLst>
              <a:ext uri="{FF2B5EF4-FFF2-40B4-BE49-F238E27FC236}">
                <a16:creationId xmlns:a16="http://schemas.microsoft.com/office/drawing/2014/main" id="{491E10BC-EAE0-4908-8A79-EE78E241EF19}"/>
              </a:ext>
            </a:extLst>
          </p:cNvPr>
          <p:cNvGraphicFramePr>
            <a:graphicFrameLocks noChangeAspect="1"/>
          </p:cNvGraphicFramePr>
          <p:nvPr>
            <p:extLst>
              <p:ext uri="{D42A27DB-BD31-4B8C-83A1-F6EECF244321}">
                <p14:modId xmlns:p14="http://schemas.microsoft.com/office/powerpoint/2010/main" val="622900900"/>
              </p:ext>
            </p:extLst>
          </p:nvPr>
        </p:nvGraphicFramePr>
        <p:xfrm>
          <a:off x="103188" y="1547813"/>
          <a:ext cx="2243137" cy="1230312"/>
        </p:xfrm>
        <a:graphic>
          <a:graphicData uri="http://schemas.openxmlformats.org/presentationml/2006/ole">
            <mc:AlternateContent xmlns:mc="http://schemas.openxmlformats.org/markup-compatibility/2006">
              <mc:Choice xmlns:v="urn:schemas-microsoft-com:vml" Requires="v">
                <p:oleObj name="Equation" r:id="rId10" imgW="647640" imgH="355320" progId="Equation.DSMT4">
                  <p:embed/>
                </p:oleObj>
              </mc:Choice>
              <mc:Fallback>
                <p:oleObj name="Equation" r:id="rId10" imgW="647640" imgH="355320" progId="Equation.DSMT4">
                  <p:embed/>
                  <p:pic>
                    <p:nvPicPr>
                      <p:cNvPr id="51" name="对象 50">
                        <a:extLst>
                          <a:ext uri="{FF2B5EF4-FFF2-40B4-BE49-F238E27FC236}">
                            <a16:creationId xmlns:a16="http://schemas.microsoft.com/office/drawing/2014/main" id="{F85CA467-E0FD-4FD9-8F69-6F1865732EE1}"/>
                          </a:ext>
                        </a:extLst>
                      </p:cNvPr>
                      <p:cNvPicPr/>
                      <p:nvPr/>
                    </p:nvPicPr>
                    <p:blipFill>
                      <a:blip r:embed="rId11"/>
                      <a:stretch>
                        <a:fillRect/>
                      </a:stretch>
                    </p:blipFill>
                    <p:spPr>
                      <a:xfrm>
                        <a:off x="103188" y="1547813"/>
                        <a:ext cx="2243137" cy="1230312"/>
                      </a:xfrm>
                      <a:prstGeom prst="rect">
                        <a:avLst/>
                      </a:prstGeom>
                    </p:spPr>
                  </p:pic>
                </p:oleObj>
              </mc:Fallback>
            </mc:AlternateContent>
          </a:graphicData>
        </a:graphic>
      </p:graphicFrame>
      <p:sp>
        <p:nvSpPr>
          <p:cNvPr id="52" name="箭头: 右 51">
            <a:extLst>
              <a:ext uri="{FF2B5EF4-FFF2-40B4-BE49-F238E27FC236}">
                <a16:creationId xmlns:a16="http://schemas.microsoft.com/office/drawing/2014/main" id="{0E2AA94C-2693-4412-9D45-0EFCB8F25FF2}"/>
              </a:ext>
            </a:extLst>
          </p:cNvPr>
          <p:cNvSpPr/>
          <p:nvPr/>
        </p:nvSpPr>
        <p:spPr bwMode="auto">
          <a:xfrm>
            <a:off x="2268600" y="1928018"/>
            <a:ext cx="645658" cy="30913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aphicFrame>
        <p:nvGraphicFramePr>
          <p:cNvPr id="53" name="对象 52">
            <a:extLst>
              <a:ext uri="{FF2B5EF4-FFF2-40B4-BE49-F238E27FC236}">
                <a16:creationId xmlns:a16="http://schemas.microsoft.com/office/drawing/2014/main" id="{030C0B16-7AF3-4FC7-A0E7-4DD08BA19F22}"/>
              </a:ext>
            </a:extLst>
          </p:cNvPr>
          <p:cNvGraphicFramePr>
            <a:graphicFrameLocks noChangeAspect="1"/>
          </p:cNvGraphicFramePr>
          <p:nvPr>
            <p:extLst>
              <p:ext uri="{D42A27DB-BD31-4B8C-83A1-F6EECF244321}">
                <p14:modId xmlns:p14="http://schemas.microsoft.com/office/powerpoint/2010/main" val="3181251428"/>
              </p:ext>
            </p:extLst>
          </p:nvPr>
        </p:nvGraphicFramePr>
        <p:xfrm>
          <a:off x="2962208" y="1811715"/>
          <a:ext cx="1539875" cy="527050"/>
        </p:xfrm>
        <a:graphic>
          <a:graphicData uri="http://schemas.openxmlformats.org/presentationml/2006/ole">
            <mc:AlternateContent xmlns:mc="http://schemas.openxmlformats.org/markup-compatibility/2006">
              <mc:Choice xmlns:v="urn:schemas-microsoft-com:vml" Requires="v">
                <p:oleObj name="Equation" r:id="rId12" imgW="444240" imgH="152280" progId="Equation.DSMT4">
                  <p:embed/>
                </p:oleObj>
              </mc:Choice>
              <mc:Fallback>
                <p:oleObj name="Equation" r:id="rId12" imgW="444240" imgH="152280" progId="Equation.DSMT4">
                  <p:embed/>
                  <p:pic>
                    <p:nvPicPr>
                      <p:cNvPr id="53" name="对象 52">
                        <a:extLst>
                          <a:ext uri="{FF2B5EF4-FFF2-40B4-BE49-F238E27FC236}">
                            <a16:creationId xmlns:a16="http://schemas.microsoft.com/office/drawing/2014/main" id="{10A5B17F-0D21-4BBF-BCB8-AD5EFC180DC4}"/>
                          </a:ext>
                        </a:extLst>
                      </p:cNvPr>
                      <p:cNvPicPr/>
                      <p:nvPr/>
                    </p:nvPicPr>
                    <p:blipFill>
                      <a:blip r:embed="rId13"/>
                      <a:stretch>
                        <a:fillRect/>
                      </a:stretch>
                    </p:blipFill>
                    <p:spPr>
                      <a:xfrm>
                        <a:off x="2962208" y="1811715"/>
                        <a:ext cx="1539875" cy="527050"/>
                      </a:xfrm>
                      <a:prstGeom prst="rect">
                        <a:avLst/>
                      </a:prstGeom>
                    </p:spPr>
                  </p:pic>
                </p:oleObj>
              </mc:Fallback>
            </mc:AlternateContent>
          </a:graphicData>
        </a:graphic>
      </p:graphicFrame>
      <p:graphicFrame>
        <p:nvGraphicFramePr>
          <p:cNvPr id="54" name="对象 53">
            <a:extLst>
              <a:ext uri="{FF2B5EF4-FFF2-40B4-BE49-F238E27FC236}">
                <a16:creationId xmlns:a16="http://schemas.microsoft.com/office/drawing/2014/main" id="{92FE5934-BA07-4227-9005-A9E54F2F91EF}"/>
              </a:ext>
            </a:extLst>
          </p:cNvPr>
          <p:cNvGraphicFramePr>
            <a:graphicFrameLocks noChangeAspect="1"/>
          </p:cNvGraphicFramePr>
          <p:nvPr>
            <p:extLst>
              <p:ext uri="{D42A27DB-BD31-4B8C-83A1-F6EECF244321}">
                <p14:modId xmlns:p14="http://schemas.microsoft.com/office/powerpoint/2010/main" val="3882890003"/>
              </p:ext>
            </p:extLst>
          </p:nvPr>
        </p:nvGraphicFramePr>
        <p:xfrm>
          <a:off x="92533" y="2696332"/>
          <a:ext cx="3608388" cy="660400"/>
        </p:xfrm>
        <a:graphic>
          <a:graphicData uri="http://schemas.openxmlformats.org/presentationml/2006/ole">
            <mc:AlternateContent xmlns:mc="http://schemas.openxmlformats.org/markup-compatibility/2006">
              <mc:Choice xmlns:v="urn:schemas-microsoft-com:vml" Requires="v">
                <p:oleObj name="Equation" r:id="rId14" imgW="1041120" imgH="190440" progId="Equation.DSMT4">
                  <p:embed/>
                </p:oleObj>
              </mc:Choice>
              <mc:Fallback>
                <p:oleObj name="Equation" r:id="rId14" imgW="1041120" imgH="190440" progId="Equation.DSMT4">
                  <p:embed/>
                  <p:pic>
                    <p:nvPicPr>
                      <p:cNvPr id="54" name="对象 53">
                        <a:extLst>
                          <a:ext uri="{FF2B5EF4-FFF2-40B4-BE49-F238E27FC236}">
                            <a16:creationId xmlns:a16="http://schemas.microsoft.com/office/drawing/2014/main" id="{4E61D9C5-5680-4588-A78D-7D128E63065D}"/>
                          </a:ext>
                        </a:extLst>
                      </p:cNvPr>
                      <p:cNvPicPr/>
                      <p:nvPr/>
                    </p:nvPicPr>
                    <p:blipFill>
                      <a:blip r:embed="rId15"/>
                      <a:stretch>
                        <a:fillRect/>
                      </a:stretch>
                    </p:blipFill>
                    <p:spPr>
                      <a:xfrm>
                        <a:off x="92533" y="2696332"/>
                        <a:ext cx="3608388" cy="660400"/>
                      </a:xfrm>
                      <a:prstGeom prst="rect">
                        <a:avLst/>
                      </a:prstGeom>
                    </p:spPr>
                  </p:pic>
                </p:oleObj>
              </mc:Fallback>
            </mc:AlternateContent>
          </a:graphicData>
        </a:graphic>
      </p:graphicFrame>
      <p:graphicFrame>
        <p:nvGraphicFramePr>
          <p:cNvPr id="55" name="对象 54">
            <a:extLst>
              <a:ext uri="{FF2B5EF4-FFF2-40B4-BE49-F238E27FC236}">
                <a16:creationId xmlns:a16="http://schemas.microsoft.com/office/drawing/2014/main" id="{6B91A9FB-1712-4CC4-B902-D9BA1F956954}"/>
              </a:ext>
            </a:extLst>
          </p:cNvPr>
          <p:cNvGraphicFramePr>
            <a:graphicFrameLocks noChangeAspect="1"/>
          </p:cNvGraphicFramePr>
          <p:nvPr>
            <p:extLst>
              <p:ext uri="{D42A27DB-BD31-4B8C-83A1-F6EECF244321}">
                <p14:modId xmlns:p14="http://schemas.microsoft.com/office/powerpoint/2010/main" val="185947925"/>
              </p:ext>
            </p:extLst>
          </p:nvPr>
        </p:nvGraphicFramePr>
        <p:xfrm>
          <a:off x="58044" y="3304378"/>
          <a:ext cx="4092576" cy="1230313"/>
        </p:xfrm>
        <a:graphic>
          <a:graphicData uri="http://schemas.openxmlformats.org/presentationml/2006/ole">
            <mc:AlternateContent xmlns:mc="http://schemas.openxmlformats.org/markup-compatibility/2006">
              <mc:Choice xmlns:v="urn:schemas-microsoft-com:vml" Requires="v">
                <p:oleObj name="Equation" r:id="rId16" imgW="1180800" imgH="355320" progId="Equation.DSMT4">
                  <p:embed/>
                </p:oleObj>
              </mc:Choice>
              <mc:Fallback>
                <p:oleObj name="Equation" r:id="rId16" imgW="1180800" imgH="355320" progId="Equation.DSMT4">
                  <p:embed/>
                  <p:pic>
                    <p:nvPicPr>
                      <p:cNvPr id="55" name="对象 54">
                        <a:extLst>
                          <a:ext uri="{FF2B5EF4-FFF2-40B4-BE49-F238E27FC236}">
                            <a16:creationId xmlns:a16="http://schemas.microsoft.com/office/drawing/2014/main" id="{9795EA10-DBD0-4B9C-865F-10D159C965E8}"/>
                          </a:ext>
                        </a:extLst>
                      </p:cNvPr>
                      <p:cNvPicPr/>
                      <p:nvPr/>
                    </p:nvPicPr>
                    <p:blipFill>
                      <a:blip r:embed="rId17"/>
                      <a:stretch>
                        <a:fillRect/>
                      </a:stretch>
                    </p:blipFill>
                    <p:spPr>
                      <a:xfrm>
                        <a:off x="58044" y="3304378"/>
                        <a:ext cx="4092576" cy="1230313"/>
                      </a:xfrm>
                      <a:prstGeom prst="rect">
                        <a:avLst/>
                      </a:prstGeom>
                    </p:spPr>
                  </p:pic>
                </p:oleObj>
              </mc:Fallback>
            </mc:AlternateContent>
          </a:graphicData>
        </a:graphic>
      </p:graphicFrame>
      <p:sp>
        <p:nvSpPr>
          <p:cNvPr id="56" name="箭头: 右 55">
            <a:extLst>
              <a:ext uri="{FF2B5EF4-FFF2-40B4-BE49-F238E27FC236}">
                <a16:creationId xmlns:a16="http://schemas.microsoft.com/office/drawing/2014/main" id="{5B051BF8-E5AA-4DFE-98D1-31D8471445DE}"/>
              </a:ext>
            </a:extLst>
          </p:cNvPr>
          <p:cNvSpPr/>
          <p:nvPr/>
        </p:nvSpPr>
        <p:spPr bwMode="auto">
          <a:xfrm>
            <a:off x="279228" y="4721037"/>
            <a:ext cx="645658" cy="30913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9" name="箭头: 右 58">
            <a:extLst>
              <a:ext uri="{FF2B5EF4-FFF2-40B4-BE49-F238E27FC236}">
                <a16:creationId xmlns:a16="http://schemas.microsoft.com/office/drawing/2014/main" id="{20973145-F57F-4AB2-9B32-F7FBCC3AC1C4}"/>
              </a:ext>
            </a:extLst>
          </p:cNvPr>
          <p:cNvSpPr/>
          <p:nvPr/>
        </p:nvSpPr>
        <p:spPr bwMode="auto">
          <a:xfrm>
            <a:off x="1622942" y="5773523"/>
            <a:ext cx="645658" cy="30913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61" name="矩形 60">
                <a:extLst>
                  <a:ext uri="{FF2B5EF4-FFF2-40B4-BE49-F238E27FC236}">
                    <a16:creationId xmlns:a16="http://schemas.microsoft.com/office/drawing/2014/main" id="{B1D604EB-985E-41D8-9FE8-199B269E7703}"/>
                  </a:ext>
                </a:extLst>
              </p:cNvPr>
              <p:cNvSpPr/>
              <p:nvPr/>
            </p:nvSpPr>
            <p:spPr>
              <a:xfrm>
                <a:off x="7427986" y="1616523"/>
                <a:ext cx="41581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𝐷</m:t>
                      </m:r>
                    </m:oMath>
                  </m:oMathPara>
                </a14:m>
                <a:endParaRPr lang="zh-CN" altLang="en-US" dirty="0"/>
              </a:p>
            </p:txBody>
          </p:sp>
        </mc:Choice>
        <mc:Fallback xmlns="">
          <p:sp>
            <p:nvSpPr>
              <p:cNvPr id="61" name="矩形 60">
                <a:extLst>
                  <a:ext uri="{FF2B5EF4-FFF2-40B4-BE49-F238E27FC236}">
                    <a16:creationId xmlns:a16="http://schemas.microsoft.com/office/drawing/2014/main" id="{B1D604EB-985E-41D8-9FE8-199B269E7703}"/>
                  </a:ext>
                </a:extLst>
              </p:cNvPr>
              <p:cNvSpPr>
                <a:spLocks noRot="1" noChangeAspect="1" noMove="1" noResize="1" noEditPoints="1" noAdjustHandles="1" noChangeArrowheads="1" noChangeShapeType="1" noTextEdit="1"/>
              </p:cNvSpPr>
              <p:nvPr/>
            </p:nvSpPr>
            <p:spPr>
              <a:xfrm>
                <a:off x="7427986" y="1616523"/>
                <a:ext cx="415818" cy="369332"/>
              </a:xfrm>
              <a:prstGeom prst="rect">
                <a:avLst/>
              </a:prstGeom>
              <a:blipFill>
                <a:blip r:embed="rId18"/>
                <a:stretch>
                  <a:fillRect/>
                </a:stretch>
              </a:blipFill>
            </p:spPr>
            <p:txBody>
              <a:bodyPr/>
              <a:lstStyle/>
              <a:p>
                <a:r>
                  <a:rPr lang="zh-CN" altLang="en-US">
                    <a:noFill/>
                  </a:rPr>
                  <a:t> </a:t>
                </a:r>
              </a:p>
            </p:txBody>
          </p:sp>
        </mc:Fallback>
      </mc:AlternateContent>
      <p:graphicFrame>
        <p:nvGraphicFramePr>
          <p:cNvPr id="62" name="对象 61">
            <a:extLst>
              <a:ext uri="{FF2B5EF4-FFF2-40B4-BE49-F238E27FC236}">
                <a16:creationId xmlns:a16="http://schemas.microsoft.com/office/drawing/2014/main" id="{CA6C5AB2-55B9-4687-AAEF-EE0ADED4045E}"/>
              </a:ext>
            </a:extLst>
          </p:cNvPr>
          <p:cNvGraphicFramePr>
            <a:graphicFrameLocks noChangeAspect="1"/>
          </p:cNvGraphicFramePr>
          <p:nvPr>
            <p:extLst>
              <p:ext uri="{D42A27DB-BD31-4B8C-83A1-F6EECF244321}">
                <p14:modId xmlns:p14="http://schemas.microsoft.com/office/powerpoint/2010/main" val="1254137039"/>
              </p:ext>
            </p:extLst>
          </p:nvPr>
        </p:nvGraphicFramePr>
        <p:xfrm>
          <a:off x="974725" y="4511675"/>
          <a:ext cx="3562350" cy="660400"/>
        </p:xfrm>
        <a:graphic>
          <a:graphicData uri="http://schemas.openxmlformats.org/presentationml/2006/ole">
            <mc:AlternateContent xmlns:mc="http://schemas.openxmlformats.org/markup-compatibility/2006">
              <mc:Choice xmlns:v="urn:schemas-microsoft-com:vml" Requires="v">
                <p:oleObj name="Equation" r:id="rId19" imgW="1028520" imgH="190440" progId="Equation.DSMT4">
                  <p:embed/>
                </p:oleObj>
              </mc:Choice>
              <mc:Fallback>
                <p:oleObj name="Equation" r:id="rId19" imgW="1028520" imgH="190440" progId="Equation.DSMT4">
                  <p:embed/>
                  <p:pic>
                    <p:nvPicPr>
                      <p:cNvPr id="54" name="对象 53">
                        <a:extLst>
                          <a:ext uri="{FF2B5EF4-FFF2-40B4-BE49-F238E27FC236}">
                            <a16:creationId xmlns:a16="http://schemas.microsoft.com/office/drawing/2014/main" id="{92FE5934-BA07-4227-9005-A9E54F2F91EF}"/>
                          </a:ext>
                        </a:extLst>
                      </p:cNvPr>
                      <p:cNvPicPr/>
                      <p:nvPr/>
                    </p:nvPicPr>
                    <p:blipFill>
                      <a:blip r:embed="rId20"/>
                      <a:stretch>
                        <a:fillRect/>
                      </a:stretch>
                    </p:blipFill>
                    <p:spPr>
                      <a:xfrm>
                        <a:off x="974725" y="4511675"/>
                        <a:ext cx="3562350" cy="660400"/>
                      </a:xfrm>
                      <a:prstGeom prst="rect">
                        <a:avLst/>
                      </a:prstGeom>
                    </p:spPr>
                  </p:pic>
                </p:oleObj>
              </mc:Fallback>
            </mc:AlternateContent>
          </a:graphicData>
        </a:graphic>
      </p:graphicFrame>
      <p:graphicFrame>
        <p:nvGraphicFramePr>
          <p:cNvPr id="63" name="对象 62">
            <a:extLst>
              <a:ext uri="{FF2B5EF4-FFF2-40B4-BE49-F238E27FC236}">
                <a16:creationId xmlns:a16="http://schemas.microsoft.com/office/drawing/2014/main" id="{F3D16F12-DB9E-4893-9AAF-C8412E196885}"/>
              </a:ext>
            </a:extLst>
          </p:cNvPr>
          <p:cNvGraphicFramePr>
            <a:graphicFrameLocks noChangeAspect="1"/>
          </p:cNvGraphicFramePr>
          <p:nvPr>
            <p:extLst>
              <p:ext uri="{D42A27DB-BD31-4B8C-83A1-F6EECF244321}">
                <p14:modId xmlns:p14="http://schemas.microsoft.com/office/powerpoint/2010/main" val="445456631"/>
              </p:ext>
            </p:extLst>
          </p:nvPr>
        </p:nvGraphicFramePr>
        <p:xfrm>
          <a:off x="58044" y="5663772"/>
          <a:ext cx="1450975" cy="528637"/>
        </p:xfrm>
        <a:graphic>
          <a:graphicData uri="http://schemas.openxmlformats.org/presentationml/2006/ole">
            <mc:AlternateContent xmlns:mc="http://schemas.openxmlformats.org/markup-compatibility/2006">
              <mc:Choice xmlns:v="urn:schemas-microsoft-com:vml" Requires="v">
                <p:oleObj name="Equation" r:id="rId21" imgW="419040" imgH="152280" progId="Equation.DSMT4">
                  <p:embed/>
                </p:oleObj>
              </mc:Choice>
              <mc:Fallback>
                <p:oleObj name="Equation" r:id="rId21" imgW="419040" imgH="152280" progId="Equation.DSMT4">
                  <p:embed/>
                  <p:pic>
                    <p:nvPicPr>
                      <p:cNvPr id="50" name="对象 49">
                        <a:extLst>
                          <a:ext uri="{FF2B5EF4-FFF2-40B4-BE49-F238E27FC236}">
                            <a16:creationId xmlns:a16="http://schemas.microsoft.com/office/drawing/2014/main" id="{A7614AF2-36F9-40F6-A612-5A6B7C24E8C0}"/>
                          </a:ext>
                        </a:extLst>
                      </p:cNvPr>
                      <p:cNvPicPr/>
                      <p:nvPr/>
                    </p:nvPicPr>
                    <p:blipFill>
                      <a:blip r:embed="rId9"/>
                      <a:stretch>
                        <a:fillRect/>
                      </a:stretch>
                    </p:blipFill>
                    <p:spPr>
                      <a:xfrm>
                        <a:off x="58044" y="5663772"/>
                        <a:ext cx="1450975" cy="528637"/>
                      </a:xfrm>
                      <a:prstGeom prst="rect">
                        <a:avLst/>
                      </a:prstGeom>
                    </p:spPr>
                  </p:pic>
                </p:oleObj>
              </mc:Fallback>
            </mc:AlternateContent>
          </a:graphicData>
        </a:graphic>
      </p:graphicFrame>
      <p:graphicFrame>
        <p:nvGraphicFramePr>
          <p:cNvPr id="64" name="对象 63">
            <a:extLst>
              <a:ext uri="{FF2B5EF4-FFF2-40B4-BE49-F238E27FC236}">
                <a16:creationId xmlns:a16="http://schemas.microsoft.com/office/drawing/2014/main" id="{34CC3552-FD64-4CA0-89ED-446798CE386E}"/>
              </a:ext>
            </a:extLst>
          </p:cNvPr>
          <p:cNvGraphicFramePr>
            <a:graphicFrameLocks noChangeAspect="1"/>
          </p:cNvGraphicFramePr>
          <p:nvPr>
            <p:extLst>
              <p:ext uri="{D42A27DB-BD31-4B8C-83A1-F6EECF244321}">
                <p14:modId xmlns:p14="http://schemas.microsoft.com/office/powerpoint/2010/main" val="117358462"/>
              </p:ext>
            </p:extLst>
          </p:nvPr>
        </p:nvGraphicFramePr>
        <p:xfrm>
          <a:off x="2228850" y="5268913"/>
          <a:ext cx="1670050" cy="1320800"/>
        </p:xfrm>
        <a:graphic>
          <a:graphicData uri="http://schemas.openxmlformats.org/presentationml/2006/ole">
            <mc:AlternateContent xmlns:mc="http://schemas.openxmlformats.org/markup-compatibility/2006">
              <mc:Choice xmlns:v="urn:schemas-microsoft-com:vml" Requires="v">
                <p:oleObj name="Equation" r:id="rId22" imgW="482400" imgH="380880" progId="Equation.DSMT4">
                  <p:embed/>
                </p:oleObj>
              </mc:Choice>
              <mc:Fallback>
                <p:oleObj name="Equation" r:id="rId22" imgW="482400" imgH="380880" progId="Equation.DSMT4">
                  <p:embed/>
                  <p:pic>
                    <p:nvPicPr>
                      <p:cNvPr id="63" name="对象 62">
                        <a:extLst>
                          <a:ext uri="{FF2B5EF4-FFF2-40B4-BE49-F238E27FC236}">
                            <a16:creationId xmlns:a16="http://schemas.microsoft.com/office/drawing/2014/main" id="{F3D16F12-DB9E-4893-9AAF-C8412E196885}"/>
                          </a:ext>
                        </a:extLst>
                      </p:cNvPr>
                      <p:cNvPicPr/>
                      <p:nvPr/>
                    </p:nvPicPr>
                    <p:blipFill>
                      <a:blip r:embed="rId23"/>
                      <a:stretch>
                        <a:fillRect/>
                      </a:stretch>
                    </p:blipFill>
                    <p:spPr>
                      <a:xfrm>
                        <a:off x="2228850" y="5268913"/>
                        <a:ext cx="1670050" cy="1320800"/>
                      </a:xfrm>
                      <a:prstGeom prst="rect">
                        <a:avLst/>
                      </a:prstGeom>
                    </p:spPr>
                  </p:pic>
                </p:oleObj>
              </mc:Fallback>
            </mc:AlternateContent>
          </a:graphicData>
        </a:graphic>
      </p:graphicFrame>
      <p:sp>
        <p:nvSpPr>
          <p:cNvPr id="65" name="箭头: 右 64">
            <a:extLst>
              <a:ext uri="{FF2B5EF4-FFF2-40B4-BE49-F238E27FC236}">
                <a16:creationId xmlns:a16="http://schemas.microsoft.com/office/drawing/2014/main" id="{429D27B4-D06B-4053-B98E-77E56CB0501E}"/>
              </a:ext>
            </a:extLst>
          </p:cNvPr>
          <p:cNvSpPr/>
          <p:nvPr/>
        </p:nvSpPr>
        <p:spPr bwMode="auto">
          <a:xfrm>
            <a:off x="3900459" y="5773522"/>
            <a:ext cx="645658" cy="30913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aphicFrame>
        <p:nvGraphicFramePr>
          <p:cNvPr id="66" name="对象 65">
            <a:extLst>
              <a:ext uri="{FF2B5EF4-FFF2-40B4-BE49-F238E27FC236}">
                <a16:creationId xmlns:a16="http://schemas.microsoft.com/office/drawing/2014/main" id="{50E58492-8A5A-4824-BBB2-9D11C533424C}"/>
              </a:ext>
            </a:extLst>
          </p:cNvPr>
          <p:cNvGraphicFramePr>
            <a:graphicFrameLocks noChangeAspect="1"/>
          </p:cNvGraphicFramePr>
          <p:nvPr>
            <p:extLst>
              <p:ext uri="{D42A27DB-BD31-4B8C-83A1-F6EECF244321}">
                <p14:modId xmlns:p14="http://schemas.microsoft.com/office/powerpoint/2010/main" val="4022220560"/>
              </p:ext>
            </p:extLst>
          </p:nvPr>
        </p:nvGraphicFramePr>
        <p:xfrm>
          <a:off x="4484688" y="5226050"/>
          <a:ext cx="3779837" cy="1320800"/>
        </p:xfrm>
        <a:graphic>
          <a:graphicData uri="http://schemas.openxmlformats.org/presentationml/2006/ole">
            <mc:AlternateContent xmlns:mc="http://schemas.openxmlformats.org/markup-compatibility/2006">
              <mc:Choice xmlns:v="urn:schemas-microsoft-com:vml" Requires="v">
                <p:oleObj name="Equation" r:id="rId24" imgW="1091880" imgH="380880" progId="Equation.DSMT4">
                  <p:embed/>
                </p:oleObj>
              </mc:Choice>
              <mc:Fallback>
                <p:oleObj name="Equation" r:id="rId24" imgW="1091880" imgH="380880" progId="Equation.DSMT4">
                  <p:embed/>
                  <p:pic>
                    <p:nvPicPr>
                      <p:cNvPr id="64" name="对象 63">
                        <a:extLst>
                          <a:ext uri="{FF2B5EF4-FFF2-40B4-BE49-F238E27FC236}">
                            <a16:creationId xmlns:a16="http://schemas.microsoft.com/office/drawing/2014/main" id="{34CC3552-FD64-4CA0-89ED-446798CE386E}"/>
                          </a:ext>
                        </a:extLst>
                      </p:cNvPr>
                      <p:cNvPicPr/>
                      <p:nvPr/>
                    </p:nvPicPr>
                    <p:blipFill>
                      <a:blip r:embed="rId25"/>
                      <a:stretch>
                        <a:fillRect/>
                      </a:stretch>
                    </p:blipFill>
                    <p:spPr>
                      <a:xfrm>
                        <a:off x="4484688" y="5226050"/>
                        <a:ext cx="3779837" cy="13208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68" name="矩形 67">
                <a:extLst>
                  <a:ext uri="{FF2B5EF4-FFF2-40B4-BE49-F238E27FC236}">
                    <a16:creationId xmlns:a16="http://schemas.microsoft.com/office/drawing/2014/main" id="{6532EE06-C523-4F24-88F2-12CD83BD03CE}"/>
                  </a:ext>
                </a:extLst>
              </p:cNvPr>
              <p:cNvSpPr/>
              <p:nvPr/>
            </p:nvSpPr>
            <p:spPr>
              <a:xfrm>
                <a:off x="8137309" y="4137989"/>
                <a:ext cx="632096" cy="4346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𝑥</m:t>
                          </m:r>
                        </m:e>
                        <m:sub>
                          <m:r>
                            <a:rPr lang="zh-CN" altLang="en-US" i="0">
                              <a:latin typeface="Cambria Math" panose="02040503050406030204" pitchFamily="18" charset="0"/>
                            </a:rPr>
                            <m:t>1</m:t>
                          </m:r>
                        </m:sub>
                        <m:sup>
                          <m:d>
                            <m:dPr>
                              <m:ctrlPr>
                                <a:rPr lang="zh-CN" altLang="en-US" i="1">
                                  <a:latin typeface="Cambria Math" panose="02040503050406030204" pitchFamily="18" charset="0"/>
                                </a:rPr>
                              </m:ctrlPr>
                            </m:dPr>
                            <m:e>
                              <m:r>
                                <a:rPr lang="zh-CN" altLang="en-US" i="0">
                                  <a:latin typeface="Cambria Math" panose="02040503050406030204" pitchFamily="18" charset="0"/>
                                </a:rPr>
                                <m:t>2</m:t>
                              </m:r>
                            </m:e>
                          </m:d>
                        </m:sup>
                      </m:sSubSup>
                    </m:oMath>
                  </m:oMathPara>
                </a14:m>
                <a:endParaRPr lang="zh-CN" altLang="en-US" dirty="0"/>
              </a:p>
            </p:txBody>
          </p:sp>
        </mc:Choice>
        <mc:Fallback xmlns="">
          <p:sp>
            <p:nvSpPr>
              <p:cNvPr id="68" name="矩形 67">
                <a:extLst>
                  <a:ext uri="{FF2B5EF4-FFF2-40B4-BE49-F238E27FC236}">
                    <a16:creationId xmlns:a16="http://schemas.microsoft.com/office/drawing/2014/main" id="{6532EE06-C523-4F24-88F2-12CD83BD03CE}"/>
                  </a:ext>
                </a:extLst>
              </p:cNvPr>
              <p:cNvSpPr>
                <a:spLocks noRot="1" noChangeAspect="1" noMove="1" noResize="1" noEditPoints="1" noAdjustHandles="1" noChangeArrowheads="1" noChangeShapeType="1" noTextEdit="1"/>
              </p:cNvSpPr>
              <p:nvPr/>
            </p:nvSpPr>
            <p:spPr>
              <a:xfrm>
                <a:off x="8137309" y="4137989"/>
                <a:ext cx="632096" cy="434671"/>
              </a:xfrm>
              <a:prstGeom prst="rect">
                <a:avLst/>
              </a:prstGeom>
              <a:blipFill>
                <a:blip r:embed="rId26"/>
                <a:stretch>
                  <a:fillRect b="-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矩形 68">
                <a:extLst>
                  <a:ext uri="{FF2B5EF4-FFF2-40B4-BE49-F238E27FC236}">
                    <a16:creationId xmlns:a16="http://schemas.microsoft.com/office/drawing/2014/main" id="{F1871056-AF5C-457F-9311-3123D543F9C9}"/>
                  </a:ext>
                </a:extLst>
              </p:cNvPr>
              <p:cNvSpPr/>
              <p:nvPr/>
            </p:nvSpPr>
            <p:spPr>
              <a:xfrm>
                <a:off x="5956852" y="4120686"/>
                <a:ext cx="632096" cy="4346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i="1" smtClean="0">
                              <a:latin typeface="Cambria Math" panose="02040503050406030204" pitchFamily="18" charset="0"/>
                            </a:rPr>
                          </m:ctrlPr>
                        </m:sSubSupPr>
                        <m:e>
                          <m:r>
                            <a:rPr lang="zh-CN" altLang="en-US" i="1">
                              <a:latin typeface="Cambria Math" panose="02040503050406030204" pitchFamily="18" charset="0"/>
                            </a:rPr>
                            <m:t>𝑥</m:t>
                          </m:r>
                        </m:e>
                        <m:sub>
                          <m:r>
                            <a:rPr lang="zh-CN" altLang="en-US" i="0">
                              <a:latin typeface="Cambria Math" panose="02040503050406030204" pitchFamily="18" charset="0"/>
                            </a:rPr>
                            <m:t>1</m:t>
                          </m:r>
                        </m:sub>
                        <m:sup>
                          <m:d>
                            <m:dPr>
                              <m:ctrlPr>
                                <a:rPr lang="zh-CN" altLang="en-US" i="1">
                                  <a:latin typeface="Cambria Math" panose="02040503050406030204" pitchFamily="18" charset="0"/>
                                </a:rPr>
                              </m:ctrlPr>
                            </m:dPr>
                            <m:e>
                              <m:r>
                                <a:rPr lang="en-US" altLang="zh-CN" b="0" i="0" smtClean="0">
                                  <a:latin typeface="Cambria Math" panose="02040503050406030204" pitchFamily="18" charset="0"/>
                                </a:rPr>
                                <m:t>1</m:t>
                              </m:r>
                            </m:e>
                          </m:d>
                        </m:sup>
                      </m:sSubSup>
                    </m:oMath>
                  </m:oMathPara>
                </a14:m>
                <a:endParaRPr lang="zh-CN" altLang="en-US" dirty="0"/>
              </a:p>
            </p:txBody>
          </p:sp>
        </mc:Choice>
        <mc:Fallback xmlns="">
          <p:sp>
            <p:nvSpPr>
              <p:cNvPr id="69" name="矩形 68">
                <a:extLst>
                  <a:ext uri="{FF2B5EF4-FFF2-40B4-BE49-F238E27FC236}">
                    <a16:creationId xmlns:a16="http://schemas.microsoft.com/office/drawing/2014/main" id="{F1871056-AF5C-457F-9311-3123D543F9C9}"/>
                  </a:ext>
                </a:extLst>
              </p:cNvPr>
              <p:cNvSpPr>
                <a:spLocks noRot="1" noChangeAspect="1" noMove="1" noResize="1" noEditPoints="1" noAdjustHandles="1" noChangeArrowheads="1" noChangeShapeType="1" noTextEdit="1"/>
              </p:cNvSpPr>
              <p:nvPr/>
            </p:nvSpPr>
            <p:spPr>
              <a:xfrm>
                <a:off x="5956852" y="4120686"/>
                <a:ext cx="632096" cy="434671"/>
              </a:xfrm>
              <a:prstGeom prst="rect">
                <a:avLst/>
              </a:prstGeom>
              <a:blipFill>
                <a:blip r:embed="rId27"/>
                <a:stretch>
                  <a:fillRect b="-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矩形 69">
                <a:extLst>
                  <a:ext uri="{FF2B5EF4-FFF2-40B4-BE49-F238E27FC236}">
                    <a16:creationId xmlns:a16="http://schemas.microsoft.com/office/drawing/2014/main" id="{FCC3CC40-AA07-450A-90EA-84FE1C5581B7}"/>
                  </a:ext>
                </a:extLst>
              </p:cNvPr>
              <p:cNvSpPr/>
              <p:nvPr/>
            </p:nvSpPr>
            <p:spPr>
              <a:xfrm>
                <a:off x="6995736" y="4123561"/>
                <a:ext cx="632096" cy="4346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i="1" smtClean="0">
                              <a:latin typeface="Cambria Math" panose="02040503050406030204" pitchFamily="18" charset="0"/>
                            </a:rPr>
                          </m:ctrlPr>
                        </m:sSubSupPr>
                        <m:e>
                          <m:r>
                            <a:rPr lang="zh-CN" altLang="en-US" i="1">
                              <a:latin typeface="Cambria Math" panose="02040503050406030204" pitchFamily="18" charset="0"/>
                            </a:rPr>
                            <m:t>𝑥</m:t>
                          </m:r>
                        </m:e>
                        <m:sub>
                          <m:r>
                            <a:rPr lang="zh-CN" altLang="en-US" i="0">
                              <a:latin typeface="Cambria Math" panose="02040503050406030204" pitchFamily="18" charset="0"/>
                            </a:rPr>
                            <m:t>1</m:t>
                          </m:r>
                        </m:sub>
                        <m:sup>
                          <m:d>
                            <m:dPr>
                              <m:ctrlPr>
                                <a:rPr lang="zh-CN" altLang="en-US" i="1">
                                  <a:latin typeface="Cambria Math" panose="02040503050406030204" pitchFamily="18" charset="0"/>
                                </a:rPr>
                              </m:ctrlPr>
                            </m:dPr>
                            <m:e>
                              <m:r>
                                <a:rPr lang="en-US" altLang="zh-CN" b="0" i="0" smtClean="0">
                                  <a:latin typeface="Cambria Math" panose="02040503050406030204" pitchFamily="18" charset="0"/>
                                </a:rPr>
                                <m:t>∗</m:t>
                              </m:r>
                            </m:e>
                          </m:d>
                        </m:sup>
                      </m:sSubSup>
                    </m:oMath>
                  </m:oMathPara>
                </a14:m>
                <a:endParaRPr lang="zh-CN" altLang="en-US" dirty="0"/>
              </a:p>
            </p:txBody>
          </p:sp>
        </mc:Choice>
        <mc:Fallback xmlns="">
          <p:sp>
            <p:nvSpPr>
              <p:cNvPr id="70" name="矩形 69">
                <a:extLst>
                  <a:ext uri="{FF2B5EF4-FFF2-40B4-BE49-F238E27FC236}">
                    <a16:creationId xmlns:a16="http://schemas.microsoft.com/office/drawing/2014/main" id="{FCC3CC40-AA07-450A-90EA-84FE1C5581B7}"/>
                  </a:ext>
                </a:extLst>
              </p:cNvPr>
              <p:cNvSpPr>
                <a:spLocks noRot="1" noChangeAspect="1" noMove="1" noResize="1" noEditPoints="1" noAdjustHandles="1" noChangeArrowheads="1" noChangeShapeType="1" noTextEdit="1"/>
              </p:cNvSpPr>
              <p:nvPr/>
            </p:nvSpPr>
            <p:spPr>
              <a:xfrm>
                <a:off x="6995736" y="4123561"/>
                <a:ext cx="632096" cy="434671"/>
              </a:xfrm>
              <a:prstGeom prst="rect">
                <a:avLst/>
              </a:prstGeom>
              <a:blipFill>
                <a:blip r:embed="rId28"/>
                <a:stretch>
                  <a:fillRect b="-13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矩形 70">
                <a:extLst>
                  <a:ext uri="{FF2B5EF4-FFF2-40B4-BE49-F238E27FC236}">
                    <a16:creationId xmlns:a16="http://schemas.microsoft.com/office/drawing/2014/main" id="{CA393665-CB96-4AF2-BC53-2C61BF964411}"/>
                  </a:ext>
                </a:extLst>
              </p:cNvPr>
              <p:cNvSpPr/>
              <p:nvPr/>
            </p:nvSpPr>
            <p:spPr>
              <a:xfrm>
                <a:off x="4986469" y="2201888"/>
                <a:ext cx="632096" cy="4346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i="1" smtClean="0">
                              <a:latin typeface="Cambria Math" panose="02040503050406030204" pitchFamily="18" charset="0"/>
                            </a:rPr>
                          </m:ctrlPr>
                        </m:sSubSupPr>
                        <m:e>
                          <m:r>
                            <a:rPr lang="zh-CN" altLang="en-US" i="1">
                              <a:latin typeface="Cambria Math" panose="02040503050406030204" pitchFamily="18" charset="0"/>
                            </a:rPr>
                            <m:t>𝑥</m:t>
                          </m:r>
                        </m:e>
                        <m:sub>
                          <m:r>
                            <a:rPr lang="en-US" altLang="zh-CN" b="0" i="0" smtClean="0">
                              <a:latin typeface="Cambria Math" panose="02040503050406030204" pitchFamily="18" charset="0"/>
                            </a:rPr>
                            <m:t>2</m:t>
                          </m:r>
                        </m:sub>
                        <m:sup>
                          <m:d>
                            <m:dPr>
                              <m:ctrlPr>
                                <a:rPr lang="zh-CN" altLang="en-US" i="1">
                                  <a:latin typeface="Cambria Math" panose="02040503050406030204" pitchFamily="18" charset="0"/>
                                </a:rPr>
                              </m:ctrlPr>
                            </m:dPr>
                            <m:e>
                              <m:r>
                                <a:rPr lang="zh-CN" altLang="en-US" i="0">
                                  <a:latin typeface="Cambria Math" panose="02040503050406030204" pitchFamily="18" charset="0"/>
                                </a:rPr>
                                <m:t>2</m:t>
                              </m:r>
                            </m:e>
                          </m:d>
                        </m:sup>
                      </m:sSubSup>
                    </m:oMath>
                  </m:oMathPara>
                </a14:m>
                <a:endParaRPr lang="zh-CN" altLang="en-US" dirty="0"/>
              </a:p>
            </p:txBody>
          </p:sp>
        </mc:Choice>
        <mc:Fallback xmlns="">
          <p:sp>
            <p:nvSpPr>
              <p:cNvPr id="71" name="矩形 70">
                <a:extLst>
                  <a:ext uri="{FF2B5EF4-FFF2-40B4-BE49-F238E27FC236}">
                    <a16:creationId xmlns:a16="http://schemas.microsoft.com/office/drawing/2014/main" id="{CA393665-CB96-4AF2-BC53-2C61BF964411}"/>
                  </a:ext>
                </a:extLst>
              </p:cNvPr>
              <p:cNvSpPr>
                <a:spLocks noRot="1" noChangeAspect="1" noMove="1" noResize="1" noEditPoints="1" noAdjustHandles="1" noChangeArrowheads="1" noChangeShapeType="1" noTextEdit="1"/>
              </p:cNvSpPr>
              <p:nvPr/>
            </p:nvSpPr>
            <p:spPr>
              <a:xfrm>
                <a:off x="4986469" y="2201888"/>
                <a:ext cx="632096" cy="434671"/>
              </a:xfrm>
              <a:prstGeom prst="rect">
                <a:avLst/>
              </a:prstGeom>
              <a:blipFill>
                <a:blip r:embed="rId29"/>
                <a:stretch>
                  <a:fillRect b="-13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矩形 71">
                <a:extLst>
                  <a:ext uri="{FF2B5EF4-FFF2-40B4-BE49-F238E27FC236}">
                    <a16:creationId xmlns:a16="http://schemas.microsoft.com/office/drawing/2014/main" id="{3EBC3010-FFF8-4D61-9DED-F0A19389F65A}"/>
                  </a:ext>
                </a:extLst>
              </p:cNvPr>
              <p:cNvSpPr/>
              <p:nvPr/>
            </p:nvSpPr>
            <p:spPr>
              <a:xfrm>
                <a:off x="4949112" y="2564924"/>
                <a:ext cx="616066" cy="4349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i="1" smtClean="0">
                              <a:latin typeface="Cambria Math" panose="02040503050406030204" pitchFamily="18" charset="0"/>
                            </a:rPr>
                          </m:ctrlPr>
                        </m:sSubSupPr>
                        <m:e>
                          <m:r>
                            <a:rPr lang="zh-CN" altLang="en-US" i="1">
                              <a:latin typeface="Cambria Math" panose="02040503050406030204" pitchFamily="18" charset="0"/>
                            </a:rPr>
                            <m:t>𝑥</m:t>
                          </m:r>
                        </m:e>
                        <m:sub>
                          <m:r>
                            <a:rPr lang="en-US" altLang="zh-CN" b="0" i="0" smtClean="0">
                              <a:latin typeface="Cambria Math" panose="02040503050406030204" pitchFamily="18" charset="0"/>
                            </a:rPr>
                            <m:t>2</m:t>
                          </m:r>
                        </m:sub>
                        <m:sup>
                          <m:d>
                            <m:dPr>
                              <m:ctrlPr>
                                <a:rPr lang="zh-CN" altLang="en-US" i="1">
                                  <a:latin typeface="Cambria Math" panose="02040503050406030204" pitchFamily="18" charset="0"/>
                                </a:rPr>
                              </m:ctrlPr>
                            </m:dPr>
                            <m:e>
                              <m:r>
                                <a:rPr lang="en-US" altLang="zh-CN" b="0" i="0" smtClean="0">
                                  <a:latin typeface="Cambria Math" panose="02040503050406030204" pitchFamily="18" charset="0"/>
                                </a:rPr>
                                <m:t>∗</m:t>
                              </m:r>
                            </m:e>
                          </m:d>
                        </m:sup>
                      </m:sSubSup>
                    </m:oMath>
                  </m:oMathPara>
                </a14:m>
                <a:endParaRPr lang="zh-CN" altLang="en-US" dirty="0"/>
              </a:p>
            </p:txBody>
          </p:sp>
        </mc:Choice>
        <mc:Fallback xmlns="">
          <p:sp>
            <p:nvSpPr>
              <p:cNvPr id="72" name="矩形 71">
                <a:extLst>
                  <a:ext uri="{FF2B5EF4-FFF2-40B4-BE49-F238E27FC236}">
                    <a16:creationId xmlns:a16="http://schemas.microsoft.com/office/drawing/2014/main" id="{3EBC3010-FFF8-4D61-9DED-F0A19389F65A}"/>
                  </a:ext>
                </a:extLst>
              </p:cNvPr>
              <p:cNvSpPr>
                <a:spLocks noRot="1" noChangeAspect="1" noMove="1" noResize="1" noEditPoints="1" noAdjustHandles="1" noChangeArrowheads="1" noChangeShapeType="1" noTextEdit="1"/>
              </p:cNvSpPr>
              <p:nvPr/>
            </p:nvSpPr>
            <p:spPr>
              <a:xfrm>
                <a:off x="4949112" y="2564924"/>
                <a:ext cx="616066" cy="434991"/>
              </a:xfrm>
              <a:prstGeom prst="rect">
                <a:avLst/>
              </a:prstGeom>
              <a:blipFill>
                <a:blip r:embed="rId30"/>
                <a:stretch>
                  <a:fillRect b="-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矩形 72">
                <a:extLst>
                  <a:ext uri="{FF2B5EF4-FFF2-40B4-BE49-F238E27FC236}">
                    <a16:creationId xmlns:a16="http://schemas.microsoft.com/office/drawing/2014/main" id="{FB779DD7-3CBF-48EC-93C7-9B6E5D64D6D3}"/>
                  </a:ext>
                </a:extLst>
              </p:cNvPr>
              <p:cNvSpPr/>
              <p:nvPr/>
            </p:nvSpPr>
            <p:spPr>
              <a:xfrm>
                <a:off x="4995114" y="2853718"/>
                <a:ext cx="632096" cy="4349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i="1" smtClean="0">
                              <a:latin typeface="Cambria Math" panose="02040503050406030204" pitchFamily="18" charset="0"/>
                            </a:rPr>
                          </m:ctrlPr>
                        </m:sSubSupPr>
                        <m:e>
                          <m:r>
                            <a:rPr lang="zh-CN" altLang="en-US" i="1">
                              <a:latin typeface="Cambria Math" panose="02040503050406030204" pitchFamily="18" charset="0"/>
                            </a:rPr>
                            <m:t>𝑥</m:t>
                          </m:r>
                        </m:e>
                        <m:sub>
                          <m:r>
                            <a:rPr lang="en-US" altLang="zh-CN" b="0" i="0" smtClean="0">
                              <a:latin typeface="Cambria Math" panose="02040503050406030204" pitchFamily="18" charset="0"/>
                            </a:rPr>
                            <m:t>2</m:t>
                          </m:r>
                        </m:sub>
                        <m:sup>
                          <m:d>
                            <m:dPr>
                              <m:ctrlPr>
                                <a:rPr lang="zh-CN" altLang="en-US" i="1">
                                  <a:latin typeface="Cambria Math" panose="02040503050406030204" pitchFamily="18" charset="0"/>
                                </a:rPr>
                              </m:ctrlPr>
                            </m:dPr>
                            <m:e>
                              <m:r>
                                <a:rPr lang="en-US" altLang="zh-CN" b="0" i="0" smtClean="0">
                                  <a:latin typeface="Cambria Math" panose="02040503050406030204" pitchFamily="18" charset="0"/>
                                </a:rPr>
                                <m:t>1</m:t>
                              </m:r>
                            </m:e>
                          </m:d>
                        </m:sup>
                      </m:sSubSup>
                    </m:oMath>
                  </m:oMathPara>
                </a14:m>
                <a:endParaRPr lang="zh-CN" altLang="en-US" dirty="0"/>
              </a:p>
            </p:txBody>
          </p:sp>
        </mc:Choice>
        <mc:Fallback xmlns="">
          <p:sp>
            <p:nvSpPr>
              <p:cNvPr id="73" name="矩形 72">
                <a:extLst>
                  <a:ext uri="{FF2B5EF4-FFF2-40B4-BE49-F238E27FC236}">
                    <a16:creationId xmlns:a16="http://schemas.microsoft.com/office/drawing/2014/main" id="{FB779DD7-3CBF-48EC-93C7-9B6E5D64D6D3}"/>
                  </a:ext>
                </a:extLst>
              </p:cNvPr>
              <p:cNvSpPr>
                <a:spLocks noRot="1" noChangeAspect="1" noMove="1" noResize="1" noEditPoints="1" noAdjustHandles="1" noChangeArrowheads="1" noChangeShapeType="1" noTextEdit="1"/>
              </p:cNvSpPr>
              <p:nvPr/>
            </p:nvSpPr>
            <p:spPr>
              <a:xfrm>
                <a:off x="4995114" y="2853718"/>
                <a:ext cx="632096" cy="434991"/>
              </a:xfrm>
              <a:prstGeom prst="rect">
                <a:avLst/>
              </a:prstGeom>
              <a:blipFill>
                <a:blip r:embed="rId31"/>
                <a:stretch>
                  <a:fillRect b="-28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37953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6" presetClass="entr" presetSubtype="21"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par>
                                <p:cTn id="17" presetID="10"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par>
                                <p:cTn id="29" presetID="10"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par>
                                <p:cTn id="32" presetID="10" presetClass="entr" presetSubtype="0"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500"/>
                                        <p:tgtEl>
                                          <p:spTgt spid="2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par>
                                <p:cTn id="38" presetID="10" presetClass="entr" presetSubtype="0" fill="hold"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500"/>
                                        <p:tgtEl>
                                          <p:spTgt spid="28"/>
                                        </p:tgtEl>
                                      </p:cBhvr>
                                    </p:animEffect>
                                  </p:childTnLst>
                                </p:cTn>
                              </p:par>
                              <p:par>
                                <p:cTn id="41" presetID="10"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500"/>
                                        <p:tgtEl>
                                          <p:spTgt spid="33"/>
                                        </p:tgtEl>
                                      </p:cBhvr>
                                    </p:animEffect>
                                  </p:childTnLst>
                                </p:cTn>
                              </p:par>
                              <p:par>
                                <p:cTn id="44" presetID="10" presetClass="entr" presetSubtype="0" fill="hold"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500"/>
                                        <p:tgtEl>
                                          <p:spTgt spid="34"/>
                                        </p:tgtEl>
                                      </p:cBhvr>
                                    </p:animEffect>
                                  </p:childTnLst>
                                </p:cTn>
                              </p:par>
                              <p:par>
                                <p:cTn id="47" presetID="10" presetClass="entr" presetSubtype="0" fill="hold"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500"/>
                                        <p:tgtEl>
                                          <p:spTgt spid="35"/>
                                        </p:tgtEl>
                                      </p:cBhvr>
                                    </p:animEffect>
                                  </p:childTnLst>
                                </p:cTn>
                              </p:par>
                              <p:par>
                                <p:cTn id="50" presetID="10" presetClass="entr" presetSubtype="0" fill="hold" nodeType="with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fade">
                                      <p:cBhvr>
                                        <p:cTn id="52" dur="500"/>
                                        <p:tgtEl>
                                          <p:spTgt spid="39"/>
                                        </p:tgtEl>
                                      </p:cBhvr>
                                    </p:animEffect>
                                  </p:childTnLst>
                                </p:cTn>
                              </p:par>
                              <p:par>
                                <p:cTn id="53" presetID="10" presetClass="entr" presetSubtype="0" fill="hold"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500"/>
                                        <p:tgtEl>
                                          <p:spTgt spid="41"/>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68"/>
                                        </p:tgtEl>
                                        <p:attrNameLst>
                                          <p:attrName>style.visibility</p:attrName>
                                        </p:attrNameLst>
                                      </p:cBhvr>
                                      <p:to>
                                        <p:strVal val="visible"/>
                                      </p:to>
                                    </p:set>
                                    <p:animEffect transition="in" filter="barn(inVertical)">
                                      <p:cBhvr>
                                        <p:cTn id="58" dur="500"/>
                                        <p:tgtEl>
                                          <p:spTgt spid="68"/>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69"/>
                                        </p:tgtEl>
                                        <p:attrNameLst>
                                          <p:attrName>style.visibility</p:attrName>
                                        </p:attrNameLst>
                                      </p:cBhvr>
                                      <p:to>
                                        <p:strVal val="visible"/>
                                      </p:to>
                                    </p:set>
                                    <p:animEffect transition="in" filter="barn(inVertical)">
                                      <p:cBhvr>
                                        <p:cTn id="61" dur="500"/>
                                        <p:tgtEl>
                                          <p:spTgt spid="69"/>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70"/>
                                        </p:tgtEl>
                                        <p:attrNameLst>
                                          <p:attrName>style.visibility</p:attrName>
                                        </p:attrNameLst>
                                      </p:cBhvr>
                                      <p:to>
                                        <p:strVal val="visible"/>
                                      </p:to>
                                    </p:set>
                                    <p:animEffect transition="in" filter="barn(inVertical)">
                                      <p:cBhvr>
                                        <p:cTn id="64" dur="500"/>
                                        <p:tgtEl>
                                          <p:spTgt spid="70"/>
                                        </p:tgtEl>
                                      </p:cBhvr>
                                    </p:animEffect>
                                  </p:childTnLst>
                                </p:cTn>
                              </p:par>
                              <p:par>
                                <p:cTn id="65" presetID="16" presetClass="entr" presetSubtype="21" fill="hold" grpId="0" nodeType="withEffect">
                                  <p:stCondLst>
                                    <p:cond delay="0"/>
                                  </p:stCondLst>
                                  <p:childTnLst>
                                    <p:set>
                                      <p:cBhvr>
                                        <p:cTn id="66" dur="1" fill="hold">
                                          <p:stCondLst>
                                            <p:cond delay="0"/>
                                          </p:stCondLst>
                                        </p:cTn>
                                        <p:tgtEl>
                                          <p:spTgt spid="71"/>
                                        </p:tgtEl>
                                        <p:attrNameLst>
                                          <p:attrName>style.visibility</p:attrName>
                                        </p:attrNameLst>
                                      </p:cBhvr>
                                      <p:to>
                                        <p:strVal val="visible"/>
                                      </p:to>
                                    </p:set>
                                    <p:animEffect transition="in" filter="barn(inVertical)">
                                      <p:cBhvr>
                                        <p:cTn id="67" dur="500"/>
                                        <p:tgtEl>
                                          <p:spTgt spid="71"/>
                                        </p:tgtEl>
                                      </p:cBhvr>
                                    </p:animEffect>
                                  </p:childTnLst>
                                </p:cTn>
                              </p:par>
                              <p:par>
                                <p:cTn id="68" presetID="16" presetClass="entr" presetSubtype="21" fill="hold" grpId="0" nodeType="withEffect">
                                  <p:stCondLst>
                                    <p:cond delay="0"/>
                                  </p:stCondLst>
                                  <p:childTnLst>
                                    <p:set>
                                      <p:cBhvr>
                                        <p:cTn id="69" dur="1" fill="hold">
                                          <p:stCondLst>
                                            <p:cond delay="0"/>
                                          </p:stCondLst>
                                        </p:cTn>
                                        <p:tgtEl>
                                          <p:spTgt spid="72"/>
                                        </p:tgtEl>
                                        <p:attrNameLst>
                                          <p:attrName>style.visibility</p:attrName>
                                        </p:attrNameLst>
                                      </p:cBhvr>
                                      <p:to>
                                        <p:strVal val="visible"/>
                                      </p:to>
                                    </p:set>
                                    <p:animEffect transition="in" filter="barn(inVertical)">
                                      <p:cBhvr>
                                        <p:cTn id="70" dur="500"/>
                                        <p:tgtEl>
                                          <p:spTgt spid="72"/>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73"/>
                                        </p:tgtEl>
                                        <p:attrNameLst>
                                          <p:attrName>style.visibility</p:attrName>
                                        </p:attrNameLst>
                                      </p:cBhvr>
                                      <p:to>
                                        <p:strVal val="visible"/>
                                      </p:to>
                                    </p:set>
                                    <p:animEffect transition="in" filter="barn(inVertical)">
                                      <p:cBhvr>
                                        <p:cTn id="73" dur="500"/>
                                        <p:tgtEl>
                                          <p:spTgt spid="73"/>
                                        </p:tgtEl>
                                      </p:cBhvr>
                                    </p:animEffect>
                                  </p:childTnLst>
                                </p:cTn>
                              </p:par>
                            </p:childTnLst>
                          </p:cTn>
                        </p:par>
                        <p:par>
                          <p:cTn id="74" fill="hold">
                            <p:stCondLst>
                              <p:cond delay="500"/>
                            </p:stCondLst>
                            <p:childTnLst>
                              <p:par>
                                <p:cTn id="75" presetID="22" presetClass="entr" presetSubtype="4" fill="hold" grpId="0" nodeType="afterEffect">
                                  <p:stCondLst>
                                    <p:cond delay="0"/>
                                  </p:stCondLst>
                                  <p:childTnLst>
                                    <p:set>
                                      <p:cBhvr>
                                        <p:cTn id="76" dur="1" fill="hold">
                                          <p:stCondLst>
                                            <p:cond delay="0"/>
                                          </p:stCondLst>
                                        </p:cTn>
                                        <p:tgtEl>
                                          <p:spTgt spid="46"/>
                                        </p:tgtEl>
                                        <p:attrNameLst>
                                          <p:attrName>style.visibility</p:attrName>
                                        </p:attrNameLst>
                                      </p:cBhvr>
                                      <p:to>
                                        <p:strVal val="visible"/>
                                      </p:to>
                                    </p:set>
                                    <p:animEffect transition="in" filter="wipe(down)">
                                      <p:cBhvr>
                                        <p:cTn id="77" dur="500"/>
                                        <p:tgtEl>
                                          <p:spTgt spid="46"/>
                                        </p:tgtEl>
                                      </p:cBhvr>
                                    </p:animEffect>
                                  </p:childTnLst>
                                </p:cTn>
                              </p:par>
                            </p:childTnLst>
                          </p:cTn>
                        </p:par>
                        <p:par>
                          <p:cTn id="78" fill="hold">
                            <p:stCondLst>
                              <p:cond delay="1000"/>
                            </p:stCondLst>
                            <p:childTnLst>
                              <p:par>
                                <p:cTn id="79" presetID="22" presetClass="entr" presetSubtype="4" fill="hold" grpId="0" nodeType="afterEffect">
                                  <p:stCondLst>
                                    <p:cond delay="0"/>
                                  </p:stCondLst>
                                  <p:childTnLst>
                                    <p:set>
                                      <p:cBhvr>
                                        <p:cTn id="80" dur="1" fill="hold">
                                          <p:stCondLst>
                                            <p:cond delay="0"/>
                                          </p:stCondLst>
                                        </p:cTn>
                                        <p:tgtEl>
                                          <p:spTgt spid="48"/>
                                        </p:tgtEl>
                                        <p:attrNameLst>
                                          <p:attrName>style.visibility</p:attrName>
                                        </p:attrNameLst>
                                      </p:cBhvr>
                                      <p:to>
                                        <p:strVal val="visible"/>
                                      </p:to>
                                    </p:set>
                                    <p:animEffect transition="in" filter="wipe(down)">
                                      <p:cBhvr>
                                        <p:cTn id="81" dur="500"/>
                                        <p:tgtEl>
                                          <p:spTgt spid="48"/>
                                        </p:tgtEl>
                                      </p:cBhvr>
                                    </p:animEffect>
                                  </p:childTnLst>
                                </p:cTn>
                              </p:par>
                            </p:childTnLst>
                          </p:cTn>
                        </p:par>
                        <p:par>
                          <p:cTn id="82" fill="hold">
                            <p:stCondLst>
                              <p:cond delay="1500"/>
                            </p:stCondLst>
                            <p:childTnLst>
                              <p:par>
                                <p:cTn id="83" presetID="22" presetClass="entr" presetSubtype="4" fill="hold" grpId="0" nodeType="afterEffect">
                                  <p:stCondLst>
                                    <p:cond delay="0"/>
                                  </p:stCondLst>
                                  <p:childTnLst>
                                    <p:set>
                                      <p:cBhvr>
                                        <p:cTn id="84" dur="1" fill="hold">
                                          <p:stCondLst>
                                            <p:cond delay="0"/>
                                          </p:stCondLst>
                                        </p:cTn>
                                        <p:tgtEl>
                                          <p:spTgt spid="47"/>
                                        </p:tgtEl>
                                        <p:attrNameLst>
                                          <p:attrName>style.visibility</p:attrName>
                                        </p:attrNameLst>
                                      </p:cBhvr>
                                      <p:to>
                                        <p:strVal val="visible"/>
                                      </p:to>
                                    </p:set>
                                    <p:animEffect transition="in" filter="wipe(down)">
                                      <p:cBhvr>
                                        <p:cTn id="85" dur="500"/>
                                        <p:tgtEl>
                                          <p:spTgt spid="47"/>
                                        </p:tgtEl>
                                      </p:cBhvr>
                                    </p:animEffect>
                                  </p:childTnLst>
                                </p:cTn>
                              </p:par>
                            </p:childTnLst>
                          </p:cTn>
                        </p:par>
                      </p:childTnLst>
                    </p:cTn>
                  </p:par>
                  <p:par>
                    <p:cTn id="86" fill="hold">
                      <p:stCondLst>
                        <p:cond delay="indefinite"/>
                      </p:stCondLst>
                      <p:childTnLst>
                        <p:par>
                          <p:cTn id="87" fill="hold">
                            <p:stCondLst>
                              <p:cond delay="0"/>
                            </p:stCondLst>
                            <p:childTnLst>
                              <p:par>
                                <p:cTn id="88" presetID="16" presetClass="entr" presetSubtype="21" fill="hold" nodeType="clickEffect">
                                  <p:stCondLst>
                                    <p:cond delay="0"/>
                                  </p:stCondLst>
                                  <p:childTnLst>
                                    <p:set>
                                      <p:cBhvr>
                                        <p:cTn id="89" dur="1" fill="hold">
                                          <p:stCondLst>
                                            <p:cond delay="0"/>
                                          </p:stCondLst>
                                        </p:cTn>
                                        <p:tgtEl>
                                          <p:spTgt spid="50"/>
                                        </p:tgtEl>
                                        <p:attrNameLst>
                                          <p:attrName>style.visibility</p:attrName>
                                        </p:attrNameLst>
                                      </p:cBhvr>
                                      <p:to>
                                        <p:strVal val="visible"/>
                                      </p:to>
                                    </p:set>
                                    <p:animEffect transition="in" filter="barn(inVertical)">
                                      <p:cBhvr>
                                        <p:cTn id="90" dur="500"/>
                                        <p:tgtEl>
                                          <p:spTgt spid="50"/>
                                        </p:tgtEl>
                                      </p:cBhvr>
                                    </p:animEffect>
                                  </p:childTnLst>
                                </p:cTn>
                              </p:par>
                            </p:childTnLst>
                          </p:cTn>
                        </p:par>
                      </p:childTnLst>
                    </p:cTn>
                  </p:par>
                  <p:par>
                    <p:cTn id="91" fill="hold">
                      <p:stCondLst>
                        <p:cond delay="indefinite"/>
                      </p:stCondLst>
                      <p:childTnLst>
                        <p:par>
                          <p:cTn id="92" fill="hold">
                            <p:stCondLst>
                              <p:cond delay="0"/>
                            </p:stCondLst>
                            <p:childTnLst>
                              <p:par>
                                <p:cTn id="93" presetID="16" presetClass="entr" presetSubtype="21" fill="hold" nodeType="clickEffect">
                                  <p:stCondLst>
                                    <p:cond delay="0"/>
                                  </p:stCondLst>
                                  <p:childTnLst>
                                    <p:set>
                                      <p:cBhvr>
                                        <p:cTn id="94" dur="1" fill="hold">
                                          <p:stCondLst>
                                            <p:cond delay="0"/>
                                          </p:stCondLst>
                                        </p:cTn>
                                        <p:tgtEl>
                                          <p:spTgt spid="51"/>
                                        </p:tgtEl>
                                        <p:attrNameLst>
                                          <p:attrName>style.visibility</p:attrName>
                                        </p:attrNameLst>
                                      </p:cBhvr>
                                      <p:to>
                                        <p:strVal val="visible"/>
                                      </p:to>
                                    </p:set>
                                    <p:animEffect transition="in" filter="barn(inVertical)">
                                      <p:cBhvr>
                                        <p:cTn id="95" dur="500"/>
                                        <p:tgtEl>
                                          <p:spTgt spid="51"/>
                                        </p:tgtEl>
                                      </p:cBhvr>
                                    </p:animEffect>
                                  </p:childTnLst>
                                </p:cTn>
                              </p:par>
                            </p:childTnLst>
                          </p:cTn>
                        </p:par>
                        <p:par>
                          <p:cTn id="96" fill="hold">
                            <p:stCondLst>
                              <p:cond delay="500"/>
                            </p:stCondLst>
                            <p:childTnLst>
                              <p:par>
                                <p:cTn id="97" presetID="16" presetClass="entr" presetSubtype="21" fill="hold" grpId="0" nodeType="afterEffect">
                                  <p:stCondLst>
                                    <p:cond delay="0"/>
                                  </p:stCondLst>
                                  <p:childTnLst>
                                    <p:set>
                                      <p:cBhvr>
                                        <p:cTn id="98" dur="1" fill="hold">
                                          <p:stCondLst>
                                            <p:cond delay="0"/>
                                          </p:stCondLst>
                                        </p:cTn>
                                        <p:tgtEl>
                                          <p:spTgt spid="52"/>
                                        </p:tgtEl>
                                        <p:attrNameLst>
                                          <p:attrName>style.visibility</p:attrName>
                                        </p:attrNameLst>
                                      </p:cBhvr>
                                      <p:to>
                                        <p:strVal val="visible"/>
                                      </p:to>
                                    </p:set>
                                    <p:animEffect transition="in" filter="barn(inVertical)">
                                      <p:cBhvr>
                                        <p:cTn id="99" dur="500"/>
                                        <p:tgtEl>
                                          <p:spTgt spid="52"/>
                                        </p:tgtEl>
                                      </p:cBhvr>
                                    </p:animEffect>
                                  </p:childTnLst>
                                </p:cTn>
                              </p:par>
                            </p:childTnLst>
                          </p:cTn>
                        </p:par>
                        <p:par>
                          <p:cTn id="100" fill="hold">
                            <p:stCondLst>
                              <p:cond delay="1000"/>
                            </p:stCondLst>
                            <p:childTnLst>
                              <p:par>
                                <p:cTn id="101" presetID="16" presetClass="entr" presetSubtype="21" fill="hold" nodeType="afterEffect">
                                  <p:stCondLst>
                                    <p:cond delay="0"/>
                                  </p:stCondLst>
                                  <p:childTnLst>
                                    <p:set>
                                      <p:cBhvr>
                                        <p:cTn id="102" dur="1" fill="hold">
                                          <p:stCondLst>
                                            <p:cond delay="0"/>
                                          </p:stCondLst>
                                        </p:cTn>
                                        <p:tgtEl>
                                          <p:spTgt spid="53"/>
                                        </p:tgtEl>
                                        <p:attrNameLst>
                                          <p:attrName>style.visibility</p:attrName>
                                        </p:attrNameLst>
                                      </p:cBhvr>
                                      <p:to>
                                        <p:strVal val="visible"/>
                                      </p:to>
                                    </p:set>
                                    <p:animEffect transition="in" filter="barn(inVertical)">
                                      <p:cBhvr>
                                        <p:cTn id="103" dur="500"/>
                                        <p:tgtEl>
                                          <p:spTgt spid="53"/>
                                        </p:tgtEl>
                                      </p:cBhvr>
                                    </p:animEffect>
                                  </p:childTnLst>
                                </p:cTn>
                              </p:par>
                            </p:childTnLst>
                          </p:cTn>
                        </p:par>
                      </p:childTnLst>
                    </p:cTn>
                  </p:par>
                  <p:par>
                    <p:cTn id="104" fill="hold">
                      <p:stCondLst>
                        <p:cond delay="indefinite"/>
                      </p:stCondLst>
                      <p:childTnLst>
                        <p:par>
                          <p:cTn id="105" fill="hold">
                            <p:stCondLst>
                              <p:cond delay="0"/>
                            </p:stCondLst>
                            <p:childTnLst>
                              <p:par>
                                <p:cTn id="106" presetID="16" presetClass="entr" presetSubtype="21" fill="hold" nodeType="clickEffect">
                                  <p:stCondLst>
                                    <p:cond delay="0"/>
                                  </p:stCondLst>
                                  <p:childTnLst>
                                    <p:set>
                                      <p:cBhvr>
                                        <p:cTn id="107" dur="1" fill="hold">
                                          <p:stCondLst>
                                            <p:cond delay="0"/>
                                          </p:stCondLst>
                                        </p:cTn>
                                        <p:tgtEl>
                                          <p:spTgt spid="54"/>
                                        </p:tgtEl>
                                        <p:attrNameLst>
                                          <p:attrName>style.visibility</p:attrName>
                                        </p:attrNameLst>
                                      </p:cBhvr>
                                      <p:to>
                                        <p:strVal val="visible"/>
                                      </p:to>
                                    </p:set>
                                    <p:animEffect transition="in" filter="barn(inVertical)">
                                      <p:cBhvr>
                                        <p:cTn id="108" dur="500"/>
                                        <p:tgtEl>
                                          <p:spTgt spid="54"/>
                                        </p:tgtEl>
                                      </p:cBhvr>
                                    </p:animEffect>
                                  </p:childTnLst>
                                </p:cTn>
                              </p:par>
                            </p:childTnLst>
                          </p:cTn>
                        </p:par>
                        <p:par>
                          <p:cTn id="109" fill="hold">
                            <p:stCondLst>
                              <p:cond delay="500"/>
                            </p:stCondLst>
                            <p:childTnLst>
                              <p:par>
                                <p:cTn id="110" presetID="16" presetClass="entr" presetSubtype="21" fill="hold" nodeType="afterEffect">
                                  <p:stCondLst>
                                    <p:cond delay="0"/>
                                  </p:stCondLst>
                                  <p:childTnLst>
                                    <p:set>
                                      <p:cBhvr>
                                        <p:cTn id="111" dur="1" fill="hold">
                                          <p:stCondLst>
                                            <p:cond delay="0"/>
                                          </p:stCondLst>
                                        </p:cTn>
                                        <p:tgtEl>
                                          <p:spTgt spid="55"/>
                                        </p:tgtEl>
                                        <p:attrNameLst>
                                          <p:attrName>style.visibility</p:attrName>
                                        </p:attrNameLst>
                                      </p:cBhvr>
                                      <p:to>
                                        <p:strVal val="visible"/>
                                      </p:to>
                                    </p:set>
                                    <p:animEffect transition="in" filter="barn(inVertical)">
                                      <p:cBhvr>
                                        <p:cTn id="112" dur="500"/>
                                        <p:tgtEl>
                                          <p:spTgt spid="55"/>
                                        </p:tgtEl>
                                      </p:cBhvr>
                                    </p:animEffect>
                                  </p:childTnLst>
                                </p:cTn>
                              </p:par>
                            </p:childTnLst>
                          </p:cTn>
                        </p:par>
                      </p:childTnLst>
                    </p:cTn>
                  </p:par>
                  <p:par>
                    <p:cTn id="113" fill="hold">
                      <p:stCondLst>
                        <p:cond delay="indefinite"/>
                      </p:stCondLst>
                      <p:childTnLst>
                        <p:par>
                          <p:cTn id="114" fill="hold">
                            <p:stCondLst>
                              <p:cond delay="0"/>
                            </p:stCondLst>
                            <p:childTnLst>
                              <p:par>
                                <p:cTn id="115" presetID="16" presetClass="entr" presetSubtype="21" fill="hold" grpId="0" nodeType="clickEffect">
                                  <p:stCondLst>
                                    <p:cond delay="0"/>
                                  </p:stCondLst>
                                  <p:childTnLst>
                                    <p:set>
                                      <p:cBhvr>
                                        <p:cTn id="116" dur="1" fill="hold">
                                          <p:stCondLst>
                                            <p:cond delay="0"/>
                                          </p:stCondLst>
                                        </p:cTn>
                                        <p:tgtEl>
                                          <p:spTgt spid="56"/>
                                        </p:tgtEl>
                                        <p:attrNameLst>
                                          <p:attrName>style.visibility</p:attrName>
                                        </p:attrNameLst>
                                      </p:cBhvr>
                                      <p:to>
                                        <p:strVal val="visible"/>
                                      </p:to>
                                    </p:set>
                                    <p:animEffect transition="in" filter="barn(inVertical)">
                                      <p:cBhvr>
                                        <p:cTn id="117" dur="500"/>
                                        <p:tgtEl>
                                          <p:spTgt spid="56"/>
                                        </p:tgtEl>
                                      </p:cBhvr>
                                    </p:animEffect>
                                  </p:childTnLst>
                                </p:cTn>
                              </p:par>
                            </p:childTnLst>
                          </p:cTn>
                        </p:par>
                        <p:par>
                          <p:cTn id="118" fill="hold">
                            <p:stCondLst>
                              <p:cond delay="500"/>
                            </p:stCondLst>
                            <p:childTnLst>
                              <p:par>
                                <p:cTn id="119" presetID="16" presetClass="entr" presetSubtype="21" fill="hold" grpId="0" nodeType="afterEffect">
                                  <p:stCondLst>
                                    <p:cond delay="0"/>
                                  </p:stCondLst>
                                  <p:childTnLst>
                                    <p:set>
                                      <p:cBhvr>
                                        <p:cTn id="120" dur="1" fill="hold">
                                          <p:stCondLst>
                                            <p:cond delay="0"/>
                                          </p:stCondLst>
                                        </p:cTn>
                                        <p:tgtEl>
                                          <p:spTgt spid="59"/>
                                        </p:tgtEl>
                                        <p:attrNameLst>
                                          <p:attrName>style.visibility</p:attrName>
                                        </p:attrNameLst>
                                      </p:cBhvr>
                                      <p:to>
                                        <p:strVal val="visible"/>
                                      </p:to>
                                    </p:set>
                                    <p:animEffect transition="in" filter="barn(inVertical)">
                                      <p:cBhvr>
                                        <p:cTn id="121" dur="500"/>
                                        <p:tgtEl>
                                          <p:spTgt spid="59"/>
                                        </p:tgtEl>
                                      </p:cBhvr>
                                    </p:animEffect>
                                  </p:childTnLst>
                                </p:cTn>
                              </p:par>
                            </p:childTnLst>
                          </p:cTn>
                        </p:par>
                      </p:childTnLst>
                    </p:cTn>
                  </p:par>
                  <p:par>
                    <p:cTn id="122" fill="hold">
                      <p:stCondLst>
                        <p:cond delay="indefinite"/>
                      </p:stCondLst>
                      <p:childTnLst>
                        <p:par>
                          <p:cTn id="123" fill="hold">
                            <p:stCondLst>
                              <p:cond delay="0"/>
                            </p:stCondLst>
                            <p:childTnLst>
                              <p:par>
                                <p:cTn id="124" presetID="16" presetClass="entr" presetSubtype="21" fill="hold" nodeType="clickEffect">
                                  <p:stCondLst>
                                    <p:cond delay="0"/>
                                  </p:stCondLst>
                                  <p:childTnLst>
                                    <p:set>
                                      <p:cBhvr>
                                        <p:cTn id="125" dur="1" fill="hold">
                                          <p:stCondLst>
                                            <p:cond delay="0"/>
                                          </p:stCondLst>
                                        </p:cTn>
                                        <p:tgtEl>
                                          <p:spTgt spid="63"/>
                                        </p:tgtEl>
                                        <p:attrNameLst>
                                          <p:attrName>style.visibility</p:attrName>
                                        </p:attrNameLst>
                                      </p:cBhvr>
                                      <p:to>
                                        <p:strVal val="visible"/>
                                      </p:to>
                                    </p:set>
                                    <p:animEffect transition="in" filter="barn(inVertical)">
                                      <p:cBhvr>
                                        <p:cTn id="126" dur="500"/>
                                        <p:tgtEl>
                                          <p:spTgt spid="63"/>
                                        </p:tgtEl>
                                      </p:cBhvr>
                                    </p:animEffect>
                                  </p:childTnLst>
                                </p:cTn>
                              </p:par>
                            </p:childTnLst>
                          </p:cTn>
                        </p:par>
                      </p:childTnLst>
                    </p:cTn>
                  </p:par>
                  <p:par>
                    <p:cTn id="127" fill="hold">
                      <p:stCondLst>
                        <p:cond delay="indefinite"/>
                      </p:stCondLst>
                      <p:childTnLst>
                        <p:par>
                          <p:cTn id="128" fill="hold">
                            <p:stCondLst>
                              <p:cond delay="0"/>
                            </p:stCondLst>
                            <p:childTnLst>
                              <p:par>
                                <p:cTn id="129" presetID="16" presetClass="entr" presetSubtype="21" fill="hold" nodeType="clickEffect">
                                  <p:stCondLst>
                                    <p:cond delay="0"/>
                                  </p:stCondLst>
                                  <p:childTnLst>
                                    <p:set>
                                      <p:cBhvr>
                                        <p:cTn id="130" dur="1" fill="hold">
                                          <p:stCondLst>
                                            <p:cond delay="0"/>
                                          </p:stCondLst>
                                        </p:cTn>
                                        <p:tgtEl>
                                          <p:spTgt spid="62"/>
                                        </p:tgtEl>
                                        <p:attrNameLst>
                                          <p:attrName>style.visibility</p:attrName>
                                        </p:attrNameLst>
                                      </p:cBhvr>
                                      <p:to>
                                        <p:strVal val="visible"/>
                                      </p:to>
                                    </p:set>
                                    <p:animEffect transition="in" filter="barn(inVertical)">
                                      <p:cBhvr>
                                        <p:cTn id="131" dur="500"/>
                                        <p:tgtEl>
                                          <p:spTgt spid="62"/>
                                        </p:tgtEl>
                                      </p:cBhvr>
                                    </p:animEffect>
                                  </p:childTnLst>
                                </p:cTn>
                              </p:par>
                            </p:childTnLst>
                          </p:cTn>
                        </p:par>
                      </p:childTnLst>
                    </p:cTn>
                  </p:par>
                  <p:par>
                    <p:cTn id="132" fill="hold">
                      <p:stCondLst>
                        <p:cond delay="indefinite"/>
                      </p:stCondLst>
                      <p:childTnLst>
                        <p:par>
                          <p:cTn id="133" fill="hold">
                            <p:stCondLst>
                              <p:cond delay="0"/>
                            </p:stCondLst>
                            <p:childTnLst>
                              <p:par>
                                <p:cTn id="134" presetID="16" presetClass="entr" presetSubtype="21" fill="hold" nodeType="clickEffect">
                                  <p:stCondLst>
                                    <p:cond delay="0"/>
                                  </p:stCondLst>
                                  <p:childTnLst>
                                    <p:set>
                                      <p:cBhvr>
                                        <p:cTn id="135" dur="1" fill="hold">
                                          <p:stCondLst>
                                            <p:cond delay="0"/>
                                          </p:stCondLst>
                                        </p:cTn>
                                        <p:tgtEl>
                                          <p:spTgt spid="64"/>
                                        </p:tgtEl>
                                        <p:attrNameLst>
                                          <p:attrName>style.visibility</p:attrName>
                                        </p:attrNameLst>
                                      </p:cBhvr>
                                      <p:to>
                                        <p:strVal val="visible"/>
                                      </p:to>
                                    </p:set>
                                    <p:animEffect transition="in" filter="barn(inVertical)">
                                      <p:cBhvr>
                                        <p:cTn id="136" dur="500"/>
                                        <p:tgtEl>
                                          <p:spTgt spid="64"/>
                                        </p:tgtEl>
                                      </p:cBhvr>
                                    </p:animEffect>
                                  </p:childTnLst>
                                </p:cTn>
                              </p:par>
                            </p:childTnLst>
                          </p:cTn>
                        </p:par>
                        <p:par>
                          <p:cTn id="137" fill="hold">
                            <p:stCondLst>
                              <p:cond delay="500"/>
                            </p:stCondLst>
                            <p:childTnLst>
                              <p:par>
                                <p:cTn id="138" presetID="16" presetClass="entr" presetSubtype="21" fill="hold" grpId="0" nodeType="afterEffect">
                                  <p:stCondLst>
                                    <p:cond delay="0"/>
                                  </p:stCondLst>
                                  <p:childTnLst>
                                    <p:set>
                                      <p:cBhvr>
                                        <p:cTn id="139" dur="1" fill="hold">
                                          <p:stCondLst>
                                            <p:cond delay="0"/>
                                          </p:stCondLst>
                                        </p:cTn>
                                        <p:tgtEl>
                                          <p:spTgt spid="65"/>
                                        </p:tgtEl>
                                        <p:attrNameLst>
                                          <p:attrName>style.visibility</p:attrName>
                                        </p:attrNameLst>
                                      </p:cBhvr>
                                      <p:to>
                                        <p:strVal val="visible"/>
                                      </p:to>
                                    </p:set>
                                    <p:animEffect transition="in" filter="barn(inVertical)">
                                      <p:cBhvr>
                                        <p:cTn id="140" dur="500"/>
                                        <p:tgtEl>
                                          <p:spTgt spid="65"/>
                                        </p:tgtEl>
                                      </p:cBhvr>
                                    </p:animEffect>
                                  </p:childTnLst>
                                </p:cTn>
                              </p:par>
                            </p:childTnLst>
                          </p:cTn>
                        </p:par>
                      </p:childTnLst>
                    </p:cTn>
                  </p:par>
                  <p:par>
                    <p:cTn id="141" fill="hold">
                      <p:stCondLst>
                        <p:cond delay="indefinite"/>
                      </p:stCondLst>
                      <p:childTnLst>
                        <p:par>
                          <p:cTn id="142" fill="hold">
                            <p:stCondLst>
                              <p:cond delay="0"/>
                            </p:stCondLst>
                            <p:childTnLst>
                              <p:par>
                                <p:cTn id="143" presetID="16" presetClass="entr" presetSubtype="21" fill="hold" nodeType="clickEffect">
                                  <p:stCondLst>
                                    <p:cond delay="0"/>
                                  </p:stCondLst>
                                  <p:childTnLst>
                                    <p:set>
                                      <p:cBhvr>
                                        <p:cTn id="144" dur="1" fill="hold">
                                          <p:stCondLst>
                                            <p:cond delay="0"/>
                                          </p:stCondLst>
                                        </p:cTn>
                                        <p:tgtEl>
                                          <p:spTgt spid="66"/>
                                        </p:tgtEl>
                                        <p:attrNameLst>
                                          <p:attrName>style.visibility</p:attrName>
                                        </p:attrNameLst>
                                      </p:cBhvr>
                                      <p:to>
                                        <p:strVal val="visible"/>
                                      </p:to>
                                    </p:set>
                                    <p:animEffect transition="in" filter="barn(inVertical)">
                                      <p:cBhvr>
                                        <p:cTn id="145"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21" grpId="0" animBg="1"/>
      <p:bldP spid="22" grpId="0" animBg="1"/>
      <p:bldP spid="27" grpId="0" animBg="1"/>
      <p:bldP spid="46" grpId="0"/>
      <p:bldP spid="47" grpId="0"/>
      <p:bldP spid="48" grpId="0"/>
      <p:bldP spid="52" grpId="0" animBg="1"/>
      <p:bldP spid="56" grpId="0" animBg="1"/>
      <p:bldP spid="59" grpId="0" animBg="1"/>
      <p:bldP spid="65" grpId="0" animBg="1"/>
      <p:bldP spid="68" grpId="0"/>
      <p:bldP spid="69" grpId="0"/>
      <p:bldP spid="70" grpId="0"/>
      <p:bldP spid="71" grpId="0"/>
      <p:bldP spid="72" grpId="0"/>
      <p:bldP spid="7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3DA431-D60A-4789-B79A-9CFFABBAAEF8}"/>
              </a:ext>
            </a:extLst>
          </p:cNvPr>
          <p:cNvSpPr>
            <a:spLocks noGrp="1"/>
          </p:cNvSpPr>
          <p:nvPr>
            <p:ph type="title"/>
          </p:nvPr>
        </p:nvSpPr>
        <p:spPr/>
        <p:txBody>
          <a:bodyPr/>
          <a:lstStyle/>
          <a:p>
            <a:r>
              <a:rPr lang="zh-CN" altLang="en-US" dirty="0"/>
              <a:t>凸集数学定义推导</a:t>
            </a:r>
          </a:p>
        </p:txBody>
      </p:sp>
      <p:sp>
        <p:nvSpPr>
          <p:cNvPr id="4" name="日期占位符 3">
            <a:extLst>
              <a:ext uri="{FF2B5EF4-FFF2-40B4-BE49-F238E27FC236}">
                <a16:creationId xmlns:a16="http://schemas.microsoft.com/office/drawing/2014/main" id="{50E4B4E1-AA21-47FE-A1E4-4BDD33843DEA}"/>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graphicFrame>
        <p:nvGraphicFramePr>
          <p:cNvPr id="50" name="对象 49">
            <a:extLst>
              <a:ext uri="{FF2B5EF4-FFF2-40B4-BE49-F238E27FC236}">
                <a16:creationId xmlns:a16="http://schemas.microsoft.com/office/drawing/2014/main" id="{A7614AF2-36F9-40F6-A612-5A6B7C24E8C0}"/>
              </a:ext>
            </a:extLst>
          </p:cNvPr>
          <p:cNvGraphicFramePr>
            <a:graphicFrameLocks noChangeAspect="1"/>
          </p:cNvGraphicFramePr>
          <p:nvPr/>
        </p:nvGraphicFramePr>
        <p:xfrm>
          <a:off x="222202" y="1121494"/>
          <a:ext cx="1450975" cy="528637"/>
        </p:xfrm>
        <a:graphic>
          <a:graphicData uri="http://schemas.openxmlformats.org/presentationml/2006/ole">
            <mc:AlternateContent xmlns:mc="http://schemas.openxmlformats.org/markup-compatibility/2006">
              <mc:Choice xmlns:v="urn:schemas-microsoft-com:vml" Requires="v">
                <p:oleObj name="Equation" r:id="rId2" imgW="419040" imgH="152280" progId="Equation.DSMT4">
                  <p:embed/>
                </p:oleObj>
              </mc:Choice>
              <mc:Fallback>
                <p:oleObj name="Equation" r:id="rId2" imgW="419040" imgH="152280" progId="Equation.DSMT4">
                  <p:embed/>
                  <p:pic>
                    <p:nvPicPr>
                      <p:cNvPr id="50" name="对象 49">
                        <a:extLst>
                          <a:ext uri="{FF2B5EF4-FFF2-40B4-BE49-F238E27FC236}">
                            <a16:creationId xmlns:a16="http://schemas.microsoft.com/office/drawing/2014/main" id="{A7614AF2-36F9-40F6-A612-5A6B7C24E8C0}"/>
                          </a:ext>
                        </a:extLst>
                      </p:cNvPr>
                      <p:cNvPicPr/>
                      <p:nvPr/>
                    </p:nvPicPr>
                    <p:blipFill>
                      <a:blip r:embed="rId3"/>
                      <a:stretch>
                        <a:fillRect/>
                      </a:stretch>
                    </p:blipFill>
                    <p:spPr>
                      <a:xfrm>
                        <a:off x="222202" y="1121494"/>
                        <a:ext cx="1450975" cy="528637"/>
                      </a:xfrm>
                      <a:prstGeom prst="rect">
                        <a:avLst/>
                      </a:prstGeom>
                    </p:spPr>
                  </p:pic>
                </p:oleObj>
              </mc:Fallback>
            </mc:AlternateContent>
          </a:graphicData>
        </a:graphic>
      </p:graphicFrame>
      <p:sp>
        <p:nvSpPr>
          <p:cNvPr id="59" name="箭头: 右 58">
            <a:extLst>
              <a:ext uri="{FF2B5EF4-FFF2-40B4-BE49-F238E27FC236}">
                <a16:creationId xmlns:a16="http://schemas.microsoft.com/office/drawing/2014/main" id="{20973145-F57F-4AB2-9B32-F7FBCC3AC1C4}"/>
              </a:ext>
            </a:extLst>
          </p:cNvPr>
          <p:cNvSpPr/>
          <p:nvPr/>
        </p:nvSpPr>
        <p:spPr bwMode="auto">
          <a:xfrm>
            <a:off x="338646" y="2100336"/>
            <a:ext cx="645658" cy="30913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aphicFrame>
        <p:nvGraphicFramePr>
          <p:cNvPr id="64" name="对象 63">
            <a:extLst>
              <a:ext uri="{FF2B5EF4-FFF2-40B4-BE49-F238E27FC236}">
                <a16:creationId xmlns:a16="http://schemas.microsoft.com/office/drawing/2014/main" id="{34CC3552-FD64-4CA0-89ED-446798CE386E}"/>
              </a:ext>
            </a:extLst>
          </p:cNvPr>
          <p:cNvGraphicFramePr>
            <a:graphicFrameLocks noChangeAspect="1"/>
          </p:cNvGraphicFramePr>
          <p:nvPr>
            <p:extLst>
              <p:ext uri="{D42A27DB-BD31-4B8C-83A1-F6EECF244321}">
                <p14:modId xmlns:p14="http://schemas.microsoft.com/office/powerpoint/2010/main" val="2411040607"/>
              </p:ext>
            </p:extLst>
          </p:nvPr>
        </p:nvGraphicFramePr>
        <p:xfrm>
          <a:off x="901700" y="1595438"/>
          <a:ext cx="1757363" cy="1320800"/>
        </p:xfrm>
        <a:graphic>
          <a:graphicData uri="http://schemas.openxmlformats.org/presentationml/2006/ole">
            <mc:AlternateContent xmlns:mc="http://schemas.openxmlformats.org/markup-compatibility/2006">
              <mc:Choice xmlns:v="urn:schemas-microsoft-com:vml" Requires="v">
                <p:oleObj name="Equation" r:id="rId4" imgW="507960" imgH="380880" progId="Equation.DSMT4">
                  <p:embed/>
                </p:oleObj>
              </mc:Choice>
              <mc:Fallback>
                <p:oleObj name="Equation" r:id="rId4" imgW="507960" imgH="380880" progId="Equation.DSMT4">
                  <p:embed/>
                  <p:pic>
                    <p:nvPicPr>
                      <p:cNvPr id="64" name="对象 63">
                        <a:extLst>
                          <a:ext uri="{FF2B5EF4-FFF2-40B4-BE49-F238E27FC236}">
                            <a16:creationId xmlns:a16="http://schemas.microsoft.com/office/drawing/2014/main" id="{34CC3552-FD64-4CA0-89ED-446798CE386E}"/>
                          </a:ext>
                        </a:extLst>
                      </p:cNvPr>
                      <p:cNvPicPr/>
                      <p:nvPr/>
                    </p:nvPicPr>
                    <p:blipFill>
                      <a:blip r:embed="rId5"/>
                      <a:stretch>
                        <a:fillRect/>
                      </a:stretch>
                    </p:blipFill>
                    <p:spPr>
                      <a:xfrm>
                        <a:off x="901700" y="1595438"/>
                        <a:ext cx="1757363" cy="1320800"/>
                      </a:xfrm>
                      <a:prstGeom prst="rect">
                        <a:avLst/>
                      </a:prstGeom>
                    </p:spPr>
                  </p:pic>
                </p:oleObj>
              </mc:Fallback>
            </mc:AlternateContent>
          </a:graphicData>
        </a:graphic>
      </p:graphicFrame>
      <p:sp>
        <p:nvSpPr>
          <p:cNvPr id="65" name="箭头: 右 64">
            <a:extLst>
              <a:ext uri="{FF2B5EF4-FFF2-40B4-BE49-F238E27FC236}">
                <a16:creationId xmlns:a16="http://schemas.microsoft.com/office/drawing/2014/main" id="{429D27B4-D06B-4053-B98E-77E56CB0501E}"/>
              </a:ext>
            </a:extLst>
          </p:cNvPr>
          <p:cNvSpPr/>
          <p:nvPr/>
        </p:nvSpPr>
        <p:spPr bwMode="auto">
          <a:xfrm>
            <a:off x="312470" y="3522439"/>
            <a:ext cx="645658" cy="30913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aphicFrame>
        <p:nvGraphicFramePr>
          <p:cNvPr id="66" name="对象 65">
            <a:extLst>
              <a:ext uri="{FF2B5EF4-FFF2-40B4-BE49-F238E27FC236}">
                <a16:creationId xmlns:a16="http://schemas.microsoft.com/office/drawing/2014/main" id="{50E58492-8A5A-4824-BBB2-9D11C533424C}"/>
              </a:ext>
            </a:extLst>
          </p:cNvPr>
          <p:cNvGraphicFramePr>
            <a:graphicFrameLocks noChangeAspect="1"/>
          </p:cNvGraphicFramePr>
          <p:nvPr>
            <p:extLst>
              <p:ext uri="{D42A27DB-BD31-4B8C-83A1-F6EECF244321}">
                <p14:modId xmlns:p14="http://schemas.microsoft.com/office/powerpoint/2010/main" val="2688600657"/>
              </p:ext>
            </p:extLst>
          </p:nvPr>
        </p:nvGraphicFramePr>
        <p:xfrm>
          <a:off x="822325" y="3124200"/>
          <a:ext cx="3954463" cy="1320800"/>
        </p:xfrm>
        <a:graphic>
          <a:graphicData uri="http://schemas.openxmlformats.org/presentationml/2006/ole">
            <mc:AlternateContent xmlns:mc="http://schemas.openxmlformats.org/markup-compatibility/2006">
              <mc:Choice xmlns:v="urn:schemas-microsoft-com:vml" Requires="v">
                <p:oleObj name="Equation" r:id="rId6" imgW="1143000" imgH="380880" progId="Equation.DSMT4">
                  <p:embed/>
                </p:oleObj>
              </mc:Choice>
              <mc:Fallback>
                <p:oleObj name="Equation" r:id="rId6" imgW="1143000" imgH="380880" progId="Equation.DSMT4">
                  <p:embed/>
                  <p:pic>
                    <p:nvPicPr>
                      <p:cNvPr id="66" name="对象 65">
                        <a:extLst>
                          <a:ext uri="{FF2B5EF4-FFF2-40B4-BE49-F238E27FC236}">
                            <a16:creationId xmlns:a16="http://schemas.microsoft.com/office/drawing/2014/main" id="{50E58492-8A5A-4824-BBB2-9D11C533424C}"/>
                          </a:ext>
                        </a:extLst>
                      </p:cNvPr>
                      <p:cNvPicPr/>
                      <p:nvPr/>
                    </p:nvPicPr>
                    <p:blipFill>
                      <a:blip r:embed="rId7"/>
                      <a:stretch>
                        <a:fillRect/>
                      </a:stretch>
                    </p:blipFill>
                    <p:spPr>
                      <a:xfrm>
                        <a:off x="822325" y="3124200"/>
                        <a:ext cx="3954463" cy="1320800"/>
                      </a:xfrm>
                      <a:prstGeom prst="rect">
                        <a:avLst/>
                      </a:prstGeom>
                    </p:spPr>
                  </p:pic>
                </p:oleObj>
              </mc:Fallback>
            </mc:AlternateContent>
          </a:graphicData>
        </a:graphic>
      </p:graphicFrame>
      <p:sp>
        <p:nvSpPr>
          <p:cNvPr id="49" name="箭头: 右 48">
            <a:extLst>
              <a:ext uri="{FF2B5EF4-FFF2-40B4-BE49-F238E27FC236}">
                <a16:creationId xmlns:a16="http://schemas.microsoft.com/office/drawing/2014/main" id="{FEC7DA50-CF35-48CF-A336-BB58865D59F7}"/>
              </a:ext>
            </a:extLst>
          </p:cNvPr>
          <p:cNvSpPr/>
          <p:nvPr/>
        </p:nvSpPr>
        <p:spPr bwMode="auto">
          <a:xfrm>
            <a:off x="302031" y="4929990"/>
            <a:ext cx="645658" cy="30913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aphicFrame>
        <p:nvGraphicFramePr>
          <p:cNvPr id="57" name="对象 56">
            <a:extLst>
              <a:ext uri="{FF2B5EF4-FFF2-40B4-BE49-F238E27FC236}">
                <a16:creationId xmlns:a16="http://schemas.microsoft.com/office/drawing/2014/main" id="{6EC4934F-E2ED-4CB1-96DF-CB0C126A7A5B}"/>
              </a:ext>
            </a:extLst>
          </p:cNvPr>
          <p:cNvGraphicFramePr>
            <a:graphicFrameLocks noChangeAspect="1"/>
          </p:cNvGraphicFramePr>
          <p:nvPr>
            <p:extLst>
              <p:ext uri="{D42A27DB-BD31-4B8C-83A1-F6EECF244321}">
                <p14:modId xmlns:p14="http://schemas.microsoft.com/office/powerpoint/2010/main" val="428360387"/>
              </p:ext>
            </p:extLst>
          </p:nvPr>
        </p:nvGraphicFramePr>
        <p:xfrm>
          <a:off x="890588" y="4437063"/>
          <a:ext cx="4395787" cy="1320800"/>
        </p:xfrm>
        <a:graphic>
          <a:graphicData uri="http://schemas.openxmlformats.org/presentationml/2006/ole">
            <mc:AlternateContent xmlns:mc="http://schemas.openxmlformats.org/markup-compatibility/2006">
              <mc:Choice xmlns:v="urn:schemas-microsoft-com:vml" Requires="v">
                <p:oleObj name="Equation" r:id="rId8" imgW="1269720" imgH="380880" progId="Equation.DSMT4">
                  <p:embed/>
                </p:oleObj>
              </mc:Choice>
              <mc:Fallback>
                <p:oleObj name="Equation" r:id="rId8" imgW="1269720" imgH="380880" progId="Equation.DSMT4">
                  <p:embed/>
                  <p:pic>
                    <p:nvPicPr>
                      <p:cNvPr id="66" name="对象 65">
                        <a:extLst>
                          <a:ext uri="{FF2B5EF4-FFF2-40B4-BE49-F238E27FC236}">
                            <a16:creationId xmlns:a16="http://schemas.microsoft.com/office/drawing/2014/main" id="{50E58492-8A5A-4824-BBB2-9D11C533424C}"/>
                          </a:ext>
                        </a:extLst>
                      </p:cNvPr>
                      <p:cNvPicPr/>
                      <p:nvPr/>
                    </p:nvPicPr>
                    <p:blipFill>
                      <a:blip r:embed="rId9"/>
                      <a:stretch>
                        <a:fillRect/>
                      </a:stretch>
                    </p:blipFill>
                    <p:spPr>
                      <a:xfrm>
                        <a:off x="890588" y="4437063"/>
                        <a:ext cx="4395787" cy="1320800"/>
                      </a:xfrm>
                      <a:prstGeom prst="rect">
                        <a:avLst/>
                      </a:prstGeom>
                    </p:spPr>
                  </p:pic>
                </p:oleObj>
              </mc:Fallback>
            </mc:AlternateContent>
          </a:graphicData>
        </a:graphic>
      </p:graphicFrame>
      <p:sp>
        <p:nvSpPr>
          <p:cNvPr id="58" name="箭头: 右 57">
            <a:extLst>
              <a:ext uri="{FF2B5EF4-FFF2-40B4-BE49-F238E27FC236}">
                <a16:creationId xmlns:a16="http://schemas.microsoft.com/office/drawing/2014/main" id="{6EE28308-F1CE-4750-B907-8B85A2A6B7FE}"/>
              </a:ext>
            </a:extLst>
          </p:cNvPr>
          <p:cNvSpPr/>
          <p:nvPr/>
        </p:nvSpPr>
        <p:spPr bwMode="auto">
          <a:xfrm>
            <a:off x="302031" y="6081614"/>
            <a:ext cx="645658" cy="309133"/>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aphicFrame>
        <p:nvGraphicFramePr>
          <p:cNvPr id="67" name="对象 66">
            <a:extLst>
              <a:ext uri="{FF2B5EF4-FFF2-40B4-BE49-F238E27FC236}">
                <a16:creationId xmlns:a16="http://schemas.microsoft.com/office/drawing/2014/main" id="{A0844BB4-B44E-415A-B3A4-4588359BD754}"/>
              </a:ext>
            </a:extLst>
          </p:cNvPr>
          <p:cNvGraphicFramePr>
            <a:graphicFrameLocks noChangeAspect="1"/>
          </p:cNvGraphicFramePr>
          <p:nvPr>
            <p:extLst>
              <p:ext uri="{D42A27DB-BD31-4B8C-83A1-F6EECF244321}">
                <p14:modId xmlns:p14="http://schemas.microsoft.com/office/powerpoint/2010/main" val="2819401464"/>
              </p:ext>
            </p:extLst>
          </p:nvPr>
        </p:nvGraphicFramePr>
        <p:xfrm>
          <a:off x="1280592" y="5875819"/>
          <a:ext cx="4319587" cy="720725"/>
        </p:xfrm>
        <a:graphic>
          <a:graphicData uri="http://schemas.openxmlformats.org/presentationml/2006/ole">
            <mc:AlternateContent xmlns:mc="http://schemas.openxmlformats.org/markup-compatibility/2006">
              <mc:Choice xmlns:v="urn:schemas-microsoft-com:vml" Requires="v">
                <p:oleObj name="Equation" r:id="rId10" imgW="1066680" imgH="177480" progId="Equation.DSMT4">
                  <p:embed/>
                </p:oleObj>
              </mc:Choice>
              <mc:Fallback>
                <p:oleObj name="Equation" r:id="rId10" imgW="1066680" imgH="177480" progId="Equation.DSMT4">
                  <p:embed/>
                  <p:pic>
                    <p:nvPicPr>
                      <p:cNvPr id="32" name="对象 31">
                        <a:extLst>
                          <a:ext uri="{FF2B5EF4-FFF2-40B4-BE49-F238E27FC236}">
                            <a16:creationId xmlns:a16="http://schemas.microsoft.com/office/drawing/2014/main" id="{1F5BBA07-866C-4ACA-95CC-DD06129C912F}"/>
                          </a:ext>
                        </a:extLst>
                      </p:cNvPr>
                      <p:cNvPicPr/>
                      <p:nvPr/>
                    </p:nvPicPr>
                    <p:blipFill>
                      <a:blip r:embed="rId11"/>
                      <a:stretch>
                        <a:fillRect/>
                      </a:stretch>
                    </p:blipFill>
                    <p:spPr>
                      <a:xfrm>
                        <a:off x="1280592" y="5875819"/>
                        <a:ext cx="4319587" cy="720725"/>
                      </a:xfrm>
                      <a:prstGeom prst="rect">
                        <a:avLst/>
                      </a:prstGeom>
                      <a:ln w="28575">
                        <a:solidFill>
                          <a:srgbClr val="C00000"/>
                        </a:solidFill>
                      </a:ln>
                    </p:spPr>
                  </p:pic>
                </p:oleObj>
              </mc:Fallback>
            </mc:AlternateContent>
          </a:graphicData>
        </a:graphic>
      </p:graphicFrame>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418C3CA4-B78D-48F8-BBF5-4E30E8EE17B8}"/>
                  </a:ext>
                </a:extLst>
              </p:cNvPr>
              <p:cNvSpPr txBox="1"/>
              <p:nvPr/>
            </p:nvSpPr>
            <p:spPr>
              <a:xfrm>
                <a:off x="9280585" y="3835947"/>
                <a:ext cx="612343" cy="5734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3200" i="1" dirty="0" smtClean="0">
                          <a:latin typeface="Cambria Math" panose="02040503050406030204" pitchFamily="18" charset="0"/>
                        </a:rPr>
                        <m:t>𝑥</m:t>
                      </m:r>
                      <m:r>
                        <a:rPr lang="en-US" altLang="zh-CN" sz="3200" b="0" i="1" baseline="-25000" dirty="0" smtClean="0">
                          <a:latin typeface="Cambria Math" panose="02040503050406030204" pitchFamily="18" charset="0"/>
                        </a:rPr>
                        <m:t>1</m:t>
                      </m:r>
                    </m:oMath>
                  </m:oMathPara>
                </a14:m>
                <a:endParaRPr lang="zh-CN" altLang="en-US" sz="3200" baseline="-25000" dirty="0"/>
              </a:p>
            </p:txBody>
          </p:sp>
        </mc:Choice>
        <mc:Fallback xmlns="">
          <p:sp>
            <p:nvSpPr>
              <p:cNvPr id="68" name="文本框 67">
                <a:extLst>
                  <a:ext uri="{FF2B5EF4-FFF2-40B4-BE49-F238E27FC236}">
                    <a16:creationId xmlns:a16="http://schemas.microsoft.com/office/drawing/2014/main" id="{418C3CA4-B78D-48F8-BBF5-4E30E8EE17B8}"/>
                  </a:ext>
                </a:extLst>
              </p:cNvPr>
              <p:cNvSpPr txBox="1">
                <a:spLocks noRot="1" noChangeAspect="1" noMove="1" noResize="1" noEditPoints="1" noAdjustHandles="1" noChangeArrowheads="1" noChangeShapeType="1" noTextEdit="1"/>
              </p:cNvSpPr>
              <p:nvPr/>
            </p:nvSpPr>
            <p:spPr>
              <a:xfrm>
                <a:off x="9280585" y="3835947"/>
                <a:ext cx="612343" cy="573427"/>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438CB384-CFDA-4B61-ADB5-7BF02A146C35}"/>
                  </a:ext>
                </a:extLst>
              </p:cNvPr>
              <p:cNvSpPr txBox="1"/>
              <p:nvPr/>
            </p:nvSpPr>
            <p:spPr>
              <a:xfrm>
                <a:off x="5220653" y="1130970"/>
                <a:ext cx="519693" cy="5734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3200" b="0" i="1" dirty="0" smtClean="0">
                          <a:latin typeface="Cambria Math" panose="02040503050406030204" pitchFamily="18" charset="0"/>
                        </a:rPr>
                        <m:t>𝑥</m:t>
                      </m:r>
                      <m:r>
                        <a:rPr lang="en-US" altLang="zh-CN" sz="3200" b="0" i="1" baseline="-25000" dirty="0" smtClean="0">
                          <a:latin typeface="Cambria Math" panose="02040503050406030204" pitchFamily="18" charset="0"/>
                        </a:rPr>
                        <m:t>2</m:t>
                      </m:r>
                    </m:oMath>
                  </m:oMathPara>
                </a14:m>
                <a:endParaRPr lang="zh-CN" altLang="en-US" sz="3200" baseline="-25000" dirty="0"/>
              </a:p>
            </p:txBody>
          </p:sp>
        </mc:Choice>
        <mc:Fallback xmlns="">
          <p:sp>
            <p:nvSpPr>
              <p:cNvPr id="69" name="文本框 68">
                <a:extLst>
                  <a:ext uri="{FF2B5EF4-FFF2-40B4-BE49-F238E27FC236}">
                    <a16:creationId xmlns:a16="http://schemas.microsoft.com/office/drawing/2014/main" id="{438CB384-CFDA-4B61-ADB5-7BF02A146C35}"/>
                  </a:ext>
                </a:extLst>
              </p:cNvPr>
              <p:cNvSpPr txBox="1">
                <a:spLocks noRot="1" noChangeAspect="1" noMove="1" noResize="1" noEditPoints="1" noAdjustHandles="1" noChangeArrowheads="1" noChangeShapeType="1" noTextEdit="1"/>
              </p:cNvSpPr>
              <p:nvPr/>
            </p:nvSpPr>
            <p:spPr>
              <a:xfrm>
                <a:off x="5220653" y="1130970"/>
                <a:ext cx="519693" cy="573427"/>
              </a:xfrm>
              <a:prstGeom prst="rect">
                <a:avLst/>
              </a:prstGeom>
              <a:blipFill>
                <a:blip r:embed="rId14"/>
                <a:stretch>
                  <a:fillRect/>
                </a:stretch>
              </a:blipFill>
            </p:spPr>
            <p:txBody>
              <a:bodyPr/>
              <a:lstStyle/>
              <a:p>
                <a:r>
                  <a:rPr lang="zh-CN" altLang="en-US">
                    <a:noFill/>
                  </a:rPr>
                  <a:t> </a:t>
                </a:r>
              </a:p>
            </p:txBody>
          </p:sp>
        </mc:Fallback>
      </mc:AlternateContent>
      <p:sp>
        <p:nvSpPr>
          <p:cNvPr id="70" name="任意多边形: 形状 69">
            <a:extLst>
              <a:ext uri="{FF2B5EF4-FFF2-40B4-BE49-F238E27FC236}">
                <a16:creationId xmlns:a16="http://schemas.microsoft.com/office/drawing/2014/main" id="{0F2BB0B6-9E7A-4DFF-9868-0801C00F72CF}"/>
              </a:ext>
            </a:extLst>
          </p:cNvPr>
          <p:cNvSpPr/>
          <p:nvPr/>
        </p:nvSpPr>
        <p:spPr bwMode="auto">
          <a:xfrm>
            <a:off x="5729958" y="1556792"/>
            <a:ext cx="3228693" cy="1987830"/>
          </a:xfrm>
          <a:custGeom>
            <a:avLst/>
            <a:gdLst>
              <a:gd name="connsiteX0" fmla="*/ 5992 w 1917124"/>
              <a:gd name="connsiteY0" fmla="*/ 933583 h 1553003"/>
              <a:gd name="connsiteX1" fmla="*/ 1168042 w 1917124"/>
              <a:gd name="connsiteY1" fmla="*/ 133 h 1553003"/>
              <a:gd name="connsiteX2" fmla="*/ 1910992 w 1917124"/>
              <a:gd name="connsiteY2" fmla="*/ 1000258 h 1553003"/>
              <a:gd name="connsiteX3" fmla="*/ 767992 w 1917124"/>
              <a:gd name="connsiteY3" fmla="*/ 1552708 h 1553003"/>
              <a:gd name="connsiteX4" fmla="*/ 5992 w 1917124"/>
              <a:gd name="connsiteY4" fmla="*/ 933583 h 1553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124" h="1553003">
                <a:moveTo>
                  <a:pt x="5992" y="933583"/>
                </a:moveTo>
                <a:cubicBezTo>
                  <a:pt x="72667" y="674820"/>
                  <a:pt x="850542" y="-10980"/>
                  <a:pt x="1168042" y="133"/>
                </a:cubicBezTo>
                <a:cubicBezTo>
                  <a:pt x="1485542" y="11245"/>
                  <a:pt x="1977667" y="741495"/>
                  <a:pt x="1910992" y="1000258"/>
                </a:cubicBezTo>
                <a:cubicBezTo>
                  <a:pt x="1844317" y="1259021"/>
                  <a:pt x="1091842" y="1563821"/>
                  <a:pt x="767992" y="1552708"/>
                </a:cubicBezTo>
                <a:cubicBezTo>
                  <a:pt x="444142" y="1541596"/>
                  <a:pt x="-60683" y="1192346"/>
                  <a:pt x="5992" y="933583"/>
                </a:cubicBezTo>
                <a:close/>
              </a:path>
            </a:pathLst>
          </a:cu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71" name="直接连接符 70">
            <a:extLst>
              <a:ext uri="{FF2B5EF4-FFF2-40B4-BE49-F238E27FC236}">
                <a16:creationId xmlns:a16="http://schemas.microsoft.com/office/drawing/2014/main" id="{25DC1CC6-71DE-48DD-A195-A9697E9CABAF}"/>
              </a:ext>
            </a:extLst>
          </p:cNvPr>
          <p:cNvCxnSpPr>
            <a:cxnSpLocks/>
            <a:endCxn id="75" idx="6"/>
          </p:cNvCxnSpPr>
          <p:nvPr/>
        </p:nvCxnSpPr>
        <p:spPr bwMode="auto">
          <a:xfrm flipV="1">
            <a:off x="6198259" y="2503181"/>
            <a:ext cx="2316089" cy="548354"/>
          </a:xfrm>
          <a:prstGeom prst="line">
            <a:avLst/>
          </a:prstGeom>
          <a:ln w="76200">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72" name="直接箭头连接符 71">
            <a:extLst>
              <a:ext uri="{FF2B5EF4-FFF2-40B4-BE49-F238E27FC236}">
                <a16:creationId xmlns:a16="http://schemas.microsoft.com/office/drawing/2014/main" id="{3374559F-836A-4276-AF98-196A198A744C}"/>
              </a:ext>
            </a:extLst>
          </p:cNvPr>
          <p:cNvCxnSpPr/>
          <p:nvPr/>
        </p:nvCxnSpPr>
        <p:spPr bwMode="auto">
          <a:xfrm>
            <a:off x="4995927" y="4151659"/>
            <a:ext cx="4392488" cy="0"/>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3" name="直接箭头连接符 72">
            <a:extLst>
              <a:ext uri="{FF2B5EF4-FFF2-40B4-BE49-F238E27FC236}">
                <a16:creationId xmlns:a16="http://schemas.microsoft.com/office/drawing/2014/main" id="{63169668-521C-4B90-82D1-6EA467DBDCAB}"/>
              </a:ext>
            </a:extLst>
          </p:cNvPr>
          <p:cNvCxnSpPr>
            <a:cxnSpLocks/>
          </p:cNvCxnSpPr>
          <p:nvPr/>
        </p:nvCxnSpPr>
        <p:spPr bwMode="auto">
          <a:xfrm flipV="1">
            <a:off x="5491599" y="1631379"/>
            <a:ext cx="0" cy="2888026"/>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4" name="椭圆 73">
            <a:extLst>
              <a:ext uri="{FF2B5EF4-FFF2-40B4-BE49-F238E27FC236}">
                <a16:creationId xmlns:a16="http://schemas.microsoft.com/office/drawing/2014/main" id="{CF190734-EFA5-47DA-94D4-D9FF1358CF19}"/>
              </a:ext>
            </a:extLst>
          </p:cNvPr>
          <p:cNvSpPr/>
          <p:nvPr/>
        </p:nvSpPr>
        <p:spPr bwMode="auto">
          <a:xfrm>
            <a:off x="6130942" y="2986335"/>
            <a:ext cx="144012" cy="14401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75" name="椭圆 74">
            <a:extLst>
              <a:ext uri="{FF2B5EF4-FFF2-40B4-BE49-F238E27FC236}">
                <a16:creationId xmlns:a16="http://schemas.microsoft.com/office/drawing/2014/main" id="{5CB9C0FD-26FE-45B9-82DA-25132DD32929}"/>
              </a:ext>
            </a:extLst>
          </p:cNvPr>
          <p:cNvSpPr/>
          <p:nvPr/>
        </p:nvSpPr>
        <p:spPr bwMode="auto">
          <a:xfrm>
            <a:off x="8370336" y="2431173"/>
            <a:ext cx="144012" cy="14401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76" name="直接连接符 75">
            <a:extLst>
              <a:ext uri="{FF2B5EF4-FFF2-40B4-BE49-F238E27FC236}">
                <a16:creationId xmlns:a16="http://schemas.microsoft.com/office/drawing/2014/main" id="{F44A7840-F476-423A-BF5D-B4FCF59CBF0B}"/>
              </a:ext>
            </a:extLst>
          </p:cNvPr>
          <p:cNvCxnSpPr>
            <a:cxnSpLocks/>
            <a:stCxn id="74" idx="4"/>
          </p:cNvCxnSpPr>
          <p:nvPr/>
        </p:nvCxnSpPr>
        <p:spPr bwMode="auto">
          <a:xfrm>
            <a:off x="6202948" y="3130351"/>
            <a:ext cx="0" cy="102901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7" name="直接连接符 76">
            <a:extLst>
              <a:ext uri="{FF2B5EF4-FFF2-40B4-BE49-F238E27FC236}">
                <a16:creationId xmlns:a16="http://schemas.microsoft.com/office/drawing/2014/main" id="{E149BCA1-1A7F-47A7-9257-F9D25D344E11}"/>
              </a:ext>
            </a:extLst>
          </p:cNvPr>
          <p:cNvCxnSpPr>
            <a:cxnSpLocks/>
            <a:stCxn id="75" idx="4"/>
          </p:cNvCxnSpPr>
          <p:nvPr/>
        </p:nvCxnSpPr>
        <p:spPr bwMode="auto">
          <a:xfrm>
            <a:off x="8442342" y="2575189"/>
            <a:ext cx="1190" cy="1563087"/>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8" name="椭圆 77">
            <a:extLst>
              <a:ext uri="{FF2B5EF4-FFF2-40B4-BE49-F238E27FC236}">
                <a16:creationId xmlns:a16="http://schemas.microsoft.com/office/drawing/2014/main" id="{03FBC7D0-4319-4A35-816B-BF2EC51B5745}"/>
              </a:ext>
            </a:extLst>
          </p:cNvPr>
          <p:cNvSpPr/>
          <p:nvPr/>
        </p:nvSpPr>
        <p:spPr bwMode="auto">
          <a:xfrm>
            <a:off x="7224063" y="2727498"/>
            <a:ext cx="144012" cy="144016"/>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79" name="直接连接符 78">
            <a:extLst>
              <a:ext uri="{FF2B5EF4-FFF2-40B4-BE49-F238E27FC236}">
                <a16:creationId xmlns:a16="http://schemas.microsoft.com/office/drawing/2014/main" id="{F56460AF-59CE-452A-BBB2-5C837A0D219B}"/>
              </a:ext>
            </a:extLst>
          </p:cNvPr>
          <p:cNvCxnSpPr>
            <a:cxnSpLocks/>
          </p:cNvCxnSpPr>
          <p:nvPr/>
        </p:nvCxnSpPr>
        <p:spPr bwMode="auto">
          <a:xfrm>
            <a:off x="7309358" y="2865773"/>
            <a:ext cx="0" cy="129359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0" name="直接连接符 79">
            <a:extLst>
              <a:ext uri="{FF2B5EF4-FFF2-40B4-BE49-F238E27FC236}">
                <a16:creationId xmlns:a16="http://schemas.microsoft.com/office/drawing/2014/main" id="{F6DE40F4-1780-4F0C-A84A-4E4893DD7DFE}"/>
              </a:ext>
            </a:extLst>
          </p:cNvPr>
          <p:cNvCxnSpPr>
            <a:cxnSpLocks/>
            <a:stCxn id="78" idx="2"/>
          </p:cNvCxnSpPr>
          <p:nvPr/>
        </p:nvCxnSpPr>
        <p:spPr bwMode="auto">
          <a:xfrm flipH="1">
            <a:off x="5520994" y="2799506"/>
            <a:ext cx="1703069"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1" name="直接连接符 80">
            <a:extLst>
              <a:ext uri="{FF2B5EF4-FFF2-40B4-BE49-F238E27FC236}">
                <a16:creationId xmlns:a16="http://schemas.microsoft.com/office/drawing/2014/main" id="{301C71D2-D36D-48CD-BB77-994B7CE2D0FD}"/>
              </a:ext>
            </a:extLst>
          </p:cNvPr>
          <p:cNvCxnSpPr>
            <a:cxnSpLocks/>
          </p:cNvCxnSpPr>
          <p:nvPr/>
        </p:nvCxnSpPr>
        <p:spPr bwMode="auto">
          <a:xfrm flipH="1">
            <a:off x="6259338" y="3087538"/>
            <a:ext cx="2183004" cy="2399"/>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2" name="直接连接符 81">
            <a:extLst>
              <a:ext uri="{FF2B5EF4-FFF2-40B4-BE49-F238E27FC236}">
                <a16:creationId xmlns:a16="http://schemas.microsoft.com/office/drawing/2014/main" id="{5BECF09A-8228-4E2F-B126-E50EEC6AC271}"/>
              </a:ext>
            </a:extLst>
          </p:cNvPr>
          <p:cNvCxnSpPr>
            <a:cxnSpLocks/>
          </p:cNvCxnSpPr>
          <p:nvPr/>
        </p:nvCxnSpPr>
        <p:spPr bwMode="auto">
          <a:xfrm flipH="1">
            <a:off x="7350840" y="2799506"/>
            <a:ext cx="1091502"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直接连接符 82">
            <a:extLst>
              <a:ext uri="{FF2B5EF4-FFF2-40B4-BE49-F238E27FC236}">
                <a16:creationId xmlns:a16="http://schemas.microsoft.com/office/drawing/2014/main" id="{831E167A-F357-4DE3-8692-41B0013323B6}"/>
              </a:ext>
            </a:extLst>
          </p:cNvPr>
          <p:cNvCxnSpPr>
            <a:cxnSpLocks/>
          </p:cNvCxnSpPr>
          <p:nvPr/>
        </p:nvCxnSpPr>
        <p:spPr bwMode="auto">
          <a:xfrm flipH="1">
            <a:off x="5520994" y="3087538"/>
            <a:ext cx="677266"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4" name="直接连接符 83">
            <a:extLst>
              <a:ext uri="{FF2B5EF4-FFF2-40B4-BE49-F238E27FC236}">
                <a16:creationId xmlns:a16="http://schemas.microsoft.com/office/drawing/2014/main" id="{1549D764-FE68-407D-8BD9-0464CD229AC2}"/>
              </a:ext>
            </a:extLst>
          </p:cNvPr>
          <p:cNvCxnSpPr>
            <a:cxnSpLocks/>
          </p:cNvCxnSpPr>
          <p:nvPr/>
        </p:nvCxnSpPr>
        <p:spPr bwMode="auto">
          <a:xfrm flipH="1">
            <a:off x="5491599" y="2489605"/>
            <a:ext cx="2985605" cy="1357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85" name="矩形 84">
                <a:extLst>
                  <a:ext uri="{FF2B5EF4-FFF2-40B4-BE49-F238E27FC236}">
                    <a16:creationId xmlns:a16="http://schemas.microsoft.com/office/drawing/2014/main" id="{3694C5D1-6494-4D51-BE7C-E8FC6891516C}"/>
                  </a:ext>
                </a:extLst>
              </p:cNvPr>
              <p:cNvSpPr/>
              <p:nvPr/>
            </p:nvSpPr>
            <p:spPr>
              <a:xfrm>
                <a:off x="5877653" y="2725019"/>
                <a:ext cx="660501" cy="3808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i="1" dirty="0" smtClean="0">
                              <a:latin typeface="Cambria Math" panose="02040503050406030204" pitchFamily="18" charset="0"/>
                            </a:rPr>
                          </m:ctrlPr>
                        </m:sSupPr>
                        <m:e>
                          <m:r>
                            <a:rPr lang="en-US" altLang="zh-CN" i="1" dirty="0">
                              <a:latin typeface="Cambria Math" panose="02040503050406030204" pitchFamily="18" charset="0"/>
                            </a:rPr>
                            <m:t>𝑋</m:t>
                          </m:r>
                        </m:e>
                        <m:sup>
                          <m:r>
                            <a:rPr lang="en-US" altLang="zh-CN" i="1" dirty="0">
                              <a:latin typeface="Cambria Math" panose="02040503050406030204" pitchFamily="18" charset="0"/>
                            </a:rPr>
                            <m:t>(</m:t>
                          </m:r>
                          <m:r>
                            <a:rPr lang="en-US" altLang="zh-CN" i="1" dirty="0">
                              <a:latin typeface="Cambria Math" panose="02040503050406030204" pitchFamily="18" charset="0"/>
                            </a:rPr>
                            <m:t>𝟏</m:t>
                          </m:r>
                          <m:r>
                            <a:rPr lang="en-US" altLang="zh-CN" i="1" dirty="0">
                              <a:latin typeface="Cambria Math" panose="02040503050406030204" pitchFamily="18" charset="0"/>
                            </a:rPr>
                            <m:t>)</m:t>
                          </m:r>
                        </m:sup>
                      </m:sSup>
                    </m:oMath>
                  </m:oMathPara>
                </a14:m>
                <a:endParaRPr lang="zh-CN" altLang="en-US" dirty="0"/>
              </a:p>
            </p:txBody>
          </p:sp>
        </mc:Choice>
        <mc:Fallback xmlns="">
          <p:sp>
            <p:nvSpPr>
              <p:cNvPr id="85" name="矩形 84">
                <a:extLst>
                  <a:ext uri="{FF2B5EF4-FFF2-40B4-BE49-F238E27FC236}">
                    <a16:creationId xmlns:a16="http://schemas.microsoft.com/office/drawing/2014/main" id="{3694C5D1-6494-4D51-BE7C-E8FC6891516C}"/>
                  </a:ext>
                </a:extLst>
              </p:cNvPr>
              <p:cNvSpPr>
                <a:spLocks noRot="1" noChangeAspect="1" noMove="1" noResize="1" noEditPoints="1" noAdjustHandles="1" noChangeArrowheads="1" noChangeShapeType="1" noTextEdit="1"/>
              </p:cNvSpPr>
              <p:nvPr/>
            </p:nvSpPr>
            <p:spPr>
              <a:xfrm>
                <a:off x="5877653" y="2725019"/>
                <a:ext cx="660501" cy="380810"/>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矩形 85">
                <a:extLst>
                  <a:ext uri="{FF2B5EF4-FFF2-40B4-BE49-F238E27FC236}">
                    <a16:creationId xmlns:a16="http://schemas.microsoft.com/office/drawing/2014/main" id="{74DD9994-F75D-4957-8361-A15A2A4992BB}"/>
                  </a:ext>
                </a:extLst>
              </p:cNvPr>
              <p:cNvSpPr/>
              <p:nvPr/>
            </p:nvSpPr>
            <p:spPr>
              <a:xfrm>
                <a:off x="8137309" y="2129468"/>
                <a:ext cx="660501" cy="3808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i="1" dirty="0" smtClean="0">
                              <a:latin typeface="Cambria Math" panose="02040503050406030204" pitchFamily="18" charset="0"/>
                            </a:rPr>
                          </m:ctrlPr>
                        </m:sSupPr>
                        <m:e>
                          <m:r>
                            <a:rPr lang="en-US" altLang="zh-CN" i="1" dirty="0">
                              <a:latin typeface="Cambria Math" panose="02040503050406030204" pitchFamily="18" charset="0"/>
                            </a:rPr>
                            <m:t>𝑋</m:t>
                          </m:r>
                        </m:e>
                        <m:sup>
                          <m:r>
                            <a:rPr lang="en-US" altLang="zh-CN" i="1" dirty="0">
                              <a:latin typeface="Cambria Math" panose="02040503050406030204" pitchFamily="18" charset="0"/>
                            </a:rPr>
                            <m:t>(</m:t>
                          </m:r>
                          <m:r>
                            <a:rPr lang="en-US" altLang="zh-CN" b="0" i="1" dirty="0" smtClean="0">
                              <a:latin typeface="Cambria Math" panose="02040503050406030204" pitchFamily="18" charset="0"/>
                            </a:rPr>
                            <m:t>2</m:t>
                          </m:r>
                          <m:r>
                            <a:rPr lang="en-US" altLang="zh-CN" i="1" dirty="0">
                              <a:latin typeface="Cambria Math" panose="02040503050406030204" pitchFamily="18" charset="0"/>
                            </a:rPr>
                            <m:t>)</m:t>
                          </m:r>
                        </m:sup>
                      </m:sSup>
                    </m:oMath>
                  </m:oMathPara>
                </a14:m>
                <a:endParaRPr lang="zh-CN" altLang="en-US" dirty="0"/>
              </a:p>
            </p:txBody>
          </p:sp>
        </mc:Choice>
        <mc:Fallback xmlns="">
          <p:sp>
            <p:nvSpPr>
              <p:cNvPr id="86" name="矩形 85">
                <a:extLst>
                  <a:ext uri="{FF2B5EF4-FFF2-40B4-BE49-F238E27FC236}">
                    <a16:creationId xmlns:a16="http://schemas.microsoft.com/office/drawing/2014/main" id="{74DD9994-F75D-4957-8361-A15A2A4992BB}"/>
                  </a:ext>
                </a:extLst>
              </p:cNvPr>
              <p:cNvSpPr>
                <a:spLocks noRot="1" noChangeAspect="1" noMove="1" noResize="1" noEditPoints="1" noAdjustHandles="1" noChangeArrowheads="1" noChangeShapeType="1" noTextEdit="1"/>
              </p:cNvSpPr>
              <p:nvPr/>
            </p:nvSpPr>
            <p:spPr>
              <a:xfrm>
                <a:off x="8137309" y="2129468"/>
                <a:ext cx="660501" cy="380810"/>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矩形 86">
                <a:extLst>
                  <a:ext uri="{FF2B5EF4-FFF2-40B4-BE49-F238E27FC236}">
                    <a16:creationId xmlns:a16="http://schemas.microsoft.com/office/drawing/2014/main" id="{031B1613-E6FE-406D-BAC1-745038021475}"/>
                  </a:ext>
                </a:extLst>
              </p:cNvPr>
              <p:cNvSpPr/>
              <p:nvPr/>
            </p:nvSpPr>
            <p:spPr>
              <a:xfrm>
                <a:off x="7053616" y="2408177"/>
                <a:ext cx="641266" cy="3808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i="1" dirty="0" smtClean="0">
                              <a:latin typeface="Cambria Math" panose="02040503050406030204" pitchFamily="18" charset="0"/>
                            </a:rPr>
                          </m:ctrlPr>
                        </m:sSupPr>
                        <m:e>
                          <m:r>
                            <a:rPr lang="en-US" altLang="zh-CN" i="1" dirty="0">
                              <a:latin typeface="Cambria Math" panose="02040503050406030204" pitchFamily="18" charset="0"/>
                            </a:rPr>
                            <m:t>𝑋</m:t>
                          </m:r>
                        </m:e>
                        <m:sup>
                          <m:r>
                            <a:rPr lang="en-US" altLang="zh-CN" i="1" dirty="0">
                              <a:latin typeface="Cambria Math" panose="02040503050406030204" pitchFamily="18" charset="0"/>
                            </a:rPr>
                            <m:t>(</m:t>
                          </m:r>
                          <m:r>
                            <a:rPr lang="en-US" altLang="zh-CN" b="0" i="1" dirty="0" smtClean="0">
                              <a:latin typeface="Cambria Math" panose="02040503050406030204" pitchFamily="18" charset="0"/>
                            </a:rPr>
                            <m:t>∗</m:t>
                          </m:r>
                          <m:r>
                            <a:rPr lang="en-US" altLang="zh-CN" i="1" dirty="0">
                              <a:latin typeface="Cambria Math" panose="02040503050406030204" pitchFamily="18" charset="0"/>
                            </a:rPr>
                            <m:t>)</m:t>
                          </m:r>
                        </m:sup>
                      </m:sSup>
                    </m:oMath>
                  </m:oMathPara>
                </a14:m>
                <a:endParaRPr lang="zh-CN" altLang="en-US" dirty="0"/>
              </a:p>
            </p:txBody>
          </p:sp>
        </mc:Choice>
        <mc:Fallback xmlns="">
          <p:sp>
            <p:nvSpPr>
              <p:cNvPr id="87" name="矩形 86">
                <a:extLst>
                  <a:ext uri="{FF2B5EF4-FFF2-40B4-BE49-F238E27FC236}">
                    <a16:creationId xmlns:a16="http://schemas.microsoft.com/office/drawing/2014/main" id="{031B1613-E6FE-406D-BAC1-745038021475}"/>
                  </a:ext>
                </a:extLst>
              </p:cNvPr>
              <p:cNvSpPr>
                <a:spLocks noRot="1" noChangeAspect="1" noMove="1" noResize="1" noEditPoints="1" noAdjustHandles="1" noChangeArrowheads="1" noChangeShapeType="1" noTextEdit="1"/>
              </p:cNvSpPr>
              <p:nvPr/>
            </p:nvSpPr>
            <p:spPr>
              <a:xfrm>
                <a:off x="7053616" y="2408177"/>
                <a:ext cx="641266" cy="380810"/>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矩形 87">
                <a:extLst>
                  <a:ext uri="{FF2B5EF4-FFF2-40B4-BE49-F238E27FC236}">
                    <a16:creationId xmlns:a16="http://schemas.microsoft.com/office/drawing/2014/main" id="{4A3DDA16-3A95-47DA-A709-FC5897A6CBC1}"/>
                  </a:ext>
                </a:extLst>
              </p:cNvPr>
              <p:cNvSpPr/>
              <p:nvPr/>
            </p:nvSpPr>
            <p:spPr>
              <a:xfrm>
                <a:off x="7427986" y="1616523"/>
                <a:ext cx="41581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𝐷</m:t>
                      </m:r>
                    </m:oMath>
                  </m:oMathPara>
                </a14:m>
                <a:endParaRPr lang="zh-CN" altLang="en-US" dirty="0"/>
              </a:p>
            </p:txBody>
          </p:sp>
        </mc:Choice>
        <mc:Fallback xmlns="">
          <p:sp>
            <p:nvSpPr>
              <p:cNvPr id="88" name="矩形 87">
                <a:extLst>
                  <a:ext uri="{FF2B5EF4-FFF2-40B4-BE49-F238E27FC236}">
                    <a16:creationId xmlns:a16="http://schemas.microsoft.com/office/drawing/2014/main" id="{4A3DDA16-3A95-47DA-A709-FC5897A6CBC1}"/>
                  </a:ext>
                </a:extLst>
              </p:cNvPr>
              <p:cNvSpPr>
                <a:spLocks noRot="1" noChangeAspect="1" noMove="1" noResize="1" noEditPoints="1" noAdjustHandles="1" noChangeArrowheads="1" noChangeShapeType="1" noTextEdit="1"/>
              </p:cNvSpPr>
              <p:nvPr/>
            </p:nvSpPr>
            <p:spPr>
              <a:xfrm>
                <a:off x="7427986" y="1616523"/>
                <a:ext cx="415818" cy="369332"/>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矩形 88">
                <a:extLst>
                  <a:ext uri="{FF2B5EF4-FFF2-40B4-BE49-F238E27FC236}">
                    <a16:creationId xmlns:a16="http://schemas.microsoft.com/office/drawing/2014/main" id="{7BF379B1-4B4A-4385-9677-4A9AF48512A9}"/>
                  </a:ext>
                </a:extLst>
              </p:cNvPr>
              <p:cNvSpPr/>
              <p:nvPr/>
            </p:nvSpPr>
            <p:spPr>
              <a:xfrm>
                <a:off x="8137309" y="4137989"/>
                <a:ext cx="632096" cy="4346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𝑥</m:t>
                          </m:r>
                        </m:e>
                        <m:sub>
                          <m:r>
                            <a:rPr lang="zh-CN" altLang="en-US" i="0">
                              <a:latin typeface="Cambria Math" panose="02040503050406030204" pitchFamily="18" charset="0"/>
                            </a:rPr>
                            <m:t>1</m:t>
                          </m:r>
                        </m:sub>
                        <m:sup>
                          <m:d>
                            <m:dPr>
                              <m:ctrlPr>
                                <a:rPr lang="zh-CN" altLang="en-US" i="1">
                                  <a:latin typeface="Cambria Math" panose="02040503050406030204" pitchFamily="18" charset="0"/>
                                </a:rPr>
                              </m:ctrlPr>
                            </m:dPr>
                            <m:e>
                              <m:r>
                                <a:rPr lang="zh-CN" altLang="en-US" i="0">
                                  <a:latin typeface="Cambria Math" panose="02040503050406030204" pitchFamily="18" charset="0"/>
                                </a:rPr>
                                <m:t>2</m:t>
                              </m:r>
                            </m:e>
                          </m:d>
                        </m:sup>
                      </m:sSubSup>
                    </m:oMath>
                  </m:oMathPara>
                </a14:m>
                <a:endParaRPr lang="zh-CN" altLang="en-US" dirty="0"/>
              </a:p>
            </p:txBody>
          </p:sp>
        </mc:Choice>
        <mc:Fallback xmlns="">
          <p:sp>
            <p:nvSpPr>
              <p:cNvPr id="89" name="矩形 88">
                <a:extLst>
                  <a:ext uri="{FF2B5EF4-FFF2-40B4-BE49-F238E27FC236}">
                    <a16:creationId xmlns:a16="http://schemas.microsoft.com/office/drawing/2014/main" id="{7BF379B1-4B4A-4385-9677-4A9AF48512A9}"/>
                  </a:ext>
                </a:extLst>
              </p:cNvPr>
              <p:cNvSpPr>
                <a:spLocks noRot="1" noChangeAspect="1" noMove="1" noResize="1" noEditPoints="1" noAdjustHandles="1" noChangeArrowheads="1" noChangeShapeType="1" noTextEdit="1"/>
              </p:cNvSpPr>
              <p:nvPr/>
            </p:nvSpPr>
            <p:spPr>
              <a:xfrm>
                <a:off x="8137309" y="4137989"/>
                <a:ext cx="632096" cy="434671"/>
              </a:xfrm>
              <a:prstGeom prst="rect">
                <a:avLst/>
              </a:prstGeom>
              <a:blipFill>
                <a:blip r:embed="rId19"/>
                <a:stretch>
                  <a:fillRect b="-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矩形 89">
                <a:extLst>
                  <a:ext uri="{FF2B5EF4-FFF2-40B4-BE49-F238E27FC236}">
                    <a16:creationId xmlns:a16="http://schemas.microsoft.com/office/drawing/2014/main" id="{8CBBC056-B265-464D-B5F4-E382DDED43D3}"/>
                  </a:ext>
                </a:extLst>
              </p:cNvPr>
              <p:cNvSpPr/>
              <p:nvPr/>
            </p:nvSpPr>
            <p:spPr>
              <a:xfrm>
                <a:off x="5956852" y="4120686"/>
                <a:ext cx="632096" cy="4346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i="1" smtClean="0">
                              <a:latin typeface="Cambria Math" panose="02040503050406030204" pitchFamily="18" charset="0"/>
                            </a:rPr>
                          </m:ctrlPr>
                        </m:sSubSupPr>
                        <m:e>
                          <m:r>
                            <a:rPr lang="zh-CN" altLang="en-US" i="1">
                              <a:latin typeface="Cambria Math" panose="02040503050406030204" pitchFamily="18" charset="0"/>
                            </a:rPr>
                            <m:t>𝑥</m:t>
                          </m:r>
                        </m:e>
                        <m:sub>
                          <m:r>
                            <a:rPr lang="zh-CN" altLang="en-US" i="0">
                              <a:latin typeface="Cambria Math" panose="02040503050406030204" pitchFamily="18" charset="0"/>
                            </a:rPr>
                            <m:t>1</m:t>
                          </m:r>
                        </m:sub>
                        <m:sup>
                          <m:d>
                            <m:dPr>
                              <m:ctrlPr>
                                <a:rPr lang="zh-CN" altLang="en-US" i="1">
                                  <a:latin typeface="Cambria Math" panose="02040503050406030204" pitchFamily="18" charset="0"/>
                                </a:rPr>
                              </m:ctrlPr>
                            </m:dPr>
                            <m:e>
                              <m:r>
                                <a:rPr lang="en-US" altLang="zh-CN" b="0" i="0" smtClean="0">
                                  <a:latin typeface="Cambria Math" panose="02040503050406030204" pitchFamily="18" charset="0"/>
                                </a:rPr>
                                <m:t>1</m:t>
                              </m:r>
                            </m:e>
                          </m:d>
                        </m:sup>
                      </m:sSubSup>
                    </m:oMath>
                  </m:oMathPara>
                </a14:m>
                <a:endParaRPr lang="zh-CN" altLang="en-US" dirty="0"/>
              </a:p>
            </p:txBody>
          </p:sp>
        </mc:Choice>
        <mc:Fallback xmlns="">
          <p:sp>
            <p:nvSpPr>
              <p:cNvPr id="90" name="矩形 89">
                <a:extLst>
                  <a:ext uri="{FF2B5EF4-FFF2-40B4-BE49-F238E27FC236}">
                    <a16:creationId xmlns:a16="http://schemas.microsoft.com/office/drawing/2014/main" id="{8CBBC056-B265-464D-B5F4-E382DDED43D3}"/>
                  </a:ext>
                </a:extLst>
              </p:cNvPr>
              <p:cNvSpPr>
                <a:spLocks noRot="1" noChangeAspect="1" noMove="1" noResize="1" noEditPoints="1" noAdjustHandles="1" noChangeArrowheads="1" noChangeShapeType="1" noTextEdit="1"/>
              </p:cNvSpPr>
              <p:nvPr/>
            </p:nvSpPr>
            <p:spPr>
              <a:xfrm>
                <a:off x="5956852" y="4120686"/>
                <a:ext cx="632096" cy="434671"/>
              </a:xfrm>
              <a:prstGeom prst="rect">
                <a:avLst/>
              </a:prstGeom>
              <a:blipFill>
                <a:blip r:embed="rId20"/>
                <a:stretch>
                  <a:fillRect b="-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矩形 90">
                <a:extLst>
                  <a:ext uri="{FF2B5EF4-FFF2-40B4-BE49-F238E27FC236}">
                    <a16:creationId xmlns:a16="http://schemas.microsoft.com/office/drawing/2014/main" id="{9D2987B3-CF79-47FB-8AAD-CA57464B3E53}"/>
                  </a:ext>
                </a:extLst>
              </p:cNvPr>
              <p:cNvSpPr/>
              <p:nvPr/>
            </p:nvSpPr>
            <p:spPr>
              <a:xfrm>
                <a:off x="6995736" y="4123561"/>
                <a:ext cx="632096" cy="4346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i="1" smtClean="0">
                              <a:latin typeface="Cambria Math" panose="02040503050406030204" pitchFamily="18" charset="0"/>
                            </a:rPr>
                          </m:ctrlPr>
                        </m:sSubSupPr>
                        <m:e>
                          <m:r>
                            <a:rPr lang="zh-CN" altLang="en-US" i="1">
                              <a:latin typeface="Cambria Math" panose="02040503050406030204" pitchFamily="18" charset="0"/>
                            </a:rPr>
                            <m:t>𝑥</m:t>
                          </m:r>
                        </m:e>
                        <m:sub>
                          <m:r>
                            <a:rPr lang="zh-CN" altLang="en-US" i="0">
                              <a:latin typeface="Cambria Math" panose="02040503050406030204" pitchFamily="18" charset="0"/>
                            </a:rPr>
                            <m:t>1</m:t>
                          </m:r>
                        </m:sub>
                        <m:sup>
                          <m:d>
                            <m:dPr>
                              <m:ctrlPr>
                                <a:rPr lang="zh-CN" altLang="en-US" i="1">
                                  <a:latin typeface="Cambria Math" panose="02040503050406030204" pitchFamily="18" charset="0"/>
                                </a:rPr>
                              </m:ctrlPr>
                            </m:dPr>
                            <m:e>
                              <m:r>
                                <a:rPr lang="en-US" altLang="zh-CN" b="0" i="0" smtClean="0">
                                  <a:latin typeface="Cambria Math" panose="02040503050406030204" pitchFamily="18" charset="0"/>
                                </a:rPr>
                                <m:t>∗</m:t>
                              </m:r>
                            </m:e>
                          </m:d>
                        </m:sup>
                      </m:sSubSup>
                    </m:oMath>
                  </m:oMathPara>
                </a14:m>
                <a:endParaRPr lang="zh-CN" altLang="en-US" dirty="0"/>
              </a:p>
            </p:txBody>
          </p:sp>
        </mc:Choice>
        <mc:Fallback xmlns="">
          <p:sp>
            <p:nvSpPr>
              <p:cNvPr id="91" name="矩形 90">
                <a:extLst>
                  <a:ext uri="{FF2B5EF4-FFF2-40B4-BE49-F238E27FC236}">
                    <a16:creationId xmlns:a16="http://schemas.microsoft.com/office/drawing/2014/main" id="{9D2987B3-CF79-47FB-8AAD-CA57464B3E53}"/>
                  </a:ext>
                </a:extLst>
              </p:cNvPr>
              <p:cNvSpPr>
                <a:spLocks noRot="1" noChangeAspect="1" noMove="1" noResize="1" noEditPoints="1" noAdjustHandles="1" noChangeArrowheads="1" noChangeShapeType="1" noTextEdit="1"/>
              </p:cNvSpPr>
              <p:nvPr/>
            </p:nvSpPr>
            <p:spPr>
              <a:xfrm>
                <a:off x="6995736" y="4123561"/>
                <a:ext cx="632096" cy="434671"/>
              </a:xfrm>
              <a:prstGeom prst="rect">
                <a:avLst/>
              </a:prstGeom>
              <a:blipFill>
                <a:blip r:embed="rId21"/>
                <a:stretch>
                  <a:fillRect b="-13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矩形 91">
                <a:extLst>
                  <a:ext uri="{FF2B5EF4-FFF2-40B4-BE49-F238E27FC236}">
                    <a16:creationId xmlns:a16="http://schemas.microsoft.com/office/drawing/2014/main" id="{ED89BB75-44F4-4FA9-AA04-EE46271FA6D4}"/>
                  </a:ext>
                </a:extLst>
              </p:cNvPr>
              <p:cNvSpPr/>
              <p:nvPr/>
            </p:nvSpPr>
            <p:spPr>
              <a:xfrm>
                <a:off x="4986469" y="2201888"/>
                <a:ext cx="632096" cy="4346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i="1" smtClean="0">
                              <a:latin typeface="Cambria Math" panose="02040503050406030204" pitchFamily="18" charset="0"/>
                            </a:rPr>
                          </m:ctrlPr>
                        </m:sSubSupPr>
                        <m:e>
                          <m:r>
                            <a:rPr lang="zh-CN" altLang="en-US" i="1">
                              <a:latin typeface="Cambria Math" panose="02040503050406030204" pitchFamily="18" charset="0"/>
                            </a:rPr>
                            <m:t>𝑥</m:t>
                          </m:r>
                        </m:e>
                        <m:sub>
                          <m:r>
                            <a:rPr lang="en-US" altLang="zh-CN" b="0" i="0" smtClean="0">
                              <a:latin typeface="Cambria Math" panose="02040503050406030204" pitchFamily="18" charset="0"/>
                            </a:rPr>
                            <m:t>2</m:t>
                          </m:r>
                        </m:sub>
                        <m:sup>
                          <m:d>
                            <m:dPr>
                              <m:ctrlPr>
                                <a:rPr lang="zh-CN" altLang="en-US" i="1">
                                  <a:latin typeface="Cambria Math" panose="02040503050406030204" pitchFamily="18" charset="0"/>
                                </a:rPr>
                              </m:ctrlPr>
                            </m:dPr>
                            <m:e>
                              <m:r>
                                <a:rPr lang="zh-CN" altLang="en-US" i="0">
                                  <a:latin typeface="Cambria Math" panose="02040503050406030204" pitchFamily="18" charset="0"/>
                                </a:rPr>
                                <m:t>2</m:t>
                              </m:r>
                            </m:e>
                          </m:d>
                        </m:sup>
                      </m:sSubSup>
                    </m:oMath>
                  </m:oMathPara>
                </a14:m>
                <a:endParaRPr lang="zh-CN" altLang="en-US" dirty="0"/>
              </a:p>
            </p:txBody>
          </p:sp>
        </mc:Choice>
        <mc:Fallback xmlns="">
          <p:sp>
            <p:nvSpPr>
              <p:cNvPr id="92" name="矩形 91">
                <a:extLst>
                  <a:ext uri="{FF2B5EF4-FFF2-40B4-BE49-F238E27FC236}">
                    <a16:creationId xmlns:a16="http://schemas.microsoft.com/office/drawing/2014/main" id="{ED89BB75-44F4-4FA9-AA04-EE46271FA6D4}"/>
                  </a:ext>
                </a:extLst>
              </p:cNvPr>
              <p:cNvSpPr>
                <a:spLocks noRot="1" noChangeAspect="1" noMove="1" noResize="1" noEditPoints="1" noAdjustHandles="1" noChangeArrowheads="1" noChangeShapeType="1" noTextEdit="1"/>
              </p:cNvSpPr>
              <p:nvPr/>
            </p:nvSpPr>
            <p:spPr>
              <a:xfrm>
                <a:off x="4986469" y="2201888"/>
                <a:ext cx="632096" cy="434671"/>
              </a:xfrm>
              <a:prstGeom prst="rect">
                <a:avLst/>
              </a:prstGeom>
              <a:blipFill>
                <a:blip r:embed="rId22"/>
                <a:stretch>
                  <a:fillRect b="-13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矩形 92">
                <a:extLst>
                  <a:ext uri="{FF2B5EF4-FFF2-40B4-BE49-F238E27FC236}">
                    <a16:creationId xmlns:a16="http://schemas.microsoft.com/office/drawing/2014/main" id="{41BA7EA3-9022-4E92-AD22-9FD0B022B3BC}"/>
                  </a:ext>
                </a:extLst>
              </p:cNvPr>
              <p:cNvSpPr/>
              <p:nvPr/>
            </p:nvSpPr>
            <p:spPr>
              <a:xfrm>
                <a:off x="4949112" y="2564924"/>
                <a:ext cx="616066" cy="4349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i="1" smtClean="0">
                              <a:latin typeface="Cambria Math" panose="02040503050406030204" pitchFamily="18" charset="0"/>
                            </a:rPr>
                          </m:ctrlPr>
                        </m:sSubSupPr>
                        <m:e>
                          <m:r>
                            <a:rPr lang="zh-CN" altLang="en-US" i="1">
                              <a:latin typeface="Cambria Math" panose="02040503050406030204" pitchFamily="18" charset="0"/>
                            </a:rPr>
                            <m:t>𝑥</m:t>
                          </m:r>
                        </m:e>
                        <m:sub>
                          <m:r>
                            <a:rPr lang="en-US" altLang="zh-CN" b="0" i="0" smtClean="0">
                              <a:latin typeface="Cambria Math" panose="02040503050406030204" pitchFamily="18" charset="0"/>
                            </a:rPr>
                            <m:t>2</m:t>
                          </m:r>
                        </m:sub>
                        <m:sup>
                          <m:d>
                            <m:dPr>
                              <m:ctrlPr>
                                <a:rPr lang="zh-CN" altLang="en-US" i="1">
                                  <a:latin typeface="Cambria Math" panose="02040503050406030204" pitchFamily="18" charset="0"/>
                                </a:rPr>
                              </m:ctrlPr>
                            </m:dPr>
                            <m:e>
                              <m:r>
                                <a:rPr lang="en-US" altLang="zh-CN" b="0" i="0" smtClean="0">
                                  <a:latin typeface="Cambria Math" panose="02040503050406030204" pitchFamily="18" charset="0"/>
                                </a:rPr>
                                <m:t>∗</m:t>
                              </m:r>
                            </m:e>
                          </m:d>
                        </m:sup>
                      </m:sSubSup>
                    </m:oMath>
                  </m:oMathPara>
                </a14:m>
                <a:endParaRPr lang="zh-CN" altLang="en-US" dirty="0"/>
              </a:p>
            </p:txBody>
          </p:sp>
        </mc:Choice>
        <mc:Fallback xmlns="">
          <p:sp>
            <p:nvSpPr>
              <p:cNvPr id="93" name="矩形 92">
                <a:extLst>
                  <a:ext uri="{FF2B5EF4-FFF2-40B4-BE49-F238E27FC236}">
                    <a16:creationId xmlns:a16="http://schemas.microsoft.com/office/drawing/2014/main" id="{41BA7EA3-9022-4E92-AD22-9FD0B022B3BC}"/>
                  </a:ext>
                </a:extLst>
              </p:cNvPr>
              <p:cNvSpPr>
                <a:spLocks noRot="1" noChangeAspect="1" noMove="1" noResize="1" noEditPoints="1" noAdjustHandles="1" noChangeArrowheads="1" noChangeShapeType="1" noTextEdit="1"/>
              </p:cNvSpPr>
              <p:nvPr/>
            </p:nvSpPr>
            <p:spPr>
              <a:xfrm>
                <a:off x="4949112" y="2564924"/>
                <a:ext cx="616066" cy="434991"/>
              </a:xfrm>
              <a:prstGeom prst="rect">
                <a:avLst/>
              </a:prstGeom>
              <a:blipFill>
                <a:blip r:embed="rId23"/>
                <a:stretch>
                  <a:fillRect b="-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矩形 93">
                <a:extLst>
                  <a:ext uri="{FF2B5EF4-FFF2-40B4-BE49-F238E27FC236}">
                    <a16:creationId xmlns:a16="http://schemas.microsoft.com/office/drawing/2014/main" id="{7DD248EB-5796-4F2B-90AE-DC1A76837F0B}"/>
                  </a:ext>
                </a:extLst>
              </p:cNvPr>
              <p:cNvSpPr/>
              <p:nvPr/>
            </p:nvSpPr>
            <p:spPr>
              <a:xfrm>
                <a:off x="4995114" y="2853718"/>
                <a:ext cx="632096" cy="4349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i="1" smtClean="0">
                              <a:latin typeface="Cambria Math" panose="02040503050406030204" pitchFamily="18" charset="0"/>
                            </a:rPr>
                          </m:ctrlPr>
                        </m:sSubSupPr>
                        <m:e>
                          <m:r>
                            <a:rPr lang="zh-CN" altLang="en-US" i="1">
                              <a:latin typeface="Cambria Math" panose="02040503050406030204" pitchFamily="18" charset="0"/>
                            </a:rPr>
                            <m:t>𝑥</m:t>
                          </m:r>
                        </m:e>
                        <m:sub>
                          <m:r>
                            <a:rPr lang="en-US" altLang="zh-CN" b="0" i="0" smtClean="0">
                              <a:latin typeface="Cambria Math" panose="02040503050406030204" pitchFamily="18" charset="0"/>
                            </a:rPr>
                            <m:t>2</m:t>
                          </m:r>
                        </m:sub>
                        <m:sup>
                          <m:d>
                            <m:dPr>
                              <m:ctrlPr>
                                <a:rPr lang="zh-CN" altLang="en-US" i="1">
                                  <a:latin typeface="Cambria Math" panose="02040503050406030204" pitchFamily="18" charset="0"/>
                                </a:rPr>
                              </m:ctrlPr>
                            </m:dPr>
                            <m:e>
                              <m:r>
                                <a:rPr lang="en-US" altLang="zh-CN" b="0" i="0" smtClean="0">
                                  <a:latin typeface="Cambria Math" panose="02040503050406030204" pitchFamily="18" charset="0"/>
                                </a:rPr>
                                <m:t>1</m:t>
                              </m:r>
                            </m:e>
                          </m:d>
                        </m:sup>
                      </m:sSubSup>
                    </m:oMath>
                  </m:oMathPara>
                </a14:m>
                <a:endParaRPr lang="zh-CN" altLang="en-US" dirty="0"/>
              </a:p>
            </p:txBody>
          </p:sp>
        </mc:Choice>
        <mc:Fallback xmlns="">
          <p:sp>
            <p:nvSpPr>
              <p:cNvPr id="94" name="矩形 93">
                <a:extLst>
                  <a:ext uri="{FF2B5EF4-FFF2-40B4-BE49-F238E27FC236}">
                    <a16:creationId xmlns:a16="http://schemas.microsoft.com/office/drawing/2014/main" id="{7DD248EB-5796-4F2B-90AE-DC1A76837F0B}"/>
                  </a:ext>
                </a:extLst>
              </p:cNvPr>
              <p:cNvSpPr>
                <a:spLocks noRot="1" noChangeAspect="1" noMove="1" noResize="1" noEditPoints="1" noAdjustHandles="1" noChangeArrowheads="1" noChangeShapeType="1" noTextEdit="1"/>
              </p:cNvSpPr>
              <p:nvPr/>
            </p:nvSpPr>
            <p:spPr>
              <a:xfrm>
                <a:off x="4995114" y="2853718"/>
                <a:ext cx="632096" cy="434991"/>
              </a:xfrm>
              <a:prstGeom prst="rect">
                <a:avLst/>
              </a:prstGeom>
              <a:blipFill>
                <a:blip r:embed="rId24"/>
                <a:stretch>
                  <a:fillRect b="-28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91720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barn(inVertical)">
                                      <p:cBhvr>
                                        <p:cTn id="7" dur="500"/>
                                        <p:tgtEl>
                                          <p:spTgt spid="49"/>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barn(inVertical)">
                                      <p:cBhvr>
                                        <p:cTn id="11" dur="500"/>
                                        <p:tgtEl>
                                          <p:spTgt spid="57"/>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barn(inVertical)">
                                      <p:cBhvr>
                                        <p:cTn id="16" dur="500"/>
                                        <p:tgtEl>
                                          <p:spTgt spid="58"/>
                                        </p:tgtEl>
                                      </p:cBhvr>
                                    </p:animEffect>
                                  </p:childTnLst>
                                </p:cTn>
                              </p:par>
                              <p:par>
                                <p:cTn id="17" presetID="16" presetClass="entr" presetSubtype="21" fill="hold" nodeType="withEffect">
                                  <p:stCondLst>
                                    <p:cond delay="0"/>
                                  </p:stCondLst>
                                  <p:childTnLst>
                                    <p:set>
                                      <p:cBhvr>
                                        <p:cTn id="18" dur="1" fill="hold">
                                          <p:stCondLst>
                                            <p:cond delay="0"/>
                                          </p:stCondLst>
                                        </p:cTn>
                                        <p:tgtEl>
                                          <p:spTgt spid="67"/>
                                        </p:tgtEl>
                                        <p:attrNameLst>
                                          <p:attrName>style.visibility</p:attrName>
                                        </p:attrNameLst>
                                      </p:cBhvr>
                                      <p:to>
                                        <p:strVal val="visible"/>
                                      </p:to>
                                    </p:set>
                                    <p:animEffect transition="in" filter="barn(inVertical)">
                                      <p:cBhvr>
                                        <p:cTn id="19"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AA446C-E58C-408D-ACAF-6A1C76ADB0E7}"/>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8F5652C9-99B8-493F-8666-39EA4D486F2D}"/>
              </a:ext>
            </a:extLst>
          </p:cNvPr>
          <p:cNvSpPr>
            <a:spLocks noGrp="1"/>
          </p:cNvSpPr>
          <p:nvPr>
            <p:ph idx="1"/>
          </p:nvPr>
        </p:nvSpPr>
        <p:spPr/>
        <p:txBody>
          <a:bodyPr/>
          <a:lstStyle/>
          <a:p>
            <a:r>
              <a:rPr lang="zh-CN" altLang="en-US" dirty="0"/>
              <a:t>证明下列各集合是凸集：</a:t>
            </a:r>
          </a:p>
        </p:txBody>
      </p:sp>
      <p:sp>
        <p:nvSpPr>
          <p:cNvPr id="4" name="日期占位符 3">
            <a:extLst>
              <a:ext uri="{FF2B5EF4-FFF2-40B4-BE49-F238E27FC236}">
                <a16:creationId xmlns:a16="http://schemas.microsoft.com/office/drawing/2014/main" id="{90E26F1F-E960-4179-94AC-A078AEAC2AD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0D55000D-369E-45E3-BF98-8633C2403CC5}"/>
              </a:ext>
            </a:extLst>
          </p:cNvPr>
          <p:cNvSpPr>
            <a:spLocks noGrp="1"/>
          </p:cNvSpPr>
          <p:nvPr>
            <p:ph type="sldNum" sz="quarter" idx="12"/>
          </p:nvPr>
        </p:nvSpPr>
        <p:spPr/>
        <p:txBody>
          <a:bodyPr/>
          <a:lstStyle/>
          <a:p>
            <a:fld id="{7AC79822-BC0D-4DE8-A7E5-90A3732A2B82}" type="slidenum">
              <a:rPr lang="zh-CN" altLang="en-US" smtClean="0"/>
              <a:pPr/>
              <a:t>13</a:t>
            </a:fld>
            <a:endParaRPr lang="en-US" altLang="zh-CN" dirty="0"/>
          </a:p>
        </p:txBody>
      </p:sp>
      <p:graphicFrame>
        <p:nvGraphicFramePr>
          <p:cNvPr id="7" name="对象 6">
            <a:extLst>
              <a:ext uri="{FF2B5EF4-FFF2-40B4-BE49-F238E27FC236}">
                <a16:creationId xmlns:a16="http://schemas.microsoft.com/office/drawing/2014/main" id="{8E72385E-7A75-4918-A9D6-1741F3F95A81}"/>
              </a:ext>
            </a:extLst>
          </p:cNvPr>
          <p:cNvGraphicFramePr>
            <a:graphicFrameLocks noChangeAspect="1"/>
          </p:cNvGraphicFramePr>
          <p:nvPr>
            <p:extLst>
              <p:ext uri="{D42A27DB-BD31-4B8C-83A1-F6EECF244321}">
                <p14:modId xmlns:p14="http://schemas.microsoft.com/office/powerpoint/2010/main" val="582181776"/>
              </p:ext>
            </p:extLst>
          </p:nvPr>
        </p:nvGraphicFramePr>
        <p:xfrm>
          <a:off x="1034811" y="2924944"/>
          <a:ext cx="3975100" cy="906463"/>
        </p:xfrm>
        <a:graphic>
          <a:graphicData uri="http://schemas.openxmlformats.org/presentationml/2006/ole">
            <mc:AlternateContent xmlns:mc="http://schemas.openxmlformats.org/markup-compatibility/2006">
              <mc:Choice xmlns:v="urn:schemas-microsoft-com:vml" Requires="v">
                <p:oleObj name="Equation" r:id="rId2" imgW="1333440" imgH="304560" progId="Equation.DSMT4">
                  <p:embed/>
                </p:oleObj>
              </mc:Choice>
              <mc:Fallback>
                <p:oleObj name="Equation" r:id="rId2" imgW="1333440" imgH="304560" progId="Equation.DSMT4">
                  <p:embed/>
                  <p:pic>
                    <p:nvPicPr>
                      <p:cNvPr id="6" name="对象 5">
                        <a:extLst>
                          <a:ext uri="{FF2B5EF4-FFF2-40B4-BE49-F238E27FC236}">
                            <a16:creationId xmlns:a16="http://schemas.microsoft.com/office/drawing/2014/main" id="{C3528F24-B255-4009-85F9-C08F901796E9}"/>
                          </a:ext>
                        </a:extLst>
                      </p:cNvPr>
                      <p:cNvPicPr/>
                      <p:nvPr/>
                    </p:nvPicPr>
                    <p:blipFill>
                      <a:blip r:embed="rId3"/>
                      <a:stretch>
                        <a:fillRect/>
                      </a:stretch>
                    </p:blipFill>
                    <p:spPr>
                      <a:xfrm>
                        <a:off x="1034811" y="2924944"/>
                        <a:ext cx="3975100" cy="906463"/>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3E7B929A-8BA8-49BD-B2C8-399E8142A25A}"/>
              </a:ext>
            </a:extLst>
          </p:cNvPr>
          <p:cNvGraphicFramePr>
            <a:graphicFrameLocks noChangeAspect="1"/>
          </p:cNvGraphicFramePr>
          <p:nvPr>
            <p:extLst>
              <p:ext uri="{D42A27DB-BD31-4B8C-83A1-F6EECF244321}">
                <p14:modId xmlns:p14="http://schemas.microsoft.com/office/powerpoint/2010/main" val="3011881995"/>
              </p:ext>
            </p:extLst>
          </p:nvPr>
        </p:nvGraphicFramePr>
        <p:xfrm>
          <a:off x="1034811" y="1916832"/>
          <a:ext cx="6510337" cy="831850"/>
        </p:xfrm>
        <a:graphic>
          <a:graphicData uri="http://schemas.openxmlformats.org/presentationml/2006/ole">
            <mc:AlternateContent xmlns:mc="http://schemas.openxmlformats.org/markup-compatibility/2006">
              <mc:Choice xmlns:v="urn:schemas-microsoft-com:vml" Requires="v">
                <p:oleObj name="Equation" r:id="rId4" imgW="2184120" imgH="279360" progId="Equation.DSMT4">
                  <p:embed/>
                </p:oleObj>
              </mc:Choice>
              <mc:Fallback>
                <p:oleObj name="Equation" r:id="rId4" imgW="2184120" imgH="279360" progId="Equation.DSMT4">
                  <p:embed/>
                  <p:pic>
                    <p:nvPicPr>
                      <p:cNvPr id="7" name="对象 6">
                        <a:extLst>
                          <a:ext uri="{FF2B5EF4-FFF2-40B4-BE49-F238E27FC236}">
                            <a16:creationId xmlns:a16="http://schemas.microsoft.com/office/drawing/2014/main" id="{8E72385E-7A75-4918-A9D6-1741F3F95A81}"/>
                          </a:ext>
                        </a:extLst>
                      </p:cNvPr>
                      <p:cNvPicPr/>
                      <p:nvPr/>
                    </p:nvPicPr>
                    <p:blipFill>
                      <a:blip r:embed="rId5"/>
                      <a:stretch>
                        <a:fillRect/>
                      </a:stretch>
                    </p:blipFill>
                    <p:spPr>
                      <a:xfrm>
                        <a:off x="1034811" y="1916832"/>
                        <a:ext cx="6510337" cy="83185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380E9BAE-1ECF-485B-8A4D-D07F8C56560D}"/>
              </a:ext>
            </a:extLst>
          </p:cNvPr>
          <p:cNvGraphicFramePr>
            <a:graphicFrameLocks noChangeAspect="1"/>
          </p:cNvGraphicFramePr>
          <p:nvPr>
            <p:extLst>
              <p:ext uri="{D42A27DB-BD31-4B8C-83A1-F6EECF244321}">
                <p14:modId xmlns:p14="http://schemas.microsoft.com/office/powerpoint/2010/main" val="1206464701"/>
              </p:ext>
            </p:extLst>
          </p:nvPr>
        </p:nvGraphicFramePr>
        <p:xfrm>
          <a:off x="1034811" y="4047431"/>
          <a:ext cx="4511525" cy="831850"/>
        </p:xfrm>
        <a:graphic>
          <a:graphicData uri="http://schemas.openxmlformats.org/presentationml/2006/ole">
            <mc:AlternateContent xmlns:mc="http://schemas.openxmlformats.org/markup-compatibility/2006">
              <mc:Choice xmlns:v="urn:schemas-microsoft-com:vml" Requires="v">
                <p:oleObj name="Equation" r:id="rId6" imgW="1650960" imgH="304560" progId="Equation.DSMT4">
                  <p:embed/>
                </p:oleObj>
              </mc:Choice>
              <mc:Fallback>
                <p:oleObj name="Equation" r:id="rId6" imgW="1650960" imgH="304560" progId="Equation.DSMT4">
                  <p:embed/>
                  <p:pic>
                    <p:nvPicPr>
                      <p:cNvPr id="7" name="对象 6">
                        <a:extLst>
                          <a:ext uri="{FF2B5EF4-FFF2-40B4-BE49-F238E27FC236}">
                            <a16:creationId xmlns:a16="http://schemas.microsoft.com/office/drawing/2014/main" id="{8E72385E-7A75-4918-A9D6-1741F3F95A81}"/>
                          </a:ext>
                        </a:extLst>
                      </p:cNvPr>
                      <p:cNvPicPr/>
                      <p:nvPr/>
                    </p:nvPicPr>
                    <p:blipFill>
                      <a:blip r:embed="rId7"/>
                      <a:stretch>
                        <a:fillRect/>
                      </a:stretch>
                    </p:blipFill>
                    <p:spPr>
                      <a:xfrm>
                        <a:off x="1034811" y="4047431"/>
                        <a:ext cx="4511525" cy="831850"/>
                      </a:xfrm>
                      <a:prstGeom prst="rect">
                        <a:avLst/>
                      </a:prstGeom>
                    </p:spPr>
                  </p:pic>
                </p:oleObj>
              </mc:Fallback>
            </mc:AlternateContent>
          </a:graphicData>
        </a:graphic>
      </p:graphicFrame>
    </p:spTree>
    <p:extLst>
      <p:ext uri="{BB962C8B-B14F-4D97-AF65-F5344CB8AC3E}">
        <p14:creationId xmlns:p14="http://schemas.microsoft.com/office/powerpoint/2010/main" val="1454149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F86764-9980-475F-9AC9-00236097D43B}"/>
              </a:ext>
            </a:extLst>
          </p:cNvPr>
          <p:cNvSpPr>
            <a:spLocks noGrp="1"/>
          </p:cNvSpPr>
          <p:nvPr>
            <p:ph type="title"/>
          </p:nvPr>
        </p:nvSpPr>
        <p:spPr/>
        <p:txBody>
          <a:bodyPr/>
          <a:lstStyle/>
          <a:p>
            <a:r>
              <a:rPr lang="en-US" altLang="zh-CN" dirty="0"/>
              <a:t>5. </a:t>
            </a:r>
            <a:r>
              <a:rPr lang="zh-CN" altLang="en-US" dirty="0"/>
              <a:t>优化约束的极值条件</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90DFF38-3426-4B1B-9CC7-2256D17B44C8}"/>
                  </a:ext>
                </a:extLst>
              </p:cNvPr>
              <p:cNvSpPr>
                <a:spLocks noGrp="1"/>
              </p:cNvSpPr>
              <p:nvPr>
                <p:ph idx="1"/>
              </p:nvPr>
            </p:nvSpPr>
            <p:spPr/>
            <p:txBody>
              <a:bodyPr/>
              <a:lstStyle/>
              <a:p>
                <a:r>
                  <a:rPr lang="zh-CN" altLang="en-US" dirty="0"/>
                  <a:t>凸函数</a:t>
                </a:r>
                <a:endParaRPr lang="en-US" altLang="zh-CN" dirty="0"/>
              </a:p>
              <a:p>
                <a:pPr lvl="1"/>
                <a:r>
                  <a:rPr lang="zh-CN" altLang="en-US" dirty="0"/>
                  <a:t>多元凸函数</a:t>
                </a:r>
                <a:endParaRPr lang="en-US" altLang="zh-CN" dirty="0"/>
              </a:p>
              <a:p>
                <a:pPr lvl="2"/>
                <a:r>
                  <a:rPr lang="zh-CN" altLang="en-US" dirty="0">
                    <a:solidFill>
                      <a:srgbClr val="C00000"/>
                    </a:solidFill>
                  </a:rPr>
                  <a:t>定义：</a:t>
                </a:r>
                <a:r>
                  <a:rPr lang="zh-CN" altLang="en-US" dirty="0"/>
                  <a:t>设</a:t>
                </a:r>
                <a14:m>
                  <m:oMath xmlns:m="http://schemas.openxmlformats.org/officeDocument/2006/math">
                    <m:r>
                      <a:rPr lang="en-US" altLang="zh-CN" i="1" dirty="0" smtClean="0">
                        <a:latin typeface="Cambria Math" panose="02040503050406030204" pitchFamily="18" charset="0"/>
                      </a:rPr>
                      <m:t>𝑓</m:t>
                    </m:r>
                    <m:r>
                      <a:rPr lang="en-US" altLang="zh-CN" i="1" dirty="0" smtClean="0">
                        <a:latin typeface="Cambria Math" panose="02040503050406030204" pitchFamily="18" charset="0"/>
                      </a:rPr>
                      <m:t>(</m:t>
                    </m:r>
                    <m:r>
                      <a:rPr lang="en-US" altLang="zh-CN" b="1" i="1" dirty="0" smtClean="0">
                        <a:latin typeface="Cambria Math" panose="02040503050406030204" pitchFamily="18" charset="0"/>
                      </a:rPr>
                      <m:t>𝑿</m:t>
                    </m:r>
                    <m:r>
                      <a:rPr lang="en-US" altLang="zh-CN" i="1" dirty="0" smtClean="0">
                        <a:latin typeface="Cambria Math" panose="02040503050406030204" pitchFamily="18" charset="0"/>
                      </a:rPr>
                      <m:t>)</m:t>
                    </m:r>
                  </m:oMath>
                </a14:m>
                <a:r>
                  <a:rPr lang="zh-CN" altLang="en-US" dirty="0"/>
                  <a:t>是定义在</a:t>
                </a:r>
                <a14:m>
                  <m:oMath xmlns:m="http://schemas.openxmlformats.org/officeDocument/2006/math">
                    <m:r>
                      <a:rPr lang="en-US" altLang="zh-CN" i="1" dirty="0" smtClean="0">
                        <a:latin typeface="Cambria Math" panose="02040503050406030204" pitchFamily="18" charset="0"/>
                      </a:rPr>
                      <m:t>𝑛</m:t>
                    </m:r>
                  </m:oMath>
                </a14:m>
                <a:r>
                  <a:rPr lang="zh-CN" altLang="en-US" dirty="0"/>
                  <a:t>维空间</a:t>
                </a:r>
                <a14:m>
                  <m:oMath xmlns:m="http://schemas.openxmlformats.org/officeDocument/2006/math">
                    <m:r>
                      <m:rPr>
                        <m:sty m:val="p"/>
                      </m:rPr>
                      <a:rPr lang="en-US" altLang="zh-CN" i="0" dirty="0" smtClean="0">
                        <a:latin typeface="Cambria Math" panose="02040503050406030204" pitchFamily="18" charset="0"/>
                      </a:rPr>
                      <m:t>R</m:t>
                    </m:r>
                    <m:r>
                      <a:rPr lang="en-US" altLang="zh-CN" i="1" baseline="30000" dirty="0" smtClean="0">
                        <a:latin typeface="Cambria Math" panose="02040503050406030204" pitchFamily="18" charset="0"/>
                      </a:rPr>
                      <m:t>𝑛</m:t>
                    </m:r>
                  </m:oMath>
                </a14:m>
                <a:r>
                  <a:rPr lang="zh-CN" altLang="en-US" dirty="0"/>
                  <a:t>中一个凸集</a:t>
                </a:r>
                <a14:m>
                  <m:oMath xmlns:m="http://schemas.openxmlformats.org/officeDocument/2006/math">
                    <m:r>
                      <a:rPr lang="en-US" altLang="zh-CN" i="1" dirty="0" smtClean="0">
                        <a:latin typeface="Cambria Math" panose="02040503050406030204" pitchFamily="18" charset="0"/>
                      </a:rPr>
                      <m:t>𝐷</m:t>
                    </m:r>
                  </m:oMath>
                </a14:m>
                <a:r>
                  <a:rPr lang="zh-CN" altLang="en-US" dirty="0"/>
                  <a:t>上的函数，如果对任意实数</a:t>
                </a:r>
                <a14:m>
                  <m:oMath xmlns:m="http://schemas.openxmlformats.org/officeDocument/2006/math">
                    <m:r>
                      <a:rPr lang="zh-CN" altLang="en-US" i="1" dirty="0" smtClean="0">
                        <a:latin typeface="Cambria Math" panose="02040503050406030204" pitchFamily="18" charset="0"/>
                      </a:rPr>
                      <m:t>𝝀</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𝟎</m:t>
                    </m:r>
                    <m:r>
                      <a:rPr lang="en-US" altLang="zh-CN" b="1" i="1" dirty="0" smtClean="0">
                        <a:latin typeface="Cambria Math" panose="02040503050406030204" pitchFamily="18" charset="0"/>
                        <a:ea typeface="Cambria Math" panose="02040503050406030204" pitchFamily="18" charset="0"/>
                      </a:rPr>
                      <m:t>≤</m:t>
                    </m:r>
                    <m:r>
                      <a:rPr lang="zh-CN" altLang="en-US" i="1" dirty="0">
                        <a:latin typeface="Cambria Math" panose="02040503050406030204" pitchFamily="18" charset="0"/>
                      </a:rPr>
                      <m:t>𝝀</m:t>
                    </m:r>
                    <m:r>
                      <a:rPr lang="zh-CN" altLang="en-US" i="1" dirty="0" smtClean="0">
                        <a:latin typeface="Cambria Math" panose="02040503050406030204" pitchFamily="18" charset="0"/>
                      </a:rPr>
                      <m:t>≤</m:t>
                    </m:r>
                    <m:r>
                      <a:rPr lang="en-US" altLang="zh-CN" b="1" i="1" dirty="0" smtClean="0">
                        <a:latin typeface="Cambria Math" panose="02040503050406030204" pitchFamily="18" charset="0"/>
                      </a:rPr>
                      <m:t>𝟏</m:t>
                    </m:r>
                    <m:r>
                      <a:rPr lang="en-US" altLang="zh-CN" b="1" i="1" dirty="0" smtClean="0">
                        <a:latin typeface="Cambria Math" panose="02040503050406030204" pitchFamily="18" charset="0"/>
                      </a:rPr>
                      <m:t>)</m:t>
                    </m:r>
                  </m:oMath>
                </a14:m>
                <a:r>
                  <a:rPr lang="zh-CN" altLang="en-US" dirty="0"/>
                  <a:t> 以及对</a:t>
                </a:r>
                <a14:m>
                  <m:oMath xmlns:m="http://schemas.openxmlformats.org/officeDocument/2006/math">
                    <m:r>
                      <a:rPr lang="en-US" altLang="zh-CN" i="1" dirty="0" smtClean="0">
                        <a:latin typeface="Cambria Math" panose="02040503050406030204" pitchFamily="18" charset="0"/>
                      </a:rPr>
                      <m:t>𝐷</m:t>
                    </m:r>
                  </m:oMath>
                </a14:m>
                <a:r>
                  <a:rPr lang="en-US" altLang="zh-CN" dirty="0"/>
                  <a:t> </a:t>
                </a:r>
                <a:r>
                  <a:rPr lang="zh-CN" altLang="en-US" dirty="0"/>
                  <a:t>中任意两点</a:t>
                </a:r>
                <a14:m>
                  <m:oMath xmlns:m="http://schemas.openxmlformats.org/officeDocument/2006/math">
                    <m:sSup>
                      <m:sSupPr>
                        <m:ctrlPr>
                          <a:rPr lang="en-US" altLang="zh-CN" i="1" dirty="0" smtClean="0">
                            <a:latin typeface="Cambria Math" panose="02040503050406030204" pitchFamily="18" charset="0"/>
                          </a:rPr>
                        </m:ctrlPr>
                      </m:sSupPr>
                      <m:e>
                        <m:r>
                          <a:rPr lang="en-US" altLang="zh-CN" i="1" dirty="0">
                            <a:latin typeface="Cambria Math" panose="02040503050406030204" pitchFamily="18" charset="0"/>
                          </a:rPr>
                          <m:t>𝑋</m:t>
                        </m:r>
                      </m:e>
                      <m:sup>
                        <m:r>
                          <a:rPr lang="en-US" altLang="zh-CN" i="1" dirty="0">
                            <a:latin typeface="Cambria Math" panose="02040503050406030204" pitchFamily="18" charset="0"/>
                          </a:rPr>
                          <m:t>(</m:t>
                        </m:r>
                        <m:r>
                          <a:rPr lang="en-US" altLang="zh-CN" i="1" dirty="0">
                            <a:latin typeface="Cambria Math" panose="02040503050406030204" pitchFamily="18" charset="0"/>
                          </a:rPr>
                          <m:t>𝟏</m:t>
                        </m:r>
                        <m:r>
                          <a:rPr lang="en-US" altLang="zh-CN" i="1" dirty="0">
                            <a:latin typeface="Cambria Math" panose="02040503050406030204" pitchFamily="18" charset="0"/>
                          </a:rPr>
                          <m:t>)</m:t>
                        </m:r>
                      </m:sup>
                    </m:sSup>
                  </m:oMath>
                </a14:m>
                <a:r>
                  <a:rPr lang="zh-CN" altLang="en-US" dirty="0"/>
                  <a:t>，</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𝑋</m:t>
                        </m:r>
                      </m:e>
                      <m:sup>
                        <m:r>
                          <a:rPr lang="en-US" altLang="zh-CN" i="1" dirty="0">
                            <a:latin typeface="Cambria Math" panose="02040503050406030204" pitchFamily="18" charset="0"/>
                          </a:rPr>
                          <m:t>(</m:t>
                        </m:r>
                        <m:r>
                          <a:rPr lang="en-US" altLang="zh-CN" b="1" i="1" dirty="0" smtClean="0">
                            <a:latin typeface="Cambria Math" panose="02040503050406030204" pitchFamily="18" charset="0"/>
                          </a:rPr>
                          <m:t>𝟐</m:t>
                        </m:r>
                        <m:r>
                          <a:rPr lang="en-US" altLang="zh-CN" i="1" dirty="0">
                            <a:latin typeface="Cambria Math" panose="02040503050406030204" pitchFamily="18" charset="0"/>
                          </a:rPr>
                          <m:t>)</m:t>
                        </m:r>
                      </m:sup>
                    </m:sSup>
                  </m:oMath>
                </a14:m>
                <a:r>
                  <a:rPr lang="zh-CN" altLang="en-US" dirty="0"/>
                  <a:t>，满足</a:t>
                </a:r>
                <a:endParaRPr lang="en-US" altLang="zh-CN" dirty="0"/>
              </a:p>
              <a:p>
                <a:pPr lvl="2"/>
                <a:endParaRPr lang="en-US" altLang="zh-CN" dirty="0"/>
              </a:p>
              <a:p>
                <a:pPr lvl="2"/>
                <a:endParaRPr lang="en-US" altLang="zh-CN" dirty="0"/>
              </a:p>
              <a:p>
                <a:pPr marL="914400" lvl="2" indent="0">
                  <a:buNone/>
                </a:pPr>
                <a:r>
                  <a:rPr lang="zh-CN" altLang="en-US" dirty="0"/>
                  <a:t>  则称</a:t>
                </a:r>
                <a14:m>
                  <m:oMath xmlns:m="http://schemas.openxmlformats.org/officeDocument/2006/math">
                    <m:r>
                      <a:rPr lang="en-US" altLang="zh-CN" i="1" dirty="0" smtClean="0">
                        <a:latin typeface="Cambria Math" panose="02040503050406030204" pitchFamily="18" charset="0"/>
                      </a:rPr>
                      <m:t>𝑓</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oMath>
                </a14:m>
                <a:r>
                  <a:rPr lang="zh-CN" altLang="en-US" dirty="0"/>
                  <a:t>是一个</a:t>
                </a:r>
                <a:r>
                  <a:rPr lang="zh-CN" altLang="en-US" dirty="0">
                    <a:solidFill>
                      <a:srgbClr val="0000FF"/>
                    </a:solidFill>
                  </a:rPr>
                  <a:t>凸函数。</a:t>
                </a:r>
                <a:endParaRPr lang="en-US" altLang="zh-CN" dirty="0">
                  <a:solidFill>
                    <a:srgbClr val="0000FF"/>
                  </a:solidFill>
                </a:endParaRPr>
              </a:p>
              <a:p>
                <a:pPr lvl="3"/>
                <a:r>
                  <a:rPr lang="en-US" altLang="zh-CN" dirty="0">
                    <a:ea typeface="Cambria Math" panose="02040503050406030204" pitchFamily="18" charset="0"/>
                  </a:rPr>
                  <a:t> </a:t>
                </a:r>
                <a14:m>
                  <m:oMath xmlns:m="http://schemas.openxmlformats.org/officeDocument/2006/math">
                    <m:r>
                      <a:rPr lang="en-US" altLang="zh-CN" i="1" dirty="0">
                        <a:latin typeface="Cambria Math" panose="02040503050406030204" pitchFamily="18" charset="0"/>
                        <a:ea typeface="Cambria Math" panose="02040503050406030204" pitchFamily="18" charset="0"/>
                      </a:rPr>
                      <m:t>≤</m:t>
                    </m:r>
                  </m:oMath>
                </a14:m>
                <a:r>
                  <a:rPr lang="zh-CN" altLang="en-US" dirty="0"/>
                  <a:t> 换成 </a:t>
                </a:r>
                <a14:m>
                  <m:oMath xmlns:m="http://schemas.openxmlformats.org/officeDocument/2006/math">
                    <m:r>
                      <a:rPr lang="en-US" altLang="zh-CN" i="1" smtClean="0">
                        <a:solidFill>
                          <a:srgbClr val="FF0000"/>
                        </a:solidFill>
                        <a:latin typeface="Cambria Math" panose="02040503050406030204" pitchFamily="18" charset="0"/>
                        <a:ea typeface="Cambria Math" panose="02040503050406030204" pitchFamily="18" charset="0"/>
                      </a:rPr>
                      <m:t>&lt;</m:t>
                    </m:r>
                  </m:oMath>
                </a14:m>
                <a:r>
                  <a:rPr lang="en-US" altLang="zh-CN" dirty="0">
                    <a:solidFill>
                      <a:srgbClr val="FF0000"/>
                    </a:solidFill>
                  </a:rPr>
                  <a:t> </a:t>
                </a:r>
                <a:r>
                  <a:rPr lang="zh-CN" altLang="en-US" dirty="0"/>
                  <a:t>表示是一个</a:t>
                </a:r>
                <a:r>
                  <a:rPr lang="zh-CN" altLang="en-US" dirty="0">
                    <a:solidFill>
                      <a:srgbClr val="FF0000"/>
                    </a:solidFill>
                  </a:rPr>
                  <a:t>严格凸函数</a:t>
                </a:r>
                <a:endParaRPr lang="en-US" altLang="zh-CN" dirty="0">
                  <a:solidFill>
                    <a:srgbClr val="FF0000"/>
                  </a:solidFill>
                </a:endParaRPr>
              </a:p>
              <a:p>
                <a:pPr lvl="3"/>
                <a:r>
                  <a:rPr lang="en-US" altLang="zh-CN" dirty="0">
                    <a:solidFill>
                      <a:srgbClr val="FF0000"/>
                    </a:solidFill>
                    <a:ea typeface="Cambria Math" panose="02040503050406030204" pitchFamily="18" charset="0"/>
                  </a:rPr>
                  <a:t> </a:t>
                </a:r>
                <a14:m>
                  <m:oMath xmlns:m="http://schemas.openxmlformats.org/officeDocument/2006/math">
                    <m:r>
                      <a:rPr lang="en-US" altLang="zh-CN" i="1" smtClean="0">
                        <a:solidFill>
                          <a:srgbClr val="FF0000"/>
                        </a:solidFill>
                        <a:latin typeface="Cambria Math" panose="02040503050406030204" pitchFamily="18" charset="0"/>
                        <a:ea typeface="Cambria Math" panose="02040503050406030204" pitchFamily="18" charset="0"/>
                      </a:rPr>
                      <m:t>≥</m:t>
                    </m:r>
                    <m:r>
                      <a:rPr lang="zh-CN" altLang="en-US" i="1" dirty="0" smtClean="0">
                        <a:latin typeface="Cambria Math" panose="02040503050406030204" pitchFamily="18" charset="0"/>
                      </a:rPr>
                      <m:t>和</m:t>
                    </m:r>
                    <m:r>
                      <a:rPr lang="en-US" altLang="zh-CN" i="1" smtClean="0">
                        <a:solidFill>
                          <a:srgbClr val="FF0000"/>
                        </a:solidFill>
                        <a:latin typeface="Cambria Math" panose="02040503050406030204" pitchFamily="18" charset="0"/>
                        <a:ea typeface="Cambria Math" panose="02040503050406030204" pitchFamily="18" charset="0"/>
                      </a:rPr>
                      <m:t>&gt;</m:t>
                    </m:r>
                  </m:oMath>
                </a14:m>
                <a:r>
                  <a:rPr lang="en-US" altLang="zh-CN" dirty="0">
                    <a:solidFill>
                      <a:srgbClr val="FF0000"/>
                    </a:solidFill>
                  </a:rPr>
                  <a:t> </a:t>
                </a:r>
                <a:r>
                  <a:rPr lang="zh-CN" altLang="en-US" dirty="0"/>
                  <a:t>表示是一个</a:t>
                </a:r>
                <a:r>
                  <a:rPr lang="zh-CN" altLang="en-US" dirty="0">
                    <a:solidFill>
                      <a:srgbClr val="FF0000"/>
                    </a:solidFill>
                  </a:rPr>
                  <a:t>凹函数</a:t>
                </a:r>
                <a:r>
                  <a:rPr lang="zh-CN" altLang="en-US" dirty="0"/>
                  <a:t>和</a:t>
                </a:r>
                <a:r>
                  <a:rPr lang="zh-CN" altLang="en-US" dirty="0">
                    <a:solidFill>
                      <a:srgbClr val="FF0000"/>
                    </a:solidFill>
                  </a:rPr>
                  <a:t>严格凹函数</a:t>
                </a:r>
                <a:endParaRPr lang="en-US" altLang="zh-CN" dirty="0">
                  <a:solidFill>
                    <a:srgbClr val="FF0000"/>
                  </a:solidFill>
                </a:endParaRPr>
              </a:p>
            </p:txBody>
          </p:sp>
        </mc:Choice>
        <mc:Fallback xmlns="">
          <p:sp>
            <p:nvSpPr>
              <p:cNvPr id="3" name="内容占位符 2">
                <a:extLst>
                  <a:ext uri="{FF2B5EF4-FFF2-40B4-BE49-F238E27FC236}">
                    <a16:creationId xmlns:a16="http://schemas.microsoft.com/office/drawing/2014/main" id="{C90DFF38-3426-4B1B-9CC7-2256D17B44C8}"/>
                  </a:ext>
                </a:extLst>
              </p:cNvPr>
              <p:cNvSpPr>
                <a:spLocks noGrp="1" noRot="1" noChangeAspect="1" noMove="1" noResize="1" noEditPoints="1" noAdjustHandles="1" noChangeArrowheads="1" noChangeShapeType="1" noTextEdit="1"/>
              </p:cNvSpPr>
              <p:nvPr>
                <p:ph idx="1"/>
              </p:nvPr>
            </p:nvSpPr>
            <p:spPr>
              <a:blipFill>
                <a:blip r:embed="rId3"/>
                <a:stretch>
                  <a:fillRect l="-1066" t="-2083" r="-1066" b="-4282"/>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4621A88A-6C92-478B-A968-EF39D4BB914E}"/>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97420084-6A74-4C14-BFC7-80DC49D257E1}"/>
              </a:ext>
            </a:extLst>
          </p:cNvPr>
          <p:cNvSpPr>
            <a:spLocks noGrp="1"/>
          </p:cNvSpPr>
          <p:nvPr>
            <p:ph type="sldNum" sz="quarter" idx="12"/>
          </p:nvPr>
        </p:nvSpPr>
        <p:spPr/>
        <p:txBody>
          <a:bodyPr/>
          <a:lstStyle/>
          <a:p>
            <a:fld id="{7AC79822-BC0D-4DE8-A7E5-90A3732A2B82}" type="slidenum">
              <a:rPr lang="zh-CN" altLang="en-US" smtClean="0"/>
              <a:pPr/>
              <a:t>14</a:t>
            </a:fld>
            <a:endParaRPr lang="en-US" altLang="zh-CN" dirty="0"/>
          </a:p>
        </p:txBody>
      </p:sp>
      <p:graphicFrame>
        <p:nvGraphicFramePr>
          <p:cNvPr id="6" name="对象 5">
            <a:extLst>
              <a:ext uri="{FF2B5EF4-FFF2-40B4-BE49-F238E27FC236}">
                <a16:creationId xmlns:a16="http://schemas.microsoft.com/office/drawing/2014/main" id="{BC6C7B6E-CF54-48B6-A871-4CEE7B0AE859}"/>
              </a:ext>
            </a:extLst>
          </p:cNvPr>
          <p:cNvGraphicFramePr>
            <a:graphicFrameLocks noChangeAspect="1"/>
          </p:cNvGraphicFramePr>
          <p:nvPr>
            <p:extLst>
              <p:ext uri="{D42A27DB-BD31-4B8C-83A1-F6EECF244321}">
                <p14:modId xmlns:p14="http://schemas.microsoft.com/office/powerpoint/2010/main" val="2915853295"/>
              </p:ext>
            </p:extLst>
          </p:nvPr>
        </p:nvGraphicFramePr>
        <p:xfrm>
          <a:off x="488504" y="4149080"/>
          <a:ext cx="9205912" cy="720725"/>
        </p:xfrm>
        <a:graphic>
          <a:graphicData uri="http://schemas.openxmlformats.org/presentationml/2006/ole">
            <mc:AlternateContent xmlns:mc="http://schemas.openxmlformats.org/markup-compatibility/2006">
              <mc:Choice xmlns:v="urn:schemas-microsoft-com:vml" Requires="v">
                <p:oleObj name="Equation" r:id="rId4" imgW="2273040" imgH="177480" progId="Equation.DSMT4">
                  <p:embed/>
                </p:oleObj>
              </mc:Choice>
              <mc:Fallback>
                <p:oleObj name="Equation" r:id="rId4" imgW="2273040" imgH="177480" progId="Equation.DSMT4">
                  <p:embed/>
                  <p:pic>
                    <p:nvPicPr>
                      <p:cNvPr id="12" name="对象 11">
                        <a:extLst>
                          <a:ext uri="{FF2B5EF4-FFF2-40B4-BE49-F238E27FC236}">
                            <a16:creationId xmlns:a16="http://schemas.microsoft.com/office/drawing/2014/main" id="{2EC7A56A-BF83-4190-BF17-85E2E9308335}"/>
                          </a:ext>
                        </a:extLst>
                      </p:cNvPr>
                      <p:cNvPicPr/>
                      <p:nvPr/>
                    </p:nvPicPr>
                    <p:blipFill>
                      <a:blip r:embed="rId5"/>
                      <a:stretch>
                        <a:fillRect/>
                      </a:stretch>
                    </p:blipFill>
                    <p:spPr>
                      <a:xfrm>
                        <a:off x="488504" y="4149080"/>
                        <a:ext cx="9205912" cy="720725"/>
                      </a:xfrm>
                      <a:prstGeom prst="rect">
                        <a:avLst/>
                      </a:prstGeom>
                      <a:ln w="28575">
                        <a:solidFill>
                          <a:srgbClr val="C00000"/>
                        </a:solidFill>
                      </a:ln>
                    </p:spPr>
                  </p:pic>
                </p:oleObj>
              </mc:Fallback>
            </mc:AlternateContent>
          </a:graphicData>
        </a:graphic>
      </p:graphicFrame>
    </p:spTree>
    <p:extLst>
      <p:ext uri="{BB962C8B-B14F-4D97-AF65-F5344CB8AC3E}">
        <p14:creationId xmlns:p14="http://schemas.microsoft.com/office/powerpoint/2010/main" val="1960358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barn(inVertical)">
                                      <p:cBhvr>
                                        <p:cTn id="16" dur="500"/>
                                        <p:tgtEl>
                                          <p:spTgt spid="3">
                                            <p:txEl>
                                              <p:pRg st="5" end="5"/>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barn(inVertical)">
                                      <p:cBhvr>
                                        <p:cTn id="19" dur="500"/>
                                        <p:tgtEl>
                                          <p:spTgt spid="3">
                                            <p:txEl>
                                              <p:pRg st="6" end="6"/>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barn(inVertical)">
                                      <p:cBhvr>
                                        <p:cTn id="22" dur="500"/>
                                        <p:tgtEl>
                                          <p:spTgt spid="3">
                                            <p:txEl>
                                              <p:pRg st="7" end="7"/>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arn(inVertical)">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D50420-B926-4B2A-9338-0F82CFA70358}"/>
              </a:ext>
            </a:extLst>
          </p:cNvPr>
          <p:cNvSpPr>
            <a:spLocks noGrp="1"/>
          </p:cNvSpPr>
          <p:nvPr>
            <p:ph type="title"/>
          </p:nvPr>
        </p:nvSpPr>
        <p:spPr/>
        <p:txBody>
          <a:bodyPr/>
          <a:lstStyle/>
          <a:p>
            <a:r>
              <a:rPr lang="en-US" altLang="zh-CN" dirty="0"/>
              <a:t>5. </a:t>
            </a:r>
            <a:r>
              <a:rPr lang="zh-CN" altLang="en-US" dirty="0"/>
              <a:t>优化约束的极值条件</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1C60BD6-7CF0-4D9C-9106-E6A849FA30B8}"/>
                  </a:ext>
                </a:extLst>
              </p:cNvPr>
              <p:cNvSpPr>
                <a:spLocks noGrp="1"/>
              </p:cNvSpPr>
              <p:nvPr>
                <p:ph idx="1"/>
              </p:nvPr>
            </p:nvSpPr>
            <p:spPr>
              <a:xfrm>
                <a:off x="58044" y="1196753"/>
                <a:ext cx="9719492" cy="5264288"/>
              </a:xfrm>
            </p:spPr>
            <p:txBody>
              <a:bodyPr/>
              <a:lstStyle/>
              <a:p>
                <a:r>
                  <a:rPr lang="zh-CN" altLang="en-US" dirty="0"/>
                  <a:t>凸函数</a:t>
                </a:r>
                <a:endParaRPr lang="en-US" altLang="zh-CN" dirty="0"/>
              </a:p>
              <a:p>
                <a:pPr lvl="1"/>
                <a:r>
                  <a:rPr lang="zh-CN" altLang="en-US" dirty="0"/>
                  <a:t>多元凸函数</a:t>
                </a:r>
                <a:endParaRPr lang="en-US" altLang="zh-CN" dirty="0"/>
              </a:p>
              <a:p>
                <a:pPr lvl="2"/>
                <a:r>
                  <a:rPr lang="zh-CN" altLang="en-US" dirty="0">
                    <a:solidFill>
                      <a:srgbClr val="C00000"/>
                    </a:solidFill>
                  </a:rPr>
                  <a:t>判别方法：</a:t>
                </a:r>
                <a:r>
                  <a:rPr lang="zh-CN" altLang="en-US" dirty="0"/>
                  <a:t>如果</a:t>
                </a:r>
                <a14:m>
                  <m:oMath xmlns:m="http://schemas.openxmlformats.org/officeDocument/2006/math">
                    <m:r>
                      <a:rPr lang="en-US" altLang="zh-CN" i="1" dirty="0" smtClean="0">
                        <a:latin typeface="Cambria Math" panose="02040503050406030204" pitchFamily="18" charset="0"/>
                      </a:rPr>
                      <m:t>𝑓</m:t>
                    </m:r>
                    <m:r>
                      <a:rPr lang="en-US" altLang="zh-CN" i="1" dirty="0" smtClean="0">
                        <a:latin typeface="Cambria Math" panose="02040503050406030204" pitchFamily="18" charset="0"/>
                      </a:rPr>
                      <m:t>(</m:t>
                    </m:r>
                    <m:r>
                      <a:rPr lang="en-US" altLang="zh-CN" b="1" i="1" dirty="0" smtClean="0">
                        <a:latin typeface="Cambria Math" panose="02040503050406030204" pitchFamily="18" charset="0"/>
                      </a:rPr>
                      <m:t>𝑿</m:t>
                    </m:r>
                    <m:r>
                      <a:rPr lang="en-US" altLang="zh-CN" i="1" dirty="0" smtClean="0">
                        <a:latin typeface="Cambria Math" panose="02040503050406030204" pitchFamily="18" charset="0"/>
                      </a:rPr>
                      <m:t>)</m:t>
                    </m:r>
                  </m:oMath>
                </a14:m>
                <a:r>
                  <a:rPr lang="zh-CN" altLang="en-US" dirty="0"/>
                  <a:t>在</a:t>
                </a:r>
                <a14:m>
                  <m:oMath xmlns:m="http://schemas.openxmlformats.org/officeDocument/2006/math">
                    <m:r>
                      <m:rPr>
                        <m:sty m:val="p"/>
                      </m:rPr>
                      <a:rPr lang="en-US" altLang="zh-CN" i="0" dirty="0" smtClean="0">
                        <a:latin typeface="Cambria Math" panose="02040503050406030204" pitchFamily="18" charset="0"/>
                      </a:rPr>
                      <m:t>R</m:t>
                    </m:r>
                    <m:r>
                      <a:rPr lang="en-US" altLang="zh-CN" i="1" baseline="30000" dirty="0" smtClean="0">
                        <a:latin typeface="Cambria Math" panose="02040503050406030204" pitchFamily="18" charset="0"/>
                      </a:rPr>
                      <m:t>𝑛</m:t>
                    </m:r>
                  </m:oMath>
                </a14:m>
                <a:r>
                  <a:rPr lang="zh-CN" altLang="en-US" dirty="0"/>
                  <a:t>中存在连续的二阶偏导，则可利用</a:t>
                </a:r>
                <a:r>
                  <a:rPr lang="zh-CN" altLang="en-US" dirty="0">
                    <a:solidFill>
                      <a:srgbClr val="0000FF"/>
                    </a:solidFill>
                  </a:rPr>
                  <a:t>海塞（</a:t>
                </a:r>
                <a:r>
                  <a:rPr lang="en-US" altLang="zh-CN" dirty="0">
                    <a:solidFill>
                      <a:srgbClr val="0000FF"/>
                    </a:solidFill>
                  </a:rPr>
                  <a:t>Hessian</a:t>
                </a:r>
                <a:r>
                  <a:rPr lang="zh-CN" altLang="en-US" dirty="0">
                    <a:solidFill>
                      <a:srgbClr val="0000FF"/>
                    </a:solidFill>
                  </a:rPr>
                  <a:t>）矩阵</a:t>
                </a:r>
                <a:r>
                  <a:rPr lang="zh-CN" altLang="en-US" dirty="0"/>
                  <a:t>来判定函数的凸性：</a:t>
                </a:r>
                <a:endParaRPr lang="en-US" altLang="zh-CN" dirty="0"/>
              </a:p>
              <a:p>
                <a:pPr lvl="3"/>
                <a:r>
                  <a:rPr lang="zh-CN" altLang="en-US" dirty="0"/>
                  <a:t>如果</a:t>
                </a:r>
                <a:r>
                  <a:rPr lang="en-US" altLang="zh-CN" dirty="0">
                    <a:solidFill>
                      <a:srgbClr val="C00000"/>
                    </a:solidFill>
                  </a:rPr>
                  <a:t>Hessian</a:t>
                </a:r>
                <a:r>
                  <a:rPr lang="zh-CN" altLang="en-US" dirty="0">
                    <a:solidFill>
                      <a:srgbClr val="C00000"/>
                    </a:solidFill>
                  </a:rPr>
                  <a:t>矩阵正定</a:t>
                </a:r>
                <a:r>
                  <a:rPr lang="zh-CN" altLang="en-US" dirty="0"/>
                  <a:t>，则</a:t>
                </a:r>
                <a14:m>
                  <m:oMath xmlns:m="http://schemas.openxmlformats.org/officeDocument/2006/math">
                    <m:r>
                      <a:rPr lang="en-US" altLang="zh-CN" i="1" dirty="0" smtClean="0">
                        <a:latin typeface="Cambria Math" panose="02040503050406030204" pitchFamily="18" charset="0"/>
                      </a:rPr>
                      <m:t>𝑓</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oMath>
                </a14:m>
                <a:r>
                  <a:rPr lang="zh-CN" altLang="en-US" dirty="0"/>
                  <a:t>是</a:t>
                </a:r>
                <a:r>
                  <a:rPr lang="zh-CN" altLang="en-US" dirty="0">
                    <a:solidFill>
                      <a:srgbClr val="C00000"/>
                    </a:solidFill>
                  </a:rPr>
                  <a:t>凸函数</a:t>
                </a:r>
                <a:r>
                  <a:rPr lang="zh-CN" altLang="en-US" dirty="0"/>
                  <a:t>（严格凸函数）</a:t>
                </a:r>
                <a:endParaRPr lang="en-US" altLang="zh-CN" dirty="0"/>
              </a:p>
              <a:p>
                <a:pPr marL="2286000" lvl="4" indent="-457200">
                  <a:buFont typeface="+mj-ea"/>
                  <a:buAutoNum type="circleNumDbPlain"/>
                </a:pPr>
                <a:r>
                  <a:rPr lang="zh-CN" altLang="en-US" sz="2400" dirty="0"/>
                  <a:t>如果</a:t>
                </a:r>
                <a:r>
                  <a:rPr lang="en-US" altLang="zh-CN" sz="2400" dirty="0"/>
                  <a:t>Hessian</a:t>
                </a:r>
                <a:r>
                  <a:rPr lang="zh-CN" altLang="en-US" sz="2400" dirty="0"/>
                  <a:t>矩阵半正定，则</a:t>
                </a:r>
                <a14:m>
                  <m:oMath xmlns:m="http://schemas.openxmlformats.org/officeDocument/2006/math">
                    <m:r>
                      <a:rPr lang="en-US" altLang="zh-CN" sz="2400" i="1" dirty="0" smtClean="0">
                        <a:latin typeface="Cambria Math" panose="02040503050406030204" pitchFamily="18" charset="0"/>
                      </a:rPr>
                      <m:t>𝑓</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𝑋</m:t>
                    </m:r>
                    <m:r>
                      <a:rPr lang="en-US" altLang="zh-CN" sz="2400" i="1" dirty="0" smtClean="0">
                        <a:latin typeface="Cambria Math" panose="02040503050406030204" pitchFamily="18" charset="0"/>
                      </a:rPr>
                      <m:t>)</m:t>
                    </m:r>
                  </m:oMath>
                </a14:m>
                <a:r>
                  <a:rPr lang="zh-CN" altLang="en-US" sz="2400" dirty="0"/>
                  <a:t>是非严格凸函数</a:t>
                </a:r>
                <a:endParaRPr lang="en-US" altLang="zh-CN" sz="2400" dirty="0"/>
              </a:p>
              <a:p>
                <a:pPr marL="2286000" lvl="4" indent="-457200">
                  <a:buFont typeface="+mj-ea"/>
                  <a:buAutoNum type="circleNumDbPlain"/>
                </a:pPr>
                <a:r>
                  <a:rPr lang="zh-CN" altLang="en-US" sz="2400" dirty="0"/>
                  <a:t>如果</a:t>
                </a:r>
                <a:r>
                  <a:rPr lang="en-US" altLang="zh-CN" sz="2400" dirty="0"/>
                  <a:t>Hessian</a:t>
                </a:r>
                <a:r>
                  <a:rPr lang="zh-CN" altLang="en-US" sz="2400" dirty="0"/>
                  <a:t>矩阵负定，则</a:t>
                </a:r>
                <a14:m>
                  <m:oMath xmlns:m="http://schemas.openxmlformats.org/officeDocument/2006/math">
                    <m:r>
                      <a:rPr lang="en-US" altLang="zh-CN" sz="2400" i="1" dirty="0">
                        <a:latin typeface="Cambria Math" panose="02040503050406030204" pitchFamily="18" charset="0"/>
                      </a:rPr>
                      <m:t>𝑓</m:t>
                    </m:r>
                    <m:r>
                      <a:rPr lang="en-US" altLang="zh-CN" sz="2400" i="1" dirty="0">
                        <a:latin typeface="Cambria Math" panose="02040503050406030204" pitchFamily="18" charset="0"/>
                      </a:rPr>
                      <m:t>(</m:t>
                    </m:r>
                    <m:r>
                      <a:rPr lang="en-US" altLang="zh-CN" sz="2400" i="1" dirty="0">
                        <a:latin typeface="Cambria Math" panose="02040503050406030204" pitchFamily="18" charset="0"/>
                      </a:rPr>
                      <m:t>𝑋</m:t>
                    </m:r>
                    <m:r>
                      <a:rPr lang="en-US" altLang="zh-CN" sz="2400" i="1" dirty="0">
                        <a:latin typeface="Cambria Math" panose="02040503050406030204" pitchFamily="18" charset="0"/>
                      </a:rPr>
                      <m:t>)</m:t>
                    </m:r>
                    <m:r>
                      <a:rPr lang="zh-CN" altLang="en-US" sz="2400" i="1" dirty="0" smtClean="0">
                        <a:latin typeface="Cambria Math" panose="02040503050406030204" pitchFamily="18" charset="0"/>
                      </a:rPr>
                      <m:t>是</m:t>
                    </m:r>
                  </m:oMath>
                </a14:m>
                <a:r>
                  <a:rPr lang="zh-CN" altLang="en-US" sz="2400" dirty="0"/>
                  <a:t> 严格凹函数</a:t>
                </a:r>
                <a:endParaRPr lang="en-US" altLang="zh-CN" sz="2400" dirty="0"/>
              </a:p>
              <a:p>
                <a:pPr marL="2286000" lvl="4" indent="-457200">
                  <a:buFont typeface="+mj-ea"/>
                  <a:buAutoNum type="circleNumDbPlain"/>
                </a:pPr>
                <a:r>
                  <a:rPr lang="zh-CN" altLang="en-US" sz="2400" dirty="0"/>
                  <a:t>如果</a:t>
                </a:r>
                <a:r>
                  <a:rPr lang="en-US" altLang="zh-CN" sz="2400" dirty="0"/>
                  <a:t>Hessian</a:t>
                </a:r>
                <a:r>
                  <a:rPr lang="zh-CN" altLang="en-US" sz="2400" dirty="0"/>
                  <a:t>矩阵半负定，则</a:t>
                </a:r>
                <a14:m>
                  <m:oMath xmlns:m="http://schemas.openxmlformats.org/officeDocument/2006/math">
                    <m:r>
                      <a:rPr lang="en-US" altLang="zh-CN" sz="2400" i="1" dirty="0">
                        <a:latin typeface="Cambria Math" panose="02040503050406030204" pitchFamily="18" charset="0"/>
                      </a:rPr>
                      <m:t>𝑓</m:t>
                    </m:r>
                    <m:r>
                      <a:rPr lang="en-US" altLang="zh-CN" sz="2400" i="1" dirty="0">
                        <a:latin typeface="Cambria Math" panose="02040503050406030204" pitchFamily="18" charset="0"/>
                      </a:rPr>
                      <m:t>(</m:t>
                    </m:r>
                    <m:r>
                      <a:rPr lang="en-US" altLang="zh-CN" sz="2400" i="1" dirty="0">
                        <a:latin typeface="Cambria Math" panose="02040503050406030204" pitchFamily="18" charset="0"/>
                      </a:rPr>
                      <m:t>𝑋</m:t>
                    </m:r>
                    <m:r>
                      <a:rPr lang="en-US" altLang="zh-CN" sz="2400" i="1" dirty="0">
                        <a:latin typeface="Cambria Math" panose="02040503050406030204" pitchFamily="18" charset="0"/>
                      </a:rPr>
                      <m:t>)</m:t>
                    </m:r>
                    <m:r>
                      <a:rPr lang="zh-CN" altLang="en-US" sz="2400" i="1" dirty="0">
                        <a:latin typeface="Cambria Math" panose="02040503050406030204" pitchFamily="18" charset="0"/>
                      </a:rPr>
                      <m:t>是</m:t>
                    </m:r>
                  </m:oMath>
                </a14:m>
                <a:r>
                  <a:rPr lang="zh-CN" altLang="en-US" sz="2400" dirty="0"/>
                  <a:t> 非严格凹函数、</a:t>
                </a:r>
                <a:endParaRPr lang="en-US" altLang="zh-CN" sz="2400" dirty="0"/>
              </a:p>
              <a:p>
                <a:pPr marL="2286000" lvl="4" indent="-457200">
                  <a:buFont typeface="+mj-ea"/>
                  <a:buAutoNum type="circleNumDbPlain"/>
                </a:pPr>
                <a:r>
                  <a:rPr lang="zh-CN" altLang="en-US" sz="2400" dirty="0"/>
                  <a:t>如果</a:t>
                </a:r>
                <a:r>
                  <a:rPr lang="en-US" altLang="zh-CN" sz="2400" dirty="0"/>
                  <a:t>Hessian</a:t>
                </a:r>
                <a:r>
                  <a:rPr lang="zh-CN" altLang="en-US" sz="2400" dirty="0"/>
                  <a:t>矩阵不定，则</a:t>
                </a:r>
                <a14:m>
                  <m:oMath xmlns:m="http://schemas.openxmlformats.org/officeDocument/2006/math">
                    <m:r>
                      <a:rPr lang="en-US" altLang="zh-CN" sz="2400" i="1" dirty="0">
                        <a:latin typeface="Cambria Math" panose="02040503050406030204" pitchFamily="18" charset="0"/>
                      </a:rPr>
                      <m:t>𝑓</m:t>
                    </m:r>
                    <m:r>
                      <a:rPr lang="en-US" altLang="zh-CN" sz="2400" i="1" dirty="0">
                        <a:latin typeface="Cambria Math" panose="02040503050406030204" pitchFamily="18" charset="0"/>
                      </a:rPr>
                      <m:t>(</m:t>
                    </m:r>
                    <m:r>
                      <a:rPr lang="en-US" altLang="zh-CN" sz="2400" i="1" dirty="0">
                        <a:latin typeface="Cambria Math" panose="02040503050406030204" pitchFamily="18" charset="0"/>
                      </a:rPr>
                      <m:t>𝑋</m:t>
                    </m:r>
                    <m:r>
                      <a:rPr lang="en-US" altLang="zh-CN" sz="2400" i="1" dirty="0">
                        <a:latin typeface="Cambria Math" panose="02040503050406030204" pitchFamily="18" charset="0"/>
                      </a:rPr>
                      <m:t>)</m:t>
                    </m:r>
                    <m:r>
                      <a:rPr lang="zh-CN" altLang="en-US" sz="2400" i="1" dirty="0">
                        <a:latin typeface="Cambria Math" panose="02040503050406030204" pitchFamily="18" charset="0"/>
                      </a:rPr>
                      <m:t>是</m:t>
                    </m:r>
                    <m:r>
                      <a:rPr lang="zh-CN" altLang="en-US" sz="2400" i="1" dirty="0" smtClean="0">
                        <a:latin typeface="Cambria Math" panose="02040503050406030204" pitchFamily="18" charset="0"/>
                      </a:rPr>
                      <m:t>非</m:t>
                    </m:r>
                  </m:oMath>
                </a14:m>
                <a:r>
                  <a:rPr lang="zh-CN" altLang="en-US" sz="2400" dirty="0"/>
                  <a:t>凹非凸函数</a:t>
                </a:r>
              </a:p>
            </p:txBody>
          </p:sp>
        </mc:Choice>
        <mc:Fallback xmlns="">
          <p:sp>
            <p:nvSpPr>
              <p:cNvPr id="3" name="内容占位符 2">
                <a:extLst>
                  <a:ext uri="{FF2B5EF4-FFF2-40B4-BE49-F238E27FC236}">
                    <a16:creationId xmlns:a16="http://schemas.microsoft.com/office/drawing/2014/main" id="{71C60BD6-7CF0-4D9C-9106-E6A849FA30B8}"/>
                  </a:ext>
                </a:extLst>
              </p:cNvPr>
              <p:cNvSpPr>
                <a:spLocks noGrp="1" noRot="1" noChangeAspect="1" noMove="1" noResize="1" noEditPoints="1" noAdjustHandles="1" noChangeArrowheads="1" noChangeShapeType="1" noTextEdit="1"/>
              </p:cNvSpPr>
              <p:nvPr>
                <p:ph idx="1"/>
              </p:nvPr>
            </p:nvSpPr>
            <p:spPr>
              <a:xfrm>
                <a:off x="58044" y="1196753"/>
                <a:ext cx="9719492" cy="5264288"/>
              </a:xfrm>
              <a:blipFill>
                <a:blip r:embed="rId2"/>
                <a:stretch>
                  <a:fillRect l="-1066" t="-2083"/>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20090020-D442-484A-8BD6-83248535261A}"/>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E17E3D19-51A3-4EB2-88C7-5032C4625204}"/>
              </a:ext>
            </a:extLst>
          </p:cNvPr>
          <p:cNvSpPr>
            <a:spLocks noGrp="1"/>
          </p:cNvSpPr>
          <p:nvPr>
            <p:ph type="sldNum" sz="quarter" idx="12"/>
          </p:nvPr>
        </p:nvSpPr>
        <p:spPr/>
        <p:txBody>
          <a:bodyPr/>
          <a:lstStyle/>
          <a:p>
            <a:fld id="{7AC79822-BC0D-4DE8-A7E5-90A3732A2B82}" type="slidenum">
              <a:rPr lang="zh-CN" altLang="en-US" smtClean="0"/>
              <a:pPr/>
              <a:t>15</a:t>
            </a:fld>
            <a:endParaRPr lang="en-US" altLang="zh-CN" dirty="0"/>
          </a:p>
        </p:txBody>
      </p:sp>
      <p:sp>
        <p:nvSpPr>
          <p:cNvPr id="6" name="思想气泡: 云 5">
            <a:extLst>
              <a:ext uri="{FF2B5EF4-FFF2-40B4-BE49-F238E27FC236}">
                <a16:creationId xmlns:a16="http://schemas.microsoft.com/office/drawing/2014/main" id="{F6F3EAA5-6684-4D5E-8FE4-E210DD03FCB2}"/>
              </a:ext>
            </a:extLst>
          </p:cNvPr>
          <p:cNvSpPr/>
          <p:nvPr/>
        </p:nvSpPr>
        <p:spPr bwMode="auto">
          <a:xfrm>
            <a:off x="2792760" y="1371193"/>
            <a:ext cx="6408712" cy="1015817"/>
          </a:xfrm>
          <a:prstGeom prst="cloudCallout">
            <a:avLst>
              <a:gd name="adj1" fmla="val -10096"/>
              <a:gd name="adj2" fmla="val 196360"/>
            </a:avLst>
          </a:prstGeom>
          <a:solidFill>
            <a:schemeClr val="tx2">
              <a:lumMod val="20000"/>
              <a:lumOff val="80000"/>
            </a:schemeClr>
          </a:solidFill>
          <a:ln w="952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Arial" charset="0"/>
              </a:rPr>
              <a:t>采用主子式判定正定时存在等于</a:t>
            </a:r>
            <a:r>
              <a:rPr kumimoji="0" lang="en-US" altLang="zh-CN" sz="2400" b="0" i="0" u="none" strike="noStrike" cap="none" normalizeH="0" baseline="0" dirty="0">
                <a:ln>
                  <a:noFill/>
                </a:ln>
                <a:solidFill>
                  <a:schemeClr val="tx1"/>
                </a:solidFill>
                <a:effectLst/>
                <a:latin typeface="Arial" charset="0"/>
              </a:rPr>
              <a:t>0</a:t>
            </a:r>
            <a:r>
              <a:rPr kumimoji="0" lang="zh-CN" altLang="en-US" sz="2400" b="0" i="0" u="none" strike="noStrike" cap="none" normalizeH="0" baseline="0" dirty="0">
                <a:ln>
                  <a:noFill/>
                </a:ln>
                <a:solidFill>
                  <a:schemeClr val="tx1"/>
                </a:solidFill>
                <a:effectLst/>
                <a:latin typeface="Arial" charset="0"/>
              </a:rPr>
              <a:t>情况</a:t>
            </a:r>
            <a:endParaRPr kumimoji="0" lang="en-US" altLang="zh-CN" sz="2400" b="0" i="0" u="none" strike="noStrike" cap="none" normalizeH="0" baseline="0" dirty="0">
              <a:ln>
                <a:noFill/>
              </a:ln>
              <a:solidFill>
                <a:schemeClr val="tx1"/>
              </a:solidFill>
              <a:effectLst/>
              <a:latin typeface="Arial" charset="0"/>
            </a:endParaRPr>
          </a:p>
        </p:txBody>
      </p:sp>
      <p:sp>
        <p:nvSpPr>
          <p:cNvPr id="7" name="矩形 6">
            <a:extLst>
              <a:ext uri="{FF2B5EF4-FFF2-40B4-BE49-F238E27FC236}">
                <a16:creationId xmlns:a16="http://schemas.microsoft.com/office/drawing/2014/main" id="{ADFEA6F2-4D71-4220-84E7-65350439E452}"/>
              </a:ext>
            </a:extLst>
          </p:cNvPr>
          <p:cNvSpPr/>
          <p:nvPr/>
        </p:nvSpPr>
        <p:spPr bwMode="auto">
          <a:xfrm>
            <a:off x="3013150" y="3933055"/>
            <a:ext cx="2731938" cy="540061"/>
          </a:xfrm>
          <a:prstGeom prst="rect">
            <a:avLst/>
          </a:prstGeom>
          <a:noFill/>
          <a:ln w="2857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958212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arn(inVertical)">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arn(inVertical)">
                                      <p:cBhvr>
                                        <p:cTn id="23" dur="500"/>
                                        <p:tgtEl>
                                          <p:spTgt spid="3">
                                            <p:txEl>
                                              <p:pRg st="4" end="4"/>
                                            </p:txEl>
                                          </p:spTgt>
                                        </p:tgtEl>
                                      </p:cBhvr>
                                    </p:animEffect>
                                  </p:childTnLst>
                                </p:cTn>
                              </p:par>
                            </p:childTnLst>
                          </p:cTn>
                        </p:par>
                        <p:par>
                          <p:cTn id="24" fill="hold">
                            <p:stCondLst>
                              <p:cond delay="500"/>
                            </p:stCondLst>
                            <p:childTnLst>
                              <p:par>
                                <p:cTn id="25" presetID="22" presetClass="entr" presetSubtype="4"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childTnLst>
                          </p:cTn>
                        </p:par>
                        <p:par>
                          <p:cTn id="28" fill="hold">
                            <p:stCondLst>
                              <p:cond delay="1000"/>
                            </p:stCondLst>
                            <p:childTnLst>
                              <p:par>
                                <p:cTn id="29" presetID="16" presetClass="entr" presetSubtype="21"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barn(inVertical)">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barn(inVertical)">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barn(inVertical)">
                                      <p:cBhvr>
                                        <p:cTn id="41" dur="500"/>
                                        <p:tgtEl>
                                          <p:spTgt spid="3">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barn(inVertical)">
                                      <p:cBhvr>
                                        <p:cTn id="4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6F506F-227B-4A51-BA21-60ECE16512D0}"/>
              </a:ext>
            </a:extLst>
          </p:cNvPr>
          <p:cNvSpPr>
            <a:spLocks noGrp="1"/>
          </p:cNvSpPr>
          <p:nvPr>
            <p:ph type="title"/>
          </p:nvPr>
        </p:nvSpPr>
        <p:spPr/>
        <p:txBody>
          <a:bodyPr/>
          <a:lstStyle/>
          <a:p>
            <a:r>
              <a:rPr lang="en-US" altLang="zh-CN" dirty="0"/>
              <a:t>5. </a:t>
            </a:r>
            <a:r>
              <a:rPr lang="zh-CN" altLang="en-US" dirty="0"/>
              <a:t>优化约束的极值条件</a:t>
            </a:r>
          </a:p>
        </p:txBody>
      </p:sp>
      <p:sp>
        <p:nvSpPr>
          <p:cNvPr id="3" name="内容占位符 2">
            <a:extLst>
              <a:ext uri="{FF2B5EF4-FFF2-40B4-BE49-F238E27FC236}">
                <a16:creationId xmlns:a16="http://schemas.microsoft.com/office/drawing/2014/main" id="{15860DAE-08AE-4BAA-B84D-EF9ED2761D1B}"/>
              </a:ext>
            </a:extLst>
          </p:cNvPr>
          <p:cNvSpPr>
            <a:spLocks noGrp="1"/>
          </p:cNvSpPr>
          <p:nvPr>
            <p:ph idx="1"/>
          </p:nvPr>
        </p:nvSpPr>
        <p:spPr/>
        <p:txBody>
          <a:bodyPr/>
          <a:lstStyle/>
          <a:p>
            <a:r>
              <a:rPr lang="zh-CN" altLang="en-US" dirty="0"/>
              <a:t>例</a:t>
            </a:r>
            <a:r>
              <a:rPr lang="en-US" altLang="zh-CN" dirty="0"/>
              <a:t>1</a:t>
            </a:r>
            <a:r>
              <a:rPr lang="zh-CN" altLang="en-US" dirty="0"/>
              <a:t>（</a:t>
            </a:r>
            <a:r>
              <a:rPr lang="en-US" altLang="zh-CN" dirty="0"/>
              <a:t>P22</a:t>
            </a:r>
            <a:r>
              <a:rPr lang="zh-CN" altLang="en-US" dirty="0"/>
              <a:t>例</a:t>
            </a:r>
            <a:r>
              <a:rPr lang="en-US" altLang="zh-CN" dirty="0"/>
              <a:t>2-6</a:t>
            </a:r>
            <a:r>
              <a:rPr lang="zh-CN" altLang="en-US" dirty="0"/>
              <a:t>）：凸函数的判定</a:t>
            </a:r>
            <a:endParaRPr lang="en-US" altLang="zh-CN" dirty="0"/>
          </a:p>
          <a:p>
            <a:pPr lvl="1"/>
            <a:r>
              <a:rPr lang="zh-CN" altLang="en-US" dirty="0"/>
              <a:t>判断下面函数是否为凸函数</a:t>
            </a:r>
            <a:endParaRPr lang="en-US" altLang="zh-CN" dirty="0"/>
          </a:p>
          <a:p>
            <a:pPr lvl="2"/>
            <a:endParaRPr lang="en-US" altLang="zh-CN" dirty="0"/>
          </a:p>
          <a:p>
            <a:pPr lvl="2"/>
            <a:endParaRPr lang="en-US" altLang="zh-CN" dirty="0"/>
          </a:p>
        </p:txBody>
      </p:sp>
      <p:sp>
        <p:nvSpPr>
          <p:cNvPr id="4" name="日期占位符 3">
            <a:extLst>
              <a:ext uri="{FF2B5EF4-FFF2-40B4-BE49-F238E27FC236}">
                <a16:creationId xmlns:a16="http://schemas.microsoft.com/office/drawing/2014/main" id="{CFE60535-D717-42C3-8F46-6A4B820225BB}"/>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73EED2BA-8F1E-4E57-9F06-013D603B1A7F}"/>
              </a:ext>
            </a:extLst>
          </p:cNvPr>
          <p:cNvSpPr>
            <a:spLocks noGrp="1"/>
          </p:cNvSpPr>
          <p:nvPr>
            <p:ph type="sldNum" sz="quarter" idx="12"/>
          </p:nvPr>
        </p:nvSpPr>
        <p:spPr/>
        <p:txBody>
          <a:bodyPr/>
          <a:lstStyle/>
          <a:p>
            <a:fld id="{7AC79822-BC0D-4DE8-A7E5-90A3732A2B82}" type="slidenum">
              <a:rPr lang="zh-CN" altLang="en-US" smtClean="0"/>
              <a:pPr/>
              <a:t>16</a:t>
            </a:fld>
            <a:endParaRPr lang="en-US" altLang="zh-CN" dirty="0"/>
          </a:p>
        </p:txBody>
      </p:sp>
      <p:graphicFrame>
        <p:nvGraphicFramePr>
          <p:cNvPr id="6" name="对象 5">
            <a:extLst>
              <a:ext uri="{FF2B5EF4-FFF2-40B4-BE49-F238E27FC236}">
                <a16:creationId xmlns:a16="http://schemas.microsoft.com/office/drawing/2014/main" id="{941A56C5-9840-41BF-8DE0-4A12F329AE46}"/>
              </a:ext>
            </a:extLst>
          </p:cNvPr>
          <p:cNvGraphicFramePr>
            <a:graphicFrameLocks noChangeAspect="1"/>
          </p:cNvGraphicFramePr>
          <p:nvPr>
            <p:extLst>
              <p:ext uri="{D42A27DB-BD31-4B8C-83A1-F6EECF244321}">
                <p14:modId xmlns:p14="http://schemas.microsoft.com/office/powerpoint/2010/main" val="2723636351"/>
              </p:ext>
            </p:extLst>
          </p:nvPr>
        </p:nvGraphicFramePr>
        <p:xfrm>
          <a:off x="704528" y="2564904"/>
          <a:ext cx="7247578" cy="696882"/>
        </p:xfrm>
        <a:graphic>
          <a:graphicData uri="http://schemas.openxmlformats.org/presentationml/2006/ole">
            <mc:AlternateContent xmlns:mc="http://schemas.openxmlformats.org/markup-compatibility/2006">
              <mc:Choice xmlns:v="urn:schemas-microsoft-com:vml" Requires="v">
                <p:oleObj name="Equation" r:id="rId2" imgW="1981080" imgH="190440" progId="Equation.DSMT4">
                  <p:embed/>
                </p:oleObj>
              </mc:Choice>
              <mc:Fallback>
                <p:oleObj name="Equation" r:id="rId2" imgW="1981080" imgH="190440" progId="Equation.DSMT4">
                  <p:embed/>
                  <p:pic>
                    <p:nvPicPr>
                      <p:cNvPr id="0" name=""/>
                      <p:cNvPicPr/>
                      <p:nvPr/>
                    </p:nvPicPr>
                    <p:blipFill>
                      <a:blip r:embed="rId3"/>
                      <a:stretch>
                        <a:fillRect/>
                      </a:stretch>
                    </p:blipFill>
                    <p:spPr>
                      <a:xfrm>
                        <a:off x="704528" y="2564904"/>
                        <a:ext cx="7247578" cy="696882"/>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6185BB58-B5AE-4337-9868-344651A40B71}"/>
              </a:ext>
            </a:extLst>
          </p:cNvPr>
          <p:cNvSpPr txBox="1"/>
          <p:nvPr/>
        </p:nvSpPr>
        <p:spPr>
          <a:xfrm>
            <a:off x="848544" y="3791981"/>
            <a:ext cx="6511719" cy="523220"/>
          </a:xfrm>
          <a:prstGeom prst="rect">
            <a:avLst/>
          </a:prstGeom>
          <a:noFill/>
        </p:spPr>
        <p:txBody>
          <a:bodyPr wrap="none" rtlCol="0">
            <a:spAutoFit/>
          </a:bodyPr>
          <a:lstStyle/>
          <a:p>
            <a:r>
              <a:rPr lang="zh-CN" altLang="en-US" sz="2800" dirty="0"/>
              <a:t>解题思路：可直接利用</a:t>
            </a:r>
            <a:r>
              <a:rPr lang="en-US" altLang="zh-CN" sz="2800" dirty="0"/>
              <a:t>Hessian</a:t>
            </a:r>
            <a:r>
              <a:rPr lang="zh-CN" altLang="en-US" sz="2800" dirty="0"/>
              <a:t>矩阵判断</a:t>
            </a:r>
          </a:p>
        </p:txBody>
      </p:sp>
    </p:spTree>
    <p:extLst>
      <p:ext uri="{BB962C8B-B14F-4D97-AF65-F5344CB8AC3E}">
        <p14:creationId xmlns:p14="http://schemas.microsoft.com/office/powerpoint/2010/main" val="3029719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childTnLst>
                          </p:cTn>
                        </p:par>
                        <p:par>
                          <p:cTn id="11" fill="hold">
                            <p:stCondLst>
                              <p:cond delay="500"/>
                            </p:stCondLst>
                            <p:childTnLst>
                              <p:par>
                                <p:cTn id="12" presetID="16" presetClass="entr" presetSubtype="21"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inVertical)">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9D27DE-2212-4C68-AF69-592E396DAB1D}"/>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86B671D1-D911-4599-88FF-AE0E4C9612CE}"/>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5464E8BA-D410-4D6F-A614-37E20B035B20}"/>
              </a:ext>
            </a:extLst>
          </p:cNvPr>
          <p:cNvSpPr>
            <a:spLocks noGrp="1"/>
          </p:cNvSpPr>
          <p:nvPr>
            <p:ph type="sldNum" sz="quarter" idx="12"/>
          </p:nvPr>
        </p:nvSpPr>
        <p:spPr/>
        <p:txBody>
          <a:bodyPr/>
          <a:lstStyle/>
          <a:p>
            <a:fld id="{7AC79822-BC0D-4DE8-A7E5-90A3732A2B82}" type="slidenum">
              <a:rPr lang="zh-CN" altLang="en-US" smtClean="0"/>
              <a:pPr/>
              <a:t>17</a:t>
            </a:fld>
            <a:endParaRPr lang="en-US" altLang="zh-CN" dirty="0"/>
          </a:p>
        </p:txBody>
      </p:sp>
      <p:graphicFrame>
        <p:nvGraphicFramePr>
          <p:cNvPr id="6" name="对象 5">
            <a:extLst>
              <a:ext uri="{FF2B5EF4-FFF2-40B4-BE49-F238E27FC236}">
                <a16:creationId xmlns:a16="http://schemas.microsoft.com/office/drawing/2014/main" id="{4574684A-2F58-4A71-A309-9D3F7DBB601F}"/>
              </a:ext>
            </a:extLst>
          </p:cNvPr>
          <p:cNvGraphicFramePr>
            <a:graphicFrameLocks noChangeAspect="1"/>
          </p:cNvGraphicFramePr>
          <p:nvPr>
            <p:extLst>
              <p:ext uri="{D42A27DB-BD31-4B8C-83A1-F6EECF244321}">
                <p14:modId xmlns:p14="http://schemas.microsoft.com/office/powerpoint/2010/main" val="3073260781"/>
              </p:ext>
            </p:extLst>
          </p:nvPr>
        </p:nvGraphicFramePr>
        <p:xfrm>
          <a:off x="560512" y="1268760"/>
          <a:ext cx="7247578" cy="696882"/>
        </p:xfrm>
        <a:graphic>
          <a:graphicData uri="http://schemas.openxmlformats.org/presentationml/2006/ole">
            <mc:AlternateContent xmlns:mc="http://schemas.openxmlformats.org/markup-compatibility/2006">
              <mc:Choice xmlns:v="urn:schemas-microsoft-com:vml" Requires="v">
                <p:oleObj name="Equation" r:id="rId2" imgW="1981080" imgH="190440" progId="Equation.DSMT4">
                  <p:embed/>
                </p:oleObj>
              </mc:Choice>
              <mc:Fallback>
                <p:oleObj name="Equation" r:id="rId2" imgW="1981080" imgH="190440" progId="Equation.DSMT4">
                  <p:embed/>
                  <p:pic>
                    <p:nvPicPr>
                      <p:cNvPr id="6" name="对象 5">
                        <a:extLst>
                          <a:ext uri="{FF2B5EF4-FFF2-40B4-BE49-F238E27FC236}">
                            <a16:creationId xmlns:a16="http://schemas.microsoft.com/office/drawing/2014/main" id="{941A56C5-9840-41BF-8DE0-4A12F329AE46}"/>
                          </a:ext>
                        </a:extLst>
                      </p:cNvPr>
                      <p:cNvPicPr/>
                      <p:nvPr/>
                    </p:nvPicPr>
                    <p:blipFill>
                      <a:blip r:embed="rId3"/>
                      <a:stretch>
                        <a:fillRect/>
                      </a:stretch>
                    </p:blipFill>
                    <p:spPr>
                      <a:xfrm>
                        <a:off x="560512" y="1268760"/>
                        <a:ext cx="7247578" cy="696882"/>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AF57202F-06B7-4688-957E-2AEE43EBA6D5}"/>
              </a:ext>
            </a:extLst>
          </p:cNvPr>
          <p:cNvGraphicFramePr>
            <a:graphicFrameLocks noChangeAspect="1"/>
          </p:cNvGraphicFramePr>
          <p:nvPr>
            <p:extLst>
              <p:ext uri="{D42A27DB-BD31-4B8C-83A1-F6EECF244321}">
                <p14:modId xmlns:p14="http://schemas.microsoft.com/office/powerpoint/2010/main" val="825411314"/>
              </p:ext>
            </p:extLst>
          </p:nvPr>
        </p:nvGraphicFramePr>
        <p:xfrm>
          <a:off x="586979" y="1965642"/>
          <a:ext cx="3285901" cy="2127181"/>
        </p:xfrm>
        <a:graphic>
          <a:graphicData uri="http://schemas.openxmlformats.org/presentationml/2006/ole">
            <mc:AlternateContent xmlns:mc="http://schemas.openxmlformats.org/markup-compatibility/2006">
              <mc:Choice xmlns:v="urn:schemas-microsoft-com:vml" Requires="v">
                <p:oleObj name="Equation" r:id="rId4" imgW="1079280" imgH="698400" progId="Equation.DSMT4">
                  <p:embed/>
                </p:oleObj>
              </mc:Choice>
              <mc:Fallback>
                <p:oleObj name="Equation" r:id="rId4" imgW="1079280" imgH="698400" progId="Equation.DSMT4">
                  <p:embed/>
                  <p:pic>
                    <p:nvPicPr>
                      <p:cNvPr id="6" name="对象 5">
                        <a:extLst>
                          <a:ext uri="{FF2B5EF4-FFF2-40B4-BE49-F238E27FC236}">
                            <a16:creationId xmlns:a16="http://schemas.microsoft.com/office/drawing/2014/main" id="{4574684A-2F58-4A71-A309-9D3F7DBB601F}"/>
                          </a:ext>
                        </a:extLst>
                      </p:cNvPr>
                      <p:cNvPicPr/>
                      <p:nvPr/>
                    </p:nvPicPr>
                    <p:blipFill>
                      <a:blip r:embed="rId5"/>
                      <a:stretch>
                        <a:fillRect/>
                      </a:stretch>
                    </p:blipFill>
                    <p:spPr>
                      <a:xfrm>
                        <a:off x="586979" y="1965642"/>
                        <a:ext cx="3285901" cy="2127181"/>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33E145A4-BCA4-4058-ABE0-9E8EB7C0A814}"/>
              </a:ext>
            </a:extLst>
          </p:cNvPr>
          <p:cNvGraphicFramePr>
            <a:graphicFrameLocks noChangeAspect="1"/>
          </p:cNvGraphicFramePr>
          <p:nvPr>
            <p:extLst>
              <p:ext uri="{D42A27DB-BD31-4B8C-83A1-F6EECF244321}">
                <p14:modId xmlns:p14="http://schemas.microsoft.com/office/powerpoint/2010/main" val="4057094770"/>
              </p:ext>
            </p:extLst>
          </p:nvPr>
        </p:nvGraphicFramePr>
        <p:xfrm>
          <a:off x="3862955" y="1965641"/>
          <a:ext cx="5298615" cy="2127181"/>
        </p:xfrm>
        <a:graphic>
          <a:graphicData uri="http://schemas.openxmlformats.org/presentationml/2006/ole">
            <mc:AlternateContent xmlns:mc="http://schemas.openxmlformats.org/markup-compatibility/2006">
              <mc:Choice xmlns:v="urn:schemas-microsoft-com:vml" Requires="v">
                <p:oleObj name="Equation" r:id="rId6" imgW="1739880" imgH="698400" progId="Equation.DSMT4">
                  <p:embed/>
                </p:oleObj>
              </mc:Choice>
              <mc:Fallback>
                <p:oleObj name="Equation" r:id="rId6" imgW="1739880" imgH="698400" progId="Equation.DSMT4">
                  <p:embed/>
                  <p:pic>
                    <p:nvPicPr>
                      <p:cNvPr id="0" name=""/>
                      <p:cNvPicPr/>
                      <p:nvPr/>
                    </p:nvPicPr>
                    <p:blipFill>
                      <a:blip r:embed="rId7"/>
                      <a:stretch>
                        <a:fillRect/>
                      </a:stretch>
                    </p:blipFill>
                    <p:spPr>
                      <a:xfrm>
                        <a:off x="3862955" y="1965641"/>
                        <a:ext cx="5298615" cy="2127181"/>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AF73F5DA-CD60-4C31-9321-98E104E409B6}"/>
              </a:ext>
            </a:extLst>
          </p:cNvPr>
          <p:cNvGraphicFramePr>
            <a:graphicFrameLocks noChangeAspect="1"/>
          </p:cNvGraphicFramePr>
          <p:nvPr>
            <p:extLst>
              <p:ext uri="{D42A27DB-BD31-4B8C-83A1-F6EECF244321}">
                <p14:modId xmlns:p14="http://schemas.microsoft.com/office/powerpoint/2010/main" val="1546800699"/>
              </p:ext>
            </p:extLst>
          </p:nvPr>
        </p:nvGraphicFramePr>
        <p:xfrm>
          <a:off x="1480444" y="4581128"/>
          <a:ext cx="1778000" cy="1122363"/>
        </p:xfrm>
        <a:graphic>
          <a:graphicData uri="http://schemas.openxmlformats.org/presentationml/2006/ole">
            <mc:AlternateContent xmlns:mc="http://schemas.openxmlformats.org/markup-compatibility/2006">
              <mc:Choice xmlns:v="urn:schemas-microsoft-com:vml" Requires="v">
                <p:oleObj name="Equation" r:id="rId8" imgW="583920" imgH="368280" progId="Equation.DSMT4">
                  <p:embed/>
                </p:oleObj>
              </mc:Choice>
              <mc:Fallback>
                <p:oleObj name="Equation" r:id="rId8" imgW="583920" imgH="368280" progId="Equation.DSMT4">
                  <p:embed/>
                  <p:pic>
                    <p:nvPicPr>
                      <p:cNvPr id="10" name="对象 9">
                        <a:extLst>
                          <a:ext uri="{FF2B5EF4-FFF2-40B4-BE49-F238E27FC236}">
                            <a16:creationId xmlns:a16="http://schemas.microsoft.com/office/drawing/2014/main" id="{33E145A4-BCA4-4058-ABE0-9E8EB7C0A814}"/>
                          </a:ext>
                        </a:extLst>
                      </p:cNvPr>
                      <p:cNvPicPr/>
                      <p:nvPr/>
                    </p:nvPicPr>
                    <p:blipFill>
                      <a:blip r:embed="rId9"/>
                      <a:stretch>
                        <a:fillRect/>
                      </a:stretch>
                    </p:blipFill>
                    <p:spPr>
                      <a:xfrm>
                        <a:off x="1480444" y="4581128"/>
                        <a:ext cx="1778000" cy="1122363"/>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CAE8268B-69DA-4E0F-BD51-E566899380CE}"/>
              </a:ext>
            </a:extLst>
          </p:cNvPr>
          <p:cNvGraphicFramePr>
            <a:graphicFrameLocks noChangeAspect="1"/>
          </p:cNvGraphicFramePr>
          <p:nvPr>
            <p:extLst>
              <p:ext uri="{D42A27DB-BD31-4B8C-83A1-F6EECF244321}">
                <p14:modId xmlns:p14="http://schemas.microsoft.com/office/powerpoint/2010/main" val="1630602512"/>
              </p:ext>
            </p:extLst>
          </p:nvPr>
        </p:nvGraphicFramePr>
        <p:xfrm>
          <a:off x="4184301" y="4190572"/>
          <a:ext cx="4754562" cy="1122363"/>
        </p:xfrm>
        <a:graphic>
          <a:graphicData uri="http://schemas.openxmlformats.org/presentationml/2006/ole">
            <mc:AlternateContent xmlns:mc="http://schemas.openxmlformats.org/markup-compatibility/2006">
              <mc:Choice xmlns:v="urn:schemas-microsoft-com:vml" Requires="v">
                <p:oleObj name="Equation" r:id="rId10" imgW="1562040" imgH="368280" progId="Equation.DSMT4">
                  <p:embed/>
                </p:oleObj>
              </mc:Choice>
              <mc:Fallback>
                <p:oleObj name="Equation" r:id="rId10" imgW="1562040" imgH="368280" progId="Equation.DSMT4">
                  <p:embed/>
                  <p:pic>
                    <p:nvPicPr>
                      <p:cNvPr id="11" name="对象 10">
                        <a:extLst>
                          <a:ext uri="{FF2B5EF4-FFF2-40B4-BE49-F238E27FC236}">
                            <a16:creationId xmlns:a16="http://schemas.microsoft.com/office/drawing/2014/main" id="{AF73F5DA-CD60-4C31-9321-98E104E409B6}"/>
                          </a:ext>
                        </a:extLst>
                      </p:cNvPr>
                      <p:cNvPicPr/>
                      <p:nvPr/>
                    </p:nvPicPr>
                    <p:blipFill>
                      <a:blip r:embed="rId11"/>
                      <a:stretch>
                        <a:fillRect/>
                      </a:stretch>
                    </p:blipFill>
                    <p:spPr>
                      <a:xfrm>
                        <a:off x="4184301" y="4190572"/>
                        <a:ext cx="4754562" cy="1122363"/>
                      </a:xfrm>
                      <a:prstGeom prst="rect">
                        <a:avLst/>
                      </a:prstGeom>
                    </p:spPr>
                  </p:pic>
                </p:oleObj>
              </mc:Fallback>
            </mc:AlternateContent>
          </a:graphicData>
        </a:graphic>
      </p:graphicFrame>
      <p:sp>
        <p:nvSpPr>
          <p:cNvPr id="14" name="箭头: 右 13">
            <a:extLst>
              <a:ext uri="{FF2B5EF4-FFF2-40B4-BE49-F238E27FC236}">
                <a16:creationId xmlns:a16="http://schemas.microsoft.com/office/drawing/2014/main" id="{BE9E7018-CB32-44FB-BBD6-A9140FBE1CBD}"/>
              </a:ext>
            </a:extLst>
          </p:cNvPr>
          <p:cNvSpPr/>
          <p:nvPr/>
        </p:nvSpPr>
        <p:spPr bwMode="auto">
          <a:xfrm>
            <a:off x="3440832" y="5589240"/>
            <a:ext cx="743469" cy="482146"/>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0373DEAB-0E3A-401F-9895-7D7F9C63DC45}"/>
                  </a:ext>
                </a:extLst>
              </p:cNvPr>
              <p:cNvSpPr txBox="1"/>
              <p:nvPr/>
            </p:nvSpPr>
            <p:spPr>
              <a:xfrm>
                <a:off x="4519997" y="5609721"/>
                <a:ext cx="3677032" cy="461665"/>
              </a:xfrm>
              <a:prstGeom prst="rect">
                <a:avLst/>
              </a:prstGeom>
              <a:noFill/>
            </p:spPr>
            <p:txBody>
              <a:bodyPr wrap="none" rtlCol="0">
                <a:spAutoFit/>
              </a:bodyPr>
              <a:lstStyle/>
              <a:p>
                <a14:m>
                  <m:oMath xmlns:m="http://schemas.openxmlformats.org/officeDocument/2006/math">
                    <m:r>
                      <a:rPr lang="en-US" altLang="zh-CN" sz="2400" i="1" dirty="0" smtClean="0">
                        <a:latin typeface="Cambria Math" panose="02040503050406030204" pitchFamily="18" charset="0"/>
                      </a:rPr>
                      <m:t>𝐻</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𝑋</m:t>
                    </m:r>
                    <m:r>
                      <a:rPr lang="en-US" altLang="zh-CN" sz="2400" i="1" dirty="0" smtClean="0">
                        <a:latin typeface="Cambria Math" panose="02040503050406030204" pitchFamily="18" charset="0"/>
                      </a:rPr>
                      <m:t>)</m:t>
                    </m:r>
                  </m:oMath>
                </a14:m>
                <a:r>
                  <a:rPr lang="zh-CN" altLang="en-US" sz="2400" dirty="0"/>
                  <a:t>正定，</a:t>
                </a:r>
                <a14:m>
                  <m:oMath xmlns:m="http://schemas.openxmlformats.org/officeDocument/2006/math">
                    <m:r>
                      <a:rPr lang="en-US" altLang="zh-CN" sz="2400" i="1" dirty="0" smtClean="0">
                        <a:latin typeface="Cambria Math" panose="02040503050406030204" pitchFamily="18" charset="0"/>
                      </a:rPr>
                      <m:t>𝑓</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𝑋</m:t>
                    </m:r>
                    <m:r>
                      <a:rPr lang="en-US" altLang="zh-CN" sz="2400" i="1" dirty="0" smtClean="0">
                        <a:latin typeface="Cambria Math" panose="02040503050406030204" pitchFamily="18" charset="0"/>
                      </a:rPr>
                      <m:t>)</m:t>
                    </m:r>
                  </m:oMath>
                </a14:m>
                <a:r>
                  <a:rPr lang="zh-CN" altLang="en-US" sz="2400" dirty="0"/>
                  <a:t>是凸函数</a:t>
                </a:r>
              </a:p>
            </p:txBody>
          </p:sp>
        </mc:Choice>
        <mc:Fallback xmlns="">
          <p:sp>
            <p:nvSpPr>
              <p:cNvPr id="15" name="文本框 14">
                <a:extLst>
                  <a:ext uri="{FF2B5EF4-FFF2-40B4-BE49-F238E27FC236}">
                    <a16:creationId xmlns:a16="http://schemas.microsoft.com/office/drawing/2014/main" id="{0373DEAB-0E3A-401F-9895-7D7F9C63DC45}"/>
                  </a:ext>
                </a:extLst>
              </p:cNvPr>
              <p:cNvSpPr txBox="1">
                <a:spLocks noRot="1" noChangeAspect="1" noMove="1" noResize="1" noEditPoints="1" noAdjustHandles="1" noChangeArrowheads="1" noChangeShapeType="1" noTextEdit="1"/>
              </p:cNvSpPr>
              <p:nvPr/>
            </p:nvSpPr>
            <p:spPr>
              <a:xfrm>
                <a:off x="4519997" y="5609721"/>
                <a:ext cx="3677032" cy="461665"/>
              </a:xfrm>
              <a:prstGeom prst="rect">
                <a:avLst/>
              </a:prstGeom>
              <a:blipFill>
                <a:blip r:embed="rId13"/>
                <a:stretch>
                  <a:fillRect l="-331" t="-10526" r="-1490" b="-2894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42185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down)">
                                      <p:cBhvr>
                                        <p:cTn id="32" dur="500"/>
                                        <p:tgtEl>
                                          <p:spTgt spid="14"/>
                                        </p:tgtEl>
                                      </p:cBhvr>
                                    </p:animEffect>
                                  </p:childTnLst>
                                </p:cTn>
                              </p:par>
                            </p:childTnLst>
                          </p:cTn>
                        </p:par>
                        <p:par>
                          <p:cTn id="33" fill="hold">
                            <p:stCondLst>
                              <p:cond delay="500"/>
                            </p:stCondLst>
                            <p:childTnLst>
                              <p:par>
                                <p:cTn id="34" presetID="16" presetClass="entr" presetSubtype="21" fill="hold" grpId="0" nodeType="after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barn(inVertical)">
                                      <p:cBhvr>
                                        <p:cTn id="3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8EC217-CD6E-439F-87C0-35F5F56C5116}"/>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0A7F0793-9FC3-4AEB-AFB8-4D8136E7EE74}"/>
              </a:ext>
            </a:extLst>
          </p:cNvPr>
          <p:cNvSpPr>
            <a:spLocks noGrp="1"/>
          </p:cNvSpPr>
          <p:nvPr>
            <p:ph idx="1"/>
          </p:nvPr>
        </p:nvSpPr>
        <p:spPr/>
        <p:txBody>
          <a:bodyPr/>
          <a:lstStyle/>
          <a:p>
            <a:r>
              <a:rPr lang="zh-CN" altLang="en-US" dirty="0"/>
              <a:t>证明下列函数是否是凸函数：</a:t>
            </a:r>
          </a:p>
        </p:txBody>
      </p:sp>
      <p:sp>
        <p:nvSpPr>
          <p:cNvPr id="4" name="日期占位符 3">
            <a:extLst>
              <a:ext uri="{FF2B5EF4-FFF2-40B4-BE49-F238E27FC236}">
                <a16:creationId xmlns:a16="http://schemas.microsoft.com/office/drawing/2014/main" id="{0C772E76-EF4D-4A0D-9FCF-7F0871D270CC}"/>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235FDF6D-6085-43AF-A624-49BF7BD982F4}"/>
              </a:ext>
            </a:extLst>
          </p:cNvPr>
          <p:cNvSpPr>
            <a:spLocks noGrp="1"/>
          </p:cNvSpPr>
          <p:nvPr>
            <p:ph type="sldNum" sz="quarter" idx="12"/>
          </p:nvPr>
        </p:nvSpPr>
        <p:spPr/>
        <p:txBody>
          <a:bodyPr/>
          <a:lstStyle/>
          <a:p>
            <a:fld id="{7AC79822-BC0D-4DE8-A7E5-90A3732A2B82}" type="slidenum">
              <a:rPr lang="zh-CN" altLang="en-US" smtClean="0"/>
              <a:pPr/>
              <a:t>18</a:t>
            </a:fld>
            <a:endParaRPr lang="en-US" altLang="zh-CN" dirty="0"/>
          </a:p>
        </p:txBody>
      </p:sp>
      <p:graphicFrame>
        <p:nvGraphicFramePr>
          <p:cNvPr id="6" name="对象 5">
            <a:extLst>
              <a:ext uri="{FF2B5EF4-FFF2-40B4-BE49-F238E27FC236}">
                <a16:creationId xmlns:a16="http://schemas.microsoft.com/office/drawing/2014/main" id="{CD562715-BCA6-42D5-9256-38C3CB13E47A}"/>
              </a:ext>
            </a:extLst>
          </p:cNvPr>
          <p:cNvGraphicFramePr>
            <a:graphicFrameLocks noChangeAspect="1"/>
          </p:cNvGraphicFramePr>
          <p:nvPr>
            <p:extLst>
              <p:ext uri="{D42A27DB-BD31-4B8C-83A1-F6EECF244321}">
                <p14:modId xmlns:p14="http://schemas.microsoft.com/office/powerpoint/2010/main" val="3644161"/>
              </p:ext>
            </p:extLst>
          </p:nvPr>
        </p:nvGraphicFramePr>
        <p:xfrm>
          <a:off x="920552" y="1844824"/>
          <a:ext cx="7128792" cy="792088"/>
        </p:xfrm>
        <a:graphic>
          <a:graphicData uri="http://schemas.openxmlformats.org/presentationml/2006/ole">
            <mc:AlternateContent xmlns:mc="http://schemas.openxmlformats.org/markup-compatibility/2006">
              <mc:Choice xmlns:v="urn:schemas-microsoft-com:vml" Requires="v">
                <p:oleObj name="Equation" r:id="rId2" imgW="2171520" imgH="241200" progId="Equation.DSMT4">
                  <p:embed/>
                </p:oleObj>
              </mc:Choice>
              <mc:Fallback>
                <p:oleObj name="Equation" r:id="rId2" imgW="2171520" imgH="241200" progId="Equation.DSMT4">
                  <p:embed/>
                  <p:pic>
                    <p:nvPicPr>
                      <p:cNvPr id="0" name=""/>
                      <p:cNvPicPr/>
                      <p:nvPr/>
                    </p:nvPicPr>
                    <p:blipFill>
                      <a:blip r:embed="rId3"/>
                      <a:stretch>
                        <a:fillRect/>
                      </a:stretch>
                    </p:blipFill>
                    <p:spPr>
                      <a:xfrm>
                        <a:off x="920552" y="1844824"/>
                        <a:ext cx="7128792" cy="792088"/>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835A1821-1552-4A14-B103-857B8F0C7671}"/>
              </a:ext>
            </a:extLst>
          </p:cNvPr>
          <p:cNvGraphicFramePr>
            <a:graphicFrameLocks noChangeAspect="1"/>
          </p:cNvGraphicFramePr>
          <p:nvPr>
            <p:extLst>
              <p:ext uri="{D42A27DB-BD31-4B8C-83A1-F6EECF244321}">
                <p14:modId xmlns:p14="http://schemas.microsoft.com/office/powerpoint/2010/main" val="2277193169"/>
              </p:ext>
            </p:extLst>
          </p:nvPr>
        </p:nvGraphicFramePr>
        <p:xfrm>
          <a:off x="920552" y="2699536"/>
          <a:ext cx="7128792" cy="792088"/>
        </p:xfrm>
        <a:graphic>
          <a:graphicData uri="http://schemas.openxmlformats.org/presentationml/2006/ole">
            <mc:AlternateContent xmlns:mc="http://schemas.openxmlformats.org/markup-compatibility/2006">
              <mc:Choice xmlns:v="urn:schemas-microsoft-com:vml" Requires="v">
                <p:oleObj name="Equation" r:id="rId4" imgW="2171520" imgH="241200" progId="Equation.DSMT4">
                  <p:embed/>
                </p:oleObj>
              </mc:Choice>
              <mc:Fallback>
                <p:oleObj name="Equation" r:id="rId4" imgW="2171520" imgH="241200" progId="Equation.DSMT4">
                  <p:embed/>
                  <p:pic>
                    <p:nvPicPr>
                      <p:cNvPr id="6" name="对象 5">
                        <a:extLst>
                          <a:ext uri="{FF2B5EF4-FFF2-40B4-BE49-F238E27FC236}">
                            <a16:creationId xmlns:a16="http://schemas.microsoft.com/office/drawing/2014/main" id="{CD562715-BCA6-42D5-9256-38C3CB13E47A}"/>
                          </a:ext>
                        </a:extLst>
                      </p:cNvPr>
                      <p:cNvPicPr/>
                      <p:nvPr/>
                    </p:nvPicPr>
                    <p:blipFill>
                      <a:blip r:embed="rId5"/>
                      <a:stretch>
                        <a:fillRect/>
                      </a:stretch>
                    </p:blipFill>
                    <p:spPr>
                      <a:xfrm>
                        <a:off x="920552" y="2699536"/>
                        <a:ext cx="7128792" cy="792088"/>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75CD7A4A-CA61-47B1-9700-28151383FAB6}"/>
              </a:ext>
            </a:extLst>
          </p:cNvPr>
          <p:cNvGraphicFramePr>
            <a:graphicFrameLocks noChangeAspect="1"/>
          </p:cNvGraphicFramePr>
          <p:nvPr>
            <p:extLst>
              <p:ext uri="{D42A27DB-BD31-4B8C-83A1-F6EECF244321}">
                <p14:modId xmlns:p14="http://schemas.microsoft.com/office/powerpoint/2010/main" val="292101248"/>
              </p:ext>
            </p:extLst>
          </p:nvPr>
        </p:nvGraphicFramePr>
        <p:xfrm>
          <a:off x="920750" y="3446463"/>
          <a:ext cx="7127875" cy="917575"/>
        </p:xfrm>
        <a:graphic>
          <a:graphicData uri="http://schemas.openxmlformats.org/presentationml/2006/ole">
            <mc:AlternateContent xmlns:mc="http://schemas.openxmlformats.org/markup-compatibility/2006">
              <mc:Choice xmlns:v="urn:schemas-microsoft-com:vml" Requires="v">
                <p:oleObj name="Equation" r:id="rId6" imgW="2171520" imgH="279360" progId="Equation.DSMT4">
                  <p:embed/>
                </p:oleObj>
              </mc:Choice>
              <mc:Fallback>
                <p:oleObj name="Equation" r:id="rId6" imgW="2171520" imgH="279360" progId="Equation.DSMT4">
                  <p:embed/>
                  <p:pic>
                    <p:nvPicPr>
                      <p:cNvPr id="6" name="对象 5">
                        <a:extLst>
                          <a:ext uri="{FF2B5EF4-FFF2-40B4-BE49-F238E27FC236}">
                            <a16:creationId xmlns:a16="http://schemas.microsoft.com/office/drawing/2014/main" id="{CD562715-BCA6-42D5-9256-38C3CB13E47A}"/>
                          </a:ext>
                        </a:extLst>
                      </p:cNvPr>
                      <p:cNvPicPr/>
                      <p:nvPr/>
                    </p:nvPicPr>
                    <p:blipFill>
                      <a:blip r:embed="rId7"/>
                      <a:stretch>
                        <a:fillRect/>
                      </a:stretch>
                    </p:blipFill>
                    <p:spPr>
                      <a:xfrm>
                        <a:off x="920750" y="3446463"/>
                        <a:ext cx="7127875" cy="917575"/>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F2BEF856-6508-4A3A-89A2-A814F12366F4}"/>
              </a:ext>
            </a:extLst>
          </p:cNvPr>
          <p:cNvGraphicFramePr>
            <a:graphicFrameLocks noChangeAspect="1"/>
          </p:cNvGraphicFramePr>
          <p:nvPr>
            <p:extLst>
              <p:ext uri="{D42A27DB-BD31-4B8C-83A1-F6EECF244321}">
                <p14:modId xmlns:p14="http://schemas.microsoft.com/office/powerpoint/2010/main" val="1953099622"/>
              </p:ext>
            </p:extLst>
          </p:nvPr>
        </p:nvGraphicFramePr>
        <p:xfrm>
          <a:off x="920552" y="4436047"/>
          <a:ext cx="3835400" cy="792162"/>
        </p:xfrm>
        <a:graphic>
          <a:graphicData uri="http://schemas.openxmlformats.org/presentationml/2006/ole">
            <mc:AlternateContent xmlns:mc="http://schemas.openxmlformats.org/markup-compatibility/2006">
              <mc:Choice xmlns:v="urn:schemas-microsoft-com:vml" Requires="v">
                <p:oleObj name="Equation" r:id="rId8" imgW="1168200" imgH="241200" progId="Equation.DSMT4">
                  <p:embed/>
                </p:oleObj>
              </mc:Choice>
              <mc:Fallback>
                <p:oleObj name="Equation" r:id="rId8" imgW="1168200" imgH="241200" progId="Equation.DSMT4">
                  <p:embed/>
                  <p:pic>
                    <p:nvPicPr>
                      <p:cNvPr id="8" name="对象 7">
                        <a:extLst>
                          <a:ext uri="{FF2B5EF4-FFF2-40B4-BE49-F238E27FC236}">
                            <a16:creationId xmlns:a16="http://schemas.microsoft.com/office/drawing/2014/main" id="{75CD7A4A-CA61-47B1-9700-28151383FAB6}"/>
                          </a:ext>
                        </a:extLst>
                      </p:cNvPr>
                      <p:cNvPicPr/>
                      <p:nvPr/>
                    </p:nvPicPr>
                    <p:blipFill>
                      <a:blip r:embed="rId9"/>
                      <a:stretch>
                        <a:fillRect/>
                      </a:stretch>
                    </p:blipFill>
                    <p:spPr>
                      <a:xfrm>
                        <a:off x="920552" y="4436047"/>
                        <a:ext cx="3835400" cy="79216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28CE193A-7576-4F43-B455-98674366735C}"/>
              </a:ext>
            </a:extLst>
          </p:cNvPr>
          <p:cNvGraphicFramePr>
            <a:graphicFrameLocks noChangeAspect="1"/>
          </p:cNvGraphicFramePr>
          <p:nvPr>
            <p:extLst>
              <p:ext uri="{D42A27DB-BD31-4B8C-83A1-F6EECF244321}">
                <p14:modId xmlns:p14="http://schemas.microsoft.com/office/powerpoint/2010/main" val="2868644010"/>
              </p:ext>
            </p:extLst>
          </p:nvPr>
        </p:nvGraphicFramePr>
        <p:xfrm>
          <a:off x="920552" y="5265167"/>
          <a:ext cx="8796338" cy="792162"/>
        </p:xfrm>
        <a:graphic>
          <a:graphicData uri="http://schemas.openxmlformats.org/presentationml/2006/ole">
            <mc:AlternateContent xmlns:mc="http://schemas.openxmlformats.org/markup-compatibility/2006">
              <mc:Choice xmlns:v="urn:schemas-microsoft-com:vml" Requires="v">
                <p:oleObj name="Equation" r:id="rId10" imgW="2679480" imgH="241200" progId="Equation.DSMT4">
                  <p:embed/>
                </p:oleObj>
              </mc:Choice>
              <mc:Fallback>
                <p:oleObj name="Equation" r:id="rId10" imgW="2679480" imgH="241200" progId="Equation.DSMT4">
                  <p:embed/>
                  <p:pic>
                    <p:nvPicPr>
                      <p:cNvPr id="9" name="对象 8">
                        <a:extLst>
                          <a:ext uri="{FF2B5EF4-FFF2-40B4-BE49-F238E27FC236}">
                            <a16:creationId xmlns:a16="http://schemas.microsoft.com/office/drawing/2014/main" id="{F2BEF856-6508-4A3A-89A2-A814F12366F4}"/>
                          </a:ext>
                        </a:extLst>
                      </p:cNvPr>
                      <p:cNvPicPr/>
                      <p:nvPr/>
                    </p:nvPicPr>
                    <p:blipFill>
                      <a:blip r:embed="rId11"/>
                      <a:stretch>
                        <a:fillRect/>
                      </a:stretch>
                    </p:blipFill>
                    <p:spPr>
                      <a:xfrm>
                        <a:off x="920552" y="5265167"/>
                        <a:ext cx="8796338" cy="792162"/>
                      </a:xfrm>
                      <a:prstGeom prst="rect">
                        <a:avLst/>
                      </a:prstGeom>
                    </p:spPr>
                  </p:pic>
                </p:oleObj>
              </mc:Fallback>
            </mc:AlternateContent>
          </a:graphicData>
        </a:graphic>
      </p:graphicFrame>
    </p:spTree>
    <p:extLst>
      <p:ext uri="{BB962C8B-B14F-4D97-AF65-F5344CB8AC3E}">
        <p14:creationId xmlns:p14="http://schemas.microsoft.com/office/powerpoint/2010/main" val="410397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526742-C4E5-409F-86AC-713CF8935D35}"/>
              </a:ext>
            </a:extLst>
          </p:cNvPr>
          <p:cNvSpPr>
            <a:spLocks noGrp="1"/>
          </p:cNvSpPr>
          <p:nvPr>
            <p:ph type="title"/>
          </p:nvPr>
        </p:nvSpPr>
        <p:spPr/>
        <p:txBody>
          <a:bodyPr/>
          <a:lstStyle/>
          <a:p>
            <a:r>
              <a:rPr lang="en-US" altLang="zh-CN" dirty="0"/>
              <a:t>5. </a:t>
            </a:r>
            <a:r>
              <a:rPr lang="zh-CN" altLang="en-US" dirty="0"/>
              <a:t>优化约束的极值条件</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A676C86-2138-48EE-B82E-C9D1223503B9}"/>
                  </a:ext>
                </a:extLst>
              </p:cNvPr>
              <p:cNvSpPr>
                <a:spLocks noGrp="1"/>
              </p:cNvSpPr>
              <p:nvPr>
                <p:ph idx="1"/>
              </p:nvPr>
            </p:nvSpPr>
            <p:spPr/>
            <p:txBody>
              <a:bodyPr/>
              <a:lstStyle/>
              <a:p>
                <a:r>
                  <a:rPr lang="zh-CN" altLang="en-US" dirty="0"/>
                  <a:t>凸规划</a:t>
                </a:r>
                <a:endParaRPr lang="en-US" altLang="zh-CN" dirty="0"/>
              </a:p>
              <a:p>
                <a:pPr lvl="1"/>
                <a:r>
                  <a:rPr lang="zh-CN" altLang="en-US" dirty="0"/>
                  <a:t>对于最优化问题</a:t>
                </a:r>
                <a:endParaRPr lang="en-US" altLang="zh-CN" dirty="0"/>
              </a:p>
              <a:p>
                <a:pPr lvl="1"/>
                <a:endParaRPr lang="en-US" altLang="zh-CN" dirty="0"/>
              </a:p>
              <a:p>
                <a:pPr lvl="1"/>
                <a:endParaRPr lang="en-US" altLang="zh-CN" dirty="0"/>
              </a:p>
              <a:p>
                <a:pPr lvl="1"/>
                <a:endParaRPr lang="en-US" altLang="zh-CN" dirty="0"/>
              </a:p>
              <a:p>
                <a:pPr lvl="1"/>
                <a:r>
                  <a:rPr lang="zh-CN" altLang="en-US" dirty="0"/>
                  <a:t>如果满足</a:t>
                </a:r>
                <a14:m>
                  <m:oMath xmlns:m="http://schemas.openxmlformats.org/officeDocument/2006/math">
                    <m:r>
                      <a:rPr lang="en-US" altLang="zh-CN" i="1" dirty="0" smtClean="0">
                        <a:solidFill>
                          <a:srgbClr val="C00000"/>
                        </a:solidFill>
                        <a:latin typeface="Cambria Math" panose="02040503050406030204" pitchFamily="18" charset="0"/>
                      </a:rPr>
                      <m:t>𝑓</m:t>
                    </m:r>
                    <m:r>
                      <a:rPr lang="en-US" altLang="zh-CN" i="1" dirty="0" smtClean="0">
                        <a:solidFill>
                          <a:srgbClr val="C00000"/>
                        </a:solidFill>
                        <a:latin typeface="Cambria Math" panose="02040503050406030204" pitchFamily="18" charset="0"/>
                      </a:rPr>
                      <m:t>(</m:t>
                    </m:r>
                    <m:r>
                      <a:rPr lang="en-US" altLang="zh-CN" i="1" dirty="0" smtClean="0">
                        <a:solidFill>
                          <a:srgbClr val="C00000"/>
                        </a:solidFill>
                        <a:latin typeface="Cambria Math" panose="02040503050406030204" pitchFamily="18" charset="0"/>
                      </a:rPr>
                      <m:t>𝑥</m:t>
                    </m:r>
                    <m:r>
                      <a:rPr lang="en-US" altLang="zh-CN" i="1" dirty="0" smtClean="0">
                        <a:solidFill>
                          <a:srgbClr val="C00000"/>
                        </a:solidFill>
                        <a:latin typeface="Cambria Math" panose="02040503050406030204" pitchFamily="18" charset="0"/>
                      </a:rPr>
                      <m:t>)</m:t>
                    </m:r>
                  </m:oMath>
                </a14:m>
                <a:r>
                  <a:rPr lang="zh-CN" altLang="en-US" dirty="0">
                    <a:solidFill>
                      <a:srgbClr val="C00000"/>
                    </a:solidFill>
                  </a:rPr>
                  <a:t>是凸函数</a:t>
                </a:r>
                <a:r>
                  <a:rPr lang="zh-CN" altLang="en-US" dirty="0"/>
                  <a:t>、</a:t>
                </a:r>
                <a14:m>
                  <m:oMath xmlns:m="http://schemas.openxmlformats.org/officeDocument/2006/math">
                    <m:r>
                      <a:rPr lang="en-US" altLang="zh-CN" i="1" dirty="0" smtClean="0">
                        <a:solidFill>
                          <a:srgbClr val="7030A0"/>
                        </a:solidFill>
                        <a:latin typeface="Cambria Math" panose="02040503050406030204" pitchFamily="18" charset="0"/>
                      </a:rPr>
                      <m:t>𝑔</m:t>
                    </m:r>
                    <m:r>
                      <a:rPr lang="en-US" altLang="zh-CN" i="1" dirty="0" smtClean="0">
                        <a:solidFill>
                          <a:srgbClr val="7030A0"/>
                        </a:solidFill>
                        <a:latin typeface="Cambria Math" panose="02040503050406030204" pitchFamily="18" charset="0"/>
                      </a:rPr>
                      <m:t>(</m:t>
                    </m:r>
                    <m:r>
                      <a:rPr lang="en-US" altLang="zh-CN" i="1" dirty="0" smtClean="0">
                        <a:solidFill>
                          <a:srgbClr val="7030A0"/>
                        </a:solidFill>
                        <a:latin typeface="Cambria Math" panose="02040503050406030204" pitchFamily="18" charset="0"/>
                      </a:rPr>
                      <m:t>𝑥</m:t>
                    </m:r>
                    <m:r>
                      <a:rPr lang="en-US" altLang="zh-CN" i="1" dirty="0" smtClean="0">
                        <a:solidFill>
                          <a:srgbClr val="7030A0"/>
                        </a:solidFill>
                        <a:latin typeface="Cambria Math" panose="02040503050406030204" pitchFamily="18" charset="0"/>
                      </a:rPr>
                      <m:t>)</m:t>
                    </m:r>
                  </m:oMath>
                </a14:m>
                <a:r>
                  <a:rPr lang="zh-CN" altLang="en-US" dirty="0">
                    <a:solidFill>
                      <a:srgbClr val="7030A0"/>
                    </a:solidFill>
                  </a:rPr>
                  <a:t>是凸函数</a:t>
                </a:r>
                <a:r>
                  <a:rPr lang="zh-CN" altLang="en-US" dirty="0"/>
                  <a:t>、</a:t>
                </a:r>
                <a14:m>
                  <m:oMath xmlns:m="http://schemas.openxmlformats.org/officeDocument/2006/math">
                    <m:r>
                      <a:rPr lang="en-US" altLang="zh-CN" i="1" dirty="0" smtClean="0">
                        <a:solidFill>
                          <a:schemeClr val="accent5">
                            <a:lumMod val="25000"/>
                          </a:schemeClr>
                        </a:solidFill>
                        <a:latin typeface="Cambria Math" panose="02040503050406030204" pitchFamily="18" charset="0"/>
                      </a:rPr>
                      <m:t>h</m:t>
                    </m:r>
                    <m:r>
                      <a:rPr lang="en-US" altLang="zh-CN" i="1" dirty="0" smtClean="0">
                        <a:solidFill>
                          <a:schemeClr val="accent5">
                            <a:lumMod val="25000"/>
                          </a:schemeClr>
                        </a:solidFill>
                        <a:latin typeface="Cambria Math" panose="02040503050406030204" pitchFamily="18" charset="0"/>
                      </a:rPr>
                      <m:t>(</m:t>
                    </m:r>
                    <m:r>
                      <a:rPr lang="en-US" altLang="zh-CN" i="1" dirty="0" smtClean="0">
                        <a:solidFill>
                          <a:schemeClr val="accent5">
                            <a:lumMod val="25000"/>
                          </a:schemeClr>
                        </a:solidFill>
                        <a:latin typeface="Cambria Math" panose="02040503050406030204" pitchFamily="18" charset="0"/>
                      </a:rPr>
                      <m:t>𝑋</m:t>
                    </m:r>
                    <m:r>
                      <a:rPr lang="en-US" altLang="zh-CN" i="1" dirty="0" smtClean="0">
                        <a:solidFill>
                          <a:schemeClr val="accent5">
                            <a:lumMod val="25000"/>
                          </a:schemeClr>
                        </a:solidFill>
                        <a:latin typeface="Cambria Math" panose="02040503050406030204" pitchFamily="18" charset="0"/>
                      </a:rPr>
                      <m:t>)</m:t>
                    </m:r>
                  </m:oMath>
                </a14:m>
                <a:r>
                  <a:rPr lang="zh-CN" altLang="en-US" dirty="0">
                    <a:solidFill>
                      <a:schemeClr val="accent5">
                        <a:lumMod val="25000"/>
                      </a:schemeClr>
                    </a:solidFill>
                  </a:rPr>
                  <a:t>是线性函数</a:t>
                </a:r>
                <a:r>
                  <a:rPr lang="zh-CN" altLang="en-US" dirty="0"/>
                  <a:t>，则该问题就是一个</a:t>
                </a:r>
                <a:r>
                  <a:rPr lang="zh-CN" altLang="en-US" dirty="0">
                    <a:solidFill>
                      <a:srgbClr val="0000FF"/>
                    </a:solidFill>
                  </a:rPr>
                  <a:t>凸规划</a:t>
                </a:r>
                <a:r>
                  <a:rPr lang="zh-CN" altLang="en-US" dirty="0"/>
                  <a:t>。</a:t>
                </a:r>
              </a:p>
            </p:txBody>
          </p:sp>
        </mc:Choice>
        <mc:Fallback xmlns="">
          <p:sp>
            <p:nvSpPr>
              <p:cNvPr id="3" name="内容占位符 2">
                <a:extLst>
                  <a:ext uri="{FF2B5EF4-FFF2-40B4-BE49-F238E27FC236}">
                    <a16:creationId xmlns:a16="http://schemas.microsoft.com/office/drawing/2014/main" id="{6A676C86-2138-48EE-B82E-C9D1223503B9}"/>
                  </a:ext>
                </a:extLst>
              </p:cNvPr>
              <p:cNvSpPr>
                <a:spLocks noGrp="1" noRot="1" noChangeAspect="1" noMove="1" noResize="1" noEditPoints="1" noAdjustHandles="1" noChangeArrowheads="1" noChangeShapeType="1" noTextEdit="1"/>
              </p:cNvSpPr>
              <p:nvPr>
                <p:ph idx="1"/>
              </p:nvPr>
            </p:nvSpPr>
            <p:spPr>
              <a:blipFill>
                <a:blip r:embed="rId3"/>
                <a:stretch>
                  <a:fillRect l="-1066" t="-2083"/>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69DA646F-D190-4292-ABA7-316E0E010404}"/>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D87210DC-C38F-4B4B-9930-ACE538C8543C}"/>
              </a:ext>
            </a:extLst>
          </p:cNvPr>
          <p:cNvSpPr>
            <a:spLocks noGrp="1"/>
          </p:cNvSpPr>
          <p:nvPr>
            <p:ph type="sldNum" sz="quarter" idx="12"/>
          </p:nvPr>
        </p:nvSpPr>
        <p:spPr/>
        <p:txBody>
          <a:bodyPr/>
          <a:lstStyle/>
          <a:p>
            <a:fld id="{7AC79822-BC0D-4DE8-A7E5-90A3732A2B82}" type="slidenum">
              <a:rPr lang="zh-CN" altLang="en-US" smtClean="0"/>
              <a:pPr/>
              <a:t>19</a:t>
            </a:fld>
            <a:endParaRPr lang="en-US" altLang="zh-CN" dirty="0"/>
          </a:p>
        </p:txBody>
      </p:sp>
      <p:graphicFrame>
        <p:nvGraphicFramePr>
          <p:cNvPr id="6" name="对象 5">
            <a:extLst>
              <a:ext uri="{FF2B5EF4-FFF2-40B4-BE49-F238E27FC236}">
                <a16:creationId xmlns:a16="http://schemas.microsoft.com/office/drawing/2014/main" id="{2B7E69B1-22F1-45F0-8A65-8DD4A80D87BE}"/>
              </a:ext>
            </a:extLst>
          </p:cNvPr>
          <p:cNvGraphicFramePr>
            <a:graphicFrameLocks noChangeAspect="1"/>
          </p:cNvGraphicFramePr>
          <p:nvPr>
            <p:extLst>
              <p:ext uri="{D42A27DB-BD31-4B8C-83A1-F6EECF244321}">
                <p14:modId xmlns:p14="http://schemas.microsoft.com/office/powerpoint/2010/main" val="1075979934"/>
              </p:ext>
            </p:extLst>
          </p:nvPr>
        </p:nvGraphicFramePr>
        <p:xfrm>
          <a:off x="1712640" y="2420887"/>
          <a:ext cx="6120680" cy="1870207"/>
        </p:xfrm>
        <a:graphic>
          <a:graphicData uri="http://schemas.openxmlformats.org/presentationml/2006/ole">
            <mc:AlternateContent xmlns:mc="http://schemas.openxmlformats.org/markup-compatibility/2006">
              <mc:Choice xmlns:v="urn:schemas-microsoft-com:vml" Requires="v">
                <p:oleObj name="Equation" r:id="rId4" imgW="1828800" imgH="558720" progId="Equation.DSMT4">
                  <p:embed/>
                </p:oleObj>
              </mc:Choice>
              <mc:Fallback>
                <p:oleObj name="Equation" r:id="rId4" imgW="1828800" imgH="558720" progId="Equation.DSMT4">
                  <p:embed/>
                  <p:pic>
                    <p:nvPicPr>
                      <p:cNvPr id="0" name=""/>
                      <p:cNvPicPr/>
                      <p:nvPr/>
                    </p:nvPicPr>
                    <p:blipFill>
                      <a:blip r:embed="rId5"/>
                      <a:stretch>
                        <a:fillRect/>
                      </a:stretch>
                    </p:blipFill>
                    <p:spPr>
                      <a:xfrm>
                        <a:off x="1712640" y="2420887"/>
                        <a:ext cx="6120680" cy="1870207"/>
                      </a:xfrm>
                      <a:prstGeom prst="rect">
                        <a:avLst/>
                      </a:prstGeom>
                    </p:spPr>
                  </p:pic>
                </p:oleObj>
              </mc:Fallback>
            </mc:AlternateContent>
          </a:graphicData>
        </a:graphic>
      </p:graphicFrame>
    </p:spTree>
    <p:extLst>
      <p:ext uri="{BB962C8B-B14F-4D97-AF65-F5344CB8AC3E}">
        <p14:creationId xmlns:p14="http://schemas.microsoft.com/office/powerpoint/2010/main" val="517564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500"/>
                                        <p:tgtEl>
                                          <p:spTgt spid="6"/>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526742-C4E5-409F-86AC-713CF8935D35}"/>
              </a:ext>
            </a:extLst>
          </p:cNvPr>
          <p:cNvSpPr>
            <a:spLocks noGrp="1"/>
          </p:cNvSpPr>
          <p:nvPr>
            <p:ph type="title"/>
          </p:nvPr>
        </p:nvSpPr>
        <p:spPr/>
        <p:txBody>
          <a:bodyPr/>
          <a:lstStyle/>
          <a:p>
            <a:r>
              <a:rPr lang="en-US" altLang="zh-CN" dirty="0"/>
              <a:t>5. </a:t>
            </a:r>
            <a:r>
              <a:rPr lang="zh-CN" altLang="en-US" dirty="0"/>
              <a:t>优化约束的极值条件</a:t>
            </a:r>
          </a:p>
        </p:txBody>
      </p:sp>
      <p:sp>
        <p:nvSpPr>
          <p:cNvPr id="3" name="内容占位符 2">
            <a:extLst>
              <a:ext uri="{FF2B5EF4-FFF2-40B4-BE49-F238E27FC236}">
                <a16:creationId xmlns:a16="http://schemas.microsoft.com/office/drawing/2014/main" id="{6A676C86-2138-48EE-B82E-C9D1223503B9}"/>
              </a:ext>
            </a:extLst>
          </p:cNvPr>
          <p:cNvSpPr>
            <a:spLocks noGrp="1"/>
          </p:cNvSpPr>
          <p:nvPr>
            <p:ph idx="1"/>
          </p:nvPr>
        </p:nvSpPr>
        <p:spPr/>
        <p:txBody>
          <a:bodyPr/>
          <a:lstStyle/>
          <a:p>
            <a:r>
              <a:rPr lang="zh-CN" altLang="en-US" dirty="0"/>
              <a:t>凸规划</a:t>
            </a:r>
            <a:endParaRPr lang="en-US" altLang="zh-CN" dirty="0"/>
          </a:p>
          <a:p>
            <a:pPr lvl="1"/>
            <a:r>
              <a:rPr lang="zh-CN" altLang="en-US" dirty="0"/>
              <a:t>凸规划性质：</a:t>
            </a:r>
            <a:endParaRPr lang="en-US" altLang="zh-CN" dirty="0"/>
          </a:p>
          <a:p>
            <a:pPr lvl="2"/>
            <a:r>
              <a:rPr lang="zh-CN" altLang="en-US" dirty="0">
                <a:solidFill>
                  <a:srgbClr val="7030A0"/>
                </a:solidFill>
              </a:rPr>
              <a:t>满足凸规划的目标函数</a:t>
            </a:r>
            <a:r>
              <a:rPr lang="en-US" altLang="zh-CN" dirty="0">
                <a:solidFill>
                  <a:srgbClr val="7030A0"/>
                </a:solidFill>
              </a:rPr>
              <a:t>f(x)</a:t>
            </a:r>
            <a:r>
              <a:rPr lang="zh-CN" altLang="en-US" dirty="0">
                <a:solidFill>
                  <a:srgbClr val="7030A0"/>
                </a:solidFill>
              </a:rPr>
              <a:t>的等值线是类似同心圆的样式</a:t>
            </a:r>
            <a:endParaRPr lang="en-US" altLang="zh-CN" dirty="0">
              <a:solidFill>
                <a:srgbClr val="7030A0"/>
              </a:solidFill>
            </a:endParaRPr>
          </a:p>
          <a:p>
            <a:pPr lvl="2"/>
            <a:r>
              <a:rPr lang="zh-CN" altLang="en-US" dirty="0">
                <a:solidFill>
                  <a:srgbClr val="0000FF"/>
                </a:solidFill>
              </a:rPr>
              <a:t>可行域是一个凸集</a:t>
            </a:r>
            <a:endParaRPr lang="en-US" altLang="zh-CN" dirty="0">
              <a:solidFill>
                <a:srgbClr val="0000FF"/>
              </a:solidFill>
            </a:endParaRPr>
          </a:p>
          <a:p>
            <a:pPr lvl="2"/>
            <a:r>
              <a:rPr lang="zh-CN" altLang="en-US" dirty="0">
                <a:solidFill>
                  <a:srgbClr val="FF0000"/>
                </a:solidFill>
              </a:rPr>
              <a:t>局部极值点一定是全局最优点</a:t>
            </a:r>
            <a:endParaRPr lang="en-US" altLang="zh-CN" dirty="0">
              <a:solidFill>
                <a:srgbClr val="FF0000"/>
              </a:solidFill>
            </a:endParaRPr>
          </a:p>
        </p:txBody>
      </p:sp>
      <p:sp>
        <p:nvSpPr>
          <p:cNvPr id="4" name="日期占位符 3">
            <a:extLst>
              <a:ext uri="{FF2B5EF4-FFF2-40B4-BE49-F238E27FC236}">
                <a16:creationId xmlns:a16="http://schemas.microsoft.com/office/drawing/2014/main" id="{69DA646F-D190-4292-ABA7-316E0E010404}"/>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D87210DC-C38F-4B4B-9930-ACE538C8543C}"/>
              </a:ext>
            </a:extLst>
          </p:cNvPr>
          <p:cNvSpPr>
            <a:spLocks noGrp="1"/>
          </p:cNvSpPr>
          <p:nvPr>
            <p:ph type="sldNum" sz="quarter" idx="12"/>
          </p:nvPr>
        </p:nvSpPr>
        <p:spPr/>
        <p:txBody>
          <a:bodyPr/>
          <a:lstStyle/>
          <a:p>
            <a:fld id="{7AC79822-BC0D-4DE8-A7E5-90A3732A2B82}" type="slidenum">
              <a:rPr lang="zh-CN" altLang="en-US" smtClean="0"/>
              <a:pPr/>
              <a:t>20</a:t>
            </a:fld>
            <a:endParaRPr lang="en-US" altLang="zh-CN" dirty="0"/>
          </a:p>
        </p:txBody>
      </p:sp>
    </p:spTree>
    <p:extLst>
      <p:ext uri="{BB962C8B-B14F-4D97-AF65-F5344CB8AC3E}">
        <p14:creationId xmlns:p14="http://schemas.microsoft.com/office/powerpoint/2010/main" val="2385596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arn(inVertical)">
                                      <p:cBhvr>
                                        <p:cTn id="16" dur="500"/>
                                        <p:tgtEl>
                                          <p:spTgt spid="3">
                                            <p:txEl>
                                              <p:pRg st="3" end="3"/>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arn(inVertical)">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238E48-29AF-4D6A-9D41-4E925A0F4349}"/>
              </a:ext>
            </a:extLst>
          </p:cNvPr>
          <p:cNvSpPr>
            <a:spLocks noGrp="1"/>
          </p:cNvSpPr>
          <p:nvPr>
            <p:ph type="title"/>
          </p:nvPr>
        </p:nvSpPr>
        <p:spPr/>
        <p:txBody>
          <a:bodyPr/>
          <a:lstStyle/>
          <a:p>
            <a:r>
              <a:rPr lang="en-US" altLang="zh-CN" dirty="0"/>
              <a:t>6. </a:t>
            </a:r>
            <a:r>
              <a:rPr lang="zh-CN" altLang="en-US" dirty="0"/>
              <a:t>约束优化问题的极值条件</a:t>
            </a:r>
          </a:p>
        </p:txBody>
      </p:sp>
      <p:sp>
        <p:nvSpPr>
          <p:cNvPr id="3" name="内容占位符 2">
            <a:extLst>
              <a:ext uri="{FF2B5EF4-FFF2-40B4-BE49-F238E27FC236}">
                <a16:creationId xmlns:a16="http://schemas.microsoft.com/office/drawing/2014/main" id="{39D06CF3-90A0-4807-9C04-AE6B5FBAFF09}"/>
              </a:ext>
            </a:extLst>
          </p:cNvPr>
          <p:cNvSpPr>
            <a:spLocks noGrp="1"/>
          </p:cNvSpPr>
          <p:nvPr>
            <p:ph idx="1"/>
          </p:nvPr>
        </p:nvSpPr>
        <p:spPr/>
        <p:txBody>
          <a:bodyPr/>
          <a:lstStyle/>
          <a:p>
            <a:r>
              <a:rPr lang="zh-CN" altLang="en-US" dirty="0"/>
              <a:t>约束优化问题</a:t>
            </a:r>
            <a:endParaRPr lang="en-US" altLang="zh-CN" dirty="0"/>
          </a:p>
          <a:p>
            <a:endParaRPr lang="en-US" altLang="zh-CN" dirty="0"/>
          </a:p>
          <a:p>
            <a:endParaRPr lang="en-US" altLang="zh-CN" dirty="0"/>
          </a:p>
          <a:p>
            <a:endParaRPr lang="en-US" altLang="zh-CN" dirty="0"/>
          </a:p>
          <a:p>
            <a:pPr lvl="2"/>
            <a:r>
              <a:rPr lang="zh-CN" altLang="en-US" dirty="0">
                <a:solidFill>
                  <a:srgbClr val="C00000"/>
                </a:solidFill>
              </a:rPr>
              <a:t>受到约束条件限制，最优解与无约束优化问题的极值点往往是不同的。</a:t>
            </a:r>
            <a:endParaRPr lang="en-US" altLang="zh-CN" dirty="0">
              <a:solidFill>
                <a:srgbClr val="C00000"/>
              </a:solidFill>
            </a:endParaRPr>
          </a:p>
          <a:p>
            <a:pPr lvl="2"/>
            <a:r>
              <a:rPr lang="zh-CN" altLang="en-US" dirty="0">
                <a:solidFill>
                  <a:srgbClr val="000099"/>
                </a:solidFill>
              </a:rPr>
              <a:t>最优解的确定既要考虑目标函数（无约束优化问题最优解），也要考虑约束条件。</a:t>
            </a:r>
          </a:p>
        </p:txBody>
      </p:sp>
      <p:sp>
        <p:nvSpPr>
          <p:cNvPr id="4" name="日期占位符 3">
            <a:extLst>
              <a:ext uri="{FF2B5EF4-FFF2-40B4-BE49-F238E27FC236}">
                <a16:creationId xmlns:a16="http://schemas.microsoft.com/office/drawing/2014/main" id="{57D92FD8-3D4C-4D6A-A359-AD91CF7ECF66}"/>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5A4BA783-B968-4720-9BA5-5C1742817842}"/>
              </a:ext>
            </a:extLst>
          </p:cNvPr>
          <p:cNvSpPr>
            <a:spLocks noGrp="1"/>
          </p:cNvSpPr>
          <p:nvPr>
            <p:ph type="sldNum" sz="quarter" idx="12"/>
          </p:nvPr>
        </p:nvSpPr>
        <p:spPr/>
        <p:txBody>
          <a:bodyPr/>
          <a:lstStyle/>
          <a:p>
            <a:fld id="{7AC79822-BC0D-4DE8-A7E5-90A3732A2B82}" type="slidenum">
              <a:rPr lang="zh-CN" altLang="en-US" smtClean="0"/>
              <a:pPr/>
              <a:t>21</a:t>
            </a:fld>
            <a:endParaRPr lang="en-US" altLang="zh-CN" dirty="0"/>
          </a:p>
        </p:txBody>
      </p:sp>
      <p:graphicFrame>
        <p:nvGraphicFramePr>
          <p:cNvPr id="6" name="对象 5">
            <a:extLst>
              <a:ext uri="{FF2B5EF4-FFF2-40B4-BE49-F238E27FC236}">
                <a16:creationId xmlns:a16="http://schemas.microsoft.com/office/drawing/2014/main" id="{94DD4A88-D8E2-4803-9A4D-2D3E4ACDE87E}"/>
              </a:ext>
            </a:extLst>
          </p:cNvPr>
          <p:cNvGraphicFramePr>
            <a:graphicFrameLocks noChangeAspect="1"/>
          </p:cNvGraphicFramePr>
          <p:nvPr>
            <p:extLst>
              <p:ext uri="{D42A27DB-BD31-4B8C-83A1-F6EECF244321}">
                <p14:modId xmlns:p14="http://schemas.microsoft.com/office/powerpoint/2010/main" val="2855767746"/>
              </p:ext>
            </p:extLst>
          </p:nvPr>
        </p:nvGraphicFramePr>
        <p:xfrm>
          <a:off x="1640632" y="1958689"/>
          <a:ext cx="6120680" cy="1870207"/>
        </p:xfrm>
        <a:graphic>
          <a:graphicData uri="http://schemas.openxmlformats.org/presentationml/2006/ole">
            <mc:AlternateContent xmlns:mc="http://schemas.openxmlformats.org/markup-compatibility/2006">
              <mc:Choice xmlns:v="urn:schemas-microsoft-com:vml" Requires="v">
                <p:oleObj name="Equation" r:id="rId2" imgW="1828800" imgH="558720" progId="Equation.DSMT4">
                  <p:embed/>
                </p:oleObj>
              </mc:Choice>
              <mc:Fallback>
                <p:oleObj name="Equation" r:id="rId2" imgW="1828800" imgH="558720" progId="Equation.DSMT4">
                  <p:embed/>
                  <p:pic>
                    <p:nvPicPr>
                      <p:cNvPr id="6" name="对象 5">
                        <a:extLst>
                          <a:ext uri="{FF2B5EF4-FFF2-40B4-BE49-F238E27FC236}">
                            <a16:creationId xmlns:a16="http://schemas.microsoft.com/office/drawing/2014/main" id="{2B7E69B1-22F1-45F0-8A65-8DD4A80D87BE}"/>
                          </a:ext>
                        </a:extLst>
                      </p:cNvPr>
                      <p:cNvPicPr/>
                      <p:nvPr/>
                    </p:nvPicPr>
                    <p:blipFill>
                      <a:blip r:embed="rId3"/>
                      <a:stretch>
                        <a:fillRect/>
                      </a:stretch>
                    </p:blipFill>
                    <p:spPr>
                      <a:xfrm>
                        <a:off x="1640632" y="1958689"/>
                        <a:ext cx="6120680" cy="1870207"/>
                      </a:xfrm>
                      <a:prstGeom prst="rect">
                        <a:avLst/>
                      </a:prstGeom>
                    </p:spPr>
                  </p:pic>
                </p:oleObj>
              </mc:Fallback>
            </mc:AlternateContent>
          </a:graphicData>
        </a:graphic>
      </p:graphicFrame>
    </p:spTree>
    <p:extLst>
      <p:ext uri="{BB962C8B-B14F-4D97-AF65-F5344CB8AC3E}">
        <p14:creationId xmlns:p14="http://schemas.microsoft.com/office/powerpoint/2010/main" val="3463759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500"/>
                                        <p:tgtEl>
                                          <p:spTgt spid="6"/>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barn(inVertical)">
                                      <p:cBhvr>
                                        <p:cTn id="15" dur="500"/>
                                        <p:tgtEl>
                                          <p:spTgt spid="3">
                                            <p:txEl>
                                              <p:pRg st="4" end="4"/>
                                            </p:txEl>
                                          </p:spTgt>
                                        </p:tgtEl>
                                      </p:cBhvr>
                                    </p:animEffect>
                                  </p:childTnLst>
                                </p:cTn>
                              </p:par>
                            </p:childTnLst>
                          </p:cTn>
                        </p:par>
                        <p:par>
                          <p:cTn id="16" fill="hold">
                            <p:stCondLst>
                              <p:cond delay="1500"/>
                            </p:stCondLst>
                            <p:childTnLst>
                              <p:par>
                                <p:cTn id="17" presetID="16" presetClass="entr" presetSubtype="21" fill="hold" nodeType="after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barn(inVertical)">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DF27B-B284-43A3-AF34-7D2C0089F9D6}"/>
              </a:ext>
            </a:extLst>
          </p:cNvPr>
          <p:cNvSpPr>
            <a:spLocks noGrp="1"/>
          </p:cNvSpPr>
          <p:nvPr>
            <p:ph type="title"/>
          </p:nvPr>
        </p:nvSpPr>
        <p:spPr>
          <a:xfrm>
            <a:off x="37948" y="215619"/>
            <a:ext cx="9719492" cy="792088"/>
          </a:xfrm>
        </p:spPr>
        <p:txBody>
          <a:bodyPr/>
          <a:lstStyle/>
          <a:p>
            <a:r>
              <a:rPr lang="zh-CN" altLang="en-US" dirty="0"/>
              <a:t>约束优化问题极值点分析</a:t>
            </a:r>
          </a:p>
        </p:txBody>
      </p:sp>
      <p:sp>
        <p:nvSpPr>
          <p:cNvPr id="4" name="日期占位符 3">
            <a:extLst>
              <a:ext uri="{FF2B5EF4-FFF2-40B4-BE49-F238E27FC236}">
                <a16:creationId xmlns:a16="http://schemas.microsoft.com/office/drawing/2014/main" id="{8D8546B8-461C-4CEC-95C1-3D7B3FB1893A}"/>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3C90295C-5DE4-4FCC-897A-99DA4B25FE42}"/>
              </a:ext>
            </a:extLst>
          </p:cNvPr>
          <p:cNvSpPr>
            <a:spLocks noGrp="1"/>
          </p:cNvSpPr>
          <p:nvPr>
            <p:ph type="sldNum" sz="quarter" idx="12"/>
          </p:nvPr>
        </p:nvSpPr>
        <p:spPr/>
        <p:txBody>
          <a:bodyPr/>
          <a:lstStyle/>
          <a:p>
            <a:fld id="{7AC79822-BC0D-4DE8-A7E5-90A3732A2B82}" type="slidenum">
              <a:rPr lang="zh-CN" altLang="en-US" smtClean="0"/>
              <a:pPr/>
              <a:t>22</a:t>
            </a:fld>
            <a:endParaRPr lang="en-US" altLang="zh-CN" dirty="0"/>
          </a:p>
        </p:txBody>
      </p:sp>
      <p:cxnSp>
        <p:nvCxnSpPr>
          <p:cNvPr id="6" name="直接连接符 5">
            <a:extLst>
              <a:ext uri="{FF2B5EF4-FFF2-40B4-BE49-F238E27FC236}">
                <a16:creationId xmlns:a16="http://schemas.microsoft.com/office/drawing/2014/main" id="{48CD66EB-B19A-47CD-8C4A-F47B728C81B5}"/>
              </a:ext>
            </a:extLst>
          </p:cNvPr>
          <p:cNvCxnSpPr/>
          <p:nvPr/>
        </p:nvCxnSpPr>
        <p:spPr bwMode="auto">
          <a:xfrm>
            <a:off x="1857223" y="2479858"/>
            <a:ext cx="3816424" cy="3584175"/>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弧形 6">
            <a:extLst>
              <a:ext uri="{FF2B5EF4-FFF2-40B4-BE49-F238E27FC236}">
                <a16:creationId xmlns:a16="http://schemas.microsoft.com/office/drawing/2014/main" id="{4C63D043-7726-40E9-B627-B155B4115EAE}"/>
              </a:ext>
            </a:extLst>
          </p:cNvPr>
          <p:cNvSpPr/>
          <p:nvPr/>
        </p:nvSpPr>
        <p:spPr bwMode="auto">
          <a:xfrm rot="19641207">
            <a:off x="2249127" y="2087961"/>
            <a:ext cx="3096344" cy="1800200"/>
          </a:xfrm>
          <a:prstGeom prst="arc">
            <a:avLst>
              <a:gd name="adj1" fmla="val 11414526"/>
              <a:gd name="adj2" fmla="val 20630555"/>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8" name="弧形 7">
            <a:extLst>
              <a:ext uri="{FF2B5EF4-FFF2-40B4-BE49-F238E27FC236}">
                <a16:creationId xmlns:a16="http://schemas.microsoft.com/office/drawing/2014/main" id="{0C4EC5EA-19D8-4FF7-A1B6-6E6D14748899}"/>
              </a:ext>
            </a:extLst>
          </p:cNvPr>
          <p:cNvSpPr/>
          <p:nvPr/>
        </p:nvSpPr>
        <p:spPr bwMode="auto">
          <a:xfrm rot="1962781">
            <a:off x="1811294" y="2204402"/>
            <a:ext cx="4379126" cy="1800200"/>
          </a:xfrm>
          <a:prstGeom prst="arc">
            <a:avLst>
              <a:gd name="adj1" fmla="val 12561504"/>
              <a:gd name="adj2" fmla="val 20990983"/>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9" name="弧形 8">
            <a:extLst>
              <a:ext uri="{FF2B5EF4-FFF2-40B4-BE49-F238E27FC236}">
                <a16:creationId xmlns:a16="http://schemas.microsoft.com/office/drawing/2014/main" id="{BC66CEF1-122D-45E0-B6B9-80EEC89EB3DE}"/>
              </a:ext>
            </a:extLst>
          </p:cNvPr>
          <p:cNvSpPr/>
          <p:nvPr/>
        </p:nvSpPr>
        <p:spPr bwMode="auto">
          <a:xfrm rot="9294284">
            <a:off x="2906956" y="2699082"/>
            <a:ext cx="3096344" cy="1800200"/>
          </a:xfrm>
          <a:prstGeom prst="arc">
            <a:avLst>
              <a:gd name="adj1" fmla="val 11414526"/>
              <a:gd name="adj2" fmla="val 20630555"/>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1" name="流程图: 接点 10">
            <a:extLst>
              <a:ext uri="{FF2B5EF4-FFF2-40B4-BE49-F238E27FC236}">
                <a16:creationId xmlns:a16="http://schemas.microsoft.com/office/drawing/2014/main" id="{7891007C-E271-4962-BBAF-8B6CF2F53D1A}"/>
              </a:ext>
            </a:extLst>
          </p:cNvPr>
          <p:cNvSpPr/>
          <p:nvPr/>
        </p:nvSpPr>
        <p:spPr bwMode="auto">
          <a:xfrm>
            <a:off x="4115519" y="3025499"/>
            <a:ext cx="217452" cy="190894"/>
          </a:xfrm>
          <a:prstGeom prst="flowChartConnector">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12" name="直接连接符 11">
            <a:extLst>
              <a:ext uri="{FF2B5EF4-FFF2-40B4-BE49-F238E27FC236}">
                <a16:creationId xmlns:a16="http://schemas.microsoft.com/office/drawing/2014/main" id="{2D91ABC7-8316-4EB3-88C7-48B3E844D3C9}"/>
              </a:ext>
            </a:extLst>
          </p:cNvPr>
          <p:cNvCxnSpPr/>
          <p:nvPr/>
        </p:nvCxnSpPr>
        <p:spPr bwMode="auto">
          <a:xfrm flipV="1">
            <a:off x="2289271" y="30635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2">
            <a:extLst>
              <a:ext uri="{FF2B5EF4-FFF2-40B4-BE49-F238E27FC236}">
                <a16:creationId xmlns:a16="http://schemas.microsoft.com/office/drawing/2014/main" id="{9CB25DBD-D543-4671-8058-6370C69D56C0}"/>
              </a:ext>
            </a:extLst>
          </p:cNvPr>
          <p:cNvCxnSpPr/>
          <p:nvPr/>
        </p:nvCxnSpPr>
        <p:spPr bwMode="auto">
          <a:xfrm flipV="1">
            <a:off x="2441671" y="32159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a:extLst>
              <a:ext uri="{FF2B5EF4-FFF2-40B4-BE49-F238E27FC236}">
                <a16:creationId xmlns:a16="http://schemas.microsoft.com/office/drawing/2014/main" id="{6ADAD591-87E9-4DF1-9426-A8D8415268E2}"/>
              </a:ext>
            </a:extLst>
          </p:cNvPr>
          <p:cNvCxnSpPr/>
          <p:nvPr/>
        </p:nvCxnSpPr>
        <p:spPr bwMode="auto">
          <a:xfrm flipV="1">
            <a:off x="2594071" y="33683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a:extLst>
              <a:ext uri="{FF2B5EF4-FFF2-40B4-BE49-F238E27FC236}">
                <a16:creationId xmlns:a16="http://schemas.microsoft.com/office/drawing/2014/main" id="{861C3EEC-23A3-49F5-B83B-1CCE63793C2C}"/>
              </a:ext>
            </a:extLst>
          </p:cNvPr>
          <p:cNvCxnSpPr/>
          <p:nvPr/>
        </p:nvCxnSpPr>
        <p:spPr bwMode="auto">
          <a:xfrm flipV="1">
            <a:off x="2746471" y="35207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连接符 15">
            <a:extLst>
              <a:ext uri="{FF2B5EF4-FFF2-40B4-BE49-F238E27FC236}">
                <a16:creationId xmlns:a16="http://schemas.microsoft.com/office/drawing/2014/main" id="{BD5CC0BA-1709-4273-A958-31ABD594C03B}"/>
              </a:ext>
            </a:extLst>
          </p:cNvPr>
          <p:cNvCxnSpPr/>
          <p:nvPr/>
        </p:nvCxnSpPr>
        <p:spPr bwMode="auto">
          <a:xfrm flipV="1">
            <a:off x="2898871" y="36731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a:extLst>
              <a:ext uri="{FF2B5EF4-FFF2-40B4-BE49-F238E27FC236}">
                <a16:creationId xmlns:a16="http://schemas.microsoft.com/office/drawing/2014/main" id="{6961A293-AAFD-4E4C-A82D-72F85345B857}"/>
              </a:ext>
            </a:extLst>
          </p:cNvPr>
          <p:cNvCxnSpPr/>
          <p:nvPr/>
        </p:nvCxnSpPr>
        <p:spPr bwMode="auto">
          <a:xfrm flipV="1">
            <a:off x="3051271" y="38255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连接符 17">
            <a:extLst>
              <a:ext uri="{FF2B5EF4-FFF2-40B4-BE49-F238E27FC236}">
                <a16:creationId xmlns:a16="http://schemas.microsoft.com/office/drawing/2014/main" id="{6C285BB1-88A7-4183-9252-4A0EE36E8BF3}"/>
              </a:ext>
            </a:extLst>
          </p:cNvPr>
          <p:cNvCxnSpPr/>
          <p:nvPr/>
        </p:nvCxnSpPr>
        <p:spPr bwMode="auto">
          <a:xfrm flipV="1">
            <a:off x="3203671" y="39779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连接符 18">
            <a:extLst>
              <a:ext uri="{FF2B5EF4-FFF2-40B4-BE49-F238E27FC236}">
                <a16:creationId xmlns:a16="http://schemas.microsoft.com/office/drawing/2014/main" id="{75E775DE-1607-4D41-B54E-D8C72D3E21D8}"/>
              </a:ext>
            </a:extLst>
          </p:cNvPr>
          <p:cNvCxnSpPr/>
          <p:nvPr/>
        </p:nvCxnSpPr>
        <p:spPr bwMode="auto">
          <a:xfrm flipV="1">
            <a:off x="3356071" y="41303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a:extLst>
              <a:ext uri="{FF2B5EF4-FFF2-40B4-BE49-F238E27FC236}">
                <a16:creationId xmlns:a16="http://schemas.microsoft.com/office/drawing/2014/main" id="{1EA5E9A4-FE4C-4744-975E-49B1DCF36D2D}"/>
              </a:ext>
            </a:extLst>
          </p:cNvPr>
          <p:cNvCxnSpPr/>
          <p:nvPr/>
        </p:nvCxnSpPr>
        <p:spPr bwMode="auto">
          <a:xfrm flipV="1">
            <a:off x="3508471" y="42827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连接符 20">
            <a:extLst>
              <a:ext uri="{FF2B5EF4-FFF2-40B4-BE49-F238E27FC236}">
                <a16:creationId xmlns:a16="http://schemas.microsoft.com/office/drawing/2014/main" id="{74C3C0BF-BA26-43FE-92AE-2BCD743BA762}"/>
              </a:ext>
            </a:extLst>
          </p:cNvPr>
          <p:cNvCxnSpPr/>
          <p:nvPr/>
        </p:nvCxnSpPr>
        <p:spPr bwMode="auto">
          <a:xfrm flipV="1">
            <a:off x="3660871" y="44351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连接符 21">
            <a:extLst>
              <a:ext uri="{FF2B5EF4-FFF2-40B4-BE49-F238E27FC236}">
                <a16:creationId xmlns:a16="http://schemas.microsoft.com/office/drawing/2014/main" id="{D8A1574C-22FE-4E73-AB34-7D8E3F5C1E08}"/>
              </a:ext>
            </a:extLst>
          </p:cNvPr>
          <p:cNvCxnSpPr/>
          <p:nvPr/>
        </p:nvCxnSpPr>
        <p:spPr bwMode="auto">
          <a:xfrm flipV="1">
            <a:off x="3813271" y="45875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连接符 22">
            <a:extLst>
              <a:ext uri="{FF2B5EF4-FFF2-40B4-BE49-F238E27FC236}">
                <a16:creationId xmlns:a16="http://schemas.microsoft.com/office/drawing/2014/main" id="{8EF325F3-D264-47C5-8B75-A0FB98E9E784}"/>
              </a:ext>
            </a:extLst>
          </p:cNvPr>
          <p:cNvCxnSpPr/>
          <p:nvPr/>
        </p:nvCxnSpPr>
        <p:spPr bwMode="auto">
          <a:xfrm flipV="1">
            <a:off x="3965671" y="47399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a:extLst>
              <a:ext uri="{FF2B5EF4-FFF2-40B4-BE49-F238E27FC236}">
                <a16:creationId xmlns:a16="http://schemas.microsoft.com/office/drawing/2014/main" id="{2076EA41-89E4-4C30-9A31-C7408D90C16F}"/>
              </a:ext>
            </a:extLst>
          </p:cNvPr>
          <p:cNvCxnSpPr/>
          <p:nvPr/>
        </p:nvCxnSpPr>
        <p:spPr bwMode="auto">
          <a:xfrm flipV="1">
            <a:off x="4118071" y="48923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连接符 24">
            <a:extLst>
              <a:ext uri="{FF2B5EF4-FFF2-40B4-BE49-F238E27FC236}">
                <a16:creationId xmlns:a16="http://schemas.microsoft.com/office/drawing/2014/main" id="{5375F80D-21D6-408E-B929-3F3EDD66DA13}"/>
              </a:ext>
            </a:extLst>
          </p:cNvPr>
          <p:cNvCxnSpPr/>
          <p:nvPr/>
        </p:nvCxnSpPr>
        <p:spPr bwMode="auto">
          <a:xfrm>
            <a:off x="2437653" y="2694113"/>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a:extLst>
              <a:ext uri="{FF2B5EF4-FFF2-40B4-BE49-F238E27FC236}">
                <a16:creationId xmlns:a16="http://schemas.microsoft.com/office/drawing/2014/main" id="{F38D5B14-E24E-4A80-A93B-399BC8DFE444}"/>
              </a:ext>
            </a:extLst>
          </p:cNvPr>
          <p:cNvCxnSpPr/>
          <p:nvPr/>
        </p:nvCxnSpPr>
        <p:spPr bwMode="auto">
          <a:xfrm>
            <a:off x="2547710" y="2528787"/>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26">
            <a:extLst>
              <a:ext uri="{FF2B5EF4-FFF2-40B4-BE49-F238E27FC236}">
                <a16:creationId xmlns:a16="http://schemas.microsoft.com/office/drawing/2014/main" id="{56F288E3-0BC9-4653-9D4E-3F7B1B7D158F}"/>
              </a:ext>
            </a:extLst>
          </p:cNvPr>
          <p:cNvCxnSpPr/>
          <p:nvPr/>
        </p:nvCxnSpPr>
        <p:spPr bwMode="auto">
          <a:xfrm>
            <a:off x="2683806" y="2401583"/>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a:extLst>
              <a:ext uri="{FF2B5EF4-FFF2-40B4-BE49-F238E27FC236}">
                <a16:creationId xmlns:a16="http://schemas.microsoft.com/office/drawing/2014/main" id="{2B1593CC-3E63-4C7D-A595-EDBFDAA2F138}"/>
              </a:ext>
            </a:extLst>
          </p:cNvPr>
          <p:cNvCxnSpPr/>
          <p:nvPr/>
        </p:nvCxnSpPr>
        <p:spPr bwMode="auto">
          <a:xfrm>
            <a:off x="2838573" y="2275762"/>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a:extLst>
              <a:ext uri="{FF2B5EF4-FFF2-40B4-BE49-F238E27FC236}">
                <a16:creationId xmlns:a16="http://schemas.microsoft.com/office/drawing/2014/main" id="{B8F3FC2B-3B21-4E29-9577-CD602362F53E}"/>
              </a:ext>
            </a:extLst>
          </p:cNvPr>
          <p:cNvCxnSpPr/>
          <p:nvPr/>
        </p:nvCxnSpPr>
        <p:spPr bwMode="auto">
          <a:xfrm>
            <a:off x="3027022" y="2122671"/>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a:extLst>
              <a:ext uri="{FF2B5EF4-FFF2-40B4-BE49-F238E27FC236}">
                <a16:creationId xmlns:a16="http://schemas.microsoft.com/office/drawing/2014/main" id="{B9FBA3F9-9E25-45CA-93E4-F77264C6837C}"/>
              </a:ext>
            </a:extLst>
          </p:cNvPr>
          <p:cNvCxnSpPr/>
          <p:nvPr/>
        </p:nvCxnSpPr>
        <p:spPr bwMode="auto">
          <a:xfrm>
            <a:off x="3227791" y="2006642"/>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30">
            <a:extLst>
              <a:ext uri="{FF2B5EF4-FFF2-40B4-BE49-F238E27FC236}">
                <a16:creationId xmlns:a16="http://schemas.microsoft.com/office/drawing/2014/main" id="{0F0A7CDE-9FCB-475F-9677-493C510AD03B}"/>
              </a:ext>
            </a:extLst>
          </p:cNvPr>
          <p:cNvCxnSpPr/>
          <p:nvPr/>
        </p:nvCxnSpPr>
        <p:spPr bwMode="auto">
          <a:xfrm>
            <a:off x="4520542" y="4548930"/>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连接符 31">
            <a:extLst>
              <a:ext uri="{FF2B5EF4-FFF2-40B4-BE49-F238E27FC236}">
                <a16:creationId xmlns:a16="http://schemas.microsoft.com/office/drawing/2014/main" id="{3E64B035-BC4C-48D2-8019-B24AC270C320}"/>
              </a:ext>
            </a:extLst>
          </p:cNvPr>
          <p:cNvCxnSpPr/>
          <p:nvPr/>
        </p:nvCxnSpPr>
        <p:spPr bwMode="auto">
          <a:xfrm>
            <a:off x="4809328" y="4472038"/>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连接符 32">
            <a:extLst>
              <a:ext uri="{FF2B5EF4-FFF2-40B4-BE49-F238E27FC236}">
                <a16:creationId xmlns:a16="http://schemas.microsoft.com/office/drawing/2014/main" id="{D4B7CBB4-50C2-4F0A-AB77-15D0C8E6AA9D}"/>
              </a:ext>
            </a:extLst>
          </p:cNvPr>
          <p:cNvCxnSpPr/>
          <p:nvPr/>
        </p:nvCxnSpPr>
        <p:spPr bwMode="auto">
          <a:xfrm>
            <a:off x="5008262" y="4381968"/>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接连接符 33">
            <a:extLst>
              <a:ext uri="{FF2B5EF4-FFF2-40B4-BE49-F238E27FC236}">
                <a16:creationId xmlns:a16="http://schemas.microsoft.com/office/drawing/2014/main" id="{DDB61BC3-B05E-47D9-B6D8-609BA7222A2A}"/>
              </a:ext>
            </a:extLst>
          </p:cNvPr>
          <p:cNvCxnSpPr/>
          <p:nvPr/>
        </p:nvCxnSpPr>
        <p:spPr bwMode="auto">
          <a:xfrm>
            <a:off x="5188304" y="4307930"/>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a:extLst>
              <a:ext uri="{FF2B5EF4-FFF2-40B4-BE49-F238E27FC236}">
                <a16:creationId xmlns:a16="http://schemas.microsoft.com/office/drawing/2014/main" id="{0720CF92-7F88-4F2C-9657-E0F93A8E2B42}"/>
              </a:ext>
            </a:extLst>
          </p:cNvPr>
          <p:cNvCxnSpPr/>
          <p:nvPr/>
        </p:nvCxnSpPr>
        <p:spPr bwMode="auto">
          <a:xfrm>
            <a:off x="5376753" y="4154839"/>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连接符 35">
            <a:extLst>
              <a:ext uri="{FF2B5EF4-FFF2-40B4-BE49-F238E27FC236}">
                <a16:creationId xmlns:a16="http://schemas.microsoft.com/office/drawing/2014/main" id="{EF0AFB15-DD91-4E9E-8A11-B9BB796AFDBE}"/>
              </a:ext>
            </a:extLst>
          </p:cNvPr>
          <p:cNvCxnSpPr/>
          <p:nvPr/>
        </p:nvCxnSpPr>
        <p:spPr bwMode="auto">
          <a:xfrm>
            <a:off x="5577522" y="4038810"/>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36">
            <a:extLst>
              <a:ext uri="{FF2B5EF4-FFF2-40B4-BE49-F238E27FC236}">
                <a16:creationId xmlns:a16="http://schemas.microsoft.com/office/drawing/2014/main" id="{BECB9E87-DFAA-45F0-BCAC-FBDFC0C28DE7}"/>
              </a:ext>
            </a:extLst>
          </p:cNvPr>
          <p:cNvCxnSpPr/>
          <p:nvPr/>
        </p:nvCxnSpPr>
        <p:spPr bwMode="auto">
          <a:xfrm flipV="1">
            <a:off x="4224245" y="2109002"/>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a:extLst>
              <a:ext uri="{FF2B5EF4-FFF2-40B4-BE49-F238E27FC236}">
                <a16:creationId xmlns:a16="http://schemas.microsoft.com/office/drawing/2014/main" id="{D793B419-4D36-470C-89EA-B7944D59DAA6}"/>
              </a:ext>
            </a:extLst>
          </p:cNvPr>
          <p:cNvCxnSpPr/>
          <p:nvPr/>
        </p:nvCxnSpPr>
        <p:spPr bwMode="auto">
          <a:xfrm flipV="1">
            <a:off x="4390854" y="2185281"/>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直接连接符 38">
            <a:extLst>
              <a:ext uri="{FF2B5EF4-FFF2-40B4-BE49-F238E27FC236}">
                <a16:creationId xmlns:a16="http://schemas.microsoft.com/office/drawing/2014/main" id="{7FEF91BC-30C2-4FE5-BF0B-0BCC074CDF41}"/>
              </a:ext>
            </a:extLst>
          </p:cNvPr>
          <p:cNvCxnSpPr/>
          <p:nvPr/>
        </p:nvCxnSpPr>
        <p:spPr bwMode="auto">
          <a:xfrm flipV="1">
            <a:off x="4552841" y="2275762"/>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连接符 39">
            <a:extLst>
              <a:ext uri="{FF2B5EF4-FFF2-40B4-BE49-F238E27FC236}">
                <a16:creationId xmlns:a16="http://schemas.microsoft.com/office/drawing/2014/main" id="{625AAD60-F28C-4557-BF9E-EAA8C1F516B4}"/>
              </a:ext>
            </a:extLst>
          </p:cNvPr>
          <p:cNvCxnSpPr/>
          <p:nvPr/>
        </p:nvCxnSpPr>
        <p:spPr bwMode="auto">
          <a:xfrm flipV="1">
            <a:off x="4730233" y="2402068"/>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40">
            <a:extLst>
              <a:ext uri="{FF2B5EF4-FFF2-40B4-BE49-F238E27FC236}">
                <a16:creationId xmlns:a16="http://schemas.microsoft.com/office/drawing/2014/main" id="{F29E6E9C-E96A-4045-A03F-FEA753AE79B0}"/>
              </a:ext>
            </a:extLst>
          </p:cNvPr>
          <p:cNvCxnSpPr/>
          <p:nvPr/>
        </p:nvCxnSpPr>
        <p:spPr bwMode="auto">
          <a:xfrm flipV="1">
            <a:off x="4907625" y="2554879"/>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连接符 41">
            <a:extLst>
              <a:ext uri="{FF2B5EF4-FFF2-40B4-BE49-F238E27FC236}">
                <a16:creationId xmlns:a16="http://schemas.microsoft.com/office/drawing/2014/main" id="{CC386BFD-17FF-49E9-B711-3C1524C2160E}"/>
              </a:ext>
            </a:extLst>
          </p:cNvPr>
          <p:cNvCxnSpPr/>
          <p:nvPr/>
        </p:nvCxnSpPr>
        <p:spPr bwMode="auto">
          <a:xfrm flipV="1">
            <a:off x="5097007" y="2682540"/>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42">
            <a:extLst>
              <a:ext uri="{FF2B5EF4-FFF2-40B4-BE49-F238E27FC236}">
                <a16:creationId xmlns:a16="http://schemas.microsoft.com/office/drawing/2014/main" id="{FC935C62-0FDC-4C9D-922C-6B613B26D73C}"/>
              </a:ext>
            </a:extLst>
          </p:cNvPr>
          <p:cNvCxnSpPr/>
          <p:nvPr/>
        </p:nvCxnSpPr>
        <p:spPr bwMode="auto">
          <a:xfrm flipV="1">
            <a:off x="5251060" y="2833799"/>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43">
            <a:extLst>
              <a:ext uri="{FF2B5EF4-FFF2-40B4-BE49-F238E27FC236}">
                <a16:creationId xmlns:a16="http://schemas.microsoft.com/office/drawing/2014/main" id="{797689EA-CA69-40D3-807D-BAB7916FD6AA}"/>
              </a:ext>
            </a:extLst>
          </p:cNvPr>
          <p:cNvCxnSpPr/>
          <p:nvPr/>
        </p:nvCxnSpPr>
        <p:spPr bwMode="auto">
          <a:xfrm flipV="1">
            <a:off x="5427896" y="2961043"/>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a:extLst>
              <a:ext uri="{FF2B5EF4-FFF2-40B4-BE49-F238E27FC236}">
                <a16:creationId xmlns:a16="http://schemas.microsoft.com/office/drawing/2014/main" id="{CEB23A4E-21CC-4E31-A37F-63890959A0BE}"/>
              </a:ext>
            </a:extLst>
          </p:cNvPr>
          <p:cNvCxnSpPr/>
          <p:nvPr/>
        </p:nvCxnSpPr>
        <p:spPr bwMode="auto">
          <a:xfrm flipV="1">
            <a:off x="5593425" y="3088132"/>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a:extLst>
              <a:ext uri="{FF2B5EF4-FFF2-40B4-BE49-F238E27FC236}">
                <a16:creationId xmlns:a16="http://schemas.microsoft.com/office/drawing/2014/main" id="{BAC0DB4A-6513-41E1-AA84-42194C32158B}"/>
              </a:ext>
            </a:extLst>
          </p:cNvPr>
          <p:cNvCxnSpPr/>
          <p:nvPr/>
        </p:nvCxnSpPr>
        <p:spPr bwMode="auto">
          <a:xfrm flipV="1">
            <a:off x="5708260" y="3215005"/>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文本框 46">
            <a:extLst>
              <a:ext uri="{FF2B5EF4-FFF2-40B4-BE49-F238E27FC236}">
                <a16:creationId xmlns:a16="http://schemas.microsoft.com/office/drawing/2014/main" id="{E4ACAE5A-FB3A-4379-AF43-6BE9D6FCEEBF}"/>
              </a:ext>
            </a:extLst>
          </p:cNvPr>
          <p:cNvSpPr txBox="1"/>
          <p:nvPr/>
        </p:nvSpPr>
        <p:spPr>
          <a:xfrm>
            <a:off x="5678668" y="5909210"/>
            <a:ext cx="1059906" cy="400110"/>
          </a:xfrm>
          <a:prstGeom prst="rect">
            <a:avLst/>
          </a:prstGeom>
          <a:noFill/>
        </p:spPr>
        <p:txBody>
          <a:bodyPr wrap="none" rtlCol="0">
            <a:spAutoFit/>
          </a:bodyPr>
          <a:lstStyle/>
          <a:p>
            <a:r>
              <a:rPr lang="en-US" altLang="zh-CN" sz="2000" dirty="0"/>
              <a:t>g1(x)=0</a:t>
            </a:r>
          </a:p>
        </p:txBody>
      </p:sp>
      <p:sp>
        <p:nvSpPr>
          <p:cNvPr id="48" name="文本框 47">
            <a:extLst>
              <a:ext uri="{FF2B5EF4-FFF2-40B4-BE49-F238E27FC236}">
                <a16:creationId xmlns:a16="http://schemas.microsoft.com/office/drawing/2014/main" id="{EC0594B1-5CC9-40D4-9A7A-DF2AEAC0A652}"/>
              </a:ext>
            </a:extLst>
          </p:cNvPr>
          <p:cNvSpPr txBox="1"/>
          <p:nvPr/>
        </p:nvSpPr>
        <p:spPr>
          <a:xfrm>
            <a:off x="4610157" y="1651873"/>
            <a:ext cx="1059906" cy="400110"/>
          </a:xfrm>
          <a:prstGeom prst="rect">
            <a:avLst/>
          </a:prstGeom>
          <a:noFill/>
        </p:spPr>
        <p:txBody>
          <a:bodyPr wrap="none" rtlCol="0">
            <a:spAutoFit/>
          </a:bodyPr>
          <a:lstStyle/>
          <a:p>
            <a:r>
              <a:rPr lang="en-US" altLang="zh-CN" sz="2000" dirty="0"/>
              <a:t>g2(x)=0</a:t>
            </a:r>
          </a:p>
        </p:txBody>
      </p:sp>
      <p:sp>
        <p:nvSpPr>
          <p:cNvPr id="49" name="文本框 48">
            <a:extLst>
              <a:ext uri="{FF2B5EF4-FFF2-40B4-BE49-F238E27FC236}">
                <a16:creationId xmlns:a16="http://schemas.microsoft.com/office/drawing/2014/main" id="{4E84A5E6-8E09-430C-86E6-C0CF2538229A}"/>
              </a:ext>
            </a:extLst>
          </p:cNvPr>
          <p:cNvSpPr txBox="1"/>
          <p:nvPr/>
        </p:nvSpPr>
        <p:spPr>
          <a:xfrm>
            <a:off x="5729758" y="3912920"/>
            <a:ext cx="1059906" cy="400110"/>
          </a:xfrm>
          <a:prstGeom prst="rect">
            <a:avLst/>
          </a:prstGeom>
          <a:noFill/>
        </p:spPr>
        <p:txBody>
          <a:bodyPr wrap="none" rtlCol="0">
            <a:spAutoFit/>
          </a:bodyPr>
          <a:lstStyle/>
          <a:p>
            <a:r>
              <a:rPr lang="en-US" altLang="zh-CN" sz="2000" dirty="0"/>
              <a:t>g3(x)=0</a:t>
            </a:r>
          </a:p>
        </p:txBody>
      </p:sp>
      <p:sp>
        <p:nvSpPr>
          <p:cNvPr id="50" name="文本框 49">
            <a:extLst>
              <a:ext uri="{FF2B5EF4-FFF2-40B4-BE49-F238E27FC236}">
                <a16:creationId xmlns:a16="http://schemas.microsoft.com/office/drawing/2014/main" id="{F41737BB-21D8-4753-BBA3-2EFE5B45F747}"/>
              </a:ext>
            </a:extLst>
          </p:cNvPr>
          <p:cNvSpPr txBox="1"/>
          <p:nvPr/>
        </p:nvSpPr>
        <p:spPr>
          <a:xfrm>
            <a:off x="2447774" y="4418625"/>
            <a:ext cx="1059906" cy="400110"/>
          </a:xfrm>
          <a:prstGeom prst="rect">
            <a:avLst/>
          </a:prstGeom>
          <a:noFill/>
        </p:spPr>
        <p:txBody>
          <a:bodyPr wrap="none" rtlCol="0">
            <a:spAutoFit/>
          </a:bodyPr>
          <a:lstStyle/>
          <a:p>
            <a:r>
              <a:rPr lang="en-US" altLang="zh-CN" sz="2000" dirty="0"/>
              <a:t>g4(x)=0</a:t>
            </a:r>
          </a:p>
        </p:txBody>
      </p:sp>
      <p:sp>
        <p:nvSpPr>
          <p:cNvPr id="53" name="椭圆 52">
            <a:extLst>
              <a:ext uri="{FF2B5EF4-FFF2-40B4-BE49-F238E27FC236}">
                <a16:creationId xmlns:a16="http://schemas.microsoft.com/office/drawing/2014/main" id="{58606F5B-8A89-4242-9B2E-DABF2D43CFB9}"/>
              </a:ext>
            </a:extLst>
          </p:cNvPr>
          <p:cNvSpPr/>
          <p:nvPr/>
        </p:nvSpPr>
        <p:spPr bwMode="auto">
          <a:xfrm>
            <a:off x="3825591" y="2910204"/>
            <a:ext cx="797308" cy="436473"/>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4" name="椭圆 53">
            <a:extLst>
              <a:ext uri="{FF2B5EF4-FFF2-40B4-BE49-F238E27FC236}">
                <a16:creationId xmlns:a16="http://schemas.microsoft.com/office/drawing/2014/main" id="{F78D550C-AFE1-4012-ACF9-6382AE772D4A}"/>
              </a:ext>
            </a:extLst>
          </p:cNvPr>
          <p:cNvSpPr/>
          <p:nvPr/>
        </p:nvSpPr>
        <p:spPr bwMode="auto">
          <a:xfrm>
            <a:off x="3656852" y="2806189"/>
            <a:ext cx="1118575" cy="657877"/>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5" name="椭圆 54">
            <a:extLst>
              <a:ext uri="{FF2B5EF4-FFF2-40B4-BE49-F238E27FC236}">
                <a16:creationId xmlns:a16="http://schemas.microsoft.com/office/drawing/2014/main" id="{6F18276B-E059-4582-AFB1-69246B58CAD0}"/>
              </a:ext>
            </a:extLst>
          </p:cNvPr>
          <p:cNvSpPr/>
          <p:nvPr/>
        </p:nvSpPr>
        <p:spPr bwMode="auto">
          <a:xfrm>
            <a:off x="3474788" y="2659709"/>
            <a:ext cx="1478212" cy="974054"/>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6" name="椭圆 55">
            <a:extLst>
              <a:ext uri="{FF2B5EF4-FFF2-40B4-BE49-F238E27FC236}">
                <a16:creationId xmlns:a16="http://schemas.microsoft.com/office/drawing/2014/main" id="{BF67C7B3-1449-42A5-B648-CBDF05783A3D}"/>
              </a:ext>
            </a:extLst>
          </p:cNvPr>
          <p:cNvSpPr/>
          <p:nvPr/>
        </p:nvSpPr>
        <p:spPr bwMode="auto">
          <a:xfrm>
            <a:off x="3318976" y="2519960"/>
            <a:ext cx="1774541" cy="1267941"/>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7" name="椭圆 56">
            <a:extLst>
              <a:ext uri="{FF2B5EF4-FFF2-40B4-BE49-F238E27FC236}">
                <a16:creationId xmlns:a16="http://schemas.microsoft.com/office/drawing/2014/main" id="{9F1FF289-38B7-4D65-B646-10F364B38E6B}"/>
              </a:ext>
            </a:extLst>
          </p:cNvPr>
          <p:cNvSpPr/>
          <p:nvPr/>
        </p:nvSpPr>
        <p:spPr bwMode="auto">
          <a:xfrm>
            <a:off x="3088426" y="2347793"/>
            <a:ext cx="2243442" cy="1601815"/>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8" name="思想气泡: 云 57">
            <a:extLst>
              <a:ext uri="{FF2B5EF4-FFF2-40B4-BE49-F238E27FC236}">
                <a16:creationId xmlns:a16="http://schemas.microsoft.com/office/drawing/2014/main" id="{22FCDA8E-68C4-46C9-B03E-D9754BD8AF2E}"/>
              </a:ext>
            </a:extLst>
          </p:cNvPr>
          <p:cNvSpPr/>
          <p:nvPr/>
        </p:nvSpPr>
        <p:spPr bwMode="auto">
          <a:xfrm>
            <a:off x="992561" y="5229200"/>
            <a:ext cx="3398294" cy="713425"/>
          </a:xfrm>
          <a:prstGeom prst="cloudCallout">
            <a:avLst>
              <a:gd name="adj1" fmla="val 42623"/>
              <a:gd name="adj2" fmla="val -192506"/>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CC"/>
                </a:solidFill>
                <a:effectLst/>
                <a:latin typeface="Arial" charset="0"/>
              </a:rPr>
              <a:t>可行域是凸集</a:t>
            </a:r>
          </a:p>
        </p:txBody>
      </p:sp>
      <p:sp>
        <p:nvSpPr>
          <p:cNvPr id="60" name="对话气泡: 圆角矩形 59">
            <a:extLst>
              <a:ext uri="{FF2B5EF4-FFF2-40B4-BE49-F238E27FC236}">
                <a16:creationId xmlns:a16="http://schemas.microsoft.com/office/drawing/2014/main" id="{07D0C82B-6575-4D82-92A6-BAC7DEC95B47}"/>
              </a:ext>
            </a:extLst>
          </p:cNvPr>
          <p:cNvSpPr/>
          <p:nvPr/>
        </p:nvSpPr>
        <p:spPr bwMode="auto">
          <a:xfrm>
            <a:off x="6562597" y="2222102"/>
            <a:ext cx="3231940" cy="1932737"/>
          </a:xfrm>
          <a:prstGeom prst="wedgeRoundRectCallout">
            <a:avLst>
              <a:gd name="adj1" fmla="val -119563"/>
              <a:gd name="adj2" fmla="val -866"/>
              <a:gd name="adj3" fmla="val 16667"/>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lang="zh-CN" altLang="en-US" sz="2400" dirty="0">
                <a:solidFill>
                  <a:srgbClr val="C00000"/>
                </a:solidFill>
              </a:rPr>
              <a:t>目标函数是凸函数，且最值点正好在可行域内，则最优解就是该点</a:t>
            </a:r>
            <a:endParaRPr kumimoji="0" lang="zh-CN" altLang="en-US" sz="2400" b="0" i="0" u="none" strike="noStrike" cap="none" normalizeH="0" baseline="0" dirty="0">
              <a:ln>
                <a:noFill/>
              </a:ln>
              <a:solidFill>
                <a:srgbClr val="C00000"/>
              </a:solidFill>
              <a:effectLst/>
              <a:latin typeface="Arial" charset="0"/>
            </a:endParaRPr>
          </a:p>
        </p:txBody>
      </p:sp>
    </p:spTree>
    <p:extLst>
      <p:ext uri="{BB962C8B-B14F-4D97-AF65-F5344CB8AC3E}">
        <p14:creationId xmlns:p14="http://schemas.microsoft.com/office/powerpoint/2010/main" val="581658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p:cTn id="7" dur="500" fill="hold"/>
                                        <p:tgtEl>
                                          <p:spTgt spid="58"/>
                                        </p:tgtEl>
                                        <p:attrNameLst>
                                          <p:attrName>ppt_w</p:attrName>
                                        </p:attrNameLst>
                                      </p:cBhvr>
                                      <p:tavLst>
                                        <p:tav tm="0">
                                          <p:val>
                                            <p:fltVal val="0"/>
                                          </p:val>
                                        </p:tav>
                                        <p:tav tm="100000">
                                          <p:val>
                                            <p:strVal val="#ppt_w"/>
                                          </p:val>
                                        </p:tav>
                                      </p:tavLst>
                                    </p:anim>
                                    <p:anim calcmode="lin" valueType="num">
                                      <p:cBhvr>
                                        <p:cTn id="8" dur="500" fill="hold"/>
                                        <p:tgtEl>
                                          <p:spTgt spid="58"/>
                                        </p:tgtEl>
                                        <p:attrNameLst>
                                          <p:attrName>ppt_h</p:attrName>
                                        </p:attrNameLst>
                                      </p:cBhvr>
                                      <p:tavLst>
                                        <p:tav tm="0">
                                          <p:val>
                                            <p:fltVal val="0"/>
                                          </p:val>
                                        </p:tav>
                                        <p:tav tm="100000">
                                          <p:val>
                                            <p:strVal val="#ppt_h"/>
                                          </p:val>
                                        </p:tav>
                                      </p:tavLst>
                                    </p:anim>
                                    <p:animEffect transition="in" filter="fade">
                                      <p:cBhvr>
                                        <p:cTn id="9" dur="500"/>
                                        <p:tgtEl>
                                          <p:spTgt spid="58"/>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56"/>
                                        </p:tgtEl>
                                        <p:attrNameLst>
                                          <p:attrName>style.visibility</p:attrName>
                                        </p:attrNameLst>
                                      </p:cBhvr>
                                      <p:to>
                                        <p:strVal val="visible"/>
                                      </p:to>
                                    </p:set>
                                    <p:animEffect transition="in" filter="barn(inVertical)">
                                      <p:cBhvr>
                                        <p:cTn id="14" dur="500"/>
                                        <p:tgtEl>
                                          <p:spTgt spid="56"/>
                                        </p:tgtEl>
                                      </p:cBhvr>
                                    </p:animEffect>
                                  </p:childTnLst>
                                </p:cTn>
                              </p:par>
                            </p:childTnLst>
                          </p:cTn>
                        </p:par>
                        <p:par>
                          <p:cTn id="15" fill="hold">
                            <p:stCondLst>
                              <p:cond delay="500"/>
                            </p:stCondLst>
                            <p:childTnLst>
                              <p:par>
                                <p:cTn id="16" presetID="16" presetClass="entr" presetSubtype="21" fill="hold" grpId="0" nodeType="after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barn(inVertical)">
                                      <p:cBhvr>
                                        <p:cTn id="18" dur="500"/>
                                        <p:tgtEl>
                                          <p:spTgt spid="57"/>
                                        </p:tgtEl>
                                      </p:cBhvr>
                                    </p:animEffect>
                                  </p:childTnLst>
                                </p:cTn>
                              </p:par>
                            </p:childTnLst>
                          </p:cTn>
                        </p:par>
                        <p:par>
                          <p:cTn id="19" fill="hold">
                            <p:stCondLst>
                              <p:cond delay="1000"/>
                            </p:stCondLst>
                            <p:childTnLst>
                              <p:par>
                                <p:cTn id="20" presetID="16" presetClass="entr" presetSubtype="21" fill="hold" grpId="0" nodeType="after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barn(inVertical)">
                                      <p:cBhvr>
                                        <p:cTn id="22" dur="500"/>
                                        <p:tgtEl>
                                          <p:spTgt spid="55"/>
                                        </p:tgtEl>
                                      </p:cBhvr>
                                    </p:animEffect>
                                  </p:childTnLst>
                                </p:cTn>
                              </p:par>
                            </p:childTnLst>
                          </p:cTn>
                        </p:par>
                        <p:par>
                          <p:cTn id="23" fill="hold">
                            <p:stCondLst>
                              <p:cond delay="1500"/>
                            </p:stCondLst>
                            <p:childTnLst>
                              <p:par>
                                <p:cTn id="24" presetID="16" presetClass="entr" presetSubtype="21" fill="hold" grpId="0" nodeType="afterEffect">
                                  <p:stCondLst>
                                    <p:cond delay="0"/>
                                  </p:stCondLst>
                                  <p:childTnLst>
                                    <p:set>
                                      <p:cBhvr>
                                        <p:cTn id="25" dur="1" fill="hold">
                                          <p:stCondLst>
                                            <p:cond delay="0"/>
                                          </p:stCondLst>
                                        </p:cTn>
                                        <p:tgtEl>
                                          <p:spTgt spid="54"/>
                                        </p:tgtEl>
                                        <p:attrNameLst>
                                          <p:attrName>style.visibility</p:attrName>
                                        </p:attrNameLst>
                                      </p:cBhvr>
                                      <p:to>
                                        <p:strVal val="visible"/>
                                      </p:to>
                                    </p:set>
                                    <p:animEffect transition="in" filter="barn(inVertical)">
                                      <p:cBhvr>
                                        <p:cTn id="26" dur="500"/>
                                        <p:tgtEl>
                                          <p:spTgt spid="54"/>
                                        </p:tgtEl>
                                      </p:cBhvr>
                                    </p:animEffect>
                                  </p:childTnLst>
                                </p:cTn>
                              </p:par>
                            </p:childTnLst>
                          </p:cTn>
                        </p:par>
                        <p:par>
                          <p:cTn id="27" fill="hold">
                            <p:stCondLst>
                              <p:cond delay="2000"/>
                            </p:stCondLst>
                            <p:childTnLst>
                              <p:par>
                                <p:cTn id="28" presetID="16" presetClass="entr" presetSubtype="21" fill="hold" grpId="0" nodeType="after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barn(inVertical)">
                                      <p:cBhvr>
                                        <p:cTn id="30" dur="500"/>
                                        <p:tgtEl>
                                          <p:spTgt spid="53"/>
                                        </p:tgtEl>
                                      </p:cBhvr>
                                    </p:animEffect>
                                  </p:childTnLst>
                                </p:cTn>
                              </p:par>
                            </p:childTnLst>
                          </p:cTn>
                        </p:par>
                        <p:par>
                          <p:cTn id="31" fill="hold">
                            <p:stCondLst>
                              <p:cond delay="2500"/>
                            </p:stCondLst>
                            <p:childTnLst>
                              <p:par>
                                <p:cTn id="32" presetID="16" presetClass="entr" presetSubtype="21"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barn(inVertical)">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60"/>
                                        </p:tgtEl>
                                        <p:attrNameLst>
                                          <p:attrName>style.visibility</p:attrName>
                                        </p:attrNameLst>
                                      </p:cBhvr>
                                      <p:to>
                                        <p:strVal val="visible"/>
                                      </p:to>
                                    </p:set>
                                    <p:anim calcmode="lin" valueType="num">
                                      <p:cBhvr>
                                        <p:cTn id="39" dur="500" fill="hold"/>
                                        <p:tgtEl>
                                          <p:spTgt spid="60"/>
                                        </p:tgtEl>
                                        <p:attrNameLst>
                                          <p:attrName>ppt_w</p:attrName>
                                        </p:attrNameLst>
                                      </p:cBhvr>
                                      <p:tavLst>
                                        <p:tav tm="0">
                                          <p:val>
                                            <p:fltVal val="0"/>
                                          </p:val>
                                        </p:tav>
                                        <p:tav tm="100000">
                                          <p:val>
                                            <p:strVal val="#ppt_w"/>
                                          </p:val>
                                        </p:tav>
                                      </p:tavLst>
                                    </p:anim>
                                    <p:anim calcmode="lin" valueType="num">
                                      <p:cBhvr>
                                        <p:cTn id="40" dur="500" fill="hold"/>
                                        <p:tgtEl>
                                          <p:spTgt spid="60"/>
                                        </p:tgtEl>
                                        <p:attrNameLst>
                                          <p:attrName>ppt_h</p:attrName>
                                        </p:attrNameLst>
                                      </p:cBhvr>
                                      <p:tavLst>
                                        <p:tav tm="0">
                                          <p:val>
                                            <p:fltVal val="0"/>
                                          </p:val>
                                        </p:tav>
                                        <p:tav tm="100000">
                                          <p:val>
                                            <p:strVal val="#ppt_h"/>
                                          </p:val>
                                        </p:tav>
                                      </p:tavLst>
                                    </p:anim>
                                    <p:animEffect transition="in" filter="fade">
                                      <p:cBhvr>
                                        <p:cTn id="41"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53" grpId="0" animBg="1"/>
      <p:bldP spid="54" grpId="0" animBg="1"/>
      <p:bldP spid="55" grpId="0" animBg="1"/>
      <p:bldP spid="56" grpId="0" animBg="1"/>
      <p:bldP spid="57" grpId="0" animBg="1"/>
      <p:bldP spid="58" grpId="0" animBg="1"/>
      <p:bldP spid="6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DF27B-B284-43A3-AF34-7D2C0089F9D6}"/>
              </a:ext>
            </a:extLst>
          </p:cNvPr>
          <p:cNvSpPr>
            <a:spLocks noGrp="1"/>
          </p:cNvSpPr>
          <p:nvPr>
            <p:ph type="title"/>
          </p:nvPr>
        </p:nvSpPr>
        <p:spPr>
          <a:xfrm>
            <a:off x="37948" y="215619"/>
            <a:ext cx="9719492" cy="792088"/>
          </a:xfrm>
        </p:spPr>
        <p:txBody>
          <a:bodyPr/>
          <a:lstStyle/>
          <a:p>
            <a:r>
              <a:rPr lang="zh-CN" altLang="en-US" dirty="0"/>
              <a:t>约束优化问题极值点分析</a:t>
            </a:r>
          </a:p>
        </p:txBody>
      </p:sp>
      <p:sp>
        <p:nvSpPr>
          <p:cNvPr id="4" name="日期占位符 3">
            <a:extLst>
              <a:ext uri="{FF2B5EF4-FFF2-40B4-BE49-F238E27FC236}">
                <a16:creationId xmlns:a16="http://schemas.microsoft.com/office/drawing/2014/main" id="{8D8546B8-461C-4CEC-95C1-3D7B3FB1893A}"/>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3C90295C-5DE4-4FCC-897A-99DA4B25FE42}"/>
              </a:ext>
            </a:extLst>
          </p:cNvPr>
          <p:cNvSpPr>
            <a:spLocks noGrp="1"/>
          </p:cNvSpPr>
          <p:nvPr>
            <p:ph type="sldNum" sz="quarter" idx="12"/>
          </p:nvPr>
        </p:nvSpPr>
        <p:spPr/>
        <p:txBody>
          <a:bodyPr/>
          <a:lstStyle/>
          <a:p>
            <a:fld id="{7AC79822-BC0D-4DE8-A7E5-90A3732A2B82}" type="slidenum">
              <a:rPr lang="zh-CN" altLang="en-US" smtClean="0"/>
              <a:pPr/>
              <a:t>23</a:t>
            </a:fld>
            <a:endParaRPr lang="en-US" altLang="zh-CN" dirty="0"/>
          </a:p>
        </p:txBody>
      </p:sp>
      <p:cxnSp>
        <p:nvCxnSpPr>
          <p:cNvPr id="6" name="直接连接符 5">
            <a:extLst>
              <a:ext uri="{FF2B5EF4-FFF2-40B4-BE49-F238E27FC236}">
                <a16:creationId xmlns:a16="http://schemas.microsoft.com/office/drawing/2014/main" id="{48CD66EB-B19A-47CD-8C4A-F47B728C81B5}"/>
              </a:ext>
            </a:extLst>
          </p:cNvPr>
          <p:cNvCxnSpPr/>
          <p:nvPr/>
        </p:nvCxnSpPr>
        <p:spPr bwMode="auto">
          <a:xfrm>
            <a:off x="1857223" y="2479858"/>
            <a:ext cx="3816424" cy="3584175"/>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弧形 6">
            <a:extLst>
              <a:ext uri="{FF2B5EF4-FFF2-40B4-BE49-F238E27FC236}">
                <a16:creationId xmlns:a16="http://schemas.microsoft.com/office/drawing/2014/main" id="{4C63D043-7726-40E9-B627-B155B4115EAE}"/>
              </a:ext>
            </a:extLst>
          </p:cNvPr>
          <p:cNvSpPr/>
          <p:nvPr/>
        </p:nvSpPr>
        <p:spPr bwMode="auto">
          <a:xfrm rot="19641207">
            <a:off x="2249127" y="2087961"/>
            <a:ext cx="3096344" cy="1800200"/>
          </a:xfrm>
          <a:prstGeom prst="arc">
            <a:avLst>
              <a:gd name="adj1" fmla="val 11414526"/>
              <a:gd name="adj2" fmla="val 20630555"/>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8" name="弧形 7">
            <a:extLst>
              <a:ext uri="{FF2B5EF4-FFF2-40B4-BE49-F238E27FC236}">
                <a16:creationId xmlns:a16="http://schemas.microsoft.com/office/drawing/2014/main" id="{0C4EC5EA-19D8-4FF7-A1B6-6E6D14748899}"/>
              </a:ext>
            </a:extLst>
          </p:cNvPr>
          <p:cNvSpPr/>
          <p:nvPr/>
        </p:nvSpPr>
        <p:spPr bwMode="auto">
          <a:xfrm rot="1962781">
            <a:off x="1811294" y="2204402"/>
            <a:ext cx="4379126" cy="1800200"/>
          </a:xfrm>
          <a:prstGeom prst="arc">
            <a:avLst>
              <a:gd name="adj1" fmla="val 12561504"/>
              <a:gd name="adj2" fmla="val 20990983"/>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9" name="弧形 8">
            <a:extLst>
              <a:ext uri="{FF2B5EF4-FFF2-40B4-BE49-F238E27FC236}">
                <a16:creationId xmlns:a16="http://schemas.microsoft.com/office/drawing/2014/main" id="{BC66CEF1-122D-45E0-B6B9-80EEC89EB3DE}"/>
              </a:ext>
            </a:extLst>
          </p:cNvPr>
          <p:cNvSpPr/>
          <p:nvPr/>
        </p:nvSpPr>
        <p:spPr bwMode="auto">
          <a:xfrm rot="9294284">
            <a:off x="2906956" y="2699082"/>
            <a:ext cx="3096344" cy="1800200"/>
          </a:xfrm>
          <a:prstGeom prst="arc">
            <a:avLst>
              <a:gd name="adj1" fmla="val 11414526"/>
              <a:gd name="adj2" fmla="val 20630555"/>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1" name="流程图: 接点 10">
            <a:extLst>
              <a:ext uri="{FF2B5EF4-FFF2-40B4-BE49-F238E27FC236}">
                <a16:creationId xmlns:a16="http://schemas.microsoft.com/office/drawing/2014/main" id="{7891007C-E271-4962-BBAF-8B6CF2F53D1A}"/>
              </a:ext>
            </a:extLst>
          </p:cNvPr>
          <p:cNvSpPr/>
          <p:nvPr/>
        </p:nvSpPr>
        <p:spPr bwMode="auto">
          <a:xfrm>
            <a:off x="2105723" y="3549543"/>
            <a:ext cx="217452" cy="190894"/>
          </a:xfrm>
          <a:prstGeom prst="flowChartConnector">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12" name="直接连接符 11">
            <a:extLst>
              <a:ext uri="{FF2B5EF4-FFF2-40B4-BE49-F238E27FC236}">
                <a16:creationId xmlns:a16="http://schemas.microsoft.com/office/drawing/2014/main" id="{2D91ABC7-8316-4EB3-88C7-48B3E844D3C9}"/>
              </a:ext>
            </a:extLst>
          </p:cNvPr>
          <p:cNvCxnSpPr/>
          <p:nvPr/>
        </p:nvCxnSpPr>
        <p:spPr bwMode="auto">
          <a:xfrm flipV="1">
            <a:off x="2289271" y="30635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2">
            <a:extLst>
              <a:ext uri="{FF2B5EF4-FFF2-40B4-BE49-F238E27FC236}">
                <a16:creationId xmlns:a16="http://schemas.microsoft.com/office/drawing/2014/main" id="{9CB25DBD-D543-4671-8058-6370C69D56C0}"/>
              </a:ext>
            </a:extLst>
          </p:cNvPr>
          <p:cNvCxnSpPr/>
          <p:nvPr/>
        </p:nvCxnSpPr>
        <p:spPr bwMode="auto">
          <a:xfrm flipV="1">
            <a:off x="2441671" y="32159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a:extLst>
              <a:ext uri="{FF2B5EF4-FFF2-40B4-BE49-F238E27FC236}">
                <a16:creationId xmlns:a16="http://schemas.microsoft.com/office/drawing/2014/main" id="{6ADAD591-87E9-4DF1-9426-A8D8415268E2}"/>
              </a:ext>
            </a:extLst>
          </p:cNvPr>
          <p:cNvCxnSpPr/>
          <p:nvPr/>
        </p:nvCxnSpPr>
        <p:spPr bwMode="auto">
          <a:xfrm flipV="1">
            <a:off x="2594071" y="33683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a:extLst>
              <a:ext uri="{FF2B5EF4-FFF2-40B4-BE49-F238E27FC236}">
                <a16:creationId xmlns:a16="http://schemas.microsoft.com/office/drawing/2014/main" id="{861C3EEC-23A3-49F5-B83B-1CCE63793C2C}"/>
              </a:ext>
            </a:extLst>
          </p:cNvPr>
          <p:cNvCxnSpPr/>
          <p:nvPr/>
        </p:nvCxnSpPr>
        <p:spPr bwMode="auto">
          <a:xfrm flipV="1">
            <a:off x="2746471" y="35207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连接符 15">
            <a:extLst>
              <a:ext uri="{FF2B5EF4-FFF2-40B4-BE49-F238E27FC236}">
                <a16:creationId xmlns:a16="http://schemas.microsoft.com/office/drawing/2014/main" id="{BD5CC0BA-1709-4273-A958-31ABD594C03B}"/>
              </a:ext>
            </a:extLst>
          </p:cNvPr>
          <p:cNvCxnSpPr/>
          <p:nvPr/>
        </p:nvCxnSpPr>
        <p:spPr bwMode="auto">
          <a:xfrm flipV="1">
            <a:off x="2898871" y="36731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a:extLst>
              <a:ext uri="{FF2B5EF4-FFF2-40B4-BE49-F238E27FC236}">
                <a16:creationId xmlns:a16="http://schemas.microsoft.com/office/drawing/2014/main" id="{6961A293-AAFD-4E4C-A82D-72F85345B857}"/>
              </a:ext>
            </a:extLst>
          </p:cNvPr>
          <p:cNvCxnSpPr/>
          <p:nvPr/>
        </p:nvCxnSpPr>
        <p:spPr bwMode="auto">
          <a:xfrm flipV="1">
            <a:off x="3051271" y="38255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连接符 17">
            <a:extLst>
              <a:ext uri="{FF2B5EF4-FFF2-40B4-BE49-F238E27FC236}">
                <a16:creationId xmlns:a16="http://schemas.microsoft.com/office/drawing/2014/main" id="{6C285BB1-88A7-4183-9252-4A0EE36E8BF3}"/>
              </a:ext>
            </a:extLst>
          </p:cNvPr>
          <p:cNvCxnSpPr/>
          <p:nvPr/>
        </p:nvCxnSpPr>
        <p:spPr bwMode="auto">
          <a:xfrm flipV="1">
            <a:off x="3203671" y="39779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连接符 18">
            <a:extLst>
              <a:ext uri="{FF2B5EF4-FFF2-40B4-BE49-F238E27FC236}">
                <a16:creationId xmlns:a16="http://schemas.microsoft.com/office/drawing/2014/main" id="{75E775DE-1607-4D41-B54E-D8C72D3E21D8}"/>
              </a:ext>
            </a:extLst>
          </p:cNvPr>
          <p:cNvCxnSpPr/>
          <p:nvPr/>
        </p:nvCxnSpPr>
        <p:spPr bwMode="auto">
          <a:xfrm flipV="1">
            <a:off x="3356071" y="41303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a:extLst>
              <a:ext uri="{FF2B5EF4-FFF2-40B4-BE49-F238E27FC236}">
                <a16:creationId xmlns:a16="http://schemas.microsoft.com/office/drawing/2014/main" id="{1EA5E9A4-FE4C-4744-975E-49B1DCF36D2D}"/>
              </a:ext>
            </a:extLst>
          </p:cNvPr>
          <p:cNvCxnSpPr/>
          <p:nvPr/>
        </p:nvCxnSpPr>
        <p:spPr bwMode="auto">
          <a:xfrm flipV="1">
            <a:off x="3508471" y="42827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连接符 20">
            <a:extLst>
              <a:ext uri="{FF2B5EF4-FFF2-40B4-BE49-F238E27FC236}">
                <a16:creationId xmlns:a16="http://schemas.microsoft.com/office/drawing/2014/main" id="{74C3C0BF-BA26-43FE-92AE-2BCD743BA762}"/>
              </a:ext>
            </a:extLst>
          </p:cNvPr>
          <p:cNvCxnSpPr/>
          <p:nvPr/>
        </p:nvCxnSpPr>
        <p:spPr bwMode="auto">
          <a:xfrm flipV="1">
            <a:off x="3660871" y="44351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连接符 21">
            <a:extLst>
              <a:ext uri="{FF2B5EF4-FFF2-40B4-BE49-F238E27FC236}">
                <a16:creationId xmlns:a16="http://schemas.microsoft.com/office/drawing/2014/main" id="{D8A1574C-22FE-4E73-AB34-7D8E3F5C1E08}"/>
              </a:ext>
            </a:extLst>
          </p:cNvPr>
          <p:cNvCxnSpPr/>
          <p:nvPr/>
        </p:nvCxnSpPr>
        <p:spPr bwMode="auto">
          <a:xfrm flipV="1">
            <a:off x="3813271" y="45875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连接符 22">
            <a:extLst>
              <a:ext uri="{FF2B5EF4-FFF2-40B4-BE49-F238E27FC236}">
                <a16:creationId xmlns:a16="http://schemas.microsoft.com/office/drawing/2014/main" id="{8EF325F3-D264-47C5-8B75-A0FB98E9E784}"/>
              </a:ext>
            </a:extLst>
          </p:cNvPr>
          <p:cNvCxnSpPr/>
          <p:nvPr/>
        </p:nvCxnSpPr>
        <p:spPr bwMode="auto">
          <a:xfrm flipV="1">
            <a:off x="3965671" y="47399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a:extLst>
              <a:ext uri="{FF2B5EF4-FFF2-40B4-BE49-F238E27FC236}">
                <a16:creationId xmlns:a16="http://schemas.microsoft.com/office/drawing/2014/main" id="{2076EA41-89E4-4C30-9A31-C7408D90C16F}"/>
              </a:ext>
            </a:extLst>
          </p:cNvPr>
          <p:cNvCxnSpPr/>
          <p:nvPr/>
        </p:nvCxnSpPr>
        <p:spPr bwMode="auto">
          <a:xfrm flipV="1">
            <a:off x="4118071" y="48923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连接符 24">
            <a:extLst>
              <a:ext uri="{FF2B5EF4-FFF2-40B4-BE49-F238E27FC236}">
                <a16:creationId xmlns:a16="http://schemas.microsoft.com/office/drawing/2014/main" id="{5375F80D-21D6-408E-B929-3F3EDD66DA13}"/>
              </a:ext>
            </a:extLst>
          </p:cNvPr>
          <p:cNvCxnSpPr/>
          <p:nvPr/>
        </p:nvCxnSpPr>
        <p:spPr bwMode="auto">
          <a:xfrm>
            <a:off x="2437653" y="2694113"/>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a:extLst>
              <a:ext uri="{FF2B5EF4-FFF2-40B4-BE49-F238E27FC236}">
                <a16:creationId xmlns:a16="http://schemas.microsoft.com/office/drawing/2014/main" id="{F38D5B14-E24E-4A80-A93B-399BC8DFE444}"/>
              </a:ext>
            </a:extLst>
          </p:cNvPr>
          <p:cNvCxnSpPr/>
          <p:nvPr/>
        </p:nvCxnSpPr>
        <p:spPr bwMode="auto">
          <a:xfrm>
            <a:off x="2547710" y="2528787"/>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26">
            <a:extLst>
              <a:ext uri="{FF2B5EF4-FFF2-40B4-BE49-F238E27FC236}">
                <a16:creationId xmlns:a16="http://schemas.microsoft.com/office/drawing/2014/main" id="{56F288E3-0BC9-4653-9D4E-3F7B1B7D158F}"/>
              </a:ext>
            </a:extLst>
          </p:cNvPr>
          <p:cNvCxnSpPr/>
          <p:nvPr/>
        </p:nvCxnSpPr>
        <p:spPr bwMode="auto">
          <a:xfrm>
            <a:off x="2683806" y="2401583"/>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a:extLst>
              <a:ext uri="{FF2B5EF4-FFF2-40B4-BE49-F238E27FC236}">
                <a16:creationId xmlns:a16="http://schemas.microsoft.com/office/drawing/2014/main" id="{2B1593CC-3E63-4C7D-A595-EDBFDAA2F138}"/>
              </a:ext>
            </a:extLst>
          </p:cNvPr>
          <p:cNvCxnSpPr/>
          <p:nvPr/>
        </p:nvCxnSpPr>
        <p:spPr bwMode="auto">
          <a:xfrm>
            <a:off x="2838573" y="2275762"/>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a:extLst>
              <a:ext uri="{FF2B5EF4-FFF2-40B4-BE49-F238E27FC236}">
                <a16:creationId xmlns:a16="http://schemas.microsoft.com/office/drawing/2014/main" id="{B8F3FC2B-3B21-4E29-9577-CD602362F53E}"/>
              </a:ext>
            </a:extLst>
          </p:cNvPr>
          <p:cNvCxnSpPr/>
          <p:nvPr/>
        </p:nvCxnSpPr>
        <p:spPr bwMode="auto">
          <a:xfrm>
            <a:off x="3027022" y="2122671"/>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a:extLst>
              <a:ext uri="{FF2B5EF4-FFF2-40B4-BE49-F238E27FC236}">
                <a16:creationId xmlns:a16="http://schemas.microsoft.com/office/drawing/2014/main" id="{B9FBA3F9-9E25-45CA-93E4-F77264C6837C}"/>
              </a:ext>
            </a:extLst>
          </p:cNvPr>
          <p:cNvCxnSpPr/>
          <p:nvPr/>
        </p:nvCxnSpPr>
        <p:spPr bwMode="auto">
          <a:xfrm>
            <a:off x="3227791" y="2006642"/>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30">
            <a:extLst>
              <a:ext uri="{FF2B5EF4-FFF2-40B4-BE49-F238E27FC236}">
                <a16:creationId xmlns:a16="http://schemas.microsoft.com/office/drawing/2014/main" id="{0F0A7CDE-9FCB-475F-9677-493C510AD03B}"/>
              </a:ext>
            </a:extLst>
          </p:cNvPr>
          <p:cNvCxnSpPr/>
          <p:nvPr/>
        </p:nvCxnSpPr>
        <p:spPr bwMode="auto">
          <a:xfrm>
            <a:off x="4520542" y="4548930"/>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连接符 31">
            <a:extLst>
              <a:ext uri="{FF2B5EF4-FFF2-40B4-BE49-F238E27FC236}">
                <a16:creationId xmlns:a16="http://schemas.microsoft.com/office/drawing/2014/main" id="{3E64B035-BC4C-48D2-8019-B24AC270C320}"/>
              </a:ext>
            </a:extLst>
          </p:cNvPr>
          <p:cNvCxnSpPr/>
          <p:nvPr/>
        </p:nvCxnSpPr>
        <p:spPr bwMode="auto">
          <a:xfrm>
            <a:off x="4809328" y="4472038"/>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连接符 32">
            <a:extLst>
              <a:ext uri="{FF2B5EF4-FFF2-40B4-BE49-F238E27FC236}">
                <a16:creationId xmlns:a16="http://schemas.microsoft.com/office/drawing/2014/main" id="{D4B7CBB4-50C2-4F0A-AB77-15D0C8E6AA9D}"/>
              </a:ext>
            </a:extLst>
          </p:cNvPr>
          <p:cNvCxnSpPr/>
          <p:nvPr/>
        </p:nvCxnSpPr>
        <p:spPr bwMode="auto">
          <a:xfrm>
            <a:off x="5008262" y="4381968"/>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接连接符 33">
            <a:extLst>
              <a:ext uri="{FF2B5EF4-FFF2-40B4-BE49-F238E27FC236}">
                <a16:creationId xmlns:a16="http://schemas.microsoft.com/office/drawing/2014/main" id="{DDB61BC3-B05E-47D9-B6D8-609BA7222A2A}"/>
              </a:ext>
            </a:extLst>
          </p:cNvPr>
          <p:cNvCxnSpPr/>
          <p:nvPr/>
        </p:nvCxnSpPr>
        <p:spPr bwMode="auto">
          <a:xfrm>
            <a:off x="5188304" y="4307930"/>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a:extLst>
              <a:ext uri="{FF2B5EF4-FFF2-40B4-BE49-F238E27FC236}">
                <a16:creationId xmlns:a16="http://schemas.microsoft.com/office/drawing/2014/main" id="{0720CF92-7F88-4F2C-9657-E0F93A8E2B42}"/>
              </a:ext>
            </a:extLst>
          </p:cNvPr>
          <p:cNvCxnSpPr/>
          <p:nvPr/>
        </p:nvCxnSpPr>
        <p:spPr bwMode="auto">
          <a:xfrm>
            <a:off x="5376753" y="4154839"/>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连接符 35">
            <a:extLst>
              <a:ext uri="{FF2B5EF4-FFF2-40B4-BE49-F238E27FC236}">
                <a16:creationId xmlns:a16="http://schemas.microsoft.com/office/drawing/2014/main" id="{EF0AFB15-DD91-4E9E-8A11-B9BB796AFDBE}"/>
              </a:ext>
            </a:extLst>
          </p:cNvPr>
          <p:cNvCxnSpPr/>
          <p:nvPr/>
        </p:nvCxnSpPr>
        <p:spPr bwMode="auto">
          <a:xfrm>
            <a:off x="5577522" y="4038810"/>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36">
            <a:extLst>
              <a:ext uri="{FF2B5EF4-FFF2-40B4-BE49-F238E27FC236}">
                <a16:creationId xmlns:a16="http://schemas.microsoft.com/office/drawing/2014/main" id="{BECB9E87-DFAA-45F0-BCAC-FBDFC0C28DE7}"/>
              </a:ext>
            </a:extLst>
          </p:cNvPr>
          <p:cNvCxnSpPr/>
          <p:nvPr/>
        </p:nvCxnSpPr>
        <p:spPr bwMode="auto">
          <a:xfrm flipV="1">
            <a:off x="4224245" y="2109002"/>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a:extLst>
              <a:ext uri="{FF2B5EF4-FFF2-40B4-BE49-F238E27FC236}">
                <a16:creationId xmlns:a16="http://schemas.microsoft.com/office/drawing/2014/main" id="{D793B419-4D36-470C-89EA-B7944D59DAA6}"/>
              </a:ext>
            </a:extLst>
          </p:cNvPr>
          <p:cNvCxnSpPr/>
          <p:nvPr/>
        </p:nvCxnSpPr>
        <p:spPr bwMode="auto">
          <a:xfrm flipV="1">
            <a:off x="4390854" y="2185281"/>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直接连接符 38">
            <a:extLst>
              <a:ext uri="{FF2B5EF4-FFF2-40B4-BE49-F238E27FC236}">
                <a16:creationId xmlns:a16="http://schemas.microsoft.com/office/drawing/2014/main" id="{7FEF91BC-30C2-4FE5-BF0B-0BCC074CDF41}"/>
              </a:ext>
            </a:extLst>
          </p:cNvPr>
          <p:cNvCxnSpPr/>
          <p:nvPr/>
        </p:nvCxnSpPr>
        <p:spPr bwMode="auto">
          <a:xfrm flipV="1">
            <a:off x="4552841" y="2275762"/>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连接符 39">
            <a:extLst>
              <a:ext uri="{FF2B5EF4-FFF2-40B4-BE49-F238E27FC236}">
                <a16:creationId xmlns:a16="http://schemas.microsoft.com/office/drawing/2014/main" id="{625AAD60-F28C-4557-BF9E-EAA8C1F516B4}"/>
              </a:ext>
            </a:extLst>
          </p:cNvPr>
          <p:cNvCxnSpPr/>
          <p:nvPr/>
        </p:nvCxnSpPr>
        <p:spPr bwMode="auto">
          <a:xfrm flipV="1">
            <a:off x="4730233" y="2402068"/>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40">
            <a:extLst>
              <a:ext uri="{FF2B5EF4-FFF2-40B4-BE49-F238E27FC236}">
                <a16:creationId xmlns:a16="http://schemas.microsoft.com/office/drawing/2014/main" id="{F29E6E9C-E96A-4045-A03F-FEA753AE79B0}"/>
              </a:ext>
            </a:extLst>
          </p:cNvPr>
          <p:cNvCxnSpPr/>
          <p:nvPr/>
        </p:nvCxnSpPr>
        <p:spPr bwMode="auto">
          <a:xfrm flipV="1">
            <a:off x="4907625" y="2554879"/>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连接符 41">
            <a:extLst>
              <a:ext uri="{FF2B5EF4-FFF2-40B4-BE49-F238E27FC236}">
                <a16:creationId xmlns:a16="http://schemas.microsoft.com/office/drawing/2014/main" id="{CC386BFD-17FF-49E9-B711-3C1524C2160E}"/>
              </a:ext>
            </a:extLst>
          </p:cNvPr>
          <p:cNvCxnSpPr/>
          <p:nvPr/>
        </p:nvCxnSpPr>
        <p:spPr bwMode="auto">
          <a:xfrm flipV="1">
            <a:off x="5097007" y="2682540"/>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42">
            <a:extLst>
              <a:ext uri="{FF2B5EF4-FFF2-40B4-BE49-F238E27FC236}">
                <a16:creationId xmlns:a16="http://schemas.microsoft.com/office/drawing/2014/main" id="{FC935C62-0FDC-4C9D-922C-6B613B26D73C}"/>
              </a:ext>
            </a:extLst>
          </p:cNvPr>
          <p:cNvCxnSpPr/>
          <p:nvPr/>
        </p:nvCxnSpPr>
        <p:spPr bwMode="auto">
          <a:xfrm flipV="1">
            <a:off x="5251060" y="2833799"/>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43">
            <a:extLst>
              <a:ext uri="{FF2B5EF4-FFF2-40B4-BE49-F238E27FC236}">
                <a16:creationId xmlns:a16="http://schemas.microsoft.com/office/drawing/2014/main" id="{797689EA-CA69-40D3-807D-BAB7916FD6AA}"/>
              </a:ext>
            </a:extLst>
          </p:cNvPr>
          <p:cNvCxnSpPr/>
          <p:nvPr/>
        </p:nvCxnSpPr>
        <p:spPr bwMode="auto">
          <a:xfrm flipV="1">
            <a:off x="5427896" y="2961043"/>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a:extLst>
              <a:ext uri="{FF2B5EF4-FFF2-40B4-BE49-F238E27FC236}">
                <a16:creationId xmlns:a16="http://schemas.microsoft.com/office/drawing/2014/main" id="{CEB23A4E-21CC-4E31-A37F-63890959A0BE}"/>
              </a:ext>
            </a:extLst>
          </p:cNvPr>
          <p:cNvCxnSpPr/>
          <p:nvPr/>
        </p:nvCxnSpPr>
        <p:spPr bwMode="auto">
          <a:xfrm flipV="1">
            <a:off x="5593425" y="3088132"/>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a:extLst>
              <a:ext uri="{FF2B5EF4-FFF2-40B4-BE49-F238E27FC236}">
                <a16:creationId xmlns:a16="http://schemas.microsoft.com/office/drawing/2014/main" id="{BAC0DB4A-6513-41E1-AA84-42194C32158B}"/>
              </a:ext>
            </a:extLst>
          </p:cNvPr>
          <p:cNvCxnSpPr/>
          <p:nvPr/>
        </p:nvCxnSpPr>
        <p:spPr bwMode="auto">
          <a:xfrm flipV="1">
            <a:off x="5708260" y="3215005"/>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文本框 46">
            <a:extLst>
              <a:ext uri="{FF2B5EF4-FFF2-40B4-BE49-F238E27FC236}">
                <a16:creationId xmlns:a16="http://schemas.microsoft.com/office/drawing/2014/main" id="{E4ACAE5A-FB3A-4379-AF43-6BE9D6FCEEBF}"/>
              </a:ext>
            </a:extLst>
          </p:cNvPr>
          <p:cNvSpPr txBox="1"/>
          <p:nvPr/>
        </p:nvSpPr>
        <p:spPr>
          <a:xfrm>
            <a:off x="5678668" y="5909210"/>
            <a:ext cx="1059906" cy="400110"/>
          </a:xfrm>
          <a:prstGeom prst="rect">
            <a:avLst/>
          </a:prstGeom>
          <a:noFill/>
        </p:spPr>
        <p:txBody>
          <a:bodyPr wrap="none" rtlCol="0">
            <a:spAutoFit/>
          </a:bodyPr>
          <a:lstStyle/>
          <a:p>
            <a:r>
              <a:rPr lang="en-US" altLang="zh-CN" sz="2000" dirty="0"/>
              <a:t>g1(x)=0</a:t>
            </a:r>
          </a:p>
        </p:txBody>
      </p:sp>
      <p:sp>
        <p:nvSpPr>
          <p:cNvPr id="48" name="文本框 47">
            <a:extLst>
              <a:ext uri="{FF2B5EF4-FFF2-40B4-BE49-F238E27FC236}">
                <a16:creationId xmlns:a16="http://schemas.microsoft.com/office/drawing/2014/main" id="{EC0594B1-5CC9-40D4-9A7A-DF2AEAC0A652}"/>
              </a:ext>
            </a:extLst>
          </p:cNvPr>
          <p:cNvSpPr txBox="1"/>
          <p:nvPr/>
        </p:nvSpPr>
        <p:spPr>
          <a:xfrm>
            <a:off x="4610157" y="1651873"/>
            <a:ext cx="1059906" cy="400110"/>
          </a:xfrm>
          <a:prstGeom prst="rect">
            <a:avLst/>
          </a:prstGeom>
          <a:noFill/>
        </p:spPr>
        <p:txBody>
          <a:bodyPr wrap="none" rtlCol="0">
            <a:spAutoFit/>
          </a:bodyPr>
          <a:lstStyle/>
          <a:p>
            <a:r>
              <a:rPr lang="en-US" altLang="zh-CN" sz="2000" dirty="0"/>
              <a:t>g2(x)=0</a:t>
            </a:r>
          </a:p>
        </p:txBody>
      </p:sp>
      <p:sp>
        <p:nvSpPr>
          <p:cNvPr id="49" name="文本框 48">
            <a:extLst>
              <a:ext uri="{FF2B5EF4-FFF2-40B4-BE49-F238E27FC236}">
                <a16:creationId xmlns:a16="http://schemas.microsoft.com/office/drawing/2014/main" id="{4E84A5E6-8E09-430C-86E6-C0CF2538229A}"/>
              </a:ext>
            </a:extLst>
          </p:cNvPr>
          <p:cNvSpPr txBox="1"/>
          <p:nvPr/>
        </p:nvSpPr>
        <p:spPr>
          <a:xfrm>
            <a:off x="5729758" y="3912920"/>
            <a:ext cx="1059906" cy="400110"/>
          </a:xfrm>
          <a:prstGeom prst="rect">
            <a:avLst/>
          </a:prstGeom>
          <a:noFill/>
        </p:spPr>
        <p:txBody>
          <a:bodyPr wrap="none" rtlCol="0">
            <a:spAutoFit/>
          </a:bodyPr>
          <a:lstStyle/>
          <a:p>
            <a:r>
              <a:rPr lang="en-US" altLang="zh-CN" sz="2000" dirty="0"/>
              <a:t>g3(x)=0</a:t>
            </a:r>
          </a:p>
        </p:txBody>
      </p:sp>
      <p:sp>
        <p:nvSpPr>
          <p:cNvPr id="50" name="文本框 49">
            <a:extLst>
              <a:ext uri="{FF2B5EF4-FFF2-40B4-BE49-F238E27FC236}">
                <a16:creationId xmlns:a16="http://schemas.microsoft.com/office/drawing/2014/main" id="{F41737BB-21D8-4753-BBA3-2EFE5B45F747}"/>
              </a:ext>
            </a:extLst>
          </p:cNvPr>
          <p:cNvSpPr txBox="1"/>
          <p:nvPr/>
        </p:nvSpPr>
        <p:spPr>
          <a:xfrm>
            <a:off x="2447774" y="4418625"/>
            <a:ext cx="1059906" cy="400110"/>
          </a:xfrm>
          <a:prstGeom prst="rect">
            <a:avLst/>
          </a:prstGeom>
          <a:noFill/>
        </p:spPr>
        <p:txBody>
          <a:bodyPr wrap="none" rtlCol="0">
            <a:spAutoFit/>
          </a:bodyPr>
          <a:lstStyle/>
          <a:p>
            <a:r>
              <a:rPr lang="en-US" altLang="zh-CN" sz="2000" dirty="0"/>
              <a:t>g4(x)=0</a:t>
            </a:r>
          </a:p>
        </p:txBody>
      </p:sp>
      <p:sp>
        <p:nvSpPr>
          <p:cNvPr id="53" name="椭圆 52">
            <a:extLst>
              <a:ext uri="{FF2B5EF4-FFF2-40B4-BE49-F238E27FC236}">
                <a16:creationId xmlns:a16="http://schemas.microsoft.com/office/drawing/2014/main" id="{58606F5B-8A89-4242-9B2E-DABF2D43CFB9}"/>
              </a:ext>
            </a:extLst>
          </p:cNvPr>
          <p:cNvSpPr/>
          <p:nvPr/>
        </p:nvSpPr>
        <p:spPr bwMode="auto">
          <a:xfrm>
            <a:off x="1815795" y="3434248"/>
            <a:ext cx="797308" cy="436473"/>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4" name="椭圆 53">
            <a:extLst>
              <a:ext uri="{FF2B5EF4-FFF2-40B4-BE49-F238E27FC236}">
                <a16:creationId xmlns:a16="http://schemas.microsoft.com/office/drawing/2014/main" id="{F78D550C-AFE1-4012-ACF9-6382AE772D4A}"/>
              </a:ext>
            </a:extLst>
          </p:cNvPr>
          <p:cNvSpPr/>
          <p:nvPr/>
        </p:nvSpPr>
        <p:spPr bwMode="auto">
          <a:xfrm>
            <a:off x="1647056" y="3330233"/>
            <a:ext cx="1118575" cy="657877"/>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5" name="椭圆 54">
            <a:extLst>
              <a:ext uri="{FF2B5EF4-FFF2-40B4-BE49-F238E27FC236}">
                <a16:creationId xmlns:a16="http://schemas.microsoft.com/office/drawing/2014/main" id="{6F18276B-E059-4582-AFB1-69246B58CAD0}"/>
              </a:ext>
            </a:extLst>
          </p:cNvPr>
          <p:cNvSpPr/>
          <p:nvPr/>
        </p:nvSpPr>
        <p:spPr bwMode="auto">
          <a:xfrm>
            <a:off x="1464992" y="3183753"/>
            <a:ext cx="1478212" cy="974054"/>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6" name="椭圆 55">
            <a:extLst>
              <a:ext uri="{FF2B5EF4-FFF2-40B4-BE49-F238E27FC236}">
                <a16:creationId xmlns:a16="http://schemas.microsoft.com/office/drawing/2014/main" id="{BF67C7B3-1449-42A5-B648-CBDF05783A3D}"/>
              </a:ext>
            </a:extLst>
          </p:cNvPr>
          <p:cNvSpPr/>
          <p:nvPr/>
        </p:nvSpPr>
        <p:spPr bwMode="auto">
          <a:xfrm>
            <a:off x="1309180" y="3044004"/>
            <a:ext cx="1774541" cy="1267941"/>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7" name="椭圆 56">
            <a:extLst>
              <a:ext uri="{FF2B5EF4-FFF2-40B4-BE49-F238E27FC236}">
                <a16:creationId xmlns:a16="http://schemas.microsoft.com/office/drawing/2014/main" id="{9F1FF289-38B7-4D65-B646-10F364B38E6B}"/>
              </a:ext>
            </a:extLst>
          </p:cNvPr>
          <p:cNvSpPr/>
          <p:nvPr/>
        </p:nvSpPr>
        <p:spPr bwMode="auto">
          <a:xfrm>
            <a:off x="1078630" y="2871837"/>
            <a:ext cx="2243442" cy="1601815"/>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8" name="思想气泡: 云 57">
            <a:extLst>
              <a:ext uri="{FF2B5EF4-FFF2-40B4-BE49-F238E27FC236}">
                <a16:creationId xmlns:a16="http://schemas.microsoft.com/office/drawing/2014/main" id="{22FCDA8E-68C4-46C9-B03E-D9754BD8AF2E}"/>
              </a:ext>
            </a:extLst>
          </p:cNvPr>
          <p:cNvSpPr/>
          <p:nvPr/>
        </p:nvSpPr>
        <p:spPr bwMode="auto">
          <a:xfrm>
            <a:off x="992561" y="5229200"/>
            <a:ext cx="3398294" cy="713425"/>
          </a:xfrm>
          <a:prstGeom prst="cloudCallout">
            <a:avLst>
              <a:gd name="adj1" fmla="val 42623"/>
              <a:gd name="adj2" fmla="val -192506"/>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CC"/>
                </a:solidFill>
                <a:effectLst/>
                <a:latin typeface="Arial" charset="0"/>
              </a:rPr>
              <a:t>可行域是凸集</a:t>
            </a:r>
          </a:p>
        </p:txBody>
      </p:sp>
      <p:sp>
        <p:nvSpPr>
          <p:cNvPr id="60" name="对话气泡: 圆角矩形 59">
            <a:extLst>
              <a:ext uri="{FF2B5EF4-FFF2-40B4-BE49-F238E27FC236}">
                <a16:creationId xmlns:a16="http://schemas.microsoft.com/office/drawing/2014/main" id="{07D0C82B-6575-4D82-92A6-BAC7DEC95B47}"/>
              </a:ext>
            </a:extLst>
          </p:cNvPr>
          <p:cNvSpPr/>
          <p:nvPr/>
        </p:nvSpPr>
        <p:spPr bwMode="auto">
          <a:xfrm>
            <a:off x="6343177" y="2124536"/>
            <a:ext cx="3506367" cy="3176672"/>
          </a:xfrm>
          <a:prstGeom prst="wedgeRoundRectCallout">
            <a:avLst>
              <a:gd name="adj1" fmla="val -144994"/>
              <a:gd name="adj2" fmla="val -10989"/>
              <a:gd name="adj3" fmla="val 16667"/>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lang="zh-CN" altLang="en-US" sz="2400" dirty="0">
                <a:solidFill>
                  <a:srgbClr val="C00000"/>
                </a:solidFill>
              </a:rPr>
              <a:t>目标函数是凸函数，但是最值点正好在可行域外，则最优解就是根据可行域确定的另外一个点，该点不是原目标函数的极值点</a:t>
            </a:r>
            <a:endParaRPr kumimoji="0" lang="zh-CN" altLang="en-US" sz="2400" b="0" i="0" u="none" strike="noStrike" cap="none" normalizeH="0" baseline="0" dirty="0">
              <a:ln>
                <a:noFill/>
              </a:ln>
              <a:solidFill>
                <a:srgbClr val="C00000"/>
              </a:solidFill>
              <a:effectLst/>
              <a:latin typeface="Arial" charset="0"/>
            </a:endParaRPr>
          </a:p>
        </p:txBody>
      </p:sp>
      <p:sp>
        <p:nvSpPr>
          <p:cNvPr id="61" name="流程图: 接点 60">
            <a:extLst>
              <a:ext uri="{FF2B5EF4-FFF2-40B4-BE49-F238E27FC236}">
                <a16:creationId xmlns:a16="http://schemas.microsoft.com/office/drawing/2014/main" id="{058292D1-563C-4931-A5EF-DD525A0B4D69}"/>
              </a:ext>
            </a:extLst>
          </p:cNvPr>
          <p:cNvSpPr/>
          <p:nvPr/>
        </p:nvSpPr>
        <p:spPr bwMode="auto">
          <a:xfrm>
            <a:off x="2696625" y="3271734"/>
            <a:ext cx="217452" cy="190894"/>
          </a:xfrm>
          <a:prstGeom prst="flowChartConnector">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41312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p:cTn id="7" dur="500" fill="hold"/>
                                        <p:tgtEl>
                                          <p:spTgt spid="58"/>
                                        </p:tgtEl>
                                        <p:attrNameLst>
                                          <p:attrName>ppt_w</p:attrName>
                                        </p:attrNameLst>
                                      </p:cBhvr>
                                      <p:tavLst>
                                        <p:tav tm="0">
                                          <p:val>
                                            <p:fltVal val="0"/>
                                          </p:val>
                                        </p:tav>
                                        <p:tav tm="100000">
                                          <p:val>
                                            <p:strVal val="#ppt_w"/>
                                          </p:val>
                                        </p:tav>
                                      </p:tavLst>
                                    </p:anim>
                                    <p:anim calcmode="lin" valueType="num">
                                      <p:cBhvr>
                                        <p:cTn id="8" dur="500" fill="hold"/>
                                        <p:tgtEl>
                                          <p:spTgt spid="58"/>
                                        </p:tgtEl>
                                        <p:attrNameLst>
                                          <p:attrName>ppt_h</p:attrName>
                                        </p:attrNameLst>
                                      </p:cBhvr>
                                      <p:tavLst>
                                        <p:tav tm="0">
                                          <p:val>
                                            <p:fltVal val="0"/>
                                          </p:val>
                                        </p:tav>
                                        <p:tav tm="100000">
                                          <p:val>
                                            <p:strVal val="#ppt_h"/>
                                          </p:val>
                                        </p:tav>
                                      </p:tavLst>
                                    </p:anim>
                                    <p:animEffect transition="in" filter="fade">
                                      <p:cBhvr>
                                        <p:cTn id="9" dur="500"/>
                                        <p:tgtEl>
                                          <p:spTgt spid="58"/>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56"/>
                                        </p:tgtEl>
                                        <p:attrNameLst>
                                          <p:attrName>style.visibility</p:attrName>
                                        </p:attrNameLst>
                                      </p:cBhvr>
                                      <p:to>
                                        <p:strVal val="visible"/>
                                      </p:to>
                                    </p:set>
                                    <p:animEffect transition="in" filter="barn(inVertical)">
                                      <p:cBhvr>
                                        <p:cTn id="14" dur="500"/>
                                        <p:tgtEl>
                                          <p:spTgt spid="56"/>
                                        </p:tgtEl>
                                      </p:cBhvr>
                                    </p:animEffect>
                                  </p:childTnLst>
                                </p:cTn>
                              </p:par>
                            </p:childTnLst>
                          </p:cTn>
                        </p:par>
                        <p:par>
                          <p:cTn id="15" fill="hold">
                            <p:stCondLst>
                              <p:cond delay="500"/>
                            </p:stCondLst>
                            <p:childTnLst>
                              <p:par>
                                <p:cTn id="16" presetID="16" presetClass="entr" presetSubtype="21" fill="hold" grpId="0" nodeType="after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barn(inVertical)">
                                      <p:cBhvr>
                                        <p:cTn id="18" dur="500"/>
                                        <p:tgtEl>
                                          <p:spTgt spid="57"/>
                                        </p:tgtEl>
                                      </p:cBhvr>
                                    </p:animEffect>
                                  </p:childTnLst>
                                </p:cTn>
                              </p:par>
                            </p:childTnLst>
                          </p:cTn>
                        </p:par>
                        <p:par>
                          <p:cTn id="19" fill="hold">
                            <p:stCondLst>
                              <p:cond delay="1000"/>
                            </p:stCondLst>
                            <p:childTnLst>
                              <p:par>
                                <p:cTn id="20" presetID="16" presetClass="entr" presetSubtype="21" fill="hold" grpId="0" nodeType="after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barn(inVertical)">
                                      <p:cBhvr>
                                        <p:cTn id="22" dur="500"/>
                                        <p:tgtEl>
                                          <p:spTgt spid="55"/>
                                        </p:tgtEl>
                                      </p:cBhvr>
                                    </p:animEffect>
                                  </p:childTnLst>
                                </p:cTn>
                              </p:par>
                            </p:childTnLst>
                          </p:cTn>
                        </p:par>
                        <p:par>
                          <p:cTn id="23" fill="hold">
                            <p:stCondLst>
                              <p:cond delay="1500"/>
                            </p:stCondLst>
                            <p:childTnLst>
                              <p:par>
                                <p:cTn id="24" presetID="16" presetClass="entr" presetSubtype="21" fill="hold" grpId="0" nodeType="afterEffect">
                                  <p:stCondLst>
                                    <p:cond delay="0"/>
                                  </p:stCondLst>
                                  <p:childTnLst>
                                    <p:set>
                                      <p:cBhvr>
                                        <p:cTn id="25" dur="1" fill="hold">
                                          <p:stCondLst>
                                            <p:cond delay="0"/>
                                          </p:stCondLst>
                                        </p:cTn>
                                        <p:tgtEl>
                                          <p:spTgt spid="54"/>
                                        </p:tgtEl>
                                        <p:attrNameLst>
                                          <p:attrName>style.visibility</p:attrName>
                                        </p:attrNameLst>
                                      </p:cBhvr>
                                      <p:to>
                                        <p:strVal val="visible"/>
                                      </p:to>
                                    </p:set>
                                    <p:animEffect transition="in" filter="barn(inVertical)">
                                      <p:cBhvr>
                                        <p:cTn id="26" dur="500"/>
                                        <p:tgtEl>
                                          <p:spTgt spid="54"/>
                                        </p:tgtEl>
                                      </p:cBhvr>
                                    </p:animEffect>
                                  </p:childTnLst>
                                </p:cTn>
                              </p:par>
                            </p:childTnLst>
                          </p:cTn>
                        </p:par>
                        <p:par>
                          <p:cTn id="27" fill="hold">
                            <p:stCondLst>
                              <p:cond delay="2000"/>
                            </p:stCondLst>
                            <p:childTnLst>
                              <p:par>
                                <p:cTn id="28" presetID="16" presetClass="entr" presetSubtype="21" fill="hold" grpId="0" nodeType="after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barn(inVertical)">
                                      <p:cBhvr>
                                        <p:cTn id="30" dur="500"/>
                                        <p:tgtEl>
                                          <p:spTgt spid="53"/>
                                        </p:tgtEl>
                                      </p:cBhvr>
                                    </p:animEffect>
                                  </p:childTnLst>
                                </p:cTn>
                              </p:par>
                            </p:childTnLst>
                          </p:cTn>
                        </p:par>
                        <p:par>
                          <p:cTn id="31" fill="hold">
                            <p:stCondLst>
                              <p:cond delay="2500"/>
                            </p:stCondLst>
                            <p:childTnLst>
                              <p:par>
                                <p:cTn id="32" presetID="16" presetClass="entr" presetSubtype="21"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barn(inVertical)">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60"/>
                                        </p:tgtEl>
                                        <p:attrNameLst>
                                          <p:attrName>style.visibility</p:attrName>
                                        </p:attrNameLst>
                                      </p:cBhvr>
                                      <p:to>
                                        <p:strVal val="visible"/>
                                      </p:to>
                                    </p:set>
                                    <p:anim calcmode="lin" valueType="num">
                                      <p:cBhvr>
                                        <p:cTn id="39" dur="500" fill="hold"/>
                                        <p:tgtEl>
                                          <p:spTgt spid="60"/>
                                        </p:tgtEl>
                                        <p:attrNameLst>
                                          <p:attrName>ppt_w</p:attrName>
                                        </p:attrNameLst>
                                      </p:cBhvr>
                                      <p:tavLst>
                                        <p:tav tm="0">
                                          <p:val>
                                            <p:fltVal val="0"/>
                                          </p:val>
                                        </p:tav>
                                        <p:tav tm="100000">
                                          <p:val>
                                            <p:strVal val="#ppt_w"/>
                                          </p:val>
                                        </p:tav>
                                      </p:tavLst>
                                    </p:anim>
                                    <p:anim calcmode="lin" valueType="num">
                                      <p:cBhvr>
                                        <p:cTn id="40" dur="500" fill="hold"/>
                                        <p:tgtEl>
                                          <p:spTgt spid="60"/>
                                        </p:tgtEl>
                                        <p:attrNameLst>
                                          <p:attrName>ppt_h</p:attrName>
                                        </p:attrNameLst>
                                      </p:cBhvr>
                                      <p:tavLst>
                                        <p:tav tm="0">
                                          <p:val>
                                            <p:fltVal val="0"/>
                                          </p:val>
                                        </p:tav>
                                        <p:tav tm="100000">
                                          <p:val>
                                            <p:strVal val="#ppt_h"/>
                                          </p:val>
                                        </p:tav>
                                      </p:tavLst>
                                    </p:anim>
                                    <p:animEffect transition="in" filter="fade">
                                      <p:cBhvr>
                                        <p:cTn id="41" dur="500"/>
                                        <p:tgtEl>
                                          <p:spTgt spid="60"/>
                                        </p:tgtEl>
                                      </p:cBhvr>
                                    </p:animEffect>
                                  </p:childTnLst>
                                </p:cTn>
                              </p:par>
                            </p:childTnLst>
                          </p:cTn>
                        </p:par>
                        <p:par>
                          <p:cTn id="42" fill="hold">
                            <p:stCondLst>
                              <p:cond delay="500"/>
                            </p:stCondLst>
                            <p:childTnLst>
                              <p:par>
                                <p:cTn id="43" presetID="16" presetClass="entr" presetSubtype="21" fill="hold" grpId="0" nodeType="afterEffect">
                                  <p:stCondLst>
                                    <p:cond delay="0"/>
                                  </p:stCondLst>
                                  <p:childTnLst>
                                    <p:set>
                                      <p:cBhvr>
                                        <p:cTn id="44" dur="1" fill="hold">
                                          <p:stCondLst>
                                            <p:cond delay="0"/>
                                          </p:stCondLst>
                                        </p:cTn>
                                        <p:tgtEl>
                                          <p:spTgt spid="61"/>
                                        </p:tgtEl>
                                        <p:attrNameLst>
                                          <p:attrName>style.visibility</p:attrName>
                                        </p:attrNameLst>
                                      </p:cBhvr>
                                      <p:to>
                                        <p:strVal val="visible"/>
                                      </p:to>
                                    </p:set>
                                    <p:animEffect transition="in" filter="barn(inVertical)">
                                      <p:cBhvr>
                                        <p:cTn id="45"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53" grpId="0" animBg="1"/>
      <p:bldP spid="54" grpId="0" animBg="1"/>
      <p:bldP spid="55" grpId="0" animBg="1"/>
      <p:bldP spid="56" grpId="0" animBg="1"/>
      <p:bldP spid="57" grpId="0" animBg="1"/>
      <p:bldP spid="58" grpId="0" animBg="1"/>
      <p:bldP spid="60" grpId="0" animBg="1"/>
      <p:bldP spid="6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DF27B-B284-43A3-AF34-7D2C0089F9D6}"/>
              </a:ext>
            </a:extLst>
          </p:cNvPr>
          <p:cNvSpPr>
            <a:spLocks noGrp="1"/>
          </p:cNvSpPr>
          <p:nvPr>
            <p:ph type="title"/>
          </p:nvPr>
        </p:nvSpPr>
        <p:spPr>
          <a:xfrm>
            <a:off x="37948" y="215619"/>
            <a:ext cx="9719492" cy="792088"/>
          </a:xfrm>
        </p:spPr>
        <p:txBody>
          <a:bodyPr/>
          <a:lstStyle/>
          <a:p>
            <a:r>
              <a:rPr lang="zh-CN" altLang="en-US" dirty="0"/>
              <a:t>约束优化问题极值点分析</a:t>
            </a:r>
          </a:p>
        </p:txBody>
      </p:sp>
      <p:sp>
        <p:nvSpPr>
          <p:cNvPr id="4" name="日期占位符 3">
            <a:extLst>
              <a:ext uri="{FF2B5EF4-FFF2-40B4-BE49-F238E27FC236}">
                <a16:creationId xmlns:a16="http://schemas.microsoft.com/office/drawing/2014/main" id="{8D8546B8-461C-4CEC-95C1-3D7B3FB1893A}"/>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3C90295C-5DE4-4FCC-897A-99DA4B25FE42}"/>
              </a:ext>
            </a:extLst>
          </p:cNvPr>
          <p:cNvSpPr>
            <a:spLocks noGrp="1"/>
          </p:cNvSpPr>
          <p:nvPr>
            <p:ph type="sldNum" sz="quarter" idx="12"/>
          </p:nvPr>
        </p:nvSpPr>
        <p:spPr/>
        <p:txBody>
          <a:bodyPr/>
          <a:lstStyle/>
          <a:p>
            <a:fld id="{7AC79822-BC0D-4DE8-A7E5-90A3732A2B82}" type="slidenum">
              <a:rPr lang="zh-CN" altLang="en-US" smtClean="0"/>
              <a:pPr/>
              <a:t>24</a:t>
            </a:fld>
            <a:endParaRPr lang="en-US" altLang="zh-CN" dirty="0"/>
          </a:p>
        </p:txBody>
      </p:sp>
      <p:cxnSp>
        <p:nvCxnSpPr>
          <p:cNvPr id="6" name="直接连接符 5">
            <a:extLst>
              <a:ext uri="{FF2B5EF4-FFF2-40B4-BE49-F238E27FC236}">
                <a16:creationId xmlns:a16="http://schemas.microsoft.com/office/drawing/2014/main" id="{48CD66EB-B19A-47CD-8C4A-F47B728C81B5}"/>
              </a:ext>
            </a:extLst>
          </p:cNvPr>
          <p:cNvCxnSpPr/>
          <p:nvPr/>
        </p:nvCxnSpPr>
        <p:spPr bwMode="auto">
          <a:xfrm>
            <a:off x="1857223" y="2479858"/>
            <a:ext cx="3816424" cy="3584175"/>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弧形 6">
            <a:extLst>
              <a:ext uri="{FF2B5EF4-FFF2-40B4-BE49-F238E27FC236}">
                <a16:creationId xmlns:a16="http://schemas.microsoft.com/office/drawing/2014/main" id="{4C63D043-7726-40E9-B627-B155B4115EAE}"/>
              </a:ext>
            </a:extLst>
          </p:cNvPr>
          <p:cNvSpPr/>
          <p:nvPr/>
        </p:nvSpPr>
        <p:spPr bwMode="auto">
          <a:xfrm rot="19641207">
            <a:off x="2249127" y="2087961"/>
            <a:ext cx="3096344" cy="1800200"/>
          </a:xfrm>
          <a:prstGeom prst="arc">
            <a:avLst>
              <a:gd name="adj1" fmla="val 11414526"/>
              <a:gd name="adj2" fmla="val 20630555"/>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8" name="弧形 7">
            <a:extLst>
              <a:ext uri="{FF2B5EF4-FFF2-40B4-BE49-F238E27FC236}">
                <a16:creationId xmlns:a16="http://schemas.microsoft.com/office/drawing/2014/main" id="{0C4EC5EA-19D8-4FF7-A1B6-6E6D14748899}"/>
              </a:ext>
            </a:extLst>
          </p:cNvPr>
          <p:cNvSpPr/>
          <p:nvPr/>
        </p:nvSpPr>
        <p:spPr bwMode="auto">
          <a:xfrm rot="1962781">
            <a:off x="1811294" y="2204402"/>
            <a:ext cx="4379126" cy="1800200"/>
          </a:xfrm>
          <a:prstGeom prst="arc">
            <a:avLst>
              <a:gd name="adj1" fmla="val 12561504"/>
              <a:gd name="adj2" fmla="val 20990983"/>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9" name="弧形 8">
            <a:extLst>
              <a:ext uri="{FF2B5EF4-FFF2-40B4-BE49-F238E27FC236}">
                <a16:creationId xmlns:a16="http://schemas.microsoft.com/office/drawing/2014/main" id="{BC66CEF1-122D-45E0-B6B9-80EEC89EB3DE}"/>
              </a:ext>
            </a:extLst>
          </p:cNvPr>
          <p:cNvSpPr/>
          <p:nvPr/>
        </p:nvSpPr>
        <p:spPr bwMode="auto">
          <a:xfrm rot="9294284">
            <a:off x="2906956" y="2699082"/>
            <a:ext cx="3096344" cy="1800200"/>
          </a:xfrm>
          <a:prstGeom prst="arc">
            <a:avLst>
              <a:gd name="adj1" fmla="val 11414526"/>
              <a:gd name="adj2" fmla="val 20630555"/>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12" name="直接连接符 11">
            <a:extLst>
              <a:ext uri="{FF2B5EF4-FFF2-40B4-BE49-F238E27FC236}">
                <a16:creationId xmlns:a16="http://schemas.microsoft.com/office/drawing/2014/main" id="{2D91ABC7-8316-4EB3-88C7-48B3E844D3C9}"/>
              </a:ext>
            </a:extLst>
          </p:cNvPr>
          <p:cNvCxnSpPr/>
          <p:nvPr/>
        </p:nvCxnSpPr>
        <p:spPr bwMode="auto">
          <a:xfrm flipV="1">
            <a:off x="2289271" y="30635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2">
            <a:extLst>
              <a:ext uri="{FF2B5EF4-FFF2-40B4-BE49-F238E27FC236}">
                <a16:creationId xmlns:a16="http://schemas.microsoft.com/office/drawing/2014/main" id="{9CB25DBD-D543-4671-8058-6370C69D56C0}"/>
              </a:ext>
            </a:extLst>
          </p:cNvPr>
          <p:cNvCxnSpPr/>
          <p:nvPr/>
        </p:nvCxnSpPr>
        <p:spPr bwMode="auto">
          <a:xfrm flipV="1">
            <a:off x="2441671" y="32159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a:extLst>
              <a:ext uri="{FF2B5EF4-FFF2-40B4-BE49-F238E27FC236}">
                <a16:creationId xmlns:a16="http://schemas.microsoft.com/office/drawing/2014/main" id="{6ADAD591-87E9-4DF1-9426-A8D8415268E2}"/>
              </a:ext>
            </a:extLst>
          </p:cNvPr>
          <p:cNvCxnSpPr/>
          <p:nvPr/>
        </p:nvCxnSpPr>
        <p:spPr bwMode="auto">
          <a:xfrm flipV="1">
            <a:off x="2594071" y="33683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a:extLst>
              <a:ext uri="{FF2B5EF4-FFF2-40B4-BE49-F238E27FC236}">
                <a16:creationId xmlns:a16="http://schemas.microsoft.com/office/drawing/2014/main" id="{861C3EEC-23A3-49F5-B83B-1CCE63793C2C}"/>
              </a:ext>
            </a:extLst>
          </p:cNvPr>
          <p:cNvCxnSpPr/>
          <p:nvPr/>
        </p:nvCxnSpPr>
        <p:spPr bwMode="auto">
          <a:xfrm flipV="1">
            <a:off x="2746471" y="35207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连接符 15">
            <a:extLst>
              <a:ext uri="{FF2B5EF4-FFF2-40B4-BE49-F238E27FC236}">
                <a16:creationId xmlns:a16="http://schemas.microsoft.com/office/drawing/2014/main" id="{BD5CC0BA-1709-4273-A958-31ABD594C03B}"/>
              </a:ext>
            </a:extLst>
          </p:cNvPr>
          <p:cNvCxnSpPr/>
          <p:nvPr/>
        </p:nvCxnSpPr>
        <p:spPr bwMode="auto">
          <a:xfrm flipV="1">
            <a:off x="2898871" y="36731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a:extLst>
              <a:ext uri="{FF2B5EF4-FFF2-40B4-BE49-F238E27FC236}">
                <a16:creationId xmlns:a16="http://schemas.microsoft.com/office/drawing/2014/main" id="{6961A293-AAFD-4E4C-A82D-72F85345B857}"/>
              </a:ext>
            </a:extLst>
          </p:cNvPr>
          <p:cNvCxnSpPr/>
          <p:nvPr/>
        </p:nvCxnSpPr>
        <p:spPr bwMode="auto">
          <a:xfrm flipV="1">
            <a:off x="3051271" y="38255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连接符 17">
            <a:extLst>
              <a:ext uri="{FF2B5EF4-FFF2-40B4-BE49-F238E27FC236}">
                <a16:creationId xmlns:a16="http://schemas.microsoft.com/office/drawing/2014/main" id="{6C285BB1-88A7-4183-9252-4A0EE36E8BF3}"/>
              </a:ext>
            </a:extLst>
          </p:cNvPr>
          <p:cNvCxnSpPr/>
          <p:nvPr/>
        </p:nvCxnSpPr>
        <p:spPr bwMode="auto">
          <a:xfrm flipV="1">
            <a:off x="3203671" y="39779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连接符 18">
            <a:extLst>
              <a:ext uri="{FF2B5EF4-FFF2-40B4-BE49-F238E27FC236}">
                <a16:creationId xmlns:a16="http://schemas.microsoft.com/office/drawing/2014/main" id="{75E775DE-1607-4D41-B54E-D8C72D3E21D8}"/>
              </a:ext>
            </a:extLst>
          </p:cNvPr>
          <p:cNvCxnSpPr/>
          <p:nvPr/>
        </p:nvCxnSpPr>
        <p:spPr bwMode="auto">
          <a:xfrm flipV="1">
            <a:off x="3356071" y="41303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a:extLst>
              <a:ext uri="{FF2B5EF4-FFF2-40B4-BE49-F238E27FC236}">
                <a16:creationId xmlns:a16="http://schemas.microsoft.com/office/drawing/2014/main" id="{1EA5E9A4-FE4C-4744-975E-49B1DCF36D2D}"/>
              </a:ext>
            </a:extLst>
          </p:cNvPr>
          <p:cNvCxnSpPr/>
          <p:nvPr/>
        </p:nvCxnSpPr>
        <p:spPr bwMode="auto">
          <a:xfrm flipV="1">
            <a:off x="3508471" y="42827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连接符 20">
            <a:extLst>
              <a:ext uri="{FF2B5EF4-FFF2-40B4-BE49-F238E27FC236}">
                <a16:creationId xmlns:a16="http://schemas.microsoft.com/office/drawing/2014/main" id="{74C3C0BF-BA26-43FE-92AE-2BCD743BA762}"/>
              </a:ext>
            </a:extLst>
          </p:cNvPr>
          <p:cNvCxnSpPr/>
          <p:nvPr/>
        </p:nvCxnSpPr>
        <p:spPr bwMode="auto">
          <a:xfrm flipV="1">
            <a:off x="3660871" y="44351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连接符 21">
            <a:extLst>
              <a:ext uri="{FF2B5EF4-FFF2-40B4-BE49-F238E27FC236}">
                <a16:creationId xmlns:a16="http://schemas.microsoft.com/office/drawing/2014/main" id="{D8A1574C-22FE-4E73-AB34-7D8E3F5C1E08}"/>
              </a:ext>
            </a:extLst>
          </p:cNvPr>
          <p:cNvCxnSpPr/>
          <p:nvPr/>
        </p:nvCxnSpPr>
        <p:spPr bwMode="auto">
          <a:xfrm flipV="1">
            <a:off x="3813271" y="45875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连接符 22">
            <a:extLst>
              <a:ext uri="{FF2B5EF4-FFF2-40B4-BE49-F238E27FC236}">
                <a16:creationId xmlns:a16="http://schemas.microsoft.com/office/drawing/2014/main" id="{8EF325F3-D264-47C5-8B75-A0FB98E9E784}"/>
              </a:ext>
            </a:extLst>
          </p:cNvPr>
          <p:cNvCxnSpPr/>
          <p:nvPr/>
        </p:nvCxnSpPr>
        <p:spPr bwMode="auto">
          <a:xfrm flipV="1">
            <a:off x="3965671" y="47399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a:extLst>
              <a:ext uri="{FF2B5EF4-FFF2-40B4-BE49-F238E27FC236}">
                <a16:creationId xmlns:a16="http://schemas.microsoft.com/office/drawing/2014/main" id="{2076EA41-89E4-4C30-9A31-C7408D90C16F}"/>
              </a:ext>
            </a:extLst>
          </p:cNvPr>
          <p:cNvCxnSpPr/>
          <p:nvPr/>
        </p:nvCxnSpPr>
        <p:spPr bwMode="auto">
          <a:xfrm flipV="1">
            <a:off x="4118071" y="4892334"/>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连接符 24">
            <a:extLst>
              <a:ext uri="{FF2B5EF4-FFF2-40B4-BE49-F238E27FC236}">
                <a16:creationId xmlns:a16="http://schemas.microsoft.com/office/drawing/2014/main" id="{5375F80D-21D6-408E-B929-3F3EDD66DA13}"/>
              </a:ext>
            </a:extLst>
          </p:cNvPr>
          <p:cNvCxnSpPr/>
          <p:nvPr/>
        </p:nvCxnSpPr>
        <p:spPr bwMode="auto">
          <a:xfrm>
            <a:off x="2437653" y="2694113"/>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a:extLst>
              <a:ext uri="{FF2B5EF4-FFF2-40B4-BE49-F238E27FC236}">
                <a16:creationId xmlns:a16="http://schemas.microsoft.com/office/drawing/2014/main" id="{F38D5B14-E24E-4A80-A93B-399BC8DFE444}"/>
              </a:ext>
            </a:extLst>
          </p:cNvPr>
          <p:cNvCxnSpPr/>
          <p:nvPr/>
        </p:nvCxnSpPr>
        <p:spPr bwMode="auto">
          <a:xfrm>
            <a:off x="2547710" y="2528787"/>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26">
            <a:extLst>
              <a:ext uri="{FF2B5EF4-FFF2-40B4-BE49-F238E27FC236}">
                <a16:creationId xmlns:a16="http://schemas.microsoft.com/office/drawing/2014/main" id="{56F288E3-0BC9-4653-9D4E-3F7B1B7D158F}"/>
              </a:ext>
            </a:extLst>
          </p:cNvPr>
          <p:cNvCxnSpPr/>
          <p:nvPr/>
        </p:nvCxnSpPr>
        <p:spPr bwMode="auto">
          <a:xfrm>
            <a:off x="2683806" y="2401583"/>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a:extLst>
              <a:ext uri="{FF2B5EF4-FFF2-40B4-BE49-F238E27FC236}">
                <a16:creationId xmlns:a16="http://schemas.microsoft.com/office/drawing/2014/main" id="{2B1593CC-3E63-4C7D-A595-EDBFDAA2F138}"/>
              </a:ext>
            </a:extLst>
          </p:cNvPr>
          <p:cNvCxnSpPr/>
          <p:nvPr/>
        </p:nvCxnSpPr>
        <p:spPr bwMode="auto">
          <a:xfrm>
            <a:off x="2838573" y="2275762"/>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a:extLst>
              <a:ext uri="{FF2B5EF4-FFF2-40B4-BE49-F238E27FC236}">
                <a16:creationId xmlns:a16="http://schemas.microsoft.com/office/drawing/2014/main" id="{B8F3FC2B-3B21-4E29-9577-CD602362F53E}"/>
              </a:ext>
            </a:extLst>
          </p:cNvPr>
          <p:cNvCxnSpPr/>
          <p:nvPr/>
        </p:nvCxnSpPr>
        <p:spPr bwMode="auto">
          <a:xfrm>
            <a:off x="3027022" y="2122671"/>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a:extLst>
              <a:ext uri="{FF2B5EF4-FFF2-40B4-BE49-F238E27FC236}">
                <a16:creationId xmlns:a16="http://schemas.microsoft.com/office/drawing/2014/main" id="{B9FBA3F9-9E25-45CA-93E4-F77264C6837C}"/>
              </a:ext>
            </a:extLst>
          </p:cNvPr>
          <p:cNvCxnSpPr/>
          <p:nvPr/>
        </p:nvCxnSpPr>
        <p:spPr bwMode="auto">
          <a:xfrm>
            <a:off x="3227791" y="2006642"/>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30">
            <a:extLst>
              <a:ext uri="{FF2B5EF4-FFF2-40B4-BE49-F238E27FC236}">
                <a16:creationId xmlns:a16="http://schemas.microsoft.com/office/drawing/2014/main" id="{0F0A7CDE-9FCB-475F-9677-493C510AD03B}"/>
              </a:ext>
            </a:extLst>
          </p:cNvPr>
          <p:cNvCxnSpPr/>
          <p:nvPr/>
        </p:nvCxnSpPr>
        <p:spPr bwMode="auto">
          <a:xfrm>
            <a:off x="4520542" y="4548930"/>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连接符 31">
            <a:extLst>
              <a:ext uri="{FF2B5EF4-FFF2-40B4-BE49-F238E27FC236}">
                <a16:creationId xmlns:a16="http://schemas.microsoft.com/office/drawing/2014/main" id="{3E64B035-BC4C-48D2-8019-B24AC270C320}"/>
              </a:ext>
            </a:extLst>
          </p:cNvPr>
          <p:cNvCxnSpPr/>
          <p:nvPr/>
        </p:nvCxnSpPr>
        <p:spPr bwMode="auto">
          <a:xfrm>
            <a:off x="4809328" y="4472038"/>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连接符 32">
            <a:extLst>
              <a:ext uri="{FF2B5EF4-FFF2-40B4-BE49-F238E27FC236}">
                <a16:creationId xmlns:a16="http://schemas.microsoft.com/office/drawing/2014/main" id="{D4B7CBB4-50C2-4F0A-AB77-15D0C8E6AA9D}"/>
              </a:ext>
            </a:extLst>
          </p:cNvPr>
          <p:cNvCxnSpPr/>
          <p:nvPr/>
        </p:nvCxnSpPr>
        <p:spPr bwMode="auto">
          <a:xfrm>
            <a:off x="5008262" y="4381968"/>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接连接符 33">
            <a:extLst>
              <a:ext uri="{FF2B5EF4-FFF2-40B4-BE49-F238E27FC236}">
                <a16:creationId xmlns:a16="http://schemas.microsoft.com/office/drawing/2014/main" id="{DDB61BC3-B05E-47D9-B6D8-609BA7222A2A}"/>
              </a:ext>
            </a:extLst>
          </p:cNvPr>
          <p:cNvCxnSpPr/>
          <p:nvPr/>
        </p:nvCxnSpPr>
        <p:spPr bwMode="auto">
          <a:xfrm>
            <a:off x="5188304" y="4307930"/>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a:extLst>
              <a:ext uri="{FF2B5EF4-FFF2-40B4-BE49-F238E27FC236}">
                <a16:creationId xmlns:a16="http://schemas.microsoft.com/office/drawing/2014/main" id="{0720CF92-7F88-4F2C-9657-E0F93A8E2B42}"/>
              </a:ext>
            </a:extLst>
          </p:cNvPr>
          <p:cNvCxnSpPr/>
          <p:nvPr/>
        </p:nvCxnSpPr>
        <p:spPr bwMode="auto">
          <a:xfrm>
            <a:off x="5376753" y="4154839"/>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连接符 35">
            <a:extLst>
              <a:ext uri="{FF2B5EF4-FFF2-40B4-BE49-F238E27FC236}">
                <a16:creationId xmlns:a16="http://schemas.microsoft.com/office/drawing/2014/main" id="{EF0AFB15-DD91-4E9E-8A11-B9BB796AFDBE}"/>
              </a:ext>
            </a:extLst>
          </p:cNvPr>
          <p:cNvCxnSpPr/>
          <p:nvPr/>
        </p:nvCxnSpPr>
        <p:spPr bwMode="auto">
          <a:xfrm>
            <a:off x="5577522" y="4038810"/>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36">
            <a:extLst>
              <a:ext uri="{FF2B5EF4-FFF2-40B4-BE49-F238E27FC236}">
                <a16:creationId xmlns:a16="http://schemas.microsoft.com/office/drawing/2014/main" id="{BECB9E87-DFAA-45F0-BCAC-FBDFC0C28DE7}"/>
              </a:ext>
            </a:extLst>
          </p:cNvPr>
          <p:cNvCxnSpPr/>
          <p:nvPr/>
        </p:nvCxnSpPr>
        <p:spPr bwMode="auto">
          <a:xfrm flipV="1">
            <a:off x="4224245" y="2109002"/>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a:extLst>
              <a:ext uri="{FF2B5EF4-FFF2-40B4-BE49-F238E27FC236}">
                <a16:creationId xmlns:a16="http://schemas.microsoft.com/office/drawing/2014/main" id="{D793B419-4D36-470C-89EA-B7944D59DAA6}"/>
              </a:ext>
            </a:extLst>
          </p:cNvPr>
          <p:cNvCxnSpPr/>
          <p:nvPr/>
        </p:nvCxnSpPr>
        <p:spPr bwMode="auto">
          <a:xfrm flipV="1">
            <a:off x="4390854" y="2185281"/>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直接连接符 38">
            <a:extLst>
              <a:ext uri="{FF2B5EF4-FFF2-40B4-BE49-F238E27FC236}">
                <a16:creationId xmlns:a16="http://schemas.microsoft.com/office/drawing/2014/main" id="{7FEF91BC-30C2-4FE5-BF0B-0BCC074CDF41}"/>
              </a:ext>
            </a:extLst>
          </p:cNvPr>
          <p:cNvCxnSpPr/>
          <p:nvPr/>
        </p:nvCxnSpPr>
        <p:spPr bwMode="auto">
          <a:xfrm flipV="1">
            <a:off x="4552841" y="2275762"/>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连接符 39">
            <a:extLst>
              <a:ext uri="{FF2B5EF4-FFF2-40B4-BE49-F238E27FC236}">
                <a16:creationId xmlns:a16="http://schemas.microsoft.com/office/drawing/2014/main" id="{625AAD60-F28C-4557-BF9E-EAA8C1F516B4}"/>
              </a:ext>
            </a:extLst>
          </p:cNvPr>
          <p:cNvCxnSpPr/>
          <p:nvPr/>
        </p:nvCxnSpPr>
        <p:spPr bwMode="auto">
          <a:xfrm flipV="1">
            <a:off x="4730233" y="2402068"/>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40">
            <a:extLst>
              <a:ext uri="{FF2B5EF4-FFF2-40B4-BE49-F238E27FC236}">
                <a16:creationId xmlns:a16="http://schemas.microsoft.com/office/drawing/2014/main" id="{F29E6E9C-E96A-4045-A03F-FEA753AE79B0}"/>
              </a:ext>
            </a:extLst>
          </p:cNvPr>
          <p:cNvCxnSpPr/>
          <p:nvPr/>
        </p:nvCxnSpPr>
        <p:spPr bwMode="auto">
          <a:xfrm flipV="1">
            <a:off x="4907625" y="2554879"/>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连接符 41">
            <a:extLst>
              <a:ext uri="{FF2B5EF4-FFF2-40B4-BE49-F238E27FC236}">
                <a16:creationId xmlns:a16="http://schemas.microsoft.com/office/drawing/2014/main" id="{CC386BFD-17FF-49E9-B711-3C1524C2160E}"/>
              </a:ext>
            </a:extLst>
          </p:cNvPr>
          <p:cNvCxnSpPr/>
          <p:nvPr/>
        </p:nvCxnSpPr>
        <p:spPr bwMode="auto">
          <a:xfrm flipV="1">
            <a:off x="5097007" y="2682540"/>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42">
            <a:extLst>
              <a:ext uri="{FF2B5EF4-FFF2-40B4-BE49-F238E27FC236}">
                <a16:creationId xmlns:a16="http://schemas.microsoft.com/office/drawing/2014/main" id="{FC935C62-0FDC-4C9D-922C-6B613B26D73C}"/>
              </a:ext>
            </a:extLst>
          </p:cNvPr>
          <p:cNvCxnSpPr/>
          <p:nvPr/>
        </p:nvCxnSpPr>
        <p:spPr bwMode="auto">
          <a:xfrm flipV="1">
            <a:off x="5251060" y="2833799"/>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43">
            <a:extLst>
              <a:ext uri="{FF2B5EF4-FFF2-40B4-BE49-F238E27FC236}">
                <a16:creationId xmlns:a16="http://schemas.microsoft.com/office/drawing/2014/main" id="{797689EA-CA69-40D3-807D-BAB7916FD6AA}"/>
              </a:ext>
            </a:extLst>
          </p:cNvPr>
          <p:cNvCxnSpPr/>
          <p:nvPr/>
        </p:nvCxnSpPr>
        <p:spPr bwMode="auto">
          <a:xfrm flipV="1">
            <a:off x="5427896" y="2961043"/>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a:extLst>
              <a:ext uri="{FF2B5EF4-FFF2-40B4-BE49-F238E27FC236}">
                <a16:creationId xmlns:a16="http://schemas.microsoft.com/office/drawing/2014/main" id="{CEB23A4E-21CC-4E31-A37F-63890959A0BE}"/>
              </a:ext>
            </a:extLst>
          </p:cNvPr>
          <p:cNvCxnSpPr/>
          <p:nvPr/>
        </p:nvCxnSpPr>
        <p:spPr bwMode="auto">
          <a:xfrm flipV="1">
            <a:off x="5593425" y="3088132"/>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a:extLst>
              <a:ext uri="{FF2B5EF4-FFF2-40B4-BE49-F238E27FC236}">
                <a16:creationId xmlns:a16="http://schemas.microsoft.com/office/drawing/2014/main" id="{BAC0DB4A-6513-41E1-AA84-42194C32158B}"/>
              </a:ext>
            </a:extLst>
          </p:cNvPr>
          <p:cNvCxnSpPr/>
          <p:nvPr/>
        </p:nvCxnSpPr>
        <p:spPr bwMode="auto">
          <a:xfrm flipV="1">
            <a:off x="5708260" y="3215005"/>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文本框 46">
            <a:extLst>
              <a:ext uri="{FF2B5EF4-FFF2-40B4-BE49-F238E27FC236}">
                <a16:creationId xmlns:a16="http://schemas.microsoft.com/office/drawing/2014/main" id="{E4ACAE5A-FB3A-4379-AF43-6BE9D6FCEEBF}"/>
              </a:ext>
            </a:extLst>
          </p:cNvPr>
          <p:cNvSpPr txBox="1"/>
          <p:nvPr/>
        </p:nvSpPr>
        <p:spPr>
          <a:xfrm>
            <a:off x="5678668" y="5909210"/>
            <a:ext cx="1059906" cy="400110"/>
          </a:xfrm>
          <a:prstGeom prst="rect">
            <a:avLst/>
          </a:prstGeom>
          <a:noFill/>
        </p:spPr>
        <p:txBody>
          <a:bodyPr wrap="none" rtlCol="0">
            <a:spAutoFit/>
          </a:bodyPr>
          <a:lstStyle/>
          <a:p>
            <a:r>
              <a:rPr lang="en-US" altLang="zh-CN" sz="2000" dirty="0"/>
              <a:t>g1(x)=0</a:t>
            </a:r>
          </a:p>
        </p:txBody>
      </p:sp>
      <p:sp>
        <p:nvSpPr>
          <p:cNvPr id="48" name="文本框 47">
            <a:extLst>
              <a:ext uri="{FF2B5EF4-FFF2-40B4-BE49-F238E27FC236}">
                <a16:creationId xmlns:a16="http://schemas.microsoft.com/office/drawing/2014/main" id="{EC0594B1-5CC9-40D4-9A7A-DF2AEAC0A652}"/>
              </a:ext>
            </a:extLst>
          </p:cNvPr>
          <p:cNvSpPr txBox="1"/>
          <p:nvPr/>
        </p:nvSpPr>
        <p:spPr>
          <a:xfrm>
            <a:off x="4610157" y="1651873"/>
            <a:ext cx="1059906" cy="400110"/>
          </a:xfrm>
          <a:prstGeom prst="rect">
            <a:avLst/>
          </a:prstGeom>
          <a:noFill/>
        </p:spPr>
        <p:txBody>
          <a:bodyPr wrap="none" rtlCol="0">
            <a:spAutoFit/>
          </a:bodyPr>
          <a:lstStyle/>
          <a:p>
            <a:r>
              <a:rPr lang="en-US" altLang="zh-CN" sz="2000" dirty="0"/>
              <a:t>g2(x)=0</a:t>
            </a:r>
          </a:p>
        </p:txBody>
      </p:sp>
      <p:sp>
        <p:nvSpPr>
          <p:cNvPr id="49" name="文本框 48">
            <a:extLst>
              <a:ext uri="{FF2B5EF4-FFF2-40B4-BE49-F238E27FC236}">
                <a16:creationId xmlns:a16="http://schemas.microsoft.com/office/drawing/2014/main" id="{4E84A5E6-8E09-430C-86E6-C0CF2538229A}"/>
              </a:ext>
            </a:extLst>
          </p:cNvPr>
          <p:cNvSpPr txBox="1"/>
          <p:nvPr/>
        </p:nvSpPr>
        <p:spPr>
          <a:xfrm>
            <a:off x="5729758" y="3912920"/>
            <a:ext cx="1059906" cy="400110"/>
          </a:xfrm>
          <a:prstGeom prst="rect">
            <a:avLst/>
          </a:prstGeom>
          <a:noFill/>
        </p:spPr>
        <p:txBody>
          <a:bodyPr wrap="none" rtlCol="0">
            <a:spAutoFit/>
          </a:bodyPr>
          <a:lstStyle/>
          <a:p>
            <a:r>
              <a:rPr lang="en-US" altLang="zh-CN" sz="2000" dirty="0"/>
              <a:t>g3(x)=0</a:t>
            </a:r>
          </a:p>
        </p:txBody>
      </p:sp>
      <p:sp>
        <p:nvSpPr>
          <p:cNvPr id="50" name="文本框 49">
            <a:extLst>
              <a:ext uri="{FF2B5EF4-FFF2-40B4-BE49-F238E27FC236}">
                <a16:creationId xmlns:a16="http://schemas.microsoft.com/office/drawing/2014/main" id="{F41737BB-21D8-4753-BBA3-2EFE5B45F747}"/>
              </a:ext>
            </a:extLst>
          </p:cNvPr>
          <p:cNvSpPr txBox="1"/>
          <p:nvPr/>
        </p:nvSpPr>
        <p:spPr>
          <a:xfrm>
            <a:off x="2447774" y="4418625"/>
            <a:ext cx="1059906" cy="400110"/>
          </a:xfrm>
          <a:prstGeom prst="rect">
            <a:avLst/>
          </a:prstGeom>
          <a:noFill/>
        </p:spPr>
        <p:txBody>
          <a:bodyPr wrap="none" rtlCol="0">
            <a:spAutoFit/>
          </a:bodyPr>
          <a:lstStyle/>
          <a:p>
            <a:r>
              <a:rPr lang="en-US" altLang="zh-CN" sz="2000" dirty="0"/>
              <a:t>g4(x)=0</a:t>
            </a:r>
          </a:p>
        </p:txBody>
      </p:sp>
      <p:sp>
        <p:nvSpPr>
          <p:cNvPr id="58" name="思想气泡: 云 57">
            <a:extLst>
              <a:ext uri="{FF2B5EF4-FFF2-40B4-BE49-F238E27FC236}">
                <a16:creationId xmlns:a16="http://schemas.microsoft.com/office/drawing/2014/main" id="{22FCDA8E-68C4-46C9-B03E-D9754BD8AF2E}"/>
              </a:ext>
            </a:extLst>
          </p:cNvPr>
          <p:cNvSpPr/>
          <p:nvPr/>
        </p:nvSpPr>
        <p:spPr bwMode="auto">
          <a:xfrm>
            <a:off x="992561" y="5229200"/>
            <a:ext cx="3398294" cy="713425"/>
          </a:xfrm>
          <a:prstGeom prst="cloudCallout">
            <a:avLst>
              <a:gd name="adj1" fmla="val 42623"/>
              <a:gd name="adj2" fmla="val -192506"/>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CC"/>
                </a:solidFill>
                <a:effectLst/>
                <a:latin typeface="Arial" charset="0"/>
              </a:rPr>
              <a:t>可行域是凸集</a:t>
            </a:r>
          </a:p>
        </p:txBody>
      </p:sp>
      <p:sp>
        <p:nvSpPr>
          <p:cNvPr id="60" name="对话气泡: 圆角矩形 59">
            <a:extLst>
              <a:ext uri="{FF2B5EF4-FFF2-40B4-BE49-F238E27FC236}">
                <a16:creationId xmlns:a16="http://schemas.microsoft.com/office/drawing/2014/main" id="{07D0C82B-6575-4D82-92A6-BAC7DEC95B47}"/>
              </a:ext>
            </a:extLst>
          </p:cNvPr>
          <p:cNvSpPr/>
          <p:nvPr/>
        </p:nvSpPr>
        <p:spPr bwMode="auto">
          <a:xfrm>
            <a:off x="6343177" y="2124536"/>
            <a:ext cx="3506367" cy="3176672"/>
          </a:xfrm>
          <a:prstGeom prst="wedgeRoundRectCallout">
            <a:avLst>
              <a:gd name="adj1" fmla="val -129782"/>
              <a:gd name="adj2" fmla="val 7302"/>
              <a:gd name="adj3" fmla="val 16667"/>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lang="zh-CN" altLang="en-US" sz="2400" dirty="0">
                <a:solidFill>
                  <a:srgbClr val="C00000"/>
                </a:solidFill>
              </a:rPr>
              <a:t>目标函数是非凸函数，最值点正好在可行域外，则最优解就是根据可行域确定的多个点中最好的一个</a:t>
            </a:r>
            <a:endParaRPr kumimoji="0" lang="zh-CN" altLang="en-US" sz="2400" b="0" i="0" u="none" strike="noStrike" cap="none" normalizeH="0" baseline="0" dirty="0">
              <a:ln>
                <a:noFill/>
              </a:ln>
              <a:solidFill>
                <a:srgbClr val="C00000"/>
              </a:solidFill>
              <a:effectLst/>
              <a:latin typeface="Arial" charset="0"/>
            </a:endParaRPr>
          </a:p>
        </p:txBody>
      </p:sp>
      <p:sp>
        <p:nvSpPr>
          <p:cNvPr id="61" name="流程图: 接点 60">
            <a:extLst>
              <a:ext uri="{FF2B5EF4-FFF2-40B4-BE49-F238E27FC236}">
                <a16:creationId xmlns:a16="http://schemas.microsoft.com/office/drawing/2014/main" id="{058292D1-563C-4931-A5EF-DD525A0B4D69}"/>
              </a:ext>
            </a:extLst>
          </p:cNvPr>
          <p:cNvSpPr/>
          <p:nvPr/>
        </p:nvSpPr>
        <p:spPr bwMode="auto">
          <a:xfrm>
            <a:off x="3277862" y="3816024"/>
            <a:ext cx="217452" cy="190894"/>
          </a:xfrm>
          <a:prstGeom prst="flowChartConnector">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9" name="任意多边形: 形状 58">
            <a:extLst>
              <a:ext uri="{FF2B5EF4-FFF2-40B4-BE49-F238E27FC236}">
                <a16:creationId xmlns:a16="http://schemas.microsoft.com/office/drawing/2014/main" id="{702A1D18-7AC8-4D09-B67B-C979C8981C55}"/>
              </a:ext>
            </a:extLst>
          </p:cNvPr>
          <p:cNvSpPr/>
          <p:nvPr/>
        </p:nvSpPr>
        <p:spPr bwMode="auto">
          <a:xfrm>
            <a:off x="2652138" y="3090545"/>
            <a:ext cx="1577237" cy="1290391"/>
          </a:xfrm>
          <a:custGeom>
            <a:avLst/>
            <a:gdLst>
              <a:gd name="connsiteX0" fmla="*/ 567270 w 1473924"/>
              <a:gd name="connsiteY0" fmla="*/ 4159 h 1372329"/>
              <a:gd name="connsiteX1" fmla="*/ 24345 w 1473924"/>
              <a:gd name="connsiteY1" fmla="*/ 1290034 h 1372329"/>
              <a:gd name="connsiteX2" fmla="*/ 1462620 w 1473924"/>
              <a:gd name="connsiteY2" fmla="*/ 1204309 h 1372329"/>
              <a:gd name="connsiteX3" fmla="*/ 691095 w 1473924"/>
              <a:gd name="connsiteY3" fmla="*/ 889984 h 1372329"/>
              <a:gd name="connsiteX4" fmla="*/ 567270 w 1473924"/>
              <a:gd name="connsiteY4" fmla="*/ 4159 h 1372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3924" h="1372329">
                <a:moveTo>
                  <a:pt x="567270" y="4159"/>
                </a:moveTo>
                <a:cubicBezTo>
                  <a:pt x="456145" y="70834"/>
                  <a:pt x="-124880" y="1090009"/>
                  <a:pt x="24345" y="1290034"/>
                </a:cubicBezTo>
                <a:cubicBezTo>
                  <a:pt x="173570" y="1490059"/>
                  <a:pt x="1351495" y="1270984"/>
                  <a:pt x="1462620" y="1204309"/>
                </a:cubicBezTo>
                <a:cubicBezTo>
                  <a:pt x="1573745" y="1137634"/>
                  <a:pt x="832383" y="1088422"/>
                  <a:pt x="691095" y="889984"/>
                </a:cubicBezTo>
                <a:cubicBezTo>
                  <a:pt x="549807" y="691547"/>
                  <a:pt x="678395" y="-62516"/>
                  <a:pt x="567270" y="4159"/>
                </a:cubicBezTo>
                <a:close/>
              </a:path>
            </a:pathLst>
          </a:cu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65" name="任意多边形: 形状 64">
            <a:extLst>
              <a:ext uri="{FF2B5EF4-FFF2-40B4-BE49-F238E27FC236}">
                <a16:creationId xmlns:a16="http://schemas.microsoft.com/office/drawing/2014/main" id="{ED29E6B7-85FC-4B79-B922-E30D2316D2D6}"/>
              </a:ext>
            </a:extLst>
          </p:cNvPr>
          <p:cNvSpPr/>
          <p:nvPr/>
        </p:nvSpPr>
        <p:spPr bwMode="auto">
          <a:xfrm>
            <a:off x="2854855" y="3590004"/>
            <a:ext cx="800342" cy="659459"/>
          </a:xfrm>
          <a:custGeom>
            <a:avLst/>
            <a:gdLst>
              <a:gd name="connsiteX0" fmla="*/ 567270 w 1473924"/>
              <a:gd name="connsiteY0" fmla="*/ 4159 h 1372329"/>
              <a:gd name="connsiteX1" fmla="*/ 24345 w 1473924"/>
              <a:gd name="connsiteY1" fmla="*/ 1290034 h 1372329"/>
              <a:gd name="connsiteX2" fmla="*/ 1462620 w 1473924"/>
              <a:gd name="connsiteY2" fmla="*/ 1204309 h 1372329"/>
              <a:gd name="connsiteX3" fmla="*/ 691095 w 1473924"/>
              <a:gd name="connsiteY3" fmla="*/ 889984 h 1372329"/>
              <a:gd name="connsiteX4" fmla="*/ 567270 w 1473924"/>
              <a:gd name="connsiteY4" fmla="*/ 4159 h 1372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3924" h="1372329">
                <a:moveTo>
                  <a:pt x="567270" y="4159"/>
                </a:moveTo>
                <a:cubicBezTo>
                  <a:pt x="456145" y="70834"/>
                  <a:pt x="-124880" y="1090009"/>
                  <a:pt x="24345" y="1290034"/>
                </a:cubicBezTo>
                <a:cubicBezTo>
                  <a:pt x="173570" y="1490059"/>
                  <a:pt x="1351495" y="1270984"/>
                  <a:pt x="1462620" y="1204309"/>
                </a:cubicBezTo>
                <a:cubicBezTo>
                  <a:pt x="1573745" y="1137634"/>
                  <a:pt x="832383" y="1088422"/>
                  <a:pt x="691095" y="889984"/>
                </a:cubicBezTo>
                <a:cubicBezTo>
                  <a:pt x="549807" y="691547"/>
                  <a:pt x="678395" y="-62516"/>
                  <a:pt x="567270" y="4159"/>
                </a:cubicBezTo>
                <a:close/>
              </a:path>
            </a:pathLst>
          </a:cu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66" name="任意多边形: 形状 65">
            <a:extLst>
              <a:ext uri="{FF2B5EF4-FFF2-40B4-BE49-F238E27FC236}">
                <a16:creationId xmlns:a16="http://schemas.microsoft.com/office/drawing/2014/main" id="{650D7DFA-41AF-43CB-B8CC-45E1B44DF994}"/>
              </a:ext>
            </a:extLst>
          </p:cNvPr>
          <p:cNvSpPr/>
          <p:nvPr/>
        </p:nvSpPr>
        <p:spPr bwMode="auto">
          <a:xfrm>
            <a:off x="2441700" y="2584725"/>
            <a:ext cx="2677881" cy="1878375"/>
          </a:xfrm>
          <a:custGeom>
            <a:avLst/>
            <a:gdLst>
              <a:gd name="connsiteX0" fmla="*/ 567270 w 1473924"/>
              <a:gd name="connsiteY0" fmla="*/ 4159 h 1372329"/>
              <a:gd name="connsiteX1" fmla="*/ 24345 w 1473924"/>
              <a:gd name="connsiteY1" fmla="*/ 1290034 h 1372329"/>
              <a:gd name="connsiteX2" fmla="*/ 1462620 w 1473924"/>
              <a:gd name="connsiteY2" fmla="*/ 1204309 h 1372329"/>
              <a:gd name="connsiteX3" fmla="*/ 691095 w 1473924"/>
              <a:gd name="connsiteY3" fmla="*/ 889984 h 1372329"/>
              <a:gd name="connsiteX4" fmla="*/ 567270 w 1473924"/>
              <a:gd name="connsiteY4" fmla="*/ 4159 h 1372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3924" h="1372329">
                <a:moveTo>
                  <a:pt x="567270" y="4159"/>
                </a:moveTo>
                <a:cubicBezTo>
                  <a:pt x="456145" y="70834"/>
                  <a:pt x="-124880" y="1090009"/>
                  <a:pt x="24345" y="1290034"/>
                </a:cubicBezTo>
                <a:cubicBezTo>
                  <a:pt x="173570" y="1490059"/>
                  <a:pt x="1351495" y="1270984"/>
                  <a:pt x="1462620" y="1204309"/>
                </a:cubicBezTo>
                <a:cubicBezTo>
                  <a:pt x="1573745" y="1137634"/>
                  <a:pt x="832383" y="1088422"/>
                  <a:pt x="691095" y="889984"/>
                </a:cubicBezTo>
                <a:cubicBezTo>
                  <a:pt x="549807" y="691547"/>
                  <a:pt x="678395" y="-62516"/>
                  <a:pt x="567270" y="4159"/>
                </a:cubicBezTo>
                <a:close/>
              </a:path>
            </a:pathLst>
          </a:cu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68" name="流程图: 接点 67">
            <a:extLst>
              <a:ext uri="{FF2B5EF4-FFF2-40B4-BE49-F238E27FC236}">
                <a16:creationId xmlns:a16="http://schemas.microsoft.com/office/drawing/2014/main" id="{34EB69F8-916D-4798-ADB8-DF287849D658}"/>
              </a:ext>
            </a:extLst>
          </p:cNvPr>
          <p:cNvSpPr/>
          <p:nvPr/>
        </p:nvSpPr>
        <p:spPr bwMode="auto">
          <a:xfrm>
            <a:off x="3572422" y="4082151"/>
            <a:ext cx="217452" cy="190894"/>
          </a:xfrm>
          <a:prstGeom prst="flowChartConnector">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70" name="流程图: 接点 69">
            <a:extLst>
              <a:ext uri="{FF2B5EF4-FFF2-40B4-BE49-F238E27FC236}">
                <a16:creationId xmlns:a16="http://schemas.microsoft.com/office/drawing/2014/main" id="{106CA888-C534-450A-B9CE-FF5B28B434DB}"/>
              </a:ext>
            </a:extLst>
          </p:cNvPr>
          <p:cNvSpPr/>
          <p:nvPr/>
        </p:nvSpPr>
        <p:spPr bwMode="auto">
          <a:xfrm>
            <a:off x="3049120" y="4006743"/>
            <a:ext cx="123618" cy="123591"/>
          </a:xfrm>
          <a:prstGeom prst="flowChartConnector">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366097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p:cTn id="7" dur="500" fill="hold"/>
                                        <p:tgtEl>
                                          <p:spTgt spid="58"/>
                                        </p:tgtEl>
                                        <p:attrNameLst>
                                          <p:attrName>ppt_w</p:attrName>
                                        </p:attrNameLst>
                                      </p:cBhvr>
                                      <p:tavLst>
                                        <p:tav tm="0">
                                          <p:val>
                                            <p:fltVal val="0"/>
                                          </p:val>
                                        </p:tav>
                                        <p:tav tm="100000">
                                          <p:val>
                                            <p:strVal val="#ppt_w"/>
                                          </p:val>
                                        </p:tav>
                                      </p:tavLst>
                                    </p:anim>
                                    <p:anim calcmode="lin" valueType="num">
                                      <p:cBhvr>
                                        <p:cTn id="8" dur="500" fill="hold"/>
                                        <p:tgtEl>
                                          <p:spTgt spid="58"/>
                                        </p:tgtEl>
                                        <p:attrNameLst>
                                          <p:attrName>ppt_h</p:attrName>
                                        </p:attrNameLst>
                                      </p:cBhvr>
                                      <p:tavLst>
                                        <p:tav tm="0">
                                          <p:val>
                                            <p:fltVal val="0"/>
                                          </p:val>
                                        </p:tav>
                                        <p:tav tm="100000">
                                          <p:val>
                                            <p:strVal val="#ppt_h"/>
                                          </p:val>
                                        </p:tav>
                                      </p:tavLst>
                                    </p:anim>
                                    <p:animEffect transition="in" filter="fade">
                                      <p:cBhvr>
                                        <p:cTn id="9" dur="500"/>
                                        <p:tgtEl>
                                          <p:spTgt spid="58"/>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65"/>
                                        </p:tgtEl>
                                        <p:attrNameLst>
                                          <p:attrName>style.visibility</p:attrName>
                                        </p:attrNameLst>
                                      </p:cBhvr>
                                      <p:to>
                                        <p:strVal val="visible"/>
                                      </p:to>
                                    </p:set>
                                    <p:animEffect transition="in" filter="barn(inVertical)">
                                      <p:cBhvr>
                                        <p:cTn id="14" dur="500"/>
                                        <p:tgtEl>
                                          <p:spTgt spid="65"/>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barn(inVertical)">
                                      <p:cBhvr>
                                        <p:cTn id="17" dur="500"/>
                                        <p:tgtEl>
                                          <p:spTgt spid="59"/>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66"/>
                                        </p:tgtEl>
                                        <p:attrNameLst>
                                          <p:attrName>style.visibility</p:attrName>
                                        </p:attrNameLst>
                                      </p:cBhvr>
                                      <p:to>
                                        <p:strVal val="visible"/>
                                      </p:to>
                                    </p:set>
                                    <p:animEffect transition="in" filter="barn(inVertical)">
                                      <p:cBhvr>
                                        <p:cTn id="20" dur="500"/>
                                        <p:tgtEl>
                                          <p:spTgt spid="66"/>
                                        </p:tgtEl>
                                      </p:cBhvr>
                                    </p:animEffect>
                                  </p:childTnLst>
                                </p:cTn>
                              </p:par>
                            </p:childTnLst>
                          </p:cTn>
                        </p:par>
                        <p:par>
                          <p:cTn id="21" fill="hold">
                            <p:stCondLst>
                              <p:cond delay="500"/>
                            </p:stCondLst>
                            <p:childTnLst>
                              <p:par>
                                <p:cTn id="22" presetID="16" presetClass="entr" presetSubtype="21" fill="hold" grpId="0" nodeType="afterEffect">
                                  <p:stCondLst>
                                    <p:cond delay="0"/>
                                  </p:stCondLst>
                                  <p:childTnLst>
                                    <p:set>
                                      <p:cBhvr>
                                        <p:cTn id="23" dur="1" fill="hold">
                                          <p:stCondLst>
                                            <p:cond delay="0"/>
                                          </p:stCondLst>
                                        </p:cTn>
                                        <p:tgtEl>
                                          <p:spTgt spid="70"/>
                                        </p:tgtEl>
                                        <p:attrNameLst>
                                          <p:attrName>style.visibility</p:attrName>
                                        </p:attrNameLst>
                                      </p:cBhvr>
                                      <p:to>
                                        <p:strVal val="visible"/>
                                      </p:to>
                                    </p:set>
                                    <p:animEffect transition="in" filter="barn(inVertical)">
                                      <p:cBhvr>
                                        <p:cTn id="24" dur="500"/>
                                        <p:tgtEl>
                                          <p:spTgt spid="70"/>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60"/>
                                        </p:tgtEl>
                                        <p:attrNameLst>
                                          <p:attrName>style.visibility</p:attrName>
                                        </p:attrNameLst>
                                      </p:cBhvr>
                                      <p:to>
                                        <p:strVal val="visible"/>
                                      </p:to>
                                    </p:set>
                                    <p:anim calcmode="lin" valueType="num">
                                      <p:cBhvr>
                                        <p:cTn id="29" dur="500" fill="hold"/>
                                        <p:tgtEl>
                                          <p:spTgt spid="60"/>
                                        </p:tgtEl>
                                        <p:attrNameLst>
                                          <p:attrName>ppt_w</p:attrName>
                                        </p:attrNameLst>
                                      </p:cBhvr>
                                      <p:tavLst>
                                        <p:tav tm="0">
                                          <p:val>
                                            <p:fltVal val="0"/>
                                          </p:val>
                                        </p:tav>
                                        <p:tav tm="100000">
                                          <p:val>
                                            <p:strVal val="#ppt_w"/>
                                          </p:val>
                                        </p:tav>
                                      </p:tavLst>
                                    </p:anim>
                                    <p:anim calcmode="lin" valueType="num">
                                      <p:cBhvr>
                                        <p:cTn id="30" dur="500" fill="hold"/>
                                        <p:tgtEl>
                                          <p:spTgt spid="60"/>
                                        </p:tgtEl>
                                        <p:attrNameLst>
                                          <p:attrName>ppt_h</p:attrName>
                                        </p:attrNameLst>
                                      </p:cBhvr>
                                      <p:tavLst>
                                        <p:tav tm="0">
                                          <p:val>
                                            <p:fltVal val="0"/>
                                          </p:val>
                                        </p:tav>
                                        <p:tav tm="100000">
                                          <p:val>
                                            <p:strVal val="#ppt_h"/>
                                          </p:val>
                                        </p:tav>
                                      </p:tavLst>
                                    </p:anim>
                                    <p:animEffect transition="in" filter="fade">
                                      <p:cBhvr>
                                        <p:cTn id="31" dur="500"/>
                                        <p:tgtEl>
                                          <p:spTgt spid="60"/>
                                        </p:tgtEl>
                                      </p:cBhvr>
                                    </p:animEffect>
                                  </p:childTnLst>
                                </p:cTn>
                              </p:par>
                            </p:childTnLst>
                          </p:cTn>
                        </p:par>
                        <p:par>
                          <p:cTn id="32" fill="hold">
                            <p:stCondLst>
                              <p:cond delay="500"/>
                            </p:stCondLst>
                            <p:childTnLst>
                              <p:par>
                                <p:cTn id="33" presetID="16" presetClass="entr" presetSubtype="21" fill="hold" grpId="0" nodeType="afterEffect">
                                  <p:stCondLst>
                                    <p:cond delay="0"/>
                                  </p:stCondLst>
                                  <p:childTnLst>
                                    <p:set>
                                      <p:cBhvr>
                                        <p:cTn id="34" dur="1" fill="hold">
                                          <p:stCondLst>
                                            <p:cond delay="0"/>
                                          </p:stCondLst>
                                        </p:cTn>
                                        <p:tgtEl>
                                          <p:spTgt spid="61"/>
                                        </p:tgtEl>
                                        <p:attrNameLst>
                                          <p:attrName>style.visibility</p:attrName>
                                        </p:attrNameLst>
                                      </p:cBhvr>
                                      <p:to>
                                        <p:strVal val="visible"/>
                                      </p:to>
                                    </p:set>
                                    <p:animEffect transition="in" filter="barn(inVertical)">
                                      <p:cBhvr>
                                        <p:cTn id="35" dur="500"/>
                                        <p:tgtEl>
                                          <p:spTgt spid="61"/>
                                        </p:tgtEl>
                                      </p:cBhvr>
                                    </p:animEffect>
                                  </p:childTnLst>
                                </p:cTn>
                              </p:par>
                            </p:childTnLst>
                          </p:cTn>
                        </p:par>
                        <p:par>
                          <p:cTn id="36" fill="hold">
                            <p:stCondLst>
                              <p:cond delay="1000"/>
                            </p:stCondLst>
                            <p:childTnLst>
                              <p:par>
                                <p:cTn id="37" presetID="16" presetClass="entr" presetSubtype="21" fill="hold" grpId="0" nodeType="afterEffect">
                                  <p:stCondLst>
                                    <p:cond delay="0"/>
                                  </p:stCondLst>
                                  <p:childTnLst>
                                    <p:set>
                                      <p:cBhvr>
                                        <p:cTn id="38" dur="1" fill="hold">
                                          <p:stCondLst>
                                            <p:cond delay="0"/>
                                          </p:stCondLst>
                                        </p:cTn>
                                        <p:tgtEl>
                                          <p:spTgt spid="68"/>
                                        </p:tgtEl>
                                        <p:attrNameLst>
                                          <p:attrName>style.visibility</p:attrName>
                                        </p:attrNameLst>
                                      </p:cBhvr>
                                      <p:to>
                                        <p:strVal val="visible"/>
                                      </p:to>
                                    </p:set>
                                    <p:animEffect transition="in" filter="barn(inVertical)">
                                      <p:cBhvr>
                                        <p:cTn id="39"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60" grpId="0" animBg="1"/>
      <p:bldP spid="61" grpId="0" animBg="1"/>
      <p:bldP spid="59" grpId="0" animBg="1"/>
      <p:bldP spid="65" grpId="0" animBg="1"/>
      <p:bldP spid="66" grpId="0" animBg="1"/>
      <p:bldP spid="68" grpId="0" animBg="1"/>
      <p:bldP spid="7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DF27B-B284-43A3-AF34-7D2C0089F9D6}"/>
              </a:ext>
            </a:extLst>
          </p:cNvPr>
          <p:cNvSpPr>
            <a:spLocks noGrp="1"/>
          </p:cNvSpPr>
          <p:nvPr>
            <p:ph type="title"/>
          </p:nvPr>
        </p:nvSpPr>
        <p:spPr>
          <a:xfrm>
            <a:off x="37948" y="215619"/>
            <a:ext cx="9719492" cy="792088"/>
          </a:xfrm>
        </p:spPr>
        <p:txBody>
          <a:bodyPr/>
          <a:lstStyle/>
          <a:p>
            <a:r>
              <a:rPr lang="zh-CN" altLang="en-US" dirty="0"/>
              <a:t>约束优化问题极值点分析</a:t>
            </a:r>
          </a:p>
        </p:txBody>
      </p:sp>
      <p:sp>
        <p:nvSpPr>
          <p:cNvPr id="4" name="日期占位符 3">
            <a:extLst>
              <a:ext uri="{FF2B5EF4-FFF2-40B4-BE49-F238E27FC236}">
                <a16:creationId xmlns:a16="http://schemas.microsoft.com/office/drawing/2014/main" id="{8D8546B8-461C-4CEC-95C1-3D7B3FB1893A}"/>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3C90295C-5DE4-4FCC-897A-99DA4B25FE42}"/>
              </a:ext>
            </a:extLst>
          </p:cNvPr>
          <p:cNvSpPr>
            <a:spLocks noGrp="1"/>
          </p:cNvSpPr>
          <p:nvPr>
            <p:ph type="sldNum" sz="quarter" idx="12"/>
          </p:nvPr>
        </p:nvSpPr>
        <p:spPr/>
        <p:txBody>
          <a:bodyPr/>
          <a:lstStyle/>
          <a:p>
            <a:fld id="{7AC79822-BC0D-4DE8-A7E5-90A3732A2B82}" type="slidenum">
              <a:rPr lang="zh-CN" altLang="en-US" smtClean="0"/>
              <a:pPr/>
              <a:t>25</a:t>
            </a:fld>
            <a:endParaRPr lang="en-US" altLang="zh-CN" dirty="0"/>
          </a:p>
        </p:txBody>
      </p:sp>
      <p:sp>
        <p:nvSpPr>
          <p:cNvPr id="9" name="弧形 8">
            <a:extLst>
              <a:ext uri="{FF2B5EF4-FFF2-40B4-BE49-F238E27FC236}">
                <a16:creationId xmlns:a16="http://schemas.microsoft.com/office/drawing/2014/main" id="{BC66CEF1-122D-45E0-B6B9-80EEC89EB3DE}"/>
              </a:ext>
            </a:extLst>
          </p:cNvPr>
          <p:cNvSpPr/>
          <p:nvPr/>
        </p:nvSpPr>
        <p:spPr bwMode="auto">
          <a:xfrm rot="9294284">
            <a:off x="2906956" y="2699082"/>
            <a:ext cx="3096344" cy="1800200"/>
          </a:xfrm>
          <a:prstGeom prst="arc">
            <a:avLst>
              <a:gd name="adj1" fmla="val 11414526"/>
              <a:gd name="adj2" fmla="val 20630555"/>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1" name="流程图: 接点 10">
            <a:extLst>
              <a:ext uri="{FF2B5EF4-FFF2-40B4-BE49-F238E27FC236}">
                <a16:creationId xmlns:a16="http://schemas.microsoft.com/office/drawing/2014/main" id="{7891007C-E271-4962-BBAF-8B6CF2F53D1A}"/>
              </a:ext>
            </a:extLst>
          </p:cNvPr>
          <p:cNvSpPr/>
          <p:nvPr/>
        </p:nvSpPr>
        <p:spPr bwMode="auto">
          <a:xfrm>
            <a:off x="2826314" y="3060556"/>
            <a:ext cx="217452" cy="190894"/>
          </a:xfrm>
          <a:prstGeom prst="flowChartConnector">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20" name="直接连接符 19">
            <a:extLst>
              <a:ext uri="{FF2B5EF4-FFF2-40B4-BE49-F238E27FC236}">
                <a16:creationId xmlns:a16="http://schemas.microsoft.com/office/drawing/2014/main" id="{1EA5E9A4-FE4C-4744-975E-49B1DCF36D2D}"/>
              </a:ext>
            </a:extLst>
          </p:cNvPr>
          <p:cNvCxnSpPr/>
          <p:nvPr/>
        </p:nvCxnSpPr>
        <p:spPr bwMode="auto">
          <a:xfrm flipV="1">
            <a:off x="4156546" y="4293096"/>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连接符 21">
            <a:extLst>
              <a:ext uri="{FF2B5EF4-FFF2-40B4-BE49-F238E27FC236}">
                <a16:creationId xmlns:a16="http://schemas.microsoft.com/office/drawing/2014/main" id="{D8A1574C-22FE-4E73-AB34-7D8E3F5C1E08}"/>
              </a:ext>
            </a:extLst>
          </p:cNvPr>
          <p:cNvCxnSpPr/>
          <p:nvPr/>
        </p:nvCxnSpPr>
        <p:spPr bwMode="auto">
          <a:xfrm flipV="1">
            <a:off x="3648426" y="3932216"/>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连接符 22">
            <a:extLst>
              <a:ext uri="{FF2B5EF4-FFF2-40B4-BE49-F238E27FC236}">
                <a16:creationId xmlns:a16="http://schemas.microsoft.com/office/drawing/2014/main" id="{8EF325F3-D264-47C5-8B75-A0FB98E9E784}"/>
              </a:ext>
            </a:extLst>
          </p:cNvPr>
          <p:cNvCxnSpPr/>
          <p:nvPr/>
        </p:nvCxnSpPr>
        <p:spPr bwMode="auto">
          <a:xfrm flipV="1">
            <a:off x="3800826" y="4084616"/>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a:extLst>
              <a:ext uri="{FF2B5EF4-FFF2-40B4-BE49-F238E27FC236}">
                <a16:creationId xmlns:a16="http://schemas.microsoft.com/office/drawing/2014/main" id="{2076EA41-89E4-4C30-9A31-C7408D90C16F}"/>
              </a:ext>
            </a:extLst>
          </p:cNvPr>
          <p:cNvCxnSpPr/>
          <p:nvPr/>
        </p:nvCxnSpPr>
        <p:spPr bwMode="auto">
          <a:xfrm flipV="1">
            <a:off x="3992767" y="4212293"/>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30">
            <a:extLst>
              <a:ext uri="{FF2B5EF4-FFF2-40B4-BE49-F238E27FC236}">
                <a16:creationId xmlns:a16="http://schemas.microsoft.com/office/drawing/2014/main" id="{0F0A7CDE-9FCB-475F-9677-493C510AD03B}"/>
              </a:ext>
            </a:extLst>
          </p:cNvPr>
          <p:cNvCxnSpPr/>
          <p:nvPr/>
        </p:nvCxnSpPr>
        <p:spPr bwMode="auto">
          <a:xfrm>
            <a:off x="4520542" y="4548930"/>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连接符 31">
            <a:extLst>
              <a:ext uri="{FF2B5EF4-FFF2-40B4-BE49-F238E27FC236}">
                <a16:creationId xmlns:a16="http://schemas.microsoft.com/office/drawing/2014/main" id="{3E64B035-BC4C-48D2-8019-B24AC270C320}"/>
              </a:ext>
            </a:extLst>
          </p:cNvPr>
          <p:cNvCxnSpPr/>
          <p:nvPr/>
        </p:nvCxnSpPr>
        <p:spPr bwMode="auto">
          <a:xfrm>
            <a:off x="4809328" y="4472038"/>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连接符 32">
            <a:extLst>
              <a:ext uri="{FF2B5EF4-FFF2-40B4-BE49-F238E27FC236}">
                <a16:creationId xmlns:a16="http://schemas.microsoft.com/office/drawing/2014/main" id="{D4B7CBB4-50C2-4F0A-AB77-15D0C8E6AA9D}"/>
              </a:ext>
            </a:extLst>
          </p:cNvPr>
          <p:cNvCxnSpPr/>
          <p:nvPr/>
        </p:nvCxnSpPr>
        <p:spPr bwMode="auto">
          <a:xfrm>
            <a:off x="5008262" y="4381968"/>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接连接符 33">
            <a:extLst>
              <a:ext uri="{FF2B5EF4-FFF2-40B4-BE49-F238E27FC236}">
                <a16:creationId xmlns:a16="http://schemas.microsoft.com/office/drawing/2014/main" id="{DDB61BC3-B05E-47D9-B6D8-609BA7222A2A}"/>
              </a:ext>
            </a:extLst>
          </p:cNvPr>
          <p:cNvCxnSpPr/>
          <p:nvPr/>
        </p:nvCxnSpPr>
        <p:spPr bwMode="auto">
          <a:xfrm>
            <a:off x="5188304" y="4307930"/>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a:extLst>
              <a:ext uri="{FF2B5EF4-FFF2-40B4-BE49-F238E27FC236}">
                <a16:creationId xmlns:a16="http://schemas.microsoft.com/office/drawing/2014/main" id="{0720CF92-7F88-4F2C-9657-E0F93A8E2B42}"/>
              </a:ext>
            </a:extLst>
          </p:cNvPr>
          <p:cNvCxnSpPr/>
          <p:nvPr/>
        </p:nvCxnSpPr>
        <p:spPr bwMode="auto">
          <a:xfrm>
            <a:off x="5376753" y="4154839"/>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连接符 35">
            <a:extLst>
              <a:ext uri="{FF2B5EF4-FFF2-40B4-BE49-F238E27FC236}">
                <a16:creationId xmlns:a16="http://schemas.microsoft.com/office/drawing/2014/main" id="{EF0AFB15-DD91-4E9E-8A11-B9BB796AFDBE}"/>
              </a:ext>
            </a:extLst>
          </p:cNvPr>
          <p:cNvCxnSpPr/>
          <p:nvPr/>
        </p:nvCxnSpPr>
        <p:spPr bwMode="auto">
          <a:xfrm>
            <a:off x="5577522" y="4038810"/>
            <a:ext cx="246996" cy="1537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a:extLst>
              <a:ext uri="{FF2B5EF4-FFF2-40B4-BE49-F238E27FC236}">
                <a16:creationId xmlns:a16="http://schemas.microsoft.com/office/drawing/2014/main" id="{BAC0DB4A-6513-41E1-AA84-42194C32158B}"/>
              </a:ext>
            </a:extLst>
          </p:cNvPr>
          <p:cNvCxnSpPr/>
          <p:nvPr/>
        </p:nvCxnSpPr>
        <p:spPr bwMode="auto">
          <a:xfrm flipV="1">
            <a:off x="5708260" y="3215005"/>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文本框 46">
            <a:extLst>
              <a:ext uri="{FF2B5EF4-FFF2-40B4-BE49-F238E27FC236}">
                <a16:creationId xmlns:a16="http://schemas.microsoft.com/office/drawing/2014/main" id="{E4ACAE5A-FB3A-4379-AF43-6BE9D6FCEEBF}"/>
              </a:ext>
            </a:extLst>
          </p:cNvPr>
          <p:cNvSpPr txBox="1"/>
          <p:nvPr/>
        </p:nvSpPr>
        <p:spPr>
          <a:xfrm>
            <a:off x="5334892" y="4899047"/>
            <a:ext cx="1059906" cy="400110"/>
          </a:xfrm>
          <a:prstGeom prst="rect">
            <a:avLst/>
          </a:prstGeom>
          <a:noFill/>
        </p:spPr>
        <p:txBody>
          <a:bodyPr wrap="none" rtlCol="0">
            <a:spAutoFit/>
          </a:bodyPr>
          <a:lstStyle/>
          <a:p>
            <a:r>
              <a:rPr lang="en-US" altLang="zh-CN" sz="2000" dirty="0"/>
              <a:t>g1(x)=0</a:t>
            </a:r>
          </a:p>
        </p:txBody>
      </p:sp>
      <p:sp>
        <p:nvSpPr>
          <p:cNvPr id="50" name="文本框 49">
            <a:extLst>
              <a:ext uri="{FF2B5EF4-FFF2-40B4-BE49-F238E27FC236}">
                <a16:creationId xmlns:a16="http://schemas.microsoft.com/office/drawing/2014/main" id="{F41737BB-21D8-4753-BBA3-2EFE5B45F747}"/>
              </a:ext>
            </a:extLst>
          </p:cNvPr>
          <p:cNvSpPr txBox="1"/>
          <p:nvPr/>
        </p:nvSpPr>
        <p:spPr>
          <a:xfrm>
            <a:off x="2447774" y="4418625"/>
            <a:ext cx="1059906" cy="400110"/>
          </a:xfrm>
          <a:prstGeom prst="rect">
            <a:avLst/>
          </a:prstGeom>
          <a:noFill/>
        </p:spPr>
        <p:txBody>
          <a:bodyPr wrap="none" rtlCol="0">
            <a:spAutoFit/>
          </a:bodyPr>
          <a:lstStyle/>
          <a:p>
            <a:r>
              <a:rPr lang="en-US" altLang="zh-CN" sz="2000" dirty="0"/>
              <a:t>g2(x)=0</a:t>
            </a:r>
          </a:p>
        </p:txBody>
      </p:sp>
      <p:sp>
        <p:nvSpPr>
          <p:cNvPr id="53" name="椭圆 52">
            <a:extLst>
              <a:ext uri="{FF2B5EF4-FFF2-40B4-BE49-F238E27FC236}">
                <a16:creationId xmlns:a16="http://schemas.microsoft.com/office/drawing/2014/main" id="{58606F5B-8A89-4242-9B2E-DABF2D43CFB9}"/>
              </a:ext>
            </a:extLst>
          </p:cNvPr>
          <p:cNvSpPr/>
          <p:nvPr/>
        </p:nvSpPr>
        <p:spPr bwMode="auto">
          <a:xfrm>
            <a:off x="2536386" y="2945261"/>
            <a:ext cx="797308" cy="436473"/>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4" name="椭圆 53">
            <a:extLst>
              <a:ext uri="{FF2B5EF4-FFF2-40B4-BE49-F238E27FC236}">
                <a16:creationId xmlns:a16="http://schemas.microsoft.com/office/drawing/2014/main" id="{F78D550C-AFE1-4012-ACF9-6382AE772D4A}"/>
              </a:ext>
            </a:extLst>
          </p:cNvPr>
          <p:cNvSpPr/>
          <p:nvPr/>
        </p:nvSpPr>
        <p:spPr bwMode="auto">
          <a:xfrm>
            <a:off x="2367647" y="2841246"/>
            <a:ext cx="1118575" cy="657877"/>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5" name="椭圆 54">
            <a:extLst>
              <a:ext uri="{FF2B5EF4-FFF2-40B4-BE49-F238E27FC236}">
                <a16:creationId xmlns:a16="http://schemas.microsoft.com/office/drawing/2014/main" id="{6F18276B-E059-4582-AFB1-69246B58CAD0}"/>
              </a:ext>
            </a:extLst>
          </p:cNvPr>
          <p:cNvSpPr/>
          <p:nvPr/>
        </p:nvSpPr>
        <p:spPr bwMode="auto">
          <a:xfrm>
            <a:off x="2185583" y="2694766"/>
            <a:ext cx="1478212" cy="974054"/>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6" name="椭圆 55">
            <a:extLst>
              <a:ext uri="{FF2B5EF4-FFF2-40B4-BE49-F238E27FC236}">
                <a16:creationId xmlns:a16="http://schemas.microsoft.com/office/drawing/2014/main" id="{BF67C7B3-1449-42A5-B648-CBDF05783A3D}"/>
              </a:ext>
            </a:extLst>
          </p:cNvPr>
          <p:cNvSpPr/>
          <p:nvPr/>
        </p:nvSpPr>
        <p:spPr bwMode="auto">
          <a:xfrm>
            <a:off x="2029771" y="2555017"/>
            <a:ext cx="1774541" cy="1267941"/>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7" name="椭圆 56">
            <a:extLst>
              <a:ext uri="{FF2B5EF4-FFF2-40B4-BE49-F238E27FC236}">
                <a16:creationId xmlns:a16="http://schemas.microsoft.com/office/drawing/2014/main" id="{9F1FF289-38B7-4D65-B646-10F364B38E6B}"/>
              </a:ext>
            </a:extLst>
          </p:cNvPr>
          <p:cNvSpPr/>
          <p:nvPr/>
        </p:nvSpPr>
        <p:spPr bwMode="auto">
          <a:xfrm>
            <a:off x="1799221" y="2382850"/>
            <a:ext cx="2243442" cy="1601815"/>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8" name="思想气泡: 云 57">
            <a:extLst>
              <a:ext uri="{FF2B5EF4-FFF2-40B4-BE49-F238E27FC236}">
                <a16:creationId xmlns:a16="http://schemas.microsoft.com/office/drawing/2014/main" id="{22FCDA8E-68C4-46C9-B03E-D9754BD8AF2E}"/>
              </a:ext>
            </a:extLst>
          </p:cNvPr>
          <p:cNvSpPr/>
          <p:nvPr/>
        </p:nvSpPr>
        <p:spPr bwMode="auto">
          <a:xfrm>
            <a:off x="992561" y="5229200"/>
            <a:ext cx="3886054" cy="713425"/>
          </a:xfrm>
          <a:prstGeom prst="cloudCallout">
            <a:avLst>
              <a:gd name="adj1" fmla="val 35760"/>
              <a:gd name="adj2" fmla="val -296644"/>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CC"/>
                </a:solidFill>
                <a:effectLst/>
                <a:latin typeface="Arial" charset="0"/>
              </a:rPr>
              <a:t>可行域是非凸集</a:t>
            </a:r>
          </a:p>
        </p:txBody>
      </p:sp>
      <p:sp>
        <p:nvSpPr>
          <p:cNvPr id="60" name="对话气泡: 圆角矩形 59">
            <a:extLst>
              <a:ext uri="{FF2B5EF4-FFF2-40B4-BE49-F238E27FC236}">
                <a16:creationId xmlns:a16="http://schemas.microsoft.com/office/drawing/2014/main" id="{07D0C82B-6575-4D82-92A6-BAC7DEC95B47}"/>
              </a:ext>
            </a:extLst>
          </p:cNvPr>
          <p:cNvSpPr/>
          <p:nvPr/>
        </p:nvSpPr>
        <p:spPr bwMode="auto">
          <a:xfrm>
            <a:off x="6286205" y="1076504"/>
            <a:ext cx="3506367" cy="2200404"/>
          </a:xfrm>
          <a:prstGeom prst="wedgeRoundRectCallout">
            <a:avLst>
              <a:gd name="adj1" fmla="val -121089"/>
              <a:gd name="adj2" fmla="val 26517"/>
              <a:gd name="adj3" fmla="val 16667"/>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lang="zh-CN" altLang="en-US" sz="2400" dirty="0">
                <a:solidFill>
                  <a:srgbClr val="C00000"/>
                </a:solidFill>
              </a:rPr>
              <a:t>目标函数是凸函数，但是最值点正好在可行域外，则最优解就是根据可行域确定的多个点中最好的一个</a:t>
            </a:r>
            <a:endParaRPr kumimoji="0" lang="zh-CN" altLang="en-US" sz="2400" b="0" i="0" u="none" strike="noStrike" cap="none" normalizeH="0" baseline="0" dirty="0">
              <a:ln>
                <a:noFill/>
              </a:ln>
              <a:solidFill>
                <a:srgbClr val="C00000"/>
              </a:solidFill>
              <a:effectLst/>
              <a:latin typeface="Arial" charset="0"/>
            </a:endParaRPr>
          </a:p>
        </p:txBody>
      </p:sp>
      <p:sp>
        <p:nvSpPr>
          <p:cNvPr id="51" name="任意多边形: 形状 50">
            <a:extLst>
              <a:ext uri="{FF2B5EF4-FFF2-40B4-BE49-F238E27FC236}">
                <a16:creationId xmlns:a16="http://schemas.microsoft.com/office/drawing/2014/main" id="{47654F5E-39A1-4DFC-BF0E-7F5A6C1576B2}"/>
              </a:ext>
            </a:extLst>
          </p:cNvPr>
          <p:cNvSpPr/>
          <p:nvPr/>
        </p:nvSpPr>
        <p:spPr bwMode="auto">
          <a:xfrm>
            <a:off x="2813872" y="2473022"/>
            <a:ext cx="2614903" cy="2445257"/>
          </a:xfrm>
          <a:custGeom>
            <a:avLst/>
            <a:gdLst>
              <a:gd name="connsiteX0" fmla="*/ 0 w 2952750"/>
              <a:gd name="connsiteY0" fmla="*/ 24096 h 3900771"/>
              <a:gd name="connsiteX1" fmla="*/ 1000125 w 2952750"/>
              <a:gd name="connsiteY1" fmla="*/ 290796 h 3900771"/>
              <a:gd name="connsiteX2" fmla="*/ 1019175 w 2952750"/>
              <a:gd name="connsiteY2" fmla="*/ 2081496 h 3900771"/>
              <a:gd name="connsiteX3" fmla="*/ 2952750 w 2952750"/>
              <a:gd name="connsiteY3" fmla="*/ 3900771 h 3900771"/>
            </a:gdLst>
            <a:ahLst/>
            <a:cxnLst>
              <a:cxn ang="0">
                <a:pos x="connsiteX0" y="connsiteY0"/>
              </a:cxn>
              <a:cxn ang="0">
                <a:pos x="connsiteX1" y="connsiteY1"/>
              </a:cxn>
              <a:cxn ang="0">
                <a:pos x="connsiteX2" y="connsiteY2"/>
              </a:cxn>
              <a:cxn ang="0">
                <a:pos x="connsiteX3" y="connsiteY3"/>
              </a:cxn>
            </a:cxnLst>
            <a:rect l="l" t="t" r="r" b="b"/>
            <a:pathLst>
              <a:path w="2952750" h="3900771">
                <a:moveTo>
                  <a:pt x="0" y="24096"/>
                </a:moveTo>
                <a:cubicBezTo>
                  <a:pt x="415131" y="-14004"/>
                  <a:pt x="830262" y="-52104"/>
                  <a:pt x="1000125" y="290796"/>
                </a:cubicBezTo>
                <a:cubicBezTo>
                  <a:pt x="1169988" y="633696"/>
                  <a:pt x="693738" y="1479834"/>
                  <a:pt x="1019175" y="2081496"/>
                </a:cubicBezTo>
                <a:cubicBezTo>
                  <a:pt x="1344613" y="2683159"/>
                  <a:pt x="2952750" y="3900771"/>
                  <a:pt x="2952750" y="3900771"/>
                </a:cubicBezTo>
              </a:path>
            </a:pathLst>
          </a:custGeom>
          <a:no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64" name="流程图: 接点 63">
            <a:extLst>
              <a:ext uri="{FF2B5EF4-FFF2-40B4-BE49-F238E27FC236}">
                <a16:creationId xmlns:a16="http://schemas.microsoft.com/office/drawing/2014/main" id="{2D6D50B6-FF21-49B0-9BFE-DFB4ED8632F6}"/>
              </a:ext>
            </a:extLst>
          </p:cNvPr>
          <p:cNvSpPr/>
          <p:nvPr/>
        </p:nvSpPr>
        <p:spPr bwMode="auto">
          <a:xfrm>
            <a:off x="3430974" y="2394907"/>
            <a:ext cx="217452" cy="190894"/>
          </a:xfrm>
          <a:prstGeom prst="flowChartConnector">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65" name="流程图: 接点 64">
            <a:extLst>
              <a:ext uri="{FF2B5EF4-FFF2-40B4-BE49-F238E27FC236}">
                <a16:creationId xmlns:a16="http://schemas.microsoft.com/office/drawing/2014/main" id="{61381E87-EA11-4297-B31A-AA95F6B2FCEA}"/>
              </a:ext>
            </a:extLst>
          </p:cNvPr>
          <p:cNvSpPr/>
          <p:nvPr/>
        </p:nvSpPr>
        <p:spPr bwMode="auto">
          <a:xfrm>
            <a:off x="3601064" y="3086014"/>
            <a:ext cx="217452" cy="190894"/>
          </a:xfrm>
          <a:prstGeom prst="flowChartConnector">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3304595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p:cTn id="7" dur="500" fill="hold"/>
                                        <p:tgtEl>
                                          <p:spTgt spid="58"/>
                                        </p:tgtEl>
                                        <p:attrNameLst>
                                          <p:attrName>ppt_w</p:attrName>
                                        </p:attrNameLst>
                                      </p:cBhvr>
                                      <p:tavLst>
                                        <p:tav tm="0">
                                          <p:val>
                                            <p:fltVal val="0"/>
                                          </p:val>
                                        </p:tav>
                                        <p:tav tm="100000">
                                          <p:val>
                                            <p:strVal val="#ppt_w"/>
                                          </p:val>
                                        </p:tav>
                                      </p:tavLst>
                                    </p:anim>
                                    <p:anim calcmode="lin" valueType="num">
                                      <p:cBhvr>
                                        <p:cTn id="8" dur="500" fill="hold"/>
                                        <p:tgtEl>
                                          <p:spTgt spid="58"/>
                                        </p:tgtEl>
                                        <p:attrNameLst>
                                          <p:attrName>ppt_h</p:attrName>
                                        </p:attrNameLst>
                                      </p:cBhvr>
                                      <p:tavLst>
                                        <p:tav tm="0">
                                          <p:val>
                                            <p:fltVal val="0"/>
                                          </p:val>
                                        </p:tav>
                                        <p:tav tm="100000">
                                          <p:val>
                                            <p:strVal val="#ppt_h"/>
                                          </p:val>
                                        </p:tav>
                                      </p:tavLst>
                                    </p:anim>
                                    <p:animEffect transition="in" filter="fade">
                                      <p:cBhvr>
                                        <p:cTn id="9" dur="500"/>
                                        <p:tgtEl>
                                          <p:spTgt spid="58"/>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56"/>
                                        </p:tgtEl>
                                        <p:attrNameLst>
                                          <p:attrName>style.visibility</p:attrName>
                                        </p:attrNameLst>
                                      </p:cBhvr>
                                      <p:to>
                                        <p:strVal val="visible"/>
                                      </p:to>
                                    </p:set>
                                    <p:animEffect transition="in" filter="barn(inVertical)">
                                      <p:cBhvr>
                                        <p:cTn id="14" dur="500"/>
                                        <p:tgtEl>
                                          <p:spTgt spid="56"/>
                                        </p:tgtEl>
                                      </p:cBhvr>
                                    </p:animEffect>
                                  </p:childTnLst>
                                </p:cTn>
                              </p:par>
                            </p:childTnLst>
                          </p:cTn>
                        </p:par>
                        <p:par>
                          <p:cTn id="15" fill="hold">
                            <p:stCondLst>
                              <p:cond delay="500"/>
                            </p:stCondLst>
                            <p:childTnLst>
                              <p:par>
                                <p:cTn id="16" presetID="16" presetClass="entr" presetSubtype="21" fill="hold" grpId="0" nodeType="after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barn(inVertical)">
                                      <p:cBhvr>
                                        <p:cTn id="18" dur="500"/>
                                        <p:tgtEl>
                                          <p:spTgt spid="57"/>
                                        </p:tgtEl>
                                      </p:cBhvr>
                                    </p:animEffect>
                                  </p:childTnLst>
                                </p:cTn>
                              </p:par>
                            </p:childTnLst>
                          </p:cTn>
                        </p:par>
                        <p:par>
                          <p:cTn id="19" fill="hold">
                            <p:stCondLst>
                              <p:cond delay="1000"/>
                            </p:stCondLst>
                            <p:childTnLst>
                              <p:par>
                                <p:cTn id="20" presetID="16" presetClass="entr" presetSubtype="21" fill="hold" grpId="0" nodeType="after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barn(inVertical)">
                                      <p:cBhvr>
                                        <p:cTn id="22" dur="500"/>
                                        <p:tgtEl>
                                          <p:spTgt spid="55"/>
                                        </p:tgtEl>
                                      </p:cBhvr>
                                    </p:animEffect>
                                  </p:childTnLst>
                                </p:cTn>
                              </p:par>
                            </p:childTnLst>
                          </p:cTn>
                        </p:par>
                        <p:par>
                          <p:cTn id="23" fill="hold">
                            <p:stCondLst>
                              <p:cond delay="1500"/>
                            </p:stCondLst>
                            <p:childTnLst>
                              <p:par>
                                <p:cTn id="24" presetID="16" presetClass="entr" presetSubtype="21" fill="hold" grpId="0" nodeType="afterEffect">
                                  <p:stCondLst>
                                    <p:cond delay="0"/>
                                  </p:stCondLst>
                                  <p:childTnLst>
                                    <p:set>
                                      <p:cBhvr>
                                        <p:cTn id="25" dur="1" fill="hold">
                                          <p:stCondLst>
                                            <p:cond delay="0"/>
                                          </p:stCondLst>
                                        </p:cTn>
                                        <p:tgtEl>
                                          <p:spTgt spid="54"/>
                                        </p:tgtEl>
                                        <p:attrNameLst>
                                          <p:attrName>style.visibility</p:attrName>
                                        </p:attrNameLst>
                                      </p:cBhvr>
                                      <p:to>
                                        <p:strVal val="visible"/>
                                      </p:to>
                                    </p:set>
                                    <p:animEffect transition="in" filter="barn(inVertical)">
                                      <p:cBhvr>
                                        <p:cTn id="26" dur="500"/>
                                        <p:tgtEl>
                                          <p:spTgt spid="54"/>
                                        </p:tgtEl>
                                      </p:cBhvr>
                                    </p:animEffect>
                                  </p:childTnLst>
                                </p:cTn>
                              </p:par>
                            </p:childTnLst>
                          </p:cTn>
                        </p:par>
                        <p:par>
                          <p:cTn id="27" fill="hold">
                            <p:stCondLst>
                              <p:cond delay="2000"/>
                            </p:stCondLst>
                            <p:childTnLst>
                              <p:par>
                                <p:cTn id="28" presetID="16" presetClass="entr" presetSubtype="21" fill="hold" grpId="0" nodeType="after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barn(inVertical)">
                                      <p:cBhvr>
                                        <p:cTn id="30" dur="500"/>
                                        <p:tgtEl>
                                          <p:spTgt spid="53"/>
                                        </p:tgtEl>
                                      </p:cBhvr>
                                    </p:animEffect>
                                  </p:childTnLst>
                                </p:cTn>
                              </p:par>
                            </p:childTnLst>
                          </p:cTn>
                        </p:par>
                        <p:par>
                          <p:cTn id="31" fill="hold">
                            <p:stCondLst>
                              <p:cond delay="2500"/>
                            </p:stCondLst>
                            <p:childTnLst>
                              <p:par>
                                <p:cTn id="32" presetID="16" presetClass="entr" presetSubtype="21"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barn(inVertical)">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60"/>
                                        </p:tgtEl>
                                        <p:attrNameLst>
                                          <p:attrName>style.visibility</p:attrName>
                                        </p:attrNameLst>
                                      </p:cBhvr>
                                      <p:to>
                                        <p:strVal val="visible"/>
                                      </p:to>
                                    </p:set>
                                    <p:anim calcmode="lin" valueType="num">
                                      <p:cBhvr>
                                        <p:cTn id="39" dur="500" fill="hold"/>
                                        <p:tgtEl>
                                          <p:spTgt spid="60"/>
                                        </p:tgtEl>
                                        <p:attrNameLst>
                                          <p:attrName>ppt_w</p:attrName>
                                        </p:attrNameLst>
                                      </p:cBhvr>
                                      <p:tavLst>
                                        <p:tav tm="0">
                                          <p:val>
                                            <p:fltVal val="0"/>
                                          </p:val>
                                        </p:tav>
                                        <p:tav tm="100000">
                                          <p:val>
                                            <p:strVal val="#ppt_w"/>
                                          </p:val>
                                        </p:tav>
                                      </p:tavLst>
                                    </p:anim>
                                    <p:anim calcmode="lin" valueType="num">
                                      <p:cBhvr>
                                        <p:cTn id="40" dur="500" fill="hold"/>
                                        <p:tgtEl>
                                          <p:spTgt spid="60"/>
                                        </p:tgtEl>
                                        <p:attrNameLst>
                                          <p:attrName>ppt_h</p:attrName>
                                        </p:attrNameLst>
                                      </p:cBhvr>
                                      <p:tavLst>
                                        <p:tav tm="0">
                                          <p:val>
                                            <p:fltVal val="0"/>
                                          </p:val>
                                        </p:tav>
                                        <p:tav tm="100000">
                                          <p:val>
                                            <p:strVal val="#ppt_h"/>
                                          </p:val>
                                        </p:tav>
                                      </p:tavLst>
                                    </p:anim>
                                    <p:animEffect transition="in" filter="fade">
                                      <p:cBhvr>
                                        <p:cTn id="41" dur="500"/>
                                        <p:tgtEl>
                                          <p:spTgt spid="60"/>
                                        </p:tgtEl>
                                      </p:cBhvr>
                                    </p:animEffect>
                                  </p:childTnLst>
                                </p:cTn>
                              </p:par>
                            </p:childTnLst>
                          </p:cTn>
                        </p:par>
                        <p:par>
                          <p:cTn id="42" fill="hold">
                            <p:stCondLst>
                              <p:cond delay="500"/>
                            </p:stCondLst>
                            <p:childTnLst>
                              <p:par>
                                <p:cTn id="43" presetID="16" presetClass="entr" presetSubtype="21" fill="hold" grpId="0" nodeType="afterEffect">
                                  <p:stCondLst>
                                    <p:cond delay="0"/>
                                  </p:stCondLst>
                                  <p:childTnLst>
                                    <p:set>
                                      <p:cBhvr>
                                        <p:cTn id="44" dur="1" fill="hold">
                                          <p:stCondLst>
                                            <p:cond delay="0"/>
                                          </p:stCondLst>
                                        </p:cTn>
                                        <p:tgtEl>
                                          <p:spTgt spid="64"/>
                                        </p:tgtEl>
                                        <p:attrNameLst>
                                          <p:attrName>style.visibility</p:attrName>
                                        </p:attrNameLst>
                                      </p:cBhvr>
                                      <p:to>
                                        <p:strVal val="visible"/>
                                      </p:to>
                                    </p:set>
                                    <p:animEffect transition="in" filter="barn(inVertical)">
                                      <p:cBhvr>
                                        <p:cTn id="45" dur="500"/>
                                        <p:tgtEl>
                                          <p:spTgt spid="64"/>
                                        </p:tgtEl>
                                      </p:cBhvr>
                                    </p:animEffect>
                                  </p:childTnLst>
                                </p:cTn>
                              </p:par>
                            </p:childTnLst>
                          </p:cTn>
                        </p:par>
                        <p:par>
                          <p:cTn id="46" fill="hold">
                            <p:stCondLst>
                              <p:cond delay="1000"/>
                            </p:stCondLst>
                            <p:childTnLst>
                              <p:par>
                                <p:cTn id="47" presetID="16" presetClass="entr" presetSubtype="21" fill="hold" grpId="0" nodeType="afterEffect">
                                  <p:stCondLst>
                                    <p:cond delay="0"/>
                                  </p:stCondLst>
                                  <p:childTnLst>
                                    <p:set>
                                      <p:cBhvr>
                                        <p:cTn id="48" dur="1" fill="hold">
                                          <p:stCondLst>
                                            <p:cond delay="0"/>
                                          </p:stCondLst>
                                        </p:cTn>
                                        <p:tgtEl>
                                          <p:spTgt spid="65"/>
                                        </p:tgtEl>
                                        <p:attrNameLst>
                                          <p:attrName>style.visibility</p:attrName>
                                        </p:attrNameLst>
                                      </p:cBhvr>
                                      <p:to>
                                        <p:strVal val="visible"/>
                                      </p:to>
                                    </p:set>
                                    <p:animEffect transition="in" filter="barn(inVertical)">
                                      <p:cBhvr>
                                        <p:cTn id="49"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53" grpId="0" animBg="1"/>
      <p:bldP spid="54" grpId="0" animBg="1"/>
      <p:bldP spid="55" grpId="0" animBg="1"/>
      <p:bldP spid="56" grpId="0" animBg="1"/>
      <p:bldP spid="57" grpId="0" animBg="1"/>
      <p:bldP spid="58" grpId="0" animBg="1"/>
      <p:bldP spid="60" grpId="0" animBg="1"/>
      <p:bldP spid="64" grpId="0" animBg="1"/>
      <p:bldP spid="6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C94039-56B8-4C0E-8405-AA91DE1532C8}"/>
              </a:ext>
            </a:extLst>
          </p:cNvPr>
          <p:cNvSpPr>
            <a:spLocks noGrp="1"/>
          </p:cNvSpPr>
          <p:nvPr>
            <p:ph type="title"/>
          </p:nvPr>
        </p:nvSpPr>
        <p:spPr/>
        <p:txBody>
          <a:bodyPr/>
          <a:lstStyle/>
          <a:p>
            <a:r>
              <a:rPr lang="en-US" altLang="zh-CN" dirty="0"/>
              <a:t>6. </a:t>
            </a:r>
            <a:r>
              <a:rPr lang="zh-CN" altLang="en-US" dirty="0"/>
              <a:t>约束优化问题的极值条件</a:t>
            </a:r>
          </a:p>
        </p:txBody>
      </p:sp>
      <p:sp>
        <p:nvSpPr>
          <p:cNvPr id="3" name="内容占位符 2">
            <a:extLst>
              <a:ext uri="{FF2B5EF4-FFF2-40B4-BE49-F238E27FC236}">
                <a16:creationId xmlns:a16="http://schemas.microsoft.com/office/drawing/2014/main" id="{4AAA5880-2C0E-446B-98C9-187219C7FE4F}"/>
              </a:ext>
            </a:extLst>
          </p:cNvPr>
          <p:cNvSpPr>
            <a:spLocks noGrp="1"/>
          </p:cNvSpPr>
          <p:nvPr>
            <p:ph idx="1"/>
          </p:nvPr>
        </p:nvSpPr>
        <p:spPr/>
        <p:txBody>
          <a:bodyPr/>
          <a:lstStyle/>
          <a:p>
            <a:r>
              <a:rPr lang="zh-CN" altLang="en-US" dirty="0"/>
              <a:t>仅包含等式约束的极值条件</a:t>
            </a:r>
            <a:endParaRPr lang="en-US" altLang="zh-CN" dirty="0"/>
          </a:p>
          <a:p>
            <a:endParaRPr lang="en-US" altLang="zh-CN" dirty="0"/>
          </a:p>
          <a:p>
            <a:endParaRPr lang="en-US" altLang="zh-CN" dirty="0"/>
          </a:p>
          <a:p>
            <a:endParaRPr lang="zh-CN" altLang="en-US" dirty="0"/>
          </a:p>
        </p:txBody>
      </p:sp>
      <p:sp>
        <p:nvSpPr>
          <p:cNvPr id="4" name="日期占位符 3">
            <a:extLst>
              <a:ext uri="{FF2B5EF4-FFF2-40B4-BE49-F238E27FC236}">
                <a16:creationId xmlns:a16="http://schemas.microsoft.com/office/drawing/2014/main" id="{ADF1BBF0-4673-4658-A2A7-69730E32C6CB}"/>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89C9BFF0-FA1F-48E2-A376-EF7EFA1D122D}"/>
              </a:ext>
            </a:extLst>
          </p:cNvPr>
          <p:cNvSpPr>
            <a:spLocks noGrp="1"/>
          </p:cNvSpPr>
          <p:nvPr>
            <p:ph type="sldNum" sz="quarter" idx="12"/>
          </p:nvPr>
        </p:nvSpPr>
        <p:spPr/>
        <p:txBody>
          <a:bodyPr/>
          <a:lstStyle/>
          <a:p>
            <a:fld id="{7AC79822-BC0D-4DE8-A7E5-90A3732A2B82}" type="slidenum">
              <a:rPr lang="zh-CN" altLang="en-US" smtClean="0"/>
              <a:pPr/>
              <a:t>26</a:t>
            </a:fld>
            <a:endParaRPr lang="en-US" altLang="zh-CN" dirty="0"/>
          </a:p>
        </p:txBody>
      </p:sp>
      <p:graphicFrame>
        <p:nvGraphicFramePr>
          <p:cNvPr id="6" name="对象 5">
            <a:extLst>
              <a:ext uri="{FF2B5EF4-FFF2-40B4-BE49-F238E27FC236}">
                <a16:creationId xmlns:a16="http://schemas.microsoft.com/office/drawing/2014/main" id="{71F455FC-DC6C-4FA1-9145-A059BDF0E8B1}"/>
              </a:ext>
            </a:extLst>
          </p:cNvPr>
          <p:cNvGraphicFramePr>
            <a:graphicFrameLocks noChangeAspect="1"/>
          </p:cNvGraphicFramePr>
          <p:nvPr>
            <p:extLst>
              <p:ext uri="{D42A27DB-BD31-4B8C-83A1-F6EECF244321}">
                <p14:modId xmlns:p14="http://schemas.microsoft.com/office/powerpoint/2010/main" val="1248759583"/>
              </p:ext>
            </p:extLst>
          </p:nvPr>
        </p:nvGraphicFramePr>
        <p:xfrm>
          <a:off x="1660524" y="2255838"/>
          <a:ext cx="6388819" cy="1341502"/>
        </p:xfrm>
        <a:graphic>
          <a:graphicData uri="http://schemas.openxmlformats.org/presentationml/2006/ole">
            <mc:AlternateContent xmlns:mc="http://schemas.openxmlformats.org/markup-compatibility/2006">
              <mc:Choice xmlns:v="urn:schemas-microsoft-com:vml" Requires="v">
                <p:oleObj name="Equation" r:id="rId2" imgW="1815840" imgH="380880" progId="Equation.DSMT4">
                  <p:embed/>
                </p:oleObj>
              </mc:Choice>
              <mc:Fallback>
                <p:oleObj name="Equation" r:id="rId2" imgW="1815840" imgH="380880" progId="Equation.DSMT4">
                  <p:embed/>
                  <p:pic>
                    <p:nvPicPr>
                      <p:cNvPr id="6" name="对象 5">
                        <a:extLst>
                          <a:ext uri="{FF2B5EF4-FFF2-40B4-BE49-F238E27FC236}">
                            <a16:creationId xmlns:a16="http://schemas.microsoft.com/office/drawing/2014/main" id="{94DD4A88-D8E2-4803-9A4D-2D3E4ACDE87E}"/>
                          </a:ext>
                        </a:extLst>
                      </p:cNvPr>
                      <p:cNvPicPr/>
                      <p:nvPr/>
                    </p:nvPicPr>
                    <p:blipFill>
                      <a:blip r:embed="rId3"/>
                      <a:stretch>
                        <a:fillRect/>
                      </a:stretch>
                    </p:blipFill>
                    <p:spPr>
                      <a:xfrm>
                        <a:off x="1660524" y="2255838"/>
                        <a:ext cx="6388819" cy="1341502"/>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6244DCF7-84AE-4E6B-8DB7-424843BBFE2D}"/>
              </a:ext>
            </a:extLst>
          </p:cNvPr>
          <p:cNvSpPr txBox="1"/>
          <p:nvPr/>
        </p:nvSpPr>
        <p:spPr>
          <a:xfrm>
            <a:off x="1064568" y="4221088"/>
            <a:ext cx="5832648" cy="523220"/>
          </a:xfrm>
          <a:prstGeom prst="rect">
            <a:avLst/>
          </a:prstGeom>
          <a:noFill/>
        </p:spPr>
        <p:txBody>
          <a:bodyPr wrap="square" rtlCol="0">
            <a:spAutoFit/>
          </a:bodyPr>
          <a:lstStyle/>
          <a:p>
            <a:r>
              <a:rPr lang="zh-CN" altLang="en-US" sz="2800" dirty="0"/>
              <a:t>解法：消元法、拉格朗日乘子法</a:t>
            </a:r>
            <a:endParaRPr lang="en-US" altLang="zh-CN" sz="2800" dirty="0"/>
          </a:p>
        </p:txBody>
      </p:sp>
    </p:spTree>
    <p:extLst>
      <p:ext uri="{BB962C8B-B14F-4D97-AF65-F5344CB8AC3E}">
        <p14:creationId xmlns:p14="http://schemas.microsoft.com/office/powerpoint/2010/main" val="3383876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32BB15-4336-42E0-A403-A33945581753}"/>
              </a:ext>
            </a:extLst>
          </p:cNvPr>
          <p:cNvSpPr>
            <a:spLocks noGrp="1"/>
          </p:cNvSpPr>
          <p:nvPr>
            <p:ph type="title"/>
          </p:nvPr>
        </p:nvSpPr>
        <p:spPr/>
        <p:txBody>
          <a:bodyPr/>
          <a:lstStyle/>
          <a:p>
            <a:r>
              <a:rPr lang="zh-CN" altLang="en-US" dirty="0"/>
              <a:t>仅包含等式约束的极值条件</a:t>
            </a:r>
            <a:endParaRPr lang="en-US" altLang="zh-CN" dirty="0"/>
          </a:p>
        </p:txBody>
      </p:sp>
      <p:sp>
        <p:nvSpPr>
          <p:cNvPr id="3" name="内容占位符 2">
            <a:extLst>
              <a:ext uri="{FF2B5EF4-FFF2-40B4-BE49-F238E27FC236}">
                <a16:creationId xmlns:a16="http://schemas.microsoft.com/office/drawing/2014/main" id="{A6571A69-B7C0-41FA-A18C-B355097A2449}"/>
              </a:ext>
            </a:extLst>
          </p:cNvPr>
          <p:cNvSpPr>
            <a:spLocks noGrp="1"/>
          </p:cNvSpPr>
          <p:nvPr>
            <p:ph idx="1"/>
          </p:nvPr>
        </p:nvSpPr>
        <p:spPr/>
        <p:txBody>
          <a:bodyPr/>
          <a:lstStyle/>
          <a:p>
            <a:r>
              <a:rPr lang="zh-CN" altLang="en-US" dirty="0"/>
              <a:t>消元法</a:t>
            </a:r>
            <a:endParaRPr lang="en-US" altLang="zh-CN" dirty="0"/>
          </a:p>
          <a:p>
            <a:pPr lvl="1"/>
            <a:r>
              <a:rPr lang="zh-CN" altLang="en-US" dirty="0"/>
              <a:t>例</a:t>
            </a:r>
            <a:r>
              <a:rPr lang="en-US" altLang="zh-CN" dirty="0"/>
              <a:t>2</a:t>
            </a:r>
            <a:r>
              <a:rPr lang="zh-CN" altLang="en-US" dirty="0"/>
              <a:t>：求解下列优化问题</a:t>
            </a:r>
            <a:endParaRPr lang="en-US" altLang="zh-CN" dirty="0"/>
          </a:p>
          <a:p>
            <a:pPr lvl="2"/>
            <a:endParaRPr lang="zh-CN" altLang="en-US" dirty="0"/>
          </a:p>
        </p:txBody>
      </p:sp>
      <p:sp>
        <p:nvSpPr>
          <p:cNvPr id="4" name="日期占位符 3">
            <a:extLst>
              <a:ext uri="{FF2B5EF4-FFF2-40B4-BE49-F238E27FC236}">
                <a16:creationId xmlns:a16="http://schemas.microsoft.com/office/drawing/2014/main" id="{FE2A0743-E469-4207-BB75-21C7F06E51D7}"/>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53C0F153-8451-4673-BB4F-B063BD56E022}"/>
              </a:ext>
            </a:extLst>
          </p:cNvPr>
          <p:cNvSpPr>
            <a:spLocks noGrp="1"/>
          </p:cNvSpPr>
          <p:nvPr>
            <p:ph type="sldNum" sz="quarter" idx="12"/>
          </p:nvPr>
        </p:nvSpPr>
        <p:spPr/>
        <p:txBody>
          <a:bodyPr/>
          <a:lstStyle/>
          <a:p>
            <a:fld id="{7AC79822-BC0D-4DE8-A7E5-90A3732A2B82}" type="slidenum">
              <a:rPr lang="zh-CN" altLang="en-US" smtClean="0"/>
              <a:pPr/>
              <a:t>27</a:t>
            </a:fld>
            <a:endParaRPr lang="en-US" altLang="zh-CN" dirty="0"/>
          </a:p>
        </p:txBody>
      </p:sp>
      <p:graphicFrame>
        <p:nvGraphicFramePr>
          <p:cNvPr id="6" name="对象 5">
            <a:extLst>
              <a:ext uri="{FF2B5EF4-FFF2-40B4-BE49-F238E27FC236}">
                <a16:creationId xmlns:a16="http://schemas.microsoft.com/office/drawing/2014/main" id="{038FD458-1F59-440A-8ED8-2F5CF9D37551}"/>
              </a:ext>
            </a:extLst>
          </p:cNvPr>
          <p:cNvGraphicFramePr>
            <a:graphicFrameLocks noChangeAspect="1"/>
          </p:cNvGraphicFramePr>
          <p:nvPr>
            <p:extLst>
              <p:ext uri="{D42A27DB-BD31-4B8C-83A1-F6EECF244321}">
                <p14:modId xmlns:p14="http://schemas.microsoft.com/office/powerpoint/2010/main" val="798651554"/>
              </p:ext>
            </p:extLst>
          </p:nvPr>
        </p:nvGraphicFramePr>
        <p:xfrm>
          <a:off x="1856657" y="2564904"/>
          <a:ext cx="3888432" cy="1286260"/>
        </p:xfrm>
        <a:graphic>
          <a:graphicData uri="http://schemas.openxmlformats.org/presentationml/2006/ole">
            <mc:AlternateContent xmlns:mc="http://schemas.openxmlformats.org/markup-compatibility/2006">
              <mc:Choice xmlns:v="urn:schemas-microsoft-com:vml" Requires="v">
                <p:oleObj name="Equation" r:id="rId2" imgW="1384200" imgH="457200" progId="Equation.DSMT4">
                  <p:embed/>
                </p:oleObj>
              </mc:Choice>
              <mc:Fallback>
                <p:oleObj name="Equation" r:id="rId2" imgW="1384200" imgH="457200" progId="Equation.DSMT4">
                  <p:embed/>
                  <p:pic>
                    <p:nvPicPr>
                      <p:cNvPr id="10" name="对象 9">
                        <a:extLst>
                          <a:ext uri="{FF2B5EF4-FFF2-40B4-BE49-F238E27FC236}">
                            <a16:creationId xmlns:a16="http://schemas.microsoft.com/office/drawing/2014/main" id="{ACDD4943-19EE-4624-85B2-93FF7AF5CAE1}"/>
                          </a:ext>
                        </a:extLst>
                      </p:cNvPr>
                      <p:cNvPicPr/>
                      <p:nvPr/>
                    </p:nvPicPr>
                    <p:blipFill>
                      <a:blip r:embed="rId3"/>
                      <a:stretch>
                        <a:fillRect/>
                      </a:stretch>
                    </p:blipFill>
                    <p:spPr>
                      <a:xfrm>
                        <a:off x="1856657" y="2564904"/>
                        <a:ext cx="3888432" cy="128626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2AEA915B-FBF2-41B3-A310-27D930209C30}"/>
                  </a:ext>
                </a:extLst>
              </p:cNvPr>
              <p:cNvSpPr txBox="1"/>
              <p:nvPr/>
            </p:nvSpPr>
            <p:spPr>
              <a:xfrm>
                <a:off x="920552" y="4276253"/>
                <a:ext cx="6768752" cy="1384995"/>
              </a:xfrm>
              <a:prstGeom prst="rect">
                <a:avLst/>
              </a:prstGeom>
              <a:noFill/>
            </p:spPr>
            <p:txBody>
              <a:bodyPr wrap="square" rtlCol="0">
                <a:spAutoFit/>
              </a:bodyPr>
              <a:lstStyle/>
              <a:p>
                <a:r>
                  <a:rPr lang="zh-CN" altLang="en-US" sz="2800" dirty="0"/>
                  <a:t>解题思路：令</a:t>
                </a:r>
                <a14:m>
                  <m:oMath xmlns:m="http://schemas.openxmlformats.org/officeDocument/2006/math">
                    <m:r>
                      <a:rPr lang="en-US" altLang="zh-CN" sz="2800" i="1" dirty="0" smtClean="0">
                        <a:latin typeface="Cambria Math" panose="02040503050406030204" pitchFamily="18" charset="0"/>
                      </a:rPr>
                      <m:t>𝑥</m:t>
                    </m:r>
                    <m:r>
                      <a:rPr lang="en-US" altLang="zh-CN" sz="2800" i="1" baseline="-25000" dirty="0" smtClean="0">
                        <a:latin typeface="Cambria Math" panose="02040503050406030204" pitchFamily="18" charset="0"/>
                      </a:rPr>
                      <m:t>1</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𝑥</m:t>
                    </m:r>
                    <m:r>
                      <a:rPr lang="en-US" altLang="zh-CN" sz="2800" i="1" baseline="-25000" dirty="0" smtClean="0">
                        <a:latin typeface="Cambria Math" panose="02040503050406030204" pitchFamily="18" charset="0"/>
                      </a:rPr>
                      <m:t>2</m:t>
                    </m:r>
                    <m:r>
                      <a:rPr lang="en-US" altLang="zh-CN" sz="2800" i="1" dirty="0" smtClean="0">
                        <a:latin typeface="Cambria Math" panose="02040503050406030204" pitchFamily="18" charset="0"/>
                      </a:rPr>
                      <m:t>+3</m:t>
                    </m:r>
                  </m:oMath>
                </a14:m>
                <a:r>
                  <a:rPr lang="zh-CN" altLang="en-US" sz="2800" dirty="0"/>
                  <a:t>，带入</a:t>
                </a:r>
                <a14:m>
                  <m:oMath xmlns:m="http://schemas.openxmlformats.org/officeDocument/2006/math">
                    <m:r>
                      <a:rPr lang="en-US" altLang="zh-CN" sz="2800" i="1" dirty="0" smtClean="0">
                        <a:latin typeface="Cambria Math" panose="02040503050406030204" pitchFamily="18" charset="0"/>
                      </a:rPr>
                      <m:t>𝑓</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𝑋</m:t>
                    </m:r>
                    <m:r>
                      <a:rPr lang="en-US" altLang="zh-CN" sz="2800" i="1" dirty="0" smtClean="0">
                        <a:latin typeface="Cambria Math" panose="02040503050406030204" pitchFamily="18" charset="0"/>
                      </a:rPr>
                      <m:t>)</m:t>
                    </m:r>
                  </m:oMath>
                </a14:m>
                <a:r>
                  <a:rPr lang="zh-CN" altLang="en-US" sz="2800" dirty="0"/>
                  <a:t>中，将有约束二元函数变成无约束的一元函数求解。</a:t>
                </a:r>
              </a:p>
            </p:txBody>
          </p:sp>
        </mc:Choice>
        <mc:Fallback xmlns="">
          <p:sp>
            <p:nvSpPr>
              <p:cNvPr id="7" name="文本框 6">
                <a:extLst>
                  <a:ext uri="{FF2B5EF4-FFF2-40B4-BE49-F238E27FC236}">
                    <a16:creationId xmlns:a16="http://schemas.microsoft.com/office/drawing/2014/main" id="{2AEA915B-FBF2-41B3-A310-27D930209C30}"/>
                  </a:ext>
                </a:extLst>
              </p:cNvPr>
              <p:cNvSpPr txBox="1">
                <a:spLocks noRot="1" noChangeAspect="1" noMove="1" noResize="1" noEditPoints="1" noAdjustHandles="1" noChangeArrowheads="1" noChangeShapeType="1" noTextEdit="1"/>
              </p:cNvSpPr>
              <p:nvPr/>
            </p:nvSpPr>
            <p:spPr>
              <a:xfrm>
                <a:off x="920552" y="4276253"/>
                <a:ext cx="6768752" cy="1384995"/>
              </a:xfrm>
              <a:prstGeom prst="rect">
                <a:avLst/>
              </a:prstGeom>
              <a:blipFill>
                <a:blip r:embed="rId5"/>
                <a:stretch>
                  <a:fillRect l="-1802" t="-4386" b="-1096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45904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childTnLst>
                          </p:cTn>
                        </p:par>
                        <p:par>
                          <p:cTn id="11" fill="hold">
                            <p:stCondLst>
                              <p:cond delay="500"/>
                            </p:stCondLst>
                            <p:childTnLst>
                              <p:par>
                                <p:cTn id="12" presetID="16" presetClass="entr" presetSubtype="21"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inVertical)">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arn(inVertical)">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32BB15-4336-42E0-A403-A33945581753}"/>
              </a:ext>
            </a:extLst>
          </p:cNvPr>
          <p:cNvSpPr>
            <a:spLocks noGrp="1"/>
          </p:cNvSpPr>
          <p:nvPr>
            <p:ph type="title"/>
          </p:nvPr>
        </p:nvSpPr>
        <p:spPr/>
        <p:txBody>
          <a:bodyPr/>
          <a:lstStyle/>
          <a:p>
            <a:r>
              <a:rPr lang="zh-CN" altLang="en-US" dirty="0"/>
              <a:t>仅包含等式约束的极值条件</a:t>
            </a:r>
            <a:endParaRPr lang="en-US" altLang="zh-CN" dirty="0"/>
          </a:p>
        </p:txBody>
      </p:sp>
      <p:sp>
        <p:nvSpPr>
          <p:cNvPr id="3" name="内容占位符 2">
            <a:extLst>
              <a:ext uri="{FF2B5EF4-FFF2-40B4-BE49-F238E27FC236}">
                <a16:creationId xmlns:a16="http://schemas.microsoft.com/office/drawing/2014/main" id="{A6571A69-B7C0-41FA-A18C-B355097A2449}"/>
              </a:ext>
            </a:extLst>
          </p:cNvPr>
          <p:cNvSpPr>
            <a:spLocks noGrp="1"/>
          </p:cNvSpPr>
          <p:nvPr>
            <p:ph idx="1"/>
          </p:nvPr>
        </p:nvSpPr>
        <p:spPr/>
        <p:txBody>
          <a:bodyPr/>
          <a:lstStyle/>
          <a:p>
            <a:r>
              <a:rPr lang="zh-CN" altLang="en-US" dirty="0"/>
              <a:t>消元法</a:t>
            </a:r>
            <a:endParaRPr lang="en-US" altLang="zh-CN" dirty="0"/>
          </a:p>
          <a:p>
            <a:pPr lvl="1"/>
            <a:r>
              <a:rPr lang="zh-CN" altLang="en-US" dirty="0"/>
              <a:t>对于最优化问题</a:t>
            </a:r>
          </a:p>
        </p:txBody>
      </p:sp>
      <p:sp>
        <p:nvSpPr>
          <p:cNvPr id="4" name="日期占位符 3">
            <a:extLst>
              <a:ext uri="{FF2B5EF4-FFF2-40B4-BE49-F238E27FC236}">
                <a16:creationId xmlns:a16="http://schemas.microsoft.com/office/drawing/2014/main" id="{FE2A0743-E469-4207-BB75-21C7F06E51D7}"/>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53C0F153-8451-4673-BB4F-B063BD56E022}"/>
              </a:ext>
            </a:extLst>
          </p:cNvPr>
          <p:cNvSpPr>
            <a:spLocks noGrp="1"/>
          </p:cNvSpPr>
          <p:nvPr>
            <p:ph type="sldNum" sz="quarter" idx="12"/>
          </p:nvPr>
        </p:nvSpPr>
        <p:spPr/>
        <p:txBody>
          <a:bodyPr/>
          <a:lstStyle/>
          <a:p>
            <a:fld id="{7AC79822-BC0D-4DE8-A7E5-90A3732A2B82}" type="slidenum">
              <a:rPr lang="zh-CN" altLang="en-US" smtClean="0"/>
              <a:pPr/>
              <a:t>28</a:t>
            </a:fld>
            <a:endParaRPr lang="en-US" altLang="zh-CN" dirty="0"/>
          </a:p>
        </p:txBody>
      </p:sp>
      <p:graphicFrame>
        <p:nvGraphicFramePr>
          <p:cNvPr id="8" name="对象 7">
            <a:extLst>
              <a:ext uri="{FF2B5EF4-FFF2-40B4-BE49-F238E27FC236}">
                <a16:creationId xmlns:a16="http://schemas.microsoft.com/office/drawing/2014/main" id="{437293F1-6C29-4462-A709-85D7465F6CC1}"/>
              </a:ext>
            </a:extLst>
          </p:cNvPr>
          <p:cNvGraphicFramePr>
            <a:graphicFrameLocks noChangeAspect="1"/>
          </p:cNvGraphicFramePr>
          <p:nvPr>
            <p:extLst>
              <p:ext uri="{D42A27DB-BD31-4B8C-83A1-F6EECF244321}">
                <p14:modId xmlns:p14="http://schemas.microsoft.com/office/powerpoint/2010/main" val="2140331627"/>
              </p:ext>
            </p:extLst>
          </p:nvPr>
        </p:nvGraphicFramePr>
        <p:xfrm>
          <a:off x="1424608" y="2552546"/>
          <a:ext cx="6574594" cy="1380510"/>
        </p:xfrm>
        <a:graphic>
          <a:graphicData uri="http://schemas.openxmlformats.org/presentationml/2006/ole">
            <mc:AlternateContent xmlns:mc="http://schemas.openxmlformats.org/markup-compatibility/2006">
              <mc:Choice xmlns:v="urn:schemas-microsoft-com:vml" Requires="v">
                <p:oleObj name="Equation" r:id="rId2" imgW="1815840" imgH="380880" progId="Equation.DSMT4">
                  <p:embed/>
                </p:oleObj>
              </mc:Choice>
              <mc:Fallback>
                <p:oleObj name="Equation" r:id="rId2" imgW="1815840" imgH="380880" progId="Equation.DSMT4">
                  <p:embed/>
                  <p:pic>
                    <p:nvPicPr>
                      <p:cNvPr id="6" name="对象 5">
                        <a:extLst>
                          <a:ext uri="{FF2B5EF4-FFF2-40B4-BE49-F238E27FC236}">
                            <a16:creationId xmlns:a16="http://schemas.microsoft.com/office/drawing/2014/main" id="{71F455FC-DC6C-4FA1-9145-A059BDF0E8B1}"/>
                          </a:ext>
                        </a:extLst>
                      </p:cNvPr>
                      <p:cNvPicPr/>
                      <p:nvPr/>
                    </p:nvPicPr>
                    <p:blipFill>
                      <a:blip r:embed="rId3"/>
                      <a:stretch>
                        <a:fillRect/>
                      </a:stretch>
                    </p:blipFill>
                    <p:spPr>
                      <a:xfrm>
                        <a:off x="1424608" y="2552546"/>
                        <a:ext cx="6574594" cy="138051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BA9357F-8364-4D07-B064-829FA380EF75}"/>
                  </a:ext>
                </a:extLst>
              </p:cNvPr>
              <p:cNvSpPr txBox="1"/>
              <p:nvPr/>
            </p:nvSpPr>
            <p:spPr>
              <a:xfrm>
                <a:off x="889944" y="4181055"/>
                <a:ext cx="7591448" cy="1569660"/>
              </a:xfrm>
              <a:prstGeom prst="rect">
                <a:avLst/>
              </a:prstGeom>
              <a:noFill/>
            </p:spPr>
            <p:txBody>
              <a:bodyPr wrap="square" rtlCol="0">
                <a:spAutoFit/>
              </a:bodyPr>
              <a:lstStyle/>
              <a:p>
                <a:r>
                  <a:rPr lang="zh-CN" altLang="en-US" sz="2400" dirty="0">
                    <a:solidFill>
                      <a:srgbClr val="0000CC"/>
                    </a:solidFill>
                  </a:rPr>
                  <a:t>利用</a:t>
                </a:r>
                <a14:m>
                  <m:oMath xmlns:m="http://schemas.openxmlformats.org/officeDocument/2006/math">
                    <m:r>
                      <a:rPr lang="en-US" altLang="zh-CN" sz="2400" i="1" dirty="0" smtClean="0">
                        <a:solidFill>
                          <a:srgbClr val="0000CC"/>
                        </a:solidFill>
                        <a:latin typeface="Cambria Math" panose="02040503050406030204" pitchFamily="18" charset="0"/>
                      </a:rPr>
                      <m:t>𝐻</m:t>
                    </m:r>
                    <m:r>
                      <a:rPr lang="en-US" altLang="zh-CN" sz="2400" i="1" baseline="-25000" dirty="0" err="1" smtClean="0">
                        <a:solidFill>
                          <a:srgbClr val="0000CC"/>
                        </a:solidFill>
                        <a:latin typeface="Cambria Math" panose="02040503050406030204" pitchFamily="18" charset="0"/>
                      </a:rPr>
                      <m:t>𝑣</m:t>
                    </m:r>
                    <m:r>
                      <a:rPr lang="en-US" altLang="zh-CN" sz="2400" i="1" dirty="0" smtClean="0">
                        <a:solidFill>
                          <a:srgbClr val="0000CC"/>
                        </a:solidFill>
                        <a:latin typeface="Cambria Math" panose="02040503050406030204" pitchFamily="18" charset="0"/>
                      </a:rPr>
                      <m:t>(</m:t>
                    </m:r>
                    <m:r>
                      <a:rPr lang="en-US" altLang="zh-CN" sz="2400" i="1" dirty="0" smtClean="0">
                        <a:solidFill>
                          <a:srgbClr val="0000CC"/>
                        </a:solidFill>
                        <a:latin typeface="Cambria Math" panose="02040503050406030204" pitchFamily="18" charset="0"/>
                      </a:rPr>
                      <m:t>𝑋</m:t>
                    </m:r>
                    <m:r>
                      <a:rPr lang="en-US" altLang="zh-CN" sz="2400" i="1" dirty="0" smtClean="0">
                        <a:solidFill>
                          <a:srgbClr val="0000CC"/>
                        </a:solidFill>
                        <a:latin typeface="Cambria Math" panose="02040503050406030204" pitchFamily="18" charset="0"/>
                      </a:rPr>
                      <m:t>)=0</m:t>
                    </m:r>
                  </m:oMath>
                </a14:m>
                <a:r>
                  <a:rPr lang="zh-CN" altLang="en-US" sz="2400" dirty="0">
                    <a:solidFill>
                      <a:srgbClr val="0000CC"/>
                    </a:solidFill>
                  </a:rPr>
                  <a:t>，求解包含</a:t>
                </a:r>
                <a14:m>
                  <m:oMath xmlns:m="http://schemas.openxmlformats.org/officeDocument/2006/math">
                    <m:r>
                      <a:rPr lang="en-US" altLang="zh-CN" sz="2400" i="1" dirty="0" smtClean="0">
                        <a:solidFill>
                          <a:srgbClr val="0000CC"/>
                        </a:solidFill>
                        <a:latin typeface="Cambria Math" panose="02040503050406030204" pitchFamily="18" charset="0"/>
                      </a:rPr>
                      <m:t>𝑝</m:t>
                    </m:r>
                  </m:oMath>
                </a14:m>
                <a:r>
                  <a:rPr lang="zh-CN" altLang="en-US" sz="2400" dirty="0">
                    <a:solidFill>
                      <a:srgbClr val="0000CC"/>
                    </a:solidFill>
                  </a:rPr>
                  <a:t>个方程的方程组</a:t>
                </a:r>
                <a:r>
                  <a:rPr lang="zh-CN" altLang="en-US" sz="2400" dirty="0"/>
                  <a:t>，得到</a:t>
                </a:r>
                <a14:m>
                  <m:oMath xmlns:m="http://schemas.openxmlformats.org/officeDocument/2006/math">
                    <m:r>
                      <a:rPr lang="en-US" altLang="zh-CN" sz="2400" i="1" dirty="0" smtClean="0">
                        <a:latin typeface="Cambria Math" panose="02040503050406030204" pitchFamily="18" charset="0"/>
                      </a:rPr>
                      <m:t>𝑝</m:t>
                    </m:r>
                  </m:oMath>
                </a14:m>
                <a:r>
                  <a:rPr lang="zh-CN" altLang="en-US" sz="2400" dirty="0"/>
                  <a:t>个变量的表达式，然后</a:t>
                </a:r>
                <a:r>
                  <a:rPr lang="zh-CN" altLang="en-US" sz="2400" dirty="0">
                    <a:solidFill>
                      <a:srgbClr val="C00000"/>
                    </a:solidFill>
                  </a:rPr>
                  <a:t>将原问题的规模减少到</a:t>
                </a:r>
                <a14:m>
                  <m:oMath xmlns:m="http://schemas.openxmlformats.org/officeDocument/2006/math">
                    <m:r>
                      <a:rPr lang="en-US" altLang="zh-CN" sz="2400" i="1" dirty="0" smtClean="0">
                        <a:solidFill>
                          <a:srgbClr val="C00000"/>
                        </a:solidFill>
                        <a:latin typeface="Cambria Math" panose="02040503050406030204" pitchFamily="18" charset="0"/>
                      </a:rPr>
                      <m:t>𝑛</m:t>
                    </m:r>
                    <m:r>
                      <a:rPr lang="en-US" altLang="zh-CN" sz="2400" i="1" dirty="0" smtClean="0">
                        <a:solidFill>
                          <a:srgbClr val="C00000"/>
                        </a:solidFill>
                        <a:latin typeface="Cambria Math" panose="02040503050406030204" pitchFamily="18" charset="0"/>
                      </a:rPr>
                      <m:t>−</m:t>
                    </m:r>
                    <m:r>
                      <a:rPr lang="en-US" altLang="zh-CN" sz="2400" i="1" dirty="0" smtClean="0">
                        <a:solidFill>
                          <a:srgbClr val="C00000"/>
                        </a:solidFill>
                        <a:latin typeface="Cambria Math" panose="02040503050406030204" pitchFamily="18" charset="0"/>
                      </a:rPr>
                      <m:t>𝑝</m:t>
                    </m:r>
                  </m:oMath>
                </a14:m>
                <a:r>
                  <a:rPr lang="zh-CN" altLang="en-US" sz="2400" dirty="0">
                    <a:solidFill>
                      <a:srgbClr val="C00000"/>
                    </a:solidFill>
                  </a:rPr>
                  <a:t>维</a:t>
                </a:r>
                <a:r>
                  <a:rPr lang="zh-CN" altLang="en-US" sz="2400" dirty="0"/>
                  <a:t>，变成一个无约束的优化问题。利用梯度、</a:t>
                </a:r>
                <a:r>
                  <a:rPr lang="en-US" altLang="zh-CN" sz="2400" dirty="0"/>
                  <a:t>Hessian</a:t>
                </a:r>
                <a:r>
                  <a:rPr lang="zh-CN" altLang="en-US" sz="2400" dirty="0"/>
                  <a:t>矩阵判定方法实现求解。</a:t>
                </a:r>
                <a:endParaRPr lang="en-US" altLang="zh-CN" sz="2400" dirty="0"/>
              </a:p>
            </p:txBody>
          </p:sp>
        </mc:Choice>
        <mc:Fallback xmlns="">
          <p:sp>
            <p:nvSpPr>
              <p:cNvPr id="9" name="文本框 8">
                <a:extLst>
                  <a:ext uri="{FF2B5EF4-FFF2-40B4-BE49-F238E27FC236}">
                    <a16:creationId xmlns:a16="http://schemas.microsoft.com/office/drawing/2014/main" id="{9BA9357F-8364-4D07-B064-829FA380EF75}"/>
                  </a:ext>
                </a:extLst>
              </p:cNvPr>
              <p:cNvSpPr txBox="1">
                <a:spLocks noRot="1" noChangeAspect="1" noMove="1" noResize="1" noEditPoints="1" noAdjustHandles="1" noChangeArrowheads="1" noChangeShapeType="1" noTextEdit="1"/>
              </p:cNvSpPr>
              <p:nvPr/>
            </p:nvSpPr>
            <p:spPr>
              <a:xfrm>
                <a:off x="889944" y="4181055"/>
                <a:ext cx="7591448" cy="1569660"/>
              </a:xfrm>
              <a:prstGeom prst="rect">
                <a:avLst/>
              </a:prstGeom>
              <a:blipFill>
                <a:blip r:embed="rId5"/>
                <a:stretch>
                  <a:fillRect l="-1285" t="-3113" b="-81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31501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down)">
                                      <p:cBhvr>
                                        <p:cTn id="14" dur="500"/>
                                        <p:tgtEl>
                                          <p:spTgt spid="8"/>
                                        </p:tgtEl>
                                      </p:cBhvr>
                                    </p:animEffect>
                                  </p:childTnLst>
                                </p:cTn>
                              </p:par>
                            </p:childTnLst>
                          </p:cTn>
                        </p:par>
                        <p:par>
                          <p:cTn id="15" fill="hold">
                            <p:stCondLst>
                              <p:cond delay="1000"/>
                            </p:stCondLst>
                            <p:childTnLst>
                              <p:par>
                                <p:cTn id="16" presetID="22" presetClass="entr" presetSubtype="4"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down)">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FDF77D-BC03-4BA7-804D-ACEE07297947}"/>
              </a:ext>
            </a:extLst>
          </p:cNvPr>
          <p:cNvSpPr>
            <a:spLocks noGrp="1"/>
          </p:cNvSpPr>
          <p:nvPr>
            <p:ph type="title"/>
          </p:nvPr>
        </p:nvSpPr>
        <p:spPr/>
        <p:txBody>
          <a:bodyPr/>
          <a:lstStyle/>
          <a:p>
            <a:r>
              <a:rPr lang="zh-CN" altLang="en-US" dirty="0"/>
              <a:t>仅包含等式约束的极值条件</a:t>
            </a:r>
            <a:endParaRPr lang="en-US" altLang="zh-CN" dirty="0"/>
          </a:p>
        </p:txBody>
      </p:sp>
      <p:sp>
        <p:nvSpPr>
          <p:cNvPr id="3" name="内容占位符 2">
            <a:extLst>
              <a:ext uri="{FF2B5EF4-FFF2-40B4-BE49-F238E27FC236}">
                <a16:creationId xmlns:a16="http://schemas.microsoft.com/office/drawing/2014/main" id="{255BC989-7B5A-4DA1-8E5E-E4388DE4C8E5}"/>
              </a:ext>
            </a:extLst>
          </p:cNvPr>
          <p:cNvSpPr>
            <a:spLocks noGrp="1"/>
          </p:cNvSpPr>
          <p:nvPr>
            <p:ph idx="1"/>
          </p:nvPr>
        </p:nvSpPr>
        <p:spPr/>
        <p:txBody>
          <a:bodyPr/>
          <a:lstStyle/>
          <a:p>
            <a:r>
              <a:rPr lang="zh-CN" altLang="en-US" dirty="0"/>
              <a:t>消元法</a:t>
            </a:r>
            <a:endParaRPr lang="en-US" altLang="zh-CN" dirty="0"/>
          </a:p>
          <a:p>
            <a:pPr lvl="1"/>
            <a:r>
              <a:rPr lang="zh-CN" altLang="en-US" dirty="0"/>
              <a:t>例</a:t>
            </a:r>
            <a:r>
              <a:rPr lang="en-US" altLang="zh-CN" dirty="0"/>
              <a:t>3</a:t>
            </a:r>
            <a:r>
              <a:rPr lang="zh-CN" altLang="en-US" dirty="0"/>
              <a:t>：求解下列极值问题</a:t>
            </a:r>
            <a:endParaRPr lang="en-US" altLang="zh-CN" dirty="0"/>
          </a:p>
          <a:p>
            <a:pPr lvl="2"/>
            <a:endParaRPr lang="zh-CN" altLang="en-US" dirty="0"/>
          </a:p>
        </p:txBody>
      </p:sp>
      <p:sp>
        <p:nvSpPr>
          <p:cNvPr id="4" name="日期占位符 3">
            <a:extLst>
              <a:ext uri="{FF2B5EF4-FFF2-40B4-BE49-F238E27FC236}">
                <a16:creationId xmlns:a16="http://schemas.microsoft.com/office/drawing/2014/main" id="{5D681FF2-87D1-40F1-996D-D68BBB8F7C3E}"/>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A977C68A-373B-4EDD-B9C2-CDB02BCD47D8}"/>
              </a:ext>
            </a:extLst>
          </p:cNvPr>
          <p:cNvSpPr>
            <a:spLocks noGrp="1"/>
          </p:cNvSpPr>
          <p:nvPr>
            <p:ph type="sldNum" sz="quarter" idx="12"/>
          </p:nvPr>
        </p:nvSpPr>
        <p:spPr/>
        <p:txBody>
          <a:bodyPr/>
          <a:lstStyle/>
          <a:p>
            <a:fld id="{7AC79822-BC0D-4DE8-A7E5-90A3732A2B82}" type="slidenum">
              <a:rPr lang="zh-CN" altLang="en-US" smtClean="0"/>
              <a:pPr/>
              <a:t>29</a:t>
            </a:fld>
            <a:endParaRPr lang="en-US" altLang="zh-CN" dirty="0"/>
          </a:p>
        </p:txBody>
      </p:sp>
      <p:graphicFrame>
        <p:nvGraphicFramePr>
          <p:cNvPr id="6" name="对象 5">
            <a:extLst>
              <a:ext uri="{FF2B5EF4-FFF2-40B4-BE49-F238E27FC236}">
                <a16:creationId xmlns:a16="http://schemas.microsoft.com/office/drawing/2014/main" id="{126BDB2C-01CB-47B1-A895-CB4E14956324}"/>
              </a:ext>
            </a:extLst>
          </p:cNvPr>
          <p:cNvGraphicFramePr>
            <a:graphicFrameLocks noChangeAspect="1"/>
          </p:cNvGraphicFramePr>
          <p:nvPr>
            <p:extLst>
              <p:ext uri="{D42A27DB-BD31-4B8C-83A1-F6EECF244321}">
                <p14:modId xmlns:p14="http://schemas.microsoft.com/office/powerpoint/2010/main" val="2553697509"/>
              </p:ext>
            </p:extLst>
          </p:nvPr>
        </p:nvGraphicFramePr>
        <p:xfrm>
          <a:off x="1424608" y="2636912"/>
          <a:ext cx="5743575" cy="2714625"/>
        </p:xfrm>
        <a:graphic>
          <a:graphicData uri="http://schemas.openxmlformats.org/presentationml/2006/ole">
            <mc:AlternateContent xmlns:mc="http://schemas.openxmlformats.org/markup-compatibility/2006">
              <mc:Choice xmlns:v="urn:schemas-microsoft-com:vml" Requires="v">
                <p:oleObj name="Equation" r:id="rId2" imgW="2044440" imgH="965160" progId="Equation.DSMT4">
                  <p:embed/>
                </p:oleObj>
              </mc:Choice>
              <mc:Fallback>
                <p:oleObj name="Equation" r:id="rId2" imgW="2044440" imgH="965160" progId="Equation.DSMT4">
                  <p:embed/>
                  <p:pic>
                    <p:nvPicPr>
                      <p:cNvPr id="6" name="对象 5">
                        <a:extLst>
                          <a:ext uri="{FF2B5EF4-FFF2-40B4-BE49-F238E27FC236}">
                            <a16:creationId xmlns:a16="http://schemas.microsoft.com/office/drawing/2014/main" id="{038FD458-1F59-440A-8ED8-2F5CF9D37551}"/>
                          </a:ext>
                        </a:extLst>
                      </p:cNvPr>
                      <p:cNvPicPr/>
                      <p:nvPr/>
                    </p:nvPicPr>
                    <p:blipFill>
                      <a:blip r:embed="rId3"/>
                      <a:stretch>
                        <a:fillRect/>
                      </a:stretch>
                    </p:blipFill>
                    <p:spPr>
                      <a:xfrm>
                        <a:off x="1424608" y="2636912"/>
                        <a:ext cx="5743575" cy="2714625"/>
                      </a:xfrm>
                      <a:prstGeom prst="rect">
                        <a:avLst/>
                      </a:prstGeom>
                    </p:spPr>
                  </p:pic>
                </p:oleObj>
              </mc:Fallback>
            </mc:AlternateContent>
          </a:graphicData>
        </a:graphic>
      </p:graphicFrame>
      <p:sp>
        <p:nvSpPr>
          <p:cNvPr id="7" name="爆炸形: 14 pt  6">
            <a:extLst>
              <a:ext uri="{FF2B5EF4-FFF2-40B4-BE49-F238E27FC236}">
                <a16:creationId xmlns:a16="http://schemas.microsoft.com/office/drawing/2014/main" id="{38155283-C11F-40D9-9736-1ACDD6C5E69F}"/>
              </a:ext>
            </a:extLst>
          </p:cNvPr>
          <p:cNvSpPr/>
          <p:nvPr/>
        </p:nvSpPr>
        <p:spPr bwMode="auto">
          <a:xfrm>
            <a:off x="5169024" y="1160748"/>
            <a:ext cx="4499706" cy="1368152"/>
          </a:xfrm>
          <a:prstGeom prst="irregularSeal2">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chemeClr val="tx1"/>
                </a:solidFill>
                <a:effectLst/>
                <a:latin typeface="Arial" charset="0"/>
              </a:rPr>
              <a:t>求解困难</a:t>
            </a:r>
          </a:p>
        </p:txBody>
      </p:sp>
    </p:spTree>
    <p:extLst>
      <p:ext uri="{BB962C8B-B14F-4D97-AF65-F5344CB8AC3E}">
        <p14:creationId xmlns:p14="http://schemas.microsoft.com/office/powerpoint/2010/main" val="1252790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childTnLst>
                          </p:cTn>
                        </p:par>
                        <p:par>
                          <p:cTn id="11" fill="hold">
                            <p:stCondLst>
                              <p:cond delay="500"/>
                            </p:stCondLst>
                            <p:childTnLst>
                              <p:par>
                                <p:cTn id="12" presetID="16" presetClass="entr" presetSubtype="21"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inVertical)">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80">
                                          <p:stCondLst>
                                            <p:cond delay="0"/>
                                          </p:stCondLst>
                                        </p:cTn>
                                        <p:tgtEl>
                                          <p:spTgt spid="7"/>
                                        </p:tgtEl>
                                      </p:cBhvr>
                                    </p:animEffect>
                                    <p:anim calcmode="lin" valueType="num">
                                      <p:cBhvr>
                                        <p:cTn id="20"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5" dur="26">
                                          <p:stCondLst>
                                            <p:cond delay="650"/>
                                          </p:stCondLst>
                                        </p:cTn>
                                        <p:tgtEl>
                                          <p:spTgt spid="7"/>
                                        </p:tgtEl>
                                      </p:cBhvr>
                                      <p:to x="100000" y="60000"/>
                                    </p:animScale>
                                    <p:animScale>
                                      <p:cBhvr>
                                        <p:cTn id="26" dur="166" decel="50000">
                                          <p:stCondLst>
                                            <p:cond delay="676"/>
                                          </p:stCondLst>
                                        </p:cTn>
                                        <p:tgtEl>
                                          <p:spTgt spid="7"/>
                                        </p:tgtEl>
                                      </p:cBhvr>
                                      <p:to x="100000" y="100000"/>
                                    </p:animScale>
                                    <p:animScale>
                                      <p:cBhvr>
                                        <p:cTn id="27" dur="26">
                                          <p:stCondLst>
                                            <p:cond delay="1312"/>
                                          </p:stCondLst>
                                        </p:cTn>
                                        <p:tgtEl>
                                          <p:spTgt spid="7"/>
                                        </p:tgtEl>
                                      </p:cBhvr>
                                      <p:to x="100000" y="80000"/>
                                    </p:animScale>
                                    <p:animScale>
                                      <p:cBhvr>
                                        <p:cTn id="28" dur="166" decel="50000">
                                          <p:stCondLst>
                                            <p:cond delay="1338"/>
                                          </p:stCondLst>
                                        </p:cTn>
                                        <p:tgtEl>
                                          <p:spTgt spid="7"/>
                                        </p:tgtEl>
                                      </p:cBhvr>
                                      <p:to x="100000" y="100000"/>
                                    </p:animScale>
                                    <p:animScale>
                                      <p:cBhvr>
                                        <p:cTn id="29" dur="26">
                                          <p:stCondLst>
                                            <p:cond delay="1642"/>
                                          </p:stCondLst>
                                        </p:cTn>
                                        <p:tgtEl>
                                          <p:spTgt spid="7"/>
                                        </p:tgtEl>
                                      </p:cBhvr>
                                      <p:to x="100000" y="90000"/>
                                    </p:animScale>
                                    <p:animScale>
                                      <p:cBhvr>
                                        <p:cTn id="30" dur="166" decel="50000">
                                          <p:stCondLst>
                                            <p:cond delay="1668"/>
                                          </p:stCondLst>
                                        </p:cTn>
                                        <p:tgtEl>
                                          <p:spTgt spid="7"/>
                                        </p:tgtEl>
                                      </p:cBhvr>
                                      <p:to x="100000" y="100000"/>
                                    </p:animScale>
                                    <p:animScale>
                                      <p:cBhvr>
                                        <p:cTn id="31" dur="26">
                                          <p:stCondLst>
                                            <p:cond delay="1808"/>
                                          </p:stCondLst>
                                        </p:cTn>
                                        <p:tgtEl>
                                          <p:spTgt spid="7"/>
                                        </p:tgtEl>
                                      </p:cBhvr>
                                      <p:to x="100000" y="95000"/>
                                    </p:animScale>
                                    <p:animScale>
                                      <p:cBhvr>
                                        <p:cTn id="32"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80F140-2DAF-48DD-B5EC-E73BE1C0676A}"/>
              </a:ext>
            </a:extLst>
          </p:cNvPr>
          <p:cNvSpPr>
            <a:spLocks noGrp="1"/>
          </p:cNvSpPr>
          <p:nvPr>
            <p:ph type="title"/>
          </p:nvPr>
        </p:nvSpPr>
        <p:spPr/>
        <p:txBody>
          <a:bodyPr/>
          <a:lstStyle/>
          <a:p>
            <a:r>
              <a:rPr lang="zh-CN" altLang="en-US" dirty="0"/>
              <a:t>仅包含等式约束的极值条件</a:t>
            </a:r>
            <a:endParaRPr lang="en-US" altLang="zh-CN" dirty="0"/>
          </a:p>
        </p:txBody>
      </p:sp>
      <p:sp>
        <p:nvSpPr>
          <p:cNvPr id="3" name="内容占位符 2">
            <a:extLst>
              <a:ext uri="{FF2B5EF4-FFF2-40B4-BE49-F238E27FC236}">
                <a16:creationId xmlns:a16="http://schemas.microsoft.com/office/drawing/2014/main" id="{43379617-1985-4D2B-8D0B-A9D3D932DAA6}"/>
              </a:ext>
            </a:extLst>
          </p:cNvPr>
          <p:cNvSpPr>
            <a:spLocks noGrp="1"/>
          </p:cNvSpPr>
          <p:nvPr>
            <p:ph idx="1"/>
          </p:nvPr>
        </p:nvSpPr>
        <p:spPr/>
        <p:txBody>
          <a:bodyPr/>
          <a:lstStyle/>
          <a:p>
            <a:r>
              <a:rPr lang="zh-CN" altLang="en-US" dirty="0"/>
              <a:t>拉格朗日乘数法</a:t>
            </a:r>
            <a:endParaRPr lang="en-US" altLang="zh-CN" dirty="0"/>
          </a:p>
          <a:p>
            <a:pPr lvl="1"/>
            <a:r>
              <a:rPr lang="zh-CN" altLang="en-US" dirty="0"/>
              <a:t>对于优化问题</a:t>
            </a:r>
          </a:p>
        </p:txBody>
      </p:sp>
      <p:sp>
        <p:nvSpPr>
          <p:cNvPr id="4" name="日期占位符 3">
            <a:extLst>
              <a:ext uri="{FF2B5EF4-FFF2-40B4-BE49-F238E27FC236}">
                <a16:creationId xmlns:a16="http://schemas.microsoft.com/office/drawing/2014/main" id="{10631837-76BF-4FB0-88ED-98F031C28B55}"/>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3D1AD99-A91C-4193-BE01-51EDE4D945A8}"/>
              </a:ext>
            </a:extLst>
          </p:cNvPr>
          <p:cNvSpPr>
            <a:spLocks noGrp="1"/>
          </p:cNvSpPr>
          <p:nvPr>
            <p:ph type="sldNum" sz="quarter" idx="12"/>
          </p:nvPr>
        </p:nvSpPr>
        <p:spPr/>
        <p:txBody>
          <a:bodyPr/>
          <a:lstStyle/>
          <a:p>
            <a:fld id="{7AC79822-BC0D-4DE8-A7E5-90A3732A2B82}" type="slidenum">
              <a:rPr lang="zh-CN" altLang="en-US" smtClean="0"/>
              <a:pPr/>
              <a:t>30</a:t>
            </a:fld>
            <a:endParaRPr lang="en-US" altLang="zh-CN" dirty="0"/>
          </a:p>
        </p:txBody>
      </p:sp>
      <p:graphicFrame>
        <p:nvGraphicFramePr>
          <p:cNvPr id="6" name="对象 5">
            <a:extLst>
              <a:ext uri="{FF2B5EF4-FFF2-40B4-BE49-F238E27FC236}">
                <a16:creationId xmlns:a16="http://schemas.microsoft.com/office/drawing/2014/main" id="{C14C589C-C5F1-433B-AEA7-E990ED62097F}"/>
              </a:ext>
            </a:extLst>
          </p:cNvPr>
          <p:cNvGraphicFramePr>
            <a:graphicFrameLocks noChangeAspect="1"/>
          </p:cNvGraphicFramePr>
          <p:nvPr>
            <p:extLst>
              <p:ext uri="{D42A27DB-BD31-4B8C-83A1-F6EECF244321}">
                <p14:modId xmlns:p14="http://schemas.microsoft.com/office/powerpoint/2010/main" val="2978299417"/>
              </p:ext>
            </p:extLst>
          </p:nvPr>
        </p:nvGraphicFramePr>
        <p:xfrm>
          <a:off x="1424608" y="2552546"/>
          <a:ext cx="6574594" cy="1380510"/>
        </p:xfrm>
        <a:graphic>
          <a:graphicData uri="http://schemas.openxmlformats.org/presentationml/2006/ole">
            <mc:AlternateContent xmlns:mc="http://schemas.openxmlformats.org/markup-compatibility/2006">
              <mc:Choice xmlns:v="urn:schemas-microsoft-com:vml" Requires="v">
                <p:oleObj name="Equation" r:id="rId2" imgW="1815840" imgH="380880" progId="Equation.DSMT4">
                  <p:embed/>
                </p:oleObj>
              </mc:Choice>
              <mc:Fallback>
                <p:oleObj name="Equation" r:id="rId2" imgW="1815840" imgH="380880" progId="Equation.DSMT4">
                  <p:embed/>
                  <p:pic>
                    <p:nvPicPr>
                      <p:cNvPr id="8" name="对象 7">
                        <a:extLst>
                          <a:ext uri="{FF2B5EF4-FFF2-40B4-BE49-F238E27FC236}">
                            <a16:creationId xmlns:a16="http://schemas.microsoft.com/office/drawing/2014/main" id="{437293F1-6C29-4462-A709-85D7465F6CC1}"/>
                          </a:ext>
                        </a:extLst>
                      </p:cNvPr>
                      <p:cNvPicPr/>
                      <p:nvPr/>
                    </p:nvPicPr>
                    <p:blipFill>
                      <a:blip r:embed="rId3"/>
                      <a:stretch>
                        <a:fillRect/>
                      </a:stretch>
                    </p:blipFill>
                    <p:spPr>
                      <a:xfrm>
                        <a:off x="1424608" y="2552546"/>
                        <a:ext cx="6574594" cy="138051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1D6BC4A-DC15-4B7B-8C56-A10E0AF0A57B}"/>
                  </a:ext>
                </a:extLst>
              </p:cNvPr>
              <p:cNvSpPr txBox="1"/>
              <p:nvPr/>
            </p:nvSpPr>
            <p:spPr>
              <a:xfrm>
                <a:off x="939722" y="4149080"/>
                <a:ext cx="8786444" cy="523220"/>
              </a:xfrm>
              <a:prstGeom prst="rect">
                <a:avLst/>
              </a:prstGeom>
              <a:noFill/>
            </p:spPr>
            <p:txBody>
              <a:bodyPr wrap="none" rtlCol="0">
                <a:spAutoFit/>
              </a:bodyPr>
              <a:lstStyle/>
              <a:p>
                <a:r>
                  <a:rPr lang="zh-CN" altLang="en-US" sz="2800" dirty="0"/>
                  <a:t>引入</a:t>
                </a:r>
                <a14:m>
                  <m:oMath xmlns:m="http://schemas.openxmlformats.org/officeDocument/2006/math">
                    <m:r>
                      <a:rPr lang="en-US" altLang="zh-CN" sz="2800" b="0" i="0" dirty="0" smtClean="0">
                        <a:solidFill>
                          <a:srgbClr val="C00000"/>
                        </a:solidFill>
                        <a:latin typeface="Cambria Math" panose="02040503050406030204" pitchFamily="18" charset="0"/>
                        <a:ea typeface="Cambria Math" panose="02040503050406030204" pitchFamily="18" charset="0"/>
                      </a:rPr>
                      <m:t> </m:t>
                    </m:r>
                    <m:r>
                      <m:rPr>
                        <m:sty m:val="p"/>
                      </m:rPr>
                      <a:rPr lang="el-GR" altLang="zh-CN" sz="2800" i="1" dirty="0" smtClean="0">
                        <a:solidFill>
                          <a:srgbClr val="C00000"/>
                        </a:solidFill>
                        <a:latin typeface="Cambria Math" panose="02040503050406030204" pitchFamily="18" charset="0"/>
                        <a:ea typeface="Cambria Math" panose="02040503050406030204" pitchFamily="18" charset="0"/>
                      </a:rPr>
                      <m:t>λ</m:t>
                    </m:r>
                    <m:r>
                      <a:rPr lang="en-US" altLang="zh-CN" sz="2800" i="1" baseline="-25000" dirty="0" smtClean="0">
                        <a:solidFill>
                          <a:srgbClr val="C00000"/>
                        </a:solidFill>
                        <a:latin typeface="Cambria Math" panose="02040503050406030204" pitchFamily="18" charset="0"/>
                      </a:rPr>
                      <m:t>𝑣</m:t>
                    </m:r>
                    <m:r>
                      <a:rPr lang="en-US" altLang="zh-CN" sz="2800" i="1" dirty="0" smtClean="0">
                        <a:solidFill>
                          <a:srgbClr val="C00000"/>
                        </a:solidFill>
                        <a:latin typeface="Cambria Math" panose="02040503050406030204" pitchFamily="18" charset="0"/>
                        <a:ea typeface="Cambria Math" panose="02040503050406030204" pitchFamily="18" charset="0"/>
                      </a:rPr>
                      <m:t>&gt;</m:t>
                    </m:r>
                    <m:r>
                      <a:rPr lang="en-US" altLang="zh-CN" sz="2800" i="1" dirty="0">
                        <a:solidFill>
                          <a:srgbClr val="C00000"/>
                        </a:solidFill>
                        <a:latin typeface="Cambria Math" panose="02040503050406030204" pitchFamily="18" charset="0"/>
                        <a:ea typeface="Cambria Math" panose="02040503050406030204" pitchFamily="18" charset="0"/>
                      </a:rPr>
                      <m:t>0</m:t>
                    </m:r>
                  </m:oMath>
                </a14:m>
                <a:r>
                  <a:rPr lang="zh-CN" altLang="en-US" sz="2800" dirty="0"/>
                  <a:t>，将约束优化问题转换成无约束优化问题：</a:t>
                </a:r>
              </a:p>
            </p:txBody>
          </p:sp>
        </mc:Choice>
        <mc:Fallback xmlns="">
          <p:sp>
            <p:nvSpPr>
              <p:cNvPr id="7" name="文本框 6">
                <a:extLst>
                  <a:ext uri="{FF2B5EF4-FFF2-40B4-BE49-F238E27FC236}">
                    <a16:creationId xmlns:a16="http://schemas.microsoft.com/office/drawing/2014/main" id="{E1D6BC4A-DC15-4B7B-8C56-A10E0AF0A57B}"/>
                  </a:ext>
                </a:extLst>
              </p:cNvPr>
              <p:cNvSpPr txBox="1">
                <a:spLocks noRot="1" noChangeAspect="1" noMove="1" noResize="1" noEditPoints="1" noAdjustHandles="1" noChangeArrowheads="1" noChangeShapeType="1" noTextEdit="1"/>
              </p:cNvSpPr>
              <p:nvPr/>
            </p:nvSpPr>
            <p:spPr>
              <a:xfrm>
                <a:off x="939722" y="4149080"/>
                <a:ext cx="8786444" cy="523220"/>
              </a:xfrm>
              <a:prstGeom prst="rect">
                <a:avLst/>
              </a:prstGeom>
              <a:blipFill>
                <a:blip r:embed="rId5"/>
                <a:stretch>
                  <a:fillRect l="-1388" t="-12941" r="-139" b="-32941"/>
                </a:stretch>
              </a:blipFill>
            </p:spPr>
            <p:txBody>
              <a:bodyPr/>
              <a:lstStyle/>
              <a:p>
                <a:r>
                  <a:rPr lang="zh-CN" altLang="en-US">
                    <a:noFill/>
                  </a:rPr>
                  <a:t> </a:t>
                </a:r>
              </a:p>
            </p:txBody>
          </p:sp>
        </mc:Fallback>
      </mc:AlternateContent>
      <p:graphicFrame>
        <p:nvGraphicFramePr>
          <p:cNvPr id="8" name="对象 7">
            <a:extLst>
              <a:ext uri="{FF2B5EF4-FFF2-40B4-BE49-F238E27FC236}">
                <a16:creationId xmlns:a16="http://schemas.microsoft.com/office/drawing/2014/main" id="{DB41915F-2BE9-41C2-8EC8-F59FEB9B92AC}"/>
              </a:ext>
            </a:extLst>
          </p:cNvPr>
          <p:cNvGraphicFramePr>
            <a:graphicFrameLocks noChangeAspect="1"/>
          </p:cNvGraphicFramePr>
          <p:nvPr>
            <p:extLst>
              <p:ext uri="{D42A27DB-BD31-4B8C-83A1-F6EECF244321}">
                <p14:modId xmlns:p14="http://schemas.microsoft.com/office/powerpoint/2010/main" val="1153436156"/>
              </p:ext>
            </p:extLst>
          </p:nvPr>
        </p:nvGraphicFramePr>
        <p:xfrm>
          <a:off x="1423988" y="4775200"/>
          <a:ext cx="5884862" cy="1150938"/>
        </p:xfrm>
        <a:graphic>
          <a:graphicData uri="http://schemas.openxmlformats.org/presentationml/2006/ole">
            <mc:AlternateContent xmlns:mc="http://schemas.openxmlformats.org/markup-compatibility/2006">
              <mc:Choice xmlns:v="urn:schemas-microsoft-com:vml" Requires="v">
                <p:oleObj name="Equation" r:id="rId6" imgW="1625400" imgH="317160" progId="Equation.DSMT4">
                  <p:embed/>
                </p:oleObj>
              </mc:Choice>
              <mc:Fallback>
                <p:oleObj name="Equation" r:id="rId6" imgW="1625400" imgH="317160" progId="Equation.DSMT4">
                  <p:embed/>
                  <p:pic>
                    <p:nvPicPr>
                      <p:cNvPr id="6" name="对象 5">
                        <a:extLst>
                          <a:ext uri="{FF2B5EF4-FFF2-40B4-BE49-F238E27FC236}">
                            <a16:creationId xmlns:a16="http://schemas.microsoft.com/office/drawing/2014/main" id="{C14C589C-C5F1-433B-AEA7-E990ED62097F}"/>
                          </a:ext>
                        </a:extLst>
                      </p:cNvPr>
                      <p:cNvPicPr/>
                      <p:nvPr/>
                    </p:nvPicPr>
                    <p:blipFill>
                      <a:blip r:embed="rId7"/>
                      <a:stretch>
                        <a:fillRect/>
                      </a:stretch>
                    </p:blipFill>
                    <p:spPr>
                      <a:xfrm>
                        <a:off x="1423988" y="4775200"/>
                        <a:ext cx="5884862" cy="1150938"/>
                      </a:xfrm>
                      <a:prstGeom prst="rect">
                        <a:avLst/>
                      </a:prstGeom>
                    </p:spPr>
                  </p:pic>
                </p:oleObj>
              </mc:Fallback>
            </mc:AlternateContent>
          </a:graphicData>
        </a:graphic>
      </p:graphicFrame>
    </p:spTree>
    <p:extLst>
      <p:ext uri="{BB962C8B-B14F-4D97-AF65-F5344CB8AC3E}">
        <p14:creationId xmlns:p14="http://schemas.microsoft.com/office/powerpoint/2010/main" val="739662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childTnLst>
                          </p:cTn>
                        </p:par>
                        <p:par>
                          <p:cTn id="15" fill="hold">
                            <p:stCondLst>
                              <p:cond delay="1000"/>
                            </p:stCondLst>
                            <p:childTnLst>
                              <p:par>
                                <p:cTn id="16" presetID="16" presetClass="entr" presetSubtype="21" fill="hold" nodeType="after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barn(inVertical)">
                                      <p:cBhvr>
                                        <p:cTn id="18" dur="500"/>
                                        <p:tgtEl>
                                          <p:spTgt spid="7">
                                            <p:txEl>
                                              <p:pRg st="0" end="0"/>
                                            </p:txEl>
                                          </p:spTgt>
                                        </p:tgtEl>
                                      </p:cBhvr>
                                    </p:animEffect>
                                  </p:childTnLst>
                                </p:cTn>
                              </p:par>
                            </p:childTnLst>
                          </p:cTn>
                        </p:par>
                        <p:par>
                          <p:cTn id="19" fill="hold">
                            <p:stCondLst>
                              <p:cond delay="1500"/>
                            </p:stCondLst>
                            <p:childTnLst>
                              <p:par>
                                <p:cTn id="20" presetID="22" presetClass="entr" presetSubtype="4" fill="hold"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FD6F37-D1CC-4A30-B0CF-3199C3E5EA26}"/>
              </a:ext>
            </a:extLst>
          </p:cNvPr>
          <p:cNvSpPr>
            <a:spLocks noGrp="1"/>
          </p:cNvSpPr>
          <p:nvPr>
            <p:ph type="title"/>
          </p:nvPr>
        </p:nvSpPr>
        <p:spPr/>
        <p:txBody>
          <a:bodyPr/>
          <a:lstStyle/>
          <a:p>
            <a:r>
              <a:rPr lang="zh-CN" altLang="en-US" dirty="0"/>
              <a:t>拉格朗日乘数法</a:t>
            </a:r>
          </a:p>
        </p:txBody>
      </p:sp>
      <p:sp>
        <p:nvSpPr>
          <p:cNvPr id="4" name="日期占位符 3">
            <a:extLst>
              <a:ext uri="{FF2B5EF4-FFF2-40B4-BE49-F238E27FC236}">
                <a16:creationId xmlns:a16="http://schemas.microsoft.com/office/drawing/2014/main" id="{9B000AD4-157C-4985-B19C-0627EFE08882}"/>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EF1857B4-023E-456D-B1A8-69A4DDECB261}"/>
              </a:ext>
            </a:extLst>
          </p:cNvPr>
          <p:cNvSpPr>
            <a:spLocks noGrp="1"/>
          </p:cNvSpPr>
          <p:nvPr>
            <p:ph type="sldNum" sz="quarter" idx="12"/>
          </p:nvPr>
        </p:nvSpPr>
        <p:spPr/>
        <p:txBody>
          <a:bodyPr/>
          <a:lstStyle/>
          <a:p>
            <a:fld id="{7AC79822-BC0D-4DE8-A7E5-90A3732A2B82}" type="slidenum">
              <a:rPr lang="zh-CN" altLang="en-US" smtClean="0"/>
              <a:pPr/>
              <a:t>31</a:t>
            </a:fld>
            <a:endParaRPr lang="en-US" altLang="zh-CN" dirty="0"/>
          </a:p>
        </p:txBody>
      </p:sp>
      <p:graphicFrame>
        <p:nvGraphicFramePr>
          <p:cNvPr id="6" name="对象 5">
            <a:extLst>
              <a:ext uri="{FF2B5EF4-FFF2-40B4-BE49-F238E27FC236}">
                <a16:creationId xmlns:a16="http://schemas.microsoft.com/office/drawing/2014/main" id="{7DDF6B25-BC8F-4A4F-AF25-F7A487C5B88E}"/>
              </a:ext>
            </a:extLst>
          </p:cNvPr>
          <p:cNvGraphicFramePr>
            <a:graphicFrameLocks noChangeAspect="1"/>
          </p:cNvGraphicFramePr>
          <p:nvPr>
            <p:extLst>
              <p:ext uri="{D42A27DB-BD31-4B8C-83A1-F6EECF244321}">
                <p14:modId xmlns:p14="http://schemas.microsoft.com/office/powerpoint/2010/main" val="4234348980"/>
              </p:ext>
            </p:extLst>
          </p:nvPr>
        </p:nvGraphicFramePr>
        <p:xfrm>
          <a:off x="632520" y="1052736"/>
          <a:ext cx="5884863" cy="1150937"/>
        </p:xfrm>
        <a:graphic>
          <a:graphicData uri="http://schemas.openxmlformats.org/presentationml/2006/ole">
            <mc:AlternateContent xmlns:mc="http://schemas.openxmlformats.org/markup-compatibility/2006">
              <mc:Choice xmlns:v="urn:schemas-microsoft-com:vml" Requires="v">
                <p:oleObj name="Equation" r:id="rId2" imgW="1625400" imgH="317160" progId="Equation.DSMT4">
                  <p:embed/>
                </p:oleObj>
              </mc:Choice>
              <mc:Fallback>
                <p:oleObj name="Equation" r:id="rId2" imgW="1625400" imgH="317160" progId="Equation.DSMT4">
                  <p:embed/>
                  <p:pic>
                    <p:nvPicPr>
                      <p:cNvPr id="8" name="对象 7">
                        <a:extLst>
                          <a:ext uri="{FF2B5EF4-FFF2-40B4-BE49-F238E27FC236}">
                            <a16:creationId xmlns:a16="http://schemas.microsoft.com/office/drawing/2014/main" id="{DB41915F-2BE9-41C2-8EC8-F59FEB9B92AC}"/>
                          </a:ext>
                        </a:extLst>
                      </p:cNvPr>
                      <p:cNvPicPr/>
                      <p:nvPr/>
                    </p:nvPicPr>
                    <p:blipFill>
                      <a:blip r:embed="rId3"/>
                      <a:stretch>
                        <a:fillRect/>
                      </a:stretch>
                    </p:blipFill>
                    <p:spPr>
                      <a:xfrm>
                        <a:off x="632520" y="1052736"/>
                        <a:ext cx="5884863" cy="1150937"/>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B795DF9F-6CCC-444E-AE6A-97F7EF062F5C}"/>
              </a:ext>
            </a:extLst>
          </p:cNvPr>
          <p:cNvGraphicFramePr>
            <a:graphicFrameLocks noChangeAspect="1"/>
          </p:cNvGraphicFramePr>
          <p:nvPr>
            <p:extLst>
              <p:ext uri="{D42A27DB-BD31-4B8C-83A1-F6EECF244321}">
                <p14:modId xmlns:p14="http://schemas.microsoft.com/office/powerpoint/2010/main" val="3191284953"/>
              </p:ext>
            </p:extLst>
          </p:nvPr>
        </p:nvGraphicFramePr>
        <p:xfrm>
          <a:off x="632520" y="2225490"/>
          <a:ext cx="9061450" cy="2486025"/>
        </p:xfrm>
        <a:graphic>
          <a:graphicData uri="http://schemas.openxmlformats.org/presentationml/2006/ole">
            <mc:AlternateContent xmlns:mc="http://schemas.openxmlformats.org/markup-compatibility/2006">
              <mc:Choice xmlns:v="urn:schemas-microsoft-com:vml" Requires="v">
                <p:oleObj name="Equation" r:id="rId4" imgW="2501640" imgH="685800" progId="Equation.DSMT4">
                  <p:embed/>
                </p:oleObj>
              </mc:Choice>
              <mc:Fallback>
                <p:oleObj name="Equation" r:id="rId4" imgW="2501640" imgH="685800" progId="Equation.DSMT4">
                  <p:embed/>
                  <p:pic>
                    <p:nvPicPr>
                      <p:cNvPr id="6" name="对象 5">
                        <a:extLst>
                          <a:ext uri="{FF2B5EF4-FFF2-40B4-BE49-F238E27FC236}">
                            <a16:creationId xmlns:a16="http://schemas.microsoft.com/office/drawing/2014/main" id="{7DDF6B25-BC8F-4A4F-AF25-F7A487C5B88E}"/>
                          </a:ext>
                        </a:extLst>
                      </p:cNvPr>
                      <p:cNvPicPr/>
                      <p:nvPr/>
                    </p:nvPicPr>
                    <p:blipFill>
                      <a:blip r:embed="rId5"/>
                      <a:stretch>
                        <a:fillRect/>
                      </a:stretch>
                    </p:blipFill>
                    <p:spPr>
                      <a:xfrm>
                        <a:off x="632520" y="2225490"/>
                        <a:ext cx="9061450" cy="2486025"/>
                      </a:xfrm>
                      <a:prstGeom prst="rect">
                        <a:avLst/>
                      </a:prstGeom>
                      <a:ln w="28575">
                        <a:solidFill>
                          <a:srgbClr val="C00000"/>
                        </a:solidFill>
                      </a:ln>
                    </p:spPr>
                  </p:pic>
                </p:oleObj>
              </mc:Fallback>
            </mc:AlternateContent>
          </a:graphicData>
        </a:graphic>
      </p:graphicFrame>
      <p:sp>
        <p:nvSpPr>
          <p:cNvPr id="8" name="箭头: 下 7">
            <a:extLst>
              <a:ext uri="{FF2B5EF4-FFF2-40B4-BE49-F238E27FC236}">
                <a16:creationId xmlns:a16="http://schemas.microsoft.com/office/drawing/2014/main" id="{4F5503EC-9F8D-4175-80BB-3DD35CD59FBF}"/>
              </a:ext>
            </a:extLst>
          </p:cNvPr>
          <p:cNvSpPr/>
          <p:nvPr/>
        </p:nvSpPr>
        <p:spPr bwMode="auto">
          <a:xfrm>
            <a:off x="4304928" y="3284984"/>
            <a:ext cx="324036" cy="1944216"/>
          </a:xfrm>
          <a:prstGeom prst="downArrow">
            <a:avLst>
              <a:gd name="adj1" fmla="val 50000"/>
              <a:gd name="adj2" fmla="val 210819"/>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aphicFrame>
        <p:nvGraphicFramePr>
          <p:cNvPr id="9" name="对象 8">
            <a:extLst>
              <a:ext uri="{FF2B5EF4-FFF2-40B4-BE49-F238E27FC236}">
                <a16:creationId xmlns:a16="http://schemas.microsoft.com/office/drawing/2014/main" id="{5AFBB6D3-7935-4751-BF68-16135B0F8C6F}"/>
              </a:ext>
            </a:extLst>
          </p:cNvPr>
          <p:cNvGraphicFramePr>
            <a:graphicFrameLocks noChangeAspect="1"/>
          </p:cNvGraphicFramePr>
          <p:nvPr>
            <p:extLst>
              <p:ext uri="{D42A27DB-BD31-4B8C-83A1-F6EECF244321}">
                <p14:modId xmlns:p14="http://schemas.microsoft.com/office/powerpoint/2010/main" val="3486498409"/>
              </p:ext>
            </p:extLst>
          </p:nvPr>
        </p:nvGraphicFramePr>
        <p:xfrm>
          <a:off x="2306358" y="5195540"/>
          <a:ext cx="4321175" cy="1150938"/>
        </p:xfrm>
        <a:graphic>
          <a:graphicData uri="http://schemas.openxmlformats.org/presentationml/2006/ole">
            <mc:AlternateContent xmlns:mc="http://schemas.openxmlformats.org/markup-compatibility/2006">
              <mc:Choice xmlns:v="urn:schemas-microsoft-com:vml" Requires="v">
                <p:oleObj name="Equation" r:id="rId6" imgW="1193760" imgH="317160" progId="Equation.DSMT4">
                  <p:embed/>
                </p:oleObj>
              </mc:Choice>
              <mc:Fallback>
                <p:oleObj name="Equation" r:id="rId6" imgW="1193760" imgH="317160" progId="Equation.DSMT4">
                  <p:embed/>
                  <p:pic>
                    <p:nvPicPr>
                      <p:cNvPr id="6" name="对象 5">
                        <a:extLst>
                          <a:ext uri="{FF2B5EF4-FFF2-40B4-BE49-F238E27FC236}">
                            <a16:creationId xmlns:a16="http://schemas.microsoft.com/office/drawing/2014/main" id="{7DDF6B25-BC8F-4A4F-AF25-F7A487C5B88E}"/>
                          </a:ext>
                        </a:extLst>
                      </p:cNvPr>
                      <p:cNvPicPr/>
                      <p:nvPr/>
                    </p:nvPicPr>
                    <p:blipFill>
                      <a:blip r:embed="rId7"/>
                      <a:stretch>
                        <a:fillRect/>
                      </a:stretch>
                    </p:blipFill>
                    <p:spPr>
                      <a:xfrm>
                        <a:off x="2306358" y="5195540"/>
                        <a:ext cx="4321175" cy="1150938"/>
                      </a:xfrm>
                      <a:prstGeom prst="rect">
                        <a:avLst/>
                      </a:prstGeom>
                    </p:spPr>
                  </p:pic>
                </p:oleObj>
              </mc:Fallback>
            </mc:AlternateContent>
          </a:graphicData>
        </a:graphic>
      </p:graphicFrame>
    </p:spTree>
    <p:extLst>
      <p:ext uri="{BB962C8B-B14F-4D97-AF65-F5344CB8AC3E}">
        <p14:creationId xmlns:p14="http://schemas.microsoft.com/office/powerpoint/2010/main" val="261186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down)">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p:cTn id="16" dur="500" fill="hold"/>
                                        <p:tgtEl>
                                          <p:spTgt spid="8"/>
                                        </p:tgtEl>
                                        <p:attrNameLst>
                                          <p:attrName>ppt_w</p:attrName>
                                        </p:attrNameLst>
                                      </p:cBhvr>
                                      <p:tavLst>
                                        <p:tav tm="0">
                                          <p:val>
                                            <p:fltVal val="0"/>
                                          </p:val>
                                        </p:tav>
                                        <p:tav tm="100000">
                                          <p:val>
                                            <p:strVal val="#ppt_w"/>
                                          </p:val>
                                        </p:tav>
                                      </p:tavLst>
                                    </p:anim>
                                    <p:anim calcmode="lin" valueType="num">
                                      <p:cBhvr>
                                        <p:cTn id="17" dur="500" fill="hold"/>
                                        <p:tgtEl>
                                          <p:spTgt spid="8"/>
                                        </p:tgtEl>
                                        <p:attrNameLst>
                                          <p:attrName>ppt_h</p:attrName>
                                        </p:attrNameLst>
                                      </p:cBhvr>
                                      <p:tavLst>
                                        <p:tav tm="0">
                                          <p:val>
                                            <p:fltVal val="0"/>
                                          </p:val>
                                        </p:tav>
                                        <p:tav tm="100000">
                                          <p:val>
                                            <p:strVal val="#ppt_h"/>
                                          </p:val>
                                        </p:tav>
                                      </p:tavLst>
                                    </p:anim>
                                    <p:animEffect transition="in" filter="fade">
                                      <p:cBhvr>
                                        <p:cTn id="18" dur="500"/>
                                        <p:tgtEl>
                                          <p:spTgt spid="8"/>
                                        </p:tgtEl>
                                      </p:cBhvr>
                                    </p:animEffect>
                                  </p:childTnLst>
                                </p:cTn>
                              </p:par>
                            </p:childTnLst>
                          </p:cTn>
                        </p:par>
                        <p:par>
                          <p:cTn id="19" fill="hold">
                            <p:stCondLst>
                              <p:cond delay="500"/>
                            </p:stCondLst>
                            <p:childTnLst>
                              <p:par>
                                <p:cTn id="20" presetID="22" presetClass="entr" presetSubtype="4"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809E2D-FC97-4F52-9AD0-29BFB9C95393}"/>
              </a:ext>
            </a:extLst>
          </p:cNvPr>
          <p:cNvSpPr>
            <a:spLocks noGrp="1"/>
          </p:cNvSpPr>
          <p:nvPr>
            <p:ph type="title"/>
          </p:nvPr>
        </p:nvSpPr>
        <p:spPr/>
        <p:txBody>
          <a:bodyPr/>
          <a:lstStyle/>
          <a:p>
            <a:r>
              <a:rPr lang="en-US" altLang="zh-CN" dirty="0"/>
              <a:t>6. </a:t>
            </a:r>
            <a:r>
              <a:rPr lang="zh-CN" altLang="en-US" dirty="0"/>
              <a:t>约束优化问题的极值条件</a:t>
            </a:r>
          </a:p>
        </p:txBody>
      </p:sp>
      <p:sp>
        <p:nvSpPr>
          <p:cNvPr id="3" name="内容占位符 2">
            <a:extLst>
              <a:ext uri="{FF2B5EF4-FFF2-40B4-BE49-F238E27FC236}">
                <a16:creationId xmlns:a16="http://schemas.microsoft.com/office/drawing/2014/main" id="{E274CE4D-174F-443F-80FB-D76CCD1704B3}"/>
              </a:ext>
            </a:extLst>
          </p:cNvPr>
          <p:cNvSpPr>
            <a:spLocks noGrp="1"/>
          </p:cNvSpPr>
          <p:nvPr>
            <p:ph idx="1"/>
          </p:nvPr>
        </p:nvSpPr>
        <p:spPr/>
        <p:txBody>
          <a:bodyPr/>
          <a:lstStyle/>
          <a:p>
            <a:r>
              <a:rPr lang="zh-CN" altLang="en-US" dirty="0"/>
              <a:t>不等式约束的极值条件</a:t>
            </a:r>
            <a:endParaRPr lang="en-US" altLang="zh-CN" dirty="0"/>
          </a:p>
          <a:p>
            <a:pPr lvl="1"/>
            <a:r>
              <a:rPr lang="zh-CN" altLang="en-US" dirty="0"/>
              <a:t>对于不等式优化问题</a:t>
            </a:r>
            <a:endParaRPr lang="en-US" altLang="zh-CN" dirty="0"/>
          </a:p>
          <a:p>
            <a:pPr lvl="1"/>
            <a:endParaRPr lang="zh-CN" altLang="en-US" dirty="0"/>
          </a:p>
        </p:txBody>
      </p:sp>
      <p:sp>
        <p:nvSpPr>
          <p:cNvPr id="4" name="日期占位符 3">
            <a:extLst>
              <a:ext uri="{FF2B5EF4-FFF2-40B4-BE49-F238E27FC236}">
                <a16:creationId xmlns:a16="http://schemas.microsoft.com/office/drawing/2014/main" id="{2A62C4BE-2A31-40A4-9346-F0E2739EB350}"/>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B28066B5-5F0B-45DB-B931-4132494D1B97}"/>
              </a:ext>
            </a:extLst>
          </p:cNvPr>
          <p:cNvSpPr>
            <a:spLocks noGrp="1"/>
          </p:cNvSpPr>
          <p:nvPr>
            <p:ph type="sldNum" sz="quarter" idx="12"/>
          </p:nvPr>
        </p:nvSpPr>
        <p:spPr/>
        <p:txBody>
          <a:bodyPr/>
          <a:lstStyle/>
          <a:p>
            <a:fld id="{7AC79822-BC0D-4DE8-A7E5-90A3732A2B82}" type="slidenum">
              <a:rPr lang="zh-CN" altLang="en-US" smtClean="0"/>
              <a:pPr/>
              <a:t>32</a:t>
            </a:fld>
            <a:endParaRPr lang="en-US" altLang="zh-CN" dirty="0"/>
          </a:p>
        </p:txBody>
      </p:sp>
      <p:graphicFrame>
        <p:nvGraphicFramePr>
          <p:cNvPr id="6" name="对象 5">
            <a:extLst>
              <a:ext uri="{FF2B5EF4-FFF2-40B4-BE49-F238E27FC236}">
                <a16:creationId xmlns:a16="http://schemas.microsoft.com/office/drawing/2014/main" id="{D9DB99CD-74BA-4299-B979-B0AFE2ADE4C0}"/>
              </a:ext>
            </a:extLst>
          </p:cNvPr>
          <p:cNvGraphicFramePr>
            <a:graphicFrameLocks noChangeAspect="1"/>
          </p:cNvGraphicFramePr>
          <p:nvPr>
            <p:extLst>
              <p:ext uri="{D42A27DB-BD31-4B8C-83A1-F6EECF244321}">
                <p14:modId xmlns:p14="http://schemas.microsoft.com/office/powerpoint/2010/main" val="2599378229"/>
              </p:ext>
            </p:extLst>
          </p:nvPr>
        </p:nvGraphicFramePr>
        <p:xfrm>
          <a:off x="2020888" y="2420938"/>
          <a:ext cx="5227637" cy="1276350"/>
        </p:xfrm>
        <a:graphic>
          <a:graphicData uri="http://schemas.openxmlformats.org/presentationml/2006/ole">
            <mc:AlternateContent xmlns:mc="http://schemas.openxmlformats.org/markup-compatibility/2006">
              <mc:Choice xmlns:v="urn:schemas-microsoft-com:vml" Requires="v">
                <p:oleObj name="Equation" r:id="rId2" imgW="1562040" imgH="380880" progId="Equation.DSMT4">
                  <p:embed/>
                </p:oleObj>
              </mc:Choice>
              <mc:Fallback>
                <p:oleObj name="Equation" r:id="rId2" imgW="1562040" imgH="380880" progId="Equation.DSMT4">
                  <p:embed/>
                  <p:pic>
                    <p:nvPicPr>
                      <p:cNvPr id="6" name="对象 5">
                        <a:extLst>
                          <a:ext uri="{FF2B5EF4-FFF2-40B4-BE49-F238E27FC236}">
                            <a16:creationId xmlns:a16="http://schemas.microsoft.com/office/drawing/2014/main" id="{94DD4A88-D8E2-4803-9A4D-2D3E4ACDE87E}"/>
                          </a:ext>
                        </a:extLst>
                      </p:cNvPr>
                      <p:cNvPicPr/>
                      <p:nvPr/>
                    </p:nvPicPr>
                    <p:blipFill>
                      <a:blip r:embed="rId3"/>
                      <a:stretch>
                        <a:fillRect/>
                      </a:stretch>
                    </p:blipFill>
                    <p:spPr>
                      <a:xfrm>
                        <a:off x="2020888" y="2420938"/>
                        <a:ext cx="5227637" cy="1276350"/>
                      </a:xfrm>
                      <a:prstGeom prst="rect">
                        <a:avLst/>
                      </a:prstGeom>
                    </p:spPr>
                  </p:pic>
                </p:oleObj>
              </mc:Fallback>
            </mc:AlternateContent>
          </a:graphicData>
        </a:graphic>
      </p:graphicFrame>
      <p:sp>
        <p:nvSpPr>
          <p:cNvPr id="8" name="文本框 7">
            <a:extLst>
              <a:ext uri="{FF2B5EF4-FFF2-40B4-BE49-F238E27FC236}">
                <a16:creationId xmlns:a16="http://schemas.microsoft.com/office/drawing/2014/main" id="{6532AB73-6FEE-478F-A06E-B0E579C7E572}"/>
              </a:ext>
            </a:extLst>
          </p:cNvPr>
          <p:cNvSpPr txBox="1"/>
          <p:nvPr/>
        </p:nvSpPr>
        <p:spPr>
          <a:xfrm>
            <a:off x="889944" y="4181055"/>
            <a:ext cx="7591448" cy="1200329"/>
          </a:xfrm>
          <a:prstGeom prst="rect">
            <a:avLst/>
          </a:prstGeom>
          <a:noFill/>
        </p:spPr>
        <p:txBody>
          <a:bodyPr wrap="square" rtlCol="0">
            <a:spAutoFit/>
          </a:bodyPr>
          <a:lstStyle/>
          <a:p>
            <a:r>
              <a:rPr lang="zh-CN" altLang="en-US" sz="2400" dirty="0"/>
              <a:t>可以尝试将其转换成无约束优化问题求解。</a:t>
            </a:r>
            <a:endParaRPr lang="en-US" altLang="zh-CN" sz="2400" dirty="0"/>
          </a:p>
          <a:p>
            <a:pPr marL="457200" indent="-457200">
              <a:buFont typeface="+mj-ea"/>
              <a:buAutoNum type="circleNumDbPlain"/>
            </a:pPr>
            <a:r>
              <a:rPr lang="zh-CN" altLang="en-US" sz="2400" dirty="0"/>
              <a:t>将不等式</a:t>
            </a:r>
            <a:r>
              <a:rPr lang="zh-CN" altLang="en-US" sz="2400" dirty="0">
                <a:solidFill>
                  <a:srgbClr val="C00000"/>
                </a:solidFill>
              </a:rPr>
              <a:t>添加条件，变成等式约束</a:t>
            </a:r>
            <a:endParaRPr lang="en-US" altLang="zh-CN" sz="2400" dirty="0">
              <a:solidFill>
                <a:srgbClr val="C00000"/>
              </a:solidFill>
            </a:endParaRPr>
          </a:p>
          <a:p>
            <a:pPr marL="457200" indent="-457200">
              <a:buFont typeface="+mj-ea"/>
              <a:buAutoNum type="circleNumDbPlain"/>
            </a:pPr>
            <a:r>
              <a:rPr lang="zh-CN" altLang="en-US" sz="2400" dirty="0"/>
              <a:t>利用拉格朗日乘数法进行求解</a:t>
            </a:r>
            <a:endParaRPr lang="en-US" altLang="zh-CN" sz="2400" dirty="0"/>
          </a:p>
        </p:txBody>
      </p:sp>
    </p:spTree>
    <p:extLst>
      <p:ext uri="{BB962C8B-B14F-4D97-AF65-F5344CB8AC3E}">
        <p14:creationId xmlns:p14="http://schemas.microsoft.com/office/powerpoint/2010/main" val="3134902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par>
                          <p:cTn id="8" fill="hold">
                            <p:stCondLst>
                              <p:cond delay="1000"/>
                            </p:stCondLst>
                            <p:childTnLst>
                              <p:par>
                                <p:cTn id="9" presetID="2" presetClass="entr" presetSubtype="4"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3" fill="hold">
                            <p:stCondLst>
                              <p:cond delay="1500"/>
                            </p:stCondLst>
                            <p:childTnLst>
                              <p:par>
                                <p:cTn id="14" presetID="16" presetClass="entr" presetSubtype="21"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arn(inVertical)">
                                      <p:cBhvr>
                                        <p:cTn id="16" dur="500"/>
                                        <p:tgtEl>
                                          <p:spTgt spid="6"/>
                                        </p:tgtEl>
                                      </p:cBhvr>
                                    </p:animEffect>
                                  </p:childTnLst>
                                </p:cTn>
                              </p:par>
                            </p:childTnLst>
                          </p:cTn>
                        </p:par>
                        <p:par>
                          <p:cTn id="17" fill="hold">
                            <p:stCondLst>
                              <p:cond delay="2000"/>
                            </p:stCondLst>
                            <p:childTnLst>
                              <p:par>
                                <p:cTn id="18" presetID="22" presetClass="entr" presetSubtype="4"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809E2D-FC97-4F52-9AD0-29BFB9C95393}"/>
              </a:ext>
            </a:extLst>
          </p:cNvPr>
          <p:cNvSpPr>
            <a:spLocks noGrp="1"/>
          </p:cNvSpPr>
          <p:nvPr>
            <p:ph type="title"/>
          </p:nvPr>
        </p:nvSpPr>
        <p:spPr/>
        <p:txBody>
          <a:bodyPr/>
          <a:lstStyle/>
          <a:p>
            <a:r>
              <a:rPr lang="en-US" altLang="zh-CN" dirty="0"/>
              <a:t>6. </a:t>
            </a:r>
            <a:r>
              <a:rPr lang="zh-CN" altLang="en-US" dirty="0"/>
              <a:t>约束优化问题的极值条件</a:t>
            </a:r>
          </a:p>
        </p:txBody>
      </p:sp>
      <p:sp>
        <p:nvSpPr>
          <p:cNvPr id="3" name="内容占位符 2">
            <a:extLst>
              <a:ext uri="{FF2B5EF4-FFF2-40B4-BE49-F238E27FC236}">
                <a16:creationId xmlns:a16="http://schemas.microsoft.com/office/drawing/2014/main" id="{E274CE4D-174F-443F-80FB-D76CCD1704B3}"/>
              </a:ext>
            </a:extLst>
          </p:cNvPr>
          <p:cNvSpPr>
            <a:spLocks noGrp="1"/>
          </p:cNvSpPr>
          <p:nvPr>
            <p:ph idx="1"/>
          </p:nvPr>
        </p:nvSpPr>
        <p:spPr/>
        <p:txBody>
          <a:bodyPr/>
          <a:lstStyle/>
          <a:p>
            <a:r>
              <a:rPr lang="zh-CN" altLang="en-US" dirty="0"/>
              <a:t>不等式约束的极值条件</a:t>
            </a:r>
            <a:endParaRPr lang="en-US" altLang="zh-CN" dirty="0"/>
          </a:p>
          <a:p>
            <a:pPr lvl="1"/>
            <a:r>
              <a:rPr lang="zh-CN" altLang="en-US" dirty="0"/>
              <a:t>对于不等式优化问题</a:t>
            </a:r>
            <a:endParaRPr lang="en-US" altLang="zh-CN" dirty="0"/>
          </a:p>
          <a:p>
            <a:pPr lvl="1"/>
            <a:endParaRPr lang="zh-CN" altLang="en-US" dirty="0"/>
          </a:p>
        </p:txBody>
      </p:sp>
      <p:sp>
        <p:nvSpPr>
          <p:cNvPr id="4" name="日期占位符 3">
            <a:extLst>
              <a:ext uri="{FF2B5EF4-FFF2-40B4-BE49-F238E27FC236}">
                <a16:creationId xmlns:a16="http://schemas.microsoft.com/office/drawing/2014/main" id="{2A62C4BE-2A31-40A4-9346-F0E2739EB350}"/>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B28066B5-5F0B-45DB-B931-4132494D1B97}"/>
              </a:ext>
            </a:extLst>
          </p:cNvPr>
          <p:cNvSpPr>
            <a:spLocks noGrp="1"/>
          </p:cNvSpPr>
          <p:nvPr>
            <p:ph type="sldNum" sz="quarter" idx="12"/>
          </p:nvPr>
        </p:nvSpPr>
        <p:spPr/>
        <p:txBody>
          <a:bodyPr/>
          <a:lstStyle/>
          <a:p>
            <a:fld id="{7AC79822-BC0D-4DE8-A7E5-90A3732A2B82}" type="slidenum">
              <a:rPr lang="zh-CN" altLang="en-US" smtClean="0"/>
              <a:pPr/>
              <a:t>33</a:t>
            </a:fld>
            <a:endParaRPr lang="en-US" altLang="zh-CN" dirty="0"/>
          </a:p>
        </p:txBody>
      </p:sp>
      <p:graphicFrame>
        <p:nvGraphicFramePr>
          <p:cNvPr id="6" name="对象 5">
            <a:extLst>
              <a:ext uri="{FF2B5EF4-FFF2-40B4-BE49-F238E27FC236}">
                <a16:creationId xmlns:a16="http://schemas.microsoft.com/office/drawing/2014/main" id="{D9DB99CD-74BA-4299-B979-B0AFE2ADE4C0}"/>
              </a:ext>
            </a:extLst>
          </p:cNvPr>
          <p:cNvGraphicFramePr>
            <a:graphicFrameLocks noChangeAspect="1"/>
          </p:cNvGraphicFramePr>
          <p:nvPr>
            <p:extLst>
              <p:ext uri="{D42A27DB-BD31-4B8C-83A1-F6EECF244321}">
                <p14:modId xmlns:p14="http://schemas.microsoft.com/office/powerpoint/2010/main" val="4137287062"/>
              </p:ext>
            </p:extLst>
          </p:nvPr>
        </p:nvGraphicFramePr>
        <p:xfrm>
          <a:off x="2020888" y="2420938"/>
          <a:ext cx="5227637" cy="1276350"/>
        </p:xfrm>
        <a:graphic>
          <a:graphicData uri="http://schemas.openxmlformats.org/presentationml/2006/ole">
            <mc:AlternateContent xmlns:mc="http://schemas.openxmlformats.org/markup-compatibility/2006">
              <mc:Choice xmlns:v="urn:schemas-microsoft-com:vml" Requires="v">
                <p:oleObj name="Equation" r:id="rId2" imgW="1562040" imgH="380880" progId="Equation.DSMT4">
                  <p:embed/>
                </p:oleObj>
              </mc:Choice>
              <mc:Fallback>
                <p:oleObj name="Equation" r:id="rId2" imgW="1562040" imgH="380880" progId="Equation.DSMT4">
                  <p:embed/>
                  <p:pic>
                    <p:nvPicPr>
                      <p:cNvPr id="6" name="对象 5">
                        <a:extLst>
                          <a:ext uri="{FF2B5EF4-FFF2-40B4-BE49-F238E27FC236}">
                            <a16:creationId xmlns:a16="http://schemas.microsoft.com/office/drawing/2014/main" id="{D9DB99CD-74BA-4299-B979-B0AFE2ADE4C0}"/>
                          </a:ext>
                        </a:extLst>
                      </p:cNvPr>
                      <p:cNvPicPr/>
                      <p:nvPr/>
                    </p:nvPicPr>
                    <p:blipFill>
                      <a:blip r:embed="rId3"/>
                      <a:stretch>
                        <a:fillRect/>
                      </a:stretch>
                    </p:blipFill>
                    <p:spPr>
                      <a:xfrm>
                        <a:off x="2020888" y="2420938"/>
                        <a:ext cx="5227637" cy="127635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532AB73-6FEE-478F-A06E-B0E579C7E572}"/>
                  </a:ext>
                </a:extLst>
              </p:cNvPr>
              <p:cNvSpPr txBox="1"/>
              <p:nvPr/>
            </p:nvSpPr>
            <p:spPr>
              <a:xfrm>
                <a:off x="840198" y="3697238"/>
                <a:ext cx="7591448" cy="830997"/>
              </a:xfrm>
              <a:prstGeom prst="rect">
                <a:avLst/>
              </a:prstGeom>
              <a:noFill/>
            </p:spPr>
            <p:txBody>
              <a:bodyPr wrap="square" rtlCol="0">
                <a:spAutoFit/>
              </a:bodyPr>
              <a:lstStyle/>
              <a:p>
                <a:r>
                  <a:rPr lang="zh-CN" altLang="en-US" sz="2400" dirty="0"/>
                  <a:t>添加</a:t>
                </a:r>
                <a14:m>
                  <m:oMath xmlns:m="http://schemas.openxmlformats.org/officeDocument/2006/math">
                    <m:r>
                      <a:rPr lang="en-US" altLang="zh-CN" sz="2400" i="1" dirty="0" smtClean="0">
                        <a:latin typeface="Cambria Math" panose="02040503050406030204" pitchFamily="18" charset="0"/>
                      </a:rPr>
                      <m:t>𝑚</m:t>
                    </m:r>
                  </m:oMath>
                </a14:m>
                <a:r>
                  <a:rPr lang="zh-CN" altLang="en-US" sz="2400" dirty="0"/>
                  <a:t>个松弛变量</a:t>
                </a:r>
                <a14:m>
                  <m:oMath xmlns:m="http://schemas.openxmlformats.org/officeDocument/2006/math">
                    <m:r>
                      <a:rPr lang="en-US" altLang="zh-CN" sz="2400" i="1" dirty="0" smtClean="0">
                        <a:latin typeface="Cambria Math" panose="02040503050406030204" pitchFamily="18" charset="0"/>
                      </a:rPr>
                      <m:t>𝑥</m:t>
                    </m:r>
                    <m:r>
                      <a:rPr lang="en-US" altLang="zh-CN" sz="2400" i="1" baseline="-25000" dirty="0" smtClean="0">
                        <a:latin typeface="Cambria Math" panose="02040503050406030204" pitchFamily="18" charset="0"/>
                      </a:rPr>
                      <m:t>𝑛</m:t>
                    </m:r>
                    <m:r>
                      <a:rPr lang="en-US" altLang="zh-CN" sz="2400" i="1" baseline="-25000" dirty="0" smtClean="0">
                        <a:latin typeface="Cambria Math" panose="02040503050406030204" pitchFamily="18" charset="0"/>
                        <a:ea typeface="Cambria Math" panose="02040503050406030204" pitchFamily="18" charset="0"/>
                      </a:rPr>
                      <m:t>+</m:t>
                    </m:r>
                    <m:r>
                      <a:rPr lang="en-US" altLang="zh-CN" sz="2400" i="1" baseline="-25000" dirty="0" smtClean="0">
                        <a:latin typeface="Cambria Math" panose="02040503050406030204" pitchFamily="18" charset="0"/>
                      </a:rPr>
                      <m:t>𝑢</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𝑢</m:t>
                    </m:r>
                    <m:r>
                      <a:rPr lang="en-US" altLang="zh-CN" sz="2400" i="1" dirty="0" smtClean="0">
                        <a:latin typeface="Cambria Math" panose="02040503050406030204" pitchFamily="18" charset="0"/>
                      </a:rPr>
                      <m:t>=1,2,..,</m:t>
                    </m:r>
                    <m:r>
                      <a:rPr lang="en-US" altLang="zh-CN" sz="2400" i="1" dirty="0" smtClean="0">
                        <a:latin typeface="Cambria Math" panose="02040503050406030204" pitchFamily="18" charset="0"/>
                      </a:rPr>
                      <m:t>𝑚</m:t>
                    </m:r>
                    <m:r>
                      <a:rPr lang="en-US" altLang="zh-CN" sz="2400" i="1" dirty="0" smtClean="0">
                        <a:latin typeface="Cambria Math" panose="02040503050406030204" pitchFamily="18" charset="0"/>
                      </a:rPr>
                      <m:t>)</m:t>
                    </m:r>
                  </m:oMath>
                </a14:m>
                <a:r>
                  <a:rPr lang="zh-CN" altLang="en-US" sz="2400" dirty="0"/>
                  <a:t>后，原优化问题变成：</a:t>
                </a:r>
                <a:endParaRPr lang="en-US" altLang="zh-CN" sz="2400" dirty="0"/>
              </a:p>
            </p:txBody>
          </p:sp>
        </mc:Choice>
        <mc:Fallback xmlns="">
          <p:sp>
            <p:nvSpPr>
              <p:cNvPr id="8" name="文本框 7">
                <a:extLst>
                  <a:ext uri="{FF2B5EF4-FFF2-40B4-BE49-F238E27FC236}">
                    <a16:creationId xmlns:a16="http://schemas.microsoft.com/office/drawing/2014/main" id="{6532AB73-6FEE-478F-A06E-B0E579C7E572}"/>
                  </a:ext>
                </a:extLst>
              </p:cNvPr>
              <p:cNvSpPr txBox="1">
                <a:spLocks noRot="1" noChangeAspect="1" noMove="1" noResize="1" noEditPoints="1" noAdjustHandles="1" noChangeArrowheads="1" noChangeShapeType="1" noTextEdit="1"/>
              </p:cNvSpPr>
              <p:nvPr/>
            </p:nvSpPr>
            <p:spPr>
              <a:xfrm>
                <a:off x="840198" y="3697238"/>
                <a:ext cx="7591448" cy="830997"/>
              </a:xfrm>
              <a:prstGeom prst="rect">
                <a:avLst/>
              </a:prstGeom>
              <a:blipFill>
                <a:blip r:embed="rId5"/>
                <a:stretch>
                  <a:fillRect l="-1285" t="-5882" b="-16176"/>
                </a:stretch>
              </a:blipFill>
            </p:spPr>
            <p:txBody>
              <a:bodyPr/>
              <a:lstStyle/>
              <a:p>
                <a:r>
                  <a:rPr lang="zh-CN" altLang="en-US">
                    <a:noFill/>
                  </a:rPr>
                  <a:t> </a:t>
                </a:r>
              </a:p>
            </p:txBody>
          </p:sp>
        </mc:Fallback>
      </mc:AlternateContent>
      <p:graphicFrame>
        <p:nvGraphicFramePr>
          <p:cNvPr id="9" name="对象 8">
            <a:extLst>
              <a:ext uri="{FF2B5EF4-FFF2-40B4-BE49-F238E27FC236}">
                <a16:creationId xmlns:a16="http://schemas.microsoft.com/office/drawing/2014/main" id="{948CDF40-DAC0-47BC-8D18-77B7A6431888}"/>
              </a:ext>
            </a:extLst>
          </p:cNvPr>
          <p:cNvGraphicFramePr>
            <a:graphicFrameLocks noChangeAspect="1"/>
          </p:cNvGraphicFramePr>
          <p:nvPr>
            <p:extLst>
              <p:ext uri="{D42A27DB-BD31-4B8C-83A1-F6EECF244321}">
                <p14:modId xmlns:p14="http://schemas.microsoft.com/office/powerpoint/2010/main" val="829878906"/>
              </p:ext>
            </p:extLst>
          </p:nvPr>
        </p:nvGraphicFramePr>
        <p:xfrm>
          <a:off x="2020888" y="4528235"/>
          <a:ext cx="6076950" cy="1276350"/>
        </p:xfrm>
        <a:graphic>
          <a:graphicData uri="http://schemas.openxmlformats.org/presentationml/2006/ole">
            <mc:AlternateContent xmlns:mc="http://schemas.openxmlformats.org/markup-compatibility/2006">
              <mc:Choice xmlns:v="urn:schemas-microsoft-com:vml" Requires="v">
                <p:oleObj name="Equation" r:id="rId6" imgW="1815840" imgH="380880" progId="Equation.DSMT4">
                  <p:embed/>
                </p:oleObj>
              </mc:Choice>
              <mc:Fallback>
                <p:oleObj name="Equation" r:id="rId6" imgW="1815840" imgH="380880" progId="Equation.DSMT4">
                  <p:embed/>
                  <p:pic>
                    <p:nvPicPr>
                      <p:cNvPr id="6" name="对象 5">
                        <a:extLst>
                          <a:ext uri="{FF2B5EF4-FFF2-40B4-BE49-F238E27FC236}">
                            <a16:creationId xmlns:a16="http://schemas.microsoft.com/office/drawing/2014/main" id="{D9DB99CD-74BA-4299-B979-B0AFE2ADE4C0}"/>
                          </a:ext>
                        </a:extLst>
                      </p:cNvPr>
                      <p:cNvPicPr/>
                      <p:nvPr/>
                    </p:nvPicPr>
                    <p:blipFill>
                      <a:blip r:embed="rId7"/>
                      <a:stretch>
                        <a:fillRect/>
                      </a:stretch>
                    </p:blipFill>
                    <p:spPr>
                      <a:xfrm>
                        <a:off x="2020888" y="4528235"/>
                        <a:ext cx="6076950" cy="1276350"/>
                      </a:xfrm>
                      <a:prstGeom prst="rect">
                        <a:avLst/>
                      </a:prstGeom>
                    </p:spPr>
                  </p:pic>
                </p:oleObj>
              </mc:Fallback>
            </mc:AlternateContent>
          </a:graphicData>
        </a:graphic>
      </p:graphicFrame>
    </p:spTree>
    <p:extLst>
      <p:ext uri="{BB962C8B-B14F-4D97-AF65-F5344CB8AC3E}">
        <p14:creationId xmlns:p14="http://schemas.microsoft.com/office/powerpoint/2010/main" val="3040180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childTnLst>
                          </p:cTn>
                        </p:par>
                        <p:par>
                          <p:cTn id="19" fill="hold">
                            <p:stCondLst>
                              <p:cond delay="500"/>
                            </p:stCondLst>
                            <p:childTnLst>
                              <p:par>
                                <p:cTn id="20" presetID="16" presetClass="entr" presetSubtype="21"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1B72C-AFB6-406F-9720-7DD8CB2CE3CD}"/>
              </a:ext>
            </a:extLst>
          </p:cNvPr>
          <p:cNvSpPr>
            <a:spLocks noGrp="1"/>
          </p:cNvSpPr>
          <p:nvPr>
            <p:ph type="title"/>
          </p:nvPr>
        </p:nvSpPr>
        <p:spPr/>
        <p:txBody>
          <a:bodyPr/>
          <a:lstStyle/>
          <a:p>
            <a:r>
              <a:rPr lang="zh-CN" altLang="en-US" dirty="0"/>
              <a:t>不等式约束的极值条件</a:t>
            </a:r>
          </a:p>
        </p:txBody>
      </p:sp>
      <p:sp>
        <p:nvSpPr>
          <p:cNvPr id="4" name="日期占位符 3">
            <a:extLst>
              <a:ext uri="{FF2B5EF4-FFF2-40B4-BE49-F238E27FC236}">
                <a16:creationId xmlns:a16="http://schemas.microsoft.com/office/drawing/2014/main" id="{F8AE11FE-7F69-456E-8B05-73FF29B90533}"/>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019077D2-524B-4BE7-B67D-D1B4BD1264F0}"/>
              </a:ext>
            </a:extLst>
          </p:cNvPr>
          <p:cNvSpPr>
            <a:spLocks noGrp="1"/>
          </p:cNvSpPr>
          <p:nvPr>
            <p:ph type="sldNum" sz="quarter" idx="12"/>
          </p:nvPr>
        </p:nvSpPr>
        <p:spPr/>
        <p:txBody>
          <a:bodyPr/>
          <a:lstStyle/>
          <a:p>
            <a:fld id="{7AC79822-BC0D-4DE8-A7E5-90A3732A2B82}" type="slidenum">
              <a:rPr lang="zh-CN" altLang="en-US" smtClean="0"/>
              <a:pPr/>
              <a:t>34</a:t>
            </a:fld>
            <a:endParaRPr lang="en-US" altLang="zh-CN" dirty="0"/>
          </a:p>
        </p:txBody>
      </p:sp>
      <p:graphicFrame>
        <p:nvGraphicFramePr>
          <p:cNvPr id="6" name="对象 5">
            <a:extLst>
              <a:ext uri="{FF2B5EF4-FFF2-40B4-BE49-F238E27FC236}">
                <a16:creationId xmlns:a16="http://schemas.microsoft.com/office/drawing/2014/main" id="{A7BEF831-5444-4FFF-9CE7-04A0EBA438BE}"/>
              </a:ext>
            </a:extLst>
          </p:cNvPr>
          <p:cNvGraphicFramePr>
            <a:graphicFrameLocks noChangeAspect="1"/>
          </p:cNvGraphicFramePr>
          <p:nvPr>
            <p:extLst>
              <p:ext uri="{D42A27DB-BD31-4B8C-83A1-F6EECF244321}">
                <p14:modId xmlns:p14="http://schemas.microsoft.com/office/powerpoint/2010/main" val="3171254755"/>
              </p:ext>
            </p:extLst>
          </p:nvPr>
        </p:nvGraphicFramePr>
        <p:xfrm>
          <a:off x="866737" y="1198181"/>
          <a:ext cx="5627191" cy="1181887"/>
        </p:xfrm>
        <a:graphic>
          <a:graphicData uri="http://schemas.openxmlformats.org/presentationml/2006/ole">
            <mc:AlternateContent xmlns:mc="http://schemas.openxmlformats.org/markup-compatibility/2006">
              <mc:Choice xmlns:v="urn:schemas-microsoft-com:vml" Requires="v">
                <p:oleObj name="Equation" r:id="rId2" imgW="1815840" imgH="380880" progId="Equation.DSMT4">
                  <p:embed/>
                </p:oleObj>
              </mc:Choice>
              <mc:Fallback>
                <p:oleObj name="Equation" r:id="rId2" imgW="1815840" imgH="380880" progId="Equation.DSMT4">
                  <p:embed/>
                  <p:pic>
                    <p:nvPicPr>
                      <p:cNvPr id="9" name="对象 8">
                        <a:extLst>
                          <a:ext uri="{FF2B5EF4-FFF2-40B4-BE49-F238E27FC236}">
                            <a16:creationId xmlns:a16="http://schemas.microsoft.com/office/drawing/2014/main" id="{948CDF40-DAC0-47BC-8D18-77B7A6431888}"/>
                          </a:ext>
                        </a:extLst>
                      </p:cNvPr>
                      <p:cNvPicPr/>
                      <p:nvPr/>
                    </p:nvPicPr>
                    <p:blipFill>
                      <a:blip r:embed="rId3"/>
                      <a:stretch>
                        <a:fillRect/>
                      </a:stretch>
                    </p:blipFill>
                    <p:spPr>
                      <a:xfrm>
                        <a:off x="866737" y="1198181"/>
                        <a:ext cx="5627191" cy="1181887"/>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01EA4EB-4B3D-4903-B787-B35C5F709FFF}"/>
                  </a:ext>
                </a:extLst>
              </p:cNvPr>
              <p:cNvSpPr txBox="1"/>
              <p:nvPr/>
            </p:nvSpPr>
            <p:spPr>
              <a:xfrm>
                <a:off x="704528" y="2375560"/>
                <a:ext cx="3998082" cy="461665"/>
              </a:xfrm>
              <a:prstGeom prst="rect">
                <a:avLst/>
              </a:prstGeom>
              <a:noFill/>
            </p:spPr>
            <p:txBody>
              <a:bodyPr wrap="none" rtlCol="0">
                <a:spAutoFit/>
              </a:bodyPr>
              <a:lstStyle/>
              <a:p>
                <a:r>
                  <a:rPr lang="zh-CN" altLang="en-US" sz="2400" dirty="0"/>
                  <a:t>构造拉格朗日函数（</a:t>
                </a:r>
                <a14:m>
                  <m:oMath xmlns:m="http://schemas.openxmlformats.org/officeDocument/2006/math">
                    <m:r>
                      <a:rPr lang="zh-CN" altLang="en-US" sz="2400" i="1" smtClean="0">
                        <a:latin typeface="Cambria Math" panose="02040503050406030204" pitchFamily="18" charset="0"/>
                      </a:rPr>
                      <m:t>𝜆</m:t>
                    </m:r>
                    <m:r>
                      <a:rPr lang="en-US" altLang="zh-CN" sz="2400" b="0" i="1" smtClean="0">
                        <a:latin typeface="Cambria Math" panose="02040503050406030204" pitchFamily="18" charset="0"/>
                      </a:rPr>
                      <m:t>&gt;0</m:t>
                    </m:r>
                  </m:oMath>
                </a14:m>
                <a:r>
                  <a:rPr lang="zh-CN" altLang="en-US" sz="2400" dirty="0"/>
                  <a:t>）</a:t>
                </a:r>
              </a:p>
            </p:txBody>
          </p:sp>
        </mc:Choice>
        <mc:Fallback xmlns="">
          <p:sp>
            <p:nvSpPr>
              <p:cNvPr id="7" name="文本框 6">
                <a:extLst>
                  <a:ext uri="{FF2B5EF4-FFF2-40B4-BE49-F238E27FC236}">
                    <a16:creationId xmlns:a16="http://schemas.microsoft.com/office/drawing/2014/main" id="{301EA4EB-4B3D-4903-B787-B35C5F709FFF}"/>
                  </a:ext>
                </a:extLst>
              </p:cNvPr>
              <p:cNvSpPr txBox="1">
                <a:spLocks noRot="1" noChangeAspect="1" noMove="1" noResize="1" noEditPoints="1" noAdjustHandles="1" noChangeArrowheads="1" noChangeShapeType="1" noTextEdit="1"/>
              </p:cNvSpPr>
              <p:nvPr/>
            </p:nvSpPr>
            <p:spPr>
              <a:xfrm>
                <a:off x="704528" y="2375560"/>
                <a:ext cx="3998082" cy="461665"/>
              </a:xfrm>
              <a:prstGeom prst="rect">
                <a:avLst/>
              </a:prstGeom>
              <a:blipFill>
                <a:blip r:embed="rId5"/>
                <a:stretch>
                  <a:fillRect l="-2443" t="-10667" r="-1527" b="-30667"/>
                </a:stretch>
              </a:blipFill>
            </p:spPr>
            <p:txBody>
              <a:bodyPr/>
              <a:lstStyle/>
              <a:p>
                <a:r>
                  <a:rPr lang="zh-CN" altLang="en-US">
                    <a:noFill/>
                  </a:rPr>
                  <a:t> </a:t>
                </a:r>
              </a:p>
            </p:txBody>
          </p:sp>
        </mc:Fallback>
      </mc:AlternateContent>
      <p:graphicFrame>
        <p:nvGraphicFramePr>
          <p:cNvPr id="8" name="对象 7">
            <a:extLst>
              <a:ext uri="{FF2B5EF4-FFF2-40B4-BE49-F238E27FC236}">
                <a16:creationId xmlns:a16="http://schemas.microsoft.com/office/drawing/2014/main" id="{9525A440-FF0A-4A15-9154-F40F460499D4}"/>
              </a:ext>
            </a:extLst>
          </p:cNvPr>
          <p:cNvGraphicFramePr>
            <a:graphicFrameLocks noChangeAspect="1"/>
          </p:cNvGraphicFramePr>
          <p:nvPr>
            <p:extLst>
              <p:ext uri="{D42A27DB-BD31-4B8C-83A1-F6EECF244321}">
                <p14:modId xmlns:p14="http://schemas.microsoft.com/office/powerpoint/2010/main" val="3529993218"/>
              </p:ext>
            </p:extLst>
          </p:nvPr>
        </p:nvGraphicFramePr>
        <p:xfrm>
          <a:off x="852909" y="2700971"/>
          <a:ext cx="5881191" cy="948247"/>
        </p:xfrm>
        <a:graphic>
          <a:graphicData uri="http://schemas.openxmlformats.org/presentationml/2006/ole">
            <mc:AlternateContent xmlns:mc="http://schemas.openxmlformats.org/markup-compatibility/2006">
              <mc:Choice xmlns:v="urn:schemas-microsoft-com:vml" Requires="v">
                <p:oleObj name="Equation" r:id="rId6" imgW="1892160" imgH="304560" progId="Equation.DSMT4">
                  <p:embed/>
                </p:oleObj>
              </mc:Choice>
              <mc:Fallback>
                <p:oleObj name="Equation" r:id="rId6" imgW="1892160" imgH="304560" progId="Equation.DSMT4">
                  <p:embed/>
                  <p:pic>
                    <p:nvPicPr>
                      <p:cNvPr id="6" name="对象 5">
                        <a:extLst>
                          <a:ext uri="{FF2B5EF4-FFF2-40B4-BE49-F238E27FC236}">
                            <a16:creationId xmlns:a16="http://schemas.microsoft.com/office/drawing/2014/main" id="{A7BEF831-5444-4FFF-9CE7-04A0EBA438BE}"/>
                          </a:ext>
                        </a:extLst>
                      </p:cNvPr>
                      <p:cNvPicPr/>
                      <p:nvPr/>
                    </p:nvPicPr>
                    <p:blipFill>
                      <a:blip r:embed="rId7"/>
                      <a:stretch>
                        <a:fillRect/>
                      </a:stretch>
                    </p:blipFill>
                    <p:spPr>
                      <a:xfrm>
                        <a:off x="852909" y="2700971"/>
                        <a:ext cx="5881191" cy="948247"/>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5391E952-1DA3-48F6-841C-E7F91F4511A8}"/>
              </a:ext>
            </a:extLst>
          </p:cNvPr>
          <p:cNvGraphicFramePr>
            <a:graphicFrameLocks noChangeAspect="1"/>
          </p:cNvGraphicFramePr>
          <p:nvPr>
            <p:extLst>
              <p:ext uri="{D42A27DB-BD31-4B8C-83A1-F6EECF244321}">
                <p14:modId xmlns:p14="http://schemas.microsoft.com/office/powerpoint/2010/main" val="1080830208"/>
              </p:ext>
            </p:extLst>
          </p:nvPr>
        </p:nvGraphicFramePr>
        <p:xfrm>
          <a:off x="992560" y="3643060"/>
          <a:ext cx="5982866" cy="2886920"/>
        </p:xfrm>
        <a:graphic>
          <a:graphicData uri="http://schemas.openxmlformats.org/presentationml/2006/ole">
            <mc:AlternateContent xmlns:mc="http://schemas.openxmlformats.org/markup-compatibility/2006">
              <mc:Choice xmlns:v="urn:schemas-microsoft-com:vml" Requires="v">
                <p:oleObj name="Equation" r:id="rId8" imgW="2158920" imgH="1041120" progId="Equation.DSMT4">
                  <p:embed/>
                </p:oleObj>
              </mc:Choice>
              <mc:Fallback>
                <p:oleObj name="Equation" r:id="rId8" imgW="2158920" imgH="1041120" progId="Equation.DSMT4">
                  <p:embed/>
                  <p:pic>
                    <p:nvPicPr>
                      <p:cNvPr id="8" name="对象 7">
                        <a:extLst>
                          <a:ext uri="{FF2B5EF4-FFF2-40B4-BE49-F238E27FC236}">
                            <a16:creationId xmlns:a16="http://schemas.microsoft.com/office/drawing/2014/main" id="{9525A440-FF0A-4A15-9154-F40F460499D4}"/>
                          </a:ext>
                        </a:extLst>
                      </p:cNvPr>
                      <p:cNvPicPr/>
                      <p:nvPr/>
                    </p:nvPicPr>
                    <p:blipFill>
                      <a:blip r:embed="rId9"/>
                      <a:stretch>
                        <a:fillRect/>
                      </a:stretch>
                    </p:blipFill>
                    <p:spPr>
                      <a:xfrm>
                        <a:off x="992560" y="3643060"/>
                        <a:ext cx="5982866" cy="2886920"/>
                      </a:xfrm>
                      <a:prstGeom prst="rect">
                        <a:avLst/>
                      </a:prstGeom>
                      <a:ln w="19050">
                        <a:solidFill>
                          <a:srgbClr val="C00000"/>
                        </a:solidFill>
                      </a:ln>
                    </p:spPr>
                  </p:pic>
                </p:oleObj>
              </mc:Fallback>
            </mc:AlternateContent>
          </a:graphicData>
        </a:graphic>
      </p:graphicFrame>
    </p:spTree>
    <p:extLst>
      <p:ext uri="{BB962C8B-B14F-4D97-AF65-F5344CB8AC3E}">
        <p14:creationId xmlns:p14="http://schemas.microsoft.com/office/powerpoint/2010/main" val="4245250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500"/>
                                        <p:tgtEl>
                                          <p:spTgt spid="8"/>
                                        </p:tgtEl>
                                      </p:cBhvr>
                                    </p:animEffect>
                                  </p:childTnLst>
                                </p:cTn>
                              </p:par>
                            </p:childTnLst>
                          </p:cTn>
                        </p:par>
                        <p:par>
                          <p:cTn id="17" fill="hold">
                            <p:stCondLst>
                              <p:cond delay="1000"/>
                            </p:stCondLst>
                            <p:childTnLst>
                              <p:par>
                                <p:cTn id="18" presetID="16" presetClass="entr" presetSubtype="21"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arn(inVertical)">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20 12">
            <a:extLst>
              <a:ext uri="{FF2B5EF4-FFF2-40B4-BE49-F238E27FC236}">
                <a16:creationId xmlns:a16="http://schemas.microsoft.com/office/drawing/2014/main" id="{07BABA27-1578-4223-88E1-213F2DCE0379}"/>
              </a:ext>
            </a:extLst>
          </p:cNvPr>
          <p:cNvPicPr>
            <a:picLocks noChangeAspect="1"/>
          </p:cNvPicPr>
          <p:nvPr/>
        </p:nvPicPr>
        <p:blipFill>
          <a:blip r:embed="rId2"/>
          <a:stretch>
            <a:fillRect/>
          </a:stretch>
        </p:blipFill>
        <p:spPr>
          <a:xfrm>
            <a:off x="5284422" y="4252155"/>
            <a:ext cx="3867522" cy="2059627"/>
          </a:xfrm>
          <a:prstGeom prst="rect">
            <a:avLst/>
          </a:prstGeom>
        </p:spPr>
      </p:pic>
      <p:sp>
        <p:nvSpPr>
          <p:cNvPr id="2" name="标题 1">
            <a:extLst>
              <a:ext uri="{FF2B5EF4-FFF2-40B4-BE49-F238E27FC236}">
                <a16:creationId xmlns:a16="http://schemas.microsoft.com/office/drawing/2014/main" id="{6C51B72C-AFB6-406F-9720-7DD8CB2CE3CD}"/>
              </a:ext>
            </a:extLst>
          </p:cNvPr>
          <p:cNvSpPr>
            <a:spLocks noGrp="1"/>
          </p:cNvSpPr>
          <p:nvPr>
            <p:ph type="title"/>
          </p:nvPr>
        </p:nvSpPr>
        <p:spPr/>
        <p:txBody>
          <a:bodyPr/>
          <a:lstStyle/>
          <a:p>
            <a:r>
              <a:rPr lang="zh-CN" altLang="en-US" dirty="0"/>
              <a:t>不等式约束的极值条件</a:t>
            </a:r>
          </a:p>
        </p:txBody>
      </p:sp>
      <p:sp>
        <p:nvSpPr>
          <p:cNvPr id="4" name="日期占位符 3">
            <a:extLst>
              <a:ext uri="{FF2B5EF4-FFF2-40B4-BE49-F238E27FC236}">
                <a16:creationId xmlns:a16="http://schemas.microsoft.com/office/drawing/2014/main" id="{F8AE11FE-7F69-456E-8B05-73FF29B90533}"/>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019077D2-524B-4BE7-B67D-D1B4BD1264F0}"/>
              </a:ext>
            </a:extLst>
          </p:cNvPr>
          <p:cNvSpPr>
            <a:spLocks noGrp="1"/>
          </p:cNvSpPr>
          <p:nvPr>
            <p:ph type="sldNum" sz="quarter" idx="12"/>
          </p:nvPr>
        </p:nvSpPr>
        <p:spPr/>
        <p:txBody>
          <a:bodyPr/>
          <a:lstStyle/>
          <a:p>
            <a:fld id="{7AC79822-BC0D-4DE8-A7E5-90A3732A2B82}" type="slidenum">
              <a:rPr lang="zh-CN" altLang="en-US" smtClean="0"/>
              <a:pPr/>
              <a:t>35</a:t>
            </a:fld>
            <a:endParaRPr lang="en-US" altLang="zh-CN" dirty="0"/>
          </a:p>
        </p:txBody>
      </p:sp>
      <p:graphicFrame>
        <p:nvGraphicFramePr>
          <p:cNvPr id="9" name="对象 8">
            <a:extLst>
              <a:ext uri="{FF2B5EF4-FFF2-40B4-BE49-F238E27FC236}">
                <a16:creationId xmlns:a16="http://schemas.microsoft.com/office/drawing/2014/main" id="{5391E952-1DA3-48F6-841C-E7F91F4511A8}"/>
              </a:ext>
            </a:extLst>
          </p:cNvPr>
          <p:cNvGraphicFramePr>
            <a:graphicFrameLocks noChangeAspect="1"/>
          </p:cNvGraphicFramePr>
          <p:nvPr>
            <p:extLst>
              <p:ext uri="{D42A27DB-BD31-4B8C-83A1-F6EECF244321}">
                <p14:modId xmlns:p14="http://schemas.microsoft.com/office/powerpoint/2010/main" val="1123050170"/>
              </p:ext>
            </p:extLst>
          </p:nvPr>
        </p:nvGraphicFramePr>
        <p:xfrm>
          <a:off x="801688" y="1196975"/>
          <a:ext cx="6510337" cy="2886075"/>
        </p:xfrm>
        <a:graphic>
          <a:graphicData uri="http://schemas.openxmlformats.org/presentationml/2006/ole">
            <mc:AlternateContent xmlns:mc="http://schemas.openxmlformats.org/markup-compatibility/2006">
              <mc:Choice xmlns:v="urn:schemas-microsoft-com:vml" Requires="v">
                <p:oleObj name="Equation" r:id="rId3" imgW="2349360" imgH="1041120" progId="Equation.DSMT4">
                  <p:embed/>
                </p:oleObj>
              </mc:Choice>
              <mc:Fallback>
                <p:oleObj name="Equation" r:id="rId3" imgW="2349360" imgH="1041120" progId="Equation.DSMT4">
                  <p:embed/>
                  <p:pic>
                    <p:nvPicPr>
                      <p:cNvPr id="9" name="对象 8">
                        <a:extLst>
                          <a:ext uri="{FF2B5EF4-FFF2-40B4-BE49-F238E27FC236}">
                            <a16:creationId xmlns:a16="http://schemas.microsoft.com/office/drawing/2014/main" id="{5391E952-1DA3-48F6-841C-E7F91F4511A8}"/>
                          </a:ext>
                        </a:extLst>
                      </p:cNvPr>
                      <p:cNvPicPr/>
                      <p:nvPr/>
                    </p:nvPicPr>
                    <p:blipFill>
                      <a:blip r:embed="rId4"/>
                      <a:stretch>
                        <a:fillRect/>
                      </a:stretch>
                    </p:blipFill>
                    <p:spPr>
                      <a:xfrm>
                        <a:off x="801688" y="1196975"/>
                        <a:ext cx="6510337" cy="2886075"/>
                      </a:xfrm>
                      <a:prstGeom prst="rect">
                        <a:avLst/>
                      </a:prstGeom>
                      <a:ln w="19050">
                        <a:solidFill>
                          <a:srgbClr val="C00000"/>
                        </a:solidFill>
                      </a:ln>
                    </p:spPr>
                  </p:pic>
                </p:oleObj>
              </mc:Fallback>
            </mc:AlternateContent>
          </a:graphicData>
        </a:graphic>
      </p:graphicFrame>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81FB606-0FAE-4207-8FC9-F61E1D048D16}"/>
                  </a:ext>
                </a:extLst>
              </p:cNvPr>
              <p:cNvSpPr txBox="1"/>
              <p:nvPr/>
            </p:nvSpPr>
            <p:spPr>
              <a:xfrm>
                <a:off x="799409" y="4241299"/>
                <a:ext cx="6510336" cy="2031325"/>
              </a:xfrm>
              <a:prstGeom prst="rect">
                <a:avLst/>
              </a:prstGeom>
              <a:noFill/>
            </p:spPr>
            <p:txBody>
              <a:bodyPr wrap="square" rtlCol="0">
                <a:spAutoFit/>
              </a:bodyPr>
              <a:lstStyle/>
              <a:p>
                <a:r>
                  <a:rPr lang="zh-CN" altLang="en-US" dirty="0"/>
                  <a:t>对于任意的</a:t>
                </a:r>
                <a14:m>
                  <m:oMath xmlns:m="http://schemas.openxmlformats.org/officeDocument/2006/math">
                    <m:r>
                      <a:rPr lang="en-US" altLang="zh-CN" i="1" dirty="0" smtClean="0">
                        <a:latin typeface="Cambria Math" panose="02040503050406030204" pitchFamily="18" charset="0"/>
                      </a:rPr>
                      <m:t>𝑢</m:t>
                    </m:r>
                    <m:r>
                      <a:rPr lang="en-US" altLang="zh-CN" i="1" dirty="0" smtClean="0">
                        <a:latin typeface="Cambria Math" panose="02040503050406030204" pitchFamily="18" charset="0"/>
                      </a:rPr>
                      <m:t>=(1,2,..,</m:t>
                    </m:r>
                    <m:r>
                      <a:rPr lang="en-US" altLang="zh-CN" i="1" dirty="0" smtClean="0">
                        <a:latin typeface="Cambria Math" panose="02040503050406030204" pitchFamily="18" charset="0"/>
                      </a:rPr>
                      <m:t>𝑚</m:t>
                    </m:r>
                    <m:r>
                      <a:rPr lang="en-US" altLang="zh-CN" i="1" dirty="0" smtClean="0">
                        <a:latin typeface="Cambria Math" panose="02040503050406030204" pitchFamily="18" charset="0"/>
                      </a:rPr>
                      <m:t>)</m:t>
                    </m:r>
                  </m:oMath>
                </a14:m>
                <a:r>
                  <a:rPr lang="zh-CN" altLang="en-US" dirty="0"/>
                  <a:t>，给定极值点</a:t>
                </a:r>
                <a14:m>
                  <m:oMath xmlns:m="http://schemas.openxmlformats.org/officeDocument/2006/math">
                    <m:r>
                      <a:rPr lang="en-US" altLang="zh-CN" i="1" dirty="0" smtClean="0">
                        <a:latin typeface="Cambria Math" panose="02040503050406030204" pitchFamily="18" charset="0"/>
                      </a:rPr>
                      <m:t>𝑋</m:t>
                    </m:r>
                    <m:r>
                      <a:rPr lang="en-US" altLang="zh-CN" i="1" baseline="30000" dirty="0" smtClean="0">
                        <a:latin typeface="Cambria Math" panose="02040503050406030204" pitchFamily="18" charset="0"/>
                        <a:ea typeface="Cambria Math" panose="02040503050406030204" pitchFamily="18" charset="0"/>
                      </a:rPr>
                      <m:t>∗</m:t>
                    </m:r>
                  </m:oMath>
                </a14:m>
                <a:endParaRPr lang="en-US" altLang="zh-CN" baseline="30000" dirty="0"/>
              </a:p>
              <a:p>
                <a:pPr marL="342900" indent="-342900">
                  <a:buFont typeface="+mj-ea"/>
                  <a:buAutoNum type="circleNumDbPlain"/>
                </a:pPr>
                <a:r>
                  <a:rPr lang="zh-CN" altLang="en-US" dirty="0"/>
                  <a:t>当</a:t>
                </a:r>
                <a14:m>
                  <m:oMath xmlns:m="http://schemas.openxmlformats.org/officeDocument/2006/math">
                    <m:r>
                      <a:rPr lang="zh-CN" altLang="en-US" i="1" dirty="0" smtClean="0">
                        <a:latin typeface="Cambria Math" panose="02040503050406030204" pitchFamily="18" charset="0"/>
                      </a:rPr>
                      <m:t>𝜆</m:t>
                    </m:r>
                    <m:r>
                      <a:rPr lang="en-US" altLang="zh-CN" b="0" i="1" baseline="-25000" dirty="0" smtClean="0">
                        <a:latin typeface="Cambria Math" panose="02040503050406030204" pitchFamily="18" charset="0"/>
                      </a:rPr>
                      <m:t>𝑢</m:t>
                    </m:r>
                    <m:r>
                      <a:rPr lang="en-US" altLang="zh-CN" b="0" i="1" dirty="0" smtClean="0">
                        <a:latin typeface="Cambria Math" panose="02040503050406030204" pitchFamily="18" charset="0"/>
                      </a:rPr>
                      <m:t>=0</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𝑥</m:t>
                    </m:r>
                    <m:r>
                      <a:rPr lang="en-US" altLang="zh-CN" b="0" i="1" baseline="-25000" dirty="0" smtClean="0">
                        <a:latin typeface="Cambria Math" panose="02040503050406030204" pitchFamily="18" charset="0"/>
                      </a:rPr>
                      <m:t>𝑛</m:t>
                    </m:r>
                    <m:r>
                      <a:rPr lang="en-US" altLang="zh-CN" b="0" i="1" baseline="-25000" dirty="0" smtClean="0">
                        <a:latin typeface="Cambria Math" panose="02040503050406030204" pitchFamily="18" charset="0"/>
                      </a:rPr>
                      <m:t>+</m:t>
                    </m:r>
                    <m:r>
                      <a:rPr lang="en-US" altLang="zh-CN" i="1" baseline="-25000" dirty="0" smtClean="0">
                        <a:latin typeface="Cambria Math" panose="02040503050406030204" pitchFamily="18" charset="0"/>
                      </a:rPr>
                      <m:t>𝑢</m:t>
                    </m:r>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rPr>
                      <m:t>0</m:t>
                    </m:r>
                  </m:oMath>
                </a14:m>
                <a:r>
                  <a:rPr lang="zh-CN" altLang="en-US" dirty="0"/>
                  <a:t>时</a:t>
                </a:r>
                <a:r>
                  <a:rPr lang="en-US" altLang="zh-CN" dirty="0"/>
                  <a:t>:</a:t>
                </a:r>
              </a:p>
              <a:p>
                <a:pPr marL="342900" indent="-342900">
                  <a:buFont typeface="+mj-lt"/>
                  <a:buAutoNum type="alphaLcParenR"/>
                </a:pPr>
                <a:r>
                  <a:rPr lang="zh-CN" altLang="en-US" dirty="0"/>
                  <a:t>根据公式</a:t>
                </a:r>
                <a:r>
                  <a:rPr lang="en-US" altLang="zh-CN" dirty="0"/>
                  <a:t>(2)</a:t>
                </a:r>
              </a:p>
              <a:p>
                <a:pPr marL="342900" indent="-342900">
                  <a:buFont typeface="+mj-lt"/>
                  <a:buAutoNum type="alphaLcParenR"/>
                </a:pPr>
                <a:endParaRPr lang="en-US" altLang="zh-CN" dirty="0"/>
              </a:p>
              <a:p>
                <a:pPr marL="342900" indent="-342900">
                  <a:buFont typeface="+mj-lt"/>
                  <a:buAutoNum type="alphaLcParenR"/>
                </a:pPr>
                <a:endParaRPr lang="en-US" altLang="zh-CN" dirty="0"/>
              </a:p>
              <a:p>
                <a:pPr marL="342900" indent="-342900">
                  <a:buFont typeface="+mj-lt"/>
                  <a:buAutoNum type="alphaLcParenR"/>
                </a:pPr>
                <a:r>
                  <a:rPr lang="zh-CN" altLang="en-US" dirty="0"/>
                  <a:t>根据公式</a:t>
                </a:r>
                <a:r>
                  <a:rPr lang="en-US" altLang="zh-CN" dirty="0"/>
                  <a:t>(1)</a:t>
                </a:r>
              </a:p>
              <a:p>
                <a:pPr marL="342900" indent="-342900">
                  <a:buFont typeface="+mj-lt"/>
                  <a:buAutoNum type="alphaLcParenR"/>
                </a:pPr>
                <a:endParaRPr lang="zh-CN" altLang="en-US" dirty="0"/>
              </a:p>
            </p:txBody>
          </p:sp>
        </mc:Choice>
        <mc:Fallback xmlns="">
          <p:sp>
            <p:nvSpPr>
              <p:cNvPr id="3" name="文本框 2">
                <a:extLst>
                  <a:ext uri="{FF2B5EF4-FFF2-40B4-BE49-F238E27FC236}">
                    <a16:creationId xmlns:a16="http://schemas.microsoft.com/office/drawing/2014/main" id="{281FB606-0FAE-4207-8FC9-F61E1D048D16}"/>
                  </a:ext>
                </a:extLst>
              </p:cNvPr>
              <p:cNvSpPr txBox="1">
                <a:spLocks noRot="1" noChangeAspect="1" noMove="1" noResize="1" noEditPoints="1" noAdjustHandles="1" noChangeArrowheads="1" noChangeShapeType="1" noTextEdit="1"/>
              </p:cNvSpPr>
              <p:nvPr/>
            </p:nvSpPr>
            <p:spPr>
              <a:xfrm>
                <a:off x="799409" y="4241299"/>
                <a:ext cx="6510336" cy="2031325"/>
              </a:xfrm>
              <a:prstGeom prst="rect">
                <a:avLst/>
              </a:prstGeom>
              <a:blipFill>
                <a:blip r:embed="rId6"/>
                <a:stretch>
                  <a:fillRect l="-936" t="-1802"/>
                </a:stretch>
              </a:blipFill>
            </p:spPr>
            <p:txBody>
              <a:bodyPr/>
              <a:lstStyle/>
              <a:p>
                <a:r>
                  <a:rPr lang="zh-CN" altLang="en-US">
                    <a:noFill/>
                  </a:rPr>
                  <a:t> </a:t>
                </a:r>
              </a:p>
            </p:txBody>
          </p:sp>
        </mc:Fallback>
      </mc:AlternateContent>
      <p:graphicFrame>
        <p:nvGraphicFramePr>
          <p:cNvPr id="10" name="对象 9">
            <a:extLst>
              <a:ext uri="{FF2B5EF4-FFF2-40B4-BE49-F238E27FC236}">
                <a16:creationId xmlns:a16="http://schemas.microsoft.com/office/drawing/2014/main" id="{AEC044D0-4F29-474F-982F-C443ACE4ADEB}"/>
              </a:ext>
            </a:extLst>
          </p:cNvPr>
          <p:cNvGraphicFramePr>
            <a:graphicFrameLocks noChangeAspect="1"/>
          </p:cNvGraphicFramePr>
          <p:nvPr>
            <p:extLst>
              <p:ext uri="{D42A27DB-BD31-4B8C-83A1-F6EECF244321}">
                <p14:modId xmlns:p14="http://schemas.microsoft.com/office/powerpoint/2010/main" val="433544351"/>
              </p:ext>
            </p:extLst>
          </p:nvPr>
        </p:nvGraphicFramePr>
        <p:xfrm>
          <a:off x="1048253" y="5110258"/>
          <a:ext cx="4264025" cy="404812"/>
        </p:xfrm>
        <a:graphic>
          <a:graphicData uri="http://schemas.openxmlformats.org/presentationml/2006/ole">
            <mc:AlternateContent xmlns:mc="http://schemas.openxmlformats.org/markup-compatibility/2006">
              <mc:Choice xmlns:v="urn:schemas-microsoft-com:vml" Requires="v">
                <p:oleObj name="Equation" r:id="rId7" imgW="2006280" imgH="190440" progId="Equation.DSMT4">
                  <p:embed/>
                </p:oleObj>
              </mc:Choice>
              <mc:Fallback>
                <p:oleObj name="Equation" r:id="rId7" imgW="2006280" imgH="190440" progId="Equation.DSMT4">
                  <p:embed/>
                  <p:pic>
                    <p:nvPicPr>
                      <p:cNvPr id="0" name=""/>
                      <p:cNvPicPr/>
                      <p:nvPr/>
                    </p:nvPicPr>
                    <p:blipFill>
                      <a:blip r:embed="rId8"/>
                      <a:stretch>
                        <a:fillRect/>
                      </a:stretch>
                    </p:blipFill>
                    <p:spPr>
                      <a:xfrm>
                        <a:off x="1048253" y="5110258"/>
                        <a:ext cx="4264025" cy="404812"/>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65C53CB5-1132-4331-8AC5-0BDABBF59C28}"/>
              </a:ext>
            </a:extLst>
          </p:cNvPr>
          <p:cNvGraphicFramePr>
            <a:graphicFrameLocks noChangeAspect="1"/>
          </p:cNvGraphicFramePr>
          <p:nvPr>
            <p:extLst>
              <p:ext uri="{D42A27DB-BD31-4B8C-83A1-F6EECF244321}">
                <p14:modId xmlns:p14="http://schemas.microsoft.com/office/powerpoint/2010/main" val="846428176"/>
              </p:ext>
            </p:extLst>
          </p:nvPr>
        </p:nvGraphicFramePr>
        <p:xfrm>
          <a:off x="1048253" y="5968361"/>
          <a:ext cx="3616325" cy="404812"/>
        </p:xfrm>
        <a:graphic>
          <a:graphicData uri="http://schemas.openxmlformats.org/presentationml/2006/ole">
            <mc:AlternateContent xmlns:mc="http://schemas.openxmlformats.org/markup-compatibility/2006">
              <mc:Choice xmlns:v="urn:schemas-microsoft-com:vml" Requires="v">
                <p:oleObj name="Equation" r:id="rId9" imgW="1701720" imgH="190440" progId="Equation.DSMT4">
                  <p:embed/>
                </p:oleObj>
              </mc:Choice>
              <mc:Fallback>
                <p:oleObj name="Equation" r:id="rId9" imgW="1701720" imgH="190440" progId="Equation.DSMT4">
                  <p:embed/>
                  <p:pic>
                    <p:nvPicPr>
                      <p:cNvPr id="10" name="对象 9">
                        <a:extLst>
                          <a:ext uri="{FF2B5EF4-FFF2-40B4-BE49-F238E27FC236}">
                            <a16:creationId xmlns:a16="http://schemas.microsoft.com/office/drawing/2014/main" id="{AEC044D0-4F29-474F-982F-C443ACE4ADEB}"/>
                          </a:ext>
                        </a:extLst>
                      </p:cNvPr>
                      <p:cNvPicPr/>
                      <p:nvPr/>
                    </p:nvPicPr>
                    <p:blipFill>
                      <a:blip r:embed="rId10"/>
                      <a:stretch>
                        <a:fillRect/>
                      </a:stretch>
                    </p:blipFill>
                    <p:spPr>
                      <a:xfrm>
                        <a:off x="1048253" y="5968361"/>
                        <a:ext cx="3616325" cy="404812"/>
                      </a:xfrm>
                      <a:prstGeom prst="rect">
                        <a:avLst/>
                      </a:prstGeom>
                    </p:spPr>
                  </p:pic>
                </p:oleObj>
              </mc:Fallback>
            </mc:AlternateContent>
          </a:graphicData>
        </a:graphic>
      </p:graphicFrame>
    </p:spTree>
    <p:extLst>
      <p:ext uri="{BB962C8B-B14F-4D97-AF65-F5344CB8AC3E}">
        <p14:creationId xmlns:p14="http://schemas.microsoft.com/office/powerpoint/2010/main" val="2555352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arn(inVertical)">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barn(inVertical)">
                                      <p:cBhvr>
                                        <p:cTn id="20" dur="500"/>
                                        <p:tgtEl>
                                          <p:spTgt spid="3">
                                            <p:txEl>
                                              <p:pRg st="2" end="2"/>
                                            </p:txEl>
                                          </p:spTgt>
                                        </p:tgtEl>
                                      </p:cBhvr>
                                    </p:animEffect>
                                  </p:childTnLst>
                                </p:cTn>
                              </p:par>
                            </p:childTnLst>
                          </p:cTn>
                        </p:par>
                        <p:par>
                          <p:cTn id="21" fill="hold">
                            <p:stCondLst>
                              <p:cond delay="500"/>
                            </p:stCondLst>
                            <p:childTnLst>
                              <p:par>
                                <p:cTn id="22" presetID="22" presetClass="entr" presetSubtype="4"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down)">
                                      <p:cBhvr>
                                        <p:cTn id="24" dur="500"/>
                                        <p:tgtEl>
                                          <p:spTgt spid="10"/>
                                        </p:tgtEl>
                                      </p:cBhvr>
                                    </p:animEffect>
                                  </p:childTnLst>
                                </p:cTn>
                              </p:par>
                            </p:childTnLst>
                          </p:cTn>
                        </p:par>
                        <p:par>
                          <p:cTn id="25" fill="hold">
                            <p:stCondLst>
                              <p:cond delay="1000"/>
                            </p:stCondLst>
                            <p:childTnLst>
                              <p:par>
                                <p:cTn id="26" presetID="16" presetClass="entr" presetSubtype="21" fill="hold"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arn(inVertical)">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barn(inVertical)">
                                      <p:cBhvr>
                                        <p:cTn id="33" dur="500"/>
                                        <p:tgtEl>
                                          <p:spTgt spid="3">
                                            <p:txEl>
                                              <p:pRg st="5" end="5"/>
                                            </p:txEl>
                                          </p:spTgt>
                                        </p:tgtEl>
                                      </p:cBhvr>
                                    </p:animEffect>
                                  </p:childTnLst>
                                </p:cTn>
                              </p:par>
                            </p:childTnLst>
                          </p:cTn>
                        </p:par>
                        <p:par>
                          <p:cTn id="34" fill="hold">
                            <p:stCondLst>
                              <p:cond delay="500"/>
                            </p:stCondLst>
                            <p:childTnLst>
                              <p:par>
                                <p:cTn id="35" presetID="22" presetClass="entr" presetSubtype="4"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down)">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1B72C-AFB6-406F-9720-7DD8CB2CE3CD}"/>
              </a:ext>
            </a:extLst>
          </p:cNvPr>
          <p:cNvSpPr>
            <a:spLocks noGrp="1"/>
          </p:cNvSpPr>
          <p:nvPr>
            <p:ph type="title"/>
          </p:nvPr>
        </p:nvSpPr>
        <p:spPr/>
        <p:txBody>
          <a:bodyPr/>
          <a:lstStyle/>
          <a:p>
            <a:r>
              <a:rPr lang="zh-CN" altLang="en-US" dirty="0"/>
              <a:t>不等式约束的极值条件</a:t>
            </a:r>
          </a:p>
        </p:txBody>
      </p:sp>
      <p:sp>
        <p:nvSpPr>
          <p:cNvPr id="4" name="日期占位符 3">
            <a:extLst>
              <a:ext uri="{FF2B5EF4-FFF2-40B4-BE49-F238E27FC236}">
                <a16:creationId xmlns:a16="http://schemas.microsoft.com/office/drawing/2014/main" id="{F8AE11FE-7F69-456E-8B05-73FF29B90533}"/>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019077D2-524B-4BE7-B67D-D1B4BD1264F0}"/>
              </a:ext>
            </a:extLst>
          </p:cNvPr>
          <p:cNvSpPr>
            <a:spLocks noGrp="1"/>
          </p:cNvSpPr>
          <p:nvPr>
            <p:ph type="sldNum" sz="quarter" idx="12"/>
          </p:nvPr>
        </p:nvSpPr>
        <p:spPr/>
        <p:txBody>
          <a:bodyPr/>
          <a:lstStyle/>
          <a:p>
            <a:fld id="{7AC79822-BC0D-4DE8-A7E5-90A3732A2B82}" type="slidenum">
              <a:rPr lang="zh-CN" altLang="en-US" smtClean="0"/>
              <a:pPr/>
              <a:t>36</a:t>
            </a:fld>
            <a:endParaRPr lang="en-US" altLang="zh-CN" dirty="0"/>
          </a:p>
        </p:txBody>
      </p:sp>
      <p:graphicFrame>
        <p:nvGraphicFramePr>
          <p:cNvPr id="9" name="对象 8">
            <a:extLst>
              <a:ext uri="{FF2B5EF4-FFF2-40B4-BE49-F238E27FC236}">
                <a16:creationId xmlns:a16="http://schemas.microsoft.com/office/drawing/2014/main" id="{5391E952-1DA3-48F6-841C-E7F91F4511A8}"/>
              </a:ext>
            </a:extLst>
          </p:cNvPr>
          <p:cNvGraphicFramePr>
            <a:graphicFrameLocks noChangeAspect="1"/>
          </p:cNvGraphicFramePr>
          <p:nvPr/>
        </p:nvGraphicFramePr>
        <p:xfrm>
          <a:off x="801688" y="1196975"/>
          <a:ext cx="6510337" cy="2886075"/>
        </p:xfrm>
        <a:graphic>
          <a:graphicData uri="http://schemas.openxmlformats.org/presentationml/2006/ole">
            <mc:AlternateContent xmlns:mc="http://schemas.openxmlformats.org/markup-compatibility/2006">
              <mc:Choice xmlns:v="urn:schemas-microsoft-com:vml" Requires="v">
                <p:oleObj name="Equation" r:id="rId2" imgW="2349360" imgH="1041120" progId="Equation.DSMT4">
                  <p:embed/>
                </p:oleObj>
              </mc:Choice>
              <mc:Fallback>
                <p:oleObj name="Equation" r:id="rId2" imgW="2349360" imgH="1041120" progId="Equation.DSMT4">
                  <p:embed/>
                  <p:pic>
                    <p:nvPicPr>
                      <p:cNvPr id="9" name="对象 8">
                        <a:extLst>
                          <a:ext uri="{FF2B5EF4-FFF2-40B4-BE49-F238E27FC236}">
                            <a16:creationId xmlns:a16="http://schemas.microsoft.com/office/drawing/2014/main" id="{5391E952-1DA3-48F6-841C-E7F91F4511A8}"/>
                          </a:ext>
                        </a:extLst>
                      </p:cNvPr>
                      <p:cNvPicPr/>
                      <p:nvPr/>
                    </p:nvPicPr>
                    <p:blipFill>
                      <a:blip r:embed="rId3"/>
                      <a:stretch>
                        <a:fillRect/>
                      </a:stretch>
                    </p:blipFill>
                    <p:spPr>
                      <a:xfrm>
                        <a:off x="801688" y="1196975"/>
                        <a:ext cx="6510337" cy="2886075"/>
                      </a:xfrm>
                      <a:prstGeom prst="rect">
                        <a:avLst/>
                      </a:prstGeom>
                      <a:ln w="19050">
                        <a:solidFill>
                          <a:srgbClr val="C00000"/>
                        </a:solidFill>
                      </a:ln>
                    </p:spPr>
                  </p:pic>
                </p:oleObj>
              </mc:Fallback>
            </mc:AlternateContent>
          </a:graphicData>
        </a:graphic>
      </p:graphicFrame>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81FB606-0FAE-4207-8FC9-F61E1D048D16}"/>
                  </a:ext>
                </a:extLst>
              </p:cNvPr>
              <p:cNvSpPr txBox="1"/>
              <p:nvPr/>
            </p:nvSpPr>
            <p:spPr>
              <a:xfrm>
                <a:off x="799409" y="4241299"/>
                <a:ext cx="6510336" cy="2031325"/>
              </a:xfrm>
              <a:prstGeom prst="rect">
                <a:avLst/>
              </a:prstGeom>
              <a:noFill/>
            </p:spPr>
            <p:txBody>
              <a:bodyPr wrap="square" rtlCol="0">
                <a:spAutoFit/>
              </a:bodyPr>
              <a:lstStyle/>
              <a:p>
                <a:r>
                  <a:rPr lang="zh-CN" altLang="en-US" dirty="0"/>
                  <a:t>对于任意的</a:t>
                </a:r>
                <a14:m>
                  <m:oMath xmlns:m="http://schemas.openxmlformats.org/officeDocument/2006/math">
                    <m:r>
                      <a:rPr lang="en-US" altLang="zh-CN" i="1" dirty="0" smtClean="0">
                        <a:latin typeface="Cambria Math" panose="02040503050406030204" pitchFamily="18" charset="0"/>
                      </a:rPr>
                      <m:t>𝑢</m:t>
                    </m:r>
                    <m:r>
                      <a:rPr lang="en-US" altLang="zh-CN" i="1" dirty="0" smtClean="0">
                        <a:latin typeface="Cambria Math" panose="02040503050406030204" pitchFamily="18" charset="0"/>
                      </a:rPr>
                      <m:t>=(1,2,..,</m:t>
                    </m:r>
                    <m:r>
                      <a:rPr lang="en-US" altLang="zh-CN" i="1" dirty="0" smtClean="0">
                        <a:latin typeface="Cambria Math" panose="02040503050406030204" pitchFamily="18" charset="0"/>
                      </a:rPr>
                      <m:t>𝑚</m:t>
                    </m:r>
                    <m:r>
                      <a:rPr lang="en-US" altLang="zh-CN" i="1" dirty="0" smtClean="0">
                        <a:latin typeface="Cambria Math" panose="02040503050406030204" pitchFamily="18" charset="0"/>
                      </a:rPr>
                      <m:t>)</m:t>
                    </m:r>
                  </m:oMath>
                </a14:m>
                <a:r>
                  <a:rPr lang="zh-CN" altLang="en-US" dirty="0"/>
                  <a:t>，给定极值点</a:t>
                </a:r>
                <a14:m>
                  <m:oMath xmlns:m="http://schemas.openxmlformats.org/officeDocument/2006/math">
                    <m:r>
                      <a:rPr lang="en-US" altLang="zh-CN" i="1" dirty="0">
                        <a:latin typeface="Cambria Math" panose="02040503050406030204" pitchFamily="18" charset="0"/>
                      </a:rPr>
                      <m:t>𝑋</m:t>
                    </m:r>
                    <m:r>
                      <a:rPr lang="en-US" altLang="zh-CN" i="1" baseline="30000" dirty="0">
                        <a:latin typeface="Cambria Math" panose="02040503050406030204" pitchFamily="18" charset="0"/>
                        <a:ea typeface="Cambria Math" panose="02040503050406030204" pitchFamily="18" charset="0"/>
                      </a:rPr>
                      <m:t>∗</m:t>
                    </m:r>
                  </m:oMath>
                </a14:m>
                <a:endParaRPr lang="en-US" altLang="zh-CN" dirty="0"/>
              </a:p>
              <a:p>
                <a:pPr marL="342900" indent="-342900">
                  <a:buFont typeface="+mj-ea"/>
                  <a:buAutoNum type="circleNumDbPlain" startAt="2"/>
                </a:pPr>
                <a:r>
                  <a:rPr lang="zh-CN" altLang="en-US" dirty="0"/>
                  <a:t>当</a:t>
                </a:r>
                <a14:m>
                  <m:oMath xmlns:m="http://schemas.openxmlformats.org/officeDocument/2006/math">
                    <m:r>
                      <a:rPr lang="zh-CN" altLang="en-US" i="1" dirty="0" smtClean="0">
                        <a:latin typeface="Cambria Math" panose="02040503050406030204" pitchFamily="18" charset="0"/>
                      </a:rPr>
                      <m:t>𝜆</m:t>
                    </m:r>
                    <m:r>
                      <a:rPr lang="en-US" altLang="zh-CN" b="0" i="1" baseline="-25000" dirty="0" smtClean="0">
                        <a:latin typeface="Cambria Math" panose="02040503050406030204" pitchFamily="18" charset="0"/>
                      </a:rPr>
                      <m:t>𝑢</m:t>
                    </m:r>
                    <m:r>
                      <a:rPr lang="en-US" altLang="zh-CN" b="0" i="1" dirty="0" smtClean="0">
                        <a:latin typeface="Cambria Math" panose="02040503050406030204" pitchFamily="18" charset="0"/>
                      </a:rPr>
                      <m:t>=0</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𝑥</m:t>
                    </m:r>
                    <m:r>
                      <a:rPr lang="en-US" altLang="zh-CN" b="0" i="1" baseline="-25000" dirty="0" smtClean="0">
                        <a:latin typeface="Cambria Math" panose="02040503050406030204" pitchFamily="18" charset="0"/>
                      </a:rPr>
                      <m:t>𝑛</m:t>
                    </m:r>
                    <m:r>
                      <a:rPr lang="en-US" altLang="zh-CN" b="0" i="1" baseline="-25000" dirty="0" smtClean="0">
                        <a:latin typeface="Cambria Math" panose="02040503050406030204" pitchFamily="18" charset="0"/>
                      </a:rPr>
                      <m:t>+</m:t>
                    </m:r>
                    <m:r>
                      <a:rPr lang="en-US" altLang="zh-CN" i="1" baseline="-25000" dirty="0" smtClean="0">
                        <a:latin typeface="Cambria Math" panose="02040503050406030204" pitchFamily="18" charset="0"/>
                      </a:rPr>
                      <m:t>𝑢</m:t>
                    </m:r>
                    <m:r>
                      <a:rPr lang="en-US" altLang="zh-CN" b="0"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rPr>
                      <m:t>0</m:t>
                    </m:r>
                  </m:oMath>
                </a14:m>
                <a:r>
                  <a:rPr lang="zh-CN" altLang="en-US" dirty="0"/>
                  <a:t>时</a:t>
                </a:r>
                <a:r>
                  <a:rPr lang="en-US" altLang="zh-CN" dirty="0"/>
                  <a:t>:</a:t>
                </a:r>
              </a:p>
              <a:p>
                <a:pPr marL="342900" indent="-342900">
                  <a:buFont typeface="+mj-lt"/>
                  <a:buAutoNum type="alphaLcParenR"/>
                </a:pPr>
                <a:r>
                  <a:rPr lang="zh-CN" altLang="en-US" dirty="0"/>
                  <a:t>根据公式</a:t>
                </a:r>
                <a:r>
                  <a:rPr lang="en-US" altLang="zh-CN" dirty="0"/>
                  <a:t>(2)</a:t>
                </a:r>
              </a:p>
              <a:p>
                <a:pPr marL="342900" indent="-342900">
                  <a:buFont typeface="+mj-lt"/>
                  <a:buAutoNum type="alphaLcParenR"/>
                </a:pPr>
                <a:endParaRPr lang="en-US" altLang="zh-CN" dirty="0"/>
              </a:p>
              <a:p>
                <a:pPr marL="342900" indent="-342900">
                  <a:buFont typeface="+mj-lt"/>
                  <a:buAutoNum type="alphaLcParenR"/>
                </a:pPr>
                <a:endParaRPr lang="en-US" altLang="zh-CN" dirty="0"/>
              </a:p>
              <a:p>
                <a:pPr marL="342900" indent="-342900">
                  <a:buFont typeface="+mj-lt"/>
                  <a:buAutoNum type="alphaLcParenR"/>
                </a:pPr>
                <a:r>
                  <a:rPr lang="zh-CN" altLang="en-US" dirty="0"/>
                  <a:t>根据公式</a:t>
                </a:r>
                <a:r>
                  <a:rPr lang="en-US" altLang="zh-CN" dirty="0"/>
                  <a:t>(1)</a:t>
                </a:r>
              </a:p>
              <a:p>
                <a:pPr marL="342900" indent="-342900">
                  <a:buFont typeface="+mj-lt"/>
                  <a:buAutoNum type="alphaLcParenR"/>
                </a:pPr>
                <a:endParaRPr lang="zh-CN" altLang="en-US" dirty="0"/>
              </a:p>
            </p:txBody>
          </p:sp>
        </mc:Choice>
        <mc:Fallback xmlns="">
          <p:sp>
            <p:nvSpPr>
              <p:cNvPr id="3" name="文本框 2">
                <a:extLst>
                  <a:ext uri="{FF2B5EF4-FFF2-40B4-BE49-F238E27FC236}">
                    <a16:creationId xmlns:a16="http://schemas.microsoft.com/office/drawing/2014/main" id="{281FB606-0FAE-4207-8FC9-F61E1D048D16}"/>
                  </a:ext>
                </a:extLst>
              </p:cNvPr>
              <p:cNvSpPr txBox="1">
                <a:spLocks noRot="1" noChangeAspect="1" noMove="1" noResize="1" noEditPoints="1" noAdjustHandles="1" noChangeArrowheads="1" noChangeShapeType="1" noTextEdit="1"/>
              </p:cNvSpPr>
              <p:nvPr/>
            </p:nvSpPr>
            <p:spPr>
              <a:xfrm>
                <a:off x="799409" y="4241299"/>
                <a:ext cx="6510336" cy="2031325"/>
              </a:xfrm>
              <a:prstGeom prst="rect">
                <a:avLst/>
              </a:prstGeom>
              <a:blipFill>
                <a:blip r:embed="rId5"/>
                <a:stretch>
                  <a:fillRect l="-936" t="-1802"/>
                </a:stretch>
              </a:blipFill>
            </p:spPr>
            <p:txBody>
              <a:bodyPr/>
              <a:lstStyle/>
              <a:p>
                <a:r>
                  <a:rPr lang="zh-CN" altLang="en-US">
                    <a:noFill/>
                  </a:rPr>
                  <a:t> </a:t>
                </a:r>
              </a:p>
            </p:txBody>
          </p:sp>
        </mc:Fallback>
      </mc:AlternateContent>
      <p:graphicFrame>
        <p:nvGraphicFramePr>
          <p:cNvPr id="10" name="对象 9">
            <a:extLst>
              <a:ext uri="{FF2B5EF4-FFF2-40B4-BE49-F238E27FC236}">
                <a16:creationId xmlns:a16="http://schemas.microsoft.com/office/drawing/2014/main" id="{AEC044D0-4F29-474F-982F-C443ACE4ADEB}"/>
              </a:ext>
            </a:extLst>
          </p:cNvPr>
          <p:cNvGraphicFramePr>
            <a:graphicFrameLocks noChangeAspect="1"/>
          </p:cNvGraphicFramePr>
          <p:nvPr>
            <p:extLst>
              <p:ext uri="{D42A27DB-BD31-4B8C-83A1-F6EECF244321}">
                <p14:modId xmlns:p14="http://schemas.microsoft.com/office/powerpoint/2010/main" val="4238759411"/>
              </p:ext>
            </p:extLst>
          </p:nvPr>
        </p:nvGraphicFramePr>
        <p:xfrm>
          <a:off x="1136650" y="5129213"/>
          <a:ext cx="3562350" cy="404812"/>
        </p:xfrm>
        <a:graphic>
          <a:graphicData uri="http://schemas.openxmlformats.org/presentationml/2006/ole">
            <mc:AlternateContent xmlns:mc="http://schemas.openxmlformats.org/markup-compatibility/2006">
              <mc:Choice xmlns:v="urn:schemas-microsoft-com:vml" Requires="v">
                <p:oleObj name="Equation" r:id="rId6" imgW="1676160" imgH="190440" progId="Equation.DSMT4">
                  <p:embed/>
                </p:oleObj>
              </mc:Choice>
              <mc:Fallback>
                <p:oleObj name="Equation" r:id="rId6" imgW="1676160" imgH="190440" progId="Equation.DSMT4">
                  <p:embed/>
                  <p:pic>
                    <p:nvPicPr>
                      <p:cNvPr id="10" name="对象 9">
                        <a:extLst>
                          <a:ext uri="{FF2B5EF4-FFF2-40B4-BE49-F238E27FC236}">
                            <a16:creationId xmlns:a16="http://schemas.microsoft.com/office/drawing/2014/main" id="{AEC044D0-4F29-474F-982F-C443ACE4ADEB}"/>
                          </a:ext>
                        </a:extLst>
                      </p:cNvPr>
                      <p:cNvPicPr/>
                      <p:nvPr/>
                    </p:nvPicPr>
                    <p:blipFill>
                      <a:blip r:embed="rId7"/>
                      <a:stretch>
                        <a:fillRect/>
                      </a:stretch>
                    </p:blipFill>
                    <p:spPr>
                      <a:xfrm>
                        <a:off x="1136650" y="5129213"/>
                        <a:ext cx="3562350" cy="404812"/>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64F7607E-1DCD-42C7-AB55-21D96FF16369}"/>
              </a:ext>
            </a:extLst>
          </p:cNvPr>
          <p:cNvGraphicFramePr>
            <a:graphicFrameLocks noChangeAspect="1"/>
          </p:cNvGraphicFramePr>
          <p:nvPr>
            <p:extLst>
              <p:ext uri="{D42A27DB-BD31-4B8C-83A1-F6EECF244321}">
                <p14:modId xmlns:p14="http://schemas.microsoft.com/office/powerpoint/2010/main" val="1598979168"/>
              </p:ext>
            </p:extLst>
          </p:nvPr>
        </p:nvGraphicFramePr>
        <p:xfrm>
          <a:off x="1120652" y="5993127"/>
          <a:ext cx="3616325" cy="404812"/>
        </p:xfrm>
        <a:graphic>
          <a:graphicData uri="http://schemas.openxmlformats.org/presentationml/2006/ole">
            <mc:AlternateContent xmlns:mc="http://schemas.openxmlformats.org/markup-compatibility/2006">
              <mc:Choice xmlns:v="urn:schemas-microsoft-com:vml" Requires="v">
                <p:oleObj name="Equation" r:id="rId8" imgW="1701720" imgH="190440" progId="Equation.DSMT4">
                  <p:embed/>
                </p:oleObj>
              </mc:Choice>
              <mc:Fallback>
                <p:oleObj name="Equation" r:id="rId8" imgW="1701720" imgH="190440" progId="Equation.DSMT4">
                  <p:embed/>
                  <p:pic>
                    <p:nvPicPr>
                      <p:cNvPr id="12" name="对象 11">
                        <a:extLst>
                          <a:ext uri="{FF2B5EF4-FFF2-40B4-BE49-F238E27FC236}">
                            <a16:creationId xmlns:a16="http://schemas.microsoft.com/office/drawing/2014/main" id="{65C53CB5-1132-4331-8AC5-0BDABBF59C28}"/>
                          </a:ext>
                        </a:extLst>
                      </p:cNvPr>
                      <p:cNvPicPr/>
                      <p:nvPr/>
                    </p:nvPicPr>
                    <p:blipFill>
                      <a:blip r:embed="rId9"/>
                      <a:stretch>
                        <a:fillRect/>
                      </a:stretch>
                    </p:blipFill>
                    <p:spPr>
                      <a:xfrm>
                        <a:off x="1120652" y="5993127"/>
                        <a:ext cx="3616325" cy="404812"/>
                      </a:xfrm>
                      <a:prstGeom prst="rect">
                        <a:avLst/>
                      </a:prstGeom>
                    </p:spPr>
                  </p:pic>
                </p:oleObj>
              </mc:Fallback>
            </mc:AlternateContent>
          </a:graphicData>
        </a:graphic>
      </p:graphicFrame>
      <p:pic>
        <p:nvPicPr>
          <p:cNvPr id="13" name="20 12">
            <a:extLst>
              <a:ext uri="{FF2B5EF4-FFF2-40B4-BE49-F238E27FC236}">
                <a16:creationId xmlns:a16="http://schemas.microsoft.com/office/drawing/2014/main" id="{FDC46B8A-E96D-44BF-8714-A0192FB52402}"/>
              </a:ext>
            </a:extLst>
          </p:cNvPr>
          <p:cNvPicPr>
            <a:picLocks noChangeAspect="1"/>
          </p:cNvPicPr>
          <p:nvPr/>
        </p:nvPicPr>
        <p:blipFill>
          <a:blip r:embed="rId10"/>
          <a:stretch>
            <a:fillRect/>
          </a:stretch>
        </p:blipFill>
        <p:spPr>
          <a:xfrm>
            <a:off x="5385048" y="4216000"/>
            <a:ext cx="3097226" cy="2411920"/>
          </a:xfrm>
          <a:prstGeom prst="rect">
            <a:avLst/>
          </a:prstGeom>
        </p:spPr>
      </p:pic>
    </p:spTree>
    <p:extLst>
      <p:ext uri="{BB962C8B-B14F-4D97-AF65-F5344CB8AC3E}">
        <p14:creationId xmlns:p14="http://schemas.microsoft.com/office/powerpoint/2010/main" val="2076836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barn(inVertical)">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barn(inVertical)">
                                      <p:cBhvr>
                                        <p:cTn id="21" dur="500"/>
                                        <p:tgtEl>
                                          <p:spTgt spid="3">
                                            <p:txEl>
                                              <p:pRg st="2" end="2"/>
                                            </p:txEl>
                                          </p:spTgt>
                                        </p:tgtEl>
                                      </p:cBhvr>
                                    </p:animEffect>
                                  </p:childTnLst>
                                </p:cTn>
                              </p:par>
                            </p:childTnLst>
                          </p:cTn>
                        </p:par>
                        <p:par>
                          <p:cTn id="22" fill="hold">
                            <p:stCondLst>
                              <p:cond delay="500"/>
                            </p:stCondLst>
                            <p:childTnLst>
                              <p:par>
                                <p:cTn id="23" presetID="22" presetClass="entr" presetSubtype="4"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down)">
                                      <p:cBhvr>
                                        <p:cTn id="25" dur="500"/>
                                        <p:tgtEl>
                                          <p:spTgt spid="10"/>
                                        </p:tgtEl>
                                      </p:cBhvr>
                                    </p:animEffect>
                                  </p:childTnLst>
                                </p:cTn>
                              </p:par>
                            </p:childTnLst>
                          </p:cTn>
                        </p:par>
                        <p:par>
                          <p:cTn id="26" fill="hold">
                            <p:stCondLst>
                              <p:cond delay="1000"/>
                            </p:stCondLst>
                            <p:childTnLst>
                              <p:par>
                                <p:cTn id="27" presetID="22" presetClass="entr" presetSubtype="4" fill="hold"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down)">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barn(inVertical)">
                                      <p:cBhvr>
                                        <p:cTn id="34" dur="500"/>
                                        <p:tgtEl>
                                          <p:spTgt spid="3">
                                            <p:txEl>
                                              <p:pRg st="5" end="5"/>
                                            </p:txEl>
                                          </p:spTgt>
                                        </p:tgtEl>
                                      </p:cBhvr>
                                    </p:animEffect>
                                  </p:childTnLst>
                                </p:cTn>
                              </p:par>
                            </p:childTnLst>
                          </p:cTn>
                        </p:par>
                        <p:par>
                          <p:cTn id="35" fill="hold">
                            <p:stCondLst>
                              <p:cond delay="500"/>
                            </p:stCondLst>
                            <p:childTnLst>
                              <p:par>
                                <p:cTn id="36" presetID="22" presetClass="entr" presetSubtype="4" fill="hold"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down)">
                                      <p:cBhvr>
                                        <p:cTn id="3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1B72C-AFB6-406F-9720-7DD8CB2CE3CD}"/>
              </a:ext>
            </a:extLst>
          </p:cNvPr>
          <p:cNvSpPr>
            <a:spLocks noGrp="1"/>
          </p:cNvSpPr>
          <p:nvPr>
            <p:ph type="title"/>
          </p:nvPr>
        </p:nvSpPr>
        <p:spPr/>
        <p:txBody>
          <a:bodyPr/>
          <a:lstStyle/>
          <a:p>
            <a:r>
              <a:rPr lang="zh-CN" altLang="en-US" dirty="0"/>
              <a:t>不等式约束的极值条件</a:t>
            </a:r>
          </a:p>
        </p:txBody>
      </p:sp>
      <p:sp>
        <p:nvSpPr>
          <p:cNvPr id="4" name="日期占位符 3">
            <a:extLst>
              <a:ext uri="{FF2B5EF4-FFF2-40B4-BE49-F238E27FC236}">
                <a16:creationId xmlns:a16="http://schemas.microsoft.com/office/drawing/2014/main" id="{F8AE11FE-7F69-456E-8B05-73FF29B90533}"/>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019077D2-524B-4BE7-B67D-D1B4BD1264F0}"/>
              </a:ext>
            </a:extLst>
          </p:cNvPr>
          <p:cNvSpPr>
            <a:spLocks noGrp="1"/>
          </p:cNvSpPr>
          <p:nvPr>
            <p:ph type="sldNum" sz="quarter" idx="12"/>
          </p:nvPr>
        </p:nvSpPr>
        <p:spPr/>
        <p:txBody>
          <a:bodyPr/>
          <a:lstStyle/>
          <a:p>
            <a:fld id="{7AC79822-BC0D-4DE8-A7E5-90A3732A2B82}" type="slidenum">
              <a:rPr lang="zh-CN" altLang="en-US" smtClean="0"/>
              <a:pPr/>
              <a:t>37</a:t>
            </a:fld>
            <a:endParaRPr lang="en-US" altLang="zh-CN" dirty="0"/>
          </a:p>
        </p:txBody>
      </p:sp>
      <p:graphicFrame>
        <p:nvGraphicFramePr>
          <p:cNvPr id="9" name="对象 8">
            <a:extLst>
              <a:ext uri="{FF2B5EF4-FFF2-40B4-BE49-F238E27FC236}">
                <a16:creationId xmlns:a16="http://schemas.microsoft.com/office/drawing/2014/main" id="{5391E952-1DA3-48F6-841C-E7F91F4511A8}"/>
              </a:ext>
            </a:extLst>
          </p:cNvPr>
          <p:cNvGraphicFramePr>
            <a:graphicFrameLocks noChangeAspect="1"/>
          </p:cNvGraphicFramePr>
          <p:nvPr/>
        </p:nvGraphicFramePr>
        <p:xfrm>
          <a:off x="801688" y="1196975"/>
          <a:ext cx="6510337" cy="2886075"/>
        </p:xfrm>
        <a:graphic>
          <a:graphicData uri="http://schemas.openxmlformats.org/presentationml/2006/ole">
            <mc:AlternateContent xmlns:mc="http://schemas.openxmlformats.org/markup-compatibility/2006">
              <mc:Choice xmlns:v="urn:schemas-microsoft-com:vml" Requires="v">
                <p:oleObj name="Equation" r:id="rId2" imgW="2349360" imgH="1041120" progId="Equation.DSMT4">
                  <p:embed/>
                </p:oleObj>
              </mc:Choice>
              <mc:Fallback>
                <p:oleObj name="Equation" r:id="rId2" imgW="2349360" imgH="1041120" progId="Equation.DSMT4">
                  <p:embed/>
                  <p:pic>
                    <p:nvPicPr>
                      <p:cNvPr id="9" name="对象 8">
                        <a:extLst>
                          <a:ext uri="{FF2B5EF4-FFF2-40B4-BE49-F238E27FC236}">
                            <a16:creationId xmlns:a16="http://schemas.microsoft.com/office/drawing/2014/main" id="{5391E952-1DA3-48F6-841C-E7F91F4511A8}"/>
                          </a:ext>
                        </a:extLst>
                      </p:cNvPr>
                      <p:cNvPicPr/>
                      <p:nvPr/>
                    </p:nvPicPr>
                    <p:blipFill>
                      <a:blip r:embed="rId3"/>
                      <a:stretch>
                        <a:fillRect/>
                      </a:stretch>
                    </p:blipFill>
                    <p:spPr>
                      <a:xfrm>
                        <a:off x="801688" y="1196975"/>
                        <a:ext cx="6510337" cy="2886075"/>
                      </a:xfrm>
                      <a:prstGeom prst="rect">
                        <a:avLst/>
                      </a:prstGeom>
                      <a:ln w="19050">
                        <a:solidFill>
                          <a:srgbClr val="C00000"/>
                        </a:solidFill>
                      </a:ln>
                    </p:spPr>
                  </p:pic>
                </p:oleObj>
              </mc:Fallback>
            </mc:AlternateContent>
          </a:graphicData>
        </a:graphic>
      </p:graphicFrame>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81FB606-0FAE-4207-8FC9-F61E1D048D16}"/>
                  </a:ext>
                </a:extLst>
              </p:cNvPr>
              <p:cNvSpPr txBox="1"/>
              <p:nvPr/>
            </p:nvSpPr>
            <p:spPr>
              <a:xfrm>
                <a:off x="799409" y="4241299"/>
                <a:ext cx="6510336" cy="2031325"/>
              </a:xfrm>
              <a:prstGeom prst="rect">
                <a:avLst/>
              </a:prstGeom>
              <a:noFill/>
            </p:spPr>
            <p:txBody>
              <a:bodyPr wrap="square" rtlCol="0">
                <a:spAutoFit/>
              </a:bodyPr>
              <a:lstStyle/>
              <a:p>
                <a:r>
                  <a:rPr lang="zh-CN" altLang="en-US" dirty="0"/>
                  <a:t>对于任意的</a:t>
                </a:r>
                <a14:m>
                  <m:oMath xmlns:m="http://schemas.openxmlformats.org/officeDocument/2006/math">
                    <m:r>
                      <a:rPr lang="en-US" altLang="zh-CN" i="1" dirty="0" smtClean="0">
                        <a:latin typeface="Cambria Math" panose="02040503050406030204" pitchFamily="18" charset="0"/>
                      </a:rPr>
                      <m:t>𝑢</m:t>
                    </m:r>
                    <m:r>
                      <a:rPr lang="en-US" altLang="zh-CN" i="1" dirty="0" smtClean="0">
                        <a:latin typeface="Cambria Math" panose="02040503050406030204" pitchFamily="18" charset="0"/>
                      </a:rPr>
                      <m:t>=(1,2,..,</m:t>
                    </m:r>
                    <m:r>
                      <a:rPr lang="en-US" altLang="zh-CN" i="1" dirty="0" smtClean="0">
                        <a:latin typeface="Cambria Math" panose="02040503050406030204" pitchFamily="18" charset="0"/>
                      </a:rPr>
                      <m:t>𝑚</m:t>
                    </m:r>
                    <m:r>
                      <a:rPr lang="en-US" altLang="zh-CN" i="1" dirty="0" smtClean="0">
                        <a:latin typeface="Cambria Math" panose="02040503050406030204" pitchFamily="18" charset="0"/>
                      </a:rPr>
                      <m:t>)</m:t>
                    </m:r>
                  </m:oMath>
                </a14:m>
                <a:r>
                  <a:rPr lang="zh-CN" altLang="en-US" dirty="0"/>
                  <a:t>，给定极值点</a:t>
                </a:r>
                <a14:m>
                  <m:oMath xmlns:m="http://schemas.openxmlformats.org/officeDocument/2006/math">
                    <m:r>
                      <a:rPr lang="en-US" altLang="zh-CN" i="1" dirty="0">
                        <a:latin typeface="Cambria Math" panose="02040503050406030204" pitchFamily="18" charset="0"/>
                      </a:rPr>
                      <m:t>𝑋</m:t>
                    </m:r>
                    <m:r>
                      <a:rPr lang="en-US" altLang="zh-CN" i="1" baseline="30000" dirty="0">
                        <a:latin typeface="Cambria Math" panose="02040503050406030204" pitchFamily="18" charset="0"/>
                        <a:ea typeface="Cambria Math" panose="02040503050406030204" pitchFamily="18" charset="0"/>
                      </a:rPr>
                      <m:t>∗</m:t>
                    </m:r>
                  </m:oMath>
                </a14:m>
                <a:endParaRPr lang="en-US" altLang="zh-CN" dirty="0"/>
              </a:p>
              <a:p>
                <a:pPr marL="342900" indent="-342900">
                  <a:buFont typeface="+mj-ea"/>
                  <a:buAutoNum type="circleNumDbPlain" startAt="3"/>
                </a:pPr>
                <a:r>
                  <a:rPr lang="zh-CN" altLang="en-US" dirty="0"/>
                  <a:t>当</a:t>
                </a:r>
                <a14:m>
                  <m:oMath xmlns:m="http://schemas.openxmlformats.org/officeDocument/2006/math">
                    <m:r>
                      <a:rPr lang="zh-CN" altLang="en-US" i="1" dirty="0" smtClean="0">
                        <a:latin typeface="Cambria Math" panose="02040503050406030204" pitchFamily="18" charset="0"/>
                      </a:rPr>
                      <m:t>𝜆</m:t>
                    </m:r>
                    <m:r>
                      <a:rPr lang="en-US" altLang="zh-CN" b="0" i="1" baseline="-25000" dirty="0" smtClean="0">
                        <a:latin typeface="Cambria Math" panose="02040503050406030204" pitchFamily="18" charset="0"/>
                      </a:rPr>
                      <m:t>𝑢</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rPr>
                      <m:t>0</m:t>
                    </m:r>
                  </m:oMath>
                </a14:m>
                <a:r>
                  <a:rPr lang="zh-CN" altLang="en-US" dirty="0"/>
                  <a:t>时</a:t>
                </a:r>
                <a:r>
                  <a:rPr lang="en-US" altLang="zh-CN" dirty="0"/>
                  <a:t>:</a:t>
                </a:r>
              </a:p>
              <a:p>
                <a:pPr marL="342900" indent="-342900">
                  <a:buFont typeface="+mj-lt"/>
                  <a:buAutoNum type="alphaLcParenR"/>
                </a:pPr>
                <a:r>
                  <a:rPr lang="zh-CN" altLang="en-US" dirty="0"/>
                  <a:t>根据公式</a:t>
                </a:r>
                <a:r>
                  <a:rPr lang="en-US" altLang="zh-CN" dirty="0"/>
                  <a:t>(3)</a:t>
                </a:r>
              </a:p>
              <a:p>
                <a:pPr marL="342900" indent="-342900">
                  <a:buFont typeface="+mj-lt"/>
                  <a:buAutoNum type="alphaLcParenR"/>
                </a:pPr>
                <a:endParaRPr lang="en-US" altLang="zh-CN" dirty="0"/>
              </a:p>
              <a:p>
                <a:pPr marL="342900" indent="-342900">
                  <a:buFont typeface="+mj-lt"/>
                  <a:buAutoNum type="alphaLcParenR"/>
                </a:pPr>
                <a:endParaRPr lang="en-US" altLang="zh-CN" dirty="0"/>
              </a:p>
              <a:p>
                <a:pPr marL="342900" indent="-342900">
                  <a:buFont typeface="+mj-lt"/>
                  <a:buAutoNum type="alphaLcParenR"/>
                </a:pPr>
                <a:r>
                  <a:rPr lang="zh-CN" altLang="en-US" dirty="0"/>
                  <a:t>根据公式</a:t>
                </a:r>
                <a:r>
                  <a:rPr lang="en-US" altLang="zh-CN" dirty="0"/>
                  <a:t>(2)</a:t>
                </a:r>
              </a:p>
              <a:p>
                <a:pPr marL="342900" indent="-342900">
                  <a:buFont typeface="+mj-lt"/>
                  <a:buAutoNum type="alphaLcParenR"/>
                </a:pPr>
                <a:endParaRPr lang="zh-CN" altLang="en-US" dirty="0"/>
              </a:p>
            </p:txBody>
          </p:sp>
        </mc:Choice>
        <mc:Fallback xmlns="">
          <p:sp>
            <p:nvSpPr>
              <p:cNvPr id="3" name="文本框 2">
                <a:extLst>
                  <a:ext uri="{FF2B5EF4-FFF2-40B4-BE49-F238E27FC236}">
                    <a16:creationId xmlns:a16="http://schemas.microsoft.com/office/drawing/2014/main" id="{281FB606-0FAE-4207-8FC9-F61E1D048D16}"/>
                  </a:ext>
                </a:extLst>
              </p:cNvPr>
              <p:cNvSpPr txBox="1">
                <a:spLocks noRot="1" noChangeAspect="1" noMove="1" noResize="1" noEditPoints="1" noAdjustHandles="1" noChangeArrowheads="1" noChangeShapeType="1" noTextEdit="1"/>
              </p:cNvSpPr>
              <p:nvPr/>
            </p:nvSpPr>
            <p:spPr>
              <a:xfrm>
                <a:off x="799409" y="4241299"/>
                <a:ext cx="6510336" cy="2031325"/>
              </a:xfrm>
              <a:prstGeom prst="rect">
                <a:avLst/>
              </a:prstGeom>
              <a:blipFill>
                <a:blip r:embed="rId5"/>
                <a:stretch>
                  <a:fillRect l="-936" t="-1802"/>
                </a:stretch>
              </a:blipFill>
            </p:spPr>
            <p:txBody>
              <a:bodyPr/>
              <a:lstStyle/>
              <a:p>
                <a:r>
                  <a:rPr lang="zh-CN" altLang="en-US">
                    <a:noFill/>
                  </a:rPr>
                  <a:t> </a:t>
                </a:r>
              </a:p>
            </p:txBody>
          </p:sp>
        </mc:Fallback>
      </mc:AlternateContent>
      <p:graphicFrame>
        <p:nvGraphicFramePr>
          <p:cNvPr id="10" name="对象 9">
            <a:extLst>
              <a:ext uri="{FF2B5EF4-FFF2-40B4-BE49-F238E27FC236}">
                <a16:creationId xmlns:a16="http://schemas.microsoft.com/office/drawing/2014/main" id="{AEC044D0-4F29-474F-982F-C443ACE4ADEB}"/>
              </a:ext>
            </a:extLst>
          </p:cNvPr>
          <p:cNvGraphicFramePr>
            <a:graphicFrameLocks noChangeAspect="1"/>
          </p:cNvGraphicFramePr>
          <p:nvPr>
            <p:extLst>
              <p:ext uri="{D42A27DB-BD31-4B8C-83A1-F6EECF244321}">
                <p14:modId xmlns:p14="http://schemas.microsoft.com/office/powerpoint/2010/main" val="1269426112"/>
              </p:ext>
            </p:extLst>
          </p:nvPr>
        </p:nvGraphicFramePr>
        <p:xfrm>
          <a:off x="1208584" y="5132692"/>
          <a:ext cx="945718" cy="413752"/>
        </p:xfrm>
        <a:graphic>
          <a:graphicData uri="http://schemas.openxmlformats.org/presentationml/2006/ole">
            <mc:AlternateContent xmlns:mc="http://schemas.openxmlformats.org/markup-compatibility/2006">
              <mc:Choice xmlns:v="urn:schemas-microsoft-com:vml" Requires="v">
                <p:oleObj name="Equation" r:id="rId6" imgW="406080" imgH="177480" progId="Equation.DSMT4">
                  <p:embed/>
                </p:oleObj>
              </mc:Choice>
              <mc:Fallback>
                <p:oleObj name="Equation" r:id="rId6" imgW="406080" imgH="177480" progId="Equation.DSMT4">
                  <p:embed/>
                  <p:pic>
                    <p:nvPicPr>
                      <p:cNvPr id="10" name="对象 9">
                        <a:extLst>
                          <a:ext uri="{FF2B5EF4-FFF2-40B4-BE49-F238E27FC236}">
                            <a16:creationId xmlns:a16="http://schemas.microsoft.com/office/drawing/2014/main" id="{AEC044D0-4F29-474F-982F-C443ACE4ADEB}"/>
                          </a:ext>
                        </a:extLst>
                      </p:cNvPr>
                      <p:cNvPicPr/>
                      <p:nvPr/>
                    </p:nvPicPr>
                    <p:blipFill>
                      <a:blip r:embed="rId7"/>
                      <a:stretch>
                        <a:fillRect/>
                      </a:stretch>
                    </p:blipFill>
                    <p:spPr>
                      <a:xfrm>
                        <a:off x="1208584" y="5132692"/>
                        <a:ext cx="945718" cy="413752"/>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64F7607E-1DCD-42C7-AB55-21D96FF16369}"/>
              </a:ext>
            </a:extLst>
          </p:cNvPr>
          <p:cNvGraphicFramePr>
            <a:graphicFrameLocks noChangeAspect="1"/>
          </p:cNvGraphicFramePr>
          <p:nvPr>
            <p:extLst>
              <p:ext uri="{D42A27DB-BD31-4B8C-83A1-F6EECF244321}">
                <p14:modId xmlns:p14="http://schemas.microsoft.com/office/powerpoint/2010/main" val="297533341"/>
              </p:ext>
            </p:extLst>
          </p:nvPr>
        </p:nvGraphicFramePr>
        <p:xfrm>
          <a:off x="1147763" y="5992813"/>
          <a:ext cx="3562350" cy="404812"/>
        </p:xfrm>
        <a:graphic>
          <a:graphicData uri="http://schemas.openxmlformats.org/presentationml/2006/ole">
            <mc:AlternateContent xmlns:mc="http://schemas.openxmlformats.org/markup-compatibility/2006">
              <mc:Choice xmlns:v="urn:schemas-microsoft-com:vml" Requires="v">
                <p:oleObj name="Equation" r:id="rId8" imgW="1676160" imgH="190440" progId="Equation.DSMT4">
                  <p:embed/>
                </p:oleObj>
              </mc:Choice>
              <mc:Fallback>
                <p:oleObj name="Equation" r:id="rId8" imgW="1676160" imgH="190440" progId="Equation.DSMT4">
                  <p:embed/>
                  <p:pic>
                    <p:nvPicPr>
                      <p:cNvPr id="11" name="对象 10">
                        <a:extLst>
                          <a:ext uri="{FF2B5EF4-FFF2-40B4-BE49-F238E27FC236}">
                            <a16:creationId xmlns:a16="http://schemas.microsoft.com/office/drawing/2014/main" id="{64F7607E-1DCD-42C7-AB55-21D96FF16369}"/>
                          </a:ext>
                        </a:extLst>
                      </p:cNvPr>
                      <p:cNvPicPr/>
                      <p:nvPr/>
                    </p:nvPicPr>
                    <p:blipFill>
                      <a:blip r:embed="rId9"/>
                      <a:stretch>
                        <a:fillRect/>
                      </a:stretch>
                    </p:blipFill>
                    <p:spPr>
                      <a:xfrm>
                        <a:off x="1147763" y="5992813"/>
                        <a:ext cx="3562350" cy="404812"/>
                      </a:xfrm>
                      <a:prstGeom prst="rect">
                        <a:avLst/>
                      </a:prstGeom>
                    </p:spPr>
                  </p:pic>
                </p:oleObj>
              </mc:Fallback>
            </mc:AlternateContent>
          </a:graphicData>
        </a:graphic>
      </p:graphicFrame>
      <p:pic>
        <p:nvPicPr>
          <p:cNvPr id="7" name="20 6">
            <a:extLst>
              <a:ext uri="{FF2B5EF4-FFF2-40B4-BE49-F238E27FC236}">
                <a16:creationId xmlns:a16="http://schemas.microsoft.com/office/drawing/2014/main" id="{85ADEF55-C6E5-4621-A230-3DAA3BAB3196}"/>
              </a:ext>
            </a:extLst>
          </p:cNvPr>
          <p:cNvPicPr>
            <a:picLocks noChangeAspect="1"/>
          </p:cNvPicPr>
          <p:nvPr/>
        </p:nvPicPr>
        <p:blipFill>
          <a:blip r:embed="rId10"/>
          <a:stretch>
            <a:fillRect/>
          </a:stretch>
        </p:blipFill>
        <p:spPr>
          <a:xfrm>
            <a:off x="5457056" y="4288917"/>
            <a:ext cx="2747191" cy="2147509"/>
          </a:xfrm>
          <a:prstGeom prst="rect">
            <a:avLst/>
          </a:prstGeom>
        </p:spPr>
      </p:pic>
      <p:sp>
        <p:nvSpPr>
          <p:cNvPr id="8" name="矩形 7">
            <a:extLst>
              <a:ext uri="{FF2B5EF4-FFF2-40B4-BE49-F238E27FC236}">
                <a16:creationId xmlns:a16="http://schemas.microsoft.com/office/drawing/2014/main" id="{E93D2B5B-6950-4FB4-97F8-06CAA4764A0D}"/>
              </a:ext>
            </a:extLst>
          </p:cNvPr>
          <p:cNvSpPr/>
          <p:nvPr/>
        </p:nvSpPr>
        <p:spPr bwMode="auto">
          <a:xfrm>
            <a:off x="799409" y="1232887"/>
            <a:ext cx="6247314" cy="882474"/>
          </a:xfrm>
          <a:prstGeom prst="rect">
            <a:avLst/>
          </a:prstGeom>
          <a:noFill/>
          <a:ln w="28575" cap="flat" cmpd="sng" algn="ctr">
            <a:solidFill>
              <a:srgbClr val="0000FF"/>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285146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barn(inVertical)">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barn(inVertical)">
                                      <p:cBhvr>
                                        <p:cTn id="21" dur="500"/>
                                        <p:tgtEl>
                                          <p:spTgt spid="3">
                                            <p:txEl>
                                              <p:pRg st="2" end="2"/>
                                            </p:txEl>
                                          </p:spTgt>
                                        </p:tgtEl>
                                      </p:cBhvr>
                                    </p:animEffect>
                                  </p:childTnLst>
                                </p:cTn>
                              </p:par>
                            </p:childTnLst>
                          </p:cTn>
                        </p:par>
                        <p:par>
                          <p:cTn id="22" fill="hold">
                            <p:stCondLst>
                              <p:cond delay="500"/>
                            </p:stCondLst>
                            <p:childTnLst>
                              <p:par>
                                <p:cTn id="23" presetID="22" presetClass="entr" presetSubtype="4"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down)">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barn(inVertical)">
                                      <p:cBhvr>
                                        <p:cTn id="30" dur="500"/>
                                        <p:tgtEl>
                                          <p:spTgt spid="3">
                                            <p:txEl>
                                              <p:pRg st="5" end="5"/>
                                            </p:txEl>
                                          </p:spTgt>
                                        </p:tgtEl>
                                      </p:cBhvr>
                                    </p:animEffect>
                                  </p:childTnLst>
                                </p:cTn>
                              </p:par>
                            </p:childTnLst>
                          </p:cTn>
                        </p:par>
                        <p:par>
                          <p:cTn id="31" fill="hold">
                            <p:stCondLst>
                              <p:cond delay="500"/>
                            </p:stCondLst>
                            <p:childTnLst>
                              <p:par>
                                <p:cTn id="32" presetID="22" presetClass="entr" presetSubtype="4"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down)">
                                      <p:cBhvr>
                                        <p:cTn id="34" dur="500"/>
                                        <p:tgtEl>
                                          <p:spTgt spid="11"/>
                                        </p:tgtEl>
                                      </p:cBhvr>
                                    </p:animEffect>
                                  </p:childTnLst>
                                </p:cTn>
                              </p:par>
                            </p:childTnLst>
                          </p:cTn>
                        </p:par>
                        <p:par>
                          <p:cTn id="35" fill="hold">
                            <p:stCondLst>
                              <p:cond delay="1000"/>
                            </p:stCondLst>
                            <p:childTnLst>
                              <p:par>
                                <p:cTn id="36" presetID="16" presetClass="entr" presetSubtype="21" fill="hold" nodeType="after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barn(inVertical)">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1000"/>
                                        <p:tgtEl>
                                          <p:spTgt spid="8"/>
                                        </p:tgtEl>
                                      </p:cBhvr>
                                    </p:animEffect>
                                    <p:anim calcmode="lin" valueType="num">
                                      <p:cBhvr>
                                        <p:cTn id="44" dur="1000" fill="hold"/>
                                        <p:tgtEl>
                                          <p:spTgt spid="8"/>
                                        </p:tgtEl>
                                        <p:attrNameLst>
                                          <p:attrName>ppt_x</p:attrName>
                                        </p:attrNameLst>
                                      </p:cBhvr>
                                      <p:tavLst>
                                        <p:tav tm="0">
                                          <p:val>
                                            <p:strVal val="#ppt_x"/>
                                          </p:val>
                                        </p:tav>
                                        <p:tav tm="100000">
                                          <p:val>
                                            <p:strVal val="#ppt_x"/>
                                          </p:val>
                                        </p:tav>
                                      </p:tavLst>
                                    </p:anim>
                                    <p:anim calcmode="lin" valueType="num">
                                      <p:cBhvr>
                                        <p:cTn id="4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EA2C99-9BC0-4E56-8538-46FB27509A77}"/>
              </a:ext>
            </a:extLst>
          </p:cNvPr>
          <p:cNvSpPr>
            <a:spLocks noGrp="1"/>
          </p:cNvSpPr>
          <p:nvPr>
            <p:ph type="title"/>
          </p:nvPr>
        </p:nvSpPr>
        <p:spPr/>
        <p:txBody>
          <a:bodyPr/>
          <a:lstStyle/>
          <a:p>
            <a:r>
              <a:rPr lang="zh-CN" altLang="en-US" dirty="0"/>
              <a:t>不等式约束的极值条件</a:t>
            </a:r>
          </a:p>
        </p:txBody>
      </p:sp>
      <p:sp>
        <p:nvSpPr>
          <p:cNvPr id="3" name="内容占位符 2">
            <a:extLst>
              <a:ext uri="{FF2B5EF4-FFF2-40B4-BE49-F238E27FC236}">
                <a16:creationId xmlns:a16="http://schemas.microsoft.com/office/drawing/2014/main" id="{8AA05613-1EAE-45AE-94AA-6DF18A223575}"/>
              </a:ext>
            </a:extLst>
          </p:cNvPr>
          <p:cNvSpPr>
            <a:spLocks noGrp="1"/>
          </p:cNvSpPr>
          <p:nvPr>
            <p:ph idx="1"/>
          </p:nvPr>
        </p:nvSpPr>
        <p:spPr/>
        <p:txBody>
          <a:bodyPr/>
          <a:lstStyle/>
          <a:p>
            <a:r>
              <a:rPr lang="en-US" altLang="zh-CN" dirty="0"/>
              <a:t>K-T</a:t>
            </a:r>
            <a:r>
              <a:rPr lang="zh-CN" altLang="en-US" dirty="0"/>
              <a:t>条件</a:t>
            </a:r>
            <a:endParaRPr lang="en-US" altLang="zh-CN" dirty="0"/>
          </a:p>
          <a:p>
            <a:pPr lvl="1"/>
            <a:r>
              <a:rPr lang="zh-CN" altLang="en-US" dirty="0"/>
              <a:t>对于不等式约束问题：</a:t>
            </a:r>
            <a:endParaRPr lang="en-US" altLang="zh-CN" dirty="0"/>
          </a:p>
          <a:p>
            <a:pPr lvl="1"/>
            <a:endParaRPr lang="zh-CN" altLang="en-US" dirty="0"/>
          </a:p>
        </p:txBody>
      </p:sp>
      <p:sp>
        <p:nvSpPr>
          <p:cNvPr id="4" name="日期占位符 3">
            <a:extLst>
              <a:ext uri="{FF2B5EF4-FFF2-40B4-BE49-F238E27FC236}">
                <a16:creationId xmlns:a16="http://schemas.microsoft.com/office/drawing/2014/main" id="{FC843B91-7162-4FB9-98AF-71870952EA6B}"/>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65EA93F0-513C-4797-BD53-FE64187A7876}"/>
              </a:ext>
            </a:extLst>
          </p:cNvPr>
          <p:cNvSpPr>
            <a:spLocks noGrp="1"/>
          </p:cNvSpPr>
          <p:nvPr>
            <p:ph type="sldNum" sz="quarter" idx="12"/>
          </p:nvPr>
        </p:nvSpPr>
        <p:spPr/>
        <p:txBody>
          <a:bodyPr/>
          <a:lstStyle/>
          <a:p>
            <a:fld id="{7AC79822-BC0D-4DE8-A7E5-90A3732A2B82}" type="slidenum">
              <a:rPr lang="zh-CN" altLang="en-US" smtClean="0"/>
              <a:pPr/>
              <a:t>38</a:t>
            </a:fld>
            <a:endParaRPr lang="en-US" altLang="zh-CN" dirty="0"/>
          </a:p>
        </p:txBody>
      </p:sp>
      <p:graphicFrame>
        <p:nvGraphicFramePr>
          <p:cNvPr id="6" name="对象 5">
            <a:extLst>
              <a:ext uri="{FF2B5EF4-FFF2-40B4-BE49-F238E27FC236}">
                <a16:creationId xmlns:a16="http://schemas.microsoft.com/office/drawing/2014/main" id="{9F0A797D-2162-4ADF-951B-E5FA4BD513CA}"/>
              </a:ext>
            </a:extLst>
          </p:cNvPr>
          <p:cNvGraphicFramePr>
            <a:graphicFrameLocks noChangeAspect="1"/>
          </p:cNvGraphicFramePr>
          <p:nvPr>
            <p:extLst>
              <p:ext uri="{D42A27DB-BD31-4B8C-83A1-F6EECF244321}">
                <p14:modId xmlns:p14="http://schemas.microsoft.com/office/powerpoint/2010/main" val="2924784791"/>
              </p:ext>
            </p:extLst>
          </p:nvPr>
        </p:nvGraphicFramePr>
        <p:xfrm>
          <a:off x="1856655" y="4456745"/>
          <a:ext cx="4731618" cy="860294"/>
        </p:xfrm>
        <a:graphic>
          <a:graphicData uri="http://schemas.openxmlformats.org/presentationml/2006/ole">
            <mc:AlternateContent xmlns:mc="http://schemas.openxmlformats.org/markup-compatibility/2006">
              <mc:Choice xmlns:v="urn:schemas-microsoft-com:vml" Requires="v">
                <p:oleObj name="Equation" r:id="rId2" imgW="1676160" imgH="304560" progId="Equation.DSMT4">
                  <p:embed/>
                </p:oleObj>
              </mc:Choice>
              <mc:Fallback>
                <p:oleObj name="Equation" r:id="rId2" imgW="1676160" imgH="304560" progId="Equation.DSMT4">
                  <p:embed/>
                  <p:pic>
                    <p:nvPicPr>
                      <p:cNvPr id="9" name="对象 8">
                        <a:extLst>
                          <a:ext uri="{FF2B5EF4-FFF2-40B4-BE49-F238E27FC236}">
                            <a16:creationId xmlns:a16="http://schemas.microsoft.com/office/drawing/2014/main" id="{5391E952-1DA3-48F6-841C-E7F91F4511A8}"/>
                          </a:ext>
                        </a:extLst>
                      </p:cNvPr>
                      <p:cNvPicPr/>
                      <p:nvPr/>
                    </p:nvPicPr>
                    <p:blipFill>
                      <a:blip r:embed="rId3"/>
                      <a:stretch>
                        <a:fillRect/>
                      </a:stretch>
                    </p:blipFill>
                    <p:spPr>
                      <a:xfrm>
                        <a:off x="1856655" y="4456745"/>
                        <a:ext cx="4731618" cy="860294"/>
                      </a:xfrm>
                      <a:prstGeom prst="rect">
                        <a:avLst/>
                      </a:prstGeom>
                      <a:ln w="19050">
                        <a:solidFill>
                          <a:srgbClr val="C00000"/>
                        </a:solidFill>
                      </a:ln>
                    </p:spPr>
                  </p:pic>
                </p:oleObj>
              </mc:Fallback>
            </mc:AlternateContent>
          </a:graphicData>
        </a:graphic>
      </p:graphicFrame>
      <p:graphicFrame>
        <p:nvGraphicFramePr>
          <p:cNvPr id="7" name="对象 6">
            <a:extLst>
              <a:ext uri="{FF2B5EF4-FFF2-40B4-BE49-F238E27FC236}">
                <a16:creationId xmlns:a16="http://schemas.microsoft.com/office/drawing/2014/main" id="{03554A66-0A4F-41E6-A206-BCE1A9BCA118}"/>
              </a:ext>
            </a:extLst>
          </p:cNvPr>
          <p:cNvGraphicFramePr>
            <a:graphicFrameLocks noChangeAspect="1"/>
          </p:cNvGraphicFramePr>
          <p:nvPr>
            <p:extLst>
              <p:ext uri="{D42A27DB-BD31-4B8C-83A1-F6EECF244321}">
                <p14:modId xmlns:p14="http://schemas.microsoft.com/office/powerpoint/2010/main" val="2127399759"/>
              </p:ext>
            </p:extLst>
          </p:nvPr>
        </p:nvGraphicFramePr>
        <p:xfrm>
          <a:off x="1608646" y="2552546"/>
          <a:ext cx="5227637" cy="1276350"/>
        </p:xfrm>
        <a:graphic>
          <a:graphicData uri="http://schemas.openxmlformats.org/presentationml/2006/ole">
            <mc:AlternateContent xmlns:mc="http://schemas.openxmlformats.org/markup-compatibility/2006">
              <mc:Choice xmlns:v="urn:schemas-microsoft-com:vml" Requires="v">
                <p:oleObj name="Equation" r:id="rId4" imgW="1562040" imgH="380880" progId="Equation.DSMT4">
                  <p:embed/>
                </p:oleObj>
              </mc:Choice>
              <mc:Fallback>
                <p:oleObj name="Equation" r:id="rId4" imgW="1562040" imgH="380880" progId="Equation.DSMT4">
                  <p:embed/>
                  <p:pic>
                    <p:nvPicPr>
                      <p:cNvPr id="6" name="对象 5">
                        <a:extLst>
                          <a:ext uri="{FF2B5EF4-FFF2-40B4-BE49-F238E27FC236}">
                            <a16:creationId xmlns:a16="http://schemas.microsoft.com/office/drawing/2014/main" id="{D9DB99CD-74BA-4299-B979-B0AFE2ADE4C0}"/>
                          </a:ext>
                        </a:extLst>
                      </p:cNvPr>
                      <p:cNvPicPr/>
                      <p:nvPr/>
                    </p:nvPicPr>
                    <p:blipFill>
                      <a:blip r:embed="rId5"/>
                      <a:stretch>
                        <a:fillRect/>
                      </a:stretch>
                    </p:blipFill>
                    <p:spPr>
                      <a:xfrm>
                        <a:off x="1608646" y="2552546"/>
                        <a:ext cx="5227637" cy="1276350"/>
                      </a:xfrm>
                      <a:prstGeom prst="rect">
                        <a:avLst/>
                      </a:prstGeom>
                    </p:spPr>
                  </p:pic>
                </p:oleObj>
              </mc:Fallback>
            </mc:AlternateContent>
          </a:graphicData>
        </a:graphic>
      </p:graphicFrame>
      <p:sp>
        <p:nvSpPr>
          <p:cNvPr id="8" name="文本框 7">
            <a:extLst>
              <a:ext uri="{FF2B5EF4-FFF2-40B4-BE49-F238E27FC236}">
                <a16:creationId xmlns:a16="http://schemas.microsoft.com/office/drawing/2014/main" id="{AEF0518C-2354-4CF1-8E3C-53600F5D5A31}"/>
              </a:ext>
            </a:extLst>
          </p:cNvPr>
          <p:cNvSpPr txBox="1"/>
          <p:nvPr/>
        </p:nvSpPr>
        <p:spPr>
          <a:xfrm>
            <a:off x="808932" y="3883384"/>
            <a:ext cx="2954655" cy="461665"/>
          </a:xfrm>
          <a:prstGeom prst="rect">
            <a:avLst/>
          </a:prstGeom>
          <a:noFill/>
        </p:spPr>
        <p:txBody>
          <a:bodyPr wrap="none" rtlCol="0">
            <a:spAutoFit/>
          </a:bodyPr>
          <a:lstStyle/>
          <a:p>
            <a:r>
              <a:rPr lang="zh-CN" altLang="en-US" sz="2400" dirty="0"/>
              <a:t>极值的必要条件为：</a:t>
            </a:r>
          </a:p>
        </p:txBody>
      </p:sp>
      <p:sp>
        <p:nvSpPr>
          <p:cNvPr id="9" name="文本框 8">
            <a:extLst>
              <a:ext uri="{FF2B5EF4-FFF2-40B4-BE49-F238E27FC236}">
                <a16:creationId xmlns:a16="http://schemas.microsoft.com/office/drawing/2014/main" id="{79144188-4EB0-415F-AEA4-AFBF001D1708}"/>
              </a:ext>
            </a:extLst>
          </p:cNvPr>
          <p:cNvSpPr txBox="1"/>
          <p:nvPr/>
        </p:nvSpPr>
        <p:spPr>
          <a:xfrm>
            <a:off x="810928" y="5536561"/>
            <a:ext cx="7160743" cy="461665"/>
          </a:xfrm>
          <a:prstGeom prst="rect">
            <a:avLst/>
          </a:prstGeom>
          <a:noFill/>
        </p:spPr>
        <p:txBody>
          <a:bodyPr wrap="none" rtlCol="0">
            <a:spAutoFit/>
          </a:bodyPr>
          <a:lstStyle/>
          <a:p>
            <a:r>
              <a:rPr lang="zh-CN" altLang="en-US" sz="2400" dirty="0"/>
              <a:t>称为库恩</a:t>
            </a:r>
            <a:r>
              <a:rPr lang="en-US" altLang="zh-CN" sz="2400" dirty="0"/>
              <a:t>-</a:t>
            </a:r>
            <a:r>
              <a:rPr lang="zh-CN" altLang="en-US" sz="2400" dirty="0"/>
              <a:t>塔克（</a:t>
            </a:r>
            <a:r>
              <a:rPr lang="en-US" altLang="zh-CN" sz="2400" dirty="0"/>
              <a:t>Kuhn-Tucker</a:t>
            </a:r>
            <a:r>
              <a:rPr lang="zh-CN" altLang="en-US" sz="2400" dirty="0"/>
              <a:t>）条件，简称</a:t>
            </a:r>
            <a:r>
              <a:rPr lang="en-US" altLang="zh-CN" sz="2400" dirty="0"/>
              <a:t>K-T</a:t>
            </a:r>
            <a:r>
              <a:rPr lang="zh-CN" altLang="en-US" sz="2400" dirty="0"/>
              <a:t>条件</a:t>
            </a:r>
          </a:p>
        </p:txBody>
      </p:sp>
      <p:sp>
        <p:nvSpPr>
          <p:cNvPr id="11" name="思想气泡: 云 10">
            <a:extLst>
              <a:ext uri="{FF2B5EF4-FFF2-40B4-BE49-F238E27FC236}">
                <a16:creationId xmlns:a16="http://schemas.microsoft.com/office/drawing/2014/main" id="{277EAB5E-581C-404E-B09E-62F00C7BA219}"/>
              </a:ext>
            </a:extLst>
          </p:cNvPr>
          <p:cNvSpPr/>
          <p:nvPr/>
        </p:nvSpPr>
        <p:spPr bwMode="auto">
          <a:xfrm>
            <a:off x="4961254" y="1114480"/>
            <a:ext cx="4536504" cy="1738456"/>
          </a:xfrm>
          <a:prstGeom prst="cloudCallout">
            <a:avLst>
              <a:gd name="adj1" fmla="val -51643"/>
              <a:gd name="adj2" fmla="val 132315"/>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dirty="0">
                <a:ln>
                  <a:noFill/>
                </a:ln>
                <a:solidFill>
                  <a:srgbClr val="C00000"/>
                </a:solidFill>
                <a:effectLst/>
                <a:latin typeface="Arial" charset="0"/>
              </a:rPr>
              <a:t>如果能够证明一个不等式约束问题是一个</a:t>
            </a:r>
            <a:r>
              <a:rPr kumimoji="0" lang="zh-CN" altLang="en-US" sz="2000" b="0" i="0" u="none" strike="noStrike" cap="none" normalizeH="0" baseline="0" dirty="0">
                <a:ln>
                  <a:noFill/>
                </a:ln>
                <a:solidFill>
                  <a:srgbClr val="0000FF"/>
                </a:solidFill>
                <a:effectLst/>
                <a:latin typeface="Arial" charset="0"/>
              </a:rPr>
              <a:t>凸规划</a:t>
            </a:r>
            <a:r>
              <a:rPr kumimoji="0" lang="zh-CN" altLang="en-US" sz="2000" b="0" i="0" u="none" strike="noStrike" cap="none" normalizeH="0" baseline="0" dirty="0">
                <a:ln>
                  <a:noFill/>
                </a:ln>
                <a:solidFill>
                  <a:srgbClr val="C00000"/>
                </a:solidFill>
                <a:effectLst/>
                <a:latin typeface="Arial" charset="0"/>
              </a:rPr>
              <a:t>，那么</a:t>
            </a:r>
            <a:r>
              <a:rPr kumimoji="0" lang="en-US" altLang="zh-CN" sz="2000" b="0" i="0" u="none" strike="noStrike" cap="none" normalizeH="0" baseline="0" dirty="0">
                <a:ln>
                  <a:noFill/>
                </a:ln>
                <a:solidFill>
                  <a:srgbClr val="C00000"/>
                </a:solidFill>
                <a:effectLst/>
                <a:latin typeface="Arial" charset="0"/>
              </a:rPr>
              <a:t>K-T</a:t>
            </a:r>
            <a:r>
              <a:rPr kumimoji="0" lang="zh-CN" altLang="en-US" sz="2000" b="0" i="0" u="none" strike="noStrike" cap="none" normalizeH="0" baseline="0" dirty="0">
                <a:ln>
                  <a:noFill/>
                </a:ln>
                <a:solidFill>
                  <a:srgbClr val="C00000"/>
                </a:solidFill>
                <a:effectLst/>
                <a:latin typeface="Arial" charset="0"/>
              </a:rPr>
              <a:t>条件就是极值的</a:t>
            </a:r>
            <a:r>
              <a:rPr kumimoji="0" lang="zh-CN" altLang="en-US" sz="2000" b="0" i="0" u="none" strike="noStrike" cap="none" normalizeH="0" baseline="0" dirty="0">
                <a:ln>
                  <a:noFill/>
                </a:ln>
                <a:solidFill>
                  <a:srgbClr val="0000FF"/>
                </a:solidFill>
                <a:effectLst/>
                <a:latin typeface="Arial" charset="0"/>
              </a:rPr>
              <a:t>充分必要条件</a:t>
            </a:r>
          </a:p>
        </p:txBody>
      </p:sp>
    </p:spTree>
    <p:extLst>
      <p:ext uri="{BB962C8B-B14F-4D97-AF65-F5344CB8AC3E}">
        <p14:creationId xmlns:p14="http://schemas.microsoft.com/office/powerpoint/2010/main" val="217508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000"/>
                            </p:stCondLst>
                            <p:childTnLst>
                              <p:par>
                                <p:cTn id="5" presetID="16" presetClass="entr" presetSubtype="2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par>
                          <p:cTn id="8" fill="hold">
                            <p:stCondLst>
                              <p:cond delay="2000"/>
                            </p:stCondLst>
                            <p:childTnLst>
                              <p:par>
                                <p:cTn id="9" presetID="22" presetClass="entr" presetSubtype="4"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down)">
                                      <p:cBhvr>
                                        <p:cTn id="11" dur="500"/>
                                        <p:tgtEl>
                                          <p:spTgt spid="8"/>
                                        </p:tgtEl>
                                      </p:cBhvr>
                                    </p:animEffect>
                                  </p:childTnLst>
                                </p:cTn>
                              </p:par>
                            </p:childTnLst>
                          </p:cTn>
                        </p:par>
                        <p:par>
                          <p:cTn id="12" fill="hold">
                            <p:stCondLst>
                              <p:cond delay="2500"/>
                            </p:stCondLst>
                            <p:childTnLst>
                              <p:par>
                                <p:cTn id="13" presetID="16" presetClass="entr" presetSubtype="21"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arn(inVertical)">
                                      <p:cBhvr>
                                        <p:cTn id="15" dur="500"/>
                                        <p:tgtEl>
                                          <p:spTgt spid="6"/>
                                        </p:tgtEl>
                                      </p:cBhvr>
                                    </p:animEffect>
                                  </p:childTnLst>
                                </p:cTn>
                              </p:par>
                            </p:childTnLst>
                          </p:cTn>
                        </p:par>
                        <p:par>
                          <p:cTn id="16" fill="hold">
                            <p:stCondLst>
                              <p:cond delay="3000"/>
                            </p:stCondLst>
                            <p:childTnLst>
                              <p:par>
                                <p:cTn id="17" presetID="22" presetClass="entr" presetSubtype="4"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down)">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207DE6-5FB8-4D8C-85C2-687B849136D0}"/>
              </a:ext>
            </a:extLst>
          </p:cNvPr>
          <p:cNvSpPr>
            <a:spLocks noGrp="1"/>
          </p:cNvSpPr>
          <p:nvPr>
            <p:ph type="title"/>
          </p:nvPr>
        </p:nvSpPr>
        <p:spPr/>
        <p:txBody>
          <a:bodyPr/>
          <a:lstStyle/>
          <a:p>
            <a:r>
              <a:rPr lang="en-US" altLang="zh-CN" dirty="0"/>
              <a:t>K-T</a:t>
            </a:r>
            <a:r>
              <a:rPr lang="zh-CN" altLang="en-US" dirty="0"/>
              <a:t>条件分析</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6B70BD0-3671-4F11-9514-B7778E339AA0}"/>
                  </a:ext>
                </a:extLst>
              </p:cNvPr>
              <p:cNvSpPr>
                <a:spLocks noGrp="1"/>
              </p:cNvSpPr>
              <p:nvPr>
                <p:ph idx="1"/>
              </p:nvPr>
            </p:nvSpPr>
            <p:spPr/>
            <p:txBody>
              <a:bodyPr/>
              <a:lstStyle/>
              <a:p>
                <a:r>
                  <a:rPr lang="en-US" altLang="zh-CN" dirty="0"/>
                  <a:t>1. </a:t>
                </a:r>
                <a:r>
                  <a:rPr lang="zh-CN" altLang="en-US" dirty="0"/>
                  <a:t>只有一个约束起作用</a:t>
                </a:r>
                <a:endParaRPr lang="en-US" altLang="zh-CN" dirty="0"/>
              </a:p>
              <a:p>
                <a:pPr lvl="1"/>
                <a:r>
                  <a:rPr lang="zh-CN" altLang="en-US" dirty="0"/>
                  <a:t>约束“起作用”的含义</a:t>
                </a:r>
                <a:endParaRPr lang="en-US" altLang="zh-CN" dirty="0"/>
              </a:p>
              <a:p>
                <a:pPr lvl="2"/>
                <a:r>
                  <a:rPr lang="zh-CN" altLang="en-US" dirty="0"/>
                  <a:t>在本课程中，如果说约束起作用，那么就是表示目标点</a:t>
                </a:r>
                <a14:m>
                  <m:oMath xmlns:m="http://schemas.openxmlformats.org/officeDocument/2006/math">
                    <m:r>
                      <a:rPr lang="en-US" altLang="zh-CN" i="1" dirty="0" smtClean="0">
                        <a:latin typeface="Cambria Math" panose="02040503050406030204" pitchFamily="18" charset="0"/>
                      </a:rPr>
                      <m:t>𝑋</m:t>
                    </m:r>
                  </m:oMath>
                </a14:m>
                <a:r>
                  <a:rPr lang="zh-CN" altLang="en-US" dirty="0"/>
                  <a:t>正好落在该约束线上。也就是</a:t>
                </a:r>
                <a14:m>
                  <m:oMath xmlns:m="http://schemas.openxmlformats.org/officeDocument/2006/math">
                    <m:r>
                      <a:rPr lang="en-US" altLang="zh-CN" i="1" dirty="0" smtClean="0">
                        <a:latin typeface="Cambria Math" panose="02040503050406030204" pitchFamily="18" charset="0"/>
                      </a:rPr>
                      <m:t>𝑔</m:t>
                    </m:r>
                    <m:r>
                      <a:rPr lang="en-US" altLang="zh-CN" i="1" dirty="0" smtClean="0">
                        <a:latin typeface="Cambria Math" panose="02040503050406030204" pitchFamily="18" charset="0"/>
                      </a:rPr>
                      <m:t>(</m:t>
                    </m:r>
                    <m:r>
                      <a:rPr lang="en-US" altLang="zh-CN" b="1" i="1" dirty="0" smtClean="0">
                        <a:latin typeface="Cambria Math" panose="02040503050406030204" pitchFamily="18" charset="0"/>
                      </a:rPr>
                      <m:t>𝑿</m:t>
                    </m:r>
                    <m:r>
                      <a:rPr lang="en-US" altLang="zh-CN" i="1" dirty="0" smtClean="0">
                        <a:latin typeface="Cambria Math" panose="02040503050406030204" pitchFamily="18" charset="0"/>
                      </a:rPr>
                      <m:t>)=0</m:t>
                    </m:r>
                  </m:oMath>
                </a14:m>
                <a:endParaRPr lang="zh-CN" altLang="en-US" dirty="0"/>
              </a:p>
            </p:txBody>
          </p:sp>
        </mc:Choice>
        <mc:Fallback xmlns="">
          <p:sp>
            <p:nvSpPr>
              <p:cNvPr id="3" name="内容占位符 2">
                <a:extLst>
                  <a:ext uri="{FF2B5EF4-FFF2-40B4-BE49-F238E27FC236}">
                    <a16:creationId xmlns:a16="http://schemas.microsoft.com/office/drawing/2014/main" id="{E6B70BD0-3671-4F11-9514-B7778E339AA0}"/>
                  </a:ext>
                </a:extLst>
              </p:cNvPr>
              <p:cNvSpPr>
                <a:spLocks noGrp="1" noRot="1" noChangeAspect="1" noMove="1" noResize="1" noEditPoints="1" noAdjustHandles="1" noChangeArrowheads="1" noChangeShapeType="1" noTextEdit="1"/>
              </p:cNvSpPr>
              <p:nvPr>
                <p:ph idx="1"/>
              </p:nvPr>
            </p:nvSpPr>
            <p:spPr>
              <a:blipFill>
                <a:blip r:embed="rId2"/>
                <a:stretch>
                  <a:fillRect l="-1066" t="-2083"/>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0FF3692F-3AEA-4DA6-8EBB-5D1D8E5ADB8C}"/>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95D4AC2A-5971-4337-85B1-EF4760D1B8FE}"/>
              </a:ext>
            </a:extLst>
          </p:cNvPr>
          <p:cNvSpPr>
            <a:spLocks noGrp="1"/>
          </p:cNvSpPr>
          <p:nvPr>
            <p:ph type="sldNum" sz="quarter" idx="12"/>
          </p:nvPr>
        </p:nvSpPr>
        <p:spPr/>
        <p:txBody>
          <a:bodyPr/>
          <a:lstStyle/>
          <a:p>
            <a:fld id="{7AC79822-BC0D-4DE8-A7E5-90A3732A2B82}" type="slidenum">
              <a:rPr lang="zh-CN" altLang="en-US" smtClean="0"/>
              <a:pPr/>
              <a:t>39</a:t>
            </a:fld>
            <a:endParaRPr lang="en-US" altLang="zh-CN" dirty="0"/>
          </a:p>
        </p:txBody>
      </p:sp>
      <p:sp>
        <p:nvSpPr>
          <p:cNvPr id="6" name="流程图: 接点 5">
            <a:extLst>
              <a:ext uri="{FF2B5EF4-FFF2-40B4-BE49-F238E27FC236}">
                <a16:creationId xmlns:a16="http://schemas.microsoft.com/office/drawing/2014/main" id="{9EC3C4BF-E059-48F0-84D5-4ADD7870F85B}"/>
              </a:ext>
            </a:extLst>
          </p:cNvPr>
          <p:cNvSpPr/>
          <p:nvPr/>
        </p:nvSpPr>
        <p:spPr bwMode="auto">
          <a:xfrm>
            <a:off x="4165367" y="4466929"/>
            <a:ext cx="217452" cy="190894"/>
          </a:xfrm>
          <a:prstGeom prst="flowChartConnector">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7" name="直接连接符 6">
            <a:extLst>
              <a:ext uri="{FF2B5EF4-FFF2-40B4-BE49-F238E27FC236}">
                <a16:creationId xmlns:a16="http://schemas.microsoft.com/office/drawing/2014/main" id="{13C6B91B-34B8-41CA-BEC0-3D31EB870141}"/>
              </a:ext>
            </a:extLst>
          </p:cNvPr>
          <p:cNvCxnSpPr/>
          <p:nvPr/>
        </p:nvCxnSpPr>
        <p:spPr bwMode="auto">
          <a:xfrm flipV="1">
            <a:off x="5639564" y="4926431"/>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连接符 7">
            <a:extLst>
              <a:ext uri="{FF2B5EF4-FFF2-40B4-BE49-F238E27FC236}">
                <a16:creationId xmlns:a16="http://schemas.microsoft.com/office/drawing/2014/main" id="{63CD0DEE-753D-41D8-8531-00F61E91DB57}"/>
              </a:ext>
            </a:extLst>
          </p:cNvPr>
          <p:cNvCxnSpPr/>
          <p:nvPr/>
        </p:nvCxnSpPr>
        <p:spPr bwMode="auto">
          <a:xfrm flipV="1">
            <a:off x="5131442" y="4746492"/>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8">
            <a:extLst>
              <a:ext uri="{FF2B5EF4-FFF2-40B4-BE49-F238E27FC236}">
                <a16:creationId xmlns:a16="http://schemas.microsoft.com/office/drawing/2014/main" id="{3D50F074-F89C-4771-81D3-2BC7DA54F3BE}"/>
              </a:ext>
            </a:extLst>
          </p:cNvPr>
          <p:cNvCxnSpPr/>
          <p:nvPr/>
        </p:nvCxnSpPr>
        <p:spPr bwMode="auto">
          <a:xfrm flipV="1">
            <a:off x="5362308" y="4785487"/>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接连接符 9">
            <a:extLst>
              <a:ext uri="{FF2B5EF4-FFF2-40B4-BE49-F238E27FC236}">
                <a16:creationId xmlns:a16="http://schemas.microsoft.com/office/drawing/2014/main" id="{12C8E8F7-CAD5-4F2D-957F-8E9A023D8351}"/>
              </a:ext>
            </a:extLst>
          </p:cNvPr>
          <p:cNvCxnSpPr/>
          <p:nvPr/>
        </p:nvCxnSpPr>
        <p:spPr bwMode="auto">
          <a:xfrm flipV="1">
            <a:off x="5498767" y="4867840"/>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a:extLst>
              <a:ext uri="{FF2B5EF4-FFF2-40B4-BE49-F238E27FC236}">
                <a16:creationId xmlns:a16="http://schemas.microsoft.com/office/drawing/2014/main" id="{3AFD4801-1862-44BA-BEED-C01AC46F712D}"/>
              </a:ext>
            </a:extLst>
          </p:cNvPr>
          <p:cNvCxnSpPr/>
          <p:nvPr/>
        </p:nvCxnSpPr>
        <p:spPr bwMode="auto">
          <a:xfrm flipV="1">
            <a:off x="4015200" y="3582085"/>
            <a:ext cx="148382" cy="1528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文本框 17">
            <a:extLst>
              <a:ext uri="{FF2B5EF4-FFF2-40B4-BE49-F238E27FC236}">
                <a16:creationId xmlns:a16="http://schemas.microsoft.com/office/drawing/2014/main" id="{122D969B-177F-4AFD-ABC6-8EA54338964F}"/>
              </a:ext>
            </a:extLst>
          </p:cNvPr>
          <p:cNvSpPr txBox="1"/>
          <p:nvPr/>
        </p:nvSpPr>
        <p:spPr>
          <a:xfrm>
            <a:off x="6160137" y="5029276"/>
            <a:ext cx="1059906" cy="400110"/>
          </a:xfrm>
          <a:prstGeom prst="rect">
            <a:avLst/>
          </a:prstGeom>
          <a:noFill/>
        </p:spPr>
        <p:txBody>
          <a:bodyPr wrap="none" rtlCol="0">
            <a:spAutoFit/>
          </a:bodyPr>
          <a:lstStyle/>
          <a:p>
            <a:r>
              <a:rPr lang="en-US" altLang="zh-CN" sz="2000" dirty="0"/>
              <a:t>g1(x)=0</a:t>
            </a:r>
          </a:p>
        </p:txBody>
      </p:sp>
      <p:sp>
        <p:nvSpPr>
          <p:cNvPr id="19" name="椭圆 18">
            <a:extLst>
              <a:ext uri="{FF2B5EF4-FFF2-40B4-BE49-F238E27FC236}">
                <a16:creationId xmlns:a16="http://schemas.microsoft.com/office/drawing/2014/main" id="{5D90BFAB-5E60-45A6-93F0-455996712018}"/>
              </a:ext>
            </a:extLst>
          </p:cNvPr>
          <p:cNvSpPr/>
          <p:nvPr/>
        </p:nvSpPr>
        <p:spPr bwMode="auto">
          <a:xfrm>
            <a:off x="3875439" y="4351634"/>
            <a:ext cx="797308" cy="436473"/>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21" name="椭圆 20">
            <a:extLst>
              <a:ext uri="{FF2B5EF4-FFF2-40B4-BE49-F238E27FC236}">
                <a16:creationId xmlns:a16="http://schemas.microsoft.com/office/drawing/2014/main" id="{580B828B-0B26-458D-B352-41D77ACEBB5B}"/>
              </a:ext>
            </a:extLst>
          </p:cNvPr>
          <p:cNvSpPr/>
          <p:nvPr/>
        </p:nvSpPr>
        <p:spPr bwMode="auto">
          <a:xfrm>
            <a:off x="3611526" y="4155044"/>
            <a:ext cx="1348958" cy="837159"/>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22" name="椭圆 21">
            <a:extLst>
              <a:ext uri="{FF2B5EF4-FFF2-40B4-BE49-F238E27FC236}">
                <a16:creationId xmlns:a16="http://schemas.microsoft.com/office/drawing/2014/main" id="{68D8DFB0-E0FF-4310-9539-5ADB93A457DF}"/>
              </a:ext>
            </a:extLst>
          </p:cNvPr>
          <p:cNvSpPr/>
          <p:nvPr/>
        </p:nvSpPr>
        <p:spPr bwMode="auto">
          <a:xfrm>
            <a:off x="3368824" y="3961390"/>
            <a:ext cx="1774541" cy="1267941"/>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23" name="椭圆 22">
            <a:extLst>
              <a:ext uri="{FF2B5EF4-FFF2-40B4-BE49-F238E27FC236}">
                <a16:creationId xmlns:a16="http://schemas.microsoft.com/office/drawing/2014/main" id="{674BB183-2CFA-409D-9184-2AA9DEE972D3}"/>
              </a:ext>
            </a:extLst>
          </p:cNvPr>
          <p:cNvSpPr/>
          <p:nvPr/>
        </p:nvSpPr>
        <p:spPr bwMode="auto">
          <a:xfrm>
            <a:off x="3138274" y="3789223"/>
            <a:ext cx="2243442" cy="1601815"/>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27" name="任意多边形: 形状 26">
            <a:extLst>
              <a:ext uri="{FF2B5EF4-FFF2-40B4-BE49-F238E27FC236}">
                <a16:creationId xmlns:a16="http://schemas.microsoft.com/office/drawing/2014/main" id="{928710BB-D52E-4B1F-B2D3-332D14CA7E1E}"/>
              </a:ext>
            </a:extLst>
          </p:cNvPr>
          <p:cNvSpPr/>
          <p:nvPr/>
        </p:nvSpPr>
        <p:spPr bwMode="auto">
          <a:xfrm rot="1058122">
            <a:off x="3980609" y="3841614"/>
            <a:ext cx="2325511" cy="828423"/>
          </a:xfrm>
          <a:custGeom>
            <a:avLst/>
            <a:gdLst>
              <a:gd name="connsiteX0" fmla="*/ 0 w 2325511"/>
              <a:gd name="connsiteY0" fmla="*/ 0 h 828423"/>
              <a:gd name="connsiteX1" fmla="*/ 767644 w 2325511"/>
              <a:gd name="connsiteY1" fmla="*/ 767645 h 828423"/>
              <a:gd name="connsiteX2" fmla="*/ 2280355 w 2325511"/>
              <a:gd name="connsiteY2" fmla="*/ 778934 h 828423"/>
              <a:gd name="connsiteX3" fmla="*/ 2325511 w 2325511"/>
              <a:gd name="connsiteY3" fmla="*/ 778934 h 828423"/>
            </a:gdLst>
            <a:ahLst/>
            <a:cxnLst>
              <a:cxn ang="0">
                <a:pos x="connsiteX0" y="connsiteY0"/>
              </a:cxn>
              <a:cxn ang="0">
                <a:pos x="connsiteX1" y="connsiteY1"/>
              </a:cxn>
              <a:cxn ang="0">
                <a:pos x="connsiteX2" y="connsiteY2"/>
              </a:cxn>
              <a:cxn ang="0">
                <a:pos x="connsiteX3" y="connsiteY3"/>
              </a:cxn>
            </a:cxnLst>
            <a:rect l="l" t="t" r="r" b="b"/>
            <a:pathLst>
              <a:path w="2325511" h="828423">
                <a:moveTo>
                  <a:pt x="0" y="0"/>
                </a:moveTo>
                <a:cubicBezTo>
                  <a:pt x="193792" y="318911"/>
                  <a:pt x="387585" y="637823"/>
                  <a:pt x="767644" y="767645"/>
                </a:cubicBezTo>
                <a:cubicBezTo>
                  <a:pt x="1147703" y="897467"/>
                  <a:pt x="2280355" y="778934"/>
                  <a:pt x="2280355" y="778934"/>
                </a:cubicBezTo>
                <a:lnTo>
                  <a:pt x="2325511" y="778934"/>
                </a:lnTo>
              </a:path>
            </a:pathLst>
          </a:custGeom>
          <a:noFill/>
          <a:ln w="3810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3276097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par>
                                <p:cTn id="11" presetID="16" presetClass="entr" presetSubtype="21"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arn(inVertical)">
                                      <p:cBhvr>
                                        <p:cTn id="13" dur="500"/>
                                        <p:tgtEl>
                                          <p:spTgt spid="8"/>
                                        </p:tgtEl>
                                      </p:cBhvr>
                                    </p:animEffect>
                                  </p:childTnLst>
                                </p:cTn>
                              </p:par>
                              <p:par>
                                <p:cTn id="14" presetID="16" presetClass="entr" presetSubtype="21"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arn(inVertical)">
                                      <p:cBhvr>
                                        <p:cTn id="16" dur="500"/>
                                        <p:tgtEl>
                                          <p:spTgt spid="9"/>
                                        </p:tgtEl>
                                      </p:cBhvr>
                                    </p:animEffect>
                                  </p:childTnLst>
                                </p:cTn>
                              </p:par>
                              <p:par>
                                <p:cTn id="17" presetID="16" presetClass="entr" presetSubtype="21"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par>
                                <p:cTn id="20" presetID="16" presetClass="entr" presetSubtype="21"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arn(inVertical)">
                                      <p:cBhvr>
                                        <p:cTn id="22" dur="500"/>
                                        <p:tgtEl>
                                          <p:spTgt spid="17"/>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barn(inVertical)">
                                      <p:cBhvr>
                                        <p:cTn id="25" dur="500"/>
                                        <p:tgtEl>
                                          <p:spTgt spid="18"/>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barn(inVertical)">
                                      <p:cBhvr>
                                        <p:cTn id="28" dur="500"/>
                                        <p:tgtEl>
                                          <p:spTgt spid="19"/>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barn(inVertical)">
                                      <p:cBhvr>
                                        <p:cTn id="31" dur="500"/>
                                        <p:tgtEl>
                                          <p:spTgt spid="21"/>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barn(inVertical)">
                                      <p:cBhvr>
                                        <p:cTn id="34" dur="500"/>
                                        <p:tgtEl>
                                          <p:spTgt spid="22"/>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arn(inVertical)">
                                      <p:cBhvr>
                                        <p:cTn id="37" dur="500"/>
                                        <p:tgtEl>
                                          <p:spTgt spid="23"/>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barn(inVertical)">
                                      <p:cBhvr>
                                        <p:cTn id="4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8" grpId="0"/>
      <p:bldP spid="19" grpId="0" animBg="1"/>
      <p:bldP spid="21" grpId="0" animBg="1"/>
      <p:bldP spid="22" grpId="0" animBg="1"/>
      <p:bldP spid="23" grpId="0" animBg="1"/>
      <p:bldP spid="2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207DE6-5FB8-4D8C-85C2-687B849136D0}"/>
              </a:ext>
            </a:extLst>
          </p:cNvPr>
          <p:cNvSpPr>
            <a:spLocks noGrp="1"/>
          </p:cNvSpPr>
          <p:nvPr>
            <p:ph type="title"/>
          </p:nvPr>
        </p:nvSpPr>
        <p:spPr/>
        <p:txBody>
          <a:bodyPr/>
          <a:lstStyle/>
          <a:p>
            <a:r>
              <a:rPr lang="en-US" altLang="zh-CN" dirty="0"/>
              <a:t>K-T</a:t>
            </a:r>
            <a:r>
              <a:rPr lang="zh-CN" altLang="en-US" dirty="0"/>
              <a:t>条件分析</a:t>
            </a:r>
          </a:p>
        </p:txBody>
      </p:sp>
      <p:sp>
        <p:nvSpPr>
          <p:cNvPr id="3" name="内容占位符 2">
            <a:extLst>
              <a:ext uri="{FF2B5EF4-FFF2-40B4-BE49-F238E27FC236}">
                <a16:creationId xmlns:a16="http://schemas.microsoft.com/office/drawing/2014/main" id="{E6B70BD0-3671-4F11-9514-B7778E339AA0}"/>
              </a:ext>
            </a:extLst>
          </p:cNvPr>
          <p:cNvSpPr>
            <a:spLocks noGrp="1"/>
          </p:cNvSpPr>
          <p:nvPr>
            <p:ph idx="1"/>
          </p:nvPr>
        </p:nvSpPr>
        <p:spPr>
          <a:xfrm>
            <a:off x="58044" y="1196752"/>
            <a:ext cx="9719492" cy="799663"/>
          </a:xfrm>
        </p:spPr>
        <p:txBody>
          <a:bodyPr/>
          <a:lstStyle/>
          <a:p>
            <a:r>
              <a:rPr lang="en-US" altLang="zh-CN" dirty="0"/>
              <a:t>1. </a:t>
            </a:r>
            <a:r>
              <a:rPr lang="zh-CN" altLang="en-US" dirty="0"/>
              <a:t>只有一个约束起作用</a:t>
            </a:r>
            <a:endParaRPr lang="en-US" altLang="zh-CN" dirty="0"/>
          </a:p>
        </p:txBody>
      </p:sp>
      <p:sp>
        <p:nvSpPr>
          <p:cNvPr id="4" name="日期占位符 3">
            <a:extLst>
              <a:ext uri="{FF2B5EF4-FFF2-40B4-BE49-F238E27FC236}">
                <a16:creationId xmlns:a16="http://schemas.microsoft.com/office/drawing/2014/main" id="{0FF3692F-3AEA-4DA6-8EBB-5D1D8E5ADB8C}"/>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95D4AC2A-5971-4337-85B1-EF4760D1B8FE}"/>
              </a:ext>
            </a:extLst>
          </p:cNvPr>
          <p:cNvSpPr>
            <a:spLocks noGrp="1"/>
          </p:cNvSpPr>
          <p:nvPr>
            <p:ph type="sldNum" sz="quarter" idx="12"/>
          </p:nvPr>
        </p:nvSpPr>
        <p:spPr/>
        <p:txBody>
          <a:bodyPr/>
          <a:lstStyle/>
          <a:p>
            <a:fld id="{7AC79822-BC0D-4DE8-A7E5-90A3732A2B82}" type="slidenum">
              <a:rPr lang="zh-CN" altLang="en-US" smtClean="0"/>
              <a:pPr/>
              <a:t>40</a:t>
            </a:fld>
            <a:endParaRPr lang="en-US" altLang="zh-CN" dirty="0"/>
          </a:p>
        </p:txBody>
      </p:sp>
      <p:sp>
        <p:nvSpPr>
          <p:cNvPr id="24" name="流程图: 接点 23">
            <a:extLst>
              <a:ext uri="{FF2B5EF4-FFF2-40B4-BE49-F238E27FC236}">
                <a16:creationId xmlns:a16="http://schemas.microsoft.com/office/drawing/2014/main" id="{AF430002-20DF-42E5-AA19-158EB4DE676D}"/>
              </a:ext>
            </a:extLst>
          </p:cNvPr>
          <p:cNvSpPr/>
          <p:nvPr/>
        </p:nvSpPr>
        <p:spPr bwMode="auto">
          <a:xfrm>
            <a:off x="3852195" y="4306804"/>
            <a:ext cx="439713" cy="352093"/>
          </a:xfrm>
          <a:prstGeom prst="flowChartConnector">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25" name="直接连接符 24">
            <a:extLst>
              <a:ext uri="{FF2B5EF4-FFF2-40B4-BE49-F238E27FC236}">
                <a16:creationId xmlns:a16="http://schemas.microsoft.com/office/drawing/2014/main" id="{745C6A2B-97DE-4484-A5E9-CA8BA584AA5A}"/>
              </a:ext>
            </a:extLst>
          </p:cNvPr>
          <p:cNvCxnSpPr>
            <a:cxnSpLocks/>
          </p:cNvCxnSpPr>
          <p:nvPr/>
        </p:nvCxnSpPr>
        <p:spPr bwMode="auto">
          <a:xfrm flipH="1">
            <a:off x="7354476" y="5145443"/>
            <a:ext cx="140352" cy="2581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a:extLst>
              <a:ext uri="{FF2B5EF4-FFF2-40B4-BE49-F238E27FC236}">
                <a16:creationId xmlns:a16="http://schemas.microsoft.com/office/drawing/2014/main" id="{621B08D9-CEED-40B0-8F80-17B6060D3E16}"/>
              </a:ext>
            </a:extLst>
          </p:cNvPr>
          <p:cNvCxnSpPr>
            <a:cxnSpLocks/>
          </p:cNvCxnSpPr>
          <p:nvPr/>
        </p:nvCxnSpPr>
        <p:spPr bwMode="auto">
          <a:xfrm flipV="1">
            <a:off x="6374441" y="4929251"/>
            <a:ext cx="244332" cy="21482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a:extLst>
              <a:ext uri="{FF2B5EF4-FFF2-40B4-BE49-F238E27FC236}">
                <a16:creationId xmlns:a16="http://schemas.microsoft.com/office/drawing/2014/main" id="{F619AB37-1C70-4643-A566-05E34522A7F3}"/>
              </a:ext>
            </a:extLst>
          </p:cNvPr>
          <p:cNvCxnSpPr>
            <a:cxnSpLocks/>
          </p:cNvCxnSpPr>
          <p:nvPr/>
        </p:nvCxnSpPr>
        <p:spPr bwMode="auto">
          <a:xfrm flipH="1">
            <a:off x="7179625" y="5144079"/>
            <a:ext cx="118850" cy="19549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a:extLst>
              <a:ext uri="{FF2B5EF4-FFF2-40B4-BE49-F238E27FC236}">
                <a16:creationId xmlns:a16="http://schemas.microsoft.com/office/drawing/2014/main" id="{52DD8F3C-F7E7-4B14-95B8-30497315E5DC}"/>
              </a:ext>
            </a:extLst>
          </p:cNvPr>
          <p:cNvCxnSpPr>
            <a:cxnSpLocks/>
          </p:cNvCxnSpPr>
          <p:nvPr/>
        </p:nvCxnSpPr>
        <p:spPr bwMode="auto">
          <a:xfrm flipH="1">
            <a:off x="6887881" y="5048105"/>
            <a:ext cx="222792" cy="21017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a:extLst>
              <a:ext uri="{FF2B5EF4-FFF2-40B4-BE49-F238E27FC236}">
                <a16:creationId xmlns:a16="http://schemas.microsoft.com/office/drawing/2014/main" id="{63A9A34E-83F2-4E28-8086-3DEAD3708F30}"/>
              </a:ext>
            </a:extLst>
          </p:cNvPr>
          <p:cNvCxnSpPr>
            <a:cxnSpLocks/>
          </p:cNvCxnSpPr>
          <p:nvPr/>
        </p:nvCxnSpPr>
        <p:spPr bwMode="auto">
          <a:xfrm flipV="1">
            <a:off x="3424948" y="2664279"/>
            <a:ext cx="302410" cy="6169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文本框 30">
            <a:extLst>
              <a:ext uri="{FF2B5EF4-FFF2-40B4-BE49-F238E27FC236}">
                <a16:creationId xmlns:a16="http://schemas.microsoft.com/office/drawing/2014/main" id="{1313714B-AD0F-4482-9106-CB5FF8390275}"/>
              </a:ext>
            </a:extLst>
          </p:cNvPr>
          <p:cNvSpPr txBox="1"/>
          <p:nvPr/>
        </p:nvSpPr>
        <p:spPr>
          <a:xfrm>
            <a:off x="7026014" y="4572479"/>
            <a:ext cx="917239" cy="400110"/>
          </a:xfrm>
          <a:prstGeom prst="rect">
            <a:avLst/>
          </a:prstGeom>
          <a:noFill/>
        </p:spPr>
        <p:txBody>
          <a:bodyPr wrap="none" rtlCol="0">
            <a:spAutoFit/>
          </a:bodyPr>
          <a:lstStyle/>
          <a:p>
            <a:r>
              <a:rPr lang="en-US" altLang="zh-CN" sz="2000" dirty="0"/>
              <a:t>g(x)=0</a:t>
            </a:r>
          </a:p>
        </p:txBody>
      </p:sp>
      <p:sp>
        <p:nvSpPr>
          <p:cNvPr id="32" name="椭圆 31">
            <a:extLst>
              <a:ext uri="{FF2B5EF4-FFF2-40B4-BE49-F238E27FC236}">
                <a16:creationId xmlns:a16="http://schemas.microsoft.com/office/drawing/2014/main" id="{A1C18087-0D13-46A5-8FA3-DA2E7BF5454A}"/>
              </a:ext>
            </a:extLst>
          </p:cNvPr>
          <p:cNvSpPr/>
          <p:nvPr/>
        </p:nvSpPr>
        <p:spPr bwMode="auto">
          <a:xfrm>
            <a:off x="3264479" y="4081112"/>
            <a:ext cx="1612251" cy="805047"/>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3" name="椭圆 32">
            <a:extLst>
              <a:ext uri="{FF2B5EF4-FFF2-40B4-BE49-F238E27FC236}">
                <a16:creationId xmlns:a16="http://schemas.microsoft.com/office/drawing/2014/main" id="{2B8410B1-524A-4C67-A70D-C98821F4D50F}"/>
              </a:ext>
            </a:extLst>
          </p:cNvPr>
          <p:cNvSpPr/>
          <p:nvPr/>
        </p:nvSpPr>
        <p:spPr bwMode="auto">
          <a:xfrm>
            <a:off x="2717265" y="3704397"/>
            <a:ext cx="2727753" cy="1544088"/>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4" name="椭圆 33">
            <a:extLst>
              <a:ext uri="{FF2B5EF4-FFF2-40B4-BE49-F238E27FC236}">
                <a16:creationId xmlns:a16="http://schemas.microsoft.com/office/drawing/2014/main" id="{A56D1B6F-562C-4B8F-BEB3-962AC3725514}"/>
              </a:ext>
            </a:extLst>
          </p:cNvPr>
          <p:cNvSpPr/>
          <p:nvPr/>
        </p:nvSpPr>
        <p:spPr bwMode="auto">
          <a:xfrm>
            <a:off x="2256004" y="3317092"/>
            <a:ext cx="3588330" cy="2338636"/>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5" name="椭圆 34">
            <a:extLst>
              <a:ext uri="{FF2B5EF4-FFF2-40B4-BE49-F238E27FC236}">
                <a16:creationId xmlns:a16="http://schemas.microsoft.com/office/drawing/2014/main" id="{7FF8EEE9-5350-4F65-B5F9-08E3D9CB8321}"/>
              </a:ext>
            </a:extLst>
          </p:cNvPr>
          <p:cNvSpPr/>
          <p:nvPr/>
        </p:nvSpPr>
        <p:spPr bwMode="auto">
          <a:xfrm>
            <a:off x="1784648" y="2994834"/>
            <a:ext cx="4536504" cy="2954446"/>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6" name="任意多边形: 形状 35">
            <a:extLst>
              <a:ext uri="{FF2B5EF4-FFF2-40B4-BE49-F238E27FC236}">
                <a16:creationId xmlns:a16="http://schemas.microsoft.com/office/drawing/2014/main" id="{2B3E1A49-EFA8-47C7-B353-318489AD42E2}"/>
              </a:ext>
            </a:extLst>
          </p:cNvPr>
          <p:cNvSpPr/>
          <p:nvPr/>
        </p:nvSpPr>
        <p:spPr bwMode="auto">
          <a:xfrm rot="1058122">
            <a:off x="3290364" y="3079791"/>
            <a:ext cx="4702457" cy="1527972"/>
          </a:xfrm>
          <a:custGeom>
            <a:avLst/>
            <a:gdLst>
              <a:gd name="connsiteX0" fmla="*/ 0 w 2325511"/>
              <a:gd name="connsiteY0" fmla="*/ 0 h 828423"/>
              <a:gd name="connsiteX1" fmla="*/ 767644 w 2325511"/>
              <a:gd name="connsiteY1" fmla="*/ 767645 h 828423"/>
              <a:gd name="connsiteX2" fmla="*/ 2280355 w 2325511"/>
              <a:gd name="connsiteY2" fmla="*/ 778934 h 828423"/>
              <a:gd name="connsiteX3" fmla="*/ 2325511 w 2325511"/>
              <a:gd name="connsiteY3" fmla="*/ 778934 h 828423"/>
            </a:gdLst>
            <a:ahLst/>
            <a:cxnLst>
              <a:cxn ang="0">
                <a:pos x="connsiteX0" y="connsiteY0"/>
              </a:cxn>
              <a:cxn ang="0">
                <a:pos x="connsiteX1" y="connsiteY1"/>
              </a:cxn>
              <a:cxn ang="0">
                <a:pos x="connsiteX2" y="connsiteY2"/>
              </a:cxn>
              <a:cxn ang="0">
                <a:pos x="connsiteX3" y="connsiteY3"/>
              </a:cxn>
            </a:cxnLst>
            <a:rect l="l" t="t" r="r" b="b"/>
            <a:pathLst>
              <a:path w="2325511" h="828423">
                <a:moveTo>
                  <a:pt x="0" y="0"/>
                </a:moveTo>
                <a:cubicBezTo>
                  <a:pt x="193792" y="318911"/>
                  <a:pt x="387585" y="637823"/>
                  <a:pt x="767644" y="767645"/>
                </a:cubicBezTo>
                <a:cubicBezTo>
                  <a:pt x="1147703" y="897467"/>
                  <a:pt x="2280355" y="778934"/>
                  <a:pt x="2280355" y="778934"/>
                </a:cubicBezTo>
                <a:lnTo>
                  <a:pt x="2325511" y="778934"/>
                </a:lnTo>
              </a:path>
            </a:pathLst>
          </a:custGeom>
          <a:noFill/>
          <a:ln w="3810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7" name="流程图: 接点 36">
            <a:extLst>
              <a:ext uri="{FF2B5EF4-FFF2-40B4-BE49-F238E27FC236}">
                <a16:creationId xmlns:a16="http://schemas.microsoft.com/office/drawing/2014/main" id="{ED6BACC3-38F5-43A6-8AE5-EA30DE87AD96}"/>
              </a:ext>
            </a:extLst>
          </p:cNvPr>
          <p:cNvSpPr/>
          <p:nvPr/>
        </p:nvSpPr>
        <p:spPr bwMode="auto">
          <a:xfrm>
            <a:off x="3858799" y="3237755"/>
            <a:ext cx="150023" cy="153902"/>
          </a:xfrm>
          <a:prstGeom prst="flowChartConnector">
            <a:avLst/>
          </a:prstGeom>
          <a:solidFill>
            <a:srgbClr val="FF0000"/>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12" name="直接连接符 11">
            <a:extLst>
              <a:ext uri="{FF2B5EF4-FFF2-40B4-BE49-F238E27FC236}">
                <a16:creationId xmlns:a16="http://schemas.microsoft.com/office/drawing/2014/main" id="{FD253992-89DA-4633-BD34-A867BD4F0548}"/>
              </a:ext>
            </a:extLst>
          </p:cNvPr>
          <p:cNvCxnSpPr>
            <a:cxnSpLocks/>
          </p:cNvCxnSpPr>
          <p:nvPr/>
        </p:nvCxnSpPr>
        <p:spPr bwMode="auto">
          <a:xfrm flipV="1">
            <a:off x="513430" y="3284767"/>
            <a:ext cx="6840760" cy="2313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a:extLst>
              <a:ext uri="{FF2B5EF4-FFF2-40B4-BE49-F238E27FC236}">
                <a16:creationId xmlns:a16="http://schemas.microsoft.com/office/drawing/2014/main" id="{22E3B0D0-9896-418B-B023-A4F91BD4DD1C}"/>
              </a:ext>
            </a:extLst>
          </p:cNvPr>
          <p:cNvCxnSpPr>
            <a:cxnSpLocks/>
          </p:cNvCxnSpPr>
          <p:nvPr/>
        </p:nvCxnSpPr>
        <p:spPr bwMode="auto">
          <a:xfrm>
            <a:off x="3934926" y="3345743"/>
            <a:ext cx="0" cy="696526"/>
          </a:xfrm>
          <a:prstGeom prst="line">
            <a:avLst/>
          </a:prstGeom>
          <a:ln w="9525" cap="flat" cmpd="sng" algn="ctr">
            <a:solidFill>
              <a:srgbClr val="C0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0" name="直接连接符 39">
            <a:extLst>
              <a:ext uri="{FF2B5EF4-FFF2-40B4-BE49-F238E27FC236}">
                <a16:creationId xmlns:a16="http://schemas.microsoft.com/office/drawing/2014/main" id="{C0920104-9B33-435F-9C20-5C60DA15A366}"/>
              </a:ext>
            </a:extLst>
          </p:cNvPr>
          <p:cNvCxnSpPr>
            <a:cxnSpLocks/>
          </p:cNvCxnSpPr>
          <p:nvPr/>
        </p:nvCxnSpPr>
        <p:spPr bwMode="auto">
          <a:xfrm>
            <a:off x="3424948" y="2185951"/>
            <a:ext cx="1780549" cy="4061240"/>
          </a:xfrm>
          <a:prstGeom prst="line">
            <a:avLst/>
          </a:prstGeom>
          <a:solidFill>
            <a:schemeClr val="accent1"/>
          </a:solidFill>
          <a:ln w="9525" cap="flat" cmpd="sng" algn="ctr">
            <a:solidFill>
              <a:schemeClr val="accent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a:extLst>
              <a:ext uri="{FF2B5EF4-FFF2-40B4-BE49-F238E27FC236}">
                <a16:creationId xmlns:a16="http://schemas.microsoft.com/office/drawing/2014/main" id="{CD41D528-52B3-4AC3-88CF-28CB5721CB7C}"/>
              </a:ext>
            </a:extLst>
          </p:cNvPr>
          <p:cNvCxnSpPr>
            <a:cxnSpLocks/>
          </p:cNvCxnSpPr>
          <p:nvPr/>
        </p:nvCxnSpPr>
        <p:spPr bwMode="auto">
          <a:xfrm flipH="1">
            <a:off x="3025632" y="3332852"/>
            <a:ext cx="908178" cy="408060"/>
          </a:xfrm>
          <a:prstGeom prst="line">
            <a:avLst/>
          </a:prstGeom>
          <a:ln w="9525"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0" name="直接箭头连接符 49">
            <a:extLst>
              <a:ext uri="{FF2B5EF4-FFF2-40B4-BE49-F238E27FC236}">
                <a16:creationId xmlns:a16="http://schemas.microsoft.com/office/drawing/2014/main" id="{AF25138A-2A6C-47A5-9DDE-92BE65148C13}"/>
              </a:ext>
            </a:extLst>
          </p:cNvPr>
          <p:cNvCxnSpPr>
            <a:cxnSpLocks/>
          </p:cNvCxnSpPr>
          <p:nvPr/>
        </p:nvCxnSpPr>
        <p:spPr bwMode="auto">
          <a:xfrm flipH="1">
            <a:off x="1382896" y="3975739"/>
            <a:ext cx="2546235" cy="1179282"/>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aphicFrame>
        <p:nvGraphicFramePr>
          <p:cNvPr id="53" name="对象 52">
            <a:extLst>
              <a:ext uri="{FF2B5EF4-FFF2-40B4-BE49-F238E27FC236}">
                <a16:creationId xmlns:a16="http://schemas.microsoft.com/office/drawing/2014/main" id="{B2C7FDBE-36FD-4649-B4A1-C1DDFB47DCE0}"/>
              </a:ext>
            </a:extLst>
          </p:cNvPr>
          <p:cNvGraphicFramePr>
            <a:graphicFrameLocks noChangeAspect="1"/>
          </p:cNvGraphicFramePr>
          <p:nvPr>
            <p:extLst>
              <p:ext uri="{D42A27DB-BD31-4B8C-83A1-F6EECF244321}">
                <p14:modId xmlns:p14="http://schemas.microsoft.com/office/powerpoint/2010/main" val="1626188469"/>
              </p:ext>
            </p:extLst>
          </p:nvPr>
        </p:nvGraphicFramePr>
        <p:xfrm>
          <a:off x="669412" y="5136608"/>
          <a:ext cx="1195323" cy="457270"/>
        </p:xfrm>
        <a:graphic>
          <a:graphicData uri="http://schemas.openxmlformats.org/presentationml/2006/ole">
            <mc:AlternateContent xmlns:mc="http://schemas.openxmlformats.org/markup-compatibility/2006">
              <mc:Choice xmlns:v="urn:schemas-microsoft-com:vml" Requires="v">
                <p:oleObj name="Equation" r:id="rId2" imgW="431640" imgH="164880" progId="Equation.DSMT4">
                  <p:embed/>
                </p:oleObj>
              </mc:Choice>
              <mc:Fallback>
                <p:oleObj name="Equation" r:id="rId2" imgW="431640" imgH="164880" progId="Equation.DSMT4">
                  <p:embed/>
                  <p:pic>
                    <p:nvPicPr>
                      <p:cNvPr id="0" name=""/>
                      <p:cNvPicPr/>
                      <p:nvPr/>
                    </p:nvPicPr>
                    <p:blipFill>
                      <a:blip r:embed="rId3"/>
                      <a:stretch>
                        <a:fillRect/>
                      </a:stretch>
                    </p:blipFill>
                    <p:spPr>
                      <a:xfrm>
                        <a:off x="669412" y="5136608"/>
                        <a:ext cx="1195323" cy="457270"/>
                      </a:xfrm>
                      <a:prstGeom prst="rect">
                        <a:avLst/>
                      </a:prstGeom>
                    </p:spPr>
                  </p:pic>
                </p:oleObj>
              </mc:Fallback>
            </mc:AlternateContent>
          </a:graphicData>
        </a:graphic>
      </p:graphicFrame>
      <p:graphicFrame>
        <p:nvGraphicFramePr>
          <p:cNvPr id="54" name="对象 53">
            <a:extLst>
              <a:ext uri="{FF2B5EF4-FFF2-40B4-BE49-F238E27FC236}">
                <a16:creationId xmlns:a16="http://schemas.microsoft.com/office/drawing/2014/main" id="{9E7DA9D1-B98B-4B4F-A9D6-6775D51A2A0C}"/>
              </a:ext>
            </a:extLst>
          </p:cNvPr>
          <p:cNvGraphicFramePr>
            <a:graphicFrameLocks noChangeAspect="1"/>
          </p:cNvGraphicFramePr>
          <p:nvPr>
            <p:extLst>
              <p:ext uri="{D42A27DB-BD31-4B8C-83A1-F6EECF244321}">
                <p14:modId xmlns:p14="http://schemas.microsoft.com/office/powerpoint/2010/main" val="3377532398"/>
              </p:ext>
            </p:extLst>
          </p:nvPr>
        </p:nvGraphicFramePr>
        <p:xfrm>
          <a:off x="371957" y="3536882"/>
          <a:ext cx="1110838" cy="497962"/>
        </p:xfrm>
        <a:graphic>
          <a:graphicData uri="http://schemas.openxmlformats.org/presentationml/2006/ole">
            <mc:AlternateContent xmlns:mc="http://schemas.openxmlformats.org/markup-compatibility/2006">
              <mc:Choice xmlns:v="urn:schemas-microsoft-com:vml" Requires="v">
                <p:oleObj name="Equation" r:id="rId4" imgW="368280" imgH="164880" progId="Equation.DSMT4">
                  <p:embed/>
                </p:oleObj>
              </mc:Choice>
              <mc:Fallback>
                <p:oleObj name="Equation" r:id="rId4" imgW="368280" imgH="164880" progId="Equation.DSMT4">
                  <p:embed/>
                  <p:pic>
                    <p:nvPicPr>
                      <p:cNvPr id="53" name="对象 52">
                        <a:extLst>
                          <a:ext uri="{FF2B5EF4-FFF2-40B4-BE49-F238E27FC236}">
                            <a16:creationId xmlns:a16="http://schemas.microsoft.com/office/drawing/2014/main" id="{B2C7FDBE-36FD-4649-B4A1-C1DDFB47DCE0}"/>
                          </a:ext>
                        </a:extLst>
                      </p:cNvPr>
                      <p:cNvPicPr/>
                      <p:nvPr/>
                    </p:nvPicPr>
                    <p:blipFill>
                      <a:blip r:embed="rId5"/>
                      <a:stretch>
                        <a:fillRect/>
                      </a:stretch>
                    </p:blipFill>
                    <p:spPr>
                      <a:xfrm>
                        <a:off x="371957" y="3536882"/>
                        <a:ext cx="1110838" cy="497962"/>
                      </a:xfrm>
                      <a:prstGeom prst="rect">
                        <a:avLst/>
                      </a:prstGeom>
                    </p:spPr>
                  </p:pic>
                </p:oleObj>
              </mc:Fallback>
            </mc:AlternateContent>
          </a:graphicData>
        </a:graphic>
      </p:graphicFrame>
      <p:cxnSp>
        <p:nvCxnSpPr>
          <p:cNvPr id="110" name="直接箭头连接符 109">
            <a:extLst>
              <a:ext uri="{FF2B5EF4-FFF2-40B4-BE49-F238E27FC236}">
                <a16:creationId xmlns:a16="http://schemas.microsoft.com/office/drawing/2014/main" id="{041C0480-EDB0-4AF8-AA1F-522E9A4B1D3E}"/>
              </a:ext>
            </a:extLst>
          </p:cNvPr>
          <p:cNvCxnSpPr>
            <a:cxnSpLocks/>
            <a:endCxn id="54" idx="3"/>
          </p:cNvCxnSpPr>
          <p:nvPr/>
        </p:nvCxnSpPr>
        <p:spPr bwMode="auto">
          <a:xfrm flipH="1">
            <a:off x="1482795" y="3737088"/>
            <a:ext cx="1612366" cy="48775"/>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2" name="任意多边形: 形状 111">
            <a:extLst>
              <a:ext uri="{FF2B5EF4-FFF2-40B4-BE49-F238E27FC236}">
                <a16:creationId xmlns:a16="http://schemas.microsoft.com/office/drawing/2014/main" id="{C15F1D40-5E89-4E0C-B5A4-018A6C7F1656}"/>
              </a:ext>
            </a:extLst>
          </p:cNvPr>
          <p:cNvSpPr/>
          <p:nvPr/>
        </p:nvSpPr>
        <p:spPr bwMode="auto">
          <a:xfrm rot="19088145">
            <a:off x="4046695" y="3459102"/>
            <a:ext cx="602685" cy="306795"/>
          </a:xfrm>
          <a:custGeom>
            <a:avLst/>
            <a:gdLst>
              <a:gd name="connsiteX0" fmla="*/ 362857 w 362857"/>
              <a:gd name="connsiteY0" fmla="*/ 0 h 326285"/>
              <a:gd name="connsiteX1" fmla="*/ 261257 w 362857"/>
              <a:gd name="connsiteY1" fmla="*/ 319314 h 326285"/>
              <a:gd name="connsiteX2" fmla="*/ 0 w 362857"/>
              <a:gd name="connsiteY2" fmla="*/ 217714 h 326285"/>
            </a:gdLst>
            <a:ahLst/>
            <a:cxnLst>
              <a:cxn ang="0">
                <a:pos x="connsiteX0" y="connsiteY0"/>
              </a:cxn>
              <a:cxn ang="0">
                <a:pos x="connsiteX1" y="connsiteY1"/>
              </a:cxn>
              <a:cxn ang="0">
                <a:pos x="connsiteX2" y="connsiteY2"/>
              </a:cxn>
            </a:cxnLst>
            <a:rect l="l" t="t" r="r" b="b"/>
            <a:pathLst>
              <a:path w="362857" h="326285">
                <a:moveTo>
                  <a:pt x="362857" y="0"/>
                </a:moveTo>
                <a:cubicBezTo>
                  <a:pt x="342295" y="141514"/>
                  <a:pt x="321733" y="283028"/>
                  <a:pt x="261257" y="319314"/>
                </a:cubicBezTo>
                <a:cubicBezTo>
                  <a:pt x="200781" y="355600"/>
                  <a:pt x="36286" y="239485"/>
                  <a:pt x="0" y="217714"/>
                </a:cubicBezTo>
              </a:path>
            </a:pathLst>
          </a:custGeom>
          <a:ln w="38100" cap="flat" cmpd="sng" algn="ctr">
            <a:solidFill>
              <a:schemeClr val="accent4"/>
            </a:solidFill>
            <a:prstDash val="sysDash"/>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113" name="直接箭头连接符 112">
            <a:extLst>
              <a:ext uri="{FF2B5EF4-FFF2-40B4-BE49-F238E27FC236}">
                <a16:creationId xmlns:a16="http://schemas.microsoft.com/office/drawing/2014/main" id="{9D0F6E21-76E2-4099-BFC7-2E7126DB5F47}"/>
              </a:ext>
            </a:extLst>
          </p:cNvPr>
          <p:cNvCxnSpPr>
            <a:cxnSpLocks/>
          </p:cNvCxnSpPr>
          <p:nvPr/>
        </p:nvCxnSpPr>
        <p:spPr bwMode="auto">
          <a:xfrm flipH="1">
            <a:off x="4559761" y="2448482"/>
            <a:ext cx="2546235" cy="1179282"/>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4" name="文本框 113">
            <a:extLst>
              <a:ext uri="{FF2B5EF4-FFF2-40B4-BE49-F238E27FC236}">
                <a16:creationId xmlns:a16="http://schemas.microsoft.com/office/drawing/2014/main" id="{93B799B3-06E0-4907-8A33-190FAD13D59B}"/>
              </a:ext>
            </a:extLst>
          </p:cNvPr>
          <p:cNvSpPr txBox="1"/>
          <p:nvPr/>
        </p:nvSpPr>
        <p:spPr>
          <a:xfrm>
            <a:off x="7026014" y="2158005"/>
            <a:ext cx="1107996" cy="461665"/>
          </a:xfrm>
          <a:prstGeom prst="rect">
            <a:avLst/>
          </a:prstGeom>
          <a:noFill/>
        </p:spPr>
        <p:txBody>
          <a:bodyPr wrap="none" rtlCol="0">
            <a:spAutoFit/>
          </a:bodyPr>
          <a:lstStyle/>
          <a:p>
            <a:r>
              <a:rPr lang="zh-CN" altLang="en-US" sz="2400" dirty="0"/>
              <a:t>可用角</a:t>
            </a:r>
          </a:p>
        </p:txBody>
      </p:sp>
      <p:cxnSp>
        <p:nvCxnSpPr>
          <p:cNvPr id="115" name="直接连接符 114">
            <a:extLst>
              <a:ext uri="{FF2B5EF4-FFF2-40B4-BE49-F238E27FC236}">
                <a16:creationId xmlns:a16="http://schemas.microsoft.com/office/drawing/2014/main" id="{AFE0A7AE-7BC6-4B47-B01E-79D7D940AE09}"/>
              </a:ext>
            </a:extLst>
          </p:cNvPr>
          <p:cNvCxnSpPr>
            <a:cxnSpLocks/>
          </p:cNvCxnSpPr>
          <p:nvPr/>
        </p:nvCxnSpPr>
        <p:spPr bwMode="auto">
          <a:xfrm>
            <a:off x="3880769" y="3318358"/>
            <a:ext cx="2949007" cy="1031462"/>
          </a:xfrm>
          <a:prstGeom prst="line">
            <a:avLst/>
          </a:prstGeom>
          <a:ln w="9525" cap="flat" cmpd="sng" algn="ctr">
            <a:solidFill>
              <a:srgbClr val="00206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9" name="文本框 118">
            <a:extLst>
              <a:ext uri="{FF2B5EF4-FFF2-40B4-BE49-F238E27FC236}">
                <a16:creationId xmlns:a16="http://schemas.microsoft.com/office/drawing/2014/main" id="{8131A0E1-6616-4F5F-8A65-F46D7214FF71}"/>
              </a:ext>
            </a:extLst>
          </p:cNvPr>
          <p:cNvSpPr txBox="1"/>
          <p:nvPr/>
        </p:nvSpPr>
        <p:spPr>
          <a:xfrm>
            <a:off x="6829776" y="3864113"/>
            <a:ext cx="1415772" cy="461665"/>
          </a:xfrm>
          <a:prstGeom prst="rect">
            <a:avLst/>
          </a:prstGeom>
          <a:noFill/>
        </p:spPr>
        <p:txBody>
          <a:bodyPr wrap="none" rtlCol="0">
            <a:spAutoFit/>
          </a:bodyPr>
          <a:lstStyle/>
          <a:p>
            <a:r>
              <a:rPr lang="zh-CN" altLang="en-US" sz="2400" dirty="0"/>
              <a:t>可用方向</a:t>
            </a:r>
          </a:p>
        </p:txBody>
      </p:sp>
      <p:sp>
        <p:nvSpPr>
          <p:cNvPr id="120" name="思想气泡: 云 119">
            <a:extLst>
              <a:ext uri="{FF2B5EF4-FFF2-40B4-BE49-F238E27FC236}">
                <a16:creationId xmlns:a16="http://schemas.microsoft.com/office/drawing/2014/main" id="{84835AFA-F859-4891-BD1B-3197BDD22EDF}"/>
              </a:ext>
            </a:extLst>
          </p:cNvPr>
          <p:cNvSpPr/>
          <p:nvPr/>
        </p:nvSpPr>
        <p:spPr bwMode="auto">
          <a:xfrm>
            <a:off x="5479135" y="1191176"/>
            <a:ext cx="2464118" cy="847428"/>
          </a:xfrm>
          <a:prstGeom prst="cloudCallout">
            <a:avLst>
              <a:gd name="adj1" fmla="val -109653"/>
              <a:gd name="adj2" fmla="val 187518"/>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C00000"/>
                </a:solidFill>
                <a:effectLst/>
                <a:latin typeface="Arial" charset="0"/>
              </a:rPr>
              <a:t>非极值点</a:t>
            </a:r>
          </a:p>
        </p:txBody>
      </p:sp>
    </p:spTree>
    <p:extLst>
      <p:ext uri="{BB962C8B-B14F-4D97-AF65-F5344CB8AC3E}">
        <p14:creationId xmlns:p14="http://schemas.microsoft.com/office/powerpoint/2010/main" val="1854821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inVertical)">
                                      <p:cBhvr>
                                        <p:cTn id="7" dur="500"/>
                                        <p:tgtEl>
                                          <p:spTgt spid="24"/>
                                        </p:tgtEl>
                                      </p:cBhvr>
                                    </p:animEffect>
                                  </p:childTnLst>
                                </p:cTn>
                              </p:par>
                              <p:par>
                                <p:cTn id="8" presetID="16" presetClass="entr" presetSubtype="21"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barn(inVertical)">
                                      <p:cBhvr>
                                        <p:cTn id="10" dur="500"/>
                                        <p:tgtEl>
                                          <p:spTgt spid="25"/>
                                        </p:tgtEl>
                                      </p:cBhvr>
                                    </p:animEffect>
                                  </p:childTnLst>
                                </p:cTn>
                              </p:par>
                              <p:par>
                                <p:cTn id="11" presetID="16" presetClass="entr" presetSubtype="21"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barn(inVertical)">
                                      <p:cBhvr>
                                        <p:cTn id="13" dur="500"/>
                                        <p:tgtEl>
                                          <p:spTgt spid="26"/>
                                        </p:tgtEl>
                                      </p:cBhvr>
                                    </p:animEffect>
                                  </p:childTnLst>
                                </p:cTn>
                              </p:par>
                              <p:par>
                                <p:cTn id="14" presetID="16" presetClass="entr" presetSubtype="21"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barn(inVertical)">
                                      <p:cBhvr>
                                        <p:cTn id="16" dur="500"/>
                                        <p:tgtEl>
                                          <p:spTgt spid="28"/>
                                        </p:tgtEl>
                                      </p:cBhvr>
                                    </p:animEffect>
                                  </p:childTnLst>
                                </p:cTn>
                              </p:par>
                              <p:par>
                                <p:cTn id="17" presetID="16" presetClass="entr" presetSubtype="21"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barn(inVertical)">
                                      <p:cBhvr>
                                        <p:cTn id="19" dur="500"/>
                                        <p:tgtEl>
                                          <p:spTgt spid="29"/>
                                        </p:tgtEl>
                                      </p:cBhvr>
                                    </p:animEffect>
                                  </p:childTnLst>
                                </p:cTn>
                              </p:par>
                              <p:par>
                                <p:cTn id="20" presetID="16" presetClass="entr" presetSubtype="21" fill="hold"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barn(inVertical)">
                                      <p:cBhvr>
                                        <p:cTn id="22" dur="500"/>
                                        <p:tgtEl>
                                          <p:spTgt spid="30"/>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barn(inVertical)">
                                      <p:cBhvr>
                                        <p:cTn id="25" dur="500"/>
                                        <p:tgtEl>
                                          <p:spTgt spid="31"/>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barn(inVertical)">
                                      <p:cBhvr>
                                        <p:cTn id="28" dur="500"/>
                                        <p:tgtEl>
                                          <p:spTgt spid="32"/>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barn(inVertical)">
                                      <p:cBhvr>
                                        <p:cTn id="31" dur="500"/>
                                        <p:tgtEl>
                                          <p:spTgt spid="33"/>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barn(inVertical)">
                                      <p:cBhvr>
                                        <p:cTn id="34" dur="500"/>
                                        <p:tgtEl>
                                          <p:spTgt spid="34"/>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barn(inVertical)">
                                      <p:cBhvr>
                                        <p:cTn id="37" dur="500"/>
                                        <p:tgtEl>
                                          <p:spTgt spid="35"/>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barn(inVertical)">
                                      <p:cBhvr>
                                        <p:cTn id="40" dur="500"/>
                                        <p:tgtEl>
                                          <p:spTgt spid="3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wipe(down)">
                                      <p:cBhvr>
                                        <p:cTn id="45" dur="500"/>
                                        <p:tgtEl>
                                          <p:spTgt spid="37"/>
                                        </p:tgtEl>
                                      </p:cBhvr>
                                    </p:animEffect>
                                  </p:childTnLst>
                                </p:cTn>
                              </p:par>
                            </p:childTnLst>
                          </p:cTn>
                        </p:par>
                        <p:par>
                          <p:cTn id="46" fill="hold">
                            <p:stCondLst>
                              <p:cond delay="500"/>
                            </p:stCondLst>
                            <p:childTnLst>
                              <p:par>
                                <p:cTn id="47" presetID="16" presetClass="entr" presetSubtype="21" fill="hold" grpId="0" nodeType="afterEffect">
                                  <p:stCondLst>
                                    <p:cond delay="0"/>
                                  </p:stCondLst>
                                  <p:childTnLst>
                                    <p:set>
                                      <p:cBhvr>
                                        <p:cTn id="48" dur="1" fill="hold">
                                          <p:stCondLst>
                                            <p:cond delay="0"/>
                                          </p:stCondLst>
                                        </p:cTn>
                                        <p:tgtEl>
                                          <p:spTgt spid="120"/>
                                        </p:tgtEl>
                                        <p:attrNameLst>
                                          <p:attrName>style.visibility</p:attrName>
                                        </p:attrNameLst>
                                      </p:cBhvr>
                                      <p:to>
                                        <p:strVal val="visible"/>
                                      </p:to>
                                    </p:set>
                                    <p:animEffect transition="in" filter="barn(inVertical)">
                                      <p:cBhvr>
                                        <p:cTn id="49" dur="500"/>
                                        <p:tgtEl>
                                          <p:spTgt spid="120"/>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barn(inVertical)">
                                      <p:cBhvr>
                                        <p:cTn id="54" dur="500"/>
                                        <p:tgtEl>
                                          <p:spTgt spid="12"/>
                                        </p:tgtEl>
                                      </p:cBhvr>
                                    </p:animEffect>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nodeType="click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barn(inVertical)">
                                      <p:cBhvr>
                                        <p:cTn id="59" dur="500"/>
                                        <p:tgtEl>
                                          <p:spTgt spid="38"/>
                                        </p:tgtEl>
                                      </p:cBhvr>
                                    </p:animEffect>
                                  </p:childTnLst>
                                </p:cTn>
                              </p:par>
                            </p:childTnLst>
                          </p:cTn>
                        </p:par>
                        <p:par>
                          <p:cTn id="60" fill="hold">
                            <p:stCondLst>
                              <p:cond delay="500"/>
                            </p:stCondLst>
                            <p:childTnLst>
                              <p:par>
                                <p:cTn id="61" presetID="16" presetClass="entr" presetSubtype="21" fill="hold" nodeType="afterEffect">
                                  <p:stCondLst>
                                    <p:cond delay="0"/>
                                  </p:stCondLst>
                                  <p:childTnLst>
                                    <p:set>
                                      <p:cBhvr>
                                        <p:cTn id="62" dur="1" fill="hold">
                                          <p:stCondLst>
                                            <p:cond delay="0"/>
                                          </p:stCondLst>
                                        </p:cTn>
                                        <p:tgtEl>
                                          <p:spTgt spid="50"/>
                                        </p:tgtEl>
                                        <p:attrNameLst>
                                          <p:attrName>style.visibility</p:attrName>
                                        </p:attrNameLst>
                                      </p:cBhvr>
                                      <p:to>
                                        <p:strVal val="visible"/>
                                      </p:to>
                                    </p:set>
                                    <p:animEffect transition="in" filter="barn(inVertical)">
                                      <p:cBhvr>
                                        <p:cTn id="63" dur="500"/>
                                        <p:tgtEl>
                                          <p:spTgt spid="50"/>
                                        </p:tgtEl>
                                      </p:cBhvr>
                                    </p:animEffect>
                                  </p:childTnLst>
                                </p:cTn>
                              </p:par>
                              <p:par>
                                <p:cTn id="64" presetID="16" presetClass="entr" presetSubtype="21" fill="hold" nodeType="withEffect">
                                  <p:stCondLst>
                                    <p:cond delay="0"/>
                                  </p:stCondLst>
                                  <p:childTnLst>
                                    <p:set>
                                      <p:cBhvr>
                                        <p:cTn id="65" dur="1" fill="hold">
                                          <p:stCondLst>
                                            <p:cond delay="0"/>
                                          </p:stCondLst>
                                        </p:cTn>
                                        <p:tgtEl>
                                          <p:spTgt spid="53"/>
                                        </p:tgtEl>
                                        <p:attrNameLst>
                                          <p:attrName>style.visibility</p:attrName>
                                        </p:attrNameLst>
                                      </p:cBhvr>
                                      <p:to>
                                        <p:strVal val="visible"/>
                                      </p:to>
                                    </p:set>
                                    <p:animEffect transition="in" filter="barn(inVertical)">
                                      <p:cBhvr>
                                        <p:cTn id="66" dur="500"/>
                                        <p:tgtEl>
                                          <p:spTgt spid="53"/>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21" fill="hold" nodeType="clickEffect">
                                  <p:stCondLst>
                                    <p:cond delay="0"/>
                                  </p:stCondLst>
                                  <p:childTnLst>
                                    <p:set>
                                      <p:cBhvr>
                                        <p:cTn id="70" dur="1" fill="hold">
                                          <p:stCondLst>
                                            <p:cond delay="0"/>
                                          </p:stCondLst>
                                        </p:cTn>
                                        <p:tgtEl>
                                          <p:spTgt spid="40"/>
                                        </p:tgtEl>
                                        <p:attrNameLst>
                                          <p:attrName>style.visibility</p:attrName>
                                        </p:attrNameLst>
                                      </p:cBhvr>
                                      <p:to>
                                        <p:strVal val="visible"/>
                                      </p:to>
                                    </p:set>
                                    <p:animEffect transition="in" filter="barn(inVertical)">
                                      <p:cBhvr>
                                        <p:cTn id="71" dur="500"/>
                                        <p:tgtEl>
                                          <p:spTgt spid="40"/>
                                        </p:tgtEl>
                                      </p:cBhvr>
                                    </p:animEffect>
                                  </p:childTnLst>
                                </p:cTn>
                              </p:par>
                            </p:childTnLst>
                          </p:cTn>
                        </p:par>
                      </p:childTnLst>
                    </p:cTn>
                  </p:par>
                  <p:par>
                    <p:cTn id="72" fill="hold">
                      <p:stCondLst>
                        <p:cond delay="indefinite"/>
                      </p:stCondLst>
                      <p:childTnLst>
                        <p:par>
                          <p:cTn id="73" fill="hold">
                            <p:stCondLst>
                              <p:cond delay="0"/>
                            </p:stCondLst>
                            <p:childTnLst>
                              <p:par>
                                <p:cTn id="74" presetID="16" presetClass="entr" presetSubtype="21" fill="hold" nodeType="click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barn(inVertical)">
                                      <p:cBhvr>
                                        <p:cTn id="76" dur="500"/>
                                        <p:tgtEl>
                                          <p:spTgt spid="46"/>
                                        </p:tgtEl>
                                      </p:cBhvr>
                                    </p:animEffect>
                                  </p:childTnLst>
                                </p:cTn>
                              </p:par>
                            </p:childTnLst>
                          </p:cTn>
                        </p:par>
                        <p:par>
                          <p:cTn id="77" fill="hold">
                            <p:stCondLst>
                              <p:cond delay="500"/>
                            </p:stCondLst>
                            <p:childTnLst>
                              <p:par>
                                <p:cTn id="78" presetID="22" presetClass="entr" presetSubtype="4" fill="hold" nodeType="afterEffect">
                                  <p:stCondLst>
                                    <p:cond delay="0"/>
                                  </p:stCondLst>
                                  <p:childTnLst>
                                    <p:set>
                                      <p:cBhvr>
                                        <p:cTn id="79" dur="1" fill="hold">
                                          <p:stCondLst>
                                            <p:cond delay="0"/>
                                          </p:stCondLst>
                                        </p:cTn>
                                        <p:tgtEl>
                                          <p:spTgt spid="110"/>
                                        </p:tgtEl>
                                        <p:attrNameLst>
                                          <p:attrName>style.visibility</p:attrName>
                                        </p:attrNameLst>
                                      </p:cBhvr>
                                      <p:to>
                                        <p:strVal val="visible"/>
                                      </p:to>
                                    </p:set>
                                    <p:animEffect transition="in" filter="wipe(down)">
                                      <p:cBhvr>
                                        <p:cTn id="80" dur="500"/>
                                        <p:tgtEl>
                                          <p:spTgt spid="110"/>
                                        </p:tgtEl>
                                      </p:cBhvr>
                                    </p:animEffect>
                                  </p:childTnLst>
                                </p:cTn>
                              </p:par>
                              <p:par>
                                <p:cTn id="81" presetID="22" presetClass="entr" presetSubtype="4" fill="hold" nodeType="withEffect">
                                  <p:stCondLst>
                                    <p:cond delay="0"/>
                                  </p:stCondLst>
                                  <p:childTnLst>
                                    <p:set>
                                      <p:cBhvr>
                                        <p:cTn id="82" dur="1" fill="hold">
                                          <p:stCondLst>
                                            <p:cond delay="0"/>
                                          </p:stCondLst>
                                        </p:cTn>
                                        <p:tgtEl>
                                          <p:spTgt spid="54"/>
                                        </p:tgtEl>
                                        <p:attrNameLst>
                                          <p:attrName>style.visibility</p:attrName>
                                        </p:attrNameLst>
                                      </p:cBhvr>
                                      <p:to>
                                        <p:strVal val="visible"/>
                                      </p:to>
                                    </p:set>
                                    <p:animEffect transition="in" filter="wipe(down)">
                                      <p:cBhvr>
                                        <p:cTn id="83" dur="500"/>
                                        <p:tgtEl>
                                          <p:spTgt spid="54"/>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grpId="0" nodeType="clickEffect">
                                  <p:stCondLst>
                                    <p:cond delay="0"/>
                                  </p:stCondLst>
                                  <p:childTnLst>
                                    <p:set>
                                      <p:cBhvr>
                                        <p:cTn id="87" dur="1" fill="hold">
                                          <p:stCondLst>
                                            <p:cond delay="0"/>
                                          </p:stCondLst>
                                        </p:cTn>
                                        <p:tgtEl>
                                          <p:spTgt spid="112"/>
                                        </p:tgtEl>
                                        <p:attrNameLst>
                                          <p:attrName>style.visibility</p:attrName>
                                        </p:attrNameLst>
                                      </p:cBhvr>
                                      <p:to>
                                        <p:strVal val="visible"/>
                                      </p:to>
                                    </p:set>
                                    <p:animEffect transition="in" filter="wipe(down)">
                                      <p:cBhvr>
                                        <p:cTn id="88" dur="500"/>
                                        <p:tgtEl>
                                          <p:spTgt spid="112"/>
                                        </p:tgtEl>
                                      </p:cBhvr>
                                    </p:animEffect>
                                  </p:childTnLst>
                                </p:cTn>
                              </p:par>
                            </p:childTnLst>
                          </p:cTn>
                        </p:par>
                        <p:par>
                          <p:cTn id="89" fill="hold">
                            <p:stCondLst>
                              <p:cond delay="500"/>
                            </p:stCondLst>
                            <p:childTnLst>
                              <p:par>
                                <p:cTn id="90" presetID="16" presetClass="entr" presetSubtype="21" fill="hold" nodeType="afterEffect">
                                  <p:stCondLst>
                                    <p:cond delay="0"/>
                                  </p:stCondLst>
                                  <p:childTnLst>
                                    <p:set>
                                      <p:cBhvr>
                                        <p:cTn id="91" dur="1" fill="hold">
                                          <p:stCondLst>
                                            <p:cond delay="0"/>
                                          </p:stCondLst>
                                        </p:cTn>
                                        <p:tgtEl>
                                          <p:spTgt spid="113"/>
                                        </p:tgtEl>
                                        <p:attrNameLst>
                                          <p:attrName>style.visibility</p:attrName>
                                        </p:attrNameLst>
                                      </p:cBhvr>
                                      <p:to>
                                        <p:strVal val="visible"/>
                                      </p:to>
                                    </p:set>
                                    <p:animEffect transition="in" filter="barn(inVertical)">
                                      <p:cBhvr>
                                        <p:cTn id="92" dur="500"/>
                                        <p:tgtEl>
                                          <p:spTgt spid="113"/>
                                        </p:tgtEl>
                                      </p:cBhvr>
                                    </p:animEffect>
                                  </p:childTnLst>
                                </p:cTn>
                              </p:par>
                            </p:childTnLst>
                          </p:cTn>
                        </p:par>
                        <p:par>
                          <p:cTn id="93" fill="hold">
                            <p:stCondLst>
                              <p:cond delay="1000"/>
                            </p:stCondLst>
                            <p:childTnLst>
                              <p:par>
                                <p:cTn id="94" presetID="16" presetClass="entr" presetSubtype="21" fill="hold" grpId="0" nodeType="afterEffect">
                                  <p:stCondLst>
                                    <p:cond delay="0"/>
                                  </p:stCondLst>
                                  <p:childTnLst>
                                    <p:set>
                                      <p:cBhvr>
                                        <p:cTn id="95" dur="1" fill="hold">
                                          <p:stCondLst>
                                            <p:cond delay="0"/>
                                          </p:stCondLst>
                                        </p:cTn>
                                        <p:tgtEl>
                                          <p:spTgt spid="114"/>
                                        </p:tgtEl>
                                        <p:attrNameLst>
                                          <p:attrName>style.visibility</p:attrName>
                                        </p:attrNameLst>
                                      </p:cBhvr>
                                      <p:to>
                                        <p:strVal val="visible"/>
                                      </p:to>
                                    </p:set>
                                    <p:animEffect transition="in" filter="barn(inVertical)">
                                      <p:cBhvr>
                                        <p:cTn id="96" dur="500"/>
                                        <p:tgtEl>
                                          <p:spTgt spid="114"/>
                                        </p:tgtEl>
                                      </p:cBhvr>
                                    </p:animEffect>
                                  </p:childTnLst>
                                </p:cTn>
                              </p:par>
                            </p:childTnLst>
                          </p:cTn>
                        </p:par>
                      </p:childTnLst>
                    </p:cTn>
                  </p:par>
                  <p:par>
                    <p:cTn id="97" fill="hold">
                      <p:stCondLst>
                        <p:cond delay="indefinite"/>
                      </p:stCondLst>
                      <p:childTnLst>
                        <p:par>
                          <p:cTn id="98" fill="hold">
                            <p:stCondLst>
                              <p:cond delay="0"/>
                            </p:stCondLst>
                            <p:childTnLst>
                              <p:par>
                                <p:cTn id="99" presetID="16" presetClass="entr" presetSubtype="21" fill="hold" nodeType="clickEffect">
                                  <p:stCondLst>
                                    <p:cond delay="0"/>
                                  </p:stCondLst>
                                  <p:childTnLst>
                                    <p:set>
                                      <p:cBhvr>
                                        <p:cTn id="100" dur="1" fill="hold">
                                          <p:stCondLst>
                                            <p:cond delay="0"/>
                                          </p:stCondLst>
                                        </p:cTn>
                                        <p:tgtEl>
                                          <p:spTgt spid="115"/>
                                        </p:tgtEl>
                                        <p:attrNameLst>
                                          <p:attrName>style.visibility</p:attrName>
                                        </p:attrNameLst>
                                      </p:cBhvr>
                                      <p:to>
                                        <p:strVal val="visible"/>
                                      </p:to>
                                    </p:set>
                                    <p:animEffect transition="in" filter="barn(inVertical)">
                                      <p:cBhvr>
                                        <p:cTn id="101" dur="500"/>
                                        <p:tgtEl>
                                          <p:spTgt spid="115"/>
                                        </p:tgtEl>
                                      </p:cBhvr>
                                    </p:animEffect>
                                  </p:childTnLst>
                                </p:cTn>
                              </p:par>
                            </p:childTnLst>
                          </p:cTn>
                        </p:par>
                        <p:par>
                          <p:cTn id="102" fill="hold">
                            <p:stCondLst>
                              <p:cond delay="500"/>
                            </p:stCondLst>
                            <p:childTnLst>
                              <p:par>
                                <p:cTn id="103" presetID="16" presetClass="entr" presetSubtype="21" fill="hold" grpId="0" nodeType="afterEffect">
                                  <p:stCondLst>
                                    <p:cond delay="0"/>
                                  </p:stCondLst>
                                  <p:childTnLst>
                                    <p:set>
                                      <p:cBhvr>
                                        <p:cTn id="104" dur="1" fill="hold">
                                          <p:stCondLst>
                                            <p:cond delay="0"/>
                                          </p:stCondLst>
                                        </p:cTn>
                                        <p:tgtEl>
                                          <p:spTgt spid="119"/>
                                        </p:tgtEl>
                                        <p:attrNameLst>
                                          <p:attrName>style.visibility</p:attrName>
                                        </p:attrNameLst>
                                      </p:cBhvr>
                                      <p:to>
                                        <p:strVal val="visible"/>
                                      </p:to>
                                    </p:set>
                                    <p:animEffect transition="in" filter="barn(inVertical)">
                                      <p:cBhvr>
                                        <p:cTn id="105"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1" grpId="0"/>
      <p:bldP spid="32" grpId="0" animBg="1"/>
      <p:bldP spid="33" grpId="0" animBg="1"/>
      <p:bldP spid="34" grpId="0" animBg="1"/>
      <p:bldP spid="35" grpId="0" animBg="1"/>
      <p:bldP spid="36" grpId="0" animBg="1"/>
      <p:bldP spid="37" grpId="0" animBg="1"/>
      <p:bldP spid="112" grpId="0" animBg="1"/>
      <p:bldP spid="114" grpId="0"/>
      <p:bldP spid="119" grpId="0"/>
      <p:bldP spid="12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207DE6-5FB8-4D8C-85C2-687B849136D0}"/>
              </a:ext>
            </a:extLst>
          </p:cNvPr>
          <p:cNvSpPr>
            <a:spLocks noGrp="1"/>
          </p:cNvSpPr>
          <p:nvPr>
            <p:ph type="title"/>
          </p:nvPr>
        </p:nvSpPr>
        <p:spPr/>
        <p:txBody>
          <a:bodyPr/>
          <a:lstStyle/>
          <a:p>
            <a:r>
              <a:rPr lang="en-US" altLang="zh-CN" dirty="0"/>
              <a:t>K-T</a:t>
            </a:r>
            <a:r>
              <a:rPr lang="zh-CN" altLang="en-US" dirty="0"/>
              <a:t>条件分析</a:t>
            </a:r>
          </a:p>
        </p:txBody>
      </p:sp>
      <p:sp>
        <p:nvSpPr>
          <p:cNvPr id="3" name="内容占位符 2">
            <a:extLst>
              <a:ext uri="{FF2B5EF4-FFF2-40B4-BE49-F238E27FC236}">
                <a16:creationId xmlns:a16="http://schemas.microsoft.com/office/drawing/2014/main" id="{E6B70BD0-3671-4F11-9514-B7778E339AA0}"/>
              </a:ext>
            </a:extLst>
          </p:cNvPr>
          <p:cNvSpPr>
            <a:spLocks noGrp="1"/>
          </p:cNvSpPr>
          <p:nvPr>
            <p:ph idx="1"/>
          </p:nvPr>
        </p:nvSpPr>
        <p:spPr>
          <a:xfrm>
            <a:off x="58044" y="1196752"/>
            <a:ext cx="9719492" cy="799663"/>
          </a:xfrm>
        </p:spPr>
        <p:txBody>
          <a:bodyPr/>
          <a:lstStyle/>
          <a:p>
            <a:r>
              <a:rPr lang="en-US" altLang="zh-CN" dirty="0"/>
              <a:t>1. </a:t>
            </a:r>
            <a:r>
              <a:rPr lang="zh-CN" altLang="en-US" dirty="0"/>
              <a:t>只有一个约束起作用</a:t>
            </a:r>
            <a:endParaRPr lang="en-US" altLang="zh-CN" dirty="0"/>
          </a:p>
        </p:txBody>
      </p:sp>
      <p:sp>
        <p:nvSpPr>
          <p:cNvPr id="4" name="日期占位符 3">
            <a:extLst>
              <a:ext uri="{FF2B5EF4-FFF2-40B4-BE49-F238E27FC236}">
                <a16:creationId xmlns:a16="http://schemas.microsoft.com/office/drawing/2014/main" id="{0FF3692F-3AEA-4DA6-8EBB-5D1D8E5ADB8C}"/>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95D4AC2A-5971-4337-85B1-EF4760D1B8FE}"/>
              </a:ext>
            </a:extLst>
          </p:cNvPr>
          <p:cNvSpPr>
            <a:spLocks noGrp="1"/>
          </p:cNvSpPr>
          <p:nvPr>
            <p:ph type="sldNum" sz="quarter" idx="12"/>
          </p:nvPr>
        </p:nvSpPr>
        <p:spPr/>
        <p:txBody>
          <a:bodyPr/>
          <a:lstStyle/>
          <a:p>
            <a:fld id="{7AC79822-BC0D-4DE8-A7E5-90A3732A2B82}" type="slidenum">
              <a:rPr lang="zh-CN" altLang="en-US" smtClean="0"/>
              <a:pPr/>
              <a:t>41</a:t>
            </a:fld>
            <a:endParaRPr lang="en-US" altLang="zh-CN" dirty="0"/>
          </a:p>
        </p:txBody>
      </p:sp>
      <p:sp>
        <p:nvSpPr>
          <p:cNvPr id="24" name="流程图: 接点 23">
            <a:extLst>
              <a:ext uri="{FF2B5EF4-FFF2-40B4-BE49-F238E27FC236}">
                <a16:creationId xmlns:a16="http://schemas.microsoft.com/office/drawing/2014/main" id="{AF430002-20DF-42E5-AA19-158EB4DE676D}"/>
              </a:ext>
            </a:extLst>
          </p:cNvPr>
          <p:cNvSpPr/>
          <p:nvPr/>
        </p:nvSpPr>
        <p:spPr bwMode="auto">
          <a:xfrm>
            <a:off x="3852195" y="4306804"/>
            <a:ext cx="439713" cy="352093"/>
          </a:xfrm>
          <a:prstGeom prst="flowChartConnector">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25" name="直接连接符 24">
            <a:extLst>
              <a:ext uri="{FF2B5EF4-FFF2-40B4-BE49-F238E27FC236}">
                <a16:creationId xmlns:a16="http://schemas.microsoft.com/office/drawing/2014/main" id="{745C6A2B-97DE-4484-A5E9-CA8BA584AA5A}"/>
              </a:ext>
            </a:extLst>
          </p:cNvPr>
          <p:cNvCxnSpPr>
            <a:cxnSpLocks/>
          </p:cNvCxnSpPr>
          <p:nvPr/>
        </p:nvCxnSpPr>
        <p:spPr bwMode="auto">
          <a:xfrm flipH="1">
            <a:off x="7354476" y="5145443"/>
            <a:ext cx="140352" cy="2581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a:extLst>
              <a:ext uri="{FF2B5EF4-FFF2-40B4-BE49-F238E27FC236}">
                <a16:creationId xmlns:a16="http://schemas.microsoft.com/office/drawing/2014/main" id="{621B08D9-CEED-40B0-8F80-17B6060D3E16}"/>
              </a:ext>
            </a:extLst>
          </p:cNvPr>
          <p:cNvCxnSpPr>
            <a:cxnSpLocks/>
          </p:cNvCxnSpPr>
          <p:nvPr/>
        </p:nvCxnSpPr>
        <p:spPr bwMode="auto">
          <a:xfrm flipV="1">
            <a:off x="6374441" y="4929251"/>
            <a:ext cx="244332" cy="21482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a:extLst>
              <a:ext uri="{FF2B5EF4-FFF2-40B4-BE49-F238E27FC236}">
                <a16:creationId xmlns:a16="http://schemas.microsoft.com/office/drawing/2014/main" id="{F619AB37-1C70-4643-A566-05E34522A7F3}"/>
              </a:ext>
            </a:extLst>
          </p:cNvPr>
          <p:cNvCxnSpPr>
            <a:cxnSpLocks/>
          </p:cNvCxnSpPr>
          <p:nvPr/>
        </p:nvCxnSpPr>
        <p:spPr bwMode="auto">
          <a:xfrm flipH="1">
            <a:off x="7179625" y="5144079"/>
            <a:ext cx="118850" cy="19549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a:extLst>
              <a:ext uri="{FF2B5EF4-FFF2-40B4-BE49-F238E27FC236}">
                <a16:creationId xmlns:a16="http://schemas.microsoft.com/office/drawing/2014/main" id="{52DD8F3C-F7E7-4B14-95B8-30497315E5DC}"/>
              </a:ext>
            </a:extLst>
          </p:cNvPr>
          <p:cNvCxnSpPr>
            <a:cxnSpLocks/>
          </p:cNvCxnSpPr>
          <p:nvPr/>
        </p:nvCxnSpPr>
        <p:spPr bwMode="auto">
          <a:xfrm flipH="1">
            <a:off x="6887881" y="5048105"/>
            <a:ext cx="222792" cy="21017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a:extLst>
              <a:ext uri="{FF2B5EF4-FFF2-40B4-BE49-F238E27FC236}">
                <a16:creationId xmlns:a16="http://schemas.microsoft.com/office/drawing/2014/main" id="{63A9A34E-83F2-4E28-8086-3DEAD3708F30}"/>
              </a:ext>
            </a:extLst>
          </p:cNvPr>
          <p:cNvCxnSpPr>
            <a:cxnSpLocks/>
          </p:cNvCxnSpPr>
          <p:nvPr/>
        </p:nvCxnSpPr>
        <p:spPr bwMode="auto">
          <a:xfrm flipV="1">
            <a:off x="3424948" y="2664279"/>
            <a:ext cx="302410" cy="6169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文本框 30">
            <a:extLst>
              <a:ext uri="{FF2B5EF4-FFF2-40B4-BE49-F238E27FC236}">
                <a16:creationId xmlns:a16="http://schemas.microsoft.com/office/drawing/2014/main" id="{1313714B-AD0F-4482-9106-CB5FF8390275}"/>
              </a:ext>
            </a:extLst>
          </p:cNvPr>
          <p:cNvSpPr txBox="1"/>
          <p:nvPr/>
        </p:nvSpPr>
        <p:spPr>
          <a:xfrm>
            <a:off x="7026014" y="4572479"/>
            <a:ext cx="917239" cy="400110"/>
          </a:xfrm>
          <a:prstGeom prst="rect">
            <a:avLst/>
          </a:prstGeom>
          <a:noFill/>
        </p:spPr>
        <p:txBody>
          <a:bodyPr wrap="none" rtlCol="0">
            <a:spAutoFit/>
          </a:bodyPr>
          <a:lstStyle/>
          <a:p>
            <a:r>
              <a:rPr lang="en-US" altLang="zh-CN" sz="2000" dirty="0"/>
              <a:t>g(x)=0</a:t>
            </a:r>
          </a:p>
        </p:txBody>
      </p:sp>
      <p:sp>
        <p:nvSpPr>
          <p:cNvPr id="32" name="椭圆 31">
            <a:extLst>
              <a:ext uri="{FF2B5EF4-FFF2-40B4-BE49-F238E27FC236}">
                <a16:creationId xmlns:a16="http://schemas.microsoft.com/office/drawing/2014/main" id="{A1C18087-0D13-46A5-8FA3-DA2E7BF5454A}"/>
              </a:ext>
            </a:extLst>
          </p:cNvPr>
          <p:cNvSpPr/>
          <p:nvPr/>
        </p:nvSpPr>
        <p:spPr bwMode="auto">
          <a:xfrm>
            <a:off x="3264479" y="4081112"/>
            <a:ext cx="1612251" cy="805047"/>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3" name="椭圆 32">
            <a:extLst>
              <a:ext uri="{FF2B5EF4-FFF2-40B4-BE49-F238E27FC236}">
                <a16:creationId xmlns:a16="http://schemas.microsoft.com/office/drawing/2014/main" id="{2B8410B1-524A-4C67-A70D-C98821F4D50F}"/>
              </a:ext>
            </a:extLst>
          </p:cNvPr>
          <p:cNvSpPr/>
          <p:nvPr/>
        </p:nvSpPr>
        <p:spPr bwMode="auto">
          <a:xfrm>
            <a:off x="2717265" y="3704397"/>
            <a:ext cx="2727753" cy="1544088"/>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4" name="椭圆 33">
            <a:extLst>
              <a:ext uri="{FF2B5EF4-FFF2-40B4-BE49-F238E27FC236}">
                <a16:creationId xmlns:a16="http://schemas.microsoft.com/office/drawing/2014/main" id="{A56D1B6F-562C-4B8F-BEB3-962AC3725514}"/>
              </a:ext>
            </a:extLst>
          </p:cNvPr>
          <p:cNvSpPr/>
          <p:nvPr/>
        </p:nvSpPr>
        <p:spPr bwMode="auto">
          <a:xfrm>
            <a:off x="2256004" y="3317092"/>
            <a:ext cx="3588330" cy="2338636"/>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5" name="椭圆 34">
            <a:extLst>
              <a:ext uri="{FF2B5EF4-FFF2-40B4-BE49-F238E27FC236}">
                <a16:creationId xmlns:a16="http://schemas.microsoft.com/office/drawing/2014/main" id="{7FF8EEE9-5350-4F65-B5F9-08E3D9CB8321}"/>
              </a:ext>
            </a:extLst>
          </p:cNvPr>
          <p:cNvSpPr/>
          <p:nvPr/>
        </p:nvSpPr>
        <p:spPr bwMode="auto">
          <a:xfrm>
            <a:off x="1784648" y="2994834"/>
            <a:ext cx="4536504" cy="2954446"/>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6" name="任意多边形: 形状 35">
            <a:extLst>
              <a:ext uri="{FF2B5EF4-FFF2-40B4-BE49-F238E27FC236}">
                <a16:creationId xmlns:a16="http://schemas.microsoft.com/office/drawing/2014/main" id="{2B3E1A49-EFA8-47C7-B353-318489AD42E2}"/>
              </a:ext>
            </a:extLst>
          </p:cNvPr>
          <p:cNvSpPr/>
          <p:nvPr/>
        </p:nvSpPr>
        <p:spPr bwMode="auto">
          <a:xfrm rot="1058122">
            <a:off x="3290364" y="3079791"/>
            <a:ext cx="4702457" cy="1527972"/>
          </a:xfrm>
          <a:custGeom>
            <a:avLst/>
            <a:gdLst>
              <a:gd name="connsiteX0" fmla="*/ 0 w 2325511"/>
              <a:gd name="connsiteY0" fmla="*/ 0 h 828423"/>
              <a:gd name="connsiteX1" fmla="*/ 767644 w 2325511"/>
              <a:gd name="connsiteY1" fmla="*/ 767645 h 828423"/>
              <a:gd name="connsiteX2" fmla="*/ 2280355 w 2325511"/>
              <a:gd name="connsiteY2" fmla="*/ 778934 h 828423"/>
              <a:gd name="connsiteX3" fmla="*/ 2325511 w 2325511"/>
              <a:gd name="connsiteY3" fmla="*/ 778934 h 828423"/>
            </a:gdLst>
            <a:ahLst/>
            <a:cxnLst>
              <a:cxn ang="0">
                <a:pos x="connsiteX0" y="connsiteY0"/>
              </a:cxn>
              <a:cxn ang="0">
                <a:pos x="connsiteX1" y="connsiteY1"/>
              </a:cxn>
              <a:cxn ang="0">
                <a:pos x="connsiteX2" y="connsiteY2"/>
              </a:cxn>
              <a:cxn ang="0">
                <a:pos x="connsiteX3" y="connsiteY3"/>
              </a:cxn>
            </a:cxnLst>
            <a:rect l="l" t="t" r="r" b="b"/>
            <a:pathLst>
              <a:path w="2325511" h="828423">
                <a:moveTo>
                  <a:pt x="0" y="0"/>
                </a:moveTo>
                <a:cubicBezTo>
                  <a:pt x="193792" y="318911"/>
                  <a:pt x="387585" y="637823"/>
                  <a:pt x="767644" y="767645"/>
                </a:cubicBezTo>
                <a:cubicBezTo>
                  <a:pt x="1147703" y="897467"/>
                  <a:pt x="2280355" y="778934"/>
                  <a:pt x="2280355" y="778934"/>
                </a:cubicBezTo>
                <a:lnTo>
                  <a:pt x="2325511" y="778934"/>
                </a:lnTo>
              </a:path>
            </a:pathLst>
          </a:custGeom>
          <a:noFill/>
          <a:ln w="3810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7" name="流程图: 接点 36">
            <a:extLst>
              <a:ext uri="{FF2B5EF4-FFF2-40B4-BE49-F238E27FC236}">
                <a16:creationId xmlns:a16="http://schemas.microsoft.com/office/drawing/2014/main" id="{ED6BACC3-38F5-43A6-8AE5-EA30DE87AD96}"/>
              </a:ext>
            </a:extLst>
          </p:cNvPr>
          <p:cNvSpPr/>
          <p:nvPr/>
        </p:nvSpPr>
        <p:spPr bwMode="auto">
          <a:xfrm>
            <a:off x="4589398" y="4120839"/>
            <a:ext cx="150023" cy="153902"/>
          </a:xfrm>
          <a:prstGeom prst="flowChartConnector">
            <a:avLst/>
          </a:prstGeom>
          <a:solidFill>
            <a:srgbClr val="FF0000"/>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12" name="直接连接符 11">
            <a:extLst>
              <a:ext uri="{FF2B5EF4-FFF2-40B4-BE49-F238E27FC236}">
                <a16:creationId xmlns:a16="http://schemas.microsoft.com/office/drawing/2014/main" id="{FD253992-89DA-4633-BD34-A867BD4F0548}"/>
              </a:ext>
            </a:extLst>
          </p:cNvPr>
          <p:cNvCxnSpPr>
            <a:cxnSpLocks/>
          </p:cNvCxnSpPr>
          <p:nvPr/>
        </p:nvCxnSpPr>
        <p:spPr bwMode="auto">
          <a:xfrm>
            <a:off x="3185427" y="3161214"/>
            <a:ext cx="3189014" cy="230064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a:extLst>
              <a:ext uri="{FF2B5EF4-FFF2-40B4-BE49-F238E27FC236}">
                <a16:creationId xmlns:a16="http://schemas.microsoft.com/office/drawing/2014/main" id="{22E3B0D0-9896-418B-B023-A4F91BD4DD1C}"/>
              </a:ext>
            </a:extLst>
          </p:cNvPr>
          <p:cNvCxnSpPr>
            <a:cxnSpLocks/>
          </p:cNvCxnSpPr>
          <p:nvPr/>
        </p:nvCxnSpPr>
        <p:spPr bwMode="auto">
          <a:xfrm flipH="1">
            <a:off x="4386981" y="4227614"/>
            <a:ext cx="254308" cy="294833"/>
          </a:xfrm>
          <a:prstGeom prst="line">
            <a:avLst/>
          </a:prstGeom>
          <a:ln w="9525" cap="flat" cmpd="sng" algn="ctr">
            <a:solidFill>
              <a:srgbClr val="C0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0" name="直接连接符 39">
            <a:extLst>
              <a:ext uri="{FF2B5EF4-FFF2-40B4-BE49-F238E27FC236}">
                <a16:creationId xmlns:a16="http://schemas.microsoft.com/office/drawing/2014/main" id="{C0920104-9B33-435F-9C20-5C60DA15A366}"/>
              </a:ext>
            </a:extLst>
          </p:cNvPr>
          <p:cNvCxnSpPr>
            <a:cxnSpLocks/>
          </p:cNvCxnSpPr>
          <p:nvPr/>
        </p:nvCxnSpPr>
        <p:spPr bwMode="auto">
          <a:xfrm>
            <a:off x="1962747" y="2290902"/>
            <a:ext cx="5007266" cy="3586370"/>
          </a:xfrm>
          <a:prstGeom prst="line">
            <a:avLst/>
          </a:prstGeom>
          <a:solidFill>
            <a:schemeClr val="accent1"/>
          </a:solidFill>
          <a:ln w="9525" cap="flat" cmpd="sng" algn="ctr">
            <a:solidFill>
              <a:schemeClr val="accent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a:extLst>
              <a:ext uri="{FF2B5EF4-FFF2-40B4-BE49-F238E27FC236}">
                <a16:creationId xmlns:a16="http://schemas.microsoft.com/office/drawing/2014/main" id="{CD41D528-52B3-4AC3-88CF-28CB5721CB7C}"/>
              </a:ext>
            </a:extLst>
          </p:cNvPr>
          <p:cNvCxnSpPr>
            <a:cxnSpLocks/>
          </p:cNvCxnSpPr>
          <p:nvPr/>
        </p:nvCxnSpPr>
        <p:spPr bwMode="auto">
          <a:xfrm flipH="1">
            <a:off x="3975129" y="4228018"/>
            <a:ext cx="681979" cy="753137"/>
          </a:xfrm>
          <a:prstGeom prst="line">
            <a:avLst/>
          </a:prstGeom>
          <a:ln w="9525"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0" name="直接箭头连接符 49">
            <a:extLst>
              <a:ext uri="{FF2B5EF4-FFF2-40B4-BE49-F238E27FC236}">
                <a16:creationId xmlns:a16="http://schemas.microsoft.com/office/drawing/2014/main" id="{AF25138A-2A6C-47A5-9DDE-92BE65148C13}"/>
              </a:ext>
            </a:extLst>
          </p:cNvPr>
          <p:cNvCxnSpPr>
            <a:cxnSpLocks/>
          </p:cNvCxnSpPr>
          <p:nvPr/>
        </p:nvCxnSpPr>
        <p:spPr bwMode="auto">
          <a:xfrm flipH="1">
            <a:off x="1848507" y="4535575"/>
            <a:ext cx="2546235" cy="1179282"/>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aphicFrame>
        <p:nvGraphicFramePr>
          <p:cNvPr id="53" name="对象 52">
            <a:extLst>
              <a:ext uri="{FF2B5EF4-FFF2-40B4-BE49-F238E27FC236}">
                <a16:creationId xmlns:a16="http://schemas.microsoft.com/office/drawing/2014/main" id="{B2C7FDBE-36FD-4649-B4A1-C1DDFB47DCE0}"/>
              </a:ext>
            </a:extLst>
          </p:cNvPr>
          <p:cNvGraphicFramePr>
            <a:graphicFrameLocks noChangeAspect="1"/>
          </p:cNvGraphicFramePr>
          <p:nvPr>
            <p:extLst>
              <p:ext uri="{D42A27DB-BD31-4B8C-83A1-F6EECF244321}">
                <p14:modId xmlns:p14="http://schemas.microsoft.com/office/powerpoint/2010/main" val="168928087"/>
              </p:ext>
            </p:extLst>
          </p:nvPr>
        </p:nvGraphicFramePr>
        <p:xfrm>
          <a:off x="767424" y="5514933"/>
          <a:ext cx="1195323" cy="457270"/>
        </p:xfrm>
        <a:graphic>
          <a:graphicData uri="http://schemas.openxmlformats.org/presentationml/2006/ole">
            <mc:AlternateContent xmlns:mc="http://schemas.openxmlformats.org/markup-compatibility/2006">
              <mc:Choice xmlns:v="urn:schemas-microsoft-com:vml" Requires="v">
                <p:oleObj name="Equation" r:id="rId2" imgW="431640" imgH="164880" progId="Equation.DSMT4">
                  <p:embed/>
                </p:oleObj>
              </mc:Choice>
              <mc:Fallback>
                <p:oleObj name="Equation" r:id="rId2" imgW="431640" imgH="164880" progId="Equation.DSMT4">
                  <p:embed/>
                  <p:pic>
                    <p:nvPicPr>
                      <p:cNvPr id="53" name="对象 52">
                        <a:extLst>
                          <a:ext uri="{FF2B5EF4-FFF2-40B4-BE49-F238E27FC236}">
                            <a16:creationId xmlns:a16="http://schemas.microsoft.com/office/drawing/2014/main" id="{B2C7FDBE-36FD-4649-B4A1-C1DDFB47DCE0}"/>
                          </a:ext>
                        </a:extLst>
                      </p:cNvPr>
                      <p:cNvPicPr/>
                      <p:nvPr/>
                    </p:nvPicPr>
                    <p:blipFill>
                      <a:blip r:embed="rId3"/>
                      <a:stretch>
                        <a:fillRect/>
                      </a:stretch>
                    </p:blipFill>
                    <p:spPr>
                      <a:xfrm>
                        <a:off x="767424" y="5514933"/>
                        <a:ext cx="1195323" cy="457270"/>
                      </a:xfrm>
                      <a:prstGeom prst="rect">
                        <a:avLst/>
                      </a:prstGeom>
                    </p:spPr>
                  </p:pic>
                </p:oleObj>
              </mc:Fallback>
            </mc:AlternateContent>
          </a:graphicData>
        </a:graphic>
      </p:graphicFrame>
      <p:graphicFrame>
        <p:nvGraphicFramePr>
          <p:cNvPr id="54" name="对象 53">
            <a:extLst>
              <a:ext uri="{FF2B5EF4-FFF2-40B4-BE49-F238E27FC236}">
                <a16:creationId xmlns:a16="http://schemas.microsoft.com/office/drawing/2014/main" id="{9E7DA9D1-B98B-4B4F-A9D6-6775D51A2A0C}"/>
              </a:ext>
            </a:extLst>
          </p:cNvPr>
          <p:cNvGraphicFramePr>
            <a:graphicFrameLocks noChangeAspect="1"/>
          </p:cNvGraphicFramePr>
          <p:nvPr>
            <p:extLst>
              <p:ext uri="{D42A27DB-BD31-4B8C-83A1-F6EECF244321}">
                <p14:modId xmlns:p14="http://schemas.microsoft.com/office/powerpoint/2010/main" val="1818023886"/>
              </p:ext>
            </p:extLst>
          </p:nvPr>
        </p:nvGraphicFramePr>
        <p:xfrm>
          <a:off x="5388643" y="5714154"/>
          <a:ext cx="1110838" cy="497962"/>
        </p:xfrm>
        <a:graphic>
          <a:graphicData uri="http://schemas.openxmlformats.org/presentationml/2006/ole">
            <mc:AlternateContent xmlns:mc="http://schemas.openxmlformats.org/markup-compatibility/2006">
              <mc:Choice xmlns:v="urn:schemas-microsoft-com:vml" Requires="v">
                <p:oleObj name="Equation" r:id="rId4" imgW="368280" imgH="164880" progId="Equation.DSMT4">
                  <p:embed/>
                </p:oleObj>
              </mc:Choice>
              <mc:Fallback>
                <p:oleObj name="Equation" r:id="rId4" imgW="368280" imgH="164880" progId="Equation.DSMT4">
                  <p:embed/>
                  <p:pic>
                    <p:nvPicPr>
                      <p:cNvPr id="54" name="对象 53">
                        <a:extLst>
                          <a:ext uri="{FF2B5EF4-FFF2-40B4-BE49-F238E27FC236}">
                            <a16:creationId xmlns:a16="http://schemas.microsoft.com/office/drawing/2014/main" id="{9E7DA9D1-B98B-4B4F-A9D6-6775D51A2A0C}"/>
                          </a:ext>
                        </a:extLst>
                      </p:cNvPr>
                      <p:cNvPicPr/>
                      <p:nvPr/>
                    </p:nvPicPr>
                    <p:blipFill>
                      <a:blip r:embed="rId5"/>
                      <a:stretch>
                        <a:fillRect/>
                      </a:stretch>
                    </p:blipFill>
                    <p:spPr>
                      <a:xfrm>
                        <a:off x="5388643" y="5714154"/>
                        <a:ext cx="1110838" cy="497962"/>
                      </a:xfrm>
                      <a:prstGeom prst="rect">
                        <a:avLst/>
                      </a:prstGeom>
                    </p:spPr>
                  </p:pic>
                </p:oleObj>
              </mc:Fallback>
            </mc:AlternateContent>
          </a:graphicData>
        </a:graphic>
      </p:graphicFrame>
      <p:cxnSp>
        <p:nvCxnSpPr>
          <p:cNvPr id="110" name="直接箭头连接符 109">
            <a:extLst>
              <a:ext uri="{FF2B5EF4-FFF2-40B4-BE49-F238E27FC236}">
                <a16:creationId xmlns:a16="http://schemas.microsoft.com/office/drawing/2014/main" id="{041C0480-EDB0-4AF8-AA1F-522E9A4B1D3E}"/>
              </a:ext>
            </a:extLst>
          </p:cNvPr>
          <p:cNvCxnSpPr>
            <a:cxnSpLocks/>
          </p:cNvCxnSpPr>
          <p:nvPr/>
        </p:nvCxnSpPr>
        <p:spPr bwMode="auto">
          <a:xfrm>
            <a:off x="3971325" y="4991337"/>
            <a:ext cx="1366666" cy="971071"/>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0" name="思想气泡: 云 119">
            <a:extLst>
              <a:ext uri="{FF2B5EF4-FFF2-40B4-BE49-F238E27FC236}">
                <a16:creationId xmlns:a16="http://schemas.microsoft.com/office/drawing/2014/main" id="{84835AFA-F859-4891-BD1B-3197BDD22EDF}"/>
              </a:ext>
            </a:extLst>
          </p:cNvPr>
          <p:cNvSpPr/>
          <p:nvPr/>
        </p:nvSpPr>
        <p:spPr bwMode="auto">
          <a:xfrm>
            <a:off x="-31919" y="2581684"/>
            <a:ext cx="2464118" cy="789014"/>
          </a:xfrm>
          <a:prstGeom prst="cloudCallout">
            <a:avLst>
              <a:gd name="adj1" fmla="val 135573"/>
              <a:gd name="adj2" fmla="val 158460"/>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C00000"/>
                </a:solidFill>
                <a:effectLst/>
                <a:latin typeface="Arial" charset="0"/>
              </a:rPr>
              <a:t>极值点</a:t>
            </a:r>
          </a:p>
        </p:txBody>
      </p:sp>
      <p:graphicFrame>
        <p:nvGraphicFramePr>
          <p:cNvPr id="51" name="对象 50">
            <a:extLst>
              <a:ext uri="{FF2B5EF4-FFF2-40B4-BE49-F238E27FC236}">
                <a16:creationId xmlns:a16="http://schemas.microsoft.com/office/drawing/2014/main" id="{471ED32C-EC97-4F01-88E3-635BF48CE713}"/>
              </a:ext>
            </a:extLst>
          </p:cNvPr>
          <p:cNvGraphicFramePr>
            <a:graphicFrameLocks noChangeAspect="1"/>
          </p:cNvGraphicFramePr>
          <p:nvPr>
            <p:extLst>
              <p:ext uri="{D42A27DB-BD31-4B8C-83A1-F6EECF244321}">
                <p14:modId xmlns:p14="http://schemas.microsoft.com/office/powerpoint/2010/main" val="1515786868"/>
              </p:ext>
            </p:extLst>
          </p:nvPr>
        </p:nvGraphicFramePr>
        <p:xfrm>
          <a:off x="5309302" y="1425723"/>
          <a:ext cx="4194175" cy="1468437"/>
        </p:xfrm>
        <a:graphic>
          <a:graphicData uri="http://schemas.openxmlformats.org/presentationml/2006/ole">
            <mc:AlternateContent xmlns:mc="http://schemas.openxmlformats.org/markup-compatibility/2006">
              <mc:Choice xmlns:v="urn:schemas-microsoft-com:vml" Requires="v">
                <p:oleObj name="Equation" r:id="rId6" imgW="1485720" imgH="520560" progId="Equation.DSMT4">
                  <p:embed/>
                </p:oleObj>
              </mc:Choice>
              <mc:Fallback>
                <p:oleObj name="Equation" r:id="rId6" imgW="1485720" imgH="520560" progId="Equation.DSMT4">
                  <p:embed/>
                  <p:pic>
                    <p:nvPicPr>
                      <p:cNvPr id="6" name="对象 5">
                        <a:extLst>
                          <a:ext uri="{FF2B5EF4-FFF2-40B4-BE49-F238E27FC236}">
                            <a16:creationId xmlns:a16="http://schemas.microsoft.com/office/drawing/2014/main" id="{9F0A797D-2162-4ADF-951B-E5FA4BD513CA}"/>
                          </a:ext>
                        </a:extLst>
                      </p:cNvPr>
                      <p:cNvPicPr/>
                      <p:nvPr/>
                    </p:nvPicPr>
                    <p:blipFill>
                      <a:blip r:embed="rId7"/>
                      <a:stretch>
                        <a:fillRect/>
                      </a:stretch>
                    </p:blipFill>
                    <p:spPr>
                      <a:xfrm>
                        <a:off x="5309302" y="1425723"/>
                        <a:ext cx="4194175" cy="1468437"/>
                      </a:xfrm>
                      <a:prstGeom prst="rect">
                        <a:avLst/>
                      </a:prstGeom>
                      <a:ln w="19050">
                        <a:solidFill>
                          <a:srgbClr val="C00000"/>
                        </a:solidFill>
                      </a:ln>
                    </p:spPr>
                  </p:pic>
                </p:oleObj>
              </mc:Fallback>
            </mc:AlternateContent>
          </a:graphicData>
        </a:graphic>
      </p:graphicFrame>
    </p:spTree>
    <p:extLst>
      <p:ext uri="{BB962C8B-B14F-4D97-AF65-F5344CB8AC3E}">
        <p14:creationId xmlns:p14="http://schemas.microsoft.com/office/powerpoint/2010/main" val="3573208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inVertical)">
                                      <p:cBhvr>
                                        <p:cTn id="7" dur="500"/>
                                        <p:tgtEl>
                                          <p:spTgt spid="24"/>
                                        </p:tgtEl>
                                      </p:cBhvr>
                                    </p:animEffect>
                                  </p:childTnLst>
                                </p:cTn>
                              </p:par>
                              <p:par>
                                <p:cTn id="8" presetID="16" presetClass="entr" presetSubtype="21"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barn(inVertical)">
                                      <p:cBhvr>
                                        <p:cTn id="10" dur="500"/>
                                        <p:tgtEl>
                                          <p:spTgt spid="25"/>
                                        </p:tgtEl>
                                      </p:cBhvr>
                                    </p:animEffect>
                                  </p:childTnLst>
                                </p:cTn>
                              </p:par>
                              <p:par>
                                <p:cTn id="11" presetID="16" presetClass="entr" presetSubtype="21"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barn(inVertical)">
                                      <p:cBhvr>
                                        <p:cTn id="13" dur="500"/>
                                        <p:tgtEl>
                                          <p:spTgt spid="26"/>
                                        </p:tgtEl>
                                      </p:cBhvr>
                                    </p:animEffect>
                                  </p:childTnLst>
                                </p:cTn>
                              </p:par>
                              <p:par>
                                <p:cTn id="14" presetID="16" presetClass="entr" presetSubtype="21"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barn(inVertical)">
                                      <p:cBhvr>
                                        <p:cTn id="16" dur="500"/>
                                        <p:tgtEl>
                                          <p:spTgt spid="28"/>
                                        </p:tgtEl>
                                      </p:cBhvr>
                                    </p:animEffect>
                                  </p:childTnLst>
                                </p:cTn>
                              </p:par>
                              <p:par>
                                <p:cTn id="17" presetID="16" presetClass="entr" presetSubtype="21"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barn(inVertical)">
                                      <p:cBhvr>
                                        <p:cTn id="19" dur="500"/>
                                        <p:tgtEl>
                                          <p:spTgt spid="29"/>
                                        </p:tgtEl>
                                      </p:cBhvr>
                                    </p:animEffect>
                                  </p:childTnLst>
                                </p:cTn>
                              </p:par>
                              <p:par>
                                <p:cTn id="20" presetID="16" presetClass="entr" presetSubtype="21" fill="hold"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barn(inVertical)">
                                      <p:cBhvr>
                                        <p:cTn id="22" dur="500"/>
                                        <p:tgtEl>
                                          <p:spTgt spid="30"/>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barn(inVertical)">
                                      <p:cBhvr>
                                        <p:cTn id="25" dur="500"/>
                                        <p:tgtEl>
                                          <p:spTgt spid="31"/>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barn(inVertical)">
                                      <p:cBhvr>
                                        <p:cTn id="28" dur="500"/>
                                        <p:tgtEl>
                                          <p:spTgt spid="32"/>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barn(inVertical)">
                                      <p:cBhvr>
                                        <p:cTn id="31" dur="500"/>
                                        <p:tgtEl>
                                          <p:spTgt spid="33"/>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barn(inVertical)">
                                      <p:cBhvr>
                                        <p:cTn id="34" dur="500"/>
                                        <p:tgtEl>
                                          <p:spTgt spid="34"/>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barn(inVertical)">
                                      <p:cBhvr>
                                        <p:cTn id="37" dur="500"/>
                                        <p:tgtEl>
                                          <p:spTgt spid="35"/>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barn(inVertical)">
                                      <p:cBhvr>
                                        <p:cTn id="40" dur="500"/>
                                        <p:tgtEl>
                                          <p:spTgt spid="3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wipe(down)">
                                      <p:cBhvr>
                                        <p:cTn id="45" dur="500"/>
                                        <p:tgtEl>
                                          <p:spTgt spid="37"/>
                                        </p:tgtEl>
                                      </p:cBhvr>
                                    </p:animEffect>
                                  </p:childTnLst>
                                </p:cTn>
                              </p:par>
                            </p:childTnLst>
                          </p:cTn>
                        </p:par>
                        <p:par>
                          <p:cTn id="46" fill="hold">
                            <p:stCondLst>
                              <p:cond delay="500"/>
                            </p:stCondLst>
                            <p:childTnLst>
                              <p:par>
                                <p:cTn id="47" presetID="16" presetClass="entr" presetSubtype="21" fill="hold" grpId="0" nodeType="afterEffect">
                                  <p:stCondLst>
                                    <p:cond delay="0"/>
                                  </p:stCondLst>
                                  <p:childTnLst>
                                    <p:set>
                                      <p:cBhvr>
                                        <p:cTn id="48" dur="1" fill="hold">
                                          <p:stCondLst>
                                            <p:cond delay="0"/>
                                          </p:stCondLst>
                                        </p:cTn>
                                        <p:tgtEl>
                                          <p:spTgt spid="120"/>
                                        </p:tgtEl>
                                        <p:attrNameLst>
                                          <p:attrName>style.visibility</p:attrName>
                                        </p:attrNameLst>
                                      </p:cBhvr>
                                      <p:to>
                                        <p:strVal val="visible"/>
                                      </p:to>
                                    </p:set>
                                    <p:animEffect transition="in" filter="barn(inVertical)">
                                      <p:cBhvr>
                                        <p:cTn id="49" dur="500"/>
                                        <p:tgtEl>
                                          <p:spTgt spid="120"/>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barn(inVertical)">
                                      <p:cBhvr>
                                        <p:cTn id="54" dur="500"/>
                                        <p:tgtEl>
                                          <p:spTgt spid="12"/>
                                        </p:tgtEl>
                                      </p:cBhvr>
                                    </p:animEffect>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nodeType="click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barn(inVertical)">
                                      <p:cBhvr>
                                        <p:cTn id="59" dur="500"/>
                                        <p:tgtEl>
                                          <p:spTgt spid="38"/>
                                        </p:tgtEl>
                                      </p:cBhvr>
                                    </p:animEffect>
                                  </p:childTnLst>
                                </p:cTn>
                              </p:par>
                            </p:childTnLst>
                          </p:cTn>
                        </p:par>
                        <p:par>
                          <p:cTn id="60" fill="hold">
                            <p:stCondLst>
                              <p:cond delay="500"/>
                            </p:stCondLst>
                            <p:childTnLst>
                              <p:par>
                                <p:cTn id="61" presetID="16" presetClass="entr" presetSubtype="21" fill="hold" nodeType="afterEffect">
                                  <p:stCondLst>
                                    <p:cond delay="0"/>
                                  </p:stCondLst>
                                  <p:childTnLst>
                                    <p:set>
                                      <p:cBhvr>
                                        <p:cTn id="62" dur="1" fill="hold">
                                          <p:stCondLst>
                                            <p:cond delay="0"/>
                                          </p:stCondLst>
                                        </p:cTn>
                                        <p:tgtEl>
                                          <p:spTgt spid="50"/>
                                        </p:tgtEl>
                                        <p:attrNameLst>
                                          <p:attrName>style.visibility</p:attrName>
                                        </p:attrNameLst>
                                      </p:cBhvr>
                                      <p:to>
                                        <p:strVal val="visible"/>
                                      </p:to>
                                    </p:set>
                                    <p:animEffect transition="in" filter="barn(inVertical)">
                                      <p:cBhvr>
                                        <p:cTn id="63" dur="500"/>
                                        <p:tgtEl>
                                          <p:spTgt spid="50"/>
                                        </p:tgtEl>
                                      </p:cBhvr>
                                    </p:animEffect>
                                  </p:childTnLst>
                                </p:cTn>
                              </p:par>
                              <p:par>
                                <p:cTn id="64" presetID="16" presetClass="entr" presetSubtype="21" fill="hold" nodeType="withEffect">
                                  <p:stCondLst>
                                    <p:cond delay="0"/>
                                  </p:stCondLst>
                                  <p:childTnLst>
                                    <p:set>
                                      <p:cBhvr>
                                        <p:cTn id="65" dur="1" fill="hold">
                                          <p:stCondLst>
                                            <p:cond delay="0"/>
                                          </p:stCondLst>
                                        </p:cTn>
                                        <p:tgtEl>
                                          <p:spTgt spid="53"/>
                                        </p:tgtEl>
                                        <p:attrNameLst>
                                          <p:attrName>style.visibility</p:attrName>
                                        </p:attrNameLst>
                                      </p:cBhvr>
                                      <p:to>
                                        <p:strVal val="visible"/>
                                      </p:to>
                                    </p:set>
                                    <p:animEffect transition="in" filter="barn(inVertical)">
                                      <p:cBhvr>
                                        <p:cTn id="66" dur="500"/>
                                        <p:tgtEl>
                                          <p:spTgt spid="53"/>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21" fill="hold" nodeType="clickEffect">
                                  <p:stCondLst>
                                    <p:cond delay="0"/>
                                  </p:stCondLst>
                                  <p:childTnLst>
                                    <p:set>
                                      <p:cBhvr>
                                        <p:cTn id="70" dur="1" fill="hold">
                                          <p:stCondLst>
                                            <p:cond delay="0"/>
                                          </p:stCondLst>
                                        </p:cTn>
                                        <p:tgtEl>
                                          <p:spTgt spid="40"/>
                                        </p:tgtEl>
                                        <p:attrNameLst>
                                          <p:attrName>style.visibility</p:attrName>
                                        </p:attrNameLst>
                                      </p:cBhvr>
                                      <p:to>
                                        <p:strVal val="visible"/>
                                      </p:to>
                                    </p:set>
                                    <p:animEffect transition="in" filter="barn(inVertical)">
                                      <p:cBhvr>
                                        <p:cTn id="71" dur="500"/>
                                        <p:tgtEl>
                                          <p:spTgt spid="40"/>
                                        </p:tgtEl>
                                      </p:cBhvr>
                                    </p:animEffect>
                                  </p:childTnLst>
                                </p:cTn>
                              </p:par>
                            </p:childTnLst>
                          </p:cTn>
                        </p:par>
                      </p:childTnLst>
                    </p:cTn>
                  </p:par>
                  <p:par>
                    <p:cTn id="72" fill="hold">
                      <p:stCondLst>
                        <p:cond delay="indefinite"/>
                      </p:stCondLst>
                      <p:childTnLst>
                        <p:par>
                          <p:cTn id="73" fill="hold">
                            <p:stCondLst>
                              <p:cond delay="0"/>
                            </p:stCondLst>
                            <p:childTnLst>
                              <p:par>
                                <p:cTn id="74" presetID="16" presetClass="entr" presetSubtype="21" fill="hold" nodeType="click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barn(inVertical)">
                                      <p:cBhvr>
                                        <p:cTn id="76" dur="500"/>
                                        <p:tgtEl>
                                          <p:spTgt spid="46"/>
                                        </p:tgtEl>
                                      </p:cBhvr>
                                    </p:animEffect>
                                  </p:childTnLst>
                                </p:cTn>
                              </p:par>
                            </p:childTnLst>
                          </p:cTn>
                        </p:par>
                        <p:par>
                          <p:cTn id="77" fill="hold">
                            <p:stCondLst>
                              <p:cond delay="500"/>
                            </p:stCondLst>
                            <p:childTnLst>
                              <p:par>
                                <p:cTn id="78" presetID="22" presetClass="entr" presetSubtype="4" fill="hold" nodeType="afterEffect">
                                  <p:stCondLst>
                                    <p:cond delay="0"/>
                                  </p:stCondLst>
                                  <p:childTnLst>
                                    <p:set>
                                      <p:cBhvr>
                                        <p:cTn id="79" dur="1" fill="hold">
                                          <p:stCondLst>
                                            <p:cond delay="0"/>
                                          </p:stCondLst>
                                        </p:cTn>
                                        <p:tgtEl>
                                          <p:spTgt spid="110"/>
                                        </p:tgtEl>
                                        <p:attrNameLst>
                                          <p:attrName>style.visibility</p:attrName>
                                        </p:attrNameLst>
                                      </p:cBhvr>
                                      <p:to>
                                        <p:strVal val="visible"/>
                                      </p:to>
                                    </p:set>
                                    <p:animEffect transition="in" filter="wipe(down)">
                                      <p:cBhvr>
                                        <p:cTn id="80" dur="500"/>
                                        <p:tgtEl>
                                          <p:spTgt spid="110"/>
                                        </p:tgtEl>
                                      </p:cBhvr>
                                    </p:animEffect>
                                  </p:childTnLst>
                                </p:cTn>
                              </p:par>
                              <p:par>
                                <p:cTn id="81" presetID="22" presetClass="entr" presetSubtype="4" fill="hold" nodeType="withEffect">
                                  <p:stCondLst>
                                    <p:cond delay="0"/>
                                  </p:stCondLst>
                                  <p:childTnLst>
                                    <p:set>
                                      <p:cBhvr>
                                        <p:cTn id="82" dur="1" fill="hold">
                                          <p:stCondLst>
                                            <p:cond delay="0"/>
                                          </p:stCondLst>
                                        </p:cTn>
                                        <p:tgtEl>
                                          <p:spTgt spid="54"/>
                                        </p:tgtEl>
                                        <p:attrNameLst>
                                          <p:attrName>style.visibility</p:attrName>
                                        </p:attrNameLst>
                                      </p:cBhvr>
                                      <p:to>
                                        <p:strVal val="visible"/>
                                      </p:to>
                                    </p:set>
                                    <p:animEffect transition="in" filter="wipe(down)">
                                      <p:cBhvr>
                                        <p:cTn id="83" dur="500"/>
                                        <p:tgtEl>
                                          <p:spTgt spid="54"/>
                                        </p:tgtEl>
                                      </p:cBhvr>
                                    </p:animEffect>
                                  </p:childTnLst>
                                </p:cTn>
                              </p:par>
                            </p:childTnLst>
                          </p:cTn>
                        </p:par>
                      </p:childTnLst>
                    </p:cTn>
                  </p:par>
                  <p:par>
                    <p:cTn id="84" fill="hold">
                      <p:stCondLst>
                        <p:cond delay="indefinite"/>
                      </p:stCondLst>
                      <p:childTnLst>
                        <p:par>
                          <p:cTn id="85" fill="hold">
                            <p:stCondLst>
                              <p:cond delay="0"/>
                            </p:stCondLst>
                            <p:childTnLst>
                              <p:par>
                                <p:cTn id="86" presetID="16" presetClass="entr" presetSubtype="21" fill="hold" nodeType="clickEffect">
                                  <p:stCondLst>
                                    <p:cond delay="0"/>
                                  </p:stCondLst>
                                  <p:childTnLst>
                                    <p:set>
                                      <p:cBhvr>
                                        <p:cTn id="87" dur="1" fill="hold">
                                          <p:stCondLst>
                                            <p:cond delay="0"/>
                                          </p:stCondLst>
                                        </p:cTn>
                                        <p:tgtEl>
                                          <p:spTgt spid="51"/>
                                        </p:tgtEl>
                                        <p:attrNameLst>
                                          <p:attrName>style.visibility</p:attrName>
                                        </p:attrNameLst>
                                      </p:cBhvr>
                                      <p:to>
                                        <p:strVal val="visible"/>
                                      </p:to>
                                    </p:set>
                                    <p:animEffect transition="in" filter="barn(inVertical)">
                                      <p:cBhvr>
                                        <p:cTn id="88"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1" grpId="0"/>
      <p:bldP spid="32" grpId="0" animBg="1"/>
      <p:bldP spid="33" grpId="0" animBg="1"/>
      <p:bldP spid="34" grpId="0" animBg="1"/>
      <p:bldP spid="35" grpId="0" animBg="1"/>
      <p:bldP spid="36" grpId="0" animBg="1"/>
      <p:bldP spid="37" grpId="0" animBg="1"/>
      <p:bldP spid="12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207DE6-5FB8-4D8C-85C2-687B849136D0}"/>
              </a:ext>
            </a:extLst>
          </p:cNvPr>
          <p:cNvSpPr>
            <a:spLocks noGrp="1"/>
          </p:cNvSpPr>
          <p:nvPr>
            <p:ph type="title"/>
          </p:nvPr>
        </p:nvSpPr>
        <p:spPr/>
        <p:txBody>
          <a:bodyPr/>
          <a:lstStyle/>
          <a:p>
            <a:r>
              <a:rPr lang="en-US" altLang="zh-CN" dirty="0"/>
              <a:t>K-T</a:t>
            </a:r>
            <a:r>
              <a:rPr lang="zh-CN" altLang="en-US" dirty="0"/>
              <a:t>条件分析</a:t>
            </a:r>
          </a:p>
        </p:txBody>
      </p:sp>
      <p:sp>
        <p:nvSpPr>
          <p:cNvPr id="3" name="内容占位符 2">
            <a:extLst>
              <a:ext uri="{FF2B5EF4-FFF2-40B4-BE49-F238E27FC236}">
                <a16:creationId xmlns:a16="http://schemas.microsoft.com/office/drawing/2014/main" id="{E6B70BD0-3671-4F11-9514-B7778E339AA0}"/>
              </a:ext>
            </a:extLst>
          </p:cNvPr>
          <p:cNvSpPr>
            <a:spLocks noGrp="1"/>
          </p:cNvSpPr>
          <p:nvPr>
            <p:ph idx="1"/>
          </p:nvPr>
        </p:nvSpPr>
        <p:spPr>
          <a:xfrm>
            <a:off x="58044" y="1196752"/>
            <a:ext cx="9719492" cy="799663"/>
          </a:xfrm>
        </p:spPr>
        <p:txBody>
          <a:bodyPr/>
          <a:lstStyle/>
          <a:p>
            <a:r>
              <a:rPr lang="en-US" altLang="zh-CN" dirty="0"/>
              <a:t>2. </a:t>
            </a:r>
            <a:r>
              <a:rPr lang="zh-CN" altLang="en-US" dirty="0"/>
              <a:t>两个约束起作用</a:t>
            </a:r>
            <a:endParaRPr lang="en-US" altLang="zh-CN" dirty="0"/>
          </a:p>
        </p:txBody>
      </p:sp>
      <p:sp>
        <p:nvSpPr>
          <p:cNvPr id="4" name="日期占位符 3">
            <a:extLst>
              <a:ext uri="{FF2B5EF4-FFF2-40B4-BE49-F238E27FC236}">
                <a16:creationId xmlns:a16="http://schemas.microsoft.com/office/drawing/2014/main" id="{0FF3692F-3AEA-4DA6-8EBB-5D1D8E5ADB8C}"/>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95D4AC2A-5971-4337-85B1-EF4760D1B8FE}"/>
              </a:ext>
            </a:extLst>
          </p:cNvPr>
          <p:cNvSpPr>
            <a:spLocks noGrp="1"/>
          </p:cNvSpPr>
          <p:nvPr>
            <p:ph type="sldNum" sz="quarter" idx="12"/>
          </p:nvPr>
        </p:nvSpPr>
        <p:spPr/>
        <p:txBody>
          <a:bodyPr/>
          <a:lstStyle/>
          <a:p>
            <a:fld id="{7AC79822-BC0D-4DE8-A7E5-90A3732A2B82}" type="slidenum">
              <a:rPr lang="zh-CN" altLang="en-US" smtClean="0"/>
              <a:pPr/>
              <a:t>42</a:t>
            </a:fld>
            <a:endParaRPr lang="en-US" altLang="zh-CN" dirty="0"/>
          </a:p>
        </p:txBody>
      </p:sp>
      <p:sp>
        <p:nvSpPr>
          <p:cNvPr id="24" name="流程图: 接点 23">
            <a:extLst>
              <a:ext uri="{FF2B5EF4-FFF2-40B4-BE49-F238E27FC236}">
                <a16:creationId xmlns:a16="http://schemas.microsoft.com/office/drawing/2014/main" id="{AF430002-20DF-42E5-AA19-158EB4DE676D}"/>
              </a:ext>
            </a:extLst>
          </p:cNvPr>
          <p:cNvSpPr/>
          <p:nvPr/>
        </p:nvSpPr>
        <p:spPr bwMode="auto">
          <a:xfrm>
            <a:off x="3852195" y="4306804"/>
            <a:ext cx="439713" cy="352093"/>
          </a:xfrm>
          <a:prstGeom prst="flowChartConnector">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25" name="直接连接符 24">
            <a:extLst>
              <a:ext uri="{FF2B5EF4-FFF2-40B4-BE49-F238E27FC236}">
                <a16:creationId xmlns:a16="http://schemas.microsoft.com/office/drawing/2014/main" id="{745C6A2B-97DE-4484-A5E9-CA8BA584AA5A}"/>
              </a:ext>
            </a:extLst>
          </p:cNvPr>
          <p:cNvCxnSpPr>
            <a:cxnSpLocks/>
          </p:cNvCxnSpPr>
          <p:nvPr/>
        </p:nvCxnSpPr>
        <p:spPr bwMode="auto">
          <a:xfrm flipH="1">
            <a:off x="7354476" y="4941168"/>
            <a:ext cx="140352" cy="2581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a:extLst>
              <a:ext uri="{FF2B5EF4-FFF2-40B4-BE49-F238E27FC236}">
                <a16:creationId xmlns:a16="http://schemas.microsoft.com/office/drawing/2014/main" id="{621B08D9-CEED-40B0-8F80-17B6060D3E16}"/>
              </a:ext>
            </a:extLst>
          </p:cNvPr>
          <p:cNvCxnSpPr>
            <a:cxnSpLocks/>
          </p:cNvCxnSpPr>
          <p:nvPr/>
        </p:nvCxnSpPr>
        <p:spPr bwMode="auto">
          <a:xfrm flipV="1">
            <a:off x="6426160" y="4764650"/>
            <a:ext cx="244332" cy="21482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a:extLst>
              <a:ext uri="{FF2B5EF4-FFF2-40B4-BE49-F238E27FC236}">
                <a16:creationId xmlns:a16="http://schemas.microsoft.com/office/drawing/2014/main" id="{F619AB37-1C70-4643-A566-05E34522A7F3}"/>
              </a:ext>
            </a:extLst>
          </p:cNvPr>
          <p:cNvCxnSpPr>
            <a:cxnSpLocks/>
          </p:cNvCxnSpPr>
          <p:nvPr/>
        </p:nvCxnSpPr>
        <p:spPr bwMode="auto">
          <a:xfrm flipH="1">
            <a:off x="7179625" y="4941168"/>
            <a:ext cx="118850" cy="19549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a:extLst>
              <a:ext uri="{FF2B5EF4-FFF2-40B4-BE49-F238E27FC236}">
                <a16:creationId xmlns:a16="http://schemas.microsoft.com/office/drawing/2014/main" id="{52DD8F3C-F7E7-4B14-95B8-30497315E5DC}"/>
              </a:ext>
            </a:extLst>
          </p:cNvPr>
          <p:cNvCxnSpPr>
            <a:cxnSpLocks/>
          </p:cNvCxnSpPr>
          <p:nvPr/>
        </p:nvCxnSpPr>
        <p:spPr bwMode="auto">
          <a:xfrm flipH="1">
            <a:off x="6887881" y="4869160"/>
            <a:ext cx="222792" cy="21017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a:extLst>
              <a:ext uri="{FF2B5EF4-FFF2-40B4-BE49-F238E27FC236}">
                <a16:creationId xmlns:a16="http://schemas.microsoft.com/office/drawing/2014/main" id="{63A9A34E-83F2-4E28-8086-3DEAD3708F30}"/>
              </a:ext>
            </a:extLst>
          </p:cNvPr>
          <p:cNvCxnSpPr>
            <a:cxnSpLocks/>
          </p:cNvCxnSpPr>
          <p:nvPr/>
        </p:nvCxnSpPr>
        <p:spPr bwMode="auto">
          <a:xfrm flipV="1">
            <a:off x="3347890" y="2639589"/>
            <a:ext cx="302410" cy="6169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文本框 30">
            <a:extLst>
              <a:ext uri="{FF2B5EF4-FFF2-40B4-BE49-F238E27FC236}">
                <a16:creationId xmlns:a16="http://schemas.microsoft.com/office/drawing/2014/main" id="{1313714B-AD0F-4482-9106-CB5FF8390275}"/>
              </a:ext>
            </a:extLst>
          </p:cNvPr>
          <p:cNvSpPr txBox="1"/>
          <p:nvPr/>
        </p:nvSpPr>
        <p:spPr>
          <a:xfrm>
            <a:off x="7291613" y="4525390"/>
            <a:ext cx="1059906" cy="400110"/>
          </a:xfrm>
          <a:prstGeom prst="rect">
            <a:avLst/>
          </a:prstGeom>
          <a:noFill/>
        </p:spPr>
        <p:txBody>
          <a:bodyPr wrap="none" rtlCol="0">
            <a:spAutoFit/>
          </a:bodyPr>
          <a:lstStyle/>
          <a:p>
            <a:r>
              <a:rPr lang="en-US" altLang="zh-CN" sz="2000" dirty="0"/>
              <a:t>g1(x)=0</a:t>
            </a:r>
          </a:p>
        </p:txBody>
      </p:sp>
      <p:sp>
        <p:nvSpPr>
          <p:cNvPr id="32" name="椭圆 31">
            <a:extLst>
              <a:ext uri="{FF2B5EF4-FFF2-40B4-BE49-F238E27FC236}">
                <a16:creationId xmlns:a16="http://schemas.microsoft.com/office/drawing/2014/main" id="{A1C18087-0D13-46A5-8FA3-DA2E7BF5454A}"/>
              </a:ext>
            </a:extLst>
          </p:cNvPr>
          <p:cNvSpPr/>
          <p:nvPr/>
        </p:nvSpPr>
        <p:spPr bwMode="auto">
          <a:xfrm>
            <a:off x="3264479" y="4081112"/>
            <a:ext cx="1612251" cy="805047"/>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3" name="椭圆 32">
            <a:extLst>
              <a:ext uri="{FF2B5EF4-FFF2-40B4-BE49-F238E27FC236}">
                <a16:creationId xmlns:a16="http://schemas.microsoft.com/office/drawing/2014/main" id="{2B8410B1-524A-4C67-A70D-C98821F4D50F}"/>
              </a:ext>
            </a:extLst>
          </p:cNvPr>
          <p:cNvSpPr/>
          <p:nvPr/>
        </p:nvSpPr>
        <p:spPr bwMode="auto">
          <a:xfrm>
            <a:off x="2717265" y="3704397"/>
            <a:ext cx="2727753" cy="1544088"/>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4" name="椭圆 33">
            <a:extLst>
              <a:ext uri="{FF2B5EF4-FFF2-40B4-BE49-F238E27FC236}">
                <a16:creationId xmlns:a16="http://schemas.microsoft.com/office/drawing/2014/main" id="{A56D1B6F-562C-4B8F-BEB3-962AC3725514}"/>
              </a:ext>
            </a:extLst>
          </p:cNvPr>
          <p:cNvSpPr/>
          <p:nvPr/>
        </p:nvSpPr>
        <p:spPr bwMode="auto">
          <a:xfrm>
            <a:off x="2256004" y="3317092"/>
            <a:ext cx="3588330" cy="2338636"/>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5" name="椭圆 34">
            <a:extLst>
              <a:ext uri="{FF2B5EF4-FFF2-40B4-BE49-F238E27FC236}">
                <a16:creationId xmlns:a16="http://schemas.microsoft.com/office/drawing/2014/main" id="{7FF8EEE9-5350-4F65-B5F9-08E3D9CB8321}"/>
              </a:ext>
            </a:extLst>
          </p:cNvPr>
          <p:cNvSpPr/>
          <p:nvPr/>
        </p:nvSpPr>
        <p:spPr bwMode="auto">
          <a:xfrm>
            <a:off x="1784648" y="2994834"/>
            <a:ext cx="4536504" cy="2954446"/>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6" name="任意多边形: 形状 35">
            <a:extLst>
              <a:ext uri="{FF2B5EF4-FFF2-40B4-BE49-F238E27FC236}">
                <a16:creationId xmlns:a16="http://schemas.microsoft.com/office/drawing/2014/main" id="{2B3E1A49-EFA8-47C7-B353-318489AD42E2}"/>
              </a:ext>
            </a:extLst>
          </p:cNvPr>
          <p:cNvSpPr/>
          <p:nvPr/>
        </p:nvSpPr>
        <p:spPr bwMode="auto">
          <a:xfrm rot="1058122">
            <a:off x="3149573" y="2839118"/>
            <a:ext cx="4702457" cy="1527972"/>
          </a:xfrm>
          <a:custGeom>
            <a:avLst/>
            <a:gdLst>
              <a:gd name="connsiteX0" fmla="*/ 0 w 2325511"/>
              <a:gd name="connsiteY0" fmla="*/ 0 h 828423"/>
              <a:gd name="connsiteX1" fmla="*/ 767644 w 2325511"/>
              <a:gd name="connsiteY1" fmla="*/ 767645 h 828423"/>
              <a:gd name="connsiteX2" fmla="*/ 2280355 w 2325511"/>
              <a:gd name="connsiteY2" fmla="*/ 778934 h 828423"/>
              <a:gd name="connsiteX3" fmla="*/ 2325511 w 2325511"/>
              <a:gd name="connsiteY3" fmla="*/ 778934 h 828423"/>
            </a:gdLst>
            <a:ahLst/>
            <a:cxnLst>
              <a:cxn ang="0">
                <a:pos x="connsiteX0" y="connsiteY0"/>
              </a:cxn>
              <a:cxn ang="0">
                <a:pos x="connsiteX1" y="connsiteY1"/>
              </a:cxn>
              <a:cxn ang="0">
                <a:pos x="connsiteX2" y="connsiteY2"/>
              </a:cxn>
              <a:cxn ang="0">
                <a:pos x="connsiteX3" y="connsiteY3"/>
              </a:cxn>
            </a:cxnLst>
            <a:rect l="l" t="t" r="r" b="b"/>
            <a:pathLst>
              <a:path w="2325511" h="828423">
                <a:moveTo>
                  <a:pt x="0" y="0"/>
                </a:moveTo>
                <a:cubicBezTo>
                  <a:pt x="193792" y="318911"/>
                  <a:pt x="387585" y="637823"/>
                  <a:pt x="767644" y="767645"/>
                </a:cubicBezTo>
                <a:cubicBezTo>
                  <a:pt x="1147703" y="897467"/>
                  <a:pt x="2280355" y="778934"/>
                  <a:pt x="2280355" y="778934"/>
                </a:cubicBezTo>
                <a:lnTo>
                  <a:pt x="2325511" y="778934"/>
                </a:lnTo>
              </a:path>
            </a:pathLst>
          </a:custGeom>
          <a:noFill/>
          <a:ln w="3810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7" name="流程图: 接点 36">
            <a:extLst>
              <a:ext uri="{FF2B5EF4-FFF2-40B4-BE49-F238E27FC236}">
                <a16:creationId xmlns:a16="http://schemas.microsoft.com/office/drawing/2014/main" id="{ED6BACC3-38F5-43A6-8AE5-EA30DE87AD96}"/>
              </a:ext>
            </a:extLst>
          </p:cNvPr>
          <p:cNvSpPr/>
          <p:nvPr/>
        </p:nvSpPr>
        <p:spPr bwMode="auto">
          <a:xfrm>
            <a:off x="3858799" y="3237755"/>
            <a:ext cx="150023" cy="153902"/>
          </a:xfrm>
          <a:prstGeom prst="flowChartConnector">
            <a:avLst/>
          </a:prstGeom>
          <a:solidFill>
            <a:srgbClr val="FF0000"/>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12" name="直接连接符 11">
            <a:extLst>
              <a:ext uri="{FF2B5EF4-FFF2-40B4-BE49-F238E27FC236}">
                <a16:creationId xmlns:a16="http://schemas.microsoft.com/office/drawing/2014/main" id="{FD253992-89DA-4633-BD34-A867BD4F0548}"/>
              </a:ext>
            </a:extLst>
          </p:cNvPr>
          <p:cNvCxnSpPr>
            <a:cxnSpLocks/>
          </p:cNvCxnSpPr>
          <p:nvPr/>
        </p:nvCxnSpPr>
        <p:spPr bwMode="auto">
          <a:xfrm flipV="1">
            <a:off x="513430" y="3284767"/>
            <a:ext cx="6840760" cy="2313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a:extLst>
              <a:ext uri="{FF2B5EF4-FFF2-40B4-BE49-F238E27FC236}">
                <a16:creationId xmlns:a16="http://schemas.microsoft.com/office/drawing/2014/main" id="{22E3B0D0-9896-418B-B023-A4F91BD4DD1C}"/>
              </a:ext>
            </a:extLst>
          </p:cNvPr>
          <p:cNvCxnSpPr>
            <a:cxnSpLocks/>
          </p:cNvCxnSpPr>
          <p:nvPr/>
        </p:nvCxnSpPr>
        <p:spPr bwMode="auto">
          <a:xfrm>
            <a:off x="3934926" y="3345743"/>
            <a:ext cx="0" cy="696526"/>
          </a:xfrm>
          <a:prstGeom prst="line">
            <a:avLst/>
          </a:prstGeom>
          <a:ln w="9525" cap="flat" cmpd="sng" algn="ctr">
            <a:solidFill>
              <a:srgbClr val="C0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0" name="直接连接符 39">
            <a:extLst>
              <a:ext uri="{FF2B5EF4-FFF2-40B4-BE49-F238E27FC236}">
                <a16:creationId xmlns:a16="http://schemas.microsoft.com/office/drawing/2014/main" id="{C0920104-9B33-435F-9C20-5C60DA15A366}"/>
              </a:ext>
            </a:extLst>
          </p:cNvPr>
          <p:cNvCxnSpPr>
            <a:cxnSpLocks/>
          </p:cNvCxnSpPr>
          <p:nvPr/>
        </p:nvCxnSpPr>
        <p:spPr bwMode="auto">
          <a:xfrm>
            <a:off x="3236954" y="1957723"/>
            <a:ext cx="1936975" cy="4063565"/>
          </a:xfrm>
          <a:prstGeom prst="line">
            <a:avLst/>
          </a:prstGeom>
          <a:solidFill>
            <a:schemeClr val="accent1"/>
          </a:solidFill>
          <a:ln w="9525" cap="flat" cmpd="sng" algn="ctr">
            <a:solidFill>
              <a:schemeClr val="accent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a:extLst>
              <a:ext uri="{FF2B5EF4-FFF2-40B4-BE49-F238E27FC236}">
                <a16:creationId xmlns:a16="http://schemas.microsoft.com/office/drawing/2014/main" id="{CD41D528-52B3-4AC3-88CF-28CB5721CB7C}"/>
              </a:ext>
            </a:extLst>
          </p:cNvPr>
          <p:cNvCxnSpPr>
            <a:cxnSpLocks/>
          </p:cNvCxnSpPr>
          <p:nvPr/>
        </p:nvCxnSpPr>
        <p:spPr bwMode="auto">
          <a:xfrm flipH="1">
            <a:off x="3025632" y="3332852"/>
            <a:ext cx="908178" cy="408060"/>
          </a:xfrm>
          <a:prstGeom prst="line">
            <a:avLst/>
          </a:prstGeom>
          <a:ln w="9525"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0" name="直接箭头连接符 49">
            <a:extLst>
              <a:ext uri="{FF2B5EF4-FFF2-40B4-BE49-F238E27FC236}">
                <a16:creationId xmlns:a16="http://schemas.microsoft.com/office/drawing/2014/main" id="{AF25138A-2A6C-47A5-9DDE-92BE65148C13}"/>
              </a:ext>
            </a:extLst>
          </p:cNvPr>
          <p:cNvCxnSpPr>
            <a:cxnSpLocks/>
          </p:cNvCxnSpPr>
          <p:nvPr/>
        </p:nvCxnSpPr>
        <p:spPr bwMode="auto">
          <a:xfrm flipH="1">
            <a:off x="1382896" y="3975739"/>
            <a:ext cx="2546235" cy="1179282"/>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aphicFrame>
        <p:nvGraphicFramePr>
          <p:cNvPr id="53" name="对象 52">
            <a:extLst>
              <a:ext uri="{FF2B5EF4-FFF2-40B4-BE49-F238E27FC236}">
                <a16:creationId xmlns:a16="http://schemas.microsoft.com/office/drawing/2014/main" id="{B2C7FDBE-36FD-4649-B4A1-C1DDFB47DCE0}"/>
              </a:ext>
            </a:extLst>
          </p:cNvPr>
          <p:cNvGraphicFramePr>
            <a:graphicFrameLocks noChangeAspect="1"/>
          </p:cNvGraphicFramePr>
          <p:nvPr/>
        </p:nvGraphicFramePr>
        <p:xfrm>
          <a:off x="669412" y="5136608"/>
          <a:ext cx="1195323" cy="457270"/>
        </p:xfrm>
        <a:graphic>
          <a:graphicData uri="http://schemas.openxmlformats.org/presentationml/2006/ole">
            <mc:AlternateContent xmlns:mc="http://schemas.openxmlformats.org/markup-compatibility/2006">
              <mc:Choice xmlns:v="urn:schemas-microsoft-com:vml" Requires="v">
                <p:oleObj name="Equation" r:id="rId2" imgW="431640" imgH="164880" progId="Equation.DSMT4">
                  <p:embed/>
                </p:oleObj>
              </mc:Choice>
              <mc:Fallback>
                <p:oleObj name="Equation" r:id="rId2" imgW="431640" imgH="164880" progId="Equation.DSMT4">
                  <p:embed/>
                  <p:pic>
                    <p:nvPicPr>
                      <p:cNvPr id="53" name="对象 52">
                        <a:extLst>
                          <a:ext uri="{FF2B5EF4-FFF2-40B4-BE49-F238E27FC236}">
                            <a16:creationId xmlns:a16="http://schemas.microsoft.com/office/drawing/2014/main" id="{B2C7FDBE-36FD-4649-B4A1-C1DDFB47DCE0}"/>
                          </a:ext>
                        </a:extLst>
                      </p:cNvPr>
                      <p:cNvPicPr/>
                      <p:nvPr/>
                    </p:nvPicPr>
                    <p:blipFill>
                      <a:blip r:embed="rId3"/>
                      <a:stretch>
                        <a:fillRect/>
                      </a:stretch>
                    </p:blipFill>
                    <p:spPr>
                      <a:xfrm>
                        <a:off x="669412" y="5136608"/>
                        <a:ext cx="1195323" cy="457270"/>
                      </a:xfrm>
                      <a:prstGeom prst="rect">
                        <a:avLst/>
                      </a:prstGeom>
                    </p:spPr>
                  </p:pic>
                </p:oleObj>
              </mc:Fallback>
            </mc:AlternateContent>
          </a:graphicData>
        </a:graphic>
      </p:graphicFrame>
      <p:graphicFrame>
        <p:nvGraphicFramePr>
          <p:cNvPr id="54" name="对象 53">
            <a:extLst>
              <a:ext uri="{FF2B5EF4-FFF2-40B4-BE49-F238E27FC236}">
                <a16:creationId xmlns:a16="http://schemas.microsoft.com/office/drawing/2014/main" id="{9E7DA9D1-B98B-4B4F-A9D6-6775D51A2A0C}"/>
              </a:ext>
            </a:extLst>
          </p:cNvPr>
          <p:cNvGraphicFramePr>
            <a:graphicFrameLocks noChangeAspect="1"/>
          </p:cNvGraphicFramePr>
          <p:nvPr>
            <p:extLst>
              <p:ext uri="{D42A27DB-BD31-4B8C-83A1-F6EECF244321}">
                <p14:modId xmlns:p14="http://schemas.microsoft.com/office/powerpoint/2010/main" val="3331858371"/>
              </p:ext>
            </p:extLst>
          </p:nvPr>
        </p:nvGraphicFramePr>
        <p:xfrm>
          <a:off x="333375" y="3517900"/>
          <a:ext cx="1187450" cy="538163"/>
        </p:xfrm>
        <a:graphic>
          <a:graphicData uri="http://schemas.openxmlformats.org/presentationml/2006/ole">
            <mc:AlternateContent xmlns:mc="http://schemas.openxmlformats.org/markup-compatibility/2006">
              <mc:Choice xmlns:v="urn:schemas-microsoft-com:vml" Requires="v">
                <p:oleObj name="Equation" r:id="rId4" imgW="393480" imgH="177480" progId="Equation.DSMT4">
                  <p:embed/>
                </p:oleObj>
              </mc:Choice>
              <mc:Fallback>
                <p:oleObj name="Equation" r:id="rId4" imgW="393480" imgH="177480" progId="Equation.DSMT4">
                  <p:embed/>
                  <p:pic>
                    <p:nvPicPr>
                      <p:cNvPr id="54" name="对象 53">
                        <a:extLst>
                          <a:ext uri="{FF2B5EF4-FFF2-40B4-BE49-F238E27FC236}">
                            <a16:creationId xmlns:a16="http://schemas.microsoft.com/office/drawing/2014/main" id="{9E7DA9D1-B98B-4B4F-A9D6-6775D51A2A0C}"/>
                          </a:ext>
                        </a:extLst>
                      </p:cNvPr>
                      <p:cNvPicPr/>
                      <p:nvPr/>
                    </p:nvPicPr>
                    <p:blipFill>
                      <a:blip r:embed="rId5"/>
                      <a:stretch>
                        <a:fillRect/>
                      </a:stretch>
                    </p:blipFill>
                    <p:spPr>
                      <a:xfrm>
                        <a:off x="333375" y="3517900"/>
                        <a:ext cx="1187450" cy="538163"/>
                      </a:xfrm>
                      <a:prstGeom prst="rect">
                        <a:avLst/>
                      </a:prstGeom>
                    </p:spPr>
                  </p:pic>
                </p:oleObj>
              </mc:Fallback>
            </mc:AlternateContent>
          </a:graphicData>
        </a:graphic>
      </p:graphicFrame>
      <p:cxnSp>
        <p:nvCxnSpPr>
          <p:cNvPr id="110" name="直接箭头连接符 109">
            <a:extLst>
              <a:ext uri="{FF2B5EF4-FFF2-40B4-BE49-F238E27FC236}">
                <a16:creationId xmlns:a16="http://schemas.microsoft.com/office/drawing/2014/main" id="{041C0480-EDB0-4AF8-AA1F-522E9A4B1D3E}"/>
              </a:ext>
            </a:extLst>
          </p:cNvPr>
          <p:cNvCxnSpPr>
            <a:cxnSpLocks/>
            <a:endCxn id="54" idx="3"/>
          </p:cNvCxnSpPr>
          <p:nvPr/>
        </p:nvCxnSpPr>
        <p:spPr bwMode="auto">
          <a:xfrm flipH="1">
            <a:off x="1482795" y="3737088"/>
            <a:ext cx="1612366" cy="48775"/>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2" name="任意多边形: 形状 111">
            <a:extLst>
              <a:ext uri="{FF2B5EF4-FFF2-40B4-BE49-F238E27FC236}">
                <a16:creationId xmlns:a16="http://schemas.microsoft.com/office/drawing/2014/main" id="{C15F1D40-5E89-4E0C-B5A4-018A6C7F1656}"/>
              </a:ext>
            </a:extLst>
          </p:cNvPr>
          <p:cNvSpPr/>
          <p:nvPr/>
        </p:nvSpPr>
        <p:spPr bwMode="auto">
          <a:xfrm rot="19088145">
            <a:off x="4449934" y="3369284"/>
            <a:ext cx="313378" cy="342187"/>
          </a:xfrm>
          <a:custGeom>
            <a:avLst/>
            <a:gdLst>
              <a:gd name="connsiteX0" fmla="*/ 362857 w 362857"/>
              <a:gd name="connsiteY0" fmla="*/ 0 h 326285"/>
              <a:gd name="connsiteX1" fmla="*/ 261257 w 362857"/>
              <a:gd name="connsiteY1" fmla="*/ 319314 h 326285"/>
              <a:gd name="connsiteX2" fmla="*/ 0 w 362857"/>
              <a:gd name="connsiteY2" fmla="*/ 217714 h 326285"/>
            </a:gdLst>
            <a:ahLst/>
            <a:cxnLst>
              <a:cxn ang="0">
                <a:pos x="connsiteX0" y="connsiteY0"/>
              </a:cxn>
              <a:cxn ang="0">
                <a:pos x="connsiteX1" y="connsiteY1"/>
              </a:cxn>
              <a:cxn ang="0">
                <a:pos x="connsiteX2" y="connsiteY2"/>
              </a:cxn>
            </a:cxnLst>
            <a:rect l="l" t="t" r="r" b="b"/>
            <a:pathLst>
              <a:path w="362857" h="326285">
                <a:moveTo>
                  <a:pt x="362857" y="0"/>
                </a:moveTo>
                <a:cubicBezTo>
                  <a:pt x="342295" y="141514"/>
                  <a:pt x="321733" y="283028"/>
                  <a:pt x="261257" y="319314"/>
                </a:cubicBezTo>
                <a:cubicBezTo>
                  <a:pt x="200781" y="355600"/>
                  <a:pt x="36286" y="239485"/>
                  <a:pt x="0" y="217714"/>
                </a:cubicBezTo>
              </a:path>
            </a:pathLst>
          </a:custGeom>
          <a:ln w="38100" cap="flat" cmpd="sng" algn="ctr">
            <a:solidFill>
              <a:schemeClr val="accent4"/>
            </a:solidFill>
            <a:prstDash val="sysDash"/>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113" name="直接箭头连接符 112">
            <a:extLst>
              <a:ext uri="{FF2B5EF4-FFF2-40B4-BE49-F238E27FC236}">
                <a16:creationId xmlns:a16="http://schemas.microsoft.com/office/drawing/2014/main" id="{9D0F6E21-76E2-4099-BFC7-2E7126DB5F47}"/>
              </a:ext>
            </a:extLst>
          </p:cNvPr>
          <p:cNvCxnSpPr>
            <a:cxnSpLocks/>
          </p:cNvCxnSpPr>
          <p:nvPr/>
        </p:nvCxnSpPr>
        <p:spPr bwMode="auto">
          <a:xfrm flipH="1">
            <a:off x="4718727" y="2344932"/>
            <a:ext cx="2546235" cy="1179282"/>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4" name="文本框 113">
            <a:extLst>
              <a:ext uri="{FF2B5EF4-FFF2-40B4-BE49-F238E27FC236}">
                <a16:creationId xmlns:a16="http://schemas.microsoft.com/office/drawing/2014/main" id="{93B799B3-06E0-4907-8A33-190FAD13D59B}"/>
              </a:ext>
            </a:extLst>
          </p:cNvPr>
          <p:cNvSpPr txBox="1"/>
          <p:nvPr/>
        </p:nvSpPr>
        <p:spPr>
          <a:xfrm>
            <a:off x="7026014" y="2158005"/>
            <a:ext cx="1107996" cy="461665"/>
          </a:xfrm>
          <a:prstGeom prst="rect">
            <a:avLst/>
          </a:prstGeom>
          <a:noFill/>
        </p:spPr>
        <p:txBody>
          <a:bodyPr wrap="none" rtlCol="0">
            <a:spAutoFit/>
          </a:bodyPr>
          <a:lstStyle/>
          <a:p>
            <a:r>
              <a:rPr lang="zh-CN" altLang="en-US" sz="2400" dirty="0"/>
              <a:t>可用角</a:t>
            </a:r>
          </a:p>
        </p:txBody>
      </p:sp>
      <p:cxnSp>
        <p:nvCxnSpPr>
          <p:cNvPr id="115" name="直接连接符 114">
            <a:extLst>
              <a:ext uri="{FF2B5EF4-FFF2-40B4-BE49-F238E27FC236}">
                <a16:creationId xmlns:a16="http://schemas.microsoft.com/office/drawing/2014/main" id="{AFE0A7AE-7BC6-4B47-B01E-79D7D940AE09}"/>
              </a:ext>
            </a:extLst>
          </p:cNvPr>
          <p:cNvCxnSpPr>
            <a:cxnSpLocks/>
          </p:cNvCxnSpPr>
          <p:nvPr/>
        </p:nvCxnSpPr>
        <p:spPr bwMode="auto">
          <a:xfrm>
            <a:off x="4008084" y="3341405"/>
            <a:ext cx="3283529" cy="713875"/>
          </a:xfrm>
          <a:prstGeom prst="line">
            <a:avLst/>
          </a:prstGeom>
          <a:ln w="9525" cap="flat" cmpd="sng" algn="ctr">
            <a:solidFill>
              <a:srgbClr val="00206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9" name="文本框 118">
            <a:extLst>
              <a:ext uri="{FF2B5EF4-FFF2-40B4-BE49-F238E27FC236}">
                <a16:creationId xmlns:a16="http://schemas.microsoft.com/office/drawing/2014/main" id="{8131A0E1-6616-4F5F-8A65-F46D7214FF71}"/>
              </a:ext>
            </a:extLst>
          </p:cNvPr>
          <p:cNvSpPr txBox="1"/>
          <p:nvPr/>
        </p:nvSpPr>
        <p:spPr>
          <a:xfrm>
            <a:off x="7483258" y="3844229"/>
            <a:ext cx="1415772" cy="461665"/>
          </a:xfrm>
          <a:prstGeom prst="rect">
            <a:avLst/>
          </a:prstGeom>
          <a:noFill/>
        </p:spPr>
        <p:txBody>
          <a:bodyPr wrap="none" rtlCol="0">
            <a:spAutoFit/>
          </a:bodyPr>
          <a:lstStyle/>
          <a:p>
            <a:r>
              <a:rPr lang="zh-CN" altLang="en-US" sz="2400" dirty="0"/>
              <a:t>可用方向</a:t>
            </a:r>
          </a:p>
        </p:txBody>
      </p:sp>
      <p:sp>
        <p:nvSpPr>
          <p:cNvPr id="120" name="思想气泡: 云 119">
            <a:extLst>
              <a:ext uri="{FF2B5EF4-FFF2-40B4-BE49-F238E27FC236}">
                <a16:creationId xmlns:a16="http://schemas.microsoft.com/office/drawing/2014/main" id="{84835AFA-F859-4891-BD1B-3197BDD22EDF}"/>
              </a:ext>
            </a:extLst>
          </p:cNvPr>
          <p:cNvSpPr/>
          <p:nvPr/>
        </p:nvSpPr>
        <p:spPr bwMode="auto">
          <a:xfrm>
            <a:off x="6299877" y="5852393"/>
            <a:ext cx="2464118" cy="847428"/>
          </a:xfrm>
          <a:prstGeom prst="cloudCallout">
            <a:avLst>
              <a:gd name="adj1" fmla="val -141608"/>
              <a:gd name="adj2" fmla="val -341506"/>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C00000"/>
                </a:solidFill>
                <a:effectLst/>
                <a:latin typeface="Arial" charset="0"/>
              </a:rPr>
              <a:t>非极值点</a:t>
            </a:r>
          </a:p>
        </p:txBody>
      </p:sp>
      <p:sp>
        <p:nvSpPr>
          <p:cNvPr id="39" name="任意多边形: 形状 38">
            <a:extLst>
              <a:ext uri="{FF2B5EF4-FFF2-40B4-BE49-F238E27FC236}">
                <a16:creationId xmlns:a16="http://schemas.microsoft.com/office/drawing/2014/main" id="{4B52ED48-B22A-4707-B07D-7F3DFD723E1E}"/>
              </a:ext>
            </a:extLst>
          </p:cNvPr>
          <p:cNvSpPr/>
          <p:nvPr/>
        </p:nvSpPr>
        <p:spPr bwMode="auto">
          <a:xfrm rot="472237">
            <a:off x="2764204" y="2158717"/>
            <a:ext cx="4702457" cy="1527972"/>
          </a:xfrm>
          <a:custGeom>
            <a:avLst/>
            <a:gdLst>
              <a:gd name="connsiteX0" fmla="*/ 0 w 2325511"/>
              <a:gd name="connsiteY0" fmla="*/ 0 h 828423"/>
              <a:gd name="connsiteX1" fmla="*/ 767644 w 2325511"/>
              <a:gd name="connsiteY1" fmla="*/ 767645 h 828423"/>
              <a:gd name="connsiteX2" fmla="*/ 2280355 w 2325511"/>
              <a:gd name="connsiteY2" fmla="*/ 778934 h 828423"/>
              <a:gd name="connsiteX3" fmla="*/ 2325511 w 2325511"/>
              <a:gd name="connsiteY3" fmla="*/ 778934 h 828423"/>
            </a:gdLst>
            <a:ahLst/>
            <a:cxnLst>
              <a:cxn ang="0">
                <a:pos x="connsiteX0" y="connsiteY0"/>
              </a:cxn>
              <a:cxn ang="0">
                <a:pos x="connsiteX1" y="connsiteY1"/>
              </a:cxn>
              <a:cxn ang="0">
                <a:pos x="connsiteX2" y="connsiteY2"/>
              </a:cxn>
              <a:cxn ang="0">
                <a:pos x="connsiteX3" y="connsiteY3"/>
              </a:cxn>
            </a:cxnLst>
            <a:rect l="l" t="t" r="r" b="b"/>
            <a:pathLst>
              <a:path w="2325511" h="828423">
                <a:moveTo>
                  <a:pt x="0" y="0"/>
                </a:moveTo>
                <a:cubicBezTo>
                  <a:pt x="193792" y="318911"/>
                  <a:pt x="387585" y="637823"/>
                  <a:pt x="767644" y="767645"/>
                </a:cubicBezTo>
                <a:cubicBezTo>
                  <a:pt x="1147703" y="897467"/>
                  <a:pt x="2280355" y="778934"/>
                  <a:pt x="2280355" y="778934"/>
                </a:cubicBezTo>
                <a:lnTo>
                  <a:pt x="2325511" y="778934"/>
                </a:lnTo>
              </a:path>
            </a:pathLst>
          </a:custGeom>
          <a:noFill/>
          <a:ln w="381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41" name="文本框 40">
            <a:extLst>
              <a:ext uri="{FF2B5EF4-FFF2-40B4-BE49-F238E27FC236}">
                <a16:creationId xmlns:a16="http://schemas.microsoft.com/office/drawing/2014/main" id="{5BA91BF4-41AC-4E3D-9A87-0FD176C20206}"/>
              </a:ext>
            </a:extLst>
          </p:cNvPr>
          <p:cNvSpPr txBox="1"/>
          <p:nvPr/>
        </p:nvSpPr>
        <p:spPr>
          <a:xfrm>
            <a:off x="1864735" y="1710796"/>
            <a:ext cx="1059906" cy="400110"/>
          </a:xfrm>
          <a:prstGeom prst="rect">
            <a:avLst/>
          </a:prstGeom>
          <a:noFill/>
        </p:spPr>
        <p:txBody>
          <a:bodyPr wrap="none" rtlCol="0">
            <a:spAutoFit/>
          </a:bodyPr>
          <a:lstStyle/>
          <a:p>
            <a:r>
              <a:rPr lang="en-US" altLang="zh-CN" sz="2000" dirty="0"/>
              <a:t>g2(x)=0</a:t>
            </a:r>
          </a:p>
        </p:txBody>
      </p:sp>
      <p:cxnSp>
        <p:nvCxnSpPr>
          <p:cNvPr id="42" name="直接连接符 41">
            <a:extLst>
              <a:ext uri="{FF2B5EF4-FFF2-40B4-BE49-F238E27FC236}">
                <a16:creationId xmlns:a16="http://schemas.microsoft.com/office/drawing/2014/main" id="{22CFA893-5C5D-4D36-BBBF-DEC078E433AD}"/>
              </a:ext>
            </a:extLst>
          </p:cNvPr>
          <p:cNvCxnSpPr>
            <a:cxnSpLocks/>
          </p:cNvCxnSpPr>
          <p:nvPr/>
        </p:nvCxnSpPr>
        <p:spPr bwMode="auto">
          <a:xfrm flipH="1">
            <a:off x="2786111" y="2171701"/>
            <a:ext cx="214979" cy="9664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42">
            <a:extLst>
              <a:ext uri="{FF2B5EF4-FFF2-40B4-BE49-F238E27FC236}">
                <a16:creationId xmlns:a16="http://schemas.microsoft.com/office/drawing/2014/main" id="{0DFDA350-BED7-4BEA-B568-40721FC3FB48}"/>
              </a:ext>
            </a:extLst>
          </p:cNvPr>
          <p:cNvCxnSpPr>
            <a:cxnSpLocks/>
          </p:cNvCxnSpPr>
          <p:nvPr/>
        </p:nvCxnSpPr>
        <p:spPr bwMode="auto">
          <a:xfrm flipH="1">
            <a:off x="3179935" y="2805298"/>
            <a:ext cx="245013" cy="12839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43">
            <a:extLst>
              <a:ext uri="{FF2B5EF4-FFF2-40B4-BE49-F238E27FC236}">
                <a16:creationId xmlns:a16="http://schemas.microsoft.com/office/drawing/2014/main" id="{B4039577-A5E3-41B2-94A5-544464DC71B2}"/>
              </a:ext>
            </a:extLst>
          </p:cNvPr>
          <p:cNvCxnSpPr>
            <a:cxnSpLocks/>
          </p:cNvCxnSpPr>
          <p:nvPr/>
        </p:nvCxnSpPr>
        <p:spPr bwMode="auto">
          <a:xfrm flipH="1">
            <a:off x="3038648" y="2558943"/>
            <a:ext cx="202752" cy="12302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a:extLst>
              <a:ext uri="{FF2B5EF4-FFF2-40B4-BE49-F238E27FC236}">
                <a16:creationId xmlns:a16="http://schemas.microsoft.com/office/drawing/2014/main" id="{FCF62A8F-050F-4C56-BA2E-283139322231}"/>
              </a:ext>
            </a:extLst>
          </p:cNvPr>
          <p:cNvCxnSpPr>
            <a:cxnSpLocks/>
          </p:cNvCxnSpPr>
          <p:nvPr/>
        </p:nvCxnSpPr>
        <p:spPr bwMode="auto">
          <a:xfrm flipH="1">
            <a:off x="2901300" y="2369098"/>
            <a:ext cx="225967" cy="10057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a:extLst>
              <a:ext uri="{FF2B5EF4-FFF2-40B4-BE49-F238E27FC236}">
                <a16:creationId xmlns:a16="http://schemas.microsoft.com/office/drawing/2014/main" id="{88078DDF-C7DF-4921-A9CF-9E1B14F6FB94}"/>
              </a:ext>
            </a:extLst>
          </p:cNvPr>
          <p:cNvCxnSpPr>
            <a:cxnSpLocks/>
          </p:cNvCxnSpPr>
          <p:nvPr/>
        </p:nvCxnSpPr>
        <p:spPr bwMode="auto">
          <a:xfrm>
            <a:off x="2126610" y="2244054"/>
            <a:ext cx="4256239" cy="2520596"/>
          </a:xfrm>
          <a:prstGeom prst="line">
            <a:avLst/>
          </a:prstGeom>
          <a:solidFill>
            <a:schemeClr val="accent1"/>
          </a:solidFill>
          <a:ln w="9525"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直接连接符 54">
            <a:extLst>
              <a:ext uri="{FF2B5EF4-FFF2-40B4-BE49-F238E27FC236}">
                <a16:creationId xmlns:a16="http://schemas.microsoft.com/office/drawing/2014/main" id="{7EDD0F93-1CD8-4C5C-B252-0876780DFE9F}"/>
              </a:ext>
            </a:extLst>
          </p:cNvPr>
          <p:cNvCxnSpPr>
            <a:cxnSpLocks/>
            <a:stCxn id="37" idx="3"/>
          </p:cNvCxnSpPr>
          <p:nvPr/>
        </p:nvCxnSpPr>
        <p:spPr bwMode="auto">
          <a:xfrm flipH="1">
            <a:off x="3542088" y="3369119"/>
            <a:ext cx="338681" cy="646837"/>
          </a:xfrm>
          <a:prstGeom prst="line">
            <a:avLst/>
          </a:prstGeom>
          <a:ln w="9525" cap="flat" cmpd="sng" algn="ctr">
            <a:solidFill>
              <a:srgbClr val="30A04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7" name="直接箭头连接符 56">
            <a:extLst>
              <a:ext uri="{FF2B5EF4-FFF2-40B4-BE49-F238E27FC236}">
                <a16:creationId xmlns:a16="http://schemas.microsoft.com/office/drawing/2014/main" id="{568E8AD4-74D1-45BB-BE4D-659372142B6C}"/>
              </a:ext>
            </a:extLst>
          </p:cNvPr>
          <p:cNvCxnSpPr>
            <a:cxnSpLocks/>
          </p:cNvCxnSpPr>
          <p:nvPr/>
        </p:nvCxnSpPr>
        <p:spPr bwMode="auto">
          <a:xfrm flipH="1">
            <a:off x="1436059" y="3934384"/>
            <a:ext cx="2094196" cy="505935"/>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aphicFrame>
        <p:nvGraphicFramePr>
          <p:cNvPr id="59" name="对象 58">
            <a:extLst>
              <a:ext uri="{FF2B5EF4-FFF2-40B4-BE49-F238E27FC236}">
                <a16:creationId xmlns:a16="http://schemas.microsoft.com/office/drawing/2014/main" id="{4E634227-C7D9-42E3-8A46-3CFCB4ADFFDF}"/>
              </a:ext>
            </a:extLst>
          </p:cNvPr>
          <p:cNvGraphicFramePr>
            <a:graphicFrameLocks noChangeAspect="1"/>
          </p:cNvGraphicFramePr>
          <p:nvPr>
            <p:extLst>
              <p:ext uri="{D42A27DB-BD31-4B8C-83A1-F6EECF244321}">
                <p14:modId xmlns:p14="http://schemas.microsoft.com/office/powerpoint/2010/main" val="3519766113"/>
              </p:ext>
            </p:extLst>
          </p:nvPr>
        </p:nvGraphicFramePr>
        <p:xfrm>
          <a:off x="342900" y="4186238"/>
          <a:ext cx="1225550" cy="536575"/>
        </p:xfrm>
        <a:graphic>
          <a:graphicData uri="http://schemas.openxmlformats.org/presentationml/2006/ole">
            <mc:AlternateContent xmlns:mc="http://schemas.openxmlformats.org/markup-compatibility/2006">
              <mc:Choice xmlns:v="urn:schemas-microsoft-com:vml" Requires="v">
                <p:oleObj name="Equation" r:id="rId6" imgW="406080" imgH="177480" progId="Equation.DSMT4">
                  <p:embed/>
                </p:oleObj>
              </mc:Choice>
              <mc:Fallback>
                <p:oleObj name="Equation" r:id="rId6" imgW="406080" imgH="177480" progId="Equation.DSMT4">
                  <p:embed/>
                  <p:pic>
                    <p:nvPicPr>
                      <p:cNvPr id="54" name="对象 53">
                        <a:extLst>
                          <a:ext uri="{FF2B5EF4-FFF2-40B4-BE49-F238E27FC236}">
                            <a16:creationId xmlns:a16="http://schemas.microsoft.com/office/drawing/2014/main" id="{9E7DA9D1-B98B-4B4F-A9D6-6775D51A2A0C}"/>
                          </a:ext>
                        </a:extLst>
                      </p:cNvPr>
                      <p:cNvPicPr/>
                      <p:nvPr/>
                    </p:nvPicPr>
                    <p:blipFill>
                      <a:blip r:embed="rId7"/>
                      <a:stretch>
                        <a:fillRect/>
                      </a:stretch>
                    </p:blipFill>
                    <p:spPr>
                      <a:xfrm>
                        <a:off x="342900" y="4186238"/>
                        <a:ext cx="1225550" cy="536575"/>
                      </a:xfrm>
                      <a:prstGeom prst="rect">
                        <a:avLst/>
                      </a:prstGeom>
                    </p:spPr>
                  </p:pic>
                </p:oleObj>
              </mc:Fallback>
            </mc:AlternateContent>
          </a:graphicData>
        </a:graphic>
      </p:graphicFrame>
    </p:spTree>
    <p:extLst>
      <p:ext uri="{BB962C8B-B14F-4D97-AF65-F5344CB8AC3E}">
        <p14:creationId xmlns:p14="http://schemas.microsoft.com/office/powerpoint/2010/main" val="2584485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inVertical)">
                                      <p:cBhvr>
                                        <p:cTn id="7" dur="500"/>
                                        <p:tgtEl>
                                          <p:spTgt spid="24"/>
                                        </p:tgtEl>
                                      </p:cBhvr>
                                    </p:animEffect>
                                  </p:childTnLst>
                                </p:cTn>
                              </p:par>
                              <p:par>
                                <p:cTn id="8" presetID="16" presetClass="entr" presetSubtype="21"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barn(inVertical)">
                                      <p:cBhvr>
                                        <p:cTn id="10" dur="500"/>
                                        <p:tgtEl>
                                          <p:spTgt spid="25"/>
                                        </p:tgtEl>
                                      </p:cBhvr>
                                    </p:animEffect>
                                  </p:childTnLst>
                                </p:cTn>
                              </p:par>
                              <p:par>
                                <p:cTn id="11" presetID="16" presetClass="entr" presetSubtype="21"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barn(inVertical)">
                                      <p:cBhvr>
                                        <p:cTn id="13" dur="500"/>
                                        <p:tgtEl>
                                          <p:spTgt spid="26"/>
                                        </p:tgtEl>
                                      </p:cBhvr>
                                    </p:animEffect>
                                  </p:childTnLst>
                                </p:cTn>
                              </p:par>
                              <p:par>
                                <p:cTn id="14" presetID="16" presetClass="entr" presetSubtype="21"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barn(inVertical)">
                                      <p:cBhvr>
                                        <p:cTn id="16" dur="500"/>
                                        <p:tgtEl>
                                          <p:spTgt spid="28"/>
                                        </p:tgtEl>
                                      </p:cBhvr>
                                    </p:animEffect>
                                  </p:childTnLst>
                                </p:cTn>
                              </p:par>
                              <p:par>
                                <p:cTn id="17" presetID="16" presetClass="entr" presetSubtype="21"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barn(inVertical)">
                                      <p:cBhvr>
                                        <p:cTn id="19" dur="500"/>
                                        <p:tgtEl>
                                          <p:spTgt spid="29"/>
                                        </p:tgtEl>
                                      </p:cBhvr>
                                    </p:animEffect>
                                  </p:childTnLst>
                                </p:cTn>
                              </p:par>
                              <p:par>
                                <p:cTn id="20" presetID="16" presetClass="entr" presetSubtype="21" fill="hold"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barn(inVertical)">
                                      <p:cBhvr>
                                        <p:cTn id="22" dur="500"/>
                                        <p:tgtEl>
                                          <p:spTgt spid="30"/>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barn(inVertical)">
                                      <p:cBhvr>
                                        <p:cTn id="25" dur="500"/>
                                        <p:tgtEl>
                                          <p:spTgt spid="31"/>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barn(inVertical)">
                                      <p:cBhvr>
                                        <p:cTn id="28" dur="500"/>
                                        <p:tgtEl>
                                          <p:spTgt spid="32"/>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barn(inVertical)">
                                      <p:cBhvr>
                                        <p:cTn id="31" dur="500"/>
                                        <p:tgtEl>
                                          <p:spTgt spid="33"/>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barn(inVertical)">
                                      <p:cBhvr>
                                        <p:cTn id="34" dur="500"/>
                                        <p:tgtEl>
                                          <p:spTgt spid="34"/>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barn(inVertical)">
                                      <p:cBhvr>
                                        <p:cTn id="37" dur="500"/>
                                        <p:tgtEl>
                                          <p:spTgt spid="35"/>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barn(inVertical)">
                                      <p:cBhvr>
                                        <p:cTn id="40" dur="500"/>
                                        <p:tgtEl>
                                          <p:spTgt spid="36"/>
                                        </p:tgtEl>
                                      </p:cBhvr>
                                    </p:animEffect>
                                  </p:childTnLst>
                                </p:cTn>
                              </p:par>
                            </p:childTnLst>
                          </p:cTn>
                        </p:par>
                        <p:par>
                          <p:cTn id="41" fill="hold">
                            <p:stCondLst>
                              <p:cond delay="1500"/>
                            </p:stCondLst>
                            <p:childTnLst>
                              <p:par>
                                <p:cTn id="42" presetID="16" presetClass="entr" presetSubtype="21" fill="hold" grpId="0" nodeType="afterEffect">
                                  <p:stCondLst>
                                    <p:cond delay="0"/>
                                  </p:stCondLst>
                                  <p:childTnLst>
                                    <p:set>
                                      <p:cBhvr>
                                        <p:cTn id="43" dur="1" fill="hold">
                                          <p:stCondLst>
                                            <p:cond delay="0"/>
                                          </p:stCondLst>
                                        </p:cTn>
                                        <p:tgtEl>
                                          <p:spTgt spid="39"/>
                                        </p:tgtEl>
                                        <p:attrNameLst>
                                          <p:attrName>style.visibility</p:attrName>
                                        </p:attrNameLst>
                                      </p:cBhvr>
                                      <p:to>
                                        <p:strVal val="visible"/>
                                      </p:to>
                                    </p:set>
                                    <p:animEffect transition="in" filter="barn(inVertical)">
                                      <p:cBhvr>
                                        <p:cTn id="44" dur="500"/>
                                        <p:tgtEl>
                                          <p:spTgt spid="39"/>
                                        </p:tgtEl>
                                      </p:cBhvr>
                                    </p:animEffect>
                                  </p:childTnLst>
                                </p:cTn>
                              </p:par>
                            </p:childTnLst>
                          </p:cTn>
                        </p:par>
                        <p:par>
                          <p:cTn id="45" fill="hold">
                            <p:stCondLst>
                              <p:cond delay="2000"/>
                            </p:stCondLst>
                            <p:childTnLst>
                              <p:par>
                                <p:cTn id="46" presetID="16" presetClass="entr" presetSubtype="21" fill="hold" grpId="0" nodeType="after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barn(inVertical)">
                                      <p:cBhvr>
                                        <p:cTn id="48" dur="500"/>
                                        <p:tgtEl>
                                          <p:spTgt spid="41"/>
                                        </p:tgtEl>
                                      </p:cBhvr>
                                    </p:animEffect>
                                  </p:childTnLst>
                                </p:cTn>
                              </p:par>
                            </p:childTnLst>
                          </p:cTn>
                        </p:par>
                        <p:par>
                          <p:cTn id="49" fill="hold">
                            <p:stCondLst>
                              <p:cond delay="2500"/>
                            </p:stCondLst>
                            <p:childTnLst>
                              <p:par>
                                <p:cTn id="50" presetID="16" presetClass="entr" presetSubtype="21" fill="hold" nodeType="after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barn(inVertical)">
                                      <p:cBhvr>
                                        <p:cTn id="52" dur="500"/>
                                        <p:tgtEl>
                                          <p:spTgt spid="42"/>
                                        </p:tgtEl>
                                      </p:cBhvr>
                                    </p:animEffect>
                                  </p:childTnLst>
                                </p:cTn>
                              </p:par>
                            </p:childTnLst>
                          </p:cTn>
                        </p:par>
                        <p:par>
                          <p:cTn id="53" fill="hold">
                            <p:stCondLst>
                              <p:cond delay="3000"/>
                            </p:stCondLst>
                            <p:childTnLst>
                              <p:par>
                                <p:cTn id="54" presetID="16" presetClass="entr" presetSubtype="21" fill="hold" nodeType="afterEffect">
                                  <p:stCondLst>
                                    <p:cond delay="0"/>
                                  </p:stCondLst>
                                  <p:childTnLst>
                                    <p:set>
                                      <p:cBhvr>
                                        <p:cTn id="55" dur="1" fill="hold">
                                          <p:stCondLst>
                                            <p:cond delay="0"/>
                                          </p:stCondLst>
                                        </p:cTn>
                                        <p:tgtEl>
                                          <p:spTgt spid="43"/>
                                        </p:tgtEl>
                                        <p:attrNameLst>
                                          <p:attrName>style.visibility</p:attrName>
                                        </p:attrNameLst>
                                      </p:cBhvr>
                                      <p:to>
                                        <p:strVal val="visible"/>
                                      </p:to>
                                    </p:set>
                                    <p:animEffect transition="in" filter="barn(inVertical)">
                                      <p:cBhvr>
                                        <p:cTn id="56" dur="500"/>
                                        <p:tgtEl>
                                          <p:spTgt spid="43"/>
                                        </p:tgtEl>
                                      </p:cBhvr>
                                    </p:animEffect>
                                  </p:childTnLst>
                                </p:cTn>
                              </p:par>
                            </p:childTnLst>
                          </p:cTn>
                        </p:par>
                        <p:par>
                          <p:cTn id="57" fill="hold">
                            <p:stCondLst>
                              <p:cond delay="3500"/>
                            </p:stCondLst>
                            <p:childTnLst>
                              <p:par>
                                <p:cTn id="58" presetID="16" presetClass="entr" presetSubtype="21" fill="hold" nodeType="afterEffect">
                                  <p:stCondLst>
                                    <p:cond delay="0"/>
                                  </p:stCondLst>
                                  <p:childTnLst>
                                    <p:set>
                                      <p:cBhvr>
                                        <p:cTn id="59" dur="1" fill="hold">
                                          <p:stCondLst>
                                            <p:cond delay="0"/>
                                          </p:stCondLst>
                                        </p:cTn>
                                        <p:tgtEl>
                                          <p:spTgt spid="44"/>
                                        </p:tgtEl>
                                        <p:attrNameLst>
                                          <p:attrName>style.visibility</p:attrName>
                                        </p:attrNameLst>
                                      </p:cBhvr>
                                      <p:to>
                                        <p:strVal val="visible"/>
                                      </p:to>
                                    </p:set>
                                    <p:animEffect transition="in" filter="barn(inVertical)">
                                      <p:cBhvr>
                                        <p:cTn id="60" dur="500"/>
                                        <p:tgtEl>
                                          <p:spTgt spid="44"/>
                                        </p:tgtEl>
                                      </p:cBhvr>
                                    </p:animEffect>
                                  </p:childTnLst>
                                </p:cTn>
                              </p:par>
                            </p:childTnLst>
                          </p:cTn>
                        </p:par>
                        <p:par>
                          <p:cTn id="61" fill="hold">
                            <p:stCondLst>
                              <p:cond delay="4000"/>
                            </p:stCondLst>
                            <p:childTnLst>
                              <p:par>
                                <p:cTn id="62" presetID="16" presetClass="entr" presetSubtype="21" fill="hold" nodeType="after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barn(inVertical)">
                                      <p:cBhvr>
                                        <p:cTn id="64" dur="500"/>
                                        <p:tgtEl>
                                          <p:spTgt spid="45"/>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wipe(down)">
                                      <p:cBhvr>
                                        <p:cTn id="69" dur="500"/>
                                        <p:tgtEl>
                                          <p:spTgt spid="37"/>
                                        </p:tgtEl>
                                      </p:cBhvr>
                                    </p:animEffect>
                                  </p:childTnLst>
                                </p:cTn>
                              </p:par>
                            </p:childTnLst>
                          </p:cTn>
                        </p:par>
                        <p:par>
                          <p:cTn id="70" fill="hold">
                            <p:stCondLst>
                              <p:cond delay="500"/>
                            </p:stCondLst>
                            <p:childTnLst>
                              <p:par>
                                <p:cTn id="71" presetID="16" presetClass="entr" presetSubtype="21" fill="hold" grpId="0" nodeType="afterEffect">
                                  <p:stCondLst>
                                    <p:cond delay="0"/>
                                  </p:stCondLst>
                                  <p:childTnLst>
                                    <p:set>
                                      <p:cBhvr>
                                        <p:cTn id="72" dur="1" fill="hold">
                                          <p:stCondLst>
                                            <p:cond delay="0"/>
                                          </p:stCondLst>
                                        </p:cTn>
                                        <p:tgtEl>
                                          <p:spTgt spid="120"/>
                                        </p:tgtEl>
                                        <p:attrNameLst>
                                          <p:attrName>style.visibility</p:attrName>
                                        </p:attrNameLst>
                                      </p:cBhvr>
                                      <p:to>
                                        <p:strVal val="visible"/>
                                      </p:to>
                                    </p:set>
                                    <p:animEffect transition="in" filter="barn(inVertical)">
                                      <p:cBhvr>
                                        <p:cTn id="73" dur="500"/>
                                        <p:tgtEl>
                                          <p:spTgt spid="120"/>
                                        </p:tgtEl>
                                      </p:cBhvr>
                                    </p:animEffect>
                                  </p:childTnLst>
                                </p:cTn>
                              </p:par>
                            </p:childTnLst>
                          </p:cTn>
                        </p:par>
                      </p:childTnLst>
                    </p:cTn>
                  </p:par>
                  <p:par>
                    <p:cTn id="74" fill="hold">
                      <p:stCondLst>
                        <p:cond delay="indefinite"/>
                      </p:stCondLst>
                      <p:childTnLst>
                        <p:par>
                          <p:cTn id="75" fill="hold">
                            <p:stCondLst>
                              <p:cond delay="0"/>
                            </p:stCondLst>
                            <p:childTnLst>
                              <p:par>
                                <p:cTn id="76" presetID="16" presetClass="entr" presetSubtype="21" fill="hold" nodeType="clickEffect">
                                  <p:stCondLst>
                                    <p:cond delay="0"/>
                                  </p:stCondLst>
                                  <p:childTnLst>
                                    <p:set>
                                      <p:cBhvr>
                                        <p:cTn id="77" dur="1" fill="hold">
                                          <p:stCondLst>
                                            <p:cond delay="0"/>
                                          </p:stCondLst>
                                        </p:cTn>
                                        <p:tgtEl>
                                          <p:spTgt spid="12"/>
                                        </p:tgtEl>
                                        <p:attrNameLst>
                                          <p:attrName>style.visibility</p:attrName>
                                        </p:attrNameLst>
                                      </p:cBhvr>
                                      <p:to>
                                        <p:strVal val="visible"/>
                                      </p:to>
                                    </p:set>
                                    <p:animEffect transition="in" filter="barn(inVertical)">
                                      <p:cBhvr>
                                        <p:cTn id="78" dur="500"/>
                                        <p:tgtEl>
                                          <p:spTgt spid="12"/>
                                        </p:tgtEl>
                                      </p:cBhvr>
                                    </p:animEffect>
                                  </p:childTnLst>
                                </p:cTn>
                              </p:par>
                            </p:childTnLst>
                          </p:cTn>
                        </p:par>
                      </p:childTnLst>
                    </p:cTn>
                  </p:par>
                  <p:par>
                    <p:cTn id="79" fill="hold">
                      <p:stCondLst>
                        <p:cond delay="indefinite"/>
                      </p:stCondLst>
                      <p:childTnLst>
                        <p:par>
                          <p:cTn id="80" fill="hold">
                            <p:stCondLst>
                              <p:cond delay="0"/>
                            </p:stCondLst>
                            <p:childTnLst>
                              <p:par>
                                <p:cTn id="81" presetID="16" presetClass="entr" presetSubtype="21" fill="hold" nodeType="clickEffect">
                                  <p:stCondLst>
                                    <p:cond delay="0"/>
                                  </p:stCondLst>
                                  <p:childTnLst>
                                    <p:set>
                                      <p:cBhvr>
                                        <p:cTn id="82" dur="1" fill="hold">
                                          <p:stCondLst>
                                            <p:cond delay="0"/>
                                          </p:stCondLst>
                                        </p:cTn>
                                        <p:tgtEl>
                                          <p:spTgt spid="38"/>
                                        </p:tgtEl>
                                        <p:attrNameLst>
                                          <p:attrName>style.visibility</p:attrName>
                                        </p:attrNameLst>
                                      </p:cBhvr>
                                      <p:to>
                                        <p:strVal val="visible"/>
                                      </p:to>
                                    </p:set>
                                    <p:animEffect transition="in" filter="barn(inVertical)">
                                      <p:cBhvr>
                                        <p:cTn id="83" dur="500"/>
                                        <p:tgtEl>
                                          <p:spTgt spid="38"/>
                                        </p:tgtEl>
                                      </p:cBhvr>
                                    </p:animEffect>
                                  </p:childTnLst>
                                </p:cTn>
                              </p:par>
                            </p:childTnLst>
                          </p:cTn>
                        </p:par>
                        <p:par>
                          <p:cTn id="84" fill="hold">
                            <p:stCondLst>
                              <p:cond delay="500"/>
                            </p:stCondLst>
                            <p:childTnLst>
                              <p:par>
                                <p:cTn id="85" presetID="16" presetClass="entr" presetSubtype="21" fill="hold" nodeType="afterEffect">
                                  <p:stCondLst>
                                    <p:cond delay="0"/>
                                  </p:stCondLst>
                                  <p:childTnLst>
                                    <p:set>
                                      <p:cBhvr>
                                        <p:cTn id="86" dur="1" fill="hold">
                                          <p:stCondLst>
                                            <p:cond delay="0"/>
                                          </p:stCondLst>
                                        </p:cTn>
                                        <p:tgtEl>
                                          <p:spTgt spid="50"/>
                                        </p:tgtEl>
                                        <p:attrNameLst>
                                          <p:attrName>style.visibility</p:attrName>
                                        </p:attrNameLst>
                                      </p:cBhvr>
                                      <p:to>
                                        <p:strVal val="visible"/>
                                      </p:to>
                                    </p:set>
                                    <p:animEffect transition="in" filter="barn(inVertical)">
                                      <p:cBhvr>
                                        <p:cTn id="87" dur="500"/>
                                        <p:tgtEl>
                                          <p:spTgt spid="50"/>
                                        </p:tgtEl>
                                      </p:cBhvr>
                                    </p:animEffect>
                                  </p:childTnLst>
                                </p:cTn>
                              </p:par>
                              <p:par>
                                <p:cTn id="88" presetID="16" presetClass="entr" presetSubtype="21" fill="hold" nodeType="withEffect">
                                  <p:stCondLst>
                                    <p:cond delay="0"/>
                                  </p:stCondLst>
                                  <p:childTnLst>
                                    <p:set>
                                      <p:cBhvr>
                                        <p:cTn id="89" dur="1" fill="hold">
                                          <p:stCondLst>
                                            <p:cond delay="0"/>
                                          </p:stCondLst>
                                        </p:cTn>
                                        <p:tgtEl>
                                          <p:spTgt spid="53"/>
                                        </p:tgtEl>
                                        <p:attrNameLst>
                                          <p:attrName>style.visibility</p:attrName>
                                        </p:attrNameLst>
                                      </p:cBhvr>
                                      <p:to>
                                        <p:strVal val="visible"/>
                                      </p:to>
                                    </p:set>
                                    <p:animEffect transition="in" filter="barn(inVertical)">
                                      <p:cBhvr>
                                        <p:cTn id="90" dur="500"/>
                                        <p:tgtEl>
                                          <p:spTgt spid="53"/>
                                        </p:tgtEl>
                                      </p:cBhvr>
                                    </p:animEffect>
                                  </p:childTnLst>
                                </p:cTn>
                              </p:par>
                            </p:childTnLst>
                          </p:cTn>
                        </p:par>
                      </p:childTnLst>
                    </p:cTn>
                  </p:par>
                  <p:par>
                    <p:cTn id="91" fill="hold">
                      <p:stCondLst>
                        <p:cond delay="indefinite"/>
                      </p:stCondLst>
                      <p:childTnLst>
                        <p:par>
                          <p:cTn id="92" fill="hold">
                            <p:stCondLst>
                              <p:cond delay="0"/>
                            </p:stCondLst>
                            <p:childTnLst>
                              <p:par>
                                <p:cTn id="93" presetID="16" presetClass="entr" presetSubtype="21" fill="hold" nodeType="click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barn(inVertical)">
                                      <p:cBhvr>
                                        <p:cTn id="95" dur="500"/>
                                        <p:tgtEl>
                                          <p:spTgt spid="40"/>
                                        </p:tgtEl>
                                      </p:cBhvr>
                                    </p:animEffect>
                                  </p:childTnLst>
                                </p:cTn>
                              </p:par>
                            </p:childTnLst>
                          </p:cTn>
                        </p:par>
                      </p:childTnLst>
                    </p:cTn>
                  </p:par>
                  <p:par>
                    <p:cTn id="96" fill="hold">
                      <p:stCondLst>
                        <p:cond delay="indefinite"/>
                      </p:stCondLst>
                      <p:childTnLst>
                        <p:par>
                          <p:cTn id="97" fill="hold">
                            <p:stCondLst>
                              <p:cond delay="0"/>
                            </p:stCondLst>
                            <p:childTnLst>
                              <p:par>
                                <p:cTn id="98" presetID="16" presetClass="entr" presetSubtype="21" fill="hold" nodeType="clickEffect">
                                  <p:stCondLst>
                                    <p:cond delay="0"/>
                                  </p:stCondLst>
                                  <p:childTnLst>
                                    <p:set>
                                      <p:cBhvr>
                                        <p:cTn id="99" dur="1" fill="hold">
                                          <p:stCondLst>
                                            <p:cond delay="0"/>
                                          </p:stCondLst>
                                        </p:cTn>
                                        <p:tgtEl>
                                          <p:spTgt spid="46"/>
                                        </p:tgtEl>
                                        <p:attrNameLst>
                                          <p:attrName>style.visibility</p:attrName>
                                        </p:attrNameLst>
                                      </p:cBhvr>
                                      <p:to>
                                        <p:strVal val="visible"/>
                                      </p:to>
                                    </p:set>
                                    <p:animEffect transition="in" filter="barn(inVertical)">
                                      <p:cBhvr>
                                        <p:cTn id="100" dur="500"/>
                                        <p:tgtEl>
                                          <p:spTgt spid="46"/>
                                        </p:tgtEl>
                                      </p:cBhvr>
                                    </p:animEffect>
                                  </p:childTnLst>
                                </p:cTn>
                              </p:par>
                            </p:childTnLst>
                          </p:cTn>
                        </p:par>
                        <p:par>
                          <p:cTn id="101" fill="hold">
                            <p:stCondLst>
                              <p:cond delay="500"/>
                            </p:stCondLst>
                            <p:childTnLst>
                              <p:par>
                                <p:cTn id="102" presetID="22" presetClass="entr" presetSubtype="4" fill="hold" nodeType="afterEffect">
                                  <p:stCondLst>
                                    <p:cond delay="0"/>
                                  </p:stCondLst>
                                  <p:childTnLst>
                                    <p:set>
                                      <p:cBhvr>
                                        <p:cTn id="103" dur="1" fill="hold">
                                          <p:stCondLst>
                                            <p:cond delay="0"/>
                                          </p:stCondLst>
                                        </p:cTn>
                                        <p:tgtEl>
                                          <p:spTgt spid="110"/>
                                        </p:tgtEl>
                                        <p:attrNameLst>
                                          <p:attrName>style.visibility</p:attrName>
                                        </p:attrNameLst>
                                      </p:cBhvr>
                                      <p:to>
                                        <p:strVal val="visible"/>
                                      </p:to>
                                    </p:set>
                                    <p:animEffect transition="in" filter="wipe(down)">
                                      <p:cBhvr>
                                        <p:cTn id="104" dur="500"/>
                                        <p:tgtEl>
                                          <p:spTgt spid="110"/>
                                        </p:tgtEl>
                                      </p:cBhvr>
                                    </p:animEffect>
                                  </p:childTnLst>
                                </p:cTn>
                              </p:par>
                              <p:par>
                                <p:cTn id="105" presetID="22" presetClass="entr" presetSubtype="4" fill="hold" nodeType="withEffect">
                                  <p:stCondLst>
                                    <p:cond delay="0"/>
                                  </p:stCondLst>
                                  <p:childTnLst>
                                    <p:set>
                                      <p:cBhvr>
                                        <p:cTn id="106" dur="1" fill="hold">
                                          <p:stCondLst>
                                            <p:cond delay="0"/>
                                          </p:stCondLst>
                                        </p:cTn>
                                        <p:tgtEl>
                                          <p:spTgt spid="54"/>
                                        </p:tgtEl>
                                        <p:attrNameLst>
                                          <p:attrName>style.visibility</p:attrName>
                                        </p:attrNameLst>
                                      </p:cBhvr>
                                      <p:to>
                                        <p:strVal val="visible"/>
                                      </p:to>
                                    </p:set>
                                    <p:animEffect transition="in" filter="wipe(down)">
                                      <p:cBhvr>
                                        <p:cTn id="107" dur="500"/>
                                        <p:tgtEl>
                                          <p:spTgt spid="54"/>
                                        </p:tgtEl>
                                      </p:cBhvr>
                                    </p:animEffect>
                                  </p:childTnLst>
                                </p:cTn>
                              </p:par>
                            </p:childTnLst>
                          </p:cTn>
                        </p:par>
                      </p:childTnLst>
                    </p:cTn>
                  </p:par>
                  <p:par>
                    <p:cTn id="108" fill="hold">
                      <p:stCondLst>
                        <p:cond delay="indefinite"/>
                      </p:stCondLst>
                      <p:childTnLst>
                        <p:par>
                          <p:cTn id="109" fill="hold">
                            <p:stCondLst>
                              <p:cond delay="0"/>
                            </p:stCondLst>
                            <p:childTnLst>
                              <p:par>
                                <p:cTn id="110" presetID="16" presetClass="entr" presetSubtype="21" fill="hold" nodeType="clickEffect">
                                  <p:stCondLst>
                                    <p:cond delay="0"/>
                                  </p:stCondLst>
                                  <p:childTnLst>
                                    <p:set>
                                      <p:cBhvr>
                                        <p:cTn id="111" dur="1" fill="hold">
                                          <p:stCondLst>
                                            <p:cond delay="0"/>
                                          </p:stCondLst>
                                        </p:cTn>
                                        <p:tgtEl>
                                          <p:spTgt spid="52"/>
                                        </p:tgtEl>
                                        <p:attrNameLst>
                                          <p:attrName>style.visibility</p:attrName>
                                        </p:attrNameLst>
                                      </p:cBhvr>
                                      <p:to>
                                        <p:strVal val="visible"/>
                                      </p:to>
                                    </p:set>
                                    <p:animEffect transition="in" filter="barn(inVertical)">
                                      <p:cBhvr>
                                        <p:cTn id="112" dur="500"/>
                                        <p:tgtEl>
                                          <p:spTgt spid="52"/>
                                        </p:tgtEl>
                                      </p:cBhvr>
                                    </p:animEffect>
                                  </p:childTnLst>
                                </p:cTn>
                              </p:par>
                            </p:childTnLst>
                          </p:cTn>
                        </p:par>
                      </p:childTnLst>
                    </p:cTn>
                  </p:par>
                  <p:par>
                    <p:cTn id="113" fill="hold">
                      <p:stCondLst>
                        <p:cond delay="indefinite"/>
                      </p:stCondLst>
                      <p:childTnLst>
                        <p:par>
                          <p:cTn id="114" fill="hold">
                            <p:stCondLst>
                              <p:cond delay="0"/>
                            </p:stCondLst>
                            <p:childTnLst>
                              <p:par>
                                <p:cTn id="115" presetID="16" presetClass="entr" presetSubtype="21" fill="hold" nodeType="clickEffect">
                                  <p:stCondLst>
                                    <p:cond delay="0"/>
                                  </p:stCondLst>
                                  <p:childTnLst>
                                    <p:set>
                                      <p:cBhvr>
                                        <p:cTn id="116" dur="1" fill="hold">
                                          <p:stCondLst>
                                            <p:cond delay="0"/>
                                          </p:stCondLst>
                                        </p:cTn>
                                        <p:tgtEl>
                                          <p:spTgt spid="55"/>
                                        </p:tgtEl>
                                        <p:attrNameLst>
                                          <p:attrName>style.visibility</p:attrName>
                                        </p:attrNameLst>
                                      </p:cBhvr>
                                      <p:to>
                                        <p:strVal val="visible"/>
                                      </p:to>
                                    </p:set>
                                    <p:animEffect transition="in" filter="barn(inVertical)">
                                      <p:cBhvr>
                                        <p:cTn id="117" dur="500"/>
                                        <p:tgtEl>
                                          <p:spTgt spid="55"/>
                                        </p:tgtEl>
                                      </p:cBhvr>
                                    </p:animEffect>
                                  </p:childTnLst>
                                </p:cTn>
                              </p:par>
                            </p:childTnLst>
                          </p:cTn>
                        </p:par>
                        <p:par>
                          <p:cTn id="118" fill="hold">
                            <p:stCondLst>
                              <p:cond delay="500"/>
                            </p:stCondLst>
                            <p:childTnLst>
                              <p:par>
                                <p:cTn id="119" presetID="22" presetClass="entr" presetSubtype="4" fill="hold" nodeType="afterEffect">
                                  <p:stCondLst>
                                    <p:cond delay="0"/>
                                  </p:stCondLst>
                                  <p:childTnLst>
                                    <p:set>
                                      <p:cBhvr>
                                        <p:cTn id="120" dur="1" fill="hold">
                                          <p:stCondLst>
                                            <p:cond delay="0"/>
                                          </p:stCondLst>
                                        </p:cTn>
                                        <p:tgtEl>
                                          <p:spTgt spid="57"/>
                                        </p:tgtEl>
                                        <p:attrNameLst>
                                          <p:attrName>style.visibility</p:attrName>
                                        </p:attrNameLst>
                                      </p:cBhvr>
                                      <p:to>
                                        <p:strVal val="visible"/>
                                      </p:to>
                                    </p:set>
                                    <p:animEffect transition="in" filter="wipe(down)">
                                      <p:cBhvr>
                                        <p:cTn id="121" dur="500"/>
                                        <p:tgtEl>
                                          <p:spTgt spid="57"/>
                                        </p:tgtEl>
                                      </p:cBhvr>
                                    </p:animEffect>
                                  </p:childTnLst>
                                </p:cTn>
                              </p:par>
                              <p:par>
                                <p:cTn id="122" presetID="22" presetClass="entr" presetSubtype="4" fill="hold" nodeType="withEffect">
                                  <p:stCondLst>
                                    <p:cond delay="0"/>
                                  </p:stCondLst>
                                  <p:childTnLst>
                                    <p:set>
                                      <p:cBhvr>
                                        <p:cTn id="123" dur="1" fill="hold">
                                          <p:stCondLst>
                                            <p:cond delay="0"/>
                                          </p:stCondLst>
                                        </p:cTn>
                                        <p:tgtEl>
                                          <p:spTgt spid="59"/>
                                        </p:tgtEl>
                                        <p:attrNameLst>
                                          <p:attrName>style.visibility</p:attrName>
                                        </p:attrNameLst>
                                      </p:cBhvr>
                                      <p:to>
                                        <p:strVal val="visible"/>
                                      </p:to>
                                    </p:set>
                                    <p:animEffect transition="in" filter="wipe(down)">
                                      <p:cBhvr>
                                        <p:cTn id="124" dur="500"/>
                                        <p:tgtEl>
                                          <p:spTgt spid="59"/>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4" fill="hold" grpId="0" nodeType="clickEffect">
                                  <p:stCondLst>
                                    <p:cond delay="0"/>
                                  </p:stCondLst>
                                  <p:childTnLst>
                                    <p:set>
                                      <p:cBhvr>
                                        <p:cTn id="128" dur="1" fill="hold">
                                          <p:stCondLst>
                                            <p:cond delay="0"/>
                                          </p:stCondLst>
                                        </p:cTn>
                                        <p:tgtEl>
                                          <p:spTgt spid="112"/>
                                        </p:tgtEl>
                                        <p:attrNameLst>
                                          <p:attrName>style.visibility</p:attrName>
                                        </p:attrNameLst>
                                      </p:cBhvr>
                                      <p:to>
                                        <p:strVal val="visible"/>
                                      </p:to>
                                    </p:set>
                                    <p:animEffect transition="in" filter="wipe(down)">
                                      <p:cBhvr>
                                        <p:cTn id="129" dur="500"/>
                                        <p:tgtEl>
                                          <p:spTgt spid="112"/>
                                        </p:tgtEl>
                                      </p:cBhvr>
                                    </p:animEffect>
                                  </p:childTnLst>
                                </p:cTn>
                              </p:par>
                            </p:childTnLst>
                          </p:cTn>
                        </p:par>
                        <p:par>
                          <p:cTn id="130" fill="hold">
                            <p:stCondLst>
                              <p:cond delay="500"/>
                            </p:stCondLst>
                            <p:childTnLst>
                              <p:par>
                                <p:cTn id="131" presetID="16" presetClass="entr" presetSubtype="21" fill="hold" nodeType="afterEffect">
                                  <p:stCondLst>
                                    <p:cond delay="0"/>
                                  </p:stCondLst>
                                  <p:childTnLst>
                                    <p:set>
                                      <p:cBhvr>
                                        <p:cTn id="132" dur="1" fill="hold">
                                          <p:stCondLst>
                                            <p:cond delay="0"/>
                                          </p:stCondLst>
                                        </p:cTn>
                                        <p:tgtEl>
                                          <p:spTgt spid="113"/>
                                        </p:tgtEl>
                                        <p:attrNameLst>
                                          <p:attrName>style.visibility</p:attrName>
                                        </p:attrNameLst>
                                      </p:cBhvr>
                                      <p:to>
                                        <p:strVal val="visible"/>
                                      </p:to>
                                    </p:set>
                                    <p:animEffect transition="in" filter="barn(inVertical)">
                                      <p:cBhvr>
                                        <p:cTn id="133" dur="500"/>
                                        <p:tgtEl>
                                          <p:spTgt spid="113"/>
                                        </p:tgtEl>
                                      </p:cBhvr>
                                    </p:animEffect>
                                  </p:childTnLst>
                                </p:cTn>
                              </p:par>
                            </p:childTnLst>
                          </p:cTn>
                        </p:par>
                        <p:par>
                          <p:cTn id="134" fill="hold">
                            <p:stCondLst>
                              <p:cond delay="1000"/>
                            </p:stCondLst>
                            <p:childTnLst>
                              <p:par>
                                <p:cTn id="135" presetID="16" presetClass="entr" presetSubtype="21" fill="hold" grpId="0" nodeType="afterEffect">
                                  <p:stCondLst>
                                    <p:cond delay="0"/>
                                  </p:stCondLst>
                                  <p:childTnLst>
                                    <p:set>
                                      <p:cBhvr>
                                        <p:cTn id="136" dur="1" fill="hold">
                                          <p:stCondLst>
                                            <p:cond delay="0"/>
                                          </p:stCondLst>
                                        </p:cTn>
                                        <p:tgtEl>
                                          <p:spTgt spid="114"/>
                                        </p:tgtEl>
                                        <p:attrNameLst>
                                          <p:attrName>style.visibility</p:attrName>
                                        </p:attrNameLst>
                                      </p:cBhvr>
                                      <p:to>
                                        <p:strVal val="visible"/>
                                      </p:to>
                                    </p:set>
                                    <p:animEffect transition="in" filter="barn(inVertical)">
                                      <p:cBhvr>
                                        <p:cTn id="137" dur="500"/>
                                        <p:tgtEl>
                                          <p:spTgt spid="114"/>
                                        </p:tgtEl>
                                      </p:cBhvr>
                                    </p:animEffect>
                                  </p:childTnLst>
                                </p:cTn>
                              </p:par>
                            </p:childTnLst>
                          </p:cTn>
                        </p:par>
                        <p:par>
                          <p:cTn id="138" fill="hold">
                            <p:stCondLst>
                              <p:cond delay="1500"/>
                            </p:stCondLst>
                            <p:childTnLst>
                              <p:par>
                                <p:cTn id="139" presetID="16" presetClass="entr" presetSubtype="21" fill="hold" nodeType="afterEffect">
                                  <p:stCondLst>
                                    <p:cond delay="0"/>
                                  </p:stCondLst>
                                  <p:childTnLst>
                                    <p:set>
                                      <p:cBhvr>
                                        <p:cTn id="140" dur="1" fill="hold">
                                          <p:stCondLst>
                                            <p:cond delay="0"/>
                                          </p:stCondLst>
                                        </p:cTn>
                                        <p:tgtEl>
                                          <p:spTgt spid="115"/>
                                        </p:tgtEl>
                                        <p:attrNameLst>
                                          <p:attrName>style.visibility</p:attrName>
                                        </p:attrNameLst>
                                      </p:cBhvr>
                                      <p:to>
                                        <p:strVal val="visible"/>
                                      </p:to>
                                    </p:set>
                                    <p:animEffect transition="in" filter="barn(inVertical)">
                                      <p:cBhvr>
                                        <p:cTn id="141" dur="500"/>
                                        <p:tgtEl>
                                          <p:spTgt spid="115"/>
                                        </p:tgtEl>
                                      </p:cBhvr>
                                    </p:animEffect>
                                  </p:childTnLst>
                                </p:cTn>
                              </p:par>
                            </p:childTnLst>
                          </p:cTn>
                        </p:par>
                        <p:par>
                          <p:cTn id="142" fill="hold">
                            <p:stCondLst>
                              <p:cond delay="2000"/>
                            </p:stCondLst>
                            <p:childTnLst>
                              <p:par>
                                <p:cTn id="143" presetID="16" presetClass="entr" presetSubtype="21" fill="hold" grpId="0" nodeType="afterEffect">
                                  <p:stCondLst>
                                    <p:cond delay="0"/>
                                  </p:stCondLst>
                                  <p:childTnLst>
                                    <p:set>
                                      <p:cBhvr>
                                        <p:cTn id="144" dur="1" fill="hold">
                                          <p:stCondLst>
                                            <p:cond delay="0"/>
                                          </p:stCondLst>
                                        </p:cTn>
                                        <p:tgtEl>
                                          <p:spTgt spid="119"/>
                                        </p:tgtEl>
                                        <p:attrNameLst>
                                          <p:attrName>style.visibility</p:attrName>
                                        </p:attrNameLst>
                                      </p:cBhvr>
                                      <p:to>
                                        <p:strVal val="visible"/>
                                      </p:to>
                                    </p:set>
                                    <p:animEffect transition="in" filter="barn(inVertical)">
                                      <p:cBhvr>
                                        <p:cTn id="145"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1" grpId="0"/>
      <p:bldP spid="32" grpId="0" animBg="1"/>
      <p:bldP spid="33" grpId="0" animBg="1"/>
      <p:bldP spid="34" grpId="0" animBg="1"/>
      <p:bldP spid="35" grpId="0" animBg="1"/>
      <p:bldP spid="36" grpId="0" animBg="1"/>
      <p:bldP spid="37" grpId="0" animBg="1"/>
      <p:bldP spid="112" grpId="0" animBg="1"/>
      <p:bldP spid="114" grpId="0"/>
      <p:bldP spid="119" grpId="0"/>
      <p:bldP spid="120" grpId="0" animBg="1"/>
      <p:bldP spid="39" grpId="0" animBg="1"/>
      <p:bldP spid="4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207DE6-5FB8-4D8C-85C2-687B849136D0}"/>
              </a:ext>
            </a:extLst>
          </p:cNvPr>
          <p:cNvSpPr>
            <a:spLocks noGrp="1"/>
          </p:cNvSpPr>
          <p:nvPr>
            <p:ph type="title"/>
          </p:nvPr>
        </p:nvSpPr>
        <p:spPr/>
        <p:txBody>
          <a:bodyPr/>
          <a:lstStyle/>
          <a:p>
            <a:r>
              <a:rPr lang="en-US" altLang="zh-CN" dirty="0"/>
              <a:t>K-T</a:t>
            </a:r>
            <a:r>
              <a:rPr lang="zh-CN" altLang="en-US" dirty="0"/>
              <a:t>条件分析</a:t>
            </a:r>
          </a:p>
        </p:txBody>
      </p:sp>
      <p:sp>
        <p:nvSpPr>
          <p:cNvPr id="3" name="内容占位符 2">
            <a:extLst>
              <a:ext uri="{FF2B5EF4-FFF2-40B4-BE49-F238E27FC236}">
                <a16:creationId xmlns:a16="http://schemas.microsoft.com/office/drawing/2014/main" id="{E6B70BD0-3671-4F11-9514-B7778E339AA0}"/>
              </a:ext>
            </a:extLst>
          </p:cNvPr>
          <p:cNvSpPr>
            <a:spLocks noGrp="1"/>
          </p:cNvSpPr>
          <p:nvPr>
            <p:ph idx="1"/>
          </p:nvPr>
        </p:nvSpPr>
        <p:spPr>
          <a:xfrm>
            <a:off x="58044" y="1196752"/>
            <a:ext cx="9719492" cy="799663"/>
          </a:xfrm>
        </p:spPr>
        <p:txBody>
          <a:bodyPr/>
          <a:lstStyle/>
          <a:p>
            <a:r>
              <a:rPr lang="en-US" altLang="zh-CN" dirty="0"/>
              <a:t>2. </a:t>
            </a:r>
            <a:r>
              <a:rPr lang="zh-CN" altLang="en-US" dirty="0"/>
              <a:t>两个约束起作用</a:t>
            </a:r>
            <a:endParaRPr lang="en-US" altLang="zh-CN" dirty="0"/>
          </a:p>
        </p:txBody>
      </p:sp>
      <p:sp>
        <p:nvSpPr>
          <p:cNvPr id="4" name="日期占位符 3">
            <a:extLst>
              <a:ext uri="{FF2B5EF4-FFF2-40B4-BE49-F238E27FC236}">
                <a16:creationId xmlns:a16="http://schemas.microsoft.com/office/drawing/2014/main" id="{0FF3692F-3AEA-4DA6-8EBB-5D1D8E5ADB8C}"/>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95D4AC2A-5971-4337-85B1-EF4760D1B8FE}"/>
              </a:ext>
            </a:extLst>
          </p:cNvPr>
          <p:cNvSpPr>
            <a:spLocks noGrp="1"/>
          </p:cNvSpPr>
          <p:nvPr>
            <p:ph type="sldNum" sz="quarter" idx="12"/>
          </p:nvPr>
        </p:nvSpPr>
        <p:spPr/>
        <p:txBody>
          <a:bodyPr/>
          <a:lstStyle/>
          <a:p>
            <a:fld id="{7AC79822-BC0D-4DE8-A7E5-90A3732A2B82}" type="slidenum">
              <a:rPr lang="zh-CN" altLang="en-US" smtClean="0"/>
              <a:pPr/>
              <a:t>43</a:t>
            </a:fld>
            <a:endParaRPr lang="en-US" altLang="zh-CN" dirty="0"/>
          </a:p>
        </p:txBody>
      </p:sp>
      <p:sp>
        <p:nvSpPr>
          <p:cNvPr id="24" name="流程图: 接点 23">
            <a:extLst>
              <a:ext uri="{FF2B5EF4-FFF2-40B4-BE49-F238E27FC236}">
                <a16:creationId xmlns:a16="http://schemas.microsoft.com/office/drawing/2014/main" id="{AF430002-20DF-42E5-AA19-158EB4DE676D}"/>
              </a:ext>
            </a:extLst>
          </p:cNvPr>
          <p:cNvSpPr/>
          <p:nvPr/>
        </p:nvSpPr>
        <p:spPr bwMode="auto">
          <a:xfrm>
            <a:off x="3852195" y="4306804"/>
            <a:ext cx="439713" cy="352093"/>
          </a:xfrm>
          <a:prstGeom prst="flowChartConnector">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25" name="直接连接符 24">
            <a:extLst>
              <a:ext uri="{FF2B5EF4-FFF2-40B4-BE49-F238E27FC236}">
                <a16:creationId xmlns:a16="http://schemas.microsoft.com/office/drawing/2014/main" id="{745C6A2B-97DE-4484-A5E9-CA8BA584AA5A}"/>
              </a:ext>
            </a:extLst>
          </p:cNvPr>
          <p:cNvCxnSpPr>
            <a:cxnSpLocks/>
          </p:cNvCxnSpPr>
          <p:nvPr/>
        </p:nvCxnSpPr>
        <p:spPr bwMode="auto">
          <a:xfrm flipH="1">
            <a:off x="7354476" y="5145443"/>
            <a:ext cx="140352" cy="2581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a:extLst>
              <a:ext uri="{FF2B5EF4-FFF2-40B4-BE49-F238E27FC236}">
                <a16:creationId xmlns:a16="http://schemas.microsoft.com/office/drawing/2014/main" id="{621B08D9-CEED-40B0-8F80-17B6060D3E16}"/>
              </a:ext>
            </a:extLst>
          </p:cNvPr>
          <p:cNvCxnSpPr>
            <a:cxnSpLocks/>
          </p:cNvCxnSpPr>
          <p:nvPr/>
        </p:nvCxnSpPr>
        <p:spPr bwMode="auto">
          <a:xfrm flipV="1">
            <a:off x="6374441" y="4929251"/>
            <a:ext cx="244332" cy="21482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a:extLst>
              <a:ext uri="{FF2B5EF4-FFF2-40B4-BE49-F238E27FC236}">
                <a16:creationId xmlns:a16="http://schemas.microsoft.com/office/drawing/2014/main" id="{F619AB37-1C70-4643-A566-05E34522A7F3}"/>
              </a:ext>
            </a:extLst>
          </p:cNvPr>
          <p:cNvCxnSpPr>
            <a:cxnSpLocks/>
          </p:cNvCxnSpPr>
          <p:nvPr/>
        </p:nvCxnSpPr>
        <p:spPr bwMode="auto">
          <a:xfrm flipH="1">
            <a:off x="7179625" y="5144079"/>
            <a:ext cx="118850" cy="19549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a:extLst>
              <a:ext uri="{FF2B5EF4-FFF2-40B4-BE49-F238E27FC236}">
                <a16:creationId xmlns:a16="http://schemas.microsoft.com/office/drawing/2014/main" id="{52DD8F3C-F7E7-4B14-95B8-30497315E5DC}"/>
              </a:ext>
            </a:extLst>
          </p:cNvPr>
          <p:cNvCxnSpPr>
            <a:cxnSpLocks/>
          </p:cNvCxnSpPr>
          <p:nvPr/>
        </p:nvCxnSpPr>
        <p:spPr bwMode="auto">
          <a:xfrm flipH="1">
            <a:off x="6887881" y="5048105"/>
            <a:ext cx="222792" cy="21017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a:extLst>
              <a:ext uri="{FF2B5EF4-FFF2-40B4-BE49-F238E27FC236}">
                <a16:creationId xmlns:a16="http://schemas.microsoft.com/office/drawing/2014/main" id="{63A9A34E-83F2-4E28-8086-3DEAD3708F30}"/>
              </a:ext>
            </a:extLst>
          </p:cNvPr>
          <p:cNvCxnSpPr>
            <a:cxnSpLocks/>
          </p:cNvCxnSpPr>
          <p:nvPr/>
        </p:nvCxnSpPr>
        <p:spPr bwMode="auto">
          <a:xfrm flipV="1">
            <a:off x="3424948" y="2664279"/>
            <a:ext cx="302410" cy="6169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文本框 30">
            <a:extLst>
              <a:ext uri="{FF2B5EF4-FFF2-40B4-BE49-F238E27FC236}">
                <a16:creationId xmlns:a16="http://schemas.microsoft.com/office/drawing/2014/main" id="{1313714B-AD0F-4482-9106-CB5FF8390275}"/>
              </a:ext>
            </a:extLst>
          </p:cNvPr>
          <p:cNvSpPr txBox="1"/>
          <p:nvPr/>
        </p:nvSpPr>
        <p:spPr>
          <a:xfrm>
            <a:off x="7026014" y="4572479"/>
            <a:ext cx="917239" cy="400110"/>
          </a:xfrm>
          <a:prstGeom prst="rect">
            <a:avLst/>
          </a:prstGeom>
          <a:noFill/>
        </p:spPr>
        <p:txBody>
          <a:bodyPr wrap="none" rtlCol="0">
            <a:spAutoFit/>
          </a:bodyPr>
          <a:lstStyle/>
          <a:p>
            <a:r>
              <a:rPr lang="en-US" altLang="zh-CN" sz="2000" dirty="0"/>
              <a:t>g(x)=0</a:t>
            </a:r>
          </a:p>
        </p:txBody>
      </p:sp>
      <p:sp>
        <p:nvSpPr>
          <p:cNvPr id="32" name="椭圆 31">
            <a:extLst>
              <a:ext uri="{FF2B5EF4-FFF2-40B4-BE49-F238E27FC236}">
                <a16:creationId xmlns:a16="http://schemas.microsoft.com/office/drawing/2014/main" id="{A1C18087-0D13-46A5-8FA3-DA2E7BF5454A}"/>
              </a:ext>
            </a:extLst>
          </p:cNvPr>
          <p:cNvSpPr/>
          <p:nvPr/>
        </p:nvSpPr>
        <p:spPr bwMode="auto">
          <a:xfrm>
            <a:off x="3264479" y="4081112"/>
            <a:ext cx="1612251" cy="805047"/>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3" name="椭圆 32">
            <a:extLst>
              <a:ext uri="{FF2B5EF4-FFF2-40B4-BE49-F238E27FC236}">
                <a16:creationId xmlns:a16="http://schemas.microsoft.com/office/drawing/2014/main" id="{2B8410B1-524A-4C67-A70D-C98821F4D50F}"/>
              </a:ext>
            </a:extLst>
          </p:cNvPr>
          <p:cNvSpPr/>
          <p:nvPr/>
        </p:nvSpPr>
        <p:spPr bwMode="auto">
          <a:xfrm>
            <a:off x="2717265" y="3704397"/>
            <a:ext cx="2727753" cy="1544088"/>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4" name="椭圆 33">
            <a:extLst>
              <a:ext uri="{FF2B5EF4-FFF2-40B4-BE49-F238E27FC236}">
                <a16:creationId xmlns:a16="http://schemas.microsoft.com/office/drawing/2014/main" id="{A56D1B6F-562C-4B8F-BEB3-962AC3725514}"/>
              </a:ext>
            </a:extLst>
          </p:cNvPr>
          <p:cNvSpPr/>
          <p:nvPr/>
        </p:nvSpPr>
        <p:spPr bwMode="auto">
          <a:xfrm>
            <a:off x="2256004" y="3317092"/>
            <a:ext cx="3588330" cy="2338636"/>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5" name="椭圆 34">
            <a:extLst>
              <a:ext uri="{FF2B5EF4-FFF2-40B4-BE49-F238E27FC236}">
                <a16:creationId xmlns:a16="http://schemas.microsoft.com/office/drawing/2014/main" id="{7FF8EEE9-5350-4F65-B5F9-08E3D9CB8321}"/>
              </a:ext>
            </a:extLst>
          </p:cNvPr>
          <p:cNvSpPr/>
          <p:nvPr/>
        </p:nvSpPr>
        <p:spPr bwMode="auto">
          <a:xfrm>
            <a:off x="1784648" y="2994834"/>
            <a:ext cx="4536504" cy="2954446"/>
          </a:xfrm>
          <a:prstGeom prst="ellipse">
            <a:avLst/>
          </a:prstGeom>
          <a:noFill/>
          <a:ln w="28575"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6" name="任意多边形: 形状 35">
            <a:extLst>
              <a:ext uri="{FF2B5EF4-FFF2-40B4-BE49-F238E27FC236}">
                <a16:creationId xmlns:a16="http://schemas.microsoft.com/office/drawing/2014/main" id="{2B3E1A49-EFA8-47C7-B353-318489AD42E2}"/>
              </a:ext>
            </a:extLst>
          </p:cNvPr>
          <p:cNvSpPr/>
          <p:nvPr/>
        </p:nvSpPr>
        <p:spPr bwMode="auto">
          <a:xfrm rot="1058122">
            <a:off x="3638381" y="2977109"/>
            <a:ext cx="4348261" cy="1834693"/>
          </a:xfrm>
          <a:custGeom>
            <a:avLst/>
            <a:gdLst>
              <a:gd name="connsiteX0" fmla="*/ 0 w 2325511"/>
              <a:gd name="connsiteY0" fmla="*/ 0 h 828423"/>
              <a:gd name="connsiteX1" fmla="*/ 767644 w 2325511"/>
              <a:gd name="connsiteY1" fmla="*/ 767645 h 828423"/>
              <a:gd name="connsiteX2" fmla="*/ 2280355 w 2325511"/>
              <a:gd name="connsiteY2" fmla="*/ 778934 h 828423"/>
              <a:gd name="connsiteX3" fmla="*/ 2325511 w 2325511"/>
              <a:gd name="connsiteY3" fmla="*/ 778934 h 828423"/>
            </a:gdLst>
            <a:ahLst/>
            <a:cxnLst>
              <a:cxn ang="0">
                <a:pos x="connsiteX0" y="connsiteY0"/>
              </a:cxn>
              <a:cxn ang="0">
                <a:pos x="connsiteX1" y="connsiteY1"/>
              </a:cxn>
              <a:cxn ang="0">
                <a:pos x="connsiteX2" y="connsiteY2"/>
              </a:cxn>
              <a:cxn ang="0">
                <a:pos x="connsiteX3" y="connsiteY3"/>
              </a:cxn>
            </a:cxnLst>
            <a:rect l="l" t="t" r="r" b="b"/>
            <a:pathLst>
              <a:path w="2325511" h="828423">
                <a:moveTo>
                  <a:pt x="0" y="0"/>
                </a:moveTo>
                <a:cubicBezTo>
                  <a:pt x="193792" y="318911"/>
                  <a:pt x="387585" y="637823"/>
                  <a:pt x="767644" y="767645"/>
                </a:cubicBezTo>
                <a:cubicBezTo>
                  <a:pt x="1147703" y="897467"/>
                  <a:pt x="2280355" y="778934"/>
                  <a:pt x="2280355" y="778934"/>
                </a:cubicBezTo>
                <a:lnTo>
                  <a:pt x="2325511" y="778934"/>
                </a:lnTo>
              </a:path>
            </a:pathLst>
          </a:custGeom>
          <a:noFill/>
          <a:ln w="3810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7" name="流程图: 接点 36">
            <a:extLst>
              <a:ext uri="{FF2B5EF4-FFF2-40B4-BE49-F238E27FC236}">
                <a16:creationId xmlns:a16="http://schemas.microsoft.com/office/drawing/2014/main" id="{ED6BACC3-38F5-43A6-8AE5-EA30DE87AD96}"/>
              </a:ext>
            </a:extLst>
          </p:cNvPr>
          <p:cNvSpPr/>
          <p:nvPr/>
        </p:nvSpPr>
        <p:spPr bwMode="auto">
          <a:xfrm>
            <a:off x="4589398" y="4120839"/>
            <a:ext cx="150023" cy="153902"/>
          </a:xfrm>
          <a:prstGeom prst="flowChartConnector">
            <a:avLst/>
          </a:prstGeom>
          <a:solidFill>
            <a:srgbClr val="FF0000"/>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12" name="直接连接符 11">
            <a:extLst>
              <a:ext uri="{FF2B5EF4-FFF2-40B4-BE49-F238E27FC236}">
                <a16:creationId xmlns:a16="http://schemas.microsoft.com/office/drawing/2014/main" id="{FD253992-89DA-4633-BD34-A867BD4F0548}"/>
              </a:ext>
            </a:extLst>
          </p:cNvPr>
          <p:cNvCxnSpPr>
            <a:cxnSpLocks/>
          </p:cNvCxnSpPr>
          <p:nvPr/>
        </p:nvCxnSpPr>
        <p:spPr bwMode="auto">
          <a:xfrm>
            <a:off x="3185427" y="3161214"/>
            <a:ext cx="3189014" cy="230064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a:extLst>
              <a:ext uri="{FF2B5EF4-FFF2-40B4-BE49-F238E27FC236}">
                <a16:creationId xmlns:a16="http://schemas.microsoft.com/office/drawing/2014/main" id="{22E3B0D0-9896-418B-B023-A4F91BD4DD1C}"/>
              </a:ext>
            </a:extLst>
          </p:cNvPr>
          <p:cNvCxnSpPr>
            <a:cxnSpLocks/>
          </p:cNvCxnSpPr>
          <p:nvPr/>
        </p:nvCxnSpPr>
        <p:spPr bwMode="auto">
          <a:xfrm flipH="1">
            <a:off x="4409156" y="4227614"/>
            <a:ext cx="232133" cy="285038"/>
          </a:xfrm>
          <a:prstGeom prst="line">
            <a:avLst/>
          </a:prstGeom>
          <a:ln w="9525" cap="flat" cmpd="sng" algn="ctr">
            <a:solidFill>
              <a:srgbClr val="C0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0" name="直接连接符 39">
            <a:extLst>
              <a:ext uri="{FF2B5EF4-FFF2-40B4-BE49-F238E27FC236}">
                <a16:creationId xmlns:a16="http://schemas.microsoft.com/office/drawing/2014/main" id="{C0920104-9B33-435F-9C20-5C60DA15A366}"/>
              </a:ext>
            </a:extLst>
          </p:cNvPr>
          <p:cNvCxnSpPr>
            <a:cxnSpLocks/>
          </p:cNvCxnSpPr>
          <p:nvPr/>
        </p:nvCxnSpPr>
        <p:spPr bwMode="auto">
          <a:xfrm>
            <a:off x="3102301" y="2425835"/>
            <a:ext cx="3017531" cy="3523445"/>
          </a:xfrm>
          <a:prstGeom prst="line">
            <a:avLst/>
          </a:prstGeom>
          <a:solidFill>
            <a:schemeClr val="accent1"/>
          </a:solidFill>
          <a:ln w="9525" cap="flat" cmpd="sng" algn="ctr">
            <a:solidFill>
              <a:schemeClr val="accent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a:extLst>
              <a:ext uri="{FF2B5EF4-FFF2-40B4-BE49-F238E27FC236}">
                <a16:creationId xmlns:a16="http://schemas.microsoft.com/office/drawing/2014/main" id="{CD41D528-52B3-4AC3-88CF-28CB5721CB7C}"/>
              </a:ext>
            </a:extLst>
          </p:cNvPr>
          <p:cNvCxnSpPr>
            <a:cxnSpLocks/>
          </p:cNvCxnSpPr>
          <p:nvPr/>
        </p:nvCxnSpPr>
        <p:spPr bwMode="auto">
          <a:xfrm flipH="1">
            <a:off x="3905498" y="4181937"/>
            <a:ext cx="784768" cy="546564"/>
          </a:xfrm>
          <a:prstGeom prst="line">
            <a:avLst/>
          </a:prstGeom>
          <a:ln w="9525"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0" name="直接箭头连接符 49">
            <a:extLst>
              <a:ext uri="{FF2B5EF4-FFF2-40B4-BE49-F238E27FC236}">
                <a16:creationId xmlns:a16="http://schemas.microsoft.com/office/drawing/2014/main" id="{AF25138A-2A6C-47A5-9DDE-92BE65148C13}"/>
              </a:ext>
            </a:extLst>
          </p:cNvPr>
          <p:cNvCxnSpPr>
            <a:cxnSpLocks/>
          </p:cNvCxnSpPr>
          <p:nvPr/>
        </p:nvCxnSpPr>
        <p:spPr bwMode="auto">
          <a:xfrm flipH="1">
            <a:off x="4174439" y="4538465"/>
            <a:ext cx="274977" cy="1810420"/>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aphicFrame>
        <p:nvGraphicFramePr>
          <p:cNvPr id="53" name="对象 52">
            <a:extLst>
              <a:ext uri="{FF2B5EF4-FFF2-40B4-BE49-F238E27FC236}">
                <a16:creationId xmlns:a16="http://schemas.microsoft.com/office/drawing/2014/main" id="{B2C7FDBE-36FD-4649-B4A1-C1DDFB47DCE0}"/>
              </a:ext>
            </a:extLst>
          </p:cNvPr>
          <p:cNvGraphicFramePr>
            <a:graphicFrameLocks noChangeAspect="1"/>
          </p:cNvGraphicFramePr>
          <p:nvPr>
            <p:extLst>
              <p:ext uri="{D42A27DB-BD31-4B8C-83A1-F6EECF244321}">
                <p14:modId xmlns:p14="http://schemas.microsoft.com/office/powerpoint/2010/main" val="1253493088"/>
              </p:ext>
            </p:extLst>
          </p:nvPr>
        </p:nvGraphicFramePr>
        <p:xfrm>
          <a:off x="2930424" y="6115660"/>
          <a:ext cx="1195323" cy="457270"/>
        </p:xfrm>
        <a:graphic>
          <a:graphicData uri="http://schemas.openxmlformats.org/presentationml/2006/ole">
            <mc:AlternateContent xmlns:mc="http://schemas.openxmlformats.org/markup-compatibility/2006">
              <mc:Choice xmlns:v="urn:schemas-microsoft-com:vml" Requires="v">
                <p:oleObj name="Equation" r:id="rId2" imgW="431640" imgH="164880" progId="Equation.DSMT4">
                  <p:embed/>
                </p:oleObj>
              </mc:Choice>
              <mc:Fallback>
                <p:oleObj name="Equation" r:id="rId2" imgW="431640" imgH="164880" progId="Equation.DSMT4">
                  <p:embed/>
                  <p:pic>
                    <p:nvPicPr>
                      <p:cNvPr id="53" name="对象 52">
                        <a:extLst>
                          <a:ext uri="{FF2B5EF4-FFF2-40B4-BE49-F238E27FC236}">
                            <a16:creationId xmlns:a16="http://schemas.microsoft.com/office/drawing/2014/main" id="{B2C7FDBE-36FD-4649-B4A1-C1DDFB47DCE0}"/>
                          </a:ext>
                        </a:extLst>
                      </p:cNvPr>
                      <p:cNvPicPr/>
                      <p:nvPr/>
                    </p:nvPicPr>
                    <p:blipFill>
                      <a:blip r:embed="rId3"/>
                      <a:stretch>
                        <a:fillRect/>
                      </a:stretch>
                    </p:blipFill>
                    <p:spPr>
                      <a:xfrm>
                        <a:off x="2930424" y="6115660"/>
                        <a:ext cx="1195323" cy="457270"/>
                      </a:xfrm>
                      <a:prstGeom prst="rect">
                        <a:avLst/>
                      </a:prstGeom>
                    </p:spPr>
                  </p:pic>
                </p:oleObj>
              </mc:Fallback>
            </mc:AlternateContent>
          </a:graphicData>
        </a:graphic>
      </p:graphicFrame>
      <p:graphicFrame>
        <p:nvGraphicFramePr>
          <p:cNvPr id="54" name="对象 53">
            <a:extLst>
              <a:ext uri="{FF2B5EF4-FFF2-40B4-BE49-F238E27FC236}">
                <a16:creationId xmlns:a16="http://schemas.microsoft.com/office/drawing/2014/main" id="{9E7DA9D1-B98B-4B4F-A9D6-6775D51A2A0C}"/>
              </a:ext>
            </a:extLst>
          </p:cNvPr>
          <p:cNvGraphicFramePr>
            <a:graphicFrameLocks noChangeAspect="1"/>
          </p:cNvGraphicFramePr>
          <p:nvPr>
            <p:extLst>
              <p:ext uri="{D42A27DB-BD31-4B8C-83A1-F6EECF244321}">
                <p14:modId xmlns:p14="http://schemas.microsoft.com/office/powerpoint/2010/main" val="3264798073"/>
              </p:ext>
            </p:extLst>
          </p:nvPr>
        </p:nvGraphicFramePr>
        <p:xfrm>
          <a:off x="1158071" y="5403584"/>
          <a:ext cx="1110838" cy="497962"/>
        </p:xfrm>
        <a:graphic>
          <a:graphicData uri="http://schemas.openxmlformats.org/presentationml/2006/ole">
            <mc:AlternateContent xmlns:mc="http://schemas.openxmlformats.org/markup-compatibility/2006">
              <mc:Choice xmlns:v="urn:schemas-microsoft-com:vml" Requires="v">
                <p:oleObj name="Equation" r:id="rId4" imgW="368280" imgH="164880" progId="Equation.DSMT4">
                  <p:embed/>
                </p:oleObj>
              </mc:Choice>
              <mc:Fallback>
                <p:oleObj name="Equation" r:id="rId4" imgW="368280" imgH="164880" progId="Equation.DSMT4">
                  <p:embed/>
                  <p:pic>
                    <p:nvPicPr>
                      <p:cNvPr id="54" name="对象 53">
                        <a:extLst>
                          <a:ext uri="{FF2B5EF4-FFF2-40B4-BE49-F238E27FC236}">
                            <a16:creationId xmlns:a16="http://schemas.microsoft.com/office/drawing/2014/main" id="{9E7DA9D1-B98B-4B4F-A9D6-6775D51A2A0C}"/>
                          </a:ext>
                        </a:extLst>
                      </p:cNvPr>
                      <p:cNvPicPr/>
                      <p:nvPr/>
                    </p:nvPicPr>
                    <p:blipFill>
                      <a:blip r:embed="rId5"/>
                      <a:stretch>
                        <a:fillRect/>
                      </a:stretch>
                    </p:blipFill>
                    <p:spPr>
                      <a:xfrm>
                        <a:off x="1158071" y="5403584"/>
                        <a:ext cx="1110838" cy="497962"/>
                      </a:xfrm>
                      <a:prstGeom prst="rect">
                        <a:avLst/>
                      </a:prstGeom>
                    </p:spPr>
                  </p:pic>
                </p:oleObj>
              </mc:Fallback>
            </mc:AlternateContent>
          </a:graphicData>
        </a:graphic>
      </p:graphicFrame>
      <p:cxnSp>
        <p:nvCxnSpPr>
          <p:cNvPr id="110" name="直接箭头连接符 109">
            <a:extLst>
              <a:ext uri="{FF2B5EF4-FFF2-40B4-BE49-F238E27FC236}">
                <a16:creationId xmlns:a16="http://schemas.microsoft.com/office/drawing/2014/main" id="{041C0480-EDB0-4AF8-AA1F-522E9A4B1D3E}"/>
              </a:ext>
            </a:extLst>
          </p:cNvPr>
          <p:cNvCxnSpPr>
            <a:cxnSpLocks/>
          </p:cNvCxnSpPr>
          <p:nvPr/>
        </p:nvCxnSpPr>
        <p:spPr bwMode="auto">
          <a:xfrm flipH="1">
            <a:off x="2117555" y="4732482"/>
            <a:ext cx="1824464" cy="854172"/>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0" name="思想气泡: 云 119">
            <a:extLst>
              <a:ext uri="{FF2B5EF4-FFF2-40B4-BE49-F238E27FC236}">
                <a16:creationId xmlns:a16="http://schemas.microsoft.com/office/drawing/2014/main" id="{84835AFA-F859-4891-BD1B-3197BDD22EDF}"/>
              </a:ext>
            </a:extLst>
          </p:cNvPr>
          <p:cNvSpPr/>
          <p:nvPr/>
        </p:nvSpPr>
        <p:spPr bwMode="auto">
          <a:xfrm>
            <a:off x="-31919" y="2581684"/>
            <a:ext cx="2464118" cy="789014"/>
          </a:xfrm>
          <a:prstGeom prst="cloudCallout">
            <a:avLst>
              <a:gd name="adj1" fmla="val 135573"/>
              <a:gd name="adj2" fmla="val 158460"/>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C00000"/>
                </a:solidFill>
                <a:effectLst/>
                <a:latin typeface="Arial" charset="0"/>
              </a:rPr>
              <a:t>极值点</a:t>
            </a:r>
          </a:p>
        </p:txBody>
      </p:sp>
      <p:sp>
        <p:nvSpPr>
          <p:cNvPr id="41" name="任意多边形: 形状 40">
            <a:extLst>
              <a:ext uri="{FF2B5EF4-FFF2-40B4-BE49-F238E27FC236}">
                <a16:creationId xmlns:a16="http://schemas.microsoft.com/office/drawing/2014/main" id="{55FC7C90-021B-42B3-9C8D-21640CC48925}"/>
              </a:ext>
            </a:extLst>
          </p:cNvPr>
          <p:cNvSpPr/>
          <p:nvPr/>
        </p:nvSpPr>
        <p:spPr bwMode="auto">
          <a:xfrm rot="472237">
            <a:off x="2693558" y="2740608"/>
            <a:ext cx="4702457" cy="1527972"/>
          </a:xfrm>
          <a:custGeom>
            <a:avLst/>
            <a:gdLst>
              <a:gd name="connsiteX0" fmla="*/ 0 w 2325511"/>
              <a:gd name="connsiteY0" fmla="*/ 0 h 828423"/>
              <a:gd name="connsiteX1" fmla="*/ 767644 w 2325511"/>
              <a:gd name="connsiteY1" fmla="*/ 767645 h 828423"/>
              <a:gd name="connsiteX2" fmla="*/ 2280355 w 2325511"/>
              <a:gd name="connsiteY2" fmla="*/ 778934 h 828423"/>
              <a:gd name="connsiteX3" fmla="*/ 2325511 w 2325511"/>
              <a:gd name="connsiteY3" fmla="*/ 778934 h 828423"/>
            </a:gdLst>
            <a:ahLst/>
            <a:cxnLst>
              <a:cxn ang="0">
                <a:pos x="connsiteX0" y="connsiteY0"/>
              </a:cxn>
              <a:cxn ang="0">
                <a:pos x="connsiteX1" y="connsiteY1"/>
              </a:cxn>
              <a:cxn ang="0">
                <a:pos x="connsiteX2" y="connsiteY2"/>
              </a:cxn>
              <a:cxn ang="0">
                <a:pos x="connsiteX3" y="connsiteY3"/>
              </a:cxn>
            </a:cxnLst>
            <a:rect l="l" t="t" r="r" b="b"/>
            <a:pathLst>
              <a:path w="2325511" h="828423">
                <a:moveTo>
                  <a:pt x="0" y="0"/>
                </a:moveTo>
                <a:cubicBezTo>
                  <a:pt x="193792" y="318911"/>
                  <a:pt x="387585" y="637823"/>
                  <a:pt x="767644" y="767645"/>
                </a:cubicBezTo>
                <a:cubicBezTo>
                  <a:pt x="1147703" y="897467"/>
                  <a:pt x="2280355" y="778934"/>
                  <a:pt x="2280355" y="778934"/>
                </a:cubicBezTo>
                <a:lnTo>
                  <a:pt x="2325511" y="778934"/>
                </a:lnTo>
              </a:path>
            </a:pathLst>
          </a:custGeom>
          <a:noFill/>
          <a:ln w="381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42" name="文本框 41">
            <a:extLst>
              <a:ext uri="{FF2B5EF4-FFF2-40B4-BE49-F238E27FC236}">
                <a16:creationId xmlns:a16="http://schemas.microsoft.com/office/drawing/2014/main" id="{90629504-DAF4-4B09-B999-246383424D24}"/>
              </a:ext>
            </a:extLst>
          </p:cNvPr>
          <p:cNvSpPr txBox="1"/>
          <p:nvPr/>
        </p:nvSpPr>
        <p:spPr>
          <a:xfrm>
            <a:off x="2084095" y="1970189"/>
            <a:ext cx="1059906" cy="400110"/>
          </a:xfrm>
          <a:prstGeom prst="rect">
            <a:avLst/>
          </a:prstGeom>
          <a:noFill/>
        </p:spPr>
        <p:txBody>
          <a:bodyPr wrap="none" rtlCol="0">
            <a:spAutoFit/>
          </a:bodyPr>
          <a:lstStyle/>
          <a:p>
            <a:r>
              <a:rPr lang="en-US" altLang="zh-CN" sz="2000" dirty="0"/>
              <a:t>g2(x)=0</a:t>
            </a:r>
          </a:p>
        </p:txBody>
      </p:sp>
      <p:cxnSp>
        <p:nvCxnSpPr>
          <p:cNvPr id="43" name="直接连接符 42">
            <a:extLst>
              <a:ext uri="{FF2B5EF4-FFF2-40B4-BE49-F238E27FC236}">
                <a16:creationId xmlns:a16="http://schemas.microsoft.com/office/drawing/2014/main" id="{77B5916D-289F-4837-A9C3-C3E80CBCB75D}"/>
              </a:ext>
            </a:extLst>
          </p:cNvPr>
          <p:cNvCxnSpPr>
            <a:cxnSpLocks/>
          </p:cNvCxnSpPr>
          <p:nvPr/>
        </p:nvCxnSpPr>
        <p:spPr bwMode="auto">
          <a:xfrm flipH="1">
            <a:off x="2585971" y="2498587"/>
            <a:ext cx="214979" cy="9664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43">
            <a:extLst>
              <a:ext uri="{FF2B5EF4-FFF2-40B4-BE49-F238E27FC236}">
                <a16:creationId xmlns:a16="http://schemas.microsoft.com/office/drawing/2014/main" id="{C98A1ED4-5D71-45A7-AA74-7CE987029D9F}"/>
              </a:ext>
            </a:extLst>
          </p:cNvPr>
          <p:cNvCxnSpPr>
            <a:cxnSpLocks/>
          </p:cNvCxnSpPr>
          <p:nvPr/>
        </p:nvCxnSpPr>
        <p:spPr bwMode="auto">
          <a:xfrm flipH="1">
            <a:off x="2979795" y="3132184"/>
            <a:ext cx="245013" cy="12839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a:extLst>
              <a:ext uri="{FF2B5EF4-FFF2-40B4-BE49-F238E27FC236}">
                <a16:creationId xmlns:a16="http://schemas.microsoft.com/office/drawing/2014/main" id="{EEE32801-00D6-48D1-A902-923A50763E4E}"/>
              </a:ext>
            </a:extLst>
          </p:cNvPr>
          <p:cNvCxnSpPr>
            <a:cxnSpLocks/>
          </p:cNvCxnSpPr>
          <p:nvPr/>
        </p:nvCxnSpPr>
        <p:spPr bwMode="auto">
          <a:xfrm flipH="1">
            <a:off x="2838508" y="2885829"/>
            <a:ext cx="202752" cy="12302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连接符 46">
            <a:extLst>
              <a:ext uri="{FF2B5EF4-FFF2-40B4-BE49-F238E27FC236}">
                <a16:creationId xmlns:a16="http://schemas.microsoft.com/office/drawing/2014/main" id="{594B8425-4B3D-48D7-8300-22D09180062D}"/>
              </a:ext>
            </a:extLst>
          </p:cNvPr>
          <p:cNvCxnSpPr>
            <a:cxnSpLocks/>
          </p:cNvCxnSpPr>
          <p:nvPr/>
        </p:nvCxnSpPr>
        <p:spPr bwMode="auto">
          <a:xfrm flipH="1">
            <a:off x="2701160" y="2695984"/>
            <a:ext cx="225967" cy="10057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连接符 47">
            <a:extLst>
              <a:ext uri="{FF2B5EF4-FFF2-40B4-BE49-F238E27FC236}">
                <a16:creationId xmlns:a16="http://schemas.microsoft.com/office/drawing/2014/main" id="{61E2AD0E-4766-46D9-AEA3-402B8B99316B}"/>
              </a:ext>
            </a:extLst>
          </p:cNvPr>
          <p:cNvCxnSpPr>
            <a:cxnSpLocks/>
          </p:cNvCxnSpPr>
          <p:nvPr/>
        </p:nvCxnSpPr>
        <p:spPr bwMode="auto">
          <a:xfrm>
            <a:off x="1649580" y="3537336"/>
            <a:ext cx="6081372" cy="1372740"/>
          </a:xfrm>
          <a:prstGeom prst="line">
            <a:avLst/>
          </a:prstGeom>
          <a:solidFill>
            <a:schemeClr val="accent1"/>
          </a:solidFill>
          <a:ln w="9525"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a:extLst>
              <a:ext uri="{FF2B5EF4-FFF2-40B4-BE49-F238E27FC236}">
                <a16:creationId xmlns:a16="http://schemas.microsoft.com/office/drawing/2014/main" id="{55F0052D-4CDF-4B55-984A-529184AE07EC}"/>
              </a:ext>
            </a:extLst>
          </p:cNvPr>
          <p:cNvCxnSpPr>
            <a:cxnSpLocks/>
          </p:cNvCxnSpPr>
          <p:nvPr/>
        </p:nvCxnSpPr>
        <p:spPr bwMode="auto">
          <a:xfrm flipH="1">
            <a:off x="4493732" y="4215046"/>
            <a:ext cx="142186" cy="630254"/>
          </a:xfrm>
          <a:prstGeom prst="line">
            <a:avLst/>
          </a:prstGeom>
          <a:ln w="9525" cap="flat" cmpd="sng" algn="ctr">
            <a:solidFill>
              <a:srgbClr val="30A04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2" name="直接箭头连接符 51">
            <a:extLst>
              <a:ext uri="{FF2B5EF4-FFF2-40B4-BE49-F238E27FC236}">
                <a16:creationId xmlns:a16="http://schemas.microsoft.com/office/drawing/2014/main" id="{AF4AFB55-7244-4594-B33D-689ADE2B8C0A}"/>
              </a:ext>
            </a:extLst>
          </p:cNvPr>
          <p:cNvCxnSpPr>
            <a:cxnSpLocks/>
          </p:cNvCxnSpPr>
          <p:nvPr/>
        </p:nvCxnSpPr>
        <p:spPr bwMode="auto">
          <a:xfrm>
            <a:off x="4529739" y="4835985"/>
            <a:ext cx="703642" cy="1275659"/>
          </a:xfrm>
          <a:prstGeom prst="straightConnector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aphicFrame>
        <p:nvGraphicFramePr>
          <p:cNvPr id="55" name="对象 54">
            <a:extLst>
              <a:ext uri="{FF2B5EF4-FFF2-40B4-BE49-F238E27FC236}">
                <a16:creationId xmlns:a16="http://schemas.microsoft.com/office/drawing/2014/main" id="{C4265ADF-60CA-4A59-9021-BFC2E94FE48D}"/>
              </a:ext>
            </a:extLst>
          </p:cNvPr>
          <p:cNvGraphicFramePr>
            <a:graphicFrameLocks noChangeAspect="1"/>
          </p:cNvGraphicFramePr>
          <p:nvPr>
            <p:extLst>
              <p:ext uri="{D42A27DB-BD31-4B8C-83A1-F6EECF244321}">
                <p14:modId xmlns:p14="http://schemas.microsoft.com/office/powerpoint/2010/main" val="3708467032"/>
              </p:ext>
            </p:extLst>
          </p:nvPr>
        </p:nvGraphicFramePr>
        <p:xfrm>
          <a:off x="5098890" y="6013565"/>
          <a:ext cx="1225550" cy="536575"/>
        </p:xfrm>
        <a:graphic>
          <a:graphicData uri="http://schemas.openxmlformats.org/presentationml/2006/ole">
            <mc:AlternateContent xmlns:mc="http://schemas.openxmlformats.org/markup-compatibility/2006">
              <mc:Choice xmlns:v="urn:schemas-microsoft-com:vml" Requires="v">
                <p:oleObj name="Equation" r:id="rId6" imgW="406080" imgH="177480" progId="Equation.DSMT4">
                  <p:embed/>
                </p:oleObj>
              </mc:Choice>
              <mc:Fallback>
                <p:oleObj name="Equation" r:id="rId6" imgW="406080" imgH="177480" progId="Equation.DSMT4">
                  <p:embed/>
                  <p:pic>
                    <p:nvPicPr>
                      <p:cNvPr id="59" name="对象 58">
                        <a:extLst>
                          <a:ext uri="{FF2B5EF4-FFF2-40B4-BE49-F238E27FC236}">
                            <a16:creationId xmlns:a16="http://schemas.microsoft.com/office/drawing/2014/main" id="{4E634227-C7D9-42E3-8A46-3CFCB4ADFFDF}"/>
                          </a:ext>
                        </a:extLst>
                      </p:cNvPr>
                      <p:cNvPicPr/>
                      <p:nvPr/>
                    </p:nvPicPr>
                    <p:blipFill>
                      <a:blip r:embed="rId7"/>
                      <a:stretch>
                        <a:fillRect/>
                      </a:stretch>
                    </p:blipFill>
                    <p:spPr>
                      <a:xfrm>
                        <a:off x="5098890" y="6013565"/>
                        <a:ext cx="1225550" cy="536575"/>
                      </a:xfrm>
                      <a:prstGeom prst="rect">
                        <a:avLst/>
                      </a:prstGeom>
                    </p:spPr>
                  </p:pic>
                </p:oleObj>
              </mc:Fallback>
            </mc:AlternateContent>
          </a:graphicData>
        </a:graphic>
      </p:graphicFrame>
      <p:graphicFrame>
        <p:nvGraphicFramePr>
          <p:cNvPr id="57" name="对象 56">
            <a:extLst>
              <a:ext uri="{FF2B5EF4-FFF2-40B4-BE49-F238E27FC236}">
                <a16:creationId xmlns:a16="http://schemas.microsoft.com/office/drawing/2014/main" id="{4817C65B-E6A2-45CC-A710-C261C68DF988}"/>
              </a:ext>
            </a:extLst>
          </p:cNvPr>
          <p:cNvGraphicFramePr>
            <a:graphicFrameLocks noChangeAspect="1"/>
          </p:cNvGraphicFramePr>
          <p:nvPr>
            <p:extLst>
              <p:ext uri="{D42A27DB-BD31-4B8C-83A1-F6EECF244321}">
                <p14:modId xmlns:p14="http://schemas.microsoft.com/office/powerpoint/2010/main" val="2210392626"/>
              </p:ext>
            </p:extLst>
          </p:nvPr>
        </p:nvGraphicFramePr>
        <p:xfrm>
          <a:off x="4461883" y="1504415"/>
          <a:ext cx="5132388" cy="1022350"/>
        </p:xfrm>
        <a:graphic>
          <a:graphicData uri="http://schemas.openxmlformats.org/presentationml/2006/ole">
            <mc:AlternateContent xmlns:mc="http://schemas.openxmlformats.org/markup-compatibility/2006">
              <mc:Choice xmlns:v="urn:schemas-microsoft-com:vml" Requires="v">
                <p:oleObj name="Equation" r:id="rId8" imgW="1854000" imgH="368280" progId="Equation.DSMT4">
                  <p:embed/>
                </p:oleObj>
              </mc:Choice>
              <mc:Fallback>
                <p:oleObj name="Equation" r:id="rId8" imgW="1854000" imgH="368280" progId="Equation.DSMT4">
                  <p:embed/>
                  <p:pic>
                    <p:nvPicPr>
                      <p:cNvPr id="53" name="对象 52">
                        <a:extLst>
                          <a:ext uri="{FF2B5EF4-FFF2-40B4-BE49-F238E27FC236}">
                            <a16:creationId xmlns:a16="http://schemas.microsoft.com/office/drawing/2014/main" id="{B2C7FDBE-36FD-4649-B4A1-C1DDFB47DCE0}"/>
                          </a:ext>
                        </a:extLst>
                      </p:cNvPr>
                      <p:cNvPicPr/>
                      <p:nvPr/>
                    </p:nvPicPr>
                    <p:blipFill>
                      <a:blip r:embed="rId9"/>
                      <a:stretch>
                        <a:fillRect/>
                      </a:stretch>
                    </p:blipFill>
                    <p:spPr>
                      <a:xfrm>
                        <a:off x="4461883" y="1504415"/>
                        <a:ext cx="5132388" cy="1022350"/>
                      </a:xfrm>
                      <a:prstGeom prst="rect">
                        <a:avLst/>
                      </a:prstGeom>
                      <a:solidFill>
                        <a:srgbClr val="FFFF00"/>
                      </a:solidFill>
                      <a:ln>
                        <a:solidFill>
                          <a:schemeClr val="tx1"/>
                        </a:solidFill>
                      </a:ln>
                    </p:spPr>
                  </p:pic>
                </p:oleObj>
              </mc:Fallback>
            </mc:AlternateContent>
          </a:graphicData>
        </a:graphic>
      </p:graphicFrame>
    </p:spTree>
    <p:extLst>
      <p:ext uri="{BB962C8B-B14F-4D97-AF65-F5344CB8AC3E}">
        <p14:creationId xmlns:p14="http://schemas.microsoft.com/office/powerpoint/2010/main" val="180320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inVertical)">
                                      <p:cBhvr>
                                        <p:cTn id="7" dur="500"/>
                                        <p:tgtEl>
                                          <p:spTgt spid="24"/>
                                        </p:tgtEl>
                                      </p:cBhvr>
                                    </p:animEffect>
                                  </p:childTnLst>
                                </p:cTn>
                              </p:par>
                              <p:par>
                                <p:cTn id="8" presetID="16" presetClass="entr" presetSubtype="21"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barn(inVertical)">
                                      <p:cBhvr>
                                        <p:cTn id="10" dur="500"/>
                                        <p:tgtEl>
                                          <p:spTgt spid="25"/>
                                        </p:tgtEl>
                                      </p:cBhvr>
                                    </p:animEffect>
                                  </p:childTnLst>
                                </p:cTn>
                              </p:par>
                              <p:par>
                                <p:cTn id="11" presetID="16" presetClass="entr" presetSubtype="21"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barn(inVertical)">
                                      <p:cBhvr>
                                        <p:cTn id="13" dur="500"/>
                                        <p:tgtEl>
                                          <p:spTgt spid="26"/>
                                        </p:tgtEl>
                                      </p:cBhvr>
                                    </p:animEffect>
                                  </p:childTnLst>
                                </p:cTn>
                              </p:par>
                              <p:par>
                                <p:cTn id="14" presetID="16" presetClass="entr" presetSubtype="21"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barn(inVertical)">
                                      <p:cBhvr>
                                        <p:cTn id="16" dur="500"/>
                                        <p:tgtEl>
                                          <p:spTgt spid="28"/>
                                        </p:tgtEl>
                                      </p:cBhvr>
                                    </p:animEffect>
                                  </p:childTnLst>
                                </p:cTn>
                              </p:par>
                              <p:par>
                                <p:cTn id="17" presetID="16" presetClass="entr" presetSubtype="21"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barn(inVertical)">
                                      <p:cBhvr>
                                        <p:cTn id="19" dur="500"/>
                                        <p:tgtEl>
                                          <p:spTgt spid="29"/>
                                        </p:tgtEl>
                                      </p:cBhvr>
                                    </p:animEffect>
                                  </p:childTnLst>
                                </p:cTn>
                              </p:par>
                              <p:par>
                                <p:cTn id="20" presetID="16" presetClass="entr" presetSubtype="21" fill="hold"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barn(inVertical)">
                                      <p:cBhvr>
                                        <p:cTn id="22" dur="500"/>
                                        <p:tgtEl>
                                          <p:spTgt spid="30"/>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barn(inVertical)">
                                      <p:cBhvr>
                                        <p:cTn id="25" dur="500"/>
                                        <p:tgtEl>
                                          <p:spTgt spid="31"/>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barn(inVertical)">
                                      <p:cBhvr>
                                        <p:cTn id="28" dur="500"/>
                                        <p:tgtEl>
                                          <p:spTgt spid="32"/>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barn(inVertical)">
                                      <p:cBhvr>
                                        <p:cTn id="31" dur="500"/>
                                        <p:tgtEl>
                                          <p:spTgt spid="33"/>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barn(inVertical)">
                                      <p:cBhvr>
                                        <p:cTn id="34" dur="500"/>
                                        <p:tgtEl>
                                          <p:spTgt spid="34"/>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barn(inVertical)">
                                      <p:cBhvr>
                                        <p:cTn id="37" dur="500"/>
                                        <p:tgtEl>
                                          <p:spTgt spid="35"/>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barn(inVertical)">
                                      <p:cBhvr>
                                        <p:cTn id="40" dur="500"/>
                                        <p:tgtEl>
                                          <p:spTgt spid="36"/>
                                        </p:tgtEl>
                                      </p:cBhvr>
                                    </p:animEffect>
                                  </p:childTnLst>
                                </p:cTn>
                              </p:par>
                            </p:childTnLst>
                          </p:cTn>
                        </p:par>
                        <p:par>
                          <p:cTn id="41" fill="hold">
                            <p:stCondLst>
                              <p:cond delay="500"/>
                            </p:stCondLst>
                            <p:childTnLst>
                              <p:par>
                                <p:cTn id="42" presetID="16" presetClass="entr" presetSubtype="21" fill="hold" grpId="0" nodeType="afterEffect">
                                  <p:stCondLst>
                                    <p:cond delay="0"/>
                                  </p:stCondLst>
                                  <p:childTnLst>
                                    <p:set>
                                      <p:cBhvr>
                                        <p:cTn id="43" dur="1" fill="hold">
                                          <p:stCondLst>
                                            <p:cond delay="0"/>
                                          </p:stCondLst>
                                        </p:cTn>
                                        <p:tgtEl>
                                          <p:spTgt spid="41"/>
                                        </p:tgtEl>
                                        <p:attrNameLst>
                                          <p:attrName>style.visibility</p:attrName>
                                        </p:attrNameLst>
                                      </p:cBhvr>
                                      <p:to>
                                        <p:strVal val="visible"/>
                                      </p:to>
                                    </p:set>
                                    <p:animEffect transition="in" filter="barn(inVertical)">
                                      <p:cBhvr>
                                        <p:cTn id="44" dur="500"/>
                                        <p:tgtEl>
                                          <p:spTgt spid="41"/>
                                        </p:tgtEl>
                                      </p:cBhvr>
                                    </p:animEffect>
                                  </p:childTnLst>
                                </p:cTn>
                              </p:par>
                            </p:childTnLst>
                          </p:cTn>
                        </p:par>
                        <p:par>
                          <p:cTn id="45" fill="hold">
                            <p:stCondLst>
                              <p:cond delay="1000"/>
                            </p:stCondLst>
                            <p:childTnLst>
                              <p:par>
                                <p:cTn id="46" presetID="16" presetClass="entr" presetSubtype="21" fill="hold" grpId="0" nodeType="after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barn(inVertical)">
                                      <p:cBhvr>
                                        <p:cTn id="48" dur="500"/>
                                        <p:tgtEl>
                                          <p:spTgt spid="42"/>
                                        </p:tgtEl>
                                      </p:cBhvr>
                                    </p:animEffect>
                                  </p:childTnLst>
                                </p:cTn>
                              </p:par>
                            </p:childTnLst>
                          </p:cTn>
                        </p:par>
                        <p:par>
                          <p:cTn id="49" fill="hold">
                            <p:stCondLst>
                              <p:cond delay="1500"/>
                            </p:stCondLst>
                            <p:childTnLst>
                              <p:par>
                                <p:cTn id="50" presetID="16" presetClass="entr" presetSubtype="21" fill="hold" nodeType="after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barn(inVertical)">
                                      <p:cBhvr>
                                        <p:cTn id="52" dur="500"/>
                                        <p:tgtEl>
                                          <p:spTgt spid="43"/>
                                        </p:tgtEl>
                                      </p:cBhvr>
                                    </p:animEffect>
                                  </p:childTnLst>
                                </p:cTn>
                              </p:par>
                            </p:childTnLst>
                          </p:cTn>
                        </p:par>
                        <p:par>
                          <p:cTn id="53" fill="hold">
                            <p:stCondLst>
                              <p:cond delay="2000"/>
                            </p:stCondLst>
                            <p:childTnLst>
                              <p:par>
                                <p:cTn id="54" presetID="16" presetClass="entr" presetSubtype="21" fill="hold" nodeType="afterEffect">
                                  <p:stCondLst>
                                    <p:cond delay="0"/>
                                  </p:stCondLst>
                                  <p:childTnLst>
                                    <p:set>
                                      <p:cBhvr>
                                        <p:cTn id="55" dur="1" fill="hold">
                                          <p:stCondLst>
                                            <p:cond delay="0"/>
                                          </p:stCondLst>
                                        </p:cTn>
                                        <p:tgtEl>
                                          <p:spTgt spid="44"/>
                                        </p:tgtEl>
                                        <p:attrNameLst>
                                          <p:attrName>style.visibility</p:attrName>
                                        </p:attrNameLst>
                                      </p:cBhvr>
                                      <p:to>
                                        <p:strVal val="visible"/>
                                      </p:to>
                                    </p:set>
                                    <p:animEffect transition="in" filter="barn(inVertical)">
                                      <p:cBhvr>
                                        <p:cTn id="56" dur="500"/>
                                        <p:tgtEl>
                                          <p:spTgt spid="44"/>
                                        </p:tgtEl>
                                      </p:cBhvr>
                                    </p:animEffect>
                                  </p:childTnLst>
                                </p:cTn>
                              </p:par>
                            </p:childTnLst>
                          </p:cTn>
                        </p:par>
                        <p:par>
                          <p:cTn id="57" fill="hold">
                            <p:stCondLst>
                              <p:cond delay="2500"/>
                            </p:stCondLst>
                            <p:childTnLst>
                              <p:par>
                                <p:cTn id="58" presetID="16" presetClass="entr" presetSubtype="21" fill="hold" nodeType="after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barn(inVertical)">
                                      <p:cBhvr>
                                        <p:cTn id="60" dur="500"/>
                                        <p:tgtEl>
                                          <p:spTgt spid="45"/>
                                        </p:tgtEl>
                                      </p:cBhvr>
                                    </p:animEffect>
                                  </p:childTnLst>
                                </p:cTn>
                              </p:par>
                            </p:childTnLst>
                          </p:cTn>
                        </p:par>
                        <p:par>
                          <p:cTn id="61" fill="hold">
                            <p:stCondLst>
                              <p:cond delay="3000"/>
                            </p:stCondLst>
                            <p:childTnLst>
                              <p:par>
                                <p:cTn id="62" presetID="16" presetClass="entr" presetSubtype="21" fill="hold" nodeType="afterEffect">
                                  <p:stCondLst>
                                    <p:cond delay="0"/>
                                  </p:stCondLst>
                                  <p:childTnLst>
                                    <p:set>
                                      <p:cBhvr>
                                        <p:cTn id="63" dur="1" fill="hold">
                                          <p:stCondLst>
                                            <p:cond delay="0"/>
                                          </p:stCondLst>
                                        </p:cTn>
                                        <p:tgtEl>
                                          <p:spTgt spid="47"/>
                                        </p:tgtEl>
                                        <p:attrNameLst>
                                          <p:attrName>style.visibility</p:attrName>
                                        </p:attrNameLst>
                                      </p:cBhvr>
                                      <p:to>
                                        <p:strVal val="visible"/>
                                      </p:to>
                                    </p:set>
                                    <p:animEffect transition="in" filter="barn(inVertical)">
                                      <p:cBhvr>
                                        <p:cTn id="64" dur="500"/>
                                        <p:tgtEl>
                                          <p:spTgt spid="47"/>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wipe(down)">
                                      <p:cBhvr>
                                        <p:cTn id="69" dur="500"/>
                                        <p:tgtEl>
                                          <p:spTgt spid="37"/>
                                        </p:tgtEl>
                                      </p:cBhvr>
                                    </p:animEffect>
                                  </p:childTnLst>
                                </p:cTn>
                              </p:par>
                            </p:childTnLst>
                          </p:cTn>
                        </p:par>
                        <p:par>
                          <p:cTn id="70" fill="hold">
                            <p:stCondLst>
                              <p:cond delay="500"/>
                            </p:stCondLst>
                            <p:childTnLst>
                              <p:par>
                                <p:cTn id="71" presetID="16" presetClass="entr" presetSubtype="21" fill="hold" grpId="0" nodeType="afterEffect">
                                  <p:stCondLst>
                                    <p:cond delay="0"/>
                                  </p:stCondLst>
                                  <p:childTnLst>
                                    <p:set>
                                      <p:cBhvr>
                                        <p:cTn id="72" dur="1" fill="hold">
                                          <p:stCondLst>
                                            <p:cond delay="0"/>
                                          </p:stCondLst>
                                        </p:cTn>
                                        <p:tgtEl>
                                          <p:spTgt spid="120"/>
                                        </p:tgtEl>
                                        <p:attrNameLst>
                                          <p:attrName>style.visibility</p:attrName>
                                        </p:attrNameLst>
                                      </p:cBhvr>
                                      <p:to>
                                        <p:strVal val="visible"/>
                                      </p:to>
                                    </p:set>
                                    <p:animEffect transition="in" filter="barn(inVertical)">
                                      <p:cBhvr>
                                        <p:cTn id="73" dur="500"/>
                                        <p:tgtEl>
                                          <p:spTgt spid="120"/>
                                        </p:tgtEl>
                                      </p:cBhvr>
                                    </p:animEffect>
                                  </p:childTnLst>
                                </p:cTn>
                              </p:par>
                            </p:childTnLst>
                          </p:cTn>
                        </p:par>
                      </p:childTnLst>
                    </p:cTn>
                  </p:par>
                  <p:par>
                    <p:cTn id="74" fill="hold">
                      <p:stCondLst>
                        <p:cond delay="indefinite"/>
                      </p:stCondLst>
                      <p:childTnLst>
                        <p:par>
                          <p:cTn id="75" fill="hold">
                            <p:stCondLst>
                              <p:cond delay="0"/>
                            </p:stCondLst>
                            <p:childTnLst>
                              <p:par>
                                <p:cTn id="76" presetID="16" presetClass="entr" presetSubtype="21" fill="hold" nodeType="clickEffect">
                                  <p:stCondLst>
                                    <p:cond delay="0"/>
                                  </p:stCondLst>
                                  <p:childTnLst>
                                    <p:set>
                                      <p:cBhvr>
                                        <p:cTn id="77" dur="1" fill="hold">
                                          <p:stCondLst>
                                            <p:cond delay="0"/>
                                          </p:stCondLst>
                                        </p:cTn>
                                        <p:tgtEl>
                                          <p:spTgt spid="12"/>
                                        </p:tgtEl>
                                        <p:attrNameLst>
                                          <p:attrName>style.visibility</p:attrName>
                                        </p:attrNameLst>
                                      </p:cBhvr>
                                      <p:to>
                                        <p:strVal val="visible"/>
                                      </p:to>
                                    </p:set>
                                    <p:animEffect transition="in" filter="barn(inVertical)">
                                      <p:cBhvr>
                                        <p:cTn id="78" dur="500"/>
                                        <p:tgtEl>
                                          <p:spTgt spid="12"/>
                                        </p:tgtEl>
                                      </p:cBhvr>
                                    </p:animEffect>
                                  </p:childTnLst>
                                </p:cTn>
                              </p:par>
                            </p:childTnLst>
                          </p:cTn>
                        </p:par>
                      </p:childTnLst>
                    </p:cTn>
                  </p:par>
                  <p:par>
                    <p:cTn id="79" fill="hold">
                      <p:stCondLst>
                        <p:cond delay="indefinite"/>
                      </p:stCondLst>
                      <p:childTnLst>
                        <p:par>
                          <p:cTn id="80" fill="hold">
                            <p:stCondLst>
                              <p:cond delay="0"/>
                            </p:stCondLst>
                            <p:childTnLst>
                              <p:par>
                                <p:cTn id="81" presetID="16" presetClass="entr" presetSubtype="21" fill="hold" nodeType="clickEffect">
                                  <p:stCondLst>
                                    <p:cond delay="0"/>
                                  </p:stCondLst>
                                  <p:childTnLst>
                                    <p:set>
                                      <p:cBhvr>
                                        <p:cTn id="82" dur="1" fill="hold">
                                          <p:stCondLst>
                                            <p:cond delay="0"/>
                                          </p:stCondLst>
                                        </p:cTn>
                                        <p:tgtEl>
                                          <p:spTgt spid="38"/>
                                        </p:tgtEl>
                                        <p:attrNameLst>
                                          <p:attrName>style.visibility</p:attrName>
                                        </p:attrNameLst>
                                      </p:cBhvr>
                                      <p:to>
                                        <p:strVal val="visible"/>
                                      </p:to>
                                    </p:set>
                                    <p:animEffect transition="in" filter="barn(inVertical)">
                                      <p:cBhvr>
                                        <p:cTn id="83" dur="500"/>
                                        <p:tgtEl>
                                          <p:spTgt spid="38"/>
                                        </p:tgtEl>
                                      </p:cBhvr>
                                    </p:animEffect>
                                  </p:childTnLst>
                                </p:cTn>
                              </p:par>
                            </p:childTnLst>
                          </p:cTn>
                        </p:par>
                        <p:par>
                          <p:cTn id="84" fill="hold">
                            <p:stCondLst>
                              <p:cond delay="500"/>
                            </p:stCondLst>
                            <p:childTnLst>
                              <p:par>
                                <p:cTn id="85" presetID="16" presetClass="entr" presetSubtype="21" fill="hold" nodeType="afterEffect">
                                  <p:stCondLst>
                                    <p:cond delay="0"/>
                                  </p:stCondLst>
                                  <p:childTnLst>
                                    <p:set>
                                      <p:cBhvr>
                                        <p:cTn id="86" dur="1" fill="hold">
                                          <p:stCondLst>
                                            <p:cond delay="0"/>
                                          </p:stCondLst>
                                        </p:cTn>
                                        <p:tgtEl>
                                          <p:spTgt spid="50"/>
                                        </p:tgtEl>
                                        <p:attrNameLst>
                                          <p:attrName>style.visibility</p:attrName>
                                        </p:attrNameLst>
                                      </p:cBhvr>
                                      <p:to>
                                        <p:strVal val="visible"/>
                                      </p:to>
                                    </p:set>
                                    <p:animEffect transition="in" filter="barn(inVertical)">
                                      <p:cBhvr>
                                        <p:cTn id="87" dur="500"/>
                                        <p:tgtEl>
                                          <p:spTgt spid="50"/>
                                        </p:tgtEl>
                                      </p:cBhvr>
                                    </p:animEffect>
                                  </p:childTnLst>
                                </p:cTn>
                              </p:par>
                              <p:par>
                                <p:cTn id="88" presetID="16" presetClass="entr" presetSubtype="21" fill="hold" nodeType="withEffect">
                                  <p:stCondLst>
                                    <p:cond delay="0"/>
                                  </p:stCondLst>
                                  <p:childTnLst>
                                    <p:set>
                                      <p:cBhvr>
                                        <p:cTn id="89" dur="1" fill="hold">
                                          <p:stCondLst>
                                            <p:cond delay="0"/>
                                          </p:stCondLst>
                                        </p:cTn>
                                        <p:tgtEl>
                                          <p:spTgt spid="53"/>
                                        </p:tgtEl>
                                        <p:attrNameLst>
                                          <p:attrName>style.visibility</p:attrName>
                                        </p:attrNameLst>
                                      </p:cBhvr>
                                      <p:to>
                                        <p:strVal val="visible"/>
                                      </p:to>
                                    </p:set>
                                    <p:animEffect transition="in" filter="barn(inVertical)">
                                      <p:cBhvr>
                                        <p:cTn id="90" dur="500"/>
                                        <p:tgtEl>
                                          <p:spTgt spid="53"/>
                                        </p:tgtEl>
                                      </p:cBhvr>
                                    </p:animEffect>
                                  </p:childTnLst>
                                </p:cTn>
                              </p:par>
                            </p:childTnLst>
                          </p:cTn>
                        </p:par>
                      </p:childTnLst>
                    </p:cTn>
                  </p:par>
                  <p:par>
                    <p:cTn id="91" fill="hold">
                      <p:stCondLst>
                        <p:cond delay="indefinite"/>
                      </p:stCondLst>
                      <p:childTnLst>
                        <p:par>
                          <p:cTn id="92" fill="hold">
                            <p:stCondLst>
                              <p:cond delay="0"/>
                            </p:stCondLst>
                            <p:childTnLst>
                              <p:par>
                                <p:cTn id="93" presetID="16" presetClass="entr" presetSubtype="21" fill="hold" nodeType="click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barn(inVertical)">
                                      <p:cBhvr>
                                        <p:cTn id="95" dur="500"/>
                                        <p:tgtEl>
                                          <p:spTgt spid="40"/>
                                        </p:tgtEl>
                                      </p:cBhvr>
                                    </p:animEffect>
                                  </p:childTnLst>
                                </p:cTn>
                              </p:par>
                            </p:childTnLst>
                          </p:cTn>
                        </p:par>
                      </p:childTnLst>
                    </p:cTn>
                  </p:par>
                  <p:par>
                    <p:cTn id="96" fill="hold">
                      <p:stCondLst>
                        <p:cond delay="indefinite"/>
                      </p:stCondLst>
                      <p:childTnLst>
                        <p:par>
                          <p:cTn id="97" fill="hold">
                            <p:stCondLst>
                              <p:cond delay="0"/>
                            </p:stCondLst>
                            <p:childTnLst>
                              <p:par>
                                <p:cTn id="98" presetID="16" presetClass="entr" presetSubtype="21" fill="hold" nodeType="clickEffect">
                                  <p:stCondLst>
                                    <p:cond delay="0"/>
                                  </p:stCondLst>
                                  <p:childTnLst>
                                    <p:set>
                                      <p:cBhvr>
                                        <p:cTn id="99" dur="1" fill="hold">
                                          <p:stCondLst>
                                            <p:cond delay="0"/>
                                          </p:stCondLst>
                                        </p:cTn>
                                        <p:tgtEl>
                                          <p:spTgt spid="46"/>
                                        </p:tgtEl>
                                        <p:attrNameLst>
                                          <p:attrName>style.visibility</p:attrName>
                                        </p:attrNameLst>
                                      </p:cBhvr>
                                      <p:to>
                                        <p:strVal val="visible"/>
                                      </p:to>
                                    </p:set>
                                    <p:animEffect transition="in" filter="barn(inVertical)">
                                      <p:cBhvr>
                                        <p:cTn id="100" dur="500"/>
                                        <p:tgtEl>
                                          <p:spTgt spid="46"/>
                                        </p:tgtEl>
                                      </p:cBhvr>
                                    </p:animEffect>
                                  </p:childTnLst>
                                </p:cTn>
                              </p:par>
                            </p:childTnLst>
                          </p:cTn>
                        </p:par>
                        <p:par>
                          <p:cTn id="101" fill="hold">
                            <p:stCondLst>
                              <p:cond delay="500"/>
                            </p:stCondLst>
                            <p:childTnLst>
                              <p:par>
                                <p:cTn id="102" presetID="22" presetClass="entr" presetSubtype="4" fill="hold" nodeType="afterEffect">
                                  <p:stCondLst>
                                    <p:cond delay="0"/>
                                  </p:stCondLst>
                                  <p:childTnLst>
                                    <p:set>
                                      <p:cBhvr>
                                        <p:cTn id="103" dur="1" fill="hold">
                                          <p:stCondLst>
                                            <p:cond delay="0"/>
                                          </p:stCondLst>
                                        </p:cTn>
                                        <p:tgtEl>
                                          <p:spTgt spid="110"/>
                                        </p:tgtEl>
                                        <p:attrNameLst>
                                          <p:attrName>style.visibility</p:attrName>
                                        </p:attrNameLst>
                                      </p:cBhvr>
                                      <p:to>
                                        <p:strVal val="visible"/>
                                      </p:to>
                                    </p:set>
                                    <p:animEffect transition="in" filter="wipe(down)">
                                      <p:cBhvr>
                                        <p:cTn id="104" dur="500"/>
                                        <p:tgtEl>
                                          <p:spTgt spid="110"/>
                                        </p:tgtEl>
                                      </p:cBhvr>
                                    </p:animEffect>
                                  </p:childTnLst>
                                </p:cTn>
                              </p:par>
                              <p:par>
                                <p:cTn id="105" presetID="22" presetClass="entr" presetSubtype="4" fill="hold" nodeType="withEffect">
                                  <p:stCondLst>
                                    <p:cond delay="0"/>
                                  </p:stCondLst>
                                  <p:childTnLst>
                                    <p:set>
                                      <p:cBhvr>
                                        <p:cTn id="106" dur="1" fill="hold">
                                          <p:stCondLst>
                                            <p:cond delay="0"/>
                                          </p:stCondLst>
                                        </p:cTn>
                                        <p:tgtEl>
                                          <p:spTgt spid="54"/>
                                        </p:tgtEl>
                                        <p:attrNameLst>
                                          <p:attrName>style.visibility</p:attrName>
                                        </p:attrNameLst>
                                      </p:cBhvr>
                                      <p:to>
                                        <p:strVal val="visible"/>
                                      </p:to>
                                    </p:set>
                                    <p:animEffect transition="in" filter="wipe(down)">
                                      <p:cBhvr>
                                        <p:cTn id="107" dur="500"/>
                                        <p:tgtEl>
                                          <p:spTgt spid="54"/>
                                        </p:tgtEl>
                                      </p:cBhvr>
                                    </p:animEffect>
                                  </p:childTnLst>
                                </p:cTn>
                              </p:par>
                            </p:childTnLst>
                          </p:cTn>
                        </p:par>
                      </p:childTnLst>
                    </p:cTn>
                  </p:par>
                  <p:par>
                    <p:cTn id="108" fill="hold">
                      <p:stCondLst>
                        <p:cond delay="indefinite"/>
                      </p:stCondLst>
                      <p:childTnLst>
                        <p:par>
                          <p:cTn id="109" fill="hold">
                            <p:stCondLst>
                              <p:cond delay="0"/>
                            </p:stCondLst>
                            <p:childTnLst>
                              <p:par>
                                <p:cTn id="110" presetID="16" presetClass="entr" presetSubtype="21" fill="hold" nodeType="clickEffect">
                                  <p:stCondLst>
                                    <p:cond delay="0"/>
                                  </p:stCondLst>
                                  <p:childTnLst>
                                    <p:set>
                                      <p:cBhvr>
                                        <p:cTn id="111" dur="1" fill="hold">
                                          <p:stCondLst>
                                            <p:cond delay="0"/>
                                          </p:stCondLst>
                                        </p:cTn>
                                        <p:tgtEl>
                                          <p:spTgt spid="48"/>
                                        </p:tgtEl>
                                        <p:attrNameLst>
                                          <p:attrName>style.visibility</p:attrName>
                                        </p:attrNameLst>
                                      </p:cBhvr>
                                      <p:to>
                                        <p:strVal val="visible"/>
                                      </p:to>
                                    </p:set>
                                    <p:animEffect transition="in" filter="barn(inVertical)">
                                      <p:cBhvr>
                                        <p:cTn id="112" dur="500"/>
                                        <p:tgtEl>
                                          <p:spTgt spid="48"/>
                                        </p:tgtEl>
                                      </p:cBhvr>
                                    </p:animEffect>
                                  </p:childTnLst>
                                </p:cTn>
                              </p:par>
                            </p:childTnLst>
                          </p:cTn>
                        </p:par>
                      </p:childTnLst>
                    </p:cTn>
                  </p:par>
                  <p:par>
                    <p:cTn id="113" fill="hold">
                      <p:stCondLst>
                        <p:cond delay="indefinite"/>
                      </p:stCondLst>
                      <p:childTnLst>
                        <p:par>
                          <p:cTn id="114" fill="hold">
                            <p:stCondLst>
                              <p:cond delay="0"/>
                            </p:stCondLst>
                            <p:childTnLst>
                              <p:par>
                                <p:cTn id="115" presetID="16" presetClass="entr" presetSubtype="21" fill="hold" nodeType="clickEffect">
                                  <p:stCondLst>
                                    <p:cond delay="0"/>
                                  </p:stCondLst>
                                  <p:childTnLst>
                                    <p:set>
                                      <p:cBhvr>
                                        <p:cTn id="116" dur="1" fill="hold">
                                          <p:stCondLst>
                                            <p:cond delay="0"/>
                                          </p:stCondLst>
                                        </p:cTn>
                                        <p:tgtEl>
                                          <p:spTgt spid="49"/>
                                        </p:tgtEl>
                                        <p:attrNameLst>
                                          <p:attrName>style.visibility</p:attrName>
                                        </p:attrNameLst>
                                      </p:cBhvr>
                                      <p:to>
                                        <p:strVal val="visible"/>
                                      </p:to>
                                    </p:set>
                                    <p:animEffect transition="in" filter="barn(inVertical)">
                                      <p:cBhvr>
                                        <p:cTn id="117" dur="500"/>
                                        <p:tgtEl>
                                          <p:spTgt spid="49"/>
                                        </p:tgtEl>
                                      </p:cBhvr>
                                    </p:animEffect>
                                  </p:childTnLst>
                                </p:cTn>
                              </p:par>
                            </p:childTnLst>
                          </p:cTn>
                        </p:par>
                        <p:par>
                          <p:cTn id="118" fill="hold">
                            <p:stCondLst>
                              <p:cond delay="500"/>
                            </p:stCondLst>
                            <p:childTnLst>
                              <p:par>
                                <p:cTn id="119" presetID="22" presetClass="entr" presetSubtype="4" fill="hold" nodeType="afterEffect">
                                  <p:stCondLst>
                                    <p:cond delay="0"/>
                                  </p:stCondLst>
                                  <p:childTnLst>
                                    <p:set>
                                      <p:cBhvr>
                                        <p:cTn id="120" dur="1" fill="hold">
                                          <p:stCondLst>
                                            <p:cond delay="0"/>
                                          </p:stCondLst>
                                        </p:cTn>
                                        <p:tgtEl>
                                          <p:spTgt spid="52"/>
                                        </p:tgtEl>
                                        <p:attrNameLst>
                                          <p:attrName>style.visibility</p:attrName>
                                        </p:attrNameLst>
                                      </p:cBhvr>
                                      <p:to>
                                        <p:strVal val="visible"/>
                                      </p:to>
                                    </p:set>
                                    <p:animEffect transition="in" filter="wipe(down)">
                                      <p:cBhvr>
                                        <p:cTn id="121" dur="500"/>
                                        <p:tgtEl>
                                          <p:spTgt spid="52"/>
                                        </p:tgtEl>
                                      </p:cBhvr>
                                    </p:animEffect>
                                  </p:childTnLst>
                                </p:cTn>
                              </p:par>
                              <p:par>
                                <p:cTn id="122" presetID="22" presetClass="entr" presetSubtype="4" fill="hold" nodeType="withEffect">
                                  <p:stCondLst>
                                    <p:cond delay="0"/>
                                  </p:stCondLst>
                                  <p:childTnLst>
                                    <p:set>
                                      <p:cBhvr>
                                        <p:cTn id="123" dur="1" fill="hold">
                                          <p:stCondLst>
                                            <p:cond delay="0"/>
                                          </p:stCondLst>
                                        </p:cTn>
                                        <p:tgtEl>
                                          <p:spTgt spid="55"/>
                                        </p:tgtEl>
                                        <p:attrNameLst>
                                          <p:attrName>style.visibility</p:attrName>
                                        </p:attrNameLst>
                                      </p:cBhvr>
                                      <p:to>
                                        <p:strVal val="visible"/>
                                      </p:to>
                                    </p:set>
                                    <p:animEffect transition="in" filter="wipe(down)">
                                      <p:cBhvr>
                                        <p:cTn id="124" dur="500"/>
                                        <p:tgtEl>
                                          <p:spTgt spid="55"/>
                                        </p:tgtEl>
                                      </p:cBhvr>
                                    </p:animEffect>
                                  </p:childTnLst>
                                </p:cTn>
                              </p:par>
                            </p:childTnLst>
                          </p:cTn>
                        </p:par>
                      </p:childTnLst>
                    </p:cTn>
                  </p:par>
                  <p:par>
                    <p:cTn id="125" fill="hold">
                      <p:stCondLst>
                        <p:cond delay="indefinite"/>
                      </p:stCondLst>
                      <p:childTnLst>
                        <p:par>
                          <p:cTn id="126" fill="hold">
                            <p:stCondLst>
                              <p:cond delay="0"/>
                            </p:stCondLst>
                            <p:childTnLst>
                              <p:par>
                                <p:cTn id="127" presetID="16" presetClass="entr" presetSubtype="21" fill="hold" nodeType="clickEffect">
                                  <p:stCondLst>
                                    <p:cond delay="0"/>
                                  </p:stCondLst>
                                  <p:childTnLst>
                                    <p:set>
                                      <p:cBhvr>
                                        <p:cTn id="128" dur="1" fill="hold">
                                          <p:stCondLst>
                                            <p:cond delay="0"/>
                                          </p:stCondLst>
                                        </p:cTn>
                                        <p:tgtEl>
                                          <p:spTgt spid="57"/>
                                        </p:tgtEl>
                                        <p:attrNameLst>
                                          <p:attrName>style.visibility</p:attrName>
                                        </p:attrNameLst>
                                      </p:cBhvr>
                                      <p:to>
                                        <p:strVal val="visible"/>
                                      </p:to>
                                    </p:set>
                                    <p:animEffect transition="in" filter="barn(inVertical)">
                                      <p:cBhvr>
                                        <p:cTn id="129"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1" grpId="0"/>
      <p:bldP spid="32" grpId="0" animBg="1"/>
      <p:bldP spid="33" grpId="0" animBg="1"/>
      <p:bldP spid="34" grpId="0" animBg="1"/>
      <p:bldP spid="35" grpId="0" animBg="1"/>
      <p:bldP spid="36" grpId="0" animBg="1"/>
      <p:bldP spid="37" grpId="0" animBg="1"/>
      <p:bldP spid="120" grpId="0" animBg="1"/>
      <p:bldP spid="41" grpId="0" animBg="1"/>
      <p:bldP spid="4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207DE6-5FB8-4D8C-85C2-687B849136D0}"/>
              </a:ext>
            </a:extLst>
          </p:cNvPr>
          <p:cNvSpPr>
            <a:spLocks noGrp="1"/>
          </p:cNvSpPr>
          <p:nvPr>
            <p:ph type="title"/>
          </p:nvPr>
        </p:nvSpPr>
        <p:spPr/>
        <p:txBody>
          <a:bodyPr/>
          <a:lstStyle/>
          <a:p>
            <a:r>
              <a:rPr lang="en-US" altLang="zh-CN" dirty="0"/>
              <a:t>K-T</a:t>
            </a:r>
            <a:r>
              <a:rPr lang="zh-CN" altLang="en-US" dirty="0"/>
              <a:t>条件分析</a:t>
            </a:r>
          </a:p>
        </p:txBody>
      </p:sp>
      <p:sp>
        <p:nvSpPr>
          <p:cNvPr id="3" name="内容占位符 2">
            <a:extLst>
              <a:ext uri="{FF2B5EF4-FFF2-40B4-BE49-F238E27FC236}">
                <a16:creationId xmlns:a16="http://schemas.microsoft.com/office/drawing/2014/main" id="{E6B70BD0-3671-4F11-9514-B7778E339AA0}"/>
              </a:ext>
            </a:extLst>
          </p:cNvPr>
          <p:cNvSpPr>
            <a:spLocks noGrp="1"/>
          </p:cNvSpPr>
          <p:nvPr>
            <p:ph idx="1"/>
          </p:nvPr>
        </p:nvSpPr>
        <p:spPr>
          <a:xfrm>
            <a:off x="58044" y="1196752"/>
            <a:ext cx="9719492" cy="799663"/>
          </a:xfrm>
        </p:spPr>
        <p:txBody>
          <a:bodyPr/>
          <a:lstStyle/>
          <a:p>
            <a:r>
              <a:rPr lang="en-US" altLang="zh-CN" dirty="0"/>
              <a:t>2. </a:t>
            </a:r>
            <a:r>
              <a:rPr lang="zh-CN" altLang="en-US" dirty="0"/>
              <a:t>两个约束起作用</a:t>
            </a:r>
            <a:endParaRPr lang="en-US" altLang="zh-CN" dirty="0"/>
          </a:p>
        </p:txBody>
      </p:sp>
      <p:sp>
        <p:nvSpPr>
          <p:cNvPr id="4" name="日期占位符 3">
            <a:extLst>
              <a:ext uri="{FF2B5EF4-FFF2-40B4-BE49-F238E27FC236}">
                <a16:creationId xmlns:a16="http://schemas.microsoft.com/office/drawing/2014/main" id="{0FF3692F-3AEA-4DA6-8EBB-5D1D8E5ADB8C}"/>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95D4AC2A-5971-4337-85B1-EF4760D1B8FE}"/>
              </a:ext>
            </a:extLst>
          </p:cNvPr>
          <p:cNvSpPr>
            <a:spLocks noGrp="1"/>
          </p:cNvSpPr>
          <p:nvPr>
            <p:ph type="sldNum" sz="quarter" idx="12"/>
          </p:nvPr>
        </p:nvSpPr>
        <p:spPr/>
        <p:txBody>
          <a:bodyPr/>
          <a:lstStyle/>
          <a:p>
            <a:fld id="{7AC79822-BC0D-4DE8-A7E5-90A3732A2B82}" type="slidenum">
              <a:rPr lang="zh-CN" altLang="en-US" smtClean="0"/>
              <a:pPr/>
              <a:t>44</a:t>
            </a:fld>
            <a:endParaRPr lang="en-US" altLang="zh-CN" dirty="0"/>
          </a:p>
        </p:txBody>
      </p:sp>
      <p:graphicFrame>
        <p:nvGraphicFramePr>
          <p:cNvPr id="51" name="对象 50">
            <a:extLst>
              <a:ext uri="{FF2B5EF4-FFF2-40B4-BE49-F238E27FC236}">
                <a16:creationId xmlns:a16="http://schemas.microsoft.com/office/drawing/2014/main" id="{471ED32C-EC97-4F01-88E3-635BF48CE713}"/>
              </a:ext>
            </a:extLst>
          </p:cNvPr>
          <p:cNvGraphicFramePr>
            <a:graphicFrameLocks noChangeAspect="1"/>
          </p:cNvGraphicFramePr>
          <p:nvPr>
            <p:extLst>
              <p:ext uri="{D42A27DB-BD31-4B8C-83A1-F6EECF244321}">
                <p14:modId xmlns:p14="http://schemas.microsoft.com/office/powerpoint/2010/main" val="3268957828"/>
              </p:ext>
            </p:extLst>
          </p:nvPr>
        </p:nvGraphicFramePr>
        <p:xfrm>
          <a:off x="1213744" y="2132856"/>
          <a:ext cx="7614477" cy="1749418"/>
        </p:xfrm>
        <a:graphic>
          <a:graphicData uri="http://schemas.openxmlformats.org/presentationml/2006/ole">
            <mc:AlternateContent xmlns:mc="http://schemas.openxmlformats.org/markup-compatibility/2006">
              <mc:Choice xmlns:v="urn:schemas-microsoft-com:vml" Requires="v">
                <p:oleObj name="Equation" r:id="rId2" imgW="2374560" imgH="545760" progId="Equation.DSMT4">
                  <p:embed/>
                </p:oleObj>
              </mc:Choice>
              <mc:Fallback>
                <p:oleObj name="Equation" r:id="rId2" imgW="2374560" imgH="545760" progId="Equation.DSMT4">
                  <p:embed/>
                  <p:pic>
                    <p:nvPicPr>
                      <p:cNvPr id="51" name="对象 50">
                        <a:extLst>
                          <a:ext uri="{FF2B5EF4-FFF2-40B4-BE49-F238E27FC236}">
                            <a16:creationId xmlns:a16="http://schemas.microsoft.com/office/drawing/2014/main" id="{471ED32C-EC97-4F01-88E3-635BF48CE713}"/>
                          </a:ext>
                        </a:extLst>
                      </p:cNvPr>
                      <p:cNvPicPr/>
                      <p:nvPr/>
                    </p:nvPicPr>
                    <p:blipFill>
                      <a:blip r:embed="rId3"/>
                      <a:stretch>
                        <a:fillRect/>
                      </a:stretch>
                    </p:blipFill>
                    <p:spPr>
                      <a:xfrm>
                        <a:off x="1213744" y="2132856"/>
                        <a:ext cx="7614477" cy="1749418"/>
                      </a:xfrm>
                      <a:prstGeom prst="rect">
                        <a:avLst/>
                      </a:prstGeom>
                      <a:ln w="19050">
                        <a:solidFill>
                          <a:srgbClr val="C00000"/>
                        </a:solidFill>
                      </a:ln>
                    </p:spPr>
                  </p:pic>
                </p:oleObj>
              </mc:Fallback>
            </mc:AlternateContent>
          </a:graphicData>
        </a:graphic>
      </p:graphicFrame>
    </p:spTree>
    <p:extLst>
      <p:ext uri="{BB962C8B-B14F-4D97-AF65-F5344CB8AC3E}">
        <p14:creationId xmlns:p14="http://schemas.microsoft.com/office/powerpoint/2010/main" val="849205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arn(inVertical)">
                                      <p:cBhvr>
                                        <p:cTn id="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207DE6-5FB8-4D8C-85C2-687B849136D0}"/>
              </a:ext>
            </a:extLst>
          </p:cNvPr>
          <p:cNvSpPr>
            <a:spLocks noGrp="1"/>
          </p:cNvSpPr>
          <p:nvPr>
            <p:ph type="title"/>
          </p:nvPr>
        </p:nvSpPr>
        <p:spPr/>
        <p:txBody>
          <a:bodyPr/>
          <a:lstStyle/>
          <a:p>
            <a:r>
              <a:rPr lang="en-US" altLang="zh-CN" dirty="0"/>
              <a:t>K-T</a:t>
            </a:r>
            <a:r>
              <a:rPr lang="zh-CN" altLang="en-US" dirty="0"/>
              <a:t>条件分析</a:t>
            </a:r>
          </a:p>
        </p:txBody>
      </p:sp>
      <p:sp>
        <p:nvSpPr>
          <p:cNvPr id="3" name="内容占位符 2">
            <a:extLst>
              <a:ext uri="{FF2B5EF4-FFF2-40B4-BE49-F238E27FC236}">
                <a16:creationId xmlns:a16="http://schemas.microsoft.com/office/drawing/2014/main" id="{E6B70BD0-3671-4F11-9514-B7778E339AA0}"/>
              </a:ext>
            </a:extLst>
          </p:cNvPr>
          <p:cNvSpPr>
            <a:spLocks noGrp="1"/>
          </p:cNvSpPr>
          <p:nvPr>
            <p:ph idx="1"/>
          </p:nvPr>
        </p:nvSpPr>
        <p:spPr>
          <a:xfrm>
            <a:off x="58044" y="1196752"/>
            <a:ext cx="9719492" cy="799663"/>
          </a:xfrm>
        </p:spPr>
        <p:txBody>
          <a:bodyPr/>
          <a:lstStyle/>
          <a:p>
            <a:r>
              <a:rPr lang="en-US" altLang="zh-CN" dirty="0"/>
              <a:t>3. </a:t>
            </a:r>
            <a:r>
              <a:rPr lang="zh-CN" altLang="en-US" dirty="0"/>
              <a:t>多个约束起作用</a:t>
            </a:r>
            <a:endParaRPr lang="en-US" altLang="zh-CN" dirty="0"/>
          </a:p>
          <a:p>
            <a:pPr lvl="1"/>
            <a:r>
              <a:rPr lang="zh-CN" altLang="en-US" dirty="0"/>
              <a:t>推广到多个约束问题</a:t>
            </a:r>
            <a:endParaRPr lang="en-US" altLang="zh-CN" dirty="0"/>
          </a:p>
          <a:p>
            <a:pPr lvl="1"/>
            <a:endParaRPr lang="en-US" altLang="zh-CN" dirty="0"/>
          </a:p>
          <a:p>
            <a:pPr lvl="1"/>
            <a:endParaRPr lang="en-US" altLang="zh-CN" dirty="0"/>
          </a:p>
          <a:p>
            <a:pPr marL="457200" lvl="1" indent="0">
              <a:buNone/>
            </a:pPr>
            <a:r>
              <a:rPr lang="en-US" altLang="zh-CN" sz="2400" dirty="0"/>
              <a:t>    </a:t>
            </a:r>
          </a:p>
          <a:p>
            <a:pPr marL="457200" lvl="1" indent="0">
              <a:buNone/>
            </a:pPr>
            <a:r>
              <a:rPr lang="en-US" altLang="zh-CN" sz="2400" dirty="0"/>
              <a:t>      K-T</a:t>
            </a:r>
            <a:r>
              <a:rPr lang="zh-CN" altLang="en-US" sz="2400" dirty="0"/>
              <a:t>条件为：</a:t>
            </a:r>
            <a:endParaRPr lang="en-US" altLang="zh-CN" sz="2400" dirty="0"/>
          </a:p>
        </p:txBody>
      </p:sp>
      <p:sp>
        <p:nvSpPr>
          <p:cNvPr id="4" name="日期占位符 3">
            <a:extLst>
              <a:ext uri="{FF2B5EF4-FFF2-40B4-BE49-F238E27FC236}">
                <a16:creationId xmlns:a16="http://schemas.microsoft.com/office/drawing/2014/main" id="{0FF3692F-3AEA-4DA6-8EBB-5D1D8E5ADB8C}"/>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95D4AC2A-5971-4337-85B1-EF4760D1B8FE}"/>
              </a:ext>
            </a:extLst>
          </p:cNvPr>
          <p:cNvSpPr>
            <a:spLocks noGrp="1"/>
          </p:cNvSpPr>
          <p:nvPr>
            <p:ph type="sldNum" sz="quarter" idx="12"/>
          </p:nvPr>
        </p:nvSpPr>
        <p:spPr/>
        <p:txBody>
          <a:bodyPr/>
          <a:lstStyle/>
          <a:p>
            <a:fld id="{7AC79822-BC0D-4DE8-A7E5-90A3732A2B82}" type="slidenum">
              <a:rPr lang="zh-CN" altLang="en-US" smtClean="0"/>
              <a:pPr/>
              <a:t>45</a:t>
            </a:fld>
            <a:endParaRPr lang="en-US" altLang="zh-CN" dirty="0"/>
          </a:p>
        </p:txBody>
      </p:sp>
      <p:graphicFrame>
        <p:nvGraphicFramePr>
          <p:cNvPr id="51" name="对象 50">
            <a:extLst>
              <a:ext uri="{FF2B5EF4-FFF2-40B4-BE49-F238E27FC236}">
                <a16:creationId xmlns:a16="http://schemas.microsoft.com/office/drawing/2014/main" id="{471ED32C-EC97-4F01-88E3-635BF48CE713}"/>
              </a:ext>
            </a:extLst>
          </p:cNvPr>
          <p:cNvGraphicFramePr>
            <a:graphicFrameLocks noChangeAspect="1"/>
          </p:cNvGraphicFramePr>
          <p:nvPr>
            <p:extLst>
              <p:ext uri="{D42A27DB-BD31-4B8C-83A1-F6EECF244321}">
                <p14:modId xmlns:p14="http://schemas.microsoft.com/office/powerpoint/2010/main" val="1224537648"/>
              </p:ext>
            </p:extLst>
          </p:nvPr>
        </p:nvGraphicFramePr>
        <p:xfrm>
          <a:off x="1158875" y="4707176"/>
          <a:ext cx="7588250" cy="938213"/>
        </p:xfrm>
        <a:graphic>
          <a:graphicData uri="http://schemas.openxmlformats.org/presentationml/2006/ole">
            <mc:AlternateContent xmlns:mc="http://schemas.openxmlformats.org/markup-compatibility/2006">
              <mc:Choice xmlns:v="urn:schemas-microsoft-com:vml" Requires="v">
                <p:oleObj name="Equation" r:id="rId2" imgW="2666880" imgH="330120" progId="Equation.DSMT4">
                  <p:embed/>
                </p:oleObj>
              </mc:Choice>
              <mc:Fallback>
                <p:oleObj name="Equation" r:id="rId2" imgW="2666880" imgH="330120" progId="Equation.DSMT4">
                  <p:embed/>
                  <p:pic>
                    <p:nvPicPr>
                      <p:cNvPr id="51" name="对象 50">
                        <a:extLst>
                          <a:ext uri="{FF2B5EF4-FFF2-40B4-BE49-F238E27FC236}">
                            <a16:creationId xmlns:a16="http://schemas.microsoft.com/office/drawing/2014/main" id="{471ED32C-EC97-4F01-88E3-635BF48CE713}"/>
                          </a:ext>
                        </a:extLst>
                      </p:cNvPr>
                      <p:cNvPicPr/>
                      <p:nvPr/>
                    </p:nvPicPr>
                    <p:blipFill>
                      <a:blip r:embed="rId3"/>
                      <a:stretch>
                        <a:fillRect/>
                      </a:stretch>
                    </p:blipFill>
                    <p:spPr>
                      <a:xfrm>
                        <a:off x="1158875" y="4707176"/>
                        <a:ext cx="7588250" cy="938213"/>
                      </a:xfrm>
                      <a:prstGeom prst="rect">
                        <a:avLst/>
                      </a:prstGeom>
                      <a:ln w="19050">
                        <a:solidFill>
                          <a:srgbClr val="C00000"/>
                        </a:solidFill>
                      </a:ln>
                    </p:spPr>
                  </p:pic>
                </p:oleObj>
              </mc:Fallback>
            </mc:AlternateContent>
          </a:graphicData>
        </a:graphic>
      </p:graphicFrame>
      <p:graphicFrame>
        <p:nvGraphicFramePr>
          <p:cNvPr id="7" name="对象 6">
            <a:extLst>
              <a:ext uri="{FF2B5EF4-FFF2-40B4-BE49-F238E27FC236}">
                <a16:creationId xmlns:a16="http://schemas.microsoft.com/office/drawing/2014/main" id="{5703F4FB-2B9E-41E2-9C92-9860F8244DD9}"/>
              </a:ext>
            </a:extLst>
          </p:cNvPr>
          <p:cNvGraphicFramePr>
            <a:graphicFrameLocks noChangeAspect="1"/>
          </p:cNvGraphicFramePr>
          <p:nvPr>
            <p:extLst>
              <p:ext uri="{D42A27DB-BD31-4B8C-83A1-F6EECF244321}">
                <p14:modId xmlns:p14="http://schemas.microsoft.com/office/powerpoint/2010/main" val="3794964896"/>
              </p:ext>
            </p:extLst>
          </p:nvPr>
        </p:nvGraphicFramePr>
        <p:xfrm>
          <a:off x="1640632" y="2445143"/>
          <a:ext cx="5832648" cy="1782197"/>
        </p:xfrm>
        <a:graphic>
          <a:graphicData uri="http://schemas.openxmlformats.org/presentationml/2006/ole">
            <mc:AlternateContent xmlns:mc="http://schemas.openxmlformats.org/markup-compatibility/2006">
              <mc:Choice xmlns:v="urn:schemas-microsoft-com:vml" Requires="v">
                <p:oleObj name="Equation" r:id="rId4" imgW="1828800" imgH="558720" progId="Equation.DSMT4">
                  <p:embed/>
                </p:oleObj>
              </mc:Choice>
              <mc:Fallback>
                <p:oleObj name="Equation" r:id="rId4" imgW="1828800" imgH="558720" progId="Equation.DSMT4">
                  <p:embed/>
                  <p:pic>
                    <p:nvPicPr>
                      <p:cNvPr id="6" name="对象 5">
                        <a:extLst>
                          <a:ext uri="{FF2B5EF4-FFF2-40B4-BE49-F238E27FC236}">
                            <a16:creationId xmlns:a16="http://schemas.microsoft.com/office/drawing/2014/main" id="{94DD4A88-D8E2-4803-9A4D-2D3E4ACDE87E}"/>
                          </a:ext>
                        </a:extLst>
                      </p:cNvPr>
                      <p:cNvPicPr/>
                      <p:nvPr/>
                    </p:nvPicPr>
                    <p:blipFill>
                      <a:blip r:embed="rId5"/>
                      <a:stretch>
                        <a:fillRect/>
                      </a:stretch>
                    </p:blipFill>
                    <p:spPr>
                      <a:xfrm>
                        <a:off x="1640632" y="2445143"/>
                        <a:ext cx="5832648" cy="1782197"/>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5418923-8E38-4EDA-A229-856A2D77F91C}"/>
                  </a:ext>
                </a:extLst>
              </p:cNvPr>
              <p:cNvSpPr txBox="1"/>
              <p:nvPr/>
            </p:nvSpPr>
            <p:spPr>
              <a:xfrm>
                <a:off x="1424608" y="5863001"/>
                <a:ext cx="6691255" cy="461665"/>
              </a:xfrm>
              <a:prstGeom prst="rect">
                <a:avLst/>
              </a:prstGeom>
              <a:noFill/>
            </p:spPr>
            <p:txBody>
              <a:bodyPr wrap="none" rtlCol="0">
                <a:spAutoFit/>
              </a:bodyPr>
              <a:lstStyle/>
              <a:p>
                <a:r>
                  <a:rPr lang="zh-CN" altLang="en-US" sz="2400" dirty="0"/>
                  <a:t>其中</a:t>
                </a:r>
                <a14:m>
                  <m:oMath xmlns:m="http://schemas.openxmlformats.org/officeDocument/2006/math">
                    <m:r>
                      <a:rPr lang="en-US" altLang="zh-CN" sz="2400" i="1" dirty="0" smtClean="0">
                        <a:latin typeface="Cambria Math" panose="02040503050406030204" pitchFamily="18" charset="0"/>
                      </a:rPr>
                      <m:t>𝑝</m:t>
                    </m:r>
                  </m:oMath>
                </a14:m>
                <a:r>
                  <a:rPr lang="zh-CN" altLang="en-US" sz="2400" dirty="0"/>
                  <a:t>和</a:t>
                </a:r>
                <a14:m>
                  <m:oMath xmlns:m="http://schemas.openxmlformats.org/officeDocument/2006/math">
                    <m:r>
                      <a:rPr lang="en-US" altLang="zh-CN" sz="2400" i="1" dirty="0" smtClean="0">
                        <a:latin typeface="Cambria Math" panose="02040503050406030204" pitchFamily="18" charset="0"/>
                      </a:rPr>
                      <m:t>𝑣</m:t>
                    </m:r>
                  </m:oMath>
                </a14:m>
                <a:r>
                  <a:rPr lang="zh-CN" altLang="en-US" sz="2400" dirty="0"/>
                  <a:t>为起作用的不等式、等式约束条件个数</a:t>
                </a:r>
              </a:p>
            </p:txBody>
          </p:sp>
        </mc:Choice>
        <mc:Fallback xmlns="">
          <p:sp>
            <p:nvSpPr>
              <p:cNvPr id="6" name="文本框 5">
                <a:extLst>
                  <a:ext uri="{FF2B5EF4-FFF2-40B4-BE49-F238E27FC236}">
                    <a16:creationId xmlns:a16="http://schemas.microsoft.com/office/drawing/2014/main" id="{15418923-8E38-4EDA-A229-856A2D77F91C}"/>
                  </a:ext>
                </a:extLst>
              </p:cNvPr>
              <p:cNvSpPr txBox="1">
                <a:spLocks noRot="1" noChangeAspect="1" noMove="1" noResize="1" noEditPoints="1" noAdjustHandles="1" noChangeArrowheads="1" noChangeShapeType="1" noTextEdit="1"/>
              </p:cNvSpPr>
              <p:nvPr/>
            </p:nvSpPr>
            <p:spPr>
              <a:xfrm>
                <a:off x="1424608" y="5863001"/>
                <a:ext cx="6691255" cy="461665"/>
              </a:xfrm>
              <a:prstGeom prst="rect">
                <a:avLst/>
              </a:prstGeom>
              <a:blipFill>
                <a:blip r:embed="rId7"/>
                <a:stretch>
                  <a:fillRect l="-1459" t="-10526" r="-456" b="-2894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60066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par>
                          <p:cTn id="15" fill="hold">
                            <p:stCondLst>
                              <p:cond delay="1000"/>
                            </p:stCondLst>
                            <p:childTnLst>
                              <p:par>
                                <p:cTn id="16" presetID="16" presetClass="entr" presetSubtype="21" fill="hold" nodeType="after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barn(inVertical)">
                                      <p:cBhvr>
                                        <p:cTn id="18" dur="500"/>
                                        <p:tgtEl>
                                          <p:spTgt spid="3">
                                            <p:txEl>
                                              <p:pRg st="5" end="5"/>
                                            </p:txEl>
                                          </p:spTgt>
                                        </p:tgtEl>
                                      </p:cBhvr>
                                    </p:animEffect>
                                  </p:childTnLst>
                                </p:cTn>
                              </p:par>
                            </p:childTnLst>
                          </p:cTn>
                        </p:par>
                        <p:par>
                          <p:cTn id="19" fill="hold">
                            <p:stCondLst>
                              <p:cond delay="1500"/>
                            </p:stCondLst>
                            <p:childTnLst>
                              <p:par>
                                <p:cTn id="20" presetID="16" presetClass="entr" presetSubtype="21" fill="hold" nodeType="after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barn(inVertical)">
                                      <p:cBhvr>
                                        <p:cTn id="22" dur="500"/>
                                        <p:tgtEl>
                                          <p:spTgt spid="51"/>
                                        </p:tgtEl>
                                      </p:cBhvr>
                                    </p:animEffect>
                                  </p:childTnLst>
                                </p:cTn>
                              </p:par>
                            </p:childTnLst>
                          </p:cTn>
                        </p:par>
                        <p:par>
                          <p:cTn id="23" fill="hold">
                            <p:stCondLst>
                              <p:cond delay="2000"/>
                            </p:stCondLst>
                            <p:childTnLst>
                              <p:par>
                                <p:cTn id="24" presetID="16" presetClass="entr" presetSubtype="21"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barn(inVertical)">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06CB1A-E65F-4363-AF1E-2E2218C5D771}"/>
              </a:ext>
            </a:extLst>
          </p:cNvPr>
          <p:cNvSpPr>
            <a:spLocks noGrp="1"/>
          </p:cNvSpPr>
          <p:nvPr>
            <p:ph type="title"/>
          </p:nvPr>
        </p:nvSpPr>
        <p:spPr/>
        <p:txBody>
          <a:bodyPr/>
          <a:lstStyle/>
          <a:p>
            <a:r>
              <a:rPr lang="en-US" altLang="zh-CN" dirty="0"/>
              <a:t>K-T</a:t>
            </a:r>
            <a:r>
              <a:rPr lang="zh-CN" altLang="en-US" dirty="0"/>
              <a:t>条件分析</a:t>
            </a:r>
          </a:p>
        </p:txBody>
      </p:sp>
      <p:sp>
        <p:nvSpPr>
          <p:cNvPr id="3" name="内容占位符 2">
            <a:extLst>
              <a:ext uri="{FF2B5EF4-FFF2-40B4-BE49-F238E27FC236}">
                <a16:creationId xmlns:a16="http://schemas.microsoft.com/office/drawing/2014/main" id="{729AE217-81AC-4667-B7BA-A7BEFD96420E}"/>
              </a:ext>
            </a:extLst>
          </p:cNvPr>
          <p:cNvSpPr>
            <a:spLocks noGrp="1"/>
          </p:cNvSpPr>
          <p:nvPr>
            <p:ph idx="1"/>
          </p:nvPr>
        </p:nvSpPr>
        <p:spPr/>
        <p:txBody>
          <a:bodyPr/>
          <a:lstStyle/>
          <a:p>
            <a:r>
              <a:rPr lang="en-US" altLang="zh-CN" dirty="0"/>
              <a:t>3. </a:t>
            </a:r>
            <a:r>
              <a:rPr lang="zh-CN" altLang="en-US" dirty="0"/>
              <a:t>多个约束起作用</a:t>
            </a:r>
            <a:endParaRPr lang="en-US" altLang="zh-CN" dirty="0"/>
          </a:p>
          <a:p>
            <a:pPr lvl="1"/>
            <a:r>
              <a:rPr lang="zh-CN" altLang="en-US" dirty="0"/>
              <a:t>在多维空间中，</a:t>
            </a:r>
            <a:r>
              <a:rPr lang="en-US" altLang="zh-CN" dirty="0"/>
              <a:t>K-T</a:t>
            </a:r>
            <a:r>
              <a:rPr lang="zh-CN" altLang="en-US" dirty="0"/>
              <a:t>条件的几何意义如下：</a:t>
            </a:r>
            <a:endParaRPr lang="en-US" altLang="zh-CN" dirty="0"/>
          </a:p>
          <a:p>
            <a:pPr lvl="2"/>
            <a:r>
              <a:rPr lang="zh-CN" altLang="en-US" dirty="0"/>
              <a:t>目标函数的负梯度向量应该落在多条约束梯度向量空间组成的锥体内。</a:t>
            </a:r>
          </a:p>
        </p:txBody>
      </p:sp>
      <p:sp>
        <p:nvSpPr>
          <p:cNvPr id="4" name="日期占位符 3">
            <a:extLst>
              <a:ext uri="{FF2B5EF4-FFF2-40B4-BE49-F238E27FC236}">
                <a16:creationId xmlns:a16="http://schemas.microsoft.com/office/drawing/2014/main" id="{E6A2EEE9-E14E-47BD-9643-436149728632}"/>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96078352-91CD-445C-B32C-B8FA9215A76B}"/>
              </a:ext>
            </a:extLst>
          </p:cNvPr>
          <p:cNvSpPr>
            <a:spLocks noGrp="1"/>
          </p:cNvSpPr>
          <p:nvPr>
            <p:ph type="sldNum" sz="quarter" idx="12"/>
          </p:nvPr>
        </p:nvSpPr>
        <p:spPr/>
        <p:txBody>
          <a:bodyPr/>
          <a:lstStyle/>
          <a:p>
            <a:fld id="{7AC79822-BC0D-4DE8-A7E5-90A3732A2B82}" type="slidenum">
              <a:rPr lang="zh-CN" altLang="en-US" smtClean="0"/>
              <a:pPr/>
              <a:t>46</a:t>
            </a:fld>
            <a:endParaRPr lang="en-US" altLang="zh-CN" dirty="0"/>
          </a:p>
        </p:txBody>
      </p:sp>
      <p:cxnSp>
        <p:nvCxnSpPr>
          <p:cNvPr id="9" name="直接箭头连接符 8">
            <a:extLst>
              <a:ext uri="{FF2B5EF4-FFF2-40B4-BE49-F238E27FC236}">
                <a16:creationId xmlns:a16="http://schemas.microsoft.com/office/drawing/2014/main" id="{D8F1E330-A14D-4F84-AF8C-F5B93ABD9759}"/>
              </a:ext>
            </a:extLst>
          </p:cNvPr>
          <p:cNvCxnSpPr/>
          <p:nvPr/>
        </p:nvCxnSpPr>
        <p:spPr bwMode="auto">
          <a:xfrm flipV="1">
            <a:off x="3044788" y="4272136"/>
            <a:ext cx="2376264" cy="648072"/>
          </a:xfrm>
          <a:prstGeom prst="straightConnector1">
            <a:avLst/>
          </a:prstGeom>
          <a:ln w="9525" cap="flat" cmpd="sng" algn="ctr">
            <a:solidFill>
              <a:schemeClr val="accent4"/>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直接箭头连接符 9">
            <a:extLst>
              <a:ext uri="{FF2B5EF4-FFF2-40B4-BE49-F238E27FC236}">
                <a16:creationId xmlns:a16="http://schemas.microsoft.com/office/drawing/2014/main" id="{03906A42-C949-4509-8D2A-4B591F85F0B8}"/>
              </a:ext>
            </a:extLst>
          </p:cNvPr>
          <p:cNvCxnSpPr/>
          <p:nvPr/>
        </p:nvCxnSpPr>
        <p:spPr bwMode="auto">
          <a:xfrm>
            <a:off x="3044788" y="4920208"/>
            <a:ext cx="2439888" cy="71169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箭头连接符 11">
            <a:extLst>
              <a:ext uri="{FF2B5EF4-FFF2-40B4-BE49-F238E27FC236}">
                <a16:creationId xmlns:a16="http://schemas.microsoft.com/office/drawing/2014/main" id="{BC00129D-A23F-4E79-B62A-9467ABA8AB68}"/>
              </a:ext>
            </a:extLst>
          </p:cNvPr>
          <p:cNvCxnSpPr/>
          <p:nvPr/>
        </p:nvCxnSpPr>
        <p:spPr bwMode="auto">
          <a:xfrm flipV="1">
            <a:off x="3044788" y="4200127"/>
            <a:ext cx="1512168" cy="72008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箭头连接符 13">
            <a:extLst>
              <a:ext uri="{FF2B5EF4-FFF2-40B4-BE49-F238E27FC236}">
                <a16:creationId xmlns:a16="http://schemas.microsoft.com/office/drawing/2014/main" id="{5F01F47D-B7CF-47E6-9F21-729DCF3FF250}"/>
              </a:ext>
            </a:extLst>
          </p:cNvPr>
          <p:cNvCxnSpPr/>
          <p:nvPr/>
        </p:nvCxnSpPr>
        <p:spPr bwMode="auto">
          <a:xfrm>
            <a:off x="3108412" y="4920208"/>
            <a:ext cx="3320752" cy="0"/>
          </a:xfrm>
          <a:prstGeom prst="straightConnector1">
            <a:avLst/>
          </a:prstGeom>
          <a:solidFill>
            <a:schemeClr val="accent1"/>
          </a:solidFill>
          <a:ln w="9525" cap="flat" cmpd="sng" algn="ctr">
            <a:solidFill>
              <a:schemeClr val="tx1"/>
            </a:solidFill>
            <a:prstDash val="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a:extLst>
              <a:ext uri="{FF2B5EF4-FFF2-40B4-BE49-F238E27FC236}">
                <a16:creationId xmlns:a16="http://schemas.microsoft.com/office/drawing/2014/main" id="{69EEF040-B2CD-423A-B010-6E49095E934A}"/>
              </a:ext>
            </a:extLst>
          </p:cNvPr>
          <p:cNvCxnSpPr/>
          <p:nvPr/>
        </p:nvCxnSpPr>
        <p:spPr bwMode="auto">
          <a:xfrm>
            <a:off x="4556956" y="4240324"/>
            <a:ext cx="864096" cy="139158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30">
            <a:extLst>
              <a:ext uri="{FF2B5EF4-FFF2-40B4-BE49-F238E27FC236}">
                <a16:creationId xmlns:a16="http://schemas.microsoft.com/office/drawing/2014/main" id="{AEBA2A6D-5061-4BAD-8869-C54B382262E2}"/>
              </a:ext>
            </a:extLst>
          </p:cNvPr>
          <p:cNvCxnSpPr/>
          <p:nvPr/>
        </p:nvCxnSpPr>
        <p:spPr bwMode="auto">
          <a:xfrm flipH="1">
            <a:off x="5421052" y="4936114"/>
            <a:ext cx="1008112" cy="69579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a:extLst>
              <a:ext uri="{FF2B5EF4-FFF2-40B4-BE49-F238E27FC236}">
                <a16:creationId xmlns:a16="http://schemas.microsoft.com/office/drawing/2014/main" id="{BC161C09-859C-4257-AD95-05CCD11ACD78}"/>
              </a:ext>
            </a:extLst>
          </p:cNvPr>
          <p:cNvCxnSpPr/>
          <p:nvPr/>
        </p:nvCxnSpPr>
        <p:spPr bwMode="auto">
          <a:xfrm>
            <a:off x="4556956" y="4200127"/>
            <a:ext cx="792088" cy="7200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36">
            <a:extLst>
              <a:ext uri="{FF2B5EF4-FFF2-40B4-BE49-F238E27FC236}">
                <a16:creationId xmlns:a16="http://schemas.microsoft.com/office/drawing/2014/main" id="{52C75E04-678F-4400-B6B0-582271E1DA65}"/>
              </a:ext>
            </a:extLst>
          </p:cNvPr>
          <p:cNvCxnSpPr/>
          <p:nvPr/>
        </p:nvCxnSpPr>
        <p:spPr bwMode="auto">
          <a:xfrm>
            <a:off x="5421052" y="4272136"/>
            <a:ext cx="1008112" cy="64807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箭头连接符 39">
            <a:extLst>
              <a:ext uri="{FF2B5EF4-FFF2-40B4-BE49-F238E27FC236}">
                <a16:creationId xmlns:a16="http://schemas.microsoft.com/office/drawing/2014/main" id="{6FE99C9E-AB53-46B1-93BD-BF158AF20C67}"/>
              </a:ext>
            </a:extLst>
          </p:cNvPr>
          <p:cNvCxnSpPr/>
          <p:nvPr/>
        </p:nvCxnSpPr>
        <p:spPr bwMode="auto">
          <a:xfrm flipV="1">
            <a:off x="5349044" y="4537233"/>
            <a:ext cx="1769008" cy="141398"/>
          </a:xfrm>
          <a:prstGeom prst="straightConnector1">
            <a:avLst/>
          </a:prstGeom>
          <a:solidFill>
            <a:schemeClr val="accent1"/>
          </a:solidFill>
          <a:ln w="38100"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箭头连接符 41">
            <a:extLst>
              <a:ext uri="{FF2B5EF4-FFF2-40B4-BE49-F238E27FC236}">
                <a16:creationId xmlns:a16="http://schemas.microsoft.com/office/drawing/2014/main" id="{BB12C98F-F7E9-4E7B-B47F-7EDE1AC0EDF8}"/>
              </a:ext>
            </a:extLst>
          </p:cNvPr>
          <p:cNvCxnSpPr/>
          <p:nvPr/>
        </p:nvCxnSpPr>
        <p:spPr bwMode="auto">
          <a:xfrm flipV="1">
            <a:off x="3044788" y="4678631"/>
            <a:ext cx="2304256" cy="260874"/>
          </a:xfrm>
          <a:prstGeom prst="straightConnector1">
            <a:avLst/>
          </a:prstGeom>
          <a:solidFill>
            <a:schemeClr val="accent1"/>
          </a:solidFill>
          <a:ln w="38100" cap="flat" cmpd="sng" algn="ctr">
            <a:solidFill>
              <a:srgbClr val="C00000"/>
            </a:solidFill>
            <a:prstDash val="sys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87768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arn(inVertical)">
                                      <p:cBhvr>
                                        <p:cTn id="18" dur="500"/>
                                        <p:tgtEl>
                                          <p:spTgt spid="9"/>
                                        </p:tgtEl>
                                      </p:cBhvr>
                                    </p:animEffect>
                                  </p:childTnLst>
                                </p:cTn>
                              </p:par>
                              <p:par>
                                <p:cTn id="19" presetID="16" presetClass="entr" presetSubtype="21"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arn(inVertical)">
                                      <p:cBhvr>
                                        <p:cTn id="21" dur="500"/>
                                        <p:tgtEl>
                                          <p:spTgt spid="10"/>
                                        </p:tgtEl>
                                      </p:cBhvr>
                                    </p:animEffect>
                                  </p:childTnLst>
                                </p:cTn>
                              </p:par>
                              <p:par>
                                <p:cTn id="22" presetID="16" presetClass="entr" presetSubtype="21"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par>
                                <p:cTn id="25" presetID="16" presetClass="entr" presetSubtype="21"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arn(inVertical)">
                                      <p:cBhvr>
                                        <p:cTn id="27" dur="500"/>
                                        <p:tgtEl>
                                          <p:spTgt spid="14"/>
                                        </p:tgtEl>
                                      </p:cBhvr>
                                    </p:animEffect>
                                  </p:childTnLst>
                                </p:cTn>
                              </p:par>
                              <p:par>
                                <p:cTn id="28" presetID="16" presetClass="entr" presetSubtype="21" fill="hold" nodeType="with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barn(inVertical)">
                                      <p:cBhvr>
                                        <p:cTn id="30" dur="500"/>
                                        <p:tgtEl>
                                          <p:spTgt spid="29"/>
                                        </p:tgtEl>
                                      </p:cBhvr>
                                    </p:animEffect>
                                  </p:childTnLst>
                                </p:cTn>
                              </p:par>
                              <p:par>
                                <p:cTn id="31" presetID="16" presetClass="entr" presetSubtype="21"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barn(inVertical)">
                                      <p:cBhvr>
                                        <p:cTn id="33" dur="500"/>
                                        <p:tgtEl>
                                          <p:spTgt spid="31"/>
                                        </p:tgtEl>
                                      </p:cBhvr>
                                    </p:animEffect>
                                  </p:childTnLst>
                                </p:cTn>
                              </p:par>
                              <p:par>
                                <p:cTn id="34" presetID="16" presetClass="entr" presetSubtype="21" fill="hold" nodeType="with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barn(inVertical)">
                                      <p:cBhvr>
                                        <p:cTn id="36" dur="500"/>
                                        <p:tgtEl>
                                          <p:spTgt spid="35"/>
                                        </p:tgtEl>
                                      </p:cBhvr>
                                    </p:animEffect>
                                  </p:childTnLst>
                                </p:cTn>
                              </p:par>
                              <p:par>
                                <p:cTn id="37" presetID="16" presetClass="entr" presetSubtype="21" fill="hold" nodeType="with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barn(inVertical)">
                                      <p:cBhvr>
                                        <p:cTn id="39" dur="500"/>
                                        <p:tgtEl>
                                          <p:spTgt spid="37"/>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 calcmode="lin" valueType="num">
                                      <p:cBhvr>
                                        <p:cTn id="44" dur="500" fill="hold"/>
                                        <p:tgtEl>
                                          <p:spTgt spid="42"/>
                                        </p:tgtEl>
                                        <p:attrNameLst>
                                          <p:attrName>ppt_w</p:attrName>
                                        </p:attrNameLst>
                                      </p:cBhvr>
                                      <p:tavLst>
                                        <p:tav tm="0">
                                          <p:val>
                                            <p:fltVal val="0"/>
                                          </p:val>
                                        </p:tav>
                                        <p:tav tm="100000">
                                          <p:val>
                                            <p:strVal val="#ppt_w"/>
                                          </p:val>
                                        </p:tav>
                                      </p:tavLst>
                                    </p:anim>
                                    <p:anim calcmode="lin" valueType="num">
                                      <p:cBhvr>
                                        <p:cTn id="45" dur="500" fill="hold"/>
                                        <p:tgtEl>
                                          <p:spTgt spid="42"/>
                                        </p:tgtEl>
                                        <p:attrNameLst>
                                          <p:attrName>ppt_h</p:attrName>
                                        </p:attrNameLst>
                                      </p:cBhvr>
                                      <p:tavLst>
                                        <p:tav tm="0">
                                          <p:val>
                                            <p:fltVal val="0"/>
                                          </p:val>
                                        </p:tav>
                                        <p:tav tm="100000">
                                          <p:val>
                                            <p:strVal val="#ppt_h"/>
                                          </p:val>
                                        </p:tav>
                                      </p:tavLst>
                                    </p:anim>
                                    <p:animEffect transition="in" filter="fade">
                                      <p:cBhvr>
                                        <p:cTn id="46" dur="500"/>
                                        <p:tgtEl>
                                          <p:spTgt spid="42"/>
                                        </p:tgtEl>
                                      </p:cBhvr>
                                    </p:animEffect>
                                  </p:childTnLst>
                                </p:cTn>
                              </p:par>
                              <p:par>
                                <p:cTn id="47" presetID="53" presetClass="entr" presetSubtype="16" fill="hold" nodeType="withEffect">
                                  <p:stCondLst>
                                    <p:cond delay="0"/>
                                  </p:stCondLst>
                                  <p:childTnLst>
                                    <p:set>
                                      <p:cBhvr>
                                        <p:cTn id="48" dur="1" fill="hold">
                                          <p:stCondLst>
                                            <p:cond delay="0"/>
                                          </p:stCondLst>
                                        </p:cTn>
                                        <p:tgtEl>
                                          <p:spTgt spid="40"/>
                                        </p:tgtEl>
                                        <p:attrNameLst>
                                          <p:attrName>style.visibility</p:attrName>
                                        </p:attrNameLst>
                                      </p:cBhvr>
                                      <p:to>
                                        <p:strVal val="visible"/>
                                      </p:to>
                                    </p:set>
                                    <p:anim calcmode="lin" valueType="num">
                                      <p:cBhvr>
                                        <p:cTn id="49" dur="500" fill="hold"/>
                                        <p:tgtEl>
                                          <p:spTgt spid="40"/>
                                        </p:tgtEl>
                                        <p:attrNameLst>
                                          <p:attrName>ppt_w</p:attrName>
                                        </p:attrNameLst>
                                      </p:cBhvr>
                                      <p:tavLst>
                                        <p:tav tm="0">
                                          <p:val>
                                            <p:fltVal val="0"/>
                                          </p:val>
                                        </p:tav>
                                        <p:tav tm="100000">
                                          <p:val>
                                            <p:strVal val="#ppt_w"/>
                                          </p:val>
                                        </p:tav>
                                      </p:tavLst>
                                    </p:anim>
                                    <p:anim calcmode="lin" valueType="num">
                                      <p:cBhvr>
                                        <p:cTn id="50" dur="500" fill="hold"/>
                                        <p:tgtEl>
                                          <p:spTgt spid="40"/>
                                        </p:tgtEl>
                                        <p:attrNameLst>
                                          <p:attrName>ppt_h</p:attrName>
                                        </p:attrNameLst>
                                      </p:cBhvr>
                                      <p:tavLst>
                                        <p:tav tm="0">
                                          <p:val>
                                            <p:fltVal val="0"/>
                                          </p:val>
                                        </p:tav>
                                        <p:tav tm="100000">
                                          <p:val>
                                            <p:strVal val="#ppt_h"/>
                                          </p:val>
                                        </p:tav>
                                      </p:tavLst>
                                    </p:anim>
                                    <p:animEffect transition="in" filter="fade">
                                      <p:cBhvr>
                                        <p:cTn id="5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9A11B-701C-4D44-A2B6-16330F720B72}"/>
              </a:ext>
            </a:extLst>
          </p:cNvPr>
          <p:cNvSpPr>
            <a:spLocks noGrp="1"/>
          </p:cNvSpPr>
          <p:nvPr>
            <p:ph type="title"/>
          </p:nvPr>
        </p:nvSpPr>
        <p:spPr/>
        <p:txBody>
          <a:bodyPr/>
          <a:lstStyle/>
          <a:p>
            <a:r>
              <a:rPr lang="zh-CN" altLang="en-US" dirty="0"/>
              <a:t>不等式约束的优化问题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766BF7B-AD36-440B-9FC8-1DC3A8948C8A}"/>
                  </a:ext>
                </a:extLst>
              </p:cNvPr>
              <p:cNvSpPr>
                <a:spLocks noGrp="1"/>
              </p:cNvSpPr>
              <p:nvPr>
                <p:ph idx="1"/>
              </p:nvPr>
            </p:nvSpPr>
            <p:spPr/>
            <p:txBody>
              <a:bodyPr/>
              <a:lstStyle/>
              <a:p>
                <a:r>
                  <a:rPr lang="zh-CN" altLang="en-US" dirty="0"/>
                  <a:t>例</a:t>
                </a:r>
                <a:r>
                  <a:rPr lang="en-US" altLang="zh-CN" dirty="0"/>
                  <a:t>4</a:t>
                </a:r>
                <a:r>
                  <a:rPr lang="en-US" altLang="zh-CN" dirty="0">
                    <a:sym typeface="Wingdings" panose="05000000000000000000" pitchFamily="2" charset="2"/>
                  </a:rPr>
                  <a:t>: (P28</a:t>
                </a:r>
                <a:r>
                  <a:rPr lang="zh-CN" altLang="en-US" dirty="0">
                    <a:sym typeface="Wingdings" panose="05000000000000000000" pitchFamily="2" charset="2"/>
                  </a:rPr>
                  <a:t>例</a:t>
                </a:r>
                <a:r>
                  <a:rPr lang="en-US" altLang="zh-CN" dirty="0">
                    <a:sym typeface="Wingdings" panose="05000000000000000000" pitchFamily="2" charset="2"/>
                  </a:rPr>
                  <a:t>2-7)</a:t>
                </a:r>
              </a:p>
              <a:p>
                <a:pPr lvl="1"/>
                <a:r>
                  <a:rPr lang="zh-CN" altLang="en-US" dirty="0">
                    <a:sym typeface="Wingdings" panose="05000000000000000000" pitchFamily="2" charset="2"/>
                  </a:rPr>
                  <a:t>判断点</a:t>
                </a:r>
                <a14:m>
                  <m:oMath xmlns:m="http://schemas.openxmlformats.org/officeDocument/2006/math">
                    <m:r>
                      <a:rPr lang="en-US" altLang="zh-CN" i="1" dirty="0" smtClean="0">
                        <a:latin typeface="Cambria Math" panose="02040503050406030204" pitchFamily="18" charset="0"/>
                        <a:sym typeface="Wingdings" panose="05000000000000000000" pitchFamily="2" charset="2"/>
                      </a:rPr>
                      <m:t>𝑋</m:t>
                    </m:r>
                    <m:r>
                      <a:rPr lang="en-US" altLang="zh-CN" i="1" baseline="30000" dirty="0" smtClean="0">
                        <a:latin typeface="Cambria Math" panose="02040503050406030204" pitchFamily="18" charset="0"/>
                        <a:sym typeface="Wingdings" panose="05000000000000000000" pitchFamily="2" charset="2"/>
                      </a:rPr>
                      <m:t>∗</m:t>
                    </m:r>
                    <m:r>
                      <a:rPr lang="en-US" altLang="zh-CN" i="1" dirty="0" smtClean="0">
                        <a:latin typeface="Cambria Math" panose="02040503050406030204" pitchFamily="18" charset="0"/>
                        <a:sym typeface="Wingdings" panose="05000000000000000000" pitchFamily="2" charset="2"/>
                      </a:rPr>
                      <m:t>=[2,0]</m:t>
                    </m:r>
                    <m:r>
                      <a:rPr lang="en-US" altLang="zh-CN" i="1" baseline="30000" dirty="0" smtClean="0">
                        <a:latin typeface="Cambria Math" panose="02040503050406030204" pitchFamily="18" charset="0"/>
                        <a:sym typeface="Wingdings" panose="05000000000000000000" pitchFamily="2" charset="2"/>
                      </a:rPr>
                      <m:t>𝑇</m:t>
                    </m:r>
                  </m:oMath>
                </a14:m>
                <a:r>
                  <a:rPr lang="zh-CN" altLang="en-US" dirty="0">
                    <a:sym typeface="Wingdings" panose="05000000000000000000" pitchFamily="2" charset="2"/>
                  </a:rPr>
                  <a:t>是否是下列优化问题的极值点</a:t>
                </a:r>
                <a:endParaRPr lang="zh-CN" altLang="en-US" dirty="0"/>
              </a:p>
            </p:txBody>
          </p:sp>
        </mc:Choice>
        <mc:Fallback xmlns="">
          <p:sp>
            <p:nvSpPr>
              <p:cNvPr id="3" name="内容占位符 2">
                <a:extLst>
                  <a:ext uri="{FF2B5EF4-FFF2-40B4-BE49-F238E27FC236}">
                    <a16:creationId xmlns:a16="http://schemas.microsoft.com/office/drawing/2014/main" id="{A766BF7B-AD36-440B-9FC8-1DC3A8948C8A}"/>
                  </a:ext>
                </a:extLst>
              </p:cNvPr>
              <p:cNvSpPr>
                <a:spLocks noGrp="1" noRot="1" noChangeAspect="1" noMove="1" noResize="1" noEditPoints="1" noAdjustHandles="1" noChangeArrowheads="1" noChangeShapeType="1" noTextEdit="1"/>
              </p:cNvSpPr>
              <p:nvPr>
                <p:ph idx="1"/>
              </p:nvPr>
            </p:nvSpPr>
            <p:spPr>
              <a:blipFill>
                <a:blip r:embed="rId3"/>
                <a:stretch>
                  <a:fillRect l="-1066" t="-2083"/>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094EDB99-B0D9-4A96-A017-CFCE695DC0BA}"/>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AAE1D8C9-56B3-46F6-B3A9-FC1ACD01AEF4}"/>
              </a:ext>
            </a:extLst>
          </p:cNvPr>
          <p:cNvSpPr>
            <a:spLocks noGrp="1"/>
          </p:cNvSpPr>
          <p:nvPr>
            <p:ph type="sldNum" sz="quarter" idx="12"/>
          </p:nvPr>
        </p:nvSpPr>
        <p:spPr/>
        <p:txBody>
          <a:bodyPr/>
          <a:lstStyle/>
          <a:p>
            <a:fld id="{7AC79822-BC0D-4DE8-A7E5-90A3732A2B82}" type="slidenum">
              <a:rPr lang="zh-CN" altLang="en-US" smtClean="0"/>
              <a:pPr/>
              <a:t>47</a:t>
            </a:fld>
            <a:endParaRPr lang="en-US" altLang="zh-CN" dirty="0"/>
          </a:p>
        </p:txBody>
      </p:sp>
      <p:graphicFrame>
        <p:nvGraphicFramePr>
          <p:cNvPr id="6" name="对象 5">
            <a:extLst>
              <a:ext uri="{FF2B5EF4-FFF2-40B4-BE49-F238E27FC236}">
                <a16:creationId xmlns:a16="http://schemas.microsoft.com/office/drawing/2014/main" id="{94CB9BB5-DE9F-4676-B64B-6F6D801C07F0}"/>
              </a:ext>
            </a:extLst>
          </p:cNvPr>
          <p:cNvGraphicFramePr>
            <a:graphicFrameLocks noChangeAspect="1"/>
          </p:cNvGraphicFramePr>
          <p:nvPr>
            <p:extLst>
              <p:ext uri="{D42A27DB-BD31-4B8C-83A1-F6EECF244321}">
                <p14:modId xmlns:p14="http://schemas.microsoft.com/office/powerpoint/2010/main" val="3118932961"/>
              </p:ext>
            </p:extLst>
          </p:nvPr>
        </p:nvGraphicFramePr>
        <p:xfrm>
          <a:off x="2288704" y="2636912"/>
          <a:ext cx="3979390" cy="2160240"/>
        </p:xfrm>
        <a:graphic>
          <a:graphicData uri="http://schemas.openxmlformats.org/presentationml/2006/ole">
            <mc:AlternateContent xmlns:mc="http://schemas.openxmlformats.org/markup-compatibility/2006">
              <mc:Choice xmlns:v="urn:schemas-microsoft-com:vml" Requires="v">
                <p:oleObj name="Equation" r:id="rId4" imgW="1333440" imgH="723600" progId="Equation.DSMT4">
                  <p:embed/>
                </p:oleObj>
              </mc:Choice>
              <mc:Fallback>
                <p:oleObj name="Equation" r:id="rId4" imgW="1333440" imgH="723600" progId="Equation.DSMT4">
                  <p:embed/>
                  <p:pic>
                    <p:nvPicPr>
                      <p:cNvPr id="0" name=""/>
                      <p:cNvPicPr/>
                      <p:nvPr/>
                    </p:nvPicPr>
                    <p:blipFill>
                      <a:blip r:embed="rId5"/>
                      <a:stretch>
                        <a:fillRect/>
                      </a:stretch>
                    </p:blipFill>
                    <p:spPr>
                      <a:xfrm>
                        <a:off x="2288704" y="2636912"/>
                        <a:ext cx="3979390" cy="2160240"/>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1DDDE84D-0322-46AD-BE7F-62FC36C24004}"/>
              </a:ext>
            </a:extLst>
          </p:cNvPr>
          <p:cNvSpPr txBox="1"/>
          <p:nvPr/>
        </p:nvSpPr>
        <p:spPr>
          <a:xfrm>
            <a:off x="1864719" y="4797152"/>
            <a:ext cx="3865161" cy="1631216"/>
          </a:xfrm>
          <a:prstGeom prst="rect">
            <a:avLst/>
          </a:prstGeom>
          <a:noFill/>
        </p:spPr>
        <p:txBody>
          <a:bodyPr wrap="none" rtlCol="0">
            <a:spAutoFit/>
          </a:bodyPr>
          <a:lstStyle/>
          <a:p>
            <a:r>
              <a:rPr lang="zh-CN" altLang="en-US" sz="2000" dirty="0"/>
              <a:t>解题思路：</a:t>
            </a:r>
            <a:endParaRPr lang="en-US" altLang="zh-CN" sz="2000" dirty="0"/>
          </a:p>
          <a:p>
            <a:pPr marL="342900" indent="-342900">
              <a:buFont typeface="+mj-ea"/>
              <a:buAutoNum type="circleNumDbPlain"/>
            </a:pPr>
            <a:r>
              <a:rPr lang="zh-CN" altLang="en-US" sz="2000" dirty="0"/>
              <a:t>证明该优化问题属于凸规划</a:t>
            </a:r>
            <a:endParaRPr lang="en-US" altLang="zh-CN" sz="2000" dirty="0"/>
          </a:p>
          <a:p>
            <a:pPr marL="342900" indent="-342900">
              <a:buFont typeface="+mj-ea"/>
              <a:buAutoNum type="circleNumDbPlain"/>
            </a:pPr>
            <a:r>
              <a:rPr lang="zh-CN" altLang="en-US" sz="2000" dirty="0"/>
              <a:t>找到起作用的约束</a:t>
            </a:r>
            <a:endParaRPr lang="en-US" altLang="zh-CN" sz="2000" dirty="0"/>
          </a:p>
          <a:p>
            <a:pPr marL="342900" indent="-342900">
              <a:buFont typeface="+mj-ea"/>
              <a:buAutoNum type="circleNumDbPlain"/>
            </a:pPr>
            <a:r>
              <a:rPr lang="zh-CN" altLang="en-US" sz="2000" dirty="0"/>
              <a:t>求目标函数和约束函数的梯度</a:t>
            </a:r>
            <a:endParaRPr lang="en-US" altLang="zh-CN" sz="2000" dirty="0"/>
          </a:p>
          <a:p>
            <a:pPr marL="342900" indent="-342900">
              <a:buFont typeface="+mj-ea"/>
              <a:buAutoNum type="circleNumDbPlain"/>
            </a:pPr>
            <a:r>
              <a:rPr lang="zh-CN" altLang="en-US" sz="2000" dirty="0"/>
              <a:t>带入</a:t>
            </a:r>
            <a:r>
              <a:rPr lang="en-US" altLang="zh-CN" sz="2000" dirty="0"/>
              <a:t>K-T</a:t>
            </a:r>
            <a:r>
              <a:rPr lang="zh-CN" altLang="en-US" sz="2000" dirty="0"/>
              <a:t>条件进行判断</a:t>
            </a:r>
          </a:p>
        </p:txBody>
      </p:sp>
    </p:spTree>
    <p:extLst>
      <p:ext uri="{BB962C8B-B14F-4D97-AF65-F5344CB8AC3E}">
        <p14:creationId xmlns:p14="http://schemas.microsoft.com/office/powerpoint/2010/main" val="744147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childTnLst>
                          </p:cTn>
                        </p:par>
                        <p:par>
                          <p:cTn id="11" fill="hold">
                            <p:stCondLst>
                              <p:cond delay="500"/>
                            </p:stCondLst>
                            <p:childTnLst>
                              <p:par>
                                <p:cTn id="12" presetID="16" presetClass="entr" presetSubtype="21"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inVertical)">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6B01DA-3120-4CD5-BDDD-FFF5E73CBD80}"/>
              </a:ext>
            </a:extLst>
          </p:cNvPr>
          <p:cNvSpPr>
            <a:spLocks noGrp="1"/>
          </p:cNvSpPr>
          <p:nvPr>
            <p:ph type="title"/>
          </p:nvPr>
        </p:nvSpPr>
        <p:spPr/>
        <p:txBody>
          <a:bodyPr/>
          <a:lstStyle/>
          <a:p>
            <a:r>
              <a:rPr lang="zh-CN" altLang="en-US" dirty="0"/>
              <a:t>例</a:t>
            </a:r>
            <a:r>
              <a:rPr lang="en-US" altLang="zh-CN" dirty="0"/>
              <a:t>4</a:t>
            </a:r>
            <a:r>
              <a:rPr lang="zh-CN" altLang="en-US" dirty="0"/>
              <a:t>：解</a:t>
            </a:r>
          </a:p>
        </p:txBody>
      </p:sp>
      <p:sp>
        <p:nvSpPr>
          <p:cNvPr id="3" name="内容占位符 2">
            <a:extLst>
              <a:ext uri="{FF2B5EF4-FFF2-40B4-BE49-F238E27FC236}">
                <a16:creationId xmlns:a16="http://schemas.microsoft.com/office/drawing/2014/main" id="{294748C7-01E3-4F04-8DFD-38194CBA8450}"/>
              </a:ext>
            </a:extLst>
          </p:cNvPr>
          <p:cNvSpPr>
            <a:spLocks noGrp="1"/>
          </p:cNvSpPr>
          <p:nvPr>
            <p:ph idx="1"/>
          </p:nvPr>
        </p:nvSpPr>
        <p:spPr/>
        <p:txBody>
          <a:bodyPr/>
          <a:lstStyle/>
          <a:p>
            <a:r>
              <a:rPr lang="zh-CN" altLang="en-US" dirty="0"/>
              <a:t>证明该问题是凸规划</a:t>
            </a:r>
          </a:p>
        </p:txBody>
      </p:sp>
      <p:sp>
        <p:nvSpPr>
          <p:cNvPr id="4" name="日期占位符 3">
            <a:extLst>
              <a:ext uri="{FF2B5EF4-FFF2-40B4-BE49-F238E27FC236}">
                <a16:creationId xmlns:a16="http://schemas.microsoft.com/office/drawing/2014/main" id="{F71001DB-C2E3-4F61-9A63-8E9F8825BD78}"/>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CA372851-429F-4863-9807-FCAA8A81C7E3}"/>
              </a:ext>
            </a:extLst>
          </p:cNvPr>
          <p:cNvSpPr>
            <a:spLocks noGrp="1"/>
          </p:cNvSpPr>
          <p:nvPr>
            <p:ph type="sldNum" sz="quarter" idx="12"/>
          </p:nvPr>
        </p:nvSpPr>
        <p:spPr/>
        <p:txBody>
          <a:bodyPr/>
          <a:lstStyle/>
          <a:p>
            <a:fld id="{7AC79822-BC0D-4DE8-A7E5-90A3732A2B82}" type="slidenum">
              <a:rPr lang="zh-CN" altLang="en-US" smtClean="0"/>
              <a:pPr/>
              <a:t>48</a:t>
            </a:fld>
            <a:endParaRPr lang="en-US" altLang="zh-CN" dirty="0"/>
          </a:p>
        </p:txBody>
      </p:sp>
      <p:sp>
        <p:nvSpPr>
          <p:cNvPr id="7" name="文本框 6">
            <a:extLst>
              <a:ext uri="{FF2B5EF4-FFF2-40B4-BE49-F238E27FC236}">
                <a16:creationId xmlns:a16="http://schemas.microsoft.com/office/drawing/2014/main" id="{B3A6AEAD-47AE-4CE5-AA0D-4EA2B9768495}"/>
              </a:ext>
            </a:extLst>
          </p:cNvPr>
          <p:cNvSpPr txBox="1"/>
          <p:nvPr/>
        </p:nvSpPr>
        <p:spPr>
          <a:xfrm>
            <a:off x="776536" y="1997978"/>
            <a:ext cx="6955750" cy="461665"/>
          </a:xfrm>
          <a:prstGeom prst="rect">
            <a:avLst/>
          </a:prstGeom>
          <a:noFill/>
        </p:spPr>
        <p:txBody>
          <a:bodyPr wrap="none" rtlCol="0">
            <a:spAutoFit/>
          </a:bodyPr>
          <a:lstStyle/>
          <a:p>
            <a:r>
              <a:rPr lang="zh-CN" altLang="en-US" sz="2400" dirty="0"/>
              <a:t>分别验证目标函数和约束条件函数是否是凸函数：</a:t>
            </a:r>
          </a:p>
        </p:txBody>
      </p:sp>
      <p:graphicFrame>
        <p:nvGraphicFramePr>
          <p:cNvPr id="13" name="对象 12">
            <a:extLst>
              <a:ext uri="{FF2B5EF4-FFF2-40B4-BE49-F238E27FC236}">
                <a16:creationId xmlns:a16="http://schemas.microsoft.com/office/drawing/2014/main" id="{29DC6212-366F-42D0-A15F-D2A04C7DB2DF}"/>
              </a:ext>
            </a:extLst>
          </p:cNvPr>
          <p:cNvGraphicFramePr>
            <a:graphicFrameLocks noChangeAspect="1"/>
          </p:cNvGraphicFramePr>
          <p:nvPr/>
        </p:nvGraphicFramePr>
        <p:xfrm>
          <a:off x="5421296" y="16483"/>
          <a:ext cx="3708168" cy="2013005"/>
        </p:xfrm>
        <a:graphic>
          <a:graphicData uri="http://schemas.openxmlformats.org/presentationml/2006/ole">
            <mc:AlternateContent xmlns:mc="http://schemas.openxmlformats.org/markup-compatibility/2006">
              <mc:Choice xmlns:v="urn:schemas-microsoft-com:vml" Requires="v">
                <p:oleObj name="Equation" r:id="rId2" imgW="1333440" imgH="723600" progId="Equation.DSMT4">
                  <p:embed/>
                </p:oleObj>
              </mc:Choice>
              <mc:Fallback>
                <p:oleObj name="Equation" r:id="rId2" imgW="1333440" imgH="723600" progId="Equation.DSMT4">
                  <p:embed/>
                  <p:pic>
                    <p:nvPicPr>
                      <p:cNvPr id="13" name="对象 12">
                        <a:extLst>
                          <a:ext uri="{FF2B5EF4-FFF2-40B4-BE49-F238E27FC236}">
                            <a16:creationId xmlns:a16="http://schemas.microsoft.com/office/drawing/2014/main" id="{29DC6212-366F-42D0-A15F-D2A04C7DB2DF}"/>
                          </a:ext>
                        </a:extLst>
                      </p:cNvPr>
                      <p:cNvPicPr/>
                      <p:nvPr/>
                    </p:nvPicPr>
                    <p:blipFill>
                      <a:blip r:embed="rId3"/>
                      <a:stretch>
                        <a:fillRect/>
                      </a:stretch>
                    </p:blipFill>
                    <p:spPr>
                      <a:xfrm>
                        <a:off x="5421296" y="16483"/>
                        <a:ext cx="3708168" cy="2013005"/>
                      </a:xfrm>
                      <a:prstGeom prst="rect">
                        <a:avLst/>
                      </a:prstGeom>
                      <a:solidFill>
                        <a:schemeClr val="bg1"/>
                      </a:solidFill>
                      <a:ln>
                        <a:solidFill>
                          <a:schemeClr val="tx1"/>
                        </a:solidFill>
                      </a:ln>
                    </p:spPr>
                  </p:pic>
                </p:oleObj>
              </mc:Fallback>
            </mc:AlternateContent>
          </a:graphicData>
        </a:graphic>
      </p:graphicFrame>
      <p:graphicFrame>
        <p:nvGraphicFramePr>
          <p:cNvPr id="14" name="对象 13">
            <a:extLst>
              <a:ext uri="{FF2B5EF4-FFF2-40B4-BE49-F238E27FC236}">
                <a16:creationId xmlns:a16="http://schemas.microsoft.com/office/drawing/2014/main" id="{7C1A112E-1E53-4F0D-AB14-9EAF8A5D7FAE}"/>
              </a:ext>
            </a:extLst>
          </p:cNvPr>
          <p:cNvGraphicFramePr>
            <a:graphicFrameLocks noChangeAspect="1"/>
          </p:cNvGraphicFramePr>
          <p:nvPr>
            <p:extLst>
              <p:ext uri="{D42A27DB-BD31-4B8C-83A1-F6EECF244321}">
                <p14:modId xmlns:p14="http://schemas.microsoft.com/office/powerpoint/2010/main" val="1887121154"/>
              </p:ext>
            </p:extLst>
          </p:nvPr>
        </p:nvGraphicFramePr>
        <p:xfrm>
          <a:off x="94747" y="2530195"/>
          <a:ext cx="9716506" cy="3633652"/>
        </p:xfrm>
        <a:graphic>
          <a:graphicData uri="http://schemas.openxmlformats.org/presentationml/2006/ole">
            <mc:AlternateContent xmlns:mc="http://schemas.openxmlformats.org/markup-compatibility/2006">
              <mc:Choice xmlns:v="urn:schemas-microsoft-com:vml" Requires="v">
                <p:oleObj name="Equation" r:id="rId4" imgW="5092560" imgH="1904760" progId="Equation.DSMT4">
                  <p:embed/>
                </p:oleObj>
              </mc:Choice>
              <mc:Fallback>
                <p:oleObj name="Equation" r:id="rId4" imgW="5092560" imgH="1904760" progId="Equation.DSMT4">
                  <p:embed/>
                  <p:pic>
                    <p:nvPicPr>
                      <p:cNvPr id="10" name="对象 9">
                        <a:extLst>
                          <a:ext uri="{FF2B5EF4-FFF2-40B4-BE49-F238E27FC236}">
                            <a16:creationId xmlns:a16="http://schemas.microsoft.com/office/drawing/2014/main" id="{39862D8D-5021-47A1-8589-FC60A12DE7BF}"/>
                          </a:ext>
                        </a:extLst>
                      </p:cNvPr>
                      <p:cNvPicPr/>
                      <p:nvPr/>
                    </p:nvPicPr>
                    <p:blipFill>
                      <a:blip r:embed="rId5"/>
                      <a:stretch>
                        <a:fillRect/>
                      </a:stretch>
                    </p:blipFill>
                    <p:spPr>
                      <a:xfrm>
                        <a:off x="94747" y="2530195"/>
                        <a:ext cx="9716506" cy="3633652"/>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EE1EFA19-4619-4B21-B8E2-5CD57174AC1F}"/>
              </a:ext>
            </a:extLst>
          </p:cNvPr>
          <p:cNvSpPr txBox="1"/>
          <p:nvPr/>
        </p:nvSpPr>
        <p:spPr>
          <a:xfrm>
            <a:off x="4593554" y="5798703"/>
            <a:ext cx="800219" cy="461665"/>
          </a:xfrm>
          <a:prstGeom prst="rect">
            <a:avLst/>
          </a:prstGeom>
          <a:noFill/>
        </p:spPr>
        <p:txBody>
          <a:bodyPr wrap="none" rtlCol="0">
            <a:spAutoFit/>
          </a:bodyPr>
          <a:lstStyle/>
          <a:p>
            <a:r>
              <a:rPr lang="zh-CN" altLang="en-US" sz="2400" dirty="0">
                <a:solidFill>
                  <a:srgbClr val="FF0000"/>
                </a:solidFill>
              </a:rPr>
              <a:t>正定</a:t>
            </a:r>
          </a:p>
        </p:txBody>
      </p:sp>
      <p:sp>
        <p:nvSpPr>
          <p:cNvPr id="15" name="文本框 14">
            <a:extLst>
              <a:ext uri="{FF2B5EF4-FFF2-40B4-BE49-F238E27FC236}">
                <a16:creationId xmlns:a16="http://schemas.microsoft.com/office/drawing/2014/main" id="{35D8F1FB-4802-400F-A87F-CFADDC667DE7}"/>
              </a:ext>
            </a:extLst>
          </p:cNvPr>
          <p:cNvSpPr txBox="1"/>
          <p:nvPr/>
        </p:nvSpPr>
        <p:spPr>
          <a:xfrm>
            <a:off x="8739959" y="5798702"/>
            <a:ext cx="1107996" cy="461665"/>
          </a:xfrm>
          <a:prstGeom prst="rect">
            <a:avLst/>
          </a:prstGeom>
          <a:noFill/>
        </p:spPr>
        <p:txBody>
          <a:bodyPr wrap="none" rtlCol="0">
            <a:spAutoFit/>
          </a:bodyPr>
          <a:lstStyle/>
          <a:p>
            <a:r>
              <a:rPr lang="zh-CN" altLang="en-US" sz="2400" dirty="0">
                <a:solidFill>
                  <a:srgbClr val="FF0000"/>
                </a:solidFill>
              </a:rPr>
              <a:t>半正定</a:t>
            </a:r>
          </a:p>
        </p:txBody>
      </p:sp>
      <p:sp>
        <p:nvSpPr>
          <p:cNvPr id="8" name="矩形 7">
            <a:extLst>
              <a:ext uri="{FF2B5EF4-FFF2-40B4-BE49-F238E27FC236}">
                <a16:creationId xmlns:a16="http://schemas.microsoft.com/office/drawing/2014/main" id="{A1CB0994-58D9-4307-8705-361B520BBF72}"/>
              </a:ext>
            </a:extLst>
          </p:cNvPr>
          <p:cNvSpPr/>
          <p:nvPr/>
        </p:nvSpPr>
        <p:spPr bwMode="auto">
          <a:xfrm>
            <a:off x="4993663" y="2530195"/>
            <a:ext cx="4176464" cy="1634981"/>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2400" dirty="0"/>
              <a:t>f</a:t>
            </a:r>
            <a:r>
              <a:rPr kumimoji="0" lang="en-US" altLang="zh-CN" sz="2400" b="0" i="0" u="none" strike="noStrike" cap="none" normalizeH="0" baseline="0" dirty="0">
                <a:ln>
                  <a:noFill/>
                </a:ln>
                <a:solidFill>
                  <a:schemeClr val="tx1"/>
                </a:solidFill>
                <a:effectLst/>
                <a:latin typeface="Arial" charset="0"/>
              </a:rPr>
              <a:t>(X)</a:t>
            </a:r>
            <a:r>
              <a:rPr kumimoji="0" lang="zh-CN" altLang="en-US" sz="2400" b="0" i="0" u="none" strike="noStrike" cap="none" normalizeH="0" baseline="0" dirty="0">
                <a:ln>
                  <a:noFill/>
                </a:ln>
                <a:solidFill>
                  <a:schemeClr val="tx1"/>
                </a:solidFill>
                <a:effectLst/>
                <a:latin typeface="Arial" charset="0"/>
              </a:rPr>
              <a:t>和</a:t>
            </a:r>
            <a:r>
              <a:rPr kumimoji="0" lang="en-US" altLang="zh-CN" sz="2400" b="0" i="0" u="none" strike="noStrike" cap="none" normalizeH="0" baseline="0" dirty="0">
                <a:ln>
                  <a:noFill/>
                </a:ln>
                <a:solidFill>
                  <a:schemeClr val="tx1"/>
                </a:solidFill>
                <a:effectLst/>
                <a:latin typeface="Arial" charset="0"/>
              </a:rPr>
              <a:t>g1(X)</a:t>
            </a:r>
            <a:r>
              <a:rPr lang="zh-CN" altLang="en-US" sz="2400" dirty="0"/>
              <a:t>都是凸函数</a:t>
            </a:r>
            <a:endParaRPr lang="en-US" altLang="zh-CN" sz="2400" dirty="0"/>
          </a:p>
          <a:p>
            <a:pPr marL="0" marR="0" indent="0" algn="l" defTabSz="914400" rtl="0" eaLnBrk="0" fontAlgn="base" latinLnBrk="0" hangingPunct="0">
              <a:lnSpc>
                <a:spcPct val="100000"/>
              </a:lnSpc>
              <a:spcBef>
                <a:spcPct val="0"/>
              </a:spcBef>
              <a:spcAft>
                <a:spcPct val="0"/>
              </a:spcAft>
              <a:buClrTx/>
              <a:buSzTx/>
              <a:buFontTx/>
              <a:buNone/>
              <a:tabLst/>
            </a:pPr>
            <a:r>
              <a:rPr lang="zh-CN" altLang="en-US" sz="2400" dirty="0"/>
              <a:t>且</a:t>
            </a:r>
            <a:r>
              <a:rPr lang="en-US" altLang="zh-CN" sz="2400" dirty="0"/>
              <a:t>g2(X)</a:t>
            </a:r>
            <a:r>
              <a:rPr lang="zh-CN" altLang="en-US" sz="2400" dirty="0"/>
              <a:t>和</a:t>
            </a:r>
            <a:r>
              <a:rPr lang="en-US" altLang="zh-CN" sz="2400" dirty="0"/>
              <a:t>g3(X)</a:t>
            </a:r>
            <a:r>
              <a:rPr lang="zh-CN" altLang="en-US" sz="2400" dirty="0"/>
              <a:t>都是线性函数，也是凸函数。因此该问题是一个凸规划</a:t>
            </a:r>
            <a:endParaRPr kumimoji="0" lang="zh-CN" altLang="en-US" sz="2400" b="0" i="0" u="none" strike="noStrike" cap="none" normalizeH="0" baseline="0" dirty="0">
              <a:ln>
                <a:noFill/>
              </a:ln>
              <a:solidFill>
                <a:schemeClr val="tx1"/>
              </a:solidFill>
              <a:effectLst/>
              <a:latin typeface="Arial" charset="0"/>
            </a:endParaRPr>
          </a:p>
        </p:txBody>
      </p:sp>
    </p:spTree>
    <p:extLst>
      <p:ext uri="{BB962C8B-B14F-4D97-AF65-F5344CB8AC3E}">
        <p14:creationId xmlns:p14="http://schemas.microsoft.com/office/powerpoint/2010/main" val="222601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arn(inVertic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par>
                          <p:cTn id="18" fill="hold">
                            <p:stCondLst>
                              <p:cond delay="500"/>
                            </p:stCondLst>
                            <p:childTnLst>
                              <p:par>
                                <p:cTn id="19" presetID="22" presetClass="entr" presetSubtype="4"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down)">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down)">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15" grpId="0"/>
      <p:bldP spid="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6B01DA-3120-4CD5-BDDD-FFF5E73CBD80}"/>
              </a:ext>
            </a:extLst>
          </p:cNvPr>
          <p:cNvSpPr>
            <a:spLocks noGrp="1"/>
          </p:cNvSpPr>
          <p:nvPr>
            <p:ph type="title"/>
          </p:nvPr>
        </p:nvSpPr>
        <p:spPr/>
        <p:txBody>
          <a:bodyPr/>
          <a:lstStyle/>
          <a:p>
            <a:r>
              <a:rPr lang="zh-CN" altLang="en-US" dirty="0"/>
              <a:t>例</a:t>
            </a:r>
            <a:r>
              <a:rPr lang="en-US" altLang="zh-CN" dirty="0"/>
              <a:t>4</a:t>
            </a:r>
            <a:r>
              <a:rPr lang="zh-CN" altLang="en-US" dirty="0"/>
              <a:t>：解</a:t>
            </a:r>
          </a:p>
        </p:txBody>
      </p:sp>
      <p:sp>
        <p:nvSpPr>
          <p:cNvPr id="3" name="内容占位符 2">
            <a:extLst>
              <a:ext uri="{FF2B5EF4-FFF2-40B4-BE49-F238E27FC236}">
                <a16:creationId xmlns:a16="http://schemas.microsoft.com/office/drawing/2014/main" id="{294748C7-01E3-4F04-8DFD-38194CBA8450}"/>
              </a:ext>
            </a:extLst>
          </p:cNvPr>
          <p:cNvSpPr>
            <a:spLocks noGrp="1"/>
          </p:cNvSpPr>
          <p:nvPr>
            <p:ph idx="1"/>
          </p:nvPr>
        </p:nvSpPr>
        <p:spPr/>
        <p:txBody>
          <a:bodyPr/>
          <a:lstStyle/>
          <a:p>
            <a:r>
              <a:rPr lang="zh-CN" altLang="en-US" dirty="0"/>
              <a:t>找到起作用的约束</a:t>
            </a:r>
          </a:p>
        </p:txBody>
      </p:sp>
      <p:sp>
        <p:nvSpPr>
          <p:cNvPr id="4" name="日期占位符 3">
            <a:extLst>
              <a:ext uri="{FF2B5EF4-FFF2-40B4-BE49-F238E27FC236}">
                <a16:creationId xmlns:a16="http://schemas.microsoft.com/office/drawing/2014/main" id="{F71001DB-C2E3-4F61-9A63-8E9F8825BD78}"/>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CA372851-429F-4863-9807-FCAA8A81C7E3}"/>
              </a:ext>
            </a:extLst>
          </p:cNvPr>
          <p:cNvSpPr>
            <a:spLocks noGrp="1"/>
          </p:cNvSpPr>
          <p:nvPr>
            <p:ph type="sldNum" sz="quarter" idx="12"/>
          </p:nvPr>
        </p:nvSpPr>
        <p:spPr/>
        <p:txBody>
          <a:bodyPr/>
          <a:lstStyle/>
          <a:p>
            <a:fld id="{7AC79822-BC0D-4DE8-A7E5-90A3732A2B82}" type="slidenum">
              <a:rPr lang="zh-CN" altLang="en-US" smtClean="0"/>
              <a:pPr/>
              <a:t>49</a:t>
            </a:fld>
            <a:endParaRPr lang="en-US" altLang="zh-CN"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B3A6AEAD-47AE-4CE5-AA0D-4EA2B9768495}"/>
                  </a:ext>
                </a:extLst>
              </p:cNvPr>
              <p:cNvSpPr txBox="1"/>
              <p:nvPr/>
            </p:nvSpPr>
            <p:spPr>
              <a:xfrm>
                <a:off x="776536" y="1997978"/>
                <a:ext cx="6675354" cy="486672"/>
              </a:xfrm>
              <a:prstGeom prst="rect">
                <a:avLst/>
              </a:prstGeom>
              <a:noFill/>
            </p:spPr>
            <p:txBody>
              <a:bodyPr wrap="none" rtlCol="0">
                <a:spAutoFit/>
              </a:bodyPr>
              <a:lstStyle/>
              <a:p>
                <a:r>
                  <a:rPr lang="zh-CN" altLang="en-US" sz="2400" dirty="0"/>
                  <a:t>将</a:t>
                </a:r>
                <a14:m>
                  <m:oMath xmlns:m="http://schemas.openxmlformats.org/officeDocument/2006/math">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𝑋</m:t>
                        </m:r>
                      </m:e>
                      <m:sup>
                        <m:d>
                          <m:dPr>
                            <m:ctrlPr>
                              <a:rPr lang="zh-CN" altLang="en-US" sz="2400" i="1">
                                <a:latin typeface="Cambria Math" panose="02040503050406030204" pitchFamily="18" charset="0"/>
                              </a:rPr>
                            </m:ctrlPr>
                          </m:dPr>
                          <m:e>
                            <m:r>
                              <m:rPr>
                                <m:nor/>
                              </m:rPr>
                              <a:rPr lang="zh-CN" altLang="en-US" sz="2400" i="1">
                                <a:latin typeface="Cambria Math" panose="02040503050406030204" pitchFamily="18" charset="0"/>
                              </a:rPr>
                              <m:t>∗</m:t>
                            </m:r>
                          </m:e>
                        </m:d>
                      </m:sup>
                    </m:sSup>
                    <m:r>
                      <m:rPr>
                        <m:nor/>
                      </m:rPr>
                      <a:rPr lang="zh-CN" altLang="en-US" sz="2400" i="1">
                        <a:latin typeface="Cambria Math" panose="02040503050406030204" pitchFamily="18" charset="0"/>
                      </a:rPr>
                      <m:t>=</m:t>
                    </m:r>
                    <m:sSup>
                      <m:sSupPr>
                        <m:ctrlPr>
                          <a:rPr lang="zh-CN" altLang="en-US" sz="2400" i="1">
                            <a:latin typeface="Cambria Math" panose="02040503050406030204" pitchFamily="18" charset="0"/>
                          </a:rPr>
                        </m:ctrlPr>
                      </m:sSupPr>
                      <m:e>
                        <m:d>
                          <m:dPr>
                            <m:begChr m:val="["/>
                            <m:endChr m:val="]"/>
                            <m:ctrlPr>
                              <a:rPr lang="zh-CN" altLang="en-US" sz="2400" i="1">
                                <a:latin typeface="Cambria Math" panose="02040503050406030204" pitchFamily="18" charset="0"/>
                              </a:rPr>
                            </m:ctrlPr>
                          </m:dPr>
                          <m:e>
                            <m:r>
                              <a:rPr lang="zh-CN" altLang="en-US" sz="2400">
                                <a:latin typeface="Cambria Math" panose="02040503050406030204" pitchFamily="18" charset="0"/>
                              </a:rPr>
                              <m:t>2,0</m:t>
                            </m:r>
                          </m:e>
                        </m:d>
                      </m:e>
                      <m:sup>
                        <m:r>
                          <a:rPr lang="zh-CN" altLang="en-US" sz="2400" i="1">
                            <a:latin typeface="Cambria Math" panose="02040503050406030204" pitchFamily="18" charset="0"/>
                          </a:rPr>
                          <m:t>𝑇</m:t>
                        </m:r>
                      </m:sup>
                    </m:sSup>
                  </m:oMath>
                </a14:m>
                <a:r>
                  <a:rPr lang="zh-CN" altLang="en-US" sz="2400" dirty="0"/>
                  <a:t>分别代入到三个约束条件函数中：</a:t>
                </a:r>
              </a:p>
            </p:txBody>
          </p:sp>
        </mc:Choice>
        <mc:Fallback xmlns="">
          <p:sp>
            <p:nvSpPr>
              <p:cNvPr id="7" name="文本框 6">
                <a:extLst>
                  <a:ext uri="{FF2B5EF4-FFF2-40B4-BE49-F238E27FC236}">
                    <a16:creationId xmlns:a16="http://schemas.microsoft.com/office/drawing/2014/main" id="{B3A6AEAD-47AE-4CE5-AA0D-4EA2B9768495}"/>
                  </a:ext>
                </a:extLst>
              </p:cNvPr>
              <p:cNvSpPr txBox="1">
                <a:spLocks noRot="1" noChangeAspect="1" noMove="1" noResize="1" noEditPoints="1" noAdjustHandles="1" noChangeArrowheads="1" noChangeShapeType="1" noTextEdit="1"/>
              </p:cNvSpPr>
              <p:nvPr/>
            </p:nvSpPr>
            <p:spPr>
              <a:xfrm>
                <a:off x="776536" y="1997978"/>
                <a:ext cx="6675354" cy="486672"/>
              </a:xfrm>
              <a:prstGeom prst="rect">
                <a:avLst/>
              </a:prstGeom>
              <a:blipFill>
                <a:blip r:embed="rId3"/>
                <a:stretch>
                  <a:fillRect l="-1370" t="-5000" r="-457" b="-27500"/>
                </a:stretch>
              </a:blipFill>
            </p:spPr>
            <p:txBody>
              <a:bodyPr/>
              <a:lstStyle/>
              <a:p>
                <a:r>
                  <a:rPr lang="zh-CN" altLang="en-US">
                    <a:noFill/>
                  </a:rPr>
                  <a:t> </a:t>
                </a:r>
              </a:p>
            </p:txBody>
          </p:sp>
        </mc:Fallback>
      </mc:AlternateContent>
      <p:graphicFrame>
        <p:nvGraphicFramePr>
          <p:cNvPr id="9" name="对象 8">
            <a:extLst>
              <a:ext uri="{FF2B5EF4-FFF2-40B4-BE49-F238E27FC236}">
                <a16:creationId xmlns:a16="http://schemas.microsoft.com/office/drawing/2014/main" id="{F6EAF006-9A2F-4F6D-AB18-83A5B09FCA49}"/>
              </a:ext>
            </a:extLst>
          </p:cNvPr>
          <p:cNvGraphicFramePr>
            <a:graphicFrameLocks noChangeAspect="1"/>
          </p:cNvGraphicFramePr>
          <p:nvPr>
            <p:extLst>
              <p:ext uri="{D42A27DB-BD31-4B8C-83A1-F6EECF244321}">
                <p14:modId xmlns:p14="http://schemas.microsoft.com/office/powerpoint/2010/main" val="307714658"/>
              </p:ext>
            </p:extLst>
          </p:nvPr>
        </p:nvGraphicFramePr>
        <p:xfrm>
          <a:off x="1638892" y="2781852"/>
          <a:ext cx="3832030" cy="2447347"/>
        </p:xfrm>
        <a:graphic>
          <a:graphicData uri="http://schemas.openxmlformats.org/presentationml/2006/ole">
            <mc:AlternateContent xmlns:mc="http://schemas.openxmlformats.org/markup-compatibility/2006">
              <mc:Choice xmlns:v="urn:schemas-microsoft-com:vml" Requires="v">
                <p:oleObj name="Equation" r:id="rId4" imgW="1511280" imgH="965160" progId="Equation.DSMT4">
                  <p:embed/>
                </p:oleObj>
              </mc:Choice>
              <mc:Fallback>
                <p:oleObj name="Equation" r:id="rId4" imgW="1511280" imgH="965160" progId="Equation.DSMT4">
                  <p:embed/>
                  <p:pic>
                    <p:nvPicPr>
                      <p:cNvPr id="0" name=""/>
                      <p:cNvPicPr/>
                      <p:nvPr/>
                    </p:nvPicPr>
                    <p:blipFill>
                      <a:blip r:embed="rId5"/>
                      <a:stretch>
                        <a:fillRect/>
                      </a:stretch>
                    </p:blipFill>
                    <p:spPr>
                      <a:xfrm>
                        <a:off x="1638892" y="2781852"/>
                        <a:ext cx="3832030" cy="2447347"/>
                      </a:xfrm>
                      <a:prstGeom prst="rect">
                        <a:avLst/>
                      </a:prstGeom>
                    </p:spPr>
                  </p:pic>
                </p:oleObj>
              </mc:Fallback>
            </mc:AlternateContent>
          </a:graphicData>
        </a:graphic>
      </p:graphicFrame>
      <p:sp>
        <p:nvSpPr>
          <p:cNvPr id="11" name="矩形 10">
            <a:extLst>
              <a:ext uri="{FF2B5EF4-FFF2-40B4-BE49-F238E27FC236}">
                <a16:creationId xmlns:a16="http://schemas.microsoft.com/office/drawing/2014/main" id="{03A153E1-91E3-44FD-88AD-FC6BEF0367FE}"/>
              </a:ext>
            </a:extLst>
          </p:cNvPr>
          <p:cNvSpPr/>
          <p:nvPr/>
        </p:nvSpPr>
        <p:spPr bwMode="auto">
          <a:xfrm>
            <a:off x="1424608" y="2781852"/>
            <a:ext cx="4684092" cy="1591499"/>
          </a:xfrm>
          <a:prstGeom prst="rect">
            <a:avLst/>
          </a:prstGeom>
          <a:noFill/>
          <a:ln w="38100" cap="flat" cmpd="sng" algn="ctr">
            <a:solidFill>
              <a:srgbClr val="0000FF"/>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2" name="思想气泡: 云 11">
            <a:extLst>
              <a:ext uri="{FF2B5EF4-FFF2-40B4-BE49-F238E27FC236}">
                <a16:creationId xmlns:a16="http://schemas.microsoft.com/office/drawing/2014/main" id="{9A9D77B9-7B94-4681-B17D-451D46DE7FA3}"/>
              </a:ext>
            </a:extLst>
          </p:cNvPr>
          <p:cNvSpPr/>
          <p:nvPr/>
        </p:nvSpPr>
        <p:spPr bwMode="auto">
          <a:xfrm>
            <a:off x="5421296" y="4359971"/>
            <a:ext cx="4356240" cy="1085252"/>
          </a:xfrm>
          <a:prstGeom prst="cloudCallout">
            <a:avLst>
              <a:gd name="adj1" fmla="val -34188"/>
              <a:gd name="adj2" fmla="val -128559"/>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zh-CN" altLang="en-US" sz="2000" dirty="0">
                <a:solidFill>
                  <a:srgbClr val="C00000"/>
                </a:solidFill>
              </a:rPr>
              <a:t>约束条件函数值为</a:t>
            </a:r>
            <a:r>
              <a:rPr lang="en-US" altLang="zh-CN" sz="2000" dirty="0">
                <a:solidFill>
                  <a:srgbClr val="C00000"/>
                </a:solidFill>
              </a:rPr>
              <a:t>0</a:t>
            </a:r>
            <a:r>
              <a:rPr lang="zh-CN" altLang="en-US" sz="2000" dirty="0">
                <a:solidFill>
                  <a:srgbClr val="C00000"/>
                </a:solidFill>
              </a:rPr>
              <a:t>表面这是起作用的约束</a:t>
            </a:r>
            <a:endParaRPr kumimoji="0" lang="zh-CN" altLang="en-US" sz="2000" b="0" i="0" u="none" strike="noStrike" cap="none" normalizeH="0" baseline="0" dirty="0">
              <a:ln>
                <a:noFill/>
              </a:ln>
              <a:solidFill>
                <a:srgbClr val="0000FF"/>
              </a:solidFill>
              <a:effectLst/>
              <a:latin typeface="Arial" charset="0"/>
            </a:endParaRPr>
          </a:p>
        </p:txBody>
      </p:sp>
      <p:graphicFrame>
        <p:nvGraphicFramePr>
          <p:cNvPr id="13" name="对象 12">
            <a:extLst>
              <a:ext uri="{FF2B5EF4-FFF2-40B4-BE49-F238E27FC236}">
                <a16:creationId xmlns:a16="http://schemas.microsoft.com/office/drawing/2014/main" id="{29DC6212-366F-42D0-A15F-D2A04C7DB2DF}"/>
              </a:ext>
            </a:extLst>
          </p:cNvPr>
          <p:cNvGraphicFramePr>
            <a:graphicFrameLocks noChangeAspect="1"/>
          </p:cNvGraphicFramePr>
          <p:nvPr>
            <p:extLst>
              <p:ext uri="{D42A27DB-BD31-4B8C-83A1-F6EECF244321}">
                <p14:modId xmlns:p14="http://schemas.microsoft.com/office/powerpoint/2010/main" val="4000767075"/>
              </p:ext>
            </p:extLst>
          </p:nvPr>
        </p:nvGraphicFramePr>
        <p:xfrm>
          <a:off x="5421296" y="16483"/>
          <a:ext cx="3708168" cy="2013005"/>
        </p:xfrm>
        <a:graphic>
          <a:graphicData uri="http://schemas.openxmlformats.org/presentationml/2006/ole">
            <mc:AlternateContent xmlns:mc="http://schemas.openxmlformats.org/markup-compatibility/2006">
              <mc:Choice xmlns:v="urn:schemas-microsoft-com:vml" Requires="v">
                <p:oleObj name="Equation" r:id="rId6" imgW="1333440" imgH="723600" progId="Equation.DSMT4">
                  <p:embed/>
                </p:oleObj>
              </mc:Choice>
              <mc:Fallback>
                <p:oleObj name="Equation" r:id="rId6" imgW="1333440" imgH="723600" progId="Equation.DSMT4">
                  <p:embed/>
                  <p:pic>
                    <p:nvPicPr>
                      <p:cNvPr id="6" name="对象 5">
                        <a:extLst>
                          <a:ext uri="{FF2B5EF4-FFF2-40B4-BE49-F238E27FC236}">
                            <a16:creationId xmlns:a16="http://schemas.microsoft.com/office/drawing/2014/main" id="{94CB9BB5-DE9F-4676-B64B-6F6D801C07F0}"/>
                          </a:ext>
                        </a:extLst>
                      </p:cNvPr>
                      <p:cNvPicPr/>
                      <p:nvPr/>
                    </p:nvPicPr>
                    <p:blipFill>
                      <a:blip r:embed="rId7"/>
                      <a:stretch>
                        <a:fillRect/>
                      </a:stretch>
                    </p:blipFill>
                    <p:spPr>
                      <a:xfrm>
                        <a:off x="5421296" y="16483"/>
                        <a:ext cx="3708168" cy="2013005"/>
                      </a:xfrm>
                      <a:prstGeom prst="rect">
                        <a:avLst/>
                      </a:prstGeom>
                      <a:solidFill>
                        <a:schemeClr val="bg1"/>
                      </a:solidFill>
                      <a:ln>
                        <a:solidFill>
                          <a:schemeClr val="tx1"/>
                        </a:solidFill>
                      </a:ln>
                    </p:spPr>
                  </p:pic>
                </p:oleObj>
              </mc:Fallback>
            </mc:AlternateContent>
          </a:graphicData>
        </a:graphic>
      </p:graphicFrame>
    </p:spTree>
    <p:extLst>
      <p:ext uri="{BB962C8B-B14F-4D97-AF65-F5344CB8AC3E}">
        <p14:creationId xmlns:p14="http://schemas.microsoft.com/office/powerpoint/2010/main" val="955141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par>
                          <p:cTn id="18" fill="hold">
                            <p:stCondLst>
                              <p:cond delay="500"/>
                            </p:stCondLst>
                            <p:childTnLst>
                              <p:par>
                                <p:cTn id="19" presetID="22" presetClass="entr" presetSubtype="4"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down)">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animBg="1"/>
      <p:bldP spid="1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6B01DA-3120-4CD5-BDDD-FFF5E73CBD80}"/>
              </a:ext>
            </a:extLst>
          </p:cNvPr>
          <p:cNvSpPr>
            <a:spLocks noGrp="1"/>
          </p:cNvSpPr>
          <p:nvPr>
            <p:ph type="title"/>
          </p:nvPr>
        </p:nvSpPr>
        <p:spPr/>
        <p:txBody>
          <a:bodyPr/>
          <a:lstStyle/>
          <a:p>
            <a:r>
              <a:rPr lang="zh-CN" altLang="en-US" dirty="0"/>
              <a:t>例</a:t>
            </a:r>
            <a:r>
              <a:rPr lang="en-US" altLang="zh-CN" dirty="0"/>
              <a:t>4</a:t>
            </a:r>
            <a:r>
              <a:rPr lang="zh-CN" altLang="en-US" dirty="0"/>
              <a:t>：解</a:t>
            </a:r>
          </a:p>
        </p:txBody>
      </p:sp>
      <p:sp>
        <p:nvSpPr>
          <p:cNvPr id="3" name="内容占位符 2">
            <a:extLst>
              <a:ext uri="{FF2B5EF4-FFF2-40B4-BE49-F238E27FC236}">
                <a16:creationId xmlns:a16="http://schemas.microsoft.com/office/drawing/2014/main" id="{294748C7-01E3-4F04-8DFD-38194CBA8450}"/>
              </a:ext>
            </a:extLst>
          </p:cNvPr>
          <p:cNvSpPr>
            <a:spLocks noGrp="1"/>
          </p:cNvSpPr>
          <p:nvPr>
            <p:ph idx="1"/>
          </p:nvPr>
        </p:nvSpPr>
        <p:spPr/>
        <p:txBody>
          <a:bodyPr/>
          <a:lstStyle/>
          <a:p>
            <a:r>
              <a:rPr lang="zh-CN" altLang="en-US" dirty="0"/>
              <a:t>计算梯度</a:t>
            </a:r>
          </a:p>
        </p:txBody>
      </p:sp>
      <p:sp>
        <p:nvSpPr>
          <p:cNvPr id="4" name="日期占位符 3">
            <a:extLst>
              <a:ext uri="{FF2B5EF4-FFF2-40B4-BE49-F238E27FC236}">
                <a16:creationId xmlns:a16="http://schemas.microsoft.com/office/drawing/2014/main" id="{F71001DB-C2E3-4F61-9A63-8E9F8825BD78}"/>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CA372851-429F-4863-9807-FCAA8A81C7E3}"/>
              </a:ext>
            </a:extLst>
          </p:cNvPr>
          <p:cNvSpPr>
            <a:spLocks noGrp="1"/>
          </p:cNvSpPr>
          <p:nvPr>
            <p:ph type="sldNum" sz="quarter" idx="12"/>
          </p:nvPr>
        </p:nvSpPr>
        <p:spPr/>
        <p:txBody>
          <a:bodyPr/>
          <a:lstStyle/>
          <a:p>
            <a:fld id="{7AC79822-BC0D-4DE8-A7E5-90A3732A2B82}" type="slidenum">
              <a:rPr lang="zh-CN" altLang="en-US" smtClean="0"/>
              <a:pPr/>
              <a:t>50</a:t>
            </a:fld>
            <a:endParaRPr lang="en-US" altLang="zh-CN" dirty="0"/>
          </a:p>
        </p:txBody>
      </p:sp>
      <p:graphicFrame>
        <p:nvGraphicFramePr>
          <p:cNvPr id="8" name="对象 7">
            <a:extLst>
              <a:ext uri="{FF2B5EF4-FFF2-40B4-BE49-F238E27FC236}">
                <a16:creationId xmlns:a16="http://schemas.microsoft.com/office/drawing/2014/main" id="{A7CD100C-49B9-44C3-8F47-7934B583338A}"/>
              </a:ext>
            </a:extLst>
          </p:cNvPr>
          <p:cNvGraphicFramePr>
            <a:graphicFrameLocks noChangeAspect="1"/>
          </p:cNvGraphicFramePr>
          <p:nvPr>
            <p:extLst>
              <p:ext uri="{D42A27DB-BD31-4B8C-83A1-F6EECF244321}">
                <p14:modId xmlns:p14="http://schemas.microsoft.com/office/powerpoint/2010/main" val="3801404022"/>
              </p:ext>
            </p:extLst>
          </p:nvPr>
        </p:nvGraphicFramePr>
        <p:xfrm>
          <a:off x="5421296" y="16483"/>
          <a:ext cx="3708168" cy="2013005"/>
        </p:xfrm>
        <a:graphic>
          <a:graphicData uri="http://schemas.openxmlformats.org/presentationml/2006/ole">
            <mc:AlternateContent xmlns:mc="http://schemas.openxmlformats.org/markup-compatibility/2006">
              <mc:Choice xmlns:v="urn:schemas-microsoft-com:vml" Requires="v">
                <p:oleObj name="Equation" r:id="rId2" imgW="1333440" imgH="723600" progId="Equation.DSMT4">
                  <p:embed/>
                </p:oleObj>
              </mc:Choice>
              <mc:Fallback>
                <p:oleObj name="Equation" r:id="rId2" imgW="1333440" imgH="723600" progId="Equation.DSMT4">
                  <p:embed/>
                  <p:pic>
                    <p:nvPicPr>
                      <p:cNvPr id="13" name="对象 12">
                        <a:extLst>
                          <a:ext uri="{FF2B5EF4-FFF2-40B4-BE49-F238E27FC236}">
                            <a16:creationId xmlns:a16="http://schemas.microsoft.com/office/drawing/2014/main" id="{29DC6212-366F-42D0-A15F-D2A04C7DB2DF}"/>
                          </a:ext>
                        </a:extLst>
                      </p:cNvPr>
                      <p:cNvPicPr/>
                      <p:nvPr/>
                    </p:nvPicPr>
                    <p:blipFill>
                      <a:blip r:embed="rId3"/>
                      <a:stretch>
                        <a:fillRect/>
                      </a:stretch>
                    </p:blipFill>
                    <p:spPr>
                      <a:xfrm>
                        <a:off x="5421296" y="16483"/>
                        <a:ext cx="3708168" cy="2013005"/>
                      </a:xfrm>
                      <a:prstGeom prst="rect">
                        <a:avLst/>
                      </a:prstGeom>
                      <a:solidFill>
                        <a:schemeClr val="bg1"/>
                      </a:solidFill>
                      <a:ln>
                        <a:solidFill>
                          <a:schemeClr val="tx1"/>
                        </a:solidFill>
                      </a:ln>
                    </p:spPr>
                  </p:pic>
                </p:oleObj>
              </mc:Fallback>
            </mc:AlternateContent>
          </a:graphicData>
        </a:graphic>
      </p:graphicFrame>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8EBA0A9-8FB8-48CE-8B17-5FC863B2892F}"/>
                  </a:ext>
                </a:extLst>
              </p:cNvPr>
              <p:cNvSpPr txBox="1"/>
              <p:nvPr/>
            </p:nvSpPr>
            <p:spPr>
              <a:xfrm>
                <a:off x="776536" y="1997978"/>
                <a:ext cx="7598683" cy="486672"/>
              </a:xfrm>
              <a:prstGeom prst="rect">
                <a:avLst/>
              </a:prstGeom>
              <a:noFill/>
            </p:spPr>
            <p:txBody>
              <a:bodyPr wrap="none" rtlCol="0">
                <a:spAutoFit/>
              </a:bodyPr>
              <a:lstStyle/>
              <a:p>
                <a:r>
                  <a:rPr lang="zh-CN" altLang="en-US" sz="2400" dirty="0"/>
                  <a:t>求目标函数和其作用约束点在点</a:t>
                </a:r>
                <a14:m>
                  <m:oMath xmlns:m="http://schemas.openxmlformats.org/officeDocument/2006/math">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𝑋</m:t>
                        </m:r>
                      </m:e>
                      <m:sup>
                        <m:d>
                          <m:dPr>
                            <m:ctrlPr>
                              <a:rPr lang="zh-CN" altLang="en-US" sz="2400" i="1">
                                <a:latin typeface="Cambria Math" panose="02040503050406030204" pitchFamily="18" charset="0"/>
                              </a:rPr>
                            </m:ctrlPr>
                          </m:dPr>
                          <m:e>
                            <m:r>
                              <m:rPr>
                                <m:nor/>
                              </m:rPr>
                              <a:rPr lang="zh-CN" altLang="en-US" sz="2400" i="1">
                                <a:latin typeface="Cambria Math" panose="02040503050406030204" pitchFamily="18" charset="0"/>
                              </a:rPr>
                              <m:t>∗</m:t>
                            </m:r>
                          </m:e>
                        </m:d>
                      </m:sup>
                    </m:sSup>
                    <m:r>
                      <m:rPr>
                        <m:nor/>
                      </m:rPr>
                      <a:rPr lang="zh-CN" altLang="en-US" sz="2400" i="1">
                        <a:latin typeface="Cambria Math" panose="02040503050406030204" pitchFamily="18" charset="0"/>
                      </a:rPr>
                      <m:t>=</m:t>
                    </m:r>
                    <m:sSup>
                      <m:sSupPr>
                        <m:ctrlPr>
                          <a:rPr lang="zh-CN" altLang="en-US" sz="2400" i="1">
                            <a:latin typeface="Cambria Math" panose="02040503050406030204" pitchFamily="18" charset="0"/>
                          </a:rPr>
                        </m:ctrlPr>
                      </m:sSupPr>
                      <m:e>
                        <m:d>
                          <m:dPr>
                            <m:begChr m:val="["/>
                            <m:endChr m:val="]"/>
                            <m:ctrlPr>
                              <a:rPr lang="zh-CN" altLang="en-US" sz="2400" i="1">
                                <a:latin typeface="Cambria Math" panose="02040503050406030204" pitchFamily="18" charset="0"/>
                              </a:rPr>
                            </m:ctrlPr>
                          </m:dPr>
                          <m:e>
                            <m:r>
                              <a:rPr lang="zh-CN" altLang="en-US" sz="2400">
                                <a:latin typeface="Cambria Math" panose="02040503050406030204" pitchFamily="18" charset="0"/>
                              </a:rPr>
                              <m:t>2,0</m:t>
                            </m:r>
                          </m:e>
                        </m:d>
                      </m:e>
                      <m:sup>
                        <m:r>
                          <a:rPr lang="zh-CN" altLang="en-US" sz="2400" i="1">
                            <a:latin typeface="Cambria Math" panose="02040503050406030204" pitchFamily="18" charset="0"/>
                          </a:rPr>
                          <m:t>𝑇</m:t>
                        </m:r>
                      </m:sup>
                    </m:sSup>
                  </m:oMath>
                </a14:m>
                <a:r>
                  <a:rPr lang="zh-CN" altLang="en-US" sz="2400" dirty="0"/>
                  <a:t>处的梯度：</a:t>
                </a:r>
              </a:p>
            </p:txBody>
          </p:sp>
        </mc:Choice>
        <mc:Fallback xmlns="">
          <p:sp>
            <p:nvSpPr>
              <p:cNvPr id="9" name="文本框 8">
                <a:extLst>
                  <a:ext uri="{FF2B5EF4-FFF2-40B4-BE49-F238E27FC236}">
                    <a16:creationId xmlns:a16="http://schemas.microsoft.com/office/drawing/2014/main" id="{08EBA0A9-8FB8-48CE-8B17-5FC863B2892F}"/>
                  </a:ext>
                </a:extLst>
              </p:cNvPr>
              <p:cNvSpPr txBox="1">
                <a:spLocks noRot="1" noChangeAspect="1" noMove="1" noResize="1" noEditPoints="1" noAdjustHandles="1" noChangeArrowheads="1" noChangeShapeType="1" noTextEdit="1"/>
              </p:cNvSpPr>
              <p:nvPr/>
            </p:nvSpPr>
            <p:spPr>
              <a:xfrm>
                <a:off x="776536" y="1997978"/>
                <a:ext cx="7598683" cy="486672"/>
              </a:xfrm>
              <a:prstGeom prst="rect">
                <a:avLst/>
              </a:prstGeom>
              <a:blipFill>
                <a:blip r:embed="rId5"/>
                <a:stretch>
                  <a:fillRect l="-1203" t="-5000" r="-241" b="-27500"/>
                </a:stretch>
              </a:blipFill>
            </p:spPr>
            <p:txBody>
              <a:bodyPr/>
              <a:lstStyle/>
              <a:p>
                <a:r>
                  <a:rPr lang="zh-CN" altLang="en-US">
                    <a:noFill/>
                  </a:rPr>
                  <a:t> </a:t>
                </a:r>
              </a:p>
            </p:txBody>
          </p:sp>
        </mc:Fallback>
      </mc:AlternateContent>
      <p:graphicFrame>
        <p:nvGraphicFramePr>
          <p:cNvPr id="10" name="对象 9">
            <a:extLst>
              <a:ext uri="{FF2B5EF4-FFF2-40B4-BE49-F238E27FC236}">
                <a16:creationId xmlns:a16="http://schemas.microsoft.com/office/drawing/2014/main" id="{39862D8D-5021-47A1-8589-FC60A12DE7BF}"/>
              </a:ext>
            </a:extLst>
          </p:cNvPr>
          <p:cNvGraphicFramePr>
            <a:graphicFrameLocks noChangeAspect="1"/>
          </p:cNvGraphicFramePr>
          <p:nvPr>
            <p:extLst>
              <p:ext uri="{D42A27DB-BD31-4B8C-83A1-F6EECF244321}">
                <p14:modId xmlns:p14="http://schemas.microsoft.com/office/powerpoint/2010/main" val="3886449245"/>
              </p:ext>
            </p:extLst>
          </p:nvPr>
        </p:nvGraphicFramePr>
        <p:xfrm>
          <a:off x="1766873" y="2630557"/>
          <a:ext cx="5507037" cy="4572000"/>
        </p:xfrm>
        <a:graphic>
          <a:graphicData uri="http://schemas.openxmlformats.org/presentationml/2006/ole">
            <mc:AlternateContent xmlns:mc="http://schemas.openxmlformats.org/markup-compatibility/2006">
              <mc:Choice xmlns:v="urn:schemas-microsoft-com:vml" Requires="v">
                <p:oleObj name="Equation" r:id="rId6" imgW="2171520" imgH="1803240" progId="Equation.DSMT4">
                  <p:embed/>
                </p:oleObj>
              </mc:Choice>
              <mc:Fallback>
                <p:oleObj name="Equation" r:id="rId6" imgW="2171520" imgH="1803240" progId="Equation.DSMT4">
                  <p:embed/>
                  <p:pic>
                    <p:nvPicPr>
                      <p:cNvPr id="9" name="对象 8">
                        <a:extLst>
                          <a:ext uri="{FF2B5EF4-FFF2-40B4-BE49-F238E27FC236}">
                            <a16:creationId xmlns:a16="http://schemas.microsoft.com/office/drawing/2014/main" id="{F6EAF006-9A2F-4F6D-AB18-83A5B09FCA49}"/>
                          </a:ext>
                        </a:extLst>
                      </p:cNvPr>
                      <p:cNvPicPr/>
                      <p:nvPr/>
                    </p:nvPicPr>
                    <p:blipFill>
                      <a:blip r:embed="rId7"/>
                      <a:stretch>
                        <a:fillRect/>
                      </a:stretch>
                    </p:blipFill>
                    <p:spPr>
                      <a:xfrm>
                        <a:off x="1766873" y="2630557"/>
                        <a:ext cx="5507037" cy="4572000"/>
                      </a:xfrm>
                      <a:prstGeom prst="rect">
                        <a:avLst/>
                      </a:prstGeom>
                    </p:spPr>
                  </p:pic>
                </p:oleObj>
              </mc:Fallback>
            </mc:AlternateContent>
          </a:graphicData>
        </a:graphic>
      </p:graphicFrame>
    </p:spTree>
    <p:extLst>
      <p:ext uri="{BB962C8B-B14F-4D97-AF65-F5344CB8AC3E}">
        <p14:creationId xmlns:p14="http://schemas.microsoft.com/office/powerpoint/2010/main" val="2696575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6B01DA-3120-4CD5-BDDD-FFF5E73CBD80}"/>
              </a:ext>
            </a:extLst>
          </p:cNvPr>
          <p:cNvSpPr>
            <a:spLocks noGrp="1"/>
          </p:cNvSpPr>
          <p:nvPr>
            <p:ph type="title"/>
          </p:nvPr>
        </p:nvSpPr>
        <p:spPr/>
        <p:txBody>
          <a:bodyPr/>
          <a:lstStyle/>
          <a:p>
            <a:r>
              <a:rPr lang="zh-CN" altLang="en-US" dirty="0"/>
              <a:t>例</a:t>
            </a:r>
            <a:r>
              <a:rPr lang="en-US" altLang="zh-CN" dirty="0"/>
              <a:t>4</a:t>
            </a:r>
            <a:r>
              <a:rPr lang="zh-CN" altLang="en-US" dirty="0"/>
              <a:t>：解</a:t>
            </a:r>
          </a:p>
        </p:txBody>
      </p:sp>
      <p:sp>
        <p:nvSpPr>
          <p:cNvPr id="3" name="内容占位符 2">
            <a:extLst>
              <a:ext uri="{FF2B5EF4-FFF2-40B4-BE49-F238E27FC236}">
                <a16:creationId xmlns:a16="http://schemas.microsoft.com/office/drawing/2014/main" id="{294748C7-01E3-4F04-8DFD-38194CBA8450}"/>
              </a:ext>
            </a:extLst>
          </p:cNvPr>
          <p:cNvSpPr>
            <a:spLocks noGrp="1"/>
          </p:cNvSpPr>
          <p:nvPr>
            <p:ph idx="1"/>
          </p:nvPr>
        </p:nvSpPr>
        <p:spPr/>
        <p:txBody>
          <a:bodyPr/>
          <a:lstStyle/>
          <a:p>
            <a:r>
              <a:rPr lang="zh-CN" altLang="en-US" dirty="0"/>
              <a:t>带入</a:t>
            </a:r>
            <a:r>
              <a:rPr lang="en-US" altLang="zh-CN" dirty="0"/>
              <a:t>K-T</a:t>
            </a:r>
            <a:r>
              <a:rPr lang="zh-CN" altLang="en-US" dirty="0"/>
              <a:t>条件判断</a:t>
            </a:r>
          </a:p>
        </p:txBody>
      </p:sp>
      <p:sp>
        <p:nvSpPr>
          <p:cNvPr id="4" name="日期占位符 3">
            <a:extLst>
              <a:ext uri="{FF2B5EF4-FFF2-40B4-BE49-F238E27FC236}">
                <a16:creationId xmlns:a16="http://schemas.microsoft.com/office/drawing/2014/main" id="{F71001DB-C2E3-4F61-9A63-8E9F8825BD78}"/>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CA372851-429F-4863-9807-FCAA8A81C7E3}"/>
              </a:ext>
            </a:extLst>
          </p:cNvPr>
          <p:cNvSpPr>
            <a:spLocks noGrp="1"/>
          </p:cNvSpPr>
          <p:nvPr>
            <p:ph type="sldNum" sz="quarter" idx="12"/>
          </p:nvPr>
        </p:nvSpPr>
        <p:spPr/>
        <p:txBody>
          <a:bodyPr/>
          <a:lstStyle/>
          <a:p>
            <a:fld id="{7AC79822-BC0D-4DE8-A7E5-90A3732A2B82}" type="slidenum">
              <a:rPr lang="zh-CN" altLang="en-US" smtClean="0"/>
              <a:pPr/>
              <a:t>51</a:t>
            </a:fld>
            <a:endParaRPr lang="en-US" altLang="zh-CN" dirty="0"/>
          </a:p>
        </p:txBody>
      </p:sp>
      <p:graphicFrame>
        <p:nvGraphicFramePr>
          <p:cNvPr id="7" name="对象 6">
            <a:extLst>
              <a:ext uri="{FF2B5EF4-FFF2-40B4-BE49-F238E27FC236}">
                <a16:creationId xmlns:a16="http://schemas.microsoft.com/office/drawing/2014/main" id="{85384EA3-AF4B-422E-A556-B8B6D0C19336}"/>
              </a:ext>
            </a:extLst>
          </p:cNvPr>
          <p:cNvGraphicFramePr>
            <a:graphicFrameLocks noChangeAspect="1"/>
          </p:cNvGraphicFramePr>
          <p:nvPr>
            <p:extLst>
              <p:ext uri="{D42A27DB-BD31-4B8C-83A1-F6EECF244321}">
                <p14:modId xmlns:p14="http://schemas.microsoft.com/office/powerpoint/2010/main" val="4205152032"/>
              </p:ext>
            </p:extLst>
          </p:nvPr>
        </p:nvGraphicFramePr>
        <p:xfrm>
          <a:off x="5421296" y="16483"/>
          <a:ext cx="3708168" cy="2013005"/>
        </p:xfrm>
        <a:graphic>
          <a:graphicData uri="http://schemas.openxmlformats.org/presentationml/2006/ole">
            <mc:AlternateContent xmlns:mc="http://schemas.openxmlformats.org/markup-compatibility/2006">
              <mc:Choice xmlns:v="urn:schemas-microsoft-com:vml" Requires="v">
                <p:oleObj name="Equation" r:id="rId2" imgW="1333440" imgH="723600" progId="Equation.DSMT4">
                  <p:embed/>
                </p:oleObj>
              </mc:Choice>
              <mc:Fallback>
                <p:oleObj name="Equation" r:id="rId2" imgW="1333440" imgH="723600" progId="Equation.DSMT4">
                  <p:embed/>
                  <p:pic>
                    <p:nvPicPr>
                      <p:cNvPr id="8" name="对象 7">
                        <a:extLst>
                          <a:ext uri="{FF2B5EF4-FFF2-40B4-BE49-F238E27FC236}">
                            <a16:creationId xmlns:a16="http://schemas.microsoft.com/office/drawing/2014/main" id="{A7CD100C-49B9-44C3-8F47-7934B583338A}"/>
                          </a:ext>
                        </a:extLst>
                      </p:cNvPr>
                      <p:cNvPicPr/>
                      <p:nvPr/>
                    </p:nvPicPr>
                    <p:blipFill>
                      <a:blip r:embed="rId3"/>
                      <a:stretch>
                        <a:fillRect/>
                      </a:stretch>
                    </p:blipFill>
                    <p:spPr>
                      <a:xfrm>
                        <a:off x="5421296" y="16483"/>
                        <a:ext cx="3708168" cy="2013005"/>
                      </a:xfrm>
                      <a:prstGeom prst="rect">
                        <a:avLst/>
                      </a:prstGeom>
                      <a:solidFill>
                        <a:schemeClr val="bg1"/>
                      </a:solidFill>
                      <a:ln>
                        <a:solidFill>
                          <a:schemeClr val="tx1"/>
                        </a:solidFill>
                      </a:ln>
                    </p:spPr>
                  </p:pic>
                </p:oleObj>
              </mc:Fallback>
            </mc:AlternateContent>
          </a:graphicData>
        </a:graphic>
      </p:graphicFrame>
      <p:graphicFrame>
        <p:nvGraphicFramePr>
          <p:cNvPr id="9" name="对象 8">
            <a:extLst>
              <a:ext uri="{FF2B5EF4-FFF2-40B4-BE49-F238E27FC236}">
                <a16:creationId xmlns:a16="http://schemas.microsoft.com/office/drawing/2014/main" id="{AD021285-9D51-4E8C-A2FF-3F5464561974}"/>
              </a:ext>
            </a:extLst>
          </p:cNvPr>
          <p:cNvGraphicFramePr>
            <a:graphicFrameLocks noChangeAspect="1"/>
          </p:cNvGraphicFramePr>
          <p:nvPr>
            <p:extLst>
              <p:ext uri="{D42A27DB-BD31-4B8C-83A1-F6EECF244321}">
                <p14:modId xmlns:p14="http://schemas.microsoft.com/office/powerpoint/2010/main" val="673021834"/>
              </p:ext>
            </p:extLst>
          </p:nvPr>
        </p:nvGraphicFramePr>
        <p:xfrm>
          <a:off x="553752" y="2194060"/>
          <a:ext cx="8728075" cy="1158875"/>
        </p:xfrm>
        <a:graphic>
          <a:graphicData uri="http://schemas.openxmlformats.org/presentationml/2006/ole">
            <mc:AlternateContent xmlns:mc="http://schemas.openxmlformats.org/markup-compatibility/2006">
              <mc:Choice xmlns:v="urn:schemas-microsoft-com:vml" Requires="v">
                <p:oleObj name="Equation" r:id="rId4" imgW="3441600" imgH="457200" progId="Equation.DSMT4">
                  <p:embed/>
                </p:oleObj>
              </mc:Choice>
              <mc:Fallback>
                <p:oleObj name="Equation" r:id="rId4" imgW="3441600" imgH="457200" progId="Equation.DSMT4">
                  <p:embed/>
                  <p:pic>
                    <p:nvPicPr>
                      <p:cNvPr id="10" name="对象 9">
                        <a:extLst>
                          <a:ext uri="{FF2B5EF4-FFF2-40B4-BE49-F238E27FC236}">
                            <a16:creationId xmlns:a16="http://schemas.microsoft.com/office/drawing/2014/main" id="{39862D8D-5021-47A1-8589-FC60A12DE7BF}"/>
                          </a:ext>
                        </a:extLst>
                      </p:cNvPr>
                      <p:cNvPicPr/>
                      <p:nvPr/>
                    </p:nvPicPr>
                    <p:blipFill>
                      <a:blip r:embed="rId5"/>
                      <a:stretch>
                        <a:fillRect/>
                      </a:stretch>
                    </p:blipFill>
                    <p:spPr>
                      <a:xfrm>
                        <a:off x="553752" y="2194060"/>
                        <a:ext cx="8728075" cy="115887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7208F71E-D381-4BB5-A8C2-978D26954FE5}"/>
              </a:ext>
            </a:extLst>
          </p:cNvPr>
          <p:cNvGraphicFramePr>
            <a:graphicFrameLocks noChangeAspect="1"/>
          </p:cNvGraphicFramePr>
          <p:nvPr>
            <p:extLst>
              <p:ext uri="{D42A27DB-BD31-4B8C-83A1-F6EECF244321}">
                <p14:modId xmlns:p14="http://schemas.microsoft.com/office/powerpoint/2010/main" val="202751265"/>
              </p:ext>
            </p:extLst>
          </p:nvPr>
        </p:nvGraphicFramePr>
        <p:xfrm>
          <a:off x="1761045" y="3503738"/>
          <a:ext cx="6313487" cy="773113"/>
        </p:xfrm>
        <a:graphic>
          <a:graphicData uri="http://schemas.openxmlformats.org/presentationml/2006/ole">
            <mc:AlternateContent xmlns:mc="http://schemas.openxmlformats.org/markup-compatibility/2006">
              <mc:Choice xmlns:v="urn:schemas-microsoft-com:vml" Requires="v">
                <p:oleObj name="Equation" r:id="rId6" imgW="2489040" imgH="304560" progId="Equation.DSMT4">
                  <p:embed/>
                </p:oleObj>
              </mc:Choice>
              <mc:Fallback>
                <p:oleObj name="Equation" r:id="rId6" imgW="2489040" imgH="304560" progId="Equation.DSMT4">
                  <p:embed/>
                  <p:pic>
                    <p:nvPicPr>
                      <p:cNvPr id="9" name="对象 8">
                        <a:extLst>
                          <a:ext uri="{FF2B5EF4-FFF2-40B4-BE49-F238E27FC236}">
                            <a16:creationId xmlns:a16="http://schemas.microsoft.com/office/drawing/2014/main" id="{AD021285-9D51-4E8C-A2FF-3F5464561974}"/>
                          </a:ext>
                        </a:extLst>
                      </p:cNvPr>
                      <p:cNvPicPr/>
                      <p:nvPr/>
                    </p:nvPicPr>
                    <p:blipFill>
                      <a:blip r:embed="rId7"/>
                      <a:stretch>
                        <a:fillRect/>
                      </a:stretch>
                    </p:blipFill>
                    <p:spPr>
                      <a:xfrm>
                        <a:off x="1761045" y="3503738"/>
                        <a:ext cx="6313487" cy="773113"/>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6A20E4B3-5865-4F34-BC59-BECDA4BCFAF1}"/>
              </a:ext>
            </a:extLst>
          </p:cNvPr>
          <p:cNvGraphicFramePr>
            <a:graphicFrameLocks noChangeAspect="1"/>
          </p:cNvGraphicFramePr>
          <p:nvPr>
            <p:extLst>
              <p:ext uri="{D42A27DB-BD31-4B8C-83A1-F6EECF244321}">
                <p14:modId xmlns:p14="http://schemas.microsoft.com/office/powerpoint/2010/main" val="2606796224"/>
              </p:ext>
            </p:extLst>
          </p:nvPr>
        </p:nvGraphicFramePr>
        <p:xfrm>
          <a:off x="2000672" y="4754119"/>
          <a:ext cx="3897313" cy="1158875"/>
        </p:xfrm>
        <a:graphic>
          <a:graphicData uri="http://schemas.openxmlformats.org/presentationml/2006/ole">
            <mc:AlternateContent xmlns:mc="http://schemas.openxmlformats.org/markup-compatibility/2006">
              <mc:Choice xmlns:v="urn:schemas-microsoft-com:vml" Requires="v">
                <p:oleObj name="Equation" r:id="rId8" imgW="1536480" imgH="457200" progId="Equation.DSMT4">
                  <p:embed/>
                </p:oleObj>
              </mc:Choice>
              <mc:Fallback>
                <p:oleObj name="Equation" r:id="rId8" imgW="1536480" imgH="457200" progId="Equation.DSMT4">
                  <p:embed/>
                  <p:pic>
                    <p:nvPicPr>
                      <p:cNvPr id="10" name="对象 9">
                        <a:extLst>
                          <a:ext uri="{FF2B5EF4-FFF2-40B4-BE49-F238E27FC236}">
                            <a16:creationId xmlns:a16="http://schemas.microsoft.com/office/drawing/2014/main" id="{7208F71E-D381-4BB5-A8C2-978D26954FE5}"/>
                          </a:ext>
                        </a:extLst>
                      </p:cNvPr>
                      <p:cNvPicPr/>
                      <p:nvPr/>
                    </p:nvPicPr>
                    <p:blipFill>
                      <a:blip r:embed="rId9"/>
                      <a:stretch>
                        <a:fillRect/>
                      </a:stretch>
                    </p:blipFill>
                    <p:spPr>
                      <a:xfrm>
                        <a:off x="2000672" y="4754119"/>
                        <a:ext cx="3897313" cy="1158875"/>
                      </a:xfrm>
                      <a:prstGeom prst="rect">
                        <a:avLst/>
                      </a:prstGeom>
                    </p:spPr>
                  </p:pic>
                </p:oleObj>
              </mc:Fallback>
            </mc:AlternateContent>
          </a:graphicData>
        </a:graphic>
      </p:graphicFrame>
    </p:spTree>
    <p:extLst>
      <p:ext uri="{BB962C8B-B14F-4D97-AF65-F5344CB8AC3E}">
        <p14:creationId xmlns:p14="http://schemas.microsoft.com/office/powerpoint/2010/main" val="1497728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arn(inVertical)">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arn(inVertical)">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6B01DA-3120-4CD5-BDDD-FFF5E73CBD80}"/>
              </a:ext>
            </a:extLst>
          </p:cNvPr>
          <p:cNvSpPr>
            <a:spLocks noGrp="1"/>
          </p:cNvSpPr>
          <p:nvPr>
            <p:ph type="title"/>
          </p:nvPr>
        </p:nvSpPr>
        <p:spPr/>
        <p:txBody>
          <a:bodyPr/>
          <a:lstStyle/>
          <a:p>
            <a:r>
              <a:rPr lang="zh-CN" altLang="en-US" dirty="0"/>
              <a:t>例</a:t>
            </a:r>
            <a:r>
              <a:rPr lang="en-US" altLang="zh-CN" dirty="0"/>
              <a:t>4</a:t>
            </a:r>
            <a:r>
              <a:rPr lang="zh-CN" altLang="en-US" dirty="0"/>
              <a:t>：解</a:t>
            </a:r>
          </a:p>
        </p:txBody>
      </p:sp>
      <p:sp>
        <p:nvSpPr>
          <p:cNvPr id="3" name="内容占位符 2">
            <a:extLst>
              <a:ext uri="{FF2B5EF4-FFF2-40B4-BE49-F238E27FC236}">
                <a16:creationId xmlns:a16="http://schemas.microsoft.com/office/drawing/2014/main" id="{294748C7-01E3-4F04-8DFD-38194CBA8450}"/>
              </a:ext>
            </a:extLst>
          </p:cNvPr>
          <p:cNvSpPr>
            <a:spLocks noGrp="1"/>
          </p:cNvSpPr>
          <p:nvPr>
            <p:ph idx="1"/>
          </p:nvPr>
        </p:nvSpPr>
        <p:spPr/>
        <p:txBody>
          <a:bodyPr/>
          <a:lstStyle/>
          <a:p>
            <a:r>
              <a:rPr lang="zh-CN" altLang="en-US" dirty="0"/>
              <a:t>带入</a:t>
            </a:r>
            <a:r>
              <a:rPr lang="en-US" altLang="zh-CN" dirty="0"/>
              <a:t>K-T</a:t>
            </a:r>
            <a:r>
              <a:rPr lang="zh-CN" altLang="en-US" dirty="0"/>
              <a:t>条件判断</a:t>
            </a:r>
          </a:p>
        </p:txBody>
      </p:sp>
      <p:sp>
        <p:nvSpPr>
          <p:cNvPr id="4" name="日期占位符 3">
            <a:extLst>
              <a:ext uri="{FF2B5EF4-FFF2-40B4-BE49-F238E27FC236}">
                <a16:creationId xmlns:a16="http://schemas.microsoft.com/office/drawing/2014/main" id="{F71001DB-C2E3-4F61-9A63-8E9F8825BD78}"/>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CA372851-429F-4863-9807-FCAA8A81C7E3}"/>
              </a:ext>
            </a:extLst>
          </p:cNvPr>
          <p:cNvSpPr>
            <a:spLocks noGrp="1"/>
          </p:cNvSpPr>
          <p:nvPr>
            <p:ph type="sldNum" sz="quarter" idx="12"/>
          </p:nvPr>
        </p:nvSpPr>
        <p:spPr/>
        <p:txBody>
          <a:bodyPr/>
          <a:lstStyle/>
          <a:p>
            <a:fld id="{7AC79822-BC0D-4DE8-A7E5-90A3732A2B82}" type="slidenum">
              <a:rPr lang="zh-CN" altLang="en-US" smtClean="0"/>
              <a:pPr/>
              <a:t>52</a:t>
            </a:fld>
            <a:endParaRPr lang="en-US" altLang="zh-CN" dirty="0"/>
          </a:p>
        </p:txBody>
      </p:sp>
      <p:graphicFrame>
        <p:nvGraphicFramePr>
          <p:cNvPr id="7" name="对象 6">
            <a:extLst>
              <a:ext uri="{FF2B5EF4-FFF2-40B4-BE49-F238E27FC236}">
                <a16:creationId xmlns:a16="http://schemas.microsoft.com/office/drawing/2014/main" id="{85384EA3-AF4B-422E-A556-B8B6D0C19336}"/>
              </a:ext>
            </a:extLst>
          </p:cNvPr>
          <p:cNvGraphicFramePr>
            <a:graphicFrameLocks noChangeAspect="1"/>
          </p:cNvGraphicFramePr>
          <p:nvPr/>
        </p:nvGraphicFramePr>
        <p:xfrm>
          <a:off x="5421296" y="16483"/>
          <a:ext cx="3708168" cy="2013005"/>
        </p:xfrm>
        <a:graphic>
          <a:graphicData uri="http://schemas.openxmlformats.org/presentationml/2006/ole">
            <mc:AlternateContent xmlns:mc="http://schemas.openxmlformats.org/markup-compatibility/2006">
              <mc:Choice xmlns:v="urn:schemas-microsoft-com:vml" Requires="v">
                <p:oleObj name="Equation" r:id="rId2" imgW="1333440" imgH="723600" progId="Equation.DSMT4">
                  <p:embed/>
                </p:oleObj>
              </mc:Choice>
              <mc:Fallback>
                <p:oleObj name="Equation" r:id="rId2" imgW="1333440" imgH="723600" progId="Equation.DSMT4">
                  <p:embed/>
                  <p:pic>
                    <p:nvPicPr>
                      <p:cNvPr id="7" name="对象 6">
                        <a:extLst>
                          <a:ext uri="{FF2B5EF4-FFF2-40B4-BE49-F238E27FC236}">
                            <a16:creationId xmlns:a16="http://schemas.microsoft.com/office/drawing/2014/main" id="{85384EA3-AF4B-422E-A556-B8B6D0C19336}"/>
                          </a:ext>
                        </a:extLst>
                      </p:cNvPr>
                      <p:cNvPicPr/>
                      <p:nvPr/>
                    </p:nvPicPr>
                    <p:blipFill>
                      <a:blip r:embed="rId3"/>
                      <a:stretch>
                        <a:fillRect/>
                      </a:stretch>
                    </p:blipFill>
                    <p:spPr>
                      <a:xfrm>
                        <a:off x="5421296" y="16483"/>
                        <a:ext cx="3708168" cy="2013005"/>
                      </a:xfrm>
                      <a:prstGeom prst="rect">
                        <a:avLst/>
                      </a:prstGeom>
                      <a:solidFill>
                        <a:schemeClr val="bg1"/>
                      </a:solidFill>
                      <a:ln>
                        <a:solidFill>
                          <a:schemeClr val="tx1"/>
                        </a:solidFill>
                      </a:ln>
                    </p:spPr>
                  </p:pic>
                </p:oleObj>
              </mc:Fallback>
            </mc:AlternateContent>
          </a:graphicData>
        </a:graphic>
      </p:graphicFrame>
      <p:graphicFrame>
        <p:nvGraphicFramePr>
          <p:cNvPr id="11" name="对象 10">
            <a:extLst>
              <a:ext uri="{FF2B5EF4-FFF2-40B4-BE49-F238E27FC236}">
                <a16:creationId xmlns:a16="http://schemas.microsoft.com/office/drawing/2014/main" id="{6A20E4B3-5865-4F34-BC59-BECDA4BCFAF1}"/>
              </a:ext>
            </a:extLst>
          </p:cNvPr>
          <p:cNvGraphicFramePr>
            <a:graphicFrameLocks noChangeAspect="1"/>
          </p:cNvGraphicFramePr>
          <p:nvPr>
            <p:extLst>
              <p:ext uri="{D42A27DB-BD31-4B8C-83A1-F6EECF244321}">
                <p14:modId xmlns:p14="http://schemas.microsoft.com/office/powerpoint/2010/main" val="1729004255"/>
              </p:ext>
            </p:extLst>
          </p:nvPr>
        </p:nvGraphicFramePr>
        <p:xfrm>
          <a:off x="776536" y="1844824"/>
          <a:ext cx="3897313" cy="1158875"/>
        </p:xfrm>
        <a:graphic>
          <a:graphicData uri="http://schemas.openxmlformats.org/presentationml/2006/ole">
            <mc:AlternateContent xmlns:mc="http://schemas.openxmlformats.org/markup-compatibility/2006">
              <mc:Choice xmlns:v="urn:schemas-microsoft-com:vml" Requires="v">
                <p:oleObj name="Equation" r:id="rId4" imgW="1536480" imgH="457200" progId="Equation.DSMT4">
                  <p:embed/>
                </p:oleObj>
              </mc:Choice>
              <mc:Fallback>
                <p:oleObj name="Equation" r:id="rId4" imgW="1536480" imgH="457200" progId="Equation.DSMT4">
                  <p:embed/>
                  <p:pic>
                    <p:nvPicPr>
                      <p:cNvPr id="11" name="对象 10">
                        <a:extLst>
                          <a:ext uri="{FF2B5EF4-FFF2-40B4-BE49-F238E27FC236}">
                            <a16:creationId xmlns:a16="http://schemas.microsoft.com/office/drawing/2014/main" id="{6A20E4B3-5865-4F34-BC59-BECDA4BCFAF1}"/>
                          </a:ext>
                        </a:extLst>
                      </p:cNvPr>
                      <p:cNvPicPr/>
                      <p:nvPr/>
                    </p:nvPicPr>
                    <p:blipFill>
                      <a:blip r:embed="rId5"/>
                      <a:stretch>
                        <a:fillRect/>
                      </a:stretch>
                    </p:blipFill>
                    <p:spPr>
                      <a:xfrm>
                        <a:off x="776536" y="1844824"/>
                        <a:ext cx="3897313" cy="1158875"/>
                      </a:xfrm>
                      <a:prstGeom prst="rect">
                        <a:avLst/>
                      </a:prstGeom>
                    </p:spPr>
                  </p:pic>
                </p:oleObj>
              </mc:Fallback>
            </mc:AlternateContent>
          </a:graphicData>
        </a:graphic>
      </p:graphicFrame>
      <p:sp>
        <p:nvSpPr>
          <p:cNvPr id="6" name="箭头: 右 5">
            <a:extLst>
              <a:ext uri="{FF2B5EF4-FFF2-40B4-BE49-F238E27FC236}">
                <a16:creationId xmlns:a16="http://schemas.microsoft.com/office/drawing/2014/main" id="{758B3770-7917-4310-8E53-94AC8F7CC671}"/>
              </a:ext>
            </a:extLst>
          </p:cNvPr>
          <p:cNvSpPr/>
          <p:nvPr/>
        </p:nvSpPr>
        <p:spPr bwMode="auto">
          <a:xfrm>
            <a:off x="257434" y="3865689"/>
            <a:ext cx="792088" cy="504056"/>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aphicFrame>
        <p:nvGraphicFramePr>
          <p:cNvPr id="12" name="对象 11">
            <a:extLst>
              <a:ext uri="{FF2B5EF4-FFF2-40B4-BE49-F238E27FC236}">
                <a16:creationId xmlns:a16="http://schemas.microsoft.com/office/drawing/2014/main" id="{5FCDBE59-E150-465C-95E1-4B680945BEC9}"/>
              </a:ext>
            </a:extLst>
          </p:cNvPr>
          <p:cNvGraphicFramePr>
            <a:graphicFrameLocks noChangeAspect="1"/>
          </p:cNvGraphicFramePr>
          <p:nvPr>
            <p:extLst>
              <p:ext uri="{D42A27DB-BD31-4B8C-83A1-F6EECF244321}">
                <p14:modId xmlns:p14="http://schemas.microsoft.com/office/powerpoint/2010/main" val="1713551406"/>
              </p:ext>
            </p:extLst>
          </p:nvPr>
        </p:nvGraphicFramePr>
        <p:xfrm>
          <a:off x="1151073" y="3506529"/>
          <a:ext cx="1739900" cy="1222375"/>
        </p:xfrm>
        <a:graphic>
          <a:graphicData uri="http://schemas.openxmlformats.org/presentationml/2006/ole">
            <mc:AlternateContent xmlns:mc="http://schemas.openxmlformats.org/markup-compatibility/2006">
              <mc:Choice xmlns:v="urn:schemas-microsoft-com:vml" Requires="v">
                <p:oleObj name="Equation" r:id="rId6" imgW="685800" imgH="482400" progId="Equation.DSMT4">
                  <p:embed/>
                </p:oleObj>
              </mc:Choice>
              <mc:Fallback>
                <p:oleObj name="Equation" r:id="rId6" imgW="685800" imgH="482400" progId="Equation.DSMT4">
                  <p:embed/>
                  <p:pic>
                    <p:nvPicPr>
                      <p:cNvPr id="11" name="对象 10">
                        <a:extLst>
                          <a:ext uri="{FF2B5EF4-FFF2-40B4-BE49-F238E27FC236}">
                            <a16:creationId xmlns:a16="http://schemas.microsoft.com/office/drawing/2014/main" id="{6A20E4B3-5865-4F34-BC59-BECDA4BCFAF1}"/>
                          </a:ext>
                        </a:extLst>
                      </p:cNvPr>
                      <p:cNvPicPr/>
                      <p:nvPr/>
                    </p:nvPicPr>
                    <p:blipFill>
                      <a:blip r:embed="rId7"/>
                      <a:stretch>
                        <a:fillRect/>
                      </a:stretch>
                    </p:blipFill>
                    <p:spPr>
                      <a:xfrm>
                        <a:off x="1151073" y="3506529"/>
                        <a:ext cx="1739900" cy="1222375"/>
                      </a:xfrm>
                      <a:prstGeom prst="rect">
                        <a:avLst/>
                      </a:prstGeom>
                    </p:spPr>
                  </p:pic>
                </p:oleObj>
              </mc:Fallback>
            </mc:AlternateContent>
          </a:graphicData>
        </a:graphic>
      </p:graphicFrame>
      <p:sp>
        <p:nvSpPr>
          <p:cNvPr id="13" name="箭头: 右 12">
            <a:extLst>
              <a:ext uri="{FF2B5EF4-FFF2-40B4-BE49-F238E27FC236}">
                <a16:creationId xmlns:a16="http://schemas.microsoft.com/office/drawing/2014/main" id="{FB440805-CDC3-4726-9354-B8AA7AB38C77}"/>
              </a:ext>
            </a:extLst>
          </p:cNvPr>
          <p:cNvSpPr/>
          <p:nvPr/>
        </p:nvSpPr>
        <p:spPr bwMode="auto">
          <a:xfrm>
            <a:off x="3339281" y="3865689"/>
            <a:ext cx="792088" cy="504056"/>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aphicFrame>
        <p:nvGraphicFramePr>
          <p:cNvPr id="14" name="对象 13">
            <a:extLst>
              <a:ext uri="{FF2B5EF4-FFF2-40B4-BE49-F238E27FC236}">
                <a16:creationId xmlns:a16="http://schemas.microsoft.com/office/drawing/2014/main" id="{60514B38-BB67-45BA-BCB8-06F8C18E2626}"/>
              </a:ext>
            </a:extLst>
          </p:cNvPr>
          <p:cNvGraphicFramePr>
            <a:graphicFrameLocks noChangeAspect="1"/>
          </p:cNvGraphicFramePr>
          <p:nvPr>
            <p:extLst>
              <p:ext uri="{D42A27DB-BD31-4B8C-83A1-F6EECF244321}">
                <p14:modId xmlns:p14="http://schemas.microsoft.com/office/powerpoint/2010/main" val="2307495967"/>
              </p:ext>
            </p:extLst>
          </p:nvPr>
        </p:nvGraphicFramePr>
        <p:xfrm>
          <a:off x="4376936" y="3634177"/>
          <a:ext cx="2222500" cy="996950"/>
        </p:xfrm>
        <a:graphic>
          <a:graphicData uri="http://schemas.openxmlformats.org/presentationml/2006/ole">
            <mc:AlternateContent xmlns:mc="http://schemas.openxmlformats.org/markup-compatibility/2006">
              <mc:Choice xmlns:v="urn:schemas-microsoft-com:vml" Requires="v">
                <p:oleObj name="Equation" r:id="rId8" imgW="876240" imgH="393480" progId="Equation.DSMT4">
                  <p:embed/>
                </p:oleObj>
              </mc:Choice>
              <mc:Fallback>
                <p:oleObj name="Equation" r:id="rId8" imgW="876240" imgH="393480" progId="Equation.DSMT4">
                  <p:embed/>
                  <p:pic>
                    <p:nvPicPr>
                      <p:cNvPr id="12" name="对象 11">
                        <a:extLst>
                          <a:ext uri="{FF2B5EF4-FFF2-40B4-BE49-F238E27FC236}">
                            <a16:creationId xmlns:a16="http://schemas.microsoft.com/office/drawing/2014/main" id="{5FCDBE59-E150-465C-95E1-4B680945BEC9}"/>
                          </a:ext>
                        </a:extLst>
                      </p:cNvPr>
                      <p:cNvPicPr/>
                      <p:nvPr/>
                    </p:nvPicPr>
                    <p:blipFill>
                      <a:blip r:embed="rId9"/>
                      <a:stretch>
                        <a:fillRect/>
                      </a:stretch>
                    </p:blipFill>
                    <p:spPr>
                      <a:xfrm>
                        <a:off x="4376936" y="3634177"/>
                        <a:ext cx="2222500" cy="99695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00FB95CD-A448-476D-919A-8AC99C952A14}"/>
                  </a:ext>
                </a:extLst>
              </p:cNvPr>
              <p:cNvSpPr txBox="1"/>
              <p:nvPr/>
            </p:nvSpPr>
            <p:spPr>
              <a:xfrm>
                <a:off x="1213744" y="5231734"/>
                <a:ext cx="4531344" cy="486672"/>
              </a:xfrm>
              <a:prstGeom prst="rect">
                <a:avLst/>
              </a:prstGeom>
              <a:noFill/>
            </p:spPr>
            <p:txBody>
              <a:bodyPr wrap="square" rtlCol="0">
                <a:spAutoFit/>
              </a:bodyPr>
              <a:lstStyle/>
              <a:p>
                <a:r>
                  <a:rPr lang="zh-CN" altLang="en-US" sz="2400" dirty="0"/>
                  <a:t>点</a:t>
                </a:r>
                <a14:m>
                  <m:oMath xmlns:m="http://schemas.openxmlformats.org/officeDocument/2006/math">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𝑋</m:t>
                        </m:r>
                      </m:e>
                      <m:sup>
                        <m:d>
                          <m:dPr>
                            <m:ctrlPr>
                              <a:rPr lang="zh-CN" altLang="en-US" sz="2400" i="1">
                                <a:latin typeface="Cambria Math" panose="02040503050406030204" pitchFamily="18" charset="0"/>
                              </a:rPr>
                            </m:ctrlPr>
                          </m:dPr>
                          <m:e>
                            <m:r>
                              <m:rPr>
                                <m:nor/>
                              </m:rPr>
                              <a:rPr lang="zh-CN" altLang="en-US" sz="2400" i="1">
                                <a:latin typeface="Cambria Math" panose="02040503050406030204" pitchFamily="18" charset="0"/>
                              </a:rPr>
                              <m:t>∗</m:t>
                            </m:r>
                          </m:e>
                        </m:d>
                      </m:sup>
                    </m:sSup>
                    <m:r>
                      <m:rPr>
                        <m:nor/>
                      </m:rPr>
                      <a:rPr lang="zh-CN" altLang="en-US" sz="2400" i="1">
                        <a:latin typeface="Cambria Math" panose="02040503050406030204" pitchFamily="18" charset="0"/>
                      </a:rPr>
                      <m:t>=</m:t>
                    </m:r>
                    <m:sSup>
                      <m:sSupPr>
                        <m:ctrlPr>
                          <a:rPr lang="zh-CN" altLang="en-US" sz="2400" i="1">
                            <a:latin typeface="Cambria Math" panose="02040503050406030204" pitchFamily="18" charset="0"/>
                          </a:rPr>
                        </m:ctrlPr>
                      </m:sSupPr>
                      <m:e>
                        <m:d>
                          <m:dPr>
                            <m:begChr m:val="["/>
                            <m:endChr m:val="]"/>
                            <m:ctrlPr>
                              <a:rPr lang="zh-CN" altLang="en-US" sz="2400" i="1">
                                <a:latin typeface="Cambria Math" panose="02040503050406030204" pitchFamily="18" charset="0"/>
                              </a:rPr>
                            </m:ctrlPr>
                          </m:dPr>
                          <m:e>
                            <m:r>
                              <a:rPr lang="zh-CN" altLang="en-US" sz="2400">
                                <a:latin typeface="Cambria Math" panose="02040503050406030204" pitchFamily="18" charset="0"/>
                              </a:rPr>
                              <m:t>2,0</m:t>
                            </m:r>
                          </m:e>
                        </m:d>
                      </m:e>
                      <m:sup>
                        <m:r>
                          <a:rPr lang="zh-CN" altLang="en-US" sz="2400" i="1">
                            <a:latin typeface="Cambria Math" panose="02040503050406030204" pitchFamily="18" charset="0"/>
                          </a:rPr>
                          <m:t>𝑇</m:t>
                        </m:r>
                      </m:sup>
                    </m:sSup>
                  </m:oMath>
                </a14:m>
                <a:r>
                  <a:rPr lang="zh-CN" altLang="en-US" sz="2400" dirty="0"/>
                  <a:t>是极小值点</a:t>
                </a:r>
              </a:p>
            </p:txBody>
          </p:sp>
        </mc:Choice>
        <mc:Fallback xmlns="">
          <p:sp>
            <p:nvSpPr>
              <p:cNvPr id="15" name="文本框 14">
                <a:extLst>
                  <a:ext uri="{FF2B5EF4-FFF2-40B4-BE49-F238E27FC236}">
                    <a16:creationId xmlns:a16="http://schemas.microsoft.com/office/drawing/2014/main" id="{00FB95CD-A448-476D-919A-8AC99C952A14}"/>
                  </a:ext>
                </a:extLst>
              </p:cNvPr>
              <p:cNvSpPr txBox="1">
                <a:spLocks noRot="1" noChangeAspect="1" noMove="1" noResize="1" noEditPoints="1" noAdjustHandles="1" noChangeArrowheads="1" noChangeShapeType="1" noTextEdit="1"/>
              </p:cNvSpPr>
              <p:nvPr/>
            </p:nvSpPr>
            <p:spPr>
              <a:xfrm>
                <a:off x="1213744" y="5231734"/>
                <a:ext cx="4531344" cy="486672"/>
              </a:xfrm>
              <a:prstGeom prst="rect">
                <a:avLst/>
              </a:prstGeom>
              <a:blipFill>
                <a:blip r:embed="rId11"/>
                <a:stretch>
                  <a:fillRect l="-2019" t="-5000" b="-275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37227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22" presetClass="entr" presetSubtype="4"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arn(inVertical)">
                                      <p:cBhvr>
                                        <p:cTn id="15" dur="500"/>
                                        <p:tgtEl>
                                          <p:spTgt spid="13"/>
                                        </p:tgtEl>
                                      </p:cBhvr>
                                    </p:animEffect>
                                  </p:childTnLst>
                                </p:cTn>
                              </p:par>
                            </p:childTnLst>
                          </p:cTn>
                        </p:par>
                        <p:par>
                          <p:cTn id="16" fill="hold">
                            <p:stCondLst>
                              <p:cond delay="500"/>
                            </p:stCondLst>
                            <p:childTnLst>
                              <p:par>
                                <p:cTn id="17" presetID="22" presetClass="entr" presetSubtype="4"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down)">
                                      <p:cBhvr>
                                        <p:cTn id="2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P spid="1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DC58B2-6112-48C2-9749-1214EF0D89F7}"/>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C2C055B8-B393-4AAD-B75A-B4D4510354AA}"/>
              </a:ext>
            </a:extLst>
          </p:cNvPr>
          <p:cNvSpPr>
            <a:spLocks noGrp="1"/>
          </p:cNvSpPr>
          <p:nvPr>
            <p:ph idx="1"/>
          </p:nvPr>
        </p:nvSpPr>
        <p:spPr/>
        <p:txBody>
          <a:bodyPr/>
          <a:lstStyle/>
          <a:p>
            <a:r>
              <a:rPr lang="zh-CN" altLang="en-US" dirty="0"/>
              <a:t>请判断点</a:t>
            </a:r>
            <a:r>
              <a:rPr lang="en-US" altLang="zh-CN" dirty="0"/>
              <a:t>x*=[1,1]</a:t>
            </a:r>
            <a:r>
              <a:rPr lang="en-US" altLang="zh-CN" baseline="30000" dirty="0"/>
              <a:t>T</a:t>
            </a:r>
            <a:r>
              <a:rPr lang="zh-CN" altLang="en-US" dirty="0"/>
              <a:t>是否是下列问题的最优点</a:t>
            </a:r>
            <a:endParaRPr lang="en-US" altLang="zh-CN" dirty="0"/>
          </a:p>
          <a:p>
            <a:endParaRPr lang="en-US" altLang="zh-CN" dirty="0"/>
          </a:p>
          <a:p>
            <a:endParaRPr lang="en-US" altLang="zh-CN" dirty="0"/>
          </a:p>
          <a:p>
            <a:endParaRPr lang="en-US" altLang="zh-CN" dirty="0"/>
          </a:p>
          <a:p>
            <a:endParaRPr lang="en-US" altLang="zh-CN" dirty="0"/>
          </a:p>
        </p:txBody>
      </p:sp>
      <p:sp>
        <p:nvSpPr>
          <p:cNvPr id="4" name="日期占位符 3">
            <a:extLst>
              <a:ext uri="{FF2B5EF4-FFF2-40B4-BE49-F238E27FC236}">
                <a16:creationId xmlns:a16="http://schemas.microsoft.com/office/drawing/2014/main" id="{5D453707-D973-430D-943E-84498EF11098}"/>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4E42B59F-615E-4263-912F-E9F13470F7C1}"/>
              </a:ext>
            </a:extLst>
          </p:cNvPr>
          <p:cNvSpPr>
            <a:spLocks noGrp="1"/>
          </p:cNvSpPr>
          <p:nvPr>
            <p:ph type="sldNum" sz="quarter" idx="12"/>
          </p:nvPr>
        </p:nvSpPr>
        <p:spPr/>
        <p:txBody>
          <a:bodyPr/>
          <a:lstStyle/>
          <a:p>
            <a:fld id="{7AC79822-BC0D-4DE8-A7E5-90A3732A2B82}" type="slidenum">
              <a:rPr lang="zh-CN" altLang="en-US" smtClean="0"/>
              <a:pPr/>
              <a:t>53</a:t>
            </a:fld>
            <a:endParaRPr lang="en-US" altLang="zh-CN" dirty="0"/>
          </a:p>
        </p:txBody>
      </p:sp>
      <p:graphicFrame>
        <p:nvGraphicFramePr>
          <p:cNvPr id="6" name="对象 5">
            <a:extLst>
              <a:ext uri="{FF2B5EF4-FFF2-40B4-BE49-F238E27FC236}">
                <a16:creationId xmlns:a16="http://schemas.microsoft.com/office/drawing/2014/main" id="{AD80E68E-E452-4940-BA18-E676480BF962}"/>
              </a:ext>
            </a:extLst>
          </p:cNvPr>
          <p:cNvGraphicFramePr>
            <a:graphicFrameLocks noChangeAspect="1"/>
          </p:cNvGraphicFramePr>
          <p:nvPr>
            <p:extLst>
              <p:ext uri="{D42A27DB-BD31-4B8C-83A1-F6EECF244321}">
                <p14:modId xmlns:p14="http://schemas.microsoft.com/office/powerpoint/2010/main" val="1738634671"/>
              </p:ext>
            </p:extLst>
          </p:nvPr>
        </p:nvGraphicFramePr>
        <p:xfrm>
          <a:off x="1856656" y="2027977"/>
          <a:ext cx="5336969" cy="2121103"/>
        </p:xfrm>
        <a:graphic>
          <a:graphicData uri="http://schemas.openxmlformats.org/presentationml/2006/ole">
            <mc:AlternateContent xmlns:mc="http://schemas.openxmlformats.org/markup-compatibility/2006">
              <mc:Choice xmlns:v="urn:schemas-microsoft-com:vml" Requires="v">
                <p:oleObj name="Equation" r:id="rId2" imgW="1981080" imgH="787320" progId="Equation.DSMT4">
                  <p:embed/>
                </p:oleObj>
              </mc:Choice>
              <mc:Fallback>
                <p:oleObj name="Equation" r:id="rId2" imgW="1981080" imgH="787320" progId="Equation.DSMT4">
                  <p:embed/>
                  <p:pic>
                    <p:nvPicPr>
                      <p:cNvPr id="0" name=""/>
                      <p:cNvPicPr/>
                      <p:nvPr/>
                    </p:nvPicPr>
                    <p:blipFill>
                      <a:blip r:embed="rId3"/>
                      <a:stretch>
                        <a:fillRect/>
                      </a:stretch>
                    </p:blipFill>
                    <p:spPr>
                      <a:xfrm>
                        <a:off x="1856656" y="2027977"/>
                        <a:ext cx="5336969" cy="2121103"/>
                      </a:xfrm>
                      <a:prstGeom prst="rect">
                        <a:avLst/>
                      </a:prstGeom>
                    </p:spPr>
                  </p:pic>
                </p:oleObj>
              </mc:Fallback>
            </mc:AlternateContent>
          </a:graphicData>
        </a:graphic>
      </p:graphicFrame>
    </p:spTree>
    <p:extLst>
      <p:ext uri="{BB962C8B-B14F-4D97-AF65-F5344CB8AC3E}">
        <p14:creationId xmlns:p14="http://schemas.microsoft.com/office/powerpoint/2010/main" val="3577724430"/>
      </p:ext>
    </p:extLst>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Presentation</Template>
  <TotalTime>7511</TotalTime>
  <Words>2102</Words>
  <Application>Microsoft Office PowerPoint</Application>
  <PresentationFormat>A4 纸张(210x297 毫米)</PresentationFormat>
  <Paragraphs>408</Paragraphs>
  <Slides>53</Slides>
  <Notes>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53</vt:i4>
      </vt:variant>
    </vt:vector>
  </HeadingPairs>
  <TitlesOfParts>
    <vt:vector size="61" baseType="lpstr">
      <vt:lpstr>黑体</vt:lpstr>
      <vt:lpstr>宋体</vt:lpstr>
      <vt:lpstr>Arial</vt:lpstr>
      <vt:lpstr>Cambria Math</vt:lpstr>
      <vt:lpstr>Times New Roman</vt:lpstr>
      <vt:lpstr>Wingdings</vt:lpstr>
      <vt:lpstr>Presentation</vt:lpstr>
      <vt:lpstr>Equation</vt:lpstr>
      <vt:lpstr>最优化理论</vt:lpstr>
      <vt:lpstr>习题讲解：求下列函数极值点</vt:lpstr>
      <vt:lpstr>最优化理论的数学基础</vt:lpstr>
      <vt:lpstr>5. 优化约束的极值条件</vt:lpstr>
      <vt:lpstr>5. 优化约束的极值条件</vt:lpstr>
      <vt:lpstr>5. 优化约束的极值条件</vt:lpstr>
      <vt:lpstr>一元函数凸函数的数学表达式推导</vt:lpstr>
      <vt:lpstr>5. 优化约束的极值条件</vt:lpstr>
      <vt:lpstr>5. 优化约束的极值条件</vt:lpstr>
      <vt:lpstr>5. 优化约束的极值条件</vt:lpstr>
      <vt:lpstr>凸集数学定义推导</vt:lpstr>
      <vt:lpstr>凸集数学定义推导</vt:lpstr>
      <vt:lpstr>练习</vt:lpstr>
      <vt:lpstr>5. 优化约束的极值条件</vt:lpstr>
      <vt:lpstr>5. 优化约束的极值条件</vt:lpstr>
      <vt:lpstr>5. 优化约束的极值条件</vt:lpstr>
      <vt:lpstr>例1：解</vt:lpstr>
      <vt:lpstr>练习：</vt:lpstr>
      <vt:lpstr>5. 优化约束的极值条件</vt:lpstr>
      <vt:lpstr>5. 优化约束的极值条件</vt:lpstr>
      <vt:lpstr>6. 约束优化问题的极值条件</vt:lpstr>
      <vt:lpstr>约束优化问题极值点分析</vt:lpstr>
      <vt:lpstr>约束优化问题极值点分析</vt:lpstr>
      <vt:lpstr>约束优化问题极值点分析</vt:lpstr>
      <vt:lpstr>约束优化问题极值点分析</vt:lpstr>
      <vt:lpstr>6. 约束优化问题的极值条件</vt:lpstr>
      <vt:lpstr>仅包含等式约束的极值条件</vt:lpstr>
      <vt:lpstr>仅包含等式约束的极值条件</vt:lpstr>
      <vt:lpstr>仅包含等式约束的极值条件</vt:lpstr>
      <vt:lpstr>仅包含等式约束的极值条件</vt:lpstr>
      <vt:lpstr>拉格朗日乘数法</vt:lpstr>
      <vt:lpstr>6. 约束优化问题的极值条件</vt:lpstr>
      <vt:lpstr>6. 约束优化问题的极值条件</vt:lpstr>
      <vt:lpstr>不等式约束的极值条件</vt:lpstr>
      <vt:lpstr>不等式约束的极值条件</vt:lpstr>
      <vt:lpstr>不等式约束的极值条件</vt:lpstr>
      <vt:lpstr>不等式约束的极值条件</vt:lpstr>
      <vt:lpstr>不等式约束的极值条件</vt:lpstr>
      <vt:lpstr>K-T条件分析</vt:lpstr>
      <vt:lpstr>K-T条件分析</vt:lpstr>
      <vt:lpstr>K-T条件分析</vt:lpstr>
      <vt:lpstr>K-T条件分析</vt:lpstr>
      <vt:lpstr>K-T条件分析</vt:lpstr>
      <vt:lpstr>K-T条件分析</vt:lpstr>
      <vt:lpstr>K-T条件分析</vt:lpstr>
      <vt:lpstr>K-T条件分析</vt:lpstr>
      <vt:lpstr>不等式约束的优化问题</vt:lpstr>
      <vt:lpstr>例4：解</vt:lpstr>
      <vt:lpstr>例4：解</vt:lpstr>
      <vt:lpstr>例4：解</vt:lpstr>
      <vt:lpstr>例4：解</vt:lpstr>
      <vt:lpstr>例4：解</vt:lpstr>
      <vt:lpstr>练习</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Administrator</cp:lastModifiedBy>
  <cp:revision>3826</cp:revision>
  <dcterms:created xsi:type="dcterms:W3CDTF">2016-10-01T05:27:09Z</dcterms:created>
  <dcterms:modified xsi:type="dcterms:W3CDTF">2022-12-02T07:21:05Z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ies>
</file>