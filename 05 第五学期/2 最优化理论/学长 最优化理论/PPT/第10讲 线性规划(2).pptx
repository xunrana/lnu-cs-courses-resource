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57" r:id="rId1"/>
  </p:sldMasterIdLst>
  <p:notesMasterIdLst>
    <p:notesMasterId r:id="rId60"/>
  </p:notesMasterIdLst>
  <p:handoutMasterIdLst>
    <p:handoutMasterId r:id="rId61"/>
  </p:handout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6" r:id="rId19"/>
    <p:sldId id="277" r:id="rId20"/>
    <p:sldId id="258" r:id="rId21"/>
    <p:sldId id="259"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5" r:id="rId39"/>
    <p:sldId id="296" r:id="rId40"/>
    <p:sldId id="294" r:id="rId41"/>
    <p:sldId id="297" r:id="rId42"/>
    <p:sldId id="299" r:id="rId43"/>
    <p:sldId id="298" r:id="rId44"/>
    <p:sldId id="300" r:id="rId45"/>
    <p:sldId id="301" r:id="rId46"/>
    <p:sldId id="302" r:id="rId47"/>
    <p:sldId id="303" r:id="rId48"/>
    <p:sldId id="304" r:id="rId49"/>
    <p:sldId id="305" r:id="rId50"/>
    <p:sldId id="306" r:id="rId51"/>
    <p:sldId id="307" r:id="rId52"/>
    <p:sldId id="309" r:id="rId53"/>
    <p:sldId id="310" r:id="rId54"/>
    <p:sldId id="311" r:id="rId55"/>
    <p:sldId id="312" r:id="rId56"/>
    <p:sldId id="313" r:id="rId57"/>
    <p:sldId id="314" r:id="rId58"/>
    <p:sldId id="315" r:id="rId59"/>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默认节" id="{FBF6BE6E-4B09-4148-9F0C-7F96FBD9B713}">
          <p14:sldIdLst>
            <p14:sldId id="256"/>
            <p14:sldId id="257"/>
            <p14:sldId id="260"/>
            <p14:sldId id="261"/>
            <p14:sldId id="262"/>
            <p14:sldId id="263"/>
            <p14:sldId id="264"/>
            <p14:sldId id="265"/>
            <p14:sldId id="266"/>
            <p14:sldId id="267"/>
            <p14:sldId id="268"/>
            <p14:sldId id="269"/>
            <p14:sldId id="270"/>
            <p14:sldId id="271"/>
            <p14:sldId id="272"/>
            <p14:sldId id="273"/>
            <p14:sldId id="274"/>
            <p14:sldId id="276"/>
            <p14:sldId id="277"/>
            <p14:sldId id="258"/>
            <p14:sldId id="259"/>
            <p14:sldId id="278"/>
            <p14:sldId id="279"/>
            <p14:sldId id="280"/>
            <p14:sldId id="281"/>
            <p14:sldId id="282"/>
            <p14:sldId id="283"/>
            <p14:sldId id="284"/>
            <p14:sldId id="285"/>
            <p14:sldId id="286"/>
            <p14:sldId id="287"/>
            <p14:sldId id="288"/>
            <p14:sldId id="289"/>
            <p14:sldId id="290"/>
            <p14:sldId id="291"/>
            <p14:sldId id="292"/>
            <p14:sldId id="293"/>
            <p14:sldId id="295"/>
            <p14:sldId id="296"/>
            <p14:sldId id="294"/>
            <p14:sldId id="297"/>
            <p14:sldId id="299"/>
            <p14:sldId id="298"/>
            <p14:sldId id="300"/>
            <p14:sldId id="301"/>
            <p14:sldId id="302"/>
            <p14:sldId id="303"/>
            <p14:sldId id="304"/>
            <p14:sldId id="305"/>
            <p14:sldId id="306"/>
            <p14:sldId id="307"/>
            <p14:sldId id="309"/>
            <p14:sldId id="310"/>
            <p14:sldId id="311"/>
            <p14:sldId id="312"/>
            <p14:sldId id="313"/>
            <p14:sldId id="314"/>
            <p14:sldId id="315"/>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66"/>
    <a:srgbClr val="30A040"/>
    <a:srgbClr val="CC3399"/>
    <a:srgbClr val="FFFFFF"/>
    <a:srgbClr val="0000CC"/>
    <a:srgbClr val="333399"/>
    <a:srgbClr val="000099"/>
    <a:srgbClr val="FF99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30" autoAdjust="0"/>
    <p:restoredTop sz="93826" autoAdjust="0"/>
  </p:normalViewPr>
  <p:slideViewPr>
    <p:cSldViewPr>
      <p:cViewPr varScale="1">
        <p:scale>
          <a:sx n="63" d="100"/>
          <a:sy n="63" d="100"/>
        </p:scale>
        <p:origin x="1000" y="52"/>
      </p:cViewPr>
      <p:guideLst>
        <p:guide orient="horz" pos="2160"/>
        <p:guide pos="3120"/>
      </p:guideLst>
    </p:cSldViewPr>
  </p:slideViewPr>
  <p:outlineViewPr>
    <p:cViewPr>
      <p:scale>
        <a:sx n="33" d="100"/>
        <a:sy n="33" d="100"/>
      </p:scale>
      <p:origin x="0" y="0"/>
    </p:cViewPr>
  </p:outlineViewPr>
  <p:notesTextViewPr>
    <p:cViewPr>
      <p:scale>
        <a:sx n="3" d="2"/>
        <a:sy n="3" d="2"/>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dirty="0"/>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dirty="0"/>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dirty="0"/>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dirty="0"/>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dirty="0"/>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dirty="0"/>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dirty="0"/>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10" name="20 9">
            <a:extLst>
              <a:ext uri="{FF2B5EF4-FFF2-40B4-BE49-F238E27FC236}">
                <a16:creationId xmlns:a16="http://schemas.microsoft.com/office/drawing/2014/main" id="{DB875CB5-79D2-4F0D-AAEA-E38F8F1FB7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894850" cy="2420888"/>
          </a:xfrm>
          <a:prstGeom prst="rect">
            <a:avLst/>
          </a:prstGeom>
        </p:spPr>
      </p:pic>
      <p:sp>
        <p:nvSpPr>
          <p:cNvPr id="11" name="标题 1">
            <a:extLst>
              <a:ext uri="{FF2B5EF4-FFF2-40B4-BE49-F238E27FC236}">
                <a16:creationId xmlns:a16="http://schemas.microsoft.com/office/drawing/2014/main" id="{3A371CBA-E3A3-49E4-BC50-D73E5519AF66}"/>
              </a:ext>
            </a:extLst>
          </p:cNvPr>
          <p:cNvSpPr>
            <a:spLocks noGrp="1"/>
          </p:cNvSpPr>
          <p:nvPr>
            <p:ph type="ctrTitle"/>
          </p:nvPr>
        </p:nvSpPr>
        <p:spPr>
          <a:xfrm>
            <a:off x="1208584" y="2620777"/>
            <a:ext cx="8016639" cy="1070582"/>
          </a:xfrm>
        </p:spPr>
        <p:txBody>
          <a:bodyPr anchor="ctr">
            <a:normAutofit fontScale="90000"/>
          </a:bodyPr>
          <a:lstStyle>
            <a:lvl1pPr algn="ctr">
              <a:defRPr sz="4400">
                <a:solidFill>
                  <a:schemeClr val="tx1"/>
                </a:solidFill>
              </a:defRPr>
            </a:lvl1pPr>
          </a:lstStyle>
          <a:p>
            <a:endParaRPr lang="zh-CN" altLang="en-US" sz="4800" dirty="0">
              <a:latin typeface="黑体" panose="02010609060101010101" pitchFamily="49" charset="-122"/>
              <a:ea typeface="黑体" panose="02010609060101010101" pitchFamily="49" charset="-122"/>
            </a:endParaRPr>
          </a:p>
        </p:txBody>
      </p:sp>
      <p:sp>
        <p:nvSpPr>
          <p:cNvPr id="12" name="副标题 2">
            <a:extLst>
              <a:ext uri="{FF2B5EF4-FFF2-40B4-BE49-F238E27FC236}">
                <a16:creationId xmlns:a16="http://schemas.microsoft.com/office/drawing/2014/main" id="{2E156885-70F0-4648-845E-265F364447B4}"/>
              </a:ext>
            </a:extLst>
          </p:cNvPr>
          <p:cNvSpPr>
            <a:spLocks noGrp="1"/>
          </p:cNvSpPr>
          <p:nvPr>
            <p:ph type="subTitle" idx="1"/>
          </p:nvPr>
        </p:nvSpPr>
        <p:spPr>
          <a:xfrm>
            <a:off x="1907282" y="4015551"/>
            <a:ext cx="6619242" cy="642776"/>
          </a:xfrm>
        </p:spPr>
        <p:txBody>
          <a:bodyPr>
            <a:normAutofit/>
          </a:bodyPr>
          <a:lstStyle>
            <a:lvl1pPr marL="0" indent="0" algn="ctr">
              <a:buNone/>
              <a:defRPr sz="3600"/>
            </a:lvl1pPr>
          </a:lstStyle>
          <a:p>
            <a:endParaRPr lang="zh-CN" altLang="en-US" b="1" dirty="0">
              <a:latin typeface="黑体" pitchFamily="49" charset="-122"/>
              <a:ea typeface="黑体" pitchFamily="49" charset="-122"/>
            </a:endParaRPr>
          </a:p>
        </p:txBody>
      </p:sp>
      <p:sp>
        <p:nvSpPr>
          <p:cNvPr id="17" name="矩形 16">
            <a:extLst>
              <a:ext uri="{FF2B5EF4-FFF2-40B4-BE49-F238E27FC236}">
                <a16:creationId xmlns:a16="http://schemas.microsoft.com/office/drawing/2014/main" id="{D001777F-61CF-42D4-943E-7A0268001DD7}"/>
              </a:ext>
            </a:extLst>
          </p:cNvPr>
          <p:cNvSpPr/>
          <p:nvPr userDrawn="1"/>
        </p:nvSpPr>
        <p:spPr>
          <a:xfrm>
            <a:off x="1" y="6415953"/>
            <a:ext cx="9906000" cy="44204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8" name="Picture 2">
            <a:extLst>
              <a:ext uri="{FF2B5EF4-FFF2-40B4-BE49-F238E27FC236}">
                <a16:creationId xmlns:a16="http://schemas.microsoft.com/office/drawing/2014/main" id="{FD28CC49-F75B-42A3-A246-3A936A3C1C5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927" y="5577048"/>
            <a:ext cx="1938018" cy="1285552"/>
          </a:xfrm>
          <a:prstGeom prst="rect">
            <a:avLst/>
          </a:prstGeom>
          <a:noFill/>
          <a:extLst>
            <a:ext uri="{909E8E84-426E-40DD-AFC4-6F175D3DCCD1}">
              <a14:hiddenFill xmlns:a14="http://schemas.microsoft.com/office/drawing/2010/main">
                <a:solidFill>
                  <a:srgbClr val="FFFFFF"/>
                </a:solidFill>
              </a14:hiddenFill>
            </a:ext>
          </a:extLst>
        </p:spPr>
      </p:pic>
      <p:sp>
        <p:nvSpPr>
          <p:cNvPr id="19" name="日期占位符 12">
            <a:extLst>
              <a:ext uri="{FF2B5EF4-FFF2-40B4-BE49-F238E27FC236}">
                <a16:creationId xmlns:a16="http://schemas.microsoft.com/office/drawing/2014/main" id="{BF0374B4-E0FA-4D63-930E-15A90A36D5DA}"/>
              </a:ext>
            </a:extLst>
          </p:cNvPr>
          <p:cNvSpPr>
            <a:spLocks noGrp="1"/>
          </p:cNvSpPr>
          <p:nvPr>
            <p:ph type="dt" sz="half" idx="10"/>
          </p:nvPr>
        </p:nvSpPr>
        <p:spPr>
          <a:xfrm>
            <a:off x="1944945" y="6448251"/>
            <a:ext cx="2743200" cy="365125"/>
          </a:xfrm>
        </p:spPr>
        <p:txBody>
          <a:bodyPr/>
          <a:lstStyle/>
          <a:p>
            <a:fld id="{9BF28558-7B33-427A-B568-3609C5F68DFB}" type="datetime3">
              <a:rPr lang="zh-CN" altLang="en-US" sz="1600" smtClean="0"/>
              <a:t>2022年10月28日星期五</a:t>
            </a:fld>
            <a:endParaRPr lang="zh-CN" altLang="en-US" sz="1600" dirty="0"/>
          </a:p>
        </p:txBody>
      </p:sp>
      <p:pic>
        <p:nvPicPr>
          <p:cNvPr id="20" name="20 19">
            <a:extLst>
              <a:ext uri="{FF2B5EF4-FFF2-40B4-BE49-F238E27FC236}">
                <a16:creationId xmlns:a16="http://schemas.microsoft.com/office/drawing/2014/main" id="{92CA545C-BE9F-4FE0-8561-A177CAB1467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70610" y="6418253"/>
            <a:ext cx="1424240" cy="4420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8044" y="188640"/>
            <a:ext cx="971949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58044" y="1196752"/>
            <a:ext cx="9719492" cy="5264289"/>
          </a:xfrm>
        </p:spPr>
        <p:txBody>
          <a:bodyPr/>
          <a:lstStyle>
            <a:lvl1pPr>
              <a:lnSpc>
                <a:spcPct val="110000"/>
              </a:lnSpc>
              <a:spcBef>
                <a:spcPts val="600"/>
              </a:spcBef>
              <a:defRPr sz="3600" b="1">
                <a:solidFill>
                  <a:schemeClr val="tx1"/>
                </a:solidFill>
                <a:latin typeface="+mn-lt"/>
                <a:ea typeface="黑体" pitchFamily="2" charset="-122"/>
              </a:defRPr>
            </a:lvl1pPr>
            <a:lvl2pPr>
              <a:lnSpc>
                <a:spcPct val="110000"/>
              </a:lnSpc>
              <a:spcBef>
                <a:spcPts val="600"/>
              </a:spcBef>
              <a:defRPr sz="3200" b="1">
                <a:solidFill>
                  <a:schemeClr val="tx1"/>
                </a:solidFill>
                <a:latin typeface="+mn-lt"/>
                <a:ea typeface="黑体" pitchFamily="2" charset="-122"/>
              </a:defRPr>
            </a:lvl2pPr>
            <a:lvl3pPr>
              <a:lnSpc>
                <a:spcPct val="110000"/>
              </a:lnSpc>
              <a:spcBef>
                <a:spcPts val="600"/>
              </a:spcBef>
              <a:defRPr sz="2800" b="1">
                <a:solidFill>
                  <a:schemeClr val="tx1"/>
                </a:solidFill>
                <a:latin typeface="+mn-lt"/>
                <a:ea typeface="黑体" pitchFamily="2" charset="-122"/>
              </a:defRPr>
            </a:lvl3pPr>
            <a:lvl4pPr>
              <a:lnSpc>
                <a:spcPct val="110000"/>
              </a:lnSpc>
              <a:spcBef>
                <a:spcPts val="600"/>
              </a:spcBef>
              <a:defRPr sz="2400" b="1">
                <a:solidFill>
                  <a:schemeClr val="tx1"/>
                </a:solidFill>
                <a:latin typeface="+mn-lt"/>
                <a:ea typeface="黑体" pitchFamily="2" charset="-122"/>
              </a:defRPr>
            </a:lvl4pPr>
            <a:lvl5pPr>
              <a:lnSpc>
                <a:spcPct val="110000"/>
              </a:lnSpc>
              <a:spcBef>
                <a:spcPts val="600"/>
              </a:spcBef>
              <a:defRPr sz="2000" b="1">
                <a:solidFill>
                  <a:schemeClr val="tx1"/>
                </a:solidFill>
                <a:latin typeface="+mn-lt"/>
                <a:ea typeface="黑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fld id="{A8B06C41-1E1E-4B9B-9644-5AFB8CB2AB3B}" type="datetime3">
              <a:rPr lang="zh-CN" altLang="en-US" smtClean="0"/>
              <a:t>2022年10月28日星期五</a:t>
            </a:fld>
            <a:endParaRPr lang="en-US" altLang="zh-CN" dirty="0"/>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dirty="0"/>
          </a:p>
        </p:txBody>
      </p:sp>
      <p:sp>
        <p:nvSpPr>
          <p:cNvPr id="7" name="Line 8"/>
          <p:cNvSpPr>
            <a:spLocks noChangeShapeType="1"/>
          </p:cNvSpPr>
          <p:nvPr userDrawn="1"/>
        </p:nvSpPr>
        <p:spPr bwMode="auto">
          <a:xfrm flipV="1">
            <a:off x="58044" y="1052735"/>
            <a:ext cx="9719492" cy="1"/>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495300" y="6381328"/>
            <a:ext cx="2311400" cy="432048"/>
          </a:xfrm>
        </p:spPr>
        <p:txBody>
          <a:bodyPr/>
          <a:lstStyle>
            <a:lvl1pPr>
              <a:defRPr sz="1600"/>
            </a:lvl1pPr>
          </a:lstStyle>
          <a:p>
            <a:fld id="{A3C8579E-F682-4174-8232-D943C000E3D7}" type="datetime3">
              <a:rPr lang="zh-CN" altLang="en-US" smtClean="0"/>
              <a:t>2022年10月28日星期五</a:t>
            </a:fld>
            <a:endParaRPr lang="en-US" altLang="zh-CN" dirty="0"/>
          </a:p>
        </p:txBody>
      </p:sp>
      <p:sp>
        <p:nvSpPr>
          <p:cNvPr id="6" name="灯片编号占位符 5"/>
          <p:cNvSpPr>
            <a:spLocks noGrp="1"/>
          </p:cNvSpPr>
          <p:nvPr>
            <p:ph type="sldNum" sz="quarter" idx="12"/>
          </p:nvPr>
        </p:nvSpPr>
        <p:spPr>
          <a:xfrm>
            <a:off x="3944367" y="6453336"/>
            <a:ext cx="2311400" cy="360040"/>
          </a:xfrm>
        </p:spPr>
        <p:txBody>
          <a:bodyPr/>
          <a:lstStyle>
            <a:lvl1pPr algn="ctr">
              <a:defRPr sz="1600"/>
            </a:lvl1pPr>
          </a:lstStyle>
          <a:p>
            <a:fld id="{C3F47B36-077D-42FE-9DED-0C77CB87E4B3}" type="slidenum">
              <a:rPr lang="zh-CN" altLang="en-US" smtClean="0"/>
              <a:pPr/>
              <a:t>‹#›</a:t>
            </a:fld>
            <a:endParaRPr lang="en-US" altLang="zh-CN" dirty="0"/>
          </a:p>
        </p:txBody>
      </p:sp>
      <p:pic>
        <p:nvPicPr>
          <p:cNvPr id="7" name="20 6">
            <a:extLst>
              <a:ext uri="{FF2B5EF4-FFF2-40B4-BE49-F238E27FC236}">
                <a16:creationId xmlns:a16="http://schemas.microsoft.com/office/drawing/2014/main" id="{E94A7FD3-B299-4610-AC83-3B451DCD06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0240" y="6542278"/>
            <a:ext cx="874512" cy="271098"/>
          </a:xfrm>
          <a:prstGeom prst="rect">
            <a:avLst/>
          </a:prstGeom>
        </p:spPr>
      </p:pic>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lvl1pPr>
              <a:defRPr/>
            </a:lvl1pPr>
          </a:lstStyle>
          <a:p>
            <a:fld id="{5566F1B3-94A1-4D75-BEB5-A24ADF28504A}" type="datetime3">
              <a:rPr lang="zh-CN" altLang="en-US" smtClean="0"/>
              <a:t>2022年10月28日星期五</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dirty="0"/>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fld id="{EA960A4C-2E7A-4BC7-92BB-4811D8BBCCED}" type="datetime3">
              <a:rPr lang="zh-CN" altLang="en-US" smtClean="0"/>
              <a:t>2022年10月28日星期五</a:t>
            </a:fld>
            <a:endParaRPr lang="en-US" altLang="zh-CN" dirty="0"/>
          </a:p>
        </p:txBody>
      </p:sp>
      <p:sp>
        <p:nvSpPr>
          <p:cNvPr id="8" name="页脚占位符 7"/>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dirty="0"/>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fld id="{E4D6D13C-CD6B-463A-856C-AE7EFF1CC60E}" type="datetime3">
              <a:rPr lang="zh-CN" altLang="en-US" smtClean="0"/>
              <a:t>2022年10月28日星期五</a:t>
            </a:fld>
            <a:endParaRPr lang="en-US" altLang="zh-CN" dirty="0"/>
          </a:p>
        </p:txBody>
      </p:sp>
      <p:sp>
        <p:nvSpPr>
          <p:cNvPr id="8" name="页脚占位符 7"/>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dirty="0"/>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5209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41AAF49A-B9BF-4A20-9CBD-058DA3EDBF07}" type="datetime3">
              <a:rPr lang="zh-CN" altLang="en-US" smtClean="0"/>
              <a:t>2022年10月28日星期五</a:t>
            </a:fld>
            <a:endParaRPr lang="en-US" altLang="zh-CN" dirty="0"/>
          </a:p>
        </p:txBody>
      </p:sp>
      <p:sp>
        <p:nvSpPr>
          <p:cNvPr id="4" name="页脚占位符 3"/>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dirty="0"/>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47B4B721-E592-4506-A42D-A485CD36D387}" type="datetime3">
              <a:rPr lang="zh-CN" altLang="en-US" smtClean="0"/>
              <a:t>2022年10月28日星期五</a:t>
            </a:fld>
            <a:endParaRPr lang="en-US" altLang="zh-CN" dirty="0"/>
          </a:p>
        </p:txBody>
      </p:sp>
      <p:sp>
        <p:nvSpPr>
          <p:cNvPr id="3" name="页脚占位符 2"/>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dirty="0"/>
          </a:p>
        </p:txBody>
      </p:sp>
    </p:spTree>
    <p:extLst>
      <p:ext uri="{BB962C8B-B14F-4D97-AF65-F5344CB8AC3E}">
        <p14:creationId xmlns:p14="http://schemas.microsoft.com/office/powerpoint/2010/main" val="60705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A85F4B58-8D9C-4A13-BFBC-1BE0A361A717}" type="datetime3">
              <a:rPr lang="zh-CN" altLang="en-US" smtClean="0"/>
              <a:t>2022年10月28日星期五</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dirty="0"/>
          </a:p>
        </p:txBody>
      </p:sp>
    </p:spTree>
    <p:extLst>
      <p:ext uri="{BB962C8B-B14F-4D97-AF65-F5344CB8AC3E}">
        <p14:creationId xmlns:p14="http://schemas.microsoft.com/office/powerpoint/2010/main" val="198255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20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单击图标添加20</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2460B875-7DB8-40C0-8DE9-C73D2B1839FC}" type="datetime3">
              <a:rPr lang="zh-CN" altLang="en-US" smtClean="0"/>
              <a:t>2022年10月28日星期五</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dirty="0"/>
          </a:p>
        </p:txBody>
      </p:sp>
    </p:spTree>
    <p:extLst>
      <p:ext uri="{BB962C8B-B14F-4D97-AF65-F5344CB8AC3E}">
        <p14:creationId xmlns:p14="http://schemas.microsoft.com/office/powerpoint/2010/main" val="188598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999A547-F978-4B5E-95FF-4A25E1B63B3F}" type="datetime3">
              <a:rPr lang="zh-CN" altLang="en-US" smtClean="0"/>
              <a:t>2022年10月28日星期五</a:t>
            </a:fld>
            <a:endParaRPr lang="en-US" altLang="zh-CN" dirty="0"/>
          </a:p>
        </p:txBody>
      </p:sp>
      <p:sp>
        <p:nvSpPr>
          <p:cNvPr id="5"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dirty="0"/>
          </a:p>
        </p:txBody>
      </p:sp>
    </p:spTree>
    <p:extLst>
      <p:ext uri="{BB962C8B-B14F-4D97-AF65-F5344CB8AC3E}">
        <p14:creationId xmlns:p14="http://schemas.microsoft.com/office/powerpoint/2010/main" val="1684642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D4BF687-6B3E-44A6-8A17-B031BCEB5374}" type="datetime3">
              <a:rPr lang="zh-CN" altLang="en-US" smtClean="0"/>
              <a:t>2022年10月28日星期五</a:t>
            </a:fld>
            <a:endParaRPr lang="en-US" altLang="zh-CN" dirty="0"/>
          </a:p>
        </p:txBody>
      </p:sp>
      <p:sp>
        <p:nvSpPr>
          <p:cNvPr id="5"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dirty="0"/>
          </a:p>
        </p:txBody>
      </p:sp>
    </p:spTree>
    <p:extLst>
      <p:ext uri="{BB962C8B-B14F-4D97-AF65-F5344CB8AC3E}">
        <p14:creationId xmlns:p14="http://schemas.microsoft.com/office/powerpoint/2010/main" val="1291822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fld id="{448BAC07-5643-4648-8B99-28E352517941}" type="datetime3">
              <a:rPr lang="zh-CN" altLang="en-US" smtClean="0"/>
              <a:t>2022年10月28日星期五</a:t>
            </a:fld>
            <a:endParaRPr lang="en-US" altLang="zh-CN" dirty="0"/>
          </a:p>
        </p:txBody>
      </p:sp>
      <p:sp>
        <p:nvSpPr>
          <p:cNvPr id="7" name="页脚占位符 6"/>
          <p:cNvSpPr>
            <a:spLocks noGrp="1"/>
          </p:cNvSpPr>
          <p:nvPr>
            <p:ph type="ftr" sz="quarter" idx="11"/>
          </p:nvPr>
        </p:nvSpPr>
        <p:spPr>
          <a:xfrm>
            <a:off x="3384550" y="6248400"/>
            <a:ext cx="3136900" cy="457200"/>
          </a:xfrm>
          <a:prstGeom prst="rect">
            <a:avLst/>
          </a:prstGeom>
        </p:spPr>
        <p:txBody>
          <a:bodyPr/>
          <a:lstStyle>
            <a:lvl1pPr>
              <a:defRPr/>
            </a:lvl1pPr>
          </a:lstStyle>
          <a:p>
            <a:endParaRPr lang="en-US" altLang="zh-CN" dirty="0"/>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dirty="0"/>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fld id="{3D344004-1B03-4B97-88C0-C8765BDB0F88}" type="datetime3">
              <a:rPr lang="zh-CN" altLang="en-US" smtClean="0"/>
              <a:t>2022年10月28日星期五</a:t>
            </a:fld>
            <a:endParaRPr lang="en-US" altLang="zh-CN" dirty="0"/>
          </a:p>
        </p:txBody>
      </p:sp>
      <p:sp>
        <p:nvSpPr>
          <p:cNvPr id="6" name="页脚占位符 5"/>
          <p:cNvSpPr>
            <a:spLocks noGrp="1"/>
          </p:cNvSpPr>
          <p:nvPr>
            <p:ph type="ftr" sz="quarter" idx="11"/>
          </p:nvPr>
        </p:nvSpPr>
        <p:spPr>
          <a:xfrm>
            <a:off x="3384550" y="6248400"/>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dirty="0"/>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58044" y="44624"/>
            <a:ext cx="9784456"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63500" y="1017862"/>
            <a:ext cx="9784456" cy="5514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58044" y="6542278"/>
            <a:ext cx="2311400" cy="27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ea typeface="宋体" pitchFamily="2" charset="-122"/>
              </a:defRPr>
            </a:lvl1pPr>
          </a:lstStyle>
          <a:p>
            <a:fld id="{9505B10C-6225-4137-9473-CCC2B763FCE5}" type="datetime3">
              <a:rPr lang="zh-CN" altLang="en-US" smtClean="0"/>
              <a:pPr/>
              <a:t>2022年10月28日星期五</a:t>
            </a:fld>
            <a:endParaRPr lang="en-US" altLang="zh-CN" dirty="0"/>
          </a:p>
        </p:txBody>
      </p:sp>
      <p:sp>
        <p:nvSpPr>
          <p:cNvPr id="15366" name="Rectangle 6"/>
          <p:cNvSpPr>
            <a:spLocks noGrp="1" noChangeArrowheads="1"/>
          </p:cNvSpPr>
          <p:nvPr>
            <p:ph type="sldNum" sz="quarter" idx="4"/>
          </p:nvPr>
        </p:nvSpPr>
        <p:spPr bwMode="auto">
          <a:xfrm>
            <a:off x="3797300" y="6533050"/>
            <a:ext cx="2311400" cy="27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itchFamily="2" charset="-122"/>
              </a:defRPr>
            </a:lvl1pPr>
          </a:lstStyle>
          <a:p>
            <a:fld id="{67B052E9-C54A-4603-AE2F-EB72B006DB6C}" type="slidenum">
              <a:rPr lang="zh-CN" altLang="en-US" smtClean="0"/>
              <a:pPr/>
              <a:t>‹#›</a:t>
            </a:fld>
            <a:endParaRPr lang="en-US" altLang="zh-CN" dirty="0"/>
          </a:p>
        </p:txBody>
      </p:sp>
      <p:sp>
        <p:nvSpPr>
          <p:cNvPr id="2"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2" name="20 11">
            <a:extLst>
              <a:ext uri="{FF2B5EF4-FFF2-40B4-BE49-F238E27FC236}">
                <a16:creationId xmlns:a16="http://schemas.microsoft.com/office/drawing/2014/main" id="{482E3178-F79E-4C1F-91C9-D07D79763864}"/>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973444" y="6562880"/>
            <a:ext cx="874512" cy="271098"/>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71"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hf hdr="0" ftr="0"/>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1.wmf"/><Relationship Id="rId3" Type="http://schemas.openxmlformats.org/officeDocument/2006/relationships/image" Target="../media/image7.wmf"/><Relationship Id="rId7" Type="http://schemas.openxmlformats.org/officeDocument/2006/relationships/image" Target="../media/image8.wmf"/><Relationship Id="rId12" Type="http://schemas.openxmlformats.org/officeDocument/2006/relationships/oleObject" Target="../embeddings/oleObject9.bin"/><Relationship Id="rId17" Type="http://schemas.openxmlformats.org/officeDocument/2006/relationships/image" Target="../media/image13.wmf"/><Relationship Id="rId2" Type="http://schemas.openxmlformats.org/officeDocument/2006/relationships/oleObject" Target="../embeddings/oleObject5.bin"/><Relationship Id="rId16"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image" Target="../media/image10.wmf"/><Relationship Id="rId5" Type="http://schemas.openxmlformats.org/officeDocument/2006/relationships/image" Target="../media/image8.png"/><Relationship Id="rId15" Type="http://schemas.openxmlformats.org/officeDocument/2006/relationships/image" Target="../media/image12.wmf"/><Relationship Id="rId10" Type="http://schemas.openxmlformats.org/officeDocument/2006/relationships/oleObject" Target="../embeddings/oleObject8.bin"/><Relationship Id="rId9" Type="http://schemas.openxmlformats.org/officeDocument/2006/relationships/image" Target="../media/image9.wmf"/><Relationship Id="rId14"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oleObject" Target="../embeddings/oleObject15.bin"/><Relationship Id="rId3" Type="http://schemas.openxmlformats.org/officeDocument/2006/relationships/image" Target="../media/image7.wmf"/><Relationship Id="rId7" Type="http://schemas.openxmlformats.org/officeDocument/2006/relationships/image" Target="../media/image19.png"/><Relationship Id="rId12" Type="http://schemas.openxmlformats.org/officeDocument/2006/relationships/image" Target="../media/image20.png"/><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15.wmf"/><Relationship Id="rId5" Type="http://schemas.openxmlformats.org/officeDocument/2006/relationships/image" Target="../media/image8.png"/><Relationship Id="rId15" Type="http://schemas.openxmlformats.org/officeDocument/2006/relationships/image" Target="../media/image21.png"/><Relationship Id="rId10" Type="http://schemas.openxmlformats.org/officeDocument/2006/relationships/oleObject" Target="../embeddings/oleObject14.bin"/><Relationship Id="rId9" Type="http://schemas.openxmlformats.org/officeDocument/2006/relationships/image" Target="../media/image14.wmf"/><Relationship Id="rId14" Type="http://schemas.openxmlformats.org/officeDocument/2006/relationships/image" Target="../media/image16.wmf"/></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20.wmf"/><Relationship Id="rId3" Type="http://schemas.openxmlformats.org/officeDocument/2006/relationships/image" Target="../media/image7.wmf"/><Relationship Id="rId7" Type="http://schemas.openxmlformats.org/officeDocument/2006/relationships/image" Target="../media/image17.wmf"/><Relationship Id="rId12" Type="http://schemas.openxmlformats.org/officeDocument/2006/relationships/oleObject" Target="../embeddings/oleObject21.bin"/><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8.bin"/><Relationship Id="rId11" Type="http://schemas.openxmlformats.org/officeDocument/2006/relationships/image" Target="../media/image19.wmf"/><Relationship Id="rId5" Type="http://schemas.openxmlformats.org/officeDocument/2006/relationships/image" Target="../media/image8.png"/><Relationship Id="rId15" Type="http://schemas.openxmlformats.org/officeDocument/2006/relationships/image" Target="../media/image21.wmf"/><Relationship Id="rId10" Type="http://schemas.openxmlformats.org/officeDocument/2006/relationships/oleObject" Target="../embeddings/oleObject20.bin"/><Relationship Id="rId9" Type="http://schemas.openxmlformats.org/officeDocument/2006/relationships/image" Target="../media/image18.wmf"/><Relationship Id="rId14" Type="http://schemas.openxmlformats.org/officeDocument/2006/relationships/oleObject" Target="../embeddings/oleObject22.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21.wmf"/><Relationship Id="rId3" Type="http://schemas.openxmlformats.org/officeDocument/2006/relationships/image" Target="../media/image7.wmf"/><Relationship Id="rId7" Type="http://schemas.openxmlformats.org/officeDocument/2006/relationships/image" Target="../media/image18.wmf"/><Relationship Id="rId12" Type="http://schemas.openxmlformats.org/officeDocument/2006/relationships/oleObject" Target="../embeddings/oleObject28.bin"/><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20.wmf"/><Relationship Id="rId5" Type="http://schemas.openxmlformats.org/officeDocument/2006/relationships/image" Target="../media/image17.wmf"/><Relationship Id="rId15" Type="http://schemas.openxmlformats.org/officeDocument/2006/relationships/image" Target="../media/image8.png"/><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19.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25.wmf"/><Relationship Id="rId3" Type="http://schemas.openxmlformats.org/officeDocument/2006/relationships/image" Target="../media/image7.wmf"/><Relationship Id="rId7" Type="http://schemas.openxmlformats.org/officeDocument/2006/relationships/image" Target="../media/image22.wmf"/><Relationship Id="rId12" Type="http://schemas.openxmlformats.org/officeDocument/2006/relationships/oleObject" Target="../embeddings/oleObject33.bin"/><Relationship Id="rId2"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24.wmf"/><Relationship Id="rId5" Type="http://schemas.openxmlformats.org/officeDocument/2006/relationships/image" Target="../media/image8.png"/><Relationship Id="rId15" Type="http://schemas.openxmlformats.org/officeDocument/2006/relationships/image" Target="../media/image26.wmf"/><Relationship Id="rId10" Type="http://schemas.openxmlformats.org/officeDocument/2006/relationships/oleObject" Target="../embeddings/oleObject32.bin"/><Relationship Id="rId9" Type="http://schemas.openxmlformats.org/officeDocument/2006/relationships/image" Target="../media/image23.wmf"/><Relationship Id="rId14" Type="http://schemas.openxmlformats.org/officeDocument/2006/relationships/oleObject" Target="../embeddings/oleObject34.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25.wmf"/><Relationship Id="rId3" Type="http://schemas.openxmlformats.org/officeDocument/2006/relationships/image" Target="../media/image7.wmf"/><Relationship Id="rId7" Type="http://schemas.openxmlformats.org/officeDocument/2006/relationships/image" Target="../media/image22.wmf"/><Relationship Id="rId12" Type="http://schemas.openxmlformats.org/officeDocument/2006/relationships/oleObject" Target="../embeddings/oleObject39.bin"/><Relationship Id="rId2"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oleObject" Target="../embeddings/oleObject36.bin"/><Relationship Id="rId11" Type="http://schemas.openxmlformats.org/officeDocument/2006/relationships/image" Target="../media/image24.wmf"/><Relationship Id="rId5" Type="http://schemas.openxmlformats.org/officeDocument/2006/relationships/image" Target="../media/image8.png"/><Relationship Id="rId15" Type="http://schemas.openxmlformats.org/officeDocument/2006/relationships/image" Target="../media/image26.wmf"/><Relationship Id="rId10" Type="http://schemas.openxmlformats.org/officeDocument/2006/relationships/oleObject" Target="../embeddings/oleObject38.bin"/><Relationship Id="rId9" Type="http://schemas.openxmlformats.org/officeDocument/2006/relationships/image" Target="../media/image23.wmf"/><Relationship Id="rId14" Type="http://schemas.openxmlformats.org/officeDocument/2006/relationships/oleObject" Target="../embeddings/oleObject40.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30.wmf"/><Relationship Id="rId3" Type="http://schemas.openxmlformats.org/officeDocument/2006/relationships/image" Target="../media/image7.wmf"/><Relationship Id="rId7" Type="http://schemas.openxmlformats.org/officeDocument/2006/relationships/image" Target="../media/image27.wmf"/><Relationship Id="rId12" Type="http://schemas.openxmlformats.org/officeDocument/2006/relationships/oleObject" Target="../embeddings/oleObject45.bin"/><Relationship Id="rId2" Type="http://schemas.openxmlformats.org/officeDocument/2006/relationships/oleObject" Target="../embeddings/oleObject41.bin"/><Relationship Id="rId1" Type="http://schemas.openxmlformats.org/officeDocument/2006/relationships/slideLayout" Target="../slideLayouts/slideLayout2.xml"/><Relationship Id="rId6" Type="http://schemas.openxmlformats.org/officeDocument/2006/relationships/oleObject" Target="../embeddings/oleObject42.bin"/><Relationship Id="rId11" Type="http://schemas.openxmlformats.org/officeDocument/2006/relationships/image" Target="../media/image29.wmf"/><Relationship Id="rId5" Type="http://schemas.openxmlformats.org/officeDocument/2006/relationships/image" Target="../media/image8.png"/><Relationship Id="rId15" Type="http://schemas.openxmlformats.org/officeDocument/2006/relationships/image" Target="../media/image31.wmf"/><Relationship Id="rId10" Type="http://schemas.openxmlformats.org/officeDocument/2006/relationships/oleObject" Target="../embeddings/oleObject44.bin"/><Relationship Id="rId9" Type="http://schemas.openxmlformats.org/officeDocument/2006/relationships/image" Target="../media/image28.wmf"/><Relationship Id="rId14" Type="http://schemas.openxmlformats.org/officeDocument/2006/relationships/oleObject" Target="../embeddings/oleObject46.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8.bin"/><Relationship Id="rId13" Type="http://schemas.openxmlformats.org/officeDocument/2006/relationships/image" Target="../media/image42.png"/><Relationship Id="rId3" Type="http://schemas.openxmlformats.org/officeDocument/2006/relationships/image" Target="../media/image7.wmf"/><Relationship Id="rId7" Type="http://schemas.openxmlformats.org/officeDocument/2006/relationships/image" Target="../media/image41.png"/><Relationship Id="rId12" Type="http://schemas.openxmlformats.org/officeDocument/2006/relationships/image" Target="../media/image20.png"/><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33.wmf"/><Relationship Id="rId5" Type="http://schemas.openxmlformats.org/officeDocument/2006/relationships/image" Target="../media/image8.png"/><Relationship Id="rId10" Type="http://schemas.openxmlformats.org/officeDocument/2006/relationships/oleObject" Target="../embeddings/oleObject49.bin"/><Relationship Id="rId9" Type="http://schemas.openxmlformats.org/officeDocument/2006/relationships/image" Target="../media/image32.wmf"/></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50.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51.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52.bin"/><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53.bin"/></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37.wmf"/><Relationship Id="rId4" Type="http://schemas.openxmlformats.org/officeDocument/2006/relationships/oleObject" Target="../embeddings/oleObject54.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55.bin"/><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56.bin"/></Relationships>
</file>

<file path=ppt/slides/_rels/slide23.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57.bin"/><Relationship Id="rId1" Type="http://schemas.openxmlformats.org/officeDocument/2006/relationships/slideLayout" Target="../slideLayouts/slideLayout2.xml"/><Relationship Id="rId5" Type="http://schemas.openxmlformats.org/officeDocument/2006/relationships/image" Target="../media/image51.png"/></Relationships>
</file>

<file path=ppt/slides/_rels/slide24.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62.bin"/><Relationship Id="rId18" Type="http://schemas.openxmlformats.org/officeDocument/2006/relationships/image" Target="../media/image46.wmf"/><Relationship Id="rId3" Type="http://schemas.openxmlformats.org/officeDocument/2006/relationships/image" Target="../media/image60.png"/><Relationship Id="rId7" Type="http://schemas.openxmlformats.org/officeDocument/2006/relationships/oleObject" Target="../embeddings/oleObject59.bin"/><Relationship Id="rId12" Type="http://schemas.openxmlformats.org/officeDocument/2006/relationships/image" Target="../media/image43.wmf"/><Relationship Id="rId17" Type="http://schemas.openxmlformats.org/officeDocument/2006/relationships/oleObject" Target="../embeddings/oleObject64.bin"/><Relationship Id="rId16" Type="http://schemas.openxmlformats.org/officeDocument/2006/relationships/image" Target="../media/image45.wmf"/><Relationship Id="rId20" Type="http://schemas.openxmlformats.org/officeDocument/2006/relationships/image" Target="../media/image47.wmf"/><Relationship Id="rId1" Type="http://schemas.openxmlformats.org/officeDocument/2006/relationships/slideLayout" Target="../slideLayouts/slideLayout2.xml"/><Relationship Id="rId6" Type="http://schemas.openxmlformats.org/officeDocument/2006/relationships/image" Target="../media/image40.wmf"/><Relationship Id="rId11" Type="http://schemas.openxmlformats.org/officeDocument/2006/relationships/oleObject" Target="../embeddings/oleObject61.bin"/><Relationship Id="rId5" Type="http://schemas.openxmlformats.org/officeDocument/2006/relationships/oleObject" Target="../embeddings/oleObject58.bin"/><Relationship Id="rId15" Type="http://schemas.openxmlformats.org/officeDocument/2006/relationships/oleObject" Target="../embeddings/oleObject63.bin"/><Relationship Id="rId10" Type="http://schemas.openxmlformats.org/officeDocument/2006/relationships/image" Target="../media/image42.wmf"/><Relationship Id="rId19" Type="http://schemas.openxmlformats.org/officeDocument/2006/relationships/oleObject" Target="../embeddings/oleObject65.bin"/><Relationship Id="rId4" Type="http://schemas.openxmlformats.org/officeDocument/2006/relationships/image" Target="../media/image61.png"/><Relationship Id="rId9" Type="http://schemas.openxmlformats.org/officeDocument/2006/relationships/oleObject" Target="../embeddings/oleObject60.bin"/><Relationship Id="rId14" Type="http://schemas.openxmlformats.org/officeDocument/2006/relationships/image" Target="../media/image44.wmf"/></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40.wmf"/><Relationship Id="rId5" Type="http://schemas.openxmlformats.org/officeDocument/2006/relationships/oleObject" Target="../embeddings/oleObject66.bin"/><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image" Target="../media/image60.png"/><Relationship Id="rId7" Type="http://schemas.openxmlformats.org/officeDocument/2006/relationships/oleObject" Target="../embeddings/oleObject68.bin"/><Relationship Id="rId1" Type="http://schemas.openxmlformats.org/officeDocument/2006/relationships/slideLayout" Target="../slideLayouts/slideLayout2.xml"/><Relationship Id="rId6" Type="http://schemas.openxmlformats.org/officeDocument/2006/relationships/image" Target="../media/image48.wmf"/><Relationship Id="rId5" Type="http://schemas.openxmlformats.org/officeDocument/2006/relationships/oleObject" Target="../embeddings/oleObject67.bin"/><Relationship Id="rId10" Type="http://schemas.openxmlformats.org/officeDocument/2006/relationships/image" Target="../media/image50.wmf"/><Relationship Id="rId4" Type="http://schemas.openxmlformats.org/officeDocument/2006/relationships/image" Target="../media/image61.png"/><Relationship Id="rId9" Type="http://schemas.openxmlformats.org/officeDocument/2006/relationships/oleObject" Target="../embeddings/oleObject69.bin"/></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55.wmf"/><Relationship Id="rId18" Type="http://schemas.openxmlformats.org/officeDocument/2006/relationships/image" Target="../media/image74.png"/><Relationship Id="rId3" Type="http://schemas.openxmlformats.org/officeDocument/2006/relationships/image" Target="../media/image60.png"/><Relationship Id="rId7" Type="http://schemas.openxmlformats.org/officeDocument/2006/relationships/image" Target="../media/image52.wmf"/><Relationship Id="rId12" Type="http://schemas.openxmlformats.org/officeDocument/2006/relationships/oleObject" Target="../embeddings/oleObject74.bin"/><Relationship Id="rId17" Type="http://schemas.openxmlformats.org/officeDocument/2006/relationships/image" Target="../media/image57.wmf"/><Relationship Id="rId16" Type="http://schemas.openxmlformats.org/officeDocument/2006/relationships/oleObject" Target="../embeddings/oleObject76.bin"/><Relationship Id="rId20" Type="http://schemas.openxmlformats.org/officeDocument/2006/relationships/image" Target="../media/image58.wmf"/><Relationship Id="rId1" Type="http://schemas.openxmlformats.org/officeDocument/2006/relationships/slideLayout" Target="../slideLayouts/slideLayout2.xml"/><Relationship Id="rId6" Type="http://schemas.openxmlformats.org/officeDocument/2006/relationships/oleObject" Target="../embeddings/oleObject71.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56.wmf"/><Relationship Id="rId10" Type="http://schemas.openxmlformats.org/officeDocument/2006/relationships/oleObject" Target="../embeddings/oleObject73.bin"/><Relationship Id="rId19" Type="http://schemas.openxmlformats.org/officeDocument/2006/relationships/oleObject" Target="../embeddings/oleObject77.bin"/><Relationship Id="rId4" Type="http://schemas.openxmlformats.org/officeDocument/2006/relationships/oleObject" Target="../embeddings/oleObject70.bin"/><Relationship Id="rId9" Type="http://schemas.openxmlformats.org/officeDocument/2006/relationships/image" Target="../media/image53.wmf"/><Relationship Id="rId14" Type="http://schemas.openxmlformats.org/officeDocument/2006/relationships/oleObject" Target="../embeddings/oleObject75.bin"/></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51.wmf"/><Relationship Id="rId4" Type="http://schemas.openxmlformats.org/officeDocument/2006/relationships/oleObject" Target="../embeddings/oleObject78.bin"/></Relationships>
</file>

<file path=ppt/slides/_rels/slide31.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image" Target="../media/image60.png"/><Relationship Id="rId7" Type="http://schemas.openxmlformats.org/officeDocument/2006/relationships/oleObject" Target="../embeddings/oleObject80.bin"/><Relationship Id="rId1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59.wmf"/><Relationship Id="rId11" Type="http://schemas.openxmlformats.org/officeDocument/2006/relationships/image" Target="../media/image78.png"/><Relationship Id="rId5" Type="http://schemas.openxmlformats.org/officeDocument/2006/relationships/oleObject" Target="../embeddings/oleObject79.bin"/><Relationship Id="rId10" Type="http://schemas.openxmlformats.org/officeDocument/2006/relationships/image" Target="../media/image61.wmf"/><Relationship Id="rId4" Type="http://schemas.openxmlformats.org/officeDocument/2006/relationships/image" Target="../media/image74.png"/><Relationship Id="rId9" Type="http://schemas.openxmlformats.org/officeDocument/2006/relationships/oleObject" Target="../embeddings/oleObject81.bin"/></Relationships>
</file>

<file path=ppt/slides/_rels/slide3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84.bin"/><Relationship Id="rId13" Type="http://schemas.openxmlformats.org/officeDocument/2006/relationships/image" Target="../media/image66.wmf"/><Relationship Id="rId18" Type="http://schemas.openxmlformats.org/officeDocument/2006/relationships/image" Target="../media/image89.png"/><Relationship Id="rId3" Type="http://schemas.openxmlformats.org/officeDocument/2006/relationships/image" Target="../media/image60.png"/><Relationship Id="rId7" Type="http://schemas.openxmlformats.org/officeDocument/2006/relationships/image" Target="../media/image63.wmf"/><Relationship Id="rId12" Type="http://schemas.openxmlformats.org/officeDocument/2006/relationships/oleObject" Target="../embeddings/oleObject86.bin"/><Relationship Id="rId17" Type="http://schemas.openxmlformats.org/officeDocument/2006/relationships/image" Target="../media/image68.wmf"/><Relationship Id="rId16" Type="http://schemas.openxmlformats.org/officeDocument/2006/relationships/oleObject" Target="../embeddings/oleObject88.bin"/><Relationship Id="rId20" Type="http://schemas.openxmlformats.org/officeDocument/2006/relationships/image" Target="../media/image69.wmf"/><Relationship Id="rId1" Type="http://schemas.openxmlformats.org/officeDocument/2006/relationships/slideLayout" Target="../slideLayouts/slideLayout2.xml"/><Relationship Id="rId6" Type="http://schemas.openxmlformats.org/officeDocument/2006/relationships/oleObject" Target="../embeddings/oleObject83.bin"/><Relationship Id="rId11" Type="http://schemas.openxmlformats.org/officeDocument/2006/relationships/image" Target="../media/image65.wmf"/><Relationship Id="rId5" Type="http://schemas.openxmlformats.org/officeDocument/2006/relationships/image" Target="../media/image62.wmf"/><Relationship Id="rId15" Type="http://schemas.openxmlformats.org/officeDocument/2006/relationships/image" Target="../media/image67.wmf"/><Relationship Id="rId10" Type="http://schemas.openxmlformats.org/officeDocument/2006/relationships/oleObject" Target="../embeddings/oleObject85.bin"/><Relationship Id="rId19" Type="http://schemas.openxmlformats.org/officeDocument/2006/relationships/oleObject" Target="../embeddings/oleObject89.bin"/><Relationship Id="rId4" Type="http://schemas.openxmlformats.org/officeDocument/2006/relationships/oleObject" Target="../embeddings/oleObject82.bin"/><Relationship Id="rId9" Type="http://schemas.openxmlformats.org/officeDocument/2006/relationships/image" Target="../media/image64.wmf"/><Relationship Id="rId14" Type="http://schemas.openxmlformats.org/officeDocument/2006/relationships/oleObject" Target="../embeddings/oleObject87.bin"/></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2.wmf"/><Relationship Id="rId5" Type="http://schemas.openxmlformats.org/officeDocument/2006/relationships/oleObject" Target="../embeddings/oleObject90.bin"/><Relationship Id="rId4" Type="http://schemas.openxmlformats.org/officeDocument/2006/relationships/image" Target="../media/image89.png"/></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image" Target="../media/image60.png"/><Relationship Id="rId7" Type="http://schemas.openxmlformats.org/officeDocument/2006/relationships/image" Target="../media/image71.wmf"/><Relationship Id="rId1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oleObject" Target="../embeddings/oleObject92.bin"/><Relationship Id="rId11" Type="http://schemas.openxmlformats.org/officeDocument/2006/relationships/image" Target="../media/image79.png"/><Relationship Id="rId5" Type="http://schemas.openxmlformats.org/officeDocument/2006/relationships/image" Target="../media/image70.wmf"/><Relationship Id="rId10" Type="http://schemas.openxmlformats.org/officeDocument/2006/relationships/image" Target="../media/image93.png"/><Relationship Id="rId4" Type="http://schemas.openxmlformats.org/officeDocument/2006/relationships/oleObject" Target="../embeddings/oleObject91.bin"/><Relationship Id="rId9" Type="http://schemas.openxmlformats.org/officeDocument/2006/relationships/image" Target="../media/image72.wmf"/></Relationships>
</file>

<file path=ppt/slides/_rels/slide3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77.wmf"/><Relationship Id="rId18" Type="http://schemas.openxmlformats.org/officeDocument/2006/relationships/image" Target="../media/image89.png"/><Relationship Id="rId3" Type="http://schemas.openxmlformats.org/officeDocument/2006/relationships/image" Target="../media/image60.png"/><Relationship Id="rId7" Type="http://schemas.openxmlformats.org/officeDocument/2006/relationships/image" Target="../media/image74.wmf"/><Relationship Id="rId12" Type="http://schemas.openxmlformats.org/officeDocument/2006/relationships/oleObject" Target="../embeddings/oleObject98.bin"/><Relationship Id="rId17" Type="http://schemas.openxmlformats.org/officeDocument/2006/relationships/image" Target="../media/image79.wmf"/><Relationship Id="rId16" Type="http://schemas.openxmlformats.org/officeDocument/2006/relationships/oleObject" Target="../embeddings/oleObject100.bin"/><Relationship Id="rId20" Type="http://schemas.openxmlformats.org/officeDocument/2006/relationships/image" Target="../media/image80.wmf"/><Relationship Id="rId1" Type="http://schemas.openxmlformats.org/officeDocument/2006/relationships/slideLayout" Target="../slideLayouts/slideLayout2.xml"/><Relationship Id="rId6" Type="http://schemas.openxmlformats.org/officeDocument/2006/relationships/oleObject" Target="../embeddings/oleObject95.bin"/><Relationship Id="rId11" Type="http://schemas.openxmlformats.org/officeDocument/2006/relationships/image" Target="../media/image76.wmf"/><Relationship Id="rId5" Type="http://schemas.openxmlformats.org/officeDocument/2006/relationships/image" Target="../media/image73.wmf"/><Relationship Id="rId15" Type="http://schemas.openxmlformats.org/officeDocument/2006/relationships/image" Target="../media/image78.wmf"/><Relationship Id="rId10" Type="http://schemas.openxmlformats.org/officeDocument/2006/relationships/oleObject" Target="../embeddings/oleObject97.bin"/><Relationship Id="rId19" Type="http://schemas.openxmlformats.org/officeDocument/2006/relationships/oleObject" Target="../embeddings/oleObject101.bin"/><Relationship Id="rId4" Type="http://schemas.openxmlformats.org/officeDocument/2006/relationships/oleObject" Target="../embeddings/oleObject94.bin"/><Relationship Id="rId9" Type="http://schemas.openxmlformats.org/officeDocument/2006/relationships/image" Target="../media/image75.wmf"/><Relationship Id="rId14" Type="http://schemas.openxmlformats.org/officeDocument/2006/relationships/oleObject" Target="../embeddings/oleObject99.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03.bin"/><Relationship Id="rId3" Type="http://schemas.openxmlformats.org/officeDocument/2006/relationships/image" Target="../media/image60.png"/><Relationship Id="rId7"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73.wmf"/><Relationship Id="rId4" Type="http://schemas.openxmlformats.org/officeDocument/2006/relationships/oleObject" Target="../embeddings/oleObject102.bin"/><Relationship Id="rId9" Type="http://schemas.openxmlformats.org/officeDocument/2006/relationships/image" Target="../media/image81.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oleObject" Target="../embeddings/oleObject104.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53.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53.bin"/><Relationship Id="rId1" Type="http://schemas.openxmlformats.org/officeDocument/2006/relationships/slideLayout" Target="../slideLayouts/slideLayout2.xml"/><Relationship Id="rId5" Type="http://schemas.openxmlformats.org/officeDocument/2006/relationships/image" Target="../media/image83.wmf"/><Relationship Id="rId4" Type="http://schemas.openxmlformats.org/officeDocument/2006/relationships/oleObject" Target="../embeddings/oleObject105.bin"/></Relationships>
</file>

<file path=ppt/slides/_rels/slide46.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oleObject" Target="../embeddings/oleObject106.bin"/><Relationship Id="rId1" Type="http://schemas.openxmlformats.org/officeDocument/2006/relationships/slideLayout" Target="../slideLayouts/slideLayout2.xml"/><Relationship Id="rId5" Type="http://schemas.openxmlformats.org/officeDocument/2006/relationships/image" Target="../media/image84.png"/></Relationships>
</file>

<file path=ppt/slides/_rels/slide47.xml.rels><?xml version="1.0" encoding="UTF-8" standalone="yes"?>
<Relationships xmlns="http://schemas.openxmlformats.org/package/2006/relationships"><Relationship Id="rId3"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84.wmf"/><Relationship Id="rId5" Type="http://schemas.openxmlformats.org/officeDocument/2006/relationships/oleObject" Target="../embeddings/oleObject107.bin"/><Relationship Id="rId4" Type="http://schemas.openxmlformats.org/officeDocument/2006/relationships/image" Target="../media/image87.png"/></Relationships>
</file>

<file path=ppt/slides/_rels/slide4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85.wmf"/><Relationship Id="rId5" Type="http://schemas.openxmlformats.org/officeDocument/2006/relationships/oleObject" Target="../embeddings/oleObject108.bin"/><Relationship Id="rId4" Type="http://schemas.openxmlformats.org/officeDocument/2006/relationships/image" Target="../media/image95.png"/></Relationships>
</file>

<file path=ppt/slides/_rels/slide5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image" Target="../media/image100.png"/><Relationship Id="rId7" Type="http://schemas.openxmlformats.org/officeDocument/2006/relationships/oleObject" Target="../embeddings/oleObject110.bin"/><Relationship Id="rId1" Type="http://schemas.openxmlformats.org/officeDocument/2006/relationships/slideLayout" Target="../slideLayouts/slideLayout2.xml"/><Relationship Id="rId6" Type="http://schemas.openxmlformats.org/officeDocument/2006/relationships/image" Target="../media/image86.wmf"/><Relationship Id="rId5" Type="http://schemas.openxmlformats.org/officeDocument/2006/relationships/oleObject" Target="../embeddings/oleObject109.bin"/><Relationship Id="rId4" Type="http://schemas.openxmlformats.org/officeDocument/2006/relationships/image" Target="../media/image101.png"/></Relationships>
</file>

<file path=ppt/slides/_rels/slide52.xml.rels><?xml version="1.0" encoding="UTF-8" standalone="yes"?>
<Relationships xmlns="http://schemas.openxmlformats.org/package/2006/relationships"><Relationship Id="rId3" Type="http://schemas.openxmlformats.org/officeDocument/2006/relationships/image" Target="../media/image102.png"/><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53.bin"/></Relationships>
</file>

<file path=ppt/slides/_rels/slide53.xml.rels><?xml version="1.0" encoding="UTF-8" standalone="yes"?>
<Relationships xmlns="http://schemas.openxmlformats.org/package/2006/relationships"><Relationship Id="rId3" Type="http://schemas.openxmlformats.org/officeDocument/2006/relationships/image" Target="../media/image103.png"/><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53.bin"/></Relationships>
</file>

<file path=ppt/slides/_rels/slide54.xml.rels><?xml version="1.0" encoding="UTF-8" standalone="yes"?>
<Relationships xmlns="http://schemas.openxmlformats.org/package/2006/relationships"><Relationship Id="rId3"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88.wmf"/><Relationship Id="rId5" Type="http://schemas.openxmlformats.org/officeDocument/2006/relationships/oleObject" Target="../embeddings/oleObject111.bin"/><Relationship Id="rId4" Type="http://schemas.openxmlformats.org/officeDocument/2006/relationships/image" Target="../media/image95.png"/></Relationships>
</file>

<file path=ppt/slides/_rels/slide5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image" Target="../media/image95.png"/><Relationship Id="rId7" Type="http://schemas.openxmlformats.org/officeDocument/2006/relationships/oleObject" Target="../embeddings/oleObject103.bin"/><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89.wmf"/><Relationship Id="rId4" Type="http://schemas.openxmlformats.org/officeDocument/2006/relationships/oleObject" Target="../embeddings/oleObject112.bin"/><Relationship Id="rId9" Type="http://schemas.openxmlformats.org/officeDocument/2006/relationships/image" Target="../media/image10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E2B51CF4-66D4-4F19-97F3-24307D69E6EB}"/>
              </a:ext>
            </a:extLst>
          </p:cNvPr>
          <p:cNvSpPr>
            <a:spLocks noGrp="1"/>
          </p:cNvSpPr>
          <p:nvPr>
            <p:ph type="ctrTitle"/>
          </p:nvPr>
        </p:nvSpPr>
        <p:spPr>
          <a:xfrm>
            <a:off x="944680" y="2636912"/>
            <a:ext cx="8016639" cy="1070582"/>
          </a:xfrm>
        </p:spPr>
        <p:txBody>
          <a:bodyPr anchor="ctr">
            <a:normAutofit fontScale="90000"/>
          </a:bodyPr>
          <a:lstStyle/>
          <a:p>
            <a:r>
              <a:rPr lang="zh-CN" altLang="en-US" sz="7200" dirty="0">
                <a:latin typeface="黑体" panose="02010609060101010101" pitchFamily="49" charset="-122"/>
                <a:ea typeface="黑体" panose="02010609060101010101" pitchFamily="49" charset="-122"/>
              </a:rPr>
              <a:t>最优化理论</a:t>
            </a:r>
            <a:endParaRPr lang="zh-CN" altLang="en-US" sz="4800"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DB188F20-BD1A-4DBF-8204-5DEB489FF2A7}"/>
              </a:ext>
            </a:extLst>
          </p:cNvPr>
          <p:cNvSpPr/>
          <p:nvPr/>
        </p:nvSpPr>
        <p:spPr>
          <a:xfrm>
            <a:off x="2675163" y="3832178"/>
            <a:ext cx="4339650" cy="1200329"/>
          </a:xfrm>
          <a:prstGeom prst="rect">
            <a:avLst/>
          </a:prstGeom>
        </p:spPr>
        <p:txBody>
          <a:bodyPr wrap="none">
            <a:spAutoFit/>
          </a:bodyPr>
          <a:lstStyle/>
          <a:p>
            <a:r>
              <a:rPr lang="zh-CN" altLang="en-US" sz="3600" dirty="0">
                <a:latin typeface="黑体" panose="02010609060101010101" pitchFamily="49" charset="-122"/>
                <a:ea typeface="黑体" panose="02010609060101010101" pitchFamily="49" charset="-122"/>
              </a:rPr>
              <a:t>第</a:t>
            </a:r>
            <a:r>
              <a:rPr lang="en-US" altLang="zh-CN" sz="3600" dirty="0">
                <a:latin typeface="黑体" panose="02010609060101010101" pitchFamily="49" charset="-122"/>
                <a:ea typeface="黑体" panose="02010609060101010101" pitchFamily="49" charset="-122"/>
              </a:rPr>
              <a:t>10</a:t>
            </a:r>
            <a:r>
              <a:rPr lang="zh-CN" altLang="en-US" sz="3600" dirty="0">
                <a:latin typeface="黑体" panose="02010609060101010101" pitchFamily="49" charset="-122"/>
                <a:ea typeface="黑体" panose="02010609060101010101" pitchFamily="49" charset="-122"/>
              </a:rPr>
              <a:t>讲</a:t>
            </a:r>
            <a:r>
              <a:rPr lang="en-US" altLang="zh-CN" sz="3600" dirty="0">
                <a:latin typeface="黑体" panose="02010609060101010101" pitchFamily="49" charset="-122"/>
                <a:ea typeface="黑体" panose="02010609060101010101" pitchFamily="49" charset="-122"/>
              </a:rPr>
              <a:t> </a:t>
            </a:r>
            <a:r>
              <a:rPr lang="zh-CN" altLang="en-US" sz="3600" dirty="0">
                <a:latin typeface="黑体" panose="02010609060101010101" pitchFamily="49" charset="-122"/>
                <a:ea typeface="黑体" panose="02010609060101010101" pitchFamily="49" charset="-122"/>
              </a:rPr>
              <a:t>线性规划</a:t>
            </a:r>
            <a:r>
              <a:rPr lang="en-US" altLang="zh-CN" sz="3600" dirty="0">
                <a:latin typeface="黑体" panose="02010609060101010101" pitchFamily="49" charset="-122"/>
                <a:ea typeface="黑体" panose="02010609060101010101" pitchFamily="49" charset="-122"/>
              </a:rPr>
              <a:t>(2)</a:t>
            </a:r>
          </a:p>
          <a:p>
            <a:pPr algn="ctr"/>
            <a:r>
              <a:rPr lang="zh-CN" altLang="en-US" sz="3600" dirty="0"/>
              <a:t>大</a:t>
            </a:r>
            <a:r>
              <a:rPr lang="en-US" altLang="zh-CN" sz="3600" dirty="0"/>
              <a:t>M</a:t>
            </a:r>
            <a:r>
              <a:rPr lang="zh-CN" altLang="en-US" sz="3600" dirty="0"/>
              <a:t>法和两段法</a:t>
            </a:r>
          </a:p>
        </p:txBody>
      </p:sp>
      <p:sp>
        <p:nvSpPr>
          <p:cNvPr id="7" name="副标题 2">
            <a:extLst>
              <a:ext uri="{FF2B5EF4-FFF2-40B4-BE49-F238E27FC236}">
                <a16:creationId xmlns:a16="http://schemas.microsoft.com/office/drawing/2014/main" id="{9D4C4213-E352-4C4A-BD9E-BD5380CE8F1C}"/>
              </a:ext>
            </a:extLst>
          </p:cNvPr>
          <p:cNvSpPr txBox="1">
            <a:spLocks/>
          </p:cNvSpPr>
          <p:nvPr/>
        </p:nvSpPr>
        <p:spPr bwMode="auto">
          <a:xfrm>
            <a:off x="2360712" y="5157192"/>
            <a:ext cx="4968552" cy="642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lgn="ctr">
              <a:buNone/>
            </a:pPr>
            <a:r>
              <a:rPr lang="zh-CN" altLang="en-US" sz="2400" kern="0" dirty="0">
                <a:latin typeface="黑体" pitchFamily="49" charset="-122"/>
                <a:ea typeface="黑体" pitchFamily="49" charset="-122"/>
              </a:rPr>
              <a:t>辽宁大学 信息学院</a:t>
            </a:r>
          </a:p>
          <a:p>
            <a:pPr algn="ctr"/>
            <a:endParaRPr lang="zh-CN" altLang="en-US" sz="2400" kern="0" dirty="0">
              <a:latin typeface="黑体" pitchFamily="49" charset="-122"/>
              <a:ea typeface="黑体" pitchFamily="49" charset="-122"/>
            </a:endParaRPr>
          </a:p>
        </p:txBody>
      </p:sp>
      <p:sp>
        <p:nvSpPr>
          <p:cNvPr id="3" name="日期占位符 2">
            <a:extLst>
              <a:ext uri="{FF2B5EF4-FFF2-40B4-BE49-F238E27FC236}">
                <a16:creationId xmlns:a16="http://schemas.microsoft.com/office/drawing/2014/main" id="{4C4A68E3-A51C-4F7D-918B-4EC486F2DD75}"/>
              </a:ext>
            </a:extLst>
          </p:cNvPr>
          <p:cNvSpPr>
            <a:spLocks noGrp="1"/>
          </p:cNvSpPr>
          <p:nvPr>
            <p:ph type="dt" sz="half" idx="10"/>
          </p:nvPr>
        </p:nvSpPr>
        <p:spPr/>
        <p:txBody>
          <a:bodyPr/>
          <a:lstStyle/>
          <a:p>
            <a:fld id="{C2039E4A-C161-4DC7-B97B-9882453A8887}" type="datetime3">
              <a:rPr lang="zh-CN" altLang="en-US" sz="1600" smtClean="0"/>
              <a:t>2022年10月28日星期五</a:t>
            </a:fld>
            <a:endParaRPr lang="zh-CN" altLang="en-US" sz="16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644AD-5B74-4F77-90AC-CBBA03CDE0DC}"/>
              </a:ext>
            </a:extLst>
          </p:cNvPr>
          <p:cNvSpPr>
            <a:spLocks noGrp="1"/>
          </p:cNvSpPr>
          <p:nvPr>
            <p:ph type="title"/>
          </p:nvPr>
        </p:nvSpPr>
        <p:spPr/>
        <p:txBody>
          <a:bodyPr/>
          <a:lstStyle/>
          <a:p>
            <a:r>
              <a:rPr lang="zh-CN" altLang="en-US" dirty="0"/>
              <a:t>线性规划</a:t>
            </a:r>
          </a:p>
        </p:txBody>
      </p:sp>
      <p:sp>
        <p:nvSpPr>
          <p:cNvPr id="3" name="内容占位符 2">
            <a:extLst>
              <a:ext uri="{FF2B5EF4-FFF2-40B4-BE49-F238E27FC236}">
                <a16:creationId xmlns:a16="http://schemas.microsoft.com/office/drawing/2014/main" id="{C00834F9-8C99-4AD0-87F5-67C4F1961F02}"/>
              </a:ext>
            </a:extLst>
          </p:cNvPr>
          <p:cNvSpPr>
            <a:spLocks noGrp="1"/>
          </p:cNvSpPr>
          <p:nvPr>
            <p:ph idx="1"/>
          </p:nvPr>
        </p:nvSpPr>
        <p:spPr/>
        <p:txBody>
          <a:bodyPr/>
          <a:lstStyle/>
          <a:p>
            <a:pPr marL="742950" indent="-742950">
              <a:buFont typeface="+mj-lt"/>
              <a:buAutoNum type="arabicPeriod"/>
            </a:pPr>
            <a:r>
              <a:rPr lang="zh-CN" altLang="en-US" b="0" dirty="0">
                <a:solidFill>
                  <a:srgbClr val="FF0000"/>
                </a:solidFill>
              </a:rPr>
              <a:t>线性规划的标准形</a:t>
            </a:r>
            <a:endParaRPr lang="en-US" altLang="zh-CN" b="0" dirty="0">
              <a:solidFill>
                <a:srgbClr val="FF0000"/>
              </a:solidFill>
            </a:endParaRPr>
          </a:p>
          <a:p>
            <a:pPr marL="742950" indent="-742950">
              <a:buFont typeface="+mj-lt"/>
              <a:buAutoNum type="arabicPeriod"/>
            </a:pPr>
            <a:r>
              <a:rPr lang="zh-CN" altLang="en-US" b="0" dirty="0">
                <a:solidFill>
                  <a:srgbClr val="FF0000"/>
                </a:solidFill>
              </a:rPr>
              <a:t>线性规划的可行解与基本可行解</a:t>
            </a:r>
            <a:endParaRPr lang="en-US" altLang="zh-CN" b="0" dirty="0">
              <a:solidFill>
                <a:srgbClr val="FF0000"/>
              </a:solidFill>
            </a:endParaRPr>
          </a:p>
          <a:p>
            <a:pPr marL="742950" indent="-742950">
              <a:buFont typeface="+mj-lt"/>
              <a:buAutoNum type="arabicPeriod"/>
            </a:pPr>
            <a:r>
              <a:rPr lang="zh-CN" altLang="en-US" b="0" dirty="0">
                <a:solidFill>
                  <a:srgbClr val="FF0000"/>
                </a:solidFill>
              </a:rPr>
              <a:t>单纯形法</a:t>
            </a:r>
            <a:endParaRPr lang="en-US" altLang="zh-CN" b="0" dirty="0">
              <a:solidFill>
                <a:srgbClr val="FF0000"/>
              </a:solidFill>
            </a:endParaRPr>
          </a:p>
          <a:p>
            <a:pPr marL="742950" indent="-742950">
              <a:buFont typeface="+mj-lt"/>
              <a:buAutoNum type="arabicPeriod"/>
            </a:pPr>
            <a:r>
              <a:rPr lang="zh-CN" altLang="en-US" b="0" dirty="0">
                <a:solidFill>
                  <a:srgbClr val="FF0000"/>
                </a:solidFill>
              </a:rPr>
              <a:t>单纯形表</a:t>
            </a:r>
            <a:endParaRPr lang="en-US" altLang="zh-CN" b="0" dirty="0">
              <a:solidFill>
                <a:srgbClr val="FF0000"/>
              </a:solidFill>
            </a:endParaRPr>
          </a:p>
          <a:p>
            <a:pPr marL="742950" indent="-742950">
              <a:buFont typeface="+mj-lt"/>
              <a:buAutoNum type="arabicPeriod"/>
            </a:pPr>
            <a:r>
              <a:rPr lang="zh-CN" altLang="en-US" b="0" dirty="0"/>
              <a:t>人工变量法（大</a:t>
            </a:r>
            <a:r>
              <a:rPr lang="en-US" altLang="zh-CN" b="0" dirty="0"/>
              <a:t>M</a:t>
            </a:r>
            <a:r>
              <a:rPr lang="zh-CN" altLang="en-US" b="0" dirty="0"/>
              <a:t>法与两段法）</a:t>
            </a:r>
            <a:endParaRPr lang="en-US" altLang="zh-CN" b="0" dirty="0"/>
          </a:p>
        </p:txBody>
      </p:sp>
      <p:sp>
        <p:nvSpPr>
          <p:cNvPr id="4" name="日期占位符 3">
            <a:extLst>
              <a:ext uri="{FF2B5EF4-FFF2-40B4-BE49-F238E27FC236}">
                <a16:creationId xmlns:a16="http://schemas.microsoft.com/office/drawing/2014/main" id="{9339445D-8EC3-46FB-97D7-EB56D5F4C87E}"/>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5F6E21FE-18DA-4C23-B22B-F5C45B33EF9D}"/>
              </a:ext>
            </a:extLst>
          </p:cNvPr>
          <p:cNvSpPr>
            <a:spLocks noGrp="1"/>
          </p:cNvSpPr>
          <p:nvPr>
            <p:ph type="sldNum" sz="quarter" idx="12"/>
          </p:nvPr>
        </p:nvSpPr>
        <p:spPr/>
        <p:txBody>
          <a:bodyPr/>
          <a:lstStyle/>
          <a:p>
            <a:fld id="{7AC79822-BC0D-4DE8-A7E5-90A3732A2B82}" type="slidenum">
              <a:rPr lang="zh-CN" altLang="en-US" smtClean="0"/>
              <a:pPr/>
              <a:t>2</a:t>
            </a:fld>
            <a:endParaRPr lang="en-US" altLang="zh-CN" dirty="0"/>
          </a:p>
        </p:txBody>
      </p:sp>
    </p:spTree>
    <p:extLst>
      <p:ext uri="{BB962C8B-B14F-4D97-AF65-F5344CB8AC3E}">
        <p14:creationId xmlns:p14="http://schemas.microsoft.com/office/powerpoint/2010/main" val="597975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单纯形法最优解的判断条件</a:t>
            </a:r>
          </a:p>
        </p:txBody>
      </p:sp>
      <p:sp>
        <p:nvSpPr>
          <p:cNvPr id="3" name="内容占位符 2">
            <a:extLst>
              <a:ext uri="{FF2B5EF4-FFF2-40B4-BE49-F238E27FC236}">
                <a16:creationId xmlns:a16="http://schemas.microsoft.com/office/drawing/2014/main" id="{45060CF6-5CA6-4666-9064-2807ECCAEF62}"/>
              </a:ext>
            </a:extLst>
          </p:cNvPr>
          <p:cNvSpPr>
            <a:spLocks noGrp="1"/>
          </p:cNvSpPr>
          <p:nvPr>
            <p:ph idx="1"/>
          </p:nvPr>
        </p:nvSpPr>
        <p:spPr/>
        <p:txBody>
          <a:bodyPr/>
          <a:lstStyle/>
          <a:p>
            <a:r>
              <a:rPr lang="zh-CN" altLang="en-US" dirty="0"/>
              <a:t>例</a:t>
            </a:r>
            <a:r>
              <a:rPr lang="en-US" altLang="zh-CN" dirty="0"/>
              <a:t>1</a:t>
            </a:r>
            <a:r>
              <a:rPr lang="zh-CN" altLang="en-US" dirty="0"/>
              <a:t>：用单纯形法求解下列线性规划问题</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3</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extLst>
              <p:ext uri="{D42A27DB-BD31-4B8C-83A1-F6EECF244321}">
                <p14:modId xmlns:p14="http://schemas.microsoft.com/office/powerpoint/2010/main" val="775492656"/>
              </p:ext>
            </p:extLst>
          </p:nvPr>
        </p:nvGraphicFramePr>
        <p:xfrm>
          <a:off x="1352600" y="1916832"/>
          <a:ext cx="5616624" cy="3333765"/>
        </p:xfrm>
        <a:graphic>
          <a:graphicData uri="http://schemas.openxmlformats.org/presentationml/2006/ole">
            <mc:AlternateContent xmlns:mc="http://schemas.openxmlformats.org/markup-compatibility/2006">
              <mc:Choice xmlns:v="urn:schemas-microsoft-com:vml" Requires="v">
                <p:oleObj name="Equation" r:id="rId2" imgW="1625400" imgH="965160" progId="Equation.DSMT4">
                  <p:embed/>
                </p:oleObj>
              </mc:Choice>
              <mc:Fallback>
                <p:oleObj name="Equation" r:id="rId2" imgW="1625400" imgH="965160" progId="Equation.DSMT4">
                  <p:embed/>
                  <p:pic>
                    <p:nvPicPr>
                      <p:cNvPr id="8" name="对象 7">
                        <a:extLst>
                          <a:ext uri="{FF2B5EF4-FFF2-40B4-BE49-F238E27FC236}">
                            <a16:creationId xmlns:a16="http://schemas.microsoft.com/office/drawing/2014/main" id="{3409BACD-478F-4951-B329-F442683C7F14}"/>
                          </a:ext>
                        </a:extLst>
                      </p:cNvPr>
                      <p:cNvPicPr/>
                      <p:nvPr/>
                    </p:nvPicPr>
                    <p:blipFill>
                      <a:blip r:embed="rId3"/>
                      <a:stretch>
                        <a:fillRect/>
                      </a:stretch>
                    </p:blipFill>
                    <p:spPr>
                      <a:xfrm>
                        <a:off x="1352600" y="1916832"/>
                        <a:ext cx="5616624" cy="3333765"/>
                      </a:xfrm>
                      <a:prstGeom prst="rect">
                        <a:avLst/>
                      </a:prstGeom>
                      <a:ln w="28575">
                        <a:noFill/>
                      </a:ln>
                    </p:spPr>
                  </p:pic>
                </p:oleObj>
              </mc:Fallback>
            </mc:AlternateContent>
          </a:graphicData>
        </a:graphic>
      </p:graphicFrame>
    </p:spTree>
    <p:extLst>
      <p:ext uri="{BB962C8B-B14F-4D97-AF65-F5344CB8AC3E}">
        <p14:creationId xmlns:p14="http://schemas.microsoft.com/office/powerpoint/2010/main" val="112805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4</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extLst>
              <p:ext uri="{D42A27DB-BD31-4B8C-83A1-F6EECF244321}">
                <p14:modId xmlns:p14="http://schemas.microsoft.com/office/powerpoint/2010/main" val="304442448"/>
              </p:ext>
            </p:extLst>
          </p:nvPr>
        </p:nvGraphicFramePr>
        <p:xfrm>
          <a:off x="5502544" y="1125981"/>
          <a:ext cx="4403456" cy="2613685"/>
        </p:xfrm>
        <a:graphic>
          <a:graphicData uri="http://schemas.openxmlformats.org/presentationml/2006/ole">
            <mc:AlternateContent xmlns:mc="http://schemas.openxmlformats.org/markup-compatibility/2006">
              <mc:Choice xmlns:v="urn:schemas-microsoft-com:vml" Requires="v">
                <p:oleObj name="Equation" r:id="rId2" imgW="1625400" imgH="965160" progId="Equation.DSMT4">
                  <p:embed/>
                </p:oleObj>
              </mc:Choice>
              <mc:Fallback>
                <p:oleObj name="Equation" r:id="rId2" imgW="162540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502544" y="1125981"/>
                        <a:ext cx="4403456" cy="2613685"/>
                      </a:xfrm>
                      <a:prstGeom prst="rect">
                        <a:avLst/>
                      </a:prstGeom>
                      <a:ln w="28575">
                        <a:noFill/>
                      </a:ln>
                    </p:spPr>
                  </p:pic>
                </p:oleObj>
              </mc:Fallback>
            </mc:AlternateContent>
          </a:graphicData>
        </a:graphic>
      </p:graphicFrame>
      <p:sp>
        <p:nvSpPr>
          <p:cNvPr id="9" name="文本框 8">
            <a:extLst>
              <a:ext uri="{FF2B5EF4-FFF2-40B4-BE49-F238E27FC236}">
                <a16:creationId xmlns:a16="http://schemas.microsoft.com/office/drawing/2014/main" id="{22D309AC-A548-473A-A28D-20C7382385CE}"/>
              </a:ext>
            </a:extLst>
          </p:cNvPr>
          <p:cNvSpPr txBox="1"/>
          <p:nvPr/>
        </p:nvSpPr>
        <p:spPr>
          <a:xfrm>
            <a:off x="92949" y="1156062"/>
            <a:ext cx="2379177" cy="523220"/>
          </a:xfrm>
          <a:prstGeom prst="rect">
            <a:avLst/>
          </a:prstGeom>
          <a:noFill/>
        </p:spPr>
        <p:txBody>
          <a:bodyPr wrap="none" rtlCol="0">
            <a:spAutoFit/>
          </a:bodyPr>
          <a:lstStyle/>
          <a:p>
            <a:r>
              <a:rPr lang="en-US" altLang="zh-CN" sz="2800" dirty="0"/>
              <a:t>1. </a:t>
            </a:r>
            <a:r>
              <a:rPr lang="zh-CN" altLang="en-US" sz="2800" dirty="0"/>
              <a:t>化成标准形</a:t>
            </a:r>
            <a:endParaRPr lang="en-US" altLang="zh-CN" sz="2800" dirty="0"/>
          </a:p>
        </p:txBody>
      </p:sp>
      <p:graphicFrame>
        <p:nvGraphicFramePr>
          <p:cNvPr id="10" name="对象 9">
            <a:extLst>
              <a:ext uri="{FF2B5EF4-FFF2-40B4-BE49-F238E27FC236}">
                <a16:creationId xmlns:a16="http://schemas.microsoft.com/office/drawing/2014/main" id="{3865AFC7-1D0A-4C15-BD7C-37B2ED11466B}"/>
              </a:ext>
            </a:extLst>
          </p:cNvPr>
          <p:cNvGraphicFramePr>
            <a:graphicFrameLocks noChangeAspect="1"/>
          </p:cNvGraphicFramePr>
          <p:nvPr>
            <p:extLst>
              <p:ext uri="{D42A27DB-BD31-4B8C-83A1-F6EECF244321}">
                <p14:modId xmlns:p14="http://schemas.microsoft.com/office/powerpoint/2010/main" val="1152809453"/>
              </p:ext>
            </p:extLst>
          </p:nvPr>
        </p:nvGraphicFramePr>
        <p:xfrm>
          <a:off x="5400675" y="4064000"/>
          <a:ext cx="4540250" cy="2614613"/>
        </p:xfrm>
        <a:graphic>
          <a:graphicData uri="http://schemas.openxmlformats.org/presentationml/2006/ole">
            <mc:AlternateContent xmlns:mc="http://schemas.openxmlformats.org/markup-compatibility/2006">
              <mc:Choice xmlns:v="urn:schemas-microsoft-com:vml" Requires="v">
                <p:oleObj name="Equation" r:id="rId4" imgW="1676160" imgH="965160" progId="Equation.DSMT4">
                  <p:embed/>
                </p:oleObj>
              </mc:Choice>
              <mc:Fallback>
                <p:oleObj name="Equation" r:id="rId4"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5"/>
                      <a:stretch>
                        <a:fillRect/>
                      </a:stretch>
                    </p:blipFill>
                    <p:spPr>
                      <a:xfrm>
                        <a:off x="5400675" y="4064000"/>
                        <a:ext cx="4540250" cy="2614613"/>
                      </a:xfrm>
                      <a:prstGeom prst="rect">
                        <a:avLst/>
                      </a:prstGeom>
                      <a:ln w="28575">
                        <a:noFill/>
                      </a:ln>
                    </p:spPr>
                  </p:pic>
                </p:oleObj>
              </mc:Fallback>
            </mc:AlternateContent>
          </a:graphicData>
        </a:graphic>
      </p:graphicFrame>
      <p:sp>
        <p:nvSpPr>
          <p:cNvPr id="11" name="文本框 10">
            <a:extLst>
              <a:ext uri="{FF2B5EF4-FFF2-40B4-BE49-F238E27FC236}">
                <a16:creationId xmlns:a16="http://schemas.microsoft.com/office/drawing/2014/main" id="{1FD6470E-07A2-409F-9983-47EA70511BFC}"/>
              </a:ext>
            </a:extLst>
          </p:cNvPr>
          <p:cNvSpPr txBox="1"/>
          <p:nvPr/>
        </p:nvSpPr>
        <p:spPr>
          <a:xfrm>
            <a:off x="470526" y="1869848"/>
            <a:ext cx="4403456" cy="3046988"/>
          </a:xfrm>
          <a:prstGeom prst="rect">
            <a:avLst/>
          </a:prstGeom>
          <a:noFill/>
        </p:spPr>
        <p:txBody>
          <a:bodyPr wrap="square" rtlCol="0">
            <a:spAutoFit/>
          </a:bodyPr>
          <a:lstStyle/>
          <a:p>
            <a:pPr marL="342900" indent="-342900">
              <a:buFont typeface="+mj-ea"/>
              <a:buAutoNum type="circleNumDbPlain"/>
            </a:pPr>
            <a:r>
              <a:rPr lang="zh-CN" altLang="en-US" sz="2400" dirty="0"/>
              <a:t>将目标函数化成</a:t>
            </a:r>
            <a:r>
              <a:rPr lang="en-US" altLang="zh-CN" sz="2400" dirty="0"/>
              <a:t>min</a:t>
            </a:r>
            <a:r>
              <a:rPr lang="zh-CN" altLang="en-US" sz="2400" dirty="0"/>
              <a:t>形式</a:t>
            </a:r>
            <a:endParaRPr lang="en-US" altLang="zh-CN" sz="2400" dirty="0"/>
          </a:p>
          <a:p>
            <a:pPr marL="342900" indent="-342900">
              <a:buFont typeface="+mj-ea"/>
              <a:buAutoNum type="circleNumDbPlain"/>
            </a:pPr>
            <a:r>
              <a:rPr lang="zh-CN" altLang="en-US" sz="2400" dirty="0"/>
              <a:t>分别将约束条件中除变量非负之外的不等式约束变成等式约束：</a:t>
            </a:r>
            <a:endParaRPr lang="en-US" altLang="zh-CN" sz="2400" dirty="0"/>
          </a:p>
          <a:p>
            <a:pPr marL="914400" lvl="1" indent="-457200">
              <a:buFont typeface="+mj-lt"/>
              <a:buAutoNum type="alphaLcParenR"/>
            </a:pPr>
            <a:r>
              <a:rPr lang="zh-CN" altLang="en-US" sz="2400" dirty="0"/>
              <a:t>小于等于情况加上一个非负变量</a:t>
            </a:r>
            <a:endParaRPr lang="en-US" altLang="zh-CN" sz="2400" dirty="0"/>
          </a:p>
          <a:p>
            <a:pPr marL="914400" lvl="1" indent="-457200">
              <a:buFont typeface="+mj-lt"/>
              <a:buAutoNum type="alphaLcParenR"/>
            </a:pPr>
            <a:r>
              <a:rPr lang="zh-CN" altLang="en-US" sz="2400" dirty="0"/>
              <a:t>大于等于情况减去一个非负变量</a:t>
            </a:r>
          </a:p>
        </p:txBody>
      </p:sp>
      <p:sp>
        <p:nvSpPr>
          <p:cNvPr id="12" name="箭头: 左弧形 11">
            <a:extLst>
              <a:ext uri="{FF2B5EF4-FFF2-40B4-BE49-F238E27FC236}">
                <a16:creationId xmlns:a16="http://schemas.microsoft.com/office/drawing/2014/main" id="{C685E2B4-2955-4298-AD65-C23CB70F5F70}"/>
              </a:ext>
            </a:extLst>
          </p:cNvPr>
          <p:cNvSpPr/>
          <p:nvPr/>
        </p:nvSpPr>
        <p:spPr bwMode="auto">
          <a:xfrm>
            <a:off x="4592960" y="3429000"/>
            <a:ext cx="792088" cy="1368152"/>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24427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Vertical)">
                                      <p:cBhvr>
                                        <p:cTn id="17" dur="500"/>
                                        <p:tgtEl>
                                          <p:spTgt spid="12"/>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5</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extLst>
              <p:ext uri="{D42A27DB-BD31-4B8C-83A1-F6EECF244321}">
                <p14:modId xmlns:p14="http://schemas.microsoft.com/office/powerpoint/2010/main" val="3535144497"/>
              </p:ext>
            </p:extLst>
          </p:nvPr>
        </p:nvGraphicFramePr>
        <p:xfrm>
          <a:off x="5364163" y="4029722"/>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64163" y="4029722"/>
                        <a:ext cx="4541837" cy="2614612"/>
                      </a:xfrm>
                      <a:prstGeom prst="rect">
                        <a:avLst/>
                      </a:prstGeom>
                      <a:ln w="28575">
                        <a:noFill/>
                      </a:ln>
                    </p:spPr>
                  </p:pic>
                </p:oleObj>
              </mc:Fallback>
            </mc:AlternateContent>
          </a:graphicData>
        </a:graphic>
      </p:graphicFrame>
      <p:sp>
        <p:nvSpPr>
          <p:cNvPr id="9" name="文本框 8">
            <a:extLst>
              <a:ext uri="{FF2B5EF4-FFF2-40B4-BE49-F238E27FC236}">
                <a16:creationId xmlns:a16="http://schemas.microsoft.com/office/drawing/2014/main" id="{22D309AC-A548-473A-A28D-20C7382385CE}"/>
              </a:ext>
            </a:extLst>
          </p:cNvPr>
          <p:cNvSpPr txBox="1"/>
          <p:nvPr/>
        </p:nvSpPr>
        <p:spPr>
          <a:xfrm>
            <a:off x="92949" y="1156062"/>
            <a:ext cx="3815468" cy="523220"/>
          </a:xfrm>
          <a:prstGeom prst="rect">
            <a:avLst/>
          </a:prstGeom>
          <a:noFill/>
        </p:spPr>
        <p:txBody>
          <a:bodyPr wrap="none" rtlCol="0">
            <a:spAutoFit/>
          </a:bodyPr>
          <a:lstStyle/>
          <a:p>
            <a:r>
              <a:rPr lang="en-US" altLang="zh-CN" sz="2800" dirty="0"/>
              <a:t>2. </a:t>
            </a:r>
            <a:r>
              <a:rPr lang="zh-CN" altLang="en-US" sz="2800" dirty="0"/>
              <a:t>填写初始化单纯形表</a:t>
            </a:r>
            <a:endParaRPr lang="en-US" altLang="zh-CN" sz="2800" dirty="0"/>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ext uri="{D42A27DB-BD31-4B8C-83A1-F6EECF244321}">
                    <p14:modId xmlns:p14="http://schemas.microsoft.com/office/powerpoint/2010/main" val="3202584876"/>
                  </p:ext>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ext uri="{D42A27DB-BD31-4B8C-83A1-F6EECF244321}">
                    <p14:modId xmlns:p14="http://schemas.microsoft.com/office/powerpoint/2010/main" val="3202584876"/>
                  </p:ext>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sp>
        <p:nvSpPr>
          <p:cNvPr id="3" name="矩形 2">
            <a:extLst>
              <a:ext uri="{FF2B5EF4-FFF2-40B4-BE49-F238E27FC236}">
                <a16:creationId xmlns:a16="http://schemas.microsoft.com/office/drawing/2014/main" id="{C572AA37-FF0F-4DB4-8987-4B25E6C3B8A5}"/>
              </a:ext>
            </a:extLst>
          </p:cNvPr>
          <p:cNvSpPr/>
          <p:nvPr/>
        </p:nvSpPr>
        <p:spPr>
          <a:xfrm>
            <a:off x="-107056" y="1811472"/>
            <a:ext cx="4953000" cy="4154984"/>
          </a:xfrm>
          <a:prstGeom prst="rect">
            <a:avLst/>
          </a:prstGeom>
        </p:spPr>
        <p:txBody>
          <a:bodyPr>
            <a:spAutoFit/>
          </a:bodyPr>
          <a:lstStyle/>
          <a:p>
            <a:pPr marL="800100" lvl="1" indent="-342900">
              <a:buFont typeface="+mj-ea"/>
              <a:buAutoNum type="circleNumDbPlain"/>
            </a:pPr>
            <a:r>
              <a:rPr lang="zh-CN" altLang="en-US" sz="2400" dirty="0"/>
              <a:t>将变量填入</a:t>
            </a:r>
            <a:r>
              <a:rPr lang="en-US" altLang="zh-CN" sz="2400" dirty="0">
                <a:solidFill>
                  <a:srgbClr val="C00000"/>
                </a:solidFill>
              </a:rPr>
              <a:t>X</a:t>
            </a:r>
            <a:r>
              <a:rPr lang="zh-CN" altLang="en-US" sz="2400" dirty="0"/>
              <a:t>对应的行</a:t>
            </a:r>
            <a:endParaRPr lang="en-US" altLang="zh-CN" sz="2400" dirty="0"/>
          </a:p>
          <a:p>
            <a:pPr marL="800100" lvl="1" indent="-342900">
              <a:buFont typeface="+mj-ea"/>
              <a:buAutoNum type="circleNumDbPlain"/>
            </a:pPr>
            <a:r>
              <a:rPr lang="zh-CN" altLang="en-US" sz="2400" dirty="0"/>
              <a:t>将变量系数填入</a:t>
            </a:r>
            <a:r>
              <a:rPr lang="en-US" altLang="zh-CN" sz="2400" b="1" dirty="0">
                <a:solidFill>
                  <a:srgbClr val="FF0000"/>
                </a:solidFill>
              </a:rPr>
              <a:t>C</a:t>
            </a:r>
            <a:r>
              <a:rPr lang="zh-CN" altLang="en-US" sz="2400" dirty="0"/>
              <a:t>对应的</a:t>
            </a:r>
            <a:r>
              <a:rPr lang="zh-CN" altLang="en-US" sz="2400" dirty="0">
                <a:solidFill>
                  <a:srgbClr val="0000FF"/>
                </a:solidFill>
              </a:rPr>
              <a:t>行</a:t>
            </a:r>
            <a:endParaRPr lang="en-US" altLang="zh-CN" sz="2400" dirty="0">
              <a:solidFill>
                <a:srgbClr val="0000FF"/>
              </a:solidFill>
            </a:endParaRPr>
          </a:p>
          <a:p>
            <a:pPr marL="800100" lvl="1" indent="-342900">
              <a:buFont typeface="+mj-ea"/>
              <a:buAutoNum type="circleNumDbPlain"/>
            </a:pPr>
            <a:r>
              <a:rPr lang="zh-CN" altLang="en-US" sz="2400" dirty="0"/>
              <a:t>将等式约束的系数矩阵</a:t>
            </a:r>
            <a:r>
              <a:rPr lang="en-US" altLang="zh-CN" sz="2400" dirty="0"/>
              <a:t>A</a:t>
            </a:r>
            <a:r>
              <a:rPr lang="zh-CN" altLang="en-US" sz="2400" dirty="0"/>
              <a:t>对应填写到</a:t>
            </a:r>
            <a:r>
              <a:rPr lang="en-US" altLang="zh-CN" sz="2400" dirty="0"/>
              <a:t>C</a:t>
            </a:r>
            <a:r>
              <a:rPr lang="zh-CN" altLang="en-US" sz="2400" dirty="0"/>
              <a:t>那一行下面的方格中</a:t>
            </a:r>
            <a:endParaRPr lang="en-US" altLang="zh-CN" sz="2400" dirty="0"/>
          </a:p>
          <a:p>
            <a:pPr marL="800100" lvl="1" indent="-342900">
              <a:buFont typeface="+mj-ea"/>
              <a:buAutoNum type="circleNumDbPlain"/>
            </a:pPr>
            <a:r>
              <a:rPr lang="zh-CN" altLang="en-US" sz="2400" dirty="0"/>
              <a:t>将等式方程右边的值填入</a:t>
            </a:r>
            <a:r>
              <a:rPr lang="en-US" altLang="zh-CN" sz="2400" b="1" dirty="0">
                <a:solidFill>
                  <a:srgbClr val="FF0000"/>
                </a:solidFill>
              </a:rPr>
              <a:t>b</a:t>
            </a:r>
            <a:r>
              <a:rPr lang="zh-CN" altLang="en-US" sz="2400" dirty="0"/>
              <a:t>对应的列</a:t>
            </a:r>
            <a:endParaRPr lang="en-US" altLang="zh-CN" sz="2400" dirty="0"/>
          </a:p>
          <a:p>
            <a:pPr marL="800100" lvl="1" indent="-342900">
              <a:buFont typeface="+mj-ea"/>
              <a:buAutoNum type="circleNumDbPlain"/>
            </a:pPr>
            <a:r>
              <a:rPr lang="zh-CN" altLang="en-US" sz="2400" dirty="0"/>
              <a:t>观察矩阵，找到能够形成单位阵的对应</a:t>
            </a:r>
            <a:r>
              <a:rPr lang="en-US" altLang="zh-CN" sz="2400" dirty="0"/>
              <a:t>m(m=3)</a:t>
            </a:r>
            <a:r>
              <a:rPr lang="zh-CN" altLang="en-US" sz="2400" dirty="0"/>
              <a:t>个变量，填入到</a:t>
            </a:r>
            <a:r>
              <a:rPr lang="en-US" altLang="zh-CN" sz="2400" b="1" dirty="0">
                <a:solidFill>
                  <a:srgbClr val="FF0000"/>
                </a:solidFill>
              </a:rPr>
              <a:t>X</a:t>
            </a:r>
            <a:r>
              <a:rPr lang="en-US" altLang="zh-CN" sz="2400" b="1" baseline="30000" dirty="0">
                <a:solidFill>
                  <a:srgbClr val="FF0000"/>
                </a:solidFill>
              </a:rPr>
              <a:t>B</a:t>
            </a:r>
            <a:r>
              <a:rPr lang="zh-CN" altLang="en-US" sz="2400" dirty="0"/>
              <a:t>对应的列中，并且将对应的系数填入到</a:t>
            </a:r>
            <a:r>
              <a:rPr lang="en-US" altLang="zh-CN" sz="2400" b="1" dirty="0">
                <a:solidFill>
                  <a:srgbClr val="FF0000"/>
                </a:solidFill>
              </a:rPr>
              <a:t>C</a:t>
            </a:r>
            <a:r>
              <a:rPr lang="zh-CN" altLang="en-US" sz="2400" dirty="0"/>
              <a:t>对应的</a:t>
            </a:r>
            <a:r>
              <a:rPr lang="zh-CN" altLang="en-US" sz="2400" dirty="0">
                <a:solidFill>
                  <a:srgbClr val="0000FF"/>
                </a:solidFill>
              </a:rPr>
              <a:t>列中</a:t>
            </a:r>
            <a:r>
              <a:rPr lang="zh-CN" altLang="en-US" sz="2400" dirty="0"/>
              <a:t>。</a:t>
            </a:r>
            <a:endParaRPr lang="en-US" altLang="zh-CN" sz="2400" dirty="0"/>
          </a:p>
        </p:txBody>
      </p:sp>
      <p:graphicFrame>
        <p:nvGraphicFramePr>
          <p:cNvPr id="7" name="表格 6">
            <a:extLst>
              <a:ext uri="{FF2B5EF4-FFF2-40B4-BE49-F238E27FC236}">
                <a16:creationId xmlns:a16="http://schemas.microsoft.com/office/drawing/2014/main" id="{6C074F35-ACB2-4384-ACBA-4D3D733D1B36}"/>
              </a:ext>
            </a:extLst>
          </p:cNvPr>
          <p:cNvGraphicFramePr>
            <a:graphicFrameLocks noGrp="1"/>
          </p:cNvGraphicFramePr>
          <p:nvPr>
            <p:extLst>
              <p:ext uri="{D42A27DB-BD31-4B8C-83A1-F6EECF244321}">
                <p14:modId xmlns:p14="http://schemas.microsoft.com/office/powerpoint/2010/main" val="1460606370"/>
              </p:ext>
            </p:extLst>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14" name="表格 13">
            <a:extLst>
              <a:ext uri="{FF2B5EF4-FFF2-40B4-BE49-F238E27FC236}">
                <a16:creationId xmlns:a16="http://schemas.microsoft.com/office/drawing/2014/main" id="{574227DE-1004-498A-BFD8-E7A64282A48B}"/>
              </a:ext>
            </a:extLst>
          </p:cNvPr>
          <p:cNvGraphicFramePr>
            <a:graphicFrameLocks noGrp="1"/>
          </p:cNvGraphicFramePr>
          <p:nvPr>
            <p:extLst>
              <p:ext uri="{D42A27DB-BD31-4B8C-83A1-F6EECF244321}">
                <p14:modId xmlns:p14="http://schemas.microsoft.com/office/powerpoint/2010/main" val="332971668"/>
              </p:ext>
            </p:extLst>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8" name="表格 7">
            <a:extLst>
              <a:ext uri="{FF2B5EF4-FFF2-40B4-BE49-F238E27FC236}">
                <a16:creationId xmlns:a16="http://schemas.microsoft.com/office/drawing/2014/main" id="{01D8952E-9027-420F-A6C3-EDB5369C574F}"/>
              </a:ext>
            </a:extLst>
          </p:cNvPr>
          <p:cNvGraphicFramePr>
            <a:graphicFrameLocks noGrp="1"/>
          </p:cNvGraphicFramePr>
          <p:nvPr>
            <p:extLst>
              <p:ext uri="{D42A27DB-BD31-4B8C-83A1-F6EECF244321}">
                <p14:modId xmlns:p14="http://schemas.microsoft.com/office/powerpoint/2010/main" val="4104003813"/>
              </p:ext>
            </p:extLst>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10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16" name="表格 15">
            <a:extLst>
              <a:ext uri="{FF2B5EF4-FFF2-40B4-BE49-F238E27FC236}">
                <a16:creationId xmlns:a16="http://schemas.microsoft.com/office/drawing/2014/main" id="{8256599C-FB40-40E4-91D9-E7C4251ACD31}"/>
              </a:ext>
            </a:extLst>
          </p:cNvPr>
          <p:cNvGraphicFramePr>
            <a:graphicFrameLocks noGrp="1"/>
          </p:cNvGraphicFramePr>
          <p:nvPr>
            <p:extLst>
              <p:ext uri="{D42A27DB-BD31-4B8C-83A1-F6EECF244321}">
                <p14:modId xmlns:p14="http://schemas.microsoft.com/office/powerpoint/2010/main" val="3174705877"/>
              </p:ext>
            </p:extLst>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17" name="表格 16">
            <a:extLst>
              <a:ext uri="{FF2B5EF4-FFF2-40B4-BE49-F238E27FC236}">
                <a16:creationId xmlns:a16="http://schemas.microsoft.com/office/drawing/2014/main" id="{2021199C-14A2-4A6F-AF26-25829592C895}"/>
              </a:ext>
            </a:extLst>
          </p:cNvPr>
          <p:cNvGraphicFramePr>
            <a:graphicFrameLocks noGrp="1"/>
          </p:cNvGraphicFramePr>
          <p:nvPr>
            <p:extLst>
              <p:ext uri="{D42A27DB-BD31-4B8C-83A1-F6EECF244321}">
                <p14:modId xmlns:p14="http://schemas.microsoft.com/office/powerpoint/2010/main" val="1421978884"/>
              </p:ext>
            </p:extLst>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x4</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p:spTree>
    <p:extLst>
      <p:ext uri="{BB962C8B-B14F-4D97-AF65-F5344CB8AC3E}">
        <p14:creationId xmlns:p14="http://schemas.microsoft.com/office/powerpoint/2010/main" val="154474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 calcmode="lin" valueType="num">
                                      <p:cBhvr additive="base">
                                        <p:cTn id="2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2" end="2"/>
                                            </p:txEl>
                                          </p:spTgt>
                                        </p:tgtEl>
                                        <p:attrNameLst>
                                          <p:attrName>style.visibility</p:attrName>
                                        </p:attrNameLst>
                                      </p:cBhvr>
                                      <p:to>
                                        <p:strVal val="visible"/>
                                      </p:to>
                                    </p:set>
                                    <p:anim calcmode="lin" valueType="num">
                                      <p:cBhvr additive="base">
                                        <p:cTn id="3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arn(inVertical)">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additive="base">
                                        <p:cTn id="4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500" fill="hold"/>
                                        <p:tgtEl>
                                          <p:spTgt spid="8"/>
                                        </p:tgtEl>
                                        <p:attrNameLst>
                                          <p:attrName>ppt_x</p:attrName>
                                        </p:attrNameLst>
                                      </p:cBhvr>
                                      <p:tavLst>
                                        <p:tav tm="0">
                                          <p:val>
                                            <p:strVal val="#ppt_x"/>
                                          </p:val>
                                        </p:tav>
                                        <p:tav tm="100000">
                                          <p:val>
                                            <p:strVal val="#ppt_x"/>
                                          </p:val>
                                        </p:tav>
                                      </p:tavLst>
                                    </p:anim>
                                    <p:anim calcmode="lin" valueType="num">
                                      <p:cBhvr additive="base">
                                        <p:cTn id="5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4" end="4"/>
                                            </p:txEl>
                                          </p:spTgt>
                                        </p:tgtEl>
                                        <p:attrNameLst>
                                          <p:attrName>style.visibility</p:attrName>
                                        </p:attrNameLst>
                                      </p:cBhvr>
                                      <p:to>
                                        <p:strVal val="visible"/>
                                      </p:to>
                                    </p:set>
                                    <p:anim calcmode="lin" valueType="num">
                                      <p:cBhvr additive="base">
                                        <p:cTn id="5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6</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nvGraphicFramePr>
        <p:xfrm>
          <a:off x="5364163" y="4029722"/>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64163" y="4029722"/>
                        <a:ext cx="4541837" cy="2614612"/>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ext uri="{D42A27DB-BD31-4B8C-83A1-F6EECF244321}">
                    <p14:modId xmlns:p14="http://schemas.microsoft.com/office/powerpoint/2010/main" val="2438039625"/>
                  </p:ext>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ext uri="{D42A27DB-BD31-4B8C-83A1-F6EECF244321}">
                    <p14:modId xmlns:p14="http://schemas.microsoft.com/office/powerpoint/2010/main" val="2438039625"/>
                  </p:ext>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7" name="表格 6">
            <a:extLst>
              <a:ext uri="{FF2B5EF4-FFF2-40B4-BE49-F238E27FC236}">
                <a16:creationId xmlns:a16="http://schemas.microsoft.com/office/drawing/2014/main" id="{6C074F35-ACB2-4384-ACBA-4D3D733D1B36}"/>
              </a:ext>
            </a:extLst>
          </p:cNvPr>
          <p:cNvGraphicFramePr>
            <a:graphicFrameLocks noGrp="1"/>
          </p:cNvGraphicFramePr>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14" name="表格 13">
            <a:extLst>
              <a:ext uri="{FF2B5EF4-FFF2-40B4-BE49-F238E27FC236}">
                <a16:creationId xmlns:a16="http://schemas.microsoft.com/office/drawing/2014/main" id="{574227DE-1004-498A-BFD8-E7A64282A48B}"/>
              </a:ext>
            </a:extLst>
          </p:cNvPr>
          <p:cNvGraphicFramePr>
            <a:graphicFrameLocks noGrp="1"/>
          </p:cNvGraphicFramePr>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8" name="表格 7">
            <a:extLst>
              <a:ext uri="{FF2B5EF4-FFF2-40B4-BE49-F238E27FC236}">
                <a16:creationId xmlns:a16="http://schemas.microsoft.com/office/drawing/2014/main" id="{01D8952E-9027-420F-A6C3-EDB5369C574F}"/>
              </a:ext>
            </a:extLst>
          </p:cNvPr>
          <p:cNvGraphicFramePr>
            <a:graphicFrameLocks noGrp="1"/>
          </p:cNvGraphicFramePr>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10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16" name="表格 15">
            <a:extLst>
              <a:ext uri="{FF2B5EF4-FFF2-40B4-BE49-F238E27FC236}">
                <a16:creationId xmlns:a16="http://schemas.microsoft.com/office/drawing/2014/main" id="{8256599C-FB40-40E4-91D9-E7C4251ACD31}"/>
              </a:ext>
            </a:extLst>
          </p:cNvPr>
          <p:cNvGraphicFramePr>
            <a:graphicFrameLocks noGrp="1"/>
          </p:cNvGraphicFramePr>
          <p:nvPr>
            <p:extLst>
              <p:ext uri="{D42A27DB-BD31-4B8C-83A1-F6EECF244321}">
                <p14:modId xmlns:p14="http://schemas.microsoft.com/office/powerpoint/2010/main" val="3337053805"/>
              </p:ext>
            </p:extLst>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17" name="表格 16">
            <a:extLst>
              <a:ext uri="{FF2B5EF4-FFF2-40B4-BE49-F238E27FC236}">
                <a16:creationId xmlns:a16="http://schemas.microsoft.com/office/drawing/2014/main" id="{2021199C-14A2-4A6F-AF26-25829592C895}"/>
              </a:ext>
            </a:extLst>
          </p:cNvPr>
          <p:cNvGraphicFramePr>
            <a:graphicFrameLocks noGrp="1"/>
          </p:cNvGraphicFramePr>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x4</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p:sp>
        <p:nvSpPr>
          <p:cNvPr id="15" name="文本框 14">
            <a:extLst>
              <a:ext uri="{FF2B5EF4-FFF2-40B4-BE49-F238E27FC236}">
                <a16:creationId xmlns:a16="http://schemas.microsoft.com/office/drawing/2014/main" id="{3C54385E-9831-49A5-A60E-E0CB8B844CC6}"/>
              </a:ext>
            </a:extLst>
          </p:cNvPr>
          <p:cNvSpPr txBox="1"/>
          <p:nvPr/>
        </p:nvSpPr>
        <p:spPr>
          <a:xfrm>
            <a:off x="-15552" y="1124744"/>
            <a:ext cx="4680520" cy="1938992"/>
          </a:xfrm>
          <a:prstGeom prst="rect">
            <a:avLst/>
          </a:prstGeom>
          <a:noFill/>
        </p:spPr>
        <p:txBody>
          <a:bodyPr wrap="square" rtlCol="0">
            <a:spAutoFit/>
          </a:bodyPr>
          <a:lstStyle/>
          <a:p>
            <a:r>
              <a:rPr lang="en-US" altLang="zh-CN" sz="2400" dirty="0"/>
              <a:t>3. </a:t>
            </a:r>
            <a:r>
              <a:rPr lang="zh-CN" altLang="en-US" sz="2400" dirty="0"/>
              <a:t>求解初始化基本可行解</a:t>
            </a:r>
            <a:endParaRPr lang="en-US" altLang="zh-CN" sz="2400" dirty="0"/>
          </a:p>
          <a:p>
            <a:pPr marL="800100" lvl="1" indent="-342900">
              <a:buFont typeface="+mj-ea"/>
              <a:buAutoNum type="circleNumDbPlain"/>
            </a:pPr>
            <a:r>
              <a:rPr lang="zh-CN" altLang="en-US" sz="2400" dirty="0"/>
              <a:t>令</a:t>
            </a:r>
            <a:r>
              <a:rPr lang="en-US" altLang="zh-CN" sz="2400" b="1" dirty="0">
                <a:solidFill>
                  <a:srgbClr val="FF0000"/>
                </a:solidFill>
              </a:rPr>
              <a:t>X</a:t>
            </a:r>
            <a:r>
              <a:rPr lang="en-US" altLang="zh-CN" sz="2400" b="1" baseline="30000" dirty="0">
                <a:solidFill>
                  <a:srgbClr val="FF0000"/>
                </a:solidFill>
              </a:rPr>
              <a:t>B</a:t>
            </a:r>
            <a:r>
              <a:rPr lang="zh-CN" altLang="en-US" sz="2400" dirty="0"/>
              <a:t>所在列对应的变量等于</a:t>
            </a:r>
            <a:r>
              <a:rPr lang="en-US" altLang="zh-CN" sz="2400" b="1" dirty="0">
                <a:solidFill>
                  <a:srgbClr val="FF0000"/>
                </a:solidFill>
              </a:rPr>
              <a:t>b</a:t>
            </a:r>
            <a:r>
              <a:rPr lang="zh-CN" altLang="en-US" sz="2400" dirty="0"/>
              <a:t>所在列对应的数值，令其他非</a:t>
            </a:r>
            <a:r>
              <a:rPr lang="en-US" altLang="zh-CN" sz="2400" b="1" dirty="0">
                <a:solidFill>
                  <a:srgbClr val="FF0000"/>
                </a:solidFill>
              </a:rPr>
              <a:t>X</a:t>
            </a:r>
            <a:r>
              <a:rPr lang="en-US" altLang="zh-CN" sz="2400" b="1" baseline="30000" dirty="0">
                <a:solidFill>
                  <a:srgbClr val="FF0000"/>
                </a:solidFill>
              </a:rPr>
              <a:t>B</a:t>
            </a:r>
            <a:r>
              <a:rPr lang="zh-CN" altLang="en-US" sz="2400" dirty="0"/>
              <a:t>变量等于</a:t>
            </a:r>
            <a:r>
              <a:rPr lang="en-US" altLang="zh-CN" sz="2400" dirty="0"/>
              <a:t>0</a:t>
            </a:r>
            <a:r>
              <a:rPr lang="zh-CN" altLang="en-US" sz="2400" dirty="0"/>
              <a:t>。即为基本可行解。</a:t>
            </a:r>
            <a:endParaRPr lang="en-US" altLang="zh-CN" sz="2400" dirty="0"/>
          </a:p>
        </p:txBody>
      </p:sp>
      <p:graphicFrame>
        <p:nvGraphicFramePr>
          <p:cNvPr id="18" name="对象 17">
            <a:extLst>
              <a:ext uri="{FF2B5EF4-FFF2-40B4-BE49-F238E27FC236}">
                <a16:creationId xmlns:a16="http://schemas.microsoft.com/office/drawing/2014/main" id="{D3B018E3-77EF-4A8F-94D1-9C4AB16B642F}"/>
              </a:ext>
            </a:extLst>
          </p:cNvPr>
          <p:cNvGraphicFramePr>
            <a:graphicFrameLocks noChangeAspect="1"/>
          </p:cNvGraphicFramePr>
          <p:nvPr>
            <p:extLst>
              <p:ext uri="{D42A27DB-BD31-4B8C-83A1-F6EECF244321}">
                <p14:modId xmlns:p14="http://schemas.microsoft.com/office/powerpoint/2010/main" val="3039462051"/>
              </p:ext>
            </p:extLst>
          </p:nvPr>
        </p:nvGraphicFramePr>
        <p:xfrm>
          <a:off x="816313" y="3114901"/>
          <a:ext cx="2141538" cy="530225"/>
        </p:xfrm>
        <a:graphic>
          <a:graphicData uri="http://schemas.openxmlformats.org/presentationml/2006/ole">
            <mc:AlternateContent xmlns:mc="http://schemas.openxmlformats.org/markup-compatibility/2006">
              <mc:Choice xmlns:v="urn:schemas-microsoft-com:vml" Requires="v">
                <p:oleObj name="Equation" r:id="rId6" imgW="1130040" imgH="279360" progId="Equation.DSMT4">
                  <p:embed/>
                </p:oleObj>
              </mc:Choice>
              <mc:Fallback>
                <p:oleObj name="Equation" r:id="rId6" imgW="1130040" imgH="279360" progId="Equation.DSMT4">
                  <p:embed/>
                  <p:pic>
                    <p:nvPicPr>
                      <p:cNvPr id="39" name="对象 38">
                        <a:extLst>
                          <a:ext uri="{FF2B5EF4-FFF2-40B4-BE49-F238E27FC236}">
                            <a16:creationId xmlns:a16="http://schemas.microsoft.com/office/drawing/2014/main" id="{D3F5616A-3488-48E2-A10E-5040A87D28EB}"/>
                          </a:ext>
                        </a:extLst>
                      </p:cNvPr>
                      <p:cNvPicPr/>
                      <p:nvPr/>
                    </p:nvPicPr>
                    <p:blipFill>
                      <a:blip r:embed="rId7"/>
                      <a:stretch>
                        <a:fillRect/>
                      </a:stretch>
                    </p:blipFill>
                    <p:spPr>
                      <a:xfrm>
                        <a:off x="816313" y="3114901"/>
                        <a:ext cx="2141538" cy="530225"/>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2607BD2D-365F-4916-8616-53380CD08506}"/>
              </a:ext>
            </a:extLst>
          </p:cNvPr>
          <p:cNvSpPr txBox="1"/>
          <p:nvPr/>
        </p:nvSpPr>
        <p:spPr>
          <a:xfrm>
            <a:off x="74936" y="3645126"/>
            <a:ext cx="4680520" cy="1938992"/>
          </a:xfrm>
          <a:prstGeom prst="rect">
            <a:avLst/>
          </a:prstGeom>
          <a:noFill/>
        </p:spPr>
        <p:txBody>
          <a:bodyPr wrap="square" rtlCol="0">
            <a:spAutoFit/>
          </a:bodyPr>
          <a:lstStyle/>
          <a:p>
            <a:r>
              <a:rPr lang="en-US" altLang="zh-CN" sz="2400" dirty="0"/>
              <a:t>4. </a:t>
            </a:r>
            <a:r>
              <a:rPr lang="zh-CN" altLang="en-US" sz="2400" dirty="0"/>
              <a:t>计算判别数𝜎</a:t>
            </a:r>
            <a:endParaRPr lang="en-US" altLang="zh-CN" sz="2400" dirty="0"/>
          </a:p>
          <a:p>
            <a:pPr marL="800100" lvl="1" indent="-342900">
              <a:buFont typeface="+mj-ea"/>
              <a:buAutoNum type="circleNumDbPlain"/>
            </a:pPr>
            <a:r>
              <a:rPr lang="zh-CN" altLang="en-US" sz="2400" dirty="0"/>
              <a:t>令</a:t>
            </a:r>
            <a:r>
              <a:rPr lang="en-US" altLang="zh-CN" sz="2400" b="1" dirty="0">
                <a:solidFill>
                  <a:srgbClr val="FF0000"/>
                </a:solidFill>
              </a:rPr>
              <a:t>X</a:t>
            </a:r>
            <a:r>
              <a:rPr lang="en-US" altLang="zh-CN" sz="2400" b="1" baseline="30000" dirty="0">
                <a:solidFill>
                  <a:srgbClr val="FF0000"/>
                </a:solidFill>
              </a:rPr>
              <a:t>B</a:t>
            </a:r>
            <a:r>
              <a:rPr lang="zh-CN" altLang="en-US" sz="2400" dirty="0"/>
              <a:t>所在列对应的变量对应的系数表示为</a:t>
            </a:r>
            <a:r>
              <a:rPr lang="en-US" altLang="zh-CN" sz="2400" b="1" dirty="0">
                <a:solidFill>
                  <a:srgbClr val="0000FF"/>
                </a:solidFill>
              </a:rPr>
              <a:t>C</a:t>
            </a:r>
            <a:r>
              <a:rPr lang="en-US" altLang="zh-CN" sz="2400" b="1" baseline="30000" dirty="0">
                <a:solidFill>
                  <a:srgbClr val="0000FF"/>
                </a:solidFill>
              </a:rPr>
              <a:t>B</a:t>
            </a:r>
            <a:r>
              <a:rPr lang="zh-CN" altLang="en-US" sz="2400" dirty="0"/>
              <a:t>，。则对应的判别数可以用如下公式获得：</a:t>
            </a:r>
            <a:endParaRPr lang="en-US" altLang="zh-CN" sz="2400" dirty="0"/>
          </a:p>
        </p:txBody>
      </p:sp>
      <p:graphicFrame>
        <p:nvGraphicFramePr>
          <p:cNvPr id="20" name="对象 19">
            <a:extLst>
              <a:ext uri="{FF2B5EF4-FFF2-40B4-BE49-F238E27FC236}">
                <a16:creationId xmlns:a16="http://schemas.microsoft.com/office/drawing/2014/main" id="{7A8333AE-5372-424A-98A1-E08D7A2B1A48}"/>
              </a:ext>
            </a:extLst>
          </p:cNvPr>
          <p:cNvGraphicFramePr>
            <a:graphicFrameLocks noChangeAspect="1"/>
          </p:cNvGraphicFramePr>
          <p:nvPr>
            <p:extLst>
              <p:ext uri="{D42A27DB-BD31-4B8C-83A1-F6EECF244321}">
                <p14:modId xmlns:p14="http://schemas.microsoft.com/office/powerpoint/2010/main" val="2229790744"/>
              </p:ext>
            </p:extLst>
          </p:nvPr>
        </p:nvGraphicFramePr>
        <p:xfrm>
          <a:off x="906910" y="5584118"/>
          <a:ext cx="2768600" cy="868363"/>
        </p:xfrm>
        <a:graphic>
          <a:graphicData uri="http://schemas.openxmlformats.org/presentationml/2006/ole">
            <mc:AlternateContent xmlns:mc="http://schemas.openxmlformats.org/markup-compatibility/2006">
              <mc:Choice xmlns:v="urn:schemas-microsoft-com:vml" Requires="v">
                <p:oleObj name="Equation" r:id="rId8" imgW="1460160" imgH="457200" progId="Equation.DSMT4">
                  <p:embed/>
                </p:oleObj>
              </mc:Choice>
              <mc:Fallback>
                <p:oleObj name="Equation" r:id="rId8" imgW="1460160" imgH="457200" progId="Equation.DSMT4">
                  <p:embed/>
                  <p:pic>
                    <p:nvPicPr>
                      <p:cNvPr id="49" name="对象 48">
                        <a:extLst>
                          <a:ext uri="{FF2B5EF4-FFF2-40B4-BE49-F238E27FC236}">
                            <a16:creationId xmlns:a16="http://schemas.microsoft.com/office/drawing/2014/main" id="{1CCC8766-AA0C-483C-BEE2-98F7DC852992}"/>
                          </a:ext>
                        </a:extLst>
                      </p:cNvPr>
                      <p:cNvPicPr/>
                      <p:nvPr/>
                    </p:nvPicPr>
                    <p:blipFill>
                      <a:blip r:embed="rId9"/>
                      <a:stretch>
                        <a:fillRect/>
                      </a:stretch>
                    </p:blipFill>
                    <p:spPr>
                      <a:xfrm>
                        <a:off x="906910" y="5584118"/>
                        <a:ext cx="2768600" cy="868363"/>
                      </a:xfrm>
                      <a:prstGeom prst="rect">
                        <a:avLst/>
                      </a:prstGeom>
                    </p:spPr>
                  </p:pic>
                </p:oleObj>
              </mc:Fallback>
            </mc:AlternateContent>
          </a:graphicData>
        </a:graphic>
      </p:graphicFrame>
      <p:sp>
        <p:nvSpPr>
          <p:cNvPr id="10" name="矩形 9">
            <a:extLst>
              <a:ext uri="{FF2B5EF4-FFF2-40B4-BE49-F238E27FC236}">
                <a16:creationId xmlns:a16="http://schemas.microsoft.com/office/drawing/2014/main" id="{83D64C67-9977-4851-A186-4CC216AC022E}"/>
              </a:ext>
            </a:extLst>
          </p:cNvPr>
          <p:cNvSpPr/>
          <p:nvPr/>
        </p:nvSpPr>
        <p:spPr>
          <a:xfrm>
            <a:off x="6178206" y="3411036"/>
            <a:ext cx="412292" cy="400110"/>
          </a:xfrm>
          <a:prstGeom prst="rect">
            <a:avLst/>
          </a:prstGeom>
        </p:spPr>
        <p:txBody>
          <a:bodyPr wrap="none">
            <a:spAutoFit/>
          </a:bodyPr>
          <a:lstStyle/>
          <a:p>
            <a:pPr algn="ctr"/>
            <a:r>
              <a:rPr lang="en-US" altLang="zh-CN" sz="2000" dirty="0"/>
              <a:t>-2</a:t>
            </a:r>
            <a:endParaRPr lang="zh-CN" altLang="en-US" sz="2000" dirty="0"/>
          </a:p>
        </p:txBody>
      </p:sp>
      <p:graphicFrame>
        <p:nvGraphicFramePr>
          <p:cNvPr id="21" name="对象 20">
            <a:extLst>
              <a:ext uri="{FF2B5EF4-FFF2-40B4-BE49-F238E27FC236}">
                <a16:creationId xmlns:a16="http://schemas.microsoft.com/office/drawing/2014/main" id="{4ABF4B3F-3048-4BE1-9546-044635BAB8B2}"/>
              </a:ext>
            </a:extLst>
          </p:cNvPr>
          <p:cNvGraphicFramePr>
            <a:graphicFrameLocks noChangeAspect="1"/>
          </p:cNvGraphicFramePr>
          <p:nvPr>
            <p:extLst>
              <p:ext uri="{D42A27DB-BD31-4B8C-83A1-F6EECF244321}">
                <p14:modId xmlns:p14="http://schemas.microsoft.com/office/powerpoint/2010/main" val="2166154123"/>
              </p:ext>
            </p:extLst>
          </p:nvPr>
        </p:nvGraphicFramePr>
        <p:xfrm>
          <a:off x="4845943" y="-32097"/>
          <a:ext cx="3587750" cy="1012825"/>
        </p:xfrm>
        <a:graphic>
          <a:graphicData uri="http://schemas.openxmlformats.org/presentationml/2006/ole">
            <mc:AlternateContent xmlns:mc="http://schemas.openxmlformats.org/markup-compatibility/2006">
              <mc:Choice xmlns:v="urn:schemas-microsoft-com:vml" Requires="v">
                <p:oleObj name="Equation" r:id="rId10" imgW="1892160" imgH="533160" progId="Equation.DSMT4">
                  <p:embed/>
                </p:oleObj>
              </mc:Choice>
              <mc:Fallback>
                <p:oleObj name="Equation" r:id="rId10" imgW="1892160" imgH="533160" progId="Equation.DSMT4">
                  <p:embed/>
                  <p:pic>
                    <p:nvPicPr>
                      <p:cNvPr id="50" name="对象 49">
                        <a:extLst>
                          <a:ext uri="{FF2B5EF4-FFF2-40B4-BE49-F238E27FC236}">
                            <a16:creationId xmlns:a16="http://schemas.microsoft.com/office/drawing/2014/main" id="{B304DE49-A9E6-420A-B830-70F08E1401F2}"/>
                          </a:ext>
                        </a:extLst>
                      </p:cNvPr>
                      <p:cNvPicPr/>
                      <p:nvPr/>
                    </p:nvPicPr>
                    <p:blipFill>
                      <a:blip r:embed="rId11"/>
                      <a:stretch>
                        <a:fillRect/>
                      </a:stretch>
                    </p:blipFill>
                    <p:spPr>
                      <a:xfrm>
                        <a:off x="4845943" y="-32097"/>
                        <a:ext cx="3587750" cy="1012825"/>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8D885AD0-9CFC-432B-901E-DC7ABCEAD12D}"/>
              </a:ext>
            </a:extLst>
          </p:cNvPr>
          <p:cNvGraphicFramePr>
            <a:graphicFrameLocks noChangeAspect="1"/>
          </p:cNvGraphicFramePr>
          <p:nvPr>
            <p:extLst>
              <p:ext uri="{D42A27DB-BD31-4B8C-83A1-F6EECF244321}">
                <p14:modId xmlns:p14="http://schemas.microsoft.com/office/powerpoint/2010/main" val="1427270662"/>
              </p:ext>
            </p:extLst>
          </p:nvPr>
        </p:nvGraphicFramePr>
        <p:xfrm>
          <a:off x="4845943" y="-24601"/>
          <a:ext cx="3708400" cy="1012825"/>
        </p:xfrm>
        <a:graphic>
          <a:graphicData uri="http://schemas.openxmlformats.org/presentationml/2006/ole">
            <mc:AlternateContent xmlns:mc="http://schemas.openxmlformats.org/markup-compatibility/2006">
              <mc:Choice xmlns:v="urn:schemas-microsoft-com:vml" Requires="v">
                <p:oleObj name="Equation" r:id="rId12" imgW="1955520" imgH="533160" progId="Equation.DSMT4">
                  <p:embed/>
                </p:oleObj>
              </mc:Choice>
              <mc:Fallback>
                <p:oleObj name="Equation" r:id="rId12" imgW="1955520" imgH="533160" progId="Equation.DSMT4">
                  <p:embed/>
                  <p:pic>
                    <p:nvPicPr>
                      <p:cNvPr id="21" name="对象 20">
                        <a:extLst>
                          <a:ext uri="{FF2B5EF4-FFF2-40B4-BE49-F238E27FC236}">
                            <a16:creationId xmlns:a16="http://schemas.microsoft.com/office/drawing/2014/main" id="{4ABF4B3F-3048-4BE1-9546-044635BAB8B2}"/>
                          </a:ext>
                        </a:extLst>
                      </p:cNvPr>
                      <p:cNvPicPr/>
                      <p:nvPr/>
                    </p:nvPicPr>
                    <p:blipFill>
                      <a:blip r:embed="rId13"/>
                      <a:stretch>
                        <a:fillRect/>
                      </a:stretch>
                    </p:blipFill>
                    <p:spPr>
                      <a:xfrm>
                        <a:off x="4845943" y="-24601"/>
                        <a:ext cx="3708400" cy="1012825"/>
                      </a:xfrm>
                      <a:prstGeom prst="rect">
                        <a:avLst/>
                      </a:prstGeom>
                    </p:spPr>
                  </p:pic>
                </p:oleObj>
              </mc:Fallback>
            </mc:AlternateContent>
          </a:graphicData>
        </a:graphic>
      </p:graphicFrame>
      <p:sp>
        <p:nvSpPr>
          <p:cNvPr id="24" name="矩形 23">
            <a:extLst>
              <a:ext uri="{FF2B5EF4-FFF2-40B4-BE49-F238E27FC236}">
                <a16:creationId xmlns:a16="http://schemas.microsoft.com/office/drawing/2014/main" id="{B4F49B7E-6B1C-4C44-AA2B-1F239B7DCEE7}"/>
              </a:ext>
            </a:extLst>
          </p:cNvPr>
          <p:cNvSpPr/>
          <p:nvPr/>
        </p:nvSpPr>
        <p:spPr>
          <a:xfrm>
            <a:off x="6825208" y="3411036"/>
            <a:ext cx="412292" cy="400110"/>
          </a:xfrm>
          <a:prstGeom prst="rect">
            <a:avLst/>
          </a:prstGeom>
        </p:spPr>
        <p:txBody>
          <a:bodyPr wrap="none">
            <a:spAutoFit/>
          </a:bodyPr>
          <a:lstStyle/>
          <a:p>
            <a:pPr algn="ctr"/>
            <a:r>
              <a:rPr lang="en-US" altLang="zh-CN" sz="2000" dirty="0"/>
              <a:t>-1</a:t>
            </a:r>
            <a:endParaRPr lang="zh-CN" altLang="en-US" sz="2000" dirty="0"/>
          </a:p>
        </p:txBody>
      </p:sp>
      <p:graphicFrame>
        <p:nvGraphicFramePr>
          <p:cNvPr id="25" name="对象 24">
            <a:extLst>
              <a:ext uri="{FF2B5EF4-FFF2-40B4-BE49-F238E27FC236}">
                <a16:creationId xmlns:a16="http://schemas.microsoft.com/office/drawing/2014/main" id="{86CBD1CC-06E7-48F2-964D-E8FB0B32FF03}"/>
              </a:ext>
            </a:extLst>
          </p:cNvPr>
          <p:cNvGraphicFramePr>
            <a:graphicFrameLocks noChangeAspect="1"/>
          </p:cNvGraphicFramePr>
          <p:nvPr>
            <p:extLst>
              <p:ext uri="{D42A27DB-BD31-4B8C-83A1-F6EECF244321}">
                <p14:modId xmlns:p14="http://schemas.microsoft.com/office/powerpoint/2010/main" val="125215362"/>
              </p:ext>
            </p:extLst>
          </p:nvPr>
        </p:nvGraphicFramePr>
        <p:xfrm>
          <a:off x="4845943" y="-24601"/>
          <a:ext cx="3636962" cy="1012825"/>
        </p:xfrm>
        <a:graphic>
          <a:graphicData uri="http://schemas.openxmlformats.org/presentationml/2006/ole">
            <mc:AlternateContent xmlns:mc="http://schemas.openxmlformats.org/markup-compatibility/2006">
              <mc:Choice xmlns:v="urn:schemas-microsoft-com:vml" Requires="v">
                <p:oleObj name="Equation" r:id="rId14" imgW="1917360" imgH="533160" progId="Equation.DSMT4">
                  <p:embed/>
                </p:oleObj>
              </mc:Choice>
              <mc:Fallback>
                <p:oleObj name="Equation" r:id="rId14" imgW="1917360" imgH="533160" progId="Equation.DSMT4">
                  <p:embed/>
                  <p:pic>
                    <p:nvPicPr>
                      <p:cNvPr id="23" name="对象 22">
                        <a:extLst>
                          <a:ext uri="{FF2B5EF4-FFF2-40B4-BE49-F238E27FC236}">
                            <a16:creationId xmlns:a16="http://schemas.microsoft.com/office/drawing/2014/main" id="{8D885AD0-9CFC-432B-901E-DC7ABCEAD12D}"/>
                          </a:ext>
                        </a:extLst>
                      </p:cNvPr>
                      <p:cNvPicPr/>
                      <p:nvPr/>
                    </p:nvPicPr>
                    <p:blipFill>
                      <a:blip r:embed="rId15"/>
                      <a:stretch>
                        <a:fillRect/>
                      </a:stretch>
                    </p:blipFill>
                    <p:spPr>
                      <a:xfrm>
                        <a:off x="4845943" y="-24601"/>
                        <a:ext cx="3636962" cy="1012825"/>
                      </a:xfrm>
                      <a:prstGeom prst="rect">
                        <a:avLst/>
                      </a:prstGeom>
                    </p:spPr>
                  </p:pic>
                </p:oleObj>
              </mc:Fallback>
            </mc:AlternateContent>
          </a:graphicData>
        </a:graphic>
      </p:graphicFrame>
      <p:sp>
        <p:nvSpPr>
          <p:cNvPr id="26" name="矩形 25">
            <a:extLst>
              <a:ext uri="{FF2B5EF4-FFF2-40B4-BE49-F238E27FC236}">
                <a16:creationId xmlns:a16="http://schemas.microsoft.com/office/drawing/2014/main" id="{54DFA477-D57D-4C81-B2E5-1FC1A8BFC5E8}"/>
              </a:ext>
            </a:extLst>
          </p:cNvPr>
          <p:cNvSpPr/>
          <p:nvPr/>
        </p:nvSpPr>
        <p:spPr>
          <a:xfrm>
            <a:off x="7514689" y="3411036"/>
            <a:ext cx="327333" cy="400110"/>
          </a:xfrm>
          <a:prstGeom prst="rect">
            <a:avLst/>
          </a:prstGeom>
        </p:spPr>
        <p:txBody>
          <a:bodyPr wrap="none">
            <a:spAutoFit/>
          </a:bodyPr>
          <a:lstStyle/>
          <a:p>
            <a:pPr algn="ctr"/>
            <a:r>
              <a:rPr lang="en-US" altLang="zh-CN" sz="2000" dirty="0"/>
              <a:t>0</a:t>
            </a:r>
            <a:endParaRPr lang="zh-CN" altLang="en-US" sz="2000" dirty="0"/>
          </a:p>
        </p:txBody>
      </p:sp>
      <p:graphicFrame>
        <p:nvGraphicFramePr>
          <p:cNvPr id="28" name="对象 27">
            <a:extLst>
              <a:ext uri="{FF2B5EF4-FFF2-40B4-BE49-F238E27FC236}">
                <a16:creationId xmlns:a16="http://schemas.microsoft.com/office/drawing/2014/main" id="{8016363C-E32C-4A09-BB75-1575C2A89002}"/>
              </a:ext>
            </a:extLst>
          </p:cNvPr>
          <p:cNvGraphicFramePr>
            <a:graphicFrameLocks noChangeAspect="1"/>
          </p:cNvGraphicFramePr>
          <p:nvPr>
            <p:extLst>
              <p:ext uri="{D42A27DB-BD31-4B8C-83A1-F6EECF244321}">
                <p14:modId xmlns:p14="http://schemas.microsoft.com/office/powerpoint/2010/main" val="1031355774"/>
              </p:ext>
            </p:extLst>
          </p:nvPr>
        </p:nvGraphicFramePr>
        <p:xfrm>
          <a:off x="4856520" y="-28978"/>
          <a:ext cx="3708400" cy="1012825"/>
        </p:xfrm>
        <a:graphic>
          <a:graphicData uri="http://schemas.openxmlformats.org/presentationml/2006/ole">
            <mc:AlternateContent xmlns:mc="http://schemas.openxmlformats.org/markup-compatibility/2006">
              <mc:Choice xmlns:v="urn:schemas-microsoft-com:vml" Requires="v">
                <p:oleObj name="Equation" r:id="rId16" imgW="1955520" imgH="533160" progId="Equation.DSMT4">
                  <p:embed/>
                </p:oleObj>
              </mc:Choice>
              <mc:Fallback>
                <p:oleObj name="Equation" r:id="rId16" imgW="1955520" imgH="533160" progId="Equation.DSMT4">
                  <p:embed/>
                  <p:pic>
                    <p:nvPicPr>
                      <p:cNvPr id="25" name="对象 24">
                        <a:extLst>
                          <a:ext uri="{FF2B5EF4-FFF2-40B4-BE49-F238E27FC236}">
                            <a16:creationId xmlns:a16="http://schemas.microsoft.com/office/drawing/2014/main" id="{86CBD1CC-06E7-48F2-964D-E8FB0B32FF03}"/>
                          </a:ext>
                        </a:extLst>
                      </p:cNvPr>
                      <p:cNvPicPr/>
                      <p:nvPr/>
                    </p:nvPicPr>
                    <p:blipFill>
                      <a:blip r:embed="rId17"/>
                      <a:stretch>
                        <a:fillRect/>
                      </a:stretch>
                    </p:blipFill>
                    <p:spPr>
                      <a:xfrm>
                        <a:off x="4856520" y="-28978"/>
                        <a:ext cx="3708400" cy="1012825"/>
                      </a:xfrm>
                      <a:prstGeom prst="rect">
                        <a:avLst/>
                      </a:prstGeom>
                    </p:spPr>
                  </p:pic>
                </p:oleObj>
              </mc:Fallback>
            </mc:AlternateContent>
          </a:graphicData>
        </a:graphic>
      </p:graphicFrame>
      <p:sp>
        <p:nvSpPr>
          <p:cNvPr id="29" name="矩形 28">
            <a:extLst>
              <a:ext uri="{FF2B5EF4-FFF2-40B4-BE49-F238E27FC236}">
                <a16:creationId xmlns:a16="http://schemas.microsoft.com/office/drawing/2014/main" id="{C5F25CA1-D898-401B-91C5-474E0B59C027}"/>
              </a:ext>
            </a:extLst>
          </p:cNvPr>
          <p:cNvSpPr/>
          <p:nvPr/>
        </p:nvSpPr>
        <p:spPr>
          <a:xfrm>
            <a:off x="8106360" y="3407761"/>
            <a:ext cx="327333" cy="400110"/>
          </a:xfrm>
          <a:prstGeom prst="rect">
            <a:avLst/>
          </a:prstGeom>
        </p:spPr>
        <p:txBody>
          <a:bodyPr wrap="none">
            <a:spAutoFit/>
          </a:bodyPr>
          <a:lstStyle/>
          <a:p>
            <a:pPr algn="ctr"/>
            <a:r>
              <a:rPr lang="en-US" altLang="zh-CN" sz="2000" dirty="0"/>
              <a:t>0</a:t>
            </a:r>
            <a:endParaRPr lang="zh-CN" altLang="en-US" sz="2000" dirty="0"/>
          </a:p>
        </p:txBody>
      </p:sp>
      <p:sp>
        <p:nvSpPr>
          <p:cNvPr id="30" name="矩形 29">
            <a:extLst>
              <a:ext uri="{FF2B5EF4-FFF2-40B4-BE49-F238E27FC236}">
                <a16:creationId xmlns:a16="http://schemas.microsoft.com/office/drawing/2014/main" id="{2F4F37C8-80F4-4779-A658-AE10D69AB263}"/>
              </a:ext>
            </a:extLst>
          </p:cNvPr>
          <p:cNvSpPr/>
          <p:nvPr/>
        </p:nvSpPr>
        <p:spPr>
          <a:xfrm>
            <a:off x="4845943" y="4043625"/>
            <a:ext cx="4953000" cy="1200329"/>
          </a:xfrm>
          <a:prstGeom prst="rect">
            <a:avLst/>
          </a:prstGeom>
          <a:solidFill>
            <a:srgbClr val="FFFF66"/>
          </a:solidFill>
        </p:spPr>
        <p:txBody>
          <a:bodyPr>
            <a:spAutoFit/>
          </a:bodyPr>
          <a:lstStyle/>
          <a:p>
            <a:r>
              <a:rPr lang="zh-CN" altLang="en-US" sz="2400" b="1" dirty="0">
                <a:solidFill>
                  <a:srgbClr val="C00000"/>
                </a:solidFill>
              </a:rPr>
              <a:t>观察</a:t>
            </a:r>
            <a:r>
              <a:rPr lang="zh-CN" altLang="en-US" sz="2400" dirty="0"/>
              <a:t>判别数𝜎是否都大于等于</a:t>
            </a:r>
            <a:r>
              <a:rPr lang="en-US" altLang="zh-CN" sz="2400" dirty="0"/>
              <a:t>0</a:t>
            </a:r>
            <a:r>
              <a:rPr lang="zh-CN" altLang="en-US" sz="2400" dirty="0"/>
              <a:t>，如果是，则找到最优解，否则继续迭代。本题继续迭代</a:t>
            </a:r>
            <a:endParaRPr lang="zh-CN" altLang="en-US" sz="2400" b="1" dirty="0">
              <a:solidFill>
                <a:srgbClr val="C00000"/>
              </a:solidFill>
            </a:endParaRPr>
          </a:p>
        </p:txBody>
      </p:sp>
    </p:spTree>
    <p:extLst>
      <p:ext uri="{BB962C8B-B14F-4D97-AF65-F5344CB8AC3E}">
        <p14:creationId xmlns:p14="http://schemas.microsoft.com/office/powerpoint/2010/main" val="185940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arn(inVertic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wipe(down)">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9">
                                            <p:txEl>
                                              <p:pRg st="0" end="0"/>
                                            </p:txEl>
                                          </p:spTgt>
                                        </p:tgtEl>
                                        <p:attrNameLst>
                                          <p:attrName>style.visibility</p:attrName>
                                        </p:attrNameLst>
                                      </p:cBhvr>
                                      <p:to>
                                        <p:strVal val="visible"/>
                                      </p:to>
                                    </p:set>
                                    <p:animEffect transition="in" filter="barn(inVertical)">
                                      <p:cBhvr>
                                        <p:cTn id="22" dur="500"/>
                                        <p:tgtEl>
                                          <p:spTgt spid="1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xEl>
                                              <p:pRg st="1" end="1"/>
                                            </p:txEl>
                                          </p:spTgt>
                                        </p:tgtEl>
                                        <p:attrNameLst>
                                          <p:attrName>style.visibility</p:attrName>
                                        </p:attrNameLst>
                                      </p:cBhvr>
                                      <p:to>
                                        <p:strVal val="visible"/>
                                      </p:to>
                                    </p:set>
                                    <p:animEffect transition="in" filter="wipe(down)">
                                      <p:cBhvr>
                                        <p:cTn id="27" dur="500"/>
                                        <p:tgtEl>
                                          <p:spTgt spid="19">
                                            <p:txEl>
                                              <p:pRg st="1" end="1"/>
                                            </p:txEl>
                                          </p:spTgt>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down)">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down)">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2" presetClass="exit" presetSubtype="4" fill="hold" nodeType="clickEffect">
                                  <p:stCondLst>
                                    <p:cond delay="0"/>
                                  </p:stCondLst>
                                  <p:childTnLst>
                                    <p:anim calcmode="lin" valueType="num">
                                      <p:cBhvr additive="base">
                                        <p:cTn id="46" dur="500"/>
                                        <p:tgtEl>
                                          <p:spTgt spid="21"/>
                                        </p:tgtEl>
                                        <p:attrNameLst>
                                          <p:attrName>ppt_y</p:attrName>
                                        </p:attrNameLst>
                                      </p:cBhvr>
                                      <p:tavLst>
                                        <p:tav tm="0">
                                          <p:val>
                                            <p:strVal val="#ppt_y"/>
                                          </p:val>
                                        </p:tav>
                                        <p:tav tm="100000">
                                          <p:val>
                                            <p:strVal val="#ppt_y+#ppt_h*1.125000"/>
                                          </p:val>
                                        </p:tav>
                                      </p:tavLst>
                                    </p:anim>
                                    <p:animEffect transition="out" filter="wipe(down)">
                                      <p:cBhvr>
                                        <p:cTn id="47" dur="500"/>
                                        <p:tgtEl>
                                          <p:spTgt spid="21"/>
                                        </p:tgtEl>
                                      </p:cBhvr>
                                    </p:animEffect>
                                    <p:set>
                                      <p:cBhvr>
                                        <p:cTn id="48" dur="1" fill="hold">
                                          <p:stCondLst>
                                            <p:cond delay="499"/>
                                          </p:stCondLst>
                                        </p:cTn>
                                        <p:tgtEl>
                                          <p:spTgt spid="21"/>
                                        </p:tgtEl>
                                        <p:attrNameLst>
                                          <p:attrName>style.visibility</p:attrName>
                                        </p:attrNameLst>
                                      </p:cBhvr>
                                      <p:to>
                                        <p:strVal val="hidden"/>
                                      </p:to>
                                    </p:set>
                                  </p:childTnLst>
                                </p:cTn>
                              </p:par>
                            </p:childTnLst>
                          </p:cTn>
                        </p:par>
                        <p:par>
                          <p:cTn id="49" fill="hold">
                            <p:stCondLst>
                              <p:cond delay="500"/>
                            </p:stCondLst>
                            <p:childTnLst>
                              <p:par>
                                <p:cTn id="50" presetID="12" presetClass="entr" presetSubtype="4" fill="hold" nodeType="afterEffect">
                                  <p:stCondLst>
                                    <p:cond delay="0"/>
                                  </p:stCondLst>
                                  <p:childTnLst>
                                    <p:set>
                                      <p:cBhvr>
                                        <p:cTn id="51" dur="1" fill="hold">
                                          <p:stCondLst>
                                            <p:cond delay="0"/>
                                          </p:stCondLst>
                                        </p:cTn>
                                        <p:tgtEl>
                                          <p:spTgt spid="23"/>
                                        </p:tgtEl>
                                        <p:attrNameLst>
                                          <p:attrName>style.visibility</p:attrName>
                                        </p:attrNameLst>
                                      </p:cBhvr>
                                      <p:to>
                                        <p:strVal val="visible"/>
                                      </p:to>
                                    </p:set>
                                    <p:anim calcmode="lin" valueType="num">
                                      <p:cBhvr additive="base">
                                        <p:cTn id="52" dur="500"/>
                                        <p:tgtEl>
                                          <p:spTgt spid="23"/>
                                        </p:tgtEl>
                                        <p:attrNameLst>
                                          <p:attrName>ppt_y</p:attrName>
                                        </p:attrNameLst>
                                      </p:cBhvr>
                                      <p:tavLst>
                                        <p:tav tm="0">
                                          <p:val>
                                            <p:strVal val="#ppt_y+#ppt_h*1.125000"/>
                                          </p:val>
                                        </p:tav>
                                        <p:tav tm="100000">
                                          <p:val>
                                            <p:strVal val="#ppt_y"/>
                                          </p:val>
                                        </p:tav>
                                      </p:tavLst>
                                    </p:anim>
                                    <p:animEffect transition="in" filter="wipe(up)">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24"/>
                                        </p:tgtEl>
                                        <p:attrNameLst>
                                          <p:attrName>style.visibility</p:attrName>
                                        </p:attrNameLst>
                                      </p:cBhvr>
                                      <p:to>
                                        <p:strVal val="visible"/>
                                      </p:to>
                                    </p:set>
                                    <p:anim calcmode="lin" valueType="num">
                                      <p:cBhvr additive="base">
                                        <p:cTn id="58" dur="500" fill="hold"/>
                                        <p:tgtEl>
                                          <p:spTgt spid="24"/>
                                        </p:tgtEl>
                                        <p:attrNameLst>
                                          <p:attrName>ppt_x</p:attrName>
                                        </p:attrNameLst>
                                      </p:cBhvr>
                                      <p:tavLst>
                                        <p:tav tm="0">
                                          <p:val>
                                            <p:strVal val="#ppt_x"/>
                                          </p:val>
                                        </p:tav>
                                        <p:tav tm="100000">
                                          <p:val>
                                            <p:strVal val="#ppt_x"/>
                                          </p:val>
                                        </p:tav>
                                      </p:tavLst>
                                    </p:anim>
                                    <p:anim calcmode="lin" valueType="num">
                                      <p:cBhvr additive="base">
                                        <p:cTn id="59"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2" presetClass="exit" presetSubtype="4" fill="hold" nodeType="clickEffect">
                                  <p:stCondLst>
                                    <p:cond delay="0"/>
                                  </p:stCondLst>
                                  <p:childTnLst>
                                    <p:anim calcmode="lin" valueType="num">
                                      <p:cBhvr additive="base">
                                        <p:cTn id="63" dur="500"/>
                                        <p:tgtEl>
                                          <p:spTgt spid="23"/>
                                        </p:tgtEl>
                                        <p:attrNameLst>
                                          <p:attrName>ppt_y</p:attrName>
                                        </p:attrNameLst>
                                      </p:cBhvr>
                                      <p:tavLst>
                                        <p:tav tm="0">
                                          <p:val>
                                            <p:strVal val="#ppt_y"/>
                                          </p:val>
                                        </p:tav>
                                        <p:tav tm="100000">
                                          <p:val>
                                            <p:strVal val="#ppt_y+#ppt_h*1.125000"/>
                                          </p:val>
                                        </p:tav>
                                      </p:tavLst>
                                    </p:anim>
                                    <p:animEffect transition="out" filter="wipe(down)">
                                      <p:cBhvr>
                                        <p:cTn id="64" dur="500"/>
                                        <p:tgtEl>
                                          <p:spTgt spid="23"/>
                                        </p:tgtEl>
                                      </p:cBhvr>
                                    </p:animEffect>
                                    <p:set>
                                      <p:cBhvr>
                                        <p:cTn id="65" dur="1" fill="hold">
                                          <p:stCondLst>
                                            <p:cond delay="499"/>
                                          </p:stCondLst>
                                        </p:cTn>
                                        <p:tgtEl>
                                          <p:spTgt spid="23"/>
                                        </p:tgtEl>
                                        <p:attrNameLst>
                                          <p:attrName>style.visibility</p:attrName>
                                        </p:attrNameLst>
                                      </p:cBhvr>
                                      <p:to>
                                        <p:strVal val="hidden"/>
                                      </p:to>
                                    </p:set>
                                  </p:childTnLst>
                                </p:cTn>
                              </p:par>
                            </p:childTnLst>
                          </p:cTn>
                        </p:par>
                        <p:par>
                          <p:cTn id="66" fill="hold">
                            <p:stCondLst>
                              <p:cond delay="500"/>
                            </p:stCondLst>
                            <p:childTnLst>
                              <p:par>
                                <p:cTn id="67" presetID="12" presetClass="entr" presetSubtype="4" fill="hold" nodeType="after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additive="base">
                                        <p:cTn id="69" dur="500"/>
                                        <p:tgtEl>
                                          <p:spTgt spid="25"/>
                                        </p:tgtEl>
                                        <p:attrNameLst>
                                          <p:attrName>ppt_y</p:attrName>
                                        </p:attrNameLst>
                                      </p:cBhvr>
                                      <p:tavLst>
                                        <p:tav tm="0">
                                          <p:val>
                                            <p:strVal val="#ppt_y+#ppt_h*1.125000"/>
                                          </p:val>
                                        </p:tav>
                                        <p:tav tm="100000">
                                          <p:val>
                                            <p:strVal val="#ppt_y"/>
                                          </p:val>
                                        </p:tav>
                                      </p:tavLst>
                                    </p:anim>
                                    <p:animEffect transition="in" filter="wipe(up)">
                                      <p:cBhvr>
                                        <p:cTn id="70" dur="500"/>
                                        <p:tgtEl>
                                          <p:spTgt spid="25"/>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anim calcmode="lin" valueType="num">
                                      <p:cBhvr additive="base">
                                        <p:cTn id="75" dur="500" fill="hold"/>
                                        <p:tgtEl>
                                          <p:spTgt spid="26"/>
                                        </p:tgtEl>
                                        <p:attrNameLst>
                                          <p:attrName>ppt_x</p:attrName>
                                        </p:attrNameLst>
                                      </p:cBhvr>
                                      <p:tavLst>
                                        <p:tav tm="0">
                                          <p:val>
                                            <p:strVal val="#ppt_x"/>
                                          </p:val>
                                        </p:tav>
                                        <p:tav tm="100000">
                                          <p:val>
                                            <p:strVal val="#ppt_x"/>
                                          </p:val>
                                        </p:tav>
                                      </p:tavLst>
                                    </p:anim>
                                    <p:anim calcmode="lin" valueType="num">
                                      <p:cBhvr additive="base">
                                        <p:cTn id="7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2" presetClass="exit" presetSubtype="4" fill="hold" nodeType="clickEffect">
                                  <p:stCondLst>
                                    <p:cond delay="0"/>
                                  </p:stCondLst>
                                  <p:childTnLst>
                                    <p:anim calcmode="lin" valueType="num">
                                      <p:cBhvr additive="base">
                                        <p:cTn id="80" dur="500"/>
                                        <p:tgtEl>
                                          <p:spTgt spid="25"/>
                                        </p:tgtEl>
                                        <p:attrNameLst>
                                          <p:attrName>ppt_y</p:attrName>
                                        </p:attrNameLst>
                                      </p:cBhvr>
                                      <p:tavLst>
                                        <p:tav tm="0">
                                          <p:val>
                                            <p:strVal val="#ppt_y"/>
                                          </p:val>
                                        </p:tav>
                                        <p:tav tm="100000">
                                          <p:val>
                                            <p:strVal val="#ppt_y+#ppt_h*1.125000"/>
                                          </p:val>
                                        </p:tav>
                                      </p:tavLst>
                                    </p:anim>
                                    <p:animEffect transition="out" filter="wipe(down)">
                                      <p:cBhvr>
                                        <p:cTn id="81" dur="500"/>
                                        <p:tgtEl>
                                          <p:spTgt spid="25"/>
                                        </p:tgtEl>
                                      </p:cBhvr>
                                    </p:animEffect>
                                    <p:set>
                                      <p:cBhvr>
                                        <p:cTn id="82" dur="1" fill="hold">
                                          <p:stCondLst>
                                            <p:cond delay="499"/>
                                          </p:stCondLst>
                                        </p:cTn>
                                        <p:tgtEl>
                                          <p:spTgt spid="25"/>
                                        </p:tgtEl>
                                        <p:attrNameLst>
                                          <p:attrName>style.visibility</p:attrName>
                                        </p:attrNameLst>
                                      </p:cBhvr>
                                      <p:to>
                                        <p:strVal val="hidden"/>
                                      </p:to>
                                    </p:set>
                                  </p:childTnLst>
                                </p:cTn>
                              </p:par>
                            </p:childTnLst>
                          </p:cTn>
                        </p:par>
                        <p:par>
                          <p:cTn id="83" fill="hold">
                            <p:stCondLst>
                              <p:cond delay="500"/>
                            </p:stCondLst>
                            <p:childTnLst>
                              <p:par>
                                <p:cTn id="84" presetID="12" presetClass="entr" presetSubtype="4" fill="hold" nodeType="afterEffect">
                                  <p:stCondLst>
                                    <p:cond delay="0"/>
                                  </p:stCondLst>
                                  <p:childTnLst>
                                    <p:set>
                                      <p:cBhvr>
                                        <p:cTn id="85" dur="1" fill="hold">
                                          <p:stCondLst>
                                            <p:cond delay="0"/>
                                          </p:stCondLst>
                                        </p:cTn>
                                        <p:tgtEl>
                                          <p:spTgt spid="28"/>
                                        </p:tgtEl>
                                        <p:attrNameLst>
                                          <p:attrName>style.visibility</p:attrName>
                                        </p:attrNameLst>
                                      </p:cBhvr>
                                      <p:to>
                                        <p:strVal val="visible"/>
                                      </p:to>
                                    </p:set>
                                    <p:anim calcmode="lin" valueType="num">
                                      <p:cBhvr additive="base">
                                        <p:cTn id="86" dur="500"/>
                                        <p:tgtEl>
                                          <p:spTgt spid="28"/>
                                        </p:tgtEl>
                                        <p:attrNameLst>
                                          <p:attrName>ppt_y</p:attrName>
                                        </p:attrNameLst>
                                      </p:cBhvr>
                                      <p:tavLst>
                                        <p:tav tm="0">
                                          <p:val>
                                            <p:strVal val="#ppt_y+#ppt_h*1.125000"/>
                                          </p:val>
                                        </p:tav>
                                        <p:tav tm="100000">
                                          <p:val>
                                            <p:strVal val="#ppt_y"/>
                                          </p:val>
                                        </p:tav>
                                      </p:tavLst>
                                    </p:anim>
                                    <p:animEffect transition="in" filter="wipe(up)">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 calcmode="lin" valueType="num">
                                      <p:cBhvr additive="base">
                                        <p:cTn id="92" dur="500" fill="hold"/>
                                        <p:tgtEl>
                                          <p:spTgt spid="29"/>
                                        </p:tgtEl>
                                        <p:attrNameLst>
                                          <p:attrName>ppt_x</p:attrName>
                                        </p:attrNameLst>
                                      </p:cBhvr>
                                      <p:tavLst>
                                        <p:tav tm="0">
                                          <p:val>
                                            <p:strVal val="#ppt_x"/>
                                          </p:val>
                                        </p:tav>
                                        <p:tav tm="100000">
                                          <p:val>
                                            <p:strVal val="#ppt_x"/>
                                          </p:val>
                                        </p:tav>
                                      </p:tavLst>
                                    </p:anim>
                                    <p:anim calcmode="lin" valueType="num">
                                      <p:cBhvr additive="base">
                                        <p:cTn id="93"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12" presetClass="exit" presetSubtype="4" fill="hold" nodeType="clickEffect">
                                  <p:stCondLst>
                                    <p:cond delay="0"/>
                                  </p:stCondLst>
                                  <p:childTnLst>
                                    <p:anim calcmode="lin" valueType="num">
                                      <p:cBhvr additive="base">
                                        <p:cTn id="97" dur="500"/>
                                        <p:tgtEl>
                                          <p:spTgt spid="28"/>
                                        </p:tgtEl>
                                        <p:attrNameLst>
                                          <p:attrName>ppt_y</p:attrName>
                                        </p:attrNameLst>
                                      </p:cBhvr>
                                      <p:tavLst>
                                        <p:tav tm="0">
                                          <p:val>
                                            <p:strVal val="#ppt_y"/>
                                          </p:val>
                                        </p:tav>
                                        <p:tav tm="100000">
                                          <p:val>
                                            <p:strVal val="#ppt_y+#ppt_h*1.125000"/>
                                          </p:val>
                                        </p:tav>
                                      </p:tavLst>
                                    </p:anim>
                                    <p:animEffect transition="out" filter="wipe(down)">
                                      <p:cBhvr>
                                        <p:cTn id="98" dur="500"/>
                                        <p:tgtEl>
                                          <p:spTgt spid="28"/>
                                        </p:tgtEl>
                                      </p:cBhvr>
                                    </p:animEffect>
                                    <p:set>
                                      <p:cBhvr>
                                        <p:cTn id="99" dur="1" fill="hold">
                                          <p:stCondLst>
                                            <p:cond delay="499"/>
                                          </p:stCondLst>
                                        </p:cTn>
                                        <p:tgtEl>
                                          <p:spTgt spid="28"/>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grpId="0" nodeType="clickEffect">
                                  <p:stCondLst>
                                    <p:cond delay="0"/>
                                  </p:stCondLst>
                                  <p:childTnLst>
                                    <p:set>
                                      <p:cBhvr>
                                        <p:cTn id="103" dur="1" fill="hold">
                                          <p:stCondLst>
                                            <p:cond delay="0"/>
                                          </p:stCondLst>
                                        </p:cTn>
                                        <p:tgtEl>
                                          <p:spTgt spid="30"/>
                                        </p:tgtEl>
                                        <p:attrNameLst>
                                          <p:attrName>style.visibility</p:attrName>
                                        </p:attrNameLst>
                                      </p:cBhvr>
                                      <p:to>
                                        <p:strVal val="visible"/>
                                      </p:to>
                                    </p:set>
                                    <p:anim calcmode="lin" valueType="num">
                                      <p:cBhvr additive="base">
                                        <p:cTn id="104" dur="500" fill="hold"/>
                                        <p:tgtEl>
                                          <p:spTgt spid="30"/>
                                        </p:tgtEl>
                                        <p:attrNameLst>
                                          <p:attrName>ppt_x</p:attrName>
                                        </p:attrNameLst>
                                      </p:cBhvr>
                                      <p:tavLst>
                                        <p:tav tm="0">
                                          <p:val>
                                            <p:strVal val="#ppt_x"/>
                                          </p:val>
                                        </p:tav>
                                        <p:tav tm="100000">
                                          <p:val>
                                            <p:strVal val="#ppt_x"/>
                                          </p:val>
                                        </p:tav>
                                      </p:tavLst>
                                    </p:anim>
                                    <p:anim calcmode="lin" valueType="num">
                                      <p:cBhvr additive="base">
                                        <p:cTn id="105"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4" grpId="0"/>
      <p:bldP spid="26" grpId="0"/>
      <p:bldP spid="29" grpId="0"/>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7</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nvGraphicFramePr>
        <p:xfrm>
          <a:off x="5364163" y="4029722"/>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64163" y="4029722"/>
                        <a:ext cx="4541837" cy="2614612"/>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ext uri="{D42A27DB-BD31-4B8C-83A1-F6EECF244321}">
                    <p14:modId xmlns:p14="http://schemas.microsoft.com/office/powerpoint/2010/main" val="74526839"/>
                  </p:ext>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ext uri="{D42A27DB-BD31-4B8C-83A1-F6EECF244321}">
                    <p14:modId xmlns:p14="http://schemas.microsoft.com/office/powerpoint/2010/main" val="74526839"/>
                  </p:ext>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7" name="表格 6">
            <a:extLst>
              <a:ext uri="{FF2B5EF4-FFF2-40B4-BE49-F238E27FC236}">
                <a16:creationId xmlns:a16="http://schemas.microsoft.com/office/drawing/2014/main" id="{6C074F35-ACB2-4384-ACBA-4D3D733D1B36}"/>
              </a:ext>
            </a:extLst>
          </p:cNvPr>
          <p:cNvGraphicFramePr>
            <a:graphicFrameLocks noGrp="1"/>
          </p:cNvGraphicFramePr>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14" name="表格 13">
            <a:extLst>
              <a:ext uri="{FF2B5EF4-FFF2-40B4-BE49-F238E27FC236}">
                <a16:creationId xmlns:a16="http://schemas.microsoft.com/office/drawing/2014/main" id="{574227DE-1004-498A-BFD8-E7A64282A48B}"/>
              </a:ext>
            </a:extLst>
          </p:cNvPr>
          <p:cNvGraphicFramePr>
            <a:graphicFrameLocks noGrp="1"/>
          </p:cNvGraphicFramePr>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8" name="表格 7">
            <a:extLst>
              <a:ext uri="{FF2B5EF4-FFF2-40B4-BE49-F238E27FC236}">
                <a16:creationId xmlns:a16="http://schemas.microsoft.com/office/drawing/2014/main" id="{01D8952E-9027-420F-A6C3-EDB5369C574F}"/>
              </a:ext>
            </a:extLst>
          </p:cNvPr>
          <p:cNvGraphicFramePr>
            <a:graphicFrameLocks noGrp="1"/>
          </p:cNvGraphicFramePr>
          <p:nvPr>
            <p:extLst>
              <p:ext uri="{D42A27DB-BD31-4B8C-83A1-F6EECF244321}">
                <p14:modId xmlns:p14="http://schemas.microsoft.com/office/powerpoint/2010/main" val="2916233284"/>
              </p:ext>
            </p:extLst>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10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16" name="表格 15">
            <a:extLst>
              <a:ext uri="{FF2B5EF4-FFF2-40B4-BE49-F238E27FC236}">
                <a16:creationId xmlns:a16="http://schemas.microsoft.com/office/drawing/2014/main" id="{8256599C-FB40-40E4-91D9-E7C4251ACD31}"/>
              </a:ext>
            </a:extLst>
          </p:cNvPr>
          <p:cNvGraphicFramePr>
            <a:graphicFrameLocks noGrp="1"/>
          </p:cNvGraphicFramePr>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17" name="表格 16">
            <a:extLst>
              <a:ext uri="{FF2B5EF4-FFF2-40B4-BE49-F238E27FC236}">
                <a16:creationId xmlns:a16="http://schemas.microsoft.com/office/drawing/2014/main" id="{2021199C-14A2-4A6F-AF26-25829592C895}"/>
              </a:ext>
            </a:extLst>
          </p:cNvPr>
          <p:cNvGraphicFramePr>
            <a:graphicFrameLocks noGrp="1"/>
          </p:cNvGraphicFramePr>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x4</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p:sp>
        <p:nvSpPr>
          <p:cNvPr id="15" name="矩形 14">
            <a:extLst>
              <a:ext uri="{FF2B5EF4-FFF2-40B4-BE49-F238E27FC236}">
                <a16:creationId xmlns:a16="http://schemas.microsoft.com/office/drawing/2014/main" id="{9A90F9EA-574B-43B8-B7B3-BE5A160526C4}"/>
              </a:ext>
            </a:extLst>
          </p:cNvPr>
          <p:cNvSpPr/>
          <p:nvPr/>
        </p:nvSpPr>
        <p:spPr>
          <a:xfrm>
            <a:off x="6178206" y="3411036"/>
            <a:ext cx="412292" cy="400110"/>
          </a:xfrm>
          <a:prstGeom prst="rect">
            <a:avLst/>
          </a:prstGeom>
        </p:spPr>
        <p:txBody>
          <a:bodyPr wrap="none">
            <a:spAutoFit/>
          </a:bodyPr>
          <a:lstStyle/>
          <a:p>
            <a:pPr algn="ctr"/>
            <a:r>
              <a:rPr lang="en-US" altLang="zh-CN" sz="2000" dirty="0"/>
              <a:t>-2</a:t>
            </a:r>
            <a:endParaRPr lang="zh-CN" altLang="en-US" sz="2000" dirty="0"/>
          </a:p>
        </p:txBody>
      </p:sp>
      <p:sp>
        <p:nvSpPr>
          <p:cNvPr id="18" name="矩形 17">
            <a:extLst>
              <a:ext uri="{FF2B5EF4-FFF2-40B4-BE49-F238E27FC236}">
                <a16:creationId xmlns:a16="http://schemas.microsoft.com/office/drawing/2014/main" id="{BA9435F5-35CB-4CB7-A253-62E9F316D6A3}"/>
              </a:ext>
            </a:extLst>
          </p:cNvPr>
          <p:cNvSpPr/>
          <p:nvPr/>
        </p:nvSpPr>
        <p:spPr>
          <a:xfrm>
            <a:off x="6825208" y="3411036"/>
            <a:ext cx="412292" cy="400110"/>
          </a:xfrm>
          <a:prstGeom prst="rect">
            <a:avLst/>
          </a:prstGeom>
        </p:spPr>
        <p:txBody>
          <a:bodyPr wrap="none">
            <a:spAutoFit/>
          </a:bodyPr>
          <a:lstStyle/>
          <a:p>
            <a:pPr algn="ctr"/>
            <a:r>
              <a:rPr lang="en-US" altLang="zh-CN" sz="2000" dirty="0"/>
              <a:t>-1</a:t>
            </a:r>
            <a:endParaRPr lang="zh-CN" altLang="en-US" sz="2000" dirty="0"/>
          </a:p>
        </p:txBody>
      </p:sp>
      <p:sp>
        <p:nvSpPr>
          <p:cNvPr id="19" name="矩形 18">
            <a:extLst>
              <a:ext uri="{FF2B5EF4-FFF2-40B4-BE49-F238E27FC236}">
                <a16:creationId xmlns:a16="http://schemas.microsoft.com/office/drawing/2014/main" id="{724D667F-0CF8-4C1B-8ACC-4666184772B7}"/>
              </a:ext>
            </a:extLst>
          </p:cNvPr>
          <p:cNvSpPr/>
          <p:nvPr/>
        </p:nvSpPr>
        <p:spPr>
          <a:xfrm>
            <a:off x="7514689" y="3411036"/>
            <a:ext cx="327333" cy="400110"/>
          </a:xfrm>
          <a:prstGeom prst="rect">
            <a:avLst/>
          </a:prstGeom>
        </p:spPr>
        <p:txBody>
          <a:bodyPr wrap="none">
            <a:spAutoFit/>
          </a:bodyPr>
          <a:lstStyle/>
          <a:p>
            <a:pPr algn="ctr"/>
            <a:r>
              <a:rPr lang="en-US" altLang="zh-CN" sz="2000" dirty="0"/>
              <a:t>0</a:t>
            </a:r>
            <a:endParaRPr lang="zh-CN" altLang="en-US" sz="2000" dirty="0"/>
          </a:p>
        </p:txBody>
      </p:sp>
      <p:sp>
        <p:nvSpPr>
          <p:cNvPr id="20" name="矩形 19">
            <a:extLst>
              <a:ext uri="{FF2B5EF4-FFF2-40B4-BE49-F238E27FC236}">
                <a16:creationId xmlns:a16="http://schemas.microsoft.com/office/drawing/2014/main" id="{A0273667-84C4-451A-82D4-ABB6859EF1D8}"/>
              </a:ext>
            </a:extLst>
          </p:cNvPr>
          <p:cNvSpPr/>
          <p:nvPr/>
        </p:nvSpPr>
        <p:spPr>
          <a:xfrm>
            <a:off x="8106360" y="3407761"/>
            <a:ext cx="327333" cy="400110"/>
          </a:xfrm>
          <a:prstGeom prst="rect">
            <a:avLst/>
          </a:prstGeom>
        </p:spPr>
        <p:txBody>
          <a:bodyPr wrap="none">
            <a:spAutoFit/>
          </a:bodyPr>
          <a:lstStyle/>
          <a:p>
            <a:pPr algn="ctr"/>
            <a:r>
              <a:rPr lang="en-US" altLang="zh-CN" sz="2000" dirty="0"/>
              <a:t>0</a:t>
            </a:r>
            <a:endParaRPr lang="zh-CN" altLang="en-US" sz="2000"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080B439-71C4-494D-B29F-4439A2D0181E}"/>
                  </a:ext>
                </a:extLst>
              </p:cNvPr>
              <p:cNvSpPr txBox="1"/>
              <p:nvPr/>
            </p:nvSpPr>
            <p:spPr>
              <a:xfrm>
                <a:off x="-15552" y="1124744"/>
                <a:ext cx="4680520" cy="4627549"/>
              </a:xfrm>
              <a:prstGeom prst="rect">
                <a:avLst/>
              </a:prstGeom>
              <a:noFill/>
            </p:spPr>
            <p:txBody>
              <a:bodyPr wrap="square" rtlCol="0">
                <a:spAutoFit/>
              </a:bodyPr>
              <a:lstStyle/>
              <a:p>
                <a:r>
                  <a:rPr lang="en-US" altLang="zh-CN" sz="2400" dirty="0"/>
                  <a:t>5. </a:t>
                </a:r>
                <a:r>
                  <a:rPr lang="zh-CN" altLang="en-US" sz="2400" dirty="0"/>
                  <a:t>确定进基变量和离基变量</a:t>
                </a:r>
                <a:endParaRPr lang="en-US" altLang="zh-CN" sz="2400" dirty="0"/>
              </a:p>
              <a:p>
                <a:pPr marL="800100" lvl="1" indent="-342900">
                  <a:buFont typeface="+mj-ea"/>
                  <a:buAutoNum type="circleNumDbPlain"/>
                </a:pPr>
                <a:r>
                  <a:rPr lang="zh-CN" altLang="en-US" sz="2400" dirty="0"/>
                  <a:t>找到</a:t>
                </a:r>
                <a:r>
                  <a:rPr lang="zh-CN" altLang="en-US" sz="2400" b="1" dirty="0">
                    <a:solidFill>
                      <a:srgbClr val="FF0000"/>
                    </a:solidFill>
                  </a:rPr>
                  <a:t>判别数𝜎 最小</a:t>
                </a:r>
                <a:r>
                  <a:rPr lang="zh-CN" altLang="en-US" sz="2400" dirty="0"/>
                  <a:t>（负数绝对值最大）的那一列对应的变量，确定它为进基变量</a:t>
                </a:r>
                <a:endParaRPr lang="en-US" altLang="zh-CN" sz="2400" dirty="0"/>
              </a:p>
              <a:p>
                <a:pPr marL="800100" lvl="1" indent="-342900">
                  <a:buFont typeface="+mj-ea"/>
                  <a:buAutoNum type="circleNumDbPlain"/>
                </a:pPr>
                <a:endParaRPr lang="en-US" altLang="zh-CN" sz="2400" dirty="0"/>
              </a:p>
              <a:p>
                <a:pPr marL="800100" lvl="1" indent="-342900">
                  <a:buFont typeface="+mj-ea"/>
                  <a:buAutoNum type="circleNumDbPlain"/>
                </a:pPr>
                <a:endParaRPr lang="en-US" altLang="zh-CN" sz="2400" dirty="0"/>
              </a:p>
              <a:p>
                <a:pPr marL="800100" lvl="1" indent="-342900">
                  <a:buFont typeface="+mj-ea"/>
                  <a:buAutoNum type="circleNumDbPlain"/>
                </a:pPr>
                <a:r>
                  <a:rPr lang="zh-CN" altLang="en-US" sz="2400" dirty="0"/>
                  <a:t>令进基变量所在列的系数矩阵值为</a:t>
                </a:r>
                <a14:m>
                  <m:oMath xmlns:m="http://schemas.openxmlformats.org/officeDocument/2006/math">
                    <m:r>
                      <a:rPr lang="en-US" altLang="zh-CN" sz="2800" i="1" dirty="0">
                        <a:latin typeface="Cambria Math" panose="02040503050406030204" pitchFamily="18" charset="0"/>
                      </a:rPr>
                      <m:t>𝑥</m:t>
                    </m:r>
                    <m:r>
                      <a:rPr lang="en-US" altLang="zh-CN" sz="2800" i="1" baseline="-25000" dirty="0">
                        <a:latin typeface="Cambria Math" panose="02040503050406030204" pitchFamily="18" charset="0"/>
                      </a:rPr>
                      <m:t>𝑖𝑎</m:t>
                    </m:r>
                    <m:r>
                      <a:rPr lang="en-US" altLang="zh-CN" sz="2800" i="1" baseline="-25000" dirty="0">
                        <a:latin typeface="Cambria Math" panose="02040503050406030204" pitchFamily="18" charset="0"/>
                      </a:rPr>
                      <m:t> </m:t>
                    </m:r>
                  </m:oMath>
                </a14:m>
                <a:r>
                  <a:rPr lang="zh-CN" altLang="en-US" sz="2400" dirty="0"/>
                  <a:t>，利用如下公式求得替换系数</a:t>
                </a:r>
                <a14:m>
                  <m:oMath xmlns:m="http://schemas.openxmlformats.org/officeDocument/2006/math">
                    <m:r>
                      <a:rPr lang="en-US" altLang="zh-CN" sz="2800" i="1" dirty="0">
                        <a:latin typeface="Cambria Math" panose="02040503050406030204" pitchFamily="18" charset="0"/>
                      </a:rPr>
                      <m:t>𝑞</m:t>
                    </m:r>
                  </m:oMath>
                </a14:m>
                <a:r>
                  <a:rPr lang="zh-CN" altLang="en-US" sz="2400" dirty="0"/>
                  <a:t>：</a:t>
                </a:r>
                <a:endParaRPr lang="en-US" altLang="zh-CN" sz="2400" dirty="0"/>
              </a:p>
              <a:p>
                <a:pPr marL="800100" lvl="1" indent="-342900">
                  <a:buFont typeface="+mj-ea"/>
                  <a:buAutoNum type="circleNumDbPlain"/>
                </a:pPr>
                <a:endParaRPr lang="en-US" altLang="zh-CN" sz="2400" dirty="0"/>
              </a:p>
              <a:p>
                <a:pPr marL="800100" lvl="1" indent="-342900">
                  <a:buFont typeface="+mj-ea"/>
                  <a:buAutoNum type="circleNumDbPlain"/>
                </a:pPr>
                <a:endParaRPr lang="en-US" altLang="zh-CN" sz="2400" dirty="0"/>
              </a:p>
              <a:p>
                <a:pPr marL="800100" lvl="1" indent="-342900">
                  <a:buFont typeface="+mj-ea"/>
                  <a:buAutoNum type="circleNumDbPlain"/>
                </a:pPr>
                <a:endParaRPr lang="en-US" altLang="zh-CN" sz="2400" dirty="0"/>
              </a:p>
            </p:txBody>
          </p:sp>
        </mc:Choice>
        <mc:Fallback xmlns="">
          <p:sp>
            <p:nvSpPr>
              <p:cNvPr id="21" name="文本框 20">
                <a:extLst>
                  <a:ext uri="{FF2B5EF4-FFF2-40B4-BE49-F238E27FC236}">
                    <a16:creationId xmlns:a16="http://schemas.microsoft.com/office/drawing/2014/main" id="{5080B439-71C4-494D-B29F-4439A2D0181E}"/>
                  </a:ext>
                </a:extLst>
              </p:cNvPr>
              <p:cNvSpPr txBox="1">
                <a:spLocks noRot="1" noChangeAspect="1" noMove="1" noResize="1" noEditPoints="1" noAdjustHandles="1" noChangeArrowheads="1" noChangeShapeType="1" noTextEdit="1"/>
              </p:cNvSpPr>
              <p:nvPr/>
            </p:nvSpPr>
            <p:spPr>
              <a:xfrm>
                <a:off x="-15552" y="1124744"/>
                <a:ext cx="4680520" cy="4627549"/>
              </a:xfrm>
              <a:prstGeom prst="rect">
                <a:avLst/>
              </a:prstGeom>
              <a:blipFill>
                <a:blip r:embed="rId6"/>
                <a:stretch>
                  <a:fillRect l="-1953" t="-1054" r="-1172"/>
                </a:stretch>
              </a:blipFill>
            </p:spPr>
            <p:txBody>
              <a:bodyPr/>
              <a:lstStyle/>
              <a:p>
                <a:r>
                  <a:rPr lang="zh-CN" altLang="en-US">
                    <a:noFill/>
                  </a:rPr>
                  <a:t> </a:t>
                </a:r>
              </a:p>
            </p:txBody>
          </p:sp>
        </mc:Fallback>
      </mc:AlternateContent>
      <p:sp>
        <p:nvSpPr>
          <p:cNvPr id="22" name="矩形 21">
            <a:extLst>
              <a:ext uri="{FF2B5EF4-FFF2-40B4-BE49-F238E27FC236}">
                <a16:creationId xmlns:a16="http://schemas.microsoft.com/office/drawing/2014/main" id="{05973E56-24A7-4195-8BBC-115277EB4AF4}"/>
              </a:ext>
            </a:extLst>
          </p:cNvPr>
          <p:cNvSpPr/>
          <p:nvPr/>
        </p:nvSpPr>
        <p:spPr bwMode="auto">
          <a:xfrm>
            <a:off x="6164359" y="1190661"/>
            <a:ext cx="497137" cy="2566227"/>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E33FD990-75D9-4591-8726-F5868CA47D02}"/>
                  </a:ext>
                </a:extLst>
              </p:cNvPr>
              <p:cNvSpPr/>
              <p:nvPr/>
            </p:nvSpPr>
            <p:spPr>
              <a:xfrm>
                <a:off x="886135" y="2723105"/>
                <a:ext cx="3322833" cy="461665"/>
              </a:xfrm>
              <a:prstGeom prst="rect">
                <a:avLst/>
              </a:prstGeom>
              <a:solidFill>
                <a:srgbClr val="FFFF66"/>
              </a:solidFill>
              <a:ln>
                <a:solidFill>
                  <a:schemeClr val="tx1"/>
                </a:solidFill>
              </a:ln>
            </p:spPr>
            <p:txBody>
              <a:bodyPr wrap="none">
                <a:spAutoFit/>
              </a:bodyPr>
              <a:lstStyle/>
              <a:p>
                <a:pPr algn="ctr"/>
                <a14:m>
                  <m:oMath xmlns:m="http://schemas.openxmlformats.org/officeDocument/2006/math">
                    <m:r>
                      <a:rPr lang="en-US" altLang="zh-CN" sz="2400" i="1" dirty="0" smtClean="0">
                        <a:latin typeface="Cambria Math" panose="02040503050406030204" pitchFamily="18" charset="0"/>
                      </a:rPr>
                      <m:t>𝑥</m:t>
                    </m:r>
                    <m:r>
                      <a:rPr lang="en-US" altLang="zh-CN" sz="2400" b="0" i="1" baseline="-25000" dirty="0" smtClean="0">
                        <a:latin typeface="Cambria Math" panose="02040503050406030204" pitchFamily="18" charset="0"/>
                      </a:rPr>
                      <m:t>1</m:t>
                    </m:r>
                  </m:oMath>
                </a14:m>
                <a:r>
                  <a:rPr lang="zh-CN" altLang="en-US" sz="2400" dirty="0"/>
                  <a:t>是进基变量，记为</a:t>
                </a:r>
                <a14:m>
                  <m:oMath xmlns:m="http://schemas.openxmlformats.org/officeDocument/2006/math">
                    <m:r>
                      <a:rPr lang="en-US" altLang="zh-CN" sz="2400" i="1" dirty="0">
                        <a:latin typeface="Cambria Math" panose="02040503050406030204" pitchFamily="18" charset="0"/>
                      </a:rPr>
                      <m:t>𝑥</m:t>
                    </m:r>
                    <m:r>
                      <a:rPr lang="en-US" altLang="zh-CN" sz="2400" b="0" i="1" baseline="-25000" dirty="0" smtClean="0">
                        <a:latin typeface="Cambria Math" panose="02040503050406030204" pitchFamily="18" charset="0"/>
                      </a:rPr>
                      <m:t>𝑎</m:t>
                    </m:r>
                  </m:oMath>
                </a14:m>
                <a:endParaRPr lang="zh-CN" altLang="en-US" sz="2400" baseline="-25000" dirty="0"/>
              </a:p>
            </p:txBody>
          </p:sp>
        </mc:Choice>
        <mc:Fallback xmlns="">
          <p:sp>
            <p:nvSpPr>
              <p:cNvPr id="23" name="矩形 22">
                <a:extLst>
                  <a:ext uri="{FF2B5EF4-FFF2-40B4-BE49-F238E27FC236}">
                    <a16:creationId xmlns:a16="http://schemas.microsoft.com/office/drawing/2014/main" id="{E33FD990-75D9-4591-8726-F5868CA47D02}"/>
                  </a:ext>
                </a:extLst>
              </p:cNvPr>
              <p:cNvSpPr>
                <a:spLocks noRot="1" noChangeAspect="1" noMove="1" noResize="1" noEditPoints="1" noAdjustHandles="1" noChangeArrowheads="1" noChangeShapeType="1" noTextEdit="1"/>
              </p:cNvSpPr>
              <p:nvPr/>
            </p:nvSpPr>
            <p:spPr>
              <a:xfrm>
                <a:off x="886135" y="2723105"/>
                <a:ext cx="3322833" cy="461665"/>
              </a:xfrm>
              <a:prstGeom prst="rect">
                <a:avLst/>
              </a:prstGeom>
              <a:blipFill>
                <a:blip r:embed="rId7"/>
                <a:stretch>
                  <a:fillRect t="-9091" b="-28571"/>
                </a:stretch>
              </a:blipFill>
              <a:ln>
                <a:solidFill>
                  <a:schemeClr val="tx1"/>
                </a:solidFill>
              </a:ln>
            </p:spPr>
            <p:txBody>
              <a:bodyPr/>
              <a:lstStyle/>
              <a:p>
                <a:r>
                  <a:rPr lang="zh-CN" altLang="en-US">
                    <a:noFill/>
                  </a:rPr>
                  <a:t> </a:t>
                </a:r>
              </a:p>
            </p:txBody>
          </p:sp>
        </mc:Fallback>
      </mc:AlternateContent>
      <p:graphicFrame>
        <p:nvGraphicFramePr>
          <p:cNvPr id="24" name="对象 23">
            <a:extLst>
              <a:ext uri="{FF2B5EF4-FFF2-40B4-BE49-F238E27FC236}">
                <a16:creationId xmlns:a16="http://schemas.microsoft.com/office/drawing/2014/main" id="{9529B9D4-5F4C-4F4E-B23E-CCD66A189B76}"/>
              </a:ext>
            </a:extLst>
          </p:cNvPr>
          <p:cNvGraphicFramePr>
            <a:graphicFrameLocks noChangeAspect="1"/>
          </p:cNvGraphicFramePr>
          <p:nvPr>
            <p:extLst>
              <p:ext uri="{D42A27DB-BD31-4B8C-83A1-F6EECF244321}">
                <p14:modId xmlns:p14="http://schemas.microsoft.com/office/powerpoint/2010/main" val="772242320"/>
              </p:ext>
            </p:extLst>
          </p:nvPr>
        </p:nvGraphicFramePr>
        <p:xfrm>
          <a:off x="1197303" y="4685023"/>
          <a:ext cx="1127405" cy="986241"/>
        </p:xfrm>
        <a:graphic>
          <a:graphicData uri="http://schemas.openxmlformats.org/presentationml/2006/ole">
            <mc:AlternateContent xmlns:mc="http://schemas.openxmlformats.org/markup-compatibility/2006">
              <mc:Choice xmlns:v="urn:schemas-microsoft-com:vml" Requires="v">
                <p:oleObj name="Equation" r:id="rId8" imgW="495000" imgH="431640" progId="Equation.DSMT4">
                  <p:embed/>
                </p:oleObj>
              </mc:Choice>
              <mc:Fallback>
                <p:oleObj name="Equation" r:id="rId8" imgW="495000" imgH="431640" progId="Equation.DSMT4">
                  <p:embed/>
                  <p:pic>
                    <p:nvPicPr>
                      <p:cNvPr id="49" name="对象 48">
                        <a:extLst>
                          <a:ext uri="{FF2B5EF4-FFF2-40B4-BE49-F238E27FC236}">
                            <a16:creationId xmlns:a16="http://schemas.microsoft.com/office/drawing/2014/main" id="{1CCC8766-AA0C-483C-BEE2-98F7DC852992}"/>
                          </a:ext>
                        </a:extLst>
                      </p:cNvPr>
                      <p:cNvPicPr/>
                      <p:nvPr/>
                    </p:nvPicPr>
                    <p:blipFill>
                      <a:blip r:embed="rId9"/>
                      <a:stretch>
                        <a:fillRect/>
                      </a:stretch>
                    </p:blipFill>
                    <p:spPr>
                      <a:xfrm>
                        <a:off x="1197303" y="4685023"/>
                        <a:ext cx="1127405" cy="986241"/>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783E1E64-10B9-4EC9-81B1-DE0F5D6BBA3F}"/>
              </a:ext>
            </a:extLst>
          </p:cNvPr>
          <p:cNvGraphicFramePr>
            <a:graphicFrameLocks noChangeAspect="1"/>
          </p:cNvGraphicFramePr>
          <p:nvPr>
            <p:extLst>
              <p:ext uri="{D42A27DB-BD31-4B8C-83A1-F6EECF244321}">
                <p14:modId xmlns:p14="http://schemas.microsoft.com/office/powerpoint/2010/main" val="478369579"/>
              </p:ext>
            </p:extLst>
          </p:nvPr>
        </p:nvGraphicFramePr>
        <p:xfrm>
          <a:off x="5434013" y="-11113"/>
          <a:ext cx="2452687" cy="985838"/>
        </p:xfrm>
        <a:graphic>
          <a:graphicData uri="http://schemas.openxmlformats.org/presentationml/2006/ole">
            <mc:AlternateContent xmlns:mc="http://schemas.openxmlformats.org/markup-compatibility/2006">
              <mc:Choice xmlns:v="urn:schemas-microsoft-com:vml" Requires="v">
                <p:oleObj name="Equation" r:id="rId10" imgW="1079280" imgH="431640" progId="Equation.DSMT4">
                  <p:embed/>
                </p:oleObj>
              </mc:Choice>
              <mc:Fallback>
                <p:oleObj name="Equation" r:id="rId10" imgW="1079280" imgH="431640" progId="Equation.DSMT4">
                  <p:embed/>
                  <p:pic>
                    <p:nvPicPr>
                      <p:cNvPr id="61" name="对象 60">
                        <a:extLst>
                          <a:ext uri="{FF2B5EF4-FFF2-40B4-BE49-F238E27FC236}">
                            <a16:creationId xmlns:a16="http://schemas.microsoft.com/office/drawing/2014/main" id="{D97C0376-F18B-485C-A40B-AFAABC5C605E}"/>
                          </a:ext>
                        </a:extLst>
                      </p:cNvPr>
                      <p:cNvPicPr/>
                      <p:nvPr/>
                    </p:nvPicPr>
                    <p:blipFill>
                      <a:blip r:embed="rId11"/>
                      <a:stretch>
                        <a:fillRect/>
                      </a:stretch>
                    </p:blipFill>
                    <p:spPr>
                      <a:xfrm>
                        <a:off x="5434013" y="-11113"/>
                        <a:ext cx="2452687" cy="985838"/>
                      </a:xfrm>
                      <a:prstGeom prst="rect">
                        <a:avLst/>
                      </a:prstGeom>
                    </p:spPr>
                  </p:pic>
                </p:oleObj>
              </mc:Fallback>
            </mc:AlternateContent>
          </a:graphicData>
        </a:graphic>
      </p:graphicFrame>
      <p:sp>
        <p:nvSpPr>
          <p:cNvPr id="26" name="矩形 25">
            <a:extLst>
              <a:ext uri="{FF2B5EF4-FFF2-40B4-BE49-F238E27FC236}">
                <a16:creationId xmlns:a16="http://schemas.microsoft.com/office/drawing/2014/main" id="{8B58B08C-BE39-4782-A409-C5CA4F5E6083}"/>
              </a:ext>
            </a:extLst>
          </p:cNvPr>
          <p:cNvSpPr/>
          <p:nvPr/>
        </p:nvSpPr>
        <p:spPr>
          <a:xfrm>
            <a:off x="128464" y="5639454"/>
            <a:ext cx="4953000" cy="1015663"/>
          </a:xfrm>
          <a:prstGeom prst="rect">
            <a:avLst/>
          </a:prstGeom>
        </p:spPr>
        <p:txBody>
          <a:bodyPr>
            <a:spAutoFit/>
          </a:bodyPr>
          <a:lstStyle/>
          <a:p>
            <a:r>
              <a:rPr lang="zh-CN" altLang="en-US" sz="2000" b="1" dirty="0">
                <a:solidFill>
                  <a:srgbClr val="C00000"/>
                </a:solidFill>
              </a:rPr>
              <a:t>如果求得的</a:t>
            </a:r>
            <a:r>
              <a:rPr lang="en-US" altLang="zh-CN" sz="2000" b="1" dirty="0">
                <a:solidFill>
                  <a:srgbClr val="C00000"/>
                </a:solidFill>
              </a:rPr>
              <a:t>q</a:t>
            </a:r>
            <a:r>
              <a:rPr lang="zh-CN" altLang="en-US" sz="2000" b="1" dirty="0">
                <a:solidFill>
                  <a:srgbClr val="C00000"/>
                </a:solidFill>
              </a:rPr>
              <a:t>大于等于</a:t>
            </a:r>
            <a:r>
              <a:rPr lang="en-US" altLang="zh-CN" sz="2000" b="1" dirty="0">
                <a:solidFill>
                  <a:srgbClr val="C00000"/>
                </a:solidFill>
              </a:rPr>
              <a:t>0</a:t>
            </a:r>
            <a:r>
              <a:rPr lang="zh-CN" altLang="en-US" sz="2000" b="1" dirty="0">
                <a:solidFill>
                  <a:srgbClr val="C00000"/>
                </a:solidFill>
              </a:rPr>
              <a:t>，填入表格中，否则不填入（如果所有求得的</a:t>
            </a:r>
            <a:r>
              <a:rPr lang="en-US" altLang="zh-CN" sz="2000" b="1" dirty="0">
                <a:solidFill>
                  <a:srgbClr val="C00000"/>
                </a:solidFill>
              </a:rPr>
              <a:t>q</a:t>
            </a:r>
            <a:r>
              <a:rPr lang="zh-CN" altLang="en-US" sz="2000" b="1" dirty="0">
                <a:solidFill>
                  <a:srgbClr val="C00000"/>
                </a:solidFill>
              </a:rPr>
              <a:t>都是负数或者无意义，则该问题存在无界解）</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481C1F5B-7605-416A-BDAB-C62AD42631BF}"/>
                  </a:ext>
                </a:extLst>
              </p:cNvPr>
              <p:cNvSpPr/>
              <p:nvPr/>
            </p:nvSpPr>
            <p:spPr>
              <a:xfrm>
                <a:off x="9380182" y="2291348"/>
                <a:ext cx="43794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Cambria Math" panose="02040503050406030204" pitchFamily="18" charset="0"/>
                        </a:rPr>
                        <m:t>×</m:t>
                      </m:r>
                    </m:oMath>
                  </m:oMathPara>
                </a14:m>
                <a:endParaRPr lang="zh-CN" altLang="en-US" sz="2000" dirty="0"/>
              </a:p>
            </p:txBody>
          </p:sp>
        </mc:Choice>
        <mc:Fallback xmlns="">
          <p:sp>
            <p:nvSpPr>
              <p:cNvPr id="10" name="矩形 9">
                <a:extLst>
                  <a:ext uri="{FF2B5EF4-FFF2-40B4-BE49-F238E27FC236}">
                    <a16:creationId xmlns:a16="http://schemas.microsoft.com/office/drawing/2014/main" id="{481C1F5B-7605-416A-BDAB-C62AD42631BF}"/>
                  </a:ext>
                </a:extLst>
              </p:cNvPr>
              <p:cNvSpPr>
                <a:spLocks noRot="1" noChangeAspect="1" noMove="1" noResize="1" noEditPoints="1" noAdjustHandles="1" noChangeArrowheads="1" noChangeShapeType="1" noTextEdit="1"/>
              </p:cNvSpPr>
              <p:nvPr/>
            </p:nvSpPr>
            <p:spPr>
              <a:xfrm>
                <a:off x="9380182" y="2291348"/>
                <a:ext cx="437940" cy="400110"/>
              </a:xfrm>
              <a:prstGeom prst="rect">
                <a:avLst/>
              </a:prstGeom>
              <a:blipFill>
                <a:blip r:embed="rId12"/>
                <a:stretch>
                  <a:fillRect/>
                </a:stretch>
              </a:blipFill>
            </p:spPr>
            <p:txBody>
              <a:bodyPr/>
              <a:lstStyle/>
              <a:p>
                <a:r>
                  <a:rPr lang="zh-CN" altLang="en-US">
                    <a:noFill/>
                  </a:rPr>
                  <a:t> </a:t>
                </a:r>
              </a:p>
            </p:txBody>
          </p:sp>
        </mc:Fallback>
      </mc:AlternateContent>
      <p:graphicFrame>
        <p:nvGraphicFramePr>
          <p:cNvPr id="27" name="对象 26">
            <a:extLst>
              <a:ext uri="{FF2B5EF4-FFF2-40B4-BE49-F238E27FC236}">
                <a16:creationId xmlns:a16="http://schemas.microsoft.com/office/drawing/2014/main" id="{0B6FDB8E-5D6C-4EEE-9882-9E519E01F990}"/>
              </a:ext>
            </a:extLst>
          </p:cNvPr>
          <p:cNvGraphicFramePr>
            <a:graphicFrameLocks noChangeAspect="1"/>
          </p:cNvGraphicFramePr>
          <p:nvPr>
            <p:extLst>
              <p:ext uri="{D42A27DB-BD31-4B8C-83A1-F6EECF244321}">
                <p14:modId xmlns:p14="http://schemas.microsoft.com/office/powerpoint/2010/main" val="243675877"/>
              </p:ext>
            </p:extLst>
          </p:nvPr>
        </p:nvGraphicFramePr>
        <p:xfrm>
          <a:off x="5434012" y="-28791"/>
          <a:ext cx="2452687" cy="985837"/>
        </p:xfrm>
        <a:graphic>
          <a:graphicData uri="http://schemas.openxmlformats.org/presentationml/2006/ole">
            <mc:AlternateContent xmlns:mc="http://schemas.openxmlformats.org/markup-compatibility/2006">
              <mc:Choice xmlns:v="urn:schemas-microsoft-com:vml" Requires="v">
                <p:oleObj name="Equation" r:id="rId13" imgW="1079280" imgH="431640" progId="Equation.DSMT4">
                  <p:embed/>
                </p:oleObj>
              </mc:Choice>
              <mc:Fallback>
                <p:oleObj name="Equation" r:id="rId13" imgW="1079280" imgH="431640" progId="Equation.DSMT4">
                  <p:embed/>
                  <p:pic>
                    <p:nvPicPr>
                      <p:cNvPr id="25" name="对象 24">
                        <a:extLst>
                          <a:ext uri="{FF2B5EF4-FFF2-40B4-BE49-F238E27FC236}">
                            <a16:creationId xmlns:a16="http://schemas.microsoft.com/office/drawing/2014/main" id="{783E1E64-10B9-4EC9-81B1-DE0F5D6BBA3F}"/>
                          </a:ext>
                        </a:extLst>
                      </p:cNvPr>
                      <p:cNvPicPr/>
                      <p:nvPr/>
                    </p:nvPicPr>
                    <p:blipFill>
                      <a:blip r:embed="rId14"/>
                      <a:stretch>
                        <a:fillRect/>
                      </a:stretch>
                    </p:blipFill>
                    <p:spPr>
                      <a:xfrm>
                        <a:off x="5434012" y="-28791"/>
                        <a:ext cx="2452687" cy="985837"/>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AF13633A-D9FC-432B-83BE-A1A35035B75B}"/>
              </a:ext>
            </a:extLst>
          </p:cNvPr>
          <p:cNvSpPr/>
          <p:nvPr/>
        </p:nvSpPr>
        <p:spPr>
          <a:xfrm>
            <a:off x="9372968" y="2920879"/>
            <a:ext cx="327334" cy="400110"/>
          </a:xfrm>
          <a:prstGeom prst="rect">
            <a:avLst/>
          </a:prstGeom>
        </p:spPr>
        <p:txBody>
          <a:bodyPr wrap="none">
            <a:spAutoFit/>
          </a:bodyPr>
          <a:lstStyle/>
          <a:p>
            <a:pPr algn="ctr"/>
            <a:r>
              <a:rPr lang="en-US" altLang="zh-CN" sz="2000" dirty="0"/>
              <a:t>5</a:t>
            </a:r>
            <a:endParaRPr lang="zh-CN" altLang="en-US" sz="2000" dirty="0"/>
          </a:p>
        </p:txBody>
      </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DBF63B4C-AAA7-4A80-9B89-E0B1DDFEB02C}"/>
                  </a:ext>
                </a:extLst>
              </p:cNvPr>
              <p:cNvSpPr/>
              <p:nvPr/>
            </p:nvSpPr>
            <p:spPr>
              <a:xfrm>
                <a:off x="2643401" y="4874949"/>
                <a:ext cx="3256021" cy="461665"/>
              </a:xfrm>
              <a:prstGeom prst="rect">
                <a:avLst/>
              </a:prstGeom>
              <a:solidFill>
                <a:srgbClr val="FFFF66"/>
              </a:solidFill>
              <a:ln>
                <a:solidFill>
                  <a:schemeClr val="tx1"/>
                </a:solidFill>
              </a:ln>
            </p:spPr>
            <p:txBody>
              <a:bodyPr wrap="none">
                <a:spAutoFit/>
              </a:bodyPr>
              <a:lstStyle/>
              <a:p>
                <a:pPr algn="ctr"/>
                <a14:m>
                  <m:oMath xmlns:m="http://schemas.openxmlformats.org/officeDocument/2006/math">
                    <m:r>
                      <a:rPr lang="en-US" altLang="zh-CN" sz="2400" i="1" dirty="0" smtClean="0">
                        <a:latin typeface="Cambria Math" panose="02040503050406030204" pitchFamily="18" charset="0"/>
                      </a:rPr>
                      <m:t>𝑥</m:t>
                    </m:r>
                    <m:r>
                      <a:rPr lang="en-US" altLang="zh-CN" sz="2400" b="0" i="1" baseline="-25000" dirty="0" smtClean="0">
                        <a:latin typeface="Cambria Math" panose="02040503050406030204" pitchFamily="18" charset="0"/>
                      </a:rPr>
                      <m:t>4</m:t>
                    </m:r>
                  </m:oMath>
                </a14:m>
                <a:r>
                  <a:rPr lang="zh-CN" altLang="en-US" sz="2400" dirty="0"/>
                  <a:t>是离基变量，记为</a:t>
                </a:r>
                <a14:m>
                  <m:oMath xmlns:m="http://schemas.openxmlformats.org/officeDocument/2006/math">
                    <m:r>
                      <a:rPr lang="en-US" altLang="zh-CN" sz="2400" i="1" dirty="0">
                        <a:latin typeface="Cambria Math" panose="02040503050406030204" pitchFamily="18" charset="0"/>
                      </a:rPr>
                      <m:t>𝑥</m:t>
                    </m:r>
                    <m:r>
                      <m:rPr>
                        <m:sty m:val="p"/>
                      </m:rPr>
                      <a:rPr lang="en-US" altLang="zh-CN" sz="2400" i="1" baseline="-25000" dirty="0" smtClean="0">
                        <a:latin typeface="Cambria Math" panose="02040503050406030204" pitchFamily="18" charset="0"/>
                      </a:rPr>
                      <m:t>b</m:t>
                    </m:r>
                  </m:oMath>
                </a14:m>
                <a:endParaRPr lang="zh-CN" altLang="en-US" sz="2400" baseline="-25000" dirty="0"/>
              </a:p>
            </p:txBody>
          </p:sp>
        </mc:Choice>
        <mc:Fallback xmlns="">
          <p:sp>
            <p:nvSpPr>
              <p:cNvPr id="29" name="矩形 28">
                <a:extLst>
                  <a:ext uri="{FF2B5EF4-FFF2-40B4-BE49-F238E27FC236}">
                    <a16:creationId xmlns:a16="http://schemas.microsoft.com/office/drawing/2014/main" id="{DBF63B4C-AAA7-4A80-9B89-E0B1DDFEB02C}"/>
                  </a:ext>
                </a:extLst>
              </p:cNvPr>
              <p:cNvSpPr>
                <a:spLocks noRot="1" noChangeAspect="1" noMove="1" noResize="1" noEditPoints="1" noAdjustHandles="1" noChangeArrowheads="1" noChangeShapeType="1" noTextEdit="1"/>
              </p:cNvSpPr>
              <p:nvPr/>
            </p:nvSpPr>
            <p:spPr>
              <a:xfrm>
                <a:off x="2643401" y="4874949"/>
                <a:ext cx="3256021" cy="461665"/>
              </a:xfrm>
              <a:prstGeom prst="rect">
                <a:avLst/>
              </a:prstGeom>
              <a:blipFill>
                <a:blip r:embed="rId15"/>
                <a:stretch>
                  <a:fillRect t="-9091" b="-28571"/>
                </a:stretch>
              </a:blipFill>
              <a:ln>
                <a:solidFill>
                  <a:schemeClr val="tx1"/>
                </a:solidFill>
              </a:ln>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B1BE2F28-452C-43A3-8E6D-5153CC43A06B}"/>
              </a:ext>
            </a:extLst>
          </p:cNvPr>
          <p:cNvSpPr/>
          <p:nvPr/>
        </p:nvSpPr>
        <p:spPr bwMode="auto">
          <a:xfrm>
            <a:off x="4953000" y="2834633"/>
            <a:ext cx="4747301" cy="444328"/>
          </a:xfrm>
          <a:prstGeom prst="rect">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1" name="椭圆 30">
            <a:extLst>
              <a:ext uri="{FF2B5EF4-FFF2-40B4-BE49-F238E27FC236}">
                <a16:creationId xmlns:a16="http://schemas.microsoft.com/office/drawing/2014/main" id="{6132FDE5-E7F4-4146-8830-DDA60CB5F724}"/>
              </a:ext>
            </a:extLst>
          </p:cNvPr>
          <p:cNvSpPr/>
          <p:nvPr/>
        </p:nvSpPr>
        <p:spPr bwMode="auto">
          <a:xfrm>
            <a:off x="6185512" y="2886043"/>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2" name="矩形 11">
            <a:extLst>
              <a:ext uri="{FF2B5EF4-FFF2-40B4-BE49-F238E27FC236}">
                <a16:creationId xmlns:a16="http://schemas.microsoft.com/office/drawing/2014/main" id="{84318FA1-1786-4223-B191-E4C56B33D3AF}"/>
              </a:ext>
            </a:extLst>
          </p:cNvPr>
          <p:cNvSpPr/>
          <p:nvPr/>
        </p:nvSpPr>
        <p:spPr>
          <a:xfrm>
            <a:off x="4542255" y="4121538"/>
            <a:ext cx="1210588" cy="400110"/>
          </a:xfrm>
          <a:prstGeom prst="rect">
            <a:avLst/>
          </a:prstGeom>
          <a:solidFill>
            <a:srgbClr val="FFFF66"/>
          </a:solidFill>
          <a:ln>
            <a:solidFill>
              <a:schemeClr val="tx1"/>
            </a:solidFill>
          </a:ln>
        </p:spPr>
        <p:txBody>
          <a:bodyPr wrap="none">
            <a:spAutoFit/>
          </a:bodyPr>
          <a:lstStyle/>
          <a:p>
            <a:r>
              <a:rPr lang="zh-CN" altLang="en-US" sz="2000" dirty="0"/>
              <a:t>变换主元</a:t>
            </a:r>
          </a:p>
        </p:txBody>
      </p:sp>
      <p:cxnSp>
        <p:nvCxnSpPr>
          <p:cNvPr id="33" name="直接箭头连接符 32">
            <a:extLst>
              <a:ext uri="{FF2B5EF4-FFF2-40B4-BE49-F238E27FC236}">
                <a16:creationId xmlns:a16="http://schemas.microsoft.com/office/drawing/2014/main" id="{A88717B7-952D-4AE8-9F18-D534B232E66D}"/>
              </a:ext>
            </a:extLst>
          </p:cNvPr>
          <p:cNvCxnSpPr>
            <a:endCxn id="31" idx="3"/>
          </p:cNvCxnSpPr>
          <p:nvPr/>
        </p:nvCxnSpPr>
        <p:spPr bwMode="auto">
          <a:xfrm flipV="1">
            <a:off x="5752843" y="3177538"/>
            <a:ext cx="503145" cy="94400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9841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barn(inVertical)">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barn(inVertical)">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additive="base">
                                        <p:cTn id="17" dur="500" fill="hold"/>
                                        <p:tgtEl>
                                          <p:spTgt spid="22"/>
                                        </p:tgtEl>
                                        <p:attrNameLst>
                                          <p:attrName>ppt_x</p:attrName>
                                        </p:attrNameLst>
                                      </p:cBhvr>
                                      <p:tavLst>
                                        <p:tav tm="0">
                                          <p:val>
                                            <p:strVal val="#ppt_x"/>
                                          </p:val>
                                        </p:tav>
                                        <p:tav tm="100000">
                                          <p:val>
                                            <p:strVal val="#ppt_x"/>
                                          </p:val>
                                        </p:tav>
                                      </p:tavLst>
                                    </p:anim>
                                    <p:anim calcmode="lin" valueType="num">
                                      <p:cBhvr additive="base">
                                        <p:cTn id="18" dur="500" fill="hold"/>
                                        <p:tgtEl>
                                          <p:spTgt spid="22"/>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2" presetClass="entr" presetSubtype="4" fill="hold" grpId="0" nodeType="after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500" fill="hold"/>
                                        <p:tgtEl>
                                          <p:spTgt spid="23"/>
                                        </p:tgtEl>
                                        <p:attrNameLst>
                                          <p:attrName>ppt_x</p:attrName>
                                        </p:attrNameLst>
                                      </p:cBhvr>
                                      <p:tavLst>
                                        <p:tav tm="0">
                                          <p:val>
                                            <p:strVal val="#ppt_x"/>
                                          </p:val>
                                        </p:tav>
                                        <p:tav tm="100000">
                                          <p:val>
                                            <p:strVal val="#ppt_x"/>
                                          </p:val>
                                        </p:tav>
                                      </p:tavLst>
                                    </p:anim>
                                    <p:anim calcmode="lin" valueType="num">
                                      <p:cBhvr additive="base">
                                        <p:cTn id="2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21">
                                            <p:txEl>
                                              <p:pRg st="4" end="4"/>
                                            </p:txEl>
                                          </p:spTgt>
                                        </p:tgtEl>
                                        <p:attrNameLst>
                                          <p:attrName>style.visibility</p:attrName>
                                        </p:attrNameLst>
                                      </p:cBhvr>
                                      <p:to>
                                        <p:strVal val="visible"/>
                                      </p:to>
                                    </p:set>
                                    <p:animEffect transition="in" filter="barn(inVertical)">
                                      <p:cBhvr>
                                        <p:cTn id="28" dur="500"/>
                                        <p:tgtEl>
                                          <p:spTgt spid="21">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barn(inVertical)">
                                      <p:cBhvr>
                                        <p:cTn id="33" dur="500"/>
                                        <p:tgtEl>
                                          <p:spTgt spid="24"/>
                                        </p:tgtEl>
                                      </p:cBhvr>
                                    </p:animEffect>
                                  </p:childTnLst>
                                </p:cTn>
                              </p:par>
                            </p:childTnLst>
                          </p:cTn>
                        </p:par>
                        <p:par>
                          <p:cTn id="34" fill="hold">
                            <p:stCondLst>
                              <p:cond delay="500"/>
                            </p:stCondLst>
                            <p:childTnLst>
                              <p:par>
                                <p:cTn id="35" presetID="16" presetClass="entr" presetSubtype="21"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barn(inVertical)">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additive="base">
                                        <p:cTn id="42" dur="500" fill="hold"/>
                                        <p:tgtEl>
                                          <p:spTgt spid="25"/>
                                        </p:tgtEl>
                                        <p:attrNameLst>
                                          <p:attrName>ppt_x</p:attrName>
                                        </p:attrNameLst>
                                      </p:cBhvr>
                                      <p:tavLst>
                                        <p:tav tm="0">
                                          <p:val>
                                            <p:strVal val="#ppt_x"/>
                                          </p:val>
                                        </p:tav>
                                        <p:tav tm="100000">
                                          <p:val>
                                            <p:strVal val="#ppt_x"/>
                                          </p:val>
                                        </p:tav>
                                      </p:tavLst>
                                    </p:anim>
                                    <p:anim calcmode="lin" valueType="num">
                                      <p:cBhvr additive="base">
                                        <p:cTn id="4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additive="base">
                                        <p:cTn id="48" dur="500" fill="hold"/>
                                        <p:tgtEl>
                                          <p:spTgt spid="10"/>
                                        </p:tgtEl>
                                        <p:attrNameLst>
                                          <p:attrName>ppt_x</p:attrName>
                                        </p:attrNameLst>
                                      </p:cBhvr>
                                      <p:tavLst>
                                        <p:tav tm="0">
                                          <p:val>
                                            <p:strVal val="#ppt_x"/>
                                          </p:val>
                                        </p:tav>
                                        <p:tav tm="100000">
                                          <p:val>
                                            <p:strVal val="#ppt_x"/>
                                          </p:val>
                                        </p:tav>
                                      </p:tavLst>
                                    </p:anim>
                                    <p:anim calcmode="lin" valueType="num">
                                      <p:cBhvr additive="base">
                                        <p:cTn id="4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2" presetClass="exit" presetSubtype="4" fill="hold" nodeType="clickEffect">
                                  <p:stCondLst>
                                    <p:cond delay="0"/>
                                  </p:stCondLst>
                                  <p:childTnLst>
                                    <p:anim calcmode="lin" valueType="num">
                                      <p:cBhvr additive="base">
                                        <p:cTn id="53" dur="500"/>
                                        <p:tgtEl>
                                          <p:spTgt spid="25"/>
                                        </p:tgtEl>
                                        <p:attrNameLst>
                                          <p:attrName>ppt_y</p:attrName>
                                        </p:attrNameLst>
                                      </p:cBhvr>
                                      <p:tavLst>
                                        <p:tav tm="0">
                                          <p:val>
                                            <p:strVal val="#ppt_y"/>
                                          </p:val>
                                        </p:tav>
                                        <p:tav tm="100000">
                                          <p:val>
                                            <p:strVal val="#ppt_y+#ppt_h*1.125000"/>
                                          </p:val>
                                        </p:tav>
                                      </p:tavLst>
                                    </p:anim>
                                    <p:animEffect transition="out" filter="wipe(down)">
                                      <p:cBhvr>
                                        <p:cTn id="54" dur="500"/>
                                        <p:tgtEl>
                                          <p:spTgt spid="25"/>
                                        </p:tgtEl>
                                      </p:cBhvr>
                                    </p:animEffect>
                                    <p:set>
                                      <p:cBhvr>
                                        <p:cTn id="55" dur="1" fill="hold">
                                          <p:stCondLst>
                                            <p:cond delay="499"/>
                                          </p:stCondLst>
                                        </p:cTn>
                                        <p:tgtEl>
                                          <p:spTgt spid="25"/>
                                        </p:tgtEl>
                                        <p:attrNameLst>
                                          <p:attrName>style.visibility</p:attrName>
                                        </p:attrNameLst>
                                      </p:cBhvr>
                                      <p:to>
                                        <p:strVal val="hidden"/>
                                      </p:to>
                                    </p:set>
                                  </p:childTnLst>
                                </p:cTn>
                              </p:par>
                            </p:childTnLst>
                          </p:cTn>
                        </p:par>
                        <p:par>
                          <p:cTn id="56" fill="hold">
                            <p:stCondLst>
                              <p:cond delay="500"/>
                            </p:stCondLst>
                            <p:childTnLst>
                              <p:par>
                                <p:cTn id="57" presetID="2" presetClass="entr" presetSubtype="4"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500" fill="hold"/>
                                        <p:tgtEl>
                                          <p:spTgt spid="27"/>
                                        </p:tgtEl>
                                        <p:attrNameLst>
                                          <p:attrName>ppt_x</p:attrName>
                                        </p:attrNameLst>
                                      </p:cBhvr>
                                      <p:tavLst>
                                        <p:tav tm="0">
                                          <p:val>
                                            <p:strVal val="#ppt_x"/>
                                          </p:val>
                                        </p:tav>
                                        <p:tav tm="100000">
                                          <p:val>
                                            <p:strVal val="#ppt_x"/>
                                          </p:val>
                                        </p:tav>
                                      </p:tavLst>
                                    </p:anim>
                                    <p:anim calcmode="lin" valueType="num">
                                      <p:cBhvr additive="base">
                                        <p:cTn id="6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500" fill="hold"/>
                                        <p:tgtEl>
                                          <p:spTgt spid="11"/>
                                        </p:tgtEl>
                                        <p:attrNameLst>
                                          <p:attrName>ppt_x</p:attrName>
                                        </p:attrNameLst>
                                      </p:cBhvr>
                                      <p:tavLst>
                                        <p:tav tm="0">
                                          <p:val>
                                            <p:strVal val="#ppt_x"/>
                                          </p:val>
                                        </p:tav>
                                        <p:tav tm="100000">
                                          <p:val>
                                            <p:strVal val="#ppt_x"/>
                                          </p:val>
                                        </p:tav>
                                      </p:tavLst>
                                    </p:anim>
                                    <p:anim calcmode="lin" valueType="num">
                                      <p:cBhvr additive="base">
                                        <p:cTn id="6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30"/>
                                        </p:tgtEl>
                                        <p:attrNameLst>
                                          <p:attrName>style.visibility</p:attrName>
                                        </p:attrNameLst>
                                      </p:cBhvr>
                                      <p:to>
                                        <p:strVal val="visible"/>
                                      </p:to>
                                    </p:set>
                                    <p:anim calcmode="lin" valueType="num">
                                      <p:cBhvr additive="base">
                                        <p:cTn id="71" dur="500" fill="hold"/>
                                        <p:tgtEl>
                                          <p:spTgt spid="30"/>
                                        </p:tgtEl>
                                        <p:attrNameLst>
                                          <p:attrName>ppt_x</p:attrName>
                                        </p:attrNameLst>
                                      </p:cBhvr>
                                      <p:tavLst>
                                        <p:tav tm="0">
                                          <p:val>
                                            <p:strVal val="#ppt_x"/>
                                          </p:val>
                                        </p:tav>
                                        <p:tav tm="100000">
                                          <p:val>
                                            <p:strVal val="#ppt_x"/>
                                          </p:val>
                                        </p:tav>
                                      </p:tavLst>
                                    </p:anim>
                                    <p:anim calcmode="lin" valueType="num">
                                      <p:cBhvr additive="base">
                                        <p:cTn id="72" dur="500" fill="hold"/>
                                        <p:tgtEl>
                                          <p:spTgt spid="30"/>
                                        </p:tgtEl>
                                        <p:attrNameLst>
                                          <p:attrName>ppt_y</p:attrName>
                                        </p:attrNameLst>
                                      </p:cBhvr>
                                      <p:tavLst>
                                        <p:tav tm="0">
                                          <p:val>
                                            <p:strVal val="1+#ppt_h/2"/>
                                          </p:val>
                                        </p:tav>
                                        <p:tav tm="100000">
                                          <p:val>
                                            <p:strVal val="#ppt_y"/>
                                          </p:val>
                                        </p:tav>
                                      </p:tavLst>
                                    </p:anim>
                                  </p:childTnLst>
                                </p:cTn>
                              </p:par>
                            </p:childTnLst>
                          </p:cTn>
                        </p:par>
                        <p:par>
                          <p:cTn id="73" fill="hold">
                            <p:stCondLst>
                              <p:cond delay="500"/>
                            </p:stCondLst>
                            <p:childTnLst>
                              <p:par>
                                <p:cTn id="74" presetID="2" presetClass="entr" presetSubtype="4" fill="hold" grpId="0" nodeType="afterEffect">
                                  <p:stCondLst>
                                    <p:cond delay="0"/>
                                  </p:stCondLst>
                                  <p:childTnLst>
                                    <p:set>
                                      <p:cBhvr>
                                        <p:cTn id="75" dur="1" fill="hold">
                                          <p:stCondLst>
                                            <p:cond delay="0"/>
                                          </p:stCondLst>
                                        </p:cTn>
                                        <p:tgtEl>
                                          <p:spTgt spid="29"/>
                                        </p:tgtEl>
                                        <p:attrNameLst>
                                          <p:attrName>style.visibility</p:attrName>
                                        </p:attrNameLst>
                                      </p:cBhvr>
                                      <p:to>
                                        <p:strVal val="visible"/>
                                      </p:to>
                                    </p:set>
                                    <p:anim calcmode="lin" valueType="num">
                                      <p:cBhvr additive="base">
                                        <p:cTn id="76" dur="500" fill="hold"/>
                                        <p:tgtEl>
                                          <p:spTgt spid="29"/>
                                        </p:tgtEl>
                                        <p:attrNameLst>
                                          <p:attrName>ppt_x</p:attrName>
                                        </p:attrNameLst>
                                      </p:cBhvr>
                                      <p:tavLst>
                                        <p:tav tm="0">
                                          <p:val>
                                            <p:strVal val="#ppt_x"/>
                                          </p:val>
                                        </p:tav>
                                        <p:tav tm="100000">
                                          <p:val>
                                            <p:strVal val="#ppt_x"/>
                                          </p:val>
                                        </p:tav>
                                      </p:tavLst>
                                    </p:anim>
                                    <p:anim calcmode="lin" valueType="num">
                                      <p:cBhvr additive="base">
                                        <p:cTn id="77"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barn(inVertical)">
                                      <p:cBhvr>
                                        <p:cTn id="82" dur="500"/>
                                        <p:tgtEl>
                                          <p:spTgt spid="12"/>
                                        </p:tgtEl>
                                      </p:cBhvr>
                                    </p:animEffect>
                                  </p:childTnLst>
                                </p:cTn>
                              </p:par>
                            </p:childTnLst>
                          </p:cTn>
                        </p:par>
                        <p:par>
                          <p:cTn id="83" fill="hold">
                            <p:stCondLst>
                              <p:cond delay="500"/>
                            </p:stCondLst>
                            <p:childTnLst>
                              <p:par>
                                <p:cTn id="84" presetID="16" presetClass="entr" presetSubtype="21" fill="hold" nodeType="afterEffect">
                                  <p:stCondLst>
                                    <p:cond delay="0"/>
                                  </p:stCondLst>
                                  <p:childTnLst>
                                    <p:set>
                                      <p:cBhvr>
                                        <p:cTn id="85" dur="1" fill="hold">
                                          <p:stCondLst>
                                            <p:cond delay="0"/>
                                          </p:stCondLst>
                                        </p:cTn>
                                        <p:tgtEl>
                                          <p:spTgt spid="33"/>
                                        </p:tgtEl>
                                        <p:attrNameLst>
                                          <p:attrName>style.visibility</p:attrName>
                                        </p:attrNameLst>
                                      </p:cBhvr>
                                      <p:to>
                                        <p:strVal val="visible"/>
                                      </p:to>
                                    </p:set>
                                    <p:animEffect transition="in" filter="barn(inVertical)">
                                      <p:cBhvr>
                                        <p:cTn id="86" dur="500"/>
                                        <p:tgtEl>
                                          <p:spTgt spid="33"/>
                                        </p:tgtEl>
                                      </p:cBhvr>
                                    </p:animEffect>
                                  </p:childTnLst>
                                </p:cTn>
                              </p:par>
                            </p:childTnLst>
                          </p:cTn>
                        </p:par>
                        <p:par>
                          <p:cTn id="87" fill="hold">
                            <p:stCondLst>
                              <p:cond delay="1000"/>
                            </p:stCondLst>
                            <p:childTnLst>
                              <p:par>
                                <p:cTn id="88" presetID="16" presetClass="entr" presetSubtype="21" fill="hold" grpId="0" nodeType="after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barn(inVertical)">
                                      <p:cBhvr>
                                        <p:cTn id="9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p:bldP spid="10" grpId="0"/>
      <p:bldP spid="11" grpId="0"/>
      <p:bldP spid="29" grpId="0" animBg="1"/>
      <p:bldP spid="30" grpId="0" animBg="1"/>
      <p:bldP spid="3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8</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nvGraphicFramePr>
        <p:xfrm>
          <a:off x="5364163" y="4029722"/>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64163" y="4029722"/>
                        <a:ext cx="4541837" cy="2614612"/>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7" name="表格 6">
            <a:extLst>
              <a:ext uri="{FF2B5EF4-FFF2-40B4-BE49-F238E27FC236}">
                <a16:creationId xmlns:a16="http://schemas.microsoft.com/office/drawing/2014/main" id="{6C074F35-ACB2-4384-ACBA-4D3D733D1B36}"/>
              </a:ext>
            </a:extLst>
          </p:cNvPr>
          <p:cNvGraphicFramePr>
            <a:graphicFrameLocks noGrp="1"/>
          </p:cNvGraphicFramePr>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14" name="表格 13">
            <a:extLst>
              <a:ext uri="{FF2B5EF4-FFF2-40B4-BE49-F238E27FC236}">
                <a16:creationId xmlns:a16="http://schemas.microsoft.com/office/drawing/2014/main" id="{574227DE-1004-498A-BFD8-E7A64282A48B}"/>
              </a:ext>
            </a:extLst>
          </p:cNvPr>
          <p:cNvGraphicFramePr>
            <a:graphicFrameLocks noGrp="1"/>
          </p:cNvGraphicFramePr>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8" name="表格 7">
            <a:extLst>
              <a:ext uri="{FF2B5EF4-FFF2-40B4-BE49-F238E27FC236}">
                <a16:creationId xmlns:a16="http://schemas.microsoft.com/office/drawing/2014/main" id="{01D8952E-9027-420F-A6C3-EDB5369C574F}"/>
              </a:ext>
            </a:extLst>
          </p:cNvPr>
          <p:cNvGraphicFramePr>
            <a:graphicFrameLocks noGrp="1"/>
          </p:cNvGraphicFramePr>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10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16" name="表格 15">
            <a:extLst>
              <a:ext uri="{FF2B5EF4-FFF2-40B4-BE49-F238E27FC236}">
                <a16:creationId xmlns:a16="http://schemas.microsoft.com/office/drawing/2014/main" id="{8256599C-FB40-40E4-91D9-E7C4251ACD31}"/>
              </a:ext>
            </a:extLst>
          </p:cNvPr>
          <p:cNvGraphicFramePr>
            <a:graphicFrameLocks noGrp="1"/>
          </p:cNvGraphicFramePr>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17" name="表格 16">
            <a:extLst>
              <a:ext uri="{FF2B5EF4-FFF2-40B4-BE49-F238E27FC236}">
                <a16:creationId xmlns:a16="http://schemas.microsoft.com/office/drawing/2014/main" id="{2021199C-14A2-4A6F-AF26-25829592C895}"/>
              </a:ext>
            </a:extLst>
          </p:cNvPr>
          <p:cNvGraphicFramePr>
            <a:graphicFrameLocks noGrp="1"/>
          </p:cNvGraphicFramePr>
          <p:nvPr>
            <p:extLst>
              <p:ext uri="{D42A27DB-BD31-4B8C-83A1-F6EECF244321}">
                <p14:modId xmlns:p14="http://schemas.microsoft.com/office/powerpoint/2010/main" val="3948704241"/>
              </p:ext>
            </p:extLst>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x1</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-2</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2A49553-8EA4-4D3A-A133-3837B963609D}"/>
                  </a:ext>
                </a:extLst>
              </p:cNvPr>
              <p:cNvSpPr txBox="1"/>
              <p:nvPr/>
            </p:nvSpPr>
            <p:spPr>
              <a:xfrm>
                <a:off x="-15552" y="1124744"/>
                <a:ext cx="4680520" cy="1569660"/>
              </a:xfrm>
              <a:prstGeom prst="rect">
                <a:avLst/>
              </a:prstGeom>
              <a:noFill/>
            </p:spPr>
            <p:txBody>
              <a:bodyPr wrap="square" rtlCol="0">
                <a:spAutoFit/>
              </a:bodyPr>
              <a:lstStyle/>
              <a:p>
                <a:r>
                  <a:rPr lang="en-US" altLang="zh-CN" sz="2400" dirty="0"/>
                  <a:t>5. </a:t>
                </a:r>
                <a:r>
                  <a:rPr lang="zh-CN" altLang="en-US" sz="2400" dirty="0"/>
                  <a:t>确定进基变量和离基变量</a:t>
                </a:r>
                <a:endParaRPr lang="en-US" altLang="zh-CN" sz="2400" dirty="0"/>
              </a:p>
              <a:p>
                <a:pPr marL="914400" lvl="1" indent="-457200">
                  <a:buFont typeface="+mj-ea"/>
                  <a:buAutoNum type="circleNumDbPlain" startAt="3"/>
                </a:pPr>
                <a:r>
                  <a:rPr lang="zh-CN" altLang="en-US" sz="2400" dirty="0"/>
                  <a:t>用</a:t>
                </a:r>
                <a14:m>
                  <m:oMath xmlns:m="http://schemas.openxmlformats.org/officeDocument/2006/math">
                    <m:r>
                      <a:rPr lang="en-US" altLang="zh-CN" sz="2400" i="1" dirty="0">
                        <a:latin typeface="Cambria Math" panose="02040503050406030204" pitchFamily="18" charset="0"/>
                      </a:rPr>
                      <m:t>𝑥</m:t>
                    </m:r>
                    <m:r>
                      <a:rPr lang="en-US" altLang="zh-CN" sz="2400" b="0" i="1" baseline="-25000" dirty="0" smtClean="0">
                        <a:latin typeface="Cambria Math" panose="02040503050406030204" pitchFamily="18" charset="0"/>
                      </a:rPr>
                      <m:t>𝑎</m:t>
                    </m:r>
                  </m:oMath>
                </a14:m>
                <a:r>
                  <a:rPr lang="zh-CN" altLang="en-US" sz="2400" dirty="0"/>
                  <a:t>和它的系数替换原来的</a:t>
                </a:r>
                <a14:m>
                  <m:oMath xmlns:m="http://schemas.openxmlformats.org/officeDocument/2006/math">
                    <m:r>
                      <a:rPr lang="en-US" altLang="zh-CN" sz="2400" i="1" dirty="0">
                        <a:latin typeface="Cambria Math" panose="02040503050406030204" pitchFamily="18" charset="0"/>
                      </a:rPr>
                      <m:t>𝑥</m:t>
                    </m:r>
                    <m:r>
                      <m:rPr>
                        <m:sty m:val="p"/>
                      </m:rPr>
                      <a:rPr lang="en-US" altLang="zh-CN" sz="2400" i="1" baseline="-25000" dirty="0">
                        <a:latin typeface="Cambria Math" panose="02040503050406030204" pitchFamily="18" charset="0"/>
                      </a:rPr>
                      <m:t>b</m:t>
                    </m:r>
                    <m:r>
                      <a:rPr lang="en-US" altLang="zh-CN" sz="2400" i="1" baseline="-25000" dirty="0">
                        <a:latin typeface="Cambria Math" panose="02040503050406030204" pitchFamily="18" charset="0"/>
                      </a:rPr>
                      <m:t> </m:t>
                    </m:r>
                  </m:oMath>
                </a14:m>
                <a:r>
                  <a:rPr lang="zh-CN" altLang="en-US" sz="2400" dirty="0"/>
                  <a:t>和它对应的系数，清空</a:t>
                </a:r>
                <a14:m>
                  <m:oMath xmlns:m="http://schemas.openxmlformats.org/officeDocument/2006/math">
                    <m:r>
                      <a:rPr lang="zh-CN" altLang="en-US" sz="2400">
                        <a:latin typeface="Cambria Math" panose="02040503050406030204" pitchFamily="18" charset="0"/>
                      </a:rPr>
                      <m:t>𝜎</m:t>
                    </m:r>
                  </m:oMath>
                </a14:m>
                <a:r>
                  <a:rPr lang="zh-CN" altLang="en-US" sz="2400" dirty="0"/>
                  <a:t>和</a:t>
                </a:r>
                <a14:m>
                  <m:oMath xmlns:m="http://schemas.openxmlformats.org/officeDocument/2006/math">
                    <m:r>
                      <a:rPr lang="en-US" altLang="zh-CN" sz="2400" i="1" dirty="0" smtClean="0">
                        <a:latin typeface="Cambria Math" panose="02040503050406030204" pitchFamily="18" charset="0"/>
                      </a:rPr>
                      <m:t>𝑞</m:t>
                    </m:r>
                  </m:oMath>
                </a14:m>
                <a:r>
                  <a:rPr lang="zh-CN" altLang="en-US" sz="2400" dirty="0"/>
                  <a:t>：</a:t>
                </a:r>
                <a:endParaRPr lang="en-US" altLang="zh-CN" sz="2400" dirty="0"/>
              </a:p>
            </p:txBody>
          </p:sp>
        </mc:Choice>
        <mc:Fallback xmlns="">
          <p:sp>
            <p:nvSpPr>
              <p:cNvPr id="15" name="文本框 14">
                <a:extLst>
                  <a:ext uri="{FF2B5EF4-FFF2-40B4-BE49-F238E27FC236}">
                    <a16:creationId xmlns:a16="http://schemas.microsoft.com/office/drawing/2014/main" id="{22A49553-8EA4-4D3A-A133-3837B963609D}"/>
                  </a:ext>
                </a:extLst>
              </p:cNvPr>
              <p:cNvSpPr txBox="1">
                <a:spLocks noRot="1" noChangeAspect="1" noMove="1" noResize="1" noEditPoints="1" noAdjustHandles="1" noChangeArrowheads="1" noChangeShapeType="1" noTextEdit="1"/>
              </p:cNvSpPr>
              <p:nvPr/>
            </p:nvSpPr>
            <p:spPr>
              <a:xfrm>
                <a:off x="-15552" y="1124744"/>
                <a:ext cx="4680520" cy="1569660"/>
              </a:xfrm>
              <a:prstGeom prst="rect">
                <a:avLst/>
              </a:prstGeom>
              <a:blipFill>
                <a:blip r:embed="rId6"/>
                <a:stretch>
                  <a:fillRect l="-1953" t="-3113" b="-8171"/>
                </a:stretch>
              </a:blipFill>
            </p:spPr>
            <p:txBody>
              <a:bodyPr/>
              <a:lstStyle/>
              <a:p>
                <a:r>
                  <a:rPr lang="zh-CN" altLang="en-US">
                    <a:noFill/>
                  </a:rPr>
                  <a:t> </a:t>
                </a:r>
              </a:p>
            </p:txBody>
          </p:sp>
        </mc:Fallback>
      </mc:AlternateContent>
      <p:sp>
        <p:nvSpPr>
          <p:cNvPr id="18" name="椭圆 17">
            <a:extLst>
              <a:ext uri="{FF2B5EF4-FFF2-40B4-BE49-F238E27FC236}">
                <a16:creationId xmlns:a16="http://schemas.microsoft.com/office/drawing/2014/main" id="{3D8FAD93-82CF-4AA2-AA65-2E0235B4EBF1}"/>
              </a:ext>
            </a:extLst>
          </p:cNvPr>
          <p:cNvSpPr/>
          <p:nvPr/>
        </p:nvSpPr>
        <p:spPr bwMode="auto">
          <a:xfrm>
            <a:off x="6189311" y="2915610"/>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70824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Effect transition="in" filter="barn(inVertical)">
                                      <p:cBhvr>
                                        <p:cTn id="7" dur="500"/>
                                        <p:tgtEl>
                                          <p:spTgt spid="15">
                                            <p:txEl>
                                              <p:pRg st="1" end="1"/>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arn(inVertical)">
                                      <p:cBhvr>
                                        <p:cTn id="11" dur="500"/>
                                        <p:tgtEl>
                                          <p:spTgt spid="13"/>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barn(inVertical)">
                                      <p:cBhvr>
                                        <p:cTn id="1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9</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extLst>
              <p:ext uri="{D42A27DB-BD31-4B8C-83A1-F6EECF244321}">
                <p14:modId xmlns:p14="http://schemas.microsoft.com/office/powerpoint/2010/main" val="661713496"/>
              </p:ext>
            </p:extLst>
          </p:nvPr>
        </p:nvGraphicFramePr>
        <p:xfrm>
          <a:off x="5339018" y="4054748"/>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39018" y="4054748"/>
                        <a:ext cx="4541837" cy="2614612"/>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7" name="表格 6">
            <a:extLst>
              <a:ext uri="{FF2B5EF4-FFF2-40B4-BE49-F238E27FC236}">
                <a16:creationId xmlns:a16="http://schemas.microsoft.com/office/drawing/2014/main" id="{6C074F35-ACB2-4384-ACBA-4D3D733D1B36}"/>
              </a:ext>
            </a:extLst>
          </p:cNvPr>
          <p:cNvGraphicFramePr>
            <a:graphicFrameLocks noGrp="1"/>
          </p:cNvGraphicFramePr>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14" name="表格 13">
            <a:extLst>
              <a:ext uri="{FF2B5EF4-FFF2-40B4-BE49-F238E27FC236}">
                <a16:creationId xmlns:a16="http://schemas.microsoft.com/office/drawing/2014/main" id="{574227DE-1004-498A-BFD8-E7A64282A48B}"/>
              </a:ext>
            </a:extLst>
          </p:cNvPr>
          <p:cNvGraphicFramePr>
            <a:graphicFrameLocks noGrp="1"/>
          </p:cNvGraphicFramePr>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8" name="表格 7">
            <a:extLst>
              <a:ext uri="{FF2B5EF4-FFF2-40B4-BE49-F238E27FC236}">
                <a16:creationId xmlns:a16="http://schemas.microsoft.com/office/drawing/2014/main" id="{01D8952E-9027-420F-A6C3-EDB5369C574F}"/>
              </a:ext>
            </a:extLst>
          </p:cNvPr>
          <p:cNvGraphicFramePr>
            <a:graphicFrameLocks noGrp="1"/>
          </p:cNvGraphicFramePr>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10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16" name="表格 15">
            <a:extLst>
              <a:ext uri="{FF2B5EF4-FFF2-40B4-BE49-F238E27FC236}">
                <a16:creationId xmlns:a16="http://schemas.microsoft.com/office/drawing/2014/main" id="{8256599C-FB40-40E4-91D9-E7C4251ACD31}"/>
              </a:ext>
            </a:extLst>
          </p:cNvPr>
          <p:cNvGraphicFramePr>
            <a:graphicFrameLocks noGrp="1"/>
          </p:cNvGraphicFramePr>
          <p:nvPr>
            <p:extLst>
              <p:ext uri="{D42A27DB-BD31-4B8C-83A1-F6EECF244321}">
                <p14:modId xmlns:p14="http://schemas.microsoft.com/office/powerpoint/2010/main" val="1559823412"/>
              </p:ext>
            </p:extLst>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17" name="表格 16">
            <a:extLst>
              <a:ext uri="{FF2B5EF4-FFF2-40B4-BE49-F238E27FC236}">
                <a16:creationId xmlns:a16="http://schemas.microsoft.com/office/drawing/2014/main" id="{2021199C-14A2-4A6F-AF26-25829592C895}"/>
              </a:ext>
            </a:extLst>
          </p:cNvPr>
          <p:cNvGraphicFramePr>
            <a:graphicFrameLocks noGrp="1"/>
          </p:cNvGraphicFramePr>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x1</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-2</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p:sp>
        <p:nvSpPr>
          <p:cNvPr id="18" name="文本框 17">
            <a:extLst>
              <a:ext uri="{FF2B5EF4-FFF2-40B4-BE49-F238E27FC236}">
                <a16:creationId xmlns:a16="http://schemas.microsoft.com/office/drawing/2014/main" id="{223AD700-BE80-44A8-9BA5-51400E02EB1B}"/>
              </a:ext>
            </a:extLst>
          </p:cNvPr>
          <p:cNvSpPr txBox="1"/>
          <p:nvPr/>
        </p:nvSpPr>
        <p:spPr>
          <a:xfrm>
            <a:off x="-15552" y="1124744"/>
            <a:ext cx="4680520" cy="3416320"/>
          </a:xfrm>
          <a:prstGeom prst="rect">
            <a:avLst/>
          </a:prstGeom>
          <a:noFill/>
        </p:spPr>
        <p:txBody>
          <a:bodyPr wrap="square" rtlCol="0">
            <a:spAutoFit/>
          </a:bodyPr>
          <a:lstStyle/>
          <a:p>
            <a:r>
              <a:rPr lang="en-US" altLang="zh-CN" sz="2400" dirty="0"/>
              <a:t>6. </a:t>
            </a:r>
            <a:r>
              <a:rPr lang="zh-CN" altLang="en-US" sz="2400" dirty="0"/>
              <a:t>矩阵变换，形成新的单纯形表</a:t>
            </a:r>
            <a:endParaRPr lang="en-US" altLang="zh-CN" sz="2400" dirty="0"/>
          </a:p>
          <a:p>
            <a:pPr marL="914400" lvl="1" indent="-457200">
              <a:buFont typeface="+mj-ea"/>
              <a:buAutoNum type="circleNumDbPlain"/>
            </a:pPr>
            <a:r>
              <a:rPr lang="zh-CN" altLang="en-US" sz="2400" dirty="0"/>
              <a:t>根据确定的主元，将对应的一列系数变成主元为</a:t>
            </a:r>
            <a:r>
              <a:rPr lang="en-US" altLang="zh-CN" sz="2400" dirty="0"/>
              <a:t>1</a:t>
            </a:r>
            <a:r>
              <a:rPr lang="zh-CN" altLang="en-US" sz="2400" dirty="0"/>
              <a:t>，其他为</a:t>
            </a:r>
            <a:r>
              <a:rPr lang="en-US" altLang="zh-CN" sz="2400" dirty="0"/>
              <a:t>0</a:t>
            </a:r>
            <a:r>
              <a:rPr lang="zh-CN" altLang="en-US" sz="2400" dirty="0"/>
              <a:t>的样式。</a:t>
            </a: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r>
              <a:rPr lang="zh-CN" altLang="en-US" sz="2400" dirty="0"/>
              <a:t>变换原则：</a:t>
            </a:r>
            <a:endParaRPr lang="en-US" altLang="zh-CN" sz="2400" dirty="0"/>
          </a:p>
          <a:p>
            <a:pPr marL="914400" lvl="1" indent="-457200">
              <a:buFont typeface="+mj-ea"/>
              <a:buAutoNum type="circleNumDbPlain"/>
            </a:pPr>
            <a:endParaRPr lang="en-US" altLang="zh-CN" sz="2400" dirty="0"/>
          </a:p>
        </p:txBody>
      </p:sp>
      <p:sp>
        <p:nvSpPr>
          <p:cNvPr id="19" name="文本框 18">
            <a:extLst>
              <a:ext uri="{FF2B5EF4-FFF2-40B4-BE49-F238E27FC236}">
                <a16:creationId xmlns:a16="http://schemas.microsoft.com/office/drawing/2014/main" id="{A9184701-4505-48AD-B0CA-9A9F587B683A}"/>
              </a:ext>
            </a:extLst>
          </p:cNvPr>
          <p:cNvSpPr txBox="1"/>
          <p:nvPr/>
        </p:nvSpPr>
        <p:spPr>
          <a:xfrm>
            <a:off x="885436" y="4192584"/>
            <a:ext cx="4158700" cy="461665"/>
          </a:xfrm>
          <a:prstGeom prst="rect">
            <a:avLst/>
          </a:prstGeom>
          <a:noFill/>
        </p:spPr>
        <p:txBody>
          <a:bodyPr wrap="square" rtlCol="0">
            <a:spAutoFit/>
          </a:bodyPr>
          <a:lstStyle/>
          <a:p>
            <a:pPr marL="457200" indent="-457200">
              <a:buFont typeface="+mj-lt"/>
              <a:buAutoNum type="alphaLcParenR"/>
            </a:pPr>
            <a:r>
              <a:rPr lang="zh-CN" altLang="en-US" sz="2400" dirty="0"/>
              <a:t>第二行除以</a:t>
            </a:r>
            <a:r>
              <a:rPr lang="en-US" altLang="zh-CN" sz="2400" dirty="0"/>
              <a:t>2</a:t>
            </a:r>
          </a:p>
        </p:txBody>
      </p:sp>
      <p:sp>
        <p:nvSpPr>
          <p:cNvPr id="20" name="文本框 19">
            <a:extLst>
              <a:ext uri="{FF2B5EF4-FFF2-40B4-BE49-F238E27FC236}">
                <a16:creationId xmlns:a16="http://schemas.microsoft.com/office/drawing/2014/main" id="{8BA0F2D6-9509-4F18-8D5E-42DBB04DE857}"/>
              </a:ext>
            </a:extLst>
          </p:cNvPr>
          <p:cNvSpPr txBox="1"/>
          <p:nvPr/>
        </p:nvSpPr>
        <p:spPr>
          <a:xfrm>
            <a:off x="430068" y="2771082"/>
            <a:ext cx="4091098" cy="830997"/>
          </a:xfrm>
          <a:prstGeom prst="rect">
            <a:avLst/>
          </a:prstGeom>
          <a:noFill/>
        </p:spPr>
        <p:txBody>
          <a:bodyPr wrap="square" rtlCol="0">
            <a:spAutoFit/>
          </a:bodyPr>
          <a:lstStyle/>
          <a:p>
            <a:r>
              <a:rPr lang="zh-CN" altLang="en-US" sz="2400" dirty="0"/>
              <a:t>将</a:t>
            </a:r>
            <a:r>
              <a:rPr lang="en-US" altLang="zh-CN" sz="2400" dirty="0"/>
              <a:t>x1</a:t>
            </a:r>
            <a:r>
              <a:rPr lang="zh-CN" altLang="en-US" sz="2400" dirty="0"/>
              <a:t>对应的基向量变成</a:t>
            </a:r>
            <a:r>
              <a:rPr lang="en-US" altLang="zh-CN" sz="2400" dirty="0"/>
              <a:t>[0,1]</a:t>
            </a:r>
            <a:r>
              <a:rPr lang="en-US" altLang="zh-CN" sz="2400" baseline="30000" dirty="0"/>
              <a:t>T</a:t>
            </a:r>
            <a:r>
              <a:rPr lang="zh-CN" altLang="en-US" sz="2400" dirty="0"/>
              <a:t>的形式：</a:t>
            </a:r>
            <a:endParaRPr lang="en-US" altLang="zh-CN" sz="2400" dirty="0"/>
          </a:p>
        </p:txBody>
      </p:sp>
      <p:sp>
        <p:nvSpPr>
          <p:cNvPr id="21" name="椭圆 20">
            <a:extLst>
              <a:ext uri="{FF2B5EF4-FFF2-40B4-BE49-F238E27FC236}">
                <a16:creationId xmlns:a16="http://schemas.microsoft.com/office/drawing/2014/main" id="{C6E92092-9312-49AB-B03B-CBE400008AF8}"/>
              </a:ext>
            </a:extLst>
          </p:cNvPr>
          <p:cNvSpPr/>
          <p:nvPr/>
        </p:nvSpPr>
        <p:spPr bwMode="auto">
          <a:xfrm>
            <a:off x="6189311" y="2915610"/>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22" name="对象 21">
            <a:extLst>
              <a:ext uri="{FF2B5EF4-FFF2-40B4-BE49-F238E27FC236}">
                <a16:creationId xmlns:a16="http://schemas.microsoft.com/office/drawing/2014/main" id="{63D1D0B3-AED2-41BC-A534-66797D0FC2D9}"/>
              </a:ext>
            </a:extLst>
          </p:cNvPr>
          <p:cNvGraphicFramePr>
            <a:graphicFrameLocks noChangeAspect="1"/>
          </p:cNvGraphicFramePr>
          <p:nvPr>
            <p:extLst>
              <p:ext uri="{D42A27DB-BD31-4B8C-83A1-F6EECF244321}">
                <p14:modId xmlns:p14="http://schemas.microsoft.com/office/powerpoint/2010/main" val="518258138"/>
              </p:ext>
            </p:extLst>
          </p:nvPr>
        </p:nvGraphicFramePr>
        <p:xfrm>
          <a:off x="6256099" y="91572"/>
          <a:ext cx="347662" cy="898525"/>
        </p:xfrm>
        <a:graphic>
          <a:graphicData uri="http://schemas.openxmlformats.org/presentationml/2006/ole">
            <mc:AlternateContent xmlns:mc="http://schemas.openxmlformats.org/markup-compatibility/2006">
              <mc:Choice xmlns:v="urn:schemas-microsoft-com:vml" Requires="v">
                <p:oleObj name="Equation" r:id="rId6" imgW="152280" imgH="393480" progId="Equation.DSMT4">
                  <p:embed/>
                </p:oleObj>
              </mc:Choice>
              <mc:Fallback>
                <p:oleObj name="Equation" r:id="rId6" imgW="152280" imgH="393480" progId="Equation.DSMT4">
                  <p:embed/>
                  <p:pic>
                    <p:nvPicPr>
                      <p:cNvPr id="27" name="对象 26">
                        <a:extLst>
                          <a:ext uri="{FF2B5EF4-FFF2-40B4-BE49-F238E27FC236}">
                            <a16:creationId xmlns:a16="http://schemas.microsoft.com/office/drawing/2014/main" id="{0B6FDB8E-5D6C-4EEE-9882-9E519E01F990}"/>
                          </a:ext>
                        </a:extLst>
                      </p:cNvPr>
                      <p:cNvPicPr/>
                      <p:nvPr/>
                    </p:nvPicPr>
                    <p:blipFill>
                      <a:blip r:embed="rId7"/>
                      <a:stretch>
                        <a:fillRect/>
                      </a:stretch>
                    </p:blipFill>
                    <p:spPr>
                      <a:xfrm>
                        <a:off x="6256099" y="91572"/>
                        <a:ext cx="347662" cy="898525"/>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E18CB22F-561C-484D-8A44-B00C58FA1811}"/>
              </a:ext>
            </a:extLst>
          </p:cNvPr>
          <p:cNvGraphicFramePr>
            <a:graphicFrameLocks noChangeAspect="1"/>
          </p:cNvGraphicFramePr>
          <p:nvPr>
            <p:extLst>
              <p:ext uri="{D42A27DB-BD31-4B8C-83A1-F6EECF244321}">
                <p14:modId xmlns:p14="http://schemas.microsoft.com/office/powerpoint/2010/main" val="778173421"/>
              </p:ext>
            </p:extLst>
          </p:nvPr>
        </p:nvGraphicFramePr>
        <p:xfrm>
          <a:off x="6675979" y="90869"/>
          <a:ext cx="519113" cy="898525"/>
        </p:xfrm>
        <a:graphic>
          <a:graphicData uri="http://schemas.openxmlformats.org/presentationml/2006/ole">
            <mc:AlternateContent xmlns:mc="http://schemas.openxmlformats.org/markup-compatibility/2006">
              <mc:Choice xmlns:v="urn:schemas-microsoft-com:vml" Requires="v">
                <p:oleObj name="Equation" r:id="rId8" imgW="228600" imgH="393480" progId="Equation.DSMT4">
                  <p:embed/>
                </p:oleObj>
              </mc:Choice>
              <mc:Fallback>
                <p:oleObj name="Equation" r:id="rId8" imgW="228600" imgH="393480" progId="Equation.DSMT4">
                  <p:embed/>
                  <p:pic>
                    <p:nvPicPr>
                      <p:cNvPr id="22" name="对象 21">
                        <a:extLst>
                          <a:ext uri="{FF2B5EF4-FFF2-40B4-BE49-F238E27FC236}">
                            <a16:creationId xmlns:a16="http://schemas.microsoft.com/office/drawing/2014/main" id="{63D1D0B3-AED2-41BC-A534-66797D0FC2D9}"/>
                          </a:ext>
                        </a:extLst>
                      </p:cNvPr>
                      <p:cNvPicPr/>
                      <p:nvPr/>
                    </p:nvPicPr>
                    <p:blipFill>
                      <a:blip r:embed="rId9"/>
                      <a:stretch>
                        <a:fillRect/>
                      </a:stretch>
                    </p:blipFill>
                    <p:spPr>
                      <a:xfrm>
                        <a:off x="6675979" y="90869"/>
                        <a:ext cx="519113" cy="898525"/>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21964F11-BE30-4CE7-A8D3-DF44C0518273}"/>
              </a:ext>
            </a:extLst>
          </p:cNvPr>
          <p:cNvGraphicFramePr>
            <a:graphicFrameLocks noChangeAspect="1"/>
          </p:cNvGraphicFramePr>
          <p:nvPr>
            <p:extLst>
              <p:ext uri="{D42A27DB-BD31-4B8C-83A1-F6EECF244321}">
                <p14:modId xmlns:p14="http://schemas.microsoft.com/office/powerpoint/2010/main" val="3584180899"/>
              </p:ext>
            </p:extLst>
          </p:nvPr>
        </p:nvGraphicFramePr>
        <p:xfrm>
          <a:off x="7445375" y="92075"/>
          <a:ext cx="346075" cy="898525"/>
        </p:xfrm>
        <a:graphic>
          <a:graphicData uri="http://schemas.openxmlformats.org/presentationml/2006/ole">
            <mc:AlternateContent xmlns:mc="http://schemas.openxmlformats.org/markup-compatibility/2006">
              <mc:Choice xmlns:v="urn:schemas-microsoft-com:vml" Requires="v">
                <p:oleObj name="Equation" r:id="rId10" imgW="152280" imgH="393480" progId="Equation.DSMT4">
                  <p:embed/>
                </p:oleObj>
              </mc:Choice>
              <mc:Fallback>
                <p:oleObj name="Equation" r:id="rId10" imgW="152280" imgH="393480" progId="Equation.DSMT4">
                  <p:embed/>
                  <p:pic>
                    <p:nvPicPr>
                      <p:cNvPr id="23" name="对象 22">
                        <a:extLst>
                          <a:ext uri="{FF2B5EF4-FFF2-40B4-BE49-F238E27FC236}">
                            <a16:creationId xmlns:a16="http://schemas.microsoft.com/office/drawing/2014/main" id="{E18CB22F-561C-484D-8A44-B00C58FA1811}"/>
                          </a:ext>
                        </a:extLst>
                      </p:cNvPr>
                      <p:cNvPicPr/>
                      <p:nvPr/>
                    </p:nvPicPr>
                    <p:blipFill>
                      <a:blip r:embed="rId11"/>
                      <a:stretch>
                        <a:fillRect/>
                      </a:stretch>
                    </p:blipFill>
                    <p:spPr>
                      <a:xfrm>
                        <a:off x="7445375" y="92075"/>
                        <a:ext cx="346075" cy="898525"/>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44D0E642-6BCB-4065-AC76-5968511289D8}"/>
              </a:ext>
            </a:extLst>
          </p:cNvPr>
          <p:cNvGraphicFramePr>
            <a:graphicFrameLocks noChangeAspect="1"/>
          </p:cNvGraphicFramePr>
          <p:nvPr>
            <p:extLst>
              <p:ext uri="{D42A27DB-BD31-4B8C-83A1-F6EECF244321}">
                <p14:modId xmlns:p14="http://schemas.microsoft.com/office/powerpoint/2010/main" val="1079007770"/>
              </p:ext>
            </p:extLst>
          </p:nvPr>
        </p:nvGraphicFramePr>
        <p:xfrm>
          <a:off x="8051043" y="82203"/>
          <a:ext cx="346075" cy="898525"/>
        </p:xfrm>
        <a:graphic>
          <a:graphicData uri="http://schemas.openxmlformats.org/presentationml/2006/ole">
            <mc:AlternateContent xmlns:mc="http://schemas.openxmlformats.org/markup-compatibility/2006">
              <mc:Choice xmlns:v="urn:schemas-microsoft-com:vml" Requires="v">
                <p:oleObj name="Equation" r:id="rId12" imgW="152280" imgH="393480" progId="Equation.DSMT4">
                  <p:embed/>
                </p:oleObj>
              </mc:Choice>
              <mc:Fallback>
                <p:oleObj name="Equation" r:id="rId12" imgW="152280" imgH="393480" progId="Equation.DSMT4">
                  <p:embed/>
                  <p:pic>
                    <p:nvPicPr>
                      <p:cNvPr id="25" name="对象 24">
                        <a:extLst>
                          <a:ext uri="{FF2B5EF4-FFF2-40B4-BE49-F238E27FC236}">
                            <a16:creationId xmlns:a16="http://schemas.microsoft.com/office/drawing/2014/main" id="{21964F11-BE30-4CE7-A8D3-DF44C0518273}"/>
                          </a:ext>
                        </a:extLst>
                      </p:cNvPr>
                      <p:cNvPicPr/>
                      <p:nvPr/>
                    </p:nvPicPr>
                    <p:blipFill>
                      <a:blip r:embed="rId13"/>
                      <a:stretch>
                        <a:fillRect/>
                      </a:stretch>
                    </p:blipFill>
                    <p:spPr>
                      <a:xfrm>
                        <a:off x="8051043" y="82203"/>
                        <a:ext cx="346075" cy="898525"/>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1F19AF7E-9F26-4F71-B276-A2A954E95BAC}"/>
              </a:ext>
            </a:extLst>
          </p:cNvPr>
          <p:cNvGraphicFramePr>
            <a:graphicFrameLocks noChangeAspect="1"/>
          </p:cNvGraphicFramePr>
          <p:nvPr>
            <p:extLst>
              <p:ext uri="{D42A27DB-BD31-4B8C-83A1-F6EECF244321}">
                <p14:modId xmlns:p14="http://schemas.microsoft.com/office/powerpoint/2010/main" val="2920130763"/>
              </p:ext>
            </p:extLst>
          </p:nvPr>
        </p:nvGraphicFramePr>
        <p:xfrm>
          <a:off x="8705850" y="80963"/>
          <a:ext cx="461963" cy="898525"/>
        </p:xfrm>
        <a:graphic>
          <a:graphicData uri="http://schemas.openxmlformats.org/presentationml/2006/ole">
            <mc:AlternateContent xmlns:mc="http://schemas.openxmlformats.org/markup-compatibility/2006">
              <mc:Choice xmlns:v="urn:schemas-microsoft-com:vml" Requires="v">
                <p:oleObj name="Equation" r:id="rId14" imgW="203040" imgH="393480" progId="Equation.DSMT4">
                  <p:embed/>
                </p:oleObj>
              </mc:Choice>
              <mc:Fallback>
                <p:oleObj name="Equation" r:id="rId14" imgW="203040" imgH="393480" progId="Equation.DSMT4">
                  <p:embed/>
                  <p:pic>
                    <p:nvPicPr>
                      <p:cNvPr id="26" name="对象 25">
                        <a:extLst>
                          <a:ext uri="{FF2B5EF4-FFF2-40B4-BE49-F238E27FC236}">
                            <a16:creationId xmlns:a16="http://schemas.microsoft.com/office/drawing/2014/main" id="{44D0E642-6BCB-4065-AC76-5968511289D8}"/>
                          </a:ext>
                        </a:extLst>
                      </p:cNvPr>
                      <p:cNvPicPr/>
                      <p:nvPr/>
                    </p:nvPicPr>
                    <p:blipFill>
                      <a:blip r:embed="rId15"/>
                      <a:stretch>
                        <a:fillRect/>
                      </a:stretch>
                    </p:blipFill>
                    <p:spPr>
                      <a:xfrm>
                        <a:off x="8705850" y="80963"/>
                        <a:ext cx="461963" cy="898525"/>
                      </a:xfrm>
                      <a:prstGeom prst="rect">
                        <a:avLst/>
                      </a:prstGeom>
                    </p:spPr>
                  </p:pic>
                </p:oleObj>
              </mc:Fallback>
            </mc:AlternateContent>
          </a:graphicData>
        </a:graphic>
      </p:graphicFrame>
    </p:spTree>
    <p:extLst>
      <p:ext uri="{BB962C8B-B14F-4D97-AF65-F5344CB8AC3E}">
        <p14:creationId xmlns:p14="http://schemas.microsoft.com/office/powerpoint/2010/main" val="271827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8">
                                            <p:txEl>
                                              <p:pRg st="1" end="1"/>
                                            </p:txEl>
                                          </p:spTgt>
                                        </p:tgtEl>
                                        <p:attrNameLst>
                                          <p:attrName>style.visibility</p:attrName>
                                        </p:attrNameLst>
                                      </p:cBhvr>
                                      <p:to>
                                        <p:strVal val="visible"/>
                                      </p:to>
                                    </p:set>
                                    <p:animEffect transition="in" filter="barn(inVertical)">
                                      <p:cBhvr>
                                        <p:cTn id="13" dur="500"/>
                                        <p:tgtEl>
                                          <p:spTgt spid="1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barn(inVertical)">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
                                            <p:txEl>
                                              <p:pRg st="5" end="5"/>
                                            </p:txEl>
                                          </p:spTgt>
                                        </p:tgtEl>
                                        <p:attrNameLst>
                                          <p:attrName>style.visibility</p:attrName>
                                        </p:attrNameLst>
                                      </p:cBhvr>
                                      <p:to>
                                        <p:strVal val="visible"/>
                                      </p:to>
                                    </p:set>
                                    <p:anim calcmode="lin" valueType="num">
                                      <p:cBhvr additive="base">
                                        <p:cTn id="23" dur="500" fill="hold"/>
                                        <p:tgtEl>
                                          <p:spTgt spid="18">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
                                            <p:txEl>
                                              <p:pRg st="5" end="5"/>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nodeType="afterEffect">
                                  <p:stCondLst>
                                    <p:cond delay="0"/>
                                  </p:stCondLst>
                                  <p:childTnLst>
                                    <p:set>
                                      <p:cBhvr>
                                        <p:cTn id="27" dur="1" fill="hold">
                                          <p:stCondLst>
                                            <p:cond delay="0"/>
                                          </p:stCondLst>
                                        </p:cTn>
                                        <p:tgtEl>
                                          <p:spTgt spid="19">
                                            <p:txEl>
                                              <p:pRg st="0" end="0"/>
                                            </p:txEl>
                                          </p:spTgt>
                                        </p:tgtEl>
                                        <p:attrNameLst>
                                          <p:attrName>style.visibility</p:attrName>
                                        </p:attrNameLst>
                                      </p:cBhvr>
                                      <p:to>
                                        <p:strVal val="visible"/>
                                      </p:to>
                                    </p:set>
                                    <p:anim calcmode="lin" valueType="num">
                                      <p:cBhvr additive="base">
                                        <p:cTn id="28"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additive="base">
                                        <p:cTn id="34" dur="500" fill="hold"/>
                                        <p:tgtEl>
                                          <p:spTgt spid="22"/>
                                        </p:tgtEl>
                                        <p:attrNameLst>
                                          <p:attrName>ppt_x</p:attrName>
                                        </p:attrNameLst>
                                      </p:cBhvr>
                                      <p:tavLst>
                                        <p:tav tm="0">
                                          <p:val>
                                            <p:strVal val="#ppt_x"/>
                                          </p:val>
                                        </p:tav>
                                        <p:tav tm="100000">
                                          <p:val>
                                            <p:strVal val="#ppt_x"/>
                                          </p:val>
                                        </p:tav>
                                      </p:tavLst>
                                    </p:anim>
                                    <p:anim calcmode="lin" valueType="num">
                                      <p:cBhvr additive="base">
                                        <p:cTn id="3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additive="base">
                                        <p:cTn id="40" dur="500" fill="hold"/>
                                        <p:tgtEl>
                                          <p:spTgt spid="23"/>
                                        </p:tgtEl>
                                        <p:attrNameLst>
                                          <p:attrName>ppt_x</p:attrName>
                                        </p:attrNameLst>
                                      </p:cBhvr>
                                      <p:tavLst>
                                        <p:tav tm="0">
                                          <p:val>
                                            <p:strVal val="#ppt_x"/>
                                          </p:val>
                                        </p:tav>
                                        <p:tav tm="100000">
                                          <p:val>
                                            <p:strVal val="#ppt_x"/>
                                          </p:val>
                                        </p:tav>
                                      </p:tavLst>
                                    </p:anim>
                                    <p:anim calcmode="lin" valueType="num">
                                      <p:cBhvr additive="base">
                                        <p:cTn id="4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25"/>
                                        </p:tgtEl>
                                        <p:attrNameLst>
                                          <p:attrName>style.visibility</p:attrName>
                                        </p:attrNameLst>
                                      </p:cBhvr>
                                      <p:to>
                                        <p:strVal val="visible"/>
                                      </p:to>
                                    </p:set>
                                    <p:anim calcmode="lin" valueType="num">
                                      <p:cBhvr additive="base">
                                        <p:cTn id="46" dur="500" fill="hold"/>
                                        <p:tgtEl>
                                          <p:spTgt spid="25"/>
                                        </p:tgtEl>
                                        <p:attrNameLst>
                                          <p:attrName>ppt_x</p:attrName>
                                        </p:attrNameLst>
                                      </p:cBhvr>
                                      <p:tavLst>
                                        <p:tav tm="0">
                                          <p:val>
                                            <p:strVal val="#ppt_x"/>
                                          </p:val>
                                        </p:tav>
                                        <p:tav tm="100000">
                                          <p:val>
                                            <p:strVal val="#ppt_x"/>
                                          </p:val>
                                        </p:tav>
                                      </p:tavLst>
                                    </p:anim>
                                    <p:anim calcmode="lin" valueType="num">
                                      <p:cBhvr additive="base">
                                        <p:cTn id="47"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6"/>
                                        </p:tgtEl>
                                        <p:attrNameLst>
                                          <p:attrName>style.visibility</p:attrName>
                                        </p:attrNameLst>
                                      </p:cBhvr>
                                      <p:to>
                                        <p:strVal val="visible"/>
                                      </p:to>
                                    </p:set>
                                    <p:anim calcmode="lin" valueType="num">
                                      <p:cBhvr additive="base">
                                        <p:cTn id="52" dur="500" fill="hold"/>
                                        <p:tgtEl>
                                          <p:spTgt spid="26"/>
                                        </p:tgtEl>
                                        <p:attrNameLst>
                                          <p:attrName>ppt_x</p:attrName>
                                        </p:attrNameLst>
                                      </p:cBhvr>
                                      <p:tavLst>
                                        <p:tav tm="0">
                                          <p:val>
                                            <p:strVal val="#ppt_x"/>
                                          </p:val>
                                        </p:tav>
                                        <p:tav tm="100000">
                                          <p:val>
                                            <p:strVal val="#ppt_x"/>
                                          </p:val>
                                        </p:tav>
                                      </p:tavLst>
                                    </p:anim>
                                    <p:anim calcmode="lin" valueType="num">
                                      <p:cBhvr additive="base">
                                        <p:cTn id="5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500" fill="hold"/>
                                        <p:tgtEl>
                                          <p:spTgt spid="27"/>
                                        </p:tgtEl>
                                        <p:attrNameLst>
                                          <p:attrName>ppt_x</p:attrName>
                                        </p:attrNameLst>
                                      </p:cBhvr>
                                      <p:tavLst>
                                        <p:tav tm="0">
                                          <p:val>
                                            <p:strVal val="#ppt_x"/>
                                          </p:val>
                                        </p:tav>
                                        <p:tav tm="100000">
                                          <p:val>
                                            <p:strVal val="#ppt_x"/>
                                          </p:val>
                                        </p:tav>
                                      </p:tavLst>
                                    </p:anim>
                                    <p:anim calcmode="lin" valueType="num">
                                      <p:cBhvr additive="base">
                                        <p:cTn id="59"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10</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nvGraphicFramePr>
        <p:xfrm>
          <a:off x="5339018" y="4054748"/>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39018" y="4054748"/>
                        <a:ext cx="4541837" cy="2614612"/>
                      </a:xfrm>
                      <a:prstGeom prst="rect">
                        <a:avLst/>
                      </a:prstGeom>
                      <a:ln w="28575">
                        <a:noFill/>
                      </a:ln>
                    </p:spPr>
                  </p:pic>
                </p:oleObj>
              </mc:Fallback>
            </mc:AlternateContent>
          </a:graphicData>
        </a:graphic>
      </p:graphicFrame>
      <p:sp>
        <p:nvSpPr>
          <p:cNvPr id="18" name="文本框 17">
            <a:extLst>
              <a:ext uri="{FF2B5EF4-FFF2-40B4-BE49-F238E27FC236}">
                <a16:creationId xmlns:a16="http://schemas.microsoft.com/office/drawing/2014/main" id="{223AD700-BE80-44A8-9BA5-51400E02EB1B}"/>
              </a:ext>
            </a:extLst>
          </p:cNvPr>
          <p:cNvSpPr txBox="1"/>
          <p:nvPr/>
        </p:nvSpPr>
        <p:spPr>
          <a:xfrm>
            <a:off x="-15552" y="1124744"/>
            <a:ext cx="4680520" cy="3416320"/>
          </a:xfrm>
          <a:prstGeom prst="rect">
            <a:avLst/>
          </a:prstGeom>
          <a:noFill/>
        </p:spPr>
        <p:txBody>
          <a:bodyPr wrap="square" rtlCol="0">
            <a:spAutoFit/>
          </a:bodyPr>
          <a:lstStyle/>
          <a:p>
            <a:r>
              <a:rPr lang="en-US" altLang="zh-CN" sz="2400" dirty="0"/>
              <a:t>6. </a:t>
            </a:r>
            <a:r>
              <a:rPr lang="zh-CN" altLang="en-US" sz="2400" dirty="0"/>
              <a:t>矩阵变换，形成新的单纯形表</a:t>
            </a:r>
            <a:endParaRPr lang="en-US" altLang="zh-CN" sz="2400" dirty="0"/>
          </a:p>
          <a:p>
            <a:pPr marL="914400" lvl="1" indent="-457200">
              <a:buFont typeface="+mj-ea"/>
              <a:buAutoNum type="circleNumDbPlain"/>
            </a:pPr>
            <a:r>
              <a:rPr lang="zh-CN" altLang="en-US" sz="2400" dirty="0"/>
              <a:t>根据确定的主元，将对应的一列系数变成主元为</a:t>
            </a:r>
            <a:r>
              <a:rPr lang="en-US" altLang="zh-CN" sz="2400" dirty="0"/>
              <a:t>1</a:t>
            </a:r>
            <a:r>
              <a:rPr lang="zh-CN" altLang="en-US" sz="2400" dirty="0"/>
              <a:t>，其他为</a:t>
            </a:r>
            <a:r>
              <a:rPr lang="en-US" altLang="zh-CN" sz="2400" dirty="0"/>
              <a:t>0</a:t>
            </a:r>
            <a:r>
              <a:rPr lang="zh-CN" altLang="en-US" sz="2400" dirty="0"/>
              <a:t>的样式。</a:t>
            </a: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r>
              <a:rPr lang="zh-CN" altLang="en-US" sz="2400" dirty="0"/>
              <a:t>变换原则：</a:t>
            </a:r>
            <a:endParaRPr lang="en-US" altLang="zh-CN" sz="2400" dirty="0"/>
          </a:p>
          <a:p>
            <a:pPr marL="914400" lvl="1" indent="-457200">
              <a:buFont typeface="+mj-ea"/>
              <a:buAutoNum type="circleNumDbPlain"/>
            </a:pPr>
            <a:endParaRPr lang="en-US" altLang="zh-CN" sz="2400" dirty="0"/>
          </a:p>
        </p:txBody>
      </p:sp>
      <p:sp>
        <p:nvSpPr>
          <p:cNvPr id="19" name="文本框 18">
            <a:extLst>
              <a:ext uri="{FF2B5EF4-FFF2-40B4-BE49-F238E27FC236}">
                <a16:creationId xmlns:a16="http://schemas.microsoft.com/office/drawing/2014/main" id="{A9184701-4505-48AD-B0CA-9A9F587B683A}"/>
              </a:ext>
            </a:extLst>
          </p:cNvPr>
          <p:cNvSpPr txBox="1"/>
          <p:nvPr/>
        </p:nvSpPr>
        <p:spPr>
          <a:xfrm>
            <a:off x="885436" y="4192584"/>
            <a:ext cx="4158700" cy="461665"/>
          </a:xfrm>
          <a:prstGeom prst="rect">
            <a:avLst/>
          </a:prstGeom>
          <a:noFill/>
        </p:spPr>
        <p:txBody>
          <a:bodyPr wrap="square" rtlCol="0">
            <a:spAutoFit/>
          </a:bodyPr>
          <a:lstStyle/>
          <a:p>
            <a:pPr marL="457200" indent="-457200">
              <a:buFont typeface="+mj-lt"/>
              <a:buAutoNum type="alphaLcParenR"/>
            </a:pPr>
            <a:r>
              <a:rPr lang="zh-CN" altLang="en-US" sz="2400" dirty="0"/>
              <a:t>第二行除以</a:t>
            </a:r>
            <a:r>
              <a:rPr lang="en-US" altLang="zh-CN" sz="2400" dirty="0"/>
              <a:t>2</a:t>
            </a:r>
          </a:p>
        </p:txBody>
      </p:sp>
      <p:sp>
        <p:nvSpPr>
          <p:cNvPr id="20" name="文本框 19">
            <a:extLst>
              <a:ext uri="{FF2B5EF4-FFF2-40B4-BE49-F238E27FC236}">
                <a16:creationId xmlns:a16="http://schemas.microsoft.com/office/drawing/2014/main" id="{8BA0F2D6-9509-4F18-8D5E-42DBB04DE857}"/>
              </a:ext>
            </a:extLst>
          </p:cNvPr>
          <p:cNvSpPr txBox="1"/>
          <p:nvPr/>
        </p:nvSpPr>
        <p:spPr>
          <a:xfrm>
            <a:off x="430068" y="2771082"/>
            <a:ext cx="4091098" cy="830997"/>
          </a:xfrm>
          <a:prstGeom prst="rect">
            <a:avLst/>
          </a:prstGeom>
          <a:noFill/>
        </p:spPr>
        <p:txBody>
          <a:bodyPr wrap="square" rtlCol="0">
            <a:spAutoFit/>
          </a:bodyPr>
          <a:lstStyle/>
          <a:p>
            <a:r>
              <a:rPr lang="zh-CN" altLang="en-US" sz="2400" dirty="0"/>
              <a:t>将</a:t>
            </a:r>
            <a:r>
              <a:rPr lang="en-US" altLang="zh-CN" sz="2400" dirty="0"/>
              <a:t>x1</a:t>
            </a:r>
            <a:r>
              <a:rPr lang="zh-CN" altLang="en-US" sz="2400" dirty="0"/>
              <a:t>对应的基向量变成</a:t>
            </a:r>
            <a:r>
              <a:rPr lang="en-US" altLang="zh-CN" sz="2400" dirty="0"/>
              <a:t>[0,1]</a:t>
            </a:r>
            <a:r>
              <a:rPr lang="en-US" altLang="zh-CN" sz="2400" baseline="30000" dirty="0"/>
              <a:t>T</a:t>
            </a:r>
            <a:r>
              <a:rPr lang="zh-CN" altLang="en-US" sz="2400" dirty="0"/>
              <a:t>的形式：</a:t>
            </a:r>
            <a:endParaRPr lang="en-US" altLang="zh-CN" sz="2400" dirty="0"/>
          </a:p>
        </p:txBody>
      </p:sp>
      <p:graphicFrame>
        <p:nvGraphicFramePr>
          <p:cNvPr id="22" name="对象 21">
            <a:extLst>
              <a:ext uri="{FF2B5EF4-FFF2-40B4-BE49-F238E27FC236}">
                <a16:creationId xmlns:a16="http://schemas.microsoft.com/office/drawing/2014/main" id="{63D1D0B3-AED2-41BC-A534-66797D0FC2D9}"/>
              </a:ext>
            </a:extLst>
          </p:cNvPr>
          <p:cNvGraphicFramePr>
            <a:graphicFrameLocks noChangeAspect="1"/>
          </p:cNvGraphicFramePr>
          <p:nvPr/>
        </p:nvGraphicFramePr>
        <p:xfrm>
          <a:off x="6256099" y="91572"/>
          <a:ext cx="347662" cy="898525"/>
        </p:xfrm>
        <a:graphic>
          <a:graphicData uri="http://schemas.openxmlformats.org/presentationml/2006/ole">
            <mc:AlternateContent xmlns:mc="http://schemas.openxmlformats.org/markup-compatibility/2006">
              <mc:Choice xmlns:v="urn:schemas-microsoft-com:vml" Requires="v">
                <p:oleObj name="Equation" r:id="rId4" imgW="152280" imgH="393480" progId="Equation.DSMT4">
                  <p:embed/>
                </p:oleObj>
              </mc:Choice>
              <mc:Fallback>
                <p:oleObj name="Equation" r:id="rId4" imgW="152280" imgH="393480" progId="Equation.DSMT4">
                  <p:embed/>
                  <p:pic>
                    <p:nvPicPr>
                      <p:cNvPr id="22" name="对象 21">
                        <a:extLst>
                          <a:ext uri="{FF2B5EF4-FFF2-40B4-BE49-F238E27FC236}">
                            <a16:creationId xmlns:a16="http://schemas.microsoft.com/office/drawing/2014/main" id="{63D1D0B3-AED2-41BC-A534-66797D0FC2D9}"/>
                          </a:ext>
                        </a:extLst>
                      </p:cNvPr>
                      <p:cNvPicPr/>
                      <p:nvPr/>
                    </p:nvPicPr>
                    <p:blipFill>
                      <a:blip r:embed="rId5"/>
                      <a:stretch>
                        <a:fillRect/>
                      </a:stretch>
                    </p:blipFill>
                    <p:spPr>
                      <a:xfrm>
                        <a:off x="6256099" y="91572"/>
                        <a:ext cx="347662" cy="898525"/>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E18CB22F-561C-484D-8A44-B00C58FA1811}"/>
              </a:ext>
            </a:extLst>
          </p:cNvPr>
          <p:cNvGraphicFramePr>
            <a:graphicFrameLocks noChangeAspect="1"/>
          </p:cNvGraphicFramePr>
          <p:nvPr/>
        </p:nvGraphicFramePr>
        <p:xfrm>
          <a:off x="6675979" y="90869"/>
          <a:ext cx="519113" cy="898525"/>
        </p:xfrm>
        <a:graphic>
          <a:graphicData uri="http://schemas.openxmlformats.org/presentationml/2006/ole">
            <mc:AlternateContent xmlns:mc="http://schemas.openxmlformats.org/markup-compatibility/2006">
              <mc:Choice xmlns:v="urn:schemas-microsoft-com:vml" Requires="v">
                <p:oleObj name="Equation" r:id="rId6" imgW="228600" imgH="393480" progId="Equation.DSMT4">
                  <p:embed/>
                </p:oleObj>
              </mc:Choice>
              <mc:Fallback>
                <p:oleObj name="Equation" r:id="rId6" imgW="228600" imgH="393480" progId="Equation.DSMT4">
                  <p:embed/>
                  <p:pic>
                    <p:nvPicPr>
                      <p:cNvPr id="23" name="对象 22">
                        <a:extLst>
                          <a:ext uri="{FF2B5EF4-FFF2-40B4-BE49-F238E27FC236}">
                            <a16:creationId xmlns:a16="http://schemas.microsoft.com/office/drawing/2014/main" id="{E18CB22F-561C-484D-8A44-B00C58FA1811}"/>
                          </a:ext>
                        </a:extLst>
                      </p:cNvPr>
                      <p:cNvPicPr/>
                      <p:nvPr/>
                    </p:nvPicPr>
                    <p:blipFill>
                      <a:blip r:embed="rId7"/>
                      <a:stretch>
                        <a:fillRect/>
                      </a:stretch>
                    </p:blipFill>
                    <p:spPr>
                      <a:xfrm>
                        <a:off x="6675979" y="90869"/>
                        <a:ext cx="519113" cy="898525"/>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21964F11-BE30-4CE7-A8D3-DF44C0518273}"/>
              </a:ext>
            </a:extLst>
          </p:cNvPr>
          <p:cNvGraphicFramePr>
            <a:graphicFrameLocks noChangeAspect="1"/>
          </p:cNvGraphicFramePr>
          <p:nvPr/>
        </p:nvGraphicFramePr>
        <p:xfrm>
          <a:off x="7445375" y="92075"/>
          <a:ext cx="346075" cy="898525"/>
        </p:xfrm>
        <a:graphic>
          <a:graphicData uri="http://schemas.openxmlformats.org/presentationml/2006/ole">
            <mc:AlternateContent xmlns:mc="http://schemas.openxmlformats.org/markup-compatibility/2006">
              <mc:Choice xmlns:v="urn:schemas-microsoft-com:vml" Requires="v">
                <p:oleObj name="Equation" r:id="rId8" imgW="152280" imgH="393480" progId="Equation.DSMT4">
                  <p:embed/>
                </p:oleObj>
              </mc:Choice>
              <mc:Fallback>
                <p:oleObj name="Equation" r:id="rId8" imgW="152280" imgH="393480" progId="Equation.DSMT4">
                  <p:embed/>
                  <p:pic>
                    <p:nvPicPr>
                      <p:cNvPr id="25" name="对象 24">
                        <a:extLst>
                          <a:ext uri="{FF2B5EF4-FFF2-40B4-BE49-F238E27FC236}">
                            <a16:creationId xmlns:a16="http://schemas.microsoft.com/office/drawing/2014/main" id="{21964F11-BE30-4CE7-A8D3-DF44C0518273}"/>
                          </a:ext>
                        </a:extLst>
                      </p:cNvPr>
                      <p:cNvPicPr/>
                      <p:nvPr/>
                    </p:nvPicPr>
                    <p:blipFill>
                      <a:blip r:embed="rId9"/>
                      <a:stretch>
                        <a:fillRect/>
                      </a:stretch>
                    </p:blipFill>
                    <p:spPr>
                      <a:xfrm>
                        <a:off x="7445375" y="92075"/>
                        <a:ext cx="346075" cy="898525"/>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44D0E642-6BCB-4065-AC76-5968511289D8}"/>
              </a:ext>
            </a:extLst>
          </p:cNvPr>
          <p:cNvGraphicFramePr>
            <a:graphicFrameLocks noChangeAspect="1"/>
          </p:cNvGraphicFramePr>
          <p:nvPr/>
        </p:nvGraphicFramePr>
        <p:xfrm>
          <a:off x="8051043" y="82203"/>
          <a:ext cx="346075" cy="898525"/>
        </p:xfrm>
        <a:graphic>
          <a:graphicData uri="http://schemas.openxmlformats.org/presentationml/2006/ole">
            <mc:AlternateContent xmlns:mc="http://schemas.openxmlformats.org/markup-compatibility/2006">
              <mc:Choice xmlns:v="urn:schemas-microsoft-com:vml" Requires="v">
                <p:oleObj name="Equation" r:id="rId10" imgW="152280" imgH="393480" progId="Equation.DSMT4">
                  <p:embed/>
                </p:oleObj>
              </mc:Choice>
              <mc:Fallback>
                <p:oleObj name="Equation" r:id="rId10" imgW="152280" imgH="393480" progId="Equation.DSMT4">
                  <p:embed/>
                  <p:pic>
                    <p:nvPicPr>
                      <p:cNvPr id="26" name="对象 25">
                        <a:extLst>
                          <a:ext uri="{FF2B5EF4-FFF2-40B4-BE49-F238E27FC236}">
                            <a16:creationId xmlns:a16="http://schemas.microsoft.com/office/drawing/2014/main" id="{44D0E642-6BCB-4065-AC76-5968511289D8}"/>
                          </a:ext>
                        </a:extLst>
                      </p:cNvPr>
                      <p:cNvPicPr/>
                      <p:nvPr/>
                    </p:nvPicPr>
                    <p:blipFill>
                      <a:blip r:embed="rId11"/>
                      <a:stretch>
                        <a:fillRect/>
                      </a:stretch>
                    </p:blipFill>
                    <p:spPr>
                      <a:xfrm>
                        <a:off x="8051043" y="82203"/>
                        <a:ext cx="346075" cy="898525"/>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1F19AF7E-9F26-4F71-B276-A2A954E95BAC}"/>
              </a:ext>
            </a:extLst>
          </p:cNvPr>
          <p:cNvGraphicFramePr>
            <a:graphicFrameLocks noChangeAspect="1"/>
          </p:cNvGraphicFramePr>
          <p:nvPr/>
        </p:nvGraphicFramePr>
        <p:xfrm>
          <a:off x="8705850" y="80963"/>
          <a:ext cx="461963" cy="898525"/>
        </p:xfrm>
        <a:graphic>
          <a:graphicData uri="http://schemas.openxmlformats.org/presentationml/2006/ole">
            <mc:AlternateContent xmlns:mc="http://schemas.openxmlformats.org/markup-compatibility/2006">
              <mc:Choice xmlns:v="urn:schemas-microsoft-com:vml" Requires="v">
                <p:oleObj name="Equation" r:id="rId12" imgW="203040" imgH="393480" progId="Equation.DSMT4">
                  <p:embed/>
                </p:oleObj>
              </mc:Choice>
              <mc:Fallback>
                <p:oleObj name="Equation" r:id="rId12" imgW="203040" imgH="393480" progId="Equation.DSMT4">
                  <p:embed/>
                  <p:pic>
                    <p:nvPicPr>
                      <p:cNvPr id="27" name="对象 26">
                        <a:extLst>
                          <a:ext uri="{FF2B5EF4-FFF2-40B4-BE49-F238E27FC236}">
                            <a16:creationId xmlns:a16="http://schemas.microsoft.com/office/drawing/2014/main" id="{1F19AF7E-9F26-4F71-B276-A2A954E95BAC}"/>
                          </a:ext>
                        </a:extLst>
                      </p:cNvPr>
                      <p:cNvPicPr/>
                      <p:nvPr/>
                    </p:nvPicPr>
                    <p:blipFill>
                      <a:blip r:embed="rId13"/>
                      <a:stretch>
                        <a:fillRect/>
                      </a:stretch>
                    </p:blipFill>
                    <p:spPr>
                      <a:xfrm>
                        <a:off x="8705850" y="80963"/>
                        <a:ext cx="461963" cy="89852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graphicFrame>
            <p:nvGraphicFramePr>
              <p:cNvPr id="30" name="表格 29">
                <a:extLst>
                  <a:ext uri="{FF2B5EF4-FFF2-40B4-BE49-F238E27FC236}">
                    <a16:creationId xmlns:a16="http://schemas.microsoft.com/office/drawing/2014/main" id="{965EA5DE-940B-4828-BA47-50EC52E11EE9}"/>
                  </a:ext>
                </a:extLst>
              </p:cNvPr>
              <p:cNvGraphicFramePr>
                <a:graphicFrameLocks noGrp="1"/>
              </p:cNvGraphicFramePr>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30" name="表格 29">
                <a:extLst>
                  <a:ext uri="{FF2B5EF4-FFF2-40B4-BE49-F238E27FC236}">
                    <a16:creationId xmlns:a16="http://schemas.microsoft.com/office/drawing/2014/main" id="{965EA5DE-940B-4828-BA47-50EC52E11EE9}"/>
                  </a:ext>
                </a:extLst>
              </p:cNvPr>
              <p:cNvGraphicFramePr>
                <a:graphicFrameLocks noGrp="1"/>
              </p:cNvGraphicFramePr>
              <p:nvPr>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15"/>
                          <a:stretch>
                            <a:fillRect l="-597115" t="-559" r="-100962" b="-151955"/>
                          </a:stretch>
                        </a:blipFill>
                      </a:tcPr>
                    </a:tc>
                    <a:tc rowSpan="2">
                      <a:txBody>
                        <a:bodyPr/>
                        <a:lstStyle/>
                        <a:p>
                          <a:endParaRPr lang="zh-CN"/>
                        </a:p>
                      </a:txBody>
                      <a:tcPr anchor="ctr">
                        <a:blipFill>
                          <a:blip r:embed="rId1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1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31" name="表格 30">
            <a:extLst>
              <a:ext uri="{FF2B5EF4-FFF2-40B4-BE49-F238E27FC236}">
                <a16:creationId xmlns:a16="http://schemas.microsoft.com/office/drawing/2014/main" id="{DCDAA63A-0AFA-449A-9725-EE2269057381}"/>
              </a:ext>
            </a:extLst>
          </p:cNvPr>
          <p:cNvGraphicFramePr>
            <a:graphicFrameLocks noGrp="1"/>
          </p:cNvGraphicFramePr>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32" name="表格 31">
            <a:extLst>
              <a:ext uri="{FF2B5EF4-FFF2-40B4-BE49-F238E27FC236}">
                <a16:creationId xmlns:a16="http://schemas.microsoft.com/office/drawing/2014/main" id="{43FB76D5-C1A9-448B-8D26-858D2344DFD9}"/>
              </a:ext>
            </a:extLst>
          </p:cNvPr>
          <p:cNvGraphicFramePr>
            <a:graphicFrameLocks noGrp="1"/>
          </p:cNvGraphicFramePr>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33" name="表格 32">
            <a:extLst>
              <a:ext uri="{FF2B5EF4-FFF2-40B4-BE49-F238E27FC236}">
                <a16:creationId xmlns:a16="http://schemas.microsoft.com/office/drawing/2014/main" id="{6EBE0A04-EEA7-4941-9904-D1C3F67B6204}"/>
              </a:ext>
            </a:extLst>
          </p:cNvPr>
          <p:cNvGraphicFramePr>
            <a:graphicFrameLocks noGrp="1"/>
          </p:cNvGraphicFramePr>
          <p:nvPr>
            <p:extLst>
              <p:ext uri="{D42A27DB-BD31-4B8C-83A1-F6EECF244321}">
                <p14:modId xmlns:p14="http://schemas.microsoft.com/office/powerpoint/2010/main" val="2040289292"/>
              </p:ext>
            </p:extLst>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34" name="表格 33">
            <a:extLst>
              <a:ext uri="{FF2B5EF4-FFF2-40B4-BE49-F238E27FC236}">
                <a16:creationId xmlns:a16="http://schemas.microsoft.com/office/drawing/2014/main" id="{B8436CEB-7E90-401B-86A1-A80EC62739B6}"/>
              </a:ext>
            </a:extLst>
          </p:cNvPr>
          <p:cNvGraphicFramePr>
            <a:graphicFrameLocks noGrp="1"/>
          </p:cNvGraphicFramePr>
          <p:nvPr>
            <p:extLst>
              <p:ext uri="{D42A27DB-BD31-4B8C-83A1-F6EECF244321}">
                <p14:modId xmlns:p14="http://schemas.microsoft.com/office/powerpoint/2010/main" val="2870641705"/>
              </p:ext>
            </p:extLst>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35" name="表格 34">
            <a:extLst>
              <a:ext uri="{FF2B5EF4-FFF2-40B4-BE49-F238E27FC236}">
                <a16:creationId xmlns:a16="http://schemas.microsoft.com/office/drawing/2014/main" id="{4F8F0BF1-796A-443F-BE65-E630A0EF9BE6}"/>
              </a:ext>
            </a:extLst>
          </p:cNvPr>
          <p:cNvGraphicFramePr>
            <a:graphicFrameLocks noGrp="1"/>
          </p:cNvGraphicFramePr>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x1</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-2</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p:spTree>
    <p:extLst>
      <p:ext uri="{BB962C8B-B14F-4D97-AF65-F5344CB8AC3E}">
        <p14:creationId xmlns:p14="http://schemas.microsoft.com/office/powerpoint/2010/main" val="337864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par>
                                <p:cTn id="8" presetID="22" presetClass="entr" presetSubtype="4"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wipe(down)">
                                      <p:cBhvr>
                                        <p:cTn id="1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11</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nvGraphicFramePr>
        <p:xfrm>
          <a:off x="5339018" y="4054748"/>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39018" y="4054748"/>
                        <a:ext cx="4541837" cy="2614612"/>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7" name="表格 6">
            <a:extLst>
              <a:ext uri="{FF2B5EF4-FFF2-40B4-BE49-F238E27FC236}">
                <a16:creationId xmlns:a16="http://schemas.microsoft.com/office/drawing/2014/main" id="{6C074F35-ACB2-4384-ACBA-4D3D733D1B36}"/>
              </a:ext>
            </a:extLst>
          </p:cNvPr>
          <p:cNvGraphicFramePr>
            <a:graphicFrameLocks noGrp="1"/>
          </p:cNvGraphicFramePr>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14" name="表格 13">
            <a:extLst>
              <a:ext uri="{FF2B5EF4-FFF2-40B4-BE49-F238E27FC236}">
                <a16:creationId xmlns:a16="http://schemas.microsoft.com/office/drawing/2014/main" id="{574227DE-1004-498A-BFD8-E7A64282A48B}"/>
              </a:ext>
            </a:extLst>
          </p:cNvPr>
          <p:cNvGraphicFramePr>
            <a:graphicFrameLocks noGrp="1"/>
          </p:cNvGraphicFramePr>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8" name="表格 7">
            <a:extLst>
              <a:ext uri="{FF2B5EF4-FFF2-40B4-BE49-F238E27FC236}">
                <a16:creationId xmlns:a16="http://schemas.microsoft.com/office/drawing/2014/main" id="{01D8952E-9027-420F-A6C3-EDB5369C574F}"/>
              </a:ext>
            </a:extLst>
          </p:cNvPr>
          <p:cNvGraphicFramePr>
            <a:graphicFrameLocks noGrp="1"/>
          </p:cNvGraphicFramePr>
          <p:nvPr>
            <p:extLst>
              <p:ext uri="{D42A27DB-BD31-4B8C-83A1-F6EECF244321}">
                <p14:modId xmlns:p14="http://schemas.microsoft.com/office/powerpoint/2010/main" val="1058993049"/>
              </p:ext>
            </p:extLst>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16" name="表格 15">
            <a:extLst>
              <a:ext uri="{FF2B5EF4-FFF2-40B4-BE49-F238E27FC236}">
                <a16:creationId xmlns:a16="http://schemas.microsoft.com/office/drawing/2014/main" id="{8256599C-FB40-40E4-91D9-E7C4251ACD31}"/>
              </a:ext>
            </a:extLst>
          </p:cNvPr>
          <p:cNvGraphicFramePr>
            <a:graphicFrameLocks noGrp="1"/>
          </p:cNvGraphicFramePr>
          <p:nvPr>
            <p:extLst>
              <p:ext uri="{D42A27DB-BD31-4B8C-83A1-F6EECF244321}">
                <p14:modId xmlns:p14="http://schemas.microsoft.com/office/powerpoint/2010/main" val="2509701806"/>
              </p:ext>
            </p:extLst>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17" name="表格 16">
            <a:extLst>
              <a:ext uri="{FF2B5EF4-FFF2-40B4-BE49-F238E27FC236}">
                <a16:creationId xmlns:a16="http://schemas.microsoft.com/office/drawing/2014/main" id="{2021199C-14A2-4A6F-AF26-25829592C895}"/>
              </a:ext>
            </a:extLst>
          </p:cNvPr>
          <p:cNvGraphicFramePr>
            <a:graphicFrameLocks noGrp="1"/>
          </p:cNvGraphicFramePr>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x1</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-2</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p:sp>
        <p:nvSpPr>
          <p:cNvPr id="18" name="文本框 17">
            <a:extLst>
              <a:ext uri="{FF2B5EF4-FFF2-40B4-BE49-F238E27FC236}">
                <a16:creationId xmlns:a16="http://schemas.microsoft.com/office/drawing/2014/main" id="{223AD700-BE80-44A8-9BA5-51400E02EB1B}"/>
              </a:ext>
            </a:extLst>
          </p:cNvPr>
          <p:cNvSpPr txBox="1"/>
          <p:nvPr/>
        </p:nvSpPr>
        <p:spPr>
          <a:xfrm>
            <a:off x="-15552" y="1124744"/>
            <a:ext cx="4680520" cy="3416320"/>
          </a:xfrm>
          <a:prstGeom prst="rect">
            <a:avLst/>
          </a:prstGeom>
          <a:noFill/>
        </p:spPr>
        <p:txBody>
          <a:bodyPr wrap="square" rtlCol="0">
            <a:spAutoFit/>
          </a:bodyPr>
          <a:lstStyle/>
          <a:p>
            <a:r>
              <a:rPr lang="en-US" altLang="zh-CN" sz="2400" dirty="0"/>
              <a:t>6. </a:t>
            </a:r>
            <a:r>
              <a:rPr lang="zh-CN" altLang="en-US" sz="2400" dirty="0"/>
              <a:t>矩阵变换，形成新的单纯形表</a:t>
            </a:r>
            <a:endParaRPr lang="en-US" altLang="zh-CN" sz="2400" dirty="0"/>
          </a:p>
          <a:p>
            <a:pPr marL="914400" lvl="1" indent="-457200">
              <a:buFont typeface="+mj-ea"/>
              <a:buAutoNum type="circleNumDbPlain"/>
            </a:pPr>
            <a:r>
              <a:rPr lang="zh-CN" altLang="en-US" sz="2400" dirty="0"/>
              <a:t>根据确定的主元，将对应的一列系数变成主元为</a:t>
            </a:r>
            <a:r>
              <a:rPr lang="en-US" altLang="zh-CN" sz="2400" dirty="0"/>
              <a:t>1</a:t>
            </a:r>
            <a:r>
              <a:rPr lang="zh-CN" altLang="en-US" sz="2400" dirty="0"/>
              <a:t>，其他为</a:t>
            </a:r>
            <a:r>
              <a:rPr lang="en-US" altLang="zh-CN" sz="2400" dirty="0"/>
              <a:t>0</a:t>
            </a:r>
            <a:r>
              <a:rPr lang="zh-CN" altLang="en-US" sz="2400" dirty="0"/>
              <a:t>的样式。</a:t>
            </a: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r>
              <a:rPr lang="zh-CN" altLang="en-US" sz="2400" dirty="0"/>
              <a:t>变换原则：</a:t>
            </a:r>
            <a:endParaRPr lang="en-US" altLang="zh-CN" sz="2400" dirty="0"/>
          </a:p>
          <a:p>
            <a:pPr marL="914400" lvl="1" indent="-457200">
              <a:buFont typeface="+mj-ea"/>
              <a:buAutoNum type="circleNumDbPlain"/>
            </a:pPr>
            <a:endParaRPr lang="en-US" altLang="zh-CN" sz="2400" dirty="0"/>
          </a:p>
        </p:txBody>
      </p:sp>
      <p:sp>
        <p:nvSpPr>
          <p:cNvPr id="19" name="文本框 18">
            <a:extLst>
              <a:ext uri="{FF2B5EF4-FFF2-40B4-BE49-F238E27FC236}">
                <a16:creationId xmlns:a16="http://schemas.microsoft.com/office/drawing/2014/main" id="{A9184701-4505-48AD-B0CA-9A9F587B683A}"/>
              </a:ext>
            </a:extLst>
          </p:cNvPr>
          <p:cNvSpPr txBox="1"/>
          <p:nvPr/>
        </p:nvSpPr>
        <p:spPr>
          <a:xfrm>
            <a:off x="885436" y="4192584"/>
            <a:ext cx="4158700" cy="830997"/>
          </a:xfrm>
          <a:prstGeom prst="rect">
            <a:avLst/>
          </a:prstGeom>
          <a:noFill/>
        </p:spPr>
        <p:txBody>
          <a:bodyPr wrap="square" rtlCol="0">
            <a:spAutoFit/>
          </a:bodyPr>
          <a:lstStyle/>
          <a:p>
            <a:pPr marL="457200" indent="-457200">
              <a:buFont typeface="+mj-lt"/>
              <a:buAutoNum type="alphaLcParenR"/>
            </a:pPr>
            <a:r>
              <a:rPr lang="zh-CN" altLang="en-US" sz="2400" dirty="0"/>
              <a:t>第二行除以</a:t>
            </a:r>
            <a:r>
              <a:rPr lang="en-US" altLang="zh-CN" sz="2400" dirty="0"/>
              <a:t>2</a:t>
            </a:r>
          </a:p>
          <a:p>
            <a:pPr marL="457200" indent="-457200">
              <a:buFont typeface="+mj-lt"/>
              <a:buAutoNum type="alphaLcParenR"/>
            </a:pPr>
            <a:r>
              <a:rPr lang="zh-CN" altLang="en-US" sz="2400" dirty="0"/>
              <a:t>第二行乘以</a:t>
            </a:r>
            <a:r>
              <a:rPr lang="en-US" altLang="zh-CN" sz="2400" dirty="0"/>
              <a:t>1</a:t>
            </a:r>
            <a:r>
              <a:rPr lang="zh-CN" altLang="en-US" sz="2400" dirty="0"/>
              <a:t>加上第一行</a:t>
            </a:r>
            <a:endParaRPr lang="en-US" altLang="zh-CN" sz="2400" dirty="0"/>
          </a:p>
        </p:txBody>
      </p:sp>
      <p:sp>
        <p:nvSpPr>
          <p:cNvPr id="20" name="文本框 19">
            <a:extLst>
              <a:ext uri="{FF2B5EF4-FFF2-40B4-BE49-F238E27FC236}">
                <a16:creationId xmlns:a16="http://schemas.microsoft.com/office/drawing/2014/main" id="{8BA0F2D6-9509-4F18-8D5E-42DBB04DE857}"/>
              </a:ext>
            </a:extLst>
          </p:cNvPr>
          <p:cNvSpPr txBox="1"/>
          <p:nvPr/>
        </p:nvSpPr>
        <p:spPr>
          <a:xfrm>
            <a:off x="430068" y="2771082"/>
            <a:ext cx="4091098" cy="830997"/>
          </a:xfrm>
          <a:prstGeom prst="rect">
            <a:avLst/>
          </a:prstGeom>
          <a:noFill/>
        </p:spPr>
        <p:txBody>
          <a:bodyPr wrap="square" rtlCol="0">
            <a:spAutoFit/>
          </a:bodyPr>
          <a:lstStyle/>
          <a:p>
            <a:r>
              <a:rPr lang="zh-CN" altLang="en-US" sz="2400" dirty="0"/>
              <a:t>将</a:t>
            </a:r>
            <a:r>
              <a:rPr lang="en-US" altLang="zh-CN" sz="2400" dirty="0"/>
              <a:t>x1</a:t>
            </a:r>
            <a:r>
              <a:rPr lang="zh-CN" altLang="en-US" sz="2400" dirty="0"/>
              <a:t>对应的基向量变成</a:t>
            </a:r>
            <a:r>
              <a:rPr lang="en-US" altLang="zh-CN" sz="2400" dirty="0"/>
              <a:t>[0,1]</a:t>
            </a:r>
            <a:r>
              <a:rPr lang="en-US" altLang="zh-CN" sz="2400" baseline="30000" dirty="0"/>
              <a:t>T</a:t>
            </a:r>
            <a:r>
              <a:rPr lang="zh-CN" altLang="en-US" sz="2400" dirty="0"/>
              <a:t>的形式：</a:t>
            </a:r>
            <a:endParaRPr lang="en-US" altLang="zh-CN" sz="2400" dirty="0"/>
          </a:p>
        </p:txBody>
      </p:sp>
      <p:graphicFrame>
        <p:nvGraphicFramePr>
          <p:cNvPr id="23" name="对象 22">
            <a:extLst>
              <a:ext uri="{FF2B5EF4-FFF2-40B4-BE49-F238E27FC236}">
                <a16:creationId xmlns:a16="http://schemas.microsoft.com/office/drawing/2014/main" id="{E18CB22F-561C-484D-8A44-B00C58FA1811}"/>
              </a:ext>
            </a:extLst>
          </p:cNvPr>
          <p:cNvGraphicFramePr>
            <a:graphicFrameLocks noChangeAspect="1"/>
          </p:cNvGraphicFramePr>
          <p:nvPr>
            <p:extLst>
              <p:ext uri="{D42A27DB-BD31-4B8C-83A1-F6EECF244321}">
                <p14:modId xmlns:p14="http://schemas.microsoft.com/office/powerpoint/2010/main" val="3390690893"/>
              </p:ext>
            </p:extLst>
          </p:nvPr>
        </p:nvGraphicFramePr>
        <p:xfrm>
          <a:off x="6579091" y="-15963"/>
          <a:ext cx="736600" cy="1111251"/>
        </p:xfrm>
        <a:graphic>
          <a:graphicData uri="http://schemas.openxmlformats.org/presentationml/2006/ole">
            <mc:AlternateContent xmlns:mc="http://schemas.openxmlformats.org/markup-compatibility/2006">
              <mc:Choice xmlns:v="urn:schemas-microsoft-com:vml" Requires="v">
                <p:oleObj name="Equation" r:id="rId6" imgW="406080" imgH="609480" progId="Equation.DSMT4">
                  <p:embed/>
                </p:oleObj>
              </mc:Choice>
              <mc:Fallback>
                <p:oleObj name="Equation" r:id="rId6" imgW="406080" imgH="609480" progId="Equation.DSMT4">
                  <p:embed/>
                  <p:pic>
                    <p:nvPicPr>
                      <p:cNvPr id="23" name="对象 22">
                        <a:extLst>
                          <a:ext uri="{FF2B5EF4-FFF2-40B4-BE49-F238E27FC236}">
                            <a16:creationId xmlns:a16="http://schemas.microsoft.com/office/drawing/2014/main" id="{E18CB22F-561C-484D-8A44-B00C58FA1811}"/>
                          </a:ext>
                        </a:extLst>
                      </p:cNvPr>
                      <p:cNvPicPr/>
                      <p:nvPr/>
                    </p:nvPicPr>
                    <p:blipFill>
                      <a:blip r:embed="rId7"/>
                      <a:stretch>
                        <a:fillRect/>
                      </a:stretch>
                    </p:blipFill>
                    <p:spPr>
                      <a:xfrm>
                        <a:off x="6579091" y="-15963"/>
                        <a:ext cx="736600" cy="1111251"/>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4A477933-4101-493B-AC9A-317A5C701007}"/>
              </a:ext>
            </a:extLst>
          </p:cNvPr>
          <p:cNvGraphicFramePr>
            <a:graphicFrameLocks noChangeAspect="1"/>
          </p:cNvGraphicFramePr>
          <p:nvPr>
            <p:extLst>
              <p:ext uri="{D42A27DB-BD31-4B8C-83A1-F6EECF244321}">
                <p14:modId xmlns:p14="http://schemas.microsoft.com/office/powerpoint/2010/main" val="716670779"/>
              </p:ext>
            </p:extLst>
          </p:nvPr>
        </p:nvGraphicFramePr>
        <p:xfrm>
          <a:off x="6072188" y="284163"/>
          <a:ext cx="506412" cy="741362"/>
        </p:xfrm>
        <a:graphic>
          <a:graphicData uri="http://schemas.openxmlformats.org/presentationml/2006/ole">
            <mc:AlternateContent xmlns:mc="http://schemas.openxmlformats.org/markup-compatibility/2006">
              <mc:Choice xmlns:v="urn:schemas-microsoft-com:vml" Requires="v">
                <p:oleObj name="Equation" r:id="rId8" imgW="279360" imgH="406080" progId="Equation.DSMT4">
                  <p:embed/>
                </p:oleObj>
              </mc:Choice>
              <mc:Fallback>
                <p:oleObj name="Equation" r:id="rId8" imgW="279360" imgH="406080" progId="Equation.DSMT4">
                  <p:embed/>
                  <p:pic>
                    <p:nvPicPr>
                      <p:cNvPr id="23" name="对象 22">
                        <a:extLst>
                          <a:ext uri="{FF2B5EF4-FFF2-40B4-BE49-F238E27FC236}">
                            <a16:creationId xmlns:a16="http://schemas.microsoft.com/office/drawing/2014/main" id="{E18CB22F-561C-484D-8A44-B00C58FA1811}"/>
                          </a:ext>
                        </a:extLst>
                      </p:cNvPr>
                      <p:cNvPicPr/>
                      <p:nvPr/>
                    </p:nvPicPr>
                    <p:blipFill>
                      <a:blip r:embed="rId9"/>
                      <a:stretch>
                        <a:fillRect/>
                      </a:stretch>
                    </p:blipFill>
                    <p:spPr>
                      <a:xfrm>
                        <a:off x="6072188" y="284163"/>
                        <a:ext cx="506412" cy="741362"/>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A9E47F63-368E-4BCA-BCAE-548C6C2771A1}"/>
              </a:ext>
            </a:extLst>
          </p:cNvPr>
          <p:cNvGraphicFramePr>
            <a:graphicFrameLocks noChangeAspect="1"/>
          </p:cNvGraphicFramePr>
          <p:nvPr>
            <p:extLst>
              <p:ext uri="{D42A27DB-BD31-4B8C-83A1-F6EECF244321}">
                <p14:modId xmlns:p14="http://schemas.microsoft.com/office/powerpoint/2010/main" val="1988302306"/>
              </p:ext>
            </p:extLst>
          </p:nvPr>
        </p:nvGraphicFramePr>
        <p:xfrm>
          <a:off x="7363399" y="283620"/>
          <a:ext cx="506413" cy="741363"/>
        </p:xfrm>
        <a:graphic>
          <a:graphicData uri="http://schemas.openxmlformats.org/presentationml/2006/ole">
            <mc:AlternateContent xmlns:mc="http://schemas.openxmlformats.org/markup-compatibility/2006">
              <mc:Choice xmlns:v="urn:schemas-microsoft-com:vml" Requires="v">
                <p:oleObj name="Equation" r:id="rId10" imgW="279360" imgH="406080" progId="Equation.DSMT4">
                  <p:embed/>
                </p:oleObj>
              </mc:Choice>
              <mc:Fallback>
                <p:oleObj name="Equation" r:id="rId10" imgW="279360" imgH="406080" progId="Equation.DSMT4">
                  <p:embed/>
                  <p:pic>
                    <p:nvPicPr>
                      <p:cNvPr id="23" name="对象 22">
                        <a:extLst>
                          <a:ext uri="{FF2B5EF4-FFF2-40B4-BE49-F238E27FC236}">
                            <a16:creationId xmlns:a16="http://schemas.microsoft.com/office/drawing/2014/main" id="{E18CB22F-561C-484D-8A44-B00C58FA1811}"/>
                          </a:ext>
                        </a:extLst>
                      </p:cNvPr>
                      <p:cNvPicPr/>
                      <p:nvPr/>
                    </p:nvPicPr>
                    <p:blipFill>
                      <a:blip r:embed="rId11"/>
                      <a:stretch>
                        <a:fillRect/>
                      </a:stretch>
                    </p:blipFill>
                    <p:spPr>
                      <a:xfrm>
                        <a:off x="7363399" y="283620"/>
                        <a:ext cx="506413" cy="741363"/>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4E3C758D-21BD-4FB8-9D59-029092617EDE}"/>
              </a:ext>
            </a:extLst>
          </p:cNvPr>
          <p:cNvGraphicFramePr>
            <a:graphicFrameLocks noChangeAspect="1"/>
          </p:cNvGraphicFramePr>
          <p:nvPr>
            <p:extLst>
              <p:ext uri="{D42A27DB-BD31-4B8C-83A1-F6EECF244321}">
                <p14:modId xmlns:p14="http://schemas.microsoft.com/office/powerpoint/2010/main" val="2102038289"/>
              </p:ext>
            </p:extLst>
          </p:nvPr>
        </p:nvGraphicFramePr>
        <p:xfrm>
          <a:off x="8008938" y="-23813"/>
          <a:ext cx="552450" cy="1111251"/>
        </p:xfrm>
        <a:graphic>
          <a:graphicData uri="http://schemas.openxmlformats.org/presentationml/2006/ole">
            <mc:AlternateContent xmlns:mc="http://schemas.openxmlformats.org/markup-compatibility/2006">
              <mc:Choice xmlns:v="urn:schemas-microsoft-com:vml" Requires="v">
                <p:oleObj name="Equation" r:id="rId12" imgW="304560" imgH="609480" progId="Equation.DSMT4">
                  <p:embed/>
                </p:oleObj>
              </mc:Choice>
              <mc:Fallback>
                <p:oleObj name="Equation" r:id="rId12" imgW="304560" imgH="609480" progId="Equation.DSMT4">
                  <p:embed/>
                  <p:pic>
                    <p:nvPicPr>
                      <p:cNvPr id="23" name="对象 22">
                        <a:extLst>
                          <a:ext uri="{FF2B5EF4-FFF2-40B4-BE49-F238E27FC236}">
                            <a16:creationId xmlns:a16="http://schemas.microsoft.com/office/drawing/2014/main" id="{E18CB22F-561C-484D-8A44-B00C58FA1811}"/>
                          </a:ext>
                        </a:extLst>
                      </p:cNvPr>
                      <p:cNvPicPr/>
                      <p:nvPr/>
                    </p:nvPicPr>
                    <p:blipFill>
                      <a:blip r:embed="rId13"/>
                      <a:stretch>
                        <a:fillRect/>
                      </a:stretch>
                    </p:blipFill>
                    <p:spPr>
                      <a:xfrm>
                        <a:off x="8008938" y="-23813"/>
                        <a:ext cx="552450" cy="1111251"/>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066B4C53-A3A4-44AA-968C-FDC125E56581}"/>
              </a:ext>
            </a:extLst>
          </p:cNvPr>
          <p:cNvGraphicFramePr>
            <a:graphicFrameLocks noChangeAspect="1"/>
          </p:cNvGraphicFramePr>
          <p:nvPr>
            <p:extLst>
              <p:ext uri="{D42A27DB-BD31-4B8C-83A1-F6EECF244321}">
                <p14:modId xmlns:p14="http://schemas.microsoft.com/office/powerpoint/2010/main" val="2586761014"/>
              </p:ext>
            </p:extLst>
          </p:nvPr>
        </p:nvGraphicFramePr>
        <p:xfrm>
          <a:off x="8683603" y="331616"/>
          <a:ext cx="506412" cy="739775"/>
        </p:xfrm>
        <a:graphic>
          <a:graphicData uri="http://schemas.openxmlformats.org/presentationml/2006/ole">
            <mc:AlternateContent xmlns:mc="http://schemas.openxmlformats.org/markup-compatibility/2006">
              <mc:Choice xmlns:v="urn:schemas-microsoft-com:vml" Requires="v">
                <p:oleObj name="Equation" r:id="rId14" imgW="279360" imgH="406080" progId="Equation.DSMT4">
                  <p:embed/>
                </p:oleObj>
              </mc:Choice>
              <mc:Fallback>
                <p:oleObj name="Equation" r:id="rId14" imgW="279360" imgH="406080" progId="Equation.DSMT4">
                  <p:embed/>
                  <p:pic>
                    <p:nvPicPr>
                      <p:cNvPr id="28" name="对象 27">
                        <a:extLst>
                          <a:ext uri="{FF2B5EF4-FFF2-40B4-BE49-F238E27FC236}">
                            <a16:creationId xmlns:a16="http://schemas.microsoft.com/office/drawing/2014/main" id="{4E3C758D-21BD-4FB8-9D59-029092617EDE}"/>
                          </a:ext>
                        </a:extLst>
                      </p:cNvPr>
                      <p:cNvPicPr/>
                      <p:nvPr/>
                    </p:nvPicPr>
                    <p:blipFill>
                      <a:blip r:embed="rId15"/>
                      <a:stretch>
                        <a:fillRect/>
                      </a:stretch>
                    </p:blipFill>
                    <p:spPr>
                      <a:xfrm>
                        <a:off x="8683603" y="331616"/>
                        <a:ext cx="506412" cy="739775"/>
                      </a:xfrm>
                      <a:prstGeom prst="rect">
                        <a:avLst/>
                      </a:prstGeom>
                    </p:spPr>
                  </p:pic>
                </p:oleObj>
              </mc:Fallback>
            </mc:AlternateContent>
          </a:graphicData>
        </a:graphic>
      </p:graphicFrame>
    </p:spTree>
    <p:extLst>
      <p:ext uri="{BB962C8B-B14F-4D97-AF65-F5344CB8AC3E}">
        <p14:creationId xmlns:p14="http://schemas.microsoft.com/office/powerpoint/2010/main" val="271026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xEl>
                                              <p:pRg st="1" end="1"/>
                                            </p:txEl>
                                          </p:spTgt>
                                        </p:tgtEl>
                                        <p:attrNameLst>
                                          <p:attrName>style.visibility</p:attrName>
                                        </p:attrNameLst>
                                      </p:cBhvr>
                                      <p:to>
                                        <p:strVal val="visible"/>
                                      </p:to>
                                    </p:set>
                                    <p:anim calcmode="lin" valueType="num">
                                      <p:cBhvr additive="base">
                                        <p:cTn id="7" dur="5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additive="base">
                                        <p:cTn id="31" dur="500" fill="hold"/>
                                        <p:tgtEl>
                                          <p:spTgt spid="28"/>
                                        </p:tgtEl>
                                        <p:attrNameLst>
                                          <p:attrName>ppt_x</p:attrName>
                                        </p:attrNameLst>
                                      </p:cBhvr>
                                      <p:tavLst>
                                        <p:tav tm="0">
                                          <p:val>
                                            <p:strVal val="#ppt_x"/>
                                          </p:val>
                                        </p:tav>
                                        <p:tav tm="100000">
                                          <p:val>
                                            <p:strVal val="#ppt_x"/>
                                          </p:val>
                                        </p:tav>
                                      </p:tavLst>
                                    </p:anim>
                                    <p:anim calcmode="lin" valueType="num">
                                      <p:cBhvr additive="base">
                                        <p:cTn id="3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12</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nvGraphicFramePr>
        <p:xfrm>
          <a:off x="5339018" y="4054748"/>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39018" y="4054748"/>
                        <a:ext cx="4541837" cy="2614612"/>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7" name="表格 6">
            <a:extLst>
              <a:ext uri="{FF2B5EF4-FFF2-40B4-BE49-F238E27FC236}">
                <a16:creationId xmlns:a16="http://schemas.microsoft.com/office/drawing/2014/main" id="{6C074F35-ACB2-4384-ACBA-4D3D733D1B36}"/>
              </a:ext>
            </a:extLst>
          </p:cNvPr>
          <p:cNvGraphicFramePr>
            <a:graphicFrameLocks noGrp="1"/>
          </p:cNvGraphicFramePr>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14" name="表格 13">
            <a:extLst>
              <a:ext uri="{FF2B5EF4-FFF2-40B4-BE49-F238E27FC236}">
                <a16:creationId xmlns:a16="http://schemas.microsoft.com/office/drawing/2014/main" id="{574227DE-1004-498A-BFD8-E7A64282A48B}"/>
              </a:ext>
            </a:extLst>
          </p:cNvPr>
          <p:cNvGraphicFramePr>
            <a:graphicFrameLocks noGrp="1"/>
          </p:cNvGraphicFramePr>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8" name="表格 7">
            <a:extLst>
              <a:ext uri="{FF2B5EF4-FFF2-40B4-BE49-F238E27FC236}">
                <a16:creationId xmlns:a16="http://schemas.microsoft.com/office/drawing/2014/main" id="{01D8952E-9027-420F-A6C3-EDB5369C574F}"/>
              </a:ext>
            </a:extLst>
          </p:cNvPr>
          <p:cNvGraphicFramePr>
            <a:graphicFrameLocks noGrp="1"/>
          </p:cNvGraphicFramePr>
          <p:nvPr>
            <p:extLst>
              <p:ext uri="{D42A27DB-BD31-4B8C-83A1-F6EECF244321}">
                <p14:modId xmlns:p14="http://schemas.microsoft.com/office/powerpoint/2010/main" val="1436897824"/>
              </p:ext>
            </p:extLst>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10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16" name="表格 15">
            <a:extLst>
              <a:ext uri="{FF2B5EF4-FFF2-40B4-BE49-F238E27FC236}">
                <a16:creationId xmlns:a16="http://schemas.microsoft.com/office/drawing/2014/main" id="{8256599C-FB40-40E4-91D9-E7C4251ACD31}"/>
              </a:ext>
            </a:extLst>
          </p:cNvPr>
          <p:cNvGraphicFramePr>
            <a:graphicFrameLocks noGrp="1"/>
          </p:cNvGraphicFramePr>
          <p:nvPr>
            <p:extLst>
              <p:ext uri="{D42A27DB-BD31-4B8C-83A1-F6EECF244321}">
                <p14:modId xmlns:p14="http://schemas.microsoft.com/office/powerpoint/2010/main" val="1537571898"/>
              </p:ext>
            </p:extLst>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-3/2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17" name="表格 16">
            <a:extLst>
              <a:ext uri="{FF2B5EF4-FFF2-40B4-BE49-F238E27FC236}">
                <a16:creationId xmlns:a16="http://schemas.microsoft.com/office/drawing/2014/main" id="{2021199C-14A2-4A6F-AF26-25829592C895}"/>
              </a:ext>
            </a:extLst>
          </p:cNvPr>
          <p:cNvGraphicFramePr>
            <a:graphicFrameLocks noGrp="1"/>
          </p:cNvGraphicFramePr>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x1</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-2</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p:sp>
        <p:nvSpPr>
          <p:cNvPr id="18" name="文本框 17">
            <a:extLst>
              <a:ext uri="{FF2B5EF4-FFF2-40B4-BE49-F238E27FC236}">
                <a16:creationId xmlns:a16="http://schemas.microsoft.com/office/drawing/2014/main" id="{223AD700-BE80-44A8-9BA5-51400E02EB1B}"/>
              </a:ext>
            </a:extLst>
          </p:cNvPr>
          <p:cNvSpPr txBox="1"/>
          <p:nvPr/>
        </p:nvSpPr>
        <p:spPr>
          <a:xfrm>
            <a:off x="-15552" y="1124744"/>
            <a:ext cx="4680520" cy="3416320"/>
          </a:xfrm>
          <a:prstGeom prst="rect">
            <a:avLst/>
          </a:prstGeom>
          <a:noFill/>
        </p:spPr>
        <p:txBody>
          <a:bodyPr wrap="square" rtlCol="0">
            <a:spAutoFit/>
          </a:bodyPr>
          <a:lstStyle/>
          <a:p>
            <a:r>
              <a:rPr lang="en-US" altLang="zh-CN" sz="2400" dirty="0"/>
              <a:t>6. </a:t>
            </a:r>
            <a:r>
              <a:rPr lang="zh-CN" altLang="en-US" sz="2400" dirty="0"/>
              <a:t>矩阵变换，形成新的单纯形表</a:t>
            </a:r>
            <a:endParaRPr lang="en-US" altLang="zh-CN" sz="2400" dirty="0"/>
          </a:p>
          <a:p>
            <a:pPr marL="914400" lvl="1" indent="-457200">
              <a:buFont typeface="+mj-ea"/>
              <a:buAutoNum type="circleNumDbPlain"/>
            </a:pPr>
            <a:r>
              <a:rPr lang="zh-CN" altLang="en-US" sz="2400" dirty="0"/>
              <a:t>根据确定的主元，将对应的一列系数变成主元为</a:t>
            </a:r>
            <a:r>
              <a:rPr lang="en-US" altLang="zh-CN" sz="2400" dirty="0"/>
              <a:t>1</a:t>
            </a:r>
            <a:r>
              <a:rPr lang="zh-CN" altLang="en-US" sz="2400" dirty="0"/>
              <a:t>，其他为</a:t>
            </a:r>
            <a:r>
              <a:rPr lang="en-US" altLang="zh-CN" sz="2400" dirty="0"/>
              <a:t>0</a:t>
            </a:r>
            <a:r>
              <a:rPr lang="zh-CN" altLang="en-US" sz="2400" dirty="0"/>
              <a:t>的样式。</a:t>
            </a: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endParaRPr lang="en-US" altLang="zh-CN" sz="2400" dirty="0"/>
          </a:p>
          <a:p>
            <a:pPr marL="914400" lvl="1" indent="-457200">
              <a:buFont typeface="+mj-ea"/>
              <a:buAutoNum type="circleNumDbPlain"/>
            </a:pPr>
            <a:r>
              <a:rPr lang="zh-CN" altLang="en-US" sz="2400" dirty="0"/>
              <a:t>变换原则：</a:t>
            </a:r>
            <a:endParaRPr lang="en-US" altLang="zh-CN" sz="2400" dirty="0"/>
          </a:p>
          <a:p>
            <a:pPr marL="914400" lvl="1" indent="-457200">
              <a:buFont typeface="+mj-ea"/>
              <a:buAutoNum type="circleNumDbPlain"/>
            </a:pPr>
            <a:endParaRPr lang="en-US" altLang="zh-CN" sz="2400" dirty="0"/>
          </a:p>
        </p:txBody>
      </p:sp>
      <p:sp>
        <p:nvSpPr>
          <p:cNvPr id="19" name="文本框 18">
            <a:extLst>
              <a:ext uri="{FF2B5EF4-FFF2-40B4-BE49-F238E27FC236}">
                <a16:creationId xmlns:a16="http://schemas.microsoft.com/office/drawing/2014/main" id="{A9184701-4505-48AD-B0CA-9A9F587B683A}"/>
              </a:ext>
            </a:extLst>
          </p:cNvPr>
          <p:cNvSpPr txBox="1"/>
          <p:nvPr/>
        </p:nvSpPr>
        <p:spPr>
          <a:xfrm>
            <a:off x="885436" y="4192584"/>
            <a:ext cx="4158700" cy="830997"/>
          </a:xfrm>
          <a:prstGeom prst="rect">
            <a:avLst/>
          </a:prstGeom>
          <a:noFill/>
        </p:spPr>
        <p:txBody>
          <a:bodyPr wrap="square" rtlCol="0">
            <a:spAutoFit/>
          </a:bodyPr>
          <a:lstStyle/>
          <a:p>
            <a:pPr marL="457200" indent="-457200">
              <a:buFont typeface="+mj-lt"/>
              <a:buAutoNum type="alphaLcParenR"/>
            </a:pPr>
            <a:r>
              <a:rPr lang="zh-CN" altLang="en-US" sz="2400" dirty="0"/>
              <a:t>第二行除以</a:t>
            </a:r>
            <a:r>
              <a:rPr lang="en-US" altLang="zh-CN" sz="2400" dirty="0"/>
              <a:t>2</a:t>
            </a:r>
          </a:p>
          <a:p>
            <a:pPr marL="457200" indent="-457200">
              <a:buFont typeface="+mj-lt"/>
              <a:buAutoNum type="alphaLcParenR"/>
            </a:pPr>
            <a:r>
              <a:rPr lang="zh-CN" altLang="en-US" sz="2400" dirty="0"/>
              <a:t>第二行乘以</a:t>
            </a:r>
            <a:r>
              <a:rPr lang="en-US" altLang="zh-CN" sz="2400" dirty="0"/>
              <a:t>1</a:t>
            </a:r>
            <a:r>
              <a:rPr lang="zh-CN" altLang="en-US" sz="2400" dirty="0"/>
              <a:t>加上第一行</a:t>
            </a:r>
            <a:endParaRPr lang="en-US" altLang="zh-CN" sz="2400" dirty="0"/>
          </a:p>
        </p:txBody>
      </p:sp>
      <p:sp>
        <p:nvSpPr>
          <p:cNvPr id="20" name="文本框 19">
            <a:extLst>
              <a:ext uri="{FF2B5EF4-FFF2-40B4-BE49-F238E27FC236}">
                <a16:creationId xmlns:a16="http://schemas.microsoft.com/office/drawing/2014/main" id="{8BA0F2D6-9509-4F18-8D5E-42DBB04DE857}"/>
              </a:ext>
            </a:extLst>
          </p:cNvPr>
          <p:cNvSpPr txBox="1"/>
          <p:nvPr/>
        </p:nvSpPr>
        <p:spPr>
          <a:xfrm>
            <a:off x="430068" y="2771082"/>
            <a:ext cx="4091098" cy="830997"/>
          </a:xfrm>
          <a:prstGeom prst="rect">
            <a:avLst/>
          </a:prstGeom>
          <a:noFill/>
        </p:spPr>
        <p:txBody>
          <a:bodyPr wrap="square" rtlCol="0">
            <a:spAutoFit/>
          </a:bodyPr>
          <a:lstStyle/>
          <a:p>
            <a:r>
              <a:rPr lang="zh-CN" altLang="en-US" sz="2400" dirty="0"/>
              <a:t>将</a:t>
            </a:r>
            <a:r>
              <a:rPr lang="en-US" altLang="zh-CN" sz="2400" dirty="0"/>
              <a:t>x1</a:t>
            </a:r>
            <a:r>
              <a:rPr lang="zh-CN" altLang="en-US" sz="2400" dirty="0"/>
              <a:t>对应的基向量变成</a:t>
            </a:r>
            <a:r>
              <a:rPr lang="en-US" altLang="zh-CN" sz="2400" dirty="0"/>
              <a:t>[0,1]</a:t>
            </a:r>
            <a:r>
              <a:rPr lang="en-US" altLang="zh-CN" sz="2400" baseline="30000" dirty="0"/>
              <a:t>T</a:t>
            </a:r>
            <a:r>
              <a:rPr lang="zh-CN" altLang="en-US" sz="2400" dirty="0"/>
              <a:t>的形式：</a:t>
            </a:r>
            <a:endParaRPr lang="en-US" altLang="zh-CN" sz="2400" dirty="0"/>
          </a:p>
        </p:txBody>
      </p:sp>
      <p:graphicFrame>
        <p:nvGraphicFramePr>
          <p:cNvPr id="23" name="对象 22">
            <a:extLst>
              <a:ext uri="{FF2B5EF4-FFF2-40B4-BE49-F238E27FC236}">
                <a16:creationId xmlns:a16="http://schemas.microsoft.com/office/drawing/2014/main" id="{E18CB22F-561C-484D-8A44-B00C58FA1811}"/>
              </a:ext>
            </a:extLst>
          </p:cNvPr>
          <p:cNvGraphicFramePr>
            <a:graphicFrameLocks noChangeAspect="1"/>
          </p:cNvGraphicFramePr>
          <p:nvPr/>
        </p:nvGraphicFramePr>
        <p:xfrm>
          <a:off x="6579091" y="-15963"/>
          <a:ext cx="736600" cy="1111251"/>
        </p:xfrm>
        <a:graphic>
          <a:graphicData uri="http://schemas.openxmlformats.org/presentationml/2006/ole">
            <mc:AlternateContent xmlns:mc="http://schemas.openxmlformats.org/markup-compatibility/2006">
              <mc:Choice xmlns:v="urn:schemas-microsoft-com:vml" Requires="v">
                <p:oleObj name="Equation" r:id="rId6" imgW="406080" imgH="609480" progId="Equation.DSMT4">
                  <p:embed/>
                </p:oleObj>
              </mc:Choice>
              <mc:Fallback>
                <p:oleObj name="Equation" r:id="rId6" imgW="406080" imgH="609480" progId="Equation.DSMT4">
                  <p:embed/>
                  <p:pic>
                    <p:nvPicPr>
                      <p:cNvPr id="23" name="对象 22">
                        <a:extLst>
                          <a:ext uri="{FF2B5EF4-FFF2-40B4-BE49-F238E27FC236}">
                            <a16:creationId xmlns:a16="http://schemas.microsoft.com/office/drawing/2014/main" id="{E18CB22F-561C-484D-8A44-B00C58FA1811}"/>
                          </a:ext>
                        </a:extLst>
                      </p:cNvPr>
                      <p:cNvPicPr/>
                      <p:nvPr/>
                    </p:nvPicPr>
                    <p:blipFill>
                      <a:blip r:embed="rId7"/>
                      <a:stretch>
                        <a:fillRect/>
                      </a:stretch>
                    </p:blipFill>
                    <p:spPr>
                      <a:xfrm>
                        <a:off x="6579091" y="-15963"/>
                        <a:ext cx="736600" cy="1111251"/>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4A477933-4101-493B-AC9A-317A5C701007}"/>
              </a:ext>
            </a:extLst>
          </p:cNvPr>
          <p:cNvGraphicFramePr>
            <a:graphicFrameLocks noChangeAspect="1"/>
          </p:cNvGraphicFramePr>
          <p:nvPr/>
        </p:nvGraphicFramePr>
        <p:xfrm>
          <a:off x="6072188" y="284163"/>
          <a:ext cx="506412" cy="741362"/>
        </p:xfrm>
        <a:graphic>
          <a:graphicData uri="http://schemas.openxmlformats.org/presentationml/2006/ole">
            <mc:AlternateContent xmlns:mc="http://schemas.openxmlformats.org/markup-compatibility/2006">
              <mc:Choice xmlns:v="urn:schemas-microsoft-com:vml" Requires="v">
                <p:oleObj name="Equation" r:id="rId8" imgW="279360" imgH="406080" progId="Equation.DSMT4">
                  <p:embed/>
                </p:oleObj>
              </mc:Choice>
              <mc:Fallback>
                <p:oleObj name="Equation" r:id="rId8" imgW="279360" imgH="406080" progId="Equation.DSMT4">
                  <p:embed/>
                  <p:pic>
                    <p:nvPicPr>
                      <p:cNvPr id="21" name="对象 20">
                        <a:extLst>
                          <a:ext uri="{FF2B5EF4-FFF2-40B4-BE49-F238E27FC236}">
                            <a16:creationId xmlns:a16="http://schemas.microsoft.com/office/drawing/2014/main" id="{4A477933-4101-493B-AC9A-317A5C701007}"/>
                          </a:ext>
                        </a:extLst>
                      </p:cNvPr>
                      <p:cNvPicPr/>
                      <p:nvPr/>
                    </p:nvPicPr>
                    <p:blipFill>
                      <a:blip r:embed="rId9"/>
                      <a:stretch>
                        <a:fillRect/>
                      </a:stretch>
                    </p:blipFill>
                    <p:spPr>
                      <a:xfrm>
                        <a:off x="6072188" y="284163"/>
                        <a:ext cx="506412" cy="741362"/>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A9E47F63-368E-4BCA-BCAE-548C6C2771A1}"/>
              </a:ext>
            </a:extLst>
          </p:cNvPr>
          <p:cNvGraphicFramePr>
            <a:graphicFrameLocks noChangeAspect="1"/>
          </p:cNvGraphicFramePr>
          <p:nvPr/>
        </p:nvGraphicFramePr>
        <p:xfrm>
          <a:off x="7363399" y="283620"/>
          <a:ext cx="506413" cy="741363"/>
        </p:xfrm>
        <a:graphic>
          <a:graphicData uri="http://schemas.openxmlformats.org/presentationml/2006/ole">
            <mc:AlternateContent xmlns:mc="http://schemas.openxmlformats.org/markup-compatibility/2006">
              <mc:Choice xmlns:v="urn:schemas-microsoft-com:vml" Requires="v">
                <p:oleObj name="Equation" r:id="rId10" imgW="279360" imgH="406080" progId="Equation.DSMT4">
                  <p:embed/>
                </p:oleObj>
              </mc:Choice>
              <mc:Fallback>
                <p:oleObj name="Equation" r:id="rId10" imgW="279360" imgH="406080" progId="Equation.DSMT4">
                  <p:embed/>
                  <p:pic>
                    <p:nvPicPr>
                      <p:cNvPr id="24" name="对象 23">
                        <a:extLst>
                          <a:ext uri="{FF2B5EF4-FFF2-40B4-BE49-F238E27FC236}">
                            <a16:creationId xmlns:a16="http://schemas.microsoft.com/office/drawing/2014/main" id="{A9E47F63-368E-4BCA-BCAE-548C6C2771A1}"/>
                          </a:ext>
                        </a:extLst>
                      </p:cNvPr>
                      <p:cNvPicPr/>
                      <p:nvPr/>
                    </p:nvPicPr>
                    <p:blipFill>
                      <a:blip r:embed="rId11"/>
                      <a:stretch>
                        <a:fillRect/>
                      </a:stretch>
                    </p:blipFill>
                    <p:spPr>
                      <a:xfrm>
                        <a:off x="7363399" y="283620"/>
                        <a:ext cx="506413" cy="741363"/>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4E3C758D-21BD-4FB8-9D59-029092617EDE}"/>
              </a:ext>
            </a:extLst>
          </p:cNvPr>
          <p:cNvGraphicFramePr>
            <a:graphicFrameLocks noChangeAspect="1"/>
          </p:cNvGraphicFramePr>
          <p:nvPr/>
        </p:nvGraphicFramePr>
        <p:xfrm>
          <a:off x="8008938" y="-23813"/>
          <a:ext cx="552450" cy="1111251"/>
        </p:xfrm>
        <a:graphic>
          <a:graphicData uri="http://schemas.openxmlformats.org/presentationml/2006/ole">
            <mc:AlternateContent xmlns:mc="http://schemas.openxmlformats.org/markup-compatibility/2006">
              <mc:Choice xmlns:v="urn:schemas-microsoft-com:vml" Requires="v">
                <p:oleObj name="Equation" r:id="rId12" imgW="304560" imgH="609480" progId="Equation.DSMT4">
                  <p:embed/>
                </p:oleObj>
              </mc:Choice>
              <mc:Fallback>
                <p:oleObj name="Equation" r:id="rId12" imgW="304560" imgH="609480" progId="Equation.DSMT4">
                  <p:embed/>
                  <p:pic>
                    <p:nvPicPr>
                      <p:cNvPr id="28" name="对象 27">
                        <a:extLst>
                          <a:ext uri="{FF2B5EF4-FFF2-40B4-BE49-F238E27FC236}">
                            <a16:creationId xmlns:a16="http://schemas.microsoft.com/office/drawing/2014/main" id="{4E3C758D-21BD-4FB8-9D59-029092617EDE}"/>
                          </a:ext>
                        </a:extLst>
                      </p:cNvPr>
                      <p:cNvPicPr/>
                      <p:nvPr/>
                    </p:nvPicPr>
                    <p:blipFill>
                      <a:blip r:embed="rId13"/>
                      <a:stretch>
                        <a:fillRect/>
                      </a:stretch>
                    </p:blipFill>
                    <p:spPr>
                      <a:xfrm>
                        <a:off x="8008938" y="-23813"/>
                        <a:ext cx="552450" cy="1111251"/>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066B4C53-A3A4-44AA-968C-FDC125E56581}"/>
              </a:ext>
            </a:extLst>
          </p:cNvPr>
          <p:cNvGraphicFramePr>
            <a:graphicFrameLocks noChangeAspect="1"/>
          </p:cNvGraphicFramePr>
          <p:nvPr/>
        </p:nvGraphicFramePr>
        <p:xfrm>
          <a:off x="8683603" y="331616"/>
          <a:ext cx="506412" cy="739775"/>
        </p:xfrm>
        <a:graphic>
          <a:graphicData uri="http://schemas.openxmlformats.org/presentationml/2006/ole">
            <mc:AlternateContent xmlns:mc="http://schemas.openxmlformats.org/markup-compatibility/2006">
              <mc:Choice xmlns:v="urn:schemas-microsoft-com:vml" Requires="v">
                <p:oleObj name="Equation" r:id="rId14" imgW="279360" imgH="406080" progId="Equation.DSMT4">
                  <p:embed/>
                </p:oleObj>
              </mc:Choice>
              <mc:Fallback>
                <p:oleObj name="Equation" r:id="rId14" imgW="279360" imgH="406080" progId="Equation.DSMT4">
                  <p:embed/>
                  <p:pic>
                    <p:nvPicPr>
                      <p:cNvPr id="29" name="对象 28">
                        <a:extLst>
                          <a:ext uri="{FF2B5EF4-FFF2-40B4-BE49-F238E27FC236}">
                            <a16:creationId xmlns:a16="http://schemas.microsoft.com/office/drawing/2014/main" id="{066B4C53-A3A4-44AA-968C-FDC125E56581}"/>
                          </a:ext>
                        </a:extLst>
                      </p:cNvPr>
                      <p:cNvPicPr/>
                      <p:nvPr/>
                    </p:nvPicPr>
                    <p:blipFill>
                      <a:blip r:embed="rId15"/>
                      <a:stretch>
                        <a:fillRect/>
                      </a:stretch>
                    </p:blipFill>
                    <p:spPr>
                      <a:xfrm>
                        <a:off x="8683603" y="331616"/>
                        <a:ext cx="506412" cy="739775"/>
                      </a:xfrm>
                      <a:prstGeom prst="rect">
                        <a:avLst/>
                      </a:prstGeom>
                    </p:spPr>
                  </p:pic>
                </p:oleObj>
              </mc:Fallback>
            </mc:AlternateContent>
          </a:graphicData>
        </a:graphic>
      </p:graphicFrame>
    </p:spTree>
    <p:extLst>
      <p:ext uri="{BB962C8B-B14F-4D97-AF65-F5344CB8AC3E}">
        <p14:creationId xmlns:p14="http://schemas.microsoft.com/office/powerpoint/2010/main" val="279706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13</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nvGraphicFramePr>
        <p:xfrm>
          <a:off x="5339018" y="4054748"/>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39018" y="4054748"/>
                        <a:ext cx="4541837" cy="2614612"/>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7" name="表格 6">
            <a:extLst>
              <a:ext uri="{FF2B5EF4-FFF2-40B4-BE49-F238E27FC236}">
                <a16:creationId xmlns:a16="http://schemas.microsoft.com/office/drawing/2014/main" id="{6C074F35-ACB2-4384-ACBA-4D3D733D1B36}"/>
              </a:ext>
            </a:extLst>
          </p:cNvPr>
          <p:cNvGraphicFramePr>
            <a:graphicFrameLocks noGrp="1"/>
          </p:cNvGraphicFramePr>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14" name="表格 13">
            <a:extLst>
              <a:ext uri="{FF2B5EF4-FFF2-40B4-BE49-F238E27FC236}">
                <a16:creationId xmlns:a16="http://schemas.microsoft.com/office/drawing/2014/main" id="{574227DE-1004-498A-BFD8-E7A64282A48B}"/>
              </a:ext>
            </a:extLst>
          </p:cNvPr>
          <p:cNvGraphicFramePr>
            <a:graphicFrameLocks noGrp="1"/>
          </p:cNvGraphicFramePr>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8" name="表格 7">
            <a:extLst>
              <a:ext uri="{FF2B5EF4-FFF2-40B4-BE49-F238E27FC236}">
                <a16:creationId xmlns:a16="http://schemas.microsoft.com/office/drawing/2014/main" id="{01D8952E-9027-420F-A6C3-EDB5369C574F}"/>
              </a:ext>
            </a:extLst>
          </p:cNvPr>
          <p:cNvGraphicFramePr>
            <a:graphicFrameLocks noGrp="1"/>
          </p:cNvGraphicFramePr>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10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16" name="表格 15">
            <a:extLst>
              <a:ext uri="{FF2B5EF4-FFF2-40B4-BE49-F238E27FC236}">
                <a16:creationId xmlns:a16="http://schemas.microsoft.com/office/drawing/2014/main" id="{8256599C-FB40-40E4-91D9-E7C4251ACD31}"/>
              </a:ext>
            </a:extLst>
          </p:cNvPr>
          <p:cNvGraphicFramePr>
            <a:graphicFrameLocks noGrp="1"/>
          </p:cNvGraphicFramePr>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-3/2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17" name="表格 16">
            <a:extLst>
              <a:ext uri="{FF2B5EF4-FFF2-40B4-BE49-F238E27FC236}">
                <a16:creationId xmlns:a16="http://schemas.microsoft.com/office/drawing/2014/main" id="{2021199C-14A2-4A6F-AF26-25829592C895}"/>
              </a:ext>
            </a:extLst>
          </p:cNvPr>
          <p:cNvGraphicFramePr>
            <a:graphicFrameLocks noGrp="1"/>
          </p:cNvGraphicFramePr>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x1</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-2</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p:sp>
        <p:nvSpPr>
          <p:cNvPr id="22" name="文本框 21">
            <a:extLst>
              <a:ext uri="{FF2B5EF4-FFF2-40B4-BE49-F238E27FC236}">
                <a16:creationId xmlns:a16="http://schemas.microsoft.com/office/drawing/2014/main" id="{BC98921C-F5E3-4504-A271-ADC3099003A3}"/>
              </a:ext>
            </a:extLst>
          </p:cNvPr>
          <p:cNvSpPr txBox="1"/>
          <p:nvPr/>
        </p:nvSpPr>
        <p:spPr>
          <a:xfrm>
            <a:off x="-15552" y="1124744"/>
            <a:ext cx="4680520" cy="461665"/>
          </a:xfrm>
          <a:prstGeom prst="rect">
            <a:avLst/>
          </a:prstGeom>
          <a:noFill/>
        </p:spPr>
        <p:txBody>
          <a:bodyPr wrap="square" rtlCol="0">
            <a:spAutoFit/>
          </a:bodyPr>
          <a:lstStyle/>
          <a:p>
            <a:r>
              <a:rPr lang="en-US" altLang="zh-CN" sz="2400" dirty="0"/>
              <a:t>8. </a:t>
            </a:r>
            <a:r>
              <a:rPr lang="zh-CN" altLang="en-US" sz="2400" dirty="0"/>
              <a:t>求解基本可行解</a:t>
            </a:r>
            <a:endParaRPr lang="en-US" altLang="zh-CN" sz="2400" dirty="0"/>
          </a:p>
        </p:txBody>
      </p:sp>
      <p:graphicFrame>
        <p:nvGraphicFramePr>
          <p:cNvPr id="25" name="对象 24">
            <a:extLst>
              <a:ext uri="{FF2B5EF4-FFF2-40B4-BE49-F238E27FC236}">
                <a16:creationId xmlns:a16="http://schemas.microsoft.com/office/drawing/2014/main" id="{CD1304C1-3B1F-496E-A8A0-7FF94987802A}"/>
              </a:ext>
            </a:extLst>
          </p:cNvPr>
          <p:cNvGraphicFramePr>
            <a:graphicFrameLocks noChangeAspect="1"/>
          </p:cNvGraphicFramePr>
          <p:nvPr>
            <p:extLst>
              <p:ext uri="{D42A27DB-BD31-4B8C-83A1-F6EECF244321}">
                <p14:modId xmlns:p14="http://schemas.microsoft.com/office/powerpoint/2010/main" val="2003265901"/>
              </p:ext>
            </p:extLst>
          </p:nvPr>
        </p:nvGraphicFramePr>
        <p:xfrm>
          <a:off x="632520" y="1645830"/>
          <a:ext cx="2141538" cy="530225"/>
        </p:xfrm>
        <a:graphic>
          <a:graphicData uri="http://schemas.openxmlformats.org/presentationml/2006/ole">
            <mc:AlternateContent xmlns:mc="http://schemas.openxmlformats.org/markup-compatibility/2006">
              <mc:Choice xmlns:v="urn:schemas-microsoft-com:vml" Requires="v">
                <p:oleObj name="Equation" r:id="rId6" imgW="1130040" imgH="279360" progId="Equation.DSMT4">
                  <p:embed/>
                </p:oleObj>
              </mc:Choice>
              <mc:Fallback>
                <p:oleObj name="Equation" r:id="rId6" imgW="1130040" imgH="279360" progId="Equation.DSMT4">
                  <p:embed/>
                  <p:pic>
                    <p:nvPicPr>
                      <p:cNvPr id="18" name="对象 17">
                        <a:extLst>
                          <a:ext uri="{FF2B5EF4-FFF2-40B4-BE49-F238E27FC236}">
                            <a16:creationId xmlns:a16="http://schemas.microsoft.com/office/drawing/2014/main" id="{D3B018E3-77EF-4A8F-94D1-9C4AB16B642F}"/>
                          </a:ext>
                        </a:extLst>
                      </p:cNvPr>
                      <p:cNvPicPr/>
                      <p:nvPr/>
                    </p:nvPicPr>
                    <p:blipFill>
                      <a:blip r:embed="rId7"/>
                      <a:stretch>
                        <a:fillRect/>
                      </a:stretch>
                    </p:blipFill>
                    <p:spPr>
                      <a:xfrm>
                        <a:off x="632520" y="1645830"/>
                        <a:ext cx="2141538" cy="530225"/>
                      </a:xfrm>
                      <a:prstGeom prst="rect">
                        <a:avLst/>
                      </a:prstGeom>
                    </p:spPr>
                  </p:pic>
                </p:oleObj>
              </mc:Fallback>
            </mc:AlternateContent>
          </a:graphicData>
        </a:graphic>
      </p:graphicFrame>
      <p:sp>
        <p:nvSpPr>
          <p:cNvPr id="26" name="文本框 25">
            <a:extLst>
              <a:ext uri="{FF2B5EF4-FFF2-40B4-BE49-F238E27FC236}">
                <a16:creationId xmlns:a16="http://schemas.microsoft.com/office/drawing/2014/main" id="{29CAEEA1-B1AB-42FC-850A-A8EA90B28378}"/>
              </a:ext>
            </a:extLst>
          </p:cNvPr>
          <p:cNvSpPr txBox="1"/>
          <p:nvPr/>
        </p:nvSpPr>
        <p:spPr>
          <a:xfrm>
            <a:off x="9380" y="2235476"/>
            <a:ext cx="4680520" cy="461665"/>
          </a:xfrm>
          <a:prstGeom prst="rect">
            <a:avLst/>
          </a:prstGeom>
          <a:noFill/>
        </p:spPr>
        <p:txBody>
          <a:bodyPr wrap="square" rtlCol="0">
            <a:spAutoFit/>
          </a:bodyPr>
          <a:lstStyle/>
          <a:p>
            <a:r>
              <a:rPr lang="en-US" altLang="zh-CN" sz="2400" dirty="0"/>
              <a:t>9. </a:t>
            </a:r>
            <a:r>
              <a:rPr lang="zh-CN" altLang="en-US" sz="2400" dirty="0"/>
              <a:t>计算判别数𝜎</a:t>
            </a:r>
            <a:endParaRPr lang="en-US" altLang="zh-CN" sz="2400" dirty="0"/>
          </a:p>
        </p:txBody>
      </p:sp>
      <p:graphicFrame>
        <p:nvGraphicFramePr>
          <p:cNvPr id="30" name="对象 29">
            <a:extLst>
              <a:ext uri="{FF2B5EF4-FFF2-40B4-BE49-F238E27FC236}">
                <a16:creationId xmlns:a16="http://schemas.microsoft.com/office/drawing/2014/main" id="{9E3124DA-4A73-4D8F-8C1E-6E9D22F688C9}"/>
              </a:ext>
            </a:extLst>
          </p:cNvPr>
          <p:cNvGraphicFramePr>
            <a:graphicFrameLocks noChangeAspect="1"/>
          </p:cNvGraphicFramePr>
          <p:nvPr>
            <p:extLst>
              <p:ext uri="{D42A27DB-BD31-4B8C-83A1-F6EECF244321}">
                <p14:modId xmlns:p14="http://schemas.microsoft.com/office/powerpoint/2010/main" val="808846164"/>
              </p:ext>
            </p:extLst>
          </p:nvPr>
        </p:nvGraphicFramePr>
        <p:xfrm>
          <a:off x="381273" y="2899002"/>
          <a:ext cx="3203575" cy="481012"/>
        </p:xfrm>
        <a:graphic>
          <a:graphicData uri="http://schemas.openxmlformats.org/presentationml/2006/ole">
            <mc:AlternateContent xmlns:mc="http://schemas.openxmlformats.org/markup-compatibility/2006">
              <mc:Choice xmlns:v="urn:schemas-microsoft-com:vml" Requires="v">
                <p:oleObj name="Equation" r:id="rId8" imgW="1688760" imgH="253800" progId="Equation.DSMT4">
                  <p:embed/>
                </p:oleObj>
              </mc:Choice>
              <mc:Fallback>
                <p:oleObj name="Equation" r:id="rId8" imgW="1688760" imgH="253800" progId="Equation.DSMT4">
                  <p:embed/>
                  <p:pic>
                    <p:nvPicPr>
                      <p:cNvPr id="28" name="对象 27">
                        <a:extLst>
                          <a:ext uri="{FF2B5EF4-FFF2-40B4-BE49-F238E27FC236}">
                            <a16:creationId xmlns:a16="http://schemas.microsoft.com/office/drawing/2014/main" id="{8016363C-E32C-4A09-BB75-1575C2A89002}"/>
                          </a:ext>
                        </a:extLst>
                      </p:cNvPr>
                      <p:cNvPicPr/>
                      <p:nvPr/>
                    </p:nvPicPr>
                    <p:blipFill>
                      <a:blip r:embed="rId9"/>
                      <a:stretch>
                        <a:fillRect/>
                      </a:stretch>
                    </p:blipFill>
                    <p:spPr>
                      <a:xfrm>
                        <a:off x="381273" y="2899002"/>
                        <a:ext cx="3203575" cy="481012"/>
                      </a:xfrm>
                      <a:prstGeom prst="rect">
                        <a:avLst/>
                      </a:prstGeom>
                    </p:spPr>
                  </p:pic>
                </p:oleObj>
              </mc:Fallback>
            </mc:AlternateContent>
          </a:graphicData>
        </a:graphic>
      </p:graphicFrame>
      <p:graphicFrame>
        <p:nvGraphicFramePr>
          <p:cNvPr id="31" name="对象 30">
            <a:extLst>
              <a:ext uri="{FF2B5EF4-FFF2-40B4-BE49-F238E27FC236}">
                <a16:creationId xmlns:a16="http://schemas.microsoft.com/office/drawing/2014/main" id="{8BCB8BE8-BF45-458E-8A30-4EFB74C4032B}"/>
              </a:ext>
            </a:extLst>
          </p:cNvPr>
          <p:cNvGraphicFramePr>
            <a:graphicFrameLocks noChangeAspect="1"/>
          </p:cNvGraphicFramePr>
          <p:nvPr>
            <p:extLst>
              <p:ext uri="{D42A27DB-BD31-4B8C-83A1-F6EECF244321}">
                <p14:modId xmlns:p14="http://schemas.microsoft.com/office/powerpoint/2010/main" val="21671045"/>
              </p:ext>
            </p:extLst>
          </p:nvPr>
        </p:nvGraphicFramePr>
        <p:xfrm>
          <a:off x="362090" y="3429000"/>
          <a:ext cx="3975100" cy="817562"/>
        </p:xfrm>
        <a:graphic>
          <a:graphicData uri="http://schemas.openxmlformats.org/presentationml/2006/ole">
            <mc:AlternateContent xmlns:mc="http://schemas.openxmlformats.org/markup-compatibility/2006">
              <mc:Choice xmlns:v="urn:schemas-microsoft-com:vml" Requires="v">
                <p:oleObj name="Equation" r:id="rId10" imgW="2095200" imgH="431640" progId="Equation.DSMT4">
                  <p:embed/>
                </p:oleObj>
              </mc:Choice>
              <mc:Fallback>
                <p:oleObj name="Equation" r:id="rId10" imgW="2095200" imgH="431640" progId="Equation.DSMT4">
                  <p:embed/>
                  <p:pic>
                    <p:nvPicPr>
                      <p:cNvPr id="30" name="对象 29">
                        <a:extLst>
                          <a:ext uri="{FF2B5EF4-FFF2-40B4-BE49-F238E27FC236}">
                            <a16:creationId xmlns:a16="http://schemas.microsoft.com/office/drawing/2014/main" id="{9E3124DA-4A73-4D8F-8C1E-6E9D22F688C9}"/>
                          </a:ext>
                        </a:extLst>
                      </p:cNvPr>
                      <p:cNvPicPr/>
                      <p:nvPr/>
                    </p:nvPicPr>
                    <p:blipFill>
                      <a:blip r:embed="rId11"/>
                      <a:stretch>
                        <a:fillRect/>
                      </a:stretch>
                    </p:blipFill>
                    <p:spPr>
                      <a:xfrm>
                        <a:off x="362090" y="3429000"/>
                        <a:ext cx="3975100" cy="817562"/>
                      </a:xfrm>
                      <a:prstGeom prst="rect">
                        <a:avLst/>
                      </a:prstGeom>
                    </p:spPr>
                  </p:pic>
                </p:oleObj>
              </mc:Fallback>
            </mc:AlternateContent>
          </a:graphicData>
        </a:graphic>
      </p:graphicFrame>
      <p:graphicFrame>
        <p:nvGraphicFramePr>
          <p:cNvPr id="32" name="对象 31">
            <a:extLst>
              <a:ext uri="{FF2B5EF4-FFF2-40B4-BE49-F238E27FC236}">
                <a16:creationId xmlns:a16="http://schemas.microsoft.com/office/drawing/2014/main" id="{43A73C3A-1293-457D-9BDD-74CCF1FA888E}"/>
              </a:ext>
            </a:extLst>
          </p:cNvPr>
          <p:cNvGraphicFramePr>
            <a:graphicFrameLocks noChangeAspect="1"/>
          </p:cNvGraphicFramePr>
          <p:nvPr>
            <p:extLst>
              <p:ext uri="{D42A27DB-BD31-4B8C-83A1-F6EECF244321}">
                <p14:modId xmlns:p14="http://schemas.microsoft.com/office/powerpoint/2010/main" val="623473736"/>
              </p:ext>
            </p:extLst>
          </p:nvPr>
        </p:nvGraphicFramePr>
        <p:xfrm>
          <a:off x="362090" y="4386422"/>
          <a:ext cx="3059113" cy="479425"/>
        </p:xfrm>
        <a:graphic>
          <a:graphicData uri="http://schemas.openxmlformats.org/presentationml/2006/ole">
            <mc:AlternateContent xmlns:mc="http://schemas.openxmlformats.org/markup-compatibility/2006">
              <mc:Choice xmlns:v="urn:schemas-microsoft-com:vml" Requires="v">
                <p:oleObj name="Equation" r:id="rId12" imgW="1612800" imgH="253800" progId="Equation.DSMT4">
                  <p:embed/>
                </p:oleObj>
              </mc:Choice>
              <mc:Fallback>
                <p:oleObj name="Equation" r:id="rId12" imgW="1612800" imgH="253800" progId="Equation.DSMT4">
                  <p:embed/>
                  <p:pic>
                    <p:nvPicPr>
                      <p:cNvPr id="31" name="对象 30">
                        <a:extLst>
                          <a:ext uri="{FF2B5EF4-FFF2-40B4-BE49-F238E27FC236}">
                            <a16:creationId xmlns:a16="http://schemas.microsoft.com/office/drawing/2014/main" id="{8BCB8BE8-BF45-458E-8A30-4EFB74C4032B}"/>
                          </a:ext>
                        </a:extLst>
                      </p:cNvPr>
                      <p:cNvPicPr/>
                      <p:nvPr/>
                    </p:nvPicPr>
                    <p:blipFill>
                      <a:blip r:embed="rId13"/>
                      <a:stretch>
                        <a:fillRect/>
                      </a:stretch>
                    </p:blipFill>
                    <p:spPr>
                      <a:xfrm>
                        <a:off x="362090" y="4386422"/>
                        <a:ext cx="3059113" cy="479425"/>
                      </a:xfrm>
                      <a:prstGeom prst="rect">
                        <a:avLst/>
                      </a:prstGeom>
                    </p:spPr>
                  </p:pic>
                </p:oleObj>
              </mc:Fallback>
            </mc:AlternateContent>
          </a:graphicData>
        </a:graphic>
      </p:graphicFrame>
      <p:graphicFrame>
        <p:nvGraphicFramePr>
          <p:cNvPr id="33" name="对象 32">
            <a:extLst>
              <a:ext uri="{FF2B5EF4-FFF2-40B4-BE49-F238E27FC236}">
                <a16:creationId xmlns:a16="http://schemas.microsoft.com/office/drawing/2014/main" id="{A956C4B1-3872-405A-80B0-F9C645639645}"/>
              </a:ext>
            </a:extLst>
          </p:cNvPr>
          <p:cNvGraphicFramePr>
            <a:graphicFrameLocks noChangeAspect="1"/>
          </p:cNvGraphicFramePr>
          <p:nvPr>
            <p:extLst>
              <p:ext uri="{D42A27DB-BD31-4B8C-83A1-F6EECF244321}">
                <p14:modId xmlns:p14="http://schemas.microsoft.com/office/powerpoint/2010/main" val="4247979598"/>
              </p:ext>
            </p:extLst>
          </p:nvPr>
        </p:nvGraphicFramePr>
        <p:xfrm>
          <a:off x="364378" y="4992857"/>
          <a:ext cx="3230562" cy="815975"/>
        </p:xfrm>
        <a:graphic>
          <a:graphicData uri="http://schemas.openxmlformats.org/presentationml/2006/ole">
            <mc:AlternateContent xmlns:mc="http://schemas.openxmlformats.org/markup-compatibility/2006">
              <mc:Choice xmlns:v="urn:schemas-microsoft-com:vml" Requires="v">
                <p:oleObj name="Equation" r:id="rId14" imgW="1701720" imgH="431640" progId="Equation.DSMT4">
                  <p:embed/>
                </p:oleObj>
              </mc:Choice>
              <mc:Fallback>
                <p:oleObj name="Equation" r:id="rId14" imgW="1701720" imgH="431640" progId="Equation.DSMT4">
                  <p:embed/>
                  <p:pic>
                    <p:nvPicPr>
                      <p:cNvPr id="31" name="对象 30">
                        <a:extLst>
                          <a:ext uri="{FF2B5EF4-FFF2-40B4-BE49-F238E27FC236}">
                            <a16:creationId xmlns:a16="http://schemas.microsoft.com/office/drawing/2014/main" id="{8BCB8BE8-BF45-458E-8A30-4EFB74C4032B}"/>
                          </a:ext>
                        </a:extLst>
                      </p:cNvPr>
                      <p:cNvPicPr/>
                      <p:nvPr/>
                    </p:nvPicPr>
                    <p:blipFill>
                      <a:blip r:embed="rId15"/>
                      <a:stretch>
                        <a:fillRect/>
                      </a:stretch>
                    </p:blipFill>
                    <p:spPr>
                      <a:xfrm>
                        <a:off x="364378" y="4992857"/>
                        <a:ext cx="3230562" cy="81597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graphicFrame>
            <p:nvGraphicFramePr>
              <p:cNvPr id="34" name="表格 33">
                <a:extLst>
                  <a:ext uri="{FF2B5EF4-FFF2-40B4-BE49-F238E27FC236}">
                    <a16:creationId xmlns:a16="http://schemas.microsoft.com/office/drawing/2014/main" id="{1E29750C-4AF8-4927-89D9-F4CB9264CF62}"/>
                  </a:ext>
                </a:extLst>
              </p:cNvPr>
              <p:cNvGraphicFramePr>
                <a:graphicFrameLocks noGrp="1"/>
              </p:cNvGraphicFramePr>
              <p:nvPr>
                <p:extLst>
                  <p:ext uri="{D42A27DB-BD31-4B8C-83A1-F6EECF244321}">
                    <p14:modId xmlns:p14="http://schemas.microsoft.com/office/powerpoint/2010/main" val="1811341479"/>
                  </p:ext>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34" name="表格 33">
                <a:extLst>
                  <a:ext uri="{FF2B5EF4-FFF2-40B4-BE49-F238E27FC236}">
                    <a16:creationId xmlns:a16="http://schemas.microsoft.com/office/drawing/2014/main" id="{1E29750C-4AF8-4927-89D9-F4CB9264CF62}"/>
                  </a:ext>
                </a:extLst>
              </p:cNvPr>
              <p:cNvGraphicFramePr>
                <a:graphicFrameLocks noGrp="1"/>
              </p:cNvGraphicFramePr>
              <p:nvPr>
                <p:extLst>
                  <p:ext uri="{D42A27DB-BD31-4B8C-83A1-F6EECF244321}">
                    <p14:modId xmlns:p14="http://schemas.microsoft.com/office/powerpoint/2010/main" val="1811341479"/>
                  </p:ext>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sp>
        <p:nvSpPr>
          <p:cNvPr id="35" name="矩形 34">
            <a:extLst>
              <a:ext uri="{FF2B5EF4-FFF2-40B4-BE49-F238E27FC236}">
                <a16:creationId xmlns:a16="http://schemas.microsoft.com/office/drawing/2014/main" id="{B9911BA7-CF8B-422A-A39E-508BA5F036BA}"/>
              </a:ext>
            </a:extLst>
          </p:cNvPr>
          <p:cNvSpPr/>
          <p:nvPr/>
        </p:nvSpPr>
        <p:spPr>
          <a:xfrm>
            <a:off x="6220684" y="3411036"/>
            <a:ext cx="327334" cy="400110"/>
          </a:xfrm>
          <a:prstGeom prst="rect">
            <a:avLst/>
          </a:prstGeom>
        </p:spPr>
        <p:txBody>
          <a:bodyPr wrap="none">
            <a:spAutoFit/>
          </a:bodyPr>
          <a:lstStyle/>
          <a:p>
            <a:pPr algn="ctr"/>
            <a:r>
              <a:rPr lang="en-US" altLang="zh-CN" sz="2000" dirty="0"/>
              <a:t>0</a:t>
            </a:r>
            <a:endParaRPr lang="zh-CN" altLang="en-US" sz="2000" dirty="0"/>
          </a:p>
        </p:txBody>
      </p:sp>
      <p:sp>
        <p:nvSpPr>
          <p:cNvPr id="36" name="矩形 35">
            <a:extLst>
              <a:ext uri="{FF2B5EF4-FFF2-40B4-BE49-F238E27FC236}">
                <a16:creationId xmlns:a16="http://schemas.microsoft.com/office/drawing/2014/main" id="{A05DB081-DA23-44C5-ADE5-7EA14750889D}"/>
              </a:ext>
            </a:extLst>
          </p:cNvPr>
          <p:cNvSpPr/>
          <p:nvPr/>
        </p:nvSpPr>
        <p:spPr>
          <a:xfrm>
            <a:off x="6825208" y="3411036"/>
            <a:ext cx="412292" cy="400110"/>
          </a:xfrm>
          <a:prstGeom prst="rect">
            <a:avLst/>
          </a:prstGeom>
        </p:spPr>
        <p:txBody>
          <a:bodyPr wrap="none">
            <a:spAutoFit/>
          </a:bodyPr>
          <a:lstStyle/>
          <a:p>
            <a:pPr algn="ctr"/>
            <a:r>
              <a:rPr lang="en-US" altLang="zh-CN" sz="2000" dirty="0"/>
              <a:t>-6</a:t>
            </a:r>
            <a:endParaRPr lang="zh-CN" altLang="en-US" sz="2000" dirty="0"/>
          </a:p>
        </p:txBody>
      </p:sp>
      <p:sp>
        <p:nvSpPr>
          <p:cNvPr id="37" name="矩形 36">
            <a:extLst>
              <a:ext uri="{FF2B5EF4-FFF2-40B4-BE49-F238E27FC236}">
                <a16:creationId xmlns:a16="http://schemas.microsoft.com/office/drawing/2014/main" id="{EEBB0C1E-392C-4D4E-910E-FF2E1E219114}"/>
              </a:ext>
            </a:extLst>
          </p:cNvPr>
          <p:cNvSpPr/>
          <p:nvPr/>
        </p:nvSpPr>
        <p:spPr>
          <a:xfrm>
            <a:off x="7514689" y="3411036"/>
            <a:ext cx="327333" cy="400110"/>
          </a:xfrm>
          <a:prstGeom prst="rect">
            <a:avLst/>
          </a:prstGeom>
        </p:spPr>
        <p:txBody>
          <a:bodyPr wrap="none">
            <a:spAutoFit/>
          </a:bodyPr>
          <a:lstStyle/>
          <a:p>
            <a:pPr algn="ctr"/>
            <a:r>
              <a:rPr lang="en-US" altLang="zh-CN" sz="2000" dirty="0"/>
              <a:t>0</a:t>
            </a:r>
            <a:endParaRPr lang="zh-CN" altLang="en-US" sz="2000" dirty="0"/>
          </a:p>
        </p:txBody>
      </p:sp>
      <p:sp>
        <p:nvSpPr>
          <p:cNvPr id="38" name="矩形 37">
            <a:extLst>
              <a:ext uri="{FF2B5EF4-FFF2-40B4-BE49-F238E27FC236}">
                <a16:creationId xmlns:a16="http://schemas.microsoft.com/office/drawing/2014/main" id="{ACE7171A-5821-4B6A-9A23-8296EE291E08}"/>
              </a:ext>
            </a:extLst>
          </p:cNvPr>
          <p:cNvSpPr/>
          <p:nvPr/>
        </p:nvSpPr>
        <p:spPr>
          <a:xfrm>
            <a:off x="8106360" y="3407761"/>
            <a:ext cx="327333" cy="400110"/>
          </a:xfrm>
          <a:prstGeom prst="rect">
            <a:avLst/>
          </a:prstGeom>
        </p:spPr>
        <p:txBody>
          <a:bodyPr wrap="none">
            <a:spAutoFit/>
          </a:bodyPr>
          <a:lstStyle/>
          <a:p>
            <a:pPr algn="ctr"/>
            <a:r>
              <a:rPr lang="en-US" altLang="zh-CN" sz="2000" dirty="0"/>
              <a:t>1</a:t>
            </a:r>
            <a:endParaRPr lang="zh-CN" altLang="en-US" sz="2000" dirty="0"/>
          </a:p>
        </p:txBody>
      </p:sp>
      <p:sp>
        <p:nvSpPr>
          <p:cNvPr id="39" name="矩形 38">
            <a:extLst>
              <a:ext uri="{FF2B5EF4-FFF2-40B4-BE49-F238E27FC236}">
                <a16:creationId xmlns:a16="http://schemas.microsoft.com/office/drawing/2014/main" id="{EE6D2C80-1DD7-4FC6-8E05-57B19A215D22}"/>
              </a:ext>
            </a:extLst>
          </p:cNvPr>
          <p:cNvSpPr/>
          <p:nvPr/>
        </p:nvSpPr>
        <p:spPr>
          <a:xfrm>
            <a:off x="4761000" y="4936261"/>
            <a:ext cx="4953000" cy="1200329"/>
          </a:xfrm>
          <a:prstGeom prst="rect">
            <a:avLst/>
          </a:prstGeom>
          <a:solidFill>
            <a:srgbClr val="FFFF66"/>
          </a:solidFill>
        </p:spPr>
        <p:txBody>
          <a:bodyPr>
            <a:spAutoFit/>
          </a:bodyPr>
          <a:lstStyle/>
          <a:p>
            <a:r>
              <a:rPr lang="zh-CN" altLang="en-US" sz="2400" b="1" dirty="0">
                <a:solidFill>
                  <a:srgbClr val="C00000"/>
                </a:solidFill>
              </a:rPr>
              <a:t>观察</a:t>
            </a:r>
            <a:r>
              <a:rPr lang="zh-CN" altLang="en-US" sz="2400" dirty="0"/>
              <a:t>判别数𝜎是否都大于等于</a:t>
            </a:r>
            <a:r>
              <a:rPr lang="en-US" altLang="zh-CN" sz="2400" dirty="0"/>
              <a:t>0</a:t>
            </a:r>
            <a:r>
              <a:rPr lang="zh-CN" altLang="en-US" sz="2400" dirty="0"/>
              <a:t>，如果是，则找到最优解，否则继续迭代。本题继续迭代</a:t>
            </a:r>
            <a:endParaRPr lang="zh-CN" altLang="en-US" sz="2400" b="1" dirty="0">
              <a:solidFill>
                <a:srgbClr val="C00000"/>
              </a:solidFill>
            </a:endParaRPr>
          </a:p>
        </p:txBody>
      </p:sp>
    </p:spTree>
    <p:extLst>
      <p:ext uri="{BB962C8B-B14F-4D97-AF65-F5344CB8AC3E}">
        <p14:creationId xmlns:p14="http://schemas.microsoft.com/office/powerpoint/2010/main" val="1696330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barn(inVertical)">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down)">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6">
                                            <p:txEl>
                                              <p:pRg st="0" end="0"/>
                                            </p:txEl>
                                          </p:spTgt>
                                        </p:tgtEl>
                                        <p:attrNameLst>
                                          <p:attrName>style.visibility</p:attrName>
                                        </p:attrNameLst>
                                      </p:cBhvr>
                                      <p:to>
                                        <p:strVal val="visible"/>
                                      </p:to>
                                    </p:set>
                                    <p:animEffect transition="in" filter="barn(inVertical)">
                                      <p:cBhvr>
                                        <p:cTn id="17" dur="500"/>
                                        <p:tgtEl>
                                          <p:spTgt spid="2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p:tgtEl>
                                          <p:spTgt spid="30"/>
                                        </p:tgtEl>
                                        <p:attrNameLst>
                                          <p:attrName>ppt_y</p:attrName>
                                        </p:attrNameLst>
                                      </p:cBhvr>
                                      <p:tavLst>
                                        <p:tav tm="0">
                                          <p:val>
                                            <p:strVal val="#ppt_y+#ppt_h*1.125000"/>
                                          </p:val>
                                        </p:tav>
                                        <p:tav tm="100000">
                                          <p:val>
                                            <p:strVal val="#ppt_y"/>
                                          </p:val>
                                        </p:tav>
                                      </p:tavLst>
                                    </p:anim>
                                    <p:animEffect transition="in" filter="wipe(up)">
                                      <p:cBhvr>
                                        <p:cTn id="23" dur="500"/>
                                        <p:tgtEl>
                                          <p:spTgt spid="30"/>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additive="base">
                                        <p:cTn id="28" dur="500" fill="hold"/>
                                        <p:tgtEl>
                                          <p:spTgt spid="35"/>
                                        </p:tgtEl>
                                        <p:attrNameLst>
                                          <p:attrName>ppt_x</p:attrName>
                                        </p:attrNameLst>
                                      </p:cBhvr>
                                      <p:tavLst>
                                        <p:tav tm="0">
                                          <p:val>
                                            <p:strVal val="#ppt_x"/>
                                          </p:val>
                                        </p:tav>
                                        <p:tav tm="100000">
                                          <p:val>
                                            <p:strVal val="#ppt_x"/>
                                          </p:val>
                                        </p:tav>
                                      </p:tavLst>
                                    </p:anim>
                                    <p:anim calcmode="lin" valueType="num">
                                      <p:cBhvr additive="base">
                                        <p:cTn id="29"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additive="base">
                                        <p:cTn id="34" dur="500"/>
                                        <p:tgtEl>
                                          <p:spTgt spid="31"/>
                                        </p:tgtEl>
                                        <p:attrNameLst>
                                          <p:attrName>ppt_y</p:attrName>
                                        </p:attrNameLst>
                                      </p:cBhvr>
                                      <p:tavLst>
                                        <p:tav tm="0">
                                          <p:val>
                                            <p:strVal val="#ppt_y+#ppt_h*1.125000"/>
                                          </p:val>
                                        </p:tav>
                                        <p:tav tm="100000">
                                          <p:val>
                                            <p:strVal val="#ppt_y"/>
                                          </p:val>
                                        </p:tav>
                                      </p:tavLst>
                                    </p:anim>
                                    <p:animEffect transition="in" filter="wipe(up)">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 calcmode="lin" valueType="num">
                                      <p:cBhvr additive="base">
                                        <p:cTn id="40" dur="500" fill="hold"/>
                                        <p:tgtEl>
                                          <p:spTgt spid="36"/>
                                        </p:tgtEl>
                                        <p:attrNameLst>
                                          <p:attrName>ppt_x</p:attrName>
                                        </p:attrNameLst>
                                      </p:cBhvr>
                                      <p:tavLst>
                                        <p:tav tm="0">
                                          <p:val>
                                            <p:strVal val="#ppt_x"/>
                                          </p:val>
                                        </p:tav>
                                        <p:tav tm="100000">
                                          <p:val>
                                            <p:strVal val="#ppt_x"/>
                                          </p:val>
                                        </p:tav>
                                      </p:tavLst>
                                    </p:anim>
                                    <p:anim calcmode="lin" valueType="num">
                                      <p:cBhvr additive="base">
                                        <p:cTn id="41"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32"/>
                                        </p:tgtEl>
                                        <p:attrNameLst>
                                          <p:attrName>style.visibility</p:attrName>
                                        </p:attrNameLst>
                                      </p:cBhvr>
                                      <p:to>
                                        <p:strVal val="visible"/>
                                      </p:to>
                                    </p:set>
                                    <p:anim calcmode="lin" valueType="num">
                                      <p:cBhvr additive="base">
                                        <p:cTn id="46" dur="500"/>
                                        <p:tgtEl>
                                          <p:spTgt spid="32"/>
                                        </p:tgtEl>
                                        <p:attrNameLst>
                                          <p:attrName>ppt_y</p:attrName>
                                        </p:attrNameLst>
                                      </p:cBhvr>
                                      <p:tavLst>
                                        <p:tav tm="0">
                                          <p:val>
                                            <p:strVal val="#ppt_y+#ppt_h*1.125000"/>
                                          </p:val>
                                        </p:tav>
                                        <p:tav tm="100000">
                                          <p:val>
                                            <p:strVal val="#ppt_y"/>
                                          </p:val>
                                        </p:tav>
                                      </p:tavLst>
                                    </p:anim>
                                    <p:animEffect transition="in" filter="wipe(up)">
                                      <p:cBhvr>
                                        <p:cTn id="47"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anim calcmode="lin" valueType="num">
                                      <p:cBhvr additive="base">
                                        <p:cTn id="52" dur="500" fill="hold"/>
                                        <p:tgtEl>
                                          <p:spTgt spid="37"/>
                                        </p:tgtEl>
                                        <p:attrNameLst>
                                          <p:attrName>ppt_x</p:attrName>
                                        </p:attrNameLst>
                                      </p:cBhvr>
                                      <p:tavLst>
                                        <p:tav tm="0">
                                          <p:val>
                                            <p:strVal val="#ppt_x"/>
                                          </p:val>
                                        </p:tav>
                                        <p:tav tm="100000">
                                          <p:val>
                                            <p:strVal val="#ppt_x"/>
                                          </p:val>
                                        </p:tav>
                                      </p:tavLst>
                                    </p:anim>
                                    <p:anim calcmode="lin" valueType="num">
                                      <p:cBhvr additive="base">
                                        <p:cTn id="53"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nodeType="clickEffect">
                                  <p:stCondLst>
                                    <p:cond delay="0"/>
                                  </p:stCondLst>
                                  <p:childTnLst>
                                    <p:set>
                                      <p:cBhvr>
                                        <p:cTn id="57" dur="1" fill="hold">
                                          <p:stCondLst>
                                            <p:cond delay="0"/>
                                          </p:stCondLst>
                                        </p:cTn>
                                        <p:tgtEl>
                                          <p:spTgt spid="33"/>
                                        </p:tgtEl>
                                        <p:attrNameLst>
                                          <p:attrName>style.visibility</p:attrName>
                                        </p:attrNameLst>
                                      </p:cBhvr>
                                      <p:to>
                                        <p:strVal val="visible"/>
                                      </p:to>
                                    </p:set>
                                    <p:anim calcmode="lin" valueType="num">
                                      <p:cBhvr additive="base">
                                        <p:cTn id="58" dur="500"/>
                                        <p:tgtEl>
                                          <p:spTgt spid="33"/>
                                        </p:tgtEl>
                                        <p:attrNameLst>
                                          <p:attrName>ppt_y</p:attrName>
                                        </p:attrNameLst>
                                      </p:cBhvr>
                                      <p:tavLst>
                                        <p:tav tm="0">
                                          <p:val>
                                            <p:strVal val="#ppt_y+#ppt_h*1.125000"/>
                                          </p:val>
                                        </p:tav>
                                        <p:tav tm="100000">
                                          <p:val>
                                            <p:strVal val="#ppt_y"/>
                                          </p:val>
                                        </p:tav>
                                      </p:tavLst>
                                    </p:anim>
                                    <p:animEffect transition="in" filter="wipe(up)">
                                      <p:cBhvr>
                                        <p:cTn id="59" dur="500"/>
                                        <p:tgtEl>
                                          <p:spTgt spid="33"/>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anim calcmode="lin" valueType="num">
                                      <p:cBhvr additive="base">
                                        <p:cTn id="64" dur="500" fill="hold"/>
                                        <p:tgtEl>
                                          <p:spTgt spid="38"/>
                                        </p:tgtEl>
                                        <p:attrNameLst>
                                          <p:attrName>ppt_x</p:attrName>
                                        </p:attrNameLst>
                                      </p:cBhvr>
                                      <p:tavLst>
                                        <p:tav tm="0">
                                          <p:val>
                                            <p:strVal val="#ppt_x"/>
                                          </p:val>
                                        </p:tav>
                                        <p:tav tm="100000">
                                          <p:val>
                                            <p:strVal val="#ppt_x"/>
                                          </p:val>
                                        </p:tav>
                                      </p:tavLst>
                                    </p:anim>
                                    <p:anim calcmode="lin" valueType="num">
                                      <p:cBhvr additive="base">
                                        <p:cTn id="6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39"/>
                                        </p:tgtEl>
                                        <p:attrNameLst>
                                          <p:attrName>style.visibility</p:attrName>
                                        </p:attrNameLst>
                                      </p:cBhvr>
                                      <p:to>
                                        <p:strVal val="visible"/>
                                      </p:to>
                                    </p:set>
                                    <p:anim calcmode="lin" valueType="num">
                                      <p:cBhvr additive="base">
                                        <p:cTn id="70" dur="500" fill="hold"/>
                                        <p:tgtEl>
                                          <p:spTgt spid="39"/>
                                        </p:tgtEl>
                                        <p:attrNameLst>
                                          <p:attrName>ppt_x</p:attrName>
                                        </p:attrNameLst>
                                      </p:cBhvr>
                                      <p:tavLst>
                                        <p:tav tm="0">
                                          <p:val>
                                            <p:strVal val="#ppt_x"/>
                                          </p:val>
                                        </p:tav>
                                        <p:tav tm="100000">
                                          <p:val>
                                            <p:strVal val="#ppt_x"/>
                                          </p:val>
                                        </p:tav>
                                      </p:tavLst>
                                    </p:anim>
                                    <p:anim calcmode="lin" valueType="num">
                                      <p:cBhvr additive="base">
                                        <p:cTn id="71"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P spid="3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14</a:t>
            </a:fld>
            <a:endParaRPr lang="en-US" altLang="zh-CN" dirty="0"/>
          </a:p>
        </p:txBody>
      </p:sp>
      <p:graphicFrame>
        <p:nvGraphicFramePr>
          <p:cNvPr id="6" name="对象 5">
            <a:extLst>
              <a:ext uri="{FF2B5EF4-FFF2-40B4-BE49-F238E27FC236}">
                <a16:creationId xmlns:a16="http://schemas.microsoft.com/office/drawing/2014/main" id="{F64AB151-BC79-4A5B-BFCD-87B871EA4079}"/>
              </a:ext>
            </a:extLst>
          </p:cNvPr>
          <p:cNvGraphicFramePr>
            <a:graphicFrameLocks noChangeAspect="1"/>
          </p:cNvGraphicFramePr>
          <p:nvPr/>
        </p:nvGraphicFramePr>
        <p:xfrm>
          <a:off x="5339018" y="4054748"/>
          <a:ext cx="4541837" cy="2614612"/>
        </p:xfrm>
        <a:graphic>
          <a:graphicData uri="http://schemas.openxmlformats.org/presentationml/2006/ole">
            <mc:AlternateContent xmlns:mc="http://schemas.openxmlformats.org/markup-compatibility/2006">
              <mc:Choice xmlns:v="urn:schemas-microsoft-com:vml" Requires="v">
                <p:oleObj name="Equation" r:id="rId2" imgW="1676160" imgH="965160" progId="Equation.DSMT4">
                  <p:embed/>
                </p:oleObj>
              </mc:Choice>
              <mc:Fallback>
                <p:oleObj name="Equation" r:id="rId2" imgW="167616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339018" y="4054748"/>
                        <a:ext cx="4541837" cy="2614612"/>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7" name="表格 6">
            <a:extLst>
              <a:ext uri="{FF2B5EF4-FFF2-40B4-BE49-F238E27FC236}">
                <a16:creationId xmlns:a16="http://schemas.microsoft.com/office/drawing/2014/main" id="{6C074F35-ACB2-4384-ACBA-4D3D733D1B36}"/>
              </a:ext>
            </a:extLst>
          </p:cNvPr>
          <p:cNvGraphicFramePr>
            <a:graphicFrameLocks noGrp="1"/>
          </p:cNvGraphicFramePr>
          <p:nvPr/>
        </p:nvGraphicFramePr>
        <p:xfrm>
          <a:off x="6104671" y="1156062"/>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x1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x3</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x4</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14" name="表格 13">
            <a:extLst>
              <a:ext uri="{FF2B5EF4-FFF2-40B4-BE49-F238E27FC236}">
                <a16:creationId xmlns:a16="http://schemas.microsoft.com/office/drawing/2014/main" id="{574227DE-1004-498A-BFD8-E7A64282A48B}"/>
              </a:ext>
            </a:extLst>
          </p:cNvPr>
          <p:cNvGraphicFramePr>
            <a:graphicFrameLocks noGrp="1"/>
          </p:cNvGraphicFramePr>
          <p:nvPr/>
        </p:nvGraphicFramePr>
        <p:xfrm>
          <a:off x="6104671" y="1722656"/>
          <a:ext cx="2517456" cy="545382"/>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022731702"/>
                    </a:ext>
                  </a:extLst>
                </a:gridCol>
                <a:gridCol w="629364">
                  <a:extLst>
                    <a:ext uri="{9D8B030D-6E8A-4147-A177-3AD203B41FA5}">
                      <a16:colId xmlns:a16="http://schemas.microsoft.com/office/drawing/2014/main" val="17245192"/>
                    </a:ext>
                  </a:extLst>
                </a:gridCol>
                <a:gridCol w="629364">
                  <a:extLst>
                    <a:ext uri="{9D8B030D-6E8A-4147-A177-3AD203B41FA5}">
                      <a16:colId xmlns:a16="http://schemas.microsoft.com/office/drawing/2014/main" val="411834187"/>
                    </a:ext>
                  </a:extLst>
                </a:gridCol>
                <a:gridCol w="629364">
                  <a:extLst>
                    <a:ext uri="{9D8B030D-6E8A-4147-A177-3AD203B41FA5}">
                      <a16:colId xmlns:a16="http://schemas.microsoft.com/office/drawing/2014/main" val="452644625"/>
                    </a:ext>
                  </a:extLst>
                </a:gridCol>
              </a:tblGrid>
              <a:tr h="545382">
                <a:tc>
                  <a:txBody>
                    <a:bodyPr/>
                    <a:lstStyle/>
                    <a:p>
                      <a:pPr algn="ctr"/>
                      <a:r>
                        <a:rPr lang="en-US" altLang="zh-CN" sz="2000" baseline="0" dirty="0"/>
                        <a:t>-2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4406966"/>
                  </a:ext>
                </a:extLst>
              </a:tr>
            </a:tbl>
          </a:graphicData>
        </a:graphic>
      </p:graphicFrame>
      <p:graphicFrame>
        <p:nvGraphicFramePr>
          <p:cNvPr id="8" name="表格 7">
            <a:extLst>
              <a:ext uri="{FF2B5EF4-FFF2-40B4-BE49-F238E27FC236}">
                <a16:creationId xmlns:a16="http://schemas.microsoft.com/office/drawing/2014/main" id="{01D8952E-9027-420F-A6C3-EDB5369C574F}"/>
              </a:ext>
            </a:extLst>
          </p:cNvPr>
          <p:cNvGraphicFramePr>
            <a:graphicFrameLocks noGrp="1"/>
          </p:cNvGraphicFramePr>
          <p:nvPr/>
        </p:nvGraphicFramePr>
        <p:xfrm>
          <a:off x="8622127" y="2289250"/>
          <a:ext cx="629364"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2760083025"/>
                    </a:ext>
                  </a:extLst>
                </a:gridCol>
              </a:tblGrid>
              <a:tr h="545382">
                <a:tc>
                  <a:txBody>
                    <a:bodyPr/>
                    <a:lstStyle/>
                    <a:p>
                      <a:pPr algn="ctr"/>
                      <a:r>
                        <a:rPr lang="en-US" altLang="zh-CN" sz="2000" kern="1200" baseline="0" dirty="0">
                          <a:solidFill>
                            <a:schemeClr val="tx1"/>
                          </a:solidFill>
                          <a:latin typeface="+mn-lt"/>
                          <a:ea typeface="+mn-ea"/>
                          <a:cs typeface="+mn-cs"/>
                        </a:rPr>
                        <a:t>10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21271768"/>
                  </a:ext>
                </a:extLst>
              </a:tr>
              <a:tr h="545382">
                <a:tc>
                  <a:txBody>
                    <a:bodyPr/>
                    <a:lstStyle/>
                    <a:p>
                      <a:pPr algn="ctr"/>
                      <a:r>
                        <a:rPr lang="en-US" altLang="zh-CN" sz="2000" kern="1200" baseline="0" dirty="0">
                          <a:solidFill>
                            <a:schemeClr val="tx1"/>
                          </a:solidFill>
                          <a:latin typeface="+mn-lt"/>
                          <a:ea typeface="+mn-ea"/>
                          <a:cs typeface="+mn-cs"/>
                        </a:rPr>
                        <a:t>5</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9632648"/>
                  </a:ext>
                </a:extLst>
              </a:tr>
            </a:tbl>
          </a:graphicData>
        </a:graphic>
      </p:graphicFrame>
      <p:graphicFrame>
        <p:nvGraphicFramePr>
          <p:cNvPr id="16" name="表格 15">
            <a:extLst>
              <a:ext uri="{FF2B5EF4-FFF2-40B4-BE49-F238E27FC236}">
                <a16:creationId xmlns:a16="http://schemas.microsoft.com/office/drawing/2014/main" id="{8256599C-FB40-40E4-91D9-E7C4251ACD31}"/>
              </a:ext>
            </a:extLst>
          </p:cNvPr>
          <p:cNvGraphicFramePr>
            <a:graphicFrameLocks noGrp="1"/>
          </p:cNvGraphicFramePr>
          <p:nvPr/>
        </p:nvGraphicFramePr>
        <p:xfrm>
          <a:off x="6094095" y="2268038"/>
          <a:ext cx="2517456"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800482283"/>
                    </a:ext>
                  </a:extLst>
                </a:gridCol>
                <a:gridCol w="629364">
                  <a:extLst>
                    <a:ext uri="{9D8B030D-6E8A-4147-A177-3AD203B41FA5}">
                      <a16:colId xmlns:a16="http://schemas.microsoft.com/office/drawing/2014/main" val="1126940414"/>
                    </a:ext>
                  </a:extLst>
                </a:gridCol>
                <a:gridCol w="629364">
                  <a:extLst>
                    <a:ext uri="{9D8B030D-6E8A-4147-A177-3AD203B41FA5}">
                      <a16:colId xmlns:a16="http://schemas.microsoft.com/office/drawing/2014/main" val="3365000460"/>
                    </a:ext>
                  </a:extLst>
                </a:gridCol>
                <a:gridCol w="629364">
                  <a:extLst>
                    <a:ext uri="{9D8B030D-6E8A-4147-A177-3AD203B41FA5}">
                      <a16:colId xmlns:a16="http://schemas.microsoft.com/office/drawing/2014/main" val="3794160056"/>
                    </a:ext>
                  </a:extLst>
                </a:gridCol>
              </a:tblGrid>
              <a:tr h="545382">
                <a:tc>
                  <a:txBody>
                    <a:bodyPr/>
                    <a:lstStyle/>
                    <a:p>
                      <a:pPr algn="ct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-3/2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2480994"/>
                  </a:ext>
                </a:extLst>
              </a:tr>
              <a:tr h="5453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-5/2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0</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aseline="0" dirty="0"/>
                        <a:t>1/2</a:t>
                      </a:r>
                      <a:endParaRPr lang="zh-CN" altLang="en-US" sz="20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0363840"/>
                  </a:ext>
                </a:extLst>
              </a:tr>
            </a:tbl>
          </a:graphicData>
        </a:graphic>
      </p:graphicFrame>
      <p:graphicFrame>
        <p:nvGraphicFramePr>
          <p:cNvPr id="17" name="表格 16">
            <a:extLst>
              <a:ext uri="{FF2B5EF4-FFF2-40B4-BE49-F238E27FC236}">
                <a16:creationId xmlns:a16="http://schemas.microsoft.com/office/drawing/2014/main" id="{2021199C-14A2-4A6F-AF26-25829592C895}"/>
              </a:ext>
            </a:extLst>
          </p:cNvPr>
          <p:cNvGraphicFramePr>
            <a:graphicFrameLocks noGrp="1"/>
          </p:cNvGraphicFramePr>
          <p:nvPr/>
        </p:nvGraphicFramePr>
        <p:xfrm>
          <a:off x="4856520" y="2274030"/>
          <a:ext cx="1258728" cy="1090764"/>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3525861701"/>
                    </a:ext>
                  </a:extLst>
                </a:gridCol>
                <a:gridCol w="629364">
                  <a:extLst>
                    <a:ext uri="{9D8B030D-6E8A-4147-A177-3AD203B41FA5}">
                      <a16:colId xmlns:a16="http://schemas.microsoft.com/office/drawing/2014/main" val="3052193477"/>
                    </a:ext>
                  </a:extLst>
                </a:gridCol>
              </a:tblGrid>
              <a:tr h="545382">
                <a:tc>
                  <a:txBody>
                    <a:bodyPr/>
                    <a:lstStyle/>
                    <a:p>
                      <a:pPr algn="ctr"/>
                      <a:r>
                        <a:rPr lang="en-US" altLang="zh-CN" sz="2000" kern="1200" baseline="0" dirty="0">
                          <a:solidFill>
                            <a:schemeClr val="tx1"/>
                          </a:solidFill>
                          <a:latin typeface="+mn-lt"/>
                          <a:ea typeface="+mn-ea"/>
                          <a:cs typeface="+mn-cs"/>
                        </a:rPr>
                        <a:t>x3</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0</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71823337"/>
                  </a:ext>
                </a:extLst>
              </a:tr>
              <a:tr h="545382">
                <a:tc>
                  <a:txBody>
                    <a:bodyPr/>
                    <a:lstStyle/>
                    <a:p>
                      <a:pPr algn="ctr"/>
                      <a:r>
                        <a:rPr lang="en-US" altLang="zh-CN" sz="2000" kern="1200" baseline="0" dirty="0">
                          <a:solidFill>
                            <a:schemeClr val="tx1"/>
                          </a:solidFill>
                          <a:latin typeface="+mn-lt"/>
                          <a:ea typeface="+mn-ea"/>
                          <a:cs typeface="+mn-cs"/>
                        </a:rPr>
                        <a:t>x1</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kern="1200" baseline="0" dirty="0">
                          <a:solidFill>
                            <a:schemeClr val="tx1"/>
                          </a:solidFill>
                          <a:latin typeface="+mn-lt"/>
                          <a:ea typeface="+mn-ea"/>
                          <a:cs typeface="+mn-cs"/>
                        </a:rPr>
                        <a:t>-2</a:t>
                      </a:r>
                      <a:endParaRPr lang="zh-CN" altLang="en-US" sz="20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08687177"/>
                  </a:ext>
                </a:extLst>
              </a:tr>
            </a:tbl>
          </a:graphicData>
        </a:graphic>
      </p:graphicFrame>
      <mc:AlternateContent xmlns:mc="http://schemas.openxmlformats.org/markup-compatibility/2006" xmlns:a14="http://schemas.microsoft.com/office/drawing/2010/main">
        <mc:Choice Requires="a14">
          <p:graphicFrame>
            <p:nvGraphicFramePr>
              <p:cNvPr id="34" name="表格 33">
                <a:extLst>
                  <a:ext uri="{FF2B5EF4-FFF2-40B4-BE49-F238E27FC236}">
                    <a16:creationId xmlns:a16="http://schemas.microsoft.com/office/drawing/2014/main" id="{1E29750C-4AF8-4927-89D9-F4CB9264CF62}"/>
                  </a:ext>
                </a:extLst>
              </p:cNvPr>
              <p:cNvGraphicFramePr>
                <a:graphicFrameLocks noGrp="1"/>
              </p:cNvGraphicFramePr>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34" name="表格 33">
                <a:extLst>
                  <a:ext uri="{FF2B5EF4-FFF2-40B4-BE49-F238E27FC236}">
                    <a16:creationId xmlns:a16="http://schemas.microsoft.com/office/drawing/2014/main" id="{1E29750C-4AF8-4927-89D9-F4CB9264CF62}"/>
                  </a:ext>
                </a:extLst>
              </p:cNvPr>
              <p:cNvGraphicFramePr>
                <a:graphicFrameLocks noGrp="1"/>
              </p:cNvGraphicFramePr>
              <p:nvPr>
                <p:extLst/>
              </p:nvPr>
            </p:nvGraphicFramePr>
            <p:xfrm>
              <a:off x="4845943" y="1162054"/>
              <a:ext cx="5034912" cy="2726910"/>
            </p:xfrm>
            <a:graphic>
              <a:graphicData uri="http://schemas.openxmlformats.org/drawingml/2006/table">
                <a:tbl>
                  <a:tblPr firstRow="1" bandRow="1">
                    <a:tableStyleId>{5940675A-B579-460E-94D1-54222C63F5DA}</a:tableStyleId>
                  </a:tblPr>
                  <a:tblGrid>
                    <a:gridCol w="629364">
                      <a:extLst>
                        <a:ext uri="{9D8B030D-6E8A-4147-A177-3AD203B41FA5}">
                          <a16:colId xmlns:a16="http://schemas.microsoft.com/office/drawing/2014/main" val="798769453"/>
                        </a:ext>
                      </a:extLst>
                    </a:gridCol>
                    <a:gridCol w="629364">
                      <a:extLst>
                        <a:ext uri="{9D8B030D-6E8A-4147-A177-3AD203B41FA5}">
                          <a16:colId xmlns:a16="http://schemas.microsoft.com/office/drawing/2014/main" val="560815571"/>
                        </a:ext>
                      </a:extLst>
                    </a:gridCol>
                    <a:gridCol w="629364">
                      <a:extLst>
                        <a:ext uri="{9D8B030D-6E8A-4147-A177-3AD203B41FA5}">
                          <a16:colId xmlns:a16="http://schemas.microsoft.com/office/drawing/2014/main" val="1052753358"/>
                        </a:ext>
                      </a:extLst>
                    </a:gridCol>
                    <a:gridCol w="629364">
                      <a:extLst>
                        <a:ext uri="{9D8B030D-6E8A-4147-A177-3AD203B41FA5}">
                          <a16:colId xmlns:a16="http://schemas.microsoft.com/office/drawing/2014/main" val="1666935349"/>
                        </a:ext>
                      </a:extLst>
                    </a:gridCol>
                    <a:gridCol w="629364">
                      <a:extLst>
                        <a:ext uri="{9D8B030D-6E8A-4147-A177-3AD203B41FA5}">
                          <a16:colId xmlns:a16="http://schemas.microsoft.com/office/drawing/2014/main" val="1606338379"/>
                        </a:ext>
                      </a:extLst>
                    </a:gridCol>
                    <a:gridCol w="629364">
                      <a:extLst>
                        <a:ext uri="{9D8B030D-6E8A-4147-A177-3AD203B41FA5}">
                          <a16:colId xmlns:a16="http://schemas.microsoft.com/office/drawing/2014/main" val="3941924007"/>
                        </a:ext>
                      </a:extLst>
                    </a:gridCol>
                    <a:gridCol w="629364">
                      <a:extLst>
                        <a:ext uri="{9D8B030D-6E8A-4147-A177-3AD203B41FA5}">
                          <a16:colId xmlns:a16="http://schemas.microsoft.com/office/drawing/2014/main" val="281621817"/>
                        </a:ext>
                      </a:extLst>
                    </a:gridCol>
                    <a:gridCol w="629364">
                      <a:extLst>
                        <a:ext uri="{9D8B030D-6E8A-4147-A177-3AD203B41FA5}">
                          <a16:colId xmlns:a16="http://schemas.microsoft.com/office/drawing/2014/main" val="350154188"/>
                        </a:ext>
                      </a:extLst>
                    </a:gridCol>
                  </a:tblGrid>
                  <a:tr h="545382">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597115" t="-559" r="-100962" b="-151955"/>
                          </a:stretch>
                        </a:blipFill>
                      </a:tcPr>
                    </a:tc>
                    <a:tc rowSpan="2">
                      <a:txBody>
                        <a:bodyPr/>
                        <a:lstStyle/>
                        <a:p>
                          <a:endParaRPr lang="zh-CN"/>
                        </a:p>
                      </a:txBody>
                      <a:tcPr anchor="ctr">
                        <a:blipFill>
                          <a:blip r:embed="rId5"/>
                          <a:stretch>
                            <a:fillRect l="-703883" t="-559" r="-1942" b="-151955"/>
                          </a:stretch>
                        </a:blipFill>
                      </a:tcPr>
                    </a:tc>
                    <a:extLst>
                      <a:ext uri="{0D108BD9-81ED-4DB2-BD59-A6C34878D82A}">
                        <a16:rowId xmlns:a16="http://schemas.microsoft.com/office/drawing/2014/main" val="3040994659"/>
                      </a:ext>
                    </a:extLst>
                  </a:tr>
                  <a:tr h="545382">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82">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82">
                    <a:tc gridSpan="2">
                      <a:txBody>
                        <a:bodyPr/>
                        <a:lstStyle/>
                        <a:p>
                          <a:endParaRPr lang="zh-CN"/>
                        </a:p>
                      </a:txBody>
                      <a:tcPr anchor="ctr">
                        <a:blipFill>
                          <a:blip r:embed="rId5"/>
                          <a:stretch>
                            <a:fillRect l="-483" t="-398889" r="-300483" b="-3333"/>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sp>
        <p:nvSpPr>
          <p:cNvPr id="35" name="矩形 34">
            <a:extLst>
              <a:ext uri="{FF2B5EF4-FFF2-40B4-BE49-F238E27FC236}">
                <a16:creationId xmlns:a16="http://schemas.microsoft.com/office/drawing/2014/main" id="{B9911BA7-CF8B-422A-A39E-508BA5F036BA}"/>
              </a:ext>
            </a:extLst>
          </p:cNvPr>
          <p:cNvSpPr/>
          <p:nvPr/>
        </p:nvSpPr>
        <p:spPr>
          <a:xfrm>
            <a:off x="6220684" y="3411036"/>
            <a:ext cx="327334" cy="400110"/>
          </a:xfrm>
          <a:prstGeom prst="rect">
            <a:avLst/>
          </a:prstGeom>
        </p:spPr>
        <p:txBody>
          <a:bodyPr wrap="none">
            <a:spAutoFit/>
          </a:bodyPr>
          <a:lstStyle/>
          <a:p>
            <a:pPr algn="ctr"/>
            <a:r>
              <a:rPr lang="en-US" altLang="zh-CN" sz="2000" dirty="0"/>
              <a:t>0</a:t>
            </a:r>
            <a:endParaRPr lang="zh-CN" altLang="en-US" sz="2000" dirty="0"/>
          </a:p>
        </p:txBody>
      </p:sp>
      <p:sp>
        <p:nvSpPr>
          <p:cNvPr id="36" name="矩形 35">
            <a:extLst>
              <a:ext uri="{FF2B5EF4-FFF2-40B4-BE49-F238E27FC236}">
                <a16:creationId xmlns:a16="http://schemas.microsoft.com/office/drawing/2014/main" id="{A05DB081-DA23-44C5-ADE5-7EA14750889D}"/>
              </a:ext>
            </a:extLst>
          </p:cNvPr>
          <p:cNvSpPr/>
          <p:nvPr/>
        </p:nvSpPr>
        <p:spPr>
          <a:xfrm>
            <a:off x="6825208" y="3411036"/>
            <a:ext cx="412292" cy="400110"/>
          </a:xfrm>
          <a:prstGeom prst="rect">
            <a:avLst/>
          </a:prstGeom>
        </p:spPr>
        <p:txBody>
          <a:bodyPr wrap="none">
            <a:spAutoFit/>
          </a:bodyPr>
          <a:lstStyle/>
          <a:p>
            <a:pPr algn="ctr"/>
            <a:r>
              <a:rPr lang="en-US" altLang="zh-CN" sz="2000" dirty="0"/>
              <a:t>-6</a:t>
            </a:r>
            <a:endParaRPr lang="zh-CN" altLang="en-US" sz="2000" dirty="0"/>
          </a:p>
        </p:txBody>
      </p:sp>
      <p:sp>
        <p:nvSpPr>
          <p:cNvPr id="37" name="矩形 36">
            <a:extLst>
              <a:ext uri="{FF2B5EF4-FFF2-40B4-BE49-F238E27FC236}">
                <a16:creationId xmlns:a16="http://schemas.microsoft.com/office/drawing/2014/main" id="{EEBB0C1E-392C-4D4E-910E-FF2E1E219114}"/>
              </a:ext>
            </a:extLst>
          </p:cNvPr>
          <p:cNvSpPr/>
          <p:nvPr/>
        </p:nvSpPr>
        <p:spPr>
          <a:xfrm>
            <a:off x="7514689" y="3411036"/>
            <a:ext cx="327333" cy="400110"/>
          </a:xfrm>
          <a:prstGeom prst="rect">
            <a:avLst/>
          </a:prstGeom>
        </p:spPr>
        <p:txBody>
          <a:bodyPr wrap="none">
            <a:spAutoFit/>
          </a:bodyPr>
          <a:lstStyle/>
          <a:p>
            <a:pPr algn="ctr"/>
            <a:r>
              <a:rPr lang="en-US" altLang="zh-CN" sz="2000" dirty="0"/>
              <a:t>0</a:t>
            </a:r>
            <a:endParaRPr lang="zh-CN" altLang="en-US" sz="2000" dirty="0"/>
          </a:p>
        </p:txBody>
      </p:sp>
      <p:sp>
        <p:nvSpPr>
          <p:cNvPr id="38" name="矩形 37">
            <a:extLst>
              <a:ext uri="{FF2B5EF4-FFF2-40B4-BE49-F238E27FC236}">
                <a16:creationId xmlns:a16="http://schemas.microsoft.com/office/drawing/2014/main" id="{ACE7171A-5821-4B6A-9A23-8296EE291E08}"/>
              </a:ext>
            </a:extLst>
          </p:cNvPr>
          <p:cNvSpPr/>
          <p:nvPr/>
        </p:nvSpPr>
        <p:spPr>
          <a:xfrm>
            <a:off x="8106360" y="3407761"/>
            <a:ext cx="327333" cy="400110"/>
          </a:xfrm>
          <a:prstGeom prst="rect">
            <a:avLst/>
          </a:prstGeom>
        </p:spPr>
        <p:txBody>
          <a:bodyPr wrap="none">
            <a:spAutoFit/>
          </a:bodyPr>
          <a:lstStyle/>
          <a:p>
            <a:pPr algn="ctr"/>
            <a:r>
              <a:rPr lang="en-US" altLang="zh-CN" sz="2000" dirty="0"/>
              <a:t>1</a:t>
            </a:r>
            <a:endParaRPr lang="zh-CN" altLang="en-US" sz="2000"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87D5048-B64F-420A-8CED-3FC98AD2EADB}"/>
                  </a:ext>
                </a:extLst>
              </p:cNvPr>
              <p:cNvSpPr/>
              <p:nvPr/>
            </p:nvSpPr>
            <p:spPr>
              <a:xfrm>
                <a:off x="-46980" y="1152106"/>
                <a:ext cx="4953000" cy="2729273"/>
              </a:xfrm>
              <a:prstGeom prst="rect">
                <a:avLst/>
              </a:prstGeom>
            </p:spPr>
            <p:txBody>
              <a:bodyPr>
                <a:spAutoFit/>
              </a:bodyPr>
              <a:lstStyle/>
              <a:p>
                <a:r>
                  <a:rPr lang="en-US" altLang="zh-CN" sz="2400" dirty="0"/>
                  <a:t>10. </a:t>
                </a:r>
                <a:r>
                  <a:rPr lang="zh-CN" altLang="en-US" sz="2400" dirty="0"/>
                  <a:t>确定进基变量和离基变量</a:t>
                </a:r>
                <a:endParaRPr lang="en-US" altLang="zh-CN" sz="2400" dirty="0"/>
              </a:p>
              <a:p>
                <a:pPr marL="800100" lvl="1" indent="-342900">
                  <a:buFont typeface="+mj-ea"/>
                  <a:buAutoNum type="circleNumDbPlain"/>
                </a:pPr>
                <a:r>
                  <a:rPr lang="zh-CN" altLang="en-US" sz="2400" dirty="0"/>
                  <a:t>找到</a:t>
                </a:r>
                <a:r>
                  <a:rPr lang="zh-CN" altLang="en-US" sz="2400" b="1" dirty="0">
                    <a:solidFill>
                      <a:srgbClr val="FF0000"/>
                    </a:solidFill>
                  </a:rPr>
                  <a:t>判别数𝜎 最小</a:t>
                </a:r>
                <a:r>
                  <a:rPr lang="zh-CN" altLang="en-US" sz="2400" dirty="0"/>
                  <a:t>（负数绝对值最大）的那一列对应的变量，确定它为进基变量</a:t>
                </a:r>
                <a:endParaRPr lang="en-US" altLang="zh-CN" sz="2400" dirty="0"/>
              </a:p>
              <a:p>
                <a:pPr marL="800100" lvl="1" indent="-342900">
                  <a:buFont typeface="+mj-ea"/>
                  <a:buAutoNum type="circleNumDbPlain"/>
                </a:pPr>
                <a:endParaRPr lang="en-US" altLang="zh-CN" sz="2400" dirty="0"/>
              </a:p>
              <a:p>
                <a:pPr marL="800100" lvl="1" indent="-342900">
                  <a:buFont typeface="+mj-ea"/>
                  <a:buAutoNum type="circleNumDbPlain"/>
                </a:pPr>
                <a:endParaRPr lang="en-US" altLang="zh-CN" sz="2400" dirty="0"/>
              </a:p>
              <a:p>
                <a:pPr marL="800100" lvl="1" indent="-342900">
                  <a:buFont typeface="+mj-ea"/>
                  <a:buAutoNum type="circleNumDbPlain"/>
                </a:pPr>
                <a:r>
                  <a:rPr lang="zh-CN" altLang="en-US" sz="2400" dirty="0"/>
                  <a:t>计算替换系数</a:t>
                </a:r>
                <a14:m>
                  <m:oMath xmlns:m="http://schemas.openxmlformats.org/officeDocument/2006/math">
                    <m:r>
                      <a:rPr lang="en-US" altLang="zh-CN" sz="2800" i="1" dirty="0">
                        <a:latin typeface="Cambria Math" panose="02040503050406030204" pitchFamily="18" charset="0"/>
                      </a:rPr>
                      <m:t>𝑞</m:t>
                    </m:r>
                  </m:oMath>
                </a14:m>
                <a:r>
                  <a:rPr lang="zh-CN" altLang="en-US" sz="2400" dirty="0"/>
                  <a:t>：</a:t>
                </a:r>
                <a:endParaRPr lang="en-US" altLang="zh-CN" sz="2400" dirty="0"/>
              </a:p>
            </p:txBody>
          </p:sp>
        </mc:Choice>
        <mc:Fallback xmlns="">
          <p:sp>
            <p:nvSpPr>
              <p:cNvPr id="3" name="矩形 2">
                <a:extLst>
                  <a:ext uri="{FF2B5EF4-FFF2-40B4-BE49-F238E27FC236}">
                    <a16:creationId xmlns:a16="http://schemas.microsoft.com/office/drawing/2014/main" id="{087D5048-B64F-420A-8CED-3FC98AD2EADB}"/>
                  </a:ext>
                </a:extLst>
              </p:cNvPr>
              <p:cNvSpPr>
                <a:spLocks noRot="1" noChangeAspect="1" noMove="1" noResize="1" noEditPoints="1" noAdjustHandles="1" noChangeArrowheads="1" noChangeShapeType="1" noTextEdit="1"/>
              </p:cNvSpPr>
              <p:nvPr/>
            </p:nvSpPr>
            <p:spPr>
              <a:xfrm>
                <a:off x="-46980" y="1152106"/>
                <a:ext cx="4953000" cy="2729273"/>
              </a:xfrm>
              <a:prstGeom prst="rect">
                <a:avLst/>
              </a:prstGeom>
              <a:blipFill>
                <a:blip r:embed="rId6"/>
                <a:stretch>
                  <a:fillRect l="-1845" t="-1786" r="-1722"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269FAE3C-0C6A-414B-8028-75D4C5AD840B}"/>
                  </a:ext>
                </a:extLst>
              </p:cNvPr>
              <p:cNvSpPr/>
              <p:nvPr/>
            </p:nvSpPr>
            <p:spPr>
              <a:xfrm>
                <a:off x="846640" y="2813420"/>
                <a:ext cx="3322833" cy="461665"/>
              </a:xfrm>
              <a:prstGeom prst="rect">
                <a:avLst/>
              </a:prstGeom>
              <a:solidFill>
                <a:srgbClr val="FFFF66"/>
              </a:solidFill>
              <a:ln>
                <a:solidFill>
                  <a:schemeClr val="tx1"/>
                </a:solidFill>
              </a:ln>
            </p:spPr>
            <p:txBody>
              <a:bodyPr wrap="none">
                <a:spAutoFit/>
              </a:bodyPr>
              <a:lstStyle/>
              <a:p>
                <a:pPr algn="ctr"/>
                <a14:m>
                  <m:oMath xmlns:m="http://schemas.openxmlformats.org/officeDocument/2006/math">
                    <m:r>
                      <a:rPr lang="en-US" altLang="zh-CN" sz="2400" i="1" dirty="0" smtClean="0">
                        <a:latin typeface="Cambria Math" panose="02040503050406030204" pitchFamily="18" charset="0"/>
                      </a:rPr>
                      <m:t>𝑥</m:t>
                    </m:r>
                    <m:r>
                      <a:rPr lang="en-US" altLang="zh-CN" sz="2400" b="0" i="1" baseline="-25000" dirty="0" smtClean="0">
                        <a:latin typeface="Cambria Math" panose="02040503050406030204" pitchFamily="18" charset="0"/>
                      </a:rPr>
                      <m:t>2</m:t>
                    </m:r>
                  </m:oMath>
                </a14:m>
                <a:r>
                  <a:rPr lang="zh-CN" altLang="en-US" sz="2400" dirty="0"/>
                  <a:t>是进基变量，记为</a:t>
                </a:r>
                <a14:m>
                  <m:oMath xmlns:m="http://schemas.openxmlformats.org/officeDocument/2006/math">
                    <m:r>
                      <a:rPr lang="en-US" altLang="zh-CN" sz="2400" i="1" dirty="0">
                        <a:latin typeface="Cambria Math" panose="02040503050406030204" pitchFamily="18" charset="0"/>
                      </a:rPr>
                      <m:t>𝑥</m:t>
                    </m:r>
                    <m:r>
                      <a:rPr lang="en-US" altLang="zh-CN" sz="2400" b="0" i="1" baseline="-25000" dirty="0" smtClean="0">
                        <a:latin typeface="Cambria Math" panose="02040503050406030204" pitchFamily="18" charset="0"/>
                      </a:rPr>
                      <m:t>𝑎</m:t>
                    </m:r>
                  </m:oMath>
                </a14:m>
                <a:endParaRPr lang="zh-CN" altLang="en-US" sz="2400" baseline="-25000" dirty="0"/>
              </a:p>
            </p:txBody>
          </p:sp>
        </mc:Choice>
        <mc:Fallback xmlns="">
          <p:sp>
            <p:nvSpPr>
              <p:cNvPr id="27" name="矩形 26">
                <a:extLst>
                  <a:ext uri="{FF2B5EF4-FFF2-40B4-BE49-F238E27FC236}">
                    <a16:creationId xmlns:a16="http://schemas.microsoft.com/office/drawing/2014/main" id="{269FAE3C-0C6A-414B-8028-75D4C5AD840B}"/>
                  </a:ext>
                </a:extLst>
              </p:cNvPr>
              <p:cNvSpPr>
                <a:spLocks noRot="1" noChangeAspect="1" noMove="1" noResize="1" noEditPoints="1" noAdjustHandles="1" noChangeArrowheads="1" noChangeShapeType="1" noTextEdit="1"/>
              </p:cNvSpPr>
              <p:nvPr/>
            </p:nvSpPr>
            <p:spPr>
              <a:xfrm>
                <a:off x="846640" y="2813420"/>
                <a:ext cx="3322833" cy="461665"/>
              </a:xfrm>
              <a:prstGeom prst="rect">
                <a:avLst/>
              </a:prstGeom>
              <a:blipFill>
                <a:blip r:embed="rId7"/>
                <a:stretch>
                  <a:fillRect t="-9091" b="-28571"/>
                </a:stretch>
              </a:blipFill>
              <a:ln>
                <a:solidFill>
                  <a:schemeClr val="tx1"/>
                </a:solidFill>
              </a:ln>
            </p:spPr>
            <p:txBody>
              <a:bodyPr/>
              <a:lstStyle/>
              <a:p>
                <a:r>
                  <a:rPr lang="zh-CN" altLang="en-US">
                    <a:noFill/>
                  </a:rPr>
                  <a:t> </a:t>
                </a:r>
              </a:p>
            </p:txBody>
          </p:sp>
        </mc:Fallback>
      </mc:AlternateContent>
      <p:graphicFrame>
        <p:nvGraphicFramePr>
          <p:cNvPr id="28" name="对象 27">
            <a:extLst>
              <a:ext uri="{FF2B5EF4-FFF2-40B4-BE49-F238E27FC236}">
                <a16:creationId xmlns:a16="http://schemas.microsoft.com/office/drawing/2014/main" id="{F3B3C974-6817-434F-8EDA-B12B0E568D71}"/>
              </a:ext>
            </a:extLst>
          </p:cNvPr>
          <p:cNvGraphicFramePr>
            <a:graphicFrameLocks noChangeAspect="1"/>
          </p:cNvGraphicFramePr>
          <p:nvPr>
            <p:extLst>
              <p:ext uri="{D42A27DB-BD31-4B8C-83A1-F6EECF244321}">
                <p14:modId xmlns:p14="http://schemas.microsoft.com/office/powerpoint/2010/main" val="3431226944"/>
              </p:ext>
            </p:extLst>
          </p:nvPr>
        </p:nvGraphicFramePr>
        <p:xfrm>
          <a:off x="704528" y="3881379"/>
          <a:ext cx="3027362" cy="1333501"/>
        </p:xfrm>
        <a:graphic>
          <a:graphicData uri="http://schemas.openxmlformats.org/presentationml/2006/ole">
            <mc:AlternateContent xmlns:mc="http://schemas.openxmlformats.org/markup-compatibility/2006">
              <mc:Choice xmlns:v="urn:schemas-microsoft-com:vml" Requires="v">
                <p:oleObj name="Equation" r:id="rId8" imgW="1333440" imgH="583920" progId="Equation.DSMT4">
                  <p:embed/>
                </p:oleObj>
              </mc:Choice>
              <mc:Fallback>
                <p:oleObj name="Equation" r:id="rId8" imgW="1333440" imgH="583920" progId="Equation.DSMT4">
                  <p:embed/>
                  <p:pic>
                    <p:nvPicPr>
                      <p:cNvPr id="27" name="对象 26">
                        <a:extLst>
                          <a:ext uri="{FF2B5EF4-FFF2-40B4-BE49-F238E27FC236}">
                            <a16:creationId xmlns:a16="http://schemas.microsoft.com/office/drawing/2014/main" id="{0B6FDB8E-5D6C-4EEE-9882-9E519E01F990}"/>
                          </a:ext>
                        </a:extLst>
                      </p:cNvPr>
                      <p:cNvPicPr/>
                      <p:nvPr/>
                    </p:nvPicPr>
                    <p:blipFill>
                      <a:blip r:embed="rId9"/>
                      <a:stretch>
                        <a:fillRect/>
                      </a:stretch>
                    </p:blipFill>
                    <p:spPr>
                      <a:xfrm>
                        <a:off x="704528" y="3881379"/>
                        <a:ext cx="3027362" cy="1333501"/>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2CC959B6-5669-4CA0-B286-CCBAF3FB04CE}"/>
              </a:ext>
            </a:extLst>
          </p:cNvPr>
          <p:cNvGraphicFramePr>
            <a:graphicFrameLocks noChangeAspect="1"/>
          </p:cNvGraphicFramePr>
          <p:nvPr>
            <p:extLst>
              <p:ext uri="{D42A27DB-BD31-4B8C-83A1-F6EECF244321}">
                <p14:modId xmlns:p14="http://schemas.microsoft.com/office/powerpoint/2010/main" val="3013943243"/>
              </p:ext>
            </p:extLst>
          </p:nvPr>
        </p:nvGraphicFramePr>
        <p:xfrm>
          <a:off x="700934" y="5152148"/>
          <a:ext cx="2827337" cy="1333500"/>
        </p:xfrm>
        <a:graphic>
          <a:graphicData uri="http://schemas.openxmlformats.org/presentationml/2006/ole">
            <mc:AlternateContent xmlns:mc="http://schemas.openxmlformats.org/markup-compatibility/2006">
              <mc:Choice xmlns:v="urn:schemas-microsoft-com:vml" Requires="v">
                <p:oleObj name="Equation" r:id="rId10" imgW="1244520" imgH="583920" progId="Equation.DSMT4">
                  <p:embed/>
                </p:oleObj>
              </mc:Choice>
              <mc:Fallback>
                <p:oleObj name="Equation" r:id="rId10" imgW="1244520" imgH="583920" progId="Equation.DSMT4">
                  <p:embed/>
                  <p:pic>
                    <p:nvPicPr>
                      <p:cNvPr id="28" name="对象 27">
                        <a:extLst>
                          <a:ext uri="{FF2B5EF4-FFF2-40B4-BE49-F238E27FC236}">
                            <a16:creationId xmlns:a16="http://schemas.microsoft.com/office/drawing/2014/main" id="{F3B3C974-6817-434F-8EDA-B12B0E568D71}"/>
                          </a:ext>
                        </a:extLst>
                      </p:cNvPr>
                      <p:cNvPicPr/>
                      <p:nvPr/>
                    </p:nvPicPr>
                    <p:blipFill>
                      <a:blip r:embed="rId11"/>
                      <a:stretch>
                        <a:fillRect/>
                      </a:stretch>
                    </p:blipFill>
                    <p:spPr>
                      <a:xfrm>
                        <a:off x="700934" y="5152148"/>
                        <a:ext cx="2827337" cy="13335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90196F59-3FAA-4A10-A1B4-D05362708E3D}"/>
                  </a:ext>
                </a:extLst>
              </p:cNvPr>
              <p:cNvSpPr/>
              <p:nvPr/>
            </p:nvSpPr>
            <p:spPr>
              <a:xfrm>
                <a:off x="9380182" y="2291348"/>
                <a:ext cx="43794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Cambria Math" panose="02040503050406030204" pitchFamily="18" charset="0"/>
                        </a:rPr>
                        <m:t>×</m:t>
                      </m:r>
                    </m:oMath>
                  </m:oMathPara>
                </a14:m>
                <a:endParaRPr lang="zh-CN" altLang="en-US" sz="2000" dirty="0"/>
              </a:p>
            </p:txBody>
          </p:sp>
        </mc:Choice>
        <mc:Fallback xmlns="">
          <p:sp>
            <p:nvSpPr>
              <p:cNvPr id="39" name="矩形 38">
                <a:extLst>
                  <a:ext uri="{FF2B5EF4-FFF2-40B4-BE49-F238E27FC236}">
                    <a16:creationId xmlns:a16="http://schemas.microsoft.com/office/drawing/2014/main" id="{90196F59-3FAA-4A10-A1B4-D05362708E3D}"/>
                  </a:ext>
                </a:extLst>
              </p:cNvPr>
              <p:cNvSpPr>
                <a:spLocks noRot="1" noChangeAspect="1" noMove="1" noResize="1" noEditPoints="1" noAdjustHandles="1" noChangeArrowheads="1" noChangeShapeType="1" noTextEdit="1"/>
              </p:cNvSpPr>
              <p:nvPr/>
            </p:nvSpPr>
            <p:spPr>
              <a:xfrm>
                <a:off x="9380182" y="2291348"/>
                <a:ext cx="437940" cy="40011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877F54B0-F0F6-4091-943A-F5E2A905568C}"/>
                  </a:ext>
                </a:extLst>
              </p:cNvPr>
              <p:cNvSpPr/>
              <p:nvPr/>
            </p:nvSpPr>
            <p:spPr>
              <a:xfrm>
                <a:off x="9361003" y="2857242"/>
                <a:ext cx="43794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Cambria Math" panose="02040503050406030204" pitchFamily="18" charset="0"/>
                        </a:rPr>
                        <m:t>×</m:t>
                      </m:r>
                    </m:oMath>
                  </m:oMathPara>
                </a14:m>
                <a:endParaRPr lang="zh-CN" altLang="en-US" sz="2000" dirty="0"/>
              </a:p>
            </p:txBody>
          </p:sp>
        </mc:Choice>
        <mc:Fallback xmlns="">
          <p:sp>
            <p:nvSpPr>
              <p:cNvPr id="40" name="矩形 39">
                <a:extLst>
                  <a:ext uri="{FF2B5EF4-FFF2-40B4-BE49-F238E27FC236}">
                    <a16:creationId xmlns:a16="http://schemas.microsoft.com/office/drawing/2014/main" id="{877F54B0-F0F6-4091-943A-F5E2A905568C}"/>
                  </a:ext>
                </a:extLst>
              </p:cNvPr>
              <p:cNvSpPr>
                <a:spLocks noRot="1" noChangeAspect="1" noMove="1" noResize="1" noEditPoints="1" noAdjustHandles="1" noChangeArrowheads="1" noChangeShapeType="1" noTextEdit="1"/>
              </p:cNvSpPr>
              <p:nvPr/>
            </p:nvSpPr>
            <p:spPr>
              <a:xfrm>
                <a:off x="9361003" y="2857242"/>
                <a:ext cx="437940" cy="400110"/>
              </a:xfrm>
              <a:prstGeom prst="rect">
                <a:avLst/>
              </a:prstGeom>
              <a:blipFill>
                <a:blip r:embed="rId13"/>
                <a:stretch>
                  <a:fillRect/>
                </a:stretch>
              </a:blipFill>
            </p:spPr>
            <p:txBody>
              <a:bodyPr/>
              <a:lstStyle/>
              <a:p>
                <a:r>
                  <a:rPr lang="zh-CN" altLang="en-US">
                    <a:noFill/>
                  </a:rPr>
                  <a:t> </a:t>
                </a:r>
              </a:p>
            </p:txBody>
          </p:sp>
        </mc:Fallback>
      </mc:AlternateContent>
      <p:sp>
        <p:nvSpPr>
          <p:cNvPr id="41" name="矩形 40">
            <a:extLst>
              <a:ext uri="{FF2B5EF4-FFF2-40B4-BE49-F238E27FC236}">
                <a16:creationId xmlns:a16="http://schemas.microsoft.com/office/drawing/2014/main" id="{45DF65A1-D231-4ABD-A65D-3887B9D8287C}"/>
              </a:ext>
            </a:extLst>
          </p:cNvPr>
          <p:cNvSpPr/>
          <p:nvPr/>
        </p:nvSpPr>
        <p:spPr>
          <a:xfrm>
            <a:off x="3783419" y="169185"/>
            <a:ext cx="6032023" cy="830997"/>
          </a:xfrm>
          <a:prstGeom prst="rect">
            <a:avLst/>
          </a:prstGeom>
          <a:solidFill>
            <a:srgbClr val="FFFF66"/>
          </a:solidFill>
          <a:ln>
            <a:solidFill>
              <a:schemeClr val="tx1"/>
            </a:solidFill>
          </a:ln>
        </p:spPr>
        <p:txBody>
          <a:bodyPr wrap="square">
            <a:spAutoFit/>
          </a:bodyPr>
          <a:lstStyle/>
          <a:p>
            <a:r>
              <a:rPr lang="zh-CN" altLang="en-US" sz="2400" b="1" dirty="0">
                <a:solidFill>
                  <a:srgbClr val="C00000"/>
                </a:solidFill>
              </a:rPr>
              <a:t>所有的</a:t>
            </a:r>
            <a:r>
              <a:rPr lang="en-US" altLang="zh-CN" sz="2400" b="1" dirty="0">
                <a:solidFill>
                  <a:srgbClr val="C00000"/>
                </a:solidFill>
              </a:rPr>
              <a:t>q</a:t>
            </a:r>
            <a:r>
              <a:rPr lang="zh-CN" altLang="en-US" sz="2400" b="1" dirty="0">
                <a:solidFill>
                  <a:srgbClr val="C00000"/>
                </a:solidFill>
              </a:rPr>
              <a:t>值都为负数（或者无意义），则该优化问题无最优解，也称为存在无界解。</a:t>
            </a:r>
          </a:p>
        </p:txBody>
      </p:sp>
    </p:spTree>
    <p:extLst>
      <p:ext uri="{BB962C8B-B14F-4D97-AF65-F5344CB8AC3E}">
        <p14:creationId xmlns:p14="http://schemas.microsoft.com/office/powerpoint/2010/main" val="2975935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anim calcmode="lin" valueType="num">
                                      <p:cBhvr additive="base">
                                        <p:cTn id="18" dur="500" fill="hold"/>
                                        <p:tgtEl>
                                          <p:spTgt spid="27"/>
                                        </p:tgtEl>
                                        <p:attrNameLst>
                                          <p:attrName>ppt_x</p:attrName>
                                        </p:attrNameLst>
                                      </p:cBhvr>
                                      <p:tavLst>
                                        <p:tav tm="0">
                                          <p:val>
                                            <p:strVal val="#ppt_x"/>
                                          </p:val>
                                        </p:tav>
                                        <p:tav tm="100000">
                                          <p:val>
                                            <p:strVal val="#ppt_x"/>
                                          </p:val>
                                        </p:tav>
                                      </p:tavLst>
                                    </p:anim>
                                    <p:anim calcmode="lin" valueType="num">
                                      <p:cBhvr additive="base">
                                        <p:cTn id="19"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 calcmode="lin" valueType="num">
                                      <p:cBhvr additive="base">
                                        <p:cTn id="30" dur="500" fill="hold"/>
                                        <p:tgtEl>
                                          <p:spTgt spid="28"/>
                                        </p:tgtEl>
                                        <p:attrNameLst>
                                          <p:attrName>ppt_x</p:attrName>
                                        </p:attrNameLst>
                                      </p:cBhvr>
                                      <p:tavLst>
                                        <p:tav tm="0">
                                          <p:val>
                                            <p:strVal val="#ppt_x"/>
                                          </p:val>
                                        </p:tav>
                                        <p:tav tm="100000">
                                          <p:val>
                                            <p:strVal val="#ppt_x"/>
                                          </p:val>
                                        </p:tav>
                                      </p:tavLst>
                                    </p:anim>
                                    <p:anim calcmode="lin" valueType="num">
                                      <p:cBhvr additive="base">
                                        <p:cTn id="31"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anim calcmode="lin" valueType="num">
                                      <p:cBhvr additive="base">
                                        <p:cTn id="36" dur="500" fill="hold"/>
                                        <p:tgtEl>
                                          <p:spTgt spid="39"/>
                                        </p:tgtEl>
                                        <p:attrNameLst>
                                          <p:attrName>ppt_x</p:attrName>
                                        </p:attrNameLst>
                                      </p:cBhvr>
                                      <p:tavLst>
                                        <p:tav tm="0">
                                          <p:val>
                                            <p:strVal val="#ppt_x"/>
                                          </p:val>
                                        </p:tav>
                                        <p:tav tm="100000">
                                          <p:val>
                                            <p:strVal val="#ppt_x"/>
                                          </p:val>
                                        </p:tav>
                                      </p:tavLst>
                                    </p:anim>
                                    <p:anim calcmode="lin" valueType="num">
                                      <p:cBhvr additive="base">
                                        <p:cTn id="37"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additive="base">
                                        <p:cTn id="42" dur="500" fill="hold"/>
                                        <p:tgtEl>
                                          <p:spTgt spid="29"/>
                                        </p:tgtEl>
                                        <p:attrNameLst>
                                          <p:attrName>ppt_x</p:attrName>
                                        </p:attrNameLst>
                                      </p:cBhvr>
                                      <p:tavLst>
                                        <p:tav tm="0">
                                          <p:val>
                                            <p:strVal val="#ppt_x"/>
                                          </p:val>
                                        </p:tav>
                                        <p:tav tm="100000">
                                          <p:val>
                                            <p:strVal val="#ppt_x"/>
                                          </p:val>
                                        </p:tav>
                                      </p:tavLst>
                                    </p:anim>
                                    <p:anim calcmode="lin" valueType="num">
                                      <p:cBhvr additive="base">
                                        <p:cTn id="43"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40"/>
                                        </p:tgtEl>
                                        <p:attrNameLst>
                                          <p:attrName>style.visibility</p:attrName>
                                        </p:attrNameLst>
                                      </p:cBhvr>
                                      <p:to>
                                        <p:strVal val="visible"/>
                                      </p:to>
                                    </p:set>
                                    <p:anim calcmode="lin" valueType="num">
                                      <p:cBhvr additive="base">
                                        <p:cTn id="48" dur="500" fill="hold"/>
                                        <p:tgtEl>
                                          <p:spTgt spid="40"/>
                                        </p:tgtEl>
                                        <p:attrNameLst>
                                          <p:attrName>ppt_x</p:attrName>
                                        </p:attrNameLst>
                                      </p:cBhvr>
                                      <p:tavLst>
                                        <p:tav tm="0">
                                          <p:val>
                                            <p:strVal val="#ppt_x"/>
                                          </p:val>
                                        </p:tav>
                                        <p:tav tm="100000">
                                          <p:val>
                                            <p:strVal val="#ppt_x"/>
                                          </p:val>
                                        </p:tav>
                                      </p:tavLst>
                                    </p:anim>
                                    <p:anim calcmode="lin" valueType="num">
                                      <p:cBhvr additive="base">
                                        <p:cTn id="4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41"/>
                                        </p:tgtEl>
                                        <p:attrNameLst>
                                          <p:attrName>style.visibility</p:attrName>
                                        </p:attrNameLst>
                                      </p:cBhvr>
                                      <p:to>
                                        <p:strVal val="visible"/>
                                      </p:to>
                                    </p:set>
                                    <p:anim calcmode="lin" valueType="num">
                                      <p:cBhvr additive="base">
                                        <p:cTn id="54" dur="500" fill="hold"/>
                                        <p:tgtEl>
                                          <p:spTgt spid="41"/>
                                        </p:tgtEl>
                                        <p:attrNameLst>
                                          <p:attrName>ppt_x</p:attrName>
                                        </p:attrNameLst>
                                      </p:cBhvr>
                                      <p:tavLst>
                                        <p:tav tm="0">
                                          <p:val>
                                            <p:strVal val="#ppt_x"/>
                                          </p:val>
                                        </p:tav>
                                        <p:tav tm="100000">
                                          <p:val>
                                            <p:strVal val="#ppt_x"/>
                                          </p:val>
                                        </p:tav>
                                      </p:tavLst>
                                    </p:anim>
                                    <p:anim calcmode="lin" valueType="num">
                                      <p:cBhvr additive="base">
                                        <p:cTn id="55"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9" grpId="0"/>
      <p:bldP spid="40" grpId="0"/>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E65DB8-8F87-4BB2-B5A4-D52D9FFB3DDB}"/>
              </a:ext>
            </a:extLst>
          </p:cNvPr>
          <p:cNvSpPr>
            <a:spLocks noGrp="1"/>
          </p:cNvSpPr>
          <p:nvPr>
            <p:ph type="title"/>
          </p:nvPr>
        </p:nvSpPr>
        <p:spPr/>
        <p:txBody>
          <a:bodyPr/>
          <a:lstStyle/>
          <a:p>
            <a:r>
              <a:rPr lang="zh-CN" altLang="en-US" dirty="0"/>
              <a:t>例</a:t>
            </a:r>
            <a:r>
              <a:rPr lang="en-US" altLang="zh-CN" dirty="0"/>
              <a:t>1</a:t>
            </a:r>
            <a:r>
              <a:rPr lang="zh-CN" altLang="en-US" dirty="0"/>
              <a:t>：图解法</a:t>
            </a:r>
          </a:p>
        </p:txBody>
      </p:sp>
      <p:sp>
        <p:nvSpPr>
          <p:cNvPr id="4" name="日期占位符 3">
            <a:extLst>
              <a:ext uri="{FF2B5EF4-FFF2-40B4-BE49-F238E27FC236}">
                <a16:creationId xmlns:a16="http://schemas.microsoft.com/office/drawing/2014/main" id="{0B912431-09E9-4776-BF67-A98276B26A17}"/>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6AAEDAF-AEB7-47BE-8E42-D3F1C3EEB2D1}"/>
              </a:ext>
            </a:extLst>
          </p:cNvPr>
          <p:cNvSpPr>
            <a:spLocks noGrp="1"/>
          </p:cNvSpPr>
          <p:nvPr>
            <p:ph type="sldNum" sz="quarter" idx="12"/>
          </p:nvPr>
        </p:nvSpPr>
        <p:spPr/>
        <p:txBody>
          <a:bodyPr/>
          <a:lstStyle/>
          <a:p>
            <a:fld id="{7AC79822-BC0D-4DE8-A7E5-90A3732A2B82}" type="slidenum">
              <a:rPr lang="zh-CN" altLang="en-US" smtClean="0"/>
              <a:pPr/>
              <a:t>15</a:t>
            </a:fld>
            <a:endParaRPr lang="en-US" altLang="zh-CN" dirty="0"/>
          </a:p>
        </p:txBody>
      </p:sp>
      <p:graphicFrame>
        <p:nvGraphicFramePr>
          <p:cNvPr id="6" name="对象 5">
            <a:extLst>
              <a:ext uri="{FF2B5EF4-FFF2-40B4-BE49-F238E27FC236}">
                <a16:creationId xmlns:a16="http://schemas.microsoft.com/office/drawing/2014/main" id="{10438459-57B2-4AC9-B1AF-D8C8EBB4FC36}"/>
              </a:ext>
            </a:extLst>
          </p:cNvPr>
          <p:cNvGraphicFramePr>
            <a:graphicFrameLocks noChangeAspect="1"/>
          </p:cNvGraphicFramePr>
          <p:nvPr>
            <p:extLst>
              <p:ext uri="{D42A27DB-BD31-4B8C-83A1-F6EECF244321}">
                <p14:modId xmlns:p14="http://schemas.microsoft.com/office/powerpoint/2010/main" val="2355858471"/>
              </p:ext>
            </p:extLst>
          </p:nvPr>
        </p:nvGraphicFramePr>
        <p:xfrm>
          <a:off x="5241032" y="4202655"/>
          <a:ext cx="4376273" cy="2597551"/>
        </p:xfrm>
        <a:graphic>
          <a:graphicData uri="http://schemas.openxmlformats.org/presentationml/2006/ole">
            <mc:AlternateContent xmlns:mc="http://schemas.openxmlformats.org/markup-compatibility/2006">
              <mc:Choice xmlns:v="urn:schemas-microsoft-com:vml" Requires="v">
                <p:oleObj name="Equation" r:id="rId2" imgW="1625400" imgH="965160" progId="Equation.DSMT4">
                  <p:embed/>
                </p:oleObj>
              </mc:Choice>
              <mc:Fallback>
                <p:oleObj name="Equation" r:id="rId2" imgW="1625400" imgH="9651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5241032" y="4202655"/>
                        <a:ext cx="4376273" cy="2597551"/>
                      </a:xfrm>
                      <a:prstGeom prst="rect">
                        <a:avLst/>
                      </a:prstGeom>
                      <a:ln w="28575">
                        <a:noFill/>
                      </a:ln>
                    </p:spPr>
                  </p:pic>
                </p:oleObj>
              </mc:Fallback>
            </mc:AlternateContent>
          </a:graphicData>
        </a:graphic>
      </p:graphicFrame>
      <p:cxnSp>
        <p:nvCxnSpPr>
          <p:cNvPr id="7" name="直接箭头连接符 6">
            <a:extLst>
              <a:ext uri="{FF2B5EF4-FFF2-40B4-BE49-F238E27FC236}">
                <a16:creationId xmlns:a16="http://schemas.microsoft.com/office/drawing/2014/main" id="{6B990DBD-A405-4719-877A-CCAA8362B1DD}"/>
              </a:ext>
            </a:extLst>
          </p:cNvPr>
          <p:cNvCxnSpPr>
            <a:cxnSpLocks/>
          </p:cNvCxnSpPr>
          <p:nvPr/>
        </p:nvCxnSpPr>
        <p:spPr bwMode="auto">
          <a:xfrm>
            <a:off x="0" y="4125398"/>
            <a:ext cx="6911180"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箭头连接符 7">
            <a:extLst>
              <a:ext uri="{FF2B5EF4-FFF2-40B4-BE49-F238E27FC236}">
                <a16:creationId xmlns:a16="http://schemas.microsoft.com/office/drawing/2014/main" id="{4DA87093-0F59-44B0-A53B-74118EF5C5F9}"/>
              </a:ext>
            </a:extLst>
          </p:cNvPr>
          <p:cNvCxnSpPr>
            <a:cxnSpLocks/>
          </p:cNvCxnSpPr>
          <p:nvPr/>
        </p:nvCxnSpPr>
        <p:spPr bwMode="auto">
          <a:xfrm flipV="1">
            <a:off x="2795648" y="1207229"/>
            <a:ext cx="0" cy="541753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文本框 8">
            <a:extLst>
              <a:ext uri="{FF2B5EF4-FFF2-40B4-BE49-F238E27FC236}">
                <a16:creationId xmlns:a16="http://schemas.microsoft.com/office/drawing/2014/main" id="{1E7B987C-9C73-4DB4-8036-B097690F2B29}"/>
              </a:ext>
            </a:extLst>
          </p:cNvPr>
          <p:cNvSpPr txBox="1"/>
          <p:nvPr/>
        </p:nvSpPr>
        <p:spPr>
          <a:xfrm>
            <a:off x="2367992" y="1207229"/>
            <a:ext cx="550198" cy="400110"/>
          </a:xfrm>
          <a:prstGeom prst="rect">
            <a:avLst/>
          </a:prstGeom>
          <a:noFill/>
        </p:spPr>
        <p:txBody>
          <a:bodyPr wrap="square" rtlCol="0">
            <a:spAutoFit/>
          </a:bodyPr>
          <a:lstStyle/>
          <a:p>
            <a:r>
              <a:rPr lang="en-US" altLang="zh-CN" sz="2000" dirty="0"/>
              <a:t>x2</a:t>
            </a:r>
            <a:endParaRPr lang="zh-CN" altLang="en-US" sz="2000" dirty="0"/>
          </a:p>
        </p:txBody>
      </p:sp>
      <p:sp>
        <p:nvSpPr>
          <p:cNvPr id="10" name="文本框 9">
            <a:extLst>
              <a:ext uri="{FF2B5EF4-FFF2-40B4-BE49-F238E27FC236}">
                <a16:creationId xmlns:a16="http://schemas.microsoft.com/office/drawing/2014/main" id="{655C8477-EE6B-49FB-BCFC-23C358F1805B}"/>
              </a:ext>
            </a:extLst>
          </p:cNvPr>
          <p:cNvSpPr txBox="1"/>
          <p:nvPr/>
        </p:nvSpPr>
        <p:spPr>
          <a:xfrm>
            <a:off x="2733337" y="4120586"/>
            <a:ext cx="428322" cy="400110"/>
          </a:xfrm>
          <a:prstGeom prst="rect">
            <a:avLst/>
          </a:prstGeom>
          <a:noFill/>
        </p:spPr>
        <p:txBody>
          <a:bodyPr wrap="square" rtlCol="0">
            <a:spAutoFit/>
          </a:bodyPr>
          <a:lstStyle/>
          <a:p>
            <a:r>
              <a:rPr lang="en-US" altLang="zh-CN" sz="2000" dirty="0"/>
              <a:t>O</a:t>
            </a:r>
            <a:endParaRPr lang="zh-CN" altLang="en-US" sz="2000" dirty="0"/>
          </a:p>
        </p:txBody>
      </p:sp>
      <p:sp>
        <p:nvSpPr>
          <p:cNvPr id="11" name="文本框 10">
            <a:extLst>
              <a:ext uri="{FF2B5EF4-FFF2-40B4-BE49-F238E27FC236}">
                <a16:creationId xmlns:a16="http://schemas.microsoft.com/office/drawing/2014/main" id="{5D00091B-215D-408C-AE8E-E55256F52AD3}"/>
              </a:ext>
            </a:extLst>
          </p:cNvPr>
          <p:cNvSpPr txBox="1"/>
          <p:nvPr/>
        </p:nvSpPr>
        <p:spPr>
          <a:xfrm>
            <a:off x="6490142" y="3730101"/>
            <a:ext cx="550198" cy="400110"/>
          </a:xfrm>
          <a:prstGeom prst="rect">
            <a:avLst/>
          </a:prstGeom>
          <a:noFill/>
        </p:spPr>
        <p:txBody>
          <a:bodyPr wrap="square" rtlCol="0">
            <a:spAutoFit/>
          </a:bodyPr>
          <a:lstStyle/>
          <a:p>
            <a:r>
              <a:rPr lang="en-US" altLang="zh-CN" sz="2000" dirty="0"/>
              <a:t>x1</a:t>
            </a:r>
            <a:endParaRPr lang="zh-CN" altLang="en-US" sz="2000" dirty="0"/>
          </a:p>
        </p:txBody>
      </p:sp>
      <p:cxnSp>
        <p:nvCxnSpPr>
          <p:cNvPr id="12" name="直接连接符 11">
            <a:extLst>
              <a:ext uri="{FF2B5EF4-FFF2-40B4-BE49-F238E27FC236}">
                <a16:creationId xmlns:a16="http://schemas.microsoft.com/office/drawing/2014/main" id="{B21BBD08-A344-4031-8B36-6025E44D7015}"/>
              </a:ext>
            </a:extLst>
          </p:cNvPr>
          <p:cNvCxnSpPr/>
          <p:nvPr/>
        </p:nvCxnSpPr>
        <p:spPr bwMode="auto">
          <a:xfrm flipH="1">
            <a:off x="676974" y="1496360"/>
            <a:ext cx="2952328" cy="3024336"/>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文本框 12">
            <a:extLst>
              <a:ext uri="{FF2B5EF4-FFF2-40B4-BE49-F238E27FC236}">
                <a16:creationId xmlns:a16="http://schemas.microsoft.com/office/drawing/2014/main" id="{7A32E401-319E-4892-B839-C9B5E2F79633}"/>
              </a:ext>
            </a:extLst>
          </p:cNvPr>
          <p:cNvSpPr txBox="1"/>
          <p:nvPr/>
        </p:nvSpPr>
        <p:spPr>
          <a:xfrm>
            <a:off x="2515505" y="3218911"/>
            <a:ext cx="550198" cy="400110"/>
          </a:xfrm>
          <a:prstGeom prst="rect">
            <a:avLst/>
          </a:prstGeom>
          <a:noFill/>
        </p:spPr>
        <p:txBody>
          <a:bodyPr wrap="square" rtlCol="0">
            <a:spAutoFit/>
          </a:bodyPr>
          <a:lstStyle/>
          <a:p>
            <a:r>
              <a:rPr lang="en-US" altLang="zh-CN" sz="2000" dirty="0"/>
              <a:t>2</a:t>
            </a:r>
            <a:endParaRPr lang="zh-CN" altLang="en-US" sz="2000" dirty="0"/>
          </a:p>
        </p:txBody>
      </p:sp>
      <p:sp>
        <p:nvSpPr>
          <p:cNvPr id="14" name="文本框 13">
            <a:extLst>
              <a:ext uri="{FF2B5EF4-FFF2-40B4-BE49-F238E27FC236}">
                <a16:creationId xmlns:a16="http://schemas.microsoft.com/office/drawing/2014/main" id="{589E86FD-B5FF-42B2-A143-910640E42A5A}"/>
              </a:ext>
            </a:extLst>
          </p:cNvPr>
          <p:cNvSpPr txBox="1"/>
          <p:nvPr/>
        </p:nvSpPr>
        <p:spPr>
          <a:xfrm>
            <a:off x="1838746" y="4120586"/>
            <a:ext cx="550198" cy="400110"/>
          </a:xfrm>
          <a:prstGeom prst="rect">
            <a:avLst/>
          </a:prstGeom>
          <a:noFill/>
        </p:spPr>
        <p:txBody>
          <a:bodyPr wrap="square" rtlCol="0">
            <a:spAutoFit/>
          </a:bodyPr>
          <a:lstStyle/>
          <a:p>
            <a:r>
              <a:rPr lang="en-US" altLang="zh-CN" sz="2000" dirty="0"/>
              <a:t>-2</a:t>
            </a:r>
            <a:endParaRPr lang="zh-CN" altLang="en-US" sz="2000" dirty="0"/>
          </a:p>
        </p:txBody>
      </p:sp>
      <p:sp>
        <p:nvSpPr>
          <p:cNvPr id="15" name="文本框 14">
            <a:extLst>
              <a:ext uri="{FF2B5EF4-FFF2-40B4-BE49-F238E27FC236}">
                <a16:creationId xmlns:a16="http://schemas.microsoft.com/office/drawing/2014/main" id="{EF911FA9-C97A-4855-BAFA-0D0D827B99EB}"/>
              </a:ext>
            </a:extLst>
          </p:cNvPr>
          <p:cNvSpPr txBox="1"/>
          <p:nvPr/>
        </p:nvSpPr>
        <p:spPr>
          <a:xfrm>
            <a:off x="3354203" y="4120586"/>
            <a:ext cx="550198" cy="400110"/>
          </a:xfrm>
          <a:prstGeom prst="rect">
            <a:avLst/>
          </a:prstGeom>
          <a:noFill/>
        </p:spPr>
        <p:txBody>
          <a:bodyPr wrap="square" rtlCol="0">
            <a:spAutoFit/>
          </a:bodyPr>
          <a:lstStyle/>
          <a:p>
            <a:r>
              <a:rPr lang="en-US" altLang="zh-CN" sz="2000" dirty="0"/>
              <a:t>2</a:t>
            </a:r>
            <a:endParaRPr lang="zh-CN" altLang="en-US" sz="2000" dirty="0"/>
          </a:p>
        </p:txBody>
      </p:sp>
      <p:sp>
        <p:nvSpPr>
          <p:cNvPr id="16" name="文本框 15">
            <a:extLst>
              <a:ext uri="{FF2B5EF4-FFF2-40B4-BE49-F238E27FC236}">
                <a16:creationId xmlns:a16="http://schemas.microsoft.com/office/drawing/2014/main" id="{F3EB1EAD-4446-446F-A24E-E2EE6C9FDF77}"/>
              </a:ext>
            </a:extLst>
          </p:cNvPr>
          <p:cNvSpPr txBox="1"/>
          <p:nvPr/>
        </p:nvSpPr>
        <p:spPr>
          <a:xfrm>
            <a:off x="2503771" y="2097458"/>
            <a:ext cx="550198" cy="400110"/>
          </a:xfrm>
          <a:prstGeom prst="rect">
            <a:avLst/>
          </a:prstGeom>
          <a:noFill/>
        </p:spPr>
        <p:txBody>
          <a:bodyPr wrap="square" rtlCol="0">
            <a:spAutoFit/>
          </a:bodyPr>
          <a:lstStyle/>
          <a:p>
            <a:r>
              <a:rPr lang="en-US" altLang="zh-CN" sz="2000" dirty="0"/>
              <a:t>5</a:t>
            </a:r>
            <a:endParaRPr lang="zh-CN" altLang="en-US" sz="2000" dirty="0"/>
          </a:p>
        </p:txBody>
      </p:sp>
      <p:sp>
        <p:nvSpPr>
          <p:cNvPr id="17" name="文本框 16">
            <a:extLst>
              <a:ext uri="{FF2B5EF4-FFF2-40B4-BE49-F238E27FC236}">
                <a16:creationId xmlns:a16="http://schemas.microsoft.com/office/drawing/2014/main" id="{3A06C459-E55C-4519-A42A-841650A6E38A}"/>
              </a:ext>
            </a:extLst>
          </p:cNvPr>
          <p:cNvSpPr txBox="1"/>
          <p:nvPr/>
        </p:nvSpPr>
        <p:spPr>
          <a:xfrm>
            <a:off x="3591420" y="1207229"/>
            <a:ext cx="1213950" cy="400110"/>
          </a:xfrm>
          <a:prstGeom prst="rect">
            <a:avLst/>
          </a:prstGeom>
          <a:noFill/>
        </p:spPr>
        <p:txBody>
          <a:bodyPr wrap="square" rtlCol="0">
            <a:spAutoFit/>
          </a:bodyPr>
          <a:lstStyle/>
          <a:p>
            <a:r>
              <a:rPr lang="en-US" altLang="zh-CN" sz="2000" dirty="0"/>
              <a:t>g1(x)=0</a:t>
            </a:r>
            <a:endParaRPr lang="zh-CN" altLang="en-US" sz="2000" dirty="0"/>
          </a:p>
        </p:txBody>
      </p:sp>
      <p:sp>
        <p:nvSpPr>
          <p:cNvPr id="18" name="文本框 17">
            <a:extLst>
              <a:ext uri="{FF2B5EF4-FFF2-40B4-BE49-F238E27FC236}">
                <a16:creationId xmlns:a16="http://schemas.microsoft.com/office/drawing/2014/main" id="{C015291D-57AB-40C7-9B9F-5EDBF7A23294}"/>
              </a:ext>
            </a:extLst>
          </p:cNvPr>
          <p:cNvSpPr txBox="1"/>
          <p:nvPr/>
        </p:nvSpPr>
        <p:spPr>
          <a:xfrm>
            <a:off x="5994050" y="3201810"/>
            <a:ext cx="1213950" cy="400110"/>
          </a:xfrm>
          <a:prstGeom prst="rect">
            <a:avLst/>
          </a:prstGeom>
          <a:noFill/>
        </p:spPr>
        <p:txBody>
          <a:bodyPr wrap="square" rtlCol="0">
            <a:spAutoFit/>
          </a:bodyPr>
          <a:lstStyle/>
          <a:p>
            <a:r>
              <a:rPr lang="en-US" altLang="zh-CN" sz="2000" dirty="0"/>
              <a:t>g2(x)=0</a:t>
            </a:r>
            <a:endParaRPr lang="zh-CN" altLang="en-US" sz="2000" dirty="0"/>
          </a:p>
        </p:txBody>
      </p:sp>
      <p:sp>
        <p:nvSpPr>
          <p:cNvPr id="38" name="文本框 37">
            <a:extLst>
              <a:ext uri="{FF2B5EF4-FFF2-40B4-BE49-F238E27FC236}">
                <a16:creationId xmlns:a16="http://schemas.microsoft.com/office/drawing/2014/main" id="{245BC830-9E1F-49E6-8B4E-038E0670295D}"/>
              </a:ext>
            </a:extLst>
          </p:cNvPr>
          <p:cNvSpPr txBox="1"/>
          <p:nvPr/>
        </p:nvSpPr>
        <p:spPr>
          <a:xfrm>
            <a:off x="908819" y="4120586"/>
            <a:ext cx="550198" cy="400110"/>
          </a:xfrm>
          <a:prstGeom prst="rect">
            <a:avLst/>
          </a:prstGeom>
          <a:noFill/>
        </p:spPr>
        <p:txBody>
          <a:bodyPr wrap="square" rtlCol="0">
            <a:spAutoFit/>
          </a:bodyPr>
          <a:lstStyle/>
          <a:p>
            <a:r>
              <a:rPr lang="en-US" altLang="zh-CN" sz="2000" dirty="0"/>
              <a:t>-5</a:t>
            </a:r>
            <a:endParaRPr lang="zh-CN" altLang="en-US" sz="2000" dirty="0"/>
          </a:p>
        </p:txBody>
      </p:sp>
      <p:cxnSp>
        <p:nvCxnSpPr>
          <p:cNvPr id="40" name="直接连接符 39">
            <a:extLst>
              <a:ext uri="{FF2B5EF4-FFF2-40B4-BE49-F238E27FC236}">
                <a16:creationId xmlns:a16="http://schemas.microsoft.com/office/drawing/2014/main" id="{71523B41-9DD8-45E5-8774-D06564BF59DB}"/>
              </a:ext>
            </a:extLst>
          </p:cNvPr>
          <p:cNvCxnSpPr>
            <a:cxnSpLocks/>
          </p:cNvCxnSpPr>
          <p:nvPr/>
        </p:nvCxnSpPr>
        <p:spPr bwMode="auto">
          <a:xfrm>
            <a:off x="1615966" y="2831654"/>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a:extLst>
              <a:ext uri="{FF2B5EF4-FFF2-40B4-BE49-F238E27FC236}">
                <a16:creationId xmlns:a16="http://schemas.microsoft.com/office/drawing/2014/main" id="{8A213D8F-36A4-4D8A-9CF1-3B42EECE6202}"/>
              </a:ext>
            </a:extLst>
          </p:cNvPr>
          <p:cNvCxnSpPr>
            <a:cxnSpLocks/>
          </p:cNvCxnSpPr>
          <p:nvPr/>
        </p:nvCxnSpPr>
        <p:spPr bwMode="auto">
          <a:xfrm>
            <a:off x="1377796" y="3078753"/>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a:extLst>
              <a:ext uri="{FF2B5EF4-FFF2-40B4-BE49-F238E27FC236}">
                <a16:creationId xmlns:a16="http://schemas.microsoft.com/office/drawing/2014/main" id="{64B10F6C-2E7D-485D-9857-6F0C01247055}"/>
              </a:ext>
            </a:extLst>
          </p:cNvPr>
          <p:cNvCxnSpPr>
            <a:cxnSpLocks/>
          </p:cNvCxnSpPr>
          <p:nvPr/>
        </p:nvCxnSpPr>
        <p:spPr bwMode="auto">
          <a:xfrm>
            <a:off x="1102697" y="3344130"/>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a:extLst>
              <a:ext uri="{FF2B5EF4-FFF2-40B4-BE49-F238E27FC236}">
                <a16:creationId xmlns:a16="http://schemas.microsoft.com/office/drawing/2014/main" id="{8479FB15-EAC4-4E64-B8D4-B08352299E5B}"/>
              </a:ext>
            </a:extLst>
          </p:cNvPr>
          <p:cNvCxnSpPr>
            <a:cxnSpLocks/>
          </p:cNvCxnSpPr>
          <p:nvPr/>
        </p:nvCxnSpPr>
        <p:spPr bwMode="auto">
          <a:xfrm>
            <a:off x="1910033" y="2521440"/>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a:extLst>
              <a:ext uri="{FF2B5EF4-FFF2-40B4-BE49-F238E27FC236}">
                <a16:creationId xmlns:a16="http://schemas.microsoft.com/office/drawing/2014/main" id="{14CF3CCA-3347-47FA-B7DE-919C23CCD09A}"/>
              </a:ext>
            </a:extLst>
          </p:cNvPr>
          <p:cNvCxnSpPr>
            <a:cxnSpLocks/>
          </p:cNvCxnSpPr>
          <p:nvPr/>
        </p:nvCxnSpPr>
        <p:spPr bwMode="auto">
          <a:xfrm>
            <a:off x="2122784" y="2308816"/>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46">
            <a:extLst>
              <a:ext uri="{FF2B5EF4-FFF2-40B4-BE49-F238E27FC236}">
                <a16:creationId xmlns:a16="http://schemas.microsoft.com/office/drawing/2014/main" id="{6C1CC4D4-BCC0-45B1-A8CF-0251D3E57458}"/>
              </a:ext>
            </a:extLst>
          </p:cNvPr>
          <p:cNvCxnSpPr>
            <a:cxnSpLocks/>
          </p:cNvCxnSpPr>
          <p:nvPr/>
        </p:nvCxnSpPr>
        <p:spPr bwMode="auto">
          <a:xfrm>
            <a:off x="892155" y="3626147"/>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a:extLst>
              <a:ext uri="{FF2B5EF4-FFF2-40B4-BE49-F238E27FC236}">
                <a16:creationId xmlns:a16="http://schemas.microsoft.com/office/drawing/2014/main" id="{BF45A972-C40E-4D9B-AE56-37EB135CC739}"/>
              </a:ext>
            </a:extLst>
          </p:cNvPr>
          <p:cNvCxnSpPr>
            <a:cxnSpLocks/>
          </p:cNvCxnSpPr>
          <p:nvPr/>
        </p:nvCxnSpPr>
        <p:spPr bwMode="auto">
          <a:xfrm>
            <a:off x="664264" y="3823760"/>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a:extLst>
              <a:ext uri="{FF2B5EF4-FFF2-40B4-BE49-F238E27FC236}">
                <a16:creationId xmlns:a16="http://schemas.microsoft.com/office/drawing/2014/main" id="{7E804B43-0BAD-471F-AA7A-7AE8DB790A86}"/>
              </a:ext>
            </a:extLst>
          </p:cNvPr>
          <p:cNvCxnSpPr>
            <a:cxnSpLocks/>
          </p:cNvCxnSpPr>
          <p:nvPr/>
        </p:nvCxnSpPr>
        <p:spPr bwMode="auto">
          <a:xfrm>
            <a:off x="2323152" y="2112786"/>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a:extLst>
              <a:ext uri="{FF2B5EF4-FFF2-40B4-BE49-F238E27FC236}">
                <a16:creationId xmlns:a16="http://schemas.microsoft.com/office/drawing/2014/main" id="{51678CE1-86B5-4703-8208-499DB51BDED4}"/>
              </a:ext>
            </a:extLst>
          </p:cNvPr>
          <p:cNvCxnSpPr>
            <a:cxnSpLocks/>
          </p:cNvCxnSpPr>
          <p:nvPr/>
        </p:nvCxnSpPr>
        <p:spPr bwMode="auto">
          <a:xfrm>
            <a:off x="2540984" y="1896470"/>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a:extLst>
              <a:ext uri="{FF2B5EF4-FFF2-40B4-BE49-F238E27FC236}">
                <a16:creationId xmlns:a16="http://schemas.microsoft.com/office/drawing/2014/main" id="{338719D3-7B9E-4B3D-8330-A460524EF3AB}"/>
              </a:ext>
            </a:extLst>
          </p:cNvPr>
          <p:cNvCxnSpPr>
            <a:cxnSpLocks/>
          </p:cNvCxnSpPr>
          <p:nvPr/>
        </p:nvCxnSpPr>
        <p:spPr bwMode="auto">
          <a:xfrm>
            <a:off x="2783036" y="1670060"/>
            <a:ext cx="384706" cy="3093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52">
            <a:extLst>
              <a:ext uri="{FF2B5EF4-FFF2-40B4-BE49-F238E27FC236}">
                <a16:creationId xmlns:a16="http://schemas.microsoft.com/office/drawing/2014/main" id="{940ED904-5E53-4A23-B7A3-92DAA08C843F}"/>
              </a:ext>
            </a:extLst>
          </p:cNvPr>
          <p:cNvCxnSpPr>
            <a:cxnSpLocks/>
          </p:cNvCxnSpPr>
          <p:nvPr/>
        </p:nvCxnSpPr>
        <p:spPr bwMode="auto">
          <a:xfrm flipH="1">
            <a:off x="1048970" y="3541078"/>
            <a:ext cx="4932468" cy="2054036"/>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文本框 53">
            <a:extLst>
              <a:ext uri="{FF2B5EF4-FFF2-40B4-BE49-F238E27FC236}">
                <a16:creationId xmlns:a16="http://schemas.microsoft.com/office/drawing/2014/main" id="{9EBA537D-F2B6-4B37-B3CA-398D6DB96ACF}"/>
              </a:ext>
            </a:extLst>
          </p:cNvPr>
          <p:cNvSpPr txBox="1"/>
          <p:nvPr/>
        </p:nvSpPr>
        <p:spPr>
          <a:xfrm>
            <a:off x="2744676" y="4911782"/>
            <a:ext cx="550198" cy="400110"/>
          </a:xfrm>
          <a:prstGeom prst="rect">
            <a:avLst/>
          </a:prstGeom>
          <a:noFill/>
        </p:spPr>
        <p:txBody>
          <a:bodyPr wrap="square" rtlCol="0">
            <a:spAutoFit/>
          </a:bodyPr>
          <a:lstStyle/>
          <a:p>
            <a:r>
              <a:rPr lang="en-US" altLang="zh-CN" sz="2000" dirty="0"/>
              <a:t>-2</a:t>
            </a:r>
            <a:endParaRPr lang="zh-CN" altLang="en-US" sz="2000" dirty="0"/>
          </a:p>
        </p:txBody>
      </p:sp>
      <p:sp>
        <p:nvSpPr>
          <p:cNvPr id="59" name="文本框 58">
            <a:extLst>
              <a:ext uri="{FF2B5EF4-FFF2-40B4-BE49-F238E27FC236}">
                <a16:creationId xmlns:a16="http://schemas.microsoft.com/office/drawing/2014/main" id="{9354CBB9-4533-482D-BC4E-1321BC9FB77A}"/>
              </a:ext>
            </a:extLst>
          </p:cNvPr>
          <p:cNvSpPr txBox="1"/>
          <p:nvPr/>
        </p:nvSpPr>
        <p:spPr>
          <a:xfrm>
            <a:off x="4457229" y="4123365"/>
            <a:ext cx="550198" cy="400110"/>
          </a:xfrm>
          <a:prstGeom prst="rect">
            <a:avLst/>
          </a:prstGeom>
          <a:noFill/>
        </p:spPr>
        <p:txBody>
          <a:bodyPr wrap="square" rtlCol="0">
            <a:spAutoFit/>
          </a:bodyPr>
          <a:lstStyle/>
          <a:p>
            <a:r>
              <a:rPr lang="en-US" altLang="zh-CN" sz="2000" dirty="0"/>
              <a:t>5</a:t>
            </a:r>
            <a:endParaRPr lang="zh-CN" altLang="en-US" sz="2000" dirty="0"/>
          </a:p>
        </p:txBody>
      </p:sp>
      <p:cxnSp>
        <p:nvCxnSpPr>
          <p:cNvPr id="60" name="直接连接符 59">
            <a:extLst>
              <a:ext uri="{FF2B5EF4-FFF2-40B4-BE49-F238E27FC236}">
                <a16:creationId xmlns:a16="http://schemas.microsoft.com/office/drawing/2014/main" id="{1B719CD9-A90B-43B1-93C5-05D2F3B0DFD3}"/>
              </a:ext>
            </a:extLst>
          </p:cNvPr>
          <p:cNvCxnSpPr>
            <a:cxnSpLocks/>
          </p:cNvCxnSpPr>
          <p:nvPr/>
        </p:nvCxnSpPr>
        <p:spPr bwMode="auto">
          <a:xfrm>
            <a:off x="3973866" y="4409360"/>
            <a:ext cx="156345" cy="3968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65">
            <a:extLst>
              <a:ext uri="{FF2B5EF4-FFF2-40B4-BE49-F238E27FC236}">
                <a16:creationId xmlns:a16="http://schemas.microsoft.com/office/drawing/2014/main" id="{751B743F-D781-4D42-BB1D-0ABFFFCCF344}"/>
              </a:ext>
            </a:extLst>
          </p:cNvPr>
          <p:cNvCxnSpPr>
            <a:cxnSpLocks/>
          </p:cNvCxnSpPr>
          <p:nvPr/>
        </p:nvCxnSpPr>
        <p:spPr bwMode="auto">
          <a:xfrm>
            <a:off x="3649465" y="4554765"/>
            <a:ext cx="156345" cy="3968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连接符 66">
            <a:extLst>
              <a:ext uri="{FF2B5EF4-FFF2-40B4-BE49-F238E27FC236}">
                <a16:creationId xmlns:a16="http://schemas.microsoft.com/office/drawing/2014/main" id="{561C8CDB-0B99-4518-AEBA-B55F65851FC9}"/>
              </a:ext>
            </a:extLst>
          </p:cNvPr>
          <p:cNvCxnSpPr>
            <a:cxnSpLocks/>
          </p:cNvCxnSpPr>
          <p:nvPr/>
        </p:nvCxnSpPr>
        <p:spPr bwMode="auto">
          <a:xfrm>
            <a:off x="3015882" y="4822334"/>
            <a:ext cx="156345" cy="3968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67">
            <a:extLst>
              <a:ext uri="{FF2B5EF4-FFF2-40B4-BE49-F238E27FC236}">
                <a16:creationId xmlns:a16="http://schemas.microsoft.com/office/drawing/2014/main" id="{61BC8A5A-FA96-4945-9751-FF7CAD3DB87E}"/>
              </a:ext>
            </a:extLst>
          </p:cNvPr>
          <p:cNvCxnSpPr>
            <a:cxnSpLocks/>
          </p:cNvCxnSpPr>
          <p:nvPr/>
        </p:nvCxnSpPr>
        <p:spPr bwMode="auto">
          <a:xfrm>
            <a:off x="3319196" y="4684981"/>
            <a:ext cx="156345" cy="3968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连接符 68">
            <a:extLst>
              <a:ext uri="{FF2B5EF4-FFF2-40B4-BE49-F238E27FC236}">
                <a16:creationId xmlns:a16="http://schemas.microsoft.com/office/drawing/2014/main" id="{B1ED013E-9CE2-4144-B971-0CDBEEF78992}"/>
              </a:ext>
            </a:extLst>
          </p:cNvPr>
          <p:cNvCxnSpPr>
            <a:cxnSpLocks/>
          </p:cNvCxnSpPr>
          <p:nvPr/>
        </p:nvCxnSpPr>
        <p:spPr bwMode="auto">
          <a:xfrm>
            <a:off x="4356838" y="4245836"/>
            <a:ext cx="156345" cy="3968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69">
            <a:extLst>
              <a:ext uri="{FF2B5EF4-FFF2-40B4-BE49-F238E27FC236}">
                <a16:creationId xmlns:a16="http://schemas.microsoft.com/office/drawing/2014/main" id="{E196DCEE-D5EB-444D-A657-2DA791697A3F}"/>
              </a:ext>
            </a:extLst>
          </p:cNvPr>
          <p:cNvCxnSpPr>
            <a:cxnSpLocks/>
          </p:cNvCxnSpPr>
          <p:nvPr/>
        </p:nvCxnSpPr>
        <p:spPr bwMode="auto">
          <a:xfrm>
            <a:off x="2489072" y="2997115"/>
            <a:ext cx="28979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72">
            <a:extLst>
              <a:ext uri="{FF2B5EF4-FFF2-40B4-BE49-F238E27FC236}">
                <a16:creationId xmlns:a16="http://schemas.microsoft.com/office/drawing/2014/main" id="{3FFEC067-6EFD-4E4F-9161-3E5DC1379C5D}"/>
              </a:ext>
            </a:extLst>
          </p:cNvPr>
          <p:cNvCxnSpPr>
            <a:cxnSpLocks/>
          </p:cNvCxnSpPr>
          <p:nvPr/>
        </p:nvCxnSpPr>
        <p:spPr bwMode="auto">
          <a:xfrm>
            <a:off x="2503771" y="2695913"/>
            <a:ext cx="28979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73">
            <a:extLst>
              <a:ext uri="{FF2B5EF4-FFF2-40B4-BE49-F238E27FC236}">
                <a16:creationId xmlns:a16="http://schemas.microsoft.com/office/drawing/2014/main" id="{3BF83921-A437-4513-B3AB-F02ADEFA5552}"/>
              </a:ext>
            </a:extLst>
          </p:cNvPr>
          <p:cNvCxnSpPr>
            <a:cxnSpLocks/>
          </p:cNvCxnSpPr>
          <p:nvPr/>
        </p:nvCxnSpPr>
        <p:spPr bwMode="auto">
          <a:xfrm>
            <a:off x="2503771" y="3248154"/>
            <a:ext cx="28979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74">
            <a:extLst>
              <a:ext uri="{FF2B5EF4-FFF2-40B4-BE49-F238E27FC236}">
                <a16:creationId xmlns:a16="http://schemas.microsoft.com/office/drawing/2014/main" id="{5B6EC69E-0BD4-40FF-B456-44D47C5B4A34}"/>
              </a:ext>
            </a:extLst>
          </p:cNvPr>
          <p:cNvCxnSpPr>
            <a:cxnSpLocks/>
          </p:cNvCxnSpPr>
          <p:nvPr/>
        </p:nvCxnSpPr>
        <p:spPr bwMode="auto">
          <a:xfrm>
            <a:off x="2513083" y="3619021"/>
            <a:ext cx="28979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75">
            <a:extLst>
              <a:ext uri="{FF2B5EF4-FFF2-40B4-BE49-F238E27FC236}">
                <a16:creationId xmlns:a16="http://schemas.microsoft.com/office/drawing/2014/main" id="{53B0098C-564D-4115-9679-AB558EED9EA5}"/>
              </a:ext>
            </a:extLst>
          </p:cNvPr>
          <p:cNvCxnSpPr>
            <a:cxnSpLocks/>
          </p:cNvCxnSpPr>
          <p:nvPr/>
        </p:nvCxnSpPr>
        <p:spPr bwMode="auto">
          <a:xfrm>
            <a:off x="2500806" y="3843576"/>
            <a:ext cx="28979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76">
            <a:extLst>
              <a:ext uri="{FF2B5EF4-FFF2-40B4-BE49-F238E27FC236}">
                <a16:creationId xmlns:a16="http://schemas.microsoft.com/office/drawing/2014/main" id="{BA0CEB70-1EF0-4DD2-9353-58F835BE4EC4}"/>
              </a:ext>
            </a:extLst>
          </p:cNvPr>
          <p:cNvCxnSpPr>
            <a:cxnSpLocks/>
          </p:cNvCxnSpPr>
          <p:nvPr/>
        </p:nvCxnSpPr>
        <p:spPr bwMode="auto">
          <a:xfrm>
            <a:off x="2515505" y="4349884"/>
            <a:ext cx="28979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连接符 77">
            <a:extLst>
              <a:ext uri="{FF2B5EF4-FFF2-40B4-BE49-F238E27FC236}">
                <a16:creationId xmlns:a16="http://schemas.microsoft.com/office/drawing/2014/main" id="{B4E819CB-DD51-4B20-9C6B-F1622AE217B9}"/>
              </a:ext>
            </a:extLst>
          </p:cNvPr>
          <p:cNvCxnSpPr>
            <a:cxnSpLocks/>
          </p:cNvCxnSpPr>
          <p:nvPr/>
        </p:nvCxnSpPr>
        <p:spPr bwMode="auto">
          <a:xfrm>
            <a:off x="2507490" y="4607765"/>
            <a:ext cx="289798"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接连接符 78">
            <a:extLst>
              <a:ext uri="{FF2B5EF4-FFF2-40B4-BE49-F238E27FC236}">
                <a16:creationId xmlns:a16="http://schemas.microsoft.com/office/drawing/2014/main" id="{67ED878C-E2F4-4797-AE38-B89985FEB66B}"/>
              </a:ext>
            </a:extLst>
          </p:cNvPr>
          <p:cNvCxnSpPr>
            <a:cxnSpLocks/>
          </p:cNvCxnSpPr>
          <p:nvPr/>
        </p:nvCxnSpPr>
        <p:spPr bwMode="auto">
          <a:xfrm flipV="1">
            <a:off x="3083139" y="4120586"/>
            <a:ext cx="0" cy="3923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连接符 80">
            <a:extLst>
              <a:ext uri="{FF2B5EF4-FFF2-40B4-BE49-F238E27FC236}">
                <a16:creationId xmlns:a16="http://schemas.microsoft.com/office/drawing/2014/main" id="{9F9E7C85-2083-4652-A04F-60C45DD84BE6}"/>
              </a:ext>
            </a:extLst>
          </p:cNvPr>
          <p:cNvCxnSpPr>
            <a:cxnSpLocks/>
          </p:cNvCxnSpPr>
          <p:nvPr/>
        </p:nvCxnSpPr>
        <p:spPr bwMode="auto">
          <a:xfrm flipV="1">
            <a:off x="3390086" y="4153696"/>
            <a:ext cx="0" cy="3923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连接符 81">
            <a:extLst>
              <a:ext uri="{FF2B5EF4-FFF2-40B4-BE49-F238E27FC236}">
                <a16:creationId xmlns:a16="http://schemas.microsoft.com/office/drawing/2014/main" id="{3DB41BCF-E79E-485B-80DB-E0472D606E0E}"/>
              </a:ext>
            </a:extLst>
          </p:cNvPr>
          <p:cNvCxnSpPr>
            <a:cxnSpLocks/>
          </p:cNvCxnSpPr>
          <p:nvPr/>
        </p:nvCxnSpPr>
        <p:spPr bwMode="auto">
          <a:xfrm flipV="1">
            <a:off x="3739209" y="4145137"/>
            <a:ext cx="0" cy="3923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连接符 82">
            <a:extLst>
              <a:ext uri="{FF2B5EF4-FFF2-40B4-BE49-F238E27FC236}">
                <a16:creationId xmlns:a16="http://schemas.microsoft.com/office/drawing/2014/main" id="{78ECEC78-7BF1-4A9C-A6E3-9D6B7E2611D8}"/>
              </a:ext>
            </a:extLst>
          </p:cNvPr>
          <p:cNvCxnSpPr>
            <a:cxnSpLocks/>
          </p:cNvCxnSpPr>
          <p:nvPr/>
        </p:nvCxnSpPr>
        <p:spPr bwMode="auto">
          <a:xfrm flipV="1">
            <a:off x="4052038" y="4120585"/>
            <a:ext cx="0" cy="39237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直角三角形 90">
            <a:extLst>
              <a:ext uri="{FF2B5EF4-FFF2-40B4-BE49-F238E27FC236}">
                <a16:creationId xmlns:a16="http://schemas.microsoft.com/office/drawing/2014/main" id="{0D38BB47-60D8-47DB-955A-9D3E322926B9}"/>
              </a:ext>
            </a:extLst>
          </p:cNvPr>
          <p:cNvSpPr/>
          <p:nvPr/>
        </p:nvSpPr>
        <p:spPr bwMode="auto">
          <a:xfrm>
            <a:off x="2828611" y="2346210"/>
            <a:ext cx="1755879" cy="1759857"/>
          </a:xfrm>
          <a:prstGeom prst="rtTriangle">
            <a:avLst/>
          </a:prstGeom>
          <a:solidFill>
            <a:srgbClr val="FFFF6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93" name="梯形 92">
            <a:extLst>
              <a:ext uri="{FF2B5EF4-FFF2-40B4-BE49-F238E27FC236}">
                <a16:creationId xmlns:a16="http://schemas.microsoft.com/office/drawing/2014/main" id="{9569DEEB-D441-4604-8C92-0862F6E15A0A}"/>
              </a:ext>
            </a:extLst>
          </p:cNvPr>
          <p:cNvSpPr/>
          <p:nvPr/>
        </p:nvSpPr>
        <p:spPr bwMode="auto">
          <a:xfrm rot="13515014">
            <a:off x="2857602" y="2269431"/>
            <a:ext cx="2377493" cy="1113541"/>
          </a:xfrm>
          <a:prstGeom prst="trapezoid">
            <a:avLst>
              <a:gd name="adj" fmla="val 0"/>
            </a:avLst>
          </a:prstGeom>
          <a:solidFill>
            <a:srgbClr val="FFFF6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94" name="直角三角形 93">
            <a:extLst>
              <a:ext uri="{FF2B5EF4-FFF2-40B4-BE49-F238E27FC236}">
                <a16:creationId xmlns:a16="http://schemas.microsoft.com/office/drawing/2014/main" id="{69920353-D294-416C-9524-CFBA5EC9005F}"/>
              </a:ext>
            </a:extLst>
          </p:cNvPr>
          <p:cNvSpPr/>
          <p:nvPr/>
        </p:nvSpPr>
        <p:spPr bwMode="auto">
          <a:xfrm rot="7594153">
            <a:off x="4501938" y="3525387"/>
            <a:ext cx="1116631" cy="653408"/>
          </a:xfrm>
          <a:prstGeom prst="rtTriangle">
            <a:avLst/>
          </a:prstGeom>
          <a:solidFill>
            <a:srgbClr val="FFFF6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95" name="直接连接符 94">
            <a:extLst>
              <a:ext uri="{FF2B5EF4-FFF2-40B4-BE49-F238E27FC236}">
                <a16:creationId xmlns:a16="http://schemas.microsoft.com/office/drawing/2014/main" id="{1F9BC507-AF85-4AF0-8089-47BF09E5875E}"/>
              </a:ext>
            </a:extLst>
          </p:cNvPr>
          <p:cNvCxnSpPr>
            <a:cxnSpLocks/>
          </p:cNvCxnSpPr>
          <p:nvPr/>
        </p:nvCxnSpPr>
        <p:spPr bwMode="auto">
          <a:xfrm flipH="1" flipV="1">
            <a:off x="1664884" y="1523902"/>
            <a:ext cx="2589350" cy="425908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8" name="文本框 97">
            <a:extLst>
              <a:ext uri="{FF2B5EF4-FFF2-40B4-BE49-F238E27FC236}">
                <a16:creationId xmlns:a16="http://schemas.microsoft.com/office/drawing/2014/main" id="{BAF6E798-6AF0-4650-A8EF-448BF6D632C2}"/>
              </a:ext>
            </a:extLst>
          </p:cNvPr>
          <p:cNvSpPr txBox="1"/>
          <p:nvPr/>
        </p:nvSpPr>
        <p:spPr>
          <a:xfrm>
            <a:off x="3776536" y="5778173"/>
            <a:ext cx="1213950" cy="400110"/>
          </a:xfrm>
          <a:prstGeom prst="rect">
            <a:avLst/>
          </a:prstGeom>
          <a:noFill/>
        </p:spPr>
        <p:txBody>
          <a:bodyPr wrap="square" rtlCol="0">
            <a:spAutoFit/>
          </a:bodyPr>
          <a:lstStyle/>
          <a:p>
            <a:r>
              <a:rPr lang="en-US" altLang="zh-CN" sz="2000" dirty="0"/>
              <a:t>f(x)=C</a:t>
            </a:r>
            <a:endParaRPr lang="zh-CN" altLang="en-US" sz="2000" dirty="0"/>
          </a:p>
        </p:txBody>
      </p:sp>
      <p:sp>
        <p:nvSpPr>
          <p:cNvPr id="104" name="思想气泡: 云 103">
            <a:extLst>
              <a:ext uri="{FF2B5EF4-FFF2-40B4-BE49-F238E27FC236}">
                <a16:creationId xmlns:a16="http://schemas.microsoft.com/office/drawing/2014/main" id="{1BC7E592-71B1-4AB5-AFE7-A280713E4882}"/>
              </a:ext>
            </a:extLst>
          </p:cNvPr>
          <p:cNvSpPr/>
          <p:nvPr/>
        </p:nvSpPr>
        <p:spPr bwMode="auto">
          <a:xfrm>
            <a:off x="4680438" y="-6699"/>
            <a:ext cx="5167507" cy="3080327"/>
          </a:xfrm>
          <a:prstGeom prst="cloudCallout">
            <a:avLst>
              <a:gd name="adj1" fmla="val -79458"/>
              <a:gd name="adj2" fmla="val 72327"/>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C00000"/>
                </a:solidFill>
                <a:effectLst/>
                <a:latin typeface="Arial" charset="0"/>
              </a:rPr>
              <a:t>等值线沿着黄色区域开口方向运动，目标函数值</a:t>
            </a:r>
            <a:r>
              <a:rPr kumimoji="0" lang="en-US" altLang="zh-CN" sz="2400" b="1" i="0" u="none" strike="noStrike" cap="none" normalizeH="0" baseline="0" dirty="0">
                <a:ln>
                  <a:noFill/>
                </a:ln>
                <a:solidFill>
                  <a:srgbClr val="C00000"/>
                </a:solidFill>
                <a:effectLst/>
                <a:latin typeface="Arial" charset="0"/>
              </a:rPr>
              <a:t>C</a:t>
            </a:r>
            <a:r>
              <a:rPr kumimoji="0" lang="zh-CN" altLang="en-US" sz="2400" b="1" i="0" u="none" strike="noStrike" cap="none" normalizeH="0" baseline="0" dirty="0">
                <a:ln>
                  <a:noFill/>
                </a:ln>
                <a:solidFill>
                  <a:srgbClr val="C00000"/>
                </a:solidFill>
                <a:effectLst/>
                <a:latin typeface="Arial" charset="0"/>
              </a:rPr>
              <a:t>会越来越大，因此，此题无最优解，或称为存在无界解</a:t>
            </a:r>
          </a:p>
        </p:txBody>
      </p:sp>
    </p:spTree>
    <p:extLst>
      <p:ext uri="{BB962C8B-B14F-4D97-AF65-F5344CB8AC3E}">
        <p14:creationId xmlns:p14="http://schemas.microsoft.com/office/powerpoint/2010/main" val="378676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par>
                                <p:cTn id="13" presetID="16" presetClass="entr" presetSubtype="21"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inVertical)">
                                      <p:cBhvr>
                                        <p:cTn id="18" dur="500"/>
                                        <p:tgtEl>
                                          <p:spTgt spid="11"/>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arn(inVertical)">
                                      <p:cBhvr>
                                        <p:cTn id="21" dur="500"/>
                                        <p:tgtEl>
                                          <p:spTgt spid="9"/>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down)">
                                      <p:cBhvr>
                                        <p:cTn id="30" dur="500"/>
                                        <p:tgtEl>
                                          <p:spTgt spid="16"/>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wipe(down)">
                                      <p:cBhvr>
                                        <p:cTn id="33" dur="500"/>
                                        <p:tgtEl>
                                          <p:spTgt spid="38"/>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down)">
                                      <p:cBhvr>
                                        <p:cTn id="39" dur="500"/>
                                        <p:tgtEl>
                                          <p:spTgt spid="15"/>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wipe(down)">
                                      <p:cBhvr>
                                        <p:cTn id="42" dur="500"/>
                                        <p:tgtEl>
                                          <p:spTgt spid="59"/>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wipe(down)">
                                      <p:cBhvr>
                                        <p:cTn id="45" dur="500"/>
                                        <p:tgtEl>
                                          <p:spTgt spid="5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down)">
                                      <p:cBhvr>
                                        <p:cTn id="50" dur="500"/>
                                        <p:tgtEl>
                                          <p:spTgt spid="12"/>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down)">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wipe(down)">
                                      <p:cBhvr>
                                        <p:cTn id="58" dur="500"/>
                                        <p:tgtEl>
                                          <p:spTgt spid="40"/>
                                        </p:tgtEl>
                                      </p:cBhvr>
                                    </p:animEffect>
                                  </p:childTnLst>
                                </p:cTn>
                              </p:par>
                              <p:par>
                                <p:cTn id="59" presetID="22" presetClass="entr" presetSubtype="4" fill="hold"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down)">
                                      <p:cBhvr>
                                        <p:cTn id="61" dur="500"/>
                                        <p:tgtEl>
                                          <p:spTgt spid="42"/>
                                        </p:tgtEl>
                                      </p:cBhvr>
                                    </p:animEffect>
                                  </p:childTnLst>
                                </p:cTn>
                              </p:par>
                              <p:par>
                                <p:cTn id="62" presetID="22" presetClass="entr" presetSubtype="4" fill="hold" nodeType="with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wipe(down)">
                                      <p:cBhvr>
                                        <p:cTn id="64" dur="500"/>
                                        <p:tgtEl>
                                          <p:spTgt spid="43"/>
                                        </p:tgtEl>
                                      </p:cBhvr>
                                    </p:animEffect>
                                  </p:childTnLst>
                                </p:cTn>
                              </p:par>
                              <p:par>
                                <p:cTn id="65" presetID="22" presetClass="entr" presetSubtype="4" fill="hold"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wipe(down)">
                                      <p:cBhvr>
                                        <p:cTn id="67" dur="500"/>
                                        <p:tgtEl>
                                          <p:spTgt spid="44"/>
                                        </p:tgtEl>
                                      </p:cBhvr>
                                    </p:animEffect>
                                  </p:childTnLst>
                                </p:cTn>
                              </p:par>
                              <p:par>
                                <p:cTn id="68" presetID="22" presetClass="entr" presetSubtype="4" fill="hold"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wipe(down)">
                                      <p:cBhvr>
                                        <p:cTn id="70" dur="500"/>
                                        <p:tgtEl>
                                          <p:spTgt spid="45"/>
                                        </p:tgtEl>
                                      </p:cBhvr>
                                    </p:animEffect>
                                  </p:childTnLst>
                                </p:cTn>
                              </p:par>
                              <p:par>
                                <p:cTn id="71" presetID="22" presetClass="entr" presetSubtype="4" fill="hold"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wipe(down)">
                                      <p:cBhvr>
                                        <p:cTn id="73" dur="500"/>
                                        <p:tgtEl>
                                          <p:spTgt spid="47"/>
                                        </p:tgtEl>
                                      </p:cBhvr>
                                    </p:animEffect>
                                  </p:childTnLst>
                                </p:cTn>
                              </p:par>
                              <p:par>
                                <p:cTn id="74" presetID="22" presetClass="entr" presetSubtype="4" fill="hold" nodeType="with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wipe(down)">
                                      <p:cBhvr>
                                        <p:cTn id="76" dur="500"/>
                                        <p:tgtEl>
                                          <p:spTgt spid="49"/>
                                        </p:tgtEl>
                                      </p:cBhvr>
                                    </p:animEffect>
                                  </p:childTnLst>
                                </p:cTn>
                              </p:par>
                              <p:par>
                                <p:cTn id="77" presetID="22" presetClass="entr" presetSubtype="4" fill="hold" nodeType="with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wipe(down)">
                                      <p:cBhvr>
                                        <p:cTn id="79" dur="500"/>
                                        <p:tgtEl>
                                          <p:spTgt spid="50"/>
                                        </p:tgtEl>
                                      </p:cBhvr>
                                    </p:animEffect>
                                  </p:childTnLst>
                                </p:cTn>
                              </p:par>
                              <p:par>
                                <p:cTn id="80" presetID="22" presetClass="entr" presetSubtype="4" fill="hold" nodeType="with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wipe(down)">
                                      <p:cBhvr>
                                        <p:cTn id="82" dur="500"/>
                                        <p:tgtEl>
                                          <p:spTgt spid="51"/>
                                        </p:tgtEl>
                                      </p:cBhvr>
                                    </p:animEffect>
                                  </p:childTnLst>
                                </p:cTn>
                              </p:par>
                              <p:par>
                                <p:cTn id="83" presetID="22" presetClass="entr" presetSubtype="4" fill="hold" nodeType="withEffect">
                                  <p:stCondLst>
                                    <p:cond delay="0"/>
                                  </p:stCondLst>
                                  <p:childTnLst>
                                    <p:set>
                                      <p:cBhvr>
                                        <p:cTn id="84" dur="1" fill="hold">
                                          <p:stCondLst>
                                            <p:cond delay="0"/>
                                          </p:stCondLst>
                                        </p:cTn>
                                        <p:tgtEl>
                                          <p:spTgt spid="52"/>
                                        </p:tgtEl>
                                        <p:attrNameLst>
                                          <p:attrName>style.visibility</p:attrName>
                                        </p:attrNameLst>
                                      </p:cBhvr>
                                      <p:to>
                                        <p:strVal val="visible"/>
                                      </p:to>
                                    </p:set>
                                    <p:animEffect transition="in" filter="wipe(down)">
                                      <p:cBhvr>
                                        <p:cTn id="85" dur="500"/>
                                        <p:tgtEl>
                                          <p:spTgt spid="52"/>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nodeType="click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wipe(down)">
                                      <p:cBhvr>
                                        <p:cTn id="90" dur="500"/>
                                        <p:tgtEl>
                                          <p:spTgt spid="53"/>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18"/>
                                        </p:tgtEl>
                                        <p:attrNameLst>
                                          <p:attrName>style.visibility</p:attrName>
                                        </p:attrNameLst>
                                      </p:cBhvr>
                                      <p:to>
                                        <p:strVal val="visible"/>
                                      </p:to>
                                    </p:set>
                                    <p:animEffect transition="in" filter="wipe(down)">
                                      <p:cBhvr>
                                        <p:cTn id="93" dur="500"/>
                                        <p:tgtEl>
                                          <p:spTgt spid="18"/>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nodeType="clickEffect">
                                  <p:stCondLst>
                                    <p:cond delay="0"/>
                                  </p:stCondLst>
                                  <p:childTnLst>
                                    <p:set>
                                      <p:cBhvr>
                                        <p:cTn id="97" dur="1" fill="hold">
                                          <p:stCondLst>
                                            <p:cond delay="0"/>
                                          </p:stCondLst>
                                        </p:cTn>
                                        <p:tgtEl>
                                          <p:spTgt spid="60"/>
                                        </p:tgtEl>
                                        <p:attrNameLst>
                                          <p:attrName>style.visibility</p:attrName>
                                        </p:attrNameLst>
                                      </p:cBhvr>
                                      <p:to>
                                        <p:strVal val="visible"/>
                                      </p:to>
                                    </p:set>
                                    <p:animEffect transition="in" filter="wipe(down)">
                                      <p:cBhvr>
                                        <p:cTn id="98" dur="500"/>
                                        <p:tgtEl>
                                          <p:spTgt spid="60"/>
                                        </p:tgtEl>
                                      </p:cBhvr>
                                    </p:animEffect>
                                  </p:childTnLst>
                                </p:cTn>
                              </p:par>
                              <p:par>
                                <p:cTn id="99" presetID="22" presetClass="entr" presetSubtype="4" fill="hold" nodeType="withEffect">
                                  <p:stCondLst>
                                    <p:cond delay="0"/>
                                  </p:stCondLst>
                                  <p:childTnLst>
                                    <p:set>
                                      <p:cBhvr>
                                        <p:cTn id="100" dur="1" fill="hold">
                                          <p:stCondLst>
                                            <p:cond delay="0"/>
                                          </p:stCondLst>
                                        </p:cTn>
                                        <p:tgtEl>
                                          <p:spTgt spid="66"/>
                                        </p:tgtEl>
                                        <p:attrNameLst>
                                          <p:attrName>style.visibility</p:attrName>
                                        </p:attrNameLst>
                                      </p:cBhvr>
                                      <p:to>
                                        <p:strVal val="visible"/>
                                      </p:to>
                                    </p:set>
                                    <p:animEffect transition="in" filter="wipe(down)">
                                      <p:cBhvr>
                                        <p:cTn id="101" dur="500"/>
                                        <p:tgtEl>
                                          <p:spTgt spid="66"/>
                                        </p:tgtEl>
                                      </p:cBhvr>
                                    </p:animEffect>
                                  </p:childTnLst>
                                </p:cTn>
                              </p:par>
                              <p:par>
                                <p:cTn id="102" presetID="22" presetClass="entr" presetSubtype="4" fill="hold" nodeType="withEffect">
                                  <p:stCondLst>
                                    <p:cond delay="0"/>
                                  </p:stCondLst>
                                  <p:childTnLst>
                                    <p:set>
                                      <p:cBhvr>
                                        <p:cTn id="103" dur="1" fill="hold">
                                          <p:stCondLst>
                                            <p:cond delay="0"/>
                                          </p:stCondLst>
                                        </p:cTn>
                                        <p:tgtEl>
                                          <p:spTgt spid="67"/>
                                        </p:tgtEl>
                                        <p:attrNameLst>
                                          <p:attrName>style.visibility</p:attrName>
                                        </p:attrNameLst>
                                      </p:cBhvr>
                                      <p:to>
                                        <p:strVal val="visible"/>
                                      </p:to>
                                    </p:set>
                                    <p:animEffect transition="in" filter="wipe(down)">
                                      <p:cBhvr>
                                        <p:cTn id="104" dur="500"/>
                                        <p:tgtEl>
                                          <p:spTgt spid="67"/>
                                        </p:tgtEl>
                                      </p:cBhvr>
                                    </p:animEffect>
                                  </p:childTnLst>
                                </p:cTn>
                              </p:par>
                              <p:par>
                                <p:cTn id="105" presetID="22" presetClass="entr" presetSubtype="4" fill="hold" nodeType="withEffect">
                                  <p:stCondLst>
                                    <p:cond delay="0"/>
                                  </p:stCondLst>
                                  <p:childTnLst>
                                    <p:set>
                                      <p:cBhvr>
                                        <p:cTn id="106" dur="1" fill="hold">
                                          <p:stCondLst>
                                            <p:cond delay="0"/>
                                          </p:stCondLst>
                                        </p:cTn>
                                        <p:tgtEl>
                                          <p:spTgt spid="68"/>
                                        </p:tgtEl>
                                        <p:attrNameLst>
                                          <p:attrName>style.visibility</p:attrName>
                                        </p:attrNameLst>
                                      </p:cBhvr>
                                      <p:to>
                                        <p:strVal val="visible"/>
                                      </p:to>
                                    </p:set>
                                    <p:animEffect transition="in" filter="wipe(down)">
                                      <p:cBhvr>
                                        <p:cTn id="107" dur="500"/>
                                        <p:tgtEl>
                                          <p:spTgt spid="68"/>
                                        </p:tgtEl>
                                      </p:cBhvr>
                                    </p:animEffect>
                                  </p:childTnLst>
                                </p:cTn>
                              </p:par>
                              <p:par>
                                <p:cTn id="108" presetID="22" presetClass="entr" presetSubtype="4" fill="hold" nodeType="withEffect">
                                  <p:stCondLst>
                                    <p:cond delay="0"/>
                                  </p:stCondLst>
                                  <p:childTnLst>
                                    <p:set>
                                      <p:cBhvr>
                                        <p:cTn id="109" dur="1" fill="hold">
                                          <p:stCondLst>
                                            <p:cond delay="0"/>
                                          </p:stCondLst>
                                        </p:cTn>
                                        <p:tgtEl>
                                          <p:spTgt spid="69"/>
                                        </p:tgtEl>
                                        <p:attrNameLst>
                                          <p:attrName>style.visibility</p:attrName>
                                        </p:attrNameLst>
                                      </p:cBhvr>
                                      <p:to>
                                        <p:strVal val="visible"/>
                                      </p:to>
                                    </p:set>
                                    <p:animEffect transition="in" filter="wipe(down)">
                                      <p:cBhvr>
                                        <p:cTn id="110" dur="500"/>
                                        <p:tgtEl>
                                          <p:spTgt spid="69"/>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nodeType="clickEffect">
                                  <p:stCondLst>
                                    <p:cond delay="0"/>
                                  </p:stCondLst>
                                  <p:childTnLst>
                                    <p:set>
                                      <p:cBhvr>
                                        <p:cTn id="114" dur="1" fill="hold">
                                          <p:stCondLst>
                                            <p:cond delay="0"/>
                                          </p:stCondLst>
                                        </p:cTn>
                                        <p:tgtEl>
                                          <p:spTgt spid="70"/>
                                        </p:tgtEl>
                                        <p:attrNameLst>
                                          <p:attrName>style.visibility</p:attrName>
                                        </p:attrNameLst>
                                      </p:cBhvr>
                                      <p:to>
                                        <p:strVal val="visible"/>
                                      </p:to>
                                    </p:set>
                                    <p:animEffect transition="in" filter="wipe(down)">
                                      <p:cBhvr>
                                        <p:cTn id="115" dur="500"/>
                                        <p:tgtEl>
                                          <p:spTgt spid="70"/>
                                        </p:tgtEl>
                                      </p:cBhvr>
                                    </p:animEffect>
                                  </p:childTnLst>
                                </p:cTn>
                              </p:par>
                              <p:par>
                                <p:cTn id="116" presetID="22" presetClass="entr" presetSubtype="4" fill="hold" nodeType="withEffect">
                                  <p:stCondLst>
                                    <p:cond delay="0"/>
                                  </p:stCondLst>
                                  <p:childTnLst>
                                    <p:set>
                                      <p:cBhvr>
                                        <p:cTn id="117" dur="1" fill="hold">
                                          <p:stCondLst>
                                            <p:cond delay="0"/>
                                          </p:stCondLst>
                                        </p:cTn>
                                        <p:tgtEl>
                                          <p:spTgt spid="73"/>
                                        </p:tgtEl>
                                        <p:attrNameLst>
                                          <p:attrName>style.visibility</p:attrName>
                                        </p:attrNameLst>
                                      </p:cBhvr>
                                      <p:to>
                                        <p:strVal val="visible"/>
                                      </p:to>
                                    </p:set>
                                    <p:animEffect transition="in" filter="wipe(down)">
                                      <p:cBhvr>
                                        <p:cTn id="118" dur="500"/>
                                        <p:tgtEl>
                                          <p:spTgt spid="73"/>
                                        </p:tgtEl>
                                      </p:cBhvr>
                                    </p:animEffect>
                                  </p:childTnLst>
                                </p:cTn>
                              </p:par>
                              <p:par>
                                <p:cTn id="119" presetID="22" presetClass="entr" presetSubtype="4" fill="hold" nodeType="withEffect">
                                  <p:stCondLst>
                                    <p:cond delay="0"/>
                                  </p:stCondLst>
                                  <p:childTnLst>
                                    <p:set>
                                      <p:cBhvr>
                                        <p:cTn id="120" dur="1" fill="hold">
                                          <p:stCondLst>
                                            <p:cond delay="0"/>
                                          </p:stCondLst>
                                        </p:cTn>
                                        <p:tgtEl>
                                          <p:spTgt spid="74"/>
                                        </p:tgtEl>
                                        <p:attrNameLst>
                                          <p:attrName>style.visibility</p:attrName>
                                        </p:attrNameLst>
                                      </p:cBhvr>
                                      <p:to>
                                        <p:strVal val="visible"/>
                                      </p:to>
                                    </p:set>
                                    <p:animEffect transition="in" filter="wipe(down)">
                                      <p:cBhvr>
                                        <p:cTn id="121" dur="500"/>
                                        <p:tgtEl>
                                          <p:spTgt spid="74"/>
                                        </p:tgtEl>
                                      </p:cBhvr>
                                    </p:animEffect>
                                  </p:childTnLst>
                                </p:cTn>
                              </p:par>
                              <p:par>
                                <p:cTn id="122" presetID="22" presetClass="entr" presetSubtype="4" fill="hold" nodeType="withEffect">
                                  <p:stCondLst>
                                    <p:cond delay="0"/>
                                  </p:stCondLst>
                                  <p:childTnLst>
                                    <p:set>
                                      <p:cBhvr>
                                        <p:cTn id="123" dur="1" fill="hold">
                                          <p:stCondLst>
                                            <p:cond delay="0"/>
                                          </p:stCondLst>
                                        </p:cTn>
                                        <p:tgtEl>
                                          <p:spTgt spid="75"/>
                                        </p:tgtEl>
                                        <p:attrNameLst>
                                          <p:attrName>style.visibility</p:attrName>
                                        </p:attrNameLst>
                                      </p:cBhvr>
                                      <p:to>
                                        <p:strVal val="visible"/>
                                      </p:to>
                                    </p:set>
                                    <p:animEffect transition="in" filter="wipe(down)">
                                      <p:cBhvr>
                                        <p:cTn id="124" dur="500"/>
                                        <p:tgtEl>
                                          <p:spTgt spid="75"/>
                                        </p:tgtEl>
                                      </p:cBhvr>
                                    </p:animEffect>
                                  </p:childTnLst>
                                </p:cTn>
                              </p:par>
                              <p:par>
                                <p:cTn id="125" presetID="22" presetClass="entr" presetSubtype="4" fill="hold" nodeType="withEffect">
                                  <p:stCondLst>
                                    <p:cond delay="0"/>
                                  </p:stCondLst>
                                  <p:childTnLst>
                                    <p:set>
                                      <p:cBhvr>
                                        <p:cTn id="126" dur="1" fill="hold">
                                          <p:stCondLst>
                                            <p:cond delay="0"/>
                                          </p:stCondLst>
                                        </p:cTn>
                                        <p:tgtEl>
                                          <p:spTgt spid="76"/>
                                        </p:tgtEl>
                                        <p:attrNameLst>
                                          <p:attrName>style.visibility</p:attrName>
                                        </p:attrNameLst>
                                      </p:cBhvr>
                                      <p:to>
                                        <p:strVal val="visible"/>
                                      </p:to>
                                    </p:set>
                                    <p:animEffect transition="in" filter="wipe(down)">
                                      <p:cBhvr>
                                        <p:cTn id="127" dur="500"/>
                                        <p:tgtEl>
                                          <p:spTgt spid="76"/>
                                        </p:tgtEl>
                                      </p:cBhvr>
                                    </p:animEffect>
                                  </p:childTnLst>
                                </p:cTn>
                              </p:par>
                              <p:par>
                                <p:cTn id="128" presetID="22" presetClass="entr" presetSubtype="4" fill="hold" nodeType="withEffect">
                                  <p:stCondLst>
                                    <p:cond delay="0"/>
                                  </p:stCondLst>
                                  <p:childTnLst>
                                    <p:set>
                                      <p:cBhvr>
                                        <p:cTn id="129" dur="1" fill="hold">
                                          <p:stCondLst>
                                            <p:cond delay="0"/>
                                          </p:stCondLst>
                                        </p:cTn>
                                        <p:tgtEl>
                                          <p:spTgt spid="77"/>
                                        </p:tgtEl>
                                        <p:attrNameLst>
                                          <p:attrName>style.visibility</p:attrName>
                                        </p:attrNameLst>
                                      </p:cBhvr>
                                      <p:to>
                                        <p:strVal val="visible"/>
                                      </p:to>
                                    </p:set>
                                    <p:animEffect transition="in" filter="wipe(down)">
                                      <p:cBhvr>
                                        <p:cTn id="130" dur="500"/>
                                        <p:tgtEl>
                                          <p:spTgt spid="77"/>
                                        </p:tgtEl>
                                      </p:cBhvr>
                                    </p:animEffect>
                                  </p:childTnLst>
                                </p:cTn>
                              </p:par>
                              <p:par>
                                <p:cTn id="131" presetID="22" presetClass="entr" presetSubtype="4" fill="hold" nodeType="withEffect">
                                  <p:stCondLst>
                                    <p:cond delay="0"/>
                                  </p:stCondLst>
                                  <p:childTnLst>
                                    <p:set>
                                      <p:cBhvr>
                                        <p:cTn id="132" dur="1" fill="hold">
                                          <p:stCondLst>
                                            <p:cond delay="0"/>
                                          </p:stCondLst>
                                        </p:cTn>
                                        <p:tgtEl>
                                          <p:spTgt spid="78"/>
                                        </p:tgtEl>
                                        <p:attrNameLst>
                                          <p:attrName>style.visibility</p:attrName>
                                        </p:attrNameLst>
                                      </p:cBhvr>
                                      <p:to>
                                        <p:strVal val="visible"/>
                                      </p:to>
                                    </p:set>
                                    <p:animEffect transition="in" filter="wipe(down)">
                                      <p:cBhvr>
                                        <p:cTn id="133" dur="500"/>
                                        <p:tgtEl>
                                          <p:spTgt spid="78"/>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79"/>
                                        </p:tgtEl>
                                        <p:attrNameLst>
                                          <p:attrName>style.visibility</p:attrName>
                                        </p:attrNameLst>
                                      </p:cBhvr>
                                      <p:to>
                                        <p:strVal val="visible"/>
                                      </p:to>
                                    </p:set>
                                    <p:animEffect transition="in" filter="wipe(down)">
                                      <p:cBhvr>
                                        <p:cTn id="138" dur="500"/>
                                        <p:tgtEl>
                                          <p:spTgt spid="79"/>
                                        </p:tgtEl>
                                      </p:cBhvr>
                                    </p:animEffect>
                                  </p:childTnLst>
                                </p:cTn>
                              </p:par>
                              <p:par>
                                <p:cTn id="139" presetID="22" presetClass="entr" presetSubtype="4" fill="hold" nodeType="withEffect">
                                  <p:stCondLst>
                                    <p:cond delay="0"/>
                                  </p:stCondLst>
                                  <p:childTnLst>
                                    <p:set>
                                      <p:cBhvr>
                                        <p:cTn id="140" dur="1" fill="hold">
                                          <p:stCondLst>
                                            <p:cond delay="0"/>
                                          </p:stCondLst>
                                        </p:cTn>
                                        <p:tgtEl>
                                          <p:spTgt spid="81"/>
                                        </p:tgtEl>
                                        <p:attrNameLst>
                                          <p:attrName>style.visibility</p:attrName>
                                        </p:attrNameLst>
                                      </p:cBhvr>
                                      <p:to>
                                        <p:strVal val="visible"/>
                                      </p:to>
                                    </p:set>
                                    <p:animEffect transition="in" filter="wipe(down)">
                                      <p:cBhvr>
                                        <p:cTn id="141" dur="500"/>
                                        <p:tgtEl>
                                          <p:spTgt spid="81"/>
                                        </p:tgtEl>
                                      </p:cBhvr>
                                    </p:animEffect>
                                  </p:childTnLst>
                                </p:cTn>
                              </p:par>
                              <p:par>
                                <p:cTn id="142" presetID="22" presetClass="entr" presetSubtype="4" fill="hold" nodeType="withEffect">
                                  <p:stCondLst>
                                    <p:cond delay="0"/>
                                  </p:stCondLst>
                                  <p:childTnLst>
                                    <p:set>
                                      <p:cBhvr>
                                        <p:cTn id="143" dur="1" fill="hold">
                                          <p:stCondLst>
                                            <p:cond delay="0"/>
                                          </p:stCondLst>
                                        </p:cTn>
                                        <p:tgtEl>
                                          <p:spTgt spid="82"/>
                                        </p:tgtEl>
                                        <p:attrNameLst>
                                          <p:attrName>style.visibility</p:attrName>
                                        </p:attrNameLst>
                                      </p:cBhvr>
                                      <p:to>
                                        <p:strVal val="visible"/>
                                      </p:to>
                                    </p:set>
                                    <p:animEffect transition="in" filter="wipe(down)">
                                      <p:cBhvr>
                                        <p:cTn id="144" dur="500"/>
                                        <p:tgtEl>
                                          <p:spTgt spid="82"/>
                                        </p:tgtEl>
                                      </p:cBhvr>
                                    </p:animEffect>
                                  </p:childTnLst>
                                </p:cTn>
                              </p:par>
                              <p:par>
                                <p:cTn id="145" presetID="22" presetClass="entr" presetSubtype="4" fill="hold" nodeType="withEffect">
                                  <p:stCondLst>
                                    <p:cond delay="0"/>
                                  </p:stCondLst>
                                  <p:childTnLst>
                                    <p:set>
                                      <p:cBhvr>
                                        <p:cTn id="146" dur="1" fill="hold">
                                          <p:stCondLst>
                                            <p:cond delay="0"/>
                                          </p:stCondLst>
                                        </p:cTn>
                                        <p:tgtEl>
                                          <p:spTgt spid="83"/>
                                        </p:tgtEl>
                                        <p:attrNameLst>
                                          <p:attrName>style.visibility</p:attrName>
                                        </p:attrNameLst>
                                      </p:cBhvr>
                                      <p:to>
                                        <p:strVal val="visible"/>
                                      </p:to>
                                    </p:set>
                                    <p:animEffect transition="in" filter="wipe(down)">
                                      <p:cBhvr>
                                        <p:cTn id="147" dur="500"/>
                                        <p:tgtEl>
                                          <p:spTgt spid="83"/>
                                        </p:tgtEl>
                                      </p:cBhvr>
                                    </p:animEffect>
                                  </p:childTnLst>
                                </p:cTn>
                              </p:par>
                            </p:childTnLst>
                          </p:cTn>
                        </p:par>
                      </p:childTnLst>
                    </p:cTn>
                  </p:par>
                  <p:par>
                    <p:cTn id="148" fill="hold">
                      <p:stCondLst>
                        <p:cond delay="indefinite"/>
                      </p:stCondLst>
                      <p:childTnLst>
                        <p:par>
                          <p:cTn id="149" fill="hold">
                            <p:stCondLst>
                              <p:cond delay="0"/>
                            </p:stCondLst>
                            <p:childTnLst>
                              <p:par>
                                <p:cTn id="150" presetID="16" presetClass="entr" presetSubtype="21" fill="hold" grpId="0" nodeType="clickEffect">
                                  <p:stCondLst>
                                    <p:cond delay="0"/>
                                  </p:stCondLst>
                                  <p:childTnLst>
                                    <p:set>
                                      <p:cBhvr>
                                        <p:cTn id="151" dur="1" fill="hold">
                                          <p:stCondLst>
                                            <p:cond delay="0"/>
                                          </p:stCondLst>
                                        </p:cTn>
                                        <p:tgtEl>
                                          <p:spTgt spid="93"/>
                                        </p:tgtEl>
                                        <p:attrNameLst>
                                          <p:attrName>style.visibility</p:attrName>
                                        </p:attrNameLst>
                                      </p:cBhvr>
                                      <p:to>
                                        <p:strVal val="visible"/>
                                      </p:to>
                                    </p:set>
                                    <p:animEffect transition="in" filter="barn(inVertical)">
                                      <p:cBhvr>
                                        <p:cTn id="152" dur="500"/>
                                        <p:tgtEl>
                                          <p:spTgt spid="93"/>
                                        </p:tgtEl>
                                      </p:cBhvr>
                                    </p:animEffect>
                                  </p:childTnLst>
                                </p:cTn>
                              </p:par>
                              <p:par>
                                <p:cTn id="153" presetID="16" presetClass="entr" presetSubtype="21" fill="hold" grpId="0" nodeType="withEffect">
                                  <p:stCondLst>
                                    <p:cond delay="0"/>
                                  </p:stCondLst>
                                  <p:childTnLst>
                                    <p:set>
                                      <p:cBhvr>
                                        <p:cTn id="154" dur="1" fill="hold">
                                          <p:stCondLst>
                                            <p:cond delay="0"/>
                                          </p:stCondLst>
                                        </p:cTn>
                                        <p:tgtEl>
                                          <p:spTgt spid="91"/>
                                        </p:tgtEl>
                                        <p:attrNameLst>
                                          <p:attrName>style.visibility</p:attrName>
                                        </p:attrNameLst>
                                      </p:cBhvr>
                                      <p:to>
                                        <p:strVal val="visible"/>
                                      </p:to>
                                    </p:set>
                                    <p:animEffect transition="in" filter="barn(inVertical)">
                                      <p:cBhvr>
                                        <p:cTn id="155" dur="500"/>
                                        <p:tgtEl>
                                          <p:spTgt spid="91"/>
                                        </p:tgtEl>
                                      </p:cBhvr>
                                    </p:animEffect>
                                  </p:childTnLst>
                                </p:cTn>
                              </p:par>
                              <p:par>
                                <p:cTn id="156" presetID="16" presetClass="entr" presetSubtype="21" fill="hold" grpId="0" nodeType="withEffect">
                                  <p:stCondLst>
                                    <p:cond delay="0"/>
                                  </p:stCondLst>
                                  <p:childTnLst>
                                    <p:set>
                                      <p:cBhvr>
                                        <p:cTn id="157" dur="1" fill="hold">
                                          <p:stCondLst>
                                            <p:cond delay="0"/>
                                          </p:stCondLst>
                                        </p:cTn>
                                        <p:tgtEl>
                                          <p:spTgt spid="94"/>
                                        </p:tgtEl>
                                        <p:attrNameLst>
                                          <p:attrName>style.visibility</p:attrName>
                                        </p:attrNameLst>
                                      </p:cBhvr>
                                      <p:to>
                                        <p:strVal val="visible"/>
                                      </p:to>
                                    </p:set>
                                    <p:animEffect transition="in" filter="barn(inVertical)">
                                      <p:cBhvr>
                                        <p:cTn id="158" dur="500"/>
                                        <p:tgtEl>
                                          <p:spTgt spid="94"/>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4" fill="hold" nodeType="clickEffect">
                                  <p:stCondLst>
                                    <p:cond delay="0"/>
                                  </p:stCondLst>
                                  <p:childTnLst>
                                    <p:set>
                                      <p:cBhvr>
                                        <p:cTn id="162" dur="1" fill="hold">
                                          <p:stCondLst>
                                            <p:cond delay="0"/>
                                          </p:stCondLst>
                                        </p:cTn>
                                        <p:tgtEl>
                                          <p:spTgt spid="95"/>
                                        </p:tgtEl>
                                        <p:attrNameLst>
                                          <p:attrName>style.visibility</p:attrName>
                                        </p:attrNameLst>
                                      </p:cBhvr>
                                      <p:to>
                                        <p:strVal val="visible"/>
                                      </p:to>
                                    </p:set>
                                    <p:animEffect transition="in" filter="wipe(down)">
                                      <p:cBhvr>
                                        <p:cTn id="163" dur="500"/>
                                        <p:tgtEl>
                                          <p:spTgt spid="95"/>
                                        </p:tgtEl>
                                      </p:cBhvr>
                                    </p:animEffect>
                                  </p:childTnLst>
                                </p:cTn>
                              </p:par>
                              <p:par>
                                <p:cTn id="164" presetID="22" presetClass="entr" presetSubtype="4" fill="hold" grpId="0" nodeType="withEffect">
                                  <p:stCondLst>
                                    <p:cond delay="0"/>
                                  </p:stCondLst>
                                  <p:childTnLst>
                                    <p:set>
                                      <p:cBhvr>
                                        <p:cTn id="165" dur="1" fill="hold">
                                          <p:stCondLst>
                                            <p:cond delay="0"/>
                                          </p:stCondLst>
                                        </p:cTn>
                                        <p:tgtEl>
                                          <p:spTgt spid="98"/>
                                        </p:tgtEl>
                                        <p:attrNameLst>
                                          <p:attrName>style.visibility</p:attrName>
                                        </p:attrNameLst>
                                      </p:cBhvr>
                                      <p:to>
                                        <p:strVal val="visible"/>
                                      </p:to>
                                    </p:set>
                                    <p:animEffect transition="in" filter="wipe(down)">
                                      <p:cBhvr>
                                        <p:cTn id="166" dur="500"/>
                                        <p:tgtEl>
                                          <p:spTgt spid="98"/>
                                        </p:tgtEl>
                                      </p:cBhvr>
                                    </p:animEffect>
                                  </p:childTnLst>
                                </p:cTn>
                              </p:par>
                            </p:childTnLst>
                          </p:cTn>
                        </p:par>
                      </p:childTnLst>
                    </p:cTn>
                  </p:par>
                  <p:par>
                    <p:cTn id="167" fill="hold">
                      <p:stCondLst>
                        <p:cond delay="indefinite"/>
                      </p:stCondLst>
                      <p:childTnLst>
                        <p:par>
                          <p:cTn id="168" fill="hold">
                            <p:stCondLst>
                              <p:cond delay="0"/>
                            </p:stCondLst>
                            <p:childTnLst>
                              <p:par>
                                <p:cTn id="169" presetID="16" presetClass="entr" presetSubtype="21" fill="hold" grpId="0" nodeType="clickEffect">
                                  <p:stCondLst>
                                    <p:cond delay="0"/>
                                  </p:stCondLst>
                                  <p:childTnLst>
                                    <p:set>
                                      <p:cBhvr>
                                        <p:cTn id="170" dur="1" fill="hold">
                                          <p:stCondLst>
                                            <p:cond delay="0"/>
                                          </p:stCondLst>
                                        </p:cTn>
                                        <p:tgtEl>
                                          <p:spTgt spid="104"/>
                                        </p:tgtEl>
                                        <p:attrNameLst>
                                          <p:attrName>style.visibility</p:attrName>
                                        </p:attrNameLst>
                                      </p:cBhvr>
                                      <p:to>
                                        <p:strVal val="visible"/>
                                      </p:to>
                                    </p:set>
                                    <p:animEffect transition="in" filter="barn(inVertical)">
                                      <p:cBhvr>
                                        <p:cTn id="171"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3" grpId="0"/>
      <p:bldP spid="14" grpId="0"/>
      <p:bldP spid="15" grpId="0"/>
      <p:bldP spid="16" grpId="0"/>
      <p:bldP spid="17" grpId="0"/>
      <p:bldP spid="18" grpId="0"/>
      <p:bldP spid="38" grpId="0"/>
      <p:bldP spid="54" grpId="0"/>
      <p:bldP spid="59" grpId="0"/>
      <p:bldP spid="91" grpId="0" animBg="1"/>
      <p:bldP spid="93" grpId="0" animBg="1"/>
      <p:bldP spid="94" grpId="0" animBg="1"/>
      <p:bldP spid="98" grpId="0"/>
      <p:bldP spid="10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640ED-2CA5-4BE6-8060-257AEBE7954B}"/>
              </a:ext>
            </a:extLst>
          </p:cNvPr>
          <p:cNvSpPr>
            <a:spLocks noGrp="1"/>
          </p:cNvSpPr>
          <p:nvPr>
            <p:ph type="title"/>
          </p:nvPr>
        </p:nvSpPr>
        <p:spPr/>
        <p:txBody>
          <a:bodyPr/>
          <a:lstStyle/>
          <a:p>
            <a:r>
              <a:rPr lang="zh-CN" altLang="en-US" dirty="0"/>
              <a:t>单纯形法最优解的判断条件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2A2CCCA-430E-4ACE-B544-CF04C43D5ED8}"/>
                  </a:ext>
                </a:extLst>
              </p:cNvPr>
              <p:cNvSpPr>
                <a:spLocks noGrp="1"/>
              </p:cNvSpPr>
              <p:nvPr>
                <p:ph idx="1"/>
              </p:nvPr>
            </p:nvSpPr>
            <p:spPr/>
            <p:txBody>
              <a:bodyPr/>
              <a:lstStyle/>
              <a:p>
                <a:r>
                  <a:rPr lang="zh-CN" altLang="en-US" dirty="0"/>
                  <a:t>单纯形表中，观察如下：</a:t>
                </a:r>
                <a:endParaRPr lang="en-US" altLang="zh-CN" dirty="0"/>
              </a:p>
              <a:p>
                <a:pPr lvl="1"/>
                <a:r>
                  <a:rPr lang="zh-CN" altLang="en-US" dirty="0"/>
                  <a:t>对于判别系数</a:t>
                </a:r>
                <a14:m>
                  <m:oMath xmlns:m="http://schemas.openxmlformats.org/officeDocument/2006/math">
                    <m:r>
                      <a:rPr lang="zh-CN" altLang="en-US" kern="1200">
                        <a:latin typeface="Cambria Math" panose="02040503050406030204" pitchFamily="18" charset="0"/>
                      </a:rPr>
                      <m:t>𝜎</m:t>
                    </m:r>
                  </m:oMath>
                </a14:m>
                <a:r>
                  <a:rPr lang="zh-CN" altLang="en-US" kern="1200" dirty="0"/>
                  <a:t>：</a:t>
                </a:r>
                <a:endParaRPr lang="en-US" altLang="zh-CN" kern="1200" dirty="0"/>
              </a:p>
              <a:p>
                <a:pPr lvl="2"/>
                <a:r>
                  <a:rPr lang="zh-CN" altLang="en-US" kern="1200" dirty="0"/>
                  <a:t>如果都大于等于</a:t>
                </a:r>
                <a:r>
                  <a:rPr lang="en-US" altLang="zh-CN" kern="1200" dirty="0"/>
                  <a:t>0</a:t>
                </a:r>
                <a:r>
                  <a:rPr lang="zh-CN" altLang="en-US" kern="1200" dirty="0"/>
                  <a:t>，则此时的</a:t>
                </a:r>
                <a:r>
                  <a:rPr lang="zh-CN" altLang="en-US" kern="1200" dirty="0">
                    <a:solidFill>
                      <a:srgbClr val="C00000"/>
                    </a:solidFill>
                  </a:rPr>
                  <a:t>可行解就是最优解</a:t>
                </a:r>
                <a:endParaRPr lang="en-US" altLang="zh-CN" kern="1200" dirty="0">
                  <a:solidFill>
                    <a:srgbClr val="C00000"/>
                  </a:solidFill>
                </a:endParaRPr>
              </a:p>
              <a:p>
                <a:pPr lvl="2"/>
                <a:r>
                  <a:rPr lang="zh-CN" altLang="en-US" kern="1200" dirty="0"/>
                  <a:t>如果存在任意的负数，则当前可行解不是最优解</a:t>
                </a:r>
                <a:endParaRPr lang="en-US" altLang="zh-CN" kern="1200" dirty="0"/>
              </a:p>
              <a:p>
                <a:pPr lvl="1"/>
                <a:r>
                  <a:rPr lang="zh-CN" altLang="en-US" kern="1200" dirty="0"/>
                  <a:t>对于替换系数</a:t>
                </a:r>
                <a:r>
                  <a:rPr lang="en-US" altLang="zh-CN" kern="1200" dirty="0"/>
                  <a:t>q</a:t>
                </a:r>
                <a:r>
                  <a:rPr lang="zh-CN" altLang="en-US" kern="1200" dirty="0"/>
                  <a:t>：</a:t>
                </a:r>
                <a:endParaRPr lang="en-US" altLang="zh-CN" kern="1200" dirty="0"/>
              </a:p>
              <a:p>
                <a:pPr lvl="2"/>
                <a:r>
                  <a:rPr lang="zh-CN" altLang="en-US" kern="1200" dirty="0"/>
                  <a:t>如果所有的</a:t>
                </a:r>
                <a:r>
                  <a:rPr lang="en-US" altLang="zh-CN" kern="1200" dirty="0"/>
                  <a:t>q</a:t>
                </a:r>
                <a:r>
                  <a:rPr lang="zh-CN" altLang="en-US" kern="1200" dirty="0"/>
                  <a:t>值都为负数或者无意义，则此线性规划问题</a:t>
                </a:r>
                <a:r>
                  <a:rPr lang="zh-CN" altLang="en-US" kern="1200" dirty="0">
                    <a:solidFill>
                      <a:srgbClr val="0000FF"/>
                    </a:solidFill>
                  </a:rPr>
                  <a:t>无最优解，或称为存在无界解</a:t>
                </a:r>
              </a:p>
              <a:p>
                <a:pPr lvl="1"/>
                <a:endParaRPr lang="zh-CN" altLang="en-US" dirty="0"/>
              </a:p>
            </p:txBody>
          </p:sp>
        </mc:Choice>
        <mc:Fallback xmlns="">
          <p:sp>
            <p:nvSpPr>
              <p:cNvPr id="3" name="内容占位符 2">
                <a:extLst>
                  <a:ext uri="{FF2B5EF4-FFF2-40B4-BE49-F238E27FC236}">
                    <a16:creationId xmlns:a16="http://schemas.microsoft.com/office/drawing/2014/main" id="{A2A2CCCA-430E-4ACE-B544-CF04C43D5ED8}"/>
                  </a:ext>
                </a:extLst>
              </p:cNvPr>
              <p:cNvSpPr>
                <a:spLocks noGrp="1" noRot="1" noChangeAspect="1" noMove="1" noResize="1" noEditPoints="1" noAdjustHandles="1" noChangeArrowheads="1" noChangeShapeType="1" noTextEdit="1"/>
              </p:cNvSpPr>
              <p:nvPr>
                <p:ph idx="1"/>
              </p:nvPr>
            </p:nvSpPr>
            <p:spPr>
              <a:blipFill>
                <a:blip r:embed="rId2"/>
                <a:stretch>
                  <a:fillRect l="-1066" t="-2083"/>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FDC79605-34C6-4387-BF55-B5612E98E30A}"/>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F64BBFEC-0A3F-4301-B059-B9F1F4DBAEAB}"/>
              </a:ext>
            </a:extLst>
          </p:cNvPr>
          <p:cNvSpPr>
            <a:spLocks noGrp="1"/>
          </p:cNvSpPr>
          <p:nvPr>
            <p:ph type="sldNum" sz="quarter" idx="12"/>
          </p:nvPr>
        </p:nvSpPr>
        <p:spPr/>
        <p:txBody>
          <a:bodyPr/>
          <a:lstStyle/>
          <a:p>
            <a:fld id="{7AC79822-BC0D-4DE8-A7E5-90A3732A2B82}" type="slidenum">
              <a:rPr lang="zh-CN" altLang="en-US" smtClean="0"/>
              <a:pPr/>
              <a:t>16</a:t>
            </a:fld>
            <a:endParaRPr lang="en-US" altLang="zh-CN"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0C0B693-8BD9-4CE3-AAC0-AA1AAE871FE1}"/>
                  </a:ext>
                </a:extLst>
              </p:cNvPr>
              <p:cNvSpPr txBox="1"/>
              <p:nvPr/>
            </p:nvSpPr>
            <p:spPr>
              <a:xfrm>
                <a:off x="884548" y="5373216"/>
                <a:ext cx="8136904" cy="954107"/>
              </a:xfrm>
              <a:prstGeom prst="rect">
                <a:avLst/>
              </a:prstGeom>
              <a:solidFill>
                <a:srgbClr val="FFFF66"/>
              </a:solidFill>
              <a:ln>
                <a:solidFill>
                  <a:schemeClr val="tx1"/>
                </a:solidFill>
              </a:ln>
            </p:spPr>
            <p:txBody>
              <a:bodyPr wrap="square" rtlCol="0">
                <a:spAutoFit/>
              </a:bodyPr>
              <a:lstStyle/>
              <a:p>
                <a:r>
                  <a:rPr lang="zh-CN" altLang="en-US" sz="2800" dirty="0">
                    <a:solidFill>
                      <a:srgbClr val="FF0000"/>
                    </a:solidFill>
                  </a:rPr>
                  <a:t>更简单的判断方法：</a:t>
                </a:r>
                <a:r>
                  <a:rPr lang="zh-CN" altLang="en-US" sz="2800" dirty="0"/>
                  <a:t>若任意的一个</a:t>
                </a:r>
                <a14:m>
                  <m:oMath xmlns:m="http://schemas.openxmlformats.org/officeDocument/2006/math">
                    <m:r>
                      <a:rPr lang="zh-CN" altLang="en-US" sz="2800">
                        <a:latin typeface="Cambria Math" panose="02040503050406030204" pitchFamily="18" charset="0"/>
                      </a:rPr>
                      <m:t>𝜎</m:t>
                    </m:r>
                  </m:oMath>
                </a14:m>
                <a:r>
                  <a:rPr lang="zh-CN" altLang="en-US" sz="2800" dirty="0"/>
                  <a:t>为负数的非基变量对应的列中系数都为负数，则存在无界解</a:t>
                </a:r>
              </a:p>
            </p:txBody>
          </p:sp>
        </mc:Choice>
        <mc:Fallback xmlns="">
          <p:sp>
            <p:nvSpPr>
              <p:cNvPr id="7" name="文本框 6">
                <a:extLst>
                  <a:ext uri="{FF2B5EF4-FFF2-40B4-BE49-F238E27FC236}">
                    <a16:creationId xmlns:a16="http://schemas.microsoft.com/office/drawing/2014/main" id="{E0C0B693-8BD9-4CE3-AAC0-AA1AAE871FE1}"/>
                  </a:ext>
                </a:extLst>
              </p:cNvPr>
              <p:cNvSpPr txBox="1">
                <a:spLocks noRot="1" noChangeAspect="1" noMove="1" noResize="1" noEditPoints="1" noAdjustHandles="1" noChangeArrowheads="1" noChangeShapeType="1" noTextEdit="1"/>
              </p:cNvSpPr>
              <p:nvPr/>
            </p:nvSpPr>
            <p:spPr>
              <a:xfrm>
                <a:off x="884548" y="5373216"/>
                <a:ext cx="8136904" cy="954107"/>
              </a:xfrm>
              <a:prstGeom prst="rect">
                <a:avLst/>
              </a:prstGeom>
              <a:blipFill>
                <a:blip r:embed="rId3"/>
                <a:stretch>
                  <a:fillRect l="-1421" t="-5660" b="-15723"/>
                </a:stretch>
              </a:blipFill>
              <a:ln>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2750254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951A91-D00D-4A0A-8BB1-86B0E9BB3246}"/>
              </a:ext>
            </a:extLst>
          </p:cNvPr>
          <p:cNvSpPr>
            <a:spLocks noGrp="1"/>
          </p:cNvSpPr>
          <p:nvPr>
            <p:ph type="title"/>
          </p:nvPr>
        </p:nvSpPr>
        <p:spPr/>
        <p:txBody>
          <a:bodyPr/>
          <a:lstStyle/>
          <a:p>
            <a:r>
              <a:rPr lang="zh-CN" altLang="en-US" dirty="0"/>
              <a:t>人工变量法</a:t>
            </a:r>
          </a:p>
        </p:txBody>
      </p:sp>
      <p:sp>
        <p:nvSpPr>
          <p:cNvPr id="3" name="内容占位符 2">
            <a:extLst>
              <a:ext uri="{FF2B5EF4-FFF2-40B4-BE49-F238E27FC236}">
                <a16:creationId xmlns:a16="http://schemas.microsoft.com/office/drawing/2014/main" id="{F4BD35F4-ABE9-497C-85AA-FF56107D72FA}"/>
              </a:ext>
            </a:extLst>
          </p:cNvPr>
          <p:cNvSpPr>
            <a:spLocks noGrp="1"/>
          </p:cNvSpPr>
          <p:nvPr>
            <p:ph idx="1"/>
          </p:nvPr>
        </p:nvSpPr>
        <p:spPr>
          <a:xfrm>
            <a:off x="58044" y="1196752"/>
            <a:ext cx="9719492" cy="5264289"/>
          </a:xfrm>
        </p:spPr>
        <p:txBody>
          <a:bodyPr/>
          <a:lstStyle/>
          <a:p>
            <a:r>
              <a:rPr lang="zh-CN" altLang="en-US" dirty="0"/>
              <a:t>例</a:t>
            </a:r>
            <a:r>
              <a:rPr lang="en-US" altLang="zh-CN" dirty="0"/>
              <a:t>2</a:t>
            </a:r>
            <a:r>
              <a:rPr lang="zh-CN" altLang="en-US" dirty="0"/>
              <a:t>：用单纯形法求解下列线性规划问题</a:t>
            </a:r>
          </a:p>
        </p:txBody>
      </p:sp>
      <p:sp>
        <p:nvSpPr>
          <p:cNvPr id="4" name="日期占位符 3">
            <a:extLst>
              <a:ext uri="{FF2B5EF4-FFF2-40B4-BE49-F238E27FC236}">
                <a16:creationId xmlns:a16="http://schemas.microsoft.com/office/drawing/2014/main" id="{4F79ADD7-245B-4CC7-8B6A-78D8E043C167}"/>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A052AC97-1B89-46E8-BC63-2C7B0FAD951D}"/>
              </a:ext>
            </a:extLst>
          </p:cNvPr>
          <p:cNvSpPr>
            <a:spLocks noGrp="1"/>
          </p:cNvSpPr>
          <p:nvPr>
            <p:ph type="sldNum" sz="quarter" idx="12"/>
          </p:nvPr>
        </p:nvSpPr>
        <p:spPr/>
        <p:txBody>
          <a:bodyPr/>
          <a:lstStyle/>
          <a:p>
            <a:fld id="{7AC79822-BC0D-4DE8-A7E5-90A3732A2B82}" type="slidenum">
              <a:rPr lang="zh-CN" altLang="en-US" smtClean="0"/>
              <a:pPr/>
              <a:t>17</a:t>
            </a:fld>
            <a:endParaRPr lang="en-US" altLang="zh-CN" dirty="0"/>
          </a:p>
        </p:txBody>
      </p:sp>
      <p:graphicFrame>
        <p:nvGraphicFramePr>
          <p:cNvPr id="6" name="对象 5">
            <a:extLst>
              <a:ext uri="{FF2B5EF4-FFF2-40B4-BE49-F238E27FC236}">
                <a16:creationId xmlns:a16="http://schemas.microsoft.com/office/drawing/2014/main" id="{380C3C79-04BC-4BA6-9A7C-ABB59094FA73}"/>
              </a:ext>
            </a:extLst>
          </p:cNvPr>
          <p:cNvGraphicFramePr>
            <a:graphicFrameLocks noChangeAspect="1"/>
          </p:cNvGraphicFramePr>
          <p:nvPr>
            <p:extLst>
              <p:ext uri="{D42A27DB-BD31-4B8C-83A1-F6EECF244321}">
                <p14:modId xmlns:p14="http://schemas.microsoft.com/office/powerpoint/2010/main" val="3492782598"/>
              </p:ext>
            </p:extLst>
          </p:nvPr>
        </p:nvGraphicFramePr>
        <p:xfrm>
          <a:off x="1136576" y="1988840"/>
          <a:ext cx="6757987" cy="4122737"/>
        </p:xfrm>
        <a:graphic>
          <a:graphicData uri="http://schemas.openxmlformats.org/presentationml/2006/ole">
            <mc:AlternateContent xmlns:mc="http://schemas.openxmlformats.org/markup-compatibility/2006">
              <mc:Choice xmlns:v="urn:schemas-microsoft-com:vml" Requires="v">
                <p:oleObj name="Equation" r:id="rId2" imgW="1955520" imgH="1193760" progId="Equation.DSMT4">
                  <p:embed/>
                </p:oleObj>
              </mc:Choice>
              <mc:Fallback>
                <p:oleObj name="Equation" r:id="rId2" imgW="1955520" imgH="1193760" progId="Equation.DSMT4">
                  <p:embed/>
                  <p:pic>
                    <p:nvPicPr>
                      <p:cNvPr id="6" name="对象 5">
                        <a:extLst>
                          <a:ext uri="{FF2B5EF4-FFF2-40B4-BE49-F238E27FC236}">
                            <a16:creationId xmlns:a16="http://schemas.microsoft.com/office/drawing/2014/main" id="{F64AB151-BC79-4A5B-BFCD-87B871EA4079}"/>
                          </a:ext>
                        </a:extLst>
                      </p:cNvPr>
                      <p:cNvPicPr/>
                      <p:nvPr/>
                    </p:nvPicPr>
                    <p:blipFill>
                      <a:blip r:embed="rId3"/>
                      <a:stretch>
                        <a:fillRect/>
                      </a:stretch>
                    </p:blipFill>
                    <p:spPr>
                      <a:xfrm>
                        <a:off x="1136576" y="1988840"/>
                        <a:ext cx="6757987" cy="4122737"/>
                      </a:xfrm>
                      <a:prstGeom prst="rect">
                        <a:avLst/>
                      </a:prstGeom>
                      <a:ln w="28575">
                        <a:noFill/>
                      </a:ln>
                    </p:spPr>
                  </p:pic>
                </p:oleObj>
              </mc:Fallback>
            </mc:AlternateContent>
          </a:graphicData>
        </a:graphic>
      </p:graphicFrame>
    </p:spTree>
    <p:extLst>
      <p:ext uri="{BB962C8B-B14F-4D97-AF65-F5344CB8AC3E}">
        <p14:creationId xmlns:p14="http://schemas.microsoft.com/office/powerpoint/2010/main" val="1410432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18</a:t>
            </a:fld>
            <a:endParaRPr lang="en-US" altLang="zh-CN" dirty="0"/>
          </a:p>
        </p:txBody>
      </p:sp>
      <p:sp>
        <p:nvSpPr>
          <p:cNvPr id="9" name="文本框 8">
            <a:extLst>
              <a:ext uri="{FF2B5EF4-FFF2-40B4-BE49-F238E27FC236}">
                <a16:creationId xmlns:a16="http://schemas.microsoft.com/office/drawing/2014/main" id="{22D309AC-A548-473A-A28D-20C7382385CE}"/>
              </a:ext>
            </a:extLst>
          </p:cNvPr>
          <p:cNvSpPr txBox="1"/>
          <p:nvPr/>
        </p:nvSpPr>
        <p:spPr>
          <a:xfrm>
            <a:off x="92949" y="1156062"/>
            <a:ext cx="2379177" cy="523220"/>
          </a:xfrm>
          <a:prstGeom prst="rect">
            <a:avLst/>
          </a:prstGeom>
          <a:noFill/>
        </p:spPr>
        <p:txBody>
          <a:bodyPr wrap="none" rtlCol="0">
            <a:spAutoFit/>
          </a:bodyPr>
          <a:lstStyle/>
          <a:p>
            <a:r>
              <a:rPr lang="en-US" altLang="zh-CN" sz="2800" dirty="0"/>
              <a:t>1. </a:t>
            </a:r>
            <a:r>
              <a:rPr lang="zh-CN" altLang="en-US" sz="2800" dirty="0"/>
              <a:t>化成标准形</a:t>
            </a:r>
            <a:endParaRPr lang="en-US" altLang="zh-CN" sz="2800" dirty="0"/>
          </a:p>
        </p:txBody>
      </p:sp>
      <p:sp>
        <p:nvSpPr>
          <p:cNvPr id="11" name="文本框 10">
            <a:extLst>
              <a:ext uri="{FF2B5EF4-FFF2-40B4-BE49-F238E27FC236}">
                <a16:creationId xmlns:a16="http://schemas.microsoft.com/office/drawing/2014/main" id="{1FD6470E-07A2-409F-9983-47EA70511BFC}"/>
              </a:ext>
            </a:extLst>
          </p:cNvPr>
          <p:cNvSpPr txBox="1"/>
          <p:nvPr/>
        </p:nvSpPr>
        <p:spPr>
          <a:xfrm>
            <a:off x="470526" y="1869848"/>
            <a:ext cx="4403456" cy="3046988"/>
          </a:xfrm>
          <a:prstGeom prst="rect">
            <a:avLst/>
          </a:prstGeom>
          <a:noFill/>
        </p:spPr>
        <p:txBody>
          <a:bodyPr wrap="square" rtlCol="0">
            <a:spAutoFit/>
          </a:bodyPr>
          <a:lstStyle/>
          <a:p>
            <a:pPr marL="342900" indent="-342900">
              <a:buFont typeface="+mj-ea"/>
              <a:buAutoNum type="circleNumDbPlain"/>
            </a:pPr>
            <a:r>
              <a:rPr lang="zh-CN" altLang="en-US" sz="2400" dirty="0"/>
              <a:t>将目标函数化成</a:t>
            </a:r>
            <a:r>
              <a:rPr lang="en-US" altLang="zh-CN" sz="2400" dirty="0"/>
              <a:t>min</a:t>
            </a:r>
            <a:r>
              <a:rPr lang="zh-CN" altLang="en-US" sz="2400" dirty="0"/>
              <a:t>形式</a:t>
            </a:r>
            <a:endParaRPr lang="en-US" altLang="zh-CN" sz="2400" dirty="0"/>
          </a:p>
          <a:p>
            <a:pPr marL="342900" indent="-342900">
              <a:buFont typeface="+mj-ea"/>
              <a:buAutoNum type="circleNumDbPlain"/>
            </a:pPr>
            <a:r>
              <a:rPr lang="zh-CN" altLang="en-US" sz="2400" dirty="0"/>
              <a:t>分别将约束条件中除变量非负之外的不等式约束变成等式约束：</a:t>
            </a:r>
            <a:endParaRPr lang="en-US" altLang="zh-CN" sz="2400" dirty="0"/>
          </a:p>
          <a:p>
            <a:pPr marL="914400" lvl="1" indent="-457200">
              <a:buFont typeface="+mj-lt"/>
              <a:buAutoNum type="alphaLcParenR"/>
            </a:pPr>
            <a:r>
              <a:rPr lang="zh-CN" altLang="en-US" sz="2400" dirty="0"/>
              <a:t>小于等于情况加上一个非负变量</a:t>
            </a:r>
            <a:endParaRPr lang="en-US" altLang="zh-CN" sz="2400" dirty="0"/>
          </a:p>
          <a:p>
            <a:pPr marL="914400" lvl="1" indent="-457200">
              <a:buFont typeface="+mj-lt"/>
              <a:buAutoNum type="alphaLcParenR"/>
            </a:pPr>
            <a:r>
              <a:rPr lang="zh-CN" altLang="en-US" sz="2400" dirty="0"/>
              <a:t>大于等于情况减去一个非负变量</a:t>
            </a:r>
          </a:p>
        </p:txBody>
      </p:sp>
      <p:sp>
        <p:nvSpPr>
          <p:cNvPr id="12" name="箭头: 左弧形 11">
            <a:extLst>
              <a:ext uri="{FF2B5EF4-FFF2-40B4-BE49-F238E27FC236}">
                <a16:creationId xmlns:a16="http://schemas.microsoft.com/office/drawing/2014/main" id="{C685E2B4-2955-4298-AD65-C23CB70F5F70}"/>
              </a:ext>
            </a:extLst>
          </p:cNvPr>
          <p:cNvSpPr/>
          <p:nvPr/>
        </p:nvSpPr>
        <p:spPr bwMode="auto">
          <a:xfrm>
            <a:off x="4592960" y="3429000"/>
            <a:ext cx="792088" cy="1368152"/>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aphicFrame>
        <p:nvGraphicFramePr>
          <p:cNvPr id="13" name="对象 12">
            <a:extLst>
              <a:ext uri="{FF2B5EF4-FFF2-40B4-BE49-F238E27FC236}">
                <a16:creationId xmlns:a16="http://schemas.microsoft.com/office/drawing/2014/main" id="{11ADF031-BC79-43B2-8192-DC63EB3EE0F3}"/>
              </a:ext>
            </a:extLst>
          </p:cNvPr>
          <p:cNvGraphicFramePr>
            <a:graphicFrameLocks noChangeAspect="1"/>
          </p:cNvGraphicFramePr>
          <p:nvPr>
            <p:extLst>
              <p:ext uri="{D42A27DB-BD31-4B8C-83A1-F6EECF244321}">
                <p14:modId xmlns:p14="http://schemas.microsoft.com/office/powerpoint/2010/main" val="3453183294"/>
              </p:ext>
            </p:extLst>
          </p:nvPr>
        </p:nvGraphicFramePr>
        <p:xfrm>
          <a:off x="5281319" y="1111711"/>
          <a:ext cx="4624681" cy="2821305"/>
        </p:xfrm>
        <a:graphic>
          <a:graphicData uri="http://schemas.openxmlformats.org/presentationml/2006/ole">
            <mc:AlternateContent xmlns:mc="http://schemas.openxmlformats.org/markup-compatibility/2006">
              <mc:Choice xmlns:v="urn:schemas-microsoft-com:vml" Requires="v">
                <p:oleObj name="Equation" r:id="rId2" imgW="1955520" imgH="1193760" progId="Equation.DSMT4">
                  <p:embed/>
                </p:oleObj>
              </mc:Choice>
              <mc:Fallback>
                <p:oleObj name="Equation" r:id="rId2" imgW="1955520" imgH="1193760" progId="Equation.DSMT4">
                  <p:embed/>
                  <p:pic>
                    <p:nvPicPr>
                      <p:cNvPr id="6" name="对象 5">
                        <a:extLst>
                          <a:ext uri="{FF2B5EF4-FFF2-40B4-BE49-F238E27FC236}">
                            <a16:creationId xmlns:a16="http://schemas.microsoft.com/office/drawing/2014/main" id="{380C3C79-04BC-4BA6-9A7C-ABB59094FA73}"/>
                          </a:ext>
                        </a:extLst>
                      </p:cNvPr>
                      <p:cNvPicPr/>
                      <p:nvPr/>
                    </p:nvPicPr>
                    <p:blipFill>
                      <a:blip r:embed="rId3"/>
                      <a:stretch>
                        <a:fillRect/>
                      </a:stretch>
                    </p:blipFill>
                    <p:spPr>
                      <a:xfrm>
                        <a:off x="5281319" y="1111711"/>
                        <a:ext cx="4624681" cy="2821305"/>
                      </a:xfrm>
                      <a:prstGeom prst="rect">
                        <a:avLst/>
                      </a:prstGeom>
                      <a:ln w="28575">
                        <a:noFill/>
                      </a:ln>
                    </p:spPr>
                  </p:pic>
                </p:oleObj>
              </mc:Fallback>
            </mc:AlternateContent>
          </a:graphicData>
        </a:graphic>
      </p:graphicFrame>
      <p:graphicFrame>
        <p:nvGraphicFramePr>
          <p:cNvPr id="14" name="对象 13">
            <a:extLst>
              <a:ext uri="{FF2B5EF4-FFF2-40B4-BE49-F238E27FC236}">
                <a16:creationId xmlns:a16="http://schemas.microsoft.com/office/drawing/2014/main" id="{B5B49597-8576-484C-93E1-7353F2A315AD}"/>
              </a:ext>
            </a:extLst>
          </p:cNvPr>
          <p:cNvGraphicFramePr>
            <a:graphicFrameLocks noChangeAspect="1"/>
          </p:cNvGraphicFramePr>
          <p:nvPr>
            <p:extLst>
              <p:ext uri="{D42A27DB-BD31-4B8C-83A1-F6EECF244321}">
                <p14:modId xmlns:p14="http://schemas.microsoft.com/office/powerpoint/2010/main" val="2859625113"/>
              </p:ext>
            </p:extLst>
          </p:nvPr>
        </p:nvGraphicFramePr>
        <p:xfrm>
          <a:off x="5169024" y="3983038"/>
          <a:ext cx="4773613" cy="2820987"/>
        </p:xfrm>
        <a:graphic>
          <a:graphicData uri="http://schemas.openxmlformats.org/presentationml/2006/ole">
            <mc:AlternateContent xmlns:mc="http://schemas.openxmlformats.org/markup-compatibility/2006">
              <mc:Choice xmlns:v="urn:schemas-microsoft-com:vml" Requires="v">
                <p:oleObj name="Equation" r:id="rId4" imgW="2019240" imgH="1193760" progId="Equation.DSMT4">
                  <p:embed/>
                </p:oleObj>
              </mc:Choice>
              <mc:Fallback>
                <p:oleObj name="Equation" r:id="rId4" imgW="2019240" imgH="1193760" progId="Equation.DSMT4">
                  <p:embed/>
                  <p:pic>
                    <p:nvPicPr>
                      <p:cNvPr id="13" name="对象 12">
                        <a:extLst>
                          <a:ext uri="{FF2B5EF4-FFF2-40B4-BE49-F238E27FC236}">
                            <a16:creationId xmlns:a16="http://schemas.microsoft.com/office/drawing/2014/main" id="{11ADF031-BC79-43B2-8192-DC63EB3EE0F3}"/>
                          </a:ext>
                        </a:extLst>
                      </p:cNvPr>
                      <p:cNvPicPr/>
                      <p:nvPr/>
                    </p:nvPicPr>
                    <p:blipFill>
                      <a:blip r:embed="rId5"/>
                      <a:stretch>
                        <a:fillRect/>
                      </a:stretch>
                    </p:blipFill>
                    <p:spPr>
                      <a:xfrm>
                        <a:off x="5169024" y="3983038"/>
                        <a:ext cx="4773613" cy="2820987"/>
                      </a:xfrm>
                      <a:prstGeom prst="rect">
                        <a:avLst/>
                      </a:prstGeom>
                      <a:ln w="28575">
                        <a:noFill/>
                      </a:ln>
                    </p:spPr>
                  </p:pic>
                </p:oleObj>
              </mc:Fallback>
            </mc:AlternateContent>
          </a:graphicData>
        </a:graphic>
      </p:graphicFrame>
    </p:spTree>
    <p:extLst>
      <p:ext uri="{BB962C8B-B14F-4D97-AF65-F5344CB8AC3E}">
        <p14:creationId xmlns:p14="http://schemas.microsoft.com/office/powerpoint/2010/main" val="2646708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barn(inVertical)">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arn(inVertical)">
                                      <p:cBhvr>
                                        <p:cTn id="19" dur="500"/>
                                        <p:tgtEl>
                                          <p:spTgt spid="12"/>
                                        </p:tgtEl>
                                      </p:cBhvr>
                                    </p:animEffect>
                                  </p:childTnLst>
                                </p:cTn>
                              </p:par>
                            </p:childTnLst>
                          </p:cTn>
                        </p:par>
                        <p:par>
                          <p:cTn id="20" fill="hold">
                            <p:stCondLst>
                              <p:cond delay="1000"/>
                            </p:stCondLst>
                            <p:childTnLst>
                              <p:par>
                                <p:cTn id="21" presetID="16" presetClass="entr" presetSubtype="21"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05F8C-A54D-4F6E-8FC3-4D7CC7E2815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02234D7F-6610-42E7-8099-DA4AF4E35B9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ED234B76-4984-4F2F-900A-E8FE8B24EE2A}"/>
              </a:ext>
            </a:extLst>
          </p:cNvPr>
          <p:cNvSpPr>
            <a:spLocks noGrp="1"/>
          </p:cNvSpPr>
          <p:nvPr>
            <p:ph type="sldNum" sz="quarter" idx="12"/>
          </p:nvPr>
        </p:nvSpPr>
        <p:spPr/>
        <p:txBody>
          <a:bodyPr/>
          <a:lstStyle/>
          <a:p>
            <a:fld id="{7AC79822-BC0D-4DE8-A7E5-90A3732A2B82}" type="slidenum">
              <a:rPr lang="zh-CN" altLang="en-US" smtClean="0"/>
              <a:pPr/>
              <a:t>19</a:t>
            </a:fld>
            <a:endParaRPr lang="en-US" altLang="zh-CN" dirty="0"/>
          </a:p>
        </p:txBody>
      </p:sp>
      <p:sp>
        <p:nvSpPr>
          <p:cNvPr id="9" name="文本框 8">
            <a:extLst>
              <a:ext uri="{FF2B5EF4-FFF2-40B4-BE49-F238E27FC236}">
                <a16:creationId xmlns:a16="http://schemas.microsoft.com/office/drawing/2014/main" id="{22D309AC-A548-473A-A28D-20C7382385CE}"/>
              </a:ext>
            </a:extLst>
          </p:cNvPr>
          <p:cNvSpPr txBox="1"/>
          <p:nvPr/>
        </p:nvSpPr>
        <p:spPr>
          <a:xfrm>
            <a:off x="92949" y="1156062"/>
            <a:ext cx="3815468" cy="523220"/>
          </a:xfrm>
          <a:prstGeom prst="rect">
            <a:avLst/>
          </a:prstGeom>
          <a:noFill/>
        </p:spPr>
        <p:txBody>
          <a:bodyPr wrap="none" rtlCol="0">
            <a:spAutoFit/>
          </a:bodyPr>
          <a:lstStyle/>
          <a:p>
            <a:r>
              <a:rPr lang="en-US" altLang="zh-CN" sz="2800" dirty="0"/>
              <a:t>2. </a:t>
            </a:r>
            <a:r>
              <a:rPr lang="zh-CN" altLang="en-US" sz="2800" dirty="0"/>
              <a:t>填写初始化单纯形表</a:t>
            </a:r>
            <a:endParaRPr lang="en-US" altLang="zh-CN" sz="2800" dirty="0"/>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ext uri="{D42A27DB-BD31-4B8C-83A1-F6EECF244321}">
                    <p14:modId xmlns:p14="http://schemas.microsoft.com/office/powerpoint/2010/main" val="722347167"/>
                  </p:ext>
                </p:extLst>
              </p:nvPr>
            </p:nvGraphicFramePr>
            <p:xfrm>
              <a:off x="169115" y="3541336"/>
              <a:ext cx="9461124" cy="2990784"/>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798769453"/>
                        </a:ext>
                      </a:extLst>
                    </a:gridCol>
                    <a:gridCol w="1051236">
                      <a:extLst>
                        <a:ext uri="{9D8B030D-6E8A-4147-A177-3AD203B41FA5}">
                          <a16:colId xmlns:a16="http://schemas.microsoft.com/office/drawing/2014/main" val="560815571"/>
                        </a:ext>
                      </a:extLst>
                    </a:gridCol>
                    <a:gridCol w="1051236">
                      <a:extLst>
                        <a:ext uri="{9D8B030D-6E8A-4147-A177-3AD203B41FA5}">
                          <a16:colId xmlns:a16="http://schemas.microsoft.com/office/drawing/2014/main" val="1052753358"/>
                        </a:ext>
                      </a:extLst>
                    </a:gridCol>
                    <a:gridCol w="1051236">
                      <a:extLst>
                        <a:ext uri="{9D8B030D-6E8A-4147-A177-3AD203B41FA5}">
                          <a16:colId xmlns:a16="http://schemas.microsoft.com/office/drawing/2014/main" val="1666935349"/>
                        </a:ext>
                      </a:extLst>
                    </a:gridCol>
                    <a:gridCol w="1051236">
                      <a:extLst>
                        <a:ext uri="{9D8B030D-6E8A-4147-A177-3AD203B41FA5}">
                          <a16:colId xmlns:a16="http://schemas.microsoft.com/office/drawing/2014/main" val="1606338379"/>
                        </a:ext>
                      </a:extLst>
                    </a:gridCol>
                    <a:gridCol w="1051236">
                      <a:extLst>
                        <a:ext uri="{9D8B030D-6E8A-4147-A177-3AD203B41FA5}">
                          <a16:colId xmlns:a16="http://schemas.microsoft.com/office/drawing/2014/main" val="3941924007"/>
                        </a:ext>
                      </a:extLst>
                    </a:gridCol>
                    <a:gridCol w="1051236">
                      <a:extLst>
                        <a:ext uri="{9D8B030D-6E8A-4147-A177-3AD203B41FA5}">
                          <a16:colId xmlns:a16="http://schemas.microsoft.com/office/drawing/2014/main" val="2659793867"/>
                        </a:ext>
                      </a:extLst>
                    </a:gridCol>
                    <a:gridCol w="1051236">
                      <a:extLst>
                        <a:ext uri="{9D8B030D-6E8A-4147-A177-3AD203B41FA5}">
                          <a16:colId xmlns:a16="http://schemas.microsoft.com/office/drawing/2014/main" val="281621817"/>
                        </a:ext>
                      </a:extLst>
                    </a:gridCol>
                    <a:gridCol w="1051236">
                      <a:extLst>
                        <a:ext uri="{9D8B030D-6E8A-4147-A177-3AD203B41FA5}">
                          <a16:colId xmlns:a16="http://schemas.microsoft.com/office/drawing/2014/main" val="350154188"/>
                        </a:ext>
                      </a:extLst>
                    </a:gridCol>
                  </a:tblGrid>
                  <a:tr h="49846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49846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49846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49846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49846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49846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4F3BBB32-0F00-46BA-B9C7-73EB1F6BA861}"/>
                  </a:ext>
                </a:extLst>
              </p:cNvPr>
              <p:cNvGraphicFramePr>
                <a:graphicFrameLocks noGrp="1"/>
              </p:cNvGraphicFramePr>
              <p:nvPr>
                <p:extLst>
                  <p:ext uri="{D42A27DB-BD31-4B8C-83A1-F6EECF244321}">
                    <p14:modId xmlns:p14="http://schemas.microsoft.com/office/powerpoint/2010/main" val="722347167"/>
                  </p:ext>
                </p:extLst>
              </p:nvPr>
            </p:nvGraphicFramePr>
            <p:xfrm>
              <a:off x="169115" y="3541336"/>
              <a:ext cx="9461124" cy="2990784"/>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798769453"/>
                        </a:ext>
                      </a:extLst>
                    </a:gridCol>
                    <a:gridCol w="1051236">
                      <a:extLst>
                        <a:ext uri="{9D8B030D-6E8A-4147-A177-3AD203B41FA5}">
                          <a16:colId xmlns:a16="http://schemas.microsoft.com/office/drawing/2014/main" val="560815571"/>
                        </a:ext>
                      </a:extLst>
                    </a:gridCol>
                    <a:gridCol w="1051236">
                      <a:extLst>
                        <a:ext uri="{9D8B030D-6E8A-4147-A177-3AD203B41FA5}">
                          <a16:colId xmlns:a16="http://schemas.microsoft.com/office/drawing/2014/main" val="1052753358"/>
                        </a:ext>
                      </a:extLst>
                    </a:gridCol>
                    <a:gridCol w="1051236">
                      <a:extLst>
                        <a:ext uri="{9D8B030D-6E8A-4147-A177-3AD203B41FA5}">
                          <a16:colId xmlns:a16="http://schemas.microsoft.com/office/drawing/2014/main" val="1666935349"/>
                        </a:ext>
                      </a:extLst>
                    </a:gridCol>
                    <a:gridCol w="1051236">
                      <a:extLst>
                        <a:ext uri="{9D8B030D-6E8A-4147-A177-3AD203B41FA5}">
                          <a16:colId xmlns:a16="http://schemas.microsoft.com/office/drawing/2014/main" val="1606338379"/>
                        </a:ext>
                      </a:extLst>
                    </a:gridCol>
                    <a:gridCol w="1051236">
                      <a:extLst>
                        <a:ext uri="{9D8B030D-6E8A-4147-A177-3AD203B41FA5}">
                          <a16:colId xmlns:a16="http://schemas.microsoft.com/office/drawing/2014/main" val="3941924007"/>
                        </a:ext>
                      </a:extLst>
                    </a:gridCol>
                    <a:gridCol w="1051236">
                      <a:extLst>
                        <a:ext uri="{9D8B030D-6E8A-4147-A177-3AD203B41FA5}">
                          <a16:colId xmlns:a16="http://schemas.microsoft.com/office/drawing/2014/main" val="2659793867"/>
                        </a:ext>
                      </a:extLst>
                    </a:gridCol>
                    <a:gridCol w="1051236">
                      <a:extLst>
                        <a:ext uri="{9D8B030D-6E8A-4147-A177-3AD203B41FA5}">
                          <a16:colId xmlns:a16="http://schemas.microsoft.com/office/drawing/2014/main" val="281621817"/>
                        </a:ext>
                      </a:extLst>
                    </a:gridCol>
                    <a:gridCol w="1051236">
                      <a:extLst>
                        <a:ext uri="{9D8B030D-6E8A-4147-A177-3AD203B41FA5}">
                          <a16:colId xmlns:a16="http://schemas.microsoft.com/office/drawing/2014/main" val="350154188"/>
                        </a:ext>
                      </a:extLst>
                    </a:gridCol>
                  </a:tblGrid>
                  <a:tr h="49846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702907" t="-1829" r="-101744" b="-201220"/>
                          </a:stretch>
                        </a:blipFill>
                      </a:tcPr>
                    </a:tc>
                    <a:tc rowSpan="2">
                      <a:txBody>
                        <a:bodyPr/>
                        <a:lstStyle/>
                        <a:p>
                          <a:endParaRPr lang="zh-CN"/>
                        </a:p>
                      </a:txBody>
                      <a:tcPr anchor="ctr">
                        <a:blipFill>
                          <a:blip r:embed="rId3"/>
                          <a:stretch>
                            <a:fillRect l="-798266" t="-1829" r="-1156" b="-201220"/>
                          </a:stretch>
                        </a:blipFill>
                      </a:tcPr>
                    </a:tc>
                    <a:extLst>
                      <a:ext uri="{0D108BD9-81ED-4DB2-BD59-A6C34878D82A}">
                        <a16:rowId xmlns:a16="http://schemas.microsoft.com/office/drawing/2014/main" val="3040994659"/>
                      </a:ext>
                    </a:extLst>
                  </a:tr>
                  <a:tr h="49846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49846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49846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49846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498464">
                    <a:tc gridSpan="2">
                      <a:txBody>
                        <a:bodyPr/>
                        <a:lstStyle/>
                        <a:p>
                          <a:endParaRPr lang="zh-CN"/>
                        </a:p>
                      </a:txBody>
                      <a:tcPr anchor="ctr">
                        <a:blipFill>
                          <a:blip r:embed="rId3"/>
                          <a:stretch>
                            <a:fillRect l="-290" t="-503659" r="-350725" b="-2439"/>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5" name="对象 14">
            <a:extLst>
              <a:ext uri="{FF2B5EF4-FFF2-40B4-BE49-F238E27FC236}">
                <a16:creationId xmlns:a16="http://schemas.microsoft.com/office/drawing/2014/main" id="{72F7589A-014C-44A9-9BA7-2627CB7B9AC3}"/>
              </a:ext>
            </a:extLst>
          </p:cNvPr>
          <p:cNvGraphicFramePr>
            <a:graphicFrameLocks noChangeAspect="1"/>
          </p:cNvGraphicFramePr>
          <p:nvPr>
            <p:extLst>
              <p:ext uri="{D42A27DB-BD31-4B8C-83A1-F6EECF244321}">
                <p14:modId xmlns:p14="http://schemas.microsoft.com/office/powerpoint/2010/main" val="2217456423"/>
              </p:ext>
            </p:extLst>
          </p:nvPr>
        </p:nvGraphicFramePr>
        <p:xfrm>
          <a:off x="3875110" y="1060735"/>
          <a:ext cx="4174233" cy="2466781"/>
        </p:xfrm>
        <a:graphic>
          <a:graphicData uri="http://schemas.openxmlformats.org/presentationml/2006/ole">
            <mc:AlternateContent xmlns:mc="http://schemas.openxmlformats.org/markup-compatibility/2006">
              <mc:Choice xmlns:v="urn:schemas-microsoft-com:vml" Requires="v">
                <p:oleObj name="Equation" r:id="rId4" imgW="2019240" imgH="1193760" progId="Equation.DSMT4">
                  <p:embed/>
                </p:oleObj>
              </mc:Choice>
              <mc:Fallback>
                <p:oleObj name="Equation" r:id="rId4" imgW="2019240" imgH="1193760" progId="Equation.DSMT4">
                  <p:embed/>
                  <p:pic>
                    <p:nvPicPr>
                      <p:cNvPr id="14" name="对象 13">
                        <a:extLst>
                          <a:ext uri="{FF2B5EF4-FFF2-40B4-BE49-F238E27FC236}">
                            <a16:creationId xmlns:a16="http://schemas.microsoft.com/office/drawing/2014/main" id="{B5B49597-8576-484C-93E1-7353F2A315AD}"/>
                          </a:ext>
                        </a:extLst>
                      </p:cNvPr>
                      <p:cNvPicPr/>
                      <p:nvPr/>
                    </p:nvPicPr>
                    <p:blipFill>
                      <a:blip r:embed="rId5"/>
                      <a:stretch>
                        <a:fillRect/>
                      </a:stretch>
                    </p:blipFill>
                    <p:spPr>
                      <a:xfrm>
                        <a:off x="3875110" y="1060735"/>
                        <a:ext cx="4174233" cy="2466781"/>
                      </a:xfrm>
                      <a:prstGeom prst="rect">
                        <a:avLst/>
                      </a:prstGeom>
                      <a:ln w="28575">
                        <a:noFill/>
                      </a:ln>
                    </p:spPr>
                  </p:pic>
                </p:oleObj>
              </mc:Fallback>
            </mc:AlternateContent>
          </a:graphicData>
        </a:graphic>
      </p:graphicFrame>
      <p:graphicFrame>
        <p:nvGraphicFramePr>
          <p:cNvPr id="10" name="表格 9">
            <a:extLst>
              <a:ext uri="{FF2B5EF4-FFF2-40B4-BE49-F238E27FC236}">
                <a16:creationId xmlns:a16="http://schemas.microsoft.com/office/drawing/2014/main" id="{9C3FE950-8E6A-4458-A75D-15F3C8DF4E9E}"/>
              </a:ext>
            </a:extLst>
          </p:cNvPr>
          <p:cNvGraphicFramePr>
            <a:graphicFrameLocks noGrp="1"/>
          </p:cNvGraphicFramePr>
          <p:nvPr>
            <p:extLst>
              <p:ext uri="{D42A27DB-BD31-4B8C-83A1-F6EECF244321}">
                <p14:modId xmlns:p14="http://schemas.microsoft.com/office/powerpoint/2010/main" val="154753577"/>
              </p:ext>
            </p:extLst>
          </p:nvPr>
        </p:nvGraphicFramePr>
        <p:xfrm>
          <a:off x="2271587" y="3537674"/>
          <a:ext cx="5256180" cy="498464"/>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3680696825"/>
                    </a:ext>
                  </a:extLst>
                </a:gridCol>
                <a:gridCol w="1051236">
                  <a:extLst>
                    <a:ext uri="{9D8B030D-6E8A-4147-A177-3AD203B41FA5}">
                      <a16:colId xmlns:a16="http://schemas.microsoft.com/office/drawing/2014/main" val="276787298"/>
                    </a:ext>
                  </a:extLst>
                </a:gridCol>
                <a:gridCol w="1051236">
                  <a:extLst>
                    <a:ext uri="{9D8B030D-6E8A-4147-A177-3AD203B41FA5}">
                      <a16:colId xmlns:a16="http://schemas.microsoft.com/office/drawing/2014/main" val="586067444"/>
                    </a:ext>
                  </a:extLst>
                </a:gridCol>
                <a:gridCol w="1051236">
                  <a:extLst>
                    <a:ext uri="{9D8B030D-6E8A-4147-A177-3AD203B41FA5}">
                      <a16:colId xmlns:a16="http://schemas.microsoft.com/office/drawing/2014/main" val="3916523484"/>
                    </a:ext>
                  </a:extLst>
                </a:gridCol>
                <a:gridCol w="1051236">
                  <a:extLst>
                    <a:ext uri="{9D8B030D-6E8A-4147-A177-3AD203B41FA5}">
                      <a16:colId xmlns:a16="http://schemas.microsoft.com/office/drawing/2014/main" val="1845554648"/>
                    </a:ext>
                  </a:extLst>
                </a:gridCol>
              </a:tblGrid>
              <a:tr h="49846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31637828"/>
                  </a:ext>
                </a:extLst>
              </a:tr>
            </a:tbl>
          </a:graphicData>
        </a:graphic>
      </p:graphicFrame>
      <p:graphicFrame>
        <p:nvGraphicFramePr>
          <p:cNvPr id="18" name="表格 17">
            <a:extLst>
              <a:ext uri="{FF2B5EF4-FFF2-40B4-BE49-F238E27FC236}">
                <a16:creationId xmlns:a16="http://schemas.microsoft.com/office/drawing/2014/main" id="{0C6FA693-E964-4AF9-A019-16D256164322}"/>
              </a:ext>
            </a:extLst>
          </p:cNvPr>
          <p:cNvGraphicFramePr>
            <a:graphicFrameLocks noGrp="1"/>
          </p:cNvGraphicFramePr>
          <p:nvPr>
            <p:extLst>
              <p:ext uri="{D42A27DB-BD31-4B8C-83A1-F6EECF244321}">
                <p14:modId xmlns:p14="http://schemas.microsoft.com/office/powerpoint/2010/main" val="362299217"/>
              </p:ext>
            </p:extLst>
          </p:nvPr>
        </p:nvGraphicFramePr>
        <p:xfrm>
          <a:off x="2271587" y="4046296"/>
          <a:ext cx="5256180" cy="498464"/>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3680696825"/>
                    </a:ext>
                  </a:extLst>
                </a:gridCol>
                <a:gridCol w="1051236">
                  <a:extLst>
                    <a:ext uri="{9D8B030D-6E8A-4147-A177-3AD203B41FA5}">
                      <a16:colId xmlns:a16="http://schemas.microsoft.com/office/drawing/2014/main" val="276787298"/>
                    </a:ext>
                  </a:extLst>
                </a:gridCol>
                <a:gridCol w="1051236">
                  <a:extLst>
                    <a:ext uri="{9D8B030D-6E8A-4147-A177-3AD203B41FA5}">
                      <a16:colId xmlns:a16="http://schemas.microsoft.com/office/drawing/2014/main" val="586067444"/>
                    </a:ext>
                  </a:extLst>
                </a:gridCol>
                <a:gridCol w="1051236">
                  <a:extLst>
                    <a:ext uri="{9D8B030D-6E8A-4147-A177-3AD203B41FA5}">
                      <a16:colId xmlns:a16="http://schemas.microsoft.com/office/drawing/2014/main" val="3916523484"/>
                    </a:ext>
                  </a:extLst>
                </a:gridCol>
                <a:gridCol w="1051236">
                  <a:extLst>
                    <a:ext uri="{9D8B030D-6E8A-4147-A177-3AD203B41FA5}">
                      <a16:colId xmlns:a16="http://schemas.microsoft.com/office/drawing/2014/main" val="1845554648"/>
                    </a:ext>
                  </a:extLst>
                </a:gridCol>
              </a:tblGrid>
              <a:tr h="49846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31637828"/>
                  </a:ext>
                </a:extLst>
              </a:tr>
            </a:tbl>
          </a:graphicData>
        </a:graphic>
      </p:graphicFrame>
      <p:graphicFrame>
        <p:nvGraphicFramePr>
          <p:cNvPr id="11" name="表格 10">
            <a:extLst>
              <a:ext uri="{FF2B5EF4-FFF2-40B4-BE49-F238E27FC236}">
                <a16:creationId xmlns:a16="http://schemas.microsoft.com/office/drawing/2014/main" id="{A8BF5519-1648-4D51-A9DC-EC2D8ABCBD4E}"/>
              </a:ext>
            </a:extLst>
          </p:cNvPr>
          <p:cNvGraphicFramePr>
            <a:graphicFrameLocks noGrp="1"/>
          </p:cNvGraphicFramePr>
          <p:nvPr>
            <p:extLst>
              <p:ext uri="{D42A27DB-BD31-4B8C-83A1-F6EECF244321}">
                <p14:modId xmlns:p14="http://schemas.microsoft.com/office/powerpoint/2010/main" val="3219390723"/>
              </p:ext>
            </p:extLst>
          </p:nvPr>
        </p:nvGraphicFramePr>
        <p:xfrm>
          <a:off x="2271587" y="4544760"/>
          <a:ext cx="1051236" cy="1495392"/>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3643428502"/>
                    </a:ext>
                  </a:extLst>
                </a:gridCol>
              </a:tblGrid>
              <a:tr h="49846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09456089"/>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0227563"/>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421969"/>
                  </a:ext>
                </a:extLst>
              </a:tr>
            </a:tbl>
          </a:graphicData>
        </a:graphic>
      </p:graphicFrame>
      <p:graphicFrame>
        <p:nvGraphicFramePr>
          <p:cNvPr id="19" name="表格 18">
            <a:extLst>
              <a:ext uri="{FF2B5EF4-FFF2-40B4-BE49-F238E27FC236}">
                <a16:creationId xmlns:a16="http://schemas.microsoft.com/office/drawing/2014/main" id="{860F693B-DD4E-4ECA-9B07-2D73019BAEE6}"/>
              </a:ext>
            </a:extLst>
          </p:cNvPr>
          <p:cNvGraphicFramePr>
            <a:graphicFrameLocks noGrp="1"/>
          </p:cNvGraphicFramePr>
          <p:nvPr>
            <p:extLst>
              <p:ext uri="{D42A27DB-BD31-4B8C-83A1-F6EECF244321}">
                <p14:modId xmlns:p14="http://schemas.microsoft.com/office/powerpoint/2010/main" val="2748776112"/>
              </p:ext>
            </p:extLst>
          </p:nvPr>
        </p:nvGraphicFramePr>
        <p:xfrm>
          <a:off x="3271682" y="4554918"/>
          <a:ext cx="1051236" cy="1495392"/>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3643428502"/>
                    </a:ext>
                  </a:extLst>
                </a:gridCol>
              </a:tblGrid>
              <a:tr h="498464">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09456089"/>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0227563"/>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421969"/>
                  </a:ext>
                </a:extLst>
              </a:tr>
            </a:tbl>
          </a:graphicData>
        </a:graphic>
      </p:graphicFrame>
      <p:graphicFrame>
        <p:nvGraphicFramePr>
          <p:cNvPr id="20" name="表格 19">
            <a:extLst>
              <a:ext uri="{FF2B5EF4-FFF2-40B4-BE49-F238E27FC236}">
                <a16:creationId xmlns:a16="http://schemas.microsoft.com/office/drawing/2014/main" id="{1C5BBC57-CA5B-4460-90B1-8C835E7D5D0B}"/>
              </a:ext>
            </a:extLst>
          </p:cNvPr>
          <p:cNvGraphicFramePr>
            <a:graphicFrameLocks noGrp="1"/>
          </p:cNvGraphicFramePr>
          <p:nvPr>
            <p:extLst>
              <p:ext uri="{D42A27DB-BD31-4B8C-83A1-F6EECF244321}">
                <p14:modId xmlns:p14="http://schemas.microsoft.com/office/powerpoint/2010/main" val="3092953055"/>
              </p:ext>
            </p:extLst>
          </p:nvPr>
        </p:nvGraphicFramePr>
        <p:xfrm>
          <a:off x="4374059" y="4566660"/>
          <a:ext cx="1051236" cy="1495392"/>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3643428502"/>
                    </a:ext>
                  </a:extLst>
                </a:gridCol>
              </a:tblGrid>
              <a:tr h="49846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09456089"/>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0227563"/>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421969"/>
                  </a:ext>
                </a:extLst>
              </a:tr>
            </a:tbl>
          </a:graphicData>
        </a:graphic>
      </p:graphicFrame>
      <p:graphicFrame>
        <p:nvGraphicFramePr>
          <p:cNvPr id="12" name="表格 11">
            <a:extLst>
              <a:ext uri="{FF2B5EF4-FFF2-40B4-BE49-F238E27FC236}">
                <a16:creationId xmlns:a16="http://schemas.microsoft.com/office/drawing/2014/main" id="{33EFAB06-2989-4DE2-89B9-089AC18C9829}"/>
              </a:ext>
            </a:extLst>
          </p:cNvPr>
          <p:cNvGraphicFramePr>
            <a:graphicFrameLocks noGrp="1"/>
          </p:cNvGraphicFramePr>
          <p:nvPr>
            <p:extLst>
              <p:ext uri="{D42A27DB-BD31-4B8C-83A1-F6EECF244321}">
                <p14:modId xmlns:p14="http://schemas.microsoft.com/office/powerpoint/2010/main" val="4099671566"/>
              </p:ext>
            </p:extLst>
          </p:nvPr>
        </p:nvGraphicFramePr>
        <p:xfrm>
          <a:off x="7502872" y="4535698"/>
          <a:ext cx="1051236" cy="1495392"/>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3908709330"/>
                    </a:ext>
                  </a:extLst>
                </a:gridCol>
              </a:tblGrid>
              <a:tr h="498464">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11690516"/>
                  </a:ext>
                </a:extLst>
              </a:tr>
              <a:tr h="49846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31619489"/>
                  </a:ext>
                </a:extLst>
              </a:tr>
              <a:tr h="49846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13877810"/>
                  </a:ext>
                </a:extLst>
              </a:tr>
            </a:tbl>
          </a:graphicData>
        </a:graphic>
      </p:graphicFrame>
      <p:graphicFrame>
        <p:nvGraphicFramePr>
          <p:cNvPr id="21" name="表格 20">
            <a:extLst>
              <a:ext uri="{FF2B5EF4-FFF2-40B4-BE49-F238E27FC236}">
                <a16:creationId xmlns:a16="http://schemas.microsoft.com/office/drawing/2014/main" id="{F8983C3E-E79A-4183-940D-491A5C2DDC67}"/>
              </a:ext>
            </a:extLst>
          </p:cNvPr>
          <p:cNvGraphicFramePr>
            <a:graphicFrameLocks noGrp="1"/>
          </p:cNvGraphicFramePr>
          <p:nvPr>
            <p:extLst>
              <p:ext uri="{D42A27DB-BD31-4B8C-83A1-F6EECF244321}">
                <p14:modId xmlns:p14="http://schemas.microsoft.com/office/powerpoint/2010/main" val="916883219"/>
              </p:ext>
            </p:extLst>
          </p:nvPr>
        </p:nvGraphicFramePr>
        <p:xfrm>
          <a:off x="5427849" y="4544760"/>
          <a:ext cx="1051236" cy="1495392"/>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3734263676"/>
                    </a:ext>
                  </a:extLst>
                </a:gridCol>
              </a:tblGrid>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81490844"/>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5719441"/>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8654490"/>
                  </a:ext>
                </a:extLst>
              </a:tr>
            </a:tbl>
          </a:graphicData>
        </a:graphic>
      </p:graphicFrame>
      <p:graphicFrame>
        <p:nvGraphicFramePr>
          <p:cNvPr id="22" name="表格 21">
            <a:extLst>
              <a:ext uri="{FF2B5EF4-FFF2-40B4-BE49-F238E27FC236}">
                <a16:creationId xmlns:a16="http://schemas.microsoft.com/office/drawing/2014/main" id="{55B05645-4A85-4CA9-AE09-3A6633915D75}"/>
              </a:ext>
            </a:extLst>
          </p:cNvPr>
          <p:cNvGraphicFramePr>
            <a:graphicFrameLocks noGrp="1"/>
          </p:cNvGraphicFramePr>
          <p:nvPr>
            <p:extLst>
              <p:ext uri="{D42A27DB-BD31-4B8C-83A1-F6EECF244321}">
                <p14:modId xmlns:p14="http://schemas.microsoft.com/office/powerpoint/2010/main" val="2179874760"/>
              </p:ext>
            </p:extLst>
          </p:nvPr>
        </p:nvGraphicFramePr>
        <p:xfrm>
          <a:off x="6474855" y="4535698"/>
          <a:ext cx="1051236" cy="1495392"/>
        </p:xfrm>
        <a:graphic>
          <a:graphicData uri="http://schemas.openxmlformats.org/drawingml/2006/table">
            <a:tbl>
              <a:tblPr firstRow="1" bandRow="1">
                <a:tableStyleId>{5940675A-B579-460E-94D1-54222C63F5DA}</a:tableStyleId>
              </a:tblPr>
              <a:tblGrid>
                <a:gridCol w="1051236">
                  <a:extLst>
                    <a:ext uri="{9D8B030D-6E8A-4147-A177-3AD203B41FA5}">
                      <a16:colId xmlns:a16="http://schemas.microsoft.com/office/drawing/2014/main" val="2955081049"/>
                    </a:ext>
                  </a:extLst>
                </a:gridCol>
              </a:tblGrid>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10849651"/>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61917926"/>
                  </a:ext>
                </a:extLst>
              </a:tr>
              <a:tr h="4984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7385459"/>
                  </a:ext>
                </a:extLst>
              </a:tr>
            </a:tbl>
          </a:graphicData>
        </a:graphic>
      </p:graphicFrame>
      <p:sp>
        <p:nvSpPr>
          <p:cNvPr id="23" name="思想气泡: 云 22">
            <a:extLst>
              <a:ext uri="{FF2B5EF4-FFF2-40B4-BE49-F238E27FC236}">
                <a16:creationId xmlns:a16="http://schemas.microsoft.com/office/drawing/2014/main" id="{61BCE828-CD61-4FB9-813C-670E2A7E1872}"/>
              </a:ext>
            </a:extLst>
          </p:cNvPr>
          <p:cNvSpPr/>
          <p:nvPr/>
        </p:nvSpPr>
        <p:spPr bwMode="auto">
          <a:xfrm>
            <a:off x="169115" y="1695903"/>
            <a:ext cx="4012762" cy="1394346"/>
          </a:xfrm>
          <a:prstGeom prst="cloudCallout">
            <a:avLst>
              <a:gd name="adj1" fmla="val 24320"/>
              <a:gd name="adj2" fmla="val 80176"/>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C00000"/>
                </a:solidFill>
                <a:effectLst/>
                <a:latin typeface="Arial" charset="0"/>
              </a:rPr>
              <a:t>不存在能够构成单位阵的基变量</a:t>
            </a:r>
          </a:p>
        </p:txBody>
      </p:sp>
    </p:spTree>
    <p:extLst>
      <p:ext uri="{BB962C8B-B14F-4D97-AF65-F5344CB8AC3E}">
        <p14:creationId xmlns:p14="http://schemas.microsoft.com/office/powerpoint/2010/main" val="283151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arn(inVertical)">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500" fill="hold"/>
                                        <p:tgtEl>
                                          <p:spTgt spid="18"/>
                                        </p:tgtEl>
                                        <p:attrNameLst>
                                          <p:attrName>ppt_x</p:attrName>
                                        </p:attrNameLst>
                                      </p:cBhvr>
                                      <p:tavLst>
                                        <p:tav tm="0">
                                          <p:val>
                                            <p:strVal val="#ppt_x"/>
                                          </p:val>
                                        </p:tav>
                                        <p:tav tm="100000">
                                          <p:val>
                                            <p:strVal val="#ppt_x"/>
                                          </p:val>
                                        </p:tav>
                                      </p:tavLst>
                                    </p:anim>
                                    <p:anim calcmode="lin" valueType="num">
                                      <p:cBhvr additive="base">
                                        <p:cTn id="2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ppt_x"/>
                                          </p:val>
                                        </p:tav>
                                        <p:tav tm="100000">
                                          <p:val>
                                            <p:strVal val="#ppt_x"/>
                                          </p:val>
                                        </p:tav>
                                      </p:tavLst>
                                    </p:anim>
                                    <p:anim calcmode="lin" valueType="num">
                                      <p:cBhvr additive="base">
                                        <p:cTn id="2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additive="base">
                                        <p:cTn id="34" dur="500" fill="hold"/>
                                        <p:tgtEl>
                                          <p:spTgt spid="19"/>
                                        </p:tgtEl>
                                        <p:attrNameLst>
                                          <p:attrName>ppt_x</p:attrName>
                                        </p:attrNameLst>
                                      </p:cBhvr>
                                      <p:tavLst>
                                        <p:tav tm="0">
                                          <p:val>
                                            <p:strVal val="#ppt_x"/>
                                          </p:val>
                                        </p:tav>
                                        <p:tav tm="100000">
                                          <p:val>
                                            <p:strVal val="#ppt_x"/>
                                          </p:val>
                                        </p:tav>
                                      </p:tavLst>
                                    </p:anim>
                                    <p:anim calcmode="lin" valueType="num">
                                      <p:cBhvr additive="base">
                                        <p:cTn id="35"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 calcmode="lin" valueType="num">
                                      <p:cBhvr additive="base">
                                        <p:cTn id="40" dur="500" fill="hold"/>
                                        <p:tgtEl>
                                          <p:spTgt spid="20"/>
                                        </p:tgtEl>
                                        <p:attrNameLst>
                                          <p:attrName>ppt_x</p:attrName>
                                        </p:attrNameLst>
                                      </p:cBhvr>
                                      <p:tavLst>
                                        <p:tav tm="0">
                                          <p:val>
                                            <p:strVal val="#ppt_x"/>
                                          </p:val>
                                        </p:tav>
                                        <p:tav tm="100000">
                                          <p:val>
                                            <p:strVal val="#ppt_x"/>
                                          </p:val>
                                        </p:tav>
                                      </p:tavLst>
                                    </p:anim>
                                    <p:anim calcmode="lin" valueType="num">
                                      <p:cBhvr additive="base">
                                        <p:cTn id="41"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fill="hold"/>
                                        <p:tgtEl>
                                          <p:spTgt spid="22"/>
                                        </p:tgtEl>
                                        <p:attrNameLst>
                                          <p:attrName>ppt_x</p:attrName>
                                        </p:attrNameLst>
                                      </p:cBhvr>
                                      <p:tavLst>
                                        <p:tav tm="0">
                                          <p:val>
                                            <p:strVal val="#ppt_x"/>
                                          </p:val>
                                        </p:tav>
                                        <p:tav tm="100000">
                                          <p:val>
                                            <p:strVal val="#ppt_x"/>
                                          </p:val>
                                        </p:tav>
                                      </p:tavLst>
                                    </p:anim>
                                    <p:anim calcmode="lin" valueType="num">
                                      <p:cBhvr additive="base">
                                        <p:cTn id="5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additive="base">
                                        <p:cTn id="58" dur="500" fill="hold"/>
                                        <p:tgtEl>
                                          <p:spTgt spid="12"/>
                                        </p:tgtEl>
                                        <p:attrNameLst>
                                          <p:attrName>ppt_x</p:attrName>
                                        </p:attrNameLst>
                                      </p:cBhvr>
                                      <p:tavLst>
                                        <p:tav tm="0">
                                          <p:val>
                                            <p:strVal val="#ppt_x"/>
                                          </p:val>
                                        </p:tav>
                                        <p:tav tm="100000">
                                          <p:val>
                                            <p:strVal val="#ppt_x"/>
                                          </p:val>
                                        </p:tav>
                                      </p:tavLst>
                                    </p:anim>
                                    <p:anim calcmode="lin" valueType="num">
                                      <p:cBhvr additive="base">
                                        <p:cTn id="5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barn(inVertical)">
                                      <p:cBhvr>
                                        <p:cTn id="6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92599-CCDA-4C17-8F28-B1F885D652FD}"/>
              </a:ext>
            </a:extLst>
          </p:cNvPr>
          <p:cNvSpPr>
            <a:spLocks noGrp="1"/>
          </p:cNvSpPr>
          <p:nvPr>
            <p:ph type="title"/>
          </p:nvPr>
        </p:nvSpPr>
        <p:spPr/>
        <p:txBody>
          <a:bodyPr/>
          <a:lstStyle/>
          <a:p>
            <a:r>
              <a:rPr lang="zh-CN" altLang="en-US" dirty="0"/>
              <a:t>人工变量法</a:t>
            </a:r>
          </a:p>
        </p:txBody>
      </p:sp>
      <p:sp>
        <p:nvSpPr>
          <p:cNvPr id="3" name="内容占位符 2">
            <a:extLst>
              <a:ext uri="{FF2B5EF4-FFF2-40B4-BE49-F238E27FC236}">
                <a16:creationId xmlns:a16="http://schemas.microsoft.com/office/drawing/2014/main" id="{DB2C61DA-4F7F-4754-9787-0450B05A6CD1}"/>
              </a:ext>
            </a:extLst>
          </p:cNvPr>
          <p:cNvSpPr>
            <a:spLocks noGrp="1"/>
          </p:cNvSpPr>
          <p:nvPr>
            <p:ph idx="1"/>
          </p:nvPr>
        </p:nvSpPr>
        <p:spPr/>
        <p:txBody>
          <a:bodyPr/>
          <a:lstStyle/>
          <a:p>
            <a:r>
              <a:rPr lang="zh-CN" altLang="en-US" dirty="0"/>
              <a:t>基本思想</a:t>
            </a:r>
            <a:endParaRPr lang="en-US" altLang="zh-CN" dirty="0"/>
          </a:p>
          <a:p>
            <a:pPr lvl="1"/>
            <a:r>
              <a:rPr lang="zh-CN" altLang="en-US" dirty="0"/>
              <a:t>通过</a:t>
            </a:r>
            <a:r>
              <a:rPr lang="zh-CN" altLang="en-US" dirty="0">
                <a:solidFill>
                  <a:srgbClr val="FF0000"/>
                </a:solidFill>
              </a:rPr>
              <a:t>引入人工变量</a:t>
            </a:r>
            <a:r>
              <a:rPr lang="zh-CN" altLang="en-US" dirty="0"/>
              <a:t>使得一些</a:t>
            </a:r>
            <a:r>
              <a:rPr lang="zh-CN" altLang="en-US" dirty="0">
                <a:solidFill>
                  <a:srgbClr val="0000FF"/>
                </a:solidFill>
              </a:rPr>
              <a:t>无法确定初始基本可行解的单纯形问题成为普通的可求解的单纯形问题</a:t>
            </a:r>
            <a:r>
              <a:rPr lang="zh-CN" altLang="en-US" dirty="0"/>
              <a:t>，经过计算迭代，最终逐步去除人工变量。</a:t>
            </a:r>
            <a:endParaRPr lang="en-US" altLang="zh-CN" dirty="0"/>
          </a:p>
          <a:p>
            <a:pPr lvl="1"/>
            <a:r>
              <a:rPr lang="zh-CN" altLang="en-US" dirty="0"/>
              <a:t>分类：</a:t>
            </a:r>
            <a:endParaRPr lang="en-US" altLang="zh-CN" dirty="0"/>
          </a:p>
          <a:p>
            <a:pPr lvl="2"/>
            <a:r>
              <a:rPr lang="zh-CN" altLang="en-US" dirty="0"/>
              <a:t>大</a:t>
            </a:r>
            <a:r>
              <a:rPr lang="en-US" altLang="zh-CN" dirty="0"/>
              <a:t>M</a:t>
            </a:r>
            <a:r>
              <a:rPr lang="zh-CN" altLang="en-US" dirty="0"/>
              <a:t>法</a:t>
            </a:r>
            <a:endParaRPr lang="en-US" altLang="zh-CN" dirty="0"/>
          </a:p>
          <a:p>
            <a:pPr lvl="2"/>
            <a:r>
              <a:rPr lang="zh-CN" altLang="en-US" dirty="0"/>
              <a:t>两段法</a:t>
            </a:r>
            <a:r>
              <a:rPr lang="en-US" altLang="zh-CN" dirty="0"/>
              <a:t>                                   </a:t>
            </a:r>
            <a:endParaRPr lang="zh-CN" altLang="en-US" dirty="0"/>
          </a:p>
        </p:txBody>
      </p:sp>
      <p:sp>
        <p:nvSpPr>
          <p:cNvPr id="4" name="日期占位符 3">
            <a:extLst>
              <a:ext uri="{FF2B5EF4-FFF2-40B4-BE49-F238E27FC236}">
                <a16:creationId xmlns:a16="http://schemas.microsoft.com/office/drawing/2014/main" id="{27338113-85AF-4784-B155-FABCBD868AEF}"/>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F9F1954E-B577-4018-8738-F3B981337628}"/>
              </a:ext>
            </a:extLst>
          </p:cNvPr>
          <p:cNvSpPr>
            <a:spLocks noGrp="1"/>
          </p:cNvSpPr>
          <p:nvPr>
            <p:ph type="sldNum" sz="quarter" idx="12"/>
          </p:nvPr>
        </p:nvSpPr>
        <p:spPr/>
        <p:txBody>
          <a:bodyPr/>
          <a:lstStyle/>
          <a:p>
            <a:fld id="{7AC79822-BC0D-4DE8-A7E5-90A3732A2B82}" type="slidenum">
              <a:rPr lang="zh-CN" altLang="en-US" smtClean="0"/>
              <a:pPr/>
              <a:t>20</a:t>
            </a:fld>
            <a:endParaRPr lang="en-US" altLang="zh-CN" dirty="0"/>
          </a:p>
        </p:txBody>
      </p:sp>
    </p:spTree>
    <p:extLst>
      <p:ext uri="{BB962C8B-B14F-4D97-AF65-F5344CB8AC3E}">
        <p14:creationId xmlns:p14="http://schemas.microsoft.com/office/powerpoint/2010/main" val="36671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B4CB6C-5AB1-447E-908F-1202FE1EE21A}"/>
              </a:ext>
            </a:extLst>
          </p:cNvPr>
          <p:cNvSpPr>
            <a:spLocks noGrp="1"/>
          </p:cNvSpPr>
          <p:nvPr>
            <p:ph type="title"/>
          </p:nvPr>
        </p:nvSpPr>
        <p:spPr/>
        <p:txBody>
          <a:bodyPr/>
          <a:lstStyle/>
          <a:p>
            <a:r>
              <a:rPr lang="zh-CN" altLang="en-US" dirty="0"/>
              <a:t>人工变量法</a:t>
            </a:r>
          </a:p>
        </p:txBody>
      </p:sp>
      <p:sp>
        <p:nvSpPr>
          <p:cNvPr id="3" name="内容占位符 2">
            <a:extLst>
              <a:ext uri="{FF2B5EF4-FFF2-40B4-BE49-F238E27FC236}">
                <a16:creationId xmlns:a16="http://schemas.microsoft.com/office/drawing/2014/main" id="{74B3FB13-2EC4-4D3F-944A-71716F733299}"/>
              </a:ext>
            </a:extLst>
          </p:cNvPr>
          <p:cNvSpPr>
            <a:spLocks noGrp="1"/>
          </p:cNvSpPr>
          <p:nvPr>
            <p:ph idx="1"/>
          </p:nvPr>
        </p:nvSpPr>
        <p:spPr/>
        <p:txBody>
          <a:bodyPr/>
          <a:lstStyle/>
          <a:p>
            <a:r>
              <a:rPr lang="zh-CN" altLang="en-US" dirty="0"/>
              <a:t>大</a:t>
            </a:r>
            <a:r>
              <a:rPr lang="en-US" altLang="zh-CN" dirty="0"/>
              <a:t>M</a:t>
            </a:r>
            <a:r>
              <a:rPr lang="zh-CN" altLang="en-US" dirty="0"/>
              <a:t>法</a:t>
            </a:r>
            <a:endParaRPr lang="en-US" altLang="zh-CN" dirty="0"/>
          </a:p>
          <a:p>
            <a:pPr lvl="1"/>
            <a:r>
              <a:rPr lang="zh-CN" altLang="en-US" dirty="0"/>
              <a:t>基本思想：</a:t>
            </a:r>
            <a:endParaRPr lang="en-US" altLang="zh-CN" dirty="0"/>
          </a:p>
          <a:p>
            <a:pPr lvl="1"/>
            <a:endParaRPr lang="zh-CN" altLang="en-US" dirty="0"/>
          </a:p>
        </p:txBody>
      </p:sp>
      <p:sp>
        <p:nvSpPr>
          <p:cNvPr id="4" name="日期占位符 3">
            <a:extLst>
              <a:ext uri="{FF2B5EF4-FFF2-40B4-BE49-F238E27FC236}">
                <a16:creationId xmlns:a16="http://schemas.microsoft.com/office/drawing/2014/main" id="{BCEF82FA-2514-4CEE-8ADF-6DD13B22710A}"/>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11C32FCF-934A-450B-9767-C6A009E0D2FC}"/>
              </a:ext>
            </a:extLst>
          </p:cNvPr>
          <p:cNvSpPr>
            <a:spLocks noGrp="1"/>
          </p:cNvSpPr>
          <p:nvPr>
            <p:ph type="sldNum" sz="quarter" idx="12"/>
          </p:nvPr>
        </p:nvSpPr>
        <p:spPr/>
        <p:txBody>
          <a:bodyPr/>
          <a:lstStyle/>
          <a:p>
            <a:fld id="{7AC79822-BC0D-4DE8-A7E5-90A3732A2B82}" type="slidenum">
              <a:rPr lang="zh-CN" altLang="en-US" smtClean="0"/>
              <a:pPr/>
              <a:t>21</a:t>
            </a:fld>
            <a:endParaRPr lang="en-US" altLang="zh-CN" dirty="0"/>
          </a:p>
        </p:txBody>
      </p:sp>
      <p:sp>
        <p:nvSpPr>
          <p:cNvPr id="6" name="文本框 5">
            <a:extLst>
              <a:ext uri="{FF2B5EF4-FFF2-40B4-BE49-F238E27FC236}">
                <a16:creationId xmlns:a16="http://schemas.microsoft.com/office/drawing/2014/main" id="{7124E304-3F09-4D82-A011-4559CA363C30}"/>
              </a:ext>
            </a:extLst>
          </p:cNvPr>
          <p:cNvSpPr txBox="1"/>
          <p:nvPr/>
        </p:nvSpPr>
        <p:spPr>
          <a:xfrm>
            <a:off x="920552" y="2645731"/>
            <a:ext cx="7632848" cy="3416320"/>
          </a:xfrm>
          <a:prstGeom prst="rect">
            <a:avLst/>
          </a:prstGeom>
          <a:noFill/>
        </p:spPr>
        <p:txBody>
          <a:bodyPr wrap="square" rtlCol="0">
            <a:spAutoFit/>
          </a:bodyPr>
          <a:lstStyle/>
          <a:p>
            <a:pPr marL="342900" indent="-342900">
              <a:buFont typeface="+mj-ea"/>
              <a:buAutoNum type="circleNumDbPlain"/>
            </a:pPr>
            <a:r>
              <a:rPr lang="zh-CN" altLang="en-US" sz="2400" dirty="0"/>
              <a:t>根据需要，在原有约束条件中，添加若干非负数的人工变量，构成一个能够得到基本可行性解的初始化单位基矩阵。</a:t>
            </a:r>
            <a:endParaRPr lang="en-US" altLang="zh-CN" sz="2400" dirty="0"/>
          </a:p>
          <a:p>
            <a:pPr marL="342900" indent="-342900">
              <a:buFont typeface="+mj-ea"/>
              <a:buAutoNum type="circleNumDbPlain"/>
            </a:pPr>
            <a:r>
              <a:rPr lang="zh-CN" altLang="en-US" sz="2400" dirty="0"/>
              <a:t>在目标函数中，添加系数为</a:t>
            </a:r>
            <a:r>
              <a:rPr lang="en-US" altLang="zh-CN" sz="2400" dirty="0"/>
              <a:t>M</a:t>
            </a:r>
            <a:r>
              <a:rPr lang="zh-CN" altLang="en-US" sz="2400" dirty="0"/>
              <a:t>为人工变量，将原问题</a:t>
            </a:r>
            <a:r>
              <a:rPr lang="en-US" altLang="zh-CN" sz="2400" dirty="0"/>
              <a:t>A</a:t>
            </a:r>
            <a:r>
              <a:rPr lang="zh-CN" altLang="en-US" sz="2400" dirty="0"/>
              <a:t>变成一个问题</a:t>
            </a:r>
            <a:r>
              <a:rPr lang="en-US" altLang="zh-CN" sz="2400" dirty="0"/>
              <a:t>B</a:t>
            </a:r>
            <a:r>
              <a:rPr lang="zh-CN" altLang="en-US" sz="2400" dirty="0"/>
              <a:t>。</a:t>
            </a:r>
            <a:endParaRPr lang="en-US" altLang="zh-CN" sz="2400" dirty="0"/>
          </a:p>
          <a:p>
            <a:pPr marL="342900" indent="-342900">
              <a:buFont typeface="+mj-ea"/>
              <a:buAutoNum type="circleNumDbPlain"/>
            </a:pPr>
            <a:r>
              <a:rPr lang="zh-CN" altLang="en-US" sz="2400" dirty="0"/>
              <a:t>对</a:t>
            </a:r>
            <a:r>
              <a:rPr lang="en-US" altLang="zh-CN" sz="2400" dirty="0"/>
              <a:t>B</a:t>
            </a:r>
            <a:r>
              <a:rPr lang="zh-CN" altLang="en-US" sz="2400" dirty="0"/>
              <a:t>进行单纯形法求解，如果</a:t>
            </a:r>
            <a:r>
              <a:rPr lang="en-US" altLang="zh-CN" sz="2400" dirty="0"/>
              <a:t>B</a:t>
            </a:r>
            <a:r>
              <a:rPr lang="zh-CN" altLang="en-US" sz="2400" dirty="0"/>
              <a:t>问题可行解中所有的人工变量都为</a:t>
            </a:r>
            <a:r>
              <a:rPr lang="en-US" altLang="zh-CN" sz="2400" dirty="0"/>
              <a:t>0</a:t>
            </a:r>
            <a:r>
              <a:rPr lang="zh-CN" altLang="en-US" sz="2400" dirty="0"/>
              <a:t>，且都为非基向量，那么</a:t>
            </a:r>
            <a:r>
              <a:rPr lang="en-US" altLang="zh-CN" sz="2400" dirty="0"/>
              <a:t>B</a:t>
            </a:r>
            <a:r>
              <a:rPr lang="zh-CN" altLang="en-US" sz="2400" dirty="0"/>
              <a:t>问题的可行解就是</a:t>
            </a:r>
            <a:r>
              <a:rPr lang="en-US" altLang="zh-CN" sz="2400" dirty="0"/>
              <a:t>A</a:t>
            </a:r>
            <a:r>
              <a:rPr lang="zh-CN" altLang="en-US" sz="2400" dirty="0"/>
              <a:t>问题的可行解。</a:t>
            </a:r>
            <a:endParaRPr lang="en-US" altLang="zh-CN" sz="2400" dirty="0"/>
          </a:p>
          <a:p>
            <a:pPr marL="342900" indent="-342900">
              <a:buFont typeface="+mj-ea"/>
              <a:buAutoNum type="circleNumDbPlain"/>
            </a:pPr>
            <a:endParaRPr lang="zh-CN" altLang="en-US" sz="2400" dirty="0"/>
          </a:p>
        </p:txBody>
      </p:sp>
    </p:spTree>
    <p:extLst>
      <p:ext uri="{BB962C8B-B14F-4D97-AF65-F5344CB8AC3E}">
        <p14:creationId xmlns:p14="http://schemas.microsoft.com/office/powerpoint/2010/main" val="320679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D6B313-FB7E-4794-AEA0-5EEB2CECCE7A}"/>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DEEA5A1B-89BD-4992-8B4C-CB2E1B9EC844}"/>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D8D2A45A-AF83-4135-AC82-A15AD440CF45}"/>
              </a:ext>
            </a:extLst>
          </p:cNvPr>
          <p:cNvSpPr>
            <a:spLocks noGrp="1"/>
          </p:cNvSpPr>
          <p:nvPr>
            <p:ph type="sldNum" sz="quarter" idx="12"/>
          </p:nvPr>
        </p:nvSpPr>
        <p:spPr/>
        <p:txBody>
          <a:bodyPr/>
          <a:lstStyle/>
          <a:p>
            <a:fld id="{7AC79822-BC0D-4DE8-A7E5-90A3732A2B82}" type="slidenum">
              <a:rPr lang="zh-CN" altLang="en-US" smtClean="0"/>
              <a:pPr/>
              <a:t>22</a:t>
            </a:fld>
            <a:endParaRPr lang="en-US" altLang="zh-CN" dirty="0"/>
          </a:p>
        </p:txBody>
      </p:sp>
      <p:sp>
        <p:nvSpPr>
          <p:cNvPr id="6" name="文本框 5">
            <a:extLst>
              <a:ext uri="{FF2B5EF4-FFF2-40B4-BE49-F238E27FC236}">
                <a16:creationId xmlns:a16="http://schemas.microsoft.com/office/drawing/2014/main" id="{35867745-1D65-40EF-AABE-B31D2102420D}"/>
              </a:ext>
            </a:extLst>
          </p:cNvPr>
          <p:cNvSpPr txBox="1"/>
          <p:nvPr/>
        </p:nvSpPr>
        <p:spPr>
          <a:xfrm>
            <a:off x="92949" y="1156062"/>
            <a:ext cx="9612579" cy="1384995"/>
          </a:xfrm>
          <a:prstGeom prst="rect">
            <a:avLst/>
          </a:prstGeom>
          <a:noFill/>
        </p:spPr>
        <p:txBody>
          <a:bodyPr wrap="square" rtlCol="0">
            <a:spAutoFit/>
          </a:bodyPr>
          <a:lstStyle/>
          <a:p>
            <a:pPr marL="514350" indent="-514350">
              <a:buAutoNum type="arabicPeriod"/>
            </a:pPr>
            <a:r>
              <a:rPr lang="zh-CN" altLang="en-US" sz="2800" dirty="0"/>
              <a:t>添加人工变量，将原问题变成一个包含若干人工变量的新</a:t>
            </a:r>
            <a:r>
              <a:rPr lang="en-US" altLang="zh-CN" sz="2800" dirty="0"/>
              <a:t>   </a:t>
            </a:r>
            <a:r>
              <a:rPr lang="zh-CN" altLang="en-US" sz="2800" dirty="0"/>
              <a:t>线性规划问题</a:t>
            </a:r>
            <a:endParaRPr lang="en-US" altLang="zh-CN" sz="2800" dirty="0"/>
          </a:p>
          <a:p>
            <a:pPr marL="514350" indent="-514350">
              <a:buAutoNum type="arabicPeriod"/>
            </a:pPr>
            <a:endParaRPr lang="en-US" altLang="zh-CN" sz="2800" dirty="0"/>
          </a:p>
        </p:txBody>
      </p:sp>
      <p:graphicFrame>
        <p:nvGraphicFramePr>
          <p:cNvPr id="7" name="对象 6">
            <a:extLst>
              <a:ext uri="{FF2B5EF4-FFF2-40B4-BE49-F238E27FC236}">
                <a16:creationId xmlns:a16="http://schemas.microsoft.com/office/drawing/2014/main" id="{D24C61B2-54A9-41CA-B6D7-863D5D37D9F3}"/>
              </a:ext>
            </a:extLst>
          </p:cNvPr>
          <p:cNvGraphicFramePr>
            <a:graphicFrameLocks noChangeAspect="1"/>
          </p:cNvGraphicFramePr>
          <p:nvPr>
            <p:extLst>
              <p:ext uri="{D42A27DB-BD31-4B8C-83A1-F6EECF244321}">
                <p14:modId xmlns:p14="http://schemas.microsoft.com/office/powerpoint/2010/main" val="2189827602"/>
              </p:ext>
            </p:extLst>
          </p:nvPr>
        </p:nvGraphicFramePr>
        <p:xfrm>
          <a:off x="-33779" y="2089036"/>
          <a:ext cx="4534916" cy="2679928"/>
        </p:xfrm>
        <a:graphic>
          <a:graphicData uri="http://schemas.openxmlformats.org/presentationml/2006/ole">
            <mc:AlternateContent xmlns:mc="http://schemas.openxmlformats.org/markup-compatibility/2006">
              <mc:Choice xmlns:v="urn:schemas-microsoft-com:vml" Requires="v">
                <p:oleObj name="Equation" r:id="rId2" imgW="2019240" imgH="1193760" progId="Equation.DSMT4">
                  <p:embed/>
                </p:oleObj>
              </mc:Choice>
              <mc:Fallback>
                <p:oleObj name="Equation" r:id="rId2" imgW="2019240" imgH="1193760" progId="Equation.DSMT4">
                  <p:embed/>
                  <p:pic>
                    <p:nvPicPr>
                      <p:cNvPr id="15" name="对象 14">
                        <a:extLst>
                          <a:ext uri="{FF2B5EF4-FFF2-40B4-BE49-F238E27FC236}">
                            <a16:creationId xmlns:a16="http://schemas.microsoft.com/office/drawing/2014/main" id="{72F7589A-014C-44A9-9BA7-2627CB7B9AC3}"/>
                          </a:ext>
                        </a:extLst>
                      </p:cNvPr>
                      <p:cNvPicPr/>
                      <p:nvPr/>
                    </p:nvPicPr>
                    <p:blipFill>
                      <a:blip r:embed="rId3"/>
                      <a:stretch>
                        <a:fillRect/>
                      </a:stretch>
                    </p:blipFill>
                    <p:spPr>
                      <a:xfrm>
                        <a:off x="-33779" y="2089036"/>
                        <a:ext cx="4534916" cy="2679928"/>
                      </a:xfrm>
                      <a:prstGeom prst="rect">
                        <a:avLst/>
                      </a:prstGeom>
                      <a:ln w="28575">
                        <a:noFill/>
                      </a:ln>
                    </p:spPr>
                  </p:pic>
                </p:oleObj>
              </mc:Fallback>
            </mc:AlternateContent>
          </a:graphicData>
        </a:graphic>
      </p:graphicFrame>
      <p:graphicFrame>
        <p:nvGraphicFramePr>
          <p:cNvPr id="9" name="对象 8">
            <a:extLst>
              <a:ext uri="{FF2B5EF4-FFF2-40B4-BE49-F238E27FC236}">
                <a16:creationId xmlns:a16="http://schemas.microsoft.com/office/drawing/2014/main" id="{966B4244-AAA2-4496-8034-D329D5473BEA}"/>
              </a:ext>
            </a:extLst>
          </p:cNvPr>
          <p:cNvGraphicFramePr>
            <a:graphicFrameLocks noChangeAspect="1"/>
          </p:cNvGraphicFramePr>
          <p:nvPr>
            <p:extLst>
              <p:ext uri="{D42A27DB-BD31-4B8C-83A1-F6EECF244321}">
                <p14:modId xmlns:p14="http://schemas.microsoft.com/office/powerpoint/2010/main" val="1464088406"/>
              </p:ext>
            </p:extLst>
          </p:nvPr>
        </p:nvGraphicFramePr>
        <p:xfrm>
          <a:off x="3399978" y="3824071"/>
          <a:ext cx="6305550" cy="2679700"/>
        </p:xfrm>
        <a:graphic>
          <a:graphicData uri="http://schemas.openxmlformats.org/presentationml/2006/ole">
            <mc:AlternateContent xmlns:mc="http://schemas.openxmlformats.org/markup-compatibility/2006">
              <mc:Choice xmlns:v="urn:schemas-microsoft-com:vml" Requires="v">
                <p:oleObj name="Equation" r:id="rId4" imgW="2806560" imgH="1193760" progId="Equation.DSMT4">
                  <p:embed/>
                </p:oleObj>
              </mc:Choice>
              <mc:Fallback>
                <p:oleObj name="Equation" r:id="rId4" imgW="2806560" imgH="1193760" progId="Equation.DSMT4">
                  <p:embed/>
                  <p:pic>
                    <p:nvPicPr>
                      <p:cNvPr id="7" name="对象 6">
                        <a:extLst>
                          <a:ext uri="{FF2B5EF4-FFF2-40B4-BE49-F238E27FC236}">
                            <a16:creationId xmlns:a16="http://schemas.microsoft.com/office/drawing/2014/main" id="{D24C61B2-54A9-41CA-B6D7-863D5D37D9F3}"/>
                          </a:ext>
                        </a:extLst>
                      </p:cNvPr>
                      <p:cNvPicPr/>
                      <p:nvPr/>
                    </p:nvPicPr>
                    <p:blipFill>
                      <a:blip r:embed="rId5"/>
                      <a:stretch>
                        <a:fillRect/>
                      </a:stretch>
                    </p:blipFill>
                    <p:spPr>
                      <a:xfrm>
                        <a:off x="3399978" y="3824071"/>
                        <a:ext cx="6305550" cy="2679700"/>
                      </a:xfrm>
                      <a:prstGeom prst="rect">
                        <a:avLst/>
                      </a:prstGeom>
                      <a:ln w="28575">
                        <a:noFill/>
                      </a:ln>
                    </p:spPr>
                  </p:pic>
                </p:oleObj>
              </mc:Fallback>
            </mc:AlternateContent>
          </a:graphicData>
        </a:graphic>
      </p:graphicFrame>
      <p:sp>
        <p:nvSpPr>
          <p:cNvPr id="10" name="箭头: 右弧形 9">
            <a:extLst>
              <a:ext uri="{FF2B5EF4-FFF2-40B4-BE49-F238E27FC236}">
                <a16:creationId xmlns:a16="http://schemas.microsoft.com/office/drawing/2014/main" id="{8DEADEAA-B25D-42E3-8CD6-71A748C188F3}"/>
              </a:ext>
            </a:extLst>
          </p:cNvPr>
          <p:cNvSpPr/>
          <p:nvPr/>
        </p:nvSpPr>
        <p:spPr bwMode="auto">
          <a:xfrm rot="19115259">
            <a:off x="4877100" y="2099497"/>
            <a:ext cx="1224136" cy="1253515"/>
          </a:xfrm>
          <a:prstGeom prst="curvedLeftArrow">
            <a:avLst>
              <a:gd name="adj1" fmla="val 25000"/>
              <a:gd name="adj2" fmla="val 51200"/>
              <a:gd name="adj3" fmla="val 3182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 name="矩形 10">
            <a:extLst>
              <a:ext uri="{FF2B5EF4-FFF2-40B4-BE49-F238E27FC236}">
                <a16:creationId xmlns:a16="http://schemas.microsoft.com/office/drawing/2014/main" id="{357CDFFE-12ED-42D4-A484-C5CD5899D673}"/>
              </a:ext>
            </a:extLst>
          </p:cNvPr>
          <p:cNvSpPr/>
          <p:nvPr/>
        </p:nvSpPr>
        <p:spPr>
          <a:xfrm>
            <a:off x="6477199" y="3033929"/>
            <a:ext cx="3030669"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M</a:t>
            </a:r>
            <a:r>
              <a:rPr lang="zh-CN" altLang="en-US" sz="2400" b="1" dirty="0">
                <a:solidFill>
                  <a:srgbClr val="C00000"/>
                </a:solidFill>
              </a:rPr>
              <a:t>是一个很大的正数</a:t>
            </a:r>
          </a:p>
        </p:txBody>
      </p:sp>
    </p:spTree>
    <p:extLst>
      <p:ext uri="{BB962C8B-B14F-4D97-AF65-F5344CB8AC3E}">
        <p14:creationId xmlns:p14="http://schemas.microsoft.com/office/powerpoint/2010/main" val="1123052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inVertical)">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Vertical)">
                                      <p:cBhvr>
                                        <p:cTn id="16" dur="500"/>
                                        <p:tgtEl>
                                          <p:spTgt spid="9"/>
                                        </p:tgtEl>
                                      </p:cBhvr>
                                    </p:animEffect>
                                  </p:childTnLst>
                                </p:cTn>
                              </p:par>
                            </p:childTnLst>
                          </p:cTn>
                        </p:par>
                        <p:par>
                          <p:cTn id="17" fill="hold">
                            <p:stCondLst>
                              <p:cond delay="500"/>
                            </p:stCondLst>
                            <p:childTnLst>
                              <p:par>
                                <p:cTn id="18" presetID="22" presetClass="entr" presetSubtype="4"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down)">
                                      <p:cBhvr>
                                        <p:cTn id="20" dur="500"/>
                                        <p:tgtEl>
                                          <p:spTgt spid="10"/>
                                        </p:tgtEl>
                                      </p:cBhvr>
                                    </p:animEffect>
                                  </p:childTnLst>
                                </p:cTn>
                              </p:par>
                            </p:childTnLst>
                          </p:cTn>
                        </p:par>
                        <p:par>
                          <p:cTn id="21" fill="hold">
                            <p:stCondLst>
                              <p:cond delay="1000"/>
                            </p:stCondLst>
                            <p:childTnLst>
                              <p:par>
                                <p:cTn id="22" presetID="2" presetClass="entr" presetSubtype="4"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23</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p:graphicFrame>
        <p:nvGraphicFramePr>
          <p:cNvPr id="7" name="对象 6">
            <a:extLst>
              <a:ext uri="{FF2B5EF4-FFF2-40B4-BE49-F238E27FC236}">
                <a16:creationId xmlns:a16="http://schemas.microsoft.com/office/drawing/2014/main" id="{BA4DFE72-11AD-40B2-8ECF-E9555CB9C236}"/>
              </a:ext>
            </a:extLst>
          </p:cNvPr>
          <p:cNvGraphicFramePr>
            <a:graphicFrameLocks noChangeAspect="1"/>
          </p:cNvGraphicFramePr>
          <p:nvPr>
            <p:extLst>
              <p:ext uri="{D42A27DB-BD31-4B8C-83A1-F6EECF244321}">
                <p14:modId xmlns:p14="http://schemas.microsoft.com/office/powerpoint/2010/main" val="1921727073"/>
              </p:ext>
            </p:extLst>
          </p:nvPr>
        </p:nvGraphicFramePr>
        <p:xfrm>
          <a:off x="3600450" y="508709"/>
          <a:ext cx="6305550" cy="2679700"/>
        </p:xfrm>
        <a:graphic>
          <a:graphicData uri="http://schemas.openxmlformats.org/presentationml/2006/ole">
            <mc:AlternateContent xmlns:mc="http://schemas.openxmlformats.org/markup-compatibility/2006">
              <mc:Choice xmlns:v="urn:schemas-microsoft-com:vml" Requires="v">
                <p:oleObj name="Equation" r:id="rId2" imgW="2806560" imgH="1193760" progId="Equation.DSMT4">
                  <p:embed/>
                </p:oleObj>
              </mc:Choice>
              <mc:Fallback>
                <p:oleObj name="Equation" r:id="rId2" imgW="2806560" imgH="1193760" progId="Equation.DSMT4">
                  <p:embed/>
                  <p:pic>
                    <p:nvPicPr>
                      <p:cNvPr id="9" name="对象 8">
                        <a:extLst>
                          <a:ext uri="{FF2B5EF4-FFF2-40B4-BE49-F238E27FC236}">
                            <a16:creationId xmlns:a16="http://schemas.microsoft.com/office/drawing/2014/main" id="{966B4244-AAA2-4496-8034-D329D5473BEA}"/>
                          </a:ext>
                        </a:extLst>
                      </p:cNvPr>
                      <p:cNvPicPr/>
                      <p:nvPr/>
                    </p:nvPicPr>
                    <p:blipFill>
                      <a:blip r:embed="rId3"/>
                      <a:stretch>
                        <a:fillRect/>
                      </a:stretch>
                    </p:blipFill>
                    <p:spPr>
                      <a:xfrm>
                        <a:off x="3600450" y="508709"/>
                        <a:ext cx="6305550" cy="2679700"/>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3794116438"/>
                  </p:ext>
                </p:extLst>
              </p:nvPr>
            </p:nvGraphicFramePr>
            <p:xfrm>
              <a:off x="58045" y="3282030"/>
              <a:ext cx="9755009" cy="3251022"/>
            </p:xfrm>
            <a:graphic>
              <a:graphicData uri="http://schemas.openxmlformats.org/drawingml/2006/table">
                <a:tbl>
                  <a:tblPr firstRow="1" bandRow="1">
                    <a:tableStyleId>{5940675A-B579-460E-94D1-54222C63F5DA}</a:tableStyleId>
                  </a:tblPr>
                  <a:tblGrid>
                    <a:gridCol w="886819">
                      <a:extLst>
                        <a:ext uri="{9D8B030D-6E8A-4147-A177-3AD203B41FA5}">
                          <a16:colId xmlns:a16="http://schemas.microsoft.com/office/drawing/2014/main" val="798769453"/>
                        </a:ext>
                      </a:extLst>
                    </a:gridCol>
                    <a:gridCol w="886819">
                      <a:extLst>
                        <a:ext uri="{9D8B030D-6E8A-4147-A177-3AD203B41FA5}">
                          <a16:colId xmlns:a16="http://schemas.microsoft.com/office/drawing/2014/main" val="560815571"/>
                        </a:ext>
                      </a:extLst>
                    </a:gridCol>
                    <a:gridCol w="886819">
                      <a:extLst>
                        <a:ext uri="{9D8B030D-6E8A-4147-A177-3AD203B41FA5}">
                          <a16:colId xmlns:a16="http://schemas.microsoft.com/office/drawing/2014/main" val="1052753358"/>
                        </a:ext>
                      </a:extLst>
                    </a:gridCol>
                    <a:gridCol w="886819">
                      <a:extLst>
                        <a:ext uri="{9D8B030D-6E8A-4147-A177-3AD203B41FA5}">
                          <a16:colId xmlns:a16="http://schemas.microsoft.com/office/drawing/2014/main" val="1666935349"/>
                        </a:ext>
                      </a:extLst>
                    </a:gridCol>
                    <a:gridCol w="886819">
                      <a:extLst>
                        <a:ext uri="{9D8B030D-6E8A-4147-A177-3AD203B41FA5}">
                          <a16:colId xmlns:a16="http://schemas.microsoft.com/office/drawing/2014/main" val="1606338379"/>
                        </a:ext>
                      </a:extLst>
                    </a:gridCol>
                    <a:gridCol w="886819">
                      <a:extLst>
                        <a:ext uri="{9D8B030D-6E8A-4147-A177-3AD203B41FA5}">
                          <a16:colId xmlns:a16="http://schemas.microsoft.com/office/drawing/2014/main" val="3941924007"/>
                        </a:ext>
                      </a:extLst>
                    </a:gridCol>
                    <a:gridCol w="886819">
                      <a:extLst>
                        <a:ext uri="{9D8B030D-6E8A-4147-A177-3AD203B41FA5}">
                          <a16:colId xmlns:a16="http://schemas.microsoft.com/office/drawing/2014/main" val="2659793867"/>
                        </a:ext>
                      </a:extLst>
                    </a:gridCol>
                    <a:gridCol w="886819">
                      <a:extLst>
                        <a:ext uri="{9D8B030D-6E8A-4147-A177-3AD203B41FA5}">
                          <a16:colId xmlns:a16="http://schemas.microsoft.com/office/drawing/2014/main" val="397672138"/>
                        </a:ext>
                      </a:extLst>
                    </a:gridCol>
                    <a:gridCol w="886819">
                      <a:extLst>
                        <a:ext uri="{9D8B030D-6E8A-4147-A177-3AD203B41FA5}">
                          <a16:colId xmlns:a16="http://schemas.microsoft.com/office/drawing/2014/main" val="4000235479"/>
                        </a:ext>
                      </a:extLst>
                    </a:gridCol>
                    <a:gridCol w="886819">
                      <a:extLst>
                        <a:ext uri="{9D8B030D-6E8A-4147-A177-3AD203B41FA5}">
                          <a16:colId xmlns:a16="http://schemas.microsoft.com/office/drawing/2014/main" val="281621817"/>
                        </a:ext>
                      </a:extLst>
                    </a:gridCol>
                    <a:gridCol w="886819">
                      <a:extLst>
                        <a:ext uri="{9D8B030D-6E8A-4147-A177-3AD203B41FA5}">
                          <a16:colId xmlns:a16="http://schemas.microsoft.com/office/drawing/2014/main" val="350154188"/>
                        </a:ext>
                      </a:extLst>
                    </a:gridCol>
                  </a:tblGrid>
                  <a:tr h="541837">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1837">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1837">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1837">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1837">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1837">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3794116438"/>
                  </p:ext>
                </p:extLst>
              </p:nvPr>
            </p:nvGraphicFramePr>
            <p:xfrm>
              <a:off x="58045" y="3282030"/>
              <a:ext cx="9755009" cy="3251022"/>
            </p:xfrm>
            <a:graphic>
              <a:graphicData uri="http://schemas.openxmlformats.org/drawingml/2006/table">
                <a:tbl>
                  <a:tblPr firstRow="1" bandRow="1">
                    <a:tableStyleId>{5940675A-B579-460E-94D1-54222C63F5DA}</a:tableStyleId>
                  </a:tblPr>
                  <a:tblGrid>
                    <a:gridCol w="886819">
                      <a:extLst>
                        <a:ext uri="{9D8B030D-6E8A-4147-A177-3AD203B41FA5}">
                          <a16:colId xmlns:a16="http://schemas.microsoft.com/office/drawing/2014/main" val="798769453"/>
                        </a:ext>
                      </a:extLst>
                    </a:gridCol>
                    <a:gridCol w="886819">
                      <a:extLst>
                        <a:ext uri="{9D8B030D-6E8A-4147-A177-3AD203B41FA5}">
                          <a16:colId xmlns:a16="http://schemas.microsoft.com/office/drawing/2014/main" val="560815571"/>
                        </a:ext>
                      </a:extLst>
                    </a:gridCol>
                    <a:gridCol w="886819">
                      <a:extLst>
                        <a:ext uri="{9D8B030D-6E8A-4147-A177-3AD203B41FA5}">
                          <a16:colId xmlns:a16="http://schemas.microsoft.com/office/drawing/2014/main" val="1052753358"/>
                        </a:ext>
                      </a:extLst>
                    </a:gridCol>
                    <a:gridCol w="886819">
                      <a:extLst>
                        <a:ext uri="{9D8B030D-6E8A-4147-A177-3AD203B41FA5}">
                          <a16:colId xmlns:a16="http://schemas.microsoft.com/office/drawing/2014/main" val="1666935349"/>
                        </a:ext>
                      </a:extLst>
                    </a:gridCol>
                    <a:gridCol w="886819">
                      <a:extLst>
                        <a:ext uri="{9D8B030D-6E8A-4147-A177-3AD203B41FA5}">
                          <a16:colId xmlns:a16="http://schemas.microsoft.com/office/drawing/2014/main" val="1606338379"/>
                        </a:ext>
                      </a:extLst>
                    </a:gridCol>
                    <a:gridCol w="886819">
                      <a:extLst>
                        <a:ext uri="{9D8B030D-6E8A-4147-A177-3AD203B41FA5}">
                          <a16:colId xmlns:a16="http://schemas.microsoft.com/office/drawing/2014/main" val="3941924007"/>
                        </a:ext>
                      </a:extLst>
                    </a:gridCol>
                    <a:gridCol w="886819">
                      <a:extLst>
                        <a:ext uri="{9D8B030D-6E8A-4147-A177-3AD203B41FA5}">
                          <a16:colId xmlns:a16="http://schemas.microsoft.com/office/drawing/2014/main" val="2659793867"/>
                        </a:ext>
                      </a:extLst>
                    </a:gridCol>
                    <a:gridCol w="886819">
                      <a:extLst>
                        <a:ext uri="{9D8B030D-6E8A-4147-A177-3AD203B41FA5}">
                          <a16:colId xmlns:a16="http://schemas.microsoft.com/office/drawing/2014/main" val="397672138"/>
                        </a:ext>
                      </a:extLst>
                    </a:gridCol>
                    <a:gridCol w="886819">
                      <a:extLst>
                        <a:ext uri="{9D8B030D-6E8A-4147-A177-3AD203B41FA5}">
                          <a16:colId xmlns:a16="http://schemas.microsoft.com/office/drawing/2014/main" val="4000235479"/>
                        </a:ext>
                      </a:extLst>
                    </a:gridCol>
                    <a:gridCol w="886819">
                      <a:extLst>
                        <a:ext uri="{9D8B030D-6E8A-4147-A177-3AD203B41FA5}">
                          <a16:colId xmlns:a16="http://schemas.microsoft.com/office/drawing/2014/main" val="281621817"/>
                        </a:ext>
                      </a:extLst>
                    </a:gridCol>
                    <a:gridCol w="886819">
                      <a:extLst>
                        <a:ext uri="{9D8B030D-6E8A-4147-A177-3AD203B41FA5}">
                          <a16:colId xmlns:a16="http://schemas.microsoft.com/office/drawing/2014/main" val="350154188"/>
                        </a:ext>
                      </a:extLst>
                    </a:gridCol>
                  </a:tblGrid>
                  <a:tr h="541837">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5"/>
                          <a:stretch>
                            <a:fillRect l="-904138" t="-562" r="-102069" b="-201124"/>
                          </a:stretch>
                        </a:blipFill>
                      </a:tcPr>
                    </a:tc>
                    <a:tc rowSpan="2">
                      <a:txBody>
                        <a:bodyPr/>
                        <a:lstStyle/>
                        <a:p>
                          <a:endParaRPr lang="zh-CN"/>
                        </a:p>
                      </a:txBody>
                      <a:tcPr anchor="ctr">
                        <a:blipFill>
                          <a:blip r:embed="rId5"/>
                          <a:stretch>
                            <a:fillRect l="-997260" t="-562" r="-1370" b="-201124"/>
                          </a:stretch>
                        </a:blipFill>
                      </a:tcPr>
                    </a:tc>
                    <a:extLst>
                      <a:ext uri="{0D108BD9-81ED-4DB2-BD59-A6C34878D82A}">
                        <a16:rowId xmlns:a16="http://schemas.microsoft.com/office/drawing/2014/main" val="3040994659"/>
                      </a:ext>
                    </a:extLst>
                  </a:tr>
                  <a:tr h="541837">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1837">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1837">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1837">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1837">
                    <a:tc gridSpan="2">
                      <a:txBody>
                        <a:bodyPr/>
                        <a:lstStyle/>
                        <a:p>
                          <a:endParaRPr lang="zh-CN"/>
                        </a:p>
                      </a:txBody>
                      <a:tcPr anchor="ctr">
                        <a:blipFill>
                          <a:blip r:embed="rId5"/>
                          <a:stretch>
                            <a:fillRect l="-344" t="-501124" r="-450859" b="-2247"/>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extLst>
              <p:ext uri="{D42A27DB-BD31-4B8C-83A1-F6EECF244321}">
                <p14:modId xmlns:p14="http://schemas.microsoft.com/office/powerpoint/2010/main" val="3705756000"/>
              </p:ext>
            </p:extLst>
          </p:nvPr>
        </p:nvGraphicFramePr>
        <p:xfrm>
          <a:off x="1871630" y="3290322"/>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extLst>
              <p:ext uri="{D42A27DB-BD31-4B8C-83A1-F6EECF244321}">
                <p14:modId xmlns:p14="http://schemas.microsoft.com/office/powerpoint/2010/main" val="1608027111"/>
              </p:ext>
            </p:extLst>
          </p:nvPr>
        </p:nvGraphicFramePr>
        <p:xfrm>
          <a:off x="1871630" y="3806528"/>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extLst>
              <p:ext uri="{D42A27DB-BD31-4B8C-83A1-F6EECF244321}">
                <p14:modId xmlns:p14="http://schemas.microsoft.com/office/powerpoint/2010/main" val="1263884035"/>
              </p:ext>
            </p:extLst>
          </p:nvPr>
        </p:nvGraphicFramePr>
        <p:xfrm>
          <a:off x="1871630" y="4362236"/>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extLst>
              <p:ext uri="{D42A27DB-BD31-4B8C-83A1-F6EECF244321}">
                <p14:modId xmlns:p14="http://schemas.microsoft.com/office/powerpoint/2010/main" val="2517388127"/>
              </p:ext>
            </p:extLst>
          </p:nvPr>
        </p:nvGraphicFramePr>
        <p:xfrm>
          <a:off x="276751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extLst>
              <p:ext uri="{D42A27DB-BD31-4B8C-83A1-F6EECF244321}">
                <p14:modId xmlns:p14="http://schemas.microsoft.com/office/powerpoint/2010/main" val="4091298549"/>
              </p:ext>
            </p:extLst>
          </p:nvPr>
        </p:nvGraphicFramePr>
        <p:xfrm>
          <a:off x="364482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extLst>
              <p:ext uri="{D42A27DB-BD31-4B8C-83A1-F6EECF244321}">
                <p14:modId xmlns:p14="http://schemas.microsoft.com/office/powerpoint/2010/main" val="3550117052"/>
              </p:ext>
            </p:extLst>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extLst>
              <p:ext uri="{D42A27DB-BD31-4B8C-83A1-F6EECF244321}">
                <p14:modId xmlns:p14="http://schemas.microsoft.com/office/powerpoint/2010/main" val="1372943173"/>
              </p:ext>
            </p:extLst>
          </p:nvPr>
        </p:nvGraphicFramePr>
        <p:xfrm>
          <a:off x="5393040" y="4351834"/>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144263453"/>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extLst>
              <p:ext uri="{D42A27DB-BD31-4B8C-83A1-F6EECF244321}">
                <p14:modId xmlns:p14="http://schemas.microsoft.com/office/powerpoint/2010/main" val="4290027879"/>
              </p:ext>
            </p:extLst>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extLst>
              <p:ext uri="{D42A27DB-BD31-4B8C-83A1-F6EECF244321}">
                <p14:modId xmlns:p14="http://schemas.microsoft.com/office/powerpoint/2010/main" val="573334341"/>
              </p:ext>
            </p:extLst>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extLst>
              <p:ext uri="{D42A27DB-BD31-4B8C-83A1-F6EECF244321}">
                <p14:modId xmlns:p14="http://schemas.microsoft.com/office/powerpoint/2010/main" val="3463040192"/>
              </p:ext>
            </p:extLst>
          </p:nvPr>
        </p:nvGraphicFramePr>
        <p:xfrm>
          <a:off x="8011635"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extLst>
              <p:ext uri="{D42A27DB-BD31-4B8C-83A1-F6EECF244321}">
                <p14:modId xmlns:p14="http://schemas.microsoft.com/office/powerpoint/2010/main" val="1441866306"/>
              </p:ext>
            </p:extLst>
          </p:nvPr>
        </p:nvGraphicFramePr>
        <p:xfrm>
          <a:off x="92946" y="4363187"/>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x7</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extLst>
              <p:ext uri="{D42A27DB-BD31-4B8C-83A1-F6EECF244321}">
                <p14:modId xmlns:p14="http://schemas.microsoft.com/office/powerpoint/2010/main" val="2452689961"/>
              </p:ext>
            </p:extLst>
          </p:nvPr>
        </p:nvGraphicFramePr>
        <p:xfrm>
          <a:off x="940013"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22" name="矩形 21">
            <a:extLst>
              <a:ext uri="{FF2B5EF4-FFF2-40B4-BE49-F238E27FC236}">
                <a16:creationId xmlns:a16="http://schemas.microsoft.com/office/drawing/2014/main" id="{210912C0-0A97-42D0-A627-66ACAB850485}"/>
              </a:ext>
            </a:extLst>
          </p:cNvPr>
          <p:cNvSpPr/>
          <p:nvPr/>
        </p:nvSpPr>
        <p:spPr>
          <a:xfrm>
            <a:off x="644902" y="2104162"/>
            <a:ext cx="2685351" cy="461665"/>
          </a:xfrm>
          <a:prstGeom prst="rect">
            <a:avLst/>
          </a:prstGeom>
        </p:spPr>
        <p:txBody>
          <a:bodyPr wrap="none">
            <a:spAutoFit/>
          </a:bodyPr>
          <a:lstStyle/>
          <a:p>
            <a:pPr marL="342900" indent="-342900">
              <a:buFont typeface="+mj-ea"/>
              <a:buAutoNum type="circleNumDbPlain"/>
            </a:pPr>
            <a:r>
              <a:rPr lang="zh-CN" altLang="en-US" sz="2400" dirty="0"/>
              <a:t>初始化单纯形表</a:t>
            </a:r>
            <a:endParaRPr lang="en-US" altLang="zh-CN" sz="2400" dirty="0"/>
          </a:p>
        </p:txBody>
      </p:sp>
    </p:spTree>
    <p:extLst>
      <p:ext uri="{BB962C8B-B14F-4D97-AF65-F5344CB8AC3E}">
        <p14:creationId xmlns:p14="http://schemas.microsoft.com/office/powerpoint/2010/main" val="1865357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16" presetClass="entr" presetSubtype="21"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arn(inVertic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00" fill="hold"/>
                                        <p:tgtEl>
                                          <p:spTgt spid="17"/>
                                        </p:tgtEl>
                                        <p:attrNameLst>
                                          <p:attrName>ppt_x</p:attrName>
                                        </p:attrNameLst>
                                      </p:cBhvr>
                                      <p:tavLst>
                                        <p:tav tm="0">
                                          <p:val>
                                            <p:strVal val="#ppt_x"/>
                                          </p:val>
                                        </p:tav>
                                        <p:tav tm="100000">
                                          <p:val>
                                            <p:strVal val="#ppt_x"/>
                                          </p:val>
                                        </p:tav>
                                      </p:tavLst>
                                    </p:anim>
                                    <p:anim calcmode="lin" valueType="num">
                                      <p:cBhvr additive="base">
                                        <p:cTn id="6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ppt_x"/>
                                          </p:val>
                                        </p:tav>
                                        <p:tav tm="100000">
                                          <p:val>
                                            <p:strVal val="#ppt_x"/>
                                          </p:val>
                                        </p:tav>
                                      </p:tavLst>
                                    </p:anim>
                                    <p:anim calcmode="lin" valueType="num">
                                      <p:cBhvr additive="base">
                                        <p:cTn id="8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20"/>
                                        </p:tgtEl>
                                        <p:attrNameLst>
                                          <p:attrName>style.visibility</p:attrName>
                                        </p:attrNameLst>
                                      </p:cBhvr>
                                      <p:to>
                                        <p:strVal val="visible"/>
                                      </p:to>
                                    </p:set>
                                    <p:anim calcmode="lin" valueType="num">
                                      <p:cBhvr additive="base">
                                        <p:cTn id="85" dur="500" fill="hold"/>
                                        <p:tgtEl>
                                          <p:spTgt spid="20"/>
                                        </p:tgtEl>
                                        <p:attrNameLst>
                                          <p:attrName>ppt_x</p:attrName>
                                        </p:attrNameLst>
                                      </p:cBhvr>
                                      <p:tavLst>
                                        <p:tav tm="0">
                                          <p:val>
                                            <p:strVal val="#ppt_x"/>
                                          </p:val>
                                        </p:tav>
                                        <p:tav tm="100000">
                                          <p:val>
                                            <p:strVal val="#ppt_x"/>
                                          </p:val>
                                        </p:tav>
                                      </p:tavLst>
                                    </p:anim>
                                    <p:anim calcmode="lin" valueType="num">
                                      <p:cBhvr additive="base">
                                        <p:cTn id="8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21"/>
                                        </p:tgtEl>
                                        <p:attrNameLst>
                                          <p:attrName>style.visibility</p:attrName>
                                        </p:attrNameLst>
                                      </p:cBhvr>
                                      <p:to>
                                        <p:strVal val="visible"/>
                                      </p:to>
                                    </p:set>
                                    <p:anim calcmode="lin" valueType="num">
                                      <p:cBhvr additive="base">
                                        <p:cTn id="91" dur="500" fill="hold"/>
                                        <p:tgtEl>
                                          <p:spTgt spid="21"/>
                                        </p:tgtEl>
                                        <p:attrNameLst>
                                          <p:attrName>ppt_x</p:attrName>
                                        </p:attrNameLst>
                                      </p:cBhvr>
                                      <p:tavLst>
                                        <p:tav tm="0">
                                          <p:val>
                                            <p:strVal val="#ppt_x"/>
                                          </p:val>
                                        </p:tav>
                                        <p:tav tm="100000">
                                          <p:val>
                                            <p:strVal val="#ppt_x"/>
                                          </p:val>
                                        </p:tav>
                                      </p:tavLst>
                                    </p:anim>
                                    <p:anim calcmode="lin" valueType="num">
                                      <p:cBhvr additive="base">
                                        <p:cTn id="9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24</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3262340693"/>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3262340693"/>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40" y="4351834"/>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144263453"/>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x7</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210912C0-0A97-42D0-A627-66ACAB850485}"/>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2"/>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22" name="矩形 21">
                <a:extLst>
                  <a:ext uri="{FF2B5EF4-FFF2-40B4-BE49-F238E27FC236}">
                    <a16:creationId xmlns:a16="http://schemas.microsoft.com/office/drawing/2014/main" id="{210912C0-0A97-42D0-A627-66ACAB850485}"/>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4"/>
                <a:stretch>
                  <a:fillRect l="-3675" t="-10294" r="-580" b="-16176"/>
                </a:stretch>
              </a:blipFill>
            </p:spPr>
            <p:txBody>
              <a:bodyPr/>
              <a:lstStyle/>
              <a:p>
                <a:r>
                  <a:rPr lang="zh-CN" altLang="en-US">
                    <a:noFill/>
                  </a:rPr>
                  <a:t> </a:t>
                </a:r>
              </a:p>
            </p:txBody>
          </p:sp>
        </mc:Fallback>
      </mc:AlternateContent>
      <p:graphicFrame>
        <p:nvGraphicFramePr>
          <p:cNvPr id="23" name="对象 22">
            <a:extLst>
              <a:ext uri="{FF2B5EF4-FFF2-40B4-BE49-F238E27FC236}">
                <a16:creationId xmlns:a16="http://schemas.microsoft.com/office/drawing/2014/main" id="{3A28AA25-8568-44CE-9DB4-42155F758276}"/>
              </a:ext>
            </a:extLst>
          </p:cNvPr>
          <p:cNvGraphicFramePr>
            <a:graphicFrameLocks noChangeAspect="1"/>
          </p:cNvGraphicFramePr>
          <p:nvPr>
            <p:extLst>
              <p:ext uri="{D42A27DB-BD31-4B8C-83A1-F6EECF244321}">
                <p14:modId xmlns:p14="http://schemas.microsoft.com/office/powerpoint/2010/main" val="1925144576"/>
              </p:ext>
            </p:extLst>
          </p:nvPr>
        </p:nvGraphicFramePr>
        <p:xfrm>
          <a:off x="5102197" y="479783"/>
          <a:ext cx="2816225" cy="530225"/>
        </p:xfrm>
        <a:graphic>
          <a:graphicData uri="http://schemas.openxmlformats.org/presentationml/2006/ole">
            <mc:AlternateContent xmlns:mc="http://schemas.openxmlformats.org/markup-compatibility/2006">
              <mc:Choice xmlns:v="urn:schemas-microsoft-com:vml" Requires="v">
                <p:oleObj name="Equation" r:id="rId5" imgW="1485720" imgH="279360" progId="Equation.DSMT4">
                  <p:embed/>
                </p:oleObj>
              </mc:Choice>
              <mc:Fallback>
                <p:oleObj name="Equation" r:id="rId5" imgW="1485720" imgH="279360" progId="Equation.DSMT4">
                  <p:embed/>
                  <p:pic>
                    <p:nvPicPr>
                      <p:cNvPr id="18" name="对象 17">
                        <a:extLst>
                          <a:ext uri="{FF2B5EF4-FFF2-40B4-BE49-F238E27FC236}">
                            <a16:creationId xmlns:a16="http://schemas.microsoft.com/office/drawing/2014/main" id="{D3B018E3-77EF-4A8F-94D1-9C4AB16B642F}"/>
                          </a:ext>
                        </a:extLst>
                      </p:cNvPr>
                      <p:cNvPicPr/>
                      <p:nvPr/>
                    </p:nvPicPr>
                    <p:blipFill>
                      <a:blip r:embed="rId6"/>
                      <a:stretch>
                        <a:fillRect/>
                      </a:stretch>
                    </p:blipFill>
                    <p:spPr>
                      <a:xfrm>
                        <a:off x="5102197" y="479783"/>
                        <a:ext cx="2816225" cy="530225"/>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58D8E6F6-E745-4DE8-8623-3AE16531B306}"/>
              </a:ext>
            </a:extLst>
          </p:cNvPr>
          <p:cNvGraphicFramePr>
            <a:graphicFrameLocks noChangeAspect="1"/>
          </p:cNvGraphicFramePr>
          <p:nvPr>
            <p:extLst>
              <p:ext uri="{D42A27DB-BD31-4B8C-83A1-F6EECF244321}">
                <p14:modId xmlns:p14="http://schemas.microsoft.com/office/powerpoint/2010/main" val="1773759889"/>
              </p:ext>
            </p:extLst>
          </p:nvPr>
        </p:nvGraphicFramePr>
        <p:xfrm>
          <a:off x="4088904" y="1014725"/>
          <a:ext cx="5010150" cy="482600"/>
        </p:xfrm>
        <a:graphic>
          <a:graphicData uri="http://schemas.openxmlformats.org/presentationml/2006/ole">
            <mc:AlternateContent xmlns:mc="http://schemas.openxmlformats.org/markup-compatibility/2006">
              <mc:Choice xmlns:v="urn:schemas-microsoft-com:vml" Requires="v">
                <p:oleObj name="Equation" r:id="rId7" imgW="2641320" imgH="253800" progId="Equation.DSMT4">
                  <p:embed/>
                </p:oleObj>
              </mc:Choice>
              <mc:Fallback>
                <p:oleObj name="Equation" r:id="rId7" imgW="2641320" imgH="253800" progId="Equation.DSMT4">
                  <p:embed/>
                  <p:pic>
                    <p:nvPicPr>
                      <p:cNvPr id="28" name="对象 27">
                        <a:extLst>
                          <a:ext uri="{FF2B5EF4-FFF2-40B4-BE49-F238E27FC236}">
                            <a16:creationId xmlns:a16="http://schemas.microsoft.com/office/drawing/2014/main" id="{8016363C-E32C-4A09-BB75-1575C2A89002}"/>
                          </a:ext>
                        </a:extLst>
                      </p:cNvPr>
                      <p:cNvPicPr/>
                      <p:nvPr/>
                    </p:nvPicPr>
                    <p:blipFill>
                      <a:blip r:embed="rId8"/>
                      <a:stretch>
                        <a:fillRect/>
                      </a:stretch>
                    </p:blipFill>
                    <p:spPr>
                      <a:xfrm>
                        <a:off x="4088904" y="1014725"/>
                        <a:ext cx="5010150" cy="482600"/>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3D08FC44-0196-43EB-8494-C23634C3BF49}"/>
              </a:ext>
            </a:extLst>
          </p:cNvPr>
          <p:cNvGraphicFramePr>
            <a:graphicFrameLocks noChangeAspect="1"/>
          </p:cNvGraphicFramePr>
          <p:nvPr>
            <p:extLst>
              <p:ext uri="{D42A27DB-BD31-4B8C-83A1-F6EECF244321}">
                <p14:modId xmlns:p14="http://schemas.microsoft.com/office/powerpoint/2010/main" val="2049198498"/>
              </p:ext>
            </p:extLst>
          </p:nvPr>
        </p:nvGraphicFramePr>
        <p:xfrm>
          <a:off x="4088904" y="1298443"/>
          <a:ext cx="4600575" cy="482600"/>
        </p:xfrm>
        <a:graphic>
          <a:graphicData uri="http://schemas.openxmlformats.org/presentationml/2006/ole">
            <mc:AlternateContent xmlns:mc="http://schemas.openxmlformats.org/markup-compatibility/2006">
              <mc:Choice xmlns:v="urn:schemas-microsoft-com:vml" Requires="v">
                <p:oleObj name="Equation" r:id="rId9" imgW="2425680" imgH="253800" progId="Equation.DSMT4">
                  <p:embed/>
                </p:oleObj>
              </mc:Choice>
              <mc:Fallback>
                <p:oleObj name="Equation" r:id="rId9" imgW="2425680" imgH="253800" progId="Equation.DSMT4">
                  <p:embed/>
                  <p:pic>
                    <p:nvPicPr>
                      <p:cNvPr id="24" name="对象 23">
                        <a:extLst>
                          <a:ext uri="{FF2B5EF4-FFF2-40B4-BE49-F238E27FC236}">
                            <a16:creationId xmlns:a16="http://schemas.microsoft.com/office/drawing/2014/main" id="{58D8E6F6-E745-4DE8-8623-3AE16531B306}"/>
                          </a:ext>
                        </a:extLst>
                      </p:cNvPr>
                      <p:cNvPicPr/>
                      <p:nvPr/>
                    </p:nvPicPr>
                    <p:blipFill>
                      <a:blip r:embed="rId10"/>
                      <a:stretch>
                        <a:fillRect/>
                      </a:stretch>
                    </p:blipFill>
                    <p:spPr>
                      <a:xfrm>
                        <a:off x="4088904" y="1298443"/>
                        <a:ext cx="4600575" cy="482600"/>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DC9009BF-07CC-4603-B130-02C4EF42E3B9}"/>
              </a:ext>
            </a:extLst>
          </p:cNvPr>
          <p:cNvGraphicFramePr>
            <a:graphicFrameLocks noChangeAspect="1"/>
          </p:cNvGraphicFramePr>
          <p:nvPr>
            <p:extLst>
              <p:ext uri="{D42A27DB-BD31-4B8C-83A1-F6EECF244321}">
                <p14:modId xmlns:p14="http://schemas.microsoft.com/office/powerpoint/2010/main" val="3174406986"/>
              </p:ext>
            </p:extLst>
          </p:nvPr>
        </p:nvGraphicFramePr>
        <p:xfrm>
          <a:off x="4112716" y="1608988"/>
          <a:ext cx="4406900" cy="482600"/>
        </p:xfrm>
        <a:graphic>
          <a:graphicData uri="http://schemas.openxmlformats.org/presentationml/2006/ole">
            <mc:AlternateContent xmlns:mc="http://schemas.openxmlformats.org/markup-compatibility/2006">
              <mc:Choice xmlns:v="urn:schemas-microsoft-com:vml" Requires="v">
                <p:oleObj name="Equation" r:id="rId11" imgW="2323800" imgH="253800" progId="Equation.DSMT4">
                  <p:embed/>
                </p:oleObj>
              </mc:Choice>
              <mc:Fallback>
                <p:oleObj name="Equation" r:id="rId11" imgW="2323800" imgH="253800" progId="Equation.DSMT4">
                  <p:embed/>
                  <p:pic>
                    <p:nvPicPr>
                      <p:cNvPr id="25" name="对象 24">
                        <a:extLst>
                          <a:ext uri="{FF2B5EF4-FFF2-40B4-BE49-F238E27FC236}">
                            <a16:creationId xmlns:a16="http://schemas.microsoft.com/office/drawing/2014/main" id="{3D08FC44-0196-43EB-8494-C23634C3BF49}"/>
                          </a:ext>
                        </a:extLst>
                      </p:cNvPr>
                      <p:cNvPicPr/>
                      <p:nvPr/>
                    </p:nvPicPr>
                    <p:blipFill>
                      <a:blip r:embed="rId12"/>
                      <a:stretch>
                        <a:fillRect/>
                      </a:stretch>
                    </p:blipFill>
                    <p:spPr>
                      <a:xfrm>
                        <a:off x="4112716" y="1608988"/>
                        <a:ext cx="4406900" cy="482600"/>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23E054F7-E4BD-4142-866A-5B7FEB2AD838}"/>
              </a:ext>
            </a:extLst>
          </p:cNvPr>
          <p:cNvGraphicFramePr>
            <a:graphicFrameLocks noChangeAspect="1"/>
          </p:cNvGraphicFramePr>
          <p:nvPr>
            <p:extLst>
              <p:ext uri="{D42A27DB-BD31-4B8C-83A1-F6EECF244321}">
                <p14:modId xmlns:p14="http://schemas.microsoft.com/office/powerpoint/2010/main" val="4205069858"/>
              </p:ext>
            </p:extLst>
          </p:nvPr>
        </p:nvGraphicFramePr>
        <p:xfrm>
          <a:off x="4112716" y="1909732"/>
          <a:ext cx="3876675" cy="482600"/>
        </p:xfrm>
        <a:graphic>
          <a:graphicData uri="http://schemas.openxmlformats.org/presentationml/2006/ole">
            <mc:AlternateContent xmlns:mc="http://schemas.openxmlformats.org/markup-compatibility/2006">
              <mc:Choice xmlns:v="urn:schemas-microsoft-com:vml" Requires="v">
                <p:oleObj name="Equation" r:id="rId13" imgW="2044440" imgH="253800" progId="Equation.DSMT4">
                  <p:embed/>
                </p:oleObj>
              </mc:Choice>
              <mc:Fallback>
                <p:oleObj name="Equation" r:id="rId13" imgW="2044440" imgH="253800" progId="Equation.DSMT4">
                  <p:embed/>
                  <p:pic>
                    <p:nvPicPr>
                      <p:cNvPr id="26" name="对象 25">
                        <a:extLst>
                          <a:ext uri="{FF2B5EF4-FFF2-40B4-BE49-F238E27FC236}">
                            <a16:creationId xmlns:a16="http://schemas.microsoft.com/office/drawing/2014/main" id="{DC9009BF-07CC-4603-B130-02C4EF42E3B9}"/>
                          </a:ext>
                        </a:extLst>
                      </p:cNvPr>
                      <p:cNvPicPr/>
                      <p:nvPr/>
                    </p:nvPicPr>
                    <p:blipFill>
                      <a:blip r:embed="rId14"/>
                      <a:stretch>
                        <a:fillRect/>
                      </a:stretch>
                    </p:blipFill>
                    <p:spPr>
                      <a:xfrm>
                        <a:off x="4112716" y="1909732"/>
                        <a:ext cx="3876675" cy="482600"/>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145D2037-90C0-46D1-B8D7-7C4C3B8C550A}"/>
              </a:ext>
            </a:extLst>
          </p:cNvPr>
          <p:cNvGraphicFramePr>
            <a:graphicFrameLocks noChangeAspect="1"/>
          </p:cNvGraphicFramePr>
          <p:nvPr>
            <p:extLst>
              <p:ext uri="{D42A27DB-BD31-4B8C-83A1-F6EECF244321}">
                <p14:modId xmlns:p14="http://schemas.microsoft.com/office/powerpoint/2010/main" val="2952192637"/>
              </p:ext>
            </p:extLst>
          </p:nvPr>
        </p:nvGraphicFramePr>
        <p:xfrm>
          <a:off x="4112716" y="2237267"/>
          <a:ext cx="4068763" cy="482600"/>
        </p:xfrm>
        <a:graphic>
          <a:graphicData uri="http://schemas.openxmlformats.org/presentationml/2006/ole">
            <mc:AlternateContent xmlns:mc="http://schemas.openxmlformats.org/markup-compatibility/2006">
              <mc:Choice xmlns:v="urn:schemas-microsoft-com:vml" Requires="v">
                <p:oleObj name="Equation" r:id="rId15" imgW="2145960" imgH="253800" progId="Equation.DSMT4">
                  <p:embed/>
                </p:oleObj>
              </mc:Choice>
              <mc:Fallback>
                <p:oleObj name="Equation" r:id="rId15" imgW="2145960" imgH="253800" progId="Equation.DSMT4">
                  <p:embed/>
                  <p:pic>
                    <p:nvPicPr>
                      <p:cNvPr id="27" name="对象 26">
                        <a:extLst>
                          <a:ext uri="{FF2B5EF4-FFF2-40B4-BE49-F238E27FC236}">
                            <a16:creationId xmlns:a16="http://schemas.microsoft.com/office/drawing/2014/main" id="{23E054F7-E4BD-4142-866A-5B7FEB2AD838}"/>
                          </a:ext>
                        </a:extLst>
                      </p:cNvPr>
                      <p:cNvPicPr/>
                      <p:nvPr/>
                    </p:nvPicPr>
                    <p:blipFill>
                      <a:blip r:embed="rId16"/>
                      <a:stretch>
                        <a:fillRect/>
                      </a:stretch>
                    </p:blipFill>
                    <p:spPr>
                      <a:xfrm>
                        <a:off x="4112716" y="2237267"/>
                        <a:ext cx="4068763" cy="482600"/>
                      </a:xfrm>
                      <a:prstGeom prst="rect">
                        <a:avLst/>
                      </a:prstGeom>
                    </p:spPr>
                  </p:pic>
                </p:oleObj>
              </mc:Fallback>
            </mc:AlternateContent>
          </a:graphicData>
        </a:graphic>
      </p:graphicFrame>
      <p:graphicFrame>
        <p:nvGraphicFramePr>
          <p:cNvPr id="29" name="对象 28">
            <a:extLst>
              <a:ext uri="{FF2B5EF4-FFF2-40B4-BE49-F238E27FC236}">
                <a16:creationId xmlns:a16="http://schemas.microsoft.com/office/drawing/2014/main" id="{A83A03C8-AB40-42A3-9D5C-BABB4A16BDE8}"/>
              </a:ext>
            </a:extLst>
          </p:cNvPr>
          <p:cNvGraphicFramePr>
            <a:graphicFrameLocks noChangeAspect="1"/>
          </p:cNvGraphicFramePr>
          <p:nvPr>
            <p:extLst>
              <p:ext uri="{D42A27DB-BD31-4B8C-83A1-F6EECF244321}">
                <p14:modId xmlns:p14="http://schemas.microsoft.com/office/powerpoint/2010/main" val="1314484203"/>
              </p:ext>
            </p:extLst>
          </p:nvPr>
        </p:nvGraphicFramePr>
        <p:xfrm>
          <a:off x="4112716" y="2512564"/>
          <a:ext cx="4021137" cy="482600"/>
        </p:xfrm>
        <a:graphic>
          <a:graphicData uri="http://schemas.openxmlformats.org/presentationml/2006/ole">
            <mc:AlternateContent xmlns:mc="http://schemas.openxmlformats.org/markup-compatibility/2006">
              <mc:Choice xmlns:v="urn:schemas-microsoft-com:vml" Requires="v">
                <p:oleObj name="Equation" r:id="rId17" imgW="2120760" imgH="253800" progId="Equation.DSMT4">
                  <p:embed/>
                </p:oleObj>
              </mc:Choice>
              <mc:Fallback>
                <p:oleObj name="Equation" r:id="rId17" imgW="2120760" imgH="253800" progId="Equation.DSMT4">
                  <p:embed/>
                  <p:pic>
                    <p:nvPicPr>
                      <p:cNvPr id="27" name="对象 26">
                        <a:extLst>
                          <a:ext uri="{FF2B5EF4-FFF2-40B4-BE49-F238E27FC236}">
                            <a16:creationId xmlns:a16="http://schemas.microsoft.com/office/drawing/2014/main" id="{23E054F7-E4BD-4142-866A-5B7FEB2AD838}"/>
                          </a:ext>
                        </a:extLst>
                      </p:cNvPr>
                      <p:cNvPicPr/>
                      <p:nvPr/>
                    </p:nvPicPr>
                    <p:blipFill>
                      <a:blip r:embed="rId18"/>
                      <a:stretch>
                        <a:fillRect/>
                      </a:stretch>
                    </p:blipFill>
                    <p:spPr>
                      <a:xfrm>
                        <a:off x="4112716" y="2512564"/>
                        <a:ext cx="4021137" cy="482600"/>
                      </a:xfrm>
                      <a:prstGeom prst="rect">
                        <a:avLst/>
                      </a:prstGeom>
                    </p:spPr>
                  </p:pic>
                </p:oleObj>
              </mc:Fallback>
            </mc:AlternateContent>
          </a:graphicData>
        </a:graphic>
      </p:graphicFrame>
      <p:graphicFrame>
        <p:nvGraphicFramePr>
          <p:cNvPr id="30" name="对象 29">
            <a:extLst>
              <a:ext uri="{FF2B5EF4-FFF2-40B4-BE49-F238E27FC236}">
                <a16:creationId xmlns:a16="http://schemas.microsoft.com/office/drawing/2014/main" id="{D514A6B6-B6FB-4E18-85D8-F13457B4818B}"/>
              </a:ext>
            </a:extLst>
          </p:cNvPr>
          <p:cNvGraphicFramePr>
            <a:graphicFrameLocks noChangeAspect="1"/>
          </p:cNvGraphicFramePr>
          <p:nvPr>
            <p:extLst>
              <p:ext uri="{D42A27DB-BD31-4B8C-83A1-F6EECF244321}">
                <p14:modId xmlns:p14="http://schemas.microsoft.com/office/powerpoint/2010/main" val="797708741"/>
              </p:ext>
            </p:extLst>
          </p:nvPr>
        </p:nvGraphicFramePr>
        <p:xfrm>
          <a:off x="4098131" y="2825438"/>
          <a:ext cx="4021137" cy="482600"/>
        </p:xfrm>
        <a:graphic>
          <a:graphicData uri="http://schemas.openxmlformats.org/presentationml/2006/ole">
            <mc:AlternateContent xmlns:mc="http://schemas.openxmlformats.org/markup-compatibility/2006">
              <mc:Choice xmlns:v="urn:schemas-microsoft-com:vml" Requires="v">
                <p:oleObj name="Equation" r:id="rId19" imgW="2120760" imgH="253800" progId="Equation.DSMT4">
                  <p:embed/>
                </p:oleObj>
              </mc:Choice>
              <mc:Fallback>
                <p:oleObj name="Equation" r:id="rId19" imgW="2120760" imgH="253800" progId="Equation.DSMT4">
                  <p:embed/>
                  <p:pic>
                    <p:nvPicPr>
                      <p:cNvPr id="29" name="对象 28">
                        <a:extLst>
                          <a:ext uri="{FF2B5EF4-FFF2-40B4-BE49-F238E27FC236}">
                            <a16:creationId xmlns:a16="http://schemas.microsoft.com/office/drawing/2014/main" id="{A83A03C8-AB40-42A3-9D5C-BABB4A16BDE8}"/>
                          </a:ext>
                        </a:extLst>
                      </p:cNvPr>
                      <p:cNvPicPr/>
                      <p:nvPr/>
                    </p:nvPicPr>
                    <p:blipFill>
                      <a:blip r:embed="rId20"/>
                      <a:stretch>
                        <a:fillRect/>
                      </a:stretch>
                    </p:blipFill>
                    <p:spPr>
                      <a:xfrm>
                        <a:off x="4098131" y="2825438"/>
                        <a:ext cx="4021137" cy="482600"/>
                      </a:xfrm>
                      <a:prstGeom prst="rect">
                        <a:avLst/>
                      </a:prstGeom>
                    </p:spPr>
                  </p:pic>
                </p:oleObj>
              </mc:Fallback>
            </mc:AlternateContent>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1856656" y="6041749"/>
            <a:ext cx="886782" cy="461665"/>
          </a:xfrm>
          <a:prstGeom prst="rect">
            <a:avLst/>
          </a:prstGeom>
        </p:spPr>
        <p:txBody>
          <a:bodyPr wrap="none">
            <a:spAutoFit/>
          </a:bodyPr>
          <a:lstStyle/>
          <a:p>
            <a:pPr algn="ctr"/>
            <a:r>
              <a:rPr lang="en-US" altLang="zh-CN" sz="2400" dirty="0"/>
              <a:t>6M-3</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814808" y="6064583"/>
            <a:ext cx="715260" cy="461665"/>
          </a:xfrm>
          <a:prstGeom prst="rect">
            <a:avLst/>
          </a:prstGeom>
        </p:spPr>
        <p:txBody>
          <a:bodyPr wrap="none">
            <a:spAutoFit/>
          </a:bodyPr>
          <a:lstStyle/>
          <a:p>
            <a:pPr algn="ctr"/>
            <a:r>
              <a:rPr lang="en-US" altLang="zh-CN" sz="2400" dirty="0"/>
              <a:t>2-M</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646954" y="6044696"/>
            <a:ext cx="886781" cy="461665"/>
          </a:xfrm>
          <a:prstGeom prst="rect">
            <a:avLst/>
          </a:prstGeom>
        </p:spPr>
        <p:txBody>
          <a:bodyPr wrap="none">
            <a:spAutoFit/>
          </a:bodyPr>
          <a:lstStyle/>
          <a:p>
            <a:pPr algn="ctr"/>
            <a:r>
              <a:rPr lang="en-US" altLang="zh-CN" sz="2400" dirty="0"/>
              <a:t>1-3M</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179"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665940" y="6054229"/>
            <a:ext cx="441146" cy="461665"/>
          </a:xfrm>
          <a:prstGeom prst="rect">
            <a:avLst/>
          </a:prstGeom>
        </p:spPr>
        <p:txBody>
          <a:bodyPr wrap="none">
            <a:spAutoFit/>
          </a:bodyPr>
          <a:lstStyle/>
          <a:p>
            <a:pPr algn="ctr"/>
            <a:r>
              <a:rPr lang="en-US" altLang="zh-CN" sz="2400" dirty="0"/>
              <a:t>M</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128" y="6064582"/>
            <a:ext cx="356188" cy="461665"/>
          </a:xfrm>
          <a:prstGeom prst="rect">
            <a:avLst/>
          </a:prstGeom>
        </p:spPr>
        <p:txBody>
          <a:bodyPr wrap="none">
            <a:spAutoFit/>
          </a:bodyPr>
          <a:lstStyle/>
          <a:p>
            <a:pPr algn="ctr"/>
            <a:r>
              <a:rPr lang="en-US" altLang="zh-CN" sz="2400" dirty="0"/>
              <a:t>0</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7783" y="6044696"/>
            <a:ext cx="356188" cy="461665"/>
          </a:xfrm>
          <a:prstGeom prst="rect">
            <a:avLst/>
          </a:prstGeom>
        </p:spPr>
        <p:txBody>
          <a:bodyPr wrap="none">
            <a:spAutoFit/>
          </a:bodyPr>
          <a:lstStyle/>
          <a:p>
            <a:pPr algn="ctr"/>
            <a:r>
              <a:rPr lang="en-US" altLang="zh-CN" sz="2400" dirty="0"/>
              <a:t>0</a:t>
            </a:r>
            <a:endParaRPr lang="zh-CN" altLang="en-US" sz="2400" dirty="0"/>
          </a:p>
        </p:txBody>
      </p:sp>
    </p:spTree>
    <p:extLst>
      <p:ext uri="{BB962C8B-B14F-4D97-AF65-F5344CB8AC3E}">
        <p14:creationId xmlns:p14="http://schemas.microsoft.com/office/powerpoint/2010/main" val="179197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down)">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additive="base">
                                        <p:cTn id="18" dur="500"/>
                                        <p:tgtEl>
                                          <p:spTgt spid="24"/>
                                        </p:tgtEl>
                                        <p:attrNameLst>
                                          <p:attrName>ppt_y</p:attrName>
                                        </p:attrNameLst>
                                      </p:cBhvr>
                                      <p:tavLst>
                                        <p:tav tm="0">
                                          <p:val>
                                            <p:strVal val="#ppt_y+#ppt_h*1.125000"/>
                                          </p:val>
                                        </p:tav>
                                        <p:tav tm="100000">
                                          <p:val>
                                            <p:strVal val="#ppt_y"/>
                                          </p:val>
                                        </p:tav>
                                      </p:tavLst>
                                    </p:anim>
                                    <p:animEffect transition="in" filter="wipe(up)">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additive="base">
                                        <p:cTn id="24" dur="500" fill="hold"/>
                                        <p:tgtEl>
                                          <p:spTgt spid="31"/>
                                        </p:tgtEl>
                                        <p:attrNameLst>
                                          <p:attrName>ppt_x</p:attrName>
                                        </p:attrNameLst>
                                      </p:cBhvr>
                                      <p:tavLst>
                                        <p:tav tm="0">
                                          <p:val>
                                            <p:strVal val="#ppt_x"/>
                                          </p:val>
                                        </p:tav>
                                        <p:tav tm="100000">
                                          <p:val>
                                            <p:strVal val="#ppt_x"/>
                                          </p:val>
                                        </p:tav>
                                      </p:tavLst>
                                    </p:anim>
                                    <p:anim calcmode="lin" valueType="num">
                                      <p:cBhvr additive="base">
                                        <p:cTn id="25"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p:tgtEl>
                                          <p:spTgt spid="25"/>
                                        </p:tgtEl>
                                        <p:attrNameLst>
                                          <p:attrName>ppt_y</p:attrName>
                                        </p:attrNameLst>
                                      </p:cBhvr>
                                      <p:tavLst>
                                        <p:tav tm="0">
                                          <p:val>
                                            <p:strVal val="#ppt_y+#ppt_h*1.125000"/>
                                          </p:val>
                                        </p:tav>
                                        <p:tav tm="100000">
                                          <p:val>
                                            <p:strVal val="#ppt_y"/>
                                          </p:val>
                                        </p:tav>
                                      </p:tavLst>
                                    </p:anim>
                                    <p:animEffect transition="in" filter="wipe(up)">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anim calcmode="lin" valueType="num">
                                      <p:cBhvr additive="base">
                                        <p:cTn id="36" dur="500" fill="hold"/>
                                        <p:tgtEl>
                                          <p:spTgt spid="32"/>
                                        </p:tgtEl>
                                        <p:attrNameLst>
                                          <p:attrName>ppt_x</p:attrName>
                                        </p:attrNameLst>
                                      </p:cBhvr>
                                      <p:tavLst>
                                        <p:tav tm="0">
                                          <p:val>
                                            <p:strVal val="#ppt_x"/>
                                          </p:val>
                                        </p:tav>
                                        <p:tav tm="100000">
                                          <p:val>
                                            <p:strVal val="#ppt_x"/>
                                          </p:val>
                                        </p:tav>
                                      </p:tavLst>
                                    </p:anim>
                                    <p:anim calcmode="lin" valueType="num">
                                      <p:cBhvr additive="base">
                                        <p:cTn id="37"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 calcmode="lin" valueType="num">
                                      <p:cBhvr additive="base">
                                        <p:cTn id="42" dur="500"/>
                                        <p:tgtEl>
                                          <p:spTgt spid="26"/>
                                        </p:tgtEl>
                                        <p:attrNameLst>
                                          <p:attrName>ppt_y</p:attrName>
                                        </p:attrNameLst>
                                      </p:cBhvr>
                                      <p:tavLst>
                                        <p:tav tm="0">
                                          <p:val>
                                            <p:strVal val="#ppt_y+#ppt_h*1.125000"/>
                                          </p:val>
                                        </p:tav>
                                        <p:tav tm="100000">
                                          <p:val>
                                            <p:strVal val="#ppt_y"/>
                                          </p:val>
                                        </p:tav>
                                      </p:tavLst>
                                    </p:anim>
                                    <p:animEffect transition="in" filter="wipe(up)">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3"/>
                                        </p:tgtEl>
                                        <p:attrNameLst>
                                          <p:attrName>style.visibility</p:attrName>
                                        </p:attrNameLst>
                                      </p:cBhvr>
                                      <p:to>
                                        <p:strVal val="visible"/>
                                      </p:to>
                                    </p:set>
                                    <p:anim calcmode="lin" valueType="num">
                                      <p:cBhvr additive="base">
                                        <p:cTn id="48" dur="500" fill="hold"/>
                                        <p:tgtEl>
                                          <p:spTgt spid="33"/>
                                        </p:tgtEl>
                                        <p:attrNameLst>
                                          <p:attrName>ppt_x</p:attrName>
                                        </p:attrNameLst>
                                      </p:cBhvr>
                                      <p:tavLst>
                                        <p:tav tm="0">
                                          <p:val>
                                            <p:strVal val="#ppt_x"/>
                                          </p:val>
                                        </p:tav>
                                        <p:tav tm="100000">
                                          <p:val>
                                            <p:strVal val="#ppt_x"/>
                                          </p:val>
                                        </p:tav>
                                      </p:tavLst>
                                    </p:anim>
                                    <p:anim calcmode="lin" valueType="num">
                                      <p:cBhvr additive="base">
                                        <p:cTn id="49"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 calcmode="lin" valueType="num">
                                      <p:cBhvr additive="base">
                                        <p:cTn id="54" dur="500"/>
                                        <p:tgtEl>
                                          <p:spTgt spid="27"/>
                                        </p:tgtEl>
                                        <p:attrNameLst>
                                          <p:attrName>ppt_y</p:attrName>
                                        </p:attrNameLst>
                                      </p:cBhvr>
                                      <p:tavLst>
                                        <p:tav tm="0">
                                          <p:val>
                                            <p:strVal val="#ppt_y+#ppt_h*1.125000"/>
                                          </p:val>
                                        </p:tav>
                                        <p:tav tm="100000">
                                          <p:val>
                                            <p:strVal val="#ppt_y"/>
                                          </p:val>
                                        </p:tav>
                                      </p:tavLst>
                                    </p:anim>
                                    <p:animEffect transition="in" filter="wipe(up)">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 calcmode="lin" valueType="num">
                                      <p:cBhvr additive="base">
                                        <p:cTn id="60" dur="500" fill="hold"/>
                                        <p:tgtEl>
                                          <p:spTgt spid="34"/>
                                        </p:tgtEl>
                                        <p:attrNameLst>
                                          <p:attrName>ppt_x</p:attrName>
                                        </p:attrNameLst>
                                      </p:cBhvr>
                                      <p:tavLst>
                                        <p:tav tm="0">
                                          <p:val>
                                            <p:strVal val="#ppt_x"/>
                                          </p:val>
                                        </p:tav>
                                        <p:tav tm="100000">
                                          <p:val>
                                            <p:strVal val="#ppt_x"/>
                                          </p:val>
                                        </p:tav>
                                      </p:tavLst>
                                    </p:anim>
                                    <p:anim calcmode="lin" valueType="num">
                                      <p:cBhvr additive="base">
                                        <p:cTn id="61"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2" presetClass="entr" presetSubtype="4" fill="hold" nodeType="clickEffect">
                                  <p:stCondLst>
                                    <p:cond delay="0"/>
                                  </p:stCondLst>
                                  <p:childTnLst>
                                    <p:set>
                                      <p:cBhvr>
                                        <p:cTn id="65" dur="1" fill="hold">
                                          <p:stCondLst>
                                            <p:cond delay="0"/>
                                          </p:stCondLst>
                                        </p:cTn>
                                        <p:tgtEl>
                                          <p:spTgt spid="28"/>
                                        </p:tgtEl>
                                        <p:attrNameLst>
                                          <p:attrName>style.visibility</p:attrName>
                                        </p:attrNameLst>
                                      </p:cBhvr>
                                      <p:to>
                                        <p:strVal val="visible"/>
                                      </p:to>
                                    </p:set>
                                    <p:anim calcmode="lin" valueType="num">
                                      <p:cBhvr additive="base">
                                        <p:cTn id="66" dur="500"/>
                                        <p:tgtEl>
                                          <p:spTgt spid="28"/>
                                        </p:tgtEl>
                                        <p:attrNameLst>
                                          <p:attrName>ppt_y</p:attrName>
                                        </p:attrNameLst>
                                      </p:cBhvr>
                                      <p:tavLst>
                                        <p:tav tm="0">
                                          <p:val>
                                            <p:strVal val="#ppt_y+#ppt_h*1.125000"/>
                                          </p:val>
                                        </p:tav>
                                        <p:tav tm="100000">
                                          <p:val>
                                            <p:strVal val="#ppt_y"/>
                                          </p:val>
                                        </p:tav>
                                      </p:tavLst>
                                    </p:anim>
                                    <p:animEffect transition="in" filter="wipe(up)">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35"/>
                                        </p:tgtEl>
                                        <p:attrNameLst>
                                          <p:attrName>style.visibility</p:attrName>
                                        </p:attrNameLst>
                                      </p:cBhvr>
                                      <p:to>
                                        <p:strVal val="visible"/>
                                      </p:to>
                                    </p:set>
                                    <p:anim calcmode="lin" valueType="num">
                                      <p:cBhvr additive="base">
                                        <p:cTn id="72" dur="500" fill="hold"/>
                                        <p:tgtEl>
                                          <p:spTgt spid="35"/>
                                        </p:tgtEl>
                                        <p:attrNameLst>
                                          <p:attrName>ppt_x</p:attrName>
                                        </p:attrNameLst>
                                      </p:cBhvr>
                                      <p:tavLst>
                                        <p:tav tm="0">
                                          <p:val>
                                            <p:strVal val="#ppt_x"/>
                                          </p:val>
                                        </p:tav>
                                        <p:tav tm="100000">
                                          <p:val>
                                            <p:strVal val="#ppt_x"/>
                                          </p:val>
                                        </p:tav>
                                      </p:tavLst>
                                    </p:anim>
                                    <p:anim calcmode="lin" valueType="num">
                                      <p:cBhvr additive="base">
                                        <p:cTn id="73"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2" presetClass="entr" presetSubtype="4" fill="hold" nodeType="clickEffect">
                                  <p:stCondLst>
                                    <p:cond delay="0"/>
                                  </p:stCondLst>
                                  <p:childTnLst>
                                    <p:set>
                                      <p:cBhvr>
                                        <p:cTn id="77" dur="1" fill="hold">
                                          <p:stCondLst>
                                            <p:cond delay="0"/>
                                          </p:stCondLst>
                                        </p:cTn>
                                        <p:tgtEl>
                                          <p:spTgt spid="29"/>
                                        </p:tgtEl>
                                        <p:attrNameLst>
                                          <p:attrName>style.visibility</p:attrName>
                                        </p:attrNameLst>
                                      </p:cBhvr>
                                      <p:to>
                                        <p:strVal val="visible"/>
                                      </p:to>
                                    </p:set>
                                    <p:anim calcmode="lin" valueType="num">
                                      <p:cBhvr additive="base">
                                        <p:cTn id="78" dur="500"/>
                                        <p:tgtEl>
                                          <p:spTgt spid="29"/>
                                        </p:tgtEl>
                                        <p:attrNameLst>
                                          <p:attrName>ppt_y</p:attrName>
                                        </p:attrNameLst>
                                      </p:cBhvr>
                                      <p:tavLst>
                                        <p:tav tm="0">
                                          <p:val>
                                            <p:strVal val="#ppt_y+#ppt_h*1.125000"/>
                                          </p:val>
                                        </p:tav>
                                        <p:tav tm="100000">
                                          <p:val>
                                            <p:strVal val="#ppt_y"/>
                                          </p:val>
                                        </p:tav>
                                      </p:tavLst>
                                    </p:anim>
                                    <p:animEffect transition="in" filter="wipe(up)">
                                      <p:cBhvr>
                                        <p:cTn id="79" dur="500"/>
                                        <p:tgtEl>
                                          <p:spTgt spid="29"/>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36"/>
                                        </p:tgtEl>
                                        <p:attrNameLst>
                                          <p:attrName>style.visibility</p:attrName>
                                        </p:attrNameLst>
                                      </p:cBhvr>
                                      <p:to>
                                        <p:strVal val="visible"/>
                                      </p:to>
                                    </p:set>
                                    <p:anim calcmode="lin" valueType="num">
                                      <p:cBhvr additive="base">
                                        <p:cTn id="84" dur="500" fill="hold"/>
                                        <p:tgtEl>
                                          <p:spTgt spid="36"/>
                                        </p:tgtEl>
                                        <p:attrNameLst>
                                          <p:attrName>ppt_x</p:attrName>
                                        </p:attrNameLst>
                                      </p:cBhvr>
                                      <p:tavLst>
                                        <p:tav tm="0">
                                          <p:val>
                                            <p:strVal val="#ppt_x"/>
                                          </p:val>
                                        </p:tav>
                                        <p:tav tm="100000">
                                          <p:val>
                                            <p:strVal val="#ppt_x"/>
                                          </p:val>
                                        </p:tav>
                                      </p:tavLst>
                                    </p:anim>
                                    <p:anim calcmode="lin" valueType="num">
                                      <p:cBhvr additive="base">
                                        <p:cTn id="85"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12" presetClass="entr" presetSubtype="4" fill="hold" nodeType="click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p:tgtEl>
                                          <p:spTgt spid="30"/>
                                        </p:tgtEl>
                                        <p:attrNameLst>
                                          <p:attrName>ppt_y</p:attrName>
                                        </p:attrNameLst>
                                      </p:cBhvr>
                                      <p:tavLst>
                                        <p:tav tm="0">
                                          <p:val>
                                            <p:strVal val="#ppt_y+#ppt_h*1.125000"/>
                                          </p:val>
                                        </p:tav>
                                        <p:tav tm="100000">
                                          <p:val>
                                            <p:strVal val="#ppt_y"/>
                                          </p:val>
                                        </p:tav>
                                      </p:tavLst>
                                    </p:anim>
                                    <p:animEffect transition="in" filter="wipe(up)">
                                      <p:cBhvr>
                                        <p:cTn id="91" dur="500"/>
                                        <p:tgtEl>
                                          <p:spTgt spid="30"/>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37"/>
                                        </p:tgtEl>
                                        <p:attrNameLst>
                                          <p:attrName>style.visibility</p:attrName>
                                        </p:attrNameLst>
                                      </p:cBhvr>
                                      <p:to>
                                        <p:strVal val="visible"/>
                                      </p:to>
                                    </p:set>
                                    <p:anim calcmode="lin" valueType="num">
                                      <p:cBhvr additive="base">
                                        <p:cTn id="96" dur="500" fill="hold"/>
                                        <p:tgtEl>
                                          <p:spTgt spid="37"/>
                                        </p:tgtEl>
                                        <p:attrNameLst>
                                          <p:attrName>ppt_x</p:attrName>
                                        </p:attrNameLst>
                                      </p:cBhvr>
                                      <p:tavLst>
                                        <p:tav tm="0">
                                          <p:val>
                                            <p:strVal val="#ppt_x"/>
                                          </p:val>
                                        </p:tav>
                                        <p:tav tm="100000">
                                          <p:val>
                                            <p:strVal val="#ppt_x"/>
                                          </p:val>
                                        </p:tav>
                                      </p:tavLst>
                                    </p:anim>
                                    <p:anim calcmode="lin" valueType="num">
                                      <p:cBhvr additive="base">
                                        <p:cTn id="97"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1" grpId="0"/>
      <p:bldP spid="32" grpId="0"/>
      <p:bldP spid="33" grpId="0"/>
      <p:bldP spid="34" grpId="0"/>
      <p:bldP spid="35" grpId="0"/>
      <p:bldP spid="36" grpId="0"/>
      <p:bldP spid="3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25</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40" y="4351834"/>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144263453"/>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x7</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210912C0-0A97-42D0-A627-66ACAB850485}"/>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2"/>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22" name="矩形 21">
                <a:extLst>
                  <a:ext uri="{FF2B5EF4-FFF2-40B4-BE49-F238E27FC236}">
                    <a16:creationId xmlns:a16="http://schemas.microsoft.com/office/drawing/2014/main" id="{210912C0-0A97-42D0-A627-66ACAB850485}"/>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4"/>
                <a:stretch>
                  <a:fillRect l="-3675" t="-10294" r="-580" b="-16176"/>
                </a:stretch>
              </a:blipFill>
            </p:spPr>
            <p:txBody>
              <a:bodyPr/>
              <a:lstStyle/>
              <a:p>
                <a:r>
                  <a:rPr lang="zh-CN" altLang="en-US">
                    <a:noFill/>
                  </a:rPr>
                  <a:t> </a:t>
                </a:r>
              </a:p>
            </p:txBody>
          </p:sp>
        </mc:Fallback>
      </mc:AlternateContent>
      <p:graphicFrame>
        <p:nvGraphicFramePr>
          <p:cNvPr id="23" name="对象 22">
            <a:extLst>
              <a:ext uri="{FF2B5EF4-FFF2-40B4-BE49-F238E27FC236}">
                <a16:creationId xmlns:a16="http://schemas.microsoft.com/office/drawing/2014/main" id="{3A28AA25-8568-44CE-9DB4-42155F758276}"/>
              </a:ext>
            </a:extLst>
          </p:cNvPr>
          <p:cNvGraphicFramePr>
            <a:graphicFrameLocks noChangeAspect="1"/>
          </p:cNvGraphicFramePr>
          <p:nvPr/>
        </p:nvGraphicFramePr>
        <p:xfrm>
          <a:off x="5102197" y="479783"/>
          <a:ext cx="2816225" cy="530225"/>
        </p:xfrm>
        <a:graphic>
          <a:graphicData uri="http://schemas.openxmlformats.org/presentationml/2006/ole">
            <mc:AlternateContent xmlns:mc="http://schemas.openxmlformats.org/markup-compatibility/2006">
              <mc:Choice xmlns:v="urn:schemas-microsoft-com:vml" Requires="v">
                <p:oleObj name="Equation" r:id="rId5" imgW="1485720" imgH="279360" progId="Equation.DSMT4">
                  <p:embed/>
                </p:oleObj>
              </mc:Choice>
              <mc:Fallback>
                <p:oleObj name="Equation" r:id="rId5" imgW="1485720" imgH="279360" progId="Equation.DSMT4">
                  <p:embed/>
                  <p:pic>
                    <p:nvPicPr>
                      <p:cNvPr id="23" name="对象 22">
                        <a:extLst>
                          <a:ext uri="{FF2B5EF4-FFF2-40B4-BE49-F238E27FC236}">
                            <a16:creationId xmlns:a16="http://schemas.microsoft.com/office/drawing/2014/main" id="{3A28AA25-8568-44CE-9DB4-42155F758276}"/>
                          </a:ext>
                        </a:extLst>
                      </p:cNvPr>
                      <p:cNvPicPr/>
                      <p:nvPr/>
                    </p:nvPicPr>
                    <p:blipFill>
                      <a:blip r:embed="rId6"/>
                      <a:stretch>
                        <a:fillRect/>
                      </a:stretch>
                    </p:blipFill>
                    <p:spPr>
                      <a:xfrm>
                        <a:off x="5102197" y="479783"/>
                        <a:ext cx="2816225" cy="530225"/>
                      </a:xfrm>
                      <a:prstGeom prst="rect">
                        <a:avLst/>
                      </a:prstGeom>
                    </p:spPr>
                  </p:pic>
                </p:oleObj>
              </mc:Fallback>
            </mc:AlternateContent>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1856656" y="6041749"/>
            <a:ext cx="886782" cy="461665"/>
          </a:xfrm>
          <a:prstGeom prst="rect">
            <a:avLst/>
          </a:prstGeom>
        </p:spPr>
        <p:txBody>
          <a:bodyPr wrap="none">
            <a:spAutoFit/>
          </a:bodyPr>
          <a:lstStyle/>
          <a:p>
            <a:pPr algn="ctr"/>
            <a:r>
              <a:rPr lang="en-US" altLang="zh-CN" sz="2400" dirty="0"/>
              <a:t>6M-3</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814808" y="6064583"/>
            <a:ext cx="715260" cy="461665"/>
          </a:xfrm>
          <a:prstGeom prst="rect">
            <a:avLst/>
          </a:prstGeom>
        </p:spPr>
        <p:txBody>
          <a:bodyPr wrap="none">
            <a:spAutoFit/>
          </a:bodyPr>
          <a:lstStyle/>
          <a:p>
            <a:pPr algn="ctr"/>
            <a:r>
              <a:rPr lang="en-US" altLang="zh-CN" sz="2400" dirty="0"/>
              <a:t>2-M</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646954" y="6044696"/>
            <a:ext cx="886781" cy="461665"/>
          </a:xfrm>
          <a:prstGeom prst="rect">
            <a:avLst/>
          </a:prstGeom>
        </p:spPr>
        <p:txBody>
          <a:bodyPr wrap="none">
            <a:spAutoFit/>
          </a:bodyPr>
          <a:lstStyle/>
          <a:p>
            <a:pPr algn="ctr"/>
            <a:r>
              <a:rPr lang="en-US" altLang="zh-CN" sz="2400" dirty="0"/>
              <a:t>1-3M</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179"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665940" y="6054229"/>
            <a:ext cx="441146" cy="461665"/>
          </a:xfrm>
          <a:prstGeom prst="rect">
            <a:avLst/>
          </a:prstGeom>
        </p:spPr>
        <p:txBody>
          <a:bodyPr wrap="none">
            <a:spAutoFit/>
          </a:bodyPr>
          <a:lstStyle/>
          <a:p>
            <a:pPr algn="ctr"/>
            <a:r>
              <a:rPr lang="en-US" altLang="zh-CN" sz="2400" dirty="0"/>
              <a:t>M</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128" y="6064582"/>
            <a:ext cx="356188" cy="461665"/>
          </a:xfrm>
          <a:prstGeom prst="rect">
            <a:avLst/>
          </a:prstGeom>
        </p:spPr>
        <p:txBody>
          <a:bodyPr wrap="none">
            <a:spAutoFit/>
          </a:bodyPr>
          <a:lstStyle/>
          <a:p>
            <a:pPr algn="ctr"/>
            <a:r>
              <a:rPr lang="en-US" altLang="zh-CN" sz="2400" dirty="0"/>
              <a:t>0</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7783"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38" name="矩形 37">
            <a:extLst>
              <a:ext uri="{FF2B5EF4-FFF2-40B4-BE49-F238E27FC236}">
                <a16:creationId xmlns:a16="http://schemas.microsoft.com/office/drawing/2014/main" id="{709EBAC7-6485-4DA4-8DF5-E315E755851E}"/>
              </a:ext>
            </a:extLst>
          </p:cNvPr>
          <p:cNvSpPr/>
          <p:nvPr/>
        </p:nvSpPr>
        <p:spPr>
          <a:xfrm>
            <a:off x="4272523" y="1170478"/>
            <a:ext cx="5546194" cy="830997"/>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2-M,  1-3M</a:t>
            </a:r>
            <a:r>
              <a:rPr lang="zh-CN" altLang="en-US" sz="2400" b="1" dirty="0">
                <a:solidFill>
                  <a:srgbClr val="C00000"/>
                </a:solidFill>
              </a:rPr>
              <a:t>都是负数，所以当前解不是最优解</a:t>
            </a:r>
            <a:endParaRPr lang="en-US" altLang="zh-CN" sz="2400" b="1" dirty="0">
              <a:solidFill>
                <a:srgbClr val="C00000"/>
              </a:solidFill>
            </a:endParaRPr>
          </a:p>
        </p:txBody>
      </p:sp>
      <p:sp>
        <p:nvSpPr>
          <p:cNvPr id="39" name="矩形 38">
            <a:extLst>
              <a:ext uri="{FF2B5EF4-FFF2-40B4-BE49-F238E27FC236}">
                <a16:creationId xmlns:a16="http://schemas.microsoft.com/office/drawing/2014/main" id="{9A3517EB-C934-4601-9C24-05207732631E}"/>
              </a:ext>
            </a:extLst>
          </p:cNvPr>
          <p:cNvSpPr/>
          <p:nvPr/>
        </p:nvSpPr>
        <p:spPr>
          <a:xfrm>
            <a:off x="4266857" y="2104162"/>
            <a:ext cx="5546194"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2-M  &gt; 1-3M</a:t>
            </a:r>
            <a:r>
              <a:rPr lang="zh-CN" altLang="en-US" sz="2400" b="1" dirty="0">
                <a:solidFill>
                  <a:srgbClr val="C00000"/>
                </a:solidFill>
              </a:rPr>
              <a:t>，所以选择</a:t>
            </a:r>
            <a:r>
              <a:rPr lang="en-US" altLang="zh-CN" sz="2400" b="1" dirty="0">
                <a:solidFill>
                  <a:srgbClr val="C00000"/>
                </a:solidFill>
              </a:rPr>
              <a:t>X3</a:t>
            </a:r>
            <a:r>
              <a:rPr lang="zh-CN" altLang="en-US" sz="2400" b="1" dirty="0">
                <a:solidFill>
                  <a:srgbClr val="C00000"/>
                </a:solidFill>
              </a:rPr>
              <a:t>入基</a:t>
            </a:r>
            <a:endParaRPr lang="en-US" altLang="zh-CN" sz="2400" b="1" dirty="0">
              <a:solidFill>
                <a:srgbClr val="C00000"/>
              </a:solidFill>
            </a:endParaRPr>
          </a:p>
        </p:txBody>
      </p:sp>
    </p:spTree>
    <p:extLst>
      <p:ext uri="{BB962C8B-B14F-4D97-AF65-F5344CB8AC3E}">
        <p14:creationId xmlns:p14="http://schemas.microsoft.com/office/powerpoint/2010/main" val="266301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9"/>
                                        </p:tgtEl>
                                        <p:attrNameLst>
                                          <p:attrName>style.visibility</p:attrName>
                                        </p:attrNameLst>
                                      </p:cBhvr>
                                      <p:to>
                                        <p:strVal val="visible"/>
                                      </p:to>
                                    </p:set>
                                    <p:anim calcmode="lin" valueType="num">
                                      <p:cBhvr additive="base">
                                        <p:cTn id="12" dur="500" fill="hold"/>
                                        <p:tgtEl>
                                          <p:spTgt spid="39"/>
                                        </p:tgtEl>
                                        <p:attrNameLst>
                                          <p:attrName>ppt_x</p:attrName>
                                        </p:attrNameLst>
                                      </p:cBhvr>
                                      <p:tavLst>
                                        <p:tav tm="0">
                                          <p:val>
                                            <p:strVal val="#ppt_x"/>
                                          </p:val>
                                        </p:tav>
                                        <p:tav tm="100000">
                                          <p:val>
                                            <p:strVal val="#ppt_x"/>
                                          </p:val>
                                        </p:tav>
                                      </p:tavLst>
                                    </p:anim>
                                    <p:anim calcmode="lin" valueType="num">
                                      <p:cBhvr additive="base">
                                        <p:cTn id="13"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26</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3939759164"/>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3939759164"/>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40" y="4351834"/>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144263453"/>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x7</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210912C0-0A97-42D0-A627-66ACAB850485}"/>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2"/>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22" name="矩形 21">
                <a:extLst>
                  <a:ext uri="{FF2B5EF4-FFF2-40B4-BE49-F238E27FC236}">
                    <a16:creationId xmlns:a16="http://schemas.microsoft.com/office/drawing/2014/main" id="{210912C0-0A97-42D0-A627-66ACAB850485}"/>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4"/>
                <a:stretch>
                  <a:fillRect l="-3675" t="-10294" r="-580" b="-16176"/>
                </a:stretch>
              </a:blipFill>
            </p:spPr>
            <p:txBody>
              <a:bodyPr/>
              <a:lstStyle/>
              <a:p>
                <a:r>
                  <a:rPr lang="zh-CN" altLang="en-US">
                    <a:noFill/>
                  </a:rPr>
                  <a:t> </a:t>
                </a:r>
              </a:p>
            </p:txBody>
          </p:sp>
        </mc:Fallback>
      </mc:AlternateContent>
      <p:sp>
        <p:nvSpPr>
          <p:cNvPr id="31" name="矩形 30">
            <a:extLst>
              <a:ext uri="{FF2B5EF4-FFF2-40B4-BE49-F238E27FC236}">
                <a16:creationId xmlns:a16="http://schemas.microsoft.com/office/drawing/2014/main" id="{777DC736-D587-4169-AC03-EBB6B05AD021}"/>
              </a:ext>
            </a:extLst>
          </p:cNvPr>
          <p:cNvSpPr/>
          <p:nvPr/>
        </p:nvSpPr>
        <p:spPr>
          <a:xfrm>
            <a:off x="1856656" y="6041749"/>
            <a:ext cx="886782" cy="461665"/>
          </a:xfrm>
          <a:prstGeom prst="rect">
            <a:avLst/>
          </a:prstGeom>
        </p:spPr>
        <p:txBody>
          <a:bodyPr wrap="none">
            <a:spAutoFit/>
          </a:bodyPr>
          <a:lstStyle/>
          <a:p>
            <a:pPr algn="ctr"/>
            <a:r>
              <a:rPr lang="en-US" altLang="zh-CN" sz="2400" dirty="0"/>
              <a:t>6M-3</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814808" y="6064583"/>
            <a:ext cx="715260" cy="461665"/>
          </a:xfrm>
          <a:prstGeom prst="rect">
            <a:avLst/>
          </a:prstGeom>
        </p:spPr>
        <p:txBody>
          <a:bodyPr wrap="none">
            <a:spAutoFit/>
          </a:bodyPr>
          <a:lstStyle/>
          <a:p>
            <a:pPr algn="ctr"/>
            <a:r>
              <a:rPr lang="en-US" altLang="zh-CN" sz="2400" dirty="0"/>
              <a:t>2-M</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646954" y="6044696"/>
            <a:ext cx="886781" cy="461665"/>
          </a:xfrm>
          <a:prstGeom prst="rect">
            <a:avLst/>
          </a:prstGeom>
        </p:spPr>
        <p:txBody>
          <a:bodyPr wrap="none">
            <a:spAutoFit/>
          </a:bodyPr>
          <a:lstStyle/>
          <a:p>
            <a:pPr algn="ctr"/>
            <a:r>
              <a:rPr lang="en-US" altLang="zh-CN" sz="2400" dirty="0"/>
              <a:t>1-3M</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179"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665940" y="6054229"/>
            <a:ext cx="441146" cy="461665"/>
          </a:xfrm>
          <a:prstGeom prst="rect">
            <a:avLst/>
          </a:prstGeom>
        </p:spPr>
        <p:txBody>
          <a:bodyPr wrap="none">
            <a:spAutoFit/>
          </a:bodyPr>
          <a:lstStyle/>
          <a:p>
            <a:pPr algn="ctr"/>
            <a:r>
              <a:rPr lang="en-US" altLang="zh-CN" sz="2400" dirty="0"/>
              <a:t>M</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128" y="6064582"/>
            <a:ext cx="356188" cy="461665"/>
          </a:xfrm>
          <a:prstGeom prst="rect">
            <a:avLst/>
          </a:prstGeom>
        </p:spPr>
        <p:txBody>
          <a:bodyPr wrap="none">
            <a:spAutoFit/>
          </a:bodyPr>
          <a:lstStyle/>
          <a:p>
            <a:pPr algn="ctr"/>
            <a:r>
              <a:rPr lang="en-US" altLang="zh-CN" sz="2400" dirty="0"/>
              <a:t>0</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7783"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39" name="矩形 38">
            <a:extLst>
              <a:ext uri="{FF2B5EF4-FFF2-40B4-BE49-F238E27FC236}">
                <a16:creationId xmlns:a16="http://schemas.microsoft.com/office/drawing/2014/main" id="{9A3517EB-C934-4601-9C24-05207732631E}"/>
              </a:ext>
            </a:extLst>
          </p:cNvPr>
          <p:cNvSpPr/>
          <p:nvPr/>
        </p:nvSpPr>
        <p:spPr>
          <a:xfrm>
            <a:off x="4245237" y="492767"/>
            <a:ext cx="5546194"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X3 </a:t>
            </a:r>
            <a:r>
              <a:rPr lang="zh-CN" altLang="en-US" sz="2400" b="1" dirty="0">
                <a:solidFill>
                  <a:srgbClr val="C00000"/>
                </a:solidFill>
              </a:rPr>
              <a:t>入基</a:t>
            </a:r>
            <a:endParaRPr lang="en-US" altLang="zh-CN" sz="2400" b="1" dirty="0">
              <a:solidFill>
                <a:srgbClr val="C00000"/>
              </a:solidFill>
            </a:endParaRPr>
          </a:p>
        </p:txBody>
      </p:sp>
      <p:graphicFrame>
        <p:nvGraphicFramePr>
          <p:cNvPr id="30" name="对象 29">
            <a:extLst>
              <a:ext uri="{FF2B5EF4-FFF2-40B4-BE49-F238E27FC236}">
                <a16:creationId xmlns:a16="http://schemas.microsoft.com/office/drawing/2014/main" id="{F168BC81-38FB-4723-B082-B4BEEE3BE41D}"/>
              </a:ext>
            </a:extLst>
          </p:cNvPr>
          <p:cNvGraphicFramePr>
            <a:graphicFrameLocks noChangeAspect="1"/>
          </p:cNvGraphicFramePr>
          <p:nvPr>
            <p:extLst>
              <p:ext uri="{D42A27DB-BD31-4B8C-83A1-F6EECF244321}">
                <p14:modId xmlns:p14="http://schemas.microsoft.com/office/powerpoint/2010/main" val="4226942669"/>
              </p:ext>
            </p:extLst>
          </p:nvPr>
        </p:nvGraphicFramePr>
        <p:xfrm>
          <a:off x="4389801" y="1095832"/>
          <a:ext cx="1703388" cy="900113"/>
        </p:xfrm>
        <a:graphic>
          <a:graphicData uri="http://schemas.openxmlformats.org/presentationml/2006/ole">
            <mc:AlternateContent xmlns:mc="http://schemas.openxmlformats.org/markup-compatibility/2006">
              <mc:Choice xmlns:v="urn:schemas-microsoft-com:vml" Requires="v">
                <p:oleObj name="Equation" r:id="rId5" imgW="749160" imgH="393480" progId="Equation.DSMT4">
                  <p:embed/>
                </p:oleObj>
              </mc:Choice>
              <mc:Fallback>
                <p:oleObj name="Equation" r:id="rId5" imgW="749160" imgH="393480" progId="Equation.DSMT4">
                  <p:embed/>
                  <p:pic>
                    <p:nvPicPr>
                      <p:cNvPr id="27" name="对象 26">
                        <a:extLst>
                          <a:ext uri="{FF2B5EF4-FFF2-40B4-BE49-F238E27FC236}">
                            <a16:creationId xmlns:a16="http://schemas.microsoft.com/office/drawing/2014/main" id="{0B6FDB8E-5D6C-4EEE-9882-9E519E01F990}"/>
                          </a:ext>
                        </a:extLst>
                      </p:cNvPr>
                      <p:cNvPicPr/>
                      <p:nvPr/>
                    </p:nvPicPr>
                    <p:blipFill>
                      <a:blip r:embed="rId6"/>
                      <a:stretch>
                        <a:fillRect/>
                      </a:stretch>
                    </p:blipFill>
                    <p:spPr>
                      <a:xfrm>
                        <a:off x="4389801" y="1095832"/>
                        <a:ext cx="1703388" cy="900113"/>
                      </a:xfrm>
                      <a:prstGeom prst="rect">
                        <a:avLst/>
                      </a:prstGeom>
                    </p:spPr>
                  </p:pic>
                </p:oleObj>
              </mc:Fallback>
            </mc:AlternateContent>
          </a:graphicData>
        </a:graphic>
      </p:graphicFrame>
      <p:graphicFrame>
        <p:nvGraphicFramePr>
          <p:cNvPr id="40" name="对象 39">
            <a:extLst>
              <a:ext uri="{FF2B5EF4-FFF2-40B4-BE49-F238E27FC236}">
                <a16:creationId xmlns:a16="http://schemas.microsoft.com/office/drawing/2014/main" id="{96D38B1C-27FB-4553-A3B4-48AC6C398DE7}"/>
              </a:ext>
            </a:extLst>
          </p:cNvPr>
          <p:cNvGraphicFramePr>
            <a:graphicFrameLocks noChangeAspect="1"/>
          </p:cNvGraphicFramePr>
          <p:nvPr>
            <p:extLst>
              <p:ext uri="{D42A27DB-BD31-4B8C-83A1-F6EECF244321}">
                <p14:modId xmlns:p14="http://schemas.microsoft.com/office/powerpoint/2010/main" val="1294612192"/>
              </p:ext>
            </p:extLst>
          </p:nvPr>
        </p:nvGraphicFramePr>
        <p:xfrm>
          <a:off x="6408738" y="1077913"/>
          <a:ext cx="1731962" cy="900112"/>
        </p:xfrm>
        <a:graphic>
          <a:graphicData uri="http://schemas.openxmlformats.org/presentationml/2006/ole">
            <mc:AlternateContent xmlns:mc="http://schemas.openxmlformats.org/markup-compatibility/2006">
              <mc:Choice xmlns:v="urn:schemas-microsoft-com:vml" Requires="v">
                <p:oleObj name="Equation" r:id="rId7" imgW="761760" imgH="393480" progId="Equation.DSMT4">
                  <p:embed/>
                </p:oleObj>
              </mc:Choice>
              <mc:Fallback>
                <p:oleObj name="Equation" r:id="rId7" imgW="761760" imgH="393480" progId="Equation.DSMT4">
                  <p:embed/>
                  <p:pic>
                    <p:nvPicPr>
                      <p:cNvPr id="30" name="对象 29">
                        <a:extLst>
                          <a:ext uri="{FF2B5EF4-FFF2-40B4-BE49-F238E27FC236}">
                            <a16:creationId xmlns:a16="http://schemas.microsoft.com/office/drawing/2014/main" id="{F168BC81-38FB-4723-B082-B4BEEE3BE41D}"/>
                          </a:ext>
                        </a:extLst>
                      </p:cNvPr>
                      <p:cNvPicPr/>
                      <p:nvPr/>
                    </p:nvPicPr>
                    <p:blipFill>
                      <a:blip r:embed="rId8"/>
                      <a:stretch>
                        <a:fillRect/>
                      </a:stretch>
                    </p:blipFill>
                    <p:spPr>
                      <a:xfrm>
                        <a:off x="6408738" y="1077913"/>
                        <a:ext cx="1731962" cy="900112"/>
                      </a:xfrm>
                      <a:prstGeom prst="rect">
                        <a:avLst/>
                      </a:prstGeom>
                    </p:spPr>
                  </p:pic>
                </p:oleObj>
              </mc:Fallback>
            </mc:AlternateContent>
          </a:graphicData>
        </a:graphic>
      </p:graphicFrame>
      <p:graphicFrame>
        <p:nvGraphicFramePr>
          <p:cNvPr id="41" name="对象 40">
            <a:extLst>
              <a:ext uri="{FF2B5EF4-FFF2-40B4-BE49-F238E27FC236}">
                <a16:creationId xmlns:a16="http://schemas.microsoft.com/office/drawing/2014/main" id="{5E9181D6-A29D-485D-AC3F-40ABA431B444}"/>
              </a:ext>
            </a:extLst>
          </p:cNvPr>
          <p:cNvGraphicFramePr>
            <a:graphicFrameLocks noChangeAspect="1"/>
          </p:cNvGraphicFramePr>
          <p:nvPr>
            <p:extLst>
              <p:ext uri="{D42A27DB-BD31-4B8C-83A1-F6EECF244321}">
                <p14:modId xmlns:p14="http://schemas.microsoft.com/office/powerpoint/2010/main" val="541313199"/>
              </p:ext>
            </p:extLst>
          </p:nvPr>
        </p:nvGraphicFramePr>
        <p:xfrm>
          <a:off x="4389801" y="1995945"/>
          <a:ext cx="1355725" cy="900112"/>
        </p:xfrm>
        <a:graphic>
          <a:graphicData uri="http://schemas.openxmlformats.org/presentationml/2006/ole">
            <mc:AlternateContent xmlns:mc="http://schemas.openxmlformats.org/markup-compatibility/2006">
              <mc:Choice xmlns:v="urn:schemas-microsoft-com:vml" Requires="v">
                <p:oleObj name="Equation" r:id="rId9" imgW="596880" imgH="393480" progId="Equation.DSMT4">
                  <p:embed/>
                </p:oleObj>
              </mc:Choice>
              <mc:Fallback>
                <p:oleObj name="Equation" r:id="rId9" imgW="596880" imgH="393480" progId="Equation.DSMT4">
                  <p:embed/>
                  <p:pic>
                    <p:nvPicPr>
                      <p:cNvPr id="30" name="对象 29">
                        <a:extLst>
                          <a:ext uri="{FF2B5EF4-FFF2-40B4-BE49-F238E27FC236}">
                            <a16:creationId xmlns:a16="http://schemas.microsoft.com/office/drawing/2014/main" id="{F168BC81-38FB-4723-B082-B4BEEE3BE41D}"/>
                          </a:ext>
                        </a:extLst>
                      </p:cNvPr>
                      <p:cNvPicPr/>
                      <p:nvPr/>
                    </p:nvPicPr>
                    <p:blipFill>
                      <a:blip r:embed="rId10"/>
                      <a:stretch>
                        <a:fillRect/>
                      </a:stretch>
                    </p:blipFill>
                    <p:spPr>
                      <a:xfrm>
                        <a:off x="4389801" y="1995945"/>
                        <a:ext cx="1355725" cy="900112"/>
                      </a:xfrm>
                      <a:prstGeom prst="rect">
                        <a:avLst/>
                      </a:prstGeom>
                    </p:spPr>
                  </p:pic>
                </p:oleObj>
              </mc:Fallback>
            </mc:AlternateContent>
          </a:graphicData>
        </a:graphic>
      </p:graphicFrame>
      <p:sp>
        <p:nvSpPr>
          <p:cNvPr id="42" name="矩形 41">
            <a:extLst>
              <a:ext uri="{FF2B5EF4-FFF2-40B4-BE49-F238E27FC236}">
                <a16:creationId xmlns:a16="http://schemas.microsoft.com/office/drawing/2014/main" id="{924A96D5-7C65-4637-B028-F43F70FED4BB}"/>
              </a:ext>
            </a:extLst>
          </p:cNvPr>
          <p:cNvSpPr/>
          <p:nvPr/>
        </p:nvSpPr>
        <p:spPr>
          <a:xfrm>
            <a:off x="9171705" y="4437112"/>
            <a:ext cx="504883" cy="461665"/>
          </a:xfrm>
          <a:prstGeom prst="rect">
            <a:avLst/>
          </a:prstGeom>
        </p:spPr>
        <p:txBody>
          <a:bodyPr wrap="none">
            <a:spAutoFit/>
          </a:bodyPr>
          <a:lstStyle/>
          <a:p>
            <a:pPr algn="ctr"/>
            <a:r>
              <a:rPr lang="en-US" altLang="zh-CN" sz="2400" dirty="0"/>
              <a:t>11</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9090732" y="4953506"/>
            <a:ext cx="612668" cy="461665"/>
          </a:xfrm>
          <a:prstGeom prst="rect">
            <a:avLst/>
          </a:prstGeom>
        </p:spPr>
        <p:txBody>
          <a:bodyPr wrap="none">
            <a:spAutoFit/>
          </a:bodyPr>
          <a:lstStyle/>
          <a:p>
            <a:pPr algn="ctr"/>
            <a:r>
              <a:rPr lang="en-US" altLang="zh-CN" sz="2400" dirty="0"/>
              <a:t>3/2</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023" y="5522847"/>
            <a:ext cx="356187" cy="461665"/>
          </a:xfrm>
          <a:prstGeom prst="rect">
            <a:avLst/>
          </a:prstGeom>
        </p:spPr>
        <p:txBody>
          <a:bodyPr wrap="none">
            <a:spAutoFit/>
          </a:bodyPr>
          <a:lstStyle/>
          <a:p>
            <a:pPr algn="ctr"/>
            <a:r>
              <a:rPr lang="en-US" altLang="zh-CN" sz="2400" dirty="0"/>
              <a:t>1</a:t>
            </a:r>
            <a:endParaRPr lang="zh-CN" altLang="en-US" sz="2400" dirty="0"/>
          </a:p>
        </p:txBody>
      </p:sp>
      <p:sp>
        <p:nvSpPr>
          <p:cNvPr id="45" name="矩形 44">
            <a:extLst>
              <a:ext uri="{FF2B5EF4-FFF2-40B4-BE49-F238E27FC236}">
                <a16:creationId xmlns:a16="http://schemas.microsoft.com/office/drawing/2014/main" id="{5FE7753E-F074-4614-8D58-19AA99934FD8}"/>
              </a:ext>
            </a:extLst>
          </p:cNvPr>
          <p:cNvSpPr/>
          <p:nvPr/>
        </p:nvSpPr>
        <p:spPr>
          <a:xfrm>
            <a:off x="6730222" y="2416563"/>
            <a:ext cx="2211975"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X7 </a:t>
            </a:r>
            <a:r>
              <a:rPr lang="zh-CN" altLang="en-US" sz="2400" b="1" dirty="0">
                <a:solidFill>
                  <a:srgbClr val="C00000"/>
                </a:solidFill>
              </a:rPr>
              <a:t>离基</a:t>
            </a:r>
            <a:endParaRPr lang="en-US" altLang="zh-CN" sz="2400" b="1" dirty="0">
              <a:solidFill>
                <a:srgbClr val="C00000"/>
              </a:solidFill>
            </a:endParaRPr>
          </a:p>
        </p:txBody>
      </p:sp>
      <p:sp>
        <p:nvSpPr>
          <p:cNvPr id="46" name="椭圆 45">
            <a:extLst>
              <a:ext uri="{FF2B5EF4-FFF2-40B4-BE49-F238E27FC236}">
                <a16:creationId xmlns:a16="http://schemas.microsoft.com/office/drawing/2014/main" id="{4E7DD8F3-7A43-42BF-8045-C64FD7764B07}"/>
              </a:ext>
            </a:extLst>
          </p:cNvPr>
          <p:cNvSpPr/>
          <p:nvPr/>
        </p:nvSpPr>
        <p:spPr bwMode="auto">
          <a:xfrm>
            <a:off x="3868646" y="5572721"/>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13529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additive="base">
                                        <p:cTn id="13" dur="500" fill="hold"/>
                                        <p:tgtEl>
                                          <p:spTgt spid="42"/>
                                        </p:tgtEl>
                                        <p:attrNameLst>
                                          <p:attrName>ppt_x</p:attrName>
                                        </p:attrNameLst>
                                      </p:cBhvr>
                                      <p:tavLst>
                                        <p:tav tm="0">
                                          <p:val>
                                            <p:strVal val="#ppt_x"/>
                                          </p:val>
                                        </p:tav>
                                        <p:tav tm="100000">
                                          <p:val>
                                            <p:strVal val="#ppt_x"/>
                                          </p:val>
                                        </p:tav>
                                      </p:tavLst>
                                    </p:anim>
                                    <p:anim calcmode="lin" valueType="num">
                                      <p:cBhvr additive="base">
                                        <p:cTn id="1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500" fill="hold"/>
                                        <p:tgtEl>
                                          <p:spTgt spid="40"/>
                                        </p:tgtEl>
                                        <p:attrNameLst>
                                          <p:attrName>ppt_x</p:attrName>
                                        </p:attrNameLst>
                                      </p:cBhvr>
                                      <p:tavLst>
                                        <p:tav tm="0">
                                          <p:val>
                                            <p:strVal val="#ppt_x"/>
                                          </p:val>
                                        </p:tav>
                                        <p:tav tm="100000">
                                          <p:val>
                                            <p:strVal val="#ppt_x"/>
                                          </p:val>
                                        </p:tav>
                                      </p:tavLst>
                                    </p:anim>
                                    <p:anim calcmode="lin" valueType="num">
                                      <p:cBhvr additive="base">
                                        <p:cTn id="2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additive="base">
                                        <p:cTn id="25" dur="500" fill="hold"/>
                                        <p:tgtEl>
                                          <p:spTgt spid="43"/>
                                        </p:tgtEl>
                                        <p:attrNameLst>
                                          <p:attrName>ppt_x</p:attrName>
                                        </p:attrNameLst>
                                      </p:cBhvr>
                                      <p:tavLst>
                                        <p:tav tm="0">
                                          <p:val>
                                            <p:strVal val="#ppt_x"/>
                                          </p:val>
                                        </p:tav>
                                        <p:tav tm="100000">
                                          <p:val>
                                            <p:strVal val="#ppt_x"/>
                                          </p:val>
                                        </p:tav>
                                      </p:tavLst>
                                    </p:anim>
                                    <p:anim calcmode="lin" valueType="num">
                                      <p:cBhvr additive="base">
                                        <p:cTn id="2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anim calcmode="lin" valueType="num">
                                      <p:cBhvr additive="base">
                                        <p:cTn id="31" dur="500" fill="hold"/>
                                        <p:tgtEl>
                                          <p:spTgt spid="41"/>
                                        </p:tgtEl>
                                        <p:attrNameLst>
                                          <p:attrName>ppt_x</p:attrName>
                                        </p:attrNameLst>
                                      </p:cBhvr>
                                      <p:tavLst>
                                        <p:tav tm="0">
                                          <p:val>
                                            <p:strVal val="#ppt_x"/>
                                          </p:val>
                                        </p:tav>
                                        <p:tav tm="100000">
                                          <p:val>
                                            <p:strVal val="#ppt_x"/>
                                          </p:val>
                                        </p:tav>
                                      </p:tavLst>
                                    </p:anim>
                                    <p:anim calcmode="lin" valueType="num">
                                      <p:cBhvr additive="base">
                                        <p:cTn id="3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 calcmode="lin" valueType="num">
                                      <p:cBhvr additive="base">
                                        <p:cTn id="37" dur="500" fill="hold"/>
                                        <p:tgtEl>
                                          <p:spTgt spid="44"/>
                                        </p:tgtEl>
                                        <p:attrNameLst>
                                          <p:attrName>ppt_x</p:attrName>
                                        </p:attrNameLst>
                                      </p:cBhvr>
                                      <p:tavLst>
                                        <p:tav tm="0">
                                          <p:val>
                                            <p:strVal val="#ppt_x"/>
                                          </p:val>
                                        </p:tav>
                                        <p:tav tm="100000">
                                          <p:val>
                                            <p:strVal val="#ppt_x"/>
                                          </p:val>
                                        </p:tav>
                                      </p:tavLst>
                                    </p:anim>
                                    <p:anim calcmode="lin" valueType="num">
                                      <p:cBhvr additive="base">
                                        <p:cTn id="3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down)">
                                      <p:cBhvr>
                                        <p:cTn id="43" dur="500"/>
                                        <p:tgtEl>
                                          <p:spTgt spid="45"/>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barn(inVertical)">
                                      <p:cBhvr>
                                        <p:cTn id="4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animBg="1"/>
      <p:bldP spid="4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27</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485912150"/>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485912150"/>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2"/>
                          <a:stretch>
                            <a:fillRect l="-901370" t="-559" r="-101370" b="-201676"/>
                          </a:stretch>
                        </a:blipFill>
                      </a:tcPr>
                    </a:tc>
                    <a:tc rowSpan="2">
                      <a:txBody>
                        <a:bodyPr/>
                        <a:lstStyle/>
                        <a:p>
                          <a:endParaRPr lang="zh-CN"/>
                        </a:p>
                      </a:txBody>
                      <a:tcPr anchor="ctr">
                        <a:blipFill>
                          <a:blip r:embed="rId2"/>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2"/>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40" y="4351834"/>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144263453"/>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extLst>
              <p:ext uri="{D42A27DB-BD31-4B8C-83A1-F6EECF244321}">
                <p14:modId xmlns:p14="http://schemas.microsoft.com/office/powerpoint/2010/main" val="512071647"/>
              </p:ext>
            </p:extLst>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extLst>
              <p:ext uri="{D42A27DB-BD31-4B8C-83A1-F6EECF244321}">
                <p14:modId xmlns:p14="http://schemas.microsoft.com/office/powerpoint/2010/main" val="733325421"/>
              </p:ext>
            </p:extLst>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210912C0-0A97-42D0-A627-66ACAB850485}"/>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3"/>
                </a:pPr>
                <a:r>
                  <a:rPr lang="zh-CN" altLang="en-US" sz="2400" dirty="0"/>
                  <a:t>替换基变量，清空</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a:t>
                </a:r>
                <a:endParaRPr lang="en-US" altLang="zh-CN" sz="2400" dirty="0"/>
              </a:p>
            </p:txBody>
          </p:sp>
        </mc:Choice>
        <mc:Fallback xmlns="">
          <p:sp>
            <p:nvSpPr>
              <p:cNvPr id="22" name="矩形 21">
                <a:extLst>
                  <a:ext uri="{FF2B5EF4-FFF2-40B4-BE49-F238E27FC236}">
                    <a16:creationId xmlns:a16="http://schemas.microsoft.com/office/drawing/2014/main" id="{210912C0-0A97-42D0-A627-66ACAB850485}"/>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3"/>
                <a:stretch>
                  <a:fillRect l="-3675" t="-10294" r="-580" b="-16176"/>
                </a:stretch>
              </a:blipFill>
            </p:spPr>
            <p:txBody>
              <a:bodyPr/>
              <a:lstStyle/>
              <a:p>
                <a:r>
                  <a:rPr lang="zh-CN" altLang="en-US">
                    <a:noFill/>
                  </a:rPr>
                  <a:t> </a:t>
                </a:r>
              </a:p>
            </p:txBody>
          </p:sp>
        </mc:Fallback>
      </mc:AlternateContent>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9246854" y="4437112"/>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9219774" y="4953506"/>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46" name="椭圆 45">
            <a:extLst>
              <a:ext uri="{FF2B5EF4-FFF2-40B4-BE49-F238E27FC236}">
                <a16:creationId xmlns:a16="http://schemas.microsoft.com/office/drawing/2014/main" id="{4E7DD8F3-7A43-42BF-8045-C64FD7764B07}"/>
              </a:ext>
            </a:extLst>
          </p:cNvPr>
          <p:cNvSpPr/>
          <p:nvPr/>
        </p:nvSpPr>
        <p:spPr bwMode="auto">
          <a:xfrm>
            <a:off x="3868646" y="5572721"/>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59715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barn(inVertical)">
                                      <p:cBhvr>
                                        <p:cTn id="7" dur="500"/>
                                        <p:tgtEl>
                                          <p:spTgt spid="22">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00"/>
                                        <p:tgtEl>
                                          <p:spTgt spid="3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500"/>
                                        <p:tgtEl>
                                          <p:spTgt spid="3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500"/>
                                        <p:tgtEl>
                                          <p:spTgt spid="3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500"/>
                                        <p:tgtEl>
                                          <p:spTgt spid="3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5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fade">
                                      <p:cBhvr>
                                        <p:cTn id="8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7" grpId="0"/>
      <p:bldP spid="42" grpId="0"/>
      <p:bldP spid="43" grpId="0"/>
      <p:bldP spid="44" grpId="0"/>
      <p:bldP spid="4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28</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2"/>
                          <a:stretch>
                            <a:fillRect l="-901370" t="-559" r="-101370" b="-201676"/>
                          </a:stretch>
                        </a:blipFill>
                      </a:tcPr>
                    </a:tc>
                    <a:tc rowSpan="2">
                      <a:txBody>
                        <a:bodyPr/>
                        <a:lstStyle/>
                        <a:p>
                          <a:endParaRPr lang="zh-CN"/>
                        </a:p>
                      </a:txBody>
                      <a:tcPr anchor="ctr">
                        <a:blipFill>
                          <a:blip r:embed="rId2"/>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2"/>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40" y="4351834"/>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144263453"/>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22" name="矩形 21">
            <a:extLst>
              <a:ext uri="{FF2B5EF4-FFF2-40B4-BE49-F238E27FC236}">
                <a16:creationId xmlns:a16="http://schemas.microsoft.com/office/drawing/2014/main" id="{210912C0-0A97-42D0-A627-66ACAB850485}"/>
              </a:ext>
            </a:extLst>
          </p:cNvPr>
          <p:cNvSpPr/>
          <p:nvPr/>
        </p:nvSpPr>
        <p:spPr>
          <a:xfrm>
            <a:off x="644902" y="2104162"/>
            <a:ext cx="3152398" cy="1200329"/>
          </a:xfrm>
          <a:prstGeom prst="rect">
            <a:avLst/>
          </a:prstGeom>
        </p:spPr>
        <p:txBody>
          <a:bodyPr wrap="square">
            <a:spAutoFit/>
          </a:bodyPr>
          <a:lstStyle/>
          <a:p>
            <a:pPr marL="457200" indent="-457200">
              <a:buFont typeface="+mj-ea"/>
              <a:buAutoNum type="circleNumDbPlain" startAt="4"/>
            </a:pPr>
            <a:r>
              <a:rPr lang="zh-CN" altLang="en-US" sz="2400" dirty="0"/>
              <a:t>进行矩阵变换，使得入基的矩阵标准化</a:t>
            </a:r>
            <a:endParaRPr lang="en-US" altLang="zh-CN" sz="2400" dirty="0"/>
          </a:p>
        </p:txBody>
      </p:sp>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9246854" y="4437112"/>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9219774" y="4953506"/>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46" name="椭圆 45">
            <a:extLst>
              <a:ext uri="{FF2B5EF4-FFF2-40B4-BE49-F238E27FC236}">
                <a16:creationId xmlns:a16="http://schemas.microsoft.com/office/drawing/2014/main" id="{4E7DD8F3-7A43-42BF-8045-C64FD7764B07}"/>
              </a:ext>
            </a:extLst>
          </p:cNvPr>
          <p:cNvSpPr/>
          <p:nvPr/>
        </p:nvSpPr>
        <p:spPr bwMode="auto">
          <a:xfrm>
            <a:off x="3868646" y="5572721"/>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8" name="文本框 37">
            <a:extLst>
              <a:ext uri="{FF2B5EF4-FFF2-40B4-BE49-F238E27FC236}">
                <a16:creationId xmlns:a16="http://schemas.microsoft.com/office/drawing/2014/main" id="{BA5CEADB-550C-4BBB-90D0-7289E6225899}"/>
              </a:ext>
            </a:extLst>
          </p:cNvPr>
          <p:cNvSpPr txBox="1"/>
          <p:nvPr/>
        </p:nvSpPr>
        <p:spPr>
          <a:xfrm>
            <a:off x="4780981" y="1082798"/>
            <a:ext cx="4158700" cy="830997"/>
          </a:xfrm>
          <a:prstGeom prst="rect">
            <a:avLst/>
          </a:prstGeom>
          <a:noFill/>
        </p:spPr>
        <p:txBody>
          <a:bodyPr wrap="square" rtlCol="0">
            <a:spAutoFit/>
          </a:bodyPr>
          <a:lstStyle/>
          <a:p>
            <a:pPr marL="457200" indent="-457200">
              <a:buFont typeface="+mj-lt"/>
              <a:buAutoNum type="alphaLcParenR"/>
            </a:pPr>
            <a:r>
              <a:rPr lang="zh-CN" altLang="en-US" sz="2400" dirty="0"/>
              <a:t>第三行乘以</a:t>
            </a:r>
            <a:r>
              <a:rPr lang="en-US" altLang="zh-CN" sz="2400" dirty="0"/>
              <a:t>-2</a:t>
            </a:r>
            <a:r>
              <a:rPr lang="zh-CN" altLang="en-US" sz="2400" dirty="0"/>
              <a:t>加上第二行</a:t>
            </a:r>
            <a:endParaRPr lang="en-US" altLang="zh-CN" sz="2400" dirty="0"/>
          </a:p>
          <a:p>
            <a:pPr marL="457200" indent="-457200">
              <a:buFont typeface="+mj-lt"/>
              <a:buAutoNum type="alphaLcParenR"/>
            </a:pPr>
            <a:r>
              <a:rPr lang="zh-CN" altLang="en-US" sz="2400" dirty="0"/>
              <a:t>第三行乘以</a:t>
            </a:r>
            <a:r>
              <a:rPr lang="en-US" altLang="zh-CN" sz="2400" dirty="0"/>
              <a:t>-1</a:t>
            </a:r>
            <a:r>
              <a:rPr lang="zh-CN" altLang="en-US" sz="2400" dirty="0"/>
              <a:t>加上第一行</a:t>
            </a:r>
            <a:endParaRPr lang="en-US" altLang="zh-CN" sz="2400" dirty="0"/>
          </a:p>
        </p:txBody>
      </p:sp>
      <p:sp>
        <p:nvSpPr>
          <p:cNvPr id="3" name="矩形 2">
            <a:extLst>
              <a:ext uri="{FF2B5EF4-FFF2-40B4-BE49-F238E27FC236}">
                <a16:creationId xmlns:a16="http://schemas.microsoft.com/office/drawing/2014/main" id="{54E0917E-E845-4F91-8174-805B1635B736}"/>
              </a:ext>
            </a:extLst>
          </p:cNvPr>
          <p:cNvSpPr/>
          <p:nvPr/>
        </p:nvSpPr>
        <p:spPr>
          <a:xfrm>
            <a:off x="3725315" y="4958034"/>
            <a:ext cx="729727"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39" name="矩形 38">
            <a:extLst>
              <a:ext uri="{FF2B5EF4-FFF2-40B4-BE49-F238E27FC236}">
                <a16:creationId xmlns:a16="http://schemas.microsoft.com/office/drawing/2014/main" id="{2B975556-09A3-4192-A3F5-BD35F063F655}"/>
              </a:ext>
            </a:extLst>
          </p:cNvPr>
          <p:cNvSpPr/>
          <p:nvPr/>
        </p:nvSpPr>
        <p:spPr>
          <a:xfrm>
            <a:off x="4569666" y="4958038"/>
            <a:ext cx="798511"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40" name="矩形 39">
            <a:extLst>
              <a:ext uri="{FF2B5EF4-FFF2-40B4-BE49-F238E27FC236}">
                <a16:creationId xmlns:a16="http://schemas.microsoft.com/office/drawing/2014/main" id="{A901D326-9A5D-42A8-A088-6AD6B6DFA127}"/>
              </a:ext>
            </a:extLst>
          </p:cNvPr>
          <p:cNvSpPr/>
          <p:nvPr/>
        </p:nvSpPr>
        <p:spPr>
          <a:xfrm>
            <a:off x="5440417" y="4957407"/>
            <a:ext cx="715407"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a:t>
            </a:r>
            <a:endParaRPr lang="zh-CN" altLang="en-US" sz="2400" dirty="0"/>
          </a:p>
        </p:txBody>
      </p:sp>
      <p:sp>
        <p:nvSpPr>
          <p:cNvPr id="41" name="矩形 40">
            <a:extLst>
              <a:ext uri="{FF2B5EF4-FFF2-40B4-BE49-F238E27FC236}">
                <a16:creationId xmlns:a16="http://schemas.microsoft.com/office/drawing/2014/main" id="{FEE21C0D-FA02-4501-BCD9-B0F7BDBB6BB4}"/>
              </a:ext>
            </a:extLst>
          </p:cNvPr>
          <p:cNvSpPr/>
          <p:nvPr/>
        </p:nvSpPr>
        <p:spPr>
          <a:xfrm>
            <a:off x="6317729" y="4989100"/>
            <a:ext cx="764228"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a:t>
            </a:r>
            <a:endParaRPr lang="zh-CN" altLang="en-US" sz="2400" dirty="0"/>
          </a:p>
        </p:txBody>
      </p:sp>
      <p:sp>
        <p:nvSpPr>
          <p:cNvPr id="45" name="矩形 44">
            <a:extLst>
              <a:ext uri="{FF2B5EF4-FFF2-40B4-BE49-F238E27FC236}">
                <a16:creationId xmlns:a16="http://schemas.microsoft.com/office/drawing/2014/main" id="{5C4A212E-9671-47D2-8A4F-23AE2334F5FE}"/>
              </a:ext>
            </a:extLst>
          </p:cNvPr>
          <p:cNvSpPr/>
          <p:nvPr/>
        </p:nvSpPr>
        <p:spPr>
          <a:xfrm>
            <a:off x="7195290" y="4949359"/>
            <a:ext cx="657879"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-2</a:t>
            </a:r>
            <a:endParaRPr lang="zh-CN" altLang="en-US" sz="2400" dirty="0"/>
          </a:p>
        </p:txBody>
      </p:sp>
      <p:sp>
        <p:nvSpPr>
          <p:cNvPr id="47" name="矩形 46">
            <a:extLst>
              <a:ext uri="{FF2B5EF4-FFF2-40B4-BE49-F238E27FC236}">
                <a16:creationId xmlns:a16="http://schemas.microsoft.com/office/drawing/2014/main" id="{845066B2-BB12-4DD4-89DC-6BBF14A4D038}"/>
              </a:ext>
            </a:extLst>
          </p:cNvPr>
          <p:cNvSpPr/>
          <p:nvPr/>
        </p:nvSpPr>
        <p:spPr>
          <a:xfrm>
            <a:off x="2216696" y="4986689"/>
            <a:ext cx="448253"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48" name="矩形 47">
            <a:extLst>
              <a:ext uri="{FF2B5EF4-FFF2-40B4-BE49-F238E27FC236}">
                <a16:creationId xmlns:a16="http://schemas.microsoft.com/office/drawing/2014/main" id="{5DFCF1EB-C89E-4B72-A38E-2A4D750C348E}"/>
              </a:ext>
            </a:extLst>
          </p:cNvPr>
          <p:cNvSpPr/>
          <p:nvPr/>
        </p:nvSpPr>
        <p:spPr>
          <a:xfrm>
            <a:off x="2981724" y="4949358"/>
            <a:ext cx="550186"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a:t>
            </a:r>
            <a:endParaRPr lang="zh-CN" altLang="en-US" sz="2400" dirty="0"/>
          </a:p>
        </p:txBody>
      </p:sp>
      <p:sp>
        <p:nvSpPr>
          <p:cNvPr id="49" name="矩形 48">
            <a:extLst>
              <a:ext uri="{FF2B5EF4-FFF2-40B4-BE49-F238E27FC236}">
                <a16:creationId xmlns:a16="http://schemas.microsoft.com/office/drawing/2014/main" id="{D45BAD48-9507-4514-A766-BC6789BA00EC}"/>
              </a:ext>
            </a:extLst>
          </p:cNvPr>
          <p:cNvSpPr/>
          <p:nvPr/>
        </p:nvSpPr>
        <p:spPr>
          <a:xfrm>
            <a:off x="8155512" y="4990826"/>
            <a:ext cx="455591"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p:sp>
        <p:nvSpPr>
          <p:cNvPr id="51" name="矩形 50">
            <a:extLst>
              <a:ext uri="{FF2B5EF4-FFF2-40B4-BE49-F238E27FC236}">
                <a16:creationId xmlns:a16="http://schemas.microsoft.com/office/drawing/2014/main" id="{FCACD057-204D-4241-ADE7-F81930F46257}"/>
              </a:ext>
            </a:extLst>
          </p:cNvPr>
          <p:cNvSpPr/>
          <p:nvPr/>
        </p:nvSpPr>
        <p:spPr>
          <a:xfrm>
            <a:off x="3702860" y="4441515"/>
            <a:ext cx="729727"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52" name="矩形 51">
            <a:extLst>
              <a:ext uri="{FF2B5EF4-FFF2-40B4-BE49-F238E27FC236}">
                <a16:creationId xmlns:a16="http://schemas.microsoft.com/office/drawing/2014/main" id="{1105A5D8-6C0E-4824-86BE-42B60273BACF}"/>
              </a:ext>
            </a:extLst>
          </p:cNvPr>
          <p:cNvSpPr/>
          <p:nvPr/>
        </p:nvSpPr>
        <p:spPr>
          <a:xfrm>
            <a:off x="4727437" y="4437112"/>
            <a:ext cx="448253"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a:t>
            </a:r>
            <a:endParaRPr lang="zh-CN" altLang="en-US" sz="2400" dirty="0"/>
          </a:p>
        </p:txBody>
      </p:sp>
      <p:sp>
        <p:nvSpPr>
          <p:cNvPr id="53" name="矩形 52">
            <a:extLst>
              <a:ext uri="{FF2B5EF4-FFF2-40B4-BE49-F238E27FC236}">
                <a16:creationId xmlns:a16="http://schemas.microsoft.com/office/drawing/2014/main" id="{863705AA-C88B-489E-A75C-3F0D9846E59A}"/>
              </a:ext>
            </a:extLst>
          </p:cNvPr>
          <p:cNvSpPr/>
          <p:nvPr/>
        </p:nvSpPr>
        <p:spPr>
          <a:xfrm>
            <a:off x="5538927" y="4429259"/>
            <a:ext cx="550187"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54" name="矩形 53">
            <a:extLst>
              <a:ext uri="{FF2B5EF4-FFF2-40B4-BE49-F238E27FC236}">
                <a16:creationId xmlns:a16="http://schemas.microsoft.com/office/drawing/2014/main" id="{09B224E4-7DAE-45B5-878E-A51023ED52C4}"/>
              </a:ext>
            </a:extLst>
          </p:cNvPr>
          <p:cNvSpPr/>
          <p:nvPr/>
        </p:nvSpPr>
        <p:spPr>
          <a:xfrm>
            <a:off x="6467158" y="4432380"/>
            <a:ext cx="522044"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55" name="矩形 54">
            <a:extLst>
              <a:ext uri="{FF2B5EF4-FFF2-40B4-BE49-F238E27FC236}">
                <a16:creationId xmlns:a16="http://schemas.microsoft.com/office/drawing/2014/main" id="{B7B94792-DB5E-4408-B9F0-CAAADE165E40}"/>
              </a:ext>
            </a:extLst>
          </p:cNvPr>
          <p:cNvSpPr/>
          <p:nvPr/>
        </p:nvSpPr>
        <p:spPr>
          <a:xfrm>
            <a:off x="7227916" y="4432380"/>
            <a:ext cx="657879"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a:t>
            </a:r>
            <a:endParaRPr lang="zh-CN" altLang="en-US" sz="2400" dirty="0"/>
          </a:p>
        </p:txBody>
      </p:sp>
      <p:sp>
        <p:nvSpPr>
          <p:cNvPr id="56" name="矩形 55">
            <a:extLst>
              <a:ext uri="{FF2B5EF4-FFF2-40B4-BE49-F238E27FC236}">
                <a16:creationId xmlns:a16="http://schemas.microsoft.com/office/drawing/2014/main" id="{D452F3A0-FE9A-46B0-AB19-74F7A5AE1E5E}"/>
              </a:ext>
            </a:extLst>
          </p:cNvPr>
          <p:cNvSpPr/>
          <p:nvPr/>
        </p:nvSpPr>
        <p:spPr>
          <a:xfrm>
            <a:off x="2202107" y="4437112"/>
            <a:ext cx="448253"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3</a:t>
            </a:r>
            <a:endParaRPr lang="zh-CN" altLang="en-US" sz="2400" dirty="0"/>
          </a:p>
        </p:txBody>
      </p:sp>
      <p:sp>
        <p:nvSpPr>
          <p:cNvPr id="57" name="矩形 56">
            <a:extLst>
              <a:ext uri="{FF2B5EF4-FFF2-40B4-BE49-F238E27FC236}">
                <a16:creationId xmlns:a16="http://schemas.microsoft.com/office/drawing/2014/main" id="{64FC98D8-F370-4FD3-A5A8-FD55584C4059}"/>
              </a:ext>
            </a:extLst>
          </p:cNvPr>
          <p:cNvSpPr/>
          <p:nvPr/>
        </p:nvSpPr>
        <p:spPr>
          <a:xfrm>
            <a:off x="2948992" y="4411330"/>
            <a:ext cx="550186"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-2</a:t>
            </a:r>
            <a:endParaRPr lang="zh-CN" altLang="en-US" sz="2400" dirty="0"/>
          </a:p>
        </p:txBody>
      </p:sp>
      <p:sp>
        <p:nvSpPr>
          <p:cNvPr id="58" name="矩形 57">
            <a:extLst>
              <a:ext uri="{FF2B5EF4-FFF2-40B4-BE49-F238E27FC236}">
                <a16:creationId xmlns:a16="http://schemas.microsoft.com/office/drawing/2014/main" id="{AE3A332C-D701-4093-88E8-5EE2D5FFD6B7}"/>
              </a:ext>
            </a:extLst>
          </p:cNvPr>
          <p:cNvSpPr/>
          <p:nvPr/>
        </p:nvSpPr>
        <p:spPr>
          <a:xfrm>
            <a:off x="8112753" y="4456277"/>
            <a:ext cx="657879"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10</a:t>
            </a:r>
            <a:endParaRPr lang="zh-CN" altLang="en-US" sz="2400" dirty="0"/>
          </a:p>
        </p:txBody>
      </p:sp>
    </p:spTree>
    <p:extLst>
      <p:ext uri="{BB962C8B-B14F-4D97-AF65-F5344CB8AC3E}">
        <p14:creationId xmlns:p14="http://schemas.microsoft.com/office/powerpoint/2010/main" val="251680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 calcmode="lin" valueType="num">
                                      <p:cBhvr additive="base">
                                        <p:cTn id="7"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
                                            <p:txEl>
                                              <p:pRg st="0" end="0"/>
                                            </p:txEl>
                                          </p:spTgt>
                                        </p:tgtEl>
                                        <p:attrNameLst>
                                          <p:attrName>style.visibility</p:attrName>
                                        </p:attrNameLst>
                                      </p:cBhvr>
                                      <p:to>
                                        <p:strVal val="visible"/>
                                      </p:to>
                                    </p:set>
                                    <p:anim calcmode="lin" valueType="num">
                                      <p:cBhvr additive="base">
                                        <p:cTn id="13"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wipe(down)">
                                      <p:cBhvr>
                                        <p:cTn id="19" dur="500"/>
                                        <p:tgtEl>
                                          <p:spTgt spid="4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wipe(down)">
                                      <p:cBhvr>
                                        <p:cTn id="24" dur="500"/>
                                        <p:tgtEl>
                                          <p:spTgt spid="4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down)">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down)">
                                      <p:cBhvr>
                                        <p:cTn id="34" dur="500"/>
                                        <p:tgtEl>
                                          <p:spTgt spid="3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wipe(down)">
                                      <p:cBhvr>
                                        <p:cTn id="39" dur="500"/>
                                        <p:tgtEl>
                                          <p:spTgt spid="4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wipe(down)">
                                      <p:cBhvr>
                                        <p:cTn id="44" dur="500"/>
                                        <p:tgtEl>
                                          <p:spTgt spid="4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wipe(down)">
                                      <p:cBhvr>
                                        <p:cTn id="49" dur="500"/>
                                        <p:tgtEl>
                                          <p:spTgt spid="4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49"/>
                                        </p:tgtEl>
                                        <p:attrNameLst>
                                          <p:attrName>style.visibility</p:attrName>
                                        </p:attrNameLst>
                                      </p:cBhvr>
                                      <p:to>
                                        <p:strVal val="visible"/>
                                      </p:to>
                                    </p:set>
                                    <p:animEffect transition="in" filter="wipe(down)">
                                      <p:cBhvr>
                                        <p:cTn id="54" dur="500"/>
                                        <p:tgtEl>
                                          <p:spTgt spid="49"/>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8">
                                            <p:txEl>
                                              <p:pRg st="1" end="1"/>
                                            </p:txEl>
                                          </p:spTgt>
                                        </p:tgtEl>
                                        <p:attrNameLst>
                                          <p:attrName>style.visibility</p:attrName>
                                        </p:attrNameLst>
                                      </p:cBhvr>
                                      <p:to>
                                        <p:strVal val="visible"/>
                                      </p:to>
                                    </p:set>
                                    <p:anim calcmode="lin" valueType="num">
                                      <p:cBhvr additive="base">
                                        <p:cTn id="59" dur="500" fill="hold"/>
                                        <p:tgtEl>
                                          <p:spTgt spid="38">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wipe(down)">
                                      <p:cBhvr>
                                        <p:cTn id="65" dur="500"/>
                                        <p:tgtEl>
                                          <p:spTgt spid="5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57"/>
                                        </p:tgtEl>
                                        <p:attrNameLst>
                                          <p:attrName>style.visibility</p:attrName>
                                        </p:attrNameLst>
                                      </p:cBhvr>
                                      <p:to>
                                        <p:strVal val="visible"/>
                                      </p:to>
                                    </p:set>
                                    <p:animEffect transition="in" filter="wipe(down)">
                                      <p:cBhvr>
                                        <p:cTn id="70" dur="500"/>
                                        <p:tgtEl>
                                          <p:spTgt spid="5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wipe(down)">
                                      <p:cBhvr>
                                        <p:cTn id="75" dur="500"/>
                                        <p:tgtEl>
                                          <p:spTgt spid="5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52"/>
                                        </p:tgtEl>
                                        <p:attrNameLst>
                                          <p:attrName>style.visibility</p:attrName>
                                        </p:attrNameLst>
                                      </p:cBhvr>
                                      <p:to>
                                        <p:strVal val="visible"/>
                                      </p:to>
                                    </p:set>
                                    <p:animEffect transition="in" filter="wipe(down)">
                                      <p:cBhvr>
                                        <p:cTn id="80" dur="500"/>
                                        <p:tgtEl>
                                          <p:spTgt spid="5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53"/>
                                        </p:tgtEl>
                                        <p:attrNameLst>
                                          <p:attrName>style.visibility</p:attrName>
                                        </p:attrNameLst>
                                      </p:cBhvr>
                                      <p:to>
                                        <p:strVal val="visible"/>
                                      </p:to>
                                    </p:set>
                                    <p:animEffect transition="in" filter="wipe(down)">
                                      <p:cBhvr>
                                        <p:cTn id="85" dur="500"/>
                                        <p:tgtEl>
                                          <p:spTgt spid="5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54"/>
                                        </p:tgtEl>
                                        <p:attrNameLst>
                                          <p:attrName>style.visibility</p:attrName>
                                        </p:attrNameLst>
                                      </p:cBhvr>
                                      <p:to>
                                        <p:strVal val="visible"/>
                                      </p:to>
                                    </p:set>
                                    <p:animEffect transition="in" filter="wipe(down)">
                                      <p:cBhvr>
                                        <p:cTn id="90" dur="500"/>
                                        <p:tgtEl>
                                          <p:spTgt spid="5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55"/>
                                        </p:tgtEl>
                                        <p:attrNameLst>
                                          <p:attrName>style.visibility</p:attrName>
                                        </p:attrNameLst>
                                      </p:cBhvr>
                                      <p:to>
                                        <p:strVal val="visible"/>
                                      </p:to>
                                    </p:set>
                                    <p:animEffect transition="in" filter="wipe(down)">
                                      <p:cBhvr>
                                        <p:cTn id="95" dur="500"/>
                                        <p:tgtEl>
                                          <p:spTgt spid="55"/>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58"/>
                                        </p:tgtEl>
                                        <p:attrNameLst>
                                          <p:attrName>style.visibility</p:attrName>
                                        </p:attrNameLst>
                                      </p:cBhvr>
                                      <p:to>
                                        <p:strVal val="visible"/>
                                      </p:to>
                                    </p:set>
                                    <p:animEffect transition="in" filter="wipe(down)">
                                      <p:cBhvr>
                                        <p:cTn id="10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9" grpId="0" animBg="1"/>
      <p:bldP spid="40" grpId="0" animBg="1"/>
      <p:bldP spid="41" grpId="0" animBg="1"/>
      <p:bldP spid="45" grpId="0" animBg="1"/>
      <p:bldP spid="47" grpId="0" animBg="1"/>
      <p:bldP spid="48" grpId="0" animBg="1"/>
      <p:bldP spid="49"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29</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1876416441"/>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1876416441"/>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extLst>
              <p:ext uri="{D42A27DB-BD31-4B8C-83A1-F6EECF244321}">
                <p14:modId xmlns:p14="http://schemas.microsoft.com/office/powerpoint/2010/main" val="2539337705"/>
              </p:ext>
            </p:extLst>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extLst>
              <p:ext uri="{D42A27DB-BD31-4B8C-83A1-F6EECF244321}">
                <p14:modId xmlns:p14="http://schemas.microsoft.com/office/powerpoint/2010/main" val="1716072350"/>
              </p:ext>
            </p:extLst>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extLst>
              <p:ext uri="{D42A27DB-BD31-4B8C-83A1-F6EECF244321}">
                <p14:modId xmlns:p14="http://schemas.microsoft.com/office/powerpoint/2010/main" val="88176123"/>
              </p:ext>
            </p:extLst>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extLst>
              <p:ext uri="{D42A27DB-BD31-4B8C-83A1-F6EECF244321}">
                <p14:modId xmlns:p14="http://schemas.microsoft.com/office/powerpoint/2010/main" val="1980923699"/>
              </p:ext>
            </p:extLst>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extLst>
              <p:ext uri="{D42A27DB-BD31-4B8C-83A1-F6EECF244321}">
                <p14:modId xmlns:p14="http://schemas.microsoft.com/office/powerpoint/2010/main" val="3004686183"/>
              </p:ext>
            </p:extLst>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10823100" y="2055793"/>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10796020" y="2572187"/>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p:graphicFrame>
        <p:nvGraphicFramePr>
          <p:cNvPr id="59" name="对象 58">
            <a:extLst>
              <a:ext uri="{FF2B5EF4-FFF2-40B4-BE49-F238E27FC236}">
                <a16:creationId xmlns:a16="http://schemas.microsoft.com/office/drawing/2014/main" id="{F80AEFAA-F226-42A1-B3BE-3F6B3145AB4B}"/>
              </a:ext>
            </a:extLst>
          </p:cNvPr>
          <p:cNvGraphicFramePr>
            <a:graphicFrameLocks noChangeAspect="1"/>
          </p:cNvGraphicFramePr>
          <p:nvPr>
            <p:extLst>
              <p:ext uri="{D42A27DB-BD31-4B8C-83A1-F6EECF244321}">
                <p14:modId xmlns:p14="http://schemas.microsoft.com/office/powerpoint/2010/main" val="4044176144"/>
              </p:ext>
            </p:extLst>
          </p:nvPr>
        </p:nvGraphicFramePr>
        <p:xfrm>
          <a:off x="5114925" y="479425"/>
          <a:ext cx="2790825" cy="530225"/>
        </p:xfrm>
        <a:graphic>
          <a:graphicData uri="http://schemas.openxmlformats.org/presentationml/2006/ole">
            <mc:AlternateContent xmlns:mc="http://schemas.openxmlformats.org/markup-compatibility/2006">
              <mc:Choice xmlns:v="urn:schemas-microsoft-com:vml" Requires="v">
                <p:oleObj name="Equation" r:id="rId4" imgW="1473120" imgH="279360" progId="Equation.DSMT4">
                  <p:embed/>
                </p:oleObj>
              </mc:Choice>
              <mc:Fallback>
                <p:oleObj name="Equation" r:id="rId4" imgW="1473120" imgH="279360" progId="Equation.DSMT4">
                  <p:embed/>
                  <p:pic>
                    <p:nvPicPr>
                      <p:cNvPr id="23" name="对象 22">
                        <a:extLst>
                          <a:ext uri="{FF2B5EF4-FFF2-40B4-BE49-F238E27FC236}">
                            <a16:creationId xmlns:a16="http://schemas.microsoft.com/office/drawing/2014/main" id="{3A28AA25-8568-44CE-9DB4-42155F758276}"/>
                          </a:ext>
                        </a:extLst>
                      </p:cNvPr>
                      <p:cNvPicPr/>
                      <p:nvPr/>
                    </p:nvPicPr>
                    <p:blipFill>
                      <a:blip r:embed="rId5"/>
                      <a:stretch>
                        <a:fillRect/>
                      </a:stretch>
                    </p:blipFill>
                    <p:spPr>
                      <a:xfrm>
                        <a:off x="5114925" y="479425"/>
                        <a:ext cx="2790825" cy="530225"/>
                      </a:xfrm>
                      <a:prstGeom prst="rect">
                        <a:avLst/>
                      </a:prstGeom>
                    </p:spPr>
                  </p:pic>
                </p:oleObj>
              </mc:Fallback>
            </mc:AlternateContent>
          </a:graphicData>
        </a:graphic>
      </p:graphicFrame>
      <p:graphicFrame>
        <p:nvGraphicFramePr>
          <p:cNvPr id="60" name="对象 59">
            <a:extLst>
              <a:ext uri="{FF2B5EF4-FFF2-40B4-BE49-F238E27FC236}">
                <a16:creationId xmlns:a16="http://schemas.microsoft.com/office/drawing/2014/main" id="{865C5957-DC63-4811-AC65-4DE379EFAAE2}"/>
              </a:ext>
            </a:extLst>
          </p:cNvPr>
          <p:cNvGraphicFramePr>
            <a:graphicFrameLocks noChangeAspect="1"/>
          </p:cNvGraphicFramePr>
          <p:nvPr>
            <p:extLst>
              <p:ext uri="{D42A27DB-BD31-4B8C-83A1-F6EECF244321}">
                <p14:modId xmlns:p14="http://schemas.microsoft.com/office/powerpoint/2010/main" val="1163139128"/>
              </p:ext>
            </p:extLst>
          </p:nvPr>
        </p:nvGraphicFramePr>
        <p:xfrm>
          <a:off x="4197350" y="1016874"/>
          <a:ext cx="4141787" cy="482600"/>
        </p:xfrm>
        <a:graphic>
          <a:graphicData uri="http://schemas.openxmlformats.org/presentationml/2006/ole">
            <mc:AlternateContent xmlns:mc="http://schemas.openxmlformats.org/markup-compatibility/2006">
              <mc:Choice xmlns:v="urn:schemas-microsoft-com:vml" Requires="v">
                <p:oleObj name="Equation" r:id="rId6" imgW="2184120" imgH="253800" progId="Equation.DSMT4">
                  <p:embed/>
                </p:oleObj>
              </mc:Choice>
              <mc:Fallback>
                <p:oleObj name="Equation" r:id="rId6" imgW="2184120" imgH="253800" progId="Equation.DSMT4">
                  <p:embed/>
                  <p:pic>
                    <p:nvPicPr>
                      <p:cNvPr id="24" name="对象 23">
                        <a:extLst>
                          <a:ext uri="{FF2B5EF4-FFF2-40B4-BE49-F238E27FC236}">
                            <a16:creationId xmlns:a16="http://schemas.microsoft.com/office/drawing/2014/main" id="{58D8E6F6-E745-4DE8-8623-3AE16531B306}"/>
                          </a:ext>
                        </a:extLst>
                      </p:cNvPr>
                      <p:cNvPicPr/>
                      <p:nvPr/>
                    </p:nvPicPr>
                    <p:blipFill>
                      <a:blip r:embed="rId7"/>
                      <a:stretch>
                        <a:fillRect/>
                      </a:stretch>
                    </p:blipFill>
                    <p:spPr>
                      <a:xfrm>
                        <a:off x="4197350" y="1016874"/>
                        <a:ext cx="4141787" cy="482600"/>
                      </a:xfrm>
                      <a:prstGeom prst="rect">
                        <a:avLst/>
                      </a:prstGeom>
                    </p:spPr>
                  </p:pic>
                </p:oleObj>
              </mc:Fallback>
            </mc:AlternateContent>
          </a:graphicData>
        </a:graphic>
      </p:graphicFrame>
      <p:graphicFrame>
        <p:nvGraphicFramePr>
          <p:cNvPr id="61" name="对象 60">
            <a:extLst>
              <a:ext uri="{FF2B5EF4-FFF2-40B4-BE49-F238E27FC236}">
                <a16:creationId xmlns:a16="http://schemas.microsoft.com/office/drawing/2014/main" id="{3AA5B9FD-2D55-445B-978A-ADD38E7D1425}"/>
              </a:ext>
            </a:extLst>
          </p:cNvPr>
          <p:cNvGraphicFramePr>
            <a:graphicFrameLocks noChangeAspect="1"/>
          </p:cNvGraphicFramePr>
          <p:nvPr>
            <p:extLst>
              <p:ext uri="{D42A27DB-BD31-4B8C-83A1-F6EECF244321}">
                <p14:modId xmlns:p14="http://schemas.microsoft.com/office/powerpoint/2010/main" val="2521642474"/>
              </p:ext>
            </p:extLst>
          </p:nvPr>
        </p:nvGraphicFramePr>
        <p:xfrm>
          <a:off x="4197350" y="1298575"/>
          <a:ext cx="4383088" cy="482600"/>
        </p:xfrm>
        <a:graphic>
          <a:graphicData uri="http://schemas.openxmlformats.org/presentationml/2006/ole">
            <mc:AlternateContent xmlns:mc="http://schemas.openxmlformats.org/markup-compatibility/2006">
              <mc:Choice xmlns:v="urn:schemas-microsoft-com:vml" Requires="v">
                <p:oleObj name="Equation" r:id="rId8" imgW="2311200" imgH="253800" progId="Equation.DSMT4">
                  <p:embed/>
                </p:oleObj>
              </mc:Choice>
              <mc:Fallback>
                <p:oleObj name="Equation" r:id="rId8" imgW="2311200" imgH="253800" progId="Equation.DSMT4">
                  <p:embed/>
                  <p:pic>
                    <p:nvPicPr>
                      <p:cNvPr id="25" name="对象 24">
                        <a:extLst>
                          <a:ext uri="{FF2B5EF4-FFF2-40B4-BE49-F238E27FC236}">
                            <a16:creationId xmlns:a16="http://schemas.microsoft.com/office/drawing/2014/main" id="{3D08FC44-0196-43EB-8494-C23634C3BF49}"/>
                          </a:ext>
                        </a:extLst>
                      </p:cNvPr>
                      <p:cNvPicPr/>
                      <p:nvPr/>
                    </p:nvPicPr>
                    <p:blipFill>
                      <a:blip r:embed="rId9"/>
                      <a:stretch>
                        <a:fillRect/>
                      </a:stretch>
                    </p:blipFill>
                    <p:spPr>
                      <a:xfrm>
                        <a:off x="4197350" y="1298575"/>
                        <a:ext cx="4383088" cy="482600"/>
                      </a:xfrm>
                      <a:prstGeom prst="rect">
                        <a:avLst/>
                      </a:prstGeom>
                    </p:spPr>
                  </p:pic>
                </p:oleObj>
              </mc:Fallback>
            </mc:AlternateContent>
          </a:graphicData>
        </a:graphic>
      </p:graphicFrame>
      <p:graphicFrame>
        <p:nvGraphicFramePr>
          <p:cNvPr id="62" name="对象 61">
            <a:extLst>
              <a:ext uri="{FF2B5EF4-FFF2-40B4-BE49-F238E27FC236}">
                <a16:creationId xmlns:a16="http://schemas.microsoft.com/office/drawing/2014/main" id="{88ADAD35-099E-4F4E-98B5-D4F6311C6A38}"/>
              </a:ext>
            </a:extLst>
          </p:cNvPr>
          <p:cNvGraphicFramePr>
            <a:graphicFrameLocks noChangeAspect="1"/>
          </p:cNvGraphicFramePr>
          <p:nvPr>
            <p:extLst>
              <p:ext uri="{D42A27DB-BD31-4B8C-83A1-F6EECF244321}">
                <p14:modId xmlns:p14="http://schemas.microsoft.com/office/powerpoint/2010/main" val="3976093333"/>
              </p:ext>
            </p:extLst>
          </p:nvPr>
        </p:nvGraphicFramePr>
        <p:xfrm>
          <a:off x="4197350" y="1610521"/>
          <a:ext cx="3611563" cy="482600"/>
        </p:xfrm>
        <a:graphic>
          <a:graphicData uri="http://schemas.openxmlformats.org/presentationml/2006/ole">
            <mc:AlternateContent xmlns:mc="http://schemas.openxmlformats.org/markup-compatibility/2006">
              <mc:Choice xmlns:v="urn:schemas-microsoft-com:vml" Requires="v">
                <p:oleObj name="Equation" r:id="rId10" imgW="1904760" imgH="253800" progId="Equation.DSMT4">
                  <p:embed/>
                </p:oleObj>
              </mc:Choice>
              <mc:Fallback>
                <p:oleObj name="Equation" r:id="rId10" imgW="1904760" imgH="253800" progId="Equation.DSMT4">
                  <p:embed/>
                  <p:pic>
                    <p:nvPicPr>
                      <p:cNvPr id="26" name="对象 25">
                        <a:extLst>
                          <a:ext uri="{FF2B5EF4-FFF2-40B4-BE49-F238E27FC236}">
                            <a16:creationId xmlns:a16="http://schemas.microsoft.com/office/drawing/2014/main" id="{DC9009BF-07CC-4603-B130-02C4EF42E3B9}"/>
                          </a:ext>
                        </a:extLst>
                      </p:cNvPr>
                      <p:cNvPicPr/>
                      <p:nvPr/>
                    </p:nvPicPr>
                    <p:blipFill>
                      <a:blip r:embed="rId11"/>
                      <a:stretch>
                        <a:fillRect/>
                      </a:stretch>
                    </p:blipFill>
                    <p:spPr>
                      <a:xfrm>
                        <a:off x="4197350" y="1610521"/>
                        <a:ext cx="3611563" cy="482600"/>
                      </a:xfrm>
                      <a:prstGeom prst="rect">
                        <a:avLst/>
                      </a:prstGeom>
                    </p:spPr>
                  </p:pic>
                </p:oleObj>
              </mc:Fallback>
            </mc:AlternateContent>
          </a:graphicData>
        </a:graphic>
      </p:graphicFrame>
      <p:graphicFrame>
        <p:nvGraphicFramePr>
          <p:cNvPr id="63" name="对象 62">
            <a:extLst>
              <a:ext uri="{FF2B5EF4-FFF2-40B4-BE49-F238E27FC236}">
                <a16:creationId xmlns:a16="http://schemas.microsoft.com/office/drawing/2014/main" id="{50EB28C8-04D2-40ED-A9E7-F816E5CD3C8A}"/>
              </a:ext>
            </a:extLst>
          </p:cNvPr>
          <p:cNvGraphicFramePr>
            <a:graphicFrameLocks noChangeAspect="1"/>
          </p:cNvGraphicFramePr>
          <p:nvPr>
            <p:extLst>
              <p:ext uri="{D42A27DB-BD31-4B8C-83A1-F6EECF244321}">
                <p14:modId xmlns:p14="http://schemas.microsoft.com/office/powerpoint/2010/main" val="54062984"/>
              </p:ext>
            </p:extLst>
          </p:nvPr>
        </p:nvGraphicFramePr>
        <p:xfrm>
          <a:off x="4221163" y="1909763"/>
          <a:ext cx="3660775" cy="482600"/>
        </p:xfrm>
        <a:graphic>
          <a:graphicData uri="http://schemas.openxmlformats.org/presentationml/2006/ole">
            <mc:AlternateContent xmlns:mc="http://schemas.openxmlformats.org/markup-compatibility/2006">
              <mc:Choice xmlns:v="urn:schemas-microsoft-com:vml" Requires="v">
                <p:oleObj name="Equation" r:id="rId12" imgW="1930320" imgH="253800" progId="Equation.DSMT4">
                  <p:embed/>
                </p:oleObj>
              </mc:Choice>
              <mc:Fallback>
                <p:oleObj name="Equation" r:id="rId12" imgW="1930320" imgH="253800" progId="Equation.DSMT4">
                  <p:embed/>
                  <p:pic>
                    <p:nvPicPr>
                      <p:cNvPr id="27" name="对象 26">
                        <a:extLst>
                          <a:ext uri="{FF2B5EF4-FFF2-40B4-BE49-F238E27FC236}">
                            <a16:creationId xmlns:a16="http://schemas.microsoft.com/office/drawing/2014/main" id="{23E054F7-E4BD-4142-866A-5B7FEB2AD838}"/>
                          </a:ext>
                        </a:extLst>
                      </p:cNvPr>
                      <p:cNvPicPr/>
                      <p:nvPr/>
                    </p:nvPicPr>
                    <p:blipFill>
                      <a:blip r:embed="rId13"/>
                      <a:stretch>
                        <a:fillRect/>
                      </a:stretch>
                    </p:blipFill>
                    <p:spPr>
                      <a:xfrm>
                        <a:off x="4221163" y="1909763"/>
                        <a:ext cx="3660775" cy="482600"/>
                      </a:xfrm>
                      <a:prstGeom prst="rect">
                        <a:avLst/>
                      </a:prstGeom>
                    </p:spPr>
                  </p:pic>
                </p:oleObj>
              </mc:Fallback>
            </mc:AlternateContent>
          </a:graphicData>
        </a:graphic>
      </p:graphicFrame>
      <p:graphicFrame>
        <p:nvGraphicFramePr>
          <p:cNvPr id="64" name="对象 63">
            <a:extLst>
              <a:ext uri="{FF2B5EF4-FFF2-40B4-BE49-F238E27FC236}">
                <a16:creationId xmlns:a16="http://schemas.microsoft.com/office/drawing/2014/main" id="{7D72CA59-0CE8-4DCA-858F-6AFB33BE8E3E}"/>
              </a:ext>
            </a:extLst>
          </p:cNvPr>
          <p:cNvGraphicFramePr>
            <a:graphicFrameLocks noChangeAspect="1"/>
          </p:cNvGraphicFramePr>
          <p:nvPr>
            <p:extLst>
              <p:ext uri="{D42A27DB-BD31-4B8C-83A1-F6EECF244321}">
                <p14:modId xmlns:p14="http://schemas.microsoft.com/office/powerpoint/2010/main" val="1135272765"/>
              </p:ext>
            </p:extLst>
          </p:nvPr>
        </p:nvGraphicFramePr>
        <p:xfrm>
          <a:off x="4197350" y="2237470"/>
          <a:ext cx="3997325" cy="482600"/>
        </p:xfrm>
        <a:graphic>
          <a:graphicData uri="http://schemas.openxmlformats.org/presentationml/2006/ole">
            <mc:AlternateContent xmlns:mc="http://schemas.openxmlformats.org/markup-compatibility/2006">
              <mc:Choice xmlns:v="urn:schemas-microsoft-com:vml" Requires="v">
                <p:oleObj name="Equation" r:id="rId14" imgW="2108160" imgH="253800" progId="Equation.DSMT4">
                  <p:embed/>
                </p:oleObj>
              </mc:Choice>
              <mc:Fallback>
                <p:oleObj name="Equation" r:id="rId14" imgW="2108160" imgH="253800" progId="Equation.DSMT4">
                  <p:embed/>
                  <p:pic>
                    <p:nvPicPr>
                      <p:cNvPr id="28" name="对象 27">
                        <a:extLst>
                          <a:ext uri="{FF2B5EF4-FFF2-40B4-BE49-F238E27FC236}">
                            <a16:creationId xmlns:a16="http://schemas.microsoft.com/office/drawing/2014/main" id="{145D2037-90C0-46D1-B8D7-7C4C3B8C550A}"/>
                          </a:ext>
                        </a:extLst>
                      </p:cNvPr>
                      <p:cNvPicPr/>
                      <p:nvPr/>
                    </p:nvPicPr>
                    <p:blipFill>
                      <a:blip r:embed="rId15"/>
                      <a:stretch>
                        <a:fillRect/>
                      </a:stretch>
                    </p:blipFill>
                    <p:spPr>
                      <a:xfrm>
                        <a:off x="4197350" y="2237470"/>
                        <a:ext cx="3997325" cy="482600"/>
                      </a:xfrm>
                      <a:prstGeom prst="rect">
                        <a:avLst/>
                      </a:prstGeom>
                    </p:spPr>
                  </p:pic>
                </p:oleObj>
              </mc:Fallback>
            </mc:AlternateContent>
          </a:graphicData>
        </a:graphic>
      </p:graphicFrame>
      <p:graphicFrame>
        <p:nvGraphicFramePr>
          <p:cNvPr id="65" name="对象 64">
            <a:extLst>
              <a:ext uri="{FF2B5EF4-FFF2-40B4-BE49-F238E27FC236}">
                <a16:creationId xmlns:a16="http://schemas.microsoft.com/office/drawing/2014/main" id="{338B5788-9AAE-46B8-B1E1-5BB8C3CF6BF3}"/>
              </a:ext>
            </a:extLst>
          </p:cNvPr>
          <p:cNvGraphicFramePr>
            <a:graphicFrameLocks noChangeAspect="1"/>
          </p:cNvGraphicFramePr>
          <p:nvPr>
            <p:extLst>
              <p:ext uri="{D42A27DB-BD31-4B8C-83A1-F6EECF244321}">
                <p14:modId xmlns:p14="http://schemas.microsoft.com/office/powerpoint/2010/main" val="3417007718"/>
              </p:ext>
            </p:extLst>
          </p:nvPr>
        </p:nvGraphicFramePr>
        <p:xfrm>
          <a:off x="4208463" y="2513013"/>
          <a:ext cx="3829050" cy="482600"/>
        </p:xfrm>
        <a:graphic>
          <a:graphicData uri="http://schemas.openxmlformats.org/presentationml/2006/ole">
            <mc:AlternateContent xmlns:mc="http://schemas.openxmlformats.org/markup-compatibility/2006">
              <mc:Choice xmlns:v="urn:schemas-microsoft-com:vml" Requires="v">
                <p:oleObj name="Equation" r:id="rId16" imgW="2019240" imgH="253800" progId="Equation.DSMT4">
                  <p:embed/>
                </p:oleObj>
              </mc:Choice>
              <mc:Fallback>
                <p:oleObj name="Equation" r:id="rId16" imgW="2019240" imgH="253800" progId="Equation.DSMT4">
                  <p:embed/>
                  <p:pic>
                    <p:nvPicPr>
                      <p:cNvPr id="29" name="对象 28">
                        <a:extLst>
                          <a:ext uri="{FF2B5EF4-FFF2-40B4-BE49-F238E27FC236}">
                            <a16:creationId xmlns:a16="http://schemas.microsoft.com/office/drawing/2014/main" id="{A83A03C8-AB40-42A3-9D5C-BABB4A16BDE8}"/>
                          </a:ext>
                        </a:extLst>
                      </p:cNvPr>
                      <p:cNvPicPr/>
                      <p:nvPr/>
                    </p:nvPicPr>
                    <p:blipFill>
                      <a:blip r:embed="rId17"/>
                      <a:stretch>
                        <a:fillRect/>
                      </a:stretch>
                    </p:blipFill>
                    <p:spPr>
                      <a:xfrm>
                        <a:off x="4208463" y="2513013"/>
                        <a:ext cx="3829050" cy="4826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8DCE219F-6646-4219-AD27-1C0E6703718D}"/>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5"/>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66" name="矩形 65">
                <a:extLst>
                  <a:ext uri="{FF2B5EF4-FFF2-40B4-BE49-F238E27FC236}">
                    <a16:creationId xmlns:a16="http://schemas.microsoft.com/office/drawing/2014/main" id="{8DCE219F-6646-4219-AD27-1C0E6703718D}"/>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18"/>
                <a:stretch>
                  <a:fillRect l="-3675" t="-10294" r="-580" b="-16176"/>
                </a:stretch>
              </a:blipFill>
            </p:spPr>
            <p:txBody>
              <a:bodyPr/>
              <a:lstStyle/>
              <a:p>
                <a:r>
                  <a:rPr lang="zh-CN" altLang="en-US">
                    <a:noFill/>
                  </a:rPr>
                  <a:t> </a:t>
                </a:r>
              </a:p>
            </p:txBody>
          </p:sp>
        </mc:Fallback>
      </mc:AlternateContent>
      <p:graphicFrame>
        <p:nvGraphicFramePr>
          <p:cNvPr id="67" name="对象 66">
            <a:extLst>
              <a:ext uri="{FF2B5EF4-FFF2-40B4-BE49-F238E27FC236}">
                <a16:creationId xmlns:a16="http://schemas.microsoft.com/office/drawing/2014/main" id="{A7C2A5EA-7332-441A-9767-FC0FA63A261B}"/>
              </a:ext>
            </a:extLst>
          </p:cNvPr>
          <p:cNvGraphicFramePr>
            <a:graphicFrameLocks noChangeAspect="1"/>
          </p:cNvGraphicFramePr>
          <p:nvPr>
            <p:extLst>
              <p:ext uri="{D42A27DB-BD31-4B8C-83A1-F6EECF244321}">
                <p14:modId xmlns:p14="http://schemas.microsoft.com/office/powerpoint/2010/main" val="1330101421"/>
              </p:ext>
            </p:extLst>
          </p:nvPr>
        </p:nvGraphicFramePr>
        <p:xfrm>
          <a:off x="4197350" y="2824959"/>
          <a:ext cx="4622800" cy="482600"/>
        </p:xfrm>
        <a:graphic>
          <a:graphicData uri="http://schemas.openxmlformats.org/presentationml/2006/ole">
            <mc:AlternateContent xmlns:mc="http://schemas.openxmlformats.org/markup-compatibility/2006">
              <mc:Choice xmlns:v="urn:schemas-microsoft-com:vml" Requires="v">
                <p:oleObj name="Equation" r:id="rId19" imgW="2438280" imgH="253800" progId="Equation.DSMT4">
                  <p:embed/>
                </p:oleObj>
              </mc:Choice>
              <mc:Fallback>
                <p:oleObj name="Equation" r:id="rId19" imgW="2438280" imgH="253800" progId="Equation.DSMT4">
                  <p:embed/>
                  <p:pic>
                    <p:nvPicPr>
                      <p:cNvPr id="30" name="对象 29">
                        <a:extLst>
                          <a:ext uri="{FF2B5EF4-FFF2-40B4-BE49-F238E27FC236}">
                            <a16:creationId xmlns:a16="http://schemas.microsoft.com/office/drawing/2014/main" id="{D514A6B6-B6FB-4E18-85D8-F13457B4818B}"/>
                          </a:ext>
                        </a:extLst>
                      </p:cNvPr>
                      <p:cNvPicPr/>
                      <p:nvPr/>
                    </p:nvPicPr>
                    <p:blipFill>
                      <a:blip r:embed="rId20"/>
                      <a:stretch>
                        <a:fillRect/>
                      </a:stretch>
                    </p:blipFill>
                    <p:spPr>
                      <a:xfrm>
                        <a:off x="4197350" y="2824959"/>
                        <a:ext cx="4622800" cy="482600"/>
                      </a:xfrm>
                      <a:prstGeom prst="rect">
                        <a:avLst/>
                      </a:prstGeom>
                    </p:spPr>
                  </p:pic>
                </p:oleObj>
              </mc:Fallback>
            </mc:AlternateContent>
          </a:graphicData>
        </a:graphic>
      </p:graphicFrame>
      <p:sp>
        <p:nvSpPr>
          <p:cNvPr id="68" name="矩形 67">
            <a:extLst>
              <a:ext uri="{FF2B5EF4-FFF2-40B4-BE49-F238E27FC236}">
                <a16:creationId xmlns:a16="http://schemas.microsoft.com/office/drawing/2014/main" id="{45767E9E-F7AF-4E5A-8634-2BF4A4B1CC82}"/>
              </a:ext>
            </a:extLst>
          </p:cNvPr>
          <p:cNvSpPr/>
          <p:nvPr/>
        </p:nvSpPr>
        <p:spPr>
          <a:xfrm>
            <a:off x="2070656" y="6041749"/>
            <a:ext cx="458780" cy="461665"/>
          </a:xfrm>
          <a:prstGeom prst="rect">
            <a:avLst/>
          </a:prstGeom>
        </p:spPr>
        <p:txBody>
          <a:bodyPr wrap="none">
            <a:spAutoFit/>
          </a:bodyPr>
          <a:lstStyle/>
          <a:p>
            <a:pPr algn="ctr"/>
            <a:r>
              <a:rPr lang="en-US" altLang="zh-CN" sz="2400" dirty="0"/>
              <a:t>-1</a:t>
            </a:r>
            <a:endParaRPr lang="zh-CN" altLang="en-US" sz="2400" dirty="0"/>
          </a:p>
        </p:txBody>
      </p:sp>
      <p:sp>
        <p:nvSpPr>
          <p:cNvPr id="69" name="矩形 68">
            <a:extLst>
              <a:ext uri="{FF2B5EF4-FFF2-40B4-BE49-F238E27FC236}">
                <a16:creationId xmlns:a16="http://schemas.microsoft.com/office/drawing/2014/main" id="{B0F87705-DB3F-446F-B006-F8D816DBE67B}"/>
              </a:ext>
            </a:extLst>
          </p:cNvPr>
          <p:cNvSpPr/>
          <p:nvPr/>
        </p:nvSpPr>
        <p:spPr>
          <a:xfrm>
            <a:off x="2814808" y="6064583"/>
            <a:ext cx="715260" cy="461665"/>
          </a:xfrm>
          <a:prstGeom prst="rect">
            <a:avLst/>
          </a:prstGeom>
        </p:spPr>
        <p:txBody>
          <a:bodyPr wrap="none">
            <a:spAutoFit/>
          </a:bodyPr>
          <a:lstStyle/>
          <a:p>
            <a:pPr algn="ctr"/>
            <a:r>
              <a:rPr lang="en-US" altLang="zh-CN" sz="2400" dirty="0"/>
              <a:t>2-M</a:t>
            </a:r>
            <a:endParaRPr lang="zh-CN" altLang="en-US" sz="2400" dirty="0"/>
          </a:p>
        </p:txBody>
      </p:sp>
      <p:sp>
        <p:nvSpPr>
          <p:cNvPr id="70" name="矩形 69">
            <a:extLst>
              <a:ext uri="{FF2B5EF4-FFF2-40B4-BE49-F238E27FC236}">
                <a16:creationId xmlns:a16="http://schemas.microsoft.com/office/drawing/2014/main" id="{B6487F18-DC7D-47DD-B3EA-52EA82B534E3}"/>
              </a:ext>
            </a:extLst>
          </p:cNvPr>
          <p:cNvSpPr/>
          <p:nvPr/>
        </p:nvSpPr>
        <p:spPr>
          <a:xfrm>
            <a:off x="3912250"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1" name="矩形 70">
            <a:extLst>
              <a:ext uri="{FF2B5EF4-FFF2-40B4-BE49-F238E27FC236}">
                <a16:creationId xmlns:a16="http://schemas.microsoft.com/office/drawing/2014/main" id="{3E0016D2-9831-4887-B73F-BB531E0281EE}"/>
              </a:ext>
            </a:extLst>
          </p:cNvPr>
          <p:cNvSpPr/>
          <p:nvPr/>
        </p:nvSpPr>
        <p:spPr>
          <a:xfrm>
            <a:off x="4780179"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2" name="矩形 71">
            <a:extLst>
              <a:ext uri="{FF2B5EF4-FFF2-40B4-BE49-F238E27FC236}">
                <a16:creationId xmlns:a16="http://schemas.microsoft.com/office/drawing/2014/main" id="{2EFA96BD-C937-4BFE-B729-AA9D0E5A0321}"/>
              </a:ext>
            </a:extLst>
          </p:cNvPr>
          <p:cNvSpPr/>
          <p:nvPr/>
        </p:nvSpPr>
        <p:spPr>
          <a:xfrm>
            <a:off x="5665940" y="6054229"/>
            <a:ext cx="441146" cy="461665"/>
          </a:xfrm>
          <a:prstGeom prst="rect">
            <a:avLst/>
          </a:prstGeom>
        </p:spPr>
        <p:txBody>
          <a:bodyPr wrap="none">
            <a:spAutoFit/>
          </a:bodyPr>
          <a:lstStyle/>
          <a:p>
            <a:pPr algn="ctr"/>
            <a:r>
              <a:rPr lang="en-US" altLang="zh-CN" sz="2400" dirty="0"/>
              <a:t>M</a:t>
            </a:r>
            <a:endParaRPr lang="zh-CN" altLang="en-US" sz="2400" dirty="0"/>
          </a:p>
        </p:txBody>
      </p:sp>
      <p:sp>
        <p:nvSpPr>
          <p:cNvPr id="73" name="矩形 72">
            <a:extLst>
              <a:ext uri="{FF2B5EF4-FFF2-40B4-BE49-F238E27FC236}">
                <a16:creationId xmlns:a16="http://schemas.microsoft.com/office/drawing/2014/main" id="{2AE28031-9AA1-47AD-83F7-CFAB271B0BBF}"/>
              </a:ext>
            </a:extLst>
          </p:cNvPr>
          <p:cNvSpPr/>
          <p:nvPr/>
        </p:nvSpPr>
        <p:spPr>
          <a:xfrm>
            <a:off x="6552128" y="6064582"/>
            <a:ext cx="356188" cy="461665"/>
          </a:xfrm>
          <a:prstGeom prst="rect">
            <a:avLst/>
          </a:prstGeom>
        </p:spPr>
        <p:txBody>
          <a:bodyPr wrap="none">
            <a:spAutoFit/>
          </a:bodyPr>
          <a:lstStyle/>
          <a:p>
            <a:pPr algn="ctr"/>
            <a:r>
              <a:rPr lang="en-US" altLang="zh-CN" sz="2400" dirty="0"/>
              <a:t>0</a:t>
            </a:r>
            <a:endParaRPr lang="zh-CN" altLang="en-US" sz="2400" dirty="0"/>
          </a:p>
        </p:txBody>
      </p:sp>
      <p:sp>
        <p:nvSpPr>
          <p:cNvPr id="74" name="矩形 73">
            <a:extLst>
              <a:ext uri="{FF2B5EF4-FFF2-40B4-BE49-F238E27FC236}">
                <a16:creationId xmlns:a16="http://schemas.microsoft.com/office/drawing/2014/main" id="{A1E26D6F-80FF-4574-8AC2-DF58BD2CB4A4}"/>
              </a:ext>
            </a:extLst>
          </p:cNvPr>
          <p:cNvSpPr/>
          <p:nvPr/>
        </p:nvSpPr>
        <p:spPr>
          <a:xfrm>
            <a:off x="7232486" y="6044696"/>
            <a:ext cx="886782" cy="461665"/>
          </a:xfrm>
          <a:prstGeom prst="rect">
            <a:avLst/>
          </a:prstGeom>
        </p:spPr>
        <p:txBody>
          <a:bodyPr wrap="none">
            <a:spAutoFit/>
          </a:bodyPr>
          <a:lstStyle/>
          <a:p>
            <a:pPr algn="ctr"/>
            <a:r>
              <a:rPr lang="en-US" altLang="zh-CN" sz="2400" dirty="0"/>
              <a:t>3M-1</a:t>
            </a:r>
            <a:endParaRPr lang="zh-CN" altLang="en-US" sz="2400" dirty="0"/>
          </a:p>
        </p:txBody>
      </p:sp>
    </p:spTree>
    <p:extLst>
      <p:ext uri="{BB962C8B-B14F-4D97-AF65-F5344CB8AC3E}">
        <p14:creationId xmlns:p14="http://schemas.microsoft.com/office/powerpoint/2010/main" val="288951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fill="hold"/>
                                        <p:tgtEl>
                                          <p:spTgt spid="66"/>
                                        </p:tgtEl>
                                        <p:attrNameLst>
                                          <p:attrName>ppt_x</p:attrName>
                                        </p:attrNameLst>
                                      </p:cBhvr>
                                      <p:tavLst>
                                        <p:tav tm="0">
                                          <p:val>
                                            <p:strVal val="#ppt_x"/>
                                          </p:val>
                                        </p:tav>
                                        <p:tav tm="100000">
                                          <p:val>
                                            <p:strVal val="#ppt_x"/>
                                          </p:val>
                                        </p:tav>
                                      </p:tavLst>
                                    </p:anim>
                                    <p:anim calcmode="lin" valueType="num">
                                      <p:cBhvr additive="base">
                                        <p:cTn id="8"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wipe(down)">
                                      <p:cBhvr>
                                        <p:cTn id="13" dur="500"/>
                                        <p:tgtEl>
                                          <p:spTgt spid="59"/>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60"/>
                                        </p:tgtEl>
                                        <p:attrNameLst>
                                          <p:attrName>style.visibility</p:attrName>
                                        </p:attrNameLst>
                                      </p:cBhvr>
                                      <p:to>
                                        <p:strVal val="visible"/>
                                      </p:to>
                                    </p:set>
                                    <p:anim calcmode="lin" valueType="num">
                                      <p:cBhvr additive="base">
                                        <p:cTn id="18" dur="500"/>
                                        <p:tgtEl>
                                          <p:spTgt spid="60"/>
                                        </p:tgtEl>
                                        <p:attrNameLst>
                                          <p:attrName>ppt_y</p:attrName>
                                        </p:attrNameLst>
                                      </p:cBhvr>
                                      <p:tavLst>
                                        <p:tav tm="0">
                                          <p:val>
                                            <p:strVal val="#ppt_y+#ppt_h*1.125000"/>
                                          </p:val>
                                        </p:tav>
                                        <p:tav tm="100000">
                                          <p:val>
                                            <p:strVal val="#ppt_y"/>
                                          </p:val>
                                        </p:tav>
                                      </p:tavLst>
                                    </p:anim>
                                    <p:animEffect transition="in" filter="wipe(up)">
                                      <p:cBhvr>
                                        <p:cTn id="19" dur="500"/>
                                        <p:tgtEl>
                                          <p:spTgt spid="6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8"/>
                                        </p:tgtEl>
                                        <p:attrNameLst>
                                          <p:attrName>style.visibility</p:attrName>
                                        </p:attrNameLst>
                                      </p:cBhvr>
                                      <p:to>
                                        <p:strVal val="visible"/>
                                      </p:to>
                                    </p:set>
                                    <p:anim calcmode="lin" valueType="num">
                                      <p:cBhvr additive="base">
                                        <p:cTn id="24" dur="500" fill="hold"/>
                                        <p:tgtEl>
                                          <p:spTgt spid="68"/>
                                        </p:tgtEl>
                                        <p:attrNameLst>
                                          <p:attrName>ppt_x</p:attrName>
                                        </p:attrNameLst>
                                      </p:cBhvr>
                                      <p:tavLst>
                                        <p:tav tm="0">
                                          <p:val>
                                            <p:strVal val="#ppt_x"/>
                                          </p:val>
                                        </p:tav>
                                        <p:tav tm="100000">
                                          <p:val>
                                            <p:strVal val="#ppt_x"/>
                                          </p:val>
                                        </p:tav>
                                      </p:tavLst>
                                    </p:anim>
                                    <p:anim calcmode="lin" valueType="num">
                                      <p:cBhvr additive="base">
                                        <p:cTn id="25"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61"/>
                                        </p:tgtEl>
                                        <p:attrNameLst>
                                          <p:attrName>style.visibility</p:attrName>
                                        </p:attrNameLst>
                                      </p:cBhvr>
                                      <p:to>
                                        <p:strVal val="visible"/>
                                      </p:to>
                                    </p:set>
                                    <p:anim calcmode="lin" valueType="num">
                                      <p:cBhvr additive="base">
                                        <p:cTn id="30" dur="500"/>
                                        <p:tgtEl>
                                          <p:spTgt spid="61"/>
                                        </p:tgtEl>
                                        <p:attrNameLst>
                                          <p:attrName>ppt_y</p:attrName>
                                        </p:attrNameLst>
                                      </p:cBhvr>
                                      <p:tavLst>
                                        <p:tav tm="0">
                                          <p:val>
                                            <p:strVal val="#ppt_y+#ppt_h*1.125000"/>
                                          </p:val>
                                        </p:tav>
                                        <p:tav tm="100000">
                                          <p:val>
                                            <p:strVal val="#ppt_y"/>
                                          </p:val>
                                        </p:tav>
                                      </p:tavLst>
                                    </p:anim>
                                    <p:animEffect transition="in" filter="wipe(up)">
                                      <p:cBhvr>
                                        <p:cTn id="31" dur="5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69"/>
                                        </p:tgtEl>
                                        <p:attrNameLst>
                                          <p:attrName>style.visibility</p:attrName>
                                        </p:attrNameLst>
                                      </p:cBhvr>
                                      <p:to>
                                        <p:strVal val="visible"/>
                                      </p:to>
                                    </p:set>
                                    <p:anim calcmode="lin" valueType="num">
                                      <p:cBhvr additive="base">
                                        <p:cTn id="36" dur="500" fill="hold"/>
                                        <p:tgtEl>
                                          <p:spTgt spid="69"/>
                                        </p:tgtEl>
                                        <p:attrNameLst>
                                          <p:attrName>ppt_x</p:attrName>
                                        </p:attrNameLst>
                                      </p:cBhvr>
                                      <p:tavLst>
                                        <p:tav tm="0">
                                          <p:val>
                                            <p:strVal val="#ppt_x"/>
                                          </p:val>
                                        </p:tav>
                                        <p:tav tm="100000">
                                          <p:val>
                                            <p:strVal val="#ppt_x"/>
                                          </p:val>
                                        </p:tav>
                                      </p:tavLst>
                                    </p:anim>
                                    <p:anim calcmode="lin" valueType="num">
                                      <p:cBhvr additive="base">
                                        <p:cTn id="37"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62"/>
                                        </p:tgtEl>
                                        <p:attrNameLst>
                                          <p:attrName>style.visibility</p:attrName>
                                        </p:attrNameLst>
                                      </p:cBhvr>
                                      <p:to>
                                        <p:strVal val="visible"/>
                                      </p:to>
                                    </p:set>
                                    <p:anim calcmode="lin" valueType="num">
                                      <p:cBhvr additive="base">
                                        <p:cTn id="42" dur="500"/>
                                        <p:tgtEl>
                                          <p:spTgt spid="62"/>
                                        </p:tgtEl>
                                        <p:attrNameLst>
                                          <p:attrName>ppt_y</p:attrName>
                                        </p:attrNameLst>
                                      </p:cBhvr>
                                      <p:tavLst>
                                        <p:tav tm="0">
                                          <p:val>
                                            <p:strVal val="#ppt_y+#ppt_h*1.125000"/>
                                          </p:val>
                                        </p:tav>
                                        <p:tav tm="100000">
                                          <p:val>
                                            <p:strVal val="#ppt_y"/>
                                          </p:val>
                                        </p:tav>
                                      </p:tavLst>
                                    </p:anim>
                                    <p:animEffect transition="in" filter="wipe(up)">
                                      <p:cBhvr>
                                        <p:cTn id="43" dur="500"/>
                                        <p:tgtEl>
                                          <p:spTgt spid="62"/>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70"/>
                                        </p:tgtEl>
                                        <p:attrNameLst>
                                          <p:attrName>style.visibility</p:attrName>
                                        </p:attrNameLst>
                                      </p:cBhvr>
                                      <p:to>
                                        <p:strVal val="visible"/>
                                      </p:to>
                                    </p:set>
                                    <p:anim calcmode="lin" valueType="num">
                                      <p:cBhvr additive="base">
                                        <p:cTn id="48" dur="500" fill="hold"/>
                                        <p:tgtEl>
                                          <p:spTgt spid="70"/>
                                        </p:tgtEl>
                                        <p:attrNameLst>
                                          <p:attrName>ppt_x</p:attrName>
                                        </p:attrNameLst>
                                      </p:cBhvr>
                                      <p:tavLst>
                                        <p:tav tm="0">
                                          <p:val>
                                            <p:strVal val="#ppt_x"/>
                                          </p:val>
                                        </p:tav>
                                        <p:tav tm="100000">
                                          <p:val>
                                            <p:strVal val="#ppt_x"/>
                                          </p:val>
                                        </p:tav>
                                      </p:tavLst>
                                    </p:anim>
                                    <p:anim calcmode="lin" valueType="num">
                                      <p:cBhvr additive="base">
                                        <p:cTn id="49"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nodeType="click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500"/>
                                        <p:tgtEl>
                                          <p:spTgt spid="63"/>
                                        </p:tgtEl>
                                        <p:attrNameLst>
                                          <p:attrName>ppt_y</p:attrName>
                                        </p:attrNameLst>
                                      </p:cBhvr>
                                      <p:tavLst>
                                        <p:tav tm="0">
                                          <p:val>
                                            <p:strVal val="#ppt_y+#ppt_h*1.125000"/>
                                          </p:val>
                                        </p:tav>
                                        <p:tav tm="100000">
                                          <p:val>
                                            <p:strVal val="#ppt_y"/>
                                          </p:val>
                                        </p:tav>
                                      </p:tavLst>
                                    </p:anim>
                                    <p:animEffect transition="in" filter="wipe(up)">
                                      <p:cBhvr>
                                        <p:cTn id="55" dur="500"/>
                                        <p:tgtEl>
                                          <p:spTgt spid="63"/>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71"/>
                                        </p:tgtEl>
                                        <p:attrNameLst>
                                          <p:attrName>style.visibility</p:attrName>
                                        </p:attrNameLst>
                                      </p:cBhvr>
                                      <p:to>
                                        <p:strVal val="visible"/>
                                      </p:to>
                                    </p:set>
                                    <p:anim calcmode="lin" valueType="num">
                                      <p:cBhvr additive="base">
                                        <p:cTn id="60" dur="500" fill="hold"/>
                                        <p:tgtEl>
                                          <p:spTgt spid="71"/>
                                        </p:tgtEl>
                                        <p:attrNameLst>
                                          <p:attrName>ppt_x</p:attrName>
                                        </p:attrNameLst>
                                      </p:cBhvr>
                                      <p:tavLst>
                                        <p:tav tm="0">
                                          <p:val>
                                            <p:strVal val="#ppt_x"/>
                                          </p:val>
                                        </p:tav>
                                        <p:tav tm="100000">
                                          <p:val>
                                            <p:strVal val="#ppt_x"/>
                                          </p:val>
                                        </p:tav>
                                      </p:tavLst>
                                    </p:anim>
                                    <p:anim calcmode="lin" valueType="num">
                                      <p:cBhvr additive="base">
                                        <p:cTn id="61"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2" presetClass="entr" presetSubtype="4" fill="hold" nodeType="clickEffect">
                                  <p:stCondLst>
                                    <p:cond delay="0"/>
                                  </p:stCondLst>
                                  <p:childTnLst>
                                    <p:set>
                                      <p:cBhvr>
                                        <p:cTn id="65" dur="1" fill="hold">
                                          <p:stCondLst>
                                            <p:cond delay="0"/>
                                          </p:stCondLst>
                                        </p:cTn>
                                        <p:tgtEl>
                                          <p:spTgt spid="64"/>
                                        </p:tgtEl>
                                        <p:attrNameLst>
                                          <p:attrName>style.visibility</p:attrName>
                                        </p:attrNameLst>
                                      </p:cBhvr>
                                      <p:to>
                                        <p:strVal val="visible"/>
                                      </p:to>
                                    </p:set>
                                    <p:anim calcmode="lin" valueType="num">
                                      <p:cBhvr additive="base">
                                        <p:cTn id="66" dur="500"/>
                                        <p:tgtEl>
                                          <p:spTgt spid="64"/>
                                        </p:tgtEl>
                                        <p:attrNameLst>
                                          <p:attrName>ppt_y</p:attrName>
                                        </p:attrNameLst>
                                      </p:cBhvr>
                                      <p:tavLst>
                                        <p:tav tm="0">
                                          <p:val>
                                            <p:strVal val="#ppt_y+#ppt_h*1.125000"/>
                                          </p:val>
                                        </p:tav>
                                        <p:tav tm="100000">
                                          <p:val>
                                            <p:strVal val="#ppt_y"/>
                                          </p:val>
                                        </p:tav>
                                      </p:tavLst>
                                    </p:anim>
                                    <p:animEffect transition="in" filter="wipe(up)">
                                      <p:cBhvr>
                                        <p:cTn id="67" dur="500"/>
                                        <p:tgtEl>
                                          <p:spTgt spid="64"/>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72"/>
                                        </p:tgtEl>
                                        <p:attrNameLst>
                                          <p:attrName>style.visibility</p:attrName>
                                        </p:attrNameLst>
                                      </p:cBhvr>
                                      <p:to>
                                        <p:strVal val="visible"/>
                                      </p:to>
                                    </p:set>
                                    <p:anim calcmode="lin" valueType="num">
                                      <p:cBhvr additive="base">
                                        <p:cTn id="72" dur="500" fill="hold"/>
                                        <p:tgtEl>
                                          <p:spTgt spid="72"/>
                                        </p:tgtEl>
                                        <p:attrNameLst>
                                          <p:attrName>ppt_x</p:attrName>
                                        </p:attrNameLst>
                                      </p:cBhvr>
                                      <p:tavLst>
                                        <p:tav tm="0">
                                          <p:val>
                                            <p:strVal val="#ppt_x"/>
                                          </p:val>
                                        </p:tav>
                                        <p:tav tm="100000">
                                          <p:val>
                                            <p:strVal val="#ppt_x"/>
                                          </p:val>
                                        </p:tav>
                                      </p:tavLst>
                                    </p:anim>
                                    <p:anim calcmode="lin" valueType="num">
                                      <p:cBhvr additive="base">
                                        <p:cTn id="73"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2" presetClass="entr" presetSubtype="4" fill="hold" nodeType="clickEffect">
                                  <p:stCondLst>
                                    <p:cond delay="0"/>
                                  </p:stCondLst>
                                  <p:childTnLst>
                                    <p:set>
                                      <p:cBhvr>
                                        <p:cTn id="77" dur="1" fill="hold">
                                          <p:stCondLst>
                                            <p:cond delay="0"/>
                                          </p:stCondLst>
                                        </p:cTn>
                                        <p:tgtEl>
                                          <p:spTgt spid="65"/>
                                        </p:tgtEl>
                                        <p:attrNameLst>
                                          <p:attrName>style.visibility</p:attrName>
                                        </p:attrNameLst>
                                      </p:cBhvr>
                                      <p:to>
                                        <p:strVal val="visible"/>
                                      </p:to>
                                    </p:set>
                                    <p:anim calcmode="lin" valueType="num">
                                      <p:cBhvr additive="base">
                                        <p:cTn id="78" dur="500"/>
                                        <p:tgtEl>
                                          <p:spTgt spid="65"/>
                                        </p:tgtEl>
                                        <p:attrNameLst>
                                          <p:attrName>ppt_y</p:attrName>
                                        </p:attrNameLst>
                                      </p:cBhvr>
                                      <p:tavLst>
                                        <p:tav tm="0">
                                          <p:val>
                                            <p:strVal val="#ppt_y+#ppt_h*1.125000"/>
                                          </p:val>
                                        </p:tav>
                                        <p:tav tm="100000">
                                          <p:val>
                                            <p:strVal val="#ppt_y"/>
                                          </p:val>
                                        </p:tav>
                                      </p:tavLst>
                                    </p:anim>
                                    <p:animEffect transition="in" filter="wipe(up)">
                                      <p:cBhvr>
                                        <p:cTn id="79" dur="500"/>
                                        <p:tgtEl>
                                          <p:spTgt spid="65"/>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73"/>
                                        </p:tgtEl>
                                        <p:attrNameLst>
                                          <p:attrName>style.visibility</p:attrName>
                                        </p:attrNameLst>
                                      </p:cBhvr>
                                      <p:to>
                                        <p:strVal val="visible"/>
                                      </p:to>
                                    </p:set>
                                    <p:anim calcmode="lin" valueType="num">
                                      <p:cBhvr additive="base">
                                        <p:cTn id="84" dur="500" fill="hold"/>
                                        <p:tgtEl>
                                          <p:spTgt spid="73"/>
                                        </p:tgtEl>
                                        <p:attrNameLst>
                                          <p:attrName>ppt_x</p:attrName>
                                        </p:attrNameLst>
                                      </p:cBhvr>
                                      <p:tavLst>
                                        <p:tav tm="0">
                                          <p:val>
                                            <p:strVal val="#ppt_x"/>
                                          </p:val>
                                        </p:tav>
                                        <p:tav tm="100000">
                                          <p:val>
                                            <p:strVal val="#ppt_x"/>
                                          </p:val>
                                        </p:tav>
                                      </p:tavLst>
                                    </p:anim>
                                    <p:anim calcmode="lin" valueType="num">
                                      <p:cBhvr additive="base">
                                        <p:cTn id="85"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12" presetClass="entr" presetSubtype="4" fill="hold" nodeType="clickEffect">
                                  <p:stCondLst>
                                    <p:cond delay="0"/>
                                  </p:stCondLst>
                                  <p:childTnLst>
                                    <p:set>
                                      <p:cBhvr>
                                        <p:cTn id="89" dur="1" fill="hold">
                                          <p:stCondLst>
                                            <p:cond delay="0"/>
                                          </p:stCondLst>
                                        </p:cTn>
                                        <p:tgtEl>
                                          <p:spTgt spid="67"/>
                                        </p:tgtEl>
                                        <p:attrNameLst>
                                          <p:attrName>style.visibility</p:attrName>
                                        </p:attrNameLst>
                                      </p:cBhvr>
                                      <p:to>
                                        <p:strVal val="visible"/>
                                      </p:to>
                                    </p:set>
                                    <p:anim calcmode="lin" valueType="num">
                                      <p:cBhvr additive="base">
                                        <p:cTn id="90" dur="500"/>
                                        <p:tgtEl>
                                          <p:spTgt spid="67"/>
                                        </p:tgtEl>
                                        <p:attrNameLst>
                                          <p:attrName>ppt_y</p:attrName>
                                        </p:attrNameLst>
                                      </p:cBhvr>
                                      <p:tavLst>
                                        <p:tav tm="0">
                                          <p:val>
                                            <p:strVal val="#ppt_y+#ppt_h*1.125000"/>
                                          </p:val>
                                        </p:tav>
                                        <p:tav tm="100000">
                                          <p:val>
                                            <p:strVal val="#ppt_y"/>
                                          </p:val>
                                        </p:tav>
                                      </p:tavLst>
                                    </p:anim>
                                    <p:animEffect transition="in" filter="wipe(up)">
                                      <p:cBhvr>
                                        <p:cTn id="91" dur="500"/>
                                        <p:tgtEl>
                                          <p:spTgt spid="67"/>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74"/>
                                        </p:tgtEl>
                                        <p:attrNameLst>
                                          <p:attrName>style.visibility</p:attrName>
                                        </p:attrNameLst>
                                      </p:cBhvr>
                                      <p:to>
                                        <p:strVal val="visible"/>
                                      </p:to>
                                    </p:set>
                                    <p:anim calcmode="lin" valueType="num">
                                      <p:cBhvr additive="base">
                                        <p:cTn id="96" dur="500" fill="hold"/>
                                        <p:tgtEl>
                                          <p:spTgt spid="74"/>
                                        </p:tgtEl>
                                        <p:attrNameLst>
                                          <p:attrName>ppt_x</p:attrName>
                                        </p:attrNameLst>
                                      </p:cBhvr>
                                      <p:tavLst>
                                        <p:tav tm="0">
                                          <p:val>
                                            <p:strVal val="#ppt_x"/>
                                          </p:val>
                                        </p:tav>
                                        <p:tav tm="100000">
                                          <p:val>
                                            <p:strVal val="#ppt_x"/>
                                          </p:val>
                                        </p:tav>
                                      </p:tavLst>
                                    </p:anim>
                                    <p:anim calcmode="lin" valueType="num">
                                      <p:cBhvr additive="base">
                                        <p:cTn id="97"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8" grpId="0"/>
      <p:bldP spid="69" grpId="0"/>
      <p:bldP spid="70" grpId="0"/>
      <p:bldP spid="71" grpId="0"/>
      <p:bldP spid="72" grpId="0"/>
      <p:bldP spid="73" grpId="0"/>
      <p:bldP spid="7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30</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4001899600"/>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4001899600"/>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10823100" y="2055793"/>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10796020" y="2572187"/>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p:graphicFrame>
        <p:nvGraphicFramePr>
          <p:cNvPr id="59" name="对象 58">
            <a:extLst>
              <a:ext uri="{FF2B5EF4-FFF2-40B4-BE49-F238E27FC236}">
                <a16:creationId xmlns:a16="http://schemas.microsoft.com/office/drawing/2014/main" id="{F80AEFAA-F226-42A1-B3BE-3F6B3145AB4B}"/>
              </a:ext>
            </a:extLst>
          </p:cNvPr>
          <p:cNvGraphicFramePr>
            <a:graphicFrameLocks noChangeAspect="1"/>
          </p:cNvGraphicFramePr>
          <p:nvPr/>
        </p:nvGraphicFramePr>
        <p:xfrm>
          <a:off x="5114925" y="479425"/>
          <a:ext cx="2790825" cy="530225"/>
        </p:xfrm>
        <a:graphic>
          <a:graphicData uri="http://schemas.openxmlformats.org/presentationml/2006/ole">
            <mc:AlternateContent xmlns:mc="http://schemas.openxmlformats.org/markup-compatibility/2006">
              <mc:Choice xmlns:v="urn:schemas-microsoft-com:vml" Requires="v">
                <p:oleObj name="Equation" r:id="rId4" imgW="1473120" imgH="279360" progId="Equation.DSMT4">
                  <p:embed/>
                </p:oleObj>
              </mc:Choice>
              <mc:Fallback>
                <p:oleObj name="Equation" r:id="rId4" imgW="1473120" imgH="279360" progId="Equation.DSMT4">
                  <p:embed/>
                  <p:pic>
                    <p:nvPicPr>
                      <p:cNvPr id="59" name="对象 58">
                        <a:extLst>
                          <a:ext uri="{FF2B5EF4-FFF2-40B4-BE49-F238E27FC236}">
                            <a16:creationId xmlns:a16="http://schemas.microsoft.com/office/drawing/2014/main" id="{F80AEFAA-F226-42A1-B3BE-3F6B3145AB4B}"/>
                          </a:ext>
                        </a:extLst>
                      </p:cNvPr>
                      <p:cNvPicPr/>
                      <p:nvPr/>
                    </p:nvPicPr>
                    <p:blipFill>
                      <a:blip r:embed="rId5"/>
                      <a:stretch>
                        <a:fillRect/>
                      </a:stretch>
                    </p:blipFill>
                    <p:spPr>
                      <a:xfrm>
                        <a:off x="5114925" y="479425"/>
                        <a:ext cx="2790825" cy="53022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8DCE219F-6646-4219-AD27-1C0E6703718D}"/>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5"/>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66" name="矩形 65">
                <a:extLst>
                  <a:ext uri="{FF2B5EF4-FFF2-40B4-BE49-F238E27FC236}">
                    <a16:creationId xmlns:a16="http://schemas.microsoft.com/office/drawing/2014/main" id="{8DCE219F-6646-4219-AD27-1C0E6703718D}"/>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6"/>
                <a:stretch>
                  <a:fillRect l="-3675" t="-10294" r="-580" b="-16176"/>
                </a:stretch>
              </a:blipFill>
            </p:spPr>
            <p:txBody>
              <a:bodyPr/>
              <a:lstStyle/>
              <a:p>
                <a:r>
                  <a:rPr lang="zh-CN" altLang="en-US">
                    <a:noFill/>
                  </a:rPr>
                  <a:t> </a:t>
                </a:r>
              </a:p>
            </p:txBody>
          </p:sp>
        </mc:Fallback>
      </mc:AlternateContent>
      <p:sp>
        <p:nvSpPr>
          <p:cNvPr id="68" name="矩形 67">
            <a:extLst>
              <a:ext uri="{FF2B5EF4-FFF2-40B4-BE49-F238E27FC236}">
                <a16:creationId xmlns:a16="http://schemas.microsoft.com/office/drawing/2014/main" id="{45767E9E-F7AF-4E5A-8634-2BF4A4B1CC82}"/>
              </a:ext>
            </a:extLst>
          </p:cNvPr>
          <p:cNvSpPr/>
          <p:nvPr/>
        </p:nvSpPr>
        <p:spPr>
          <a:xfrm>
            <a:off x="2070656" y="6041749"/>
            <a:ext cx="458780" cy="461665"/>
          </a:xfrm>
          <a:prstGeom prst="rect">
            <a:avLst/>
          </a:prstGeom>
        </p:spPr>
        <p:txBody>
          <a:bodyPr wrap="none">
            <a:spAutoFit/>
          </a:bodyPr>
          <a:lstStyle/>
          <a:p>
            <a:pPr algn="ctr"/>
            <a:r>
              <a:rPr lang="en-US" altLang="zh-CN" sz="2400" dirty="0"/>
              <a:t>-1</a:t>
            </a:r>
            <a:endParaRPr lang="zh-CN" altLang="en-US" sz="2400" dirty="0"/>
          </a:p>
        </p:txBody>
      </p:sp>
      <p:sp>
        <p:nvSpPr>
          <p:cNvPr id="69" name="矩形 68">
            <a:extLst>
              <a:ext uri="{FF2B5EF4-FFF2-40B4-BE49-F238E27FC236}">
                <a16:creationId xmlns:a16="http://schemas.microsoft.com/office/drawing/2014/main" id="{B0F87705-DB3F-446F-B006-F8D816DBE67B}"/>
              </a:ext>
            </a:extLst>
          </p:cNvPr>
          <p:cNvSpPr/>
          <p:nvPr/>
        </p:nvSpPr>
        <p:spPr>
          <a:xfrm>
            <a:off x="2814808" y="6064583"/>
            <a:ext cx="715260" cy="461665"/>
          </a:xfrm>
          <a:prstGeom prst="rect">
            <a:avLst/>
          </a:prstGeom>
        </p:spPr>
        <p:txBody>
          <a:bodyPr wrap="none">
            <a:spAutoFit/>
          </a:bodyPr>
          <a:lstStyle/>
          <a:p>
            <a:pPr algn="ctr"/>
            <a:r>
              <a:rPr lang="en-US" altLang="zh-CN" sz="2400" dirty="0"/>
              <a:t>2-M</a:t>
            </a:r>
            <a:endParaRPr lang="zh-CN" altLang="en-US" sz="2400" dirty="0"/>
          </a:p>
        </p:txBody>
      </p:sp>
      <p:sp>
        <p:nvSpPr>
          <p:cNvPr id="70" name="矩形 69">
            <a:extLst>
              <a:ext uri="{FF2B5EF4-FFF2-40B4-BE49-F238E27FC236}">
                <a16:creationId xmlns:a16="http://schemas.microsoft.com/office/drawing/2014/main" id="{B6487F18-DC7D-47DD-B3EA-52EA82B534E3}"/>
              </a:ext>
            </a:extLst>
          </p:cNvPr>
          <p:cNvSpPr/>
          <p:nvPr/>
        </p:nvSpPr>
        <p:spPr>
          <a:xfrm>
            <a:off x="3912250"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1" name="矩形 70">
            <a:extLst>
              <a:ext uri="{FF2B5EF4-FFF2-40B4-BE49-F238E27FC236}">
                <a16:creationId xmlns:a16="http://schemas.microsoft.com/office/drawing/2014/main" id="{3E0016D2-9831-4887-B73F-BB531E0281EE}"/>
              </a:ext>
            </a:extLst>
          </p:cNvPr>
          <p:cNvSpPr/>
          <p:nvPr/>
        </p:nvSpPr>
        <p:spPr>
          <a:xfrm>
            <a:off x="4780179"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2" name="矩形 71">
            <a:extLst>
              <a:ext uri="{FF2B5EF4-FFF2-40B4-BE49-F238E27FC236}">
                <a16:creationId xmlns:a16="http://schemas.microsoft.com/office/drawing/2014/main" id="{2EFA96BD-C937-4BFE-B729-AA9D0E5A0321}"/>
              </a:ext>
            </a:extLst>
          </p:cNvPr>
          <p:cNvSpPr/>
          <p:nvPr/>
        </p:nvSpPr>
        <p:spPr>
          <a:xfrm>
            <a:off x="5665940" y="6054229"/>
            <a:ext cx="441146" cy="461665"/>
          </a:xfrm>
          <a:prstGeom prst="rect">
            <a:avLst/>
          </a:prstGeom>
        </p:spPr>
        <p:txBody>
          <a:bodyPr wrap="none">
            <a:spAutoFit/>
          </a:bodyPr>
          <a:lstStyle/>
          <a:p>
            <a:pPr algn="ctr"/>
            <a:r>
              <a:rPr lang="en-US" altLang="zh-CN" sz="2400" dirty="0"/>
              <a:t>M</a:t>
            </a:r>
            <a:endParaRPr lang="zh-CN" altLang="en-US" sz="2400" dirty="0"/>
          </a:p>
        </p:txBody>
      </p:sp>
      <p:sp>
        <p:nvSpPr>
          <p:cNvPr id="73" name="矩形 72">
            <a:extLst>
              <a:ext uri="{FF2B5EF4-FFF2-40B4-BE49-F238E27FC236}">
                <a16:creationId xmlns:a16="http://schemas.microsoft.com/office/drawing/2014/main" id="{2AE28031-9AA1-47AD-83F7-CFAB271B0BBF}"/>
              </a:ext>
            </a:extLst>
          </p:cNvPr>
          <p:cNvSpPr/>
          <p:nvPr/>
        </p:nvSpPr>
        <p:spPr>
          <a:xfrm>
            <a:off x="6552128" y="6064582"/>
            <a:ext cx="356188" cy="461665"/>
          </a:xfrm>
          <a:prstGeom prst="rect">
            <a:avLst/>
          </a:prstGeom>
        </p:spPr>
        <p:txBody>
          <a:bodyPr wrap="none">
            <a:spAutoFit/>
          </a:bodyPr>
          <a:lstStyle/>
          <a:p>
            <a:pPr algn="ctr"/>
            <a:r>
              <a:rPr lang="en-US" altLang="zh-CN" sz="2400" dirty="0"/>
              <a:t>0</a:t>
            </a:r>
            <a:endParaRPr lang="zh-CN" altLang="en-US" sz="2400" dirty="0"/>
          </a:p>
        </p:txBody>
      </p:sp>
      <p:sp>
        <p:nvSpPr>
          <p:cNvPr id="74" name="矩形 73">
            <a:extLst>
              <a:ext uri="{FF2B5EF4-FFF2-40B4-BE49-F238E27FC236}">
                <a16:creationId xmlns:a16="http://schemas.microsoft.com/office/drawing/2014/main" id="{A1E26D6F-80FF-4574-8AC2-DF58BD2CB4A4}"/>
              </a:ext>
            </a:extLst>
          </p:cNvPr>
          <p:cNvSpPr/>
          <p:nvPr/>
        </p:nvSpPr>
        <p:spPr>
          <a:xfrm>
            <a:off x="7232486" y="6044696"/>
            <a:ext cx="886782" cy="461665"/>
          </a:xfrm>
          <a:prstGeom prst="rect">
            <a:avLst/>
          </a:prstGeom>
        </p:spPr>
        <p:txBody>
          <a:bodyPr wrap="none">
            <a:spAutoFit/>
          </a:bodyPr>
          <a:lstStyle/>
          <a:p>
            <a:pPr algn="ctr"/>
            <a:r>
              <a:rPr lang="en-US" altLang="zh-CN" sz="2400" dirty="0"/>
              <a:t>3M-1</a:t>
            </a:r>
            <a:endParaRPr lang="zh-CN" altLang="en-US" sz="2400" dirty="0"/>
          </a:p>
        </p:txBody>
      </p:sp>
      <p:sp>
        <p:nvSpPr>
          <p:cNvPr id="46" name="矩形 45">
            <a:extLst>
              <a:ext uri="{FF2B5EF4-FFF2-40B4-BE49-F238E27FC236}">
                <a16:creationId xmlns:a16="http://schemas.microsoft.com/office/drawing/2014/main" id="{243B6EC3-91B1-4388-BDF3-40C50C02C8DD}"/>
              </a:ext>
            </a:extLst>
          </p:cNvPr>
          <p:cNvSpPr/>
          <p:nvPr/>
        </p:nvSpPr>
        <p:spPr>
          <a:xfrm>
            <a:off x="4272523" y="1170478"/>
            <a:ext cx="5546194"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-1, 2-M</a:t>
            </a:r>
            <a:r>
              <a:rPr lang="zh-CN" altLang="en-US" sz="2400" b="1" dirty="0">
                <a:solidFill>
                  <a:srgbClr val="C00000"/>
                </a:solidFill>
              </a:rPr>
              <a:t>是负数，所以当前解不是最优解</a:t>
            </a:r>
            <a:endParaRPr lang="en-US" altLang="zh-CN" sz="2400" b="1" dirty="0">
              <a:solidFill>
                <a:srgbClr val="C00000"/>
              </a:solidFill>
            </a:endParaRPr>
          </a:p>
        </p:txBody>
      </p:sp>
      <p:sp>
        <p:nvSpPr>
          <p:cNvPr id="47" name="矩形 46">
            <a:extLst>
              <a:ext uri="{FF2B5EF4-FFF2-40B4-BE49-F238E27FC236}">
                <a16:creationId xmlns:a16="http://schemas.microsoft.com/office/drawing/2014/main" id="{29334609-C196-4C3A-A903-7557CD3079BF}"/>
              </a:ext>
            </a:extLst>
          </p:cNvPr>
          <p:cNvSpPr/>
          <p:nvPr/>
        </p:nvSpPr>
        <p:spPr>
          <a:xfrm>
            <a:off x="4266857" y="2104162"/>
            <a:ext cx="5546194"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-1  &gt; 2-M</a:t>
            </a:r>
            <a:r>
              <a:rPr lang="zh-CN" altLang="en-US" sz="2400" b="1" dirty="0">
                <a:solidFill>
                  <a:srgbClr val="C00000"/>
                </a:solidFill>
              </a:rPr>
              <a:t>，所以选择</a:t>
            </a:r>
            <a:r>
              <a:rPr lang="en-US" altLang="zh-CN" sz="2400" b="1" dirty="0">
                <a:solidFill>
                  <a:srgbClr val="C00000"/>
                </a:solidFill>
              </a:rPr>
              <a:t>X2</a:t>
            </a:r>
            <a:r>
              <a:rPr lang="zh-CN" altLang="en-US" sz="2400" b="1" dirty="0">
                <a:solidFill>
                  <a:srgbClr val="C00000"/>
                </a:solidFill>
              </a:rPr>
              <a:t>入基</a:t>
            </a:r>
            <a:endParaRPr lang="en-US" altLang="zh-CN" sz="2400" b="1" dirty="0">
              <a:solidFill>
                <a:srgbClr val="C00000"/>
              </a:solidFill>
            </a:endParaRPr>
          </a:p>
        </p:txBody>
      </p:sp>
    </p:spTree>
    <p:extLst>
      <p:ext uri="{BB962C8B-B14F-4D97-AF65-F5344CB8AC3E}">
        <p14:creationId xmlns:p14="http://schemas.microsoft.com/office/powerpoint/2010/main" val="218472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additive="base">
                                        <p:cTn id="12" dur="500" fill="hold"/>
                                        <p:tgtEl>
                                          <p:spTgt spid="47"/>
                                        </p:tgtEl>
                                        <p:attrNameLst>
                                          <p:attrName>ppt_x</p:attrName>
                                        </p:attrNameLst>
                                      </p:cBhvr>
                                      <p:tavLst>
                                        <p:tav tm="0">
                                          <p:val>
                                            <p:strVal val="#ppt_x"/>
                                          </p:val>
                                        </p:tav>
                                        <p:tav tm="100000">
                                          <p:val>
                                            <p:strVal val="#ppt_x"/>
                                          </p:val>
                                        </p:tav>
                                      </p:tavLst>
                                    </p:anim>
                                    <p:anim calcmode="lin" valueType="num">
                                      <p:cBhvr additive="base">
                                        <p:cTn id="13"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31</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M</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10823100" y="2055793"/>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10796020" y="2572187"/>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mc:AlternateContent xmlns:mc="http://schemas.openxmlformats.org/markup-compatibility/2006" xmlns:a14="http://schemas.microsoft.com/office/drawing/2010/main">
        <mc:Choice Requires="a14">
          <p:sp>
            <p:nvSpPr>
              <p:cNvPr id="66" name="矩形 65">
                <a:extLst>
                  <a:ext uri="{FF2B5EF4-FFF2-40B4-BE49-F238E27FC236}">
                    <a16:creationId xmlns:a16="http://schemas.microsoft.com/office/drawing/2014/main" id="{8DCE219F-6646-4219-AD27-1C0E6703718D}"/>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5"/>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66" name="矩形 65">
                <a:extLst>
                  <a:ext uri="{FF2B5EF4-FFF2-40B4-BE49-F238E27FC236}">
                    <a16:creationId xmlns:a16="http://schemas.microsoft.com/office/drawing/2014/main" id="{8DCE219F-6646-4219-AD27-1C0E6703718D}"/>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4"/>
                <a:stretch>
                  <a:fillRect l="-3675" t="-10294" r="-580" b="-16176"/>
                </a:stretch>
              </a:blipFill>
            </p:spPr>
            <p:txBody>
              <a:bodyPr/>
              <a:lstStyle/>
              <a:p>
                <a:r>
                  <a:rPr lang="zh-CN" altLang="en-US">
                    <a:noFill/>
                  </a:rPr>
                  <a:t> </a:t>
                </a:r>
              </a:p>
            </p:txBody>
          </p:sp>
        </mc:Fallback>
      </mc:AlternateContent>
      <p:sp>
        <p:nvSpPr>
          <p:cNvPr id="68" name="矩形 67">
            <a:extLst>
              <a:ext uri="{FF2B5EF4-FFF2-40B4-BE49-F238E27FC236}">
                <a16:creationId xmlns:a16="http://schemas.microsoft.com/office/drawing/2014/main" id="{45767E9E-F7AF-4E5A-8634-2BF4A4B1CC82}"/>
              </a:ext>
            </a:extLst>
          </p:cNvPr>
          <p:cNvSpPr/>
          <p:nvPr/>
        </p:nvSpPr>
        <p:spPr>
          <a:xfrm>
            <a:off x="2070656" y="6041749"/>
            <a:ext cx="458780" cy="461665"/>
          </a:xfrm>
          <a:prstGeom prst="rect">
            <a:avLst/>
          </a:prstGeom>
        </p:spPr>
        <p:txBody>
          <a:bodyPr wrap="none">
            <a:spAutoFit/>
          </a:bodyPr>
          <a:lstStyle/>
          <a:p>
            <a:pPr algn="ctr"/>
            <a:r>
              <a:rPr lang="en-US" altLang="zh-CN" sz="2400" dirty="0"/>
              <a:t>-1</a:t>
            </a:r>
            <a:endParaRPr lang="zh-CN" altLang="en-US" sz="2400" dirty="0"/>
          </a:p>
        </p:txBody>
      </p:sp>
      <p:sp>
        <p:nvSpPr>
          <p:cNvPr id="69" name="矩形 68">
            <a:extLst>
              <a:ext uri="{FF2B5EF4-FFF2-40B4-BE49-F238E27FC236}">
                <a16:creationId xmlns:a16="http://schemas.microsoft.com/office/drawing/2014/main" id="{B0F87705-DB3F-446F-B006-F8D816DBE67B}"/>
              </a:ext>
            </a:extLst>
          </p:cNvPr>
          <p:cNvSpPr/>
          <p:nvPr/>
        </p:nvSpPr>
        <p:spPr>
          <a:xfrm>
            <a:off x="2814808" y="6064583"/>
            <a:ext cx="715260" cy="461665"/>
          </a:xfrm>
          <a:prstGeom prst="rect">
            <a:avLst/>
          </a:prstGeom>
        </p:spPr>
        <p:txBody>
          <a:bodyPr wrap="none">
            <a:spAutoFit/>
          </a:bodyPr>
          <a:lstStyle/>
          <a:p>
            <a:pPr algn="ctr"/>
            <a:r>
              <a:rPr lang="en-US" altLang="zh-CN" sz="2400" dirty="0"/>
              <a:t>2-M</a:t>
            </a:r>
            <a:endParaRPr lang="zh-CN" altLang="en-US" sz="2400" dirty="0"/>
          </a:p>
        </p:txBody>
      </p:sp>
      <p:sp>
        <p:nvSpPr>
          <p:cNvPr id="70" name="矩形 69">
            <a:extLst>
              <a:ext uri="{FF2B5EF4-FFF2-40B4-BE49-F238E27FC236}">
                <a16:creationId xmlns:a16="http://schemas.microsoft.com/office/drawing/2014/main" id="{B6487F18-DC7D-47DD-B3EA-52EA82B534E3}"/>
              </a:ext>
            </a:extLst>
          </p:cNvPr>
          <p:cNvSpPr/>
          <p:nvPr/>
        </p:nvSpPr>
        <p:spPr>
          <a:xfrm>
            <a:off x="3912250"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1" name="矩形 70">
            <a:extLst>
              <a:ext uri="{FF2B5EF4-FFF2-40B4-BE49-F238E27FC236}">
                <a16:creationId xmlns:a16="http://schemas.microsoft.com/office/drawing/2014/main" id="{3E0016D2-9831-4887-B73F-BB531E0281EE}"/>
              </a:ext>
            </a:extLst>
          </p:cNvPr>
          <p:cNvSpPr/>
          <p:nvPr/>
        </p:nvSpPr>
        <p:spPr>
          <a:xfrm>
            <a:off x="4780179"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2" name="矩形 71">
            <a:extLst>
              <a:ext uri="{FF2B5EF4-FFF2-40B4-BE49-F238E27FC236}">
                <a16:creationId xmlns:a16="http://schemas.microsoft.com/office/drawing/2014/main" id="{2EFA96BD-C937-4BFE-B729-AA9D0E5A0321}"/>
              </a:ext>
            </a:extLst>
          </p:cNvPr>
          <p:cNvSpPr/>
          <p:nvPr/>
        </p:nvSpPr>
        <p:spPr>
          <a:xfrm>
            <a:off x="5665940" y="6054229"/>
            <a:ext cx="441146" cy="461665"/>
          </a:xfrm>
          <a:prstGeom prst="rect">
            <a:avLst/>
          </a:prstGeom>
        </p:spPr>
        <p:txBody>
          <a:bodyPr wrap="none">
            <a:spAutoFit/>
          </a:bodyPr>
          <a:lstStyle/>
          <a:p>
            <a:pPr algn="ctr"/>
            <a:r>
              <a:rPr lang="en-US" altLang="zh-CN" sz="2400" dirty="0"/>
              <a:t>M</a:t>
            </a:r>
            <a:endParaRPr lang="zh-CN" altLang="en-US" sz="2400" dirty="0"/>
          </a:p>
        </p:txBody>
      </p:sp>
      <p:sp>
        <p:nvSpPr>
          <p:cNvPr id="73" name="矩形 72">
            <a:extLst>
              <a:ext uri="{FF2B5EF4-FFF2-40B4-BE49-F238E27FC236}">
                <a16:creationId xmlns:a16="http://schemas.microsoft.com/office/drawing/2014/main" id="{2AE28031-9AA1-47AD-83F7-CFAB271B0BBF}"/>
              </a:ext>
            </a:extLst>
          </p:cNvPr>
          <p:cNvSpPr/>
          <p:nvPr/>
        </p:nvSpPr>
        <p:spPr>
          <a:xfrm>
            <a:off x="6552128" y="6064582"/>
            <a:ext cx="356188" cy="461665"/>
          </a:xfrm>
          <a:prstGeom prst="rect">
            <a:avLst/>
          </a:prstGeom>
        </p:spPr>
        <p:txBody>
          <a:bodyPr wrap="none">
            <a:spAutoFit/>
          </a:bodyPr>
          <a:lstStyle/>
          <a:p>
            <a:pPr algn="ctr"/>
            <a:r>
              <a:rPr lang="en-US" altLang="zh-CN" sz="2400" dirty="0"/>
              <a:t>0</a:t>
            </a:r>
            <a:endParaRPr lang="zh-CN" altLang="en-US" sz="2400" dirty="0"/>
          </a:p>
        </p:txBody>
      </p:sp>
      <p:sp>
        <p:nvSpPr>
          <p:cNvPr id="74" name="矩形 73">
            <a:extLst>
              <a:ext uri="{FF2B5EF4-FFF2-40B4-BE49-F238E27FC236}">
                <a16:creationId xmlns:a16="http://schemas.microsoft.com/office/drawing/2014/main" id="{A1E26D6F-80FF-4574-8AC2-DF58BD2CB4A4}"/>
              </a:ext>
            </a:extLst>
          </p:cNvPr>
          <p:cNvSpPr/>
          <p:nvPr/>
        </p:nvSpPr>
        <p:spPr>
          <a:xfrm>
            <a:off x="7232486" y="6044696"/>
            <a:ext cx="886782" cy="461665"/>
          </a:xfrm>
          <a:prstGeom prst="rect">
            <a:avLst/>
          </a:prstGeom>
        </p:spPr>
        <p:txBody>
          <a:bodyPr wrap="none">
            <a:spAutoFit/>
          </a:bodyPr>
          <a:lstStyle/>
          <a:p>
            <a:pPr algn="ctr"/>
            <a:r>
              <a:rPr lang="en-US" altLang="zh-CN" sz="2400" dirty="0"/>
              <a:t>3M-1</a:t>
            </a:r>
            <a:endParaRPr lang="zh-CN" altLang="en-US" sz="2400" dirty="0"/>
          </a:p>
        </p:txBody>
      </p:sp>
      <p:sp>
        <p:nvSpPr>
          <p:cNvPr id="41" name="矩形 40">
            <a:extLst>
              <a:ext uri="{FF2B5EF4-FFF2-40B4-BE49-F238E27FC236}">
                <a16:creationId xmlns:a16="http://schemas.microsoft.com/office/drawing/2014/main" id="{CC60694C-F0D1-4E93-848A-DAF1830AB8B6}"/>
              </a:ext>
            </a:extLst>
          </p:cNvPr>
          <p:cNvSpPr/>
          <p:nvPr/>
        </p:nvSpPr>
        <p:spPr>
          <a:xfrm>
            <a:off x="4245237" y="492767"/>
            <a:ext cx="5546194"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X2 </a:t>
            </a:r>
            <a:r>
              <a:rPr lang="zh-CN" altLang="en-US" sz="2400" b="1" dirty="0">
                <a:solidFill>
                  <a:srgbClr val="C00000"/>
                </a:solidFill>
              </a:rPr>
              <a:t>入基</a:t>
            </a:r>
            <a:endParaRPr lang="en-US" altLang="zh-CN" sz="2400" b="1" dirty="0">
              <a:solidFill>
                <a:srgbClr val="C00000"/>
              </a:solidFill>
            </a:endParaRPr>
          </a:p>
        </p:txBody>
      </p:sp>
      <p:graphicFrame>
        <p:nvGraphicFramePr>
          <p:cNvPr id="45" name="对象 44">
            <a:extLst>
              <a:ext uri="{FF2B5EF4-FFF2-40B4-BE49-F238E27FC236}">
                <a16:creationId xmlns:a16="http://schemas.microsoft.com/office/drawing/2014/main" id="{45A31A08-C335-451B-A54A-F7ADCD37F24C}"/>
              </a:ext>
            </a:extLst>
          </p:cNvPr>
          <p:cNvGraphicFramePr>
            <a:graphicFrameLocks noChangeAspect="1"/>
          </p:cNvGraphicFramePr>
          <p:nvPr>
            <p:extLst>
              <p:ext uri="{D42A27DB-BD31-4B8C-83A1-F6EECF244321}">
                <p14:modId xmlns:p14="http://schemas.microsoft.com/office/powerpoint/2010/main" val="1700307072"/>
              </p:ext>
            </p:extLst>
          </p:nvPr>
        </p:nvGraphicFramePr>
        <p:xfrm>
          <a:off x="4318000" y="1095375"/>
          <a:ext cx="1847850" cy="900113"/>
        </p:xfrm>
        <a:graphic>
          <a:graphicData uri="http://schemas.openxmlformats.org/presentationml/2006/ole">
            <mc:AlternateContent xmlns:mc="http://schemas.openxmlformats.org/markup-compatibility/2006">
              <mc:Choice xmlns:v="urn:schemas-microsoft-com:vml" Requires="v">
                <p:oleObj name="Equation" r:id="rId5" imgW="812520" imgH="393480" progId="Equation.DSMT4">
                  <p:embed/>
                </p:oleObj>
              </mc:Choice>
              <mc:Fallback>
                <p:oleObj name="Equation" r:id="rId5" imgW="812520" imgH="393480" progId="Equation.DSMT4">
                  <p:embed/>
                  <p:pic>
                    <p:nvPicPr>
                      <p:cNvPr id="30" name="对象 29">
                        <a:extLst>
                          <a:ext uri="{FF2B5EF4-FFF2-40B4-BE49-F238E27FC236}">
                            <a16:creationId xmlns:a16="http://schemas.microsoft.com/office/drawing/2014/main" id="{F168BC81-38FB-4723-B082-B4BEEE3BE41D}"/>
                          </a:ext>
                        </a:extLst>
                      </p:cNvPr>
                      <p:cNvPicPr/>
                      <p:nvPr/>
                    </p:nvPicPr>
                    <p:blipFill>
                      <a:blip r:embed="rId6"/>
                      <a:stretch>
                        <a:fillRect/>
                      </a:stretch>
                    </p:blipFill>
                    <p:spPr>
                      <a:xfrm>
                        <a:off x="4318000" y="1095375"/>
                        <a:ext cx="1847850" cy="900113"/>
                      </a:xfrm>
                      <a:prstGeom prst="rect">
                        <a:avLst/>
                      </a:prstGeom>
                    </p:spPr>
                  </p:pic>
                </p:oleObj>
              </mc:Fallback>
            </mc:AlternateContent>
          </a:graphicData>
        </a:graphic>
      </p:graphicFrame>
      <p:graphicFrame>
        <p:nvGraphicFramePr>
          <p:cNvPr id="48" name="对象 47">
            <a:extLst>
              <a:ext uri="{FF2B5EF4-FFF2-40B4-BE49-F238E27FC236}">
                <a16:creationId xmlns:a16="http://schemas.microsoft.com/office/drawing/2014/main" id="{2C2A0949-0193-4896-B371-CD37612D6DB2}"/>
              </a:ext>
            </a:extLst>
          </p:cNvPr>
          <p:cNvGraphicFramePr>
            <a:graphicFrameLocks noChangeAspect="1"/>
          </p:cNvGraphicFramePr>
          <p:nvPr>
            <p:extLst>
              <p:ext uri="{D42A27DB-BD31-4B8C-83A1-F6EECF244321}">
                <p14:modId xmlns:p14="http://schemas.microsoft.com/office/powerpoint/2010/main" val="1710002509"/>
              </p:ext>
            </p:extLst>
          </p:nvPr>
        </p:nvGraphicFramePr>
        <p:xfrm>
          <a:off x="6581775" y="1077913"/>
          <a:ext cx="1384300" cy="900112"/>
        </p:xfrm>
        <a:graphic>
          <a:graphicData uri="http://schemas.openxmlformats.org/presentationml/2006/ole">
            <mc:AlternateContent xmlns:mc="http://schemas.openxmlformats.org/markup-compatibility/2006">
              <mc:Choice xmlns:v="urn:schemas-microsoft-com:vml" Requires="v">
                <p:oleObj name="Equation" r:id="rId7" imgW="609480" imgH="393480" progId="Equation.DSMT4">
                  <p:embed/>
                </p:oleObj>
              </mc:Choice>
              <mc:Fallback>
                <p:oleObj name="Equation" r:id="rId7" imgW="609480" imgH="393480" progId="Equation.DSMT4">
                  <p:embed/>
                  <p:pic>
                    <p:nvPicPr>
                      <p:cNvPr id="40" name="对象 39">
                        <a:extLst>
                          <a:ext uri="{FF2B5EF4-FFF2-40B4-BE49-F238E27FC236}">
                            <a16:creationId xmlns:a16="http://schemas.microsoft.com/office/drawing/2014/main" id="{96D38B1C-27FB-4553-A3B4-48AC6C398DE7}"/>
                          </a:ext>
                        </a:extLst>
                      </p:cNvPr>
                      <p:cNvPicPr/>
                      <p:nvPr/>
                    </p:nvPicPr>
                    <p:blipFill>
                      <a:blip r:embed="rId8"/>
                      <a:stretch>
                        <a:fillRect/>
                      </a:stretch>
                    </p:blipFill>
                    <p:spPr>
                      <a:xfrm>
                        <a:off x="6581775" y="1077913"/>
                        <a:ext cx="1384300" cy="900112"/>
                      </a:xfrm>
                      <a:prstGeom prst="rect">
                        <a:avLst/>
                      </a:prstGeom>
                    </p:spPr>
                  </p:pic>
                </p:oleObj>
              </mc:Fallback>
            </mc:AlternateContent>
          </a:graphicData>
        </a:graphic>
      </p:graphicFrame>
      <p:graphicFrame>
        <p:nvGraphicFramePr>
          <p:cNvPr id="49" name="对象 48">
            <a:extLst>
              <a:ext uri="{FF2B5EF4-FFF2-40B4-BE49-F238E27FC236}">
                <a16:creationId xmlns:a16="http://schemas.microsoft.com/office/drawing/2014/main" id="{AF341A07-FE87-4BE6-B7E8-17440D5282E9}"/>
              </a:ext>
            </a:extLst>
          </p:cNvPr>
          <p:cNvGraphicFramePr>
            <a:graphicFrameLocks noChangeAspect="1"/>
          </p:cNvGraphicFramePr>
          <p:nvPr>
            <p:extLst>
              <p:ext uri="{D42A27DB-BD31-4B8C-83A1-F6EECF244321}">
                <p14:modId xmlns:p14="http://schemas.microsoft.com/office/powerpoint/2010/main" val="1593402356"/>
              </p:ext>
            </p:extLst>
          </p:nvPr>
        </p:nvGraphicFramePr>
        <p:xfrm>
          <a:off x="4043363" y="1995488"/>
          <a:ext cx="2049462" cy="900112"/>
        </p:xfrm>
        <a:graphic>
          <a:graphicData uri="http://schemas.openxmlformats.org/presentationml/2006/ole">
            <mc:AlternateContent xmlns:mc="http://schemas.openxmlformats.org/markup-compatibility/2006">
              <mc:Choice xmlns:v="urn:schemas-microsoft-com:vml" Requires="v">
                <p:oleObj name="Equation" r:id="rId9" imgW="901440" imgH="393480" progId="Equation.DSMT4">
                  <p:embed/>
                </p:oleObj>
              </mc:Choice>
              <mc:Fallback>
                <p:oleObj name="Equation" r:id="rId9" imgW="901440" imgH="393480" progId="Equation.DSMT4">
                  <p:embed/>
                  <p:pic>
                    <p:nvPicPr>
                      <p:cNvPr id="41" name="对象 40">
                        <a:extLst>
                          <a:ext uri="{FF2B5EF4-FFF2-40B4-BE49-F238E27FC236}">
                            <a16:creationId xmlns:a16="http://schemas.microsoft.com/office/drawing/2014/main" id="{5E9181D6-A29D-485D-AC3F-40ABA431B444}"/>
                          </a:ext>
                        </a:extLst>
                      </p:cNvPr>
                      <p:cNvPicPr/>
                      <p:nvPr/>
                    </p:nvPicPr>
                    <p:blipFill>
                      <a:blip r:embed="rId10"/>
                      <a:stretch>
                        <a:fillRect/>
                      </a:stretch>
                    </p:blipFill>
                    <p:spPr>
                      <a:xfrm>
                        <a:off x="4043363" y="1995488"/>
                        <a:ext cx="2049462" cy="900112"/>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10E19231-B995-4427-9F95-7CD91F0EAC2D}"/>
                  </a:ext>
                </a:extLst>
              </p:cNvPr>
              <p:cNvSpPr/>
              <p:nvPr/>
            </p:nvSpPr>
            <p:spPr>
              <a:xfrm>
                <a:off x="9179529" y="4437112"/>
                <a:ext cx="48923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51" name="矩形 50">
                <a:extLst>
                  <a:ext uri="{FF2B5EF4-FFF2-40B4-BE49-F238E27FC236}">
                    <a16:creationId xmlns:a16="http://schemas.microsoft.com/office/drawing/2014/main" id="{10E19231-B995-4427-9F95-7CD91F0EAC2D}"/>
                  </a:ext>
                </a:extLst>
              </p:cNvPr>
              <p:cNvSpPr>
                <a:spLocks noRot="1" noChangeAspect="1" noMove="1" noResize="1" noEditPoints="1" noAdjustHandles="1" noChangeArrowheads="1" noChangeShapeType="1" noTextEdit="1"/>
              </p:cNvSpPr>
              <p:nvPr/>
            </p:nvSpPr>
            <p:spPr>
              <a:xfrm>
                <a:off x="9179529" y="4437112"/>
                <a:ext cx="489236" cy="461665"/>
              </a:xfrm>
              <a:prstGeom prst="rect">
                <a:avLst/>
              </a:prstGeom>
              <a:blipFill>
                <a:blip r:embed="rId11"/>
                <a:stretch>
                  <a:fillRect/>
                </a:stretch>
              </a:blipFill>
            </p:spPr>
            <p:txBody>
              <a:bodyPr/>
              <a:lstStyle/>
              <a:p>
                <a:r>
                  <a:rPr lang="zh-CN" altLang="en-US">
                    <a:noFill/>
                  </a:rPr>
                  <a:t> </a:t>
                </a:r>
              </a:p>
            </p:txBody>
          </p:sp>
        </mc:Fallback>
      </mc:AlternateContent>
      <p:sp>
        <p:nvSpPr>
          <p:cNvPr id="52" name="矩形 51">
            <a:extLst>
              <a:ext uri="{FF2B5EF4-FFF2-40B4-BE49-F238E27FC236}">
                <a16:creationId xmlns:a16="http://schemas.microsoft.com/office/drawing/2014/main" id="{0349DFD5-DDF3-495A-BB54-3C05504B39B0}"/>
              </a:ext>
            </a:extLst>
          </p:cNvPr>
          <p:cNvSpPr/>
          <p:nvPr/>
        </p:nvSpPr>
        <p:spPr>
          <a:xfrm>
            <a:off x="9218972" y="4953506"/>
            <a:ext cx="356187" cy="461665"/>
          </a:xfrm>
          <a:prstGeom prst="rect">
            <a:avLst/>
          </a:prstGeom>
        </p:spPr>
        <p:txBody>
          <a:bodyPr wrap="none">
            <a:spAutoFit/>
          </a:bodyPr>
          <a:lstStyle/>
          <a:p>
            <a:pPr algn="ctr"/>
            <a:r>
              <a:rPr lang="en-US" altLang="zh-CN" sz="2400" dirty="0"/>
              <a:t>1</a:t>
            </a:r>
            <a:endParaRPr lang="zh-CN" altLang="en-US" sz="2400" dirty="0"/>
          </a:p>
        </p:txBody>
      </p:sp>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8927F9FC-F8E5-4A40-BEDC-74F88F7AE94D}"/>
                  </a:ext>
                </a:extLst>
              </p:cNvPr>
              <p:cNvSpPr/>
              <p:nvPr/>
            </p:nvSpPr>
            <p:spPr>
              <a:xfrm>
                <a:off x="9215499" y="5522847"/>
                <a:ext cx="48923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53" name="矩形 52">
                <a:extLst>
                  <a:ext uri="{FF2B5EF4-FFF2-40B4-BE49-F238E27FC236}">
                    <a16:creationId xmlns:a16="http://schemas.microsoft.com/office/drawing/2014/main" id="{8927F9FC-F8E5-4A40-BEDC-74F88F7AE94D}"/>
                  </a:ext>
                </a:extLst>
              </p:cNvPr>
              <p:cNvSpPr>
                <a:spLocks noRot="1" noChangeAspect="1" noMove="1" noResize="1" noEditPoints="1" noAdjustHandles="1" noChangeArrowheads="1" noChangeShapeType="1" noTextEdit="1"/>
              </p:cNvSpPr>
              <p:nvPr/>
            </p:nvSpPr>
            <p:spPr>
              <a:xfrm>
                <a:off x="9215499" y="5522847"/>
                <a:ext cx="489236" cy="461665"/>
              </a:xfrm>
              <a:prstGeom prst="rect">
                <a:avLst/>
              </a:prstGeom>
              <a:blipFill>
                <a:blip r:embed="rId12"/>
                <a:stretch>
                  <a:fillRect/>
                </a:stretch>
              </a:blipFill>
            </p:spPr>
            <p:txBody>
              <a:bodyPr/>
              <a:lstStyle/>
              <a:p>
                <a:r>
                  <a:rPr lang="zh-CN" altLang="en-US">
                    <a:noFill/>
                  </a:rPr>
                  <a:t> </a:t>
                </a:r>
              </a:p>
            </p:txBody>
          </p:sp>
        </mc:Fallback>
      </mc:AlternateContent>
      <p:sp>
        <p:nvSpPr>
          <p:cNvPr id="54" name="矩形 53">
            <a:extLst>
              <a:ext uri="{FF2B5EF4-FFF2-40B4-BE49-F238E27FC236}">
                <a16:creationId xmlns:a16="http://schemas.microsoft.com/office/drawing/2014/main" id="{B541B8D3-4B5E-4E75-8B39-4B8A0A47E08B}"/>
              </a:ext>
            </a:extLst>
          </p:cNvPr>
          <p:cNvSpPr/>
          <p:nvPr/>
        </p:nvSpPr>
        <p:spPr>
          <a:xfrm>
            <a:off x="6730222" y="2416563"/>
            <a:ext cx="2211975"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X6 </a:t>
            </a:r>
            <a:r>
              <a:rPr lang="zh-CN" altLang="en-US" sz="2400" b="1" dirty="0">
                <a:solidFill>
                  <a:srgbClr val="C00000"/>
                </a:solidFill>
              </a:rPr>
              <a:t>离基</a:t>
            </a:r>
            <a:endParaRPr lang="en-US" altLang="zh-CN" sz="2400" b="1" dirty="0">
              <a:solidFill>
                <a:srgbClr val="C00000"/>
              </a:solidFill>
            </a:endParaRPr>
          </a:p>
        </p:txBody>
      </p:sp>
      <p:sp>
        <p:nvSpPr>
          <p:cNvPr id="55" name="椭圆 54">
            <a:extLst>
              <a:ext uri="{FF2B5EF4-FFF2-40B4-BE49-F238E27FC236}">
                <a16:creationId xmlns:a16="http://schemas.microsoft.com/office/drawing/2014/main" id="{BA66591C-31E2-44E5-93BE-B3BE26559C1B}"/>
              </a:ext>
            </a:extLst>
          </p:cNvPr>
          <p:cNvSpPr/>
          <p:nvPr/>
        </p:nvSpPr>
        <p:spPr bwMode="auto">
          <a:xfrm>
            <a:off x="3010373" y="5016712"/>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32776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
                                        </p:tgtEl>
                                        <p:attrNameLst>
                                          <p:attrName>style.visibility</p:attrName>
                                        </p:attrNameLst>
                                      </p:cBhvr>
                                      <p:to>
                                        <p:strVal val="visible"/>
                                      </p:to>
                                    </p:set>
                                    <p:anim calcmode="lin" valueType="num">
                                      <p:cBhvr additive="base">
                                        <p:cTn id="13" dur="500" fill="hold"/>
                                        <p:tgtEl>
                                          <p:spTgt spid="51"/>
                                        </p:tgtEl>
                                        <p:attrNameLst>
                                          <p:attrName>ppt_x</p:attrName>
                                        </p:attrNameLst>
                                      </p:cBhvr>
                                      <p:tavLst>
                                        <p:tav tm="0">
                                          <p:val>
                                            <p:strVal val="#ppt_x"/>
                                          </p:val>
                                        </p:tav>
                                        <p:tav tm="100000">
                                          <p:val>
                                            <p:strVal val="#ppt_x"/>
                                          </p:val>
                                        </p:tav>
                                      </p:tavLst>
                                    </p:anim>
                                    <p:anim calcmode="lin" valueType="num">
                                      <p:cBhvr additive="base">
                                        <p:cTn id="1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ppt_x"/>
                                          </p:val>
                                        </p:tav>
                                        <p:tav tm="100000">
                                          <p:val>
                                            <p:strVal val="#ppt_x"/>
                                          </p:val>
                                        </p:tav>
                                      </p:tavLst>
                                    </p:anim>
                                    <p:anim calcmode="lin" valueType="num">
                                      <p:cBhvr additive="base">
                                        <p:cTn id="2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anim calcmode="lin" valueType="num">
                                      <p:cBhvr additive="base">
                                        <p:cTn id="25" dur="500" fill="hold"/>
                                        <p:tgtEl>
                                          <p:spTgt spid="52"/>
                                        </p:tgtEl>
                                        <p:attrNameLst>
                                          <p:attrName>ppt_x</p:attrName>
                                        </p:attrNameLst>
                                      </p:cBhvr>
                                      <p:tavLst>
                                        <p:tav tm="0">
                                          <p:val>
                                            <p:strVal val="#ppt_x"/>
                                          </p:val>
                                        </p:tav>
                                        <p:tav tm="100000">
                                          <p:val>
                                            <p:strVal val="#ppt_x"/>
                                          </p:val>
                                        </p:tav>
                                      </p:tavLst>
                                    </p:anim>
                                    <p:anim calcmode="lin" valueType="num">
                                      <p:cBhvr additive="base">
                                        <p:cTn id="26"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anim calcmode="lin" valueType="num">
                                      <p:cBhvr additive="base">
                                        <p:cTn id="31" dur="500" fill="hold"/>
                                        <p:tgtEl>
                                          <p:spTgt spid="49"/>
                                        </p:tgtEl>
                                        <p:attrNameLst>
                                          <p:attrName>ppt_x</p:attrName>
                                        </p:attrNameLst>
                                      </p:cBhvr>
                                      <p:tavLst>
                                        <p:tav tm="0">
                                          <p:val>
                                            <p:strVal val="#ppt_x"/>
                                          </p:val>
                                        </p:tav>
                                        <p:tav tm="100000">
                                          <p:val>
                                            <p:strVal val="#ppt_x"/>
                                          </p:val>
                                        </p:tav>
                                      </p:tavLst>
                                    </p:anim>
                                    <p:anim calcmode="lin" valueType="num">
                                      <p:cBhvr additive="base">
                                        <p:cTn id="3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additive="base">
                                        <p:cTn id="37" dur="500" fill="hold"/>
                                        <p:tgtEl>
                                          <p:spTgt spid="53"/>
                                        </p:tgtEl>
                                        <p:attrNameLst>
                                          <p:attrName>ppt_x</p:attrName>
                                        </p:attrNameLst>
                                      </p:cBhvr>
                                      <p:tavLst>
                                        <p:tav tm="0">
                                          <p:val>
                                            <p:strVal val="#ppt_x"/>
                                          </p:val>
                                        </p:tav>
                                        <p:tav tm="100000">
                                          <p:val>
                                            <p:strVal val="#ppt_x"/>
                                          </p:val>
                                        </p:tav>
                                      </p:tavLst>
                                    </p:anim>
                                    <p:anim calcmode="lin" valueType="num">
                                      <p:cBhvr additive="base">
                                        <p:cTn id="3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ipe(down)">
                                      <p:cBhvr>
                                        <p:cTn id="43" dur="500"/>
                                        <p:tgtEl>
                                          <p:spTgt spid="54"/>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barn(inVertical)">
                                      <p:cBhvr>
                                        <p:cTn id="4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4" grpId="0" animBg="1"/>
      <p:bldP spid="5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32</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2"/>
                          <a:stretch>
                            <a:fillRect l="-901370" t="-559" r="-101370" b="-201676"/>
                          </a:stretch>
                        </a:blipFill>
                      </a:tcPr>
                    </a:tc>
                    <a:tc rowSpan="2">
                      <a:txBody>
                        <a:bodyPr/>
                        <a:lstStyle/>
                        <a:p>
                          <a:endParaRPr lang="zh-CN"/>
                        </a:p>
                      </a:txBody>
                      <a:tcPr anchor="ctr">
                        <a:blipFill>
                          <a:blip r:embed="rId2"/>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2"/>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extLst>
              <p:ext uri="{D42A27DB-BD31-4B8C-83A1-F6EECF244321}">
                <p14:modId xmlns:p14="http://schemas.microsoft.com/office/powerpoint/2010/main" val="537796674"/>
              </p:ext>
            </p:extLst>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extLst>
              <p:ext uri="{D42A27DB-BD31-4B8C-83A1-F6EECF244321}">
                <p14:modId xmlns:p14="http://schemas.microsoft.com/office/powerpoint/2010/main" val="3687947163"/>
              </p:ext>
            </p:extLst>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10823100" y="2055793"/>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10796020" y="2572187"/>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p:sp>
        <p:nvSpPr>
          <p:cNvPr id="55" name="椭圆 54">
            <a:extLst>
              <a:ext uri="{FF2B5EF4-FFF2-40B4-BE49-F238E27FC236}">
                <a16:creationId xmlns:a16="http://schemas.microsoft.com/office/drawing/2014/main" id="{BA66591C-31E2-44E5-93BE-B3BE26559C1B}"/>
              </a:ext>
            </a:extLst>
          </p:cNvPr>
          <p:cNvSpPr/>
          <p:nvPr/>
        </p:nvSpPr>
        <p:spPr bwMode="auto">
          <a:xfrm>
            <a:off x="3010373" y="5016712"/>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96F1DAEA-934D-49B5-B47C-04B1ED3CA533}"/>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6"/>
                </a:pPr>
                <a:r>
                  <a:rPr lang="zh-CN" altLang="en-US" sz="2400" dirty="0"/>
                  <a:t>替换基变量，清空</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a:t>
                </a:r>
                <a:endParaRPr lang="en-US" altLang="zh-CN" sz="2400" dirty="0"/>
              </a:p>
            </p:txBody>
          </p:sp>
        </mc:Choice>
        <mc:Fallback xmlns="">
          <p:sp>
            <p:nvSpPr>
              <p:cNvPr id="47" name="矩形 46">
                <a:extLst>
                  <a:ext uri="{FF2B5EF4-FFF2-40B4-BE49-F238E27FC236}">
                    <a16:creationId xmlns:a16="http://schemas.microsoft.com/office/drawing/2014/main" id="{96F1DAEA-934D-49B5-B47C-04B1ED3CA533}"/>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3"/>
                <a:stretch>
                  <a:fillRect l="-3675" t="-10294" r="-580" b="-161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92845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barn(inVertical)">
                                      <p:cBhvr>
                                        <p:cTn id="7" dur="500"/>
                                        <p:tgtEl>
                                          <p:spTgt spid="47">
                                            <p:txEl>
                                              <p:pRg st="0" end="0"/>
                                            </p:tx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5"/>
                                        </p:tgtEl>
                                        <p:attrNameLst>
                                          <p:attrName>style.visibility</p:attrName>
                                        </p:attrNameLst>
                                      </p:cBhvr>
                                      <p:to>
                                        <p:strVal val="visible"/>
                                      </p:to>
                                    </p:set>
                                    <p:animEffect transition="in" filter="wipe(down)">
                                      <p:cBhvr>
                                        <p:cTn id="11" dur="500"/>
                                        <p:tgtEl>
                                          <p:spTgt spid="55"/>
                                        </p:tgtEl>
                                      </p:cBhvr>
                                    </p:animEffect>
                                  </p:childTnLst>
                                </p:cTn>
                              </p:par>
                              <p:par>
                                <p:cTn id="12" presetID="22" presetClass="entr" presetSubtype="4"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down)">
                                      <p:cBhvr>
                                        <p:cTn id="14" dur="500"/>
                                        <p:tgtEl>
                                          <p:spTgt spid="9"/>
                                        </p:tgtEl>
                                      </p:cBhvr>
                                    </p:animEffect>
                                  </p:childTnLst>
                                </p:cTn>
                              </p:par>
                              <p:par>
                                <p:cTn id="15" presetID="22" presetClass="entr" presetSubtype="4"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par>
                                <p:cTn id="18" presetID="22" presetClass="entr" presetSubtype="4"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par>
                                <p:cTn id="21" presetID="22" presetClass="entr" presetSubtype="4"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00"/>
                                        <p:tgtEl>
                                          <p:spTgt spid="12"/>
                                        </p:tgtEl>
                                      </p:cBhvr>
                                    </p:animEffect>
                                  </p:childTnLst>
                                </p:cTn>
                              </p:par>
                              <p:par>
                                <p:cTn id="24" presetID="22" presetClass="entr" presetSubtype="4"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par>
                                <p:cTn id="27" presetID="22" presetClass="entr" presetSubtype="4"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down)">
                                      <p:cBhvr>
                                        <p:cTn id="29" dur="500"/>
                                        <p:tgtEl>
                                          <p:spTgt spid="14"/>
                                        </p:tgtEl>
                                      </p:cBhvr>
                                    </p:animEffect>
                                  </p:childTnLst>
                                </p:cTn>
                              </p:par>
                              <p:par>
                                <p:cTn id="30" presetID="22" presetClass="entr" presetSubtype="4"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down)">
                                      <p:cBhvr>
                                        <p:cTn id="32" dur="500"/>
                                        <p:tgtEl>
                                          <p:spTgt spid="15"/>
                                        </p:tgtEl>
                                      </p:cBhvr>
                                    </p:animEffect>
                                  </p:childTnLst>
                                </p:cTn>
                              </p:par>
                              <p:par>
                                <p:cTn id="33" presetID="22" presetClass="entr" presetSubtype="4"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down)">
                                      <p:cBhvr>
                                        <p:cTn id="35" dur="500"/>
                                        <p:tgtEl>
                                          <p:spTgt spid="16"/>
                                        </p:tgtEl>
                                      </p:cBhvr>
                                    </p:animEffect>
                                  </p:childTnLst>
                                </p:cTn>
                              </p:par>
                              <p:par>
                                <p:cTn id="36" presetID="22" presetClass="entr" presetSubtype="4"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down)">
                                      <p:cBhvr>
                                        <p:cTn id="38" dur="500"/>
                                        <p:tgtEl>
                                          <p:spTgt spid="17"/>
                                        </p:tgtEl>
                                      </p:cBhvr>
                                    </p:animEffect>
                                  </p:childTnLst>
                                </p:cTn>
                              </p:par>
                              <p:par>
                                <p:cTn id="39" presetID="22" presetClass="entr" presetSubtype="4"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par>
                                <p:cTn id="42" presetID="22" presetClass="entr" presetSubtype="4"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down)">
                                      <p:cBhvr>
                                        <p:cTn id="44" dur="500"/>
                                        <p:tgtEl>
                                          <p:spTgt spid="19"/>
                                        </p:tgtEl>
                                      </p:cBhvr>
                                    </p:animEffect>
                                  </p:childTnLst>
                                </p:cTn>
                              </p:par>
                              <p:par>
                                <p:cTn id="45" presetID="22" presetClass="entr" presetSubtype="4"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down)">
                                      <p:cBhvr>
                                        <p:cTn id="47" dur="500"/>
                                        <p:tgtEl>
                                          <p:spTgt spid="20"/>
                                        </p:tgtEl>
                                      </p:cBhvr>
                                    </p:animEffect>
                                  </p:childTnLst>
                                </p:cTn>
                              </p:par>
                              <p:par>
                                <p:cTn id="48" presetID="22" presetClass="entr" presetSubtype="4"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down)">
                                      <p:cBhvr>
                                        <p:cTn id="50" dur="500"/>
                                        <p:tgtEl>
                                          <p:spTgt spid="2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wipe(down)">
                                      <p:cBhvr>
                                        <p:cTn id="53" dur="500"/>
                                        <p:tgtEl>
                                          <p:spTgt spid="31"/>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wipe(down)">
                                      <p:cBhvr>
                                        <p:cTn id="56" dur="500"/>
                                        <p:tgtEl>
                                          <p:spTgt spid="32"/>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down)">
                                      <p:cBhvr>
                                        <p:cTn id="59" dur="500"/>
                                        <p:tgtEl>
                                          <p:spTgt spid="33"/>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down)">
                                      <p:cBhvr>
                                        <p:cTn id="62" dur="500"/>
                                        <p:tgtEl>
                                          <p:spTgt spid="34"/>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wipe(down)">
                                      <p:cBhvr>
                                        <p:cTn id="65" dur="500"/>
                                        <p:tgtEl>
                                          <p:spTgt spid="35"/>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down)">
                                      <p:cBhvr>
                                        <p:cTn id="68" dur="500"/>
                                        <p:tgtEl>
                                          <p:spTgt spid="36"/>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ipe(down)">
                                      <p:cBhvr>
                                        <p:cTn id="71" dur="500"/>
                                        <p:tgtEl>
                                          <p:spTgt spid="37"/>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wipe(down)">
                                      <p:cBhvr>
                                        <p:cTn id="7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p:bldP spid="37" grpId="0"/>
      <p:bldP spid="44" grpId="0"/>
      <p:bldP spid="5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33</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2"/>
                          <a:stretch>
                            <a:fillRect l="-901370" t="-559" r="-101370" b="-201676"/>
                          </a:stretch>
                        </a:blipFill>
                      </a:tcPr>
                    </a:tc>
                    <a:tc rowSpan="2">
                      <a:txBody>
                        <a:bodyPr/>
                        <a:lstStyle/>
                        <a:p>
                          <a:endParaRPr lang="zh-CN"/>
                        </a:p>
                      </a:txBody>
                      <a:tcPr anchor="ctr">
                        <a:blipFill>
                          <a:blip r:embed="rId2"/>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2"/>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10823100" y="2055793"/>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10796020" y="2572187"/>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p:sp>
        <p:nvSpPr>
          <p:cNvPr id="55" name="椭圆 54">
            <a:extLst>
              <a:ext uri="{FF2B5EF4-FFF2-40B4-BE49-F238E27FC236}">
                <a16:creationId xmlns:a16="http://schemas.microsoft.com/office/drawing/2014/main" id="{BA66591C-31E2-44E5-93BE-B3BE26559C1B}"/>
              </a:ext>
            </a:extLst>
          </p:cNvPr>
          <p:cNvSpPr/>
          <p:nvPr/>
        </p:nvSpPr>
        <p:spPr bwMode="auto">
          <a:xfrm>
            <a:off x="3010373" y="5016712"/>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8" name="矩形 37">
            <a:extLst>
              <a:ext uri="{FF2B5EF4-FFF2-40B4-BE49-F238E27FC236}">
                <a16:creationId xmlns:a16="http://schemas.microsoft.com/office/drawing/2014/main" id="{D0FBF0D7-BE5D-4361-A38D-02FE40189CD8}"/>
              </a:ext>
            </a:extLst>
          </p:cNvPr>
          <p:cNvSpPr/>
          <p:nvPr/>
        </p:nvSpPr>
        <p:spPr>
          <a:xfrm>
            <a:off x="644902" y="2104162"/>
            <a:ext cx="3152398" cy="1200329"/>
          </a:xfrm>
          <a:prstGeom prst="rect">
            <a:avLst/>
          </a:prstGeom>
        </p:spPr>
        <p:txBody>
          <a:bodyPr wrap="square">
            <a:spAutoFit/>
          </a:bodyPr>
          <a:lstStyle/>
          <a:p>
            <a:pPr marL="457200" indent="-457200">
              <a:buFont typeface="+mj-ea"/>
              <a:buAutoNum type="circleNumDbPlain" startAt="7"/>
            </a:pPr>
            <a:r>
              <a:rPr lang="zh-CN" altLang="en-US" sz="2400" dirty="0"/>
              <a:t>进行矩阵变换，使得入基的矩阵标准化</a:t>
            </a:r>
            <a:endParaRPr lang="en-US" altLang="zh-CN" sz="2400" dirty="0"/>
          </a:p>
        </p:txBody>
      </p:sp>
      <p:sp>
        <p:nvSpPr>
          <p:cNvPr id="39" name="文本框 38">
            <a:extLst>
              <a:ext uri="{FF2B5EF4-FFF2-40B4-BE49-F238E27FC236}">
                <a16:creationId xmlns:a16="http://schemas.microsoft.com/office/drawing/2014/main" id="{08D1B0FC-2F67-48A0-8E2B-08645D6EA3C8}"/>
              </a:ext>
            </a:extLst>
          </p:cNvPr>
          <p:cNvSpPr txBox="1"/>
          <p:nvPr/>
        </p:nvSpPr>
        <p:spPr>
          <a:xfrm>
            <a:off x="4780981" y="1082798"/>
            <a:ext cx="4158700" cy="461665"/>
          </a:xfrm>
          <a:prstGeom prst="rect">
            <a:avLst/>
          </a:prstGeom>
          <a:noFill/>
        </p:spPr>
        <p:txBody>
          <a:bodyPr wrap="square" rtlCol="0">
            <a:spAutoFit/>
          </a:bodyPr>
          <a:lstStyle/>
          <a:p>
            <a:pPr marL="457200" indent="-457200">
              <a:buFont typeface="+mj-lt"/>
              <a:buAutoNum type="alphaLcParenR"/>
            </a:pPr>
            <a:r>
              <a:rPr lang="zh-CN" altLang="en-US" sz="2400" dirty="0"/>
              <a:t>第二行乘以</a:t>
            </a:r>
            <a:r>
              <a:rPr lang="en-US" altLang="zh-CN" sz="2400" dirty="0"/>
              <a:t>2</a:t>
            </a:r>
            <a:r>
              <a:rPr lang="zh-CN" altLang="en-US" sz="2400" dirty="0"/>
              <a:t>加上第一行</a:t>
            </a:r>
            <a:endParaRPr lang="en-US" altLang="zh-CN" sz="2400" dirty="0"/>
          </a:p>
        </p:txBody>
      </p:sp>
      <p:sp>
        <p:nvSpPr>
          <p:cNvPr id="40" name="矩形 39">
            <a:extLst>
              <a:ext uri="{FF2B5EF4-FFF2-40B4-BE49-F238E27FC236}">
                <a16:creationId xmlns:a16="http://schemas.microsoft.com/office/drawing/2014/main" id="{AD29418A-4524-43DF-9AE2-EBED2824B481}"/>
              </a:ext>
            </a:extLst>
          </p:cNvPr>
          <p:cNvSpPr/>
          <p:nvPr/>
        </p:nvSpPr>
        <p:spPr>
          <a:xfrm>
            <a:off x="9755788" y="2032804"/>
            <a:ext cx="354584" cy="461665"/>
          </a:xfrm>
          <a:prstGeom prst="rect">
            <a:avLst/>
          </a:prstGeom>
        </p:spPr>
        <p:txBody>
          <a:bodyPr wrap="none">
            <a:spAutoFit/>
          </a:bodyPr>
          <a:lstStyle/>
          <a:p>
            <a:pPr algn="ctr"/>
            <a:r>
              <a:rPr lang="en-US" altLang="zh-CN" sz="2400" dirty="0"/>
              <a:t>  </a:t>
            </a:r>
            <a:endParaRPr lang="zh-CN" altLang="en-US" sz="2400" dirty="0"/>
          </a:p>
        </p:txBody>
      </p:sp>
      <p:sp>
        <p:nvSpPr>
          <p:cNvPr id="56" name="矩形 55">
            <a:extLst>
              <a:ext uri="{FF2B5EF4-FFF2-40B4-BE49-F238E27FC236}">
                <a16:creationId xmlns:a16="http://schemas.microsoft.com/office/drawing/2014/main" id="{278CC27A-D552-480A-B5A6-4059DE2E2424}"/>
              </a:ext>
            </a:extLst>
          </p:cNvPr>
          <p:cNvSpPr/>
          <p:nvPr/>
        </p:nvSpPr>
        <p:spPr>
          <a:xfrm>
            <a:off x="3729238" y="4429433"/>
            <a:ext cx="729727"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57" name="矩形 56">
            <a:extLst>
              <a:ext uri="{FF2B5EF4-FFF2-40B4-BE49-F238E27FC236}">
                <a16:creationId xmlns:a16="http://schemas.microsoft.com/office/drawing/2014/main" id="{D79FB53E-E5DE-40D2-ADD3-F3E84FE0F24A}"/>
              </a:ext>
            </a:extLst>
          </p:cNvPr>
          <p:cNvSpPr/>
          <p:nvPr/>
        </p:nvSpPr>
        <p:spPr>
          <a:xfrm>
            <a:off x="4739849" y="4429432"/>
            <a:ext cx="448253"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a:t>
            </a:r>
            <a:endParaRPr lang="zh-CN" altLang="en-US" sz="2400" dirty="0"/>
          </a:p>
        </p:txBody>
      </p:sp>
      <p:sp>
        <p:nvSpPr>
          <p:cNvPr id="58" name="矩形 57">
            <a:extLst>
              <a:ext uri="{FF2B5EF4-FFF2-40B4-BE49-F238E27FC236}">
                <a16:creationId xmlns:a16="http://schemas.microsoft.com/office/drawing/2014/main" id="{A542570C-BE56-4431-BF52-7B81AB4351AE}"/>
              </a:ext>
            </a:extLst>
          </p:cNvPr>
          <p:cNvSpPr/>
          <p:nvPr/>
        </p:nvSpPr>
        <p:spPr>
          <a:xfrm>
            <a:off x="5549608" y="4411330"/>
            <a:ext cx="550187"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-2</a:t>
            </a:r>
            <a:endParaRPr lang="zh-CN" altLang="en-US" sz="2400" dirty="0"/>
          </a:p>
        </p:txBody>
      </p:sp>
      <p:sp>
        <p:nvSpPr>
          <p:cNvPr id="59" name="矩形 58">
            <a:extLst>
              <a:ext uri="{FF2B5EF4-FFF2-40B4-BE49-F238E27FC236}">
                <a16:creationId xmlns:a16="http://schemas.microsoft.com/office/drawing/2014/main" id="{7F2A62CA-5369-413D-8619-385646EF533B}"/>
              </a:ext>
            </a:extLst>
          </p:cNvPr>
          <p:cNvSpPr/>
          <p:nvPr/>
        </p:nvSpPr>
        <p:spPr>
          <a:xfrm>
            <a:off x="6469200" y="4417119"/>
            <a:ext cx="522044"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2</a:t>
            </a:r>
            <a:endParaRPr lang="zh-CN" altLang="en-US" sz="2400" dirty="0"/>
          </a:p>
        </p:txBody>
      </p:sp>
      <p:sp>
        <p:nvSpPr>
          <p:cNvPr id="60" name="矩形 59">
            <a:extLst>
              <a:ext uri="{FF2B5EF4-FFF2-40B4-BE49-F238E27FC236}">
                <a16:creationId xmlns:a16="http://schemas.microsoft.com/office/drawing/2014/main" id="{C60E8E8A-17EA-4905-9D8E-584FD2055072}"/>
              </a:ext>
            </a:extLst>
          </p:cNvPr>
          <p:cNvSpPr/>
          <p:nvPr/>
        </p:nvSpPr>
        <p:spPr>
          <a:xfrm>
            <a:off x="7197045" y="4411330"/>
            <a:ext cx="657879"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-5</a:t>
            </a:r>
            <a:endParaRPr lang="zh-CN" altLang="en-US" sz="2400" dirty="0"/>
          </a:p>
        </p:txBody>
      </p:sp>
      <p:sp>
        <p:nvSpPr>
          <p:cNvPr id="61" name="矩形 60">
            <a:extLst>
              <a:ext uri="{FF2B5EF4-FFF2-40B4-BE49-F238E27FC236}">
                <a16:creationId xmlns:a16="http://schemas.microsoft.com/office/drawing/2014/main" id="{95FB16DA-0D51-4A86-8FEC-FB9421AC2B7E}"/>
              </a:ext>
            </a:extLst>
          </p:cNvPr>
          <p:cNvSpPr/>
          <p:nvPr/>
        </p:nvSpPr>
        <p:spPr>
          <a:xfrm>
            <a:off x="2175127" y="4429433"/>
            <a:ext cx="448253"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3</a:t>
            </a:r>
            <a:endParaRPr lang="zh-CN" altLang="en-US" sz="2400" dirty="0"/>
          </a:p>
        </p:txBody>
      </p:sp>
      <p:sp>
        <p:nvSpPr>
          <p:cNvPr id="62" name="矩形 61">
            <a:extLst>
              <a:ext uri="{FF2B5EF4-FFF2-40B4-BE49-F238E27FC236}">
                <a16:creationId xmlns:a16="http://schemas.microsoft.com/office/drawing/2014/main" id="{1C31E69F-CCD1-4E4E-A6F0-E0FBBAC7C725}"/>
              </a:ext>
            </a:extLst>
          </p:cNvPr>
          <p:cNvSpPr/>
          <p:nvPr/>
        </p:nvSpPr>
        <p:spPr>
          <a:xfrm>
            <a:off x="2997281" y="4429433"/>
            <a:ext cx="550186"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63" name="矩形 62">
            <a:extLst>
              <a:ext uri="{FF2B5EF4-FFF2-40B4-BE49-F238E27FC236}">
                <a16:creationId xmlns:a16="http://schemas.microsoft.com/office/drawing/2014/main" id="{CA0782FE-63D7-4083-BE50-D062BD6F4635}"/>
              </a:ext>
            </a:extLst>
          </p:cNvPr>
          <p:cNvSpPr/>
          <p:nvPr/>
        </p:nvSpPr>
        <p:spPr>
          <a:xfrm>
            <a:off x="8088130" y="4429432"/>
            <a:ext cx="657879"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12</a:t>
            </a:r>
            <a:endParaRPr lang="zh-CN" altLang="en-US" sz="2400" dirty="0"/>
          </a:p>
        </p:txBody>
      </p:sp>
    </p:spTree>
    <p:extLst>
      <p:ext uri="{BB962C8B-B14F-4D97-AF65-F5344CB8AC3E}">
        <p14:creationId xmlns:p14="http://schemas.microsoft.com/office/powerpoint/2010/main" val="340131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 calcmode="lin" valueType="num">
                                      <p:cBhvr additive="base">
                                        <p:cTn id="7"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9">
                                            <p:txEl>
                                              <p:pRg st="0" end="0"/>
                                            </p:txEl>
                                          </p:spTgt>
                                        </p:tgtEl>
                                        <p:attrNameLst>
                                          <p:attrName>style.visibility</p:attrName>
                                        </p:attrNameLst>
                                      </p:cBhvr>
                                      <p:to>
                                        <p:strVal val="visible"/>
                                      </p:to>
                                    </p:set>
                                    <p:anim calcmode="lin" valueType="num">
                                      <p:cBhvr additive="base">
                                        <p:cTn id="13" dur="500" fill="hold"/>
                                        <p:tgtEl>
                                          <p:spTgt spid="3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down)">
                                      <p:cBhvr>
                                        <p:cTn id="19" dur="500"/>
                                        <p:tgtEl>
                                          <p:spTgt spid="6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wipe(down)">
                                      <p:cBhvr>
                                        <p:cTn id="24" dur="500"/>
                                        <p:tgtEl>
                                          <p:spTgt spid="6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wipe(down)">
                                      <p:cBhvr>
                                        <p:cTn id="29" dur="500"/>
                                        <p:tgtEl>
                                          <p:spTgt spid="5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wipe(down)">
                                      <p:cBhvr>
                                        <p:cTn id="34" dur="500"/>
                                        <p:tgtEl>
                                          <p:spTgt spid="5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wipe(down)">
                                      <p:cBhvr>
                                        <p:cTn id="39" dur="500"/>
                                        <p:tgtEl>
                                          <p:spTgt spid="5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wipe(down)">
                                      <p:cBhvr>
                                        <p:cTn id="44" dur="500"/>
                                        <p:tgtEl>
                                          <p:spTgt spid="5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60"/>
                                        </p:tgtEl>
                                        <p:attrNameLst>
                                          <p:attrName>style.visibility</p:attrName>
                                        </p:attrNameLst>
                                      </p:cBhvr>
                                      <p:to>
                                        <p:strVal val="visible"/>
                                      </p:to>
                                    </p:set>
                                    <p:animEffect transition="in" filter="wipe(down)">
                                      <p:cBhvr>
                                        <p:cTn id="49" dur="500"/>
                                        <p:tgtEl>
                                          <p:spTgt spid="6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63"/>
                                        </p:tgtEl>
                                        <p:attrNameLst>
                                          <p:attrName>style.visibility</p:attrName>
                                        </p:attrNameLst>
                                      </p:cBhvr>
                                      <p:to>
                                        <p:strVal val="visible"/>
                                      </p:to>
                                    </p:set>
                                    <p:animEffect transition="in" filter="wipe(down)">
                                      <p:cBhvr>
                                        <p:cTn id="54"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59" grpId="0" animBg="1"/>
      <p:bldP spid="60" grpId="0" animBg="1"/>
      <p:bldP spid="61" grpId="0" animBg="1"/>
      <p:bldP spid="62" grpId="0" animBg="1"/>
      <p:bldP spid="6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34</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2724382357"/>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2724382357"/>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extLst>
              <p:ext uri="{D42A27DB-BD31-4B8C-83A1-F6EECF244321}">
                <p14:modId xmlns:p14="http://schemas.microsoft.com/office/powerpoint/2010/main" val="2057845677"/>
              </p:ext>
            </p:extLst>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extLst>
              <p:ext uri="{D42A27DB-BD31-4B8C-83A1-F6EECF244321}">
                <p14:modId xmlns:p14="http://schemas.microsoft.com/office/powerpoint/2010/main" val="435153375"/>
              </p:ext>
            </p:extLst>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extLst>
              <p:ext uri="{D42A27DB-BD31-4B8C-83A1-F6EECF244321}">
                <p14:modId xmlns:p14="http://schemas.microsoft.com/office/powerpoint/2010/main" val="1977096035"/>
              </p:ext>
            </p:extLst>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extLst>
              <p:ext uri="{D42A27DB-BD31-4B8C-83A1-F6EECF244321}">
                <p14:modId xmlns:p14="http://schemas.microsoft.com/office/powerpoint/2010/main" val="3078397504"/>
              </p:ext>
            </p:extLst>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extLst>
              <p:ext uri="{D42A27DB-BD31-4B8C-83A1-F6EECF244321}">
                <p14:modId xmlns:p14="http://schemas.microsoft.com/office/powerpoint/2010/main" val="2283264870"/>
              </p:ext>
            </p:extLst>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10823100" y="2055793"/>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10796020" y="2572187"/>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p:graphicFrame>
        <p:nvGraphicFramePr>
          <p:cNvPr id="45" name="对象 44">
            <a:extLst>
              <a:ext uri="{FF2B5EF4-FFF2-40B4-BE49-F238E27FC236}">
                <a16:creationId xmlns:a16="http://schemas.microsoft.com/office/drawing/2014/main" id="{1247CE0E-11EE-49A2-8B83-1DE7FC487847}"/>
              </a:ext>
            </a:extLst>
          </p:cNvPr>
          <p:cNvGraphicFramePr>
            <a:graphicFrameLocks noChangeAspect="1"/>
          </p:cNvGraphicFramePr>
          <p:nvPr>
            <p:extLst>
              <p:ext uri="{D42A27DB-BD31-4B8C-83A1-F6EECF244321}">
                <p14:modId xmlns:p14="http://schemas.microsoft.com/office/powerpoint/2010/main" val="4014311580"/>
              </p:ext>
            </p:extLst>
          </p:nvPr>
        </p:nvGraphicFramePr>
        <p:xfrm>
          <a:off x="5114925" y="479425"/>
          <a:ext cx="2790825" cy="530225"/>
        </p:xfrm>
        <a:graphic>
          <a:graphicData uri="http://schemas.openxmlformats.org/presentationml/2006/ole">
            <mc:AlternateContent xmlns:mc="http://schemas.openxmlformats.org/markup-compatibility/2006">
              <mc:Choice xmlns:v="urn:schemas-microsoft-com:vml" Requires="v">
                <p:oleObj name="Equation" r:id="rId4" imgW="1473120" imgH="279360" progId="Equation.DSMT4">
                  <p:embed/>
                </p:oleObj>
              </mc:Choice>
              <mc:Fallback>
                <p:oleObj name="Equation" r:id="rId4" imgW="1473120" imgH="279360" progId="Equation.DSMT4">
                  <p:embed/>
                  <p:pic>
                    <p:nvPicPr>
                      <p:cNvPr id="59" name="对象 58">
                        <a:extLst>
                          <a:ext uri="{FF2B5EF4-FFF2-40B4-BE49-F238E27FC236}">
                            <a16:creationId xmlns:a16="http://schemas.microsoft.com/office/drawing/2014/main" id="{F80AEFAA-F226-42A1-B3BE-3F6B3145AB4B}"/>
                          </a:ext>
                        </a:extLst>
                      </p:cNvPr>
                      <p:cNvPicPr/>
                      <p:nvPr/>
                    </p:nvPicPr>
                    <p:blipFill>
                      <a:blip r:embed="rId5"/>
                      <a:stretch>
                        <a:fillRect/>
                      </a:stretch>
                    </p:blipFill>
                    <p:spPr>
                      <a:xfrm>
                        <a:off x="5114925" y="479425"/>
                        <a:ext cx="2790825" cy="530225"/>
                      </a:xfrm>
                      <a:prstGeom prst="rect">
                        <a:avLst/>
                      </a:prstGeom>
                    </p:spPr>
                  </p:pic>
                </p:oleObj>
              </mc:Fallback>
            </mc:AlternateContent>
          </a:graphicData>
        </a:graphic>
      </p:graphicFrame>
      <p:graphicFrame>
        <p:nvGraphicFramePr>
          <p:cNvPr id="46" name="对象 45">
            <a:extLst>
              <a:ext uri="{FF2B5EF4-FFF2-40B4-BE49-F238E27FC236}">
                <a16:creationId xmlns:a16="http://schemas.microsoft.com/office/drawing/2014/main" id="{6298B407-D3D2-47C7-81AC-BDB25F6211D2}"/>
              </a:ext>
            </a:extLst>
          </p:cNvPr>
          <p:cNvGraphicFramePr>
            <a:graphicFrameLocks noChangeAspect="1"/>
          </p:cNvGraphicFramePr>
          <p:nvPr>
            <p:extLst>
              <p:ext uri="{D42A27DB-BD31-4B8C-83A1-F6EECF244321}">
                <p14:modId xmlns:p14="http://schemas.microsoft.com/office/powerpoint/2010/main" val="2875515342"/>
              </p:ext>
            </p:extLst>
          </p:nvPr>
        </p:nvGraphicFramePr>
        <p:xfrm>
          <a:off x="4268788" y="1017588"/>
          <a:ext cx="3997325" cy="482600"/>
        </p:xfrm>
        <a:graphic>
          <a:graphicData uri="http://schemas.openxmlformats.org/presentationml/2006/ole">
            <mc:AlternateContent xmlns:mc="http://schemas.openxmlformats.org/markup-compatibility/2006">
              <mc:Choice xmlns:v="urn:schemas-microsoft-com:vml" Requires="v">
                <p:oleObj name="Equation" r:id="rId6" imgW="2108160" imgH="253800" progId="Equation.DSMT4">
                  <p:embed/>
                </p:oleObj>
              </mc:Choice>
              <mc:Fallback>
                <p:oleObj name="Equation" r:id="rId6" imgW="2108160" imgH="253800" progId="Equation.DSMT4">
                  <p:embed/>
                  <p:pic>
                    <p:nvPicPr>
                      <p:cNvPr id="60" name="对象 59">
                        <a:extLst>
                          <a:ext uri="{FF2B5EF4-FFF2-40B4-BE49-F238E27FC236}">
                            <a16:creationId xmlns:a16="http://schemas.microsoft.com/office/drawing/2014/main" id="{865C5957-DC63-4811-AC65-4DE379EFAAE2}"/>
                          </a:ext>
                        </a:extLst>
                      </p:cNvPr>
                      <p:cNvPicPr/>
                      <p:nvPr/>
                    </p:nvPicPr>
                    <p:blipFill>
                      <a:blip r:embed="rId7"/>
                      <a:stretch>
                        <a:fillRect/>
                      </a:stretch>
                    </p:blipFill>
                    <p:spPr>
                      <a:xfrm>
                        <a:off x="4268788" y="1017588"/>
                        <a:ext cx="3997325" cy="482600"/>
                      </a:xfrm>
                      <a:prstGeom prst="rect">
                        <a:avLst/>
                      </a:prstGeom>
                    </p:spPr>
                  </p:pic>
                </p:oleObj>
              </mc:Fallback>
            </mc:AlternateContent>
          </a:graphicData>
        </a:graphic>
      </p:graphicFrame>
      <p:graphicFrame>
        <p:nvGraphicFramePr>
          <p:cNvPr id="47" name="对象 46">
            <a:extLst>
              <a:ext uri="{FF2B5EF4-FFF2-40B4-BE49-F238E27FC236}">
                <a16:creationId xmlns:a16="http://schemas.microsoft.com/office/drawing/2014/main" id="{FF6B0AD8-5DE1-4506-B776-499F21F703B5}"/>
              </a:ext>
            </a:extLst>
          </p:cNvPr>
          <p:cNvGraphicFramePr>
            <a:graphicFrameLocks noChangeAspect="1"/>
          </p:cNvGraphicFramePr>
          <p:nvPr>
            <p:extLst>
              <p:ext uri="{D42A27DB-BD31-4B8C-83A1-F6EECF244321}">
                <p14:modId xmlns:p14="http://schemas.microsoft.com/office/powerpoint/2010/main" val="884044981"/>
              </p:ext>
            </p:extLst>
          </p:nvPr>
        </p:nvGraphicFramePr>
        <p:xfrm>
          <a:off x="4287085" y="1291260"/>
          <a:ext cx="3540125" cy="482600"/>
        </p:xfrm>
        <a:graphic>
          <a:graphicData uri="http://schemas.openxmlformats.org/presentationml/2006/ole">
            <mc:AlternateContent xmlns:mc="http://schemas.openxmlformats.org/markup-compatibility/2006">
              <mc:Choice xmlns:v="urn:schemas-microsoft-com:vml" Requires="v">
                <p:oleObj name="Equation" r:id="rId8" imgW="1866600" imgH="253800" progId="Equation.DSMT4">
                  <p:embed/>
                </p:oleObj>
              </mc:Choice>
              <mc:Fallback>
                <p:oleObj name="Equation" r:id="rId8" imgW="1866600" imgH="253800" progId="Equation.DSMT4">
                  <p:embed/>
                  <p:pic>
                    <p:nvPicPr>
                      <p:cNvPr id="61" name="对象 60">
                        <a:extLst>
                          <a:ext uri="{FF2B5EF4-FFF2-40B4-BE49-F238E27FC236}">
                            <a16:creationId xmlns:a16="http://schemas.microsoft.com/office/drawing/2014/main" id="{3AA5B9FD-2D55-445B-978A-ADD38E7D1425}"/>
                          </a:ext>
                        </a:extLst>
                      </p:cNvPr>
                      <p:cNvPicPr/>
                      <p:nvPr/>
                    </p:nvPicPr>
                    <p:blipFill>
                      <a:blip r:embed="rId9"/>
                      <a:stretch>
                        <a:fillRect/>
                      </a:stretch>
                    </p:blipFill>
                    <p:spPr>
                      <a:xfrm>
                        <a:off x="4287085" y="1291260"/>
                        <a:ext cx="3540125" cy="482600"/>
                      </a:xfrm>
                      <a:prstGeom prst="rect">
                        <a:avLst/>
                      </a:prstGeom>
                    </p:spPr>
                  </p:pic>
                </p:oleObj>
              </mc:Fallback>
            </mc:AlternateContent>
          </a:graphicData>
        </a:graphic>
      </p:graphicFrame>
      <p:graphicFrame>
        <p:nvGraphicFramePr>
          <p:cNvPr id="48" name="对象 47">
            <a:extLst>
              <a:ext uri="{FF2B5EF4-FFF2-40B4-BE49-F238E27FC236}">
                <a16:creationId xmlns:a16="http://schemas.microsoft.com/office/drawing/2014/main" id="{F37620EC-FE41-4D40-9315-AE90AADF929E}"/>
              </a:ext>
            </a:extLst>
          </p:cNvPr>
          <p:cNvGraphicFramePr>
            <a:graphicFrameLocks noChangeAspect="1"/>
          </p:cNvGraphicFramePr>
          <p:nvPr>
            <p:extLst>
              <p:ext uri="{D42A27DB-BD31-4B8C-83A1-F6EECF244321}">
                <p14:modId xmlns:p14="http://schemas.microsoft.com/office/powerpoint/2010/main" val="4158796851"/>
              </p:ext>
            </p:extLst>
          </p:nvPr>
        </p:nvGraphicFramePr>
        <p:xfrm>
          <a:off x="4268788" y="1611313"/>
          <a:ext cx="3467100" cy="482600"/>
        </p:xfrm>
        <a:graphic>
          <a:graphicData uri="http://schemas.openxmlformats.org/presentationml/2006/ole">
            <mc:AlternateContent xmlns:mc="http://schemas.openxmlformats.org/markup-compatibility/2006">
              <mc:Choice xmlns:v="urn:schemas-microsoft-com:vml" Requires="v">
                <p:oleObj name="Equation" r:id="rId10" imgW="1828800" imgH="253800" progId="Equation.DSMT4">
                  <p:embed/>
                </p:oleObj>
              </mc:Choice>
              <mc:Fallback>
                <p:oleObj name="Equation" r:id="rId10" imgW="1828800" imgH="253800" progId="Equation.DSMT4">
                  <p:embed/>
                  <p:pic>
                    <p:nvPicPr>
                      <p:cNvPr id="62" name="对象 61">
                        <a:extLst>
                          <a:ext uri="{FF2B5EF4-FFF2-40B4-BE49-F238E27FC236}">
                            <a16:creationId xmlns:a16="http://schemas.microsoft.com/office/drawing/2014/main" id="{88ADAD35-099E-4F4E-98B5-D4F6311C6A38}"/>
                          </a:ext>
                        </a:extLst>
                      </p:cNvPr>
                      <p:cNvPicPr/>
                      <p:nvPr/>
                    </p:nvPicPr>
                    <p:blipFill>
                      <a:blip r:embed="rId11"/>
                      <a:stretch>
                        <a:fillRect/>
                      </a:stretch>
                    </p:blipFill>
                    <p:spPr>
                      <a:xfrm>
                        <a:off x="4268788" y="1611313"/>
                        <a:ext cx="3467100" cy="482600"/>
                      </a:xfrm>
                      <a:prstGeom prst="rect">
                        <a:avLst/>
                      </a:prstGeom>
                    </p:spPr>
                  </p:pic>
                </p:oleObj>
              </mc:Fallback>
            </mc:AlternateContent>
          </a:graphicData>
        </a:graphic>
      </p:graphicFrame>
      <p:graphicFrame>
        <p:nvGraphicFramePr>
          <p:cNvPr id="49" name="对象 48">
            <a:extLst>
              <a:ext uri="{FF2B5EF4-FFF2-40B4-BE49-F238E27FC236}">
                <a16:creationId xmlns:a16="http://schemas.microsoft.com/office/drawing/2014/main" id="{0FC3CC9F-BDCC-4638-8779-0320F34800F8}"/>
              </a:ext>
            </a:extLst>
          </p:cNvPr>
          <p:cNvGraphicFramePr>
            <a:graphicFrameLocks noChangeAspect="1"/>
          </p:cNvGraphicFramePr>
          <p:nvPr>
            <p:extLst>
              <p:ext uri="{D42A27DB-BD31-4B8C-83A1-F6EECF244321}">
                <p14:modId xmlns:p14="http://schemas.microsoft.com/office/powerpoint/2010/main" val="511615890"/>
              </p:ext>
            </p:extLst>
          </p:nvPr>
        </p:nvGraphicFramePr>
        <p:xfrm>
          <a:off x="4281488" y="1909763"/>
          <a:ext cx="3540125" cy="482600"/>
        </p:xfrm>
        <a:graphic>
          <a:graphicData uri="http://schemas.openxmlformats.org/presentationml/2006/ole">
            <mc:AlternateContent xmlns:mc="http://schemas.openxmlformats.org/markup-compatibility/2006">
              <mc:Choice xmlns:v="urn:schemas-microsoft-com:vml" Requires="v">
                <p:oleObj name="Equation" r:id="rId12" imgW="1866600" imgH="253800" progId="Equation.DSMT4">
                  <p:embed/>
                </p:oleObj>
              </mc:Choice>
              <mc:Fallback>
                <p:oleObj name="Equation" r:id="rId12" imgW="1866600" imgH="253800" progId="Equation.DSMT4">
                  <p:embed/>
                  <p:pic>
                    <p:nvPicPr>
                      <p:cNvPr id="63" name="对象 62">
                        <a:extLst>
                          <a:ext uri="{FF2B5EF4-FFF2-40B4-BE49-F238E27FC236}">
                            <a16:creationId xmlns:a16="http://schemas.microsoft.com/office/drawing/2014/main" id="{50EB28C8-04D2-40ED-A9E7-F816E5CD3C8A}"/>
                          </a:ext>
                        </a:extLst>
                      </p:cNvPr>
                      <p:cNvPicPr/>
                      <p:nvPr/>
                    </p:nvPicPr>
                    <p:blipFill>
                      <a:blip r:embed="rId13"/>
                      <a:stretch>
                        <a:fillRect/>
                      </a:stretch>
                    </p:blipFill>
                    <p:spPr>
                      <a:xfrm>
                        <a:off x="4281488" y="1909763"/>
                        <a:ext cx="3540125" cy="482600"/>
                      </a:xfrm>
                      <a:prstGeom prst="rect">
                        <a:avLst/>
                      </a:prstGeom>
                    </p:spPr>
                  </p:pic>
                </p:oleObj>
              </mc:Fallback>
            </mc:AlternateContent>
          </a:graphicData>
        </a:graphic>
      </p:graphicFrame>
      <p:graphicFrame>
        <p:nvGraphicFramePr>
          <p:cNvPr id="51" name="对象 50">
            <a:extLst>
              <a:ext uri="{FF2B5EF4-FFF2-40B4-BE49-F238E27FC236}">
                <a16:creationId xmlns:a16="http://schemas.microsoft.com/office/drawing/2014/main" id="{478CAC07-64BE-4A71-B62E-398CA8ABA836}"/>
              </a:ext>
            </a:extLst>
          </p:cNvPr>
          <p:cNvGraphicFramePr>
            <a:graphicFrameLocks noChangeAspect="1"/>
          </p:cNvGraphicFramePr>
          <p:nvPr>
            <p:extLst>
              <p:ext uri="{D42A27DB-BD31-4B8C-83A1-F6EECF244321}">
                <p14:modId xmlns:p14="http://schemas.microsoft.com/office/powerpoint/2010/main" val="1685170766"/>
              </p:ext>
            </p:extLst>
          </p:nvPr>
        </p:nvGraphicFramePr>
        <p:xfrm>
          <a:off x="4281488" y="2227014"/>
          <a:ext cx="3876675" cy="482600"/>
        </p:xfrm>
        <a:graphic>
          <a:graphicData uri="http://schemas.openxmlformats.org/presentationml/2006/ole">
            <mc:AlternateContent xmlns:mc="http://schemas.openxmlformats.org/markup-compatibility/2006">
              <mc:Choice xmlns:v="urn:schemas-microsoft-com:vml" Requires="v">
                <p:oleObj name="Equation" r:id="rId14" imgW="2044440" imgH="253800" progId="Equation.DSMT4">
                  <p:embed/>
                </p:oleObj>
              </mc:Choice>
              <mc:Fallback>
                <p:oleObj name="Equation" r:id="rId14" imgW="2044440" imgH="253800" progId="Equation.DSMT4">
                  <p:embed/>
                  <p:pic>
                    <p:nvPicPr>
                      <p:cNvPr id="64" name="对象 63">
                        <a:extLst>
                          <a:ext uri="{FF2B5EF4-FFF2-40B4-BE49-F238E27FC236}">
                            <a16:creationId xmlns:a16="http://schemas.microsoft.com/office/drawing/2014/main" id="{7D72CA59-0CE8-4DCA-858F-6AFB33BE8E3E}"/>
                          </a:ext>
                        </a:extLst>
                      </p:cNvPr>
                      <p:cNvPicPr/>
                      <p:nvPr/>
                    </p:nvPicPr>
                    <p:blipFill>
                      <a:blip r:embed="rId15"/>
                      <a:stretch>
                        <a:fillRect/>
                      </a:stretch>
                    </p:blipFill>
                    <p:spPr>
                      <a:xfrm>
                        <a:off x="4281488" y="2227014"/>
                        <a:ext cx="3876675" cy="482600"/>
                      </a:xfrm>
                      <a:prstGeom prst="rect">
                        <a:avLst/>
                      </a:prstGeom>
                    </p:spPr>
                  </p:pic>
                </p:oleObj>
              </mc:Fallback>
            </mc:AlternateContent>
          </a:graphicData>
        </a:graphic>
      </p:graphicFrame>
      <p:graphicFrame>
        <p:nvGraphicFramePr>
          <p:cNvPr id="52" name="对象 51">
            <a:extLst>
              <a:ext uri="{FF2B5EF4-FFF2-40B4-BE49-F238E27FC236}">
                <a16:creationId xmlns:a16="http://schemas.microsoft.com/office/drawing/2014/main" id="{2321D9BA-056A-4382-9E8E-5470333B747C}"/>
              </a:ext>
            </a:extLst>
          </p:cNvPr>
          <p:cNvGraphicFramePr>
            <a:graphicFrameLocks noChangeAspect="1"/>
          </p:cNvGraphicFramePr>
          <p:nvPr>
            <p:extLst>
              <p:ext uri="{D42A27DB-BD31-4B8C-83A1-F6EECF244321}">
                <p14:modId xmlns:p14="http://schemas.microsoft.com/office/powerpoint/2010/main" val="2606462357"/>
              </p:ext>
            </p:extLst>
          </p:nvPr>
        </p:nvGraphicFramePr>
        <p:xfrm>
          <a:off x="4267636" y="2503717"/>
          <a:ext cx="4238625" cy="482600"/>
        </p:xfrm>
        <a:graphic>
          <a:graphicData uri="http://schemas.openxmlformats.org/presentationml/2006/ole">
            <mc:AlternateContent xmlns:mc="http://schemas.openxmlformats.org/markup-compatibility/2006">
              <mc:Choice xmlns:v="urn:schemas-microsoft-com:vml" Requires="v">
                <p:oleObj name="Equation" r:id="rId16" imgW="2234880" imgH="253800" progId="Equation.DSMT4">
                  <p:embed/>
                </p:oleObj>
              </mc:Choice>
              <mc:Fallback>
                <p:oleObj name="Equation" r:id="rId16" imgW="2234880" imgH="253800" progId="Equation.DSMT4">
                  <p:embed/>
                  <p:pic>
                    <p:nvPicPr>
                      <p:cNvPr id="65" name="对象 64">
                        <a:extLst>
                          <a:ext uri="{FF2B5EF4-FFF2-40B4-BE49-F238E27FC236}">
                            <a16:creationId xmlns:a16="http://schemas.microsoft.com/office/drawing/2014/main" id="{338B5788-9AAE-46B8-B1E1-5BB8C3CF6BF3}"/>
                          </a:ext>
                        </a:extLst>
                      </p:cNvPr>
                      <p:cNvPicPr/>
                      <p:nvPr/>
                    </p:nvPicPr>
                    <p:blipFill>
                      <a:blip r:embed="rId17"/>
                      <a:stretch>
                        <a:fillRect/>
                      </a:stretch>
                    </p:blipFill>
                    <p:spPr>
                      <a:xfrm>
                        <a:off x="4267636" y="2503717"/>
                        <a:ext cx="4238625" cy="4826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E9C10BEA-F22F-41F1-889C-49D039266B06}"/>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8"/>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53" name="矩形 52">
                <a:extLst>
                  <a:ext uri="{FF2B5EF4-FFF2-40B4-BE49-F238E27FC236}">
                    <a16:creationId xmlns:a16="http://schemas.microsoft.com/office/drawing/2014/main" id="{E9C10BEA-F22F-41F1-889C-49D039266B06}"/>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18"/>
                <a:stretch>
                  <a:fillRect l="-3675" t="-10294" r="-580" b="-16176"/>
                </a:stretch>
              </a:blipFill>
            </p:spPr>
            <p:txBody>
              <a:bodyPr/>
              <a:lstStyle/>
              <a:p>
                <a:r>
                  <a:rPr lang="zh-CN" altLang="en-US">
                    <a:noFill/>
                  </a:rPr>
                  <a:t> </a:t>
                </a:r>
              </a:p>
            </p:txBody>
          </p:sp>
        </mc:Fallback>
      </mc:AlternateContent>
      <p:graphicFrame>
        <p:nvGraphicFramePr>
          <p:cNvPr id="54" name="对象 53">
            <a:extLst>
              <a:ext uri="{FF2B5EF4-FFF2-40B4-BE49-F238E27FC236}">
                <a16:creationId xmlns:a16="http://schemas.microsoft.com/office/drawing/2014/main" id="{AEB8BFB5-8D10-4E31-A6CA-3A48EC258AE2}"/>
              </a:ext>
            </a:extLst>
          </p:cNvPr>
          <p:cNvGraphicFramePr>
            <a:graphicFrameLocks noChangeAspect="1"/>
          </p:cNvGraphicFramePr>
          <p:nvPr>
            <p:extLst>
              <p:ext uri="{D42A27DB-BD31-4B8C-83A1-F6EECF244321}">
                <p14:modId xmlns:p14="http://schemas.microsoft.com/office/powerpoint/2010/main" val="1221197878"/>
              </p:ext>
            </p:extLst>
          </p:nvPr>
        </p:nvGraphicFramePr>
        <p:xfrm>
          <a:off x="4267636" y="2825207"/>
          <a:ext cx="4332287" cy="482600"/>
        </p:xfrm>
        <a:graphic>
          <a:graphicData uri="http://schemas.openxmlformats.org/presentationml/2006/ole">
            <mc:AlternateContent xmlns:mc="http://schemas.openxmlformats.org/markup-compatibility/2006">
              <mc:Choice xmlns:v="urn:schemas-microsoft-com:vml" Requires="v">
                <p:oleObj name="Equation" r:id="rId19" imgW="2286000" imgH="253800" progId="Equation.DSMT4">
                  <p:embed/>
                </p:oleObj>
              </mc:Choice>
              <mc:Fallback>
                <p:oleObj name="Equation" r:id="rId19" imgW="2286000" imgH="253800" progId="Equation.DSMT4">
                  <p:embed/>
                  <p:pic>
                    <p:nvPicPr>
                      <p:cNvPr id="67" name="对象 66">
                        <a:extLst>
                          <a:ext uri="{FF2B5EF4-FFF2-40B4-BE49-F238E27FC236}">
                            <a16:creationId xmlns:a16="http://schemas.microsoft.com/office/drawing/2014/main" id="{A7C2A5EA-7332-441A-9767-FC0FA63A261B}"/>
                          </a:ext>
                        </a:extLst>
                      </p:cNvPr>
                      <p:cNvPicPr/>
                      <p:nvPr/>
                    </p:nvPicPr>
                    <p:blipFill>
                      <a:blip r:embed="rId20"/>
                      <a:stretch>
                        <a:fillRect/>
                      </a:stretch>
                    </p:blipFill>
                    <p:spPr>
                      <a:xfrm>
                        <a:off x="4267636" y="2825207"/>
                        <a:ext cx="4332287" cy="482600"/>
                      </a:xfrm>
                      <a:prstGeom prst="rect">
                        <a:avLst/>
                      </a:prstGeom>
                    </p:spPr>
                  </p:pic>
                </p:oleObj>
              </mc:Fallback>
            </mc:AlternateContent>
          </a:graphicData>
        </a:graphic>
      </p:graphicFrame>
      <p:sp>
        <p:nvSpPr>
          <p:cNvPr id="64" name="矩形 63">
            <a:extLst>
              <a:ext uri="{FF2B5EF4-FFF2-40B4-BE49-F238E27FC236}">
                <a16:creationId xmlns:a16="http://schemas.microsoft.com/office/drawing/2014/main" id="{787BF55F-DE97-4494-9630-5B2F266AD90F}"/>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65" name="矩形 64">
            <a:extLst>
              <a:ext uri="{FF2B5EF4-FFF2-40B4-BE49-F238E27FC236}">
                <a16:creationId xmlns:a16="http://schemas.microsoft.com/office/drawing/2014/main" id="{7AFB7CB8-26EA-4704-AADC-58524DDF6FE3}"/>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66" name="矩形 65">
            <a:extLst>
              <a:ext uri="{FF2B5EF4-FFF2-40B4-BE49-F238E27FC236}">
                <a16:creationId xmlns:a16="http://schemas.microsoft.com/office/drawing/2014/main" id="{DF717F9B-5EF1-492D-B12B-6FB2B372CA30}"/>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7" name="矩形 66">
            <a:extLst>
              <a:ext uri="{FF2B5EF4-FFF2-40B4-BE49-F238E27FC236}">
                <a16:creationId xmlns:a16="http://schemas.microsoft.com/office/drawing/2014/main" id="{5452DB67-1100-4F7B-BC5A-863927A2D043}"/>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8" name="矩形 67">
            <a:extLst>
              <a:ext uri="{FF2B5EF4-FFF2-40B4-BE49-F238E27FC236}">
                <a16:creationId xmlns:a16="http://schemas.microsoft.com/office/drawing/2014/main" id="{192C620A-4B3C-4DEC-9DD0-3CB0ADA45903}"/>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69" name="矩形 68">
            <a:extLst>
              <a:ext uri="{FF2B5EF4-FFF2-40B4-BE49-F238E27FC236}">
                <a16:creationId xmlns:a16="http://schemas.microsoft.com/office/drawing/2014/main" id="{B6B15ACF-26CD-4DC5-AB05-1BC89FB0A99B}"/>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70" name="矩形 69">
            <a:extLst>
              <a:ext uri="{FF2B5EF4-FFF2-40B4-BE49-F238E27FC236}">
                <a16:creationId xmlns:a16="http://schemas.microsoft.com/office/drawing/2014/main" id="{A7472471-C3E1-460B-A965-28F07153C41D}"/>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71" name="矩形 70">
            <a:extLst>
              <a:ext uri="{FF2B5EF4-FFF2-40B4-BE49-F238E27FC236}">
                <a16:creationId xmlns:a16="http://schemas.microsoft.com/office/drawing/2014/main" id="{DC1407EC-FB0A-439B-937E-5A354BC13769}"/>
              </a:ext>
            </a:extLst>
          </p:cNvPr>
          <p:cNvSpPr/>
          <p:nvPr/>
        </p:nvSpPr>
        <p:spPr>
          <a:xfrm>
            <a:off x="2070656" y="6041749"/>
            <a:ext cx="458780" cy="461665"/>
          </a:xfrm>
          <a:prstGeom prst="rect">
            <a:avLst/>
          </a:prstGeom>
        </p:spPr>
        <p:txBody>
          <a:bodyPr wrap="none">
            <a:spAutoFit/>
          </a:bodyPr>
          <a:lstStyle/>
          <a:p>
            <a:pPr algn="ctr"/>
            <a:r>
              <a:rPr lang="en-US" altLang="zh-CN" sz="2400" dirty="0"/>
              <a:t>-1</a:t>
            </a:r>
            <a:endParaRPr lang="zh-CN" altLang="en-US" sz="2400" dirty="0"/>
          </a:p>
        </p:txBody>
      </p:sp>
      <p:sp>
        <p:nvSpPr>
          <p:cNvPr id="72" name="矩形 71">
            <a:extLst>
              <a:ext uri="{FF2B5EF4-FFF2-40B4-BE49-F238E27FC236}">
                <a16:creationId xmlns:a16="http://schemas.microsoft.com/office/drawing/2014/main" id="{0AA4A28E-A00A-4945-8608-10066DD0A1EF}"/>
              </a:ext>
            </a:extLst>
          </p:cNvPr>
          <p:cNvSpPr/>
          <p:nvPr/>
        </p:nvSpPr>
        <p:spPr>
          <a:xfrm>
            <a:off x="2994344" y="6064583"/>
            <a:ext cx="356188" cy="461665"/>
          </a:xfrm>
          <a:prstGeom prst="rect">
            <a:avLst/>
          </a:prstGeom>
        </p:spPr>
        <p:txBody>
          <a:bodyPr wrap="none">
            <a:spAutoFit/>
          </a:bodyPr>
          <a:lstStyle/>
          <a:p>
            <a:pPr algn="ctr"/>
            <a:r>
              <a:rPr lang="en-US" altLang="zh-CN" sz="2400" dirty="0"/>
              <a:t>0</a:t>
            </a:r>
            <a:endParaRPr lang="zh-CN" altLang="en-US" sz="2400" dirty="0"/>
          </a:p>
        </p:txBody>
      </p:sp>
      <p:sp>
        <p:nvSpPr>
          <p:cNvPr id="73" name="矩形 72">
            <a:extLst>
              <a:ext uri="{FF2B5EF4-FFF2-40B4-BE49-F238E27FC236}">
                <a16:creationId xmlns:a16="http://schemas.microsoft.com/office/drawing/2014/main" id="{77ECEC2B-65B0-4D28-9115-BC6A07D9BA7A}"/>
              </a:ext>
            </a:extLst>
          </p:cNvPr>
          <p:cNvSpPr/>
          <p:nvPr/>
        </p:nvSpPr>
        <p:spPr>
          <a:xfrm>
            <a:off x="3912250"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4" name="矩形 73">
            <a:extLst>
              <a:ext uri="{FF2B5EF4-FFF2-40B4-BE49-F238E27FC236}">
                <a16:creationId xmlns:a16="http://schemas.microsoft.com/office/drawing/2014/main" id="{3F7498EB-CE24-424A-872E-E9768DF90AB1}"/>
              </a:ext>
            </a:extLst>
          </p:cNvPr>
          <p:cNvSpPr/>
          <p:nvPr/>
        </p:nvSpPr>
        <p:spPr>
          <a:xfrm>
            <a:off x="4780179"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5" name="矩形 74">
            <a:extLst>
              <a:ext uri="{FF2B5EF4-FFF2-40B4-BE49-F238E27FC236}">
                <a16:creationId xmlns:a16="http://schemas.microsoft.com/office/drawing/2014/main" id="{73C46057-9A45-45C1-A5F3-75A9DE1FCEE5}"/>
              </a:ext>
            </a:extLst>
          </p:cNvPr>
          <p:cNvSpPr/>
          <p:nvPr/>
        </p:nvSpPr>
        <p:spPr>
          <a:xfrm>
            <a:off x="5708419" y="6054229"/>
            <a:ext cx="356187" cy="461665"/>
          </a:xfrm>
          <a:prstGeom prst="rect">
            <a:avLst/>
          </a:prstGeom>
        </p:spPr>
        <p:txBody>
          <a:bodyPr wrap="none">
            <a:spAutoFit/>
          </a:bodyPr>
          <a:lstStyle/>
          <a:p>
            <a:pPr algn="ctr"/>
            <a:r>
              <a:rPr lang="en-US" altLang="zh-CN" sz="2400" dirty="0"/>
              <a:t>2</a:t>
            </a:r>
            <a:endParaRPr lang="zh-CN" altLang="en-US" sz="2400" dirty="0"/>
          </a:p>
        </p:txBody>
      </p:sp>
      <p:sp>
        <p:nvSpPr>
          <p:cNvPr id="76" name="矩形 75">
            <a:extLst>
              <a:ext uri="{FF2B5EF4-FFF2-40B4-BE49-F238E27FC236}">
                <a16:creationId xmlns:a16="http://schemas.microsoft.com/office/drawing/2014/main" id="{F1F6D441-0F9D-4F36-98E9-99626C00039E}"/>
              </a:ext>
            </a:extLst>
          </p:cNvPr>
          <p:cNvSpPr/>
          <p:nvPr/>
        </p:nvSpPr>
        <p:spPr>
          <a:xfrm>
            <a:off x="6372592" y="6064582"/>
            <a:ext cx="715260" cy="461665"/>
          </a:xfrm>
          <a:prstGeom prst="rect">
            <a:avLst/>
          </a:prstGeom>
        </p:spPr>
        <p:txBody>
          <a:bodyPr wrap="none">
            <a:spAutoFit/>
          </a:bodyPr>
          <a:lstStyle/>
          <a:p>
            <a:pPr algn="ctr"/>
            <a:r>
              <a:rPr lang="en-US" altLang="zh-CN" sz="2400" dirty="0"/>
              <a:t>M-2</a:t>
            </a:r>
            <a:endParaRPr lang="zh-CN" altLang="en-US" sz="2400" dirty="0"/>
          </a:p>
        </p:txBody>
      </p:sp>
      <p:sp>
        <p:nvSpPr>
          <p:cNvPr id="77" name="矩形 76">
            <a:extLst>
              <a:ext uri="{FF2B5EF4-FFF2-40B4-BE49-F238E27FC236}">
                <a16:creationId xmlns:a16="http://schemas.microsoft.com/office/drawing/2014/main" id="{98BD8F6E-D9D6-4C66-8425-418F7B6A7371}"/>
              </a:ext>
            </a:extLst>
          </p:cNvPr>
          <p:cNvSpPr/>
          <p:nvPr/>
        </p:nvSpPr>
        <p:spPr>
          <a:xfrm>
            <a:off x="7279774" y="6044696"/>
            <a:ext cx="792205" cy="461665"/>
          </a:xfrm>
          <a:prstGeom prst="rect">
            <a:avLst/>
          </a:prstGeom>
        </p:spPr>
        <p:txBody>
          <a:bodyPr wrap="none">
            <a:spAutoFit/>
          </a:bodyPr>
          <a:lstStyle/>
          <a:p>
            <a:pPr algn="ctr"/>
            <a:r>
              <a:rPr lang="en-US" altLang="zh-CN" sz="2400" dirty="0"/>
              <a:t>M+3</a:t>
            </a:r>
            <a:endParaRPr lang="zh-CN" altLang="en-US" sz="2400" dirty="0"/>
          </a:p>
        </p:txBody>
      </p:sp>
    </p:spTree>
    <p:extLst>
      <p:ext uri="{BB962C8B-B14F-4D97-AF65-F5344CB8AC3E}">
        <p14:creationId xmlns:p14="http://schemas.microsoft.com/office/powerpoint/2010/main" val="212343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wipe(down)">
                                      <p:cBhvr>
                                        <p:cTn id="13" dur="500"/>
                                        <p:tgtEl>
                                          <p:spTgt spid="4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46"/>
                                        </p:tgtEl>
                                        <p:attrNameLst>
                                          <p:attrName>style.visibility</p:attrName>
                                        </p:attrNameLst>
                                      </p:cBhvr>
                                      <p:to>
                                        <p:strVal val="visible"/>
                                      </p:to>
                                    </p:set>
                                    <p:anim calcmode="lin" valueType="num">
                                      <p:cBhvr additive="base">
                                        <p:cTn id="18" dur="500"/>
                                        <p:tgtEl>
                                          <p:spTgt spid="46"/>
                                        </p:tgtEl>
                                        <p:attrNameLst>
                                          <p:attrName>ppt_y</p:attrName>
                                        </p:attrNameLst>
                                      </p:cBhvr>
                                      <p:tavLst>
                                        <p:tav tm="0">
                                          <p:val>
                                            <p:strVal val="#ppt_y+#ppt_h*1.125000"/>
                                          </p:val>
                                        </p:tav>
                                        <p:tav tm="100000">
                                          <p:val>
                                            <p:strVal val="#ppt_y"/>
                                          </p:val>
                                        </p:tav>
                                      </p:tavLst>
                                    </p:anim>
                                    <p:animEffect transition="in" filter="wipe(up)">
                                      <p:cBhvr>
                                        <p:cTn id="19" dur="500"/>
                                        <p:tgtEl>
                                          <p:spTgt spid="46"/>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1"/>
                                        </p:tgtEl>
                                        <p:attrNameLst>
                                          <p:attrName>style.visibility</p:attrName>
                                        </p:attrNameLst>
                                      </p:cBhvr>
                                      <p:to>
                                        <p:strVal val="visible"/>
                                      </p:to>
                                    </p:set>
                                    <p:anim calcmode="lin" valueType="num">
                                      <p:cBhvr additive="base">
                                        <p:cTn id="24" dur="500" fill="hold"/>
                                        <p:tgtEl>
                                          <p:spTgt spid="71"/>
                                        </p:tgtEl>
                                        <p:attrNameLst>
                                          <p:attrName>ppt_x</p:attrName>
                                        </p:attrNameLst>
                                      </p:cBhvr>
                                      <p:tavLst>
                                        <p:tav tm="0">
                                          <p:val>
                                            <p:strVal val="#ppt_x"/>
                                          </p:val>
                                        </p:tav>
                                        <p:tav tm="100000">
                                          <p:val>
                                            <p:strVal val="#ppt_x"/>
                                          </p:val>
                                        </p:tav>
                                      </p:tavLst>
                                    </p:anim>
                                    <p:anim calcmode="lin" valueType="num">
                                      <p:cBhvr additive="base">
                                        <p:cTn id="25"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47"/>
                                        </p:tgtEl>
                                        <p:attrNameLst>
                                          <p:attrName>style.visibility</p:attrName>
                                        </p:attrNameLst>
                                      </p:cBhvr>
                                      <p:to>
                                        <p:strVal val="visible"/>
                                      </p:to>
                                    </p:set>
                                    <p:anim calcmode="lin" valueType="num">
                                      <p:cBhvr additive="base">
                                        <p:cTn id="30" dur="500"/>
                                        <p:tgtEl>
                                          <p:spTgt spid="47"/>
                                        </p:tgtEl>
                                        <p:attrNameLst>
                                          <p:attrName>ppt_y</p:attrName>
                                        </p:attrNameLst>
                                      </p:cBhvr>
                                      <p:tavLst>
                                        <p:tav tm="0">
                                          <p:val>
                                            <p:strVal val="#ppt_y+#ppt_h*1.125000"/>
                                          </p:val>
                                        </p:tav>
                                        <p:tav tm="100000">
                                          <p:val>
                                            <p:strVal val="#ppt_y"/>
                                          </p:val>
                                        </p:tav>
                                      </p:tavLst>
                                    </p:anim>
                                    <p:animEffect transition="in" filter="wipe(up)">
                                      <p:cBhvr>
                                        <p:cTn id="31" dur="500"/>
                                        <p:tgtEl>
                                          <p:spTgt spid="47"/>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2"/>
                                        </p:tgtEl>
                                        <p:attrNameLst>
                                          <p:attrName>style.visibility</p:attrName>
                                        </p:attrNameLst>
                                      </p:cBhvr>
                                      <p:to>
                                        <p:strVal val="visible"/>
                                      </p:to>
                                    </p:set>
                                    <p:anim calcmode="lin" valueType="num">
                                      <p:cBhvr additive="base">
                                        <p:cTn id="36" dur="500" fill="hold"/>
                                        <p:tgtEl>
                                          <p:spTgt spid="72"/>
                                        </p:tgtEl>
                                        <p:attrNameLst>
                                          <p:attrName>ppt_x</p:attrName>
                                        </p:attrNameLst>
                                      </p:cBhvr>
                                      <p:tavLst>
                                        <p:tav tm="0">
                                          <p:val>
                                            <p:strVal val="#ppt_x"/>
                                          </p:val>
                                        </p:tav>
                                        <p:tav tm="100000">
                                          <p:val>
                                            <p:strVal val="#ppt_x"/>
                                          </p:val>
                                        </p:tav>
                                      </p:tavLst>
                                    </p:anim>
                                    <p:anim calcmode="lin" valueType="num">
                                      <p:cBhvr additive="base">
                                        <p:cTn id="37"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48"/>
                                        </p:tgtEl>
                                        <p:attrNameLst>
                                          <p:attrName>style.visibility</p:attrName>
                                        </p:attrNameLst>
                                      </p:cBhvr>
                                      <p:to>
                                        <p:strVal val="visible"/>
                                      </p:to>
                                    </p:set>
                                    <p:anim calcmode="lin" valueType="num">
                                      <p:cBhvr additive="base">
                                        <p:cTn id="42" dur="500"/>
                                        <p:tgtEl>
                                          <p:spTgt spid="48"/>
                                        </p:tgtEl>
                                        <p:attrNameLst>
                                          <p:attrName>ppt_y</p:attrName>
                                        </p:attrNameLst>
                                      </p:cBhvr>
                                      <p:tavLst>
                                        <p:tav tm="0">
                                          <p:val>
                                            <p:strVal val="#ppt_y+#ppt_h*1.125000"/>
                                          </p:val>
                                        </p:tav>
                                        <p:tav tm="100000">
                                          <p:val>
                                            <p:strVal val="#ppt_y"/>
                                          </p:val>
                                        </p:tav>
                                      </p:tavLst>
                                    </p:anim>
                                    <p:animEffect transition="in" filter="wipe(up)">
                                      <p:cBhvr>
                                        <p:cTn id="43" dur="500"/>
                                        <p:tgtEl>
                                          <p:spTgt spid="48"/>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73"/>
                                        </p:tgtEl>
                                        <p:attrNameLst>
                                          <p:attrName>style.visibility</p:attrName>
                                        </p:attrNameLst>
                                      </p:cBhvr>
                                      <p:to>
                                        <p:strVal val="visible"/>
                                      </p:to>
                                    </p:set>
                                    <p:anim calcmode="lin" valueType="num">
                                      <p:cBhvr additive="base">
                                        <p:cTn id="48" dur="500" fill="hold"/>
                                        <p:tgtEl>
                                          <p:spTgt spid="73"/>
                                        </p:tgtEl>
                                        <p:attrNameLst>
                                          <p:attrName>ppt_x</p:attrName>
                                        </p:attrNameLst>
                                      </p:cBhvr>
                                      <p:tavLst>
                                        <p:tav tm="0">
                                          <p:val>
                                            <p:strVal val="#ppt_x"/>
                                          </p:val>
                                        </p:tav>
                                        <p:tav tm="100000">
                                          <p:val>
                                            <p:strVal val="#ppt_x"/>
                                          </p:val>
                                        </p:tav>
                                      </p:tavLst>
                                    </p:anim>
                                    <p:anim calcmode="lin" valueType="num">
                                      <p:cBhvr additive="base">
                                        <p:cTn id="49"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nodeType="clickEffect">
                                  <p:stCondLst>
                                    <p:cond delay="0"/>
                                  </p:stCondLst>
                                  <p:childTnLst>
                                    <p:set>
                                      <p:cBhvr>
                                        <p:cTn id="53" dur="1" fill="hold">
                                          <p:stCondLst>
                                            <p:cond delay="0"/>
                                          </p:stCondLst>
                                        </p:cTn>
                                        <p:tgtEl>
                                          <p:spTgt spid="49"/>
                                        </p:tgtEl>
                                        <p:attrNameLst>
                                          <p:attrName>style.visibility</p:attrName>
                                        </p:attrNameLst>
                                      </p:cBhvr>
                                      <p:to>
                                        <p:strVal val="visible"/>
                                      </p:to>
                                    </p:set>
                                    <p:anim calcmode="lin" valueType="num">
                                      <p:cBhvr additive="base">
                                        <p:cTn id="54" dur="500"/>
                                        <p:tgtEl>
                                          <p:spTgt spid="49"/>
                                        </p:tgtEl>
                                        <p:attrNameLst>
                                          <p:attrName>ppt_y</p:attrName>
                                        </p:attrNameLst>
                                      </p:cBhvr>
                                      <p:tavLst>
                                        <p:tav tm="0">
                                          <p:val>
                                            <p:strVal val="#ppt_y+#ppt_h*1.125000"/>
                                          </p:val>
                                        </p:tav>
                                        <p:tav tm="100000">
                                          <p:val>
                                            <p:strVal val="#ppt_y"/>
                                          </p:val>
                                        </p:tav>
                                      </p:tavLst>
                                    </p:anim>
                                    <p:animEffect transition="in" filter="wipe(up)">
                                      <p:cBhvr>
                                        <p:cTn id="55" dur="500"/>
                                        <p:tgtEl>
                                          <p:spTgt spid="49"/>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74"/>
                                        </p:tgtEl>
                                        <p:attrNameLst>
                                          <p:attrName>style.visibility</p:attrName>
                                        </p:attrNameLst>
                                      </p:cBhvr>
                                      <p:to>
                                        <p:strVal val="visible"/>
                                      </p:to>
                                    </p:set>
                                    <p:anim calcmode="lin" valueType="num">
                                      <p:cBhvr additive="base">
                                        <p:cTn id="60" dur="500" fill="hold"/>
                                        <p:tgtEl>
                                          <p:spTgt spid="74"/>
                                        </p:tgtEl>
                                        <p:attrNameLst>
                                          <p:attrName>ppt_x</p:attrName>
                                        </p:attrNameLst>
                                      </p:cBhvr>
                                      <p:tavLst>
                                        <p:tav tm="0">
                                          <p:val>
                                            <p:strVal val="#ppt_x"/>
                                          </p:val>
                                        </p:tav>
                                        <p:tav tm="100000">
                                          <p:val>
                                            <p:strVal val="#ppt_x"/>
                                          </p:val>
                                        </p:tav>
                                      </p:tavLst>
                                    </p:anim>
                                    <p:anim calcmode="lin" valueType="num">
                                      <p:cBhvr additive="base">
                                        <p:cTn id="61"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2" presetClass="entr" presetSubtype="4" fill="hold" nodeType="clickEffect">
                                  <p:stCondLst>
                                    <p:cond delay="0"/>
                                  </p:stCondLst>
                                  <p:childTnLst>
                                    <p:set>
                                      <p:cBhvr>
                                        <p:cTn id="65" dur="1" fill="hold">
                                          <p:stCondLst>
                                            <p:cond delay="0"/>
                                          </p:stCondLst>
                                        </p:cTn>
                                        <p:tgtEl>
                                          <p:spTgt spid="51"/>
                                        </p:tgtEl>
                                        <p:attrNameLst>
                                          <p:attrName>style.visibility</p:attrName>
                                        </p:attrNameLst>
                                      </p:cBhvr>
                                      <p:to>
                                        <p:strVal val="visible"/>
                                      </p:to>
                                    </p:set>
                                    <p:anim calcmode="lin" valueType="num">
                                      <p:cBhvr additive="base">
                                        <p:cTn id="66" dur="500"/>
                                        <p:tgtEl>
                                          <p:spTgt spid="51"/>
                                        </p:tgtEl>
                                        <p:attrNameLst>
                                          <p:attrName>ppt_y</p:attrName>
                                        </p:attrNameLst>
                                      </p:cBhvr>
                                      <p:tavLst>
                                        <p:tav tm="0">
                                          <p:val>
                                            <p:strVal val="#ppt_y+#ppt_h*1.125000"/>
                                          </p:val>
                                        </p:tav>
                                        <p:tav tm="100000">
                                          <p:val>
                                            <p:strVal val="#ppt_y"/>
                                          </p:val>
                                        </p:tav>
                                      </p:tavLst>
                                    </p:anim>
                                    <p:animEffect transition="in" filter="wipe(up)">
                                      <p:cBhvr>
                                        <p:cTn id="67" dur="500"/>
                                        <p:tgtEl>
                                          <p:spTgt spid="51"/>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75"/>
                                        </p:tgtEl>
                                        <p:attrNameLst>
                                          <p:attrName>style.visibility</p:attrName>
                                        </p:attrNameLst>
                                      </p:cBhvr>
                                      <p:to>
                                        <p:strVal val="visible"/>
                                      </p:to>
                                    </p:set>
                                    <p:anim calcmode="lin" valueType="num">
                                      <p:cBhvr additive="base">
                                        <p:cTn id="72" dur="500" fill="hold"/>
                                        <p:tgtEl>
                                          <p:spTgt spid="75"/>
                                        </p:tgtEl>
                                        <p:attrNameLst>
                                          <p:attrName>ppt_x</p:attrName>
                                        </p:attrNameLst>
                                      </p:cBhvr>
                                      <p:tavLst>
                                        <p:tav tm="0">
                                          <p:val>
                                            <p:strVal val="#ppt_x"/>
                                          </p:val>
                                        </p:tav>
                                        <p:tav tm="100000">
                                          <p:val>
                                            <p:strVal val="#ppt_x"/>
                                          </p:val>
                                        </p:tav>
                                      </p:tavLst>
                                    </p:anim>
                                    <p:anim calcmode="lin" valueType="num">
                                      <p:cBhvr additive="base">
                                        <p:cTn id="73"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2" presetClass="entr" presetSubtype="4"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 calcmode="lin" valueType="num">
                                      <p:cBhvr additive="base">
                                        <p:cTn id="78" dur="500"/>
                                        <p:tgtEl>
                                          <p:spTgt spid="52"/>
                                        </p:tgtEl>
                                        <p:attrNameLst>
                                          <p:attrName>ppt_y</p:attrName>
                                        </p:attrNameLst>
                                      </p:cBhvr>
                                      <p:tavLst>
                                        <p:tav tm="0">
                                          <p:val>
                                            <p:strVal val="#ppt_y+#ppt_h*1.125000"/>
                                          </p:val>
                                        </p:tav>
                                        <p:tav tm="100000">
                                          <p:val>
                                            <p:strVal val="#ppt_y"/>
                                          </p:val>
                                        </p:tav>
                                      </p:tavLst>
                                    </p:anim>
                                    <p:animEffect transition="in" filter="wipe(up)">
                                      <p:cBhvr>
                                        <p:cTn id="79" dur="500"/>
                                        <p:tgtEl>
                                          <p:spTgt spid="52"/>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76"/>
                                        </p:tgtEl>
                                        <p:attrNameLst>
                                          <p:attrName>style.visibility</p:attrName>
                                        </p:attrNameLst>
                                      </p:cBhvr>
                                      <p:to>
                                        <p:strVal val="visible"/>
                                      </p:to>
                                    </p:set>
                                    <p:anim calcmode="lin" valueType="num">
                                      <p:cBhvr additive="base">
                                        <p:cTn id="84" dur="500" fill="hold"/>
                                        <p:tgtEl>
                                          <p:spTgt spid="76"/>
                                        </p:tgtEl>
                                        <p:attrNameLst>
                                          <p:attrName>ppt_x</p:attrName>
                                        </p:attrNameLst>
                                      </p:cBhvr>
                                      <p:tavLst>
                                        <p:tav tm="0">
                                          <p:val>
                                            <p:strVal val="#ppt_x"/>
                                          </p:val>
                                        </p:tav>
                                        <p:tav tm="100000">
                                          <p:val>
                                            <p:strVal val="#ppt_x"/>
                                          </p:val>
                                        </p:tav>
                                      </p:tavLst>
                                    </p:anim>
                                    <p:anim calcmode="lin" valueType="num">
                                      <p:cBhvr additive="base">
                                        <p:cTn id="85"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12" presetClass="entr" presetSubtype="4" fill="hold" nodeType="clickEffect">
                                  <p:stCondLst>
                                    <p:cond delay="0"/>
                                  </p:stCondLst>
                                  <p:childTnLst>
                                    <p:set>
                                      <p:cBhvr>
                                        <p:cTn id="89" dur="1" fill="hold">
                                          <p:stCondLst>
                                            <p:cond delay="0"/>
                                          </p:stCondLst>
                                        </p:cTn>
                                        <p:tgtEl>
                                          <p:spTgt spid="54"/>
                                        </p:tgtEl>
                                        <p:attrNameLst>
                                          <p:attrName>style.visibility</p:attrName>
                                        </p:attrNameLst>
                                      </p:cBhvr>
                                      <p:to>
                                        <p:strVal val="visible"/>
                                      </p:to>
                                    </p:set>
                                    <p:anim calcmode="lin" valueType="num">
                                      <p:cBhvr additive="base">
                                        <p:cTn id="90" dur="500"/>
                                        <p:tgtEl>
                                          <p:spTgt spid="54"/>
                                        </p:tgtEl>
                                        <p:attrNameLst>
                                          <p:attrName>ppt_y</p:attrName>
                                        </p:attrNameLst>
                                      </p:cBhvr>
                                      <p:tavLst>
                                        <p:tav tm="0">
                                          <p:val>
                                            <p:strVal val="#ppt_y+#ppt_h*1.125000"/>
                                          </p:val>
                                        </p:tav>
                                        <p:tav tm="100000">
                                          <p:val>
                                            <p:strVal val="#ppt_y"/>
                                          </p:val>
                                        </p:tav>
                                      </p:tavLst>
                                    </p:anim>
                                    <p:animEffect transition="in" filter="wipe(up)">
                                      <p:cBhvr>
                                        <p:cTn id="91" dur="500"/>
                                        <p:tgtEl>
                                          <p:spTgt spid="54"/>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77"/>
                                        </p:tgtEl>
                                        <p:attrNameLst>
                                          <p:attrName>style.visibility</p:attrName>
                                        </p:attrNameLst>
                                      </p:cBhvr>
                                      <p:to>
                                        <p:strVal val="visible"/>
                                      </p:to>
                                    </p:set>
                                    <p:anim calcmode="lin" valueType="num">
                                      <p:cBhvr additive="base">
                                        <p:cTn id="96" dur="500" fill="hold"/>
                                        <p:tgtEl>
                                          <p:spTgt spid="77"/>
                                        </p:tgtEl>
                                        <p:attrNameLst>
                                          <p:attrName>ppt_x</p:attrName>
                                        </p:attrNameLst>
                                      </p:cBhvr>
                                      <p:tavLst>
                                        <p:tav tm="0">
                                          <p:val>
                                            <p:strVal val="#ppt_x"/>
                                          </p:val>
                                        </p:tav>
                                        <p:tav tm="100000">
                                          <p:val>
                                            <p:strVal val="#ppt_x"/>
                                          </p:val>
                                        </p:tav>
                                      </p:tavLst>
                                    </p:anim>
                                    <p:anim calcmode="lin" valueType="num">
                                      <p:cBhvr additive="base">
                                        <p:cTn id="97"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71" grpId="0"/>
      <p:bldP spid="72" grpId="0"/>
      <p:bldP spid="73" grpId="0"/>
      <p:bldP spid="74" grpId="0"/>
      <p:bldP spid="75" grpId="0"/>
      <p:bldP spid="76" grpId="0"/>
      <p:bldP spid="7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35</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10823100" y="2055793"/>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10796020" y="2572187"/>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E9C10BEA-F22F-41F1-889C-49D039266B06}"/>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8"/>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53" name="矩形 52">
                <a:extLst>
                  <a:ext uri="{FF2B5EF4-FFF2-40B4-BE49-F238E27FC236}">
                    <a16:creationId xmlns:a16="http://schemas.microsoft.com/office/drawing/2014/main" id="{E9C10BEA-F22F-41F1-889C-49D039266B06}"/>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4"/>
                <a:stretch>
                  <a:fillRect l="-3675" t="-10294" r="-580" b="-16176"/>
                </a:stretch>
              </a:blipFill>
            </p:spPr>
            <p:txBody>
              <a:bodyPr/>
              <a:lstStyle/>
              <a:p>
                <a:r>
                  <a:rPr lang="zh-CN" altLang="en-US">
                    <a:noFill/>
                  </a:rPr>
                  <a:t> </a:t>
                </a:r>
              </a:p>
            </p:txBody>
          </p:sp>
        </mc:Fallback>
      </mc:AlternateContent>
      <p:sp>
        <p:nvSpPr>
          <p:cNvPr id="64" name="矩形 63">
            <a:extLst>
              <a:ext uri="{FF2B5EF4-FFF2-40B4-BE49-F238E27FC236}">
                <a16:creationId xmlns:a16="http://schemas.microsoft.com/office/drawing/2014/main" id="{787BF55F-DE97-4494-9630-5B2F266AD90F}"/>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65" name="矩形 64">
            <a:extLst>
              <a:ext uri="{FF2B5EF4-FFF2-40B4-BE49-F238E27FC236}">
                <a16:creationId xmlns:a16="http://schemas.microsoft.com/office/drawing/2014/main" id="{7AFB7CB8-26EA-4704-AADC-58524DDF6FE3}"/>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66" name="矩形 65">
            <a:extLst>
              <a:ext uri="{FF2B5EF4-FFF2-40B4-BE49-F238E27FC236}">
                <a16:creationId xmlns:a16="http://schemas.microsoft.com/office/drawing/2014/main" id="{DF717F9B-5EF1-492D-B12B-6FB2B372CA30}"/>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7" name="矩形 66">
            <a:extLst>
              <a:ext uri="{FF2B5EF4-FFF2-40B4-BE49-F238E27FC236}">
                <a16:creationId xmlns:a16="http://schemas.microsoft.com/office/drawing/2014/main" id="{5452DB67-1100-4F7B-BC5A-863927A2D043}"/>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8" name="矩形 67">
            <a:extLst>
              <a:ext uri="{FF2B5EF4-FFF2-40B4-BE49-F238E27FC236}">
                <a16:creationId xmlns:a16="http://schemas.microsoft.com/office/drawing/2014/main" id="{192C620A-4B3C-4DEC-9DD0-3CB0ADA45903}"/>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69" name="矩形 68">
            <a:extLst>
              <a:ext uri="{FF2B5EF4-FFF2-40B4-BE49-F238E27FC236}">
                <a16:creationId xmlns:a16="http://schemas.microsoft.com/office/drawing/2014/main" id="{B6B15ACF-26CD-4DC5-AB05-1BC89FB0A99B}"/>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70" name="矩形 69">
            <a:extLst>
              <a:ext uri="{FF2B5EF4-FFF2-40B4-BE49-F238E27FC236}">
                <a16:creationId xmlns:a16="http://schemas.microsoft.com/office/drawing/2014/main" id="{A7472471-C3E1-460B-A965-28F07153C41D}"/>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71" name="矩形 70">
            <a:extLst>
              <a:ext uri="{FF2B5EF4-FFF2-40B4-BE49-F238E27FC236}">
                <a16:creationId xmlns:a16="http://schemas.microsoft.com/office/drawing/2014/main" id="{DC1407EC-FB0A-439B-937E-5A354BC13769}"/>
              </a:ext>
            </a:extLst>
          </p:cNvPr>
          <p:cNvSpPr/>
          <p:nvPr/>
        </p:nvSpPr>
        <p:spPr>
          <a:xfrm>
            <a:off x="2070656" y="6041749"/>
            <a:ext cx="458780" cy="461665"/>
          </a:xfrm>
          <a:prstGeom prst="rect">
            <a:avLst/>
          </a:prstGeom>
        </p:spPr>
        <p:txBody>
          <a:bodyPr wrap="none">
            <a:spAutoFit/>
          </a:bodyPr>
          <a:lstStyle/>
          <a:p>
            <a:pPr algn="ctr"/>
            <a:r>
              <a:rPr lang="en-US" altLang="zh-CN" sz="2400" dirty="0"/>
              <a:t>-1</a:t>
            </a:r>
            <a:endParaRPr lang="zh-CN" altLang="en-US" sz="2400" dirty="0"/>
          </a:p>
        </p:txBody>
      </p:sp>
      <p:sp>
        <p:nvSpPr>
          <p:cNvPr id="72" name="矩形 71">
            <a:extLst>
              <a:ext uri="{FF2B5EF4-FFF2-40B4-BE49-F238E27FC236}">
                <a16:creationId xmlns:a16="http://schemas.microsoft.com/office/drawing/2014/main" id="{0AA4A28E-A00A-4945-8608-10066DD0A1EF}"/>
              </a:ext>
            </a:extLst>
          </p:cNvPr>
          <p:cNvSpPr/>
          <p:nvPr/>
        </p:nvSpPr>
        <p:spPr>
          <a:xfrm>
            <a:off x="2994344" y="6064583"/>
            <a:ext cx="356188" cy="461665"/>
          </a:xfrm>
          <a:prstGeom prst="rect">
            <a:avLst/>
          </a:prstGeom>
        </p:spPr>
        <p:txBody>
          <a:bodyPr wrap="none">
            <a:spAutoFit/>
          </a:bodyPr>
          <a:lstStyle/>
          <a:p>
            <a:pPr algn="ctr"/>
            <a:r>
              <a:rPr lang="en-US" altLang="zh-CN" sz="2400" dirty="0"/>
              <a:t>0</a:t>
            </a:r>
            <a:endParaRPr lang="zh-CN" altLang="en-US" sz="2400" dirty="0"/>
          </a:p>
        </p:txBody>
      </p:sp>
      <p:sp>
        <p:nvSpPr>
          <p:cNvPr id="73" name="矩形 72">
            <a:extLst>
              <a:ext uri="{FF2B5EF4-FFF2-40B4-BE49-F238E27FC236}">
                <a16:creationId xmlns:a16="http://schemas.microsoft.com/office/drawing/2014/main" id="{77ECEC2B-65B0-4D28-9115-BC6A07D9BA7A}"/>
              </a:ext>
            </a:extLst>
          </p:cNvPr>
          <p:cNvSpPr/>
          <p:nvPr/>
        </p:nvSpPr>
        <p:spPr>
          <a:xfrm>
            <a:off x="3912250"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4" name="矩形 73">
            <a:extLst>
              <a:ext uri="{FF2B5EF4-FFF2-40B4-BE49-F238E27FC236}">
                <a16:creationId xmlns:a16="http://schemas.microsoft.com/office/drawing/2014/main" id="{3F7498EB-CE24-424A-872E-E9768DF90AB1}"/>
              </a:ext>
            </a:extLst>
          </p:cNvPr>
          <p:cNvSpPr/>
          <p:nvPr/>
        </p:nvSpPr>
        <p:spPr>
          <a:xfrm>
            <a:off x="4780179"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5" name="矩形 74">
            <a:extLst>
              <a:ext uri="{FF2B5EF4-FFF2-40B4-BE49-F238E27FC236}">
                <a16:creationId xmlns:a16="http://schemas.microsoft.com/office/drawing/2014/main" id="{73C46057-9A45-45C1-A5F3-75A9DE1FCEE5}"/>
              </a:ext>
            </a:extLst>
          </p:cNvPr>
          <p:cNvSpPr/>
          <p:nvPr/>
        </p:nvSpPr>
        <p:spPr>
          <a:xfrm>
            <a:off x="5708419" y="6054229"/>
            <a:ext cx="356187" cy="461665"/>
          </a:xfrm>
          <a:prstGeom prst="rect">
            <a:avLst/>
          </a:prstGeom>
        </p:spPr>
        <p:txBody>
          <a:bodyPr wrap="none">
            <a:spAutoFit/>
          </a:bodyPr>
          <a:lstStyle/>
          <a:p>
            <a:pPr algn="ctr"/>
            <a:r>
              <a:rPr lang="en-US" altLang="zh-CN" sz="2400" dirty="0"/>
              <a:t>2</a:t>
            </a:r>
            <a:endParaRPr lang="zh-CN" altLang="en-US" sz="2400" dirty="0"/>
          </a:p>
        </p:txBody>
      </p:sp>
      <p:sp>
        <p:nvSpPr>
          <p:cNvPr id="76" name="矩形 75">
            <a:extLst>
              <a:ext uri="{FF2B5EF4-FFF2-40B4-BE49-F238E27FC236}">
                <a16:creationId xmlns:a16="http://schemas.microsoft.com/office/drawing/2014/main" id="{F1F6D441-0F9D-4F36-98E9-99626C00039E}"/>
              </a:ext>
            </a:extLst>
          </p:cNvPr>
          <p:cNvSpPr/>
          <p:nvPr/>
        </p:nvSpPr>
        <p:spPr>
          <a:xfrm>
            <a:off x="6372592" y="6064582"/>
            <a:ext cx="715260" cy="461665"/>
          </a:xfrm>
          <a:prstGeom prst="rect">
            <a:avLst/>
          </a:prstGeom>
        </p:spPr>
        <p:txBody>
          <a:bodyPr wrap="none">
            <a:spAutoFit/>
          </a:bodyPr>
          <a:lstStyle/>
          <a:p>
            <a:pPr algn="ctr"/>
            <a:r>
              <a:rPr lang="en-US" altLang="zh-CN" sz="2400" dirty="0"/>
              <a:t>M-2</a:t>
            </a:r>
            <a:endParaRPr lang="zh-CN" altLang="en-US" sz="2400" dirty="0"/>
          </a:p>
        </p:txBody>
      </p:sp>
      <p:sp>
        <p:nvSpPr>
          <p:cNvPr id="77" name="矩形 76">
            <a:extLst>
              <a:ext uri="{FF2B5EF4-FFF2-40B4-BE49-F238E27FC236}">
                <a16:creationId xmlns:a16="http://schemas.microsoft.com/office/drawing/2014/main" id="{98BD8F6E-D9D6-4C66-8425-418F7B6A7371}"/>
              </a:ext>
            </a:extLst>
          </p:cNvPr>
          <p:cNvSpPr/>
          <p:nvPr/>
        </p:nvSpPr>
        <p:spPr>
          <a:xfrm>
            <a:off x="7279774" y="6044696"/>
            <a:ext cx="792205" cy="461665"/>
          </a:xfrm>
          <a:prstGeom prst="rect">
            <a:avLst/>
          </a:prstGeom>
        </p:spPr>
        <p:txBody>
          <a:bodyPr wrap="none">
            <a:spAutoFit/>
          </a:bodyPr>
          <a:lstStyle/>
          <a:p>
            <a:pPr algn="ctr"/>
            <a:r>
              <a:rPr lang="en-US" altLang="zh-CN" sz="2400" dirty="0"/>
              <a:t>M+3</a:t>
            </a:r>
            <a:endParaRPr lang="zh-CN" altLang="en-US" sz="2400" dirty="0"/>
          </a:p>
        </p:txBody>
      </p:sp>
      <p:sp>
        <p:nvSpPr>
          <p:cNvPr id="57" name="矩形 56">
            <a:extLst>
              <a:ext uri="{FF2B5EF4-FFF2-40B4-BE49-F238E27FC236}">
                <a16:creationId xmlns:a16="http://schemas.microsoft.com/office/drawing/2014/main" id="{810CB16E-FC03-4B44-A5FD-737D371FDD9D}"/>
              </a:ext>
            </a:extLst>
          </p:cNvPr>
          <p:cNvSpPr/>
          <p:nvPr/>
        </p:nvSpPr>
        <p:spPr>
          <a:xfrm>
            <a:off x="4272523" y="1170478"/>
            <a:ext cx="5546194"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-1</a:t>
            </a:r>
            <a:r>
              <a:rPr lang="zh-CN" altLang="en-US" sz="2400" b="1" dirty="0">
                <a:solidFill>
                  <a:srgbClr val="C00000"/>
                </a:solidFill>
              </a:rPr>
              <a:t>是负数，所以当前解不是最优解</a:t>
            </a:r>
            <a:endParaRPr lang="en-US" altLang="zh-CN" sz="2400" b="1" dirty="0">
              <a:solidFill>
                <a:srgbClr val="C00000"/>
              </a:solidFill>
            </a:endParaRPr>
          </a:p>
        </p:txBody>
      </p:sp>
      <p:sp>
        <p:nvSpPr>
          <p:cNvPr id="58" name="矩形 57">
            <a:extLst>
              <a:ext uri="{FF2B5EF4-FFF2-40B4-BE49-F238E27FC236}">
                <a16:creationId xmlns:a16="http://schemas.microsoft.com/office/drawing/2014/main" id="{A115B809-C869-4F5E-8CC8-D9DD8BBED3BD}"/>
              </a:ext>
            </a:extLst>
          </p:cNvPr>
          <p:cNvSpPr/>
          <p:nvPr/>
        </p:nvSpPr>
        <p:spPr>
          <a:xfrm>
            <a:off x="4266857" y="2104162"/>
            <a:ext cx="5546194" cy="461665"/>
          </a:xfrm>
          <a:prstGeom prst="rect">
            <a:avLst/>
          </a:prstGeom>
          <a:solidFill>
            <a:srgbClr val="FFFF66"/>
          </a:solidFill>
          <a:ln>
            <a:solidFill>
              <a:schemeClr val="tx1"/>
            </a:solidFill>
          </a:ln>
        </p:spPr>
        <p:txBody>
          <a:bodyPr wrap="square">
            <a:spAutoFit/>
          </a:bodyPr>
          <a:lstStyle/>
          <a:p>
            <a:r>
              <a:rPr lang="zh-CN" altLang="en-US" sz="2400" b="1" dirty="0">
                <a:solidFill>
                  <a:srgbClr val="C00000"/>
                </a:solidFill>
              </a:rPr>
              <a:t>选择</a:t>
            </a:r>
            <a:r>
              <a:rPr lang="en-US" altLang="zh-CN" sz="2400" b="1" dirty="0">
                <a:solidFill>
                  <a:srgbClr val="C00000"/>
                </a:solidFill>
              </a:rPr>
              <a:t>X1</a:t>
            </a:r>
            <a:r>
              <a:rPr lang="zh-CN" altLang="en-US" sz="2400" b="1" dirty="0">
                <a:solidFill>
                  <a:srgbClr val="C00000"/>
                </a:solidFill>
              </a:rPr>
              <a:t>入基</a:t>
            </a:r>
            <a:endParaRPr lang="en-US" altLang="zh-CN" sz="2400" b="1" dirty="0">
              <a:solidFill>
                <a:srgbClr val="C00000"/>
              </a:solidFill>
            </a:endParaRPr>
          </a:p>
        </p:txBody>
      </p:sp>
      <p:graphicFrame>
        <p:nvGraphicFramePr>
          <p:cNvPr id="59" name="对象 58">
            <a:extLst>
              <a:ext uri="{FF2B5EF4-FFF2-40B4-BE49-F238E27FC236}">
                <a16:creationId xmlns:a16="http://schemas.microsoft.com/office/drawing/2014/main" id="{E5BB5515-F4CC-44C1-8D75-792017EB43FC}"/>
              </a:ext>
            </a:extLst>
          </p:cNvPr>
          <p:cNvGraphicFramePr>
            <a:graphicFrameLocks noChangeAspect="1"/>
          </p:cNvGraphicFramePr>
          <p:nvPr>
            <p:extLst>
              <p:ext uri="{D42A27DB-BD31-4B8C-83A1-F6EECF244321}">
                <p14:modId xmlns:p14="http://schemas.microsoft.com/office/powerpoint/2010/main" val="187692711"/>
              </p:ext>
            </p:extLst>
          </p:nvPr>
        </p:nvGraphicFramePr>
        <p:xfrm>
          <a:off x="5114925" y="479425"/>
          <a:ext cx="2790825" cy="530225"/>
        </p:xfrm>
        <a:graphic>
          <a:graphicData uri="http://schemas.openxmlformats.org/presentationml/2006/ole">
            <mc:AlternateContent xmlns:mc="http://schemas.openxmlformats.org/markup-compatibility/2006">
              <mc:Choice xmlns:v="urn:schemas-microsoft-com:vml" Requires="v">
                <p:oleObj name="Equation" r:id="rId5" imgW="1473120" imgH="279360" progId="Equation.DSMT4">
                  <p:embed/>
                </p:oleObj>
              </mc:Choice>
              <mc:Fallback>
                <p:oleObj name="Equation" r:id="rId5" imgW="1473120" imgH="279360" progId="Equation.DSMT4">
                  <p:embed/>
                  <p:pic>
                    <p:nvPicPr>
                      <p:cNvPr id="45" name="对象 44">
                        <a:extLst>
                          <a:ext uri="{FF2B5EF4-FFF2-40B4-BE49-F238E27FC236}">
                            <a16:creationId xmlns:a16="http://schemas.microsoft.com/office/drawing/2014/main" id="{1247CE0E-11EE-49A2-8B83-1DE7FC487847}"/>
                          </a:ext>
                        </a:extLst>
                      </p:cNvPr>
                      <p:cNvPicPr/>
                      <p:nvPr/>
                    </p:nvPicPr>
                    <p:blipFill>
                      <a:blip r:embed="rId6"/>
                      <a:stretch>
                        <a:fillRect/>
                      </a:stretch>
                    </p:blipFill>
                    <p:spPr>
                      <a:xfrm>
                        <a:off x="5114925" y="479425"/>
                        <a:ext cx="2790825" cy="530225"/>
                      </a:xfrm>
                      <a:prstGeom prst="rect">
                        <a:avLst/>
                      </a:prstGeom>
                    </p:spPr>
                  </p:pic>
                </p:oleObj>
              </mc:Fallback>
            </mc:AlternateContent>
          </a:graphicData>
        </a:graphic>
      </p:graphicFrame>
    </p:spTree>
    <p:extLst>
      <p:ext uri="{BB962C8B-B14F-4D97-AF65-F5344CB8AC3E}">
        <p14:creationId xmlns:p14="http://schemas.microsoft.com/office/powerpoint/2010/main" val="255449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8"/>
                                        </p:tgtEl>
                                        <p:attrNameLst>
                                          <p:attrName>style.visibility</p:attrName>
                                        </p:attrNameLst>
                                      </p:cBhvr>
                                      <p:to>
                                        <p:strVal val="visible"/>
                                      </p:to>
                                    </p:set>
                                    <p:anim calcmode="lin" valueType="num">
                                      <p:cBhvr additive="base">
                                        <p:cTn id="12" dur="500" fill="hold"/>
                                        <p:tgtEl>
                                          <p:spTgt spid="58"/>
                                        </p:tgtEl>
                                        <p:attrNameLst>
                                          <p:attrName>ppt_x</p:attrName>
                                        </p:attrNameLst>
                                      </p:cBhvr>
                                      <p:tavLst>
                                        <p:tav tm="0">
                                          <p:val>
                                            <p:strVal val="#ppt_x"/>
                                          </p:val>
                                        </p:tav>
                                        <p:tav tm="100000">
                                          <p:val>
                                            <p:strVal val="#ppt_x"/>
                                          </p:val>
                                        </p:tav>
                                      </p:tavLst>
                                    </p:anim>
                                    <p:anim calcmode="lin" valueType="num">
                                      <p:cBhvr additive="base">
                                        <p:cTn id="13"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36</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31" name="矩形 30">
            <a:extLst>
              <a:ext uri="{FF2B5EF4-FFF2-40B4-BE49-F238E27FC236}">
                <a16:creationId xmlns:a16="http://schemas.microsoft.com/office/drawing/2014/main" id="{777DC736-D587-4169-AC03-EBB6B05AD021}"/>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32" name="矩形 31">
            <a:extLst>
              <a:ext uri="{FF2B5EF4-FFF2-40B4-BE49-F238E27FC236}">
                <a16:creationId xmlns:a16="http://schemas.microsoft.com/office/drawing/2014/main" id="{E8669A96-955E-45D8-837E-793777CD7114}"/>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33" name="矩形 32">
            <a:extLst>
              <a:ext uri="{FF2B5EF4-FFF2-40B4-BE49-F238E27FC236}">
                <a16:creationId xmlns:a16="http://schemas.microsoft.com/office/drawing/2014/main" id="{B22AD94A-2EF0-41C9-A411-876F216F478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4" name="矩形 33">
            <a:extLst>
              <a:ext uri="{FF2B5EF4-FFF2-40B4-BE49-F238E27FC236}">
                <a16:creationId xmlns:a16="http://schemas.microsoft.com/office/drawing/2014/main" id="{3F859E1E-0D6E-4540-B661-DF8487772D5D}"/>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35" name="矩形 34">
            <a:extLst>
              <a:ext uri="{FF2B5EF4-FFF2-40B4-BE49-F238E27FC236}">
                <a16:creationId xmlns:a16="http://schemas.microsoft.com/office/drawing/2014/main" id="{FD73927E-161F-4910-955E-3A935208DD96}"/>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36" name="矩形 35">
            <a:extLst>
              <a:ext uri="{FF2B5EF4-FFF2-40B4-BE49-F238E27FC236}">
                <a16:creationId xmlns:a16="http://schemas.microsoft.com/office/drawing/2014/main" id="{B54768C4-58DD-40D6-8697-F2A1C2F35A7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37" name="矩形 36">
            <a:extLst>
              <a:ext uri="{FF2B5EF4-FFF2-40B4-BE49-F238E27FC236}">
                <a16:creationId xmlns:a16="http://schemas.microsoft.com/office/drawing/2014/main" id="{D7E15C4A-142A-4686-8162-BB8FBF917390}"/>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42" name="矩形 41">
            <a:extLst>
              <a:ext uri="{FF2B5EF4-FFF2-40B4-BE49-F238E27FC236}">
                <a16:creationId xmlns:a16="http://schemas.microsoft.com/office/drawing/2014/main" id="{924A96D5-7C65-4637-B028-F43F70FED4BB}"/>
              </a:ext>
            </a:extLst>
          </p:cNvPr>
          <p:cNvSpPr/>
          <p:nvPr/>
        </p:nvSpPr>
        <p:spPr>
          <a:xfrm>
            <a:off x="10823100" y="2055793"/>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10796020" y="2572187"/>
            <a:ext cx="354584" cy="461665"/>
          </a:xfrm>
          <a:prstGeom prst="rect">
            <a:avLst/>
          </a:prstGeom>
        </p:spPr>
        <p:txBody>
          <a:bodyPr wrap="none">
            <a:spAutoFit/>
          </a:bodyPr>
          <a:lstStyle/>
          <a:p>
            <a:pPr algn="ctr"/>
            <a:r>
              <a:rPr lang="en-US" altLang="zh-CN" sz="2400" dirty="0"/>
              <a:t>  </a:t>
            </a:r>
            <a:endParaRPr lang="zh-CN" altLang="en-US" sz="2400" dirty="0"/>
          </a:p>
        </p:txBody>
      </p:sp>
      <p:sp>
        <p:nvSpPr>
          <p:cNvPr id="44" name="矩形 43">
            <a:extLst>
              <a:ext uri="{FF2B5EF4-FFF2-40B4-BE49-F238E27FC236}">
                <a16:creationId xmlns:a16="http://schemas.microsoft.com/office/drawing/2014/main" id="{6BFF3747-0F41-4261-9AAC-F3949878E750}"/>
              </a:ext>
            </a:extLst>
          </p:cNvPr>
          <p:cNvSpPr/>
          <p:nvPr/>
        </p:nvSpPr>
        <p:spPr>
          <a:xfrm>
            <a:off x="9282824" y="5522847"/>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p:sp>
        <p:nvSpPr>
          <p:cNvPr id="64" name="矩形 63">
            <a:extLst>
              <a:ext uri="{FF2B5EF4-FFF2-40B4-BE49-F238E27FC236}">
                <a16:creationId xmlns:a16="http://schemas.microsoft.com/office/drawing/2014/main" id="{787BF55F-DE97-4494-9630-5B2F266AD90F}"/>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65" name="矩形 64">
            <a:extLst>
              <a:ext uri="{FF2B5EF4-FFF2-40B4-BE49-F238E27FC236}">
                <a16:creationId xmlns:a16="http://schemas.microsoft.com/office/drawing/2014/main" id="{7AFB7CB8-26EA-4704-AADC-58524DDF6FE3}"/>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66" name="矩形 65">
            <a:extLst>
              <a:ext uri="{FF2B5EF4-FFF2-40B4-BE49-F238E27FC236}">
                <a16:creationId xmlns:a16="http://schemas.microsoft.com/office/drawing/2014/main" id="{DF717F9B-5EF1-492D-B12B-6FB2B372CA30}"/>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7" name="矩形 66">
            <a:extLst>
              <a:ext uri="{FF2B5EF4-FFF2-40B4-BE49-F238E27FC236}">
                <a16:creationId xmlns:a16="http://schemas.microsoft.com/office/drawing/2014/main" id="{5452DB67-1100-4F7B-BC5A-863927A2D043}"/>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8" name="矩形 67">
            <a:extLst>
              <a:ext uri="{FF2B5EF4-FFF2-40B4-BE49-F238E27FC236}">
                <a16:creationId xmlns:a16="http://schemas.microsoft.com/office/drawing/2014/main" id="{192C620A-4B3C-4DEC-9DD0-3CB0ADA45903}"/>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69" name="矩形 68">
            <a:extLst>
              <a:ext uri="{FF2B5EF4-FFF2-40B4-BE49-F238E27FC236}">
                <a16:creationId xmlns:a16="http://schemas.microsoft.com/office/drawing/2014/main" id="{B6B15ACF-26CD-4DC5-AB05-1BC89FB0A99B}"/>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70" name="矩形 69">
            <a:extLst>
              <a:ext uri="{FF2B5EF4-FFF2-40B4-BE49-F238E27FC236}">
                <a16:creationId xmlns:a16="http://schemas.microsoft.com/office/drawing/2014/main" id="{A7472471-C3E1-460B-A965-28F07153C41D}"/>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71" name="矩形 70">
            <a:extLst>
              <a:ext uri="{FF2B5EF4-FFF2-40B4-BE49-F238E27FC236}">
                <a16:creationId xmlns:a16="http://schemas.microsoft.com/office/drawing/2014/main" id="{DC1407EC-FB0A-439B-937E-5A354BC13769}"/>
              </a:ext>
            </a:extLst>
          </p:cNvPr>
          <p:cNvSpPr/>
          <p:nvPr/>
        </p:nvSpPr>
        <p:spPr>
          <a:xfrm>
            <a:off x="2070656" y="6041749"/>
            <a:ext cx="458780" cy="461665"/>
          </a:xfrm>
          <a:prstGeom prst="rect">
            <a:avLst/>
          </a:prstGeom>
        </p:spPr>
        <p:txBody>
          <a:bodyPr wrap="none">
            <a:spAutoFit/>
          </a:bodyPr>
          <a:lstStyle/>
          <a:p>
            <a:pPr algn="ctr"/>
            <a:r>
              <a:rPr lang="en-US" altLang="zh-CN" sz="2400" dirty="0"/>
              <a:t>-1</a:t>
            </a:r>
            <a:endParaRPr lang="zh-CN" altLang="en-US" sz="2400" dirty="0"/>
          </a:p>
        </p:txBody>
      </p:sp>
      <p:sp>
        <p:nvSpPr>
          <p:cNvPr id="72" name="矩形 71">
            <a:extLst>
              <a:ext uri="{FF2B5EF4-FFF2-40B4-BE49-F238E27FC236}">
                <a16:creationId xmlns:a16="http://schemas.microsoft.com/office/drawing/2014/main" id="{0AA4A28E-A00A-4945-8608-10066DD0A1EF}"/>
              </a:ext>
            </a:extLst>
          </p:cNvPr>
          <p:cNvSpPr/>
          <p:nvPr/>
        </p:nvSpPr>
        <p:spPr>
          <a:xfrm>
            <a:off x="2994344" y="6064583"/>
            <a:ext cx="356188" cy="461665"/>
          </a:xfrm>
          <a:prstGeom prst="rect">
            <a:avLst/>
          </a:prstGeom>
        </p:spPr>
        <p:txBody>
          <a:bodyPr wrap="none">
            <a:spAutoFit/>
          </a:bodyPr>
          <a:lstStyle/>
          <a:p>
            <a:pPr algn="ctr"/>
            <a:r>
              <a:rPr lang="en-US" altLang="zh-CN" sz="2400" dirty="0"/>
              <a:t>0</a:t>
            </a:r>
            <a:endParaRPr lang="zh-CN" altLang="en-US" sz="2400" dirty="0"/>
          </a:p>
        </p:txBody>
      </p:sp>
      <p:sp>
        <p:nvSpPr>
          <p:cNvPr id="73" name="矩形 72">
            <a:extLst>
              <a:ext uri="{FF2B5EF4-FFF2-40B4-BE49-F238E27FC236}">
                <a16:creationId xmlns:a16="http://schemas.microsoft.com/office/drawing/2014/main" id="{77ECEC2B-65B0-4D28-9115-BC6A07D9BA7A}"/>
              </a:ext>
            </a:extLst>
          </p:cNvPr>
          <p:cNvSpPr/>
          <p:nvPr/>
        </p:nvSpPr>
        <p:spPr>
          <a:xfrm>
            <a:off x="3912250"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4" name="矩形 73">
            <a:extLst>
              <a:ext uri="{FF2B5EF4-FFF2-40B4-BE49-F238E27FC236}">
                <a16:creationId xmlns:a16="http://schemas.microsoft.com/office/drawing/2014/main" id="{3F7498EB-CE24-424A-872E-E9768DF90AB1}"/>
              </a:ext>
            </a:extLst>
          </p:cNvPr>
          <p:cNvSpPr/>
          <p:nvPr/>
        </p:nvSpPr>
        <p:spPr>
          <a:xfrm>
            <a:off x="4780179"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5" name="矩形 74">
            <a:extLst>
              <a:ext uri="{FF2B5EF4-FFF2-40B4-BE49-F238E27FC236}">
                <a16:creationId xmlns:a16="http://schemas.microsoft.com/office/drawing/2014/main" id="{73C46057-9A45-45C1-A5F3-75A9DE1FCEE5}"/>
              </a:ext>
            </a:extLst>
          </p:cNvPr>
          <p:cNvSpPr/>
          <p:nvPr/>
        </p:nvSpPr>
        <p:spPr>
          <a:xfrm>
            <a:off x="5708419" y="6054229"/>
            <a:ext cx="356187" cy="461665"/>
          </a:xfrm>
          <a:prstGeom prst="rect">
            <a:avLst/>
          </a:prstGeom>
        </p:spPr>
        <p:txBody>
          <a:bodyPr wrap="none">
            <a:spAutoFit/>
          </a:bodyPr>
          <a:lstStyle/>
          <a:p>
            <a:pPr algn="ctr"/>
            <a:r>
              <a:rPr lang="en-US" altLang="zh-CN" sz="2400" dirty="0"/>
              <a:t>2</a:t>
            </a:r>
            <a:endParaRPr lang="zh-CN" altLang="en-US" sz="2400" dirty="0"/>
          </a:p>
        </p:txBody>
      </p:sp>
      <p:sp>
        <p:nvSpPr>
          <p:cNvPr id="76" name="矩形 75">
            <a:extLst>
              <a:ext uri="{FF2B5EF4-FFF2-40B4-BE49-F238E27FC236}">
                <a16:creationId xmlns:a16="http://schemas.microsoft.com/office/drawing/2014/main" id="{F1F6D441-0F9D-4F36-98E9-99626C00039E}"/>
              </a:ext>
            </a:extLst>
          </p:cNvPr>
          <p:cNvSpPr/>
          <p:nvPr/>
        </p:nvSpPr>
        <p:spPr>
          <a:xfrm>
            <a:off x="6372592" y="6064582"/>
            <a:ext cx="715260" cy="461665"/>
          </a:xfrm>
          <a:prstGeom prst="rect">
            <a:avLst/>
          </a:prstGeom>
        </p:spPr>
        <p:txBody>
          <a:bodyPr wrap="none">
            <a:spAutoFit/>
          </a:bodyPr>
          <a:lstStyle/>
          <a:p>
            <a:pPr algn="ctr"/>
            <a:r>
              <a:rPr lang="en-US" altLang="zh-CN" sz="2400" dirty="0"/>
              <a:t>M-2</a:t>
            </a:r>
            <a:endParaRPr lang="zh-CN" altLang="en-US" sz="2400" dirty="0"/>
          </a:p>
        </p:txBody>
      </p:sp>
      <p:sp>
        <p:nvSpPr>
          <p:cNvPr id="77" name="矩形 76">
            <a:extLst>
              <a:ext uri="{FF2B5EF4-FFF2-40B4-BE49-F238E27FC236}">
                <a16:creationId xmlns:a16="http://schemas.microsoft.com/office/drawing/2014/main" id="{98BD8F6E-D9D6-4C66-8425-418F7B6A7371}"/>
              </a:ext>
            </a:extLst>
          </p:cNvPr>
          <p:cNvSpPr/>
          <p:nvPr/>
        </p:nvSpPr>
        <p:spPr>
          <a:xfrm>
            <a:off x="7279774" y="6044696"/>
            <a:ext cx="792205" cy="461665"/>
          </a:xfrm>
          <a:prstGeom prst="rect">
            <a:avLst/>
          </a:prstGeom>
        </p:spPr>
        <p:txBody>
          <a:bodyPr wrap="none">
            <a:spAutoFit/>
          </a:bodyPr>
          <a:lstStyle/>
          <a:p>
            <a:pPr algn="ctr"/>
            <a:r>
              <a:rPr lang="en-US" altLang="zh-CN" sz="2400" dirty="0"/>
              <a:t>M+3</a:t>
            </a:r>
            <a:endParaRPr lang="zh-CN" altLang="en-US" sz="2400" dirty="0"/>
          </a:p>
        </p:txBody>
      </p:sp>
      <p:sp>
        <p:nvSpPr>
          <p:cNvPr id="49" name="矩形 48">
            <a:extLst>
              <a:ext uri="{FF2B5EF4-FFF2-40B4-BE49-F238E27FC236}">
                <a16:creationId xmlns:a16="http://schemas.microsoft.com/office/drawing/2014/main" id="{50D25175-62B3-4FB7-83EA-1C2C4320E2F8}"/>
              </a:ext>
            </a:extLst>
          </p:cNvPr>
          <p:cNvSpPr/>
          <p:nvPr/>
        </p:nvSpPr>
        <p:spPr>
          <a:xfrm>
            <a:off x="4245237" y="492767"/>
            <a:ext cx="5546194"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X1 </a:t>
            </a:r>
            <a:r>
              <a:rPr lang="zh-CN" altLang="en-US" sz="2400" b="1" dirty="0">
                <a:solidFill>
                  <a:srgbClr val="C00000"/>
                </a:solidFill>
              </a:rPr>
              <a:t>入基</a:t>
            </a:r>
            <a:endParaRPr lang="en-US" altLang="zh-CN" sz="2400" b="1" dirty="0">
              <a:solidFill>
                <a:srgbClr val="C00000"/>
              </a:solidFill>
            </a:endParaRPr>
          </a:p>
        </p:txBody>
      </p:sp>
      <p:graphicFrame>
        <p:nvGraphicFramePr>
          <p:cNvPr id="51" name="对象 50">
            <a:extLst>
              <a:ext uri="{FF2B5EF4-FFF2-40B4-BE49-F238E27FC236}">
                <a16:creationId xmlns:a16="http://schemas.microsoft.com/office/drawing/2014/main" id="{B3ADC626-B2A3-4C3C-9938-D24A90884D11}"/>
              </a:ext>
            </a:extLst>
          </p:cNvPr>
          <p:cNvGraphicFramePr>
            <a:graphicFrameLocks noChangeAspect="1"/>
          </p:cNvGraphicFramePr>
          <p:nvPr>
            <p:extLst>
              <p:ext uri="{D42A27DB-BD31-4B8C-83A1-F6EECF244321}">
                <p14:modId xmlns:p14="http://schemas.microsoft.com/office/powerpoint/2010/main" val="3152256728"/>
              </p:ext>
            </p:extLst>
          </p:nvPr>
        </p:nvGraphicFramePr>
        <p:xfrm>
          <a:off x="4432300" y="1095375"/>
          <a:ext cx="1617663" cy="900113"/>
        </p:xfrm>
        <a:graphic>
          <a:graphicData uri="http://schemas.openxmlformats.org/presentationml/2006/ole">
            <mc:AlternateContent xmlns:mc="http://schemas.openxmlformats.org/markup-compatibility/2006">
              <mc:Choice xmlns:v="urn:schemas-microsoft-com:vml" Requires="v">
                <p:oleObj name="Equation" r:id="rId4" imgW="711000" imgH="393480" progId="Equation.DSMT4">
                  <p:embed/>
                </p:oleObj>
              </mc:Choice>
              <mc:Fallback>
                <p:oleObj name="Equation" r:id="rId4" imgW="711000" imgH="393480" progId="Equation.DSMT4">
                  <p:embed/>
                  <p:pic>
                    <p:nvPicPr>
                      <p:cNvPr id="45" name="对象 44">
                        <a:extLst>
                          <a:ext uri="{FF2B5EF4-FFF2-40B4-BE49-F238E27FC236}">
                            <a16:creationId xmlns:a16="http://schemas.microsoft.com/office/drawing/2014/main" id="{45A31A08-C335-451B-A54A-F7ADCD37F24C}"/>
                          </a:ext>
                        </a:extLst>
                      </p:cNvPr>
                      <p:cNvPicPr/>
                      <p:nvPr/>
                    </p:nvPicPr>
                    <p:blipFill>
                      <a:blip r:embed="rId5"/>
                      <a:stretch>
                        <a:fillRect/>
                      </a:stretch>
                    </p:blipFill>
                    <p:spPr>
                      <a:xfrm>
                        <a:off x="4432300" y="1095375"/>
                        <a:ext cx="1617663" cy="900113"/>
                      </a:xfrm>
                      <a:prstGeom prst="rect">
                        <a:avLst/>
                      </a:prstGeom>
                    </p:spPr>
                  </p:pic>
                </p:oleObj>
              </mc:Fallback>
            </mc:AlternateContent>
          </a:graphicData>
        </a:graphic>
      </p:graphicFrame>
      <p:graphicFrame>
        <p:nvGraphicFramePr>
          <p:cNvPr id="52" name="对象 51">
            <a:extLst>
              <a:ext uri="{FF2B5EF4-FFF2-40B4-BE49-F238E27FC236}">
                <a16:creationId xmlns:a16="http://schemas.microsoft.com/office/drawing/2014/main" id="{632D7A7B-7974-4C8D-ABA2-3598F343BFD3}"/>
              </a:ext>
            </a:extLst>
          </p:cNvPr>
          <p:cNvGraphicFramePr>
            <a:graphicFrameLocks noChangeAspect="1"/>
          </p:cNvGraphicFramePr>
          <p:nvPr>
            <p:extLst>
              <p:ext uri="{D42A27DB-BD31-4B8C-83A1-F6EECF244321}">
                <p14:modId xmlns:p14="http://schemas.microsoft.com/office/powerpoint/2010/main" val="154675557"/>
              </p:ext>
            </p:extLst>
          </p:nvPr>
        </p:nvGraphicFramePr>
        <p:xfrm>
          <a:off x="6251575" y="1077913"/>
          <a:ext cx="2046288" cy="900112"/>
        </p:xfrm>
        <a:graphic>
          <a:graphicData uri="http://schemas.openxmlformats.org/presentationml/2006/ole">
            <mc:AlternateContent xmlns:mc="http://schemas.openxmlformats.org/markup-compatibility/2006">
              <mc:Choice xmlns:v="urn:schemas-microsoft-com:vml" Requires="v">
                <p:oleObj name="Equation" r:id="rId6" imgW="901440" imgH="393480" progId="Equation.DSMT4">
                  <p:embed/>
                </p:oleObj>
              </mc:Choice>
              <mc:Fallback>
                <p:oleObj name="Equation" r:id="rId6" imgW="901440" imgH="393480" progId="Equation.DSMT4">
                  <p:embed/>
                  <p:pic>
                    <p:nvPicPr>
                      <p:cNvPr id="48" name="对象 47">
                        <a:extLst>
                          <a:ext uri="{FF2B5EF4-FFF2-40B4-BE49-F238E27FC236}">
                            <a16:creationId xmlns:a16="http://schemas.microsoft.com/office/drawing/2014/main" id="{2C2A0949-0193-4896-B371-CD37612D6DB2}"/>
                          </a:ext>
                        </a:extLst>
                      </p:cNvPr>
                      <p:cNvPicPr/>
                      <p:nvPr/>
                    </p:nvPicPr>
                    <p:blipFill>
                      <a:blip r:embed="rId7"/>
                      <a:stretch>
                        <a:fillRect/>
                      </a:stretch>
                    </p:blipFill>
                    <p:spPr>
                      <a:xfrm>
                        <a:off x="6251575" y="1077913"/>
                        <a:ext cx="2046288" cy="900112"/>
                      </a:xfrm>
                      <a:prstGeom prst="rect">
                        <a:avLst/>
                      </a:prstGeom>
                    </p:spPr>
                  </p:pic>
                </p:oleObj>
              </mc:Fallback>
            </mc:AlternateContent>
          </a:graphicData>
        </a:graphic>
      </p:graphicFrame>
      <p:graphicFrame>
        <p:nvGraphicFramePr>
          <p:cNvPr id="54" name="对象 53">
            <a:extLst>
              <a:ext uri="{FF2B5EF4-FFF2-40B4-BE49-F238E27FC236}">
                <a16:creationId xmlns:a16="http://schemas.microsoft.com/office/drawing/2014/main" id="{1F59ACB5-800C-4AB0-B390-3CC6237FE8BB}"/>
              </a:ext>
            </a:extLst>
          </p:cNvPr>
          <p:cNvGraphicFramePr>
            <a:graphicFrameLocks noChangeAspect="1"/>
          </p:cNvGraphicFramePr>
          <p:nvPr>
            <p:extLst>
              <p:ext uri="{D42A27DB-BD31-4B8C-83A1-F6EECF244321}">
                <p14:modId xmlns:p14="http://schemas.microsoft.com/office/powerpoint/2010/main" val="3229448912"/>
              </p:ext>
            </p:extLst>
          </p:nvPr>
        </p:nvGraphicFramePr>
        <p:xfrm>
          <a:off x="4427694" y="1977250"/>
          <a:ext cx="1963738" cy="900112"/>
        </p:xfrm>
        <a:graphic>
          <a:graphicData uri="http://schemas.openxmlformats.org/presentationml/2006/ole">
            <mc:AlternateContent xmlns:mc="http://schemas.openxmlformats.org/markup-compatibility/2006">
              <mc:Choice xmlns:v="urn:schemas-microsoft-com:vml" Requires="v">
                <p:oleObj name="Equation" r:id="rId8" imgW="863280" imgH="393480" progId="Equation.DSMT4">
                  <p:embed/>
                </p:oleObj>
              </mc:Choice>
              <mc:Fallback>
                <p:oleObj name="Equation" r:id="rId8" imgW="863280" imgH="393480" progId="Equation.DSMT4">
                  <p:embed/>
                  <p:pic>
                    <p:nvPicPr>
                      <p:cNvPr id="49" name="对象 48">
                        <a:extLst>
                          <a:ext uri="{FF2B5EF4-FFF2-40B4-BE49-F238E27FC236}">
                            <a16:creationId xmlns:a16="http://schemas.microsoft.com/office/drawing/2014/main" id="{AF341A07-FE87-4BE6-B7E8-17440D5282E9}"/>
                          </a:ext>
                        </a:extLst>
                      </p:cNvPr>
                      <p:cNvPicPr/>
                      <p:nvPr/>
                    </p:nvPicPr>
                    <p:blipFill>
                      <a:blip r:embed="rId9"/>
                      <a:stretch>
                        <a:fillRect/>
                      </a:stretch>
                    </p:blipFill>
                    <p:spPr>
                      <a:xfrm>
                        <a:off x="4427694" y="1977250"/>
                        <a:ext cx="1963738" cy="900112"/>
                      </a:xfrm>
                      <a:prstGeom prst="rect">
                        <a:avLst/>
                      </a:prstGeom>
                    </p:spPr>
                  </p:pic>
                </p:oleObj>
              </mc:Fallback>
            </mc:AlternateContent>
          </a:graphicData>
        </a:graphic>
      </p:graphicFrame>
      <p:sp>
        <p:nvSpPr>
          <p:cNvPr id="55" name="矩形 54">
            <a:extLst>
              <a:ext uri="{FF2B5EF4-FFF2-40B4-BE49-F238E27FC236}">
                <a16:creationId xmlns:a16="http://schemas.microsoft.com/office/drawing/2014/main" id="{78502C1E-7FF2-43D7-B9C4-8D6E77F19A1B}"/>
              </a:ext>
            </a:extLst>
          </p:cNvPr>
          <p:cNvSpPr/>
          <p:nvPr/>
        </p:nvSpPr>
        <p:spPr>
          <a:xfrm>
            <a:off x="9246053" y="4437112"/>
            <a:ext cx="356188" cy="461665"/>
          </a:xfrm>
          <a:prstGeom prst="rect">
            <a:avLst/>
          </a:prstGeom>
        </p:spPr>
        <p:txBody>
          <a:bodyPr wrap="none">
            <a:spAutoFit/>
          </a:bodyPr>
          <a:lstStyle/>
          <a:p>
            <a:pPr algn="ctr"/>
            <a:r>
              <a:rPr lang="en-US" altLang="zh-CN" sz="2400" dirty="0"/>
              <a:t>4</a:t>
            </a:r>
            <a:endParaRPr lang="zh-CN" altLang="en-US" sz="2400" dirty="0"/>
          </a:p>
        </p:txBody>
      </p:sp>
      <mc:AlternateContent xmlns:mc="http://schemas.openxmlformats.org/markup-compatibility/2006" xmlns:a14="http://schemas.microsoft.com/office/drawing/2010/main">
        <mc:Choice Requires="a14">
          <p:sp>
            <p:nvSpPr>
              <p:cNvPr id="56" name="矩形 55">
                <a:extLst>
                  <a:ext uri="{FF2B5EF4-FFF2-40B4-BE49-F238E27FC236}">
                    <a16:creationId xmlns:a16="http://schemas.microsoft.com/office/drawing/2014/main" id="{1A97E790-24F7-482F-A267-0E4784C85C27}"/>
                  </a:ext>
                </a:extLst>
              </p:cNvPr>
              <p:cNvSpPr/>
              <p:nvPr/>
            </p:nvSpPr>
            <p:spPr>
              <a:xfrm>
                <a:off x="9215499" y="4959463"/>
                <a:ext cx="48923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56" name="矩形 55">
                <a:extLst>
                  <a:ext uri="{FF2B5EF4-FFF2-40B4-BE49-F238E27FC236}">
                    <a16:creationId xmlns:a16="http://schemas.microsoft.com/office/drawing/2014/main" id="{1A97E790-24F7-482F-A267-0E4784C85C27}"/>
                  </a:ext>
                </a:extLst>
              </p:cNvPr>
              <p:cNvSpPr>
                <a:spLocks noRot="1" noChangeAspect="1" noMove="1" noResize="1" noEditPoints="1" noAdjustHandles="1" noChangeArrowheads="1" noChangeShapeType="1" noTextEdit="1"/>
              </p:cNvSpPr>
              <p:nvPr/>
            </p:nvSpPr>
            <p:spPr>
              <a:xfrm>
                <a:off x="9215499" y="4959463"/>
                <a:ext cx="489236" cy="46166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矩形 59">
                <a:extLst>
                  <a:ext uri="{FF2B5EF4-FFF2-40B4-BE49-F238E27FC236}">
                    <a16:creationId xmlns:a16="http://schemas.microsoft.com/office/drawing/2014/main" id="{26366D08-E99D-4F37-8AAF-650BE32C5DA3}"/>
                  </a:ext>
                </a:extLst>
              </p:cNvPr>
              <p:cNvSpPr/>
              <p:nvPr/>
            </p:nvSpPr>
            <p:spPr>
              <a:xfrm>
                <a:off x="9215499" y="5522847"/>
                <a:ext cx="48923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60" name="矩形 59">
                <a:extLst>
                  <a:ext uri="{FF2B5EF4-FFF2-40B4-BE49-F238E27FC236}">
                    <a16:creationId xmlns:a16="http://schemas.microsoft.com/office/drawing/2014/main" id="{26366D08-E99D-4F37-8AAF-650BE32C5DA3}"/>
                  </a:ext>
                </a:extLst>
              </p:cNvPr>
              <p:cNvSpPr>
                <a:spLocks noRot="1" noChangeAspect="1" noMove="1" noResize="1" noEditPoints="1" noAdjustHandles="1" noChangeArrowheads="1" noChangeShapeType="1" noTextEdit="1"/>
              </p:cNvSpPr>
              <p:nvPr/>
            </p:nvSpPr>
            <p:spPr>
              <a:xfrm>
                <a:off x="9215499" y="5522847"/>
                <a:ext cx="489236" cy="461665"/>
              </a:xfrm>
              <a:prstGeom prst="rect">
                <a:avLst/>
              </a:prstGeom>
              <a:blipFill>
                <a:blip r:embed="rId11"/>
                <a:stretch>
                  <a:fillRect/>
                </a:stretch>
              </a:blipFill>
            </p:spPr>
            <p:txBody>
              <a:bodyPr/>
              <a:lstStyle/>
              <a:p>
                <a:r>
                  <a:rPr lang="zh-CN" altLang="en-US">
                    <a:noFill/>
                  </a:rPr>
                  <a:t> </a:t>
                </a:r>
              </a:p>
            </p:txBody>
          </p:sp>
        </mc:Fallback>
      </mc:AlternateContent>
      <p:sp>
        <p:nvSpPr>
          <p:cNvPr id="61" name="矩形 60">
            <a:extLst>
              <a:ext uri="{FF2B5EF4-FFF2-40B4-BE49-F238E27FC236}">
                <a16:creationId xmlns:a16="http://schemas.microsoft.com/office/drawing/2014/main" id="{2986323C-49DA-4BCC-B9A8-125AB08CB2F2}"/>
              </a:ext>
            </a:extLst>
          </p:cNvPr>
          <p:cNvSpPr/>
          <p:nvPr/>
        </p:nvSpPr>
        <p:spPr>
          <a:xfrm>
            <a:off x="6730222" y="2416563"/>
            <a:ext cx="2211975" cy="461665"/>
          </a:xfrm>
          <a:prstGeom prst="rect">
            <a:avLst/>
          </a:prstGeom>
          <a:solidFill>
            <a:srgbClr val="FFFF66"/>
          </a:solidFill>
          <a:ln>
            <a:solidFill>
              <a:schemeClr val="tx1"/>
            </a:solidFill>
          </a:ln>
        </p:spPr>
        <p:txBody>
          <a:bodyPr wrap="square">
            <a:spAutoFit/>
          </a:bodyPr>
          <a:lstStyle/>
          <a:p>
            <a:r>
              <a:rPr lang="en-US" altLang="zh-CN" sz="2400" b="1" dirty="0">
                <a:solidFill>
                  <a:srgbClr val="C00000"/>
                </a:solidFill>
              </a:rPr>
              <a:t>X4 </a:t>
            </a:r>
            <a:r>
              <a:rPr lang="zh-CN" altLang="en-US" sz="2400" b="1" dirty="0">
                <a:solidFill>
                  <a:srgbClr val="C00000"/>
                </a:solidFill>
              </a:rPr>
              <a:t>离基</a:t>
            </a:r>
            <a:endParaRPr lang="en-US" altLang="zh-CN" sz="2400" b="1" dirty="0">
              <a:solidFill>
                <a:srgbClr val="C00000"/>
              </a:solidFill>
            </a:endParaRPr>
          </a:p>
        </p:txBody>
      </p:sp>
      <p:sp>
        <p:nvSpPr>
          <p:cNvPr id="62" name="椭圆 61">
            <a:extLst>
              <a:ext uri="{FF2B5EF4-FFF2-40B4-BE49-F238E27FC236}">
                <a16:creationId xmlns:a16="http://schemas.microsoft.com/office/drawing/2014/main" id="{BEE601A1-67A1-492A-8E68-E75DDC9539DF}"/>
              </a:ext>
            </a:extLst>
          </p:cNvPr>
          <p:cNvSpPr/>
          <p:nvPr/>
        </p:nvSpPr>
        <p:spPr bwMode="auto">
          <a:xfrm>
            <a:off x="2163677" y="4497190"/>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EDEF472D-43A0-461A-99A1-580062D948BE}"/>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8"/>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63" name="矩形 62">
                <a:extLst>
                  <a:ext uri="{FF2B5EF4-FFF2-40B4-BE49-F238E27FC236}">
                    <a16:creationId xmlns:a16="http://schemas.microsoft.com/office/drawing/2014/main" id="{EDEF472D-43A0-461A-99A1-580062D948BE}"/>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12"/>
                <a:stretch>
                  <a:fillRect l="-3675" t="-10294" r="-580" b="-161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4231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ppt_x"/>
                                          </p:val>
                                        </p:tav>
                                        <p:tav tm="100000">
                                          <p:val>
                                            <p:strVal val="#ppt_x"/>
                                          </p:val>
                                        </p:tav>
                                      </p:tavLst>
                                    </p:anim>
                                    <p:anim calcmode="lin" valueType="num">
                                      <p:cBhvr additive="base">
                                        <p:cTn id="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anim calcmode="lin" valueType="num">
                                      <p:cBhvr additive="base">
                                        <p:cTn id="13" dur="500" fill="hold"/>
                                        <p:tgtEl>
                                          <p:spTgt spid="55"/>
                                        </p:tgtEl>
                                        <p:attrNameLst>
                                          <p:attrName>ppt_x</p:attrName>
                                        </p:attrNameLst>
                                      </p:cBhvr>
                                      <p:tavLst>
                                        <p:tav tm="0">
                                          <p:val>
                                            <p:strVal val="#ppt_x"/>
                                          </p:val>
                                        </p:tav>
                                        <p:tav tm="100000">
                                          <p:val>
                                            <p:strVal val="#ppt_x"/>
                                          </p:val>
                                        </p:tav>
                                      </p:tavLst>
                                    </p:anim>
                                    <p:anim calcmode="lin" valueType="num">
                                      <p:cBhvr additive="base">
                                        <p:cTn id="14"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500" fill="hold"/>
                                        <p:tgtEl>
                                          <p:spTgt spid="52"/>
                                        </p:tgtEl>
                                        <p:attrNameLst>
                                          <p:attrName>ppt_x</p:attrName>
                                        </p:attrNameLst>
                                      </p:cBhvr>
                                      <p:tavLst>
                                        <p:tav tm="0">
                                          <p:val>
                                            <p:strVal val="#ppt_x"/>
                                          </p:val>
                                        </p:tav>
                                        <p:tav tm="100000">
                                          <p:val>
                                            <p:strVal val="#ppt_x"/>
                                          </p:val>
                                        </p:tav>
                                      </p:tavLst>
                                    </p:anim>
                                    <p:anim calcmode="lin" valueType="num">
                                      <p:cBhvr additive="base">
                                        <p:cTn id="20"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6"/>
                                        </p:tgtEl>
                                        <p:attrNameLst>
                                          <p:attrName>style.visibility</p:attrName>
                                        </p:attrNameLst>
                                      </p:cBhvr>
                                      <p:to>
                                        <p:strVal val="visible"/>
                                      </p:to>
                                    </p:set>
                                    <p:anim calcmode="lin" valueType="num">
                                      <p:cBhvr additive="base">
                                        <p:cTn id="25" dur="500" fill="hold"/>
                                        <p:tgtEl>
                                          <p:spTgt spid="56"/>
                                        </p:tgtEl>
                                        <p:attrNameLst>
                                          <p:attrName>ppt_x</p:attrName>
                                        </p:attrNameLst>
                                      </p:cBhvr>
                                      <p:tavLst>
                                        <p:tav tm="0">
                                          <p:val>
                                            <p:strVal val="#ppt_x"/>
                                          </p:val>
                                        </p:tav>
                                        <p:tav tm="100000">
                                          <p:val>
                                            <p:strVal val="#ppt_x"/>
                                          </p:val>
                                        </p:tav>
                                      </p:tavLst>
                                    </p:anim>
                                    <p:anim calcmode="lin" valueType="num">
                                      <p:cBhvr additive="base">
                                        <p:cTn id="26"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anim calcmode="lin" valueType="num">
                                      <p:cBhvr additive="base">
                                        <p:cTn id="31" dur="500" fill="hold"/>
                                        <p:tgtEl>
                                          <p:spTgt spid="54"/>
                                        </p:tgtEl>
                                        <p:attrNameLst>
                                          <p:attrName>ppt_x</p:attrName>
                                        </p:attrNameLst>
                                      </p:cBhvr>
                                      <p:tavLst>
                                        <p:tav tm="0">
                                          <p:val>
                                            <p:strVal val="#ppt_x"/>
                                          </p:val>
                                        </p:tav>
                                        <p:tav tm="100000">
                                          <p:val>
                                            <p:strVal val="#ppt_x"/>
                                          </p:val>
                                        </p:tav>
                                      </p:tavLst>
                                    </p:anim>
                                    <p:anim calcmode="lin" valueType="num">
                                      <p:cBhvr additive="base">
                                        <p:cTn id="3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0"/>
                                        </p:tgtEl>
                                        <p:attrNameLst>
                                          <p:attrName>style.visibility</p:attrName>
                                        </p:attrNameLst>
                                      </p:cBhvr>
                                      <p:to>
                                        <p:strVal val="visible"/>
                                      </p:to>
                                    </p:set>
                                    <p:anim calcmode="lin" valueType="num">
                                      <p:cBhvr additive="base">
                                        <p:cTn id="37" dur="500" fill="hold"/>
                                        <p:tgtEl>
                                          <p:spTgt spid="60"/>
                                        </p:tgtEl>
                                        <p:attrNameLst>
                                          <p:attrName>ppt_x</p:attrName>
                                        </p:attrNameLst>
                                      </p:cBhvr>
                                      <p:tavLst>
                                        <p:tav tm="0">
                                          <p:val>
                                            <p:strVal val="#ppt_x"/>
                                          </p:val>
                                        </p:tav>
                                        <p:tav tm="100000">
                                          <p:val>
                                            <p:strVal val="#ppt_x"/>
                                          </p:val>
                                        </p:tav>
                                      </p:tavLst>
                                    </p:anim>
                                    <p:anim calcmode="lin" valueType="num">
                                      <p:cBhvr additive="base">
                                        <p:cTn id="38"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wipe(down)">
                                      <p:cBhvr>
                                        <p:cTn id="43" dur="500"/>
                                        <p:tgtEl>
                                          <p:spTgt spid="61"/>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barn(inVertical)">
                                      <p:cBhvr>
                                        <p:cTn id="46"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6" grpId="0"/>
      <p:bldP spid="60" grpId="0"/>
      <p:bldP spid="61" grpId="0" animBg="1"/>
      <p:bldP spid="6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37</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2"/>
                          <a:stretch>
                            <a:fillRect l="-901370" t="-559" r="-101370" b="-201676"/>
                          </a:stretch>
                        </a:blipFill>
                      </a:tcPr>
                    </a:tc>
                    <a:tc rowSpan="2">
                      <a:txBody>
                        <a:bodyPr/>
                        <a:lstStyle/>
                        <a:p>
                          <a:endParaRPr lang="zh-CN"/>
                        </a:p>
                      </a:txBody>
                      <a:tcPr anchor="ctr">
                        <a:blipFill>
                          <a:blip r:embed="rId2"/>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2"/>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extLst>
              <p:ext uri="{D42A27DB-BD31-4B8C-83A1-F6EECF244321}">
                <p14:modId xmlns:p14="http://schemas.microsoft.com/office/powerpoint/2010/main" val="716054155"/>
              </p:ext>
            </p:extLst>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extLst>
              <p:ext uri="{D42A27DB-BD31-4B8C-83A1-F6EECF244321}">
                <p14:modId xmlns:p14="http://schemas.microsoft.com/office/powerpoint/2010/main" val="3670591651"/>
              </p:ext>
            </p:extLst>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42" name="矩形 41">
            <a:extLst>
              <a:ext uri="{FF2B5EF4-FFF2-40B4-BE49-F238E27FC236}">
                <a16:creationId xmlns:a16="http://schemas.microsoft.com/office/drawing/2014/main" id="{924A96D5-7C65-4637-B028-F43F70FED4BB}"/>
              </a:ext>
            </a:extLst>
          </p:cNvPr>
          <p:cNvSpPr/>
          <p:nvPr/>
        </p:nvSpPr>
        <p:spPr>
          <a:xfrm>
            <a:off x="10823100" y="2055793"/>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10796020" y="2572187"/>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10789385" y="2182626"/>
            <a:ext cx="354584" cy="461665"/>
          </a:xfrm>
          <a:prstGeom prst="rect">
            <a:avLst/>
          </a:prstGeom>
        </p:spPr>
        <p:txBody>
          <a:bodyPr wrap="none">
            <a:spAutoFit/>
          </a:bodyPr>
          <a:lstStyle/>
          <a:p>
            <a:pPr algn="ctr"/>
            <a:r>
              <a:rPr lang="en-US" altLang="zh-CN" sz="2400" dirty="0"/>
              <a:t>  </a:t>
            </a:r>
            <a:endParaRPr lang="zh-CN" altLang="en-US" sz="2400" dirty="0"/>
          </a:p>
        </p:txBody>
      </p:sp>
      <p:sp>
        <p:nvSpPr>
          <p:cNvPr id="62" name="椭圆 61">
            <a:extLst>
              <a:ext uri="{FF2B5EF4-FFF2-40B4-BE49-F238E27FC236}">
                <a16:creationId xmlns:a16="http://schemas.microsoft.com/office/drawing/2014/main" id="{BEE601A1-67A1-492A-8E68-E75DDC9539DF}"/>
              </a:ext>
            </a:extLst>
          </p:cNvPr>
          <p:cNvSpPr/>
          <p:nvPr/>
        </p:nvSpPr>
        <p:spPr bwMode="auto">
          <a:xfrm>
            <a:off x="2163677" y="4497190"/>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57" name="矩形 56">
                <a:extLst>
                  <a:ext uri="{FF2B5EF4-FFF2-40B4-BE49-F238E27FC236}">
                    <a16:creationId xmlns:a16="http://schemas.microsoft.com/office/drawing/2014/main" id="{041903E8-7ABD-4D80-B9C9-F4F88CF78BDC}"/>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9"/>
                </a:pPr>
                <a:r>
                  <a:rPr lang="zh-CN" altLang="en-US" sz="2400" dirty="0"/>
                  <a:t>替换基变量，清空</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a:t>
                </a:r>
                <a:endParaRPr lang="en-US" altLang="zh-CN" sz="2400" dirty="0"/>
              </a:p>
            </p:txBody>
          </p:sp>
        </mc:Choice>
        <mc:Fallback xmlns="">
          <p:sp>
            <p:nvSpPr>
              <p:cNvPr id="57" name="矩形 56">
                <a:extLst>
                  <a:ext uri="{FF2B5EF4-FFF2-40B4-BE49-F238E27FC236}">
                    <a16:creationId xmlns:a16="http://schemas.microsoft.com/office/drawing/2014/main" id="{041903E8-7ABD-4D80-B9C9-F4F88CF78BDC}"/>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3"/>
                <a:stretch>
                  <a:fillRect l="-3675" t="-10294" r="-580" b="-161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7382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Effect transition="in" filter="barn(inVertical)">
                                      <p:cBhvr>
                                        <p:cTn id="7" dur="500"/>
                                        <p:tgtEl>
                                          <p:spTgt spid="57">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par>
                                <p:cTn id="12" presetID="22" presetClass="entr" presetSubtype="4"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00"/>
                                        <p:tgtEl>
                                          <p:spTgt spid="10"/>
                                        </p:tgtEl>
                                      </p:cBhvr>
                                    </p:animEffect>
                                  </p:childTnLst>
                                </p:cTn>
                              </p:par>
                              <p:par>
                                <p:cTn id="15" presetID="22" presetClass="entr" presetSubtype="4"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par>
                                <p:cTn id="18" presetID="22" presetClass="entr" presetSubtype="4"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down)">
                                      <p:cBhvr>
                                        <p:cTn id="20" dur="500"/>
                                        <p:tgtEl>
                                          <p:spTgt spid="12"/>
                                        </p:tgtEl>
                                      </p:cBhvr>
                                    </p:animEffect>
                                  </p:childTnLst>
                                </p:cTn>
                              </p:par>
                              <p:par>
                                <p:cTn id="21" presetID="22" presetClass="entr" presetSubtype="4"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par>
                                <p:cTn id="24" presetID="22" presetClass="entr" presetSubtype="4"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down)">
                                      <p:cBhvr>
                                        <p:cTn id="26" dur="500"/>
                                        <p:tgtEl>
                                          <p:spTgt spid="14"/>
                                        </p:tgtEl>
                                      </p:cBhvr>
                                    </p:animEffect>
                                  </p:childTnLst>
                                </p:cTn>
                              </p:par>
                              <p:par>
                                <p:cTn id="27" presetID="22" presetClass="entr" presetSubtype="4"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down)">
                                      <p:cBhvr>
                                        <p:cTn id="29" dur="500"/>
                                        <p:tgtEl>
                                          <p:spTgt spid="15"/>
                                        </p:tgtEl>
                                      </p:cBhvr>
                                    </p:animEffect>
                                  </p:childTnLst>
                                </p:cTn>
                              </p:par>
                              <p:par>
                                <p:cTn id="30" presetID="22" presetClass="entr" presetSubtype="4"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par>
                                <p:cTn id="33" presetID="22" presetClass="entr" presetSubtype="4"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down)">
                                      <p:cBhvr>
                                        <p:cTn id="35" dur="500"/>
                                        <p:tgtEl>
                                          <p:spTgt spid="17"/>
                                        </p:tgtEl>
                                      </p:cBhvr>
                                    </p:animEffect>
                                  </p:childTnLst>
                                </p:cTn>
                              </p:par>
                              <p:par>
                                <p:cTn id="36" presetID="22" presetClass="entr" presetSubtype="4"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down)">
                                      <p:cBhvr>
                                        <p:cTn id="38" dur="500"/>
                                        <p:tgtEl>
                                          <p:spTgt spid="18"/>
                                        </p:tgtEl>
                                      </p:cBhvr>
                                    </p:animEffect>
                                  </p:childTnLst>
                                </p:cTn>
                              </p:par>
                              <p:par>
                                <p:cTn id="39" presetID="22" presetClass="entr" presetSubtype="4"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down)">
                                      <p:cBhvr>
                                        <p:cTn id="41" dur="500"/>
                                        <p:tgtEl>
                                          <p:spTgt spid="19"/>
                                        </p:tgtEl>
                                      </p:cBhvr>
                                    </p:animEffect>
                                  </p:childTnLst>
                                </p:cTn>
                              </p:par>
                              <p:par>
                                <p:cTn id="42" presetID="22" presetClass="entr" presetSubtype="4"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par>
                                <p:cTn id="45" presetID="22" presetClass="entr" presetSubtype="4"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down)">
                                      <p:cBhvr>
                                        <p:cTn id="47" dur="500"/>
                                        <p:tgtEl>
                                          <p:spTgt spid="2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wipe(down)">
                                      <p:cBhvr>
                                        <p:cTn id="5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38</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2"/>
                          <a:stretch>
                            <a:fillRect l="-901370" t="-559" r="-101370" b="-201676"/>
                          </a:stretch>
                        </a:blipFill>
                      </a:tcPr>
                    </a:tc>
                    <a:tc rowSpan="2">
                      <a:txBody>
                        <a:bodyPr/>
                        <a:lstStyle/>
                        <a:p>
                          <a:endParaRPr lang="zh-CN"/>
                        </a:p>
                      </a:txBody>
                      <a:tcPr anchor="ctr">
                        <a:blipFill>
                          <a:blip r:embed="rId2"/>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2"/>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12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42" name="矩形 41">
            <a:extLst>
              <a:ext uri="{FF2B5EF4-FFF2-40B4-BE49-F238E27FC236}">
                <a16:creationId xmlns:a16="http://schemas.microsoft.com/office/drawing/2014/main" id="{924A96D5-7C65-4637-B028-F43F70FED4BB}"/>
              </a:ext>
            </a:extLst>
          </p:cNvPr>
          <p:cNvSpPr/>
          <p:nvPr/>
        </p:nvSpPr>
        <p:spPr>
          <a:xfrm>
            <a:off x="8255666" y="5370736"/>
            <a:ext cx="354584" cy="461665"/>
          </a:xfrm>
          <a:prstGeom prst="rect">
            <a:avLst/>
          </a:prstGeom>
        </p:spPr>
        <p:txBody>
          <a:bodyPr wrap="none">
            <a:spAutoFit/>
          </a:bodyPr>
          <a:lstStyle/>
          <a:p>
            <a:pPr algn="ctr"/>
            <a:r>
              <a:rPr lang="en-US" altLang="zh-CN" sz="2400" dirty="0"/>
              <a:t>  </a:t>
            </a:r>
            <a:endParaRPr lang="zh-CN" altLang="en-US" sz="2400" dirty="0"/>
          </a:p>
        </p:txBody>
      </p:sp>
      <p:sp>
        <p:nvSpPr>
          <p:cNvPr id="43" name="矩形 42">
            <a:extLst>
              <a:ext uri="{FF2B5EF4-FFF2-40B4-BE49-F238E27FC236}">
                <a16:creationId xmlns:a16="http://schemas.microsoft.com/office/drawing/2014/main" id="{D642EC23-3CAD-4C5E-88FF-D724A80D132D}"/>
              </a:ext>
            </a:extLst>
          </p:cNvPr>
          <p:cNvSpPr/>
          <p:nvPr/>
        </p:nvSpPr>
        <p:spPr>
          <a:xfrm>
            <a:off x="8228586" y="5887130"/>
            <a:ext cx="354584" cy="461665"/>
          </a:xfrm>
          <a:prstGeom prst="rect">
            <a:avLst/>
          </a:prstGeom>
        </p:spPr>
        <p:txBody>
          <a:bodyPr wrap="none">
            <a:spAutoFit/>
          </a:bodyPr>
          <a:lstStyle/>
          <a:p>
            <a:pPr algn="ctr"/>
            <a:r>
              <a:rPr lang="en-US" altLang="zh-CN" sz="2400" dirty="0"/>
              <a:t>  </a:t>
            </a:r>
            <a:endParaRPr lang="zh-CN" altLang="en-US" sz="2400" dirty="0"/>
          </a:p>
        </p:txBody>
      </p:sp>
      <p:sp>
        <p:nvSpPr>
          <p:cNvPr id="50" name="矩形 49">
            <a:extLst>
              <a:ext uri="{FF2B5EF4-FFF2-40B4-BE49-F238E27FC236}">
                <a16:creationId xmlns:a16="http://schemas.microsoft.com/office/drawing/2014/main" id="{56545315-C4F8-4BBD-86E2-E75D62E734AB}"/>
              </a:ext>
            </a:extLst>
          </p:cNvPr>
          <p:cNvSpPr/>
          <p:nvPr/>
        </p:nvSpPr>
        <p:spPr>
          <a:xfrm>
            <a:off x="8221951" y="5497569"/>
            <a:ext cx="354584" cy="461665"/>
          </a:xfrm>
          <a:prstGeom prst="rect">
            <a:avLst/>
          </a:prstGeom>
        </p:spPr>
        <p:txBody>
          <a:bodyPr wrap="none">
            <a:spAutoFit/>
          </a:bodyPr>
          <a:lstStyle/>
          <a:p>
            <a:pPr algn="ctr"/>
            <a:r>
              <a:rPr lang="en-US" altLang="zh-CN" sz="2400" dirty="0"/>
              <a:t>  </a:t>
            </a:r>
            <a:endParaRPr lang="zh-CN" altLang="en-US" sz="2400" dirty="0"/>
          </a:p>
        </p:txBody>
      </p:sp>
      <p:sp>
        <p:nvSpPr>
          <p:cNvPr id="24" name="矩形 23">
            <a:extLst>
              <a:ext uri="{FF2B5EF4-FFF2-40B4-BE49-F238E27FC236}">
                <a16:creationId xmlns:a16="http://schemas.microsoft.com/office/drawing/2014/main" id="{964F2648-466F-4F62-9C87-65050DAFBB3A}"/>
              </a:ext>
            </a:extLst>
          </p:cNvPr>
          <p:cNvSpPr/>
          <p:nvPr/>
        </p:nvSpPr>
        <p:spPr>
          <a:xfrm>
            <a:off x="644902" y="2104162"/>
            <a:ext cx="3152398" cy="1200329"/>
          </a:xfrm>
          <a:prstGeom prst="rect">
            <a:avLst/>
          </a:prstGeom>
        </p:spPr>
        <p:txBody>
          <a:bodyPr wrap="square">
            <a:spAutoFit/>
          </a:bodyPr>
          <a:lstStyle/>
          <a:p>
            <a:pPr marL="457200" indent="-457200">
              <a:buFont typeface="+mj-ea"/>
              <a:buAutoNum type="circleNumDbPlain" startAt="10"/>
            </a:pPr>
            <a:r>
              <a:rPr lang="zh-CN" altLang="en-US" sz="2400" dirty="0"/>
              <a:t>进行矩阵变换，使得入基的矩阵标准化</a:t>
            </a:r>
            <a:endParaRPr lang="en-US" altLang="zh-CN" sz="2400" dirty="0"/>
          </a:p>
        </p:txBody>
      </p:sp>
      <p:sp>
        <p:nvSpPr>
          <p:cNvPr id="25" name="文本框 24">
            <a:extLst>
              <a:ext uri="{FF2B5EF4-FFF2-40B4-BE49-F238E27FC236}">
                <a16:creationId xmlns:a16="http://schemas.microsoft.com/office/drawing/2014/main" id="{85C6C9E9-AD80-4CAD-A7C3-7818E21D5935}"/>
              </a:ext>
            </a:extLst>
          </p:cNvPr>
          <p:cNvSpPr txBox="1"/>
          <p:nvPr/>
        </p:nvSpPr>
        <p:spPr>
          <a:xfrm>
            <a:off x="4780981" y="1082798"/>
            <a:ext cx="4158700" cy="1200329"/>
          </a:xfrm>
          <a:prstGeom prst="rect">
            <a:avLst/>
          </a:prstGeom>
          <a:noFill/>
        </p:spPr>
        <p:txBody>
          <a:bodyPr wrap="square" rtlCol="0">
            <a:spAutoFit/>
          </a:bodyPr>
          <a:lstStyle/>
          <a:p>
            <a:pPr marL="457200" indent="-457200">
              <a:buFont typeface="+mj-lt"/>
              <a:buAutoNum type="alphaLcParenR"/>
            </a:pPr>
            <a:r>
              <a:rPr lang="zh-CN" altLang="en-US" sz="2400" dirty="0"/>
              <a:t>第一行除以</a:t>
            </a:r>
            <a:r>
              <a:rPr lang="en-US" altLang="zh-CN" sz="2400" dirty="0"/>
              <a:t>3</a:t>
            </a:r>
          </a:p>
          <a:p>
            <a:pPr marL="457200" indent="-457200">
              <a:buFont typeface="+mj-lt"/>
              <a:buAutoNum type="alphaLcParenR"/>
            </a:pPr>
            <a:r>
              <a:rPr lang="zh-CN" altLang="en-US" sz="2400" dirty="0"/>
              <a:t>第一行乘以</a:t>
            </a:r>
            <a:r>
              <a:rPr lang="en-US" altLang="zh-CN" sz="2400" dirty="0"/>
              <a:t>2</a:t>
            </a:r>
            <a:r>
              <a:rPr lang="zh-CN" altLang="en-US" sz="2400" dirty="0"/>
              <a:t>加上第三行</a:t>
            </a:r>
            <a:endParaRPr lang="en-US" altLang="zh-CN" sz="2400" dirty="0"/>
          </a:p>
          <a:p>
            <a:pPr marL="457200" indent="-457200">
              <a:buFont typeface="+mj-lt"/>
              <a:buAutoNum type="alphaLcParenR"/>
            </a:pPr>
            <a:endParaRPr lang="en-US" altLang="zh-CN" sz="2400" dirty="0"/>
          </a:p>
        </p:txBody>
      </p:sp>
      <p:sp>
        <p:nvSpPr>
          <p:cNvPr id="26" name="矩形 25">
            <a:extLst>
              <a:ext uri="{FF2B5EF4-FFF2-40B4-BE49-F238E27FC236}">
                <a16:creationId xmlns:a16="http://schemas.microsoft.com/office/drawing/2014/main" id="{46E0E720-50D1-41B7-AFDF-7C64415369E3}"/>
              </a:ext>
            </a:extLst>
          </p:cNvPr>
          <p:cNvSpPr/>
          <p:nvPr/>
        </p:nvSpPr>
        <p:spPr>
          <a:xfrm>
            <a:off x="3724040" y="4395833"/>
            <a:ext cx="729727"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27" name="矩形 26">
            <a:extLst>
              <a:ext uri="{FF2B5EF4-FFF2-40B4-BE49-F238E27FC236}">
                <a16:creationId xmlns:a16="http://schemas.microsoft.com/office/drawing/2014/main" id="{0C3E9D23-D10C-473E-A527-441B53545085}"/>
              </a:ext>
            </a:extLst>
          </p:cNvPr>
          <p:cNvSpPr/>
          <p:nvPr/>
        </p:nvSpPr>
        <p:spPr>
          <a:xfrm>
            <a:off x="4636659" y="4400736"/>
            <a:ext cx="657879"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1/3</a:t>
            </a:r>
            <a:endParaRPr lang="zh-CN" altLang="en-US" sz="2400" dirty="0"/>
          </a:p>
        </p:txBody>
      </p:sp>
      <p:sp>
        <p:nvSpPr>
          <p:cNvPr id="28" name="矩形 27">
            <a:extLst>
              <a:ext uri="{FF2B5EF4-FFF2-40B4-BE49-F238E27FC236}">
                <a16:creationId xmlns:a16="http://schemas.microsoft.com/office/drawing/2014/main" id="{4F46175B-DFC4-4782-99B8-0CD9758D2078}"/>
              </a:ext>
            </a:extLst>
          </p:cNvPr>
          <p:cNvSpPr/>
          <p:nvPr/>
        </p:nvSpPr>
        <p:spPr>
          <a:xfrm>
            <a:off x="5495663" y="4409095"/>
            <a:ext cx="749226"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-2/3</a:t>
            </a:r>
            <a:endParaRPr lang="zh-CN" altLang="en-US" sz="2400" dirty="0"/>
          </a:p>
        </p:txBody>
      </p:sp>
      <p:sp>
        <p:nvSpPr>
          <p:cNvPr id="29" name="矩形 28">
            <a:extLst>
              <a:ext uri="{FF2B5EF4-FFF2-40B4-BE49-F238E27FC236}">
                <a16:creationId xmlns:a16="http://schemas.microsoft.com/office/drawing/2014/main" id="{6E3EFE89-EB61-4F8B-ADE1-BDC7E354FA41}"/>
              </a:ext>
            </a:extLst>
          </p:cNvPr>
          <p:cNvSpPr/>
          <p:nvPr/>
        </p:nvSpPr>
        <p:spPr>
          <a:xfrm>
            <a:off x="6358702" y="4412048"/>
            <a:ext cx="741132"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2/3</a:t>
            </a:r>
            <a:endParaRPr lang="zh-CN" altLang="en-US" sz="2400" dirty="0"/>
          </a:p>
        </p:txBody>
      </p:sp>
      <p:sp>
        <p:nvSpPr>
          <p:cNvPr id="30" name="矩形 29">
            <a:extLst>
              <a:ext uri="{FF2B5EF4-FFF2-40B4-BE49-F238E27FC236}">
                <a16:creationId xmlns:a16="http://schemas.microsoft.com/office/drawing/2014/main" id="{B57DDEA5-E2FB-42E5-BAC7-A85989B1E1B3}"/>
              </a:ext>
            </a:extLst>
          </p:cNvPr>
          <p:cNvSpPr/>
          <p:nvPr/>
        </p:nvSpPr>
        <p:spPr>
          <a:xfrm>
            <a:off x="7189629" y="4409768"/>
            <a:ext cx="857370"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-5/3</a:t>
            </a:r>
            <a:endParaRPr lang="zh-CN" altLang="en-US" sz="2400" dirty="0"/>
          </a:p>
        </p:txBody>
      </p:sp>
      <p:sp>
        <p:nvSpPr>
          <p:cNvPr id="31" name="矩形 30">
            <a:extLst>
              <a:ext uri="{FF2B5EF4-FFF2-40B4-BE49-F238E27FC236}">
                <a16:creationId xmlns:a16="http://schemas.microsoft.com/office/drawing/2014/main" id="{F221C19B-2A43-48EC-8086-31BBAEAF84A3}"/>
              </a:ext>
            </a:extLst>
          </p:cNvPr>
          <p:cNvSpPr/>
          <p:nvPr/>
        </p:nvSpPr>
        <p:spPr>
          <a:xfrm>
            <a:off x="2182407" y="4445874"/>
            <a:ext cx="448253"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a:t>
            </a:r>
            <a:endParaRPr lang="zh-CN" altLang="en-US" sz="2400" dirty="0"/>
          </a:p>
        </p:txBody>
      </p:sp>
      <p:sp>
        <p:nvSpPr>
          <p:cNvPr id="32" name="矩形 31">
            <a:extLst>
              <a:ext uri="{FF2B5EF4-FFF2-40B4-BE49-F238E27FC236}">
                <a16:creationId xmlns:a16="http://schemas.microsoft.com/office/drawing/2014/main" id="{BE3CB12A-E80C-4CE8-AFD7-5B230A9F71EA}"/>
              </a:ext>
            </a:extLst>
          </p:cNvPr>
          <p:cNvSpPr/>
          <p:nvPr/>
        </p:nvSpPr>
        <p:spPr>
          <a:xfrm>
            <a:off x="2972040" y="4425669"/>
            <a:ext cx="550186"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33" name="矩形 32">
            <a:extLst>
              <a:ext uri="{FF2B5EF4-FFF2-40B4-BE49-F238E27FC236}">
                <a16:creationId xmlns:a16="http://schemas.microsoft.com/office/drawing/2014/main" id="{433CB97C-5287-4CA4-BB80-9A7D4A557AF3}"/>
              </a:ext>
            </a:extLst>
          </p:cNvPr>
          <p:cNvSpPr/>
          <p:nvPr/>
        </p:nvSpPr>
        <p:spPr>
          <a:xfrm>
            <a:off x="8088130" y="4419472"/>
            <a:ext cx="657879"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4</a:t>
            </a:r>
            <a:endParaRPr lang="zh-CN" altLang="en-US" sz="2400" dirty="0"/>
          </a:p>
        </p:txBody>
      </p:sp>
      <p:sp>
        <p:nvSpPr>
          <p:cNvPr id="62" name="椭圆 61">
            <a:extLst>
              <a:ext uri="{FF2B5EF4-FFF2-40B4-BE49-F238E27FC236}">
                <a16:creationId xmlns:a16="http://schemas.microsoft.com/office/drawing/2014/main" id="{BEE601A1-67A1-492A-8E68-E75DDC9539DF}"/>
              </a:ext>
            </a:extLst>
          </p:cNvPr>
          <p:cNvSpPr/>
          <p:nvPr/>
        </p:nvSpPr>
        <p:spPr bwMode="auto">
          <a:xfrm>
            <a:off x="2163677" y="4497190"/>
            <a:ext cx="481238" cy="341508"/>
          </a:xfrm>
          <a:prstGeom prst="ellipse">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34" name="矩形 33">
            <a:extLst>
              <a:ext uri="{FF2B5EF4-FFF2-40B4-BE49-F238E27FC236}">
                <a16:creationId xmlns:a16="http://schemas.microsoft.com/office/drawing/2014/main" id="{2E73B4F1-48AB-4C9F-BEDD-D2B3CE9FD73E}"/>
              </a:ext>
            </a:extLst>
          </p:cNvPr>
          <p:cNvSpPr/>
          <p:nvPr/>
        </p:nvSpPr>
        <p:spPr>
          <a:xfrm>
            <a:off x="3705310" y="5499102"/>
            <a:ext cx="729727"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1</a:t>
            </a:r>
            <a:endParaRPr lang="zh-CN" altLang="en-US" sz="2400" dirty="0"/>
          </a:p>
        </p:txBody>
      </p:sp>
      <p:sp>
        <p:nvSpPr>
          <p:cNvPr id="35" name="矩形 34">
            <a:extLst>
              <a:ext uri="{FF2B5EF4-FFF2-40B4-BE49-F238E27FC236}">
                <a16:creationId xmlns:a16="http://schemas.microsoft.com/office/drawing/2014/main" id="{C2184E95-FCD4-4ED9-A524-CBF015F0A8F0}"/>
              </a:ext>
            </a:extLst>
          </p:cNvPr>
          <p:cNvSpPr/>
          <p:nvPr/>
        </p:nvSpPr>
        <p:spPr>
          <a:xfrm>
            <a:off x="4617929" y="5504005"/>
            <a:ext cx="657879"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2/3</a:t>
            </a:r>
            <a:endParaRPr lang="zh-CN" altLang="en-US" sz="2400" dirty="0"/>
          </a:p>
        </p:txBody>
      </p:sp>
      <p:sp>
        <p:nvSpPr>
          <p:cNvPr id="36" name="矩形 35">
            <a:extLst>
              <a:ext uri="{FF2B5EF4-FFF2-40B4-BE49-F238E27FC236}">
                <a16:creationId xmlns:a16="http://schemas.microsoft.com/office/drawing/2014/main" id="{A0753C4E-BF8D-4774-A1C9-6B2C9FCD8ECD}"/>
              </a:ext>
            </a:extLst>
          </p:cNvPr>
          <p:cNvSpPr/>
          <p:nvPr/>
        </p:nvSpPr>
        <p:spPr>
          <a:xfrm>
            <a:off x="5476933" y="5512364"/>
            <a:ext cx="749226"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-4/3</a:t>
            </a:r>
            <a:endParaRPr lang="zh-CN" altLang="en-US" sz="2400" dirty="0"/>
          </a:p>
        </p:txBody>
      </p:sp>
      <p:sp>
        <p:nvSpPr>
          <p:cNvPr id="37" name="矩形 36">
            <a:extLst>
              <a:ext uri="{FF2B5EF4-FFF2-40B4-BE49-F238E27FC236}">
                <a16:creationId xmlns:a16="http://schemas.microsoft.com/office/drawing/2014/main" id="{C4B93F0E-65CA-4A02-A020-27D843D15333}"/>
              </a:ext>
            </a:extLst>
          </p:cNvPr>
          <p:cNvSpPr/>
          <p:nvPr/>
        </p:nvSpPr>
        <p:spPr>
          <a:xfrm>
            <a:off x="6339972" y="5515317"/>
            <a:ext cx="741132"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4/3</a:t>
            </a:r>
            <a:endParaRPr lang="zh-CN" altLang="en-US" sz="2400" dirty="0"/>
          </a:p>
        </p:txBody>
      </p:sp>
      <p:sp>
        <p:nvSpPr>
          <p:cNvPr id="38" name="矩形 37">
            <a:extLst>
              <a:ext uri="{FF2B5EF4-FFF2-40B4-BE49-F238E27FC236}">
                <a16:creationId xmlns:a16="http://schemas.microsoft.com/office/drawing/2014/main" id="{22B9CDA7-7FCE-4B9D-B7FE-C65E3AFAE772}"/>
              </a:ext>
            </a:extLst>
          </p:cNvPr>
          <p:cNvSpPr/>
          <p:nvPr/>
        </p:nvSpPr>
        <p:spPr>
          <a:xfrm>
            <a:off x="7279097" y="5513037"/>
            <a:ext cx="749172"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-7/3</a:t>
            </a:r>
            <a:endParaRPr lang="zh-CN" altLang="en-US" sz="2400" dirty="0"/>
          </a:p>
        </p:txBody>
      </p:sp>
      <p:sp>
        <p:nvSpPr>
          <p:cNvPr id="39" name="矩形 38">
            <a:extLst>
              <a:ext uri="{FF2B5EF4-FFF2-40B4-BE49-F238E27FC236}">
                <a16:creationId xmlns:a16="http://schemas.microsoft.com/office/drawing/2014/main" id="{7ED4F35D-E115-41DD-9098-F5C441EAB84F}"/>
              </a:ext>
            </a:extLst>
          </p:cNvPr>
          <p:cNvSpPr/>
          <p:nvPr/>
        </p:nvSpPr>
        <p:spPr>
          <a:xfrm>
            <a:off x="2154456" y="5511730"/>
            <a:ext cx="448253"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40" name="矩形 39">
            <a:extLst>
              <a:ext uri="{FF2B5EF4-FFF2-40B4-BE49-F238E27FC236}">
                <a16:creationId xmlns:a16="http://schemas.microsoft.com/office/drawing/2014/main" id="{0FEDA6BD-DDDE-430E-958F-7C2E8974480C}"/>
              </a:ext>
            </a:extLst>
          </p:cNvPr>
          <p:cNvSpPr/>
          <p:nvPr/>
        </p:nvSpPr>
        <p:spPr>
          <a:xfrm>
            <a:off x="2953310" y="5528938"/>
            <a:ext cx="550186"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0</a:t>
            </a:r>
            <a:endParaRPr lang="zh-CN" altLang="en-US" sz="2400" dirty="0"/>
          </a:p>
        </p:txBody>
      </p:sp>
      <p:sp>
        <p:nvSpPr>
          <p:cNvPr id="41" name="矩形 40">
            <a:extLst>
              <a:ext uri="{FF2B5EF4-FFF2-40B4-BE49-F238E27FC236}">
                <a16:creationId xmlns:a16="http://schemas.microsoft.com/office/drawing/2014/main" id="{87B5DB2C-A2F7-4756-8F56-D46EED2D913D}"/>
              </a:ext>
            </a:extLst>
          </p:cNvPr>
          <p:cNvSpPr/>
          <p:nvPr/>
        </p:nvSpPr>
        <p:spPr>
          <a:xfrm>
            <a:off x="8069400" y="5522741"/>
            <a:ext cx="657879" cy="461665"/>
          </a:xfrm>
          <a:prstGeom prst="rect">
            <a:avLst/>
          </a:prstGeom>
          <a:solidFill>
            <a:schemeClr val="bg1"/>
          </a:solidFill>
          <a:ln>
            <a:noFill/>
          </a:ln>
        </p:spPr>
        <p:txBody>
          <a:bodyPr wrap="square">
            <a:spAutoFit/>
          </a:bodyPr>
          <a:lstStyle/>
          <a:p>
            <a:pPr lvl="0" algn="ctr" eaLnBrk="1" fontAlgn="auto" hangingPunct="1">
              <a:spcBef>
                <a:spcPts val="0"/>
              </a:spcBef>
              <a:spcAft>
                <a:spcPts val="0"/>
              </a:spcAft>
              <a:defRPr/>
            </a:pPr>
            <a:r>
              <a:rPr lang="en-US" altLang="zh-CN" sz="2400" dirty="0"/>
              <a:t>9</a:t>
            </a:r>
            <a:endParaRPr lang="zh-CN" altLang="en-US" sz="2400" dirty="0"/>
          </a:p>
        </p:txBody>
      </p:sp>
    </p:spTree>
    <p:extLst>
      <p:ext uri="{BB962C8B-B14F-4D97-AF65-F5344CB8AC3E}">
        <p14:creationId xmlns:p14="http://schemas.microsoft.com/office/powerpoint/2010/main" val="2591338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xEl>
                                              <p:pRg st="0" end="0"/>
                                            </p:txEl>
                                          </p:spTgt>
                                        </p:tgtEl>
                                        <p:attrNameLst>
                                          <p:attrName>style.visibility</p:attrName>
                                        </p:attrNameLst>
                                      </p:cBhvr>
                                      <p:to>
                                        <p:strVal val="visible"/>
                                      </p:to>
                                    </p:set>
                                    <p:anim calcmode="lin" valueType="num">
                                      <p:cBhvr additive="base">
                                        <p:cTn id="13"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down)">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wipe(down)">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down)">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down)">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wipe(down)">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wipe(down)">
                                      <p:cBhvr>
                                        <p:cTn id="44" dur="500"/>
                                        <p:tgtEl>
                                          <p:spTgt spid="2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wipe(down)">
                                      <p:cBhvr>
                                        <p:cTn id="49" dur="500"/>
                                        <p:tgtEl>
                                          <p:spTgt spid="3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down)">
                                      <p:cBhvr>
                                        <p:cTn id="54" dur="5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25">
                                            <p:txEl>
                                              <p:pRg st="1" end="1"/>
                                            </p:txEl>
                                          </p:spTgt>
                                        </p:tgtEl>
                                        <p:attrNameLst>
                                          <p:attrName>style.visibility</p:attrName>
                                        </p:attrNameLst>
                                      </p:cBhvr>
                                      <p:to>
                                        <p:strVal val="visible"/>
                                      </p:to>
                                    </p:set>
                                    <p:anim calcmode="lin" valueType="num">
                                      <p:cBhvr additive="base">
                                        <p:cTn id="59" dur="500" fill="hold"/>
                                        <p:tgtEl>
                                          <p:spTgt spid="25">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wipe(down)">
                                      <p:cBhvr>
                                        <p:cTn id="65" dur="500"/>
                                        <p:tgtEl>
                                          <p:spTgt spid="3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wipe(down)">
                                      <p:cBhvr>
                                        <p:cTn id="70" dur="500"/>
                                        <p:tgtEl>
                                          <p:spTgt spid="4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wipe(down)">
                                      <p:cBhvr>
                                        <p:cTn id="75" dur="500"/>
                                        <p:tgtEl>
                                          <p:spTgt spid="34"/>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wipe(down)">
                                      <p:cBhvr>
                                        <p:cTn id="80" dur="500"/>
                                        <p:tgtEl>
                                          <p:spTgt spid="3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wipe(down)">
                                      <p:cBhvr>
                                        <p:cTn id="85" dur="500"/>
                                        <p:tgtEl>
                                          <p:spTgt spid="3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wipe(down)">
                                      <p:cBhvr>
                                        <p:cTn id="90" dur="500"/>
                                        <p:tgtEl>
                                          <p:spTgt spid="37"/>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wipe(down)">
                                      <p:cBhvr>
                                        <p:cTn id="95" dur="500"/>
                                        <p:tgtEl>
                                          <p:spTgt spid="38"/>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41"/>
                                        </p:tgtEl>
                                        <p:attrNameLst>
                                          <p:attrName>style.visibility</p:attrName>
                                        </p:attrNameLst>
                                      </p:cBhvr>
                                      <p:to>
                                        <p:strVal val="visible"/>
                                      </p:to>
                                    </p:set>
                                    <p:animEffect transition="in" filter="wipe(down)">
                                      <p:cBhvr>
                                        <p:cTn id="10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39</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-7/3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9</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43" name="矩形 42">
            <a:extLst>
              <a:ext uri="{FF2B5EF4-FFF2-40B4-BE49-F238E27FC236}">
                <a16:creationId xmlns:a16="http://schemas.microsoft.com/office/drawing/2014/main" id="{D642EC23-3CAD-4C5E-88FF-D724A80D132D}"/>
              </a:ext>
            </a:extLst>
          </p:cNvPr>
          <p:cNvSpPr/>
          <p:nvPr/>
        </p:nvSpPr>
        <p:spPr>
          <a:xfrm>
            <a:off x="8228586" y="5887130"/>
            <a:ext cx="354584" cy="461665"/>
          </a:xfrm>
          <a:prstGeom prst="rect">
            <a:avLst/>
          </a:prstGeom>
        </p:spPr>
        <p:txBody>
          <a:bodyPr wrap="none">
            <a:spAutoFit/>
          </a:bodyPr>
          <a:lstStyle/>
          <a:p>
            <a:pPr algn="ctr"/>
            <a:r>
              <a:rPr lang="en-US" altLang="zh-CN" sz="2400" dirty="0"/>
              <a:t>  </a:t>
            </a:r>
            <a:endParaRPr lang="zh-CN" altLang="en-US" sz="2400" dirty="0"/>
          </a:p>
        </p:txBody>
      </p:sp>
      <p:graphicFrame>
        <p:nvGraphicFramePr>
          <p:cNvPr id="45" name="对象 44">
            <a:extLst>
              <a:ext uri="{FF2B5EF4-FFF2-40B4-BE49-F238E27FC236}">
                <a16:creationId xmlns:a16="http://schemas.microsoft.com/office/drawing/2014/main" id="{A1A5B729-AB57-4FD5-9592-92FC326E450A}"/>
              </a:ext>
            </a:extLst>
          </p:cNvPr>
          <p:cNvGraphicFramePr>
            <a:graphicFrameLocks noChangeAspect="1"/>
          </p:cNvGraphicFramePr>
          <p:nvPr/>
        </p:nvGraphicFramePr>
        <p:xfrm>
          <a:off x="5151438" y="479425"/>
          <a:ext cx="2717800" cy="530225"/>
        </p:xfrm>
        <a:graphic>
          <a:graphicData uri="http://schemas.openxmlformats.org/presentationml/2006/ole">
            <mc:AlternateContent xmlns:mc="http://schemas.openxmlformats.org/markup-compatibility/2006">
              <mc:Choice xmlns:v="urn:schemas-microsoft-com:vml" Requires="v">
                <p:oleObj name="Equation" r:id="rId4" imgW="1434960" imgH="279360" progId="Equation.DSMT4">
                  <p:embed/>
                </p:oleObj>
              </mc:Choice>
              <mc:Fallback>
                <p:oleObj name="Equation" r:id="rId4" imgW="1434960" imgH="279360" progId="Equation.DSMT4">
                  <p:embed/>
                  <p:pic>
                    <p:nvPicPr>
                      <p:cNvPr id="45" name="对象 44">
                        <a:extLst>
                          <a:ext uri="{FF2B5EF4-FFF2-40B4-BE49-F238E27FC236}">
                            <a16:creationId xmlns:a16="http://schemas.microsoft.com/office/drawing/2014/main" id="{A1A5B729-AB57-4FD5-9592-92FC326E450A}"/>
                          </a:ext>
                        </a:extLst>
                      </p:cNvPr>
                      <p:cNvPicPr/>
                      <p:nvPr/>
                    </p:nvPicPr>
                    <p:blipFill>
                      <a:blip r:embed="rId5"/>
                      <a:stretch>
                        <a:fillRect/>
                      </a:stretch>
                    </p:blipFill>
                    <p:spPr>
                      <a:xfrm>
                        <a:off x="5151438" y="479425"/>
                        <a:ext cx="2717800" cy="530225"/>
                      </a:xfrm>
                      <a:prstGeom prst="rect">
                        <a:avLst/>
                      </a:prstGeom>
                    </p:spPr>
                  </p:pic>
                </p:oleObj>
              </mc:Fallback>
            </mc:AlternateContent>
          </a:graphicData>
        </a:graphic>
      </p:graphicFrame>
      <p:graphicFrame>
        <p:nvGraphicFramePr>
          <p:cNvPr id="46" name="对象 45">
            <a:extLst>
              <a:ext uri="{FF2B5EF4-FFF2-40B4-BE49-F238E27FC236}">
                <a16:creationId xmlns:a16="http://schemas.microsoft.com/office/drawing/2014/main" id="{9F51CD22-84C1-4058-B63C-2E090B187AD7}"/>
              </a:ext>
            </a:extLst>
          </p:cNvPr>
          <p:cNvGraphicFramePr>
            <a:graphicFrameLocks noChangeAspect="1"/>
          </p:cNvGraphicFramePr>
          <p:nvPr/>
        </p:nvGraphicFramePr>
        <p:xfrm>
          <a:off x="4088262" y="1065268"/>
          <a:ext cx="3803650" cy="482600"/>
        </p:xfrm>
        <a:graphic>
          <a:graphicData uri="http://schemas.openxmlformats.org/presentationml/2006/ole">
            <mc:AlternateContent xmlns:mc="http://schemas.openxmlformats.org/markup-compatibility/2006">
              <mc:Choice xmlns:v="urn:schemas-microsoft-com:vml" Requires="v">
                <p:oleObj name="Equation" r:id="rId6" imgW="2006280" imgH="253800" progId="Equation.DSMT4">
                  <p:embed/>
                </p:oleObj>
              </mc:Choice>
              <mc:Fallback>
                <p:oleObj name="Equation" r:id="rId6" imgW="2006280" imgH="253800" progId="Equation.DSMT4">
                  <p:embed/>
                  <p:pic>
                    <p:nvPicPr>
                      <p:cNvPr id="46" name="对象 45">
                        <a:extLst>
                          <a:ext uri="{FF2B5EF4-FFF2-40B4-BE49-F238E27FC236}">
                            <a16:creationId xmlns:a16="http://schemas.microsoft.com/office/drawing/2014/main" id="{9F51CD22-84C1-4058-B63C-2E090B187AD7}"/>
                          </a:ext>
                        </a:extLst>
                      </p:cNvPr>
                      <p:cNvPicPr/>
                      <p:nvPr/>
                    </p:nvPicPr>
                    <p:blipFill>
                      <a:blip r:embed="rId7"/>
                      <a:stretch>
                        <a:fillRect/>
                      </a:stretch>
                    </p:blipFill>
                    <p:spPr>
                      <a:xfrm>
                        <a:off x="4088262" y="1065268"/>
                        <a:ext cx="3803650" cy="482600"/>
                      </a:xfrm>
                      <a:prstGeom prst="rect">
                        <a:avLst/>
                      </a:prstGeom>
                    </p:spPr>
                  </p:pic>
                </p:oleObj>
              </mc:Fallback>
            </mc:AlternateContent>
          </a:graphicData>
        </a:graphic>
      </p:graphicFrame>
      <p:graphicFrame>
        <p:nvGraphicFramePr>
          <p:cNvPr id="47" name="对象 46">
            <a:extLst>
              <a:ext uri="{FF2B5EF4-FFF2-40B4-BE49-F238E27FC236}">
                <a16:creationId xmlns:a16="http://schemas.microsoft.com/office/drawing/2014/main" id="{0A0978A0-27F1-450F-B097-CEABBA66584B}"/>
              </a:ext>
            </a:extLst>
          </p:cNvPr>
          <p:cNvGraphicFramePr>
            <a:graphicFrameLocks noChangeAspect="1"/>
          </p:cNvGraphicFramePr>
          <p:nvPr/>
        </p:nvGraphicFramePr>
        <p:xfrm>
          <a:off x="4071071" y="1382977"/>
          <a:ext cx="3684588" cy="482600"/>
        </p:xfrm>
        <a:graphic>
          <a:graphicData uri="http://schemas.openxmlformats.org/presentationml/2006/ole">
            <mc:AlternateContent xmlns:mc="http://schemas.openxmlformats.org/markup-compatibility/2006">
              <mc:Choice xmlns:v="urn:schemas-microsoft-com:vml" Requires="v">
                <p:oleObj name="Equation" r:id="rId8" imgW="1942920" imgH="253800" progId="Equation.DSMT4">
                  <p:embed/>
                </p:oleObj>
              </mc:Choice>
              <mc:Fallback>
                <p:oleObj name="Equation" r:id="rId8" imgW="1942920" imgH="253800" progId="Equation.DSMT4">
                  <p:embed/>
                  <p:pic>
                    <p:nvPicPr>
                      <p:cNvPr id="47" name="对象 46">
                        <a:extLst>
                          <a:ext uri="{FF2B5EF4-FFF2-40B4-BE49-F238E27FC236}">
                            <a16:creationId xmlns:a16="http://schemas.microsoft.com/office/drawing/2014/main" id="{0A0978A0-27F1-450F-B097-CEABBA66584B}"/>
                          </a:ext>
                        </a:extLst>
                      </p:cNvPr>
                      <p:cNvPicPr/>
                      <p:nvPr/>
                    </p:nvPicPr>
                    <p:blipFill>
                      <a:blip r:embed="rId9"/>
                      <a:stretch>
                        <a:fillRect/>
                      </a:stretch>
                    </p:blipFill>
                    <p:spPr>
                      <a:xfrm>
                        <a:off x="4071071" y="1382977"/>
                        <a:ext cx="3684588" cy="482600"/>
                      </a:xfrm>
                      <a:prstGeom prst="rect">
                        <a:avLst/>
                      </a:prstGeom>
                    </p:spPr>
                  </p:pic>
                </p:oleObj>
              </mc:Fallback>
            </mc:AlternateContent>
          </a:graphicData>
        </a:graphic>
      </p:graphicFrame>
      <p:graphicFrame>
        <p:nvGraphicFramePr>
          <p:cNvPr id="48" name="对象 47">
            <a:extLst>
              <a:ext uri="{FF2B5EF4-FFF2-40B4-BE49-F238E27FC236}">
                <a16:creationId xmlns:a16="http://schemas.microsoft.com/office/drawing/2014/main" id="{F9E3F4FE-B140-4320-8E75-68A522D2B6C3}"/>
              </a:ext>
            </a:extLst>
          </p:cNvPr>
          <p:cNvGraphicFramePr>
            <a:graphicFrameLocks noChangeAspect="1"/>
          </p:cNvGraphicFramePr>
          <p:nvPr/>
        </p:nvGraphicFramePr>
        <p:xfrm>
          <a:off x="4063664" y="1650589"/>
          <a:ext cx="3635375" cy="482600"/>
        </p:xfrm>
        <a:graphic>
          <a:graphicData uri="http://schemas.openxmlformats.org/presentationml/2006/ole">
            <mc:AlternateContent xmlns:mc="http://schemas.openxmlformats.org/markup-compatibility/2006">
              <mc:Choice xmlns:v="urn:schemas-microsoft-com:vml" Requires="v">
                <p:oleObj name="Equation" r:id="rId10" imgW="1917360" imgH="253800" progId="Equation.DSMT4">
                  <p:embed/>
                </p:oleObj>
              </mc:Choice>
              <mc:Fallback>
                <p:oleObj name="Equation" r:id="rId10" imgW="1917360" imgH="253800" progId="Equation.DSMT4">
                  <p:embed/>
                  <p:pic>
                    <p:nvPicPr>
                      <p:cNvPr id="48" name="对象 47">
                        <a:extLst>
                          <a:ext uri="{FF2B5EF4-FFF2-40B4-BE49-F238E27FC236}">
                            <a16:creationId xmlns:a16="http://schemas.microsoft.com/office/drawing/2014/main" id="{F9E3F4FE-B140-4320-8E75-68A522D2B6C3}"/>
                          </a:ext>
                        </a:extLst>
                      </p:cNvPr>
                      <p:cNvPicPr/>
                      <p:nvPr/>
                    </p:nvPicPr>
                    <p:blipFill>
                      <a:blip r:embed="rId11"/>
                      <a:stretch>
                        <a:fillRect/>
                      </a:stretch>
                    </p:blipFill>
                    <p:spPr>
                      <a:xfrm>
                        <a:off x="4063664" y="1650589"/>
                        <a:ext cx="3635375" cy="482600"/>
                      </a:xfrm>
                      <a:prstGeom prst="rect">
                        <a:avLst/>
                      </a:prstGeom>
                    </p:spPr>
                  </p:pic>
                </p:oleObj>
              </mc:Fallback>
            </mc:AlternateContent>
          </a:graphicData>
        </a:graphic>
      </p:graphicFrame>
      <p:graphicFrame>
        <p:nvGraphicFramePr>
          <p:cNvPr id="49" name="对象 48">
            <a:extLst>
              <a:ext uri="{FF2B5EF4-FFF2-40B4-BE49-F238E27FC236}">
                <a16:creationId xmlns:a16="http://schemas.microsoft.com/office/drawing/2014/main" id="{FC9098F1-8084-4CCE-AA52-CB1EF4460DDB}"/>
              </a:ext>
            </a:extLst>
          </p:cNvPr>
          <p:cNvGraphicFramePr>
            <a:graphicFrameLocks noChangeAspect="1"/>
          </p:cNvGraphicFramePr>
          <p:nvPr/>
        </p:nvGraphicFramePr>
        <p:xfrm>
          <a:off x="4063664" y="1956377"/>
          <a:ext cx="4598988" cy="482600"/>
        </p:xfrm>
        <a:graphic>
          <a:graphicData uri="http://schemas.openxmlformats.org/presentationml/2006/ole">
            <mc:AlternateContent xmlns:mc="http://schemas.openxmlformats.org/markup-compatibility/2006">
              <mc:Choice xmlns:v="urn:schemas-microsoft-com:vml" Requires="v">
                <p:oleObj name="Equation" r:id="rId12" imgW="2425680" imgH="253800" progId="Equation.DSMT4">
                  <p:embed/>
                </p:oleObj>
              </mc:Choice>
              <mc:Fallback>
                <p:oleObj name="Equation" r:id="rId12" imgW="2425680" imgH="253800" progId="Equation.DSMT4">
                  <p:embed/>
                  <p:pic>
                    <p:nvPicPr>
                      <p:cNvPr id="49" name="对象 48">
                        <a:extLst>
                          <a:ext uri="{FF2B5EF4-FFF2-40B4-BE49-F238E27FC236}">
                            <a16:creationId xmlns:a16="http://schemas.microsoft.com/office/drawing/2014/main" id="{FC9098F1-8084-4CCE-AA52-CB1EF4460DDB}"/>
                          </a:ext>
                        </a:extLst>
                      </p:cNvPr>
                      <p:cNvPicPr/>
                      <p:nvPr/>
                    </p:nvPicPr>
                    <p:blipFill>
                      <a:blip r:embed="rId13"/>
                      <a:stretch>
                        <a:fillRect/>
                      </a:stretch>
                    </p:blipFill>
                    <p:spPr>
                      <a:xfrm>
                        <a:off x="4063664" y="1956377"/>
                        <a:ext cx="4598988" cy="482600"/>
                      </a:xfrm>
                      <a:prstGeom prst="rect">
                        <a:avLst/>
                      </a:prstGeom>
                    </p:spPr>
                  </p:pic>
                </p:oleObj>
              </mc:Fallback>
            </mc:AlternateContent>
          </a:graphicData>
        </a:graphic>
      </p:graphicFrame>
      <p:graphicFrame>
        <p:nvGraphicFramePr>
          <p:cNvPr id="51" name="对象 50">
            <a:extLst>
              <a:ext uri="{FF2B5EF4-FFF2-40B4-BE49-F238E27FC236}">
                <a16:creationId xmlns:a16="http://schemas.microsoft.com/office/drawing/2014/main" id="{CDC06794-17A9-4351-B518-005F5D4B5390}"/>
              </a:ext>
            </a:extLst>
          </p:cNvPr>
          <p:cNvGraphicFramePr>
            <a:graphicFrameLocks noChangeAspect="1"/>
          </p:cNvGraphicFramePr>
          <p:nvPr/>
        </p:nvGraphicFramePr>
        <p:xfrm>
          <a:off x="4068148" y="2245463"/>
          <a:ext cx="5153025" cy="482600"/>
        </p:xfrm>
        <a:graphic>
          <a:graphicData uri="http://schemas.openxmlformats.org/presentationml/2006/ole">
            <mc:AlternateContent xmlns:mc="http://schemas.openxmlformats.org/markup-compatibility/2006">
              <mc:Choice xmlns:v="urn:schemas-microsoft-com:vml" Requires="v">
                <p:oleObj name="Equation" r:id="rId14" imgW="2717640" imgH="253800" progId="Equation.DSMT4">
                  <p:embed/>
                </p:oleObj>
              </mc:Choice>
              <mc:Fallback>
                <p:oleObj name="Equation" r:id="rId14" imgW="2717640" imgH="253800" progId="Equation.DSMT4">
                  <p:embed/>
                  <p:pic>
                    <p:nvPicPr>
                      <p:cNvPr id="51" name="对象 50">
                        <a:extLst>
                          <a:ext uri="{FF2B5EF4-FFF2-40B4-BE49-F238E27FC236}">
                            <a16:creationId xmlns:a16="http://schemas.microsoft.com/office/drawing/2014/main" id="{CDC06794-17A9-4351-B518-005F5D4B5390}"/>
                          </a:ext>
                        </a:extLst>
                      </p:cNvPr>
                      <p:cNvPicPr/>
                      <p:nvPr/>
                    </p:nvPicPr>
                    <p:blipFill>
                      <a:blip r:embed="rId15"/>
                      <a:stretch>
                        <a:fillRect/>
                      </a:stretch>
                    </p:blipFill>
                    <p:spPr>
                      <a:xfrm>
                        <a:off x="4068148" y="2245463"/>
                        <a:ext cx="5153025" cy="482600"/>
                      </a:xfrm>
                      <a:prstGeom prst="rect">
                        <a:avLst/>
                      </a:prstGeom>
                    </p:spPr>
                  </p:pic>
                </p:oleObj>
              </mc:Fallback>
            </mc:AlternateContent>
          </a:graphicData>
        </a:graphic>
      </p:graphicFrame>
      <p:graphicFrame>
        <p:nvGraphicFramePr>
          <p:cNvPr id="52" name="对象 51">
            <a:extLst>
              <a:ext uri="{FF2B5EF4-FFF2-40B4-BE49-F238E27FC236}">
                <a16:creationId xmlns:a16="http://schemas.microsoft.com/office/drawing/2014/main" id="{ABDD35EB-E71D-4F6E-BB5B-24CC6E717C4D}"/>
              </a:ext>
            </a:extLst>
          </p:cNvPr>
          <p:cNvGraphicFramePr>
            <a:graphicFrameLocks noChangeAspect="1"/>
          </p:cNvGraphicFramePr>
          <p:nvPr/>
        </p:nvGraphicFramePr>
        <p:xfrm>
          <a:off x="4068148" y="2551251"/>
          <a:ext cx="5345113" cy="482600"/>
        </p:xfrm>
        <a:graphic>
          <a:graphicData uri="http://schemas.openxmlformats.org/presentationml/2006/ole">
            <mc:AlternateContent xmlns:mc="http://schemas.openxmlformats.org/markup-compatibility/2006">
              <mc:Choice xmlns:v="urn:schemas-microsoft-com:vml" Requires="v">
                <p:oleObj name="Equation" r:id="rId16" imgW="2819160" imgH="253800" progId="Equation.DSMT4">
                  <p:embed/>
                </p:oleObj>
              </mc:Choice>
              <mc:Fallback>
                <p:oleObj name="Equation" r:id="rId16" imgW="2819160" imgH="253800" progId="Equation.DSMT4">
                  <p:embed/>
                  <p:pic>
                    <p:nvPicPr>
                      <p:cNvPr id="52" name="对象 51">
                        <a:extLst>
                          <a:ext uri="{FF2B5EF4-FFF2-40B4-BE49-F238E27FC236}">
                            <a16:creationId xmlns:a16="http://schemas.microsoft.com/office/drawing/2014/main" id="{ABDD35EB-E71D-4F6E-BB5B-24CC6E717C4D}"/>
                          </a:ext>
                        </a:extLst>
                      </p:cNvPr>
                      <p:cNvPicPr/>
                      <p:nvPr/>
                    </p:nvPicPr>
                    <p:blipFill>
                      <a:blip r:embed="rId17"/>
                      <a:stretch>
                        <a:fillRect/>
                      </a:stretch>
                    </p:blipFill>
                    <p:spPr>
                      <a:xfrm>
                        <a:off x="4068148" y="2551251"/>
                        <a:ext cx="5345113" cy="4826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FF92E10C-4C1E-4F7F-A579-019BC407494C}"/>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8"/>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53" name="矩形 52">
                <a:extLst>
                  <a:ext uri="{FF2B5EF4-FFF2-40B4-BE49-F238E27FC236}">
                    <a16:creationId xmlns:a16="http://schemas.microsoft.com/office/drawing/2014/main" id="{FF92E10C-4C1E-4F7F-A579-019BC407494C}"/>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18"/>
                <a:stretch>
                  <a:fillRect l="-3675" t="-10294" r="-580" b="-16176"/>
                </a:stretch>
              </a:blipFill>
            </p:spPr>
            <p:txBody>
              <a:bodyPr/>
              <a:lstStyle/>
              <a:p>
                <a:r>
                  <a:rPr lang="zh-CN" altLang="en-US">
                    <a:noFill/>
                  </a:rPr>
                  <a:t> </a:t>
                </a:r>
              </a:p>
            </p:txBody>
          </p:sp>
        </mc:Fallback>
      </mc:AlternateContent>
      <p:graphicFrame>
        <p:nvGraphicFramePr>
          <p:cNvPr id="54" name="对象 53">
            <a:extLst>
              <a:ext uri="{FF2B5EF4-FFF2-40B4-BE49-F238E27FC236}">
                <a16:creationId xmlns:a16="http://schemas.microsoft.com/office/drawing/2014/main" id="{4708DD85-E8B3-4083-8087-56480E3F2615}"/>
              </a:ext>
            </a:extLst>
          </p:cNvPr>
          <p:cNvGraphicFramePr>
            <a:graphicFrameLocks noChangeAspect="1"/>
          </p:cNvGraphicFramePr>
          <p:nvPr/>
        </p:nvGraphicFramePr>
        <p:xfrm>
          <a:off x="4086871" y="2852152"/>
          <a:ext cx="5702300" cy="482600"/>
        </p:xfrm>
        <a:graphic>
          <a:graphicData uri="http://schemas.openxmlformats.org/presentationml/2006/ole">
            <mc:AlternateContent xmlns:mc="http://schemas.openxmlformats.org/markup-compatibility/2006">
              <mc:Choice xmlns:v="urn:schemas-microsoft-com:vml" Requires="v">
                <p:oleObj name="Equation" r:id="rId19" imgW="3009600" imgH="253800" progId="Equation.DSMT4">
                  <p:embed/>
                </p:oleObj>
              </mc:Choice>
              <mc:Fallback>
                <p:oleObj name="Equation" r:id="rId19" imgW="3009600" imgH="253800" progId="Equation.DSMT4">
                  <p:embed/>
                  <p:pic>
                    <p:nvPicPr>
                      <p:cNvPr id="54" name="对象 53">
                        <a:extLst>
                          <a:ext uri="{FF2B5EF4-FFF2-40B4-BE49-F238E27FC236}">
                            <a16:creationId xmlns:a16="http://schemas.microsoft.com/office/drawing/2014/main" id="{4708DD85-E8B3-4083-8087-56480E3F2615}"/>
                          </a:ext>
                        </a:extLst>
                      </p:cNvPr>
                      <p:cNvPicPr/>
                      <p:nvPr/>
                    </p:nvPicPr>
                    <p:blipFill>
                      <a:blip r:embed="rId20"/>
                      <a:stretch>
                        <a:fillRect/>
                      </a:stretch>
                    </p:blipFill>
                    <p:spPr>
                      <a:xfrm>
                        <a:off x="4086871" y="2852152"/>
                        <a:ext cx="5702300" cy="482600"/>
                      </a:xfrm>
                      <a:prstGeom prst="rect">
                        <a:avLst/>
                      </a:prstGeom>
                    </p:spPr>
                  </p:pic>
                </p:oleObj>
              </mc:Fallback>
            </mc:AlternateContent>
          </a:graphicData>
        </a:graphic>
      </p:graphicFrame>
      <p:sp>
        <p:nvSpPr>
          <p:cNvPr id="55" name="矩形 54">
            <a:extLst>
              <a:ext uri="{FF2B5EF4-FFF2-40B4-BE49-F238E27FC236}">
                <a16:creationId xmlns:a16="http://schemas.microsoft.com/office/drawing/2014/main" id="{6BEC21D6-B664-4E2C-B0D1-B846A5D96640}"/>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56" name="矩形 55">
            <a:extLst>
              <a:ext uri="{FF2B5EF4-FFF2-40B4-BE49-F238E27FC236}">
                <a16:creationId xmlns:a16="http://schemas.microsoft.com/office/drawing/2014/main" id="{66ABCA7D-76B7-44D3-88EC-8D3EC4E1B76D}"/>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58" name="矩形 57">
            <a:extLst>
              <a:ext uri="{FF2B5EF4-FFF2-40B4-BE49-F238E27FC236}">
                <a16:creationId xmlns:a16="http://schemas.microsoft.com/office/drawing/2014/main" id="{412F3028-7170-4C8F-B333-4C34C62DA49B}"/>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59" name="矩形 58">
            <a:extLst>
              <a:ext uri="{FF2B5EF4-FFF2-40B4-BE49-F238E27FC236}">
                <a16:creationId xmlns:a16="http://schemas.microsoft.com/office/drawing/2014/main" id="{83B5FB16-611F-495E-9075-3BF24073DB08}"/>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0" name="矩形 59">
            <a:extLst>
              <a:ext uri="{FF2B5EF4-FFF2-40B4-BE49-F238E27FC236}">
                <a16:creationId xmlns:a16="http://schemas.microsoft.com/office/drawing/2014/main" id="{37DA849B-07DE-42A1-8932-747A3C478239}"/>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61" name="矩形 60">
            <a:extLst>
              <a:ext uri="{FF2B5EF4-FFF2-40B4-BE49-F238E27FC236}">
                <a16:creationId xmlns:a16="http://schemas.microsoft.com/office/drawing/2014/main" id="{74A3D8C0-661D-40CE-BC4C-1798AA11C3A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63" name="矩形 62">
            <a:extLst>
              <a:ext uri="{FF2B5EF4-FFF2-40B4-BE49-F238E27FC236}">
                <a16:creationId xmlns:a16="http://schemas.microsoft.com/office/drawing/2014/main" id="{3D50966D-D2DC-4E09-8256-B3646997F606}"/>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4" name="矩形 63">
            <a:extLst>
              <a:ext uri="{FF2B5EF4-FFF2-40B4-BE49-F238E27FC236}">
                <a16:creationId xmlns:a16="http://schemas.microsoft.com/office/drawing/2014/main" id="{19546A53-62A9-4089-A69E-7D5179685DAC}"/>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65" name="矩形 64">
            <a:extLst>
              <a:ext uri="{FF2B5EF4-FFF2-40B4-BE49-F238E27FC236}">
                <a16:creationId xmlns:a16="http://schemas.microsoft.com/office/drawing/2014/main" id="{2564C37D-A7C0-418C-9D2F-BC3B3AE740A1}"/>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66" name="矩形 65">
            <a:extLst>
              <a:ext uri="{FF2B5EF4-FFF2-40B4-BE49-F238E27FC236}">
                <a16:creationId xmlns:a16="http://schemas.microsoft.com/office/drawing/2014/main" id="{37113639-023B-4DE3-920A-C562CE76237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7" name="矩形 66">
            <a:extLst>
              <a:ext uri="{FF2B5EF4-FFF2-40B4-BE49-F238E27FC236}">
                <a16:creationId xmlns:a16="http://schemas.microsoft.com/office/drawing/2014/main" id="{BD575188-B4FF-41E0-94D0-A7939A40D6C4}"/>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8" name="矩形 67">
            <a:extLst>
              <a:ext uri="{FF2B5EF4-FFF2-40B4-BE49-F238E27FC236}">
                <a16:creationId xmlns:a16="http://schemas.microsoft.com/office/drawing/2014/main" id="{A3AA0775-9F00-48E4-BD70-14EEF65E78B0}"/>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69" name="矩形 68">
            <a:extLst>
              <a:ext uri="{FF2B5EF4-FFF2-40B4-BE49-F238E27FC236}">
                <a16:creationId xmlns:a16="http://schemas.microsoft.com/office/drawing/2014/main" id="{737068EF-443B-4F65-B7EB-DD458B53F41A}"/>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70" name="矩形 69">
            <a:extLst>
              <a:ext uri="{FF2B5EF4-FFF2-40B4-BE49-F238E27FC236}">
                <a16:creationId xmlns:a16="http://schemas.microsoft.com/office/drawing/2014/main" id="{A775EA5F-4C46-48F1-9591-7E75847FEC5D}"/>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71" name="矩形 70">
            <a:extLst>
              <a:ext uri="{FF2B5EF4-FFF2-40B4-BE49-F238E27FC236}">
                <a16:creationId xmlns:a16="http://schemas.microsoft.com/office/drawing/2014/main" id="{77EE84D3-A50B-4C1D-8744-6E5DBAC865FE}"/>
              </a:ext>
            </a:extLst>
          </p:cNvPr>
          <p:cNvSpPr/>
          <p:nvPr/>
        </p:nvSpPr>
        <p:spPr>
          <a:xfrm>
            <a:off x="2197800" y="6041748"/>
            <a:ext cx="356188" cy="461665"/>
          </a:xfrm>
          <a:prstGeom prst="rect">
            <a:avLst/>
          </a:prstGeom>
        </p:spPr>
        <p:txBody>
          <a:bodyPr wrap="none">
            <a:spAutoFit/>
          </a:bodyPr>
          <a:lstStyle/>
          <a:p>
            <a:pPr algn="ctr"/>
            <a:r>
              <a:rPr lang="en-US" altLang="zh-CN" sz="2400" dirty="0"/>
              <a:t>0</a:t>
            </a:r>
            <a:endParaRPr lang="zh-CN" altLang="en-US" sz="2400" dirty="0"/>
          </a:p>
        </p:txBody>
      </p:sp>
      <p:sp>
        <p:nvSpPr>
          <p:cNvPr id="72" name="矩形 71">
            <a:extLst>
              <a:ext uri="{FF2B5EF4-FFF2-40B4-BE49-F238E27FC236}">
                <a16:creationId xmlns:a16="http://schemas.microsoft.com/office/drawing/2014/main" id="{AF5D23C6-5135-4C1B-878D-4BD5F53A9FD3}"/>
              </a:ext>
            </a:extLst>
          </p:cNvPr>
          <p:cNvSpPr/>
          <p:nvPr/>
        </p:nvSpPr>
        <p:spPr>
          <a:xfrm>
            <a:off x="3060028" y="6082303"/>
            <a:ext cx="356188" cy="461665"/>
          </a:xfrm>
          <a:prstGeom prst="rect">
            <a:avLst/>
          </a:prstGeom>
        </p:spPr>
        <p:txBody>
          <a:bodyPr wrap="none">
            <a:spAutoFit/>
          </a:bodyPr>
          <a:lstStyle/>
          <a:p>
            <a:pPr algn="ctr"/>
            <a:r>
              <a:rPr lang="en-US" altLang="zh-CN" sz="2400" dirty="0"/>
              <a:t>0</a:t>
            </a:r>
            <a:endParaRPr lang="zh-CN" altLang="en-US" sz="2400" dirty="0"/>
          </a:p>
        </p:txBody>
      </p:sp>
      <p:sp>
        <p:nvSpPr>
          <p:cNvPr id="73" name="矩形 72">
            <a:extLst>
              <a:ext uri="{FF2B5EF4-FFF2-40B4-BE49-F238E27FC236}">
                <a16:creationId xmlns:a16="http://schemas.microsoft.com/office/drawing/2014/main" id="{3BB33B22-6992-467A-9FAD-169302E409B1}"/>
              </a:ext>
            </a:extLst>
          </p:cNvPr>
          <p:cNvSpPr/>
          <p:nvPr/>
        </p:nvSpPr>
        <p:spPr>
          <a:xfrm>
            <a:off x="3912250"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4" name="矩形 73">
            <a:extLst>
              <a:ext uri="{FF2B5EF4-FFF2-40B4-BE49-F238E27FC236}">
                <a16:creationId xmlns:a16="http://schemas.microsoft.com/office/drawing/2014/main" id="{2D4B23D7-6C49-41C4-8964-3F7EDCDC2227}"/>
              </a:ext>
            </a:extLst>
          </p:cNvPr>
          <p:cNvSpPr/>
          <p:nvPr/>
        </p:nvSpPr>
        <p:spPr>
          <a:xfrm>
            <a:off x="4651940" y="6044696"/>
            <a:ext cx="612668" cy="461665"/>
          </a:xfrm>
          <a:prstGeom prst="rect">
            <a:avLst/>
          </a:prstGeom>
        </p:spPr>
        <p:txBody>
          <a:bodyPr wrap="none">
            <a:spAutoFit/>
          </a:bodyPr>
          <a:lstStyle/>
          <a:p>
            <a:pPr algn="ctr"/>
            <a:r>
              <a:rPr lang="en-US" altLang="zh-CN" sz="2400" dirty="0"/>
              <a:t>1/3</a:t>
            </a:r>
            <a:endParaRPr lang="zh-CN" altLang="en-US" sz="2400" dirty="0"/>
          </a:p>
        </p:txBody>
      </p:sp>
      <p:sp>
        <p:nvSpPr>
          <p:cNvPr id="75" name="矩形 74">
            <a:extLst>
              <a:ext uri="{FF2B5EF4-FFF2-40B4-BE49-F238E27FC236}">
                <a16:creationId xmlns:a16="http://schemas.microsoft.com/office/drawing/2014/main" id="{D9A400B0-CF6E-49ED-8EFB-6A171999B5DB}"/>
              </a:ext>
            </a:extLst>
          </p:cNvPr>
          <p:cNvSpPr/>
          <p:nvPr/>
        </p:nvSpPr>
        <p:spPr>
          <a:xfrm>
            <a:off x="5580180" y="6054229"/>
            <a:ext cx="612668" cy="461665"/>
          </a:xfrm>
          <a:prstGeom prst="rect">
            <a:avLst/>
          </a:prstGeom>
        </p:spPr>
        <p:txBody>
          <a:bodyPr wrap="none">
            <a:spAutoFit/>
          </a:bodyPr>
          <a:lstStyle/>
          <a:p>
            <a:pPr algn="ctr"/>
            <a:r>
              <a:rPr lang="en-US" altLang="zh-CN" sz="2400" dirty="0"/>
              <a:t>4/3</a:t>
            </a:r>
            <a:endParaRPr lang="zh-CN" altLang="en-US" sz="2400" dirty="0"/>
          </a:p>
        </p:txBody>
      </p:sp>
      <p:sp>
        <p:nvSpPr>
          <p:cNvPr id="76" name="矩形 75">
            <a:extLst>
              <a:ext uri="{FF2B5EF4-FFF2-40B4-BE49-F238E27FC236}">
                <a16:creationId xmlns:a16="http://schemas.microsoft.com/office/drawing/2014/main" id="{BC0C1430-35AF-477B-B475-AC47AFC61CA3}"/>
              </a:ext>
            </a:extLst>
          </p:cNvPr>
          <p:cNvSpPr/>
          <p:nvPr/>
        </p:nvSpPr>
        <p:spPr>
          <a:xfrm>
            <a:off x="6244352" y="6064582"/>
            <a:ext cx="971741" cy="461665"/>
          </a:xfrm>
          <a:prstGeom prst="rect">
            <a:avLst/>
          </a:prstGeom>
        </p:spPr>
        <p:txBody>
          <a:bodyPr wrap="none">
            <a:spAutoFit/>
          </a:bodyPr>
          <a:lstStyle/>
          <a:p>
            <a:pPr algn="ctr"/>
            <a:r>
              <a:rPr lang="en-US" altLang="zh-CN" sz="2400" dirty="0"/>
              <a:t>M-4/3</a:t>
            </a:r>
            <a:endParaRPr lang="zh-CN" altLang="en-US" sz="2400" dirty="0"/>
          </a:p>
        </p:txBody>
      </p:sp>
      <p:sp>
        <p:nvSpPr>
          <p:cNvPr id="77" name="矩形 76">
            <a:extLst>
              <a:ext uri="{FF2B5EF4-FFF2-40B4-BE49-F238E27FC236}">
                <a16:creationId xmlns:a16="http://schemas.microsoft.com/office/drawing/2014/main" id="{308C161D-7513-4E46-8640-CF9CA95B9EB2}"/>
              </a:ext>
            </a:extLst>
          </p:cNvPr>
          <p:cNvSpPr/>
          <p:nvPr/>
        </p:nvSpPr>
        <p:spPr>
          <a:xfrm>
            <a:off x="7151534" y="6044696"/>
            <a:ext cx="1048685" cy="461665"/>
          </a:xfrm>
          <a:prstGeom prst="rect">
            <a:avLst/>
          </a:prstGeom>
        </p:spPr>
        <p:txBody>
          <a:bodyPr wrap="none">
            <a:spAutoFit/>
          </a:bodyPr>
          <a:lstStyle/>
          <a:p>
            <a:pPr algn="ctr"/>
            <a:r>
              <a:rPr lang="en-US" altLang="zh-CN" sz="2400" dirty="0"/>
              <a:t>M+4/3</a:t>
            </a:r>
            <a:endParaRPr lang="zh-CN" altLang="en-US" sz="2400" dirty="0"/>
          </a:p>
        </p:txBody>
      </p:sp>
    </p:spTree>
    <p:extLst>
      <p:ext uri="{BB962C8B-B14F-4D97-AF65-F5344CB8AC3E}">
        <p14:creationId xmlns:p14="http://schemas.microsoft.com/office/powerpoint/2010/main" val="231454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wipe(down)">
                                      <p:cBhvr>
                                        <p:cTn id="13" dur="500"/>
                                        <p:tgtEl>
                                          <p:spTgt spid="4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46"/>
                                        </p:tgtEl>
                                        <p:attrNameLst>
                                          <p:attrName>style.visibility</p:attrName>
                                        </p:attrNameLst>
                                      </p:cBhvr>
                                      <p:to>
                                        <p:strVal val="visible"/>
                                      </p:to>
                                    </p:set>
                                    <p:anim calcmode="lin" valueType="num">
                                      <p:cBhvr additive="base">
                                        <p:cTn id="18" dur="500"/>
                                        <p:tgtEl>
                                          <p:spTgt spid="46"/>
                                        </p:tgtEl>
                                        <p:attrNameLst>
                                          <p:attrName>ppt_y</p:attrName>
                                        </p:attrNameLst>
                                      </p:cBhvr>
                                      <p:tavLst>
                                        <p:tav tm="0">
                                          <p:val>
                                            <p:strVal val="#ppt_y+#ppt_h*1.125000"/>
                                          </p:val>
                                        </p:tav>
                                        <p:tav tm="100000">
                                          <p:val>
                                            <p:strVal val="#ppt_y"/>
                                          </p:val>
                                        </p:tav>
                                      </p:tavLst>
                                    </p:anim>
                                    <p:animEffect transition="in" filter="wipe(up)">
                                      <p:cBhvr>
                                        <p:cTn id="19" dur="500"/>
                                        <p:tgtEl>
                                          <p:spTgt spid="46"/>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1"/>
                                        </p:tgtEl>
                                        <p:attrNameLst>
                                          <p:attrName>style.visibility</p:attrName>
                                        </p:attrNameLst>
                                      </p:cBhvr>
                                      <p:to>
                                        <p:strVal val="visible"/>
                                      </p:to>
                                    </p:set>
                                    <p:anim calcmode="lin" valueType="num">
                                      <p:cBhvr additive="base">
                                        <p:cTn id="24" dur="500" fill="hold"/>
                                        <p:tgtEl>
                                          <p:spTgt spid="71"/>
                                        </p:tgtEl>
                                        <p:attrNameLst>
                                          <p:attrName>ppt_x</p:attrName>
                                        </p:attrNameLst>
                                      </p:cBhvr>
                                      <p:tavLst>
                                        <p:tav tm="0">
                                          <p:val>
                                            <p:strVal val="#ppt_x"/>
                                          </p:val>
                                        </p:tav>
                                        <p:tav tm="100000">
                                          <p:val>
                                            <p:strVal val="#ppt_x"/>
                                          </p:val>
                                        </p:tav>
                                      </p:tavLst>
                                    </p:anim>
                                    <p:anim calcmode="lin" valueType="num">
                                      <p:cBhvr additive="base">
                                        <p:cTn id="25"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47"/>
                                        </p:tgtEl>
                                        <p:attrNameLst>
                                          <p:attrName>style.visibility</p:attrName>
                                        </p:attrNameLst>
                                      </p:cBhvr>
                                      <p:to>
                                        <p:strVal val="visible"/>
                                      </p:to>
                                    </p:set>
                                    <p:anim calcmode="lin" valueType="num">
                                      <p:cBhvr additive="base">
                                        <p:cTn id="30" dur="500"/>
                                        <p:tgtEl>
                                          <p:spTgt spid="47"/>
                                        </p:tgtEl>
                                        <p:attrNameLst>
                                          <p:attrName>ppt_y</p:attrName>
                                        </p:attrNameLst>
                                      </p:cBhvr>
                                      <p:tavLst>
                                        <p:tav tm="0">
                                          <p:val>
                                            <p:strVal val="#ppt_y+#ppt_h*1.125000"/>
                                          </p:val>
                                        </p:tav>
                                        <p:tav tm="100000">
                                          <p:val>
                                            <p:strVal val="#ppt_y"/>
                                          </p:val>
                                        </p:tav>
                                      </p:tavLst>
                                    </p:anim>
                                    <p:animEffect transition="in" filter="wipe(up)">
                                      <p:cBhvr>
                                        <p:cTn id="31" dur="500"/>
                                        <p:tgtEl>
                                          <p:spTgt spid="47"/>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2"/>
                                        </p:tgtEl>
                                        <p:attrNameLst>
                                          <p:attrName>style.visibility</p:attrName>
                                        </p:attrNameLst>
                                      </p:cBhvr>
                                      <p:to>
                                        <p:strVal val="visible"/>
                                      </p:to>
                                    </p:set>
                                    <p:anim calcmode="lin" valueType="num">
                                      <p:cBhvr additive="base">
                                        <p:cTn id="36" dur="500" fill="hold"/>
                                        <p:tgtEl>
                                          <p:spTgt spid="72"/>
                                        </p:tgtEl>
                                        <p:attrNameLst>
                                          <p:attrName>ppt_x</p:attrName>
                                        </p:attrNameLst>
                                      </p:cBhvr>
                                      <p:tavLst>
                                        <p:tav tm="0">
                                          <p:val>
                                            <p:strVal val="#ppt_x"/>
                                          </p:val>
                                        </p:tav>
                                        <p:tav tm="100000">
                                          <p:val>
                                            <p:strVal val="#ppt_x"/>
                                          </p:val>
                                        </p:tav>
                                      </p:tavLst>
                                    </p:anim>
                                    <p:anim calcmode="lin" valueType="num">
                                      <p:cBhvr additive="base">
                                        <p:cTn id="37"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48"/>
                                        </p:tgtEl>
                                        <p:attrNameLst>
                                          <p:attrName>style.visibility</p:attrName>
                                        </p:attrNameLst>
                                      </p:cBhvr>
                                      <p:to>
                                        <p:strVal val="visible"/>
                                      </p:to>
                                    </p:set>
                                    <p:anim calcmode="lin" valueType="num">
                                      <p:cBhvr additive="base">
                                        <p:cTn id="42" dur="500"/>
                                        <p:tgtEl>
                                          <p:spTgt spid="48"/>
                                        </p:tgtEl>
                                        <p:attrNameLst>
                                          <p:attrName>ppt_y</p:attrName>
                                        </p:attrNameLst>
                                      </p:cBhvr>
                                      <p:tavLst>
                                        <p:tav tm="0">
                                          <p:val>
                                            <p:strVal val="#ppt_y+#ppt_h*1.125000"/>
                                          </p:val>
                                        </p:tav>
                                        <p:tav tm="100000">
                                          <p:val>
                                            <p:strVal val="#ppt_y"/>
                                          </p:val>
                                        </p:tav>
                                      </p:tavLst>
                                    </p:anim>
                                    <p:animEffect transition="in" filter="wipe(up)">
                                      <p:cBhvr>
                                        <p:cTn id="43" dur="500"/>
                                        <p:tgtEl>
                                          <p:spTgt spid="48"/>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73"/>
                                        </p:tgtEl>
                                        <p:attrNameLst>
                                          <p:attrName>style.visibility</p:attrName>
                                        </p:attrNameLst>
                                      </p:cBhvr>
                                      <p:to>
                                        <p:strVal val="visible"/>
                                      </p:to>
                                    </p:set>
                                    <p:anim calcmode="lin" valueType="num">
                                      <p:cBhvr additive="base">
                                        <p:cTn id="48" dur="500" fill="hold"/>
                                        <p:tgtEl>
                                          <p:spTgt spid="73"/>
                                        </p:tgtEl>
                                        <p:attrNameLst>
                                          <p:attrName>ppt_x</p:attrName>
                                        </p:attrNameLst>
                                      </p:cBhvr>
                                      <p:tavLst>
                                        <p:tav tm="0">
                                          <p:val>
                                            <p:strVal val="#ppt_x"/>
                                          </p:val>
                                        </p:tav>
                                        <p:tav tm="100000">
                                          <p:val>
                                            <p:strVal val="#ppt_x"/>
                                          </p:val>
                                        </p:tav>
                                      </p:tavLst>
                                    </p:anim>
                                    <p:anim calcmode="lin" valueType="num">
                                      <p:cBhvr additive="base">
                                        <p:cTn id="49"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nodeType="clickEffect">
                                  <p:stCondLst>
                                    <p:cond delay="0"/>
                                  </p:stCondLst>
                                  <p:childTnLst>
                                    <p:set>
                                      <p:cBhvr>
                                        <p:cTn id="53" dur="1" fill="hold">
                                          <p:stCondLst>
                                            <p:cond delay="0"/>
                                          </p:stCondLst>
                                        </p:cTn>
                                        <p:tgtEl>
                                          <p:spTgt spid="49"/>
                                        </p:tgtEl>
                                        <p:attrNameLst>
                                          <p:attrName>style.visibility</p:attrName>
                                        </p:attrNameLst>
                                      </p:cBhvr>
                                      <p:to>
                                        <p:strVal val="visible"/>
                                      </p:to>
                                    </p:set>
                                    <p:anim calcmode="lin" valueType="num">
                                      <p:cBhvr additive="base">
                                        <p:cTn id="54" dur="500"/>
                                        <p:tgtEl>
                                          <p:spTgt spid="49"/>
                                        </p:tgtEl>
                                        <p:attrNameLst>
                                          <p:attrName>ppt_y</p:attrName>
                                        </p:attrNameLst>
                                      </p:cBhvr>
                                      <p:tavLst>
                                        <p:tav tm="0">
                                          <p:val>
                                            <p:strVal val="#ppt_y+#ppt_h*1.125000"/>
                                          </p:val>
                                        </p:tav>
                                        <p:tav tm="100000">
                                          <p:val>
                                            <p:strVal val="#ppt_y"/>
                                          </p:val>
                                        </p:tav>
                                      </p:tavLst>
                                    </p:anim>
                                    <p:animEffect transition="in" filter="wipe(up)">
                                      <p:cBhvr>
                                        <p:cTn id="55" dur="500"/>
                                        <p:tgtEl>
                                          <p:spTgt spid="49"/>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74"/>
                                        </p:tgtEl>
                                        <p:attrNameLst>
                                          <p:attrName>style.visibility</p:attrName>
                                        </p:attrNameLst>
                                      </p:cBhvr>
                                      <p:to>
                                        <p:strVal val="visible"/>
                                      </p:to>
                                    </p:set>
                                    <p:anim calcmode="lin" valueType="num">
                                      <p:cBhvr additive="base">
                                        <p:cTn id="60" dur="500" fill="hold"/>
                                        <p:tgtEl>
                                          <p:spTgt spid="74"/>
                                        </p:tgtEl>
                                        <p:attrNameLst>
                                          <p:attrName>ppt_x</p:attrName>
                                        </p:attrNameLst>
                                      </p:cBhvr>
                                      <p:tavLst>
                                        <p:tav tm="0">
                                          <p:val>
                                            <p:strVal val="#ppt_x"/>
                                          </p:val>
                                        </p:tav>
                                        <p:tav tm="100000">
                                          <p:val>
                                            <p:strVal val="#ppt_x"/>
                                          </p:val>
                                        </p:tav>
                                      </p:tavLst>
                                    </p:anim>
                                    <p:anim calcmode="lin" valueType="num">
                                      <p:cBhvr additive="base">
                                        <p:cTn id="61"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2" presetClass="entr" presetSubtype="4" fill="hold" nodeType="clickEffect">
                                  <p:stCondLst>
                                    <p:cond delay="0"/>
                                  </p:stCondLst>
                                  <p:childTnLst>
                                    <p:set>
                                      <p:cBhvr>
                                        <p:cTn id="65" dur="1" fill="hold">
                                          <p:stCondLst>
                                            <p:cond delay="0"/>
                                          </p:stCondLst>
                                        </p:cTn>
                                        <p:tgtEl>
                                          <p:spTgt spid="51"/>
                                        </p:tgtEl>
                                        <p:attrNameLst>
                                          <p:attrName>style.visibility</p:attrName>
                                        </p:attrNameLst>
                                      </p:cBhvr>
                                      <p:to>
                                        <p:strVal val="visible"/>
                                      </p:to>
                                    </p:set>
                                    <p:anim calcmode="lin" valueType="num">
                                      <p:cBhvr additive="base">
                                        <p:cTn id="66" dur="500"/>
                                        <p:tgtEl>
                                          <p:spTgt spid="51"/>
                                        </p:tgtEl>
                                        <p:attrNameLst>
                                          <p:attrName>ppt_y</p:attrName>
                                        </p:attrNameLst>
                                      </p:cBhvr>
                                      <p:tavLst>
                                        <p:tav tm="0">
                                          <p:val>
                                            <p:strVal val="#ppt_y+#ppt_h*1.125000"/>
                                          </p:val>
                                        </p:tav>
                                        <p:tav tm="100000">
                                          <p:val>
                                            <p:strVal val="#ppt_y"/>
                                          </p:val>
                                        </p:tav>
                                      </p:tavLst>
                                    </p:anim>
                                    <p:animEffect transition="in" filter="wipe(up)">
                                      <p:cBhvr>
                                        <p:cTn id="67" dur="500"/>
                                        <p:tgtEl>
                                          <p:spTgt spid="51"/>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75"/>
                                        </p:tgtEl>
                                        <p:attrNameLst>
                                          <p:attrName>style.visibility</p:attrName>
                                        </p:attrNameLst>
                                      </p:cBhvr>
                                      <p:to>
                                        <p:strVal val="visible"/>
                                      </p:to>
                                    </p:set>
                                    <p:anim calcmode="lin" valueType="num">
                                      <p:cBhvr additive="base">
                                        <p:cTn id="72" dur="500" fill="hold"/>
                                        <p:tgtEl>
                                          <p:spTgt spid="75"/>
                                        </p:tgtEl>
                                        <p:attrNameLst>
                                          <p:attrName>ppt_x</p:attrName>
                                        </p:attrNameLst>
                                      </p:cBhvr>
                                      <p:tavLst>
                                        <p:tav tm="0">
                                          <p:val>
                                            <p:strVal val="#ppt_x"/>
                                          </p:val>
                                        </p:tav>
                                        <p:tav tm="100000">
                                          <p:val>
                                            <p:strVal val="#ppt_x"/>
                                          </p:val>
                                        </p:tav>
                                      </p:tavLst>
                                    </p:anim>
                                    <p:anim calcmode="lin" valueType="num">
                                      <p:cBhvr additive="base">
                                        <p:cTn id="73"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2" presetClass="entr" presetSubtype="4"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 calcmode="lin" valueType="num">
                                      <p:cBhvr additive="base">
                                        <p:cTn id="78" dur="500"/>
                                        <p:tgtEl>
                                          <p:spTgt spid="52"/>
                                        </p:tgtEl>
                                        <p:attrNameLst>
                                          <p:attrName>ppt_y</p:attrName>
                                        </p:attrNameLst>
                                      </p:cBhvr>
                                      <p:tavLst>
                                        <p:tav tm="0">
                                          <p:val>
                                            <p:strVal val="#ppt_y+#ppt_h*1.125000"/>
                                          </p:val>
                                        </p:tav>
                                        <p:tav tm="100000">
                                          <p:val>
                                            <p:strVal val="#ppt_y"/>
                                          </p:val>
                                        </p:tav>
                                      </p:tavLst>
                                    </p:anim>
                                    <p:animEffect transition="in" filter="wipe(up)">
                                      <p:cBhvr>
                                        <p:cTn id="79" dur="500"/>
                                        <p:tgtEl>
                                          <p:spTgt spid="52"/>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76"/>
                                        </p:tgtEl>
                                        <p:attrNameLst>
                                          <p:attrName>style.visibility</p:attrName>
                                        </p:attrNameLst>
                                      </p:cBhvr>
                                      <p:to>
                                        <p:strVal val="visible"/>
                                      </p:to>
                                    </p:set>
                                    <p:anim calcmode="lin" valueType="num">
                                      <p:cBhvr additive="base">
                                        <p:cTn id="84" dur="500" fill="hold"/>
                                        <p:tgtEl>
                                          <p:spTgt spid="76"/>
                                        </p:tgtEl>
                                        <p:attrNameLst>
                                          <p:attrName>ppt_x</p:attrName>
                                        </p:attrNameLst>
                                      </p:cBhvr>
                                      <p:tavLst>
                                        <p:tav tm="0">
                                          <p:val>
                                            <p:strVal val="#ppt_x"/>
                                          </p:val>
                                        </p:tav>
                                        <p:tav tm="100000">
                                          <p:val>
                                            <p:strVal val="#ppt_x"/>
                                          </p:val>
                                        </p:tav>
                                      </p:tavLst>
                                    </p:anim>
                                    <p:anim calcmode="lin" valueType="num">
                                      <p:cBhvr additive="base">
                                        <p:cTn id="85"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12" presetClass="entr" presetSubtype="4" fill="hold" nodeType="clickEffect">
                                  <p:stCondLst>
                                    <p:cond delay="0"/>
                                  </p:stCondLst>
                                  <p:childTnLst>
                                    <p:set>
                                      <p:cBhvr>
                                        <p:cTn id="89" dur="1" fill="hold">
                                          <p:stCondLst>
                                            <p:cond delay="0"/>
                                          </p:stCondLst>
                                        </p:cTn>
                                        <p:tgtEl>
                                          <p:spTgt spid="54"/>
                                        </p:tgtEl>
                                        <p:attrNameLst>
                                          <p:attrName>style.visibility</p:attrName>
                                        </p:attrNameLst>
                                      </p:cBhvr>
                                      <p:to>
                                        <p:strVal val="visible"/>
                                      </p:to>
                                    </p:set>
                                    <p:anim calcmode="lin" valueType="num">
                                      <p:cBhvr additive="base">
                                        <p:cTn id="90" dur="500"/>
                                        <p:tgtEl>
                                          <p:spTgt spid="54"/>
                                        </p:tgtEl>
                                        <p:attrNameLst>
                                          <p:attrName>ppt_y</p:attrName>
                                        </p:attrNameLst>
                                      </p:cBhvr>
                                      <p:tavLst>
                                        <p:tav tm="0">
                                          <p:val>
                                            <p:strVal val="#ppt_y+#ppt_h*1.125000"/>
                                          </p:val>
                                        </p:tav>
                                        <p:tav tm="100000">
                                          <p:val>
                                            <p:strVal val="#ppt_y"/>
                                          </p:val>
                                        </p:tav>
                                      </p:tavLst>
                                    </p:anim>
                                    <p:animEffect transition="in" filter="wipe(up)">
                                      <p:cBhvr>
                                        <p:cTn id="91" dur="500"/>
                                        <p:tgtEl>
                                          <p:spTgt spid="54"/>
                                        </p:tgtEl>
                                      </p:cBhvr>
                                    </p:animEffect>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77"/>
                                        </p:tgtEl>
                                        <p:attrNameLst>
                                          <p:attrName>style.visibility</p:attrName>
                                        </p:attrNameLst>
                                      </p:cBhvr>
                                      <p:to>
                                        <p:strVal val="visible"/>
                                      </p:to>
                                    </p:set>
                                    <p:anim calcmode="lin" valueType="num">
                                      <p:cBhvr additive="base">
                                        <p:cTn id="96" dur="500" fill="hold"/>
                                        <p:tgtEl>
                                          <p:spTgt spid="77"/>
                                        </p:tgtEl>
                                        <p:attrNameLst>
                                          <p:attrName>ppt_x</p:attrName>
                                        </p:attrNameLst>
                                      </p:cBhvr>
                                      <p:tavLst>
                                        <p:tav tm="0">
                                          <p:val>
                                            <p:strVal val="#ppt_x"/>
                                          </p:val>
                                        </p:tav>
                                        <p:tav tm="100000">
                                          <p:val>
                                            <p:strVal val="#ppt_x"/>
                                          </p:val>
                                        </p:tav>
                                      </p:tavLst>
                                    </p:anim>
                                    <p:anim calcmode="lin" valueType="num">
                                      <p:cBhvr additive="base">
                                        <p:cTn id="97"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71" grpId="0"/>
      <p:bldP spid="72" grpId="0"/>
      <p:bldP spid="73" grpId="0"/>
      <p:bldP spid="74" grpId="0"/>
      <p:bldP spid="75" grpId="0"/>
      <p:bldP spid="76" grpId="0"/>
      <p:bldP spid="7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C52AE-602C-41FA-BF3F-31A57C3054BD}"/>
              </a:ext>
            </a:extLst>
          </p:cNvPr>
          <p:cNvSpPr>
            <a:spLocks noGrp="1"/>
          </p:cNvSpPr>
          <p:nvPr>
            <p:ph type="title"/>
          </p:nvPr>
        </p:nvSpPr>
        <p:spPr/>
        <p:txBody>
          <a:bodyPr/>
          <a:lstStyle/>
          <a:p>
            <a:r>
              <a:rPr lang="zh-CN" altLang="en-US" dirty="0"/>
              <a:t>例</a:t>
            </a:r>
            <a:r>
              <a:rPr lang="en-US" altLang="zh-CN" dirty="0"/>
              <a:t>2</a:t>
            </a:r>
            <a:r>
              <a:rPr lang="zh-CN" altLang="en-US" dirty="0"/>
              <a:t>：解</a:t>
            </a:r>
          </a:p>
        </p:txBody>
      </p:sp>
      <p:sp>
        <p:nvSpPr>
          <p:cNvPr id="4" name="日期占位符 3">
            <a:extLst>
              <a:ext uri="{FF2B5EF4-FFF2-40B4-BE49-F238E27FC236}">
                <a16:creationId xmlns:a16="http://schemas.microsoft.com/office/drawing/2014/main" id="{4EBFB8A3-D178-486F-81D3-38FE68E78EF0}"/>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C1DA3DD0-6F94-47FC-A09E-0EAE2F36EC56}"/>
              </a:ext>
            </a:extLst>
          </p:cNvPr>
          <p:cNvSpPr>
            <a:spLocks noGrp="1"/>
          </p:cNvSpPr>
          <p:nvPr>
            <p:ph type="sldNum" sz="quarter" idx="12"/>
          </p:nvPr>
        </p:nvSpPr>
        <p:spPr/>
        <p:txBody>
          <a:bodyPr/>
          <a:lstStyle/>
          <a:p>
            <a:fld id="{7AC79822-BC0D-4DE8-A7E5-90A3732A2B82}" type="slidenum">
              <a:rPr lang="zh-CN" altLang="en-US" smtClean="0"/>
              <a:pPr/>
              <a:t>40</a:t>
            </a:fld>
            <a:endParaRPr lang="en-US" altLang="zh-CN" dirty="0"/>
          </a:p>
        </p:txBody>
      </p:sp>
      <p:sp>
        <p:nvSpPr>
          <p:cNvPr id="6" name="文本框 5">
            <a:extLst>
              <a:ext uri="{FF2B5EF4-FFF2-40B4-BE49-F238E27FC236}">
                <a16:creationId xmlns:a16="http://schemas.microsoft.com/office/drawing/2014/main" id="{BC26C2FF-88EA-46F1-AC25-8C2A52ED2945}"/>
              </a:ext>
            </a:extLst>
          </p:cNvPr>
          <p:cNvSpPr txBox="1"/>
          <p:nvPr/>
        </p:nvSpPr>
        <p:spPr>
          <a:xfrm>
            <a:off x="92949" y="1156062"/>
            <a:ext cx="3995955" cy="2246769"/>
          </a:xfrm>
          <a:prstGeom prst="rect">
            <a:avLst/>
          </a:prstGeom>
          <a:noFill/>
        </p:spPr>
        <p:txBody>
          <a:bodyPr wrap="square" rtlCol="0">
            <a:spAutoFit/>
          </a:bodyPr>
          <a:lstStyle/>
          <a:p>
            <a:pPr marL="514350" indent="-514350">
              <a:buFont typeface="+mj-lt"/>
              <a:buAutoNum type="arabicPeriod" startAt="2"/>
            </a:pPr>
            <a:r>
              <a:rPr lang="zh-CN" altLang="en-US" sz="2800" dirty="0"/>
              <a:t>用单纯形法求解转换后的新问题</a:t>
            </a:r>
            <a:endParaRPr lang="en-US" altLang="zh-CN" sz="2800" dirty="0"/>
          </a:p>
          <a:p>
            <a:pPr marL="514350" indent="-514350">
              <a:buFont typeface="+mj-lt"/>
              <a:buAutoNum type="arabicPeriod" startAt="2"/>
            </a:pPr>
            <a:endParaRPr lang="en-US" altLang="zh-CN" sz="2800" dirty="0"/>
          </a:p>
          <a:p>
            <a:pPr marL="514350" indent="-514350">
              <a:buAutoNum type="arabicPeriod" startAt="2"/>
            </a:pPr>
            <a:endParaRPr lang="en-US" altLang="zh-CN" sz="2800" dirty="0"/>
          </a:p>
          <a:p>
            <a:pPr marL="514350" indent="-514350">
              <a:buAutoNum type="arabicPeriod" startAt="2"/>
            </a:pPr>
            <a:endParaRPr lang="en-US" altLang="zh-CN" sz="2800"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3014282190"/>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9" name="表格 8">
                <a:extLst>
                  <a:ext uri="{FF2B5EF4-FFF2-40B4-BE49-F238E27FC236}">
                    <a16:creationId xmlns:a16="http://schemas.microsoft.com/office/drawing/2014/main" id="{88659D02-B8D4-49A1-BB68-DBC8A150558E}"/>
                  </a:ext>
                </a:extLst>
              </p:cNvPr>
              <p:cNvGraphicFramePr>
                <a:graphicFrameLocks noGrp="1"/>
              </p:cNvGraphicFramePr>
              <p:nvPr>
                <p:extLst>
                  <p:ext uri="{D42A27DB-BD31-4B8C-83A1-F6EECF244321}">
                    <p14:modId xmlns:p14="http://schemas.microsoft.com/office/powerpoint/2010/main" val="3014282190"/>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0" name="表格 9">
            <a:extLst>
              <a:ext uri="{FF2B5EF4-FFF2-40B4-BE49-F238E27FC236}">
                <a16:creationId xmlns:a16="http://schemas.microsoft.com/office/drawing/2014/main" id="{382469EB-4F7B-4C59-8BB7-AE256AA4F2F5}"/>
              </a:ext>
            </a:extLst>
          </p:cNvPr>
          <p:cNvGraphicFramePr>
            <a:graphicFrameLocks noGrp="1"/>
          </p:cNvGraphicFramePr>
          <p:nvPr/>
        </p:nvGraphicFramePr>
        <p:xfrm>
          <a:off x="1974486" y="3282030"/>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888594644"/>
                    </a:ext>
                  </a:extLst>
                </a:gridCol>
                <a:gridCol w="851004">
                  <a:extLst>
                    <a:ext uri="{9D8B030D-6E8A-4147-A177-3AD203B41FA5}">
                      <a16:colId xmlns:a16="http://schemas.microsoft.com/office/drawing/2014/main" val="3772190993"/>
                    </a:ext>
                  </a:extLst>
                </a:gridCol>
                <a:gridCol w="851004">
                  <a:extLst>
                    <a:ext uri="{9D8B030D-6E8A-4147-A177-3AD203B41FA5}">
                      <a16:colId xmlns:a16="http://schemas.microsoft.com/office/drawing/2014/main" val="2423654171"/>
                    </a:ext>
                  </a:extLst>
                </a:gridCol>
                <a:gridCol w="851004">
                  <a:extLst>
                    <a:ext uri="{9D8B030D-6E8A-4147-A177-3AD203B41FA5}">
                      <a16:colId xmlns:a16="http://schemas.microsoft.com/office/drawing/2014/main" val="173958866"/>
                    </a:ext>
                  </a:extLst>
                </a:gridCol>
                <a:gridCol w="851004">
                  <a:extLst>
                    <a:ext uri="{9D8B030D-6E8A-4147-A177-3AD203B41FA5}">
                      <a16:colId xmlns:a16="http://schemas.microsoft.com/office/drawing/2014/main" val="3763796589"/>
                    </a:ext>
                  </a:extLst>
                </a:gridCol>
                <a:gridCol w="851004">
                  <a:extLst>
                    <a:ext uri="{9D8B030D-6E8A-4147-A177-3AD203B41FA5}">
                      <a16:colId xmlns:a16="http://schemas.microsoft.com/office/drawing/2014/main" val="3501386026"/>
                    </a:ext>
                  </a:extLst>
                </a:gridCol>
                <a:gridCol w="851004">
                  <a:extLst>
                    <a:ext uri="{9D8B030D-6E8A-4147-A177-3AD203B41FA5}">
                      <a16:colId xmlns:a16="http://schemas.microsoft.com/office/drawing/2014/main" val="47946503"/>
                    </a:ext>
                  </a:extLst>
                </a:gridCol>
              </a:tblGrid>
              <a:tr h="545304">
                <a:tc>
                  <a:txBody>
                    <a:bodyPr/>
                    <a:lstStyle/>
                    <a:p>
                      <a:pPr algn="ctr"/>
                      <a:r>
                        <a:rPr lang="en-US" altLang="zh-CN" sz="2400" baseline="0" dirty="0"/>
                        <a:t>x1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x4</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x5</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x6</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x7</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4561006"/>
                  </a:ext>
                </a:extLst>
              </a:tr>
            </a:tbl>
          </a:graphicData>
        </a:graphic>
      </p:graphicFrame>
      <p:graphicFrame>
        <p:nvGraphicFramePr>
          <p:cNvPr id="11" name="表格 10">
            <a:extLst>
              <a:ext uri="{FF2B5EF4-FFF2-40B4-BE49-F238E27FC236}">
                <a16:creationId xmlns:a16="http://schemas.microsoft.com/office/drawing/2014/main" id="{AFF1D259-337D-4AD1-A3F4-A7440FF6588C}"/>
              </a:ext>
            </a:extLst>
          </p:cNvPr>
          <p:cNvGraphicFramePr>
            <a:graphicFrameLocks noGrp="1"/>
          </p:cNvGraphicFramePr>
          <p:nvPr/>
        </p:nvGraphicFramePr>
        <p:xfrm>
          <a:off x="1974486" y="3827334"/>
          <a:ext cx="5957028" cy="545304"/>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61053095"/>
                    </a:ext>
                  </a:extLst>
                </a:gridCol>
                <a:gridCol w="851004">
                  <a:extLst>
                    <a:ext uri="{9D8B030D-6E8A-4147-A177-3AD203B41FA5}">
                      <a16:colId xmlns:a16="http://schemas.microsoft.com/office/drawing/2014/main" val="3124293546"/>
                    </a:ext>
                  </a:extLst>
                </a:gridCol>
                <a:gridCol w="851004">
                  <a:extLst>
                    <a:ext uri="{9D8B030D-6E8A-4147-A177-3AD203B41FA5}">
                      <a16:colId xmlns:a16="http://schemas.microsoft.com/office/drawing/2014/main" val="622754297"/>
                    </a:ext>
                  </a:extLst>
                </a:gridCol>
                <a:gridCol w="851004">
                  <a:extLst>
                    <a:ext uri="{9D8B030D-6E8A-4147-A177-3AD203B41FA5}">
                      <a16:colId xmlns:a16="http://schemas.microsoft.com/office/drawing/2014/main" val="3373824049"/>
                    </a:ext>
                  </a:extLst>
                </a:gridCol>
                <a:gridCol w="851004">
                  <a:extLst>
                    <a:ext uri="{9D8B030D-6E8A-4147-A177-3AD203B41FA5}">
                      <a16:colId xmlns:a16="http://schemas.microsoft.com/office/drawing/2014/main" val="2989024029"/>
                    </a:ext>
                  </a:extLst>
                </a:gridCol>
                <a:gridCol w="851004">
                  <a:extLst>
                    <a:ext uri="{9D8B030D-6E8A-4147-A177-3AD203B41FA5}">
                      <a16:colId xmlns:a16="http://schemas.microsoft.com/office/drawing/2014/main" val="3437347671"/>
                    </a:ext>
                  </a:extLst>
                </a:gridCol>
                <a:gridCol w="851004">
                  <a:extLst>
                    <a:ext uri="{9D8B030D-6E8A-4147-A177-3AD203B41FA5}">
                      <a16:colId xmlns:a16="http://schemas.microsoft.com/office/drawing/2014/main" val="384706708"/>
                    </a:ext>
                  </a:extLst>
                </a:gridCol>
              </a:tblGrid>
              <a:tr h="545304">
                <a:tc>
                  <a:txBody>
                    <a:bodyPr/>
                    <a:lstStyle/>
                    <a:p>
                      <a:pPr algn="ctr"/>
                      <a:r>
                        <a:rPr lang="en-US" altLang="zh-CN" sz="2400" baseline="0" dirty="0"/>
                        <a:t>-3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400" baseline="0" dirty="0"/>
                        <a:t>M</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357197"/>
                  </a:ext>
                </a:extLst>
              </a:tr>
            </a:tbl>
          </a:graphicData>
        </a:graphic>
      </p:graphicFrame>
      <p:graphicFrame>
        <p:nvGraphicFramePr>
          <p:cNvPr id="12" name="表格 11">
            <a:extLst>
              <a:ext uri="{FF2B5EF4-FFF2-40B4-BE49-F238E27FC236}">
                <a16:creationId xmlns:a16="http://schemas.microsoft.com/office/drawing/2014/main" id="{2588C155-9EC5-4E2E-A166-1ADEADFC2049}"/>
              </a:ext>
            </a:extLst>
          </p:cNvPr>
          <p:cNvGraphicFramePr>
            <a:graphicFrameLocks noGrp="1"/>
          </p:cNvGraphicFramePr>
          <p:nvPr>
            <p:extLst>
              <p:ext uri="{D42A27DB-BD31-4B8C-83A1-F6EECF244321}">
                <p14:modId xmlns:p14="http://schemas.microsoft.com/office/powerpoint/2010/main" val="1590625282"/>
              </p:ext>
            </p:extLst>
          </p:nvPr>
        </p:nvGraphicFramePr>
        <p:xfrm>
          <a:off x="197448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069676447"/>
                    </a:ext>
                  </a:extLst>
                </a:gridCol>
              </a:tblGrid>
              <a:tr h="545304">
                <a:tc>
                  <a:txBody>
                    <a:bodyPr/>
                    <a:lstStyle/>
                    <a:p>
                      <a:pPr algn="ct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507837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4814909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246233"/>
                  </a:ext>
                </a:extLst>
              </a:tr>
            </a:tbl>
          </a:graphicData>
        </a:graphic>
      </p:graphicFrame>
      <p:graphicFrame>
        <p:nvGraphicFramePr>
          <p:cNvPr id="13" name="表格 12">
            <a:extLst>
              <a:ext uri="{FF2B5EF4-FFF2-40B4-BE49-F238E27FC236}">
                <a16:creationId xmlns:a16="http://schemas.microsoft.com/office/drawing/2014/main" id="{5DCAFD00-EC74-4A3B-B6F7-A931E40A3D90}"/>
              </a:ext>
            </a:extLst>
          </p:cNvPr>
          <p:cNvGraphicFramePr>
            <a:graphicFrameLocks noGrp="1"/>
          </p:cNvGraphicFramePr>
          <p:nvPr/>
        </p:nvGraphicFramePr>
        <p:xfrm>
          <a:off x="2825490"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07174702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9445812"/>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23478681"/>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52171719"/>
                  </a:ext>
                </a:extLst>
              </a:tr>
            </a:tbl>
          </a:graphicData>
        </a:graphic>
      </p:graphicFrame>
      <p:graphicFrame>
        <p:nvGraphicFramePr>
          <p:cNvPr id="14" name="表格 13">
            <a:extLst>
              <a:ext uri="{FF2B5EF4-FFF2-40B4-BE49-F238E27FC236}">
                <a16:creationId xmlns:a16="http://schemas.microsoft.com/office/drawing/2014/main" id="{780E56C8-184C-4332-B9A6-378A0798AE69}"/>
              </a:ext>
            </a:extLst>
          </p:cNvPr>
          <p:cNvGraphicFramePr>
            <a:graphicFrameLocks noGrp="1"/>
          </p:cNvGraphicFramePr>
          <p:nvPr/>
        </p:nvGraphicFramePr>
        <p:xfrm>
          <a:off x="366340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2735767970"/>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73196937"/>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0101333"/>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47738060"/>
                  </a:ext>
                </a:extLst>
              </a:tr>
            </a:tbl>
          </a:graphicData>
        </a:graphic>
      </p:graphicFrame>
      <p:graphicFrame>
        <p:nvGraphicFramePr>
          <p:cNvPr id="15" name="表格 14">
            <a:extLst>
              <a:ext uri="{FF2B5EF4-FFF2-40B4-BE49-F238E27FC236}">
                <a16:creationId xmlns:a16="http://schemas.microsoft.com/office/drawing/2014/main" id="{80B8A5E7-5746-47A7-BE2E-411112B6273D}"/>
              </a:ext>
            </a:extLst>
          </p:cNvPr>
          <p:cNvGraphicFramePr>
            <a:graphicFrameLocks noGrp="1"/>
          </p:cNvGraphicFramePr>
          <p:nvPr>
            <p:extLst>
              <p:ext uri="{D42A27DB-BD31-4B8C-83A1-F6EECF244321}">
                <p14:modId xmlns:p14="http://schemas.microsoft.com/office/powerpoint/2010/main" val="634351560"/>
              </p:ext>
            </p:extLst>
          </p:nvPr>
        </p:nvGraphicFramePr>
        <p:xfrm>
          <a:off x="454059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6" name="表格 15">
            <a:extLst>
              <a:ext uri="{FF2B5EF4-FFF2-40B4-BE49-F238E27FC236}">
                <a16:creationId xmlns:a16="http://schemas.microsoft.com/office/drawing/2014/main" id="{DBDBED40-6DB7-449C-BD72-26FBC4A70536}"/>
              </a:ext>
            </a:extLst>
          </p:cNvPr>
          <p:cNvGraphicFramePr>
            <a:graphicFrameLocks noGrp="1"/>
          </p:cNvGraphicFramePr>
          <p:nvPr>
            <p:extLst>
              <p:ext uri="{D42A27DB-BD31-4B8C-83A1-F6EECF244321}">
                <p14:modId xmlns:p14="http://schemas.microsoft.com/office/powerpoint/2010/main" val="2232988735"/>
              </p:ext>
            </p:extLst>
          </p:nvPr>
        </p:nvGraphicFramePr>
        <p:xfrm>
          <a:off x="5393039" y="4351834"/>
          <a:ext cx="856931" cy="1624761"/>
        </p:xfrm>
        <a:graphic>
          <a:graphicData uri="http://schemas.openxmlformats.org/drawingml/2006/table">
            <a:tbl>
              <a:tblPr firstRow="1" bandRow="1">
                <a:tableStyleId>{5940675A-B579-460E-94D1-54222C63F5DA}</a:tableStyleId>
              </a:tblPr>
              <a:tblGrid>
                <a:gridCol w="856931">
                  <a:extLst>
                    <a:ext uri="{9D8B030D-6E8A-4147-A177-3AD203B41FA5}">
                      <a16:colId xmlns:a16="http://schemas.microsoft.com/office/drawing/2014/main" val="1144263453"/>
                    </a:ext>
                  </a:extLst>
                </a:gridCol>
              </a:tblGrid>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654038"/>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4852532"/>
                  </a:ext>
                </a:extLst>
              </a:tr>
              <a:tr h="5415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3044381"/>
                  </a:ext>
                </a:extLst>
              </a:tr>
            </a:tbl>
          </a:graphicData>
        </a:graphic>
      </p:graphicFrame>
      <p:graphicFrame>
        <p:nvGraphicFramePr>
          <p:cNvPr id="17" name="表格 16">
            <a:extLst>
              <a:ext uri="{FF2B5EF4-FFF2-40B4-BE49-F238E27FC236}">
                <a16:creationId xmlns:a16="http://schemas.microsoft.com/office/drawing/2014/main" id="{266C6A68-01B1-4C70-9AC2-350A3AEF55DA}"/>
              </a:ext>
            </a:extLst>
          </p:cNvPr>
          <p:cNvGraphicFramePr>
            <a:graphicFrameLocks noGrp="1"/>
          </p:cNvGraphicFramePr>
          <p:nvPr>
            <p:extLst>
              <p:ext uri="{D42A27DB-BD31-4B8C-83A1-F6EECF244321}">
                <p14:modId xmlns:p14="http://schemas.microsoft.com/office/powerpoint/2010/main" val="759247059"/>
              </p:ext>
            </p:extLst>
          </p:nvPr>
        </p:nvGraphicFramePr>
        <p:xfrm>
          <a:off x="6268907"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8" name="表格 17">
            <a:extLst>
              <a:ext uri="{FF2B5EF4-FFF2-40B4-BE49-F238E27FC236}">
                <a16:creationId xmlns:a16="http://schemas.microsoft.com/office/drawing/2014/main" id="{7FB029A8-B1B4-473A-8010-4B481DCED1EA}"/>
              </a:ext>
            </a:extLst>
          </p:cNvPr>
          <p:cNvGraphicFramePr>
            <a:graphicFrameLocks noGrp="1"/>
          </p:cNvGraphicFramePr>
          <p:nvPr>
            <p:extLst>
              <p:ext uri="{D42A27DB-BD31-4B8C-83A1-F6EECF244321}">
                <p14:modId xmlns:p14="http://schemas.microsoft.com/office/powerpoint/2010/main" val="2749961668"/>
              </p:ext>
            </p:extLst>
          </p:nvPr>
        </p:nvGraphicFramePr>
        <p:xfrm>
          <a:off x="7081956"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3520207009"/>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4762255"/>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50910354"/>
                  </a:ext>
                </a:extLst>
              </a:tr>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-7/3</a:t>
                      </a:r>
                      <a:endParaRPr lang="zh-CN" altLang="en-US" sz="2400" baseline="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2053608"/>
                  </a:ext>
                </a:extLst>
              </a:tr>
            </a:tbl>
          </a:graphicData>
        </a:graphic>
      </p:graphicFrame>
      <p:graphicFrame>
        <p:nvGraphicFramePr>
          <p:cNvPr id="19" name="表格 18">
            <a:extLst>
              <a:ext uri="{FF2B5EF4-FFF2-40B4-BE49-F238E27FC236}">
                <a16:creationId xmlns:a16="http://schemas.microsoft.com/office/drawing/2014/main" id="{C5C5A436-2B3D-4D7E-9C28-6510385AB584}"/>
              </a:ext>
            </a:extLst>
          </p:cNvPr>
          <p:cNvGraphicFramePr>
            <a:graphicFrameLocks noGrp="1"/>
          </p:cNvGraphicFramePr>
          <p:nvPr>
            <p:extLst>
              <p:ext uri="{D42A27DB-BD31-4B8C-83A1-F6EECF244321}">
                <p14:modId xmlns:p14="http://schemas.microsoft.com/office/powerpoint/2010/main" val="2150493406"/>
              </p:ext>
            </p:extLst>
          </p:nvPr>
        </p:nvGraphicFramePr>
        <p:xfrm>
          <a:off x="7918422" y="4372638"/>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613168036"/>
                    </a:ext>
                  </a:extLst>
                </a:gridCol>
              </a:tblGrid>
              <a:tr h="545304">
                <a:tc>
                  <a:txBody>
                    <a:bodyPr/>
                    <a:lstStyle/>
                    <a:p>
                      <a:pPr algn="ctr"/>
                      <a:r>
                        <a:rPr lang="en-US" altLang="zh-CN" sz="2400" kern="1200" baseline="0" dirty="0">
                          <a:solidFill>
                            <a:schemeClr val="tx1"/>
                          </a:solidFill>
                          <a:latin typeface="+mn-lt"/>
                          <a:ea typeface="+mn-ea"/>
                          <a:cs typeface="+mn-cs"/>
                        </a:rPr>
                        <a:t>4</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10655746"/>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99997421"/>
                  </a:ext>
                </a:extLst>
              </a:tr>
              <a:tr h="545304">
                <a:tc>
                  <a:txBody>
                    <a:bodyPr/>
                    <a:lstStyle/>
                    <a:p>
                      <a:pPr algn="ctr"/>
                      <a:r>
                        <a:rPr lang="en-US" altLang="zh-CN" sz="2400" kern="1200" baseline="0" dirty="0">
                          <a:solidFill>
                            <a:schemeClr val="tx1"/>
                          </a:solidFill>
                          <a:latin typeface="+mn-lt"/>
                          <a:ea typeface="+mn-ea"/>
                          <a:cs typeface="+mn-cs"/>
                        </a:rPr>
                        <a:t>9</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80020246"/>
                  </a:ext>
                </a:extLst>
              </a:tr>
            </a:tbl>
          </a:graphicData>
        </a:graphic>
      </p:graphicFrame>
      <p:graphicFrame>
        <p:nvGraphicFramePr>
          <p:cNvPr id="20" name="表格 19">
            <a:extLst>
              <a:ext uri="{FF2B5EF4-FFF2-40B4-BE49-F238E27FC236}">
                <a16:creationId xmlns:a16="http://schemas.microsoft.com/office/drawing/2014/main" id="{6CCCC73A-EAF0-4821-B221-488F31CC57E6}"/>
              </a:ext>
            </a:extLst>
          </p:cNvPr>
          <p:cNvGraphicFramePr>
            <a:graphicFrameLocks noGrp="1"/>
          </p:cNvGraphicFramePr>
          <p:nvPr/>
        </p:nvGraphicFramePr>
        <p:xfrm>
          <a:off x="280215"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4046237307"/>
                    </a:ext>
                  </a:extLst>
                </a:gridCol>
              </a:tblGrid>
              <a:tr h="545304">
                <a:tc>
                  <a:txBody>
                    <a:bodyPr/>
                    <a:lstStyle/>
                    <a:p>
                      <a:pPr algn="ctr"/>
                      <a:r>
                        <a:rPr lang="en-US" altLang="zh-CN" sz="2400" kern="1200" baseline="0" dirty="0">
                          <a:solidFill>
                            <a:schemeClr val="tx1"/>
                          </a:solidFill>
                          <a:latin typeface="+mn-lt"/>
                          <a:ea typeface="+mn-ea"/>
                          <a:cs typeface="+mn-cs"/>
                        </a:rPr>
                        <a:t>x1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4665819"/>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7609639"/>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36425658"/>
                  </a:ext>
                </a:extLst>
              </a:tr>
            </a:tbl>
          </a:graphicData>
        </a:graphic>
      </p:graphicFrame>
      <p:graphicFrame>
        <p:nvGraphicFramePr>
          <p:cNvPr id="21" name="表格 20">
            <a:extLst>
              <a:ext uri="{FF2B5EF4-FFF2-40B4-BE49-F238E27FC236}">
                <a16:creationId xmlns:a16="http://schemas.microsoft.com/office/drawing/2014/main" id="{671B570F-1AFA-4F31-9387-0A6E96A4AAAE}"/>
              </a:ext>
            </a:extLst>
          </p:cNvPr>
          <p:cNvGraphicFramePr>
            <a:graphicFrameLocks noGrp="1"/>
          </p:cNvGraphicFramePr>
          <p:nvPr/>
        </p:nvGraphicFramePr>
        <p:xfrm>
          <a:off x="1136574" y="4366383"/>
          <a:ext cx="851004" cy="1635912"/>
        </p:xfrm>
        <a:graphic>
          <a:graphicData uri="http://schemas.openxmlformats.org/drawingml/2006/table">
            <a:tbl>
              <a:tblPr firstRow="1" bandRow="1">
                <a:tableStyleId>{5940675A-B579-460E-94D1-54222C63F5DA}</a:tableStyleId>
              </a:tblPr>
              <a:tblGrid>
                <a:gridCol w="851004">
                  <a:extLst>
                    <a:ext uri="{9D8B030D-6E8A-4147-A177-3AD203B41FA5}">
                      <a16:colId xmlns:a16="http://schemas.microsoft.com/office/drawing/2014/main" val="1874526316"/>
                    </a:ext>
                  </a:extLst>
                </a:gridCol>
              </a:tblGrid>
              <a:tr h="545304">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62388643"/>
                  </a:ext>
                </a:extLst>
              </a:tr>
              <a:tr h="545304">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89772129"/>
                  </a:ext>
                </a:extLst>
              </a:tr>
              <a:tr h="545304">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07997"/>
                  </a:ext>
                </a:extLst>
              </a:tr>
            </a:tbl>
          </a:graphicData>
        </a:graphic>
      </p:graphicFrame>
      <p:sp>
        <p:nvSpPr>
          <p:cNvPr id="43" name="矩形 42">
            <a:extLst>
              <a:ext uri="{FF2B5EF4-FFF2-40B4-BE49-F238E27FC236}">
                <a16:creationId xmlns:a16="http://schemas.microsoft.com/office/drawing/2014/main" id="{D642EC23-3CAD-4C5E-88FF-D724A80D132D}"/>
              </a:ext>
            </a:extLst>
          </p:cNvPr>
          <p:cNvSpPr/>
          <p:nvPr/>
        </p:nvSpPr>
        <p:spPr>
          <a:xfrm>
            <a:off x="8228586" y="5887130"/>
            <a:ext cx="354584" cy="461665"/>
          </a:xfrm>
          <a:prstGeom prst="rect">
            <a:avLst/>
          </a:prstGeom>
        </p:spPr>
        <p:txBody>
          <a:bodyPr wrap="none">
            <a:spAutoFit/>
          </a:bodyPr>
          <a:lstStyle/>
          <a:p>
            <a:pPr algn="ctr"/>
            <a:r>
              <a:rPr lang="en-US" altLang="zh-CN" sz="2400" dirty="0"/>
              <a:t>  </a:t>
            </a:r>
            <a:endParaRPr lang="zh-CN" altLang="en-US" sz="2400" dirty="0"/>
          </a:p>
        </p:txBody>
      </p:sp>
      <p:graphicFrame>
        <p:nvGraphicFramePr>
          <p:cNvPr id="45" name="对象 44">
            <a:extLst>
              <a:ext uri="{FF2B5EF4-FFF2-40B4-BE49-F238E27FC236}">
                <a16:creationId xmlns:a16="http://schemas.microsoft.com/office/drawing/2014/main" id="{A1A5B729-AB57-4FD5-9592-92FC326E450A}"/>
              </a:ext>
            </a:extLst>
          </p:cNvPr>
          <p:cNvGraphicFramePr>
            <a:graphicFrameLocks noChangeAspect="1"/>
          </p:cNvGraphicFramePr>
          <p:nvPr>
            <p:extLst>
              <p:ext uri="{D42A27DB-BD31-4B8C-83A1-F6EECF244321}">
                <p14:modId xmlns:p14="http://schemas.microsoft.com/office/powerpoint/2010/main" val="3643523271"/>
              </p:ext>
            </p:extLst>
          </p:nvPr>
        </p:nvGraphicFramePr>
        <p:xfrm>
          <a:off x="5151438" y="479425"/>
          <a:ext cx="2717800" cy="530225"/>
        </p:xfrm>
        <a:graphic>
          <a:graphicData uri="http://schemas.openxmlformats.org/presentationml/2006/ole">
            <mc:AlternateContent xmlns:mc="http://schemas.openxmlformats.org/markup-compatibility/2006">
              <mc:Choice xmlns:v="urn:schemas-microsoft-com:vml" Requires="v">
                <p:oleObj name="Equation" r:id="rId4" imgW="1434960" imgH="279360" progId="Equation.DSMT4">
                  <p:embed/>
                </p:oleObj>
              </mc:Choice>
              <mc:Fallback>
                <p:oleObj name="Equation" r:id="rId4" imgW="1434960" imgH="279360" progId="Equation.DSMT4">
                  <p:embed/>
                  <p:pic>
                    <p:nvPicPr>
                      <p:cNvPr id="45" name="对象 44">
                        <a:extLst>
                          <a:ext uri="{FF2B5EF4-FFF2-40B4-BE49-F238E27FC236}">
                            <a16:creationId xmlns:a16="http://schemas.microsoft.com/office/drawing/2014/main" id="{1247CE0E-11EE-49A2-8B83-1DE7FC487847}"/>
                          </a:ext>
                        </a:extLst>
                      </p:cNvPr>
                      <p:cNvPicPr/>
                      <p:nvPr/>
                    </p:nvPicPr>
                    <p:blipFill>
                      <a:blip r:embed="rId5"/>
                      <a:stretch>
                        <a:fillRect/>
                      </a:stretch>
                    </p:blipFill>
                    <p:spPr>
                      <a:xfrm>
                        <a:off x="5151438" y="479425"/>
                        <a:ext cx="2717800" cy="53022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FF92E10C-4C1E-4F7F-A579-019BC407494C}"/>
                  </a:ext>
                </a:extLst>
              </p:cNvPr>
              <p:cNvSpPr/>
              <p:nvPr/>
            </p:nvSpPr>
            <p:spPr>
              <a:xfrm>
                <a:off x="644902" y="2104162"/>
                <a:ext cx="3152398" cy="830997"/>
              </a:xfrm>
              <a:prstGeom prst="rect">
                <a:avLst/>
              </a:prstGeom>
            </p:spPr>
            <p:txBody>
              <a:bodyPr wrap="square">
                <a:spAutoFit/>
              </a:bodyPr>
              <a:lstStyle/>
              <a:p>
                <a:pPr marL="457200" indent="-457200">
                  <a:buFont typeface="+mj-ea"/>
                  <a:buAutoNum type="circleNumDbPlain" startAt="8"/>
                </a:pPr>
                <a:r>
                  <a:rPr lang="zh-CN" altLang="en-US" sz="2400" dirty="0"/>
                  <a:t>得到基本可行解，计算</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的值</a:t>
                </a:r>
                <a:endParaRPr lang="en-US" altLang="zh-CN" sz="2400" dirty="0"/>
              </a:p>
            </p:txBody>
          </p:sp>
        </mc:Choice>
        <mc:Fallback xmlns="">
          <p:sp>
            <p:nvSpPr>
              <p:cNvPr id="53" name="矩形 52">
                <a:extLst>
                  <a:ext uri="{FF2B5EF4-FFF2-40B4-BE49-F238E27FC236}">
                    <a16:creationId xmlns:a16="http://schemas.microsoft.com/office/drawing/2014/main" id="{FF92E10C-4C1E-4F7F-A579-019BC407494C}"/>
                  </a:ext>
                </a:extLst>
              </p:cNvPr>
              <p:cNvSpPr>
                <a:spLocks noRot="1" noChangeAspect="1" noMove="1" noResize="1" noEditPoints="1" noAdjustHandles="1" noChangeArrowheads="1" noChangeShapeType="1" noTextEdit="1"/>
              </p:cNvSpPr>
              <p:nvPr/>
            </p:nvSpPr>
            <p:spPr>
              <a:xfrm>
                <a:off x="644902" y="2104162"/>
                <a:ext cx="3152398" cy="830997"/>
              </a:xfrm>
              <a:prstGeom prst="rect">
                <a:avLst/>
              </a:prstGeom>
              <a:blipFill>
                <a:blip r:embed="rId6"/>
                <a:stretch>
                  <a:fillRect l="-3675" t="-10294" r="-580" b="-16176"/>
                </a:stretch>
              </a:blipFill>
            </p:spPr>
            <p:txBody>
              <a:bodyPr/>
              <a:lstStyle/>
              <a:p>
                <a:r>
                  <a:rPr lang="zh-CN" altLang="en-US">
                    <a:noFill/>
                  </a:rPr>
                  <a:t> </a:t>
                </a:r>
              </a:p>
            </p:txBody>
          </p:sp>
        </mc:Fallback>
      </mc:AlternateContent>
      <p:sp>
        <p:nvSpPr>
          <p:cNvPr id="55" name="矩形 54">
            <a:extLst>
              <a:ext uri="{FF2B5EF4-FFF2-40B4-BE49-F238E27FC236}">
                <a16:creationId xmlns:a16="http://schemas.microsoft.com/office/drawing/2014/main" id="{6BEC21D6-B664-4E2C-B0D1-B846A5D96640}"/>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56" name="矩形 55">
            <a:extLst>
              <a:ext uri="{FF2B5EF4-FFF2-40B4-BE49-F238E27FC236}">
                <a16:creationId xmlns:a16="http://schemas.microsoft.com/office/drawing/2014/main" id="{66ABCA7D-76B7-44D3-88EC-8D3EC4E1B76D}"/>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58" name="矩形 57">
            <a:extLst>
              <a:ext uri="{FF2B5EF4-FFF2-40B4-BE49-F238E27FC236}">
                <a16:creationId xmlns:a16="http://schemas.microsoft.com/office/drawing/2014/main" id="{412F3028-7170-4C8F-B333-4C34C62DA49B}"/>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59" name="矩形 58">
            <a:extLst>
              <a:ext uri="{FF2B5EF4-FFF2-40B4-BE49-F238E27FC236}">
                <a16:creationId xmlns:a16="http://schemas.microsoft.com/office/drawing/2014/main" id="{83B5FB16-611F-495E-9075-3BF24073DB08}"/>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0" name="矩形 59">
            <a:extLst>
              <a:ext uri="{FF2B5EF4-FFF2-40B4-BE49-F238E27FC236}">
                <a16:creationId xmlns:a16="http://schemas.microsoft.com/office/drawing/2014/main" id="{37DA849B-07DE-42A1-8932-747A3C478239}"/>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61" name="矩形 60">
            <a:extLst>
              <a:ext uri="{FF2B5EF4-FFF2-40B4-BE49-F238E27FC236}">
                <a16:creationId xmlns:a16="http://schemas.microsoft.com/office/drawing/2014/main" id="{74A3D8C0-661D-40CE-BC4C-1798AA11C3A2}"/>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63" name="矩形 62">
            <a:extLst>
              <a:ext uri="{FF2B5EF4-FFF2-40B4-BE49-F238E27FC236}">
                <a16:creationId xmlns:a16="http://schemas.microsoft.com/office/drawing/2014/main" id="{3D50966D-D2DC-4E09-8256-B3646997F606}"/>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4" name="矩形 63">
            <a:extLst>
              <a:ext uri="{FF2B5EF4-FFF2-40B4-BE49-F238E27FC236}">
                <a16:creationId xmlns:a16="http://schemas.microsoft.com/office/drawing/2014/main" id="{19546A53-62A9-4089-A69E-7D5179685DAC}"/>
              </a:ext>
            </a:extLst>
          </p:cNvPr>
          <p:cNvSpPr/>
          <p:nvPr/>
        </p:nvSpPr>
        <p:spPr>
          <a:xfrm>
            <a:off x="2122755" y="6041749"/>
            <a:ext cx="354584" cy="461665"/>
          </a:xfrm>
          <a:prstGeom prst="rect">
            <a:avLst/>
          </a:prstGeom>
        </p:spPr>
        <p:txBody>
          <a:bodyPr wrap="none">
            <a:spAutoFit/>
          </a:bodyPr>
          <a:lstStyle/>
          <a:p>
            <a:pPr algn="ctr"/>
            <a:r>
              <a:rPr lang="en-US" altLang="zh-CN" sz="2400" dirty="0"/>
              <a:t>  </a:t>
            </a:r>
            <a:endParaRPr lang="zh-CN" altLang="en-US" sz="2400" dirty="0"/>
          </a:p>
        </p:txBody>
      </p:sp>
      <p:sp>
        <p:nvSpPr>
          <p:cNvPr id="65" name="矩形 64">
            <a:extLst>
              <a:ext uri="{FF2B5EF4-FFF2-40B4-BE49-F238E27FC236}">
                <a16:creationId xmlns:a16="http://schemas.microsoft.com/office/drawing/2014/main" id="{2564C37D-A7C0-418C-9D2F-BC3B3AE740A1}"/>
              </a:ext>
            </a:extLst>
          </p:cNvPr>
          <p:cNvSpPr/>
          <p:nvPr/>
        </p:nvSpPr>
        <p:spPr>
          <a:xfrm>
            <a:off x="2995146" y="6064583"/>
            <a:ext cx="354584" cy="461665"/>
          </a:xfrm>
          <a:prstGeom prst="rect">
            <a:avLst/>
          </a:prstGeom>
        </p:spPr>
        <p:txBody>
          <a:bodyPr wrap="none">
            <a:spAutoFit/>
          </a:bodyPr>
          <a:lstStyle/>
          <a:p>
            <a:pPr algn="ctr"/>
            <a:r>
              <a:rPr lang="en-US" altLang="zh-CN" sz="2400" dirty="0"/>
              <a:t>  </a:t>
            </a:r>
            <a:endParaRPr lang="zh-CN" altLang="en-US" sz="2400" dirty="0"/>
          </a:p>
        </p:txBody>
      </p:sp>
      <p:sp>
        <p:nvSpPr>
          <p:cNvPr id="66" name="矩形 65">
            <a:extLst>
              <a:ext uri="{FF2B5EF4-FFF2-40B4-BE49-F238E27FC236}">
                <a16:creationId xmlns:a16="http://schemas.microsoft.com/office/drawing/2014/main" id="{37113639-023B-4DE3-920A-C562CE76237F}"/>
              </a:ext>
            </a:extLst>
          </p:cNvPr>
          <p:cNvSpPr/>
          <p:nvPr/>
        </p:nvSpPr>
        <p:spPr>
          <a:xfrm>
            <a:off x="3913052"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7" name="矩形 66">
            <a:extLst>
              <a:ext uri="{FF2B5EF4-FFF2-40B4-BE49-F238E27FC236}">
                <a16:creationId xmlns:a16="http://schemas.microsoft.com/office/drawing/2014/main" id="{BD575188-B4FF-41E0-94D0-A7939A40D6C4}"/>
              </a:ext>
            </a:extLst>
          </p:cNvPr>
          <p:cNvSpPr/>
          <p:nvPr/>
        </p:nvSpPr>
        <p:spPr>
          <a:xfrm>
            <a:off x="4780981"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68" name="矩形 67">
            <a:extLst>
              <a:ext uri="{FF2B5EF4-FFF2-40B4-BE49-F238E27FC236}">
                <a16:creationId xmlns:a16="http://schemas.microsoft.com/office/drawing/2014/main" id="{A3AA0775-9F00-48E4-BD70-14EEF65E78B0}"/>
              </a:ext>
            </a:extLst>
          </p:cNvPr>
          <p:cNvSpPr/>
          <p:nvPr/>
        </p:nvSpPr>
        <p:spPr>
          <a:xfrm>
            <a:off x="5709221" y="6054229"/>
            <a:ext cx="354584" cy="461665"/>
          </a:xfrm>
          <a:prstGeom prst="rect">
            <a:avLst/>
          </a:prstGeom>
        </p:spPr>
        <p:txBody>
          <a:bodyPr wrap="none">
            <a:spAutoFit/>
          </a:bodyPr>
          <a:lstStyle/>
          <a:p>
            <a:pPr algn="ctr"/>
            <a:r>
              <a:rPr lang="en-US" altLang="zh-CN" sz="2400" dirty="0"/>
              <a:t>  </a:t>
            </a:r>
            <a:endParaRPr lang="zh-CN" altLang="en-US" sz="2400" dirty="0"/>
          </a:p>
        </p:txBody>
      </p:sp>
      <p:sp>
        <p:nvSpPr>
          <p:cNvPr id="69" name="矩形 68">
            <a:extLst>
              <a:ext uri="{FF2B5EF4-FFF2-40B4-BE49-F238E27FC236}">
                <a16:creationId xmlns:a16="http://schemas.microsoft.com/office/drawing/2014/main" id="{737068EF-443B-4F65-B7EB-DD458B53F41A}"/>
              </a:ext>
            </a:extLst>
          </p:cNvPr>
          <p:cNvSpPr/>
          <p:nvPr/>
        </p:nvSpPr>
        <p:spPr>
          <a:xfrm>
            <a:off x="6552930" y="6064582"/>
            <a:ext cx="354584" cy="461665"/>
          </a:xfrm>
          <a:prstGeom prst="rect">
            <a:avLst/>
          </a:prstGeom>
        </p:spPr>
        <p:txBody>
          <a:bodyPr wrap="none">
            <a:spAutoFit/>
          </a:bodyPr>
          <a:lstStyle/>
          <a:p>
            <a:pPr algn="ctr"/>
            <a:r>
              <a:rPr lang="en-US" altLang="zh-CN" sz="2400" dirty="0"/>
              <a:t>  </a:t>
            </a:r>
            <a:endParaRPr lang="zh-CN" altLang="en-US" sz="2400" dirty="0"/>
          </a:p>
        </p:txBody>
      </p:sp>
      <p:sp>
        <p:nvSpPr>
          <p:cNvPr id="70" name="矩形 69">
            <a:extLst>
              <a:ext uri="{FF2B5EF4-FFF2-40B4-BE49-F238E27FC236}">
                <a16:creationId xmlns:a16="http://schemas.microsoft.com/office/drawing/2014/main" id="{A775EA5F-4C46-48F1-9591-7E75847FEC5D}"/>
              </a:ext>
            </a:extLst>
          </p:cNvPr>
          <p:cNvSpPr/>
          <p:nvPr/>
        </p:nvSpPr>
        <p:spPr>
          <a:xfrm>
            <a:off x="7498585" y="6044696"/>
            <a:ext cx="354584" cy="461665"/>
          </a:xfrm>
          <a:prstGeom prst="rect">
            <a:avLst/>
          </a:prstGeom>
        </p:spPr>
        <p:txBody>
          <a:bodyPr wrap="none">
            <a:spAutoFit/>
          </a:bodyPr>
          <a:lstStyle/>
          <a:p>
            <a:pPr algn="ctr"/>
            <a:r>
              <a:rPr lang="en-US" altLang="zh-CN" sz="2400" dirty="0"/>
              <a:t>  </a:t>
            </a:r>
            <a:endParaRPr lang="zh-CN" altLang="en-US" sz="2400" dirty="0"/>
          </a:p>
        </p:txBody>
      </p:sp>
      <p:sp>
        <p:nvSpPr>
          <p:cNvPr id="71" name="矩形 70">
            <a:extLst>
              <a:ext uri="{FF2B5EF4-FFF2-40B4-BE49-F238E27FC236}">
                <a16:creationId xmlns:a16="http://schemas.microsoft.com/office/drawing/2014/main" id="{77EE84D3-A50B-4C1D-8744-6E5DBAC865FE}"/>
              </a:ext>
            </a:extLst>
          </p:cNvPr>
          <p:cNvSpPr/>
          <p:nvPr/>
        </p:nvSpPr>
        <p:spPr>
          <a:xfrm>
            <a:off x="2197800" y="6041748"/>
            <a:ext cx="356188" cy="461665"/>
          </a:xfrm>
          <a:prstGeom prst="rect">
            <a:avLst/>
          </a:prstGeom>
        </p:spPr>
        <p:txBody>
          <a:bodyPr wrap="none">
            <a:spAutoFit/>
          </a:bodyPr>
          <a:lstStyle/>
          <a:p>
            <a:pPr algn="ctr"/>
            <a:r>
              <a:rPr lang="en-US" altLang="zh-CN" sz="2400" dirty="0"/>
              <a:t>0</a:t>
            </a:r>
            <a:endParaRPr lang="zh-CN" altLang="en-US" sz="2400" dirty="0"/>
          </a:p>
        </p:txBody>
      </p:sp>
      <p:sp>
        <p:nvSpPr>
          <p:cNvPr id="72" name="矩形 71">
            <a:extLst>
              <a:ext uri="{FF2B5EF4-FFF2-40B4-BE49-F238E27FC236}">
                <a16:creationId xmlns:a16="http://schemas.microsoft.com/office/drawing/2014/main" id="{AF5D23C6-5135-4C1B-878D-4BD5F53A9FD3}"/>
              </a:ext>
            </a:extLst>
          </p:cNvPr>
          <p:cNvSpPr/>
          <p:nvPr/>
        </p:nvSpPr>
        <p:spPr>
          <a:xfrm>
            <a:off x="3060028" y="6082303"/>
            <a:ext cx="356188" cy="461665"/>
          </a:xfrm>
          <a:prstGeom prst="rect">
            <a:avLst/>
          </a:prstGeom>
        </p:spPr>
        <p:txBody>
          <a:bodyPr wrap="none">
            <a:spAutoFit/>
          </a:bodyPr>
          <a:lstStyle/>
          <a:p>
            <a:pPr algn="ctr"/>
            <a:r>
              <a:rPr lang="en-US" altLang="zh-CN" sz="2400" dirty="0"/>
              <a:t>0</a:t>
            </a:r>
            <a:endParaRPr lang="zh-CN" altLang="en-US" sz="2400" dirty="0"/>
          </a:p>
        </p:txBody>
      </p:sp>
      <p:sp>
        <p:nvSpPr>
          <p:cNvPr id="73" name="矩形 72">
            <a:extLst>
              <a:ext uri="{FF2B5EF4-FFF2-40B4-BE49-F238E27FC236}">
                <a16:creationId xmlns:a16="http://schemas.microsoft.com/office/drawing/2014/main" id="{3BB33B22-6992-467A-9FAD-169302E409B1}"/>
              </a:ext>
            </a:extLst>
          </p:cNvPr>
          <p:cNvSpPr/>
          <p:nvPr/>
        </p:nvSpPr>
        <p:spPr>
          <a:xfrm>
            <a:off x="3912250" y="6044696"/>
            <a:ext cx="356188" cy="461665"/>
          </a:xfrm>
          <a:prstGeom prst="rect">
            <a:avLst/>
          </a:prstGeom>
        </p:spPr>
        <p:txBody>
          <a:bodyPr wrap="none">
            <a:spAutoFit/>
          </a:bodyPr>
          <a:lstStyle/>
          <a:p>
            <a:pPr algn="ctr"/>
            <a:r>
              <a:rPr lang="en-US" altLang="zh-CN" sz="2400" dirty="0"/>
              <a:t>0</a:t>
            </a:r>
            <a:endParaRPr lang="zh-CN" altLang="en-US" sz="2400" dirty="0"/>
          </a:p>
        </p:txBody>
      </p:sp>
      <p:sp>
        <p:nvSpPr>
          <p:cNvPr id="74" name="矩形 73">
            <a:extLst>
              <a:ext uri="{FF2B5EF4-FFF2-40B4-BE49-F238E27FC236}">
                <a16:creationId xmlns:a16="http://schemas.microsoft.com/office/drawing/2014/main" id="{2D4B23D7-6C49-41C4-8964-3F7EDCDC2227}"/>
              </a:ext>
            </a:extLst>
          </p:cNvPr>
          <p:cNvSpPr/>
          <p:nvPr/>
        </p:nvSpPr>
        <p:spPr>
          <a:xfrm>
            <a:off x="4651940" y="6044696"/>
            <a:ext cx="612668" cy="461665"/>
          </a:xfrm>
          <a:prstGeom prst="rect">
            <a:avLst/>
          </a:prstGeom>
        </p:spPr>
        <p:txBody>
          <a:bodyPr wrap="none">
            <a:spAutoFit/>
          </a:bodyPr>
          <a:lstStyle/>
          <a:p>
            <a:pPr algn="ctr"/>
            <a:r>
              <a:rPr lang="en-US" altLang="zh-CN" sz="2400" dirty="0"/>
              <a:t>1/3</a:t>
            </a:r>
            <a:endParaRPr lang="zh-CN" altLang="en-US" sz="2400" dirty="0"/>
          </a:p>
        </p:txBody>
      </p:sp>
      <p:sp>
        <p:nvSpPr>
          <p:cNvPr id="75" name="矩形 74">
            <a:extLst>
              <a:ext uri="{FF2B5EF4-FFF2-40B4-BE49-F238E27FC236}">
                <a16:creationId xmlns:a16="http://schemas.microsoft.com/office/drawing/2014/main" id="{D9A400B0-CF6E-49ED-8EFB-6A171999B5DB}"/>
              </a:ext>
            </a:extLst>
          </p:cNvPr>
          <p:cNvSpPr/>
          <p:nvPr/>
        </p:nvSpPr>
        <p:spPr>
          <a:xfrm>
            <a:off x="5580180" y="6054229"/>
            <a:ext cx="612668" cy="461665"/>
          </a:xfrm>
          <a:prstGeom prst="rect">
            <a:avLst/>
          </a:prstGeom>
        </p:spPr>
        <p:txBody>
          <a:bodyPr wrap="none">
            <a:spAutoFit/>
          </a:bodyPr>
          <a:lstStyle/>
          <a:p>
            <a:pPr algn="ctr"/>
            <a:r>
              <a:rPr lang="en-US" altLang="zh-CN" sz="2400" dirty="0"/>
              <a:t>4/3</a:t>
            </a:r>
            <a:endParaRPr lang="zh-CN" altLang="en-US" sz="2400" dirty="0"/>
          </a:p>
        </p:txBody>
      </p:sp>
      <p:sp>
        <p:nvSpPr>
          <p:cNvPr id="76" name="矩形 75">
            <a:extLst>
              <a:ext uri="{FF2B5EF4-FFF2-40B4-BE49-F238E27FC236}">
                <a16:creationId xmlns:a16="http://schemas.microsoft.com/office/drawing/2014/main" id="{BC0C1430-35AF-477B-B475-AC47AFC61CA3}"/>
              </a:ext>
            </a:extLst>
          </p:cNvPr>
          <p:cNvSpPr/>
          <p:nvPr/>
        </p:nvSpPr>
        <p:spPr>
          <a:xfrm>
            <a:off x="6244352" y="6064582"/>
            <a:ext cx="971741" cy="461665"/>
          </a:xfrm>
          <a:prstGeom prst="rect">
            <a:avLst/>
          </a:prstGeom>
        </p:spPr>
        <p:txBody>
          <a:bodyPr wrap="none">
            <a:spAutoFit/>
          </a:bodyPr>
          <a:lstStyle/>
          <a:p>
            <a:pPr algn="ctr"/>
            <a:r>
              <a:rPr lang="en-US" altLang="zh-CN" sz="2400" dirty="0"/>
              <a:t>M-4/3</a:t>
            </a:r>
            <a:endParaRPr lang="zh-CN" altLang="en-US" sz="2400" dirty="0"/>
          </a:p>
        </p:txBody>
      </p:sp>
      <p:sp>
        <p:nvSpPr>
          <p:cNvPr id="77" name="矩形 76">
            <a:extLst>
              <a:ext uri="{FF2B5EF4-FFF2-40B4-BE49-F238E27FC236}">
                <a16:creationId xmlns:a16="http://schemas.microsoft.com/office/drawing/2014/main" id="{308C161D-7513-4E46-8640-CF9CA95B9EB2}"/>
              </a:ext>
            </a:extLst>
          </p:cNvPr>
          <p:cNvSpPr/>
          <p:nvPr/>
        </p:nvSpPr>
        <p:spPr>
          <a:xfrm>
            <a:off x="7151534" y="6044696"/>
            <a:ext cx="1048685" cy="461665"/>
          </a:xfrm>
          <a:prstGeom prst="rect">
            <a:avLst/>
          </a:prstGeom>
        </p:spPr>
        <p:txBody>
          <a:bodyPr wrap="none">
            <a:spAutoFit/>
          </a:bodyPr>
          <a:lstStyle/>
          <a:p>
            <a:pPr algn="ctr"/>
            <a:r>
              <a:rPr lang="en-US" altLang="zh-CN" sz="2400" dirty="0"/>
              <a:t>M+4/3</a:t>
            </a:r>
            <a:endParaRPr lang="zh-CN" altLang="en-US" sz="2400" dirty="0"/>
          </a:p>
        </p:txBody>
      </p:sp>
      <mc:AlternateContent xmlns:mc="http://schemas.openxmlformats.org/markup-compatibility/2006" xmlns:a14="http://schemas.microsoft.com/office/drawing/2010/main">
        <mc:Choice Requires="a14">
          <p:sp>
            <p:nvSpPr>
              <p:cNvPr id="78" name="矩形 77">
                <a:extLst>
                  <a:ext uri="{FF2B5EF4-FFF2-40B4-BE49-F238E27FC236}">
                    <a16:creationId xmlns:a16="http://schemas.microsoft.com/office/drawing/2014/main" id="{11077FD9-3A23-49BC-911B-A0F38D939B60}"/>
                  </a:ext>
                </a:extLst>
              </p:cNvPr>
              <p:cNvSpPr/>
              <p:nvPr/>
            </p:nvSpPr>
            <p:spPr>
              <a:xfrm>
                <a:off x="4272523" y="1170478"/>
                <a:ext cx="5546194" cy="830997"/>
              </a:xfrm>
              <a:prstGeom prst="rect">
                <a:avLst/>
              </a:prstGeom>
              <a:solidFill>
                <a:srgbClr val="FFFF66"/>
              </a:solidFill>
              <a:ln>
                <a:solidFill>
                  <a:schemeClr val="tx1"/>
                </a:solidFill>
              </a:ln>
            </p:spPr>
            <p:txBody>
              <a:bodyPr wrap="square">
                <a:spAutoFit/>
              </a:bodyPr>
              <a:lstStyle/>
              <a:p>
                <a:r>
                  <a:rPr lang="zh-CN" altLang="en-US" sz="2400" b="1" dirty="0">
                    <a:solidFill>
                      <a:srgbClr val="C00000"/>
                    </a:solidFill>
                  </a:rPr>
                  <a:t>所有</a:t>
                </a:r>
                <a14:m>
                  <m:oMath xmlns:m="http://schemas.openxmlformats.org/officeDocument/2006/math">
                    <m:r>
                      <a:rPr lang="zh-CN" altLang="en-US" sz="2400">
                        <a:latin typeface="Cambria Math" panose="02040503050406030204" pitchFamily="18" charset="0"/>
                      </a:rPr>
                      <m:t>𝜎</m:t>
                    </m:r>
                  </m:oMath>
                </a14:m>
                <a:r>
                  <a:rPr lang="zh-CN" altLang="en-US" sz="2400" b="1" dirty="0">
                    <a:solidFill>
                      <a:srgbClr val="C00000"/>
                    </a:solidFill>
                  </a:rPr>
                  <a:t>都是非负数，且所以人工变量都为</a:t>
                </a:r>
                <a:r>
                  <a:rPr lang="en-US" altLang="zh-CN" sz="2400" b="1" dirty="0">
                    <a:solidFill>
                      <a:srgbClr val="C00000"/>
                    </a:solidFill>
                  </a:rPr>
                  <a:t>0</a:t>
                </a:r>
                <a:r>
                  <a:rPr lang="zh-CN" altLang="en-US" sz="2400" b="1" dirty="0">
                    <a:solidFill>
                      <a:srgbClr val="C00000"/>
                    </a:solidFill>
                  </a:rPr>
                  <a:t>，因此，当前解是原问题的最优解</a:t>
                </a:r>
                <a:endParaRPr lang="en-US" altLang="zh-CN" sz="2400" b="1" dirty="0">
                  <a:solidFill>
                    <a:srgbClr val="C00000"/>
                  </a:solidFill>
                </a:endParaRPr>
              </a:p>
            </p:txBody>
          </p:sp>
        </mc:Choice>
        <mc:Fallback xmlns="">
          <p:sp>
            <p:nvSpPr>
              <p:cNvPr id="78" name="矩形 77">
                <a:extLst>
                  <a:ext uri="{FF2B5EF4-FFF2-40B4-BE49-F238E27FC236}">
                    <a16:creationId xmlns:a16="http://schemas.microsoft.com/office/drawing/2014/main" id="{11077FD9-3A23-49BC-911B-A0F38D939B60}"/>
                  </a:ext>
                </a:extLst>
              </p:cNvPr>
              <p:cNvSpPr>
                <a:spLocks noRot="1" noChangeAspect="1" noMove="1" noResize="1" noEditPoints="1" noAdjustHandles="1" noChangeArrowheads="1" noChangeShapeType="1" noTextEdit="1"/>
              </p:cNvSpPr>
              <p:nvPr/>
            </p:nvSpPr>
            <p:spPr>
              <a:xfrm>
                <a:off x="4272523" y="1170478"/>
                <a:ext cx="5546194" cy="830997"/>
              </a:xfrm>
              <a:prstGeom prst="rect">
                <a:avLst/>
              </a:prstGeom>
              <a:blipFill>
                <a:blip r:embed="rId7"/>
                <a:stretch>
                  <a:fillRect l="-1645" t="-5072" b="-15217"/>
                </a:stretch>
              </a:blipFill>
              <a:ln>
                <a:solidFill>
                  <a:schemeClr val="tx1"/>
                </a:solidFill>
              </a:ln>
            </p:spPr>
            <p:txBody>
              <a:bodyPr/>
              <a:lstStyle/>
              <a:p>
                <a:r>
                  <a:rPr lang="zh-CN" altLang="en-US">
                    <a:noFill/>
                  </a:rPr>
                  <a:t> </a:t>
                </a:r>
              </a:p>
            </p:txBody>
          </p:sp>
        </mc:Fallback>
      </mc:AlternateContent>
      <p:graphicFrame>
        <p:nvGraphicFramePr>
          <p:cNvPr id="79" name="对象 78">
            <a:extLst>
              <a:ext uri="{FF2B5EF4-FFF2-40B4-BE49-F238E27FC236}">
                <a16:creationId xmlns:a16="http://schemas.microsoft.com/office/drawing/2014/main" id="{9D6CE6ED-C60B-44E1-A4CB-77668CADE9BA}"/>
              </a:ext>
            </a:extLst>
          </p:cNvPr>
          <p:cNvGraphicFramePr>
            <a:graphicFrameLocks noChangeAspect="1"/>
          </p:cNvGraphicFramePr>
          <p:nvPr>
            <p:extLst>
              <p:ext uri="{D42A27DB-BD31-4B8C-83A1-F6EECF244321}">
                <p14:modId xmlns:p14="http://schemas.microsoft.com/office/powerpoint/2010/main" val="1765855530"/>
              </p:ext>
            </p:extLst>
          </p:nvPr>
        </p:nvGraphicFramePr>
        <p:xfrm>
          <a:off x="4267636" y="2261283"/>
          <a:ext cx="5160119" cy="720563"/>
        </p:xfrm>
        <a:graphic>
          <a:graphicData uri="http://schemas.openxmlformats.org/presentationml/2006/ole">
            <mc:AlternateContent xmlns:mc="http://schemas.openxmlformats.org/markup-compatibility/2006">
              <mc:Choice xmlns:v="urn:schemas-microsoft-com:vml" Requires="v">
                <p:oleObj name="Equation" r:id="rId8" imgW="1815840" imgH="253800" progId="Equation.DSMT4">
                  <p:embed/>
                </p:oleObj>
              </mc:Choice>
              <mc:Fallback>
                <p:oleObj name="Equation" r:id="rId8" imgW="1815840" imgH="253800" progId="Equation.DSMT4">
                  <p:embed/>
                  <p:pic>
                    <p:nvPicPr>
                      <p:cNvPr id="6" name="对象 5">
                        <a:extLst>
                          <a:ext uri="{FF2B5EF4-FFF2-40B4-BE49-F238E27FC236}">
                            <a16:creationId xmlns:a16="http://schemas.microsoft.com/office/drawing/2014/main" id="{380C3C79-04BC-4BA6-9A7C-ABB59094FA73}"/>
                          </a:ext>
                        </a:extLst>
                      </p:cNvPr>
                      <p:cNvPicPr/>
                      <p:nvPr/>
                    </p:nvPicPr>
                    <p:blipFill>
                      <a:blip r:embed="rId9"/>
                      <a:stretch>
                        <a:fillRect/>
                      </a:stretch>
                    </p:blipFill>
                    <p:spPr>
                      <a:xfrm>
                        <a:off x="4267636" y="2261283"/>
                        <a:ext cx="5160119" cy="720563"/>
                      </a:xfrm>
                      <a:prstGeom prst="rect">
                        <a:avLst/>
                      </a:prstGeom>
                      <a:ln w="28575">
                        <a:noFill/>
                      </a:ln>
                    </p:spPr>
                  </p:pic>
                </p:oleObj>
              </mc:Fallback>
            </mc:AlternateContent>
          </a:graphicData>
        </a:graphic>
      </p:graphicFrame>
    </p:spTree>
    <p:extLst>
      <p:ext uri="{BB962C8B-B14F-4D97-AF65-F5344CB8AC3E}">
        <p14:creationId xmlns:p14="http://schemas.microsoft.com/office/powerpoint/2010/main" val="1678282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500" fill="hold"/>
                                        <p:tgtEl>
                                          <p:spTgt spid="78"/>
                                        </p:tgtEl>
                                        <p:attrNameLst>
                                          <p:attrName>ppt_x</p:attrName>
                                        </p:attrNameLst>
                                      </p:cBhvr>
                                      <p:tavLst>
                                        <p:tav tm="0">
                                          <p:val>
                                            <p:strVal val="#ppt_x"/>
                                          </p:val>
                                        </p:tav>
                                        <p:tav tm="100000">
                                          <p:val>
                                            <p:strVal val="#ppt_x"/>
                                          </p:val>
                                        </p:tav>
                                      </p:tavLst>
                                    </p:anim>
                                    <p:anim calcmode="lin" valueType="num">
                                      <p:cBhvr additive="base">
                                        <p:cTn id="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barn(inVertical)">
                                      <p:cBhvr>
                                        <p:cTn id="13"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9CCBD0-4540-49A1-8291-7308183F144C}"/>
              </a:ext>
            </a:extLst>
          </p:cNvPr>
          <p:cNvSpPr>
            <a:spLocks noGrp="1"/>
          </p:cNvSpPr>
          <p:nvPr>
            <p:ph type="title"/>
          </p:nvPr>
        </p:nvSpPr>
        <p:spPr/>
        <p:txBody>
          <a:bodyPr/>
          <a:lstStyle/>
          <a:p>
            <a:r>
              <a:rPr lang="zh-CN" altLang="en-US" dirty="0"/>
              <a:t>人工变量法</a:t>
            </a:r>
          </a:p>
        </p:txBody>
      </p:sp>
      <p:sp>
        <p:nvSpPr>
          <p:cNvPr id="3" name="内容占位符 2">
            <a:extLst>
              <a:ext uri="{FF2B5EF4-FFF2-40B4-BE49-F238E27FC236}">
                <a16:creationId xmlns:a16="http://schemas.microsoft.com/office/drawing/2014/main" id="{6CAC7A0B-F514-4E97-88F6-DC0AAE600B4F}"/>
              </a:ext>
            </a:extLst>
          </p:cNvPr>
          <p:cNvSpPr>
            <a:spLocks noGrp="1"/>
          </p:cNvSpPr>
          <p:nvPr>
            <p:ph idx="1"/>
          </p:nvPr>
        </p:nvSpPr>
        <p:spPr/>
        <p:txBody>
          <a:bodyPr/>
          <a:lstStyle/>
          <a:p>
            <a:r>
              <a:rPr lang="zh-CN" altLang="en-US" dirty="0"/>
              <a:t>大</a:t>
            </a:r>
            <a:r>
              <a:rPr lang="en-US" altLang="zh-CN" dirty="0"/>
              <a:t>M</a:t>
            </a:r>
            <a:r>
              <a:rPr lang="zh-CN" altLang="en-US" dirty="0"/>
              <a:t>法</a:t>
            </a:r>
            <a:endParaRPr lang="en-US" altLang="zh-CN" dirty="0"/>
          </a:p>
          <a:p>
            <a:pPr lvl="1"/>
            <a:r>
              <a:rPr lang="zh-CN" altLang="en-US" dirty="0"/>
              <a:t>最优解判断条件：</a:t>
            </a:r>
            <a:endParaRPr lang="en-US" altLang="zh-CN" dirty="0"/>
          </a:p>
          <a:p>
            <a:pPr lvl="1"/>
            <a:endParaRPr lang="en-US" altLang="zh-CN" dirty="0"/>
          </a:p>
        </p:txBody>
      </p:sp>
      <p:sp>
        <p:nvSpPr>
          <p:cNvPr id="4" name="日期占位符 3">
            <a:extLst>
              <a:ext uri="{FF2B5EF4-FFF2-40B4-BE49-F238E27FC236}">
                <a16:creationId xmlns:a16="http://schemas.microsoft.com/office/drawing/2014/main" id="{710D2D98-A8C3-4ECC-86A7-9F388F5F5FC3}"/>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676C3384-5860-46D2-9D62-15EF61695922}"/>
              </a:ext>
            </a:extLst>
          </p:cNvPr>
          <p:cNvSpPr>
            <a:spLocks noGrp="1"/>
          </p:cNvSpPr>
          <p:nvPr>
            <p:ph type="sldNum" sz="quarter" idx="12"/>
          </p:nvPr>
        </p:nvSpPr>
        <p:spPr/>
        <p:txBody>
          <a:bodyPr/>
          <a:lstStyle/>
          <a:p>
            <a:fld id="{7AC79822-BC0D-4DE8-A7E5-90A3732A2B82}" type="slidenum">
              <a:rPr lang="zh-CN" altLang="en-US" smtClean="0"/>
              <a:pPr/>
              <a:t>41</a:t>
            </a:fld>
            <a:endParaRPr lang="en-US" altLang="zh-CN" dirty="0"/>
          </a:p>
        </p:txBody>
      </p:sp>
      <p:sp>
        <p:nvSpPr>
          <p:cNvPr id="6" name="文本框 5">
            <a:extLst>
              <a:ext uri="{FF2B5EF4-FFF2-40B4-BE49-F238E27FC236}">
                <a16:creationId xmlns:a16="http://schemas.microsoft.com/office/drawing/2014/main" id="{CD7AD82F-FCCD-4157-9FFE-2CA85518B5E7}"/>
              </a:ext>
            </a:extLst>
          </p:cNvPr>
          <p:cNvSpPr txBox="1"/>
          <p:nvPr/>
        </p:nvSpPr>
        <p:spPr>
          <a:xfrm>
            <a:off x="920552" y="2492896"/>
            <a:ext cx="8064896" cy="3416320"/>
          </a:xfrm>
          <a:prstGeom prst="rect">
            <a:avLst/>
          </a:prstGeom>
          <a:noFill/>
        </p:spPr>
        <p:txBody>
          <a:bodyPr wrap="square" rtlCol="0">
            <a:spAutoFit/>
          </a:bodyPr>
          <a:lstStyle/>
          <a:p>
            <a:r>
              <a:rPr lang="zh-CN" altLang="en-US" sz="2400" dirty="0"/>
              <a:t>原问题</a:t>
            </a:r>
            <a:r>
              <a:rPr lang="en-US" altLang="zh-CN" sz="2400" dirty="0"/>
              <a:t>A</a:t>
            </a:r>
            <a:r>
              <a:rPr lang="zh-CN" altLang="en-US" sz="2400" dirty="0"/>
              <a:t>经过添加人工变量后会变成问题</a:t>
            </a:r>
            <a:r>
              <a:rPr lang="en-US" altLang="zh-CN" sz="2400" dirty="0"/>
              <a:t>B</a:t>
            </a:r>
            <a:r>
              <a:rPr lang="zh-CN" altLang="en-US" sz="2400" dirty="0"/>
              <a:t>，对于问题</a:t>
            </a:r>
            <a:r>
              <a:rPr lang="en-US" altLang="zh-CN" sz="2400" dirty="0"/>
              <a:t>B</a:t>
            </a:r>
            <a:r>
              <a:rPr lang="zh-CN" altLang="en-US" sz="2400" dirty="0"/>
              <a:t>的求解结果包括如下几种情况：</a:t>
            </a:r>
            <a:endParaRPr lang="en-US" altLang="zh-CN" sz="2400" dirty="0"/>
          </a:p>
          <a:p>
            <a:pPr marL="457200" indent="-457200">
              <a:buFont typeface="+mj-lt"/>
              <a:buAutoNum type="arabicPeriod"/>
            </a:pPr>
            <a:r>
              <a:rPr lang="zh-CN" altLang="en-US" sz="2400" dirty="0">
                <a:solidFill>
                  <a:srgbClr val="FF0000"/>
                </a:solidFill>
              </a:rPr>
              <a:t>存在最优解</a:t>
            </a:r>
            <a:endParaRPr lang="en-US" altLang="zh-CN" sz="2400" dirty="0">
              <a:solidFill>
                <a:srgbClr val="FF0000"/>
              </a:solidFill>
            </a:endParaRPr>
          </a:p>
          <a:p>
            <a:pPr marL="914400" lvl="1" indent="-457200">
              <a:buFont typeface="+mj-ea"/>
              <a:buAutoNum type="circleNumDbPlain"/>
            </a:pPr>
            <a:r>
              <a:rPr lang="zh-CN" altLang="en-US" sz="2400" dirty="0">
                <a:solidFill>
                  <a:srgbClr val="0000FF"/>
                </a:solidFill>
              </a:rPr>
              <a:t>人工变量都为</a:t>
            </a:r>
            <a:r>
              <a:rPr lang="en-US" altLang="zh-CN" sz="2400" dirty="0">
                <a:solidFill>
                  <a:srgbClr val="0000FF"/>
                </a:solidFill>
              </a:rPr>
              <a:t>0</a:t>
            </a:r>
            <a:r>
              <a:rPr lang="zh-CN" altLang="en-US" sz="2400" dirty="0"/>
              <a:t>，则此时</a:t>
            </a:r>
            <a:r>
              <a:rPr lang="en-US" altLang="zh-CN" sz="2400" dirty="0">
                <a:solidFill>
                  <a:srgbClr val="0000FF"/>
                </a:solidFill>
              </a:rPr>
              <a:t>B</a:t>
            </a:r>
            <a:r>
              <a:rPr lang="zh-CN" altLang="en-US" sz="2400" dirty="0">
                <a:solidFill>
                  <a:srgbClr val="0000FF"/>
                </a:solidFill>
              </a:rPr>
              <a:t>的最优解就是原问题</a:t>
            </a:r>
            <a:r>
              <a:rPr lang="en-US" altLang="zh-CN" sz="2400" dirty="0">
                <a:solidFill>
                  <a:srgbClr val="0000FF"/>
                </a:solidFill>
              </a:rPr>
              <a:t>A</a:t>
            </a:r>
            <a:r>
              <a:rPr lang="zh-CN" altLang="en-US" sz="2400" dirty="0">
                <a:solidFill>
                  <a:srgbClr val="0000FF"/>
                </a:solidFill>
              </a:rPr>
              <a:t>最优解</a:t>
            </a:r>
            <a:endParaRPr lang="en-US" altLang="zh-CN" sz="2400" dirty="0">
              <a:solidFill>
                <a:srgbClr val="0000FF"/>
              </a:solidFill>
            </a:endParaRPr>
          </a:p>
          <a:p>
            <a:pPr marL="914400" lvl="1" indent="-457200">
              <a:buFont typeface="+mj-ea"/>
              <a:buAutoNum type="circleNumDbPlain"/>
            </a:pPr>
            <a:r>
              <a:rPr lang="zh-CN" altLang="en-US" sz="2400" dirty="0">
                <a:solidFill>
                  <a:srgbClr val="7030A0"/>
                </a:solidFill>
              </a:rPr>
              <a:t>人工变量不都为</a:t>
            </a:r>
            <a:r>
              <a:rPr lang="en-US" altLang="zh-CN" sz="2400" dirty="0">
                <a:solidFill>
                  <a:srgbClr val="7030A0"/>
                </a:solidFill>
              </a:rPr>
              <a:t>0</a:t>
            </a:r>
            <a:r>
              <a:rPr lang="zh-CN" altLang="en-US" sz="2400" dirty="0"/>
              <a:t>，此时原问题</a:t>
            </a:r>
            <a:r>
              <a:rPr lang="en-US" altLang="zh-CN" sz="2400" dirty="0">
                <a:solidFill>
                  <a:srgbClr val="7030A0"/>
                </a:solidFill>
              </a:rPr>
              <a:t>A</a:t>
            </a:r>
            <a:r>
              <a:rPr lang="zh-CN" altLang="en-US" sz="2400" dirty="0">
                <a:solidFill>
                  <a:srgbClr val="7030A0"/>
                </a:solidFill>
              </a:rPr>
              <a:t>无可行解</a:t>
            </a:r>
            <a:endParaRPr lang="en-US" altLang="zh-CN" sz="2400" dirty="0">
              <a:solidFill>
                <a:srgbClr val="7030A0"/>
              </a:solidFill>
            </a:endParaRPr>
          </a:p>
          <a:p>
            <a:pPr marL="457200" indent="-457200">
              <a:buFont typeface="+mj-ea"/>
              <a:buAutoNum type="arabicPeriod"/>
            </a:pPr>
            <a:r>
              <a:rPr lang="zh-CN" altLang="en-US" sz="2400" dirty="0">
                <a:solidFill>
                  <a:srgbClr val="0000FF"/>
                </a:solidFill>
              </a:rPr>
              <a:t>不存在最优解</a:t>
            </a:r>
            <a:r>
              <a:rPr lang="zh-CN" altLang="en-US" sz="2400" dirty="0"/>
              <a:t>（存在无界解）  </a:t>
            </a:r>
            <a:endParaRPr lang="en-US" altLang="zh-CN" sz="2400" dirty="0"/>
          </a:p>
          <a:p>
            <a:pPr marL="914400" lvl="1" indent="-457200">
              <a:buFont typeface="+mj-ea"/>
              <a:buAutoNum type="circleNumDbPlain"/>
            </a:pPr>
            <a:r>
              <a:rPr lang="zh-CN" altLang="en-US" sz="2400" dirty="0">
                <a:solidFill>
                  <a:srgbClr val="FF0000"/>
                </a:solidFill>
              </a:rPr>
              <a:t>人工变量都为</a:t>
            </a:r>
            <a:r>
              <a:rPr lang="en-US" altLang="zh-CN" sz="2400" dirty="0">
                <a:solidFill>
                  <a:srgbClr val="FF0000"/>
                </a:solidFill>
              </a:rPr>
              <a:t>0</a:t>
            </a:r>
            <a:r>
              <a:rPr lang="zh-CN" altLang="en-US" sz="2400" dirty="0"/>
              <a:t>，此时原问题</a:t>
            </a:r>
            <a:r>
              <a:rPr lang="en-US" altLang="zh-CN" sz="2400" dirty="0">
                <a:solidFill>
                  <a:srgbClr val="FF0000"/>
                </a:solidFill>
              </a:rPr>
              <a:t>A</a:t>
            </a:r>
            <a:r>
              <a:rPr lang="zh-CN" altLang="en-US" sz="2400" dirty="0">
                <a:solidFill>
                  <a:srgbClr val="FF0000"/>
                </a:solidFill>
              </a:rPr>
              <a:t>存在无界解</a:t>
            </a:r>
            <a:endParaRPr lang="en-US" altLang="zh-CN" sz="2400" dirty="0">
              <a:solidFill>
                <a:srgbClr val="FF0000"/>
              </a:solidFill>
            </a:endParaRPr>
          </a:p>
          <a:p>
            <a:pPr marL="914400" lvl="1" indent="-457200">
              <a:buFont typeface="+mj-ea"/>
              <a:buAutoNum type="circleNumDbPlain"/>
            </a:pPr>
            <a:r>
              <a:rPr lang="zh-CN" altLang="en-US" sz="2400" dirty="0">
                <a:solidFill>
                  <a:srgbClr val="7030A0"/>
                </a:solidFill>
              </a:rPr>
              <a:t>人工变量不都为</a:t>
            </a:r>
            <a:r>
              <a:rPr lang="en-US" altLang="zh-CN" sz="2400" dirty="0">
                <a:solidFill>
                  <a:srgbClr val="7030A0"/>
                </a:solidFill>
              </a:rPr>
              <a:t>0</a:t>
            </a:r>
            <a:r>
              <a:rPr lang="zh-CN" altLang="en-US" sz="2400" dirty="0"/>
              <a:t>，此时</a:t>
            </a:r>
            <a:r>
              <a:rPr lang="zh-CN" altLang="en-US" sz="2400" dirty="0">
                <a:solidFill>
                  <a:srgbClr val="7030A0"/>
                </a:solidFill>
              </a:rPr>
              <a:t>原问题</a:t>
            </a:r>
            <a:r>
              <a:rPr lang="en-US" altLang="zh-CN" sz="2400" dirty="0">
                <a:solidFill>
                  <a:srgbClr val="7030A0"/>
                </a:solidFill>
              </a:rPr>
              <a:t>A</a:t>
            </a:r>
            <a:r>
              <a:rPr lang="zh-CN" altLang="en-US" sz="2400" dirty="0">
                <a:solidFill>
                  <a:srgbClr val="7030A0"/>
                </a:solidFill>
              </a:rPr>
              <a:t>无可行解</a:t>
            </a:r>
            <a:r>
              <a:rPr lang="zh-CN" altLang="en-US" sz="2400" dirty="0"/>
              <a:t>                                    </a:t>
            </a:r>
          </a:p>
        </p:txBody>
      </p:sp>
    </p:spTree>
    <p:extLst>
      <p:ext uri="{BB962C8B-B14F-4D97-AF65-F5344CB8AC3E}">
        <p14:creationId xmlns:p14="http://schemas.microsoft.com/office/powerpoint/2010/main" val="203829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9CCBD0-4540-49A1-8291-7308183F144C}"/>
              </a:ext>
            </a:extLst>
          </p:cNvPr>
          <p:cNvSpPr>
            <a:spLocks noGrp="1"/>
          </p:cNvSpPr>
          <p:nvPr>
            <p:ph type="title"/>
          </p:nvPr>
        </p:nvSpPr>
        <p:spPr/>
        <p:txBody>
          <a:bodyPr/>
          <a:lstStyle/>
          <a:p>
            <a:r>
              <a:rPr lang="zh-CN" altLang="en-US" dirty="0"/>
              <a:t>人工变量法</a:t>
            </a:r>
          </a:p>
        </p:txBody>
      </p:sp>
      <p:sp>
        <p:nvSpPr>
          <p:cNvPr id="3" name="内容占位符 2">
            <a:extLst>
              <a:ext uri="{FF2B5EF4-FFF2-40B4-BE49-F238E27FC236}">
                <a16:creationId xmlns:a16="http://schemas.microsoft.com/office/drawing/2014/main" id="{6CAC7A0B-F514-4E97-88F6-DC0AAE600B4F}"/>
              </a:ext>
            </a:extLst>
          </p:cNvPr>
          <p:cNvSpPr>
            <a:spLocks noGrp="1"/>
          </p:cNvSpPr>
          <p:nvPr>
            <p:ph idx="1"/>
          </p:nvPr>
        </p:nvSpPr>
        <p:spPr/>
        <p:txBody>
          <a:bodyPr/>
          <a:lstStyle/>
          <a:p>
            <a:r>
              <a:rPr lang="zh-CN" altLang="en-US" dirty="0"/>
              <a:t>两段法</a:t>
            </a:r>
            <a:endParaRPr lang="en-US" altLang="zh-CN" dirty="0"/>
          </a:p>
          <a:p>
            <a:pPr lvl="1"/>
            <a:r>
              <a:rPr lang="zh-CN" altLang="en-US" dirty="0"/>
              <a:t>基本思想：</a:t>
            </a:r>
            <a:endParaRPr lang="en-US" altLang="zh-CN" dirty="0"/>
          </a:p>
          <a:p>
            <a:pPr lvl="1"/>
            <a:endParaRPr lang="en-US" altLang="zh-CN" dirty="0"/>
          </a:p>
        </p:txBody>
      </p:sp>
      <p:sp>
        <p:nvSpPr>
          <p:cNvPr id="4" name="日期占位符 3">
            <a:extLst>
              <a:ext uri="{FF2B5EF4-FFF2-40B4-BE49-F238E27FC236}">
                <a16:creationId xmlns:a16="http://schemas.microsoft.com/office/drawing/2014/main" id="{710D2D98-A8C3-4ECC-86A7-9F388F5F5FC3}"/>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676C3384-5860-46D2-9D62-15EF61695922}"/>
              </a:ext>
            </a:extLst>
          </p:cNvPr>
          <p:cNvSpPr>
            <a:spLocks noGrp="1"/>
          </p:cNvSpPr>
          <p:nvPr>
            <p:ph type="sldNum" sz="quarter" idx="12"/>
          </p:nvPr>
        </p:nvSpPr>
        <p:spPr/>
        <p:txBody>
          <a:bodyPr/>
          <a:lstStyle/>
          <a:p>
            <a:fld id="{7AC79822-BC0D-4DE8-A7E5-90A3732A2B82}" type="slidenum">
              <a:rPr lang="zh-CN" altLang="en-US" smtClean="0"/>
              <a:pPr/>
              <a:t>42</a:t>
            </a:fld>
            <a:endParaRPr lang="en-US" altLang="zh-CN" dirty="0"/>
          </a:p>
        </p:txBody>
      </p:sp>
      <p:sp>
        <p:nvSpPr>
          <p:cNvPr id="7" name="文本框 6">
            <a:extLst>
              <a:ext uri="{FF2B5EF4-FFF2-40B4-BE49-F238E27FC236}">
                <a16:creationId xmlns:a16="http://schemas.microsoft.com/office/drawing/2014/main" id="{706642EA-5B9F-41A5-B033-E683CE47EF1C}"/>
              </a:ext>
            </a:extLst>
          </p:cNvPr>
          <p:cNvSpPr txBox="1"/>
          <p:nvPr/>
        </p:nvSpPr>
        <p:spPr>
          <a:xfrm>
            <a:off x="920552" y="2645731"/>
            <a:ext cx="7632848" cy="3046988"/>
          </a:xfrm>
          <a:prstGeom prst="rect">
            <a:avLst/>
          </a:prstGeom>
          <a:noFill/>
        </p:spPr>
        <p:txBody>
          <a:bodyPr wrap="square" rtlCol="0">
            <a:spAutoFit/>
          </a:bodyPr>
          <a:lstStyle/>
          <a:p>
            <a:pPr marL="342900" indent="-342900">
              <a:buFont typeface="+mj-ea"/>
              <a:buAutoNum type="circleNumDbPlain"/>
            </a:pPr>
            <a:r>
              <a:rPr lang="zh-CN" altLang="en-US" sz="2400" dirty="0"/>
              <a:t>根据需要，在原有约束条件中，添加若干非负数的人工变量，构成一个能够得到基本可行性解的初始化单位基矩阵。</a:t>
            </a:r>
            <a:endParaRPr lang="en-US" altLang="zh-CN" sz="2400" dirty="0"/>
          </a:p>
          <a:p>
            <a:pPr marL="342900" indent="-342900">
              <a:buFont typeface="+mj-ea"/>
              <a:buAutoNum type="circleNumDbPlain"/>
            </a:pPr>
            <a:r>
              <a:rPr lang="zh-CN" altLang="en-US" sz="2400" dirty="0"/>
              <a:t>将添加的人工变量部分单独形成一个新的线性规划问题</a:t>
            </a:r>
            <a:r>
              <a:rPr lang="en-US" altLang="zh-CN" sz="2400" dirty="0"/>
              <a:t>C</a:t>
            </a:r>
            <a:r>
              <a:rPr lang="zh-CN" altLang="en-US" sz="2400" dirty="0"/>
              <a:t>，用原有的约束条件求解。</a:t>
            </a:r>
            <a:endParaRPr lang="en-US" altLang="zh-CN" sz="2400" dirty="0"/>
          </a:p>
          <a:p>
            <a:pPr marL="342900" indent="-342900">
              <a:buFont typeface="+mj-ea"/>
              <a:buAutoNum type="circleNumDbPlain"/>
            </a:pPr>
            <a:r>
              <a:rPr lang="zh-CN" altLang="en-US" sz="2400" dirty="0"/>
              <a:t>如果求解得到</a:t>
            </a:r>
            <a:r>
              <a:rPr lang="en-US" altLang="zh-CN" sz="2400" dirty="0"/>
              <a:t>C=0</a:t>
            </a:r>
            <a:r>
              <a:rPr lang="zh-CN" altLang="en-US" sz="2400" dirty="0"/>
              <a:t>的最优解，则可以将添加的人工变量删除，然后继续在原问题上继续求解。</a:t>
            </a:r>
            <a:endParaRPr lang="en-US" altLang="zh-CN" sz="2400" dirty="0"/>
          </a:p>
          <a:p>
            <a:pPr marL="342900" indent="-342900">
              <a:buFont typeface="+mj-ea"/>
              <a:buAutoNum type="circleNumDbPlain"/>
            </a:pPr>
            <a:endParaRPr lang="zh-CN" altLang="en-US" sz="2400" dirty="0"/>
          </a:p>
        </p:txBody>
      </p:sp>
    </p:spTree>
    <p:extLst>
      <p:ext uri="{BB962C8B-B14F-4D97-AF65-F5344CB8AC3E}">
        <p14:creationId xmlns:p14="http://schemas.microsoft.com/office/powerpoint/2010/main" val="247645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arn(inVertical)">
                                      <p:cBhvr>
                                        <p:cTn id="10" dur="500"/>
                                        <p:tgtEl>
                                          <p:spTgt spid="3">
                                            <p:txEl>
                                              <p:pRg st="0" end="0"/>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6D3568-89FA-4569-9E96-1A133B785983}"/>
              </a:ext>
            </a:extLst>
          </p:cNvPr>
          <p:cNvSpPr>
            <a:spLocks noGrp="1"/>
          </p:cNvSpPr>
          <p:nvPr>
            <p:ph type="title"/>
          </p:nvPr>
        </p:nvSpPr>
        <p:spPr/>
        <p:txBody>
          <a:bodyPr/>
          <a:lstStyle/>
          <a:p>
            <a:r>
              <a:rPr lang="zh-CN" altLang="en-US" dirty="0"/>
              <a:t>人工变量法</a:t>
            </a:r>
          </a:p>
        </p:txBody>
      </p:sp>
      <p:sp>
        <p:nvSpPr>
          <p:cNvPr id="3" name="内容占位符 2">
            <a:extLst>
              <a:ext uri="{FF2B5EF4-FFF2-40B4-BE49-F238E27FC236}">
                <a16:creationId xmlns:a16="http://schemas.microsoft.com/office/drawing/2014/main" id="{C3F94C5E-98E5-4035-B5E5-6F4BA0D02CE0}"/>
              </a:ext>
            </a:extLst>
          </p:cNvPr>
          <p:cNvSpPr>
            <a:spLocks noGrp="1"/>
          </p:cNvSpPr>
          <p:nvPr>
            <p:ph idx="1"/>
          </p:nvPr>
        </p:nvSpPr>
        <p:spPr/>
        <p:txBody>
          <a:bodyPr/>
          <a:lstStyle/>
          <a:p>
            <a:r>
              <a:rPr lang="zh-CN" altLang="en-US" dirty="0"/>
              <a:t>例</a:t>
            </a:r>
            <a:r>
              <a:rPr lang="en-US" altLang="zh-CN" dirty="0"/>
              <a:t>3</a:t>
            </a:r>
            <a:r>
              <a:rPr lang="zh-CN" altLang="en-US" dirty="0"/>
              <a:t>：用两段法求解下列线性规划问题</a:t>
            </a:r>
            <a:endParaRPr lang="en-US" altLang="zh-CN" dirty="0"/>
          </a:p>
          <a:p>
            <a:endParaRPr lang="zh-CN" altLang="en-US" dirty="0"/>
          </a:p>
        </p:txBody>
      </p:sp>
      <p:sp>
        <p:nvSpPr>
          <p:cNvPr id="4" name="日期占位符 3">
            <a:extLst>
              <a:ext uri="{FF2B5EF4-FFF2-40B4-BE49-F238E27FC236}">
                <a16:creationId xmlns:a16="http://schemas.microsoft.com/office/drawing/2014/main" id="{28BF1303-216B-4D79-A94B-9C50F262AEDE}"/>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7842010B-8942-487D-A17B-DFA73E610A50}"/>
              </a:ext>
            </a:extLst>
          </p:cNvPr>
          <p:cNvSpPr>
            <a:spLocks noGrp="1"/>
          </p:cNvSpPr>
          <p:nvPr>
            <p:ph type="sldNum" sz="quarter" idx="12"/>
          </p:nvPr>
        </p:nvSpPr>
        <p:spPr/>
        <p:txBody>
          <a:bodyPr/>
          <a:lstStyle/>
          <a:p>
            <a:fld id="{7AC79822-BC0D-4DE8-A7E5-90A3732A2B82}" type="slidenum">
              <a:rPr lang="zh-CN" altLang="en-US" smtClean="0"/>
              <a:pPr/>
              <a:t>43</a:t>
            </a:fld>
            <a:endParaRPr lang="en-US" altLang="zh-CN" dirty="0"/>
          </a:p>
        </p:txBody>
      </p:sp>
      <p:graphicFrame>
        <p:nvGraphicFramePr>
          <p:cNvPr id="6" name="对象 5">
            <a:extLst>
              <a:ext uri="{FF2B5EF4-FFF2-40B4-BE49-F238E27FC236}">
                <a16:creationId xmlns:a16="http://schemas.microsoft.com/office/drawing/2014/main" id="{547222A0-181C-459B-A97C-B2A1D61B1F2B}"/>
              </a:ext>
            </a:extLst>
          </p:cNvPr>
          <p:cNvGraphicFramePr>
            <a:graphicFrameLocks noChangeAspect="1"/>
          </p:cNvGraphicFramePr>
          <p:nvPr>
            <p:extLst>
              <p:ext uri="{D42A27DB-BD31-4B8C-83A1-F6EECF244321}">
                <p14:modId xmlns:p14="http://schemas.microsoft.com/office/powerpoint/2010/main" val="3764271286"/>
              </p:ext>
            </p:extLst>
          </p:nvPr>
        </p:nvGraphicFramePr>
        <p:xfrm>
          <a:off x="992560" y="1916832"/>
          <a:ext cx="6757987" cy="4122737"/>
        </p:xfrm>
        <a:graphic>
          <a:graphicData uri="http://schemas.openxmlformats.org/presentationml/2006/ole">
            <mc:AlternateContent xmlns:mc="http://schemas.openxmlformats.org/markup-compatibility/2006">
              <mc:Choice xmlns:v="urn:schemas-microsoft-com:vml" Requires="v">
                <p:oleObj name="Equation" r:id="rId2" imgW="1955520" imgH="1193760" progId="Equation.DSMT4">
                  <p:embed/>
                </p:oleObj>
              </mc:Choice>
              <mc:Fallback>
                <p:oleObj name="Equation" r:id="rId2" imgW="1955520" imgH="1193760" progId="Equation.DSMT4">
                  <p:embed/>
                  <p:pic>
                    <p:nvPicPr>
                      <p:cNvPr id="6" name="对象 5">
                        <a:extLst>
                          <a:ext uri="{FF2B5EF4-FFF2-40B4-BE49-F238E27FC236}">
                            <a16:creationId xmlns:a16="http://schemas.microsoft.com/office/drawing/2014/main" id="{380C3C79-04BC-4BA6-9A7C-ABB59094FA73}"/>
                          </a:ext>
                        </a:extLst>
                      </p:cNvPr>
                      <p:cNvPicPr/>
                      <p:nvPr/>
                    </p:nvPicPr>
                    <p:blipFill>
                      <a:blip r:embed="rId3"/>
                      <a:stretch>
                        <a:fillRect/>
                      </a:stretch>
                    </p:blipFill>
                    <p:spPr>
                      <a:xfrm>
                        <a:off x="992560" y="1916832"/>
                        <a:ext cx="6757987" cy="4122737"/>
                      </a:xfrm>
                      <a:prstGeom prst="rect">
                        <a:avLst/>
                      </a:prstGeom>
                      <a:ln w="28575">
                        <a:noFill/>
                      </a:ln>
                    </p:spPr>
                  </p:pic>
                </p:oleObj>
              </mc:Fallback>
            </mc:AlternateContent>
          </a:graphicData>
        </a:graphic>
      </p:graphicFrame>
    </p:spTree>
    <p:extLst>
      <p:ext uri="{BB962C8B-B14F-4D97-AF65-F5344CB8AC3E}">
        <p14:creationId xmlns:p14="http://schemas.microsoft.com/office/powerpoint/2010/main" val="402848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arn(inVertic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44</a:t>
            </a:fld>
            <a:endParaRPr lang="en-US" altLang="zh-CN" dirty="0"/>
          </a:p>
        </p:txBody>
      </p:sp>
      <p:sp>
        <p:nvSpPr>
          <p:cNvPr id="6" name="文本框 5">
            <a:extLst>
              <a:ext uri="{FF2B5EF4-FFF2-40B4-BE49-F238E27FC236}">
                <a16:creationId xmlns:a16="http://schemas.microsoft.com/office/drawing/2014/main" id="{2F2CA20C-4369-4F39-A105-8D0D03CBB1C8}"/>
              </a:ext>
            </a:extLst>
          </p:cNvPr>
          <p:cNvSpPr txBox="1"/>
          <p:nvPr/>
        </p:nvSpPr>
        <p:spPr>
          <a:xfrm>
            <a:off x="92949" y="1156062"/>
            <a:ext cx="2379177" cy="523220"/>
          </a:xfrm>
          <a:prstGeom prst="rect">
            <a:avLst/>
          </a:prstGeom>
          <a:noFill/>
        </p:spPr>
        <p:txBody>
          <a:bodyPr wrap="none" rtlCol="0">
            <a:spAutoFit/>
          </a:bodyPr>
          <a:lstStyle/>
          <a:p>
            <a:r>
              <a:rPr lang="en-US" altLang="zh-CN" sz="2800" dirty="0"/>
              <a:t>1. </a:t>
            </a:r>
            <a:r>
              <a:rPr lang="zh-CN" altLang="en-US" sz="2800" dirty="0"/>
              <a:t>化成标准形</a:t>
            </a:r>
            <a:endParaRPr lang="en-US" altLang="zh-CN" sz="2800" dirty="0"/>
          </a:p>
        </p:txBody>
      </p:sp>
      <p:graphicFrame>
        <p:nvGraphicFramePr>
          <p:cNvPr id="7" name="对象 6">
            <a:extLst>
              <a:ext uri="{FF2B5EF4-FFF2-40B4-BE49-F238E27FC236}">
                <a16:creationId xmlns:a16="http://schemas.microsoft.com/office/drawing/2014/main" id="{09AC6301-2294-4076-BF53-9433D0F5EC2A}"/>
              </a:ext>
            </a:extLst>
          </p:cNvPr>
          <p:cNvGraphicFramePr>
            <a:graphicFrameLocks noChangeAspect="1"/>
          </p:cNvGraphicFramePr>
          <p:nvPr>
            <p:extLst>
              <p:ext uri="{D42A27DB-BD31-4B8C-83A1-F6EECF244321}">
                <p14:modId xmlns:p14="http://schemas.microsoft.com/office/powerpoint/2010/main" val="3011719171"/>
              </p:ext>
            </p:extLst>
          </p:nvPr>
        </p:nvGraphicFramePr>
        <p:xfrm>
          <a:off x="1247839" y="1854616"/>
          <a:ext cx="6297449" cy="3721504"/>
        </p:xfrm>
        <a:graphic>
          <a:graphicData uri="http://schemas.openxmlformats.org/presentationml/2006/ole">
            <mc:AlternateContent xmlns:mc="http://schemas.openxmlformats.org/markup-compatibility/2006">
              <mc:Choice xmlns:v="urn:schemas-microsoft-com:vml" Requires="v">
                <p:oleObj name="Equation" r:id="rId2" imgW="2019240" imgH="1193760" progId="Equation.DSMT4">
                  <p:embed/>
                </p:oleObj>
              </mc:Choice>
              <mc:Fallback>
                <p:oleObj name="Equation" r:id="rId2" imgW="2019240" imgH="1193760" progId="Equation.DSMT4">
                  <p:embed/>
                  <p:pic>
                    <p:nvPicPr>
                      <p:cNvPr id="14" name="对象 13">
                        <a:extLst>
                          <a:ext uri="{FF2B5EF4-FFF2-40B4-BE49-F238E27FC236}">
                            <a16:creationId xmlns:a16="http://schemas.microsoft.com/office/drawing/2014/main" id="{B5B49597-8576-484C-93E1-7353F2A315AD}"/>
                          </a:ext>
                        </a:extLst>
                      </p:cNvPr>
                      <p:cNvPicPr/>
                      <p:nvPr/>
                    </p:nvPicPr>
                    <p:blipFill>
                      <a:blip r:embed="rId3"/>
                      <a:stretch>
                        <a:fillRect/>
                      </a:stretch>
                    </p:blipFill>
                    <p:spPr>
                      <a:xfrm>
                        <a:off x="1247839" y="1854616"/>
                        <a:ext cx="6297449" cy="3721504"/>
                      </a:xfrm>
                      <a:prstGeom prst="rect">
                        <a:avLst/>
                      </a:prstGeom>
                      <a:ln w="28575">
                        <a:noFill/>
                      </a:ln>
                    </p:spPr>
                  </p:pic>
                </p:oleObj>
              </mc:Fallback>
            </mc:AlternateContent>
          </a:graphicData>
        </a:graphic>
      </p:graphicFrame>
    </p:spTree>
    <p:extLst>
      <p:ext uri="{BB962C8B-B14F-4D97-AF65-F5344CB8AC3E}">
        <p14:creationId xmlns:p14="http://schemas.microsoft.com/office/powerpoint/2010/main" val="427745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inVertic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45</a:t>
            </a:fld>
            <a:endParaRPr lang="en-US" altLang="zh-CN" dirty="0"/>
          </a:p>
        </p:txBody>
      </p:sp>
      <p:sp>
        <p:nvSpPr>
          <p:cNvPr id="6" name="文本框 5">
            <a:extLst>
              <a:ext uri="{FF2B5EF4-FFF2-40B4-BE49-F238E27FC236}">
                <a16:creationId xmlns:a16="http://schemas.microsoft.com/office/drawing/2014/main" id="{2F2CA20C-4369-4F39-A105-8D0D03CBB1C8}"/>
              </a:ext>
            </a:extLst>
          </p:cNvPr>
          <p:cNvSpPr txBox="1"/>
          <p:nvPr/>
        </p:nvSpPr>
        <p:spPr>
          <a:xfrm>
            <a:off x="92949" y="1156062"/>
            <a:ext cx="8882560" cy="954107"/>
          </a:xfrm>
          <a:prstGeom prst="rect">
            <a:avLst/>
          </a:prstGeom>
          <a:noFill/>
        </p:spPr>
        <p:txBody>
          <a:bodyPr wrap="none" rtlCol="0">
            <a:spAutoFit/>
          </a:bodyPr>
          <a:lstStyle/>
          <a:p>
            <a:r>
              <a:rPr lang="en-US" altLang="zh-CN" sz="2800" dirty="0"/>
              <a:t>2. </a:t>
            </a:r>
            <a:r>
              <a:rPr lang="zh-CN" altLang="en-US" sz="2800" dirty="0"/>
              <a:t>需要引入人工变量</a:t>
            </a:r>
            <a:r>
              <a:rPr lang="en-US" altLang="zh-CN" sz="2800" dirty="0"/>
              <a:t>x6,x7</a:t>
            </a:r>
            <a:r>
              <a:rPr lang="zh-CN" altLang="en-US" sz="2800" dirty="0"/>
              <a:t>才能得到基本初始解</a:t>
            </a:r>
            <a:r>
              <a:rPr lang="en-US" altLang="zh-CN" sz="2800" dirty="0"/>
              <a:t>.</a:t>
            </a:r>
          </a:p>
          <a:p>
            <a:r>
              <a:rPr lang="en-US" altLang="zh-CN" sz="2800" dirty="0"/>
              <a:t>    </a:t>
            </a:r>
            <a:r>
              <a:rPr lang="zh-CN" altLang="en-US" sz="2800" dirty="0"/>
              <a:t>两段法的思想是将</a:t>
            </a:r>
            <a:r>
              <a:rPr lang="en-US" altLang="zh-CN" sz="2800" dirty="0"/>
              <a:t>x6,x7</a:t>
            </a:r>
            <a:r>
              <a:rPr lang="zh-CN" altLang="en-US" sz="2800" dirty="0"/>
              <a:t>构成一个新的线性规划问题</a:t>
            </a:r>
            <a:r>
              <a:rPr lang="en-US" altLang="zh-CN" sz="2800" dirty="0"/>
              <a:t>C</a:t>
            </a:r>
          </a:p>
        </p:txBody>
      </p:sp>
      <p:graphicFrame>
        <p:nvGraphicFramePr>
          <p:cNvPr id="7" name="对象 6">
            <a:extLst>
              <a:ext uri="{FF2B5EF4-FFF2-40B4-BE49-F238E27FC236}">
                <a16:creationId xmlns:a16="http://schemas.microsoft.com/office/drawing/2014/main" id="{09AC6301-2294-4076-BF53-9433D0F5EC2A}"/>
              </a:ext>
            </a:extLst>
          </p:cNvPr>
          <p:cNvGraphicFramePr>
            <a:graphicFrameLocks noChangeAspect="1"/>
          </p:cNvGraphicFramePr>
          <p:nvPr>
            <p:extLst>
              <p:ext uri="{D42A27DB-BD31-4B8C-83A1-F6EECF244321}">
                <p14:modId xmlns:p14="http://schemas.microsoft.com/office/powerpoint/2010/main" val="1926170819"/>
              </p:ext>
            </p:extLst>
          </p:nvPr>
        </p:nvGraphicFramePr>
        <p:xfrm>
          <a:off x="0" y="2856885"/>
          <a:ext cx="4990756" cy="2949308"/>
        </p:xfrm>
        <a:graphic>
          <a:graphicData uri="http://schemas.openxmlformats.org/presentationml/2006/ole">
            <mc:AlternateContent xmlns:mc="http://schemas.openxmlformats.org/markup-compatibility/2006">
              <mc:Choice xmlns:v="urn:schemas-microsoft-com:vml" Requires="v">
                <p:oleObj name="Equation" r:id="rId2" imgW="2019240" imgH="1193760" progId="Equation.DSMT4">
                  <p:embed/>
                </p:oleObj>
              </mc:Choice>
              <mc:Fallback>
                <p:oleObj name="Equation" r:id="rId2" imgW="2019240" imgH="1193760" progId="Equation.DSMT4">
                  <p:embed/>
                  <p:pic>
                    <p:nvPicPr>
                      <p:cNvPr id="7" name="对象 6">
                        <a:extLst>
                          <a:ext uri="{FF2B5EF4-FFF2-40B4-BE49-F238E27FC236}">
                            <a16:creationId xmlns:a16="http://schemas.microsoft.com/office/drawing/2014/main" id="{09AC6301-2294-4076-BF53-9433D0F5EC2A}"/>
                          </a:ext>
                        </a:extLst>
                      </p:cNvPr>
                      <p:cNvPicPr/>
                      <p:nvPr/>
                    </p:nvPicPr>
                    <p:blipFill>
                      <a:blip r:embed="rId3"/>
                      <a:stretch>
                        <a:fillRect/>
                      </a:stretch>
                    </p:blipFill>
                    <p:spPr>
                      <a:xfrm>
                        <a:off x="0" y="2856885"/>
                        <a:ext cx="4990756" cy="2949308"/>
                      </a:xfrm>
                      <a:prstGeom prst="rect">
                        <a:avLst/>
                      </a:prstGeom>
                      <a:ln w="28575">
                        <a:noFill/>
                      </a:ln>
                    </p:spPr>
                  </p:pic>
                </p:oleObj>
              </mc:Fallback>
            </mc:AlternateContent>
          </a:graphicData>
        </a:graphic>
      </p:graphicFrame>
      <p:graphicFrame>
        <p:nvGraphicFramePr>
          <p:cNvPr id="8" name="对象 7">
            <a:extLst>
              <a:ext uri="{FF2B5EF4-FFF2-40B4-BE49-F238E27FC236}">
                <a16:creationId xmlns:a16="http://schemas.microsoft.com/office/drawing/2014/main" id="{75D49976-BE31-4874-B2C0-E0769DCBBEA2}"/>
              </a:ext>
            </a:extLst>
          </p:cNvPr>
          <p:cNvGraphicFramePr>
            <a:graphicFrameLocks noChangeAspect="1"/>
          </p:cNvGraphicFramePr>
          <p:nvPr>
            <p:extLst>
              <p:ext uri="{D42A27DB-BD31-4B8C-83A1-F6EECF244321}">
                <p14:modId xmlns:p14="http://schemas.microsoft.com/office/powerpoint/2010/main" val="2781230962"/>
              </p:ext>
            </p:extLst>
          </p:nvPr>
        </p:nvGraphicFramePr>
        <p:xfrm>
          <a:off x="4783636" y="2846822"/>
          <a:ext cx="4991100" cy="2949575"/>
        </p:xfrm>
        <a:graphic>
          <a:graphicData uri="http://schemas.openxmlformats.org/presentationml/2006/ole">
            <mc:AlternateContent xmlns:mc="http://schemas.openxmlformats.org/markup-compatibility/2006">
              <mc:Choice xmlns:v="urn:schemas-microsoft-com:vml" Requires="v">
                <p:oleObj name="Equation" r:id="rId4" imgW="2019240" imgH="1193760" progId="Equation.DSMT4">
                  <p:embed/>
                </p:oleObj>
              </mc:Choice>
              <mc:Fallback>
                <p:oleObj name="Equation" r:id="rId4" imgW="2019240" imgH="1193760" progId="Equation.DSMT4">
                  <p:embed/>
                  <p:pic>
                    <p:nvPicPr>
                      <p:cNvPr id="7" name="对象 6">
                        <a:extLst>
                          <a:ext uri="{FF2B5EF4-FFF2-40B4-BE49-F238E27FC236}">
                            <a16:creationId xmlns:a16="http://schemas.microsoft.com/office/drawing/2014/main" id="{09AC6301-2294-4076-BF53-9433D0F5EC2A}"/>
                          </a:ext>
                        </a:extLst>
                      </p:cNvPr>
                      <p:cNvPicPr/>
                      <p:nvPr/>
                    </p:nvPicPr>
                    <p:blipFill>
                      <a:blip r:embed="rId5"/>
                      <a:stretch>
                        <a:fillRect/>
                      </a:stretch>
                    </p:blipFill>
                    <p:spPr>
                      <a:xfrm>
                        <a:off x="4783636" y="2846822"/>
                        <a:ext cx="4991100" cy="2949575"/>
                      </a:xfrm>
                      <a:prstGeom prst="rect">
                        <a:avLst/>
                      </a:prstGeom>
                      <a:ln w="28575">
                        <a:noFill/>
                      </a:ln>
                    </p:spPr>
                  </p:pic>
                </p:oleObj>
              </mc:Fallback>
            </mc:AlternateContent>
          </a:graphicData>
        </a:graphic>
      </p:graphicFrame>
      <p:sp>
        <p:nvSpPr>
          <p:cNvPr id="3" name="文本框 2">
            <a:extLst>
              <a:ext uri="{FF2B5EF4-FFF2-40B4-BE49-F238E27FC236}">
                <a16:creationId xmlns:a16="http://schemas.microsoft.com/office/drawing/2014/main" id="{7C98DA26-AF49-4866-B0AC-65AA8E635C63}"/>
              </a:ext>
            </a:extLst>
          </p:cNvPr>
          <p:cNvSpPr txBox="1"/>
          <p:nvPr/>
        </p:nvSpPr>
        <p:spPr>
          <a:xfrm>
            <a:off x="1866742" y="2368201"/>
            <a:ext cx="1005403" cy="461665"/>
          </a:xfrm>
          <a:prstGeom prst="rect">
            <a:avLst/>
          </a:prstGeom>
          <a:noFill/>
        </p:spPr>
        <p:txBody>
          <a:bodyPr wrap="none" rtlCol="0">
            <a:spAutoFit/>
          </a:bodyPr>
          <a:lstStyle/>
          <a:p>
            <a:r>
              <a:rPr lang="zh-CN" altLang="en-US" sz="2400" dirty="0"/>
              <a:t>问题</a:t>
            </a:r>
            <a:r>
              <a:rPr lang="en-US" altLang="zh-CN" sz="2400" dirty="0"/>
              <a:t>A</a:t>
            </a:r>
            <a:endParaRPr lang="zh-CN" altLang="en-US" sz="2400" dirty="0"/>
          </a:p>
        </p:txBody>
      </p:sp>
      <p:sp>
        <p:nvSpPr>
          <p:cNvPr id="9" name="文本框 8">
            <a:extLst>
              <a:ext uri="{FF2B5EF4-FFF2-40B4-BE49-F238E27FC236}">
                <a16:creationId xmlns:a16="http://schemas.microsoft.com/office/drawing/2014/main" id="{A0F5B5E8-5C82-40B9-B58D-177402658C0E}"/>
              </a:ext>
            </a:extLst>
          </p:cNvPr>
          <p:cNvSpPr txBox="1"/>
          <p:nvPr/>
        </p:nvSpPr>
        <p:spPr>
          <a:xfrm>
            <a:off x="6531155" y="2368200"/>
            <a:ext cx="1023037" cy="461665"/>
          </a:xfrm>
          <a:prstGeom prst="rect">
            <a:avLst/>
          </a:prstGeom>
          <a:noFill/>
        </p:spPr>
        <p:txBody>
          <a:bodyPr wrap="none" rtlCol="0">
            <a:spAutoFit/>
          </a:bodyPr>
          <a:lstStyle/>
          <a:p>
            <a:r>
              <a:rPr lang="zh-CN" altLang="en-US" sz="2400" dirty="0"/>
              <a:t>问题</a:t>
            </a:r>
            <a:r>
              <a:rPr lang="en-US" altLang="zh-CN" sz="2400" dirty="0"/>
              <a:t>C</a:t>
            </a:r>
            <a:endParaRPr lang="zh-CN" altLang="en-US" sz="2400" dirty="0"/>
          </a:p>
        </p:txBody>
      </p:sp>
      <p:sp>
        <p:nvSpPr>
          <p:cNvPr id="10" name="箭头: 下弧形 9">
            <a:extLst>
              <a:ext uri="{FF2B5EF4-FFF2-40B4-BE49-F238E27FC236}">
                <a16:creationId xmlns:a16="http://schemas.microsoft.com/office/drawing/2014/main" id="{559BA060-BF71-41C2-B4A2-59A7DFDC0C03}"/>
              </a:ext>
            </a:extLst>
          </p:cNvPr>
          <p:cNvSpPr/>
          <p:nvPr/>
        </p:nvSpPr>
        <p:spPr bwMode="auto">
          <a:xfrm>
            <a:off x="3440832" y="5774335"/>
            <a:ext cx="2448272" cy="850971"/>
          </a:xfrm>
          <a:prstGeom prst="curvedUp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1" name="文本框 10">
            <a:extLst>
              <a:ext uri="{FF2B5EF4-FFF2-40B4-BE49-F238E27FC236}">
                <a16:creationId xmlns:a16="http://schemas.microsoft.com/office/drawing/2014/main" id="{EE73338A-0E5A-4F8F-A6B7-13F29D7C9D13}"/>
              </a:ext>
            </a:extLst>
          </p:cNvPr>
          <p:cNvSpPr txBox="1"/>
          <p:nvPr/>
        </p:nvSpPr>
        <p:spPr>
          <a:xfrm>
            <a:off x="6334787" y="6071385"/>
            <a:ext cx="1620957" cy="523220"/>
          </a:xfrm>
          <a:prstGeom prst="rect">
            <a:avLst/>
          </a:prstGeom>
          <a:solidFill>
            <a:srgbClr val="FFFF00"/>
          </a:solidFill>
          <a:ln>
            <a:solidFill>
              <a:schemeClr val="tx1"/>
            </a:solidFill>
          </a:ln>
        </p:spPr>
        <p:txBody>
          <a:bodyPr wrap="none" rtlCol="0">
            <a:spAutoFit/>
          </a:bodyPr>
          <a:lstStyle/>
          <a:p>
            <a:r>
              <a:rPr lang="zh-CN" altLang="en-US" sz="2800" dirty="0">
                <a:solidFill>
                  <a:srgbClr val="C00000"/>
                </a:solidFill>
              </a:rPr>
              <a:t>第一阶段</a:t>
            </a:r>
          </a:p>
        </p:txBody>
      </p:sp>
      <p:sp>
        <p:nvSpPr>
          <p:cNvPr id="12" name="文本框 11">
            <a:extLst>
              <a:ext uri="{FF2B5EF4-FFF2-40B4-BE49-F238E27FC236}">
                <a16:creationId xmlns:a16="http://schemas.microsoft.com/office/drawing/2014/main" id="{D8F1D0D6-5182-4A2B-B5FC-5541B65B08CF}"/>
              </a:ext>
            </a:extLst>
          </p:cNvPr>
          <p:cNvSpPr txBox="1"/>
          <p:nvPr/>
        </p:nvSpPr>
        <p:spPr>
          <a:xfrm>
            <a:off x="1056263" y="5947073"/>
            <a:ext cx="1620957" cy="523220"/>
          </a:xfrm>
          <a:prstGeom prst="rect">
            <a:avLst/>
          </a:prstGeom>
          <a:solidFill>
            <a:srgbClr val="FFFF00"/>
          </a:solidFill>
          <a:ln>
            <a:solidFill>
              <a:schemeClr val="tx1"/>
            </a:solidFill>
          </a:ln>
        </p:spPr>
        <p:txBody>
          <a:bodyPr wrap="none" rtlCol="0">
            <a:spAutoFit/>
          </a:bodyPr>
          <a:lstStyle/>
          <a:p>
            <a:r>
              <a:rPr lang="zh-CN" altLang="en-US" sz="2800" dirty="0">
                <a:solidFill>
                  <a:srgbClr val="C00000"/>
                </a:solidFill>
              </a:rPr>
              <a:t>第二阶段</a:t>
            </a:r>
          </a:p>
        </p:txBody>
      </p:sp>
    </p:spTree>
    <p:extLst>
      <p:ext uri="{BB962C8B-B14F-4D97-AF65-F5344CB8AC3E}">
        <p14:creationId xmlns:p14="http://schemas.microsoft.com/office/powerpoint/2010/main" val="167964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par>
                          <p:cTn id="22" fill="hold">
                            <p:stCondLst>
                              <p:cond delay="500"/>
                            </p:stCondLst>
                            <p:childTnLst>
                              <p:par>
                                <p:cTn id="23" presetID="22" presetClass="entr" presetSubtype="4"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childTnLst>
                          </p:cTn>
                        </p:par>
                        <p:par>
                          <p:cTn id="26" fill="hold">
                            <p:stCondLst>
                              <p:cond delay="1000"/>
                            </p:stCondLst>
                            <p:childTnLst>
                              <p:par>
                                <p:cTn id="27" presetID="16" presetClass="entr" presetSubtype="21"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par>
                          <p:cTn id="30" fill="hold">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down)">
                                      <p:cBhvr>
                                        <p:cTn id="33" dur="500"/>
                                        <p:tgtEl>
                                          <p:spTgt spid="11"/>
                                        </p:tgtEl>
                                      </p:cBhvr>
                                    </p:animEffect>
                                  </p:childTnLst>
                                </p:cTn>
                              </p:par>
                            </p:childTnLst>
                          </p:cTn>
                        </p:par>
                        <p:par>
                          <p:cTn id="34" fill="hold">
                            <p:stCondLst>
                              <p:cond delay="2000"/>
                            </p:stCondLst>
                            <p:childTnLst>
                              <p:par>
                                <p:cTn id="35" presetID="22" presetClass="entr" presetSubtype="4"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9" grpId="0"/>
      <p:bldP spid="10" grpId="0" animBg="1"/>
      <p:bldP spid="11" grpId="0" animBg="1"/>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46</a:t>
            </a:fld>
            <a:endParaRPr lang="en-US" altLang="zh-CN" dirty="0"/>
          </a:p>
        </p:txBody>
      </p:sp>
      <p:sp>
        <p:nvSpPr>
          <p:cNvPr id="6" name="文本框 5">
            <a:extLst>
              <a:ext uri="{FF2B5EF4-FFF2-40B4-BE49-F238E27FC236}">
                <a16:creationId xmlns:a16="http://schemas.microsoft.com/office/drawing/2014/main" id="{2F2CA20C-4369-4F39-A105-8D0D03CBB1C8}"/>
              </a:ext>
            </a:extLst>
          </p:cNvPr>
          <p:cNvSpPr txBox="1"/>
          <p:nvPr/>
        </p:nvSpPr>
        <p:spPr>
          <a:xfrm>
            <a:off x="92949" y="1156062"/>
            <a:ext cx="4821951" cy="954107"/>
          </a:xfrm>
          <a:prstGeom prst="rect">
            <a:avLst/>
          </a:prstGeom>
          <a:noFill/>
        </p:spPr>
        <p:txBody>
          <a:bodyPr wrap="square" rtlCol="0">
            <a:spAutoFit/>
          </a:bodyPr>
          <a:lstStyle/>
          <a:p>
            <a:r>
              <a:rPr lang="en-US" altLang="zh-CN" sz="2800" dirty="0"/>
              <a:t>3. </a:t>
            </a:r>
            <a:r>
              <a:rPr lang="zh-CN" altLang="en-US" sz="2800" dirty="0"/>
              <a:t>第一阶段：求解线性规划问题</a:t>
            </a:r>
            <a:r>
              <a:rPr lang="en-US" altLang="zh-CN" sz="2800" dirty="0"/>
              <a:t>C</a:t>
            </a:r>
          </a:p>
        </p:txBody>
      </p:sp>
      <p:graphicFrame>
        <p:nvGraphicFramePr>
          <p:cNvPr id="8" name="对象 7">
            <a:extLst>
              <a:ext uri="{FF2B5EF4-FFF2-40B4-BE49-F238E27FC236}">
                <a16:creationId xmlns:a16="http://schemas.microsoft.com/office/drawing/2014/main" id="{75D49976-BE31-4874-B2C0-E0769DCBBEA2}"/>
              </a:ext>
            </a:extLst>
          </p:cNvPr>
          <p:cNvGraphicFramePr>
            <a:graphicFrameLocks noChangeAspect="1"/>
          </p:cNvGraphicFramePr>
          <p:nvPr>
            <p:extLst>
              <p:ext uri="{D42A27DB-BD31-4B8C-83A1-F6EECF244321}">
                <p14:modId xmlns:p14="http://schemas.microsoft.com/office/powerpoint/2010/main" val="2412992516"/>
              </p:ext>
            </p:extLst>
          </p:nvPr>
        </p:nvGraphicFramePr>
        <p:xfrm>
          <a:off x="4914900" y="358159"/>
          <a:ext cx="4991100" cy="2949575"/>
        </p:xfrm>
        <a:graphic>
          <a:graphicData uri="http://schemas.openxmlformats.org/presentationml/2006/ole">
            <mc:AlternateContent xmlns:mc="http://schemas.openxmlformats.org/markup-compatibility/2006">
              <mc:Choice xmlns:v="urn:schemas-microsoft-com:vml" Requires="v">
                <p:oleObj name="Equation" r:id="rId2" imgW="2019240" imgH="1193760" progId="Equation.DSMT4">
                  <p:embed/>
                </p:oleObj>
              </mc:Choice>
              <mc:Fallback>
                <p:oleObj name="Equation" r:id="rId2" imgW="2019240" imgH="1193760" progId="Equation.DSMT4">
                  <p:embed/>
                  <p:pic>
                    <p:nvPicPr>
                      <p:cNvPr id="8" name="对象 7">
                        <a:extLst>
                          <a:ext uri="{FF2B5EF4-FFF2-40B4-BE49-F238E27FC236}">
                            <a16:creationId xmlns:a16="http://schemas.microsoft.com/office/drawing/2014/main" id="{75D49976-BE31-4874-B2C0-E0769DCBBEA2}"/>
                          </a:ext>
                        </a:extLst>
                      </p:cNvPr>
                      <p:cNvPicPr/>
                      <p:nvPr/>
                    </p:nvPicPr>
                    <p:blipFill>
                      <a:blip r:embed="rId3"/>
                      <a:stretch>
                        <a:fillRect/>
                      </a:stretch>
                    </p:blipFill>
                    <p:spPr>
                      <a:xfrm>
                        <a:off x="4914900" y="358159"/>
                        <a:ext cx="4991100" cy="2949575"/>
                      </a:xfrm>
                      <a:prstGeom prst="rect">
                        <a:avLst/>
                      </a:prstGeom>
                      <a:ln w="28575">
                        <a:noFill/>
                      </a:ln>
                    </p:spPr>
                  </p:pic>
                </p:oleObj>
              </mc:Fallback>
            </mc:AlternateContent>
          </a:graphicData>
        </a:graphic>
      </p:graphicFrame>
      <p:sp>
        <p:nvSpPr>
          <p:cNvPr id="9" name="文本框 8">
            <a:extLst>
              <a:ext uri="{FF2B5EF4-FFF2-40B4-BE49-F238E27FC236}">
                <a16:creationId xmlns:a16="http://schemas.microsoft.com/office/drawing/2014/main" id="{A0F5B5E8-5C82-40B9-B58D-177402658C0E}"/>
              </a:ext>
            </a:extLst>
          </p:cNvPr>
          <p:cNvSpPr txBox="1"/>
          <p:nvPr/>
        </p:nvSpPr>
        <p:spPr>
          <a:xfrm>
            <a:off x="6825208" y="-61654"/>
            <a:ext cx="1023037" cy="461665"/>
          </a:xfrm>
          <a:prstGeom prst="rect">
            <a:avLst/>
          </a:prstGeom>
          <a:noFill/>
        </p:spPr>
        <p:txBody>
          <a:bodyPr wrap="none" rtlCol="0">
            <a:spAutoFit/>
          </a:bodyPr>
          <a:lstStyle/>
          <a:p>
            <a:r>
              <a:rPr lang="zh-CN" altLang="en-US" sz="2400" dirty="0"/>
              <a:t>问题</a:t>
            </a:r>
            <a:r>
              <a:rPr lang="en-US" altLang="zh-CN" sz="2400" dirty="0"/>
              <a:t>C</a:t>
            </a:r>
            <a:endParaRPr lang="zh-CN" altLang="en-US" sz="2400" dirty="0"/>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312962906"/>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x7</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312962906"/>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endParaRPr lang="zh-CN"/>
                        </a:p>
                      </a:txBody>
                      <a:tcPr anchor="ctr">
                        <a:blipFill>
                          <a:blip r:embed="rId5"/>
                          <a:stretch>
                            <a:fillRect l="-901370" t="-559" r="-101370" b="-201676"/>
                          </a:stretch>
                        </a:blipFill>
                      </a:tcPr>
                    </a:tc>
                    <a:tc rowSpan="2">
                      <a:txBody>
                        <a:bodyPr/>
                        <a:lstStyle/>
                        <a:p>
                          <a:endParaRPr lang="zh-CN"/>
                        </a:p>
                      </a:txBody>
                      <a:tcPr anchor="ctr">
                        <a:blipFill>
                          <a:blip r:embed="rId5"/>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x7</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5"/>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sp>
        <p:nvSpPr>
          <p:cNvPr id="14" name="文本框 13">
            <a:extLst>
              <a:ext uri="{FF2B5EF4-FFF2-40B4-BE49-F238E27FC236}">
                <a16:creationId xmlns:a16="http://schemas.microsoft.com/office/drawing/2014/main" id="{9D4931D2-A0D4-4C7B-8DE8-7A12F803ABC1}"/>
              </a:ext>
            </a:extLst>
          </p:cNvPr>
          <p:cNvSpPr txBox="1"/>
          <p:nvPr/>
        </p:nvSpPr>
        <p:spPr>
          <a:xfrm>
            <a:off x="560512" y="2234434"/>
            <a:ext cx="2339102" cy="461665"/>
          </a:xfrm>
          <a:prstGeom prst="rect">
            <a:avLst/>
          </a:prstGeom>
          <a:noFill/>
        </p:spPr>
        <p:txBody>
          <a:bodyPr wrap="none" rtlCol="0">
            <a:spAutoFit/>
          </a:bodyPr>
          <a:lstStyle/>
          <a:p>
            <a:r>
              <a:rPr lang="zh-CN" altLang="en-US" sz="2400" dirty="0"/>
              <a:t>初始化单纯形表</a:t>
            </a:r>
          </a:p>
        </p:txBody>
      </p:sp>
    </p:spTree>
    <p:extLst>
      <p:ext uri="{BB962C8B-B14F-4D97-AF65-F5344CB8AC3E}">
        <p14:creationId xmlns:p14="http://schemas.microsoft.com/office/powerpoint/2010/main" val="253072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a:xfrm>
            <a:off x="58044" y="188640"/>
            <a:ext cx="9719492" cy="792088"/>
          </a:xfrm>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47</a:t>
            </a:fld>
            <a:endParaRPr lang="en-US" altLang="zh-CN" dirty="0"/>
          </a:p>
        </p:txBody>
      </p:sp>
      <p:sp>
        <p:nvSpPr>
          <p:cNvPr id="6" name="文本框 5">
            <a:extLst>
              <a:ext uri="{FF2B5EF4-FFF2-40B4-BE49-F238E27FC236}">
                <a16:creationId xmlns:a16="http://schemas.microsoft.com/office/drawing/2014/main" id="{2F2CA20C-4369-4F39-A105-8D0D03CBB1C8}"/>
              </a:ext>
            </a:extLst>
          </p:cNvPr>
          <p:cNvSpPr txBox="1"/>
          <p:nvPr/>
        </p:nvSpPr>
        <p:spPr>
          <a:xfrm>
            <a:off x="92949" y="1156062"/>
            <a:ext cx="4500011" cy="954107"/>
          </a:xfrm>
          <a:prstGeom prst="rect">
            <a:avLst/>
          </a:prstGeom>
          <a:noFill/>
        </p:spPr>
        <p:txBody>
          <a:bodyPr wrap="square" rtlCol="0">
            <a:spAutoFit/>
          </a:bodyPr>
          <a:lstStyle/>
          <a:p>
            <a:r>
              <a:rPr lang="en-US" altLang="zh-CN" sz="2800" dirty="0"/>
              <a:t>3. </a:t>
            </a:r>
            <a:r>
              <a:rPr lang="zh-CN" altLang="en-US" sz="2800" dirty="0"/>
              <a:t>第一阶段：求解线性规划问题</a:t>
            </a:r>
            <a:r>
              <a:rPr lang="en-US" altLang="zh-CN" sz="2800" dirty="0"/>
              <a:t>C</a:t>
            </a:r>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1323695095"/>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3/2</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x7</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r>
                            <a:rPr lang="en-US" altLang="zh-CN" sz="2400" baseline="0" dirty="0"/>
                            <a:t>6</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1323695095"/>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endParaRPr lang="zh-CN"/>
                        </a:p>
                      </a:txBody>
                      <a:tcPr anchor="ctr">
                        <a:blipFill>
                          <a:blip r:embed="rId3"/>
                          <a:stretch>
                            <a:fillRect l="-901370" t="-559" r="-101370" b="-209497"/>
                          </a:stretch>
                        </a:blipFill>
                      </a:tcPr>
                    </a:tc>
                    <a:tc rowSpan="2">
                      <a:txBody>
                        <a:bodyPr/>
                        <a:lstStyle/>
                        <a:p>
                          <a:endParaRPr lang="zh-CN"/>
                        </a:p>
                      </a:txBody>
                      <a:tcPr anchor="ctr">
                        <a:blipFill>
                          <a:blip r:embed="rId3"/>
                          <a:stretch>
                            <a:fillRect l="-1001370" t="-559" r="-1370" b="-209497"/>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3/2</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x7</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17778"/>
                          </a:stretch>
                        </a:blipFill>
                      </a:tcPr>
                    </a:tc>
                    <a:tc hMerge="1">
                      <a:txBody>
                        <a:bodyPr/>
                        <a:lstStyle/>
                        <a:p>
                          <a:pPr algn="ctr"/>
                          <a:endParaRPr lang="zh-CN" altLang="en-US" sz="2400" dirty="0"/>
                        </a:p>
                      </a:txBody>
                      <a:tcPr anchor="ctr"/>
                    </a:tc>
                    <a:tc>
                      <a:txBody>
                        <a:bodyPr/>
                        <a:lstStyle/>
                        <a:p>
                          <a:pPr algn="ctr"/>
                          <a:r>
                            <a:rPr lang="en-US" altLang="zh-CN" sz="2400" baseline="0" dirty="0"/>
                            <a:t>6</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D4931D2-A0D4-4C7B-8DE8-7A12F803ABC1}"/>
                  </a:ext>
                </a:extLst>
              </p:cNvPr>
              <p:cNvSpPr txBox="1"/>
              <p:nvPr/>
            </p:nvSpPr>
            <p:spPr>
              <a:xfrm>
                <a:off x="798597" y="2152589"/>
                <a:ext cx="3141694" cy="830997"/>
              </a:xfrm>
              <a:prstGeom prst="rect">
                <a:avLst/>
              </a:prstGeom>
              <a:noFill/>
            </p:spPr>
            <p:txBody>
              <a:bodyPr wrap="none" rtlCol="0">
                <a:spAutoFit/>
              </a:bodyPr>
              <a:lstStyle/>
              <a:p>
                <a:r>
                  <a:rPr lang="zh-CN" altLang="en-US" sz="2400" dirty="0"/>
                  <a:t>求基本可行解，填写</a:t>
                </a:r>
                <a14:m>
                  <m:oMath xmlns:m="http://schemas.openxmlformats.org/officeDocument/2006/math">
                    <m:r>
                      <a:rPr lang="zh-CN" altLang="en-US" sz="2400">
                        <a:latin typeface="Cambria Math" panose="02040503050406030204" pitchFamily="18" charset="0"/>
                      </a:rPr>
                      <m:t>𝜎</m:t>
                    </m:r>
                  </m:oMath>
                </a14:m>
                <a:endParaRPr lang="zh-CN" altLang="en-US" sz="2400" dirty="0"/>
              </a:p>
              <a:p>
                <a:r>
                  <a:rPr lang="zh-CN" altLang="en-US" sz="2400" dirty="0"/>
                  <a:t>和</a:t>
                </a:r>
                <a:r>
                  <a:rPr lang="en-US" altLang="zh-CN" sz="2400" dirty="0"/>
                  <a:t>q</a:t>
                </a:r>
                <a:r>
                  <a:rPr lang="zh-CN" altLang="en-US" sz="2400" dirty="0"/>
                  <a:t>的值</a:t>
                </a:r>
              </a:p>
            </p:txBody>
          </p:sp>
        </mc:Choice>
        <mc:Fallback xmlns="">
          <p:sp>
            <p:nvSpPr>
              <p:cNvPr id="14" name="文本框 13">
                <a:extLst>
                  <a:ext uri="{FF2B5EF4-FFF2-40B4-BE49-F238E27FC236}">
                    <a16:creationId xmlns:a16="http://schemas.microsoft.com/office/drawing/2014/main" id="{9D4931D2-A0D4-4C7B-8DE8-7A12F803ABC1}"/>
                  </a:ext>
                </a:extLst>
              </p:cNvPr>
              <p:cNvSpPr txBox="1">
                <a:spLocks noRot="1" noChangeAspect="1" noMove="1" noResize="1" noEditPoints="1" noAdjustHandles="1" noChangeArrowheads="1" noChangeShapeType="1" noTextEdit="1"/>
              </p:cNvSpPr>
              <p:nvPr/>
            </p:nvSpPr>
            <p:spPr>
              <a:xfrm>
                <a:off x="798597" y="2152589"/>
                <a:ext cx="3141694" cy="830997"/>
              </a:xfrm>
              <a:prstGeom prst="rect">
                <a:avLst/>
              </a:prstGeom>
              <a:blipFill>
                <a:blip r:embed="rId4"/>
                <a:stretch>
                  <a:fillRect l="-2913" t="-5882" b="-16176"/>
                </a:stretch>
              </a:blipFill>
            </p:spPr>
            <p:txBody>
              <a:bodyPr/>
              <a:lstStyle/>
              <a:p>
                <a:r>
                  <a:rPr lang="zh-CN" altLang="en-US">
                    <a:noFill/>
                  </a:rPr>
                  <a:t> </a:t>
                </a:r>
              </a:p>
            </p:txBody>
          </p:sp>
        </mc:Fallback>
      </mc:AlternateContent>
      <p:graphicFrame>
        <p:nvGraphicFramePr>
          <p:cNvPr id="10" name="对象 9">
            <a:extLst>
              <a:ext uri="{FF2B5EF4-FFF2-40B4-BE49-F238E27FC236}">
                <a16:creationId xmlns:a16="http://schemas.microsoft.com/office/drawing/2014/main" id="{1685161E-713F-455E-B350-BB2A957C4282}"/>
              </a:ext>
            </a:extLst>
          </p:cNvPr>
          <p:cNvGraphicFramePr>
            <a:graphicFrameLocks noChangeAspect="1"/>
          </p:cNvGraphicFramePr>
          <p:nvPr>
            <p:extLst>
              <p:ext uri="{D42A27DB-BD31-4B8C-83A1-F6EECF244321}">
                <p14:modId xmlns:p14="http://schemas.microsoft.com/office/powerpoint/2010/main" val="1843919288"/>
              </p:ext>
            </p:extLst>
          </p:nvPr>
        </p:nvGraphicFramePr>
        <p:xfrm>
          <a:off x="5049838" y="1149350"/>
          <a:ext cx="2813050" cy="530225"/>
        </p:xfrm>
        <a:graphic>
          <a:graphicData uri="http://schemas.openxmlformats.org/presentationml/2006/ole">
            <mc:AlternateContent xmlns:mc="http://schemas.openxmlformats.org/markup-compatibility/2006">
              <mc:Choice xmlns:v="urn:schemas-microsoft-com:vml" Requires="v">
                <p:oleObj name="Equation" r:id="rId5" imgW="1485720" imgH="279360" progId="Equation.DSMT4">
                  <p:embed/>
                </p:oleObj>
              </mc:Choice>
              <mc:Fallback>
                <p:oleObj name="Equation" r:id="rId5" imgW="1485720" imgH="279360" progId="Equation.DSMT4">
                  <p:embed/>
                  <p:pic>
                    <p:nvPicPr>
                      <p:cNvPr id="45" name="对象 44">
                        <a:extLst>
                          <a:ext uri="{FF2B5EF4-FFF2-40B4-BE49-F238E27FC236}">
                            <a16:creationId xmlns:a16="http://schemas.microsoft.com/office/drawing/2014/main" id="{A1A5B729-AB57-4FD5-9592-92FC326E450A}"/>
                          </a:ext>
                        </a:extLst>
                      </p:cNvPr>
                      <p:cNvPicPr/>
                      <p:nvPr/>
                    </p:nvPicPr>
                    <p:blipFill>
                      <a:blip r:embed="rId6"/>
                      <a:stretch>
                        <a:fillRect/>
                      </a:stretch>
                    </p:blipFill>
                    <p:spPr>
                      <a:xfrm>
                        <a:off x="5049838" y="1149350"/>
                        <a:ext cx="2813050" cy="530225"/>
                      </a:xfrm>
                      <a:prstGeom prst="rect">
                        <a:avLst/>
                      </a:prstGeom>
                    </p:spPr>
                  </p:pic>
                </p:oleObj>
              </mc:Fallback>
            </mc:AlternateContent>
          </a:graphicData>
        </a:graphic>
      </p:graphicFrame>
      <p:sp>
        <p:nvSpPr>
          <p:cNvPr id="12" name="矩形 11">
            <a:extLst>
              <a:ext uri="{FF2B5EF4-FFF2-40B4-BE49-F238E27FC236}">
                <a16:creationId xmlns:a16="http://schemas.microsoft.com/office/drawing/2014/main" id="{32116D9B-79C4-42BE-AF8E-AA3FB7F2FE80}"/>
              </a:ext>
            </a:extLst>
          </p:cNvPr>
          <p:cNvSpPr/>
          <p:nvPr/>
        </p:nvSpPr>
        <p:spPr>
          <a:xfrm>
            <a:off x="5049838" y="1836190"/>
            <a:ext cx="3384376" cy="461665"/>
          </a:xfrm>
          <a:prstGeom prst="rect">
            <a:avLst/>
          </a:prstGeom>
          <a:solidFill>
            <a:srgbClr val="FFFF66"/>
          </a:solidFill>
          <a:ln>
            <a:solidFill>
              <a:schemeClr val="tx1"/>
            </a:solidFill>
          </a:ln>
        </p:spPr>
        <p:txBody>
          <a:bodyPr wrap="square">
            <a:spAutoFit/>
          </a:bodyPr>
          <a:lstStyle/>
          <a:p>
            <a:r>
              <a:rPr lang="zh-CN" altLang="en-US" sz="2400" b="1" dirty="0">
                <a:solidFill>
                  <a:srgbClr val="C00000"/>
                </a:solidFill>
              </a:rPr>
              <a:t>选择</a:t>
            </a:r>
            <a:r>
              <a:rPr lang="en-US" altLang="zh-CN" sz="2400" b="1" dirty="0">
                <a:solidFill>
                  <a:srgbClr val="C00000"/>
                </a:solidFill>
              </a:rPr>
              <a:t>X3</a:t>
            </a:r>
            <a:r>
              <a:rPr lang="zh-CN" altLang="en-US" sz="2400" b="1" dirty="0">
                <a:solidFill>
                  <a:srgbClr val="C00000"/>
                </a:solidFill>
              </a:rPr>
              <a:t>入基，</a:t>
            </a:r>
            <a:r>
              <a:rPr lang="en-US" altLang="zh-CN" sz="2400" b="1" dirty="0">
                <a:solidFill>
                  <a:srgbClr val="C00000"/>
                </a:solidFill>
              </a:rPr>
              <a:t>X7</a:t>
            </a:r>
            <a:r>
              <a:rPr lang="zh-CN" altLang="en-US" sz="2400" b="1" dirty="0">
                <a:solidFill>
                  <a:srgbClr val="C00000"/>
                </a:solidFill>
              </a:rPr>
              <a:t>离基</a:t>
            </a:r>
            <a:endParaRPr lang="en-US" altLang="zh-CN" sz="2400" b="1" dirty="0">
              <a:solidFill>
                <a:srgbClr val="C00000"/>
              </a:solidFill>
            </a:endParaRPr>
          </a:p>
        </p:txBody>
      </p:sp>
    </p:spTree>
    <p:extLst>
      <p:ext uri="{BB962C8B-B14F-4D97-AF65-F5344CB8AC3E}">
        <p14:creationId xmlns:p14="http://schemas.microsoft.com/office/powerpoint/2010/main" val="4053992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par>
                                <p:cTn id="12" presetID="22" presetClass="entr" presetSubtype="4"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00"/>
                                        <p:tgtEl>
                                          <p:spTgt spid="10"/>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48</a:t>
            </a:fld>
            <a:endParaRPr lang="en-US" altLang="zh-CN" dirty="0"/>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217077445"/>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217077445"/>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endParaRPr lang="zh-CN"/>
                        </a:p>
                      </a:txBody>
                      <a:tcPr anchor="ctr">
                        <a:blipFill>
                          <a:blip r:embed="rId2"/>
                          <a:stretch>
                            <a:fillRect l="-901370" t="-559" r="-101370" b="-201676"/>
                          </a:stretch>
                        </a:blipFill>
                      </a:tcPr>
                    </a:tc>
                    <a:tc rowSpan="2">
                      <a:txBody>
                        <a:bodyPr/>
                        <a:lstStyle/>
                        <a:p>
                          <a:endParaRPr lang="zh-CN"/>
                        </a:p>
                      </a:txBody>
                      <a:tcPr anchor="ctr">
                        <a:blipFill>
                          <a:blip r:embed="rId2"/>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2"/>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D4931D2-A0D4-4C7B-8DE8-7A12F803ABC1}"/>
                  </a:ext>
                </a:extLst>
              </p:cNvPr>
              <p:cNvSpPr txBox="1"/>
              <p:nvPr/>
            </p:nvSpPr>
            <p:spPr>
              <a:xfrm>
                <a:off x="776536" y="2007935"/>
                <a:ext cx="3716083" cy="830997"/>
              </a:xfrm>
              <a:prstGeom prst="rect">
                <a:avLst/>
              </a:prstGeom>
              <a:noFill/>
            </p:spPr>
            <p:txBody>
              <a:bodyPr wrap="square" rtlCol="0">
                <a:spAutoFit/>
              </a:bodyPr>
              <a:lstStyle/>
              <a:p>
                <a:r>
                  <a:rPr lang="zh-CN" altLang="en-US" sz="2400" dirty="0"/>
                  <a:t>替换基变量清除</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，矩阵转换</a:t>
                </a:r>
              </a:p>
            </p:txBody>
          </p:sp>
        </mc:Choice>
        <mc:Fallback xmlns="">
          <p:sp>
            <p:nvSpPr>
              <p:cNvPr id="14" name="文本框 13">
                <a:extLst>
                  <a:ext uri="{FF2B5EF4-FFF2-40B4-BE49-F238E27FC236}">
                    <a16:creationId xmlns:a16="http://schemas.microsoft.com/office/drawing/2014/main" id="{9D4931D2-A0D4-4C7B-8DE8-7A12F803ABC1}"/>
                  </a:ext>
                </a:extLst>
              </p:cNvPr>
              <p:cNvSpPr txBox="1">
                <a:spLocks noRot="1" noChangeAspect="1" noMove="1" noResize="1" noEditPoints="1" noAdjustHandles="1" noChangeArrowheads="1" noChangeShapeType="1" noTextEdit="1"/>
              </p:cNvSpPr>
              <p:nvPr/>
            </p:nvSpPr>
            <p:spPr>
              <a:xfrm>
                <a:off x="776536" y="2007935"/>
                <a:ext cx="3716083" cy="830997"/>
              </a:xfrm>
              <a:prstGeom prst="rect">
                <a:avLst/>
              </a:prstGeom>
              <a:blipFill>
                <a:blip r:embed="rId3"/>
                <a:stretch>
                  <a:fillRect l="-2459" t="-5839" b="-15328"/>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B873A5B4-FE3B-43B4-9F6E-75FA3AA6363A}"/>
              </a:ext>
            </a:extLst>
          </p:cNvPr>
          <p:cNvSpPr txBox="1"/>
          <p:nvPr/>
        </p:nvSpPr>
        <p:spPr>
          <a:xfrm>
            <a:off x="4808984" y="1114142"/>
            <a:ext cx="3536546" cy="461665"/>
          </a:xfrm>
          <a:prstGeom prst="rect">
            <a:avLst/>
          </a:prstGeom>
          <a:noFill/>
        </p:spPr>
        <p:txBody>
          <a:bodyPr wrap="none" rtlCol="0">
            <a:spAutoFit/>
          </a:bodyPr>
          <a:lstStyle/>
          <a:p>
            <a:r>
              <a:rPr lang="zh-CN" altLang="en-US" sz="2400" dirty="0"/>
              <a:t>第三行乘以</a:t>
            </a:r>
            <a:r>
              <a:rPr lang="en-US" altLang="zh-CN" sz="2400" dirty="0"/>
              <a:t>-2</a:t>
            </a:r>
            <a:r>
              <a:rPr lang="zh-CN" altLang="en-US" sz="2400" dirty="0"/>
              <a:t>加上第二行</a:t>
            </a:r>
          </a:p>
        </p:txBody>
      </p:sp>
      <p:sp>
        <p:nvSpPr>
          <p:cNvPr id="15" name="文本框 14">
            <a:extLst>
              <a:ext uri="{FF2B5EF4-FFF2-40B4-BE49-F238E27FC236}">
                <a16:creationId xmlns:a16="http://schemas.microsoft.com/office/drawing/2014/main" id="{09770E94-F4E4-4CE1-AB91-E2101946A65E}"/>
              </a:ext>
            </a:extLst>
          </p:cNvPr>
          <p:cNvSpPr txBox="1"/>
          <p:nvPr/>
        </p:nvSpPr>
        <p:spPr>
          <a:xfrm>
            <a:off x="4808984" y="1630244"/>
            <a:ext cx="3536546" cy="461665"/>
          </a:xfrm>
          <a:prstGeom prst="rect">
            <a:avLst/>
          </a:prstGeom>
          <a:noFill/>
        </p:spPr>
        <p:txBody>
          <a:bodyPr wrap="none" rtlCol="0">
            <a:spAutoFit/>
          </a:bodyPr>
          <a:lstStyle/>
          <a:p>
            <a:r>
              <a:rPr lang="zh-CN" altLang="en-US" sz="2400" dirty="0"/>
              <a:t>第三行乘以</a:t>
            </a:r>
            <a:r>
              <a:rPr lang="en-US" altLang="zh-CN" sz="2400" dirty="0"/>
              <a:t>-1</a:t>
            </a:r>
            <a:r>
              <a:rPr lang="zh-CN" altLang="en-US" sz="2400" dirty="0"/>
              <a:t>加上第一行</a:t>
            </a:r>
          </a:p>
        </p:txBody>
      </p:sp>
      <p:graphicFrame>
        <p:nvGraphicFramePr>
          <p:cNvPr id="17" name="表格 16">
            <a:extLst>
              <a:ext uri="{FF2B5EF4-FFF2-40B4-BE49-F238E27FC236}">
                <a16:creationId xmlns:a16="http://schemas.microsoft.com/office/drawing/2014/main" id="{AF2278FB-AE85-4BD6-B13B-6B078DC52D3D}"/>
              </a:ext>
            </a:extLst>
          </p:cNvPr>
          <p:cNvGraphicFramePr>
            <a:graphicFrameLocks noGrp="1"/>
          </p:cNvGraphicFramePr>
          <p:nvPr>
            <p:extLst>
              <p:ext uri="{D42A27DB-BD31-4B8C-83A1-F6EECF244321}">
                <p14:modId xmlns:p14="http://schemas.microsoft.com/office/powerpoint/2010/main" val="1291675508"/>
              </p:ext>
            </p:extLst>
          </p:nvPr>
        </p:nvGraphicFramePr>
        <p:xfrm>
          <a:off x="1821974" y="4384231"/>
          <a:ext cx="7147424" cy="545304"/>
        </p:xfrm>
        <a:graphic>
          <a:graphicData uri="http://schemas.openxmlformats.org/drawingml/2006/table">
            <a:tbl>
              <a:tblPr firstRow="1" bandRow="1">
                <a:tableStyleId>{5940675A-B579-460E-94D1-54222C63F5DA}</a:tableStyleId>
              </a:tblPr>
              <a:tblGrid>
                <a:gridCol w="893428">
                  <a:extLst>
                    <a:ext uri="{9D8B030D-6E8A-4147-A177-3AD203B41FA5}">
                      <a16:colId xmlns:a16="http://schemas.microsoft.com/office/drawing/2014/main" val="3271489542"/>
                    </a:ext>
                  </a:extLst>
                </a:gridCol>
                <a:gridCol w="893428">
                  <a:extLst>
                    <a:ext uri="{9D8B030D-6E8A-4147-A177-3AD203B41FA5}">
                      <a16:colId xmlns:a16="http://schemas.microsoft.com/office/drawing/2014/main" val="1995375343"/>
                    </a:ext>
                  </a:extLst>
                </a:gridCol>
                <a:gridCol w="893428">
                  <a:extLst>
                    <a:ext uri="{9D8B030D-6E8A-4147-A177-3AD203B41FA5}">
                      <a16:colId xmlns:a16="http://schemas.microsoft.com/office/drawing/2014/main" val="4238196532"/>
                    </a:ext>
                  </a:extLst>
                </a:gridCol>
                <a:gridCol w="893428">
                  <a:extLst>
                    <a:ext uri="{9D8B030D-6E8A-4147-A177-3AD203B41FA5}">
                      <a16:colId xmlns:a16="http://schemas.microsoft.com/office/drawing/2014/main" val="1570055186"/>
                    </a:ext>
                  </a:extLst>
                </a:gridCol>
                <a:gridCol w="893428">
                  <a:extLst>
                    <a:ext uri="{9D8B030D-6E8A-4147-A177-3AD203B41FA5}">
                      <a16:colId xmlns:a16="http://schemas.microsoft.com/office/drawing/2014/main" val="395193962"/>
                    </a:ext>
                  </a:extLst>
                </a:gridCol>
                <a:gridCol w="893428">
                  <a:extLst>
                    <a:ext uri="{9D8B030D-6E8A-4147-A177-3AD203B41FA5}">
                      <a16:colId xmlns:a16="http://schemas.microsoft.com/office/drawing/2014/main" val="502874068"/>
                    </a:ext>
                  </a:extLst>
                </a:gridCol>
                <a:gridCol w="893428">
                  <a:extLst>
                    <a:ext uri="{9D8B030D-6E8A-4147-A177-3AD203B41FA5}">
                      <a16:colId xmlns:a16="http://schemas.microsoft.com/office/drawing/2014/main" val="1874104327"/>
                    </a:ext>
                  </a:extLst>
                </a:gridCol>
                <a:gridCol w="893428">
                  <a:extLst>
                    <a:ext uri="{9D8B030D-6E8A-4147-A177-3AD203B41FA5}">
                      <a16:colId xmlns:a16="http://schemas.microsoft.com/office/drawing/2014/main" val="2879244326"/>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10</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6905602"/>
                  </a:ext>
                </a:extLst>
              </a:tr>
            </a:tbl>
          </a:graphicData>
        </a:graphic>
      </p:graphicFrame>
      <p:graphicFrame>
        <p:nvGraphicFramePr>
          <p:cNvPr id="7" name="表格 6">
            <a:extLst>
              <a:ext uri="{FF2B5EF4-FFF2-40B4-BE49-F238E27FC236}">
                <a16:creationId xmlns:a16="http://schemas.microsoft.com/office/drawing/2014/main" id="{98EC4C1E-3329-4085-A72B-A7FB3866F1A3}"/>
              </a:ext>
            </a:extLst>
          </p:cNvPr>
          <p:cNvGraphicFramePr>
            <a:graphicFrameLocks noGrp="1"/>
          </p:cNvGraphicFramePr>
          <p:nvPr>
            <p:extLst>
              <p:ext uri="{D42A27DB-BD31-4B8C-83A1-F6EECF244321}">
                <p14:modId xmlns:p14="http://schemas.microsoft.com/office/powerpoint/2010/main" val="185945613"/>
              </p:ext>
            </p:extLst>
          </p:nvPr>
        </p:nvGraphicFramePr>
        <p:xfrm>
          <a:off x="1856656" y="2659680"/>
          <a:ext cx="7119936" cy="54530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3107545818"/>
                    </a:ext>
                  </a:extLst>
                </a:gridCol>
                <a:gridCol w="889992">
                  <a:extLst>
                    <a:ext uri="{9D8B030D-6E8A-4147-A177-3AD203B41FA5}">
                      <a16:colId xmlns:a16="http://schemas.microsoft.com/office/drawing/2014/main" val="3440653049"/>
                    </a:ext>
                  </a:extLst>
                </a:gridCol>
                <a:gridCol w="889992">
                  <a:extLst>
                    <a:ext uri="{9D8B030D-6E8A-4147-A177-3AD203B41FA5}">
                      <a16:colId xmlns:a16="http://schemas.microsoft.com/office/drawing/2014/main" val="635310804"/>
                    </a:ext>
                  </a:extLst>
                </a:gridCol>
                <a:gridCol w="889992">
                  <a:extLst>
                    <a:ext uri="{9D8B030D-6E8A-4147-A177-3AD203B41FA5}">
                      <a16:colId xmlns:a16="http://schemas.microsoft.com/office/drawing/2014/main" val="3557678297"/>
                    </a:ext>
                  </a:extLst>
                </a:gridCol>
                <a:gridCol w="889992">
                  <a:extLst>
                    <a:ext uri="{9D8B030D-6E8A-4147-A177-3AD203B41FA5}">
                      <a16:colId xmlns:a16="http://schemas.microsoft.com/office/drawing/2014/main" val="3256573438"/>
                    </a:ext>
                  </a:extLst>
                </a:gridCol>
                <a:gridCol w="889992">
                  <a:extLst>
                    <a:ext uri="{9D8B030D-6E8A-4147-A177-3AD203B41FA5}">
                      <a16:colId xmlns:a16="http://schemas.microsoft.com/office/drawing/2014/main" val="2357443416"/>
                    </a:ext>
                  </a:extLst>
                </a:gridCol>
                <a:gridCol w="889992">
                  <a:extLst>
                    <a:ext uri="{9D8B030D-6E8A-4147-A177-3AD203B41FA5}">
                      <a16:colId xmlns:a16="http://schemas.microsoft.com/office/drawing/2014/main" val="4140849304"/>
                    </a:ext>
                  </a:extLst>
                </a:gridCol>
                <a:gridCol w="889992">
                  <a:extLst>
                    <a:ext uri="{9D8B030D-6E8A-4147-A177-3AD203B41FA5}">
                      <a16:colId xmlns:a16="http://schemas.microsoft.com/office/drawing/2014/main" val="797993628"/>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690173083"/>
                  </a:ext>
                </a:extLst>
              </a:tr>
            </a:tbl>
          </a:graphicData>
        </a:graphic>
      </p:graphicFrame>
      <p:graphicFrame>
        <p:nvGraphicFramePr>
          <p:cNvPr id="18" name="表格 17">
            <a:extLst>
              <a:ext uri="{FF2B5EF4-FFF2-40B4-BE49-F238E27FC236}">
                <a16:creationId xmlns:a16="http://schemas.microsoft.com/office/drawing/2014/main" id="{59E736C3-39F6-4C70-BB85-232719ED2F78}"/>
              </a:ext>
            </a:extLst>
          </p:cNvPr>
          <p:cNvGraphicFramePr>
            <a:graphicFrameLocks noGrp="1"/>
          </p:cNvGraphicFramePr>
          <p:nvPr>
            <p:extLst>
              <p:ext uri="{D42A27DB-BD31-4B8C-83A1-F6EECF244321}">
                <p14:modId xmlns:p14="http://schemas.microsoft.com/office/powerpoint/2010/main" val="2189486502"/>
              </p:ext>
            </p:extLst>
          </p:nvPr>
        </p:nvGraphicFramePr>
        <p:xfrm>
          <a:off x="1845866" y="4929532"/>
          <a:ext cx="7119936" cy="54530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3107545818"/>
                    </a:ext>
                  </a:extLst>
                </a:gridCol>
                <a:gridCol w="889992">
                  <a:extLst>
                    <a:ext uri="{9D8B030D-6E8A-4147-A177-3AD203B41FA5}">
                      <a16:colId xmlns:a16="http://schemas.microsoft.com/office/drawing/2014/main" val="3440653049"/>
                    </a:ext>
                  </a:extLst>
                </a:gridCol>
                <a:gridCol w="889992">
                  <a:extLst>
                    <a:ext uri="{9D8B030D-6E8A-4147-A177-3AD203B41FA5}">
                      <a16:colId xmlns:a16="http://schemas.microsoft.com/office/drawing/2014/main" val="635310804"/>
                    </a:ext>
                  </a:extLst>
                </a:gridCol>
                <a:gridCol w="889992">
                  <a:extLst>
                    <a:ext uri="{9D8B030D-6E8A-4147-A177-3AD203B41FA5}">
                      <a16:colId xmlns:a16="http://schemas.microsoft.com/office/drawing/2014/main" val="3557678297"/>
                    </a:ext>
                  </a:extLst>
                </a:gridCol>
                <a:gridCol w="889992">
                  <a:extLst>
                    <a:ext uri="{9D8B030D-6E8A-4147-A177-3AD203B41FA5}">
                      <a16:colId xmlns:a16="http://schemas.microsoft.com/office/drawing/2014/main" val="3256573438"/>
                    </a:ext>
                  </a:extLst>
                </a:gridCol>
                <a:gridCol w="889992">
                  <a:extLst>
                    <a:ext uri="{9D8B030D-6E8A-4147-A177-3AD203B41FA5}">
                      <a16:colId xmlns:a16="http://schemas.microsoft.com/office/drawing/2014/main" val="2357443416"/>
                    </a:ext>
                  </a:extLst>
                </a:gridCol>
                <a:gridCol w="889992">
                  <a:extLst>
                    <a:ext uri="{9D8B030D-6E8A-4147-A177-3AD203B41FA5}">
                      <a16:colId xmlns:a16="http://schemas.microsoft.com/office/drawing/2014/main" val="4140849304"/>
                    </a:ext>
                  </a:extLst>
                </a:gridCol>
                <a:gridCol w="889992">
                  <a:extLst>
                    <a:ext uri="{9D8B030D-6E8A-4147-A177-3AD203B41FA5}">
                      <a16:colId xmlns:a16="http://schemas.microsoft.com/office/drawing/2014/main" val="797993628"/>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solidFill>
                      <a:schemeClr val="bg1"/>
                    </a:solidFill>
                  </a:tcP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3690173083"/>
                  </a:ext>
                </a:extLst>
              </a:tr>
            </a:tbl>
          </a:graphicData>
        </a:graphic>
      </p:graphicFrame>
      <p:graphicFrame>
        <p:nvGraphicFramePr>
          <p:cNvPr id="19" name="表格 18">
            <a:extLst>
              <a:ext uri="{FF2B5EF4-FFF2-40B4-BE49-F238E27FC236}">
                <a16:creationId xmlns:a16="http://schemas.microsoft.com/office/drawing/2014/main" id="{DC0AD5DD-7401-4763-8D22-9988E4354E1A}"/>
              </a:ext>
            </a:extLst>
          </p:cNvPr>
          <p:cNvGraphicFramePr>
            <a:graphicFrameLocks noGrp="1"/>
          </p:cNvGraphicFramePr>
          <p:nvPr>
            <p:extLst>
              <p:ext uri="{D42A27DB-BD31-4B8C-83A1-F6EECF244321}">
                <p14:modId xmlns:p14="http://schemas.microsoft.com/office/powerpoint/2010/main" val="1137691795"/>
              </p:ext>
            </p:extLst>
          </p:nvPr>
        </p:nvGraphicFramePr>
        <p:xfrm>
          <a:off x="1837130" y="2659680"/>
          <a:ext cx="7147424" cy="545304"/>
        </p:xfrm>
        <a:graphic>
          <a:graphicData uri="http://schemas.openxmlformats.org/drawingml/2006/table">
            <a:tbl>
              <a:tblPr firstRow="1" bandRow="1">
                <a:tableStyleId>{5940675A-B579-460E-94D1-54222C63F5DA}</a:tableStyleId>
              </a:tblPr>
              <a:tblGrid>
                <a:gridCol w="893428">
                  <a:extLst>
                    <a:ext uri="{9D8B030D-6E8A-4147-A177-3AD203B41FA5}">
                      <a16:colId xmlns:a16="http://schemas.microsoft.com/office/drawing/2014/main" val="3271489542"/>
                    </a:ext>
                  </a:extLst>
                </a:gridCol>
                <a:gridCol w="893428">
                  <a:extLst>
                    <a:ext uri="{9D8B030D-6E8A-4147-A177-3AD203B41FA5}">
                      <a16:colId xmlns:a16="http://schemas.microsoft.com/office/drawing/2014/main" val="1995375343"/>
                    </a:ext>
                  </a:extLst>
                </a:gridCol>
                <a:gridCol w="893428">
                  <a:extLst>
                    <a:ext uri="{9D8B030D-6E8A-4147-A177-3AD203B41FA5}">
                      <a16:colId xmlns:a16="http://schemas.microsoft.com/office/drawing/2014/main" val="4238196532"/>
                    </a:ext>
                  </a:extLst>
                </a:gridCol>
                <a:gridCol w="893428">
                  <a:extLst>
                    <a:ext uri="{9D8B030D-6E8A-4147-A177-3AD203B41FA5}">
                      <a16:colId xmlns:a16="http://schemas.microsoft.com/office/drawing/2014/main" val="1570055186"/>
                    </a:ext>
                  </a:extLst>
                </a:gridCol>
                <a:gridCol w="893428">
                  <a:extLst>
                    <a:ext uri="{9D8B030D-6E8A-4147-A177-3AD203B41FA5}">
                      <a16:colId xmlns:a16="http://schemas.microsoft.com/office/drawing/2014/main" val="395193962"/>
                    </a:ext>
                  </a:extLst>
                </a:gridCol>
                <a:gridCol w="893428">
                  <a:extLst>
                    <a:ext uri="{9D8B030D-6E8A-4147-A177-3AD203B41FA5}">
                      <a16:colId xmlns:a16="http://schemas.microsoft.com/office/drawing/2014/main" val="502874068"/>
                    </a:ext>
                  </a:extLst>
                </a:gridCol>
                <a:gridCol w="893428">
                  <a:extLst>
                    <a:ext uri="{9D8B030D-6E8A-4147-A177-3AD203B41FA5}">
                      <a16:colId xmlns:a16="http://schemas.microsoft.com/office/drawing/2014/main" val="1874104327"/>
                    </a:ext>
                  </a:extLst>
                </a:gridCol>
                <a:gridCol w="893428">
                  <a:extLst>
                    <a:ext uri="{9D8B030D-6E8A-4147-A177-3AD203B41FA5}">
                      <a16:colId xmlns:a16="http://schemas.microsoft.com/office/drawing/2014/main" val="2879244326"/>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10</a:t>
                      </a:r>
                      <a:endParaRPr lang="zh-CN" altLang="en-US" sz="24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56905602"/>
                  </a:ext>
                </a:extLst>
              </a:tr>
            </a:tbl>
          </a:graphicData>
        </a:graphic>
      </p:graphicFrame>
      <p:sp>
        <p:nvSpPr>
          <p:cNvPr id="20" name="文本框 19">
            <a:extLst>
              <a:ext uri="{FF2B5EF4-FFF2-40B4-BE49-F238E27FC236}">
                <a16:creationId xmlns:a16="http://schemas.microsoft.com/office/drawing/2014/main" id="{738433D3-7C5E-4928-826F-0FFFF92ED29C}"/>
              </a:ext>
            </a:extLst>
          </p:cNvPr>
          <p:cNvSpPr txBox="1"/>
          <p:nvPr/>
        </p:nvSpPr>
        <p:spPr>
          <a:xfrm>
            <a:off x="92949" y="1156062"/>
            <a:ext cx="4500011" cy="954107"/>
          </a:xfrm>
          <a:prstGeom prst="rect">
            <a:avLst/>
          </a:prstGeom>
          <a:noFill/>
        </p:spPr>
        <p:txBody>
          <a:bodyPr wrap="square" rtlCol="0">
            <a:spAutoFit/>
          </a:bodyPr>
          <a:lstStyle/>
          <a:p>
            <a:r>
              <a:rPr lang="en-US" altLang="zh-CN" sz="2800" dirty="0"/>
              <a:t>3. </a:t>
            </a:r>
            <a:r>
              <a:rPr lang="zh-CN" altLang="en-US" sz="2800" dirty="0"/>
              <a:t>第一阶段：求解线性规划问题</a:t>
            </a:r>
            <a:r>
              <a:rPr lang="en-US" altLang="zh-CN" sz="2800" dirty="0"/>
              <a:t>C</a:t>
            </a:r>
          </a:p>
        </p:txBody>
      </p:sp>
    </p:spTree>
    <p:extLst>
      <p:ext uri="{BB962C8B-B14F-4D97-AF65-F5344CB8AC3E}">
        <p14:creationId xmlns:p14="http://schemas.microsoft.com/office/powerpoint/2010/main" val="3670435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xit" presetSubtype="4" fill="hold" nodeType="clickEffect">
                                  <p:stCondLst>
                                    <p:cond delay="0"/>
                                  </p:stCondLst>
                                  <p:childTnLst>
                                    <p:anim calcmode="lin" valueType="num">
                                      <p:cBhvr additive="base">
                                        <p:cTn id="26" dur="500"/>
                                        <p:tgtEl>
                                          <p:spTgt spid="7"/>
                                        </p:tgtEl>
                                        <p:attrNameLst>
                                          <p:attrName>ppt_y</p:attrName>
                                        </p:attrNameLst>
                                      </p:cBhvr>
                                      <p:tavLst>
                                        <p:tav tm="0">
                                          <p:val>
                                            <p:strVal val="#ppt_y"/>
                                          </p:val>
                                        </p:tav>
                                        <p:tav tm="100000">
                                          <p:val>
                                            <p:strVal val="#ppt_y+#ppt_h*1.125000"/>
                                          </p:val>
                                        </p:tav>
                                      </p:tavLst>
                                    </p:anim>
                                    <p:animEffect transition="out" filter="wipe(down)">
                                      <p:cBhvr>
                                        <p:cTn id="27" dur="500"/>
                                        <p:tgtEl>
                                          <p:spTgt spid="7"/>
                                        </p:tgtEl>
                                      </p:cBhvr>
                                    </p:animEffect>
                                    <p:set>
                                      <p:cBhvr>
                                        <p:cTn id="28" dur="1" fill="hold">
                                          <p:stCondLst>
                                            <p:cond delay="499"/>
                                          </p:stCondLst>
                                        </p:cTn>
                                        <p:tgtEl>
                                          <p:spTgt spid="7"/>
                                        </p:tgtEl>
                                        <p:attrNameLst>
                                          <p:attrName>style.visibility</p:attrName>
                                        </p:attrNameLst>
                                      </p:cBhvr>
                                      <p:to>
                                        <p:strVal val="hidden"/>
                                      </p:to>
                                    </p:set>
                                  </p:childTnLst>
                                </p:cTn>
                              </p:par>
                            </p:childTnLst>
                          </p:cTn>
                        </p:par>
                        <p:par>
                          <p:cTn id="29" fill="hold">
                            <p:stCondLst>
                              <p:cond delay="500"/>
                            </p:stCondLst>
                            <p:childTnLst>
                              <p:par>
                                <p:cTn id="30" presetID="12" presetClass="entr" presetSubtype="4" fill="hold" nodeType="after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500"/>
                                        <p:tgtEl>
                                          <p:spTgt spid="18"/>
                                        </p:tgtEl>
                                        <p:attrNameLst>
                                          <p:attrName>ppt_y</p:attrName>
                                        </p:attrNameLst>
                                      </p:cBhvr>
                                      <p:tavLst>
                                        <p:tav tm="0">
                                          <p:val>
                                            <p:strVal val="#ppt_y+#ppt_h*1.125000"/>
                                          </p:val>
                                        </p:tav>
                                        <p:tav tm="100000">
                                          <p:val>
                                            <p:strVal val="#ppt_y"/>
                                          </p:val>
                                        </p:tav>
                                      </p:tavLst>
                                    </p:anim>
                                    <p:animEffect transition="in" filter="wipe(up)">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down)">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2" presetClass="exit" presetSubtype="4" fill="hold" nodeType="clickEffect">
                                  <p:stCondLst>
                                    <p:cond delay="0"/>
                                  </p:stCondLst>
                                  <p:childTnLst>
                                    <p:anim calcmode="lin" valueType="num">
                                      <p:cBhvr additive="base">
                                        <p:cTn id="48" dur="500"/>
                                        <p:tgtEl>
                                          <p:spTgt spid="19"/>
                                        </p:tgtEl>
                                        <p:attrNameLst>
                                          <p:attrName>ppt_y</p:attrName>
                                        </p:attrNameLst>
                                      </p:cBhvr>
                                      <p:tavLst>
                                        <p:tav tm="0">
                                          <p:val>
                                            <p:strVal val="#ppt_y"/>
                                          </p:val>
                                        </p:tav>
                                        <p:tav tm="100000">
                                          <p:val>
                                            <p:strVal val="#ppt_y+#ppt_h*1.125000"/>
                                          </p:val>
                                        </p:tav>
                                      </p:tavLst>
                                    </p:anim>
                                    <p:animEffect transition="out" filter="wipe(down)">
                                      <p:cBhvr>
                                        <p:cTn id="49" dur="500"/>
                                        <p:tgtEl>
                                          <p:spTgt spid="19"/>
                                        </p:tgtEl>
                                      </p:cBhvr>
                                    </p:animEffect>
                                    <p:set>
                                      <p:cBhvr>
                                        <p:cTn id="50" dur="1" fill="hold">
                                          <p:stCondLst>
                                            <p:cond delay="499"/>
                                          </p:stCondLst>
                                        </p:cTn>
                                        <p:tgtEl>
                                          <p:spTgt spid="19"/>
                                        </p:tgtEl>
                                        <p:attrNameLst>
                                          <p:attrName>style.visibility</p:attrName>
                                        </p:attrNameLst>
                                      </p:cBhvr>
                                      <p:to>
                                        <p:strVal val="hidden"/>
                                      </p:to>
                                    </p:set>
                                  </p:childTnLst>
                                </p:cTn>
                              </p:par>
                            </p:childTnLst>
                          </p:cTn>
                        </p:par>
                        <p:par>
                          <p:cTn id="51" fill="hold">
                            <p:stCondLst>
                              <p:cond delay="500"/>
                            </p:stCondLst>
                            <p:childTnLst>
                              <p:par>
                                <p:cTn id="52" presetID="12" presetClass="entr" presetSubtype="4" fill="hold" nodeType="after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500"/>
                                        <p:tgtEl>
                                          <p:spTgt spid="17"/>
                                        </p:tgtEl>
                                        <p:attrNameLst>
                                          <p:attrName>ppt_y</p:attrName>
                                        </p:attrNameLst>
                                      </p:cBhvr>
                                      <p:tavLst>
                                        <p:tav tm="0">
                                          <p:val>
                                            <p:strVal val="#ppt_y+#ppt_h*1.125000"/>
                                          </p:val>
                                        </p:tav>
                                        <p:tav tm="100000">
                                          <p:val>
                                            <p:strVal val="#ppt_y"/>
                                          </p:val>
                                        </p:tav>
                                      </p:tavLst>
                                    </p:anim>
                                    <p:animEffect transition="in" filter="wipe(up)">
                                      <p:cBhvr>
                                        <p:cTn id="5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1" grpId="0"/>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49</a:t>
            </a:fld>
            <a:endParaRPr lang="en-US" altLang="zh-CN" dirty="0"/>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836324905"/>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836324905"/>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endParaRPr lang="zh-CN"/>
                        </a:p>
                      </a:txBody>
                      <a:tcPr anchor="ctr">
                        <a:blipFill>
                          <a:blip r:embed="rId3"/>
                          <a:stretch>
                            <a:fillRect l="-901370" t="-559" r="-101370" b="-209497"/>
                          </a:stretch>
                        </a:blipFill>
                      </a:tcPr>
                    </a:tc>
                    <a:tc rowSpan="2">
                      <a:txBody>
                        <a:bodyPr/>
                        <a:lstStyle/>
                        <a:p>
                          <a:endParaRPr lang="zh-CN"/>
                        </a:p>
                      </a:txBody>
                      <a:tcPr anchor="ctr">
                        <a:blipFill>
                          <a:blip r:embed="rId3"/>
                          <a:stretch>
                            <a:fillRect l="-1001370" t="-559" r="-1370" b="-209497"/>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x6</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17778"/>
                          </a:stretch>
                        </a:blipFill>
                      </a:tcPr>
                    </a:tc>
                    <a:tc hMerge="1">
                      <a:txBody>
                        <a:bodyPr/>
                        <a:lstStyle/>
                        <a:p>
                          <a:pPr algn="ctr"/>
                          <a:endParaRPr lang="zh-CN" altLang="en-US" sz="240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D4931D2-A0D4-4C7B-8DE8-7A12F803ABC1}"/>
                  </a:ext>
                </a:extLst>
              </p:cNvPr>
              <p:cNvSpPr txBox="1"/>
              <p:nvPr/>
            </p:nvSpPr>
            <p:spPr>
              <a:xfrm>
                <a:off x="772107" y="2191511"/>
                <a:ext cx="3141694" cy="830997"/>
              </a:xfrm>
              <a:prstGeom prst="rect">
                <a:avLst/>
              </a:prstGeom>
              <a:noFill/>
            </p:spPr>
            <p:txBody>
              <a:bodyPr wrap="none" rtlCol="0">
                <a:spAutoFit/>
              </a:bodyPr>
              <a:lstStyle/>
              <a:p>
                <a:r>
                  <a:rPr lang="zh-CN" altLang="en-US" sz="2400" dirty="0"/>
                  <a:t>求基本可行解，填写</a:t>
                </a:r>
                <a14:m>
                  <m:oMath xmlns:m="http://schemas.openxmlformats.org/officeDocument/2006/math">
                    <m:r>
                      <a:rPr lang="zh-CN" altLang="en-US" sz="2400">
                        <a:latin typeface="Cambria Math" panose="02040503050406030204" pitchFamily="18" charset="0"/>
                      </a:rPr>
                      <m:t>𝜎</m:t>
                    </m:r>
                  </m:oMath>
                </a14:m>
                <a:endParaRPr lang="zh-CN" altLang="en-US" sz="2400" dirty="0"/>
              </a:p>
              <a:p>
                <a:r>
                  <a:rPr lang="zh-CN" altLang="en-US" sz="2400" dirty="0"/>
                  <a:t>和</a:t>
                </a:r>
                <a:r>
                  <a:rPr lang="en-US" altLang="zh-CN" sz="2400" dirty="0"/>
                  <a:t>q</a:t>
                </a:r>
                <a:r>
                  <a:rPr lang="zh-CN" altLang="en-US" sz="2400" dirty="0"/>
                  <a:t>的值</a:t>
                </a:r>
              </a:p>
            </p:txBody>
          </p:sp>
        </mc:Choice>
        <mc:Fallback xmlns="">
          <p:sp>
            <p:nvSpPr>
              <p:cNvPr id="14" name="文本框 13">
                <a:extLst>
                  <a:ext uri="{FF2B5EF4-FFF2-40B4-BE49-F238E27FC236}">
                    <a16:creationId xmlns:a16="http://schemas.microsoft.com/office/drawing/2014/main" id="{9D4931D2-A0D4-4C7B-8DE8-7A12F803ABC1}"/>
                  </a:ext>
                </a:extLst>
              </p:cNvPr>
              <p:cNvSpPr txBox="1">
                <a:spLocks noRot="1" noChangeAspect="1" noMove="1" noResize="1" noEditPoints="1" noAdjustHandles="1" noChangeArrowheads="1" noChangeShapeType="1" noTextEdit="1"/>
              </p:cNvSpPr>
              <p:nvPr/>
            </p:nvSpPr>
            <p:spPr>
              <a:xfrm>
                <a:off x="772107" y="2191511"/>
                <a:ext cx="3141694" cy="830997"/>
              </a:xfrm>
              <a:prstGeom prst="rect">
                <a:avLst/>
              </a:prstGeom>
              <a:blipFill>
                <a:blip r:embed="rId4"/>
                <a:stretch>
                  <a:fillRect l="-3107" t="-5109" b="-15328"/>
                </a:stretch>
              </a:blipFill>
            </p:spPr>
            <p:txBody>
              <a:bodyPr/>
              <a:lstStyle/>
              <a:p>
                <a:r>
                  <a:rPr lang="zh-CN" altLang="en-US">
                    <a:noFill/>
                  </a:rPr>
                  <a:t> </a:t>
                </a:r>
              </a:p>
            </p:txBody>
          </p:sp>
        </mc:Fallback>
      </mc:AlternateContent>
      <p:graphicFrame>
        <p:nvGraphicFramePr>
          <p:cNvPr id="16" name="对象 15">
            <a:extLst>
              <a:ext uri="{FF2B5EF4-FFF2-40B4-BE49-F238E27FC236}">
                <a16:creationId xmlns:a16="http://schemas.microsoft.com/office/drawing/2014/main" id="{32B5E466-EFC5-4E89-8741-8215EAA01BC3}"/>
              </a:ext>
            </a:extLst>
          </p:cNvPr>
          <p:cNvGraphicFramePr>
            <a:graphicFrameLocks noChangeAspect="1"/>
          </p:cNvGraphicFramePr>
          <p:nvPr>
            <p:extLst>
              <p:ext uri="{D42A27DB-BD31-4B8C-83A1-F6EECF244321}">
                <p14:modId xmlns:p14="http://schemas.microsoft.com/office/powerpoint/2010/main" val="4100157441"/>
              </p:ext>
            </p:extLst>
          </p:nvPr>
        </p:nvGraphicFramePr>
        <p:xfrm>
          <a:off x="5060950" y="1149350"/>
          <a:ext cx="2789238" cy="530225"/>
        </p:xfrm>
        <a:graphic>
          <a:graphicData uri="http://schemas.openxmlformats.org/presentationml/2006/ole">
            <mc:AlternateContent xmlns:mc="http://schemas.openxmlformats.org/markup-compatibility/2006">
              <mc:Choice xmlns:v="urn:schemas-microsoft-com:vml" Requires="v">
                <p:oleObj name="Equation" r:id="rId5" imgW="1473120" imgH="279360" progId="Equation.DSMT4">
                  <p:embed/>
                </p:oleObj>
              </mc:Choice>
              <mc:Fallback>
                <p:oleObj name="Equation" r:id="rId5" imgW="1473120" imgH="279360" progId="Equation.DSMT4">
                  <p:embed/>
                  <p:pic>
                    <p:nvPicPr>
                      <p:cNvPr id="10" name="对象 9">
                        <a:extLst>
                          <a:ext uri="{FF2B5EF4-FFF2-40B4-BE49-F238E27FC236}">
                            <a16:creationId xmlns:a16="http://schemas.microsoft.com/office/drawing/2014/main" id="{1685161E-713F-455E-B350-BB2A957C4282}"/>
                          </a:ext>
                        </a:extLst>
                      </p:cNvPr>
                      <p:cNvPicPr/>
                      <p:nvPr/>
                    </p:nvPicPr>
                    <p:blipFill>
                      <a:blip r:embed="rId6"/>
                      <a:stretch>
                        <a:fillRect/>
                      </a:stretch>
                    </p:blipFill>
                    <p:spPr>
                      <a:xfrm>
                        <a:off x="5060950" y="1149350"/>
                        <a:ext cx="2789238" cy="530225"/>
                      </a:xfrm>
                      <a:prstGeom prst="rect">
                        <a:avLst/>
                      </a:prstGeom>
                    </p:spPr>
                  </p:pic>
                </p:oleObj>
              </mc:Fallback>
            </mc:AlternateContent>
          </a:graphicData>
        </a:graphic>
      </p:graphicFrame>
      <p:sp>
        <p:nvSpPr>
          <p:cNvPr id="20" name="矩形 19">
            <a:extLst>
              <a:ext uri="{FF2B5EF4-FFF2-40B4-BE49-F238E27FC236}">
                <a16:creationId xmlns:a16="http://schemas.microsoft.com/office/drawing/2014/main" id="{77D63938-1F3C-4C87-AB5B-902209BFFB53}"/>
              </a:ext>
            </a:extLst>
          </p:cNvPr>
          <p:cNvSpPr/>
          <p:nvPr/>
        </p:nvSpPr>
        <p:spPr>
          <a:xfrm>
            <a:off x="5049838" y="1836190"/>
            <a:ext cx="3384376" cy="461665"/>
          </a:xfrm>
          <a:prstGeom prst="rect">
            <a:avLst/>
          </a:prstGeom>
          <a:solidFill>
            <a:srgbClr val="FFFF66"/>
          </a:solidFill>
          <a:ln>
            <a:solidFill>
              <a:schemeClr val="tx1"/>
            </a:solidFill>
          </a:ln>
        </p:spPr>
        <p:txBody>
          <a:bodyPr wrap="square">
            <a:spAutoFit/>
          </a:bodyPr>
          <a:lstStyle/>
          <a:p>
            <a:r>
              <a:rPr lang="zh-CN" altLang="en-US" sz="2400" b="1" dirty="0">
                <a:solidFill>
                  <a:srgbClr val="C00000"/>
                </a:solidFill>
              </a:rPr>
              <a:t>选择</a:t>
            </a:r>
            <a:r>
              <a:rPr lang="en-US" altLang="zh-CN" sz="2400" b="1" dirty="0">
                <a:solidFill>
                  <a:srgbClr val="C00000"/>
                </a:solidFill>
              </a:rPr>
              <a:t>X2</a:t>
            </a:r>
            <a:r>
              <a:rPr lang="zh-CN" altLang="en-US" sz="2400" b="1" dirty="0">
                <a:solidFill>
                  <a:srgbClr val="C00000"/>
                </a:solidFill>
              </a:rPr>
              <a:t>入基，</a:t>
            </a:r>
            <a:r>
              <a:rPr lang="en-US" altLang="zh-CN" sz="2400" b="1" dirty="0">
                <a:solidFill>
                  <a:srgbClr val="C00000"/>
                </a:solidFill>
              </a:rPr>
              <a:t>X6</a:t>
            </a:r>
            <a:r>
              <a:rPr lang="zh-CN" altLang="en-US" sz="2400" b="1" dirty="0">
                <a:solidFill>
                  <a:srgbClr val="C00000"/>
                </a:solidFill>
              </a:rPr>
              <a:t>离基</a:t>
            </a:r>
            <a:endParaRPr lang="en-US" altLang="zh-CN" sz="2400" b="1" dirty="0">
              <a:solidFill>
                <a:srgbClr val="C00000"/>
              </a:solidFill>
            </a:endParaRPr>
          </a:p>
        </p:txBody>
      </p:sp>
      <p:sp>
        <p:nvSpPr>
          <p:cNvPr id="21" name="文本框 20">
            <a:extLst>
              <a:ext uri="{FF2B5EF4-FFF2-40B4-BE49-F238E27FC236}">
                <a16:creationId xmlns:a16="http://schemas.microsoft.com/office/drawing/2014/main" id="{8072114B-618F-4814-B2D0-D51F444E25CD}"/>
              </a:ext>
            </a:extLst>
          </p:cNvPr>
          <p:cNvSpPr txBox="1"/>
          <p:nvPr/>
        </p:nvSpPr>
        <p:spPr>
          <a:xfrm>
            <a:off x="92949" y="1156062"/>
            <a:ext cx="4500011" cy="954107"/>
          </a:xfrm>
          <a:prstGeom prst="rect">
            <a:avLst/>
          </a:prstGeom>
          <a:noFill/>
        </p:spPr>
        <p:txBody>
          <a:bodyPr wrap="square" rtlCol="0">
            <a:spAutoFit/>
          </a:bodyPr>
          <a:lstStyle/>
          <a:p>
            <a:r>
              <a:rPr lang="en-US" altLang="zh-CN" sz="2800" dirty="0"/>
              <a:t>3. </a:t>
            </a:r>
            <a:r>
              <a:rPr lang="zh-CN" altLang="en-US" sz="2800" dirty="0"/>
              <a:t>第一阶段：求解线性规划问题</a:t>
            </a:r>
            <a:r>
              <a:rPr lang="en-US" altLang="zh-CN" sz="2800" dirty="0"/>
              <a:t>C</a:t>
            </a:r>
          </a:p>
        </p:txBody>
      </p:sp>
    </p:spTree>
    <p:extLst>
      <p:ext uri="{BB962C8B-B14F-4D97-AF65-F5344CB8AC3E}">
        <p14:creationId xmlns:p14="http://schemas.microsoft.com/office/powerpoint/2010/main" val="380645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par>
                                <p:cTn id="12" presetID="22" presetClass="entr" presetSubtype="4"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500"/>
                                        <p:tgtEl>
                                          <p:spTgt spid="16"/>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fill="hold"/>
                                        <p:tgtEl>
                                          <p:spTgt spid="20"/>
                                        </p:tgtEl>
                                        <p:attrNameLst>
                                          <p:attrName>ppt_x</p:attrName>
                                        </p:attrNameLst>
                                      </p:cBhvr>
                                      <p:tavLst>
                                        <p:tav tm="0">
                                          <p:val>
                                            <p:strVal val="#ppt_x"/>
                                          </p:val>
                                        </p:tav>
                                        <p:tav tm="100000">
                                          <p:val>
                                            <p:strVal val="#ppt_x"/>
                                          </p:val>
                                        </p:tav>
                                      </p:tavLst>
                                    </p:anim>
                                    <p:anim calcmode="lin" valueType="num">
                                      <p:cBhvr additive="base">
                                        <p:cTn id="1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1E96BCCE-F567-44A5-8C34-3377F10B5001}"/>
                  </a:ext>
                </a:extLst>
              </p:cNvPr>
              <p:cNvGraphicFramePr>
                <a:graphicFrameLocks noGrp="1"/>
              </p:cNvGraphicFramePr>
              <p:nvPr>
                <p:extLst>
                  <p:ext uri="{D42A27DB-BD31-4B8C-83A1-F6EECF244321}">
                    <p14:modId xmlns:p14="http://schemas.microsoft.com/office/powerpoint/2010/main" val="1045708264"/>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6" name="表格 15">
                <a:extLst>
                  <a:ext uri="{FF2B5EF4-FFF2-40B4-BE49-F238E27FC236}">
                    <a16:creationId xmlns:a16="http://schemas.microsoft.com/office/drawing/2014/main" id="{1E96BCCE-F567-44A5-8C34-3377F10B5001}"/>
                  </a:ext>
                </a:extLst>
              </p:cNvPr>
              <p:cNvGraphicFramePr>
                <a:graphicFrameLocks noGrp="1"/>
              </p:cNvGraphicFramePr>
              <p:nvPr>
                <p:extLst>
                  <p:ext uri="{D42A27DB-BD31-4B8C-83A1-F6EECF244321}">
                    <p14:modId xmlns:p14="http://schemas.microsoft.com/office/powerpoint/2010/main" val="1045708264"/>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endParaRPr lang="zh-CN"/>
                        </a:p>
                      </a:txBody>
                      <a:tcPr anchor="ctr">
                        <a:blipFill>
                          <a:blip r:embed="rId2"/>
                          <a:stretch>
                            <a:fillRect l="-901370" t="-559" r="-101370" b="-209497"/>
                          </a:stretch>
                        </a:blipFill>
                      </a:tcPr>
                    </a:tc>
                    <a:tc rowSpan="2">
                      <a:txBody>
                        <a:bodyPr/>
                        <a:lstStyle/>
                        <a:p>
                          <a:endParaRPr lang="zh-CN"/>
                        </a:p>
                      </a:txBody>
                      <a:tcPr anchor="ctr">
                        <a:blipFill>
                          <a:blip r:embed="rId2"/>
                          <a:stretch>
                            <a:fillRect l="-1001370" t="-559" r="-1370" b="-209497"/>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2"/>
                          <a:stretch>
                            <a:fillRect l="-342" t="-498889" r="-451027" b="-17778"/>
                          </a:stretch>
                        </a:blipFill>
                      </a:tcPr>
                    </a:tc>
                    <a:tc hMerge="1">
                      <a:txBody>
                        <a:bodyPr/>
                        <a:lstStyle/>
                        <a:p>
                          <a:pPr algn="ctr"/>
                          <a:endParaRPr lang="zh-CN" altLang="en-US" sz="240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50</a:t>
            </a:fld>
            <a:endParaRPr lang="en-US" altLang="zh-CN"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D4931D2-A0D4-4C7B-8DE8-7A12F803ABC1}"/>
                  </a:ext>
                </a:extLst>
              </p:cNvPr>
              <p:cNvSpPr txBox="1"/>
              <p:nvPr/>
            </p:nvSpPr>
            <p:spPr>
              <a:xfrm>
                <a:off x="776536" y="2050597"/>
                <a:ext cx="3716083" cy="830997"/>
              </a:xfrm>
              <a:prstGeom prst="rect">
                <a:avLst/>
              </a:prstGeom>
              <a:noFill/>
            </p:spPr>
            <p:txBody>
              <a:bodyPr wrap="square" rtlCol="0">
                <a:spAutoFit/>
              </a:bodyPr>
              <a:lstStyle/>
              <a:p>
                <a:r>
                  <a:rPr lang="zh-CN" altLang="en-US" sz="2400" dirty="0"/>
                  <a:t>替换基变量清除</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，矩阵转换</a:t>
                </a:r>
              </a:p>
            </p:txBody>
          </p:sp>
        </mc:Choice>
        <mc:Fallback xmlns="">
          <p:sp>
            <p:nvSpPr>
              <p:cNvPr id="14" name="文本框 13">
                <a:extLst>
                  <a:ext uri="{FF2B5EF4-FFF2-40B4-BE49-F238E27FC236}">
                    <a16:creationId xmlns:a16="http://schemas.microsoft.com/office/drawing/2014/main" id="{9D4931D2-A0D4-4C7B-8DE8-7A12F803ABC1}"/>
                  </a:ext>
                </a:extLst>
              </p:cNvPr>
              <p:cNvSpPr txBox="1">
                <a:spLocks noRot="1" noChangeAspect="1" noMove="1" noResize="1" noEditPoints="1" noAdjustHandles="1" noChangeArrowheads="1" noChangeShapeType="1" noTextEdit="1"/>
              </p:cNvSpPr>
              <p:nvPr/>
            </p:nvSpPr>
            <p:spPr>
              <a:xfrm>
                <a:off x="776536" y="2050597"/>
                <a:ext cx="3716083" cy="830997"/>
              </a:xfrm>
              <a:prstGeom prst="rect">
                <a:avLst/>
              </a:prstGeom>
              <a:blipFill>
                <a:blip r:embed="rId3"/>
                <a:stretch>
                  <a:fillRect l="-2459" t="-5839" b="-15328"/>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B873A5B4-FE3B-43B4-9F6E-75FA3AA6363A}"/>
              </a:ext>
            </a:extLst>
          </p:cNvPr>
          <p:cNvSpPr txBox="1"/>
          <p:nvPr/>
        </p:nvSpPr>
        <p:spPr>
          <a:xfrm>
            <a:off x="4808984" y="1114142"/>
            <a:ext cx="3536546" cy="461665"/>
          </a:xfrm>
          <a:prstGeom prst="rect">
            <a:avLst/>
          </a:prstGeom>
          <a:noFill/>
        </p:spPr>
        <p:txBody>
          <a:bodyPr wrap="none" rtlCol="0">
            <a:spAutoFit/>
          </a:bodyPr>
          <a:lstStyle/>
          <a:p>
            <a:r>
              <a:rPr lang="zh-CN" altLang="en-US" sz="2400" dirty="0"/>
              <a:t>第二行乘以</a:t>
            </a:r>
            <a:r>
              <a:rPr lang="en-US" altLang="zh-CN" sz="2400" dirty="0"/>
              <a:t>2</a:t>
            </a:r>
            <a:r>
              <a:rPr lang="zh-CN" altLang="en-US" sz="2400" dirty="0"/>
              <a:t>加上第一行</a:t>
            </a:r>
          </a:p>
        </p:txBody>
      </p:sp>
      <p:graphicFrame>
        <p:nvGraphicFramePr>
          <p:cNvPr id="7" name="表格 6">
            <a:extLst>
              <a:ext uri="{FF2B5EF4-FFF2-40B4-BE49-F238E27FC236}">
                <a16:creationId xmlns:a16="http://schemas.microsoft.com/office/drawing/2014/main" id="{98EC4C1E-3329-4085-A72B-A7FB3866F1A3}"/>
              </a:ext>
            </a:extLst>
          </p:cNvPr>
          <p:cNvGraphicFramePr>
            <a:graphicFrameLocks noGrp="1"/>
          </p:cNvGraphicFramePr>
          <p:nvPr>
            <p:extLst>
              <p:ext uri="{D42A27DB-BD31-4B8C-83A1-F6EECF244321}">
                <p14:modId xmlns:p14="http://schemas.microsoft.com/office/powerpoint/2010/main" val="536316192"/>
              </p:ext>
            </p:extLst>
          </p:nvPr>
        </p:nvGraphicFramePr>
        <p:xfrm>
          <a:off x="1856656" y="2659680"/>
          <a:ext cx="7119936" cy="54530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3107545818"/>
                    </a:ext>
                  </a:extLst>
                </a:gridCol>
                <a:gridCol w="889992">
                  <a:extLst>
                    <a:ext uri="{9D8B030D-6E8A-4147-A177-3AD203B41FA5}">
                      <a16:colId xmlns:a16="http://schemas.microsoft.com/office/drawing/2014/main" val="3440653049"/>
                    </a:ext>
                  </a:extLst>
                </a:gridCol>
                <a:gridCol w="889992">
                  <a:extLst>
                    <a:ext uri="{9D8B030D-6E8A-4147-A177-3AD203B41FA5}">
                      <a16:colId xmlns:a16="http://schemas.microsoft.com/office/drawing/2014/main" val="635310804"/>
                    </a:ext>
                  </a:extLst>
                </a:gridCol>
                <a:gridCol w="889992">
                  <a:extLst>
                    <a:ext uri="{9D8B030D-6E8A-4147-A177-3AD203B41FA5}">
                      <a16:colId xmlns:a16="http://schemas.microsoft.com/office/drawing/2014/main" val="3557678297"/>
                    </a:ext>
                  </a:extLst>
                </a:gridCol>
                <a:gridCol w="889992">
                  <a:extLst>
                    <a:ext uri="{9D8B030D-6E8A-4147-A177-3AD203B41FA5}">
                      <a16:colId xmlns:a16="http://schemas.microsoft.com/office/drawing/2014/main" val="3256573438"/>
                    </a:ext>
                  </a:extLst>
                </a:gridCol>
                <a:gridCol w="889992">
                  <a:extLst>
                    <a:ext uri="{9D8B030D-6E8A-4147-A177-3AD203B41FA5}">
                      <a16:colId xmlns:a16="http://schemas.microsoft.com/office/drawing/2014/main" val="2357443416"/>
                    </a:ext>
                  </a:extLst>
                </a:gridCol>
                <a:gridCol w="889992">
                  <a:extLst>
                    <a:ext uri="{9D8B030D-6E8A-4147-A177-3AD203B41FA5}">
                      <a16:colId xmlns:a16="http://schemas.microsoft.com/office/drawing/2014/main" val="4140849304"/>
                    </a:ext>
                  </a:extLst>
                </a:gridCol>
                <a:gridCol w="889992">
                  <a:extLst>
                    <a:ext uri="{9D8B030D-6E8A-4147-A177-3AD203B41FA5}">
                      <a16:colId xmlns:a16="http://schemas.microsoft.com/office/drawing/2014/main" val="797993628"/>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12</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690173083"/>
                  </a:ext>
                </a:extLst>
              </a:tr>
            </a:tbl>
          </a:graphicData>
        </a:graphic>
      </p:graphicFrame>
      <p:graphicFrame>
        <p:nvGraphicFramePr>
          <p:cNvPr id="18" name="表格 17">
            <a:extLst>
              <a:ext uri="{FF2B5EF4-FFF2-40B4-BE49-F238E27FC236}">
                <a16:creationId xmlns:a16="http://schemas.microsoft.com/office/drawing/2014/main" id="{59E736C3-39F6-4C70-BB85-232719ED2F78}"/>
              </a:ext>
            </a:extLst>
          </p:cNvPr>
          <p:cNvGraphicFramePr>
            <a:graphicFrameLocks noGrp="1"/>
          </p:cNvGraphicFramePr>
          <p:nvPr>
            <p:extLst>
              <p:ext uri="{D42A27DB-BD31-4B8C-83A1-F6EECF244321}">
                <p14:modId xmlns:p14="http://schemas.microsoft.com/office/powerpoint/2010/main" val="2103911111"/>
              </p:ext>
            </p:extLst>
          </p:nvPr>
        </p:nvGraphicFramePr>
        <p:xfrm>
          <a:off x="1834505" y="4365104"/>
          <a:ext cx="7119936" cy="54530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3107545818"/>
                    </a:ext>
                  </a:extLst>
                </a:gridCol>
                <a:gridCol w="889992">
                  <a:extLst>
                    <a:ext uri="{9D8B030D-6E8A-4147-A177-3AD203B41FA5}">
                      <a16:colId xmlns:a16="http://schemas.microsoft.com/office/drawing/2014/main" val="3440653049"/>
                    </a:ext>
                  </a:extLst>
                </a:gridCol>
                <a:gridCol w="889992">
                  <a:extLst>
                    <a:ext uri="{9D8B030D-6E8A-4147-A177-3AD203B41FA5}">
                      <a16:colId xmlns:a16="http://schemas.microsoft.com/office/drawing/2014/main" val="635310804"/>
                    </a:ext>
                  </a:extLst>
                </a:gridCol>
                <a:gridCol w="889992">
                  <a:extLst>
                    <a:ext uri="{9D8B030D-6E8A-4147-A177-3AD203B41FA5}">
                      <a16:colId xmlns:a16="http://schemas.microsoft.com/office/drawing/2014/main" val="3557678297"/>
                    </a:ext>
                  </a:extLst>
                </a:gridCol>
                <a:gridCol w="889992">
                  <a:extLst>
                    <a:ext uri="{9D8B030D-6E8A-4147-A177-3AD203B41FA5}">
                      <a16:colId xmlns:a16="http://schemas.microsoft.com/office/drawing/2014/main" val="3256573438"/>
                    </a:ext>
                  </a:extLst>
                </a:gridCol>
                <a:gridCol w="889992">
                  <a:extLst>
                    <a:ext uri="{9D8B030D-6E8A-4147-A177-3AD203B41FA5}">
                      <a16:colId xmlns:a16="http://schemas.microsoft.com/office/drawing/2014/main" val="2357443416"/>
                    </a:ext>
                  </a:extLst>
                </a:gridCol>
                <a:gridCol w="889992">
                  <a:extLst>
                    <a:ext uri="{9D8B030D-6E8A-4147-A177-3AD203B41FA5}">
                      <a16:colId xmlns:a16="http://schemas.microsoft.com/office/drawing/2014/main" val="4140849304"/>
                    </a:ext>
                  </a:extLst>
                </a:gridCol>
                <a:gridCol w="889992">
                  <a:extLst>
                    <a:ext uri="{9D8B030D-6E8A-4147-A177-3AD203B41FA5}">
                      <a16:colId xmlns:a16="http://schemas.microsoft.com/office/drawing/2014/main" val="797993628"/>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a:t>
                      </a:r>
                      <a:endParaRPr lang="zh-CN" altLang="en-US" sz="2400" baseline="0" dirty="0"/>
                    </a:p>
                  </a:txBody>
                  <a:tcPr anchor="ctr">
                    <a:solidFill>
                      <a:schemeClr val="bg1"/>
                    </a:solidFill>
                  </a:tcPr>
                </a:tc>
                <a:tc>
                  <a:txBody>
                    <a:bodyPr/>
                    <a:lstStyle/>
                    <a:p>
                      <a:pPr algn="ctr"/>
                      <a:r>
                        <a:rPr lang="en-US" altLang="zh-CN" sz="2400" kern="1200" baseline="0" dirty="0">
                          <a:solidFill>
                            <a:schemeClr val="tx1"/>
                          </a:solidFill>
                          <a:latin typeface="+mn-lt"/>
                          <a:ea typeface="+mn-ea"/>
                          <a:cs typeface="+mn-cs"/>
                        </a:rPr>
                        <a:t>12</a:t>
                      </a:r>
                      <a:endParaRPr lang="zh-CN" altLang="en-US" sz="2400" kern="1200" baseline="0" dirty="0">
                        <a:solidFill>
                          <a:schemeClr val="tx1"/>
                        </a:solidFill>
                        <a:latin typeface="+mn-lt"/>
                        <a:ea typeface="+mn-ea"/>
                        <a:cs typeface="+mn-cs"/>
                      </a:endParaRPr>
                    </a:p>
                  </a:txBody>
                  <a:tcPr anchor="ctr">
                    <a:solidFill>
                      <a:schemeClr val="bg1"/>
                    </a:solidFill>
                  </a:tcPr>
                </a:tc>
                <a:extLst>
                  <a:ext uri="{0D108BD9-81ED-4DB2-BD59-A6C34878D82A}">
                    <a16:rowId xmlns:a16="http://schemas.microsoft.com/office/drawing/2014/main" val="3690173083"/>
                  </a:ext>
                </a:extLst>
              </a:tr>
            </a:tbl>
          </a:graphicData>
        </a:graphic>
      </p:graphicFrame>
      <p:sp>
        <p:nvSpPr>
          <p:cNvPr id="20" name="文本框 19">
            <a:extLst>
              <a:ext uri="{FF2B5EF4-FFF2-40B4-BE49-F238E27FC236}">
                <a16:creationId xmlns:a16="http://schemas.microsoft.com/office/drawing/2014/main" id="{C9C54C5F-BB5A-4B6B-864D-8D9DF3BA8C1A}"/>
              </a:ext>
            </a:extLst>
          </p:cNvPr>
          <p:cNvSpPr txBox="1"/>
          <p:nvPr/>
        </p:nvSpPr>
        <p:spPr>
          <a:xfrm>
            <a:off x="92949" y="1156062"/>
            <a:ext cx="4500011" cy="954107"/>
          </a:xfrm>
          <a:prstGeom prst="rect">
            <a:avLst/>
          </a:prstGeom>
          <a:noFill/>
        </p:spPr>
        <p:txBody>
          <a:bodyPr wrap="square" rtlCol="0">
            <a:spAutoFit/>
          </a:bodyPr>
          <a:lstStyle/>
          <a:p>
            <a:r>
              <a:rPr lang="en-US" altLang="zh-CN" sz="2800" dirty="0"/>
              <a:t>3. </a:t>
            </a:r>
            <a:r>
              <a:rPr lang="zh-CN" altLang="en-US" sz="2800" dirty="0"/>
              <a:t>第一阶段：求解线性规划问题</a:t>
            </a:r>
            <a:r>
              <a:rPr lang="en-US" altLang="zh-CN" sz="2800" dirty="0"/>
              <a:t>C</a:t>
            </a:r>
          </a:p>
        </p:txBody>
      </p:sp>
    </p:spTree>
    <p:extLst>
      <p:ext uri="{BB962C8B-B14F-4D97-AF65-F5344CB8AC3E}">
        <p14:creationId xmlns:p14="http://schemas.microsoft.com/office/powerpoint/2010/main" val="179403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xit" presetSubtype="4" fill="hold" nodeType="clickEffect">
                                  <p:stCondLst>
                                    <p:cond delay="0"/>
                                  </p:stCondLst>
                                  <p:childTnLst>
                                    <p:anim calcmode="lin" valueType="num">
                                      <p:cBhvr additive="base">
                                        <p:cTn id="26" dur="500"/>
                                        <p:tgtEl>
                                          <p:spTgt spid="7"/>
                                        </p:tgtEl>
                                        <p:attrNameLst>
                                          <p:attrName>ppt_y</p:attrName>
                                        </p:attrNameLst>
                                      </p:cBhvr>
                                      <p:tavLst>
                                        <p:tav tm="0">
                                          <p:val>
                                            <p:strVal val="#ppt_y"/>
                                          </p:val>
                                        </p:tav>
                                        <p:tav tm="100000">
                                          <p:val>
                                            <p:strVal val="#ppt_y+#ppt_h*1.125000"/>
                                          </p:val>
                                        </p:tav>
                                      </p:tavLst>
                                    </p:anim>
                                    <p:animEffect transition="out" filter="wipe(down)">
                                      <p:cBhvr>
                                        <p:cTn id="27" dur="500"/>
                                        <p:tgtEl>
                                          <p:spTgt spid="7"/>
                                        </p:tgtEl>
                                      </p:cBhvr>
                                    </p:animEffect>
                                    <p:set>
                                      <p:cBhvr>
                                        <p:cTn id="28" dur="1" fill="hold">
                                          <p:stCondLst>
                                            <p:cond delay="499"/>
                                          </p:stCondLst>
                                        </p:cTn>
                                        <p:tgtEl>
                                          <p:spTgt spid="7"/>
                                        </p:tgtEl>
                                        <p:attrNameLst>
                                          <p:attrName>style.visibility</p:attrName>
                                        </p:attrNameLst>
                                      </p:cBhvr>
                                      <p:to>
                                        <p:strVal val="hidden"/>
                                      </p:to>
                                    </p:set>
                                  </p:childTnLst>
                                </p:cTn>
                              </p:par>
                            </p:childTnLst>
                          </p:cTn>
                        </p:par>
                        <p:par>
                          <p:cTn id="29" fill="hold">
                            <p:stCondLst>
                              <p:cond delay="500"/>
                            </p:stCondLst>
                            <p:childTnLst>
                              <p:par>
                                <p:cTn id="30" presetID="12" presetClass="entr" presetSubtype="4" fill="hold" nodeType="after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500"/>
                                        <p:tgtEl>
                                          <p:spTgt spid="18"/>
                                        </p:tgtEl>
                                        <p:attrNameLst>
                                          <p:attrName>ppt_y</p:attrName>
                                        </p:attrNameLst>
                                      </p:cBhvr>
                                      <p:tavLst>
                                        <p:tav tm="0">
                                          <p:val>
                                            <p:strVal val="#ppt_y+#ppt_h*1.125000"/>
                                          </p:val>
                                        </p:tav>
                                        <p:tav tm="100000">
                                          <p:val>
                                            <p:strVal val="#ppt_y"/>
                                          </p:val>
                                        </p:tav>
                                      </p:tavLst>
                                    </p:anim>
                                    <p:animEffect transition="in" filter="wipe(up)">
                                      <p:cBhvr>
                                        <p:cTn id="3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51</a:t>
            </a:fld>
            <a:endParaRPr lang="en-US" altLang="zh-CN" dirty="0"/>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1533541531"/>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1533541531"/>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dirty="0"/>
                            <a:t>x6</a:t>
                          </a:r>
                          <a:endParaRPr lang="zh-CN" altLang="en-US" sz="2400" baseline="0" dirty="0"/>
                        </a:p>
                      </a:txBody>
                      <a:tcPr anchor="ctr"/>
                    </a:tc>
                    <a:tc>
                      <a:txBody>
                        <a:bodyPr/>
                        <a:lstStyle/>
                        <a:p>
                          <a:pPr algn="ctr"/>
                          <a:r>
                            <a:rPr lang="en-US" altLang="zh-CN" sz="2400" baseline="0" dirty="0"/>
                            <a:t>x7</a:t>
                          </a:r>
                          <a:endParaRPr lang="zh-CN" altLang="en-US" sz="2400" baseline="0" dirty="0"/>
                        </a:p>
                      </a:txBody>
                      <a:tcPr anchor="ctr"/>
                    </a:tc>
                    <a:tc rowSpan="2">
                      <a:txBody>
                        <a:bodyPr/>
                        <a:lstStyle/>
                        <a:p>
                          <a:endParaRPr lang="zh-CN"/>
                        </a:p>
                      </a:txBody>
                      <a:tcPr anchor="ctr">
                        <a:blipFill>
                          <a:blip r:embed="rId3"/>
                          <a:stretch>
                            <a:fillRect l="-901370" t="-559" r="-101370" b="-209497"/>
                          </a:stretch>
                        </a:blipFill>
                      </a:tcPr>
                    </a:tc>
                    <a:tc rowSpan="2">
                      <a:txBody>
                        <a:bodyPr/>
                        <a:lstStyle/>
                        <a:p>
                          <a:endParaRPr lang="zh-CN"/>
                        </a:p>
                      </a:txBody>
                      <a:tcPr anchor="ctr">
                        <a:blipFill>
                          <a:blip r:embed="rId3"/>
                          <a:stretch>
                            <a:fillRect l="-1001370" t="-559" r="-1370" b="-209497"/>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-5</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17778"/>
                          </a:stretch>
                        </a:blipFill>
                      </a:tcPr>
                    </a:tc>
                    <a:tc hMerge="1">
                      <a:txBody>
                        <a:bodyPr/>
                        <a:lstStyle/>
                        <a:p>
                          <a:pPr algn="ctr"/>
                          <a:endParaRPr lang="zh-CN" altLang="en-US" sz="240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D4931D2-A0D4-4C7B-8DE8-7A12F803ABC1}"/>
                  </a:ext>
                </a:extLst>
              </p:cNvPr>
              <p:cNvSpPr txBox="1"/>
              <p:nvPr/>
            </p:nvSpPr>
            <p:spPr>
              <a:xfrm>
                <a:off x="772107" y="2146475"/>
                <a:ext cx="3141694" cy="830997"/>
              </a:xfrm>
              <a:prstGeom prst="rect">
                <a:avLst/>
              </a:prstGeom>
              <a:noFill/>
            </p:spPr>
            <p:txBody>
              <a:bodyPr wrap="none" rtlCol="0">
                <a:spAutoFit/>
              </a:bodyPr>
              <a:lstStyle/>
              <a:p>
                <a:r>
                  <a:rPr lang="zh-CN" altLang="en-US" sz="2400" dirty="0"/>
                  <a:t>求基本可行解，填写</a:t>
                </a:r>
                <a14:m>
                  <m:oMath xmlns:m="http://schemas.openxmlformats.org/officeDocument/2006/math">
                    <m:r>
                      <a:rPr lang="zh-CN" altLang="en-US" sz="2400">
                        <a:latin typeface="Cambria Math" panose="02040503050406030204" pitchFamily="18" charset="0"/>
                      </a:rPr>
                      <m:t>𝜎</m:t>
                    </m:r>
                  </m:oMath>
                </a14:m>
                <a:endParaRPr lang="zh-CN" altLang="en-US" sz="2400" dirty="0"/>
              </a:p>
              <a:p>
                <a:r>
                  <a:rPr lang="zh-CN" altLang="en-US" sz="2400" dirty="0"/>
                  <a:t>和</a:t>
                </a:r>
                <a:r>
                  <a:rPr lang="en-US" altLang="zh-CN" sz="2400" dirty="0"/>
                  <a:t>q</a:t>
                </a:r>
                <a:r>
                  <a:rPr lang="zh-CN" altLang="en-US" sz="2400" dirty="0"/>
                  <a:t>的值</a:t>
                </a:r>
              </a:p>
            </p:txBody>
          </p:sp>
        </mc:Choice>
        <mc:Fallback xmlns="">
          <p:sp>
            <p:nvSpPr>
              <p:cNvPr id="14" name="文本框 13">
                <a:extLst>
                  <a:ext uri="{FF2B5EF4-FFF2-40B4-BE49-F238E27FC236}">
                    <a16:creationId xmlns:a16="http://schemas.microsoft.com/office/drawing/2014/main" id="{9D4931D2-A0D4-4C7B-8DE8-7A12F803ABC1}"/>
                  </a:ext>
                </a:extLst>
              </p:cNvPr>
              <p:cNvSpPr txBox="1">
                <a:spLocks noRot="1" noChangeAspect="1" noMove="1" noResize="1" noEditPoints="1" noAdjustHandles="1" noChangeArrowheads="1" noChangeShapeType="1" noTextEdit="1"/>
              </p:cNvSpPr>
              <p:nvPr/>
            </p:nvSpPr>
            <p:spPr>
              <a:xfrm>
                <a:off x="772107" y="2146475"/>
                <a:ext cx="3141694" cy="830997"/>
              </a:xfrm>
              <a:prstGeom prst="rect">
                <a:avLst/>
              </a:prstGeom>
              <a:blipFill>
                <a:blip r:embed="rId4"/>
                <a:stretch>
                  <a:fillRect l="-3107" t="-5882" b="-16176"/>
                </a:stretch>
              </a:blipFill>
            </p:spPr>
            <p:txBody>
              <a:bodyPr/>
              <a:lstStyle/>
              <a:p>
                <a:r>
                  <a:rPr lang="zh-CN" altLang="en-US">
                    <a:noFill/>
                  </a:rPr>
                  <a:t> </a:t>
                </a:r>
              </a:p>
            </p:txBody>
          </p:sp>
        </mc:Fallback>
      </mc:AlternateContent>
      <p:graphicFrame>
        <p:nvGraphicFramePr>
          <p:cNvPr id="16" name="对象 15">
            <a:extLst>
              <a:ext uri="{FF2B5EF4-FFF2-40B4-BE49-F238E27FC236}">
                <a16:creationId xmlns:a16="http://schemas.microsoft.com/office/drawing/2014/main" id="{32B5E466-EFC5-4E89-8741-8215EAA01BC3}"/>
              </a:ext>
            </a:extLst>
          </p:cNvPr>
          <p:cNvGraphicFramePr>
            <a:graphicFrameLocks noChangeAspect="1"/>
          </p:cNvGraphicFramePr>
          <p:nvPr>
            <p:extLst>
              <p:ext uri="{D42A27DB-BD31-4B8C-83A1-F6EECF244321}">
                <p14:modId xmlns:p14="http://schemas.microsoft.com/office/powerpoint/2010/main" val="2087884514"/>
              </p:ext>
            </p:extLst>
          </p:nvPr>
        </p:nvGraphicFramePr>
        <p:xfrm>
          <a:off x="5060950" y="1149350"/>
          <a:ext cx="2789238" cy="530225"/>
        </p:xfrm>
        <a:graphic>
          <a:graphicData uri="http://schemas.openxmlformats.org/presentationml/2006/ole">
            <mc:AlternateContent xmlns:mc="http://schemas.openxmlformats.org/markup-compatibility/2006">
              <mc:Choice xmlns:v="urn:schemas-microsoft-com:vml" Requires="v">
                <p:oleObj name="Equation" r:id="rId5" imgW="1473120" imgH="279360" progId="Equation.DSMT4">
                  <p:embed/>
                </p:oleObj>
              </mc:Choice>
              <mc:Fallback>
                <p:oleObj name="Equation" r:id="rId5" imgW="1473120" imgH="279360" progId="Equation.DSMT4">
                  <p:embed/>
                  <p:pic>
                    <p:nvPicPr>
                      <p:cNvPr id="16" name="对象 15">
                        <a:extLst>
                          <a:ext uri="{FF2B5EF4-FFF2-40B4-BE49-F238E27FC236}">
                            <a16:creationId xmlns:a16="http://schemas.microsoft.com/office/drawing/2014/main" id="{32B5E466-EFC5-4E89-8741-8215EAA01BC3}"/>
                          </a:ext>
                        </a:extLst>
                      </p:cNvPr>
                      <p:cNvPicPr/>
                      <p:nvPr/>
                    </p:nvPicPr>
                    <p:blipFill>
                      <a:blip r:embed="rId6"/>
                      <a:stretch>
                        <a:fillRect/>
                      </a:stretch>
                    </p:blipFill>
                    <p:spPr>
                      <a:xfrm>
                        <a:off x="5060950" y="1149350"/>
                        <a:ext cx="2789238" cy="530225"/>
                      </a:xfrm>
                      <a:prstGeom prst="rect">
                        <a:avLst/>
                      </a:prstGeom>
                    </p:spPr>
                  </p:pic>
                </p:oleObj>
              </mc:Fallback>
            </mc:AlternateContent>
          </a:graphicData>
        </a:graphic>
      </p:graphicFrame>
      <p:sp>
        <p:nvSpPr>
          <p:cNvPr id="20" name="矩形 19">
            <a:extLst>
              <a:ext uri="{FF2B5EF4-FFF2-40B4-BE49-F238E27FC236}">
                <a16:creationId xmlns:a16="http://schemas.microsoft.com/office/drawing/2014/main" id="{77D63938-1F3C-4C87-AB5B-902209BFFB53}"/>
              </a:ext>
            </a:extLst>
          </p:cNvPr>
          <p:cNvSpPr/>
          <p:nvPr/>
        </p:nvSpPr>
        <p:spPr>
          <a:xfrm>
            <a:off x="5060950" y="1669713"/>
            <a:ext cx="3384376" cy="461665"/>
          </a:xfrm>
          <a:prstGeom prst="rect">
            <a:avLst/>
          </a:prstGeom>
          <a:solidFill>
            <a:srgbClr val="FFFF66"/>
          </a:solidFill>
          <a:ln>
            <a:solidFill>
              <a:schemeClr val="tx1"/>
            </a:solidFill>
          </a:ln>
        </p:spPr>
        <p:txBody>
          <a:bodyPr wrap="square">
            <a:spAutoFit/>
          </a:bodyPr>
          <a:lstStyle/>
          <a:p>
            <a:r>
              <a:rPr lang="zh-CN" altLang="en-US" sz="2400" b="1" dirty="0">
                <a:solidFill>
                  <a:srgbClr val="C00000"/>
                </a:solidFill>
              </a:rPr>
              <a:t>得到问题</a:t>
            </a:r>
            <a:r>
              <a:rPr lang="en-US" altLang="zh-CN" sz="2400" b="1" dirty="0">
                <a:solidFill>
                  <a:srgbClr val="C00000"/>
                </a:solidFill>
              </a:rPr>
              <a:t>C</a:t>
            </a:r>
            <a:r>
              <a:rPr lang="zh-CN" altLang="en-US" sz="2400" b="1" dirty="0">
                <a:solidFill>
                  <a:srgbClr val="C00000"/>
                </a:solidFill>
              </a:rPr>
              <a:t>的最优解</a:t>
            </a:r>
            <a:endParaRPr lang="en-US" altLang="zh-CN" sz="2400" b="1" dirty="0">
              <a:solidFill>
                <a:srgbClr val="C00000"/>
              </a:solidFill>
            </a:endParaRPr>
          </a:p>
        </p:txBody>
      </p:sp>
      <p:graphicFrame>
        <p:nvGraphicFramePr>
          <p:cNvPr id="3" name="对象 2">
            <a:extLst>
              <a:ext uri="{FF2B5EF4-FFF2-40B4-BE49-F238E27FC236}">
                <a16:creationId xmlns:a16="http://schemas.microsoft.com/office/drawing/2014/main" id="{F9CE1807-2640-4C29-A468-9080CDDAB662}"/>
              </a:ext>
            </a:extLst>
          </p:cNvPr>
          <p:cNvGraphicFramePr>
            <a:graphicFrameLocks noChangeAspect="1"/>
          </p:cNvGraphicFramePr>
          <p:nvPr>
            <p:extLst>
              <p:ext uri="{D42A27DB-BD31-4B8C-83A1-F6EECF244321}">
                <p14:modId xmlns:p14="http://schemas.microsoft.com/office/powerpoint/2010/main" val="343325404"/>
              </p:ext>
            </p:extLst>
          </p:nvPr>
        </p:nvGraphicFramePr>
        <p:xfrm>
          <a:off x="5060950" y="2273841"/>
          <a:ext cx="3115750" cy="556384"/>
        </p:xfrm>
        <a:graphic>
          <a:graphicData uri="http://schemas.openxmlformats.org/presentationml/2006/ole">
            <mc:AlternateContent xmlns:mc="http://schemas.openxmlformats.org/markup-compatibility/2006">
              <mc:Choice xmlns:v="urn:schemas-microsoft-com:vml" Requires="v">
                <p:oleObj name="Equation" r:id="rId7" imgW="1422360" imgH="253800" progId="Equation.DSMT4">
                  <p:embed/>
                </p:oleObj>
              </mc:Choice>
              <mc:Fallback>
                <p:oleObj name="Equation" r:id="rId7" imgW="1422360" imgH="253800" progId="Equation.DSMT4">
                  <p:embed/>
                  <p:pic>
                    <p:nvPicPr>
                      <p:cNvPr id="0" name=""/>
                      <p:cNvPicPr/>
                      <p:nvPr/>
                    </p:nvPicPr>
                    <p:blipFill>
                      <a:blip r:embed="rId8"/>
                      <a:stretch>
                        <a:fillRect/>
                      </a:stretch>
                    </p:blipFill>
                    <p:spPr>
                      <a:xfrm>
                        <a:off x="5060950" y="2273841"/>
                        <a:ext cx="3115750" cy="556384"/>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849F2609-4BF0-4DCA-8C1C-1D23674974FE}"/>
              </a:ext>
            </a:extLst>
          </p:cNvPr>
          <p:cNvSpPr txBox="1"/>
          <p:nvPr/>
        </p:nvSpPr>
        <p:spPr>
          <a:xfrm>
            <a:off x="92949" y="1156062"/>
            <a:ext cx="4500011" cy="954107"/>
          </a:xfrm>
          <a:prstGeom prst="rect">
            <a:avLst/>
          </a:prstGeom>
          <a:noFill/>
        </p:spPr>
        <p:txBody>
          <a:bodyPr wrap="square" rtlCol="0">
            <a:spAutoFit/>
          </a:bodyPr>
          <a:lstStyle/>
          <a:p>
            <a:r>
              <a:rPr lang="en-US" altLang="zh-CN" sz="2800" dirty="0"/>
              <a:t>3. </a:t>
            </a:r>
            <a:r>
              <a:rPr lang="zh-CN" altLang="en-US" sz="2800" dirty="0"/>
              <a:t>第一阶段：求解线性规划问题</a:t>
            </a:r>
            <a:r>
              <a:rPr lang="en-US" altLang="zh-CN" sz="2800" dirty="0"/>
              <a:t>C</a:t>
            </a:r>
          </a:p>
        </p:txBody>
      </p:sp>
    </p:spTree>
    <p:extLst>
      <p:ext uri="{BB962C8B-B14F-4D97-AF65-F5344CB8AC3E}">
        <p14:creationId xmlns:p14="http://schemas.microsoft.com/office/powerpoint/2010/main" val="8799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par>
                                <p:cTn id="12" presetID="22" presetClass="entr" presetSubtype="4"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500"/>
                                        <p:tgtEl>
                                          <p:spTgt spid="16"/>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fill="hold"/>
                                        <p:tgtEl>
                                          <p:spTgt spid="20"/>
                                        </p:tgtEl>
                                        <p:attrNameLst>
                                          <p:attrName>ppt_x</p:attrName>
                                        </p:attrNameLst>
                                      </p:cBhvr>
                                      <p:tavLst>
                                        <p:tav tm="0">
                                          <p:val>
                                            <p:strVal val="#ppt_x"/>
                                          </p:val>
                                        </p:tav>
                                        <p:tav tm="100000">
                                          <p:val>
                                            <p:strVal val="#ppt_x"/>
                                          </p:val>
                                        </p:tav>
                                      </p:tavLst>
                                    </p:anim>
                                    <p:anim calcmode="lin" valueType="num">
                                      <p:cBhvr additive="base">
                                        <p:cTn id="19" dur="500" fill="hold"/>
                                        <p:tgtEl>
                                          <p:spTgt spid="20"/>
                                        </p:tgtEl>
                                        <p:attrNameLst>
                                          <p:attrName>ppt_y</p:attrName>
                                        </p:attrNameLst>
                                      </p:cBhvr>
                                      <p:tavLst>
                                        <p:tav tm="0">
                                          <p:val>
                                            <p:strVal val="1+#ppt_h/2"/>
                                          </p:val>
                                        </p:tav>
                                        <p:tav tm="100000">
                                          <p:val>
                                            <p:strVal val="#ppt_y"/>
                                          </p:val>
                                        </p:tav>
                                      </p:tavLst>
                                    </p:anim>
                                  </p:childTnLst>
                                </p:cTn>
                              </p:par>
                            </p:childTnLst>
                          </p:cTn>
                        </p:par>
                        <p:par>
                          <p:cTn id="20" fill="hold">
                            <p:stCondLst>
                              <p:cond delay="1500"/>
                            </p:stCondLst>
                            <p:childTnLst>
                              <p:par>
                                <p:cTn id="21" presetID="2" presetClass="entr" presetSubtype="4"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52</a:t>
            </a:fld>
            <a:endParaRPr lang="en-US" altLang="zh-CN" dirty="0"/>
          </a:p>
        </p:txBody>
      </p:sp>
      <p:sp>
        <p:nvSpPr>
          <p:cNvPr id="6" name="文本框 5">
            <a:extLst>
              <a:ext uri="{FF2B5EF4-FFF2-40B4-BE49-F238E27FC236}">
                <a16:creationId xmlns:a16="http://schemas.microsoft.com/office/drawing/2014/main" id="{2F2CA20C-4369-4F39-A105-8D0D03CBB1C8}"/>
              </a:ext>
            </a:extLst>
          </p:cNvPr>
          <p:cNvSpPr txBox="1"/>
          <p:nvPr/>
        </p:nvSpPr>
        <p:spPr>
          <a:xfrm>
            <a:off x="92949" y="1156062"/>
            <a:ext cx="4821951" cy="954107"/>
          </a:xfrm>
          <a:prstGeom prst="rect">
            <a:avLst/>
          </a:prstGeom>
          <a:noFill/>
        </p:spPr>
        <p:txBody>
          <a:bodyPr wrap="square" rtlCol="0">
            <a:spAutoFit/>
          </a:bodyPr>
          <a:lstStyle/>
          <a:p>
            <a:r>
              <a:rPr lang="en-US" altLang="zh-CN" sz="2800" dirty="0"/>
              <a:t>4. </a:t>
            </a:r>
            <a:r>
              <a:rPr lang="zh-CN" altLang="en-US" sz="2800" dirty="0"/>
              <a:t>第二阶段：求解线性规划问题</a:t>
            </a:r>
            <a:r>
              <a:rPr lang="en-US" altLang="zh-CN" sz="2800" dirty="0"/>
              <a:t>A</a:t>
            </a:r>
          </a:p>
        </p:txBody>
      </p:sp>
      <p:sp>
        <p:nvSpPr>
          <p:cNvPr id="9" name="文本框 8">
            <a:extLst>
              <a:ext uri="{FF2B5EF4-FFF2-40B4-BE49-F238E27FC236}">
                <a16:creationId xmlns:a16="http://schemas.microsoft.com/office/drawing/2014/main" id="{A0F5B5E8-5C82-40B9-B58D-177402658C0E}"/>
              </a:ext>
            </a:extLst>
          </p:cNvPr>
          <p:cNvSpPr txBox="1"/>
          <p:nvPr/>
        </p:nvSpPr>
        <p:spPr>
          <a:xfrm>
            <a:off x="6825208" y="-61654"/>
            <a:ext cx="1023037" cy="461665"/>
          </a:xfrm>
          <a:prstGeom prst="rect">
            <a:avLst/>
          </a:prstGeom>
          <a:noFill/>
        </p:spPr>
        <p:txBody>
          <a:bodyPr wrap="none" rtlCol="0">
            <a:spAutoFit/>
          </a:bodyPr>
          <a:lstStyle/>
          <a:p>
            <a:r>
              <a:rPr lang="zh-CN" altLang="en-US" sz="2400" dirty="0"/>
              <a:t>问题</a:t>
            </a:r>
            <a:r>
              <a:rPr lang="en-US" altLang="zh-CN" sz="2400" dirty="0"/>
              <a:t>A</a:t>
            </a:r>
            <a:endParaRPr lang="zh-CN" altLang="en-US" sz="2400" dirty="0"/>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69251644"/>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a:t>x6</a:t>
                          </a:r>
                          <a:endParaRPr lang="zh-CN" altLang="en-US" sz="2400" baseline="0" dirty="0"/>
                        </a:p>
                      </a:txBody>
                      <a:tcPr anchor="ctr"/>
                    </a:tc>
                    <a:tc>
                      <a:txBody>
                        <a:bodyPr/>
                        <a:lstStyle/>
                        <a:p>
                          <a:pPr algn="ctr"/>
                          <a:r>
                            <a:rPr lang="en-US" altLang="zh-CN" sz="2400" baseline="0"/>
                            <a:t>x7</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-5</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69251644"/>
                  </p:ext>
                </p:extLst>
              </p:nvPr>
            </p:nvGraphicFramePr>
            <p:xfrm>
              <a:off x="58045" y="3282030"/>
              <a:ext cx="9789912"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397672138"/>
                        </a:ext>
                      </a:extLst>
                    </a:gridCol>
                    <a:gridCol w="889992">
                      <a:extLst>
                        <a:ext uri="{9D8B030D-6E8A-4147-A177-3AD203B41FA5}">
                          <a16:colId xmlns:a16="http://schemas.microsoft.com/office/drawing/2014/main" val="4000235479"/>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a:txBody>
                        <a:bodyPr/>
                        <a:lstStyle/>
                        <a:p>
                          <a:pPr algn="ctr"/>
                          <a:r>
                            <a:rPr lang="en-US" altLang="zh-CN" sz="2400" baseline="0"/>
                            <a:t>x6</a:t>
                          </a:r>
                          <a:endParaRPr lang="zh-CN" altLang="en-US" sz="2400" baseline="0" dirty="0"/>
                        </a:p>
                      </a:txBody>
                      <a:tcPr anchor="ctr"/>
                    </a:tc>
                    <a:tc>
                      <a:txBody>
                        <a:bodyPr/>
                        <a:lstStyle/>
                        <a:p>
                          <a:pPr algn="ctr"/>
                          <a:r>
                            <a:rPr lang="en-US" altLang="zh-CN" sz="2400" baseline="0"/>
                            <a:t>x7</a:t>
                          </a:r>
                          <a:endParaRPr lang="zh-CN" altLang="en-US" sz="2400" baseline="0" dirty="0"/>
                        </a:p>
                      </a:txBody>
                      <a:tcPr anchor="ctr"/>
                    </a:tc>
                    <a:tc rowSpan="2">
                      <a:txBody>
                        <a:bodyPr/>
                        <a:lstStyle/>
                        <a:p>
                          <a:endParaRPr lang="zh-CN"/>
                        </a:p>
                      </a:txBody>
                      <a:tcPr anchor="ctr">
                        <a:blipFill>
                          <a:blip r:embed="rId3"/>
                          <a:stretch>
                            <a:fillRect l="-901370" t="-559" r="-101370" b="-201676"/>
                          </a:stretch>
                        </a:blipFill>
                      </a:tcPr>
                    </a:tc>
                    <a:tc rowSpan="2">
                      <a:txBody>
                        <a:bodyPr/>
                        <a:lstStyle/>
                        <a:p>
                          <a:endParaRPr lang="zh-CN"/>
                        </a:p>
                      </a:txBody>
                      <a:tcPr anchor="ctr">
                        <a:blipFill>
                          <a:blip r:embed="rId3"/>
                          <a:stretch>
                            <a:fillRect l="-10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a:t>1</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-5</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4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sp>
        <p:nvSpPr>
          <p:cNvPr id="14" name="文本框 13">
            <a:extLst>
              <a:ext uri="{FF2B5EF4-FFF2-40B4-BE49-F238E27FC236}">
                <a16:creationId xmlns:a16="http://schemas.microsoft.com/office/drawing/2014/main" id="{9D4931D2-A0D4-4C7B-8DE8-7A12F803ABC1}"/>
              </a:ext>
            </a:extLst>
          </p:cNvPr>
          <p:cNvSpPr txBox="1"/>
          <p:nvPr/>
        </p:nvSpPr>
        <p:spPr>
          <a:xfrm>
            <a:off x="560512" y="2234434"/>
            <a:ext cx="2339102" cy="461665"/>
          </a:xfrm>
          <a:prstGeom prst="rect">
            <a:avLst/>
          </a:prstGeom>
          <a:noFill/>
        </p:spPr>
        <p:txBody>
          <a:bodyPr wrap="none" rtlCol="0">
            <a:spAutoFit/>
          </a:bodyPr>
          <a:lstStyle/>
          <a:p>
            <a:r>
              <a:rPr lang="zh-CN" altLang="en-US" sz="2400" dirty="0"/>
              <a:t>初始化单纯形表</a:t>
            </a:r>
          </a:p>
        </p:txBody>
      </p:sp>
      <p:graphicFrame>
        <p:nvGraphicFramePr>
          <p:cNvPr id="10" name="对象 9">
            <a:extLst>
              <a:ext uri="{FF2B5EF4-FFF2-40B4-BE49-F238E27FC236}">
                <a16:creationId xmlns:a16="http://schemas.microsoft.com/office/drawing/2014/main" id="{A4A8D4B1-F794-48D1-9418-ED8FC0538D44}"/>
              </a:ext>
            </a:extLst>
          </p:cNvPr>
          <p:cNvGraphicFramePr>
            <a:graphicFrameLocks noChangeAspect="1"/>
          </p:cNvGraphicFramePr>
          <p:nvPr>
            <p:extLst>
              <p:ext uri="{D42A27DB-BD31-4B8C-83A1-F6EECF244321}">
                <p14:modId xmlns:p14="http://schemas.microsoft.com/office/powerpoint/2010/main" val="2449117306"/>
              </p:ext>
            </p:extLst>
          </p:nvPr>
        </p:nvGraphicFramePr>
        <p:xfrm>
          <a:off x="4786780" y="387084"/>
          <a:ext cx="4990756" cy="2949308"/>
        </p:xfrm>
        <a:graphic>
          <a:graphicData uri="http://schemas.openxmlformats.org/presentationml/2006/ole">
            <mc:AlternateContent xmlns:mc="http://schemas.openxmlformats.org/markup-compatibility/2006">
              <mc:Choice xmlns:v="urn:schemas-microsoft-com:vml" Requires="v">
                <p:oleObj name="Equation" r:id="rId4" imgW="2019240" imgH="1193760" progId="Equation.DSMT4">
                  <p:embed/>
                </p:oleObj>
              </mc:Choice>
              <mc:Fallback>
                <p:oleObj name="Equation" r:id="rId4" imgW="2019240" imgH="1193760" progId="Equation.DSMT4">
                  <p:embed/>
                  <p:pic>
                    <p:nvPicPr>
                      <p:cNvPr id="7" name="对象 6">
                        <a:extLst>
                          <a:ext uri="{FF2B5EF4-FFF2-40B4-BE49-F238E27FC236}">
                            <a16:creationId xmlns:a16="http://schemas.microsoft.com/office/drawing/2014/main" id="{09AC6301-2294-4076-BF53-9433D0F5EC2A}"/>
                          </a:ext>
                        </a:extLst>
                      </p:cNvPr>
                      <p:cNvPicPr/>
                      <p:nvPr/>
                    </p:nvPicPr>
                    <p:blipFill>
                      <a:blip r:embed="rId5"/>
                      <a:stretch>
                        <a:fillRect/>
                      </a:stretch>
                    </p:blipFill>
                    <p:spPr>
                      <a:xfrm>
                        <a:off x="4786780" y="387084"/>
                        <a:ext cx="4990756" cy="2949308"/>
                      </a:xfrm>
                      <a:prstGeom prst="rect">
                        <a:avLst/>
                      </a:prstGeom>
                      <a:ln w="28575">
                        <a:noFill/>
                      </a:ln>
                    </p:spPr>
                  </p:pic>
                </p:oleObj>
              </mc:Fallback>
            </mc:AlternateContent>
          </a:graphicData>
        </a:graphic>
      </p:graphicFrame>
    </p:spTree>
    <p:extLst>
      <p:ext uri="{BB962C8B-B14F-4D97-AF65-F5344CB8AC3E}">
        <p14:creationId xmlns:p14="http://schemas.microsoft.com/office/powerpoint/2010/main" val="40410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arn(inVertical)">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53</a:t>
            </a:fld>
            <a:endParaRPr lang="en-US" altLang="zh-CN" dirty="0"/>
          </a:p>
        </p:txBody>
      </p:sp>
      <p:sp>
        <p:nvSpPr>
          <p:cNvPr id="6" name="文本框 5">
            <a:extLst>
              <a:ext uri="{FF2B5EF4-FFF2-40B4-BE49-F238E27FC236}">
                <a16:creationId xmlns:a16="http://schemas.microsoft.com/office/drawing/2014/main" id="{2F2CA20C-4369-4F39-A105-8D0D03CBB1C8}"/>
              </a:ext>
            </a:extLst>
          </p:cNvPr>
          <p:cNvSpPr txBox="1"/>
          <p:nvPr/>
        </p:nvSpPr>
        <p:spPr>
          <a:xfrm>
            <a:off x="92949" y="1156062"/>
            <a:ext cx="4821951" cy="954107"/>
          </a:xfrm>
          <a:prstGeom prst="rect">
            <a:avLst/>
          </a:prstGeom>
          <a:noFill/>
        </p:spPr>
        <p:txBody>
          <a:bodyPr wrap="square" rtlCol="0">
            <a:spAutoFit/>
          </a:bodyPr>
          <a:lstStyle/>
          <a:p>
            <a:r>
              <a:rPr lang="en-US" altLang="zh-CN" sz="2800" dirty="0"/>
              <a:t>4. </a:t>
            </a:r>
            <a:r>
              <a:rPr lang="zh-CN" altLang="en-US" sz="2800" dirty="0"/>
              <a:t>第二阶段：求解线性规划问题</a:t>
            </a:r>
            <a:r>
              <a:rPr lang="en-US" altLang="zh-CN" sz="2800" dirty="0"/>
              <a:t>A</a:t>
            </a:r>
          </a:p>
        </p:txBody>
      </p:sp>
      <p:sp>
        <p:nvSpPr>
          <p:cNvPr id="9" name="文本框 8">
            <a:extLst>
              <a:ext uri="{FF2B5EF4-FFF2-40B4-BE49-F238E27FC236}">
                <a16:creationId xmlns:a16="http://schemas.microsoft.com/office/drawing/2014/main" id="{A0F5B5E8-5C82-40B9-B58D-177402658C0E}"/>
              </a:ext>
            </a:extLst>
          </p:cNvPr>
          <p:cNvSpPr txBox="1"/>
          <p:nvPr/>
        </p:nvSpPr>
        <p:spPr>
          <a:xfrm>
            <a:off x="6825208" y="-61654"/>
            <a:ext cx="1023037" cy="461665"/>
          </a:xfrm>
          <a:prstGeom prst="rect">
            <a:avLst/>
          </a:prstGeom>
          <a:noFill/>
        </p:spPr>
        <p:txBody>
          <a:bodyPr wrap="none" rtlCol="0">
            <a:spAutoFit/>
          </a:bodyPr>
          <a:lstStyle/>
          <a:p>
            <a:r>
              <a:rPr lang="zh-CN" altLang="en-US" sz="2400" dirty="0"/>
              <a:t>问题</a:t>
            </a:r>
            <a:r>
              <a:rPr lang="en-US" altLang="zh-CN" sz="2400" dirty="0"/>
              <a:t>A</a:t>
            </a:r>
            <a:endParaRPr lang="zh-CN" altLang="en-US" sz="2400" dirty="0"/>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058013642"/>
                  </p:ext>
                </p:extLst>
              </p:nvPr>
            </p:nvGraphicFramePr>
            <p:xfrm>
              <a:off x="58045" y="3282030"/>
              <a:ext cx="8009928"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3058013642"/>
                  </p:ext>
                </p:extLst>
              </p:nvPr>
            </p:nvGraphicFramePr>
            <p:xfrm>
              <a:off x="58045" y="3282030"/>
              <a:ext cx="8009928"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rowSpan="2">
                      <a:txBody>
                        <a:bodyPr/>
                        <a:lstStyle/>
                        <a:p>
                          <a:endParaRPr lang="zh-CN"/>
                        </a:p>
                      </a:txBody>
                      <a:tcPr anchor="ctr">
                        <a:blipFill>
                          <a:blip r:embed="rId3"/>
                          <a:stretch>
                            <a:fillRect l="-701370" t="-559" r="-101370" b="-201676"/>
                          </a:stretch>
                        </a:blipFill>
                      </a:tcPr>
                    </a:tc>
                    <a:tc rowSpan="2">
                      <a:txBody>
                        <a:bodyPr/>
                        <a:lstStyle/>
                        <a:p>
                          <a:endParaRPr lang="zh-CN"/>
                        </a:p>
                      </a:txBody>
                      <a:tcPr anchor="ctr">
                        <a:blipFill>
                          <a:blip r:embed="rId3"/>
                          <a:stretch>
                            <a:fillRect l="-8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3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sp>
        <p:nvSpPr>
          <p:cNvPr id="14" name="文本框 13">
            <a:extLst>
              <a:ext uri="{FF2B5EF4-FFF2-40B4-BE49-F238E27FC236}">
                <a16:creationId xmlns:a16="http://schemas.microsoft.com/office/drawing/2014/main" id="{9D4931D2-A0D4-4C7B-8DE8-7A12F803ABC1}"/>
              </a:ext>
            </a:extLst>
          </p:cNvPr>
          <p:cNvSpPr txBox="1"/>
          <p:nvPr/>
        </p:nvSpPr>
        <p:spPr>
          <a:xfrm>
            <a:off x="560512" y="2234434"/>
            <a:ext cx="2339102" cy="461665"/>
          </a:xfrm>
          <a:prstGeom prst="rect">
            <a:avLst/>
          </a:prstGeom>
          <a:noFill/>
        </p:spPr>
        <p:txBody>
          <a:bodyPr wrap="none" rtlCol="0">
            <a:spAutoFit/>
          </a:bodyPr>
          <a:lstStyle/>
          <a:p>
            <a:r>
              <a:rPr lang="zh-CN" altLang="en-US" sz="2400" dirty="0"/>
              <a:t>初始化单纯形表</a:t>
            </a:r>
          </a:p>
        </p:txBody>
      </p:sp>
      <p:graphicFrame>
        <p:nvGraphicFramePr>
          <p:cNvPr id="10" name="对象 9">
            <a:extLst>
              <a:ext uri="{FF2B5EF4-FFF2-40B4-BE49-F238E27FC236}">
                <a16:creationId xmlns:a16="http://schemas.microsoft.com/office/drawing/2014/main" id="{A4A8D4B1-F794-48D1-9418-ED8FC0538D44}"/>
              </a:ext>
            </a:extLst>
          </p:cNvPr>
          <p:cNvGraphicFramePr>
            <a:graphicFrameLocks noChangeAspect="1"/>
          </p:cNvGraphicFramePr>
          <p:nvPr/>
        </p:nvGraphicFramePr>
        <p:xfrm>
          <a:off x="4786780" y="387084"/>
          <a:ext cx="4990756" cy="2949308"/>
        </p:xfrm>
        <a:graphic>
          <a:graphicData uri="http://schemas.openxmlformats.org/presentationml/2006/ole">
            <mc:AlternateContent xmlns:mc="http://schemas.openxmlformats.org/markup-compatibility/2006">
              <mc:Choice xmlns:v="urn:schemas-microsoft-com:vml" Requires="v">
                <p:oleObj name="Equation" r:id="rId4" imgW="2019240" imgH="1193760" progId="Equation.DSMT4">
                  <p:embed/>
                </p:oleObj>
              </mc:Choice>
              <mc:Fallback>
                <p:oleObj name="Equation" r:id="rId4" imgW="2019240" imgH="1193760" progId="Equation.DSMT4">
                  <p:embed/>
                  <p:pic>
                    <p:nvPicPr>
                      <p:cNvPr id="10" name="对象 9">
                        <a:extLst>
                          <a:ext uri="{FF2B5EF4-FFF2-40B4-BE49-F238E27FC236}">
                            <a16:creationId xmlns:a16="http://schemas.microsoft.com/office/drawing/2014/main" id="{A4A8D4B1-F794-48D1-9418-ED8FC0538D44}"/>
                          </a:ext>
                        </a:extLst>
                      </p:cNvPr>
                      <p:cNvPicPr/>
                      <p:nvPr/>
                    </p:nvPicPr>
                    <p:blipFill>
                      <a:blip r:embed="rId5"/>
                      <a:stretch>
                        <a:fillRect/>
                      </a:stretch>
                    </p:blipFill>
                    <p:spPr>
                      <a:xfrm>
                        <a:off x="4786780" y="387084"/>
                        <a:ext cx="4990756" cy="2949308"/>
                      </a:xfrm>
                      <a:prstGeom prst="rect">
                        <a:avLst/>
                      </a:prstGeom>
                      <a:ln w="28575">
                        <a:noFill/>
                      </a:ln>
                    </p:spPr>
                  </p:pic>
                </p:oleObj>
              </mc:Fallback>
            </mc:AlternateContent>
          </a:graphicData>
        </a:graphic>
      </p:graphicFrame>
    </p:spTree>
    <p:extLst>
      <p:ext uri="{BB962C8B-B14F-4D97-AF65-F5344CB8AC3E}">
        <p14:creationId xmlns:p14="http://schemas.microsoft.com/office/powerpoint/2010/main" val="120361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54</a:t>
            </a:fld>
            <a:endParaRPr lang="en-US" altLang="zh-CN" dirty="0"/>
          </a:p>
        </p:txBody>
      </p:sp>
      <p:sp>
        <p:nvSpPr>
          <p:cNvPr id="6" name="文本框 5">
            <a:extLst>
              <a:ext uri="{FF2B5EF4-FFF2-40B4-BE49-F238E27FC236}">
                <a16:creationId xmlns:a16="http://schemas.microsoft.com/office/drawing/2014/main" id="{2F2CA20C-4369-4F39-A105-8D0D03CBB1C8}"/>
              </a:ext>
            </a:extLst>
          </p:cNvPr>
          <p:cNvSpPr txBox="1"/>
          <p:nvPr/>
        </p:nvSpPr>
        <p:spPr>
          <a:xfrm>
            <a:off x="92949" y="1156062"/>
            <a:ext cx="4821951" cy="954107"/>
          </a:xfrm>
          <a:prstGeom prst="rect">
            <a:avLst/>
          </a:prstGeom>
          <a:noFill/>
        </p:spPr>
        <p:txBody>
          <a:bodyPr wrap="square" rtlCol="0">
            <a:spAutoFit/>
          </a:bodyPr>
          <a:lstStyle/>
          <a:p>
            <a:r>
              <a:rPr lang="en-US" altLang="zh-CN" sz="2800" dirty="0"/>
              <a:t>4. </a:t>
            </a:r>
            <a:r>
              <a:rPr lang="zh-CN" altLang="en-US" sz="2800" dirty="0"/>
              <a:t>第二阶段：求解线性规划问题</a:t>
            </a:r>
            <a:r>
              <a:rPr lang="en-US" altLang="zh-CN" sz="2800" dirty="0"/>
              <a:t>A</a:t>
            </a:r>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1376109642"/>
                  </p:ext>
                </p:extLst>
              </p:nvPr>
            </p:nvGraphicFramePr>
            <p:xfrm>
              <a:off x="58045" y="3282030"/>
              <a:ext cx="8009928"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4</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1376109642"/>
                  </p:ext>
                </p:extLst>
              </p:nvPr>
            </p:nvGraphicFramePr>
            <p:xfrm>
              <a:off x="58045" y="3282030"/>
              <a:ext cx="8009928"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rowSpan="2">
                      <a:txBody>
                        <a:bodyPr/>
                        <a:lstStyle/>
                        <a:p>
                          <a:endParaRPr lang="zh-CN"/>
                        </a:p>
                      </a:txBody>
                      <a:tcPr anchor="ctr">
                        <a:blipFill>
                          <a:blip r:embed="rId3"/>
                          <a:stretch>
                            <a:fillRect l="-701370" t="-559" r="-101370" b="-209497"/>
                          </a:stretch>
                        </a:blipFill>
                      </a:tcPr>
                    </a:tc>
                    <a:tc rowSpan="2">
                      <a:txBody>
                        <a:bodyPr/>
                        <a:lstStyle/>
                        <a:p>
                          <a:endParaRPr lang="zh-CN"/>
                        </a:p>
                      </a:txBody>
                      <a:tcPr anchor="ctr">
                        <a:blipFill>
                          <a:blip r:embed="rId3"/>
                          <a:stretch>
                            <a:fillRect l="-801370" t="-559" r="-1370" b="-209497"/>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x4</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0</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4</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X</a:t>
                          </a: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3"/>
                          <a:stretch>
                            <a:fillRect l="-342" t="-498889" r="-351027" b="-17778"/>
                          </a:stretch>
                        </a:blipFill>
                      </a:tcPr>
                    </a:tc>
                    <a:tc hMerge="1">
                      <a:txBody>
                        <a:bodyPr/>
                        <a:lstStyle/>
                        <a:p>
                          <a:pPr algn="ctr"/>
                          <a:endParaRPr lang="zh-CN" altLang="en-US" sz="240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A647BD2-6939-4206-BA5E-79161401D080}"/>
                  </a:ext>
                </a:extLst>
              </p:cNvPr>
              <p:cNvSpPr txBox="1"/>
              <p:nvPr/>
            </p:nvSpPr>
            <p:spPr>
              <a:xfrm>
                <a:off x="772107" y="2191511"/>
                <a:ext cx="3141694" cy="830997"/>
              </a:xfrm>
              <a:prstGeom prst="rect">
                <a:avLst/>
              </a:prstGeom>
              <a:noFill/>
            </p:spPr>
            <p:txBody>
              <a:bodyPr wrap="none" rtlCol="0">
                <a:spAutoFit/>
              </a:bodyPr>
              <a:lstStyle/>
              <a:p>
                <a:r>
                  <a:rPr lang="zh-CN" altLang="en-US" sz="2400" dirty="0"/>
                  <a:t>求基本可行解，填写</a:t>
                </a:r>
                <a14:m>
                  <m:oMath xmlns:m="http://schemas.openxmlformats.org/officeDocument/2006/math">
                    <m:r>
                      <a:rPr lang="zh-CN" altLang="en-US" sz="2400">
                        <a:latin typeface="Cambria Math" panose="02040503050406030204" pitchFamily="18" charset="0"/>
                      </a:rPr>
                      <m:t>𝜎</m:t>
                    </m:r>
                  </m:oMath>
                </a14:m>
                <a:endParaRPr lang="zh-CN" altLang="en-US" sz="2400" dirty="0"/>
              </a:p>
              <a:p>
                <a:r>
                  <a:rPr lang="zh-CN" altLang="en-US" sz="2400" dirty="0"/>
                  <a:t>和</a:t>
                </a:r>
                <a:r>
                  <a:rPr lang="en-US" altLang="zh-CN" sz="2400" dirty="0"/>
                  <a:t>q</a:t>
                </a:r>
                <a:r>
                  <a:rPr lang="zh-CN" altLang="en-US" sz="2400" dirty="0"/>
                  <a:t>的值</a:t>
                </a:r>
              </a:p>
            </p:txBody>
          </p:sp>
        </mc:Choice>
        <mc:Fallback xmlns="">
          <p:sp>
            <p:nvSpPr>
              <p:cNvPr id="11" name="文本框 10">
                <a:extLst>
                  <a:ext uri="{FF2B5EF4-FFF2-40B4-BE49-F238E27FC236}">
                    <a16:creationId xmlns:a16="http://schemas.microsoft.com/office/drawing/2014/main" id="{9A647BD2-6939-4206-BA5E-79161401D080}"/>
                  </a:ext>
                </a:extLst>
              </p:cNvPr>
              <p:cNvSpPr txBox="1">
                <a:spLocks noRot="1" noChangeAspect="1" noMove="1" noResize="1" noEditPoints="1" noAdjustHandles="1" noChangeArrowheads="1" noChangeShapeType="1" noTextEdit="1"/>
              </p:cNvSpPr>
              <p:nvPr/>
            </p:nvSpPr>
            <p:spPr>
              <a:xfrm>
                <a:off x="772107" y="2191511"/>
                <a:ext cx="3141694" cy="830997"/>
              </a:xfrm>
              <a:prstGeom prst="rect">
                <a:avLst/>
              </a:prstGeom>
              <a:blipFill>
                <a:blip r:embed="rId4"/>
                <a:stretch>
                  <a:fillRect l="-3107" t="-5109" b="-15328"/>
                </a:stretch>
              </a:blipFill>
            </p:spPr>
            <p:txBody>
              <a:bodyPr/>
              <a:lstStyle/>
              <a:p>
                <a:r>
                  <a:rPr lang="zh-CN" altLang="en-US">
                    <a:noFill/>
                  </a:rPr>
                  <a:t> </a:t>
                </a:r>
              </a:p>
            </p:txBody>
          </p:sp>
        </mc:Fallback>
      </mc:AlternateContent>
      <p:graphicFrame>
        <p:nvGraphicFramePr>
          <p:cNvPr id="12" name="对象 11">
            <a:extLst>
              <a:ext uri="{FF2B5EF4-FFF2-40B4-BE49-F238E27FC236}">
                <a16:creationId xmlns:a16="http://schemas.microsoft.com/office/drawing/2014/main" id="{53FEA1DB-0AF6-4F8E-B4A3-F920C6D1D785}"/>
              </a:ext>
            </a:extLst>
          </p:cNvPr>
          <p:cNvGraphicFramePr>
            <a:graphicFrameLocks noChangeAspect="1"/>
          </p:cNvGraphicFramePr>
          <p:nvPr>
            <p:extLst>
              <p:ext uri="{D42A27DB-BD31-4B8C-83A1-F6EECF244321}">
                <p14:modId xmlns:p14="http://schemas.microsoft.com/office/powerpoint/2010/main" val="731910709"/>
              </p:ext>
            </p:extLst>
          </p:nvPr>
        </p:nvGraphicFramePr>
        <p:xfrm>
          <a:off x="5300663" y="1149350"/>
          <a:ext cx="2308225" cy="530225"/>
        </p:xfrm>
        <a:graphic>
          <a:graphicData uri="http://schemas.openxmlformats.org/presentationml/2006/ole">
            <mc:AlternateContent xmlns:mc="http://schemas.openxmlformats.org/markup-compatibility/2006">
              <mc:Choice xmlns:v="urn:schemas-microsoft-com:vml" Requires="v">
                <p:oleObj name="Equation" r:id="rId5" imgW="1218960" imgH="279360" progId="Equation.DSMT4">
                  <p:embed/>
                </p:oleObj>
              </mc:Choice>
              <mc:Fallback>
                <p:oleObj name="Equation" r:id="rId5" imgW="1218960" imgH="279360" progId="Equation.DSMT4">
                  <p:embed/>
                  <p:pic>
                    <p:nvPicPr>
                      <p:cNvPr id="16" name="对象 15">
                        <a:extLst>
                          <a:ext uri="{FF2B5EF4-FFF2-40B4-BE49-F238E27FC236}">
                            <a16:creationId xmlns:a16="http://schemas.microsoft.com/office/drawing/2014/main" id="{32B5E466-EFC5-4E89-8741-8215EAA01BC3}"/>
                          </a:ext>
                        </a:extLst>
                      </p:cNvPr>
                      <p:cNvPicPr/>
                      <p:nvPr/>
                    </p:nvPicPr>
                    <p:blipFill>
                      <a:blip r:embed="rId6"/>
                      <a:stretch>
                        <a:fillRect/>
                      </a:stretch>
                    </p:blipFill>
                    <p:spPr>
                      <a:xfrm>
                        <a:off x="5300663" y="1149350"/>
                        <a:ext cx="2308225" cy="530225"/>
                      </a:xfrm>
                      <a:prstGeom prst="rect">
                        <a:avLst/>
                      </a:prstGeom>
                    </p:spPr>
                  </p:pic>
                </p:oleObj>
              </mc:Fallback>
            </mc:AlternateContent>
          </a:graphicData>
        </a:graphic>
      </p:graphicFrame>
      <p:sp>
        <p:nvSpPr>
          <p:cNvPr id="15" name="矩形 14">
            <a:extLst>
              <a:ext uri="{FF2B5EF4-FFF2-40B4-BE49-F238E27FC236}">
                <a16:creationId xmlns:a16="http://schemas.microsoft.com/office/drawing/2014/main" id="{CCF567E9-CB26-4B85-ABAA-DE02ABA6E64E}"/>
              </a:ext>
            </a:extLst>
          </p:cNvPr>
          <p:cNvSpPr/>
          <p:nvPr/>
        </p:nvSpPr>
        <p:spPr>
          <a:xfrm>
            <a:off x="5049838" y="1836190"/>
            <a:ext cx="3384376" cy="461665"/>
          </a:xfrm>
          <a:prstGeom prst="rect">
            <a:avLst/>
          </a:prstGeom>
          <a:solidFill>
            <a:srgbClr val="FFFF66"/>
          </a:solidFill>
          <a:ln>
            <a:solidFill>
              <a:schemeClr val="tx1"/>
            </a:solidFill>
          </a:ln>
        </p:spPr>
        <p:txBody>
          <a:bodyPr wrap="square">
            <a:spAutoFit/>
          </a:bodyPr>
          <a:lstStyle/>
          <a:p>
            <a:r>
              <a:rPr lang="zh-CN" altLang="en-US" sz="2400" b="1" dirty="0">
                <a:solidFill>
                  <a:srgbClr val="C00000"/>
                </a:solidFill>
              </a:rPr>
              <a:t>选择</a:t>
            </a:r>
            <a:r>
              <a:rPr lang="en-US" altLang="zh-CN" sz="2400" b="1" dirty="0">
                <a:solidFill>
                  <a:srgbClr val="C00000"/>
                </a:solidFill>
              </a:rPr>
              <a:t>X1</a:t>
            </a:r>
            <a:r>
              <a:rPr lang="zh-CN" altLang="en-US" sz="2400" b="1" dirty="0">
                <a:solidFill>
                  <a:srgbClr val="C00000"/>
                </a:solidFill>
              </a:rPr>
              <a:t>入基，</a:t>
            </a:r>
            <a:r>
              <a:rPr lang="en-US" altLang="zh-CN" sz="2400" b="1" dirty="0">
                <a:solidFill>
                  <a:srgbClr val="C00000"/>
                </a:solidFill>
              </a:rPr>
              <a:t>X4</a:t>
            </a:r>
            <a:r>
              <a:rPr lang="zh-CN" altLang="en-US" sz="2400" b="1" dirty="0">
                <a:solidFill>
                  <a:srgbClr val="C00000"/>
                </a:solidFill>
              </a:rPr>
              <a:t>离基</a:t>
            </a:r>
            <a:endParaRPr lang="en-US" altLang="zh-CN" sz="2400" b="1" dirty="0">
              <a:solidFill>
                <a:srgbClr val="C00000"/>
              </a:solidFill>
            </a:endParaRPr>
          </a:p>
        </p:txBody>
      </p:sp>
    </p:spTree>
    <p:extLst>
      <p:ext uri="{BB962C8B-B14F-4D97-AF65-F5344CB8AC3E}">
        <p14:creationId xmlns:p14="http://schemas.microsoft.com/office/powerpoint/2010/main" val="1065074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par>
                          <p:cTn id="11" fill="hold">
                            <p:stCondLst>
                              <p:cond delay="500"/>
                            </p:stCondLst>
                            <p:childTnLst>
                              <p:par>
                                <p:cTn id="12" presetID="2" presetClass="entr" presetSubtype="4"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500" fill="hold"/>
                                        <p:tgtEl>
                                          <p:spTgt spid="15"/>
                                        </p:tgtEl>
                                        <p:attrNameLst>
                                          <p:attrName>ppt_x</p:attrName>
                                        </p:attrNameLst>
                                      </p:cBhvr>
                                      <p:tavLst>
                                        <p:tav tm="0">
                                          <p:val>
                                            <p:strVal val="#ppt_x"/>
                                          </p:val>
                                        </p:tav>
                                        <p:tav tm="100000">
                                          <p:val>
                                            <p:strVal val="#ppt_x"/>
                                          </p:val>
                                        </p:tav>
                                      </p:tavLst>
                                    </p:anim>
                                    <p:anim calcmode="lin" valueType="num">
                                      <p:cBhvr additive="base">
                                        <p:cTn id="1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55</a:t>
            </a:fld>
            <a:endParaRPr lang="en-US" altLang="zh-CN" dirty="0"/>
          </a:p>
        </p:txBody>
      </p:sp>
      <p:sp>
        <p:nvSpPr>
          <p:cNvPr id="6" name="文本框 5">
            <a:extLst>
              <a:ext uri="{FF2B5EF4-FFF2-40B4-BE49-F238E27FC236}">
                <a16:creationId xmlns:a16="http://schemas.microsoft.com/office/drawing/2014/main" id="{2F2CA20C-4369-4F39-A105-8D0D03CBB1C8}"/>
              </a:ext>
            </a:extLst>
          </p:cNvPr>
          <p:cNvSpPr txBox="1"/>
          <p:nvPr/>
        </p:nvSpPr>
        <p:spPr>
          <a:xfrm>
            <a:off x="92949" y="1156062"/>
            <a:ext cx="4821951" cy="954107"/>
          </a:xfrm>
          <a:prstGeom prst="rect">
            <a:avLst/>
          </a:prstGeom>
          <a:noFill/>
        </p:spPr>
        <p:txBody>
          <a:bodyPr wrap="square" rtlCol="0">
            <a:spAutoFit/>
          </a:bodyPr>
          <a:lstStyle/>
          <a:p>
            <a:r>
              <a:rPr lang="en-US" altLang="zh-CN" sz="2800" dirty="0"/>
              <a:t>4. </a:t>
            </a:r>
            <a:r>
              <a:rPr lang="zh-CN" altLang="en-US" sz="2800" dirty="0"/>
              <a:t>第二阶段：求解线性规划问题</a:t>
            </a:r>
            <a:r>
              <a:rPr lang="en-US" altLang="zh-CN" sz="2800" dirty="0"/>
              <a:t>A</a:t>
            </a:r>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2514619989"/>
                  </p:ext>
                </p:extLst>
              </p:nvPr>
            </p:nvGraphicFramePr>
            <p:xfrm>
              <a:off x="58045" y="3282030"/>
              <a:ext cx="8009928"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3" name="表格 12">
                <a:extLst>
                  <a:ext uri="{FF2B5EF4-FFF2-40B4-BE49-F238E27FC236}">
                    <a16:creationId xmlns:a16="http://schemas.microsoft.com/office/drawing/2014/main" id="{5DA0264F-D118-47C9-AAA1-18358ACCCF13}"/>
                  </a:ext>
                </a:extLst>
              </p:cNvPr>
              <p:cNvGraphicFramePr>
                <a:graphicFrameLocks noGrp="1"/>
              </p:cNvGraphicFramePr>
              <p:nvPr>
                <p:extLst>
                  <p:ext uri="{D42A27DB-BD31-4B8C-83A1-F6EECF244321}">
                    <p14:modId xmlns:p14="http://schemas.microsoft.com/office/powerpoint/2010/main" val="2514619989"/>
                  </p:ext>
                </p:extLst>
              </p:nvPr>
            </p:nvGraphicFramePr>
            <p:xfrm>
              <a:off x="58045" y="3282030"/>
              <a:ext cx="8009928"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rowSpan="2">
                      <a:txBody>
                        <a:bodyPr/>
                        <a:lstStyle/>
                        <a:p>
                          <a:endParaRPr lang="zh-CN"/>
                        </a:p>
                      </a:txBody>
                      <a:tcPr anchor="ctr">
                        <a:blipFill>
                          <a:blip r:embed="rId2"/>
                          <a:stretch>
                            <a:fillRect l="-701370" t="-559" r="-101370" b="-201676"/>
                          </a:stretch>
                        </a:blipFill>
                      </a:tcPr>
                    </a:tc>
                    <a:tc rowSpan="2">
                      <a:txBody>
                        <a:bodyPr/>
                        <a:lstStyle/>
                        <a:p>
                          <a:endParaRPr lang="zh-CN"/>
                        </a:p>
                      </a:txBody>
                      <a:tcPr anchor="ctr">
                        <a:blipFill>
                          <a:blip r:embed="rId2"/>
                          <a:stretch>
                            <a:fillRect l="-801370" t="-559" r="-1370" b="-201676"/>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12</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2"/>
                          <a:stretch>
                            <a:fillRect l="-342" t="-498889" r="-351027" b="-2222"/>
                          </a:stretch>
                        </a:blipFill>
                      </a:tcPr>
                    </a:tc>
                    <a:tc hMerge="1">
                      <a:txBody>
                        <a:bodyPr/>
                        <a:lstStyle/>
                        <a:p>
                          <a:pPr algn="ctr"/>
                          <a:endParaRPr lang="zh-CN" altLang="en-US" sz="240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a:txBody>
                        <a:bodyPr/>
                        <a:lstStyle/>
                        <a:p>
                          <a:pPr algn="ct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FB3CAC0-1A41-47A5-8329-5F913E074E4A}"/>
                  </a:ext>
                </a:extLst>
              </p:cNvPr>
              <p:cNvSpPr txBox="1"/>
              <p:nvPr/>
            </p:nvSpPr>
            <p:spPr>
              <a:xfrm>
                <a:off x="776536" y="2050597"/>
                <a:ext cx="3716083" cy="830997"/>
              </a:xfrm>
              <a:prstGeom prst="rect">
                <a:avLst/>
              </a:prstGeom>
              <a:noFill/>
            </p:spPr>
            <p:txBody>
              <a:bodyPr wrap="square" rtlCol="0">
                <a:spAutoFit/>
              </a:bodyPr>
              <a:lstStyle/>
              <a:p>
                <a:r>
                  <a:rPr lang="zh-CN" altLang="en-US" sz="2400" dirty="0"/>
                  <a:t>替换基变量清除</a:t>
                </a:r>
                <a14:m>
                  <m:oMath xmlns:m="http://schemas.openxmlformats.org/officeDocument/2006/math">
                    <m:r>
                      <a:rPr lang="zh-CN" altLang="en-US" sz="2400">
                        <a:latin typeface="Cambria Math" panose="02040503050406030204" pitchFamily="18" charset="0"/>
                      </a:rPr>
                      <m:t>𝜎</m:t>
                    </m:r>
                  </m:oMath>
                </a14:m>
                <a:r>
                  <a:rPr lang="zh-CN" altLang="en-US" sz="2400" dirty="0"/>
                  <a:t>和</a:t>
                </a:r>
                <a:r>
                  <a:rPr lang="en-US" altLang="zh-CN" sz="2400" dirty="0"/>
                  <a:t>q</a:t>
                </a:r>
                <a:r>
                  <a:rPr lang="zh-CN" altLang="en-US" sz="2400" dirty="0"/>
                  <a:t>，矩阵转换</a:t>
                </a:r>
              </a:p>
            </p:txBody>
          </p:sp>
        </mc:Choice>
        <mc:Fallback xmlns="">
          <p:sp>
            <p:nvSpPr>
              <p:cNvPr id="10" name="文本框 9">
                <a:extLst>
                  <a:ext uri="{FF2B5EF4-FFF2-40B4-BE49-F238E27FC236}">
                    <a16:creationId xmlns:a16="http://schemas.microsoft.com/office/drawing/2014/main" id="{EFB3CAC0-1A41-47A5-8329-5F913E074E4A}"/>
                  </a:ext>
                </a:extLst>
              </p:cNvPr>
              <p:cNvSpPr txBox="1">
                <a:spLocks noRot="1" noChangeAspect="1" noMove="1" noResize="1" noEditPoints="1" noAdjustHandles="1" noChangeArrowheads="1" noChangeShapeType="1" noTextEdit="1"/>
              </p:cNvSpPr>
              <p:nvPr/>
            </p:nvSpPr>
            <p:spPr>
              <a:xfrm>
                <a:off x="776536" y="2050597"/>
                <a:ext cx="3716083" cy="830997"/>
              </a:xfrm>
              <a:prstGeom prst="rect">
                <a:avLst/>
              </a:prstGeom>
              <a:blipFill>
                <a:blip r:embed="rId3"/>
                <a:stretch>
                  <a:fillRect l="-2459" t="-5839" b="-15328"/>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8CF4F631-7BAA-4CCB-9690-5503CBE9B4D1}"/>
              </a:ext>
            </a:extLst>
          </p:cNvPr>
          <p:cNvSpPr txBox="1"/>
          <p:nvPr/>
        </p:nvSpPr>
        <p:spPr>
          <a:xfrm>
            <a:off x="5016916" y="1194855"/>
            <a:ext cx="1895071" cy="461665"/>
          </a:xfrm>
          <a:prstGeom prst="rect">
            <a:avLst/>
          </a:prstGeom>
          <a:noFill/>
        </p:spPr>
        <p:txBody>
          <a:bodyPr wrap="none" rtlCol="0">
            <a:spAutoFit/>
          </a:bodyPr>
          <a:lstStyle/>
          <a:p>
            <a:r>
              <a:rPr lang="zh-CN" altLang="en-US" sz="2400" dirty="0"/>
              <a:t>第一行除以</a:t>
            </a:r>
            <a:r>
              <a:rPr lang="en-US" altLang="zh-CN" sz="2400" dirty="0"/>
              <a:t>3</a:t>
            </a:r>
            <a:endParaRPr lang="zh-CN" altLang="en-US" sz="2400" dirty="0"/>
          </a:p>
        </p:txBody>
      </p:sp>
      <p:sp>
        <p:nvSpPr>
          <p:cNvPr id="16" name="文本框 15">
            <a:extLst>
              <a:ext uri="{FF2B5EF4-FFF2-40B4-BE49-F238E27FC236}">
                <a16:creationId xmlns:a16="http://schemas.microsoft.com/office/drawing/2014/main" id="{EA89B432-6034-4246-9885-360BAF020A37}"/>
              </a:ext>
            </a:extLst>
          </p:cNvPr>
          <p:cNvSpPr txBox="1"/>
          <p:nvPr/>
        </p:nvSpPr>
        <p:spPr>
          <a:xfrm>
            <a:off x="5016916" y="1669713"/>
            <a:ext cx="3433953" cy="461665"/>
          </a:xfrm>
          <a:prstGeom prst="rect">
            <a:avLst/>
          </a:prstGeom>
          <a:noFill/>
        </p:spPr>
        <p:txBody>
          <a:bodyPr wrap="none" rtlCol="0">
            <a:spAutoFit/>
          </a:bodyPr>
          <a:lstStyle/>
          <a:p>
            <a:r>
              <a:rPr lang="zh-CN" altLang="en-US" sz="2400" dirty="0"/>
              <a:t>第一行乘以</a:t>
            </a:r>
            <a:r>
              <a:rPr lang="en-US" altLang="zh-CN" sz="2400" dirty="0"/>
              <a:t>2</a:t>
            </a:r>
            <a:r>
              <a:rPr lang="zh-CN" altLang="en-US" sz="2400" dirty="0"/>
              <a:t>加上第三行</a:t>
            </a:r>
          </a:p>
        </p:txBody>
      </p:sp>
      <p:graphicFrame>
        <p:nvGraphicFramePr>
          <p:cNvPr id="3" name="表格 2">
            <a:extLst>
              <a:ext uri="{FF2B5EF4-FFF2-40B4-BE49-F238E27FC236}">
                <a16:creationId xmlns:a16="http://schemas.microsoft.com/office/drawing/2014/main" id="{5A65D657-FD89-4DA9-8EBD-E4F2FABAEE26}"/>
              </a:ext>
            </a:extLst>
          </p:cNvPr>
          <p:cNvGraphicFramePr>
            <a:graphicFrameLocks noGrp="1"/>
          </p:cNvGraphicFramePr>
          <p:nvPr>
            <p:extLst>
              <p:ext uri="{D42A27DB-BD31-4B8C-83A1-F6EECF244321}">
                <p14:modId xmlns:p14="http://schemas.microsoft.com/office/powerpoint/2010/main" val="1070406238"/>
              </p:ext>
            </p:extLst>
          </p:nvPr>
        </p:nvGraphicFramePr>
        <p:xfrm>
          <a:off x="1822643" y="2608942"/>
          <a:ext cx="5339952" cy="54530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2756756883"/>
                    </a:ext>
                  </a:extLst>
                </a:gridCol>
                <a:gridCol w="889992">
                  <a:extLst>
                    <a:ext uri="{9D8B030D-6E8A-4147-A177-3AD203B41FA5}">
                      <a16:colId xmlns:a16="http://schemas.microsoft.com/office/drawing/2014/main" val="2157000012"/>
                    </a:ext>
                  </a:extLst>
                </a:gridCol>
                <a:gridCol w="889992">
                  <a:extLst>
                    <a:ext uri="{9D8B030D-6E8A-4147-A177-3AD203B41FA5}">
                      <a16:colId xmlns:a16="http://schemas.microsoft.com/office/drawing/2014/main" val="2561591571"/>
                    </a:ext>
                  </a:extLst>
                </a:gridCol>
                <a:gridCol w="889992">
                  <a:extLst>
                    <a:ext uri="{9D8B030D-6E8A-4147-A177-3AD203B41FA5}">
                      <a16:colId xmlns:a16="http://schemas.microsoft.com/office/drawing/2014/main" val="2490810588"/>
                    </a:ext>
                  </a:extLst>
                </a:gridCol>
                <a:gridCol w="889992">
                  <a:extLst>
                    <a:ext uri="{9D8B030D-6E8A-4147-A177-3AD203B41FA5}">
                      <a16:colId xmlns:a16="http://schemas.microsoft.com/office/drawing/2014/main" val="3013572228"/>
                    </a:ext>
                  </a:extLst>
                </a:gridCol>
                <a:gridCol w="889992">
                  <a:extLst>
                    <a:ext uri="{9D8B030D-6E8A-4147-A177-3AD203B41FA5}">
                      <a16:colId xmlns:a16="http://schemas.microsoft.com/office/drawing/2014/main" val="1963636888"/>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tc>
                <a:extLst>
                  <a:ext uri="{0D108BD9-81ED-4DB2-BD59-A6C34878D82A}">
                    <a16:rowId xmlns:a16="http://schemas.microsoft.com/office/drawing/2014/main" val="4118476419"/>
                  </a:ext>
                </a:extLst>
              </a:tr>
            </a:tbl>
          </a:graphicData>
        </a:graphic>
      </p:graphicFrame>
      <p:graphicFrame>
        <p:nvGraphicFramePr>
          <p:cNvPr id="18" name="表格 17">
            <a:extLst>
              <a:ext uri="{FF2B5EF4-FFF2-40B4-BE49-F238E27FC236}">
                <a16:creationId xmlns:a16="http://schemas.microsoft.com/office/drawing/2014/main" id="{6622D08B-335C-4128-8158-F162E86958A3}"/>
              </a:ext>
            </a:extLst>
          </p:cNvPr>
          <p:cNvGraphicFramePr>
            <a:graphicFrameLocks noGrp="1"/>
          </p:cNvGraphicFramePr>
          <p:nvPr>
            <p:extLst>
              <p:ext uri="{D42A27DB-BD31-4B8C-83A1-F6EECF244321}">
                <p14:modId xmlns:p14="http://schemas.microsoft.com/office/powerpoint/2010/main" val="1275180633"/>
              </p:ext>
            </p:extLst>
          </p:nvPr>
        </p:nvGraphicFramePr>
        <p:xfrm>
          <a:off x="1838027" y="4371464"/>
          <a:ext cx="5339952" cy="54530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2756756883"/>
                    </a:ext>
                  </a:extLst>
                </a:gridCol>
                <a:gridCol w="889992">
                  <a:extLst>
                    <a:ext uri="{9D8B030D-6E8A-4147-A177-3AD203B41FA5}">
                      <a16:colId xmlns:a16="http://schemas.microsoft.com/office/drawing/2014/main" val="2157000012"/>
                    </a:ext>
                  </a:extLst>
                </a:gridCol>
                <a:gridCol w="889992">
                  <a:extLst>
                    <a:ext uri="{9D8B030D-6E8A-4147-A177-3AD203B41FA5}">
                      <a16:colId xmlns:a16="http://schemas.microsoft.com/office/drawing/2014/main" val="2561591571"/>
                    </a:ext>
                  </a:extLst>
                </a:gridCol>
                <a:gridCol w="889992">
                  <a:extLst>
                    <a:ext uri="{9D8B030D-6E8A-4147-A177-3AD203B41FA5}">
                      <a16:colId xmlns:a16="http://schemas.microsoft.com/office/drawing/2014/main" val="2490810588"/>
                    </a:ext>
                  </a:extLst>
                </a:gridCol>
                <a:gridCol w="889992">
                  <a:extLst>
                    <a:ext uri="{9D8B030D-6E8A-4147-A177-3AD203B41FA5}">
                      <a16:colId xmlns:a16="http://schemas.microsoft.com/office/drawing/2014/main" val="3013572228"/>
                    </a:ext>
                  </a:extLst>
                </a:gridCol>
                <a:gridCol w="889992">
                  <a:extLst>
                    <a:ext uri="{9D8B030D-6E8A-4147-A177-3AD203B41FA5}">
                      <a16:colId xmlns:a16="http://schemas.microsoft.com/office/drawing/2014/main" val="1963636888"/>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1/3</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solidFill>
                      <a:schemeClr val="bg1"/>
                    </a:solidFill>
                  </a:tcPr>
                </a:tc>
                <a:extLst>
                  <a:ext uri="{0D108BD9-81ED-4DB2-BD59-A6C34878D82A}">
                    <a16:rowId xmlns:a16="http://schemas.microsoft.com/office/drawing/2014/main" val="4118476419"/>
                  </a:ext>
                </a:extLst>
              </a:tr>
            </a:tbl>
          </a:graphicData>
        </a:graphic>
      </p:graphicFrame>
      <p:graphicFrame>
        <p:nvGraphicFramePr>
          <p:cNvPr id="19" name="表格 18">
            <a:extLst>
              <a:ext uri="{FF2B5EF4-FFF2-40B4-BE49-F238E27FC236}">
                <a16:creationId xmlns:a16="http://schemas.microsoft.com/office/drawing/2014/main" id="{5E26F17A-56E8-40C5-9D68-C05D8720EA36}"/>
              </a:ext>
            </a:extLst>
          </p:cNvPr>
          <p:cNvGraphicFramePr>
            <a:graphicFrameLocks noGrp="1"/>
          </p:cNvGraphicFramePr>
          <p:nvPr>
            <p:extLst>
              <p:ext uri="{D42A27DB-BD31-4B8C-83A1-F6EECF244321}">
                <p14:modId xmlns:p14="http://schemas.microsoft.com/office/powerpoint/2010/main" val="2455604256"/>
              </p:ext>
            </p:extLst>
          </p:nvPr>
        </p:nvGraphicFramePr>
        <p:xfrm>
          <a:off x="1838027" y="5462659"/>
          <a:ext cx="5339952" cy="54530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2756756883"/>
                    </a:ext>
                  </a:extLst>
                </a:gridCol>
                <a:gridCol w="889992">
                  <a:extLst>
                    <a:ext uri="{9D8B030D-6E8A-4147-A177-3AD203B41FA5}">
                      <a16:colId xmlns:a16="http://schemas.microsoft.com/office/drawing/2014/main" val="2157000012"/>
                    </a:ext>
                  </a:extLst>
                </a:gridCol>
                <a:gridCol w="889992">
                  <a:extLst>
                    <a:ext uri="{9D8B030D-6E8A-4147-A177-3AD203B41FA5}">
                      <a16:colId xmlns:a16="http://schemas.microsoft.com/office/drawing/2014/main" val="2561591571"/>
                    </a:ext>
                  </a:extLst>
                </a:gridCol>
                <a:gridCol w="889992">
                  <a:extLst>
                    <a:ext uri="{9D8B030D-6E8A-4147-A177-3AD203B41FA5}">
                      <a16:colId xmlns:a16="http://schemas.microsoft.com/office/drawing/2014/main" val="2490810588"/>
                    </a:ext>
                  </a:extLst>
                </a:gridCol>
                <a:gridCol w="889992">
                  <a:extLst>
                    <a:ext uri="{9D8B030D-6E8A-4147-A177-3AD203B41FA5}">
                      <a16:colId xmlns:a16="http://schemas.microsoft.com/office/drawing/2014/main" val="3013572228"/>
                    </a:ext>
                  </a:extLst>
                </a:gridCol>
                <a:gridCol w="889992">
                  <a:extLst>
                    <a:ext uri="{9D8B030D-6E8A-4147-A177-3AD203B41FA5}">
                      <a16:colId xmlns:a16="http://schemas.microsoft.com/office/drawing/2014/main" val="1963636888"/>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-4/3</a:t>
                      </a:r>
                      <a:endParaRPr lang="zh-CN" altLang="en-US" sz="2400" baseline="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9</a:t>
                      </a:r>
                      <a:endParaRPr lang="zh-CN" altLang="en-US" sz="2400" baseline="0" dirty="0"/>
                    </a:p>
                  </a:txBody>
                  <a:tcPr anchor="ctr">
                    <a:solidFill>
                      <a:schemeClr val="bg1"/>
                    </a:solidFill>
                  </a:tcPr>
                </a:tc>
                <a:extLst>
                  <a:ext uri="{0D108BD9-81ED-4DB2-BD59-A6C34878D82A}">
                    <a16:rowId xmlns:a16="http://schemas.microsoft.com/office/drawing/2014/main" val="4118476419"/>
                  </a:ext>
                </a:extLst>
              </a:tr>
            </a:tbl>
          </a:graphicData>
        </a:graphic>
      </p:graphicFrame>
      <p:graphicFrame>
        <p:nvGraphicFramePr>
          <p:cNvPr id="20" name="表格 19">
            <a:extLst>
              <a:ext uri="{FF2B5EF4-FFF2-40B4-BE49-F238E27FC236}">
                <a16:creationId xmlns:a16="http://schemas.microsoft.com/office/drawing/2014/main" id="{48817F05-F391-42C8-9D2D-2AE7C06C48B3}"/>
              </a:ext>
            </a:extLst>
          </p:cNvPr>
          <p:cNvGraphicFramePr>
            <a:graphicFrameLocks noGrp="1"/>
          </p:cNvGraphicFramePr>
          <p:nvPr>
            <p:extLst>
              <p:ext uri="{D42A27DB-BD31-4B8C-83A1-F6EECF244321}">
                <p14:modId xmlns:p14="http://schemas.microsoft.com/office/powerpoint/2010/main" val="797573839"/>
              </p:ext>
            </p:extLst>
          </p:nvPr>
        </p:nvGraphicFramePr>
        <p:xfrm>
          <a:off x="1838027" y="2606238"/>
          <a:ext cx="5339952" cy="54530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2756756883"/>
                    </a:ext>
                  </a:extLst>
                </a:gridCol>
                <a:gridCol w="889992">
                  <a:extLst>
                    <a:ext uri="{9D8B030D-6E8A-4147-A177-3AD203B41FA5}">
                      <a16:colId xmlns:a16="http://schemas.microsoft.com/office/drawing/2014/main" val="2157000012"/>
                    </a:ext>
                  </a:extLst>
                </a:gridCol>
                <a:gridCol w="889992">
                  <a:extLst>
                    <a:ext uri="{9D8B030D-6E8A-4147-A177-3AD203B41FA5}">
                      <a16:colId xmlns:a16="http://schemas.microsoft.com/office/drawing/2014/main" val="2561591571"/>
                    </a:ext>
                  </a:extLst>
                </a:gridCol>
                <a:gridCol w="889992">
                  <a:extLst>
                    <a:ext uri="{9D8B030D-6E8A-4147-A177-3AD203B41FA5}">
                      <a16:colId xmlns:a16="http://schemas.microsoft.com/office/drawing/2014/main" val="2490810588"/>
                    </a:ext>
                  </a:extLst>
                </a:gridCol>
                <a:gridCol w="889992">
                  <a:extLst>
                    <a:ext uri="{9D8B030D-6E8A-4147-A177-3AD203B41FA5}">
                      <a16:colId xmlns:a16="http://schemas.microsoft.com/office/drawing/2014/main" val="3013572228"/>
                    </a:ext>
                  </a:extLst>
                </a:gridCol>
                <a:gridCol w="889992">
                  <a:extLst>
                    <a:ext uri="{9D8B030D-6E8A-4147-A177-3AD203B41FA5}">
                      <a16:colId xmlns:a16="http://schemas.microsoft.com/office/drawing/2014/main" val="1963636888"/>
                    </a:ext>
                  </a:extLst>
                </a:gridCol>
              </a:tblGrid>
              <a:tr h="5453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9</a:t>
                      </a:r>
                      <a:endParaRPr lang="zh-CN" altLang="en-US" sz="2400" baseline="0" dirty="0"/>
                    </a:p>
                  </a:txBody>
                  <a:tcPr anchor="ctr"/>
                </a:tc>
                <a:extLst>
                  <a:ext uri="{0D108BD9-81ED-4DB2-BD59-A6C34878D82A}">
                    <a16:rowId xmlns:a16="http://schemas.microsoft.com/office/drawing/2014/main" val="4118476419"/>
                  </a:ext>
                </a:extLst>
              </a:tr>
            </a:tbl>
          </a:graphicData>
        </a:graphic>
      </p:graphicFrame>
    </p:spTree>
    <p:extLst>
      <p:ext uri="{BB962C8B-B14F-4D97-AF65-F5344CB8AC3E}">
        <p14:creationId xmlns:p14="http://schemas.microsoft.com/office/powerpoint/2010/main" val="12092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xit" presetSubtype="4" fill="hold" nodeType="clickEffect">
                                  <p:stCondLst>
                                    <p:cond delay="0"/>
                                  </p:stCondLst>
                                  <p:childTnLst>
                                    <p:anim calcmode="lin" valueType="num">
                                      <p:cBhvr additive="base">
                                        <p:cTn id="22" dur="500"/>
                                        <p:tgtEl>
                                          <p:spTgt spid="3"/>
                                        </p:tgtEl>
                                        <p:attrNameLst>
                                          <p:attrName>ppt_y</p:attrName>
                                        </p:attrNameLst>
                                      </p:cBhvr>
                                      <p:tavLst>
                                        <p:tav tm="0">
                                          <p:val>
                                            <p:strVal val="#ppt_y"/>
                                          </p:val>
                                        </p:tav>
                                        <p:tav tm="100000">
                                          <p:val>
                                            <p:strVal val="#ppt_y+#ppt_h*1.125000"/>
                                          </p:val>
                                        </p:tav>
                                      </p:tavLst>
                                    </p:anim>
                                    <p:animEffect transition="out" filter="wipe(down)">
                                      <p:cBhvr>
                                        <p:cTn id="23" dur="500"/>
                                        <p:tgtEl>
                                          <p:spTgt spid="3"/>
                                        </p:tgtEl>
                                      </p:cBhvr>
                                    </p:animEffect>
                                    <p:set>
                                      <p:cBhvr>
                                        <p:cTn id="24" dur="1" fill="hold">
                                          <p:stCondLst>
                                            <p:cond delay="499"/>
                                          </p:stCondLst>
                                        </p:cTn>
                                        <p:tgtEl>
                                          <p:spTgt spid="3"/>
                                        </p:tgtEl>
                                        <p:attrNameLst>
                                          <p:attrName>style.visibility</p:attrName>
                                        </p:attrNameLst>
                                      </p:cBhvr>
                                      <p:to>
                                        <p:strVal val="hidden"/>
                                      </p:to>
                                    </p:set>
                                  </p:childTnLst>
                                </p:cTn>
                              </p:par>
                            </p:childTnLst>
                          </p:cTn>
                        </p:par>
                        <p:par>
                          <p:cTn id="25" fill="hold">
                            <p:stCondLst>
                              <p:cond delay="500"/>
                            </p:stCondLst>
                            <p:childTnLst>
                              <p:par>
                                <p:cTn id="26" presetID="12" presetClass="entr" presetSubtype="4" fill="hold" nodeType="after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p:tgtEl>
                                          <p:spTgt spid="18"/>
                                        </p:tgtEl>
                                        <p:attrNameLst>
                                          <p:attrName>ppt_y</p:attrName>
                                        </p:attrNameLst>
                                      </p:cBhvr>
                                      <p:tavLst>
                                        <p:tav tm="0">
                                          <p:val>
                                            <p:strVal val="#ppt_y+#ppt_h*1.125000"/>
                                          </p:val>
                                        </p:tav>
                                        <p:tav tm="100000">
                                          <p:val>
                                            <p:strVal val="#ppt_y"/>
                                          </p:val>
                                        </p:tav>
                                      </p:tavLst>
                                    </p:anim>
                                    <p:animEffect transition="in" filter="wipe(up)">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down)">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2" presetClass="exit" presetSubtype="4" fill="hold" nodeType="clickEffect">
                                  <p:stCondLst>
                                    <p:cond delay="0"/>
                                  </p:stCondLst>
                                  <p:childTnLst>
                                    <p:anim calcmode="lin" valueType="num">
                                      <p:cBhvr additive="base">
                                        <p:cTn id="44" dur="500"/>
                                        <p:tgtEl>
                                          <p:spTgt spid="20"/>
                                        </p:tgtEl>
                                        <p:attrNameLst>
                                          <p:attrName>ppt_y</p:attrName>
                                        </p:attrNameLst>
                                      </p:cBhvr>
                                      <p:tavLst>
                                        <p:tav tm="0">
                                          <p:val>
                                            <p:strVal val="#ppt_y"/>
                                          </p:val>
                                        </p:tav>
                                        <p:tav tm="100000">
                                          <p:val>
                                            <p:strVal val="#ppt_y+#ppt_h*1.125000"/>
                                          </p:val>
                                        </p:tav>
                                      </p:tavLst>
                                    </p:anim>
                                    <p:animEffect transition="out" filter="wipe(down)">
                                      <p:cBhvr>
                                        <p:cTn id="45" dur="500"/>
                                        <p:tgtEl>
                                          <p:spTgt spid="20"/>
                                        </p:tgtEl>
                                      </p:cBhvr>
                                    </p:animEffect>
                                    <p:set>
                                      <p:cBhvr>
                                        <p:cTn id="46" dur="1" fill="hold">
                                          <p:stCondLst>
                                            <p:cond delay="499"/>
                                          </p:stCondLst>
                                        </p:cTn>
                                        <p:tgtEl>
                                          <p:spTgt spid="20"/>
                                        </p:tgtEl>
                                        <p:attrNameLst>
                                          <p:attrName>style.visibility</p:attrName>
                                        </p:attrNameLst>
                                      </p:cBhvr>
                                      <p:to>
                                        <p:strVal val="hidden"/>
                                      </p:to>
                                    </p:set>
                                  </p:childTnLst>
                                </p:cTn>
                              </p:par>
                            </p:childTnLst>
                          </p:cTn>
                        </p:par>
                        <p:par>
                          <p:cTn id="47" fill="hold">
                            <p:stCondLst>
                              <p:cond delay="500"/>
                            </p:stCondLst>
                            <p:childTnLst>
                              <p:par>
                                <p:cTn id="48" presetID="12" presetClass="entr" presetSubtype="4"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p:tgtEl>
                                          <p:spTgt spid="19"/>
                                        </p:tgtEl>
                                        <p:attrNameLst>
                                          <p:attrName>ppt_y</p:attrName>
                                        </p:attrNameLst>
                                      </p:cBhvr>
                                      <p:tavLst>
                                        <p:tav tm="0">
                                          <p:val>
                                            <p:strVal val="#ppt_y+#ppt_h*1.125000"/>
                                          </p:val>
                                        </p:tav>
                                        <p:tav tm="100000">
                                          <p:val>
                                            <p:strVal val="#ppt_y"/>
                                          </p:val>
                                        </p:tav>
                                      </p:tavLst>
                                    </p:anim>
                                    <p:animEffect transition="in" filter="wipe(up)">
                                      <p:cBhvr>
                                        <p:cTn id="5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AFDCA-E906-48EC-B2B9-EEB31E942CD6}"/>
              </a:ext>
            </a:extLst>
          </p:cNvPr>
          <p:cNvSpPr>
            <a:spLocks noGrp="1"/>
          </p:cNvSpPr>
          <p:nvPr>
            <p:ph type="title"/>
          </p:nvPr>
        </p:nvSpPr>
        <p:spPr/>
        <p:txBody>
          <a:bodyPr/>
          <a:lstStyle/>
          <a:p>
            <a:r>
              <a:rPr lang="zh-CN" altLang="en-US" dirty="0"/>
              <a:t>例</a:t>
            </a:r>
            <a:r>
              <a:rPr lang="en-US" altLang="zh-CN" dirty="0"/>
              <a:t>3</a:t>
            </a:r>
            <a:r>
              <a:rPr lang="zh-CN" altLang="en-US" dirty="0"/>
              <a:t>：解</a:t>
            </a:r>
          </a:p>
        </p:txBody>
      </p:sp>
      <p:sp>
        <p:nvSpPr>
          <p:cNvPr id="4" name="日期占位符 3">
            <a:extLst>
              <a:ext uri="{FF2B5EF4-FFF2-40B4-BE49-F238E27FC236}">
                <a16:creationId xmlns:a16="http://schemas.microsoft.com/office/drawing/2014/main" id="{21DC60BA-D38F-4336-92AC-D0CFC3B0DA1D}"/>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90B28CAF-F29D-48CF-AEE3-739FD19AC81C}"/>
              </a:ext>
            </a:extLst>
          </p:cNvPr>
          <p:cNvSpPr>
            <a:spLocks noGrp="1"/>
          </p:cNvSpPr>
          <p:nvPr>
            <p:ph type="sldNum" sz="quarter" idx="12"/>
          </p:nvPr>
        </p:nvSpPr>
        <p:spPr/>
        <p:txBody>
          <a:bodyPr/>
          <a:lstStyle/>
          <a:p>
            <a:fld id="{7AC79822-BC0D-4DE8-A7E5-90A3732A2B82}" type="slidenum">
              <a:rPr lang="zh-CN" altLang="en-US" smtClean="0"/>
              <a:pPr/>
              <a:t>56</a:t>
            </a:fld>
            <a:endParaRPr lang="en-US" altLang="zh-CN" dirty="0"/>
          </a:p>
        </p:txBody>
      </p:sp>
      <p:sp>
        <p:nvSpPr>
          <p:cNvPr id="6" name="文本框 5">
            <a:extLst>
              <a:ext uri="{FF2B5EF4-FFF2-40B4-BE49-F238E27FC236}">
                <a16:creationId xmlns:a16="http://schemas.microsoft.com/office/drawing/2014/main" id="{2F2CA20C-4369-4F39-A105-8D0D03CBB1C8}"/>
              </a:ext>
            </a:extLst>
          </p:cNvPr>
          <p:cNvSpPr txBox="1"/>
          <p:nvPr/>
        </p:nvSpPr>
        <p:spPr>
          <a:xfrm>
            <a:off x="92949" y="1156062"/>
            <a:ext cx="4821951" cy="954107"/>
          </a:xfrm>
          <a:prstGeom prst="rect">
            <a:avLst/>
          </a:prstGeom>
          <a:noFill/>
        </p:spPr>
        <p:txBody>
          <a:bodyPr wrap="square" rtlCol="0">
            <a:spAutoFit/>
          </a:bodyPr>
          <a:lstStyle/>
          <a:p>
            <a:r>
              <a:rPr lang="en-US" altLang="zh-CN" sz="2800" dirty="0"/>
              <a:t>4. </a:t>
            </a:r>
            <a:r>
              <a:rPr lang="zh-CN" altLang="en-US" sz="2800" dirty="0"/>
              <a:t>第二阶段：求解线性规划问题</a:t>
            </a:r>
            <a:r>
              <a:rPr lang="en-US" altLang="zh-CN" sz="2800" dirty="0"/>
              <a:t>A</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A647BD2-6939-4206-BA5E-79161401D080}"/>
                  </a:ext>
                </a:extLst>
              </p:cNvPr>
              <p:cNvSpPr txBox="1"/>
              <p:nvPr/>
            </p:nvSpPr>
            <p:spPr>
              <a:xfrm>
                <a:off x="772107" y="2191511"/>
                <a:ext cx="3141694" cy="830997"/>
              </a:xfrm>
              <a:prstGeom prst="rect">
                <a:avLst/>
              </a:prstGeom>
              <a:noFill/>
            </p:spPr>
            <p:txBody>
              <a:bodyPr wrap="none" rtlCol="0">
                <a:spAutoFit/>
              </a:bodyPr>
              <a:lstStyle/>
              <a:p>
                <a:r>
                  <a:rPr lang="zh-CN" altLang="en-US" sz="2400" dirty="0"/>
                  <a:t>求基本可行解，填写</a:t>
                </a:r>
                <a14:m>
                  <m:oMath xmlns:m="http://schemas.openxmlformats.org/officeDocument/2006/math">
                    <m:r>
                      <a:rPr lang="zh-CN" altLang="en-US" sz="2400">
                        <a:latin typeface="Cambria Math" panose="02040503050406030204" pitchFamily="18" charset="0"/>
                      </a:rPr>
                      <m:t>𝜎</m:t>
                    </m:r>
                  </m:oMath>
                </a14:m>
                <a:endParaRPr lang="zh-CN" altLang="en-US" sz="2400" dirty="0"/>
              </a:p>
              <a:p>
                <a:r>
                  <a:rPr lang="zh-CN" altLang="en-US" sz="2400" dirty="0"/>
                  <a:t>和</a:t>
                </a:r>
                <a:r>
                  <a:rPr lang="en-US" altLang="zh-CN" sz="2400" dirty="0"/>
                  <a:t>q</a:t>
                </a:r>
                <a:r>
                  <a:rPr lang="zh-CN" altLang="en-US" sz="2400" dirty="0"/>
                  <a:t>的值</a:t>
                </a:r>
              </a:p>
            </p:txBody>
          </p:sp>
        </mc:Choice>
        <mc:Fallback xmlns="">
          <p:sp>
            <p:nvSpPr>
              <p:cNvPr id="11" name="文本框 10">
                <a:extLst>
                  <a:ext uri="{FF2B5EF4-FFF2-40B4-BE49-F238E27FC236}">
                    <a16:creationId xmlns:a16="http://schemas.microsoft.com/office/drawing/2014/main" id="{9A647BD2-6939-4206-BA5E-79161401D080}"/>
                  </a:ext>
                </a:extLst>
              </p:cNvPr>
              <p:cNvSpPr txBox="1">
                <a:spLocks noRot="1" noChangeAspect="1" noMove="1" noResize="1" noEditPoints="1" noAdjustHandles="1" noChangeArrowheads="1" noChangeShapeType="1" noTextEdit="1"/>
              </p:cNvSpPr>
              <p:nvPr/>
            </p:nvSpPr>
            <p:spPr>
              <a:xfrm>
                <a:off x="772107" y="2191511"/>
                <a:ext cx="3141694" cy="830997"/>
              </a:xfrm>
              <a:prstGeom prst="rect">
                <a:avLst/>
              </a:prstGeom>
              <a:blipFill>
                <a:blip r:embed="rId3"/>
                <a:stretch>
                  <a:fillRect l="-3107" t="-5109" b="-15328"/>
                </a:stretch>
              </a:blipFill>
            </p:spPr>
            <p:txBody>
              <a:bodyPr/>
              <a:lstStyle/>
              <a:p>
                <a:r>
                  <a:rPr lang="zh-CN" altLang="en-US">
                    <a:noFill/>
                  </a:rPr>
                  <a:t> </a:t>
                </a:r>
              </a:p>
            </p:txBody>
          </p:sp>
        </mc:Fallback>
      </mc:AlternateContent>
      <p:graphicFrame>
        <p:nvGraphicFramePr>
          <p:cNvPr id="12" name="对象 11">
            <a:extLst>
              <a:ext uri="{FF2B5EF4-FFF2-40B4-BE49-F238E27FC236}">
                <a16:creationId xmlns:a16="http://schemas.microsoft.com/office/drawing/2014/main" id="{53FEA1DB-0AF6-4F8E-B4A3-F920C6D1D785}"/>
              </a:ext>
            </a:extLst>
          </p:cNvPr>
          <p:cNvGraphicFramePr>
            <a:graphicFrameLocks noChangeAspect="1"/>
          </p:cNvGraphicFramePr>
          <p:nvPr>
            <p:extLst>
              <p:ext uri="{D42A27DB-BD31-4B8C-83A1-F6EECF244321}">
                <p14:modId xmlns:p14="http://schemas.microsoft.com/office/powerpoint/2010/main" val="28670774"/>
              </p:ext>
            </p:extLst>
          </p:nvPr>
        </p:nvGraphicFramePr>
        <p:xfrm>
          <a:off x="5337175" y="1149350"/>
          <a:ext cx="2235200" cy="530225"/>
        </p:xfrm>
        <a:graphic>
          <a:graphicData uri="http://schemas.openxmlformats.org/presentationml/2006/ole">
            <mc:AlternateContent xmlns:mc="http://schemas.openxmlformats.org/markup-compatibility/2006">
              <mc:Choice xmlns:v="urn:schemas-microsoft-com:vml" Requires="v">
                <p:oleObj name="Equation" r:id="rId4" imgW="1180800" imgH="279360" progId="Equation.DSMT4">
                  <p:embed/>
                </p:oleObj>
              </mc:Choice>
              <mc:Fallback>
                <p:oleObj name="Equation" r:id="rId4" imgW="1180800" imgH="279360" progId="Equation.DSMT4">
                  <p:embed/>
                  <p:pic>
                    <p:nvPicPr>
                      <p:cNvPr id="12" name="对象 11">
                        <a:extLst>
                          <a:ext uri="{FF2B5EF4-FFF2-40B4-BE49-F238E27FC236}">
                            <a16:creationId xmlns:a16="http://schemas.microsoft.com/office/drawing/2014/main" id="{53FEA1DB-0AF6-4F8E-B4A3-F920C6D1D785}"/>
                          </a:ext>
                        </a:extLst>
                      </p:cNvPr>
                      <p:cNvPicPr/>
                      <p:nvPr/>
                    </p:nvPicPr>
                    <p:blipFill>
                      <a:blip r:embed="rId5"/>
                      <a:stretch>
                        <a:fillRect/>
                      </a:stretch>
                    </p:blipFill>
                    <p:spPr>
                      <a:xfrm>
                        <a:off x="5337175" y="1149350"/>
                        <a:ext cx="2235200" cy="53022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00FACE58-CE4C-4CF6-84D3-205C62FE82BC}"/>
                  </a:ext>
                </a:extLst>
              </p:cNvPr>
              <p:cNvGraphicFramePr>
                <a:graphicFrameLocks noGrp="1"/>
              </p:cNvGraphicFramePr>
              <p:nvPr>
                <p:extLst>
                  <p:ext uri="{D42A27DB-BD31-4B8C-83A1-F6EECF244321}">
                    <p14:modId xmlns:p14="http://schemas.microsoft.com/office/powerpoint/2010/main" val="2692634401"/>
                  </p:ext>
                </p:extLst>
              </p:nvPr>
            </p:nvGraphicFramePr>
            <p:xfrm>
              <a:off x="58045" y="3282030"/>
              <a:ext cx="8009928"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𝑏</m:t>
                                </m:r>
                              </m:oMath>
                            </m:oMathPara>
                          </a14:m>
                          <a:endParaRPr lang="zh-CN" altLang="en-US" sz="2400" baseline="0" dirty="0"/>
                        </a:p>
                      </a:txBody>
                      <a:tcPr anchor="ctr"/>
                    </a:tc>
                    <a:tc rowSpan="2">
                      <a:txBody>
                        <a:bodyPr/>
                        <a:lstStyle/>
                        <a:p>
                          <a:pPr algn="ctr"/>
                          <a14:m>
                            <m:oMathPara xmlns:m="http://schemas.openxmlformats.org/officeDocument/2006/math">
                              <m:oMathParaPr>
                                <m:jc m:val="centerGroup"/>
                              </m:oMathParaPr>
                              <m:oMath xmlns:m="http://schemas.openxmlformats.org/officeDocument/2006/math">
                                <m:r>
                                  <a:rPr lang="en-US" altLang="zh-CN" sz="2400" i="1" baseline="0" dirty="0" smtClean="0">
                                    <a:latin typeface="Cambria Math" panose="02040503050406030204" pitchFamily="18" charset="0"/>
                                  </a:rPr>
                                  <m:t>𝑞</m:t>
                                </m:r>
                              </m:oMath>
                            </m:oMathPara>
                          </a14:m>
                          <a:endParaRPr lang="zh-CN" altLang="en-US" sz="2400" baseline="0" dirty="0"/>
                        </a:p>
                      </a:txBody>
                      <a:tcPr anchor="ct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9</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pPr algn="ctr"/>
                          <a14:m>
                            <m:oMathPara xmlns:m="http://schemas.openxmlformats.org/officeDocument/2006/math">
                              <m:oMathParaPr>
                                <m:jc m:val="centerGroup"/>
                              </m:oMathParaPr>
                              <m:oMath xmlns:m="http://schemas.openxmlformats.org/officeDocument/2006/math">
                                <m:r>
                                  <a:rPr lang="zh-CN" altLang="en-US" sz="2400" kern="1200" baseline="0" smtClean="0">
                                    <a:solidFill>
                                      <a:schemeClr val="tx1"/>
                                    </a:solidFill>
                                    <a:latin typeface="Cambria Math" panose="02040503050406030204" pitchFamily="18" charset="0"/>
                                    <a:ea typeface="+mn-ea"/>
                                    <a:cs typeface="+mn-cs"/>
                                  </a:rPr>
                                  <m:t>𝜎</m:t>
                                </m:r>
                              </m:oMath>
                            </m:oMathPara>
                          </a14:m>
                          <a:endParaRPr lang="zh-CN" altLang="en-US" sz="2400" kern="1200" baseline="0" dirty="0">
                            <a:solidFill>
                              <a:schemeClr val="tx1"/>
                            </a:solidFill>
                            <a:latin typeface="+mn-lt"/>
                            <a:ea typeface="+mn-ea"/>
                            <a:cs typeface="+mn-cs"/>
                          </a:endParaRPr>
                        </a:p>
                      </a:txBody>
                      <a:tcPr anchor="ctr"/>
                    </a:tc>
                    <a:tc hMerge="1">
                      <a:txBody>
                        <a:bodyPr/>
                        <a:lstStyle/>
                        <a:p>
                          <a:pPr algn="ctr"/>
                          <a:endParaRPr lang="zh-CN" altLang="en-US" sz="240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1/3</a:t>
                          </a:r>
                          <a:endParaRPr lang="zh-CN" altLang="en-US" sz="2400" baseline="0" dirty="0"/>
                        </a:p>
                      </a:txBody>
                      <a:tcPr anchor="ctr"/>
                    </a:tc>
                    <a:tc>
                      <a:txBody>
                        <a:bodyPr/>
                        <a:lstStyle/>
                        <a:p>
                          <a:pPr algn="ctr"/>
                          <a:r>
                            <a:rPr lang="en-US" altLang="zh-CN" sz="2400" baseline="0" dirty="0"/>
                            <a:t>4/3</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Choice>
        <mc:Fallback xmlns="">
          <p:graphicFrame>
            <p:nvGraphicFramePr>
              <p:cNvPr id="10" name="表格 9">
                <a:extLst>
                  <a:ext uri="{FF2B5EF4-FFF2-40B4-BE49-F238E27FC236}">
                    <a16:creationId xmlns:a16="http://schemas.microsoft.com/office/drawing/2014/main" id="{00FACE58-CE4C-4CF6-84D3-205C62FE82BC}"/>
                  </a:ext>
                </a:extLst>
              </p:cNvPr>
              <p:cNvGraphicFramePr>
                <a:graphicFrameLocks noGrp="1"/>
              </p:cNvGraphicFramePr>
              <p:nvPr>
                <p:extLst>
                  <p:ext uri="{D42A27DB-BD31-4B8C-83A1-F6EECF244321}">
                    <p14:modId xmlns:p14="http://schemas.microsoft.com/office/powerpoint/2010/main" val="2692634401"/>
                  </p:ext>
                </p:extLst>
              </p:nvPr>
            </p:nvGraphicFramePr>
            <p:xfrm>
              <a:off x="58045" y="3282030"/>
              <a:ext cx="8009928" cy="3271824"/>
            </p:xfrm>
            <a:graphic>
              <a:graphicData uri="http://schemas.openxmlformats.org/drawingml/2006/table">
                <a:tbl>
                  <a:tblPr firstRow="1" bandRow="1">
                    <a:tableStyleId>{5940675A-B579-460E-94D1-54222C63F5DA}</a:tableStyleId>
                  </a:tblPr>
                  <a:tblGrid>
                    <a:gridCol w="889992">
                      <a:extLst>
                        <a:ext uri="{9D8B030D-6E8A-4147-A177-3AD203B41FA5}">
                          <a16:colId xmlns:a16="http://schemas.microsoft.com/office/drawing/2014/main" val="798769453"/>
                        </a:ext>
                      </a:extLst>
                    </a:gridCol>
                    <a:gridCol w="889992">
                      <a:extLst>
                        <a:ext uri="{9D8B030D-6E8A-4147-A177-3AD203B41FA5}">
                          <a16:colId xmlns:a16="http://schemas.microsoft.com/office/drawing/2014/main" val="560815571"/>
                        </a:ext>
                      </a:extLst>
                    </a:gridCol>
                    <a:gridCol w="889992">
                      <a:extLst>
                        <a:ext uri="{9D8B030D-6E8A-4147-A177-3AD203B41FA5}">
                          <a16:colId xmlns:a16="http://schemas.microsoft.com/office/drawing/2014/main" val="1052753358"/>
                        </a:ext>
                      </a:extLst>
                    </a:gridCol>
                    <a:gridCol w="889992">
                      <a:extLst>
                        <a:ext uri="{9D8B030D-6E8A-4147-A177-3AD203B41FA5}">
                          <a16:colId xmlns:a16="http://schemas.microsoft.com/office/drawing/2014/main" val="1666935349"/>
                        </a:ext>
                      </a:extLst>
                    </a:gridCol>
                    <a:gridCol w="889992">
                      <a:extLst>
                        <a:ext uri="{9D8B030D-6E8A-4147-A177-3AD203B41FA5}">
                          <a16:colId xmlns:a16="http://schemas.microsoft.com/office/drawing/2014/main" val="1606338379"/>
                        </a:ext>
                      </a:extLst>
                    </a:gridCol>
                    <a:gridCol w="889992">
                      <a:extLst>
                        <a:ext uri="{9D8B030D-6E8A-4147-A177-3AD203B41FA5}">
                          <a16:colId xmlns:a16="http://schemas.microsoft.com/office/drawing/2014/main" val="3941924007"/>
                        </a:ext>
                      </a:extLst>
                    </a:gridCol>
                    <a:gridCol w="889992">
                      <a:extLst>
                        <a:ext uri="{9D8B030D-6E8A-4147-A177-3AD203B41FA5}">
                          <a16:colId xmlns:a16="http://schemas.microsoft.com/office/drawing/2014/main" val="2659793867"/>
                        </a:ext>
                      </a:extLst>
                    </a:gridCol>
                    <a:gridCol w="889992">
                      <a:extLst>
                        <a:ext uri="{9D8B030D-6E8A-4147-A177-3AD203B41FA5}">
                          <a16:colId xmlns:a16="http://schemas.microsoft.com/office/drawing/2014/main" val="281621817"/>
                        </a:ext>
                      </a:extLst>
                    </a:gridCol>
                    <a:gridCol w="889992">
                      <a:extLst>
                        <a:ext uri="{9D8B030D-6E8A-4147-A177-3AD203B41FA5}">
                          <a16:colId xmlns:a16="http://schemas.microsoft.com/office/drawing/2014/main" val="350154188"/>
                        </a:ext>
                      </a:extLst>
                    </a:gridCol>
                  </a:tblGrid>
                  <a:tr h="545304">
                    <a:tc rowSpan="2">
                      <a:txBody>
                        <a:bodyPr/>
                        <a:lstStyle/>
                        <a:p>
                          <a:pPr algn="ctr"/>
                          <a:r>
                            <a:rPr lang="en-US" altLang="zh-CN" sz="2400" baseline="0" dirty="0"/>
                            <a:t>XB</a:t>
                          </a:r>
                          <a:endParaRPr lang="zh-CN" altLang="en-US" sz="2400" baseline="0" dirty="0"/>
                        </a:p>
                      </a:txBody>
                      <a:tcPr anchor="ctr"/>
                    </a:tc>
                    <a:tc>
                      <a:txBody>
                        <a:bodyPr/>
                        <a:lstStyle/>
                        <a:p>
                          <a:pPr algn="ctr"/>
                          <a:r>
                            <a:rPr lang="en-US" altLang="zh-CN" sz="2400" baseline="0"/>
                            <a:t>X</a:t>
                          </a:r>
                          <a:endParaRPr lang="zh-CN" altLang="en-US" sz="2400" baseline="0" dirty="0"/>
                        </a:p>
                      </a:txBody>
                      <a:tcPr anchor="ctr"/>
                    </a:tc>
                    <a:tc>
                      <a:txBody>
                        <a:bodyPr/>
                        <a:lstStyle/>
                        <a:p>
                          <a:pPr algn="ctr"/>
                          <a:r>
                            <a:rPr lang="en-US" altLang="zh-CN" sz="2400" baseline="0" dirty="0"/>
                            <a:t>x1</a:t>
                          </a:r>
                          <a:endParaRPr lang="zh-CN" altLang="en-US" sz="2400" baseline="0" dirty="0"/>
                        </a:p>
                      </a:txBody>
                      <a:tcPr anchor="ctr"/>
                    </a:tc>
                    <a:tc>
                      <a:txBody>
                        <a:bodyPr/>
                        <a:lstStyle/>
                        <a:p>
                          <a:pPr algn="ctr"/>
                          <a:r>
                            <a:rPr lang="en-US" altLang="zh-CN" sz="2400" baseline="0" dirty="0"/>
                            <a:t>x2</a:t>
                          </a:r>
                          <a:endParaRPr lang="zh-CN" altLang="en-US" sz="2400" baseline="0" dirty="0"/>
                        </a:p>
                      </a:txBody>
                      <a:tcPr anchor="ctr"/>
                    </a:tc>
                    <a:tc>
                      <a:txBody>
                        <a:bodyPr/>
                        <a:lstStyle/>
                        <a:p>
                          <a:pPr algn="ctr"/>
                          <a:r>
                            <a:rPr lang="en-US" altLang="zh-CN" sz="2400" baseline="0" dirty="0"/>
                            <a:t>x3</a:t>
                          </a:r>
                          <a:endParaRPr lang="zh-CN" altLang="en-US" sz="2400" baseline="0" dirty="0"/>
                        </a:p>
                      </a:txBody>
                      <a:tcPr anchor="ctr"/>
                    </a:tc>
                    <a:tc>
                      <a:txBody>
                        <a:bodyPr/>
                        <a:lstStyle/>
                        <a:p>
                          <a:pPr algn="ctr"/>
                          <a:r>
                            <a:rPr lang="en-US" altLang="zh-CN" sz="2400" baseline="0" dirty="0"/>
                            <a:t>x4</a:t>
                          </a:r>
                          <a:endParaRPr lang="zh-CN" altLang="en-US" sz="2400" baseline="0" dirty="0"/>
                        </a:p>
                      </a:txBody>
                      <a:tcPr anchor="ctr"/>
                    </a:tc>
                    <a:tc>
                      <a:txBody>
                        <a:bodyPr/>
                        <a:lstStyle/>
                        <a:p>
                          <a:pPr algn="ctr"/>
                          <a:r>
                            <a:rPr lang="en-US" altLang="zh-CN" sz="2400" baseline="0" dirty="0"/>
                            <a:t>x5</a:t>
                          </a:r>
                          <a:endParaRPr lang="zh-CN" altLang="en-US" sz="2400" baseline="0" dirty="0"/>
                        </a:p>
                      </a:txBody>
                      <a:tcPr anchor="ctr"/>
                    </a:tc>
                    <a:tc rowSpan="2">
                      <a:txBody>
                        <a:bodyPr/>
                        <a:lstStyle/>
                        <a:p>
                          <a:endParaRPr lang="zh-CN"/>
                        </a:p>
                      </a:txBody>
                      <a:tcPr anchor="ctr">
                        <a:blipFill>
                          <a:blip r:embed="rId6"/>
                          <a:stretch>
                            <a:fillRect l="-701370" t="-559" r="-101370" b="-209497"/>
                          </a:stretch>
                        </a:blipFill>
                      </a:tcPr>
                    </a:tc>
                    <a:tc rowSpan="2">
                      <a:txBody>
                        <a:bodyPr/>
                        <a:lstStyle/>
                        <a:p>
                          <a:endParaRPr lang="zh-CN"/>
                        </a:p>
                      </a:txBody>
                      <a:tcPr anchor="ctr">
                        <a:blipFill>
                          <a:blip r:embed="rId6"/>
                          <a:stretch>
                            <a:fillRect l="-801370" t="-559" r="-1370" b="-209497"/>
                          </a:stretch>
                        </a:blipFill>
                      </a:tcPr>
                    </a:tc>
                    <a:extLst>
                      <a:ext uri="{0D108BD9-81ED-4DB2-BD59-A6C34878D82A}">
                        <a16:rowId xmlns:a16="http://schemas.microsoft.com/office/drawing/2014/main" val="3040994659"/>
                      </a:ext>
                    </a:extLst>
                  </a:tr>
                  <a:tr h="545304">
                    <a:tc vMerge="1">
                      <a:txBody>
                        <a:bodyPr/>
                        <a:lstStyle/>
                        <a:p>
                          <a:endParaRPr lang="zh-CN" altLang="en-US" dirty="0"/>
                        </a:p>
                      </a:txBody>
                      <a:tcPr/>
                    </a:tc>
                    <a:tc>
                      <a:txBody>
                        <a:bodyPr/>
                        <a:lstStyle/>
                        <a:p>
                          <a:pPr algn="ctr"/>
                          <a:r>
                            <a:rPr lang="en-US" altLang="zh-CN" sz="2400" baseline="0" dirty="0"/>
                            <a:t>C</a:t>
                          </a:r>
                          <a:endParaRPr lang="zh-CN" altLang="en-US" sz="2400" baseline="0" dirty="0"/>
                        </a:p>
                      </a:txBody>
                      <a:tcPr anchor="ctr"/>
                    </a:tc>
                    <a:tc>
                      <a:txBody>
                        <a:bodyPr/>
                        <a:lstStyle/>
                        <a:p>
                          <a:pPr algn="ctr"/>
                          <a:r>
                            <a:rPr lang="en-US" altLang="zh-CN" sz="2400" baseline="0" dirty="0"/>
                            <a:t>-3</a:t>
                          </a:r>
                          <a:endParaRPr lang="zh-CN" altLang="en-US" sz="2400" baseline="0" dirty="0"/>
                        </a:p>
                      </a:txBody>
                      <a:tcPr anchor="ctr"/>
                    </a:tc>
                    <a:tc>
                      <a:txBody>
                        <a:bodyPr/>
                        <a:lstStyle/>
                        <a:p>
                          <a:pPr algn="ctr"/>
                          <a:r>
                            <a:rPr lang="en-US" altLang="zh-CN" sz="2400" baseline="0" dirty="0"/>
                            <a:t>2</a:t>
                          </a:r>
                          <a:endParaRPr lang="zh-CN" altLang="en-US" sz="2400" baseline="0" dirty="0"/>
                        </a:p>
                      </a:txBody>
                      <a:tcPr anchor="ctr"/>
                    </a:tc>
                    <a:tc>
                      <a:txBody>
                        <a:bodyPr/>
                        <a:lstStyle/>
                        <a:p>
                          <a:pPr algn="ctr"/>
                          <a:r>
                            <a:rPr lang="en-US" altLang="zh-CN" sz="2400" baseline="0" dirty="0"/>
                            <a:t>1</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vMerge="1">
                      <a:txBody>
                        <a:bodyPr/>
                        <a:lstStyle/>
                        <a:p>
                          <a:pPr algn="ctr"/>
                          <a:endParaRPr lang="zh-CN" altLang="en-US" sz="2400" dirty="0"/>
                        </a:p>
                      </a:txBody>
                      <a:tcPr anchor="ctr"/>
                    </a:tc>
                    <a:tc vMerge="1">
                      <a:txBody>
                        <a:bodyPr/>
                        <a:lstStyle/>
                        <a:p>
                          <a:endParaRPr lang="zh-CN" altLang="en-US"/>
                        </a:p>
                      </a:txBody>
                      <a:tcPr/>
                    </a:tc>
                    <a:extLst>
                      <a:ext uri="{0D108BD9-81ED-4DB2-BD59-A6C34878D82A}">
                        <a16:rowId xmlns:a16="http://schemas.microsoft.com/office/drawing/2014/main" val="3407509177"/>
                      </a:ext>
                    </a:extLst>
                  </a:tr>
                  <a:tr h="545304">
                    <a:tc>
                      <a:txBody>
                        <a:bodyPr/>
                        <a:lstStyle/>
                        <a:p>
                          <a:pPr algn="ctr"/>
                          <a:r>
                            <a:rPr lang="en-US" altLang="zh-CN" sz="2400" kern="1200" baseline="0" dirty="0">
                              <a:solidFill>
                                <a:schemeClr val="tx1"/>
                              </a:solidFill>
                              <a:latin typeface="+mn-lt"/>
                              <a:ea typeface="+mn-ea"/>
                              <a:cs typeface="+mn-cs"/>
                            </a:rPr>
                            <a:t>x1</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-3</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1652862803"/>
                      </a:ext>
                    </a:extLst>
                  </a:tr>
                  <a:tr h="545304">
                    <a:tc>
                      <a:txBody>
                        <a:bodyPr/>
                        <a:lstStyle/>
                        <a:p>
                          <a:pPr algn="ctr"/>
                          <a:r>
                            <a:rPr lang="en-US" altLang="zh-CN" sz="2400" kern="1200" baseline="0" dirty="0">
                              <a:solidFill>
                                <a:schemeClr val="tx1"/>
                              </a:solidFill>
                              <a:latin typeface="+mn-lt"/>
                              <a:ea typeface="+mn-ea"/>
                              <a:cs typeface="+mn-cs"/>
                            </a:rPr>
                            <a:t>x2</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2</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3045719682"/>
                      </a:ext>
                    </a:extLst>
                  </a:tr>
                  <a:tr h="545304">
                    <a:tc>
                      <a:txBody>
                        <a:bodyPr/>
                        <a:lstStyle/>
                        <a:p>
                          <a:pPr algn="ctr"/>
                          <a:r>
                            <a:rPr lang="en-US" altLang="zh-CN" sz="2400" kern="1200" baseline="0" dirty="0">
                              <a:solidFill>
                                <a:schemeClr val="tx1"/>
                              </a:solidFill>
                              <a:latin typeface="+mn-lt"/>
                              <a:ea typeface="+mn-ea"/>
                              <a:cs typeface="+mn-cs"/>
                            </a:rPr>
                            <a:t>x3</a:t>
                          </a:r>
                          <a:endParaRPr lang="zh-CN" altLang="en-US" sz="2400" kern="1200" baseline="0" dirty="0">
                            <a:solidFill>
                              <a:schemeClr val="tx1"/>
                            </a:solidFill>
                            <a:latin typeface="+mn-lt"/>
                            <a:ea typeface="+mn-ea"/>
                            <a:cs typeface="+mn-cs"/>
                          </a:endParaRPr>
                        </a:p>
                      </a:txBody>
                      <a:tcPr anchor="ctr"/>
                    </a:tc>
                    <a:tc>
                      <a:txBody>
                        <a:bodyPr/>
                        <a:lstStyle/>
                        <a:p>
                          <a:pPr algn="ctr"/>
                          <a:r>
                            <a:rPr lang="en-US" altLang="zh-CN" sz="2400" kern="1200" baseline="0" dirty="0">
                              <a:solidFill>
                                <a:schemeClr val="tx1"/>
                              </a:solidFill>
                              <a:latin typeface="+mn-lt"/>
                              <a:ea typeface="+mn-ea"/>
                              <a:cs typeface="+mn-cs"/>
                            </a:rPr>
                            <a:t>1</a:t>
                          </a:r>
                          <a:endParaRPr lang="zh-CN" altLang="en-US" sz="2400" kern="1200" baseline="0" dirty="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0</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1</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2/3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-4/3</a:t>
                          </a:r>
                          <a:endParaRPr lang="zh-CN" altLang="en-US" sz="2400" baseline="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aseline="0" dirty="0"/>
                            <a:t>9</a:t>
                          </a:r>
                          <a:endParaRPr lang="zh-CN" altLang="en-US" sz="2400" baseline="0" dirty="0"/>
                        </a:p>
                      </a:txBody>
                      <a:tcPr anchor="ctr"/>
                    </a:tc>
                    <a:tc>
                      <a:txBody>
                        <a:bodyPr/>
                        <a:lstStyle/>
                        <a:p>
                          <a:pPr algn="ctr"/>
                          <a:endParaRPr lang="zh-CN" altLang="en-US" sz="2400" kern="1200" baseline="0" dirty="0">
                            <a:solidFill>
                              <a:schemeClr val="tx1"/>
                            </a:solidFill>
                            <a:latin typeface="+mn-lt"/>
                            <a:ea typeface="+mn-ea"/>
                            <a:cs typeface="+mn-cs"/>
                          </a:endParaRPr>
                        </a:p>
                      </a:txBody>
                      <a:tcPr anchor="ctr"/>
                    </a:tc>
                    <a:extLst>
                      <a:ext uri="{0D108BD9-81ED-4DB2-BD59-A6C34878D82A}">
                        <a16:rowId xmlns:a16="http://schemas.microsoft.com/office/drawing/2014/main" val="2934870762"/>
                      </a:ext>
                    </a:extLst>
                  </a:tr>
                  <a:tr h="545304">
                    <a:tc gridSpan="2">
                      <a:txBody>
                        <a:bodyPr/>
                        <a:lstStyle/>
                        <a:p>
                          <a:endParaRPr lang="zh-CN"/>
                        </a:p>
                      </a:txBody>
                      <a:tcPr anchor="ctr">
                        <a:blipFill>
                          <a:blip r:embed="rId6"/>
                          <a:stretch>
                            <a:fillRect l="-342" t="-498889" r="-351027" b="-17778"/>
                          </a:stretch>
                        </a:blipFill>
                      </a:tcPr>
                    </a:tc>
                    <a:tc hMerge="1">
                      <a:txBody>
                        <a:bodyPr/>
                        <a:lstStyle/>
                        <a:p>
                          <a:pPr algn="ctr"/>
                          <a:endParaRPr lang="zh-CN" altLang="en-US" sz="240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0</a:t>
                          </a:r>
                          <a:endParaRPr lang="zh-CN" altLang="en-US" sz="2400" baseline="0" dirty="0"/>
                        </a:p>
                      </a:txBody>
                      <a:tcPr anchor="ctr"/>
                    </a:tc>
                    <a:tc>
                      <a:txBody>
                        <a:bodyPr/>
                        <a:lstStyle/>
                        <a:p>
                          <a:pPr algn="ctr"/>
                          <a:r>
                            <a:rPr lang="en-US" altLang="zh-CN" sz="2400" baseline="0" dirty="0"/>
                            <a:t>1/3</a:t>
                          </a:r>
                          <a:endParaRPr lang="zh-CN" altLang="en-US" sz="2400" baseline="0" dirty="0"/>
                        </a:p>
                      </a:txBody>
                      <a:tcPr anchor="ctr"/>
                    </a:tc>
                    <a:tc>
                      <a:txBody>
                        <a:bodyPr/>
                        <a:lstStyle/>
                        <a:p>
                          <a:pPr algn="ctr"/>
                          <a:r>
                            <a:rPr lang="en-US" altLang="zh-CN" sz="2400" baseline="0" dirty="0"/>
                            <a:t>4/3</a:t>
                          </a:r>
                          <a:endParaRPr lang="zh-CN" altLang="en-US" sz="2400" baseline="0" dirty="0"/>
                        </a:p>
                      </a:txBody>
                      <a:tcPr anchor="ctr"/>
                    </a:tc>
                    <a:tc gridSpan="2">
                      <a:txBody>
                        <a:bodyPr/>
                        <a:lstStyle/>
                        <a:p>
                          <a:pPr algn="ctr"/>
                          <a:endParaRPr lang="zh-CN" altLang="en-US" sz="2400" baseline="0" dirty="0"/>
                        </a:p>
                      </a:txBody>
                      <a:tcPr anchor="ctr"/>
                    </a:tc>
                    <a:tc hMerge="1">
                      <a:txBody>
                        <a:bodyPr/>
                        <a:lstStyle/>
                        <a:p>
                          <a:pPr algn="ctr"/>
                          <a:endParaRPr lang="zh-CN" altLang="en-US" sz="2400" dirty="0"/>
                        </a:p>
                      </a:txBody>
                      <a:tcPr anchor="ctr"/>
                    </a:tc>
                    <a:extLst>
                      <a:ext uri="{0D108BD9-81ED-4DB2-BD59-A6C34878D82A}">
                        <a16:rowId xmlns:a16="http://schemas.microsoft.com/office/drawing/2014/main" val="1095817651"/>
                      </a:ext>
                    </a:extLst>
                  </a:tr>
                </a:tbl>
              </a:graphicData>
            </a:graphic>
          </p:graphicFrame>
        </mc:Fallback>
      </mc:AlternateContent>
      <p:graphicFrame>
        <p:nvGraphicFramePr>
          <p:cNvPr id="14" name="对象 13">
            <a:extLst>
              <a:ext uri="{FF2B5EF4-FFF2-40B4-BE49-F238E27FC236}">
                <a16:creationId xmlns:a16="http://schemas.microsoft.com/office/drawing/2014/main" id="{9228547B-A2D6-4B24-AF1D-6CBA0C549E39}"/>
              </a:ext>
            </a:extLst>
          </p:cNvPr>
          <p:cNvGraphicFramePr>
            <a:graphicFrameLocks noChangeAspect="1"/>
          </p:cNvGraphicFramePr>
          <p:nvPr>
            <p:extLst>
              <p:ext uri="{D42A27DB-BD31-4B8C-83A1-F6EECF244321}">
                <p14:modId xmlns:p14="http://schemas.microsoft.com/office/powerpoint/2010/main" val="2244388832"/>
              </p:ext>
            </p:extLst>
          </p:nvPr>
        </p:nvGraphicFramePr>
        <p:xfrm>
          <a:off x="4302701" y="2431706"/>
          <a:ext cx="5160119" cy="720563"/>
        </p:xfrm>
        <a:graphic>
          <a:graphicData uri="http://schemas.openxmlformats.org/presentationml/2006/ole">
            <mc:AlternateContent xmlns:mc="http://schemas.openxmlformats.org/markup-compatibility/2006">
              <mc:Choice xmlns:v="urn:schemas-microsoft-com:vml" Requires="v">
                <p:oleObj name="Equation" r:id="rId7" imgW="1815840" imgH="253800" progId="Equation.DSMT4">
                  <p:embed/>
                </p:oleObj>
              </mc:Choice>
              <mc:Fallback>
                <p:oleObj name="Equation" r:id="rId7" imgW="1815840" imgH="253800" progId="Equation.DSMT4">
                  <p:embed/>
                  <p:pic>
                    <p:nvPicPr>
                      <p:cNvPr id="79" name="对象 78">
                        <a:extLst>
                          <a:ext uri="{FF2B5EF4-FFF2-40B4-BE49-F238E27FC236}">
                            <a16:creationId xmlns:a16="http://schemas.microsoft.com/office/drawing/2014/main" id="{9D6CE6ED-C60B-44E1-A4CB-77668CADE9BA}"/>
                          </a:ext>
                        </a:extLst>
                      </p:cNvPr>
                      <p:cNvPicPr/>
                      <p:nvPr/>
                    </p:nvPicPr>
                    <p:blipFill>
                      <a:blip r:embed="rId8"/>
                      <a:stretch>
                        <a:fillRect/>
                      </a:stretch>
                    </p:blipFill>
                    <p:spPr>
                      <a:xfrm>
                        <a:off x="4302701" y="2431706"/>
                        <a:ext cx="5160119" cy="720563"/>
                      </a:xfrm>
                      <a:prstGeom prst="rect">
                        <a:avLst/>
                      </a:prstGeom>
                      <a:ln w="28575">
                        <a:noFill/>
                      </a:ln>
                    </p:spPr>
                  </p:pic>
                </p:oleObj>
              </mc:Fallback>
            </mc:AlternateContent>
          </a:graphicData>
        </a:graphic>
      </p:graphicFrame>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FC11E6B6-01D2-4C9C-B3B1-A33C27FF436F}"/>
                  </a:ext>
                </a:extLst>
              </p:cNvPr>
              <p:cNvSpPr/>
              <p:nvPr/>
            </p:nvSpPr>
            <p:spPr>
              <a:xfrm>
                <a:off x="4302701" y="1679575"/>
                <a:ext cx="5546194" cy="830997"/>
              </a:xfrm>
              <a:prstGeom prst="rect">
                <a:avLst/>
              </a:prstGeom>
              <a:solidFill>
                <a:srgbClr val="FFFF66"/>
              </a:solidFill>
              <a:ln>
                <a:solidFill>
                  <a:schemeClr val="tx1"/>
                </a:solidFill>
              </a:ln>
            </p:spPr>
            <p:txBody>
              <a:bodyPr wrap="square">
                <a:spAutoFit/>
              </a:bodyPr>
              <a:lstStyle/>
              <a:p>
                <a:r>
                  <a:rPr lang="zh-CN" altLang="en-US" sz="2400" b="1" dirty="0">
                    <a:solidFill>
                      <a:srgbClr val="C00000"/>
                    </a:solidFill>
                  </a:rPr>
                  <a:t>所有</a:t>
                </a:r>
                <a14:m>
                  <m:oMath xmlns:m="http://schemas.openxmlformats.org/officeDocument/2006/math">
                    <m:r>
                      <a:rPr lang="zh-CN" altLang="en-US" sz="2400">
                        <a:latin typeface="Cambria Math" panose="02040503050406030204" pitchFamily="18" charset="0"/>
                      </a:rPr>
                      <m:t>𝜎</m:t>
                    </m:r>
                  </m:oMath>
                </a14:m>
                <a:r>
                  <a:rPr lang="zh-CN" altLang="en-US" sz="2400" b="1" dirty="0">
                    <a:solidFill>
                      <a:srgbClr val="C00000"/>
                    </a:solidFill>
                  </a:rPr>
                  <a:t>都是非负数，因此，当前解是原问题的最优解</a:t>
                </a:r>
                <a:endParaRPr lang="en-US" altLang="zh-CN" sz="2400" b="1" dirty="0">
                  <a:solidFill>
                    <a:srgbClr val="C00000"/>
                  </a:solidFill>
                </a:endParaRPr>
              </a:p>
            </p:txBody>
          </p:sp>
        </mc:Choice>
        <mc:Fallback xmlns="">
          <p:sp>
            <p:nvSpPr>
              <p:cNvPr id="16" name="矩形 15">
                <a:extLst>
                  <a:ext uri="{FF2B5EF4-FFF2-40B4-BE49-F238E27FC236}">
                    <a16:creationId xmlns:a16="http://schemas.microsoft.com/office/drawing/2014/main" id="{FC11E6B6-01D2-4C9C-B3B1-A33C27FF436F}"/>
                  </a:ext>
                </a:extLst>
              </p:cNvPr>
              <p:cNvSpPr>
                <a:spLocks noRot="1" noChangeAspect="1" noMove="1" noResize="1" noEditPoints="1" noAdjustHandles="1" noChangeArrowheads="1" noChangeShapeType="1" noTextEdit="1"/>
              </p:cNvSpPr>
              <p:nvPr/>
            </p:nvSpPr>
            <p:spPr>
              <a:xfrm>
                <a:off x="4302701" y="1679575"/>
                <a:ext cx="5546194" cy="830997"/>
              </a:xfrm>
              <a:prstGeom prst="rect">
                <a:avLst/>
              </a:prstGeom>
              <a:blipFill>
                <a:blip r:embed="rId9"/>
                <a:stretch>
                  <a:fillRect l="-1645" t="-5072" b="-15217"/>
                </a:stretch>
              </a:blipFill>
              <a:ln>
                <a:solidFill>
                  <a:schemeClr val="tx1"/>
                </a:solidFill>
              </a:ln>
            </p:spPr>
            <p:txBody>
              <a:bodyPr/>
              <a:lstStyle/>
              <a:p>
                <a:r>
                  <a:rPr lang="zh-CN" altLang="en-US">
                    <a:noFill/>
                  </a:rPr>
                  <a:t> </a:t>
                </a:r>
              </a:p>
            </p:txBody>
          </p:sp>
        </mc:Fallback>
      </mc:AlternateContent>
    </p:spTree>
    <p:extLst>
      <p:ext uri="{BB962C8B-B14F-4D97-AF65-F5344CB8AC3E}">
        <p14:creationId xmlns:p14="http://schemas.microsoft.com/office/powerpoint/2010/main" val="159455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par>
                          <p:cTn id="11" fill="hold">
                            <p:stCondLst>
                              <p:cond delay="500"/>
                            </p:stCondLst>
                            <p:childTnLst>
                              <p:par>
                                <p:cTn id="12" presetID="16" presetClass="entr" presetSubtype="21"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barn(inVertical)">
                                      <p:cBhvr>
                                        <p:cTn id="14" dur="500"/>
                                        <p:tgtEl>
                                          <p:spTgt spid="14"/>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9CCBD0-4540-49A1-8291-7308183F144C}"/>
              </a:ext>
            </a:extLst>
          </p:cNvPr>
          <p:cNvSpPr>
            <a:spLocks noGrp="1"/>
          </p:cNvSpPr>
          <p:nvPr>
            <p:ph type="title"/>
          </p:nvPr>
        </p:nvSpPr>
        <p:spPr/>
        <p:txBody>
          <a:bodyPr/>
          <a:lstStyle/>
          <a:p>
            <a:r>
              <a:rPr lang="zh-CN" altLang="en-US" dirty="0"/>
              <a:t>人工变量法</a:t>
            </a:r>
          </a:p>
        </p:txBody>
      </p:sp>
      <p:sp>
        <p:nvSpPr>
          <p:cNvPr id="3" name="内容占位符 2">
            <a:extLst>
              <a:ext uri="{FF2B5EF4-FFF2-40B4-BE49-F238E27FC236}">
                <a16:creationId xmlns:a16="http://schemas.microsoft.com/office/drawing/2014/main" id="{6CAC7A0B-F514-4E97-88F6-DC0AAE600B4F}"/>
              </a:ext>
            </a:extLst>
          </p:cNvPr>
          <p:cNvSpPr>
            <a:spLocks noGrp="1"/>
          </p:cNvSpPr>
          <p:nvPr>
            <p:ph idx="1"/>
          </p:nvPr>
        </p:nvSpPr>
        <p:spPr/>
        <p:txBody>
          <a:bodyPr/>
          <a:lstStyle/>
          <a:p>
            <a:r>
              <a:rPr lang="zh-CN" altLang="en-US" dirty="0"/>
              <a:t>两段法</a:t>
            </a:r>
            <a:endParaRPr lang="en-US" altLang="zh-CN" dirty="0"/>
          </a:p>
          <a:p>
            <a:pPr lvl="1"/>
            <a:r>
              <a:rPr lang="zh-CN" altLang="en-US" dirty="0"/>
              <a:t>最优解判断条件：</a:t>
            </a:r>
            <a:endParaRPr lang="en-US" altLang="zh-CN" dirty="0"/>
          </a:p>
          <a:p>
            <a:pPr lvl="1"/>
            <a:endParaRPr lang="en-US" altLang="zh-CN" dirty="0"/>
          </a:p>
        </p:txBody>
      </p:sp>
      <p:sp>
        <p:nvSpPr>
          <p:cNvPr id="4" name="日期占位符 3">
            <a:extLst>
              <a:ext uri="{FF2B5EF4-FFF2-40B4-BE49-F238E27FC236}">
                <a16:creationId xmlns:a16="http://schemas.microsoft.com/office/drawing/2014/main" id="{710D2D98-A8C3-4ECC-86A7-9F388F5F5FC3}"/>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676C3384-5860-46D2-9D62-15EF61695922}"/>
              </a:ext>
            </a:extLst>
          </p:cNvPr>
          <p:cNvSpPr>
            <a:spLocks noGrp="1"/>
          </p:cNvSpPr>
          <p:nvPr>
            <p:ph type="sldNum" sz="quarter" idx="12"/>
          </p:nvPr>
        </p:nvSpPr>
        <p:spPr/>
        <p:txBody>
          <a:bodyPr/>
          <a:lstStyle/>
          <a:p>
            <a:fld id="{7AC79822-BC0D-4DE8-A7E5-90A3732A2B82}" type="slidenum">
              <a:rPr lang="zh-CN" altLang="en-US" smtClean="0"/>
              <a:pPr/>
              <a:t>57</a:t>
            </a:fld>
            <a:endParaRPr lang="en-US" altLang="zh-CN" dirty="0"/>
          </a:p>
        </p:txBody>
      </p:sp>
      <p:sp>
        <p:nvSpPr>
          <p:cNvPr id="6" name="文本框 5">
            <a:extLst>
              <a:ext uri="{FF2B5EF4-FFF2-40B4-BE49-F238E27FC236}">
                <a16:creationId xmlns:a16="http://schemas.microsoft.com/office/drawing/2014/main" id="{CD7AD82F-FCCD-4157-9FFE-2CA85518B5E7}"/>
              </a:ext>
            </a:extLst>
          </p:cNvPr>
          <p:cNvSpPr txBox="1"/>
          <p:nvPr/>
        </p:nvSpPr>
        <p:spPr>
          <a:xfrm>
            <a:off x="627690" y="2513615"/>
            <a:ext cx="9289032" cy="4154984"/>
          </a:xfrm>
          <a:prstGeom prst="rect">
            <a:avLst/>
          </a:prstGeom>
          <a:noFill/>
        </p:spPr>
        <p:txBody>
          <a:bodyPr wrap="square" rtlCol="0">
            <a:spAutoFit/>
          </a:bodyPr>
          <a:lstStyle/>
          <a:p>
            <a:r>
              <a:rPr lang="zh-CN" altLang="en-US" sz="2400" dirty="0"/>
              <a:t>在第一阶段，求解问题</a:t>
            </a:r>
            <a:r>
              <a:rPr lang="en-US" altLang="zh-CN" sz="2400" dirty="0"/>
              <a:t>C</a:t>
            </a:r>
            <a:r>
              <a:rPr lang="zh-CN" altLang="en-US" sz="2400" dirty="0"/>
              <a:t>时，结果包括如下几种情况：</a:t>
            </a:r>
            <a:endParaRPr lang="en-US" altLang="zh-CN" sz="2400" dirty="0"/>
          </a:p>
          <a:p>
            <a:pPr marL="457200" indent="-457200">
              <a:buFont typeface="+mj-lt"/>
              <a:buAutoNum type="arabicPeriod"/>
            </a:pPr>
            <a:r>
              <a:rPr lang="zh-CN" altLang="en-US" sz="2400" dirty="0">
                <a:solidFill>
                  <a:srgbClr val="FF0000"/>
                </a:solidFill>
              </a:rPr>
              <a:t>目标函数最优解为</a:t>
            </a:r>
            <a:r>
              <a:rPr lang="en-US" altLang="zh-CN" sz="2400" dirty="0">
                <a:solidFill>
                  <a:srgbClr val="FF0000"/>
                </a:solidFill>
              </a:rPr>
              <a:t>0</a:t>
            </a:r>
          </a:p>
          <a:p>
            <a:pPr marL="914400" lvl="1" indent="-457200">
              <a:buFont typeface="+mj-ea"/>
              <a:buAutoNum type="circleNumDbPlain"/>
            </a:pPr>
            <a:r>
              <a:rPr lang="zh-CN" altLang="en-US" sz="2400" dirty="0">
                <a:solidFill>
                  <a:srgbClr val="0000FF"/>
                </a:solidFill>
              </a:rPr>
              <a:t>所有人工变量都离基</a:t>
            </a:r>
            <a:r>
              <a:rPr lang="zh-CN" altLang="en-US" sz="2400" dirty="0"/>
              <a:t>，则此时</a:t>
            </a:r>
            <a:r>
              <a:rPr lang="zh-CN" altLang="en-US" sz="2400" dirty="0">
                <a:solidFill>
                  <a:srgbClr val="0000FF"/>
                </a:solidFill>
              </a:rPr>
              <a:t>剔除人工变量进行第二阶段求解原问题</a:t>
            </a:r>
            <a:r>
              <a:rPr lang="en-US" altLang="zh-CN" sz="2400" dirty="0">
                <a:solidFill>
                  <a:srgbClr val="0000FF"/>
                </a:solidFill>
              </a:rPr>
              <a:t>A</a:t>
            </a:r>
          </a:p>
          <a:p>
            <a:pPr marL="914400" lvl="1" indent="-457200">
              <a:buFont typeface="+mj-ea"/>
              <a:buAutoNum type="circleNumDbPlain"/>
            </a:pPr>
            <a:r>
              <a:rPr lang="zh-CN" altLang="en-US" sz="2400" dirty="0">
                <a:solidFill>
                  <a:srgbClr val="7030A0"/>
                </a:solidFill>
              </a:rPr>
              <a:t>人工变量还有未离基</a:t>
            </a:r>
            <a:r>
              <a:rPr lang="zh-CN" altLang="en-US" sz="2400" dirty="0"/>
              <a:t>，若未离基的变量值非</a:t>
            </a:r>
            <a:r>
              <a:rPr lang="en-US" altLang="zh-CN" sz="2400" dirty="0"/>
              <a:t>0</a:t>
            </a:r>
            <a:r>
              <a:rPr lang="zh-CN" altLang="en-US" sz="2400" dirty="0"/>
              <a:t>，则原问题不存在可行解</a:t>
            </a:r>
            <a:endParaRPr lang="en-US" altLang="zh-CN" sz="2400" dirty="0"/>
          </a:p>
          <a:p>
            <a:pPr marL="914400" lvl="1" indent="-457200">
              <a:buFont typeface="+mj-ea"/>
              <a:buAutoNum type="circleNumDbPlain"/>
            </a:pPr>
            <a:r>
              <a:rPr lang="zh-CN" altLang="en-US" sz="2400" dirty="0">
                <a:solidFill>
                  <a:srgbClr val="FF0000"/>
                </a:solidFill>
              </a:rPr>
              <a:t>人工变量还有未离基，</a:t>
            </a:r>
            <a:r>
              <a:rPr lang="zh-CN" altLang="en-US" sz="2400" dirty="0"/>
              <a:t>若未离基的变量值为</a:t>
            </a:r>
            <a:r>
              <a:rPr lang="en-US" altLang="zh-CN" sz="2400" dirty="0"/>
              <a:t>0</a:t>
            </a:r>
            <a:r>
              <a:rPr lang="zh-CN" altLang="en-US" sz="2400" dirty="0"/>
              <a:t>：</a:t>
            </a:r>
            <a:endParaRPr lang="en-US" altLang="zh-CN" sz="2400" dirty="0"/>
          </a:p>
          <a:p>
            <a:pPr marL="1371600" lvl="2" indent="-457200">
              <a:buFont typeface="+mj-lt"/>
              <a:buAutoNum type="alphaLcParenR"/>
            </a:pPr>
            <a:r>
              <a:rPr lang="zh-CN" altLang="en-US" sz="2400" dirty="0"/>
              <a:t>如果该人工变量对应行仍有非基变量系数为非零的情况，则继续进行一次迭代（让人工变量离基）</a:t>
            </a:r>
            <a:endParaRPr lang="en-US" altLang="zh-CN" sz="2400" dirty="0"/>
          </a:p>
          <a:p>
            <a:pPr marL="1371600" lvl="2" indent="-457200">
              <a:buFont typeface="+mj-lt"/>
              <a:buAutoNum type="alphaLcParenR"/>
            </a:pPr>
            <a:r>
              <a:rPr lang="zh-CN" altLang="en-US" sz="2400" dirty="0"/>
              <a:t>如果该人工变量对应行所有非基变量系数都为零，则说明对应的约束无意义，去掉这一行和这一列，继续计算。</a:t>
            </a:r>
            <a:endParaRPr lang="en-US" altLang="zh-CN" sz="2400" dirty="0"/>
          </a:p>
        </p:txBody>
      </p:sp>
    </p:spTree>
    <p:extLst>
      <p:ext uri="{BB962C8B-B14F-4D97-AF65-F5344CB8AC3E}">
        <p14:creationId xmlns:p14="http://schemas.microsoft.com/office/powerpoint/2010/main" val="211127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9CCBD0-4540-49A1-8291-7308183F144C}"/>
              </a:ext>
            </a:extLst>
          </p:cNvPr>
          <p:cNvSpPr>
            <a:spLocks noGrp="1"/>
          </p:cNvSpPr>
          <p:nvPr>
            <p:ph type="title"/>
          </p:nvPr>
        </p:nvSpPr>
        <p:spPr/>
        <p:txBody>
          <a:bodyPr/>
          <a:lstStyle/>
          <a:p>
            <a:r>
              <a:rPr lang="zh-CN" altLang="en-US" dirty="0"/>
              <a:t>人工变量法</a:t>
            </a:r>
          </a:p>
        </p:txBody>
      </p:sp>
      <p:sp>
        <p:nvSpPr>
          <p:cNvPr id="3" name="内容占位符 2">
            <a:extLst>
              <a:ext uri="{FF2B5EF4-FFF2-40B4-BE49-F238E27FC236}">
                <a16:creationId xmlns:a16="http://schemas.microsoft.com/office/drawing/2014/main" id="{6CAC7A0B-F514-4E97-88F6-DC0AAE600B4F}"/>
              </a:ext>
            </a:extLst>
          </p:cNvPr>
          <p:cNvSpPr>
            <a:spLocks noGrp="1"/>
          </p:cNvSpPr>
          <p:nvPr>
            <p:ph idx="1"/>
          </p:nvPr>
        </p:nvSpPr>
        <p:spPr/>
        <p:txBody>
          <a:bodyPr/>
          <a:lstStyle/>
          <a:p>
            <a:r>
              <a:rPr lang="zh-CN" altLang="en-US" dirty="0"/>
              <a:t>两段法</a:t>
            </a:r>
            <a:endParaRPr lang="en-US" altLang="zh-CN" dirty="0"/>
          </a:p>
          <a:p>
            <a:pPr lvl="1"/>
            <a:r>
              <a:rPr lang="zh-CN" altLang="en-US" dirty="0"/>
              <a:t>最优解判断条件：</a:t>
            </a:r>
            <a:endParaRPr lang="en-US" altLang="zh-CN" dirty="0"/>
          </a:p>
          <a:p>
            <a:pPr lvl="1"/>
            <a:endParaRPr lang="en-US" altLang="zh-CN" dirty="0"/>
          </a:p>
        </p:txBody>
      </p:sp>
      <p:sp>
        <p:nvSpPr>
          <p:cNvPr id="4" name="日期占位符 3">
            <a:extLst>
              <a:ext uri="{FF2B5EF4-FFF2-40B4-BE49-F238E27FC236}">
                <a16:creationId xmlns:a16="http://schemas.microsoft.com/office/drawing/2014/main" id="{710D2D98-A8C3-4ECC-86A7-9F388F5F5FC3}"/>
              </a:ext>
            </a:extLst>
          </p:cNvPr>
          <p:cNvSpPr>
            <a:spLocks noGrp="1"/>
          </p:cNvSpPr>
          <p:nvPr>
            <p:ph type="dt" sz="half" idx="10"/>
          </p:nvPr>
        </p:nvSpPr>
        <p:spPr/>
        <p:txBody>
          <a:bodyPr/>
          <a:lstStyle/>
          <a:p>
            <a:fld id="{A8B06C41-1E1E-4B9B-9644-5AFB8CB2AB3B}" type="datetime3">
              <a:rPr lang="zh-CN" altLang="en-US" smtClean="0"/>
              <a:t>2022年10月28日星期五</a:t>
            </a:fld>
            <a:endParaRPr lang="en-US" altLang="zh-CN" dirty="0"/>
          </a:p>
        </p:txBody>
      </p:sp>
      <p:sp>
        <p:nvSpPr>
          <p:cNvPr id="5" name="灯片编号占位符 4">
            <a:extLst>
              <a:ext uri="{FF2B5EF4-FFF2-40B4-BE49-F238E27FC236}">
                <a16:creationId xmlns:a16="http://schemas.microsoft.com/office/drawing/2014/main" id="{676C3384-5860-46D2-9D62-15EF61695922}"/>
              </a:ext>
            </a:extLst>
          </p:cNvPr>
          <p:cNvSpPr>
            <a:spLocks noGrp="1"/>
          </p:cNvSpPr>
          <p:nvPr>
            <p:ph type="sldNum" sz="quarter" idx="12"/>
          </p:nvPr>
        </p:nvSpPr>
        <p:spPr/>
        <p:txBody>
          <a:bodyPr/>
          <a:lstStyle/>
          <a:p>
            <a:fld id="{7AC79822-BC0D-4DE8-A7E5-90A3732A2B82}" type="slidenum">
              <a:rPr lang="zh-CN" altLang="en-US" smtClean="0"/>
              <a:pPr/>
              <a:t>58</a:t>
            </a:fld>
            <a:endParaRPr lang="en-US" altLang="zh-CN" dirty="0"/>
          </a:p>
        </p:txBody>
      </p:sp>
      <p:sp>
        <p:nvSpPr>
          <p:cNvPr id="6" name="文本框 5">
            <a:extLst>
              <a:ext uri="{FF2B5EF4-FFF2-40B4-BE49-F238E27FC236}">
                <a16:creationId xmlns:a16="http://schemas.microsoft.com/office/drawing/2014/main" id="{CD7AD82F-FCCD-4157-9FFE-2CA85518B5E7}"/>
              </a:ext>
            </a:extLst>
          </p:cNvPr>
          <p:cNvSpPr txBox="1"/>
          <p:nvPr/>
        </p:nvSpPr>
        <p:spPr>
          <a:xfrm>
            <a:off x="627690" y="2513615"/>
            <a:ext cx="9289032" cy="1200329"/>
          </a:xfrm>
          <a:prstGeom prst="rect">
            <a:avLst/>
          </a:prstGeom>
          <a:noFill/>
        </p:spPr>
        <p:txBody>
          <a:bodyPr wrap="square" rtlCol="0">
            <a:spAutoFit/>
          </a:bodyPr>
          <a:lstStyle/>
          <a:p>
            <a:r>
              <a:rPr lang="zh-CN" altLang="en-US" sz="2400" dirty="0"/>
              <a:t>在第一阶段，求解问题</a:t>
            </a:r>
            <a:r>
              <a:rPr lang="en-US" altLang="zh-CN" sz="2400" dirty="0"/>
              <a:t>C</a:t>
            </a:r>
            <a:r>
              <a:rPr lang="zh-CN" altLang="en-US" sz="2400" dirty="0"/>
              <a:t>时，结果包括如下几种情况：</a:t>
            </a:r>
            <a:endParaRPr lang="en-US" altLang="zh-CN" sz="2400" dirty="0"/>
          </a:p>
          <a:p>
            <a:pPr marL="457200" indent="-457200">
              <a:buFont typeface="+mj-lt"/>
              <a:buAutoNum type="arabicPeriod" startAt="2"/>
            </a:pPr>
            <a:r>
              <a:rPr lang="zh-CN" altLang="en-US" sz="2400" dirty="0">
                <a:solidFill>
                  <a:srgbClr val="FF0000"/>
                </a:solidFill>
              </a:rPr>
              <a:t>目标函数最优解非</a:t>
            </a:r>
            <a:r>
              <a:rPr lang="en-US" altLang="zh-CN" sz="2400" dirty="0">
                <a:solidFill>
                  <a:srgbClr val="FF0000"/>
                </a:solidFill>
              </a:rPr>
              <a:t>0</a:t>
            </a:r>
          </a:p>
          <a:p>
            <a:pPr lvl="1"/>
            <a:r>
              <a:rPr lang="zh-CN" altLang="en-US" sz="2400" b="1" dirty="0">
                <a:solidFill>
                  <a:srgbClr val="0000FF"/>
                </a:solidFill>
              </a:rPr>
              <a:t>原问题无可行解</a:t>
            </a:r>
            <a:endParaRPr lang="en-US" altLang="zh-CN" sz="2400" b="1" dirty="0">
              <a:solidFill>
                <a:srgbClr val="0000FF"/>
              </a:solidFill>
            </a:endParaRPr>
          </a:p>
        </p:txBody>
      </p:sp>
    </p:spTree>
    <p:extLst>
      <p:ext uri="{BB962C8B-B14F-4D97-AF65-F5344CB8AC3E}">
        <p14:creationId xmlns:p14="http://schemas.microsoft.com/office/powerpoint/2010/main" val="3456351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Template>
  <TotalTime>10012</TotalTime>
  <Words>4962</Words>
  <Application>Microsoft Office PowerPoint</Application>
  <PresentationFormat>A4 纸张(210x297 毫米)</PresentationFormat>
  <Paragraphs>2615</Paragraphs>
  <Slides>58</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58</vt:i4>
      </vt:variant>
    </vt:vector>
  </HeadingPairs>
  <TitlesOfParts>
    <vt:vector size="66" baseType="lpstr">
      <vt:lpstr>黑体</vt:lpstr>
      <vt:lpstr>宋体</vt:lpstr>
      <vt:lpstr>Arial</vt:lpstr>
      <vt:lpstr>Cambria Math</vt:lpstr>
      <vt:lpstr>Times New Roman</vt:lpstr>
      <vt:lpstr>Wingdings</vt:lpstr>
      <vt:lpstr>Presentation</vt:lpstr>
      <vt:lpstr>Equation</vt:lpstr>
      <vt:lpstr>最优化理论</vt:lpstr>
      <vt:lpstr>线性规划</vt:lpstr>
      <vt:lpstr>单纯形法最优解的判断条件</vt:lpstr>
      <vt:lpstr>例1：解</vt:lpstr>
      <vt:lpstr>例1：解</vt:lpstr>
      <vt:lpstr>例1：解</vt:lpstr>
      <vt:lpstr>例1：解</vt:lpstr>
      <vt:lpstr>例1：解</vt:lpstr>
      <vt:lpstr>例1：解</vt:lpstr>
      <vt:lpstr>例1：解</vt:lpstr>
      <vt:lpstr>例1：解</vt:lpstr>
      <vt:lpstr>例1：解</vt:lpstr>
      <vt:lpstr>例1：解</vt:lpstr>
      <vt:lpstr>例1：解</vt:lpstr>
      <vt:lpstr>例1：图解法</vt:lpstr>
      <vt:lpstr>单纯形法最优解的判断条件</vt:lpstr>
      <vt:lpstr>人工变量法</vt:lpstr>
      <vt:lpstr>例2：解</vt:lpstr>
      <vt:lpstr>例1：解</vt:lpstr>
      <vt:lpstr>人工变量法</vt:lpstr>
      <vt:lpstr>人工变量法</vt:lpstr>
      <vt:lpstr>例2：解</vt:lpstr>
      <vt:lpstr>例2：解</vt:lpstr>
      <vt:lpstr>例2：解</vt:lpstr>
      <vt:lpstr>例2：解</vt:lpstr>
      <vt:lpstr>例2：解</vt:lpstr>
      <vt:lpstr>例2：解</vt:lpstr>
      <vt:lpstr>例2：解</vt:lpstr>
      <vt:lpstr>例2：解</vt:lpstr>
      <vt:lpstr>例2：解</vt:lpstr>
      <vt:lpstr>例2：解</vt:lpstr>
      <vt:lpstr>例2：解</vt:lpstr>
      <vt:lpstr>例2：解</vt:lpstr>
      <vt:lpstr>例2：解</vt:lpstr>
      <vt:lpstr>例2：解</vt:lpstr>
      <vt:lpstr>例2：解</vt:lpstr>
      <vt:lpstr>例2：解</vt:lpstr>
      <vt:lpstr>例2：解</vt:lpstr>
      <vt:lpstr>例2：解</vt:lpstr>
      <vt:lpstr>例2：解</vt:lpstr>
      <vt:lpstr>人工变量法</vt:lpstr>
      <vt:lpstr>人工变量法</vt:lpstr>
      <vt:lpstr>人工变量法</vt:lpstr>
      <vt:lpstr>例3：解</vt:lpstr>
      <vt:lpstr>例3：解</vt:lpstr>
      <vt:lpstr>例3：解</vt:lpstr>
      <vt:lpstr>例3：解</vt:lpstr>
      <vt:lpstr>例3：解</vt:lpstr>
      <vt:lpstr>例3：解</vt:lpstr>
      <vt:lpstr>例3：解</vt:lpstr>
      <vt:lpstr>例3：解</vt:lpstr>
      <vt:lpstr>例3：解</vt:lpstr>
      <vt:lpstr>例3：解</vt:lpstr>
      <vt:lpstr>例3：解</vt:lpstr>
      <vt:lpstr>例3：解</vt:lpstr>
      <vt:lpstr>例3：解</vt:lpstr>
      <vt:lpstr>人工变量法</vt:lpstr>
      <vt:lpstr>人工变量法</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Administrator</cp:lastModifiedBy>
  <cp:revision>5395</cp:revision>
  <dcterms:created xsi:type="dcterms:W3CDTF">2016-10-01T05:27:09Z</dcterms:created>
  <dcterms:modified xsi:type="dcterms:W3CDTF">2022-10-28T07:20:42Z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