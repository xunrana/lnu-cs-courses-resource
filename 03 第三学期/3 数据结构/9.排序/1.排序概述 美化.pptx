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4"/>
  </p:notesMasterIdLst>
  <p:sldIdLst>
    <p:sldId id="283" r:id="rId2"/>
    <p:sldId id="284" r:id="rId3"/>
    <p:sldId id="316" r:id="rId4"/>
    <p:sldId id="317" r:id="rId5"/>
    <p:sldId id="318" r:id="rId6"/>
    <p:sldId id="319" r:id="rId7"/>
    <p:sldId id="320" r:id="rId8"/>
    <p:sldId id="321" r:id="rId9"/>
    <p:sldId id="322" r:id="rId10"/>
    <p:sldId id="323" r:id="rId11"/>
    <p:sldId id="324" r:id="rId12"/>
    <p:sldId id="315" r:id="rId13"/>
  </p:sldIdLst>
  <p:sldSz cx="9144000" cy="514508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A5BA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992" autoAdjust="0"/>
    <p:restoredTop sz="94660"/>
  </p:normalViewPr>
  <p:slideViewPr>
    <p:cSldViewPr snapToGrid="0">
      <p:cViewPr varScale="1">
        <p:scale>
          <a:sx n="153" d="100"/>
          <a:sy n="153" d="100"/>
        </p:scale>
        <p:origin x="252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1692"/>
    </p:cViewPr>
  </p:sorterViewPr>
  <p:gridSpacing cx="36004" cy="36004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4231844-757F-4497-A6B9-29138D45B0D0}" type="datetimeFigureOut">
              <a:rPr lang="zh-CN" altLang="en-US" smtClean="0"/>
              <a:t>2020/11/25 Wednesday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7388" y="1143000"/>
            <a:ext cx="54832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2BABFAC-0D77-4680-9C08-FA0DD250B4A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013583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7388" y="1143000"/>
            <a:ext cx="5483225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11242B-E086-4BFA-A7CA-F34B92C86E2F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520650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7388" y="1143000"/>
            <a:ext cx="5483225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11242B-E086-4BFA-A7CA-F34B92C86E2F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6153068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7388" y="1143000"/>
            <a:ext cx="5483225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11242B-E086-4BFA-A7CA-F34B92C86E2F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070000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7388" y="1143000"/>
            <a:ext cx="5483225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11242B-E086-4BFA-A7CA-F34B92C86E2F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0480542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7388" y="1143000"/>
            <a:ext cx="5483225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11242B-E086-4BFA-A7CA-F34B92C86E2F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9589400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7388" y="1143000"/>
            <a:ext cx="5483225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11242B-E086-4BFA-A7CA-F34B92C86E2F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9058686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7388" y="1143000"/>
            <a:ext cx="5483225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11242B-E086-4BFA-A7CA-F34B92C86E2F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9851045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7388" y="1143000"/>
            <a:ext cx="5483225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11242B-E086-4BFA-A7CA-F34B92C86E2F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8100921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7388" y="1143000"/>
            <a:ext cx="5483225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11242B-E086-4BFA-A7CA-F34B92C86E2F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6218861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7388" y="1143000"/>
            <a:ext cx="5483225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11242B-E086-4BFA-A7CA-F34B92C86E2F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466850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2032"/>
            <a:ext cx="6858000" cy="1791253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143000" y="2702363"/>
            <a:ext cx="6858000" cy="1242205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/>
              <a:t>单击以编辑母版副标题样式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B0A747-1217-4325-A876-522190C71555}" type="datetimeFigureOut">
              <a:rPr lang="zh-CN" altLang="en-US" smtClean="0"/>
              <a:t>2020/11/25 Wednesday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7CFC9F-4B06-4ABB-A28A-559A77B7DC5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9" advClick="0" advTm="0"/>
    </mc:Choice>
    <mc:Fallback xmlns="">
      <p:transition advClick="0" advTm="0"/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B0A747-1217-4325-A876-522190C71555}" type="datetimeFigureOut">
              <a:rPr lang="zh-CN" altLang="en-US" smtClean="0"/>
              <a:t>2020/11/25 Wednesday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7CFC9F-4B06-4ABB-A28A-559A77B7DC5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9" advClick="0" advTm="0"/>
    </mc:Choice>
    <mc:Fallback xmlns="">
      <p:transition advClick="0" advTm="0"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700"/>
            <a:ext cx="7886700" cy="214021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623888" y="3443160"/>
            <a:ext cx="7886700" cy="1125488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B0A747-1217-4325-A876-522190C71555}" type="datetimeFigureOut">
              <a:rPr lang="zh-CN" altLang="en-US" smtClean="0"/>
              <a:t>2020/11/25 Wednesday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7CFC9F-4B06-4ABB-A28A-559A77B7DC5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9" advClick="0" advTm="0"/>
    </mc:Choice>
    <mc:Fallback xmlns="">
      <p:transition advClick="0" advTm="0"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628650" y="1369642"/>
            <a:ext cx="3886200" cy="3264511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4629150" y="1369642"/>
            <a:ext cx="3886200" cy="3264511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B0A747-1217-4325-A876-522190C71555}" type="datetimeFigureOut">
              <a:rPr lang="zh-CN" altLang="en-US" smtClean="0"/>
              <a:t>2020/11/25 Wednesday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7CFC9F-4B06-4ABB-A28A-559A77B7DC5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9" advClick="0" advTm="0"/>
    </mc:Choice>
    <mc:Fallback xmlns="">
      <p:transition advClick="0" advTm="0"/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929"/>
            <a:ext cx="7886700" cy="994479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629842" y="1261261"/>
            <a:ext cx="3868340" cy="61812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629842" y="1879386"/>
            <a:ext cx="3868340" cy="2764294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4629150" y="1261261"/>
            <a:ext cx="3887391" cy="61812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 hasCustomPrompt="1"/>
          </p:nvPr>
        </p:nvSpPr>
        <p:spPr>
          <a:xfrm>
            <a:off x="4629150" y="1879386"/>
            <a:ext cx="3887391" cy="2764294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B0A747-1217-4325-A876-522190C71555}" type="datetimeFigureOut">
              <a:rPr lang="zh-CN" altLang="en-US" smtClean="0"/>
              <a:t>2020/11/25 Wednesday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7CFC9F-4B06-4ABB-A28A-559A77B7DC5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9" advClick="0" advTm="0"/>
    </mc:Choice>
    <mc:Fallback xmlns="">
      <p:transition advClick="0" advTm="0"/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B0A747-1217-4325-A876-522190C71555}" type="datetimeFigureOut">
              <a:rPr lang="zh-CN" altLang="en-US" smtClean="0"/>
              <a:t>2020/11/25 Wednesday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7CFC9F-4B06-4ABB-A28A-559A77B7DC5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9" advClick="0" advTm="0"/>
    </mc:Choice>
    <mc:Fallback xmlns="">
      <p:transition advClick="0" advTm="0"/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B0A747-1217-4325-A876-522190C71555}" type="datetimeFigureOut">
              <a:rPr lang="zh-CN" altLang="en-US" smtClean="0"/>
              <a:t>2020/11/25 Wednesday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7CFC9F-4B06-4ABB-A28A-559A77B7DC59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5" name="矩形 4"/>
          <p:cNvSpPr/>
          <p:nvPr userDrawn="1"/>
        </p:nvSpPr>
        <p:spPr>
          <a:xfrm>
            <a:off x="253" y="196280"/>
            <a:ext cx="144049" cy="50405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4" tIns="34292" rIns="68584" bIns="34292" rtlCol="0" anchor="ctr"/>
          <a:lstStyle/>
          <a:p>
            <a:pPr algn="ctr" defTabSz="685800"/>
            <a:endParaRPr lang="zh-CN" altLang="en-US" sz="1400" dirty="0">
              <a:solidFill>
                <a:srgbClr val="E7E6E6">
                  <a:lumMod val="50000"/>
                </a:srgbClr>
              </a:solidFill>
              <a:cs typeface="+mn-ea"/>
              <a:sym typeface="+mn-lt"/>
            </a:endParaRPr>
          </a:p>
        </p:txBody>
      </p:sp>
      <p:sp>
        <p:nvSpPr>
          <p:cNvPr id="6" name="文本框 37"/>
          <p:cNvSpPr txBox="1"/>
          <p:nvPr userDrawn="1"/>
        </p:nvSpPr>
        <p:spPr>
          <a:xfrm>
            <a:off x="216310" y="196280"/>
            <a:ext cx="2190351" cy="315475"/>
          </a:xfrm>
          <a:prstGeom prst="rect">
            <a:avLst/>
          </a:prstGeom>
          <a:noFill/>
        </p:spPr>
        <p:txBody>
          <a:bodyPr wrap="none" lIns="68584" tIns="34292" rIns="68584" bIns="34292" rtlCol="0">
            <a:spAutoFit/>
          </a:bodyPr>
          <a:lstStyle/>
          <a:p>
            <a:pPr defTabSz="685800"/>
            <a:r>
              <a:rPr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点击添加相关标题文字</a:t>
            </a:r>
          </a:p>
        </p:txBody>
      </p:sp>
      <p:sp>
        <p:nvSpPr>
          <p:cNvPr id="7" name="文本框 38"/>
          <p:cNvSpPr txBox="1"/>
          <p:nvPr userDrawn="1"/>
        </p:nvSpPr>
        <p:spPr>
          <a:xfrm>
            <a:off x="265271" y="520316"/>
            <a:ext cx="2039271" cy="207753"/>
          </a:xfrm>
          <a:prstGeom prst="rect">
            <a:avLst/>
          </a:prstGeom>
          <a:noFill/>
        </p:spPr>
        <p:txBody>
          <a:bodyPr wrap="square" lIns="68584" tIns="34292" rIns="68584" bIns="34292" rtlCol="0">
            <a:spAutoFit/>
          </a:bodyPr>
          <a:lstStyle/>
          <a:p>
            <a:pPr algn="dist" defTabSz="685800"/>
            <a:r>
              <a:rPr lang="en-US" altLang="zh-CN" sz="9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ADD RELATED TITLE WORDS</a:t>
            </a:r>
            <a:endParaRPr lang="zh-CN" altLang="en-US" sz="900" dirty="0">
              <a:solidFill>
                <a:schemeClr val="tx1">
                  <a:lumMod val="50000"/>
                  <a:lumOff val="50000"/>
                </a:schemeClr>
              </a:solidFill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9" advClick="0" advTm="0"/>
    </mc:Choice>
    <mc:Fallback xmlns="">
      <p:transition advClick="0" advTm="0"/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3006"/>
            <a:ext cx="2949178" cy="1200521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3887391" y="740798"/>
            <a:ext cx="4629150" cy="3656347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629841" y="1543526"/>
            <a:ext cx="2949178" cy="2859574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B0A747-1217-4325-A876-522190C71555}" type="datetimeFigureOut">
              <a:rPr lang="zh-CN" altLang="en-US" smtClean="0"/>
              <a:t>2020/11/25 Wednesday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7CFC9F-4B06-4ABB-A28A-559A77B7DC5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9" advClick="0" advTm="0"/>
    </mc:Choice>
    <mc:Fallback xmlns="">
      <p:transition advClick="0" advTm="0"/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20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3006"/>
            <a:ext cx="2949178" cy="1200521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798"/>
            <a:ext cx="4629150" cy="3656347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zh-CN" altLang="en-US"/>
              <a:t>单击图标添加20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629841" y="1543526"/>
            <a:ext cx="2949178" cy="2859574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B0A747-1217-4325-A876-522190C71555}" type="datetimeFigureOut">
              <a:rPr lang="zh-CN" altLang="en-US" smtClean="0"/>
              <a:t>2020/11/25 Wednesday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7CFC9F-4B06-4ABB-A28A-559A77B7DC5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9" advClick="0" advTm="0"/>
    </mc:Choice>
    <mc:Fallback xmlns="">
      <p:transition advClick="0" advTm="0"/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B0A747-1217-4325-A876-522190C71555}" type="datetimeFigureOut">
              <a:rPr lang="zh-CN" altLang="en-US" smtClean="0"/>
              <a:t>2020/11/25 Wednesday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7CFC9F-4B06-4ABB-A28A-559A77B7DC5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9" advClick="0" advTm="0"/>
    </mc:Choice>
    <mc:Fallback xmlns="">
      <p:transition advClick="0" advTm="0"/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928"/>
            <a:ext cx="1971675" cy="4360224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>
          <a:xfrm>
            <a:off x="628650" y="273928"/>
            <a:ext cx="5800725" cy="4360224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B0A747-1217-4325-A876-522190C71555}" type="datetimeFigureOut">
              <a:rPr lang="zh-CN" altLang="en-US" smtClean="0"/>
              <a:t>2020/11/25 Wednesday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7CFC9F-4B06-4ABB-A28A-559A77B7DC5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9" advClick="0" advTm="0"/>
    </mc:Choice>
    <mc:Fallback xmlns="">
      <p:transition advClick="0" advTm="0"/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9" advClick="0" advTm="0"/>
    </mc:Choice>
    <mc:Fallback xmlns="">
      <p:transition advClick="0" advTm="0"/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273929"/>
            <a:ext cx="7886700" cy="994479"/>
          </a:xfrm>
        </p:spPr>
        <p:txBody>
          <a:bodyPr/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C9ABEBE-EF13-4983-B182-046B37A0370C}" type="datetime1">
              <a:rPr lang="zh-CN" altLang="en-US"/>
              <a:t>2020/11/25 Wednesday</a:t>
            </a:fld>
            <a:endParaRPr lang="zh-CN" altLang="en-US" sz="1400" dirty="0">
              <a:solidFill>
                <a:prstClr val="black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8145E6F-D1B7-49E0-9AB3-789D9698C190}" type="slidenum">
              <a:rPr lang="zh-CN" altLang="en-US"/>
              <a:t>‹#›</a:t>
            </a:fld>
            <a:endParaRPr lang="zh-CN" altLang="en-US" sz="1400" dirty="0">
              <a:solidFill>
                <a:prstClr val="black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9" advClick="0" advTm="0"/>
    </mc:Choice>
    <mc:Fallback xmlns="">
      <p:transition advClick="0" advTm="0"/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ustom Layou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ctrTitle"/>
          </p:nvPr>
        </p:nvSpPr>
        <p:spPr>
          <a:xfrm>
            <a:off x="1143000" y="374188"/>
            <a:ext cx="6858000" cy="523279"/>
          </a:xfrm>
        </p:spPr>
        <p:txBody>
          <a:bodyPr anchor="b">
            <a:normAutofit/>
          </a:bodyPr>
          <a:lstStyle>
            <a:lvl1pPr algn="ctr">
              <a:defRPr sz="3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AU" dirty="0"/>
          </a:p>
        </p:txBody>
      </p:sp>
      <p:sp>
        <p:nvSpPr>
          <p:cNvPr id="7" name="Subtitle 2"/>
          <p:cNvSpPr>
            <a:spLocks noGrp="1"/>
          </p:cNvSpPr>
          <p:nvPr>
            <p:ph type="subTitle" idx="1"/>
          </p:nvPr>
        </p:nvSpPr>
        <p:spPr>
          <a:xfrm>
            <a:off x="1143000" y="918257"/>
            <a:ext cx="6858000" cy="280749"/>
          </a:xfrm>
        </p:spPr>
        <p:txBody>
          <a:bodyPr>
            <a:normAutofit/>
          </a:bodyPr>
          <a:lstStyle>
            <a:lvl1pPr marL="0" indent="0" algn="ctr">
              <a:buNone/>
              <a:defRPr sz="1100">
                <a:solidFill>
                  <a:schemeClr val="bg1">
                    <a:lumMod val="50000"/>
                  </a:schemeClr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40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dirty="0"/>
              <a:t>Click to edit Master subtitle style</a:t>
            </a:r>
            <a:endParaRPr lang="en-AU" dirty="0"/>
          </a:p>
        </p:txBody>
      </p:sp>
      <p:sp>
        <p:nvSpPr>
          <p:cNvPr id="10" name="Text Placeholder 7"/>
          <p:cNvSpPr>
            <a:spLocks noGrp="1"/>
          </p:cNvSpPr>
          <p:nvPr>
            <p:ph type="body" sz="quarter" idx="13"/>
          </p:nvPr>
        </p:nvSpPr>
        <p:spPr>
          <a:xfrm>
            <a:off x="628650" y="1503977"/>
            <a:ext cx="3942159" cy="353809"/>
          </a:xfrm>
        </p:spPr>
        <p:txBody>
          <a:bodyPr>
            <a:noAutofit/>
          </a:bodyPr>
          <a:lstStyle>
            <a:lvl1pPr marL="0" indent="0">
              <a:buNone/>
              <a:defRPr sz="1800">
                <a:solidFill>
                  <a:schemeClr val="accent1"/>
                </a:solidFill>
              </a:defRPr>
            </a:lvl1pPr>
          </a:lstStyle>
          <a:p>
            <a:pPr lvl="0"/>
            <a:endParaRPr lang="en-AU" dirty="0"/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628650" y="1869220"/>
            <a:ext cx="3942159" cy="1320052"/>
          </a:xfrm>
        </p:spPr>
        <p:txBody>
          <a:bodyPr>
            <a:normAutofit/>
          </a:bodyPr>
          <a:lstStyle>
            <a:lvl1pPr marL="0" indent="0">
              <a:buNone/>
              <a:defRPr sz="1100">
                <a:latin typeface="Lato Light" panose="020F0302020204030203" pitchFamily="34" charset="0"/>
              </a:defRPr>
            </a:lvl1pPr>
          </a:lstStyle>
          <a:p>
            <a:pPr lvl="0"/>
            <a:endParaRPr lang="en-AU" dirty="0"/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5"/>
          </p:nvPr>
        </p:nvSpPr>
        <p:spPr>
          <a:xfrm>
            <a:off x="629841" y="3288332"/>
            <a:ext cx="3940969" cy="370398"/>
          </a:xfrm>
        </p:spPr>
        <p:txBody>
          <a:bodyPr>
            <a:normAutofit/>
          </a:bodyPr>
          <a:lstStyle>
            <a:lvl1pPr marL="0" indent="0">
              <a:buNone/>
              <a:defRPr sz="1200" b="1" i="1">
                <a:latin typeface="Lato Light" panose="020F0302020204030203" pitchFamily="34" charset="0"/>
              </a:defRPr>
            </a:lvl1pPr>
          </a:lstStyle>
          <a:p>
            <a:pPr lvl="0"/>
            <a:endParaRPr lang="en-AU" dirty="0"/>
          </a:p>
        </p:txBody>
      </p:sp>
      <p:sp>
        <p:nvSpPr>
          <p:cNvPr id="13" name="Text Placeholder 13"/>
          <p:cNvSpPr>
            <a:spLocks noGrp="1"/>
          </p:cNvSpPr>
          <p:nvPr>
            <p:ph type="body" sz="quarter" idx="16"/>
          </p:nvPr>
        </p:nvSpPr>
        <p:spPr>
          <a:xfrm>
            <a:off x="629841" y="3658730"/>
            <a:ext cx="3940969" cy="370399"/>
          </a:xfrm>
        </p:spPr>
        <p:txBody>
          <a:bodyPr>
            <a:normAutofit/>
          </a:bodyPr>
          <a:lstStyle>
            <a:lvl1pPr marL="0" indent="0">
              <a:buNone/>
              <a:defRPr sz="900" b="1">
                <a:latin typeface="Lato Light" panose="020F0302020204030203" pitchFamily="34" charset="0"/>
              </a:defRPr>
            </a:lvl1pPr>
          </a:lstStyle>
          <a:p>
            <a:pPr lvl="0"/>
            <a:endParaRPr lang="en-AU" dirty="0"/>
          </a:p>
        </p:txBody>
      </p:sp>
      <p:sp>
        <p:nvSpPr>
          <p:cNvPr id="14" name="Text Placeholder 15"/>
          <p:cNvSpPr>
            <a:spLocks noGrp="1"/>
          </p:cNvSpPr>
          <p:nvPr>
            <p:ph type="body" sz="quarter" idx="17"/>
          </p:nvPr>
        </p:nvSpPr>
        <p:spPr>
          <a:xfrm>
            <a:off x="629841" y="4029128"/>
            <a:ext cx="3942159" cy="270355"/>
          </a:xfrm>
        </p:spPr>
        <p:txBody>
          <a:bodyPr>
            <a:normAutofit/>
          </a:bodyPr>
          <a:lstStyle>
            <a:lvl1pPr marL="0" indent="0">
              <a:buNone/>
              <a:defRPr sz="900">
                <a:latin typeface="Lato Light" panose="020F0302020204030203" pitchFamily="34" charset="0"/>
              </a:defRPr>
            </a:lvl1pPr>
          </a:lstStyle>
          <a:p>
            <a:pPr lvl="0"/>
            <a:endParaRPr lang="en-AU" dirty="0"/>
          </a:p>
        </p:txBody>
      </p:sp>
      <p:sp>
        <p:nvSpPr>
          <p:cNvPr id="15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4768735"/>
            <a:ext cx="2057400" cy="273928"/>
          </a:xfrm>
        </p:spPr>
        <p:txBody>
          <a:bodyPr/>
          <a:lstStyle>
            <a:lvl1pPr>
              <a:defRPr>
                <a:latin typeface="Lato Light" panose="020F0302020204030203" pitchFamily="34" charset="0"/>
              </a:defRPr>
            </a:lvl1pPr>
          </a:lstStyle>
          <a:p>
            <a:fld id="{722F6D6F-DD99-46DF-A9EA-728D63EA6A31}" type="datetimeFigureOut">
              <a:rPr lang="en-AU" smtClean="0"/>
              <a:t>25/11/2020</a:t>
            </a:fld>
            <a:endParaRPr lang="en-AU" dirty="0"/>
          </a:p>
        </p:txBody>
      </p:sp>
      <p:sp>
        <p:nvSpPr>
          <p:cNvPr id="1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4768735"/>
            <a:ext cx="3086100" cy="273928"/>
          </a:xfrm>
        </p:spPr>
        <p:txBody>
          <a:bodyPr/>
          <a:lstStyle>
            <a:lvl1pPr>
              <a:defRPr>
                <a:latin typeface="Lato Light" panose="020F0302020204030203" pitchFamily="34" charset="0"/>
              </a:defRPr>
            </a:lvl1pPr>
          </a:lstStyle>
          <a:p>
            <a:endParaRPr lang="en-AU" dirty="0"/>
          </a:p>
        </p:txBody>
      </p:sp>
      <p:sp>
        <p:nvSpPr>
          <p:cNvPr id="1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4768735"/>
            <a:ext cx="2057400" cy="273928"/>
          </a:xfrm>
        </p:spPr>
        <p:txBody>
          <a:bodyPr/>
          <a:lstStyle>
            <a:lvl1pPr>
              <a:defRPr>
                <a:latin typeface="Lato Light" panose="020F0302020204030203" pitchFamily="34" charset="0"/>
              </a:defRPr>
            </a:lvl1pPr>
          </a:lstStyle>
          <a:p>
            <a:fld id="{84AD2E7E-F7BA-4F6B-9D0C-0B2331C2AE06}" type="slidenum">
              <a:rPr lang="en-AU" smtClean="0"/>
              <a:t>‹#›</a:t>
            </a:fld>
            <a:endParaRPr lang="en-AU" dirty="0"/>
          </a:p>
        </p:txBody>
      </p:sp>
      <p:sp>
        <p:nvSpPr>
          <p:cNvPr id="19" name="Text Placeholder 18"/>
          <p:cNvSpPr>
            <a:spLocks noGrp="1"/>
          </p:cNvSpPr>
          <p:nvPr>
            <p:ph type="body" sz="quarter" idx="18"/>
          </p:nvPr>
        </p:nvSpPr>
        <p:spPr>
          <a:xfrm>
            <a:off x="5112544" y="1504225"/>
            <a:ext cx="3251597" cy="353724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</a:lstStyle>
          <a:p>
            <a:pPr lvl="0"/>
            <a:endParaRPr lang="en-AU" dirty="0"/>
          </a:p>
        </p:txBody>
      </p:sp>
      <p:sp>
        <p:nvSpPr>
          <p:cNvPr id="21" name="Text Placeholder 20"/>
          <p:cNvSpPr>
            <a:spLocks noGrp="1"/>
          </p:cNvSpPr>
          <p:nvPr>
            <p:ph type="body" sz="quarter" idx="19"/>
          </p:nvPr>
        </p:nvSpPr>
        <p:spPr>
          <a:xfrm>
            <a:off x="5112544" y="1868668"/>
            <a:ext cx="3251597" cy="703876"/>
          </a:xfrm>
        </p:spPr>
        <p:txBody>
          <a:bodyPr>
            <a:normAutofit/>
          </a:bodyPr>
          <a:lstStyle>
            <a:lvl1pPr marL="0" indent="0">
              <a:buNone/>
              <a:defRPr sz="900">
                <a:latin typeface="Lato Light" panose="020F0302020204030203" pitchFamily="34" charset="0"/>
              </a:defRPr>
            </a:lvl1pPr>
          </a:lstStyle>
          <a:p>
            <a:pPr lvl="0"/>
            <a:endParaRPr lang="en-AU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9" advClick="0" advTm="0"/>
    </mc:Choice>
    <mc:Fallback xmlns="">
      <p:transition advClick="0" advTm="0"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929"/>
            <a:ext cx="7886700" cy="99447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642"/>
            <a:ext cx="7886700" cy="326451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8735"/>
            <a:ext cx="2057400" cy="2739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B0A747-1217-4325-A876-522190C71555}" type="datetimeFigureOut">
              <a:rPr lang="zh-CN" altLang="en-US" smtClean="0"/>
              <a:t>2020/11/25 Wednesday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8735"/>
            <a:ext cx="3086100" cy="2739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8735"/>
            <a:ext cx="2057400" cy="2739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C7CFC9F-4B06-4ABB-A28A-559A77B7DC5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mc:AlternateContent xmlns:mc="http://schemas.openxmlformats.org/markup-compatibility/2006" xmlns:p14="http://schemas.microsoft.com/office/powerpoint/2010/main">
    <mc:Choice Requires="p14">
      <p:transition p14:dur="9" advClick="0" advTm="0"/>
    </mc:Choice>
    <mc:Fallback xmlns="">
      <p:transition advClick="0" advTm="0"/>
    </mc:Fallback>
  </mc:AlternateConten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1411" y="5875"/>
            <a:ext cx="9141179" cy="5134013"/>
          </a:xfrm>
          <a:prstGeom prst="rect">
            <a:avLst/>
          </a:prstGeom>
          <a:solidFill>
            <a:srgbClr val="F6F6F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pic>
        <p:nvPicPr>
          <p:cNvPr id="3" name="20 2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884"/>
          <a:stretch>
            <a:fillRect/>
          </a:stretch>
        </p:blipFill>
        <p:spPr>
          <a:xfrm>
            <a:off x="4224" y="1133312"/>
            <a:ext cx="3523982" cy="4018760"/>
          </a:xfrm>
          <a:prstGeom prst="rect">
            <a:avLst/>
          </a:prstGeom>
          <a:solidFill>
            <a:srgbClr val="2A5BA8"/>
          </a:solidFill>
        </p:spPr>
      </p:pic>
      <p:pic>
        <p:nvPicPr>
          <p:cNvPr id="5" name="20 4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6564" b="51735"/>
          <a:stretch>
            <a:fillRect/>
          </a:stretch>
        </p:blipFill>
        <p:spPr>
          <a:xfrm flipV="1">
            <a:off x="7180313" y="794"/>
            <a:ext cx="1952652" cy="1727659"/>
          </a:xfrm>
          <a:prstGeom prst="rect">
            <a:avLst/>
          </a:prstGeom>
        </p:spPr>
      </p:pic>
      <p:sp>
        <p:nvSpPr>
          <p:cNvPr id="7" name="矩形 259"/>
          <p:cNvSpPr>
            <a:spLocks noChangeArrowheads="1"/>
          </p:cNvSpPr>
          <p:nvPr/>
        </p:nvSpPr>
        <p:spPr bwMode="auto">
          <a:xfrm>
            <a:off x="6750050" y="2957195"/>
            <a:ext cx="1868170" cy="372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65012" tIns="32506" rIns="65012" bIns="32506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>
              <a:buNone/>
            </a:pPr>
            <a:r>
              <a:rPr lang="en-US" altLang="zh-CN" sz="2000" b="1" cap="all" spc="213" dirty="0">
                <a:solidFill>
                  <a:schemeClr val="accent2"/>
                </a:solidFill>
                <a:latin typeface="百度综艺简体" panose="02010601030101010101" charset="-122"/>
                <a:ea typeface="百度综艺简体" panose="02010601030101010101" charset="-122"/>
                <a:cs typeface="百度综艺简体" panose="02010601030101010101" charset="-122"/>
              </a:rPr>
              <a:t>——</a:t>
            </a:r>
            <a:r>
              <a:rPr lang="zh-CN" altLang="en-US" sz="2000" b="1" cap="all" spc="213" dirty="0">
                <a:solidFill>
                  <a:schemeClr val="accent2"/>
                </a:solidFill>
                <a:latin typeface="百度综艺简体" panose="02010601030101010101" charset="-122"/>
                <a:ea typeface="百度综艺简体" panose="02010601030101010101" charset="-122"/>
                <a:cs typeface="百度综艺简体" panose="02010601030101010101" charset="-122"/>
              </a:rPr>
              <a:t>类</a:t>
            </a:r>
            <a:r>
              <a:rPr lang="en-US" sz="2000" b="1" cap="all" spc="213" dirty="0">
                <a:solidFill>
                  <a:schemeClr val="accent2"/>
                </a:solidFill>
                <a:latin typeface="百度综艺简体" panose="02010601030101010101" charset="-122"/>
                <a:ea typeface="百度综艺简体" panose="02010601030101010101" charset="-122"/>
                <a:cs typeface="百度综艺简体" panose="02010601030101010101" charset="-122"/>
              </a:rPr>
              <a:t>C</a:t>
            </a:r>
            <a:r>
              <a:rPr lang="zh-CN" altLang="en-US" sz="2000" b="1" cap="all" spc="213" dirty="0">
                <a:solidFill>
                  <a:schemeClr val="accent2"/>
                </a:solidFill>
                <a:latin typeface="百度综艺简体" panose="02010601030101010101" charset="-122"/>
                <a:ea typeface="百度综艺简体" panose="02010601030101010101" charset="-122"/>
                <a:cs typeface="百度综艺简体" panose="02010601030101010101" charset="-122"/>
              </a:rPr>
              <a:t>描述</a:t>
            </a:r>
          </a:p>
        </p:txBody>
      </p:sp>
      <p:sp>
        <p:nvSpPr>
          <p:cNvPr id="8" name="矩形 259"/>
          <p:cNvSpPr>
            <a:spLocks noChangeArrowheads="1"/>
          </p:cNvSpPr>
          <p:nvPr/>
        </p:nvSpPr>
        <p:spPr bwMode="auto">
          <a:xfrm>
            <a:off x="3472815" y="2324735"/>
            <a:ext cx="5669280" cy="495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65012" tIns="32506" rIns="65012" bIns="32506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>
              <a:buNone/>
            </a:pPr>
            <a:r>
              <a:rPr lang="zh-CN" altLang="en-US" sz="2800" cap="all" spc="213" dirty="0">
                <a:solidFill>
                  <a:schemeClr val="accent1"/>
                </a:solidFill>
                <a:latin typeface="百度综艺简体" panose="02010601030101010101" charset="-122"/>
                <a:ea typeface="百度综艺简体" panose="02010601030101010101" charset="-122"/>
                <a:cs typeface="百度综艺简体" panose="02010601030101010101" charset="-122"/>
              </a:rPr>
              <a:t>数据结构 </a:t>
            </a:r>
            <a:r>
              <a:rPr lang="en-US" altLang="zh-CN" sz="2800" cap="all" spc="213" dirty="0">
                <a:solidFill>
                  <a:schemeClr val="accent1"/>
                </a:solidFill>
                <a:latin typeface="百度综艺简体" panose="02010601030101010101" charset="-122"/>
                <a:ea typeface="百度综艺简体" panose="02010601030101010101" charset="-122"/>
                <a:cs typeface="百度综艺简体" panose="02010601030101010101" charset="-122"/>
              </a:rPr>
              <a:t>DATA STRUCTURE</a:t>
            </a:r>
          </a:p>
        </p:txBody>
      </p:sp>
      <p:sp>
        <p:nvSpPr>
          <p:cNvPr id="10" name="Rectangle 3"/>
          <p:cNvSpPr txBox="1">
            <a:spLocks noChangeArrowheads="1"/>
          </p:cNvSpPr>
          <p:nvPr/>
        </p:nvSpPr>
        <p:spPr bwMode="auto">
          <a:xfrm>
            <a:off x="4803775" y="3791585"/>
            <a:ext cx="1569085" cy="184150"/>
          </a:xfrm>
          <a:prstGeom prst="rect">
            <a:avLst/>
          </a:prstGeom>
          <a:solidFill>
            <a:schemeClr val="accent1"/>
          </a:solidFill>
        </p:spPr>
        <p:txBody>
          <a:bodyPr wrap="square" lIns="0" tIns="0" rIns="0" bIns="0">
            <a:spAutoFit/>
            <a:scene3d>
              <a:camera prst="orthographicFront"/>
              <a:lightRig rig="threePt" dir="t"/>
            </a:scene3d>
            <a:sp3d>
              <a:bevelT w="1270" h="1270"/>
            </a:sp3d>
          </a:bodyPr>
          <a:lstStyle>
            <a:lvl1pPr algn="ctr">
              <a:spcBef>
                <a:spcPct val="0"/>
              </a:spcBef>
              <a:buNone/>
              <a:defRPr lang="ko-KR" altLang="en-US" sz="4400" b="1" baseline="0" dirty="0">
                <a:solidFill>
                  <a:schemeClr val="bg1"/>
                </a:solidFill>
                <a:effectLst>
                  <a:outerShdw blurRad="12700" dist="25400" dir="5400000" algn="t" rotWithShape="0">
                    <a:prstClr val="black">
                      <a:alpha val="50000"/>
                    </a:prst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algn="l"/>
            <a:r>
              <a:rPr lang="zh-CN" altLang="en-US" sz="1200" b="0" noProof="1">
                <a:effectLst/>
                <a:latin typeface="百度综艺简体" panose="02010601030101010101" charset="-122"/>
                <a:ea typeface="百度综艺简体" panose="02010601030101010101" charset="-122"/>
                <a:cs typeface="百度综艺简体" panose="02010601030101010101" charset="-122"/>
              </a:rPr>
              <a:t>任课教师：</a:t>
            </a:r>
            <a:r>
              <a:rPr lang="zh-CN" sz="1200" b="0" noProof="1">
                <a:effectLst/>
                <a:latin typeface="百度综艺简体" panose="02010601030101010101" charset="-122"/>
                <a:ea typeface="百度综艺简体" panose="02010601030101010101" charset="-122"/>
                <a:cs typeface="百度综艺简体" panose="02010601030101010101" charset="-122"/>
              </a:rPr>
              <a:t>王青松</a:t>
            </a:r>
            <a:r>
              <a:rPr lang="en-US" altLang="zh-CN" sz="1200" b="0" noProof="1">
                <a:effectLst/>
                <a:latin typeface="百度综艺简体" panose="02010601030101010101" charset="-122"/>
                <a:ea typeface="百度综艺简体" panose="02010601030101010101" charset="-122"/>
                <a:cs typeface="百度综艺简体" panose="02010601030101010101" charset="-122"/>
              </a:rPr>
              <a:t> </a:t>
            </a:r>
            <a:r>
              <a:rPr lang="en-US" altLang="zh-CN" sz="1200" b="0" noProof="1">
                <a:effectLst/>
                <a:latin typeface="华文中宋" panose="02010600040101010101" charset="-122"/>
                <a:ea typeface="华文中宋" panose="02010600040101010101" charset="-122"/>
              </a:rPr>
              <a:t>     </a:t>
            </a:r>
            <a:r>
              <a:rPr lang="zh-CN" altLang="en-US" sz="1200" b="0" noProof="1">
                <a:effectLst/>
                <a:latin typeface="华文中宋" panose="02010600040101010101" charset="-122"/>
                <a:ea typeface="华文中宋" panose="02010600040101010101" charset="-122"/>
              </a:rPr>
              <a:t>   </a:t>
            </a:r>
            <a:endParaRPr lang="en-US" altLang="ko-KR" sz="1200" b="0" noProof="1">
              <a:effectLst/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11" name="Rectangle 3"/>
          <p:cNvSpPr txBox="1">
            <a:spLocks noChangeArrowheads="1"/>
          </p:cNvSpPr>
          <p:nvPr/>
        </p:nvSpPr>
        <p:spPr bwMode="auto">
          <a:xfrm>
            <a:off x="6372558" y="3791658"/>
            <a:ext cx="2760406" cy="184538"/>
          </a:xfrm>
          <a:prstGeom prst="rect">
            <a:avLst/>
          </a:prstGeom>
          <a:solidFill>
            <a:schemeClr val="accent2"/>
          </a:solidFill>
        </p:spPr>
        <p:txBody>
          <a:bodyPr wrap="square" lIns="0" tIns="0" rIns="0" bIns="0">
            <a:spAutoFit/>
            <a:scene3d>
              <a:camera prst="orthographicFront"/>
              <a:lightRig rig="threePt" dir="t"/>
            </a:scene3d>
            <a:sp3d>
              <a:bevelT w="1270" h="1270"/>
            </a:sp3d>
          </a:bodyPr>
          <a:lstStyle>
            <a:lvl1pPr algn="ctr">
              <a:spcBef>
                <a:spcPct val="0"/>
              </a:spcBef>
              <a:buNone/>
              <a:defRPr lang="ko-KR" altLang="en-US" sz="4400" b="1" baseline="0" dirty="0">
                <a:solidFill>
                  <a:schemeClr val="bg1"/>
                </a:solidFill>
                <a:effectLst>
                  <a:outerShdw blurRad="12700" dist="25400" dir="5400000" algn="t" rotWithShape="0">
                    <a:prstClr val="black">
                      <a:alpha val="50000"/>
                    </a:prst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algn="l"/>
            <a:endParaRPr lang="en-US" altLang="ko-KR" sz="1200" b="0" noProof="1">
              <a:effectLst/>
              <a:latin typeface="华文中宋" panose="02010600040101010101" charset="-122"/>
              <a:ea typeface="华文中宋" panose="02010600040101010101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0"/>
    </mc:Choice>
    <mc:Fallback xmlns="">
      <p:transition advClick="0" advTm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7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 tmFilter="0,0; .5, 1; 1, 1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2599"/>
                            </p:stCondLst>
                            <p:childTnLst>
                              <p:par>
                                <p:cTn id="24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Effect transition="out" filter="fade">
                                      <p:cBhvr>
                                        <p:cTn id="25" dur="500" tmFilter="0, 0; .2, .5; .8, .5; 1, 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6" dur="250" autoRev="1" fill="hold"/>
                                        <p:tgtEl>
                                          <p:spTgt spid="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3099"/>
                            </p:stCondLst>
                            <p:childTnLst>
                              <p:par>
                                <p:cTn id="28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 tmFilter="0,0; .5, 1; 1, 1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3850"/>
                            </p:stCondLst>
                            <p:childTnLst>
                              <p:par>
                                <p:cTn id="36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Effect transition="out" filter="fade">
                                      <p:cBhvr>
                                        <p:cTn id="37" dur="500" tmFilter="0, 0; .2, .5; .8, .5; 1, 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8" dur="250" autoRev="1" fill="hold"/>
                                        <p:tgtEl>
                                          <p:spTgt spid="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4350"/>
                            </p:stCondLst>
                            <p:childTnLst>
                              <p:par>
                                <p:cTn id="4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4850"/>
                            </p:stCondLst>
                            <p:childTnLst>
                              <p:par>
                                <p:cTn id="4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7" grpId="1"/>
      <p:bldP spid="8" grpId="0"/>
      <p:bldP spid="8" grpId="1"/>
      <p:bldP spid="10" grpId="0" bldLvl="0" animBg="1"/>
      <p:bldP spid="11" grpId="0" bldLvl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直接连接符 14"/>
          <p:cNvCxnSpPr>
            <a:cxnSpLocks noChangeShapeType="1"/>
          </p:cNvCxnSpPr>
          <p:nvPr/>
        </p:nvCxnSpPr>
        <p:spPr bwMode="auto">
          <a:xfrm>
            <a:off x="307340" y="537845"/>
            <a:ext cx="8829040" cy="0"/>
          </a:xfrm>
          <a:prstGeom prst="line">
            <a:avLst/>
          </a:prstGeom>
          <a:noFill/>
          <a:ln w="9525">
            <a:solidFill>
              <a:schemeClr val="accent1"/>
            </a:solidFill>
            <a:round/>
          </a:ln>
          <a:effectLst/>
        </p:spPr>
      </p:cxnSp>
      <p:sp>
        <p:nvSpPr>
          <p:cNvPr id="16" name="矩形 15"/>
          <p:cNvSpPr/>
          <p:nvPr/>
        </p:nvSpPr>
        <p:spPr>
          <a:xfrm>
            <a:off x="1411" y="5240"/>
            <a:ext cx="9141179" cy="5134013"/>
          </a:xfrm>
          <a:prstGeom prst="rect">
            <a:avLst/>
          </a:prstGeom>
          <a:solidFill>
            <a:srgbClr val="F6F6F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zh-CN" altLang="en-US" sz="1800" dirty="0">
              <a:solidFill>
                <a:schemeClr val="accent2"/>
              </a:solidFill>
              <a:effectLst/>
              <a:latin typeface="百度综艺简体" panose="02010601030101010101" charset="-122"/>
              <a:ea typeface="百度综艺简体" panose="02010601030101010101" charset="-122"/>
              <a:sym typeface="+mn-ea"/>
            </a:endParaRPr>
          </a:p>
        </p:txBody>
      </p:sp>
      <p:sp>
        <p:nvSpPr>
          <p:cNvPr id="19" name="TextBox 5"/>
          <p:cNvSpPr txBox="1">
            <a:spLocks noChangeArrowheads="1"/>
          </p:cNvSpPr>
          <p:nvPr/>
        </p:nvSpPr>
        <p:spPr bwMode="auto">
          <a:xfrm>
            <a:off x="234950" y="203835"/>
            <a:ext cx="2067560" cy="4603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>
              <a:buFontTx/>
              <a:buNone/>
            </a:pPr>
            <a:r>
              <a:rPr lang="zh-CN" altLang="en-US" sz="2400" dirty="0">
                <a:solidFill>
                  <a:schemeClr val="accent1"/>
                </a:solidFill>
                <a:latin typeface="百度综艺简体" panose="02010601030101010101" charset="-122"/>
                <a:ea typeface="百度综艺简体" panose="02010601030101010101" charset="-122"/>
              </a:rPr>
              <a:t>《数据结构》</a:t>
            </a:r>
          </a:p>
        </p:txBody>
      </p:sp>
      <p:sp>
        <p:nvSpPr>
          <p:cNvPr id="22" name="矩形 21"/>
          <p:cNvSpPr>
            <a:spLocks noChangeArrowheads="1"/>
          </p:cNvSpPr>
          <p:nvPr/>
        </p:nvSpPr>
        <p:spPr bwMode="auto">
          <a:xfrm>
            <a:off x="1412" y="217303"/>
            <a:ext cx="401225" cy="401225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</a:ln>
        </p:spPr>
        <p:txBody>
          <a:bodyPr/>
          <a:lstStyle/>
          <a:p>
            <a:pPr>
              <a:buFontTx/>
              <a:buNone/>
            </a:pPr>
            <a:endParaRPr lang="zh-CN" altLang="en-US" sz="1800"/>
          </a:p>
        </p:txBody>
      </p:sp>
      <p:sp>
        <p:nvSpPr>
          <p:cNvPr id="31" name="Text Placeholder 11"/>
          <p:cNvSpPr txBox="1"/>
          <p:nvPr/>
        </p:nvSpPr>
        <p:spPr>
          <a:xfrm>
            <a:off x="2302510" y="241067"/>
            <a:ext cx="2805430" cy="353695"/>
          </a:xfrm>
          <a:prstGeom prst="rect">
            <a:avLst/>
          </a:prstGeom>
        </p:spPr>
        <p:txBody>
          <a:bodyPr lIns="68538" tIns="34270" rIns="68538" bIns="34270"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1225">
              <a:buNone/>
            </a:pPr>
            <a:r>
              <a:rPr lang="zh-CN" altLang="en-US" sz="1800" dirty="0">
                <a:solidFill>
                  <a:schemeClr val="accent2"/>
                </a:solidFill>
                <a:latin typeface="百度综艺简体" panose="02010601030101010101" charset="-122"/>
                <a:ea typeface="百度综艺简体" panose="02010601030101010101" charset="-122"/>
                <a:sym typeface="Arial" panose="020B0604020202020204" pitchFamily="34" charset="0"/>
              </a:rPr>
              <a:t>排序概述</a:t>
            </a:r>
            <a:endParaRPr lang="zh-CN" sz="1800" dirty="0">
              <a:solidFill>
                <a:schemeClr val="accent2"/>
              </a:solidFill>
              <a:latin typeface="百度综艺简体" panose="02010601030101010101" charset="-122"/>
              <a:ea typeface="百度综艺简体" panose="02010601030101010101" charset="-122"/>
              <a:sym typeface="Arial" panose="020B0604020202020204" pitchFamily="34" charset="0"/>
            </a:endParaRPr>
          </a:p>
        </p:txBody>
      </p:sp>
      <p:sp>
        <p:nvSpPr>
          <p:cNvPr id="26" name="TextBox 5"/>
          <p:cNvSpPr txBox="1">
            <a:spLocks noChangeArrowheads="1"/>
          </p:cNvSpPr>
          <p:nvPr/>
        </p:nvSpPr>
        <p:spPr bwMode="auto">
          <a:xfrm>
            <a:off x="1469029" y="1420072"/>
            <a:ext cx="7277822" cy="46301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fontAlgn="auto">
              <a:lnSpc>
                <a:spcPct val="150000"/>
              </a:lnSpc>
            </a:pPr>
            <a:r>
              <a:rPr lang="zh-CN" altLang="en-US" dirty="0">
                <a:latin typeface="百度综艺简体" panose="02010601030101010101" charset="-122"/>
                <a:ea typeface="百度综艺简体" panose="02010601030101010101" charset="-122"/>
              </a:rPr>
              <a:t>一、排序的定义</a:t>
            </a:r>
            <a:endParaRPr lang="zh-CN" altLang="en-US" dirty="0">
              <a:latin typeface="百度综艺简体" panose="02010601030101010101" charset="-122"/>
              <a:ea typeface="百度综艺简体" panose="02010601030101010101" charset="-122"/>
            </a:endParaRPr>
          </a:p>
        </p:txBody>
      </p:sp>
      <p:sp>
        <p:nvSpPr>
          <p:cNvPr id="37" name="AutoShape 3"/>
          <p:cNvSpPr>
            <a:spLocks noChangeAspect="1" noChangeArrowheads="1" noTextEdit="1"/>
          </p:cNvSpPr>
          <p:nvPr/>
        </p:nvSpPr>
        <p:spPr bwMode="auto">
          <a:xfrm>
            <a:off x="557288" y="744733"/>
            <a:ext cx="542665" cy="54122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endParaRPr lang="zh-CN" altLang="en-US" sz="1800"/>
          </a:p>
        </p:txBody>
      </p:sp>
      <p:sp>
        <p:nvSpPr>
          <p:cNvPr id="41" name="Text Placeholder 11"/>
          <p:cNvSpPr txBox="1"/>
          <p:nvPr/>
        </p:nvSpPr>
        <p:spPr>
          <a:xfrm>
            <a:off x="1053454" y="998339"/>
            <a:ext cx="3937290" cy="353695"/>
          </a:xfrm>
          <a:prstGeom prst="rect">
            <a:avLst/>
          </a:prstGeom>
        </p:spPr>
        <p:txBody>
          <a:bodyPr lIns="68538" tIns="34270" rIns="68538" bIns="34270"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1225">
              <a:buNone/>
            </a:pPr>
            <a:r>
              <a:rPr lang="zh-CN" altLang="en-US" sz="2000" dirty="0">
                <a:solidFill>
                  <a:schemeClr val="accent1"/>
                </a:solidFill>
                <a:latin typeface="百度综艺简体" panose="02010601030101010101" charset="-122"/>
                <a:ea typeface="百度综艺简体" panose="02010601030101010101" charset="-122"/>
                <a:sym typeface="Arial" panose="020B0604020202020204" pitchFamily="34" charset="0"/>
              </a:rPr>
              <a:t>概 述</a:t>
            </a:r>
            <a:endParaRPr lang="zh-CN" altLang="en-US" sz="2000" dirty="0">
              <a:solidFill>
                <a:schemeClr val="accent1"/>
              </a:solidFill>
              <a:latin typeface="百度综艺简体" panose="02010601030101010101" charset="-122"/>
              <a:ea typeface="百度综艺简体" panose="02010601030101010101" charset="-122"/>
              <a:sym typeface="Arial" panose="020B0604020202020204" pitchFamily="34" charset="0"/>
            </a:endParaRPr>
          </a:p>
        </p:txBody>
      </p:sp>
      <p:grpSp>
        <p:nvGrpSpPr>
          <p:cNvPr id="21" name="组合 20"/>
          <p:cNvGrpSpPr/>
          <p:nvPr/>
        </p:nvGrpSpPr>
        <p:grpSpPr>
          <a:xfrm>
            <a:off x="2134235" y="483235"/>
            <a:ext cx="7002145" cy="109220"/>
            <a:chOff x="2140585" y="362585"/>
            <a:chExt cx="7002145" cy="109220"/>
          </a:xfrm>
        </p:grpSpPr>
        <p:cxnSp>
          <p:nvCxnSpPr>
            <p:cNvPr id="25" name="直接连接符 24"/>
            <p:cNvCxnSpPr/>
            <p:nvPr/>
          </p:nvCxnSpPr>
          <p:spPr>
            <a:xfrm>
              <a:off x="2140585" y="417195"/>
              <a:ext cx="6889750" cy="0"/>
            </a:xfrm>
            <a:prstGeom prst="line">
              <a:avLst/>
            </a:prstGeom>
            <a:ln w="22225">
              <a:solidFill>
                <a:srgbClr val="2A5BA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椭圆 26"/>
            <p:cNvSpPr/>
            <p:nvPr/>
          </p:nvSpPr>
          <p:spPr>
            <a:xfrm>
              <a:off x="9033510" y="362585"/>
              <a:ext cx="109220" cy="10922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4" name="TextBox 5"/>
          <p:cNvSpPr txBox="1">
            <a:spLocks noChangeArrowheads="1"/>
          </p:cNvSpPr>
          <p:nvPr/>
        </p:nvSpPr>
        <p:spPr bwMode="auto">
          <a:xfrm>
            <a:off x="1469029" y="2177344"/>
            <a:ext cx="7277822" cy="46301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fontAlgn="auto">
              <a:lnSpc>
                <a:spcPct val="150000"/>
              </a:lnSpc>
            </a:pPr>
            <a:r>
              <a:rPr lang="zh-CN" altLang="en-US" dirty="0">
                <a:latin typeface="百度综艺简体" panose="02010601030101010101" charset="-122"/>
                <a:ea typeface="百度综艺简体" panose="02010601030101010101" charset="-122"/>
              </a:rPr>
              <a:t>二、内部排序和外部排序</a:t>
            </a:r>
          </a:p>
        </p:txBody>
      </p:sp>
      <p:sp>
        <p:nvSpPr>
          <p:cNvPr id="18" name="TextBox 5"/>
          <p:cNvSpPr txBox="1">
            <a:spLocks noChangeArrowheads="1"/>
          </p:cNvSpPr>
          <p:nvPr/>
        </p:nvSpPr>
        <p:spPr bwMode="auto">
          <a:xfrm>
            <a:off x="1469029" y="3014137"/>
            <a:ext cx="7277822" cy="46301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fontAlgn="auto">
              <a:lnSpc>
                <a:spcPct val="150000"/>
              </a:lnSpc>
            </a:pPr>
            <a:r>
              <a:rPr lang="zh-CN" altLang="en-US" dirty="0">
                <a:latin typeface="百度综艺简体" panose="02010601030101010101" charset="-122"/>
                <a:ea typeface="百度综艺简体" panose="02010601030101010101" charset="-122"/>
              </a:rPr>
              <a:t>三、内部排序方法的分类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0"/>
    </mc:Choice>
    <mc:Fallback xmlns="">
      <p:transition advClick="0" advTm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 tmFilter="0,0; .5, 1; 1, 1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750"/>
                            </p:stCondLst>
                            <p:childTnLst>
                              <p:par>
                                <p:cTn id="22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250"/>
                            </p:stCondLst>
                            <p:childTnLst>
                              <p:par>
                                <p:cTn id="2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250"/>
                            </p:stCondLst>
                            <p:childTnLst>
                              <p:par>
                                <p:cTn id="3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4250"/>
                            </p:stCondLst>
                            <p:childTnLst>
                              <p:par>
                                <p:cTn id="3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250"/>
                            </p:stCondLst>
                            <p:childTnLst>
                              <p:par>
                                <p:cTn id="4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6250"/>
                            </p:stCondLst>
                            <p:childTnLst>
                              <p:par>
                                <p:cTn id="5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utoUpdateAnimBg="0"/>
      <p:bldP spid="22" grpId="0" bldLvl="0" animBg="1" autoUpdateAnimBg="0"/>
      <p:bldP spid="31" grpId="0"/>
      <p:bldP spid="26" grpId="0"/>
      <p:bldP spid="41" grpId="0"/>
      <p:bldP spid="14" grpId="0"/>
      <p:bldP spid="18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直接连接符 14"/>
          <p:cNvCxnSpPr>
            <a:cxnSpLocks noChangeShapeType="1"/>
          </p:cNvCxnSpPr>
          <p:nvPr/>
        </p:nvCxnSpPr>
        <p:spPr bwMode="auto">
          <a:xfrm>
            <a:off x="307340" y="537845"/>
            <a:ext cx="8829040" cy="0"/>
          </a:xfrm>
          <a:prstGeom prst="line">
            <a:avLst/>
          </a:prstGeom>
          <a:noFill/>
          <a:ln w="9525">
            <a:solidFill>
              <a:schemeClr val="accent1"/>
            </a:solidFill>
            <a:round/>
          </a:ln>
          <a:effectLst/>
        </p:spPr>
      </p:cxnSp>
      <p:sp>
        <p:nvSpPr>
          <p:cNvPr id="16" name="矩形 15"/>
          <p:cNvSpPr/>
          <p:nvPr/>
        </p:nvSpPr>
        <p:spPr>
          <a:xfrm>
            <a:off x="1411" y="5240"/>
            <a:ext cx="9141179" cy="5134013"/>
          </a:xfrm>
          <a:prstGeom prst="rect">
            <a:avLst/>
          </a:prstGeom>
          <a:solidFill>
            <a:srgbClr val="F6F6F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zh-CN" altLang="en-US" sz="1800" dirty="0">
              <a:solidFill>
                <a:schemeClr val="accent2"/>
              </a:solidFill>
              <a:effectLst/>
              <a:latin typeface="百度综艺简体" panose="02010601030101010101" charset="-122"/>
              <a:ea typeface="百度综艺简体" panose="02010601030101010101" charset="-122"/>
              <a:sym typeface="+mn-ea"/>
            </a:endParaRPr>
          </a:p>
        </p:txBody>
      </p:sp>
      <p:sp>
        <p:nvSpPr>
          <p:cNvPr id="19" name="TextBox 5"/>
          <p:cNvSpPr txBox="1">
            <a:spLocks noChangeArrowheads="1"/>
          </p:cNvSpPr>
          <p:nvPr/>
        </p:nvSpPr>
        <p:spPr bwMode="auto">
          <a:xfrm>
            <a:off x="234950" y="203835"/>
            <a:ext cx="2067560" cy="4603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>
              <a:buFontTx/>
              <a:buNone/>
            </a:pPr>
            <a:r>
              <a:rPr lang="zh-CN" altLang="en-US" sz="2400" dirty="0">
                <a:solidFill>
                  <a:schemeClr val="accent1"/>
                </a:solidFill>
                <a:latin typeface="百度综艺简体" panose="02010601030101010101" charset="-122"/>
                <a:ea typeface="百度综艺简体" panose="02010601030101010101" charset="-122"/>
              </a:rPr>
              <a:t>《数据结构》</a:t>
            </a:r>
          </a:p>
        </p:txBody>
      </p:sp>
      <p:sp>
        <p:nvSpPr>
          <p:cNvPr id="22" name="矩形 21"/>
          <p:cNvSpPr>
            <a:spLocks noChangeArrowheads="1"/>
          </p:cNvSpPr>
          <p:nvPr/>
        </p:nvSpPr>
        <p:spPr bwMode="auto">
          <a:xfrm>
            <a:off x="1412" y="217303"/>
            <a:ext cx="401225" cy="401225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</a:ln>
        </p:spPr>
        <p:txBody>
          <a:bodyPr/>
          <a:lstStyle/>
          <a:p>
            <a:pPr>
              <a:buFontTx/>
              <a:buNone/>
            </a:pPr>
            <a:endParaRPr lang="zh-CN" altLang="en-US" sz="1800"/>
          </a:p>
        </p:txBody>
      </p:sp>
      <p:sp>
        <p:nvSpPr>
          <p:cNvPr id="31" name="Text Placeholder 11"/>
          <p:cNvSpPr txBox="1"/>
          <p:nvPr/>
        </p:nvSpPr>
        <p:spPr>
          <a:xfrm>
            <a:off x="2302510" y="241067"/>
            <a:ext cx="2805430" cy="353695"/>
          </a:xfrm>
          <a:prstGeom prst="rect">
            <a:avLst/>
          </a:prstGeom>
        </p:spPr>
        <p:txBody>
          <a:bodyPr lIns="68538" tIns="34270" rIns="68538" bIns="34270"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1225">
              <a:buNone/>
            </a:pPr>
            <a:r>
              <a:rPr lang="zh-CN" altLang="en-US" sz="1800" dirty="0">
                <a:solidFill>
                  <a:schemeClr val="accent2"/>
                </a:solidFill>
                <a:latin typeface="百度综艺简体" panose="02010601030101010101" charset="-122"/>
                <a:ea typeface="百度综艺简体" panose="02010601030101010101" charset="-122"/>
                <a:sym typeface="Arial" panose="020B0604020202020204" pitchFamily="34" charset="0"/>
              </a:rPr>
              <a:t>排序概述</a:t>
            </a:r>
            <a:endParaRPr lang="zh-CN" sz="1800" dirty="0">
              <a:solidFill>
                <a:schemeClr val="accent2"/>
              </a:solidFill>
              <a:latin typeface="百度综艺简体" panose="02010601030101010101" charset="-122"/>
              <a:ea typeface="百度综艺简体" panose="02010601030101010101" charset="-122"/>
              <a:sym typeface="Arial" panose="020B0604020202020204" pitchFamily="34" charset="0"/>
            </a:endParaRPr>
          </a:p>
        </p:txBody>
      </p:sp>
      <p:sp>
        <p:nvSpPr>
          <p:cNvPr id="26" name="TextBox 5"/>
          <p:cNvSpPr txBox="1">
            <a:spLocks noChangeArrowheads="1"/>
          </p:cNvSpPr>
          <p:nvPr/>
        </p:nvSpPr>
        <p:spPr bwMode="auto">
          <a:xfrm>
            <a:off x="1469029" y="1420072"/>
            <a:ext cx="6517975" cy="83099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fontAlgn="auto">
              <a:lnSpc>
                <a:spcPct val="150000"/>
              </a:lnSpc>
            </a:pPr>
            <a:r>
              <a:rPr lang="zh-CN" altLang="en-US" sz="1600" dirty="0">
                <a:latin typeface="百度综艺简体" panose="02010601030101010101" charset="-122"/>
                <a:ea typeface="百度综艺简体" panose="02010601030101010101" charset="-122"/>
              </a:rPr>
              <a:t>　    排序是计算机内经常进行的一种操作，其目的是将一组“无序”的记录序列调整为“有序”的记录序列。</a:t>
            </a:r>
          </a:p>
        </p:txBody>
      </p:sp>
      <p:sp>
        <p:nvSpPr>
          <p:cNvPr id="37" name="AutoShape 3"/>
          <p:cNvSpPr>
            <a:spLocks noChangeAspect="1" noChangeArrowheads="1" noTextEdit="1"/>
          </p:cNvSpPr>
          <p:nvPr/>
        </p:nvSpPr>
        <p:spPr bwMode="auto">
          <a:xfrm>
            <a:off x="557288" y="744733"/>
            <a:ext cx="542665" cy="54122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endParaRPr lang="zh-CN" altLang="en-US" sz="1800"/>
          </a:p>
        </p:txBody>
      </p:sp>
      <p:sp>
        <p:nvSpPr>
          <p:cNvPr id="41" name="Text Placeholder 11"/>
          <p:cNvSpPr txBox="1"/>
          <p:nvPr/>
        </p:nvSpPr>
        <p:spPr>
          <a:xfrm>
            <a:off x="1053454" y="998339"/>
            <a:ext cx="3937290" cy="353695"/>
          </a:xfrm>
          <a:prstGeom prst="rect">
            <a:avLst/>
          </a:prstGeom>
        </p:spPr>
        <p:txBody>
          <a:bodyPr lIns="68538" tIns="34270" rIns="68538" bIns="34270"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1225">
              <a:buNone/>
            </a:pPr>
            <a:r>
              <a:rPr lang="zh-CN" altLang="en-US" sz="2000" dirty="0">
                <a:solidFill>
                  <a:schemeClr val="accent1"/>
                </a:solidFill>
                <a:latin typeface="百度综艺简体" panose="02010601030101010101" charset="-122"/>
                <a:ea typeface="百度综艺简体" panose="02010601030101010101" charset="-122"/>
                <a:sym typeface="Arial" panose="020B0604020202020204" pitchFamily="34" charset="0"/>
              </a:rPr>
              <a:t>一、什么是排序？</a:t>
            </a:r>
          </a:p>
        </p:txBody>
      </p:sp>
      <p:grpSp>
        <p:nvGrpSpPr>
          <p:cNvPr id="21" name="组合 20"/>
          <p:cNvGrpSpPr/>
          <p:nvPr/>
        </p:nvGrpSpPr>
        <p:grpSpPr>
          <a:xfrm>
            <a:off x="2134235" y="483235"/>
            <a:ext cx="7002145" cy="109220"/>
            <a:chOff x="2140585" y="362585"/>
            <a:chExt cx="7002145" cy="109220"/>
          </a:xfrm>
        </p:grpSpPr>
        <p:cxnSp>
          <p:nvCxnSpPr>
            <p:cNvPr id="25" name="直接连接符 24"/>
            <p:cNvCxnSpPr/>
            <p:nvPr/>
          </p:nvCxnSpPr>
          <p:spPr>
            <a:xfrm>
              <a:off x="2140585" y="417195"/>
              <a:ext cx="6889750" cy="0"/>
            </a:xfrm>
            <a:prstGeom prst="line">
              <a:avLst/>
            </a:prstGeom>
            <a:ln w="22225">
              <a:solidFill>
                <a:srgbClr val="2A5BA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椭圆 26"/>
            <p:cNvSpPr/>
            <p:nvPr/>
          </p:nvSpPr>
          <p:spPr>
            <a:xfrm>
              <a:off x="9033510" y="362585"/>
              <a:ext cx="109220" cy="10922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4" name="TextBox 5"/>
          <p:cNvSpPr txBox="1">
            <a:spLocks noChangeArrowheads="1"/>
          </p:cNvSpPr>
          <p:nvPr/>
        </p:nvSpPr>
        <p:spPr bwMode="auto">
          <a:xfrm>
            <a:off x="1469029" y="2401097"/>
            <a:ext cx="7277822" cy="42178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fontAlgn="auto">
              <a:lnSpc>
                <a:spcPct val="150000"/>
              </a:lnSpc>
            </a:pPr>
            <a:r>
              <a:rPr lang="zh-CN" altLang="en-US" sz="1600" dirty="0">
                <a:latin typeface="百度综艺简体" panose="02010601030101010101" charset="-122"/>
                <a:ea typeface="百度综艺简体" panose="02010601030101010101" charset="-122"/>
              </a:rPr>
              <a:t>例如：将下列关键字序列</a:t>
            </a:r>
          </a:p>
        </p:txBody>
      </p:sp>
      <p:sp>
        <p:nvSpPr>
          <p:cNvPr id="18" name="TextBox 5"/>
          <p:cNvSpPr txBox="1">
            <a:spLocks noChangeArrowheads="1"/>
          </p:cNvSpPr>
          <p:nvPr/>
        </p:nvSpPr>
        <p:spPr bwMode="auto">
          <a:xfrm>
            <a:off x="2507837" y="2844873"/>
            <a:ext cx="4731163" cy="50783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fontAlgn="auto">
              <a:lnSpc>
                <a:spcPct val="150000"/>
              </a:lnSpc>
            </a:pPr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</a:rPr>
              <a:t>52, 49, 80, 36, 14, 58, 61, 23, 97, 75</a:t>
            </a:r>
          </a:p>
        </p:txBody>
      </p:sp>
      <p:sp>
        <p:nvSpPr>
          <p:cNvPr id="17" name="TextBox 5"/>
          <p:cNvSpPr txBox="1">
            <a:spLocks noChangeArrowheads="1"/>
          </p:cNvSpPr>
          <p:nvPr/>
        </p:nvSpPr>
        <p:spPr bwMode="auto">
          <a:xfrm>
            <a:off x="1521903" y="3416628"/>
            <a:ext cx="7277822" cy="42178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fontAlgn="auto">
              <a:lnSpc>
                <a:spcPct val="150000"/>
              </a:lnSpc>
            </a:pPr>
            <a:r>
              <a:rPr lang="zh-CN" altLang="en-US" sz="1600" dirty="0">
                <a:latin typeface="百度综艺简体" panose="02010601030101010101" charset="-122"/>
                <a:ea typeface="百度综艺简体" panose="02010601030101010101" charset="-122"/>
              </a:rPr>
              <a:t>调整为</a:t>
            </a:r>
          </a:p>
        </p:txBody>
      </p:sp>
      <p:sp>
        <p:nvSpPr>
          <p:cNvPr id="20" name="TextBox 5"/>
          <p:cNvSpPr txBox="1">
            <a:spLocks noChangeArrowheads="1"/>
          </p:cNvSpPr>
          <p:nvPr/>
        </p:nvSpPr>
        <p:spPr bwMode="auto">
          <a:xfrm>
            <a:off x="2560711" y="3860404"/>
            <a:ext cx="4731163" cy="46301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fontAlgn="auto">
              <a:lnSpc>
                <a:spcPct val="150000"/>
              </a:lnSpc>
            </a:pPr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</a:rPr>
              <a:t>14, 23, 36, 49, 52, 58, 61 ,75, 80, 97</a:t>
            </a:r>
          </a:p>
        </p:txBody>
      </p:sp>
    </p:spTree>
    <p:extLst>
      <p:ext uri="{BB962C8B-B14F-4D97-AF65-F5344CB8AC3E}">
        <p14:creationId xmlns:p14="http://schemas.microsoft.com/office/powerpoint/2010/main" val="148750375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0"/>
    </mc:Choice>
    <mc:Fallback>
      <p:transition spd="slow" advClick="0" advTm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 tmFilter="0,0; .5, 1; 1, 1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750"/>
                            </p:stCondLst>
                            <p:childTnLst>
                              <p:par>
                                <p:cTn id="22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250"/>
                            </p:stCondLst>
                            <p:childTnLst>
                              <p:par>
                                <p:cTn id="2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250"/>
                            </p:stCondLst>
                            <p:childTnLst>
                              <p:par>
                                <p:cTn id="3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4250"/>
                            </p:stCondLst>
                            <p:childTnLst>
                              <p:par>
                                <p:cTn id="3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250"/>
                            </p:stCondLst>
                            <p:childTnLst>
                              <p:par>
                                <p:cTn id="4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6250"/>
                            </p:stCondLst>
                            <p:childTnLst>
                              <p:par>
                                <p:cTn id="5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7250"/>
                            </p:stCondLst>
                            <p:childTnLst>
                              <p:par>
                                <p:cTn id="5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8250"/>
                            </p:stCondLst>
                            <p:childTnLst>
                              <p:par>
                                <p:cTn id="6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utoUpdateAnimBg="0"/>
      <p:bldP spid="22" grpId="0" bldLvl="0" animBg="1" autoUpdateAnimBg="0"/>
      <p:bldP spid="31" grpId="0"/>
      <p:bldP spid="26" grpId="0"/>
      <p:bldP spid="41" grpId="0"/>
      <p:bldP spid="14" grpId="0"/>
      <p:bldP spid="18" grpId="0"/>
      <p:bldP spid="17" grpId="0"/>
      <p:bldP spid="20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直接连接符 14"/>
          <p:cNvCxnSpPr>
            <a:cxnSpLocks noChangeShapeType="1"/>
          </p:cNvCxnSpPr>
          <p:nvPr/>
        </p:nvCxnSpPr>
        <p:spPr bwMode="auto">
          <a:xfrm>
            <a:off x="307340" y="537845"/>
            <a:ext cx="8829040" cy="0"/>
          </a:xfrm>
          <a:prstGeom prst="line">
            <a:avLst/>
          </a:prstGeom>
          <a:noFill/>
          <a:ln w="9525">
            <a:solidFill>
              <a:schemeClr val="accent1"/>
            </a:solidFill>
            <a:round/>
          </a:ln>
          <a:effectLst/>
        </p:spPr>
      </p:cxnSp>
      <p:sp>
        <p:nvSpPr>
          <p:cNvPr id="16" name="矩形 15"/>
          <p:cNvSpPr/>
          <p:nvPr/>
        </p:nvSpPr>
        <p:spPr>
          <a:xfrm>
            <a:off x="1411" y="5240"/>
            <a:ext cx="9141179" cy="5134013"/>
          </a:xfrm>
          <a:prstGeom prst="rect">
            <a:avLst/>
          </a:prstGeom>
          <a:solidFill>
            <a:srgbClr val="F6F6F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zh-CN" altLang="en-US" sz="1800" dirty="0">
              <a:solidFill>
                <a:schemeClr val="accent2"/>
              </a:solidFill>
              <a:effectLst/>
              <a:latin typeface="百度综艺简体" panose="02010601030101010101" charset="-122"/>
              <a:ea typeface="百度综艺简体" panose="02010601030101010101" charset="-122"/>
              <a:sym typeface="+mn-ea"/>
            </a:endParaRPr>
          </a:p>
        </p:txBody>
      </p:sp>
      <p:sp>
        <p:nvSpPr>
          <p:cNvPr id="19" name="TextBox 5"/>
          <p:cNvSpPr txBox="1">
            <a:spLocks noChangeArrowheads="1"/>
          </p:cNvSpPr>
          <p:nvPr/>
        </p:nvSpPr>
        <p:spPr bwMode="auto">
          <a:xfrm>
            <a:off x="234950" y="203835"/>
            <a:ext cx="2067560" cy="4603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>
              <a:buFontTx/>
              <a:buNone/>
            </a:pPr>
            <a:r>
              <a:rPr lang="zh-CN" altLang="en-US" sz="2400" dirty="0">
                <a:solidFill>
                  <a:schemeClr val="accent1"/>
                </a:solidFill>
                <a:latin typeface="百度综艺简体" panose="02010601030101010101" charset="-122"/>
                <a:ea typeface="百度综艺简体" panose="02010601030101010101" charset="-122"/>
              </a:rPr>
              <a:t>《数据结构》</a:t>
            </a:r>
          </a:p>
        </p:txBody>
      </p:sp>
      <p:sp>
        <p:nvSpPr>
          <p:cNvPr id="22" name="矩形 21"/>
          <p:cNvSpPr>
            <a:spLocks noChangeArrowheads="1"/>
          </p:cNvSpPr>
          <p:nvPr/>
        </p:nvSpPr>
        <p:spPr bwMode="auto">
          <a:xfrm>
            <a:off x="1412" y="217303"/>
            <a:ext cx="401225" cy="401225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</a:ln>
        </p:spPr>
        <p:txBody>
          <a:bodyPr/>
          <a:lstStyle/>
          <a:p>
            <a:pPr>
              <a:buFontTx/>
              <a:buNone/>
            </a:pPr>
            <a:endParaRPr lang="zh-CN" altLang="en-US" sz="1800"/>
          </a:p>
        </p:txBody>
      </p:sp>
      <p:sp>
        <p:nvSpPr>
          <p:cNvPr id="31" name="Text Placeholder 11"/>
          <p:cNvSpPr txBox="1"/>
          <p:nvPr/>
        </p:nvSpPr>
        <p:spPr>
          <a:xfrm>
            <a:off x="2302510" y="241067"/>
            <a:ext cx="2805430" cy="353695"/>
          </a:xfrm>
          <a:prstGeom prst="rect">
            <a:avLst/>
          </a:prstGeom>
        </p:spPr>
        <p:txBody>
          <a:bodyPr lIns="68538" tIns="34270" rIns="68538" bIns="34270"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1225">
              <a:buNone/>
            </a:pPr>
            <a:r>
              <a:rPr lang="zh-CN" altLang="en-US" sz="1800" dirty="0">
                <a:solidFill>
                  <a:schemeClr val="accent2"/>
                </a:solidFill>
                <a:latin typeface="百度综艺简体" panose="02010601030101010101" charset="-122"/>
                <a:ea typeface="百度综艺简体" panose="02010601030101010101" charset="-122"/>
                <a:sym typeface="Arial" panose="020B0604020202020204" pitchFamily="34" charset="0"/>
              </a:rPr>
              <a:t>排序概述</a:t>
            </a:r>
            <a:endParaRPr lang="zh-CN" sz="1800" dirty="0">
              <a:solidFill>
                <a:schemeClr val="accent2"/>
              </a:solidFill>
              <a:latin typeface="百度综艺简体" panose="02010601030101010101" charset="-122"/>
              <a:ea typeface="百度综艺简体" panose="02010601030101010101" charset="-122"/>
              <a:sym typeface="Arial" panose="020B0604020202020204" pitchFamily="34" charset="0"/>
            </a:endParaRPr>
          </a:p>
        </p:txBody>
      </p:sp>
      <p:sp>
        <p:nvSpPr>
          <p:cNvPr id="26" name="TextBox 5"/>
          <p:cNvSpPr txBox="1">
            <a:spLocks noChangeArrowheads="1"/>
          </p:cNvSpPr>
          <p:nvPr/>
        </p:nvSpPr>
        <p:spPr bwMode="auto">
          <a:xfrm>
            <a:off x="1170449" y="915456"/>
            <a:ext cx="6517975" cy="1200329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fontAlgn="auto">
              <a:lnSpc>
                <a:spcPct val="150000"/>
              </a:lnSpc>
            </a:pPr>
            <a:r>
              <a:rPr lang="zh-CN" altLang="en-US" sz="1600" dirty="0">
                <a:latin typeface="百度综艺简体" panose="02010601030101010101" charset="-122"/>
                <a:ea typeface="百度综艺简体" panose="02010601030101010101" charset="-122"/>
              </a:rPr>
              <a:t>一般情况下，</a:t>
            </a:r>
          </a:p>
          <a:p>
            <a:pPr fontAlgn="auto">
              <a:lnSpc>
                <a:spcPct val="150000"/>
              </a:lnSpc>
            </a:pPr>
            <a:r>
              <a:rPr lang="zh-CN" altLang="en-US" sz="1600" dirty="0">
                <a:latin typeface="百度综艺简体" panose="02010601030101010101" charset="-122"/>
                <a:ea typeface="百度综艺简体" panose="02010601030101010101" charset="-122"/>
              </a:rPr>
              <a:t>假设含</a:t>
            </a:r>
            <a:r>
              <a:rPr lang="en-US" altLang="zh-CN" sz="1600" dirty="0">
                <a:latin typeface="百度综艺简体" panose="02010601030101010101" charset="-122"/>
                <a:ea typeface="百度综艺简体" panose="02010601030101010101" charset="-122"/>
              </a:rPr>
              <a:t>n</a:t>
            </a:r>
            <a:r>
              <a:rPr lang="zh-CN" altLang="en-US" sz="1600" dirty="0">
                <a:latin typeface="百度综艺简体" panose="02010601030101010101" charset="-122"/>
                <a:ea typeface="百度综艺简体" panose="02010601030101010101" charset="-122"/>
              </a:rPr>
              <a:t>个记录的序列为</a:t>
            </a:r>
            <a:r>
              <a:rPr lang="en-US" altLang="zh-CN" sz="1600" dirty="0">
                <a:latin typeface="百度综艺简体" panose="02010601030101010101" charset="-122"/>
                <a:ea typeface="百度综艺简体" panose="02010601030101010101" charset="-122"/>
              </a:rPr>
              <a:t>{ R1, R2, …</a:t>
            </a:r>
            <a:r>
              <a:rPr lang="zh-CN" altLang="en-US" sz="1600" dirty="0">
                <a:latin typeface="百度综艺简体" panose="02010601030101010101" charset="-122"/>
                <a:ea typeface="百度综艺简体" panose="02010601030101010101" charset="-122"/>
              </a:rPr>
              <a:t>， </a:t>
            </a:r>
            <a:r>
              <a:rPr lang="en-US" altLang="zh-CN" sz="1600" dirty="0">
                <a:latin typeface="百度综艺简体" panose="02010601030101010101" charset="-122"/>
                <a:ea typeface="百度综艺简体" panose="02010601030101010101" charset="-122"/>
              </a:rPr>
              <a:t>Rn }</a:t>
            </a:r>
          </a:p>
          <a:p>
            <a:pPr fontAlgn="auto">
              <a:lnSpc>
                <a:spcPct val="150000"/>
              </a:lnSpc>
            </a:pPr>
            <a:r>
              <a:rPr lang="zh-CN" altLang="en-US" sz="1600" dirty="0">
                <a:latin typeface="百度综艺简体" panose="02010601030101010101" charset="-122"/>
                <a:ea typeface="百度综艺简体" panose="02010601030101010101" charset="-122"/>
              </a:rPr>
              <a:t>其相应的关键字序列为  </a:t>
            </a:r>
            <a:r>
              <a:rPr lang="en-US" altLang="zh-CN" sz="1600" dirty="0">
                <a:latin typeface="百度综艺简体" panose="02010601030101010101" charset="-122"/>
                <a:ea typeface="百度综艺简体" panose="02010601030101010101" charset="-122"/>
              </a:rPr>
              <a:t>{ K1, K2, …</a:t>
            </a:r>
            <a:r>
              <a:rPr lang="zh-CN" altLang="en-US" sz="1600" dirty="0">
                <a:latin typeface="百度综艺简体" panose="02010601030101010101" charset="-122"/>
                <a:ea typeface="百度综艺简体" panose="02010601030101010101" charset="-122"/>
              </a:rPr>
              <a:t>，</a:t>
            </a:r>
            <a:r>
              <a:rPr lang="en-US" altLang="zh-CN" sz="1600" dirty="0" err="1">
                <a:latin typeface="百度综艺简体" panose="02010601030101010101" charset="-122"/>
                <a:ea typeface="百度综艺简体" panose="02010601030101010101" charset="-122"/>
              </a:rPr>
              <a:t>Kn</a:t>
            </a:r>
            <a:r>
              <a:rPr lang="en-US" altLang="zh-CN" sz="1600" dirty="0">
                <a:latin typeface="百度综艺简体" panose="02010601030101010101" charset="-122"/>
                <a:ea typeface="百度综艺简体" panose="02010601030101010101" charset="-122"/>
              </a:rPr>
              <a:t> }</a:t>
            </a:r>
          </a:p>
        </p:txBody>
      </p:sp>
      <p:sp>
        <p:nvSpPr>
          <p:cNvPr id="37" name="AutoShape 3"/>
          <p:cNvSpPr>
            <a:spLocks noChangeAspect="1" noChangeArrowheads="1" noTextEdit="1"/>
          </p:cNvSpPr>
          <p:nvPr/>
        </p:nvSpPr>
        <p:spPr bwMode="auto">
          <a:xfrm>
            <a:off x="557288" y="744733"/>
            <a:ext cx="542665" cy="54122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endParaRPr lang="zh-CN" altLang="en-US" sz="1800"/>
          </a:p>
        </p:txBody>
      </p:sp>
      <p:grpSp>
        <p:nvGrpSpPr>
          <p:cNvPr id="21" name="组合 20"/>
          <p:cNvGrpSpPr/>
          <p:nvPr/>
        </p:nvGrpSpPr>
        <p:grpSpPr>
          <a:xfrm>
            <a:off x="2134235" y="483235"/>
            <a:ext cx="7002145" cy="109220"/>
            <a:chOff x="2140585" y="362585"/>
            <a:chExt cx="7002145" cy="109220"/>
          </a:xfrm>
        </p:grpSpPr>
        <p:cxnSp>
          <p:nvCxnSpPr>
            <p:cNvPr id="25" name="直接连接符 24"/>
            <p:cNvCxnSpPr/>
            <p:nvPr/>
          </p:nvCxnSpPr>
          <p:spPr>
            <a:xfrm>
              <a:off x="2140585" y="417195"/>
              <a:ext cx="6889750" cy="0"/>
            </a:xfrm>
            <a:prstGeom prst="line">
              <a:avLst/>
            </a:prstGeom>
            <a:ln w="22225">
              <a:solidFill>
                <a:srgbClr val="2A5BA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椭圆 26"/>
            <p:cNvSpPr/>
            <p:nvPr/>
          </p:nvSpPr>
          <p:spPr>
            <a:xfrm>
              <a:off x="9033510" y="362585"/>
              <a:ext cx="109220" cy="10922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4" name="TextBox 5"/>
          <p:cNvSpPr txBox="1">
            <a:spLocks noChangeArrowheads="1"/>
          </p:cNvSpPr>
          <p:nvPr/>
        </p:nvSpPr>
        <p:spPr bwMode="auto">
          <a:xfrm>
            <a:off x="1447321" y="2294435"/>
            <a:ext cx="6549077" cy="83099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fontAlgn="auto">
              <a:lnSpc>
                <a:spcPct val="150000"/>
              </a:lnSpc>
            </a:pPr>
            <a:r>
              <a:rPr lang="zh-CN" altLang="en-US" sz="1600" dirty="0">
                <a:latin typeface="百度综艺简体" panose="02010601030101010101" charset="-122"/>
                <a:ea typeface="百度综艺简体" panose="02010601030101010101" charset="-122"/>
              </a:rPr>
              <a:t>这些关键字相互之间可以进行比较，即</a:t>
            </a:r>
            <a:r>
              <a:rPr lang="zh-CN" altLang="en-US" sz="1600" dirty="0" smtClean="0">
                <a:latin typeface="百度综艺简体" panose="02010601030101010101" charset="-122"/>
                <a:ea typeface="百度综艺简体" panose="02010601030101010101" charset="-122"/>
              </a:rPr>
              <a:t>在它们</a:t>
            </a:r>
            <a:r>
              <a:rPr lang="zh-CN" altLang="en-US" sz="1600" dirty="0">
                <a:latin typeface="百度综艺简体" panose="02010601030101010101" charset="-122"/>
                <a:ea typeface="百度综艺简体" panose="02010601030101010101" charset="-122"/>
              </a:rPr>
              <a:t>之间存在着这样一个关系 ：</a:t>
            </a:r>
          </a:p>
          <a:p>
            <a:pPr fontAlgn="auto">
              <a:lnSpc>
                <a:spcPct val="150000"/>
              </a:lnSpc>
            </a:pPr>
            <a:r>
              <a:rPr lang="zh-CN" altLang="en-US" sz="1600" dirty="0">
                <a:latin typeface="百度综艺简体" panose="02010601030101010101" charset="-122"/>
                <a:ea typeface="百度综艺简体" panose="02010601030101010101" charset="-122"/>
              </a:rPr>
              <a:t>    　          </a:t>
            </a:r>
            <a:r>
              <a:rPr lang="zh-CN" altLang="en-US" sz="1600" dirty="0" smtClean="0">
                <a:latin typeface="百度综艺简体" panose="02010601030101010101" charset="-122"/>
                <a:ea typeface="百度综艺简体" panose="02010601030101010101" charset="-122"/>
              </a:rPr>
              <a:t>               </a:t>
            </a:r>
            <a:r>
              <a:rPr lang="en-US" altLang="zh-CN" sz="1600" dirty="0">
                <a:latin typeface="百度综艺简体" panose="02010601030101010101" charset="-122"/>
                <a:ea typeface="百度综艺简体" panose="02010601030101010101" charset="-122"/>
              </a:rPr>
              <a:t>Kp1≤Kp2≤…≤</a:t>
            </a:r>
            <a:r>
              <a:rPr lang="en-US" altLang="zh-CN" sz="1600" dirty="0" err="1">
                <a:latin typeface="百度综艺简体" panose="02010601030101010101" charset="-122"/>
                <a:ea typeface="百度综艺简体" panose="02010601030101010101" charset="-122"/>
              </a:rPr>
              <a:t>Kpn</a:t>
            </a:r>
            <a:endParaRPr lang="en-US" altLang="zh-CN" sz="1600" dirty="0">
              <a:latin typeface="百度综艺简体" panose="02010601030101010101" charset="-122"/>
              <a:ea typeface="百度综艺简体" panose="02010601030101010101" charset="-122"/>
            </a:endParaRPr>
          </a:p>
        </p:txBody>
      </p:sp>
      <p:sp>
        <p:nvSpPr>
          <p:cNvPr id="23" name="TextBox 5"/>
          <p:cNvSpPr txBox="1">
            <a:spLocks noChangeArrowheads="1"/>
          </p:cNvSpPr>
          <p:nvPr/>
        </p:nvSpPr>
        <p:spPr bwMode="auto">
          <a:xfrm>
            <a:off x="1447320" y="3330009"/>
            <a:ext cx="6549077" cy="1160446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fontAlgn="auto">
              <a:lnSpc>
                <a:spcPct val="150000"/>
              </a:lnSpc>
            </a:pPr>
            <a:r>
              <a:rPr lang="zh-CN" altLang="en-US" sz="1600" dirty="0">
                <a:latin typeface="百度综艺简体" panose="02010601030101010101" charset="-122"/>
                <a:ea typeface="百度综艺简体" panose="02010601030101010101" charset="-122"/>
              </a:rPr>
              <a:t>按此固有关系将上式记录序列重新排列为   </a:t>
            </a:r>
          </a:p>
          <a:p>
            <a:pPr fontAlgn="auto">
              <a:lnSpc>
                <a:spcPct val="150000"/>
              </a:lnSpc>
            </a:pPr>
            <a:r>
              <a:rPr lang="zh-CN" altLang="en-US" sz="1600" dirty="0">
                <a:latin typeface="百度综艺简体" panose="02010601030101010101" charset="-122"/>
                <a:ea typeface="百度综艺简体" panose="02010601030101010101" charset="-122"/>
              </a:rPr>
              <a:t>                   </a:t>
            </a:r>
            <a:r>
              <a:rPr lang="en-US" altLang="zh-CN" sz="1600" dirty="0">
                <a:latin typeface="百度综艺简体" panose="02010601030101010101" charset="-122"/>
                <a:ea typeface="百度综艺简体" panose="02010601030101010101" charset="-122"/>
              </a:rPr>
              <a:t>{ Rp1, Rp2, …</a:t>
            </a:r>
            <a:r>
              <a:rPr lang="zh-CN" altLang="en-US" sz="1600" dirty="0">
                <a:latin typeface="百度综艺简体" panose="02010601030101010101" charset="-122"/>
                <a:ea typeface="百度综艺简体" panose="02010601030101010101" charset="-122"/>
              </a:rPr>
              <a:t>，</a:t>
            </a:r>
            <a:r>
              <a:rPr lang="en-US" altLang="zh-CN" sz="1600" dirty="0" err="1">
                <a:latin typeface="百度综艺简体" panose="02010601030101010101" charset="-122"/>
                <a:ea typeface="百度综艺简体" panose="02010601030101010101" charset="-122"/>
              </a:rPr>
              <a:t>Rpn</a:t>
            </a:r>
            <a:r>
              <a:rPr lang="en-US" altLang="zh-CN" sz="1600" dirty="0">
                <a:latin typeface="百度综艺简体" panose="02010601030101010101" charset="-122"/>
                <a:ea typeface="百度综艺简体" panose="02010601030101010101" charset="-122"/>
              </a:rPr>
              <a:t> }</a:t>
            </a:r>
          </a:p>
          <a:p>
            <a:pPr fontAlgn="auto">
              <a:lnSpc>
                <a:spcPct val="150000"/>
              </a:lnSpc>
            </a:pPr>
            <a:r>
              <a:rPr lang="zh-CN" altLang="en-US" sz="1600" dirty="0">
                <a:latin typeface="百度综艺简体" panose="02010601030101010101" charset="-122"/>
                <a:ea typeface="百度综艺简体" panose="02010601030101010101" charset="-122"/>
              </a:rPr>
              <a:t>的操作称作排序。</a:t>
            </a:r>
          </a:p>
        </p:txBody>
      </p:sp>
    </p:spTree>
    <p:extLst>
      <p:ext uri="{BB962C8B-B14F-4D97-AF65-F5344CB8AC3E}">
        <p14:creationId xmlns:p14="http://schemas.microsoft.com/office/powerpoint/2010/main" val="417698246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0"/>
    </mc:Choice>
    <mc:Fallback>
      <p:transition spd="slow" advClick="0" advTm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 tmFilter="0,0; .5, 1; 1, 1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750"/>
                            </p:stCondLst>
                            <p:childTnLst>
                              <p:par>
                                <p:cTn id="22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250"/>
                            </p:stCondLst>
                            <p:childTnLst>
                              <p:par>
                                <p:cTn id="2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250"/>
                            </p:stCondLst>
                            <p:childTnLst>
                              <p:par>
                                <p:cTn id="3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4250"/>
                            </p:stCondLst>
                            <p:childTnLst>
                              <p:par>
                                <p:cTn id="3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250"/>
                            </p:stCondLst>
                            <p:childTnLst>
                              <p:par>
                                <p:cTn id="4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utoUpdateAnimBg="0"/>
      <p:bldP spid="22" grpId="0" bldLvl="0" animBg="1" autoUpdateAnimBg="0"/>
      <p:bldP spid="31" grpId="0"/>
      <p:bldP spid="26" grpId="0"/>
      <p:bldP spid="14" grpId="0"/>
      <p:bldP spid="23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直接连接符 14"/>
          <p:cNvCxnSpPr>
            <a:cxnSpLocks noChangeShapeType="1"/>
          </p:cNvCxnSpPr>
          <p:nvPr/>
        </p:nvCxnSpPr>
        <p:spPr bwMode="auto">
          <a:xfrm>
            <a:off x="307340" y="537845"/>
            <a:ext cx="8829040" cy="0"/>
          </a:xfrm>
          <a:prstGeom prst="line">
            <a:avLst/>
          </a:prstGeom>
          <a:noFill/>
          <a:ln w="9525">
            <a:solidFill>
              <a:schemeClr val="accent1"/>
            </a:solidFill>
            <a:round/>
          </a:ln>
          <a:effectLst/>
        </p:spPr>
      </p:cxnSp>
      <p:sp>
        <p:nvSpPr>
          <p:cNvPr id="16" name="矩形 15"/>
          <p:cNvSpPr/>
          <p:nvPr/>
        </p:nvSpPr>
        <p:spPr>
          <a:xfrm>
            <a:off x="1411" y="5240"/>
            <a:ext cx="9141179" cy="5134013"/>
          </a:xfrm>
          <a:prstGeom prst="rect">
            <a:avLst/>
          </a:prstGeom>
          <a:solidFill>
            <a:srgbClr val="F6F6F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zh-CN" altLang="en-US" sz="1800" dirty="0">
              <a:solidFill>
                <a:schemeClr val="accent2"/>
              </a:solidFill>
              <a:effectLst/>
              <a:latin typeface="百度综艺简体" panose="02010601030101010101" charset="-122"/>
              <a:ea typeface="百度综艺简体" panose="02010601030101010101" charset="-122"/>
              <a:sym typeface="+mn-ea"/>
            </a:endParaRPr>
          </a:p>
        </p:txBody>
      </p:sp>
      <p:sp>
        <p:nvSpPr>
          <p:cNvPr id="19" name="TextBox 5"/>
          <p:cNvSpPr txBox="1">
            <a:spLocks noChangeArrowheads="1"/>
          </p:cNvSpPr>
          <p:nvPr/>
        </p:nvSpPr>
        <p:spPr bwMode="auto">
          <a:xfrm>
            <a:off x="234950" y="203835"/>
            <a:ext cx="2067560" cy="4603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>
              <a:buFontTx/>
              <a:buNone/>
            </a:pPr>
            <a:r>
              <a:rPr lang="zh-CN" altLang="en-US" sz="2400" dirty="0">
                <a:solidFill>
                  <a:schemeClr val="accent1"/>
                </a:solidFill>
                <a:latin typeface="百度综艺简体" panose="02010601030101010101" charset="-122"/>
                <a:ea typeface="百度综艺简体" panose="02010601030101010101" charset="-122"/>
              </a:rPr>
              <a:t>《数据结构》</a:t>
            </a:r>
          </a:p>
        </p:txBody>
      </p:sp>
      <p:sp>
        <p:nvSpPr>
          <p:cNvPr id="22" name="矩形 21"/>
          <p:cNvSpPr>
            <a:spLocks noChangeArrowheads="1"/>
          </p:cNvSpPr>
          <p:nvPr/>
        </p:nvSpPr>
        <p:spPr bwMode="auto">
          <a:xfrm>
            <a:off x="1412" y="217303"/>
            <a:ext cx="401225" cy="401225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</a:ln>
        </p:spPr>
        <p:txBody>
          <a:bodyPr/>
          <a:lstStyle/>
          <a:p>
            <a:pPr>
              <a:buFontTx/>
              <a:buNone/>
            </a:pPr>
            <a:endParaRPr lang="zh-CN" altLang="en-US" sz="1800"/>
          </a:p>
        </p:txBody>
      </p:sp>
      <p:sp>
        <p:nvSpPr>
          <p:cNvPr id="31" name="Text Placeholder 11"/>
          <p:cNvSpPr txBox="1"/>
          <p:nvPr/>
        </p:nvSpPr>
        <p:spPr>
          <a:xfrm>
            <a:off x="2302510" y="241067"/>
            <a:ext cx="2805430" cy="353695"/>
          </a:xfrm>
          <a:prstGeom prst="rect">
            <a:avLst/>
          </a:prstGeom>
        </p:spPr>
        <p:txBody>
          <a:bodyPr lIns="68538" tIns="34270" rIns="68538" bIns="34270"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1225">
              <a:buNone/>
            </a:pPr>
            <a:r>
              <a:rPr lang="zh-CN" altLang="en-US" sz="1800" dirty="0">
                <a:solidFill>
                  <a:schemeClr val="accent2"/>
                </a:solidFill>
                <a:latin typeface="百度综艺简体" panose="02010601030101010101" charset="-122"/>
                <a:ea typeface="百度综艺简体" panose="02010601030101010101" charset="-122"/>
                <a:sym typeface="Arial" panose="020B0604020202020204" pitchFamily="34" charset="0"/>
              </a:rPr>
              <a:t>排序概述</a:t>
            </a:r>
            <a:endParaRPr lang="zh-CN" sz="1800" dirty="0">
              <a:solidFill>
                <a:schemeClr val="accent2"/>
              </a:solidFill>
              <a:latin typeface="百度综艺简体" panose="02010601030101010101" charset="-122"/>
              <a:ea typeface="百度综艺简体" panose="02010601030101010101" charset="-122"/>
              <a:sym typeface="Arial" panose="020B0604020202020204" pitchFamily="34" charset="0"/>
            </a:endParaRPr>
          </a:p>
        </p:txBody>
      </p:sp>
      <p:sp>
        <p:nvSpPr>
          <p:cNvPr id="26" name="TextBox 5"/>
          <p:cNvSpPr txBox="1">
            <a:spLocks noChangeArrowheads="1"/>
          </p:cNvSpPr>
          <p:nvPr/>
        </p:nvSpPr>
        <p:spPr bwMode="auto">
          <a:xfrm>
            <a:off x="1099953" y="1179890"/>
            <a:ext cx="6517975" cy="46301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fontAlgn="auto">
              <a:lnSpc>
                <a:spcPct val="150000"/>
              </a:lnSpc>
            </a:pPr>
            <a:r>
              <a:rPr lang="zh-CN" altLang="en-US" dirty="0">
                <a:latin typeface="百度综艺简体" panose="02010601030101010101" charset="-122"/>
                <a:ea typeface="百度综艺简体" panose="02010601030101010101" charset="-122"/>
              </a:rPr>
              <a:t>排序算法的稳定性：</a:t>
            </a:r>
          </a:p>
        </p:txBody>
      </p:sp>
      <p:sp>
        <p:nvSpPr>
          <p:cNvPr id="37" name="AutoShape 3"/>
          <p:cNvSpPr>
            <a:spLocks noChangeAspect="1" noChangeArrowheads="1" noTextEdit="1"/>
          </p:cNvSpPr>
          <p:nvPr/>
        </p:nvSpPr>
        <p:spPr bwMode="auto">
          <a:xfrm>
            <a:off x="557288" y="744733"/>
            <a:ext cx="542665" cy="54122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endParaRPr lang="zh-CN" altLang="en-US" sz="1800"/>
          </a:p>
        </p:txBody>
      </p:sp>
      <p:grpSp>
        <p:nvGrpSpPr>
          <p:cNvPr id="21" name="组合 20"/>
          <p:cNvGrpSpPr/>
          <p:nvPr/>
        </p:nvGrpSpPr>
        <p:grpSpPr>
          <a:xfrm>
            <a:off x="2134235" y="483235"/>
            <a:ext cx="7002145" cy="109220"/>
            <a:chOff x="2140585" y="362585"/>
            <a:chExt cx="7002145" cy="109220"/>
          </a:xfrm>
        </p:grpSpPr>
        <p:cxnSp>
          <p:nvCxnSpPr>
            <p:cNvPr id="25" name="直接连接符 24"/>
            <p:cNvCxnSpPr/>
            <p:nvPr/>
          </p:nvCxnSpPr>
          <p:spPr>
            <a:xfrm>
              <a:off x="2140585" y="417195"/>
              <a:ext cx="6889750" cy="0"/>
            </a:xfrm>
            <a:prstGeom prst="line">
              <a:avLst/>
            </a:prstGeom>
            <a:ln w="22225">
              <a:solidFill>
                <a:srgbClr val="2A5BA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椭圆 26"/>
            <p:cNvSpPr/>
            <p:nvPr/>
          </p:nvSpPr>
          <p:spPr>
            <a:xfrm>
              <a:off x="9033510" y="362585"/>
              <a:ext cx="109220" cy="10922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4" name="TextBox 5"/>
          <p:cNvSpPr txBox="1">
            <a:spLocks noChangeArrowheads="1"/>
          </p:cNvSpPr>
          <p:nvPr/>
        </p:nvSpPr>
        <p:spPr bwMode="auto">
          <a:xfrm>
            <a:off x="1447321" y="2078059"/>
            <a:ext cx="6549077" cy="156966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fontAlgn="auto">
              <a:lnSpc>
                <a:spcPct val="200000"/>
              </a:lnSpc>
            </a:pPr>
            <a:r>
              <a:rPr lang="zh-CN" altLang="en-US" sz="1600" dirty="0" smtClean="0">
                <a:latin typeface="百度综艺简体" panose="02010601030101010101" charset="-122"/>
                <a:ea typeface="百度综艺简体" panose="02010601030101010101" charset="-122"/>
              </a:rPr>
              <a:t>       如果</a:t>
            </a:r>
            <a:r>
              <a:rPr lang="zh-CN" altLang="en-US" sz="1600" dirty="0">
                <a:latin typeface="百度综艺简体" panose="02010601030101010101" charset="-122"/>
                <a:ea typeface="百度综艺简体" panose="02010601030101010101" charset="-122"/>
              </a:rPr>
              <a:t>待排序的序列中，存在多个具有相同关键字的记录，若经过排序这些记录的相对次序保持不变，则称这种排序算法是稳定的；经过排序这些记录的相对次序发生了改变，则称这种排序算法是不稳定的。</a:t>
            </a:r>
            <a:endParaRPr lang="en-US" altLang="zh-CN" sz="1600" dirty="0">
              <a:latin typeface="百度综艺简体" panose="02010601030101010101" charset="-122"/>
              <a:ea typeface="百度综艺简体" panose="02010601030101010101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40452516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0"/>
    </mc:Choice>
    <mc:Fallback>
      <p:transition spd="slow" advClick="0" advTm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 tmFilter="0,0; .5, 1; 1, 1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750"/>
                            </p:stCondLst>
                            <p:childTnLst>
                              <p:par>
                                <p:cTn id="22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250"/>
                            </p:stCondLst>
                            <p:childTnLst>
                              <p:par>
                                <p:cTn id="2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250"/>
                            </p:stCondLst>
                            <p:childTnLst>
                              <p:par>
                                <p:cTn id="3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4250"/>
                            </p:stCondLst>
                            <p:childTnLst>
                              <p:par>
                                <p:cTn id="3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utoUpdateAnimBg="0"/>
      <p:bldP spid="22" grpId="0" bldLvl="0" animBg="1" autoUpdateAnimBg="0"/>
      <p:bldP spid="31" grpId="0"/>
      <p:bldP spid="26" grpId="0"/>
      <p:bldP spid="14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直接连接符 14"/>
          <p:cNvCxnSpPr>
            <a:cxnSpLocks noChangeShapeType="1"/>
          </p:cNvCxnSpPr>
          <p:nvPr/>
        </p:nvCxnSpPr>
        <p:spPr bwMode="auto">
          <a:xfrm>
            <a:off x="307340" y="537845"/>
            <a:ext cx="8829040" cy="0"/>
          </a:xfrm>
          <a:prstGeom prst="line">
            <a:avLst/>
          </a:prstGeom>
          <a:noFill/>
          <a:ln w="9525">
            <a:solidFill>
              <a:schemeClr val="accent1"/>
            </a:solidFill>
            <a:round/>
          </a:ln>
          <a:effectLst/>
        </p:spPr>
      </p:cxnSp>
      <p:sp>
        <p:nvSpPr>
          <p:cNvPr id="16" name="矩形 15"/>
          <p:cNvSpPr/>
          <p:nvPr/>
        </p:nvSpPr>
        <p:spPr>
          <a:xfrm>
            <a:off x="1411" y="5240"/>
            <a:ext cx="9141179" cy="5134013"/>
          </a:xfrm>
          <a:prstGeom prst="rect">
            <a:avLst/>
          </a:prstGeom>
          <a:solidFill>
            <a:srgbClr val="F6F6F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zh-CN" altLang="en-US" sz="1800" dirty="0">
              <a:solidFill>
                <a:schemeClr val="accent2"/>
              </a:solidFill>
              <a:effectLst/>
              <a:latin typeface="百度综艺简体" panose="02010601030101010101" charset="-122"/>
              <a:ea typeface="百度综艺简体" panose="02010601030101010101" charset="-122"/>
              <a:sym typeface="+mn-ea"/>
            </a:endParaRPr>
          </a:p>
        </p:txBody>
      </p:sp>
      <p:sp>
        <p:nvSpPr>
          <p:cNvPr id="19" name="TextBox 5"/>
          <p:cNvSpPr txBox="1">
            <a:spLocks noChangeArrowheads="1"/>
          </p:cNvSpPr>
          <p:nvPr/>
        </p:nvSpPr>
        <p:spPr bwMode="auto">
          <a:xfrm>
            <a:off x="234950" y="203835"/>
            <a:ext cx="2067560" cy="4603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>
              <a:buFontTx/>
              <a:buNone/>
            </a:pPr>
            <a:r>
              <a:rPr lang="zh-CN" altLang="en-US" sz="2400" dirty="0">
                <a:solidFill>
                  <a:schemeClr val="accent1"/>
                </a:solidFill>
                <a:latin typeface="百度综艺简体" panose="02010601030101010101" charset="-122"/>
                <a:ea typeface="百度综艺简体" panose="02010601030101010101" charset="-122"/>
              </a:rPr>
              <a:t>《数据结构》</a:t>
            </a:r>
          </a:p>
        </p:txBody>
      </p:sp>
      <p:sp>
        <p:nvSpPr>
          <p:cNvPr id="22" name="矩形 21"/>
          <p:cNvSpPr>
            <a:spLocks noChangeArrowheads="1"/>
          </p:cNvSpPr>
          <p:nvPr/>
        </p:nvSpPr>
        <p:spPr bwMode="auto">
          <a:xfrm>
            <a:off x="1412" y="217303"/>
            <a:ext cx="401225" cy="401225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</a:ln>
        </p:spPr>
        <p:txBody>
          <a:bodyPr/>
          <a:lstStyle/>
          <a:p>
            <a:pPr>
              <a:buFontTx/>
              <a:buNone/>
            </a:pPr>
            <a:endParaRPr lang="zh-CN" altLang="en-US" sz="1800"/>
          </a:p>
        </p:txBody>
      </p:sp>
      <p:sp>
        <p:nvSpPr>
          <p:cNvPr id="31" name="Text Placeholder 11"/>
          <p:cNvSpPr txBox="1"/>
          <p:nvPr/>
        </p:nvSpPr>
        <p:spPr>
          <a:xfrm>
            <a:off x="2302510" y="241067"/>
            <a:ext cx="2805430" cy="353695"/>
          </a:xfrm>
          <a:prstGeom prst="rect">
            <a:avLst/>
          </a:prstGeom>
        </p:spPr>
        <p:txBody>
          <a:bodyPr lIns="68538" tIns="34270" rIns="68538" bIns="34270"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1225">
              <a:buNone/>
            </a:pPr>
            <a:r>
              <a:rPr lang="zh-CN" altLang="en-US" sz="1800" dirty="0">
                <a:solidFill>
                  <a:schemeClr val="accent2"/>
                </a:solidFill>
                <a:latin typeface="百度综艺简体" panose="02010601030101010101" charset="-122"/>
                <a:ea typeface="百度综艺简体" panose="02010601030101010101" charset="-122"/>
                <a:sym typeface="Arial" panose="020B0604020202020204" pitchFamily="34" charset="0"/>
              </a:rPr>
              <a:t>排序概述</a:t>
            </a:r>
            <a:endParaRPr lang="zh-CN" sz="1800" dirty="0">
              <a:solidFill>
                <a:schemeClr val="accent2"/>
              </a:solidFill>
              <a:latin typeface="百度综艺简体" panose="02010601030101010101" charset="-122"/>
              <a:ea typeface="百度综艺简体" panose="02010601030101010101" charset="-122"/>
              <a:sym typeface="Arial" panose="020B0604020202020204" pitchFamily="34" charset="0"/>
            </a:endParaRPr>
          </a:p>
        </p:txBody>
      </p:sp>
      <p:sp>
        <p:nvSpPr>
          <p:cNvPr id="26" name="TextBox 5"/>
          <p:cNvSpPr txBox="1">
            <a:spLocks noChangeArrowheads="1"/>
          </p:cNvSpPr>
          <p:nvPr/>
        </p:nvSpPr>
        <p:spPr bwMode="auto">
          <a:xfrm>
            <a:off x="1099953" y="1179890"/>
            <a:ext cx="6517975" cy="46301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fontAlgn="auto">
              <a:lnSpc>
                <a:spcPct val="150000"/>
              </a:lnSpc>
            </a:pPr>
            <a:r>
              <a:rPr lang="zh-CN" altLang="en-US" dirty="0">
                <a:latin typeface="百度综艺简体" panose="02010601030101010101" charset="-122"/>
                <a:ea typeface="百度综艺简体" panose="02010601030101010101" charset="-122"/>
              </a:rPr>
              <a:t>排序算法的稳定性：</a:t>
            </a:r>
          </a:p>
        </p:txBody>
      </p:sp>
      <p:sp>
        <p:nvSpPr>
          <p:cNvPr id="37" name="AutoShape 3"/>
          <p:cNvSpPr>
            <a:spLocks noChangeAspect="1" noChangeArrowheads="1" noTextEdit="1"/>
          </p:cNvSpPr>
          <p:nvPr/>
        </p:nvSpPr>
        <p:spPr bwMode="auto">
          <a:xfrm>
            <a:off x="557288" y="744733"/>
            <a:ext cx="542665" cy="54122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endParaRPr lang="zh-CN" altLang="en-US" sz="1800"/>
          </a:p>
        </p:txBody>
      </p:sp>
      <p:grpSp>
        <p:nvGrpSpPr>
          <p:cNvPr id="21" name="组合 20"/>
          <p:cNvGrpSpPr/>
          <p:nvPr/>
        </p:nvGrpSpPr>
        <p:grpSpPr>
          <a:xfrm>
            <a:off x="2134235" y="483235"/>
            <a:ext cx="7002145" cy="109220"/>
            <a:chOff x="2140585" y="362585"/>
            <a:chExt cx="7002145" cy="109220"/>
          </a:xfrm>
        </p:grpSpPr>
        <p:cxnSp>
          <p:nvCxnSpPr>
            <p:cNvPr id="25" name="直接连接符 24"/>
            <p:cNvCxnSpPr/>
            <p:nvPr/>
          </p:nvCxnSpPr>
          <p:spPr>
            <a:xfrm>
              <a:off x="2140585" y="417195"/>
              <a:ext cx="6889750" cy="0"/>
            </a:xfrm>
            <a:prstGeom prst="line">
              <a:avLst/>
            </a:prstGeom>
            <a:ln w="22225">
              <a:solidFill>
                <a:srgbClr val="2A5BA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椭圆 26"/>
            <p:cNvSpPr/>
            <p:nvPr/>
          </p:nvSpPr>
          <p:spPr>
            <a:xfrm>
              <a:off x="9033510" y="362585"/>
              <a:ext cx="109220" cy="10922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4" name="TextBox 5"/>
          <p:cNvSpPr txBox="1">
            <a:spLocks noChangeArrowheads="1"/>
          </p:cNvSpPr>
          <p:nvPr/>
        </p:nvSpPr>
        <p:spPr bwMode="auto">
          <a:xfrm>
            <a:off x="1447321" y="2078059"/>
            <a:ext cx="6549077" cy="5847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fontAlgn="auto">
              <a:lnSpc>
                <a:spcPct val="200000"/>
              </a:lnSpc>
            </a:pPr>
            <a:r>
              <a:rPr lang="en-US" altLang="zh-CN" sz="1600" dirty="0">
                <a:latin typeface="百度综艺简体" panose="02010601030101010101" charset="-122"/>
                <a:ea typeface="百度综艺简体" panose="02010601030101010101" charset="-122"/>
              </a:rPr>
              <a:t>18  12  10  </a:t>
            </a:r>
            <a:r>
              <a:rPr lang="en-US" altLang="zh-CN" sz="1600" u="sng" dirty="0">
                <a:latin typeface="百度综艺简体" panose="02010601030101010101" charset="-122"/>
                <a:ea typeface="百度综艺简体" panose="02010601030101010101" charset="-122"/>
              </a:rPr>
              <a:t>12</a:t>
            </a:r>
            <a:r>
              <a:rPr lang="en-US" altLang="zh-CN" sz="1600" dirty="0">
                <a:latin typeface="百度综艺简体" panose="02010601030101010101" charset="-122"/>
                <a:ea typeface="百度综艺简体" panose="02010601030101010101" charset="-122"/>
              </a:rPr>
              <a:t>  30  16</a:t>
            </a:r>
          </a:p>
        </p:txBody>
      </p:sp>
      <p:sp>
        <p:nvSpPr>
          <p:cNvPr id="13" name="TextBox 5"/>
          <p:cNvSpPr txBox="1">
            <a:spLocks noChangeArrowheads="1"/>
          </p:cNvSpPr>
          <p:nvPr/>
        </p:nvSpPr>
        <p:spPr bwMode="auto">
          <a:xfrm>
            <a:off x="1447321" y="2707856"/>
            <a:ext cx="6549077" cy="51411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fontAlgn="auto">
              <a:lnSpc>
                <a:spcPct val="200000"/>
              </a:lnSpc>
            </a:pPr>
            <a:r>
              <a:rPr lang="en-US" altLang="zh-CN" sz="1600" dirty="0">
                <a:solidFill>
                  <a:schemeClr val="accent1"/>
                </a:solidFill>
                <a:latin typeface="百度综艺简体" panose="02010601030101010101" charset="-122"/>
                <a:ea typeface="百度综艺简体" panose="02010601030101010101" charset="-122"/>
              </a:rPr>
              <a:t>10  12  </a:t>
            </a:r>
            <a:r>
              <a:rPr lang="en-US" altLang="zh-CN" sz="1600" u="sng" dirty="0">
                <a:solidFill>
                  <a:schemeClr val="accent1"/>
                </a:solidFill>
                <a:latin typeface="百度综艺简体" panose="02010601030101010101" charset="-122"/>
                <a:ea typeface="百度综艺简体" panose="02010601030101010101" charset="-122"/>
              </a:rPr>
              <a:t>12</a:t>
            </a:r>
            <a:r>
              <a:rPr lang="en-US" altLang="zh-CN" sz="1600" dirty="0">
                <a:solidFill>
                  <a:schemeClr val="accent1"/>
                </a:solidFill>
                <a:latin typeface="百度综艺简体" panose="02010601030101010101" charset="-122"/>
                <a:ea typeface="百度综艺简体" panose="02010601030101010101" charset="-122"/>
              </a:rPr>
              <a:t>  16  18  30</a:t>
            </a:r>
          </a:p>
        </p:txBody>
      </p:sp>
    </p:spTree>
    <p:extLst>
      <p:ext uri="{BB962C8B-B14F-4D97-AF65-F5344CB8AC3E}">
        <p14:creationId xmlns:p14="http://schemas.microsoft.com/office/powerpoint/2010/main" val="247021600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0"/>
    </mc:Choice>
    <mc:Fallback>
      <p:transition spd="slow" advClick="0" advTm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 tmFilter="0,0; .5, 1; 1, 1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750"/>
                            </p:stCondLst>
                            <p:childTnLst>
                              <p:par>
                                <p:cTn id="22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250"/>
                            </p:stCondLst>
                            <p:childTnLst>
                              <p:par>
                                <p:cTn id="2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250"/>
                            </p:stCondLst>
                            <p:childTnLst>
                              <p:par>
                                <p:cTn id="3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4250"/>
                            </p:stCondLst>
                            <p:childTnLst>
                              <p:par>
                                <p:cTn id="3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250"/>
                            </p:stCondLst>
                            <p:childTnLst>
                              <p:par>
                                <p:cTn id="4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utoUpdateAnimBg="0"/>
      <p:bldP spid="22" grpId="0" bldLvl="0" animBg="1" autoUpdateAnimBg="0"/>
      <p:bldP spid="31" grpId="0"/>
      <p:bldP spid="26" grpId="0"/>
      <p:bldP spid="14" grpId="0"/>
      <p:bldP spid="13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直接连接符 14"/>
          <p:cNvCxnSpPr>
            <a:cxnSpLocks noChangeShapeType="1"/>
          </p:cNvCxnSpPr>
          <p:nvPr/>
        </p:nvCxnSpPr>
        <p:spPr bwMode="auto">
          <a:xfrm>
            <a:off x="307340" y="537845"/>
            <a:ext cx="8829040" cy="0"/>
          </a:xfrm>
          <a:prstGeom prst="line">
            <a:avLst/>
          </a:prstGeom>
          <a:noFill/>
          <a:ln w="9525">
            <a:solidFill>
              <a:schemeClr val="accent1"/>
            </a:solidFill>
            <a:round/>
          </a:ln>
          <a:effectLst/>
        </p:spPr>
      </p:cxnSp>
      <p:sp>
        <p:nvSpPr>
          <p:cNvPr id="16" name="矩形 15"/>
          <p:cNvSpPr/>
          <p:nvPr/>
        </p:nvSpPr>
        <p:spPr>
          <a:xfrm>
            <a:off x="1411" y="5240"/>
            <a:ext cx="9141179" cy="5134013"/>
          </a:xfrm>
          <a:prstGeom prst="rect">
            <a:avLst/>
          </a:prstGeom>
          <a:solidFill>
            <a:srgbClr val="F6F6F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zh-CN" altLang="en-US" sz="1800" dirty="0">
              <a:solidFill>
                <a:schemeClr val="accent2"/>
              </a:solidFill>
              <a:effectLst/>
              <a:latin typeface="百度综艺简体" panose="02010601030101010101" charset="-122"/>
              <a:ea typeface="百度综艺简体" panose="02010601030101010101" charset="-122"/>
              <a:sym typeface="+mn-ea"/>
            </a:endParaRPr>
          </a:p>
        </p:txBody>
      </p:sp>
      <p:sp>
        <p:nvSpPr>
          <p:cNvPr id="19" name="TextBox 5"/>
          <p:cNvSpPr txBox="1">
            <a:spLocks noChangeArrowheads="1"/>
          </p:cNvSpPr>
          <p:nvPr/>
        </p:nvSpPr>
        <p:spPr bwMode="auto">
          <a:xfrm>
            <a:off x="234950" y="203835"/>
            <a:ext cx="2067560" cy="4603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>
              <a:buFontTx/>
              <a:buNone/>
            </a:pPr>
            <a:r>
              <a:rPr lang="zh-CN" altLang="en-US" sz="2400" dirty="0">
                <a:solidFill>
                  <a:schemeClr val="accent1"/>
                </a:solidFill>
                <a:latin typeface="百度综艺简体" panose="02010601030101010101" charset="-122"/>
                <a:ea typeface="百度综艺简体" panose="02010601030101010101" charset="-122"/>
              </a:rPr>
              <a:t>《数据结构》</a:t>
            </a:r>
          </a:p>
        </p:txBody>
      </p:sp>
      <p:sp>
        <p:nvSpPr>
          <p:cNvPr id="22" name="矩形 21"/>
          <p:cNvSpPr>
            <a:spLocks noChangeArrowheads="1"/>
          </p:cNvSpPr>
          <p:nvPr/>
        </p:nvSpPr>
        <p:spPr bwMode="auto">
          <a:xfrm>
            <a:off x="1412" y="217303"/>
            <a:ext cx="401225" cy="401225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</a:ln>
        </p:spPr>
        <p:txBody>
          <a:bodyPr/>
          <a:lstStyle/>
          <a:p>
            <a:pPr>
              <a:buFontTx/>
              <a:buNone/>
            </a:pPr>
            <a:endParaRPr lang="zh-CN" altLang="en-US" sz="1800"/>
          </a:p>
        </p:txBody>
      </p:sp>
      <p:sp>
        <p:nvSpPr>
          <p:cNvPr id="31" name="Text Placeholder 11"/>
          <p:cNvSpPr txBox="1"/>
          <p:nvPr/>
        </p:nvSpPr>
        <p:spPr>
          <a:xfrm>
            <a:off x="2302510" y="241067"/>
            <a:ext cx="2805430" cy="353695"/>
          </a:xfrm>
          <a:prstGeom prst="rect">
            <a:avLst/>
          </a:prstGeom>
        </p:spPr>
        <p:txBody>
          <a:bodyPr lIns="68538" tIns="34270" rIns="68538" bIns="34270"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1225">
              <a:buNone/>
            </a:pPr>
            <a:r>
              <a:rPr lang="zh-CN" altLang="en-US" sz="1800" dirty="0">
                <a:solidFill>
                  <a:schemeClr val="accent2"/>
                </a:solidFill>
                <a:latin typeface="百度综艺简体" panose="02010601030101010101" charset="-122"/>
                <a:ea typeface="百度综艺简体" panose="02010601030101010101" charset="-122"/>
                <a:sym typeface="Arial" panose="020B0604020202020204" pitchFamily="34" charset="0"/>
              </a:rPr>
              <a:t>排序概述</a:t>
            </a:r>
            <a:endParaRPr lang="zh-CN" sz="1800" dirty="0">
              <a:solidFill>
                <a:schemeClr val="accent2"/>
              </a:solidFill>
              <a:latin typeface="百度综艺简体" panose="02010601030101010101" charset="-122"/>
              <a:ea typeface="百度综艺简体" panose="02010601030101010101" charset="-122"/>
              <a:sym typeface="Arial" panose="020B0604020202020204" pitchFamily="34" charset="0"/>
            </a:endParaRPr>
          </a:p>
        </p:txBody>
      </p:sp>
      <p:sp>
        <p:nvSpPr>
          <p:cNvPr id="26" name="TextBox 5"/>
          <p:cNvSpPr txBox="1">
            <a:spLocks noChangeArrowheads="1"/>
          </p:cNvSpPr>
          <p:nvPr/>
        </p:nvSpPr>
        <p:spPr bwMode="auto">
          <a:xfrm>
            <a:off x="1241478" y="1605640"/>
            <a:ext cx="6661044" cy="46166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fontAlgn="auto">
              <a:lnSpc>
                <a:spcPct val="150000"/>
              </a:lnSpc>
            </a:pPr>
            <a:r>
              <a:rPr lang="zh-CN" altLang="en-US" sz="1600" dirty="0">
                <a:latin typeface="百度综艺简体" panose="02010601030101010101" charset="-122"/>
                <a:ea typeface="百度综艺简体" panose="02010601030101010101" charset="-122"/>
              </a:rPr>
              <a:t>　    待排序记录存放在计算机随机存储器中进行的排序过程，为</a:t>
            </a:r>
            <a:r>
              <a:rPr lang="zh-CN" altLang="en-US" sz="1600" dirty="0">
                <a:solidFill>
                  <a:schemeClr val="accent1"/>
                </a:solidFill>
                <a:latin typeface="百度综艺简体" panose="02010601030101010101" charset="-122"/>
                <a:ea typeface="百度综艺简体" panose="02010601030101010101" charset="-122"/>
              </a:rPr>
              <a:t>内部排序；</a:t>
            </a:r>
            <a:r>
              <a:rPr lang="zh-CN" altLang="en-US" sz="1600" dirty="0">
                <a:latin typeface="百度综艺简体" panose="02010601030101010101" charset="-122"/>
                <a:ea typeface="百度综艺简体" panose="02010601030101010101" charset="-122"/>
              </a:rPr>
              <a:t> 　</a:t>
            </a:r>
          </a:p>
        </p:txBody>
      </p:sp>
      <p:sp>
        <p:nvSpPr>
          <p:cNvPr id="37" name="AutoShape 3"/>
          <p:cNvSpPr>
            <a:spLocks noChangeAspect="1" noChangeArrowheads="1" noTextEdit="1"/>
          </p:cNvSpPr>
          <p:nvPr/>
        </p:nvSpPr>
        <p:spPr bwMode="auto">
          <a:xfrm>
            <a:off x="557288" y="744733"/>
            <a:ext cx="542665" cy="54122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endParaRPr lang="zh-CN" altLang="en-US" sz="1800"/>
          </a:p>
        </p:txBody>
      </p:sp>
      <p:sp>
        <p:nvSpPr>
          <p:cNvPr id="41" name="Text Placeholder 11"/>
          <p:cNvSpPr txBox="1"/>
          <p:nvPr/>
        </p:nvSpPr>
        <p:spPr>
          <a:xfrm>
            <a:off x="1053454" y="998339"/>
            <a:ext cx="3937290" cy="353695"/>
          </a:xfrm>
          <a:prstGeom prst="rect">
            <a:avLst/>
          </a:prstGeom>
        </p:spPr>
        <p:txBody>
          <a:bodyPr lIns="68538" tIns="34270" rIns="68538" bIns="34270"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1225">
              <a:buNone/>
            </a:pPr>
            <a:r>
              <a:rPr lang="zh-CN" altLang="en-US" sz="2000" dirty="0">
                <a:solidFill>
                  <a:schemeClr val="accent1"/>
                </a:solidFill>
                <a:latin typeface="百度综艺简体" panose="02010601030101010101" charset="-122"/>
                <a:ea typeface="百度综艺简体" panose="02010601030101010101" charset="-122"/>
                <a:sym typeface="Arial" panose="020B0604020202020204" pitchFamily="34" charset="0"/>
              </a:rPr>
              <a:t>二、内部排序和外部排序</a:t>
            </a:r>
          </a:p>
        </p:txBody>
      </p:sp>
      <p:grpSp>
        <p:nvGrpSpPr>
          <p:cNvPr id="21" name="组合 20"/>
          <p:cNvGrpSpPr/>
          <p:nvPr/>
        </p:nvGrpSpPr>
        <p:grpSpPr>
          <a:xfrm>
            <a:off x="2134235" y="483235"/>
            <a:ext cx="7002145" cy="109220"/>
            <a:chOff x="2140585" y="362585"/>
            <a:chExt cx="7002145" cy="109220"/>
          </a:xfrm>
        </p:grpSpPr>
        <p:cxnSp>
          <p:nvCxnSpPr>
            <p:cNvPr id="25" name="直接连接符 24"/>
            <p:cNvCxnSpPr/>
            <p:nvPr/>
          </p:nvCxnSpPr>
          <p:spPr>
            <a:xfrm>
              <a:off x="2140585" y="417195"/>
              <a:ext cx="6889750" cy="0"/>
            </a:xfrm>
            <a:prstGeom prst="line">
              <a:avLst/>
            </a:prstGeom>
            <a:ln w="22225">
              <a:solidFill>
                <a:srgbClr val="2A5BA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椭圆 26"/>
            <p:cNvSpPr/>
            <p:nvPr/>
          </p:nvSpPr>
          <p:spPr>
            <a:xfrm>
              <a:off x="9033510" y="362585"/>
              <a:ext cx="109220" cy="10922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3" name="TextBox 5"/>
          <p:cNvSpPr txBox="1">
            <a:spLocks noChangeArrowheads="1"/>
          </p:cNvSpPr>
          <p:nvPr/>
        </p:nvSpPr>
        <p:spPr bwMode="auto">
          <a:xfrm>
            <a:off x="1268730" y="2503248"/>
            <a:ext cx="6661044" cy="83099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fontAlgn="auto">
              <a:lnSpc>
                <a:spcPct val="150000"/>
              </a:lnSpc>
            </a:pPr>
            <a:r>
              <a:rPr lang="zh-CN" altLang="en-US" sz="1600" dirty="0" smtClean="0">
                <a:latin typeface="百度综艺简体" panose="02010601030101010101" charset="-122"/>
                <a:ea typeface="百度综艺简体" panose="02010601030101010101" charset="-122"/>
              </a:rPr>
              <a:t>       若</a:t>
            </a:r>
            <a:r>
              <a:rPr lang="zh-CN" altLang="en-US" sz="1600" dirty="0">
                <a:latin typeface="百度综艺简体" panose="02010601030101010101" charset="-122"/>
                <a:ea typeface="百度综艺简体" panose="02010601030101010101" charset="-122"/>
              </a:rPr>
              <a:t>待排序记录的数量很大，以至内存一次不能容纳全部记录，在排序过程中尚需对外存进行访问的排序过程，为</a:t>
            </a:r>
            <a:r>
              <a:rPr lang="zh-CN" altLang="en-US" sz="1600" dirty="0">
                <a:solidFill>
                  <a:schemeClr val="accent1"/>
                </a:solidFill>
                <a:latin typeface="百度综艺简体" panose="02010601030101010101" charset="-122"/>
                <a:ea typeface="百度综艺简体" panose="02010601030101010101" charset="-122"/>
              </a:rPr>
              <a:t>外部排序</a:t>
            </a:r>
            <a:r>
              <a:rPr lang="zh-CN" altLang="en-US" sz="1600" dirty="0">
                <a:latin typeface="百度综艺简体" panose="02010601030101010101" charset="-122"/>
                <a:ea typeface="百度综艺简体" panose="02010601030101010101" charset="-122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212978210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0"/>
    </mc:Choice>
    <mc:Fallback>
      <p:transition spd="slow" advClick="0" advTm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 tmFilter="0,0; .5, 1; 1, 1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750"/>
                            </p:stCondLst>
                            <p:childTnLst>
                              <p:par>
                                <p:cTn id="22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250"/>
                            </p:stCondLst>
                            <p:childTnLst>
                              <p:par>
                                <p:cTn id="2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250"/>
                            </p:stCondLst>
                            <p:childTnLst>
                              <p:par>
                                <p:cTn id="3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4250"/>
                            </p:stCondLst>
                            <p:childTnLst>
                              <p:par>
                                <p:cTn id="3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250"/>
                            </p:stCondLst>
                            <p:childTnLst>
                              <p:par>
                                <p:cTn id="4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utoUpdateAnimBg="0"/>
      <p:bldP spid="22" grpId="0" bldLvl="0" animBg="1" autoUpdateAnimBg="0"/>
      <p:bldP spid="31" grpId="0"/>
      <p:bldP spid="26" grpId="0"/>
      <p:bldP spid="41" grpId="0"/>
      <p:bldP spid="23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直接连接符 14"/>
          <p:cNvCxnSpPr>
            <a:cxnSpLocks noChangeShapeType="1"/>
          </p:cNvCxnSpPr>
          <p:nvPr/>
        </p:nvCxnSpPr>
        <p:spPr bwMode="auto">
          <a:xfrm>
            <a:off x="307340" y="537845"/>
            <a:ext cx="8829040" cy="0"/>
          </a:xfrm>
          <a:prstGeom prst="line">
            <a:avLst/>
          </a:prstGeom>
          <a:noFill/>
          <a:ln w="9525">
            <a:solidFill>
              <a:schemeClr val="accent1"/>
            </a:solidFill>
            <a:round/>
          </a:ln>
          <a:effectLst/>
        </p:spPr>
      </p:cxnSp>
      <p:sp>
        <p:nvSpPr>
          <p:cNvPr id="16" name="矩形 15"/>
          <p:cNvSpPr/>
          <p:nvPr/>
        </p:nvSpPr>
        <p:spPr>
          <a:xfrm>
            <a:off x="1411" y="5240"/>
            <a:ext cx="9141179" cy="5134013"/>
          </a:xfrm>
          <a:prstGeom prst="rect">
            <a:avLst/>
          </a:prstGeom>
          <a:solidFill>
            <a:srgbClr val="F6F6F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zh-CN" altLang="en-US" sz="1800" dirty="0">
              <a:solidFill>
                <a:schemeClr val="accent2"/>
              </a:solidFill>
              <a:effectLst/>
              <a:latin typeface="百度综艺简体" panose="02010601030101010101" charset="-122"/>
              <a:ea typeface="百度综艺简体" panose="02010601030101010101" charset="-122"/>
              <a:sym typeface="+mn-ea"/>
            </a:endParaRPr>
          </a:p>
        </p:txBody>
      </p:sp>
      <p:sp>
        <p:nvSpPr>
          <p:cNvPr id="19" name="TextBox 5"/>
          <p:cNvSpPr txBox="1">
            <a:spLocks noChangeArrowheads="1"/>
          </p:cNvSpPr>
          <p:nvPr/>
        </p:nvSpPr>
        <p:spPr bwMode="auto">
          <a:xfrm>
            <a:off x="234950" y="203835"/>
            <a:ext cx="2067560" cy="4603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>
              <a:buFontTx/>
              <a:buNone/>
            </a:pPr>
            <a:r>
              <a:rPr lang="zh-CN" altLang="en-US" sz="2400" dirty="0">
                <a:solidFill>
                  <a:schemeClr val="accent1"/>
                </a:solidFill>
                <a:latin typeface="百度综艺简体" panose="02010601030101010101" charset="-122"/>
                <a:ea typeface="百度综艺简体" panose="02010601030101010101" charset="-122"/>
              </a:rPr>
              <a:t>《数据结构》</a:t>
            </a:r>
          </a:p>
        </p:txBody>
      </p:sp>
      <p:sp>
        <p:nvSpPr>
          <p:cNvPr id="22" name="矩形 21"/>
          <p:cNvSpPr>
            <a:spLocks noChangeArrowheads="1"/>
          </p:cNvSpPr>
          <p:nvPr/>
        </p:nvSpPr>
        <p:spPr bwMode="auto">
          <a:xfrm>
            <a:off x="1412" y="217303"/>
            <a:ext cx="401225" cy="401225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</a:ln>
        </p:spPr>
        <p:txBody>
          <a:bodyPr/>
          <a:lstStyle/>
          <a:p>
            <a:pPr>
              <a:buFontTx/>
              <a:buNone/>
            </a:pPr>
            <a:endParaRPr lang="zh-CN" altLang="en-US" sz="1800"/>
          </a:p>
        </p:txBody>
      </p:sp>
      <p:sp>
        <p:nvSpPr>
          <p:cNvPr id="31" name="Text Placeholder 11"/>
          <p:cNvSpPr txBox="1"/>
          <p:nvPr/>
        </p:nvSpPr>
        <p:spPr>
          <a:xfrm>
            <a:off x="2302510" y="241067"/>
            <a:ext cx="2805430" cy="353695"/>
          </a:xfrm>
          <a:prstGeom prst="rect">
            <a:avLst/>
          </a:prstGeom>
        </p:spPr>
        <p:txBody>
          <a:bodyPr lIns="68538" tIns="34270" rIns="68538" bIns="34270"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1225">
              <a:buNone/>
            </a:pPr>
            <a:r>
              <a:rPr lang="zh-CN" altLang="en-US" sz="1800" dirty="0">
                <a:solidFill>
                  <a:schemeClr val="accent2"/>
                </a:solidFill>
                <a:latin typeface="百度综艺简体" panose="02010601030101010101" charset="-122"/>
                <a:ea typeface="百度综艺简体" panose="02010601030101010101" charset="-122"/>
                <a:sym typeface="Arial" panose="020B0604020202020204" pitchFamily="34" charset="0"/>
              </a:rPr>
              <a:t>排序概述</a:t>
            </a:r>
            <a:endParaRPr lang="zh-CN" sz="1800" dirty="0">
              <a:solidFill>
                <a:schemeClr val="accent2"/>
              </a:solidFill>
              <a:latin typeface="百度综艺简体" panose="02010601030101010101" charset="-122"/>
              <a:ea typeface="百度综艺简体" panose="02010601030101010101" charset="-122"/>
              <a:sym typeface="Arial" panose="020B0604020202020204" pitchFamily="34" charset="0"/>
            </a:endParaRPr>
          </a:p>
        </p:txBody>
      </p:sp>
      <p:sp>
        <p:nvSpPr>
          <p:cNvPr id="26" name="TextBox 5"/>
          <p:cNvSpPr txBox="1">
            <a:spLocks noChangeArrowheads="1"/>
          </p:cNvSpPr>
          <p:nvPr/>
        </p:nvSpPr>
        <p:spPr bwMode="auto">
          <a:xfrm>
            <a:off x="1241478" y="1605640"/>
            <a:ext cx="6661044" cy="42178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fontAlgn="auto">
              <a:lnSpc>
                <a:spcPct val="150000"/>
              </a:lnSpc>
            </a:pPr>
            <a:r>
              <a:rPr lang="zh-CN" altLang="en-US" sz="1600" dirty="0">
                <a:latin typeface="百度综艺简体" panose="02010601030101010101" charset="-122"/>
                <a:ea typeface="百度综艺简体" panose="02010601030101010101" charset="-122"/>
              </a:rPr>
              <a:t>　　内部排序的过程是一个逐步扩大记录的有序序列长度的过程。</a:t>
            </a:r>
          </a:p>
        </p:txBody>
      </p:sp>
      <p:sp>
        <p:nvSpPr>
          <p:cNvPr id="37" name="AutoShape 3"/>
          <p:cNvSpPr>
            <a:spLocks noChangeAspect="1" noChangeArrowheads="1" noTextEdit="1"/>
          </p:cNvSpPr>
          <p:nvPr/>
        </p:nvSpPr>
        <p:spPr bwMode="auto">
          <a:xfrm>
            <a:off x="557288" y="744733"/>
            <a:ext cx="542665" cy="54122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endParaRPr lang="zh-CN" altLang="en-US" sz="1800"/>
          </a:p>
        </p:txBody>
      </p:sp>
      <p:sp>
        <p:nvSpPr>
          <p:cNvPr id="41" name="Text Placeholder 11"/>
          <p:cNvSpPr txBox="1"/>
          <p:nvPr/>
        </p:nvSpPr>
        <p:spPr>
          <a:xfrm>
            <a:off x="1053454" y="998339"/>
            <a:ext cx="3937290" cy="353695"/>
          </a:xfrm>
          <a:prstGeom prst="rect">
            <a:avLst/>
          </a:prstGeom>
        </p:spPr>
        <p:txBody>
          <a:bodyPr lIns="68538" tIns="34270" rIns="68538" bIns="34270"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1225">
              <a:buNone/>
            </a:pPr>
            <a:r>
              <a:rPr lang="zh-CN" altLang="en-US" sz="2000" dirty="0">
                <a:solidFill>
                  <a:schemeClr val="accent1"/>
                </a:solidFill>
                <a:latin typeface="百度综艺简体" panose="02010601030101010101" charset="-122"/>
                <a:ea typeface="百度综艺简体" panose="02010601030101010101" charset="-122"/>
                <a:sym typeface="Arial" panose="020B0604020202020204" pitchFamily="34" charset="0"/>
              </a:rPr>
              <a:t>三、内部排序的方法</a:t>
            </a:r>
          </a:p>
        </p:txBody>
      </p:sp>
      <p:grpSp>
        <p:nvGrpSpPr>
          <p:cNvPr id="21" name="组合 20"/>
          <p:cNvGrpSpPr/>
          <p:nvPr/>
        </p:nvGrpSpPr>
        <p:grpSpPr>
          <a:xfrm>
            <a:off x="2134235" y="483235"/>
            <a:ext cx="7002145" cy="109220"/>
            <a:chOff x="2140585" y="362585"/>
            <a:chExt cx="7002145" cy="109220"/>
          </a:xfrm>
        </p:grpSpPr>
        <p:cxnSp>
          <p:nvCxnSpPr>
            <p:cNvPr id="25" name="直接连接符 24"/>
            <p:cNvCxnSpPr/>
            <p:nvPr/>
          </p:nvCxnSpPr>
          <p:spPr>
            <a:xfrm>
              <a:off x="2140585" y="417195"/>
              <a:ext cx="6889750" cy="0"/>
            </a:xfrm>
            <a:prstGeom prst="line">
              <a:avLst/>
            </a:prstGeom>
            <a:ln w="22225">
              <a:solidFill>
                <a:srgbClr val="2A5BA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椭圆 26"/>
            <p:cNvSpPr/>
            <p:nvPr/>
          </p:nvSpPr>
          <p:spPr>
            <a:xfrm>
              <a:off x="9033510" y="362585"/>
              <a:ext cx="109220" cy="10922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4" name="Text Box 4"/>
          <p:cNvSpPr txBox="1">
            <a:spLocks noChangeArrowheads="1"/>
          </p:cNvSpPr>
          <p:nvPr/>
        </p:nvSpPr>
        <p:spPr bwMode="auto">
          <a:xfrm>
            <a:off x="5351640" y="3038300"/>
            <a:ext cx="2743200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000" b="1" dirty="0">
                <a:solidFill>
                  <a:srgbClr val="800080"/>
                </a:solidFill>
                <a:latin typeface="百度综艺简体" panose="02010601030101010101" pitchFamily="2" charset="-122"/>
                <a:ea typeface="百度综艺简体" panose="02010601030101010101" pitchFamily="2" charset="-122"/>
              </a:rPr>
              <a:t>经过一趟排序</a:t>
            </a:r>
            <a:endParaRPr lang="zh-CN" altLang="en-US" sz="2000" dirty="0">
              <a:latin typeface="百度综艺简体" panose="02010601030101010101" pitchFamily="2" charset="-122"/>
              <a:ea typeface="百度综艺简体" panose="02010601030101010101" pitchFamily="2" charset="-122"/>
            </a:endParaRPr>
          </a:p>
        </p:txBody>
      </p:sp>
      <p:sp>
        <p:nvSpPr>
          <p:cNvPr id="17" name="Rectangle 5"/>
          <p:cNvSpPr>
            <a:spLocks noChangeArrowheads="1"/>
          </p:cNvSpPr>
          <p:nvPr/>
        </p:nvSpPr>
        <p:spPr bwMode="auto">
          <a:xfrm>
            <a:off x="1959428" y="2345431"/>
            <a:ext cx="1953209" cy="51908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000">
                <a:ea typeface="隶书" panose="02010509060101010101" pitchFamily="49" charset="-122"/>
              </a:rPr>
              <a:t>有序序列区</a:t>
            </a:r>
            <a:endParaRPr lang="zh-CN" altLang="en-US" sz="2000"/>
          </a:p>
        </p:txBody>
      </p:sp>
      <p:sp>
        <p:nvSpPr>
          <p:cNvPr id="18" name="Rectangle 6" descr="棚架"/>
          <p:cNvSpPr>
            <a:spLocks noChangeArrowheads="1"/>
          </p:cNvSpPr>
          <p:nvPr/>
        </p:nvSpPr>
        <p:spPr bwMode="auto">
          <a:xfrm>
            <a:off x="3922940" y="2345431"/>
            <a:ext cx="3136972" cy="519080"/>
          </a:xfrm>
          <a:prstGeom prst="rect">
            <a:avLst/>
          </a:prstGeom>
          <a:blipFill dpi="0" rotWithShape="0">
            <a:blip r:embed="rId3"/>
            <a:srcRect/>
            <a:tile tx="0" ty="0" sx="100000" sy="100000" flip="none" algn="tl"/>
          </a:blip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000">
                <a:latin typeface="隶书" panose="02010509060101010101" pitchFamily="49" charset="-122"/>
                <a:ea typeface="隶书" panose="02010509060101010101" pitchFamily="49" charset="-122"/>
              </a:rPr>
              <a:t>无 序 序 列 区</a:t>
            </a:r>
            <a:endParaRPr lang="zh-CN" altLang="en-US" sz="2000"/>
          </a:p>
        </p:txBody>
      </p:sp>
      <p:sp>
        <p:nvSpPr>
          <p:cNvPr id="24" name="Rectangle 8" descr="棚架"/>
          <p:cNvSpPr>
            <a:spLocks noChangeArrowheads="1"/>
          </p:cNvSpPr>
          <p:nvPr/>
        </p:nvSpPr>
        <p:spPr bwMode="auto">
          <a:xfrm>
            <a:off x="4228323" y="3896424"/>
            <a:ext cx="2831590" cy="474643"/>
          </a:xfrm>
          <a:prstGeom prst="rect">
            <a:avLst/>
          </a:prstGeom>
          <a:blipFill dpi="0" rotWithShape="0">
            <a:blip r:embed="rId3"/>
            <a:srcRect/>
            <a:tile tx="0" ty="0" sx="100000" sy="100000" flip="none" algn="tl"/>
          </a:blip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000" dirty="0">
                <a:latin typeface="隶书" panose="02010509060101010101" pitchFamily="49" charset="-122"/>
                <a:ea typeface="隶书" panose="02010509060101010101" pitchFamily="49" charset="-122"/>
              </a:rPr>
              <a:t>无 序 序 列 区</a:t>
            </a:r>
            <a:endParaRPr lang="zh-CN" altLang="en-US" sz="2000" dirty="0"/>
          </a:p>
        </p:txBody>
      </p:sp>
      <p:sp>
        <p:nvSpPr>
          <p:cNvPr id="29" name="Line 10"/>
          <p:cNvSpPr>
            <a:spLocks noChangeShapeType="1"/>
          </p:cNvSpPr>
          <p:nvPr/>
        </p:nvSpPr>
        <p:spPr bwMode="auto">
          <a:xfrm>
            <a:off x="3912637" y="2864511"/>
            <a:ext cx="0" cy="1295400"/>
          </a:xfrm>
          <a:prstGeom prst="line">
            <a:avLst/>
          </a:prstGeom>
          <a:noFill/>
          <a:ln w="9525" cap="rnd">
            <a:solidFill>
              <a:srgbClr val="003366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2000"/>
          </a:p>
        </p:txBody>
      </p:sp>
      <p:sp>
        <p:nvSpPr>
          <p:cNvPr id="28" name="AutoShape 9"/>
          <p:cNvSpPr>
            <a:spLocks noChangeArrowheads="1"/>
          </p:cNvSpPr>
          <p:nvPr/>
        </p:nvSpPr>
        <p:spPr bwMode="auto">
          <a:xfrm>
            <a:off x="4876023" y="2923268"/>
            <a:ext cx="533400" cy="914400"/>
          </a:xfrm>
          <a:prstGeom prst="downArrow">
            <a:avLst>
              <a:gd name="adj1" fmla="val 50000"/>
              <a:gd name="adj2" fmla="val 42857"/>
            </a:avLst>
          </a:prstGeom>
          <a:solidFill>
            <a:schemeClr val="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000"/>
          </a:p>
        </p:txBody>
      </p:sp>
      <p:sp>
        <p:nvSpPr>
          <p:cNvPr id="30" name="Line 11"/>
          <p:cNvSpPr>
            <a:spLocks noChangeShapeType="1"/>
          </p:cNvSpPr>
          <p:nvPr/>
        </p:nvSpPr>
        <p:spPr bwMode="auto">
          <a:xfrm>
            <a:off x="4228322" y="2864511"/>
            <a:ext cx="0" cy="1295400"/>
          </a:xfrm>
          <a:prstGeom prst="line">
            <a:avLst/>
          </a:prstGeom>
          <a:noFill/>
          <a:ln w="9525" cap="rnd">
            <a:solidFill>
              <a:srgbClr val="003366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2000"/>
          </a:p>
        </p:txBody>
      </p:sp>
      <p:sp>
        <p:nvSpPr>
          <p:cNvPr id="20" name="Rectangle 7"/>
          <p:cNvSpPr>
            <a:spLocks noChangeArrowheads="1"/>
          </p:cNvSpPr>
          <p:nvPr/>
        </p:nvSpPr>
        <p:spPr bwMode="auto">
          <a:xfrm>
            <a:off x="1959427" y="3896424"/>
            <a:ext cx="2268895" cy="474644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000" dirty="0">
                <a:ea typeface="隶书" panose="02010509060101010101" pitchFamily="49" charset="-122"/>
              </a:rPr>
              <a:t>有序序列区</a:t>
            </a:r>
            <a:endParaRPr lang="zh-CN" altLang="en-US" sz="2000" dirty="0"/>
          </a:p>
        </p:txBody>
      </p:sp>
    </p:spTree>
    <p:extLst>
      <p:ext uri="{BB962C8B-B14F-4D97-AF65-F5344CB8AC3E}">
        <p14:creationId xmlns:p14="http://schemas.microsoft.com/office/powerpoint/2010/main" val="78646062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0"/>
    </mc:Choice>
    <mc:Fallback>
      <p:transition spd="slow" advClick="0" advTm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 tmFilter="0,0; .5, 1; 1, 1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750"/>
                            </p:stCondLst>
                            <p:childTnLst>
                              <p:par>
                                <p:cTn id="22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250"/>
                            </p:stCondLst>
                            <p:childTnLst>
                              <p:par>
                                <p:cTn id="2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250"/>
                            </p:stCondLst>
                            <p:childTnLst>
                              <p:par>
                                <p:cTn id="3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4250"/>
                            </p:stCondLst>
                            <p:childTnLst>
                              <p:par>
                                <p:cTn id="3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500"/>
                            </p:stCondLst>
                            <p:childTnLst>
                              <p:par>
                                <p:cTn id="5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5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500"/>
                            </p:stCondLst>
                            <p:childTnLst>
                              <p:par>
                                <p:cTn id="59" presetID="17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500"/>
                            </p:stCondLst>
                            <p:childTnLst>
                              <p:par>
                                <p:cTn id="7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1000"/>
                            </p:stCondLst>
                            <p:childTnLst>
                              <p:par>
                                <p:cTn id="75" presetID="17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>
                            <p:stCondLst>
                              <p:cond delay="1500"/>
                            </p:stCondLst>
                            <p:childTnLst>
                              <p:par>
                                <p:cTn id="82" presetID="17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4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utoUpdateAnimBg="0"/>
      <p:bldP spid="22" grpId="0" bldLvl="0" animBg="1" autoUpdateAnimBg="0"/>
      <p:bldP spid="31" grpId="0"/>
      <p:bldP spid="26" grpId="0"/>
      <p:bldP spid="41" grpId="0"/>
      <p:bldP spid="14" grpId="0" autoUpdateAnimBg="0"/>
      <p:bldP spid="17" grpId="0" animBg="1" autoUpdateAnimBg="0"/>
      <p:bldP spid="18" grpId="0" animBg="1" autoUpdateAnimBg="0"/>
      <p:bldP spid="24" grpId="0" animBg="1" autoUpdateAnimBg="0"/>
      <p:bldP spid="29" grpId="0" animBg="1"/>
      <p:bldP spid="28" grpId="0" animBg="1"/>
      <p:bldP spid="30" grpId="0" animBg="1"/>
      <p:bldP spid="20" grpId="0" animBg="1" autoUpdateAnimBg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直接连接符 14"/>
          <p:cNvCxnSpPr>
            <a:cxnSpLocks noChangeShapeType="1"/>
          </p:cNvCxnSpPr>
          <p:nvPr/>
        </p:nvCxnSpPr>
        <p:spPr bwMode="auto">
          <a:xfrm>
            <a:off x="307340" y="537845"/>
            <a:ext cx="8829040" cy="0"/>
          </a:xfrm>
          <a:prstGeom prst="line">
            <a:avLst/>
          </a:prstGeom>
          <a:noFill/>
          <a:ln w="9525">
            <a:solidFill>
              <a:schemeClr val="accent1"/>
            </a:solidFill>
            <a:round/>
          </a:ln>
          <a:effectLst/>
        </p:spPr>
      </p:cxnSp>
      <p:sp>
        <p:nvSpPr>
          <p:cNvPr id="16" name="矩形 15"/>
          <p:cNvSpPr/>
          <p:nvPr/>
        </p:nvSpPr>
        <p:spPr>
          <a:xfrm>
            <a:off x="1411" y="5240"/>
            <a:ext cx="9141179" cy="5134013"/>
          </a:xfrm>
          <a:prstGeom prst="rect">
            <a:avLst/>
          </a:prstGeom>
          <a:solidFill>
            <a:srgbClr val="F6F6F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zh-CN" altLang="en-US" sz="1800" dirty="0">
              <a:solidFill>
                <a:schemeClr val="accent2"/>
              </a:solidFill>
              <a:effectLst/>
              <a:latin typeface="百度综艺简体" panose="02010601030101010101" charset="-122"/>
              <a:ea typeface="百度综艺简体" panose="02010601030101010101" charset="-122"/>
              <a:sym typeface="+mn-ea"/>
            </a:endParaRPr>
          </a:p>
        </p:txBody>
      </p:sp>
      <p:sp>
        <p:nvSpPr>
          <p:cNvPr id="19" name="TextBox 5"/>
          <p:cNvSpPr txBox="1">
            <a:spLocks noChangeArrowheads="1"/>
          </p:cNvSpPr>
          <p:nvPr/>
        </p:nvSpPr>
        <p:spPr bwMode="auto">
          <a:xfrm>
            <a:off x="234950" y="203835"/>
            <a:ext cx="2067560" cy="4603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>
              <a:buFontTx/>
              <a:buNone/>
            </a:pPr>
            <a:r>
              <a:rPr lang="zh-CN" altLang="en-US" sz="2400" dirty="0">
                <a:solidFill>
                  <a:schemeClr val="accent1"/>
                </a:solidFill>
                <a:latin typeface="百度综艺简体" panose="02010601030101010101" charset="-122"/>
                <a:ea typeface="百度综艺简体" panose="02010601030101010101" charset="-122"/>
              </a:rPr>
              <a:t>《数据结构》</a:t>
            </a:r>
          </a:p>
        </p:txBody>
      </p:sp>
      <p:sp>
        <p:nvSpPr>
          <p:cNvPr id="22" name="矩形 21"/>
          <p:cNvSpPr>
            <a:spLocks noChangeArrowheads="1"/>
          </p:cNvSpPr>
          <p:nvPr/>
        </p:nvSpPr>
        <p:spPr bwMode="auto">
          <a:xfrm>
            <a:off x="1412" y="217303"/>
            <a:ext cx="401225" cy="401225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</a:ln>
        </p:spPr>
        <p:txBody>
          <a:bodyPr/>
          <a:lstStyle/>
          <a:p>
            <a:pPr>
              <a:buFontTx/>
              <a:buNone/>
            </a:pPr>
            <a:endParaRPr lang="zh-CN" altLang="en-US" sz="1800"/>
          </a:p>
        </p:txBody>
      </p:sp>
      <p:sp>
        <p:nvSpPr>
          <p:cNvPr id="31" name="Text Placeholder 11"/>
          <p:cNvSpPr txBox="1"/>
          <p:nvPr/>
        </p:nvSpPr>
        <p:spPr>
          <a:xfrm>
            <a:off x="2302510" y="241067"/>
            <a:ext cx="2805430" cy="353695"/>
          </a:xfrm>
          <a:prstGeom prst="rect">
            <a:avLst/>
          </a:prstGeom>
        </p:spPr>
        <p:txBody>
          <a:bodyPr lIns="68538" tIns="34270" rIns="68538" bIns="34270"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1225">
              <a:buNone/>
            </a:pPr>
            <a:r>
              <a:rPr lang="zh-CN" altLang="en-US" sz="1800" dirty="0">
                <a:solidFill>
                  <a:schemeClr val="accent2"/>
                </a:solidFill>
                <a:latin typeface="百度综艺简体" panose="02010601030101010101" charset="-122"/>
                <a:ea typeface="百度综艺简体" panose="02010601030101010101" charset="-122"/>
                <a:sym typeface="Arial" panose="020B0604020202020204" pitchFamily="34" charset="0"/>
              </a:rPr>
              <a:t>排序概述</a:t>
            </a:r>
            <a:endParaRPr lang="zh-CN" sz="1800" dirty="0">
              <a:solidFill>
                <a:schemeClr val="accent2"/>
              </a:solidFill>
              <a:latin typeface="百度综艺简体" panose="02010601030101010101" charset="-122"/>
              <a:ea typeface="百度综艺简体" panose="02010601030101010101" charset="-122"/>
              <a:sym typeface="Arial" panose="020B0604020202020204" pitchFamily="34" charset="0"/>
            </a:endParaRPr>
          </a:p>
        </p:txBody>
      </p:sp>
      <p:sp>
        <p:nvSpPr>
          <p:cNvPr id="26" name="TextBox 5"/>
          <p:cNvSpPr txBox="1">
            <a:spLocks noChangeArrowheads="1"/>
          </p:cNvSpPr>
          <p:nvPr/>
        </p:nvSpPr>
        <p:spPr bwMode="auto">
          <a:xfrm>
            <a:off x="1578924" y="3373286"/>
            <a:ext cx="6661044" cy="143116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marL="285750" indent="-285750" fontAlgn="auto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CN" altLang="en-US" sz="1600" dirty="0">
                <a:latin typeface="百度综艺简体" panose="02010601030101010101" charset="-122"/>
                <a:ea typeface="百度综艺简体" panose="02010601030101010101" charset="-122"/>
              </a:rPr>
              <a:t>按排序过程所需的工作量</a:t>
            </a:r>
          </a:p>
          <a:p>
            <a:pPr fontAlgn="auto">
              <a:lnSpc>
                <a:spcPct val="150000"/>
              </a:lnSpc>
            </a:pPr>
            <a:r>
              <a:rPr lang="en-US" altLang="zh-CN" sz="1400" dirty="0" smtClean="0">
                <a:latin typeface="百度综艺简体" panose="02010601030101010101" charset="-122"/>
                <a:ea typeface="百度综艺简体" panose="02010601030101010101" charset="-122"/>
              </a:rPr>
              <a:t>	—</a:t>
            </a:r>
            <a:r>
              <a:rPr lang="zh-CN" altLang="en-US" sz="1400" dirty="0">
                <a:latin typeface="百度综艺简体" panose="02010601030101010101" charset="-122"/>
                <a:ea typeface="百度综艺简体" panose="02010601030101010101" charset="-122"/>
              </a:rPr>
              <a:t>简单的排序方法，其时间复杂度为</a:t>
            </a:r>
            <a:r>
              <a:rPr lang="en-US" altLang="zh-CN" sz="1400" dirty="0">
                <a:latin typeface="百度综艺简体" panose="02010601030101010101" charset="-122"/>
                <a:ea typeface="百度综艺简体" panose="02010601030101010101" charset="-122"/>
              </a:rPr>
              <a:t>O(n2)</a:t>
            </a:r>
          </a:p>
          <a:p>
            <a:pPr fontAlgn="auto">
              <a:lnSpc>
                <a:spcPct val="150000"/>
              </a:lnSpc>
            </a:pPr>
            <a:r>
              <a:rPr lang="en-US" altLang="zh-CN" sz="1400" dirty="0" smtClean="0">
                <a:latin typeface="百度综艺简体" panose="02010601030101010101" charset="-122"/>
                <a:ea typeface="百度综艺简体" panose="02010601030101010101" charset="-122"/>
              </a:rPr>
              <a:t>	—</a:t>
            </a:r>
            <a:r>
              <a:rPr lang="zh-CN" altLang="en-US" sz="1400" dirty="0">
                <a:latin typeface="百度综艺简体" panose="02010601030101010101" charset="-122"/>
                <a:ea typeface="百度综艺简体" panose="02010601030101010101" charset="-122"/>
              </a:rPr>
              <a:t>先进的排序方法，其时间复杂度为</a:t>
            </a:r>
            <a:r>
              <a:rPr lang="en-US" altLang="zh-CN" sz="1400" dirty="0">
                <a:latin typeface="百度综艺简体" panose="02010601030101010101" charset="-122"/>
                <a:ea typeface="百度综艺简体" panose="02010601030101010101" charset="-122"/>
              </a:rPr>
              <a:t>O(</a:t>
            </a:r>
            <a:r>
              <a:rPr lang="en-US" altLang="zh-CN" sz="1400" dirty="0" err="1">
                <a:latin typeface="百度综艺简体" panose="02010601030101010101" charset="-122"/>
                <a:ea typeface="百度综艺简体" panose="02010601030101010101" charset="-122"/>
              </a:rPr>
              <a:t>nlogn</a:t>
            </a:r>
            <a:r>
              <a:rPr lang="en-US" altLang="zh-CN" sz="1400" dirty="0">
                <a:latin typeface="百度综艺简体" panose="02010601030101010101" charset="-122"/>
                <a:ea typeface="百度综艺简体" panose="02010601030101010101" charset="-122"/>
              </a:rPr>
              <a:t>)</a:t>
            </a:r>
          </a:p>
          <a:p>
            <a:pPr fontAlgn="auto">
              <a:lnSpc>
                <a:spcPct val="150000"/>
              </a:lnSpc>
            </a:pPr>
            <a:r>
              <a:rPr lang="en-US" altLang="zh-CN" sz="1400" dirty="0" smtClean="0">
                <a:latin typeface="百度综艺简体" panose="02010601030101010101" charset="-122"/>
                <a:ea typeface="百度综艺简体" panose="02010601030101010101" charset="-122"/>
              </a:rPr>
              <a:t>	—</a:t>
            </a:r>
            <a:r>
              <a:rPr lang="zh-CN" altLang="en-US" sz="1400" dirty="0">
                <a:latin typeface="百度综艺简体" panose="02010601030101010101" charset="-122"/>
                <a:ea typeface="百度综艺简体" panose="02010601030101010101" charset="-122"/>
              </a:rPr>
              <a:t>基数排序，其时间复杂度为</a:t>
            </a:r>
            <a:r>
              <a:rPr lang="en-US" altLang="zh-CN" sz="1400" dirty="0">
                <a:latin typeface="百度综艺简体" panose="02010601030101010101" charset="-122"/>
                <a:ea typeface="百度综艺简体" panose="02010601030101010101" charset="-122"/>
              </a:rPr>
              <a:t>O(</a:t>
            </a:r>
            <a:r>
              <a:rPr lang="en-US" altLang="zh-CN" sz="1400" dirty="0" err="1">
                <a:latin typeface="百度综艺简体" panose="02010601030101010101" charset="-122"/>
                <a:ea typeface="百度综艺简体" panose="02010601030101010101" charset="-122"/>
              </a:rPr>
              <a:t>d.n</a:t>
            </a:r>
            <a:r>
              <a:rPr lang="en-US" altLang="zh-CN" sz="1400" dirty="0" smtClean="0">
                <a:latin typeface="百度综艺简体" panose="02010601030101010101" charset="-122"/>
                <a:ea typeface="百度综艺简体" panose="02010601030101010101" charset="-122"/>
              </a:rPr>
              <a:t>)</a:t>
            </a:r>
            <a:endParaRPr lang="en-US" altLang="zh-CN" sz="1400" dirty="0">
              <a:latin typeface="百度综艺简体" panose="02010601030101010101" charset="-122"/>
              <a:ea typeface="百度综艺简体" panose="02010601030101010101" charset="-122"/>
            </a:endParaRPr>
          </a:p>
        </p:txBody>
      </p:sp>
      <p:sp>
        <p:nvSpPr>
          <p:cNvPr id="37" name="AutoShape 3"/>
          <p:cNvSpPr>
            <a:spLocks noChangeAspect="1" noChangeArrowheads="1" noTextEdit="1"/>
          </p:cNvSpPr>
          <p:nvPr/>
        </p:nvSpPr>
        <p:spPr bwMode="auto">
          <a:xfrm>
            <a:off x="557288" y="744733"/>
            <a:ext cx="542665" cy="54122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endParaRPr lang="zh-CN" altLang="en-US" sz="1800"/>
          </a:p>
        </p:txBody>
      </p:sp>
      <p:grpSp>
        <p:nvGrpSpPr>
          <p:cNvPr id="21" name="组合 20"/>
          <p:cNvGrpSpPr/>
          <p:nvPr/>
        </p:nvGrpSpPr>
        <p:grpSpPr>
          <a:xfrm>
            <a:off x="2134235" y="483235"/>
            <a:ext cx="7002145" cy="109220"/>
            <a:chOff x="2140585" y="362585"/>
            <a:chExt cx="7002145" cy="109220"/>
          </a:xfrm>
        </p:grpSpPr>
        <p:cxnSp>
          <p:nvCxnSpPr>
            <p:cNvPr id="25" name="直接连接符 24"/>
            <p:cNvCxnSpPr/>
            <p:nvPr/>
          </p:nvCxnSpPr>
          <p:spPr>
            <a:xfrm>
              <a:off x="2140585" y="417195"/>
              <a:ext cx="6889750" cy="0"/>
            </a:xfrm>
            <a:prstGeom prst="line">
              <a:avLst/>
            </a:prstGeom>
            <a:ln w="22225">
              <a:solidFill>
                <a:srgbClr val="2A5BA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椭圆 26"/>
            <p:cNvSpPr/>
            <p:nvPr/>
          </p:nvSpPr>
          <p:spPr>
            <a:xfrm>
              <a:off x="9033510" y="362585"/>
              <a:ext cx="109220" cy="10922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4" name="TextBox 5"/>
          <p:cNvSpPr txBox="1">
            <a:spLocks noChangeArrowheads="1"/>
          </p:cNvSpPr>
          <p:nvPr/>
        </p:nvSpPr>
        <p:spPr bwMode="auto">
          <a:xfrm>
            <a:off x="1655830" y="998220"/>
            <a:ext cx="6661044" cy="207749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marL="285750" indent="-285750" fontAlgn="auto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CN" altLang="en-US" sz="1600" dirty="0">
                <a:latin typeface="百度综艺简体" panose="02010601030101010101" charset="-122"/>
                <a:ea typeface="百度综艺简体" panose="02010601030101010101" charset="-122"/>
              </a:rPr>
              <a:t>按排序过程中依据的不同原则</a:t>
            </a:r>
          </a:p>
          <a:p>
            <a:pPr fontAlgn="auto">
              <a:lnSpc>
                <a:spcPct val="150000"/>
              </a:lnSpc>
            </a:pPr>
            <a:r>
              <a:rPr lang="en-US" altLang="zh-CN" sz="1400" dirty="0" smtClean="0">
                <a:latin typeface="百度综艺简体" panose="02010601030101010101" charset="-122"/>
                <a:ea typeface="百度综艺简体" panose="02010601030101010101" charset="-122"/>
              </a:rPr>
              <a:t>	—</a:t>
            </a:r>
            <a:r>
              <a:rPr lang="zh-CN" altLang="en-US" sz="1400" dirty="0" smtClean="0">
                <a:latin typeface="百度综艺简体" panose="02010601030101010101" charset="-122"/>
                <a:ea typeface="百度综艺简体" panose="02010601030101010101" charset="-122"/>
              </a:rPr>
              <a:t>插入排序</a:t>
            </a:r>
            <a:endParaRPr lang="zh-CN" altLang="en-US" sz="1400" dirty="0">
              <a:latin typeface="百度综艺简体" panose="02010601030101010101" charset="-122"/>
              <a:ea typeface="百度综艺简体" panose="02010601030101010101" charset="-122"/>
            </a:endParaRPr>
          </a:p>
          <a:p>
            <a:pPr fontAlgn="auto">
              <a:lnSpc>
                <a:spcPct val="150000"/>
              </a:lnSpc>
            </a:pPr>
            <a:r>
              <a:rPr lang="en-US" altLang="zh-CN" sz="1400" dirty="0" smtClean="0">
                <a:latin typeface="百度综艺简体" panose="02010601030101010101" charset="-122"/>
                <a:ea typeface="百度综艺简体" panose="02010601030101010101" charset="-122"/>
              </a:rPr>
              <a:t>	—</a:t>
            </a:r>
            <a:r>
              <a:rPr lang="zh-CN" altLang="en-US" sz="1400" dirty="0" smtClean="0">
                <a:latin typeface="百度综艺简体" panose="02010601030101010101" charset="-122"/>
                <a:ea typeface="百度综艺简体" panose="02010601030101010101" charset="-122"/>
              </a:rPr>
              <a:t>交换排序</a:t>
            </a:r>
            <a:endParaRPr lang="zh-CN" altLang="en-US" sz="1400" dirty="0">
              <a:latin typeface="百度综艺简体" panose="02010601030101010101" charset="-122"/>
              <a:ea typeface="百度综艺简体" panose="02010601030101010101" charset="-122"/>
            </a:endParaRPr>
          </a:p>
          <a:p>
            <a:pPr fontAlgn="auto">
              <a:lnSpc>
                <a:spcPct val="150000"/>
              </a:lnSpc>
            </a:pPr>
            <a:r>
              <a:rPr lang="en-US" altLang="zh-CN" sz="1400" dirty="0" smtClean="0">
                <a:latin typeface="百度综艺简体" panose="02010601030101010101" charset="-122"/>
                <a:ea typeface="百度综艺简体" panose="02010601030101010101" charset="-122"/>
              </a:rPr>
              <a:t>	—</a:t>
            </a:r>
            <a:r>
              <a:rPr lang="zh-CN" altLang="en-US" sz="1400" dirty="0" smtClean="0">
                <a:latin typeface="百度综艺简体" panose="02010601030101010101" charset="-122"/>
                <a:ea typeface="百度综艺简体" panose="02010601030101010101" charset="-122"/>
              </a:rPr>
              <a:t>选择</a:t>
            </a:r>
            <a:r>
              <a:rPr lang="zh-CN" altLang="en-US" sz="1400" dirty="0">
                <a:latin typeface="百度综艺简体" panose="02010601030101010101" charset="-122"/>
                <a:ea typeface="百度综艺简体" panose="02010601030101010101" charset="-122"/>
              </a:rPr>
              <a:t>排序</a:t>
            </a:r>
          </a:p>
          <a:p>
            <a:pPr fontAlgn="auto">
              <a:lnSpc>
                <a:spcPct val="150000"/>
              </a:lnSpc>
            </a:pPr>
            <a:r>
              <a:rPr lang="en-US" altLang="zh-CN" sz="1400" dirty="0" smtClean="0">
                <a:latin typeface="百度综艺简体" panose="02010601030101010101" charset="-122"/>
                <a:ea typeface="百度综艺简体" panose="02010601030101010101" charset="-122"/>
              </a:rPr>
              <a:t>	—</a:t>
            </a:r>
            <a:r>
              <a:rPr lang="zh-CN" altLang="en-US" sz="1400" dirty="0" smtClean="0">
                <a:latin typeface="百度综艺简体" panose="02010601030101010101" charset="-122"/>
                <a:ea typeface="百度综艺简体" panose="02010601030101010101" charset="-122"/>
              </a:rPr>
              <a:t>归并排序</a:t>
            </a:r>
            <a:endParaRPr lang="zh-CN" altLang="en-US" sz="1400" dirty="0">
              <a:latin typeface="百度综艺简体" panose="02010601030101010101" charset="-122"/>
              <a:ea typeface="百度综艺简体" panose="02010601030101010101" charset="-122"/>
            </a:endParaRPr>
          </a:p>
          <a:p>
            <a:pPr fontAlgn="auto">
              <a:lnSpc>
                <a:spcPct val="150000"/>
              </a:lnSpc>
            </a:pPr>
            <a:r>
              <a:rPr lang="en-US" altLang="zh-CN" sz="1400" dirty="0" smtClean="0">
                <a:latin typeface="百度综艺简体" panose="02010601030101010101" charset="-122"/>
                <a:ea typeface="百度综艺简体" panose="02010601030101010101" charset="-122"/>
              </a:rPr>
              <a:t>	—</a:t>
            </a:r>
            <a:r>
              <a:rPr lang="zh-CN" altLang="en-US" sz="1400" dirty="0" smtClean="0">
                <a:latin typeface="百度综艺简体" panose="02010601030101010101" charset="-122"/>
                <a:ea typeface="百度综艺简体" panose="02010601030101010101" charset="-122"/>
              </a:rPr>
              <a:t>基数</a:t>
            </a:r>
            <a:r>
              <a:rPr lang="zh-CN" altLang="en-US" sz="1400" dirty="0">
                <a:latin typeface="百度综艺简体" panose="02010601030101010101" charset="-122"/>
                <a:ea typeface="百度综艺简体" panose="02010601030101010101" charset="-122"/>
              </a:rPr>
              <a:t>排序</a:t>
            </a:r>
          </a:p>
        </p:txBody>
      </p:sp>
    </p:spTree>
    <p:extLst>
      <p:ext uri="{BB962C8B-B14F-4D97-AF65-F5344CB8AC3E}">
        <p14:creationId xmlns:p14="http://schemas.microsoft.com/office/powerpoint/2010/main" val="367050174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0"/>
    </mc:Choice>
    <mc:Fallback>
      <p:transition spd="slow" advClick="0" advTm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 tmFilter="0,0; .5, 1; 1, 1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750"/>
                            </p:stCondLst>
                            <p:childTnLst>
                              <p:par>
                                <p:cTn id="22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250"/>
                            </p:stCondLst>
                            <p:childTnLst>
                              <p:par>
                                <p:cTn id="2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250"/>
                            </p:stCondLst>
                            <p:childTnLst>
                              <p:par>
                                <p:cTn id="3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4250"/>
                            </p:stCondLst>
                            <p:childTnLst>
                              <p:par>
                                <p:cTn id="3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utoUpdateAnimBg="0"/>
      <p:bldP spid="22" grpId="0" bldLvl="0" animBg="1" autoUpdateAnimBg="0"/>
      <p:bldP spid="31" grpId="0"/>
      <p:bldP spid="26" grpId="0"/>
      <p:bldP spid="14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直接连接符 14"/>
          <p:cNvCxnSpPr>
            <a:cxnSpLocks noChangeShapeType="1"/>
          </p:cNvCxnSpPr>
          <p:nvPr/>
        </p:nvCxnSpPr>
        <p:spPr bwMode="auto">
          <a:xfrm>
            <a:off x="307340" y="537845"/>
            <a:ext cx="8829040" cy="0"/>
          </a:xfrm>
          <a:prstGeom prst="line">
            <a:avLst/>
          </a:prstGeom>
          <a:noFill/>
          <a:ln w="9525">
            <a:solidFill>
              <a:schemeClr val="accent1"/>
            </a:solidFill>
            <a:round/>
          </a:ln>
          <a:effectLst/>
        </p:spPr>
      </p:cxnSp>
      <p:sp>
        <p:nvSpPr>
          <p:cNvPr id="16" name="矩形 15"/>
          <p:cNvSpPr/>
          <p:nvPr/>
        </p:nvSpPr>
        <p:spPr>
          <a:xfrm>
            <a:off x="1411" y="5240"/>
            <a:ext cx="9141179" cy="5134013"/>
          </a:xfrm>
          <a:prstGeom prst="rect">
            <a:avLst/>
          </a:prstGeom>
          <a:solidFill>
            <a:srgbClr val="F6F6F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zh-CN" altLang="en-US" sz="1800" dirty="0">
              <a:solidFill>
                <a:schemeClr val="accent2"/>
              </a:solidFill>
              <a:effectLst/>
              <a:latin typeface="百度综艺简体" panose="02010601030101010101" charset="-122"/>
              <a:ea typeface="百度综艺简体" panose="02010601030101010101" charset="-122"/>
              <a:sym typeface="+mn-ea"/>
            </a:endParaRPr>
          </a:p>
        </p:txBody>
      </p:sp>
      <p:sp>
        <p:nvSpPr>
          <p:cNvPr id="19" name="TextBox 5"/>
          <p:cNvSpPr txBox="1">
            <a:spLocks noChangeArrowheads="1"/>
          </p:cNvSpPr>
          <p:nvPr/>
        </p:nvSpPr>
        <p:spPr bwMode="auto">
          <a:xfrm>
            <a:off x="234950" y="203835"/>
            <a:ext cx="2067560" cy="4603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>
              <a:buFontTx/>
              <a:buNone/>
            </a:pPr>
            <a:r>
              <a:rPr lang="zh-CN" altLang="en-US" sz="2400" dirty="0">
                <a:solidFill>
                  <a:schemeClr val="accent1"/>
                </a:solidFill>
                <a:latin typeface="百度综艺简体" panose="02010601030101010101" charset="-122"/>
                <a:ea typeface="百度综艺简体" panose="02010601030101010101" charset="-122"/>
              </a:rPr>
              <a:t>《数据结构》</a:t>
            </a:r>
          </a:p>
        </p:txBody>
      </p:sp>
      <p:sp>
        <p:nvSpPr>
          <p:cNvPr id="22" name="矩形 21"/>
          <p:cNvSpPr>
            <a:spLocks noChangeArrowheads="1"/>
          </p:cNvSpPr>
          <p:nvPr/>
        </p:nvSpPr>
        <p:spPr bwMode="auto">
          <a:xfrm>
            <a:off x="1412" y="217303"/>
            <a:ext cx="401225" cy="401225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</a:ln>
        </p:spPr>
        <p:txBody>
          <a:bodyPr/>
          <a:lstStyle/>
          <a:p>
            <a:pPr>
              <a:buFontTx/>
              <a:buNone/>
            </a:pPr>
            <a:endParaRPr lang="zh-CN" altLang="en-US" sz="1800"/>
          </a:p>
        </p:txBody>
      </p:sp>
      <p:sp>
        <p:nvSpPr>
          <p:cNvPr id="31" name="Text Placeholder 11"/>
          <p:cNvSpPr txBox="1"/>
          <p:nvPr/>
        </p:nvSpPr>
        <p:spPr>
          <a:xfrm>
            <a:off x="2302510" y="241067"/>
            <a:ext cx="2805430" cy="353695"/>
          </a:xfrm>
          <a:prstGeom prst="rect">
            <a:avLst/>
          </a:prstGeom>
        </p:spPr>
        <p:txBody>
          <a:bodyPr lIns="68538" tIns="34270" rIns="68538" bIns="34270"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1225">
              <a:buNone/>
            </a:pPr>
            <a:r>
              <a:rPr lang="zh-CN" altLang="en-US" sz="1800" dirty="0">
                <a:solidFill>
                  <a:schemeClr val="accent2"/>
                </a:solidFill>
                <a:latin typeface="百度综艺简体" panose="02010601030101010101" charset="-122"/>
                <a:ea typeface="百度综艺简体" panose="02010601030101010101" charset="-122"/>
                <a:sym typeface="Arial" panose="020B0604020202020204" pitchFamily="34" charset="0"/>
              </a:rPr>
              <a:t>排序概述</a:t>
            </a:r>
            <a:endParaRPr lang="zh-CN" sz="1800" dirty="0">
              <a:solidFill>
                <a:schemeClr val="accent2"/>
              </a:solidFill>
              <a:latin typeface="百度综艺简体" panose="02010601030101010101" charset="-122"/>
              <a:ea typeface="百度综艺简体" panose="02010601030101010101" charset="-122"/>
              <a:sym typeface="Arial" panose="020B0604020202020204" pitchFamily="34" charset="0"/>
            </a:endParaRPr>
          </a:p>
        </p:txBody>
      </p:sp>
      <p:sp>
        <p:nvSpPr>
          <p:cNvPr id="26" name="TextBox 5"/>
          <p:cNvSpPr txBox="1">
            <a:spLocks noChangeArrowheads="1"/>
          </p:cNvSpPr>
          <p:nvPr/>
        </p:nvSpPr>
        <p:spPr bwMode="auto">
          <a:xfrm>
            <a:off x="1193259" y="1829488"/>
            <a:ext cx="6661044" cy="193899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fontAlgn="auto">
              <a:lnSpc>
                <a:spcPct val="150000"/>
              </a:lnSpc>
            </a:pPr>
            <a:r>
              <a:rPr lang="zh-CN" altLang="en-US" sz="1600" dirty="0" smtClean="0">
                <a:latin typeface="百度综艺简体" panose="02010601030101010101" charset="-122"/>
                <a:ea typeface="百度综艺简体" panose="02010601030101010101" charset="-122"/>
              </a:rPr>
              <a:t>       排序</a:t>
            </a:r>
            <a:r>
              <a:rPr lang="zh-CN" altLang="en-US" sz="1600" dirty="0">
                <a:latin typeface="百度综艺简体" panose="02010601030101010101" charset="-122"/>
                <a:ea typeface="百度综艺简体" panose="02010601030101010101" charset="-122"/>
              </a:rPr>
              <a:t>的时间开销是衡量算法好坏的最重要的标志。排序的时间开销可用算法执行中的</a:t>
            </a:r>
            <a:r>
              <a:rPr lang="zh-CN" altLang="en-US" sz="1600" dirty="0">
                <a:solidFill>
                  <a:srgbClr val="FF0000"/>
                </a:solidFill>
                <a:latin typeface="百度综艺简体" panose="02010601030101010101" charset="-122"/>
                <a:ea typeface="百度综艺简体" panose="02010601030101010101" charset="-122"/>
              </a:rPr>
              <a:t>数据比较次数</a:t>
            </a:r>
            <a:r>
              <a:rPr lang="zh-CN" altLang="en-US" sz="1600" dirty="0">
                <a:latin typeface="百度综艺简体" panose="02010601030101010101" charset="-122"/>
                <a:ea typeface="百度综艺简体" panose="02010601030101010101" charset="-122"/>
              </a:rPr>
              <a:t>与</a:t>
            </a:r>
            <a:r>
              <a:rPr lang="zh-CN" altLang="en-US" sz="1600" dirty="0">
                <a:solidFill>
                  <a:srgbClr val="FF0000"/>
                </a:solidFill>
                <a:latin typeface="百度综艺简体" panose="02010601030101010101" charset="-122"/>
                <a:ea typeface="百度综艺简体" panose="02010601030101010101" charset="-122"/>
              </a:rPr>
              <a:t>数据移动次数</a:t>
            </a:r>
            <a:r>
              <a:rPr lang="zh-CN" altLang="en-US" sz="1600" dirty="0">
                <a:latin typeface="百度综艺简体" panose="02010601030101010101" charset="-122"/>
                <a:ea typeface="百度综艺简体" panose="02010601030101010101" charset="-122"/>
              </a:rPr>
              <a:t>来衡量。各节给出算法运行时间代价的大略估算一般都</a:t>
            </a:r>
            <a:r>
              <a:rPr lang="zh-CN" altLang="en-US" sz="1600" dirty="0">
                <a:solidFill>
                  <a:srgbClr val="FF0000"/>
                </a:solidFill>
                <a:latin typeface="百度综艺简体" panose="02010601030101010101" charset="-122"/>
                <a:ea typeface="百度综艺简体" panose="02010601030101010101" charset="-122"/>
              </a:rPr>
              <a:t>按平均情况</a:t>
            </a:r>
            <a:r>
              <a:rPr lang="zh-CN" altLang="en-US" sz="1600" dirty="0">
                <a:latin typeface="百度综艺简体" panose="02010601030101010101" charset="-122"/>
                <a:ea typeface="百度综艺简体" panose="02010601030101010101" charset="-122"/>
              </a:rPr>
              <a:t>进行估算。对于那些受对象关键码序列初始排列及对象个数影响较大的，需要</a:t>
            </a:r>
            <a:r>
              <a:rPr lang="zh-CN" altLang="en-US" sz="1600" dirty="0">
                <a:solidFill>
                  <a:srgbClr val="FF0000"/>
                </a:solidFill>
                <a:latin typeface="百度综艺简体" panose="02010601030101010101" charset="-122"/>
                <a:ea typeface="百度综艺简体" panose="02010601030101010101" charset="-122"/>
              </a:rPr>
              <a:t>按最好情况</a:t>
            </a:r>
            <a:r>
              <a:rPr lang="zh-CN" altLang="en-US" sz="1600" dirty="0">
                <a:latin typeface="百度综艺简体" panose="02010601030101010101" charset="-122"/>
                <a:ea typeface="百度综艺简体" panose="02010601030101010101" charset="-122"/>
              </a:rPr>
              <a:t>和</a:t>
            </a:r>
            <a:r>
              <a:rPr lang="zh-CN" altLang="en-US" sz="1600" dirty="0">
                <a:solidFill>
                  <a:srgbClr val="FF0000"/>
                </a:solidFill>
                <a:latin typeface="百度综艺简体" panose="02010601030101010101" charset="-122"/>
                <a:ea typeface="百度综艺简体" panose="02010601030101010101" charset="-122"/>
              </a:rPr>
              <a:t>最坏情况</a:t>
            </a:r>
            <a:r>
              <a:rPr lang="zh-CN" altLang="en-US" sz="1600" dirty="0">
                <a:latin typeface="百度综艺简体" panose="02010601030101010101" charset="-122"/>
                <a:ea typeface="百度综艺简体" panose="02010601030101010101" charset="-122"/>
              </a:rPr>
              <a:t>进行估算。</a:t>
            </a:r>
          </a:p>
        </p:txBody>
      </p:sp>
      <p:sp>
        <p:nvSpPr>
          <p:cNvPr id="37" name="AutoShape 3"/>
          <p:cNvSpPr>
            <a:spLocks noChangeAspect="1" noChangeArrowheads="1" noTextEdit="1"/>
          </p:cNvSpPr>
          <p:nvPr/>
        </p:nvSpPr>
        <p:spPr bwMode="auto">
          <a:xfrm>
            <a:off x="557288" y="744733"/>
            <a:ext cx="542665" cy="54122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endParaRPr lang="zh-CN" altLang="en-US" sz="1800"/>
          </a:p>
        </p:txBody>
      </p:sp>
      <p:grpSp>
        <p:nvGrpSpPr>
          <p:cNvPr id="21" name="组合 20"/>
          <p:cNvGrpSpPr/>
          <p:nvPr/>
        </p:nvGrpSpPr>
        <p:grpSpPr>
          <a:xfrm>
            <a:off x="2134235" y="483235"/>
            <a:ext cx="7002145" cy="109220"/>
            <a:chOff x="2140585" y="362585"/>
            <a:chExt cx="7002145" cy="109220"/>
          </a:xfrm>
        </p:grpSpPr>
        <p:cxnSp>
          <p:nvCxnSpPr>
            <p:cNvPr id="25" name="直接连接符 24"/>
            <p:cNvCxnSpPr/>
            <p:nvPr/>
          </p:nvCxnSpPr>
          <p:spPr>
            <a:xfrm>
              <a:off x="2140585" y="417195"/>
              <a:ext cx="6889750" cy="0"/>
            </a:xfrm>
            <a:prstGeom prst="line">
              <a:avLst/>
            </a:prstGeom>
            <a:ln w="22225">
              <a:solidFill>
                <a:srgbClr val="2A5BA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椭圆 26"/>
            <p:cNvSpPr/>
            <p:nvPr/>
          </p:nvSpPr>
          <p:spPr>
            <a:xfrm>
              <a:off x="9033510" y="362585"/>
              <a:ext cx="109220" cy="10922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4" name="TextBox 5"/>
          <p:cNvSpPr txBox="1">
            <a:spLocks noChangeArrowheads="1"/>
          </p:cNvSpPr>
          <p:nvPr/>
        </p:nvSpPr>
        <p:spPr bwMode="auto">
          <a:xfrm>
            <a:off x="747651" y="1015343"/>
            <a:ext cx="6661044" cy="46301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fontAlgn="auto">
              <a:lnSpc>
                <a:spcPct val="150000"/>
              </a:lnSpc>
            </a:pPr>
            <a:r>
              <a:rPr lang="zh-CN" altLang="en-US" dirty="0">
                <a:solidFill>
                  <a:srgbClr val="FF0000"/>
                </a:solidFill>
                <a:latin typeface="百度综艺简体" panose="02010601030101010101" charset="-122"/>
                <a:ea typeface="百度综艺简体" panose="02010601030101010101" charset="-122"/>
              </a:rPr>
              <a:t>排序的时间开销</a:t>
            </a:r>
            <a:r>
              <a:rPr lang="en-US" altLang="zh-CN" dirty="0">
                <a:solidFill>
                  <a:srgbClr val="FF0000"/>
                </a:solidFill>
                <a:latin typeface="百度综艺简体" panose="02010601030101010101" charset="-122"/>
                <a:ea typeface="百度综艺简体" panose="02010601030101010101" charset="-122"/>
              </a:rPr>
              <a:t>: </a:t>
            </a:r>
            <a:endParaRPr lang="zh-CN" altLang="en-US" sz="1600" dirty="0">
              <a:solidFill>
                <a:srgbClr val="FF0000"/>
              </a:solidFill>
              <a:latin typeface="百度综艺简体" panose="02010601030101010101" charset="-122"/>
              <a:ea typeface="百度综艺简体" panose="02010601030101010101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81588489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0"/>
    </mc:Choice>
    <mc:Fallback>
      <p:transition spd="slow" advClick="0" advTm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 tmFilter="0,0; .5, 1; 1, 1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750"/>
                            </p:stCondLst>
                            <p:childTnLst>
                              <p:par>
                                <p:cTn id="22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250"/>
                            </p:stCondLst>
                            <p:childTnLst>
                              <p:par>
                                <p:cTn id="2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250"/>
                            </p:stCondLst>
                            <p:childTnLst>
                              <p:par>
                                <p:cTn id="3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4250"/>
                            </p:stCondLst>
                            <p:childTnLst>
                              <p:par>
                                <p:cTn id="3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utoUpdateAnimBg="0"/>
      <p:bldP spid="22" grpId="0" bldLvl="0" animBg="1" autoUpdateAnimBg="0"/>
      <p:bldP spid="31" grpId="0"/>
      <p:bldP spid="26" grpId="0"/>
      <p:bldP spid="14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直接连接符 14"/>
          <p:cNvCxnSpPr>
            <a:cxnSpLocks noChangeShapeType="1"/>
          </p:cNvCxnSpPr>
          <p:nvPr/>
        </p:nvCxnSpPr>
        <p:spPr bwMode="auto">
          <a:xfrm>
            <a:off x="307340" y="537845"/>
            <a:ext cx="8829040" cy="0"/>
          </a:xfrm>
          <a:prstGeom prst="line">
            <a:avLst/>
          </a:prstGeom>
          <a:noFill/>
          <a:ln w="9525">
            <a:solidFill>
              <a:schemeClr val="accent1"/>
            </a:solidFill>
            <a:round/>
          </a:ln>
          <a:effectLst/>
        </p:spPr>
      </p:cxnSp>
      <p:sp>
        <p:nvSpPr>
          <p:cNvPr id="16" name="矩形 15"/>
          <p:cNvSpPr/>
          <p:nvPr/>
        </p:nvSpPr>
        <p:spPr>
          <a:xfrm>
            <a:off x="1411" y="5240"/>
            <a:ext cx="9141179" cy="5134013"/>
          </a:xfrm>
          <a:prstGeom prst="rect">
            <a:avLst/>
          </a:prstGeom>
          <a:solidFill>
            <a:srgbClr val="F6F6F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zh-CN" altLang="en-US" sz="1800" dirty="0">
              <a:solidFill>
                <a:schemeClr val="accent2"/>
              </a:solidFill>
              <a:effectLst/>
              <a:latin typeface="百度综艺简体" panose="02010601030101010101" charset="-122"/>
              <a:ea typeface="百度综艺简体" panose="02010601030101010101" charset="-122"/>
              <a:sym typeface="+mn-ea"/>
            </a:endParaRPr>
          </a:p>
        </p:txBody>
      </p:sp>
      <p:sp>
        <p:nvSpPr>
          <p:cNvPr id="19" name="TextBox 5"/>
          <p:cNvSpPr txBox="1">
            <a:spLocks noChangeArrowheads="1"/>
          </p:cNvSpPr>
          <p:nvPr/>
        </p:nvSpPr>
        <p:spPr bwMode="auto">
          <a:xfrm>
            <a:off x="234950" y="203835"/>
            <a:ext cx="2067560" cy="4603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>
              <a:buFontTx/>
              <a:buNone/>
            </a:pPr>
            <a:r>
              <a:rPr lang="zh-CN" altLang="en-US" sz="2400" dirty="0">
                <a:solidFill>
                  <a:schemeClr val="accent1"/>
                </a:solidFill>
                <a:latin typeface="百度综艺简体" panose="02010601030101010101" charset="-122"/>
                <a:ea typeface="百度综艺简体" panose="02010601030101010101" charset="-122"/>
              </a:rPr>
              <a:t>《数据结构》</a:t>
            </a:r>
          </a:p>
        </p:txBody>
      </p:sp>
      <p:sp>
        <p:nvSpPr>
          <p:cNvPr id="22" name="矩形 21"/>
          <p:cNvSpPr>
            <a:spLocks noChangeArrowheads="1"/>
          </p:cNvSpPr>
          <p:nvPr/>
        </p:nvSpPr>
        <p:spPr bwMode="auto">
          <a:xfrm>
            <a:off x="1412" y="217303"/>
            <a:ext cx="401225" cy="401225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</a:ln>
        </p:spPr>
        <p:txBody>
          <a:bodyPr/>
          <a:lstStyle/>
          <a:p>
            <a:pPr>
              <a:buFontTx/>
              <a:buNone/>
            </a:pPr>
            <a:endParaRPr lang="zh-CN" altLang="en-US" sz="1800"/>
          </a:p>
        </p:txBody>
      </p:sp>
      <p:sp>
        <p:nvSpPr>
          <p:cNvPr id="31" name="Text Placeholder 11"/>
          <p:cNvSpPr txBox="1"/>
          <p:nvPr/>
        </p:nvSpPr>
        <p:spPr>
          <a:xfrm>
            <a:off x="2302510" y="241067"/>
            <a:ext cx="2805430" cy="353695"/>
          </a:xfrm>
          <a:prstGeom prst="rect">
            <a:avLst/>
          </a:prstGeom>
        </p:spPr>
        <p:txBody>
          <a:bodyPr lIns="68538" tIns="34270" rIns="68538" bIns="34270"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1225">
              <a:buNone/>
            </a:pPr>
            <a:r>
              <a:rPr lang="zh-CN" altLang="en-US" sz="1800" dirty="0">
                <a:solidFill>
                  <a:schemeClr val="accent2"/>
                </a:solidFill>
                <a:latin typeface="百度综艺简体" panose="02010601030101010101" charset="-122"/>
                <a:ea typeface="百度综艺简体" panose="02010601030101010101" charset="-122"/>
                <a:sym typeface="Arial" panose="020B0604020202020204" pitchFamily="34" charset="0"/>
              </a:rPr>
              <a:t>排序概述</a:t>
            </a:r>
            <a:endParaRPr lang="zh-CN" sz="1800" dirty="0">
              <a:solidFill>
                <a:schemeClr val="accent2"/>
              </a:solidFill>
              <a:latin typeface="百度综艺简体" panose="02010601030101010101" charset="-122"/>
              <a:ea typeface="百度综艺简体" panose="02010601030101010101" charset="-122"/>
              <a:sym typeface="Arial" panose="020B0604020202020204" pitchFamily="34" charset="0"/>
            </a:endParaRPr>
          </a:p>
        </p:txBody>
      </p:sp>
      <p:sp>
        <p:nvSpPr>
          <p:cNvPr id="26" name="TextBox 5"/>
          <p:cNvSpPr txBox="1">
            <a:spLocks noChangeArrowheads="1"/>
          </p:cNvSpPr>
          <p:nvPr/>
        </p:nvSpPr>
        <p:spPr bwMode="auto">
          <a:xfrm>
            <a:off x="1529161" y="1401071"/>
            <a:ext cx="6661044" cy="38061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fontAlgn="auto">
              <a:lnSpc>
                <a:spcPct val="150000"/>
              </a:lnSpc>
            </a:pPr>
            <a:r>
              <a:rPr lang="en-US" altLang="zh-CN" sz="1400" dirty="0">
                <a:latin typeface="百度综艺简体" panose="02010601030101010101" charset="-122"/>
                <a:ea typeface="百度综艺简体" panose="02010601030101010101" charset="-122"/>
              </a:rPr>
              <a:t>#define MAXSIZE  1000 // </a:t>
            </a:r>
            <a:r>
              <a:rPr lang="zh-CN" altLang="en-US" sz="1400" dirty="0">
                <a:latin typeface="百度综艺简体" panose="02010601030101010101" charset="-122"/>
                <a:ea typeface="百度综艺简体" panose="02010601030101010101" charset="-122"/>
              </a:rPr>
              <a:t>待排顺序表最大长度</a:t>
            </a:r>
          </a:p>
        </p:txBody>
      </p:sp>
      <p:sp>
        <p:nvSpPr>
          <p:cNvPr id="37" name="AutoShape 3"/>
          <p:cNvSpPr>
            <a:spLocks noChangeAspect="1" noChangeArrowheads="1" noTextEdit="1"/>
          </p:cNvSpPr>
          <p:nvPr/>
        </p:nvSpPr>
        <p:spPr bwMode="auto">
          <a:xfrm>
            <a:off x="557288" y="744733"/>
            <a:ext cx="542665" cy="54122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endParaRPr lang="zh-CN" altLang="en-US" sz="1800"/>
          </a:p>
        </p:txBody>
      </p:sp>
      <p:grpSp>
        <p:nvGrpSpPr>
          <p:cNvPr id="21" name="组合 20"/>
          <p:cNvGrpSpPr/>
          <p:nvPr/>
        </p:nvGrpSpPr>
        <p:grpSpPr>
          <a:xfrm>
            <a:off x="2134235" y="483235"/>
            <a:ext cx="7002145" cy="109220"/>
            <a:chOff x="2140585" y="362585"/>
            <a:chExt cx="7002145" cy="109220"/>
          </a:xfrm>
        </p:grpSpPr>
        <p:cxnSp>
          <p:nvCxnSpPr>
            <p:cNvPr id="25" name="直接连接符 24"/>
            <p:cNvCxnSpPr/>
            <p:nvPr/>
          </p:nvCxnSpPr>
          <p:spPr>
            <a:xfrm>
              <a:off x="2140585" y="417195"/>
              <a:ext cx="6889750" cy="0"/>
            </a:xfrm>
            <a:prstGeom prst="line">
              <a:avLst/>
            </a:prstGeom>
            <a:ln w="22225">
              <a:solidFill>
                <a:srgbClr val="2A5BA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椭圆 26"/>
            <p:cNvSpPr/>
            <p:nvPr/>
          </p:nvSpPr>
          <p:spPr>
            <a:xfrm>
              <a:off x="9033510" y="362585"/>
              <a:ext cx="109220" cy="10922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4" name="TextBox 5"/>
          <p:cNvSpPr txBox="1">
            <a:spLocks noChangeArrowheads="1"/>
          </p:cNvSpPr>
          <p:nvPr/>
        </p:nvSpPr>
        <p:spPr bwMode="auto">
          <a:xfrm>
            <a:off x="673006" y="871856"/>
            <a:ext cx="6661044" cy="46301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fontAlgn="auto">
              <a:lnSpc>
                <a:spcPct val="150000"/>
              </a:lnSpc>
            </a:pPr>
            <a:r>
              <a:rPr lang="zh-CN" altLang="en-US" dirty="0">
                <a:latin typeface="百度综艺简体" panose="02010601030101010101" charset="-122"/>
                <a:ea typeface="百度综艺简体" panose="02010601030101010101" charset="-122"/>
              </a:rPr>
              <a:t>待排记录的数据类型定义如下</a:t>
            </a:r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</a:rPr>
              <a:t>:</a:t>
            </a:r>
          </a:p>
        </p:txBody>
      </p:sp>
      <p:sp>
        <p:nvSpPr>
          <p:cNvPr id="13" name="TextBox 5"/>
          <p:cNvSpPr txBox="1">
            <a:spLocks noChangeArrowheads="1"/>
          </p:cNvSpPr>
          <p:nvPr/>
        </p:nvSpPr>
        <p:spPr bwMode="auto">
          <a:xfrm>
            <a:off x="1529161" y="1807365"/>
            <a:ext cx="6661044" cy="38061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fontAlgn="auto">
              <a:lnSpc>
                <a:spcPct val="150000"/>
              </a:lnSpc>
            </a:pPr>
            <a:r>
              <a:rPr lang="en-US" altLang="zh-CN" sz="1400" dirty="0" err="1">
                <a:latin typeface="百度综艺简体" panose="02010601030101010101" charset="-122"/>
                <a:ea typeface="百度综艺简体" panose="02010601030101010101" charset="-122"/>
              </a:rPr>
              <a:t>typedef</a:t>
            </a:r>
            <a:r>
              <a:rPr lang="en-US" altLang="zh-CN" sz="1400" dirty="0">
                <a:latin typeface="百度综艺简体" panose="02010601030101010101" charset="-122"/>
                <a:ea typeface="百度综艺简体" panose="02010601030101010101" charset="-122"/>
              </a:rPr>
              <a:t>  </a:t>
            </a:r>
            <a:r>
              <a:rPr lang="en-US" altLang="zh-CN" sz="1400" dirty="0" err="1">
                <a:latin typeface="百度综艺简体" panose="02010601030101010101" charset="-122"/>
                <a:ea typeface="百度综艺简体" panose="02010601030101010101" charset="-122"/>
              </a:rPr>
              <a:t>int</a:t>
            </a:r>
            <a:r>
              <a:rPr lang="en-US" altLang="zh-CN" sz="1400" dirty="0">
                <a:latin typeface="百度综艺简体" panose="02010601030101010101" charset="-122"/>
                <a:ea typeface="百度综艺简体" panose="02010601030101010101" charset="-122"/>
              </a:rPr>
              <a:t>  </a:t>
            </a:r>
            <a:r>
              <a:rPr lang="en-US" altLang="zh-CN" sz="1400" dirty="0" err="1">
                <a:latin typeface="百度综艺简体" panose="02010601030101010101" charset="-122"/>
                <a:ea typeface="百度综艺简体" panose="02010601030101010101" charset="-122"/>
              </a:rPr>
              <a:t>KeyType</a:t>
            </a:r>
            <a:r>
              <a:rPr lang="en-US" altLang="zh-CN" sz="1400" dirty="0">
                <a:latin typeface="百度综艺简体" panose="02010601030101010101" charset="-122"/>
                <a:ea typeface="百度综艺简体" panose="02010601030101010101" charset="-122"/>
              </a:rPr>
              <a:t>;    // </a:t>
            </a:r>
            <a:r>
              <a:rPr lang="zh-CN" altLang="en-US" sz="1400" dirty="0">
                <a:latin typeface="百度综艺简体" panose="02010601030101010101" charset="-122"/>
                <a:ea typeface="百度综艺简体" panose="02010601030101010101" charset="-122"/>
              </a:rPr>
              <a:t>关键字类型为整数类型</a:t>
            </a:r>
          </a:p>
        </p:txBody>
      </p:sp>
      <p:sp>
        <p:nvSpPr>
          <p:cNvPr id="17" name="TextBox 5"/>
          <p:cNvSpPr txBox="1">
            <a:spLocks noChangeArrowheads="1"/>
          </p:cNvSpPr>
          <p:nvPr/>
        </p:nvSpPr>
        <p:spPr bwMode="auto">
          <a:xfrm>
            <a:off x="1529161" y="2229147"/>
            <a:ext cx="6661044" cy="135011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fontAlgn="auto">
              <a:lnSpc>
                <a:spcPct val="150000"/>
              </a:lnSpc>
            </a:pPr>
            <a:r>
              <a:rPr lang="en-US" altLang="zh-CN" sz="1400" dirty="0" err="1">
                <a:latin typeface="百度综艺简体" panose="02010601030101010101" charset="-122"/>
                <a:ea typeface="百度综艺简体" panose="02010601030101010101" charset="-122"/>
              </a:rPr>
              <a:t>typedef</a:t>
            </a:r>
            <a:r>
              <a:rPr lang="en-US" altLang="zh-CN" sz="1400" dirty="0">
                <a:latin typeface="百度综艺简体" panose="02010601030101010101" charset="-122"/>
                <a:ea typeface="百度综艺简体" panose="02010601030101010101" charset="-122"/>
              </a:rPr>
              <a:t>  </a:t>
            </a:r>
            <a:r>
              <a:rPr lang="en-US" altLang="zh-CN" sz="1400" dirty="0" err="1">
                <a:latin typeface="百度综艺简体" panose="02010601030101010101" charset="-122"/>
                <a:ea typeface="百度综艺简体" panose="02010601030101010101" charset="-122"/>
              </a:rPr>
              <a:t>struct</a:t>
            </a:r>
            <a:r>
              <a:rPr lang="en-US" altLang="zh-CN" sz="1400" dirty="0">
                <a:latin typeface="百度综艺简体" panose="02010601030101010101" charset="-122"/>
                <a:ea typeface="百度综艺简体" panose="02010601030101010101" charset="-122"/>
              </a:rPr>
              <a:t> {</a:t>
            </a:r>
          </a:p>
          <a:p>
            <a:pPr fontAlgn="auto">
              <a:lnSpc>
                <a:spcPct val="150000"/>
              </a:lnSpc>
            </a:pPr>
            <a:r>
              <a:rPr lang="en-US" altLang="zh-CN" sz="1400" dirty="0">
                <a:latin typeface="百度综艺简体" panose="02010601030101010101" charset="-122"/>
                <a:ea typeface="百度综艺简体" panose="02010601030101010101" charset="-122"/>
              </a:rPr>
              <a:t>     </a:t>
            </a:r>
            <a:r>
              <a:rPr lang="en-US" altLang="zh-CN" sz="1400" dirty="0" err="1">
                <a:latin typeface="百度综艺简体" panose="02010601030101010101" charset="-122"/>
                <a:ea typeface="百度综艺简体" panose="02010601030101010101" charset="-122"/>
              </a:rPr>
              <a:t>KeyType</a:t>
            </a:r>
            <a:r>
              <a:rPr lang="en-US" altLang="zh-CN" sz="1400" dirty="0">
                <a:latin typeface="百度综艺简体" panose="02010601030101010101" charset="-122"/>
                <a:ea typeface="百度综艺简体" panose="02010601030101010101" charset="-122"/>
              </a:rPr>
              <a:t>   key;              // </a:t>
            </a:r>
            <a:r>
              <a:rPr lang="zh-CN" altLang="en-US" sz="1400" dirty="0">
                <a:latin typeface="百度综艺简体" panose="02010601030101010101" charset="-122"/>
                <a:ea typeface="百度综艺简体" panose="02010601030101010101" charset="-122"/>
              </a:rPr>
              <a:t>关键字项</a:t>
            </a:r>
          </a:p>
          <a:p>
            <a:pPr fontAlgn="auto">
              <a:lnSpc>
                <a:spcPct val="150000"/>
              </a:lnSpc>
            </a:pPr>
            <a:r>
              <a:rPr lang="zh-CN" altLang="en-US" sz="1400" dirty="0">
                <a:latin typeface="百度综艺简体" panose="02010601030101010101" charset="-122"/>
                <a:ea typeface="百度综艺简体" panose="02010601030101010101" charset="-122"/>
              </a:rPr>
              <a:t>     </a:t>
            </a:r>
            <a:r>
              <a:rPr lang="en-US" altLang="zh-CN" sz="1400" dirty="0" err="1">
                <a:latin typeface="百度综艺简体" panose="02010601030101010101" charset="-122"/>
                <a:ea typeface="百度综艺简体" panose="02010601030101010101" charset="-122"/>
              </a:rPr>
              <a:t>InfoType</a:t>
            </a:r>
            <a:r>
              <a:rPr lang="en-US" altLang="zh-CN" sz="1400" dirty="0">
                <a:latin typeface="百度综艺简体" panose="02010601030101010101" charset="-122"/>
                <a:ea typeface="百度综艺简体" panose="02010601030101010101" charset="-122"/>
              </a:rPr>
              <a:t>  </a:t>
            </a:r>
            <a:r>
              <a:rPr lang="en-US" altLang="zh-CN" sz="1400" dirty="0" err="1">
                <a:latin typeface="百度综艺简体" panose="02010601030101010101" charset="-122"/>
                <a:ea typeface="百度综艺简体" panose="02010601030101010101" charset="-122"/>
              </a:rPr>
              <a:t>otherinfo</a:t>
            </a:r>
            <a:r>
              <a:rPr lang="en-US" altLang="zh-CN" sz="1400" dirty="0">
                <a:latin typeface="百度综艺简体" panose="02010601030101010101" charset="-122"/>
                <a:ea typeface="百度综艺简体" panose="02010601030101010101" charset="-122"/>
              </a:rPr>
              <a:t>;     // </a:t>
            </a:r>
            <a:r>
              <a:rPr lang="zh-CN" altLang="en-US" sz="1400" dirty="0">
                <a:latin typeface="百度综艺简体" panose="02010601030101010101" charset="-122"/>
                <a:ea typeface="百度综艺简体" panose="02010601030101010101" charset="-122"/>
              </a:rPr>
              <a:t>其它数据项</a:t>
            </a:r>
          </a:p>
          <a:p>
            <a:pPr fontAlgn="auto">
              <a:lnSpc>
                <a:spcPct val="150000"/>
              </a:lnSpc>
            </a:pPr>
            <a:r>
              <a:rPr lang="en-US" altLang="zh-CN" sz="1400" dirty="0">
                <a:latin typeface="百度综艺简体" panose="02010601030101010101" charset="-122"/>
                <a:ea typeface="百度综艺简体" panose="02010601030101010101" charset="-122"/>
              </a:rPr>
              <a:t>} </a:t>
            </a:r>
            <a:r>
              <a:rPr lang="en-US" altLang="zh-CN" sz="1400" dirty="0" err="1">
                <a:latin typeface="百度综艺简体" panose="02010601030101010101" charset="-122"/>
                <a:ea typeface="百度综艺简体" panose="02010601030101010101" charset="-122"/>
              </a:rPr>
              <a:t>RcdType</a:t>
            </a:r>
            <a:r>
              <a:rPr lang="en-US" altLang="zh-CN" sz="1400" dirty="0">
                <a:latin typeface="百度综艺简体" panose="02010601030101010101" charset="-122"/>
                <a:ea typeface="百度综艺简体" panose="02010601030101010101" charset="-122"/>
              </a:rPr>
              <a:t>;                         // </a:t>
            </a:r>
            <a:r>
              <a:rPr lang="zh-CN" altLang="en-US" sz="1400" dirty="0">
                <a:latin typeface="百度综艺简体" panose="02010601030101010101" charset="-122"/>
                <a:ea typeface="百度综艺简体" panose="02010601030101010101" charset="-122"/>
              </a:rPr>
              <a:t>记录类型</a:t>
            </a:r>
          </a:p>
        </p:txBody>
      </p:sp>
      <p:sp>
        <p:nvSpPr>
          <p:cNvPr id="18" name="TextBox 5"/>
          <p:cNvSpPr txBox="1">
            <a:spLocks noChangeArrowheads="1"/>
          </p:cNvSpPr>
          <p:nvPr/>
        </p:nvSpPr>
        <p:spPr bwMode="auto">
          <a:xfrm>
            <a:off x="1529161" y="3545696"/>
            <a:ext cx="6661044" cy="138499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fontAlgn="auto">
              <a:lnSpc>
                <a:spcPct val="150000"/>
              </a:lnSpc>
            </a:pPr>
            <a:r>
              <a:rPr lang="en-US" altLang="zh-CN" sz="1400" dirty="0" err="1">
                <a:latin typeface="百度综艺简体" panose="02010601030101010101" charset="-122"/>
                <a:ea typeface="百度综艺简体" panose="02010601030101010101" charset="-122"/>
              </a:rPr>
              <a:t>typedef</a:t>
            </a:r>
            <a:r>
              <a:rPr lang="en-US" altLang="zh-CN" sz="1400" dirty="0">
                <a:latin typeface="百度综艺简体" panose="02010601030101010101" charset="-122"/>
                <a:ea typeface="百度综艺简体" panose="02010601030101010101" charset="-122"/>
              </a:rPr>
              <a:t>  </a:t>
            </a:r>
            <a:r>
              <a:rPr lang="en-US" altLang="zh-CN" sz="1400" dirty="0" err="1">
                <a:latin typeface="百度综艺简体" panose="02010601030101010101" charset="-122"/>
                <a:ea typeface="百度综艺简体" panose="02010601030101010101" charset="-122"/>
              </a:rPr>
              <a:t>struct</a:t>
            </a:r>
            <a:r>
              <a:rPr lang="en-US" altLang="zh-CN" sz="1400" dirty="0">
                <a:latin typeface="百度综艺简体" panose="02010601030101010101" charset="-122"/>
                <a:ea typeface="百度综艺简体" panose="02010601030101010101" charset="-122"/>
              </a:rPr>
              <a:t> {</a:t>
            </a:r>
          </a:p>
          <a:p>
            <a:pPr fontAlgn="auto">
              <a:lnSpc>
                <a:spcPct val="150000"/>
              </a:lnSpc>
            </a:pPr>
            <a:r>
              <a:rPr lang="en-US" altLang="zh-CN" sz="1400" dirty="0">
                <a:latin typeface="百度综艺简体" panose="02010601030101010101" charset="-122"/>
                <a:ea typeface="百度综艺简体" panose="02010601030101010101" charset="-122"/>
              </a:rPr>
              <a:t>     </a:t>
            </a:r>
            <a:r>
              <a:rPr lang="en-US" altLang="zh-CN" sz="1400" dirty="0" err="1">
                <a:latin typeface="百度综艺简体" panose="02010601030101010101" charset="-122"/>
                <a:ea typeface="百度综艺简体" panose="02010601030101010101" charset="-122"/>
              </a:rPr>
              <a:t>RcdType</a:t>
            </a:r>
            <a:r>
              <a:rPr lang="en-US" altLang="zh-CN" sz="1400" dirty="0">
                <a:latin typeface="百度综艺简体" panose="02010601030101010101" charset="-122"/>
                <a:ea typeface="百度综艺简体" panose="02010601030101010101" charset="-122"/>
              </a:rPr>
              <a:t>    r[MAXSIZE+1];   // r[0]</a:t>
            </a:r>
            <a:r>
              <a:rPr lang="zh-CN" altLang="en-US" sz="1400" dirty="0">
                <a:latin typeface="百度综艺简体" panose="02010601030101010101" charset="-122"/>
                <a:ea typeface="百度综艺简体" panose="02010601030101010101" charset="-122"/>
              </a:rPr>
              <a:t>闲置</a:t>
            </a:r>
          </a:p>
          <a:p>
            <a:pPr fontAlgn="auto">
              <a:lnSpc>
                <a:spcPct val="150000"/>
              </a:lnSpc>
            </a:pPr>
            <a:r>
              <a:rPr lang="zh-CN" altLang="en-US" sz="1400" dirty="0">
                <a:latin typeface="百度综艺简体" panose="02010601030101010101" charset="-122"/>
                <a:ea typeface="百度综艺简体" panose="02010601030101010101" charset="-122"/>
              </a:rPr>
              <a:t>     </a:t>
            </a:r>
            <a:r>
              <a:rPr lang="en-US" altLang="zh-CN" sz="1400" dirty="0" err="1">
                <a:latin typeface="百度综艺简体" panose="02010601030101010101" charset="-122"/>
                <a:ea typeface="百度综艺简体" panose="02010601030101010101" charset="-122"/>
              </a:rPr>
              <a:t>int</a:t>
            </a:r>
            <a:r>
              <a:rPr lang="en-US" altLang="zh-CN" sz="1400" dirty="0">
                <a:latin typeface="百度综艺简体" panose="02010601030101010101" charset="-122"/>
                <a:ea typeface="百度综艺简体" panose="02010601030101010101" charset="-122"/>
              </a:rPr>
              <a:t>               length;                   // </a:t>
            </a:r>
            <a:r>
              <a:rPr lang="zh-CN" altLang="en-US" sz="1400" dirty="0">
                <a:latin typeface="百度综艺简体" panose="02010601030101010101" charset="-122"/>
                <a:ea typeface="百度综艺简体" panose="02010601030101010101" charset="-122"/>
              </a:rPr>
              <a:t>顺序表长度</a:t>
            </a:r>
          </a:p>
          <a:p>
            <a:pPr fontAlgn="auto">
              <a:lnSpc>
                <a:spcPct val="150000"/>
              </a:lnSpc>
            </a:pPr>
            <a:r>
              <a:rPr lang="en-US" altLang="zh-CN" sz="1400" dirty="0">
                <a:latin typeface="百度综艺简体" panose="02010601030101010101" charset="-122"/>
                <a:ea typeface="百度综艺简体" panose="02010601030101010101" charset="-122"/>
              </a:rPr>
              <a:t>} </a:t>
            </a:r>
            <a:r>
              <a:rPr lang="en-US" altLang="zh-CN" sz="1400" dirty="0" err="1">
                <a:latin typeface="百度综艺简体" panose="02010601030101010101" charset="-122"/>
                <a:ea typeface="百度综艺简体" panose="02010601030101010101" charset="-122"/>
              </a:rPr>
              <a:t>SqList</a:t>
            </a:r>
            <a:r>
              <a:rPr lang="en-US" altLang="zh-CN" sz="1400" dirty="0">
                <a:latin typeface="百度综艺简体" panose="02010601030101010101" charset="-122"/>
                <a:ea typeface="百度综艺简体" panose="02010601030101010101" charset="-122"/>
              </a:rPr>
              <a:t>;                                        // </a:t>
            </a:r>
            <a:r>
              <a:rPr lang="zh-CN" altLang="en-US" sz="1400" dirty="0">
                <a:latin typeface="百度综艺简体" panose="02010601030101010101" charset="-122"/>
                <a:ea typeface="百度综艺简体" panose="02010601030101010101" charset="-122"/>
              </a:rPr>
              <a:t>顺序表类型</a:t>
            </a:r>
          </a:p>
        </p:txBody>
      </p:sp>
    </p:spTree>
    <p:extLst>
      <p:ext uri="{BB962C8B-B14F-4D97-AF65-F5344CB8AC3E}">
        <p14:creationId xmlns:p14="http://schemas.microsoft.com/office/powerpoint/2010/main" val="413260432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0"/>
    </mc:Choice>
    <mc:Fallback>
      <p:transition spd="slow" advClick="0" advTm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 tmFilter="0,0; .5, 1; 1, 1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750"/>
                            </p:stCondLst>
                            <p:childTnLst>
                              <p:par>
                                <p:cTn id="22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250"/>
                            </p:stCondLst>
                            <p:childTnLst>
                              <p:par>
                                <p:cTn id="2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250"/>
                            </p:stCondLst>
                            <p:childTnLst>
                              <p:par>
                                <p:cTn id="3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4250"/>
                            </p:stCondLst>
                            <p:childTnLst>
                              <p:par>
                                <p:cTn id="3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250"/>
                            </p:stCondLst>
                            <p:childTnLst>
                              <p:par>
                                <p:cTn id="4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6250"/>
                            </p:stCondLst>
                            <p:childTnLst>
                              <p:par>
                                <p:cTn id="5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7250"/>
                            </p:stCondLst>
                            <p:childTnLst>
                              <p:par>
                                <p:cTn id="5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utoUpdateAnimBg="0"/>
      <p:bldP spid="22" grpId="0" bldLvl="0" animBg="1" autoUpdateAnimBg="0"/>
      <p:bldP spid="31" grpId="0"/>
      <p:bldP spid="26" grpId="0"/>
      <p:bldP spid="14" grpId="0"/>
      <p:bldP spid="13" grpId="0"/>
      <p:bldP spid="17" grpId="0"/>
      <p:bldP spid="18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1411" y="5875"/>
            <a:ext cx="9141179" cy="5134013"/>
          </a:xfrm>
          <a:prstGeom prst="rect">
            <a:avLst/>
          </a:prstGeom>
          <a:solidFill>
            <a:srgbClr val="F6F6F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pic>
        <p:nvPicPr>
          <p:cNvPr id="3" name="20 2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884"/>
          <a:stretch>
            <a:fillRect/>
          </a:stretch>
        </p:blipFill>
        <p:spPr>
          <a:xfrm>
            <a:off x="4224" y="1133312"/>
            <a:ext cx="3523982" cy="4018760"/>
          </a:xfrm>
          <a:prstGeom prst="rect">
            <a:avLst/>
          </a:prstGeom>
          <a:solidFill>
            <a:srgbClr val="2A5BA8"/>
          </a:solidFill>
        </p:spPr>
      </p:pic>
      <p:pic>
        <p:nvPicPr>
          <p:cNvPr id="5" name="20 4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6564" b="51735"/>
          <a:stretch>
            <a:fillRect/>
          </a:stretch>
        </p:blipFill>
        <p:spPr>
          <a:xfrm flipV="1">
            <a:off x="7180313" y="794"/>
            <a:ext cx="1952652" cy="1727659"/>
          </a:xfrm>
          <a:prstGeom prst="rect">
            <a:avLst/>
          </a:prstGeom>
        </p:spPr>
      </p:pic>
      <p:sp>
        <p:nvSpPr>
          <p:cNvPr id="8" name="矩形 259"/>
          <p:cNvSpPr>
            <a:spLocks noChangeArrowheads="1"/>
          </p:cNvSpPr>
          <p:nvPr/>
        </p:nvSpPr>
        <p:spPr bwMode="auto">
          <a:xfrm>
            <a:off x="4990595" y="2335478"/>
            <a:ext cx="3266020" cy="8966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65012" tIns="32506" rIns="65012" bIns="32506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>
              <a:buNone/>
            </a:pPr>
            <a:r>
              <a:rPr lang="zh-CN" altLang="en-US" sz="5400" cap="all" spc="213" dirty="0">
                <a:solidFill>
                  <a:schemeClr val="accent1"/>
                </a:solidFill>
                <a:latin typeface="百度综艺简体" panose="02010601030101010101" charset="-122"/>
                <a:ea typeface="百度综艺简体" panose="02010601030101010101" charset="-122"/>
                <a:cs typeface="百度综艺简体" panose="02010601030101010101" charset="-122"/>
              </a:rPr>
              <a:t>本</a:t>
            </a:r>
            <a:r>
              <a:rPr lang="zh-CN" altLang="en-US" sz="5400" cap="all" spc="213" dirty="0" smtClean="0">
                <a:solidFill>
                  <a:schemeClr val="accent1"/>
                </a:solidFill>
                <a:latin typeface="百度综艺简体" panose="02010601030101010101" charset="-122"/>
                <a:ea typeface="百度综艺简体" panose="02010601030101010101" charset="-122"/>
                <a:cs typeface="百度综艺简体" panose="02010601030101010101" charset="-122"/>
              </a:rPr>
              <a:t>节结束</a:t>
            </a:r>
            <a:endParaRPr lang="en-US" altLang="zh-CN" sz="5400" cap="all" spc="213" dirty="0">
              <a:solidFill>
                <a:schemeClr val="accent1"/>
              </a:solidFill>
              <a:latin typeface="百度综艺简体" panose="02010601030101010101" charset="-122"/>
              <a:ea typeface="百度综艺简体" panose="02010601030101010101" charset="-122"/>
              <a:cs typeface="百度综艺简体" panose="02010601030101010101" charset="-122"/>
            </a:endParaRPr>
          </a:p>
        </p:txBody>
      </p:sp>
      <p:sp>
        <p:nvSpPr>
          <p:cNvPr id="10" name="Rectangle 3"/>
          <p:cNvSpPr txBox="1">
            <a:spLocks noChangeArrowheads="1"/>
          </p:cNvSpPr>
          <p:nvPr/>
        </p:nvSpPr>
        <p:spPr bwMode="auto">
          <a:xfrm>
            <a:off x="4803775" y="3791585"/>
            <a:ext cx="1569085" cy="184150"/>
          </a:xfrm>
          <a:prstGeom prst="rect">
            <a:avLst/>
          </a:prstGeom>
          <a:solidFill>
            <a:schemeClr val="accent1"/>
          </a:solidFill>
        </p:spPr>
        <p:txBody>
          <a:bodyPr wrap="square" lIns="0" tIns="0" rIns="0" bIns="0">
            <a:spAutoFit/>
            <a:scene3d>
              <a:camera prst="orthographicFront"/>
              <a:lightRig rig="threePt" dir="t"/>
            </a:scene3d>
            <a:sp3d>
              <a:bevelT w="1270" h="1270"/>
            </a:sp3d>
          </a:bodyPr>
          <a:lstStyle>
            <a:lvl1pPr algn="ctr">
              <a:spcBef>
                <a:spcPct val="0"/>
              </a:spcBef>
              <a:buNone/>
              <a:defRPr lang="ko-KR" altLang="en-US" sz="4400" b="1" baseline="0" dirty="0">
                <a:solidFill>
                  <a:schemeClr val="bg1"/>
                </a:solidFill>
                <a:effectLst>
                  <a:outerShdw blurRad="12700" dist="25400" dir="5400000" algn="t" rotWithShape="0">
                    <a:prstClr val="black">
                      <a:alpha val="50000"/>
                    </a:prst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algn="l"/>
            <a:r>
              <a:rPr lang="zh-CN" altLang="en-US" sz="1200" b="0" noProof="1">
                <a:effectLst/>
                <a:latin typeface="百度综艺简体" panose="02010601030101010101" charset="-122"/>
                <a:ea typeface="百度综艺简体" panose="02010601030101010101" charset="-122"/>
                <a:cs typeface="百度综艺简体" panose="02010601030101010101" charset="-122"/>
              </a:rPr>
              <a:t>任课教师：</a:t>
            </a:r>
            <a:r>
              <a:rPr lang="zh-CN" sz="1200" b="0" noProof="1">
                <a:effectLst/>
                <a:latin typeface="百度综艺简体" panose="02010601030101010101" charset="-122"/>
                <a:ea typeface="百度综艺简体" panose="02010601030101010101" charset="-122"/>
                <a:cs typeface="百度综艺简体" panose="02010601030101010101" charset="-122"/>
              </a:rPr>
              <a:t>王青松</a:t>
            </a:r>
            <a:r>
              <a:rPr lang="en-US" altLang="zh-CN" sz="1200" b="0" noProof="1">
                <a:effectLst/>
                <a:latin typeface="百度综艺简体" panose="02010601030101010101" charset="-122"/>
                <a:ea typeface="百度综艺简体" panose="02010601030101010101" charset="-122"/>
                <a:cs typeface="百度综艺简体" panose="02010601030101010101" charset="-122"/>
              </a:rPr>
              <a:t> </a:t>
            </a:r>
            <a:r>
              <a:rPr lang="en-US" altLang="zh-CN" sz="1200" b="0" noProof="1">
                <a:effectLst/>
                <a:latin typeface="华文中宋" panose="02010600040101010101" charset="-122"/>
                <a:ea typeface="华文中宋" panose="02010600040101010101" charset="-122"/>
              </a:rPr>
              <a:t>     </a:t>
            </a:r>
            <a:r>
              <a:rPr lang="zh-CN" altLang="en-US" sz="1200" b="0" noProof="1">
                <a:effectLst/>
                <a:latin typeface="华文中宋" panose="02010600040101010101" charset="-122"/>
                <a:ea typeface="华文中宋" panose="02010600040101010101" charset="-122"/>
              </a:rPr>
              <a:t>   </a:t>
            </a:r>
            <a:endParaRPr lang="en-US" altLang="ko-KR" sz="1200" b="0" noProof="1">
              <a:effectLst/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11" name="Rectangle 3"/>
          <p:cNvSpPr txBox="1">
            <a:spLocks noChangeArrowheads="1"/>
          </p:cNvSpPr>
          <p:nvPr/>
        </p:nvSpPr>
        <p:spPr bwMode="auto">
          <a:xfrm>
            <a:off x="6372558" y="3791658"/>
            <a:ext cx="2760406" cy="184538"/>
          </a:xfrm>
          <a:prstGeom prst="rect">
            <a:avLst/>
          </a:prstGeom>
          <a:solidFill>
            <a:schemeClr val="accent2"/>
          </a:solidFill>
        </p:spPr>
        <p:txBody>
          <a:bodyPr wrap="square" lIns="0" tIns="0" rIns="0" bIns="0">
            <a:spAutoFit/>
            <a:scene3d>
              <a:camera prst="orthographicFront"/>
              <a:lightRig rig="threePt" dir="t"/>
            </a:scene3d>
            <a:sp3d>
              <a:bevelT w="1270" h="1270"/>
            </a:sp3d>
          </a:bodyPr>
          <a:lstStyle>
            <a:lvl1pPr algn="ctr">
              <a:spcBef>
                <a:spcPct val="0"/>
              </a:spcBef>
              <a:buNone/>
              <a:defRPr lang="ko-KR" altLang="en-US" sz="4400" b="1" baseline="0" dirty="0">
                <a:solidFill>
                  <a:schemeClr val="bg1"/>
                </a:solidFill>
                <a:effectLst>
                  <a:outerShdw blurRad="12700" dist="25400" dir="5400000" algn="t" rotWithShape="0">
                    <a:prstClr val="black">
                      <a:alpha val="50000"/>
                    </a:prst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algn="l"/>
            <a:endParaRPr lang="en-US" altLang="ko-KR" sz="1200" b="0" noProof="1">
              <a:effectLst/>
              <a:latin typeface="华文中宋" panose="02010600040101010101" charset="-122"/>
              <a:ea typeface="华文中宋" panose="02010600040101010101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 advTm="0"/>
    </mc:Choice>
    <mc:Fallback xmlns="">
      <p:transition advClick="0" advTm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7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 tmFilter="0,0; .5, 1; 1, 1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850"/>
                            </p:stCondLst>
                            <p:childTnLst>
                              <p:par>
                                <p:cTn id="24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Effect transition="out" filter="fade">
                                      <p:cBhvr>
                                        <p:cTn id="25" dur="500" tmFilter="0, 0; .2, .5; .8, .5; 1, 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6" dur="250" autoRev="1" fill="hold"/>
                                        <p:tgtEl>
                                          <p:spTgt spid="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2349"/>
                            </p:stCondLst>
                            <p:childTnLst>
                              <p:par>
                                <p:cTn id="2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2849"/>
                            </p:stCondLst>
                            <p:childTnLst>
                              <p:par>
                                <p:cTn id="3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8" grpId="1"/>
      <p:bldP spid="10" grpId="0" bldLvl="0" animBg="1"/>
      <p:bldP spid="11" grpId="0" bldLvl="0" animBg="1"/>
    </p:bldLst>
  </p:timing>
</p:sld>
</file>

<file path=ppt/theme/theme1.xml><?xml version="1.0" encoding="utf-8"?>
<a:theme xmlns:a="http://schemas.openxmlformats.org/drawingml/2006/main" name="Office 主题​​">
  <a:themeElements>
    <a:clrScheme name="自定义 647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2A5BA8"/>
      </a:accent1>
      <a:accent2>
        <a:srgbClr val="48AC92"/>
      </a:accent2>
      <a:accent3>
        <a:srgbClr val="2A5BA8"/>
      </a:accent3>
      <a:accent4>
        <a:srgbClr val="48AC92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28</TotalTime>
  <Words>534</Words>
  <Application>Microsoft Office PowerPoint</Application>
  <PresentationFormat>自定义</PresentationFormat>
  <Paragraphs>91</Paragraphs>
  <Slides>12</Slides>
  <Notes>10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7" baseType="lpstr">
      <vt:lpstr>Lato Light</vt:lpstr>
      <vt:lpstr>百度综艺简体</vt:lpstr>
      <vt:lpstr>等线</vt:lpstr>
      <vt:lpstr>等线 Light</vt:lpstr>
      <vt:lpstr>华文中宋</vt:lpstr>
      <vt:lpstr>隶书</vt:lpstr>
      <vt:lpstr>宋体</vt:lpstr>
      <vt:lpstr>微软雅黑</vt:lpstr>
      <vt:lpstr>Arial</vt:lpstr>
      <vt:lpstr>Calibri</vt:lpstr>
      <vt:lpstr>Calibri Light</vt:lpstr>
      <vt:lpstr>Tahoma</vt:lpstr>
      <vt:lpstr>Times New Roman</vt:lpstr>
      <vt:lpstr>Wingdings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Administrator</dc:creator>
  <cp:lastModifiedBy>China</cp:lastModifiedBy>
  <cp:revision>57</cp:revision>
  <dcterms:created xsi:type="dcterms:W3CDTF">2017-06-21T11:46:00Z</dcterms:created>
  <dcterms:modified xsi:type="dcterms:W3CDTF">2020-11-25T09:19:59Z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2052-11.1.0.8986</vt:lpwstr>
  </property>
</Properties>
</file>