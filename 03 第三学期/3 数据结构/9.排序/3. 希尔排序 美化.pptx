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3" r:id="rId2"/>
    <p:sldId id="284" r:id="rId3"/>
    <p:sldId id="337" r:id="rId4"/>
    <p:sldId id="338" r:id="rId5"/>
    <p:sldId id="339" r:id="rId6"/>
    <p:sldId id="340" r:id="rId7"/>
    <p:sldId id="341" r:id="rId8"/>
    <p:sldId id="342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15" r:id="rId2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660"/>
  </p:normalViewPr>
  <p:slideViewPr>
    <p:cSldViewPr snapToGrid="0">
      <p:cViewPr>
        <p:scale>
          <a:sx n="90" d="100"/>
          <a:sy n="90" d="100"/>
        </p:scale>
        <p:origin x="121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5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863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09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19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474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00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14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56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98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35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437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678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12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430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17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267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18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406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25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2020/11/25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25/11/2020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17395" y="1524496"/>
            <a:ext cx="7309210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　    基本思想：对待排记录序列先作“宏观”调整，再作“微观”调整。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又称缩小增量排序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)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56145" y="2032327"/>
            <a:ext cx="6531429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所谓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“宏观”调整，指的是，“跳跃式”的插入排序。即先将整个待排记录序列分割成若干子序列分别进行直接插入排序，待整个序列中的记录“基本有序”时，再对全体记录进行一次直接插入排序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053453" y="3927511"/>
            <a:ext cx="7309210" cy="498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 fontAlgn="auto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具体做法为：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4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17395" y="1524496"/>
            <a:ext cx="7309210" cy="873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希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尔排序又称缩小增量排序，是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1959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年由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D.L.Shell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提出来的，较前述几种插入排序方法有较大的改进。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r>
              <a:rPr lang="en-US" altLang="zh-CN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(Shell’s Sort)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17394" y="2695799"/>
            <a:ext cx="7475491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直接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插入排序算法简单，在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值较小时，效率比较高，在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值很大时，若序列按关键码基本有序，效率依然较高，其时间效率可提高到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O(n)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。希尔排序即是从这两点出发，给出插入排序的改进方法。</a:t>
            </a:r>
          </a:p>
        </p:txBody>
      </p:sp>
    </p:spTree>
    <p:extLst>
      <p:ext uri="{BB962C8B-B14F-4D97-AF65-F5344CB8AC3E}">
        <p14:creationId xmlns:p14="http://schemas.microsoft.com/office/powerpoint/2010/main" val="636086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99953" y="1620083"/>
            <a:ext cx="7309210" cy="21195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选择一个步长序列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tk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，其中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tj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tk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按步长序列个数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k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，对序列进行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k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趟排序；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3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每趟排序，根据对应的步长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，将待排序列分割成若干长度为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m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的子序列，分别对各子表进行直接插入排序。仅步长因子为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时，整个序列作为一个表来处理，表长度即为整个序列的长度。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希尔排序方法：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671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17395" y="858388"/>
            <a:ext cx="7309210" cy="4575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将记录序列分成若干子序列，分别对每个子序列进行插入排序。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05224" y="1429604"/>
            <a:ext cx="7309210" cy="21195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例如：将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个记录分成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个子序列：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R[1]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R[1+d]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R[1+2d]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R[1+kd] 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{ R[2]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R[2+d]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R[2+2d]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R[2+kd] 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…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{ R[d]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R[2d]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R[3d]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kd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R[(k+1)d] }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917395" y="3740926"/>
            <a:ext cx="7309210" cy="873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其中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称为增量，它的值在排序过程中从大到小逐渐缩小，直至最后一趟排序减为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47853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352550" y="774901"/>
            <a:ext cx="8534400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zh-CN" altLang="en-US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初始关键字     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49  38  65  97  76  13  27  </a:t>
            </a:r>
            <a:r>
              <a:rPr lang="en-US" altLang="zh-CN" sz="1600" b="1" u="sng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49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  55  04  </a:t>
            </a:r>
            <a:endParaRPr lang="en-US" altLang="zh-CN" sz="1600" b="1" dirty="0">
              <a:solidFill>
                <a:srgbClr val="5736FA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49                          13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38                          27  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      65                          </a:t>
            </a:r>
            <a:r>
              <a:rPr lang="en-US" altLang="zh-CN" sz="1600" b="1" u="sng" dirty="0">
                <a:latin typeface="Arial" panose="020B0604020202020204" pitchFamily="34" charset="0"/>
                <a:ea typeface="楷体_GB2312" pitchFamily="49" charset="-122"/>
              </a:rPr>
              <a:t>49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            97                          55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                  76                          04</a:t>
            </a:r>
          </a:p>
          <a:p>
            <a:pPr eaLnBrk="1" hangingPunct="1">
              <a:buSzPct val="80000"/>
              <a:buFontTx/>
              <a:buNone/>
            </a:pPr>
            <a:r>
              <a:rPr lang="en-US" altLang="zh-CN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  <a:p>
            <a:pPr eaLnBrk="1" hangingPunct="1">
              <a:buSzPct val="80000"/>
              <a:buFontTx/>
              <a:buNone/>
            </a:pPr>
            <a:endParaRPr lang="en-US" altLang="zh-CN" sz="1600" b="1" dirty="0">
              <a:solidFill>
                <a:srgbClr val="5736FA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SzPct val="80000"/>
              <a:buFontTx/>
              <a:buNone/>
            </a:pPr>
            <a:endParaRPr lang="en-US" altLang="zh-CN" sz="16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1504084" y="3596842"/>
            <a:ext cx="514985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zh-CN" altLang="en-US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二趟排序结果 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13  04  </a:t>
            </a:r>
            <a:r>
              <a:rPr lang="en-US" altLang="zh-CN" sz="1600" b="1" u="sng" dirty="0">
                <a:latin typeface="Arial" panose="020B0604020202020204" pitchFamily="34" charset="0"/>
                <a:ea typeface="楷体_GB2312" pitchFamily="49" charset="-122"/>
              </a:rPr>
              <a:t>49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38  27  49  55  65  97  76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endParaRPr lang="en-US" altLang="zh-CN" sz="16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2" name="Group 4"/>
          <p:cNvGrpSpPr>
            <a:grpSpLocks/>
          </p:cNvGrpSpPr>
          <p:nvPr/>
        </p:nvGrpSpPr>
        <p:grpSpPr bwMode="auto">
          <a:xfrm>
            <a:off x="2836068" y="1307858"/>
            <a:ext cx="1767307" cy="63743"/>
            <a:chOff x="1968" y="1056"/>
            <a:chExt cx="1872" cy="51"/>
          </a:xfrm>
        </p:grpSpPr>
        <p:sp>
          <p:nvSpPr>
            <p:cNvPr id="33" name="Line 5"/>
            <p:cNvSpPr>
              <a:spLocks noChangeShapeType="1"/>
            </p:cNvSpPr>
            <p:nvPr/>
          </p:nvSpPr>
          <p:spPr bwMode="auto">
            <a:xfrm>
              <a:off x="1968" y="1107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endParaRPr lang="zh-CN" altLang="en-US" sz="1600"/>
            </a:p>
          </p:txBody>
        </p:sp>
        <p:grpSp>
          <p:nvGrpSpPr>
            <p:cNvPr id="34" name="Group 6"/>
            <p:cNvGrpSpPr>
              <a:grpSpLocks/>
            </p:cNvGrpSpPr>
            <p:nvPr/>
          </p:nvGrpSpPr>
          <p:grpSpPr bwMode="auto">
            <a:xfrm>
              <a:off x="1968" y="1056"/>
              <a:ext cx="1872" cy="48"/>
              <a:chOff x="1968" y="1056"/>
              <a:chExt cx="1872" cy="96"/>
            </a:xfrm>
          </p:grpSpPr>
          <p:sp>
            <p:nvSpPr>
              <p:cNvPr id="35" name="Line 7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  <p:sp>
            <p:nvSpPr>
              <p:cNvPr id="36" name="Line 8"/>
              <p:cNvSpPr>
                <a:spLocks noChangeShapeType="1"/>
              </p:cNvSpPr>
              <p:nvPr/>
            </p:nvSpPr>
            <p:spPr bwMode="auto">
              <a:xfrm flipV="1">
                <a:off x="3840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38" name="Group 9"/>
          <p:cNvGrpSpPr>
            <a:grpSpLocks/>
          </p:cNvGrpSpPr>
          <p:nvPr/>
        </p:nvGrpSpPr>
        <p:grpSpPr bwMode="auto">
          <a:xfrm>
            <a:off x="3244944" y="1581749"/>
            <a:ext cx="1685644" cy="47027"/>
            <a:chOff x="1968" y="1056"/>
            <a:chExt cx="1872" cy="51"/>
          </a:xfrm>
        </p:grpSpPr>
        <p:sp>
          <p:nvSpPr>
            <p:cNvPr id="39" name="Line 10"/>
            <p:cNvSpPr>
              <a:spLocks noChangeShapeType="1"/>
            </p:cNvSpPr>
            <p:nvPr/>
          </p:nvSpPr>
          <p:spPr bwMode="auto">
            <a:xfrm>
              <a:off x="1968" y="1107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endParaRPr lang="zh-CN" altLang="en-US" sz="1600"/>
            </a:p>
          </p:txBody>
        </p:sp>
        <p:grpSp>
          <p:nvGrpSpPr>
            <p:cNvPr id="40" name="Group 11"/>
            <p:cNvGrpSpPr>
              <a:grpSpLocks/>
            </p:cNvGrpSpPr>
            <p:nvPr/>
          </p:nvGrpSpPr>
          <p:grpSpPr bwMode="auto">
            <a:xfrm>
              <a:off x="1968" y="1056"/>
              <a:ext cx="1872" cy="48"/>
              <a:chOff x="1968" y="1056"/>
              <a:chExt cx="1872" cy="96"/>
            </a:xfrm>
          </p:grpSpPr>
          <p:sp>
            <p:nvSpPr>
              <p:cNvPr id="41" name="Line 12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  <p:sp>
            <p:nvSpPr>
              <p:cNvPr id="42" name="Line 13"/>
              <p:cNvSpPr>
                <a:spLocks noChangeShapeType="1"/>
              </p:cNvSpPr>
              <p:nvPr/>
            </p:nvSpPr>
            <p:spPr bwMode="auto">
              <a:xfrm flipV="1">
                <a:off x="3840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43" name="Group 14"/>
          <p:cNvGrpSpPr>
            <a:grpSpLocks/>
          </p:cNvGrpSpPr>
          <p:nvPr/>
        </p:nvGrpSpPr>
        <p:grpSpPr bwMode="auto">
          <a:xfrm>
            <a:off x="3566832" y="1851768"/>
            <a:ext cx="1726826" cy="56977"/>
            <a:chOff x="1968" y="1056"/>
            <a:chExt cx="1872" cy="51"/>
          </a:xfrm>
        </p:grpSpPr>
        <p:sp>
          <p:nvSpPr>
            <p:cNvPr id="44" name="Line 15"/>
            <p:cNvSpPr>
              <a:spLocks noChangeShapeType="1"/>
            </p:cNvSpPr>
            <p:nvPr/>
          </p:nvSpPr>
          <p:spPr bwMode="auto">
            <a:xfrm>
              <a:off x="1968" y="1107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endParaRPr lang="zh-CN" altLang="en-US" sz="1600"/>
            </a:p>
          </p:txBody>
        </p:sp>
        <p:grpSp>
          <p:nvGrpSpPr>
            <p:cNvPr id="45" name="Group 16"/>
            <p:cNvGrpSpPr>
              <a:grpSpLocks/>
            </p:cNvGrpSpPr>
            <p:nvPr/>
          </p:nvGrpSpPr>
          <p:grpSpPr bwMode="auto">
            <a:xfrm>
              <a:off x="1968" y="1056"/>
              <a:ext cx="1872" cy="48"/>
              <a:chOff x="1968" y="1056"/>
              <a:chExt cx="1872" cy="96"/>
            </a:xfrm>
          </p:grpSpPr>
          <p:sp>
            <p:nvSpPr>
              <p:cNvPr id="46" name="Line 17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  <p:sp>
            <p:nvSpPr>
              <p:cNvPr id="47" name="Line 18"/>
              <p:cNvSpPr>
                <a:spLocks noChangeShapeType="1"/>
              </p:cNvSpPr>
              <p:nvPr/>
            </p:nvSpPr>
            <p:spPr bwMode="auto">
              <a:xfrm flipV="1">
                <a:off x="3840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48" name="Group 19"/>
          <p:cNvGrpSpPr>
            <a:grpSpLocks/>
          </p:cNvGrpSpPr>
          <p:nvPr/>
        </p:nvGrpSpPr>
        <p:grpSpPr bwMode="auto">
          <a:xfrm>
            <a:off x="3894325" y="2079223"/>
            <a:ext cx="1713099" cy="60973"/>
            <a:chOff x="1968" y="1056"/>
            <a:chExt cx="1872" cy="51"/>
          </a:xfrm>
        </p:grpSpPr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1968" y="1107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endParaRPr lang="zh-CN" altLang="en-US" sz="1600"/>
            </a:p>
          </p:txBody>
        </p:sp>
        <p:grpSp>
          <p:nvGrpSpPr>
            <p:cNvPr id="50" name="Group 21"/>
            <p:cNvGrpSpPr>
              <a:grpSpLocks/>
            </p:cNvGrpSpPr>
            <p:nvPr/>
          </p:nvGrpSpPr>
          <p:grpSpPr bwMode="auto">
            <a:xfrm>
              <a:off x="1968" y="1056"/>
              <a:ext cx="1872" cy="48"/>
              <a:chOff x="1968" y="1056"/>
              <a:chExt cx="1872" cy="96"/>
            </a:xfrm>
          </p:grpSpPr>
          <p:sp>
            <p:nvSpPr>
              <p:cNvPr id="51" name="Line 22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  <p:sp>
            <p:nvSpPr>
              <p:cNvPr id="52" name="Line 23"/>
              <p:cNvSpPr>
                <a:spLocks noChangeShapeType="1"/>
              </p:cNvSpPr>
              <p:nvPr/>
            </p:nvSpPr>
            <p:spPr bwMode="auto">
              <a:xfrm flipV="1">
                <a:off x="3840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53" name="Group 24"/>
          <p:cNvGrpSpPr>
            <a:grpSpLocks/>
          </p:cNvGrpSpPr>
          <p:nvPr/>
        </p:nvGrpSpPr>
        <p:grpSpPr bwMode="auto">
          <a:xfrm>
            <a:off x="4226859" y="2373088"/>
            <a:ext cx="1761564" cy="45719"/>
            <a:chOff x="1968" y="1056"/>
            <a:chExt cx="1872" cy="51"/>
          </a:xfrm>
        </p:grpSpPr>
        <p:sp>
          <p:nvSpPr>
            <p:cNvPr id="54" name="Line 25"/>
            <p:cNvSpPr>
              <a:spLocks noChangeShapeType="1"/>
            </p:cNvSpPr>
            <p:nvPr/>
          </p:nvSpPr>
          <p:spPr bwMode="auto">
            <a:xfrm>
              <a:off x="1968" y="1107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endParaRPr lang="zh-CN" altLang="en-US" sz="1600"/>
            </a:p>
          </p:txBody>
        </p:sp>
        <p:grpSp>
          <p:nvGrpSpPr>
            <p:cNvPr id="55" name="Group 26"/>
            <p:cNvGrpSpPr>
              <a:grpSpLocks/>
            </p:cNvGrpSpPr>
            <p:nvPr/>
          </p:nvGrpSpPr>
          <p:grpSpPr bwMode="auto">
            <a:xfrm>
              <a:off x="1968" y="1056"/>
              <a:ext cx="1872" cy="48"/>
              <a:chOff x="1968" y="1056"/>
              <a:chExt cx="1872" cy="96"/>
            </a:xfrm>
          </p:grpSpPr>
          <p:sp>
            <p:nvSpPr>
              <p:cNvPr id="56" name="Line 27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  <p:sp>
            <p:nvSpPr>
              <p:cNvPr id="57" name="Line 28"/>
              <p:cNvSpPr>
                <a:spLocks noChangeShapeType="1"/>
              </p:cNvSpPr>
              <p:nvPr/>
            </p:nvSpPr>
            <p:spPr bwMode="auto">
              <a:xfrm flipV="1">
                <a:off x="3840" y="1056"/>
                <a:ext cx="0" cy="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lang="zh-CN" altLang="en-US" sz="1600"/>
              </a:p>
            </p:txBody>
          </p:sp>
        </p:grpSp>
      </p:grpSp>
      <p:sp>
        <p:nvSpPr>
          <p:cNvPr id="58" name="Line 29"/>
          <p:cNvSpPr>
            <a:spLocks noChangeShapeType="1"/>
          </p:cNvSpPr>
          <p:nvPr/>
        </p:nvSpPr>
        <p:spPr bwMode="auto">
          <a:xfrm flipV="1">
            <a:off x="2902585" y="3009358"/>
            <a:ext cx="3085838" cy="1194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59" name="Line 30"/>
          <p:cNvSpPr>
            <a:spLocks noChangeShapeType="1"/>
          </p:cNvSpPr>
          <p:nvPr/>
        </p:nvSpPr>
        <p:spPr bwMode="auto">
          <a:xfrm flipV="1">
            <a:off x="2912110" y="2945100"/>
            <a:ext cx="0" cy="76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endParaRPr lang="zh-CN" altLang="en-US" sz="1600"/>
          </a:p>
        </p:txBody>
      </p:sp>
      <p:sp>
        <p:nvSpPr>
          <p:cNvPr id="60" name="Line 31"/>
          <p:cNvSpPr>
            <a:spLocks noChangeShapeType="1"/>
          </p:cNvSpPr>
          <p:nvPr/>
        </p:nvSpPr>
        <p:spPr bwMode="auto">
          <a:xfrm flipV="1">
            <a:off x="5988424" y="2945099"/>
            <a:ext cx="0" cy="60504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1" name="Line 32"/>
          <p:cNvSpPr>
            <a:spLocks noChangeShapeType="1"/>
          </p:cNvSpPr>
          <p:nvPr/>
        </p:nvSpPr>
        <p:spPr bwMode="auto">
          <a:xfrm flipV="1">
            <a:off x="3929520" y="2929548"/>
            <a:ext cx="0" cy="7605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2" name="Line 33"/>
          <p:cNvSpPr>
            <a:spLocks noChangeShapeType="1"/>
          </p:cNvSpPr>
          <p:nvPr/>
        </p:nvSpPr>
        <p:spPr bwMode="auto">
          <a:xfrm flipV="1">
            <a:off x="4946930" y="2926050"/>
            <a:ext cx="0" cy="9525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3" name="Line 34"/>
          <p:cNvSpPr>
            <a:spLocks noChangeShapeType="1"/>
          </p:cNvSpPr>
          <p:nvPr/>
        </p:nvSpPr>
        <p:spPr bwMode="auto">
          <a:xfrm flipV="1">
            <a:off x="3269440" y="3307811"/>
            <a:ext cx="2062315" cy="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4" name="Line 35"/>
          <p:cNvSpPr>
            <a:spLocks noChangeShapeType="1"/>
          </p:cNvSpPr>
          <p:nvPr/>
        </p:nvSpPr>
        <p:spPr bwMode="auto">
          <a:xfrm flipV="1">
            <a:off x="3259915" y="3217325"/>
            <a:ext cx="0" cy="76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5" name="Line 36"/>
          <p:cNvSpPr>
            <a:spLocks noChangeShapeType="1"/>
          </p:cNvSpPr>
          <p:nvPr/>
        </p:nvSpPr>
        <p:spPr bwMode="auto">
          <a:xfrm flipV="1">
            <a:off x="4324085" y="3214592"/>
            <a:ext cx="0" cy="93219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6" name="Line 37"/>
          <p:cNvSpPr>
            <a:spLocks noChangeShapeType="1"/>
          </p:cNvSpPr>
          <p:nvPr/>
        </p:nvSpPr>
        <p:spPr bwMode="auto">
          <a:xfrm>
            <a:off x="7162800" y="4800600"/>
            <a:ext cx="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endParaRPr lang="zh-CN" altLang="en-US" sz="1600"/>
          </a:p>
        </p:txBody>
      </p:sp>
      <p:sp>
        <p:nvSpPr>
          <p:cNvPr id="67" name="Line 38"/>
          <p:cNvSpPr>
            <a:spLocks noChangeShapeType="1"/>
          </p:cNvSpPr>
          <p:nvPr/>
        </p:nvSpPr>
        <p:spPr bwMode="auto">
          <a:xfrm flipH="1">
            <a:off x="5331755" y="3214594"/>
            <a:ext cx="0" cy="9321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8" name="Line 39"/>
          <p:cNvSpPr>
            <a:spLocks noChangeShapeType="1"/>
          </p:cNvSpPr>
          <p:nvPr/>
        </p:nvSpPr>
        <p:spPr bwMode="auto">
          <a:xfrm flipV="1">
            <a:off x="3541058" y="3594321"/>
            <a:ext cx="2131322" cy="252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 flipH="1">
            <a:off x="3566832" y="3494101"/>
            <a:ext cx="0" cy="10022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70" name="Line 41"/>
          <p:cNvSpPr>
            <a:spLocks noChangeShapeType="1"/>
          </p:cNvSpPr>
          <p:nvPr/>
        </p:nvSpPr>
        <p:spPr bwMode="auto">
          <a:xfrm flipH="1" flipV="1">
            <a:off x="4603375" y="3466042"/>
            <a:ext cx="0" cy="119649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71" name="Line 42"/>
          <p:cNvSpPr>
            <a:spLocks noChangeShapeType="1"/>
          </p:cNvSpPr>
          <p:nvPr/>
        </p:nvSpPr>
        <p:spPr bwMode="auto">
          <a:xfrm flipH="1" flipV="1">
            <a:off x="5672380" y="3477665"/>
            <a:ext cx="0" cy="119176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endParaRPr lang="zh-CN" altLang="en-US" sz="1600"/>
          </a:p>
        </p:txBody>
      </p:sp>
      <p:sp>
        <p:nvSpPr>
          <p:cNvPr id="72" name="Text Box 43"/>
          <p:cNvSpPr txBox="1">
            <a:spLocks noChangeArrowheads="1"/>
          </p:cNvSpPr>
          <p:nvPr/>
        </p:nvSpPr>
        <p:spPr bwMode="auto">
          <a:xfrm>
            <a:off x="1352550" y="1074946"/>
            <a:ext cx="13244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百度综艺简体"/>
                <a:ea typeface="楷体_GB2312" pitchFamily="49" charset="-122"/>
              </a:rPr>
              <a:t>设增量</a:t>
            </a:r>
            <a:r>
              <a:rPr lang="zh-CN" altLang="en-US" sz="1600" dirty="0">
                <a:solidFill>
                  <a:srgbClr val="005042"/>
                </a:solidFill>
                <a:latin typeface="百度综艺简体"/>
                <a:ea typeface="隶书" panose="02010509060101010101" pitchFamily="49" charset="-122"/>
              </a:rPr>
              <a:t> </a:t>
            </a:r>
            <a:r>
              <a:rPr lang="en-US" altLang="zh-CN" sz="1600" b="1" dirty="0">
                <a:solidFill>
                  <a:srgbClr val="A50021"/>
                </a:solidFill>
                <a:latin typeface="百度综艺简体"/>
                <a:ea typeface="楷体_GB2312" pitchFamily="49" charset="-122"/>
              </a:rPr>
              <a:t>d =5</a:t>
            </a:r>
            <a:endParaRPr lang="en-US" altLang="zh-CN" sz="1600" b="1" dirty="0">
              <a:solidFill>
                <a:schemeClr val="tx2"/>
              </a:solidFill>
              <a:latin typeface="百度综艺简体"/>
              <a:ea typeface="楷体_GB2312" pitchFamily="49" charset="-122"/>
            </a:endParaRPr>
          </a:p>
        </p:txBody>
      </p:sp>
      <p:sp>
        <p:nvSpPr>
          <p:cNvPr id="73" name="Text Box 44"/>
          <p:cNvSpPr txBox="1">
            <a:spLocks noChangeArrowheads="1"/>
          </p:cNvSpPr>
          <p:nvPr/>
        </p:nvSpPr>
        <p:spPr bwMode="auto">
          <a:xfrm>
            <a:off x="1504084" y="2720603"/>
            <a:ext cx="12410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ea typeface="楷体_GB2312" pitchFamily="49" charset="-122"/>
              </a:rPr>
              <a:t>设增量</a:t>
            </a:r>
            <a:r>
              <a:rPr lang="zh-CN" altLang="en-US" sz="1600" dirty="0">
                <a:solidFill>
                  <a:srgbClr val="005042"/>
                </a:solidFill>
                <a:ea typeface="隶书" panose="02010509060101010101" pitchFamily="49" charset="-122"/>
              </a:rPr>
              <a:t> </a:t>
            </a:r>
            <a:r>
              <a:rPr lang="en-US" altLang="zh-CN" sz="1600" b="1" dirty="0">
                <a:solidFill>
                  <a:srgbClr val="A50021"/>
                </a:solidFill>
                <a:ea typeface="楷体_GB2312" pitchFamily="49" charset="-122"/>
              </a:rPr>
              <a:t>d =3</a:t>
            </a:r>
            <a:endParaRPr lang="en-US" altLang="zh-CN" sz="16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74" name="Text Box 45"/>
          <p:cNvSpPr txBox="1">
            <a:spLocks noChangeArrowheads="1"/>
          </p:cNvSpPr>
          <p:nvPr/>
        </p:nvSpPr>
        <p:spPr bwMode="auto">
          <a:xfrm>
            <a:off x="1615448" y="3895423"/>
            <a:ext cx="12410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ea typeface="楷体_GB2312" pitchFamily="49" charset="-122"/>
              </a:rPr>
              <a:t>设增量</a:t>
            </a:r>
            <a:r>
              <a:rPr lang="zh-CN" altLang="en-US" sz="1600" dirty="0">
                <a:solidFill>
                  <a:srgbClr val="005042"/>
                </a:solidFill>
                <a:ea typeface="隶书" panose="02010509060101010101" pitchFamily="49" charset="-122"/>
              </a:rPr>
              <a:t> </a:t>
            </a:r>
            <a:r>
              <a:rPr lang="en-US" altLang="zh-CN" sz="1600" b="1" dirty="0">
                <a:solidFill>
                  <a:srgbClr val="A50021"/>
                </a:solidFill>
                <a:ea typeface="楷体_GB2312" pitchFamily="49" charset="-122"/>
              </a:rPr>
              <a:t>d =1</a:t>
            </a:r>
            <a:endParaRPr lang="en-US" altLang="zh-CN" sz="16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75" name="Rectangle 46"/>
          <p:cNvSpPr>
            <a:spLocks noChangeArrowheads="1"/>
          </p:cNvSpPr>
          <p:nvPr/>
        </p:nvSpPr>
        <p:spPr bwMode="auto">
          <a:xfrm>
            <a:off x="1407459" y="2426708"/>
            <a:ext cx="5171141" cy="115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zh-CN" altLang="en-US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一趟排序结果 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13  27  </a:t>
            </a:r>
            <a:r>
              <a:rPr lang="en-US" altLang="zh-CN" sz="1600" b="1" u="sng" dirty="0">
                <a:latin typeface="Arial" panose="020B0604020202020204" pitchFamily="34" charset="0"/>
                <a:ea typeface="楷体_GB2312" pitchFamily="49" charset="-122"/>
              </a:rPr>
              <a:t>49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55  04  49  38  65  97  76</a:t>
            </a:r>
            <a:r>
              <a:rPr lang="en-US" altLang="zh-CN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13              55              38              76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27              04              65 </a:t>
            </a:r>
          </a:p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                     </a:t>
            </a:r>
            <a:r>
              <a:rPr lang="en-US" altLang="zh-CN" sz="1600" b="1" u="sng" dirty="0">
                <a:latin typeface="Arial" panose="020B0604020202020204" pitchFamily="34" charset="0"/>
                <a:ea typeface="楷体_GB2312" pitchFamily="49" charset="-122"/>
              </a:rPr>
              <a:t>49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            49              97</a:t>
            </a:r>
          </a:p>
        </p:txBody>
      </p:sp>
      <p:sp>
        <p:nvSpPr>
          <p:cNvPr id="76" name="Rectangle 47"/>
          <p:cNvSpPr>
            <a:spLocks noChangeArrowheads="1"/>
          </p:cNvSpPr>
          <p:nvPr/>
        </p:nvSpPr>
        <p:spPr bwMode="auto">
          <a:xfrm>
            <a:off x="1504084" y="4334192"/>
            <a:ext cx="47981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80000"/>
              <a:buFontTx/>
              <a:buNone/>
            </a:pPr>
            <a:r>
              <a:rPr lang="zh-CN" altLang="en-US" sz="1600" b="1" dirty="0">
                <a:solidFill>
                  <a:srgbClr val="5736FA"/>
                </a:solidFill>
                <a:latin typeface="Arial" panose="020B0604020202020204" pitchFamily="34" charset="0"/>
                <a:ea typeface="楷体_GB2312" pitchFamily="49" charset="-122"/>
              </a:rPr>
              <a:t>三趟排序结果 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04  13  27  38  </a:t>
            </a:r>
            <a:r>
              <a:rPr lang="en-US" altLang="zh-CN" sz="1600" b="1" u="sng" dirty="0">
                <a:latin typeface="Arial" panose="020B0604020202020204" pitchFamily="34" charset="0"/>
                <a:ea typeface="楷体_GB2312" pitchFamily="49" charset="-122"/>
              </a:rPr>
              <a:t>49</a:t>
            </a:r>
            <a:r>
              <a:rPr lang="en-US" altLang="zh-CN" sz="1600" b="1" dirty="0">
                <a:latin typeface="Arial" panose="020B0604020202020204" pitchFamily="34" charset="0"/>
                <a:ea typeface="楷体_GB2312" pitchFamily="49" charset="-122"/>
              </a:rPr>
              <a:t>  49  55  65  76  97</a:t>
            </a:r>
          </a:p>
        </p:txBody>
      </p:sp>
    </p:spTree>
    <p:extLst>
      <p:ext uri="{BB962C8B-B14F-4D97-AF65-F5344CB8AC3E}">
        <p14:creationId xmlns:p14="http://schemas.microsoft.com/office/powerpoint/2010/main" val="113916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500"/>
                            </p:stCondLst>
                            <p:childTnLst>
                              <p:par>
                                <p:cTn id="1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500"/>
                            </p:stCondLst>
                            <p:childTnLst>
                              <p:par>
                                <p:cTn id="1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000"/>
                            </p:stCondLst>
                            <p:childTnLst>
                              <p:par>
                                <p:cTn id="1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9" grpId="0" autoUpdateAnimBg="0"/>
      <p:bldP spid="30" grpId="0" autoUpdateAnimBg="0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utoUpdateAnimBg="0"/>
      <p:bldP spid="73" grpId="0" autoUpdateAnimBg="0"/>
      <p:bldP spid="74" grpId="0" autoUpdateAnimBg="0"/>
      <p:bldP spid="75" grpId="0" autoUpdateAnimBg="0"/>
      <p:bldP spid="7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17395" y="1141677"/>
            <a:ext cx="7309210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从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述排序过程可见，希尔排序中子序列的构成不是简单地“逐段分割”，而是将相隔某个“增量”的记录组成一个子序列。关键字较小的记录不是一步一步地往前挪动，而是跳跃式地往前移，从而使得在进行最后一趟增量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的插入排序时，序列已基本有序，只要作记录的少量比较和移动即可完成排序，因而希尔排序的时间复杂度较直接插入排序低。它的时间是所取“增量”序列的函数。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2242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希尔排序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17395" y="1504443"/>
            <a:ext cx="7309210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希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尔排序时效分析很难，关键码的比较次数与记录移动次数依赖于步长因子序列的选取，特定情况下可以准确估算出关键码的比较次数和记录的移动次数。目前还没有人给出选取最好的步长因子序列的方法。步长因子序列可以有各种取法，有取奇数的，也有取质数的，但需要注意：步长因子中除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外没有公因子，且最后一个步长因子必须为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。希尔排序方法是一个不稳定的排序方法。</a:t>
            </a:r>
          </a:p>
        </p:txBody>
      </p:sp>
      <p:sp>
        <p:nvSpPr>
          <p:cNvPr id="12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【</a:t>
            </a:r>
            <a:r>
              <a:rPr lang="zh-CN" altLang="en-US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时效分析</a:t>
            </a:r>
            <a:r>
              <a:rPr lang="en-US" altLang="zh-CN" sz="20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050382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一趟直接插入排序的基本思想：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812527"/>
            <a:ext cx="7277822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把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个记录的序列划分为已排序部分和未排序部分，即在涉及第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个记录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R1, . . .  ,Ri-1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）是已排好的有序部分，（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Ri,Ri+1, . . . ,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）属于未排序部分。找出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在此有序序列中应插入的位置，将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插入。原位置上的记录至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均顺序后移一位。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643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57288" y="1127367"/>
            <a:ext cx="3352800" cy="488548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有序序列</a:t>
            </a:r>
            <a:r>
              <a:rPr lang="en-US" altLang="zh-CN" sz="1800">
                <a:latin typeface="百度综艺简体"/>
              </a:rPr>
              <a:t>R[1..i-1]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910088" y="1920715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百度综艺简体"/>
              </a:rPr>
              <a:t>R[i]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910088" y="1127367"/>
            <a:ext cx="4724400" cy="4885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无序序列 </a:t>
            </a:r>
            <a:r>
              <a:rPr lang="en-US" altLang="zh-CN" sz="1800">
                <a:latin typeface="百度综艺简体"/>
              </a:rPr>
              <a:t>R[i..n]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57288" y="4130515"/>
            <a:ext cx="4114800" cy="506799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有序序列</a:t>
            </a:r>
            <a:r>
              <a:rPr lang="en-US" altLang="zh-CN" sz="1800">
                <a:latin typeface="百度综艺简体"/>
              </a:rPr>
              <a:t>R[1..i]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672088" y="4130515"/>
            <a:ext cx="3962400" cy="5067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无序序列 </a:t>
            </a:r>
            <a:r>
              <a:rPr lang="en-US" altLang="zh-CN" sz="1800">
                <a:latin typeface="百度综艺简体"/>
              </a:rPr>
              <a:t>R[i+1..n]</a:t>
            </a:r>
          </a:p>
        </p:txBody>
      </p:sp>
      <p:cxnSp>
        <p:nvCxnSpPr>
          <p:cNvPr id="24" name="AutoShape 7"/>
          <p:cNvCxnSpPr>
            <a:cxnSpLocks noChangeShapeType="1"/>
            <a:stCxn id="14" idx="1"/>
            <a:endCxn id="13" idx="2"/>
          </p:cNvCxnSpPr>
          <p:nvPr/>
        </p:nvCxnSpPr>
        <p:spPr bwMode="auto">
          <a:xfrm rot="10800000">
            <a:off x="2233688" y="1615915"/>
            <a:ext cx="1676400" cy="723900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8"/>
          <p:cNvSpPr>
            <a:spLocks noChangeArrowheads="1"/>
          </p:cNvSpPr>
          <p:nvPr/>
        </p:nvSpPr>
        <p:spPr bwMode="auto">
          <a:xfrm>
            <a:off x="3152443" y="2785443"/>
            <a:ext cx="488950" cy="800100"/>
          </a:xfrm>
          <a:prstGeom prst="downArrow">
            <a:avLst>
              <a:gd name="adj1" fmla="val 50000"/>
              <a:gd name="adj2" fmla="val 40909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/>
            </a:endParaRP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672088" y="777715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/>
            </a:endParaRPr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4672088" y="2758915"/>
            <a:ext cx="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/>
            </a:endParaRPr>
          </a:p>
        </p:txBody>
      </p:sp>
    </p:spTree>
    <p:extLst>
      <p:ext uri="{BB962C8B-B14F-4D97-AF65-F5344CB8AC3E}">
        <p14:creationId xmlns:p14="http://schemas.microsoft.com/office/powerpoint/2010/main" val="96128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 animBg="1" autoUpdateAnimBg="0"/>
      <p:bldP spid="14" grpId="0" animBg="1" autoUpdateAnimBg="0"/>
      <p:bldP spid="17" grpId="0" animBg="1" autoUpdateAnimBg="0"/>
      <p:bldP spid="20" grpId="0" animBg="1" autoUpdateAnimBg="0"/>
      <p:bldP spid="23" grpId="0" animBg="1" autoUpdateAnimBg="0"/>
      <p:bldP spid="26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实现“一趟插入排序”可分三步进行：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69029" y="1442385"/>
            <a:ext cx="7277822" cy="11154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的插入位置，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R[1..j].key  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].key &lt; R[j+1..i-1].key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9029" y="2572246"/>
            <a:ext cx="7277822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．将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R[j+1..i-1]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中的所有记录均后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移一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个位置；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69029" y="3181640"/>
            <a:ext cx="7277822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3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．将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复制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R[j+1]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的位置上。</a:t>
            </a:r>
          </a:p>
        </p:txBody>
      </p:sp>
    </p:spTree>
    <p:extLst>
      <p:ext uri="{BB962C8B-B14F-4D97-AF65-F5344CB8AC3E}">
        <p14:creationId xmlns:p14="http://schemas.microsoft.com/office/powerpoint/2010/main" val="3851320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一、直接插入排序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099953" y="1869053"/>
            <a:ext cx="7277822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　　利用 “顺序查找”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实现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的插入位置”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54883" y="2755126"/>
            <a:ext cx="2534737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算法的实现要点：</a:t>
            </a:r>
          </a:p>
        </p:txBody>
      </p:sp>
    </p:spTree>
    <p:extLst>
      <p:ext uri="{BB962C8B-B14F-4D97-AF65-F5344CB8AC3E}">
        <p14:creationId xmlns:p14="http://schemas.microsoft.com/office/powerpoint/2010/main" val="654153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99952" y="883992"/>
            <a:ext cx="6072335" cy="940959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从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R[i-1]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起向前进行顺序查找，            </a:t>
            </a:r>
            <a:endParaRPr lang="en-US" altLang="zh-CN" sz="2000" dirty="0" smtClean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  <a:p>
            <a:pPr defTabSz="911225"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监视哨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设置在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R[0]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；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6" descr="大棋盘"/>
          <p:cNvSpPr>
            <a:spLocks noChangeArrowheads="1"/>
          </p:cNvSpPr>
          <p:nvPr/>
        </p:nvSpPr>
        <p:spPr bwMode="auto">
          <a:xfrm>
            <a:off x="1789612" y="2057265"/>
            <a:ext cx="3124200" cy="3048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484812" y="2057265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761412" y="236206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3466012" y="236206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88237" y="2514465"/>
            <a:ext cx="5873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/>
              <a:t>j</a:t>
            </a:r>
          </a:p>
        </p:txBody>
      </p:sp>
      <p:sp>
        <p:nvSpPr>
          <p:cNvPr id="26" name="Rectangle 12" descr="60%"/>
          <p:cNvSpPr>
            <a:spLocks noChangeArrowheads="1"/>
          </p:cNvSpPr>
          <p:nvPr/>
        </p:nvSpPr>
        <p:spPr bwMode="auto">
          <a:xfrm>
            <a:off x="3618412" y="2057265"/>
            <a:ext cx="1295400" cy="304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913812" y="2057265"/>
            <a:ext cx="34290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4913812" y="2057265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4631003" y="1718711"/>
            <a:ext cx="5164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</a:p>
        </p:txBody>
      </p: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4837612" y="2666865"/>
            <a:ext cx="9683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/>
              <a:t>j=i-1</a:t>
            </a: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>
            <a:off x="4205787" y="2683742"/>
            <a:ext cx="1600200" cy="381000"/>
          </a:xfrm>
          <a:prstGeom prst="wedgeRoundRectCallout">
            <a:avLst>
              <a:gd name="adj1" fmla="val -80653"/>
              <a:gd name="adj2" fmla="val -129861"/>
              <a:gd name="adj3" fmla="val 16667"/>
            </a:avLst>
          </a:prstGeom>
          <a:solidFill>
            <a:srgbClr val="FFFF99">
              <a:alpha val="50195"/>
            </a:srgbClr>
          </a:solidFill>
          <a:ln w="12700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990000"/>
                </a:solidFill>
                <a:ea typeface="楷体_GB2312" pitchFamily="49" charset="-122"/>
              </a:rPr>
              <a:t>插入位置</a:t>
            </a:r>
            <a:endParaRPr lang="zh-CN" altLang="en-US" sz="1600"/>
          </a:p>
        </p:txBody>
      </p: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1495698" y="3124065"/>
            <a:ext cx="4726577" cy="457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R[0] = R[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];                   </a:t>
            </a:r>
            <a:r>
              <a:rPr lang="en-US" altLang="zh-CN" sz="1400" dirty="0" smtClean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设置“哨兵”</a:t>
            </a: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495698" y="3482955"/>
            <a:ext cx="5987142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for (j=i-1; R[0].key&lt;R[j].key; --j)  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从后往前找</a:t>
            </a: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1495698" y="4114653"/>
            <a:ext cx="4726577" cy="457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循环结束表明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的插入位置为 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 +1</a:t>
            </a:r>
          </a:p>
        </p:txBody>
      </p:sp>
    </p:spTree>
    <p:extLst>
      <p:ext uri="{BB962C8B-B14F-4D97-AF65-F5344CB8AC3E}">
        <p14:creationId xmlns:p14="http://schemas.microsoft.com/office/powerpoint/2010/main" val="123506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4" grpId="0" animBg="1"/>
      <p:bldP spid="17" grpId="0" animBg="1"/>
      <p:bldP spid="20" grpId="0" animBg="1"/>
      <p:bldP spid="23" grpId="0" animBg="1"/>
      <p:bldP spid="24" grpId="0" autoUpdateAnimBg="0"/>
      <p:bldP spid="26" grpId="0" animBg="1"/>
      <p:bldP spid="28" grpId="0" animBg="1"/>
      <p:bldP spid="29" grpId="0" animBg="1"/>
      <p:bldP spid="30" grpId="0" autoUpdateAnimBg="0"/>
      <p:bldP spid="32" grpId="0" autoUpdateAnimBg="0"/>
      <p:bldP spid="33" grpId="0" animBg="1" autoUpdateAnimBg="0"/>
      <p:bldP spid="34" grpId="0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827562" y="816610"/>
            <a:ext cx="7488876" cy="940959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        对于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在查找过程中找到的那些关键字不小于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</a:t>
            </a:r>
            <a:r>
              <a:rPr lang="en-US" altLang="zh-CN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i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].key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记录，并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在查找的同时实现记录向后移动；</a:t>
            </a:r>
            <a:endParaRPr lang="zh-CN" altLang="en-US" sz="2000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1743892" y="1490854"/>
            <a:ext cx="4726577" cy="8836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pt-BR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for (j=i-1; R[0].key&lt;R[j].key; --j)</a:t>
            </a:r>
          </a:p>
          <a:p>
            <a:pPr fontAlgn="auto">
              <a:lnSpc>
                <a:spcPct val="200000"/>
              </a:lnSpc>
            </a:pPr>
            <a:r>
              <a:rPr lang="pt-BR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   R[j+1] = R[j];</a:t>
            </a: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578429" y="4601980"/>
            <a:ext cx="5987142" cy="376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上述循环结束后可以直接进行“插入”</a:t>
            </a:r>
          </a:p>
        </p:txBody>
      </p:sp>
      <p:sp>
        <p:nvSpPr>
          <p:cNvPr id="38" name="Rectangle 5" descr="大棋盘"/>
          <p:cNvSpPr>
            <a:spLocks noChangeArrowheads="1"/>
          </p:cNvSpPr>
          <p:nvPr/>
        </p:nvSpPr>
        <p:spPr bwMode="auto">
          <a:xfrm>
            <a:off x="1883229" y="2929879"/>
            <a:ext cx="3124200" cy="457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1578429" y="2929879"/>
            <a:ext cx="304800" cy="4572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4855029" y="3463279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3559629" y="3387079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3581854" y="3463279"/>
            <a:ext cx="5873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百度综艺简体" panose="02010601030101010101"/>
              </a:rPr>
              <a:t>j</a:t>
            </a:r>
          </a:p>
        </p:txBody>
      </p:sp>
      <p:sp>
        <p:nvSpPr>
          <p:cNvPr id="44" name="Rectangle 11"/>
          <p:cNvSpPr>
            <a:spLocks noChangeArrowheads="1"/>
          </p:cNvSpPr>
          <p:nvPr/>
        </p:nvSpPr>
        <p:spPr bwMode="auto">
          <a:xfrm>
            <a:off x="5007429" y="2929879"/>
            <a:ext cx="3429000" cy="4572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5" name="Rectangle 12"/>
          <p:cNvSpPr>
            <a:spLocks noChangeArrowheads="1"/>
          </p:cNvSpPr>
          <p:nvPr/>
        </p:nvSpPr>
        <p:spPr bwMode="auto">
          <a:xfrm>
            <a:off x="5007429" y="2929879"/>
            <a:ext cx="304800" cy="4572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4755666" y="2548110"/>
            <a:ext cx="556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百度综艺简体" panose="02010601030101010101"/>
              </a:rPr>
              <a:t>R[</a:t>
            </a:r>
            <a:r>
              <a:rPr lang="en-US" altLang="zh-CN" sz="1800" dirty="0" err="1">
                <a:ea typeface="百度综艺简体" panose="02010601030101010101"/>
              </a:rPr>
              <a:t>i</a:t>
            </a:r>
            <a:r>
              <a:rPr lang="en-US" altLang="zh-CN" sz="1800" dirty="0">
                <a:ea typeface="百度综艺简体" panose="02010601030101010101"/>
              </a:rPr>
              <a:t>]</a:t>
            </a:r>
          </a:p>
        </p:txBody>
      </p:sp>
      <p:sp>
        <p:nvSpPr>
          <p:cNvPr id="47" name="Rectangle 14" descr="60%"/>
          <p:cNvSpPr>
            <a:spLocks noChangeArrowheads="1"/>
          </p:cNvSpPr>
          <p:nvPr/>
        </p:nvSpPr>
        <p:spPr bwMode="auto">
          <a:xfrm>
            <a:off x="4016829" y="2929879"/>
            <a:ext cx="12954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8" name="Rectangle 15" descr="大棋盘"/>
          <p:cNvSpPr>
            <a:spLocks noChangeArrowheads="1"/>
          </p:cNvSpPr>
          <p:nvPr/>
        </p:nvSpPr>
        <p:spPr bwMode="auto">
          <a:xfrm>
            <a:off x="3712029" y="2929879"/>
            <a:ext cx="304800" cy="457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4931229" y="3463279"/>
            <a:ext cx="11969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百度综艺简体" panose="02010601030101010101"/>
              </a:rPr>
              <a:t>j= i-1</a:t>
            </a:r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5007429" y="2929879"/>
            <a:ext cx="1588" cy="4572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20"/>
          <p:cNvSpPr>
            <a:spLocks noChangeArrowheads="1"/>
          </p:cNvSpPr>
          <p:nvPr/>
        </p:nvSpPr>
        <p:spPr bwMode="auto">
          <a:xfrm>
            <a:off x="4474029" y="3691879"/>
            <a:ext cx="1600200" cy="457200"/>
          </a:xfrm>
          <a:prstGeom prst="wedgeRoundRectCallout">
            <a:avLst>
              <a:gd name="adj1" fmla="val -87796"/>
              <a:gd name="adj2" fmla="val -163194"/>
              <a:gd name="adj3" fmla="val 16667"/>
            </a:avLst>
          </a:prstGeom>
          <a:solidFill>
            <a:srgbClr val="FFFF99">
              <a:alpha val="50195"/>
            </a:srgbClr>
          </a:solidFill>
          <a:ln w="12700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990000"/>
                </a:solidFill>
                <a:ea typeface="百度综艺简体" panose="02010601030101010101"/>
              </a:rPr>
              <a:t>插入位置</a:t>
            </a:r>
            <a:endParaRPr lang="zh-CN" altLang="en-US" sz="1800">
              <a:ea typeface="百度综艺简体" panose="0201060103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183535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34" grpId="0"/>
      <p:bldP spid="35" grpId="0"/>
      <p:bldP spid="38" grpId="0" animBg="1"/>
      <p:bldP spid="39" grpId="0" animBg="1"/>
      <p:bldP spid="40" grpId="0" animBg="1"/>
      <p:bldP spid="42" grpId="0" animBg="1"/>
      <p:bldP spid="43" grpId="0" autoUpdateAnimBg="0"/>
      <p:bldP spid="44" grpId="0" animBg="1"/>
      <p:bldP spid="45" grpId="0" animBg="1"/>
      <p:bldP spid="46" grpId="0" autoUpdateAnimBg="0"/>
      <p:bldP spid="47" grpId="0" animBg="1"/>
      <p:bldP spid="48" grpId="0" animBg="1"/>
      <p:bldP spid="49" grpId="0" autoUpdateAnimBg="0"/>
      <p:bldP spid="50" grpId="0" animBg="1"/>
      <p:bldP spid="5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737151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令 </a:t>
            </a:r>
            <a:r>
              <a:rPr lang="en-US" altLang="zh-CN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i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= 2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3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…, n, 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实现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整个序列的排序。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302510" y="1712298"/>
            <a:ext cx="4823278" cy="28623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for (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=2;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&lt;=n;  ++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)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if (R[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].key&lt;R[i-1].key) 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在 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的插入位置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 ;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595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772601" y="981893"/>
            <a:ext cx="2284107" cy="384584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直接插入排序示例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559106" y="1304102"/>
            <a:ext cx="632550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待排序记录序列为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(18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10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30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16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简单插入排序每一趟执行后的序列状态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945186" y="2092367"/>
            <a:ext cx="6325507" cy="2396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	    初始状态              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[18]  12  10  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 [12  18]  10  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=3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(10)   [10  12  18]  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3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=4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 [10  12  12  18]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4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=5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 [10  12  12  18  30]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5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=6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(16)   [10  12  12  16  18  30]</a:t>
            </a: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4148545" y="4376887"/>
            <a:ext cx="0" cy="304800"/>
          </a:xfrm>
          <a:prstGeom prst="line">
            <a:avLst/>
          </a:prstGeom>
          <a:noFill/>
          <a:ln w="38100" cap="sq">
            <a:solidFill>
              <a:srgbClr val="2C2D5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endParaRPr lang="zh-CN" alt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3742507" y="4707622"/>
            <a:ext cx="812075" cy="338554"/>
          </a:xfrm>
          <a:prstGeom prst="rect">
            <a:avLst/>
          </a:prstGeom>
          <a:noFill/>
          <a:ln w="12700" cap="sq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dirty="0">
                <a:solidFill>
                  <a:srgbClr val="990000"/>
                </a:solidFill>
                <a:ea typeface="百度综艺简体" panose="02010601030101010101"/>
              </a:rPr>
              <a:t>监视哨</a:t>
            </a:r>
          </a:p>
        </p:txBody>
      </p:sp>
    </p:spTree>
    <p:extLst>
      <p:ext uri="{BB962C8B-B14F-4D97-AF65-F5344CB8AC3E}">
        <p14:creationId xmlns:p14="http://schemas.microsoft.com/office/powerpoint/2010/main" val="357530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 animBg="1"/>
      <p:bldP spid="1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59106" y="915304"/>
            <a:ext cx="6325507" cy="41549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void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InsertionSort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(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&amp;L ) {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对顺序表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作直接插入排序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for (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=2;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&lt;=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L.length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 ++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) 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if (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].key &lt;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[i-1].key) {</a:t>
            </a: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InsertSort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818494" y="2400116"/>
            <a:ext cx="4810216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[0] =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];       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复制为监视哨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]=</a:t>
            </a: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[i-1];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for ( j=i-2;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[0].key &lt;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[j].key;  -- j )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[j+1] =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[j];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记录后移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[j+1] =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[0];   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插入到正确位置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}//if</a:t>
            </a:r>
          </a:p>
        </p:txBody>
      </p:sp>
    </p:spTree>
    <p:extLst>
      <p:ext uri="{BB962C8B-B14F-4D97-AF65-F5344CB8AC3E}">
        <p14:creationId xmlns:p14="http://schemas.microsoft.com/office/powerpoint/2010/main" val="1091023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737151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内部排序的时间分析：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969407" y="1569925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实现内部排序的基本操作有两个：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2422252" y="2397310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(1)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比较”序列中两个关键字的大小；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2422252" y="2977441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(2)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移动”记录。</a:t>
            </a:r>
          </a:p>
        </p:txBody>
      </p:sp>
    </p:spTree>
    <p:extLst>
      <p:ext uri="{BB962C8B-B14F-4D97-AF65-F5344CB8AC3E}">
        <p14:creationId xmlns:p14="http://schemas.microsoft.com/office/powerpoint/2010/main" val="149431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968544" y="831055"/>
            <a:ext cx="6072335" cy="36857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对于直接插入排序：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268730" y="1240111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最好的情况（关键字在记录序列中顺序有序）：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439476"/>
              </p:ext>
            </p:extLst>
          </p:nvPr>
        </p:nvGraphicFramePr>
        <p:xfrm>
          <a:off x="1858169" y="2198711"/>
          <a:ext cx="1250430" cy="582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公式" r:id="rId4" imgW="657295" imgH="380982" progId="Equation.3">
                  <p:embed/>
                </p:oleObj>
              </mc:Choice>
              <mc:Fallback>
                <p:oleObj name="公式" r:id="rId4" imgW="657295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169" y="2198711"/>
                        <a:ext cx="1250430" cy="582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5251929" y="2338165"/>
            <a:ext cx="3642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endParaRPr lang="en-US" altLang="zh-CN" sz="1400" dirty="0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4721860" y="1915086"/>
            <a:ext cx="16049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 smtClean="0">
                <a:latin typeface="百度综艺简体"/>
                <a:ea typeface="百度综艺简体" panose="02010601030101010101"/>
              </a:rPr>
              <a:t>“</a:t>
            </a:r>
            <a:r>
              <a:rPr lang="zh-CN" altLang="en-US" sz="1600" dirty="0" smtClean="0">
                <a:solidFill>
                  <a:srgbClr val="0000FF"/>
                </a:solidFill>
                <a:latin typeface="百度综艺简体"/>
                <a:ea typeface="百度综艺简体" panose="02010601030101010101"/>
              </a:rPr>
              <a:t>移动</a:t>
            </a:r>
            <a:r>
              <a:rPr lang="zh-CN" altLang="en-US" sz="1600" dirty="0" smtClean="0">
                <a:latin typeface="百度综艺简体"/>
                <a:ea typeface="百度综艺简体" panose="02010601030101010101"/>
              </a:rPr>
              <a:t>”</a:t>
            </a:r>
            <a:r>
              <a:rPr lang="zh-CN" altLang="en-US" sz="1600" dirty="0">
                <a:latin typeface="百度综艺简体"/>
                <a:ea typeface="百度综艺简体" panose="02010601030101010101"/>
              </a:rPr>
              <a:t>的次数：</a:t>
            </a:r>
            <a:endParaRPr lang="zh-CN" altLang="en-US" sz="1800" dirty="0">
              <a:latin typeface="百度综艺简体"/>
              <a:ea typeface="百度综艺简体" panose="02010601030101010101"/>
            </a:endParaRP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1680921" y="1901895"/>
            <a:ext cx="16049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latin typeface="百度综艺简体"/>
                <a:ea typeface="百度综艺简体" panose="02010601030101010101"/>
              </a:rPr>
              <a:t>“</a:t>
            </a:r>
            <a:r>
              <a:rPr lang="zh-CN" altLang="en-US" sz="1600" dirty="0">
                <a:solidFill>
                  <a:srgbClr val="0000FF"/>
                </a:solidFill>
                <a:latin typeface="百度综艺简体"/>
                <a:ea typeface="百度综艺简体" panose="02010601030101010101"/>
              </a:rPr>
              <a:t>比较</a:t>
            </a:r>
            <a:r>
              <a:rPr lang="zh-CN" altLang="en-US" sz="1600" dirty="0">
                <a:latin typeface="百度综艺简体"/>
                <a:ea typeface="百度综艺简体" panose="02010601030101010101"/>
              </a:rPr>
              <a:t>”的次数：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2754676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最坏的情况（关键字在记录序列中逆序有序）：</a:t>
            </a: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4721860" y="3429651"/>
            <a:ext cx="16049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 smtClean="0">
                <a:latin typeface="百度综艺简体"/>
                <a:ea typeface="百度综艺简体" panose="02010601030101010101"/>
              </a:rPr>
              <a:t>“</a:t>
            </a:r>
            <a:r>
              <a:rPr lang="zh-CN" altLang="en-US" sz="1600" dirty="0" smtClean="0">
                <a:solidFill>
                  <a:srgbClr val="0000FF"/>
                </a:solidFill>
                <a:latin typeface="百度综艺简体"/>
                <a:ea typeface="百度综艺简体" panose="02010601030101010101"/>
              </a:rPr>
              <a:t>移动</a:t>
            </a:r>
            <a:r>
              <a:rPr lang="zh-CN" altLang="en-US" sz="1600" dirty="0" smtClean="0">
                <a:latin typeface="百度综艺简体"/>
                <a:ea typeface="百度综艺简体" panose="02010601030101010101"/>
              </a:rPr>
              <a:t>”</a:t>
            </a:r>
            <a:r>
              <a:rPr lang="zh-CN" altLang="en-US" sz="1600" dirty="0">
                <a:latin typeface="百度综艺简体"/>
                <a:ea typeface="百度综艺简体" panose="02010601030101010101"/>
              </a:rPr>
              <a:t>的次数：</a:t>
            </a:r>
            <a:endParaRPr lang="zh-CN" altLang="en-US" sz="1800" dirty="0">
              <a:latin typeface="百度综艺简体"/>
              <a:ea typeface="百度综艺简体" panose="02010601030101010101"/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1680921" y="3416460"/>
            <a:ext cx="16049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latin typeface="百度综艺简体"/>
                <a:ea typeface="百度综艺简体" panose="02010601030101010101"/>
              </a:rPr>
              <a:t>“</a:t>
            </a:r>
            <a:r>
              <a:rPr lang="zh-CN" altLang="en-US" sz="1600" dirty="0">
                <a:solidFill>
                  <a:srgbClr val="0000FF"/>
                </a:solidFill>
                <a:latin typeface="百度综艺简体"/>
                <a:ea typeface="百度综艺简体" panose="02010601030101010101"/>
              </a:rPr>
              <a:t>比较</a:t>
            </a:r>
            <a:r>
              <a:rPr lang="zh-CN" altLang="en-US" sz="1600" dirty="0">
                <a:latin typeface="百度综艺简体"/>
                <a:ea typeface="百度综艺简体" panose="02010601030101010101"/>
              </a:rPr>
              <a:t>”的次数：</a:t>
            </a:r>
          </a:p>
        </p:txBody>
      </p:sp>
      <p:graphicFrame>
        <p:nvGraphicFramePr>
          <p:cNvPr id="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257859"/>
              </p:ext>
            </p:extLst>
          </p:nvPr>
        </p:nvGraphicFramePr>
        <p:xfrm>
          <a:off x="4458670" y="4022732"/>
          <a:ext cx="1950720" cy="58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公式" r:id="rId6" imgW="1485966" imgH="380982" progId="Equation.3">
                  <p:embed/>
                </p:oleObj>
              </mc:Choice>
              <mc:Fallback>
                <p:oleObj name="公式" r:id="rId6" imgW="1485966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670" y="4022732"/>
                        <a:ext cx="1950720" cy="589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929566"/>
              </p:ext>
            </p:extLst>
          </p:nvPr>
        </p:nvGraphicFramePr>
        <p:xfrm>
          <a:off x="1858169" y="4022732"/>
          <a:ext cx="1676842" cy="60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公式" r:id="rId8" imgW="1267008" imgH="380982" progId="Equation.3">
                  <p:embed/>
                </p:oleObj>
              </mc:Choice>
              <mc:Fallback>
                <p:oleObj name="公式" r:id="rId8" imgW="1267008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169" y="4022732"/>
                        <a:ext cx="1676842" cy="602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8618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20" grpId="0" autoUpdateAnimBg="0"/>
      <p:bldP spid="23" grpId="0" autoUpdateAnimBg="0"/>
      <p:bldP spid="24" grpId="0" autoUpdateAnimBg="0"/>
      <p:bldP spid="26" grpId="0"/>
      <p:bldP spid="28" grpId="0" autoUpdateAnimBg="0"/>
      <p:bldP spid="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290229" y="1371917"/>
            <a:ext cx="652145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一般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情况下，待排序记录是随机的，即待排序列中的记录可能出现的各种排列的概率相同，则可取最小值和最大值的平均值，作为直接插入排序时所需进行关键字的比较次数和移动记录的次数，约为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n2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／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4.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311275" y="2841029"/>
            <a:ext cx="4823278" cy="5093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对于直接插入排序：其时间复杂度为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O(n2)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311275" y="3583072"/>
            <a:ext cx="6521450" cy="5093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适用于当待排序记录的数量很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小时直接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插入排序是稳定的排序方法</a:t>
            </a:r>
          </a:p>
        </p:txBody>
      </p:sp>
    </p:spTree>
    <p:extLst>
      <p:ext uri="{BB962C8B-B14F-4D97-AF65-F5344CB8AC3E}">
        <p14:creationId xmlns:p14="http://schemas.microsoft.com/office/powerpoint/2010/main" val="2514725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4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1470</Words>
  <Application>Microsoft Office PowerPoint</Application>
  <PresentationFormat>自定义</PresentationFormat>
  <Paragraphs>180</Paragraphs>
  <Slides>21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Lato Light</vt:lpstr>
      <vt:lpstr>百度综艺简体</vt:lpstr>
      <vt:lpstr>等线</vt:lpstr>
      <vt:lpstr>等线 Light</vt:lpstr>
      <vt:lpstr>华文中宋</vt:lpstr>
      <vt:lpstr>楷体_GB2312</vt:lpstr>
      <vt:lpstr>隶书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主题​​</vt:lpstr>
      <vt:lpstr>Microsoft Equation 3.0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蔡女士</cp:lastModifiedBy>
  <cp:revision>63</cp:revision>
  <dcterms:created xsi:type="dcterms:W3CDTF">2017-06-21T11:46:00Z</dcterms:created>
  <dcterms:modified xsi:type="dcterms:W3CDTF">2020-11-25T12:36:41Z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