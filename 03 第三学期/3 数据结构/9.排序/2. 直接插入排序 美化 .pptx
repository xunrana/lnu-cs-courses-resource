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83" r:id="rId2"/>
    <p:sldId id="284" r:id="rId3"/>
    <p:sldId id="325" r:id="rId4"/>
    <p:sldId id="326" r:id="rId5"/>
    <p:sldId id="327" r:id="rId6"/>
    <p:sldId id="328" r:id="rId7"/>
    <p:sldId id="329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315" r:id="rId16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5B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49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9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31844-757F-4497-A6B9-29138D45B0D0}" type="datetimeFigureOut">
              <a:rPr lang="zh-CN" altLang="en-US" smtClean="0"/>
              <a:t>2020/11/25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ABFAC-0D77-4680-9C08-FA0DD250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1358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06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856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898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335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437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678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3125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24303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7178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2676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0187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8734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7660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032"/>
            <a:ext cx="6858000" cy="179125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2363"/>
            <a:ext cx="6858000" cy="124220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4021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3160"/>
            <a:ext cx="7886700" cy="112548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929"/>
            <a:ext cx="7886700" cy="99447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1261"/>
            <a:ext cx="3868340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9386"/>
            <a:ext cx="3868340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1261"/>
            <a:ext cx="3887391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386"/>
            <a:ext cx="3887391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3" y="196280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800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6" name="文本框 37"/>
          <p:cNvSpPr txBox="1"/>
          <p:nvPr userDrawn="1"/>
        </p:nvSpPr>
        <p:spPr>
          <a:xfrm>
            <a:off x="216310" y="196280"/>
            <a:ext cx="2190351" cy="315475"/>
          </a:xfrm>
          <a:prstGeom prst="rect">
            <a:avLst/>
          </a:prstGeom>
          <a:noFill/>
        </p:spPr>
        <p:txBody>
          <a:bodyPr wrap="none" lIns="68584" tIns="34292" rIns="68584" bIns="34292" rtlCol="0">
            <a:spAutoFit/>
          </a:bodyPr>
          <a:lstStyle/>
          <a:p>
            <a:pPr defTabSz="685800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7" name="文本框 38"/>
          <p:cNvSpPr txBox="1"/>
          <p:nvPr userDrawn="1"/>
        </p:nvSpPr>
        <p:spPr>
          <a:xfrm>
            <a:off x="265271" y="520316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800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798"/>
            <a:ext cx="4629150" cy="365634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798"/>
            <a:ext cx="4629150" cy="365634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单击图标添加20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928"/>
            <a:ext cx="1971675" cy="436022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928"/>
            <a:ext cx="5800725" cy="436022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ABEBE-EF13-4983-B182-046B37A0370C}" type="datetime1">
              <a:rPr lang="zh-CN" altLang="en-US"/>
              <a:t>2020/11/25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145E6F-D1B7-49E0-9AB3-789D9698C190}" type="slidenum">
              <a:rPr lang="zh-CN" altLang="en-US"/>
              <a:t>‹#›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143000" y="374188"/>
            <a:ext cx="6858000" cy="523279"/>
          </a:xfrm>
        </p:spPr>
        <p:txBody>
          <a:bodyPr anchor="b">
            <a:normAutofit/>
          </a:bodyPr>
          <a:lstStyle>
            <a:lvl1pPr algn="ctr"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143000" y="918257"/>
            <a:ext cx="6858000" cy="280749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28650" y="1503977"/>
            <a:ext cx="3942159" cy="353809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28650" y="1869220"/>
            <a:ext cx="3942159" cy="1320052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629841" y="3288332"/>
            <a:ext cx="3940969" cy="370398"/>
          </a:xfrm>
        </p:spPr>
        <p:txBody>
          <a:bodyPr>
            <a:normAutofit/>
          </a:bodyPr>
          <a:lstStyle>
            <a:lvl1pPr marL="0" indent="0">
              <a:buNone/>
              <a:defRPr sz="1200" b="1" i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6"/>
          </p:nvPr>
        </p:nvSpPr>
        <p:spPr>
          <a:xfrm>
            <a:off x="629841" y="3658730"/>
            <a:ext cx="3940969" cy="370399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629841" y="4029128"/>
            <a:ext cx="3942159" cy="270355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722F6D6F-DD99-46DF-A9EA-728D63EA6A31}" type="datetimeFigureOut">
              <a:rPr lang="en-AU" smtClean="0"/>
              <a:t>25/11/2020</a:t>
            </a:fld>
            <a:endParaRPr lang="en-AU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8735"/>
            <a:ext cx="30861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endParaRPr lang="en-AU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84AD2E7E-F7BA-4F6B-9D0C-0B2331C2AE06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8"/>
          </p:nvPr>
        </p:nvSpPr>
        <p:spPr>
          <a:xfrm>
            <a:off x="5112544" y="1504225"/>
            <a:ext cx="3251597" cy="35372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endParaRPr lang="en-AU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/>
          </p:nvPr>
        </p:nvSpPr>
        <p:spPr>
          <a:xfrm>
            <a:off x="5112544" y="1868668"/>
            <a:ext cx="3251597" cy="703876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642"/>
            <a:ext cx="7886700" cy="326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0A747-1217-4325-A876-522190C71555}" type="datetimeFigureOut">
              <a:rPr lang="zh-CN" altLang="en-US" smtClean="0"/>
              <a:t>2020/11/25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8735"/>
            <a:ext cx="30861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7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11" y="58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20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/>
          <a:stretch>
            <a:fillRect/>
          </a:stretch>
        </p:blipFill>
        <p:spPr>
          <a:xfrm>
            <a:off x="4224" y="1133312"/>
            <a:ext cx="3523982" cy="4018760"/>
          </a:xfrm>
          <a:prstGeom prst="rect">
            <a:avLst/>
          </a:prstGeom>
          <a:solidFill>
            <a:srgbClr val="2A5BA8"/>
          </a:solidFill>
        </p:spPr>
      </p:pic>
      <p:pic>
        <p:nvPicPr>
          <p:cNvPr id="5" name="20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4" b="51735"/>
          <a:stretch>
            <a:fillRect/>
          </a:stretch>
        </p:blipFill>
        <p:spPr>
          <a:xfrm flipV="1">
            <a:off x="7180313" y="794"/>
            <a:ext cx="1952652" cy="1727659"/>
          </a:xfrm>
          <a:prstGeom prst="rect">
            <a:avLst/>
          </a:prstGeom>
        </p:spPr>
      </p:pic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6750050" y="2957195"/>
            <a:ext cx="1868170" cy="372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——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类</a:t>
            </a:r>
            <a:r>
              <a:rPr 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C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描述</a:t>
            </a:r>
          </a:p>
        </p:txBody>
      </p:sp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3472815" y="2324735"/>
            <a:ext cx="566928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数据结构 </a:t>
            </a:r>
            <a:r>
              <a:rPr lang="en-US" altLang="zh-CN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DATA STRUCTURE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803775" y="3791585"/>
            <a:ext cx="1569085" cy="18415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任课教师：</a:t>
            </a:r>
            <a:r>
              <a:rPr 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王青松</a:t>
            </a:r>
            <a:r>
              <a:rPr lang="en-US" alt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 </a:t>
            </a:r>
            <a:r>
              <a:rPr lang="en-US" altLang="zh-CN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  </a:t>
            </a:r>
            <a:r>
              <a:rPr lang="zh-CN" altLang="en-US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</a:t>
            </a:r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372558" y="3791658"/>
            <a:ext cx="2760406" cy="184538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99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99"/>
                            </p:stCondLst>
                            <p:childTnLst>
                              <p:par>
                                <p:cTn id="2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850"/>
                            </p:stCondLst>
                            <p:childTnLst>
                              <p:par>
                                <p:cTn id="3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3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85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0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直接插入排序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2618561" y="1844517"/>
            <a:ext cx="3965120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直接插入排序（基于顺序查找）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3" y="998339"/>
            <a:ext cx="60723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不同的具体实现方法导致不同的算法描述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2618561" y="2601789"/>
            <a:ext cx="3965120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折半插入排序（基于折半查找）</a:t>
            </a:r>
          </a:p>
        </p:txBody>
      </p: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2618561" y="3438582"/>
            <a:ext cx="3965120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希尔排序（基于逐趟缩小增量）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41" grpId="0"/>
      <p:bldP spid="14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直接插入排序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3" y="998339"/>
            <a:ext cx="60723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一趟直接插入排序的基本思想：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933089" y="1812527"/>
            <a:ext cx="7277822" cy="23083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把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n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个记录的序列划分为已排序部分和未排序部分，即在涉及第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个记录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Ri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时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,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（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R1, . . .  ,Ri-1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）是已排好的有序部分，（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Ri,Ri+1, . . . ,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Rn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）属于未排序部分。找出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Ri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在此有序序列中应插入的位置，将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Ri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插入。原位置上的记录至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Ri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均顺序后移一位。</a:t>
            </a:r>
          </a:p>
        </p:txBody>
      </p:sp>
    </p:spTree>
    <p:extLst>
      <p:ext uri="{BB962C8B-B14F-4D97-AF65-F5344CB8AC3E}">
        <p14:creationId xmlns:p14="http://schemas.microsoft.com/office/powerpoint/2010/main" val="502643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41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直接插入排序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557288" y="1127367"/>
            <a:ext cx="3352800" cy="488548"/>
          </a:xfrm>
          <a:prstGeom prst="rect">
            <a:avLst/>
          </a:prstGeom>
          <a:solidFill>
            <a:srgbClr val="00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>
                <a:latin typeface="百度综艺简体"/>
              </a:rPr>
              <a:t>有序序列</a:t>
            </a:r>
            <a:r>
              <a:rPr lang="en-US" altLang="zh-CN" sz="1800">
                <a:latin typeface="百度综艺简体"/>
              </a:rPr>
              <a:t>R[1..i-1]</a:t>
            </a: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3910088" y="1920715"/>
            <a:ext cx="7620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百度综艺简体"/>
              </a:rPr>
              <a:t>R[i]</a:t>
            </a: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3910088" y="1127367"/>
            <a:ext cx="4724400" cy="4885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>
                <a:latin typeface="百度综艺简体"/>
              </a:rPr>
              <a:t>无序序列 </a:t>
            </a:r>
            <a:r>
              <a:rPr lang="en-US" altLang="zh-CN" sz="1800">
                <a:latin typeface="百度综艺简体"/>
              </a:rPr>
              <a:t>R[i..n]</a:t>
            </a: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557288" y="4130515"/>
            <a:ext cx="4114800" cy="506799"/>
          </a:xfrm>
          <a:prstGeom prst="rect">
            <a:avLst/>
          </a:prstGeom>
          <a:solidFill>
            <a:srgbClr val="00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>
                <a:latin typeface="百度综艺简体"/>
              </a:rPr>
              <a:t>有序序列</a:t>
            </a:r>
            <a:r>
              <a:rPr lang="en-US" altLang="zh-CN" sz="1800">
                <a:latin typeface="百度综艺简体"/>
              </a:rPr>
              <a:t>R[1..i]</a:t>
            </a:r>
          </a:p>
        </p:txBody>
      </p:sp>
      <p:sp>
        <p:nvSpPr>
          <p:cNvPr id="23" name="Rectangle 6"/>
          <p:cNvSpPr>
            <a:spLocks noChangeArrowheads="1"/>
          </p:cNvSpPr>
          <p:nvPr/>
        </p:nvSpPr>
        <p:spPr bwMode="auto">
          <a:xfrm>
            <a:off x="4672088" y="4130515"/>
            <a:ext cx="3962400" cy="50679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>
                <a:latin typeface="百度综艺简体"/>
              </a:rPr>
              <a:t>无序序列 </a:t>
            </a:r>
            <a:r>
              <a:rPr lang="en-US" altLang="zh-CN" sz="1800">
                <a:latin typeface="百度综艺简体"/>
              </a:rPr>
              <a:t>R[i+1..n]</a:t>
            </a:r>
          </a:p>
        </p:txBody>
      </p:sp>
      <p:cxnSp>
        <p:nvCxnSpPr>
          <p:cNvPr id="24" name="AutoShape 7"/>
          <p:cNvCxnSpPr>
            <a:cxnSpLocks noChangeShapeType="1"/>
            <a:stCxn id="14" idx="1"/>
            <a:endCxn id="13" idx="2"/>
          </p:cNvCxnSpPr>
          <p:nvPr/>
        </p:nvCxnSpPr>
        <p:spPr bwMode="auto">
          <a:xfrm rot="10800000">
            <a:off x="2233688" y="1615915"/>
            <a:ext cx="1676400" cy="723900"/>
          </a:xfrm>
          <a:prstGeom prst="bentConnector2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AutoShape 8"/>
          <p:cNvSpPr>
            <a:spLocks noChangeArrowheads="1"/>
          </p:cNvSpPr>
          <p:nvPr/>
        </p:nvSpPr>
        <p:spPr bwMode="auto">
          <a:xfrm>
            <a:off x="3152443" y="2785443"/>
            <a:ext cx="488950" cy="800100"/>
          </a:xfrm>
          <a:prstGeom prst="downArrow">
            <a:avLst>
              <a:gd name="adj1" fmla="val 50000"/>
              <a:gd name="adj2" fmla="val 40909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百度综艺简体"/>
            </a:endParaRPr>
          </a:p>
        </p:txBody>
      </p:sp>
      <p:sp>
        <p:nvSpPr>
          <p:cNvPr id="28" name="Line 9"/>
          <p:cNvSpPr>
            <a:spLocks noChangeShapeType="1"/>
          </p:cNvSpPr>
          <p:nvPr/>
        </p:nvSpPr>
        <p:spPr bwMode="auto">
          <a:xfrm>
            <a:off x="4672088" y="777715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百度综艺简体"/>
            </a:endParaRPr>
          </a:p>
        </p:txBody>
      </p:sp>
      <p:sp>
        <p:nvSpPr>
          <p:cNvPr id="29" name="Line 10"/>
          <p:cNvSpPr>
            <a:spLocks noChangeShapeType="1"/>
          </p:cNvSpPr>
          <p:nvPr/>
        </p:nvSpPr>
        <p:spPr bwMode="auto">
          <a:xfrm>
            <a:off x="4672088" y="2758915"/>
            <a:ext cx="0" cy="1371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百度综艺简体"/>
            </a:endParaRPr>
          </a:p>
        </p:txBody>
      </p:sp>
    </p:spTree>
    <p:extLst>
      <p:ext uri="{BB962C8B-B14F-4D97-AF65-F5344CB8AC3E}">
        <p14:creationId xmlns:p14="http://schemas.microsoft.com/office/powerpoint/2010/main" val="96128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3" grpId="0" animBg="1" autoUpdateAnimBg="0"/>
      <p:bldP spid="14" grpId="0" animBg="1" autoUpdateAnimBg="0"/>
      <p:bldP spid="17" grpId="0" animBg="1" autoUpdateAnimBg="0"/>
      <p:bldP spid="20" grpId="0" animBg="1" autoUpdateAnimBg="0"/>
      <p:bldP spid="23" grpId="0" animBg="1" autoUpdateAnimBg="0"/>
      <p:bldP spid="26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直接插入排序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3" y="998339"/>
            <a:ext cx="60723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实现“一趟插入排序”可分三步进行：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469029" y="1442385"/>
            <a:ext cx="7277822" cy="111543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．在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R[1..i-1]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中查找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R[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]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的插入位置，</a:t>
            </a:r>
          </a:p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R[1..j].key  R[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].key &lt; R[j+1..i-1].key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；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469029" y="2572246"/>
            <a:ext cx="7277822" cy="5614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2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．将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R[j+1..i-1]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中的所有记录均后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移一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个位置；</a:t>
            </a: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1469029" y="3181640"/>
            <a:ext cx="7277822" cy="5614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3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．将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R[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]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插入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复制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到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R[j+1]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的位置上。</a:t>
            </a:r>
          </a:p>
        </p:txBody>
      </p:sp>
    </p:spTree>
    <p:extLst>
      <p:ext uri="{BB962C8B-B14F-4D97-AF65-F5344CB8AC3E}">
        <p14:creationId xmlns:p14="http://schemas.microsoft.com/office/powerpoint/2010/main" val="3851320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41" grpId="0"/>
      <p:bldP spid="18" grpId="0"/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直接插入排序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3" y="1201350"/>
            <a:ext cx="60723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一、直接插入排序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099953" y="1869053"/>
            <a:ext cx="7277822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　　利用 “顺序查找”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实现 “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在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R[1..i-1]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中查找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R[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]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的插入位置”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554883" y="2755126"/>
            <a:ext cx="2534737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算法的实现要点：</a:t>
            </a:r>
          </a:p>
        </p:txBody>
      </p:sp>
    </p:spTree>
    <p:extLst>
      <p:ext uri="{BB962C8B-B14F-4D97-AF65-F5344CB8AC3E}">
        <p14:creationId xmlns:p14="http://schemas.microsoft.com/office/powerpoint/2010/main" val="654153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41" grpId="0"/>
      <p:bldP spid="18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直接插入排序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99952" y="883992"/>
            <a:ext cx="6072335" cy="940959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从</a:t>
            </a: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R[i-1]</a:t>
            </a: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起向前进行顺序查找，            </a:t>
            </a:r>
            <a:endParaRPr lang="en-US" altLang="zh-CN" sz="2000" dirty="0" smtClean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  <a:p>
            <a:pPr defTabSz="911225">
              <a:buNone/>
            </a:pPr>
            <a:r>
              <a:rPr lang="zh-CN" altLang="en-US" sz="2000" dirty="0" smtClean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监视哨</a:t>
            </a:r>
            <a:r>
              <a:rPr lang="zh-CN" altLang="en-US" sz="2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设置在</a:t>
            </a:r>
            <a:r>
              <a:rPr lang="en-US" altLang="zh-CN" sz="2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R[0]</a:t>
            </a:r>
            <a:r>
              <a:rPr lang="zh-CN" altLang="en-US" sz="2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；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Rectangle 6" descr="大棋盘"/>
          <p:cNvSpPr>
            <a:spLocks noChangeArrowheads="1"/>
          </p:cNvSpPr>
          <p:nvPr/>
        </p:nvSpPr>
        <p:spPr bwMode="auto">
          <a:xfrm>
            <a:off x="1789612" y="2057265"/>
            <a:ext cx="3124200" cy="3048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/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1484812" y="2057265"/>
            <a:ext cx="304800" cy="304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/>
          </a:p>
        </p:txBody>
      </p:sp>
      <p:sp>
        <p:nvSpPr>
          <p:cNvPr id="20" name="Line 9"/>
          <p:cNvSpPr>
            <a:spLocks noChangeShapeType="1"/>
          </p:cNvSpPr>
          <p:nvPr/>
        </p:nvSpPr>
        <p:spPr bwMode="auto">
          <a:xfrm>
            <a:off x="4761412" y="2362065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med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23" name="Line 10"/>
          <p:cNvSpPr>
            <a:spLocks noChangeShapeType="1"/>
          </p:cNvSpPr>
          <p:nvPr/>
        </p:nvSpPr>
        <p:spPr bwMode="auto">
          <a:xfrm>
            <a:off x="3466012" y="2362065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med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3488237" y="2514465"/>
            <a:ext cx="58737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600"/>
              <a:t>j</a:t>
            </a:r>
          </a:p>
        </p:txBody>
      </p:sp>
      <p:sp>
        <p:nvSpPr>
          <p:cNvPr id="26" name="Rectangle 12" descr="60%"/>
          <p:cNvSpPr>
            <a:spLocks noChangeArrowheads="1"/>
          </p:cNvSpPr>
          <p:nvPr/>
        </p:nvSpPr>
        <p:spPr bwMode="auto">
          <a:xfrm>
            <a:off x="3618412" y="2057265"/>
            <a:ext cx="1295400" cy="3048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/>
          </a:p>
        </p:txBody>
      </p:sp>
      <p:sp>
        <p:nvSpPr>
          <p:cNvPr id="28" name="Rectangle 13"/>
          <p:cNvSpPr>
            <a:spLocks noChangeArrowheads="1"/>
          </p:cNvSpPr>
          <p:nvPr/>
        </p:nvSpPr>
        <p:spPr bwMode="auto">
          <a:xfrm>
            <a:off x="4913812" y="2057265"/>
            <a:ext cx="3429000" cy="304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/>
          </a:p>
        </p:txBody>
      </p:sp>
      <p:sp>
        <p:nvSpPr>
          <p:cNvPr id="29" name="Rectangle 14"/>
          <p:cNvSpPr>
            <a:spLocks noChangeArrowheads="1"/>
          </p:cNvSpPr>
          <p:nvPr/>
        </p:nvSpPr>
        <p:spPr bwMode="auto">
          <a:xfrm>
            <a:off x="4913812" y="2057265"/>
            <a:ext cx="304800" cy="304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/>
          </a:p>
        </p:txBody>
      </p:sp>
      <p:sp>
        <p:nvSpPr>
          <p:cNvPr id="30" name="Rectangle 15"/>
          <p:cNvSpPr>
            <a:spLocks noChangeArrowheads="1"/>
          </p:cNvSpPr>
          <p:nvPr/>
        </p:nvSpPr>
        <p:spPr bwMode="auto">
          <a:xfrm>
            <a:off x="4631003" y="1718711"/>
            <a:ext cx="51648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/>
              <a:t>R[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</a:t>
            </a:r>
          </a:p>
        </p:txBody>
      </p:sp>
      <p:sp>
        <p:nvSpPr>
          <p:cNvPr id="32" name="Text Box 17"/>
          <p:cNvSpPr txBox="1">
            <a:spLocks noChangeArrowheads="1"/>
          </p:cNvSpPr>
          <p:nvPr/>
        </p:nvSpPr>
        <p:spPr bwMode="auto">
          <a:xfrm>
            <a:off x="4837612" y="2666865"/>
            <a:ext cx="96837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600"/>
              <a:t>j=i-1</a:t>
            </a:r>
          </a:p>
        </p:txBody>
      </p:sp>
      <p:sp>
        <p:nvSpPr>
          <p:cNvPr id="33" name="AutoShape 18"/>
          <p:cNvSpPr>
            <a:spLocks noChangeArrowheads="1"/>
          </p:cNvSpPr>
          <p:nvPr/>
        </p:nvSpPr>
        <p:spPr bwMode="auto">
          <a:xfrm>
            <a:off x="4205787" y="2683742"/>
            <a:ext cx="1600200" cy="381000"/>
          </a:xfrm>
          <a:prstGeom prst="wedgeRoundRectCallout">
            <a:avLst>
              <a:gd name="adj1" fmla="val -80653"/>
              <a:gd name="adj2" fmla="val -129861"/>
              <a:gd name="adj3" fmla="val 16667"/>
            </a:avLst>
          </a:prstGeom>
          <a:solidFill>
            <a:srgbClr val="FFFF99">
              <a:alpha val="50195"/>
            </a:srgbClr>
          </a:solidFill>
          <a:ln w="12700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600" b="1">
                <a:solidFill>
                  <a:srgbClr val="990000"/>
                </a:solidFill>
                <a:ea typeface="楷体_GB2312" pitchFamily="49" charset="-122"/>
              </a:rPr>
              <a:t>插入位置</a:t>
            </a:r>
            <a:endParaRPr lang="zh-CN" altLang="en-US" sz="1600"/>
          </a:p>
        </p:txBody>
      </p:sp>
      <p:sp>
        <p:nvSpPr>
          <p:cNvPr id="34" name="TextBox 5"/>
          <p:cNvSpPr txBox="1">
            <a:spLocks noChangeArrowheads="1"/>
          </p:cNvSpPr>
          <p:nvPr/>
        </p:nvSpPr>
        <p:spPr bwMode="auto">
          <a:xfrm>
            <a:off x="1495698" y="3124065"/>
            <a:ext cx="4726577" cy="45717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R[0] = R[</a:t>
            </a:r>
            <a:r>
              <a:rPr lang="en-US" altLang="zh-CN" sz="14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];                   </a:t>
            </a:r>
            <a:r>
              <a:rPr lang="en-US" altLang="zh-CN" sz="1400" dirty="0" smtClean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// </a:t>
            </a:r>
            <a:r>
              <a:rPr lang="zh-CN" altLang="en-US" sz="14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设置“哨兵”</a:t>
            </a:r>
          </a:p>
        </p:txBody>
      </p:sp>
      <p:sp>
        <p:nvSpPr>
          <p:cNvPr id="35" name="TextBox 5"/>
          <p:cNvSpPr txBox="1">
            <a:spLocks noChangeArrowheads="1"/>
          </p:cNvSpPr>
          <p:nvPr/>
        </p:nvSpPr>
        <p:spPr bwMode="auto">
          <a:xfrm>
            <a:off x="1495698" y="3482955"/>
            <a:ext cx="5987142" cy="73866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for (j=i-1; R[0].key&lt;R[j].key; --j)  </a:t>
            </a:r>
          </a:p>
          <a:p>
            <a:pPr fontAlgn="auto">
              <a:lnSpc>
                <a:spcPct val="150000"/>
              </a:lnSpc>
            </a:pP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                                       </a:t>
            </a:r>
            <a:r>
              <a:rPr lang="en-US" altLang="zh-CN" sz="14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// </a:t>
            </a:r>
            <a:r>
              <a:rPr lang="zh-CN" altLang="en-US" sz="14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从后往前找</a:t>
            </a:r>
          </a:p>
        </p:txBody>
      </p:sp>
      <p:sp>
        <p:nvSpPr>
          <p:cNvPr id="36" name="TextBox 5"/>
          <p:cNvSpPr txBox="1">
            <a:spLocks noChangeArrowheads="1"/>
          </p:cNvSpPr>
          <p:nvPr/>
        </p:nvSpPr>
        <p:spPr bwMode="auto">
          <a:xfrm>
            <a:off x="1495698" y="4114653"/>
            <a:ext cx="4726577" cy="45717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循环结束表明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R[</a:t>
            </a:r>
            <a:r>
              <a:rPr lang="en-US" altLang="zh-CN" sz="14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]</a:t>
            </a: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的插入位置为 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j +1</a:t>
            </a:r>
          </a:p>
        </p:txBody>
      </p:sp>
    </p:spTree>
    <p:extLst>
      <p:ext uri="{BB962C8B-B14F-4D97-AF65-F5344CB8AC3E}">
        <p14:creationId xmlns:p14="http://schemas.microsoft.com/office/powerpoint/2010/main" val="12350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00"/>
                            </p:stCondLst>
                            <p:childTnLst>
                              <p:par>
                                <p:cTn id="8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000"/>
                            </p:stCondLst>
                            <p:childTnLst>
                              <p:par>
                                <p:cTn id="9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3000"/>
                            </p:stCondLst>
                            <p:childTnLst>
                              <p:par>
                                <p:cTn id="9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000"/>
                            </p:stCondLst>
                            <p:childTnLst>
                              <p:par>
                                <p:cTn id="10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41" grpId="0"/>
      <p:bldP spid="14" grpId="0" animBg="1"/>
      <p:bldP spid="17" grpId="0" animBg="1"/>
      <p:bldP spid="20" grpId="0" animBg="1"/>
      <p:bldP spid="23" grpId="0" animBg="1"/>
      <p:bldP spid="24" grpId="0" autoUpdateAnimBg="0"/>
      <p:bldP spid="26" grpId="0" animBg="1"/>
      <p:bldP spid="28" grpId="0" animBg="1"/>
      <p:bldP spid="29" grpId="0" animBg="1"/>
      <p:bldP spid="30" grpId="0" autoUpdateAnimBg="0"/>
      <p:bldP spid="32" grpId="0" autoUpdateAnimBg="0"/>
      <p:bldP spid="33" grpId="0" animBg="1" autoUpdateAnimBg="0"/>
      <p:bldP spid="34" grpId="0"/>
      <p:bldP spid="35" grpId="0"/>
      <p:bldP spid="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直接插入排序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827562" y="816610"/>
            <a:ext cx="7488876" cy="940959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 </a:t>
            </a: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         对于</a:t>
            </a: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在查找过程中找到的那些关键字不小于</a:t>
            </a: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R[</a:t>
            </a:r>
            <a:r>
              <a:rPr lang="en-US" altLang="zh-CN" sz="2000" dirty="0" err="1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i</a:t>
            </a: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].key</a:t>
            </a: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的</a:t>
            </a: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记录，并</a:t>
            </a: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在查找的同时实现记录向后移动；</a:t>
            </a:r>
            <a:endParaRPr lang="zh-CN" altLang="en-US" sz="2000" dirty="0">
              <a:solidFill>
                <a:srgbClr val="FF0000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" name="TextBox 5"/>
          <p:cNvSpPr txBox="1">
            <a:spLocks noChangeArrowheads="1"/>
          </p:cNvSpPr>
          <p:nvPr/>
        </p:nvSpPr>
        <p:spPr bwMode="auto">
          <a:xfrm>
            <a:off x="1743892" y="1490854"/>
            <a:ext cx="4726577" cy="8836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pt-BR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for (j=i-1; R[0].key&lt;R[j].key; --j)</a:t>
            </a:r>
          </a:p>
          <a:p>
            <a:pPr fontAlgn="auto">
              <a:lnSpc>
                <a:spcPct val="200000"/>
              </a:lnSpc>
            </a:pPr>
            <a:r>
              <a:rPr lang="pt-BR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        R[j+1] = R[j];</a:t>
            </a:r>
          </a:p>
        </p:txBody>
      </p:sp>
      <p:sp>
        <p:nvSpPr>
          <p:cNvPr id="35" name="TextBox 5"/>
          <p:cNvSpPr txBox="1">
            <a:spLocks noChangeArrowheads="1"/>
          </p:cNvSpPr>
          <p:nvPr/>
        </p:nvSpPr>
        <p:spPr bwMode="auto">
          <a:xfrm>
            <a:off x="1578429" y="4601980"/>
            <a:ext cx="5987142" cy="3763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上述循环结束后可以直接进行“插入”</a:t>
            </a:r>
          </a:p>
        </p:txBody>
      </p:sp>
      <p:sp>
        <p:nvSpPr>
          <p:cNvPr id="38" name="Rectangle 5" descr="大棋盘"/>
          <p:cNvSpPr>
            <a:spLocks noChangeArrowheads="1"/>
          </p:cNvSpPr>
          <p:nvPr/>
        </p:nvSpPr>
        <p:spPr bwMode="auto">
          <a:xfrm>
            <a:off x="1883229" y="2929879"/>
            <a:ext cx="3124200" cy="4572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39" name="Rectangle 6"/>
          <p:cNvSpPr>
            <a:spLocks noChangeArrowheads="1"/>
          </p:cNvSpPr>
          <p:nvPr/>
        </p:nvSpPr>
        <p:spPr bwMode="auto">
          <a:xfrm>
            <a:off x="1578429" y="2929879"/>
            <a:ext cx="304800" cy="457200"/>
          </a:xfrm>
          <a:prstGeom prst="rect">
            <a:avLst/>
          </a:prstGeom>
          <a:solidFill>
            <a:srgbClr val="00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40" name="Line 8"/>
          <p:cNvSpPr>
            <a:spLocks noChangeShapeType="1"/>
          </p:cNvSpPr>
          <p:nvPr/>
        </p:nvSpPr>
        <p:spPr bwMode="auto">
          <a:xfrm>
            <a:off x="4855029" y="3463279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med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Line 9"/>
          <p:cNvSpPr>
            <a:spLocks noChangeShapeType="1"/>
          </p:cNvSpPr>
          <p:nvPr/>
        </p:nvSpPr>
        <p:spPr bwMode="auto">
          <a:xfrm>
            <a:off x="3559629" y="3387079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med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Text Box 10"/>
          <p:cNvSpPr txBox="1">
            <a:spLocks noChangeArrowheads="1"/>
          </p:cNvSpPr>
          <p:nvPr/>
        </p:nvSpPr>
        <p:spPr bwMode="auto">
          <a:xfrm>
            <a:off x="3581854" y="3463279"/>
            <a:ext cx="5873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>
                <a:ea typeface="百度综艺简体" panose="02010601030101010101"/>
              </a:rPr>
              <a:t>j</a:t>
            </a:r>
          </a:p>
        </p:txBody>
      </p:sp>
      <p:sp>
        <p:nvSpPr>
          <p:cNvPr id="44" name="Rectangle 11"/>
          <p:cNvSpPr>
            <a:spLocks noChangeArrowheads="1"/>
          </p:cNvSpPr>
          <p:nvPr/>
        </p:nvSpPr>
        <p:spPr bwMode="auto">
          <a:xfrm>
            <a:off x="5007429" y="2929879"/>
            <a:ext cx="3429000" cy="4572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45" name="Rectangle 12"/>
          <p:cNvSpPr>
            <a:spLocks noChangeArrowheads="1"/>
          </p:cNvSpPr>
          <p:nvPr/>
        </p:nvSpPr>
        <p:spPr bwMode="auto">
          <a:xfrm>
            <a:off x="5007429" y="2929879"/>
            <a:ext cx="304800" cy="4572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46" name="Rectangle 13"/>
          <p:cNvSpPr>
            <a:spLocks noChangeArrowheads="1"/>
          </p:cNvSpPr>
          <p:nvPr/>
        </p:nvSpPr>
        <p:spPr bwMode="auto">
          <a:xfrm>
            <a:off x="4755666" y="2548110"/>
            <a:ext cx="5565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ea typeface="百度综艺简体" panose="02010601030101010101"/>
              </a:rPr>
              <a:t>R[</a:t>
            </a:r>
            <a:r>
              <a:rPr lang="en-US" altLang="zh-CN" sz="1800" dirty="0" err="1">
                <a:ea typeface="百度综艺简体" panose="02010601030101010101"/>
              </a:rPr>
              <a:t>i</a:t>
            </a:r>
            <a:r>
              <a:rPr lang="en-US" altLang="zh-CN" sz="1800" dirty="0">
                <a:ea typeface="百度综艺简体" panose="02010601030101010101"/>
              </a:rPr>
              <a:t>]</a:t>
            </a:r>
          </a:p>
        </p:txBody>
      </p:sp>
      <p:sp>
        <p:nvSpPr>
          <p:cNvPr id="47" name="Rectangle 14" descr="60%"/>
          <p:cNvSpPr>
            <a:spLocks noChangeArrowheads="1"/>
          </p:cNvSpPr>
          <p:nvPr/>
        </p:nvSpPr>
        <p:spPr bwMode="auto">
          <a:xfrm>
            <a:off x="4016829" y="2929879"/>
            <a:ext cx="1295400" cy="4572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48" name="Rectangle 15" descr="大棋盘"/>
          <p:cNvSpPr>
            <a:spLocks noChangeArrowheads="1"/>
          </p:cNvSpPr>
          <p:nvPr/>
        </p:nvSpPr>
        <p:spPr bwMode="auto">
          <a:xfrm>
            <a:off x="3712029" y="2929879"/>
            <a:ext cx="304800" cy="4572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49" name="Text Box 16"/>
          <p:cNvSpPr txBox="1">
            <a:spLocks noChangeArrowheads="1"/>
          </p:cNvSpPr>
          <p:nvPr/>
        </p:nvSpPr>
        <p:spPr bwMode="auto">
          <a:xfrm>
            <a:off x="4931229" y="3463279"/>
            <a:ext cx="11969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>
                <a:ea typeface="百度综艺简体" panose="02010601030101010101"/>
              </a:rPr>
              <a:t>j= i-1</a:t>
            </a:r>
          </a:p>
        </p:txBody>
      </p:sp>
      <p:sp>
        <p:nvSpPr>
          <p:cNvPr id="50" name="Line 17"/>
          <p:cNvSpPr>
            <a:spLocks noChangeShapeType="1"/>
          </p:cNvSpPr>
          <p:nvPr/>
        </p:nvSpPr>
        <p:spPr bwMode="auto">
          <a:xfrm>
            <a:off x="5007429" y="2929879"/>
            <a:ext cx="1588" cy="45720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AutoShape 20"/>
          <p:cNvSpPr>
            <a:spLocks noChangeArrowheads="1"/>
          </p:cNvSpPr>
          <p:nvPr/>
        </p:nvSpPr>
        <p:spPr bwMode="auto">
          <a:xfrm>
            <a:off x="4474029" y="3691879"/>
            <a:ext cx="1600200" cy="457200"/>
          </a:xfrm>
          <a:prstGeom prst="wedgeRoundRectCallout">
            <a:avLst>
              <a:gd name="adj1" fmla="val -87796"/>
              <a:gd name="adj2" fmla="val -163194"/>
              <a:gd name="adj3" fmla="val 16667"/>
            </a:avLst>
          </a:prstGeom>
          <a:solidFill>
            <a:srgbClr val="FFFF99">
              <a:alpha val="50195"/>
            </a:srgbClr>
          </a:solidFill>
          <a:ln w="12700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990000"/>
                </a:solidFill>
                <a:ea typeface="百度综艺简体" panose="02010601030101010101"/>
              </a:rPr>
              <a:t>插入位置</a:t>
            </a:r>
            <a:endParaRPr lang="zh-CN" altLang="en-US" sz="1800">
              <a:ea typeface="百度综艺简体" panose="0201060103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3183535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000"/>
                            </p:stCondLst>
                            <p:childTnLst>
                              <p:par>
                                <p:cTn id="10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500"/>
                            </p:stCondLst>
                            <p:childTnLst>
                              <p:par>
                                <p:cTn id="107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41" grpId="0"/>
      <p:bldP spid="34" grpId="0"/>
      <p:bldP spid="35" grpId="0"/>
      <p:bldP spid="38" grpId="0" animBg="1"/>
      <p:bldP spid="39" grpId="0" animBg="1"/>
      <p:bldP spid="40" grpId="0" animBg="1"/>
      <p:bldP spid="42" grpId="0" animBg="1"/>
      <p:bldP spid="43" grpId="0" autoUpdateAnimBg="0"/>
      <p:bldP spid="44" grpId="0" animBg="1"/>
      <p:bldP spid="45" grpId="0" animBg="1"/>
      <p:bldP spid="46" grpId="0" autoUpdateAnimBg="0"/>
      <p:bldP spid="47" grpId="0" animBg="1"/>
      <p:bldP spid="48" grpId="0" animBg="1"/>
      <p:bldP spid="49" grpId="0" autoUpdateAnimBg="0"/>
      <p:bldP spid="50" grpId="0" animBg="1"/>
      <p:bldP spid="51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直接插入排序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3" y="1201350"/>
            <a:ext cx="6072335" cy="737151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令 </a:t>
            </a:r>
            <a:r>
              <a:rPr lang="en-US" altLang="zh-CN" sz="2000" dirty="0" err="1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i</a:t>
            </a: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 = 2</a:t>
            </a: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，</a:t>
            </a: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3</a:t>
            </a: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，</a:t>
            </a: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…, n, </a:t>
            </a: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实现</a:t>
            </a: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整个序列的排序。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2302510" y="1712298"/>
            <a:ext cx="4823278" cy="286232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for (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=2;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&lt;=n;  ++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)</a:t>
            </a:r>
          </a:p>
          <a:p>
            <a:pPr fontAlgn="auto">
              <a:lnSpc>
                <a:spcPct val="200000"/>
              </a:lnSpc>
            </a:pP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   if (R[</a:t>
            </a:r>
            <a:r>
              <a:rPr lang="en-US" altLang="zh-CN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].key&lt;R[i-1].key) </a:t>
            </a:r>
          </a:p>
          <a:p>
            <a:pPr fontAlgn="auto">
              <a:lnSpc>
                <a:spcPct val="20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{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</a:t>
            </a:r>
            <a:r>
              <a:rPr lang="zh-CN" altLang="en-US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在 </a:t>
            </a:r>
            <a:r>
              <a:rPr lang="en-US" altLang="zh-CN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R[1..i-1]</a:t>
            </a:r>
            <a:r>
              <a:rPr lang="zh-CN" altLang="en-US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中查找</a:t>
            </a:r>
            <a:r>
              <a:rPr lang="en-US" altLang="zh-CN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R[</a:t>
            </a:r>
            <a:r>
              <a:rPr lang="en-US" altLang="zh-CN" dirty="0" err="1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]</a:t>
            </a:r>
            <a:r>
              <a:rPr lang="zh-CN" altLang="en-US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的插入位置</a:t>
            </a:r>
            <a:r>
              <a:rPr lang="en-US" altLang="zh-CN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;</a:t>
            </a:r>
          </a:p>
          <a:p>
            <a:pPr fontAlgn="auto">
              <a:lnSpc>
                <a:spcPct val="200000"/>
              </a:lnSpc>
            </a:pPr>
            <a:r>
              <a:rPr lang="en-US" altLang="zh-CN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         </a:t>
            </a:r>
            <a:r>
              <a:rPr lang="zh-CN" altLang="en-US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插入</a:t>
            </a:r>
            <a:r>
              <a:rPr lang="en-US" altLang="zh-CN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R[</a:t>
            </a:r>
            <a:r>
              <a:rPr lang="en-US" altLang="zh-CN" dirty="0" err="1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] ;</a:t>
            </a:r>
          </a:p>
          <a:p>
            <a:pPr fontAlgn="auto">
              <a:lnSpc>
                <a:spcPct val="20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05953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41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直接插入排序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772601" y="981893"/>
            <a:ext cx="2284107" cy="384584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直接插入排序示例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559106" y="1304102"/>
            <a:ext cx="6325507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待排序记录序列为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(18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12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10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12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30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16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）</a:t>
            </a:r>
          </a:p>
          <a:p>
            <a:pPr fontAlgn="auto"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简单插入排序每一趟执行后的序列状态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: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945186" y="2092367"/>
            <a:ext cx="6325507" cy="2396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	    初始状态                 </a:t>
            </a:r>
            <a:r>
              <a:rPr lang="en-US" altLang="zh-CN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[18]  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12  10  12  30  16</a:t>
            </a:r>
          </a:p>
          <a:p>
            <a:pPr fontAlgn="auto">
              <a:lnSpc>
                <a:spcPct val="150000"/>
              </a:lnSpc>
            </a:pP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      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第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1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趟（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=2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） 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(12)   </a:t>
            </a:r>
            <a:r>
              <a:rPr lang="en-US" altLang="zh-CN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[12  18]  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10  12  30  16</a:t>
            </a:r>
          </a:p>
          <a:p>
            <a:pPr fontAlgn="auto">
              <a:lnSpc>
                <a:spcPct val="150000"/>
              </a:lnSpc>
            </a:pP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      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第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2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趟（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=3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） 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(10)   </a:t>
            </a:r>
            <a:r>
              <a:rPr lang="en-US" altLang="zh-CN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[10  12  18]  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12  30  16</a:t>
            </a:r>
          </a:p>
          <a:p>
            <a:pPr fontAlgn="auto">
              <a:lnSpc>
                <a:spcPct val="150000"/>
              </a:lnSpc>
            </a:pP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      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第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3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趟（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=4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） 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(12)  </a:t>
            </a:r>
            <a:r>
              <a:rPr lang="en-US" altLang="zh-CN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 [10  12  12  18]  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30  16</a:t>
            </a:r>
          </a:p>
          <a:p>
            <a:pPr fontAlgn="auto">
              <a:lnSpc>
                <a:spcPct val="150000"/>
              </a:lnSpc>
            </a:pP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      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第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4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趟（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=5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） 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(12)   </a:t>
            </a:r>
            <a:r>
              <a:rPr lang="en-US" altLang="zh-CN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[10  12  12  18  30]  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16</a:t>
            </a:r>
          </a:p>
          <a:p>
            <a:pPr fontAlgn="auto">
              <a:lnSpc>
                <a:spcPct val="150000"/>
              </a:lnSpc>
            </a:pP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      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第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5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趟（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=6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） 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(16)   </a:t>
            </a:r>
            <a:r>
              <a:rPr lang="en-US" altLang="zh-CN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[10  12  12  16  18  30]</a:t>
            </a:r>
          </a:p>
        </p:txBody>
      </p:sp>
      <p:sp>
        <p:nvSpPr>
          <p:cNvPr id="14" name="Line 5"/>
          <p:cNvSpPr>
            <a:spLocks noChangeShapeType="1"/>
          </p:cNvSpPr>
          <p:nvPr/>
        </p:nvSpPr>
        <p:spPr bwMode="auto">
          <a:xfrm>
            <a:off x="4148545" y="4376887"/>
            <a:ext cx="0" cy="304800"/>
          </a:xfrm>
          <a:prstGeom prst="line">
            <a:avLst/>
          </a:prstGeom>
          <a:noFill/>
          <a:ln w="38100" cap="sq">
            <a:solidFill>
              <a:srgbClr val="2C2D5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/>
          <a:p>
            <a:endParaRPr lang="zh-CN" altLang="en-US"/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3742507" y="4707622"/>
            <a:ext cx="812075" cy="338554"/>
          </a:xfrm>
          <a:prstGeom prst="rect">
            <a:avLst/>
          </a:prstGeom>
          <a:noFill/>
          <a:ln w="12700" cap="sq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600" dirty="0">
                <a:solidFill>
                  <a:srgbClr val="990000"/>
                </a:solidFill>
                <a:ea typeface="百度综艺简体" panose="02010601030101010101"/>
              </a:rPr>
              <a:t>监视哨</a:t>
            </a:r>
          </a:p>
        </p:txBody>
      </p:sp>
    </p:spTree>
    <p:extLst>
      <p:ext uri="{BB962C8B-B14F-4D97-AF65-F5344CB8AC3E}">
        <p14:creationId xmlns:p14="http://schemas.microsoft.com/office/powerpoint/2010/main" val="3575305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41" grpId="0"/>
      <p:bldP spid="18" grpId="0"/>
      <p:bldP spid="13" grpId="0"/>
      <p:bldP spid="14" grpId="0" animBg="1"/>
      <p:bldP spid="17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直接插入排序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559106" y="915304"/>
            <a:ext cx="6325507" cy="415498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void 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InsertionSort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( 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SqList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&amp;L ) {</a:t>
            </a:r>
          </a:p>
          <a:p>
            <a:pPr fontAlgn="auto">
              <a:lnSpc>
                <a:spcPct val="150000"/>
              </a:lnSpc>
            </a:pPr>
            <a:r>
              <a:rPr lang="en-US" altLang="zh-CN" sz="16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// </a:t>
            </a:r>
            <a:r>
              <a:rPr lang="zh-CN" altLang="en-US" sz="16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对顺序表 </a:t>
            </a:r>
            <a:r>
              <a:rPr lang="en-US" altLang="zh-CN" sz="16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L </a:t>
            </a:r>
            <a:r>
              <a:rPr lang="zh-CN" altLang="en-US" sz="16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作直接插入排序</a:t>
            </a:r>
          </a:p>
          <a:p>
            <a:pPr fontAlgn="auto"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   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for ( 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=2; 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&lt;=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L.length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; ++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) </a:t>
            </a:r>
          </a:p>
          <a:p>
            <a:pPr fontAlgn="auto">
              <a:lnSpc>
                <a:spcPct val="150000"/>
              </a:lnSpc>
            </a:pP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      if (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L.r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[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].key &lt; 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L.r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[i-1].key) {</a:t>
            </a:r>
          </a:p>
          <a:p>
            <a:pPr fontAlgn="auto">
              <a:lnSpc>
                <a:spcPct val="150000"/>
              </a:lnSpc>
            </a:pPr>
            <a:endParaRPr lang="en-US" altLang="zh-CN" sz="1600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fontAlgn="auto">
              <a:lnSpc>
                <a:spcPct val="150000"/>
              </a:lnSpc>
            </a:pPr>
            <a:endParaRPr lang="en-US" altLang="zh-CN" sz="1600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fontAlgn="auto">
              <a:lnSpc>
                <a:spcPct val="150000"/>
              </a:lnSpc>
            </a:pPr>
            <a:endParaRPr lang="en-US" altLang="zh-CN" sz="1600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fontAlgn="auto">
              <a:lnSpc>
                <a:spcPct val="150000"/>
              </a:lnSpc>
            </a:pPr>
            <a:endParaRPr lang="en-US" altLang="zh-CN" sz="1600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fontAlgn="auto">
              <a:lnSpc>
                <a:spcPct val="150000"/>
              </a:lnSpc>
            </a:pPr>
            <a:endParaRPr lang="en-US" altLang="zh-CN" sz="1600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fontAlgn="auto">
              <a:lnSpc>
                <a:spcPct val="150000"/>
              </a:lnSpc>
            </a:pPr>
            <a:endParaRPr lang="en-US" altLang="zh-CN" sz="1600" dirty="0" smtClean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1600" dirty="0" smtClean="0">
                <a:latin typeface="百度综艺简体" panose="02010601030101010101" charset="-122"/>
                <a:ea typeface="百度综艺简体" panose="02010601030101010101" charset="-122"/>
              </a:rPr>
              <a:t>} 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// 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InsertSort</a:t>
            </a:r>
            <a:endParaRPr lang="en-US" altLang="zh-CN" sz="16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20" name="TextBox 5"/>
          <p:cNvSpPr txBox="1">
            <a:spLocks noChangeArrowheads="1"/>
          </p:cNvSpPr>
          <p:nvPr/>
        </p:nvSpPr>
        <p:spPr bwMode="auto">
          <a:xfrm>
            <a:off x="2818494" y="2400116"/>
            <a:ext cx="4810216" cy="23083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L.r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[0] = 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L.r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[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];               </a:t>
            </a:r>
            <a:r>
              <a:rPr lang="en-US" altLang="zh-CN" sz="16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// </a:t>
            </a:r>
            <a:r>
              <a:rPr lang="zh-CN" altLang="en-US" sz="16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复制为监视哨</a:t>
            </a:r>
          </a:p>
          <a:p>
            <a:pPr fontAlgn="auto">
              <a:lnSpc>
                <a:spcPct val="150000"/>
              </a:lnSpc>
            </a:pPr>
            <a:r>
              <a:rPr lang="en-US" altLang="zh-CN" sz="1600" dirty="0" err="1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L.r</a:t>
            </a:r>
            <a:r>
              <a:rPr lang="en-US" altLang="zh-CN" sz="16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[</a:t>
            </a:r>
            <a:r>
              <a:rPr lang="en-US" altLang="zh-CN" sz="1600" dirty="0" err="1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16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]=</a:t>
            </a:r>
            <a:r>
              <a:rPr lang="en-US" altLang="zh-CN" sz="1600" dirty="0" err="1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L.r</a:t>
            </a:r>
            <a:r>
              <a:rPr lang="en-US" altLang="zh-CN" sz="16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[i-1];</a:t>
            </a:r>
          </a:p>
          <a:p>
            <a:pPr fontAlgn="auto">
              <a:lnSpc>
                <a:spcPct val="150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for ( j=i-2; </a:t>
            </a:r>
            <a:r>
              <a:rPr lang="en-US" altLang="zh-CN" sz="1600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L.r</a:t>
            </a:r>
            <a:r>
              <a:rPr lang="en-US" altLang="zh-CN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[0].key &lt; </a:t>
            </a:r>
            <a:r>
              <a:rPr lang="en-US" altLang="zh-CN" sz="1600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L.r</a:t>
            </a:r>
            <a:r>
              <a:rPr lang="en-US" altLang="zh-CN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[j].key;  -- j )</a:t>
            </a:r>
          </a:p>
          <a:p>
            <a:pPr fontAlgn="auto">
              <a:lnSpc>
                <a:spcPct val="150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       </a:t>
            </a:r>
            <a:r>
              <a:rPr lang="en-US" altLang="zh-CN" sz="1600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L.r</a:t>
            </a:r>
            <a:r>
              <a:rPr lang="en-US" altLang="zh-CN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[j+1] = </a:t>
            </a:r>
            <a:r>
              <a:rPr lang="en-US" altLang="zh-CN" sz="1600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L.r</a:t>
            </a:r>
            <a:r>
              <a:rPr lang="en-US" altLang="zh-CN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[j];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       </a:t>
            </a:r>
            <a:r>
              <a:rPr lang="en-US" altLang="zh-CN" sz="16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// </a:t>
            </a:r>
            <a:r>
              <a:rPr lang="zh-CN" altLang="en-US" sz="16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记录后移</a:t>
            </a:r>
          </a:p>
          <a:p>
            <a:pPr fontAlgn="auto">
              <a:lnSpc>
                <a:spcPct val="150000"/>
              </a:lnSpc>
            </a:pP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L.r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[j+1] = 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L.r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[0];           </a:t>
            </a:r>
            <a:r>
              <a:rPr lang="en-US" altLang="zh-CN" sz="16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// </a:t>
            </a:r>
            <a:r>
              <a:rPr lang="zh-CN" altLang="en-US" sz="16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插入到正确位置</a:t>
            </a:r>
          </a:p>
          <a:p>
            <a:pPr fontAlgn="auto">
              <a:lnSpc>
                <a:spcPct val="150000"/>
              </a:lnSpc>
            </a:pPr>
            <a:r>
              <a:rPr lang="en-US" altLang="zh-CN" sz="1600" dirty="0">
                <a:solidFill>
                  <a:srgbClr val="00B050"/>
                </a:solidFill>
                <a:latin typeface="百度综艺简体" panose="02010601030101010101" charset="-122"/>
                <a:ea typeface="百度综艺简体" panose="02010601030101010101" charset="-122"/>
              </a:rPr>
              <a:t>}//if</a:t>
            </a:r>
          </a:p>
        </p:txBody>
      </p:sp>
    </p:spTree>
    <p:extLst>
      <p:ext uri="{BB962C8B-B14F-4D97-AF65-F5344CB8AC3E}">
        <p14:creationId xmlns:p14="http://schemas.microsoft.com/office/powerpoint/2010/main" val="1091023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3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直接插入排序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3" y="1201350"/>
            <a:ext cx="6072335" cy="737151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内部排序的时间分析：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969407" y="1569925"/>
            <a:ext cx="4823278" cy="5614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实现内部排序的基本操作有两个：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2422252" y="2397310"/>
            <a:ext cx="4823278" cy="5614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(1) “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比较”序列中两个关键字的大小；</a:t>
            </a: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2422252" y="2977441"/>
            <a:ext cx="4823278" cy="5614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(2) “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移动”记录。</a:t>
            </a:r>
          </a:p>
        </p:txBody>
      </p:sp>
    </p:spTree>
    <p:extLst>
      <p:ext uri="{BB962C8B-B14F-4D97-AF65-F5344CB8AC3E}">
        <p14:creationId xmlns:p14="http://schemas.microsoft.com/office/powerpoint/2010/main" val="149431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41" grpId="0"/>
      <p:bldP spid="18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直接插入排序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Text Box 2"/>
          <p:cNvSpPr txBox="1">
            <a:spLocks noChangeArrowheads="1"/>
          </p:cNvSpPr>
          <p:nvPr/>
        </p:nvSpPr>
        <p:spPr bwMode="auto">
          <a:xfrm>
            <a:off x="554731" y="975260"/>
            <a:ext cx="24929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0070C0"/>
                </a:solidFill>
                <a:ea typeface="百度综艺简体" panose="02010601030101010101"/>
              </a:rPr>
              <a:t>对于直接插入排序：</a:t>
            </a:r>
          </a:p>
        </p:txBody>
      </p:sp>
      <p:sp>
        <p:nvSpPr>
          <p:cNvPr id="20" name="Text Box 3"/>
          <p:cNvSpPr txBox="1">
            <a:spLocks noChangeArrowheads="1"/>
          </p:cNvSpPr>
          <p:nvPr/>
        </p:nvSpPr>
        <p:spPr bwMode="auto">
          <a:xfrm>
            <a:off x="828620" y="1511585"/>
            <a:ext cx="50321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defTabSz="911225">
              <a:buNone/>
            </a:pPr>
            <a:r>
              <a:rPr lang="zh-CN" altLang="en-US" sz="1800" dirty="0">
                <a:latin typeface="百度综艺简体" panose="02010601030101010101" charset="-122"/>
                <a:ea typeface="百度综艺简体" panose="02010601030101010101" charset="-122"/>
              </a:rPr>
              <a:t>最好的情况（关键字在记录序列中顺序有序）：</a:t>
            </a:r>
          </a:p>
        </p:txBody>
      </p:sp>
      <p:sp>
        <p:nvSpPr>
          <p:cNvPr id="23" name="Text Box 4"/>
          <p:cNvSpPr txBox="1">
            <a:spLocks noChangeArrowheads="1"/>
          </p:cNvSpPr>
          <p:nvPr/>
        </p:nvSpPr>
        <p:spPr bwMode="auto">
          <a:xfrm>
            <a:off x="1331097" y="1960079"/>
            <a:ext cx="17780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ea typeface="百度综艺简体" panose="02010601030101010101"/>
              </a:rPr>
              <a:t>“</a:t>
            </a:r>
            <a:r>
              <a:rPr lang="zh-CN" altLang="en-US" sz="1800" dirty="0">
                <a:solidFill>
                  <a:srgbClr val="0000FF"/>
                </a:solidFill>
                <a:ea typeface="百度综艺简体" panose="02010601030101010101"/>
              </a:rPr>
              <a:t>比较</a:t>
            </a:r>
            <a:r>
              <a:rPr lang="zh-CN" altLang="en-US" sz="1800" dirty="0">
                <a:ea typeface="百度综艺简体" panose="02010601030101010101"/>
              </a:rPr>
              <a:t>”的次数：</a:t>
            </a:r>
          </a:p>
        </p:txBody>
      </p:sp>
      <p:sp>
        <p:nvSpPr>
          <p:cNvPr id="24" name="Text Box 5"/>
          <p:cNvSpPr txBox="1">
            <a:spLocks noChangeArrowheads="1"/>
          </p:cNvSpPr>
          <p:nvPr/>
        </p:nvSpPr>
        <p:spPr bwMode="auto">
          <a:xfrm>
            <a:off x="828620" y="3164257"/>
            <a:ext cx="50321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defTabSz="911225">
              <a:buNone/>
            </a:pPr>
            <a:r>
              <a:rPr lang="zh-CN" altLang="en-US" sz="1800" dirty="0">
                <a:latin typeface="百度综艺简体" panose="02010601030101010101" charset="-122"/>
                <a:ea typeface="百度综艺简体" panose="02010601030101010101" charset="-122"/>
              </a:rPr>
              <a:t>最坏的情况（关键字在记录序列中逆序有序）：</a:t>
            </a:r>
          </a:p>
        </p:txBody>
      </p:sp>
      <p:sp>
        <p:nvSpPr>
          <p:cNvPr id="26" name="Text Box 6"/>
          <p:cNvSpPr txBox="1">
            <a:spLocks noChangeArrowheads="1"/>
          </p:cNvSpPr>
          <p:nvPr/>
        </p:nvSpPr>
        <p:spPr bwMode="auto">
          <a:xfrm>
            <a:off x="1331097" y="3697141"/>
            <a:ext cx="17780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ea typeface="百度综艺简体" panose="02010601030101010101"/>
              </a:rPr>
              <a:t>“</a:t>
            </a:r>
            <a:r>
              <a:rPr lang="zh-CN" altLang="en-US" sz="1800" dirty="0">
                <a:solidFill>
                  <a:srgbClr val="0000FF"/>
                </a:solidFill>
                <a:ea typeface="百度综艺简体" panose="02010601030101010101"/>
              </a:rPr>
              <a:t>比较</a:t>
            </a:r>
            <a:r>
              <a:rPr lang="zh-CN" altLang="en-US" sz="1800" dirty="0">
                <a:ea typeface="百度综艺简体" panose="02010601030101010101"/>
              </a:rPr>
              <a:t>”的次数：</a:t>
            </a:r>
          </a:p>
        </p:txBody>
      </p:sp>
      <p:graphicFrame>
        <p:nvGraphicFramePr>
          <p:cNvPr id="2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4466537"/>
              </p:ext>
            </p:extLst>
          </p:nvPr>
        </p:nvGraphicFramePr>
        <p:xfrm>
          <a:off x="1685810" y="2430654"/>
          <a:ext cx="1324025" cy="616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公式" r:id="rId4" imgW="657295" imgH="380982" progId="Equation.3">
                  <p:embed/>
                </p:oleObj>
              </mc:Choice>
              <mc:Fallback>
                <p:oleObj name="公式" r:id="rId4" imgW="657295" imgH="3809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5810" y="2430654"/>
                        <a:ext cx="1324025" cy="6163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8"/>
          <p:cNvSpPr txBox="1">
            <a:spLocks noChangeArrowheads="1"/>
          </p:cNvSpPr>
          <p:nvPr/>
        </p:nvSpPr>
        <p:spPr bwMode="auto">
          <a:xfrm>
            <a:off x="6171198" y="2489788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</a:rPr>
              <a:t>0</a:t>
            </a:r>
            <a:endParaRPr lang="en-US" altLang="zh-CN" sz="1800" dirty="0"/>
          </a:p>
        </p:txBody>
      </p:sp>
      <p:graphicFrame>
        <p:nvGraphicFramePr>
          <p:cNvPr id="3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4290095"/>
              </p:ext>
            </p:extLst>
          </p:nvPr>
        </p:nvGraphicFramePr>
        <p:xfrm>
          <a:off x="5473558" y="4417886"/>
          <a:ext cx="2355427" cy="548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公式" r:id="rId6" imgW="1485966" imgH="380982" progId="Equation.3">
                  <p:embed/>
                </p:oleObj>
              </mc:Choice>
              <mc:Fallback>
                <p:oleObj name="公式" r:id="rId6" imgW="1485966" imgH="3809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3558" y="4417886"/>
                        <a:ext cx="2355427" cy="5485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10"/>
          <p:cNvSpPr>
            <a:spLocks noChangeArrowheads="1"/>
          </p:cNvSpPr>
          <p:nvPr/>
        </p:nvSpPr>
        <p:spPr bwMode="auto">
          <a:xfrm>
            <a:off x="5369697" y="1956904"/>
            <a:ext cx="17780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ea typeface="百度综艺简体" panose="02010601030101010101"/>
              </a:rPr>
              <a:t>“</a:t>
            </a:r>
            <a:r>
              <a:rPr lang="zh-CN" altLang="en-US" sz="1800" dirty="0">
                <a:solidFill>
                  <a:srgbClr val="0000FF"/>
                </a:solidFill>
                <a:ea typeface="百度综艺简体" panose="02010601030101010101"/>
              </a:rPr>
              <a:t>移动</a:t>
            </a:r>
            <a:r>
              <a:rPr lang="zh-CN" altLang="en-US" sz="1800" dirty="0">
                <a:ea typeface="百度综艺简体" panose="02010601030101010101"/>
              </a:rPr>
              <a:t>”的次数：</a:t>
            </a:r>
          </a:p>
        </p:txBody>
      </p:sp>
      <p:sp>
        <p:nvSpPr>
          <p:cNvPr id="33" name="Rectangle 11"/>
          <p:cNvSpPr>
            <a:spLocks noChangeArrowheads="1"/>
          </p:cNvSpPr>
          <p:nvPr/>
        </p:nvSpPr>
        <p:spPr bwMode="auto">
          <a:xfrm>
            <a:off x="5522097" y="3697141"/>
            <a:ext cx="17780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ea typeface="百度综艺简体" panose="02010601030101010101"/>
              </a:rPr>
              <a:t>“</a:t>
            </a:r>
            <a:r>
              <a:rPr lang="zh-CN" altLang="en-US" sz="1800">
                <a:solidFill>
                  <a:srgbClr val="0000FF"/>
                </a:solidFill>
                <a:ea typeface="百度综艺简体" panose="02010601030101010101"/>
              </a:rPr>
              <a:t>移动</a:t>
            </a:r>
            <a:r>
              <a:rPr lang="zh-CN" altLang="en-US" sz="1800">
                <a:ea typeface="百度综艺简体" panose="02010601030101010101"/>
              </a:rPr>
              <a:t>”的次数：</a:t>
            </a:r>
          </a:p>
        </p:txBody>
      </p:sp>
      <p:graphicFrame>
        <p:nvGraphicFramePr>
          <p:cNvPr id="3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1405184"/>
              </p:ext>
            </p:extLst>
          </p:nvPr>
        </p:nvGraphicFramePr>
        <p:xfrm>
          <a:off x="1376222" y="4417886"/>
          <a:ext cx="2024728" cy="548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公式" r:id="rId8" imgW="1267008" imgH="380982" progId="Equation.3">
                  <p:embed/>
                </p:oleObj>
              </mc:Choice>
              <mc:Fallback>
                <p:oleObj name="公式" r:id="rId8" imgW="1267008" imgH="3809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6222" y="4417886"/>
                        <a:ext cx="2024728" cy="5485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4766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7" grpId="0" autoUpdateAnimBg="0"/>
      <p:bldP spid="20" grpId="0" autoUpdateAnimBg="0"/>
      <p:bldP spid="23" grpId="0" autoUpdateAnimBg="0"/>
      <p:bldP spid="24" grpId="0" autoUpdateAnimBg="0"/>
      <p:bldP spid="26" grpId="0" autoUpdateAnimBg="0"/>
      <p:bldP spid="29" grpId="0" autoUpdateAnimBg="0"/>
      <p:bldP spid="32" grpId="0" autoUpdateAnimBg="0"/>
      <p:bldP spid="33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直接插入排序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Text Box 2"/>
          <p:cNvSpPr txBox="1">
            <a:spLocks noChangeArrowheads="1"/>
          </p:cNvSpPr>
          <p:nvPr/>
        </p:nvSpPr>
        <p:spPr bwMode="auto">
          <a:xfrm>
            <a:off x="837227" y="1219235"/>
            <a:ext cx="7340471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1800" dirty="0">
                <a:ea typeface="百度综艺简体" panose="02010601030101010101"/>
              </a:rPr>
              <a:t> </a:t>
            </a:r>
            <a:r>
              <a:rPr lang="zh-CN" altLang="en-US" sz="1800" dirty="0" smtClean="0">
                <a:ea typeface="百度综艺简体" panose="02010601030101010101"/>
              </a:rPr>
              <a:t>       一般</a:t>
            </a:r>
            <a:r>
              <a:rPr lang="zh-CN" altLang="en-US" sz="1800" dirty="0">
                <a:ea typeface="百度综艺简体" panose="02010601030101010101"/>
              </a:rPr>
              <a:t>情况下，待排序记录是随机的，即待排序列中的记录可能</a:t>
            </a:r>
            <a:r>
              <a:rPr lang="zh-CN" altLang="en-US" sz="1800" dirty="0" smtClean="0">
                <a:ea typeface="百度综艺简体" panose="02010601030101010101"/>
              </a:rPr>
              <a:t>出现</a:t>
            </a:r>
            <a:endParaRPr lang="en-US" altLang="zh-CN" sz="1800" dirty="0" smtClean="0">
              <a:ea typeface="百度综艺简体" panose="02010601030101010101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1800" dirty="0" smtClean="0">
                <a:ea typeface="百度综艺简体" panose="02010601030101010101"/>
              </a:rPr>
              <a:t>的</a:t>
            </a:r>
            <a:r>
              <a:rPr lang="zh-CN" altLang="en-US" sz="1800" dirty="0">
                <a:ea typeface="百度综艺简体" panose="02010601030101010101"/>
              </a:rPr>
              <a:t>各种排列的概率相同，则可取最小值和最大值的平均值，作为</a:t>
            </a:r>
            <a:r>
              <a:rPr lang="zh-CN" altLang="en-US" sz="1800" dirty="0" smtClean="0">
                <a:ea typeface="百度综艺简体" panose="02010601030101010101"/>
              </a:rPr>
              <a:t>直接</a:t>
            </a:r>
            <a:endParaRPr lang="en-US" altLang="zh-CN" sz="1800" dirty="0" smtClean="0">
              <a:ea typeface="百度综艺简体" panose="02010601030101010101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1800" dirty="0" smtClean="0">
                <a:ea typeface="百度综艺简体" panose="02010601030101010101"/>
              </a:rPr>
              <a:t>插入排序</a:t>
            </a:r>
            <a:r>
              <a:rPr lang="zh-CN" altLang="en-US" sz="1800" dirty="0">
                <a:ea typeface="百度综艺简体" panose="02010601030101010101"/>
              </a:rPr>
              <a:t>时所需进行关键字的比较次数和移动记录的次数，约为</a:t>
            </a:r>
            <a:r>
              <a:rPr lang="en-US" altLang="zh-CN" sz="1800" dirty="0">
                <a:ea typeface="百度综艺简体" panose="02010601030101010101"/>
              </a:rPr>
              <a:t>n2</a:t>
            </a:r>
            <a:r>
              <a:rPr lang="zh-CN" altLang="en-US" sz="1800" dirty="0">
                <a:ea typeface="百度综艺简体" panose="02010601030101010101"/>
              </a:rPr>
              <a:t>／</a:t>
            </a:r>
            <a:r>
              <a:rPr lang="en-US" altLang="zh-CN" sz="1800" dirty="0">
                <a:ea typeface="百度综艺简体" panose="02010601030101010101"/>
              </a:rPr>
              <a:t>4.</a:t>
            </a:r>
            <a:endParaRPr lang="zh-CN" altLang="en-US" sz="1800" dirty="0">
              <a:ea typeface="百度综艺简体" panose="02010601030101010101"/>
            </a:endParaRPr>
          </a:p>
        </p:txBody>
      </p:sp>
      <p:sp>
        <p:nvSpPr>
          <p:cNvPr id="24" name="Text Box 5"/>
          <p:cNvSpPr txBox="1">
            <a:spLocks noChangeArrowheads="1"/>
          </p:cNvSpPr>
          <p:nvPr/>
        </p:nvSpPr>
        <p:spPr bwMode="auto">
          <a:xfrm>
            <a:off x="925757" y="3054786"/>
            <a:ext cx="45608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defTabSz="911225">
              <a:buNone/>
            </a:pPr>
            <a:r>
              <a:rPr lang="zh-CN" altLang="en-US" sz="1800" dirty="0">
                <a:latin typeface="百度综艺简体" panose="02010601030101010101" charset="-122"/>
                <a:ea typeface="百度综艺简体" panose="02010601030101010101" charset="-122"/>
              </a:rPr>
              <a:t>对于直接插入排序：其时间复杂度为</a:t>
            </a:r>
            <a:r>
              <a:rPr lang="en-US" altLang="zh-CN" sz="1800" dirty="0">
                <a:latin typeface="百度综艺简体" panose="02010601030101010101" charset="-122"/>
                <a:ea typeface="百度综艺简体" panose="02010601030101010101" charset="-122"/>
              </a:rPr>
              <a:t>O(n2)</a:t>
            </a:r>
            <a:endParaRPr lang="en-US" altLang="zh-CN" sz="18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26" name="Text Box 6"/>
          <p:cNvSpPr txBox="1">
            <a:spLocks noChangeArrowheads="1"/>
          </p:cNvSpPr>
          <p:nvPr/>
        </p:nvSpPr>
        <p:spPr bwMode="auto">
          <a:xfrm>
            <a:off x="925757" y="3707953"/>
            <a:ext cx="7022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1800" dirty="0">
                <a:ea typeface="百度综艺简体" panose="02010601030101010101"/>
              </a:rPr>
              <a:t>适用于当待排序记录的数量很</a:t>
            </a:r>
            <a:r>
              <a:rPr lang="zh-CN" altLang="en-US" sz="1800" dirty="0" smtClean="0">
                <a:ea typeface="百度综艺简体" panose="02010601030101010101"/>
              </a:rPr>
              <a:t>小时直接</a:t>
            </a:r>
            <a:r>
              <a:rPr lang="zh-CN" altLang="en-US" sz="1800" dirty="0">
                <a:ea typeface="百度综艺简体" panose="02010601030101010101"/>
              </a:rPr>
              <a:t>插入排序是稳定的排序方法</a:t>
            </a:r>
          </a:p>
        </p:txBody>
      </p:sp>
    </p:spTree>
    <p:extLst>
      <p:ext uri="{BB962C8B-B14F-4D97-AF65-F5344CB8AC3E}">
        <p14:creationId xmlns:p14="http://schemas.microsoft.com/office/powerpoint/2010/main" val="13305647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7" grpId="0" autoUpdateAnimBg="0"/>
      <p:bldP spid="24" grpId="0" autoUpdateAnimBg="0"/>
      <p:bldP spid="2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11" y="58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20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/>
          <a:stretch>
            <a:fillRect/>
          </a:stretch>
        </p:blipFill>
        <p:spPr>
          <a:xfrm>
            <a:off x="4224" y="1133312"/>
            <a:ext cx="3523982" cy="4018760"/>
          </a:xfrm>
          <a:prstGeom prst="rect">
            <a:avLst/>
          </a:prstGeom>
          <a:solidFill>
            <a:srgbClr val="2A5BA8"/>
          </a:solidFill>
        </p:spPr>
      </p:pic>
      <p:pic>
        <p:nvPicPr>
          <p:cNvPr id="5" name="20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4" b="51735"/>
          <a:stretch>
            <a:fillRect/>
          </a:stretch>
        </p:blipFill>
        <p:spPr>
          <a:xfrm flipV="1">
            <a:off x="7180313" y="794"/>
            <a:ext cx="1952652" cy="1727659"/>
          </a:xfrm>
          <a:prstGeom prst="rect">
            <a:avLst/>
          </a:prstGeom>
        </p:spPr>
      </p:pic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4990595" y="2335478"/>
            <a:ext cx="3266020" cy="896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54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本</a:t>
            </a:r>
            <a:r>
              <a:rPr lang="zh-CN" altLang="en-US" sz="5400" cap="all" spc="213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节结束</a:t>
            </a:r>
            <a:endParaRPr lang="en-US" altLang="zh-CN" sz="5400" cap="all" spc="213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cs typeface="百度综艺简体" panose="02010601030101010101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803775" y="3791585"/>
            <a:ext cx="1569085" cy="18415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任课教师：</a:t>
            </a:r>
            <a:r>
              <a:rPr 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王青松</a:t>
            </a:r>
            <a:r>
              <a:rPr lang="en-US" alt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 </a:t>
            </a:r>
            <a:r>
              <a:rPr lang="en-US" altLang="zh-CN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  </a:t>
            </a:r>
            <a:r>
              <a:rPr lang="zh-CN" altLang="en-US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</a:t>
            </a:r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372558" y="3791658"/>
            <a:ext cx="2760406" cy="184538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850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349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49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0" grpId="0" bldLvl="0" animBg="1"/>
      <p:bldP spid="11" grpId="0" bldLvl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自定义 64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A5BA8"/>
      </a:accent1>
      <a:accent2>
        <a:srgbClr val="48AC92"/>
      </a:accent2>
      <a:accent3>
        <a:srgbClr val="2A5BA8"/>
      </a:accent3>
      <a:accent4>
        <a:srgbClr val="48AC9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</TotalTime>
  <Words>785</Words>
  <Application>Microsoft Office PowerPoint</Application>
  <PresentationFormat>自定义</PresentationFormat>
  <Paragraphs>131</Paragraphs>
  <Slides>15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Lato Light</vt:lpstr>
      <vt:lpstr>百度综艺简体</vt:lpstr>
      <vt:lpstr>等线</vt:lpstr>
      <vt:lpstr>等线 Light</vt:lpstr>
      <vt:lpstr>华文中宋</vt:lpstr>
      <vt:lpstr>楷体_GB2312</vt:lpstr>
      <vt:lpstr>宋体</vt:lpstr>
      <vt:lpstr>微软雅黑</vt:lpstr>
      <vt:lpstr>Arial</vt:lpstr>
      <vt:lpstr>Calibri</vt:lpstr>
      <vt:lpstr>Calibri Light</vt:lpstr>
      <vt:lpstr>Tahoma</vt:lpstr>
      <vt:lpstr>Times New Roman</vt:lpstr>
      <vt:lpstr>Office 主题​​</vt:lpstr>
      <vt:lpstr>Microsoft Equation 3.0</vt:lpstr>
      <vt:lpstr>Microsoft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蔡女士</cp:lastModifiedBy>
  <cp:revision>61</cp:revision>
  <dcterms:created xsi:type="dcterms:W3CDTF">2017-06-21T11:46:00Z</dcterms:created>
  <dcterms:modified xsi:type="dcterms:W3CDTF">2020-11-25T13:31:33Z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2052-11.1.0.8986</vt:lpwstr>
  </property>
</Properties>
</file>