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97" r:id="rId2"/>
    <p:sldId id="261" r:id="rId3"/>
    <p:sldId id="299" r:id="rId4"/>
    <p:sldId id="307" r:id="rId5"/>
    <p:sldId id="308" r:id="rId6"/>
    <p:sldId id="309" r:id="rId7"/>
    <p:sldId id="310" r:id="rId8"/>
    <p:sldId id="301" r:id="rId9"/>
    <p:sldId id="302" r:id="rId10"/>
  </p:sldIdLst>
  <p:sldSz cx="9144000" cy="5145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5B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2" autoAdjust="0"/>
    <p:restoredTop sz="94660"/>
  </p:normalViewPr>
  <p:slideViewPr>
    <p:cSldViewPr snapToGrid="0">
      <p:cViewPr varScale="1">
        <p:scale>
          <a:sx n="96" d="100"/>
          <a:sy n="96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92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31844-757F-4497-A6B9-29138D45B0D0}" type="datetimeFigureOut">
              <a:rPr lang="zh-CN" altLang="en-US" smtClean="0"/>
              <a:t>2022/8/29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BABFAC-0D77-4680-9C08-FA0DD250B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9954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2653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0038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746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9614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64879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25319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87042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1597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032"/>
            <a:ext cx="6858000" cy="1791253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2363"/>
            <a:ext cx="6858000" cy="124220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2022/8/29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2022/8/29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4021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443160"/>
            <a:ext cx="7886700" cy="1125488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2022/8/29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2022/8/29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929"/>
            <a:ext cx="7886700" cy="99447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261261"/>
            <a:ext cx="3868340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1879386"/>
            <a:ext cx="3868340" cy="276429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1261"/>
            <a:ext cx="3887391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1879386"/>
            <a:ext cx="3887391" cy="276429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2022/8/29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2022/8/29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2022/8/29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253" y="196280"/>
            <a:ext cx="144049" cy="5040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800"/>
            <a:endParaRPr lang="zh-CN" altLang="en-US" sz="1400" dirty="0">
              <a:solidFill>
                <a:srgbClr val="E7E6E6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6" name="文本框 37"/>
          <p:cNvSpPr txBox="1"/>
          <p:nvPr userDrawn="1"/>
        </p:nvSpPr>
        <p:spPr>
          <a:xfrm>
            <a:off x="216310" y="196280"/>
            <a:ext cx="2190351" cy="315475"/>
          </a:xfrm>
          <a:prstGeom prst="rect">
            <a:avLst/>
          </a:prstGeom>
          <a:noFill/>
        </p:spPr>
        <p:txBody>
          <a:bodyPr wrap="none" lIns="68584" tIns="34292" rIns="68584" bIns="34292" rtlCol="0">
            <a:spAutoFit/>
          </a:bodyPr>
          <a:lstStyle/>
          <a:p>
            <a:pPr defTabSz="685800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</a:p>
        </p:txBody>
      </p:sp>
      <p:sp>
        <p:nvSpPr>
          <p:cNvPr id="7" name="文本框 38"/>
          <p:cNvSpPr txBox="1"/>
          <p:nvPr userDrawn="1"/>
        </p:nvSpPr>
        <p:spPr>
          <a:xfrm>
            <a:off x="265271" y="520316"/>
            <a:ext cx="2039271" cy="207753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algn="dist" defTabSz="685800"/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ADD RELATED TITLE WORDS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740798"/>
            <a:ext cx="4629150" cy="365634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2022/8/29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798"/>
            <a:ext cx="4629150" cy="365634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单击图标添加20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2022/8/29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2022/8/29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928"/>
            <a:ext cx="1971675" cy="436022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3928"/>
            <a:ext cx="5800725" cy="4360224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2022/8/29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9ABEBE-EF13-4983-B182-046B37A0370C}" type="datetime1">
              <a:rPr lang="zh-CN" altLang="en-US"/>
              <a:t>2022/8/29</a:t>
            </a:fld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145E6F-D1B7-49E0-9AB3-789D9698C190}" type="slidenum">
              <a:rPr lang="zh-CN" altLang="en-US"/>
              <a:t>‹#›</a:t>
            </a:fld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143000" y="374188"/>
            <a:ext cx="6858000" cy="523279"/>
          </a:xfrm>
        </p:spPr>
        <p:txBody>
          <a:bodyPr anchor="b">
            <a:normAutofit/>
          </a:bodyPr>
          <a:lstStyle>
            <a:lvl1pPr algn="ctr">
              <a:defRPr sz="3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143000" y="918257"/>
            <a:ext cx="6858000" cy="280749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628650" y="1503977"/>
            <a:ext cx="3942159" cy="353809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28650" y="1869220"/>
            <a:ext cx="3942159" cy="1320052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629841" y="3288332"/>
            <a:ext cx="3940969" cy="370398"/>
          </a:xfrm>
        </p:spPr>
        <p:txBody>
          <a:bodyPr>
            <a:normAutofit/>
          </a:bodyPr>
          <a:lstStyle>
            <a:lvl1pPr marL="0" indent="0">
              <a:buNone/>
              <a:defRPr sz="1200" b="1" i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6"/>
          </p:nvPr>
        </p:nvSpPr>
        <p:spPr>
          <a:xfrm>
            <a:off x="629841" y="3658730"/>
            <a:ext cx="3940969" cy="370399"/>
          </a:xfrm>
        </p:spPr>
        <p:txBody>
          <a:bodyPr>
            <a:normAutofit/>
          </a:bodyPr>
          <a:lstStyle>
            <a:lvl1pPr marL="0" indent="0">
              <a:buNone/>
              <a:defRPr sz="900" b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4" name="Text Placeholder 15"/>
          <p:cNvSpPr>
            <a:spLocks noGrp="1"/>
          </p:cNvSpPr>
          <p:nvPr>
            <p:ph type="body" sz="quarter" idx="17"/>
          </p:nvPr>
        </p:nvSpPr>
        <p:spPr>
          <a:xfrm>
            <a:off x="629841" y="4029128"/>
            <a:ext cx="3942159" cy="270355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722F6D6F-DD99-46DF-A9EA-728D63EA6A31}" type="datetimeFigureOut">
              <a:rPr lang="en-AU" smtClean="0"/>
              <a:t>29/08/2022</a:t>
            </a:fld>
            <a:endParaRPr lang="en-AU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8735"/>
            <a:ext cx="30861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endParaRPr lang="en-AU" dirty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84AD2E7E-F7BA-4F6B-9D0C-0B2331C2AE06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8"/>
          </p:nvPr>
        </p:nvSpPr>
        <p:spPr>
          <a:xfrm>
            <a:off x="5112544" y="1504225"/>
            <a:ext cx="3251597" cy="35372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endParaRPr lang="en-AU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9"/>
          </p:nvPr>
        </p:nvSpPr>
        <p:spPr>
          <a:xfrm>
            <a:off x="5112544" y="1868668"/>
            <a:ext cx="3251597" cy="703876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642"/>
            <a:ext cx="7886700" cy="326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0A747-1217-4325-A876-522190C71555}" type="datetimeFigureOut">
              <a:rPr lang="zh-CN" altLang="en-US" smtClean="0"/>
              <a:t>2022/8/29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8735"/>
            <a:ext cx="30861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png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411" y="5875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3" name="20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4"/>
          <a:stretch>
            <a:fillRect/>
          </a:stretch>
        </p:blipFill>
        <p:spPr>
          <a:xfrm>
            <a:off x="4224" y="1133312"/>
            <a:ext cx="3523982" cy="4018760"/>
          </a:xfrm>
          <a:prstGeom prst="rect">
            <a:avLst/>
          </a:prstGeom>
          <a:solidFill>
            <a:srgbClr val="2A5BA8"/>
          </a:solidFill>
        </p:spPr>
      </p:pic>
      <p:pic>
        <p:nvPicPr>
          <p:cNvPr id="5" name="20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564" b="51735"/>
          <a:stretch>
            <a:fillRect/>
          </a:stretch>
        </p:blipFill>
        <p:spPr>
          <a:xfrm flipV="1">
            <a:off x="7180313" y="794"/>
            <a:ext cx="1952652" cy="1727659"/>
          </a:xfrm>
          <a:prstGeom prst="rect">
            <a:avLst/>
          </a:prstGeom>
        </p:spPr>
      </p:pic>
      <p:sp>
        <p:nvSpPr>
          <p:cNvPr id="7" name="矩形 259"/>
          <p:cNvSpPr>
            <a:spLocks noChangeArrowheads="1"/>
          </p:cNvSpPr>
          <p:nvPr/>
        </p:nvSpPr>
        <p:spPr bwMode="auto">
          <a:xfrm>
            <a:off x="7107063" y="2957195"/>
            <a:ext cx="1782208" cy="373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zh-CN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——</a:t>
            </a:r>
            <a:r>
              <a:rPr lang="zh-CN" alt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类</a:t>
            </a:r>
            <a:r>
              <a:rPr lang="en-US" altLang="zh-CN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C</a:t>
            </a:r>
            <a:r>
              <a:rPr lang="zh-CN" alt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描述</a:t>
            </a:r>
          </a:p>
        </p:txBody>
      </p:sp>
      <p:sp>
        <p:nvSpPr>
          <p:cNvPr id="8" name="矩形 259"/>
          <p:cNvSpPr>
            <a:spLocks noChangeArrowheads="1"/>
          </p:cNvSpPr>
          <p:nvPr/>
        </p:nvSpPr>
        <p:spPr bwMode="auto">
          <a:xfrm>
            <a:off x="3472815" y="2324735"/>
            <a:ext cx="566928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8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数据结构 </a:t>
            </a:r>
            <a:r>
              <a:rPr lang="en-US" altLang="zh-CN" sz="28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DATA STRUCTURE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803775" y="3791585"/>
            <a:ext cx="1569085" cy="184150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zh-CN" altLang="en-US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任课教师：</a:t>
            </a:r>
            <a:r>
              <a:rPr 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王青松</a:t>
            </a:r>
            <a:r>
              <a:rPr lang="en-US" alt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 </a:t>
            </a:r>
            <a:r>
              <a:rPr lang="en-US" altLang="zh-CN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  </a:t>
            </a:r>
            <a:r>
              <a:rPr lang="zh-CN" altLang="en-US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</a:t>
            </a:r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372558" y="3791658"/>
            <a:ext cx="2760406" cy="184538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99"/>
                            </p:stCondLst>
                            <p:childTnLst>
                              <p:par>
                                <p:cTn id="2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99"/>
                            </p:stCondLst>
                            <p:childTnLst>
                              <p:par>
                                <p:cTn id="2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849"/>
                            </p:stCondLst>
                            <p:childTnLst>
                              <p:par>
                                <p:cTn id="3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349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849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  <p:bldP spid="10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grpSp>
        <p:nvGrpSpPr>
          <p:cNvPr id="2" name="组合 1"/>
          <p:cNvGrpSpPr/>
          <p:nvPr/>
        </p:nvGrpSpPr>
        <p:grpSpPr>
          <a:xfrm>
            <a:off x="2140585" y="362585"/>
            <a:ext cx="7002145" cy="109220"/>
            <a:chOff x="2140585" y="362585"/>
            <a:chExt cx="7002145" cy="109220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椭圆 23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Text Placeholder 11"/>
          <p:cNvSpPr txBox="1"/>
          <p:nvPr/>
        </p:nvSpPr>
        <p:spPr>
          <a:xfrm>
            <a:off x="1106170" y="857250"/>
            <a:ext cx="4864735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顺序表的定义和特点</a:t>
            </a: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268730" y="1600983"/>
            <a:ext cx="7040129" cy="13849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buFontTx/>
              <a:buNone/>
            </a:pPr>
            <a:r>
              <a:rPr lang="zh-CN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+mn-ea"/>
              </a:rPr>
              <a:t>      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+mn-ea"/>
              </a:rPr>
              <a:t>n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  <a:sym typeface="+mn-ea"/>
              </a:rPr>
              <a:t>（ </a:t>
            </a:r>
            <a:r>
              <a:rPr lang="zh-CN" altLang="en-US" dirty="0">
                <a:sym typeface="Symbol" panose="05050102010706020507" pitchFamily="18" charset="2"/>
              </a:rPr>
              <a:t>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  <a:sym typeface="+mn-ea"/>
              </a:rPr>
              <a:t>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+mn-ea"/>
              </a:rPr>
              <a:t>0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  <a:sym typeface="+mn-ea"/>
              </a:rPr>
              <a:t>）个表项的有限序列</a:t>
            </a:r>
          </a:p>
          <a:p>
            <a:pPr fontAlgn="auto">
              <a:lnSpc>
                <a:spcPct val="150000"/>
              </a:lnSpc>
              <a:buFontTx/>
              <a:buNone/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  <a:sym typeface="+mn-ea"/>
              </a:rPr>
              <a:t>           （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+mn-ea"/>
              </a:rPr>
              <a:t>a1, a2, …, an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  <a:sym typeface="+mn-ea"/>
              </a:rPr>
              <a:t>）</a:t>
            </a:r>
          </a:p>
          <a:p>
            <a:pPr fontAlgn="auto">
              <a:lnSpc>
                <a:spcPct val="150000"/>
              </a:lnSpc>
              <a:buFontTx/>
              <a:buNone/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  <a:sym typeface="+mn-ea"/>
              </a:rPr>
              <a:t>     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  <a:sym typeface="+mn-ea"/>
              </a:rPr>
              <a:t>ai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  <a:sym typeface="+mn-ea"/>
              </a:rPr>
              <a:t>是表项，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+mn-ea"/>
              </a:rPr>
              <a:t>n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  <a:sym typeface="+mn-ea"/>
              </a:rPr>
              <a:t>是表长度。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38" name="Oval 5"/>
          <p:cNvSpPr>
            <a:spLocks noChangeArrowheads="1"/>
          </p:cNvSpPr>
          <p:nvPr/>
        </p:nvSpPr>
        <p:spPr bwMode="auto">
          <a:xfrm>
            <a:off x="557288" y="744734"/>
            <a:ext cx="548438" cy="546995"/>
          </a:xfrm>
          <a:prstGeom prst="ellipse">
            <a:avLst/>
          </a:prstGeom>
          <a:solidFill>
            <a:schemeClr val="bg2"/>
          </a:solidFill>
          <a:ln w="9525">
            <a:noFill/>
            <a:round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9" name="Oval 6"/>
          <p:cNvSpPr>
            <a:spLocks noChangeArrowheads="1"/>
          </p:cNvSpPr>
          <p:nvPr/>
        </p:nvSpPr>
        <p:spPr bwMode="auto">
          <a:xfrm>
            <a:off x="611248" y="798693"/>
            <a:ext cx="451739" cy="450296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40" name="TextBox 14"/>
          <p:cNvSpPr txBox="1">
            <a:spLocks noChangeArrowheads="1"/>
          </p:cNvSpPr>
          <p:nvPr/>
        </p:nvSpPr>
        <p:spPr bwMode="auto">
          <a:xfrm>
            <a:off x="665834" y="803135"/>
            <a:ext cx="332568" cy="4615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US" altLang="zh-CN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Text Placeholder 11"/>
          <p:cNvSpPr txBox="1"/>
          <p:nvPr/>
        </p:nvSpPr>
        <p:spPr>
          <a:xfrm>
            <a:off x="1106170" y="1390650"/>
            <a:ext cx="123698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定义</a:t>
            </a:r>
            <a:endParaRPr lang="zh-CN" sz="20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52" name="Text Placeholder 11"/>
          <p:cNvSpPr txBox="1"/>
          <p:nvPr/>
        </p:nvSpPr>
        <p:spPr>
          <a:xfrm>
            <a:off x="1100455" y="2969895"/>
            <a:ext cx="705403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特点</a:t>
            </a:r>
            <a:endParaRPr lang="zh-CN" sz="20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53" name="TextBox 5"/>
          <p:cNvSpPr txBox="1">
            <a:spLocks noChangeArrowheads="1"/>
          </p:cNvSpPr>
          <p:nvPr/>
        </p:nvSpPr>
        <p:spPr bwMode="auto">
          <a:xfrm>
            <a:off x="1805998" y="2985978"/>
            <a:ext cx="4778375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  <a:sym typeface="+mn-ea"/>
              </a:rPr>
              <a:t>顺序存取</a:t>
            </a:r>
          </a:p>
        </p:txBody>
      </p:sp>
      <p:sp>
        <p:nvSpPr>
          <p:cNvPr id="55" name="TextBox 5"/>
          <p:cNvSpPr txBox="1">
            <a:spLocks noChangeArrowheads="1"/>
          </p:cNvSpPr>
          <p:nvPr/>
        </p:nvSpPr>
        <p:spPr bwMode="auto">
          <a:xfrm>
            <a:off x="1355725" y="4163695"/>
            <a:ext cx="611759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  <a:sym typeface="+mn-ea"/>
              </a:rPr>
              <a:t>从前向后  从后向前  从两端向中间</a:t>
            </a:r>
            <a:endParaRPr lang="zh-CN" dirty="0">
              <a:solidFill>
                <a:srgbClr val="FF0000"/>
              </a:solidFill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20" name="Text Placeholder 11"/>
          <p:cNvSpPr txBox="1"/>
          <p:nvPr/>
        </p:nvSpPr>
        <p:spPr>
          <a:xfrm>
            <a:off x="1099953" y="3391406"/>
            <a:ext cx="705403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遍历</a:t>
            </a:r>
            <a:endParaRPr lang="zh-CN" sz="20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1" name="TextBox 5"/>
          <p:cNvSpPr txBox="1">
            <a:spLocks noChangeArrowheads="1"/>
          </p:cNvSpPr>
          <p:nvPr/>
        </p:nvSpPr>
        <p:spPr bwMode="auto">
          <a:xfrm>
            <a:off x="1805496" y="3407489"/>
            <a:ext cx="4778375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  <a:sym typeface="+mn-ea"/>
              </a:rPr>
              <a:t>逐项访问</a:t>
            </a:r>
          </a:p>
        </p:txBody>
      </p:sp>
      <p:sp>
        <p:nvSpPr>
          <p:cNvPr id="25" name="Text Placeholder 11"/>
          <p:cNvSpPr txBox="1"/>
          <p:nvPr/>
        </p:nvSpPr>
        <p:spPr>
          <a:xfrm>
            <a:off x="2302510" y="116334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顺序表的定义和初始化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0"/>
                            </p:stCondLst>
                            <p:childTnLst>
                              <p:par>
                                <p:cTn id="5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 tmFilter="0,0; .5, 1; 1, 1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800"/>
                            </p:stCondLst>
                            <p:childTnLst>
                              <p:par>
                                <p:cTn id="62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6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6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800"/>
                            </p:stCondLst>
                            <p:childTnLst>
                              <p:par>
                                <p:cTn id="6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8800"/>
                            </p:stCondLst>
                            <p:childTnLst>
                              <p:par>
                                <p:cTn id="7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 tmFilter="0,0; .5, 1; 1, 1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9450"/>
                            </p:stCondLst>
                            <p:childTnLst>
                              <p:par>
                                <p:cTn id="8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 tmFilter="0,0; .5, 1; 1, 1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600"/>
                            </p:stCondLst>
                            <p:childTnLst>
                              <p:par>
                                <p:cTn id="9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1600"/>
                            </p:stCondLst>
                            <p:childTnLst>
                              <p:par>
                                <p:cTn id="9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 tmFilter="0,0; .5, 1; 1, 1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2250"/>
                            </p:stCondLst>
                            <p:childTnLst>
                              <p:par>
                                <p:cTn id="10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 autoUpdateAnimBg="0"/>
      <p:bldP spid="37" grpId="0" animBg="1"/>
      <p:bldP spid="38" grpId="0" bldLvl="0" animBg="1" autoUpdateAnimBg="0"/>
      <p:bldP spid="39" grpId="0" bldLvl="0" animBg="1" autoUpdateAnimBg="0"/>
      <p:bldP spid="40" grpId="0" autoUpdateAnimBg="0"/>
      <p:bldP spid="41" grpId="0"/>
      <p:bldP spid="52" grpId="0"/>
      <p:bldP spid="53" grpId="0" autoUpdateAnimBg="0"/>
      <p:bldP spid="55" grpId="0" autoUpdateAnimBg="0"/>
      <p:bldP spid="20" grpId="0"/>
      <p:bldP spid="21" grpId="0" autoUpdateAnimBg="0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1106170" y="857250"/>
            <a:ext cx="4864735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顺序表的特点：</a:t>
            </a:r>
            <a:endParaRPr lang="zh-CN" sz="24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17" name="组合 16"/>
          <p:cNvGrpSpPr/>
          <p:nvPr/>
        </p:nvGrpSpPr>
        <p:grpSpPr>
          <a:xfrm>
            <a:off x="2140585" y="362585"/>
            <a:ext cx="7002145" cy="109220"/>
            <a:chOff x="2140585" y="362585"/>
            <a:chExt cx="7002145" cy="109220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TextBox 5"/>
          <p:cNvSpPr txBox="1">
            <a:spLocks noChangeArrowheads="1"/>
          </p:cNvSpPr>
          <p:nvPr/>
        </p:nvSpPr>
        <p:spPr bwMode="auto">
          <a:xfrm>
            <a:off x="1438539" y="1323462"/>
            <a:ext cx="3239783" cy="3416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lvl="0" indent="-285750" defTabSz="9144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u"/>
              <a:defRPr/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逻辑上相邻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,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物理上也相邻</a:t>
            </a:r>
            <a:endParaRPr lang="en-US" altLang="zh-CN" dirty="0">
              <a:latin typeface="百度综艺简体" panose="02010601030101010101" charset="-122"/>
              <a:ea typeface="百度综艺简体" panose="02010601030101010101" charset="-122"/>
              <a:sym typeface="Wingdings" panose="05000000000000000000" pitchFamily="2" charset="2"/>
            </a:endParaRPr>
          </a:p>
        </p:txBody>
      </p:sp>
      <p:sp>
        <p:nvSpPr>
          <p:cNvPr id="23" name="TextBox 5"/>
          <p:cNvSpPr txBox="1">
            <a:spLocks noChangeArrowheads="1"/>
          </p:cNvSpPr>
          <p:nvPr/>
        </p:nvSpPr>
        <p:spPr bwMode="auto">
          <a:xfrm>
            <a:off x="1438538" y="1762477"/>
            <a:ext cx="4972201" cy="3416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lvl="0" indent="-285750" defTabSz="9144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u"/>
              <a:defRPr/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LOC(a[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i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])=LOC(a[1])+(i-1)*L</a:t>
            </a:r>
          </a:p>
        </p:txBody>
      </p:sp>
      <p:pic>
        <p:nvPicPr>
          <p:cNvPr id="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100" y="2789335"/>
            <a:ext cx="6019800" cy="1555115"/>
          </a:xfrm>
          <a:prstGeom prst="rect">
            <a:avLst/>
          </a:prstGeom>
          <a:ln w="57150"/>
          <a:effectLst>
            <a:softEdge rad="31750"/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25" name="Text Placeholder 11"/>
          <p:cNvSpPr txBox="1"/>
          <p:nvPr/>
        </p:nvSpPr>
        <p:spPr>
          <a:xfrm>
            <a:off x="2302510" y="116334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顺序表的定义和初始化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 tmFilter="0,0; .5, 1; 1, 1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 tmFilter="0,0; .5, 1; 1, 1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8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37" grpId="0" animBg="1"/>
      <p:bldP spid="21" grpId="0" autoUpdateAnimBg="0"/>
      <p:bldP spid="23" grpId="0" autoUpdateAnimBg="0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1106170" y="857250"/>
            <a:ext cx="4864735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顺序表</a:t>
            </a:r>
            <a:r>
              <a:rPr lang="en-US" altLang="zh-CN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(</a:t>
            </a:r>
            <a:r>
              <a:rPr lang="en-US" altLang="zh-CN" sz="2400" dirty="0" err="1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SqList</a:t>
            </a:r>
            <a:r>
              <a:rPr lang="en-US" altLang="zh-CN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)</a:t>
            </a: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类的定义</a:t>
            </a:r>
            <a:endParaRPr lang="zh-CN" sz="24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17" name="组合 16"/>
          <p:cNvGrpSpPr/>
          <p:nvPr/>
        </p:nvGrpSpPr>
        <p:grpSpPr>
          <a:xfrm>
            <a:off x="2140585" y="362585"/>
            <a:ext cx="7002145" cy="109220"/>
            <a:chOff x="2140585" y="362585"/>
            <a:chExt cx="7002145" cy="109220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TextBox 5"/>
          <p:cNvSpPr txBox="1">
            <a:spLocks noChangeArrowheads="1"/>
          </p:cNvSpPr>
          <p:nvPr/>
        </p:nvSpPr>
        <p:spPr bwMode="auto">
          <a:xfrm>
            <a:off x="1743339" y="1632987"/>
            <a:ext cx="5821243" cy="216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/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#define LIST_INIT_SIZE 100</a:t>
            </a:r>
          </a:p>
          <a:p>
            <a:pPr lvl="0" defTabSz="9144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/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#define LISTINCREMENT 10</a:t>
            </a:r>
          </a:p>
          <a:p>
            <a:pPr lvl="0" defTabSz="9144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/>
            </a:pP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typedef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struct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 {</a:t>
            </a:r>
          </a:p>
          <a:p>
            <a:pPr lvl="0" defTabSz="9144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/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    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ElemType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  *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elem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;        </a:t>
            </a:r>
            <a:endParaRPr lang="en-US" altLang="zh-CN" dirty="0" smtClean="0">
              <a:latin typeface="百度综艺简体" panose="02010601030101010101" charset="-122"/>
              <a:ea typeface="百度综艺简体" panose="02010601030101010101" charset="-122"/>
              <a:sym typeface="Wingdings" panose="05000000000000000000" pitchFamily="2" charset="2"/>
            </a:endParaRPr>
          </a:p>
          <a:p>
            <a:pPr lvl="0" defTabSz="9144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/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 </a:t>
            </a: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     </a:t>
            </a:r>
            <a:r>
              <a:rPr lang="en-US" altLang="zh-CN" dirty="0" err="1" smtClean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int</a:t>
            </a: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length;	    //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当前长度	</a:t>
            </a:r>
          </a:p>
          <a:p>
            <a:pPr lvl="0" defTabSz="9144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/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 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   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int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listsize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; //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当前分配的容量</a:t>
            </a:r>
          </a:p>
          <a:p>
            <a:pPr lvl="0" defTabSz="9144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/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}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SqList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；</a:t>
            </a:r>
          </a:p>
        </p:txBody>
      </p:sp>
      <p:sp>
        <p:nvSpPr>
          <p:cNvPr id="14" name="Text Placeholder 11"/>
          <p:cNvSpPr txBox="1"/>
          <p:nvPr/>
        </p:nvSpPr>
        <p:spPr>
          <a:xfrm>
            <a:off x="2302510" y="116334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顺序表的定义和初始化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72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 tmFilter="0,0; .5, 1; 1, 1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6400"/>
                            </p:stCondLst>
                            <p:childTnLst>
                              <p:par>
                                <p:cTn id="4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37" grpId="0" animBg="1"/>
      <p:bldP spid="21" grpId="0" autoUpdateAnimBg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1106170" y="857250"/>
            <a:ext cx="4864735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en-US" altLang="zh-CN" sz="24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Java</a:t>
            </a:r>
            <a:r>
              <a:rPr lang="zh-CN" altLang="en-US" sz="24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语言</a:t>
            </a: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中类的定义</a:t>
            </a:r>
            <a:endParaRPr lang="zh-CN" sz="24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17" name="组合 16"/>
          <p:cNvGrpSpPr/>
          <p:nvPr/>
        </p:nvGrpSpPr>
        <p:grpSpPr>
          <a:xfrm>
            <a:off x="2140585" y="362585"/>
            <a:ext cx="7002145" cy="109220"/>
            <a:chOff x="2140585" y="362585"/>
            <a:chExt cx="7002145" cy="109220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TextBox 5"/>
          <p:cNvSpPr txBox="1">
            <a:spLocks noChangeArrowheads="1"/>
          </p:cNvSpPr>
          <p:nvPr/>
        </p:nvSpPr>
        <p:spPr bwMode="auto">
          <a:xfrm>
            <a:off x="1743339" y="1632987"/>
            <a:ext cx="5821243" cy="216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/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class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SqList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{</a:t>
            </a:r>
          </a:p>
          <a:p>
            <a:pPr lvl="0" defTabSz="9144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/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      </a:t>
            </a: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  </a:t>
            </a:r>
            <a:r>
              <a:rPr lang="en-US" altLang="zh-CN" dirty="0" err="1" smtClean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int</a:t>
            </a: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 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*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elem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;        </a:t>
            </a:r>
            <a:endParaRPr lang="en-US" altLang="zh-CN" dirty="0" smtClean="0">
              <a:latin typeface="百度综艺简体" panose="02010601030101010101" charset="-122"/>
              <a:ea typeface="百度综艺简体" panose="02010601030101010101" charset="-122"/>
              <a:sym typeface="Wingdings" panose="05000000000000000000" pitchFamily="2" charset="2"/>
            </a:endParaRPr>
          </a:p>
          <a:p>
            <a:pPr lvl="0" defTabSz="9144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/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 </a:t>
            </a: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     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int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 length;	    //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当前长度	</a:t>
            </a:r>
            <a:endParaRPr lang="en-US" altLang="zh-CN" dirty="0" smtClean="0">
              <a:latin typeface="百度综艺简体" panose="02010601030101010101" charset="-122"/>
              <a:ea typeface="百度综艺简体" panose="02010601030101010101" charset="-122"/>
              <a:sym typeface="Wingdings" panose="05000000000000000000" pitchFamily="2" charset="2"/>
            </a:endParaRPr>
          </a:p>
          <a:p>
            <a:pPr lvl="0" defTabSz="9144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/>
            </a:pP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        </a:t>
            </a:r>
            <a:r>
              <a:rPr lang="en-US" altLang="zh-CN" dirty="0" err="1" smtClean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int</a:t>
            </a: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listsize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; //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当前分配的容量</a:t>
            </a:r>
          </a:p>
          <a:p>
            <a:pPr lvl="0" defTabSz="9144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/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     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  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…… //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定义各种操作</a:t>
            </a:r>
          </a:p>
          <a:p>
            <a:pPr lvl="0" defTabSz="9144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/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     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//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用类实现了数据操作的统一</a:t>
            </a:r>
          </a:p>
          <a:p>
            <a:pPr lvl="0" defTabSz="9144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/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}</a:t>
            </a:r>
          </a:p>
        </p:txBody>
      </p:sp>
      <p:sp>
        <p:nvSpPr>
          <p:cNvPr id="12" name="Text Placeholder 11"/>
          <p:cNvSpPr txBox="1"/>
          <p:nvPr/>
        </p:nvSpPr>
        <p:spPr>
          <a:xfrm>
            <a:off x="2302510" y="116334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顺序表的定义和初始化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156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 tmFilter="0,0; .5, 1; 1, 1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600"/>
                            </p:stCondLst>
                            <p:childTnLst>
                              <p:par>
                                <p:cTn id="4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37" grpId="0" animBg="1"/>
      <p:bldP spid="21" grpId="0" autoUpdateAnimBg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1106170" y="857250"/>
            <a:ext cx="4864735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顺序表</a:t>
            </a:r>
            <a:r>
              <a:rPr lang="en-US" altLang="zh-CN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(</a:t>
            </a:r>
            <a:r>
              <a:rPr lang="en-US" altLang="zh-CN" sz="2400" dirty="0" err="1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SqList</a:t>
            </a:r>
            <a:r>
              <a:rPr lang="en-US" altLang="zh-CN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)</a:t>
            </a: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类的初始化</a:t>
            </a:r>
            <a:endParaRPr lang="zh-CN" sz="24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17" name="组合 16"/>
          <p:cNvGrpSpPr/>
          <p:nvPr/>
        </p:nvGrpSpPr>
        <p:grpSpPr>
          <a:xfrm>
            <a:off x="2140585" y="362585"/>
            <a:ext cx="7002145" cy="109220"/>
            <a:chOff x="2140585" y="362585"/>
            <a:chExt cx="7002145" cy="109220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TextBox 5"/>
          <p:cNvSpPr txBox="1">
            <a:spLocks noChangeArrowheads="1"/>
          </p:cNvSpPr>
          <p:nvPr/>
        </p:nvSpPr>
        <p:spPr bwMode="auto">
          <a:xfrm>
            <a:off x="402637" y="1692622"/>
            <a:ext cx="7563311" cy="277922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/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Status 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InitList_Sq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(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SqList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  &amp;L){</a:t>
            </a:r>
          </a:p>
          <a:p>
            <a:pPr lvl="0" defTabSz="9144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/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      //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功能注释，构造一个空的线性表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L</a:t>
            </a:r>
          </a:p>
          <a:p>
            <a:pPr lvl="0" defTabSz="9144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/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    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L.elem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=(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ElemType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 *)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malloc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(LIST_INIT_SIZE </a:t>
            </a:r>
          </a:p>
          <a:p>
            <a:pPr lvl="0" defTabSz="9144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/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                                                          *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sizeof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(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ElemType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 ));</a:t>
            </a:r>
          </a:p>
          <a:p>
            <a:pPr lvl="0" defTabSz="9144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/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      if(!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L.elem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)  exit(OVERFLOW);</a:t>
            </a:r>
          </a:p>
          <a:p>
            <a:pPr lvl="0" defTabSz="9144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/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    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L.length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=0;</a:t>
            </a:r>
          </a:p>
          <a:p>
            <a:pPr lvl="0" defTabSz="9144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/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    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L.listsize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=LIST_INIT_SIZE;</a:t>
            </a:r>
          </a:p>
          <a:p>
            <a:pPr lvl="0" defTabSz="9144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/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      return  OK;</a:t>
            </a:r>
          </a:p>
          <a:p>
            <a:pPr lvl="0" defTabSz="9144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/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}//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InitList_Sq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    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时间复杂度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  <a:sym typeface="Wingdings" panose="05000000000000000000" pitchFamily="2" charset="2"/>
              </a:rPr>
              <a:t>O(1)</a:t>
            </a:r>
          </a:p>
        </p:txBody>
      </p:sp>
      <p:sp>
        <p:nvSpPr>
          <p:cNvPr id="12" name="Text Placeholder 11"/>
          <p:cNvSpPr txBox="1"/>
          <p:nvPr/>
        </p:nvSpPr>
        <p:spPr>
          <a:xfrm>
            <a:off x="2302510" y="116334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顺序表的定义和初始化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938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 tmFilter="0,0; .5, 1; 1, 1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350"/>
                            </p:stCondLst>
                            <p:childTnLst>
                              <p:par>
                                <p:cTn id="4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37" grpId="0" animBg="1"/>
      <p:bldP spid="21" grpId="0" autoUpdateAnimBg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17" name="组合 16"/>
          <p:cNvGrpSpPr/>
          <p:nvPr/>
        </p:nvGrpSpPr>
        <p:grpSpPr>
          <a:xfrm>
            <a:off x="2140585" y="362585"/>
            <a:ext cx="7002145" cy="109220"/>
            <a:chOff x="2140585" y="362585"/>
            <a:chExt cx="7002145" cy="109220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7329008"/>
              </p:ext>
            </p:extLst>
          </p:nvPr>
        </p:nvGraphicFramePr>
        <p:xfrm>
          <a:off x="1966951" y="1070451"/>
          <a:ext cx="5503096" cy="3580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" name="BMP 图象" r:id="rId4" imgW="3419952" imgH="3115110" progId="Paint.Picture">
                  <p:embed/>
                </p:oleObj>
              </mc:Choice>
              <mc:Fallback>
                <p:oleObj name="BMP 图象" r:id="rId4" imgW="3419952" imgH="3115110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6951" y="1070451"/>
                        <a:ext cx="5503096" cy="3580192"/>
                      </a:xfrm>
                      <a:prstGeom prst="rect">
                        <a:avLst/>
                      </a:prstGeom>
                      <a:noFill/>
                      <a:ln w="76200">
                        <a:solidFill>
                          <a:srgbClr val="2A5BA8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1"/>
          <p:cNvSpPr txBox="1"/>
          <p:nvPr/>
        </p:nvSpPr>
        <p:spPr>
          <a:xfrm>
            <a:off x="2302510" y="116334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顺序表的定义和初始化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743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7" grpId="0" animBg="1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2821" y="-4275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14" name="TextBox 5"/>
          <p:cNvSpPr txBox="1">
            <a:spLocks noChangeArrowheads="1"/>
          </p:cNvSpPr>
          <p:nvPr/>
        </p:nvSpPr>
        <p:spPr bwMode="auto">
          <a:xfrm>
            <a:off x="402637" y="885788"/>
            <a:ext cx="8048095" cy="424731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742950" lvl="1" indent="-28575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/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定义一个顺序表：</a:t>
            </a:r>
            <a:r>
              <a:rPr lang="en-US" altLang="zh-CN" dirty="0" err="1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SqList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   L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;</a:t>
            </a:r>
          </a:p>
          <a:p>
            <a:pPr marL="742950" lvl="1" indent="-28575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/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这样表示的线性表</a:t>
            </a:r>
            <a:r>
              <a:rPr lang="zh-CN" altLang="en-US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表长＝</a:t>
            </a:r>
            <a:r>
              <a:rPr lang="en-US" altLang="zh-CN" dirty="0" err="1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L.length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</a:p>
          <a:p>
            <a:pPr marL="742950" lvl="1" indent="-28575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/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线性表中的数据元素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a1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至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an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分别存放在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L.elem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[0]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至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L.elem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[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L.length-1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]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中。</a:t>
            </a:r>
          </a:p>
          <a:p>
            <a:pPr marL="742950" lvl="1" indent="-28575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/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有时定义一个指向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SqList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类型的指针更为方便：</a:t>
            </a:r>
            <a:r>
              <a:rPr lang="en-US" altLang="zh-CN" dirty="0" err="1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SqList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   *L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；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L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是一个指针变量。</a:t>
            </a:r>
          </a:p>
          <a:p>
            <a:pPr marL="742950" lvl="1" indent="-28575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/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L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中存放的是顺序表的地址，这样表示的线性表表长表示为</a:t>
            </a:r>
            <a:r>
              <a:rPr lang="zh-CN" altLang="en-US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（*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L</a:t>
            </a:r>
            <a:r>
              <a:rPr lang="zh-CN" altLang="en-US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）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.length</a:t>
            </a:r>
            <a:r>
              <a:rPr lang="zh-CN" altLang="en-US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或 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L</a:t>
            </a:r>
            <a:r>
              <a:rPr lang="zh-CN" altLang="en-US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－＞</a:t>
            </a:r>
            <a:r>
              <a:rPr lang="en-US" altLang="zh-CN" dirty="0" smtClean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length</a:t>
            </a:r>
          </a:p>
          <a:p>
            <a:pPr marL="742950" lvl="1" indent="-28575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/>
            </a:pP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线性表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中数据元素的存储空间为：</a:t>
            </a:r>
          </a:p>
          <a:p>
            <a:pPr lvl="1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 smtClean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&amp;(L</a:t>
            </a:r>
            <a:r>
              <a:rPr lang="zh-CN" altLang="en-US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－＞</a:t>
            </a:r>
            <a:r>
              <a:rPr lang="en-US" altLang="zh-CN" dirty="0" err="1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elem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[0] </a:t>
            </a:r>
            <a:r>
              <a:rPr lang="en-US" altLang="zh-CN" dirty="0" smtClean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)----&amp;( 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L</a:t>
            </a:r>
            <a:r>
              <a:rPr lang="zh-CN" altLang="en-US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－＞</a:t>
            </a:r>
            <a:r>
              <a:rPr lang="en-US" altLang="zh-CN" dirty="0" err="1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elem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[L-&gt;length-1</a:t>
            </a:r>
            <a:r>
              <a:rPr lang="en-US" altLang="zh-CN" dirty="0" smtClean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])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。</a:t>
            </a:r>
            <a:endParaRPr lang="zh-CN" altLang="en-US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18" name="AutoShape 3"/>
          <p:cNvSpPr>
            <a:spLocks noChangeAspect="1" noChangeArrowheads="1" noTextEdit="1"/>
          </p:cNvSpPr>
          <p:nvPr/>
        </p:nvSpPr>
        <p:spPr bwMode="auto">
          <a:xfrm>
            <a:off x="1845069" y="2963455"/>
            <a:ext cx="409534" cy="40844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8" name="组合 27"/>
          <p:cNvGrpSpPr/>
          <p:nvPr/>
        </p:nvGrpSpPr>
        <p:grpSpPr>
          <a:xfrm>
            <a:off x="2140585" y="362585"/>
            <a:ext cx="7002145" cy="109220"/>
            <a:chOff x="2140585" y="362585"/>
            <a:chExt cx="7002145" cy="109220"/>
          </a:xfrm>
        </p:grpSpPr>
        <p:cxnSp>
          <p:nvCxnSpPr>
            <p:cNvPr id="29" name="直接连接符 28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椭圆 29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Text Placeholder 11"/>
          <p:cNvSpPr txBox="1"/>
          <p:nvPr/>
        </p:nvSpPr>
        <p:spPr>
          <a:xfrm>
            <a:off x="2302510" y="116334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顺序表的定义和初始化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 tmFilter="0,0; .5, 1; 1, 1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200"/>
                            </p:stCondLst>
                            <p:childTnLst>
                              <p:par>
                                <p:cTn id="41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4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62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7" grpId="0" animBg="1"/>
      <p:bldP spid="14" grpId="0" autoUpdateAnimBg="0"/>
      <p:bldP spid="18" grpId="0" animBg="1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2821" y="4148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1106170" y="857250"/>
            <a:ext cx="4864735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访问数据表中的元素有两种方式：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18" name="AutoShape 3"/>
          <p:cNvSpPr>
            <a:spLocks noChangeAspect="1" noChangeArrowheads="1" noTextEdit="1"/>
          </p:cNvSpPr>
          <p:nvPr/>
        </p:nvSpPr>
        <p:spPr bwMode="auto">
          <a:xfrm>
            <a:off x="1845069" y="2963455"/>
            <a:ext cx="409534" cy="40844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28" name="Text Placeholder 11"/>
          <p:cNvSpPr txBox="1"/>
          <p:nvPr/>
        </p:nvSpPr>
        <p:spPr>
          <a:xfrm>
            <a:off x="1173281" y="2027108"/>
            <a:ext cx="2526263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en-US" altLang="zh-CN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1</a:t>
            </a: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）</a:t>
            </a:r>
            <a:r>
              <a:rPr lang="en-US" altLang="zh-CN" sz="2000" dirty="0" err="1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L.elem</a:t>
            </a:r>
            <a:r>
              <a:rPr lang="en-US" altLang="zh-CN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[i-1] </a:t>
            </a:r>
            <a:endParaRPr lang="zh-CN" sz="20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2140585" y="362585"/>
            <a:ext cx="7002145" cy="109220"/>
            <a:chOff x="2140585" y="362585"/>
            <a:chExt cx="7002145" cy="109220"/>
          </a:xfrm>
        </p:grpSpPr>
        <p:cxnSp>
          <p:nvCxnSpPr>
            <p:cNvPr id="30" name="直接连接符 29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椭圆 31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Text Placeholder 11"/>
          <p:cNvSpPr txBox="1"/>
          <p:nvPr/>
        </p:nvSpPr>
        <p:spPr>
          <a:xfrm>
            <a:off x="3699544" y="2049334"/>
            <a:ext cx="2526263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en-US" altLang="zh-CN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2)*(L.elem+i-1)</a:t>
            </a:r>
          </a:p>
        </p:txBody>
      </p:sp>
      <p:sp>
        <p:nvSpPr>
          <p:cNvPr id="20" name="Text Placeholder 11"/>
          <p:cNvSpPr txBox="1"/>
          <p:nvPr/>
        </p:nvSpPr>
        <p:spPr>
          <a:xfrm>
            <a:off x="2302510" y="116334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顺序表的定义和初始化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99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25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37" grpId="0" animBg="1"/>
      <p:bldP spid="28" grpId="0"/>
      <p:bldP spid="17" grpId="0"/>
      <p:bldP spid="20" grpId="0"/>
    </p:bldLst>
  </p:timing>
</p:sld>
</file>

<file path=ppt/theme/theme1.xml><?xml version="1.0" encoding="utf-8"?>
<a:theme xmlns:a="http://schemas.openxmlformats.org/drawingml/2006/main" name="Office 主题​​">
  <a:themeElements>
    <a:clrScheme name="自定义 64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A5BA8"/>
      </a:accent1>
      <a:accent2>
        <a:srgbClr val="48AC92"/>
      </a:accent2>
      <a:accent3>
        <a:srgbClr val="2A5BA8"/>
      </a:accent3>
      <a:accent4>
        <a:srgbClr val="48AC92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616</TotalTime>
  <Words>430</Words>
  <Application>Microsoft Office PowerPoint</Application>
  <PresentationFormat>自定义</PresentationFormat>
  <Paragraphs>77</Paragraphs>
  <Slides>9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4" baseType="lpstr">
      <vt:lpstr>等线</vt:lpstr>
      <vt:lpstr>等线 Light</vt:lpstr>
      <vt:lpstr>华文中宋</vt:lpstr>
      <vt:lpstr>宋体</vt:lpstr>
      <vt:lpstr>微软雅黑</vt:lpstr>
      <vt:lpstr>Arial</vt:lpstr>
      <vt:lpstr>Calibri</vt:lpstr>
      <vt:lpstr>Calibri Light</vt:lpstr>
      <vt:lpstr>Lato Light</vt:lpstr>
      <vt:lpstr>Symbol</vt:lpstr>
      <vt:lpstr>Tahoma</vt:lpstr>
      <vt:lpstr>Wingdings</vt:lpstr>
      <vt:lpstr>百度综艺简体</vt:lpstr>
      <vt:lpstr>Office 主题​​</vt:lpstr>
      <vt:lpstr>BMP 图象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Neusoft</cp:lastModifiedBy>
  <cp:revision>35</cp:revision>
  <dcterms:created xsi:type="dcterms:W3CDTF">2017-06-21T11:46:00Z</dcterms:created>
  <dcterms:modified xsi:type="dcterms:W3CDTF">2022-08-29T08:19:47Z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2052-11.1.0.9098</vt:lpwstr>
  </property>
</Properties>
</file>