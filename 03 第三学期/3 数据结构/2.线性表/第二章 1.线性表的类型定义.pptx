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3" r:id="rId4"/>
    <p:sldId id="264" r:id="rId5"/>
    <p:sldId id="265" r:id="rId6"/>
    <p:sldId id="266" r:id="rId7"/>
    <p:sldId id="267" r:id="rId8"/>
    <p:sldId id="268" r:id="rId9"/>
    <p:sldId id="270" r:id="rId10"/>
    <p:sldId id="269" r:id="rId11"/>
    <p:sldId id="271" r:id="rId12"/>
    <p:sldId id="272" r:id="rId13"/>
    <p:sldId id="273" r:id="rId14"/>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5B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2" autoAdjust="0"/>
    <p:restoredTop sz="94660"/>
  </p:normalViewPr>
  <p:slideViewPr>
    <p:cSldViewPr snapToGrid="0">
      <p:cViewPr varScale="1">
        <p:scale>
          <a:sx n="96" d="100"/>
          <a:sy n="96" d="100"/>
        </p:scale>
        <p:origin x="534" y="78"/>
      </p:cViewPr>
      <p:guideLst/>
    </p:cSldViewPr>
  </p:slideViewPr>
  <p:notesTextViewPr>
    <p:cViewPr>
      <p:scale>
        <a:sx n="1" d="1"/>
        <a:sy n="1" d="1"/>
      </p:scale>
      <p:origin x="0" y="0"/>
    </p:cViewPr>
  </p:notesTextViewPr>
  <p:sorterViewPr>
    <p:cViewPr>
      <p:scale>
        <a:sx n="100" d="100"/>
        <a:sy n="100" d="100"/>
      </p:scale>
      <p:origin x="0" y="-1692"/>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31844-757F-4497-A6B9-29138D45B0D0}" type="datetimeFigureOut">
              <a:rPr lang="zh-CN" altLang="en-US" smtClean="0"/>
              <a:t>2020/5/6</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ABFAC-0D77-4680-9C08-FA0DD250B4A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032"/>
            <a:ext cx="6858000" cy="1791253"/>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2363"/>
            <a:ext cx="6858000" cy="124220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4021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3160"/>
            <a:ext cx="7886700" cy="112548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929"/>
            <a:ext cx="7886700" cy="994479"/>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1261"/>
            <a:ext cx="3868340"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9386"/>
            <a:ext cx="3868340"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1261"/>
            <a:ext cx="3887391"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9386"/>
            <a:ext cx="3887391"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C7CFC9F-4B06-4ABB-A28A-559A77B7DC59}" type="slidenum">
              <a:rPr lang="zh-CN" altLang="en-US" smtClean="0"/>
              <a:t>‹#›</a:t>
            </a:fld>
            <a:endParaRPr lang="zh-CN" altLang="en-US"/>
          </a:p>
        </p:txBody>
      </p:sp>
      <p:sp>
        <p:nvSpPr>
          <p:cNvPr id="5" name="矩形 4"/>
          <p:cNvSpPr/>
          <p:nvPr userDrawn="1"/>
        </p:nvSpPr>
        <p:spPr>
          <a:xfrm>
            <a:off x="253" y="196280"/>
            <a:ext cx="14404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6" name="文本框 37"/>
          <p:cNvSpPr txBox="1"/>
          <p:nvPr userDrawn="1"/>
        </p:nvSpPr>
        <p:spPr>
          <a:xfrm>
            <a:off x="216310" y="196280"/>
            <a:ext cx="2190351" cy="315475"/>
          </a:xfrm>
          <a:prstGeom prst="rect">
            <a:avLst/>
          </a:prstGeom>
          <a:noFill/>
        </p:spPr>
        <p:txBody>
          <a:bodyPr wrap="none" lIns="68584" tIns="34292" rIns="68584" bIns="34292" rtlCol="0">
            <a:spAutoFit/>
          </a:bodyPr>
          <a:lstStyle/>
          <a:p>
            <a:pPr defTabSz="685800"/>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7" name="文本框 38"/>
          <p:cNvSpPr txBox="1"/>
          <p:nvPr userDrawn="1"/>
        </p:nvSpPr>
        <p:spPr>
          <a:xfrm>
            <a:off x="265271" y="520316"/>
            <a:ext cx="2039271" cy="207753"/>
          </a:xfrm>
          <a:prstGeom prst="rect">
            <a:avLst/>
          </a:prstGeom>
          <a:noFill/>
        </p:spPr>
        <p:txBody>
          <a:bodyPr wrap="square" lIns="68584" tIns="34292" rIns="68584" bIns="34292" rtlCol="0">
            <a:spAutoFit/>
          </a:bodyPr>
          <a:lstStyle/>
          <a:p>
            <a:pPr algn="dist" defTabSz="685800"/>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798"/>
            <a:ext cx="4629150" cy="36563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798"/>
            <a:ext cx="4629150" cy="365634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单击图标添加20</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928"/>
            <a:ext cx="1971675" cy="436022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928"/>
            <a:ext cx="5800725" cy="436022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2020/5/6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929"/>
            <a:ext cx="7886700" cy="994479"/>
          </a:xfrm>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a:lvl1pPr>
          </a:lstStyle>
          <a:p>
            <a:pPr>
              <a:defRPr/>
            </a:pPr>
            <a:fld id="{0C9ABEBE-EF13-4983-B182-046B37A0370C}" type="datetime1">
              <a:rPr lang="zh-CN" altLang="en-US"/>
              <a:t>2020/5/6</a:t>
            </a:fld>
            <a:endParaRPr lang="zh-CN" altLang="en-US" sz="1400" dirty="0">
              <a:solidFill>
                <a:prstClr val="black"/>
              </a:solidFill>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fld id="{98145E6F-D1B7-49E0-9AB3-789D9698C190}" type="slidenum">
              <a:rPr lang="zh-CN" altLang="en-US"/>
              <a:t>‹#›</a:t>
            </a:fld>
            <a:endParaRPr lang="zh-CN" altLang="en-US" sz="1400" dirty="0">
              <a:solidFill>
                <a:prstClr val="black"/>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t>6/05/2020</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929"/>
            <a:ext cx="7886700" cy="99447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642"/>
            <a:ext cx="7886700" cy="326451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8735"/>
            <a:ext cx="2057400" cy="273928"/>
          </a:xfrm>
          <a:prstGeom prst="rect">
            <a:avLst/>
          </a:prstGeom>
        </p:spPr>
        <p:txBody>
          <a:bodyPr vert="horz" lIns="91440" tIns="45720" rIns="91440" bIns="45720" rtlCol="0" anchor="ctr"/>
          <a:lstStyle>
            <a:lvl1pPr algn="l">
              <a:defRPr sz="900">
                <a:solidFill>
                  <a:schemeClr val="tx1">
                    <a:tint val="75000"/>
                  </a:schemeClr>
                </a:solidFill>
              </a:defRPr>
            </a:lvl1pPr>
          </a:lstStyle>
          <a:p>
            <a:fld id="{75B0A747-1217-4325-A876-522190C71555}" type="datetimeFigureOut">
              <a:rPr lang="zh-CN" altLang="en-US" smtClean="0"/>
              <a:t>2020/5/6</a:t>
            </a:fld>
            <a:endParaRPr lang="zh-CN" altLang="en-US"/>
          </a:p>
        </p:txBody>
      </p:sp>
      <p:sp>
        <p:nvSpPr>
          <p:cNvPr id="5" name="Footer Placeholder 4"/>
          <p:cNvSpPr>
            <a:spLocks noGrp="1"/>
          </p:cNvSpPr>
          <p:nvPr>
            <p:ph type="ftr" sz="quarter" idx="3"/>
          </p:nvPr>
        </p:nvSpPr>
        <p:spPr>
          <a:xfrm>
            <a:off x="3028950" y="4768735"/>
            <a:ext cx="3086100" cy="2739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8735"/>
            <a:ext cx="2057400" cy="273928"/>
          </a:xfrm>
          <a:prstGeom prst="rect">
            <a:avLst/>
          </a:prstGeom>
        </p:spPr>
        <p:txBody>
          <a:bodyPr vert="horz" lIns="91440" tIns="45720" rIns="91440" bIns="45720" rtlCol="0" anchor="ctr"/>
          <a:lstStyle>
            <a:lvl1pPr algn="r">
              <a:defRPr sz="900">
                <a:solidFill>
                  <a:schemeClr val="tx1">
                    <a:tint val="75000"/>
                  </a:schemeClr>
                </a:solidFill>
              </a:defRPr>
            </a:lvl1pPr>
          </a:lstStyle>
          <a:p>
            <a:fld id="{BC7CFC9F-4B06-4ABB-A28A-559A77B7DC5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1" y="5875"/>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20 2"/>
          <p:cNvPicPr>
            <a:picLocks noChangeAspect="1"/>
          </p:cNvPicPr>
          <p:nvPr/>
        </p:nvPicPr>
        <p:blipFill rotWithShape="1">
          <a:blip r:embed="rId2">
            <a:extLst>
              <a:ext uri="{28A0092B-C50C-407E-A947-70E740481C1C}">
                <a14:useLocalDpi xmlns:a14="http://schemas.microsoft.com/office/drawing/2010/main" val="0"/>
              </a:ext>
            </a:extLst>
          </a:blip>
          <a:srcRect l="9884"/>
          <a:stretch>
            <a:fillRect/>
          </a:stretch>
        </p:blipFill>
        <p:spPr>
          <a:xfrm>
            <a:off x="4224" y="1133312"/>
            <a:ext cx="3523982" cy="4018760"/>
          </a:xfrm>
          <a:prstGeom prst="rect">
            <a:avLst/>
          </a:prstGeom>
          <a:solidFill>
            <a:srgbClr val="2A5BA8"/>
          </a:solidFill>
        </p:spPr>
      </p:pic>
      <p:pic>
        <p:nvPicPr>
          <p:cNvPr id="5" name="20 4"/>
          <p:cNvPicPr>
            <a:picLocks noChangeAspect="1"/>
          </p:cNvPicPr>
          <p:nvPr/>
        </p:nvPicPr>
        <p:blipFill rotWithShape="1">
          <a:blip r:embed="rId2">
            <a:extLst>
              <a:ext uri="{28A0092B-C50C-407E-A947-70E740481C1C}">
                <a14:useLocalDpi xmlns:a14="http://schemas.microsoft.com/office/drawing/2010/main" val="0"/>
              </a:ext>
            </a:extLst>
          </a:blip>
          <a:srcRect r="46564" b="51735"/>
          <a:stretch>
            <a:fillRect/>
          </a:stretch>
        </p:blipFill>
        <p:spPr>
          <a:xfrm flipV="1">
            <a:off x="7180313" y="794"/>
            <a:ext cx="1952652" cy="1727659"/>
          </a:xfrm>
          <a:prstGeom prst="rect">
            <a:avLst/>
          </a:prstGeom>
        </p:spPr>
      </p:pic>
      <p:sp>
        <p:nvSpPr>
          <p:cNvPr id="7" name="矩形 259"/>
          <p:cNvSpPr>
            <a:spLocks noChangeArrowheads="1"/>
          </p:cNvSpPr>
          <p:nvPr/>
        </p:nvSpPr>
        <p:spPr bwMode="auto">
          <a:xfrm>
            <a:off x="6750050" y="2957195"/>
            <a:ext cx="1868170" cy="37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类</a:t>
            </a:r>
            <a:r>
              <a:rPr 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C</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描述</a:t>
            </a:r>
          </a:p>
        </p:txBody>
      </p:sp>
      <p:sp>
        <p:nvSpPr>
          <p:cNvPr id="8" name="矩形 259"/>
          <p:cNvSpPr>
            <a:spLocks noChangeArrowheads="1"/>
          </p:cNvSpPr>
          <p:nvPr/>
        </p:nvSpPr>
        <p:spPr bwMode="auto">
          <a:xfrm>
            <a:off x="3472815" y="2324735"/>
            <a:ext cx="566928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数据结构 </a:t>
            </a:r>
            <a:r>
              <a:rPr lang="en-US" altLang="zh-CN"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DATA STRUCTURE</a:t>
            </a:r>
          </a:p>
        </p:txBody>
      </p:sp>
      <p:sp>
        <p:nvSpPr>
          <p:cNvPr id="10" name="Rectangle 3"/>
          <p:cNvSpPr txBox="1">
            <a:spLocks noChangeArrowheads="1"/>
          </p:cNvSpPr>
          <p:nvPr/>
        </p:nvSpPr>
        <p:spPr bwMode="auto">
          <a:xfrm>
            <a:off x="4803775" y="3791585"/>
            <a:ext cx="1569085" cy="184150"/>
          </a:xfrm>
          <a:prstGeom prst="rect">
            <a:avLst/>
          </a:prstGeom>
          <a:solidFill>
            <a:schemeClr val="accent1"/>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r>
              <a:rPr lang="zh-CN" altLang="en-US" sz="1200" b="0" noProof="1">
                <a:effectLst/>
                <a:latin typeface="百度综艺简体" panose="02010601030101010101" charset="-122"/>
                <a:ea typeface="百度综艺简体" panose="02010601030101010101" charset="-122"/>
                <a:cs typeface="百度综艺简体" panose="02010601030101010101" charset="-122"/>
              </a:rPr>
              <a:t>任课教师：</a:t>
            </a:r>
            <a:r>
              <a:rPr lang="zh-CN" sz="1200" b="0" noProof="1">
                <a:effectLst/>
                <a:latin typeface="百度综艺简体" panose="02010601030101010101" charset="-122"/>
                <a:ea typeface="百度综艺简体" panose="02010601030101010101" charset="-122"/>
                <a:cs typeface="百度综艺简体" panose="02010601030101010101" charset="-122"/>
              </a:rPr>
              <a:t>王青松</a:t>
            </a:r>
            <a:r>
              <a:rPr lang="en-US" altLang="zh-CN" sz="1200" b="0" noProof="1">
                <a:effectLst/>
                <a:latin typeface="百度综艺简体" panose="02010601030101010101" charset="-122"/>
                <a:ea typeface="百度综艺简体" panose="02010601030101010101" charset="-122"/>
                <a:cs typeface="百度综艺简体" panose="02010601030101010101" charset="-122"/>
              </a:rPr>
              <a:t> </a:t>
            </a:r>
            <a:r>
              <a:rPr lang="en-US" altLang="zh-CN" sz="1200" b="0" noProof="1">
                <a:effectLst/>
                <a:latin typeface="华文中宋" panose="02010600040101010101" charset="-122"/>
                <a:ea typeface="华文中宋" panose="02010600040101010101" charset="-122"/>
              </a:rPr>
              <a:t>     </a:t>
            </a:r>
            <a:r>
              <a:rPr lang="zh-CN" altLang="en-US" sz="1200" b="0" noProof="1">
                <a:effectLst/>
                <a:latin typeface="华文中宋" panose="02010600040101010101" charset="-122"/>
                <a:ea typeface="华文中宋" panose="02010600040101010101" charset="-122"/>
              </a:rPr>
              <a:t>   </a:t>
            </a:r>
            <a:endParaRPr lang="en-US" altLang="ko-KR" sz="1200" b="0" noProof="1">
              <a:effectLst/>
              <a:latin typeface="华文中宋" panose="02010600040101010101" charset="-122"/>
              <a:ea typeface="华文中宋" panose="02010600040101010101" charset="-122"/>
            </a:endParaRPr>
          </a:p>
        </p:txBody>
      </p:sp>
      <p:sp>
        <p:nvSpPr>
          <p:cNvPr id="11" name="Rectangle 3"/>
          <p:cNvSpPr txBox="1">
            <a:spLocks noChangeArrowheads="1"/>
          </p:cNvSpPr>
          <p:nvPr/>
        </p:nvSpPr>
        <p:spPr bwMode="auto">
          <a:xfrm>
            <a:off x="6372558" y="3791658"/>
            <a:ext cx="2760406" cy="184538"/>
          </a:xfrm>
          <a:prstGeom prst="rect">
            <a:avLst/>
          </a:prstGeom>
          <a:solidFill>
            <a:schemeClr val="accent2"/>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endParaRPr lang="en-US" altLang="ko-KR" sz="1200" b="0" noProof="1">
              <a:effectLst/>
              <a:latin typeface="华文中宋" panose="02010600040101010101" charset="-122"/>
              <a:ea typeface="华文中宋"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 calcmode="lin" valueType="num">
                                      <p:cBhvr>
                                        <p:cTn id="2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8"/>
                                        </p:tgtEl>
                                      </p:cBhvr>
                                    </p:animEffect>
                                  </p:childTnLst>
                                </p:cTn>
                              </p:par>
                            </p:childTnLst>
                          </p:cTn>
                        </p:par>
                        <p:par>
                          <p:cTn id="23" fill="hold">
                            <p:stCondLst>
                              <p:cond delay="2599"/>
                            </p:stCondLst>
                            <p:childTnLst>
                              <p:par>
                                <p:cTn id="24" presetID="26" presetClass="emph" presetSubtype="0" fill="hold" grpId="1" nodeType="afterEffect">
                                  <p:stCondLst>
                                    <p:cond delay="0"/>
                                  </p:stCondLst>
                                  <p:iterate type="lt">
                                    <p:tmPct val="0"/>
                                  </p:iterate>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par>
                          <p:cTn id="27" fill="hold">
                            <p:stCondLst>
                              <p:cond delay="3099"/>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7"/>
                                        </p:tgtEl>
                                        <p:attrNameLst>
                                          <p:attrName>ppt_y</p:attrName>
                                        </p:attrNameLst>
                                      </p:cBhvr>
                                      <p:tavLst>
                                        <p:tav tm="0">
                                          <p:val>
                                            <p:strVal val="#ppt_y"/>
                                          </p:val>
                                        </p:tav>
                                        <p:tav tm="100000">
                                          <p:val>
                                            <p:strVal val="#ppt_y"/>
                                          </p:val>
                                        </p:tav>
                                      </p:tavLst>
                                    </p:anim>
                                    <p:anim calcmode="lin" valueType="num">
                                      <p:cBhvr>
                                        <p:cTn id="3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7"/>
                                        </p:tgtEl>
                                      </p:cBhvr>
                                    </p:animEffect>
                                  </p:childTnLst>
                                </p:cTn>
                              </p:par>
                            </p:childTnLst>
                          </p:cTn>
                        </p:par>
                        <p:par>
                          <p:cTn id="35" fill="hold">
                            <p:stCondLst>
                              <p:cond delay="3850"/>
                            </p:stCondLst>
                            <p:childTnLst>
                              <p:par>
                                <p:cTn id="36" presetID="26" presetClass="emph" presetSubtype="0" fill="hold" grpId="1" nodeType="afterEffect">
                                  <p:stCondLst>
                                    <p:cond delay="0"/>
                                  </p:stCondLst>
                                  <p:iterate type="lt">
                                    <p:tmPct val="0"/>
                                  </p:iterate>
                                  <p:childTnLst>
                                    <p:animEffect transition="out" filter="fade">
                                      <p:cBhvr>
                                        <p:cTn id="37" dur="500" tmFilter="0, 0; .2, .5; .8, .5; 1, 0"/>
                                        <p:tgtEl>
                                          <p:spTgt spid="7"/>
                                        </p:tgtEl>
                                      </p:cBhvr>
                                    </p:animEffect>
                                    <p:animScale>
                                      <p:cBhvr>
                                        <p:cTn id="38" dur="250" autoRev="1" fill="hold"/>
                                        <p:tgtEl>
                                          <p:spTgt spid="7"/>
                                        </p:tgtEl>
                                      </p:cBhvr>
                                      <p:by x="105000" y="105000"/>
                                    </p:animScale>
                                  </p:childTnLst>
                                </p:cTn>
                              </p:par>
                            </p:childTnLst>
                          </p:cTn>
                        </p:par>
                        <p:par>
                          <p:cTn id="39" fill="hold">
                            <p:stCondLst>
                              <p:cond delay="435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485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786270" y="1787416"/>
            <a:ext cx="5062400" cy="1938020"/>
          </a:xfrm>
          <a:prstGeom prst="rect">
            <a:avLst/>
          </a:prstGeom>
          <a:noFill/>
          <a:ln w="9525">
            <a:noFill/>
            <a:miter lim="800000"/>
          </a:ln>
        </p:spPr>
        <p:txBody>
          <a:bodyPr wrap="square">
            <a:spAutoFit/>
          </a:bodyPr>
          <a:lstStyle/>
          <a:p>
            <a:pPr>
              <a:lnSpc>
                <a:spcPct val="150000"/>
              </a:lnSpc>
            </a:pPr>
            <a:r>
              <a:rPr lang="zh-CN" altLang="en-US" sz="2000" dirty="0" smtClean="0">
                <a:latin typeface="百度综艺简体" panose="02010601030101010101" charset="-122"/>
                <a:ea typeface="百度综艺简体" panose="02010601030101010101" charset="-122"/>
              </a:rPr>
              <a:t>例如：</a:t>
            </a:r>
            <a:endParaRPr lang="en-US" altLang="zh-CN" sz="2000" dirty="0">
              <a:latin typeface="百度综艺简体" panose="02010601030101010101" charset="-122"/>
              <a:ea typeface="百度综艺简体" panose="02010601030101010101" charset="-122"/>
            </a:endParaRPr>
          </a:p>
          <a:p>
            <a:pPr>
              <a:lnSpc>
                <a:spcPct val="150000"/>
              </a:lnSpc>
            </a:pPr>
            <a:r>
              <a:rPr lang="en-US" altLang="zh-CN" sz="2000" dirty="0">
                <a:latin typeface="百度综艺简体" panose="02010601030101010101" charset="-122"/>
                <a:ea typeface="百度综艺简体" panose="02010601030101010101" charset="-122"/>
                <a:sym typeface="Wingdings" panose="05000000000000000000" pitchFamily="2" charset="2"/>
              </a:rPr>
              <a:t>(A,B,C,…,Z)</a:t>
            </a:r>
          </a:p>
          <a:p>
            <a:pPr>
              <a:lnSpc>
                <a:spcPct val="150000"/>
              </a:lnSpc>
            </a:pPr>
            <a:r>
              <a:rPr lang="en-US" altLang="zh-CN" sz="2000" dirty="0" smtClean="0">
                <a:latin typeface="百度综艺简体" panose="02010601030101010101" charset="-122"/>
                <a:ea typeface="百度综艺简体" panose="02010601030101010101" charset="-122"/>
                <a:sym typeface="Wingdings" panose="05000000000000000000" pitchFamily="2" charset="2"/>
              </a:rPr>
              <a:t>(</a:t>
            </a:r>
            <a:r>
              <a:rPr lang="en-US" altLang="zh-CN" sz="2000" dirty="0">
                <a:latin typeface="百度综艺简体" panose="02010601030101010101" charset="-122"/>
                <a:ea typeface="百度综艺简体" panose="02010601030101010101" charset="-122"/>
                <a:sym typeface="Wingdings" panose="05000000000000000000" pitchFamily="2" charset="2"/>
              </a:rPr>
              <a:t>6,17,28,50,92,108)</a:t>
            </a:r>
          </a:p>
          <a:p>
            <a:pPr>
              <a:lnSpc>
                <a:spcPct val="150000"/>
              </a:lnSpc>
              <a:buFont typeface="Monotype Sorts" pitchFamily="2" charset="2"/>
            </a:pPr>
            <a:r>
              <a:rPr lang="zh-CN" altLang="en-US" sz="2000" dirty="0">
                <a:latin typeface="百度综艺简体" panose="02010601030101010101" charset="-122"/>
                <a:ea typeface="百度综艺简体" panose="02010601030101010101" charset="-122"/>
                <a:sym typeface="Wingdings" panose="05000000000000000000" pitchFamily="2" charset="2"/>
              </a:rPr>
              <a:t>含有大量纪录的线性表称为文件。</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1053465" y="998220"/>
            <a:ext cx="5274945"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400" dirty="0">
                <a:solidFill>
                  <a:schemeClr val="accent1"/>
                </a:solidFill>
                <a:latin typeface="百度综艺简体" panose="02010601030101010101" charset="-122"/>
                <a:ea typeface="百度综艺简体" panose="02010601030101010101" charset="-122"/>
              </a:rPr>
              <a:t>线性表：</a:t>
            </a:r>
            <a:r>
              <a:rPr lang="en-US" altLang="zh-CN" sz="2400" dirty="0">
                <a:solidFill>
                  <a:schemeClr val="accent1"/>
                </a:solidFill>
                <a:latin typeface="百度综艺简体" panose="02010601030101010101" charset="-122"/>
                <a:ea typeface="百度综艺简体" panose="02010601030101010101" charset="-122"/>
              </a:rPr>
              <a:t>n</a:t>
            </a:r>
            <a:r>
              <a:rPr lang="zh-CN" altLang="en-US" sz="2400" dirty="0">
                <a:solidFill>
                  <a:schemeClr val="accent1"/>
                </a:solidFill>
                <a:latin typeface="百度综艺简体" panose="02010601030101010101" charset="-122"/>
                <a:ea typeface="百度综艺简体" panose="02010601030101010101" charset="-122"/>
              </a:rPr>
              <a:t>个数据元素的有限序列。</a:t>
            </a:r>
            <a:endParaRPr lang="zh-CN" altLang="en-US" sz="24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1000"/>
                                        <p:tgtEl>
                                          <p:spTgt spid="41"/>
                                        </p:tgtEl>
                                      </p:cBhvr>
                                    </p:animEffect>
                                    <p:anim calcmode="lin" valueType="num">
                                      <p:cBhvr>
                                        <p:cTn id="43" dur="1000" fill="hold"/>
                                        <p:tgtEl>
                                          <p:spTgt spid="41"/>
                                        </p:tgtEl>
                                        <p:attrNameLst>
                                          <p:attrName>ppt_x</p:attrName>
                                        </p:attrNameLst>
                                      </p:cBhvr>
                                      <p:tavLst>
                                        <p:tav tm="0">
                                          <p:val>
                                            <p:strVal val="#ppt_x"/>
                                          </p:val>
                                        </p:tav>
                                        <p:tav tm="100000">
                                          <p:val>
                                            <p:strVal val="#ppt_x"/>
                                          </p:val>
                                        </p:tav>
                                      </p:tavLst>
                                    </p:anim>
                                    <p:anim calcmode="lin" valueType="num">
                                      <p:cBhvr>
                                        <p:cTn id="44"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1" presetClass="entr" presetSubtype="0" fill="hold" grpId="0" nodeType="clickEffect">
                                  <p:stCondLst>
                                    <p:cond delay="0"/>
                                  </p:stCondLst>
                                  <p:iterate type="lt">
                                    <p:tmPct val="10000"/>
                                  </p:iterate>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26"/>
                                        </p:tgtEl>
                                        <p:attrNameLst>
                                          <p:attrName>ppt_y</p:attrName>
                                        </p:attrNameLst>
                                      </p:cBhvr>
                                      <p:tavLst>
                                        <p:tav tm="0">
                                          <p:val>
                                            <p:strVal val="#ppt_y"/>
                                          </p:val>
                                        </p:tav>
                                        <p:tav tm="100000">
                                          <p:val>
                                            <p:strVal val="#ppt_y"/>
                                          </p:val>
                                        </p:tav>
                                      </p:tavLst>
                                    </p:anim>
                                    <p:anim calcmode="lin" valueType="num">
                                      <p:cBhvr>
                                        <p:cTn id="51"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26" name="TextBox 5"/>
          <p:cNvSpPr txBox="1">
            <a:spLocks noChangeArrowheads="1"/>
          </p:cNvSpPr>
          <p:nvPr/>
        </p:nvSpPr>
        <p:spPr bwMode="auto">
          <a:xfrm>
            <a:off x="679088" y="905918"/>
            <a:ext cx="2295303" cy="316625"/>
          </a:xfrm>
          <a:prstGeom prst="rect">
            <a:avLst/>
          </a:prstGeom>
          <a:noFill/>
          <a:ln w="9525">
            <a:noFill/>
            <a:miter lim="800000"/>
          </a:ln>
        </p:spPr>
        <p:txBody>
          <a:bodyPr wrap="square">
            <a:spAutoFit/>
          </a:bodyPr>
          <a:lstStyle/>
          <a:p>
            <a:pPr lvl="0" defTabSz="911225" fontAlgn="base">
              <a:lnSpc>
                <a:spcPct val="70000"/>
              </a:lnSpc>
              <a:spcBef>
                <a:spcPct val="20000"/>
              </a:spcBef>
              <a:spcAft>
                <a:spcPct val="0"/>
              </a:spcAft>
              <a:defRPr/>
            </a:pPr>
            <a:r>
              <a:rPr lang="zh-CN" altLang="en-US" sz="2000" dirty="0">
                <a:solidFill>
                  <a:schemeClr val="accent1"/>
                </a:solidFill>
                <a:latin typeface="百度综艺简体" panose="02010601030101010101" charset="-122"/>
                <a:ea typeface="百度综艺简体" panose="02010601030101010101" charset="-122"/>
              </a:rPr>
              <a:t>“学生”</a:t>
            </a:r>
            <a:r>
              <a:rPr lang="zh-CN" altLang="en-US" sz="2000" dirty="0" smtClean="0">
                <a:solidFill>
                  <a:schemeClr val="accent1"/>
                </a:solidFill>
                <a:latin typeface="百度综艺简体" panose="02010601030101010101" charset="-122"/>
                <a:ea typeface="百度综艺简体" panose="02010601030101010101" charset="-122"/>
              </a:rPr>
              <a:t>表文件</a:t>
            </a:r>
            <a:endParaRPr lang="zh-CN" altLang="en-US" sz="2000" dirty="0">
              <a:solidFill>
                <a:schemeClr val="accent1"/>
              </a:solidFill>
              <a:latin typeface="百度综艺简体" panose="02010601030101010101" charset="-122"/>
              <a:ea typeface="百度综艺简体" panose="02010601030101010101" charset="-122"/>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20 1"/>
          <p:cNvPicPr>
            <a:picLocks noChangeAspect="1"/>
          </p:cNvPicPr>
          <p:nvPr/>
        </p:nvPicPr>
        <p:blipFill>
          <a:blip r:embed="rId3"/>
          <a:stretch>
            <a:fillRect/>
          </a:stretch>
        </p:blipFill>
        <p:spPr>
          <a:xfrm>
            <a:off x="1414079" y="1531766"/>
            <a:ext cx="7266389" cy="3120821"/>
          </a:xfrm>
          <a:prstGeom prst="rect">
            <a:avLst/>
          </a:prstGeom>
        </p:spPr>
      </p:pic>
      <p:sp>
        <p:nvSpPr>
          <p:cNvPr id="28"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41" presetClass="entr" presetSubtype="0" fill="hold" grpId="0" nodeType="clickEffect">
                                  <p:stCondLst>
                                    <p:cond delay="0"/>
                                  </p:stCondLst>
                                  <p:iterate type="lt">
                                    <p:tmPct val="10000"/>
                                  </p:iterate>
                                  <p:childTnLst>
                                    <p:set>
                                      <p:cBhvr>
                                        <p:cTn id="35" dur="1" fill="hold">
                                          <p:stCondLst>
                                            <p:cond delay="0"/>
                                          </p:stCondLst>
                                        </p:cTn>
                                        <p:tgtEl>
                                          <p:spTgt spid="26"/>
                                        </p:tgtEl>
                                        <p:attrNameLst>
                                          <p:attrName>style.visibility</p:attrName>
                                        </p:attrNameLst>
                                      </p:cBhvr>
                                      <p:to>
                                        <p:strVal val="visible"/>
                                      </p:to>
                                    </p:set>
                                    <p:anim calcmode="lin" valueType="num">
                                      <p:cBhvr>
                                        <p:cTn id="36"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26"/>
                                        </p:tgtEl>
                                        <p:attrNameLst>
                                          <p:attrName>ppt_y</p:attrName>
                                        </p:attrNameLst>
                                      </p:cBhvr>
                                      <p:tavLst>
                                        <p:tav tm="0">
                                          <p:val>
                                            <p:strVal val="#ppt_y"/>
                                          </p:val>
                                        </p:tav>
                                        <p:tav tm="100000">
                                          <p:val>
                                            <p:strVal val="#ppt_y"/>
                                          </p:val>
                                        </p:tav>
                                      </p:tavLst>
                                    </p:anim>
                                    <p:anim calcmode="lin" valueType="num">
                                      <p:cBhvr>
                                        <p:cTn id="38"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26"/>
                                        </p:tgtEl>
                                      </p:cBhvr>
                                    </p:animEffect>
                                  </p:childTnLst>
                                </p:cTn>
                              </p:par>
                            </p:childTnLst>
                          </p:cTn>
                        </p:par>
                        <p:par>
                          <p:cTn id="41" fill="hold">
                            <p:stCondLst>
                              <p:cond delay="800"/>
                            </p:stCondLst>
                            <p:childTnLst>
                              <p:par>
                                <p:cTn id="42" presetID="42" presetClass="entr" presetSubtype="0" fill="hold" grpId="0"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1000"/>
                                        <p:tgtEl>
                                          <p:spTgt spid="28"/>
                                        </p:tgtEl>
                                      </p:cBhvr>
                                    </p:animEffect>
                                    <p:anim calcmode="lin" valueType="num">
                                      <p:cBhvr>
                                        <p:cTn id="45" dur="1000" fill="hold"/>
                                        <p:tgtEl>
                                          <p:spTgt spid="28"/>
                                        </p:tgtEl>
                                        <p:attrNameLst>
                                          <p:attrName>ppt_x</p:attrName>
                                        </p:attrNameLst>
                                      </p:cBhvr>
                                      <p:tavLst>
                                        <p:tav tm="0">
                                          <p:val>
                                            <p:strVal val="#ppt_x"/>
                                          </p:val>
                                        </p:tav>
                                        <p:tav tm="100000">
                                          <p:val>
                                            <p:strVal val="#ppt_x"/>
                                          </p:val>
                                        </p:tav>
                                      </p:tavLst>
                                    </p:anim>
                                    <p:anim calcmode="lin" valueType="num">
                                      <p:cBhvr>
                                        <p:cTn id="4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26" grpId="0" autoUpdateAnimBg="0"/>
      <p:bldP spid="37" grpId="0" animBg="1"/>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26" name="TextBox 5"/>
          <p:cNvSpPr txBox="1">
            <a:spLocks noChangeArrowheads="1"/>
          </p:cNvSpPr>
          <p:nvPr/>
        </p:nvSpPr>
        <p:spPr bwMode="auto">
          <a:xfrm>
            <a:off x="933088" y="1032711"/>
            <a:ext cx="7277822" cy="553998"/>
          </a:xfrm>
          <a:prstGeom prst="rect">
            <a:avLst/>
          </a:prstGeom>
          <a:noFill/>
          <a:ln w="9525">
            <a:noFill/>
            <a:miter lim="800000"/>
          </a:ln>
        </p:spPr>
        <p:txBody>
          <a:bodyPr wrap="square">
            <a:spAutoFit/>
          </a:bodyPr>
          <a:lstStyle/>
          <a:p>
            <a:pPr defTabSz="911225" fontAlgn="auto">
              <a:lnSpc>
                <a:spcPct val="150000"/>
              </a:lnSpc>
              <a:spcBef>
                <a:spcPct val="20000"/>
              </a:spcBef>
            </a:pPr>
            <a:r>
              <a:rPr lang="zh-CN" altLang="en-US" sz="2000" dirty="0">
                <a:solidFill>
                  <a:schemeClr val="accent1"/>
                </a:solidFill>
                <a:latin typeface="百度综艺简体" panose="02010601030101010101" charset="-122"/>
                <a:ea typeface="百度综艺简体" panose="02010601030101010101" charset="-122"/>
              </a:rPr>
              <a:t>线性结构的基本特征</a:t>
            </a:r>
            <a:r>
              <a:rPr lang="en-US" altLang="zh-CN" sz="2000" dirty="0">
                <a:solidFill>
                  <a:schemeClr val="accent1"/>
                </a:solidFill>
                <a:latin typeface="百度综艺简体" panose="02010601030101010101" charset="-122"/>
                <a:ea typeface="百度综艺简体" panose="02010601030101010101" charset="-122"/>
              </a:rPr>
              <a:t>:</a:t>
            </a:r>
            <a:r>
              <a:rPr lang="zh-CN" altLang="en-US" sz="2000" dirty="0">
                <a:solidFill>
                  <a:schemeClr val="accent1"/>
                </a:solidFill>
                <a:latin typeface="百度综艺简体" panose="02010601030101010101" charset="-122"/>
                <a:ea typeface="百度综艺简体" panose="02010601030101010101" charset="-122"/>
              </a:rPr>
              <a:t>在数据元素的非空有限</a:t>
            </a:r>
            <a:r>
              <a:rPr lang="zh-CN" altLang="en-US" sz="2000" dirty="0" smtClean="0">
                <a:solidFill>
                  <a:schemeClr val="accent1"/>
                </a:solidFill>
                <a:latin typeface="百度综艺简体" panose="02010601030101010101" charset="-122"/>
                <a:ea typeface="百度综艺简体" panose="02010601030101010101" charset="-122"/>
              </a:rPr>
              <a:t>集中</a:t>
            </a:r>
            <a:endParaRPr lang="zh-CN" altLang="en-US" sz="2000" dirty="0">
              <a:solidFill>
                <a:schemeClr val="accent1"/>
              </a:solidFill>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53" name="TextBox 5"/>
          <p:cNvSpPr txBox="1">
            <a:spLocks noChangeArrowheads="1"/>
          </p:cNvSpPr>
          <p:nvPr/>
        </p:nvSpPr>
        <p:spPr bwMode="auto">
          <a:xfrm>
            <a:off x="1634873" y="1591871"/>
            <a:ext cx="6576037" cy="504177"/>
          </a:xfrm>
          <a:prstGeom prst="rect">
            <a:avLst/>
          </a:prstGeom>
          <a:noFill/>
          <a:ln w="9525">
            <a:noFill/>
            <a:miter lim="800000"/>
          </a:ln>
        </p:spPr>
        <p:txBody>
          <a:bodyPr wrap="square">
            <a:spAutoFit/>
          </a:bodyPr>
          <a:lstStyle/>
          <a:p>
            <a:pPr defTabSz="911225">
              <a:lnSpc>
                <a:spcPct val="150000"/>
              </a:lnSpc>
              <a:spcBef>
                <a:spcPct val="20000"/>
              </a:spcBef>
            </a:pPr>
            <a:r>
              <a:rPr lang="en-US" altLang="zh-CN" dirty="0" smtClean="0">
                <a:latin typeface="百度综艺简体" panose="02010601030101010101" charset="-122"/>
                <a:ea typeface="百度综艺简体" panose="02010601030101010101" charset="-122"/>
              </a:rPr>
              <a:t>1.</a:t>
            </a:r>
            <a:r>
              <a:rPr lang="zh-CN" altLang="en-US" dirty="0" smtClean="0">
                <a:latin typeface="百度综艺简体" panose="02010601030101010101" charset="-122"/>
                <a:ea typeface="百度综艺简体" panose="02010601030101010101" charset="-122"/>
              </a:rPr>
              <a:t>集合</a:t>
            </a:r>
            <a:r>
              <a:rPr lang="zh-CN" altLang="en-US" dirty="0">
                <a:latin typeface="百度综艺简体" panose="02010601030101010101" charset="-122"/>
                <a:ea typeface="百度综艺简体" panose="02010601030101010101" charset="-122"/>
              </a:rPr>
              <a:t>中必存在唯一的一个“第一元素”；</a:t>
            </a:r>
            <a:endParaRPr lang="en-US" altLang="zh-CN" dirty="0">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5"/>
          <p:cNvSpPr txBox="1">
            <a:spLocks noChangeArrowheads="1"/>
          </p:cNvSpPr>
          <p:nvPr/>
        </p:nvSpPr>
        <p:spPr bwMode="auto">
          <a:xfrm>
            <a:off x="1634873" y="2096048"/>
            <a:ext cx="6576037" cy="507831"/>
          </a:xfrm>
          <a:prstGeom prst="rect">
            <a:avLst/>
          </a:prstGeom>
          <a:noFill/>
          <a:ln w="9525">
            <a:noFill/>
            <a:miter lim="800000"/>
          </a:ln>
        </p:spPr>
        <p:txBody>
          <a:bodyPr wrap="square">
            <a:spAutoFit/>
          </a:bodyPr>
          <a:lstStyle/>
          <a:p>
            <a:pPr lvl="0" defTabSz="911225" fontAlgn="base">
              <a:lnSpc>
                <a:spcPct val="150000"/>
              </a:lnSpc>
              <a:spcBef>
                <a:spcPct val="20000"/>
              </a:spcBef>
              <a:spcAft>
                <a:spcPct val="0"/>
              </a:spcAft>
              <a:buClr>
                <a:schemeClr val="hlink"/>
              </a:buClr>
              <a:buSzPct val="50000"/>
              <a:defRPr/>
            </a:pPr>
            <a:r>
              <a:rPr lang="en-US" altLang="zh-CN" dirty="0" smtClean="0">
                <a:latin typeface="百度综艺简体" panose="02010601030101010101" charset="-122"/>
                <a:ea typeface="百度综艺简体" panose="02010601030101010101" charset="-122"/>
              </a:rPr>
              <a:t>2</a:t>
            </a:r>
            <a:r>
              <a:rPr lang="en-US" altLang="zh-CN" dirty="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集合</a:t>
            </a:r>
            <a:r>
              <a:rPr lang="zh-CN" altLang="en-US" dirty="0">
                <a:latin typeface="百度综艺简体" panose="02010601030101010101" charset="-122"/>
                <a:ea typeface="百度综艺简体" panose="02010601030101010101" charset="-122"/>
              </a:rPr>
              <a:t>中必存在唯一的一个“最后元素”；</a:t>
            </a:r>
          </a:p>
        </p:txBody>
      </p:sp>
      <p:sp>
        <p:nvSpPr>
          <p:cNvPr id="17" name="TextBox 5"/>
          <p:cNvSpPr txBox="1">
            <a:spLocks noChangeArrowheads="1"/>
          </p:cNvSpPr>
          <p:nvPr/>
        </p:nvSpPr>
        <p:spPr bwMode="auto">
          <a:xfrm>
            <a:off x="1634873" y="2600225"/>
            <a:ext cx="6576037" cy="465064"/>
          </a:xfrm>
          <a:prstGeom prst="rect">
            <a:avLst/>
          </a:prstGeom>
          <a:noFill/>
          <a:ln w="9525">
            <a:noFill/>
            <a:miter lim="800000"/>
          </a:ln>
        </p:spPr>
        <p:txBody>
          <a:bodyPr wrap="square">
            <a:spAutoFit/>
          </a:bodyPr>
          <a:lstStyle/>
          <a:p>
            <a:pPr defTabSz="911225" fontAlgn="base">
              <a:lnSpc>
                <a:spcPct val="150000"/>
              </a:lnSpc>
              <a:spcBef>
                <a:spcPct val="20000"/>
              </a:spcBef>
              <a:spcAft>
                <a:spcPct val="0"/>
              </a:spcAft>
              <a:buClr>
                <a:schemeClr val="hlink"/>
              </a:buClr>
              <a:buSzPct val="50000"/>
              <a:defRPr/>
            </a:pPr>
            <a:r>
              <a:rPr lang="en-US" altLang="zh-CN" dirty="0" smtClean="0">
                <a:latin typeface="百度综艺简体" panose="02010601030101010101" charset="-122"/>
                <a:ea typeface="百度综艺简体" panose="02010601030101010101" charset="-122"/>
              </a:rPr>
              <a:t>3.</a:t>
            </a:r>
            <a:r>
              <a:rPr lang="zh-CN" altLang="en-US" dirty="0" smtClean="0">
                <a:latin typeface="百度综艺简体" panose="02010601030101010101" charset="-122"/>
                <a:ea typeface="百度综艺简体" panose="02010601030101010101" charset="-122"/>
              </a:rPr>
              <a:t>除</a:t>
            </a:r>
            <a:r>
              <a:rPr lang="zh-CN" altLang="en-US" dirty="0">
                <a:latin typeface="百度综艺简体" panose="02010601030101010101" charset="-122"/>
                <a:ea typeface="百度综艺简体" panose="02010601030101010101" charset="-122"/>
              </a:rPr>
              <a:t>最后元素在外，均有唯一的后继；</a:t>
            </a:r>
          </a:p>
        </p:txBody>
      </p:sp>
      <p:sp>
        <p:nvSpPr>
          <p:cNvPr id="18" name="TextBox 5"/>
          <p:cNvSpPr txBox="1">
            <a:spLocks noChangeArrowheads="1"/>
          </p:cNvSpPr>
          <p:nvPr/>
        </p:nvSpPr>
        <p:spPr bwMode="auto">
          <a:xfrm>
            <a:off x="1634873" y="3133414"/>
            <a:ext cx="6576037" cy="465064"/>
          </a:xfrm>
          <a:prstGeom prst="rect">
            <a:avLst/>
          </a:prstGeom>
          <a:noFill/>
          <a:ln w="9525">
            <a:noFill/>
            <a:miter lim="800000"/>
          </a:ln>
        </p:spPr>
        <p:txBody>
          <a:bodyPr wrap="square">
            <a:spAutoFit/>
          </a:bodyPr>
          <a:lstStyle/>
          <a:p>
            <a:pPr defTabSz="911225" fontAlgn="base">
              <a:lnSpc>
                <a:spcPct val="150000"/>
              </a:lnSpc>
              <a:spcBef>
                <a:spcPct val="20000"/>
              </a:spcBef>
              <a:spcAft>
                <a:spcPct val="0"/>
              </a:spcAft>
              <a:buClr>
                <a:schemeClr val="hlink"/>
              </a:buClr>
              <a:buSzPct val="50000"/>
              <a:defRPr/>
            </a:pPr>
            <a:r>
              <a:rPr lang="en-US" altLang="zh-CN" dirty="0">
                <a:latin typeface="百度综艺简体" panose="02010601030101010101" charset="-122"/>
                <a:ea typeface="百度综艺简体" panose="02010601030101010101" charset="-122"/>
              </a:rPr>
              <a:t>4.</a:t>
            </a:r>
            <a:r>
              <a:rPr lang="zh-CN" altLang="en-US" dirty="0">
                <a:latin typeface="百度综艺简体" panose="02010601030101010101" charset="-122"/>
                <a:ea typeface="百度综艺简体" panose="02010601030101010101" charset="-122"/>
              </a:rPr>
              <a:t>除第一元素之外，均有唯一的</a:t>
            </a:r>
            <a:r>
              <a:rPr lang="zh-CN" altLang="en-US" dirty="0" smtClean="0">
                <a:latin typeface="百度综艺简体" panose="02010601030101010101" charset="-122"/>
                <a:ea typeface="百度综艺简体" panose="02010601030101010101" charset="-122"/>
              </a:rPr>
              <a:t>前驱。</a:t>
            </a:r>
            <a:endParaRPr lang="zh-CN" altLang="en-US" dirty="0">
              <a:latin typeface="百度综艺简体" panose="02010601030101010101" charset="-122"/>
              <a:ea typeface="百度综艺简体" panose="02010601030101010101" charset="-122"/>
            </a:endParaRPr>
          </a:p>
        </p:txBody>
      </p:sp>
      <p:sp>
        <p:nvSpPr>
          <p:cNvPr id="20" name="TextBox 5"/>
          <p:cNvSpPr txBox="1">
            <a:spLocks noChangeArrowheads="1"/>
          </p:cNvSpPr>
          <p:nvPr/>
        </p:nvSpPr>
        <p:spPr bwMode="auto">
          <a:xfrm>
            <a:off x="1023125" y="3666603"/>
            <a:ext cx="2499247" cy="507831"/>
          </a:xfrm>
          <a:prstGeom prst="rect">
            <a:avLst/>
          </a:prstGeom>
          <a:noFill/>
          <a:ln w="9525">
            <a:noFill/>
            <a:miter lim="800000"/>
          </a:ln>
        </p:spPr>
        <p:txBody>
          <a:bodyPr wrap="square">
            <a:spAutoFit/>
          </a:bodyPr>
          <a:lstStyle/>
          <a:p>
            <a:pPr marL="285750" lvl="0" indent="-285750" defTabSz="911225" fontAlgn="base">
              <a:lnSpc>
                <a:spcPct val="150000"/>
              </a:lnSpc>
              <a:spcBef>
                <a:spcPct val="20000"/>
              </a:spcBef>
              <a:spcAft>
                <a:spcPct val="0"/>
              </a:spcAft>
              <a:buSzPct val="100000"/>
              <a:buFont typeface="Wingdings" panose="05000000000000000000" pitchFamily="2" charset="2"/>
              <a:buChar char="u"/>
              <a:defRPr/>
            </a:pPr>
            <a:r>
              <a:rPr lang="zh-CN" altLang="en-US" dirty="0" smtClean="0">
                <a:latin typeface="百度综艺简体" panose="02010601030101010101" charset="-122"/>
                <a:ea typeface="百度综艺简体" panose="02010601030101010101" charset="-122"/>
              </a:rPr>
              <a:t>例如 </a:t>
            </a:r>
            <a:r>
              <a:rPr lang="en-US" altLang="zh-CN" dirty="0" smtClean="0">
                <a:latin typeface="百度综艺简体" panose="02010601030101010101" charset="-122"/>
                <a:ea typeface="百度综艺简体" panose="02010601030101010101" charset="-122"/>
                <a:sym typeface="Wingdings" panose="05000000000000000000" pitchFamily="2" charset="2"/>
              </a:rPr>
              <a:t>(</a:t>
            </a:r>
            <a:r>
              <a:rPr lang="en-US" altLang="zh-CN" dirty="0">
                <a:latin typeface="百度综艺简体" panose="02010601030101010101" charset="-122"/>
                <a:ea typeface="百度综艺简体" panose="02010601030101010101" charset="-122"/>
                <a:sym typeface="Wingdings" panose="05000000000000000000" pitchFamily="2" charset="2"/>
              </a:rPr>
              <a:t>A,B,C,…,Z)</a:t>
            </a:r>
          </a:p>
        </p:txBody>
      </p:sp>
      <p:sp>
        <p:nvSpPr>
          <p:cNvPr id="23" name="TextBox 5"/>
          <p:cNvSpPr txBox="1">
            <a:spLocks noChangeArrowheads="1"/>
          </p:cNvSpPr>
          <p:nvPr/>
        </p:nvSpPr>
        <p:spPr bwMode="auto">
          <a:xfrm>
            <a:off x="1023124" y="4195754"/>
            <a:ext cx="3239783" cy="341632"/>
          </a:xfrm>
          <a:prstGeom prst="rect">
            <a:avLst/>
          </a:prstGeom>
          <a:noFill/>
          <a:ln w="9525">
            <a:noFill/>
            <a:miter lim="800000"/>
          </a:ln>
        </p:spPr>
        <p:txBody>
          <a:bodyPr wrap="square">
            <a:spAutoFit/>
          </a:bodyPr>
          <a:lstStyle/>
          <a:p>
            <a:pPr marL="285750" lvl="0" indent="-285750" defTabSz="914400" eaLnBrk="0" fontAlgn="base" hangingPunct="0">
              <a:lnSpc>
                <a:spcPct val="90000"/>
              </a:lnSpc>
              <a:spcBef>
                <a:spcPct val="20000"/>
              </a:spcBef>
              <a:spcAft>
                <a:spcPct val="0"/>
              </a:spcAft>
              <a:buSzPct val="100000"/>
              <a:buFont typeface="Wingdings" panose="05000000000000000000" pitchFamily="2" charset="2"/>
              <a:buChar char="u"/>
              <a:defRPr/>
            </a:pPr>
            <a:r>
              <a:rPr lang="en-US" altLang="zh-CN" dirty="0" smtClean="0">
                <a:latin typeface="百度综艺简体" panose="02010601030101010101" charset="-122"/>
                <a:ea typeface="百度综艺简体" panose="02010601030101010101" charset="-122"/>
                <a:sym typeface="Wingdings" panose="05000000000000000000" pitchFamily="2" charset="2"/>
              </a:rPr>
              <a:t>(</a:t>
            </a:r>
            <a:r>
              <a:rPr lang="en-US" altLang="zh-CN" dirty="0">
                <a:latin typeface="百度综艺简体" panose="02010601030101010101" charset="-122"/>
                <a:ea typeface="百度综艺简体" panose="02010601030101010101" charset="-122"/>
                <a:sym typeface="Wingdings" panose="05000000000000000000" pitchFamily="2" charset="2"/>
              </a:rPr>
              <a:t>6,17,28,50,92,108)</a:t>
            </a:r>
          </a:p>
        </p:txBody>
      </p:sp>
      <p:sp>
        <p:nvSpPr>
          <p:cNvPr id="24"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41" presetClass="entr" presetSubtype="0" fill="hold" grpId="0" nodeType="clickEffect">
                                  <p:stCondLst>
                                    <p:cond delay="0"/>
                                  </p:stCondLst>
                                  <p:iterate type="lt">
                                    <p:tmPct val="10000"/>
                                  </p:iterate>
                                  <p:childTnLst>
                                    <p:set>
                                      <p:cBhvr>
                                        <p:cTn id="35" dur="1" fill="hold">
                                          <p:stCondLst>
                                            <p:cond delay="0"/>
                                          </p:stCondLst>
                                        </p:cTn>
                                        <p:tgtEl>
                                          <p:spTgt spid="26"/>
                                        </p:tgtEl>
                                        <p:attrNameLst>
                                          <p:attrName>style.visibility</p:attrName>
                                        </p:attrNameLst>
                                      </p:cBhvr>
                                      <p:to>
                                        <p:strVal val="visible"/>
                                      </p:to>
                                    </p:set>
                                    <p:anim calcmode="lin" valueType="num">
                                      <p:cBhvr>
                                        <p:cTn id="36"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26"/>
                                        </p:tgtEl>
                                        <p:attrNameLst>
                                          <p:attrName>ppt_y</p:attrName>
                                        </p:attrNameLst>
                                      </p:cBhvr>
                                      <p:tavLst>
                                        <p:tav tm="0">
                                          <p:val>
                                            <p:strVal val="#ppt_y"/>
                                          </p:val>
                                        </p:tav>
                                        <p:tav tm="100000">
                                          <p:val>
                                            <p:strVal val="#ppt_y"/>
                                          </p:val>
                                        </p:tav>
                                      </p:tavLst>
                                    </p:anim>
                                    <p:anim calcmode="lin" valueType="num">
                                      <p:cBhvr>
                                        <p:cTn id="38"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41" presetClass="entr" presetSubtype="0" fill="hold" grpId="0" nodeType="clickEffect">
                                  <p:stCondLst>
                                    <p:cond delay="0"/>
                                  </p:stCondLst>
                                  <p:iterate type="lt">
                                    <p:tmPct val="10000"/>
                                  </p:iterate>
                                  <p:childTnLst>
                                    <p:set>
                                      <p:cBhvr>
                                        <p:cTn id="44" dur="1" fill="hold">
                                          <p:stCondLst>
                                            <p:cond delay="0"/>
                                          </p:stCondLst>
                                        </p:cTn>
                                        <p:tgtEl>
                                          <p:spTgt spid="53"/>
                                        </p:tgtEl>
                                        <p:attrNameLst>
                                          <p:attrName>style.visibility</p:attrName>
                                        </p:attrNameLst>
                                      </p:cBhvr>
                                      <p:to>
                                        <p:strVal val="visible"/>
                                      </p:to>
                                    </p:set>
                                    <p:anim calcmode="lin" valueType="num">
                                      <p:cBhvr>
                                        <p:cTn id="45"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46" dur="500" fill="hold"/>
                                        <p:tgtEl>
                                          <p:spTgt spid="53"/>
                                        </p:tgtEl>
                                        <p:attrNameLst>
                                          <p:attrName>ppt_y</p:attrName>
                                        </p:attrNameLst>
                                      </p:cBhvr>
                                      <p:tavLst>
                                        <p:tav tm="0">
                                          <p:val>
                                            <p:strVal val="#ppt_y"/>
                                          </p:val>
                                        </p:tav>
                                        <p:tav tm="100000">
                                          <p:val>
                                            <p:strVal val="#ppt_y"/>
                                          </p:val>
                                        </p:tav>
                                      </p:tavLst>
                                    </p:anim>
                                    <p:anim calcmode="lin" valueType="num">
                                      <p:cBhvr>
                                        <p:cTn id="47"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48"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49" dur="500" tmFilter="0,0; .5, 1; 1, 1"/>
                                        <p:tgtEl>
                                          <p:spTgt spid="53"/>
                                        </p:tgtEl>
                                      </p:cBhvr>
                                    </p:animEffect>
                                  </p:childTnLst>
                                </p:cTn>
                              </p:par>
                            </p:childTnLst>
                          </p:cTn>
                        </p:par>
                      </p:childTnLst>
                    </p:cTn>
                  </p:par>
                  <p:par>
                    <p:cTn id="50" fill="hold">
                      <p:stCondLst>
                        <p:cond delay="indefinite"/>
                      </p:stCondLst>
                      <p:childTnLst>
                        <p:par>
                          <p:cTn id="51" fill="hold">
                            <p:stCondLst>
                              <p:cond delay="0"/>
                            </p:stCondLst>
                            <p:childTnLst>
                              <p:par>
                                <p:cTn id="52" presetID="41" presetClass="entr" presetSubtype="0" fill="hold" grpId="0" nodeType="clickEffect">
                                  <p:stCondLst>
                                    <p:cond delay="0"/>
                                  </p:stCondLst>
                                  <p:iterate type="lt">
                                    <p:tmPct val="10000"/>
                                  </p:iterate>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55" dur="500" fill="hold"/>
                                        <p:tgtEl>
                                          <p:spTgt spid="14"/>
                                        </p:tgtEl>
                                        <p:attrNameLst>
                                          <p:attrName>ppt_y</p:attrName>
                                        </p:attrNameLst>
                                      </p:cBhvr>
                                      <p:tavLst>
                                        <p:tav tm="0">
                                          <p:val>
                                            <p:strVal val="#ppt_y"/>
                                          </p:val>
                                        </p:tav>
                                        <p:tav tm="100000">
                                          <p:val>
                                            <p:strVal val="#ppt_y"/>
                                          </p:val>
                                        </p:tav>
                                      </p:tavLst>
                                    </p:anim>
                                    <p:anim calcmode="lin" valueType="num">
                                      <p:cBhvr>
                                        <p:cTn id="56"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57"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58" dur="500" tmFilter="0,0; .5, 1; 1, 1"/>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41" presetClass="entr" presetSubtype="0" fill="hold" grpId="0" nodeType="clickEffect">
                                  <p:stCondLst>
                                    <p:cond delay="0"/>
                                  </p:stCondLst>
                                  <p:iterate type="lt">
                                    <p:tmPct val="10000"/>
                                  </p:iterate>
                                  <p:childTnLst>
                                    <p:set>
                                      <p:cBhvr>
                                        <p:cTn id="62" dur="1" fill="hold">
                                          <p:stCondLst>
                                            <p:cond delay="0"/>
                                          </p:stCondLst>
                                        </p:cTn>
                                        <p:tgtEl>
                                          <p:spTgt spid="17"/>
                                        </p:tgtEl>
                                        <p:attrNameLst>
                                          <p:attrName>style.visibility</p:attrName>
                                        </p:attrNameLst>
                                      </p:cBhvr>
                                      <p:to>
                                        <p:strVal val="visible"/>
                                      </p:to>
                                    </p:set>
                                    <p:anim calcmode="lin" valueType="num">
                                      <p:cBhvr>
                                        <p:cTn id="63"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17"/>
                                        </p:tgtEl>
                                        <p:attrNameLst>
                                          <p:attrName>ppt_y</p:attrName>
                                        </p:attrNameLst>
                                      </p:cBhvr>
                                      <p:tavLst>
                                        <p:tav tm="0">
                                          <p:val>
                                            <p:strVal val="#ppt_y"/>
                                          </p:val>
                                        </p:tav>
                                        <p:tav tm="100000">
                                          <p:val>
                                            <p:strVal val="#ppt_y"/>
                                          </p:val>
                                        </p:tav>
                                      </p:tavLst>
                                    </p:anim>
                                    <p:anim calcmode="lin" valueType="num">
                                      <p:cBhvr>
                                        <p:cTn id="65"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41" presetClass="entr" presetSubtype="0" fill="hold" grpId="0" nodeType="clickEffect">
                                  <p:stCondLst>
                                    <p:cond delay="0"/>
                                  </p:stCondLst>
                                  <p:iterate type="lt">
                                    <p:tmPct val="10000"/>
                                  </p:iterate>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73" dur="500" fill="hold"/>
                                        <p:tgtEl>
                                          <p:spTgt spid="18"/>
                                        </p:tgtEl>
                                        <p:attrNameLst>
                                          <p:attrName>ppt_y</p:attrName>
                                        </p:attrNameLst>
                                      </p:cBhvr>
                                      <p:tavLst>
                                        <p:tav tm="0">
                                          <p:val>
                                            <p:strVal val="#ppt_y"/>
                                          </p:val>
                                        </p:tav>
                                        <p:tav tm="100000">
                                          <p:val>
                                            <p:strVal val="#ppt_y"/>
                                          </p:val>
                                        </p:tav>
                                      </p:tavLst>
                                    </p:anim>
                                    <p:anim calcmode="lin" valueType="num">
                                      <p:cBhvr>
                                        <p:cTn id="74"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5"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76" dur="500" tmFilter="0,0; .5, 1; 1, 1"/>
                                        <p:tgtEl>
                                          <p:spTgt spid="18"/>
                                        </p:tgtEl>
                                      </p:cBhvr>
                                    </p:animEffect>
                                  </p:childTnLst>
                                </p:cTn>
                              </p:par>
                            </p:childTnLst>
                          </p:cTn>
                        </p:par>
                      </p:childTnLst>
                    </p:cTn>
                  </p:par>
                  <p:par>
                    <p:cTn id="77" fill="hold">
                      <p:stCondLst>
                        <p:cond delay="indefinite"/>
                      </p:stCondLst>
                      <p:childTnLst>
                        <p:par>
                          <p:cTn id="78" fill="hold">
                            <p:stCondLst>
                              <p:cond delay="0"/>
                            </p:stCondLst>
                            <p:childTnLst>
                              <p:par>
                                <p:cTn id="79" presetID="41" presetClass="entr" presetSubtype="0" fill="hold" grpId="0" nodeType="clickEffect">
                                  <p:stCondLst>
                                    <p:cond delay="0"/>
                                  </p:stCondLst>
                                  <p:iterate type="lt">
                                    <p:tmPct val="10000"/>
                                  </p:iterate>
                                  <p:childTnLst>
                                    <p:set>
                                      <p:cBhvr>
                                        <p:cTn id="80" dur="1" fill="hold">
                                          <p:stCondLst>
                                            <p:cond delay="0"/>
                                          </p:stCondLst>
                                        </p:cTn>
                                        <p:tgtEl>
                                          <p:spTgt spid="20"/>
                                        </p:tgtEl>
                                        <p:attrNameLst>
                                          <p:attrName>style.visibility</p:attrName>
                                        </p:attrNameLst>
                                      </p:cBhvr>
                                      <p:to>
                                        <p:strVal val="visible"/>
                                      </p:to>
                                    </p:set>
                                    <p:anim calcmode="lin" valueType="num">
                                      <p:cBhvr>
                                        <p:cTn id="81"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82" dur="500" fill="hold"/>
                                        <p:tgtEl>
                                          <p:spTgt spid="20"/>
                                        </p:tgtEl>
                                        <p:attrNameLst>
                                          <p:attrName>ppt_y</p:attrName>
                                        </p:attrNameLst>
                                      </p:cBhvr>
                                      <p:tavLst>
                                        <p:tav tm="0">
                                          <p:val>
                                            <p:strVal val="#ppt_y"/>
                                          </p:val>
                                        </p:tav>
                                        <p:tav tm="100000">
                                          <p:val>
                                            <p:strVal val="#ppt_y"/>
                                          </p:val>
                                        </p:tav>
                                      </p:tavLst>
                                    </p:anim>
                                    <p:anim calcmode="lin" valueType="num">
                                      <p:cBhvr>
                                        <p:cTn id="83"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84"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85" dur="500" tmFilter="0,0; .5, 1; 1, 1"/>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41" presetClass="entr" presetSubtype="0" fill="hold" grpId="0" nodeType="clickEffect">
                                  <p:stCondLst>
                                    <p:cond delay="0"/>
                                  </p:stCondLst>
                                  <p:iterate type="lt">
                                    <p:tmPct val="10000"/>
                                  </p:iterate>
                                  <p:childTnLst>
                                    <p:set>
                                      <p:cBhvr>
                                        <p:cTn id="89" dur="1" fill="hold">
                                          <p:stCondLst>
                                            <p:cond delay="0"/>
                                          </p:stCondLst>
                                        </p:cTn>
                                        <p:tgtEl>
                                          <p:spTgt spid="23"/>
                                        </p:tgtEl>
                                        <p:attrNameLst>
                                          <p:attrName>style.visibility</p:attrName>
                                        </p:attrNameLst>
                                      </p:cBhvr>
                                      <p:to>
                                        <p:strVal val="visible"/>
                                      </p:to>
                                    </p:set>
                                    <p:anim calcmode="lin" valueType="num">
                                      <p:cBhvr>
                                        <p:cTn id="90"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91" dur="500" fill="hold"/>
                                        <p:tgtEl>
                                          <p:spTgt spid="23"/>
                                        </p:tgtEl>
                                        <p:attrNameLst>
                                          <p:attrName>ppt_y</p:attrName>
                                        </p:attrNameLst>
                                      </p:cBhvr>
                                      <p:tavLst>
                                        <p:tav tm="0">
                                          <p:val>
                                            <p:strVal val="#ppt_y"/>
                                          </p:val>
                                        </p:tav>
                                        <p:tav tm="100000">
                                          <p:val>
                                            <p:strVal val="#ppt_y"/>
                                          </p:val>
                                        </p:tav>
                                      </p:tavLst>
                                    </p:anim>
                                    <p:anim calcmode="lin" valueType="num">
                                      <p:cBhvr>
                                        <p:cTn id="92"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93"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94" dur="500" tmFilter="0,0; .5, 1; 1, 1"/>
                                        <p:tgtEl>
                                          <p:spTgt spid="23"/>
                                        </p:tgtEl>
                                      </p:cBhvr>
                                    </p:animEffect>
                                  </p:childTnLst>
                                </p:cTn>
                              </p:par>
                            </p:childTnLst>
                          </p:cTn>
                        </p:par>
                        <p:par>
                          <p:cTn id="95" fill="hold">
                            <p:stCondLst>
                              <p:cond delay="1399"/>
                            </p:stCondLst>
                            <p:childTnLst>
                              <p:par>
                                <p:cTn id="96" presetID="42" presetClass="entr" presetSubtype="0" fill="hold" grpId="0" nodeType="after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1000"/>
                                        <p:tgtEl>
                                          <p:spTgt spid="24"/>
                                        </p:tgtEl>
                                      </p:cBhvr>
                                    </p:animEffect>
                                    <p:anim calcmode="lin" valueType="num">
                                      <p:cBhvr>
                                        <p:cTn id="99" dur="1000" fill="hold"/>
                                        <p:tgtEl>
                                          <p:spTgt spid="24"/>
                                        </p:tgtEl>
                                        <p:attrNameLst>
                                          <p:attrName>ppt_x</p:attrName>
                                        </p:attrNameLst>
                                      </p:cBhvr>
                                      <p:tavLst>
                                        <p:tav tm="0">
                                          <p:val>
                                            <p:strVal val="#ppt_x"/>
                                          </p:val>
                                        </p:tav>
                                        <p:tav tm="100000">
                                          <p:val>
                                            <p:strVal val="#ppt_x"/>
                                          </p:val>
                                        </p:tav>
                                      </p:tavLst>
                                    </p:anim>
                                    <p:anim calcmode="lin" valueType="num">
                                      <p:cBhvr>
                                        <p:cTn id="10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26" grpId="0" autoUpdateAnimBg="0"/>
      <p:bldP spid="37" grpId="0" animBg="1"/>
      <p:bldP spid="53" grpId="0" autoUpdateAnimBg="0"/>
      <p:bldP spid="14" grpId="0" autoUpdateAnimBg="0"/>
      <p:bldP spid="17" grpId="0" autoUpdateAnimBg="0"/>
      <p:bldP spid="18" grpId="0" autoUpdateAnimBg="0"/>
      <p:bldP spid="20" grpId="0" autoUpdateAnimBg="0"/>
      <p:bldP spid="23" grpId="0" autoUpdateAnimBg="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763193"/>
            <a:ext cx="7277822" cy="553998"/>
          </a:xfrm>
          <a:prstGeom prst="rect">
            <a:avLst/>
          </a:prstGeom>
          <a:noFill/>
          <a:ln w="9525">
            <a:noFill/>
            <a:miter lim="800000"/>
          </a:ln>
        </p:spPr>
        <p:txBody>
          <a:bodyPr wrap="square">
            <a:spAutoFit/>
          </a:bodyPr>
          <a:lstStyle/>
          <a:p>
            <a:pPr fontAlgn="auto">
              <a:lnSpc>
                <a:spcPct val="150000"/>
              </a:lnSpc>
            </a:pPr>
            <a:r>
              <a:rPr lang="zh-CN" altLang="en-US" sz="2000" dirty="0">
                <a:latin typeface="百度综艺简体" panose="02010601030101010101" charset="-122"/>
                <a:ea typeface="百度综艺简体" panose="02010601030101010101" charset="-122"/>
              </a:rPr>
              <a:t>抽象数据类型线性表的定义如下：</a:t>
            </a:r>
            <a:endParaRPr lang="zh-CN" altLang="en-US" sz="2000" dirty="0">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52" name="Text Placeholder 11"/>
          <p:cNvSpPr txBox="1"/>
          <p:nvPr/>
        </p:nvSpPr>
        <p:spPr>
          <a:xfrm>
            <a:off x="933089" y="1446706"/>
            <a:ext cx="362077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Font typeface="Wingdings" panose="05000000000000000000" pitchFamily="2" charset="2"/>
              <a:buChar char="u"/>
            </a:pPr>
            <a:r>
              <a:rPr kumimoji="1" lang="en-US" altLang="zh-CN" sz="2000" dirty="0">
                <a:latin typeface="百度综艺简体" panose="02010601030101010101" charset="-122"/>
                <a:ea typeface="百度综艺简体" panose="02010601030101010101" charset="-122"/>
              </a:rPr>
              <a:t>ADT List {</a:t>
            </a:r>
            <a:endParaRPr lang="zh-CN" sz="2000" dirty="0">
              <a:latin typeface="百度综艺简体" panose="02010601030101010101" charset="-122"/>
              <a:ea typeface="百度综艺简体" panose="02010601030101010101" charset="-122"/>
              <a:sym typeface="Arial" panose="020B0604020202020204" pitchFamily="34" charset="0"/>
            </a:endParaRPr>
          </a:p>
        </p:txBody>
      </p:sp>
      <p:sp>
        <p:nvSpPr>
          <p:cNvPr id="53" name="TextBox 5"/>
          <p:cNvSpPr txBox="1">
            <a:spLocks noChangeArrowheads="1"/>
          </p:cNvSpPr>
          <p:nvPr/>
        </p:nvSpPr>
        <p:spPr bwMode="auto">
          <a:xfrm>
            <a:off x="1268730" y="1852052"/>
            <a:ext cx="7309686" cy="507831"/>
          </a:xfrm>
          <a:prstGeom prst="rect">
            <a:avLst/>
          </a:prstGeom>
          <a:noFill/>
          <a:ln w="9525">
            <a:noFill/>
            <a:miter lim="800000"/>
          </a:ln>
        </p:spPr>
        <p:txBody>
          <a:bodyPr wrap="square">
            <a:spAutoFit/>
          </a:bodyPr>
          <a:lstStyle/>
          <a:p>
            <a:pPr lvl="0" defTabSz="914400" eaLnBrk="0" fontAlgn="base" hangingPunct="0">
              <a:lnSpc>
                <a:spcPct val="150000"/>
              </a:lnSpc>
              <a:spcBef>
                <a:spcPct val="20000"/>
              </a:spcBef>
              <a:spcAft>
                <a:spcPct val="0"/>
              </a:spcAft>
              <a:buSzPct val="100000"/>
              <a:defRPr/>
            </a:pPr>
            <a:r>
              <a:rPr kumimoji="1" lang="zh-CN" altLang="en-US" dirty="0">
                <a:latin typeface="百度综艺简体" panose="02010601030101010101" charset="-122"/>
                <a:ea typeface="百度综艺简体" panose="02010601030101010101" charset="-122"/>
              </a:rPr>
              <a:t>数据对象：</a:t>
            </a:r>
            <a:r>
              <a:rPr kumimoji="1" lang="en-US" altLang="zh-CN" dirty="0">
                <a:latin typeface="百度综艺简体" panose="02010601030101010101" charset="-122"/>
                <a:ea typeface="百度综艺简体" panose="02010601030101010101" charset="-122"/>
              </a:rPr>
              <a:t>D</a:t>
            </a:r>
            <a:r>
              <a:rPr kumimoji="1" lang="zh-CN" altLang="en-US" dirty="0">
                <a:latin typeface="百度综艺简体" panose="02010601030101010101" charset="-122"/>
                <a:ea typeface="百度综艺简体" panose="02010601030101010101" charset="-122"/>
              </a:rPr>
              <a:t>＝</a:t>
            </a:r>
            <a:r>
              <a:rPr kumimoji="1" lang="en-US" altLang="zh-CN" dirty="0">
                <a:latin typeface="百度综艺简体" panose="02010601030101010101" charset="-122"/>
                <a:ea typeface="百度综艺简体" panose="02010601030101010101" charset="-122"/>
              </a:rPr>
              <a:t>{ </a:t>
            </a:r>
            <a:r>
              <a:rPr kumimoji="1" lang="en-US" altLang="zh-CN" dirty="0" err="1">
                <a:latin typeface="百度综艺简体" panose="02010601030101010101" charset="-122"/>
                <a:ea typeface="百度综艺简体" panose="02010601030101010101" charset="-122"/>
              </a:rPr>
              <a:t>ai</a:t>
            </a:r>
            <a:r>
              <a:rPr kumimoji="1" lang="en-US" altLang="zh-CN" dirty="0">
                <a:latin typeface="百度综艺简体" panose="02010601030101010101" charset="-122"/>
                <a:ea typeface="百度综艺简体" panose="02010601030101010101" charset="-122"/>
              </a:rPr>
              <a:t> | </a:t>
            </a:r>
            <a:r>
              <a:rPr kumimoji="1" lang="en-US" altLang="zh-CN" dirty="0" err="1">
                <a:latin typeface="百度综艺简体" panose="02010601030101010101" charset="-122"/>
                <a:ea typeface="百度综艺简体" panose="02010601030101010101" charset="-122"/>
              </a:rPr>
              <a:t>ai</a:t>
            </a:r>
            <a:r>
              <a:rPr kumimoji="1" lang="en-US" altLang="zh-CN" dirty="0">
                <a:latin typeface="百度综艺简体" panose="02010601030101010101" charset="-122"/>
                <a:ea typeface="百度综艺简体" panose="02010601030101010101" charset="-122"/>
              </a:rPr>
              <a:t> ∈</a:t>
            </a:r>
            <a:r>
              <a:rPr kumimoji="1" lang="en-US" altLang="zh-CN" dirty="0" err="1">
                <a:latin typeface="百度综艺简体" panose="02010601030101010101" charset="-122"/>
                <a:ea typeface="百度综艺简体" panose="02010601030101010101" charset="-122"/>
              </a:rPr>
              <a:t>ElemSet</a:t>
            </a:r>
            <a:r>
              <a:rPr kumimoji="1" lang="en-US" altLang="zh-CN" dirty="0">
                <a:latin typeface="百度综艺简体" panose="02010601030101010101" charset="-122"/>
                <a:ea typeface="百度综艺简体" panose="02010601030101010101" charset="-122"/>
              </a:rPr>
              <a:t>, </a:t>
            </a:r>
            <a:r>
              <a:rPr kumimoji="1" lang="en-US" altLang="zh-CN" dirty="0" err="1">
                <a:latin typeface="百度综艺简体" panose="02010601030101010101" charset="-122"/>
                <a:ea typeface="百度综艺简体" panose="02010601030101010101" charset="-122"/>
              </a:rPr>
              <a:t>i</a:t>
            </a:r>
            <a:r>
              <a:rPr kumimoji="1" lang="en-US" altLang="zh-CN" dirty="0">
                <a:latin typeface="百度综艺简体" panose="02010601030101010101" charset="-122"/>
                <a:ea typeface="百度综艺简体" panose="02010601030101010101" charset="-122"/>
              </a:rPr>
              <a:t>=1,2,...,n,   </a:t>
            </a:r>
            <a:r>
              <a:rPr kumimoji="1" lang="en-US" altLang="zh-CN" dirty="0" smtClean="0">
                <a:latin typeface="百度综艺简体" panose="02010601030101010101" charset="-122"/>
                <a:ea typeface="百度综艺简体" panose="02010601030101010101" charset="-122"/>
              </a:rPr>
              <a:t> </a:t>
            </a:r>
            <a:r>
              <a:rPr kumimoji="1" lang="en-US" altLang="zh-CN" dirty="0">
                <a:latin typeface="百度综艺简体" panose="02010601030101010101" charset="-122"/>
                <a:ea typeface="百度综艺简体" panose="02010601030101010101" charset="-122"/>
              </a:rPr>
              <a:t>n≥0 }</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TextBox 5"/>
          <p:cNvSpPr txBox="1">
            <a:spLocks noChangeArrowheads="1"/>
          </p:cNvSpPr>
          <p:nvPr/>
        </p:nvSpPr>
        <p:spPr bwMode="auto">
          <a:xfrm>
            <a:off x="1252709" y="3785099"/>
            <a:ext cx="7309686" cy="507831"/>
          </a:xfrm>
          <a:prstGeom prst="rect">
            <a:avLst/>
          </a:prstGeom>
          <a:noFill/>
          <a:ln w="9525">
            <a:noFill/>
            <a:miter lim="800000"/>
          </a:ln>
        </p:spPr>
        <p:txBody>
          <a:bodyPr wrap="square">
            <a:spAutoFit/>
          </a:bodyPr>
          <a:lstStyle/>
          <a:p>
            <a:pPr lvl="0" defTabSz="914400" eaLnBrk="0" fontAlgn="base" hangingPunct="0">
              <a:lnSpc>
                <a:spcPct val="150000"/>
              </a:lnSpc>
              <a:spcBef>
                <a:spcPct val="20000"/>
              </a:spcBef>
              <a:spcAft>
                <a:spcPct val="0"/>
              </a:spcAft>
              <a:buClr>
                <a:schemeClr val="hlink"/>
              </a:buClr>
              <a:buSzPct val="50000"/>
              <a:defRPr/>
            </a:pPr>
            <a:r>
              <a:rPr kumimoji="1" lang="zh-CN" altLang="en-US" dirty="0">
                <a:latin typeface="百度综艺简体" panose="02010601030101010101" charset="-122"/>
                <a:ea typeface="百度综艺简体" panose="02010601030101010101" charset="-122"/>
              </a:rPr>
              <a:t>操作结果：构造一个空的线性表</a:t>
            </a:r>
            <a:r>
              <a:rPr kumimoji="1" lang="en-US" altLang="zh-CN" dirty="0">
                <a:latin typeface="百度综艺简体" panose="02010601030101010101" charset="-122"/>
                <a:ea typeface="百度综艺简体" panose="02010601030101010101" charset="-122"/>
              </a:rPr>
              <a:t>L</a:t>
            </a:r>
            <a:r>
              <a:rPr kumimoji="1" lang="zh-CN" altLang="en-US" dirty="0">
                <a:latin typeface="百度综艺简体" panose="02010601030101010101" charset="-122"/>
                <a:ea typeface="百度综艺简体" panose="02010601030101010101" charset="-122"/>
              </a:rPr>
              <a:t>。</a:t>
            </a:r>
          </a:p>
        </p:txBody>
      </p:sp>
      <p:sp>
        <p:nvSpPr>
          <p:cNvPr id="18" name="TextBox 5"/>
          <p:cNvSpPr txBox="1">
            <a:spLocks noChangeArrowheads="1"/>
          </p:cNvSpPr>
          <p:nvPr/>
        </p:nvSpPr>
        <p:spPr bwMode="auto">
          <a:xfrm>
            <a:off x="1268730" y="2241089"/>
            <a:ext cx="7309686" cy="507831"/>
          </a:xfrm>
          <a:prstGeom prst="rect">
            <a:avLst/>
          </a:prstGeom>
          <a:noFill/>
          <a:ln w="9525">
            <a:noFill/>
            <a:miter lim="800000"/>
          </a:ln>
        </p:spPr>
        <p:txBody>
          <a:bodyPr wrap="square">
            <a:spAutoFit/>
          </a:bodyPr>
          <a:lstStyle/>
          <a:p>
            <a:pPr lvl="0" defTabSz="914400" eaLnBrk="0" fontAlgn="base" hangingPunct="0">
              <a:lnSpc>
                <a:spcPct val="150000"/>
              </a:lnSpc>
              <a:spcBef>
                <a:spcPct val="20000"/>
              </a:spcBef>
              <a:spcAft>
                <a:spcPct val="0"/>
              </a:spcAft>
              <a:buClr>
                <a:schemeClr val="hlink"/>
              </a:buClr>
              <a:buSzPct val="50000"/>
              <a:defRPr/>
            </a:pPr>
            <a:r>
              <a:rPr kumimoji="1" lang="zh-CN" altLang="en-US" dirty="0">
                <a:latin typeface="百度综艺简体" panose="02010601030101010101" charset="-122"/>
                <a:ea typeface="百度综艺简体" panose="02010601030101010101" charset="-122"/>
              </a:rPr>
              <a:t>数据关系：</a:t>
            </a:r>
            <a:r>
              <a:rPr kumimoji="1" lang="en-US" altLang="zh-CN" dirty="0">
                <a:latin typeface="百度综艺简体" panose="02010601030101010101" charset="-122"/>
                <a:ea typeface="百度综艺简体" panose="02010601030101010101" charset="-122"/>
              </a:rPr>
              <a:t>R1</a:t>
            </a:r>
            <a:r>
              <a:rPr kumimoji="1" lang="zh-CN" altLang="en-US" dirty="0">
                <a:latin typeface="百度综艺简体" panose="02010601030101010101" charset="-122"/>
                <a:ea typeface="百度综艺简体" panose="02010601030101010101" charset="-122"/>
              </a:rPr>
              <a:t>＝</a:t>
            </a:r>
            <a:r>
              <a:rPr kumimoji="1" lang="en-US" altLang="zh-CN" dirty="0">
                <a:latin typeface="百度综艺简体" panose="02010601030101010101" charset="-122"/>
                <a:ea typeface="百度综艺简体" panose="02010601030101010101" charset="-122"/>
              </a:rPr>
              <a:t>{ &lt;a</a:t>
            </a:r>
            <a:r>
              <a:rPr kumimoji="1" lang="en-US" altLang="zh-CN" baseline="-25000" dirty="0">
                <a:latin typeface="百度综艺简体" panose="02010601030101010101" charset="-122"/>
                <a:ea typeface="百度综艺简体" panose="02010601030101010101" charset="-122"/>
              </a:rPr>
              <a:t>i-1 </a:t>
            </a:r>
            <a:r>
              <a:rPr kumimoji="1" lang="en-US" altLang="zh-CN" dirty="0">
                <a:latin typeface="百度综艺简体" panose="02010601030101010101" charset="-122"/>
                <a:ea typeface="百度综艺简体" panose="02010601030101010101" charset="-122"/>
              </a:rPr>
              <a:t>,</a:t>
            </a:r>
            <a:r>
              <a:rPr kumimoji="1" lang="en-US" altLang="zh-CN" dirty="0" err="1">
                <a:latin typeface="百度综艺简体" panose="02010601030101010101" charset="-122"/>
                <a:ea typeface="百度综艺简体" panose="02010601030101010101" charset="-122"/>
              </a:rPr>
              <a:t>a</a:t>
            </a:r>
            <a:r>
              <a:rPr kumimoji="1" lang="en-US" altLang="zh-CN" baseline="-25000" dirty="0" err="1">
                <a:latin typeface="百度综艺简体" panose="02010601030101010101" charset="-122"/>
                <a:ea typeface="百度综艺简体" panose="02010601030101010101" charset="-122"/>
              </a:rPr>
              <a:t>i</a:t>
            </a:r>
            <a:r>
              <a:rPr kumimoji="1" lang="en-US" altLang="zh-CN" baseline="-25000" dirty="0">
                <a:latin typeface="百度综艺简体" panose="02010601030101010101" charset="-122"/>
                <a:ea typeface="百度综艺简体" panose="02010601030101010101" charset="-122"/>
              </a:rPr>
              <a:t> </a:t>
            </a:r>
            <a:r>
              <a:rPr kumimoji="1" lang="en-US" altLang="zh-CN" dirty="0">
                <a:latin typeface="百度综艺简体" panose="02010601030101010101" charset="-122"/>
                <a:ea typeface="百度综艺简体" panose="02010601030101010101" charset="-122"/>
              </a:rPr>
              <a:t>&gt;|a</a:t>
            </a:r>
            <a:r>
              <a:rPr kumimoji="1" lang="en-US" altLang="zh-CN" baseline="-25000" dirty="0">
                <a:latin typeface="百度综艺简体" panose="02010601030101010101" charset="-122"/>
                <a:ea typeface="百度综艺简体" panose="02010601030101010101" charset="-122"/>
              </a:rPr>
              <a:t>i-1</a:t>
            </a:r>
            <a:r>
              <a:rPr kumimoji="1" lang="en-US" altLang="zh-CN" dirty="0">
                <a:latin typeface="百度综艺简体" panose="02010601030101010101" charset="-122"/>
                <a:ea typeface="百度综艺简体" panose="02010601030101010101" charset="-122"/>
              </a:rPr>
              <a:t> ,</a:t>
            </a:r>
            <a:r>
              <a:rPr kumimoji="1" lang="en-US" altLang="zh-CN" dirty="0" err="1">
                <a:latin typeface="百度综艺简体" panose="02010601030101010101" charset="-122"/>
                <a:ea typeface="百度综艺简体" panose="02010601030101010101" charset="-122"/>
              </a:rPr>
              <a:t>a</a:t>
            </a:r>
            <a:r>
              <a:rPr kumimoji="1" lang="en-US" altLang="zh-CN" baseline="-25000" dirty="0" err="1">
                <a:latin typeface="百度综艺简体" panose="02010601030101010101" charset="-122"/>
                <a:ea typeface="百度综艺简体" panose="02010601030101010101" charset="-122"/>
              </a:rPr>
              <a:t>i</a:t>
            </a:r>
            <a:r>
              <a:rPr kumimoji="1" lang="en-US" altLang="zh-CN" dirty="0" err="1">
                <a:latin typeface="百度综艺简体" panose="02010601030101010101" charset="-122"/>
                <a:ea typeface="百度综艺简体" panose="02010601030101010101" charset="-122"/>
              </a:rPr>
              <a:t>∈D</a:t>
            </a:r>
            <a:r>
              <a:rPr kumimoji="1" lang="en-US" altLang="zh-CN" dirty="0">
                <a:latin typeface="百度综艺简体" panose="02010601030101010101" charset="-122"/>
                <a:ea typeface="百度综艺简体" panose="02010601030101010101" charset="-122"/>
              </a:rPr>
              <a:t>,  </a:t>
            </a:r>
            <a:r>
              <a:rPr kumimoji="1" lang="en-US" altLang="zh-CN" dirty="0" err="1">
                <a:latin typeface="百度综艺简体" panose="02010601030101010101" charset="-122"/>
                <a:ea typeface="百度综艺简体" panose="02010601030101010101" charset="-122"/>
              </a:rPr>
              <a:t>i</a:t>
            </a:r>
            <a:r>
              <a:rPr kumimoji="1" lang="en-US" altLang="zh-CN" dirty="0">
                <a:latin typeface="百度综艺简体" panose="02010601030101010101" charset="-122"/>
                <a:ea typeface="百度综艺简体" panose="02010601030101010101" charset="-122"/>
              </a:rPr>
              <a:t>=2,...,n }</a:t>
            </a:r>
          </a:p>
        </p:txBody>
      </p:sp>
      <p:sp>
        <p:nvSpPr>
          <p:cNvPr id="20" name="TextBox 5"/>
          <p:cNvSpPr txBox="1">
            <a:spLocks noChangeArrowheads="1"/>
          </p:cNvSpPr>
          <p:nvPr/>
        </p:nvSpPr>
        <p:spPr bwMode="auto">
          <a:xfrm>
            <a:off x="1268730" y="2631397"/>
            <a:ext cx="1757805" cy="507831"/>
          </a:xfrm>
          <a:prstGeom prst="rect">
            <a:avLst/>
          </a:prstGeom>
          <a:noFill/>
          <a:ln w="9525">
            <a:noFill/>
            <a:miter lim="800000"/>
          </a:ln>
        </p:spPr>
        <p:txBody>
          <a:bodyPr wrap="square">
            <a:spAutoFit/>
          </a:bodyPr>
          <a:lstStyle/>
          <a:p>
            <a:pPr lvl="0" defTabSz="914400" eaLnBrk="0" fontAlgn="base" hangingPunct="0">
              <a:lnSpc>
                <a:spcPct val="150000"/>
              </a:lnSpc>
              <a:spcBef>
                <a:spcPct val="20000"/>
              </a:spcBef>
              <a:spcAft>
                <a:spcPct val="0"/>
              </a:spcAft>
              <a:buClr>
                <a:schemeClr val="hlink"/>
              </a:buClr>
              <a:buSzPct val="50000"/>
              <a:defRPr/>
            </a:pPr>
            <a:r>
              <a:rPr kumimoji="1" lang="zh-CN" altLang="en-US" dirty="0">
                <a:latin typeface="百度综艺简体" panose="02010601030101010101" charset="-122"/>
                <a:ea typeface="百度综艺简体" panose="02010601030101010101" charset="-122"/>
              </a:rPr>
              <a:t>基本操作：</a:t>
            </a:r>
            <a:endParaRPr kumimoji="1" lang="en-US" altLang="zh-CN" dirty="0">
              <a:latin typeface="百度综艺简体" panose="02010601030101010101" charset="-122"/>
              <a:ea typeface="百度综艺简体" panose="02010601030101010101" charset="-122"/>
            </a:endParaRPr>
          </a:p>
        </p:txBody>
      </p:sp>
      <p:sp>
        <p:nvSpPr>
          <p:cNvPr id="23" name="TextBox 5"/>
          <p:cNvSpPr txBox="1">
            <a:spLocks noChangeArrowheads="1"/>
          </p:cNvSpPr>
          <p:nvPr/>
        </p:nvSpPr>
        <p:spPr bwMode="auto">
          <a:xfrm>
            <a:off x="1268729" y="3020434"/>
            <a:ext cx="1757805" cy="507831"/>
          </a:xfrm>
          <a:prstGeom prst="rect">
            <a:avLst/>
          </a:prstGeom>
          <a:noFill/>
          <a:ln w="9525">
            <a:noFill/>
            <a:miter lim="800000"/>
          </a:ln>
        </p:spPr>
        <p:txBody>
          <a:bodyPr wrap="square">
            <a:spAutoFit/>
          </a:bodyPr>
          <a:lstStyle/>
          <a:p>
            <a:pPr lvl="0" defTabSz="914400" eaLnBrk="0" fontAlgn="base" hangingPunct="0">
              <a:lnSpc>
                <a:spcPct val="150000"/>
              </a:lnSpc>
              <a:spcBef>
                <a:spcPct val="20000"/>
              </a:spcBef>
              <a:spcAft>
                <a:spcPct val="0"/>
              </a:spcAft>
              <a:buClr>
                <a:schemeClr val="hlink"/>
              </a:buClr>
              <a:buSzPct val="50000"/>
              <a:defRPr/>
            </a:pPr>
            <a:r>
              <a:rPr kumimoji="1" lang="en-US" altLang="zh-CN" dirty="0">
                <a:latin typeface="百度综艺简体" panose="02010601030101010101" charset="-122"/>
                <a:ea typeface="百度综艺简体" panose="02010601030101010101" charset="-122"/>
              </a:rPr>
              <a:t>{ </a:t>
            </a:r>
            <a:r>
              <a:rPr kumimoji="1" lang="zh-CN" altLang="en-US" dirty="0">
                <a:latin typeface="百度综艺简体" panose="02010601030101010101" charset="-122"/>
                <a:ea typeface="百度综艺简体" panose="02010601030101010101" charset="-122"/>
              </a:rPr>
              <a:t>初始化 </a:t>
            </a:r>
            <a:r>
              <a:rPr kumimoji="1" lang="en-US" altLang="zh-CN" dirty="0">
                <a:latin typeface="百度综艺简体" panose="02010601030101010101" charset="-122"/>
                <a:ea typeface="百度综艺简体" panose="02010601030101010101" charset="-122"/>
              </a:rPr>
              <a:t>}</a:t>
            </a:r>
          </a:p>
        </p:txBody>
      </p:sp>
      <p:sp>
        <p:nvSpPr>
          <p:cNvPr id="24" name="TextBox 5"/>
          <p:cNvSpPr txBox="1">
            <a:spLocks noChangeArrowheads="1"/>
          </p:cNvSpPr>
          <p:nvPr/>
        </p:nvSpPr>
        <p:spPr bwMode="auto">
          <a:xfrm>
            <a:off x="1255332" y="3368193"/>
            <a:ext cx="2376510" cy="507831"/>
          </a:xfrm>
          <a:prstGeom prst="rect">
            <a:avLst/>
          </a:prstGeom>
          <a:noFill/>
          <a:ln w="9525">
            <a:noFill/>
            <a:miter lim="800000"/>
          </a:ln>
        </p:spPr>
        <p:txBody>
          <a:bodyPr wrap="square">
            <a:spAutoFit/>
          </a:bodyPr>
          <a:lstStyle/>
          <a:p>
            <a:pPr lvl="0" defTabSz="914400" eaLnBrk="0" fontAlgn="base" hangingPunct="0">
              <a:lnSpc>
                <a:spcPct val="150000"/>
              </a:lnSpc>
              <a:spcBef>
                <a:spcPct val="20000"/>
              </a:spcBef>
              <a:spcAft>
                <a:spcPct val="0"/>
              </a:spcAft>
              <a:buClr>
                <a:schemeClr val="hlink"/>
              </a:buClr>
              <a:buSzPct val="50000"/>
              <a:defRPr/>
            </a:pPr>
            <a:r>
              <a:rPr kumimoji="1" lang="en-US" altLang="zh-CN" dirty="0" err="1">
                <a:solidFill>
                  <a:srgbClr val="FF0000"/>
                </a:solidFill>
                <a:latin typeface="百度综艺简体" panose="02010601030101010101" charset="-122"/>
                <a:ea typeface="百度综艺简体" panose="02010601030101010101" charset="-122"/>
              </a:rPr>
              <a:t>InitList</a:t>
            </a:r>
            <a:r>
              <a:rPr kumimoji="1" lang="en-US" altLang="zh-CN" dirty="0">
                <a:solidFill>
                  <a:srgbClr val="FF0000"/>
                </a:solidFill>
                <a:latin typeface="百度综艺简体" panose="02010601030101010101" charset="-122"/>
                <a:ea typeface="百度综艺简体" panose="02010601030101010101" charset="-122"/>
              </a:rPr>
              <a:t>( &amp;L )</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1000"/>
                                        <p:tgtEl>
                                          <p:spTgt spid="52"/>
                                        </p:tgtEl>
                                      </p:cBhvr>
                                    </p:animEffect>
                                    <p:anim calcmode="lin" valueType="num">
                                      <p:cBhvr>
                                        <p:cTn id="52" dur="1000" fill="hold"/>
                                        <p:tgtEl>
                                          <p:spTgt spid="52"/>
                                        </p:tgtEl>
                                        <p:attrNameLst>
                                          <p:attrName>ppt_x</p:attrName>
                                        </p:attrNameLst>
                                      </p:cBhvr>
                                      <p:tavLst>
                                        <p:tav tm="0">
                                          <p:val>
                                            <p:strVal val="#ppt_x"/>
                                          </p:val>
                                        </p:tav>
                                        <p:tav tm="100000">
                                          <p:val>
                                            <p:strVal val="#ppt_x"/>
                                          </p:val>
                                        </p:tav>
                                      </p:tavLst>
                                    </p:anim>
                                    <p:anim calcmode="lin" valueType="num">
                                      <p:cBhvr>
                                        <p:cTn id="5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1" presetClass="entr" presetSubtype="0" fill="hold" grpId="0" nodeType="clickEffect">
                                  <p:stCondLst>
                                    <p:cond delay="0"/>
                                  </p:stCondLst>
                                  <p:iterate type="lt">
                                    <p:tmPct val="10000"/>
                                  </p:iterate>
                                  <p:childTnLst>
                                    <p:set>
                                      <p:cBhvr>
                                        <p:cTn id="57" dur="1" fill="hold">
                                          <p:stCondLst>
                                            <p:cond delay="0"/>
                                          </p:stCondLst>
                                        </p:cTn>
                                        <p:tgtEl>
                                          <p:spTgt spid="53"/>
                                        </p:tgtEl>
                                        <p:attrNameLst>
                                          <p:attrName>style.visibility</p:attrName>
                                        </p:attrNameLst>
                                      </p:cBhvr>
                                      <p:to>
                                        <p:strVal val="visible"/>
                                      </p:to>
                                    </p:set>
                                    <p:anim calcmode="lin" valueType="num">
                                      <p:cBhvr>
                                        <p:cTn id="58"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53"/>
                                        </p:tgtEl>
                                        <p:attrNameLst>
                                          <p:attrName>ppt_y</p:attrName>
                                        </p:attrNameLst>
                                      </p:cBhvr>
                                      <p:tavLst>
                                        <p:tav tm="0">
                                          <p:val>
                                            <p:strVal val="#ppt_y"/>
                                          </p:val>
                                        </p:tav>
                                        <p:tav tm="100000">
                                          <p:val>
                                            <p:strVal val="#ppt_y"/>
                                          </p:val>
                                        </p:tav>
                                      </p:tavLst>
                                    </p:anim>
                                    <p:anim calcmode="lin" valueType="num">
                                      <p:cBhvr>
                                        <p:cTn id="60"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53"/>
                                        </p:tgtEl>
                                      </p:cBhvr>
                                    </p:animEffect>
                                  </p:childTnLst>
                                </p:cTn>
                              </p:par>
                            </p:childTnLst>
                          </p:cTn>
                        </p:par>
                      </p:childTnLst>
                    </p:cTn>
                  </p:par>
                  <p:par>
                    <p:cTn id="63" fill="hold">
                      <p:stCondLst>
                        <p:cond delay="indefinite"/>
                      </p:stCondLst>
                      <p:childTnLst>
                        <p:par>
                          <p:cTn id="64" fill="hold">
                            <p:stCondLst>
                              <p:cond delay="0"/>
                            </p:stCondLst>
                            <p:childTnLst>
                              <p:par>
                                <p:cTn id="65" presetID="41" presetClass="entr" presetSubtype="0" fill="hold" grpId="0" nodeType="clickEffect">
                                  <p:stCondLst>
                                    <p:cond delay="0"/>
                                  </p:stCondLst>
                                  <p:iterate type="lt">
                                    <p:tmPct val="10000"/>
                                  </p:iterate>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17"/>
                                        </p:tgtEl>
                                        <p:attrNameLst>
                                          <p:attrName>ppt_y</p:attrName>
                                        </p:attrNameLst>
                                      </p:cBhvr>
                                      <p:tavLst>
                                        <p:tav tm="0">
                                          <p:val>
                                            <p:strVal val="#ppt_y"/>
                                          </p:val>
                                        </p:tav>
                                        <p:tav tm="100000">
                                          <p:val>
                                            <p:strVal val="#ppt_y"/>
                                          </p:val>
                                        </p:tav>
                                      </p:tavLst>
                                    </p:anim>
                                    <p:anim calcmode="lin" valueType="num">
                                      <p:cBhvr>
                                        <p:cTn id="69"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41" presetClass="entr" presetSubtype="0" fill="hold" grpId="0" nodeType="clickEffect">
                                  <p:stCondLst>
                                    <p:cond delay="0"/>
                                  </p:stCondLst>
                                  <p:iterate type="lt">
                                    <p:tmPct val="10000"/>
                                  </p:iterate>
                                  <p:childTnLst>
                                    <p:set>
                                      <p:cBhvr>
                                        <p:cTn id="75" dur="1" fill="hold">
                                          <p:stCondLst>
                                            <p:cond delay="0"/>
                                          </p:stCondLst>
                                        </p:cTn>
                                        <p:tgtEl>
                                          <p:spTgt spid="18"/>
                                        </p:tgtEl>
                                        <p:attrNameLst>
                                          <p:attrName>style.visibility</p:attrName>
                                        </p:attrNameLst>
                                      </p:cBhvr>
                                      <p:to>
                                        <p:strVal val="visible"/>
                                      </p:to>
                                    </p:set>
                                    <p:anim calcmode="lin" valueType="num">
                                      <p:cBhvr>
                                        <p:cTn id="76"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77" dur="500" fill="hold"/>
                                        <p:tgtEl>
                                          <p:spTgt spid="18"/>
                                        </p:tgtEl>
                                        <p:attrNameLst>
                                          <p:attrName>ppt_y</p:attrName>
                                        </p:attrNameLst>
                                      </p:cBhvr>
                                      <p:tavLst>
                                        <p:tav tm="0">
                                          <p:val>
                                            <p:strVal val="#ppt_y"/>
                                          </p:val>
                                        </p:tav>
                                        <p:tav tm="100000">
                                          <p:val>
                                            <p:strVal val="#ppt_y"/>
                                          </p:val>
                                        </p:tav>
                                      </p:tavLst>
                                    </p:anim>
                                    <p:anim calcmode="lin" valueType="num">
                                      <p:cBhvr>
                                        <p:cTn id="78"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9"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80" dur="500" tmFilter="0,0; .5, 1; 1, 1"/>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41" presetClass="entr" presetSubtype="0" fill="hold" grpId="0" nodeType="clickEffect">
                                  <p:stCondLst>
                                    <p:cond delay="0"/>
                                  </p:stCondLst>
                                  <p:iterate type="lt">
                                    <p:tmPct val="10000"/>
                                  </p:iterate>
                                  <p:childTnLst>
                                    <p:set>
                                      <p:cBhvr>
                                        <p:cTn id="84" dur="1" fill="hold">
                                          <p:stCondLst>
                                            <p:cond delay="0"/>
                                          </p:stCondLst>
                                        </p:cTn>
                                        <p:tgtEl>
                                          <p:spTgt spid="20"/>
                                        </p:tgtEl>
                                        <p:attrNameLst>
                                          <p:attrName>style.visibility</p:attrName>
                                        </p:attrNameLst>
                                      </p:cBhvr>
                                      <p:to>
                                        <p:strVal val="visible"/>
                                      </p:to>
                                    </p:set>
                                    <p:anim calcmode="lin" valueType="num">
                                      <p:cBhvr>
                                        <p:cTn id="85"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86" dur="500" fill="hold"/>
                                        <p:tgtEl>
                                          <p:spTgt spid="20"/>
                                        </p:tgtEl>
                                        <p:attrNameLst>
                                          <p:attrName>ppt_y</p:attrName>
                                        </p:attrNameLst>
                                      </p:cBhvr>
                                      <p:tavLst>
                                        <p:tav tm="0">
                                          <p:val>
                                            <p:strVal val="#ppt_y"/>
                                          </p:val>
                                        </p:tav>
                                        <p:tav tm="100000">
                                          <p:val>
                                            <p:strVal val="#ppt_y"/>
                                          </p:val>
                                        </p:tav>
                                      </p:tavLst>
                                    </p:anim>
                                    <p:anim calcmode="lin" valueType="num">
                                      <p:cBhvr>
                                        <p:cTn id="87"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88"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89" dur="500" tmFilter="0,0; .5, 1; 1, 1"/>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41" presetClass="entr" presetSubtype="0" fill="hold" grpId="0" nodeType="clickEffect">
                                  <p:stCondLst>
                                    <p:cond delay="0"/>
                                  </p:stCondLst>
                                  <p:iterate type="lt">
                                    <p:tmPct val="10000"/>
                                  </p:iterate>
                                  <p:childTnLst>
                                    <p:set>
                                      <p:cBhvr>
                                        <p:cTn id="93" dur="1" fill="hold">
                                          <p:stCondLst>
                                            <p:cond delay="0"/>
                                          </p:stCondLst>
                                        </p:cTn>
                                        <p:tgtEl>
                                          <p:spTgt spid="23"/>
                                        </p:tgtEl>
                                        <p:attrNameLst>
                                          <p:attrName>style.visibility</p:attrName>
                                        </p:attrNameLst>
                                      </p:cBhvr>
                                      <p:to>
                                        <p:strVal val="visible"/>
                                      </p:to>
                                    </p:set>
                                    <p:anim calcmode="lin" valueType="num">
                                      <p:cBhvr>
                                        <p:cTn id="94"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95" dur="500" fill="hold"/>
                                        <p:tgtEl>
                                          <p:spTgt spid="23"/>
                                        </p:tgtEl>
                                        <p:attrNameLst>
                                          <p:attrName>ppt_y</p:attrName>
                                        </p:attrNameLst>
                                      </p:cBhvr>
                                      <p:tavLst>
                                        <p:tav tm="0">
                                          <p:val>
                                            <p:strVal val="#ppt_y"/>
                                          </p:val>
                                        </p:tav>
                                        <p:tav tm="100000">
                                          <p:val>
                                            <p:strVal val="#ppt_y"/>
                                          </p:val>
                                        </p:tav>
                                      </p:tavLst>
                                    </p:anim>
                                    <p:anim calcmode="lin" valueType="num">
                                      <p:cBhvr>
                                        <p:cTn id="96"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97"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98" dur="500" tmFilter="0,0; .5, 1; 1, 1"/>
                                        <p:tgtEl>
                                          <p:spTgt spid="23"/>
                                        </p:tgtEl>
                                      </p:cBhvr>
                                    </p:animEffect>
                                  </p:childTnLst>
                                </p:cTn>
                              </p:par>
                            </p:childTnLst>
                          </p:cTn>
                        </p:par>
                      </p:childTnLst>
                    </p:cTn>
                  </p:par>
                  <p:par>
                    <p:cTn id="99" fill="hold">
                      <p:stCondLst>
                        <p:cond delay="indefinite"/>
                      </p:stCondLst>
                      <p:childTnLst>
                        <p:par>
                          <p:cTn id="100" fill="hold">
                            <p:stCondLst>
                              <p:cond delay="0"/>
                            </p:stCondLst>
                            <p:childTnLst>
                              <p:par>
                                <p:cTn id="101" presetID="41" presetClass="entr" presetSubtype="0" fill="hold" grpId="0" nodeType="clickEffect">
                                  <p:stCondLst>
                                    <p:cond delay="0"/>
                                  </p:stCondLst>
                                  <p:iterate type="lt">
                                    <p:tmPct val="10000"/>
                                  </p:iterate>
                                  <p:childTnLst>
                                    <p:set>
                                      <p:cBhvr>
                                        <p:cTn id="102" dur="1" fill="hold">
                                          <p:stCondLst>
                                            <p:cond delay="0"/>
                                          </p:stCondLst>
                                        </p:cTn>
                                        <p:tgtEl>
                                          <p:spTgt spid="24"/>
                                        </p:tgtEl>
                                        <p:attrNameLst>
                                          <p:attrName>style.visibility</p:attrName>
                                        </p:attrNameLst>
                                      </p:cBhvr>
                                      <p:to>
                                        <p:strVal val="visible"/>
                                      </p:to>
                                    </p:set>
                                    <p:anim calcmode="lin" valueType="num">
                                      <p:cBhvr>
                                        <p:cTn id="103"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104" dur="500" fill="hold"/>
                                        <p:tgtEl>
                                          <p:spTgt spid="24"/>
                                        </p:tgtEl>
                                        <p:attrNameLst>
                                          <p:attrName>ppt_y</p:attrName>
                                        </p:attrNameLst>
                                      </p:cBhvr>
                                      <p:tavLst>
                                        <p:tav tm="0">
                                          <p:val>
                                            <p:strVal val="#ppt_y"/>
                                          </p:val>
                                        </p:tav>
                                        <p:tav tm="100000">
                                          <p:val>
                                            <p:strVal val="#ppt_y"/>
                                          </p:val>
                                        </p:tav>
                                      </p:tavLst>
                                    </p:anim>
                                    <p:anim calcmode="lin" valueType="num">
                                      <p:cBhvr>
                                        <p:cTn id="105"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6"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07" dur="500" tmFilter="0,0; .5, 1; 1, 1"/>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52" grpId="0"/>
      <p:bldP spid="53" grpId="0" autoUpdateAnimBg="0"/>
      <p:bldP spid="17" grpId="0" autoUpdateAnimBg="0"/>
      <p:bldP spid="18" grpId="0" autoUpdateAnimBg="0"/>
      <p:bldP spid="20" grpId="0" autoUpdateAnimBg="0"/>
      <p:bldP spid="23" grpId="0" autoUpdateAnimBg="0"/>
      <p:bldP spid="2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763193"/>
            <a:ext cx="7277822" cy="463012"/>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结构销毁 </a:t>
            </a:r>
            <a:r>
              <a:rPr lang="en-US" altLang="zh-CN" dirty="0">
                <a:latin typeface="百度综艺简体" panose="02010601030101010101" charset="-122"/>
                <a:ea typeface="百度综艺简体" panose="02010601030101010101" charset="-122"/>
              </a:rPr>
              <a:t>}</a:t>
            </a:r>
            <a:endParaRPr lang="zh-CN" altLang="en-US" dirty="0">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28" name="Rectangle 3"/>
          <p:cNvSpPr>
            <a:spLocks noGrp="1"/>
          </p:cNvSpPr>
          <p:nvPr/>
        </p:nvSpPr>
        <p:spPr>
          <a:xfrm>
            <a:off x="1655830" y="1226205"/>
            <a:ext cx="5187561" cy="3565313"/>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SzPct val="100000"/>
              <a:buNone/>
            </a:pPr>
            <a:r>
              <a:rPr lang="en-US" altLang="zh-CN" sz="1600" dirty="0" err="1" smtClean="0">
                <a:solidFill>
                  <a:srgbClr val="FF0000"/>
                </a:solidFill>
                <a:latin typeface="百度综艺简体" panose="02010601030101010101" charset="-122"/>
                <a:ea typeface="百度综艺简体" panose="02010601030101010101" charset="-122"/>
              </a:rPr>
              <a:t>DestroyList</a:t>
            </a:r>
            <a:r>
              <a:rPr lang="en-US" altLang="zh-CN" sz="1600" dirty="0">
                <a:solidFill>
                  <a:srgbClr val="FF0000"/>
                </a:solidFill>
                <a:latin typeface="百度综艺简体" panose="02010601030101010101" charset="-122"/>
                <a:ea typeface="百度综艺简体" panose="02010601030101010101" charset="-122"/>
              </a:rPr>
              <a:t>( &amp;L )</a:t>
            </a:r>
          </a:p>
          <a:p>
            <a:pPr marL="0" indent="0">
              <a:buNone/>
            </a:pPr>
            <a:r>
              <a:rPr lang="zh-CN" altLang="en-US" sz="1600" dirty="0" smtClean="0">
                <a:latin typeface="百度综艺简体" panose="02010601030101010101" charset="-122"/>
                <a:ea typeface="百度综艺简体" panose="02010601030101010101" charset="-122"/>
              </a:rPr>
              <a:t>初始条件</a:t>
            </a:r>
            <a:r>
              <a:rPr lang="zh-CN" altLang="en-US" sz="1600" dirty="0">
                <a:latin typeface="百度综艺简体" panose="02010601030101010101" charset="-122"/>
                <a:ea typeface="百度综艺简体" panose="02010601030101010101" charset="-122"/>
              </a:rPr>
              <a:t>：线性表</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已存在</a:t>
            </a:r>
            <a:r>
              <a:rPr lang="zh-CN" altLang="en-US" sz="1600" dirty="0" smtClean="0">
                <a:latin typeface="百度综艺简体" panose="02010601030101010101" charset="-122"/>
                <a:ea typeface="百度综艺简体" panose="02010601030101010101" charset="-122"/>
              </a:rPr>
              <a:t>。</a:t>
            </a:r>
            <a:endParaRPr lang="en-US" altLang="zh-CN" sz="1600" dirty="0" smtClean="0">
              <a:latin typeface="百度综艺简体" panose="02010601030101010101" charset="-122"/>
              <a:ea typeface="百度综艺简体" panose="02010601030101010101" charset="-122"/>
            </a:endParaRPr>
          </a:p>
          <a:p>
            <a:pPr marL="0" indent="0">
              <a:buNone/>
            </a:pPr>
            <a:r>
              <a:rPr lang="zh-CN" altLang="en-US" sz="1600" dirty="0" smtClean="0">
                <a:latin typeface="百度综艺简体" panose="02010601030101010101" charset="-122"/>
                <a:ea typeface="百度综艺简体" panose="02010601030101010101" charset="-122"/>
              </a:rPr>
              <a:t>操作</a:t>
            </a:r>
            <a:r>
              <a:rPr lang="zh-CN" altLang="en-US" sz="1600" dirty="0">
                <a:latin typeface="百度综艺简体" panose="02010601030101010101" charset="-122"/>
                <a:ea typeface="百度综艺简体" panose="02010601030101010101" charset="-122"/>
              </a:rPr>
              <a:t>结果：销毁线性表</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a:t>
            </a:r>
          </a:p>
          <a:p>
            <a:pPr marL="0" indent="0">
              <a:buNone/>
            </a:pPr>
            <a:endParaRPr lang="en-US" altLang="zh-CN" sz="1600" dirty="0" smtClean="0">
              <a:solidFill>
                <a:srgbClr val="FF0000"/>
              </a:solidFill>
              <a:latin typeface="百度综艺简体" panose="02010601030101010101" charset="-122"/>
              <a:ea typeface="百度综艺简体" panose="02010601030101010101" charset="-122"/>
            </a:endParaRPr>
          </a:p>
        </p:txBody>
      </p:sp>
      <p:sp>
        <p:nvSpPr>
          <p:cNvPr id="29" name="TextBox 5"/>
          <p:cNvSpPr txBox="1">
            <a:spLocks noChangeArrowheads="1"/>
          </p:cNvSpPr>
          <p:nvPr/>
        </p:nvSpPr>
        <p:spPr bwMode="auto">
          <a:xfrm>
            <a:off x="828620" y="2322584"/>
            <a:ext cx="7277822" cy="369332"/>
          </a:xfrm>
          <a:prstGeom prst="rect">
            <a:avLst/>
          </a:prstGeom>
          <a:noFill/>
          <a:ln w="9525">
            <a:noFill/>
            <a:miter lim="800000"/>
          </a:ln>
        </p:spPr>
        <p:txBody>
          <a:bodyPr wrap="square">
            <a:spAutoFit/>
          </a:bodyPr>
          <a:lstStyle/>
          <a:p>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引用型操作 </a:t>
            </a:r>
            <a:r>
              <a:rPr lang="en-US" altLang="zh-CN" dirty="0">
                <a:latin typeface="百度综艺简体" panose="02010601030101010101" charset="-122"/>
                <a:ea typeface="百度综艺简体" panose="02010601030101010101" charset="-122"/>
              </a:rPr>
              <a:t>}</a:t>
            </a:r>
          </a:p>
        </p:txBody>
      </p:sp>
      <p:sp>
        <p:nvSpPr>
          <p:cNvPr id="30" name="Rectangle 3"/>
          <p:cNvSpPr>
            <a:spLocks noGrp="1"/>
          </p:cNvSpPr>
          <p:nvPr/>
        </p:nvSpPr>
        <p:spPr>
          <a:xfrm>
            <a:off x="1655830" y="2385123"/>
            <a:ext cx="5187561" cy="2148241"/>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1600" b="1" dirty="0" smtClean="0">
              <a:solidFill>
                <a:srgbClr val="FF0000"/>
              </a:solidFill>
              <a:latin typeface="百度综艺简体" panose="02010601030101010101" charset="-122"/>
              <a:ea typeface="百度综艺简体" panose="02010601030101010101" charset="-122"/>
            </a:endParaRPr>
          </a:p>
          <a:p>
            <a:pPr marL="0" indent="0">
              <a:buNone/>
            </a:pPr>
            <a:r>
              <a:rPr lang="en-US" altLang="zh-CN" sz="1600" b="1" dirty="0" err="1" smtClean="0">
                <a:solidFill>
                  <a:srgbClr val="FF0000"/>
                </a:solidFill>
                <a:latin typeface="百度综艺简体" panose="02010601030101010101" charset="-122"/>
                <a:ea typeface="百度综艺简体" panose="02010601030101010101" charset="-122"/>
              </a:rPr>
              <a:t>ListEmpty</a:t>
            </a:r>
            <a:r>
              <a:rPr lang="en-US" altLang="zh-CN" sz="1600" b="1" dirty="0" smtClean="0">
                <a:solidFill>
                  <a:srgbClr val="FF0000"/>
                </a:solidFill>
                <a:latin typeface="百度综艺简体" panose="02010601030101010101" charset="-122"/>
                <a:ea typeface="百度综艺简体" panose="02010601030101010101" charset="-122"/>
              </a:rPr>
              <a:t>( L )</a:t>
            </a:r>
          </a:p>
          <a:p>
            <a:pPr marL="0" indent="0">
              <a:buNone/>
            </a:pPr>
            <a:r>
              <a:rPr lang="zh-CN" altLang="en-US" sz="1600" b="1" dirty="0" smtClean="0">
                <a:latin typeface="百度综艺简体" panose="02010601030101010101" charset="-122"/>
                <a:ea typeface="百度综艺简体" panose="02010601030101010101" charset="-122"/>
              </a:rPr>
              <a:t>初始条件：线性表</a:t>
            </a:r>
            <a:r>
              <a:rPr lang="en-US" altLang="zh-CN" sz="1600" b="1" dirty="0" smtClean="0">
                <a:latin typeface="百度综艺简体" panose="02010601030101010101" charset="-122"/>
                <a:ea typeface="百度综艺简体" panose="02010601030101010101" charset="-122"/>
              </a:rPr>
              <a:t>L</a:t>
            </a:r>
            <a:r>
              <a:rPr lang="zh-CN" altLang="en-US" sz="1600" b="1" dirty="0" smtClean="0">
                <a:latin typeface="百度综艺简体" panose="02010601030101010101" charset="-122"/>
                <a:ea typeface="百度综艺简体" panose="02010601030101010101" charset="-122"/>
              </a:rPr>
              <a:t>已存在。</a:t>
            </a:r>
            <a:endParaRPr lang="en-US" altLang="zh-CN" sz="1600" b="1" dirty="0" smtClean="0">
              <a:latin typeface="百度综艺简体" panose="02010601030101010101" charset="-122"/>
              <a:ea typeface="百度综艺简体" panose="02010601030101010101" charset="-122"/>
            </a:endParaRPr>
          </a:p>
          <a:p>
            <a:pPr marL="0" indent="0">
              <a:buNone/>
            </a:pPr>
            <a:r>
              <a:rPr lang="zh-CN" altLang="en-US" sz="1600" b="1" dirty="0" smtClean="0">
                <a:latin typeface="百度综艺简体" panose="02010601030101010101" charset="-122"/>
                <a:ea typeface="百度综艺简体" panose="02010601030101010101" charset="-122"/>
              </a:rPr>
              <a:t>操作结果：若</a:t>
            </a:r>
            <a:r>
              <a:rPr lang="en-US" altLang="zh-CN" sz="1600" b="1" dirty="0" smtClean="0">
                <a:latin typeface="百度综艺简体" panose="02010601030101010101" charset="-122"/>
                <a:ea typeface="百度综艺简体" panose="02010601030101010101" charset="-122"/>
              </a:rPr>
              <a:t>L</a:t>
            </a:r>
            <a:r>
              <a:rPr lang="zh-CN" altLang="en-US" sz="1600" b="1" dirty="0" smtClean="0">
                <a:latin typeface="百度综艺简体" panose="02010601030101010101" charset="-122"/>
                <a:ea typeface="百度综艺简体" panose="02010601030101010101" charset="-122"/>
              </a:rPr>
              <a:t>为空表，则返回</a:t>
            </a:r>
            <a:r>
              <a:rPr lang="en-US" altLang="zh-CN" sz="1600" b="1" dirty="0" smtClean="0">
                <a:latin typeface="百度综艺简体" panose="02010601030101010101" charset="-122"/>
                <a:ea typeface="百度综艺简体" panose="02010601030101010101" charset="-122"/>
              </a:rPr>
              <a:t>TRUE</a:t>
            </a:r>
            <a:r>
              <a:rPr lang="zh-CN" altLang="en-US" sz="1600" b="1" dirty="0" smtClean="0">
                <a:latin typeface="百度综艺简体" panose="02010601030101010101" charset="-122"/>
                <a:ea typeface="百度综艺简体" panose="02010601030101010101" charset="-122"/>
              </a:rPr>
              <a:t>，否则</a:t>
            </a:r>
            <a:r>
              <a:rPr lang="en-US" altLang="zh-CN" sz="1600" b="1" dirty="0" smtClean="0">
                <a:latin typeface="百度综艺简体" panose="02010601030101010101" charset="-122"/>
                <a:ea typeface="百度综艺简体" panose="02010601030101010101" charset="-122"/>
              </a:rPr>
              <a:t>FALSE</a:t>
            </a:r>
            <a:r>
              <a:rPr lang="zh-CN" altLang="en-US" sz="1600" b="1" dirty="0" smtClean="0">
                <a:latin typeface="百度综艺简体" panose="02010601030101010101" charset="-122"/>
                <a:ea typeface="百度综艺简体" panose="02010601030101010101" charset="-122"/>
              </a:rPr>
              <a:t>。</a:t>
            </a:r>
          </a:p>
          <a:p>
            <a:pPr marL="0" indent="0">
              <a:buNone/>
            </a:pPr>
            <a:r>
              <a:rPr lang="zh-CN" altLang="en-US" sz="1600" b="1" dirty="0" smtClean="0">
                <a:solidFill>
                  <a:srgbClr val="FF0000"/>
                </a:solidFill>
                <a:latin typeface="百度综艺简体" panose="02010601030101010101" charset="-122"/>
                <a:ea typeface="百度综艺简体" panose="02010601030101010101" charset="-122"/>
              </a:rPr>
              <a:t> </a:t>
            </a:r>
            <a:r>
              <a:rPr lang="en-US" altLang="zh-CN" sz="1600" b="1" dirty="0" err="1" smtClean="0">
                <a:solidFill>
                  <a:srgbClr val="FF0000"/>
                </a:solidFill>
                <a:latin typeface="百度综艺简体" panose="02010601030101010101" charset="-122"/>
                <a:ea typeface="百度综艺简体" panose="02010601030101010101" charset="-122"/>
              </a:rPr>
              <a:t>ListLength</a:t>
            </a:r>
            <a:r>
              <a:rPr lang="en-US" altLang="zh-CN" sz="1600" b="1" dirty="0" smtClean="0">
                <a:solidFill>
                  <a:srgbClr val="FF0000"/>
                </a:solidFill>
                <a:latin typeface="百度综艺简体" panose="02010601030101010101" charset="-122"/>
                <a:ea typeface="百度综艺简体" panose="02010601030101010101" charset="-122"/>
              </a:rPr>
              <a:t>( L )</a:t>
            </a:r>
          </a:p>
          <a:p>
            <a:pPr marL="0" indent="0">
              <a:buNone/>
            </a:pPr>
            <a:r>
              <a:rPr lang="zh-CN" altLang="en-US" sz="1600" b="1" dirty="0" smtClean="0">
                <a:latin typeface="百度综艺简体" panose="02010601030101010101" charset="-122"/>
                <a:ea typeface="百度综艺简体" panose="02010601030101010101" charset="-122"/>
              </a:rPr>
              <a:t>初始条件：线性表</a:t>
            </a:r>
            <a:r>
              <a:rPr lang="en-US" altLang="zh-CN" sz="1600" b="1" dirty="0" smtClean="0">
                <a:latin typeface="百度综艺简体" panose="02010601030101010101" charset="-122"/>
                <a:ea typeface="百度综艺简体" panose="02010601030101010101" charset="-122"/>
              </a:rPr>
              <a:t>L</a:t>
            </a:r>
            <a:r>
              <a:rPr lang="zh-CN" altLang="en-US" sz="1600" b="1" dirty="0" smtClean="0">
                <a:latin typeface="百度综艺简体" panose="02010601030101010101" charset="-122"/>
                <a:ea typeface="百度综艺简体" panose="02010601030101010101" charset="-122"/>
              </a:rPr>
              <a:t>已存在。</a:t>
            </a:r>
          </a:p>
          <a:p>
            <a:pPr marL="0" indent="0">
              <a:buNone/>
            </a:pPr>
            <a:r>
              <a:rPr lang="zh-CN" altLang="en-US" sz="1600" b="1" dirty="0" smtClean="0">
                <a:latin typeface="百度综艺简体" panose="02010601030101010101" charset="-122"/>
                <a:ea typeface="百度综艺简体" panose="02010601030101010101" charset="-122"/>
              </a:rPr>
              <a:t>操作结果：返回</a:t>
            </a:r>
            <a:r>
              <a:rPr lang="en-US" altLang="zh-CN" sz="1600" b="1" dirty="0" smtClean="0">
                <a:latin typeface="百度综艺简体" panose="02010601030101010101" charset="-122"/>
                <a:ea typeface="百度综艺简体" panose="02010601030101010101" charset="-122"/>
              </a:rPr>
              <a:t>L</a:t>
            </a:r>
            <a:r>
              <a:rPr lang="zh-CN" altLang="en-US" sz="1600" b="1" dirty="0" smtClean="0">
                <a:latin typeface="百度综艺简体" panose="02010601030101010101" charset="-122"/>
                <a:ea typeface="百度综艺简体" panose="02010601030101010101" charset="-122"/>
              </a:rPr>
              <a:t>中元素个数。</a:t>
            </a:r>
            <a:endParaRPr lang="zh-CN" altLang="en-US" sz="1600" b="1"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41" presetClass="entr" presetSubtype="0" fill="hold" grpId="0" nodeType="clickEffect">
                                  <p:stCondLst>
                                    <p:cond delay="0"/>
                                  </p:stCondLst>
                                  <p:iterate type="lt">
                                    <p:tmPct val="10000"/>
                                  </p:iterate>
                                  <p:childTnLst>
                                    <p:set>
                                      <p:cBhvr>
                                        <p:cTn id="50" dur="1" fill="hold">
                                          <p:stCondLst>
                                            <p:cond delay="0"/>
                                          </p:stCondLst>
                                        </p:cTn>
                                        <p:tgtEl>
                                          <p:spTgt spid="29"/>
                                        </p:tgtEl>
                                        <p:attrNameLst>
                                          <p:attrName>style.visibility</p:attrName>
                                        </p:attrNameLst>
                                      </p:cBhvr>
                                      <p:to>
                                        <p:strVal val="visible"/>
                                      </p:to>
                                    </p:set>
                                    <p:anim calcmode="lin" valueType="num">
                                      <p:cBhvr>
                                        <p:cTn id="51"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29"/>
                                        </p:tgtEl>
                                        <p:attrNameLst>
                                          <p:attrName>ppt_y</p:attrName>
                                        </p:attrNameLst>
                                      </p:cBhvr>
                                      <p:tavLst>
                                        <p:tav tm="0">
                                          <p:val>
                                            <p:strVal val="#ppt_y"/>
                                          </p:val>
                                        </p:tav>
                                        <p:tav tm="100000">
                                          <p:val>
                                            <p:strVal val="#ppt_y"/>
                                          </p:val>
                                        </p:tav>
                                      </p:tavLst>
                                    </p:anim>
                                    <p:anim calcmode="lin" valueType="num">
                                      <p:cBhvr>
                                        <p:cTn id="53"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p:bldP spid="2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17" name="Rectangle 3"/>
          <p:cNvSpPr>
            <a:spLocks noGrp="1"/>
          </p:cNvSpPr>
          <p:nvPr/>
        </p:nvSpPr>
        <p:spPr>
          <a:xfrm>
            <a:off x="1261745" y="979170"/>
            <a:ext cx="7079615" cy="4159885"/>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800" dirty="0" err="1" smtClean="0">
                <a:solidFill>
                  <a:srgbClr val="FF3300"/>
                </a:solidFill>
                <a:latin typeface="百度综艺简体" panose="02010601030101010101" charset="-122"/>
                <a:ea typeface="百度综艺简体" panose="02010601030101010101" charset="-122"/>
              </a:rPr>
              <a:t>GetElem</a:t>
            </a:r>
            <a:r>
              <a:rPr lang="en-US" altLang="zh-CN" sz="1800" dirty="0">
                <a:solidFill>
                  <a:srgbClr val="FF3300"/>
                </a:solidFill>
                <a:latin typeface="百度综艺简体" panose="02010601030101010101" charset="-122"/>
                <a:ea typeface="百度综艺简体" panose="02010601030101010101" charset="-122"/>
              </a:rPr>
              <a:t>( L, i, &amp;e )</a:t>
            </a:r>
          </a:p>
          <a:p>
            <a:pPr marL="0" indent="0">
              <a:lnSpc>
                <a:spcPct val="150000"/>
              </a:lnSpc>
              <a:buNone/>
            </a:pPr>
            <a:r>
              <a:rPr lang="zh-CN" altLang="en-US" sz="1800" dirty="0" smtClean="0">
                <a:latin typeface="百度综艺简体" panose="02010601030101010101" charset="-122"/>
                <a:ea typeface="百度综艺简体" panose="02010601030101010101" charset="-122"/>
              </a:rPr>
              <a:t>初始条件</a:t>
            </a:r>
            <a:r>
              <a:rPr lang="zh-CN" altLang="en-US" sz="1800" dirty="0">
                <a:latin typeface="百度综艺简体" panose="02010601030101010101" charset="-122"/>
                <a:ea typeface="百度综艺简体" panose="02010601030101010101" charset="-122"/>
              </a:rPr>
              <a:t>：线性表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已存在</a:t>
            </a:r>
            <a:r>
              <a:rPr lang="zh-CN" altLang="en-US" sz="1800" dirty="0" smtClean="0">
                <a:latin typeface="百度综艺简体" panose="02010601030101010101" charset="-122"/>
                <a:ea typeface="百度综艺简体" panose="02010601030101010101" charset="-122"/>
              </a:rPr>
              <a:t>，</a:t>
            </a:r>
            <a:r>
              <a:rPr lang="en-US" altLang="zh-CN" sz="1800" dirty="0" smtClean="0">
                <a:latin typeface="百度综艺简体" panose="02010601030101010101" charset="-122"/>
                <a:ea typeface="百度综艺简体" panose="02010601030101010101" charset="-122"/>
              </a:rPr>
              <a:t>1</a:t>
            </a:r>
            <a:r>
              <a:rPr lang="en-US" altLang="zh-CN" sz="1800" dirty="0">
                <a:latin typeface="百度综艺简体" panose="02010601030101010101" charset="-122"/>
                <a:ea typeface="百度综艺简体" panose="02010601030101010101" charset="-122"/>
              </a:rPr>
              <a:t>≤i≤LengthList(L)</a:t>
            </a:r>
          </a:p>
          <a:p>
            <a:pPr marL="0" indent="0">
              <a:lnSpc>
                <a:spcPct val="150000"/>
              </a:lnSpc>
              <a:buNone/>
            </a:pPr>
            <a:r>
              <a:rPr lang="zh-CN" altLang="en-US" sz="1800" dirty="0" smtClean="0">
                <a:latin typeface="百度综艺简体" panose="02010601030101010101" charset="-122"/>
                <a:ea typeface="百度综艺简体" panose="02010601030101010101" charset="-122"/>
              </a:rPr>
              <a:t>操作</a:t>
            </a:r>
            <a:r>
              <a:rPr lang="zh-CN" altLang="en-US" sz="1800" dirty="0">
                <a:latin typeface="百度综艺简体" panose="02010601030101010101" charset="-122"/>
                <a:ea typeface="百度综艺简体" panose="02010601030101010101" charset="-122"/>
              </a:rPr>
              <a:t>结果：用</a:t>
            </a:r>
            <a:r>
              <a:rPr lang="en-US" altLang="zh-CN" sz="1800" dirty="0">
                <a:latin typeface="百度综艺简体" panose="02010601030101010101" charset="-122"/>
                <a:ea typeface="百度综艺简体" panose="02010601030101010101" charset="-122"/>
              </a:rPr>
              <a:t>e</a:t>
            </a:r>
            <a:r>
              <a:rPr lang="zh-CN" altLang="en-US" sz="1800" dirty="0">
                <a:latin typeface="百度综艺简体" panose="02010601030101010101" charset="-122"/>
                <a:ea typeface="百度综艺简体" panose="02010601030101010101" charset="-122"/>
              </a:rPr>
              <a:t>返回</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中第</a:t>
            </a:r>
            <a:r>
              <a:rPr lang="en-US" altLang="zh-CN" sz="1800" dirty="0">
                <a:latin typeface="百度综艺简体" panose="02010601030101010101" charset="-122"/>
                <a:ea typeface="百度综艺简体" panose="02010601030101010101" charset="-122"/>
              </a:rPr>
              <a:t>i</a:t>
            </a:r>
            <a:r>
              <a:rPr lang="zh-CN" altLang="en-US" sz="1800" dirty="0">
                <a:latin typeface="百度综艺简体" panose="02010601030101010101" charset="-122"/>
                <a:ea typeface="百度综艺简体" panose="02010601030101010101" charset="-122"/>
              </a:rPr>
              <a:t>个元素的值。</a:t>
            </a:r>
          </a:p>
          <a:p>
            <a:pPr marL="0" indent="0">
              <a:lnSpc>
                <a:spcPct val="150000"/>
              </a:lnSpc>
              <a:buNone/>
            </a:pPr>
            <a:r>
              <a:rPr lang="en-US" altLang="zh-CN" sz="1800" dirty="0" err="1" smtClean="0">
                <a:solidFill>
                  <a:srgbClr val="FF3300"/>
                </a:solidFill>
                <a:latin typeface="百度综艺简体" panose="02010601030101010101" charset="-122"/>
                <a:ea typeface="百度综艺简体" panose="02010601030101010101" charset="-122"/>
              </a:rPr>
              <a:t>LocateElem</a:t>
            </a:r>
            <a:r>
              <a:rPr lang="en-US" altLang="zh-CN" sz="1800" dirty="0">
                <a:solidFill>
                  <a:srgbClr val="FF3300"/>
                </a:solidFill>
                <a:latin typeface="百度综艺简体" panose="02010601030101010101" charset="-122"/>
                <a:ea typeface="百度综艺简体" panose="02010601030101010101" charset="-122"/>
              </a:rPr>
              <a:t>( L, e, compare( ) )</a:t>
            </a:r>
          </a:p>
          <a:p>
            <a:pPr marL="0" indent="0">
              <a:lnSpc>
                <a:spcPct val="150000"/>
              </a:lnSpc>
              <a:buNone/>
            </a:pPr>
            <a:r>
              <a:rPr lang="zh-CN" altLang="en-US" sz="1800" dirty="0" smtClean="0">
                <a:latin typeface="百度综艺简体" panose="02010601030101010101" charset="-122"/>
                <a:ea typeface="百度综艺简体" panose="02010601030101010101" charset="-122"/>
              </a:rPr>
              <a:t>初始条件</a:t>
            </a:r>
            <a:r>
              <a:rPr lang="zh-CN" altLang="en-US" sz="1800" dirty="0">
                <a:latin typeface="百度综艺简体" panose="02010601030101010101" charset="-122"/>
                <a:ea typeface="百度综艺简体" panose="02010601030101010101" charset="-122"/>
              </a:rPr>
              <a:t>：线性表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已存在，</a:t>
            </a:r>
            <a:r>
              <a:rPr lang="en-US" altLang="zh-CN" sz="1800" dirty="0">
                <a:latin typeface="百度综艺简体" panose="02010601030101010101" charset="-122"/>
                <a:ea typeface="百度综艺简体" panose="02010601030101010101" charset="-122"/>
              </a:rPr>
              <a:t>compare( </a:t>
            </a:r>
            <a:r>
              <a:rPr lang="en-US" altLang="zh-CN" sz="1800" dirty="0" smtClean="0">
                <a:latin typeface="百度综艺简体" panose="02010601030101010101" charset="-122"/>
                <a:ea typeface="百度综艺简体" panose="02010601030101010101" charset="-122"/>
              </a:rPr>
              <a:t>) </a:t>
            </a:r>
            <a:r>
              <a:rPr lang="zh-CN" altLang="en-US" sz="1800" dirty="0" smtClean="0">
                <a:latin typeface="百度综艺简体" panose="02010601030101010101" charset="-122"/>
                <a:ea typeface="百度综艺简体" panose="02010601030101010101" charset="-122"/>
              </a:rPr>
              <a:t>是</a:t>
            </a:r>
            <a:r>
              <a:rPr lang="zh-CN" altLang="en-US" sz="1800" dirty="0">
                <a:latin typeface="百度综艺简体" panose="02010601030101010101" charset="-122"/>
                <a:ea typeface="百度综艺简体" panose="02010601030101010101" charset="-122"/>
              </a:rPr>
              <a:t>元素判定函数。</a:t>
            </a:r>
          </a:p>
          <a:p>
            <a:pPr marL="0" indent="0">
              <a:lnSpc>
                <a:spcPct val="150000"/>
              </a:lnSpc>
              <a:buNone/>
            </a:pPr>
            <a:r>
              <a:rPr lang="zh-CN" altLang="en-US" sz="1800" dirty="0" smtClean="0">
                <a:latin typeface="百度综艺简体" panose="02010601030101010101" charset="-122"/>
                <a:ea typeface="百度综艺简体" panose="02010601030101010101" charset="-122"/>
              </a:rPr>
              <a:t>操作结果</a:t>
            </a:r>
            <a:r>
              <a:rPr lang="zh-CN" altLang="en-US" sz="1800" dirty="0">
                <a:latin typeface="百度综艺简体" panose="02010601030101010101" charset="-122"/>
                <a:ea typeface="百度综艺简体" panose="02010601030101010101" charset="-122"/>
              </a:rPr>
              <a:t>：返回</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中第</a:t>
            </a:r>
            <a:r>
              <a:rPr lang="en-US" altLang="zh-CN" sz="1800" dirty="0">
                <a:latin typeface="百度综艺简体" panose="02010601030101010101" charset="-122"/>
                <a:ea typeface="百度综艺简体" panose="02010601030101010101" charset="-122"/>
              </a:rPr>
              <a:t>1</a:t>
            </a:r>
            <a:r>
              <a:rPr lang="zh-CN" altLang="en-US" sz="1800" dirty="0">
                <a:latin typeface="百度综艺简体" panose="02010601030101010101" charset="-122"/>
                <a:ea typeface="百度综艺简体" panose="02010601030101010101" charset="-122"/>
              </a:rPr>
              <a:t>个与</a:t>
            </a:r>
            <a:r>
              <a:rPr lang="en-US" altLang="zh-CN" sz="1800" dirty="0">
                <a:latin typeface="百度综艺简体" panose="02010601030101010101" charset="-122"/>
                <a:ea typeface="百度综艺简体" panose="02010601030101010101" charset="-122"/>
              </a:rPr>
              <a:t>e</a:t>
            </a:r>
            <a:r>
              <a:rPr lang="zh-CN" altLang="en-US" sz="1800" dirty="0">
                <a:latin typeface="百度综艺简体" panose="02010601030101010101" charset="-122"/>
                <a:ea typeface="百度综艺简体" panose="02010601030101010101" charset="-122"/>
              </a:rPr>
              <a:t>满足关系</a:t>
            </a:r>
          </a:p>
          <a:p>
            <a:pPr marL="0" indent="0">
              <a:lnSpc>
                <a:spcPct val="150000"/>
              </a:lnSpc>
              <a:buNone/>
            </a:pPr>
            <a:r>
              <a:rPr lang="en-US" altLang="zh-CN" sz="1800" dirty="0" smtClean="0">
                <a:latin typeface="百度综艺简体" panose="02010601030101010101" charset="-122"/>
                <a:ea typeface="百度综艺简体" panose="02010601030101010101" charset="-122"/>
              </a:rPr>
              <a:t>compare</a:t>
            </a:r>
            <a:r>
              <a:rPr lang="en-US" altLang="zh-CN" sz="1800" dirty="0">
                <a:latin typeface="百度综艺简体" panose="02010601030101010101" charset="-122"/>
                <a:ea typeface="百度综艺简体" panose="02010601030101010101" charset="-122"/>
              </a:rPr>
              <a:t>( )</a:t>
            </a:r>
            <a:r>
              <a:rPr lang="zh-CN" altLang="en-US" sz="1800" dirty="0">
                <a:latin typeface="百度综艺简体" panose="02010601030101010101" charset="-122"/>
                <a:ea typeface="百度综艺简体" panose="02010601030101010101" charset="-122"/>
              </a:rPr>
              <a:t>的元素的位序。若这样的</a:t>
            </a:r>
            <a:r>
              <a:rPr lang="zh-CN" altLang="en-US" sz="1800" dirty="0" smtClean="0">
                <a:latin typeface="百度综艺简体" panose="02010601030101010101" charset="-122"/>
                <a:ea typeface="百度综艺简体" panose="02010601030101010101" charset="-122"/>
              </a:rPr>
              <a:t>元素</a:t>
            </a:r>
            <a:r>
              <a:rPr lang="zh-CN" altLang="en-US" sz="1800" dirty="0">
                <a:latin typeface="百度综艺简体" panose="02010601030101010101" charset="-122"/>
                <a:ea typeface="百度综艺简体" panose="02010601030101010101" charset="-122"/>
              </a:rPr>
              <a:t>不存在，则返回值为</a:t>
            </a:r>
            <a:r>
              <a:rPr lang="en-US" altLang="zh-CN" sz="1800" dirty="0">
                <a:latin typeface="百度综艺简体" panose="02010601030101010101" charset="-122"/>
                <a:ea typeface="百度综艺简体" panose="02010601030101010101" charset="-122"/>
              </a:rPr>
              <a:t>0</a:t>
            </a:r>
            <a:r>
              <a:rPr lang="zh-CN" altLang="en-US" sz="1800" dirty="0">
                <a:latin typeface="百度综艺简体" panose="02010601030101010101" charset="-122"/>
                <a:ea typeface="百度综艺简体" panose="02010601030101010101" charset="-122"/>
              </a:rPr>
              <a:t>。</a:t>
            </a:r>
          </a:p>
          <a:p>
            <a:pPr marL="0" indent="0">
              <a:lnSpc>
                <a:spcPct val="150000"/>
              </a:lnSpc>
              <a:buNone/>
            </a:pPr>
            <a:r>
              <a:rPr lang="en-US" altLang="zh-CN" sz="1800" dirty="0" err="1" smtClean="0">
                <a:solidFill>
                  <a:srgbClr val="FF3300"/>
                </a:solidFill>
                <a:latin typeface="百度综艺简体" panose="02010601030101010101" charset="-122"/>
                <a:ea typeface="百度综艺简体" panose="02010601030101010101" charset="-122"/>
              </a:rPr>
              <a:t>PriorElem</a:t>
            </a:r>
            <a:r>
              <a:rPr lang="en-US" altLang="zh-CN" sz="1800" dirty="0">
                <a:solidFill>
                  <a:srgbClr val="FF3300"/>
                </a:solidFill>
                <a:latin typeface="百度综艺简体" panose="02010601030101010101" charset="-122"/>
                <a:ea typeface="百度综艺简体" panose="02010601030101010101" charset="-122"/>
              </a:rPr>
              <a:t>( L, cur_e, &amp;pre_e )</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12" name="Rectangle 3"/>
          <p:cNvSpPr>
            <a:spLocks noGrp="1"/>
          </p:cNvSpPr>
          <p:nvPr/>
        </p:nvSpPr>
        <p:spPr>
          <a:xfrm>
            <a:off x="1268730" y="815662"/>
            <a:ext cx="7237766" cy="4159606"/>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600" dirty="0">
                <a:latin typeface="百度综艺简体" panose="02010601030101010101" charset="-122"/>
                <a:ea typeface="百度综艺简体" panose="02010601030101010101" charset="-122"/>
              </a:rPr>
              <a:t>初始条件：线性表</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已存在。</a:t>
            </a:r>
          </a:p>
          <a:p>
            <a:pPr marL="0" indent="0">
              <a:lnSpc>
                <a:spcPct val="150000"/>
              </a:lnSpc>
              <a:buNone/>
            </a:pPr>
            <a:r>
              <a:rPr lang="zh-CN" altLang="en-US" sz="1600" dirty="0" smtClean="0">
                <a:latin typeface="百度综艺简体" panose="02010601030101010101" charset="-122"/>
                <a:ea typeface="百度综艺简体" panose="02010601030101010101" charset="-122"/>
              </a:rPr>
              <a:t>操作</a:t>
            </a:r>
            <a:r>
              <a:rPr lang="zh-CN" altLang="en-US" sz="1600" dirty="0">
                <a:latin typeface="百度综艺简体" panose="02010601030101010101" charset="-122"/>
                <a:ea typeface="百度综艺简体" panose="02010601030101010101" charset="-122"/>
              </a:rPr>
              <a:t>结果：若</a:t>
            </a:r>
            <a:r>
              <a:rPr lang="en-US" altLang="zh-CN" sz="1600" dirty="0" err="1">
                <a:latin typeface="百度综艺简体" panose="02010601030101010101" charset="-122"/>
                <a:ea typeface="百度综艺简体" panose="02010601030101010101" charset="-122"/>
              </a:rPr>
              <a:t>cur_e</a:t>
            </a:r>
            <a:r>
              <a:rPr lang="zh-CN" altLang="en-US" sz="1600" dirty="0">
                <a:latin typeface="百度综艺简体" panose="02010601030101010101" charset="-122"/>
                <a:ea typeface="百度综艺简体" panose="02010601030101010101" charset="-122"/>
              </a:rPr>
              <a:t>是</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的元素，但</a:t>
            </a:r>
            <a:r>
              <a:rPr lang="zh-CN" altLang="en-US" sz="1600" dirty="0" smtClean="0">
                <a:latin typeface="百度综艺简体" panose="02010601030101010101" charset="-122"/>
                <a:ea typeface="百度综艺简体" panose="02010601030101010101" charset="-122"/>
              </a:rPr>
              <a:t>不是第一</a:t>
            </a:r>
            <a:r>
              <a:rPr lang="zh-CN" altLang="en-US" sz="1600" dirty="0">
                <a:latin typeface="百度综艺简体" panose="02010601030101010101" charset="-122"/>
                <a:ea typeface="百度综艺简体" panose="02010601030101010101" charset="-122"/>
              </a:rPr>
              <a:t>个，则用</a:t>
            </a:r>
            <a:r>
              <a:rPr lang="en-US" altLang="zh-CN" sz="1600" dirty="0" err="1">
                <a:latin typeface="百度综艺简体" panose="02010601030101010101" charset="-122"/>
                <a:ea typeface="百度综艺简体" panose="02010601030101010101" charset="-122"/>
              </a:rPr>
              <a:t>pre_e</a:t>
            </a:r>
            <a:r>
              <a:rPr lang="en-US" altLang="zh-CN" sz="1600" dirty="0">
                <a:latin typeface="百度综艺简体" panose="02010601030101010101" charset="-122"/>
                <a:ea typeface="百度综艺简体" panose="02010601030101010101" charset="-122"/>
              </a:rPr>
              <a:t> </a:t>
            </a:r>
            <a:r>
              <a:rPr lang="zh-CN" altLang="en-US" sz="1600" dirty="0">
                <a:latin typeface="百度综艺简体" panose="02010601030101010101" charset="-122"/>
                <a:ea typeface="百度综艺简体" panose="02010601030101010101" charset="-122"/>
              </a:rPr>
              <a:t>返回它的前驱， </a:t>
            </a:r>
            <a:r>
              <a:rPr lang="zh-CN" altLang="en-US" sz="1600" dirty="0" smtClean="0">
                <a:latin typeface="百度综艺简体" panose="02010601030101010101" charset="-122"/>
                <a:ea typeface="百度综艺简体" panose="02010601030101010101" charset="-122"/>
              </a:rPr>
              <a:t>否则</a:t>
            </a:r>
            <a:r>
              <a:rPr lang="zh-CN" altLang="en-US" sz="1600" dirty="0">
                <a:latin typeface="百度综艺简体" panose="02010601030101010101" charset="-122"/>
                <a:ea typeface="百度综艺简体" panose="02010601030101010101" charset="-122"/>
              </a:rPr>
              <a:t>操作失败，</a:t>
            </a:r>
            <a:r>
              <a:rPr lang="en-US" altLang="zh-CN" sz="1600" dirty="0" err="1">
                <a:latin typeface="百度综艺简体" panose="02010601030101010101" charset="-122"/>
                <a:ea typeface="百度综艺简体" panose="02010601030101010101" charset="-122"/>
              </a:rPr>
              <a:t>pre_e</a:t>
            </a:r>
            <a:r>
              <a:rPr lang="zh-CN" altLang="en-US" sz="1600" dirty="0">
                <a:latin typeface="百度综艺简体" panose="02010601030101010101" charset="-122"/>
                <a:ea typeface="百度综艺简体" panose="02010601030101010101" charset="-122"/>
              </a:rPr>
              <a:t>无定义。</a:t>
            </a:r>
          </a:p>
          <a:p>
            <a:pPr marL="0" indent="0">
              <a:lnSpc>
                <a:spcPct val="150000"/>
              </a:lnSpc>
              <a:buNone/>
            </a:pPr>
            <a:r>
              <a:rPr lang="en-US" altLang="zh-CN" sz="1600" dirty="0" err="1" smtClean="0">
                <a:solidFill>
                  <a:srgbClr val="FF0000"/>
                </a:solidFill>
                <a:latin typeface="百度综艺简体" panose="02010601030101010101" charset="-122"/>
                <a:ea typeface="百度综艺简体" panose="02010601030101010101" charset="-122"/>
              </a:rPr>
              <a:t>NextElem</a:t>
            </a:r>
            <a:r>
              <a:rPr lang="en-US" altLang="zh-CN" sz="1600" dirty="0">
                <a:solidFill>
                  <a:srgbClr val="FF0000"/>
                </a:solidFill>
                <a:latin typeface="百度综艺简体" panose="02010601030101010101" charset="-122"/>
                <a:ea typeface="百度综艺简体" panose="02010601030101010101" charset="-122"/>
              </a:rPr>
              <a:t>( L, </a:t>
            </a:r>
            <a:r>
              <a:rPr lang="en-US" altLang="zh-CN" sz="1600" dirty="0" err="1">
                <a:solidFill>
                  <a:srgbClr val="FF0000"/>
                </a:solidFill>
                <a:latin typeface="百度综艺简体" panose="02010601030101010101" charset="-122"/>
                <a:ea typeface="百度综艺简体" panose="02010601030101010101" charset="-122"/>
              </a:rPr>
              <a:t>cur_e</a:t>
            </a:r>
            <a:r>
              <a:rPr lang="en-US" altLang="zh-CN" sz="1600" dirty="0">
                <a:solidFill>
                  <a:srgbClr val="FF0000"/>
                </a:solidFill>
                <a:latin typeface="百度综艺简体" panose="02010601030101010101" charset="-122"/>
                <a:ea typeface="百度综艺简体" panose="02010601030101010101" charset="-122"/>
              </a:rPr>
              <a:t>, &amp;</a:t>
            </a:r>
            <a:r>
              <a:rPr lang="en-US" altLang="zh-CN" sz="1600" dirty="0" err="1">
                <a:solidFill>
                  <a:srgbClr val="FF0000"/>
                </a:solidFill>
                <a:latin typeface="百度综艺简体" panose="02010601030101010101" charset="-122"/>
                <a:ea typeface="百度综艺简体" panose="02010601030101010101" charset="-122"/>
              </a:rPr>
              <a:t>next_e</a:t>
            </a:r>
            <a:r>
              <a:rPr lang="en-US" altLang="zh-CN" sz="1600" dirty="0">
                <a:solidFill>
                  <a:srgbClr val="FF0000"/>
                </a:solidFill>
                <a:latin typeface="百度综艺简体" panose="02010601030101010101" charset="-122"/>
                <a:ea typeface="百度综艺简体" panose="02010601030101010101" charset="-122"/>
              </a:rPr>
              <a:t> )</a:t>
            </a:r>
          </a:p>
          <a:p>
            <a:pPr marL="0" indent="0">
              <a:lnSpc>
                <a:spcPct val="150000"/>
              </a:lnSpc>
              <a:buNone/>
            </a:pPr>
            <a:r>
              <a:rPr lang="zh-CN" altLang="en-US" sz="1600" dirty="0" smtClean="0">
                <a:latin typeface="百度综艺简体" panose="02010601030101010101" charset="-122"/>
                <a:ea typeface="百度综艺简体" panose="02010601030101010101" charset="-122"/>
              </a:rPr>
              <a:t>初始条件</a:t>
            </a:r>
            <a:r>
              <a:rPr lang="zh-CN" altLang="en-US" sz="1600" dirty="0">
                <a:latin typeface="百度综艺简体" panose="02010601030101010101" charset="-122"/>
                <a:ea typeface="百度综艺简体" panose="02010601030101010101" charset="-122"/>
              </a:rPr>
              <a:t>：线性表</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已存在。</a:t>
            </a:r>
          </a:p>
          <a:p>
            <a:pPr marL="0" indent="0">
              <a:lnSpc>
                <a:spcPct val="150000"/>
              </a:lnSpc>
              <a:buNone/>
            </a:pPr>
            <a:r>
              <a:rPr lang="zh-CN" altLang="en-US" sz="1600" dirty="0" smtClean="0">
                <a:latin typeface="百度综艺简体" panose="02010601030101010101" charset="-122"/>
                <a:ea typeface="百度综艺简体" panose="02010601030101010101" charset="-122"/>
              </a:rPr>
              <a:t>操作</a:t>
            </a:r>
            <a:r>
              <a:rPr lang="zh-CN" altLang="en-US" sz="1600" dirty="0">
                <a:latin typeface="百度综艺简体" panose="02010601030101010101" charset="-122"/>
                <a:ea typeface="百度综艺简体" panose="02010601030101010101" charset="-122"/>
              </a:rPr>
              <a:t>结果：若</a:t>
            </a:r>
            <a:r>
              <a:rPr lang="en-US" altLang="zh-CN" sz="1600" dirty="0" err="1">
                <a:latin typeface="百度综艺简体" panose="02010601030101010101" charset="-122"/>
                <a:ea typeface="百度综艺简体" panose="02010601030101010101" charset="-122"/>
              </a:rPr>
              <a:t>cur_e</a:t>
            </a:r>
            <a:r>
              <a:rPr lang="zh-CN" altLang="en-US" sz="1600" dirty="0">
                <a:latin typeface="百度综艺简体" panose="02010601030101010101" charset="-122"/>
                <a:ea typeface="百度综艺简体" panose="02010601030101010101" charset="-122"/>
              </a:rPr>
              <a:t>是</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的元素，但</a:t>
            </a:r>
            <a:r>
              <a:rPr lang="zh-CN" altLang="en-US" sz="1600" dirty="0" smtClean="0">
                <a:latin typeface="百度综艺简体" panose="02010601030101010101" charset="-122"/>
                <a:ea typeface="百度综艺简体" panose="02010601030101010101" charset="-122"/>
              </a:rPr>
              <a:t>不是最后</a:t>
            </a:r>
            <a:r>
              <a:rPr lang="zh-CN" altLang="en-US" sz="1600" dirty="0">
                <a:latin typeface="百度综艺简体" panose="02010601030101010101" charset="-122"/>
                <a:ea typeface="百度综艺简体" panose="02010601030101010101" charset="-122"/>
              </a:rPr>
              <a:t>一个，则用</a:t>
            </a:r>
            <a:r>
              <a:rPr lang="en-US" altLang="zh-CN" sz="1600" dirty="0" err="1">
                <a:latin typeface="百度综艺简体" panose="02010601030101010101" charset="-122"/>
                <a:ea typeface="百度综艺简体" panose="02010601030101010101" charset="-122"/>
              </a:rPr>
              <a:t>next_e</a:t>
            </a:r>
            <a:r>
              <a:rPr lang="zh-CN" altLang="en-US" sz="1600" dirty="0">
                <a:latin typeface="百度综艺简体" panose="02010601030101010101" charset="-122"/>
                <a:ea typeface="百度综艺简体" panose="02010601030101010101" charset="-122"/>
              </a:rPr>
              <a:t>返回它的后继</a:t>
            </a:r>
            <a:r>
              <a:rPr lang="zh-CN" altLang="en-US" sz="1600" dirty="0" smtClean="0">
                <a:latin typeface="百度综艺简体" panose="02010601030101010101" charset="-122"/>
                <a:ea typeface="百度综艺简体" panose="02010601030101010101" charset="-122"/>
              </a:rPr>
              <a:t>，否则</a:t>
            </a:r>
            <a:r>
              <a:rPr lang="zh-CN" altLang="en-US" sz="1600" dirty="0">
                <a:latin typeface="百度综艺简体" panose="02010601030101010101" charset="-122"/>
                <a:ea typeface="百度综艺简体" panose="02010601030101010101" charset="-122"/>
              </a:rPr>
              <a:t>操作失败，</a:t>
            </a:r>
            <a:r>
              <a:rPr lang="en-US" altLang="zh-CN" sz="1600" dirty="0" err="1">
                <a:latin typeface="百度综艺简体" panose="02010601030101010101" charset="-122"/>
                <a:ea typeface="百度综艺简体" panose="02010601030101010101" charset="-122"/>
              </a:rPr>
              <a:t>next_e</a:t>
            </a:r>
            <a:r>
              <a:rPr lang="zh-CN" altLang="en-US" sz="1600" dirty="0">
                <a:latin typeface="百度综艺简体" panose="02010601030101010101" charset="-122"/>
                <a:ea typeface="百度综艺简体" panose="02010601030101010101" charset="-122"/>
              </a:rPr>
              <a:t>无定义。</a:t>
            </a:r>
          </a:p>
          <a:p>
            <a:pPr marL="0" indent="0">
              <a:lnSpc>
                <a:spcPct val="150000"/>
              </a:lnSpc>
              <a:buNone/>
            </a:pPr>
            <a:r>
              <a:rPr lang="en-US" altLang="zh-CN" sz="1600" dirty="0" err="1" smtClean="0">
                <a:solidFill>
                  <a:srgbClr val="FF0000"/>
                </a:solidFill>
                <a:latin typeface="百度综艺简体" panose="02010601030101010101" charset="-122"/>
                <a:ea typeface="百度综艺简体" panose="02010601030101010101" charset="-122"/>
              </a:rPr>
              <a:t>ListTraverse</a:t>
            </a:r>
            <a:r>
              <a:rPr lang="en-US" altLang="zh-CN" sz="1600" dirty="0" smtClean="0">
                <a:solidFill>
                  <a:srgbClr val="FF0000"/>
                </a:solidFill>
                <a:latin typeface="百度综艺简体" panose="02010601030101010101" charset="-122"/>
                <a:ea typeface="百度综艺简体" panose="02010601030101010101" charset="-122"/>
              </a:rPr>
              <a:t>(L</a:t>
            </a:r>
            <a:r>
              <a:rPr lang="en-US" altLang="zh-CN" sz="1600" dirty="0">
                <a:solidFill>
                  <a:srgbClr val="FF0000"/>
                </a:solidFill>
                <a:latin typeface="百度综艺简体" panose="02010601030101010101" charset="-122"/>
                <a:ea typeface="百度综艺简体" panose="02010601030101010101" charset="-122"/>
              </a:rPr>
              <a:t>, visit( ))</a:t>
            </a:r>
          </a:p>
          <a:p>
            <a:pPr marL="0" indent="0">
              <a:lnSpc>
                <a:spcPct val="150000"/>
              </a:lnSpc>
              <a:buNone/>
            </a:pPr>
            <a:r>
              <a:rPr lang="zh-CN" altLang="en-US" sz="1600" dirty="0" smtClean="0">
                <a:latin typeface="百度综艺简体" panose="02010601030101010101" charset="-122"/>
                <a:ea typeface="百度综艺简体" panose="02010601030101010101" charset="-122"/>
              </a:rPr>
              <a:t>初始条件</a:t>
            </a:r>
            <a:r>
              <a:rPr lang="zh-CN" altLang="en-US" sz="1600" dirty="0">
                <a:latin typeface="百度综艺简体" panose="02010601030101010101" charset="-122"/>
                <a:ea typeface="百度综艺简体" panose="02010601030101010101" charset="-122"/>
              </a:rPr>
              <a:t>：线性表</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已存在。</a:t>
            </a:r>
          </a:p>
          <a:p>
            <a:pPr marL="0" indent="0">
              <a:lnSpc>
                <a:spcPct val="150000"/>
              </a:lnSpc>
              <a:buNone/>
            </a:pPr>
            <a:r>
              <a:rPr lang="zh-CN" altLang="en-US" sz="1600" dirty="0" smtClean="0">
                <a:latin typeface="百度综艺简体" panose="02010601030101010101" charset="-122"/>
                <a:ea typeface="百度综艺简体" panose="02010601030101010101" charset="-122"/>
              </a:rPr>
              <a:t>操作</a:t>
            </a:r>
            <a:r>
              <a:rPr lang="zh-CN" altLang="en-US" sz="1600" dirty="0">
                <a:latin typeface="百度综艺简体" panose="02010601030101010101" charset="-122"/>
                <a:ea typeface="百度综艺简体" panose="02010601030101010101" charset="-122"/>
              </a:rPr>
              <a:t>结果：依次对</a:t>
            </a:r>
            <a:r>
              <a:rPr lang="en-US" altLang="zh-CN" sz="1600" dirty="0">
                <a:latin typeface="百度综艺简体" panose="02010601030101010101" charset="-122"/>
                <a:ea typeface="百度综艺简体" panose="02010601030101010101" charset="-122"/>
              </a:rPr>
              <a:t>L</a:t>
            </a:r>
            <a:r>
              <a:rPr lang="zh-CN" altLang="en-US" sz="1600" dirty="0">
                <a:latin typeface="百度综艺简体" panose="02010601030101010101" charset="-122"/>
                <a:ea typeface="百度综艺简体" panose="02010601030101010101" charset="-122"/>
              </a:rPr>
              <a:t>的每个元素调用</a:t>
            </a:r>
            <a:r>
              <a:rPr lang="zh-CN" altLang="en-US" sz="1600" dirty="0" smtClean="0">
                <a:latin typeface="百度综艺简体" panose="02010601030101010101" charset="-122"/>
                <a:ea typeface="百度综艺简体" panose="02010601030101010101" charset="-122"/>
              </a:rPr>
              <a:t>函数</a:t>
            </a:r>
            <a:r>
              <a:rPr lang="en-US" altLang="zh-CN" sz="1600" dirty="0" smtClean="0">
                <a:latin typeface="百度综艺简体" panose="02010601030101010101" charset="-122"/>
                <a:ea typeface="百度综艺简体" panose="02010601030101010101" charset="-122"/>
              </a:rPr>
              <a:t>visit</a:t>
            </a:r>
            <a:r>
              <a:rPr lang="en-US" altLang="zh-CN" sz="1600" dirty="0">
                <a:latin typeface="百度综艺简体" panose="02010601030101010101" charset="-122"/>
                <a:ea typeface="百度综艺简体" panose="02010601030101010101" charset="-122"/>
              </a:rPr>
              <a:t>( )</a:t>
            </a:r>
            <a:r>
              <a:rPr lang="zh-CN" altLang="en-US" sz="1600" dirty="0">
                <a:latin typeface="百度综艺简体" panose="02010601030101010101" charset="-122"/>
                <a:ea typeface="百度综艺简体" panose="02010601030101010101" charset="-122"/>
              </a:rPr>
              <a:t>。一旦</a:t>
            </a:r>
            <a:r>
              <a:rPr lang="en-US" altLang="zh-CN" sz="1600" dirty="0">
                <a:latin typeface="百度综艺简体" panose="02010601030101010101" charset="-122"/>
                <a:ea typeface="百度综艺简体" panose="02010601030101010101" charset="-122"/>
              </a:rPr>
              <a:t>visit( )</a:t>
            </a:r>
            <a:r>
              <a:rPr lang="zh-CN" altLang="en-US" sz="1600" dirty="0">
                <a:latin typeface="百度综艺简体" panose="02010601030101010101" charset="-122"/>
                <a:ea typeface="百度综艺简体" panose="02010601030101010101" charset="-122"/>
              </a:rPr>
              <a:t>失败，则操作失败。</a:t>
            </a:r>
            <a:endParaRPr lang="en-US" altLang="zh-CN" sz="1600"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763193"/>
            <a:ext cx="7277822" cy="553085"/>
          </a:xfrm>
          <a:prstGeom prst="rect">
            <a:avLst/>
          </a:prstGeom>
          <a:noFill/>
          <a:ln w="9525">
            <a:noFill/>
            <a:miter lim="800000"/>
          </a:ln>
        </p:spPr>
        <p:txBody>
          <a:bodyPr wrap="square">
            <a:spAutoFit/>
          </a:bodyPr>
          <a:lstStyle/>
          <a:p>
            <a:pPr fontAlgn="auto">
              <a:lnSpc>
                <a:spcPct val="150000"/>
              </a:lnSpc>
            </a:pPr>
            <a:r>
              <a:rPr lang="en-US" altLang="zh-CN" sz="2000" dirty="0">
                <a:latin typeface="百度综艺简体" panose="02010601030101010101" charset="-122"/>
                <a:ea typeface="百度综艺简体" panose="02010601030101010101" charset="-122"/>
              </a:rPr>
              <a:t>{ </a:t>
            </a:r>
            <a:r>
              <a:rPr lang="zh-CN" altLang="en-US" sz="2000" dirty="0" smtClean="0">
                <a:latin typeface="百度综艺简体" panose="02010601030101010101" charset="-122"/>
                <a:ea typeface="百度综艺简体" panose="02010601030101010101" charset="-122"/>
              </a:rPr>
              <a:t>加工型操作 </a:t>
            </a:r>
            <a:r>
              <a:rPr lang="en-US" altLang="zh-CN" sz="2000" dirty="0">
                <a:latin typeface="百度综艺简体" panose="02010601030101010101" charset="-122"/>
                <a:ea typeface="百度综艺简体" panose="02010601030101010101" charset="-122"/>
              </a:rPr>
              <a:t>}</a:t>
            </a:r>
            <a:endParaRPr lang="en-US" altLang="zh-CN" sz="2000" dirty="0">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28" name="Rectangle 3"/>
          <p:cNvSpPr>
            <a:spLocks noGrp="1"/>
          </p:cNvSpPr>
          <p:nvPr/>
        </p:nvSpPr>
        <p:spPr>
          <a:xfrm>
            <a:off x="1662815" y="1424960"/>
            <a:ext cx="5187561" cy="3565313"/>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800" dirty="0" err="1">
                <a:solidFill>
                  <a:srgbClr val="FF0000"/>
                </a:solidFill>
                <a:latin typeface="百度综艺简体" panose="02010601030101010101" charset="-122"/>
                <a:ea typeface="百度综艺简体" panose="02010601030101010101" charset="-122"/>
              </a:rPr>
              <a:t>ClearList</a:t>
            </a:r>
            <a:r>
              <a:rPr lang="en-US" altLang="zh-CN" sz="1800" dirty="0">
                <a:solidFill>
                  <a:srgbClr val="FF0000"/>
                </a:solidFill>
                <a:latin typeface="百度综艺简体" panose="02010601030101010101" charset="-122"/>
                <a:ea typeface="百度综艺简体" panose="02010601030101010101" charset="-122"/>
              </a:rPr>
              <a:t>( &amp;L )</a:t>
            </a:r>
          </a:p>
          <a:p>
            <a:pPr marL="0" indent="0">
              <a:lnSpc>
                <a:spcPct val="150000"/>
              </a:lnSpc>
              <a:buNone/>
            </a:pPr>
            <a:r>
              <a:rPr lang="zh-CN" altLang="en-US" sz="1800" dirty="0" smtClean="0">
                <a:latin typeface="百度综艺简体" panose="02010601030101010101" charset="-122"/>
                <a:ea typeface="百度综艺简体" panose="02010601030101010101" charset="-122"/>
              </a:rPr>
              <a:t>初始条件</a:t>
            </a:r>
            <a:r>
              <a:rPr lang="zh-CN" altLang="en-US" sz="1800" dirty="0">
                <a:latin typeface="百度综艺简体" panose="02010601030101010101" charset="-122"/>
                <a:ea typeface="百度综艺简体" panose="02010601030101010101" charset="-122"/>
              </a:rPr>
              <a:t>：线性表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已存在。</a:t>
            </a:r>
          </a:p>
          <a:p>
            <a:pPr marL="0" indent="0">
              <a:lnSpc>
                <a:spcPct val="150000"/>
              </a:lnSpc>
              <a:buNone/>
            </a:pPr>
            <a:r>
              <a:rPr lang="zh-CN" altLang="en-US" sz="1800" dirty="0" smtClean="0">
                <a:latin typeface="百度综艺简体" panose="02010601030101010101" charset="-122"/>
                <a:ea typeface="百度综艺简体" panose="02010601030101010101" charset="-122"/>
              </a:rPr>
              <a:t>操作</a:t>
            </a:r>
            <a:r>
              <a:rPr lang="zh-CN" altLang="en-US" sz="1800" dirty="0">
                <a:latin typeface="百度综艺简体" panose="02010601030101010101" charset="-122"/>
                <a:ea typeface="百度综艺简体" panose="02010601030101010101" charset="-122"/>
              </a:rPr>
              <a:t>结果：将</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重置为空表。</a:t>
            </a:r>
          </a:p>
          <a:p>
            <a:pPr marL="0" indent="0">
              <a:lnSpc>
                <a:spcPct val="150000"/>
              </a:lnSpc>
              <a:buNone/>
            </a:pPr>
            <a:r>
              <a:rPr lang="en-US" altLang="zh-CN" sz="1800" dirty="0" err="1" smtClean="0">
                <a:solidFill>
                  <a:srgbClr val="FF0000"/>
                </a:solidFill>
                <a:latin typeface="百度综艺简体" panose="02010601030101010101" charset="-122"/>
                <a:ea typeface="百度综艺简体" panose="02010601030101010101" charset="-122"/>
              </a:rPr>
              <a:t>PutElem</a:t>
            </a:r>
            <a:r>
              <a:rPr lang="en-US" altLang="zh-CN" sz="1800" dirty="0">
                <a:solidFill>
                  <a:srgbClr val="FF0000"/>
                </a:solidFill>
                <a:latin typeface="百度综艺简体" panose="02010601030101010101" charset="-122"/>
                <a:ea typeface="百度综艺简体" panose="02010601030101010101" charset="-122"/>
              </a:rPr>
              <a:t>( L, </a:t>
            </a:r>
            <a:r>
              <a:rPr lang="en-US" altLang="zh-CN" sz="1800" dirty="0" err="1">
                <a:solidFill>
                  <a:srgbClr val="FF0000"/>
                </a:solidFill>
                <a:latin typeface="百度综艺简体" panose="02010601030101010101" charset="-122"/>
                <a:ea typeface="百度综艺简体" panose="02010601030101010101" charset="-122"/>
              </a:rPr>
              <a:t>i</a:t>
            </a:r>
            <a:r>
              <a:rPr lang="en-US" altLang="zh-CN" sz="1800" dirty="0">
                <a:solidFill>
                  <a:srgbClr val="FF0000"/>
                </a:solidFill>
                <a:latin typeface="百度综艺简体" panose="02010601030101010101" charset="-122"/>
                <a:ea typeface="百度综艺简体" panose="02010601030101010101" charset="-122"/>
              </a:rPr>
              <a:t>, &amp;e )</a:t>
            </a:r>
          </a:p>
          <a:p>
            <a:pPr marL="0" indent="0">
              <a:lnSpc>
                <a:spcPct val="150000"/>
              </a:lnSpc>
              <a:buNone/>
            </a:pPr>
            <a:r>
              <a:rPr lang="zh-CN" altLang="en-US" sz="1800" dirty="0" smtClean="0">
                <a:latin typeface="百度综艺简体" panose="02010601030101010101" charset="-122"/>
                <a:ea typeface="百度综艺简体" panose="02010601030101010101" charset="-122"/>
              </a:rPr>
              <a:t>初始条件</a:t>
            </a:r>
            <a:r>
              <a:rPr lang="zh-CN" altLang="en-US" sz="1800" dirty="0">
                <a:latin typeface="百度综艺简体" panose="02010601030101010101" charset="-122"/>
                <a:ea typeface="百度综艺简体" panose="02010601030101010101" charset="-122"/>
              </a:rPr>
              <a:t>：线性表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已存在</a:t>
            </a:r>
            <a:r>
              <a:rPr lang="zh-CN" altLang="en-US" sz="1800" dirty="0" smtClean="0">
                <a:latin typeface="百度综艺简体" panose="02010601030101010101" charset="-122"/>
                <a:ea typeface="百度综艺简体" panose="02010601030101010101" charset="-122"/>
              </a:rPr>
              <a:t>，</a:t>
            </a:r>
            <a:r>
              <a:rPr lang="en-US" altLang="zh-CN" sz="1800" dirty="0" smtClean="0">
                <a:latin typeface="百度综艺简体" panose="02010601030101010101" charset="-122"/>
                <a:ea typeface="百度综艺简体" panose="02010601030101010101" charset="-122"/>
              </a:rPr>
              <a:t>1</a:t>
            </a:r>
            <a:r>
              <a:rPr lang="en-US" altLang="zh-CN" sz="1800" dirty="0">
                <a:latin typeface="百度综艺简体" panose="02010601030101010101" charset="-122"/>
                <a:ea typeface="百度综艺简体" panose="02010601030101010101" charset="-122"/>
              </a:rPr>
              <a:t>≤i≤LengthList(L)</a:t>
            </a:r>
          </a:p>
          <a:p>
            <a:pPr marL="0" indent="0">
              <a:lnSpc>
                <a:spcPct val="150000"/>
              </a:lnSpc>
              <a:buNone/>
            </a:pPr>
            <a:r>
              <a:rPr lang="zh-CN" altLang="en-US" sz="1800" dirty="0" smtClean="0">
                <a:latin typeface="百度综艺简体" panose="02010601030101010101" charset="-122"/>
                <a:ea typeface="百度综艺简体" panose="02010601030101010101" charset="-122"/>
              </a:rPr>
              <a:t>操作</a:t>
            </a:r>
            <a:r>
              <a:rPr lang="zh-CN" altLang="en-US" sz="1800" dirty="0">
                <a:latin typeface="百度综艺简体" panose="02010601030101010101" charset="-122"/>
                <a:ea typeface="百度综艺简体" panose="02010601030101010101" charset="-122"/>
              </a:rPr>
              <a:t>结果：</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中第</a:t>
            </a:r>
            <a:r>
              <a:rPr lang="en-US" altLang="zh-CN" sz="1800" dirty="0" err="1">
                <a:latin typeface="百度综艺简体" panose="02010601030101010101" charset="-122"/>
                <a:ea typeface="百度综艺简体" panose="02010601030101010101" charset="-122"/>
              </a:rPr>
              <a:t>i</a:t>
            </a:r>
            <a:r>
              <a:rPr lang="zh-CN" altLang="en-US" sz="1800" dirty="0">
                <a:latin typeface="百度综艺简体" panose="02010601030101010101" charset="-122"/>
                <a:ea typeface="百度综艺简体" panose="02010601030101010101" charset="-122"/>
              </a:rPr>
              <a:t>个元素赋值同</a:t>
            </a:r>
            <a:r>
              <a:rPr lang="en-US" altLang="zh-CN" sz="1800" dirty="0">
                <a:latin typeface="百度综艺简体" panose="02010601030101010101" charset="-122"/>
                <a:ea typeface="百度综艺简体" panose="02010601030101010101" charset="-122"/>
              </a:rPr>
              <a:t>e</a:t>
            </a:r>
            <a:r>
              <a:rPr lang="zh-CN" altLang="en-US" sz="1800" dirty="0">
                <a:latin typeface="百度综艺简体" panose="02010601030101010101" charset="-122"/>
                <a:ea typeface="百度综艺简体" panose="02010601030101010101" charset="-122"/>
              </a:rPr>
              <a:t>的值</a:t>
            </a:r>
            <a:r>
              <a:rPr lang="zh-CN" altLang="en-US" sz="1800" dirty="0" smtClean="0">
                <a:latin typeface="百度综艺简体" panose="02010601030101010101" charset="-122"/>
                <a:ea typeface="百度综艺简体" panose="02010601030101010101" charset="-122"/>
              </a:rPr>
              <a:t>。</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763193"/>
            <a:ext cx="7277822" cy="553085"/>
          </a:xfrm>
          <a:prstGeom prst="rect">
            <a:avLst/>
          </a:prstGeom>
          <a:noFill/>
          <a:ln w="9525">
            <a:noFill/>
            <a:miter lim="800000"/>
          </a:ln>
        </p:spPr>
        <p:txBody>
          <a:bodyPr wrap="square">
            <a:spAutoFit/>
          </a:bodyPr>
          <a:lstStyle/>
          <a:p>
            <a:pPr fontAlgn="auto">
              <a:lnSpc>
                <a:spcPct val="150000"/>
              </a:lnSpc>
            </a:pPr>
            <a:r>
              <a:rPr lang="en-US" altLang="zh-CN" sz="2000" dirty="0">
                <a:latin typeface="百度综艺简体" panose="02010601030101010101" charset="-122"/>
                <a:ea typeface="百度综艺简体" panose="02010601030101010101" charset="-122"/>
              </a:rPr>
              <a:t>{ </a:t>
            </a:r>
            <a:r>
              <a:rPr lang="zh-CN" altLang="en-US" sz="2000" dirty="0" smtClean="0">
                <a:latin typeface="百度综艺简体" panose="02010601030101010101" charset="-122"/>
                <a:ea typeface="百度综艺简体" panose="02010601030101010101" charset="-122"/>
              </a:rPr>
              <a:t>加工型操作 </a:t>
            </a:r>
            <a:r>
              <a:rPr lang="en-US" altLang="zh-CN" sz="2000" dirty="0">
                <a:latin typeface="百度综艺简体" panose="02010601030101010101" charset="-122"/>
                <a:ea typeface="百度综艺简体" panose="02010601030101010101" charset="-122"/>
              </a:rPr>
              <a:t>}</a:t>
            </a:r>
            <a:endParaRPr lang="en-US" altLang="zh-CN" sz="2000" dirty="0">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28" name="Rectangle 3"/>
          <p:cNvSpPr>
            <a:spLocks noGrp="1"/>
          </p:cNvSpPr>
          <p:nvPr/>
        </p:nvSpPr>
        <p:spPr>
          <a:xfrm>
            <a:off x="1656080" y="1496060"/>
            <a:ext cx="6912610" cy="3565525"/>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800" dirty="0" err="1" smtClean="0">
                <a:solidFill>
                  <a:srgbClr val="FF0000"/>
                </a:solidFill>
                <a:latin typeface="百度综艺简体" panose="02010601030101010101" charset="-122"/>
                <a:ea typeface="百度综艺简体" panose="02010601030101010101" charset="-122"/>
              </a:rPr>
              <a:t>ListInsert</a:t>
            </a:r>
            <a:r>
              <a:rPr lang="en-US" altLang="zh-CN" sz="1800" dirty="0">
                <a:solidFill>
                  <a:srgbClr val="FF0000"/>
                </a:solidFill>
                <a:latin typeface="百度综艺简体" panose="02010601030101010101" charset="-122"/>
                <a:ea typeface="百度综艺简体" panose="02010601030101010101" charset="-122"/>
              </a:rPr>
              <a:t>( &amp;L, </a:t>
            </a:r>
            <a:r>
              <a:rPr lang="en-US" altLang="zh-CN" sz="1800" dirty="0" err="1">
                <a:solidFill>
                  <a:srgbClr val="FF0000"/>
                </a:solidFill>
                <a:latin typeface="百度综艺简体" panose="02010601030101010101" charset="-122"/>
                <a:ea typeface="百度综艺简体" panose="02010601030101010101" charset="-122"/>
              </a:rPr>
              <a:t>i</a:t>
            </a:r>
            <a:r>
              <a:rPr lang="en-US" altLang="zh-CN" sz="1800" dirty="0">
                <a:solidFill>
                  <a:srgbClr val="FF0000"/>
                </a:solidFill>
                <a:latin typeface="百度综艺简体" panose="02010601030101010101" charset="-122"/>
                <a:ea typeface="百度综艺简体" panose="02010601030101010101" charset="-122"/>
              </a:rPr>
              <a:t>, e )</a:t>
            </a:r>
          </a:p>
          <a:p>
            <a:pPr marL="0" indent="0">
              <a:lnSpc>
                <a:spcPct val="150000"/>
              </a:lnSpc>
              <a:buNone/>
            </a:pPr>
            <a:r>
              <a:rPr lang="zh-CN" altLang="en-US" sz="1800" dirty="0" smtClean="0">
                <a:latin typeface="百度综艺简体" panose="02010601030101010101" charset="-122"/>
                <a:ea typeface="百度综艺简体" panose="02010601030101010101" charset="-122"/>
              </a:rPr>
              <a:t>初始条件</a:t>
            </a:r>
            <a:r>
              <a:rPr lang="zh-CN" altLang="en-US" sz="1800" dirty="0">
                <a:latin typeface="百度综艺简体" panose="02010601030101010101" charset="-122"/>
                <a:ea typeface="百度综艺简体" panose="02010601030101010101" charset="-122"/>
              </a:rPr>
              <a:t>：线性表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已存在</a:t>
            </a:r>
            <a:r>
              <a:rPr lang="zh-CN" altLang="en-US" sz="1800" dirty="0" smtClean="0">
                <a:latin typeface="百度综艺简体" panose="02010601030101010101" charset="-122"/>
                <a:ea typeface="百度综艺简体" panose="02010601030101010101" charset="-122"/>
              </a:rPr>
              <a:t>，</a:t>
            </a:r>
            <a:r>
              <a:rPr lang="en-US" altLang="zh-CN" sz="1800" dirty="0" smtClean="0">
                <a:latin typeface="百度综艺简体" panose="02010601030101010101" charset="-122"/>
                <a:ea typeface="百度综艺简体" panose="02010601030101010101" charset="-122"/>
              </a:rPr>
              <a:t>1</a:t>
            </a:r>
            <a:r>
              <a:rPr lang="en-US" altLang="zh-CN" sz="1800" dirty="0">
                <a:latin typeface="百度综艺简体" panose="02010601030101010101" charset="-122"/>
                <a:ea typeface="百度综艺简体" panose="02010601030101010101" charset="-122"/>
              </a:rPr>
              <a:t>≤i≤LengthList(L)+</a:t>
            </a:r>
            <a:r>
              <a:rPr lang="en-US" altLang="zh-CN" sz="1800" dirty="0" smtClean="0">
                <a:latin typeface="百度综艺简体" panose="02010601030101010101" charset="-122"/>
                <a:ea typeface="百度综艺简体" panose="02010601030101010101" charset="-122"/>
              </a:rPr>
              <a:t>1</a:t>
            </a:r>
          </a:p>
          <a:p>
            <a:pPr marL="0" indent="0">
              <a:lnSpc>
                <a:spcPct val="150000"/>
              </a:lnSpc>
              <a:buNone/>
            </a:pPr>
            <a:r>
              <a:rPr lang="zh-CN" altLang="en-US" sz="1800" dirty="0">
                <a:latin typeface="百度综艺简体" panose="02010601030101010101" charset="-122"/>
                <a:ea typeface="百度综艺简体" panose="02010601030101010101" charset="-122"/>
              </a:rPr>
              <a:t>操作结果：在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的第</a:t>
            </a:r>
            <a:r>
              <a:rPr lang="en-US" altLang="zh-CN" sz="1800" dirty="0" err="1">
                <a:latin typeface="百度综艺简体" panose="02010601030101010101" charset="-122"/>
                <a:ea typeface="百度综艺简体" panose="02010601030101010101" charset="-122"/>
              </a:rPr>
              <a:t>i</a:t>
            </a:r>
            <a:r>
              <a:rPr lang="zh-CN" altLang="en-US" sz="1800" dirty="0">
                <a:latin typeface="百度综艺简体" panose="02010601030101010101" charset="-122"/>
                <a:ea typeface="百度综艺简体" panose="02010601030101010101" charset="-122"/>
              </a:rPr>
              <a:t>个元素之前插入</a:t>
            </a:r>
            <a:r>
              <a:rPr lang="zh-CN" altLang="en-US" sz="1800" dirty="0" smtClean="0">
                <a:latin typeface="百度综艺简体" panose="02010601030101010101" charset="-122"/>
                <a:ea typeface="百度综艺简体" panose="02010601030101010101" charset="-122"/>
              </a:rPr>
              <a:t>新的</a:t>
            </a:r>
            <a:r>
              <a:rPr lang="zh-CN" altLang="en-US" sz="1800" dirty="0">
                <a:latin typeface="百度综艺简体" panose="02010601030101010101" charset="-122"/>
                <a:ea typeface="百度综艺简体" panose="02010601030101010101" charset="-122"/>
              </a:rPr>
              <a:t>元素</a:t>
            </a:r>
            <a:r>
              <a:rPr lang="en-US" altLang="zh-CN" sz="1800" dirty="0">
                <a:latin typeface="百度综艺简体" panose="02010601030101010101" charset="-122"/>
                <a:ea typeface="百度综艺简体" panose="02010601030101010101" charset="-122"/>
              </a:rPr>
              <a:t>e</a:t>
            </a:r>
            <a:r>
              <a:rPr lang="zh-CN" altLang="en-US" sz="1800" dirty="0">
                <a:latin typeface="百度综艺简体" panose="02010601030101010101" charset="-122"/>
                <a:ea typeface="百度综艺简体" panose="02010601030101010101" charset="-122"/>
              </a:rPr>
              <a:t>，</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的长度增</a:t>
            </a:r>
            <a:r>
              <a:rPr lang="en-US" altLang="zh-CN" sz="1800" dirty="0">
                <a:latin typeface="百度综艺简体" panose="02010601030101010101" charset="-122"/>
                <a:ea typeface="百度综艺简体" panose="02010601030101010101" charset="-122"/>
              </a:rPr>
              <a:t>1</a:t>
            </a:r>
            <a:r>
              <a:rPr lang="zh-CN" altLang="en-US" sz="1800" dirty="0">
                <a:latin typeface="百度综艺简体" panose="02010601030101010101" charset="-122"/>
                <a:ea typeface="百度综艺简体" panose="02010601030101010101" charset="-122"/>
              </a:rPr>
              <a:t>。</a:t>
            </a:r>
          </a:p>
          <a:p>
            <a:pPr marL="0" indent="0">
              <a:lnSpc>
                <a:spcPct val="150000"/>
              </a:lnSpc>
              <a:buNone/>
            </a:pPr>
            <a:r>
              <a:rPr lang="en-US" altLang="zh-CN" sz="1800" dirty="0" err="1" smtClean="0">
                <a:solidFill>
                  <a:srgbClr val="FF0000"/>
                </a:solidFill>
                <a:latin typeface="百度综艺简体" panose="02010601030101010101" charset="-122"/>
                <a:ea typeface="百度综艺简体" panose="02010601030101010101" charset="-122"/>
              </a:rPr>
              <a:t>ListDelete</a:t>
            </a:r>
            <a:r>
              <a:rPr lang="en-US" altLang="zh-CN" sz="1800" dirty="0">
                <a:solidFill>
                  <a:srgbClr val="FF0000"/>
                </a:solidFill>
                <a:latin typeface="百度综艺简体" panose="02010601030101010101" charset="-122"/>
                <a:ea typeface="百度综艺简体" panose="02010601030101010101" charset="-122"/>
              </a:rPr>
              <a:t>(&amp;L, </a:t>
            </a:r>
            <a:r>
              <a:rPr lang="en-US" altLang="zh-CN" sz="1800" dirty="0" err="1">
                <a:solidFill>
                  <a:srgbClr val="FF0000"/>
                </a:solidFill>
                <a:latin typeface="百度综艺简体" panose="02010601030101010101" charset="-122"/>
                <a:ea typeface="百度综艺简体" panose="02010601030101010101" charset="-122"/>
              </a:rPr>
              <a:t>i</a:t>
            </a:r>
            <a:r>
              <a:rPr lang="en-US" altLang="zh-CN" sz="1800" dirty="0">
                <a:solidFill>
                  <a:srgbClr val="FF0000"/>
                </a:solidFill>
                <a:latin typeface="百度综艺简体" panose="02010601030101010101" charset="-122"/>
                <a:ea typeface="百度综艺简体" panose="02010601030101010101" charset="-122"/>
              </a:rPr>
              <a:t>, &amp;e)</a:t>
            </a:r>
          </a:p>
          <a:p>
            <a:pPr marL="0" indent="0">
              <a:lnSpc>
                <a:spcPct val="150000"/>
              </a:lnSpc>
              <a:buNone/>
            </a:pPr>
            <a:r>
              <a:rPr lang="en-US" altLang="zh-CN" sz="1800" dirty="0">
                <a:latin typeface="百度综艺简体" panose="02010601030101010101" charset="-122"/>
                <a:ea typeface="百度综艺简体" panose="02010601030101010101" charset="-122"/>
              </a:rPr>
              <a:t> </a:t>
            </a:r>
            <a:r>
              <a:rPr lang="zh-CN" altLang="en-US" sz="1800" dirty="0">
                <a:latin typeface="百度综艺简体" panose="02010601030101010101" charset="-122"/>
                <a:ea typeface="百度综艺简体" panose="02010601030101010101" charset="-122"/>
              </a:rPr>
              <a:t>初始条件：线性表</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已存在且非空</a:t>
            </a:r>
            <a:r>
              <a:rPr lang="zh-CN" altLang="en-US" sz="1800" dirty="0" smtClean="0">
                <a:latin typeface="百度综艺简体" panose="02010601030101010101" charset="-122"/>
                <a:ea typeface="百度综艺简体" panose="02010601030101010101" charset="-122"/>
              </a:rPr>
              <a:t>，</a:t>
            </a:r>
            <a:r>
              <a:rPr lang="en-US" altLang="zh-CN" sz="1800" dirty="0" smtClean="0">
                <a:latin typeface="百度综艺简体" panose="02010601030101010101" charset="-122"/>
                <a:ea typeface="百度综艺简体" panose="02010601030101010101" charset="-122"/>
              </a:rPr>
              <a:t>1</a:t>
            </a:r>
            <a:r>
              <a:rPr lang="en-US" altLang="zh-CN" sz="1800" dirty="0">
                <a:latin typeface="百度综艺简体" panose="02010601030101010101" charset="-122"/>
                <a:ea typeface="百度综艺简体" panose="02010601030101010101" charset="-122"/>
              </a:rPr>
              <a:t>≤i≤LengthList(L)</a:t>
            </a:r>
          </a:p>
          <a:p>
            <a:pPr marL="0" indent="0">
              <a:lnSpc>
                <a:spcPct val="150000"/>
              </a:lnSpc>
              <a:buNone/>
            </a:pPr>
            <a:r>
              <a:rPr lang="en-US" altLang="zh-CN" sz="1800" dirty="0">
                <a:latin typeface="百度综艺简体" panose="02010601030101010101" charset="-122"/>
                <a:ea typeface="百度综艺简体" panose="02010601030101010101" charset="-122"/>
              </a:rPr>
              <a:t> </a:t>
            </a:r>
            <a:r>
              <a:rPr lang="zh-CN" altLang="en-US" sz="1800" dirty="0">
                <a:latin typeface="百度综艺简体" panose="02010601030101010101" charset="-122"/>
                <a:ea typeface="百度综艺简体" panose="02010601030101010101" charset="-122"/>
              </a:rPr>
              <a:t>操作结果：删除</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的第</a:t>
            </a:r>
            <a:r>
              <a:rPr lang="en-US" altLang="zh-CN" sz="1800" dirty="0" err="1">
                <a:latin typeface="百度综艺简体" panose="02010601030101010101" charset="-122"/>
                <a:ea typeface="百度综艺简体" panose="02010601030101010101" charset="-122"/>
              </a:rPr>
              <a:t>i</a:t>
            </a:r>
            <a:r>
              <a:rPr lang="zh-CN" altLang="en-US" sz="1800" dirty="0">
                <a:latin typeface="百度综艺简体" panose="02010601030101010101" charset="-122"/>
                <a:ea typeface="百度综艺简体" panose="02010601030101010101" charset="-122"/>
              </a:rPr>
              <a:t>个元素，并用</a:t>
            </a:r>
            <a:r>
              <a:rPr lang="en-US" altLang="zh-CN" sz="1800" dirty="0" smtClean="0">
                <a:latin typeface="百度综艺简体" panose="02010601030101010101" charset="-122"/>
                <a:ea typeface="百度综艺简体" panose="02010601030101010101" charset="-122"/>
              </a:rPr>
              <a:t>e</a:t>
            </a:r>
            <a:r>
              <a:rPr lang="zh-CN" altLang="en-US" sz="1800" dirty="0" smtClean="0">
                <a:latin typeface="百度综艺简体" panose="02010601030101010101" charset="-122"/>
                <a:ea typeface="百度综艺简体" panose="02010601030101010101" charset="-122"/>
              </a:rPr>
              <a:t>返回</a:t>
            </a:r>
            <a:r>
              <a:rPr lang="zh-CN" altLang="en-US" sz="1800" dirty="0">
                <a:latin typeface="百度综艺简体" panose="02010601030101010101" charset="-122"/>
                <a:ea typeface="百度综艺简体" panose="02010601030101010101" charset="-122"/>
              </a:rPr>
              <a:t>其值，</a:t>
            </a:r>
            <a:r>
              <a:rPr lang="en-US" altLang="zh-CN" sz="1800" dirty="0">
                <a:latin typeface="百度综艺简体" panose="02010601030101010101" charset="-122"/>
                <a:ea typeface="百度综艺简体" panose="02010601030101010101" charset="-122"/>
              </a:rPr>
              <a:t>L</a:t>
            </a:r>
            <a:r>
              <a:rPr lang="zh-CN" altLang="en-US" sz="1800" dirty="0">
                <a:latin typeface="百度综艺简体" panose="02010601030101010101" charset="-122"/>
                <a:ea typeface="百度综艺简体" panose="02010601030101010101" charset="-122"/>
              </a:rPr>
              <a:t>的长度减</a:t>
            </a:r>
            <a:r>
              <a:rPr lang="en-US" altLang="zh-CN" sz="1800" dirty="0">
                <a:latin typeface="百度综艺简体" panose="02010601030101010101" charset="-122"/>
                <a:ea typeface="百度综艺简体" panose="02010601030101010101" charset="-122"/>
              </a:rPr>
              <a:t>1</a:t>
            </a:r>
            <a:r>
              <a:rPr lang="zh-CN" altLang="en-US" sz="1800" dirty="0">
                <a:latin typeface="百度综艺简体" panose="02010601030101010101" charset="-122"/>
                <a:ea typeface="百度综艺简体" panose="02010601030101010101" charset="-122"/>
              </a:rPr>
              <a:t>。</a:t>
            </a:r>
          </a:p>
          <a:p>
            <a:pPr marL="0" indent="0">
              <a:lnSpc>
                <a:spcPct val="150000"/>
              </a:lnSpc>
              <a:buNone/>
            </a:pPr>
            <a:r>
              <a:rPr lang="en-US" altLang="zh-CN" sz="1800" dirty="0">
                <a:latin typeface="百度综艺简体" panose="02010601030101010101" charset="-122"/>
                <a:ea typeface="百度综艺简体" panose="02010601030101010101" charset="-122"/>
              </a:rPr>
              <a:t>} ADT List</a:t>
            </a:r>
          </a:p>
          <a:p>
            <a:pPr marL="0" indent="0">
              <a:lnSpc>
                <a:spcPct val="150000"/>
              </a:lnSpc>
              <a:buNone/>
            </a:pPr>
            <a:endParaRPr lang="en-US" altLang="zh-CN" sz="1800"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933089" y="763193"/>
            <a:ext cx="7277822" cy="504177"/>
          </a:xfrm>
          <a:prstGeom prst="rect">
            <a:avLst/>
          </a:prstGeom>
          <a:noFill/>
          <a:ln w="9525">
            <a:noFill/>
            <a:miter lim="800000"/>
          </a:ln>
        </p:spPr>
        <p:txBody>
          <a:bodyPr wrap="square">
            <a:spAutoFit/>
          </a:bodyPr>
          <a:lstStyle/>
          <a:p>
            <a:pPr fontAlgn="auto">
              <a:lnSpc>
                <a:spcPct val="150000"/>
              </a:lnSpc>
            </a:pPr>
            <a:r>
              <a:rPr lang="zh-CN" altLang="en-US" sz="2000" dirty="0">
                <a:solidFill>
                  <a:srgbClr val="2A5BA8"/>
                </a:solidFill>
                <a:latin typeface="百度综艺简体" panose="02010601030101010101" charset="-122"/>
                <a:ea typeface="百度综艺简体" panose="02010601030101010101" charset="-122"/>
              </a:rPr>
              <a:t>需要说明的是：</a:t>
            </a:r>
            <a:endParaRPr lang="zh-CN" altLang="en-US" sz="2000" dirty="0">
              <a:solidFill>
                <a:srgbClr val="2A5BA8"/>
              </a:solidFill>
              <a:latin typeface="百度综艺简体" panose="02010601030101010101" charset="-122"/>
              <a:ea typeface="百度综艺简体" panose="02010601030101010101" charset="-122"/>
              <a:sym typeface="+mn-ea"/>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28" name="Rectangle 3"/>
          <p:cNvSpPr>
            <a:spLocks noGrp="1"/>
          </p:cNvSpPr>
          <p:nvPr/>
        </p:nvSpPr>
        <p:spPr>
          <a:xfrm>
            <a:off x="1195409" y="1285941"/>
            <a:ext cx="7252852" cy="1528607"/>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smtClean="0">
                <a:latin typeface="百度综艺简体" panose="02010601030101010101" charset="-122"/>
                <a:ea typeface="百度综艺简体" panose="02010601030101010101" charset="-122"/>
              </a:rPr>
              <a:t>       某</a:t>
            </a:r>
            <a:r>
              <a:rPr lang="zh-CN" altLang="en-US" sz="1800" dirty="0">
                <a:latin typeface="百度综艺简体" panose="02010601030101010101" charset="-122"/>
                <a:ea typeface="百度综艺简体" panose="02010601030101010101" charset="-122"/>
              </a:rPr>
              <a:t>数据结构上的基本运算，不是它的全部运算，而是一些常用的基本的运算，而每一个基本运算在实现时也可能根据不同的存储结构派生出一系列相关的运算来。掌握了某一数据结构上的基本运算后，其它的运算可以通过基本运算来实现，也可以直接去实现。</a:t>
            </a:r>
          </a:p>
        </p:txBody>
      </p:sp>
      <p:sp>
        <p:nvSpPr>
          <p:cNvPr id="14" name="Rectangle 3"/>
          <p:cNvSpPr>
            <a:spLocks noGrp="1"/>
          </p:cNvSpPr>
          <p:nvPr/>
        </p:nvSpPr>
        <p:spPr>
          <a:xfrm>
            <a:off x="1195409" y="3072263"/>
            <a:ext cx="6918282" cy="1528607"/>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smtClean="0">
                <a:latin typeface="百度综艺简体" panose="02010601030101010101" charset="-122"/>
                <a:ea typeface="百度综艺简体" panose="02010601030101010101" charset="-122"/>
              </a:rPr>
              <a:t>       在</a:t>
            </a:r>
            <a:r>
              <a:rPr lang="zh-CN" altLang="en-US" sz="1800" dirty="0">
                <a:latin typeface="百度综艺简体" panose="02010601030101010101" charset="-122"/>
                <a:ea typeface="百度综艺简体" panose="02010601030101010101" charset="-122"/>
              </a:rPr>
              <a:t>上面各操作中定义的线性表Ｌ仅仅是一个抽象在逻辑结构层次的线性表，尚未涉及到它的存储结构，因此每个操作在逻辑结构层次上尚不能用具体的某种程序语言写出具体的算法，而算法的实现只有在存储结构确立之后。</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1" presetClass="entr" presetSubtype="0" fill="hold" grpId="0" nodeType="clickEffect">
                                  <p:stCondLst>
                                    <p:cond delay="0"/>
                                  </p:stCondLst>
                                  <p:iterate type="lt">
                                    <p:tmPct val="10000"/>
                                  </p:iterate>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6"/>
                                        </p:tgtEl>
                                        <p:attrNameLst>
                                          <p:attrName>ppt_y</p:attrName>
                                        </p:attrNameLst>
                                      </p:cBhvr>
                                      <p:tavLst>
                                        <p:tav tm="0">
                                          <p:val>
                                            <p:strVal val="#ppt_y"/>
                                          </p:val>
                                        </p:tav>
                                        <p:tav tm="100000">
                                          <p:val>
                                            <p:strVal val="#ppt_y"/>
                                          </p:val>
                                        </p:tav>
                                      </p:tavLst>
                                    </p:anim>
                                    <p:anim calcmode="lin" valueType="num">
                                      <p:cBhvr>
                                        <p:cTn id="44"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28" name="Rectangle 3"/>
          <p:cNvSpPr>
            <a:spLocks noGrp="1"/>
          </p:cNvSpPr>
          <p:nvPr/>
        </p:nvSpPr>
        <p:spPr>
          <a:xfrm>
            <a:off x="1021544" y="1198105"/>
            <a:ext cx="6918282" cy="823929"/>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600" dirty="0" smtClean="0">
                <a:latin typeface="百度综艺简体" panose="02010601030101010101" charset="-122"/>
                <a:ea typeface="百度综艺简体" panose="02010601030101010101" charset="-122"/>
              </a:rPr>
              <a:t>       假设</a:t>
            </a:r>
            <a:r>
              <a:rPr lang="zh-CN" altLang="en-US" sz="1600" dirty="0">
                <a:latin typeface="百度综艺简体" panose="02010601030101010101" charset="-122"/>
                <a:ea typeface="百度综艺简体" panose="02010601030101010101" charset="-122"/>
              </a:rPr>
              <a:t>利用两个线性表</a:t>
            </a:r>
            <a:r>
              <a:rPr lang="en-US" altLang="zh-CN" sz="1600" dirty="0">
                <a:latin typeface="百度综艺简体" panose="02010601030101010101" charset="-122"/>
                <a:ea typeface="百度综艺简体" panose="02010601030101010101" charset="-122"/>
              </a:rPr>
              <a:t>LA</a:t>
            </a:r>
            <a:r>
              <a:rPr lang="zh-CN" altLang="en-US" sz="1600" dirty="0">
                <a:latin typeface="百度综艺简体" panose="02010601030101010101" charset="-122"/>
                <a:ea typeface="百度综艺简体" panose="02010601030101010101" charset="-122"/>
              </a:rPr>
              <a:t>和</a:t>
            </a:r>
            <a:r>
              <a:rPr lang="en-US" altLang="zh-CN" sz="1600" dirty="0">
                <a:latin typeface="百度综艺简体" panose="02010601030101010101" charset="-122"/>
                <a:ea typeface="百度综艺简体" panose="02010601030101010101" charset="-122"/>
              </a:rPr>
              <a:t>LB</a:t>
            </a:r>
            <a:r>
              <a:rPr lang="zh-CN" altLang="en-US" sz="1600" dirty="0">
                <a:latin typeface="百度综艺简体" panose="02010601030101010101" charset="-122"/>
                <a:ea typeface="百度综艺简体" panose="02010601030101010101" charset="-122"/>
              </a:rPr>
              <a:t>分别表示两个集合</a:t>
            </a:r>
            <a:r>
              <a:rPr lang="en-US" altLang="zh-CN" sz="1600" dirty="0">
                <a:latin typeface="百度综艺简体" panose="02010601030101010101" charset="-122"/>
                <a:ea typeface="百度综艺简体" panose="02010601030101010101" charset="-122"/>
              </a:rPr>
              <a:t>A</a:t>
            </a:r>
            <a:r>
              <a:rPr lang="zh-CN" altLang="en-US" sz="1600" dirty="0">
                <a:latin typeface="百度综艺简体" panose="02010601030101010101" charset="-122"/>
                <a:ea typeface="百度综艺简体" panose="02010601030101010101" charset="-122"/>
              </a:rPr>
              <a:t>和</a:t>
            </a:r>
            <a:r>
              <a:rPr lang="en-US" altLang="zh-CN" sz="1600" dirty="0">
                <a:latin typeface="百度综艺简体" panose="02010601030101010101" charset="-122"/>
                <a:ea typeface="百度综艺简体" panose="02010601030101010101" charset="-122"/>
              </a:rPr>
              <a:t>B</a:t>
            </a:r>
            <a:r>
              <a:rPr lang="zh-CN" altLang="en-US" sz="1600" dirty="0">
                <a:latin typeface="百度综艺简体" panose="02010601030101010101" charset="-122"/>
                <a:ea typeface="百度综艺简体" panose="02010601030101010101" charset="-122"/>
              </a:rPr>
              <a:t>（即：线性表中</a:t>
            </a:r>
            <a:r>
              <a:rPr lang="zh-CN" altLang="en-US" sz="1600" dirty="0" smtClean="0">
                <a:latin typeface="百度综艺简体" panose="02010601030101010101" charset="-122"/>
                <a:ea typeface="百度综艺简体" panose="02010601030101010101" charset="-122"/>
              </a:rPr>
              <a:t>的数据</a:t>
            </a:r>
            <a:r>
              <a:rPr lang="zh-CN" altLang="en-US" sz="1600" dirty="0">
                <a:latin typeface="百度综艺简体" panose="02010601030101010101" charset="-122"/>
                <a:ea typeface="百度综艺简体" panose="02010601030101010101" charset="-122"/>
              </a:rPr>
              <a:t>元素即为集合中的成员），现要求一个新的集合</a:t>
            </a:r>
            <a:r>
              <a:rPr lang="en-US" altLang="zh-CN" sz="1600" dirty="0">
                <a:solidFill>
                  <a:srgbClr val="FF0000"/>
                </a:solidFill>
                <a:latin typeface="百度综艺简体" panose="02010601030101010101" charset="-122"/>
                <a:ea typeface="百度综艺简体" panose="02010601030101010101" charset="-122"/>
              </a:rPr>
              <a:t>A</a:t>
            </a:r>
            <a:r>
              <a:rPr lang="zh-CN" altLang="en-US" sz="1600" dirty="0">
                <a:solidFill>
                  <a:srgbClr val="FF0000"/>
                </a:solidFill>
                <a:latin typeface="百度综艺简体" panose="02010601030101010101" charset="-122"/>
                <a:ea typeface="百度综艺简体" panose="02010601030101010101" charset="-122"/>
              </a:rPr>
              <a:t>＝</a:t>
            </a:r>
            <a:r>
              <a:rPr lang="en-US" altLang="zh-CN" sz="1600" dirty="0">
                <a:solidFill>
                  <a:srgbClr val="FF0000"/>
                </a:solidFill>
                <a:latin typeface="百度综艺简体" panose="02010601030101010101" charset="-122"/>
                <a:ea typeface="百度综艺简体" panose="02010601030101010101" charset="-122"/>
              </a:rPr>
              <a:t>A∪B</a:t>
            </a:r>
          </a:p>
        </p:txBody>
      </p:sp>
      <p:sp>
        <p:nvSpPr>
          <p:cNvPr id="14" name="Rectangle 3"/>
          <p:cNvSpPr>
            <a:spLocks noGrp="1"/>
          </p:cNvSpPr>
          <p:nvPr/>
        </p:nvSpPr>
        <p:spPr>
          <a:xfrm>
            <a:off x="768509" y="739576"/>
            <a:ext cx="1746091" cy="435477"/>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solidFill>
                  <a:srgbClr val="2A5BA8"/>
                </a:solidFill>
                <a:latin typeface="百度综艺简体" panose="02010601030101010101" charset="-122"/>
                <a:ea typeface="百度综艺简体" panose="02010601030101010101" charset="-122"/>
              </a:rPr>
              <a:t>例</a:t>
            </a:r>
            <a:r>
              <a:rPr lang="en-US" altLang="zh-CN" sz="2000" dirty="0" smtClean="0">
                <a:solidFill>
                  <a:srgbClr val="2A5BA8"/>
                </a:solidFill>
                <a:latin typeface="百度综艺简体" panose="02010601030101010101" charset="-122"/>
                <a:ea typeface="百度综艺简体" panose="02010601030101010101" charset="-122"/>
              </a:rPr>
              <a:t>2-1</a:t>
            </a:r>
            <a:r>
              <a:rPr lang="zh-CN" altLang="en-US" sz="2000" dirty="0">
                <a:solidFill>
                  <a:srgbClr val="2A5BA8"/>
                </a:solidFill>
                <a:latin typeface="百度综艺简体" panose="02010601030101010101" charset="-122"/>
                <a:ea typeface="百度综艺简体" panose="02010601030101010101" charset="-122"/>
              </a:rPr>
              <a:t>：</a:t>
            </a:r>
            <a:endParaRPr lang="en-US" altLang="zh-CN" sz="2000" dirty="0">
              <a:solidFill>
                <a:srgbClr val="2A5BA8"/>
              </a:solidFill>
              <a:latin typeface="百度综艺简体" panose="02010601030101010101" charset="-122"/>
              <a:ea typeface="百度综艺简体" panose="02010601030101010101" charset="-122"/>
            </a:endParaRPr>
          </a:p>
          <a:p>
            <a:pPr marL="0" indent="0">
              <a:lnSpc>
                <a:spcPct val="150000"/>
              </a:lnSpc>
              <a:buNone/>
            </a:pPr>
            <a:endParaRPr lang="en-US" altLang="zh-CN" sz="2000" dirty="0">
              <a:solidFill>
                <a:srgbClr val="2A5BA8"/>
              </a:solidFill>
              <a:latin typeface="百度综艺简体" panose="02010601030101010101" charset="-122"/>
              <a:ea typeface="百度综艺简体" panose="02010601030101010101" charset="-122"/>
            </a:endParaRPr>
          </a:p>
        </p:txBody>
      </p:sp>
      <p:sp>
        <p:nvSpPr>
          <p:cNvPr id="17" name="Rectangle 3"/>
          <p:cNvSpPr>
            <a:spLocks noGrp="1"/>
          </p:cNvSpPr>
          <p:nvPr/>
        </p:nvSpPr>
        <p:spPr>
          <a:xfrm>
            <a:off x="768509" y="2006009"/>
            <a:ext cx="2309542" cy="435477"/>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a:solidFill>
                  <a:srgbClr val="FF0000"/>
                </a:solidFill>
                <a:latin typeface="百度综艺简体" panose="02010601030101010101" charset="-122"/>
                <a:ea typeface="百度综艺简体" panose="02010601030101010101" charset="-122"/>
              </a:rPr>
              <a:t>上述问题等价于：</a:t>
            </a:r>
            <a:endParaRPr lang="en-US" altLang="zh-CN" sz="1800" dirty="0">
              <a:solidFill>
                <a:srgbClr val="FF0000"/>
              </a:solidFill>
              <a:latin typeface="百度综艺简体" panose="02010601030101010101" charset="-122"/>
              <a:ea typeface="百度综艺简体" panose="02010601030101010101" charset="-122"/>
            </a:endParaRPr>
          </a:p>
        </p:txBody>
      </p:sp>
      <p:sp>
        <p:nvSpPr>
          <p:cNvPr id="18" name="Rectangle 3"/>
          <p:cNvSpPr>
            <a:spLocks noGrp="1"/>
          </p:cNvSpPr>
          <p:nvPr/>
        </p:nvSpPr>
        <p:spPr>
          <a:xfrm>
            <a:off x="1021544" y="2431475"/>
            <a:ext cx="6918282" cy="823929"/>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600" dirty="0" smtClean="0">
                <a:latin typeface="百度综艺简体" panose="02010601030101010101" charset="-122"/>
                <a:ea typeface="百度综艺简体" panose="02010601030101010101" charset="-122"/>
              </a:rPr>
              <a:t>        要求</a:t>
            </a:r>
            <a:r>
              <a:rPr lang="zh-CN" altLang="en-US" sz="1600" dirty="0">
                <a:latin typeface="百度综艺简体" panose="02010601030101010101" charset="-122"/>
                <a:ea typeface="百度综艺简体" panose="02010601030101010101" charset="-122"/>
              </a:rPr>
              <a:t>对线性表作如下操作：扩大线性表</a:t>
            </a:r>
            <a:r>
              <a:rPr lang="en-US" altLang="zh-CN" sz="1600" dirty="0">
                <a:latin typeface="百度综艺简体" panose="02010601030101010101" charset="-122"/>
                <a:ea typeface="百度综艺简体" panose="02010601030101010101" charset="-122"/>
              </a:rPr>
              <a:t>LA</a:t>
            </a:r>
            <a:r>
              <a:rPr lang="zh-CN" altLang="en-US" sz="1600" dirty="0">
                <a:latin typeface="百度综艺简体" panose="02010601030101010101" charset="-122"/>
                <a:ea typeface="百度综艺简体" panose="02010601030101010101" charset="-122"/>
              </a:rPr>
              <a:t>，将存在于线性表</a:t>
            </a:r>
            <a:r>
              <a:rPr lang="en-US" altLang="zh-CN" sz="1600" dirty="0">
                <a:latin typeface="百度综艺简体" panose="02010601030101010101" charset="-122"/>
                <a:ea typeface="百度综艺简体" panose="02010601030101010101" charset="-122"/>
              </a:rPr>
              <a:t>LB</a:t>
            </a:r>
            <a:r>
              <a:rPr lang="zh-CN" altLang="en-US" sz="1600" dirty="0">
                <a:latin typeface="百度综艺简体" panose="02010601030101010101" charset="-122"/>
                <a:ea typeface="百度综艺简体" panose="02010601030101010101" charset="-122"/>
              </a:rPr>
              <a:t>中而不存在于线性表</a:t>
            </a:r>
            <a:r>
              <a:rPr lang="en-US" altLang="zh-CN" sz="1600" dirty="0">
                <a:latin typeface="百度综艺简体" panose="02010601030101010101" charset="-122"/>
                <a:ea typeface="百度综艺简体" panose="02010601030101010101" charset="-122"/>
              </a:rPr>
              <a:t>LA</a:t>
            </a:r>
            <a:r>
              <a:rPr lang="zh-CN" altLang="en-US" sz="1600" dirty="0">
                <a:latin typeface="百度综艺简体" panose="02010601030101010101" charset="-122"/>
                <a:ea typeface="百度综艺简体" panose="02010601030101010101" charset="-122"/>
              </a:rPr>
              <a:t>中的数据元素插入到线性表</a:t>
            </a:r>
            <a:r>
              <a:rPr lang="en-US" altLang="zh-CN" sz="1600" dirty="0">
                <a:latin typeface="百度综艺简体" panose="02010601030101010101" charset="-122"/>
                <a:ea typeface="百度综艺简体" panose="02010601030101010101" charset="-122"/>
              </a:rPr>
              <a:t>LA</a:t>
            </a:r>
            <a:r>
              <a:rPr lang="zh-CN" altLang="en-US" sz="1600" dirty="0">
                <a:latin typeface="百度综艺简体" panose="02010601030101010101" charset="-122"/>
                <a:ea typeface="百度综艺简体" panose="02010601030101010101" charset="-122"/>
              </a:rPr>
              <a:t>中去。</a:t>
            </a:r>
            <a:endParaRPr lang="en-US" altLang="zh-CN" sz="1600" dirty="0">
              <a:latin typeface="百度综艺简体" panose="02010601030101010101" charset="-122"/>
              <a:ea typeface="百度综艺简体" panose="02010601030101010101" charset="-122"/>
            </a:endParaRPr>
          </a:p>
        </p:txBody>
      </p:sp>
      <p:sp>
        <p:nvSpPr>
          <p:cNvPr id="20" name="Rectangle 3"/>
          <p:cNvSpPr>
            <a:spLocks noGrp="1"/>
          </p:cNvSpPr>
          <p:nvPr/>
        </p:nvSpPr>
        <p:spPr>
          <a:xfrm>
            <a:off x="768509" y="3316329"/>
            <a:ext cx="2309542" cy="435477"/>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a:solidFill>
                  <a:srgbClr val="FF0000"/>
                </a:solidFill>
                <a:latin typeface="百度综艺简体" panose="02010601030101010101" charset="-122"/>
                <a:ea typeface="百度综艺简体" panose="02010601030101010101" charset="-122"/>
              </a:rPr>
              <a:t>分下列三步进行：</a:t>
            </a:r>
            <a:endParaRPr lang="en-US" altLang="zh-CN" sz="1800" dirty="0">
              <a:solidFill>
                <a:srgbClr val="FF0000"/>
              </a:solidFill>
              <a:latin typeface="百度综艺简体" panose="02010601030101010101" charset="-122"/>
              <a:ea typeface="百度综艺简体" panose="02010601030101010101" charset="-122"/>
            </a:endParaRPr>
          </a:p>
        </p:txBody>
      </p:sp>
      <p:sp>
        <p:nvSpPr>
          <p:cNvPr id="23" name="Rectangle 3"/>
          <p:cNvSpPr>
            <a:spLocks noGrp="1"/>
          </p:cNvSpPr>
          <p:nvPr/>
        </p:nvSpPr>
        <p:spPr>
          <a:xfrm>
            <a:off x="1923280" y="3785364"/>
            <a:ext cx="6918282" cy="823929"/>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百度综艺简体" panose="02010601030101010101" charset="-122"/>
                <a:ea typeface="百度综艺简体" panose="02010601030101010101" charset="-122"/>
              </a:rPr>
              <a:t>1</a:t>
            </a:r>
            <a:r>
              <a:rPr lang="zh-CN" altLang="en-US" sz="1600" dirty="0">
                <a:latin typeface="百度综艺简体" panose="02010601030101010101" charset="-122"/>
                <a:ea typeface="百度综艺简体" panose="02010601030101010101" charset="-122"/>
              </a:rPr>
              <a:t>．从线性表</a:t>
            </a:r>
            <a:r>
              <a:rPr lang="en-US" altLang="zh-CN" sz="1600" dirty="0">
                <a:latin typeface="百度综艺简体" panose="02010601030101010101" charset="-122"/>
                <a:ea typeface="百度综艺简体" panose="02010601030101010101" charset="-122"/>
              </a:rPr>
              <a:t>LB</a:t>
            </a:r>
            <a:r>
              <a:rPr lang="zh-CN" altLang="en-US" sz="1600" dirty="0">
                <a:latin typeface="百度综艺简体" panose="02010601030101010101" charset="-122"/>
                <a:ea typeface="百度综艺简体" panose="02010601030101010101" charset="-122"/>
              </a:rPr>
              <a:t>中依次取得每个数据元素</a:t>
            </a:r>
            <a:r>
              <a:rPr lang="en-US" altLang="zh-CN" sz="1600" dirty="0">
                <a:latin typeface="百度综艺简体" panose="02010601030101010101" charset="-122"/>
                <a:ea typeface="百度综艺简体" panose="02010601030101010101" charset="-122"/>
              </a:rPr>
              <a:t>;</a:t>
            </a:r>
          </a:p>
          <a:p>
            <a:pPr marL="0" indent="0">
              <a:buNone/>
            </a:pPr>
            <a:r>
              <a:rPr lang="en-US" altLang="zh-CN" sz="1600" dirty="0">
                <a:latin typeface="百度综艺简体" panose="02010601030101010101" charset="-122"/>
                <a:ea typeface="百度综艺简体" panose="02010601030101010101" charset="-122"/>
              </a:rPr>
              <a:t>2</a:t>
            </a:r>
            <a:r>
              <a:rPr lang="zh-CN" altLang="en-US" sz="1600" dirty="0">
                <a:latin typeface="百度综艺简体" panose="02010601030101010101" charset="-122"/>
                <a:ea typeface="百度综艺简体" panose="02010601030101010101" charset="-122"/>
              </a:rPr>
              <a:t>．依值在线性表</a:t>
            </a:r>
            <a:r>
              <a:rPr lang="en-US" altLang="zh-CN" sz="1600" dirty="0">
                <a:latin typeface="百度综艺简体" panose="02010601030101010101" charset="-122"/>
                <a:ea typeface="百度综艺简体" panose="02010601030101010101" charset="-122"/>
              </a:rPr>
              <a:t>LA</a:t>
            </a:r>
            <a:r>
              <a:rPr lang="zh-CN" altLang="en-US" sz="1600" dirty="0">
                <a:latin typeface="百度综艺简体" panose="02010601030101010101" charset="-122"/>
                <a:ea typeface="百度综艺简体" panose="02010601030101010101" charset="-122"/>
              </a:rPr>
              <a:t>中进行查访</a:t>
            </a:r>
            <a:r>
              <a:rPr lang="en-US" altLang="zh-CN" sz="1600" dirty="0">
                <a:latin typeface="百度综艺简体" panose="02010601030101010101" charset="-122"/>
                <a:ea typeface="百度综艺简体" panose="02010601030101010101" charset="-122"/>
              </a:rPr>
              <a:t>;</a:t>
            </a:r>
          </a:p>
          <a:p>
            <a:pPr marL="0" indent="0">
              <a:buNone/>
            </a:pPr>
            <a:r>
              <a:rPr lang="en-US" altLang="zh-CN" sz="1600" dirty="0">
                <a:latin typeface="百度综艺简体" panose="02010601030101010101" charset="-122"/>
                <a:ea typeface="百度综艺简体" panose="02010601030101010101" charset="-122"/>
              </a:rPr>
              <a:t>3</a:t>
            </a:r>
            <a:r>
              <a:rPr lang="zh-CN" altLang="en-US" sz="1600" dirty="0">
                <a:latin typeface="百度综艺简体" panose="02010601030101010101" charset="-122"/>
                <a:ea typeface="百度综艺简体" panose="02010601030101010101" charset="-122"/>
              </a:rPr>
              <a:t>．若不存在，则插入之。</a:t>
            </a:r>
            <a:endParaRPr lang="en-US" altLang="zh-CN" sz="1600" dirty="0">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dirty="0">
              <a:solidFill>
                <a:schemeClr val="tx1"/>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1665"/>
          </a:xfrm>
          <a:prstGeom prst="rect">
            <a:avLst/>
          </a:prstGeom>
          <a:noFill/>
          <a:ln w="9525">
            <a:noFill/>
            <a:miter lim="800000"/>
          </a:ln>
        </p:spPr>
        <p:txBody>
          <a:bodyPr wrap="square">
            <a:spAutoFit/>
          </a:bodyPr>
          <a:lstStyle/>
          <a:p>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a:latin typeface="百度综艺简体" panose="02010601030101010101" charset="-122"/>
              <a:ea typeface="百度综艺简体" panose="02010601030101010101" charset="-122"/>
            </a:endParaRPr>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线性表</a:t>
            </a:r>
            <a:endParaRPr lang="zh-CN" alt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a:latin typeface="百度综艺简体" panose="02010601030101010101" charset="-122"/>
              <a:ea typeface="百度综艺简体" panose="02010601030101010101" charset="-122"/>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百度综艺简体" panose="02010601030101010101" charset="-122"/>
                <a:ea typeface="百度综艺简体" panose="02010601030101010101" charset="-122"/>
              </a:endParaRPr>
            </a:p>
          </p:txBody>
        </p:sp>
      </p:grpSp>
      <p:sp>
        <p:nvSpPr>
          <p:cNvPr id="18" name="Rectangle 3"/>
          <p:cNvSpPr>
            <a:spLocks noGrp="1"/>
          </p:cNvSpPr>
          <p:nvPr/>
        </p:nvSpPr>
        <p:spPr>
          <a:xfrm>
            <a:off x="2045413" y="830589"/>
            <a:ext cx="6918282" cy="4106034"/>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600" dirty="0" smtClean="0">
                <a:latin typeface="百度综艺简体" panose="02010601030101010101" charset="-122"/>
                <a:ea typeface="百度综艺简体" panose="02010601030101010101" charset="-122"/>
              </a:rPr>
              <a:t>void </a:t>
            </a:r>
            <a:r>
              <a:rPr lang="en-US" altLang="zh-CN" sz="1600" dirty="0">
                <a:latin typeface="百度综艺简体" panose="02010601030101010101" charset="-122"/>
                <a:ea typeface="百度综艺简体" panose="02010601030101010101" charset="-122"/>
              </a:rPr>
              <a:t>union(List &amp;La, List </a:t>
            </a:r>
            <a:r>
              <a:rPr lang="en-US" altLang="zh-CN" sz="1600" dirty="0" err="1">
                <a:latin typeface="百度综艺简体" panose="02010601030101010101" charset="-122"/>
                <a:ea typeface="百度综艺简体" panose="02010601030101010101" charset="-122"/>
              </a:rPr>
              <a:t>Lb</a:t>
            </a:r>
            <a:r>
              <a:rPr lang="en-US" altLang="zh-CN" sz="1600" dirty="0">
                <a:latin typeface="百度综艺简体" panose="02010601030101010101" charset="-122"/>
                <a:ea typeface="百度综艺简体" panose="02010601030101010101" charset="-122"/>
              </a:rPr>
              <a:t>) {</a:t>
            </a:r>
          </a:p>
          <a:p>
            <a:pPr marL="0" indent="0">
              <a:lnSpc>
                <a:spcPct val="150000"/>
              </a:lnSpc>
              <a:buNone/>
            </a:pPr>
            <a:r>
              <a:rPr lang="en-US" altLang="zh-CN" sz="1600" dirty="0" smtClean="0">
                <a:latin typeface="百度综艺简体" panose="02010601030101010101" charset="-122"/>
                <a:ea typeface="百度综艺简体" panose="02010601030101010101" charset="-122"/>
              </a:rPr>
              <a:t> </a:t>
            </a:r>
            <a:r>
              <a:rPr lang="en-US" altLang="zh-CN" sz="1600" dirty="0" err="1" smtClean="0">
                <a:latin typeface="百度综艺简体" panose="02010601030101010101" charset="-122"/>
                <a:ea typeface="百度综艺简体" panose="02010601030101010101" charset="-122"/>
              </a:rPr>
              <a:t>La_len</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a:t>
            </a:r>
            <a:r>
              <a:rPr lang="en-US" altLang="zh-CN" sz="1600" dirty="0" err="1">
                <a:latin typeface="百度综艺简体" panose="02010601030101010101" charset="-122"/>
                <a:ea typeface="百度综艺简体" panose="02010601030101010101" charset="-122"/>
              </a:rPr>
              <a:t>ListLength</a:t>
            </a:r>
            <a:r>
              <a:rPr lang="en-US" altLang="zh-CN" sz="1600" dirty="0">
                <a:latin typeface="百度综艺简体" panose="02010601030101010101" charset="-122"/>
                <a:ea typeface="百度综艺简体" panose="02010601030101010101" charset="-122"/>
              </a:rPr>
              <a:t>(La);</a:t>
            </a:r>
          </a:p>
          <a:p>
            <a:pPr marL="0" indent="0">
              <a:lnSpc>
                <a:spcPct val="150000"/>
              </a:lnSpc>
              <a:buNone/>
            </a:pPr>
            <a:r>
              <a:rPr lang="en-US" altLang="zh-CN" sz="1600" dirty="0" smtClean="0">
                <a:latin typeface="百度综艺简体" panose="02010601030101010101" charset="-122"/>
                <a:ea typeface="百度综艺简体" panose="02010601030101010101" charset="-122"/>
              </a:rPr>
              <a:t> </a:t>
            </a:r>
            <a:r>
              <a:rPr lang="en-US" altLang="zh-CN" sz="1600" dirty="0" err="1" smtClean="0">
                <a:latin typeface="百度综艺简体" panose="02010601030101010101" charset="-122"/>
                <a:ea typeface="百度综艺简体" panose="02010601030101010101" charset="-122"/>
              </a:rPr>
              <a:t>Lb_len</a:t>
            </a:r>
            <a:r>
              <a:rPr lang="en-US" altLang="zh-CN" sz="1600" dirty="0" smtClean="0">
                <a:latin typeface="百度综艺简体" panose="02010601030101010101" charset="-122"/>
                <a:ea typeface="百度综艺简体" panose="02010601030101010101" charset="-122"/>
              </a:rPr>
              <a:t> </a:t>
            </a:r>
            <a:r>
              <a:rPr lang="en-US" altLang="zh-CN" sz="1600" dirty="0">
                <a:latin typeface="百度综艺简体" panose="02010601030101010101" charset="-122"/>
                <a:ea typeface="百度综艺简体" panose="02010601030101010101" charset="-122"/>
              </a:rPr>
              <a:t>= </a:t>
            </a:r>
            <a:r>
              <a:rPr lang="en-US" altLang="zh-CN" sz="1600" dirty="0" err="1">
                <a:latin typeface="百度综艺简体" panose="02010601030101010101" charset="-122"/>
                <a:ea typeface="百度综艺简体" panose="02010601030101010101" charset="-122"/>
              </a:rPr>
              <a:t>ListLength</a:t>
            </a:r>
            <a:r>
              <a:rPr lang="en-US" altLang="zh-CN" sz="1600" dirty="0">
                <a:latin typeface="百度综艺简体" panose="02010601030101010101" charset="-122"/>
                <a:ea typeface="百度综艺简体" panose="02010601030101010101" charset="-122"/>
              </a:rPr>
              <a:t>(</a:t>
            </a:r>
            <a:r>
              <a:rPr lang="en-US" altLang="zh-CN" sz="1600" dirty="0" err="1">
                <a:latin typeface="百度综艺简体" panose="02010601030101010101" charset="-122"/>
                <a:ea typeface="百度综艺简体" panose="02010601030101010101" charset="-122"/>
              </a:rPr>
              <a:t>Lb</a:t>
            </a:r>
            <a:r>
              <a:rPr lang="en-US" altLang="zh-CN" sz="1600" dirty="0">
                <a:latin typeface="百度综艺简体" panose="02010601030101010101" charset="-122"/>
                <a:ea typeface="百度综艺简体" panose="02010601030101010101" charset="-122"/>
              </a:rPr>
              <a:t>); </a:t>
            </a:r>
            <a:r>
              <a:rPr lang="en-US" altLang="zh-CN" sz="1600" dirty="0">
                <a:solidFill>
                  <a:srgbClr val="FF0000"/>
                </a:solidFill>
                <a:latin typeface="百度综艺简体" panose="02010601030101010101" charset="-122"/>
                <a:ea typeface="百度综艺简体" panose="02010601030101010101" charset="-122"/>
              </a:rPr>
              <a:t>// </a:t>
            </a:r>
            <a:r>
              <a:rPr lang="zh-CN" altLang="en-US" sz="1600" dirty="0">
                <a:solidFill>
                  <a:srgbClr val="FF0000"/>
                </a:solidFill>
                <a:latin typeface="百度综艺简体" panose="02010601030101010101" charset="-122"/>
                <a:ea typeface="百度综艺简体" panose="02010601030101010101" charset="-122"/>
              </a:rPr>
              <a:t>求线性表的</a:t>
            </a:r>
            <a:r>
              <a:rPr lang="zh-CN" altLang="en-US" sz="1600" dirty="0" smtClean="0">
                <a:solidFill>
                  <a:srgbClr val="FF0000"/>
                </a:solidFill>
                <a:latin typeface="百度综艺简体" panose="02010601030101010101" charset="-122"/>
                <a:ea typeface="百度综艺简体" panose="02010601030101010101" charset="-122"/>
              </a:rPr>
              <a:t>长度</a:t>
            </a:r>
          </a:p>
          <a:p>
            <a:pPr marL="0" indent="0">
              <a:lnSpc>
                <a:spcPct val="150000"/>
              </a:lnSpc>
              <a:buNone/>
            </a:pPr>
            <a:r>
              <a:rPr lang="en-US" altLang="zh-CN" sz="1600" dirty="0" smtClean="0">
                <a:latin typeface="百度综艺简体" panose="02010601030101010101" charset="-122"/>
                <a:ea typeface="百度综艺简体" panose="02010601030101010101" charset="-122"/>
              </a:rPr>
              <a:t> for (</a:t>
            </a:r>
            <a:r>
              <a:rPr lang="en-US" altLang="zh-CN" sz="1600" dirty="0" err="1" smtClean="0">
                <a:latin typeface="百度综艺简体" panose="02010601030101010101" charset="-122"/>
                <a:ea typeface="百度综艺简体" panose="02010601030101010101" charset="-122"/>
              </a:rPr>
              <a:t>i</a:t>
            </a:r>
            <a:r>
              <a:rPr lang="en-US" altLang="zh-CN" sz="1600" dirty="0" smtClean="0">
                <a:latin typeface="百度综艺简体" panose="02010601030101010101" charset="-122"/>
                <a:ea typeface="百度综艺简体" panose="02010601030101010101" charset="-122"/>
              </a:rPr>
              <a:t> = 1;  </a:t>
            </a:r>
            <a:r>
              <a:rPr lang="en-US" altLang="zh-CN" sz="1600" dirty="0" err="1" smtClean="0">
                <a:latin typeface="百度综艺简体" panose="02010601030101010101" charset="-122"/>
                <a:ea typeface="百度综艺简体" panose="02010601030101010101" charset="-122"/>
              </a:rPr>
              <a:t>i</a:t>
            </a:r>
            <a:r>
              <a:rPr lang="en-US" altLang="zh-CN" sz="1600" dirty="0" smtClean="0">
                <a:latin typeface="百度综艺简体" panose="02010601030101010101" charset="-122"/>
                <a:ea typeface="百度综艺简体" panose="02010601030101010101" charset="-122"/>
              </a:rPr>
              <a:t> &lt;= </a:t>
            </a:r>
            <a:r>
              <a:rPr lang="en-US" altLang="zh-CN" sz="1600" dirty="0" err="1" smtClean="0">
                <a:latin typeface="百度综艺简体" panose="02010601030101010101" charset="-122"/>
                <a:ea typeface="百度综艺简体" panose="02010601030101010101" charset="-122"/>
              </a:rPr>
              <a:t>Lb_len</a:t>
            </a:r>
            <a:r>
              <a:rPr lang="en-US" altLang="zh-CN" sz="1600" dirty="0" smtClean="0">
                <a:latin typeface="百度综艺简体" panose="02010601030101010101" charset="-122"/>
                <a:ea typeface="百度综艺简体" panose="02010601030101010101" charset="-122"/>
              </a:rPr>
              <a:t>;  </a:t>
            </a:r>
            <a:r>
              <a:rPr lang="en-US" altLang="zh-CN" sz="1600" dirty="0" err="1" smtClean="0">
                <a:latin typeface="百度综艺简体" panose="02010601030101010101" charset="-122"/>
                <a:ea typeface="百度综艺简体" panose="02010601030101010101" charset="-122"/>
              </a:rPr>
              <a:t>i</a:t>
            </a:r>
            <a:r>
              <a:rPr lang="en-US" altLang="zh-CN" sz="1600" dirty="0" smtClean="0">
                <a:latin typeface="百度综艺简体" panose="02010601030101010101" charset="-122"/>
                <a:ea typeface="百度综艺简体" panose="02010601030101010101" charset="-122"/>
              </a:rPr>
              <a:t>++) {</a:t>
            </a:r>
          </a:p>
          <a:p>
            <a:pPr marL="0" indent="0">
              <a:lnSpc>
                <a:spcPct val="150000"/>
              </a:lnSpc>
              <a:buNone/>
            </a:pPr>
            <a:r>
              <a:rPr lang="en-US" altLang="zh-CN" sz="1600" dirty="0" smtClean="0">
                <a:latin typeface="百度综艺简体" panose="02010601030101010101" charset="-122"/>
                <a:ea typeface="百度综艺简体" panose="02010601030101010101" charset="-122"/>
              </a:rPr>
              <a:t>       </a:t>
            </a:r>
            <a:r>
              <a:rPr lang="en-US" altLang="zh-CN" sz="1600" dirty="0" err="1" smtClean="0">
                <a:latin typeface="百度综艺简体" panose="02010601030101010101" charset="-122"/>
                <a:ea typeface="百度综艺简体" panose="02010601030101010101" charset="-122"/>
              </a:rPr>
              <a:t>GetElem</a:t>
            </a:r>
            <a:r>
              <a:rPr lang="en-US" altLang="zh-CN" sz="1600" dirty="0" smtClean="0">
                <a:latin typeface="百度综艺简体" panose="02010601030101010101" charset="-122"/>
                <a:ea typeface="百度综艺简体" panose="02010601030101010101" charset="-122"/>
              </a:rPr>
              <a:t>(</a:t>
            </a:r>
            <a:r>
              <a:rPr lang="en-US" altLang="zh-CN" sz="1600" dirty="0" err="1" smtClean="0">
                <a:latin typeface="百度综艺简体" panose="02010601030101010101" charset="-122"/>
                <a:ea typeface="百度综艺简体" panose="02010601030101010101" charset="-122"/>
              </a:rPr>
              <a:t>Lb</a:t>
            </a:r>
            <a:r>
              <a:rPr lang="en-US" altLang="zh-CN" sz="1600" dirty="0">
                <a:latin typeface="百度综艺简体" panose="02010601030101010101" charset="-122"/>
                <a:ea typeface="百度综艺简体" panose="02010601030101010101" charset="-122"/>
              </a:rPr>
              <a:t>, </a:t>
            </a:r>
            <a:r>
              <a:rPr lang="en-US" altLang="zh-CN" sz="1600" dirty="0" err="1">
                <a:latin typeface="百度综艺简体" panose="02010601030101010101" charset="-122"/>
                <a:ea typeface="百度综艺简体" panose="02010601030101010101" charset="-122"/>
              </a:rPr>
              <a:t>i</a:t>
            </a:r>
            <a:r>
              <a:rPr lang="en-US" altLang="zh-CN" sz="1600" dirty="0">
                <a:latin typeface="百度综艺简体" panose="02010601030101010101" charset="-122"/>
                <a:ea typeface="百度综艺简体" panose="02010601030101010101" charset="-122"/>
              </a:rPr>
              <a:t>, e);</a:t>
            </a:r>
          </a:p>
          <a:p>
            <a:pPr marL="0" indent="0">
              <a:lnSpc>
                <a:spcPct val="150000"/>
              </a:lnSpc>
              <a:buNone/>
            </a:pPr>
            <a:r>
              <a:rPr lang="en-US" altLang="zh-CN" sz="1600" dirty="0" smtClean="0">
                <a:solidFill>
                  <a:srgbClr val="FF0000"/>
                </a:solidFill>
                <a:latin typeface="百度综艺简体" panose="02010601030101010101" charset="-122"/>
                <a:ea typeface="百度综艺简体" panose="02010601030101010101" charset="-122"/>
              </a:rPr>
              <a:t>       // </a:t>
            </a:r>
            <a:r>
              <a:rPr lang="zh-CN" altLang="en-US" sz="1600" dirty="0">
                <a:solidFill>
                  <a:srgbClr val="FF0000"/>
                </a:solidFill>
                <a:latin typeface="百度综艺简体" panose="02010601030101010101" charset="-122"/>
                <a:ea typeface="百度综艺简体" panose="02010601030101010101" charset="-122"/>
              </a:rPr>
              <a:t>取</a:t>
            </a:r>
            <a:r>
              <a:rPr lang="en-US" altLang="zh-CN" sz="1600" dirty="0" err="1">
                <a:solidFill>
                  <a:srgbClr val="FF0000"/>
                </a:solidFill>
                <a:latin typeface="百度综艺简体" panose="02010601030101010101" charset="-122"/>
                <a:ea typeface="百度综艺简体" panose="02010601030101010101" charset="-122"/>
              </a:rPr>
              <a:t>Lb</a:t>
            </a:r>
            <a:r>
              <a:rPr lang="zh-CN" altLang="en-US" sz="1600" dirty="0">
                <a:solidFill>
                  <a:srgbClr val="FF0000"/>
                </a:solidFill>
                <a:latin typeface="百度综艺简体" panose="02010601030101010101" charset="-122"/>
                <a:ea typeface="百度综艺简体" panose="02010601030101010101" charset="-122"/>
              </a:rPr>
              <a:t>中第</a:t>
            </a:r>
            <a:r>
              <a:rPr lang="en-US" altLang="zh-CN" sz="1600" dirty="0" err="1">
                <a:solidFill>
                  <a:srgbClr val="FF0000"/>
                </a:solidFill>
                <a:latin typeface="百度综艺简体" panose="02010601030101010101" charset="-122"/>
                <a:ea typeface="百度综艺简体" panose="02010601030101010101" charset="-122"/>
              </a:rPr>
              <a:t>i</a:t>
            </a:r>
            <a:r>
              <a:rPr lang="zh-CN" altLang="en-US" sz="1600" dirty="0">
                <a:solidFill>
                  <a:srgbClr val="FF0000"/>
                </a:solidFill>
                <a:latin typeface="百度综艺简体" panose="02010601030101010101" charset="-122"/>
                <a:ea typeface="百度综艺简体" panose="02010601030101010101" charset="-122"/>
              </a:rPr>
              <a:t>个数据元素赋给</a:t>
            </a:r>
            <a:r>
              <a:rPr lang="en-US" altLang="zh-CN" sz="1600" dirty="0">
                <a:solidFill>
                  <a:srgbClr val="FF0000"/>
                </a:solidFill>
                <a:latin typeface="百度综艺简体" panose="02010601030101010101" charset="-122"/>
                <a:ea typeface="百度综艺简体" panose="02010601030101010101" charset="-122"/>
              </a:rPr>
              <a:t>e</a:t>
            </a:r>
          </a:p>
          <a:p>
            <a:pPr marL="0" indent="0">
              <a:lnSpc>
                <a:spcPct val="150000"/>
              </a:lnSpc>
              <a:buNone/>
            </a:pPr>
            <a:r>
              <a:rPr lang="en-US" altLang="zh-CN" sz="1600" dirty="0" smtClean="0">
                <a:latin typeface="百度综艺简体" panose="02010601030101010101" charset="-122"/>
                <a:ea typeface="百度综艺简体" panose="02010601030101010101" charset="-122"/>
              </a:rPr>
              <a:t>if</a:t>
            </a:r>
            <a:r>
              <a:rPr lang="en-US" altLang="zh-CN" sz="1600" dirty="0">
                <a:latin typeface="百度综艺简体" panose="02010601030101010101" charset="-122"/>
                <a:ea typeface="百度综艺简体" panose="02010601030101010101" charset="-122"/>
              </a:rPr>
              <a:t>(!</a:t>
            </a:r>
            <a:r>
              <a:rPr lang="en-US" altLang="zh-CN" sz="1600" dirty="0" err="1">
                <a:latin typeface="百度综艺简体" panose="02010601030101010101" charset="-122"/>
                <a:ea typeface="百度综艺简体" panose="02010601030101010101" charset="-122"/>
              </a:rPr>
              <a:t>LocateElem</a:t>
            </a:r>
            <a:r>
              <a:rPr lang="en-US" altLang="zh-CN" sz="1600" dirty="0">
                <a:latin typeface="百度综艺简体" panose="02010601030101010101" charset="-122"/>
                <a:ea typeface="百度综艺简体" panose="02010601030101010101" charset="-122"/>
              </a:rPr>
              <a:t> (La, e, </a:t>
            </a:r>
            <a:r>
              <a:rPr lang="en-US" altLang="zh-CN" sz="1600" dirty="0">
                <a:solidFill>
                  <a:srgbClr val="FF0000"/>
                </a:solidFill>
                <a:latin typeface="百度综艺简体" panose="02010601030101010101" charset="-122"/>
                <a:ea typeface="百度综艺简体" panose="02010601030101010101" charset="-122"/>
              </a:rPr>
              <a:t>equal</a:t>
            </a:r>
            <a:r>
              <a:rPr lang="en-US" altLang="zh-CN" sz="1600" dirty="0">
                <a:latin typeface="百度综艺简体" panose="02010601030101010101" charset="-122"/>
                <a:ea typeface="百度综艺简体" panose="02010601030101010101" charset="-122"/>
              </a:rPr>
              <a:t>))  </a:t>
            </a:r>
          </a:p>
          <a:p>
            <a:pPr marL="0" indent="0">
              <a:lnSpc>
                <a:spcPct val="150000"/>
              </a:lnSpc>
              <a:buNone/>
            </a:pPr>
            <a:r>
              <a:rPr lang="en-US" altLang="zh-CN" sz="1600" dirty="0" smtClean="0">
                <a:latin typeface="百度综艺简体" panose="02010601030101010101" charset="-122"/>
                <a:ea typeface="百度综艺简体" panose="02010601030101010101" charset="-122"/>
              </a:rPr>
              <a:t>    </a:t>
            </a:r>
            <a:r>
              <a:rPr lang="en-US" altLang="zh-CN" sz="1600" dirty="0" err="1" smtClean="0">
                <a:latin typeface="百度综艺简体" panose="02010601030101010101" charset="-122"/>
                <a:ea typeface="百度综艺简体" panose="02010601030101010101" charset="-122"/>
              </a:rPr>
              <a:t>ListInsert</a:t>
            </a:r>
            <a:r>
              <a:rPr lang="en-US" altLang="zh-CN" sz="1600" dirty="0" smtClean="0">
                <a:latin typeface="百度综艺简体" panose="02010601030101010101" charset="-122"/>
                <a:ea typeface="百度综艺简体" panose="02010601030101010101" charset="-122"/>
              </a:rPr>
              <a:t>(La</a:t>
            </a:r>
            <a:r>
              <a:rPr lang="en-US" altLang="zh-CN" sz="1600" dirty="0">
                <a:latin typeface="百度综艺简体" panose="02010601030101010101" charset="-122"/>
                <a:ea typeface="百度综艺简体" panose="02010601030101010101" charset="-122"/>
              </a:rPr>
              <a:t>, ++</a:t>
            </a:r>
            <a:r>
              <a:rPr lang="en-US" altLang="zh-CN" sz="1600" dirty="0" err="1">
                <a:latin typeface="百度综艺简体" panose="02010601030101010101" charset="-122"/>
                <a:ea typeface="百度综艺简体" panose="02010601030101010101" charset="-122"/>
              </a:rPr>
              <a:t>La_len</a:t>
            </a:r>
            <a:r>
              <a:rPr lang="en-US" altLang="zh-CN" sz="1600" dirty="0">
                <a:latin typeface="百度综艺简体" panose="02010601030101010101" charset="-122"/>
                <a:ea typeface="百度综艺简体" panose="02010601030101010101" charset="-122"/>
              </a:rPr>
              <a:t>, e);</a:t>
            </a:r>
          </a:p>
          <a:p>
            <a:pPr marL="0" indent="0">
              <a:lnSpc>
                <a:spcPct val="150000"/>
              </a:lnSpc>
              <a:buNone/>
            </a:pPr>
            <a:r>
              <a:rPr lang="en-US" altLang="zh-CN" sz="1600" dirty="0" smtClean="0">
                <a:solidFill>
                  <a:srgbClr val="FF0000"/>
                </a:solidFill>
                <a:latin typeface="百度综艺简体" panose="02010601030101010101" charset="-122"/>
                <a:ea typeface="百度综艺简体" panose="02010601030101010101" charset="-122"/>
              </a:rPr>
              <a:t>     // </a:t>
            </a:r>
            <a:r>
              <a:rPr lang="en-US" altLang="zh-CN" sz="1600" dirty="0">
                <a:solidFill>
                  <a:srgbClr val="FF0000"/>
                </a:solidFill>
                <a:latin typeface="百度综艺简体" panose="02010601030101010101" charset="-122"/>
                <a:ea typeface="百度综艺简体" panose="02010601030101010101" charset="-122"/>
              </a:rPr>
              <a:t>La</a:t>
            </a:r>
            <a:r>
              <a:rPr lang="zh-CN" altLang="en-US" sz="1600" dirty="0">
                <a:solidFill>
                  <a:srgbClr val="FF0000"/>
                </a:solidFill>
                <a:latin typeface="百度综艺简体" panose="02010601030101010101" charset="-122"/>
                <a:ea typeface="百度综艺简体" panose="02010601030101010101" charset="-122"/>
              </a:rPr>
              <a:t>中不存在和 </a:t>
            </a:r>
            <a:r>
              <a:rPr lang="en-US" altLang="zh-CN" sz="1600" dirty="0">
                <a:solidFill>
                  <a:srgbClr val="FF0000"/>
                </a:solidFill>
                <a:latin typeface="百度综艺简体" panose="02010601030101010101" charset="-122"/>
                <a:ea typeface="百度综艺简体" panose="02010601030101010101" charset="-122"/>
              </a:rPr>
              <a:t>e </a:t>
            </a:r>
            <a:r>
              <a:rPr lang="zh-CN" altLang="en-US" sz="1600" dirty="0">
                <a:solidFill>
                  <a:srgbClr val="FF0000"/>
                </a:solidFill>
                <a:latin typeface="百度综艺简体" panose="02010601030101010101" charset="-122"/>
                <a:ea typeface="百度综艺简体" panose="02010601030101010101" charset="-122"/>
              </a:rPr>
              <a:t>相同的数据元素， 则插入之</a:t>
            </a:r>
          </a:p>
          <a:p>
            <a:pPr marL="0" indent="0">
              <a:lnSpc>
                <a:spcPct val="150000"/>
              </a:lnSpc>
              <a:buNone/>
            </a:pPr>
            <a:r>
              <a:rPr lang="en-US" altLang="zh-CN" sz="1600" dirty="0">
                <a:latin typeface="百度综艺简体" panose="02010601030101010101" charset="-122"/>
                <a:ea typeface="百度综艺简体" panose="02010601030101010101" charset="-122"/>
              </a:rPr>
              <a:t>}} // union </a:t>
            </a:r>
          </a:p>
        </p:txBody>
      </p:sp>
      <p:sp>
        <p:nvSpPr>
          <p:cNvPr id="24" name="Rectangle 3"/>
          <p:cNvSpPr>
            <a:spLocks noGrp="1"/>
          </p:cNvSpPr>
          <p:nvPr/>
        </p:nvSpPr>
        <p:spPr>
          <a:xfrm>
            <a:off x="768509" y="739576"/>
            <a:ext cx="1485294" cy="435477"/>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smtClean="0">
                <a:solidFill>
                  <a:srgbClr val="2A5BA8"/>
                </a:solidFill>
                <a:latin typeface="百度综艺简体" panose="02010601030101010101" charset="-122"/>
                <a:ea typeface="百度综艺简体" panose="02010601030101010101" charset="-122"/>
              </a:rPr>
              <a:t>算法描述：</a:t>
            </a:r>
            <a:endParaRPr lang="en-US" altLang="zh-CN" sz="2000" dirty="0">
              <a:solidFill>
                <a:srgbClr val="2A5BA8"/>
              </a:solidFill>
              <a:latin typeface="百度综艺简体" panose="02010601030101010101" charset="-122"/>
              <a:ea typeface="百度综艺简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9"/>
                                        </p:tgtEl>
                                        <p:attrNameLst>
                                          <p:attrName>ppt_y</p:attrName>
                                        </p:attrNameLst>
                                      </p:cBhvr>
                                      <p:tavLst>
                                        <p:tav tm="0">
                                          <p:val>
                                            <p:strVal val="#ppt_y"/>
                                          </p:val>
                                        </p:tav>
                                        <p:tav tm="100000">
                                          <p:val>
                                            <p:strVal val="#ppt_y"/>
                                          </p:val>
                                        </p:tav>
                                      </p:tavLst>
                                    </p:anim>
                                    <p:anim calcmode="lin" valueType="num">
                                      <p:cBhvr>
                                        <p:cTn id="23"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9"/>
                                        </p:tgtEl>
                                      </p:cBhvr>
                                    </p:animEffect>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p:bldLst>
  </p:timing>
</p:sld>
</file>

<file path=ppt/theme/theme1.xml><?xml version="1.0" encoding="utf-8"?>
<a:theme xmlns:a="http://schemas.openxmlformats.org/drawingml/2006/main" name="Office 主题​​">
  <a:themeElements>
    <a:clrScheme name="自定义 647">
      <a:dk1>
        <a:sysClr val="windowText" lastClr="000000"/>
      </a:dk1>
      <a:lt1>
        <a:sysClr val="window" lastClr="FFFFFF"/>
      </a:lt1>
      <a:dk2>
        <a:srgbClr val="44546A"/>
      </a:dk2>
      <a:lt2>
        <a:srgbClr val="E7E6E6"/>
      </a:lt2>
      <a:accent1>
        <a:srgbClr val="2A5BA8"/>
      </a:accent1>
      <a:accent2>
        <a:srgbClr val="48AC92"/>
      </a:accent2>
      <a:accent3>
        <a:srgbClr val="2A5BA8"/>
      </a:accent3>
      <a:accent4>
        <a:srgbClr val="48AC92"/>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TotalTime>
  <Words>1056</Words>
  <Application>Microsoft Office PowerPoint</Application>
  <PresentationFormat>自定义</PresentationFormat>
  <Paragraphs>125</Paragraphs>
  <Slides>13</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Lato Light</vt:lpstr>
      <vt:lpstr>Monotype Sorts</vt:lpstr>
      <vt:lpstr>百度综艺简体</vt:lpstr>
      <vt:lpstr>等线</vt:lpstr>
      <vt:lpstr>等线 Light</vt:lpstr>
      <vt:lpstr>华文中宋</vt:lpstr>
      <vt:lpstr>宋体</vt:lpstr>
      <vt:lpstr>微软雅黑</vt:lpstr>
      <vt:lpstr>Arial</vt:lpstr>
      <vt:lpstr>Calibri</vt:lpstr>
      <vt:lpstr>Calibri Light</vt:lpstr>
      <vt:lpstr>Tahoma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Neusoft</cp:lastModifiedBy>
  <cp:revision>35</cp:revision>
  <dcterms:created xsi:type="dcterms:W3CDTF">2017-06-21T11:46:00Z</dcterms:created>
  <dcterms:modified xsi:type="dcterms:W3CDTF">2020-05-06T05:14:41Z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