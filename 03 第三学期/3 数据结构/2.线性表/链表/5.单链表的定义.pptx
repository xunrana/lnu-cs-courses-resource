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97" r:id="rId2"/>
    <p:sldId id="261" r:id="rId3"/>
    <p:sldId id="314" r:id="rId4"/>
    <p:sldId id="303" r:id="rId5"/>
    <p:sldId id="311" r:id="rId6"/>
    <p:sldId id="320" r:id="rId7"/>
    <p:sldId id="313" r:id="rId8"/>
    <p:sldId id="315" r:id="rId9"/>
    <p:sldId id="317" r:id="rId10"/>
  </p:sldIdLst>
  <p:sldSz cx="9144000" cy="51450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A5B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92" autoAdjust="0"/>
    <p:restoredTop sz="94660"/>
  </p:normalViewPr>
  <p:slideViewPr>
    <p:cSldViewPr snapToGrid="0">
      <p:cViewPr varScale="1">
        <p:scale>
          <a:sx n="96" d="100"/>
          <a:sy n="96" d="100"/>
        </p:scale>
        <p:origin x="53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692"/>
    </p:cViewPr>
  </p:sorter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231844-757F-4497-A6B9-29138D45B0D0}" type="datetimeFigureOut">
              <a:rPr lang="zh-CN" altLang="en-US" smtClean="0"/>
              <a:t>2022/9/13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7388" y="1143000"/>
            <a:ext cx="5483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BABFAC-0D77-4680-9C08-FA0DD250B4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99541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11242B-E086-4BFA-A7CA-F34B92C86E2F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32653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11242B-E086-4BFA-A7CA-F34B92C86E2F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25715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11242B-E086-4BFA-A7CA-F34B92C86E2F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57389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11242B-E086-4BFA-A7CA-F34B92C86E2F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03085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11242B-E086-4BFA-A7CA-F34B92C86E2F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01029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11242B-E086-4BFA-A7CA-F34B92C86E2F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07590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11242B-E086-4BFA-A7CA-F34B92C86E2F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46573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11242B-E086-4BFA-A7CA-F34B92C86E2F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45123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2032"/>
            <a:ext cx="6858000" cy="1791253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143000" y="2702363"/>
            <a:ext cx="6858000" cy="1242205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2022/9/13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2022/9/13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700"/>
            <a:ext cx="7886700" cy="214021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23888" y="3443160"/>
            <a:ext cx="7886700" cy="1125488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2022/9/13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28650" y="1369642"/>
            <a:ext cx="3886200" cy="3264511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29150" y="1369642"/>
            <a:ext cx="3886200" cy="3264511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2022/9/13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929"/>
            <a:ext cx="7886700" cy="99447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29842" y="1261261"/>
            <a:ext cx="3868340" cy="61812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29842" y="1879386"/>
            <a:ext cx="3868340" cy="2764294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261261"/>
            <a:ext cx="3887391" cy="61812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4629150" y="1879386"/>
            <a:ext cx="3887391" cy="2764294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2022/9/13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2022/9/13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2022/9/13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矩形 4"/>
          <p:cNvSpPr/>
          <p:nvPr userDrawn="1"/>
        </p:nvSpPr>
        <p:spPr>
          <a:xfrm>
            <a:off x="253" y="196280"/>
            <a:ext cx="144049" cy="50405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4" tIns="34292" rIns="68584" bIns="34292" rtlCol="0" anchor="ctr"/>
          <a:lstStyle/>
          <a:p>
            <a:pPr algn="ctr" defTabSz="685800"/>
            <a:endParaRPr lang="zh-CN" altLang="en-US" sz="1400" dirty="0">
              <a:solidFill>
                <a:srgbClr val="E7E6E6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6" name="文本框 37"/>
          <p:cNvSpPr txBox="1"/>
          <p:nvPr userDrawn="1"/>
        </p:nvSpPr>
        <p:spPr>
          <a:xfrm>
            <a:off x="216310" y="196280"/>
            <a:ext cx="2190351" cy="315475"/>
          </a:xfrm>
          <a:prstGeom prst="rect">
            <a:avLst/>
          </a:prstGeom>
          <a:noFill/>
        </p:spPr>
        <p:txBody>
          <a:bodyPr wrap="none" lIns="68584" tIns="34292" rIns="68584" bIns="34292" rtlCol="0">
            <a:spAutoFit/>
          </a:bodyPr>
          <a:lstStyle/>
          <a:p>
            <a:pPr defTabSz="685800"/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点击添加相关标题文字</a:t>
            </a:r>
          </a:p>
        </p:txBody>
      </p:sp>
      <p:sp>
        <p:nvSpPr>
          <p:cNvPr id="7" name="文本框 38"/>
          <p:cNvSpPr txBox="1"/>
          <p:nvPr userDrawn="1"/>
        </p:nvSpPr>
        <p:spPr>
          <a:xfrm>
            <a:off x="265271" y="520316"/>
            <a:ext cx="2039271" cy="207753"/>
          </a:xfrm>
          <a:prstGeom prst="rect">
            <a:avLst/>
          </a:prstGeom>
          <a:noFill/>
        </p:spPr>
        <p:txBody>
          <a:bodyPr wrap="square" lIns="68584" tIns="34292" rIns="68584" bIns="34292" rtlCol="0">
            <a:spAutoFit/>
          </a:bodyPr>
          <a:lstStyle/>
          <a:p>
            <a:pPr algn="dist" defTabSz="685800"/>
            <a:r>
              <a:rPr lang="en-US" altLang="zh-CN" sz="9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ADD RELATED TITLE WORDS</a:t>
            </a:r>
            <a:endParaRPr lang="zh-CN" altLang="en-US" sz="9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3006"/>
            <a:ext cx="2949178" cy="120052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87391" y="740798"/>
            <a:ext cx="4629150" cy="365634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1543526"/>
            <a:ext cx="2949178" cy="2859574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2022/9/13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20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3006"/>
            <a:ext cx="2949178" cy="120052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798"/>
            <a:ext cx="4629150" cy="365634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单击图标添加20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1543526"/>
            <a:ext cx="2949178" cy="2859574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2022/9/13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2022/9/13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928"/>
            <a:ext cx="1971675" cy="436022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628650" y="273928"/>
            <a:ext cx="5800725" cy="4360224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2022/9/13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3929"/>
            <a:ext cx="7886700" cy="994479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9ABEBE-EF13-4983-B182-046B37A0370C}" type="datetime1">
              <a:rPr lang="zh-CN" altLang="en-US"/>
              <a:t>2022/9/13</a:t>
            </a:fld>
            <a:endParaRPr lang="zh-CN" altLang="en-US" sz="1400" dirty="0">
              <a:solidFill>
                <a:prstClr val="blac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8145E6F-D1B7-49E0-9AB3-789D9698C190}" type="slidenum">
              <a:rPr lang="zh-CN" altLang="en-US"/>
              <a:t>‹#›</a:t>
            </a:fld>
            <a:endParaRPr lang="zh-CN" altLang="en-US" sz="1400" dirty="0">
              <a:solidFill>
                <a:prstClr val="blac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1143000" y="374188"/>
            <a:ext cx="6858000" cy="523279"/>
          </a:xfrm>
        </p:spPr>
        <p:txBody>
          <a:bodyPr anchor="b">
            <a:normAutofit/>
          </a:bodyPr>
          <a:lstStyle>
            <a:lvl1pPr algn="ctr">
              <a:defRPr sz="3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7" name="Subtitle 2"/>
          <p:cNvSpPr>
            <a:spLocks noGrp="1"/>
          </p:cNvSpPr>
          <p:nvPr>
            <p:ph type="subTitle" idx="1"/>
          </p:nvPr>
        </p:nvSpPr>
        <p:spPr>
          <a:xfrm>
            <a:off x="1143000" y="918257"/>
            <a:ext cx="6858000" cy="280749"/>
          </a:xfrm>
        </p:spPr>
        <p:txBody>
          <a:bodyPr>
            <a:normAutofit/>
          </a:bodyPr>
          <a:lstStyle>
            <a:lvl1pPr marL="0" indent="0" algn="ctr">
              <a:buNone/>
              <a:defRPr sz="1100">
                <a:solidFill>
                  <a:schemeClr val="bg1">
                    <a:lumMod val="50000"/>
                  </a:schemeClr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40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  <a:endParaRPr lang="en-AU" dirty="0"/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628650" y="1503977"/>
            <a:ext cx="3942159" cy="353809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endParaRPr lang="en-AU" dirty="0"/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628650" y="1869220"/>
            <a:ext cx="3942159" cy="1320052"/>
          </a:xfrm>
        </p:spPr>
        <p:txBody>
          <a:bodyPr>
            <a:normAutofit/>
          </a:bodyPr>
          <a:lstStyle>
            <a:lvl1pPr marL="0" indent="0">
              <a:buNone/>
              <a:defRPr sz="1100">
                <a:latin typeface="Lato Light" panose="020F0302020204030203" pitchFamily="34" charset="0"/>
              </a:defRPr>
            </a:lvl1pPr>
          </a:lstStyle>
          <a:p>
            <a:pPr lvl="0"/>
            <a:endParaRPr lang="en-AU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5"/>
          </p:nvPr>
        </p:nvSpPr>
        <p:spPr>
          <a:xfrm>
            <a:off x="629841" y="3288332"/>
            <a:ext cx="3940969" cy="370398"/>
          </a:xfrm>
        </p:spPr>
        <p:txBody>
          <a:bodyPr>
            <a:normAutofit/>
          </a:bodyPr>
          <a:lstStyle>
            <a:lvl1pPr marL="0" indent="0">
              <a:buNone/>
              <a:defRPr sz="1200" b="1" i="1">
                <a:latin typeface="Lato Light" panose="020F0302020204030203" pitchFamily="34" charset="0"/>
              </a:defRPr>
            </a:lvl1pPr>
          </a:lstStyle>
          <a:p>
            <a:pPr lvl="0"/>
            <a:endParaRPr lang="en-AU" dirty="0"/>
          </a:p>
        </p:txBody>
      </p:sp>
      <p:sp>
        <p:nvSpPr>
          <p:cNvPr id="13" name="Text Placeholder 13"/>
          <p:cNvSpPr>
            <a:spLocks noGrp="1"/>
          </p:cNvSpPr>
          <p:nvPr>
            <p:ph type="body" sz="quarter" idx="16"/>
          </p:nvPr>
        </p:nvSpPr>
        <p:spPr>
          <a:xfrm>
            <a:off x="629841" y="3658730"/>
            <a:ext cx="3940969" cy="370399"/>
          </a:xfrm>
        </p:spPr>
        <p:txBody>
          <a:bodyPr>
            <a:normAutofit/>
          </a:bodyPr>
          <a:lstStyle>
            <a:lvl1pPr marL="0" indent="0">
              <a:buNone/>
              <a:defRPr sz="900" b="1">
                <a:latin typeface="Lato Light" panose="020F0302020204030203" pitchFamily="34" charset="0"/>
              </a:defRPr>
            </a:lvl1pPr>
          </a:lstStyle>
          <a:p>
            <a:pPr lvl="0"/>
            <a:endParaRPr lang="en-AU" dirty="0"/>
          </a:p>
        </p:txBody>
      </p:sp>
      <p:sp>
        <p:nvSpPr>
          <p:cNvPr id="14" name="Text Placeholder 15"/>
          <p:cNvSpPr>
            <a:spLocks noGrp="1"/>
          </p:cNvSpPr>
          <p:nvPr>
            <p:ph type="body" sz="quarter" idx="17"/>
          </p:nvPr>
        </p:nvSpPr>
        <p:spPr>
          <a:xfrm>
            <a:off x="629841" y="4029128"/>
            <a:ext cx="3942159" cy="270355"/>
          </a:xfrm>
        </p:spPr>
        <p:txBody>
          <a:bodyPr>
            <a:normAutofit/>
          </a:bodyPr>
          <a:lstStyle>
            <a:lvl1pPr marL="0" indent="0">
              <a:buNone/>
              <a:defRPr sz="900">
                <a:latin typeface="Lato Light" panose="020F0302020204030203" pitchFamily="34" charset="0"/>
              </a:defRPr>
            </a:lvl1pPr>
          </a:lstStyle>
          <a:p>
            <a:pPr lvl="0"/>
            <a:endParaRPr lang="en-AU" dirty="0"/>
          </a:p>
        </p:txBody>
      </p:sp>
      <p:sp>
        <p:nvSpPr>
          <p:cNvPr id="15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8735"/>
            <a:ext cx="2057400" cy="273928"/>
          </a:xfrm>
        </p:spPr>
        <p:txBody>
          <a:bodyPr/>
          <a:lstStyle>
            <a:lvl1pPr>
              <a:defRPr>
                <a:latin typeface="Lato Light" panose="020F0302020204030203" pitchFamily="34" charset="0"/>
              </a:defRPr>
            </a:lvl1pPr>
          </a:lstStyle>
          <a:p>
            <a:fld id="{722F6D6F-DD99-46DF-A9EA-728D63EA6A31}" type="datetimeFigureOut">
              <a:rPr lang="en-AU" smtClean="0"/>
              <a:t>13/09/2022</a:t>
            </a:fld>
            <a:endParaRPr lang="en-AU" dirty="0"/>
          </a:p>
        </p:txBody>
      </p:sp>
      <p:sp>
        <p:nvSpPr>
          <p:cNvPr id="1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8735"/>
            <a:ext cx="3086100" cy="273928"/>
          </a:xfrm>
        </p:spPr>
        <p:txBody>
          <a:bodyPr/>
          <a:lstStyle>
            <a:lvl1pPr>
              <a:defRPr>
                <a:latin typeface="Lato Light" panose="020F0302020204030203" pitchFamily="34" charset="0"/>
              </a:defRPr>
            </a:lvl1pPr>
          </a:lstStyle>
          <a:p>
            <a:endParaRPr lang="en-AU" dirty="0"/>
          </a:p>
        </p:txBody>
      </p:sp>
      <p:sp>
        <p:nvSpPr>
          <p:cNvPr id="1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8735"/>
            <a:ext cx="2057400" cy="273928"/>
          </a:xfrm>
        </p:spPr>
        <p:txBody>
          <a:bodyPr/>
          <a:lstStyle>
            <a:lvl1pPr>
              <a:defRPr>
                <a:latin typeface="Lato Light" panose="020F0302020204030203" pitchFamily="34" charset="0"/>
              </a:defRPr>
            </a:lvl1pPr>
          </a:lstStyle>
          <a:p>
            <a:fld id="{84AD2E7E-F7BA-4F6B-9D0C-0B2331C2AE06}" type="slidenum">
              <a:rPr lang="en-AU" smtClean="0"/>
              <a:t>‹#›</a:t>
            </a:fld>
            <a:endParaRPr lang="en-AU" dirty="0"/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18"/>
          </p:nvPr>
        </p:nvSpPr>
        <p:spPr>
          <a:xfrm>
            <a:off x="5112544" y="1504225"/>
            <a:ext cx="3251597" cy="353724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pPr lvl="0"/>
            <a:endParaRPr lang="en-AU" dirty="0"/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9"/>
          </p:nvPr>
        </p:nvSpPr>
        <p:spPr>
          <a:xfrm>
            <a:off x="5112544" y="1868668"/>
            <a:ext cx="3251597" cy="703876"/>
          </a:xfrm>
        </p:spPr>
        <p:txBody>
          <a:bodyPr>
            <a:normAutofit/>
          </a:bodyPr>
          <a:lstStyle>
            <a:lvl1pPr marL="0" indent="0">
              <a:buNone/>
              <a:defRPr sz="900">
                <a:latin typeface="Lato Light" panose="020F0302020204030203" pitchFamily="34" charset="0"/>
              </a:defRPr>
            </a:lvl1pPr>
          </a:lstStyle>
          <a:p>
            <a:pPr lvl="0"/>
            <a:endParaRPr lang="en-AU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929"/>
            <a:ext cx="7886700" cy="9944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642"/>
            <a:ext cx="7886700" cy="32645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8735"/>
            <a:ext cx="2057400" cy="2739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B0A747-1217-4325-A876-522190C71555}" type="datetimeFigureOut">
              <a:rPr lang="zh-CN" altLang="en-US" smtClean="0"/>
              <a:t>2022/9/13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8735"/>
            <a:ext cx="3086100" cy="2739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8735"/>
            <a:ext cx="2057400" cy="2739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  <p:sldLayoutId id="2147483662" r:id="rId13"/>
    <p:sldLayoutId id="2147483663" r:id="rId14"/>
  </p:sldLayoutIdLst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411" y="5875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pic>
        <p:nvPicPr>
          <p:cNvPr id="3" name="20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84"/>
          <a:stretch>
            <a:fillRect/>
          </a:stretch>
        </p:blipFill>
        <p:spPr>
          <a:xfrm>
            <a:off x="4224" y="1133312"/>
            <a:ext cx="3523982" cy="4018760"/>
          </a:xfrm>
          <a:prstGeom prst="rect">
            <a:avLst/>
          </a:prstGeom>
          <a:solidFill>
            <a:srgbClr val="2A5BA8"/>
          </a:solidFill>
        </p:spPr>
      </p:pic>
      <p:pic>
        <p:nvPicPr>
          <p:cNvPr id="5" name="20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564" b="51735"/>
          <a:stretch>
            <a:fillRect/>
          </a:stretch>
        </p:blipFill>
        <p:spPr>
          <a:xfrm flipV="1">
            <a:off x="7180313" y="794"/>
            <a:ext cx="1952652" cy="1727659"/>
          </a:xfrm>
          <a:prstGeom prst="rect">
            <a:avLst/>
          </a:prstGeom>
        </p:spPr>
      </p:pic>
      <p:sp>
        <p:nvSpPr>
          <p:cNvPr id="7" name="矩形 259"/>
          <p:cNvSpPr>
            <a:spLocks noChangeArrowheads="1"/>
          </p:cNvSpPr>
          <p:nvPr/>
        </p:nvSpPr>
        <p:spPr bwMode="auto">
          <a:xfrm>
            <a:off x="7107063" y="2957195"/>
            <a:ext cx="1782208" cy="3734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5012" tIns="32506" rIns="65012" bIns="3250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en-US" altLang="zh-CN" sz="2000" b="1" cap="all" spc="213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——</a:t>
            </a:r>
            <a:r>
              <a:rPr lang="zh-CN" altLang="en-US" sz="2000" b="1" cap="all" spc="213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类</a:t>
            </a:r>
            <a:r>
              <a:rPr lang="en-US" altLang="zh-CN" sz="2000" b="1" cap="all" spc="213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C</a:t>
            </a:r>
            <a:r>
              <a:rPr lang="zh-CN" altLang="en-US" sz="2000" b="1" cap="all" spc="213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描述</a:t>
            </a:r>
          </a:p>
        </p:txBody>
      </p:sp>
      <p:sp>
        <p:nvSpPr>
          <p:cNvPr id="8" name="矩形 259"/>
          <p:cNvSpPr>
            <a:spLocks noChangeArrowheads="1"/>
          </p:cNvSpPr>
          <p:nvPr/>
        </p:nvSpPr>
        <p:spPr bwMode="auto">
          <a:xfrm>
            <a:off x="3472815" y="2324735"/>
            <a:ext cx="566928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5012" tIns="32506" rIns="65012" bIns="3250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zh-CN" altLang="en-US" sz="2800" cap="all" spc="213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数据结构 </a:t>
            </a:r>
            <a:r>
              <a:rPr lang="en-US" altLang="zh-CN" sz="2800" cap="all" spc="213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DATA STRUCTURE</a:t>
            </a:r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4803775" y="3791585"/>
            <a:ext cx="1569085" cy="184150"/>
          </a:xfrm>
          <a:prstGeom prst="rect">
            <a:avLst/>
          </a:prstGeom>
          <a:solidFill>
            <a:schemeClr val="accent1"/>
          </a:solidFill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>
            <a:lvl1pPr algn="ctr">
              <a:spcBef>
                <a:spcPct val="0"/>
              </a:spcBef>
              <a:buNone/>
              <a:defRPr lang="ko-KR" altLang="en-US" sz="4400" b="1" baseline="0" dirty="0">
                <a:solidFill>
                  <a:schemeClr val="bg1"/>
                </a:solidFill>
                <a:effectLst>
                  <a:outerShdw blurRad="12700" dist="25400" dir="5400000" algn="t" rotWithShape="0">
                    <a:prstClr val="black">
                      <a:alpha val="50000"/>
                    </a:prst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l"/>
            <a:r>
              <a:rPr lang="zh-CN" altLang="en-US" sz="1200" b="0" noProof="1">
                <a:effectLst/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任课教师：</a:t>
            </a:r>
            <a:r>
              <a:rPr lang="zh-CN" sz="1200" b="0" noProof="1">
                <a:effectLst/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王青松</a:t>
            </a:r>
            <a:r>
              <a:rPr lang="en-US" altLang="zh-CN" sz="1200" b="0" noProof="1">
                <a:effectLst/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 </a:t>
            </a:r>
            <a:r>
              <a:rPr lang="en-US" altLang="zh-CN" sz="1200" b="0" noProof="1">
                <a:effectLst/>
                <a:latin typeface="华文中宋" panose="02010600040101010101" charset="-122"/>
                <a:ea typeface="华文中宋" panose="02010600040101010101" charset="-122"/>
              </a:rPr>
              <a:t>     </a:t>
            </a:r>
            <a:r>
              <a:rPr lang="zh-CN" altLang="en-US" sz="1200" b="0" noProof="1">
                <a:effectLst/>
                <a:latin typeface="华文中宋" panose="02010600040101010101" charset="-122"/>
                <a:ea typeface="华文中宋" panose="02010600040101010101" charset="-122"/>
              </a:rPr>
              <a:t>   </a:t>
            </a:r>
            <a:endParaRPr lang="en-US" altLang="ko-KR" sz="1200" b="0" noProof="1">
              <a:effectLst/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 bwMode="auto">
          <a:xfrm>
            <a:off x="6372558" y="3791658"/>
            <a:ext cx="2760406" cy="184538"/>
          </a:xfrm>
          <a:prstGeom prst="rect">
            <a:avLst/>
          </a:prstGeom>
          <a:solidFill>
            <a:schemeClr val="accent2"/>
          </a:solidFill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>
            <a:lvl1pPr algn="ctr">
              <a:spcBef>
                <a:spcPct val="0"/>
              </a:spcBef>
              <a:buNone/>
              <a:defRPr lang="ko-KR" altLang="en-US" sz="4400" b="1" baseline="0" dirty="0">
                <a:solidFill>
                  <a:schemeClr val="bg1"/>
                </a:solidFill>
                <a:effectLst>
                  <a:outerShdw blurRad="12700" dist="25400" dir="5400000" algn="t" rotWithShape="0">
                    <a:prstClr val="black">
                      <a:alpha val="50000"/>
                    </a:prst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l"/>
            <a:endParaRPr lang="en-US" altLang="ko-KR" sz="1200" b="0" noProof="1">
              <a:effectLst/>
              <a:latin typeface="华文中宋" panose="02010600040101010101" charset="-122"/>
              <a:ea typeface="华文中宋" panose="0201060004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 tmFilter="0,0; .5, 1; 1, 1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599"/>
                            </p:stCondLst>
                            <p:childTnLst>
                              <p:par>
                                <p:cTn id="24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25" dur="5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6" dur="25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099"/>
                            </p:stCondLst>
                            <p:childTnLst>
                              <p:par>
                                <p:cTn id="28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 tmFilter="0,0; .5, 1; 1, 1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849"/>
                            </p:stCondLst>
                            <p:childTnLst>
                              <p:par>
                                <p:cTn id="36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37" dur="5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8" dur="25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4349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4849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  <p:bldP spid="8" grpId="0"/>
      <p:bldP spid="8" grpId="1"/>
      <p:bldP spid="10" grpId="0" bldLvl="0" animBg="1"/>
      <p:bldP spid="11" grpId="0" bldLvl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>
            <a:cxnSpLocks noChangeShapeType="1"/>
          </p:cNvCxnSpPr>
          <p:nvPr/>
        </p:nvCxnSpPr>
        <p:spPr bwMode="auto">
          <a:xfrm>
            <a:off x="307340" y="537845"/>
            <a:ext cx="882904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</a:ln>
          <a:effectLst/>
        </p:spPr>
      </p:cxnSp>
      <p:sp>
        <p:nvSpPr>
          <p:cNvPr id="16" name="矩形 15"/>
          <p:cNvSpPr/>
          <p:nvPr/>
        </p:nvSpPr>
        <p:spPr>
          <a:xfrm>
            <a:off x="1411" y="5240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800" dirty="0">
              <a:solidFill>
                <a:schemeClr val="accent2"/>
              </a:solidFill>
              <a:effectLst/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19" name="TextBox 5"/>
          <p:cNvSpPr txBox="1">
            <a:spLocks noChangeArrowheads="1"/>
          </p:cNvSpPr>
          <p:nvPr/>
        </p:nvSpPr>
        <p:spPr bwMode="auto">
          <a:xfrm>
            <a:off x="234950" y="203835"/>
            <a:ext cx="206756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《数据结构》</a:t>
            </a: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1412" y="217303"/>
            <a:ext cx="401225" cy="40122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grpSp>
        <p:nvGrpSpPr>
          <p:cNvPr id="2" name="组合 1"/>
          <p:cNvGrpSpPr/>
          <p:nvPr/>
        </p:nvGrpSpPr>
        <p:grpSpPr>
          <a:xfrm>
            <a:off x="2140585" y="362585"/>
            <a:ext cx="7002145" cy="109220"/>
            <a:chOff x="2140585" y="362585"/>
            <a:chExt cx="7002145" cy="109220"/>
          </a:xfrm>
        </p:grpSpPr>
        <p:cxnSp>
          <p:nvCxnSpPr>
            <p:cNvPr id="23" name="直接连接符 22"/>
            <p:cNvCxnSpPr/>
            <p:nvPr/>
          </p:nvCxnSpPr>
          <p:spPr>
            <a:xfrm>
              <a:off x="2140585" y="417195"/>
              <a:ext cx="6889750" cy="0"/>
            </a:xfrm>
            <a:prstGeom prst="line">
              <a:avLst/>
            </a:prstGeom>
            <a:ln w="22225">
              <a:solidFill>
                <a:srgbClr val="2A5B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椭圆 23"/>
            <p:cNvSpPr/>
            <p:nvPr/>
          </p:nvSpPr>
          <p:spPr>
            <a:xfrm>
              <a:off x="9033510" y="362585"/>
              <a:ext cx="109220" cy="1092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1" name="Text Placeholder 11"/>
          <p:cNvSpPr txBox="1"/>
          <p:nvPr/>
        </p:nvSpPr>
        <p:spPr>
          <a:xfrm>
            <a:off x="690533" y="857250"/>
            <a:ext cx="4864735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顺序表的弱点：</a:t>
            </a:r>
          </a:p>
        </p:txBody>
      </p:sp>
      <p:sp>
        <p:nvSpPr>
          <p:cNvPr id="37" name="AutoShape 3"/>
          <p:cNvSpPr>
            <a:spLocks noChangeAspect="1" noChangeArrowheads="1" noTextEdit="1"/>
          </p:cNvSpPr>
          <p:nvPr/>
        </p:nvSpPr>
        <p:spPr bwMode="auto">
          <a:xfrm>
            <a:off x="557288" y="744733"/>
            <a:ext cx="542665" cy="54122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endParaRPr lang="zh-CN" altLang="en-US" sz="1800"/>
          </a:p>
        </p:txBody>
      </p:sp>
      <p:sp>
        <p:nvSpPr>
          <p:cNvPr id="25" name="Text Placeholder 11"/>
          <p:cNvSpPr txBox="1"/>
          <p:nvPr/>
        </p:nvSpPr>
        <p:spPr>
          <a:xfrm>
            <a:off x="2302510" y="116334"/>
            <a:ext cx="280543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1800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单链表的定义</a:t>
            </a:r>
            <a:endParaRPr lang="zh-CN" sz="1800" dirty="0">
              <a:solidFill>
                <a:schemeClr val="accent2"/>
              </a:solidFill>
              <a:latin typeface="百度综艺简体" panose="02010601030101010101" charset="-122"/>
              <a:ea typeface="百度综艺简体" panose="02010601030101010101" charset="-122"/>
              <a:sym typeface="Arial" panose="020B0604020202020204" pitchFamily="34" charset="0"/>
            </a:endParaRPr>
          </a:p>
        </p:txBody>
      </p:sp>
      <p:sp>
        <p:nvSpPr>
          <p:cNvPr id="13" name="TextBox 5"/>
          <p:cNvSpPr txBox="1">
            <a:spLocks noChangeArrowheads="1"/>
          </p:cNvSpPr>
          <p:nvPr/>
        </p:nvSpPr>
        <p:spPr bwMode="auto">
          <a:xfrm>
            <a:off x="933089" y="1321969"/>
            <a:ext cx="7277822" cy="50783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285750" indent="-285750" fontAlgn="auto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dirty="0" smtClean="0">
                <a:latin typeface="百度综艺简体" panose="02010601030101010101" charset="-122"/>
                <a:ea typeface="百度综艺简体" panose="02010601030101010101" charset="-122"/>
              </a:rPr>
              <a:t> 插入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、删除需要移动大量元素</a:t>
            </a:r>
          </a:p>
        </p:txBody>
      </p:sp>
      <p:sp>
        <p:nvSpPr>
          <p:cNvPr id="14" name="TextBox 5"/>
          <p:cNvSpPr txBox="1">
            <a:spLocks noChangeArrowheads="1"/>
          </p:cNvSpPr>
          <p:nvPr/>
        </p:nvSpPr>
        <p:spPr bwMode="auto">
          <a:xfrm>
            <a:off x="933089" y="1715122"/>
            <a:ext cx="7277822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342900" indent="-342900" fontAlgn="auto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不能有效利用存储空间</a:t>
            </a:r>
          </a:p>
        </p:txBody>
      </p:sp>
      <p:sp>
        <p:nvSpPr>
          <p:cNvPr id="17" name="TextBox 5"/>
          <p:cNvSpPr txBox="1">
            <a:spLocks noChangeArrowheads="1"/>
          </p:cNvSpPr>
          <p:nvPr/>
        </p:nvSpPr>
        <p:spPr bwMode="auto">
          <a:xfrm>
            <a:off x="933089" y="2119632"/>
            <a:ext cx="7277822" cy="50417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342900" indent="-342900" fontAlgn="auto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优点：可以</a:t>
            </a:r>
            <a:r>
              <a:rPr lang="zh-CN" altLang="en-US" dirty="0" smtClean="0">
                <a:latin typeface="百度综艺简体" panose="02010601030101010101" charset="-122"/>
                <a:ea typeface="百度综艺简体" panose="02010601030101010101" charset="-122"/>
              </a:rPr>
              <a:t>随机存取</a:t>
            </a:r>
            <a:endParaRPr lang="zh-CN" altLang="en-US" dirty="0">
              <a:latin typeface="百度综艺简体" panose="02010601030101010101" charset="-122"/>
              <a:ea typeface="百度综艺简体" panose="02010601030101010101" charset="-122"/>
            </a:endParaRPr>
          </a:p>
        </p:txBody>
      </p:sp>
      <p:sp>
        <p:nvSpPr>
          <p:cNvPr id="18" name="TextBox 5"/>
          <p:cNvSpPr txBox="1">
            <a:spLocks noChangeArrowheads="1"/>
          </p:cNvSpPr>
          <p:nvPr/>
        </p:nvSpPr>
        <p:spPr bwMode="auto">
          <a:xfrm>
            <a:off x="933089" y="3198265"/>
            <a:ext cx="7213384" cy="79111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用一组地址任意的存储单元存放线性表中的数据元素</a:t>
            </a:r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.  </a:t>
            </a: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以元素</a:t>
            </a:r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(</a:t>
            </a: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数据元素的映象</a:t>
            </a:r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) + (</a:t>
            </a: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指示后继元素存储位置的</a:t>
            </a:r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)</a:t>
            </a: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指针 </a:t>
            </a:r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= </a:t>
            </a: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结点</a:t>
            </a:r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(</a:t>
            </a: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表示数据元素</a:t>
            </a:r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)</a:t>
            </a:r>
          </a:p>
        </p:txBody>
      </p:sp>
      <p:sp>
        <p:nvSpPr>
          <p:cNvPr id="20" name="Text Placeholder 11"/>
          <p:cNvSpPr txBox="1"/>
          <p:nvPr/>
        </p:nvSpPr>
        <p:spPr>
          <a:xfrm>
            <a:off x="690533" y="2813491"/>
            <a:ext cx="4864735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单链表</a:t>
            </a:r>
          </a:p>
        </p:txBody>
      </p:sp>
      <p:sp>
        <p:nvSpPr>
          <p:cNvPr id="21" name="TextBox 5"/>
          <p:cNvSpPr txBox="1">
            <a:spLocks noChangeArrowheads="1"/>
          </p:cNvSpPr>
          <p:nvPr/>
        </p:nvSpPr>
        <p:spPr bwMode="auto">
          <a:xfrm>
            <a:off x="933089" y="4018106"/>
            <a:ext cx="7277822" cy="4630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线性表 结点的</a:t>
            </a:r>
            <a:r>
              <a:rPr lang="zh-CN" altLang="en-US" dirty="0" smtClean="0">
                <a:latin typeface="百度综艺简体" panose="02010601030101010101" charset="-122"/>
                <a:ea typeface="百度综艺简体" panose="02010601030101010101" charset="-122"/>
              </a:rPr>
              <a:t>序列</a:t>
            </a:r>
            <a:r>
              <a:rPr lang="en-US" altLang="zh-CN" dirty="0" smtClean="0">
                <a:latin typeface="百度综艺简体" panose="02010601030101010101" charset="-122"/>
                <a:ea typeface="百度综艺简体" panose="02010601030101010101" charset="-122"/>
              </a:rPr>
              <a:t>——</a:t>
            </a:r>
            <a:r>
              <a:rPr lang="zh-CN" altLang="en-US" dirty="0" smtClean="0">
                <a:latin typeface="百度综艺简体" panose="02010601030101010101" charset="-122"/>
                <a:ea typeface="百度综艺简体" panose="02010601030101010101" charset="-122"/>
              </a:rPr>
              <a:t>称作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链表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 tmFilter="0,0; .5, 1; 1, 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5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250"/>
                            </p:stCondLst>
                            <p:childTnLst>
                              <p:par>
                                <p:cTn id="33" presetID="52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35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36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250"/>
                            </p:stCondLst>
                            <p:childTnLst>
                              <p:par>
                                <p:cTn id="3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 tmFilter="0,0; .5, 1; 1, 1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 tmFilter="0,0; .5, 1; 1, 1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 tmFilter="0,0; .5, 1; 1, 1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 tmFilter="0,0; .5, 1; 1, 1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3600"/>
                            </p:stCondLst>
                            <p:childTnLst>
                              <p:par>
                                <p:cTn id="8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500" tmFilter="0,0; .5, 1; 1, 1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utoUpdateAnimBg="0"/>
      <p:bldP spid="22" grpId="0" bldLvl="0" animBg="1" autoUpdateAnimBg="0"/>
      <p:bldP spid="31" grpId="0"/>
      <p:bldP spid="37" grpId="0" animBg="1"/>
      <p:bldP spid="25" grpId="0"/>
      <p:bldP spid="13" grpId="0" autoUpdateAnimBg="0"/>
      <p:bldP spid="14" grpId="0" autoUpdateAnimBg="0"/>
      <p:bldP spid="17" grpId="0" autoUpdateAnimBg="0"/>
      <p:bldP spid="18" grpId="0" autoUpdateAnimBg="0"/>
      <p:bldP spid="20" grpId="0"/>
      <p:bldP spid="21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>
            <a:cxnSpLocks noChangeShapeType="1"/>
          </p:cNvCxnSpPr>
          <p:nvPr/>
        </p:nvCxnSpPr>
        <p:spPr bwMode="auto">
          <a:xfrm>
            <a:off x="307340" y="537845"/>
            <a:ext cx="882904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</a:ln>
          <a:effectLst/>
        </p:spPr>
      </p:cxnSp>
      <p:sp>
        <p:nvSpPr>
          <p:cNvPr id="16" name="矩形 15"/>
          <p:cNvSpPr/>
          <p:nvPr/>
        </p:nvSpPr>
        <p:spPr>
          <a:xfrm>
            <a:off x="1411" y="5240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800" dirty="0">
              <a:solidFill>
                <a:schemeClr val="accent2"/>
              </a:solidFill>
              <a:effectLst/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19" name="TextBox 5"/>
          <p:cNvSpPr txBox="1">
            <a:spLocks noChangeArrowheads="1"/>
          </p:cNvSpPr>
          <p:nvPr/>
        </p:nvSpPr>
        <p:spPr bwMode="auto">
          <a:xfrm>
            <a:off x="234950" y="203835"/>
            <a:ext cx="206756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《数据结构》</a:t>
            </a: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1412" y="217303"/>
            <a:ext cx="401225" cy="40122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grpSp>
        <p:nvGrpSpPr>
          <p:cNvPr id="2" name="组合 1"/>
          <p:cNvGrpSpPr/>
          <p:nvPr/>
        </p:nvGrpSpPr>
        <p:grpSpPr>
          <a:xfrm>
            <a:off x="2140585" y="362585"/>
            <a:ext cx="7002145" cy="109220"/>
            <a:chOff x="2140585" y="362585"/>
            <a:chExt cx="7002145" cy="109220"/>
          </a:xfrm>
        </p:grpSpPr>
        <p:cxnSp>
          <p:nvCxnSpPr>
            <p:cNvPr id="23" name="直接连接符 22"/>
            <p:cNvCxnSpPr/>
            <p:nvPr/>
          </p:nvCxnSpPr>
          <p:spPr>
            <a:xfrm>
              <a:off x="2140585" y="417195"/>
              <a:ext cx="6889750" cy="0"/>
            </a:xfrm>
            <a:prstGeom prst="line">
              <a:avLst/>
            </a:prstGeom>
            <a:ln w="22225">
              <a:solidFill>
                <a:srgbClr val="2A5B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椭圆 23"/>
            <p:cNvSpPr/>
            <p:nvPr/>
          </p:nvSpPr>
          <p:spPr>
            <a:xfrm>
              <a:off x="9033510" y="362585"/>
              <a:ext cx="109220" cy="1092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1" name="Text Placeholder 11"/>
          <p:cNvSpPr txBox="1"/>
          <p:nvPr/>
        </p:nvSpPr>
        <p:spPr>
          <a:xfrm>
            <a:off x="1106170" y="857250"/>
            <a:ext cx="4864735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单链表的存储映像</a:t>
            </a:r>
          </a:p>
        </p:txBody>
      </p:sp>
      <p:sp>
        <p:nvSpPr>
          <p:cNvPr id="37" name="AutoShape 3"/>
          <p:cNvSpPr>
            <a:spLocks noChangeAspect="1" noChangeArrowheads="1" noTextEdit="1"/>
          </p:cNvSpPr>
          <p:nvPr/>
        </p:nvSpPr>
        <p:spPr bwMode="auto">
          <a:xfrm>
            <a:off x="557288" y="744733"/>
            <a:ext cx="542665" cy="54122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endParaRPr lang="zh-CN" altLang="en-US" sz="1800"/>
          </a:p>
        </p:txBody>
      </p:sp>
      <p:sp>
        <p:nvSpPr>
          <p:cNvPr id="25" name="Text Placeholder 11"/>
          <p:cNvSpPr txBox="1"/>
          <p:nvPr/>
        </p:nvSpPr>
        <p:spPr>
          <a:xfrm>
            <a:off x="2302510" y="116334"/>
            <a:ext cx="280543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1800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单链表的定义</a:t>
            </a:r>
          </a:p>
        </p:txBody>
      </p:sp>
      <p:pic>
        <p:nvPicPr>
          <p:cNvPr id="21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0873" y="1687152"/>
            <a:ext cx="5801158" cy="255552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 w="76200">
            <a:solidFill>
              <a:srgbClr val="2A5BA8"/>
            </a:solidFill>
            <a:miter lim="800000"/>
            <a:headEnd/>
            <a:tailEnd/>
          </a:ln>
          <a:effectLst>
            <a:reflection blurRad="12700" stA="38000" endPos="28000" dist="5000" dir="5400000" sy="-100000" algn="bl" rotWithShape="0"/>
            <a:softEdge rad="12700"/>
          </a:effectLst>
          <a:extLst/>
        </p:spPr>
      </p:pic>
    </p:spTree>
    <p:extLst>
      <p:ext uri="{BB962C8B-B14F-4D97-AF65-F5344CB8AC3E}">
        <p14:creationId xmlns:p14="http://schemas.microsoft.com/office/powerpoint/2010/main" val="20131275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 tmFilter="0,0; .5, 1; 1, 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5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250"/>
                            </p:stCondLst>
                            <p:childTnLst>
                              <p:par>
                                <p:cTn id="33" presetID="52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35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36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250"/>
                            </p:stCondLst>
                            <p:childTnLst>
                              <p:par>
                                <p:cTn id="3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utoUpdateAnimBg="0"/>
      <p:bldP spid="22" grpId="0" bldLvl="0" animBg="1" autoUpdateAnimBg="0"/>
      <p:bldP spid="31" grpId="0"/>
      <p:bldP spid="37" grpId="0" animBg="1"/>
      <p:bldP spid="2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>
            <a:cxnSpLocks noChangeShapeType="1"/>
          </p:cNvCxnSpPr>
          <p:nvPr/>
        </p:nvCxnSpPr>
        <p:spPr bwMode="auto">
          <a:xfrm>
            <a:off x="307340" y="537845"/>
            <a:ext cx="882904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</a:ln>
          <a:effectLst/>
        </p:spPr>
      </p:cxnSp>
      <p:sp>
        <p:nvSpPr>
          <p:cNvPr id="16" name="矩形 15"/>
          <p:cNvSpPr/>
          <p:nvPr/>
        </p:nvSpPr>
        <p:spPr>
          <a:xfrm>
            <a:off x="1411" y="5240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800" dirty="0">
              <a:solidFill>
                <a:schemeClr val="accent2"/>
              </a:solidFill>
              <a:effectLst/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19" name="TextBox 5"/>
          <p:cNvSpPr txBox="1">
            <a:spLocks noChangeArrowheads="1"/>
          </p:cNvSpPr>
          <p:nvPr/>
        </p:nvSpPr>
        <p:spPr bwMode="auto">
          <a:xfrm>
            <a:off x="234950" y="203835"/>
            <a:ext cx="206756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《数据结构》</a:t>
            </a: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1412" y="217303"/>
            <a:ext cx="401225" cy="40122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sp>
        <p:nvSpPr>
          <p:cNvPr id="37" name="AutoShape 3"/>
          <p:cNvSpPr>
            <a:spLocks noChangeAspect="1" noChangeArrowheads="1" noTextEdit="1"/>
          </p:cNvSpPr>
          <p:nvPr/>
        </p:nvSpPr>
        <p:spPr bwMode="auto">
          <a:xfrm>
            <a:off x="557288" y="744733"/>
            <a:ext cx="542665" cy="54122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endParaRPr lang="zh-CN" altLang="en-US" sz="1800"/>
          </a:p>
        </p:txBody>
      </p:sp>
      <p:sp>
        <p:nvSpPr>
          <p:cNvPr id="53" name="TextBox 5"/>
          <p:cNvSpPr txBox="1">
            <a:spLocks noChangeArrowheads="1"/>
          </p:cNvSpPr>
          <p:nvPr/>
        </p:nvSpPr>
        <p:spPr bwMode="auto">
          <a:xfrm>
            <a:off x="1099953" y="1285954"/>
            <a:ext cx="6265991" cy="36933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zh-CN" altLang="en-US" dirty="0" smtClean="0">
                <a:latin typeface="百度综艺简体" panose="02010601030101010101" charset="-122"/>
                <a:ea typeface="百度综艺简体" panose="02010601030101010101" charset="-122"/>
              </a:rPr>
              <a:t>特点</a:t>
            </a:r>
            <a:r>
              <a:rPr lang="en-US" altLang="zh-CN" dirty="0" smtClean="0">
                <a:latin typeface="百度综艺简体" panose="02010601030101010101" charset="-122"/>
                <a:ea typeface="百度综艺简体" panose="02010601030101010101" charset="-122"/>
              </a:rPr>
              <a:t>:</a:t>
            </a:r>
            <a:endParaRPr lang="zh-CN" altLang="en-US" dirty="0">
              <a:latin typeface="百度综艺简体" panose="02010601030101010101" charset="-122"/>
              <a:ea typeface="百度综艺简体" panose="02010601030101010101" charset="-122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2140585" y="362585"/>
            <a:ext cx="7002145" cy="109220"/>
            <a:chOff x="2140585" y="362585"/>
            <a:chExt cx="7002145" cy="109220"/>
          </a:xfrm>
        </p:grpSpPr>
        <p:cxnSp>
          <p:nvCxnSpPr>
            <p:cNvPr id="21" name="直接连接符 20"/>
            <p:cNvCxnSpPr/>
            <p:nvPr/>
          </p:nvCxnSpPr>
          <p:spPr>
            <a:xfrm>
              <a:off x="2140585" y="417195"/>
              <a:ext cx="6889750" cy="0"/>
            </a:xfrm>
            <a:prstGeom prst="line">
              <a:avLst/>
            </a:prstGeom>
            <a:ln w="22225">
              <a:solidFill>
                <a:srgbClr val="2A5B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椭圆 24"/>
            <p:cNvSpPr/>
            <p:nvPr/>
          </p:nvSpPr>
          <p:spPr>
            <a:xfrm>
              <a:off x="9033510" y="362585"/>
              <a:ext cx="109220" cy="1092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7" name="Text Placeholder 11"/>
          <p:cNvSpPr txBox="1"/>
          <p:nvPr/>
        </p:nvSpPr>
        <p:spPr>
          <a:xfrm>
            <a:off x="2302510" y="116334"/>
            <a:ext cx="280543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1800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单链表的定义</a:t>
            </a:r>
          </a:p>
        </p:txBody>
      </p:sp>
      <p:sp>
        <p:nvSpPr>
          <p:cNvPr id="2" name="矩形 1"/>
          <p:cNvSpPr/>
          <p:nvPr/>
        </p:nvSpPr>
        <p:spPr>
          <a:xfrm>
            <a:off x="599316" y="858388"/>
            <a:ext cx="28119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1225">
              <a:buNone/>
            </a:pPr>
            <a:r>
              <a:rPr lang="zh-CN" altLang="en-US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单链表 </a:t>
            </a:r>
            <a:r>
              <a:rPr lang="en-US" altLang="zh-CN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(Singly Linked List)</a:t>
            </a:r>
            <a:endParaRPr lang="zh-CN" altLang="en-US" dirty="0">
              <a:solidFill>
                <a:schemeClr val="accent1"/>
              </a:solidFill>
              <a:latin typeface="百度综艺简体" panose="02010601030101010101" charset="-122"/>
              <a:ea typeface="百度综艺简体" panose="02010601030101010101" charset="-122"/>
              <a:sym typeface="Arial" panose="020B0604020202020204" pitchFamily="34" charset="0"/>
            </a:endParaRPr>
          </a:p>
        </p:txBody>
      </p:sp>
      <p:sp>
        <p:nvSpPr>
          <p:cNvPr id="13" name="TextBox 5"/>
          <p:cNvSpPr txBox="1">
            <a:spLocks noChangeArrowheads="1"/>
          </p:cNvSpPr>
          <p:nvPr/>
        </p:nvSpPr>
        <p:spPr bwMode="auto">
          <a:xfrm>
            <a:off x="1696528" y="1285954"/>
            <a:ext cx="6265991" cy="36933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每个元素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(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表项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)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由结点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(Node)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构成。</a:t>
            </a:r>
          </a:p>
        </p:txBody>
      </p:sp>
      <p:sp>
        <p:nvSpPr>
          <p:cNvPr id="14" name="TextBox 5"/>
          <p:cNvSpPr txBox="1">
            <a:spLocks noChangeArrowheads="1"/>
          </p:cNvSpPr>
          <p:nvPr/>
        </p:nvSpPr>
        <p:spPr bwMode="auto">
          <a:xfrm>
            <a:off x="1099952" y="2586066"/>
            <a:ext cx="6265991" cy="36933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线性结构</a:t>
            </a:r>
            <a:r>
              <a:rPr lang="en-US" altLang="zh-CN" dirty="0" smtClean="0">
                <a:latin typeface="百度综艺简体" panose="02010601030101010101" charset="-122"/>
                <a:ea typeface="百度综艺简体" panose="02010601030101010101" charset="-122"/>
              </a:rPr>
              <a:t>:</a:t>
            </a:r>
            <a:endParaRPr lang="zh-CN" altLang="en-US" dirty="0">
              <a:latin typeface="百度综艺简体" panose="02010601030101010101" charset="-122"/>
              <a:ea typeface="百度综艺简体" panose="02010601030101010101" charset="-122"/>
            </a:endParaRPr>
          </a:p>
        </p:txBody>
      </p:sp>
      <p:sp>
        <p:nvSpPr>
          <p:cNvPr id="18" name="TextBox 5"/>
          <p:cNvSpPr txBox="1">
            <a:spLocks noChangeArrowheads="1"/>
          </p:cNvSpPr>
          <p:nvPr/>
        </p:nvSpPr>
        <p:spPr bwMode="auto">
          <a:xfrm>
            <a:off x="1268730" y="3614325"/>
            <a:ext cx="7277822" cy="42178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342900" indent="-342900" fontAlgn="auto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结点可以不连续存储</a:t>
            </a:r>
          </a:p>
        </p:txBody>
      </p:sp>
      <p:sp>
        <p:nvSpPr>
          <p:cNvPr id="23" name="TextBox 5"/>
          <p:cNvSpPr txBox="1">
            <a:spLocks noChangeArrowheads="1"/>
          </p:cNvSpPr>
          <p:nvPr/>
        </p:nvSpPr>
        <p:spPr bwMode="auto">
          <a:xfrm>
            <a:off x="1268730" y="4058543"/>
            <a:ext cx="7277822" cy="42178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342900" indent="-342900" fontAlgn="auto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表可扩充</a:t>
            </a:r>
          </a:p>
        </p:txBody>
      </p:sp>
      <p:pic>
        <p:nvPicPr>
          <p:cNvPr id="24" name="Picture 7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65" t="11446" r="8879" b="10513"/>
          <a:stretch/>
        </p:blipFill>
        <p:spPr bwMode="auto">
          <a:xfrm>
            <a:off x="3034144" y="1849582"/>
            <a:ext cx="2909455" cy="4641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" name="Picture 8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1873" y="2977834"/>
            <a:ext cx="5306291" cy="7075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42599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 tmFilter="0,0; .5, 1; 1, 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50"/>
                            </p:stCondLst>
                            <p:childTnLst>
                              <p:par>
                                <p:cTn id="27" presetID="52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9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30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250"/>
                            </p:stCondLst>
                            <p:childTnLst>
                              <p:par>
                                <p:cTn id="33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 tmFilter="0,0; .5, 1; 1, 1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850"/>
                            </p:stCondLst>
                            <p:childTnLst>
                              <p:par>
                                <p:cTn id="4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4850"/>
                            </p:stCondLst>
                            <p:childTnLst>
                              <p:par>
                                <p:cTn id="47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 tmFilter="0,0; .5, 1; 1, 1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6300"/>
                            </p:stCondLst>
                            <p:childTnLst>
                              <p:par>
                                <p:cTn id="5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 tmFilter="0,0; .5, 1; 1, 1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 tmFilter="0,0; .5, 1; 1, 1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 tmFilter="0,0; .5, 1; 1, 1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utoUpdateAnimBg="0"/>
      <p:bldP spid="22" grpId="0" bldLvl="0" animBg="1" autoUpdateAnimBg="0"/>
      <p:bldP spid="37" grpId="0" animBg="1"/>
      <p:bldP spid="53" grpId="0" autoUpdateAnimBg="0"/>
      <p:bldP spid="17" grpId="0"/>
      <p:bldP spid="13" grpId="0" autoUpdateAnimBg="0"/>
      <p:bldP spid="14" grpId="0" autoUpdateAnimBg="0"/>
      <p:bldP spid="18" grpId="0" autoUpdateAnimBg="0"/>
      <p:bldP spid="23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>
            <a:cxnSpLocks noChangeShapeType="1"/>
          </p:cNvCxnSpPr>
          <p:nvPr/>
        </p:nvCxnSpPr>
        <p:spPr bwMode="auto">
          <a:xfrm>
            <a:off x="307340" y="537845"/>
            <a:ext cx="882904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</a:ln>
          <a:effectLst/>
        </p:spPr>
      </p:cxnSp>
      <p:sp>
        <p:nvSpPr>
          <p:cNvPr id="16" name="矩形 15"/>
          <p:cNvSpPr/>
          <p:nvPr/>
        </p:nvSpPr>
        <p:spPr>
          <a:xfrm>
            <a:off x="56829" y="0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800" dirty="0">
              <a:solidFill>
                <a:schemeClr val="accent2"/>
              </a:solidFill>
              <a:effectLst/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19" name="TextBox 5"/>
          <p:cNvSpPr txBox="1">
            <a:spLocks noChangeArrowheads="1"/>
          </p:cNvSpPr>
          <p:nvPr/>
        </p:nvSpPr>
        <p:spPr bwMode="auto">
          <a:xfrm>
            <a:off x="234950" y="203835"/>
            <a:ext cx="206756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《数据结构》</a:t>
            </a: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1412" y="217303"/>
            <a:ext cx="401225" cy="40122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sp>
        <p:nvSpPr>
          <p:cNvPr id="37" name="AutoShape 3"/>
          <p:cNvSpPr>
            <a:spLocks noChangeAspect="1" noChangeArrowheads="1" noTextEdit="1"/>
          </p:cNvSpPr>
          <p:nvPr/>
        </p:nvSpPr>
        <p:spPr bwMode="auto">
          <a:xfrm>
            <a:off x="557288" y="744733"/>
            <a:ext cx="542665" cy="54122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endParaRPr lang="zh-CN" altLang="en-US" sz="1800"/>
          </a:p>
        </p:txBody>
      </p:sp>
      <p:sp>
        <p:nvSpPr>
          <p:cNvPr id="53" name="TextBox 5"/>
          <p:cNvSpPr txBox="1">
            <a:spLocks noChangeArrowheads="1"/>
          </p:cNvSpPr>
          <p:nvPr/>
        </p:nvSpPr>
        <p:spPr bwMode="auto">
          <a:xfrm>
            <a:off x="1439004" y="1341375"/>
            <a:ext cx="6265991" cy="175432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typedef 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struct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 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LNode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{</a:t>
            </a:r>
          </a:p>
          <a:p>
            <a:endParaRPr lang="en-US" altLang="zh-CN" dirty="0">
              <a:latin typeface="百度综艺简体" panose="02010601030101010101" charset="-122"/>
              <a:ea typeface="百度综艺简体" panose="02010601030101010101" charset="-122"/>
            </a:endParaRPr>
          </a:p>
          <a:p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        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ElemType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 data;</a:t>
            </a:r>
          </a:p>
          <a:p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        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struct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 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LNode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 *next;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（指针，递归）</a:t>
            </a:r>
          </a:p>
          <a:p>
            <a:endParaRPr lang="zh-CN" altLang="en-US" dirty="0">
              <a:latin typeface="百度综艺简体" panose="02010601030101010101" charset="-122"/>
              <a:ea typeface="百度综艺简体" panose="02010601030101010101" charset="-122"/>
            </a:endParaRPr>
          </a:p>
          <a:p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}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LNode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,*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LinkList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;</a:t>
            </a:r>
          </a:p>
        </p:txBody>
      </p:sp>
      <p:grpSp>
        <p:nvGrpSpPr>
          <p:cNvPr id="20" name="组合 19"/>
          <p:cNvGrpSpPr/>
          <p:nvPr/>
        </p:nvGrpSpPr>
        <p:grpSpPr>
          <a:xfrm>
            <a:off x="2140585" y="362585"/>
            <a:ext cx="7002145" cy="109220"/>
            <a:chOff x="2140585" y="362585"/>
            <a:chExt cx="7002145" cy="109220"/>
          </a:xfrm>
        </p:grpSpPr>
        <p:cxnSp>
          <p:nvCxnSpPr>
            <p:cNvPr id="21" name="直接连接符 20"/>
            <p:cNvCxnSpPr/>
            <p:nvPr/>
          </p:nvCxnSpPr>
          <p:spPr>
            <a:xfrm>
              <a:off x="2140585" y="417195"/>
              <a:ext cx="6889750" cy="0"/>
            </a:xfrm>
            <a:prstGeom prst="line">
              <a:avLst/>
            </a:prstGeom>
            <a:ln w="22225">
              <a:solidFill>
                <a:srgbClr val="2A5B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椭圆 24"/>
            <p:cNvSpPr/>
            <p:nvPr/>
          </p:nvSpPr>
          <p:spPr>
            <a:xfrm>
              <a:off x="9033510" y="362585"/>
              <a:ext cx="109220" cy="1092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Text Placeholder 11"/>
          <p:cNvSpPr txBox="1"/>
          <p:nvPr/>
        </p:nvSpPr>
        <p:spPr>
          <a:xfrm>
            <a:off x="2302510" y="116334"/>
            <a:ext cx="280543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1800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单链表的定义</a:t>
            </a:r>
          </a:p>
        </p:txBody>
      </p:sp>
      <p:sp>
        <p:nvSpPr>
          <p:cNvPr id="12" name="矩形 11"/>
          <p:cNvSpPr/>
          <p:nvPr/>
        </p:nvSpPr>
        <p:spPr>
          <a:xfrm>
            <a:off x="599316" y="858388"/>
            <a:ext cx="22621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1225">
              <a:buNone/>
            </a:pPr>
            <a:r>
              <a:rPr lang="zh-CN" altLang="en-US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单链表的结点类定义</a:t>
            </a:r>
          </a:p>
        </p:txBody>
      </p:sp>
    </p:spTree>
    <p:extLst>
      <p:ext uri="{BB962C8B-B14F-4D97-AF65-F5344CB8AC3E}">
        <p14:creationId xmlns:p14="http://schemas.microsoft.com/office/powerpoint/2010/main" val="24336519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 tmFilter="0,0; .5, 1; 1, 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50"/>
                            </p:stCondLst>
                            <p:childTnLst>
                              <p:par>
                                <p:cTn id="27" presetID="52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9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30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250"/>
                            </p:stCondLst>
                            <p:childTnLst>
                              <p:par>
                                <p:cTn id="33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 tmFilter="0,0; .5, 1; 1, 1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7350"/>
                            </p:stCondLst>
                            <p:childTnLst>
                              <p:par>
                                <p:cTn id="4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utoUpdateAnimBg="0"/>
      <p:bldP spid="22" grpId="0" bldLvl="0" animBg="1" autoUpdateAnimBg="0"/>
      <p:bldP spid="37" grpId="0" animBg="1"/>
      <p:bldP spid="53" grpId="0" autoUpdateAnimBg="0"/>
      <p:bldP spid="1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>
            <a:cxnSpLocks noChangeShapeType="1"/>
          </p:cNvCxnSpPr>
          <p:nvPr/>
        </p:nvCxnSpPr>
        <p:spPr bwMode="auto">
          <a:xfrm>
            <a:off x="307340" y="537845"/>
            <a:ext cx="882904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</a:ln>
          <a:effectLst/>
        </p:spPr>
      </p:cxnSp>
      <p:sp>
        <p:nvSpPr>
          <p:cNvPr id="16" name="矩形 15"/>
          <p:cNvSpPr/>
          <p:nvPr/>
        </p:nvSpPr>
        <p:spPr>
          <a:xfrm>
            <a:off x="56829" y="0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800" dirty="0">
              <a:solidFill>
                <a:schemeClr val="accent2"/>
              </a:solidFill>
              <a:effectLst/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19" name="TextBox 5"/>
          <p:cNvSpPr txBox="1">
            <a:spLocks noChangeArrowheads="1"/>
          </p:cNvSpPr>
          <p:nvPr/>
        </p:nvSpPr>
        <p:spPr bwMode="auto">
          <a:xfrm>
            <a:off x="234950" y="203835"/>
            <a:ext cx="206756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《数据结构》</a:t>
            </a: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1412" y="217303"/>
            <a:ext cx="401225" cy="40122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sp>
        <p:nvSpPr>
          <p:cNvPr id="37" name="AutoShape 3"/>
          <p:cNvSpPr>
            <a:spLocks noChangeAspect="1" noChangeArrowheads="1" noTextEdit="1"/>
          </p:cNvSpPr>
          <p:nvPr/>
        </p:nvSpPr>
        <p:spPr bwMode="auto">
          <a:xfrm>
            <a:off x="557288" y="744733"/>
            <a:ext cx="542665" cy="54122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endParaRPr lang="zh-CN" altLang="en-US" sz="1800"/>
          </a:p>
        </p:txBody>
      </p:sp>
      <p:sp>
        <p:nvSpPr>
          <p:cNvPr id="53" name="TextBox 5"/>
          <p:cNvSpPr txBox="1">
            <a:spLocks noChangeArrowheads="1"/>
          </p:cNvSpPr>
          <p:nvPr/>
        </p:nvSpPr>
        <p:spPr bwMode="auto">
          <a:xfrm>
            <a:off x="1439004" y="1341375"/>
            <a:ext cx="6265991" cy="230832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typedef 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struct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 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LNode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{</a:t>
            </a:r>
          </a:p>
          <a:p>
            <a:endParaRPr lang="en-US" altLang="zh-CN" dirty="0">
              <a:latin typeface="百度综艺简体" panose="02010601030101010101" charset="-122"/>
              <a:ea typeface="百度综艺简体" panose="02010601030101010101" charset="-122"/>
            </a:endParaRPr>
          </a:p>
          <a:p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        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ElemType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 data;</a:t>
            </a:r>
          </a:p>
          <a:p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        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struct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 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LNode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 *next;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（指针，递归）</a:t>
            </a:r>
          </a:p>
          <a:p>
            <a:endParaRPr lang="zh-CN" altLang="en-US" dirty="0">
              <a:latin typeface="百度综艺简体" panose="02010601030101010101" charset="-122"/>
              <a:ea typeface="百度综艺简体" panose="02010601030101010101" charset="-122"/>
            </a:endParaRPr>
          </a:p>
          <a:p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}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LNode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,*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LinkList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;</a:t>
            </a:r>
          </a:p>
          <a:p>
            <a:endParaRPr lang="en-US" altLang="zh-CN" dirty="0">
              <a:latin typeface="百度综艺简体" panose="02010601030101010101" charset="-122"/>
              <a:ea typeface="百度综艺简体" panose="02010601030101010101" charset="-122"/>
            </a:endParaRPr>
          </a:p>
          <a:p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             </a:t>
            </a:r>
            <a:r>
              <a:rPr lang="en-US" altLang="zh-CN" dirty="0" err="1" smtClean="0">
                <a:latin typeface="百度综艺简体" panose="02010601030101010101" charset="-122"/>
                <a:ea typeface="百度综艺简体" panose="02010601030101010101" charset="-122"/>
              </a:rPr>
              <a:t>LinkList</a:t>
            </a:r>
            <a:r>
              <a:rPr lang="en-US" altLang="zh-CN" dirty="0" smtClean="0">
                <a:latin typeface="百度综艺简体" panose="02010601030101010101" charset="-122"/>
                <a:ea typeface="百度综艺简体" panose="02010601030101010101" charset="-122"/>
              </a:rPr>
              <a:t>   </a:t>
            </a:r>
            <a:r>
              <a:rPr lang="zh-CN" altLang="en-US" dirty="0" smtClean="0">
                <a:solidFill>
                  <a:srgbClr val="0070C0"/>
                </a:solidFill>
                <a:latin typeface="百度综艺简体" panose="02010601030101010101" charset="-122"/>
                <a:ea typeface="百度综艺简体" panose="02010601030101010101" charset="-122"/>
              </a:rPr>
              <a:t>等价</a:t>
            </a:r>
            <a:r>
              <a:rPr lang="zh-CN" altLang="en-US" dirty="0" smtClean="0">
                <a:latin typeface="百度综艺简体" panose="02010601030101010101" charset="-122"/>
                <a:ea typeface="百度综艺简体" panose="02010601030101010101" charset="-122"/>
              </a:rPr>
              <a:t> </a:t>
            </a:r>
            <a:r>
              <a:rPr lang="en-US" altLang="zh-CN" dirty="0" smtClean="0">
                <a:latin typeface="百度综艺简体" panose="02010601030101010101" charset="-122"/>
                <a:ea typeface="百度综艺简体" panose="02010601030101010101" charset="-122"/>
              </a:rPr>
              <a:t>  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LNode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 *</a:t>
            </a:r>
          </a:p>
        </p:txBody>
      </p:sp>
      <p:grpSp>
        <p:nvGrpSpPr>
          <p:cNvPr id="20" name="组合 19"/>
          <p:cNvGrpSpPr/>
          <p:nvPr/>
        </p:nvGrpSpPr>
        <p:grpSpPr>
          <a:xfrm>
            <a:off x="2140585" y="362585"/>
            <a:ext cx="7002145" cy="109220"/>
            <a:chOff x="2140585" y="362585"/>
            <a:chExt cx="7002145" cy="109220"/>
          </a:xfrm>
        </p:grpSpPr>
        <p:cxnSp>
          <p:nvCxnSpPr>
            <p:cNvPr id="21" name="直接连接符 20"/>
            <p:cNvCxnSpPr/>
            <p:nvPr/>
          </p:nvCxnSpPr>
          <p:spPr>
            <a:xfrm>
              <a:off x="2140585" y="417195"/>
              <a:ext cx="6889750" cy="0"/>
            </a:xfrm>
            <a:prstGeom prst="line">
              <a:avLst/>
            </a:prstGeom>
            <a:ln w="22225">
              <a:solidFill>
                <a:srgbClr val="2A5B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椭圆 24"/>
            <p:cNvSpPr/>
            <p:nvPr/>
          </p:nvSpPr>
          <p:spPr>
            <a:xfrm>
              <a:off x="9033510" y="362585"/>
              <a:ext cx="109220" cy="1092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Text Placeholder 11"/>
          <p:cNvSpPr txBox="1"/>
          <p:nvPr/>
        </p:nvSpPr>
        <p:spPr>
          <a:xfrm>
            <a:off x="2302510" y="116334"/>
            <a:ext cx="280543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1800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单链表的定义</a:t>
            </a:r>
          </a:p>
        </p:txBody>
      </p:sp>
    </p:spTree>
    <p:extLst>
      <p:ext uri="{BB962C8B-B14F-4D97-AF65-F5344CB8AC3E}">
        <p14:creationId xmlns:p14="http://schemas.microsoft.com/office/powerpoint/2010/main" val="22406195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 tmFilter="0,0; .5, 1; 1, 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50"/>
                            </p:stCondLst>
                            <p:childTnLst>
                              <p:par>
                                <p:cTn id="27" presetID="52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9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30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250"/>
                            </p:stCondLst>
                            <p:childTnLst>
                              <p:par>
                                <p:cTn id="33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 tmFilter="0,0; .5, 1; 1, 1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8150"/>
                            </p:stCondLst>
                            <p:childTnLst>
                              <p:par>
                                <p:cTn id="4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utoUpdateAnimBg="0"/>
      <p:bldP spid="22" grpId="0" bldLvl="0" animBg="1" autoUpdateAnimBg="0"/>
      <p:bldP spid="37" grpId="0" animBg="1"/>
      <p:bldP spid="53" grpId="0" autoUpdateAnimBg="0"/>
      <p:bldP spid="1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>
            <a:cxnSpLocks noChangeShapeType="1"/>
          </p:cNvCxnSpPr>
          <p:nvPr/>
        </p:nvCxnSpPr>
        <p:spPr bwMode="auto">
          <a:xfrm>
            <a:off x="307340" y="537845"/>
            <a:ext cx="882904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</a:ln>
          <a:effectLst/>
        </p:spPr>
      </p:cxnSp>
      <p:sp>
        <p:nvSpPr>
          <p:cNvPr id="16" name="矩形 15"/>
          <p:cNvSpPr/>
          <p:nvPr/>
        </p:nvSpPr>
        <p:spPr>
          <a:xfrm>
            <a:off x="1411" y="5240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800" dirty="0">
              <a:solidFill>
                <a:schemeClr val="accent2"/>
              </a:solidFill>
              <a:effectLst/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19" name="TextBox 5"/>
          <p:cNvSpPr txBox="1">
            <a:spLocks noChangeArrowheads="1"/>
          </p:cNvSpPr>
          <p:nvPr/>
        </p:nvSpPr>
        <p:spPr bwMode="auto">
          <a:xfrm>
            <a:off x="234950" y="203835"/>
            <a:ext cx="206756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《数据结构》</a:t>
            </a: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1412" y="217303"/>
            <a:ext cx="401225" cy="40122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sp>
        <p:nvSpPr>
          <p:cNvPr id="37" name="AutoShape 3"/>
          <p:cNvSpPr>
            <a:spLocks noChangeAspect="1" noChangeArrowheads="1" noTextEdit="1"/>
          </p:cNvSpPr>
          <p:nvPr/>
        </p:nvSpPr>
        <p:spPr bwMode="auto">
          <a:xfrm>
            <a:off x="557288" y="744733"/>
            <a:ext cx="542665" cy="54122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endParaRPr lang="zh-CN" altLang="en-US" sz="1800"/>
          </a:p>
        </p:txBody>
      </p:sp>
      <p:grpSp>
        <p:nvGrpSpPr>
          <p:cNvPr id="20" name="组合 19"/>
          <p:cNvGrpSpPr/>
          <p:nvPr/>
        </p:nvGrpSpPr>
        <p:grpSpPr>
          <a:xfrm>
            <a:off x="2140585" y="362585"/>
            <a:ext cx="7002145" cy="109220"/>
            <a:chOff x="2140585" y="362585"/>
            <a:chExt cx="7002145" cy="109220"/>
          </a:xfrm>
        </p:grpSpPr>
        <p:cxnSp>
          <p:nvCxnSpPr>
            <p:cNvPr id="21" name="直接连接符 20"/>
            <p:cNvCxnSpPr/>
            <p:nvPr/>
          </p:nvCxnSpPr>
          <p:spPr>
            <a:xfrm>
              <a:off x="2140585" y="417195"/>
              <a:ext cx="6889750" cy="0"/>
            </a:xfrm>
            <a:prstGeom prst="line">
              <a:avLst/>
            </a:prstGeom>
            <a:ln w="22225">
              <a:solidFill>
                <a:srgbClr val="2A5B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椭圆 24"/>
            <p:cNvSpPr/>
            <p:nvPr/>
          </p:nvSpPr>
          <p:spPr>
            <a:xfrm>
              <a:off x="9033510" y="362585"/>
              <a:ext cx="109220" cy="1092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Text Placeholder 11"/>
          <p:cNvSpPr txBox="1"/>
          <p:nvPr/>
        </p:nvSpPr>
        <p:spPr>
          <a:xfrm>
            <a:off x="2302510" y="116334"/>
            <a:ext cx="280543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1800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单链表的定义</a:t>
            </a:r>
          </a:p>
        </p:txBody>
      </p:sp>
      <p:sp>
        <p:nvSpPr>
          <p:cNvPr id="12" name="TextBox 5"/>
          <p:cNvSpPr txBox="1">
            <a:spLocks noChangeArrowheads="1"/>
          </p:cNvSpPr>
          <p:nvPr/>
        </p:nvSpPr>
        <p:spPr bwMode="auto">
          <a:xfrm>
            <a:off x="933089" y="995701"/>
            <a:ext cx="7234166" cy="188917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sz="2000" dirty="0" smtClean="0">
                <a:latin typeface="百度综艺简体" panose="02010601030101010101" charset="-122"/>
                <a:ea typeface="百度综艺简体" panose="02010601030101010101" charset="-122"/>
              </a:rPr>
              <a:t>        用</a:t>
            </a:r>
            <a:r>
              <a:rPr lang="zh-CN" altLang="en-US" sz="2000" dirty="0">
                <a:latin typeface="百度综艺简体" panose="02010601030101010101" charset="-122"/>
                <a:ea typeface="百度综艺简体" panose="02010601030101010101" charset="-122"/>
              </a:rPr>
              <a:t>线性链表表示线性表时，数据元素之间的</a:t>
            </a:r>
            <a:r>
              <a:rPr lang="zh-CN" altLang="en-US" sz="2000" dirty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逻辑关系是由结点中的指针指示</a:t>
            </a:r>
            <a:r>
              <a:rPr lang="zh-CN" altLang="en-US" sz="2000" dirty="0">
                <a:latin typeface="百度综艺简体" panose="02010601030101010101" charset="-122"/>
                <a:ea typeface="百度综艺简体" panose="02010601030101010101" charset="-122"/>
              </a:rPr>
              <a:t>的。换句话说，指针为数据元素之间的逻辑关系的映象，则逻辑上相邻的两元素其物理位置后不要求紧邻，由此，这种存贮结构为</a:t>
            </a:r>
            <a:r>
              <a:rPr lang="zh-CN" altLang="en-US" sz="2000" dirty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非顺序映象或链式映象</a:t>
            </a:r>
            <a:r>
              <a:rPr lang="zh-CN" altLang="en-US" sz="2000" dirty="0">
                <a:latin typeface="百度综艺简体" panose="02010601030101010101" charset="-122"/>
                <a:ea typeface="百度综艺简体" panose="02010601030101010101" charset="-122"/>
              </a:rPr>
              <a:t>。 </a:t>
            </a:r>
          </a:p>
        </p:txBody>
      </p:sp>
      <p:pic>
        <p:nvPicPr>
          <p:cNvPr id="17" name="Picture 3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4198" y="2993405"/>
            <a:ext cx="6111947" cy="10186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TextBox 5"/>
          <p:cNvSpPr txBox="1">
            <a:spLocks noChangeArrowheads="1"/>
          </p:cNvSpPr>
          <p:nvPr/>
        </p:nvSpPr>
        <p:spPr bwMode="auto">
          <a:xfrm>
            <a:off x="3004344" y="4023399"/>
            <a:ext cx="992693" cy="55399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sz="2000" dirty="0">
                <a:latin typeface="百度综艺简体" panose="02010601030101010101" charset="-122"/>
                <a:ea typeface="百度综艺简体" panose="02010601030101010101" charset="-122"/>
              </a:rPr>
              <a:t>非空表</a:t>
            </a:r>
          </a:p>
        </p:txBody>
      </p:sp>
      <p:sp>
        <p:nvSpPr>
          <p:cNvPr id="23" name="TextBox 5"/>
          <p:cNvSpPr txBox="1">
            <a:spLocks noChangeArrowheads="1"/>
          </p:cNvSpPr>
          <p:nvPr/>
        </p:nvSpPr>
        <p:spPr bwMode="auto">
          <a:xfrm>
            <a:off x="6474907" y="4023399"/>
            <a:ext cx="715602" cy="55399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sz="2000" dirty="0" smtClean="0">
                <a:latin typeface="百度综艺简体" panose="02010601030101010101" charset="-122"/>
                <a:ea typeface="百度综艺简体" panose="02010601030101010101" charset="-122"/>
              </a:rPr>
              <a:t>空</a:t>
            </a:r>
            <a:r>
              <a:rPr lang="zh-CN" altLang="en-US" sz="2000" dirty="0">
                <a:latin typeface="百度综艺简体" panose="02010601030101010101" charset="-122"/>
                <a:ea typeface="百度综艺简体" panose="02010601030101010101" charset="-122"/>
              </a:rPr>
              <a:t>表</a:t>
            </a:r>
          </a:p>
        </p:txBody>
      </p:sp>
    </p:spTree>
    <p:extLst>
      <p:ext uri="{BB962C8B-B14F-4D97-AF65-F5344CB8AC3E}">
        <p14:creationId xmlns:p14="http://schemas.microsoft.com/office/powerpoint/2010/main" val="28829789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 tmFilter="0,0; .5, 1; 1, 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50"/>
                            </p:stCondLst>
                            <p:childTnLst>
                              <p:par>
                                <p:cTn id="27" presetID="52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9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30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250"/>
                            </p:stCondLst>
                            <p:childTnLst>
                              <p:par>
                                <p:cTn id="3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 tmFilter="0,0; .5, 1; 1, 1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 tmFilter="0,0; .5, 1; 1, 1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 tmFilter="0,0; .5, 1; 1, 1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utoUpdateAnimBg="0"/>
      <p:bldP spid="22" grpId="0" bldLvl="0" animBg="1" autoUpdateAnimBg="0"/>
      <p:bldP spid="37" grpId="0" animBg="1"/>
      <p:bldP spid="11" grpId="0"/>
      <p:bldP spid="12" grpId="0" autoUpdateAnimBg="0"/>
      <p:bldP spid="18" grpId="0" autoUpdateAnimBg="0"/>
      <p:bldP spid="23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>
            <a:cxnSpLocks noChangeShapeType="1"/>
          </p:cNvCxnSpPr>
          <p:nvPr/>
        </p:nvCxnSpPr>
        <p:spPr bwMode="auto">
          <a:xfrm>
            <a:off x="307340" y="537845"/>
            <a:ext cx="882904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</a:ln>
          <a:effectLst/>
        </p:spPr>
      </p:cxnSp>
      <p:sp>
        <p:nvSpPr>
          <p:cNvPr id="16" name="矩形 15"/>
          <p:cNvSpPr/>
          <p:nvPr/>
        </p:nvSpPr>
        <p:spPr>
          <a:xfrm>
            <a:off x="1411" y="5240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800" dirty="0">
              <a:solidFill>
                <a:schemeClr val="accent2"/>
              </a:solidFill>
              <a:effectLst/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19" name="TextBox 5"/>
          <p:cNvSpPr txBox="1">
            <a:spLocks noChangeArrowheads="1"/>
          </p:cNvSpPr>
          <p:nvPr/>
        </p:nvSpPr>
        <p:spPr bwMode="auto">
          <a:xfrm>
            <a:off x="234950" y="203835"/>
            <a:ext cx="206756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《数据结构》</a:t>
            </a: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1412" y="217303"/>
            <a:ext cx="401225" cy="40122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sp>
        <p:nvSpPr>
          <p:cNvPr id="37" name="AutoShape 3"/>
          <p:cNvSpPr>
            <a:spLocks noChangeAspect="1" noChangeArrowheads="1" noTextEdit="1"/>
          </p:cNvSpPr>
          <p:nvPr/>
        </p:nvSpPr>
        <p:spPr bwMode="auto">
          <a:xfrm>
            <a:off x="557288" y="744733"/>
            <a:ext cx="542665" cy="54122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endParaRPr lang="zh-CN" altLang="en-US" sz="1800"/>
          </a:p>
        </p:txBody>
      </p:sp>
      <p:grpSp>
        <p:nvGrpSpPr>
          <p:cNvPr id="20" name="组合 19"/>
          <p:cNvGrpSpPr/>
          <p:nvPr/>
        </p:nvGrpSpPr>
        <p:grpSpPr>
          <a:xfrm>
            <a:off x="2140585" y="362585"/>
            <a:ext cx="7002145" cy="109220"/>
            <a:chOff x="2140585" y="362585"/>
            <a:chExt cx="7002145" cy="109220"/>
          </a:xfrm>
        </p:grpSpPr>
        <p:cxnSp>
          <p:nvCxnSpPr>
            <p:cNvPr id="21" name="直接连接符 20"/>
            <p:cNvCxnSpPr/>
            <p:nvPr/>
          </p:nvCxnSpPr>
          <p:spPr>
            <a:xfrm>
              <a:off x="2140585" y="417195"/>
              <a:ext cx="6889750" cy="0"/>
            </a:xfrm>
            <a:prstGeom prst="line">
              <a:avLst/>
            </a:prstGeom>
            <a:ln w="22225">
              <a:solidFill>
                <a:srgbClr val="2A5B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椭圆 24"/>
            <p:cNvSpPr/>
            <p:nvPr/>
          </p:nvSpPr>
          <p:spPr>
            <a:xfrm>
              <a:off x="9033510" y="362585"/>
              <a:ext cx="109220" cy="1092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Text Placeholder 11"/>
          <p:cNvSpPr txBox="1"/>
          <p:nvPr/>
        </p:nvSpPr>
        <p:spPr>
          <a:xfrm>
            <a:off x="2302510" y="116334"/>
            <a:ext cx="280543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1800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单链表的定义</a:t>
            </a:r>
          </a:p>
        </p:txBody>
      </p:sp>
      <p:sp>
        <p:nvSpPr>
          <p:cNvPr id="18" name="Text Placeholder 11"/>
          <p:cNvSpPr txBox="1"/>
          <p:nvPr/>
        </p:nvSpPr>
        <p:spPr>
          <a:xfrm>
            <a:off x="807838" y="3003236"/>
            <a:ext cx="4864735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20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带头结点的单链表</a:t>
            </a:r>
          </a:p>
        </p:txBody>
      </p:sp>
      <p:sp>
        <p:nvSpPr>
          <p:cNvPr id="23" name="TextBox 5"/>
          <p:cNvSpPr txBox="1">
            <a:spLocks noChangeArrowheads="1"/>
          </p:cNvSpPr>
          <p:nvPr/>
        </p:nvSpPr>
        <p:spPr bwMode="auto">
          <a:xfrm>
            <a:off x="1438220" y="3432731"/>
            <a:ext cx="7234166" cy="83099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285750" indent="-285750" fontAlgn="auto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表头结点位于表的最前端，本身不带数据，仅标志表头</a:t>
            </a:r>
            <a:r>
              <a:rPr lang="zh-CN" altLang="en-US" sz="1600" dirty="0" smtClean="0">
                <a:latin typeface="百度综艺简体" panose="02010601030101010101" charset="-122"/>
                <a:ea typeface="百度综艺简体" panose="02010601030101010101" charset="-122"/>
              </a:rPr>
              <a:t>。</a:t>
            </a:r>
            <a:endParaRPr lang="en-US" altLang="zh-CN" sz="1600" dirty="0" smtClean="0">
              <a:latin typeface="百度综艺简体" panose="02010601030101010101" charset="-122"/>
              <a:ea typeface="百度综艺简体" panose="02010601030101010101" charset="-122"/>
            </a:endParaRPr>
          </a:p>
          <a:p>
            <a:pPr marL="285750" indent="-285750" fontAlgn="auto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设置表头结点的目的是统一空表与非空表的操作，简化链表操作的实现</a:t>
            </a:r>
            <a:r>
              <a:rPr lang="zh-CN" altLang="en-US" sz="1600" dirty="0" smtClean="0">
                <a:latin typeface="百度综艺简体" panose="02010601030101010101" charset="-122"/>
                <a:ea typeface="百度综艺简体" panose="02010601030101010101" charset="-122"/>
              </a:rPr>
              <a:t>。</a:t>
            </a:r>
            <a:endParaRPr lang="zh-CN" altLang="en-US" sz="1600" dirty="0">
              <a:latin typeface="百度综艺简体" panose="02010601030101010101" charset="-122"/>
              <a:ea typeface="百度综艺简体" panose="02010601030101010101" charset="-122"/>
            </a:endParaRPr>
          </a:p>
        </p:txBody>
      </p:sp>
      <p:pic>
        <p:nvPicPr>
          <p:cNvPr id="17" name="Picture 3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9953" y="1262831"/>
            <a:ext cx="6111947" cy="10186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330084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 tmFilter="0,0; .5, 1; 1, 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50"/>
                            </p:stCondLst>
                            <p:childTnLst>
                              <p:par>
                                <p:cTn id="27" presetID="52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9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30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250"/>
                            </p:stCondLst>
                            <p:childTnLst>
                              <p:par>
                                <p:cTn id="3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250"/>
                            </p:stCondLst>
                            <p:childTnLst>
                              <p:par>
                                <p:cTn id="3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 tmFilter="0,0; .5, 1; 1, 1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utoUpdateAnimBg="0"/>
      <p:bldP spid="22" grpId="0" bldLvl="0" animBg="1" autoUpdateAnimBg="0"/>
      <p:bldP spid="37" grpId="0" animBg="1"/>
      <p:bldP spid="11" grpId="0"/>
      <p:bldP spid="18" grpId="0"/>
      <p:bldP spid="23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>
            <a:cxnSpLocks noChangeShapeType="1"/>
          </p:cNvCxnSpPr>
          <p:nvPr/>
        </p:nvCxnSpPr>
        <p:spPr bwMode="auto">
          <a:xfrm>
            <a:off x="307340" y="537845"/>
            <a:ext cx="882904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</a:ln>
          <a:effectLst/>
        </p:spPr>
      </p:cxnSp>
      <p:sp>
        <p:nvSpPr>
          <p:cNvPr id="16" name="矩形 15"/>
          <p:cNvSpPr/>
          <p:nvPr/>
        </p:nvSpPr>
        <p:spPr>
          <a:xfrm>
            <a:off x="1411" y="5240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800" dirty="0">
              <a:solidFill>
                <a:schemeClr val="accent2"/>
              </a:solidFill>
              <a:effectLst/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19" name="TextBox 5"/>
          <p:cNvSpPr txBox="1">
            <a:spLocks noChangeArrowheads="1"/>
          </p:cNvSpPr>
          <p:nvPr/>
        </p:nvSpPr>
        <p:spPr bwMode="auto">
          <a:xfrm>
            <a:off x="234950" y="203835"/>
            <a:ext cx="206756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《数据结构》</a:t>
            </a: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1412" y="217303"/>
            <a:ext cx="401225" cy="40122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sp>
        <p:nvSpPr>
          <p:cNvPr id="37" name="AutoShape 3"/>
          <p:cNvSpPr>
            <a:spLocks noChangeAspect="1" noChangeArrowheads="1" noTextEdit="1"/>
          </p:cNvSpPr>
          <p:nvPr/>
        </p:nvSpPr>
        <p:spPr bwMode="auto">
          <a:xfrm>
            <a:off x="557288" y="744733"/>
            <a:ext cx="542665" cy="54122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endParaRPr lang="zh-CN" altLang="en-US" sz="1800"/>
          </a:p>
        </p:txBody>
      </p:sp>
      <p:sp>
        <p:nvSpPr>
          <p:cNvPr id="53" name="TextBox 5"/>
          <p:cNvSpPr txBox="1">
            <a:spLocks noChangeArrowheads="1"/>
          </p:cNvSpPr>
          <p:nvPr/>
        </p:nvSpPr>
        <p:spPr bwMode="auto">
          <a:xfrm>
            <a:off x="1588864" y="1225976"/>
            <a:ext cx="6265991" cy="378565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zh-CN" altLang="en-US" sz="2000" dirty="0" smtClean="0">
                <a:latin typeface="百度综艺简体" panose="02010601030101010101" charset="-122"/>
                <a:ea typeface="百度综艺简体" panose="02010601030101010101" charset="-122"/>
              </a:rPr>
              <a:t>练习题：</a:t>
            </a:r>
            <a:endParaRPr lang="en-US" altLang="zh-CN" sz="2000" dirty="0" smtClean="0">
              <a:latin typeface="百度综艺简体" panose="02010601030101010101" charset="-122"/>
              <a:ea typeface="百度综艺简体" panose="02010601030101010101" charset="-122"/>
            </a:endParaRPr>
          </a:p>
          <a:p>
            <a:r>
              <a:rPr lang="en-US" altLang="zh-CN" sz="2000" dirty="0" smtClean="0">
                <a:latin typeface="百度综艺简体" panose="02010601030101010101" charset="-122"/>
                <a:ea typeface="百度综艺简体" panose="02010601030101010101" charset="-122"/>
              </a:rPr>
              <a:t>void   </a:t>
            </a:r>
            <a:r>
              <a:rPr lang="en-US" altLang="zh-CN" sz="2000" dirty="0" err="1">
                <a:latin typeface="百度综艺简体" panose="02010601030101010101" charset="-122"/>
                <a:ea typeface="百度综艺简体" panose="02010601030101010101" charset="-122"/>
              </a:rPr>
              <a:t>showList</a:t>
            </a:r>
            <a:r>
              <a:rPr lang="en-US" altLang="zh-CN" sz="2000" dirty="0">
                <a:latin typeface="百度综艺简体" panose="02010601030101010101" charset="-122"/>
                <a:ea typeface="百度综艺简体" panose="02010601030101010101" charset="-122"/>
              </a:rPr>
              <a:t>(</a:t>
            </a:r>
            <a:r>
              <a:rPr lang="en-US" altLang="zh-CN" sz="2000" dirty="0" err="1">
                <a:latin typeface="百度综艺简体" panose="02010601030101010101" charset="-122"/>
                <a:ea typeface="百度综艺简体" panose="02010601030101010101" charset="-122"/>
              </a:rPr>
              <a:t>LinkList</a:t>
            </a:r>
            <a:r>
              <a:rPr lang="en-US" altLang="zh-CN" sz="2000" dirty="0">
                <a:latin typeface="百度综艺简体" panose="02010601030101010101" charset="-122"/>
                <a:ea typeface="百度综艺简体" panose="02010601030101010101" charset="-122"/>
              </a:rPr>
              <a:t>  L){</a:t>
            </a:r>
          </a:p>
          <a:p>
            <a:r>
              <a:rPr lang="en-US" altLang="zh-CN" sz="2000" dirty="0">
                <a:latin typeface="百度综艺简体" panose="02010601030101010101" charset="-122"/>
                <a:ea typeface="百度综艺简体" panose="02010601030101010101" charset="-122"/>
              </a:rPr>
              <a:t>        </a:t>
            </a:r>
            <a:r>
              <a:rPr lang="en-US" altLang="zh-CN" sz="2000" dirty="0" smtClean="0">
                <a:latin typeface="百度综艺简体" panose="02010601030101010101" charset="-122"/>
                <a:ea typeface="百度综艺简体" panose="02010601030101010101" charset="-122"/>
              </a:rPr>
              <a:t>//</a:t>
            </a:r>
            <a:r>
              <a:rPr lang="zh-CN" altLang="en-US" sz="2000" dirty="0" smtClean="0">
                <a:latin typeface="百度综艺简体" panose="02010601030101010101" charset="-122"/>
                <a:ea typeface="百度综艺简体" panose="02010601030101010101" charset="-122"/>
              </a:rPr>
              <a:t>已知</a:t>
            </a:r>
            <a:r>
              <a:rPr lang="zh-CN" altLang="en-US" sz="2000" dirty="0">
                <a:latin typeface="百度综艺简体" panose="02010601030101010101" charset="-122"/>
                <a:ea typeface="百度综艺简体" panose="02010601030101010101" charset="-122"/>
              </a:rPr>
              <a:t>带头结点单链表</a:t>
            </a:r>
            <a:r>
              <a:rPr lang="en-US" altLang="zh-CN" sz="2000" dirty="0">
                <a:latin typeface="百度综艺简体" panose="02010601030101010101" charset="-122"/>
                <a:ea typeface="百度综艺简体" panose="02010601030101010101" charset="-122"/>
              </a:rPr>
              <a:t>L</a:t>
            </a:r>
            <a:r>
              <a:rPr lang="zh-CN" altLang="en-US" sz="2000" dirty="0">
                <a:latin typeface="百度综艺简体" panose="02010601030101010101" charset="-122"/>
                <a:ea typeface="百度综艺简体" panose="02010601030101010101" charset="-122"/>
              </a:rPr>
              <a:t>，输出各结点值</a:t>
            </a:r>
          </a:p>
          <a:p>
            <a:endParaRPr lang="en-US" altLang="zh-CN" sz="2000" dirty="0" smtClean="0">
              <a:latin typeface="百度综艺简体" panose="02010601030101010101" charset="-122"/>
              <a:ea typeface="百度综艺简体" panose="02010601030101010101" charset="-122"/>
            </a:endParaRPr>
          </a:p>
          <a:p>
            <a:endParaRPr lang="en-US" altLang="zh-CN" sz="2000" dirty="0" smtClean="0">
              <a:latin typeface="百度综艺简体" panose="02010601030101010101" charset="-122"/>
              <a:ea typeface="百度综艺简体" panose="02010601030101010101" charset="-122"/>
            </a:endParaRPr>
          </a:p>
          <a:p>
            <a:endParaRPr lang="en-US" altLang="zh-CN" sz="2000" dirty="0">
              <a:latin typeface="百度综艺简体" panose="02010601030101010101" charset="-122"/>
              <a:ea typeface="百度综艺简体" panose="02010601030101010101" charset="-122"/>
            </a:endParaRPr>
          </a:p>
          <a:p>
            <a:endParaRPr lang="en-US" altLang="zh-CN" sz="2000" dirty="0" smtClean="0">
              <a:latin typeface="百度综艺简体" panose="02010601030101010101" charset="-122"/>
              <a:ea typeface="百度综艺简体" panose="02010601030101010101" charset="-122"/>
            </a:endParaRPr>
          </a:p>
          <a:p>
            <a:endParaRPr lang="en-US" altLang="zh-CN" sz="2000">
              <a:latin typeface="百度综艺简体" panose="02010601030101010101" charset="-122"/>
              <a:ea typeface="百度综艺简体" panose="02010601030101010101" charset="-122"/>
            </a:endParaRPr>
          </a:p>
          <a:p>
            <a:endParaRPr lang="en-US" altLang="zh-CN" sz="2000" dirty="0">
              <a:latin typeface="百度综艺简体" panose="02010601030101010101" charset="-122"/>
              <a:ea typeface="百度综艺简体" panose="02010601030101010101" charset="-122"/>
            </a:endParaRPr>
          </a:p>
          <a:p>
            <a:r>
              <a:rPr lang="en-US" altLang="zh-CN" sz="2000" dirty="0" smtClean="0">
                <a:latin typeface="百度综艺简体" panose="02010601030101010101" charset="-122"/>
                <a:ea typeface="百度综艺简体" panose="02010601030101010101" charset="-122"/>
              </a:rPr>
              <a:t>}</a:t>
            </a:r>
            <a:endParaRPr lang="en-US" altLang="zh-CN" sz="2000" dirty="0">
              <a:latin typeface="百度综艺简体" panose="02010601030101010101" charset="-122"/>
              <a:ea typeface="百度综艺简体" panose="02010601030101010101" charset="-122"/>
            </a:endParaRPr>
          </a:p>
          <a:p>
            <a:endParaRPr lang="en-US" altLang="zh-CN" sz="2000" dirty="0">
              <a:latin typeface="百度综艺简体" panose="02010601030101010101" charset="-122"/>
              <a:ea typeface="百度综艺简体" panose="02010601030101010101" charset="-122"/>
            </a:endParaRPr>
          </a:p>
          <a:p>
            <a:endParaRPr lang="en-US" altLang="zh-CN" sz="2000" dirty="0">
              <a:latin typeface="百度综艺简体" panose="02010601030101010101" charset="-122"/>
              <a:ea typeface="百度综艺简体" panose="02010601030101010101" charset="-122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2140585" y="362585"/>
            <a:ext cx="7002145" cy="109220"/>
            <a:chOff x="2140585" y="362585"/>
            <a:chExt cx="7002145" cy="109220"/>
          </a:xfrm>
        </p:grpSpPr>
        <p:cxnSp>
          <p:nvCxnSpPr>
            <p:cNvPr id="21" name="直接连接符 20"/>
            <p:cNvCxnSpPr/>
            <p:nvPr/>
          </p:nvCxnSpPr>
          <p:spPr>
            <a:xfrm>
              <a:off x="2140585" y="417195"/>
              <a:ext cx="6889750" cy="0"/>
            </a:xfrm>
            <a:prstGeom prst="line">
              <a:avLst/>
            </a:prstGeom>
            <a:ln w="22225">
              <a:solidFill>
                <a:srgbClr val="2A5B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椭圆 24"/>
            <p:cNvSpPr/>
            <p:nvPr/>
          </p:nvSpPr>
          <p:spPr>
            <a:xfrm>
              <a:off x="9033510" y="362585"/>
              <a:ext cx="109220" cy="1092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7" name="Text Placeholder 11"/>
          <p:cNvSpPr txBox="1"/>
          <p:nvPr/>
        </p:nvSpPr>
        <p:spPr>
          <a:xfrm>
            <a:off x="2302510" y="116334"/>
            <a:ext cx="280543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1800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单链表的定义</a:t>
            </a:r>
          </a:p>
        </p:txBody>
      </p:sp>
    </p:spTree>
    <p:extLst>
      <p:ext uri="{BB962C8B-B14F-4D97-AF65-F5344CB8AC3E}">
        <p14:creationId xmlns:p14="http://schemas.microsoft.com/office/powerpoint/2010/main" val="4265608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 tmFilter="0,0; .5, 1; 1, 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50"/>
                            </p:stCondLst>
                            <p:childTnLst>
                              <p:par>
                                <p:cTn id="27" presetID="52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9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30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250"/>
                            </p:stCondLst>
                            <p:childTnLst>
                              <p:par>
                                <p:cTn id="33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 tmFilter="0,0; .5, 1; 1, 1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6100"/>
                            </p:stCondLst>
                            <p:childTnLst>
                              <p:par>
                                <p:cTn id="4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utoUpdateAnimBg="0"/>
      <p:bldP spid="22" grpId="0" bldLvl="0" animBg="1" autoUpdateAnimBg="0"/>
      <p:bldP spid="37" grpId="0" animBg="1"/>
      <p:bldP spid="53" grpId="0" autoUpdateAnimBg="0"/>
      <p:bldP spid="17" grpId="0"/>
    </p:bldLst>
  </p:timing>
</p:sld>
</file>

<file path=ppt/theme/theme1.xml><?xml version="1.0" encoding="utf-8"?>
<a:theme xmlns:a="http://schemas.openxmlformats.org/drawingml/2006/main" name="Office 主题​​">
  <a:themeElements>
    <a:clrScheme name="自定义 64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A5BA8"/>
      </a:accent1>
      <a:accent2>
        <a:srgbClr val="48AC92"/>
      </a:accent2>
      <a:accent3>
        <a:srgbClr val="2A5BA8"/>
      </a:accent3>
      <a:accent4>
        <a:srgbClr val="48AC92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917</TotalTime>
  <Words>358</Words>
  <Application>Microsoft Office PowerPoint</Application>
  <PresentationFormat>自定义</PresentationFormat>
  <Paragraphs>72</Paragraphs>
  <Slides>9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2" baseType="lpstr">
      <vt:lpstr>Lato Light</vt:lpstr>
      <vt:lpstr>百度综艺简体</vt:lpstr>
      <vt:lpstr>等线</vt:lpstr>
      <vt:lpstr>等线 Light</vt:lpstr>
      <vt:lpstr>华文中宋</vt:lpstr>
      <vt:lpstr>宋体</vt:lpstr>
      <vt:lpstr>微软雅黑</vt:lpstr>
      <vt:lpstr>Arial</vt:lpstr>
      <vt:lpstr>Calibri</vt:lpstr>
      <vt:lpstr>Calibri Light</vt:lpstr>
      <vt:lpstr>Tahoma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Neusoft</cp:lastModifiedBy>
  <cp:revision>45</cp:revision>
  <dcterms:created xsi:type="dcterms:W3CDTF">2017-06-21T11:46:00Z</dcterms:created>
  <dcterms:modified xsi:type="dcterms:W3CDTF">2022-09-13T12:03:16Z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2052-11.1.0.9098</vt:lpwstr>
  </property>
</Properties>
</file>