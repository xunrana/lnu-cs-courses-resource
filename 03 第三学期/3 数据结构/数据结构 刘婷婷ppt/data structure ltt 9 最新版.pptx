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676" r:id="rId3"/>
    <p:sldId id="679" r:id="rId5"/>
    <p:sldId id="680" r:id="rId6"/>
    <p:sldId id="1181" r:id="rId7"/>
    <p:sldId id="681" r:id="rId8"/>
    <p:sldId id="682" r:id="rId9"/>
    <p:sldId id="1108" r:id="rId10"/>
    <p:sldId id="1178" r:id="rId11"/>
    <p:sldId id="683" r:id="rId12"/>
    <p:sldId id="684" r:id="rId13"/>
    <p:sldId id="685" r:id="rId14"/>
    <p:sldId id="686" r:id="rId15"/>
    <p:sldId id="1171" r:id="rId16"/>
    <p:sldId id="687" r:id="rId17"/>
    <p:sldId id="688" r:id="rId18"/>
    <p:sldId id="689" r:id="rId19"/>
    <p:sldId id="690" r:id="rId20"/>
    <p:sldId id="691" r:id="rId21"/>
    <p:sldId id="692" r:id="rId22"/>
    <p:sldId id="694" r:id="rId23"/>
    <p:sldId id="1173" r:id="rId24"/>
    <p:sldId id="728" r:id="rId25"/>
    <p:sldId id="696" r:id="rId26"/>
    <p:sldId id="697" r:id="rId27"/>
    <p:sldId id="698" r:id="rId28"/>
    <p:sldId id="921" r:id="rId29"/>
    <p:sldId id="699" r:id="rId30"/>
    <p:sldId id="701" r:id="rId31"/>
    <p:sldId id="702" r:id="rId32"/>
    <p:sldId id="703" r:id="rId33"/>
    <p:sldId id="705" r:id="rId34"/>
    <p:sldId id="706" r:id="rId35"/>
    <p:sldId id="735" r:id="rId36"/>
    <p:sldId id="736" r:id="rId37"/>
    <p:sldId id="1242" r:id="rId38"/>
    <p:sldId id="1243" r:id="rId39"/>
    <p:sldId id="1244" r:id="rId40"/>
    <p:sldId id="1245" r:id="rId41"/>
    <p:sldId id="1246" r:id="rId42"/>
    <p:sldId id="1177" r:id="rId43"/>
    <p:sldId id="1176" r:id="rId44"/>
    <p:sldId id="1179" r:id="rId45"/>
    <p:sldId id="743" r:id="rId46"/>
    <p:sldId id="744" r:id="rId47"/>
    <p:sldId id="745" r:id="rId48"/>
    <p:sldId id="746" r:id="rId49"/>
    <p:sldId id="747" r:id="rId50"/>
    <p:sldId id="748" r:id="rId51"/>
    <p:sldId id="749" r:id="rId52"/>
    <p:sldId id="750" r:id="rId53"/>
    <p:sldId id="751" r:id="rId54"/>
    <p:sldId id="752" r:id="rId55"/>
    <p:sldId id="753" r:id="rId56"/>
    <p:sldId id="754" r:id="rId57"/>
    <p:sldId id="755" r:id="rId58"/>
    <p:sldId id="756" r:id="rId59"/>
    <p:sldId id="757" r:id="rId60"/>
    <p:sldId id="758" r:id="rId61"/>
    <p:sldId id="759" r:id="rId62"/>
    <p:sldId id="760" r:id="rId63"/>
    <p:sldId id="761" r:id="rId64"/>
    <p:sldId id="762" r:id="rId65"/>
    <p:sldId id="763" r:id="rId66"/>
    <p:sldId id="842" r:id="rId67"/>
    <p:sldId id="844" r:id="rId68"/>
    <p:sldId id="765" r:id="rId69"/>
    <p:sldId id="764" r:id="rId70"/>
    <p:sldId id="767" r:id="rId71"/>
    <p:sldId id="1175" r:id="rId72"/>
  </p:sldIdLst>
  <p:sldSz cx="9144000" cy="6858000" type="screen4x3"/>
  <p:notesSz cx="6858000" cy="9144000"/>
  <p:custDataLst>
    <p:tags r:id="rId76"/>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vl6pPr marL="2286000" lvl="5"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6pPr>
    <a:lvl7pPr marL="2743200" lvl="6"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7pPr>
    <a:lvl8pPr marL="3200400" lvl="7"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8pPr>
    <a:lvl9pPr marL="3657600" lvl="8"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60" userDrawn="1">
          <p15:clr>
            <a:srgbClr val="A4A3A4"/>
          </p15:clr>
        </p15:guide>
        <p15:guide id="2" pos="28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6B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51"/>
    <p:restoredTop sz="96365"/>
  </p:normalViewPr>
  <p:slideViewPr>
    <p:cSldViewPr showGuides="1">
      <p:cViewPr varScale="1">
        <p:scale>
          <a:sx n="88" d="100"/>
          <a:sy n="88" d="100"/>
        </p:scale>
        <p:origin x="1196" y="60"/>
      </p:cViewPr>
      <p:guideLst>
        <p:guide orient="horz" pos="2160"/>
        <p:guide pos="2882"/>
      </p:guideLst>
    </p:cSldViewPr>
  </p:slideViewPr>
  <p:outlineViewPr>
    <p:cViewPr>
      <p:scale>
        <a:sx n="33" d="100"/>
        <a:sy n="33" d="100"/>
      </p:scale>
      <p:origin x="0" y="0"/>
    </p:cViewPr>
  </p:outlineViewPr>
  <p:notesTextViewPr>
    <p:cViewPr>
      <p:scale>
        <a:sx n="150" d="100"/>
        <a:sy n="150" d="100"/>
      </p:scale>
      <p:origin x="0" y="0"/>
    </p:cViewPr>
  </p:notesTextViewPr>
  <p:sorterViewPr showFormatting="0">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gs" Target="tags/tag3.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2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effectLst/>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21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21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幻灯片图像占位符 1"/>
          <p:cNvSpPr>
            <a:spLocks noGrp="1" noRot="1" noChangeAspect="1" noTextEdit="1"/>
          </p:cNvSpPr>
          <p:nvPr>
            <p:ph type="sldImg"/>
          </p:nvPr>
        </p:nvSpPr>
        <p:spPr/>
      </p:sp>
      <p:sp>
        <p:nvSpPr>
          <p:cNvPr id="5123" name="备注占位符 2"/>
          <p:cNvSpPr>
            <a:spLocks noGrp="1"/>
          </p:cNvSpPr>
          <p:nvPr>
            <p:ph type="body" idx="1"/>
          </p:nvPr>
        </p:nvSpPr>
        <p:spPr/>
        <p:txBody>
          <a:bodyPr wrap="square" lIns="91440" tIns="45720" rIns="91440" bIns="45720" anchor="t" anchorCtr="0"/>
          <a:p>
            <a:pPr lvl="0"/>
            <a:endParaRPr lang="zh-CN" altLang="en-US" dirty="0"/>
          </a:p>
        </p:txBody>
      </p:sp>
      <p:sp>
        <p:nvSpPr>
          <p:cNvPr id="51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35843" name="Rectangle 2"/>
          <p:cNvSpPr>
            <a:spLocks noRot="1" noTextEdit="1"/>
          </p:cNvSpPr>
          <p:nvPr>
            <p:ph type="sldImg"/>
          </p:nvPr>
        </p:nvSpPr>
        <p:spPr/>
      </p:sp>
      <p:sp>
        <p:nvSpPr>
          <p:cNvPr id="35844" name="Rectangle 3"/>
          <p:cNvSpPr>
            <a:spLocks noGrp="1"/>
          </p:cNvSpPr>
          <p:nvPr>
            <p:ph type="body"/>
          </p:nvPr>
        </p:nvSpPr>
        <p:spPr/>
        <p:txBody>
          <a:bodyPr wrap="square" lIns="91440" tIns="45720" rIns="91440" bIns="45720" anchor="t" anchorCtr="0"/>
          <a:p>
            <a:pPr lvl="0" eaLnBrk="1" hangingPunct="1"/>
            <a:r>
              <a:rPr lang="en-US" altLang="zh-CN" dirty="0"/>
              <a:t>*s</a:t>
            </a:r>
            <a:r>
              <a:rPr lang="zh-CN" altLang="en-US" dirty="0"/>
              <a:t>只能为叶子或仅有左孩子</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35843" name="Rectangle 2"/>
          <p:cNvSpPr>
            <a:spLocks noRot="1" noTextEdit="1"/>
          </p:cNvSpPr>
          <p:nvPr>
            <p:ph type="sldImg"/>
          </p:nvPr>
        </p:nvSpPr>
        <p:spPr/>
      </p:sp>
      <p:sp>
        <p:nvSpPr>
          <p:cNvPr id="35844" name="Rectangle 3"/>
          <p:cNvSpPr>
            <a:spLocks noGrp="1"/>
          </p:cNvSpPr>
          <p:nvPr>
            <p:ph type="body"/>
          </p:nvPr>
        </p:nvSpPr>
        <p:spPr/>
        <p:txBody>
          <a:bodyPr wrap="square" lIns="91440" tIns="45720" rIns="91440" bIns="45720" anchor="t" anchorCtr="0"/>
          <a:p>
            <a:pPr lvl="0" eaLnBrk="1" hangingPunct="1"/>
            <a:r>
              <a:rPr lang="en-US" altLang="zh-CN" dirty="0"/>
              <a:t>*s</a:t>
            </a:r>
            <a:r>
              <a:rPr lang="zh-CN" altLang="en-US" dirty="0"/>
              <a:t>只能为叶子或仅有左孩子</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60419" name="Rectangle 2"/>
          <p:cNvSpPr>
            <a:spLocks noRot="1" noTextEdit="1"/>
          </p:cNvSpPr>
          <p:nvPr>
            <p:ph type="sldImg"/>
          </p:nvPr>
        </p:nvSpPr>
        <p:spPr/>
      </p:sp>
      <p:sp>
        <p:nvSpPr>
          <p:cNvPr id="60420" name="Rectangle 3"/>
          <p:cNvSpPr>
            <a:spLocks noGrp="1"/>
          </p:cNvSpPr>
          <p:nvPr>
            <p:ph type="body"/>
          </p:nvPr>
        </p:nvSpPr>
        <p:spPr/>
        <p:txBody>
          <a:bodyPr wrap="square" lIns="91440" tIns="45720" rIns="91440" bIns="45720" anchor="t" anchorCtr="0"/>
          <a:p>
            <a:pPr lvl="0" eaLnBrk="1" hangingPunct="1"/>
            <a:r>
              <a:rPr lang="zh-CN" altLang="en-US" dirty="0"/>
              <a:t>或者表已经全部搜索，仍未找到</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65539" name="Rectangle 2"/>
          <p:cNvSpPr>
            <a:spLocks noRot="1" noTextEdit="1"/>
          </p:cNvSpPr>
          <p:nvPr>
            <p:ph type="sldImg"/>
          </p:nvPr>
        </p:nvSpPr>
        <p:spPr/>
      </p:sp>
      <p:sp>
        <p:nvSpPr>
          <p:cNvPr id="65540" name="Rectangle 3"/>
          <p:cNvSpPr>
            <a:spLocks noGrp="1"/>
          </p:cNvSpPr>
          <p:nvPr>
            <p:ph type="body"/>
          </p:nvPr>
        </p:nvSpPr>
        <p:spPr/>
        <p:txBody>
          <a:bodyPr wrap="square" lIns="91440" tIns="45720" rIns="91440" bIns="45720" anchor="t" anchorCtr="0"/>
          <a:p>
            <a:pPr lvl="0" eaLnBrk="1" hangingPunct="1"/>
            <a:r>
              <a:rPr lang="zh-CN" altLang="en-US" dirty="0"/>
              <a:t>同一链表中关键字如果有序，可以提高查找不成功情况下的平均效率。但对于查找成功下，没有影响，因为只能顺序查找。</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endParaRPr lang="zh-CN" altLang="en-US" noProof="1"/>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endParaRPr lang="zh-CN" altLang="en-US" noProof="1"/>
          </a:p>
        </p:txBody>
      </p:sp>
      <p:sp>
        <p:nvSpPr>
          <p:cNvPr id="3"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20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剪贴画占位符 3"/>
          <p:cNvSpPr>
            <a:spLocks noGrp="1"/>
          </p:cNvSpPr>
          <p:nvPr>
            <p:ph type="clipArt" sz="half" idx="2"/>
          </p:nvPr>
        </p:nvSpPr>
        <p:spPr>
          <a:xfrm>
            <a:off x="4643438" y="1752600"/>
            <a:ext cx="39243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566738" y="1752600"/>
            <a:ext cx="80010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66738" y="39624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title"/>
          </p:nvPr>
        </p:nvSpPr>
        <p:spPr bwMode="auto">
          <a:xfrm>
            <a:off x="574675" y="304800"/>
            <a:ext cx="8001000" cy="12160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4099" name="Rectangle 3"/>
          <p:cNvSpPr>
            <a:spLocks noGrp="1" noChangeArrowheads="1"/>
          </p:cNvSpPr>
          <p:nvPr>
            <p:ph type="body" idx="1"/>
          </p:nvPr>
        </p:nvSpPr>
        <p:spPr bwMode="auto">
          <a:xfrm>
            <a:off x="566738" y="1752600"/>
            <a:ext cx="8001000" cy="42672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28" name="AutoShape 4"/>
          <p:cNvSpPr/>
          <p:nvPr/>
        </p:nvSpPr>
        <p:spPr>
          <a:xfrm>
            <a:off x="609600" y="1566863"/>
            <a:ext cx="7958138"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4101" name="Line 5"/>
          <p:cNvSpPr>
            <a:spLocks noChangeShapeType="1"/>
          </p:cNvSpPr>
          <p:nvPr/>
        </p:nvSpPr>
        <p:spPr bwMode="auto">
          <a:xfrm flipV="1">
            <a:off x="609600" y="6172200"/>
            <a:ext cx="7924800" cy="0"/>
          </a:xfrm>
          <a:prstGeom prst="line">
            <a:avLst/>
          </a:prstGeom>
          <a:noFill/>
          <a:ln w="31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defRPr>
            </a:lvl1pPr>
          </a:lstStyle>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effectLst>
            <a:outerShdw blurRad="38100" dist="38100" dir="2700000" algn="tl">
              <a:srgbClr val="C0C0C0"/>
            </a:outerShdw>
          </a:effectLst>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effectLst>
            <a:outerShdw blurRad="38100" dist="38100" dir="2700000" algn="tl">
              <a:srgbClr val="C0C0C0"/>
            </a:outerShdw>
          </a:effectLst>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effectLst>
            <a:outerShdw blurRad="38100" dist="38100" dir="2700000" algn="tl">
              <a:srgbClr val="C0C0C0"/>
            </a:outerShdw>
          </a:effectLst>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9.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10.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5.xml"/><Relationship Id="rId2" Type="http://schemas.openxmlformats.org/officeDocument/2006/relationships/image" Target="../media/image11.w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1.wmf"/><Relationship Id="rId3" Type="http://schemas.openxmlformats.org/officeDocument/2006/relationships/oleObject" Target="../embeddings/oleObject5.bin"/><Relationship Id="rId2" Type="http://schemas.openxmlformats.org/officeDocument/2006/relationships/image" Target="../media/image10.wmf"/><Relationship Id="rId1"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0.png"/><Relationship Id="rId1" Type="http://schemas.openxmlformats.org/officeDocument/2006/relationships/image" Target="../media/image3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13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9</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查找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71395" name="Rectangle 3"/>
          <p:cNvSpPr>
            <a:spLocks noGrp="1" noChangeArrowheads="1"/>
          </p:cNvSpPr>
          <p:nvPr>
            <p:ph idx="1"/>
          </p:nvPr>
        </p:nvSpPr>
        <p:spPr/>
        <p:txBody>
          <a:bodyPr vert="horz" wrap="square" lIns="91440" tIns="45720" rIns="91440" bIns="45720" numCol="1" anchor="t" anchorCtr="0" compatLnSpc="1"/>
          <a:lstStyle/>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查找表</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集合</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查询某个元素是否在表中</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检索某个元素的各种属性</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插入元素</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删除元素</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静态查找表</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-1,2</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动态查找表</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-3,4</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44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9</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查找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74467" name="Rectangle 3"/>
          <p:cNvSpPr>
            <a:spLocks noGrp="1" noChangeArrowheads="1"/>
          </p:cNvSpPr>
          <p:nvPr>
            <p:ph idx="1"/>
          </p:nvPr>
        </p:nvSpPr>
        <p:spPr>
          <a:xfrm>
            <a:off x="566738" y="1752600"/>
            <a:ext cx="8001000" cy="3908425"/>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关键字</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是数据元素中某个项的值</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可以标识一个元素</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唯一标识</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主关键字</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(Primary Key)</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多标识</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次关键字</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(Secondary Key)</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查找</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(Searching)</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是根据给定的值</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在查找表中确定一个其关键字等于该值的元素</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如果存在</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则称查找成功</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并返回元素或位置</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不存在</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则称查找不成功</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返回空元素或空指针</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75490" name="Rectangle 2"/>
          <p:cNvSpPr>
            <a:spLocks noGrp="1" noChangeArrowheads="1"/>
          </p:cNvSpPr>
          <p:nvPr>
            <p:ph type="title"/>
          </p:nvPr>
        </p:nvSpPr>
        <p:spPr>
          <a:xfrm>
            <a:off x="323850" y="115888"/>
            <a:ext cx="1476375" cy="75565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约定</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7171" name="20 4"/>
          <p:cNvPicPr>
            <a:picLocks noChangeAspect="1"/>
          </p:cNvPicPr>
          <p:nvPr/>
        </p:nvPicPr>
        <p:blipFill>
          <a:blip r:embed="rId1"/>
          <a:stretch>
            <a:fillRect/>
          </a:stretch>
        </p:blipFill>
        <p:spPr>
          <a:xfrm>
            <a:off x="1547813" y="765175"/>
            <a:ext cx="5314950" cy="863600"/>
          </a:xfrm>
          <a:prstGeom prst="rect">
            <a:avLst/>
          </a:prstGeom>
          <a:noFill/>
          <a:ln w="9525">
            <a:noFill/>
          </a:ln>
        </p:spPr>
      </p:pic>
      <p:pic>
        <p:nvPicPr>
          <p:cNvPr id="7172" name="20 6"/>
          <p:cNvPicPr>
            <a:picLocks noChangeAspect="1"/>
          </p:cNvPicPr>
          <p:nvPr/>
        </p:nvPicPr>
        <p:blipFill>
          <a:blip r:embed="rId2"/>
          <a:stretch>
            <a:fillRect/>
          </a:stretch>
        </p:blipFill>
        <p:spPr>
          <a:xfrm>
            <a:off x="1619250" y="1989138"/>
            <a:ext cx="5976938" cy="4214812"/>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8194" name="20 3"/>
          <p:cNvPicPr>
            <a:picLocks noChangeAspect="1"/>
          </p:cNvPicPr>
          <p:nvPr/>
        </p:nvPicPr>
        <p:blipFill>
          <a:blip r:embed="rId1"/>
          <a:stretch>
            <a:fillRect/>
          </a:stretch>
        </p:blipFill>
        <p:spPr>
          <a:xfrm>
            <a:off x="0" y="2228850"/>
            <a:ext cx="9144000" cy="24003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75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9.1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静态查找表</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77539" name="Rectangle 3"/>
          <p:cNvSpPr>
            <a:spLocks noGrp="1" noChangeArrowheads="1"/>
          </p:cNvSpPr>
          <p:nvPr>
            <p:ph idx="1"/>
          </p:nvPr>
        </p:nvSpPr>
        <p:spPr>
          <a:xfrm>
            <a:off x="566738" y="1752600"/>
            <a:ext cx="8001000" cy="739775"/>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顺序表</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链表</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9220" name="20 1"/>
          <p:cNvPicPr>
            <a:picLocks noChangeAspect="1"/>
          </p:cNvPicPr>
          <p:nvPr/>
        </p:nvPicPr>
        <p:blipFill>
          <a:blip r:embed="rId1"/>
          <a:stretch>
            <a:fillRect/>
          </a:stretch>
        </p:blipFill>
        <p:spPr>
          <a:xfrm>
            <a:off x="566738" y="2632075"/>
            <a:ext cx="8104187" cy="21336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85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顺序查找</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(Sequential Search)</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78563" name="Rectangle 3"/>
          <p:cNvSpPr>
            <a:spLocks noGrp="1" noChangeArrowheads="1"/>
          </p:cNvSpPr>
          <p:nvPr>
            <p:ph idx="1"/>
          </p:nvPr>
        </p:nvSpPr>
        <p:spPr>
          <a:xfrm>
            <a:off x="566738" y="1752600"/>
            <a:ext cx="8001000" cy="5969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从表尾开始依次向前查找</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10244" name="20 2"/>
          <p:cNvPicPr>
            <a:picLocks noChangeAspect="1"/>
          </p:cNvPicPr>
          <p:nvPr/>
        </p:nvPicPr>
        <p:blipFill>
          <a:blip r:embed="rId1"/>
          <a:stretch>
            <a:fillRect/>
          </a:stretch>
        </p:blipFill>
        <p:spPr>
          <a:xfrm>
            <a:off x="566738" y="2463800"/>
            <a:ext cx="7861300" cy="1036638"/>
          </a:xfrm>
          <a:prstGeom prst="rect">
            <a:avLst/>
          </a:prstGeom>
          <a:noFill/>
          <a:ln w="9525">
            <a:noFill/>
          </a:ln>
        </p:spPr>
      </p:pic>
      <p:pic>
        <p:nvPicPr>
          <p:cNvPr id="10245" name="20 4"/>
          <p:cNvPicPr>
            <a:picLocks noChangeAspect="1"/>
          </p:cNvPicPr>
          <p:nvPr/>
        </p:nvPicPr>
        <p:blipFill>
          <a:blip r:embed="rId2"/>
          <a:stretch>
            <a:fillRect/>
          </a:stretch>
        </p:blipFill>
        <p:spPr>
          <a:xfrm>
            <a:off x="574675" y="3500438"/>
            <a:ext cx="7493000" cy="1258887"/>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哨兵的作用</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1267" name="内容占位符 3"/>
          <p:cNvPicPr>
            <a:picLocks noChangeAspect="1"/>
          </p:cNvPicPr>
          <p:nvPr>
            <p:ph idx="1"/>
            <p:custDataLst>
              <p:tags r:id="rId1"/>
            </p:custDataLst>
          </p:nvPr>
        </p:nvPicPr>
        <p:blipFill>
          <a:blip r:embed="rId2"/>
          <a:srcRect/>
          <a:stretch>
            <a:fillRect/>
          </a:stretch>
        </p:blipFill>
        <p:spPr>
          <a:xfrm>
            <a:off x="587375" y="1916113"/>
            <a:ext cx="7997825" cy="3241675"/>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哨兵的作用</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2291" name="20 4"/>
          <p:cNvPicPr>
            <a:picLocks noChangeAspect="1"/>
          </p:cNvPicPr>
          <p:nvPr/>
        </p:nvPicPr>
        <p:blipFill>
          <a:blip r:embed="rId1"/>
          <a:stretch>
            <a:fillRect/>
          </a:stretch>
        </p:blipFill>
        <p:spPr>
          <a:xfrm>
            <a:off x="587375" y="1773238"/>
            <a:ext cx="7997825" cy="3527425"/>
          </a:xfrm>
          <a:prstGeom prst="rect">
            <a:avLst/>
          </a:prstGeom>
          <a:noFill/>
          <a:ln w="9525">
            <a:noFill/>
          </a:ln>
        </p:spPr>
      </p:pic>
      <p:sp>
        <p:nvSpPr>
          <p:cNvPr id="12292" name="文本框 4"/>
          <p:cNvSpPr txBox="1"/>
          <p:nvPr/>
        </p:nvSpPr>
        <p:spPr>
          <a:xfrm>
            <a:off x="1187450" y="5553075"/>
            <a:ext cx="7604125" cy="400050"/>
          </a:xfrm>
          <a:prstGeom prst="rect">
            <a:avLst/>
          </a:prstGeom>
          <a:noFill/>
          <a:ln w="9525">
            <a:noFill/>
          </a:ln>
        </p:spPr>
        <p:txBody>
          <a:bodyPr>
            <a:spAutoFit/>
          </a:bodyPr>
          <a:p>
            <a:r>
              <a:rPr lang="zh-CN" altLang="en-US" dirty="0">
                <a:solidFill>
                  <a:srgbClr val="FF0000"/>
                </a:solidFill>
                <a:latin typeface="Verdana" panose="020B0604030504040204" pitchFamily="34" charset="0"/>
              </a:rPr>
              <a:t>第</a:t>
            </a:r>
            <a:r>
              <a:rPr lang="en-US" altLang="zh-CN" dirty="0">
                <a:solidFill>
                  <a:srgbClr val="FF0000"/>
                </a:solidFill>
                <a:latin typeface="Verdana" panose="020B0604030504040204" pitchFamily="34" charset="0"/>
              </a:rPr>
              <a:t>9</a:t>
            </a:r>
            <a:r>
              <a:rPr lang="zh-CN" altLang="en-US" dirty="0">
                <a:solidFill>
                  <a:srgbClr val="FF0000"/>
                </a:solidFill>
                <a:latin typeface="Verdana" panose="020B0604030504040204" pitchFamily="34" charset="0"/>
              </a:rPr>
              <a:t>行备注错误，改为：如果返回值为</a:t>
            </a:r>
            <a:r>
              <a:rPr lang="en-US" altLang="zh-CN" dirty="0">
                <a:solidFill>
                  <a:srgbClr val="FF0000"/>
                </a:solidFill>
                <a:latin typeface="Verdana" panose="020B0604030504040204" pitchFamily="34" charset="0"/>
              </a:rPr>
              <a:t>0</a:t>
            </a:r>
            <a:r>
              <a:rPr lang="zh-CN" altLang="en-US" dirty="0">
                <a:solidFill>
                  <a:srgbClr val="FF0000"/>
                </a:solidFill>
                <a:latin typeface="Verdana" panose="020B0604030504040204" pitchFamily="34" charset="0"/>
              </a:rPr>
              <a:t>，则表示查找失败。</a:t>
            </a:r>
            <a:endParaRPr lang="zh-CN" altLang="en-US" dirty="0">
              <a:solidFill>
                <a:srgbClr val="FF0000"/>
              </a:solidFill>
              <a:latin typeface="Verdan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95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性能分析</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79587" name="Rectangle 3"/>
          <p:cNvSpPr>
            <a:spLocks noGrp="1" noChangeArrowheads="1"/>
          </p:cNvSpPr>
          <p:nvPr>
            <p:ph type="body" sz="half"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关键字与给定值的比较次数</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平均查找长度</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(Average Search Length,ASL)</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比较次数的期望值</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Pi: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查找第</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个记录的概率</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Ci: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第</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个记录为查找结果时的比较次数</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一般为</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n-i+1</a:t>
            </a:r>
            <a:endPar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3316" name="Object 4"/>
          <p:cNvGraphicFramePr/>
          <p:nvPr>
            <p:ph sz="half" idx="2"/>
          </p:nvPr>
        </p:nvGraphicFramePr>
        <p:xfrm>
          <a:off x="5919788" y="2205038"/>
          <a:ext cx="2108200" cy="2616200"/>
        </p:xfrm>
        <a:graphic>
          <a:graphicData uri="http://schemas.openxmlformats.org/presentationml/2006/ole">
            <mc:AlternateContent xmlns:mc="http://schemas.openxmlformats.org/markup-compatibility/2006">
              <mc:Choice xmlns:v="urn:schemas-microsoft-com:vml" Requires="v">
                <p:oleObj spid="_x0000_s3076" name="" r:id="rId1" imgW="685800" imgH="850265" progId="Equation.3">
                  <p:embed/>
                </p:oleObj>
              </mc:Choice>
              <mc:Fallback>
                <p:oleObj name="" r:id="rId1" imgW="685800" imgH="850265" progId="Equation.3">
                  <p:embed/>
                  <p:pic>
                    <p:nvPicPr>
                      <p:cNvPr id="0" name="20 3075"/>
                      <p:cNvPicPr/>
                      <p:nvPr/>
                    </p:nvPicPr>
                    <p:blipFill>
                      <a:blip r:embed="rId2"/>
                      <a:srcRect/>
                      <a:stretch>
                        <a:fillRect/>
                      </a:stretch>
                    </p:blipFill>
                    <p:spPr>
                      <a:xfrm>
                        <a:off x="5919788" y="2205038"/>
                        <a:ext cx="2108200" cy="2616200"/>
                      </a:xfrm>
                      <a:prstGeom prst="rect">
                        <a:avLst/>
                      </a:prstGeom>
                      <a:noFill/>
                      <a:ln w="38100">
                        <a:miter/>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16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顺序查找</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ASL(</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查找成功</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81635" name="Rectangle 3"/>
          <p:cNvSpPr>
            <a:spLocks noGrp="1" noChangeArrowheads="1"/>
          </p:cNvSpPr>
          <p:nvPr>
            <p:ph type="body" sz="half" idx="1"/>
          </p:nvPr>
        </p:nvSpPr>
        <p:spPr>
          <a:xfrm>
            <a:off x="566738" y="1752600"/>
            <a:ext cx="8577263" cy="1316038"/>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ASLss</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ASLss=nP</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1</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+(n-1)P</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2</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+(n-i+1)P</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i</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+2P</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n-1</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1</a:t>
            </a:r>
            <a:endPar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i</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=1/n,</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则</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4340" name="Object 4"/>
          <p:cNvGraphicFramePr/>
          <p:nvPr>
            <p:ph sz="half" idx="2"/>
          </p:nvPr>
        </p:nvGraphicFramePr>
        <p:xfrm>
          <a:off x="1409700" y="3644900"/>
          <a:ext cx="5329238" cy="971550"/>
        </p:xfrm>
        <a:graphic>
          <a:graphicData uri="http://schemas.openxmlformats.org/presentationml/2006/ole">
            <mc:AlternateContent xmlns:mc="http://schemas.openxmlformats.org/markup-compatibility/2006">
              <mc:Choice xmlns:v="urn:schemas-microsoft-com:vml" Requires="v">
                <p:oleObj spid="_x0000_s3077" name="" r:id="rId1" imgW="1878965" imgH="342900" progId="Equation.3">
                  <p:embed/>
                </p:oleObj>
              </mc:Choice>
              <mc:Fallback>
                <p:oleObj name="" r:id="rId1" imgW="1878965" imgH="342900" progId="Equation.3">
                  <p:embed/>
                  <p:pic>
                    <p:nvPicPr>
                      <p:cNvPr id="0" name="20 3076"/>
                      <p:cNvPicPr/>
                      <p:nvPr/>
                    </p:nvPicPr>
                    <p:blipFill>
                      <a:blip r:embed="rId2"/>
                      <a:srcRect/>
                      <a:stretch>
                        <a:fillRect/>
                      </a:stretch>
                    </p:blipFill>
                    <p:spPr>
                      <a:xfrm>
                        <a:off x="1409700" y="3644900"/>
                        <a:ext cx="5329238" cy="971550"/>
                      </a:xfrm>
                      <a:prstGeom prst="rect">
                        <a:avLst/>
                      </a:prstGeom>
                      <a:noFill/>
                      <a:ln w="38100">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8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顺序查找</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ASL(</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成功和不成功</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83683" name="Rectangle 3"/>
          <p:cNvSpPr>
            <a:spLocks noGrp="1" noChangeArrowheads="1"/>
          </p:cNvSpPr>
          <p:nvPr>
            <p:ph type="body" sz="half" idx="1"/>
          </p:nvPr>
        </p:nvSpPr>
        <p:spPr>
          <a:xfrm>
            <a:off x="566738" y="1752600"/>
            <a:ext cx="8001000" cy="1531938"/>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设成功概率为</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1/2,</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不成功为</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1/2</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成功下</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ASL</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与不成功下</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ASL</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之和</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成功时</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en-US" altLang="zh-CN" sz="20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i</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=1/2n</a:t>
            </a:r>
            <a:endPar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不成功时查找次数为</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n+1.(</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哨兵</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5364" name="Object 4"/>
          <p:cNvGraphicFramePr/>
          <p:nvPr>
            <p:ph sz="half" idx="2"/>
          </p:nvPr>
        </p:nvGraphicFramePr>
        <p:xfrm>
          <a:off x="1116013" y="3644900"/>
          <a:ext cx="7200900" cy="1590675"/>
        </p:xfrm>
        <a:graphic>
          <a:graphicData uri="http://schemas.openxmlformats.org/presentationml/2006/ole">
            <mc:AlternateContent xmlns:mc="http://schemas.openxmlformats.org/markup-compatibility/2006">
              <mc:Choice xmlns:v="urn:schemas-microsoft-com:vml" Requires="v">
                <p:oleObj spid="_x0000_s3076" name="" r:id="rId1" imgW="2183765" imgH="482600" progId="Equation.3">
                  <p:embed/>
                </p:oleObj>
              </mc:Choice>
              <mc:Fallback>
                <p:oleObj name="" r:id="rId1" imgW="2183765" imgH="482600" progId="Equation.3">
                  <p:embed/>
                  <p:pic>
                    <p:nvPicPr>
                      <p:cNvPr id="0" name="20 3075"/>
                      <p:cNvPicPr/>
                      <p:nvPr/>
                    </p:nvPicPr>
                    <p:blipFill>
                      <a:blip r:embed="rId2"/>
                      <a:srcRect/>
                      <a:stretch>
                        <a:fillRect/>
                      </a:stretch>
                    </p:blipFill>
                    <p:spPr>
                      <a:xfrm>
                        <a:off x="1116013" y="3644900"/>
                        <a:ext cx="7200900" cy="1590675"/>
                      </a:xfrm>
                      <a:prstGeom prst="rect">
                        <a:avLst/>
                      </a:prstGeom>
                      <a:noFill/>
                      <a:ln w="38100">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77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顺序查找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8777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简单</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适用广</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ASL</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偏大</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改进</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依据查找概率排序记录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以及历史查找频率排序记录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B6"/>
        </a:solidFill>
        <a:effectLst/>
      </p:bgPr>
    </p:bg>
    <p:spTree>
      <p:nvGrpSpPr>
        <p:cNvPr id="1" name=""/>
        <p:cNvGrpSpPr/>
        <p:nvPr/>
      </p:nvGrpSpPr>
      <p:grpSpPr/>
      <p:sp>
        <p:nvSpPr>
          <p:cNvPr id="5888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小结</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8880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查找</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(Searching)</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是根据给定的值</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在查找表中确定一个其关键字等于该值的元素</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顺序查找</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35179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监视哨</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35179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查找性能分析</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平均查找长度</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ASL</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35179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35179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8436" name="Object 4"/>
          <p:cNvGraphicFramePr/>
          <p:nvPr>
            <p:ph sz="half" idx="1"/>
          </p:nvPr>
        </p:nvGraphicFramePr>
        <p:xfrm>
          <a:off x="1449388" y="3825875"/>
          <a:ext cx="5133975" cy="798513"/>
        </p:xfrm>
        <a:graphic>
          <a:graphicData uri="http://schemas.openxmlformats.org/presentationml/2006/ole">
            <mc:AlternateContent xmlns:mc="http://schemas.openxmlformats.org/markup-compatibility/2006">
              <mc:Choice xmlns:v="urn:schemas-microsoft-com:vml" Requires="v">
                <p:oleObj spid="_x0000_s3077" name="" r:id="rId1" imgW="1878965" imgH="342900" progId="Equation.3">
                  <p:embed/>
                </p:oleObj>
              </mc:Choice>
              <mc:Fallback>
                <p:oleObj name="" r:id="rId1" imgW="1878965" imgH="342900" progId="Equation.3">
                  <p:embed/>
                  <p:pic>
                    <p:nvPicPr>
                      <p:cNvPr id="0" name="20 3076"/>
                      <p:cNvPicPr/>
                      <p:nvPr/>
                    </p:nvPicPr>
                    <p:blipFill>
                      <a:blip r:embed="rId2"/>
                      <a:srcRect/>
                      <a:stretch>
                        <a:fillRect/>
                      </a:stretch>
                    </p:blipFill>
                    <p:spPr>
                      <a:xfrm>
                        <a:off x="1449388" y="3825875"/>
                        <a:ext cx="5133975" cy="798513"/>
                      </a:xfrm>
                      <a:prstGeom prst="rect">
                        <a:avLst/>
                      </a:prstGeom>
                      <a:noFill/>
                      <a:ln w="38100">
                        <a:miter/>
                      </a:ln>
                    </p:spPr>
                  </p:pic>
                </p:oleObj>
              </mc:Fallback>
            </mc:AlternateContent>
          </a:graphicData>
        </a:graphic>
      </p:graphicFrame>
      <p:graphicFrame>
        <p:nvGraphicFramePr>
          <p:cNvPr id="18437" name="Object 4"/>
          <p:cNvGraphicFramePr/>
          <p:nvPr/>
        </p:nvGraphicFramePr>
        <p:xfrm>
          <a:off x="1381125" y="4624388"/>
          <a:ext cx="6388100" cy="1119187"/>
        </p:xfrm>
        <a:graphic>
          <a:graphicData uri="http://schemas.openxmlformats.org/presentationml/2006/ole">
            <mc:AlternateContent xmlns:mc="http://schemas.openxmlformats.org/markup-compatibility/2006">
              <mc:Choice xmlns:v="urn:schemas-microsoft-com:vml" Requires="v">
                <p:oleObj spid="_x0000_s3078" name="" r:id="rId3" imgW="2183765" imgH="482600" progId="Equation.3">
                  <p:embed/>
                </p:oleObj>
              </mc:Choice>
              <mc:Fallback>
                <p:oleObj name="" r:id="rId3" imgW="2183765" imgH="482600" progId="Equation.3">
                  <p:embed/>
                  <p:pic>
                    <p:nvPicPr>
                      <p:cNvPr id="0" name="20 3077"/>
                      <p:cNvPicPr/>
                      <p:nvPr/>
                    </p:nvPicPr>
                    <p:blipFill>
                      <a:blip r:embed="rId4"/>
                      <a:stretch>
                        <a:fillRect/>
                      </a:stretch>
                    </p:blipFill>
                    <p:spPr>
                      <a:xfrm>
                        <a:off x="1381125" y="4624388"/>
                        <a:ext cx="6388100" cy="1119187"/>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88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课后思考</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8880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基于链表的顺序查找</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98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折半查找</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(Binary Search)</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8982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有序表</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确定范围</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&lt;-&gt;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缩小范围</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low-</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范围下界</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,high-</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范围上界</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mid-</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范围中间元素</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mid=</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rPr>
              <a:t>(low+high)/2</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90853" name="Text Box 5"/>
          <p:cNvSpPr txBox="1">
            <a:spLocks noChangeArrowheads="1"/>
          </p:cNvSpPr>
          <p:nvPr/>
        </p:nvSpPr>
        <p:spPr bwMode="auto">
          <a:xfrm>
            <a:off x="971550" y="836613"/>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54" name="Text Box 6"/>
          <p:cNvSpPr txBox="1">
            <a:spLocks noChangeArrowheads="1"/>
          </p:cNvSpPr>
          <p:nvPr/>
        </p:nvSpPr>
        <p:spPr bwMode="auto">
          <a:xfrm>
            <a:off x="977900" y="1363663"/>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55" name="Text Box 7"/>
          <p:cNvSpPr txBox="1">
            <a:spLocks noChangeArrowheads="1"/>
          </p:cNvSpPr>
          <p:nvPr/>
        </p:nvSpPr>
        <p:spPr bwMode="auto">
          <a:xfrm>
            <a:off x="7589838" y="1363663"/>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56" name="Text Box 8"/>
          <p:cNvSpPr txBox="1">
            <a:spLocks noChangeArrowheads="1"/>
          </p:cNvSpPr>
          <p:nvPr/>
        </p:nvSpPr>
        <p:spPr bwMode="auto">
          <a:xfrm>
            <a:off x="4287838" y="1363663"/>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0" name="Text Box 12"/>
          <p:cNvSpPr txBox="1">
            <a:spLocks noChangeArrowheads="1"/>
          </p:cNvSpPr>
          <p:nvPr/>
        </p:nvSpPr>
        <p:spPr bwMode="auto">
          <a:xfrm>
            <a:off x="3492500" y="188913"/>
            <a:ext cx="1655763" cy="457200"/>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Key=21</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1" name="Text Box 13"/>
          <p:cNvSpPr txBox="1">
            <a:spLocks noChangeArrowheads="1"/>
          </p:cNvSpPr>
          <p:nvPr/>
        </p:nvSpPr>
        <p:spPr bwMode="auto">
          <a:xfrm>
            <a:off x="971550" y="2708275"/>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2" name="Text Box 14"/>
          <p:cNvSpPr txBox="1">
            <a:spLocks noChangeArrowheads="1"/>
          </p:cNvSpPr>
          <p:nvPr/>
        </p:nvSpPr>
        <p:spPr bwMode="auto">
          <a:xfrm>
            <a:off x="977900" y="3235325"/>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3" name="Text Box 15"/>
          <p:cNvSpPr txBox="1">
            <a:spLocks noChangeArrowheads="1"/>
          </p:cNvSpPr>
          <p:nvPr/>
        </p:nvSpPr>
        <p:spPr bwMode="auto">
          <a:xfrm>
            <a:off x="3708400" y="3235325"/>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4" name="Text Box 16"/>
          <p:cNvSpPr txBox="1">
            <a:spLocks noChangeArrowheads="1"/>
          </p:cNvSpPr>
          <p:nvPr/>
        </p:nvSpPr>
        <p:spPr bwMode="auto">
          <a:xfrm>
            <a:off x="2411413" y="3235325"/>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5" name="Text Box 17"/>
          <p:cNvSpPr txBox="1">
            <a:spLocks noChangeArrowheads="1"/>
          </p:cNvSpPr>
          <p:nvPr/>
        </p:nvSpPr>
        <p:spPr bwMode="auto">
          <a:xfrm>
            <a:off x="1042988" y="4460875"/>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6" name="Text Box 18"/>
          <p:cNvSpPr txBox="1">
            <a:spLocks noChangeArrowheads="1"/>
          </p:cNvSpPr>
          <p:nvPr/>
        </p:nvSpPr>
        <p:spPr bwMode="auto">
          <a:xfrm>
            <a:off x="3086100" y="4987925"/>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7" name="Text Box 19"/>
          <p:cNvSpPr txBox="1">
            <a:spLocks noChangeArrowheads="1"/>
          </p:cNvSpPr>
          <p:nvPr/>
        </p:nvSpPr>
        <p:spPr bwMode="auto">
          <a:xfrm>
            <a:off x="3851275" y="4987925"/>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8" name="Text Box 20"/>
          <p:cNvSpPr txBox="1">
            <a:spLocks noChangeArrowheads="1"/>
          </p:cNvSpPr>
          <p:nvPr/>
        </p:nvSpPr>
        <p:spPr bwMode="auto">
          <a:xfrm>
            <a:off x="3132138" y="5635625"/>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0861"/>
                                        </p:tgtEl>
                                        <p:attrNameLst>
                                          <p:attrName>style.visibility</p:attrName>
                                        </p:attrNameLst>
                                      </p:cBhvr>
                                      <p:to>
                                        <p:strVal val="visible"/>
                                      </p:to>
                                    </p:set>
                                    <p:animEffect transition="in" filter="blinds(horizontal)">
                                      <p:cBhvr>
                                        <p:cTn id="7" dur="500"/>
                                        <p:tgtEl>
                                          <p:spTgt spid="59086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90862"/>
                                        </p:tgtEl>
                                        <p:attrNameLst>
                                          <p:attrName>style.visibility</p:attrName>
                                        </p:attrNameLst>
                                      </p:cBhvr>
                                      <p:to>
                                        <p:strVal val="visible"/>
                                      </p:to>
                                    </p:set>
                                    <p:animEffect transition="in" filter="blinds(horizontal)">
                                      <p:cBhvr>
                                        <p:cTn id="10" dur="500"/>
                                        <p:tgtEl>
                                          <p:spTgt spid="59086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90863"/>
                                        </p:tgtEl>
                                        <p:attrNameLst>
                                          <p:attrName>style.visibility</p:attrName>
                                        </p:attrNameLst>
                                      </p:cBhvr>
                                      <p:to>
                                        <p:strVal val="visible"/>
                                      </p:to>
                                    </p:set>
                                    <p:animEffect transition="in" filter="blinds(horizontal)">
                                      <p:cBhvr>
                                        <p:cTn id="13" dur="500"/>
                                        <p:tgtEl>
                                          <p:spTgt spid="59086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90864"/>
                                        </p:tgtEl>
                                        <p:attrNameLst>
                                          <p:attrName>style.visibility</p:attrName>
                                        </p:attrNameLst>
                                      </p:cBhvr>
                                      <p:to>
                                        <p:strVal val="visible"/>
                                      </p:to>
                                    </p:set>
                                    <p:animEffect transition="in" filter="blinds(horizontal)">
                                      <p:cBhvr>
                                        <p:cTn id="16" dur="500"/>
                                        <p:tgtEl>
                                          <p:spTgt spid="59086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90865"/>
                                        </p:tgtEl>
                                        <p:attrNameLst>
                                          <p:attrName>style.visibility</p:attrName>
                                        </p:attrNameLst>
                                      </p:cBhvr>
                                      <p:to>
                                        <p:strVal val="visible"/>
                                      </p:to>
                                    </p:set>
                                    <p:animEffect transition="in" filter="blinds(horizontal)">
                                      <p:cBhvr>
                                        <p:cTn id="21" dur="500"/>
                                        <p:tgtEl>
                                          <p:spTgt spid="59086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90866"/>
                                        </p:tgtEl>
                                        <p:attrNameLst>
                                          <p:attrName>style.visibility</p:attrName>
                                        </p:attrNameLst>
                                      </p:cBhvr>
                                      <p:to>
                                        <p:strVal val="visible"/>
                                      </p:to>
                                    </p:set>
                                    <p:animEffect transition="in" filter="blinds(horizontal)">
                                      <p:cBhvr>
                                        <p:cTn id="24" dur="500"/>
                                        <p:tgtEl>
                                          <p:spTgt spid="59086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90867"/>
                                        </p:tgtEl>
                                        <p:attrNameLst>
                                          <p:attrName>style.visibility</p:attrName>
                                        </p:attrNameLst>
                                      </p:cBhvr>
                                      <p:to>
                                        <p:strVal val="visible"/>
                                      </p:to>
                                    </p:set>
                                    <p:animEffect transition="in" filter="blinds(horizontal)">
                                      <p:cBhvr>
                                        <p:cTn id="27" dur="500"/>
                                        <p:tgtEl>
                                          <p:spTgt spid="59086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90868"/>
                                        </p:tgtEl>
                                        <p:attrNameLst>
                                          <p:attrName>style.visibility</p:attrName>
                                        </p:attrNameLst>
                                      </p:cBhvr>
                                      <p:to>
                                        <p:strVal val="visible"/>
                                      </p:to>
                                    </p:set>
                                    <p:animEffect transition="in" filter="blinds(horizontal)">
                                      <p:cBhvr>
                                        <p:cTn id="30" dur="500"/>
                                        <p:tgtEl>
                                          <p:spTgt spid="590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61" grpId="0"/>
      <p:bldP spid="590862" grpId="0"/>
      <p:bldP spid="590863" grpId="0"/>
      <p:bldP spid="590864" grpId="0"/>
      <p:bldP spid="590865" grpId="0"/>
      <p:bldP spid="590866" grpId="0"/>
      <p:bldP spid="590867" grpId="0"/>
      <p:bldP spid="590868"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91876" name="Text Box 4"/>
          <p:cNvSpPr txBox="1">
            <a:spLocks noChangeArrowheads="1"/>
          </p:cNvSpPr>
          <p:nvPr/>
        </p:nvSpPr>
        <p:spPr bwMode="auto">
          <a:xfrm>
            <a:off x="971550" y="836613"/>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77" name="Text Box 5"/>
          <p:cNvSpPr txBox="1">
            <a:spLocks noChangeArrowheads="1"/>
          </p:cNvSpPr>
          <p:nvPr/>
        </p:nvSpPr>
        <p:spPr bwMode="auto">
          <a:xfrm>
            <a:off x="977900" y="1363663"/>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78" name="Text Box 6"/>
          <p:cNvSpPr txBox="1">
            <a:spLocks noChangeArrowheads="1"/>
          </p:cNvSpPr>
          <p:nvPr/>
        </p:nvSpPr>
        <p:spPr bwMode="auto">
          <a:xfrm>
            <a:off x="7589838" y="1363663"/>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79" name="Text Box 7"/>
          <p:cNvSpPr txBox="1">
            <a:spLocks noChangeArrowheads="1"/>
          </p:cNvSpPr>
          <p:nvPr/>
        </p:nvSpPr>
        <p:spPr bwMode="auto">
          <a:xfrm>
            <a:off x="4287838" y="1363663"/>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0" name="Text Box 8"/>
          <p:cNvSpPr txBox="1">
            <a:spLocks noChangeArrowheads="1"/>
          </p:cNvSpPr>
          <p:nvPr/>
        </p:nvSpPr>
        <p:spPr bwMode="auto">
          <a:xfrm>
            <a:off x="3492500" y="188913"/>
            <a:ext cx="1655763" cy="457200"/>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Key=85</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1" name="Text Box 9"/>
          <p:cNvSpPr txBox="1">
            <a:spLocks noChangeArrowheads="1"/>
          </p:cNvSpPr>
          <p:nvPr/>
        </p:nvSpPr>
        <p:spPr bwMode="auto">
          <a:xfrm>
            <a:off x="971550" y="2205038"/>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2" name="Text Box 10"/>
          <p:cNvSpPr txBox="1">
            <a:spLocks noChangeArrowheads="1"/>
          </p:cNvSpPr>
          <p:nvPr/>
        </p:nvSpPr>
        <p:spPr bwMode="auto">
          <a:xfrm>
            <a:off x="4959350" y="2732088"/>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3" name="Text Box 11"/>
          <p:cNvSpPr txBox="1">
            <a:spLocks noChangeArrowheads="1"/>
          </p:cNvSpPr>
          <p:nvPr/>
        </p:nvSpPr>
        <p:spPr bwMode="auto">
          <a:xfrm>
            <a:off x="7627938" y="2732088"/>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4" name="Text Box 12"/>
          <p:cNvSpPr txBox="1">
            <a:spLocks noChangeArrowheads="1"/>
          </p:cNvSpPr>
          <p:nvPr/>
        </p:nvSpPr>
        <p:spPr bwMode="auto">
          <a:xfrm>
            <a:off x="6300788" y="2732088"/>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5" name="Text Box 13"/>
          <p:cNvSpPr txBox="1">
            <a:spLocks noChangeArrowheads="1"/>
          </p:cNvSpPr>
          <p:nvPr/>
        </p:nvSpPr>
        <p:spPr bwMode="auto">
          <a:xfrm>
            <a:off x="1042988" y="3500438"/>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6" name="Text Box 14"/>
          <p:cNvSpPr txBox="1">
            <a:spLocks noChangeArrowheads="1"/>
          </p:cNvSpPr>
          <p:nvPr/>
        </p:nvSpPr>
        <p:spPr bwMode="auto">
          <a:xfrm>
            <a:off x="6948488" y="4027488"/>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7" name="Text Box 15"/>
          <p:cNvSpPr txBox="1">
            <a:spLocks noChangeArrowheads="1"/>
          </p:cNvSpPr>
          <p:nvPr/>
        </p:nvSpPr>
        <p:spPr bwMode="auto">
          <a:xfrm>
            <a:off x="7699375" y="4027488"/>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8" name="Text Box 16"/>
          <p:cNvSpPr txBox="1">
            <a:spLocks noChangeArrowheads="1"/>
          </p:cNvSpPr>
          <p:nvPr/>
        </p:nvSpPr>
        <p:spPr bwMode="auto">
          <a:xfrm>
            <a:off x="6948488" y="4556125"/>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89" name="Text Box 17"/>
          <p:cNvSpPr txBox="1">
            <a:spLocks noChangeArrowheads="1"/>
          </p:cNvSpPr>
          <p:nvPr/>
        </p:nvSpPr>
        <p:spPr bwMode="auto">
          <a:xfrm>
            <a:off x="1042988" y="5084763"/>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90" name="Text Box 18"/>
          <p:cNvSpPr txBox="1">
            <a:spLocks noChangeArrowheads="1"/>
          </p:cNvSpPr>
          <p:nvPr/>
        </p:nvSpPr>
        <p:spPr bwMode="auto">
          <a:xfrm>
            <a:off x="7048183" y="5611813"/>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solidFill>
                  <a:srgbClr val="00B0F0"/>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solidFill>
                <a:srgbClr val="00B0F0"/>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1891" name="Text Box 19"/>
          <p:cNvSpPr txBox="1">
            <a:spLocks noChangeArrowheads="1"/>
          </p:cNvSpPr>
          <p:nvPr/>
        </p:nvSpPr>
        <p:spPr bwMode="auto">
          <a:xfrm>
            <a:off x="6241733" y="5611813"/>
            <a:ext cx="1120775" cy="457200"/>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sz="2400" kern="1200" cap="none" spc="0" normalizeH="0" baseline="0" noProof="0" dirty="0">
                <a:solidFill>
                  <a:srgbClr val="00B0F0"/>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dirty="0">
              <a:solidFill>
                <a:srgbClr val="00B0F0"/>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1881"/>
                                        </p:tgtEl>
                                        <p:attrNameLst>
                                          <p:attrName>style.visibility</p:attrName>
                                        </p:attrNameLst>
                                      </p:cBhvr>
                                      <p:to>
                                        <p:strVal val="visible"/>
                                      </p:to>
                                    </p:set>
                                    <p:animEffect transition="in" filter="blinds(horizontal)">
                                      <p:cBhvr>
                                        <p:cTn id="7" dur="500"/>
                                        <p:tgtEl>
                                          <p:spTgt spid="59188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91882"/>
                                        </p:tgtEl>
                                        <p:attrNameLst>
                                          <p:attrName>style.visibility</p:attrName>
                                        </p:attrNameLst>
                                      </p:cBhvr>
                                      <p:to>
                                        <p:strVal val="visible"/>
                                      </p:to>
                                    </p:set>
                                    <p:animEffect transition="in" filter="blinds(horizontal)">
                                      <p:cBhvr>
                                        <p:cTn id="10" dur="500"/>
                                        <p:tgtEl>
                                          <p:spTgt spid="59188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91883"/>
                                        </p:tgtEl>
                                        <p:attrNameLst>
                                          <p:attrName>style.visibility</p:attrName>
                                        </p:attrNameLst>
                                      </p:cBhvr>
                                      <p:to>
                                        <p:strVal val="visible"/>
                                      </p:to>
                                    </p:set>
                                    <p:animEffect transition="in" filter="blinds(horizontal)">
                                      <p:cBhvr>
                                        <p:cTn id="13" dur="500"/>
                                        <p:tgtEl>
                                          <p:spTgt spid="59188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91884"/>
                                        </p:tgtEl>
                                        <p:attrNameLst>
                                          <p:attrName>style.visibility</p:attrName>
                                        </p:attrNameLst>
                                      </p:cBhvr>
                                      <p:to>
                                        <p:strVal val="visible"/>
                                      </p:to>
                                    </p:set>
                                    <p:animEffect transition="in" filter="blinds(horizontal)">
                                      <p:cBhvr>
                                        <p:cTn id="16" dur="500"/>
                                        <p:tgtEl>
                                          <p:spTgt spid="59188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91885"/>
                                        </p:tgtEl>
                                        <p:attrNameLst>
                                          <p:attrName>style.visibility</p:attrName>
                                        </p:attrNameLst>
                                      </p:cBhvr>
                                      <p:to>
                                        <p:strVal val="visible"/>
                                      </p:to>
                                    </p:set>
                                    <p:animEffect transition="in" filter="blinds(horizontal)">
                                      <p:cBhvr>
                                        <p:cTn id="21" dur="500"/>
                                        <p:tgtEl>
                                          <p:spTgt spid="59188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91886"/>
                                        </p:tgtEl>
                                        <p:attrNameLst>
                                          <p:attrName>style.visibility</p:attrName>
                                        </p:attrNameLst>
                                      </p:cBhvr>
                                      <p:to>
                                        <p:strVal val="visible"/>
                                      </p:to>
                                    </p:set>
                                    <p:animEffect transition="in" filter="blinds(horizontal)">
                                      <p:cBhvr>
                                        <p:cTn id="24" dur="500"/>
                                        <p:tgtEl>
                                          <p:spTgt spid="59188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91887"/>
                                        </p:tgtEl>
                                        <p:attrNameLst>
                                          <p:attrName>style.visibility</p:attrName>
                                        </p:attrNameLst>
                                      </p:cBhvr>
                                      <p:to>
                                        <p:strVal val="visible"/>
                                      </p:to>
                                    </p:set>
                                    <p:animEffect transition="in" filter="blinds(horizontal)">
                                      <p:cBhvr>
                                        <p:cTn id="27" dur="500"/>
                                        <p:tgtEl>
                                          <p:spTgt spid="59188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91888"/>
                                        </p:tgtEl>
                                        <p:attrNameLst>
                                          <p:attrName>style.visibility</p:attrName>
                                        </p:attrNameLst>
                                      </p:cBhvr>
                                      <p:to>
                                        <p:strVal val="visible"/>
                                      </p:to>
                                    </p:set>
                                    <p:animEffect transition="in" filter="blinds(horizontal)">
                                      <p:cBhvr>
                                        <p:cTn id="30" dur="500"/>
                                        <p:tgtEl>
                                          <p:spTgt spid="59188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91889"/>
                                        </p:tgtEl>
                                        <p:attrNameLst>
                                          <p:attrName>style.visibility</p:attrName>
                                        </p:attrNameLst>
                                      </p:cBhvr>
                                      <p:to>
                                        <p:strVal val="visible"/>
                                      </p:to>
                                    </p:set>
                                    <p:animEffect transition="in" filter="blinds(horizontal)">
                                      <p:cBhvr>
                                        <p:cTn id="35" dur="500"/>
                                        <p:tgtEl>
                                          <p:spTgt spid="591889"/>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91890"/>
                                        </p:tgtEl>
                                        <p:attrNameLst>
                                          <p:attrName>style.visibility</p:attrName>
                                        </p:attrNameLst>
                                      </p:cBhvr>
                                      <p:to>
                                        <p:strVal val="visible"/>
                                      </p:to>
                                    </p:set>
                                    <p:animEffect transition="in" filter="blinds(horizontal)">
                                      <p:cBhvr>
                                        <p:cTn id="38" dur="500"/>
                                        <p:tgtEl>
                                          <p:spTgt spid="591890"/>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591891"/>
                                        </p:tgtEl>
                                        <p:attrNameLst>
                                          <p:attrName>style.visibility</p:attrName>
                                        </p:attrNameLst>
                                      </p:cBhvr>
                                      <p:to>
                                        <p:strVal val="visible"/>
                                      </p:to>
                                    </p:set>
                                    <p:animEffect transition="in" filter="blinds(horizontal)">
                                      <p:cBhvr>
                                        <p:cTn id="41" dur="500"/>
                                        <p:tgtEl>
                                          <p:spTgt spid="591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81" grpId="0"/>
      <p:bldP spid="591882" grpId="0"/>
      <p:bldP spid="591883" grpId="0"/>
      <p:bldP spid="591884" grpId="0"/>
      <p:bldP spid="591885" grpId="0"/>
      <p:bldP spid="591886" grpId="0"/>
      <p:bldP spid="591887" grpId="0"/>
      <p:bldP spid="591888" grpId="0"/>
      <p:bldP spid="591889" grpId="0"/>
      <p:bldP spid="591890" grpId="0" bldLvl="0" animBg="1"/>
      <p:bldP spid="59189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2530" name="20 2"/>
          <p:cNvPicPr>
            <a:picLocks noChangeAspect="1"/>
          </p:cNvPicPr>
          <p:nvPr/>
        </p:nvPicPr>
        <p:blipFill>
          <a:blip r:embed="rId1"/>
          <a:stretch>
            <a:fillRect/>
          </a:stretch>
        </p:blipFill>
        <p:spPr>
          <a:xfrm>
            <a:off x="6350" y="1484313"/>
            <a:ext cx="8851900" cy="38163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性能</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23555" name="Picture 5"/>
          <p:cNvPicPr>
            <a:picLocks noChangeAspect="1"/>
          </p:cNvPicPr>
          <p:nvPr/>
        </p:nvPicPr>
        <p:blipFill>
          <a:blip r:embed="rId1">
            <a:clrChange>
              <a:clrFrom>
                <a:srgbClr val="FFFFFF"/>
              </a:clrFrom>
              <a:clrTo>
                <a:srgbClr val="FFFFFF">
                  <a:alpha val="0"/>
                </a:srgbClr>
              </a:clrTo>
            </a:clrChange>
          </a:blip>
          <a:stretch>
            <a:fillRect/>
          </a:stretch>
        </p:blipFill>
        <p:spPr>
          <a:xfrm>
            <a:off x="323850" y="3746500"/>
            <a:ext cx="3816350" cy="1822450"/>
          </a:xfrm>
          <a:prstGeom prst="rect">
            <a:avLst/>
          </a:prstGeom>
          <a:noFill/>
          <a:ln w="9525">
            <a:noFill/>
          </a:ln>
        </p:spPr>
      </p:pic>
      <p:pic>
        <p:nvPicPr>
          <p:cNvPr id="23556" name="Picture 6"/>
          <p:cNvPicPr>
            <a:picLocks noChangeAspect="1"/>
          </p:cNvPicPr>
          <p:nvPr/>
        </p:nvPicPr>
        <p:blipFill>
          <a:blip r:embed="rId2">
            <a:clrChange>
              <a:clrFrom>
                <a:srgbClr val="FFFFFF"/>
              </a:clrFrom>
              <a:clrTo>
                <a:srgbClr val="FFFFFF">
                  <a:alpha val="0"/>
                </a:srgbClr>
              </a:clrTo>
            </a:clrChange>
          </a:blip>
          <a:stretch>
            <a:fillRect/>
          </a:stretch>
        </p:blipFill>
        <p:spPr>
          <a:xfrm>
            <a:off x="4267200" y="3529013"/>
            <a:ext cx="4876800" cy="2276475"/>
          </a:xfrm>
          <a:prstGeom prst="rect">
            <a:avLst/>
          </a:prstGeom>
          <a:noFill/>
          <a:ln w="9525">
            <a:noFill/>
          </a:ln>
        </p:spPr>
      </p:pic>
      <p:sp>
        <p:nvSpPr>
          <p:cNvPr id="593927" name="Text Box 7"/>
          <p:cNvSpPr txBox="1">
            <a:spLocks noChangeArrowheads="1"/>
          </p:cNvSpPr>
          <p:nvPr/>
        </p:nvSpPr>
        <p:spPr bwMode="auto">
          <a:xfrm>
            <a:off x="611188" y="1803400"/>
            <a:ext cx="8261350" cy="1444625"/>
          </a:xfrm>
          <a:prstGeom prst="rect">
            <a:avLst/>
          </a:prstGeom>
          <a:noFill/>
          <a:ln w="9525" algn="ctr">
            <a:noFill/>
            <a:miter lim="800000"/>
          </a:ln>
          <a:effectLst/>
        </p:spPr>
        <p:txBody>
          <a:bodyPr anchor="b">
            <a:spAutoFit/>
          </a:bodyPr>
          <a:lstStyle/>
          <a:p>
            <a:pPr marR="0" defTabSz="914400" eaLnBrk="1" hangingPunct="1">
              <a:buClrTx/>
              <a:buSzTx/>
              <a:buFontTx/>
              <a:buNone/>
              <a:defRPr/>
            </a:pPr>
            <a:r>
              <a:rPr kumimoji="0" lang="zh-CN" altLang="en-US" sz="22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判定树：树中每个结点表示表中一个记录，结点中的值为该记录在表中的位置，通常称这个描述查找过程的二叉树为判定树。</a:t>
            </a:r>
            <a:endParaRPr kumimoji="0" lang="zh-CN" altLang="en-US" sz="22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a:p>
            <a:pPr marR="0" defTabSz="914400" eaLnBrk="1" hangingPunct="1">
              <a:buClrTx/>
              <a:buSzTx/>
              <a:buFontTx/>
              <a:buNone/>
              <a:defRPr/>
            </a:pPr>
            <a:r>
              <a:rPr kumimoji="0" lang="zh-CN" altLang="en-US" sz="2200"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深度为</a:t>
            </a:r>
            <a:r>
              <a:rPr kumimoji="0" lang="en-US" altLang="zh-CN" sz="2200"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log</a:t>
            </a:r>
            <a:r>
              <a:rPr kumimoji="0" lang="en-US" altLang="zh-CN" sz="2200" kern="1200" cap="none" spc="0" normalizeH="0" baseline="-2500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2</a:t>
            </a:r>
            <a:r>
              <a:rPr kumimoji="0" lang="en-US" altLang="zh-CN" sz="2200" kern="1200" cap="none" spc="0" normalizeH="0" baseline="3000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n</a:t>
            </a:r>
            <a:r>
              <a:rPr kumimoji="0" lang="en-US" altLang="zh-CN" sz="2200"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a:t>
            </a:r>
            <a:r>
              <a:rPr kumimoji="0" lang="zh-CN" altLang="en-US" sz="2200"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则成功和不成功的最大比较次数为树深度。</a:t>
            </a:r>
            <a:endParaRPr kumimoji="0" lang="zh-CN" altLang="en-US" sz="2200"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a:p>
            <a:pPr marR="0" defTabSz="914400" eaLnBrk="1" hangingPunct="1">
              <a:buClrTx/>
              <a:buSzTx/>
              <a:buFontTx/>
              <a:buNone/>
              <a:defRPr/>
            </a:pPr>
            <a:endParaRPr kumimoji="0" lang="en-US" altLang="zh-CN" sz="22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3928" name="AutoShape 8"/>
          <p:cNvSpPr/>
          <p:nvPr/>
        </p:nvSpPr>
        <p:spPr bwMode="auto">
          <a:xfrm>
            <a:off x="2424113" y="3284538"/>
            <a:ext cx="1427163" cy="441325"/>
          </a:xfrm>
          <a:prstGeom prst="accentCallout2">
            <a:avLst>
              <a:gd name="adj1" fmla="val 25898"/>
              <a:gd name="adj2" fmla="val -5338"/>
              <a:gd name="adj3" fmla="val 25898"/>
              <a:gd name="adj4" fmla="val -25917"/>
              <a:gd name="adj5" fmla="val 139208"/>
              <a:gd name="adj6" fmla="val -29921"/>
            </a:avLst>
          </a:prstGeom>
          <a:noFill/>
          <a:ln w="9525">
            <a:solidFill>
              <a:schemeClr val="tx1"/>
            </a:solid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第*个元素</a:t>
            </a:r>
            <a:endParaRPr kumimoji="0" lang="zh-CN" altLang="en-US"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3929" name="AutoShape 9"/>
          <p:cNvSpPr/>
          <p:nvPr/>
        </p:nvSpPr>
        <p:spPr bwMode="auto">
          <a:xfrm>
            <a:off x="2921000" y="5949950"/>
            <a:ext cx="1427163" cy="441325"/>
          </a:xfrm>
          <a:prstGeom prst="accentCallout2">
            <a:avLst>
              <a:gd name="adj1" fmla="val 25898"/>
              <a:gd name="adj2" fmla="val 105338"/>
              <a:gd name="adj3" fmla="val 25898"/>
              <a:gd name="adj4" fmla="val 124361"/>
              <a:gd name="adj5" fmla="val -76977"/>
              <a:gd name="adj6" fmla="val 128032"/>
            </a:avLst>
          </a:prstGeom>
          <a:noFill/>
          <a:ln w="9525">
            <a:solidFill>
              <a:schemeClr val="tx1"/>
            </a:solid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外部节点</a:t>
            </a:r>
            <a:endParaRPr kumimoji="0" lang="zh-CN" altLang="en-US"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10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折半查找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0109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效率要好于顺序查找</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有序表</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折半（二分）查找的思想可用于单链表吗</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10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折半查找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25603" name="内容占位符 1"/>
          <p:cNvPicPr>
            <a:picLocks noChangeAspect="1"/>
          </p:cNvPicPr>
          <p:nvPr>
            <p:ph idx="1"/>
            <p:custDataLst>
              <p:tags r:id="rId1"/>
            </p:custDataLst>
          </p:nvPr>
        </p:nvPicPr>
        <p:blipFill>
          <a:blip r:embed="rId2"/>
          <a:srcRect/>
          <a:stretch>
            <a:fillRect/>
          </a:stretch>
        </p:blipFill>
        <p:spPr>
          <a:xfrm>
            <a:off x="574675" y="1731963"/>
            <a:ext cx="8012113" cy="4046537"/>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课后练习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4512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给出在有序表</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a,b,c,d,e,f,g</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折半查找关键字</a:t>
            </a:r>
            <a:r>
              <a:rPr kumimoji="0"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e,f,g</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的过程</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31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9.2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动态查找表</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0313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查找成功</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则返回元素</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否则</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插入查找值</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基于树结构的查找表</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二叉排序树</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(Binary Sort Tree)</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04163" name="Rectangle 3"/>
          <p:cNvSpPr>
            <a:spLocks noGrp="1" noChangeArrowheads="1"/>
          </p:cNvSpPr>
          <p:nvPr>
            <p:ph idx="1"/>
          </p:nvPr>
        </p:nvSpPr>
        <p:spPr>
          <a:xfrm>
            <a:off x="566738" y="1752600"/>
            <a:ext cx="4149725"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BST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空树</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或者具有以下特征的二叉树</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若节点的左子树非空</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则左子树上所有节点的值均小于该节点的值</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若节点的右子树非空</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则右子树上所有节点的值均大于该节点的值</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节点的左右子树分别为二叉排序树</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Search</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28676" name="Picture 4"/>
          <p:cNvPicPr>
            <a:picLocks noChangeAspect="1"/>
          </p:cNvPicPr>
          <p:nvPr/>
        </p:nvPicPr>
        <p:blipFill>
          <a:blip r:embed="rId1"/>
          <a:stretch>
            <a:fillRect/>
          </a:stretch>
        </p:blipFill>
        <p:spPr>
          <a:xfrm>
            <a:off x="4859338" y="1773238"/>
            <a:ext cx="3697287" cy="3960812"/>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5189" name="Rectangle 5"/>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算法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05190" name="Text Box 6"/>
          <p:cNvSpPr txBox="1">
            <a:spLocks noChangeArrowheads="1"/>
          </p:cNvSpPr>
          <p:nvPr/>
        </p:nvSpPr>
        <p:spPr bwMode="auto">
          <a:xfrm>
            <a:off x="7524750" y="549275"/>
            <a:ext cx="120015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二叉链表</a:t>
            </a:r>
            <a:endPar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29700" name="20 1"/>
          <p:cNvPicPr>
            <a:picLocks noChangeAspect="1"/>
          </p:cNvPicPr>
          <p:nvPr/>
        </p:nvPicPr>
        <p:blipFill>
          <a:blip r:embed="rId1"/>
          <a:stretch>
            <a:fillRect/>
          </a:stretch>
        </p:blipFill>
        <p:spPr>
          <a:xfrm>
            <a:off x="611188" y="1751013"/>
            <a:ext cx="7964487" cy="2814637"/>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62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（二叉排序树）插入</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0624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逐渐生成</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BST</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BST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查找不成功则插入</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新插入的节点一定是新的叶子节点，且是查找不成功时最后访问的节点的左或右孩子</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中序遍历→有序序列</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由中序遍历和</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BST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性质可得</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72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（二叉排序树）插入</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31747" name="Picture 4"/>
          <p:cNvPicPr>
            <a:picLocks noChangeAspect="1"/>
          </p:cNvPicPr>
          <p:nvPr/>
        </p:nvPicPr>
        <p:blipFill>
          <a:blip r:embed="rId1">
            <a:clrChange>
              <a:clrFrom>
                <a:srgbClr val="FFFFFF"/>
              </a:clrFrom>
              <a:clrTo>
                <a:srgbClr val="FFFFFF">
                  <a:alpha val="0"/>
                </a:srgbClr>
              </a:clrTo>
            </a:clrChange>
          </a:blip>
          <a:stretch>
            <a:fillRect/>
          </a:stretch>
        </p:blipFill>
        <p:spPr>
          <a:xfrm>
            <a:off x="539750" y="1930400"/>
            <a:ext cx="7488238" cy="399415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030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（二叉排序树）删除</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0307" name="Rectangle 3"/>
          <p:cNvSpPr>
            <a:spLocks noGrp="1" noChangeArrowheads="1"/>
          </p:cNvSpPr>
          <p:nvPr>
            <p:ph idx="1"/>
          </p:nvPr>
        </p:nvSpPr>
        <p:spPr>
          <a:xfrm>
            <a:off x="566738" y="1752600"/>
            <a:ext cx="4076700"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保持</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BST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特性</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已知：</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设被删除节点为*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即</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指向的节点</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其双亲节点为*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不失一般性</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的左孩子</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32772" name="Picture 4"/>
          <p:cNvPicPr>
            <a:picLocks noChangeAspect="1"/>
          </p:cNvPicPr>
          <p:nvPr/>
        </p:nvPicPr>
        <p:blipFill>
          <a:blip r:embed="rId1">
            <a:clrChange>
              <a:clrFrom>
                <a:srgbClr val="FFFFFF"/>
              </a:clrFrom>
              <a:clrTo>
                <a:srgbClr val="FFFFFF">
                  <a:alpha val="0"/>
                </a:srgbClr>
              </a:clrTo>
            </a:clrChange>
          </a:blip>
          <a:stretch>
            <a:fillRect/>
          </a:stretch>
        </p:blipFill>
        <p:spPr>
          <a:xfrm>
            <a:off x="5003800" y="2420938"/>
            <a:ext cx="3529013" cy="308927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1332"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删除</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1333" name="Rectangle 5"/>
          <p:cNvSpPr>
            <a:spLocks noGrp="1" noChangeArrowheads="1"/>
          </p:cNvSpPr>
          <p:nvPr>
            <p:ph idx="1"/>
          </p:nvPr>
        </p:nvSpPr>
        <p:spPr>
          <a:xfrm>
            <a:off x="566738" y="1752600"/>
            <a:ext cx="4005263" cy="4267200"/>
          </a:xfrm>
        </p:spPr>
        <p:txBody>
          <a:bodyPr vert="horz" wrap="square" lIns="91440" tIns="45720" rIns="91440" bIns="45720" numCol="1" anchor="t" anchorCtr="0" compatLnSpc="1"/>
          <a:lstStyle/>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若*</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为叶子节点</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即</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则修改双亲节点指针即可</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若*</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只有左子树或只有右子树</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则令</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或</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f</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的左子树即可</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33796" name="Picture 7"/>
          <p:cNvPicPr>
            <a:picLocks noChangeAspect="1"/>
          </p:cNvPicPr>
          <p:nvPr/>
        </p:nvPicPr>
        <p:blipFill>
          <a:blip r:embed="rId1">
            <a:clrChange>
              <a:clrFrom>
                <a:srgbClr val="FFFFFF"/>
              </a:clrFrom>
              <a:clrTo>
                <a:srgbClr val="FFFFFF">
                  <a:alpha val="0"/>
                </a:srgbClr>
              </a:clrTo>
            </a:clrChange>
          </a:blip>
          <a:stretch>
            <a:fillRect/>
          </a:stretch>
        </p:blipFill>
        <p:spPr>
          <a:xfrm>
            <a:off x="6083300" y="404813"/>
            <a:ext cx="2016125" cy="1428750"/>
          </a:xfrm>
          <a:prstGeom prst="rect">
            <a:avLst/>
          </a:prstGeom>
          <a:solidFill>
            <a:schemeClr val="bg1"/>
          </a:solidFill>
          <a:ln w="9525">
            <a:noFill/>
          </a:ln>
        </p:spPr>
      </p:pic>
      <p:pic>
        <p:nvPicPr>
          <p:cNvPr id="33797" name="Picture 8"/>
          <p:cNvPicPr>
            <a:picLocks noChangeAspect="1"/>
          </p:cNvPicPr>
          <p:nvPr/>
        </p:nvPicPr>
        <p:blipFill>
          <a:blip r:embed="rId2">
            <a:clrChange>
              <a:clrFrom>
                <a:srgbClr val="FFFFFF"/>
              </a:clrFrom>
              <a:clrTo>
                <a:srgbClr val="FFFFFF">
                  <a:alpha val="0"/>
                </a:srgbClr>
              </a:clrTo>
            </a:clrChange>
          </a:blip>
          <a:stretch>
            <a:fillRect/>
          </a:stretch>
        </p:blipFill>
        <p:spPr>
          <a:xfrm>
            <a:off x="5722938" y="2349500"/>
            <a:ext cx="2808287" cy="1663700"/>
          </a:xfrm>
          <a:prstGeom prst="rect">
            <a:avLst/>
          </a:prstGeom>
          <a:noFill/>
          <a:ln w="9525">
            <a:noFill/>
          </a:ln>
        </p:spPr>
      </p:pic>
      <p:pic>
        <p:nvPicPr>
          <p:cNvPr id="33798" name="Picture 9"/>
          <p:cNvPicPr>
            <a:picLocks noChangeAspect="1"/>
          </p:cNvPicPr>
          <p:nvPr/>
        </p:nvPicPr>
        <p:blipFill>
          <a:blip r:embed="rId3"/>
          <a:stretch>
            <a:fillRect/>
          </a:stretch>
        </p:blipFill>
        <p:spPr>
          <a:xfrm>
            <a:off x="5795963" y="4365625"/>
            <a:ext cx="2879725" cy="1938338"/>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33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（二叉排序树）删除</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3379" name="Rectangle 3"/>
          <p:cNvSpPr>
            <a:spLocks noGrp="1" noChangeArrowheads="1"/>
          </p:cNvSpPr>
          <p:nvPr>
            <p:ph idx="1"/>
          </p:nvPr>
        </p:nvSpPr>
        <p:spPr/>
        <p:txBody>
          <a:bodyPr vert="horz" wrap="square" lIns="91440" tIns="45720" rIns="91440" bIns="45720" numCol="1" anchor="t" anchorCtr="0" compatLnSpc="1"/>
          <a:lstStyle/>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startAt="3"/>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若</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左、右子树不为空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lphaLcParenR"/>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令*</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的左子树为*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f</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的左子树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的右子树为*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s</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的右子树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其中*</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s</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的直接前驱</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中序遍历</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lphaLcParenR"/>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令*</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的直接前驱</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或直接后继</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替代*</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然后删除它的直接前驱</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或直接后继</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pic>
        <p:nvPicPr>
          <p:cNvPr id="34820" name="Picture 4"/>
          <p:cNvPicPr>
            <a:picLocks noChangeAspect="1"/>
          </p:cNvPicPr>
          <p:nvPr/>
        </p:nvPicPr>
        <p:blipFill>
          <a:blip r:embed="rId1"/>
          <a:stretch>
            <a:fillRect/>
          </a:stretch>
        </p:blipFill>
        <p:spPr>
          <a:xfrm>
            <a:off x="250825" y="4032250"/>
            <a:ext cx="8642350" cy="2852738"/>
          </a:xfrm>
          <a:prstGeom prst="rect">
            <a:avLst/>
          </a:prstGeom>
          <a:noFill/>
          <a:ln w="9525">
            <a:noFill/>
          </a:ln>
        </p:spPr>
      </p:pic>
      <p:sp>
        <p:nvSpPr>
          <p:cNvPr id="613381" name="Text Box 5"/>
          <p:cNvSpPr txBox="1">
            <a:spLocks noChangeArrowheads="1"/>
          </p:cNvSpPr>
          <p:nvPr/>
        </p:nvSpPr>
        <p:spPr bwMode="auto">
          <a:xfrm>
            <a:off x="4440238" y="185738"/>
            <a:ext cx="4135438" cy="579438"/>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C</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L</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C…Q</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L</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QS</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L</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S</a:t>
            </a:r>
            <a:r>
              <a:rPr kumimoji="0" lang="en-US" altLang="zh-CN" sz="32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P</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P</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F…</a:t>
            </a:r>
            <a:endPar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428"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查找分析</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5433" name="Rectangle 9"/>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树形态</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36868" name="Picture 5"/>
          <p:cNvPicPr>
            <a:picLocks noChangeAspect="1"/>
          </p:cNvPicPr>
          <p:nvPr/>
        </p:nvPicPr>
        <p:blipFill>
          <a:blip r:embed="rId1">
            <a:clrChange>
              <a:clrFrom>
                <a:srgbClr val="FFFFFF"/>
              </a:clrFrom>
              <a:clrTo>
                <a:srgbClr val="FFFFFF">
                  <a:alpha val="0"/>
                </a:srgbClr>
              </a:clrTo>
            </a:clrChange>
          </a:blip>
          <a:stretch>
            <a:fillRect/>
          </a:stretch>
        </p:blipFill>
        <p:spPr>
          <a:xfrm>
            <a:off x="539750" y="1700213"/>
            <a:ext cx="7993063" cy="3457575"/>
          </a:xfrm>
          <a:prstGeom prst="rect">
            <a:avLst/>
          </a:prstGeom>
          <a:noFill/>
          <a:ln w="9525">
            <a:noFill/>
          </a:ln>
        </p:spPr>
      </p:pic>
      <p:pic>
        <p:nvPicPr>
          <p:cNvPr id="36869" name="Picture 7"/>
          <p:cNvPicPr>
            <a:picLocks noChangeAspect="1"/>
          </p:cNvPicPr>
          <p:nvPr/>
        </p:nvPicPr>
        <p:blipFill>
          <a:blip r:embed="rId2"/>
          <a:stretch>
            <a:fillRect/>
          </a:stretch>
        </p:blipFill>
        <p:spPr>
          <a:xfrm>
            <a:off x="376238" y="5300663"/>
            <a:ext cx="4267200" cy="419100"/>
          </a:xfrm>
          <a:prstGeom prst="rect">
            <a:avLst/>
          </a:prstGeom>
          <a:noFill/>
          <a:ln w="9525">
            <a:noFill/>
          </a:ln>
        </p:spPr>
      </p:pic>
      <p:pic>
        <p:nvPicPr>
          <p:cNvPr id="36870" name="Picture 8"/>
          <p:cNvPicPr>
            <a:picLocks noChangeAspect="1"/>
          </p:cNvPicPr>
          <p:nvPr/>
        </p:nvPicPr>
        <p:blipFill>
          <a:blip r:embed="rId3"/>
          <a:stretch>
            <a:fillRect/>
          </a:stretch>
        </p:blipFill>
        <p:spPr>
          <a:xfrm>
            <a:off x="4787900" y="5300663"/>
            <a:ext cx="4267200" cy="4286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74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查找分析</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74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最好情况</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类似折半查找中的判定树</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ASL</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c*log</a:t>
            </a:r>
            <a:r>
              <a:rPr kumimoji="0" lang="en-US" altLang="zh-CN" sz="26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2600" b="1" i="0"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n</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最差情况</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单支树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链表</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ASL</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(n+1)/2</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平均性能</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随机情况下</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O(logn)</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37892" name="Picture 4"/>
          <p:cNvPicPr>
            <a:picLocks noChangeAspect="1"/>
          </p:cNvPicPr>
          <p:nvPr/>
        </p:nvPicPr>
        <p:blipFill>
          <a:blip r:embed="rId1"/>
          <a:stretch>
            <a:fillRect/>
          </a:stretch>
        </p:blipFill>
        <p:spPr>
          <a:xfrm>
            <a:off x="5867400" y="1700213"/>
            <a:ext cx="1828800" cy="1162050"/>
          </a:xfrm>
          <a:prstGeom prst="rect">
            <a:avLst/>
          </a:prstGeom>
          <a:noFill/>
          <a:ln w="9525">
            <a:noFill/>
          </a:ln>
        </p:spPr>
      </p:pic>
      <p:pic>
        <p:nvPicPr>
          <p:cNvPr id="37893" name="Picture 5"/>
          <p:cNvPicPr>
            <a:picLocks noChangeAspect="1"/>
          </p:cNvPicPr>
          <p:nvPr/>
        </p:nvPicPr>
        <p:blipFill>
          <a:blip r:embed="rId2"/>
          <a:stretch>
            <a:fillRect/>
          </a:stretch>
        </p:blipFill>
        <p:spPr>
          <a:xfrm>
            <a:off x="5724525" y="3500438"/>
            <a:ext cx="2276475" cy="226695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33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5331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建立</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37</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45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91</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14</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76</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56</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65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为输入的二叉排序树</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并计算等概率下查找成功的平均查找长度</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从该树上依此删除</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76</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和</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45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，则树形分别是怎样的？</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43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5433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以下列序列为输入，从空树开始构造</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AVL</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  A</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Z</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B</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Y</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X</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  A</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V</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T</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E</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I</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6B6"/>
        </a:solidFill>
        <a:effectLst/>
      </p:bgPr>
    </p:bg>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a:t>
            </a: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提要</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折半查找法</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927100" marR="0" lvl="1"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lang="zh-CN" altLang="en-US" noProof="0">
                <a:ln>
                  <a:noFill/>
                </a:ln>
                <a:uLnTx/>
                <a:uFillTx/>
                <a:sym typeface="+mn-ea"/>
              </a:rPr>
              <a:t>确定范围</a:t>
            </a:r>
            <a:r>
              <a:rPr lang="en-US" altLang="zh-CN" noProof="0">
                <a:ln>
                  <a:noFill/>
                </a:ln>
                <a:uLnTx/>
                <a:uFillTx/>
                <a:sym typeface="+mn-ea"/>
              </a:rPr>
              <a:t>&lt;-&gt;</a:t>
            </a:r>
            <a:r>
              <a:rPr lang="zh-CN" altLang="en-US" noProof="0">
                <a:ln>
                  <a:noFill/>
                </a:ln>
                <a:uLnTx/>
                <a:uFillTx/>
                <a:sym typeface="+mn-ea"/>
              </a:rPr>
              <a:t>缩小范围</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27100" marR="0" lvl="1"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lang="en-US" altLang="zh-CN" noProof="0">
                <a:ln>
                  <a:noFill/>
                </a:ln>
                <a:uLnTx/>
                <a:uFillTx/>
                <a:sym typeface="+mn-ea"/>
              </a:rPr>
              <a:t>low-</a:t>
            </a:r>
            <a:r>
              <a:rPr lang="zh-CN" altLang="en-US" noProof="0">
                <a:ln>
                  <a:noFill/>
                </a:ln>
                <a:uLnTx/>
                <a:uFillTx/>
                <a:sym typeface="+mn-ea"/>
              </a:rPr>
              <a:t>范围下界</a:t>
            </a:r>
            <a:r>
              <a:rPr lang="en-US" altLang="zh-CN" noProof="0">
                <a:ln>
                  <a:noFill/>
                </a:ln>
                <a:uLnTx/>
                <a:uFillTx/>
                <a:sym typeface="+mn-ea"/>
              </a:rPr>
              <a:t>,high-</a:t>
            </a:r>
            <a:r>
              <a:rPr lang="zh-CN" altLang="en-US" noProof="0">
                <a:ln>
                  <a:noFill/>
                </a:ln>
                <a:uLnTx/>
                <a:uFillTx/>
                <a:sym typeface="+mn-ea"/>
              </a:rPr>
              <a:t>范围上界</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27100" marR="0" lvl="1"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lang="en-US" altLang="zh-CN" noProof="0">
                <a:ln>
                  <a:noFill/>
                </a:ln>
                <a:uLnTx/>
                <a:uFillTx/>
                <a:sym typeface="+mn-ea"/>
              </a:rPr>
              <a:t>mid-</a:t>
            </a:r>
            <a:r>
              <a:rPr lang="zh-CN" altLang="en-US" noProof="0">
                <a:ln>
                  <a:noFill/>
                </a:ln>
                <a:uLnTx/>
                <a:uFillTx/>
                <a:sym typeface="+mn-ea"/>
              </a:rPr>
              <a:t>范围中间元素</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二叉排序树</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3.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哈希表及其查找</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7F6B6"/>
        </a:solidFill>
        <a:effectLst/>
      </p:bgPr>
    </p:bg>
    <p:spTree>
      <p:nvGrpSpPr>
        <p:cNvPr id="1" name=""/>
        <p:cNvGrpSpPr/>
        <p:nvPr/>
      </p:nvGrpSpPr>
      <p:grpSpPr/>
      <p:sp>
        <p:nvSpPr>
          <p:cNvPr id="590853" name="Text Box 5"/>
          <p:cNvSpPr txBox="1">
            <a:spLocks noChangeArrowheads="1"/>
          </p:cNvSpPr>
          <p:nvPr/>
        </p:nvSpPr>
        <p:spPr bwMode="auto">
          <a:xfrm>
            <a:off x="971550" y="836613"/>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54" name="Text Box 6"/>
          <p:cNvSpPr txBox="1">
            <a:spLocks noChangeArrowheads="1"/>
          </p:cNvSpPr>
          <p:nvPr/>
        </p:nvSpPr>
        <p:spPr bwMode="auto">
          <a:xfrm>
            <a:off x="977900" y="1363663"/>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55" name="Text Box 7"/>
          <p:cNvSpPr txBox="1">
            <a:spLocks noChangeArrowheads="1"/>
          </p:cNvSpPr>
          <p:nvPr/>
        </p:nvSpPr>
        <p:spPr bwMode="auto">
          <a:xfrm>
            <a:off x="7589838" y="1363663"/>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56" name="Text Box 8"/>
          <p:cNvSpPr txBox="1">
            <a:spLocks noChangeArrowheads="1"/>
          </p:cNvSpPr>
          <p:nvPr/>
        </p:nvSpPr>
        <p:spPr bwMode="auto">
          <a:xfrm>
            <a:off x="4287838" y="1363663"/>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0" name="Text Box 12"/>
          <p:cNvSpPr txBox="1">
            <a:spLocks noChangeArrowheads="1"/>
          </p:cNvSpPr>
          <p:nvPr/>
        </p:nvSpPr>
        <p:spPr bwMode="auto">
          <a:xfrm>
            <a:off x="3492500" y="188913"/>
            <a:ext cx="1655763" cy="457200"/>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Key=21</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1" name="Text Box 13"/>
          <p:cNvSpPr txBox="1">
            <a:spLocks noChangeArrowheads="1"/>
          </p:cNvSpPr>
          <p:nvPr/>
        </p:nvSpPr>
        <p:spPr bwMode="auto">
          <a:xfrm>
            <a:off x="971550" y="2708275"/>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2" name="Text Box 14"/>
          <p:cNvSpPr txBox="1">
            <a:spLocks noChangeArrowheads="1"/>
          </p:cNvSpPr>
          <p:nvPr/>
        </p:nvSpPr>
        <p:spPr bwMode="auto">
          <a:xfrm>
            <a:off x="977900" y="3235325"/>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3" name="Text Box 15"/>
          <p:cNvSpPr txBox="1">
            <a:spLocks noChangeArrowheads="1"/>
          </p:cNvSpPr>
          <p:nvPr/>
        </p:nvSpPr>
        <p:spPr bwMode="auto">
          <a:xfrm>
            <a:off x="3708400" y="3235325"/>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4" name="Text Box 16"/>
          <p:cNvSpPr txBox="1">
            <a:spLocks noChangeArrowheads="1"/>
          </p:cNvSpPr>
          <p:nvPr/>
        </p:nvSpPr>
        <p:spPr bwMode="auto">
          <a:xfrm>
            <a:off x="2411413" y="3235325"/>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5" name="Text Box 17"/>
          <p:cNvSpPr txBox="1">
            <a:spLocks noChangeArrowheads="1"/>
          </p:cNvSpPr>
          <p:nvPr/>
        </p:nvSpPr>
        <p:spPr bwMode="auto">
          <a:xfrm>
            <a:off x="1042988" y="4460875"/>
            <a:ext cx="70643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05  13  19  21  37  56  64  75  80  88  92</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6" name="Text Box 18"/>
          <p:cNvSpPr txBox="1">
            <a:spLocks noChangeArrowheads="1"/>
          </p:cNvSpPr>
          <p:nvPr/>
        </p:nvSpPr>
        <p:spPr bwMode="auto">
          <a:xfrm>
            <a:off x="3086100" y="4987925"/>
            <a:ext cx="9810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7" name="Text Box 19"/>
          <p:cNvSpPr txBox="1">
            <a:spLocks noChangeArrowheads="1"/>
          </p:cNvSpPr>
          <p:nvPr/>
        </p:nvSpPr>
        <p:spPr bwMode="auto">
          <a:xfrm>
            <a:off x="3851275" y="4987925"/>
            <a:ext cx="1120775"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90868" name="Text Box 20"/>
          <p:cNvSpPr txBox="1">
            <a:spLocks noChangeArrowheads="1"/>
          </p:cNvSpPr>
          <p:nvPr/>
        </p:nvSpPr>
        <p:spPr bwMode="auto">
          <a:xfrm>
            <a:off x="3132138" y="5635625"/>
            <a:ext cx="1008063" cy="45720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mid</a:t>
            </a:r>
            <a:endParaRPr kumimoji="0" lang="en-US" altLang="zh-CN" sz="24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0861"/>
                                        </p:tgtEl>
                                        <p:attrNameLst>
                                          <p:attrName>style.visibility</p:attrName>
                                        </p:attrNameLst>
                                      </p:cBhvr>
                                      <p:to>
                                        <p:strVal val="visible"/>
                                      </p:to>
                                    </p:set>
                                    <p:animEffect transition="in" filter="blinds(horizontal)">
                                      <p:cBhvr>
                                        <p:cTn id="7" dur="500"/>
                                        <p:tgtEl>
                                          <p:spTgt spid="59086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90862"/>
                                        </p:tgtEl>
                                        <p:attrNameLst>
                                          <p:attrName>style.visibility</p:attrName>
                                        </p:attrNameLst>
                                      </p:cBhvr>
                                      <p:to>
                                        <p:strVal val="visible"/>
                                      </p:to>
                                    </p:set>
                                    <p:animEffect transition="in" filter="blinds(horizontal)">
                                      <p:cBhvr>
                                        <p:cTn id="10" dur="500"/>
                                        <p:tgtEl>
                                          <p:spTgt spid="59086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90863"/>
                                        </p:tgtEl>
                                        <p:attrNameLst>
                                          <p:attrName>style.visibility</p:attrName>
                                        </p:attrNameLst>
                                      </p:cBhvr>
                                      <p:to>
                                        <p:strVal val="visible"/>
                                      </p:to>
                                    </p:set>
                                    <p:animEffect transition="in" filter="blinds(horizontal)">
                                      <p:cBhvr>
                                        <p:cTn id="13" dur="500"/>
                                        <p:tgtEl>
                                          <p:spTgt spid="59086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90864"/>
                                        </p:tgtEl>
                                        <p:attrNameLst>
                                          <p:attrName>style.visibility</p:attrName>
                                        </p:attrNameLst>
                                      </p:cBhvr>
                                      <p:to>
                                        <p:strVal val="visible"/>
                                      </p:to>
                                    </p:set>
                                    <p:animEffect transition="in" filter="blinds(horizontal)">
                                      <p:cBhvr>
                                        <p:cTn id="16" dur="500"/>
                                        <p:tgtEl>
                                          <p:spTgt spid="59086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90865"/>
                                        </p:tgtEl>
                                        <p:attrNameLst>
                                          <p:attrName>style.visibility</p:attrName>
                                        </p:attrNameLst>
                                      </p:cBhvr>
                                      <p:to>
                                        <p:strVal val="visible"/>
                                      </p:to>
                                    </p:set>
                                    <p:animEffect transition="in" filter="blinds(horizontal)">
                                      <p:cBhvr>
                                        <p:cTn id="21" dur="500"/>
                                        <p:tgtEl>
                                          <p:spTgt spid="59086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90866"/>
                                        </p:tgtEl>
                                        <p:attrNameLst>
                                          <p:attrName>style.visibility</p:attrName>
                                        </p:attrNameLst>
                                      </p:cBhvr>
                                      <p:to>
                                        <p:strVal val="visible"/>
                                      </p:to>
                                    </p:set>
                                    <p:animEffect transition="in" filter="blinds(horizontal)">
                                      <p:cBhvr>
                                        <p:cTn id="24" dur="500"/>
                                        <p:tgtEl>
                                          <p:spTgt spid="59086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90867"/>
                                        </p:tgtEl>
                                        <p:attrNameLst>
                                          <p:attrName>style.visibility</p:attrName>
                                        </p:attrNameLst>
                                      </p:cBhvr>
                                      <p:to>
                                        <p:strVal val="visible"/>
                                      </p:to>
                                    </p:set>
                                    <p:animEffect transition="in" filter="blinds(horizontal)">
                                      <p:cBhvr>
                                        <p:cTn id="27" dur="500"/>
                                        <p:tgtEl>
                                          <p:spTgt spid="59086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90868"/>
                                        </p:tgtEl>
                                        <p:attrNameLst>
                                          <p:attrName>style.visibility</p:attrName>
                                        </p:attrNameLst>
                                      </p:cBhvr>
                                      <p:to>
                                        <p:strVal val="visible"/>
                                      </p:to>
                                    </p:set>
                                    <p:animEffect transition="in" filter="blinds(horizontal)">
                                      <p:cBhvr>
                                        <p:cTn id="30" dur="500"/>
                                        <p:tgtEl>
                                          <p:spTgt spid="590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61" grpId="0" bldLvl="0" animBg="1"/>
      <p:bldP spid="590862" grpId="0" bldLvl="0" animBg="1"/>
      <p:bldP spid="590863" grpId="0" bldLvl="0" animBg="1"/>
      <p:bldP spid="590864" grpId="0" bldLvl="0" animBg="1"/>
      <p:bldP spid="590865" grpId="0" bldLvl="0" animBg="1"/>
      <p:bldP spid="590866" grpId="0" bldLvl="0" animBg="1"/>
      <p:bldP spid="590867" grpId="0" bldLvl="0" animBg="1"/>
      <p:bldP spid="590868"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6B6"/>
        </a:solidFill>
        <a:effectLst/>
      </p:bgPr>
    </p:bg>
    <p:spTree>
      <p:nvGrpSpPr>
        <p:cNvPr id="1" name=""/>
        <p:cNvGrpSpPr/>
        <p:nvPr/>
      </p:nvGrpSpPr>
      <p:grpSpPr/>
      <p:sp>
        <p:nvSpPr>
          <p:cNvPr id="9062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（二叉排序树）插入</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0624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BST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查找不成功则插入</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新插入的节点一定是新的叶子节点，且是查找不成功时最后访问的节点的左或右孩子</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6B6"/>
        </a:solidFill>
        <a:effectLst/>
      </p:bgPr>
    </p:bg>
    <p:spTree>
      <p:nvGrpSpPr>
        <p:cNvPr id="1" name=""/>
        <p:cNvGrpSpPr/>
        <p:nvPr/>
      </p:nvGrpSpPr>
      <p:grpSpPr/>
      <p:sp>
        <p:nvSpPr>
          <p:cNvPr id="611332"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删除</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1333" name="Rectangle 5"/>
          <p:cNvSpPr>
            <a:spLocks noGrp="1" noChangeArrowheads="1"/>
          </p:cNvSpPr>
          <p:nvPr>
            <p:ph idx="1"/>
          </p:nvPr>
        </p:nvSpPr>
        <p:spPr>
          <a:xfrm>
            <a:off x="566738" y="1752600"/>
            <a:ext cx="4005263" cy="4267200"/>
          </a:xfrm>
        </p:spPr>
        <p:txBody>
          <a:bodyPr vert="horz" wrap="square" lIns="91440" tIns="45720" rIns="91440" bIns="45720" numCol="1" anchor="t" anchorCtr="0" compatLnSpc="1"/>
          <a:lstStyle/>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若*</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为叶子节点</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即</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和</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则修改双亲节点指针即可</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若*</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只有左子树或只有右子树</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则令</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或</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f</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的左子树即可</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33796" name="Picture 7"/>
          <p:cNvPicPr>
            <a:picLocks noChangeAspect="1"/>
          </p:cNvPicPr>
          <p:nvPr/>
        </p:nvPicPr>
        <p:blipFill>
          <a:blip r:embed="rId1">
            <a:clrChange>
              <a:clrFrom>
                <a:srgbClr val="FFFFFF"/>
              </a:clrFrom>
              <a:clrTo>
                <a:srgbClr val="FFFFFF">
                  <a:alpha val="0"/>
                </a:srgbClr>
              </a:clrTo>
            </a:clrChange>
          </a:blip>
          <a:stretch>
            <a:fillRect/>
          </a:stretch>
        </p:blipFill>
        <p:spPr>
          <a:xfrm>
            <a:off x="6083300" y="404813"/>
            <a:ext cx="2016125" cy="1428750"/>
          </a:xfrm>
          <a:prstGeom prst="rect">
            <a:avLst/>
          </a:prstGeom>
          <a:solidFill>
            <a:schemeClr val="bg1"/>
          </a:solidFill>
          <a:ln w="9525">
            <a:noFill/>
          </a:ln>
        </p:spPr>
      </p:pic>
      <p:pic>
        <p:nvPicPr>
          <p:cNvPr id="33797" name="Picture 8"/>
          <p:cNvPicPr>
            <a:picLocks noChangeAspect="1"/>
          </p:cNvPicPr>
          <p:nvPr/>
        </p:nvPicPr>
        <p:blipFill>
          <a:blip r:embed="rId2">
            <a:clrChange>
              <a:clrFrom>
                <a:srgbClr val="FFFFFF"/>
              </a:clrFrom>
              <a:clrTo>
                <a:srgbClr val="FFFFFF">
                  <a:alpha val="0"/>
                </a:srgbClr>
              </a:clrTo>
            </a:clrChange>
          </a:blip>
          <a:stretch>
            <a:fillRect/>
          </a:stretch>
        </p:blipFill>
        <p:spPr>
          <a:xfrm>
            <a:off x="5722938" y="2349500"/>
            <a:ext cx="2808287" cy="1663700"/>
          </a:xfrm>
          <a:prstGeom prst="rect">
            <a:avLst/>
          </a:prstGeom>
          <a:noFill/>
          <a:ln w="9525">
            <a:noFill/>
          </a:ln>
        </p:spPr>
      </p:pic>
      <p:pic>
        <p:nvPicPr>
          <p:cNvPr id="33798" name="Picture 9"/>
          <p:cNvPicPr>
            <a:picLocks noChangeAspect="1"/>
          </p:cNvPicPr>
          <p:nvPr/>
        </p:nvPicPr>
        <p:blipFill>
          <a:blip r:embed="rId3"/>
          <a:stretch>
            <a:fillRect/>
          </a:stretch>
        </p:blipFill>
        <p:spPr>
          <a:xfrm>
            <a:off x="5795963" y="4365625"/>
            <a:ext cx="2879725" cy="1938338"/>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6B6"/>
        </a:solidFill>
        <a:effectLst/>
      </p:bgPr>
    </p:bg>
    <p:spTree>
      <p:nvGrpSpPr>
        <p:cNvPr id="1" name=""/>
        <p:cNvGrpSpPr/>
        <p:nvPr/>
      </p:nvGrpSpPr>
      <p:grpSpPr/>
      <p:sp>
        <p:nvSpPr>
          <p:cNvPr id="6133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BST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（二叉排序树）删除</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3379" name="Rectangle 3"/>
          <p:cNvSpPr>
            <a:spLocks noGrp="1" noChangeArrowheads="1"/>
          </p:cNvSpPr>
          <p:nvPr>
            <p:ph idx="1"/>
          </p:nvPr>
        </p:nvSpPr>
        <p:spPr/>
        <p:txBody>
          <a:bodyPr vert="horz" wrap="square" lIns="91440" tIns="45720" rIns="91440" bIns="45720" numCol="1" anchor="t" anchorCtr="0" compatLnSpc="1"/>
          <a:lstStyle/>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startAt="3"/>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若</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左、右子树不为空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lphaLcParenR"/>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令*</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的左子树为*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f</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的左子树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的右子树为*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s</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的右子树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其中*</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s</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的直接前驱</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中序遍历</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67105" marR="0" lvl="1" indent="-4953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lphaLcParenR"/>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令*</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的直接前驱</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或直接后继</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替代*</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然后删除它的直接前驱</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或直接后继</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pic>
        <p:nvPicPr>
          <p:cNvPr id="34820" name="Picture 4"/>
          <p:cNvPicPr>
            <a:picLocks noChangeAspect="1"/>
          </p:cNvPicPr>
          <p:nvPr/>
        </p:nvPicPr>
        <p:blipFill>
          <a:blip r:embed="rId1"/>
          <a:stretch>
            <a:fillRect/>
          </a:stretch>
        </p:blipFill>
        <p:spPr>
          <a:xfrm>
            <a:off x="250825" y="4032250"/>
            <a:ext cx="8642350" cy="2852738"/>
          </a:xfrm>
          <a:prstGeom prst="rect">
            <a:avLst/>
          </a:prstGeom>
          <a:noFill/>
          <a:ln w="9525">
            <a:noFill/>
          </a:ln>
        </p:spPr>
      </p:pic>
      <p:sp>
        <p:nvSpPr>
          <p:cNvPr id="613381" name="Text Box 5"/>
          <p:cNvSpPr txBox="1">
            <a:spLocks noChangeArrowheads="1"/>
          </p:cNvSpPr>
          <p:nvPr/>
        </p:nvSpPr>
        <p:spPr bwMode="auto">
          <a:xfrm>
            <a:off x="4440238" y="185738"/>
            <a:ext cx="4135438" cy="579438"/>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C</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L</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C…Q</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L</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QS</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L</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S</a:t>
            </a:r>
            <a:r>
              <a:rPr kumimoji="0" lang="en-US" altLang="zh-CN" sz="32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P</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P</a:t>
            </a:r>
            <a:r>
              <a:rPr kumimoji="0" lang="en-US" altLang="zh-CN" sz="32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a:t>
            </a:r>
            <a:r>
              <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F…</a:t>
            </a:r>
            <a:endParaRPr kumimoji="0" lang="en-US" altLang="zh-CN" sz="32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25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哈希表</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(Hash Table)</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2531" name="Rectangle 3"/>
          <p:cNvSpPr>
            <a:spLocks noGrp="1" noChangeArrowheads="1"/>
          </p:cNvSpPr>
          <p:nvPr>
            <p:ph idx="1"/>
          </p:nvPr>
        </p:nvSpPr>
        <p:spPr>
          <a:xfrm>
            <a:off x="633413" y="1752600"/>
            <a:ext cx="8228013" cy="4267200"/>
          </a:xfrm>
        </p:spPr>
        <p:txBody>
          <a:bodyPr vert="horz" wrap="square" lIns="91440" tIns="45720" rIns="91440" bIns="45720" numCol="1" anchor="t" anchorCtr="0" compatLnSpc="1"/>
          <a:lstStyle/>
          <a:p>
            <a:pPr marL="363855" marR="0" lvl="0" indent="-36385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cs"/>
              </a:rPr>
              <a:t>比较式查找：</a:t>
            </a:r>
            <a:r>
              <a:rPr kumimoji="0" lang="zh-CN" altLang="en-US" sz="24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rPr>
              <a:t>通过对关键字的一系列查找比较实现；</a:t>
            </a:r>
            <a:endParaRPr kumimoji="0" lang="zh-CN" altLang="en-US" sz="24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a:p>
            <a:pPr marL="363855" marR="0" lvl="0" indent="-36385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cs"/>
              </a:rPr>
              <a:t>计算式查找：</a:t>
            </a:r>
            <a:r>
              <a:rPr kumimoji="0" lang="zh-CN" altLang="en-US" sz="24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rPr>
              <a:t>对关键字计算得到对应元素的地址。</a:t>
            </a:r>
            <a:endParaRPr kumimoji="0" lang="zh-CN" altLang="en-US" sz="24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25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哈希表</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(Hash Table)</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2531" name="Rectangle 3"/>
          <p:cNvSpPr>
            <a:spLocks noGrp="1" noChangeArrowheads="1"/>
          </p:cNvSpPr>
          <p:nvPr>
            <p:ph idx="1"/>
          </p:nvPr>
        </p:nvSpPr>
        <p:spPr/>
        <p:txBody>
          <a:bodyPr vert="horz" wrap="square" lIns="91440" tIns="45720" rIns="91440" bIns="45720" numCol="1" anchor="t" anchorCtr="0" compatLnSpc="1"/>
          <a:lstStyle/>
          <a:p>
            <a:pPr marL="0" marR="0" lvl="0" indent="35242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rPr>
              <a:t>什么是哈希表</a:t>
            </a:r>
            <a:endParaRPr kumimoji="0" lang="zh-CN" altLang="en-US" sz="28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35242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rPr>
              <a:t>哈希表的构造</a:t>
            </a:r>
            <a:endParaRPr kumimoji="0" lang="zh-CN" altLang="en-US" sz="28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35242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rPr>
              <a:t>哈希查找的分析</a:t>
            </a:r>
            <a:endParaRPr kumimoji="0" lang="zh-CN" altLang="en-US" sz="28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None/>
              <a:defRPr/>
            </a:pPr>
            <a:endParaRPr kumimoji="0" lang="zh-CN" altLang="en-US" sz="2800" b="1" i="0" u="none" strike="noStrike" kern="0" cap="none" spc="0" normalizeH="0" baseline="0" noProof="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25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哈希表</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(Hash Table)</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2531" name="Rectangle 3"/>
          <p:cNvSpPr>
            <a:spLocks noGrp="1" noChangeArrowheads="1"/>
          </p:cNvSpPr>
          <p:nvPr>
            <p:ph idx="1"/>
          </p:nvPr>
        </p:nvSpPr>
        <p:spPr/>
        <p:txBody>
          <a:bodyPr vert="horz" wrap="square" lIns="91440" tIns="45720" rIns="91440" bIns="45720" numCol="1" anchor="t" anchorCtr="0" compatLnSpc="1"/>
          <a:lstStyle/>
          <a:p>
            <a:pPr marL="0" marR="0" lvl="0" indent="352425"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1"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如果我们在记录的存储位置与记录的关键字值之间建立一种对应关系</a:t>
            </a:r>
            <a:r>
              <a:rPr kumimoji="1"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f</a:t>
            </a:r>
            <a:r>
              <a:rPr kumimoji="1"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，使得每个关键字值与记录的存储位置（地址）相对应，即</a:t>
            </a:r>
            <a:r>
              <a:rPr kumimoji="1"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Loc(key)=f(key),</a:t>
            </a:r>
            <a:r>
              <a:rPr kumimoji="1"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其中</a:t>
            </a:r>
            <a:r>
              <a:rPr kumimoji="1"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Loc(key)</a:t>
            </a:r>
            <a:r>
              <a:rPr kumimoji="1"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表示关键字值为</a:t>
            </a:r>
            <a:r>
              <a:rPr kumimoji="1"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key</a:t>
            </a:r>
            <a:r>
              <a:rPr kumimoji="1"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的记录的存储位置。</a:t>
            </a:r>
            <a:endParaRPr kumimoji="1"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25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哈希表</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(Hash Table)</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2531" name="Rectangle 3"/>
          <p:cNvSpPr>
            <a:spLocks noGrp="1" noChangeArrowheads="1"/>
          </p:cNvSpPr>
          <p:nvPr>
            <p:ph idx="1"/>
          </p:nvPr>
        </p:nvSpPr>
        <p:spPr>
          <a:xfrm>
            <a:off x="574675" y="1752600"/>
            <a:ext cx="8461375" cy="4267200"/>
          </a:xfrm>
        </p:spPr>
        <p:txBody>
          <a:bodyPr vert="horz" wrap="square" lIns="91440" tIns="45720" rIns="91440" bIns="45720" numCol="1" anchor="t" anchorCtr="0" compatLnSpc="1"/>
          <a:lstStyle/>
          <a:p>
            <a:pPr marL="0" marR="0" lvl="0" indent="352425"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如果集合中存在关键字值为</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key</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的记录，则必然在</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f(key)</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的位置上。</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352425"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不需要进行关键字值比较，便可直接取得该记录。</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352425"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把关键字值映射到位置（地址）的函数</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f</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称为哈希</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散列</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函数</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(hash function)</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，而这样建立的表称为哈希</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散列</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表。</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352425"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rPr>
              <a:t>通常散列表的存储空间是一个一维数组，散列地址是该数组的下标。在不会引起混淆的情况下，我们就将这个一维数组简称为散列表</a:t>
            </a:r>
            <a:endParaRPr kumimoji="0" lang="zh-CN" altLang="en-US" sz="28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355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哈希</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函数示例</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3555" name="Rectangle 3"/>
          <p:cNvSpPr>
            <a:spLocks noGrp="1" noChangeArrowheads="1"/>
          </p:cNvSpPr>
          <p:nvPr>
            <p:ph idx="1"/>
          </p:nvPr>
        </p:nvSpPr>
        <p:spPr>
          <a:xfrm>
            <a:off x="566738" y="1752600"/>
            <a:ext cx="8001000" cy="2324100"/>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f1(key):</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取</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的第一个字母在字母表中的序号</a:t>
            </a:r>
            <a:endPar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f2(key):</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取</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的第一个和最后一个字母在字母表序号之和，如大于</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30</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，则减去</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30</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f3(key):</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取</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的每个汉字拼音第一个字母的</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ASCII</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之和的八进制形式，然后将八进制形式看成十进制，并除以</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30</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取余数。</a:t>
            </a:r>
            <a:endPar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45060" name="Picture 4"/>
          <p:cNvPicPr>
            <a:picLocks noChangeAspect="1"/>
          </p:cNvPicPr>
          <p:nvPr/>
        </p:nvPicPr>
        <p:blipFill>
          <a:blip r:embed="rId1">
            <a:clrChange>
              <a:clrFrom>
                <a:srgbClr val="FFFFFF"/>
              </a:clrFrom>
              <a:clrTo>
                <a:srgbClr val="FFFFFF">
                  <a:alpha val="0"/>
                </a:srgbClr>
              </a:clrTo>
            </a:clrChange>
          </a:blip>
          <a:stretch>
            <a:fillRect/>
          </a:stretch>
        </p:blipFill>
        <p:spPr>
          <a:xfrm>
            <a:off x="539750" y="4076700"/>
            <a:ext cx="8228013" cy="20478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45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冲突（</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Collision</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457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对不同的关键字可能得到同一哈希地址，该现象称为冲突</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具有相同函数值的关键字对该哈希函数来说为同义词（</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synonym</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）（例如：</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k1</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和</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k2</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为同义词）</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46084" name="Picture 4"/>
          <p:cNvPicPr>
            <a:picLocks noChangeAspect="1"/>
          </p:cNvPicPr>
          <p:nvPr/>
        </p:nvPicPr>
        <p:blipFill>
          <a:blip r:embed="rId1">
            <a:clrChange>
              <a:clrFrom>
                <a:srgbClr val="FFFFFF"/>
              </a:clrFrom>
              <a:clrTo>
                <a:srgbClr val="FFFFFF">
                  <a:alpha val="0"/>
                </a:srgbClr>
              </a:clrTo>
            </a:clrChange>
          </a:blip>
          <a:stretch>
            <a:fillRect/>
          </a:stretch>
        </p:blipFill>
        <p:spPr>
          <a:xfrm>
            <a:off x="539750" y="4076700"/>
            <a:ext cx="8228013" cy="2047875"/>
          </a:xfrm>
          <a:prstGeom prst="rect">
            <a:avLst/>
          </a:prstGeom>
          <a:noFill/>
          <a:ln w="9525">
            <a:noFill/>
          </a:ln>
        </p:spPr>
      </p:pic>
      <p:pic>
        <p:nvPicPr>
          <p:cNvPr id="46085" name="20 1"/>
          <p:cNvPicPr>
            <a:picLocks noChangeAspect="1"/>
          </p:cNvPicPr>
          <p:nvPr/>
        </p:nvPicPr>
        <p:blipFill>
          <a:blip r:embed="rId2"/>
          <a:stretch>
            <a:fillRect/>
          </a:stretch>
        </p:blipFill>
        <p:spPr>
          <a:xfrm>
            <a:off x="1073150" y="2130425"/>
            <a:ext cx="6343650" cy="112712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避免冲突</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560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最理想的解决冲突的方法是避免冲突，但必须满足两个条件：</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649605" marR="0" lvl="1" indent="-1778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rPr>
              <a:t>①关键字的个数小于或等于散列表的长度</a:t>
            </a:r>
            <a:endPar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endParaRPr>
          </a:p>
          <a:p>
            <a:pPr marL="649605" marR="0" lvl="1" indent="-1778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rPr>
              <a:t>②选择合适的散列函数</a:t>
            </a:r>
            <a:endPar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rgbClr val="FF3300"/>
                </a:solidFill>
                <a:effectLst>
                  <a:outerShdw blurRad="38100" dist="38100" dir="2700000" algn="tl">
                    <a:srgbClr val="C0C0C0"/>
                  </a:outerShdw>
                </a:effectLst>
                <a:uLnTx/>
                <a:uFillTx/>
                <a:latin typeface="宋体" panose="02010600030101010101" pitchFamily="2" charset="-122"/>
                <a:ea typeface="+mn-ea"/>
                <a:cs typeface="+mn-cs"/>
              </a:rPr>
              <a:t>冲突不可能完全避免</a:t>
            </a:r>
            <a:endParaRPr kumimoji="0" lang="zh-CN" altLang="en-US" sz="2100" b="1" i="0" u="none" strike="noStrike" kern="0" cap="none" spc="0" normalizeH="0" baseline="0" noProof="0" dirty="0">
              <a:ln>
                <a:noFill/>
              </a:ln>
              <a:solidFill>
                <a:srgbClr val="FF3300"/>
              </a:solidFill>
              <a:effectLst>
                <a:outerShdw blurRad="38100" dist="38100" dir="2700000" algn="tl">
                  <a:srgbClr val="C0C0C0"/>
                </a:outerShdw>
              </a:effectLst>
              <a:uLnTx/>
              <a:uFillTx/>
              <a:latin typeface="宋体" panose="02010600030101010101" pitchFamily="2" charset="-122"/>
              <a:ea typeface="+mn-ea"/>
              <a:cs typeface="+mn-cs"/>
            </a:endParaRPr>
          </a:p>
          <a:p>
            <a:pPr marL="649605" marR="0" lvl="1" indent="-1778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19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通常情况</a:t>
            </a:r>
            <a:r>
              <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rPr>
              <a:t>下，冲突只能尽可能的减少，不可能完全避免。</a:t>
            </a:r>
            <a:endPar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rPr>
              <a:t>解决方法</a:t>
            </a:r>
            <a:endParaRPr kumimoji="0" lang="zh-CN" altLang="en-US" sz="21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cs"/>
            </a:endParaRPr>
          </a:p>
          <a:p>
            <a:pPr marL="649605" marR="0" lvl="1" indent="-1778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rPr>
              <a:t>构造哈希函数，尽可能使冲突最少</a:t>
            </a:r>
            <a:endPar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endParaRPr>
          </a:p>
          <a:p>
            <a:pPr marL="649605" marR="0" lvl="1" indent="-1778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rPr>
              <a:t>确定解决冲突的方法，使发生冲突的同义词能够存储到散列表中。</a:t>
            </a:r>
            <a:endParaRPr kumimoji="0" lang="zh-CN" altLang="en-US" sz="1900" b="1" i="0" u="none" strike="noStrike" kern="0" cap="none" spc="0" normalizeH="0" baseline="0" noProof="0" dirty="0">
              <a:ln>
                <a:noFill/>
              </a:ln>
              <a:solidFill>
                <a:srgbClr val="333333"/>
              </a:solidFill>
              <a:effectLst>
                <a:outerShdw blurRad="38100" dist="38100" dir="2700000" algn="tl">
                  <a:srgbClr val="C0C0C0"/>
                </a:outerShdw>
              </a:effectLst>
              <a:uLnTx/>
              <a:uFillTx/>
              <a:latin typeface="宋体" panose="02010600030101010101" pitchFamily="2" charset="-122"/>
              <a:ea typeface="+mn-ea"/>
              <a:cs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66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哈希函数构造方法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6627" name="Rectangle 3"/>
          <p:cNvSpPr>
            <a:spLocks noGrp="1" noChangeArrowheads="1"/>
          </p:cNvSpPr>
          <p:nvPr>
            <p:ph sz="half"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好</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的哈希函数</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均匀的分布在地址区间，减少冲突</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设计哈希函数应考虑的因素</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时间</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关键字长度</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哈希表大小</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关键字分布</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关键字查找频率</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
        <p:nvSpPr>
          <p:cNvPr id="666628" name="Rectangle 4"/>
          <p:cNvSpPr>
            <a:spLocks noGrp="1" noChangeArrowheads="1"/>
          </p:cNvSpPr>
          <p:nvPr>
            <p:ph sz="half" idx="2"/>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常用哈希函数</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直接定址法</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数字分析法</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平方取中法</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折叠法</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除留余数法</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随机数法</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哈希法既是建表方法，也是查表方法；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86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直接定址法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86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取关键字或关键字的某个线性函数值为哈希地址</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 or f</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a*key+b</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 b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为常数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自身函数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关键字集合与地址集合大小相同，不存在冲突</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0178" name="Picture 4"/>
          <p:cNvPicPr>
            <a:picLocks noChangeAspect="1"/>
          </p:cNvPicPr>
          <p:nvPr/>
        </p:nvPicPr>
        <p:blipFill>
          <a:blip r:embed="rId1"/>
          <a:stretch>
            <a:fillRect/>
          </a:stretch>
        </p:blipFill>
        <p:spPr>
          <a:xfrm>
            <a:off x="611188" y="1052513"/>
            <a:ext cx="7923212" cy="1628775"/>
          </a:xfrm>
          <a:prstGeom prst="rect">
            <a:avLst/>
          </a:prstGeom>
          <a:noFill/>
          <a:ln w="9525">
            <a:noFill/>
          </a:ln>
        </p:spPr>
      </p:pic>
      <p:pic>
        <p:nvPicPr>
          <p:cNvPr id="50179" name="Picture 5"/>
          <p:cNvPicPr>
            <a:picLocks noChangeAspect="1"/>
          </p:cNvPicPr>
          <p:nvPr/>
        </p:nvPicPr>
        <p:blipFill>
          <a:blip r:embed="rId2"/>
          <a:stretch>
            <a:fillRect/>
          </a:stretch>
        </p:blipFill>
        <p:spPr>
          <a:xfrm>
            <a:off x="539750" y="3429000"/>
            <a:ext cx="7923213" cy="1638300"/>
          </a:xfrm>
          <a:prstGeom prst="rect">
            <a:avLst/>
          </a:prstGeom>
          <a:noFill/>
          <a:ln w="9525">
            <a:noFill/>
          </a:ln>
        </p:spPr>
      </p:pic>
      <p:sp>
        <p:nvSpPr>
          <p:cNvPr id="669702" name="Rectangle 6"/>
          <p:cNvSpPr>
            <a:spLocks noChangeArrowheads="1"/>
          </p:cNvSpPr>
          <p:nvPr/>
        </p:nvSpPr>
        <p:spPr bwMode="auto">
          <a:xfrm>
            <a:off x="755650" y="549275"/>
            <a:ext cx="2065338" cy="396875"/>
          </a:xfrm>
          <a:prstGeom prst="rect">
            <a:avLst/>
          </a:prstGeom>
          <a:noFill/>
          <a:ln w="9525" algn="ctr">
            <a:noFill/>
            <a:miter lim="800000"/>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f</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key</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key</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69703" name="Rectangle 7"/>
          <p:cNvSpPr>
            <a:spLocks noChangeArrowheads="1"/>
          </p:cNvSpPr>
          <p:nvPr/>
        </p:nvSpPr>
        <p:spPr bwMode="auto">
          <a:xfrm>
            <a:off x="639763" y="2924175"/>
            <a:ext cx="3044825" cy="396875"/>
          </a:xfrm>
          <a:prstGeom prst="rect">
            <a:avLst/>
          </a:prstGeom>
          <a:noFill/>
          <a:ln w="9525" algn="ctr">
            <a:noFill/>
            <a:miter lim="800000"/>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f</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key</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key</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1948</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07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数字分析法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0723" name="Rectangle 3"/>
          <p:cNvSpPr>
            <a:spLocks noGrp="1" noChangeArrowheads="1"/>
          </p:cNvSpPr>
          <p:nvPr>
            <p:ph idx="1"/>
          </p:nvPr>
        </p:nvSpPr>
        <p:spPr>
          <a:xfrm>
            <a:off x="566738" y="1752600"/>
            <a:ext cx="3789363" cy="4267200"/>
          </a:xfrm>
        </p:spPr>
        <p:txBody>
          <a:bodyPr vert="horz" wrap="square" lIns="91440" tIns="45720" rIns="91440" bIns="45720" numCol="1" anchor="t" anchorCtr="0" compatLnSpc="1"/>
          <a:lstStyle/>
          <a:p>
            <a:pPr marL="357505" marR="0" lvl="1" indent="-3575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例如：假设关键字中，d4和d7的取值分布比较均匀，则可设哈希函数为：</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0" marR="0" lvl="1" indent="34607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h(key)=d4d7</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0" marR="0" lvl="1" indent="34607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h(813</a:t>
            </a:r>
            <a:r>
              <a:rPr kumimoji="0" lang="en-US" altLang="zh-CN" sz="22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ea"/>
              </a:rPr>
              <a:t>4</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65</a:t>
            </a:r>
            <a:r>
              <a:rPr kumimoji="0" lang="en-US" altLang="zh-CN" sz="22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ea"/>
              </a:rPr>
              <a:t>3</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2)=43</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0" marR="0" lvl="1" indent="34607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h(813</a:t>
            </a:r>
            <a:r>
              <a:rPr kumimoji="0" lang="en-US" altLang="zh-CN" sz="22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ea"/>
              </a:rPr>
              <a:t>0</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13</a:t>
            </a:r>
            <a:r>
              <a:rPr kumimoji="0" lang="en-US" altLang="zh-CN" sz="22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ea"/>
              </a:rPr>
              <a:t>6</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7)=06</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71170" marR="0" lvl="1"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pic>
        <p:nvPicPr>
          <p:cNvPr id="51204" name="Picture 4"/>
          <p:cNvPicPr>
            <a:picLocks noChangeAspect="1"/>
          </p:cNvPicPr>
          <p:nvPr/>
        </p:nvPicPr>
        <p:blipFill>
          <a:blip r:embed="rId1">
            <a:clrChange>
              <a:clrFrom>
                <a:srgbClr val="FFFFFF"/>
              </a:clrFrom>
              <a:clrTo>
                <a:srgbClr val="FFFFFF">
                  <a:alpha val="0"/>
                </a:srgbClr>
              </a:clrTo>
            </a:clrChange>
          </a:blip>
          <a:stretch>
            <a:fillRect/>
          </a:stretch>
        </p:blipFill>
        <p:spPr>
          <a:xfrm>
            <a:off x="4716463" y="1773238"/>
            <a:ext cx="3816350" cy="3960812"/>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174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平方取中法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1747" name="Rectangle 3"/>
          <p:cNvSpPr>
            <a:spLocks noGrp="1" noChangeArrowheads="1"/>
          </p:cNvSpPr>
          <p:nvPr>
            <p:ph idx="1"/>
          </p:nvPr>
        </p:nvSpPr>
        <p:spPr>
          <a:xfrm>
            <a:off x="566738" y="1752600"/>
            <a:ext cx="7966075"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取关键字平方后的中间几位为哈希地址，位数由表长决定</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一个数平方后，中间几位数和数的每一位都相关，由此使随机分布的关键字得到的哈希地址是随机的</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3250" name="Picture 4"/>
          <p:cNvPicPr>
            <a:picLocks noChangeAspect="1"/>
          </p:cNvPicPr>
          <p:nvPr/>
        </p:nvPicPr>
        <p:blipFill>
          <a:blip r:embed="rId1">
            <a:clrChange>
              <a:clrFrom>
                <a:srgbClr val="FFFFFF"/>
              </a:clrFrom>
              <a:clrTo>
                <a:srgbClr val="FFFFFF">
                  <a:alpha val="0"/>
                </a:srgbClr>
              </a:clrTo>
            </a:clrChange>
          </a:blip>
          <a:stretch>
            <a:fillRect/>
          </a:stretch>
        </p:blipFill>
        <p:spPr>
          <a:xfrm>
            <a:off x="250825" y="1773238"/>
            <a:ext cx="8642350" cy="4679950"/>
          </a:xfrm>
          <a:prstGeom prst="rect">
            <a:avLst/>
          </a:prstGeom>
          <a:noFill/>
          <a:ln w="9525">
            <a:noFill/>
          </a:ln>
        </p:spPr>
      </p:pic>
      <p:pic>
        <p:nvPicPr>
          <p:cNvPr id="53251" name="Picture 5"/>
          <p:cNvPicPr>
            <a:picLocks noChangeAspect="1"/>
          </p:cNvPicPr>
          <p:nvPr/>
        </p:nvPicPr>
        <p:blipFill>
          <a:blip r:embed="rId2">
            <a:clrChange>
              <a:clrFrom>
                <a:srgbClr val="FFFFFF"/>
              </a:clrFrom>
              <a:clrTo>
                <a:srgbClr val="FFFFFF">
                  <a:alpha val="0"/>
                </a:srgbClr>
              </a:clrTo>
            </a:clrChange>
          </a:blip>
          <a:stretch>
            <a:fillRect/>
          </a:stretch>
        </p:blipFill>
        <p:spPr>
          <a:xfrm>
            <a:off x="1763713" y="404813"/>
            <a:ext cx="5329237" cy="1290637"/>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37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折叠法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3795" name="Rectangle 3"/>
          <p:cNvSpPr>
            <a:spLocks noGrp="1" noChangeArrowheads="1"/>
          </p:cNvSpPr>
          <p:nvPr>
            <p:ph idx="1"/>
          </p:nvPr>
        </p:nvSpPr>
        <p:spPr>
          <a:xfrm>
            <a:off x="566738" y="1752600"/>
            <a:ext cx="7966075"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将关键字分割成位数相同的几部分（最后一部分的位数可以不同），然后取这几部分的叠加和（舍去进位）作为哈希地址</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适用于关键字位数很多，而且关键字中每一位上数字分布大致均匀时</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5298" name="Picture 4"/>
          <p:cNvPicPr>
            <a:picLocks noChangeAspect="1"/>
          </p:cNvPicPr>
          <p:nvPr/>
        </p:nvPicPr>
        <p:blipFill>
          <a:blip r:embed="rId1"/>
          <a:stretch>
            <a:fillRect/>
          </a:stretch>
        </p:blipFill>
        <p:spPr>
          <a:xfrm>
            <a:off x="971550" y="1773238"/>
            <a:ext cx="6769100" cy="3130550"/>
          </a:xfrm>
          <a:prstGeom prst="rect">
            <a:avLst/>
          </a:prstGeom>
          <a:noFill/>
          <a:ln w="9525">
            <a:noFill/>
          </a:ln>
        </p:spPr>
      </p:pic>
      <p:pic>
        <p:nvPicPr>
          <p:cNvPr id="55299" name="Picture 6"/>
          <p:cNvPicPr>
            <a:picLocks noChangeAspect="1"/>
          </p:cNvPicPr>
          <p:nvPr/>
        </p:nvPicPr>
        <p:blipFill>
          <a:blip r:embed="rId2">
            <a:clrChange>
              <a:clrFrom>
                <a:srgbClr val="FFFFFF"/>
              </a:clrFrom>
              <a:clrTo>
                <a:srgbClr val="FFFFFF">
                  <a:alpha val="0"/>
                </a:srgbClr>
              </a:clrTo>
            </a:clrChange>
          </a:blip>
          <a:stretch>
            <a:fillRect/>
          </a:stretch>
        </p:blipFill>
        <p:spPr>
          <a:xfrm>
            <a:off x="3348038" y="333375"/>
            <a:ext cx="2303462" cy="517525"/>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除留余数法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584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取关键字被某个不大于哈希表表长</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m</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的数</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除后所得余数为哈希地址</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f(key)=key MOD p, p</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m</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p</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取值（经验值）</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sym typeface="Symbol" panose="05050102010706020507" pitchFamily="18" charset="2"/>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质数或不包含小于</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20</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的质因数的合数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68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随机数法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6867"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选择一个随机函数，取关键字的伪随机函数值为它的散列地址，即</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         </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h(key)=random(key)</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其中</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random</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为伪随机函数，但要保证函数值是在</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0</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到</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m-1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之间。</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注：伪随机数－假如使用的值（</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）不变的话，那么伪随机数的数也不变 </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78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处理冲突</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789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当发生冲突，另选一个位置</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常用处理方法</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开放定址法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再哈希法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链地址法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公共溢出区</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89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开放定址法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891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当冲突发生时，使用某种探测技术在散列表中形成一个探测序列。沿此序列逐个单元地查找，直到找到一个开放的地址</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即该地址单元为空</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为止。</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查找时探测到开放的地址则表明表中无待查的关键字。</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9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endParaRPr kumimoji="0" lang="zh-CN" altLang="en-US" sz="39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99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开放定址法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79939" name="Rectangle 3"/>
          <p:cNvSpPr>
            <a:spLocks noGrp="1" noChangeArrowheads="1"/>
          </p:cNvSpPr>
          <p:nvPr>
            <p:ph idx="1"/>
          </p:nvPr>
        </p:nvSpPr>
        <p:spPr>
          <a:xfrm>
            <a:off x="227013" y="1752600"/>
            <a:ext cx="8669338"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35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H</a:t>
            </a:r>
            <a:r>
              <a:rPr kumimoji="0" lang="en-US" altLang="zh-CN" sz="35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35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=(H(key)+d</a:t>
            </a:r>
            <a:r>
              <a:rPr kumimoji="0" lang="en-US" altLang="zh-CN" sz="35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35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)MOD m,1≤i≤m-1</a:t>
            </a:r>
            <a:endParaRPr kumimoji="0" lang="en-US" altLang="zh-CN" sz="35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d</a:t>
            </a:r>
            <a:r>
              <a:rPr kumimoji="0" lang="en-US" altLang="zh-CN" sz="31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=1,2,3,…,m-1,</a:t>
            </a:r>
            <a:r>
              <a:rPr kumimoji="0" lang="zh-CN" altLang="en-US" sz="3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rPr>
              <a:t>线性探测再散列</a:t>
            </a:r>
            <a:r>
              <a:rPr kumimoji="0" lang="zh-CN" altLang="en-US"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zh-CN" altLang="en-US"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1304925" marR="0" lvl="2" indent="-39560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只要表未填满，总可以找到一个空位；</a:t>
            </a:r>
            <a:endPar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d</a:t>
            </a:r>
            <a:r>
              <a:rPr kumimoji="0" lang="en-US" altLang="zh-CN" sz="31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a:t>
            </a:r>
            <a:r>
              <a:rPr kumimoji="0" lang="en-US" altLang="zh-CN" sz="3100" b="0" i="0"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a:t>
            </a:r>
            <a:r>
              <a:rPr kumimoji="0" lang="en-US" altLang="zh-CN" sz="3100" b="0" i="0"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0" lang="en-US" altLang="zh-CN" sz="3100" b="0" i="0"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0" lang="en-US" altLang="zh-CN" sz="3100" b="0" i="0"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 k ≤m/2</a:t>
            </a:r>
            <a:r>
              <a:rPr kumimoji="0" lang="zh-CN" altLang="en-US"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3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rPr>
              <a:t>二次探测再散列</a:t>
            </a:r>
            <a:r>
              <a:rPr kumimoji="0" lang="zh-CN" altLang="en-US"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zh-CN" altLang="en-US"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d</a:t>
            </a:r>
            <a:r>
              <a:rPr kumimoji="0" lang="en-US" altLang="zh-CN" sz="31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a:t>
            </a:r>
            <a:r>
              <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zh-CN" altLang="en-US"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伪随机数序列，</a:t>
            </a:r>
            <a:r>
              <a:rPr kumimoji="0" lang="zh-CN" altLang="en-US" sz="3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rPr>
              <a:t>伪随机探测再散列</a:t>
            </a:r>
            <a:endParaRPr kumimoji="0" lang="zh-CN" altLang="en-US"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9320" marR="0" lvl="2"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取决于伪随机数产生方式（例如：</a:t>
            </a:r>
            <a:r>
              <a:rPr kumimoji="0" lang="en-US" altLang="zh-CN"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9......</a:t>
            </a:r>
            <a:r>
              <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endParaRPr kumimoji="0" lang="en-US" altLang="zh-CN" sz="3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80965" name="Text Box 5"/>
          <p:cNvSpPr txBox="1">
            <a:spLocks noChangeArrowheads="1"/>
          </p:cNvSpPr>
          <p:nvPr/>
        </p:nvSpPr>
        <p:spPr bwMode="auto">
          <a:xfrm>
            <a:off x="23813" y="638175"/>
            <a:ext cx="1917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dirty="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Key MOD 11</a:t>
            </a:r>
            <a:endParaRPr kumimoji="0" lang="en-US" altLang="zh-CN" kern="1200" cap="none" spc="0" normalizeH="0" baseline="0" noProof="0" dirty="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62467" name="20 2"/>
          <p:cNvPicPr>
            <a:picLocks noChangeAspect="1"/>
          </p:cNvPicPr>
          <p:nvPr/>
        </p:nvPicPr>
        <p:blipFill>
          <a:blip r:embed="rId1"/>
          <a:stretch>
            <a:fillRect/>
          </a:stretch>
        </p:blipFill>
        <p:spPr>
          <a:xfrm>
            <a:off x="-4762" y="1412875"/>
            <a:ext cx="9124950" cy="4895850"/>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19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链地址法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8198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将所有关键字为同义词的结点链接在同一个单链表中。若选定的散列表长度为</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m</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，则可将散列表定义为一个由</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m</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个头指针组成的指针数组</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T[0..m-1]</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。凡是散列地址为</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i</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的结点，均插入到以</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T[i]</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为头指针的单链表中。</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中各分量的初值均应为空指针。</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64514" name="Picture 4"/>
          <p:cNvPicPr>
            <a:picLocks noChangeAspect="1"/>
          </p:cNvPicPr>
          <p:nvPr/>
        </p:nvPicPr>
        <p:blipFill>
          <a:blip r:embed="rId1">
            <a:clrChange>
              <a:clrFrom>
                <a:srgbClr val="FFFFFF"/>
              </a:clrFrom>
              <a:clrTo>
                <a:srgbClr val="FFFFFF">
                  <a:alpha val="0"/>
                </a:srgbClr>
              </a:clrTo>
            </a:clrChange>
          </a:blip>
          <a:stretch>
            <a:fillRect/>
          </a:stretch>
        </p:blipFill>
        <p:spPr>
          <a:xfrm>
            <a:off x="3643313" y="0"/>
            <a:ext cx="5465762" cy="6858000"/>
          </a:xfrm>
          <a:prstGeom prst="rect">
            <a:avLst/>
          </a:prstGeom>
          <a:noFill/>
          <a:ln w="9525">
            <a:noFill/>
          </a:ln>
        </p:spPr>
      </p:pic>
      <p:sp>
        <p:nvSpPr>
          <p:cNvPr id="683013" name="Text Box 5"/>
          <p:cNvSpPr txBox="1">
            <a:spLocks noChangeArrowheads="1"/>
          </p:cNvSpPr>
          <p:nvPr/>
        </p:nvSpPr>
        <p:spPr bwMode="auto">
          <a:xfrm>
            <a:off x="179388" y="1773238"/>
            <a:ext cx="3708400" cy="1616075"/>
          </a:xfrm>
          <a:prstGeom prst="rect">
            <a:avLst/>
          </a:prstGeom>
          <a:noFill/>
          <a:ln w="9525" algn="ctr">
            <a:noFill/>
            <a:miter lim="800000"/>
          </a:ln>
          <a:effectLst/>
        </p:spPr>
        <p:txBody>
          <a:bodyPr anchor="b">
            <a:spAutoFit/>
          </a:bodyPr>
          <a:lstStyle/>
          <a:p>
            <a:pPr marR="0"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19</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14</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23</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01</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68</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20</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84</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27</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55</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11</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10</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79</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a:p>
            <a:pPr marR="0" defTabSz="914400" eaLnBrk="1" hangingPunct="1">
              <a:buClrTx/>
              <a:buSzTx/>
              <a:buFontTx/>
              <a:buNone/>
              <a:defRPr/>
            </a:pP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a:p>
            <a:pPr marR="0"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H(key) = key MOD 13</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40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公共溢出区</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8403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将所有冲突的关键字，都填入溢出区</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20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哈希表查找</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7209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给定</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key</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值，根据哈希函数确定地址，若表中此位置没有记录，则查找不成功；否则比较关键字，若相等，则查找成功；否则根据冲突处理方法查找下一个地址</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67588" name="Picture 4"/>
          <p:cNvPicPr>
            <a:picLocks noChangeAspect="1"/>
          </p:cNvPicPr>
          <p:nvPr/>
        </p:nvPicPr>
        <p:blipFill>
          <a:blip r:embed="rId1">
            <a:clrChange>
              <a:clrFrom>
                <a:srgbClr val="FFFFFF"/>
              </a:clrFrom>
              <a:clrTo>
                <a:srgbClr val="FFFFFF">
                  <a:alpha val="0"/>
                </a:srgbClr>
              </a:clrTo>
            </a:clrChange>
          </a:blip>
          <a:stretch>
            <a:fillRect/>
          </a:stretch>
        </p:blipFill>
        <p:spPr>
          <a:xfrm>
            <a:off x="1692275" y="4221163"/>
            <a:ext cx="6096000" cy="1133475"/>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414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性能</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7414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尽管可以直接计算地址，但由于冲突的存在，仍然需要关键字比较。</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平均查找长度</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rPr>
              <a:t>哈希函数</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rPr>
              <a:t>是否均匀</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rPr>
              <a:t>)</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rPr>
              <a:t>冲突处理方法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rPr>
              <a:t>装填因子</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710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冲突处理方法相同下的性能</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8710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一般情况下，处理冲突方法相同的哈希表，其</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ASL</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依赖于装填因子</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α</a:t>
            </a:r>
            <a:endPar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α</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＝表中填入的</a:t>
            </a:r>
            <a:r>
              <a:rPr kumimoji="0" lang="zh-CN" altLang="en-US" sz="3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关键字数</a:t>
            </a:r>
            <a:r>
              <a:rPr kumimoji="0" lang="en-US" altLang="zh-CN" sz="3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a:t>
            </a:r>
            <a:r>
              <a:rPr kumimoji="0" lang="zh-CN" altLang="en-US" sz="3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表长度</a:t>
            </a:r>
            <a:endParaRPr kumimoji="0" lang="zh-CN" altLang="en-US" sz="3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α</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越大，冲突的概率越高</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505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不同冲突处理方法下的</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ASL</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70659" name="Picture 4"/>
          <p:cNvPicPr>
            <a:picLocks noChangeAspect="1"/>
          </p:cNvPicPr>
          <p:nvPr/>
        </p:nvPicPr>
        <p:blipFill>
          <a:blip r:embed="rId1">
            <a:clrChange>
              <a:clrFrom>
                <a:srgbClr val="FFFFFF"/>
              </a:clrFrom>
              <a:clrTo>
                <a:srgbClr val="FFFFFF">
                  <a:alpha val="0"/>
                </a:srgbClr>
              </a:clrTo>
            </a:clrChange>
          </a:blip>
          <a:stretch>
            <a:fillRect/>
          </a:stretch>
        </p:blipFill>
        <p:spPr>
          <a:xfrm>
            <a:off x="179388" y="1555750"/>
            <a:ext cx="2984500" cy="3744913"/>
          </a:xfrm>
          <a:prstGeom prst="rect">
            <a:avLst/>
          </a:prstGeom>
          <a:noFill/>
          <a:ln w="9525">
            <a:noFill/>
          </a:ln>
        </p:spPr>
      </p:pic>
      <p:pic>
        <p:nvPicPr>
          <p:cNvPr id="70660" name="Picture 5"/>
          <p:cNvPicPr>
            <a:picLocks noChangeAspect="1"/>
          </p:cNvPicPr>
          <p:nvPr/>
        </p:nvPicPr>
        <p:blipFill>
          <a:blip r:embed="rId2">
            <a:clrChange>
              <a:clrFrom>
                <a:srgbClr val="FFFFFF"/>
              </a:clrFrom>
              <a:clrTo>
                <a:srgbClr val="FFFFFF">
                  <a:alpha val="0"/>
                </a:srgbClr>
              </a:clrTo>
            </a:clrChange>
          </a:blip>
          <a:stretch>
            <a:fillRect/>
          </a:stretch>
        </p:blipFill>
        <p:spPr>
          <a:xfrm>
            <a:off x="3203575" y="1773238"/>
            <a:ext cx="6096000" cy="1133475"/>
          </a:xfrm>
          <a:prstGeom prst="rect">
            <a:avLst/>
          </a:prstGeom>
          <a:noFill/>
          <a:ln w="9525">
            <a:noFill/>
          </a:ln>
        </p:spPr>
      </p:pic>
      <p:sp>
        <p:nvSpPr>
          <p:cNvPr id="685062" name="Text Box 6"/>
          <p:cNvSpPr txBox="1">
            <a:spLocks noChangeArrowheads="1"/>
          </p:cNvSpPr>
          <p:nvPr/>
        </p:nvSpPr>
        <p:spPr bwMode="auto">
          <a:xfrm>
            <a:off x="2268538" y="3357563"/>
            <a:ext cx="6697663" cy="641350"/>
          </a:xfrm>
          <a:prstGeom prst="rect">
            <a:avLst/>
          </a:prstGeom>
          <a:noFill/>
          <a:ln w="9525" algn="ctr">
            <a:noFill/>
            <a:miter lim="800000"/>
          </a:ln>
          <a:effectLst/>
        </p:spPr>
        <p:txBody>
          <a:bodyPr anchor="b">
            <a:spAutoFit/>
          </a:bodyPr>
          <a:lstStyle/>
          <a:p>
            <a:pPr marR="0" defTabSz="914400" eaLnBrk="1" hangingPunct="1">
              <a:buClrTx/>
              <a:buSzTx/>
              <a:buFontTx/>
              <a:buNone/>
              <a:defRPr/>
            </a:pP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19</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14</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23</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01</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68</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20</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84</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27</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55</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11</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10</a:t>
            </a: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79</a:t>
            </a:r>
            <a:endPar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a:p>
            <a:pPr marR="0" defTabSz="914400" eaLnBrk="1" hangingPunct="1">
              <a:buClrTx/>
              <a:buSzTx/>
              <a:buFontTx/>
              <a:buNone/>
              <a:defRPr/>
            </a:pP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H(key) = key MOD 13</a:t>
            </a:r>
            <a:endPar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85063" name="Text Box 7"/>
          <p:cNvSpPr txBox="1">
            <a:spLocks noChangeArrowheads="1"/>
          </p:cNvSpPr>
          <p:nvPr/>
        </p:nvSpPr>
        <p:spPr bwMode="auto">
          <a:xfrm>
            <a:off x="2843213" y="4797425"/>
            <a:ext cx="5870575" cy="1190625"/>
          </a:xfrm>
          <a:prstGeom prst="rect">
            <a:avLst/>
          </a:prstGeom>
          <a:noFill/>
          <a:ln w="9525" algn="ctr">
            <a:noFill/>
            <a:miter lim="800000"/>
          </a:ln>
          <a:effectLst/>
        </p:spPr>
        <p:txBody>
          <a:bodyPr anchor="b">
            <a:spAutoFit/>
          </a:bodyPr>
          <a:lstStyle/>
          <a:p>
            <a:pPr marR="0" defTabSz="914400" eaLnBrk="1" hangingPunct="1">
              <a:buClrTx/>
              <a:buSzTx/>
              <a:buFontTx/>
              <a:buNone/>
              <a:defRPr/>
            </a:pP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链地址：</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ASL=1/12(1*6+2*4+3*1+4*1)=1.75</a:t>
            </a:r>
            <a:endPar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a:p>
            <a:pPr marR="0" defTabSz="914400" eaLnBrk="1" hangingPunct="1">
              <a:buClrTx/>
              <a:buSzTx/>
              <a:buFontTx/>
              <a:buNone/>
              <a:defRPr/>
            </a:pPr>
            <a:r>
              <a:rPr kumimoji="0" lang="zh-CN" altLang="en-US"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线性探测：</a:t>
            </a:r>
            <a:r>
              <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ASL=1/12(1*6+2*1+3*3+4*1+9*1)=2.5</a:t>
            </a:r>
            <a:endParaRPr kumimoji="0" lang="en-US" altLang="zh-CN" sz="1800"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01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课后练习</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0179" name="Rectangle 3"/>
          <p:cNvSpPr>
            <a:spLocks noGrp="1" noChangeArrowheads="1"/>
          </p:cNvSpPr>
          <p:nvPr>
            <p:ph idx="1"/>
          </p:nvPr>
        </p:nvSpPr>
        <p:spPr>
          <a:xfrm>
            <a:off x="566738" y="1752600"/>
            <a:ext cx="8326438"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设散列表</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ht[11]</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，散列函数</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h(key)=key % 11</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。采用线性探测法、二次探测法、链地址方法解决冲突，试用关键字值序列：</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70</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80</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35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60</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45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50</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55</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分别建立散列表</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求出线性探查法和链地址方法下的</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ASL</a:t>
            </a:r>
            <a:endPar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本章小结</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查找的基本概念</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顺序查找法</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3.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折半查找法</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4.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二叉排序树</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5.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散列（</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Hash</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）表及其查找</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tags/tag1.xml><?xml version="1.0" encoding="utf-8"?>
<p:tagLst xmlns:p="http://schemas.openxmlformats.org/presentationml/2006/main">
  <p:tag name="KSO_WM_UNIT_PLACING_PICTURE_USER_VIEWPORT" val="{&quot;height&quot;:3700,&quot;width&quot;:8100}"/>
</p:tagLst>
</file>

<file path=ppt/tags/tag2.xml><?xml version="1.0" encoding="utf-8"?>
<p:tagLst xmlns:p="http://schemas.openxmlformats.org/presentationml/2006/main">
  <p:tag name="KSO_WM_UNIT_PLACING_PICTURE_USER_VIEWPORT" val="{&quot;height&quot;:4930,&quot;width&quot;:9760}"/>
</p:tagLst>
</file>

<file path=ppt/tags/tag3.xml><?xml version="1.0" encoding="utf-8"?>
<p:tagLst xmlns:p="http://schemas.openxmlformats.org/presentationml/2006/main">
  <p:tag name="commondata" val="eyJoZGlkIjoiYjFiN2NjNWM5Yjc2ZDdhMWExZGQ5OTBjOGZlOGJiODQ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5012</Words>
  <Application>WPS 演示</Application>
  <PresentationFormat>全屏显示(4:3)</PresentationFormat>
  <Paragraphs>498</Paragraphs>
  <Slides>69</Slides>
  <Notes>4</Notes>
  <HiddenSlides>1</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69</vt:i4>
      </vt:variant>
    </vt:vector>
  </HeadingPairs>
  <TitlesOfParts>
    <vt:vector size="84" baseType="lpstr">
      <vt:lpstr>Arial</vt:lpstr>
      <vt:lpstr>宋体</vt:lpstr>
      <vt:lpstr>Wingdings</vt:lpstr>
      <vt:lpstr>Verdana</vt:lpstr>
      <vt:lpstr>Symbol</vt:lpstr>
      <vt:lpstr>Arial</vt:lpstr>
      <vt:lpstr>微软雅黑</vt:lpstr>
      <vt:lpstr>Arial Unicode MS</vt:lpstr>
      <vt:lpstr>Times New Roman</vt:lpstr>
      <vt:lpstr>Profile</vt:lpstr>
      <vt:lpstr>Equation.3</vt:lpstr>
      <vt:lpstr>Equation.3</vt:lpstr>
      <vt:lpstr>Equation.3</vt:lpstr>
      <vt:lpstr>Equation.3</vt:lpstr>
      <vt:lpstr>Equation.3</vt:lpstr>
      <vt:lpstr>第9章 查找</vt:lpstr>
      <vt:lpstr>第9章 查找</vt:lpstr>
      <vt:lpstr>约定</vt:lpstr>
      <vt:lpstr>PowerPoint 演示文稿</vt:lpstr>
      <vt:lpstr>9.1 静态查找表</vt:lpstr>
      <vt:lpstr>顺序查找(Sequential Search)</vt:lpstr>
      <vt:lpstr>哨兵的作用</vt:lpstr>
      <vt:lpstr>哨兵的作用</vt:lpstr>
      <vt:lpstr>性能分析</vt:lpstr>
      <vt:lpstr>顺序查找ASL(查找成功)</vt:lpstr>
      <vt:lpstr>顺序查找ASL(成功和不成功)</vt:lpstr>
      <vt:lpstr>顺序查找</vt:lpstr>
      <vt:lpstr>小结</vt:lpstr>
      <vt:lpstr>课后思考</vt:lpstr>
      <vt:lpstr>折半查找(Binary Search)</vt:lpstr>
      <vt:lpstr>PowerPoint 演示文稿</vt:lpstr>
      <vt:lpstr>PowerPoint 演示文稿</vt:lpstr>
      <vt:lpstr>PowerPoint 演示文稿</vt:lpstr>
      <vt:lpstr>性能</vt:lpstr>
      <vt:lpstr>折半查找</vt:lpstr>
      <vt:lpstr>折半查找</vt:lpstr>
      <vt:lpstr>课后练习</vt:lpstr>
      <vt:lpstr>9.2 动态查找表</vt:lpstr>
      <vt:lpstr>二叉排序树(Binary Sort Tree)</vt:lpstr>
      <vt:lpstr>算法</vt:lpstr>
      <vt:lpstr>BST（二叉排序树）插入</vt:lpstr>
      <vt:lpstr>BST（二叉排序树）插入</vt:lpstr>
      <vt:lpstr>BST（二叉排序树）删除</vt:lpstr>
      <vt:lpstr>BST删除</vt:lpstr>
      <vt:lpstr>BST（二叉排序树）删除</vt:lpstr>
      <vt:lpstr>BST查找分析</vt:lpstr>
      <vt:lpstr>BST查找分析</vt:lpstr>
      <vt:lpstr>练习</vt:lpstr>
      <vt:lpstr>练习</vt:lpstr>
      <vt:lpstr>本章小结</vt:lpstr>
      <vt:lpstr>PowerPoint 演示文稿</vt:lpstr>
      <vt:lpstr>BST（二叉排序树）插入</vt:lpstr>
      <vt:lpstr>BST删除</vt:lpstr>
      <vt:lpstr>BST（二叉排序树）删除</vt:lpstr>
      <vt:lpstr>哈希表(Hash Table)</vt:lpstr>
      <vt:lpstr>哈希表(Hash Table)</vt:lpstr>
      <vt:lpstr>哈希表(Hash Table)</vt:lpstr>
      <vt:lpstr>哈希表(Hash Table)</vt:lpstr>
      <vt:lpstr>哈希函数示例</vt:lpstr>
      <vt:lpstr>冲突（Collision）</vt:lpstr>
      <vt:lpstr>避免冲突</vt:lpstr>
      <vt:lpstr>哈希函数构造方法</vt:lpstr>
      <vt:lpstr>直接定址法</vt:lpstr>
      <vt:lpstr>PowerPoint 演示文稿</vt:lpstr>
      <vt:lpstr>数字分析法</vt:lpstr>
      <vt:lpstr>平方取中法</vt:lpstr>
      <vt:lpstr>PowerPoint 演示文稿</vt:lpstr>
      <vt:lpstr>折叠法</vt:lpstr>
      <vt:lpstr>PowerPoint 演示文稿</vt:lpstr>
      <vt:lpstr>除留余数法</vt:lpstr>
      <vt:lpstr>随机数法</vt:lpstr>
      <vt:lpstr>处理冲突</vt:lpstr>
      <vt:lpstr>开放定址法</vt:lpstr>
      <vt:lpstr>开放定址法</vt:lpstr>
      <vt:lpstr>PowerPoint 演示文稿</vt:lpstr>
      <vt:lpstr>链地址法</vt:lpstr>
      <vt:lpstr>PowerPoint 演示文稿</vt:lpstr>
      <vt:lpstr>公共溢出区</vt:lpstr>
      <vt:lpstr>哈希表查找</vt:lpstr>
      <vt:lpstr>性能</vt:lpstr>
      <vt:lpstr>冲突处理方法相同下的性能</vt:lpstr>
      <vt:lpstr>不同冲突处理方法下的ASL</vt:lpstr>
      <vt:lpstr>课后练习</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数据结构（Data Structure）</dc:title>
  <dc:creator>MC SYSTEM</dc:creator>
  <cp:lastModifiedBy>鱼丸粗面</cp:lastModifiedBy>
  <cp:revision>448</cp:revision>
  <dcterms:created xsi:type="dcterms:W3CDTF">2007-02-11T07:05:00Z</dcterms:created>
  <dcterms:modified xsi:type="dcterms:W3CDTF">2023-11-26T09:21:46Z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434C8D60911B41AEA48B8688ADEE6FDC_12</vt:lpwstr>
  </property>
</Properties>
</file>